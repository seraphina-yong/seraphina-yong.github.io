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7" r:id="rId2"/>
    <p:sldId id="296" r:id="rId3"/>
    <p:sldId id="299" r:id="rId4"/>
    <p:sldId id="300" r:id="rId5"/>
    <p:sldId id="345" r:id="rId6"/>
    <p:sldId id="346" r:id="rId7"/>
    <p:sldId id="340" r:id="rId8"/>
    <p:sldId id="344" r:id="rId9"/>
    <p:sldId id="341" r:id="rId10"/>
    <p:sldId id="327" r:id="rId11"/>
    <p:sldId id="326" r:id="rId12"/>
    <p:sldId id="323" r:id="rId13"/>
    <p:sldId id="305" r:id="rId14"/>
    <p:sldId id="264" r:id="rId15"/>
    <p:sldId id="306" r:id="rId16"/>
    <p:sldId id="307" r:id="rId17"/>
    <p:sldId id="308" r:id="rId18"/>
    <p:sldId id="309" r:id="rId19"/>
    <p:sldId id="310" r:id="rId20"/>
    <p:sldId id="268" r:id="rId21"/>
    <p:sldId id="329" r:id="rId22"/>
    <p:sldId id="330" r:id="rId23"/>
    <p:sldId id="271" r:id="rId24"/>
    <p:sldId id="272" r:id="rId25"/>
    <p:sldId id="312" r:id="rId26"/>
    <p:sldId id="315" r:id="rId27"/>
    <p:sldId id="332" r:id="rId28"/>
    <p:sldId id="339" r:id="rId29"/>
    <p:sldId id="338" r:id="rId30"/>
    <p:sldId id="333" r:id="rId31"/>
    <p:sldId id="334" r:id="rId32"/>
    <p:sldId id="347" r:id="rId33"/>
    <p:sldId id="316" r:id="rId34"/>
    <p:sldId id="317" r:id="rId35"/>
    <p:sldId id="335" r:id="rId36"/>
    <p:sldId id="336" r:id="rId37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CC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96" autoAdjust="0"/>
  </p:normalViewPr>
  <p:slideViewPr>
    <p:cSldViewPr>
      <p:cViewPr varScale="1">
        <p:scale>
          <a:sx n="63" d="100"/>
          <a:sy n="63" d="100"/>
        </p:scale>
        <p:origin x="97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6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429" cy="49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5771" y="0"/>
            <a:ext cx="2951429" cy="49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1973"/>
            <a:ext cx="2951429" cy="49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5771" y="9441973"/>
            <a:ext cx="2951429" cy="49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F087CF2-492F-41DD-97A1-8C25D0204F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9171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429" cy="49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50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771" y="0"/>
            <a:ext cx="2951429" cy="49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99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2950"/>
            <a:ext cx="497205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522" y="4720988"/>
            <a:ext cx="4992158" cy="4471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151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1973"/>
            <a:ext cx="2951429" cy="49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51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771" y="9441973"/>
            <a:ext cx="2951429" cy="49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531" tIns="45766" rIns="91531" bIns="4576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45089092-B37D-4702-88A0-D17631A1886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759934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C88D2E9-0B7E-48EB-8483-516BE9878E91}" type="slidenum">
              <a:rPr lang="en-US" altLang="zh-TW" sz="1200">
                <a:latin typeface="Times New Roman" charset="0"/>
              </a:rPr>
              <a:pPr eaLnBrk="1" hangingPunct="1"/>
              <a:t>1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115468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7FC604E-F5BE-4D9B-A70A-B34042CE4F23}" type="slidenum">
              <a:rPr lang="en-US" altLang="zh-TW" sz="1200">
                <a:latin typeface="Times New Roman" charset="0"/>
              </a:rPr>
              <a:pPr eaLnBrk="1" hangingPunct="1"/>
              <a:t>2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858447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330B89A-DF30-4837-83B5-CC1032DB1D7D}" type="slidenum">
              <a:rPr lang="en-US" altLang="zh-TW" sz="1200">
                <a:latin typeface="Times New Roman" charset="0"/>
              </a:rPr>
              <a:pPr eaLnBrk="1" hangingPunct="1"/>
              <a:t>3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27063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51768AA-8403-49CE-A0CC-FBC95D5F3DAC}" type="slidenum">
              <a:rPr lang="en-US" altLang="zh-TW" sz="1200">
                <a:latin typeface="Times New Roman" charset="0"/>
              </a:rPr>
              <a:pPr eaLnBrk="1" hangingPunct="1"/>
              <a:t>4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7261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4C2C2C7-B635-4971-8C1C-165ADD062BF7}" type="slidenum">
              <a:rPr lang="en-US" altLang="zh-TW" sz="1200">
                <a:latin typeface="Times New Roman" charset="0"/>
              </a:rPr>
              <a:pPr eaLnBrk="1" hangingPunct="1"/>
              <a:t>5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668159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9E558C8-3F2C-42CE-AE0E-44B9117E823B}" type="slidenum">
              <a:rPr lang="en-US" altLang="zh-TW" sz="1200">
                <a:latin typeface="Times New Roman" charset="0"/>
              </a:rPr>
              <a:pPr eaLnBrk="1" hangingPunct="1"/>
              <a:t>6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324647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FCB8DB5-0B12-4C46-B3A2-DB585199A5C5}" type="slidenum">
              <a:rPr lang="en-US" altLang="zh-TW" sz="1200">
                <a:latin typeface="Times New Roman" charset="0"/>
              </a:rPr>
              <a:pPr eaLnBrk="1" hangingPunct="1"/>
              <a:t>7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7107" name="Rectangle 7"/>
          <p:cNvSpPr txBox="1">
            <a:spLocks noGrp="1" noChangeArrowheads="1"/>
          </p:cNvSpPr>
          <p:nvPr/>
        </p:nvSpPr>
        <p:spPr bwMode="auto">
          <a:xfrm>
            <a:off x="3855771" y="9440385"/>
            <a:ext cx="2949839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38" tIns="46269" rIns="92538" bIns="46269" anchor="b"/>
          <a:lstStyle>
            <a:lvl1pPr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r" eaLnBrk="1" hangingPunct="1"/>
            <a:fld id="{2355264B-FE1E-4AEE-82CC-30F85C119034}" type="slidenum">
              <a:rPr kumimoji="0" lang="en-US" altLang="zh-TW" sz="1200">
                <a:latin typeface="Times New Roman" charset="0"/>
              </a:rPr>
              <a:pPr algn="r" eaLnBrk="1" hangingPunct="1"/>
              <a:t>7</a:t>
            </a:fld>
            <a:endParaRPr kumimoji="0" lang="en-US" altLang="zh-TW" sz="1200">
              <a:latin typeface="Times New Roman" charset="0"/>
            </a:endParaRPr>
          </a:p>
        </p:txBody>
      </p:sp>
      <p:sp>
        <p:nvSpPr>
          <p:cNvPr id="471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70462" cy="3729037"/>
          </a:xfrm>
          <a:ln/>
        </p:spPr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3" y="4722576"/>
            <a:ext cx="5445124" cy="4471510"/>
          </a:xfrm>
          <a:noFill/>
        </p:spPr>
        <p:txBody>
          <a:bodyPr lIns="92538" tIns="46269" rIns="92538" bIns="46269"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185899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753BBA2-F5AE-48B4-A17E-FF14DC99E47F}" type="slidenum">
              <a:rPr lang="en-US" altLang="zh-TW" sz="1200">
                <a:latin typeface="Times New Roman" charset="0"/>
              </a:rPr>
              <a:pPr eaLnBrk="1" hangingPunct="1"/>
              <a:t>8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2338" y="746125"/>
            <a:ext cx="4965700" cy="3725863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522" y="4722575"/>
            <a:ext cx="4992158" cy="4469922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84249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A050C55-667E-4265-A8E9-545C6F4933E8}" type="slidenum">
              <a:rPr lang="en-US" altLang="zh-TW" sz="1200">
                <a:latin typeface="Times New Roman" charset="0"/>
              </a:rPr>
              <a:pPr eaLnBrk="1" hangingPunct="1"/>
              <a:t>9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49155" name="Rectangle 7"/>
          <p:cNvSpPr txBox="1">
            <a:spLocks noGrp="1" noChangeArrowheads="1"/>
          </p:cNvSpPr>
          <p:nvPr/>
        </p:nvSpPr>
        <p:spPr bwMode="auto">
          <a:xfrm>
            <a:off x="3855771" y="9440385"/>
            <a:ext cx="2949839" cy="49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38" tIns="46269" rIns="92538" bIns="46269" anchor="b"/>
          <a:lstStyle>
            <a:lvl1pPr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defTabSz="92392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r" eaLnBrk="1" hangingPunct="1"/>
            <a:fld id="{741E9451-2F54-4D68-806F-F9B3A02E365B}" type="slidenum">
              <a:rPr kumimoji="0" lang="en-US" altLang="zh-TW" sz="1200">
                <a:latin typeface="Times New Roman" charset="0"/>
              </a:rPr>
              <a:pPr algn="r" eaLnBrk="1" hangingPunct="1"/>
              <a:t>9</a:t>
            </a:fld>
            <a:endParaRPr kumimoji="0" lang="en-US" altLang="zh-TW" sz="1200">
              <a:latin typeface="Times New Roman" charset="0"/>
            </a:endParaRPr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70462" cy="3729037"/>
          </a:xfrm>
          <a:ln/>
        </p:spPr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3" y="4722576"/>
            <a:ext cx="5445124" cy="4471510"/>
          </a:xfrm>
          <a:noFill/>
        </p:spPr>
        <p:txBody>
          <a:bodyPr lIns="92538" tIns="46269" rIns="92538" bIns="46269"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02216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A7C8FA4-F549-4D19-B08F-A7C28EE27BDA}" type="slidenum">
              <a:rPr lang="en-US" altLang="zh-TW" sz="1200">
                <a:latin typeface="Times New Roman" charset="0"/>
              </a:rPr>
              <a:pPr eaLnBrk="1" hangingPunct="1"/>
              <a:t>10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96586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AC7631C-B69F-4312-AC22-F4E3F210EF7A}" type="slidenum">
              <a:rPr lang="en-US" altLang="zh-TW" sz="1200">
                <a:latin typeface="Times New Roman" charset="0"/>
              </a:rPr>
              <a:pPr eaLnBrk="1" hangingPunct="1"/>
              <a:t>11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781913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2AA61AC-81FD-4BB3-8C11-16183AAF49FE}" type="slidenum">
              <a:rPr lang="en-US" altLang="zh-TW" sz="1200">
                <a:latin typeface="Times New Roman" charset="0"/>
              </a:rPr>
              <a:pPr eaLnBrk="1" hangingPunct="1"/>
              <a:t>12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330293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0F22056-04AC-44B3-8A0A-26747A8B81AC}" type="slidenum">
              <a:rPr lang="en-US" altLang="zh-TW" sz="1200">
                <a:latin typeface="Times New Roman" charset="0"/>
              </a:rPr>
              <a:pPr eaLnBrk="1" hangingPunct="1"/>
              <a:t>13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46783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C860DD6-F919-4EB1-8802-A8F9ACA7E41F}" type="slidenum">
              <a:rPr lang="en-US" altLang="zh-TW" sz="1200">
                <a:latin typeface="Times New Roman" charset="0"/>
              </a:rPr>
              <a:pPr eaLnBrk="1" hangingPunct="1"/>
              <a:t>14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868456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914B79A-92F9-49C7-B0F2-D8EAB32C8461}" type="slidenum">
              <a:rPr lang="en-US" altLang="zh-TW" sz="1200">
                <a:latin typeface="Times New Roman" charset="0"/>
              </a:rPr>
              <a:pPr eaLnBrk="1" hangingPunct="1"/>
              <a:t>15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979293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964A169-797B-4F09-916A-25B1A4FB7174}" type="slidenum">
              <a:rPr lang="en-US" altLang="zh-TW" sz="1200">
                <a:latin typeface="Times New Roman" charset="0"/>
              </a:rPr>
              <a:pPr eaLnBrk="1" hangingPunct="1"/>
              <a:t>16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1811935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EE1919B-C763-4CC7-9457-89E7DF49E264}" type="slidenum">
              <a:rPr lang="en-US" altLang="zh-TW" sz="1200">
                <a:latin typeface="Times New Roman" charset="0"/>
              </a:rPr>
              <a:pPr eaLnBrk="1" hangingPunct="1"/>
              <a:t>17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2951978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5CC739D-C05D-4110-8DDC-4611F0FFD2D3}" type="slidenum">
              <a:rPr lang="en-US" altLang="zh-TW" sz="1200">
                <a:latin typeface="Times New Roman" charset="0"/>
              </a:rPr>
              <a:pPr eaLnBrk="1" hangingPunct="1"/>
              <a:t>18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903892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C48DCB0-1662-4A10-95B8-BBCB8515D93A}" type="slidenum">
              <a:rPr lang="en-US" altLang="zh-TW" sz="1200">
                <a:latin typeface="Times New Roman" charset="0"/>
              </a:rPr>
              <a:pPr eaLnBrk="1" hangingPunct="1"/>
              <a:t>19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91369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87FD940-0EB2-4D96-893D-E5730E85394E}" type="slidenum">
              <a:rPr lang="en-US" altLang="zh-TW" sz="1200">
                <a:latin typeface="Times New Roman" charset="0"/>
              </a:rPr>
              <a:pPr eaLnBrk="1" hangingPunct="1"/>
              <a:t>20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390361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B82176E5-D7B3-4ACD-8269-32652AE47A21}" type="slidenum">
              <a:rPr lang="en-US" altLang="zh-TW" sz="1200">
                <a:latin typeface="Times New Roman" charset="0"/>
              </a:rPr>
              <a:pPr eaLnBrk="1" hangingPunct="1"/>
              <a:t>21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5105962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C6D70D8-C367-45A8-924B-40BE28F6CC27}" type="slidenum">
              <a:rPr lang="en-US" altLang="zh-TW" sz="1200">
                <a:latin typeface="Times New Roman" charset="0"/>
              </a:rPr>
              <a:pPr eaLnBrk="1" hangingPunct="1"/>
              <a:t>22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1736974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3B9369D-2F46-4543-A840-42A96F551C22}" type="slidenum">
              <a:rPr lang="en-US" altLang="zh-TW" sz="1200">
                <a:latin typeface="Times New Roman" charset="0"/>
              </a:rPr>
              <a:pPr eaLnBrk="1" hangingPunct="1"/>
              <a:t>23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7940627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9C6DBE2-8645-4BB4-8191-1879610001BB}" type="slidenum">
              <a:rPr lang="en-US" altLang="zh-TW" sz="1200">
                <a:latin typeface="Times New Roman" charset="0"/>
              </a:rPr>
              <a:pPr eaLnBrk="1" hangingPunct="1"/>
              <a:t>24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5391473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72BFF49-E6A5-464A-8ECF-0D2D8E4C70CD}" type="slidenum">
              <a:rPr lang="en-US" altLang="zh-TW" sz="1200">
                <a:latin typeface="Times New Roman" charset="0"/>
              </a:rPr>
              <a:pPr eaLnBrk="1" hangingPunct="1"/>
              <a:t>25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499102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9A1F283-80F1-4F1B-BFD7-AFEE537445E7}" type="slidenum">
              <a:rPr lang="en-US" altLang="zh-TW" sz="1200">
                <a:latin typeface="Times New Roman" charset="0"/>
              </a:rPr>
              <a:pPr eaLnBrk="1" hangingPunct="1"/>
              <a:t>26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135063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7BB78AE-6E5F-4352-A0B1-252B152C4D33}" type="slidenum">
              <a:rPr lang="en-US" altLang="zh-TW" sz="1200">
                <a:latin typeface="Times New Roman" charset="0"/>
              </a:rPr>
              <a:pPr eaLnBrk="1" hangingPunct="1"/>
              <a:t>27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1797245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F8EBE83-DB0A-4B40-9069-76CD7A8F6D7C}" type="slidenum">
              <a:rPr lang="en-US" altLang="zh-TW" sz="1200">
                <a:latin typeface="Times New Roman" charset="0"/>
              </a:rPr>
              <a:pPr eaLnBrk="1" hangingPunct="1"/>
              <a:t>28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4005199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F2FB283-2067-488F-A71B-7BBA6606E8B3}" type="slidenum">
              <a:rPr lang="en-US" altLang="zh-TW" sz="1200">
                <a:latin typeface="Times New Roman" charset="0"/>
              </a:rPr>
              <a:pPr eaLnBrk="1" hangingPunct="1"/>
              <a:t>29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146439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4E60F5D-BC3B-4BC1-8EC7-F1223BDDDCD0}" type="slidenum">
              <a:rPr lang="en-US" altLang="zh-TW" sz="1200">
                <a:latin typeface="Times New Roman" charset="0"/>
              </a:rPr>
              <a:pPr eaLnBrk="1" hangingPunct="1"/>
              <a:t>30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42247218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5153382-95C0-4BFC-BBD7-5A011BCB120C}" type="slidenum">
              <a:rPr lang="en-US" altLang="zh-TW" sz="1200">
                <a:latin typeface="Times New Roman" charset="0"/>
              </a:rPr>
              <a:pPr eaLnBrk="1" hangingPunct="1"/>
              <a:t>31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9025243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EC2DFDD-468C-4A29-BFA1-266D7EA98ACE}" type="slidenum">
              <a:rPr lang="en-US" altLang="zh-TW" sz="1200">
                <a:latin typeface="Times New Roman" charset="0"/>
              </a:rPr>
              <a:pPr eaLnBrk="1" hangingPunct="1"/>
              <a:t>32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5491997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49281A7-8D2A-4858-9A77-59873D9585AF}" type="slidenum">
              <a:rPr lang="en-US" altLang="zh-TW" sz="1200">
                <a:latin typeface="Times New Roman" charset="0"/>
              </a:rPr>
              <a:pPr eaLnBrk="1" hangingPunct="1"/>
              <a:t>33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20922700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0513234-8E43-4CAE-83DA-457E646124E1}" type="slidenum">
              <a:rPr lang="en-US" altLang="zh-TW" sz="1200">
                <a:latin typeface="Times New Roman" charset="0"/>
              </a:rPr>
              <a:pPr eaLnBrk="1" hangingPunct="1"/>
              <a:t>34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6280464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D172B4A-B5D2-4CE3-9F56-CB8C9E496E45}" type="slidenum">
              <a:rPr lang="en-US" altLang="zh-TW" sz="1200">
                <a:latin typeface="Times New Roman" charset="0"/>
              </a:rPr>
              <a:pPr eaLnBrk="1" hangingPunct="1"/>
              <a:t>35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1804078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3693" indent="-286036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4143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1800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9457" indent="-228829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7115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4772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32429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90086" indent="-228829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35552EB-8631-4E1E-9CAE-15DB2FEE10FE}" type="slidenum">
              <a:rPr lang="en-US" altLang="zh-TW" sz="1200">
                <a:latin typeface="Times New Roman" charset="0"/>
              </a:rPr>
              <a:pPr eaLnBrk="1" hangingPunct="1"/>
              <a:t>36</a:t>
            </a:fld>
            <a:endParaRPr lang="en-US" altLang="zh-TW" sz="120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34" y="4720988"/>
            <a:ext cx="5443534" cy="4471510"/>
          </a:xfrm>
          <a:noFill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  <p:extLst>
      <p:ext uri="{BB962C8B-B14F-4D97-AF65-F5344CB8AC3E}">
        <p14:creationId xmlns:p14="http://schemas.microsoft.com/office/powerpoint/2010/main" val="313606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6662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6662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D5A522-DEC3-44C5-AF7B-9C277DEE0AF4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514309-14AB-46D2-B388-3A530391CE3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463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0280F-2ABE-4851-AFE8-C89CF32FD29B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9BA92-F044-4969-B516-90B313EA77B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1242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EF47DC-1A03-4578-9FE6-799456BD3F3F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52BFE-51FA-49FE-A62A-FD73701C8A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842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2E50C-F6FD-473D-999D-A0C9CA7567E4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96740-3744-489E-9568-6FCC5E8D54B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6879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5EAB7-3147-4C1C-B149-984F375CDA02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3E1E5-0ADE-4560-8D8D-C7DAA8E806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563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DA4C8-395E-44B8-B057-A2212CE86036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88FA4A-3A6E-4ED0-B738-5B76200A48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07368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ACD94-AFA5-4DE5-A4E7-469FC5C61C5A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FCE78-05E9-447B-A52F-5CA47C5A036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557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9A731-96D8-40C1-8163-0CB187233BA1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82DBC-85F5-45DC-BD99-AD81C857A5B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792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844BD-0C21-4CB6-9833-F09BCEDE97EC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8C8739-BCDB-4570-A7D0-705251DF7C9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85321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7B27C-925A-4868-8317-BD63B998CD1D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778959-2A76-4C8A-9010-4B427B60648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208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EF289-76DA-4793-93E3-312E988E894A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0DB82-BD4E-4724-BF35-BF6308030B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0257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1 w 43195"/>
                  <a:gd name="T1" fmla="*/ 0 h 43200"/>
                  <a:gd name="T2" fmla="*/ 0 w 43195"/>
                  <a:gd name="T3" fmla="*/ 1 h 43200"/>
                  <a:gd name="T4" fmla="*/ 1 w 43195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6560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/>
            </a:lvl1pPr>
          </a:lstStyle>
          <a:p>
            <a:pPr>
              <a:defRPr/>
            </a:pPr>
            <a:fld id="{23B477F5-5F4D-40CA-9FCE-E4478979D230}" type="datetime1">
              <a:rPr lang="zh-TW" altLang="en-US" smtClean="0"/>
              <a:t>2018/5/21</a:t>
            </a:fld>
            <a:endParaRPr lang="en-US" altLang="zh-TW"/>
          </a:p>
        </p:txBody>
      </p:sp>
      <p:sp>
        <p:nvSpPr>
          <p:cNvPr id="6560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/>
            </a:lvl1pPr>
          </a:lstStyle>
          <a:p>
            <a:pPr>
              <a:defRPr/>
            </a:pPr>
            <a:r>
              <a:rPr lang="en-US" altLang="zh-TW" smtClean="0"/>
              <a:t>os11-2018</a:t>
            </a:r>
            <a:endParaRPr lang="en-US" altLang="zh-TW"/>
          </a:p>
        </p:txBody>
      </p:sp>
      <p:sp>
        <p:nvSpPr>
          <p:cNvPr id="6560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ACA0B749-A031-4353-88F4-BD7A4409E14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xx.nthu.tw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482ED4D-973B-47E1-B43C-6471B316FE45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0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0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BEDE987-677A-4AA3-AB3B-F341FDD85B24}" type="slidenum">
              <a:rPr kumimoji="0" lang="en-US" altLang="zh-TW" sz="1400" smtClean="0"/>
              <a:pPr eaLnBrk="1" hangingPunct="1"/>
              <a:t>1</a:t>
            </a:fld>
            <a:endParaRPr kumimoji="0" lang="en-US" altLang="zh-TW" sz="1400" smtClean="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750" y="2246313"/>
            <a:ext cx="7688263" cy="1792287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eaLnBrk="1" hangingPunct="1"/>
            <a:r>
              <a:rPr lang="en-US" altLang="zh-TW" smtClean="0"/>
              <a:t>Chapter 11 </a:t>
            </a:r>
            <a:br>
              <a:rPr lang="en-US" altLang="zh-TW" smtClean="0"/>
            </a:br>
            <a:r>
              <a:rPr lang="en-US" altLang="zh-TW" smtClean="0"/>
              <a:t>File-System Interface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39F4C68-73D3-4CF3-9875-FE94384854C1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40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41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7D6A8A7-3625-430D-A7A4-10F239F9DC82}" type="slidenum">
              <a:rPr kumimoji="0" lang="en-US" altLang="zh-TW" sz="1400" smtClean="0"/>
              <a:pPr eaLnBrk="1" hangingPunct="1"/>
              <a:t>2</a:t>
            </a:fld>
            <a:endParaRPr kumimoji="0" lang="en-US" altLang="zh-TW" sz="1400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smtClean="0"/>
              <a:t>Outline</a:t>
            </a:r>
          </a:p>
        </p:txBody>
      </p:sp>
      <p:sp>
        <p:nvSpPr>
          <p:cNvPr id="410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File Concept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Access Methods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Directory Structure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File System Mounting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File Sharing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mtClean="0"/>
              <a:t>Protection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D12C8FC0-7EDF-45D8-A965-8ED9239BE123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51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51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D0A875C-50FD-411F-93F8-25EE10007A42}" type="slidenum">
              <a:rPr kumimoji="0" lang="en-US" altLang="zh-TW" sz="1400" smtClean="0"/>
              <a:pPr eaLnBrk="1" hangingPunct="1"/>
              <a:t>3</a:t>
            </a:fld>
            <a:endParaRPr kumimoji="0" lang="en-US" altLang="zh-TW" sz="1400" smtClean="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File Structure</a:t>
            </a:r>
          </a:p>
        </p:txBody>
      </p:sp>
      <p:sp>
        <p:nvSpPr>
          <p:cNvPr id="7065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534400" cy="50593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None - sequence of words, bytes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0000FF"/>
                </a:solidFill>
              </a:rPr>
              <a:t>Simple</a:t>
            </a:r>
            <a:r>
              <a:rPr lang="en-US" altLang="zh-TW" sz="2800" dirty="0" smtClean="0"/>
              <a:t> record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Lines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Fixed length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Variable length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dirty="0" smtClean="0">
                <a:solidFill>
                  <a:srgbClr val="0000FF"/>
                </a:solidFill>
              </a:rPr>
              <a:t>Complex</a:t>
            </a:r>
            <a:r>
              <a:rPr lang="en-US" altLang="zh-TW" sz="2800" dirty="0" smtClean="0"/>
              <a:t> Structures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Formatted document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 smtClean="0"/>
              <a:t>Relocatable load file,  .</a:t>
            </a:r>
            <a:r>
              <a:rPr lang="en-US" altLang="zh-TW" sz="2400" dirty="0" err="1" smtClean="0"/>
              <a:t>Obj</a:t>
            </a:r>
            <a:r>
              <a:rPr lang="en-US" altLang="zh-TW" sz="2400" dirty="0" smtClean="0"/>
              <a:t>	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dirty="0" smtClean="0"/>
              <a:t>Can simulate last two with first method by inserting appropriate control characters.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EC66FA2-2E57-4F20-9376-B7428D951E9A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61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61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BCC2184-455D-4311-B89E-DCC002731085}" type="slidenum">
              <a:rPr kumimoji="0" lang="en-US" altLang="zh-TW" sz="1400" smtClean="0"/>
              <a:pPr eaLnBrk="1" hangingPunct="1"/>
              <a:t>4</a:t>
            </a:fld>
            <a:endParaRPr kumimoji="0" lang="en-US" altLang="zh-TW" sz="1400" smtClean="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File Attributes</a:t>
            </a:r>
          </a:p>
        </p:txBody>
      </p:sp>
      <p:sp>
        <p:nvSpPr>
          <p:cNvPr id="716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400" b="1" smtClean="0"/>
              <a:t>Name</a:t>
            </a:r>
            <a:endParaRPr lang="en-US" altLang="zh-TW" sz="2400" smtClean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b="1" smtClean="0"/>
              <a:t>Type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/>
              </a:rPr>
              <a:t>–</a:t>
            </a:r>
            <a:r>
              <a:rPr lang="en-US" altLang="zh-TW" sz="2400" smtClean="0"/>
              <a:t> needed for systems that support different types.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b="1" smtClean="0">
                <a:solidFill>
                  <a:srgbClr val="0000FF"/>
                </a:solidFill>
              </a:rPr>
              <a:t>Location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/>
              </a:rPr>
              <a:t>–</a:t>
            </a:r>
            <a:r>
              <a:rPr lang="en-US" altLang="zh-TW" sz="2400" smtClean="0"/>
              <a:t> pointer to file location on device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b="1" smtClean="0"/>
              <a:t>Size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/>
              </a:rPr>
              <a:t>–</a:t>
            </a:r>
            <a:r>
              <a:rPr lang="en-US" altLang="zh-TW" sz="2400" smtClean="0"/>
              <a:t> current file size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b="1" smtClean="0">
                <a:solidFill>
                  <a:srgbClr val="0000FF"/>
                </a:solidFill>
              </a:rPr>
              <a:t>Protection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/>
              </a:rPr>
              <a:t>–</a:t>
            </a:r>
            <a:r>
              <a:rPr lang="en-US" altLang="zh-TW" sz="2400" smtClean="0"/>
              <a:t> controls who can do reading, writing, executing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b="1" smtClean="0"/>
              <a:t>Time</a:t>
            </a:r>
            <a:r>
              <a:rPr lang="en-US" altLang="zh-TW" sz="2400" smtClean="0"/>
              <a:t>, </a:t>
            </a:r>
            <a:r>
              <a:rPr lang="en-US" altLang="zh-TW" sz="2400" b="1" smtClean="0"/>
              <a:t>date</a:t>
            </a:r>
            <a:r>
              <a:rPr lang="en-US" altLang="zh-TW" sz="2400" smtClean="0"/>
              <a:t>, </a:t>
            </a:r>
            <a:r>
              <a:rPr lang="en-US" altLang="zh-TW" sz="2400" b="1" smtClean="0"/>
              <a:t>and user identification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Helvetica"/>
              </a:rPr>
              <a:t>–</a:t>
            </a:r>
            <a:r>
              <a:rPr lang="en-US" altLang="zh-TW" sz="2400" smtClean="0"/>
              <a:t> data for </a:t>
            </a:r>
            <a:r>
              <a:rPr lang="en-US" altLang="zh-TW" sz="2400" smtClean="0">
                <a:solidFill>
                  <a:srgbClr val="FF0000"/>
                </a:solidFill>
              </a:rPr>
              <a:t>protection</a:t>
            </a:r>
            <a:r>
              <a:rPr lang="en-US" altLang="zh-TW" sz="2400" smtClean="0"/>
              <a:t>, </a:t>
            </a:r>
            <a:r>
              <a:rPr lang="en-US" altLang="zh-TW" sz="2400" smtClean="0">
                <a:solidFill>
                  <a:srgbClr val="FF0000"/>
                </a:solidFill>
              </a:rPr>
              <a:t>security</a:t>
            </a:r>
            <a:r>
              <a:rPr lang="en-US" altLang="zh-TW" sz="2400" smtClean="0"/>
              <a:t>, and usage </a:t>
            </a:r>
            <a:r>
              <a:rPr lang="en-US" altLang="zh-TW" sz="2400" smtClean="0">
                <a:solidFill>
                  <a:srgbClr val="FF0000"/>
                </a:solidFill>
              </a:rPr>
              <a:t>monitoring</a:t>
            </a:r>
            <a:endParaRPr lang="en-US" altLang="zh-TW" sz="2400" smtClean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400" smtClean="0"/>
              <a:t>Information about files are kept in the </a:t>
            </a:r>
            <a:r>
              <a:rPr lang="en-US" altLang="zh-TW" sz="2400" smtClean="0">
                <a:solidFill>
                  <a:srgbClr val="CC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directory structure</a:t>
            </a:r>
            <a:r>
              <a:rPr lang="en-US" altLang="zh-TW" sz="2400" smtClean="0"/>
              <a:t>, which is </a:t>
            </a:r>
            <a:r>
              <a:rPr lang="en-US" altLang="zh-TW" sz="2400" smtClean="0">
                <a:solidFill>
                  <a:srgbClr val="FF0000"/>
                </a:solidFill>
              </a:rPr>
              <a:t>maintained on the</a:t>
            </a:r>
            <a:r>
              <a:rPr lang="en-US" altLang="zh-TW" sz="2400" smtClean="0"/>
              <a:t> </a:t>
            </a:r>
            <a:r>
              <a:rPr lang="en-US" altLang="zh-TW" sz="2400" smtClean="0">
                <a:solidFill>
                  <a:srgbClr val="FF0000"/>
                </a:solidFill>
              </a:rPr>
              <a:t>disk</a:t>
            </a:r>
            <a:endParaRPr lang="en-US" altLang="zh-TW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2A40C42-1F38-450B-89B4-CE870F6FC5E3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7171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7172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6C2EBF9-7A1D-4FED-AC9D-5E308856F871}" type="slidenum">
              <a:rPr kumimoji="0" lang="en-US" altLang="zh-TW" sz="1400" smtClean="0"/>
              <a:pPr eaLnBrk="1" hangingPunct="1"/>
              <a:t>5</a:t>
            </a:fld>
            <a:endParaRPr kumimoji="0" lang="en-US" altLang="zh-TW" sz="1400" smtClean="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File Types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Name, Extension</a:t>
            </a:r>
          </a:p>
        </p:txBody>
      </p:sp>
      <p:pic>
        <p:nvPicPr>
          <p:cNvPr id="717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0" t="1616" r="15665" b="998"/>
          <a:stretch>
            <a:fillRect/>
          </a:stretch>
        </p:blipFill>
        <p:spPr bwMode="auto">
          <a:xfrm>
            <a:off x="1258888" y="981075"/>
            <a:ext cx="6858000" cy="52641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C2CCD47-A427-49F9-BDA7-912E9F5C0CFF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81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81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1A2AE0C-60E4-483F-94AB-2FB7C0BB8316}" type="slidenum">
              <a:rPr kumimoji="0" lang="en-US" altLang="zh-TW" sz="1400" smtClean="0"/>
              <a:pPr eaLnBrk="1" hangingPunct="1"/>
              <a:t>6</a:t>
            </a:fld>
            <a:endParaRPr kumimoji="0" lang="en-US" altLang="zh-TW" sz="1400" smtClean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File Operations</a:t>
            </a:r>
          </a:p>
        </p:txBody>
      </p:sp>
      <p:sp>
        <p:nvSpPr>
          <p:cNvPr id="18432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3058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Create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Write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Read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Reposition</a:t>
            </a:r>
            <a:r>
              <a:rPr lang="en-US" altLang="zh-TW" sz="2800" smtClean="0"/>
              <a:t> within file </a:t>
            </a:r>
            <a:r>
              <a:rPr lang="en-US" altLang="zh-TW" sz="2800" smtClean="0">
                <a:latin typeface="Helvetica"/>
              </a:rPr>
              <a:t>–</a:t>
            </a:r>
            <a:r>
              <a:rPr lang="en-US" altLang="zh-TW" sz="2800" smtClean="0"/>
              <a:t> file </a:t>
            </a:r>
            <a:r>
              <a:rPr lang="en-US" altLang="zh-TW" sz="2800" smtClean="0">
                <a:solidFill>
                  <a:srgbClr val="000000"/>
                </a:solidFill>
              </a:rPr>
              <a:t>seek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Delete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Truncate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>
                <a:solidFill>
                  <a:srgbClr val="0000FF"/>
                </a:solidFill>
              </a:rPr>
              <a:t>Open(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charset="0"/>
              </a:rPr>
              <a:t>F</a:t>
            </a:r>
            <a:r>
              <a:rPr lang="en-US" altLang="zh-TW" sz="2800" i="1" baseline="-25000" smtClean="0">
                <a:solidFill>
                  <a:srgbClr val="0000FF"/>
                </a:solidFill>
                <a:latin typeface="Times New Roman" charset="0"/>
              </a:rPr>
              <a:t>i</a:t>
            </a:r>
            <a:r>
              <a:rPr lang="en-US" altLang="zh-TW" sz="2800" smtClean="0">
                <a:solidFill>
                  <a:srgbClr val="0000FF"/>
                </a:solidFill>
              </a:rPr>
              <a:t>)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/>
              </a:rPr>
              <a:t>–</a:t>
            </a:r>
            <a:r>
              <a:rPr lang="en-US" altLang="zh-TW" sz="2800" smtClean="0"/>
              <a:t> </a:t>
            </a:r>
            <a:r>
              <a:rPr lang="en-US" altLang="zh-TW" sz="2800" smtClean="0">
                <a:solidFill>
                  <a:srgbClr val="FF0000"/>
                </a:solidFill>
              </a:rPr>
              <a:t>search</a:t>
            </a:r>
            <a:r>
              <a:rPr lang="en-US" altLang="zh-TW" sz="2800" smtClean="0"/>
              <a:t> the </a:t>
            </a:r>
            <a:r>
              <a:rPr lang="en-US" altLang="zh-TW" sz="2800" smtClean="0">
                <a:solidFill>
                  <a:srgbClr val="FF0000"/>
                </a:solidFill>
              </a:rPr>
              <a:t>directory structure</a:t>
            </a:r>
            <a:r>
              <a:rPr lang="en-US" altLang="zh-TW" sz="2800" smtClean="0"/>
              <a:t> on </a:t>
            </a:r>
            <a:r>
              <a:rPr lang="en-US" altLang="zh-TW" sz="2800" smtClean="0">
                <a:solidFill>
                  <a:srgbClr val="CC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disk</a:t>
            </a:r>
            <a:r>
              <a:rPr lang="en-US" altLang="zh-TW" sz="2800" smtClean="0"/>
              <a:t> for entry </a:t>
            </a:r>
            <a:r>
              <a:rPr lang="en-US" altLang="zh-TW" sz="2800" i="1" smtClean="0">
                <a:latin typeface="Times New Roman" charset="0"/>
              </a:rPr>
              <a:t>F</a:t>
            </a:r>
            <a:r>
              <a:rPr lang="en-US" altLang="zh-TW" sz="2800" i="1" baseline="-25000" smtClean="0">
                <a:latin typeface="Times New Roman" charset="0"/>
              </a:rPr>
              <a:t>i</a:t>
            </a:r>
            <a:r>
              <a:rPr lang="en-US" altLang="zh-TW" sz="2800" smtClean="0">
                <a:latin typeface="Times New Roman" charset="0"/>
              </a:rPr>
              <a:t> </a:t>
            </a:r>
            <a:r>
              <a:rPr lang="en-US" altLang="zh-TW" sz="2800" smtClean="0"/>
              <a:t>and move the content of entry to memory.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>
                <a:solidFill>
                  <a:srgbClr val="0000FF"/>
                </a:solidFill>
              </a:rPr>
              <a:t>Close (</a:t>
            </a:r>
            <a:r>
              <a:rPr lang="en-US" altLang="zh-TW" sz="2800" i="1" smtClean="0">
                <a:solidFill>
                  <a:srgbClr val="0000FF"/>
                </a:solidFill>
                <a:latin typeface="Times New Roman" charset="0"/>
              </a:rPr>
              <a:t>F</a:t>
            </a:r>
            <a:r>
              <a:rPr lang="en-US" altLang="zh-TW" sz="2800" i="1" baseline="-25000" smtClean="0">
                <a:solidFill>
                  <a:srgbClr val="0000FF"/>
                </a:solidFill>
                <a:latin typeface="Times New Roman" charset="0"/>
              </a:rPr>
              <a:t>i</a:t>
            </a:r>
            <a:r>
              <a:rPr lang="en-US" altLang="zh-TW" sz="2800" smtClean="0">
                <a:solidFill>
                  <a:srgbClr val="0000FF"/>
                </a:solidFill>
              </a:rPr>
              <a:t>)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/>
              </a:rPr>
              <a:t>–</a:t>
            </a:r>
            <a:r>
              <a:rPr lang="en-US" altLang="zh-TW" sz="2800" smtClean="0"/>
              <a:t> move the content of entry </a:t>
            </a:r>
            <a:r>
              <a:rPr lang="en-US" altLang="zh-TW" sz="2800" i="1" smtClean="0">
                <a:latin typeface="Times New Roman" charset="0"/>
              </a:rPr>
              <a:t>F</a:t>
            </a:r>
            <a:r>
              <a:rPr lang="en-US" altLang="zh-TW" sz="2800" i="1" baseline="-25000" smtClean="0">
                <a:latin typeface="Times New Roman" charset="0"/>
              </a:rPr>
              <a:t>i</a:t>
            </a:r>
            <a:r>
              <a:rPr lang="en-US" altLang="zh-TW" sz="2800" smtClean="0"/>
              <a:t> in memory to </a:t>
            </a:r>
            <a:r>
              <a:rPr lang="en-US" altLang="zh-TW" sz="2800" smtClean="0">
                <a:solidFill>
                  <a:srgbClr val="FF0000"/>
                </a:solidFill>
              </a:rPr>
              <a:t>directory structure</a:t>
            </a:r>
            <a:r>
              <a:rPr lang="en-US" altLang="zh-TW" sz="2800" smtClean="0"/>
              <a:t> on </a:t>
            </a:r>
            <a:r>
              <a:rPr lang="en-US" altLang="zh-TW" sz="2800" smtClean="0">
                <a:solidFill>
                  <a:srgbClr val="CC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disk</a:t>
            </a:r>
            <a:r>
              <a:rPr lang="en-US" altLang="zh-TW" sz="280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4908727-A36F-440F-9D77-E947CB71107C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9219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922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B30DE53-E478-485A-8E06-B452686703CD}" type="slidenum">
              <a:rPr kumimoji="0" lang="en-US" altLang="zh-TW" sz="1400" smtClean="0"/>
              <a:pPr eaLnBrk="1" hangingPunct="1"/>
              <a:t>7</a:t>
            </a:fld>
            <a:endParaRPr kumimoji="0" lang="en-US" altLang="zh-TW" sz="1400" smtClean="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333375"/>
            <a:ext cx="7772400" cy="809625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Open Files</a:t>
            </a:r>
          </a:p>
        </p:txBody>
      </p:sp>
      <p:sp>
        <p:nvSpPr>
          <p:cNvPr id="172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196975"/>
            <a:ext cx="8497887" cy="5472113"/>
          </a:xfrm>
        </p:spPr>
        <p:txBody>
          <a:bodyPr/>
          <a:lstStyle/>
          <a:p>
            <a:pPr eaLnBrk="1" hangingPunct="1"/>
            <a:r>
              <a:rPr lang="en-US" altLang="zh-TW" smtClean="0"/>
              <a:t>Issues in open files</a:t>
            </a:r>
          </a:p>
          <a:p>
            <a:pPr lvl="1" eaLnBrk="1" hangingPunct="1"/>
            <a:r>
              <a:rPr lang="en-US" altLang="zh-TW" smtClean="0"/>
              <a:t>File </a:t>
            </a:r>
            <a:r>
              <a:rPr lang="en-US" altLang="zh-TW" smtClean="0">
                <a:solidFill>
                  <a:srgbClr val="0000FF"/>
                </a:solidFill>
              </a:rPr>
              <a:t>pointer</a:t>
            </a:r>
            <a:r>
              <a:rPr lang="en-US" altLang="zh-TW" smtClean="0"/>
              <a:t>:  pointer to last read/write location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/>
              <a:t>File-</a:t>
            </a:r>
            <a:r>
              <a:rPr lang="en-US" altLang="zh-TW" smtClean="0">
                <a:solidFill>
                  <a:srgbClr val="0000FF"/>
                </a:solidFill>
              </a:rPr>
              <a:t>open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0000FF"/>
                </a:solidFill>
              </a:rPr>
              <a:t>count</a:t>
            </a:r>
            <a:r>
              <a:rPr lang="en-US" altLang="zh-TW" smtClean="0"/>
              <a:t>: # of times a file is open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TW" smtClean="0"/>
              <a:t>allow removal of data from open-file table when the last process closes it.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Disk location</a:t>
            </a:r>
            <a:r>
              <a:rPr lang="en-US" altLang="zh-TW" smtClean="0"/>
              <a:t> of the file: cache of data access information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Access rights</a:t>
            </a:r>
            <a:r>
              <a:rPr lang="en-US" altLang="zh-TW" smtClean="0"/>
              <a:t>: per-process access mode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2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2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2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373C178-6072-469C-A588-CC6B9F0F94EC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0243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0244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C31E577-42F3-4425-A262-C3E8B5C8E536}" type="slidenum">
              <a:rPr kumimoji="0" lang="en-US" altLang="zh-TW" sz="1400" smtClean="0"/>
              <a:pPr eaLnBrk="1" hangingPunct="1"/>
              <a:t>8</a:t>
            </a:fld>
            <a:endParaRPr kumimoji="0" lang="en-US" altLang="zh-TW" sz="1400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7713"/>
          </a:xfrm>
        </p:spPr>
        <p:txBody>
          <a:bodyPr/>
          <a:lstStyle/>
          <a:p>
            <a:pPr algn="ctr" eaLnBrk="1" hangingPunct="1"/>
            <a:r>
              <a:rPr lang="en-US" altLang="zh-TW" sz="3600" smtClean="0">
                <a:solidFill>
                  <a:srgbClr val="0000FF"/>
                </a:solidFill>
              </a:rPr>
              <a:t>In-Memory File System Structures</a:t>
            </a:r>
            <a:endParaRPr lang="en-US" altLang="zh-TW" sz="2800" smtClean="0">
              <a:solidFill>
                <a:srgbClr val="0000FF"/>
              </a:solidFill>
            </a:endParaRPr>
          </a:p>
        </p:txBody>
      </p:sp>
      <p:pic>
        <p:nvPicPr>
          <p:cNvPr id="1024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7" t="919" r="4572" b="716"/>
          <a:stretch>
            <a:fillRect/>
          </a:stretch>
        </p:blipFill>
        <p:spPr bwMode="auto">
          <a:xfrm>
            <a:off x="684213" y="1125538"/>
            <a:ext cx="7864475" cy="50546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版面配置區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E061CDD-618B-4853-8BB7-940B07C754D4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1267" name="頁尾版面配置區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126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97DD2CE-18B4-43FB-B1FF-C16279D6DF93}" type="slidenum">
              <a:rPr kumimoji="0" lang="en-US" altLang="zh-TW" sz="1400" smtClean="0"/>
              <a:pPr eaLnBrk="1" hangingPunct="1"/>
              <a:t>9</a:t>
            </a:fld>
            <a:endParaRPr kumimoji="0" lang="en-US" altLang="zh-TW" sz="1400" smtClean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772400" cy="820738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Open File Locking</a:t>
            </a:r>
          </a:p>
        </p:txBody>
      </p:sp>
      <p:sp>
        <p:nvSpPr>
          <p:cNvPr id="17408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1196975"/>
            <a:ext cx="8280400" cy="49672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0000FF"/>
                </a:solidFill>
              </a:rPr>
              <a:t>Lock a open file</a:t>
            </a:r>
            <a:r>
              <a:rPr lang="en-US" altLang="zh-TW" sz="2800" smtClean="0"/>
              <a:t>: Allows one process to lock file and prevent other processes from gaining access to it.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/>
              <a:t>Similar to </a:t>
            </a:r>
            <a:r>
              <a:rPr lang="en-US" altLang="zh-TW" sz="2800" smtClean="0">
                <a:solidFill>
                  <a:srgbClr val="FF0000"/>
                </a:solidFill>
              </a:rPr>
              <a:t>readers-writers locks:</a:t>
            </a:r>
            <a:r>
              <a:rPr lang="en-US" altLang="zh-TW" sz="2800" smtClean="0">
                <a:solidFill>
                  <a:srgbClr val="0000FF"/>
                </a:solidFill>
              </a:rPr>
              <a:t> shared lock</a:t>
            </a:r>
            <a:r>
              <a:rPr lang="en-US" altLang="zh-TW" sz="2800" smtClean="0"/>
              <a:t> and </a:t>
            </a:r>
            <a:r>
              <a:rPr lang="en-US" altLang="zh-TW" sz="2800" smtClean="0">
                <a:solidFill>
                  <a:srgbClr val="0000FF"/>
                </a:solidFill>
              </a:rPr>
              <a:t>exclusive lock (write lock)</a:t>
            </a:r>
            <a:endParaRPr lang="en-US" altLang="zh-TW" sz="2800" smtClean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800" smtClean="0">
                <a:solidFill>
                  <a:srgbClr val="FF0000"/>
                </a:solidFill>
              </a:rPr>
              <a:t>Mandatory</a:t>
            </a:r>
            <a:r>
              <a:rPr lang="en-US" altLang="zh-TW" sz="2800" smtClean="0"/>
              <a:t> or </a:t>
            </a:r>
            <a:r>
              <a:rPr lang="en-US" altLang="zh-TW" sz="2800" smtClean="0">
                <a:solidFill>
                  <a:srgbClr val="FF0000"/>
                </a:solidFill>
              </a:rPr>
              <a:t>advisory</a:t>
            </a:r>
            <a:r>
              <a:rPr lang="en-US" altLang="zh-TW" sz="2800" smtClean="0"/>
              <a:t>: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FF0000"/>
                </a:solidFill>
              </a:rPr>
              <a:t>Mandatory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Times New Roman" charset="0"/>
              </a:rPr>
              <a:t>–</a:t>
            </a:r>
            <a:r>
              <a:rPr lang="en-US" altLang="zh-TW" sz="2400" smtClean="0"/>
              <a:t> access is denied depending on locks held and requested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sz="2400" smtClean="0">
                <a:solidFill>
                  <a:srgbClr val="FF0000"/>
                </a:solidFill>
              </a:rPr>
              <a:t>Advisory</a:t>
            </a:r>
            <a:r>
              <a:rPr lang="en-US" altLang="zh-TW" sz="2400" smtClean="0"/>
              <a:t> </a:t>
            </a:r>
            <a:r>
              <a:rPr lang="en-US" altLang="zh-TW" sz="2400" smtClean="0">
                <a:latin typeface="Times New Roman" charset="0"/>
              </a:rPr>
              <a:t>–</a:t>
            </a:r>
            <a:r>
              <a:rPr lang="en-US" altLang="zh-TW" sz="2400" smtClean="0"/>
              <a:t> processes can find status of locks and decide what to do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8BF2D59-46FE-4919-8B90-EFCD713E04D5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22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22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5998453-9662-423E-A213-7BB972F8AAAA}" type="slidenum">
              <a:rPr kumimoji="0" lang="en-US" altLang="zh-TW" sz="1400" smtClean="0"/>
              <a:pPr eaLnBrk="1" hangingPunct="1"/>
              <a:t>10</a:t>
            </a:fld>
            <a:endParaRPr kumimoji="0" lang="en-US" altLang="zh-TW" sz="1400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OS and Disk I/O</a:t>
            </a:r>
          </a:p>
        </p:txBody>
      </p:sp>
      <p:sp>
        <p:nvSpPr>
          <p:cNvPr id="1433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610600" cy="5472113"/>
          </a:xfrm>
        </p:spPr>
        <p:txBody>
          <a:bodyPr/>
          <a:lstStyle/>
          <a:p>
            <a:pPr eaLnBrk="1" hangingPunct="1"/>
            <a:r>
              <a:rPr lang="en-US" altLang="zh-TW" sz="2800" dirty="0" smtClean="0"/>
              <a:t>Advantages for OS to know the file type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dirty="0" smtClean="0"/>
              <a:t>avoid some mistakes (e.g., print a binary-object)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dirty="0" smtClean="0"/>
              <a:t>TOPS-20: if source program has been modified, running an old </a:t>
            </a:r>
            <a:r>
              <a:rPr lang="en-US" altLang="zh-TW" sz="2400" i="1" dirty="0" smtClean="0">
                <a:latin typeface="Times New Roman" charset="0"/>
              </a:rPr>
              <a:t>.</a:t>
            </a:r>
            <a:r>
              <a:rPr lang="en-US" altLang="zh-TW" sz="2400" i="1" dirty="0" err="1" smtClean="0">
                <a:solidFill>
                  <a:srgbClr val="FF0000"/>
                </a:solidFill>
                <a:latin typeface="Times New Roman" charset="0"/>
              </a:rPr>
              <a:t>obj</a:t>
            </a:r>
            <a:r>
              <a:rPr lang="en-US" altLang="zh-TW" sz="2400" dirty="0" smtClean="0"/>
              <a:t> file causes re-compiling automatically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dirty="0" smtClean="0"/>
              <a:t>Windows: doubling clicking a .doc file invokes MS Words</a:t>
            </a:r>
            <a:endParaRPr lang="en-US" altLang="zh-TW" sz="2400" i="1" dirty="0" smtClean="0"/>
          </a:p>
          <a:p>
            <a:pPr eaLnBrk="1" hangingPunct="1">
              <a:spcBef>
                <a:spcPct val="60000"/>
              </a:spcBef>
            </a:pPr>
            <a:r>
              <a:rPr lang="en-US" altLang="zh-TW" sz="2800" dirty="0" smtClean="0"/>
              <a:t>Disk I/O performs in units of one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block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dirty="0" smtClean="0"/>
              <a:t>logical records </a:t>
            </a:r>
            <a:r>
              <a:rPr lang="en-US" altLang="zh-TW" sz="2400" dirty="0" smtClean="0">
                <a:sym typeface="Symbol" pitchFamily="18" charset="2"/>
              </a:rPr>
              <a:t> </a:t>
            </a:r>
            <a:r>
              <a:rPr lang="en-US" altLang="zh-TW" sz="2400" dirty="0" smtClean="0">
                <a:solidFill>
                  <a:srgbClr val="FF0000"/>
                </a:solidFill>
              </a:rPr>
              <a:t>packing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>
                <a:sym typeface="Symbol" pitchFamily="18" charset="2"/>
              </a:rPr>
              <a:t>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a physical block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z="2400" dirty="0" smtClean="0"/>
              <a:t>all file systems have </a:t>
            </a:r>
            <a:r>
              <a:rPr lang="en-US" altLang="zh-TW" sz="2400" dirty="0" smtClean="0">
                <a:solidFill>
                  <a:srgbClr val="FF0000"/>
                </a:solidFill>
              </a:rPr>
              <a:t>internal fragmentation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TW" sz="2000" dirty="0" smtClean="0"/>
              <a:t>larger block </a:t>
            </a:r>
            <a:r>
              <a:rPr lang="en-US" altLang="zh-TW" sz="2000" dirty="0" smtClean="0">
                <a:sym typeface="Symbol" pitchFamily="18" charset="2"/>
              </a:rPr>
              <a:t> larger internal fragmentation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56C49D7-290E-44F3-9095-56DA44CAFAAC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33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33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D407B70-A190-4B7C-86EF-BF4EEABB6D41}" type="slidenum">
              <a:rPr kumimoji="0" lang="en-US" altLang="zh-TW" sz="1400" smtClean="0"/>
              <a:pPr eaLnBrk="1" hangingPunct="1"/>
              <a:t>11</a:t>
            </a:fld>
            <a:endParaRPr kumimoji="0" lang="en-US" altLang="zh-TW" sz="1400" smtClean="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269163" cy="631825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Access Methods</a:t>
            </a:r>
          </a:p>
        </p:txBody>
      </p:sp>
      <p:sp>
        <p:nvSpPr>
          <p:cNvPr id="14131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63563" y="741363"/>
            <a:ext cx="8210550" cy="56403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Sequential access</a:t>
            </a:r>
            <a:r>
              <a:rPr lang="en-US" altLang="zh-TW" sz="2800" smtClean="0"/>
              <a:t>: records are processed in order</a:t>
            </a:r>
            <a:endParaRPr lang="en-US" altLang="zh-TW" sz="240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000" smtClean="0"/>
              <a:t>read/write (next)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000" smtClean="0"/>
              <a:t>reset to beginning, skip forward/backward</a:t>
            </a:r>
            <a:endParaRPr lang="en-US" altLang="zh-TW" sz="2000" smtClean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Direct access</a:t>
            </a:r>
            <a:r>
              <a:rPr lang="en-US" altLang="zh-TW" sz="2800" smtClean="0"/>
              <a:t> (disks)</a:t>
            </a:r>
            <a:endParaRPr lang="en-US" altLang="zh-TW" sz="240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000" smtClean="0"/>
              <a:t>position (seek) to the </a:t>
            </a:r>
            <a:r>
              <a:rPr lang="en-US" altLang="zh-TW" sz="2000" i="1" smtClean="0">
                <a:latin typeface="Times New Roman" charset="0"/>
              </a:rPr>
              <a:t>n</a:t>
            </a:r>
            <a:r>
              <a:rPr lang="en-US" altLang="zh-TW" sz="2000" i="1" smtClean="0"/>
              <a:t>-</a:t>
            </a:r>
            <a:r>
              <a:rPr lang="en-US" altLang="zh-TW" sz="2000" smtClean="0"/>
              <a:t>th record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000" smtClean="0"/>
              <a:t>read/write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  <a:defRPr/>
            </a:pPr>
            <a:r>
              <a:rPr lang="en-US" altLang="zh-TW" sz="2800" smtClean="0"/>
              <a:t>Other </a:t>
            </a:r>
            <a:r>
              <a:rPr lang="en-US" altLang="zh-TW" sz="280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(direct access+index</a:t>
            </a:r>
            <a:r>
              <a:rPr lang="en-US" altLang="zh-TW" sz="2800" smtClean="0"/>
              <a:t>)</a:t>
            </a:r>
            <a:endParaRPr lang="en-US" altLang="zh-TW" sz="2400" smtClean="0"/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000" smtClean="0"/>
              <a:t>index table (</a:t>
            </a:r>
            <a:r>
              <a:rPr lang="en-US" altLang="zh-TW" sz="2000" smtClean="0">
                <a:solidFill>
                  <a:srgbClr val="FF0000"/>
                </a:solidFill>
              </a:rPr>
              <a:t>in memory if necessary</a:t>
            </a:r>
            <a:r>
              <a:rPr lang="en-US" altLang="zh-TW" sz="2000" smtClean="0"/>
              <a:t>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1800" smtClean="0"/>
              <a:t>the index, like an index in the back of a book, contains pointers to the various blocks.</a:t>
            </a:r>
            <a:endParaRPr lang="en-US" altLang="zh-TW" sz="1600" smtClean="0"/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2000" smtClean="0"/>
              <a:t>file in disk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TW" sz="2400" smtClean="0">
                <a:latin typeface="Wingdings" pitchFamily="2" charset="2"/>
              </a:rPr>
              <a:t>J</a:t>
            </a:r>
            <a:r>
              <a:rPr lang="en-US" altLang="zh-TW" sz="2400" smtClean="0"/>
              <a:t>: </a:t>
            </a:r>
            <a:r>
              <a:rPr lang="en-US" altLang="zh-TW" sz="2000" smtClean="0"/>
              <a:t>reduce I/O for searching on a large file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6228184" y="3789040"/>
            <a:ext cx="27045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solidFill>
                  <a:srgbClr val="0000FF"/>
                </a:solidFill>
              </a:rPr>
              <a:t>content search</a:t>
            </a:r>
          </a:p>
          <a:p>
            <a:r>
              <a:rPr lang="en-US" altLang="zh-TW" b="1" dirty="0" smtClean="0">
                <a:solidFill>
                  <a:srgbClr val="0000FF"/>
                </a:solidFill>
              </a:rPr>
              <a:t>keyword, … etc.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1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版面配置區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884D0FB-85D8-4C4B-AB6B-62C5A5D020D4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4339" name="頁尾版面配置區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4340" name="投影片編號版面配置區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32C426D-6C75-4821-A1CA-C74C925E1A9A}" type="slidenum">
              <a:rPr kumimoji="0" lang="en-US" altLang="zh-TW" sz="1400" smtClean="0"/>
              <a:pPr eaLnBrk="1" hangingPunct="1"/>
              <a:t>12</a:t>
            </a:fld>
            <a:endParaRPr kumimoji="0" lang="en-US" altLang="zh-TW" sz="1400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04800"/>
            <a:ext cx="3671887" cy="820738"/>
          </a:xfrm>
        </p:spPr>
        <p:txBody>
          <a:bodyPr/>
          <a:lstStyle/>
          <a:p>
            <a:pPr eaLnBrk="1" hangingPunct="1"/>
            <a:r>
              <a:rPr lang="en-US" altLang="zh-TW" sz="2800" smtClean="0"/>
              <a:t>Sequential-access File</a:t>
            </a:r>
          </a:p>
        </p:txBody>
      </p:sp>
      <p:pic>
        <p:nvPicPr>
          <p:cNvPr id="143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" t="33012" r="458" b="33943"/>
          <a:stretch>
            <a:fillRect/>
          </a:stretch>
        </p:blipFill>
        <p:spPr bwMode="auto">
          <a:xfrm>
            <a:off x="539750" y="2060575"/>
            <a:ext cx="3384550" cy="26098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3" name="Rectangle 2"/>
          <p:cNvSpPr txBox="1">
            <a:spLocks noChangeArrowheads="1"/>
          </p:cNvSpPr>
          <p:nvPr/>
        </p:nvSpPr>
        <p:spPr bwMode="auto">
          <a:xfrm>
            <a:off x="4284663" y="304800"/>
            <a:ext cx="4535487" cy="82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800">
                <a:solidFill>
                  <a:schemeClr val="tx2"/>
                </a:solidFill>
              </a:rPr>
              <a:t>Index and Relative Files</a:t>
            </a:r>
          </a:p>
        </p:txBody>
      </p:sp>
      <p:pic>
        <p:nvPicPr>
          <p:cNvPr id="1434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1989138"/>
            <a:ext cx="4600575" cy="268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56226613-646D-4FB7-8D80-2660928DF2DB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536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53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D9AA19CC-16E0-42AE-BF30-677CAB383E70}" type="slidenum">
              <a:rPr kumimoji="0" lang="en-US" altLang="zh-TW" sz="1400" smtClean="0"/>
              <a:pPr eaLnBrk="1" hangingPunct="1"/>
              <a:t>13</a:t>
            </a:fld>
            <a:endParaRPr kumimoji="0" lang="en-US" altLang="zh-TW" sz="1400" smtClean="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Directory Structure (1)</a:t>
            </a:r>
          </a:p>
        </p:txBody>
      </p:sp>
      <p:sp>
        <p:nvSpPr>
          <p:cNvPr id="1536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210550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0000FF"/>
                </a:solidFill>
              </a:rPr>
              <a:t>A collection of nodes containing information about all files</a:t>
            </a:r>
            <a:endParaRPr lang="en-US" altLang="zh-TW" sz="2800" smtClean="0"/>
          </a:p>
        </p:txBody>
      </p:sp>
      <p:sp>
        <p:nvSpPr>
          <p:cNvPr id="15367" name="Oval 4"/>
          <p:cNvSpPr>
            <a:spLocks noChangeArrowheads="1"/>
          </p:cNvSpPr>
          <p:nvPr/>
        </p:nvSpPr>
        <p:spPr bwMode="auto">
          <a:xfrm>
            <a:off x="2819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368" name="Oval 5"/>
          <p:cNvSpPr>
            <a:spLocks noChangeArrowheads="1"/>
          </p:cNvSpPr>
          <p:nvPr/>
        </p:nvSpPr>
        <p:spPr bwMode="auto">
          <a:xfrm>
            <a:off x="3581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369" name="Oval 6"/>
          <p:cNvSpPr>
            <a:spLocks noChangeArrowheads="1"/>
          </p:cNvSpPr>
          <p:nvPr/>
        </p:nvSpPr>
        <p:spPr bwMode="auto">
          <a:xfrm>
            <a:off x="4343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370" name="Oval 7"/>
          <p:cNvSpPr>
            <a:spLocks noChangeArrowheads="1"/>
          </p:cNvSpPr>
          <p:nvPr/>
        </p:nvSpPr>
        <p:spPr bwMode="auto">
          <a:xfrm>
            <a:off x="5105400" y="22860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371" name="Oval 8"/>
          <p:cNvSpPr>
            <a:spLocks noChangeArrowheads="1"/>
          </p:cNvSpPr>
          <p:nvPr/>
        </p:nvSpPr>
        <p:spPr bwMode="auto">
          <a:xfrm>
            <a:off x="5867400" y="2590800"/>
            <a:ext cx="5334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5372" name="Rectangle 9"/>
          <p:cNvSpPr>
            <a:spLocks noChangeArrowheads="1"/>
          </p:cNvSpPr>
          <p:nvPr/>
        </p:nvSpPr>
        <p:spPr bwMode="auto">
          <a:xfrm>
            <a:off x="2819400" y="4267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/>
            <a:r>
              <a:rPr kumimoji="0" lang="en-US" altLang="zh-TW" sz="1800">
                <a:latin typeface="Helvetica" pitchFamily="34" charset="0"/>
              </a:rPr>
              <a:t>F 1</a:t>
            </a:r>
          </a:p>
        </p:txBody>
      </p:sp>
      <p:sp>
        <p:nvSpPr>
          <p:cNvPr id="15373" name="Rectangle 10"/>
          <p:cNvSpPr>
            <a:spLocks noChangeArrowheads="1"/>
          </p:cNvSpPr>
          <p:nvPr/>
        </p:nvSpPr>
        <p:spPr bwMode="auto">
          <a:xfrm>
            <a:off x="3581400" y="42672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/>
            <a:r>
              <a:rPr kumimoji="0" lang="en-US" altLang="zh-TW" sz="1800">
                <a:latin typeface="Helvetica" pitchFamily="34" charset="0"/>
              </a:rPr>
              <a:t>F 2</a:t>
            </a:r>
          </a:p>
        </p:txBody>
      </p:sp>
      <p:sp>
        <p:nvSpPr>
          <p:cNvPr id="15374" name="Rectangle 11"/>
          <p:cNvSpPr>
            <a:spLocks noChangeArrowheads="1"/>
          </p:cNvSpPr>
          <p:nvPr/>
        </p:nvSpPr>
        <p:spPr bwMode="auto">
          <a:xfrm>
            <a:off x="4343400" y="4267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/>
            <a:r>
              <a:rPr kumimoji="0" lang="en-US" altLang="zh-TW" sz="1800">
                <a:latin typeface="Helvetica" pitchFamily="34" charset="0"/>
              </a:rPr>
              <a:t>F 3</a:t>
            </a:r>
          </a:p>
        </p:txBody>
      </p:sp>
      <p:sp>
        <p:nvSpPr>
          <p:cNvPr id="15375" name="Rectangle 12"/>
          <p:cNvSpPr>
            <a:spLocks noChangeArrowheads="1"/>
          </p:cNvSpPr>
          <p:nvPr/>
        </p:nvSpPr>
        <p:spPr bwMode="auto">
          <a:xfrm>
            <a:off x="5105400" y="42672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/>
            <a:r>
              <a:rPr kumimoji="0" lang="en-US" altLang="zh-TW" sz="1800">
                <a:latin typeface="Helvetica" pitchFamily="34" charset="0"/>
              </a:rPr>
              <a:t>F 4</a:t>
            </a:r>
          </a:p>
        </p:txBody>
      </p:sp>
      <p:sp>
        <p:nvSpPr>
          <p:cNvPr id="15376" name="Rectangle 13"/>
          <p:cNvSpPr>
            <a:spLocks noChangeArrowheads="1"/>
          </p:cNvSpPr>
          <p:nvPr/>
        </p:nvSpPr>
        <p:spPr bwMode="auto">
          <a:xfrm>
            <a:off x="5867400" y="46482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/>
            <a:r>
              <a:rPr kumimoji="0" lang="en-US" altLang="zh-TW" sz="1800">
                <a:latin typeface="Helvetica" pitchFamily="34" charset="0"/>
              </a:rPr>
              <a:t>F n</a:t>
            </a:r>
          </a:p>
        </p:txBody>
      </p:sp>
      <p:sp>
        <p:nvSpPr>
          <p:cNvPr id="15377" name="Line 14"/>
          <p:cNvSpPr>
            <a:spLocks noChangeShapeType="1"/>
          </p:cNvSpPr>
          <p:nvPr/>
        </p:nvSpPr>
        <p:spPr bwMode="auto">
          <a:xfrm>
            <a:off x="3838575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78" name="Line 15"/>
          <p:cNvSpPr>
            <a:spLocks noChangeShapeType="1"/>
          </p:cNvSpPr>
          <p:nvPr/>
        </p:nvSpPr>
        <p:spPr bwMode="auto">
          <a:xfrm>
            <a:off x="4572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79" name="Line 16"/>
          <p:cNvSpPr>
            <a:spLocks noChangeShapeType="1"/>
          </p:cNvSpPr>
          <p:nvPr/>
        </p:nvSpPr>
        <p:spPr bwMode="auto">
          <a:xfrm>
            <a:off x="6096000" y="3048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80" name="Line 17"/>
          <p:cNvSpPr>
            <a:spLocks noChangeShapeType="1"/>
          </p:cNvSpPr>
          <p:nvPr/>
        </p:nvSpPr>
        <p:spPr bwMode="auto">
          <a:xfrm>
            <a:off x="5334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81" name="Line 18"/>
          <p:cNvSpPr>
            <a:spLocks noChangeShapeType="1"/>
          </p:cNvSpPr>
          <p:nvPr/>
        </p:nvSpPr>
        <p:spPr bwMode="auto">
          <a:xfrm>
            <a:off x="3048000" y="27432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82" name="Freeform 19"/>
          <p:cNvSpPr>
            <a:spLocks/>
          </p:cNvSpPr>
          <p:nvPr/>
        </p:nvSpPr>
        <p:spPr bwMode="auto">
          <a:xfrm>
            <a:off x="2538413" y="1962150"/>
            <a:ext cx="4186237" cy="1473200"/>
          </a:xfrm>
          <a:custGeom>
            <a:avLst/>
            <a:gdLst>
              <a:gd name="T0" fmla="*/ 25201559 w 2637"/>
              <a:gd name="T1" fmla="*/ 826611250 h 928"/>
              <a:gd name="T2" fmla="*/ 70564367 w 2637"/>
              <a:gd name="T3" fmla="*/ 551915013 h 928"/>
              <a:gd name="T4" fmla="*/ 1033263939 w 2637"/>
              <a:gd name="T5" fmla="*/ 93246575 h 928"/>
              <a:gd name="T6" fmla="*/ 1469250125 w 2637"/>
              <a:gd name="T7" fmla="*/ 25201563 h 928"/>
              <a:gd name="T8" fmla="*/ 2147483647 w 2637"/>
              <a:gd name="T9" fmla="*/ 0 h 928"/>
              <a:gd name="T10" fmla="*/ 2147483647 w 2637"/>
              <a:gd name="T11" fmla="*/ 25201563 h 928"/>
              <a:gd name="T12" fmla="*/ 2147483647 w 2637"/>
              <a:gd name="T13" fmla="*/ 138609388 h 928"/>
              <a:gd name="T14" fmla="*/ 2147483647 w 2637"/>
              <a:gd name="T15" fmla="*/ 322580000 h 928"/>
              <a:gd name="T16" fmla="*/ 2147483647 w 2637"/>
              <a:gd name="T17" fmla="*/ 413305625 h 928"/>
              <a:gd name="T18" fmla="*/ 2147483647 w 2637"/>
              <a:gd name="T19" fmla="*/ 529232813 h 928"/>
              <a:gd name="T20" fmla="*/ 2147483647 w 2637"/>
              <a:gd name="T21" fmla="*/ 642640638 h 928"/>
              <a:gd name="T22" fmla="*/ 2147483647 w 2637"/>
              <a:gd name="T23" fmla="*/ 985381888 h 928"/>
              <a:gd name="T24" fmla="*/ 2147483647 w 2637"/>
              <a:gd name="T25" fmla="*/ 1123989688 h 928"/>
              <a:gd name="T26" fmla="*/ 2147483647 w 2637"/>
              <a:gd name="T27" fmla="*/ 1444050325 h 928"/>
              <a:gd name="T28" fmla="*/ 2147483647 w 2637"/>
              <a:gd name="T29" fmla="*/ 1582658125 h 928"/>
              <a:gd name="T30" fmla="*/ 2147483647 w 2637"/>
              <a:gd name="T31" fmla="*/ 1857355950 h 928"/>
              <a:gd name="T32" fmla="*/ 2147483647 w 2637"/>
              <a:gd name="T33" fmla="*/ 2147483647 h 928"/>
              <a:gd name="T34" fmla="*/ 2147483647 w 2637"/>
              <a:gd name="T35" fmla="*/ 2147483647 h 928"/>
              <a:gd name="T36" fmla="*/ 2147483647 w 2637"/>
              <a:gd name="T37" fmla="*/ 2147483647 h 928"/>
              <a:gd name="T38" fmla="*/ 1194553920 w 2637"/>
              <a:gd name="T39" fmla="*/ 1764109375 h 928"/>
              <a:gd name="T40" fmla="*/ 1123989553 w 2637"/>
              <a:gd name="T41" fmla="*/ 1741428763 h 928"/>
              <a:gd name="T42" fmla="*/ 1033263939 w 2637"/>
              <a:gd name="T43" fmla="*/ 1696065950 h 928"/>
              <a:gd name="T44" fmla="*/ 209172150 w 2637"/>
              <a:gd name="T45" fmla="*/ 1421368125 h 928"/>
              <a:gd name="T46" fmla="*/ 70564367 w 2637"/>
              <a:gd name="T47" fmla="*/ 1008062500 h 928"/>
              <a:gd name="T48" fmla="*/ 2519362 w 2637"/>
              <a:gd name="T49" fmla="*/ 803930638 h 928"/>
              <a:gd name="T50" fmla="*/ 25201559 w 2637"/>
              <a:gd name="T51" fmla="*/ 826611250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83" name="Freeform 20"/>
          <p:cNvSpPr>
            <a:spLocks/>
          </p:cNvSpPr>
          <p:nvPr/>
        </p:nvSpPr>
        <p:spPr bwMode="auto">
          <a:xfrm>
            <a:off x="2362200" y="3886200"/>
            <a:ext cx="4262438" cy="1600200"/>
          </a:xfrm>
          <a:custGeom>
            <a:avLst/>
            <a:gdLst>
              <a:gd name="T0" fmla="*/ 26127436 w 2637"/>
              <a:gd name="T1" fmla="*/ 975273618 h 928"/>
              <a:gd name="T2" fmla="*/ 73156497 w 2637"/>
              <a:gd name="T3" fmla="*/ 651172766 h 928"/>
              <a:gd name="T4" fmla="*/ 1071223246 w 2637"/>
              <a:gd name="T5" fmla="*/ 110015474 h 928"/>
              <a:gd name="T6" fmla="*/ 1523225943 w 2637"/>
              <a:gd name="T7" fmla="*/ 29734751 h 928"/>
              <a:gd name="T8" fmla="*/ 2147483647 w 2637"/>
              <a:gd name="T9" fmla="*/ 0 h 928"/>
              <a:gd name="T10" fmla="*/ 2147483647 w 2637"/>
              <a:gd name="T11" fmla="*/ 29734751 h 928"/>
              <a:gd name="T12" fmla="*/ 2147483647 w 2637"/>
              <a:gd name="T13" fmla="*/ 163535957 h 928"/>
              <a:gd name="T14" fmla="*/ 2147483647 w 2637"/>
              <a:gd name="T15" fmla="*/ 380594120 h 928"/>
              <a:gd name="T16" fmla="*/ 2147483647 w 2637"/>
              <a:gd name="T17" fmla="*/ 487636809 h 928"/>
              <a:gd name="T18" fmla="*/ 2147483647 w 2637"/>
              <a:gd name="T19" fmla="*/ 624412525 h 928"/>
              <a:gd name="T20" fmla="*/ 2147483647 w 2637"/>
              <a:gd name="T21" fmla="*/ 758215455 h 928"/>
              <a:gd name="T22" fmla="*/ 2147483647 w 2637"/>
              <a:gd name="T23" fmla="*/ 1162597031 h 928"/>
              <a:gd name="T24" fmla="*/ 2147483647 w 2637"/>
              <a:gd name="T25" fmla="*/ 1326134712 h 928"/>
              <a:gd name="T26" fmla="*/ 2147483647 w 2637"/>
              <a:gd name="T27" fmla="*/ 1703756046 h 928"/>
              <a:gd name="T28" fmla="*/ 2147483647 w 2637"/>
              <a:gd name="T29" fmla="*/ 1867292003 h 928"/>
              <a:gd name="T30" fmla="*/ 2147483647 w 2637"/>
              <a:gd name="T31" fmla="*/ 2147483647 h 928"/>
              <a:gd name="T32" fmla="*/ 2147483647 w 2637"/>
              <a:gd name="T33" fmla="*/ 2147483647 h 928"/>
              <a:gd name="T34" fmla="*/ 2147483647 w 2637"/>
              <a:gd name="T35" fmla="*/ 2147483647 h 928"/>
              <a:gd name="T36" fmla="*/ 2147483647 w 2637"/>
              <a:gd name="T37" fmla="*/ 2147483647 h 928"/>
              <a:gd name="T38" fmla="*/ 1238437864 w 2637"/>
              <a:gd name="T39" fmla="*/ 2081375657 h 928"/>
              <a:gd name="T40" fmla="*/ 1165281367 w 2637"/>
              <a:gd name="T41" fmla="*/ 2054615416 h 928"/>
              <a:gd name="T42" fmla="*/ 1071223246 w 2637"/>
              <a:gd name="T43" fmla="*/ 2001094933 h 928"/>
              <a:gd name="T44" fmla="*/ 216857393 w 2637"/>
              <a:gd name="T45" fmla="*/ 1676994081 h 928"/>
              <a:gd name="T46" fmla="*/ 73156497 w 2637"/>
              <a:gd name="T47" fmla="*/ 1189357272 h 928"/>
              <a:gd name="T48" fmla="*/ 2612097 w 2637"/>
              <a:gd name="T49" fmla="*/ 948513377 h 928"/>
              <a:gd name="T50" fmla="*/ 26127436 w 2637"/>
              <a:gd name="T51" fmla="*/ 975273618 h 92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2637" h="928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384" name="Text Box 21"/>
          <p:cNvSpPr txBox="1">
            <a:spLocks noChangeArrowheads="1"/>
          </p:cNvSpPr>
          <p:nvPr/>
        </p:nvSpPr>
        <p:spPr bwMode="auto">
          <a:xfrm>
            <a:off x="1295400" y="2286000"/>
            <a:ext cx="1098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zh-TW" sz="1800">
                <a:latin typeface="Helvetica" pitchFamily="34" charset="0"/>
              </a:rPr>
              <a:t>Directory</a:t>
            </a:r>
          </a:p>
        </p:txBody>
      </p:sp>
      <p:sp>
        <p:nvSpPr>
          <p:cNvPr id="15385" name="Text Box 22"/>
          <p:cNvSpPr txBox="1">
            <a:spLocks noChangeArrowheads="1"/>
          </p:cNvSpPr>
          <p:nvPr/>
        </p:nvSpPr>
        <p:spPr bwMode="auto">
          <a:xfrm>
            <a:off x="1435100" y="4191000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0" lang="en-US" altLang="zh-TW" sz="1800">
                <a:latin typeface="Helvetica" pitchFamily="34" charset="0"/>
              </a:rPr>
              <a:t>Files</a:t>
            </a:r>
          </a:p>
        </p:txBody>
      </p:sp>
      <p:sp>
        <p:nvSpPr>
          <p:cNvPr id="76823" name="Rectangle 23"/>
          <p:cNvSpPr>
            <a:spLocks noChangeArrowheads="1"/>
          </p:cNvSpPr>
          <p:nvPr/>
        </p:nvSpPr>
        <p:spPr bwMode="auto">
          <a:xfrm>
            <a:off x="990600" y="5638800"/>
            <a:ext cx="7253288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r>
              <a:rPr kumimoji="0" lang="en-US" altLang="zh-TW" sz="2000">
                <a:solidFill>
                  <a:srgbClr val="FF0000"/>
                </a:solidFill>
                <a:latin typeface="Helvetica" pitchFamily="34" charset="0"/>
              </a:rPr>
              <a:t>Both the directory structure and the files reside on disk.</a:t>
            </a:r>
          </a:p>
          <a:p>
            <a:r>
              <a:rPr kumimoji="0" lang="en-US" altLang="zh-TW" sz="2000">
                <a:latin typeface="Helvetica" pitchFamily="34" charset="0"/>
              </a:rPr>
              <a:t>Backups of these two structures are kept on tapes.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D2BC0494-7458-4DCB-BECB-B8874A7D2CFF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638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63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15C7B55-A116-4E04-A224-FA9A3EF7F57C}" type="slidenum">
              <a:rPr kumimoji="0" lang="en-US" altLang="zh-TW" sz="1400" smtClean="0"/>
              <a:pPr eaLnBrk="1" hangingPunct="1"/>
              <a:t>14</a:t>
            </a:fld>
            <a:endParaRPr kumimoji="0" lang="en-US" altLang="zh-TW" sz="1400" smtClean="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3" y="228600"/>
            <a:ext cx="7239000" cy="6858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Directory Structure (2)</a:t>
            </a:r>
          </a:p>
        </p:txBody>
      </p:sp>
      <p:sp>
        <p:nvSpPr>
          <p:cNvPr id="1639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697913" cy="1800225"/>
          </a:xfrm>
        </p:spPr>
        <p:txBody>
          <a:bodyPr/>
          <a:lstStyle/>
          <a:p>
            <a:pPr eaLnBrk="1" hangingPunct="1"/>
            <a:r>
              <a:rPr lang="en-US" altLang="zh-TW" smtClean="0"/>
              <a:t>Typical file-system organization</a:t>
            </a:r>
          </a:p>
          <a:p>
            <a:pPr lvl="1" eaLnBrk="1" hangingPunct="1"/>
            <a:r>
              <a:rPr lang="en-US" altLang="zh-TW" smtClean="0"/>
              <a:t>disk	</a:t>
            </a:r>
            <a:r>
              <a:rPr lang="en-US" altLang="zh-TW" smtClean="0">
                <a:sym typeface="Symbol" pitchFamily="18" charset="2"/>
              </a:rPr>
              <a:t></a:t>
            </a:r>
            <a:r>
              <a:rPr lang="en-US" altLang="zh-TW" i="1" smtClean="0"/>
              <a:t> </a:t>
            </a:r>
            <a:r>
              <a:rPr lang="en-US" altLang="zh-TW" b="1" smtClean="0">
                <a:solidFill>
                  <a:srgbClr val="FF0000"/>
                </a:solidFill>
              </a:rPr>
              <a:t>partitions</a:t>
            </a:r>
            <a:r>
              <a:rPr lang="en-US" altLang="zh-TW" i="1" smtClean="0"/>
              <a:t> </a:t>
            </a:r>
            <a:r>
              <a:rPr lang="en-US" altLang="zh-TW" smtClean="0"/>
              <a:t>(</a:t>
            </a:r>
            <a:r>
              <a:rPr lang="en-US" altLang="zh-TW" smtClean="0">
                <a:solidFill>
                  <a:srgbClr val="0000FF"/>
                </a:solidFill>
              </a:rPr>
              <a:t>IBM: minidisk</a:t>
            </a:r>
            <a:r>
              <a:rPr lang="en-US" altLang="zh-TW" smtClean="0"/>
              <a:t>, </a:t>
            </a:r>
            <a:r>
              <a:rPr lang="en-US" altLang="zh-TW" smtClean="0">
                <a:solidFill>
                  <a:srgbClr val="CC00FF"/>
                </a:solidFill>
              </a:rPr>
              <a:t>PC: volume</a:t>
            </a:r>
            <a:r>
              <a:rPr lang="en-US" altLang="zh-TW" smtClean="0"/>
              <a:t>)</a:t>
            </a:r>
            <a:endParaRPr lang="en-US" altLang="zh-TW" i="1" smtClean="0"/>
          </a:p>
          <a:p>
            <a:pPr lvl="3" eaLnBrk="1" hangingPunct="1">
              <a:buFont typeface="Wingdings" pitchFamily="2" charset="2"/>
              <a:buNone/>
            </a:pPr>
            <a:r>
              <a:rPr lang="en-US" altLang="zh-TW" smtClean="0">
                <a:sym typeface="Symbol" pitchFamily="18" charset="2"/>
              </a:rPr>
              <a:t>		</a:t>
            </a:r>
            <a:r>
              <a:rPr lang="en-US" altLang="zh-TW" sz="2800" smtClean="0">
                <a:sym typeface="Symbol" pitchFamily="18" charset="2"/>
              </a:rPr>
              <a:t></a:t>
            </a:r>
            <a:r>
              <a:rPr lang="en-US" altLang="zh-TW" sz="2800" i="1" smtClean="0">
                <a:solidFill>
                  <a:srgbClr val="0000FF"/>
                </a:solidFill>
              </a:rPr>
              <a:t> </a:t>
            </a:r>
            <a:r>
              <a:rPr lang="en-US" altLang="zh-TW" sz="2800" smtClean="0">
                <a:solidFill>
                  <a:srgbClr val="0000FF"/>
                </a:solidFill>
              </a:rPr>
              <a:t>files</a:t>
            </a:r>
            <a:r>
              <a:rPr lang="en-US" altLang="zh-TW" sz="2800" smtClean="0"/>
              <a:t> (</a:t>
            </a:r>
            <a:r>
              <a:rPr lang="en-US" altLang="zh-TW" sz="2800" smtClean="0">
                <a:solidFill>
                  <a:srgbClr val="0000FF"/>
                </a:solidFill>
              </a:rPr>
              <a:t>including directories</a:t>
            </a:r>
            <a:r>
              <a:rPr lang="en-US" altLang="zh-TW" sz="2800" smtClean="0"/>
              <a:t>)</a:t>
            </a:r>
          </a:p>
        </p:txBody>
      </p:sp>
      <p:pic>
        <p:nvPicPr>
          <p:cNvPr id="25" name="Picture 6" descr="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636912"/>
            <a:ext cx="6910387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33096BB-5D23-49C8-B99F-0AAAF6C76EB7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741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74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7660214-2B18-4976-9B1A-68F381BE4DF9}" type="slidenum">
              <a:rPr kumimoji="0" lang="en-US" altLang="zh-TW" sz="1400" smtClean="0"/>
              <a:pPr eaLnBrk="1" hangingPunct="1"/>
              <a:t>15</a:t>
            </a:fld>
            <a:endParaRPr kumimoji="0" lang="en-US" altLang="zh-TW" sz="1400" smtClean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Directory Structure (3)</a:t>
            </a:r>
          </a:p>
        </p:txBody>
      </p:sp>
      <p:sp>
        <p:nvSpPr>
          <p:cNvPr id="778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8305800" cy="5334000"/>
          </a:xfrm>
        </p:spPr>
        <p:txBody>
          <a:bodyPr/>
          <a:lstStyle/>
          <a:p>
            <a:pPr eaLnBrk="1" hangingPunct="1"/>
            <a:r>
              <a:rPr lang="en-US" altLang="zh-TW" smtClean="0"/>
              <a:t>Directory structures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/>
              <a:t>Single-level directory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/>
              <a:t>Two-level directory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Tree-structured directory</a:t>
            </a:r>
            <a:r>
              <a:rPr lang="en-US" altLang="zh-TW" smtClean="0"/>
              <a:t> (more common)</a:t>
            </a:r>
            <a:endParaRPr lang="en-US" altLang="zh-TW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Acyclic-graph</a:t>
            </a:r>
            <a:r>
              <a:rPr lang="en-US" altLang="zh-TW" smtClean="0"/>
              <a:t> </a:t>
            </a:r>
            <a:r>
              <a:rPr lang="en-US" altLang="zh-TW" smtClean="0">
                <a:solidFill>
                  <a:srgbClr val="FF0000"/>
                </a:solidFill>
              </a:rPr>
              <a:t>directory</a:t>
            </a:r>
            <a:r>
              <a:rPr lang="en-US" altLang="zh-TW" smtClean="0"/>
              <a:t> </a:t>
            </a:r>
          </a:p>
          <a:p>
            <a:pPr lvl="1" eaLnBrk="1" hangingPunct="1">
              <a:spcBef>
                <a:spcPts val="600"/>
              </a:spcBef>
              <a:buFont typeface="Wingdings" pitchFamily="2" charset="2"/>
              <a:buNone/>
            </a:pPr>
            <a:r>
              <a:rPr lang="en-US" altLang="zh-TW" smtClean="0"/>
              <a:t>	(</a:t>
            </a:r>
            <a:r>
              <a:rPr lang="en-US" altLang="zh-TW" smtClean="0">
                <a:solidFill>
                  <a:srgbClr val="000000"/>
                </a:solidFill>
              </a:rPr>
              <a:t>cycle-detection</a:t>
            </a:r>
            <a:r>
              <a:rPr lang="en-US" altLang="zh-TW" smtClean="0"/>
              <a:t> is expensive)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TW" smtClean="0">
                <a:solidFill>
                  <a:srgbClr val="CC00FF"/>
                </a:solidFill>
              </a:rPr>
              <a:t>General graph directory</a:t>
            </a:r>
            <a:r>
              <a:rPr lang="en-US" altLang="zh-TW" smtClean="0"/>
              <a:t> </a:t>
            </a:r>
          </a:p>
          <a:p>
            <a:pPr lvl="1" eaLnBrk="1" hangingPunct="1">
              <a:spcBef>
                <a:spcPts val="600"/>
              </a:spcBef>
              <a:buFont typeface="Wingdings" pitchFamily="2" charset="2"/>
              <a:buNone/>
            </a:pPr>
            <a:r>
              <a:rPr lang="en-US" altLang="zh-TW" smtClean="0"/>
              <a:t>	(</a:t>
            </a:r>
            <a:r>
              <a:rPr lang="en-US" altLang="zh-TW" smtClean="0">
                <a:solidFill>
                  <a:srgbClr val="000000"/>
                </a:solidFill>
              </a:rPr>
              <a:t>garbage collection</a:t>
            </a:r>
            <a:r>
              <a:rPr lang="en-US" altLang="zh-TW" smtClean="0"/>
              <a:t> is expensive)</a:t>
            </a:r>
          </a:p>
        </p:txBody>
      </p:sp>
      <p:sp>
        <p:nvSpPr>
          <p:cNvPr id="17415" name="Rectangle 23"/>
          <p:cNvSpPr>
            <a:spLocks noChangeArrowheads="1"/>
          </p:cNvSpPr>
          <p:nvPr/>
        </p:nvSpPr>
        <p:spPr bwMode="auto">
          <a:xfrm>
            <a:off x="990600" y="5638800"/>
            <a:ext cx="702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endParaRPr kumimoji="0" lang="zh-TW" altLang="zh-TW" sz="2000">
              <a:latin typeface="Helvetica" pitchFamily="34" charset="0"/>
            </a:endParaRPr>
          </a:p>
        </p:txBody>
      </p:sp>
      <p:sp>
        <p:nvSpPr>
          <p:cNvPr id="77849" name="AutoShape 25"/>
          <p:cNvSpPr>
            <a:spLocks noChangeArrowheads="1"/>
          </p:cNvSpPr>
          <p:nvPr/>
        </p:nvSpPr>
        <p:spPr bwMode="auto">
          <a:xfrm>
            <a:off x="8077200" y="1905000"/>
            <a:ext cx="265113" cy="4187825"/>
          </a:xfrm>
          <a:prstGeom prst="downArrow">
            <a:avLst>
              <a:gd name="adj1" fmla="val 50000"/>
              <a:gd name="adj2" fmla="val 394909"/>
            </a:avLst>
          </a:prstGeom>
          <a:solidFill>
            <a:srgbClr val="DCDCDC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77850" name="Text Box 26"/>
          <p:cNvSpPr txBox="1">
            <a:spLocks noChangeArrowheads="1"/>
          </p:cNvSpPr>
          <p:nvPr/>
        </p:nvSpPr>
        <p:spPr bwMode="auto">
          <a:xfrm>
            <a:off x="7315200" y="1143000"/>
            <a:ext cx="18288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charset="0"/>
              </a:rPr>
              <a:t>flexible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charset="0"/>
              </a:rPr>
              <a:t>complicated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7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77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9" grpId="0" animBg="1"/>
      <p:bldP spid="778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659A48D-63B2-47EE-8D8D-E523DE317C32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843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84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B5297E99-9A4C-4FDB-BF31-CF66E93A2689}" type="slidenum">
              <a:rPr kumimoji="0" lang="en-US" altLang="zh-TW" sz="1400" smtClean="0"/>
              <a:pPr eaLnBrk="1" hangingPunct="1"/>
              <a:t>16</a:t>
            </a:fld>
            <a:endParaRPr kumimoji="0" lang="en-US" altLang="zh-TW" sz="1400" smtClean="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4800"/>
            <a:ext cx="8569325" cy="892175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Operations Performed on Directory</a:t>
            </a:r>
          </a:p>
        </p:txBody>
      </p:sp>
      <p:sp>
        <p:nvSpPr>
          <p:cNvPr id="788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7988300" cy="4895850"/>
          </a:xfrm>
        </p:spPr>
        <p:txBody>
          <a:bodyPr/>
          <a:lstStyle/>
          <a:p>
            <a:pPr eaLnBrk="1" hangingPunct="1"/>
            <a:r>
              <a:rPr lang="en-US" altLang="zh-TW" smtClean="0"/>
              <a:t>Search for a file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</a:rPr>
              <a:t>Create a file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0000FF"/>
                </a:solidFill>
              </a:rPr>
              <a:t>Delete a file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List a directory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Rename a file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mtClean="0"/>
              <a:t>Traverse the file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A0A9AB1-2E04-43A5-88EB-48754B1884A0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1945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194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7F9D7CB-26BA-44B4-87D9-A7514529C591}" type="slidenum">
              <a:rPr kumimoji="0" lang="en-US" altLang="zh-TW" sz="1400" smtClean="0"/>
              <a:pPr eaLnBrk="1" hangingPunct="1"/>
              <a:t>17</a:t>
            </a:fld>
            <a:endParaRPr kumimoji="0" lang="en-US" altLang="zh-TW" sz="1400" smtClean="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431213" cy="896938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Organize the </a:t>
            </a:r>
            <a:r>
              <a:rPr lang="en-US" altLang="zh-TW" sz="4000" smtClean="0">
                <a:solidFill>
                  <a:srgbClr val="FF0000"/>
                </a:solidFill>
              </a:rPr>
              <a:t>Directory</a:t>
            </a:r>
            <a:r>
              <a:rPr lang="en-US" altLang="zh-TW" sz="4000" smtClean="0"/>
              <a:t> (Logically)</a:t>
            </a:r>
          </a:p>
        </p:txBody>
      </p:sp>
      <p:sp>
        <p:nvSpPr>
          <p:cNvPr id="798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24863" cy="5040312"/>
          </a:xfrm>
        </p:spPr>
        <p:txBody>
          <a:bodyPr/>
          <a:lstStyle/>
          <a:p>
            <a:pPr eaLnBrk="1" hangingPunct="1"/>
            <a:r>
              <a:rPr lang="en-US" altLang="zh-TW" sz="2800" b="1" smtClean="0"/>
              <a:t>Efficiency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locating a file quickly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b="1" smtClean="0">
                <a:solidFill>
                  <a:srgbClr val="FF0000"/>
                </a:solidFill>
              </a:rPr>
              <a:t>Naming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convenient to users</a:t>
            </a:r>
          </a:p>
          <a:p>
            <a:pPr lvl="1" eaLnBrk="1" hangingPunct="1"/>
            <a:r>
              <a:rPr lang="en-US" altLang="zh-TW" sz="2400" smtClean="0">
                <a:solidFill>
                  <a:srgbClr val="FF0000"/>
                </a:solidFill>
              </a:rPr>
              <a:t>Two users can have same name for different files.</a:t>
            </a:r>
          </a:p>
          <a:p>
            <a:pPr lvl="1" eaLnBrk="1" hangingPunct="1"/>
            <a:r>
              <a:rPr lang="en-US" altLang="zh-TW" sz="2400" smtClean="0">
                <a:solidFill>
                  <a:srgbClr val="0000FF"/>
                </a:solidFill>
              </a:rPr>
              <a:t>The same file can have several different names.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zh-TW" sz="2800" b="1" smtClean="0">
                <a:solidFill>
                  <a:srgbClr val="0000FF"/>
                </a:solidFill>
              </a:rPr>
              <a:t>Grouping</a:t>
            </a:r>
            <a:r>
              <a:rPr lang="en-US" altLang="zh-TW" sz="2800" smtClean="0"/>
              <a:t> </a:t>
            </a:r>
            <a:r>
              <a:rPr lang="en-US" altLang="zh-TW" sz="2800" smtClean="0">
                <a:latin typeface="Helvetica" pitchFamily="34" charset="0"/>
              </a:rPr>
              <a:t>–</a:t>
            </a:r>
            <a:r>
              <a:rPr lang="en-US" altLang="zh-TW" sz="2800" smtClean="0"/>
              <a:t> logical grouping of files by properties, (e.g., all Java programs, all games, </a:t>
            </a:r>
            <a:r>
              <a:rPr lang="en-US" altLang="zh-TW" sz="2800" smtClean="0">
                <a:latin typeface="Helvetica" pitchFamily="34" charset="0"/>
              </a:rPr>
              <a:t>…</a:t>
            </a:r>
            <a:r>
              <a:rPr lang="en-US" altLang="zh-TW" sz="2800" smtClean="0"/>
              <a:t>)</a:t>
            </a:r>
            <a:endParaRPr lang="en-US" altLang="zh-TW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532B8AF-8F49-4419-AA24-3B583B113BD5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048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04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8588F88-9726-4314-A8AA-118A497646D2}" type="slidenum">
              <a:rPr kumimoji="0" lang="en-US" altLang="zh-TW" sz="1400" smtClean="0"/>
              <a:pPr eaLnBrk="1" hangingPunct="1"/>
              <a:t>18</a:t>
            </a:fld>
            <a:endParaRPr kumimoji="0" lang="en-US" altLang="zh-TW" sz="1400" smtClean="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47713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Single-Level Directory</a:t>
            </a:r>
            <a:endParaRPr lang="en-US" altLang="zh-TW" sz="3200" smtClean="0"/>
          </a:p>
        </p:txBody>
      </p:sp>
      <p:sp>
        <p:nvSpPr>
          <p:cNvPr id="2048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7029450" cy="561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A single directory for all users</a:t>
            </a:r>
          </a:p>
        </p:txBody>
      </p:sp>
      <p:pic>
        <p:nvPicPr>
          <p:cNvPr id="2048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37015" r="401" b="36288"/>
          <a:stretch>
            <a:fillRect/>
          </a:stretch>
        </p:blipFill>
        <p:spPr bwMode="auto">
          <a:xfrm>
            <a:off x="827088" y="1916113"/>
            <a:ext cx="6635750" cy="143033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468313" y="3573463"/>
            <a:ext cx="8207375" cy="280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r>
              <a:rPr kumimoji="0" lang="en-US" altLang="zh-TW">
                <a:solidFill>
                  <a:srgbClr val="FF0000"/>
                </a:solidFill>
                <a:latin typeface="Helvetica" pitchFamily="34" charset="0"/>
              </a:rPr>
              <a:t>Naming problem</a:t>
            </a:r>
          </a:p>
          <a:p>
            <a:pPr>
              <a:spcBef>
                <a:spcPct val="20000"/>
              </a:spcBef>
            </a:pPr>
            <a:r>
              <a:rPr lang="en-US" altLang="zh-TW" sz="2800">
                <a:latin typeface="Wingdings" pitchFamily="2" charset="2"/>
              </a:rPr>
              <a:t>L</a:t>
            </a:r>
            <a:r>
              <a:rPr lang="en-US" altLang="zh-TW" sz="2800"/>
              <a:t>:1. difficult to remember all names</a:t>
            </a:r>
          </a:p>
          <a:p>
            <a:pPr>
              <a:spcBef>
                <a:spcPct val="50000"/>
              </a:spcBef>
            </a:pPr>
            <a:r>
              <a:rPr lang="en-US" altLang="zh-TW" sz="2800"/>
              <a:t>    2. not easy to give a new name</a:t>
            </a:r>
          </a:p>
          <a:p>
            <a:pPr>
              <a:spcBef>
                <a:spcPct val="50000"/>
              </a:spcBef>
            </a:pPr>
            <a:r>
              <a:rPr lang="en-US" altLang="zh-TW" sz="2800"/>
              <a:t>    3. confusion between different users</a:t>
            </a:r>
            <a:endParaRPr lang="en-US" altLang="zh-TW" sz="280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kumimoji="0" lang="en-US" altLang="zh-TW">
                <a:solidFill>
                  <a:srgbClr val="FF0000"/>
                </a:solidFill>
                <a:latin typeface="Helvetica" pitchFamily="34" charset="0"/>
              </a:rPr>
              <a:t>Grouping problem</a:t>
            </a:r>
            <a:r>
              <a:rPr kumimoji="0" lang="en-US" altLang="zh-TW" sz="2000">
                <a:solidFill>
                  <a:srgbClr val="FF0000"/>
                </a:solidFill>
                <a:latin typeface="Helvetica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9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9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9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09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A656426-4621-4608-9A65-3C9B6D2BBBC0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150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15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DF20F8C1-A589-48CE-A948-C5EB4BA9F675}" type="slidenum">
              <a:rPr kumimoji="0" lang="en-US" altLang="zh-TW" sz="1400" smtClean="0"/>
              <a:pPr eaLnBrk="1" hangingPunct="1"/>
              <a:t>19</a:t>
            </a:fld>
            <a:endParaRPr kumimoji="0" lang="en-US" altLang="zh-TW" sz="1400" smtClean="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88913"/>
            <a:ext cx="7772400" cy="8636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Two-Level Directory</a:t>
            </a:r>
            <a:endParaRPr lang="en-US" altLang="zh-TW" sz="3600" smtClean="0"/>
          </a:p>
        </p:txBody>
      </p:sp>
      <p:sp>
        <p:nvSpPr>
          <p:cNvPr id="2151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11188" y="1125538"/>
            <a:ext cx="7029450" cy="549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mtClean="0"/>
              <a:t>Separate directory for each user</a:t>
            </a:r>
          </a:p>
        </p:txBody>
      </p:sp>
      <p:pic>
        <p:nvPicPr>
          <p:cNvPr id="2151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" t="30074" r="604" b="29224"/>
          <a:stretch>
            <a:fillRect/>
          </a:stretch>
        </p:blipFill>
        <p:spPr bwMode="auto">
          <a:xfrm>
            <a:off x="1116013" y="1700213"/>
            <a:ext cx="7099300" cy="2312987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684213" y="4149725"/>
            <a:ext cx="7848600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buFontTx/>
              <a:buChar char="•"/>
            </a:pPr>
            <a:r>
              <a:rPr kumimoji="0" lang="en-US" altLang="zh-TW">
                <a:latin typeface="Helvetica" pitchFamily="34" charset="0"/>
              </a:rPr>
              <a:t>path name: </a:t>
            </a:r>
            <a:r>
              <a:rPr lang="en-US" altLang="zh-TW">
                <a:solidFill>
                  <a:srgbClr val="FF0000"/>
                </a:solidFill>
              </a:rPr>
              <a:t>user name + file name</a:t>
            </a:r>
            <a:endParaRPr kumimoji="0" lang="en-US" altLang="zh-TW">
              <a:solidFill>
                <a:srgbClr val="FF0000"/>
              </a:solidFill>
              <a:latin typeface="Helvetica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TW">
                <a:latin typeface="Helvetica" pitchFamily="34" charset="0"/>
              </a:rPr>
              <a:t>the same file name for different users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TW">
                <a:latin typeface="Helvetica" pitchFamily="34" charset="0"/>
              </a:rPr>
              <a:t>efficient searching</a:t>
            </a:r>
            <a:endParaRPr kumimoji="0" lang="en-US" altLang="zh-TW">
              <a:solidFill>
                <a:srgbClr val="FF0000"/>
              </a:solidFill>
              <a:latin typeface="Helvetica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TW">
                <a:solidFill>
                  <a:srgbClr val="FF0000"/>
                </a:solidFill>
                <a:latin typeface="Helvetica" pitchFamily="34" charset="0"/>
              </a:rPr>
              <a:t>no grouping capability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9A70E98-1C85-41CA-95E8-2882F5633FEA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253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25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3240ACA-9E2B-4BEF-BB25-57946061AD56}" type="slidenum">
              <a:rPr kumimoji="0" lang="en-US" altLang="zh-TW" sz="1400" smtClean="0"/>
              <a:pPr eaLnBrk="1" hangingPunct="1"/>
              <a:t>20</a:t>
            </a:fld>
            <a:endParaRPr kumimoji="0" lang="en-US" altLang="zh-TW" sz="1400" smtClean="0"/>
          </a:p>
        </p:txBody>
      </p:sp>
      <p:sp>
        <p:nvSpPr>
          <p:cNvPr id="14338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20700" y="204788"/>
            <a:ext cx="7772400" cy="199548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TW" sz="4400" dirty="0" smtClean="0">
                <a:solidFill>
                  <a:srgbClr val="7030A0"/>
                </a:solidFill>
                <a:latin typeface="+mj-lt"/>
                <a:cs typeface="Times New Roman" pitchFamily="18" charset="0"/>
              </a:rPr>
              <a:t>Tree-structured </a:t>
            </a:r>
            <a:r>
              <a:rPr lang="en-US" altLang="zh-TW" sz="44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Directory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each user has a current directory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>
                <a:solidFill>
                  <a:srgbClr val="0000FF"/>
                </a:solidFill>
              </a:rPr>
              <a:t>absolute path name </a:t>
            </a:r>
            <a:r>
              <a:rPr lang="en-US" altLang="zh-TW" sz="2800" dirty="0" smtClean="0"/>
              <a:t>vs.</a:t>
            </a:r>
            <a:r>
              <a:rPr lang="en-US" altLang="zh-TW" sz="2800" dirty="0" smtClean="0">
                <a:solidFill>
                  <a:srgbClr val="0000FF"/>
                </a:solidFill>
              </a:rPr>
              <a:t> </a:t>
            </a:r>
            <a:r>
              <a:rPr lang="en-US" altLang="zh-TW" sz="2800" dirty="0" smtClean="0">
                <a:solidFill>
                  <a:srgbClr val="FF0000"/>
                </a:solidFill>
              </a:rPr>
              <a:t>relative path name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 smtClean="0"/>
              <a:t>search path</a:t>
            </a:r>
          </a:p>
        </p:txBody>
      </p:sp>
      <p:sp>
        <p:nvSpPr>
          <p:cNvPr id="22534" name="Rectangle 3"/>
          <p:cNvSpPr>
            <a:spLocks noChangeArrowheads="1"/>
          </p:cNvSpPr>
          <p:nvPr/>
        </p:nvSpPr>
        <p:spPr bwMode="auto">
          <a:xfrm>
            <a:off x="2817813" y="3406775"/>
            <a:ext cx="2262187" cy="485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35" name="Text Box 4"/>
          <p:cNvSpPr txBox="1">
            <a:spLocks noChangeArrowheads="1"/>
          </p:cNvSpPr>
          <p:nvPr/>
        </p:nvSpPr>
        <p:spPr bwMode="auto">
          <a:xfrm>
            <a:off x="2817813" y="3406775"/>
            <a:ext cx="2273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stat   mail  dist  test</a:t>
            </a:r>
          </a:p>
        </p:txBody>
      </p:sp>
      <p:sp>
        <p:nvSpPr>
          <p:cNvPr id="22536" name="Text Box 5"/>
          <p:cNvSpPr txBox="1">
            <a:spLocks noChangeArrowheads="1"/>
          </p:cNvSpPr>
          <p:nvPr/>
        </p:nvSpPr>
        <p:spPr bwMode="auto">
          <a:xfrm>
            <a:off x="3603625" y="2085975"/>
            <a:ext cx="63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root</a:t>
            </a:r>
          </a:p>
        </p:txBody>
      </p:sp>
      <p:sp>
        <p:nvSpPr>
          <p:cNvPr id="22537" name="Line 6"/>
          <p:cNvSpPr>
            <a:spLocks noChangeShapeType="1"/>
          </p:cNvSpPr>
          <p:nvPr/>
        </p:nvSpPr>
        <p:spPr bwMode="auto">
          <a:xfrm>
            <a:off x="3405188" y="34067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8" name="Line 7"/>
          <p:cNvSpPr>
            <a:spLocks noChangeShapeType="1"/>
          </p:cNvSpPr>
          <p:nvPr/>
        </p:nvSpPr>
        <p:spPr bwMode="auto">
          <a:xfrm>
            <a:off x="4033838" y="34067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39" name="Line 8"/>
          <p:cNvSpPr>
            <a:spLocks noChangeShapeType="1"/>
          </p:cNvSpPr>
          <p:nvPr/>
        </p:nvSpPr>
        <p:spPr bwMode="auto">
          <a:xfrm>
            <a:off x="4521200" y="34067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0" name="Oval 9"/>
          <p:cNvSpPr>
            <a:spLocks noChangeArrowheads="1"/>
          </p:cNvSpPr>
          <p:nvPr/>
        </p:nvSpPr>
        <p:spPr bwMode="auto">
          <a:xfrm>
            <a:off x="2901950" y="4310063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41" name="Oval 10"/>
          <p:cNvSpPr>
            <a:spLocks noChangeArrowheads="1"/>
          </p:cNvSpPr>
          <p:nvPr/>
        </p:nvSpPr>
        <p:spPr bwMode="auto">
          <a:xfrm>
            <a:off x="4033838" y="4333875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42" name="Oval 11"/>
          <p:cNvSpPr>
            <a:spLocks noChangeArrowheads="1"/>
          </p:cNvSpPr>
          <p:nvPr/>
        </p:nvSpPr>
        <p:spPr bwMode="auto">
          <a:xfrm>
            <a:off x="4552950" y="433705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43" name="Rectangle 12"/>
          <p:cNvSpPr>
            <a:spLocks noChangeArrowheads="1"/>
          </p:cNvSpPr>
          <p:nvPr/>
        </p:nvSpPr>
        <p:spPr bwMode="auto">
          <a:xfrm>
            <a:off x="4468813" y="2030413"/>
            <a:ext cx="2871787" cy="422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44" name="Text Box 13"/>
          <p:cNvSpPr txBox="1">
            <a:spLocks noChangeArrowheads="1"/>
          </p:cNvSpPr>
          <p:nvPr/>
        </p:nvSpPr>
        <p:spPr bwMode="auto">
          <a:xfrm>
            <a:off x="4464050" y="2085975"/>
            <a:ext cx="287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spell        obj      program</a:t>
            </a:r>
          </a:p>
        </p:txBody>
      </p:sp>
      <p:sp>
        <p:nvSpPr>
          <p:cNvPr id="22545" name="Line 14"/>
          <p:cNvSpPr>
            <a:spLocks noChangeShapeType="1"/>
          </p:cNvSpPr>
          <p:nvPr/>
        </p:nvSpPr>
        <p:spPr bwMode="auto">
          <a:xfrm>
            <a:off x="5324475" y="2030413"/>
            <a:ext cx="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6" name="Line 15"/>
          <p:cNvSpPr>
            <a:spLocks noChangeShapeType="1"/>
          </p:cNvSpPr>
          <p:nvPr/>
        </p:nvSpPr>
        <p:spPr bwMode="auto">
          <a:xfrm>
            <a:off x="6175375" y="2025650"/>
            <a:ext cx="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47" name="Rectangle 16"/>
          <p:cNvSpPr>
            <a:spLocks noChangeArrowheads="1"/>
          </p:cNvSpPr>
          <p:nvPr/>
        </p:nvSpPr>
        <p:spPr bwMode="auto">
          <a:xfrm>
            <a:off x="5599113" y="3432175"/>
            <a:ext cx="1198562" cy="4841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48" name="Text Box 17"/>
          <p:cNvSpPr txBox="1">
            <a:spLocks noChangeArrowheads="1"/>
          </p:cNvSpPr>
          <p:nvPr/>
        </p:nvSpPr>
        <p:spPr bwMode="auto">
          <a:xfrm>
            <a:off x="5599113" y="3432175"/>
            <a:ext cx="1044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pe2    cc</a:t>
            </a:r>
          </a:p>
        </p:txBody>
      </p:sp>
      <p:sp>
        <p:nvSpPr>
          <p:cNvPr id="22549" name="Line 18"/>
          <p:cNvSpPr>
            <a:spLocks noChangeShapeType="1"/>
          </p:cNvSpPr>
          <p:nvPr/>
        </p:nvSpPr>
        <p:spPr bwMode="auto">
          <a:xfrm>
            <a:off x="6186488" y="34321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0" name="Oval 19"/>
          <p:cNvSpPr>
            <a:spLocks noChangeArrowheads="1"/>
          </p:cNvSpPr>
          <p:nvPr/>
        </p:nvSpPr>
        <p:spPr bwMode="auto">
          <a:xfrm>
            <a:off x="5683250" y="4335463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51" name="Oval 20"/>
          <p:cNvSpPr>
            <a:spLocks noChangeArrowheads="1"/>
          </p:cNvSpPr>
          <p:nvPr/>
        </p:nvSpPr>
        <p:spPr bwMode="auto">
          <a:xfrm>
            <a:off x="6348413" y="433705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52" name="Rectangle 21"/>
          <p:cNvSpPr>
            <a:spLocks noChangeArrowheads="1"/>
          </p:cNvSpPr>
          <p:nvPr/>
        </p:nvSpPr>
        <p:spPr bwMode="auto">
          <a:xfrm>
            <a:off x="7618413" y="3506788"/>
            <a:ext cx="1198562" cy="4841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53" name="Text Box 22"/>
          <p:cNvSpPr txBox="1">
            <a:spLocks noChangeArrowheads="1"/>
          </p:cNvSpPr>
          <p:nvPr/>
        </p:nvSpPr>
        <p:spPr bwMode="auto">
          <a:xfrm>
            <a:off x="7618413" y="3506788"/>
            <a:ext cx="9953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pas     a</a:t>
            </a:r>
          </a:p>
        </p:txBody>
      </p:sp>
      <p:sp>
        <p:nvSpPr>
          <p:cNvPr id="22554" name="Line 23"/>
          <p:cNvSpPr>
            <a:spLocks noChangeShapeType="1"/>
          </p:cNvSpPr>
          <p:nvPr/>
        </p:nvSpPr>
        <p:spPr bwMode="auto">
          <a:xfrm>
            <a:off x="8293100" y="3506788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5" name="Oval 24"/>
          <p:cNvSpPr>
            <a:spLocks noChangeArrowheads="1"/>
          </p:cNvSpPr>
          <p:nvPr/>
        </p:nvSpPr>
        <p:spPr bwMode="auto">
          <a:xfrm>
            <a:off x="8367713" y="4411663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56" name="Line 25"/>
          <p:cNvSpPr>
            <a:spLocks noChangeShapeType="1"/>
          </p:cNvSpPr>
          <p:nvPr/>
        </p:nvSpPr>
        <p:spPr bwMode="auto">
          <a:xfrm>
            <a:off x="3103563" y="3916363"/>
            <a:ext cx="0" cy="404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7" name="Line 26"/>
          <p:cNvSpPr>
            <a:spLocks noChangeShapeType="1"/>
          </p:cNvSpPr>
          <p:nvPr/>
        </p:nvSpPr>
        <p:spPr bwMode="auto">
          <a:xfrm>
            <a:off x="4235450" y="3940175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8" name="Line 27"/>
          <p:cNvSpPr>
            <a:spLocks noChangeShapeType="1"/>
          </p:cNvSpPr>
          <p:nvPr/>
        </p:nvSpPr>
        <p:spPr bwMode="auto">
          <a:xfrm flipH="1">
            <a:off x="3708400" y="3933825"/>
            <a:ext cx="3175" cy="1173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59" name="Line 28"/>
          <p:cNvSpPr>
            <a:spLocks noChangeShapeType="1"/>
          </p:cNvSpPr>
          <p:nvPr/>
        </p:nvSpPr>
        <p:spPr bwMode="auto">
          <a:xfrm>
            <a:off x="4754563" y="3930650"/>
            <a:ext cx="0" cy="404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0" name="Line 29"/>
          <p:cNvSpPr>
            <a:spLocks noChangeShapeType="1"/>
          </p:cNvSpPr>
          <p:nvPr/>
        </p:nvSpPr>
        <p:spPr bwMode="auto">
          <a:xfrm>
            <a:off x="5884863" y="3930650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1" name="Line 30"/>
          <p:cNvSpPr>
            <a:spLocks noChangeShapeType="1"/>
          </p:cNvSpPr>
          <p:nvPr/>
        </p:nvSpPr>
        <p:spPr bwMode="auto">
          <a:xfrm>
            <a:off x="6550025" y="3930650"/>
            <a:ext cx="0" cy="404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2" name="Line 31"/>
          <p:cNvSpPr>
            <a:spLocks noChangeShapeType="1"/>
          </p:cNvSpPr>
          <p:nvPr/>
        </p:nvSpPr>
        <p:spPr bwMode="auto">
          <a:xfrm flipH="1">
            <a:off x="7100888" y="3970338"/>
            <a:ext cx="803275" cy="1050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3" name="Line 32"/>
          <p:cNvSpPr>
            <a:spLocks noChangeShapeType="1"/>
          </p:cNvSpPr>
          <p:nvPr/>
        </p:nvSpPr>
        <p:spPr bwMode="auto">
          <a:xfrm>
            <a:off x="8569325" y="3970338"/>
            <a:ext cx="0" cy="404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4" name="Line 33"/>
          <p:cNvSpPr>
            <a:spLocks noChangeShapeType="1"/>
          </p:cNvSpPr>
          <p:nvPr/>
        </p:nvSpPr>
        <p:spPr bwMode="auto">
          <a:xfrm flipH="1">
            <a:off x="4033838" y="2452688"/>
            <a:ext cx="881062" cy="93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5" name="Line 34"/>
          <p:cNvSpPr>
            <a:spLocks noChangeShapeType="1"/>
          </p:cNvSpPr>
          <p:nvPr/>
        </p:nvSpPr>
        <p:spPr bwMode="auto">
          <a:xfrm>
            <a:off x="5686425" y="2447925"/>
            <a:ext cx="500063" cy="958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6" name="Line 35"/>
          <p:cNvSpPr>
            <a:spLocks noChangeShapeType="1"/>
          </p:cNvSpPr>
          <p:nvPr/>
        </p:nvSpPr>
        <p:spPr bwMode="auto">
          <a:xfrm>
            <a:off x="6553200" y="2452688"/>
            <a:ext cx="173990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67" name="Rectangle 36"/>
          <p:cNvSpPr>
            <a:spLocks noChangeArrowheads="1"/>
          </p:cNvSpPr>
          <p:nvPr/>
        </p:nvSpPr>
        <p:spPr bwMode="auto">
          <a:xfrm>
            <a:off x="3036888" y="5065713"/>
            <a:ext cx="1198562" cy="4841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68" name="Text Box 37"/>
          <p:cNvSpPr txBox="1">
            <a:spLocks noChangeArrowheads="1"/>
          </p:cNvSpPr>
          <p:nvPr/>
        </p:nvSpPr>
        <p:spPr bwMode="auto">
          <a:xfrm>
            <a:off x="3036888" y="5065713"/>
            <a:ext cx="11922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jaja     ab</a:t>
            </a:r>
          </a:p>
        </p:txBody>
      </p:sp>
      <p:sp>
        <p:nvSpPr>
          <p:cNvPr id="22569" name="Line 38"/>
          <p:cNvSpPr>
            <a:spLocks noChangeShapeType="1"/>
          </p:cNvSpPr>
          <p:nvPr/>
        </p:nvSpPr>
        <p:spPr bwMode="auto">
          <a:xfrm>
            <a:off x="3711575" y="5065713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0" name="Oval 39"/>
          <p:cNvSpPr>
            <a:spLocks noChangeArrowheads="1"/>
          </p:cNvSpPr>
          <p:nvPr/>
        </p:nvSpPr>
        <p:spPr bwMode="auto">
          <a:xfrm>
            <a:off x="3121025" y="596900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71" name="Oval 40"/>
          <p:cNvSpPr>
            <a:spLocks noChangeArrowheads="1"/>
          </p:cNvSpPr>
          <p:nvPr/>
        </p:nvSpPr>
        <p:spPr bwMode="auto">
          <a:xfrm>
            <a:off x="3786188" y="5970588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72" name="Line 41"/>
          <p:cNvSpPr>
            <a:spLocks noChangeShapeType="1"/>
          </p:cNvSpPr>
          <p:nvPr/>
        </p:nvSpPr>
        <p:spPr bwMode="auto">
          <a:xfrm>
            <a:off x="3322638" y="5529263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3" name="Line 42"/>
          <p:cNvSpPr>
            <a:spLocks noChangeShapeType="1"/>
          </p:cNvSpPr>
          <p:nvPr/>
        </p:nvSpPr>
        <p:spPr bwMode="auto">
          <a:xfrm>
            <a:off x="3987800" y="5529263"/>
            <a:ext cx="0" cy="404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4" name="Rectangle 43"/>
          <p:cNvSpPr>
            <a:spLocks noChangeArrowheads="1"/>
          </p:cNvSpPr>
          <p:nvPr/>
        </p:nvSpPr>
        <p:spPr bwMode="auto">
          <a:xfrm>
            <a:off x="5884863" y="5040313"/>
            <a:ext cx="2262187" cy="485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75" name="Text Box 44"/>
          <p:cNvSpPr txBox="1">
            <a:spLocks noChangeArrowheads="1"/>
          </p:cNvSpPr>
          <p:nvPr/>
        </p:nvSpPr>
        <p:spPr bwMode="auto">
          <a:xfrm>
            <a:off x="5884863" y="5040313"/>
            <a:ext cx="2235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cat       bo    a    test</a:t>
            </a:r>
          </a:p>
        </p:txBody>
      </p:sp>
      <p:sp>
        <p:nvSpPr>
          <p:cNvPr id="22576" name="Line 45"/>
          <p:cNvSpPr>
            <a:spLocks noChangeShapeType="1"/>
          </p:cNvSpPr>
          <p:nvPr/>
        </p:nvSpPr>
        <p:spPr bwMode="auto">
          <a:xfrm>
            <a:off x="6472238" y="5040313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7" name="Line 46"/>
          <p:cNvSpPr>
            <a:spLocks noChangeShapeType="1"/>
          </p:cNvSpPr>
          <p:nvPr/>
        </p:nvSpPr>
        <p:spPr bwMode="auto">
          <a:xfrm>
            <a:off x="7100888" y="5040313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8" name="Line 47"/>
          <p:cNvSpPr>
            <a:spLocks noChangeShapeType="1"/>
          </p:cNvSpPr>
          <p:nvPr/>
        </p:nvSpPr>
        <p:spPr bwMode="auto">
          <a:xfrm>
            <a:off x="7535863" y="5021263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79" name="Oval 48"/>
          <p:cNvSpPr>
            <a:spLocks noChangeArrowheads="1"/>
          </p:cNvSpPr>
          <p:nvPr/>
        </p:nvSpPr>
        <p:spPr bwMode="auto">
          <a:xfrm>
            <a:off x="5969000" y="594360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80" name="Oval 49"/>
          <p:cNvSpPr>
            <a:spLocks noChangeArrowheads="1"/>
          </p:cNvSpPr>
          <p:nvPr/>
        </p:nvSpPr>
        <p:spPr bwMode="auto">
          <a:xfrm>
            <a:off x="6634163" y="5945188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81" name="Oval 50"/>
          <p:cNvSpPr>
            <a:spLocks noChangeArrowheads="1"/>
          </p:cNvSpPr>
          <p:nvPr/>
        </p:nvSpPr>
        <p:spPr bwMode="auto">
          <a:xfrm>
            <a:off x="7620000" y="5970588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82" name="Line 51"/>
          <p:cNvSpPr>
            <a:spLocks noChangeShapeType="1"/>
          </p:cNvSpPr>
          <p:nvPr/>
        </p:nvSpPr>
        <p:spPr bwMode="auto">
          <a:xfrm>
            <a:off x="6170613" y="5549900"/>
            <a:ext cx="0" cy="404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3" name="Line 52"/>
          <p:cNvSpPr>
            <a:spLocks noChangeShapeType="1"/>
          </p:cNvSpPr>
          <p:nvPr/>
        </p:nvSpPr>
        <p:spPr bwMode="auto">
          <a:xfrm>
            <a:off x="6835775" y="5551488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4" name="Line 53"/>
          <p:cNvSpPr>
            <a:spLocks noChangeShapeType="1"/>
          </p:cNvSpPr>
          <p:nvPr/>
        </p:nvSpPr>
        <p:spPr bwMode="auto">
          <a:xfrm>
            <a:off x="7821613" y="5564188"/>
            <a:ext cx="0" cy="404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585" name="Rectangle 54"/>
          <p:cNvSpPr>
            <a:spLocks noChangeArrowheads="1"/>
          </p:cNvSpPr>
          <p:nvPr/>
        </p:nvSpPr>
        <p:spPr bwMode="auto">
          <a:xfrm>
            <a:off x="2328863" y="3227388"/>
            <a:ext cx="2995612" cy="81756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2586" name="Text Box 55"/>
          <p:cNvSpPr txBox="1">
            <a:spLocks noChangeArrowheads="1"/>
          </p:cNvSpPr>
          <p:nvPr/>
        </p:nvSpPr>
        <p:spPr bwMode="auto">
          <a:xfrm>
            <a:off x="649288" y="3141663"/>
            <a:ext cx="118427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charset="0"/>
              </a:rPr>
              <a:t>current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charset="0"/>
              </a:rPr>
              <a:t>directory</a:t>
            </a:r>
          </a:p>
        </p:txBody>
      </p:sp>
      <p:sp>
        <p:nvSpPr>
          <p:cNvPr id="22587" name="Text Box 56"/>
          <p:cNvSpPr txBox="1">
            <a:spLocks noChangeArrowheads="1"/>
          </p:cNvSpPr>
          <p:nvPr/>
        </p:nvSpPr>
        <p:spPr bwMode="auto">
          <a:xfrm>
            <a:off x="900113" y="5661025"/>
            <a:ext cx="1785937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FF0000"/>
                </a:solidFill>
                <a:latin typeface="Times New Roman" charset="0"/>
              </a:rPr>
              <a:t>mail\jaja</a:t>
            </a:r>
            <a:r>
              <a:rPr lang="en-US" altLang="zh-TW" sz="2000" b="1">
                <a:latin typeface="Times New Roman" charset="0"/>
              </a:rPr>
              <a:t>, or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charset="0"/>
              </a:rPr>
              <a:t>\spell\mail\jaja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EC4D3B6-302E-4DEC-9181-44B5E9816FF9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355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35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812BC78-7D83-4D19-8F7C-8A0B650A0949}" type="slidenum">
              <a:rPr kumimoji="0" lang="en-US" altLang="zh-TW" sz="1400" smtClean="0"/>
              <a:pPr eaLnBrk="1" hangingPunct="1"/>
              <a:t>21</a:t>
            </a:fld>
            <a:endParaRPr kumimoji="0" lang="en-US" altLang="zh-TW" sz="1400" smtClean="0"/>
          </a:p>
        </p:txBody>
      </p:sp>
      <p:sp>
        <p:nvSpPr>
          <p:cNvPr id="23557" name="Rectangle 2"/>
          <p:cNvSpPr>
            <a:spLocks noChangeArrowheads="1"/>
          </p:cNvSpPr>
          <p:nvPr/>
        </p:nvSpPr>
        <p:spPr bwMode="auto">
          <a:xfrm>
            <a:off x="1787525" y="2301875"/>
            <a:ext cx="2262188" cy="485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58" name="Text Box 3"/>
          <p:cNvSpPr txBox="1">
            <a:spLocks noChangeArrowheads="1"/>
          </p:cNvSpPr>
          <p:nvPr/>
        </p:nvSpPr>
        <p:spPr bwMode="auto">
          <a:xfrm>
            <a:off x="1787525" y="2301875"/>
            <a:ext cx="2268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cat    mail  dist  pe2</a:t>
            </a:r>
          </a:p>
        </p:txBody>
      </p:sp>
      <p:sp>
        <p:nvSpPr>
          <p:cNvPr id="23559" name="Text Box 4"/>
          <p:cNvSpPr txBox="1">
            <a:spLocks noChangeArrowheads="1"/>
          </p:cNvSpPr>
          <p:nvPr/>
        </p:nvSpPr>
        <p:spPr bwMode="auto">
          <a:xfrm>
            <a:off x="2573338" y="981075"/>
            <a:ext cx="635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solidFill>
                  <a:srgbClr val="0000FF"/>
                </a:solidFill>
                <a:latin typeface="Times New Roman" charset="0"/>
              </a:rPr>
              <a:t>root</a:t>
            </a:r>
          </a:p>
        </p:txBody>
      </p:sp>
      <p:sp>
        <p:nvSpPr>
          <p:cNvPr id="23560" name="Line 5"/>
          <p:cNvSpPr>
            <a:spLocks noChangeShapeType="1"/>
          </p:cNvSpPr>
          <p:nvPr/>
        </p:nvSpPr>
        <p:spPr bwMode="auto">
          <a:xfrm>
            <a:off x="2374900" y="23018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61" name="Line 6"/>
          <p:cNvSpPr>
            <a:spLocks noChangeShapeType="1"/>
          </p:cNvSpPr>
          <p:nvPr/>
        </p:nvSpPr>
        <p:spPr bwMode="auto">
          <a:xfrm>
            <a:off x="3003550" y="23018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62" name="Line 7"/>
          <p:cNvSpPr>
            <a:spLocks noChangeShapeType="1"/>
          </p:cNvSpPr>
          <p:nvPr/>
        </p:nvSpPr>
        <p:spPr bwMode="auto">
          <a:xfrm>
            <a:off x="3490913" y="23018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63" name="Oval 8"/>
          <p:cNvSpPr>
            <a:spLocks noChangeArrowheads="1"/>
          </p:cNvSpPr>
          <p:nvPr/>
        </p:nvSpPr>
        <p:spPr bwMode="auto">
          <a:xfrm>
            <a:off x="3003550" y="3228975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64" name="Rectangle 9"/>
          <p:cNvSpPr>
            <a:spLocks noChangeArrowheads="1"/>
          </p:cNvSpPr>
          <p:nvPr/>
        </p:nvSpPr>
        <p:spPr bwMode="auto">
          <a:xfrm>
            <a:off x="3438525" y="925513"/>
            <a:ext cx="2871788" cy="422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65" name="Text Box 10"/>
          <p:cNvSpPr txBox="1">
            <a:spLocks noChangeArrowheads="1"/>
          </p:cNvSpPr>
          <p:nvPr/>
        </p:nvSpPr>
        <p:spPr bwMode="auto">
          <a:xfrm>
            <a:off x="3433763" y="981075"/>
            <a:ext cx="2876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spell        obj      program</a:t>
            </a:r>
          </a:p>
        </p:txBody>
      </p:sp>
      <p:sp>
        <p:nvSpPr>
          <p:cNvPr id="23566" name="Line 11"/>
          <p:cNvSpPr>
            <a:spLocks noChangeShapeType="1"/>
          </p:cNvSpPr>
          <p:nvPr/>
        </p:nvSpPr>
        <p:spPr bwMode="auto">
          <a:xfrm>
            <a:off x="4294188" y="925513"/>
            <a:ext cx="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67" name="Line 12"/>
          <p:cNvSpPr>
            <a:spLocks noChangeShapeType="1"/>
          </p:cNvSpPr>
          <p:nvPr/>
        </p:nvSpPr>
        <p:spPr bwMode="auto">
          <a:xfrm>
            <a:off x="5145088" y="920750"/>
            <a:ext cx="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68" name="Rectangle 13"/>
          <p:cNvSpPr>
            <a:spLocks noChangeArrowheads="1"/>
          </p:cNvSpPr>
          <p:nvPr/>
        </p:nvSpPr>
        <p:spPr bwMode="auto">
          <a:xfrm>
            <a:off x="4568825" y="2327275"/>
            <a:ext cx="1198563" cy="4841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69" name="Text Box 14"/>
          <p:cNvSpPr txBox="1">
            <a:spLocks noChangeArrowheads="1"/>
          </p:cNvSpPr>
          <p:nvPr/>
        </p:nvSpPr>
        <p:spPr bwMode="auto">
          <a:xfrm>
            <a:off x="4568825" y="2327275"/>
            <a:ext cx="1044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pe2    cc</a:t>
            </a:r>
          </a:p>
        </p:txBody>
      </p:sp>
      <p:sp>
        <p:nvSpPr>
          <p:cNvPr id="23570" name="Line 15"/>
          <p:cNvSpPr>
            <a:spLocks noChangeShapeType="1"/>
          </p:cNvSpPr>
          <p:nvPr/>
        </p:nvSpPr>
        <p:spPr bwMode="auto">
          <a:xfrm>
            <a:off x="5156200" y="23272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71" name="Oval 16"/>
          <p:cNvSpPr>
            <a:spLocks noChangeArrowheads="1"/>
          </p:cNvSpPr>
          <p:nvPr/>
        </p:nvSpPr>
        <p:spPr bwMode="auto">
          <a:xfrm>
            <a:off x="4652963" y="3230563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72" name="Oval 17"/>
          <p:cNvSpPr>
            <a:spLocks noChangeArrowheads="1"/>
          </p:cNvSpPr>
          <p:nvPr/>
        </p:nvSpPr>
        <p:spPr bwMode="auto">
          <a:xfrm>
            <a:off x="5318125" y="323215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73" name="Rectangle 18"/>
          <p:cNvSpPr>
            <a:spLocks noChangeArrowheads="1"/>
          </p:cNvSpPr>
          <p:nvPr/>
        </p:nvSpPr>
        <p:spPr bwMode="auto">
          <a:xfrm>
            <a:off x="6588125" y="2401888"/>
            <a:ext cx="1198563" cy="4841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74" name="Text Box 19"/>
          <p:cNvSpPr txBox="1">
            <a:spLocks noChangeArrowheads="1"/>
          </p:cNvSpPr>
          <p:nvPr/>
        </p:nvSpPr>
        <p:spPr bwMode="auto">
          <a:xfrm>
            <a:off x="6588125" y="2401888"/>
            <a:ext cx="11080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pasc     a</a:t>
            </a:r>
          </a:p>
        </p:txBody>
      </p:sp>
      <p:sp>
        <p:nvSpPr>
          <p:cNvPr id="23575" name="Line 20"/>
          <p:cNvSpPr>
            <a:spLocks noChangeShapeType="1"/>
          </p:cNvSpPr>
          <p:nvPr/>
        </p:nvSpPr>
        <p:spPr bwMode="auto">
          <a:xfrm>
            <a:off x="7262813" y="2401888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76" name="Oval 21"/>
          <p:cNvSpPr>
            <a:spLocks noChangeArrowheads="1"/>
          </p:cNvSpPr>
          <p:nvPr/>
        </p:nvSpPr>
        <p:spPr bwMode="auto">
          <a:xfrm>
            <a:off x="7337425" y="3306763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77" name="Line 22"/>
          <p:cNvSpPr>
            <a:spLocks noChangeShapeType="1"/>
          </p:cNvSpPr>
          <p:nvPr/>
        </p:nvSpPr>
        <p:spPr bwMode="auto">
          <a:xfrm>
            <a:off x="3205163" y="2835275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78" name="Line 23"/>
          <p:cNvSpPr>
            <a:spLocks noChangeShapeType="1"/>
          </p:cNvSpPr>
          <p:nvPr/>
        </p:nvSpPr>
        <p:spPr bwMode="auto">
          <a:xfrm>
            <a:off x="3724275" y="2825750"/>
            <a:ext cx="931863" cy="4032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80" name="Line 24"/>
          <p:cNvSpPr>
            <a:spLocks noChangeShapeType="1"/>
          </p:cNvSpPr>
          <p:nvPr/>
        </p:nvSpPr>
        <p:spPr bwMode="auto">
          <a:xfrm>
            <a:off x="4854575" y="2825750"/>
            <a:ext cx="0" cy="4032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80" name="Line 25"/>
          <p:cNvSpPr>
            <a:spLocks noChangeShapeType="1"/>
          </p:cNvSpPr>
          <p:nvPr/>
        </p:nvSpPr>
        <p:spPr bwMode="auto">
          <a:xfrm>
            <a:off x="5519738" y="2825750"/>
            <a:ext cx="0" cy="404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81" name="Line 26"/>
          <p:cNvSpPr>
            <a:spLocks noChangeShapeType="1"/>
          </p:cNvSpPr>
          <p:nvPr/>
        </p:nvSpPr>
        <p:spPr bwMode="auto">
          <a:xfrm flipH="1">
            <a:off x="6070600" y="2865438"/>
            <a:ext cx="803275" cy="1050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82" name="Line 27"/>
          <p:cNvSpPr>
            <a:spLocks noChangeShapeType="1"/>
          </p:cNvSpPr>
          <p:nvPr/>
        </p:nvSpPr>
        <p:spPr bwMode="auto">
          <a:xfrm>
            <a:off x="7539038" y="2865438"/>
            <a:ext cx="0" cy="404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84" name="Line 28"/>
          <p:cNvSpPr>
            <a:spLocks noChangeShapeType="1"/>
          </p:cNvSpPr>
          <p:nvPr/>
        </p:nvSpPr>
        <p:spPr bwMode="auto">
          <a:xfrm flipH="1">
            <a:off x="3003550" y="1347788"/>
            <a:ext cx="881063" cy="935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84" name="Line 29"/>
          <p:cNvSpPr>
            <a:spLocks noChangeShapeType="1"/>
          </p:cNvSpPr>
          <p:nvPr/>
        </p:nvSpPr>
        <p:spPr bwMode="auto">
          <a:xfrm>
            <a:off x="4656138" y="1343025"/>
            <a:ext cx="500062" cy="958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85" name="Line 30"/>
          <p:cNvSpPr>
            <a:spLocks noChangeShapeType="1"/>
          </p:cNvSpPr>
          <p:nvPr/>
        </p:nvSpPr>
        <p:spPr bwMode="auto">
          <a:xfrm>
            <a:off x="5522913" y="1347788"/>
            <a:ext cx="173990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86" name="Rectangle 31"/>
          <p:cNvSpPr>
            <a:spLocks noChangeArrowheads="1"/>
          </p:cNvSpPr>
          <p:nvPr/>
        </p:nvSpPr>
        <p:spPr bwMode="auto">
          <a:xfrm>
            <a:off x="4854575" y="3935413"/>
            <a:ext cx="2262188" cy="485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87" name="Text Box 32"/>
          <p:cNvSpPr txBox="1">
            <a:spLocks noChangeArrowheads="1"/>
          </p:cNvSpPr>
          <p:nvPr/>
        </p:nvSpPr>
        <p:spPr bwMode="auto">
          <a:xfrm>
            <a:off x="4854575" y="3935413"/>
            <a:ext cx="2235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cat       bo    a    test</a:t>
            </a:r>
          </a:p>
        </p:txBody>
      </p:sp>
      <p:sp>
        <p:nvSpPr>
          <p:cNvPr id="23588" name="Line 33"/>
          <p:cNvSpPr>
            <a:spLocks noChangeShapeType="1"/>
          </p:cNvSpPr>
          <p:nvPr/>
        </p:nvSpPr>
        <p:spPr bwMode="auto">
          <a:xfrm>
            <a:off x="5441950" y="3935413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89" name="Line 34"/>
          <p:cNvSpPr>
            <a:spLocks noChangeShapeType="1"/>
          </p:cNvSpPr>
          <p:nvPr/>
        </p:nvSpPr>
        <p:spPr bwMode="auto">
          <a:xfrm>
            <a:off x="6070600" y="3935413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90" name="Line 35"/>
          <p:cNvSpPr>
            <a:spLocks noChangeShapeType="1"/>
          </p:cNvSpPr>
          <p:nvPr/>
        </p:nvSpPr>
        <p:spPr bwMode="auto">
          <a:xfrm>
            <a:off x="6505575" y="3916363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7492" name="Oval 36"/>
          <p:cNvSpPr>
            <a:spLocks noChangeArrowheads="1"/>
          </p:cNvSpPr>
          <p:nvPr/>
        </p:nvSpPr>
        <p:spPr bwMode="auto">
          <a:xfrm>
            <a:off x="4938713" y="483870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92" name="Oval 37"/>
          <p:cNvSpPr>
            <a:spLocks noChangeArrowheads="1"/>
          </p:cNvSpPr>
          <p:nvPr/>
        </p:nvSpPr>
        <p:spPr bwMode="auto">
          <a:xfrm>
            <a:off x="5603875" y="4840288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3593" name="Oval 38"/>
          <p:cNvSpPr>
            <a:spLocks noChangeArrowheads="1"/>
          </p:cNvSpPr>
          <p:nvPr/>
        </p:nvSpPr>
        <p:spPr bwMode="auto">
          <a:xfrm>
            <a:off x="6589713" y="4865688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147495" name="Line 39"/>
          <p:cNvSpPr>
            <a:spLocks noChangeShapeType="1"/>
          </p:cNvSpPr>
          <p:nvPr/>
        </p:nvSpPr>
        <p:spPr bwMode="auto">
          <a:xfrm>
            <a:off x="5140325" y="4445000"/>
            <a:ext cx="0" cy="404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95" name="Line 40"/>
          <p:cNvSpPr>
            <a:spLocks noChangeShapeType="1"/>
          </p:cNvSpPr>
          <p:nvPr/>
        </p:nvSpPr>
        <p:spPr bwMode="auto">
          <a:xfrm>
            <a:off x="5805488" y="4446588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96" name="Line 41"/>
          <p:cNvSpPr>
            <a:spLocks noChangeShapeType="1"/>
          </p:cNvSpPr>
          <p:nvPr/>
        </p:nvSpPr>
        <p:spPr bwMode="auto">
          <a:xfrm>
            <a:off x="6791325" y="4459288"/>
            <a:ext cx="0" cy="404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97" name="Freeform 42"/>
          <p:cNvSpPr>
            <a:spLocks/>
          </p:cNvSpPr>
          <p:nvPr/>
        </p:nvSpPr>
        <p:spPr bwMode="auto">
          <a:xfrm>
            <a:off x="2663825" y="2787650"/>
            <a:ext cx="2205038" cy="1428750"/>
          </a:xfrm>
          <a:custGeom>
            <a:avLst/>
            <a:gdLst>
              <a:gd name="T0" fmla="*/ 0 w 1389"/>
              <a:gd name="T1" fmla="*/ 0 h 900"/>
              <a:gd name="T2" fmla="*/ 27722519 w 1389"/>
              <a:gd name="T3" fmla="*/ 2147483647 h 900"/>
              <a:gd name="T4" fmla="*/ 2147483647 w 1389"/>
              <a:gd name="T5" fmla="*/ 2147483647 h 9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89" h="900">
                <a:moveTo>
                  <a:pt x="0" y="0"/>
                </a:moveTo>
                <a:lnTo>
                  <a:pt x="11" y="856"/>
                </a:lnTo>
                <a:lnTo>
                  <a:pt x="1389" y="90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598" name="Freeform 43"/>
          <p:cNvSpPr>
            <a:spLocks/>
          </p:cNvSpPr>
          <p:nvPr/>
        </p:nvSpPr>
        <p:spPr bwMode="auto">
          <a:xfrm>
            <a:off x="2046288" y="2787650"/>
            <a:ext cx="2874962" cy="2205038"/>
          </a:xfrm>
          <a:custGeom>
            <a:avLst/>
            <a:gdLst>
              <a:gd name="T0" fmla="*/ 0 w 1811"/>
              <a:gd name="T1" fmla="*/ 0 h 1389"/>
              <a:gd name="T2" fmla="*/ 448587734 w 1811"/>
              <a:gd name="T3" fmla="*/ 2147483647 h 1389"/>
              <a:gd name="T4" fmla="*/ 2147483647 w 1811"/>
              <a:gd name="T5" fmla="*/ 2147483647 h 138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11" h="1389">
                <a:moveTo>
                  <a:pt x="0" y="0"/>
                </a:moveTo>
                <a:lnTo>
                  <a:pt x="178" y="1300"/>
                </a:lnTo>
                <a:lnTo>
                  <a:pt x="1811" y="1389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5647" name="Text Box 44"/>
          <p:cNvSpPr txBox="1">
            <a:spLocks noChangeArrowheads="1"/>
          </p:cNvSpPr>
          <p:nvPr/>
        </p:nvSpPr>
        <p:spPr bwMode="auto">
          <a:xfrm>
            <a:off x="174625" y="150813"/>
            <a:ext cx="8501063" cy="703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 eaLnBrk="1" hangingPunct="1">
              <a:lnSpc>
                <a:spcPct val="90000"/>
              </a:lnSpc>
              <a:buSzPct val="75000"/>
              <a:buFont typeface="Wingdings" pitchFamily="2" charset="2"/>
              <a:buNone/>
              <a:defRPr/>
            </a:pPr>
            <a:r>
              <a:rPr lang="en-US" altLang="zh-TW" sz="3600" b="1" dirty="0" smtClean="0">
                <a:solidFill>
                  <a:schemeClr val="tx2"/>
                </a:solidFill>
                <a:latin typeface="Times New Roman" charset="0"/>
              </a:rPr>
              <a:t>      </a:t>
            </a:r>
            <a:r>
              <a:rPr lang="en-US" altLang="zh-TW" sz="44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Acyclic-Graph </a:t>
            </a:r>
            <a:r>
              <a:rPr lang="en-US" altLang="zh-TW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Directory (1)</a:t>
            </a:r>
          </a:p>
        </p:txBody>
      </p:sp>
      <p:sp>
        <p:nvSpPr>
          <p:cNvPr id="147501" name="Text Box 45"/>
          <p:cNvSpPr txBox="1">
            <a:spLocks noChangeArrowheads="1"/>
          </p:cNvSpPr>
          <p:nvPr/>
        </p:nvSpPr>
        <p:spPr bwMode="auto">
          <a:xfrm>
            <a:off x="250825" y="5026025"/>
            <a:ext cx="45815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shared files or directories: any changes</a:t>
            </a:r>
          </a:p>
          <a:p>
            <a:pPr eaLnBrk="1" hangingPunct="1"/>
            <a:r>
              <a:rPr lang="en-US" altLang="zh-TW" sz="2000">
                <a:solidFill>
                  <a:srgbClr val="0000FF"/>
                </a:solidFill>
              </a:rPr>
              <a:t>are immediately visible to others</a:t>
            </a:r>
          </a:p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Version control mechanism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147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47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147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147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147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147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80" grpId="0" animBg="1"/>
      <p:bldP spid="147492" grpId="0" animBg="1"/>
      <p:bldP spid="147495" grpId="0" animBg="1"/>
      <p:bldP spid="14750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06E5C3F5-85A2-4908-9263-D4B617D5DC53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457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45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3743D59-02AC-401F-AB37-DF10872A5699}" type="slidenum">
              <a:rPr kumimoji="0" lang="en-US" altLang="zh-TW" sz="1400" smtClean="0"/>
              <a:pPr eaLnBrk="1" hangingPunct="1"/>
              <a:t>22</a:t>
            </a:fld>
            <a:endParaRPr kumimoji="0" lang="en-US" altLang="zh-TW" sz="1400" smtClean="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76275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Acyclic-Graph Directory (2)</a:t>
            </a:r>
          </a:p>
        </p:txBody>
      </p:sp>
      <p:sp>
        <p:nvSpPr>
          <p:cNvPr id="1495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8713788" cy="5256212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0000FF"/>
                </a:solidFill>
              </a:rPr>
              <a:t>Two different names</a:t>
            </a:r>
            <a:r>
              <a:rPr lang="en-US" altLang="zh-TW" smtClean="0"/>
              <a:t> (aliasing), cause some problems:</a:t>
            </a:r>
          </a:p>
          <a:p>
            <a:pPr lvl="1" eaLnBrk="1" hangingPunct="1"/>
            <a:r>
              <a:rPr lang="en-US" altLang="zh-TW" smtClean="0"/>
              <a:t>traverse the entire file system,</a:t>
            </a:r>
          </a:p>
          <a:p>
            <a:pPr lvl="1" eaLnBrk="1" hangingPunct="1"/>
            <a:r>
              <a:rPr lang="en-US" altLang="zh-TW" smtClean="0"/>
              <a:t>copy all files to backup storage, </a:t>
            </a:r>
            <a:r>
              <a:rPr lang="en-US" altLang="zh-TW" smtClean="0">
                <a:latin typeface="Helvetica" pitchFamily="34" charset="0"/>
              </a:rPr>
              <a:t>…</a:t>
            </a:r>
            <a:endParaRPr lang="en-US" altLang="zh-TW" smtClean="0"/>
          </a:p>
          <a:p>
            <a:pPr eaLnBrk="1" hangingPunct="1">
              <a:spcBef>
                <a:spcPct val="60000"/>
              </a:spcBef>
            </a:pPr>
            <a:r>
              <a:rPr lang="en-US" altLang="zh-TW" smtClean="0">
                <a:solidFill>
                  <a:srgbClr val="FF0000"/>
                </a:solidFill>
                <a:sym typeface="Symbol" pitchFamily="18" charset="2"/>
              </a:rPr>
              <a:t>dangling pointer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mtClean="0"/>
              <a:t>	Solutions:</a:t>
            </a:r>
          </a:p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Backpointers</a:t>
            </a:r>
            <a:r>
              <a:rPr lang="en-US" altLang="zh-TW" smtClean="0"/>
              <a:t>, so we can delete all pointers</a:t>
            </a:r>
          </a:p>
          <a:p>
            <a:pPr lvl="1" eaLnBrk="1" hangingPunct="1"/>
            <a:r>
              <a:rPr lang="en-US" altLang="zh-TW" smtClean="0">
                <a:solidFill>
                  <a:srgbClr val="0000FF"/>
                </a:solidFill>
              </a:rPr>
              <a:t>Entry-hold-count</a:t>
            </a: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4067175" y="3500438"/>
            <a:ext cx="4633913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</a:rPr>
              <a:t>find, statistics on all files, backup</a:t>
            </a: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3851275" y="1893888"/>
            <a:ext cx="4879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 dirty="0">
                <a:solidFill>
                  <a:srgbClr val="FF0000"/>
                </a:solidFill>
              </a:rPr>
              <a:t>Do not want to traverse shared files twice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9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8" grpId="0" animBg="1"/>
      <p:bldP spid="14950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2544ADB-D277-4D9C-8471-A9BE74950FEA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560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56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24FDDCE-77EB-4ADA-89F0-440E7EE91149}" type="slidenum">
              <a:rPr kumimoji="0" lang="en-US" altLang="zh-TW" sz="1400" smtClean="0"/>
              <a:pPr eaLnBrk="1" hangingPunct="1"/>
              <a:t>23</a:t>
            </a:fld>
            <a:endParaRPr kumimoji="0" lang="en-US" altLang="zh-TW" sz="1400" smtClean="0"/>
          </a:p>
        </p:txBody>
      </p:sp>
      <p:sp>
        <p:nvSpPr>
          <p:cNvPr id="17410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" y="908050"/>
            <a:ext cx="8497888" cy="5256213"/>
          </a:xfrm>
        </p:spPr>
        <p:txBody>
          <a:bodyPr/>
          <a:lstStyle/>
          <a:p>
            <a:pPr marL="990600" lvl="1" indent="-533400" eaLnBrk="1" hangingPunct="1">
              <a:buFont typeface="Wingdings" pitchFamily="2" charset="2"/>
              <a:buNone/>
            </a:pPr>
            <a:r>
              <a:rPr lang="en-US" altLang="zh-TW" sz="2400" smtClean="0">
                <a:latin typeface="Wingdings" pitchFamily="2" charset="2"/>
              </a:rPr>
              <a:t>L</a:t>
            </a:r>
            <a:r>
              <a:rPr lang="en-US" altLang="zh-TW" sz="2400" smtClean="0"/>
              <a:t>: </a:t>
            </a:r>
            <a:r>
              <a:rPr lang="en-US" altLang="zh-TW" smtClean="0"/>
              <a:t>How do we guarantee no cycle? </a:t>
            </a:r>
            <a:endParaRPr lang="en-US" altLang="zh-TW" sz="3600" smtClean="0"/>
          </a:p>
          <a:p>
            <a:pPr marL="1371600" lvl="2" indent="-457200" eaLnBrk="1" hangingPunct="1">
              <a:buFontTx/>
              <a:buAutoNum type="arabicPeriod"/>
            </a:pPr>
            <a:r>
              <a:rPr lang="en-US" altLang="zh-TW" sz="2800" smtClean="0"/>
              <a:t>Searching/traversing is difficult</a:t>
            </a:r>
            <a:endParaRPr lang="en-US" altLang="zh-TW" sz="3200" smtClean="0"/>
          </a:p>
          <a:p>
            <a:pPr marL="1752600" lvl="3" indent="-381000" eaLnBrk="1" hangingPunct="1"/>
            <a:r>
              <a:rPr lang="en-US" altLang="zh-TW" sz="2400" smtClean="0"/>
              <a:t>search a directory twice</a:t>
            </a:r>
          </a:p>
          <a:p>
            <a:pPr marL="1752600" lvl="3" indent="-381000" eaLnBrk="1" hangingPunct="1">
              <a:buFont typeface="Wingdings" pitchFamily="2" charset="2"/>
              <a:buNone/>
            </a:pPr>
            <a:r>
              <a:rPr lang="en-US" altLang="zh-TW" sz="2400" smtClean="0"/>
              <a:t>    Solution: limit # of directories that can be accessed.</a:t>
            </a:r>
          </a:p>
          <a:p>
            <a:pPr marL="1752600" lvl="3" indent="-381000" eaLnBrk="1" hangingPunct="1"/>
            <a:r>
              <a:rPr lang="en-US" altLang="zh-TW" sz="2400" smtClean="0"/>
              <a:t>infinite loop</a:t>
            </a:r>
            <a:endParaRPr lang="en-US" altLang="zh-TW" sz="2800" smtClean="0"/>
          </a:p>
          <a:p>
            <a:pPr marL="1371600" lvl="2" indent="-457200"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zh-TW" sz="2800" smtClean="0"/>
              <a:t>Deletion is more complicated</a:t>
            </a:r>
            <a:endParaRPr lang="en-US" altLang="zh-TW" sz="3200" smtClean="0">
              <a:solidFill>
                <a:srgbClr val="FF0000"/>
              </a:solidFill>
            </a:endParaRPr>
          </a:p>
          <a:p>
            <a:pPr marL="1752600" lvl="3" indent="-381000" eaLnBrk="1" hangingPunct="1"/>
            <a:r>
              <a:rPr lang="en-US" altLang="zh-TW" sz="2400" smtClean="0">
                <a:solidFill>
                  <a:srgbClr val="FF0000"/>
                </a:solidFill>
              </a:rPr>
              <a:t>Self-reference</a:t>
            </a:r>
            <a:r>
              <a:rPr lang="en-US" altLang="zh-TW" sz="2400" smtClean="0"/>
              <a:t>: a set of files with nonzero reference-count that are impossible to refer, the possibility of self-referencing (a cycle) in the directory structure.</a:t>
            </a:r>
          </a:p>
          <a:p>
            <a:pPr marL="1752600" lvl="3" indent="-381000" eaLnBrk="1" hangingPunct="1">
              <a:spcBef>
                <a:spcPct val="50000"/>
              </a:spcBef>
            </a:pPr>
            <a:r>
              <a:rPr lang="en-US" altLang="zh-TW" sz="2400" smtClean="0"/>
              <a:t>Solution: </a:t>
            </a:r>
            <a:r>
              <a:rPr lang="en-US" altLang="zh-TW" sz="2400" smtClean="0">
                <a:solidFill>
                  <a:srgbClr val="FF0000"/>
                </a:solidFill>
              </a:rPr>
              <a:t>garbage collection</a:t>
            </a:r>
            <a:r>
              <a:rPr lang="en-US" altLang="zh-TW" sz="2400" smtClean="0"/>
              <a:t> (very expensive)</a:t>
            </a:r>
          </a:p>
        </p:txBody>
      </p:sp>
      <p:sp>
        <p:nvSpPr>
          <p:cNvPr id="27654" name="Text Box 3"/>
          <p:cNvSpPr txBox="1">
            <a:spLocks noChangeArrowheads="1"/>
          </p:cNvSpPr>
          <p:nvPr/>
        </p:nvSpPr>
        <p:spPr bwMode="auto">
          <a:xfrm>
            <a:off x="395288" y="223838"/>
            <a:ext cx="7867650" cy="76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  <a:defRPr/>
            </a:pPr>
            <a:r>
              <a:rPr lang="en-US" altLang="zh-TW" sz="44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General Graph Directory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567488" y="1209675"/>
            <a:ext cx="200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</a:rPr>
              <a:t>If cycles exist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4D69E32-BF4A-493D-AE18-499C7462784E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662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66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2C514BD-116C-48E4-870E-378A8CF45605}" type="slidenum">
              <a:rPr kumimoji="0" lang="en-US" altLang="zh-TW" sz="1400" smtClean="0"/>
              <a:pPr eaLnBrk="1" hangingPunct="1"/>
              <a:t>24</a:t>
            </a:fld>
            <a:endParaRPr kumimoji="0" lang="en-US" altLang="zh-TW" sz="1400" smtClean="0"/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1704975" y="2789238"/>
            <a:ext cx="2262188" cy="485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1704975" y="2789238"/>
            <a:ext cx="22685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cat    mail  dist  pe2</a:t>
            </a:r>
          </a:p>
        </p:txBody>
      </p:sp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4325938" y="957263"/>
            <a:ext cx="63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root</a:t>
            </a:r>
          </a:p>
        </p:txBody>
      </p:sp>
      <p:sp>
        <p:nvSpPr>
          <p:cNvPr id="26632" name="Line 5"/>
          <p:cNvSpPr>
            <a:spLocks noChangeShapeType="1"/>
          </p:cNvSpPr>
          <p:nvPr/>
        </p:nvSpPr>
        <p:spPr bwMode="auto">
          <a:xfrm>
            <a:off x="2292350" y="2789238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3" name="Line 6"/>
          <p:cNvSpPr>
            <a:spLocks noChangeShapeType="1"/>
          </p:cNvSpPr>
          <p:nvPr/>
        </p:nvSpPr>
        <p:spPr bwMode="auto">
          <a:xfrm>
            <a:off x="2921000" y="2789238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4" name="Line 7"/>
          <p:cNvSpPr>
            <a:spLocks noChangeShapeType="1"/>
          </p:cNvSpPr>
          <p:nvPr/>
        </p:nvSpPr>
        <p:spPr bwMode="auto">
          <a:xfrm>
            <a:off x="3408363" y="2789238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5" name="Oval 8"/>
          <p:cNvSpPr>
            <a:spLocks noChangeArrowheads="1"/>
          </p:cNvSpPr>
          <p:nvPr/>
        </p:nvSpPr>
        <p:spPr bwMode="auto">
          <a:xfrm>
            <a:off x="2921000" y="3716338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36" name="Rectangle 9"/>
          <p:cNvSpPr>
            <a:spLocks noChangeArrowheads="1"/>
          </p:cNvSpPr>
          <p:nvPr/>
        </p:nvSpPr>
        <p:spPr bwMode="auto">
          <a:xfrm>
            <a:off x="3355975" y="1412875"/>
            <a:ext cx="2871788" cy="422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37" name="Text Box 10"/>
          <p:cNvSpPr txBox="1">
            <a:spLocks noChangeArrowheads="1"/>
          </p:cNvSpPr>
          <p:nvPr/>
        </p:nvSpPr>
        <p:spPr bwMode="auto">
          <a:xfrm>
            <a:off x="3351213" y="1468438"/>
            <a:ext cx="287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spell        obj      program</a:t>
            </a:r>
          </a:p>
        </p:txBody>
      </p:sp>
      <p:sp>
        <p:nvSpPr>
          <p:cNvPr id="26638" name="Line 11"/>
          <p:cNvSpPr>
            <a:spLocks noChangeShapeType="1"/>
          </p:cNvSpPr>
          <p:nvPr/>
        </p:nvSpPr>
        <p:spPr bwMode="auto">
          <a:xfrm>
            <a:off x="4211638" y="1412875"/>
            <a:ext cx="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39" name="Line 12"/>
          <p:cNvSpPr>
            <a:spLocks noChangeShapeType="1"/>
          </p:cNvSpPr>
          <p:nvPr/>
        </p:nvSpPr>
        <p:spPr bwMode="auto">
          <a:xfrm>
            <a:off x="5062538" y="1408113"/>
            <a:ext cx="0" cy="422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40" name="Rectangle 13"/>
          <p:cNvSpPr>
            <a:spLocks noChangeArrowheads="1"/>
          </p:cNvSpPr>
          <p:nvPr/>
        </p:nvSpPr>
        <p:spPr bwMode="auto">
          <a:xfrm>
            <a:off x="4486275" y="2814638"/>
            <a:ext cx="1198563" cy="4841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41" name="Text Box 14"/>
          <p:cNvSpPr txBox="1">
            <a:spLocks noChangeArrowheads="1"/>
          </p:cNvSpPr>
          <p:nvPr/>
        </p:nvSpPr>
        <p:spPr bwMode="auto">
          <a:xfrm>
            <a:off x="4486275" y="2814638"/>
            <a:ext cx="10445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pe2    cc</a:t>
            </a:r>
          </a:p>
        </p:txBody>
      </p:sp>
      <p:sp>
        <p:nvSpPr>
          <p:cNvPr id="26642" name="Line 15"/>
          <p:cNvSpPr>
            <a:spLocks noChangeShapeType="1"/>
          </p:cNvSpPr>
          <p:nvPr/>
        </p:nvSpPr>
        <p:spPr bwMode="auto">
          <a:xfrm>
            <a:off x="5073650" y="2814638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43" name="Oval 16"/>
          <p:cNvSpPr>
            <a:spLocks noChangeArrowheads="1"/>
          </p:cNvSpPr>
          <p:nvPr/>
        </p:nvSpPr>
        <p:spPr bwMode="auto">
          <a:xfrm>
            <a:off x="4570413" y="3717925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44" name="Oval 17"/>
          <p:cNvSpPr>
            <a:spLocks noChangeArrowheads="1"/>
          </p:cNvSpPr>
          <p:nvPr/>
        </p:nvSpPr>
        <p:spPr bwMode="auto">
          <a:xfrm>
            <a:off x="5235575" y="3719513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45" name="Rectangle 18"/>
          <p:cNvSpPr>
            <a:spLocks noChangeArrowheads="1"/>
          </p:cNvSpPr>
          <p:nvPr/>
        </p:nvSpPr>
        <p:spPr bwMode="auto">
          <a:xfrm>
            <a:off x="6505575" y="2889250"/>
            <a:ext cx="1198563" cy="4841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46" name="Text Box 19"/>
          <p:cNvSpPr txBox="1">
            <a:spLocks noChangeArrowheads="1"/>
          </p:cNvSpPr>
          <p:nvPr/>
        </p:nvSpPr>
        <p:spPr bwMode="auto">
          <a:xfrm>
            <a:off x="6505575" y="2889250"/>
            <a:ext cx="1108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pasc     a</a:t>
            </a:r>
          </a:p>
        </p:txBody>
      </p:sp>
      <p:sp>
        <p:nvSpPr>
          <p:cNvPr id="26647" name="Line 20"/>
          <p:cNvSpPr>
            <a:spLocks noChangeShapeType="1"/>
          </p:cNvSpPr>
          <p:nvPr/>
        </p:nvSpPr>
        <p:spPr bwMode="auto">
          <a:xfrm>
            <a:off x="7180263" y="2889250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48" name="Oval 21"/>
          <p:cNvSpPr>
            <a:spLocks noChangeArrowheads="1"/>
          </p:cNvSpPr>
          <p:nvPr/>
        </p:nvSpPr>
        <p:spPr bwMode="auto">
          <a:xfrm>
            <a:off x="7254875" y="3794125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49" name="Line 22"/>
          <p:cNvSpPr>
            <a:spLocks noChangeShapeType="1"/>
          </p:cNvSpPr>
          <p:nvPr/>
        </p:nvSpPr>
        <p:spPr bwMode="auto">
          <a:xfrm>
            <a:off x="3122613" y="3322638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50" name="Line 23"/>
          <p:cNvSpPr>
            <a:spLocks noChangeShapeType="1"/>
          </p:cNvSpPr>
          <p:nvPr/>
        </p:nvSpPr>
        <p:spPr bwMode="auto">
          <a:xfrm>
            <a:off x="3641725" y="3313113"/>
            <a:ext cx="931863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51" name="Line 24"/>
          <p:cNvSpPr>
            <a:spLocks noChangeShapeType="1"/>
          </p:cNvSpPr>
          <p:nvPr/>
        </p:nvSpPr>
        <p:spPr bwMode="auto">
          <a:xfrm>
            <a:off x="4772025" y="3313113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52" name="Line 25"/>
          <p:cNvSpPr>
            <a:spLocks noChangeShapeType="1"/>
          </p:cNvSpPr>
          <p:nvPr/>
        </p:nvSpPr>
        <p:spPr bwMode="auto">
          <a:xfrm>
            <a:off x="5437188" y="3313113"/>
            <a:ext cx="0" cy="404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58" name="Line 26"/>
          <p:cNvSpPr>
            <a:spLocks noChangeShapeType="1"/>
          </p:cNvSpPr>
          <p:nvPr/>
        </p:nvSpPr>
        <p:spPr bwMode="auto">
          <a:xfrm flipH="1">
            <a:off x="6084888" y="3352800"/>
            <a:ext cx="706437" cy="10842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54" name="Line 27"/>
          <p:cNvSpPr>
            <a:spLocks noChangeShapeType="1"/>
          </p:cNvSpPr>
          <p:nvPr/>
        </p:nvSpPr>
        <p:spPr bwMode="auto">
          <a:xfrm>
            <a:off x="7456488" y="3352800"/>
            <a:ext cx="0" cy="404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55" name="Line 28"/>
          <p:cNvSpPr>
            <a:spLocks noChangeShapeType="1"/>
          </p:cNvSpPr>
          <p:nvPr/>
        </p:nvSpPr>
        <p:spPr bwMode="auto">
          <a:xfrm flipH="1">
            <a:off x="2921000" y="1835150"/>
            <a:ext cx="881063" cy="9350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56" name="Line 29"/>
          <p:cNvSpPr>
            <a:spLocks noChangeShapeType="1"/>
          </p:cNvSpPr>
          <p:nvPr/>
        </p:nvSpPr>
        <p:spPr bwMode="auto">
          <a:xfrm>
            <a:off x="4573588" y="1830388"/>
            <a:ext cx="500062" cy="958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62" name="Line 30"/>
          <p:cNvSpPr>
            <a:spLocks noChangeShapeType="1"/>
          </p:cNvSpPr>
          <p:nvPr/>
        </p:nvSpPr>
        <p:spPr bwMode="auto">
          <a:xfrm>
            <a:off x="5440363" y="1835150"/>
            <a:ext cx="1739900" cy="10541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58" name="Rectangle 31"/>
          <p:cNvSpPr>
            <a:spLocks noChangeArrowheads="1"/>
          </p:cNvSpPr>
          <p:nvPr/>
        </p:nvSpPr>
        <p:spPr bwMode="auto">
          <a:xfrm>
            <a:off x="4772025" y="4422775"/>
            <a:ext cx="2262188" cy="485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59" name="Text Box 32"/>
          <p:cNvSpPr txBox="1">
            <a:spLocks noChangeArrowheads="1"/>
          </p:cNvSpPr>
          <p:nvPr/>
        </p:nvSpPr>
        <p:spPr bwMode="auto">
          <a:xfrm>
            <a:off x="4859338" y="4437063"/>
            <a:ext cx="210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000" b="1">
                <a:latin typeface="Times New Roman" charset="0"/>
              </a:rPr>
              <a:t>root   bo    a    test</a:t>
            </a:r>
          </a:p>
        </p:txBody>
      </p:sp>
      <p:sp>
        <p:nvSpPr>
          <p:cNvPr id="26660" name="Line 33"/>
          <p:cNvSpPr>
            <a:spLocks noChangeShapeType="1"/>
          </p:cNvSpPr>
          <p:nvPr/>
        </p:nvSpPr>
        <p:spPr bwMode="auto">
          <a:xfrm>
            <a:off x="5359400" y="44227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61" name="Line 34"/>
          <p:cNvSpPr>
            <a:spLocks noChangeShapeType="1"/>
          </p:cNvSpPr>
          <p:nvPr/>
        </p:nvSpPr>
        <p:spPr bwMode="auto">
          <a:xfrm>
            <a:off x="5988050" y="442277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62" name="Line 35"/>
          <p:cNvSpPr>
            <a:spLocks noChangeShapeType="1"/>
          </p:cNvSpPr>
          <p:nvPr/>
        </p:nvSpPr>
        <p:spPr bwMode="auto">
          <a:xfrm>
            <a:off x="6423025" y="4403725"/>
            <a:ext cx="0" cy="485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63" name="Oval 36"/>
          <p:cNvSpPr>
            <a:spLocks noChangeArrowheads="1"/>
          </p:cNvSpPr>
          <p:nvPr/>
        </p:nvSpPr>
        <p:spPr bwMode="auto">
          <a:xfrm>
            <a:off x="5521325" y="532765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64" name="Oval 37"/>
          <p:cNvSpPr>
            <a:spLocks noChangeArrowheads="1"/>
          </p:cNvSpPr>
          <p:nvPr/>
        </p:nvSpPr>
        <p:spPr bwMode="auto">
          <a:xfrm>
            <a:off x="6507163" y="535305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65" name="Line 38"/>
          <p:cNvSpPr>
            <a:spLocks noChangeShapeType="1"/>
          </p:cNvSpPr>
          <p:nvPr/>
        </p:nvSpPr>
        <p:spPr bwMode="auto">
          <a:xfrm>
            <a:off x="5722938" y="4933950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66" name="Line 39"/>
          <p:cNvSpPr>
            <a:spLocks noChangeShapeType="1"/>
          </p:cNvSpPr>
          <p:nvPr/>
        </p:nvSpPr>
        <p:spPr bwMode="auto">
          <a:xfrm>
            <a:off x="6708775" y="4946650"/>
            <a:ext cx="0" cy="404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67" name="Text Box 40"/>
          <p:cNvSpPr txBox="1">
            <a:spLocks noChangeArrowheads="1"/>
          </p:cNvSpPr>
          <p:nvPr/>
        </p:nvSpPr>
        <p:spPr bwMode="auto">
          <a:xfrm>
            <a:off x="2563813" y="381000"/>
            <a:ext cx="40846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SzPct val="75000"/>
              <a:buFont typeface="Wingdings" pitchFamily="2" charset="2"/>
              <a:buNone/>
            </a:pPr>
            <a:r>
              <a:rPr lang="en-US" altLang="zh-TW" sz="2800" b="1">
                <a:solidFill>
                  <a:schemeClr val="tx2"/>
                </a:solidFill>
                <a:latin typeface="Times New Roman" charset="0"/>
              </a:rPr>
              <a:t>General Graph Directory</a:t>
            </a:r>
          </a:p>
        </p:txBody>
      </p:sp>
      <p:sp>
        <p:nvSpPr>
          <p:cNvPr id="26668" name="Oval 41"/>
          <p:cNvSpPr>
            <a:spLocks noChangeArrowheads="1"/>
          </p:cNvSpPr>
          <p:nvPr/>
        </p:nvSpPr>
        <p:spPr bwMode="auto">
          <a:xfrm>
            <a:off x="1776413" y="3714750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69" name="Line 42"/>
          <p:cNvSpPr>
            <a:spLocks noChangeShapeType="1"/>
          </p:cNvSpPr>
          <p:nvPr/>
        </p:nvSpPr>
        <p:spPr bwMode="auto">
          <a:xfrm>
            <a:off x="1978025" y="3321050"/>
            <a:ext cx="0" cy="404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475" name="Freeform 43"/>
          <p:cNvSpPr>
            <a:spLocks/>
          </p:cNvSpPr>
          <p:nvPr/>
        </p:nvSpPr>
        <p:spPr bwMode="auto">
          <a:xfrm>
            <a:off x="6245225" y="2309813"/>
            <a:ext cx="2363788" cy="3863975"/>
          </a:xfrm>
          <a:custGeom>
            <a:avLst/>
            <a:gdLst>
              <a:gd name="T0" fmla="*/ 0 w 1489"/>
              <a:gd name="T1" fmla="*/ 2147483647 h 2434"/>
              <a:gd name="T2" fmla="*/ 0 w 1489"/>
              <a:gd name="T3" fmla="*/ 2147483647 h 2434"/>
              <a:gd name="T4" fmla="*/ 2147483647 w 1489"/>
              <a:gd name="T5" fmla="*/ 2147483647 h 2434"/>
              <a:gd name="T6" fmla="*/ 2147483647 w 1489"/>
              <a:gd name="T7" fmla="*/ 0 h 2434"/>
              <a:gd name="T8" fmla="*/ 1764109748 w 1489"/>
              <a:gd name="T9" fmla="*/ 869454700 h 24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89" h="2434">
                <a:moveTo>
                  <a:pt x="0" y="1634"/>
                </a:moveTo>
                <a:lnTo>
                  <a:pt x="0" y="2434"/>
                </a:lnTo>
                <a:lnTo>
                  <a:pt x="1489" y="2434"/>
                </a:lnTo>
                <a:lnTo>
                  <a:pt x="1489" y="0"/>
                </a:lnTo>
                <a:lnTo>
                  <a:pt x="700" y="345"/>
                </a:ln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71" name="Freeform 44"/>
          <p:cNvSpPr>
            <a:spLocks/>
          </p:cNvSpPr>
          <p:nvPr/>
        </p:nvSpPr>
        <p:spPr bwMode="auto">
          <a:xfrm>
            <a:off x="952500" y="1093788"/>
            <a:ext cx="4146550" cy="4584700"/>
          </a:xfrm>
          <a:custGeom>
            <a:avLst/>
            <a:gdLst>
              <a:gd name="T0" fmla="*/ 2147483647 w 2612"/>
              <a:gd name="T1" fmla="*/ 2147483647 h 2888"/>
              <a:gd name="T2" fmla="*/ 700603438 w 2612"/>
              <a:gd name="T3" fmla="*/ 2147483647 h 2888"/>
              <a:gd name="T4" fmla="*/ 0 w 2612"/>
              <a:gd name="T5" fmla="*/ 0 h 2888"/>
              <a:gd name="T6" fmla="*/ 2147483647 w 2612"/>
              <a:gd name="T7" fmla="*/ 614918125 h 28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12" h="2888">
                <a:moveTo>
                  <a:pt x="2612" y="2422"/>
                </a:moveTo>
                <a:lnTo>
                  <a:pt x="278" y="2888"/>
                </a:lnTo>
                <a:lnTo>
                  <a:pt x="0" y="0"/>
                </a:lnTo>
                <a:lnTo>
                  <a:pt x="1500" y="24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672" name="Oval 45"/>
          <p:cNvSpPr>
            <a:spLocks noChangeArrowheads="1"/>
          </p:cNvSpPr>
          <p:nvPr/>
        </p:nvSpPr>
        <p:spPr bwMode="auto">
          <a:xfrm>
            <a:off x="2420938" y="3692525"/>
            <a:ext cx="358775" cy="371475"/>
          </a:xfrm>
          <a:prstGeom prst="ellipse">
            <a:avLst/>
          </a:prstGeom>
          <a:solidFill>
            <a:srgbClr val="DEDEDE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26673" name="Line 46"/>
          <p:cNvSpPr>
            <a:spLocks noChangeShapeType="1"/>
          </p:cNvSpPr>
          <p:nvPr/>
        </p:nvSpPr>
        <p:spPr bwMode="auto">
          <a:xfrm>
            <a:off x="2622550" y="3298825"/>
            <a:ext cx="0" cy="40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8" grpId="0" animBg="1"/>
      <p:bldP spid="18462" grpId="0" animBg="1"/>
      <p:bldP spid="1847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AB24AD6-A9BD-4212-991E-97FF5C8018D7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765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76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7622577-B1B9-4AF6-9A8A-6629E81A69B1}" type="slidenum">
              <a:rPr kumimoji="0" lang="en-US" altLang="zh-TW" sz="1400" smtClean="0"/>
              <a:pPr eaLnBrk="1" hangingPunct="1"/>
              <a:t>25</a:t>
            </a:fld>
            <a:endParaRPr kumimoji="0" lang="en-US" altLang="zh-TW" sz="1400" smtClean="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File System Mounting</a:t>
            </a:r>
          </a:p>
        </p:txBody>
      </p:sp>
      <p:sp>
        <p:nvSpPr>
          <p:cNvPr id="2765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A file system must be </a:t>
            </a:r>
            <a:r>
              <a:rPr lang="en-US" altLang="zh-TW" b="1" smtClean="0"/>
              <a:t>mounted</a:t>
            </a:r>
            <a:r>
              <a:rPr lang="en-US" altLang="zh-TW" smtClean="0"/>
              <a:t> before it can be accessed</a:t>
            </a:r>
          </a:p>
          <a:p>
            <a:pPr eaLnBrk="1" hangingPunct="1"/>
            <a:endParaRPr lang="en-US" altLang="zh-TW" smtClean="0"/>
          </a:p>
          <a:p>
            <a:pPr eaLnBrk="1" hangingPunct="1"/>
            <a:r>
              <a:rPr lang="en-US" altLang="zh-TW" smtClean="0"/>
              <a:t>A unmounted file system is mounted at a </a:t>
            </a:r>
            <a:r>
              <a:rPr lang="en-US" altLang="zh-TW" b="1" smtClean="0">
                <a:solidFill>
                  <a:srgbClr val="0000FF"/>
                </a:solidFill>
              </a:rPr>
              <a:t>mount point</a:t>
            </a:r>
            <a:endParaRPr lang="en-US" altLang="zh-TW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969C228-C4B9-4FCF-9707-4A10ED407527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867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867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1761526-8E13-4A91-B837-B0B6CDDCBC5C}" type="slidenum">
              <a:rPr kumimoji="0" lang="en-US" altLang="zh-TW" sz="1400" smtClean="0"/>
              <a:pPr eaLnBrk="1" hangingPunct="1"/>
              <a:t>26</a:t>
            </a:fld>
            <a:endParaRPr kumimoji="0" lang="en-US" altLang="zh-TW" sz="1400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zh-TW" smtClean="0"/>
              <a:t>File Sharing and Naming</a:t>
            </a:r>
          </a:p>
        </p:txBody>
      </p:sp>
      <p:sp>
        <p:nvSpPr>
          <p:cNvPr id="870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9900" y="1052513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800" dirty="0" smtClean="0"/>
              <a:t>Sharing of files on multi-user systems is desirable. (</a:t>
            </a:r>
            <a:r>
              <a:rPr lang="en-US" altLang="zh-TW" sz="2800" dirty="0" smtClean="0">
                <a:solidFill>
                  <a:srgbClr val="FF0000"/>
                </a:solidFill>
              </a:rPr>
              <a:t>shared READ</a:t>
            </a:r>
            <a:r>
              <a:rPr lang="en-US" altLang="zh-TW" sz="2800" dirty="0" smtClean="0"/>
              <a:t>, shared WRITE?)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Sharing may be done through a </a:t>
            </a:r>
            <a:r>
              <a:rPr lang="en-US" altLang="zh-TW" sz="2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protection</a:t>
            </a:r>
            <a:r>
              <a:rPr lang="en-US" altLang="zh-TW" sz="2800" dirty="0" smtClean="0"/>
              <a:t> scheme.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On distributed systems, files may be shared across a network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Network File System </a:t>
            </a:r>
            <a:r>
              <a:rPr lang="en-US" altLang="zh-TW" sz="2800" dirty="0" smtClean="0">
                <a:solidFill>
                  <a:srgbClr val="FF0000"/>
                </a:solidFill>
              </a:rPr>
              <a:t>(NFS</a:t>
            </a:r>
            <a:r>
              <a:rPr lang="en-US" altLang="zh-TW" sz="2800" dirty="0" smtClean="0"/>
              <a:t>) is a common distributed file-sharing method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Domain Name System </a:t>
            </a:r>
            <a:r>
              <a:rPr lang="en-US" altLang="zh-TW" sz="2800" dirty="0" smtClean="0">
                <a:solidFill>
                  <a:srgbClr val="FF0000"/>
                </a:solidFill>
              </a:rPr>
              <a:t>(DNS</a:t>
            </a:r>
            <a:r>
              <a:rPr lang="en-US" altLang="zh-TW" sz="2800" dirty="0" smtClean="0"/>
              <a:t>)</a:t>
            </a:r>
          </a:p>
          <a:p>
            <a:pPr eaLnBrk="1" hangingPunct="1">
              <a:lnSpc>
                <a:spcPct val="80000"/>
              </a:lnSpc>
              <a:spcBef>
                <a:spcPct val="60000"/>
              </a:spcBef>
              <a:defRPr/>
            </a:pPr>
            <a:r>
              <a:rPr lang="en-US" altLang="zh-TW" sz="2800" dirty="0" smtClean="0"/>
              <a:t>Distributed Naming Mechanism, </a:t>
            </a:r>
            <a:r>
              <a:rPr lang="en-US" altLang="zh-TW" sz="2800" dirty="0" smtClean="0">
                <a:solidFill>
                  <a:srgbClr val="FF0000"/>
                </a:solidFill>
              </a:rPr>
              <a:t>LDAP</a:t>
            </a:r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5795963" y="50133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87045" name="Text Box 5"/>
          <p:cNvSpPr txBox="1">
            <a:spLocks noChangeArrowheads="1"/>
          </p:cNvSpPr>
          <p:nvPr/>
        </p:nvSpPr>
        <p:spPr bwMode="auto">
          <a:xfrm>
            <a:off x="5580063" y="4845050"/>
            <a:ext cx="3403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0000FF"/>
                </a:solidFill>
                <a:hlinkClick r:id="rId3"/>
              </a:rPr>
              <a:t>www.xx.nthu.tw</a:t>
            </a:r>
            <a:r>
              <a:rPr lang="en-US" altLang="zh-TW" sz="1600">
                <a:solidFill>
                  <a:srgbClr val="0000FF"/>
                </a:solidFill>
              </a:rPr>
              <a:t> </a:t>
            </a:r>
            <a:r>
              <a:rPr lang="en-US" altLang="zh-TW" sz="1600">
                <a:solidFill>
                  <a:srgbClr val="0000FF"/>
                </a:solidFill>
                <a:sym typeface="Symbol" pitchFamily="18" charset="2"/>
              </a:rPr>
              <a:t> 140.114.yyy.zzz</a:t>
            </a:r>
          </a:p>
        </p:txBody>
      </p:sp>
      <p:sp>
        <p:nvSpPr>
          <p:cNvPr id="87046" name="Text Box 6"/>
          <p:cNvSpPr txBox="1">
            <a:spLocks noChangeArrowheads="1"/>
          </p:cNvSpPr>
          <p:nvPr/>
        </p:nvSpPr>
        <p:spPr bwMode="auto">
          <a:xfrm>
            <a:off x="5237163" y="5754688"/>
            <a:ext cx="35067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600">
                <a:solidFill>
                  <a:srgbClr val="FF0000"/>
                </a:solidFill>
              </a:rPr>
              <a:t>L</a:t>
            </a:r>
            <a:r>
              <a:rPr lang="en-US" altLang="zh-TW" sz="1600">
                <a:solidFill>
                  <a:srgbClr val="0000FF"/>
                </a:solidFill>
              </a:rPr>
              <a:t>ightweight </a:t>
            </a:r>
            <a:r>
              <a:rPr lang="en-US" altLang="zh-TW" sz="1600">
                <a:solidFill>
                  <a:srgbClr val="FF0000"/>
                </a:solidFill>
              </a:rPr>
              <a:t>d</a:t>
            </a:r>
            <a:r>
              <a:rPr lang="en-US" altLang="zh-TW" sz="1600">
                <a:solidFill>
                  <a:srgbClr val="0000FF"/>
                </a:solidFill>
              </a:rPr>
              <a:t>irectory </a:t>
            </a:r>
            <a:r>
              <a:rPr lang="en-US" altLang="zh-TW" sz="1600">
                <a:solidFill>
                  <a:srgbClr val="FF0000"/>
                </a:solidFill>
              </a:rPr>
              <a:t>a</a:t>
            </a:r>
            <a:r>
              <a:rPr lang="en-US" altLang="zh-TW" sz="1600">
                <a:solidFill>
                  <a:srgbClr val="0000FF"/>
                </a:solidFill>
              </a:rPr>
              <a:t>ccess </a:t>
            </a:r>
            <a:r>
              <a:rPr lang="en-US" altLang="zh-TW" sz="1600">
                <a:solidFill>
                  <a:srgbClr val="FF0000"/>
                </a:solidFill>
              </a:rPr>
              <a:t>p</a:t>
            </a:r>
            <a:r>
              <a:rPr lang="en-US" altLang="zh-TW" sz="1600">
                <a:solidFill>
                  <a:srgbClr val="0000FF"/>
                </a:solidFill>
              </a:rPr>
              <a:t>rotocol</a:t>
            </a:r>
            <a:endParaRPr lang="en-US" altLang="zh-TW" sz="1600">
              <a:solidFill>
                <a:srgbClr val="0000FF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7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7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7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/>
      <p:bldP spid="870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00014BB-5291-445A-AF07-12C723512DA2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934816AE-70B0-4424-971D-FA769596A984}" type="slidenum">
              <a:rPr kumimoji="0" lang="en-US" altLang="zh-TW" sz="1400" smtClean="0"/>
              <a:pPr eaLnBrk="1" hangingPunct="1"/>
              <a:t>27</a:t>
            </a:fld>
            <a:endParaRPr kumimoji="0" lang="en-US" altLang="zh-TW" sz="1400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39113" cy="67627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File Sharing </a:t>
            </a:r>
            <a:r>
              <a:rPr lang="en-US" altLang="zh-TW" sz="4000" smtClean="0">
                <a:latin typeface="Helvetica" pitchFamily="34" charset="0"/>
              </a:rPr>
              <a:t>–</a:t>
            </a:r>
            <a:r>
              <a:rPr lang="en-US" altLang="zh-TW" sz="4000" smtClean="0"/>
              <a:t> Remote File Systems</a:t>
            </a:r>
          </a:p>
        </p:txBody>
      </p:sp>
      <p:sp>
        <p:nvSpPr>
          <p:cNvPr id="1536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353425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Uses </a:t>
            </a:r>
            <a:r>
              <a:rPr lang="en-US" altLang="zh-TW" sz="2800" dirty="0" smtClean="0">
                <a:solidFill>
                  <a:srgbClr val="0000FF"/>
                </a:solidFill>
              </a:rPr>
              <a:t>networking</a:t>
            </a:r>
            <a:r>
              <a:rPr lang="en-US" altLang="zh-TW" sz="2800" dirty="0" smtClean="0"/>
              <a:t> to allow file system access between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>
                <a:solidFill>
                  <a:srgbClr val="FF0000"/>
                </a:solidFill>
              </a:rPr>
              <a:t>Manually</a:t>
            </a:r>
            <a:r>
              <a:rPr lang="en-US" altLang="zh-TW" dirty="0" smtClean="0"/>
              <a:t> via programs like FTP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dirty="0" smtClean="0">
                <a:solidFill>
                  <a:srgbClr val="FF0000"/>
                </a:solidFill>
              </a:rPr>
              <a:t>Semi automatically</a:t>
            </a:r>
            <a:r>
              <a:rPr lang="en-US" altLang="zh-TW" dirty="0" smtClean="0"/>
              <a:t> via the</a:t>
            </a:r>
            <a:r>
              <a:rPr lang="en-US" altLang="zh-TW" b="1" dirty="0" smtClean="0">
                <a:solidFill>
                  <a:schemeClr val="tx2"/>
                </a:solidFill>
              </a:rPr>
              <a:t> </a:t>
            </a:r>
            <a:r>
              <a:rPr lang="en-US" altLang="zh-TW" b="1" dirty="0" smtClean="0"/>
              <a:t>world wide web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dirty="0" smtClean="0">
                <a:solidFill>
                  <a:srgbClr val="FF0000"/>
                </a:solidFill>
              </a:rPr>
              <a:t>Automatically, seamlessly</a:t>
            </a:r>
            <a:r>
              <a:rPr lang="en-US" altLang="zh-TW" dirty="0" smtClean="0"/>
              <a:t> using </a:t>
            </a:r>
            <a:r>
              <a:rPr lang="en-US" altLang="zh-TW" b="1" dirty="0" smtClean="0"/>
              <a:t>distributed file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6047046-A688-4A09-B086-45F2320462D2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D52C7D73-E4A8-44AB-B228-6D92A3BDDE9A}" type="slidenum">
              <a:rPr kumimoji="0" lang="en-US" altLang="zh-TW" sz="1400" smtClean="0"/>
              <a:pPr eaLnBrk="1" hangingPunct="1"/>
              <a:t>28</a:t>
            </a:fld>
            <a:endParaRPr kumimoji="0" lang="en-US" altLang="zh-TW" sz="1400" smtClean="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139113" cy="676275"/>
          </a:xfrm>
        </p:spPr>
        <p:txBody>
          <a:bodyPr/>
          <a:lstStyle/>
          <a:p>
            <a:pPr eaLnBrk="1" hangingPunct="1"/>
            <a:r>
              <a:rPr lang="en-US" altLang="zh-TW" sz="4000" smtClean="0"/>
              <a:t>File Sharing </a:t>
            </a:r>
            <a:r>
              <a:rPr lang="en-US" altLang="zh-TW" sz="4000" smtClean="0">
                <a:latin typeface="Helvetica" pitchFamily="34" charset="0"/>
              </a:rPr>
              <a:t>–</a:t>
            </a:r>
            <a:r>
              <a:rPr lang="en-US" altLang="zh-TW" sz="4000" smtClean="0"/>
              <a:t> Client-server model </a:t>
            </a:r>
          </a:p>
        </p:txBody>
      </p:sp>
      <p:sp>
        <p:nvSpPr>
          <p:cNvPr id="16793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79388" y="1125538"/>
            <a:ext cx="8353425" cy="50403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>
                <a:solidFill>
                  <a:srgbClr val="0000FF"/>
                </a:solidFill>
              </a:rPr>
              <a:t>Allows clients to mount remote file systems from servers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mtClean="0"/>
              <a:t>Server can serve multiple clients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mtClean="0"/>
              <a:t>Standard OS file calls are translated into remote calls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smtClean="0"/>
              <a:t>Client and user-on-client identification is insecure or complicated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b="1" smtClean="0">
                <a:solidFill>
                  <a:srgbClr val="0000FF"/>
                </a:solidFill>
              </a:rPr>
              <a:t>NFS</a:t>
            </a:r>
            <a:r>
              <a:rPr lang="en-US" altLang="zh-TW" smtClean="0"/>
              <a:t> is standard UNIX client-server file sharing protocol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TW" b="1" smtClean="0"/>
              <a:t>CIFS</a:t>
            </a:r>
            <a:r>
              <a:rPr lang="en-US" altLang="zh-TW" smtClean="0"/>
              <a:t> is standard Windows protocol</a:t>
            </a:r>
          </a:p>
        </p:txBody>
      </p:sp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5580063" y="4076700"/>
            <a:ext cx="204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</a:rPr>
              <a:t>single sign-on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B29425F-8CBA-4021-91C2-03C0C2239F9C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87D8C2F1-D2E3-4B99-BEA0-0298E8502DEF}" type="slidenum">
              <a:rPr kumimoji="0" lang="en-US" altLang="zh-TW" sz="1400" smtClean="0"/>
              <a:pPr eaLnBrk="1" hangingPunct="1"/>
              <a:t>29</a:t>
            </a:fld>
            <a:endParaRPr kumimoji="0" lang="en-US" altLang="zh-TW" sz="1400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8713788" cy="1179512"/>
          </a:xfrm>
        </p:spPr>
        <p:txBody>
          <a:bodyPr/>
          <a:lstStyle/>
          <a:p>
            <a:pPr algn="ctr" eaLnBrk="1" hangingPunct="1"/>
            <a:r>
              <a:rPr lang="en-US" altLang="zh-TW" sz="3600" smtClean="0"/>
              <a:t>File Sharing</a:t>
            </a:r>
            <a:br>
              <a:rPr lang="en-US" altLang="zh-TW" sz="3600" smtClean="0"/>
            </a:br>
            <a:r>
              <a:rPr lang="en-US" altLang="zh-TW" sz="3600" smtClean="0"/>
              <a:t>Distributed Information Systems</a:t>
            </a:r>
            <a:r>
              <a:rPr lang="en-US" altLang="zh-TW" sz="4000" smtClean="0"/>
              <a:t> </a:t>
            </a:r>
          </a:p>
        </p:txBody>
      </p:sp>
      <p:sp>
        <p:nvSpPr>
          <p:cNvPr id="1658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95288" y="1773238"/>
            <a:ext cx="8353425" cy="4751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Distributed Information Systems </a:t>
            </a:r>
            <a:r>
              <a:rPr lang="en-US" altLang="zh-TW" sz="2800" b="1" dirty="0" smtClean="0"/>
              <a:t>(distributed naming services)</a:t>
            </a:r>
            <a:r>
              <a:rPr lang="en-US" altLang="zh-TW" dirty="0" smtClean="0"/>
              <a:t> such as </a:t>
            </a:r>
            <a:r>
              <a:rPr lang="en-US" altLang="zh-TW" dirty="0" smtClean="0">
                <a:solidFill>
                  <a:srgbClr val="0000FF"/>
                </a:solidFill>
              </a:rPr>
              <a:t>LDAP, DNS, </a:t>
            </a:r>
            <a:r>
              <a:rPr lang="en-US" altLang="zh-TW" dirty="0" smtClean="0">
                <a:solidFill>
                  <a:srgbClr val="00B050"/>
                </a:solidFill>
              </a:rPr>
              <a:t>NIS, Active Directory </a:t>
            </a:r>
            <a:r>
              <a:rPr lang="en-US" altLang="zh-TW" dirty="0" smtClean="0"/>
              <a:t>implement unified access to information needed for remote computing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zh-TW" dirty="0" smtClean="0">
                <a:solidFill>
                  <a:srgbClr val="0000FF"/>
                </a:solidFill>
              </a:rPr>
              <a:t>NIS (Network Information Service): Sun Micro introduced 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charset="0"/>
              </a:rPr>
              <a:t>yellow pages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E287CAF-38D5-439D-B302-699FA7C7EC07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C384DD06-2FF0-4EAD-BA1C-1068B4C61805}" type="slidenum">
              <a:rPr kumimoji="0" lang="en-US" altLang="zh-TW" sz="1400" smtClean="0"/>
              <a:pPr eaLnBrk="1" hangingPunct="1"/>
              <a:t>30</a:t>
            </a:fld>
            <a:endParaRPr kumimoji="0" lang="en-US" altLang="zh-TW" sz="1400" smtClean="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-15875"/>
            <a:ext cx="7772400" cy="963613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File Sharing </a:t>
            </a:r>
            <a:r>
              <a:rPr lang="en-US" altLang="zh-TW" smtClean="0">
                <a:latin typeface="Helvetica" pitchFamily="34" charset="0"/>
              </a:rPr>
              <a:t>–</a:t>
            </a:r>
            <a:r>
              <a:rPr lang="en-US" altLang="zh-TW" smtClean="0"/>
              <a:t> Failure Modes</a:t>
            </a:r>
          </a:p>
        </p:txBody>
      </p:sp>
      <p:sp>
        <p:nvSpPr>
          <p:cNvPr id="15565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68313" y="1027113"/>
            <a:ext cx="8207375" cy="4968875"/>
          </a:xfrm>
        </p:spPr>
        <p:txBody>
          <a:bodyPr/>
          <a:lstStyle/>
          <a:p>
            <a:pPr eaLnBrk="1" hangingPunct="1"/>
            <a:r>
              <a:rPr lang="en-US" altLang="zh-TW" smtClean="0"/>
              <a:t>Remote file systems </a:t>
            </a:r>
            <a:r>
              <a:rPr lang="en-US" altLang="zh-TW" smtClean="0">
                <a:solidFill>
                  <a:srgbClr val="FF0000"/>
                </a:solidFill>
              </a:rPr>
              <a:t>add new failure modes</a:t>
            </a:r>
            <a:r>
              <a:rPr lang="en-US" altLang="zh-TW" smtClean="0"/>
              <a:t>, </a:t>
            </a:r>
            <a:r>
              <a:rPr lang="en-US" altLang="zh-TW" smtClean="0">
                <a:solidFill>
                  <a:srgbClr val="0000FF"/>
                </a:solidFill>
              </a:rPr>
              <a:t>due to network failure, server failure</a:t>
            </a:r>
          </a:p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Recovery</a:t>
            </a:r>
            <a:r>
              <a:rPr lang="en-US" altLang="zh-TW" smtClean="0"/>
              <a:t> from failure can involve state information about status of each remote request</a:t>
            </a:r>
          </a:p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Stateless protocols</a:t>
            </a:r>
            <a:r>
              <a:rPr lang="en-US" altLang="zh-TW" smtClean="0"/>
              <a:t> such as NFS include all information in each request, allowing easy recovery but less security</a:t>
            </a:r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4284663" y="3543300"/>
            <a:ext cx="32591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800">
                <a:solidFill>
                  <a:srgbClr val="FF0000"/>
                </a:solidFill>
              </a:rPr>
              <a:t>State info maintained on both </a:t>
            </a:r>
          </a:p>
          <a:p>
            <a:pPr eaLnBrk="1" hangingPunct="1"/>
            <a:r>
              <a:rPr lang="en-US" altLang="zh-TW" sz="1800">
                <a:solidFill>
                  <a:srgbClr val="FF0000"/>
                </a:solidFill>
              </a:rPr>
              <a:t>The client and the server </a:t>
            </a:r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5591175" y="5373688"/>
            <a:ext cx="2627313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1800" dirty="0">
                <a:solidFill>
                  <a:srgbClr val="FF0000"/>
                </a:solidFill>
              </a:rPr>
              <a:t>No </a:t>
            </a:r>
            <a:r>
              <a:rPr lang="en-US" altLang="zh-TW" sz="1800" dirty="0">
                <a:solidFill>
                  <a:srgbClr val="0000FF"/>
                </a:solidFill>
              </a:rPr>
              <a:t>requisite mount</a:t>
            </a:r>
            <a:r>
              <a:rPr lang="en-US" altLang="zh-TW" sz="1800" dirty="0">
                <a:solidFill>
                  <a:srgbClr val="FF0000"/>
                </a:solidFill>
              </a:rPr>
              <a:t> and </a:t>
            </a:r>
          </a:p>
          <a:p>
            <a:pPr eaLnBrk="1" hangingPunct="1"/>
            <a:r>
              <a:rPr lang="en-US" altLang="zh-TW" sz="1800" dirty="0">
                <a:solidFill>
                  <a:srgbClr val="0000FF"/>
                </a:solidFill>
              </a:rPr>
              <a:t>permission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>
                <a:solidFill>
                  <a:srgbClr val="0000FF"/>
                </a:solidFill>
              </a:rPr>
              <a:t>check</a:t>
            </a:r>
            <a:r>
              <a:rPr lang="en-US" altLang="zh-TW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2" grpId="0"/>
      <p:bldP spid="15565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AC5BEFF1-E079-4465-A9D2-7171E26F4878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379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37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244CE8C3-FBF9-4B7E-B357-402FDB58FF4F}" type="slidenum">
              <a:rPr kumimoji="0" lang="en-US" altLang="zh-TW" sz="1400" smtClean="0"/>
              <a:pPr eaLnBrk="1" hangingPunct="1"/>
              <a:t>31</a:t>
            </a:fld>
            <a:endParaRPr kumimoji="0" lang="en-US" altLang="zh-TW" sz="1400" smtClean="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04800"/>
            <a:ext cx="8820150" cy="531813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File Sharing</a:t>
            </a:r>
            <a:r>
              <a:rPr lang="en-US" altLang="zh-TW" sz="4000" smtClean="0">
                <a:latin typeface="Helvetica" pitchFamily="34" charset="0"/>
              </a:rPr>
              <a:t>–</a:t>
            </a:r>
            <a:r>
              <a:rPr lang="en-US" altLang="zh-TW" sz="4000" smtClean="0"/>
              <a:t>Consistency Semantics(1)</a:t>
            </a:r>
          </a:p>
        </p:txBody>
      </p:sp>
      <p:sp>
        <p:nvSpPr>
          <p:cNvPr id="1576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79388" y="908050"/>
            <a:ext cx="8640762" cy="5545138"/>
          </a:xfrm>
        </p:spPr>
        <p:txBody>
          <a:bodyPr/>
          <a:lstStyle/>
          <a:p>
            <a:pPr eaLnBrk="1" hangingPunct="1"/>
            <a:r>
              <a:rPr lang="en-US" altLang="zh-TW" sz="2800" dirty="0" smtClean="0"/>
              <a:t>Specify how multiple users are to access a shared file simultaneously</a:t>
            </a:r>
          </a:p>
          <a:p>
            <a:pPr lvl="1" eaLnBrk="1" hangingPunct="1"/>
            <a:r>
              <a:rPr lang="en-US" altLang="zh-TW" dirty="0" smtClean="0"/>
              <a:t>Similar to </a:t>
            </a:r>
            <a:r>
              <a:rPr lang="en-US" altLang="zh-TW" dirty="0" smtClean="0">
                <a:solidFill>
                  <a:srgbClr val="00B050"/>
                </a:solidFill>
              </a:rPr>
              <a:t>Ch. 5 </a:t>
            </a:r>
            <a:r>
              <a:rPr lang="en-US" altLang="zh-TW" dirty="0" smtClean="0"/>
              <a:t>process synchronization algorithms</a:t>
            </a:r>
            <a:r>
              <a:rPr lang="zh-TW" altLang="en-US" dirty="0" smtClean="0"/>
              <a:t> </a:t>
            </a:r>
            <a:r>
              <a:rPr lang="en-US" altLang="zh-TW" dirty="0"/>
              <a:t>(</a:t>
            </a:r>
            <a:r>
              <a:rPr lang="en-US" altLang="zh-TW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</a:t>
            </a:r>
            <a:r>
              <a:rPr lang="en-US" altLang="zh-TW" dirty="0" smtClean="0"/>
              <a:t>)</a:t>
            </a:r>
          </a:p>
          <a:p>
            <a:pPr lvl="1" eaLnBrk="1" hangingPunct="1"/>
            <a:r>
              <a:rPr lang="en-US" altLang="zh-TW" dirty="0" smtClean="0"/>
              <a:t>Tend to be </a:t>
            </a:r>
            <a:r>
              <a:rPr lang="en-US" altLang="zh-TW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 complex </a:t>
            </a:r>
            <a:r>
              <a:rPr lang="en-US" altLang="zh-TW" dirty="0" smtClean="0"/>
              <a:t>due to disk I/O and network latency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TW" dirty="0" smtClean="0">
                <a:solidFill>
                  <a:srgbClr val="FF0000"/>
                </a:solidFill>
              </a:rPr>
              <a:t>Andrew File System (AFS)</a:t>
            </a:r>
            <a:r>
              <a:rPr lang="en-US" altLang="zh-TW" dirty="0" smtClean="0"/>
              <a:t> implemented </a:t>
            </a:r>
            <a:r>
              <a:rPr lang="en-US" altLang="zh-TW" dirty="0" smtClean="0">
                <a:solidFill>
                  <a:srgbClr val="FF0000"/>
                </a:solidFill>
              </a:rPr>
              <a:t>complex</a:t>
            </a:r>
            <a:r>
              <a:rPr lang="en-US" altLang="zh-TW" dirty="0" smtClean="0"/>
              <a:t> remote file sharing semantics</a:t>
            </a:r>
          </a:p>
          <a:p>
            <a:pPr lvl="2" eaLnBrk="1" hangingPunct="1"/>
            <a:r>
              <a:rPr lang="en-US" altLang="zh-TW" dirty="0" smtClean="0">
                <a:solidFill>
                  <a:srgbClr val="0000FF"/>
                </a:solidFill>
              </a:rPr>
              <a:t>AFS has session semantics: writes only visible to sessions starting after the file is closed</a:t>
            </a: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3707904" y="3212976"/>
            <a:ext cx="43386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 dirty="0">
                <a:solidFill>
                  <a:srgbClr val="0000FF"/>
                </a:solidFill>
              </a:rPr>
              <a:t>use simple version</a:t>
            </a:r>
          </a:p>
          <a:p>
            <a:pPr eaLnBrk="1" hangingPunct="1"/>
            <a:r>
              <a:rPr lang="en-US" altLang="zh-TW" sz="2000" dirty="0">
                <a:solidFill>
                  <a:srgbClr val="0000FF"/>
                </a:solidFill>
              </a:rPr>
              <a:t>e.g. file session: (open(), </a:t>
            </a:r>
            <a:r>
              <a:rPr lang="en-US" altLang="zh-TW" sz="2000" dirty="0">
                <a:solidFill>
                  <a:srgbClr val="0000FF"/>
                </a:solidFill>
                <a:latin typeface="Times New Roman" charset="0"/>
              </a:rPr>
              <a:t>…</a:t>
            </a:r>
            <a:r>
              <a:rPr lang="en-US" altLang="zh-TW" sz="2000" dirty="0">
                <a:solidFill>
                  <a:srgbClr val="0000FF"/>
                </a:solidFill>
              </a:rPr>
              <a:t>, close())</a:t>
            </a: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1403350" y="5589588"/>
            <a:ext cx="6845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Writes to an open file are not visible immediately to others </a:t>
            </a:r>
          </a:p>
          <a:p>
            <a:pPr eaLnBrk="1" hangingPunct="1"/>
            <a:r>
              <a:rPr lang="en-US" altLang="zh-TW" sz="2000">
                <a:solidFill>
                  <a:srgbClr val="FF0000"/>
                </a:solidFill>
              </a:rPr>
              <a:t>that have the same file open.</a:t>
            </a: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5076825" y="5949950"/>
            <a:ext cx="28622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Perform read and write </a:t>
            </a:r>
          </a:p>
          <a:p>
            <a:pPr>
              <a:defRPr/>
            </a:pPr>
            <a:r>
              <a:rPr lang="en-US" altLang="zh-TW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access without delay</a:t>
            </a:r>
            <a:r>
              <a:rPr lang="en-US" altLang="zh-TW"/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6099862" y="4342630"/>
            <a:ext cx="1667957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zh-TW" dirty="0" smtClean="0"/>
              <a:t>CMU, 1983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7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00" grpId="0"/>
      <p:bldP spid="157701" grpId="0"/>
      <p:bldP spid="157702" grpId="0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61883D18-DD32-495B-85E6-FCC466439653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4819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48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6E6DC91-525E-4F8F-BF8E-28B51BC29ADF}" type="slidenum">
              <a:rPr kumimoji="0" lang="en-US" altLang="zh-TW" sz="1400" smtClean="0"/>
              <a:pPr eaLnBrk="1" hangingPunct="1"/>
              <a:t>32</a:t>
            </a:fld>
            <a:endParaRPr kumimoji="0" lang="en-US" altLang="zh-TW" sz="1400" smtClean="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260350"/>
            <a:ext cx="8820150" cy="531813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File Sharing</a:t>
            </a:r>
            <a:r>
              <a:rPr lang="en-US" altLang="zh-TW" sz="4000" smtClean="0">
                <a:latin typeface="Helvetica" pitchFamily="34" charset="0"/>
              </a:rPr>
              <a:t>–</a:t>
            </a:r>
            <a:r>
              <a:rPr lang="en-US" altLang="zh-TW" sz="4000" smtClean="0"/>
              <a:t>Consistency Semantics(2)</a:t>
            </a:r>
          </a:p>
        </p:txBody>
      </p:sp>
      <p:sp>
        <p:nvSpPr>
          <p:cNvPr id="1863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79388" y="1125538"/>
            <a:ext cx="8640762" cy="5327650"/>
          </a:xfrm>
        </p:spPr>
        <p:txBody>
          <a:bodyPr/>
          <a:lstStyle/>
          <a:p>
            <a:pPr lvl="1" eaLnBrk="1" hangingPunct="1"/>
            <a:r>
              <a:rPr lang="en-US" altLang="zh-TW" smtClean="0">
                <a:solidFill>
                  <a:srgbClr val="FF0000"/>
                </a:solidFill>
              </a:rPr>
              <a:t>Unix file system (UFS)</a:t>
            </a:r>
            <a:r>
              <a:rPr lang="en-US" altLang="zh-TW" smtClean="0"/>
              <a:t> implements</a:t>
            </a:r>
          </a:p>
          <a:p>
            <a:pPr lvl="2" eaLnBrk="1" hangingPunct="1"/>
            <a:r>
              <a:rPr lang="en-US" altLang="zh-TW" smtClean="0"/>
              <a:t>Writes to an open file visible immediately to other users of the same open file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TW" smtClean="0"/>
              <a:t>Sharing file pointer to allow multiple users to read and write concurrently</a:t>
            </a:r>
            <a:endParaRPr lang="en-US" altLang="zh-TW" sz="2800" smtClean="0"/>
          </a:p>
        </p:txBody>
      </p:sp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2555875" y="3644900"/>
            <a:ext cx="4430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Perform read and write </a:t>
            </a:r>
          </a:p>
          <a:p>
            <a:pPr>
              <a:defRPr/>
            </a:pPr>
            <a:r>
              <a:rPr lang="en-US" altLang="zh-TW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access with delay</a:t>
            </a:r>
            <a:r>
              <a:rPr lang="en-US" altLang="zh-TW"/>
              <a:t> </a:t>
            </a:r>
            <a:r>
              <a:rPr lang="en-US" altLang="zh-TW"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if contention occurs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04AB7A4-93D2-4115-B1D4-80BF424B63CC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5843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58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4C2DC97C-9A91-4823-B098-3855495EE524}" type="slidenum">
              <a:rPr kumimoji="0" lang="en-US" altLang="zh-TW" sz="1400" smtClean="0"/>
              <a:pPr eaLnBrk="1" hangingPunct="1"/>
              <a:t>33</a:t>
            </a:fld>
            <a:endParaRPr kumimoji="0" lang="en-US" altLang="zh-TW" sz="1400" smtClean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Protection</a:t>
            </a:r>
          </a:p>
        </p:txBody>
      </p:sp>
      <p:sp>
        <p:nvSpPr>
          <p:cNvPr id="3584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229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File owner/creator should be able to control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what can be done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by whom</a:t>
            </a:r>
            <a:br>
              <a:rPr lang="en-US" altLang="zh-TW" sz="2400" smtClean="0"/>
            </a:br>
            <a:endParaRPr lang="en-US" altLang="zh-TW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Types of access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Read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Write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Execute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Append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Delete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B1A7C91-DB42-461D-9BDB-9D61608BCA00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11307870-60DF-424C-A902-47159D4F9637}" type="slidenum">
              <a:rPr kumimoji="0" lang="en-US" altLang="zh-TW" sz="1400" smtClean="0"/>
              <a:pPr eaLnBrk="1" hangingPunct="1"/>
              <a:t>34</a:t>
            </a:fld>
            <a:endParaRPr kumimoji="0" lang="en-US" altLang="zh-TW" sz="1400" smtClean="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/>
          <a:lstStyle/>
          <a:p>
            <a:pPr algn="ctr" eaLnBrk="1" hangingPunct="1"/>
            <a:r>
              <a:rPr lang="en-US" altLang="zh-TW" smtClean="0"/>
              <a:t>Access Lists and Groups</a:t>
            </a:r>
          </a:p>
        </p:txBody>
      </p:sp>
      <p:sp>
        <p:nvSpPr>
          <p:cNvPr id="3687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7974013" cy="5387975"/>
          </a:xfrm>
        </p:spPr>
        <p:txBody>
          <a:bodyPr/>
          <a:lstStyle/>
          <a:p>
            <a:pPr eaLnBrk="1" hangingPunct="1"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/>
              <a:t>Mode of access:  read, write, execute</a:t>
            </a:r>
          </a:p>
          <a:p>
            <a:pPr eaLnBrk="1" hangingPunct="1"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/>
              <a:t>Three classes of users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/>
              <a:t>					RWX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/>
              <a:t>		a) </a:t>
            </a:r>
            <a:r>
              <a:rPr lang="en-US" altLang="zh-TW" sz="2200" b="1" smtClean="0"/>
              <a:t>owner access</a:t>
            </a:r>
            <a:r>
              <a:rPr lang="en-US" altLang="zh-TW" sz="2200" smtClean="0"/>
              <a:t> 	7	</a:t>
            </a:r>
            <a:r>
              <a:rPr lang="en-US" altLang="zh-TW" sz="2200" smtClean="0">
                <a:sym typeface="Symbol" pitchFamily="18" charset="2"/>
              </a:rPr>
              <a:t>	1 1 1</a:t>
            </a:r>
            <a:br>
              <a:rPr lang="en-US" altLang="zh-TW" sz="2200" smtClean="0">
                <a:sym typeface="Symbol" pitchFamily="18" charset="2"/>
              </a:rPr>
            </a:br>
            <a:r>
              <a:rPr lang="en-US" altLang="zh-TW" sz="2200" smtClean="0">
                <a:sym typeface="Symbol" pitchFamily="18" charset="2"/>
              </a:rPr>
              <a:t>				RWX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>
                <a:sym typeface="Symbol" pitchFamily="18" charset="2"/>
              </a:rPr>
              <a:t>		b) </a:t>
            </a:r>
            <a:r>
              <a:rPr lang="en-US" altLang="zh-TW" sz="2200" b="1" smtClean="0">
                <a:sym typeface="Symbol" pitchFamily="18" charset="2"/>
              </a:rPr>
              <a:t>group access</a:t>
            </a:r>
            <a:r>
              <a:rPr lang="en-US" altLang="zh-TW" sz="2200" smtClean="0">
                <a:sym typeface="Symbol" pitchFamily="18" charset="2"/>
              </a:rPr>
              <a:t> 	6	 	1 1 0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>
                <a:sym typeface="Symbol" pitchFamily="18" charset="2"/>
              </a:rPr>
              <a:t>					RWX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>
                <a:sym typeface="Symbol" pitchFamily="18" charset="2"/>
              </a:rPr>
              <a:t>		c) </a:t>
            </a:r>
            <a:r>
              <a:rPr lang="en-US" altLang="zh-TW" sz="2200" b="1" smtClean="0">
                <a:sym typeface="Symbol" pitchFamily="18" charset="2"/>
              </a:rPr>
              <a:t>public access</a:t>
            </a:r>
            <a:r>
              <a:rPr lang="en-US" altLang="zh-TW" sz="2200" smtClean="0">
                <a:sym typeface="Symbol" pitchFamily="18" charset="2"/>
              </a:rPr>
              <a:t>	1	 	0 0 1</a:t>
            </a:r>
          </a:p>
          <a:p>
            <a:pPr eaLnBrk="1" hangingPunct="1"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>
                <a:sym typeface="Symbol" pitchFamily="18" charset="2"/>
              </a:rPr>
              <a:t>Ask manager to create a group (unique name), say G, and add some users to the group</a:t>
            </a:r>
          </a:p>
          <a:p>
            <a:pPr eaLnBrk="1" hangingPunct="1">
              <a:tabLst>
                <a:tab pos="1833563" algn="l"/>
                <a:tab pos="4459288" algn="l"/>
                <a:tab pos="5195888" algn="l"/>
                <a:tab pos="5888038" algn="l"/>
              </a:tabLst>
            </a:pPr>
            <a:r>
              <a:rPr lang="en-US" altLang="zh-TW" sz="2200" smtClean="0">
                <a:sym typeface="Symbol" pitchFamily="18" charset="2"/>
              </a:rPr>
              <a:t>For a particular file (say </a:t>
            </a:r>
            <a:r>
              <a:rPr lang="en-US" altLang="zh-TW" sz="2200" i="1" smtClean="0">
                <a:sym typeface="Symbol" pitchFamily="18" charset="2"/>
              </a:rPr>
              <a:t>game</a:t>
            </a:r>
            <a:r>
              <a:rPr lang="en-US" altLang="zh-TW" sz="2200" smtClean="0">
                <a:sym typeface="Symbol" pitchFamily="18" charset="2"/>
              </a:rPr>
              <a:t>) or subdirectory, define an appropriate access</a:t>
            </a:r>
          </a:p>
        </p:txBody>
      </p:sp>
      <p:grpSp>
        <p:nvGrpSpPr>
          <p:cNvPr id="36871" name="Group 15"/>
          <p:cNvGrpSpPr>
            <a:grpSpLocks/>
          </p:cNvGrpSpPr>
          <p:nvPr/>
        </p:nvGrpSpPr>
        <p:grpSpPr bwMode="auto">
          <a:xfrm>
            <a:off x="5427663" y="4905375"/>
            <a:ext cx="3128962" cy="1301750"/>
            <a:chOff x="2237" y="3120"/>
            <a:chExt cx="1078" cy="411"/>
          </a:xfrm>
        </p:grpSpPr>
        <p:sp>
          <p:nvSpPr>
            <p:cNvPr id="36873" name="Text Box 4"/>
            <p:cNvSpPr txBox="1">
              <a:spLocks noChangeArrowheads="1"/>
            </p:cNvSpPr>
            <p:nvPr/>
          </p:nvSpPr>
          <p:spPr bwMode="auto">
            <a:xfrm>
              <a:off x="2237" y="3120"/>
              <a:ext cx="205" cy="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altLang="zh-TW" sz="1200">
                  <a:latin typeface="Helvetica" pitchFamily="34" charset="0"/>
                </a:rPr>
                <a:t>owner</a:t>
              </a:r>
            </a:p>
          </p:txBody>
        </p:sp>
        <p:sp>
          <p:nvSpPr>
            <p:cNvPr id="36874" name="Text Box 5"/>
            <p:cNvSpPr txBox="1">
              <a:spLocks noChangeArrowheads="1"/>
            </p:cNvSpPr>
            <p:nvPr/>
          </p:nvSpPr>
          <p:spPr bwMode="auto">
            <a:xfrm>
              <a:off x="2646" y="3120"/>
              <a:ext cx="197" cy="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altLang="zh-TW" sz="1200">
                  <a:latin typeface="Helvetica" pitchFamily="34" charset="0"/>
                </a:rPr>
                <a:t>group</a:t>
              </a:r>
            </a:p>
          </p:txBody>
        </p:sp>
        <p:sp>
          <p:nvSpPr>
            <p:cNvPr id="36875" name="Text Box 6"/>
            <p:cNvSpPr txBox="1">
              <a:spLocks noChangeArrowheads="1"/>
            </p:cNvSpPr>
            <p:nvPr/>
          </p:nvSpPr>
          <p:spPr bwMode="auto">
            <a:xfrm>
              <a:off x="3116" y="3120"/>
              <a:ext cx="199" cy="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charset="-12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en-US" altLang="zh-TW" sz="1200">
                  <a:latin typeface="Helvetica" pitchFamily="34" charset="0"/>
                </a:rPr>
                <a:t>public</a:t>
              </a:r>
            </a:p>
          </p:txBody>
        </p:sp>
        <p:grpSp>
          <p:nvGrpSpPr>
            <p:cNvPr id="36876" name="Group 14"/>
            <p:cNvGrpSpPr>
              <a:grpSpLocks/>
            </p:cNvGrpSpPr>
            <p:nvPr/>
          </p:nvGrpSpPr>
          <p:grpSpPr bwMode="auto">
            <a:xfrm>
              <a:off x="2279" y="3191"/>
              <a:ext cx="930" cy="340"/>
              <a:chOff x="2279" y="3191"/>
              <a:chExt cx="930" cy="340"/>
            </a:xfrm>
          </p:grpSpPr>
          <p:sp>
            <p:nvSpPr>
              <p:cNvPr id="36877" name="Text Box 7"/>
              <p:cNvSpPr txBox="1">
                <a:spLocks noChangeArrowheads="1"/>
              </p:cNvSpPr>
              <p:nvPr/>
            </p:nvSpPr>
            <p:spPr bwMode="auto">
              <a:xfrm>
                <a:off x="2279" y="3444"/>
                <a:ext cx="221" cy="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zh-TW" sz="1200">
                    <a:latin typeface="Helvetica" pitchFamily="34" charset="0"/>
                  </a:rPr>
                  <a:t>chmod</a:t>
                </a:r>
              </a:p>
            </p:txBody>
          </p:sp>
          <p:sp>
            <p:nvSpPr>
              <p:cNvPr id="36878" name="Text Box 8"/>
              <p:cNvSpPr txBox="1">
                <a:spLocks noChangeArrowheads="1"/>
              </p:cNvSpPr>
              <p:nvPr/>
            </p:nvSpPr>
            <p:spPr bwMode="auto">
              <a:xfrm>
                <a:off x="2650" y="3444"/>
                <a:ext cx="150" cy="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zh-TW" sz="1200">
                    <a:latin typeface="Helvetica" pitchFamily="34" charset="0"/>
                  </a:rPr>
                  <a:t>761</a:t>
                </a:r>
              </a:p>
            </p:txBody>
          </p:sp>
          <p:sp>
            <p:nvSpPr>
              <p:cNvPr id="36879" name="Text Box 9"/>
              <p:cNvSpPr txBox="1">
                <a:spLocks noChangeArrowheads="1"/>
              </p:cNvSpPr>
              <p:nvPr/>
            </p:nvSpPr>
            <p:spPr bwMode="auto">
              <a:xfrm>
                <a:off x="2972" y="3444"/>
                <a:ext cx="195" cy="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charset="-120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0" lang="en-US" altLang="zh-TW" sz="1200">
                    <a:latin typeface="Helvetica" pitchFamily="34" charset="0"/>
                  </a:rPr>
                  <a:t>game</a:t>
                </a:r>
              </a:p>
            </p:txBody>
          </p:sp>
          <p:sp>
            <p:nvSpPr>
              <p:cNvPr id="36880" name="Line 10"/>
              <p:cNvSpPr>
                <a:spLocks noChangeShapeType="1"/>
              </p:cNvSpPr>
              <p:nvPr/>
            </p:nvSpPr>
            <p:spPr bwMode="auto">
              <a:xfrm>
                <a:off x="2354" y="3191"/>
                <a:ext cx="291" cy="2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36881" name="Line 11"/>
              <p:cNvSpPr>
                <a:spLocks noChangeShapeType="1"/>
              </p:cNvSpPr>
              <p:nvPr/>
            </p:nvSpPr>
            <p:spPr bwMode="auto">
              <a:xfrm>
                <a:off x="2736" y="3218"/>
                <a:ext cx="0" cy="1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36882" name="Line 12"/>
              <p:cNvSpPr>
                <a:spLocks noChangeShapeType="1"/>
              </p:cNvSpPr>
              <p:nvPr/>
            </p:nvSpPr>
            <p:spPr bwMode="auto">
              <a:xfrm flipH="1">
                <a:off x="2831" y="3200"/>
                <a:ext cx="378" cy="2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36872" name="Rectangle 13"/>
          <p:cNvSpPr>
            <a:spLocks noChangeArrowheads="1"/>
          </p:cNvSpPr>
          <p:nvPr/>
        </p:nvSpPr>
        <p:spPr bwMode="auto">
          <a:xfrm>
            <a:off x="838200" y="5791200"/>
            <a:ext cx="7029450" cy="808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33563" algn="l"/>
                <a:tab pos="4459288" algn="l"/>
                <a:tab pos="5195888" algn="l"/>
                <a:tab pos="5888038" algn="l"/>
              </a:tabLs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>
              <a:spcBef>
                <a:spcPct val="20000"/>
              </a:spcBef>
              <a:buClr>
                <a:schemeClr val="folHlink"/>
              </a:buClr>
              <a:buFont typeface="Monotype Sorts" pitchFamily="2" charset="2"/>
              <a:buNone/>
            </a:pPr>
            <a:endParaRPr lang="zh-TW" altLang="zh-TW" sz="2000">
              <a:latin typeface="Times New Roman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E2C5E7FD-D1A8-4DE3-9D34-285219230D1E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7891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78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3F80BC13-6E87-4557-9C4B-BC1922E08D91}" type="slidenum">
              <a:rPr kumimoji="0" lang="en-US" altLang="zh-TW" sz="1400" smtClean="0"/>
              <a:pPr eaLnBrk="1" hangingPunct="1"/>
              <a:t>35</a:t>
            </a:fld>
            <a:endParaRPr kumimoji="0" lang="en-US" altLang="zh-TW" sz="1400" smtClean="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8281988" cy="609600"/>
          </a:xfrm>
        </p:spPr>
        <p:txBody>
          <a:bodyPr/>
          <a:lstStyle/>
          <a:p>
            <a:pPr algn="ctr" eaLnBrk="1" hangingPunct="1"/>
            <a:r>
              <a:rPr lang="en-US" altLang="zh-TW" sz="3200" smtClean="0"/>
              <a:t>Windows XP Access-control List Management</a:t>
            </a:r>
          </a:p>
        </p:txBody>
      </p:sp>
      <p:pic>
        <p:nvPicPr>
          <p:cNvPr id="37894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05" t="1199" r="22041" b="1831"/>
          <a:stretch>
            <a:fillRect/>
          </a:stretch>
        </p:blipFill>
        <p:spPr>
          <a:xfrm>
            <a:off x="1042988" y="1196975"/>
            <a:ext cx="7129462" cy="5222875"/>
          </a:xfr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FAAFCDD3-B04F-4EC0-9587-E10CC377C9BA}" type="datetime1">
              <a:rPr kumimoji="0" lang="zh-TW" altLang="en-US" sz="1400" smtClean="0"/>
              <a:t>2018/5/21</a:t>
            </a:fld>
            <a:endParaRPr kumimoji="0" lang="en-US" altLang="zh-TW" sz="1400"/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os11-2018</a:t>
            </a:r>
            <a:endParaRPr kumimoji="0" lang="en-US" altLang="zh-TW" sz="1400"/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charset="-120"/>
              </a:defRPr>
            </a:lvl9pPr>
          </a:lstStyle>
          <a:p>
            <a:pPr eaLnBrk="1" hangingPunct="1"/>
            <a:fld id="{70AC9D2A-1531-43C3-8F69-30D6D3AD4971}" type="slidenum">
              <a:rPr kumimoji="0" lang="en-US" altLang="zh-TW" sz="1400" smtClean="0"/>
              <a:pPr eaLnBrk="1" hangingPunct="1"/>
              <a:t>36</a:t>
            </a:fld>
            <a:endParaRPr kumimoji="0" lang="en-US" altLang="zh-TW" sz="1400" smtClean="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92175"/>
          </a:xfrm>
        </p:spPr>
        <p:txBody>
          <a:bodyPr/>
          <a:lstStyle/>
          <a:p>
            <a:pPr algn="ctr" eaLnBrk="1" hangingPunct="1"/>
            <a:r>
              <a:rPr lang="en-US" altLang="zh-TW" sz="4000" smtClean="0"/>
              <a:t>A Sample UNIX Directory Listing</a:t>
            </a:r>
          </a:p>
        </p:txBody>
      </p:sp>
      <p:pic>
        <p:nvPicPr>
          <p:cNvPr id="38918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" t="27065" r="722" b="27065"/>
          <a:stretch>
            <a:fillRect/>
          </a:stretch>
        </p:blipFill>
        <p:spPr>
          <a:xfrm>
            <a:off x="511175" y="1647825"/>
            <a:ext cx="8140700" cy="3716338"/>
          </a:xfr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930</TotalTime>
  <Words>1546</Words>
  <Application>Microsoft Office PowerPoint</Application>
  <PresentationFormat>如螢幕大小 (4:3)</PresentationFormat>
  <Paragraphs>410</Paragraphs>
  <Slides>36</Slides>
  <Notes>36</Notes>
  <HiddenSlides>1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4" baseType="lpstr">
      <vt:lpstr>Monotype Sorts</vt:lpstr>
      <vt:lpstr>新細明體</vt:lpstr>
      <vt:lpstr>Helvetica</vt:lpstr>
      <vt:lpstr>Symbol</vt:lpstr>
      <vt:lpstr>Tahoma</vt:lpstr>
      <vt:lpstr>Times New Roman</vt:lpstr>
      <vt:lpstr>Wingdings</vt:lpstr>
      <vt:lpstr>Blueprint</vt:lpstr>
      <vt:lpstr>Chapter 11  File-System Interface</vt:lpstr>
      <vt:lpstr>Outline</vt:lpstr>
      <vt:lpstr>File Structure</vt:lpstr>
      <vt:lpstr>File Attributes</vt:lpstr>
      <vt:lpstr>File Types – Name, Extension</vt:lpstr>
      <vt:lpstr>File Operations</vt:lpstr>
      <vt:lpstr>Open Files</vt:lpstr>
      <vt:lpstr>In-Memory File System Structures</vt:lpstr>
      <vt:lpstr>Open File Locking</vt:lpstr>
      <vt:lpstr>OS and Disk I/O</vt:lpstr>
      <vt:lpstr>Access Methods</vt:lpstr>
      <vt:lpstr>Sequential-access File</vt:lpstr>
      <vt:lpstr>Directory Structure (1)</vt:lpstr>
      <vt:lpstr>Directory Structure (2)</vt:lpstr>
      <vt:lpstr>Directory Structure (3)</vt:lpstr>
      <vt:lpstr>Operations Performed on Directory</vt:lpstr>
      <vt:lpstr>Organize the Directory (Logically)</vt:lpstr>
      <vt:lpstr>Single-Level Directory</vt:lpstr>
      <vt:lpstr>Two-Level Directory</vt:lpstr>
      <vt:lpstr>PowerPoint 簡報</vt:lpstr>
      <vt:lpstr>PowerPoint 簡報</vt:lpstr>
      <vt:lpstr>Acyclic-Graph Directory (2)</vt:lpstr>
      <vt:lpstr>PowerPoint 簡報</vt:lpstr>
      <vt:lpstr>PowerPoint 簡報</vt:lpstr>
      <vt:lpstr>File System Mounting</vt:lpstr>
      <vt:lpstr>File Sharing and Naming</vt:lpstr>
      <vt:lpstr>File Sharing – Remote File Systems</vt:lpstr>
      <vt:lpstr>File Sharing – Client-server model </vt:lpstr>
      <vt:lpstr>File Sharing Distributed Information Systems </vt:lpstr>
      <vt:lpstr>File Sharing – Failure Modes</vt:lpstr>
      <vt:lpstr>File Sharing–Consistency Semantics(1)</vt:lpstr>
      <vt:lpstr>File Sharing–Consistency Semantics(2)</vt:lpstr>
      <vt:lpstr>Protection</vt:lpstr>
      <vt:lpstr>Access Lists and Groups</vt:lpstr>
      <vt:lpstr>Windows XP Access-control List Management</vt:lpstr>
      <vt:lpstr>A Sample UNIX Directory Listing</vt:lpstr>
    </vt:vector>
  </TitlesOfParts>
  <Company>nthu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 File-Systems</dc:title>
  <dc:creator>Jia-Shung WANG</dc:creator>
  <cp:lastModifiedBy>JS</cp:lastModifiedBy>
  <cp:revision>106</cp:revision>
  <cp:lastPrinted>2018-05-21T01:44:25Z</cp:lastPrinted>
  <dcterms:created xsi:type="dcterms:W3CDTF">2000-12-22T01:45:03Z</dcterms:created>
  <dcterms:modified xsi:type="dcterms:W3CDTF">2018-05-21T01:44:30Z</dcterms:modified>
</cp:coreProperties>
</file>