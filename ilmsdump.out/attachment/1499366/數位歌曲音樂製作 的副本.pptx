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Shape 56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" name="Shape 65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://resolume.com/?gclid=Cj0KEQiAsdCnBRC86PeFkuDJt_MBEiQAUXJfLfcQX1UJOsYbzeLJOIZQi2qXxQ_eaSvOBdTW5qnfifYaAhqo8P8HAQ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rmPHuvQoh0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ojim.com/twznew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ctrTitle"/>
          </p:nvPr>
        </p:nvSpPr>
        <p:spPr>
          <a:xfrm>
            <a:off x="685800" y="64086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數位歌曲音樂製作</a:t>
            </a:r>
            <a:endParaRPr/>
          </a:p>
        </p:txBody>
      </p:sp>
      <p:sp>
        <p:nvSpPr>
          <p:cNvPr id="80" name="Shape 80"/>
          <p:cNvSpPr txBox="1"/>
          <p:nvPr>
            <p:ph idx="1" type="subTitle"/>
          </p:nvPr>
        </p:nvSpPr>
        <p:spPr>
          <a:xfrm>
            <a:off x="3299700" y="251760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謝宗翰助理教授</a:t>
            </a:r>
            <a:endParaRPr sz="2400"/>
          </a:p>
        </p:txBody>
      </p:sp>
      <p:pic>
        <p:nvPicPr>
          <p:cNvPr id="81" name="Shape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300" y="3302400"/>
            <a:ext cx="4404025" cy="18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Shape 82">
            <a:hlinkClick r:id="rId4"/>
          </p:cNvPr>
          <p:cNvPicPr preferRelativeResize="0"/>
          <p:nvPr/>
        </p:nvPicPr>
        <p:blipFill rotWithShape="1">
          <a:blip r:embed="rId5">
            <a:alphaModFix amt="67000"/>
          </a:blip>
          <a:srcRect b="3550" l="4740" r="-4740" t="-3550"/>
          <a:stretch/>
        </p:blipFill>
        <p:spPr>
          <a:xfrm>
            <a:off x="0" y="3302400"/>
            <a:ext cx="2287425" cy="17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Shape 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0075" y="3302400"/>
            <a:ext cx="2411650" cy="20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曲式架構</a:t>
            </a:r>
            <a:endParaRPr/>
          </a:p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457200" y="119310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前奏　　</a:t>
            </a:r>
            <a:r>
              <a:rPr lang="zh-TW">
                <a:solidFill>
                  <a:srgbClr val="FF0000"/>
                </a:solidFill>
              </a:rPr>
              <a:t>主歌</a:t>
            </a:r>
            <a:r>
              <a:rPr lang="zh-TW"/>
              <a:t>　　</a:t>
            </a:r>
            <a:r>
              <a:rPr lang="zh-TW">
                <a:solidFill>
                  <a:srgbClr val="00FF00"/>
                </a:solidFill>
              </a:rPr>
              <a:t>副歌</a:t>
            </a:r>
            <a:r>
              <a:rPr lang="zh-TW"/>
              <a:t>　　</a:t>
            </a:r>
            <a:r>
              <a:rPr lang="zh-TW">
                <a:solidFill>
                  <a:srgbClr val="FF9900"/>
                </a:solidFill>
              </a:rPr>
              <a:t>間奏</a:t>
            </a:r>
            <a:r>
              <a:rPr lang="zh-TW"/>
              <a:t>　　</a:t>
            </a:r>
            <a:r>
              <a:rPr lang="zh-TW">
                <a:solidFill>
                  <a:srgbClr val="FF0000"/>
                </a:solidFill>
              </a:rPr>
              <a:t>主歌</a:t>
            </a:r>
            <a:endParaRPr>
              <a:solidFill>
                <a:srgbClr val="FF0000"/>
              </a:solidFill>
            </a:endParaRPr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FF00"/>
                </a:solidFill>
              </a:rPr>
              <a:t>副歌</a:t>
            </a:r>
            <a:r>
              <a:rPr lang="zh-TW"/>
              <a:t>　　</a:t>
            </a:r>
            <a:r>
              <a:rPr lang="zh-TW">
                <a:solidFill>
                  <a:srgbClr val="FF9900"/>
                </a:solidFill>
              </a:rPr>
              <a:t>間奏</a:t>
            </a:r>
            <a:r>
              <a:rPr lang="zh-TW"/>
              <a:t>　　</a:t>
            </a:r>
            <a:r>
              <a:rPr lang="zh-TW">
                <a:solidFill>
                  <a:srgbClr val="00FF00"/>
                </a:solidFill>
              </a:rPr>
              <a:t>副歌</a:t>
            </a:r>
            <a:r>
              <a:rPr lang="zh-TW"/>
              <a:t>　　尾奏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流行音樂常見萬用曲式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100" u="sng">
                <a:solidFill>
                  <a:schemeClr val="hlink"/>
                </a:solidFill>
                <a:hlinkClick r:id="rId3"/>
              </a:rPr>
              <a:t>沒那麼簡單</a:t>
            </a:r>
            <a:endParaRPr sz="1100"/>
          </a:p>
        </p:txBody>
      </p:sp>
      <p:sp>
        <p:nvSpPr>
          <p:cNvPr id="90" name="Shape 90"/>
          <p:cNvSpPr/>
          <p:nvPr/>
        </p:nvSpPr>
        <p:spPr>
          <a:xfrm>
            <a:off x="2912500" y="1454850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Shape 91"/>
          <p:cNvSpPr/>
          <p:nvPr/>
        </p:nvSpPr>
        <p:spPr>
          <a:xfrm>
            <a:off x="1384275" y="1454850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Shape 92"/>
          <p:cNvSpPr/>
          <p:nvPr/>
        </p:nvSpPr>
        <p:spPr>
          <a:xfrm>
            <a:off x="1384275" y="1993875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Shape 93"/>
          <p:cNvSpPr/>
          <p:nvPr/>
        </p:nvSpPr>
        <p:spPr>
          <a:xfrm>
            <a:off x="5913950" y="1454850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Shape 94"/>
          <p:cNvSpPr/>
          <p:nvPr/>
        </p:nvSpPr>
        <p:spPr>
          <a:xfrm>
            <a:off x="4351875" y="1454850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Shape 95"/>
          <p:cNvSpPr/>
          <p:nvPr/>
        </p:nvSpPr>
        <p:spPr>
          <a:xfrm>
            <a:off x="4389925" y="1993875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/>
          <p:nvPr/>
        </p:nvSpPr>
        <p:spPr>
          <a:xfrm>
            <a:off x="2912500" y="1993875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600"/>
              <a:t>歌詞技巧</a:t>
            </a:r>
            <a:endParaRPr/>
          </a:p>
        </p:txBody>
      </p:sp>
      <p:sp>
        <p:nvSpPr>
          <p:cNvPr id="102" name="Shape 102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填詞SOP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type="title"/>
          </p:nvPr>
        </p:nvSpPr>
        <p:spPr>
          <a:xfrm>
            <a:off x="527775" y="170703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主題設定</a:t>
            </a:r>
            <a:endParaRPr/>
          </a:p>
        </p:txBody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1.</a:t>
            </a:r>
            <a:r>
              <a:rPr lang="zh-TW"/>
              <a:t>正面或負面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2.敘述故事與抽象(寫實或是抽象暗喻)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3.時間(四季、白天、夜晚等)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4.地點(車站、街道、風景等)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5.感知(酸、甜、苦、辣、開心、悲傷)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設定主題</a:t>
            </a:r>
            <a:endParaRPr/>
          </a:p>
        </p:txBody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曾經經驗、或是聽過、看過的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正面、抽象、夏天、海邊、熱、開心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=夏天在海邊玩水的畫面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從副歌開始創作</a:t>
            </a:r>
            <a:endParaRPr/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1788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文章與歌詞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　　歌詞限制較多，</a:t>
            </a:r>
            <a:r>
              <a:rPr lang="zh-TW">
                <a:solidFill>
                  <a:srgbClr val="FF0000"/>
                </a:solidFill>
              </a:rPr>
              <a:t>簡單好記</a:t>
            </a:r>
            <a:r>
              <a:rPr lang="zh-TW"/>
              <a:t>為訴求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副歌　　</a:t>
            </a:r>
            <a:r>
              <a:rPr lang="zh-TW"/>
              <a:t>主歌</a:t>
            </a:r>
            <a:r>
              <a:rPr lang="zh-TW">
                <a:solidFill>
                  <a:schemeClr val="dk1"/>
                </a:solidFill>
              </a:rPr>
              <a:t>　　橋段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1405575" y="3574025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Shape 122"/>
          <p:cNvSpPr/>
          <p:nvPr/>
        </p:nvSpPr>
        <p:spPr>
          <a:xfrm>
            <a:off x="2917025" y="3574025"/>
            <a:ext cx="677400" cy="33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手法－</a:t>
            </a:r>
            <a:r>
              <a:rPr b="0" lang="zh-TW" sz="3000"/>
              <a:t>重複再重複</a:t>
            </a:r>
            <a:endParaRPr/>
          </a:p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520725" y="112250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愛愛愛愛愛　這是一場遊戲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愛愛愛愛愛　開始就不能中離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手法－</a:t>
            </a:r>
            <a:r>
              <a:rPr b="0" lang="zh-TW" sz="3000"/>
              <a:t>對稱的寫法</a:t>
            </a:r>
            <a:endParaRPr/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風塵四起奔馳在無盡荒地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攻城略地拓展的地圖足跡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副歌第一句是關鍵</a:t>
            </a:r>
            <a:endParaRPr/>
          </a:p>
        </p:txBody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整首歌曲靈魂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＊What a crazy party world  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 　</a:t>
            </a:r>
            <a:r>
              <a:rPr lang="zh-TW" sz="1400"/>
              <a:t>開心、快歌，後續可能會是描述狂歡的過程</a:t>
            </a:r>
            <a:endParaRPr sz="1400"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＊好想見到你　好想抱著你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/>
              <a:t>　　</a:t>
            </a:r>
            <a:r>
              <a:rPr lang="zh-TW" sz="1400"/>
              <a:t>抒情歌機率很高，後續歌詞可能是個人心境、愛意為主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手法－</a:t>
            </a:r>
            <a:r>
              <a:rPr b="0" lang="zh-TW" sz="3000"/>
              <a:t>敘述</a:t>
            </a:r>
            <a:endParaRPr/>
          </a:p>
        </p:txBody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說不出的記憶，像是老鷹任意翱翔的翅膀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學會遺忘過去，就能夠自由自在地飛翔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因為見不到過去，開始對我說而漸漸感到了失望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即使有對翅膀也避不了人類的射傷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歌詞與旋律從頭連貫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主歌尋找契機</a:t>
            </a:r>
            <a:endParaRPr/>
          </a:p>
        </p:txBody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372525" y="1193075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主歌（因）　　副歌（果）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善用聯想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天氣與情緒（晴天　出遊）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時間與情緒（白天正向　晚上寂寞</a:t>
            </a:r>
            <a:r>
              <a:rPr lang="zh-TW">
                <a:solidFill>
                  <a:schemeClr val="dk1"/>
                </a:solidFill>
              </a:rPr>
              <a:t>）</a:t>
            </a:r>
            <a:endParaRPr>
              <a:solidFill>
                <a:schemeClr val="dk1"/>
              </a:solidFill>
            </a:endParaRPr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溫度與情感（熱　活力　冷　無力悲傷）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上網找尋你想參考的歌詞</a:t>
            </a:r>
            <a:endParaRPr/>
          </a:p>
        </p:txBody>
      </p:sp>
      <p:sp>
        <p:nvSpPr>
          <p:cNvPr id="158" name="Shape 158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魔鏡歌詞網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https://mojim.com/twznew.htm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