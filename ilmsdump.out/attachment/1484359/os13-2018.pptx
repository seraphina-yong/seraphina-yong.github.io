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</p:sldMasterIdLst>
  <p:notesMasterIdLst>
    <p:notesMasterId r:id="rId41"/>
  </p:notesMasterIdLst>
  <p:sldIdLst>
    <p:sldId id="307" r:id="rId2"/>
    <p:sldId id="268" r:id="rId3"/>
    <p:sldId id="269" r:id="rId4"/>
    <p:sldId id="298" r:id="rId5"/>
    <p:sldId id="299" r:id="rId6"/>
    <p:sldId id="270" r:id="rId7"/>
    <p:sldId id="271" r:id="rId8"/>
    <p:sldId id="272" r:id="rId9"/>
    <p:sldId id="300" r:id="rId10"/>
    <p:sldId id="273" r:id="rId11"/>
    <p:sldId id="274" r:id="rId12"/>
    <p:sldId id="275" r:id="rId13"/>
    <p:sldId id="301" r:id="rId14"/>
    <p:sldId id="302" r:id="rId15"/>
    <p:sldId id="276" r:id="rId16"/>
    <p:sldId id="277" r:id="rId17"/>
    <p:sldId id="278" r:id="rId18"/>
    <p:sldId id="279" r:id="rId19"/>
    <p:sldId id="309" r:id="rId20"/>
    <p:sldId id="280" r:id="rId21"/>
    <p:sldId id="281" r:id="rId22"/>
    <p:sldId id="282" r:id="rId23"/>
    <p:sldId id="283" r:id="rId24"/>
    <p:sldId id="304" r:id="rId25"/>
    <p:sldId id="312" r:id="rId26"/>
    <p:sldId id="310" r:id="rId27"/>
    <p:sldId id="311" r:id="rId28"/>
    <p:sldId id="284" r:id="rId29"/>
    <p:sldId id="313" r:id="rId30"/>
    <p:sldId id="285" r:id="rId31"/>
    <p:sldId id="305" r:id="rId32"/>
    <p:sldId id="306" r:id="rId33"/>
    <p:sldId id="286" r:id="rId34"/>
    <p:sldId id="287" r:id="rId35"/>
    <p:sldId id="288" r:id="rId36"/>
    <p:sldId id="297" r:id="rId37"/>
    <p:sldId id="314" r:id="rId38"/>
    <p:sldId id="315" r:id="rId39"/>
    <p:sldId id="316" r:id="rId40"/>
  </p:sldIdLst>
  <p:sldSz cx="9144000" cy="6858000" type="screen4x3"/>
  <p:notesSz cx="6807200" cy="99393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0000FF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0" autoAdjust="0"/>
    <p:restoredTop sz="94758" autoAdjust="0"/>
  </p:normalViewPr>
  <p:slideViewPr>
    <p:cSldViewPr snapToGrid="0">
      <p:cViewPr varScale="1">
        <p:scale>
          <a:sx n="63" d="100"/>
          <a:sy n="63" d="100"/>
        </p:scale>
        <p:origin x="97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68"/>
    </p:cViewPr>
  </p:sorterViewPr>
  <p:notesViewPr>
    <p:cSldViewPr snapToGrid="0">
      <p:cViewPr varScale="1">
        <p:scale>
          <a:sx n="67" d="100"/>
          <a:sy n="67" d="100"/>
        </p:scale>
        <p:origin x="-1589" y="-72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8939" cy="497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448" tIns="48223" rIns="96448" bIns="48223" numCol="1" anchor="ctr" anchorCtr="0" compatLnSpc="1">
            <a:prstTxWarp prst="textNoShape">
              <a:avLst/>
            </a:prstTxWarp>
          </a:bodyPr>
          <a:lstStyle>
            <a:lvl1pPr defTabSz="964522" eaLnBrk="0" hangingPunct="0">
              <a:defRPr kumimoji="0" sz="1300">
                <a:latin typeface="Helvetica" pitchFamily="34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8262" y="0"/>
            <a:ext cx="2948938" cy="497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448" tIns="48223" rIns="96448" bIns="48223" numCol="1" anchor="ctr" anchorCtr="0" compatLnSpc="1">
            <a:prstTxWarp prst="textNoShape">
              <a:avLst/>
            </a:prstTxWarp>
          </a:bodyPr>
          <a:lstStyle>
            <a:lvl1pPr algn="r" defTabSz="964522" eaLnBrk="0" hangingPunct="0">
              <a:defRPr kumimoji="0" sz="1300">
                <a:latin typeface="Helvetica" pitchFamily="34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8875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7733" y="4721743"/>
            <a:ext cx="4991735" cy="447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448" tIns="48223" rIns="96448" bIns="4822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Click to edit Master text styles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1895"/>
            <a:ext cx="2948939" cy="497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448" tIns="48223" rIns="96448" bIns="48223" numCol="1" anchor="b" anchorCtr="0" compatLnSpc="1">
            <a:prstTxWarp prst="textNoShape">
              <a:avLst/>
            </a:prstTxWarp>
          </a:bodyPr>
          <a:lstStyle>
            <a:lvl1pPr defTabSz="964522" eaLnBrk="0" hangingPunct="0">
              <a:defRPr kumimoji="0" sz="1300">
                <a:latin typeface="Helvetica" pitchFamily="34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8262" y="9441895"/>
            <a:ext cx="2948938" cy="497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448" tIns="48223" rIns="96448" bIns="48223" numCol="1" anchor="b" anchorCtr="0" compatLnSpc="1">
            <a:prstTxWarp prst="textNoShape">
              <a:avLst/>
            </a:prstTxWarp>
          </a:bodyPr>
          <a:lstStyle>
            <a:lvl1pPr algn="r" defTabSz="963179" eaLnBrk="0" hangingPunct="0">
              <a:defRPr kumimoji="0" sz="1300">
                <a:latin typeface="Helvetica" panose="020B0604020202020204" pitchFamily="34" charset="0"/>
              </a:defRPr>
            </a:lvl1pPr>
          </a:lstStyle>
          <a:p>
            <a:fld id="{758EF944-CE53-409E-96D3-4803ECC8935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71230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B68EC7B-1A57-4235-B73A-9B7FB90D9F12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033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01F0E2-3336-48CF-BCBD-512D48C1FD95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048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91B3C56-AF65-4611-9FD5-3B309D531362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035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2E49F40-C3D9-4C3F-8E72-B5D8D54C3C58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333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F470E4A-6EB9-49C2-9B37-59C36FB7C3E9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44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EF1E754-7EBA-49AC-85E7-0F65ACD0F922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102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25FBF05-C07B-46F1-B454-DEC8EC742953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835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5307605-A2D0-49C6-823E-8D987B76270B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389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D675AC9-2A68-4E49-B192-DD02D6D85C1A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804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779DF1E-3F02-4935-84D5-D7CAEDAD290F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46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743F791-9A2C-4C0D-A274-EF9217573D88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2430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C8F7547-1B5D-4534-8740-5164132AEDE1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996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4B5D469-C528-48C7-979D-A9756FDA6D37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421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712025F-47FF-4041-BD1B-BC26B07C3900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3279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5011374-74CA-4CB1-9710-BD2BD9A5D896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928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9231ADF-3071-484C-A9E4-27F9C5E2CF03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3243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F62066A-913B-4395-8A82-ABCB881F19A0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1953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6ED5D93-263A-49E8-A3EF-108DBC2332F8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7059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9380FC9-7C27-4657-8CE3-148C457DB7B4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5120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91AD7B1-8035-41A9-97ED-B92EF4AB1BFE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5004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B871C5C-A73D-4392-847D-CF2375277EDF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5903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2CA580C-D96C-4F36-8381-6037346AFC37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5450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F455118-8A75-40F2-B0E9-E36A4CB82BF8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6594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675C02C-DBA1-4412-8EE9-72958D095046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24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3724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6674C5B-AF1F-4344-8E57-AAEC8B0E1976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2339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DD6BC6D-A04A-4DE5-ACA5-80FA91E9B389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26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7059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070102-3BC3-49A1-8F2F-5DA95FF38EC3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27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3255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3F26F5F-96B5-4947-A778-313A5CC62632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28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9641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21E1B9F-E6D5-4B96-8AF3-0713090B139E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29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9165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5DAD5FE-4794-4772-AF0A-25383ACC1B6B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30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2346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C29CAD3-16CA-4E2F-85B5-898E0FBE03E7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31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1366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FE6EE38-60B9-45CF-9A22-638F2227C8AB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32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0954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F5FF635-D973-48F1-99BE-342A9502EF76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33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3666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DB2A02A-A21E-4876-8802-3D13CAC1A27E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34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3616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C6BB27C-CC11-448F-A79C-01CFE3726729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35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8168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7022D81-6499-4C96-8986-486989B59114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36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8811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B68EC7B-1A57-4235-B73A-9B7FB90D9F12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37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4562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B68EC7B-1A57-4235-B73A-9B7FB90D9F12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38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8285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3842" indent="-286093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4372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2120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9869" indent="-228874" defTabSz="963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7618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5366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115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0863" indent="-228874" defTabSz="96317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B68EC7B-1A57-4235-B73A-9B7FB90D9F12}" type="slidenum">
              <a:rPr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39</a:t>
            </a:fld>
            <a:endParaRPr lang="en-US" altLang="zh-TW" sz="1300">
              <a:latin typeface="Helvetica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815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98371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9837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9674FC-95A3-4B11-82BE-45242EA3308E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os13-2018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82F60E-C355-4166-AAE1-36289DD610E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77347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B834D-806A-4E0D-8040-FC6063D4D939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os13-2018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7CCFF7-066D-4E85-A1C7-FE17266DCBE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59379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9FF0E-A155-46EC-B661-5D9D37589E26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os13-2018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FD3F61-20BB-4C34-8044-6EECA4714B8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9306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CDF033-0252-4928-95D6-6AF59833DC3F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os13-2018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B9F4BC-DC09-4F60-919F-51710BE62CB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9293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CC134-245F-43F2-9FED-952184D7AF5C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os13-2018</a:t>
            </a:r>
            <a:endParaRPr lang="en-US" altLang="zh-TW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7AE9F6-1D49-485F-AA91-40432F4AEE8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84406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7F95B7-F628-46B2-B520-9BE8CEEE45E0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os13-2018</a:t>
            </a:r>
            <a:endParaRPr lang="en-US" altLang="zh-TW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B26B75-183D-460B-9775-256ED02C390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7713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67785-5B2D-44B3-80F7-CC18904F67BD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os13-2018</a:t>
            </a:r>
            <a:endParaRPr lang="en-US" altLang="zh-TW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677F2D-7EFF-47B6-BEF3-814300DA061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18362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DD4B53-9972-46CC-920D-0FDC7FEC0815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os13-2018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7B24AC-246D-4059-9BAE-A1218D924B5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7336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CFCD1-ED7E-41F6-9D52-AA8BADDA0522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os13-2018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B89D6A-764D-4758-B300-AFD21276484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0450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43F63A-61E3-4E1B-B7BC-4D173F285276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os13-2018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13C2CE-8A11-4821-BAB8-A3186CF15EF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2227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BBA5F5-FECE-458B-9007-1974F9566683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os13-2018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77D00F-BE04-47E0-8872-4EC68592100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95420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>
                <a:defRPr/>
              </a:pPr>
              <a:endParaRPr lang="zh-TW" altLang="en-US" smtClean="0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97345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ea typeface="新細明體" charset="-120"/>
              </a:defRPr>
            </a:lvl1pPr>
          </a:lstStyle>
          <a:p>
            <a:pPr>
              <a:defRPr/>
            </a:pPr>
            <a:fld id="{33343018-B2CB-4EC5-BA56-306F6D451340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97346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 smtClean="0"/>
              <a:t>os13-2018</a:t>
            </a:r>
            <a:endParaRPr lang="en-US" altLang="zh-TW"/>
          </a:p>
        </p:txBody>
      </p:sp>
      <p:sp>
        <p:nvSpPr>
          <p:cNvPr id="97347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866783BC-80BD-4C7E-902E-9C3AD226B9C7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30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93A7D18-BE8B-4290-9884-C932594D2C40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TW" sz="140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1047750" y="2246313"/>
            <a:ext cx="7688263" cy="1792287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Chapter 13</a:t>
            </a:r>
            <a:r>
              <a:rPr lang="zh-TW" altLang="en-US" smtClean="0"/>
              <a:t> </a:t>
            </a:r>
            <a:br>
              <a:rPr lang="zh-TW" altLang="en-US" smtClean="0"/>
            </a:br>
            <a:r>
              <a:rPr lang="en-US" altLang="zh-TW" smtClean="0"/>
              <a:t>I/O Systems</a:t>
            </a: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838" y="0"/>
            <a:ext cx="4716462" cy="684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C8450E-CD26-4B41-AD56-02D4E2BE9593}" type="datetime1">
              <a:rPr lang="zh-TW" altLang="en-US" smtClean="0"/>
              <a:t>2018/5/21</a:t>
            </a:fld>
            <a:endParaRPr lang="en-US" altLang="zh-TW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46F631C-690C-4A9B-8AA8-25FE894C43EA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409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41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AE10909-5F0F-41B6-A447-01DFAB3866ED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TW" sz="140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Outline</a:t>
            </a:r>
          </a:p>
        </p:txBody>
      </p:sp>
      <p:sp>
        <p:nvSpPr>
          <p:cNvPr id="410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52463" y="1593850"/>
            <a:ext cx="7958137" cy="442595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zh-TW" smtClean="0">
                <a:solidFill>
                  <a:srgbClr val="0000FF"/>
                </a:solidFill>
              </a:rPr>
              <a:t>I/O Hardware</a:t>
            </a:r>
          </a:p>
          <a:p>
            <a:pPr eaLnBrk="1" hangingPunct="1">
              <a:spcAft>
                <a:spcPts val="600"/>
              </a:spcAft>
            </a:pPr>
            <a:r>
              <a:rPr lang="en-US" altLang="zh-TW" smtClean="0"/>
              <a:t>Application I/O Interface</a:t>
            </a:r>
          </a:p>
          <a:p>
            <a:pPr eaLnBrk="1" hangingPunct="1">
              <a:spcAft>
                <a:spcPts val="600"/>
              </a:spcAft>
            </a:pPr>
            <a:r>
              <a:rPr lang="en-US" altLang="zh-TW" smtClean="0">
                <a:solidFill>
                  <a:srgbClr val="FF0000"/>
                </a:solidFill>
              </a:rPr>
              <a:t>Kernel I/O Subsystem</a:t>
            </a:r>
          </a:p>
          <a:p>
            <a:pPr eaLnBrk="1" hangingPunct="1">
              <a:spcAft>
                <a:spcPts val="600"/>
              </a:spcAft>
            </a:pPr>
            <a:r>
              <a:rPr lang="en-US" altLang="zh-TW" smtClean="0">
                <a:solidFill>
                  <a:srgbClr val="FF0000"/>
                </a:solidFill>
              </a:rPr>
              <a:t>Transforming I/O Requests to Hardware Operations</a:t>
            </a:r>
          </a:p>
          <a:p>
            <a:pPr eaLnBrk="1" hangingPunct="1">
              <a:spcAft>
                <a:spcPts val="600"/>
              </a:spcAft>
            </a:pPr>
            <a:r>
              <a:rPr lang="en-US" altLang="zh-TW" smtClean="0">
                <a:solidFill>
                  <a:srgbClr val="0000FF"/>
                </a:solidFill>
              </a:rPr>
              <a:t>Streams</a:t>
            </a:r>
          </a:p>
          <a:p>
            <a:pPr eaLnBrk="1" hangingPunct="1">
              <a:spcAft>
                <a:spcPts val="600"/>
              </a:spcAft>
            </a:pPr>
            <a:r>
              <a:rPr lang="en-US" altLang="zh-TW" smtClean="0"/>
              <a:t>Performance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E0A9533-3595-4FEE-8226-738BD1D313D6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512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51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A93D1B-1707-479E-B6F9-24F1A1E79CC3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4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92163"/>
          </a:xfrm>
        </p:spPr>
        <p:txBody>
          <a:bodyPr/>
          <a:lstStyle/>
          <a:p>
            <a:pPr eaLnBrk="1" hangingPunct="1"/>
            <a:r>
              <a:rPr lang="en-US" altLang="zh-TW" smtClean="0"/>
              <a:t>I/O Hardware</a:t>
            </a:r>
          </a:p>
        </p:txBody>
      </p:sp>
      <p:sp>
        <p:nvSpPr>
          <p:cNvPr id="440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96888" y="1241425"/>
            <a:ext cx="8205787" cy="51927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b="1" smtClean="0">
                <a:solidFill>
                  <a:srgbClr val="FF0000"/>
                </a:solidFill>
              </a:rPr>
              <a:t>Incredible variety of I/O devices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800" smtClean="0"/>
              <a:t>Common concepts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66FF33"/>
                </a:solidFill>
              </a:rPr>
              <a:t>Port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chemeClr val="tx2"/>
                </a:solidFill>
              </a:rPr>
              <a:t>Bus</a:t>
            </a:r>
            <a:r>
              <a:rPr lang="en-US" altLang="zh-TW" sz="2400" smtClean="0"/>
              <a:t> (daisy chain or shared direct access)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FF0000"/>
                </a:solidFill>
              </a:rPr>
              <a:t>Controller</a:t>
            </a:r>
            <a:r>
              <a:rPr lang="en-US" altLang="zh-TW" sz="2400" smtClean="0"/>
              <a:t> (host adapter)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800" smtClean="0"/>
              <a:t>I/O instructions control devices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800" smtClean="0"/>
              <a:t>Devices have addresses, used by 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400" smtClean="0"/>
              <a:t>Direct I/O instructions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400" smtClean="0"/>
              <a:t>Memory-mapped I/O: </a:t>
            </a:r>
            <a:r>
              <a:rPr lang="en-US" altLang="zh-TW" sz="2400" smtClean="0">
                <a:solidFill>
                  <a:srgbClr val="FF0000"/>
                </a:solidFill>
              </a:rPr>
              <a:t>registers are mapped into the address space of CPU</a:t>
            </a:r>
            <a:r>
              <a:rPr lang="en-US" altLang="zh-TW" sz="2400" smtClean="0"/>
              <a:t>, READ and WRITE by </a:t>
            </a:r>
            <a:r>
              <a:rPr lang="en-US" altLang="zh-TW" sz="2400" b="1" smtClean="0">
                <a:solidFill>
                  <a:srgbClr val="FF0000"/>
                </a:solidFill>
              </a:rPr>
              <a:t>standard data-transfer</a:t>
            </a:r>
            <a:r>
              <a:rPr lang="en-US" altLang="zh-TW" sz="2400" smtClean="0"/>
              <a:t> instructions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BDCF4D8-8675-4671-894C-5551B6A0F223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6147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614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D214EFB-6B77-49BC-9ECF-EA2955637E4A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40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A Typical PC Bus Structure</a:t>
            </a:r>
            <a:endParaRPr lang="en-US" altLang="zh-TW" sz="3600" smtClean="0"/>
          </a:p>
        </p:txBody>
      </p:sp>
      <p:pic>
        <p:nvPicPr>
          <p:cNvPr id="615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6" t="967" r="2515" b="1210"/>
          <a:stretch>
            <a:fillRect/>
          </a:stretch>
        </p:blipFill>
        <p:spPr bwMode="auto">
          <a:xfrm>
            <a:off x="542925" y="1673225"/>
            <a:ext cx="7780338" cy="477837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044" name="Oval 4"/>
          <p:cNvSpPr>
            <a:spLocks noChangeArrowheads="1"/>
          </p:cNvSpPr>
          <p:nvPr/>
        </p:nvSpPr>
        <p:spPr bwMode="auto">
          <a:xfrm>
            <a:off x="1597025" y="3592513"/>
            <a:ext cx="747713" cy="2460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87045" name="Oval 5"/>
          <p:cNvSpPr>
            <a:spLocks noChangeArrowheads="1"/>
          </p:cNvSpPr>
          <p:nvPr/>
        </p:nvSpPr>
        <p:spPr bwMode="auto">
          <a:xfrm>
            <a:off x="3297238" y="3670300"/>
            <a:ext cx="977900" cy="2698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4430713" y="4186238"/>
            <a:ext cx="373062" cy="36036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87047" name="Oval 7"/>
          <p:cNvSpPr>
            <a:spLocks noChangeArrowheads="1"/>
          </p:cNvSpPr>
          <p:nvPr/>
        </p:nvSpPr>
        <p:spPr bwMode="auto">
          <a:xfrm>
            <a:off x="7083425" y="3567113"/>
            <a:ext cx="760413" cy="3222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87048" name="Oval 8"/>
          <p:cNvSpPr>
            <a:spLocks noChangeArrowheads="1"/>
          </p:cNvSpPr>
          <p:nvPr/>
        </p:nvSpPr>
        <p:spPr bwMode="auto">
          <a:xfrm>
            <a:off x="2665413" y="4894263"/>
            <a:ext cx="785812" cy="3984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156" name="Rectangle 9"/>
          <p:cNvSpPr>
            <a:spLocks noChangeArrowheads="1"/>
          </p:cNvSpPr>
          <p:nvPr/>
        </p:nvSpPr>
        <p:spPr bwMode="auto">
          <a:xfrm>
            <a:off x="6889750" y="2138363"/>
            <a:ext cx="231775" cy="41116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87050" name="Rectangle 10"/>
          <p:cNvSpPr>
            <a:spLocks noChangeArrowheads="1"/>
          </p:cNvSpPr>
          <p:nvPr/>
        </p:nvSpPr>
        <p:spPr bwMode="auto">
          <a:xfrm>
            <a:off x="5627688" y="6156325"/>
            <a:ext cx="528637" cy="219075"/>
          </a:xfrm>
          <a:prstGeom prst="rect">
            <a:avLst/>
          </a:prstGeom>
          <a:noFill/>
          <a:ln w="28575">
            <a:solidFill>
              <a:srgbClr val="66FF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87051" name="Rectangle 11"/>
          <p:cNvSpPr>
            <a:spLocks noChangeArrowheads="1"/>
          </p:cNvSpPr>
          <p:nvPr/>
        </p:nvSpPr>
        <p:spPr bwMode="auto">
          <a:xfrm>
            <a:off x="7186613" y="6156325"/>
            <a:ext cx="566737" cy="206375"/>
          </a:xfrm>
          <a:prstGeom prst="rect">
            <a:avLst/>
          </a:prstGeom>
          <a:noFill/>
          <a:ln w="28575">
            <a:solidFill>
              <a:srgbClr val="66FF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159" name="Text Box 16"/>
          <p:cNvSpPr txBox="1">
            <a:spLocks noChangeArrowheads="1"/>
          </p:cNvSpPr>
          <p:nvPr/>
        </p:nvSpPr>
        <p:spPr bwMode="auto">
          <a:xfrm>
            <a:off x="560388" y="17303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161" name="Text Box 17"/>
          <p:cNvSpPr txBox="1">
            <a:spLocks noChangeArrowheads="1"/>
          </p:cNvSpPr>
          <p:nvPr/>
        </p:nvSpPr>
        <p:spPr bwMode="auto">
          <a:xfrm>
            <a:off x="752475" y="4191000"/>
            <a:ext cx="2968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PCIx, PCIe, </a:t>
            </a:r>
            <a:r>
              <a:rPr lang="en-US" altLang="zh-TW" sz="1800">
                <a:solidFill>
                  <a:srgbClr val="000000"/>
                </a:solidFill>
              </a:rPr>
              <a:t>HyperTransport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808288" y="2133600"/>
            <a:ext cx="180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0000FF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co-processors</a:t>
            </a:r>
            <a:endParaRPr lang="zh-TW" altLang="en-US" sz="2000">
              <a:solidFill>
                <a:srgbClr val="0000FF"/>
              </a:solidFill>
              <a:latin typeface="Adobe Gothic Std B" panose="020B0800000000000000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 animBg="1"/>
      <p:bldP spid="87045" grpId="0" animBg="1"/>
      <p:bldP spid="87046" grpId="0" animBg="1"/>
      <p:bldP spid="87047" grpId="0" animBg="1"/>
      <p:bldP spid="87048" grpId="0" animBg="1"/>
      <p:bldP spid="87048" grpId="1" animBg="1"/>
      <p:bldP spid="87050" grpId="0" animBg="1"/>
      <p:bldP spid="87051" grpId="0" animBg="1"/>
      <p:bldP spid="61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EC2034F-6D25-4059-B55D-48EA7408A963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7171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717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1D7998F-AB3D-468E-867C-0D4531D9D9B1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40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327025" y="304800"/>
            <a:ext cx="8437563" cy="569913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Device I/O Port Locations on PCs (partial)</a:t>
            </a:r>
            <a:endParaRPr lang="en-US" altLang="zh-TW" sz="3200" smtClean="0"/>
          </a:p>
        </p:txBody>
      </p:sp>
      <p:pic>
        <p:nvPicPr>
          <p:cNvPr id="717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" t="11620" r="768" b="11830"/>
          <a:stretch>
            <a:fillRect/>
          </a:stretch>
        </p:blipFill>
        <p:spPr bwMode="auto">
          <a:xfrm>
            <a:off x="771525" y="1566863"/>
            <a:ext cx="8088313" cy="474662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3157538" y="855663"/>
            <a:ext cx="32416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4 registers: data-in, data-out,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status and control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80C54C3-7C12-4280-A5FD-8A46248EFD98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819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81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370A03D-A6A9-4EE9-A2CA-6747A6BC0965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40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7462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 smtClean="0"/>
              <a:t>Polling</a:t>
            </a:r>
          </a:p>
        </p:txBody>
      </p:sp>
      <p:sp>
        <p:nvSpPr>
          <p:cNvPr id="450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74675" y="1554163"/>
            <a:ext cx="8124825" cy="4821237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Determines state of device </a:t>
            </a:r>
          </a:p>
          <a:p>
            <a:pPr lvl="1" eaLnBrk="1" hangingPunct="1"/>
            <a:r>
              <a:rPr lang="en-US" altLang="zh-TW" smtClean="0">
                <a:latin typeface="Courier New" panose="02070309020205020404" pitchFamily="49" charset="0"/>
              </a:rPr>
              <a:t>command-ready </a:t>
            </a:r>
            <a:r>
              <a:rPr lang="en-US" altLang="zh-TW" smtClean="0">
                <a:latin typeface="Comic Sans MS" panose="030F0702030302020204" pitchFamily="66" charset="0"/>
              </a:rPr>
              <a:t>bit (in status register)</a:t>
            </a:r>
          </a:p>
          <a:p>
            <a:pPr lvl="2" eaLnBrk="1" hangingPunct="1"/>
            <a:r>
              <a:rPr lang="en-US" altLang="zh-TW" smtClean="0">
                <a:latin typeface="Courier New" panose="02070309020205020404" pitchFamily="49" charset="0"/>
              </a:rPr>
              <a:t>Busy</a:t>
            </a:r>
          </a:p>
          <a:p>
            <a:pPr lvl="2" eaLnBrk="1" hangingPunct="1"/>
            <a:r>
              <a:rPr lang="en-US" altLang="zh-TW" smtClean="0">
                <a:latin typeface="Courier New" panose="02070309020205020404" pitchFamily="49" charset="0"/>
              </a:rPr>
              <a:t>clear</a:t>
            </a:r>
          </a:p>
          <a:p>
            <a:pPr lvl="2" eaLnBrk="1" hangingPunct="1"/>
            <a:r>
              <a:rPr lang="en-US" altLang="zh-TW" smtClean="0">
                <a:latin typeface="Courier New" panose="02070309020205020404" pitchFamily="49" charset="0"/>
              </a:rPr>
              <a:t>Error</a:t>
            </a:r>
            <a:endParaRPr lang="en-US" altLang="zh-TW" sz="2000" smtClean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zh-TW" sz="2800" smtClean="0">
                <a:solidFill>
                  <a:srgbClr val="FF0000"/>
                </a:solidFill>
              </a:rPr>
              <a:t>Busy-wait cycle</a:t>
            </a:r>
            <a:r>
              <a:rPr lang="en-US" altLang="zh-TW" sz="2800" smtClean="0"/>
              <a:t> to wait for I/O from device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zh-TW" sz="2400" smtClean="0">
                <a:latin typeface="Times New Roman" panose="02020603050405020304" pitchFamily="18" charset="0"/>
              </a:rPr>
              <a:t>The host repeatedly reads the busy bit until that bit becomes clear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zh-TW" sz="2400" smtClean="0">
                <a:latin typeface="Times New Roman" panose="02020603050405020304" pitchFamily="18" charset="0"/>
              </a:rPr>
              <a:t>The host sets the </a:t>
            </a:r>
            <a:r>
              <a:rPr lang="en-US" altLang="zh-TW" sz="2400" smtClean="0">
                <a:latin typeface="Courier New" panose="02070309020205020404" pitchFamily="49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write</a:t>
            </a:r>
            <a:r>
              <a:rPr lang="en-US" altLang="zh-TW" sz="2400" smtClean="0">
                <a:latin typeface="Times New Roman" panose="02020603050405020304" pitchFamily="18" charset="0"/>
              </a:rPr>
              <a:t> bit and write a byte into the data-out register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D34BF77-C026-416E-AEFD-0A907FC39676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921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92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73A0F4F-E9E1-4A87-B2DF-2346F9C02A74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TW" sz="140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19150"/>
          </a:xfrm>
        </p:spPr>
        <p:txBody>
          <a:bodyPr/>
          <a:lstStyle/>
          <a:p>
            <a:pPr eaLnBrk="1" hangingPunct="1"/>
            <a:r>
              <a:rPr lang="en-US" altLang="zh-TW" smtClean="0"/>
              <a:t>Interrupts</a:t>
            </a:r>
          </a:p>
        </p:txBody>
      </p:sp>
      <p:sp>
        <p:nvSpPr>
          <p:cNvPr id="460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9900" y="1189038"/>
            <a:ext cx="8258175" cy="5178425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CPU Interrupt </a:t>
            </a:r>
            <a:r>
              <a:rPr lang="en-US" altLang="zh-TW" sz="2800" smtClean="0">
                <a:solidFill>
                  <a:srgbClr val="FF0000"/>
                </a:solidFill>
              </a:rPr>
              <a:t>request</a:t>
            </a:r>
            <a:r>
              <a:rPr lang="en-US" altLang="zh-TW" sz="2800" smtClean="0"/>
              <a:t> line triggered by I/O device</a:t>
            </a:r>
          </a:p>
          <a:p>
            <a:pPr eaLnBrk="1" hangingPunct="1">
              <a:spcAft>
                <a:spcPts val="600"/>
              </a:spcAft>
            </a:pPr>
            <a:r>
              <a:rPr lang="en-US" altLang="zh-TW" sz="2800" smtClean="0"/>
              <a:t>Interrupt </a:t>
            </a:r>
            <a:r>
              <a:rPr lang="en-US" altLang="zh-TW" sz="2800" smtClean="0">
                <a:solidFill>
                  <a:srgbClr val="FF0000"/>
                </a:solidFill>
              </a:rPr>
              <a:t>handler</a:t>
            </a:r>
            <a:r>
              <a:rPr lang="en-US" altLang="zh-TW" sz="2800" smtClean="0"/>
              <a:t> receives interrupts</a:t>
            </a:r>
          </a:p>
          <a:p>
            <a:pPr eaLnBrk="1" hangingPunct="1">
              <a:spcAft>
                <a:spcPts val="600"/>
              </a:spcAft>
            </a:pPr>
            <a:r>
              <a:rPr lang="en-US" altLang="zh-TW" sz="2800" smtClean="0">
                <a:solidFill>
                  <a:srgbClr val="0000FF"/>
                </a:solidFill>
              </a:rPr>
              <a:t>Maskable</a:t>
            </a:r>
            <a:r>
              <a:rPr lang="en-US" altLang="zh-TW" sz="2800" smtClean="0"/>
              <a:t> to ignore or delay some interrupts</a:t>
            </a:r>
          </a:p>
          <a:p>
            <a:pPr eaLnBrk="1" hangingPunct="1">
              <a:spcAft>
                <a:spcPts val="600"/>
              </a:spcAft>
            </a:pPr>
            <a:r>
              <a:rPr lang="en-US" altLang="zh-TW" sz="2800" smtClean="0"/>
              <a:t>Interrupt vector to dispatch interrupt to correct handler</a:t>
            </a:r>
          </a:p>
          <a:p>
            <a:pPr lvl="1" eaLnBrk="1" hangingPunct="1"/>
            <a:r>
              <a:rPr lang="en-US" altLang="zh-TW" sz="2400" smtClean="0"/>
              <a:t>Based on priority</a:t>
            </a:r>
          </a:p>
          <a:p>
            <a:pPr lvl="1" eaLnBrk="1" hangingPunct="1"/>
            <a:r>
              <a:rPr lang="en-US" altLang="zh-TW" sz="2400" smtClean="0"/>
              <a:t>Some unmaskable, </a:t>
            </a:r>
            <a:r>
              <a:rPr lang="en-US" altLang="zh-TW" sz="2400" smtClean="0">
                <a:solidFill>
                  <a:srgbClr val="FF0000"/>
                </a:solidFill>
              </a:rPr>
              <a:t>such as unrecoverable memory errors</a:t>
            </a:r>
          </a:p>
          <a:p>
            <a:pPr eaLnBrk="1" hangingPunct="1"/>
            <a:r>
              <a:rPr lang="en-US" altLang="zh-TW" sz="2800" smtClean="0"/>
              <a:t>Interrupt mechanism also used for </a:t>
            </a:r>
            <a:r>
              <a:rPr lang="en-US" altLang="zh-TW" sz="2800" smtClean="0">
                <a:solidFill>
                  <a:srgbClr val="FF0000"/>
                </a:solidFill>
              </a:rPr>
              <a:t>exceptions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750625B-0753-426D-8603-1C82A1AD4460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0243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1024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92E9EA2-EFEB-40F8-9C63-153E1C9E1DAD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TW" sz="140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82650"/>
          </a:xfrm>
        </p:spPr>
        <p:txBody>
          <a:bodyPr/>
          <a:lstStyle/>
          <a:p>
            <a:pPr eaLnBrk="1" hangingPunct="1"/>
            <a:r>
              <a:rPr lang="en-US" altLang="zh-TW" smtClean="0"/>
              <a:t>Interrupt-Driven I/O Cycle</a:t>
            </a:r>
            <a:endParaRPr lang="en-US" altLang="zh-TW" sz="3600" smtClean="0"/>
          </a:p>
        </p:txBody>
      </p:sp>
      <p:pic>
        <p:nvPicPr>
          <p:cNvPr id="1024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0" t="1248" r="11801" b="426"/>
          <a:stretch>
            <a:fillRect/>
          </a:stretch>
        </p:blipFill>
        <p:spPr bwMode="auto">
          <a:xfrm>
            <a:off x="776288" y="1314450"/>
            <a:ext cx="7105650" cy="5129213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3694113" y="4297363"/>
            <a:ext cx="4646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FF0000"/>
                </a:solidFill>
              </a:rPr>
              <a:t>Asserting a signal on the </a:t>
            </a:r>
            <a:r>
              <a:rPr lang="en-US" altLang="zh-TW" sz="1600" b="1">
                <a:solidFill>
                  <a:srgbClr val="FF0000"/>
                </a:solidFill>
              </a:rPr>
              <a:t>interrupt request line</a:t>
            </a:r>
          </a:p>
        </p:txBody>
      </p:sp>
      <p:sp>
        <p:nvSpPr>
          <p:cNvPr id="47113" name="Line 9"/>
          <p:cNvSpPr>
            <a:spLocks noChangeShapeType="1"/>
          </p:cNvSpPr>
          <p:nvPr/>
        </p:nvSpPr>
        <p:spPr bwMode="auto">
          <a:xfrm flipH="1" flipV="1">
            <a:off x="4546600" y="3927475"/>
            <a:ext cx="0" cy="3349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47114" name="Text Box 10"/>
          <p:cNvSpPr txBox="1">
            <a:spLocks noChangeArrowheads="1"/>
          </p:cNvSpPr>
          <p:nvPr/>
        </p:nvSpPr>
        <p:spPr bwMode="auto">
          <a:xfrm>
            <a:off x="3916363" y="4762500"/>
            <a:ext cx="4714875" cy="8350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TW" sz="1600">
                <a:solidFill>
                  <a:srgbClr val="FF0000"/>
                </a:solidFill>
              </a:rPr>
              <a:t>Ability to defer INT during critical processing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TW" sz="1600">
                <a:solidFill>
                  <a:srgbClr val="FF0000"/>
                </a:solidFill>
              </a:rPr>
              <a:t>Efficient way to dispatch without polling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TW" sz="1600">
                <a:solidFill>
                  <a:srgbClr val="FF0000"/>
                </a:solidFill>
              </a:rPr>
              <a:t>Multilevel INT, distinguish high- and low- INT</a:t>
            </a:r>
          </a:p>
        </p:txBody>
      </p:sp>
      <p:sp>
        <p:nvSpPr>
          <p:cNvPr id="47115" name="Line 11"/>
          <p:cNvSpPr>
            <a:spLocks noChangeShapeType="1"/>
          </p:cNvSpPr>
          <p:nvPr/>
        </p:nvSpPr>
        <p:spPr bwMode="auto">
          <a:xfrm flipH="1" flipV="1">
            <a:off x="3567113" y="4932363"/>
            <a:ext cx="309562" cy="103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7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7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71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7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7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7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2" grpId="0"/>
      <p:bldP spid="47113" grpId="0" animBg="1"/>
      <p:bldP spid="47114" grpId="0" build="allAtOnce" animBg="1"/>
      <p:bldP spid="471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B38EED8-8970-40C5-81B9-80419AE4D03A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1267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1126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10EABF4-F350-4A89-80E8-43ECBC5BB404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TW" sz="140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2563" y="427038"/>
            <a:ext cx="8791575" cy="844550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Intel Pentium Processor </a:t>
            </a:r>
            <a:br>
              <a:rPr lang="en-US" altLang="zh-TW" sz="3600" smtClean="0"/>
            </a:br>
            <a:r>
              <a:rPr lang="en-US" altLang="zh-TW" sz="3600" smtClean="0"/>
              <a:t>Event-Vector Table</a:t>
            </a:r>
            <a:endParaRPr lang="en-US" altLang="zh-TW" sz="3200" smtClean="0"/>
          </a:p>
        </p:txBody>
      </p:sp>
      <p:pic>
        <p:nvPicPr>
          <p:cNvPr id="1127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" t="4941" r="690" b="5383"/>
          <a:stretch>
            <a:fillRect/>
          </a:stretch>
        </p:blipFill>
        <p:spPr bwMode="auto">
          <a:xfrm>
            <a:off x="628650" y="1555750"/>
            <a:ext cx="7043738" cy="4830763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4011613" y="4867275"/>
            <a:ext cx="855662" cy="161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4041775" y="2054225"/>
            <a:ext cx="855663" cy="161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4040188" y="6064250"/>
            <a:ext cx="1500187" cy="1873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5200650" y="858838"/>
            <a:ext cx="2025650" cy="67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interrupt chaining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</a:rPr>
              <a:t>interrupt priority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9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9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9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9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 animBg="1"/>
      <p:bldP spid="89093" grpId="0" animBg="1"/>
      <p:bldP spid="89094" grpId="0" animBg="1"/>
      <p:bldP spid="1127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30DE494-EF4B-45F3-A088-C3FD0BFC8F24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229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122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9430740-D996-4756-AA66-7B97DDA0CA5C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TW" sz="140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Direct Memory Access</a:t>
            </a:r>
          </a:p>
        </p:txBody>
      </p:sp>
      <p:sp>
        <p:nvSpPr>
          <p:cNvPr id="1229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Used to avoid programmed I/O for large data movement </a:t>
            </a:r>
            <a:br>
              <a:rPr lang="en-US" altLang="zh-TW" smtClean="0"/>
            </a:br>
            <a:endParaRPr lang="en-US" altLang="zh-TW" smtClean="0"/>
          </a:p>
          <a:p>
            <a:pPr eaLnBrk="1" hangingPunct="1"/>
            <a:r>
              <a:rPr lang="en-US" altLang="zh-TW" smtClean="0"/>
              <a:t>Requires DMA controller</a:t>
            </a:r>
            <a:br>
              <a:rPr lang="en-US" altLang="zh-TW" smtClean="0"/>
            </a:br>
            <a:endParaRPr lang="en-US" altLang="zh-TW" smtClean="0"/>
          </a:p>
          <a:p>
            <a:pPr eaLnBrk="1" hangingPunct="1"/>
            <a:r>
              <a:rPr lang="en-US" altLang="zh-TW" smtClean="0"/>
              <a:t>Bypasses CPU to transfer data directly between I/O device and memory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2B37029-5801-46F6-864C-03970B3DE435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3315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1331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823A8C9-90FB-42CA-962C-CAA565F776BD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TW" sz="1400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471488" y="279400"/>
            <a:ext cx="7950200" cy="979488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Six-Step Process to Perform DMA </a:t>
            </a:r>
            <a:endParaRPr lang="en-US" altLang="zh-TW" sz="3600" smtClean="0"/>
          </a:p>
        </p:txBody>
      </p:sp>
      <p:pic>
        <p:nvPicPr>
          <p:cNvPr id="1331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" t="12831" r="829" b="12804"/>
          <a:stretch>
            <a:fillRect/>
          </a:stretch>
        </p:blipFill>
        <p:spPr bwMode="auto">
          <a:xfrm>
            <a:off x="557213" y="1612900"/>
            <a:ext cx="7902575" cy="4779963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3494088" y="1781175"/>
            <a:ext cx="647700" cy="1968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>
              <a:solidFill>
                <a:srgbClr val="0000FF"/>
              </a:solidFill>
            </a:endParaRPr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2914650" y="2008188"/>
            <a:ext cx="1406525" cy="14128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9160" name="Rectangle 8"/>
          <p:cNvSpPr>
            <a:spLocks noChangeArrowheads="1"/>
          </p:cNvSpPr>
          <p:nvPr/>
        </p:nvSpPr>
        <p:spPr bwMode="auto">
          <a:xfrm>
            <a:off x="2868613" y="2422525"/>
            <a:ext cx="742950" cy="1651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>
              <a:solidFill>
                <a:srgbClr val="0000FF"/>
              </a:solidFill>
            </a:endParaRPr>
          </a:p>
        </p:txBody>
      </p:sp>
      <p:sp>
        <p:nvSpPr>
          <p:cNvPr id="49161" name="Line 9"/>
          <p:cNvSpPr>
            <a:spLocks noChangeShapeType="1"/>
          </p:cNvSpPr>
          <p:nvPr/>
        </p:nvSpPr>
        <p:spPr bwMode="auto">
          <a:xfrm>
            <a:off x="4502150" y="3508375"/>
            <a:ext cx="30622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animBg="1"/>
      <p:bldP spid="49157" grpId="0" animBg="1"/>
      <p:bldP spid="49160" grpId="0" animBg="1"/>
      <p:bldP spid="4916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0F1B1B2-6DBB-4CD2-87BE-4BB12FD6097D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433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143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67E54CD-4114-4679-8D83-C30625EC38D0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TW" sz="140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Application I/O Interface</a:t>
            </a:r>
          </a:p>
        </p:txBody>
      </p:sp>
      <p:sp>
        <p:nvSpPr>
          <p:cNvPr id="501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4988" y="1489075"/>
            <a:ext cx="8229600" cy="4911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I/O system calls encapsulate device behaviors in generic classes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800" smtClean="0"/>
              <a:t>Device-driver layer </a:t>
            </a:r>
            <a:r>
              <a:rPr lang="en-US" altLang="zh-TW" sz="2800" smtClean="0">
                <a:solidFill>
                  <a:srgbClr val="FF0000"/>
                </a:solidFill>
              </a:rPr>
              <a:t>hides differences</a:t>
            </a:r>
            <a:r>
              <a:rPr lang="en-US" altLang="zh-TW" sz="2800" smtClean="0"/>
              <a:t> among I/O controllers from kernel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800" smtClean="0"/>
              <a:t>Devices vary in many dimensions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400" smtClean="0">
                <a:solidFill>
                  <a:srgbClr val="FF0000"/>
                </a:solidFill>
              </a:rPr>
              <a:t>Character-stream</a:t>
            </a:r>
            <a:r>
              <a:rPr lang="en-US" altLang="zh-TW" sz="2400" smtClean="0"/>
              <a:t> or </a:t>
            </a:r>
            <a:r>
              <a:rPr lang="en-US" altLang="zh-TW" sz="2400" smtClean="0">
                <a:solidFill>
                  <a:srgbClr val="FF0000"/>
                </a:solidFill>
              </a:rPr>
              <a:t>block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400" smtClean="0"/>
              <a:t>Sequential or random-access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400" smtClean="0"/>
              <a:t>Sharable or dedicated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400" smtClean="0">
                <a:solidFill>
                  <a:srgbClr val="FF0000"/>
                </a:solidFill>
              </a:rPr>
              <a:t>Speed</a:t>
            </a:r>
            <a:r>
              <a:rPr lang="en-US" altLang="zh-TW" sz="2400" smtClean="0"/>
              <a:t> of operation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TW" sz="2400" smtClean="0"/>
              <a:t>read-write, read only, or write only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39A81E0-A611-4692-B13E-978083D4ED98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5363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1536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C736CE2-D813-4849-96CE-A2D958B9721B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TW" sz="140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9938"/>
          </a:xfrm>
        </p:spPr>
        <p:txBody>
          <a:bodyPr/>
          <a:lstStyle/>
          <a:p>
            <a:pPr eaLnBrk="1" hangingPunct="1"/>
            <a:r>
              <a:rPr lang="en-US" altLang="zh-TW" smtClean="0"/>
              <a:t>A Kernel I/O Structure</a:t>
            </a:r>
            <a:endParaRPr lang="en-US" altLang="zh-TW" sz="3600" smtClean="0"/>
          </a:p>
        </p:txBody>
      </p:sp>
      <p:pic>
        <p:nvPicPr>
          <p:cNvPr id="1536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" t="2238" r="569" b="2238"/>
          <a:stretch>
            <a:fillRect/>
          </a:stretch>
        </p:blipFill>
        <p:spPr bwMode="auto">
          <a:xfrm>
            <a:off x="606425" y="1157288"/>
            <a:ext cx="8010525" cy="527367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117" name="Oval 5"/>
          <p:cNvSpPr>
            <a:spLocks noChangeArrowheads="1"/>
          </p:cNvSpPr>
          <p:nvPr/>
        </p:nvSpPr>
        <p:spPr bwMode="auto">
          <a:xfrm>
            <a:off x="3683000" y="2254250"/>
            <a:ext cx="2060575" cy="5143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8989C14-3E96-4B6A-919A-DE994156AD5B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6387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1638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6AFFA10-7AA9-4524-8AB7-0442D7321969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TW" sz="1400"/>
          </a:p>
        </p:txBody>
      </p:sp>
      <p:sp>
        <p:nvSpPr>
          <p:cNvPr id="16389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77838" y="373063"/>
            <a:ext cx="7772400" cy="844550"/>
          </a:xfrm>
        </p:spPr>
        <p:txBody>
          <a:bodyPr/>
          <a:lstStyle/>
          <a:p>
            <a:pPr eaLnBrk="1" hangingPunct="1"/>
            <a:r>
              <a:rPr lang="en-US" altLang="zh-TW" smtClean="0"/>
              <a:t>Characteristics of I/O Devices</a:t>
            </a:r>
            <a:endParaRPr lang="en-US" altLang="zh-TW" sz="3600" smtClean="0"/>
          </a:p>
        </p:txBody>
      </p:sp>
      <p:pic>
        <p:nvPicPr>
          <p:cNvPr id="16390" name="Picture 205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" t="9027" r="1088" b="8531"/>
          <a:stretch>
            <a:fillRect/>
          </a:stretch>
        </p:blipFill>
        <p:spPr bwMode="auto">
          <a:xfrm>
            <a:off x="666750" y="1295400"/>
            <a:ext cx="7878763" cy="4989513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140" name="Text Box 2052"/>
          <p:cNvSpPr txBox="1">
            <a:spLocks noChangeArrowheads="1"/>
          </p:cNvSpPr>
          <p:nvPr/>
        </p:nvSpPr>
        <p:spPr bwMode="auto">
          <a:xfrm>
            <a:off x="4565650" y="3068638"/>
            <a:ext cx="1949450" cy="303212"/>
          </a:xfrm>
          <a:prstGeom prst="rect">
            <a:avLst/>
          </a:prstGeom>
          <a:noFill/>
          <a:ln w="28575">
            <a:solidFill>
              <a:srgbClr val="66FF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FF"/>
                </a:solidFill>
              </a:rPr>
              <a:t>predictable response time</a:t>
            </a:r>
          </a:p>
        </p:txBody>
      </p:sp>
      <p:sp>
        <p:nvSpPr>
          <p:cNvPr id="91141" name="Text Box 2053"/>
          <p:cNvSpPr txBox="1">
            <a:spLocks noChangeArrowheads="1"/>
          </p:cNvSpPr>
          <p:nvPr/>
        </p:nvSpPr>
        <p:spPr bwMode="auto">
          <a:xfrm>
            <a:off x="4214813" y="3919538"/>
            <a:ext cx="180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FF0000"/>
                </a:solidFill>
              </a:rPr>
              <a:t>by several processes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4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4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0" grpId="0" build="allAtOnce" animBg="1"/>
      <p:bldP spid="911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07E72B1-30FA-4CB3-B4D0-56DC5545E418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741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174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099184C-8B3D-4C57-92DB-F4B6BBEE2876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TW" sz="140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19150"/>
          </a:xfrm>
        </p:spPr>
        <p:txBody>
          <a:bodyPr/>
          <a:lstStyle/>
          <a:p>
            <a:pPr eaLnBrk="1" hangingPunct="1"/>
            <a:r>
              <a:rPr lang="en-US" altLang="zh-TW" smtClean="0"/>
              <a:t>Block and Character Devices</a:t>
            </a:r>
          </a:p>
        </p:txBody>
      </p:sp>
      <p:sp>
        <p:nvSpPr>
          <p:cNvPr id="1741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9575" y="1141413"/>
            <a:ext cx="8251825" cy="4652962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Block</a:t>
            </a:r>
            <a:r>
              <a:rPr lang="en-US" altLang="zh-TW" smtClean="0"/>
              <a:t> devices include disk drives</a:t>
            </a:r>
          </a:p>
          <a:p>
            <a:pPr lvl="1" eaLnBrk="1" hangingPunct="1"/>
            <a:r>
              <a:rPr lang="en-US" altLang="zh-TW" smtClean="0"/>
              <a:t>Commands include read, write, seek </a:t>
            </a:r>
          </a:p>
          <a:p>
            <a:pPr lvl="1" eaLnBrk="1" hangingPunct="1"/>
            <a:r>
              <a:rPr lang="en-US" altLang="zh-TW" smtClean="0"/>
              <a:t>Raw I/O or file-system access</a:t>
            </a:r>
          </a:p>
          <a:p>
            <a:pPr lvl="1" eaLnBrk="1" hangingPunct="1"/>
            <a:r>
              <a:rPr lang="en-US" altLang="zh-TW" smtClean="0">
                <a:solidFill>
                  <a:srgbClr val="FF0000"/>
                </a:solidFill>
              </a:rPr>
              <a:t>Memory-mapped file</a:t>
            </a:r>
            <a:r>
              <a:rPr lang="en-US" altLang="zh-TW" smtClean="0"/>
              <a:t> access possible</a:t>
            </a:r>
            <a:br>
              <a:rPr lang="en-US" altLang="zh-TW" smtClean="0"/>
            </a:br>
            <a:endParaRPr lang="en-US" altLang="zh-TW" smtClean="0"/>
          </a:p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Character</a:t>
            </a:r>
            <a:r>
              <a:rPr lang="en-US" altLang="zh-TW" smtClean="0"/>
              <a:t> devices include </a:t>
            </a:r>
            <a:r>
              <a:rPr lang="en-US" altLang="zh-TW" smtClean="0">
                <a:solidFill>
                  <a:srgbClr val="FF0000"/>
                </a:solidFill>
              </a:rPr>
              <a:t>keyboards</a:t>
            </a:r>
            <a:r>
              <a:rPr lang="en-US" altLang="zh-TW" smtClean="0"/>
              <a:t>, </a:t>
            </a:r>
            <a:r>
              <a:rPr lang="en-US" altLang="zh-TW" smtClean="0">
                <a:solidFill>
                  <a:srgbClr val="FF0000"/>
                </a:solidFill>
              </a:rPr>
              <a:t>mice</a:t>
            </a:r>
            <a:r>
              <a:rPr lang="en-US" altLang="zh-TW" smtClean="0"/>
              <a:t>, </a:t>
            </a:r>
            <a:r>
              <a:rPr lang="en-US" altLang="zh-TW" smtClean="0">
                <a:solidFill>
                  <a:srgbClr val="FF0000"/>
                </a:solidFill>
              </a:rPr>
              <a:t>serial</a:t>
            </a:r>
            <a:r>
              <a:rPr lang="en-US" altLang="zh-TW" smtClean="0"/>
              <a:t> ports</a:t>
            </a:r>
          </a:p>
          <a:p>
            <a:pPr lvl="1" eaLnBrk="1" hangingPunct="1"/>
            <a:r>
              <a:rPr lang="en-US" altLang="zh-TW" smtClean="0"/>
              <a:t>Commands include </a:t>
            </a:r>
            <a:r>
              <a:rPr lang="en-US" altLang="zh-TW" smtClean="0">
                <a:latin typeface="Courier New" panose="02070309020205020404" pitchFamily="49" charset="0"/>
              </a:rPr>
              <a:t>get(), put()</a:t>
            </a:r>
            <a:endParaRPr lang="en-US" altLang="zh-TW" smtClean="0"/>
          </a:p>
          <a:p>
            <a:pPr lvl="1" eaLnBrk="1" hangingPunct="1"/>
            <a:r>
              <a:rPr lang="en-US" altLang="zh-TW" smtClean="0"/>
              <a:t>Libraries layered on top allow line editing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C7A3A17-1B64-4BEC-9B18-47CAE757CB6A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843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184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D057A17-CED5-49C0-AE66-778ABDC49D54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TW" sz="14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11225"/>
          </a:xfrm>
        </p:spPr>
        <p:txBody>
          <a:bodyPr/>
          <a:lstStyle/>
          <a:p>
            <a:pPr eaLnBrk="1" hangingPunct="1"/>
            <a:r>
              <a:rPr lang="en-US" altLang="zh-TW" smtClean="0"/>
              <a:t>Network Devices</a:t>
            </a:r>
          </a:p>
        </p:txBody>
      </p:sp>
      <p:sp>
        <p:nvSpPr>
          <p:cNvPr id="522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38138" y="1139825"/>
            <a:ext cx="8221662" cy="4681538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Varying enough from block and character to have own interface</a:t>
            </a:r>
            <a:br>
              <a:rPr lang="en-US" altLang="zh-TW" sz="2800" smtClean="0"/>
            </a:br>
            <a:r>
              <a:rPr lang="en-US" altLang="zh-TW" sz="2800" b="1" smtClean="0">
                <a:solidFill>
                  <a:srgbClr val="FF0000"/>
                </a:solidFill>
              </a:rPr>
              <a:t>	Packet</a:t>
            </a:r>
            <a:r>
              <a:rPr lang="en-US" altLang="zh-TW" sz="2800" smtClean="0"/>
              <a:t>, </a:t>
            </a:r>
            <a:r>
              <a:rPr lang="en-US" altLang="zh-TW" sz="2800" smtClean="0">
                <a:latin typeface="Courier New" panose="02070309020205020404" pitchFamily="49" charset="0"/>
              </a:rPr>
              <a:t>send(), receive()</a:t>
            </a:r>
          </a:p>
          <a:p>
            <a:pPr eaLnBrk="1" hangingPunct="1"/>
            <a:r>
              <a:rPr lang="en-US" altLang="zh-TW" sz="2800" smtClean="0"/>
              <a:t>Unix and Windows NT/9x/2000 include </a:t>
            </a:r>
            <a:r>
              <a:rPr lang="en-US" altLang="zh-TW" sz="2800" smtClean="0">
                <a:solidFill>
                  <a:srgbClr val="FF0000"/>
                </a:solidFill>
              </a:rPr>
              <a:t>socket</a:t>
            </a:r>
            <a:r>
              <a:rPr lang="en-US" altLang="zh-TW" sz="2800" smtClean="0"/>
              <a:t> interface</a:t>
            </a:r>
          </a:p>
          <a:p>
            <a:pPr lvl="1" eaLnBrk="1" hangingPunct="1"/>
            <a:r>
              <a:rPr lang="en-US" altLang="zh-TW" sz="2400" smtClean="0"/>
              <a:t>Separates network protocol from network operation</a:t>
            </a:r>
          </a:p>
          <a:p>
            <a:pPr lvl="1" eaLnBrk="1" hangingPunct="1"/>
            <a:r>
              <a:rPr lang="en-US" altLang="zh-TW" sz="2400" smtClean="0"/>
              <a:t>Includes </a:t>
            </a:r>
            <a:r>
              <a:rPr lang="en-US" altLang="zh-TW" sz="2400" smtClean="0">
                <a:latin typeface="Courier New" panose="02070309020205020404" pitchFamily="49" charset="0"/>
              </a:rPr>
              <a:t>select()</a:t>
            </a:r>
            <a:r>
              <a:rPr lang="en-US" altLang="zh-TW" sz="2400" smtClean="0"/>
              <a:t> functionality, eliminates the need of busy waiting 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Approaches vary widely (</a:t>
            </a:r>
            <a:r>
              <a:rPr lang="en-US" altLang="zh-TW" sz="2800" smtClean="0">
                <a:solidFill>
                  <a:srgbClr val="FF0000"/>
                </a:solidFill>
              </a:rPr>
              <a:t>pipes</a:t>
            </a:r>
            <a:r>
              <a:rPr lang="en-US" altLang="zh-TW" sz="2800" smtClean="0"/>
              <a:t>, </a:t>
            </a:r>
            <a:r>
              <a:rPr lang="en-US" altLang="zh-TW" sz="2800" smtClean="0">
                <a:solidFill>
                  <a:srgbClr val="FF0000"/>
                </a:solidFill>
              </a:rPr>
              <a:t>FIFOs</a:t>
            </a:r>
            <a:r>
              <a:rPr lang="en-US" altLang="zh-TW" sz="2800" smtClean="0"/>
              <a:t>, </a:t>
            </a:r>
            <a:r>
              <a:rPr lang="en-US" altLang="zh-TW" sz="2800" smtClean="0">
                <a:solidFill>
                  <a:srgbClr val="FF0000"/>
                </a:solidFill>
              </a:rPr>
              <a:t>streams</a:t>
            </a:r>
            <a:r>
              <a:rPr lang="en-US" altLang="zh-TW" sz="2800" smtClean="0"/>
              <a:t>, </a:t>
            </a:r>
            <a:r>
              <a:rPr lang="en-US" altLang="zh-TW" sz="2800" smtClean="0">
                <a:solidFill>
                  <a:srgbClr val="FF0000"/>
                </a:solidFill>
              </a:rPr>
              <a:t>queues</a:t>
            </a:r>
            <a:r>
              <a:rPr lang="en-US" altLang="zh-TW" sz="2800" smtClean="0"/>
              <a:t>, </a:t>
            </a:r>
            <a:r>
              <a:rPr lang="en-US" altLang="zh-TW" sz="2800" smtClean="0">
                <a:solidFill>
                  <a:srgbClr val="FF0000"/>
                </a:solidFill>
              </a:rPr>
              <a:t>mailboxes</a:t>
            </a:r>
            <a:r>
              <a:rPr lang="en-US" altLang="zh-TW" sz="2800" smtClean="0"/>
              <a:t>)</a:t>
            </a: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6397625" y="3055938"/>
            <a:ext cx="1662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FF0000"/>
                </a:solidFill>
              </a:rPr>
              <a:t>make a </a:t>
            </a:r>
            <a:r>
              <a:rPr lang="en-US" altLang="zh-TW" sz="1400">
                <a:solidFill>
                  <a:srgbClr val="0000FF"/>
                </a:solidFill>
              </a:rPr>
              <a:t>connection</a:t>
            </a:r>
          </a:p>
        </p:txBody>
      </p:sp>
      <p:sp>
        <p:nvSpPr>
          <p:cNvPr id="52229" name="Line 5"/>
          <p:cNvSpPr>
            <a:spLocks noChangeShapeType="1"/>
          </p:cNvSpPr>
          <p:nvPr/>
        </p:nvSpPr>
        <p:spPr bwMode="auto">
          <a:xfrm flipV="1">
            <a:off x="7412038" y="3005138"/>
            <a:ext cx="0" cy="14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/>
      <p:bldP spid="522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4BFDB3E-A370-47C1-9AA8-3936FB235039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1945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194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8646F4E-3A47-45C1-94D6-9849327E5A16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TW" sz="140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Clocks and Timers</a:t>
            </a:r>
          </a:p>
        </p:txBody>
      </p:sp>
      <p:sp>
        <p:nvSpPr>
          <p:cNvPr id="1946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6088" y="1600200"/>
            <a:ext cx="8193087" cy="4535488"/>
          </a:xfrm>
        </p:spPr>
        <p:txBody>
          <a:bodyPr/>
          <a:lstStyle/>
          <a:p>
            <a:pPr eaLnBrk="1" hangingPunct="1"/>
            <a:r>
              <a:rPr lang="en-US" altLang="zh-TW" smtClean="0"/>
              <a:t>Provide current time, elapsed time, timer</a:t>
            </a:r>
            <a:br>
              <a:rPr lang="en-US" altLang="zh-TW" smtClean="0"/>
            </a:br>
            <a:endParaRPr lang="en-US" altLang="zh-TW" smtClean="0"/>
          </a:p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Programmable interval timer</a:t>
            </a:r>
            <a:r>
              <a:rPr lang="en-US" altLang="zh-TW" smtClean="0"/>
              <a:t> used for timings, periodic interrupts</a:t>
            </a:r>
            <a:br>
              <a:rPr lang="en-US" altLang="zh-TW" smtClean="0"/>
            </a:br>
            <a:endParaRPr lang="en-US" altLang="zh-TW" smtClean="0"/>
          </a:p>
          <a:p>
            <a:pPr eaLnBrk="1" hangingPunct="1"/>
            <a:r>
              <a:rPr lang="en-US" altLang="zh-TW" smtClean="0">
                <a:latin typeface="Courier New" panose="02070309020205020404" pitchFamily="49" charset="0"/>
              </a:rPr>
              <a:t>ioctl</a:t>
            </a:r>
            <a:r>
              <a:rPr lang="en-US" altLang="zh-TW" smtClean="0"/>
              <a:t> (on UNIX) covers odd aspects of I/O such as clocks and timers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610FF7E-A7F8-4099-9986-3EB67E5B73CD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048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204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8C485DC-3799-4715-9A5C-9E6B6587AE56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TW" sz="140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38213"/>
          </a:xfrm>
        </p:spPr>
        <p:txBody>
          <a:bodyPr/>
          <a:lstStyle/>
          <a:p>
            <a:pPr eaLnBrk="1" hangingPunct="1"/>
            <a:r>
              <a:rPr lang="en-US" altLang="zh-TW" smtClean="0"/>
              <a:t>Blocking and Nonblocking I/O</a:t>
            </a:r>
          </a:p>
        </p:txBody>
      </p:sp>
      <p:sp>
        <p:nvSpPr>
          <p:cNvPr id="2048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5138" y="1196975"/>
            <a:ext cx="8258175" cy="5195888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Blocking - process suspended until I/O completed</a:t>
            </a:r>
          </a:p>
          <a:p>
            <a:pPr lvl="1" eaLnBrk="1" hangingPunct="1"/>
            <a:r>
              <a:rPr lang="en-US" altLang="zh-TW" sz="2400" smtClean="0"/>
              <a:t>Easy to use and understand</a:t>
            </a:r>
          </a:p>
          <a:p>
            <a:pPr lvl="1" eaLnBrk="1" hangingPunct="1"/>
            <a:r>
              <a:rPr lang="en-US" altLang="zh-TW" sz="2400" smtClean="0"/>
              <a:t>Insufficient for some needs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Nonblocking - </a:t>
            </a:r>
            <a:r>
              <a:rPr lang="en-US" altLang="zh-TW" sz="2800" smtClean="0">
                <a:solidFill>
                  <a:srgbClr val="FF0000"/>
                </a:solidFill>
              </a:rPr>
              <a:t>I/O call returns as much as available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400" smtClean="0"/>
              <a:t>User interface, data copy (buffered I/O)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400" smtClean="0"/>
              <a:t>Implemented via </a:t>
            </a:r>
            <a:r>
              <a:rPr lang="en-US" altLang="zh-TW" sz="2400" smtClean="0">
                <a:solidFill>
                  <a:srgbClr val="FF0000"/>
                </a:solidFill>
              </a:rPr>
              <a:t>multi-threading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400" smtClean="0"/>
              <a:t>Returns quickly with count of bytes read or written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6F35ECA-5D96-43F2-A1B2-505904A20B9D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1507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2150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8A53BB1-46E6-47FD-9FF2-3A300AF3691C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TW" sz="140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Two I/O Methods</a:t>
            </a:r>
          </a:p>
        </p:txBody>
      </p:sp>
      <p:pic>
        <p:nvPicPr>
          <p:cNvPr id="215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" t="21974" r="623" b="21974"/>
          <a:stretch>
            <a:fillRect/>
          </a:stretch>
        </p:blipFill>
        <p:spPr bwMode="auto">
          <a:xfrm>
            <a:off x="476250" y="1617663"/>
            <a:ext cx="8113713" cy="34607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11" name="Text Box 4"/>
          <p:cNvSpPr txBox="1">
            <a:spLocks noChangeArrowheads="1"/>
          </p:cNvSpPr>
          <p:nvPr/>
        </p:nvSpPr>
        <p:spPr bwMode="auto">
          <a:xfrm>
            <a:off x="2095500" y="5383213"/>
            <a:ext cx="1939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800">
                <a:latin typeface="Helvetica" panose="020B0604020202020204" pitchFamily="34" charset="0"/>
              </a:rPr>
              <a:t>Synchronous</a:t>
            </a:r>
          </a:p>
        </p:txBody>
      </p:sp>
      <p:sp>
        <p:nvSpPr>
          <p:cNvPr id="21512" name="Text Box 5"/>
          <p:cNvSpPr txBox="1">
            <a:spLocks noChangeArrowheads="1"/>
          </p:cNvSpPr>
          <p:nvPr/>
        </p:nvSpPr>
        <p:spPr bwMode="auto">
          <a:xfrm>
            <a:off x="5462588" y="5332413"/>
            <a:ext cx="26765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800">
                <a:latin typeface="Helvetica" panose="020B0604020202020204" pitchFamily="34" charset="0"/>
              </a:rPr>
              <a:t>Asynchronous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B58C85E-4AC5-4D1D-A0E1-632C5D5D26EE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253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225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20848E9-2AEA-4333-8A13-E547D84B7C50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TW" sz="140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631825" y="103188"/>
            <a:ext cx="7772400" cy="768350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Kernel I/O Subsystem (1)</a:t>
            </a:r>
          </a:p>
        </p:txBody>
      </p:sp>
      <p:sp>
        <p:nvSpPr>
          <p:cNvPr id="552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63525" y="857250"/>
            <a:ext cx="8534400" cy="5449888"/>
          </a:xfrm>
        </p:spPr>
        <p:txBody>
          <a:bodyPr/>
          <a:lstStyle/>
          <a:p>
            <a:pPr eaLnBrk="1" hangingPunct="1"/>
            <a:r>
              <a:rPr lang="en-US" altLang="zh-TW" sz="2800" smtClean="0">
                <a:solidFill>
                  <a:srgbClr val="0000FF"/>
                </a:solidFill>
              </a:rPr>
              <a:t>Scheduling</a:t>
            </a:r>
          </a:p>
          <a:p>
            <a:pPr lvl="1" eaLnBrk="1" hangingPunct="1"/>
            <a:r>
              <a:rPr lang="en-US" altLang="zh-TW" sz="2400" smtClean="0"/>
              <a:t>Some I/O request </a:t>
            </a:r>
            <a:r>
              <a:rPr lang="en-US" altLang="zh-TW" sz="2400" smtClean="0">
                <a:solidFill>
                  <a:srgbClr val="FF0000"/>
                </a:solidFill>
              </a:rPr>
              <a:t>ordering</a:t>
            </a:r>
            <a:r>
              <a:rPr lang="en-US" altLang="zh-TW" sz="2400" smtClean="0"/>
              <a:t> via per-device queue</a:t>
            </a:r>
          </a:p>
          <a:p>
            <a:pPr lvl="1" eaLnBrk="1" hangingPunct="1"/>
            <a:r>
              <a:rPr lang="en-US" altLang="zh-TW" sz="2400" smtClean="0"/>
              <a:t>Some OSs try </a:t>
            </a:r>
            <a:r>
              <a:rPr lang="en-US" altLang="zh-TW" sz="2400" smtClean="0">
                <a:solidFill>
                  <a:srgbClr val="FF0000"/>
                </a:solidFill>
              </a:rPr>
              <a:t>fairness</a:t>
            </a:r>
            <a:endParaRPr lang="en-US" altLang="zh-TW" sz="2400" smtClean="0"/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>
                <a:solidFill>
                  <a:srgbClr val="FF0000"/>
                </a:solidFill>
              </a:rPr>
              <a:t>Buffering</a:t>
            </a:r>
            <a:r>
              <a:rPr lang="en-US" altLang="zh-TW" sz="2800" smtClean="0"/>
              <a:t> - store data in memory while transferring between devices</a:t>
            </a:r>
          </a:p>
          <a:p>
            <a:pPr lvl="1" eaLnBrk="1" hangingPunct="1"/>
            <a:r>
              <a:rPr lang="en-US" altLang="zh-TW" sz="2400" smtClean="0"/>
              <a:t>To cope with device </a:t>
            </a:r>
            <a:r>
              <a:rPr lang="en-US" altLang="zh-TW" sz="2400" smtClean="0">
                <a:solidFill>
                  <a:srgbClr val="FF0000"/>
                </a:solidFill>
              </a:rPr>
              <a:t>speed</a:t>
            </a:r>
            <a:r>
              <a:rPr lang="en-US" altLang="zh-TW" sz="2400" smtClean="0"/>
              <a:t> mismatch</a:t>
            </a:r>
          </a:p>
          <a:p>
            <a:pPr lvl="1" eaLnBrk="1" hangingPunct="1"/>
            <a:r>
              <a:rPr lang="en-US" altLang="zh-TW" sz="2400" smtClean="0"/>
              <a:t>To cope with device </a:t>
            </a:r>
            <a:r>
              <a:rPr lang="en-US" altLang="zh-TW" sz="2400" smtClean="0">
                <a:solidFill>
                  <a:srgbClr val="FF0000"/>
                </a:solidFill>
              </a:rPr>
              <a:t>transfer size</a:t>
            </a:r>
            <a:r>
              <a:rPr lang="en-US" altLang="zh-TW" sz="2400" smtClean="0"/>
              <a:t> mismatch</a:t>
            </a:r>
          </a:p>
          <a:p>
            <a:pPr lvl="1" eaLnBrk="1" hangingPunct="1"/>
            <a:r>
              <a:rPr lang="en-US" altLang="zh-TW" sz="2400" smtClean="0"/>
              <a:t>To maintain </a:t>
            </a:r>
            <a:r>
              <a:rPr lang="en-US" altLang="zh-TW" sz="2400" smtClean="0">
                <a:latin typeface="Helvetica" panose="020B0604020202020204" pitchFamily="34" charset="0"/>
              </a:rPr>
              <a:t>“</a:t>
            </a:r>
            <a:r>
              <a:rPr lang="en-US" altLang="zh-TW" sz="2400" smtClean="0"/>
              <a:t>copy semantics</a:t>
            </a:r>
            <a:r>
              <a:rPr lang="en-US" altLang="zh-TW" sz="2400" smtClean="0">
                <a:latin typeface="Helvetica" panose="020B0604020202020204" pitchFamily="34" charset="0"/>
              </a:rPr>
              <a:t>”</a:t>
            </a:r>
            <a:endParaRPr lang="en-US" altLang="zh-TW" sz="240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2400" smtClean="0">
                <a:solidFill>
                  <a:srgbClr val="0000FF"/>
                </a:solidFill>
              </a:rPr>
              <a:t>copy semantics</a:t>
            </a:r>
            <a:r>
              <a:rPr lang="en-US" altLang="zh-TW" sz="2400" smtClean="0"/>
              <a:t>: the version of the data written to disk is guaranteed to be the version </a:t>
            </a:r>
            <a:r>
              <a:rPr lang="en-US" altLang="zh-TW" sz="2400" smtClean="0">
                <a:solidFill>
                  <a:srgbClr val="FF0000"/>
                </a:solidFill>
              </a:rPr>
              <a:t>at the time of the application call</a:t>
            </a:r>
            <a:r>
              <a:rPr lang="en-US" altLang="zh-TW" sz="2400" smtClean="0"/>
              <a:t>, independent of any subsequent changes in the application</a:t>
            </a:r>
            <a:r>
              <a:rPr lang="en-US" altLang="zh-TW" sz="2400" smtClean="0">
                <a:latin typeface="Helvetica" panose="020B0604020202020204" pitchFamily="34" charset="0"/>
              </a:rPr>
              <a:t>’</a:t>
            </a:r>
            <a:r>
              <a:rPr lang="en-US" altLang="zh-TW" sz="2400" smtClean="0"/>
              <a:t>s buffer </a:t>
            </a: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5991225" y="4233863"/>
            <a:ext cx="1212850" cy="3143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FF0000"/>
                </a:solidFill>
              </a:rPr>
              <a:t>Kernel buffer</a:t>
            </a:r>
          </a:p>
        </p:txBody>
      </p:sp>
      <p:sp>
        <p:nvSpPr>
          <p:cNvPr id="55301" name="Line 5"/>
          <p:cNvSpPr>
            <a:spLocks noChangeShapeType="1"/>
          </p:cNvSpPr>
          <p:nvPr/>
        </p:nvSpPr>
        <p:spPr bwMode="auto">
          <a:xfrm flipV="1">
            <a:off x="5600700" y="4375150"/>
            <a:ext cx="328613" cy="4048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55302" name="Line 6"/>
          <p:cNvSpPr>
            <a:spLocks noChangeShapeType="1"/>
          </p:cNvSpPr>
          <p:nvPr/>
        </p:nvSpPr>
        <p:spPr bwMode="auto">
          <a:xfrm>
            <a:off x="7277100" y="4424363"/>
            <a:ext cx="603250" cy="3476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7491413" y="4427538"/>
            <a:ext cx="16525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FF"/>
                </a:solidFill>
              </a:rPr>
              <a:t>not simultaneously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530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 build="allAtOnce" animBg="1"/>
      <p:bldP spid="55301" grpId="0" animBg="1"/>
      <p:bldP spid="55302" grpId="0" animBg="1"/>
      <p:bldP spid="5530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F40221-B79E-4DAC-8AF3-42918413CD61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355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235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FF51B0E-FA12-450E-B107-562D00862353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TW" sz="140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61988"/>
          </a:xfrm>
        </p:spPr>
        <p:txBody>
          <a:bodyPr/>
          <a:lstStyle/>
          <a:p>
            <a:pPr eaLnBrk="1" hangingPunct="1"/>
            <a:r>
              <a:rPr lang="en-US" altLang="zh-TW" sz="4800" smtClean="0">
                <a:solidFill>
                  <a:srgbClr val="FF0000"/>
                </a:solidFill>
              </a:rPr>
              <a:t>Kernel I/O Subsystem (2)</a:t>
            </a:r>
          </a:p>
        </p:txBody>
      </p:sp>
      <p:sp>
        <p:nvSpPr>
          <p:cNvPr id="563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63538" y="962025"/>
            <a:ext cx="8231187" cy="4949825"/>
          </a:xfrm>
        </p:spPr>
        <p:txBody>
          <a:bodyPr/>
          <a:lstStyle/>
          <a:p>
            <a:pPr eaLnBrk="1" hangingPunct="1"/>
            <a:r>
              <a:rPr lang="en-US" altLang="zh-TW" sz="2800" smtClean="0">
                <a:solidFill>
                  <a:srgbClr val="FF0000"/>
                </a:solidFill>
              </a:rPr>
              <a:t>Caching</a:t>
            </a:r>
            <a:r>
              <a:rPr lang="en-US" altLang="zh-TW" sz="2800" smtClean="0"/>
              <a:t> - fast memory holding copy of data</a:t>
            </a:r>
          </a:p>
          <a:p>
            <a:pPr lvl="1" eaLnBrk="1" hangingPunct="1"/>
            <a:r>
              <a:rPr lang="en-US" altLang="zh-TW" sz="2400" smtClean="0"/>
              <a:t>Always just a copy</a:t>
            </a:r>
          </a:p>
          <a:p>
            <a:pPr lvl="1" eaLnBrk="1" hangingPunct="1"/>
            <a:r>
              <a:rPr lang="en-US" altLang="zh-TW" sz="2400" smtClean="0">
                <a:solidFill>
                  <a:srgbClr val="FF0000"/>
                </a:solidFill>
              </a:rPr>
              <a:t>Key to performance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>
                <a:solidFill>
                  <a:srgbClr val="FF0000"/>
                </a:solidFill>
              </a:rPr>
              <a:t>Spooling</a:t>
            </a:r>
            <a:r>
              <a:rPr lang="en-US" altLang="zh-TW" sz="2800" smtClean="0"/>
              <a:t> - hold output for a device</a:t>
            </a:r>
          </a:p>
          <a:p>
            <a:pPr lvl="1" eaLnBrk="1" hangingPunct="1"/>
            <a:r>
              <a:rPr lang="en-US" altLang="zh-TW" sz="2400" smtClean="0"/>
              <a:t>If device can serve only one request at a time </a:t>
            </a:r>
          </a:p>
          <a:p>
            <a:pPr lvl="1" eaLnBrk="1" hangingPunct="1"/>
            <a:r>
              <a:rPr lang="en-US" altLang="zh-TW" sz="2400" smtClean="0"/>
              <a:t>i.e., Printing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>
                <a:solidFill>
                  <a:srgbClr val="FF0000"/>
                </a:solidFill>
              </a:rPr>
              <a:t>Device</a:t>
            </a:r>
            <a:r>
              <a:rPr lang="en-US" altLang="zh-TW" sz="2800" smtClean="0"/>
              <a:t> </a:t>
            </a:r>
            <a:r>
              <a:rPr lang="en-US" altLang="zh-TW" sz="2800" smtClean="0">
                <a:solidFill>
                  <a:srgbClr val="FF0000"/>
                </a:solidFill>
              </a:rPr>
              <a:t>reservation</a:t>
            </a:r>
            <a:r>
              <a:rPr lang="en-US" altLang="zh-TW" sz="2800" smtClean="0"/>
              <a:t> - provides exclusive access to a device</a:t>
            </a:r>
          </a:p>
          <a:p>
            <a:pPr lvl="1" eaLnBrk="1" hangingPunct="1"/>
            <a:r>
              <a:rPr lang="en-US" altLang="zh-TW" sz="2400" smtClean="0"/>
              <a:t>System calls for allocation and deallocation</a:t>
            </a:r>
          </a:p>
          <a:p>
            <a:pPr lvl="1" eaLnBrk="1" hangingPunct="1"/>
            <a:r>
              <a:rPr lang="en-US" altLang="zh-TW" sz="2400" smtClean="0"/>
              <a:t>Watch out for </a:t>
            </a:r>
            <a:r>
              <a:rPr lang="en-US" altLang="zh-TW" sz="2400" smtClean="0">
                <a:solidFill>
                  <a:srgbClr val="FF0000"/>
                </a:solidFill>
              </a:rPr>
              <a:t>deadlock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6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CA58024-2A4E-4C40-9B4A-F993A9D32F05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457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245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8F477C5-46BD-4B24-B8C9-3C3F73B2817A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zh-TW" sz="140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6763"/>
          </a:xfrm>
        </p:spPr>
        <p:txBody>
          <a:bodyPr/>
          <a:lstStyle/>
          <a:p>
            <a:pPr eaLnBrk="1" hangingPunct="1"/>
            <a:r>
              <a:rPr lang="en-US" altLang="zh-TW" smtClean="0"/>
              <a:t>Error Handling</a:t>
            </a:r>
          </a:p>
        </p:txBody>
      </p:sp>
      <p:sp>
        <p:nvSpPr>
          <p:cNvPr id="2458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74663" y="1600200"/>
            <a:ext cx="8105775" cy="4535488"/>
          </a:xfrm>
        </p:spPr>
        <p:txBody>
          <a:bodyPr/>
          <a:lstStyle/>
          <a:p>
            <a:pPr eaLnBrk="1" hangingPunct="1"/>
            <a:r>
              <a:rPr lang="en-US" altLang="zh-TW" smtClean="0"/>
              <a:t>OS can recover from disk read, device unavailable, transient write failures</a:t>
            </a:r>
            <a:br>
              <a:rPr lang="en-US" altLang="zh-TW" smtClean="0"/>
            </a:br>
            <a:endParaRPr lang="en-US" altLang="zh-TW" smtClean="0"/>
          </a:p>
          <a:p>
            <a:pPr eaLnBrk="1" hangingPunct="1"/>
            <a:r>
              <a:rPr lang="en-US" altLang="zh-TW" smtClean="0"/>
              <a:t>Most return an error number or code when I/O request fails </a:t>
            </a:r>
            <a:br>
              <a:rPr lang="en-US" altLang="zh-TW" smtClean="0"/>
            </a:br>
            <a:endParaRPr lang="en-US" altLang="zh-TW" smtClean="0"/>
          </a:p>
          <a:p>
            <a:pPr eaLnBrk="1" hangingPunct="1"/>
            <a:r>
              <a:rPr lang="en-US" altLang="zh-TW" smtClean="0"/>
              <a:t>System </a:t>
            </a:r>
            <a:r>
              <a:rPr lang="en-US" altLang="zh-TW" smtClean="0">
                <a:solidFill>
                  <a:srgbClr val="FF0000"/>
                </a:solidFill>
              </a:rPr>
              <a:t>error logs</a:t>
            </a:r>
            <a:r>
              <a:rPr lang="en-US" altLang="zh-TW" smtClean="0"/>
              <a:t> hold problem reports</a:t>
            </a:r>
          </a:p>
        </p:txBody>
      </p:sp>
      <p:sp>
        <p:nvSpPr>
          <p:cNvPr id="2" name="文字方塊 1"/>
          <p:cNvSpPr txBox="1">
            <a:spLocks noChangeArrowheads="1"/>
          </p:cNvSpPr>
          <p:nvPr/>
        </p:nvSpPr>
        <p:spPr bwMode="auto">
          <a:xfrm>
            <a:off x="1416050" y="895350"/>
            <a:ext cx="56594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</a:rPr>
              <a:t>Devices and I/O transfers can fail in many ways,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</a:rPr>
              <a:t>transient, or permanent</a:t>
            </a:r>
            <a:endParaRPr lang="zh-TW" altLang="en-US" sz="2000">
              <a:solidFill>
                <a:srgbClr val="FF0000"/>
              </a:solidFill>
            </a:endParaRPr>
          </a:p>
        </p:txBody>
      </p:sp>
      <p:sp>
        <p:nvSpPr>
          <p:cNvPr id="3" name="文字方塊 2"/>
          <p:cNvSpPr txBox="1">
            <a:spLocks noChangeArrowheads="1"/>
          </p:cNvSpPr>
          <p:nvPr/>
        </p:nvSpPr>
        <p:spPr bwMode="auto">
          <a:xfrm>
            <a:off x="3162300" y="2593975"/>
            <a:ext cx="1379538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</a:rPr>
              <a:t>read again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</a:rPr>
              <a:t>resend()</a:t>
            </a:r>
            <a:endParaRPr lang="zh-TW" altLang="en-US" sz="2000">
              <a:solidFill>
                <a:srgbClr val="0000FF"/>
              </a:solidFill>
            </a:endParaRPr>
          </a:p>
        </p:txBody>
      </p:sp>
      <p:sp>
        <p:nvSpPr>
          <p:cNvPr id="4" name="文字方塊 3"/>
          <p:cNvSpPr txBox="1">
            <a:spLocks noChangeArrowheads="1"/>
          </p:cNvSpPr>
          <p:nvPr/>
        </p:nvSpPr>
        <p:spPr bwMode="auto">
          <a:xfrm>
            <a:off x="2055813" y="4262438"/>
            <a:ext cx="5222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</a:rPr>
              <a:t>Detail info does not convey (by OS) usually.</a:t>
            </a:r>
            <a:endParaRPr lang="zh-TW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C2C53F9-ABAF-4B61-9368-EE9877D7757E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560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256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8AA132D-2134-4635-9EA8-9DF975A69195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TW" sz="140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>
          <a:xfrm>
            <a:off x="569913" y="255588"/>
            <a:ext cx="7772400" cy="722312"/>
          </a:xfrm>
        </p:spPr>
        <p:txBody>
          <a:bodyPr/>
          <a:lstStyle/>
          <a:p>
            <a:pPr eaLnBrk="1" hangingPunct="1"/>
            <a:r>
              <a:rPr lang="en-US" altLang="zh-TW" sz="4000" smtClean="0">
                <a:solidFill>
                  <a:srgbClr val="FF0000"/>
                </a:solidFill>
              </a:rPr>
              <a:t>Kernel Data Structures</a:t>
            </a:r>
          </a:p>
        </p:txBody>
      </p:sp>
      <p:sp>
        <p:nvSpPr>
          <p:cNvPr id="583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0375" y="1033463"/>
            <a:ext cx="8193088" cy="5394325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altLang="zh-TW" sz="2400" smtClean="0"/>
              <a:t>Kernel keeps state info for I/O components, including </a:t>
            </a:r>
            <a:r>
              <a:rPr lang="en-US" altLang="zh-TW" sz="2400" smtClean="0">
                <a:solidFill>
                  <a:srgbClr val="FF0000"/>
                </a:solidFill>
              </a:rPr>
              <a:t>open file tables</a:t>
            </a:r>
            <a:r>
              <a:rPr lang="en-US" altLang="zh-TW" sz="2400" smtClean="0"/>
              <a:t>, </a:t>
            </a:r>
            <a:r>
              <a:rPr lang="en-US" altLang="zh-TW" sz="2400" smtClean="0">
                <a:solidFill>
                  <a:srgbClr val="0000FF"/>
                </a:solidFill>
              </a:rPr>
              <a:t>network connections</a:t>
            </a:r>
            <a:r>
              <a:rPr lang="en-US" altLang="zh-TW" sz="2400" smtClean="0"/>
              <a:t>, </a:t>
            </a:r>
            <a:r>
              <a:rPr lang="en-US" altLang="zh-TW" sz="2400" smtClean="0">
                <a:solidFill>
                  <a:schemeClr val="tx2"/>
                </a:solidFill>
              </a:rPr>
              <a:t>character device state (</a:t>
            </a:r>
            <a:r>
              <a:rPr lang="en-US" altLang="zh-TW" sz="2800" smtClean="0">
                <a:solidFill>
                  <a:srgbClr val="000000"/>
                </a:solidFill>
              </a:rPr>
              <a:t>in-kernel</a:t>
            </a:r>
            <a:r>
              <a:rPr lang="en-US" altLang="zh-TW" sz="2400" smtClean="0">
                <a:solidFill>
                  <a:schemeClr val="tx2"/>
                </a:solidFill>
              </a:rPr>
              <a:t> </a:t>
            </a:r>
            <a:r>
              <a:rPr lang="en-US" altLang="zh-TW" sz="2400" smtClean="0">
                <a:solidFill>
                  <a:srgbClr val="000000"/>
                </a:solidFill>
              </a:rPr>
              <a:t>data structures</a:t>
            </a:r>
            <a:r>
              <a:rPr lang="en-US" altLang="zh-TW" sz="2400" smtClean="0">
                <a:solidFill>
                  <a:schemeClr val="tx2"/>
                </a:solidFill>
              </a:rPr>
              <a:t>)</a:t>
            </a:r>
            <a:endParaRPr lang="en-US" altLang="zh-TW" sz="2400" smtClean="0"/>
          </a:p>
          <a:p>
            <a:pPr marL="533400" indent="-533400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/>
              <a:t>Some use </a:t>
            </a:r>
            <a:r>
              <a:rPr lang="en-US" altLang="zh-TW" sz="2400" smtClean="0">
                <a:solidFill>
                  <a:srgbClr val="FF0000"/>
                </a:solidFill>
              </a:rPr>
              <a:t>object-oriented methods</a:t>
            </a:r>
            <a:r>
              <a:rPr lang="en-US" altLang="zh-TW" sz="2400" smtClean="0"/>
              <a:t> and </a:t>
            </a:r>
            <a:r>
              <a:rPr lang="en-US" altLang="zh-TW" sz="2400" smtClean="0">
                <a:solidFill>
                  <a:srgbClr val="FF0000"/>
                </a:solidFill>
              </a:rPr>
              <a:t>message passing</a:t>
            </a:r>
            <a:r>
              <a:rPr lang="en-US" altLang="zh-TW" sz="2400" smtClean="0"/>
              <a:t> to implement I/O </a:t>
            </a:r>
          </a:p>
          <a:p>
            <a:pPr marL="914400" lvl="1" indent="-457200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000" smtClean="0"/>
              <a:t>Windows NT uses a </a:t>
            </a:r>
            <a:r>
              <a:rPr lang="en-US" altLang="zh-TW" sz="2000" smtClean="0">
                <a:solidFill>
                  <a:srgbClr val="FF0000"/>
                </a:solidFill>
              </a:rPr>
              <a:t>message-passing</a:t>
            </a:r>
            <a:r>
              <a:rPr lang="en-US" altLang="zh-TW" sz="2000" smtClean="0"/>
              <a:t> implementation for I/O 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TW" sz="2000" smtClean="0"/>
              <a:t>an I/O request is converted into a message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TW" sz="2000" smtClean="0"/>
              <a:t>sent to the Kernel: I/O message </a:t>
            </a:r>
            <a:r>
              <a:rPr lang="en-US" altLang="zh-TW" sz="2000" smtClean="0">
                <a:sym typeface="Symbol" panose="05050102010706020507" pitchFamily="18" charset="2"/>
              </a:rPr>
              <a:t> </a:t>
            </a:r>
            <a:r>
              <a:rPr lang="en-US" altLang="zh-TW" sz="2000" smtClean="0"/>
              <a:t>device driver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zh-TW" sz="2000" smtClean="0"/>
              <a:t>message-passing vs. procedure technique: </a:t>
            </a:r>
            <a:r>
              <a:rPr lang="en-US" altLang="zh-TW" sz="2000" smtClean="0">
                <a:sym typeface="Wingdings" panose="05000000000000000000" pitchFamily="2" charset="2"/>
              </a:rPr>
              <a:t> </a:t>
            </a:r>
            <a:r>
              <a:rPr lang="en-US" altLang="zh-TW" sz="2000" smtClean="0">
                <a:solidFill>
                  <a:srgbClr val="FF0000"/>
                </a:solidFill>
              </a:rPr>
              <a:t>overhead</a:t>
            </a:r>
            <a:r>
              <a:rPr lang="en-US" altLang="zh-TW" sz="2000" smtClean="0">
                <a:sym typeface="Wingdings" panose="05000000000000000000" pitchFamily="2" charset="2"/>
              </a:rPr>
              <a:t>,  </a:t>
            </a:r>
            <a:r>
              <a:rPr lang="en-US" altLang="zh-TW" sz="2000" smtClean="0">
                <a:solidFill>
                  <a:srgbClr val="0000FF"/>
                </a:solidFill>
                <a:sym typeface="Wingdings" panose="05000000000000000000" pitchFamily="2" charset="2"/>
              </a:rPr>
              <a:t>simple and flexibility</a:t>
            </a:r>
          </a:p>
          <a:p>
            <a:pPr marL="533400" indent="-533400" eaLnBrk="1" hangingPunct="1">
              <a:lnSpc>
                <a:spcPct val="90000"/>
              </a:lnSpc>
              <a:spcBef>
                <a:spcPct val="60000"/>
              </a:spcBef>
              <a:buFont typeface="Wingdings" panose="05000000000000000000" pitchFamily="2" charset="2"/>
              <a:buChar char="p"/>
            </a:pPr>
            <a:r>
              <a:rPr lang="en-US" altLang="zh-TW" sz="2400" smtClean="0">
                <a:solidFill>
                  <a:srgbClr val="0000FF"/>
                </a:solidFill>
              </a:rPr>
              <a:t>UNIX provides file-system access to a variety of entities, such as </a:t>
            </a:r>
            <a:r>
              <a:rPr lang="en-US" altLang="zh-TW" sz="2400" smtClean="0">
                <a:solidFill>
                  <a:srgbClr val="FF0000"/>
                </a:solidFill>
              </a:rPr>
              <a:t>files</a:t>
            </a:r>
            <a:r>
              <a:rPr lang="en-US" altLang="zh-TW" sz="2400" smtClean="0">
                <a:solidFill>
                  <a:srgbClr val="0000FF"/>
                </a:solidFill>
              </a:rPr>
              <a:t>, </a:t>
            </a:r>
            <a:r>
              <a:rPr lang="en-US" altLang="zh-TW" sz="2400" smtClean="0">
                <a:solidFill>
                  <a:srgbClr val="FF0000"/>
                </a:solidFill>
              </a:rPr>
              <a:t>raw devices</a:t>
            </a:r>
            <a:r>
              <a:rPr lang="en-US" altLang="zh-TW" sz="2400" smtClean="0">
                <a:solidFill>
                  <a:srgbClr val="0000FF"/>
                </a:solidFill>
              </a:rPr>
              <a:t>, </a:t>
            </a:r>
            <a:r>
              <a:rPr lang="en-US" altLang="zh-TW" sz="2400" smtClean="0">
                <a:solidFill>
                  <a:srgbClr val="FF0000"/>
                </a:solidFill>
              </a:rPr>
              <a:t>sockets</a:t>
            </a:r>
            <a:r>
              <a:rPr lang="en-US" altLang="zh-TW" sz="2400" smtClean="0">
                <a:solidFill>
                  <a:srgbClr val="0000FF"/>
                </a:solidFill>
              </a:rPr>
              <a:t> and </a:t>
            </a:r>
            <a:r>
              <a:rPr lang="en-US" altLang="zh-TW" sz="2400" smtClean="0">
                <a:solidFill>
                  <a:srgbClr val="FF0000"/>
                </a:solidFill>
              </a:rPr>
              <a:t>the address spaces</a:t>
            </a:r>
            <a:r>
              <a:rPr lang="en-US" altLang="zh-TW" sz="2400" smtClean="0">
                <a:solidFill>
                  <a:srgbClr val="0000FF"/>
                </a:solidFill>
              </a:rPr>
              <a:t> of processes (</a:t>
            </a:r>
            <a:r>
              <a:rPr lang="en-US" altLang="zh-TW" sz="2400" smtClean="0">
                <a:solidFill>
                  <a:srgbClr val="FF0000"/>
                </a:solidFill>
              </a:rPr>
              <a:t>images</a:t>
            </a:r>
            <a:r>
              <a:rPr lang="en-US" altLang="zh-TW" sz="2400" smtClean="0">
                <a:solidFill>
                  <a:srgbClr val="0000FF"/>
                </a:solidFill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9444087-5A24-443D-98C5-20673210AC01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6627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2662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2C41617-B0BD-432A-8389-C89118C5452E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TW" sz="140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52488"/>
          </a:xfrm>
        </p:spPr>
        <p:txBody>
          <a:bodyPr/>
          <a:lstStyle/>
          <a:p>
            <a:pPr eaLnBrk="1" hangingPunct="1"/>
            <a:r>
              <a:rPr lang="en-US" altLang="zh-TW" smtClean="0"/>
              <a:t>UNIX I/O Kernel Structure</a:t>
            </a:r>
            <a:endParaRPr lang="en-US" altLang="zh-TW" sz="3600" smtClean="0"/>
          </a:p>
        </p:txBody>
      </p:sp>
      <p:pic>
        <p:nvPicPr>
          <p:cNvPr id="2663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" t="11440" r="1106" b="11227"/>
          <a:stretch>
            <a:fillRect/>
          </a:stretch>
        </p:blipFill>
        <p:spPr bwMode="auto">
          <a:xfrm>
            <a:off x="434975" y="1343025"/>
            <a:ext cx="8370888" cy="4964113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188" name="Rectangle 4"/>
          <p:cNvSpPr>
            <a:spLocks noChangeArrowheads="1"/>
          </p:cNvSpPr>
          <p:nvPr/>
        </p:nvSpPr>
        <p:spPr bwMode="auto">
          <a:xfrm>
            <a:off x="1250950" y="4564063"/>
            <a:ext cx="1647825" cy="203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93189" name="Rectangle 5"/>
          <p:cNvSpPr>
            <a:spLocks noChangeArrowheads="1"/>
          </p:cNvSpPr>
          <p:nvPr/>
        </p:nvSpPr>
        <p:spPr bwMode="auto">
          <a:xfrm>
            <a:off x="4376738" y="4032250"/>
            <a:ext cx="2063750" cy="2508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8" grpId="0" animBg="1"/>
      <p:bldP spid="9318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70E1E41-2056-4218-B358-B9E531125513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765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276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2BA2DF7-9E14-47D2-A837-7672325E2E07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zh-TW" sz="140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593725" y="134938"/>
            <a:ext cx="7772400" cy="768350"/>
          </a:xfrm>
        </p:spPr>
        <p:txBody>
          <a:bodyPr/>
          <a:lstStyle/>
          <a:p>
            <a:pPr eaLnBrk="1" hangingPunct="1"/>
            <a:r>
              <a:rPr lang="en-US" altLang="zh-TW" sz="3200" smtClean="0">
                <a:solidFill>
                  <a:srgbClr val="FF0000"/>
                </a:solidFill>
              </a:rPr>
              <a:t>Summary of Services in I/O Subsystem</a:t>
            </a:r>
          </a:p>
        </p:txBody>
      </p:sp>
      <p:sp>
        <p:nvSpPr>
          <p:cNvPr id="2765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66713" y="944563"/>
            <a:ext cx="8318500" cy="5213350"/>
          </a:xfrm>
        </p:spPr>
        <p:txBody>
          <a:bodyPr/>
          <a:lstStyle/>
          <a:p>
            <a:pPr marL="533400" indent="-533400" eaLnBrk="1" hangingPunct="1">
              <a:lnSpc>
                <a:spcPct val="80000"/>
              </a:lnSpc>
            </a:pPr>
            <a:r>
              <a:rPr lang="en-US" altLang="zh-TW" sz="2400" smtClean="0">
                <a:solidFill>
                  <a:srgbClr val="0000FF"/>
                </a:solidFill>
              </a:rPr>
              <a:t>The management of the name space for files and devices</a:t>
            </a:r>
          </a:p>
          <a:p>
            <a:pPr marL="533400" indent="-533400"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>
                <a:solidFill>
                  <a:srgbClr val="0000FF"/>
                </a:solidFill>
              </a:rPr>
              <a:t>Access control to files and devices</a:t>
            </a:r>
          </a:p>
          <a:p>
            <a:pPr marL="533400" indent="-533400"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>
                <a:solidFill>
                  <a:srgbClr val="0000FF"/>
                </a:solidFill>
              </a:rPr>
              <a:t>Operation control</a:t>
            </a:r>
          </a:p>
          <a:p>
            <a:pPr marL="533400" indent="-533400"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>
                <a:solidFill>
                  <a:srgbClr val="0000FF"/>
                </a:solidFill>
              </a:rPr>
              <a:t>File system space allocation</a:t>
            </a:r>
          </a:p>
          <a:p>
            <a:pPr marL="533400" indent="-533400"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>
                <a:solidFill>
                  <a:srgbClr val="0000FF"/>
                </a:solidFill>
              </a:rPr>
              <a:t>Disk allocation</a:t>
            </a:r>
          </a:p>
          <a:p>
            <a:pPr marL="533400" indent="-533400"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>
                <a:solidFill>
                  <a:srgbClr val="0000FF"/>
                </a:solidFill>
              </a:rPr>
              <a:t>Buffering, caching, and spooling</a:t>
            </a:r>
          </a:p>
          <a:p>
            <a:pPr marL="533400" indent="-533400"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>
                <a:solidFill>
                  <a:srgbClr val="0000FF"/>
                </a:solidFill>
              </a:rPr>
              <a:t>I/O scheduling</a:t>
            </a:r>
          </a:p>
          <a:p>
            <a:pPr marL="533400" indent="-533400"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>
                <a:solidFill>
                  <a:srgbClr val="0000FF"/>
                </a:solidFill>
              </a:rPr>
              <a:t>Device status monitoring, error handling, and failure recovery</a:t>
            </a:r>
          </a:p>
          <a:p>
            <a:pPr marL="533400" indent="-533400"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400" smtClean="0">
                <a:solidFill>
                  <a:srgbClr val="0000FF"/>
                </a:solidFill>
              </a:rPr>
              <a:t>Device driver configuration and initialization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AED92D5-B0D0-417D-B035-F89C1832D91A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8675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2867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4708427-5E9C-4A15-BF5A-B9F21AA488F9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TW" sz="140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641350" y="330200"/>
            <a:ext cx="7772400" cy="812800"/>
          </a:xfrm>
        </p:spPr>
        <p:txBody>
          <a:bodyPr/>
          <a:lstStyle/>
          <a:p>
            <a:pPr eaLnBrk="1" hangingPunct="1"/>
            <a:r>
              <a:rPr lang="en-US" altLang="zh-TW" smtClean="0"/>
              <a:t>Device-status Table</a:t>
            </a:r>
          </a:p>
        </p:txBody>
      </p:sp>
      <p:pic>
        <p:nvPicPr>
          <p:cNvPr id="2867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" t="13696" r="1141" b="13696"/>
          <a:stretch>
            <a:fillRect/>
          </a:stretch>
        </p:blipFill>
        <p:spPr bwMode="auto">
          <a:xfrm>
            <a:off x="706438" y="1443038"/>
            <a:ext cx="7642225" cy="42291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ADE0EE6-8E9E-459D-BD7D-C2D0881535F0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29699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2970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24DC20A-D0EF-4210-842C-D841E5B6BB68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TW" sz="140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160338"/>
            <a:ext cx="7972425" cy="614362"/>
          </a:xfrm>
        </p:spPr>
        <p:txBody>
          <a:bodyPr/>
          <a:lstStyle/>
          <a:p>
            <a:pPr eaLnBrk="1" hangingPunct="1"/>
            <a:r>
              <a:rPr lang="en-US" altLang="zh-TW" sz="3200" smtClean="0"/>
              <a:t>Sun Enterprise 6000 Device-Transfer Rates</a:t>
            </a:r>
            <a:endParaRPr lang="en-US" altLang="zh-TW" sz="2800" smtClean="0"/>
          </a:p>
        </p:txBody>
      </p:sp>
      <p:pic>
        <p:nvPicPr>
          <p:cNvPr id="2970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00" y="871538"/>
            <a:ext cx="6657975" cy="524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91677FD-23B9-461D-B271-5F0513523EAE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072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307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9F79C00-7298-47AE-9EF4-F655A5AB1AB3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TW" sz="140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I/O Requests to Hardware Operations</a:t>
            </a:r>
          </a:p>
        </p:txBody>
      </p:sp>
      <p:sp>
        <p:nvSpPr>
          <p:cNvPr id="593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63563" y="1644650"/>
            <a:ext cx="8091487" cy="4506913"/>
          </a:xfrm>
        </p:spPr>
        <p:txBody>
          <a:bodyPr/>
          <a:lstStyle/>
          <a:p>
            <a:pPr eaLnBrk="1" hangingPunct="1"/>
            <a:r>
              <a:rPr lang="en-US" altLang="zh-TW" smtClean="0"/>
              <a:t>Consider reading a file from disk for a process 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mtClean="0"/>
              <a:t>Determine device holding file 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mtClean="0">
                <a:solidFill>
                  <a:srgbClr val="FF0000"/>
                </a:solidFill>
              </a:rPr>
              <a:t>Translate name to device representation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Physically read data from disk into buffer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mtClean="0"/>
              <a:t>Make data available to requesting process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mtClean="0"/>
              <a:t>Return control to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83EE162-87EF-44B3-A9FE-76787A425E96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174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317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6973FB3-D5A1-4C54-BCB3-38C33B2E981D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TW" sz="140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230188" y="392113"/>
            <a:ext cx="8070850" cy="560387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Layered File System revisited</a:t>
            </a:r>
          </a:p>
        </p:txBody>
      </p:sp>
      <p:sp>
        <p:nvSpPr>
          <p:cNvPr id="31750" name="Rectangle 3"/>
          <p:cNvSpPr>
            <a:spLocks noChangeArrowheads="1"/>
          </p:cNvSpPr>
          <p:nvPr/>
        </p:nvSpPr>
        <p:spPr bwMode="auto">
          <a:xfrm>
            <a:off x="2500313" y="2316163"/>
            <a:ext cx="2484437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Times New Roman" panose="02020603050405020304" pitchFamily="18" charset="0"/>
              </a:rPr>
              <a:t>   </a:t>
            </a:r>
            <a:r>
              <a:rPr lang="en-US" altLang="zh-TW" sz="2000" b="1">
                <a:solidFill>
                  <a:srgbClr val="FF0000"/>
                </a:solidFill>
                <a:latin typeface="Times New Roman" panose="02020603050405020304" pitchFamily="18" charset="0"/>
              </a:rPr>
              <a:t>Logical File System</a:t>
            </a:r>
          </a:p>
        </p:txBody>
      </p:sp>
      <p:sp>
        <p:nvSpPr>
          <p:cNvPr id="31751" name="Rectangle 4"/>
          <p:cNvSpPr>
            <a:spLocks noChangeArrowheads="1"/>
          </p:cNvSpPr>
          <p:nvPr/>
        </p:nvSpPr>
        <p:spPr bwMode="auto">
          <a:xfrm>
            <a:off x="2589213" y="1411288"/>
            <a:ext cx="258445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Application Programs</a:t>
            </a:r>
          </a:p>
        </p:txBody>
      </p:sp>
      <p:sp>
        <p:nvSpPr>
          <p:cNvPr id="31752" name="AutoShape 5"/>
          <p:cNvSpPr>
            <a:spLocks noChangeArrowheads="1"/>
          </p:cNvSpPr>
          <p:nvPr/>
        </p:nvSpPr>
        <p:spPr bwMode="auto">
          <a:xfrm rot="16200000" flipH="1">
            <a:off x="3543300" y="1916113"/>
            <a:ext cx="403225" cy="355600"/>
          </a:xfrm>
          <a:prstGeom prst="rightArrow">
            <a:avLst>
              <a:gd name="adj1" fmla="val 50000"/>
              <a:gd name="adj2" fmla="val 56702"/>
            </a:avLst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zh-TW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31753" name="AutoShape 6"/>
          <p:cNvSpPr>
            <a:spLocks noChangeArrowheads="1"/>
          </p:cNvSpPr>
          <p:nvPr/>
        </p:nvSpPr>
        <p:spPr bwMode="auto">
          <a:xfrm rot="16200000" flipH="1">
            <a:off x="3537743" y="2837657"/>
            <a:ext cx="404813" cy="355600"/>
          </a:xfrm>
          <a:prstGeom prst="rightArrow">
            <a:avLst>
              <a:gd name="adj1" fmla="val 50000"/>
              <a:gd name="adj2" fmla="val 56925"/>
            </a:avLst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1754" name="Rectangle 7"/>
          <p:cNvSpPr>
            <a:spLocks noChangeArrowheads="1"/>
          </p:cNvSpPr>
          <p:nvPr/>
        </p:nvSpPr>
        <p:spPr bwMode="auto">
          <a:xfrm>
            <a:off x="2579688" y="3260725"/>
            <a:ext cx="3005137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panose="02020603050405020304" pitchFamily="18" charset="0"/>
              </a:rPr>
              <a:t>File-Organization Module</a:t>
            </a:r>
          </a:p>
        </p:txBody>
      </p:sp>
      <p:sp>
        <p:nvSpPr>
          <p:cNvPr id="31755" name="AutoShape 8"/>
          <p:cNvSpPr>
            <a:spLocks noChangeArrowheads="1"/>
          </p:cNvSpPr>
          <p:nvPr/>
        </p:nvSpPr>
        <p:spPr bwMode="auto">
          <a:xfrm rot="16200000" flipH="1">
            <a:off x="3552031" y="3731420"/>
            <a:ext cx="403225" cy="354012"/>
          </a:xfrm>
          <a:prstGeom prst="rightArrow">
            <a:avLst>
              <a:gd name="adj1" fmla="val 50000"/>
              <a:gd name="adj2" fmla="val 56956"/>
            </a:avLst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1756" name="Rectangle 9"/>
          <p:cNvSpPr>
            <a:spLocks noChangeArrowheads="1"/>
          </p:cNvSpPr>
          <p:nvPr/>
        </p:nvSpPr>
        <p:spPr bwMode="auto">
          <a:xfrm>
            <a:off x="2509838" y="4130675"/>
            <a:ext cx="2513012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Times New Roman" panose="02020603050405020304" pitchFamily="18" charset="0"/>
              </a:rPr>
              <a:t>       </a:t>
            </a:r>
            <a:r>
              <a:rPr lang="en-US" altLang="zh-TW" sz="2000" b="1">
                <a:solidFill>
                  <a:srgbClr val="FF0000"/>
                </a:solidFill>
                <a:latin typeface="Times New Roman" panose="02020603050405020304" pitchFamily="18" charset="0"/>
              </a:rPr>
              <a:t>Basic File System</a:t>
            </a:r>
          </a:p>
        </p:txBody>
      </p:sp>
      <p:sp>
        <p:nvSpPr>
          <p:cNvPr id="31757" name="AutoShape 10"/>
          <p:cNvSpPr>
            <a:spLocks noChangeArrowheads="1"/>
          </p:cNvSpPr>
          <p:nvPr/>
        </p:nvSpPr>
        <p:spPr bwMode="auto">
          <a:xfrm rot="16200000" flipH="1">
            <a:off x="3560763" y="4652963"/>
            <a:ext cx="404812" cy="354012"/>
          </a:xfrm>
          <a:prstGeom prst="rightArrow">
            <a:avLst>
              <a:gd name="adj1" fmla="val 50000"/>
              <a:gd name="adj2" fmla="val 57180"/>
            </a:avLst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1758" name="Rectangle 11"/>
          <p:cNvSpPr>
            <a:spLocks noChangeArrowheads="1"/>
          </p:cNvSpPr>
          <p:nvPr/>
        </p:nvSpPr>
        <p:spPr bwMode="auto">
          <a:xfrm>
            <a:off x="2566988" y="5127625"/>
            <a:ext cx="2090737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Times New Roman" panose="02020603050405020304" pitchFamily="18" charset="0"/>
              </a:rPr>
              <a:t>          </a:t>
            </a:r>
            <a:r>
              <a:rPr lang="en-US" altLang="zh-TW" sz="2000" b="1">
                <a:latin typeface="Times New Roman" panose="02020603050405020304" pitchFamily="18" charset="0"/>
              </a:rPr>
              <a:t>I/O Control</a:t>
            </a:r>
          </a:p>
        </p:txBody>
      </p:sp>
      <p:sp>
        <p:nvSpPr>
          <p:cNvPr id="31759" name="AutoShape 12"/>
          <p:cNvSpPr>
            <a:spLocks noChangeArrowheads="1"/>
          </p:cNvSpPr>
          <p:nvPr/>
        </p:nvSpPr>
        <p:spPr bwMode="auto">
          <a:xfrm rot="16200000" flipH="1">
            <a:off x="3575050" y="5651500"/>
            <a:ext cx="404813" cy="354013"/>
          </a:xfrm>
          <a:prstGeom prst="rightArrow">
            <a:avLst>
              <a:gd name="adj1" fmla="val 50000"/>
              <a:gd name="adj2" fmla="val 57180"/>
            </a:avLst>
          </a:prstGeom>
          <a:solidFill>
            <a:srgbClr val="E8E8E8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1760" name="Rectangle 13"/>
          <p:cNvSpPr>
            <a:spLocks noChangeArrowheads="1"/>
          </p:cNvSpPr>
          <p:nvPr/>
        </p:nvSpPr>
        <p:spPr bwMode="auto">
          <a:xfrm>
            <a:off x="3295650" y="6067425"/>
            <a:ext cx="1062038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Times New Roman" panose="02020603050405020304" pitchFamily="18" charset="0"/>
              </a:rPr>
              <a:t> </a:t>
            </a:r>
            <a:r>
              <a:rPr lang="en-US" altLang="zh-TW" sz="2000" b="1">
                <a:latin typeface="Times New Roman" panose="02020603050405020304" pitchFamily="18" charset="0"/>
              </a:rPr>
              <a:t>Devices</a:t>
            </a:r>
          </a:p>
        </p:txBody>
      </p:sp>
      <p:sp>
        <p:nvSpPr>
          <p:cNvPr id="31761" name="Text Box 14"/>
          <p:cNvSpPr txBox="1">
            <a:spLocks noChangeArrowheads="1"/>
          </p:cNvSpPr>
          <p:nvPr/>
        </p:nvSpPr>
        <p:spPr bwMode="auto">
          <a:xfrm>
            <a:off x="5551488" y="1797050"/>
            <a:ext cx="3225800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Given a symbolic file name, 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  use directory to provide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  values needed by FOM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TW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31762" name="Text Box 15"/>
          <p:cNvSpPr txBox="1">
            <a:spLocks noChangeArrowheads="1"/>
          </p:cNvSpPr>
          <p:nvPr/>
        </p:nvSpPr>
        <p:spPr bwMode="auto">
          <a:xfrm>
            <a:off x="5459413" y="3060700"/>
            <a:ext cx="33686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Times New Roman" panose="02020603050405020304" pitchFamily="18" charset="0"/>
              </a:rPr>
              <a:t> </a:t>
            </a:r>
            <a:r>
              <a:rPr lang="en-US" altLang="zh-TW" sz="2000" b="1">
                <a:solidFill>
                  <a:schemeClr val="tx2"/>
                </a:solidFill>
                <a:latin typeface="Times New Roman" panose="02020603050405020304" pitchFamily="18" charset="0"/>
              </a:rPr>
              <a:t>Transform logical address to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chemeClr val="tx2"/>
                </a:solidFill>
                <a:latin typeface="Times New Roman" panose="02020603050405020304" pitchFamily="18" charset="0"/>
              </a:rPr>
              <a:t>   physical  block address</a:t>
            </a:r>
            <a:r>
              <a:rPr lang="en-US" altLang="zh-TW" sz="20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1763" name="Text Box 16"/>
          <p:cNvSpPr txBox="1">
            <a:spLocks noChangeArrowheads="1"/>
          </p:cNvSpPr>
          <p:nvPr/>
        </p:nvSpPr>
        <p:spPr bwMode="auto">
          <a:xfrm>
            <a:off x="5459413" y="4149725"/>
            <a:ext cx="26654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Times New Roman" panose="02020603050405020304" pitchFamily="18" charset="0"/>
              </a:rPr>
              <a:t>  </a:t>
            </a:r>
            <a:r>
              <a:rPr lang="en-US" altLang="zh-TW" sz="2000" b="1">
                <a:solidFill>
                  <a:schemeClr val="tx2"/>
                </a:solidFill>
                <a:latin typeface="Times New Roman" panose="02020603050405020304" pitchFamily="18" charset="0"/>
              </a:rPr>
              <a:t>Numeric disk address</a:t>
            </a:r>
          </a:p>
        </p:txBody>
      </p:sp>
      <p:sp>
        <p:nvSpPr>
          <p:cNvPr id="31764" name="Text Box 17"/>
          <p:cNvSpPr txBox="1">
            <a:spLocks noChangeArrowheads="1"/>
          </p:cNvSpPr>
          <p:nvPr/>
        </p:nvSpPr>
        <p:spPr bwMode="auto">
          <a:xfrm>
            <a:off x="5461000" y="5135563"/>
            <a:ext cx="3581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Times New Roman" panose="02020603050405020304" pitchFamily="18" charset="0"/>
              </a:rPr>
              <a:t>  </a:t>
            </a:r>
            <a:r>
              <a:rPr lang="en-US" altLang="zh-TW" sz="2000" b="1">
                <a:latin typeface="Times New Roman" panose="02020603050405020304" pitchFamily="18" charset="0"/>
              </a:rPr>
              <a:t>Driver: hardware instructions</a:t>
            </a:r>
          </a:p>
        </p:txBody>
      </p:sp>
      <p:sp>
        <p:nvSpPr>
          <p:cNvPr id="31765" name="Text Box 18"/>
          <p:cNvSpPr txBox="1">
            <a:spLocks noChangeArrowheads="1"/>
          </p:cNvSpPr>
          <p:nvPr/>
        </p:nvSpPr>
        <p:spPr bwMode="auto">
          <a:xfrm>
            <a:off x="230188" y="1865313"/>
            <a:ext cx="2527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Times New Roman" panose="02020603050405020304" pitchFamily="18" charset="0"/>
              </a:rPr>
              <a:t> </a:t>
            </a:r>
            <a:r>
              <a:rPr lang="en-US" altLang="zh-TW" sz="2000" b="1">
                <a:latin typeface="Times New Roman" panose="02020603050405020304" pitchFamily="18" charset="0"/>
              </a:rPr>
              <a:t>write(data_file, item)</a:t>
            </a:r>
          </a:p>
        </p:txBody>
      </p:sp>
      <p:sp>
        <p:nvSpPr>
          <p:cNvPr id="31766" name="Line 19"/>
          <p:cNvSpPr>
            <a:spLocks noChangeShapeType="1"/>
          </p:cNvSpPr>
          <p:nvPr/>
        </p:nvSpPr>
        <p:spPr bwMode="auto">
          <a:xfrm>
            <a:off x="1079500" y="1603375"/>
            <a:ext cx="387350" cy="317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1767" name="Text Box 20"/>
          <p:cNvSpPr txBox="1">
            <a:spLocks noChangeArrowheads="1"/>
          </p:cNvSpPr>
          <p:nvPr/>
        </p:nvSpPr>
        <p:spPr bwMode="auto">
          <a:xfrm>
            <a:off x="404813" y="1300163"/>
            <a:ext cx="1176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file name</a:t>
            </a:r>
          </a:p>
        </p:txBody>
      </p:sp>
      <p:sp>
        <p:nvSpPr>
          <p:cNvPr id="31768" name="Text Box 21"/>
          <p:cNvSpPr txBox="1">
            <a:spLocks noChangeArrowheads="1"/>
          </p:cNvSpPr>
          <p:nvPr/>
        </p:nvSpPr>
        <p:spPr bwMode="auto">
          <a:xfrm>
            <a:off x="366713" y="2695575"/>
            <a:ext cx="154305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information 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of data_file</a:t>
            </a:r>
          </a:p>
        </p:txBody>
      </p:sp>
      <p:sp>
        <p:nvSpPr>
          <p:cNvPr id="31769" name="Text Box 22"/>
          <p:cNvSpPr txBox="1">
            <a:spLocks noChangeArrowheads="1"/>
          </p:cNvSpPr>
          <p:nvPr/>
        </p:nvSpPr>
        <p:spPr bwMode="auto">
          <a:xfrm>
            <a:off x="414338" y="3748088"/>
            <a:ext cx="15732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2144</a:t>
            </a:r>
            <a:r>
              <a:rPr lang="en-US" altLang="zh-TW" sz="2000" b="1">
                <a:solidFill>
                  <a:srgbClr val="000000"/>
                </a:solidFill>
                <a:latin typeface="Times New Roman" panose="02020603050405020304" pitchFamily="18" charset="0"/>
              </a:rPr>
              <a:t>th block</a:t>
            </a:r>
          </a:p>
        </p:txBody>
      </p:sp>
      <p:sp>
        <p:nvSpPr>
          <p:cNvPr id="31770" name="Text Box 23"/>
          <p:cNvSpPr txBox="1">
            <a:spLocks noChangeArrowheads="1"/>
          </p:cNvSpPr>
          <p:nvPr/>
        </p:nvSpPr>
        <p:spPr bwMode="auto">
          <a:xfrm>
            <a:off x="331788" y="4600575"/>
            <a:ext cx="2509837" cy="110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Times New Roman" panose="02020603050405020304" pitchFamily="18" charset="0"/>
              </a:rPr>
              <a:t>driver 1,  cylinder 73,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Times New Roman" panose="02020603050405020304" pitchFamily="18" charset="0"/>
              </a:rPr>
              <a:t>surface 2, sector 10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zh-TW" altLang="en-US" sz="20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A674DBF-C6FD-4A7E-BC0A-EE780C50146B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2771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3277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23CE2D3-149A-419F-BB5C-71F14B4E1714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zh-TW" sz="140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65150"/>
          </a:xfrm>
        </p:spPr>
        <p:txBody>
          <a:bodyPr/>
          <a:lstStyle/>
          <a:p>
            <a:pPr eaLnBrk="1" hangingPunct="1"/>
            <a:r>
              <a:rPr lang="en-US" altLang="zh-TW" smtClean="0"/>
              <a:t>Life Cycle of An I/O Request</a:t>
            </a:r>
            <a:endParaRPr lang="en-US" altLang="zh-TW" sz="3600" smtClean="0"/>
          </a:p>
        </p:txBody>
      </p:sp>
      <p:pic>
        <p:nvPicPr>
          <p:cNvPr id="3277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50" t="780" r="24350" b="1387"/>
          <a:stretch>
            <a:fillRect/>
          </a:stretch>
        </p:blipFill>
        <p:spPr bwMode="auto">
          <a:xfrm>
            <a:off x="1484313" y="862013"/>
            <a:ext cx="6699250" cy="55626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775" name="Text Box 5"/>
          <p:cNvSpPr txBox="1">
            <a:spLocks noChangeArrowheads="1"/>
          </p:cNvSpPr>
          <p:nvPr/>
        </p:nvSpPr>
        <p:spPr bwMode="auto">
          <a:xfrm>
            <a:off x="177800" y="2473325"/>
            <a:ext cx="1295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Pages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579-580</a:t>
            </a: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3668713" y="1736725"/>
            <a:ext cx="1071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In buffer</a:t>
            </a:r>
          </a:p>
        </p:txBody>
      </p:sp>
      <p:sp>
        <p:nvSpPr>
          <p:cNvPr id="60423" name="Text Box 7"/>
          <p:cNvSpPr txBox="1">
            <a:spLocks noChangeArrowheads="1"/>
          </p:cNvSpPr>
          <p:nvPr/>
        </p:nvSpPr>
        <p:spPr bwMode="auto">
          <a:xfrm>
            <a:off x="3243263" y="2417763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b="1">
                <a:solidFill>
                  <a:srgbClr val="FF0000"/>
                </a:solidFill>
              </a:rPr>
              <a:t>Physical I/O</a:t>
            </a:r>
          </a:p>
        </p:txBody>
      </p:sp>
      <p:sp>
        <p:nvSpPr>
          <p:cNvPr id="60424" name="Line 8"/>
          <p:cNvSpPr>
            <a:spLocks noChangeShapeType="1"/>
          </p:cNvSpPr>
          <p:nvPr/>
        </p:nvSpPr>
        <p:spPr bwMode="auto">
          <a:xfrm>
            <a:off x="2420938" y="3116263"/>
            <a:ext cx="13017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60425" name="Oval 9"/>
          <p:cNvSpPr>
            <a:spLocks noChangeArrowheads="1"/>
          </p:cNvSpPr>
          <p:nvPr/>
        </p:nvSpPr>
        <p:spPr bwMode="auto">
          <a:xfrm>
            <a:off x="4186238" y="2846388"/>
            <a:ext cx="1196975" cy="604837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0426" name="Rectangle 10"/>
          <p:cNvSpPr>
            <a:spLocks noChangeArrowheads="1"/>
          </p:cNvSpPr>
          <p:nvPr/>
        </p:nvSpPr>
        <p:spPr bwMode="auto">
          <a:xfrm>
            <a:off x="4456113" y="3670300"/>
            <a:ext cx="617537" cy="38576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>
              <a:solidFill>
                <a:srgbClr val="FF0000"/>
              </a:solidFill>
            </a:endParaRPr>
          </a:p>
        </p:txBody>
      </p:sp>
      <p:sp>
        <p:nvSpPr>
          <p:cNvPr id="60428" name="Text Box 12"/>
          <p:cNvSpPr txBox="1">
            <a:spLocks noChangeArrowheads="1"/>
          </p:cNvSpPr>
          <p:nvPr/>
        </p:nvSpPr>
        <p:spPr bwMode="auto">
          <a:xfrm>
            <a:off x="2832100" y="4697413"/>
            <a:ext cx="1870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FF0000"/>
                </a:solidFill>
              </a:rPr>
              <a:t>Perform data transfer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2" grpId="0"/>
      <p:bldP spid="60423" grpId="0"/>
      <p:bldP spid="60424" grpId="0" animBg="1"/>
      <p:bldP spid="60425" grpId="0" animBg="1"/>
      <p:bldP spid="60426" grpId="0" animBg="1"/>
      <p:bldP spid="6042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2D9285A-B89D-4C55-9CE0-BF35317A377F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379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337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FEE716B-6587-4C9B-985A-3CD212EF0B3E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zh-TW" sz="140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547688" y="280988"/>
            <a:ext cx="8042275" cy="1116012"/>
          </a:xfrm>
        </p:spPr>
        <p:txBody>
          <a:bodyPr/>
          <a:lstStyle/>
          <a:p>
            <a:pPr eaLnBrk="1" hangingPunct="1"/>
            <a:r>
              <a:rPr lang="en-US" altLang="zh-TW" smtClean="0"/>
              <a:t>STREAMS </a:t>
            </a:r>
            <a:r>
              <a:rPr lang="en-US" altLang="zh-TW" sz="2400" smtClean="0">
                <a:solidFill>
                  <a:srgbClr val="FF0000"/>
                </a:solidFill>
              </a:rPr>
              <a:t>(UNIX System V and most UNIX variants) </a:t>
            </a:r>
            <a:r>
              <a:rPr lang="en-US" altLang="zh-TW" sz="3200" smtClean="0">
                <a:solidFill>
                  <a:srgbClr val="0000FF"/>
                </a:solidFill>
              </a:rPr>
              <a:t>Non-Blocking</a:t>
            </a:r>
          </a:p>
        </p:txBody>
      </p:sp>
      <p:sp>
        <p:nvSpPr>
          <p:cNvPr id="942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65125" y="1423988"/>
            <a:ext cx="8540750" cy="50974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b="1" smtClean="0"/>
              <a:t>STREAM</a:t>
            </a:r>
            <a:r>
              <a:rPr lang="en-US" altLang="zh-TW" sz="2400" smtClean="0"/>
              <a:t> </a:t>
            </a:r>
            <a:r>
              <a:rPr lang="en-US" altLang="zh-TW" sz="2400" smtClean="0">
                <a:latin typeface="Helvetica" panose="020B0604020202020204" pitchFamily="34" charset="0"/>
              </a:rPr>
              <a:t>–</a:t>
            </a:r>
            <a:r>
              <a:rPr lang="en-US" altLang="zh-TW" sz="2400" smtClean="0"/>
              <a:t> a full-duplex </a:t>
            </a:r>
            <a:r>
              <a:rPr lang="en-US" altLang="zh-TW" sz="2400" b="1" smtClean="0">
                <a:solidFill>
                  <a:srgbClr val="FF0000"/>
                </a:solidFill>
              </a:rPr>
              <a:t>communication channel</a:t>
            </a:r>
            <a:r>
              <a:rPr lang="en-US" altLang="zh-TW" sz="2400" smtClean="0"/>
              <a:t> between a </a:t>
            </a:r>
            <a:r>
              <a:rPr lang="en-US" altLang="zh-TW" sz="2400" smtClean="0">
                <a:solidFill>
                  <a:srgbClr val="FF0000"/>
                </a:solidFill>
              </a:rPr>
              <a:t>user-level process</a:t>
            </a:r>
            <a:r>
              <a:rPr lang="en-US" altLang="zh-TW" sz="2400" smtClean="0"/>
              <a:t> and a </a:t>
            </a:r>
            <a:r>
              <a:rPr lang="en-US" altLang="zh-TW" sz="2400" smtClean="0">
                <a:solidFill>
                  <a:srgbClr val="FF0000"/>
                </a:solidFill>
              </a:rPr>
              <a:t>device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/>
              <a:t>A STREAM consists of:</a:t>
            </a:r>
          </a:p>
          <a:p>
            <a:pPr lvl="1" eaLnBrk="1" hangingPunct="1">
              <a:lnSpc>
                <a:spcPct val="90000"/>
              </a:lnSpc>
              <a:buFont typeface="Symbol" panose="05050102010706020507" pitchFamily="18" charset="2"/>
              <a:buChar char="-"/>
            </a:pPr>
            <a:r>
              <a:rPr lang="en-US" altLang="zh-TW" sz="2000" b="1" smtClean="0"/>
              <a:t>STREAM head</a:t>
            </a:r>
            <a:r>
              <a:rPr lang="en-US" altLang="zh-TW" sz="2000" smtClean="0"/>
              <a:t> interfaces with the </a:t>
            </a:r>
            <a:r>
              <a:rPr lang="en-US" altLang="zh-TW" sz="2000" smtClean="0">
                <a:solidFill>
                  <a:srgbClr val="0000FF"/>
                </a:solidFill>
              </a:rPr>
              <a:t>user process</a:t>
            </a:r>
          </a:p>
          <a:p>
            <a:pPr lvl="1" eaLnBrk="1" hangingPunct="1">
              <a:lnSpc>
                <a:spcPct val="90000"/>
              </a:lnSpc>
              <a:buFont typeface="Symbol" panose="05050102010706020507" pitchFamily="18" charset="2"/>
              <a:buChar char="-"/>
            </a:pPr>
            <a:r>
              <a:rPr lang="en-US" altLang="zh-TW" sz="2000" b="1" smtClean="0"/>
              <a:t>driver end</a:t>
            </a:r>
            <a:r>
              <a:rPr lang="en-US" altLang="zh-TW" sz="2000" smtClean="0"/>
              <a:t> interfaces with the </a:t>
            </a:r>
            <a:r>
              <a:rPr lang="en-US" altLang="zh-TW" sz="2000" smtClean="0">
                <a:solidFill>
                  <a:srgbClr val="0000FF"/>
                </a:solidFill>
              </a:rPr>
              <a:t>device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zh-TW" sz="1800" smtClean="0">
                <a:solidFill>
                  <a:srgbClr val="FF0000"/>
                </a:solidFill>
              </a:rPr>
              <a:t>support flow control, drops incoming messages if necessary</a:t>
            </a:r>
          </a:p>
          <a:p>
            <a:pPr lvl="1" eaLnBrk="1" hangingPunct="1">
              <a:lnSpc>
                <a:spcPct val="90000"/>
              </a:lnSpc>
              <a:buFont typeface="Symbol" panose="05050102010706020507" pitchFamily="18" charset="2"/>
              <a:buChar char="-"/>
            </a:pPr>
            <a:r>
              <a:rPr lang="en-US" altLang="zh-TW" sz="2000" smtClean="0"/>
              <a:t>zero or more STREAM modules between them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/>
              <a:t>Each module contains a </a:t>
            </a:r>
            <a:r>
              <a:rPr lang="en-US" altLang="zh-TW" sz="2400" b="1" smtClean="0"/>
              <a:t>read  queue</a:t>
            </a:r>
            <a:r>
              <a:rPr lang="en-US" altLang="zh-TW" sz="2400" smtClean="0"/>
              <a:t> and a </a:t>
            </a:r>
            <a:r>
              <a:rPr lang="en-US" altLang="zh-TW" sz="2400" b="1" smtClean="0"/>
              <a:t>write queue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/>
              <a:t>Message passing is used to </a:t>
            </a:r>
            <a:r>
              <a:rPr lang="en-US" altLang="zh-TW" sz="2400" smtClean="0">
                <a:solidFill>
                  <a:srgbClr val="FF0000"/>
                </a:solidFill>
              </a:rPr>
              <a:t>communicate between queues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>
                <a:solidFill>
                  <a:srgbClr val="FF0000"/>
                </a:solidFill>
              </a:rPr>
              <a:t>Provides a framework to a modular and incremental approach to writing drivers and network protocols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C690627-381F-4D22-A63E-945A3F1B200C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4819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3482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34CED49-4FBA-4346-B49E-EDB82494E484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zh-TW" sz="140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1127125" y="0"/>
            <a:ext cx="7772400" cy="844550"/>
          </a:xfrm>
        </p:spPr>
        <p:txBody>
          <a:bodyPr/>
          <a:lstStyle/>
          <a:p>
            <a:pPr eaLnBrk="1" hangingPunct="1"/>
            <a:r>
              <a:rPr lang="en-US" altLang="zh-TW" smtClean="0"/>
              <a:t>The STREAMS Structure</a:t>
            </a:r>
            <a:endParaRPr lang="en-US" altLang="zh-TW" sz="3600" smtClean="0"/>
          </a:p>
        </p:txBody>
      </p:sp>
      <p:pic>
        <p:nvPicPr>
          <p:cNvPr id="3482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4" t="1266" r="16287" b="1520"/>
          <a:stretch>
            <a:fillRect/>
          </a:stretch>
        </p:blipFill>
        <p:spPr bwMode="auto">
          <a:xfrm>
            <a:off x="1027113" y="950913"/>
            <a:ext cx="7180262" cy="54737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D3456D0-2EB3-4A5D-A7A5-636D8DB8D1CA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584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358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7D4CA67-6B84-436C-B3D2-0D491C72152F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zh-TW" sz="1400"/>
          </a:p>
        </p:txBody>
      </p:sp>
      <p:sp>
        <p:nvSpPr>
          <p:cNvPr id="3584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39800"/>
          </a:xfrm>
        </p:spPr>
        <p:txBody>
          <a:bodyPr/>
          <a:lstStyle/>
          <a:p>
            <a:pPr eaLnBrk="1" hangingPunct="1"/>
            <a:r>
              <a:rPr lang="en-US" altLang="zh-TW" smtClean="0"/>
              <a:t>Performance</a:t>
            </a:r>
          </a:p>
        </p:txBody>
      </p:sp>
      <p:sp>
        <p:nvSpPr>
          <p:cNvPr id="61443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19113" y="1254125"/>
            <a:ext cx="8223250" cy="48974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smtClean="0"/>
              <a:t>I/O is a major factor in OS system performance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000" smtClean="0"/>
              <a:t>It places</a:t>
            </a:r>
            <a:r>
              <a:rPr lang="zh-TW" altLang="en-US" sz="2000" smtClean="0"/>
              <a:t> </a:t>
            </a:r>
            <a:r>
              <a:rPr lang="en-US" altLang="zh-TW" sz="2000" smtClean="0"/>
              <a:t>heavy demands on the CPU to execute </a:t>
            </a:r>
            <a:r>
              <a:rPr lang="en-US" altLang="zh-TW" sz="2000" smtClean="0">
                <a:solidFill>
                  <a:srgbClr val="FF0000"/>
                </a:solidFill>
              </a:rPr>
              <a:t>device driver code</a:t>
            </a:r>
            <a:r>
              <a:rPr lang="en-US" altLang="zh-TW" sz="2000" smtClean="0"/>
              <a:t>, and to schedule processes fairly and efficiently as they block and unblock</a:t>
            </a:r>
            <a:endParaRPr lang="en-US" altLang="zh-TW" sz="200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000" smtClean="0"/>
              <a:t>The</a:t>
            </a:r>
            <a:r>
              <a:rPr lang="en-US" altLang="zh-TW" sz="2000" b="1" smtClean="0">
                <a:solidFill>
                  <a:srgbClr val="FF0000"/>
                </a:solidFill>
              </a:rPr>
              <a:t> </a:t>
            </a:r>
            <a:r>
              <a:rPr lang="en-US" altLang="zh-TW" sz="2000" smtClean="0"/>
              <a:t>resulting</a:t>
            </a:r>
            <a:r>
              <a:rPr lang="en-US" altLang="zh-TW" sz="2000" b="1" smtClean="0">
                <a:solidFill>
                  <a:srgbClr val="FF0000"/>
                </a:solidFill>
              </a:rPr>
              <a:t> context switches</a:t>
            </a:r>
            <a:r>
              <a:rPr lang="en-US" altLang="zh-TW" sz="2000" smtClean="0"/>
              <a:t> stress the CPU and its hardware caches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000" smtClean="0"/>
              <a:t>I/O also exposes any inefficiencies in the interrupt-handling mechanism in the kernel, and I/O loads down the memory bus during data copy between controllers and physical memory, </a:t>
            </a:r>
            <a:r>
              <a:rPr lang="en-US" altLang="zh-TW" sz="2000" smtClean="0">
                <a:latin typeface="Helvetica" panose="020B0604020202020204" pitchFamily="34" charset="0"/>
              </a:rPr>
              <a:t>…</a:t>
            </a:r>
            <a:endParaRPr lang="en-US" altLang="zh-TW" sz="2000" smtClean="0"/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000" smtClean="0"/>
              <a:t>Although the modern computers can handle </a:t>
            </a:r>
            <a:r>
              <a:rPr lang="en-US" altLang="zh-TW" sz="2000" smtClean="0">
                <a:solidFill>
                  <a:srgbClr val="FF0000"/>
                </a:solidFill>
              </a:rPr>
              <a:t>many thousands of interrupts,</a:t>
            </a:r>
            <a:r>
              <a:rPr lang="en-US" altLang="zh-TW" sz="2000" smtClean="0"/>
              <a:t> interrupt handling is a relatively expensive task.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z="2000" smtClean="0">
                <a:solidFill>
                  <a:srgbClr val="FF0000"/>
                </a:solidFill>
              </a:rPr>
              <a:t>Network traffic</a:t>
            </a:r>
            <a:r>
              <a:rPr lang="en-US" altLang="zh-TW" sz="2000" smtClean="0"/>
              <a:t> can also cause a high context-switch rate, see a demonstrative example in the next slice.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7300D47-97B9-4645-A483-B8191EF27A2C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6867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3686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274B161-7370-4DF4-B6D7-D1B91BF9B549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kumimoji="0" lang="en-US" altLang="zh-TW" sz="140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68275"/>
            <a:ext cx="7772400" cy="601663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Intercomputer Communications</a:t>
            </a:r>
            <a:endParaRPr lang="en-US" altLang="zh-TW" sz="3200" smtClean="0"/>
          </a:p>
        </p:txBody>
      </p:sp>
      <p:pic>
        <p:nvPicPr>
          <p:cNvPr id="3687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3" t="844" r="11159" b="563"/>
          <a:stretch>
            <a:fillRect/>
          </a:stretch>
        </p:blipFill>
        <p:spPr bwMode="auto">
          <a:xfrm>
            <a:off x="581025" y="998538"/>
            <a:ext cx="7778750" cy="5481637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468" name="Oval 4"/>
          <p:cNvSpPr>
            <a:spLocks noChangeArrowheads="1"/>
          </p:cNvSpPr>
          <p:nvPr/>
        </p:nvSpPr>
        <p:spPr bwMode="auto">
          <a:xfrm>
            <a:off x="927100" y="5113338"/>
            <a:ext cx="631825" cy="579437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2469" name="Oval 5"/>
          <p:cNvSpPr>
            <a:spLocks noChangeArrowheads="1"/>
          </p:cNvSpPr>
          <p:nvPr/>
        </p:nvSpPr>
        <p:spPr bwMode="auto">
          <a:xfrm>
            <a:off x="1841500" y="5537200"/>
            <a:ext cx="644525" cy="5937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2470" name="Oval 6"/>
          <p:cNvSpPr>
            <a:spLocks noChangeArrowheads="1"/>
          </p:cNvSpPr>
          <p:nvPr/>
        </p:nvSpPr>
        <p:spPr bwMode="auto">
          <a:xfrm>
            <a:off x="2794000" y="1803400"/>
            <a:ext cx="619125" cy="5016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2471" name="Oval 7"/>
          <p:cNvSpPr>
            <a:spLocks noChangeArrowheads="1"/>
          </p:cNvSpPr>
          <p:nvPr/>
        </p:nvSpPr>
        <p:spPr bwMode="auto">
          <a:xfrm>
            <a:off x="5421313" y="5126038"/>
            <a:ext cx="566737" cy="566737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2473" name="Oval 9"/>
          <p:cNvSpPr>
            <a:spLocks noChangeArrowheads="1"/>
          </p:cNvSpPr>
          <p:nvPr/>
        </p:nvSpPr>
        <p:spPr bwMode="auto">
          <a:xfrm>
            <a:off x="6413500" y="5589588"/>
            <a:ext cx="566738" cy="528637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2474" name="Oval 10"/>
          <p:cNvSpPr>
            <a:spLocks noChangeArrowheads="1"/>
          </p:cNvSpPr>
          <p:nvPr/>
        </p:nvSpPr>
        <p:spPr bwMode="auto">
          <a:xfrm>
            <a:off x="7366000" y="5087938"/>
            <a:ext cx="503238" cy="642937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2476" name="Rectangle 12"/>
          <p:cNvSpPr>
            <a:spLocks noChangeArrowheads="1"/>
          </p:cNvSpPr>
          <p:nvPr/>
        </p:nvSpPr>
        <p:spPr bwMode="auto">
          <a:xfrm>
            <a:off x="828675" y="2312988"/>
            <a:ext cx="836613" cy="328612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2477" name="Rectangle 13"/>
          <p:cNvSpPr>
            <a:spLocks noChangeArrowheads="1"/>
          </p:cNvSpPr>
          <p:nvPr/>
        </p:nvSpPr>
        <p:spPr bwMode="auto">
          <a:xfrm>
            <a:off x="2711450" y="3157538"/>
            <a:ext cx="836613" cy="296862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2478" name="Rectangle 14"/>
          <p:cNvSpPr>
            <a:spLocks noChangeArrowheads="1"/>
          </p:cNvSpPr>
          <p:nvPr/>
        </p:nvSpPr>
        <p:spPr bwMode="auto">
          <a:xfrm>
            <a:off x="5322888" y="3149600"/>
            <a:ext cx="890587" cy="328613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6880" name="Oval 15"/>
          <p:cNvSpPr>
            <a:spLocks noChangeArrowheads="1"/>
          </p:cNvSpPr>
          <p:nvPr/>
        </p:nvSpPr>
        <p:spPr bwMode="auto">
          <a:xfrm>
            <a:off x="852488" y="3978275"/>
            <a:ext cx="788987" cy="336550"/>
          </a:xfrm>
          <a:prstGeom prst="ellips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6881" name="Oval 16"/>
          <p:cNvSpPr>
            <a:spLocks noChangeArrowheads="1"/>
          </p:cNvSpPr>
          <p:nvPr/>
        </p:nvSpPr>
        <p:spPr bwMode="auto">
          <a:xfrm>
            <a:off x="2805113" y="4799013"/>
            <a:ext cx="625475" cy="366712"/>
          </a:xfrm>
          <a:prstGeom prst="ellips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>
              <a:solidFill>
                <a:schemeClr val="tx2"/>
              </a:solidFill>
            </a:endParaRPr>
          </a:p>
        </p:txBody>
      </p:sp>
      <p:sp>
        <p:nvSpPr>
          <p:cNvPr id="36882" name="Oval 17"/>
          <p:cNvSpPr>
            <a:spLocks noChangeArrowheads="1"/>
          </p:cNvSpPr>
          <p:nvPr/>
        </p:nvSpPr>
        <p:spPr bwMode="auto">
          <a:xfrm>
            <a:off x="5376863" y="3962400"/>
            <a:ext cx="766762" cy="352425"/>
          </a:xfrm>
          <a:prstGeom prst="ellipse">
            <a:avLst/>
          </a:prstGeom>
          <a:noFill/>
          <a:ln w="952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650875" y="620713"/>
            <a:ext cx="76311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Remote Control: every char typed on local must be transported to remote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 animBg="1"/>
      <p:bldP spid="62469" grpId="0" animBg="1"/>
      <p:bldP spid="62470" grpId="0" animBg="1"/>
      <p:bldP spid="62471" grpId="0" animBg="1"/>
      <p:bldP spid="62473" grpId="0" animBg="1"/>
      <p:bldP spid="62474" grpId="0" animBg="1"/>
      <p:bldP spid="62476" grpId="0" animBg="1"/>
      <p:bldP spid="62477" grpId="0" animBg="1"/>
      <p:bldP spid="6247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D0DC157-8FD0-488E-A2BD-95E0C3CD1040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789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378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E4D1344-F2C0-4308-A8C9-8072DC1B23CB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kumimoji="0" lang="en-US" altLang="zh-TW" sz="140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Improving Performance</a:t>
            </a: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585913"/>
            <a:ext cx="8164513" cy="45799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/>
              <a:t>Reduce </a:t>
            </a:r>
            <a:r>
              <a:rPr lang="en-US" altLang="zh-TW" smtClean="0">
                <a:solidFill>
                  <a:srgbClr val="FF0000"/>
                </a:solidFill>
              </a:rPr>
              <a:t>number of context switches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/>
              <a:t>Reduce </a:t>
            </a:r>
            <a:r>
              <a:rPr lang="en-US" altLang="zh-TW" smtClean="0">
                <a:solidFill>
                  <a:srgbClr val="FF0000"/>
                </a:solidFill>
              </a:rPr>
              <a:t>data copying</a:t>
            </a:r>
            <a:r>
              <a:rPr lang="en-US" altLang="zh-TW" smtClean="0"/>
              <a:t>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/>
              <a:t>Reduce </a:t>
            </a:r>
            <a:r>
              <a:rPr lang="en-US" altLang="zh-TW" smtClean="0">
                <a:solidFill>
                  <a:srgbClr val="FF0000"/>
                </a:solidFill>
              </a:rPr>
              <a:t>interrupts </a:t>
            </a:r>
            <a:r>
              <a:rPr lang="en-US" altLang="zh-TW" smtClean="0"/>
              <a:t>by using large transfers, smart controllers, polling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/>
              <a:t>Use </a:t>
            </a:r>
            <a:r>
              <a:rPr lang="en-US" altLang="zh-TW" smtClean="0">
                <a:solidFill>
                  <a:srgbClr val="FF0000"/>
                </a:solidFill>
              </a:rPr>
              <a:t>DMA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/>
              <a:t>Balance CPU, memory, bus, and I/O performance for highest throughput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版面配置區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40F02A6-849A-429C-A0C6-E3CD577FB1D9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8915" name="頁尾版面配置區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3891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8A43960-5498-4255-A0D5-EF0BD00550C0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kumimoji="0" lang="en-US" altLang="zh-TW" sz="1400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>
          <a:xfrm>
            <a:off x="409575" y="273050"/>
            <a:ext cx="7772400" cy="801688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Device-Functionality Progression</a:t>
            </a:r>
            <a:endParaRPr lang="en-US" altLang="zh-TW" sz="3200" smtClean="0"/>
          </a:p>
        </p:txBody>
      </p:sp>
      <p:pic>
        <p:nvPicPr>
          <p:cNvPr id="3891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" t="9627" r="916" b="10115"/>
          <a:stretch>
            <a:fillRect/>
          </a:stretch>
        </p:blipFill>
        <p:spPr bwMode="auto">
          <a:xfrm>
            <a:off x="488950" y="1049338"/>
            <a:ext cx="7872413" cy="483552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20" name="Text Box 8"/>
          <p:cNvSpPr txBox="1">
            <a:spLocks noChangeArrowheads="1"/>
          </p:cNvSpPr>
          <p:nvPr/>
        </p:nvSpPr>
        <p:spPr bwMode="auto">
          <a:xfrm>
            <a:off x="3875088" y="2206625"/>
            <a:ext cx="5030787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FF"/>
                </a:solidFill>
              </a:rPr>
              <a:t>flexible,</a:t>
            </a:r>
            <a:r>
              <a:rPr lang="en-US" altLang="zh-TW" sz="2000">
                <a:solidFill>
                  <a:srgbClr val="0000FF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FF"/>
                </a:solidFill>
              </a:rPr>
              <a:t>application bugs are unlikely to cause system crashes,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FF"/>
                </a:solidFill>
              </a:rPr>
              <a:t>avoid reboot or reload,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FF"/>
                </a:solidFill>
              </a:rPr>
              <a:t>inefficient: context switches, </a:t>
            </a:r>
            <a:endParaRPr lang="en-US" altLang="zh-TW" sz="2000">
              <a:solidFill>
                <a:srgbClr val="0000FF"/>
              </a:solidFill>
            </a:endParaRPr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3957638" y="5083175"/>
            <a:ext cx="34766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FF"/>
                </a:solidFill>
              </a:rPr>
              <a:t>difficulty and expense of fixing bugs </a:t>
            </a:r>
            <a:endParaRPr lang="en-US" altLang="zh-TW" sz="20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0" grpId="0"/>
      <p:bldP spid="389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0B58962-2BB2-4182-A56E-3EE6201C9F59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07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30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93A7D18-BE8B-4290-9884-C932594D2C40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kumimoji="0" lang="en-US" altLang="zh-TW" sz="1400"/>
          </a:p>
        </p:txBody>
      </p:sp>
      <p:sp>
        <p:nvSpPr>
          <p:cNvPr id="15" name="日期版面配置區 3"/>
          <p:cNvSpPr txBox="1">
            <a:spLocks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4E4D97F-C3FA-448C-860D-D591419F9696}" type="datetime1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2018/5/21</a:t>
            </a:fld>
            <a:endParaRPr kumimoji="0" lang="en-US" altLang="zh-TW" sz="1400" smtClean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076325"/>
            <a:ext cx="845820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804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B1493B8-AEED-48E4-A361-95F9F5442B55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07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30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93A7D18-BE8B-4290-9884-C932594D2C40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kumimoji="0" lang="en-US" altLang="zh-TW" sz="1400"/>
          </a:p>
        </p:txBody>
      </p:sp>
      <p:sp>
        <p:nvSpPr>
          <p:cNvPr id="15" name="日期版面配置區 3"/>
          <p:cNvSpPr txBox="1">
            <a:spLocks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4E4D97F-C3FA-448C-860D-D591419F9696}" type="datetime1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2018/5/21</a:t>
            </a:fld>
            <a:endParaRPr kumimoji="0" lang="en-US" altLang="zh-TW" sz="1400" smtClean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7" y="776287"/>
            <a:ext cx="884872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921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EDCDA09-0A11-43A8-963D-5F269CD16E24}" type="datetime1">
              <a:rPr kumimoji="0" lang="zh-TW" altLang="en-US" sz="1400" smtClean="0"/>
              <a:t>2018/5/21</a:t>
            </a:fld>
            <a:endParaRPr kumimoji="0" lang="en-US" altLang="zh-TW" sz="1400" smtClean="0"/>
          </a:p>
        </p:txBody>
      </p:sp>
      <p:sp>
        <p:nvSpPr>
          <p:cNvPr id="307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os13-2018</a:t>
            </a:r>
            <a:endParaRPr kumimoji="0" lang="en-US" altLang="zh-TW" sz="1400" smtClean="0"/>
          </a:p>
        </p:txBody>
      </p:sp>
      <p:sp>
        <p:nvSpPr>
          <p:cNvPr id="30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93A7D18-BE8B-4290-9884-C932594D2C40}" type="slidenum">
              <a:rPr kumimoji="0" lang="zh-TW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kumimoji="0" lang="en-US" altLang="zh-TW" sz="1400"/>
          </a:p>
        </p:txBody>
      </p:sp>
      <p:sp>
        <p:nvSpPr>
          <p:cNvPr id="15" name="日期版面配置區 3"/>
          <p:cNvSpPr txBox="1">
            <a:spLocks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4E4D97F-C3FA-448C-860D-D591419F9696}" type="datetime1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2018/5/21</a:t>
            </a:fld>
            <a:endParaRPr kumimoji="0" lang="en-US" altLang="zh-TW" sz="1400" smtClean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95" y="200025"/>
            <a:ext cx="7258050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701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1761</TotalTime>
  <Words>1359</Words>
  <Application>Microsoft Office PowerPoint</Application>
  <PresentationFormat>如螢幕大小 (4:3)</PresentationFormat>
  <Paragraphs>373</Paragraphs>
  <Slides>39</Slides>
  <Notes>39</Notes>
  <HiddenSlides>4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39</vt:i4>
      </vt:variant>
    </vt:vector>
  </HeadingPairs>
  <TitlesOfParts>
    <vt:vector size="50" baseType="lpstr">
      <vt:lpstr>Adobe Gothic Std B</vt:lpstr>
      <vt:lpstr>Arial Unicode MS</vt:lpstr>
      <vt:lpstr>新細明體</vt:lpstr>
      <vt:lpstr>Comic Sans MS</vt:lpstr>
      <vt:lpstr>Courier New</vt:lpstr>
      <vt:lpstr>Helvetica</vt:lpstr>
      <vt:lpstr>Symbol</vt:lpstr>
      <vt:lpstr>Tahoma</vt:lpstr>
      <vt:lpstr>Times New Roman</vt:lpstr>
      <vt:lpstr>Wingdings</vt:lpstr>
      <vt:lpstr>Blueprint</vt:lpstr>
      <vt:lpstr>Chapter 13  I/O Systems</vt:lpstr>
      <vt:lpstr>Outline</vt:lpstr>
      <vt:lpstr>I/O Hardware</vt:lpstr>
      <vt:lpstr>A Typical PC Bus Structure</vt:lpstr>
      <vt:lpstr>Device I/O Port Locations on PCs (partial)</vt:lpstr>
      <vt:lpstr>Polling</vt:lpstr>
      <vt:lpstr>Interrupts</vt:lpstr>
      <vt:lpstr>Interrupt-Driven I/O Cycle</vt:lpstr>
      <vt:lpstr>Intel Pentium Processor  Event-Vector Table</vt:lpstr>
      <vt:lpstr>Direct Memory Access</vt:lpstr>
      <vt:lpstr>Six-Step Process to Perform DMA </vt:lpstr>
      <vt:lpstr>Application I/O Interface</vt:lpstr>
      <vt:lpstr>A Kernel I/O Structure</vt:lpstr>
      <vt:lpstr>Characteristics of I/O Devices</vt:lpstr>
      <vt:lpstr>Block and Character Devices</vt:lpstr>
      <vt:lpstr>Network Devices</vt:lpstr>
      <vt:lpstr>Clocks and Timers</vt:lpstr>
      <vt:lpstr>Blocking and Nonblocking I/O</vt:lpstr>
      <vt:lpstr>Two I/O Methods</vt:lpstr>
      <vt:lpstr>Kernel I/O Subsystem (1)</vt:lpstr>
      <vt:lpstr>Kernel I/O Subsystem (2)</vt:lpstr>
      <vt:lpstr>Error Handling</vt:lpstr>
      <vt:lpstr>Kernel Data Structures</vt:lpstr>
      <vt:lpstr>UNIX I/O Kernel Structure</vt:lpstr>
      <vt:lpstr>Summary of Services in I/O Subsystem</vt:lpstr>
      <vt:lpstr>Device-status Table</vt:lpstr>
      <vt:lpstr>Sun Enterprise 6000 Device-Transfer Rates</vt:lpstr>
      <vt:lpstr>I/O Requests to Hardware Operations</vt:lpstr>
      <vt:lpstr>Layered File System revisited</vt:lpstr>
      <vt:lpstr>Life Cycle of An I/O Request</vt:lpstr>
      <vt:lpstr>STREAMS (UNIX System V and most UNIX variants) Non-Blocking</vt:lpstr>
      <vt:lpstr>The STREAMS Structure</vt:lpstr>
      <vt:lpstr>Performance</vt:lpstr>
      <vt:lpstr>Intercomputer Communications</vt:lpstr>
      <vt:lpstr>Improving Performance</vt:lpstr>
      <vt:lpstr>Device-Functionality Progression</vt:lpstr>
      <vt:lpstr>PowerPoint 簡報</vt:lpstr>
      <vt:lpstr>PowerPoint 簡報</vt:lpstr>
      <vt:lpstr>PowerPoint 簡報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Jia-Shung WANG</dc:creator>
  <cp:lastModifiedBy>JS</cp:lastModifiedBy>
  <cp:revision>160</cp:revision>
  <cp:lastPrinted>2018-05-21T02:03:04Z</cp:lastPrinted>
  <dcterms:created xsi:type="dcterms:W3CDTF">1999-08-24T14:03:58Z</dcterms:created>
  <dcterms:modified xsi:type="dcterms:W3CDTF">2018-05-21T02:13:58Z</dcterms:modified>
</cp:coreProperties>
</file>