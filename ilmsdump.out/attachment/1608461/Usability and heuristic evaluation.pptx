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embeddedFontLst>
    <p:embeddedFont>
      <p:font typeface="微軟正黑體" panose="020B0604030504040204" pitchFamily="34" charset="-120"/>
      <p:regular r:id="rId56"/>
      <p:bold r:id="rId57"/>
    </p:embeddedFont>
    <p:embeddedFont>
      <p:font typeface="Quattrocento Sans" panose="020B0604020202020204" charset="0"/>
      <p:bold r:id="rId58"/>
      <p:italic r:id="rId59"/>
      <p:boldItalic r:id="rId60"/>
    </p:embeddedFont>
    <p:embeddedFont>
      <p:font typeface="Montserrat" panose="020B0604020202020204" charset="0"/>
      <p:regular r:id="rId61"/>
      <p:bold r:id="rId62"/>
      <p:italic r:id="rId63"/>
      <p:boldItalic r:id="rId64"/>
    </p:embeddedFont>
    <p:embeddedFont>
      <p:font typeface="Raleway" panose="020B0604020202020204" charset="0"/>
      <p:regular r:id="rId65"/>
      <p:bold r:id="rId66"/>
      <p:italic r:id="rId67"/>
      <p:boldItalic r:id="rId68"/>
    </p:embeddedFont>
    <p:embeddedFont>
      <p:font typeface="Lora" panose="020B0604020202020204" charset="0"/>
      <p:regular r:id="rId69"/>
      <p:bold r:id="rId70"/>
      <p:italic r:id="rId71"/>
      <p:boldItalic r:id="rId72"/>
    </p:embeddedFont>
    <p:embeddedFont>
      <p:font typeface="Lato" panose="020B060402020202020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AC0D9067-4189-4902-9140-2DD05B903422}">
  <a:tblStyle styleId="{AC0D9067-4189-4902-9140-2DD05B90342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86B2D29-1D15-4F89-99EC-25B9ABB70020}"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69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font" Target="fonts/font8.fntdata"/><Relationship Id="rId68" Type="http://schemas.openxmlformats.org/officeDocument/2006/relationships/font" Target="fonts/font13.fntdata"/><Relationship Id="rId76" Type="http://schemas.openxmlformats.org/officeDocument/2006/relationships/font" Target="fonts/font21.fntdata"/><Relationship Id="rId7" Type="http://schemas.openxmlformats.org/officeDocument/2006/relationships/slide" Target="slides/slide6.xml"/><Relationship Id="rId71"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font" Target="fonts/font19.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7.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9117198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45527b179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45527b1790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45527b179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45527b1790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4565d239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4565d239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45527b179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45527b179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45527b179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45527b179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45527b179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45527b1790_0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45527b179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45527b1790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45527b179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45527b1790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45527b1790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g45527b1790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45527b1790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45527b1790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45527b1790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45527b1790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45527b1790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45527b1790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39480bf3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g339480bf3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45527b1790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45527b1790_0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39480bf3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339480bf3e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4565d2396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4565d23968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4565d23968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4565d23968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45792830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45792830c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45792830c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45792830c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9480bf3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g339480bf3e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457a77633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457a77633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39480bf3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339480bf3e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39480bf3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g339480bf3e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39480bf3e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4" name="Google Shape;394;g339480bf3e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39480bf3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g339480bf3e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39480bf3e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1" name="Google Shape;411;g339480bf3e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39480bf3e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g339480bf3e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39480bf3e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2" name="Google Shape;442;g339480bf3e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39480bf3e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g339480bf3e_0_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39480bf3e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g339480bf3e_0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39480bf3e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0" name="Google Shape;470;g339480bf3e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39480bf3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g339480bf3e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457a77633b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g457a77633b_2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457a77633b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g457a77633b_2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457a77633b_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g457a77633b_2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457a77633b_2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9" name="Google Shape;519;g457a77633b_2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457a77633b_5_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457a77633b_5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457a77633b_5_1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457a77633b_5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457a77633b_5_1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457a77633b_5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457a77633b_2_64: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457a77633b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457a77633b_2_7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457a77633b_2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457a77633b_5_3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457a77633b_5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457a77633b_5_3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457a77633b_5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457a77633b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g457a77633b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457a77633b_5_5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457a77633b_5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6630" y="2003888"/>
            <a:ext cx="4523700" cy="11598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1pPr>
            <a:lvl2pPr marR="0" lvl="1"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2pPr>
            <a:lvl3pPr marR="0" lvl="2"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3pPr>
            <a:lvl4pPr marR="0" lvl="3"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4pPr>
            <a:lvl5pPr marR="0" lvl="4"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5pPr>
            <a:lvl6pPr marR="0" lvl="5"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6pPr>
            <a:lvl7pPr marR="0" lvl="6"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7pPr>
            <a:lvl8pPr marR="0" lvl="7"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8pPr>
            <a:lvl9pPr marR="0" lvl="8" algn="l" rtl="0">
              <a:lnSpc>
                <a:spcPct val="100000"/>
              </a:lnSpc>
              <a:spcBef>
                <a:spcPts val="0"/>
              </a:spcBef>
              <a:spcAft>
                <a:spcPts val="0"/>
              </a:spcAft>
              <a:buClr>
                <a:srgbClr val="000000"/>
              </a:buClr>
              <a:buSzPts val="3600"/>
              <a:buFont typeface="Lora"/>
              <a:buNone/>
              <a:defRPr sz="3600" b="1" i="0" u="none" strike="noStrike" cap="none">
                <a:solidFill>
                  <a:srgbClr val="000000"/>
                </a:solidFill>
                <a:latin typeface="Lora"/>
                <a:ea typeface="Lora"/>
                <a:cs typeface="Lora"/>
                <a:sym typeface="Lora"/>
              </a:defRPr>
            </a:lvl9pPr>
          </a:lstStyle>
          <a:p>
            <a:endParaRPr/>
          </a:p>
        </p:txBody>
      </p:sp>
      <p:cxnSp>
        <p:nvCxnSpPr>
          <p:cNvPr id="11" name="Google Shape;11;p2"/>
          <p:cNvCxnSpPr/>
          <p:nvPr/>
        </p:nvCxnSpPr>
        <p:spPr>
          <a:xfrm>
            <a:off x="-6025" y="3676512"/>
            <a:ext cx="9162000" cy="0"/>
          </a:xfrm>
          <a:prstGeom prst="straightConnector1">
            <a:avLst/>
          </a:prstGeom>
          <a:noFill/>
          <a:ln w="9525" cap="flat" cmpd="sng">
            <a:solidFill>
              <a:srgbClr val="000000"/>
            </a:solidFill>
            <a:prstDash val="solid"/>
            <a:round/>
            <a:headEnd type="none" w="sm" len="sm"/>
            <a:tailEnd type="none" w="sm" len="sm"/>
          </a:ln>
        </p:spPr>
      </p:cxnSp>
      <p:sp>
        <p:nvSpPr>
          <p:cNvPr id="12" name="Google Shape;12;p2"/>
          <p:cNvSpPr/>
          <p:nvPr/>
        </p:nvSpPr>
        <p:spPr>
          <a:xfrm>
            <a:off x="1117950" y="3393000"/>
            <a:ext cx="567000" cy="567000"/>
          </a:xfrm>
          <a:prstGeom prst="ellipse">
            <a:avLst/>
          </a:prstGeom>
          <a:solidFill>
            <a:srgbClr val="FFCD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381250" y="937125"/>
            <a:ext cx="3878400" cy="4356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1pPr>
            <a:lvl2pPr marR="0" lvl="1"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2pPr>
            <a:lvl3pPr marR="0" lvl="2"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3pPr>
            <a:lvl4pPr marR="0" lvl="3"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4pPr>
            <a:lvl5pPr marR="0" lvl="4"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5pPr>
            <a:lvl6pPr marR="0" lvl="5"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6pPr>
            <a:lvl7pPr marR="0" lvl="6"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7pPr>
            <a:lvl8pPr marR="0" lvl="7"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8pPr>
            <a:lvl9pPr marR="0" lvl="8"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9pPr>
          </a:lstStyle>
          <a:p>
            <a:endParaRPr/>
          </a:p>
        </p:txBody>
      </p:sp>
      <p:cxnSp>
        <p:nvCxnSpPr>
          <p:cNvPr id="17" name="Google Shape;17;p4"/>
          <p:cNvCxnSpPr/>
          <p:nvPr/>
        </p:nvCxnSpPr>
        <p:spPr>
          <a:xfrm>
            <a:off x="0" y="1131725"/>
            <a:ext cx="1375800" cy="0"/>
          </a:xfrm>
          <a:prstGeom prst="straightConnector1">
            <a:avLst/>
          </a:prstGeom>
          <a:noFill/>
          <a:ln w="9525" cap="flat" cmpd="sng">
            <a:solidFill>
              <a:srgbClr val="CCCCCC"/>
            </a:solidFill>
            <a:prstDash val="solid"/>
            <a:round/>
            <a:headEnd type="none" w="sm" len="sm"/>
            <a:tailEnd type="none" w="sm" len="sm"/>
          </a:ln>
        </p:spPr>
      </p:cxnSp>
      <p:sp>
        <p:nvSpPr>
          <p:cNvPr id="18" name="Google Shape;18;p4"/>
          <p:cNvSpPr/>
          <p:nvPr/>
        </p:nvSpPr>
        <p:spPr>
          <a:xfrm>
            <a:off x="817475" y="928767"/>
            <a:ext cx="405900" cy="405900"/>
          </a:xfrm>
          <a:prstGeom prst="ellipse">
            <a:avLst/>
          </a:prstGeom>
          <a:solidFill>
            <a:srgbClr val="FFCD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 name="Google Shape;19;p4"/>
          <p:cNvCxnSpPr/>
          <p:nvPr/>
        </p:nvCxnSpPr>
        <p:spPr>
          <a:xfrm>
            <a:off x="5265650" y="1131725"/>
            <a:ext cx="3878400" cy="0"/>
          </a:xfrm>
          <a:prstGeom prst="straightConnector1">
            <a:avLst/>
          </a:prstGeom>
          <a:noFill/>
          <a:ln w="9525" cap="flat" cmpd="sng">
            <a:solidFill>
              <a:srgbClr val="CCCCCC"/>
            </a:solidFill>
            <a:prstDash val="solid"/>
            <a:round/>
            <a:headEnd type="none" w="sm" len="sm"/>
            <a:tailEnd type="none" w="sm" len="sm"/>
          </a:ln>
        </p:spPr>
      </p:cxnSp>
      <p:sp>
        <p:nvSpPr>
          <p:cNvPr id="20" name="Google Shape;20;p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1"/>
        <p:cNvGrpSpPr/>
        <p:nvPr/>
      </p:nvGrpSpPr>
      <p:grpSpPr>
        <a:xfrm>
          <a:off x="0" y="0"/>
          <a:ext cx="0" cy="0"/>
          <a:chOff x="0" y="0"/>
          <a:chExt cx="0" cy="0"/>
        </a:xfrm>
      </p:grpSpPr>
      <p:cxnSp>
        <p:nvCxnSpPr>
          <p:cNvPr id="22" name="Google Shape;22;p5"/>
          <p:cNvCxnSpPr/>
          <p:nvPr/>
        </p:nvCxnSpPr>
        <p:spPr>
          <a:xfrm>
            <a:off x="0" y="1131725"/>
            <a:ext cx="1375800" cy="0"/>
          </a:xfrm>
          <a:prstGeom prst="straightConnector1">
            <a:avLst/>
          </a:prstGeom>
          <a:noFill/>
          <a:ln w="9525" cap="flat" cmpd="sng">
            <a:solidFill>
              <a:srgbClr val="CCCCCC"/>
            </a:solidFill>
            <a:prstDash val="solid"/>
            <a:round/>
            <a:headEnd type="none" w="sm" len="sm"/>
            <a:tailEnd type="none" w="sm" len="sm"/>
          </a:ln>
        </p:spPr>
      </p:cxnSp>
      <p:sp>
        <p:nvSpPr>
          <p:cNvPr id="23" name="Google Shape;23;p5"/>
          <p:cNvSpPr/>
          <p:nvPr/>
        </p:nvSpPr>
        <p:spPr>
          <a:xfrm>
            <a:off x="817475" y="928767"/>
            <a:ext cx="405900" cy="405900"/>
          </a:xfrm>
          <a:prstGeom prst="ellipse">
            <a:avLst/>
          </a:prstGeom>
          <a:solidFill>
            <a:srgbClr val="FFCD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5"/>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1pPr>
            <a:lvl2pPr marR="0" lvl="1"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2pPr>
            <a:lvl3pPr marR="0" lvl="2"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3pPr>
            <a:lvl4pPr marR="0" lvl="3"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4pPr>
            <a:lvl5pPr marR="0" lvl="4"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5pPr>
            <a:lvl6pPr marR="0" lvl="5"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6pPr>
            <a:lvl7pPr marR="0" lvl="6"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7pPr>
            <a:lvl8pPr marR="0" lvl="7"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8pPr>
            <a:lvl9pPr marR="0" lvl="8" algn="l" rtl="0">
              <a:lnSpc>
                <a:spcPct val="100000"/>
              </a:lnSpc>
              <a:spcBef>
                <a:spcPts val="0"/>
              </a:spcBef>
              <a:spcAft>
                <a:spcPts val="0"/>
              </a:spcAft>
              <a:buClr>
                <a:srgbClr val="000000"/>
              </a:buClr>
              <a:buSzPts val="2000"/>
              <a:buFont typeface="Lora"/>
              <a:buNone/>
              <a:defRPr sz="2000" b="1" i="0" u="none" strike="noStrike" cap="none">
                <a:solidFill>
                  <a:srgbClr val="000000"/>
                </a:solidFill>
                <a:highlight>
                  <a:srgbClr val="FFFFFF"/>
                </a:highlight>
                <a:latin typeface="Lora"/>
                <a:ea typeface="Lora"/>
                <a:cs typeface="Lora"/>
                <a:sym typeface="Lora"/>
              </a:defRPr>
            </a:lvl9pPr>
          </a:lstStyle>
          <a:p>
            <a:endParaRPr/>
          </a:p>
        </p:txBody>
      </p:sp>
      <p:sp>
        <p:nvSpPr>
          <p:cNvPr id="25" name="Google Shape;25;p5"/>
          <p:cNvSpPr txBox="1">
            <a:spLocks noGrp="1"/>
          </p:cNvSpPr>
          <p:nvPr>
            <p:ph type="body" idx="1"/>
          </p:nvPr>
        </p:nvSpPr>
        <p:spPr>
          <a:xfrm>
            <a:off x="1381250" y="1616470"/>
            <a:ext cx="6809700" cy="31122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600"/>
              </a:spcBef>
              <a:spcAft>
                <a:spcPts val="0"/>
              </a:spcAft>
              <a:buClr>
                <a:srgbClr val="FFCD00"/>
              </a:buClr>
              <a:buSzPts val="2400"/>
              <a:buFont typeface="Quattrocento Sans"/>
              <a:buChar char="◉"/>
              <a:defRPr sz="2400" b="0" i="0" u="none" strike="noStrike" cap="none">
                <a:solidFill>
                  <a:srgbClr val="000000"/>
                </a:solidFill>
                <a:latin typeface="Quattrocento Sans"/>
                <a:ea typeface="Quattrocento Sans"/>
                <a:cs typeface="Quattrocento Sans"/>
                <a:sym typeface="Quattrocento Sans"/>
              </a:defRPr>
            </a:lvl1pPr>
            <a:lvl2pPr marL="914400" marR="0" lvl="1"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2pPr>
            <a:lvl3pPr marL="1371600" marR="0" lvl="2"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3pPr>
            <a:lvl4pPr marL="1828800" marR="0" lvl="3"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4pPr>
            <a:lvl5pPr marL="2286000" marR="0" lvl="4"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5pPr>
            <a:lvl6pPr marL="2743200" marR="0" lvl="5"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6pPr>
            <a:lvl7pPr marL="3200400" marR="0" lvl="6"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7pPr>
            <a:lvl8pPr marL="3657600" marR="0" lvl="7"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8pPr>
            <a:lvl9pPr marL="4114800" marR="0" lvl="8"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9pPr>
          </a:lstStyle>
          <a:p>
            <a:endParaRPr/>
          </a:p>
        </p:txBody>
      </p:sp>
      <p:cxnSp>
        <p:nvCxnSpPr>
          <p:cNvPr id="26" name="Google Shape;26;p5"/>
          <p:cNvCxnSpPr/>
          <p:nvPr/>
        </p:nvCxnSpPr>
        <p:spPr>
          <a:xfrm>
            <a:off x="5265650" y="1131725"/>
            <a:ext cx="3878400" cy="0"/>
          </a:xfrm>
          <a:prstGeom prst="straightConnector1">
            <a:avLst/>
          </a:prstGeom>
          <a:noFill/>
          <a:ln w="9525" cap="flat" cmpd="sng">
            <a:solidFill>
              <a:srgbClr val="CCCCCC"/>
            </a:solidFill>
            <a:prstDash val="solid"/>
            <a:round/>
            <a:headEnd type="none" w="sm" len="sm"/>
            <a:tailEnd type="none" w="sm" len="sm"/>
          </a:ln>
        </p:spPr>
      </p:cxnSp>
      <p:sp>
        <p:nvSpPr>
          <p:cNvPr id="27" name="Google Shape;27;p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1381250" y="1616470"/>
            <a:ext cx="6809700" cy="31122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600"/>
              </a:spcBef>
              <a:spcAft>
                <a:spcPts val="0"/>
              </a:spcAft>
              <a:buClr>
                <a:srgbClr val="FFCD00"/>
              </a:buClr>
              <a:buSzPts val="2400"/>
              <a:buFont typeface="Quattrocento Sans"/>
              <a:buChar char="◉"/>
              <a:defRPr sz="2400" b="0" i="0" u="none" strike="noStrike" cap="none">
                <a:solidFill>
                  <a:srgbClr val="000000"/>
                </a:solidFill>
                <a:latin typeface="Quattrocento Sans"/>
                <a:ea typeface="Quattrocento Sans"/>
                <a:cs typeface="Quattrocento Sans"/>
                <a:sym typeface="Quattrocento Sans"/>
              </a:defRPr>
            </a:lvl1pPr>
            <a:lvl2pPr marL="914400" marR="0" lvl="1"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2pPr>
            <a:lvl3pPr marL="1371600" marR="0" lvl="2"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3pPr>
            <a:lvl4pPr marL="1828800" marR="0" lvl="3"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4pPr>
            <a:lvl5pPr marL="2286000" marR="0" lvl="4"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5pPr>
            <a:lvl6pPr marL="2743200" marR="0" lvl="5"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6pPr>
            <a:lvl7pPr marL="3200400" marR="0" lvl="6"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7pPr>
            <a:lvl8pPr marL="3657600" marR="0" lvl="7"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8pPr>
            <a:lvl9pPr marL="4114800" marR="0" lvl="8"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9pPr>
          </a:lstStyle>
          <a:p>
            <a:endParaRPr/>
          </a:p>
        </p:txBody>
      </p:sp>
      <p:sp>
        <p:nvSpPr>
          <p:cNvPr id="7" name="Google Shape;7;p1"/>
          <p:cNvSpPr txBox="1">
            <a:spLocks noGrp="1"/>
          </p:cNvSpPr>
          <p:nvPr>
            <p:ph type="title"/>
          </p:nvPr>
        </p:nvSpPr>
        <p:spPr>
          <a:xfrm>
            <a:off x="1381250" y="937117"/>
            <a:ext cx="6809700" cy="4356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1pPr>
            <a:lvl2pPr marR="0" lvl="1"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2pPr>
            <a:lvl3pPr marR="0" lvl="2"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3pPr>
            <a:lvl4pPr marR="0" lvl="3"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4pPr>
            <a:lvl5pPr marR="0" lvl="4"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5pPr>
            <a:lvl6pPr marR="0" lvl="5"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6pPr>
            <a:lvl7pPr marR="0" lvl="6"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7pPr>
            <a:lvl8pPr marR="0" lvl="7"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8pPr>
            <a:lvl9pPr marR="0" lvl="8"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9pPr>
          </a:lstStyle>
          <a:p>
            <a:endParaRPr/>
          </a:p>
        </p:txBody>
      </p:sp>
      <p:sp>
        <p:nvSpPr>
          <p:cNvPr id="8" name="Google Shape;8;p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1D1D1B"/>
                </a:solidFill>
                <a:latin typeface="Lora"/>
                <a:ea typeface="Lora"/>
                <a:cs typeface="Lora"/>
                <a:sym typeface="Lor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mailto:interactiondesignnthu2018@gmail.com"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mailto:interactiondesignnthu2018@gmail.com"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grpSp>
        <p:nvGrpSpPr>
          <p:cNvPr id="71" name="Google Shape;71;p12"/>
          <p:cNvGrpSpPr/>
          <p:nvPr/>
        </p:nvGrpSpPr>
        <p:grpSpPr>
          <a:xfrm>
            <a:off x="1299165" y="3511424"/>
            <a:ext cx="215966" cy="342399"/>
            <a:chOff x="6718575" y="2318625"/>
            <a:chExt cx="256950" cy="407375"/>
          </a:xfrm>
        </p:grpSpPr>
        <p:sp>
          <p:nvSpPr>
            <p:cNvPr id="72" name="Google Shape;72;p12"/>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2"/>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2"/>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2"/>
            <p:cNvSpPr/>
            <p:nvPr/>
          </p:nvSpPr>
          <p:spPr>
            <a:xfrm>
              <a:off x="6795900" y="2628550"/>
              <a:ext cx="102300" cy="25"/>
            </a:xfrm>
            <a:custGeom>
              <a:avLst/>
              <a:gdLst/>
              <a:ahLst/>
              <a:cxnLst/>
              <a:rect l="l" t="t" r="r" b="b"/>
              <a:pathLst>
                <a:path w="4092" h="1" fill="none" extrusionOk="0">
                  <a:moveTo>
                    <a:pt x="0" y="1"/>
                  </a:moveTo>
                  <a:lnTo>
                    <a:pt x="4092"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0" name="Google Shape;80;p12"/>
          <p:cNvSpPr txBox="1"/>
          <p:nvPr/>
        </p:nvSpPr>
        <p:spPr>
          <a:xfrm>
            <a:off x="381000" y="1203598"/>
            <a:ext cx="8458200" cy="1600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Lora"/>
              <a:buNone/>
            </a:pPr>
            <a:r>
              <a:rPr lang="en" sz="5400" b="1" i="0" u="none" strike="noStrike" cap="none" dirty="0">
                <a:solidFill>
                  <a:srgbClr val="000000"/>
                </a:solidFill>
                <a:latin typeface="Lora"/>
                <a:ea typeface="Lora"/>
                <a:cs typeface="Lora"/>
                <a:sym typeface="Lora"/>
              </a:rPr>
              <a:t>Heuristic Evaluation</a:t>
            </a:r>
            <a:br>
              <a:rPr lang="en" sz="5400" b="1" i="0" u="none" strike="noStrike" cap="none" dirty="0">
                <a:solidFill>
                  <a:srgbClr val="000000"/>
                </a:solidFill>
                <a:latin typeface="Lora"/>
                <a:ea typeface="Lora"/>
                <a:cs typeface="Lora"/>
                <a:sym typeface="Lora"/>
              </a:rPr>
            </a:br>
            <a:r>
              <a:rPr lang="en" sz="5400" b="1" i="0" u="none" strike="noStrike" cap="none" dirty="0">
                <a:solidFill>
                  <a:srgbClr val="000000"/>
                </a:solidFill>
                <a:latin typeface="Lora"/>
                <a:ea typeface="Lora"/>
                <a:cs typeface="Lora"/>
                <a:sym typeface="Lora"/>
              </a:rPr>
              <a:t>and Usability Testing</a:t>
            </a:r>
            <a:endParaRPr sz="5400" b="1" i="0" u="none" strike="noStrike" cap="none" dirty="0">
              <a:solidFill>
                <a:srgbClr val="000000"/>
              </a:solidFill>
              <a:latin typeface="Lora"/>
              <a:ea typeface="Lora"/>
              <a:cs typeface="Lora"/>
              <a:sym typeface="Lora"/>
            </a:endParaRPr>
          </a:p>
        </p:txBody>
      </p:sp>
      <p:sp>
        <p:nvSpPr>
          <p:cNvPr id="2" name="文字方塊 1"/>
          <p:cNvSpPr txBox="1"/>
          <p:nvPr/>
        </p:nvSpPr>
        <p:spPr>
          <a:xfrm>
            <a:off x="5884607" y="3316069"/>
            <a:ext cx="3156155" cy="307777"/>
          </a:xfrm>
          <a:prstGeom prst="rect">
            <a:avLst/>
          </a:prstGeom>
          <a:noFill/>
        </p:spPr>
        <p:txBody>
          <a:bodyPr wrap="square" rtlCol="0">
            <a:spAutoFit/>
          </a:bodyPr>
          <a:lstStyle/>
          <a:p>
            <a:r>
              <a:rPr lang="en-US" altLang="zh-TW" dirty="0"/>
              <a:t>Group </a:t>
            </a:r>
            <a:r>
              <a:rPr lang="en-US" altLang="zh-TW" dirty="0" smtClean="0"/>
              <a:t>member: Piotr, </a:t>
            </a:r>
            <a:r>
              <a:rPr lang="zh-TW" altLang="en-US" dirty="0" smtClean="0">
                <a:latin typeface="微軟正黑體" panose="020B0604030504040204" pitchFamily="34" charset="-120"/>
                <a:ea typeface="微軟正黑體" panose="020B0604030504040204" pitchFamily="34" charset="-120"/>
              </a:rPr>
              <a:t>鄭敬儒</a:t>
            </a:r>
            <a:r>
              <a:rPr lang="en-US" altLang="zh-TW" dirty="0" smtClean="0"/>
              <a:t>, </a:t>
            </a:r>
            <a:r>
              <a:rPr lang="zh-TW" altLang="en-US" dirty="0" smtClean="0">
                <a:latin typeface="微軟正黑體" panose="020B0604030504040204" pitchFamily="34" charset="-120"/>
                <a:ea typeface="微軟正黑體" panose="020B0604030504040204" pitchFamily="34" charset="-120"/>
              </a:rPr>
              <a:t>鄭欽安</a:t>
            </a:r>
            <a:endParaRPr lang="en-US" altLang="zh-TW" dirty="0" smtClean="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idx="4294967295"/>
          </p:nvPr>
        </p:nvSpPr>
        <p:spPr>
          <a:xfrm>
            <a:off x="503549" y="267494"/>
            <a:ext cx="8136903" cy="115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Lora"/>
              <a:buNone/>
            </a:pPr>
            <a:r>
              <a:rPr lang="en" sz="4800" b="1" i="0" u="none" strike="noStrike" cap="none" dirty="0">
                <a:solidFill>
                  <a:srgbClr val="000000"/>
                </a:solidFill>
                <a:highlight>
                  <a:srgbClr val="FFCD00"/>
                </a:highlight>
                <a:latin typeface="Lora"/>
                <a:ea typeface="Lora"/>
                <a:cs typeface="Lora"/>
                <a:sym typeface="Lora"/>
              </a:rPr>
              <a:t>Heuristic Evaluation</a:t>
            </a:r>
            <a:endParaRPr sz="4800" b="1" i="0" u="none" strike="noStrike" cap="none" dirty="0">
              <a:solidFill>
                <a:srgbClr val="000000"/>
              </a:solidFill>
              <a:highlight>
                <a:srgbClr val="FFCD00"/>
              </a:highlight>
              <a:latin typeface="Lora"/>
              <a:ea typeface="Lora"/>
              <a:cs typeface="Lora"/>
              <a:sym typeface="Lora"/>
            </a:endParaRPr>
          </a:p>
        </p:txBody>
      </p:sp>
      <p:cxnSp>
        <p:nvCxnSpPr>
          <p:cNvPr id="86" name="Google Shape;86;p13"/>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87" name="Google Shape;87;p1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a:t>
            </a:fld>
            <a:endParaRPr sz="1000" b="0" i="0" u="none" strike="noStrike" cap="none">
              <a:solidFill>
                <a:srgbClr val="1D1D1B"/>
              </a:solidFill>
              <a:latin typeface="Lora"/>
              <a:ea typeface="Lora"/>
              <a:cs typeface="Lora"/>
              <a:sym typeface="Lora"/>
            </a:endParaRPr>
          </a:p>
        </p:txBody>
      </p:sp>
      <p:sp>
        <p:nvSpPr>
          <p:cNvPr id="88" name="Google Shape;88;p13"/>
          <p:cNvSpPr/>
          <p:nvPr/>
        </p:nvSpPr>
        <p:spPr>
          <a:xfrm>
            <a:off x="395536" y="2267431"/>
            <a:ext cx="8208912"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0" i="0" u="none" strike="noStrike" cap="none" dirty="0">
                <a:solidFill>
                  <a:srgbClr val="000000"/>
                </a:solidFill>
                <a:latin typeface="Arial"/>
                <a:ea typeface="Arial"/>
                <a:cs typeface="Arial"/>
                <a:sym typeface="Arial"/>
              </a:rPr>
              <a:t>The main goal of the heuristic evaluation is to identify problems with the UI design of the Skyscanner, analyze the severity of the problems and finally create solutions based on standards, conventions and good practices. </a:t>
            </a:r>
            <a:endParaRPr sz="1400" b="0" i="0" u="none" strike="noStrike" cap="none" dirty="0">
              <a:solidFill>
                <a:srgbClr val="000000"/>
              </a:solidFill>
              <a:latin typeface="Arial"/>
              <a:ea typeface="Arial"/>
              <a:cs typeface="Arial"/>
              <a:sym typeface="Arial"/>
            </a:endParaRPr>
          </a:p>
        </p:txBody>
      </p:sp>
      <p:sp>
        <p:nvSpPr>
          <p:cNvPr id="89" name="Google Shape;89;p13"/>
          <p:cNvSpPr/>
          <p:nvPr/>
        </p:nvSpPr>
        <p:spPr>
          <a:xfrm>
            <a:off x="395536" y="1914214"/>
            <a:ext cx="4021606"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800" b="1" i="0" u="none" strike="noStrike" cap="none" dirty="0">
                <a:solidFill>
                  <a:srgbClr val="000000"/>
                </a:solidFill>
                <a:latin typeface="Arial"/>
                <a:ea typeface="Arial"/>
                <a:cs typeface="Arial"/>
                <a:sym typeface="Arial"/>
              </a:rPr>
              <a:t>Goals and Research Questions</a:t>
            </a:r>
            <a:endParaRPr sz="1800" b="0" i="0" u="none" strike="noStrike" cap="none" dirty="0">
              <a:solidFill>
                <a:srgbClr val="000000"/>
              </a:solidFill>
              <a:latin typeface="Arial"/>
              <a:ea typeface="Arial"/>
              <a:cs typeface="Arial"/>
              <a:sym typeface="Arial"/>
            </a:endParaRPr>
          </a:p>
        </p:txBody>
      </p:sp>
      <p:sp>
        <p:nvSpPr>
          <p:cNvPr id="90" name="Google Shape;90;p13"/>
          <p:cNvSpPr/>
          <p:nvPr/>
        </p:nvSpPr>
        <p:spPr>
          <a:xfrm>
            <a:off x="395536" y="3020843"/>
            <a:ext cx="7848872" cy="1169551"/>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Can design of the Skyscanner be considered “good”? </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Do </a:t>
            </a:r>
            <a:r>
              <a:rPr lang="en" dirty="0"/>
              <a:t>the website</a:t>
            </a:r>
            <a:r>
              <a:rPr lang="en" sz="1400" b="0" i="0" u="none" strike="noStrike" cap="none" dirty="0">
                <a:solidFill>
                  <a:srgbClr val="000000"/>
                </a:solidFill>
                <a:latin typeface="Arial"/>
                <a:ea typeface="Arial"/>
                <a:cs typeface="Arial"/>
                <a:sym typeface="Arial"/>
              </a:rPr>
              <a:t> have problems with high severity?</a:t>
            </a:r>
            <a:endParaRPr dirty="0"/>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How can the identified problems be solved and what are the recommended action according to conventions and best practices? </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What can we learn from Skyscanner?</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1381250" y="922377"/>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800" b="1" i="0" u="none" strike="noStrike" cap="none" dirty="0">
                <a:solidFill>
                  <a:srgbClr val="000000"/>
                </a:solidFill>
                <a:latin typeface="Lora"/>
                <a:ea typeface="Lora"/>
                <a:cs typeface="Lora"/>
                <a:sym typeface="Lora"/>
              </a:rPr>
              <a:t>Our Process</a:t>
            </a:r>
            <a:endParaRPr sz="2800" b="1" i="0" u="none" strike="noStrike" cap="none" dirty="0">
              <a:solidFill>
                <a:srgbClr val="000000"/>
              </a:solidFill>
              <a:latin typeface="Lora"/>
              <a:ea typeface="Lora"/>
              <a:cs typeface="Lora"/>
              <a:sym typeface="Lora"/>
            </a:endParaRPr>
          </a:p>
        </p:txBody>
      </p:sp>
      <p:grpSp>
        <p:nvGrpSpPr>
          <p:cNvPr id="96" name="Google Shape;96;p14"/>
          <p:cNvGrpSpPr/>
          <p:nvPr/>
        </p:nvGrpSpPr>
        <p:grpSpPr>
          <a:xfrm>
            <a:off x="916458" y="1019750"/>
            <a:ext cx="214625" cy="214625"/>
            <a:chOff x="2594050" y="1631825"/>
            <a:chExt cx="439625" cy="439625"/>
          </a:xfrm>
        </p:grpSpPr>
        <p:sp>
          <p:nvSpPr>
            <p:cNvPr id="97" name="Google Shape;97;p14"/>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4"/>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4"/>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4"/>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1" name="Google Shape;101;p14"/>
          <p:cNvSpPr/>
          <p:nvPr/>
        </p:nvSpPr>
        <p:spPr>
          <a:xfrm>
            <a:off x="928551" y="1635647"/>
            <a:ext cx="1453391" cy="1453391"/>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Lora"/>
                <a:ea typeface="Lora"/>
                <a:cs typeface="Lora"/>
                <a:sym typeface="Lora"/>
              </a:rPr>
              <a:t>TASKS</a:t>
            </a:r>
            <a:endParaRPr sz="1400" b="1" i="0" u="none" strike="noStrike" cap="none" dirty="0">
              <a:solidFill>
                <a:srgbClr val="000000"/>
              </a:solidFill>
              <a:latin typeface="Lora"/>
              <a:ea typeface="Lora"/>
              <a:cs typeface="Lora"/>
              <a:sym typeface="Lora"/>
            </a:endParaRPr>
          </a:p>
        </p:txBody>
      </p:sp>
      <p:cxnSp>
        <p:nvCxnSpPr>
          <p:cNvPr id="102" name="Google Shape;102;p14"/>
          <p:cNvCxnSpPr/>
          <p:nvPr/>
        </p:nvCxnSpPr>
        <p:spPr>
          <a:xfrm>
            <a:off x="2381942" y="2362343"/>
            <a:ext cx="537206" cy="0"/>
          </a:xfrm>
          <a:prstGeom prst="straightConnector1">
            <a:avLst/>
          </a:prstGeom>
          <a:noFill/>
          <a:ln w="38100" cap="flat" cmpd="sng">
            <a:solidFill>
              <a:srgbClr val="FFCD00"/>
            </a:solidFill>
            <a:prstDash val="solid"/>
            <a:round/>
            <a:headEnd type="none" w="sm" len="sm"/>
            <a:tailEnd type="triangle" w="sm" len="sm"/>
          </a:ln>
        </p:spPr>
      </p:cxnSp>
      <p:sp>
        <p:nvSpPr>
          <p:cNvPr id="103" name="Google Shape;103;p1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a:t>
            </a:fld>
            <a:endParaRPr sz="1000" b="0" i="0" u="none" strike="noStrike" cap="none">
              <a:solidFill>
                <a:srgbClr val="1D1D1B"/>
              </a:solidFill>
              <a:latin typeface="Lora"/>
              <a:ea typeface="Lora"/>
              <a:cs typeface="Lora"/>
              <a:sym typeface="Lora"/>
            </a:endParaRPr>
          </a:p>
        </p:txBody>
      </p:sp>
      <p:cxnSp>
        <p:nvCxnSpPr>
          <p:cNvPr id="104" name="Google Shape;104;p14"/>
          <p:cNvCxnSpPr/>
          <p:nvPr/>
        </p:nvCxnSpPr>
        <p:spPr>
          <a:xfrm>
            <a:off x="6428293" y="2362343"/>
            <a:ext cx="537206" cy="0"/>
          </a:xfrm>
          <a:prstGeom prst="straightConnector1">
            <a:avLst/>
          </a:prstGeom>
          <a:noFill/>
          <a:ln w="38100" cap="flat" cmpd="sng">
            <a:solidFill>
              <a:srgbClr val="FFCD00"/>
            </a:solidFill>
            <a:prstDash val="solid"/>
            <a:round/>
            <a:headEnd type="none" w="sm" len="sm"/>
            <a:tailEnd type="triangle" w="sm" len="sm"/>
          </a:ln>
        </p:spPr>
      </p:cxnSp>
      <p:cxnSp>
        <p:nvCxnSpPr>
          <p:cNvPr id="105" name="Google Shape;105;p14"/>
          <p:cNvCxnSpPr/>
          <p:nvPr/>
        </p:nvCxnSpPr>
        <p:spPr>
          <a:xfrm>
            <a:off x="4412796" y="2362343"/>
            <a:ext cx="537206" cy="0"/>
          </a:xfrm>
          <a:prstGeom prst="straightConnector1">
            <a:avLst/>
          </a:prstGeom>
          <a:noFill/>
          <a:ln w="38100" cap="flat" cmpd="sng">
            <a:solidFill>
              <a:srgbClr val="FFCD00"/>
            </a:solidFill>
            <a:prstDash val="solid"/>
            <a:round/>
            <a:headEnd type="none" w="sm" len="sm"/>
            <a:tailEnd type="triangle" w="sm" len="sm"/>
          </a:ln>
        </p:spPr>
      </p:cxnSp>
      <p:sp>
        <p:nvSpPr>
          <p:cNvPr id="106" name="Google Shape;106;p14"/>
          <p:cNvSpPr/>
          <p:nvPr/>
        </p:nvSpPr>
        <p:spPr>
          <a:xfrm>
            <a:off x="2919148" y="1623871"/>
            <a:ext cx="1453391" cy="1453391"/>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000000"/>
                </a:solidFill>
                <a:latin typeface="Lora"/>
                <a:ea typeface="Lora"/>
                <a:cs typeface="Lora"/>
                <a:sym typeface="Lora"/>
              </a:rPr>
              <a:t>Individual Evaluation</a:t>
            </a:r>
            <a:endParaRPr sz="1200" b="1" i="0" u="none" strike="noStrike" cap="none">
              <a:solidFill>
                <a:srgbClr val="000000"/>
              </a:solidFill>
              <a:latin typeface="Lora"/>
              <a:ea typeface="Lora"/>
              <a:cs typeface="Lora"/>
              <a:sym typeface="Lora"/>
            </a:endParaRPr>
          </a:p>
        </p:txBody>
      </p:sp>
      <p:sp>
        <p:nvSpPr>
          <p:cNvPr id="107" name="Google Shape;107;p14"/>
          <p:cNvSpPr/>
          <p:nvPr/>
        </p:nvSpPr>
        <p:spPr>
          <a:xfrm>
            <a:off x="4950002" y="1635646"/>
            <a:ext cx="1453391" cy="1453391"/>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i="0" u="none" strike="noStrike" cap="none">
              <a:solidFill>
                <a:srgbClr val="000000"/>
              </a:solidFill>
              <a:latin typeface="Lora"/>
              <a:ea typeface="Lora"/>
              <a:cs typeface="Lora"/>
              <a:sym typeface="Lora"/>
            </a:endParaRPr>
          </a:p>
          <a:p>
            <a:pPr marL="0" marR="0" lvl="0" indent="0" algn="ctr" rtl="0">
              <a:lnSpc>
                <a:spcPct val="100000"/>
              </a:lnSpc>
              <a:spcBef>
                <a:spcPts val="0"/>
              </a:spcBef>
              <a:spcAft>
                <a:spcPts val="0"/>
              </a:spcAft>
              <a:buNone/>
            </a:pPr>
            <a:r>
              <a:rPr lang="en" sz="1200" b="1" i="0" u="none" strike="noStrike" cap="none">
                <a:solidFill>
                  <a:srgbClr val="000000"/>
                </a:solidFill>
                <a:latin typeface="Lora"/>
                <a:ea typeface="Lora"/>
                <a:cs typeface="Lora"/>
                <a:sym typeface="Lora"/>
              </a:rPr>
              <a:t>Group</a:t>
            </a:r>
            <a:endParaRPr/>
          </a:p>
          <a:p>
            <a:pPr marL="0" marR="0" lvl="0" indent="0" algn="ctr" rtl="0">
              <a:lnSpc>
                <a:spcPct val="100000"/>
              </a:lnSpc>
              <a:spcBef>
                <a:spcPts val="0"/>
              </a:spcBef>
              <a:spcAft>
                <a:spcPts val="0"/>
              </a:spcAft>
              <a:buNone/>
            </a:pPr>
            <a:r>
              <a:rPr lang="en" sz="1200" b="1" i="0" u="none" strike="noStrike" cap="none">
                <a:solidFill>
                  <a:srgbClr val="000000"/>
                </a:solidFill>
                <a:latin typeface="Lora"/>
                <a:ea typeface="Lora"/>
                <a:cs typeface="Lora"/>
                <a:sym typeface="Lora"/>
              </a:rPr>
              <a:t>Evaluation</a:t>
            </a:r>
            <a:endParaRPr sz="1200" b="1" i="0" u="none" strike="noStrike" cap="none">
              <a:solidFill>
                <a:srgbClr val="000000"/>
              </a:solidFill>
              <a:latin typeface="Lora"/>
              <a:ea typeface="Lora"/>
              <a:cs typeface="Lora"/>
              <a:sym typeface="Lora"/>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Lora"/>
              <a:ea typeface="Lora"/>
              <a:cs typeface="Lora"/>
              <a:sym typeface="Lora"/>
            </a:endParaRPr>
          </a:p>
        </p:txBody>
      </p:sp>
      <p:sp>
        <p:nvSpPr>
          <p:cNvPr id="108" name="Google Shape;108;p14"/>
          <p:cNvSpPr/>
          <p:nvPr/>
        </p:nvSpPr>
        <p:spPr>
          <a:xfrm>
            <a:off x="6966226" y="1623870"/>
            <a:ext cx="1453391" cy="1453391"/>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Lora"/>
                <a:ea typeface="Lora"/>
                <a:cs typeface="Lora"/>
                <a:sym typeface="Lora"/>
              </a:rPr>
              <a:t>Judge the severity and priority</a:t>
            </a:r>
            <a:endParaRPr sz="1400" b="1" i="0" u="none" strike="noStrike" cap="none">
              <a:solidFill>
                <a:srgbClr val="000000"/>
              </a:solidFill>
              <a:latin typeface="Lora"/>
              <a:ea typeface="Lora"/>
              <a:cs typeface="Lora"/>
              <a:sym typeface="Lora"/>
            </a:endParaRPr>
          </a:p>
        </p:txBody>
      </p:sp>
      <p:sp>
        <p:nvSpPr>
          <p:cNvPr id="109" name="Google Shape;109;p14"/>
          <p:cNvSpPr/>
          <p:nvPr/>
        </p:nvSpPr>
        <p:spPr>
          <a:xfrm>
            <a:off x="590035" y="3219822"/>
            <a:ext cx="2131042" cy="14773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Defining key scenarios and tasks connected with the usage of the website:</a:t>
            </a:r>
            <a:endParaRPr sz="1000" b="0" i="0" u="none" strike="noStrike" cap="none" dirty="0">
              <a:solidFill>
                <a:srgbClr val="000000"/>
              </a:solidFill>
              <a:latin typeface="Arial"/>
              <a:ea typeface="Arial"/>
              <a:cs typeface="Arial"/>
              <a:sym typeface="Arial"/>
            </a:endParaRPr>
          </a:p>
          <a:p>
            <a:pPr marL="0" marR="0" lvl="1"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 Finding flights (best ratio of </a:t>
            </a:r>
            <a:r>
              <a:rPr lang="en" sz="1000" b="0" i="0" u="none" strike="noStrike" cap="none" dirty="0" smtClean="0">
                <a:solidFill>
                  <a:srgbClr val="000000"/>
                </a:solidFill>
                <a:latin typeface="Arial"/>
                <a:ea typeface="Arial"/>
                <a:cs typeface="Arial"/>
                <a:sym typeface="Arial"/>
              </a:rPr>
              <a:t> </a:t>
            </a:r>
            <a:br>
              <a:rPr lang="en" sz="1000" b="0" i="0" u="none" strike="noStrike" cap="none" dirty="0" smtClean="0">
                <a:solidFill>
                  <a:srgbClr val="000000"/>
                </a:solidFill>
                <a:latin typeface="Arial"/>
                <a:ea typeface="Arial"/>
                <a:cs typeface="Arial"/>
                <a:sym typeface="Arial"/>
              </a:rPr>
            </a:br>
            <a:r>
              <a:rPr lang="en" sz="1000" b="0" i="0" u="none" strike="noStrike" cap="none" dirty="0" smtClean="0">
                <a:solidFill>
                  <a:srgbClr val="000000"/>
                </a:solidFill>
                <a:latin typeface="Arial"/>
                <a:ea typeface="Arial"/>
                <a:cs typeface="Arial"/>
                <a:sym typeface="Arial"/>
              </a:rPr>
              <a:t>   price/time</a:t>
            </a:r>
            <a:r>
              <a:rPr lang="en" sz="1000" b="0" i="0" u="none" strike="noStrike" cap="none" dirty="0">
                <a:solidFill>
                  <a:srgbClr val="000000"/>
                </a:solidFill>
                <a:latin typeface="Arial"/>
                <a:ea typeface="Arial"/>
                <a:cs typeface="Arial"/>
                <a:sym typeface="Arial"/>
              </a:rPr>
              <a:t>, best price, best time)</a:t>
            </a:r>
            <a:endParaRPr sz="1000" b="0" i="0" u="none" strike="noStrike" cap="none" dirty="0">
              <a:solidFill>
                <a:srgbClr val="000000"/>
              </a:solidFill>
              <a:latin typeface="Arial"/>
              <a:ea typeface="Arial"/>
              <a:cs typeface="Arial"/>
              <a:sym typeface="Arial"/>
            </a:endParaRPr>
          </a:p>
          <a:p>
            <a:pPr marL="0" marR="0" lvl="1"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 Finding hotels (by price, </a:t>
            </a:r>
            <a:r>
              <a:rPr lang="en" sz="1000" b="0" i="0" u="none" strike="noStrike" cap="none" dirty="0" smtClean="0">
                <a:solidFill>
                  <a:srgbClr val="000000"/>
                </a:solidFill>
                <a:latin typeface="Arial"/>
                <a:ea typeface="Arial"/>
                <a:cs typeface="Arial"/>
                <a:sym typeface="Arial"/>
              </a:rPr>
              <a:t/>
            </a:r>
            <a:br>
              <a:rPr lang="en" sz="1000" b="0" i="0" u="none" strike="noStrike" cap="none" dirty="0" smtClean="0">
                <a:solidFill>
                  <a:srgbClr val="000000"/>
                </a:solidFill>
                <a:latin typeface="Arial"/>
                <a:ea typeface="Arial"/>
                <a:cs typeface="Arial"/>
                <a:sym typeface="Arial"/>
              </a:rPr>
            </a:br>
            <a:r>
              <a:rPr lang="en" sz="1000" b="0" i="0" u="none" strike="noStrike" cap="none" dirty="0" smtClean="0">
                <a:solidFill>
                  <a:srgbClr val="000000"/>
                </a:solidFill>
                <a:latin typeface="Arial"/>
                <a:ea typeface="Arial"/>
                <a:cs typeface="Arial"/>
                <a:sym typeface="Arial"/>
              </a:rPr>
              <a:t>   location</a:t>
            </a:r>
            <a:r>
              <a:rPr lang="en" sz="1000" b="0" i="0" u="none" strike="noStrike" cap="none" dirty="0">
                <a:solidFill>
                  <a:srgbClr val="000000"/>
                </a:solidFill>
                <a:latin typeface="Arial"/>
                <a:ea typeface="Arial"/>
                <a:cs typeface="Arial"/>
                <a:sym typeface="Arial"/>
              </a:rPr>
              <a:t>, user ratings, stars)</a:t>
            </a:r>
            <a:endParaRPr sz="1000" b="0" i="0" u="none" strike="noStrike" cap="none" dirty="0">
              <a:solidFill>
                <a:srgbClr val="000000"/>
              </a:solidFill>
              <a:latin typeface="Arial"/>
              <a:ea typeface="Arial"/>
              <a:cs typeface="Arial"/>
              <a:sym typeface="Arial"/>
            </a:endParaRPr>
          </a:p>
          <a:p>
            <a:pPr marL="0" marR="0" lvl="1"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 Renting Car(class, type, pick </a:t>
            </a:r>
            <a:r>
              <a:rPr lang="en" sz="1000" b="0" i="0" u="none" strike="noStrike" cap="none" dirty="0" smtClean="0">
                <a:solidFill>
                  <a:srgbClr val="000000"/>
                </a:solidFill>
                <a:latin typeface="Arial"/>
                <a:ea typeface="Arial"/>
                <a:cs typeface="Arial"/>
                <a:sym typeface="Arial"/>
              </a:rPr>
              <a:t> </a:t>
            </a:r>
            <a:br>
              <a:rPr lang="en" sz="1000" b="0" i="0" u="none" strike="noStrike" cap="none" dirty="0" smtClean="0">
                <a:solidFill>
                  <a:srgbClr val="000000"/>
                </a:solidFill>
                <a:latin typeface="Arial"/>
                <a:ea typeface="Arial"/>
                <a:cs typeface="Arial"/>
                <a:sym typeface="Arial"/>
              </a:rPr>
            </a:br>
            <a:r>
              <a:rPr lang="en" sz="1000" b="0" i="0" u="none" strike="noStrike" cap="none" dirty="0" smtClean="0">
                <a:solidFill>
                  <a:srgbClr val="000000"/>
                </a:solidFill>
                <a:latin typeface="Arial"/>
                <a:ea typeface="Arial"/>
                <a:cs typeface="Arial"/>
                <a:sym typeface="Arial"/>
              </a:rPr>
              <a:t>   up</a:t>
            </a:r>
            <a:r>
              <a:rPr lang="en" sz="1000" b="0" i="0" u="none" strike="noStrike" cap="none" dirty="0">
                <a:solidFill>
                  <a:srgbClr val="000000"/>
                </a:solidFill>
                <a:latin typeface="Arial"/>
                <a:ea typeface="Arial"/>
                <a:cs typeface="Arial"/>
                <a:sym typeface="Arial"/>
              </a:rPr>
              <a:t>, features, star rating etc)</a:t>
            </a:r>
            <a:endParaRPr sz="1000" b="0" i="0" u="none" strike="noStrike" cap="none" dirty="0">
              <a:solidFill>
                <a:srgbClr val="000000"/>
              </a:solidFill>
              <a:latin typeface="Arial"/>
              <a:ea typeface="Arial"/>
              <a:cs typeface="Arial"/>
              <a:sym typeface="Arial"/>
            </a:endParaRPr>
          </a:p>
        </p:txBody>
      </p:sp>
      <p:sp>
        <p:nvSpPr>
          <p:cNvPr id="110" name="Google Shape;110;p14"/>
          <p:cNvSpPr/>
          <p:nvPr/>
        </p:nvSpPr>
        <p:spPr>
          <a:xfrm>
            <a:off x="2615588" y="3239244"/>
            <a:ext cx="2060510" cy="132343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Individual Evaluation: all of the team members perform complete evaluation and create brief description of the problem</a:t>
            </a:r>
            <a:endParaRPr dirty="0"/>
          </a:p>
          <a:p>
            <a:pPr marL="0" marR="0" lvl="0" indent="0" algn="l" rtl="0">
              <a:lnSpc>
                <a:spcPct val="100000"/>
              </a:lnSpc>
              <a:spcBef>
                <a:spcPts val="0"/>
              </a:spcBef>
              <a:spcAft>
                <a:spcPts val="0"/>
              </a:spcAft>
              <a:buNone/>
            </a:pPr>
            <a:r>
              <a:rPr lang="en" sz="1000" b="0" i="0" u="none" strike="noStrike" cap="none" dirty="0">
                <a:solidFill>
                  <a:srgbClr val="000000"/>
                </a:solidFill>
                <a:latin typeface="Arial"/>
                <a:ea typeface="Arial"/>
                <a:cs typeface="Arial"/>
                <a:sym typeface="Arial"/>
              </a:rPr>
              <a:t>Individual rating of the severity of the problem and comparison to the rest of the group</a:t>
            </a:r>
            <a:endParaRPr sz="1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Arial"/>
              <a:ea typeface="Arial"/>
              <a:cs typeface="Arial"/>
              <a:sym typeface="Arial"/>
            </a:endParaRPr>
          </a:p>
        </p:txBody>
      </p:sp>
      <p:sp>
        <p:nvSpPr>
          <p:cNvPr id="111" name="Google Shape;111;p14"/>
          <p:cNvSpPr/>
          <p:nvPr/>
        </p:nvSpPr>
        <p:spPr>
          <a:xfrm>
            <a:off x="4670079" y="3239244"/>
            <a:ext cx="206051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000" b="0" i="0" u="none" strike="noStrike" cap="none">
                <a:solidFill>
                  <a:srgbClr val="000000"/>
                </a:solidFill>
                <a:latin typeface="Arial"/>
                <a:ea typeface="Arial"/>
                <a:cs typeface="Arial"/>
                <a:sym typeface="Arial"/>
              </a:rPr>
              <a:t>Group Evaluation: comparison of our ratings</a:t>
            </a:r>
            <a:endParaRPr sz="1000" b="0" i="0" u="none" strike="noStrike" cap="none">
              <a:solidFill>
                <a:srgbClr val="000000"/>
              </a:solidFill>
              <a:latin typeface="Arial"/>
              <a:ea typeface="Arial"/>
              <a:cs typeface="Arial"/>
              <a:sym typeface="Arial"/>
            </a:endParaRPr>
          </a:p>
        </p:txBody>
      </p:sp>
      <p:sp>
        <p:nvSpPr>
          <p:cNvPr id="112" name="Google Shape;112;p14"/>
          <p:cNvSpPr/>
          <p:nvPr/>
        </p:nvSpPr>
        <p:spPr>
          <a:xfrm>
            <a:off x="6804248" y="3239244"/>
            <a:ext cx="2060510" cy="55399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000" b="0" i="0" u="none" strike="noStrike" cap="none">
                <a:solidFill>
                  <a:srgbClr val="000000"/>
                </a:solidFill>
                <a:latin typeface="Arial"/>
                <a:ea typeface="Arial"/>
                <a:cs typeface="Arial"/>
                <a:sym typeface="Arial"/>
              </a:rPr>
              <a:t>Judging which problems with the UI of Skyscanner can cause biggest user problems</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800" b="1" i="0" u="none" strike="noStrike" cap="none" dirty="0">
                <a:solidFill>
                  <a:srgbClr val="000000"/>
                </a:solidFill>
                <a:latin typeface="Lora"/>
                <a:ea typeface="Lora"/>
                <a:cs typeface="Lora"/>
                <a:sym typeface="Lora"/>
              </a:rPr>
              <a:t>Method</a:t>
            </a:r>
            <a:endParaRPr sz="2800" b="1" i="0" u="none" strike="noStrike" cap="none" dirty="0">
              <a:solidFill>
                <a:srgbClr val="000000"/>
              </a:solidFill>
              <a:highlight>
                <a:srgbClr val="FFCD00"/>
              </a:highlight>
              <a:latin typeface="Lora"/>
              <a:ea typeface="Lora"/>
              <a:cs typeface="Lora"/>
              <a:sym typeface="Lora"/>
            </a:endParaRPr>
          </a:p>
        </p:txBody>
      </p:sp>
      <p:sp>
        <p:nvSpPr>
          <p:cNvPr id="118" name="Google Shape;118;p15"/>
          <p:cNvSpPr txBox="1">
            <a:spLocks noGrp="1"/>
          </p:cNvSpPr>
          <p:nvPr>
            <p:ph type="body" idx="1"/>
          </p:nvPr>
        </p:nvSpPr>
        <p:spPr>
          <a:xfrm>
            <a:off x="251520" y="1347614"/>
            <a:ext cx="5112568" cy="36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rgbClr val="FFCD00"/>
              </a:buClr>
              <a:buSzPts val="2400"/>
              <a:buFont typeface="Quattrocento Sans"/>
              <a:buNone/>
            </a:pPr>
            <a:r>
              <a:rPr lang="en" sz="1800" b="1" i="0" u="none" strike="noStrike" cap="none" dirty="0">
                <a:solidFill>
                  <a:srgbClr val="000000"/>
                </a:solidFill>
                <a:latin typeface="Lora"/>
                <a:ea typeface="Lora"/>
                <a:cs typeface="Lora"/>
                <a:sym typeface="Lora"/>
              </a:rPr>
              <a:t>Nielsen’s heuristics:</a:t>
            </a:r>
            <a:endParaRPr b="1" dirty="0"/>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smtClean="0">
                <a:solidFill>
                  <a:srgbClr val="000000"/>
                </a:solidFill>
                <a:latin typeface="Lora"/>
                <a:ea typeface="Lora"/>
                <a:cs typeface="Lora"/>
                <a:sym typeface="Lora"/>
              </a:rPr>
              <a:t>Visibility of system status</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smtClean="0">
                <a:solidFill>
                  <a:srgbClr val="000000"/>
                </a:solidFill>
                <a:latin typeface="Lora"/>
                <a:ea typeface="Lora"/>
                <a:cs typeface="Lora"/>
                <a:sym typeface="Lora"/>
              </a:rPr>
              <a:t>The system should always keep users informed  through appropriate feedback within reasonable time.</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smtClean="0">
                <a:solidFill>
                  <a:srgbClr val="000000"/>
                </a:solidFill>
                <a:latin typeface="Lora"/>
                <a:ea typeface="Lora"/>
                <a:cs typeface="Lora"/>
                <a:sym typeface="Lora"/>
              </a:rPr>
              <a:t>Match between the system and the real world</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smtClean="0">
                <a:solidFill>
                  <a:srgbClr val="000000"/>
                </a:solidFill>
                <a:latin typeface="Lora"/>
                <a:ea typeface="Lora"/>
                <a:cs typeface="Lora"/>
                <a:sym typeface="Lora"/>
              </a:rPr>
              <a:t>The system should speak the users' language, with words, phrases and concepts familiar to the user, rather than system-oriented terms. Follow real-world conventions, making information appear in a natural and logical order.</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smtClean="0">
                <a:solidFill>
                  <a:srgbClr val="000000"/>
                </a:solidFill>
                <a:latin typeface="Lora"/>
                <a:ea typeface="Lora"/>
                <a:cs typeface="Lora"/>
                <a:sym typeface="Lora"/>
              </a:rPr>
              <a:t>User control and freedom</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smtClean="0">
                <a:solidFill>
                  <a:srgbClr val="000000"/>
                </a:solidFill>
                <a:latin typeface="Lora"/>
                <a:ea typeface="Lora"/>
                <a:cs typeface="Lora"/>
                <a:sym typeface="Lora"/>
              </a:rPr>
              <a:t>Users often choose system functions by mistake and will need a clearly marked "emergency exit" to leave the unwanted state without having to go through an extended dialogue. Support undo and redo.</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smtClean="0">
                <a:solidFill>
                  <a:srgbClr val="000000"/>
                </a:solidFill>
                <a:latin typeface="Lora"/>
                <a:ea typeface="Lora"/>
                <a:cs typeface="Lora"/>
                <a:sym typeface="Lora"/>
              </a:rPr>
              <a:t>Consistency and standards</a:t>
            </a:r>
            <a:endParaRPr sz="1100" b="0" i="0" u="none" strike="noStrike" cap="none" dirty="0" smtClean="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smtClean="0">
                <a:solidFill>
                  <a:srgbClr val="000000"/>
                </a:solidFill>
                <a:latin typeface="Lora"/>
                <a:ea typeface="Lora"/>
                <a:cs typeface="Lora"/>
                <a:sym typeface="Lora"/>
              </a:rPr>
              <a:t>The system should always keep users informed about what is going on, through appropriate feedback within reasonable time.</a:t>
            </a:r>
            <a:endParaRPr sz="1100" b="0" i="0" u="none" strike="noStrike" cap="none" dirty="0" smtClean="0">
              <a:solidFill>
                <a:srgbClr val="000000"/>
              </a:solidFill>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endParaRPr sz="800" b="0" i="0" u="none" strike="noStrike" cap="none" dirty="0">
              <a:solidFill>
                <a:srgbClr val="000000"/>
              </a:solidFill>
              <a:latin typeface="Lora"/>
              <a:ea typeface="Lora"/>
              <a:cs typeface="Lora"/>
              <a:sym typeface="Lora"/>
            </a:endParaRPr>
          </a:p>
        </p:txBody>
      </p:sp>
      <p:grpSp>
        <p:nvGrpSpPr>
          <p:cNvPr id="119" name="Google Shape;119;p15"/>
          <p:cNvGrpSpPr/>
          <p:nvPr/>
        </p:nvGrpSpPr>
        <p:grpSpPr>
          <a:xfrm>
            <a:off x="916458" y="1019750"/>
            <a:ext cx="214625" cy="214625"/>
            <a:chOff x="2594050" y="1631825"/>
            <a:chExt cx="439625" cy="439625"/>
          </a:xfrm>
        </p:grpSpPr>
        <p:sp>
          <p:nvSpPr>
            <p:cNvPr id="120" name="Google Shape;120;p15"/>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5"/>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5"/>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5"/>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4" name="Google Shape;124;p1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a:t>
            </a:fld>
            <a:endParaRPr sz="1000" b="0" i="0" u="none" strike="noStrike" cap="none">
              <a:solidFill>
                <a:srgbClr val="1D1D1B"/>
              </a:solidFill>
              <a:latin typeface="Lora"/>
              <a:ea typeface="Lora"/>
              <a:cs typeface="Lora"/>
              <a:sym typeface="Lora"/>
            </a:endParaRPr>
          </a:p>
        </p:txBody>
      </p:sp>
      <p:pic>
        <p:nvPicPr>
          <p:cNvPr id="125" name="Google Shape;125;p15" descr="Podobny obraz"/>
          <p:cNvPicPr preferRelativeResize="0"/>
          <p:nvPr/>
        </p:nvPicPr>
        <p:blipFill rotWithShape="1">
          <a:blip r:embed="rId3">
            <a:alphaModFix/>
          </a:blip>
          <a:srcRect/>
          <a:stretch/>
        </p:blipFill>
        <p:spPr>
          <a:xfrm>
            <a:off x="5940152" y="1675980"/>
            <a:ext cx="2857500" cy="285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800" b="1" i="0" u="none" strike="noStrike" cap="none" dirty="0">
                <a:solidFill>
                  <a:srgbClr val="000000"/>
                </a:solidFill>
                <a:latin typeface="Lora"/>
                <a:ea typeface="Lora"/>
                <a:cs typeface="Lora"/>
                <a:sym typeface="Lora"/>
              </a:rPr>
              <a:t>Method</a:t>
            </a:r>
            <a:endParaRPr sz="2800" b="1" i="0" u="none" strike="noStrike" cap="none" dirty="0">
              <a:solidFill>
                <a:srgbClr val="000000"/>
              </a:solidFill>
              <a:highlight>
                <a:srgbClr val="FFCD00"/>
              </a:highlight>
              <a:latin typeface="Lora"/>
              <a:ea typeface="Lora"/>
              <a:cs typeface="Lora"/>
              <a:sym typeface="Lora"/>
            </a:endParaRPr>
          </a:p>
        </p:txBody>
      </p:sp>
      <p:sp>
        <p:nvSpPr>
          <p:cNvPr id="131" name="Google Shape;131;p16"/>
          <p:cNvSpPr txBox="1">
            <a:spLocks noGrp="1"/>
          </p:cNvSpPr>
          <p:nvPr>
            <p:ph type="body" idx="1"/>
          </p:nvPr>
        </p:nvSpPr>
        <p:spPr>
          <a:xfrm>
            <a:off x="251520" y="1347614"/>
            <a:ext cx="8568952" cy="3600400"/>
          </a:xfrm>
          <a:prstGeom prst="rect">
            <a:avLst/>
          </a:prstGeom>
          <a:noFill/>
          <a:ln>
            <a:noFill/>
          </a:ln>
        </p:spPr>
        <p:txBody>
          <a:bodyPr spcFirstLastPara="1" wrap="square" lIns="91425" tIns="91425" rIns="91425" bIns="91425" anchor="t" anchorCtr="0">
            <a:noAutofit/>
          </a:bodyPr>
          <a:lstStyle/>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Error prevention</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Careful design that helps to prevent user making mistakes</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Recognition rather than recall</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Minimize the user's memory load by making objects, actions, and options easily visible. The user should not be forced to remember information! Instructions  how to use our system should be visible or easily retrievable whenever appropriate.</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Flexibility and efficiency of use</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Accelerators  and shortcuts may often speed up the interaction for the expert user </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Aesthetics and minimalist design</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Dialogues should not contain information which are irrelevant to the users goals. Every extra unit of information in a dialogue competes with the relevant units of information and diminishes their relative visibility.</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Help users recognize, diagnose, and recover from errors</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Error messages should be expressed in plain language (no codes), precisely indicating the problem, and constructively suggest a solution.</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1" i="1" u="none" strike="noStrike" cap="none" dirty="0">
                <a:solidFill>
                  <a:srgbClr val="000000"/>
                </a:solidFill>
                <a:latin typeface="Lora"/>
                <a:ea typeface="Lora"/>
                <a:cs typeface="Lora"/>
                <a:sym typeface="Lora"/>
              </a:rPr>
              <a:t>Help and documentation</a:t>
            </a:r>
            <a:endParaRPr sz="1100" b="0" i="0" u="none" strike="noStrike" cap="none" dirty="0">
              <a:solidFill>
                <a:srgbClr val="000000"/>
              </a:solidFill>
              <a:latin typeface="Lora"/>
              <a:ea typeface="Lora"/>
              <a:cs typeface="Lora"/>
              <a:sym typeface="Lora"/>
            </a:endParaRPr>
          </a:p>
          <a:p>
            <a:pPr marL="7620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It is necessary to provide users with documentation, which should be easy to search, process and use.</a:t>
            </a:r>
            <a:br>
              <a:rPr lang="en" sz="1100" b="0" i="0" u="none" strike="noStrike" cap="none" dirty="0">
                <a:solidFill>
                  <a:srgbClr val="000000"/>
                </a:solidFill>
                <a:latin typeface="Lora"/>
                <a:ea typeface="Lora"/>
                <a:cs typeface="Lora"/>
                <a:sym typeface="Lora"/>
              </a:rPr>
            </a:br>
            <a:endParaRPr sz="1100" b="0" i="0" u="none" strike="noStrike" cap="none" dirty="0">
              <a:solidFill>
                <a:srgbClr val="000000"/>
              </a:solidFill>
              <a:latin typeface="Lora"/>
              <a:ea typeface="Lora"/>
              <a:cs typeface="Lora"/>
              <a:sym typeface="Lora"/>
            </a:endParaRPr>
          </a:p>
        </p:txBody>
      </p:sp>
      <p:grpSp>
        <p:nvGrpSpPr>
          <p:cNvPr id="132" name="Google Shape;132;p16"/>
          <p:cNvGrpSpPr/>
          <p:nvPr/>
        </p:nvGrpSpPr>
        <p:grpSpPr>
          <a:xfrm>
            <a:off x="916458" y="1019750"/>
            <a:ext cx="214625" cy="214625"/>
            <a:chOff x="2594050" y="1631825"/>
            <a:chExt cx="439625" cy="439625"/>
          </a:xfrm>
        </p:grpSpPr>
        <p:sp>
          <p:nvSpPr>
            <p:cNvPr id="133" name="Google Shape;133;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7" name="Google Shape;137;p16"/>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5</a:t>
            </a:fld>
            <a:endParaRPr sz="1000" b="0" i="0" u="none" strike="noStrike" cap="none">
              <a:solidFill>
                <a:srgbClr val="1D1D1B"/>
              </a:solidFill>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41"/>
        <p:cNvGrpSpPr/>
        <p:nvPr/>
      </p:nvGrpSpPr>
      <p:grpSpPr>
        <a:xfrm>
          <a:off x="0" y="0"/>
          <a:ext cx="0" cy="0"/>
          <a:chOff x="0" y="0"/>
          <a:chExt cx="0" cy="0"/>
        </a:xfrm>
      </p:grpSpPr>
      <p:sp>
        <p:nvSpPr>
          <p:cNvPr id="142" name="Google Shape;142;p17"/>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800" b="1" i="0" u="none" strike="noStrike" cap="none" dirty="0">
                <a:solidFill>
                  <a:srgbClr val="000000"/>
                </a:solidFill>
                <a:latin typeface="Lora"/>
                <a:ea typeface="Lora"/>
                <a:cs typeface="Lora"/>
                <a:sym typeface="Lora"/>
              </a:rPr>
              <a:t>Tasks</a:t>
            </a:r>
            <a:endParaRPr sz="2800" b="1" i="0" u="none" strike="noStrike" cap="none" dirty="0">
              <a:solidFill>
                <a:srgbClr val="000000"/>
              </a:solidFill>
              <a:highlight>
                <a:srgbClr val="FFCD00"/>
              </a:highlight>
              <a:latin typeface="Lora"/>
              <a:ea typeface="Lora"/>
              <a:cs typeface="Lora"/>
              <a:sym typeface="Lora"/>
            </a:endParaRPr>
          </a:p>
        </p:txBody>
      </p:sp>
      <p:sp>
        <p:nvSpPr>
          <p:cNvPr id="143" name="Google Shape;143;p17"/>
          <p:cNvSpPr txBox="1">
            <a:spLocks noGrp="1"/>
          </p:cNvSpPr>
          <p:nvPr>
            <p:ph type="body" idx="1"/>
          </p:nvPr>
        </p:nvSpPr>
        <p:spPr>
          <a:xfrm>
            <a:off x="3837171" y="1530791"/>
            <a:ext cx="5218338" cy="366746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 </a:t>
            </a:r>
            <a:r>
              <a:rPr lang="en" sz="1100" b="0" i="0" u="none" strike="noStrike" cap="none" dirty="0" smtClean="0">
                <a:solidFill>
                  <a:srgbClr val="000000"/>
                </a:solidFill>
                <a:latin typeface="Lora"/>
                <a:ea typeface="Lora"/>
                <a:cs typeface="Lora"/>
                <a:sym typeface="Lora"/>
              </a:rPr>
              <a:t> Login </a:t>
            </a:r>
            <a:r>
              <a:rPr lang="en" sz="1100" b="0" i="0" u="none" strike="noStrike" cap="none" dirty="0">
                <a:solidFill>
                  <a:srgbClr val="000000"/>
                </a:solidFill>
                <a:latin typeface="Lora"/>
                <a:ea typeface="Lora"/>
                <a:cs typeface="Lora"/>
                <a:sym typeface="Lora"/>
              </a:rPr>
              <a:t>to the Skyscanner using provided credentials</a:t>
            </a:r>
            <a:endParaRPr sz="1100" dirty="0"/>
          </a:p>
          <a:p>
            <a:pPr marL="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a:solidFill>
                  <a:srgbClr val="000000"/>
                </a:solidFill>
                <a:latin typeface="Lora"/>
                <a:ea typeface="Lora"/>
                <a:cs typeface="Lora"/>
                <a:sym typeface="Lora"/>
              </a:rPr>
              <a:t>-  Your friend from Poland invited you to Warsaw. You decide </a:t>
            </a:r>
            <a:r>
              <a:rPr lang="en" sz="1100" b="0" i="0" u="none" strike="noStrike" cap="none" dirty="0" smtClean="0">
                <a:solidFill>
                  <a:srgbClr val="000000"/>
                </a:solidFill>
                <a:latin typeface="Lora"/>
                <a:ea typeface="Lora"/>
                <a:cs typeface="Lora"/>
                <a:sym typeface="Lora"/>
              </a:rPr>
              <a:t>    </a:t>
            </a:r>
            <a:r>
              <a:rPr lang="en" sz="1100" b="0" i="0" u="none" strike="noStrike" cap="none" dirty="0" smtClean="0">
                <a:solidFill>
                  <a:srgbClr val="000000"/>
                </a:solidFill>
                <a:latin typeface="Lora"/>
                <a:ea typeface="Lora"/>
                <a:cs typeface="Lora"/>
                <a:sym typeface="Lora"/>
              </a:rPr>
              <a:t>to </a:t>
            </a:r>
            <a:r>
              <a:rPr lang="en" sz="1100" b="0" i="0" u="none" strike="noStrike" cap="none" dirty="0">
                <a:solidFill>
                  <a:srgbClr val="000000"/>
                </a:solidFill>
                <a:latin typeface="Lora"/>
                <a:ea typeface="Lora"/>
                <a:cs typeface="Lora"/>
                <a:sym typeface="Lora"/>
              </a:rPr>
              <a:t>depart from Taipei at 30/11/2018 and take one way ticket</a:t>
            </a:r>
            <a:r>
              <a:rPr lang="en" sz="1100" b="0" i="0" u="none" strike="noStrike" cap="none" dirty="0" smtClean="0">
                <a:solidFill>
                  <a:srgbClr val="000000"/>
                </a:solidFill>
                <a:latin typeface="Lora"/>
                <a:ea typeface="Lora"/>
                <a:cs typeface="Lora"/>
                <a:sym typeface="Lora"/>
              </a:rPr>
              <a:t>. You </a:t>
            </a:r>
            <a:r>
              <a:rPr lang="en" sz="1100" b="0" i="0" u="none" strike="noStrike" cap="none" dirty="0">
                <a:solidFill>
                  <a:srgbClr val="000000"/>
                </a:solidFill>
                <a:latin typeface="Lora"/>
                <a:ea typeface="Lora"/>
                <a:cs typeface="Lora"/>
                <a:sym typeface="Lora"/>
              </a:rPr>
              <a:t>know that he will arrive to Warsaw long before you, so </a:t>
            </a:r>
            <a:r>
              <a:rPr lang="en" sz="1100" b="0" i="0" u="none" strike="noStrike" cap="none" dirty="0" smtClean="0">
                <a:solidFill>
                  <a:srgbClr val="000000"/>
                </a:solidFill>
                <a:latin typeface="Lora"/>
                <a:ea typeface="Lora"/>
                <a:cs typeface="Lora"/>
                <a:sym typeface="Lora"/>
              </a:rPr>
              <a:t>you </a:t>
            </a:r>
            <a:r>
              <a:rPr lang="en" sz="1100" b="0" i="0" u="none" strike="noStrike" cap="none" dirty="0">
                <a:solidFill>
                  <a:srgbClr val="000000"/>
                </a:solidFill>
                <a:latin typeface="Lora"/>
                <a:ea typeface="Lora"/>
                <a:cs typeface="Lora"/>
                <a:sym typeface="Lora"/>
              </a:rPr>
              <a:t>decided to take the fastest flight</a:t>
            </a:r>
            <a:endParaRPr sz="1100" dirty="0"/>
          </a:p>
          <a:p>
            <a:pPr marL="0" marR="0" lvl="0" indent="0" algn="l" rtl="0">
              <a:lnSpc>
                <a:spcPct val="100000"/>
              </a:lnSpc>
              <a:spcBef>
                <a:spcPts val="600"/>
              </a:spcBef>
              <a:spcAft>
                <a:spcPts val="0"/>
              </a:spcAft>
              <a:buClr>
                <a:srgbClr val="FFCD00"/>
              </a:buClr>
              <a:buSzPts val="2400"/>
              <a:buFont typeface="Quattrocento Sans"/>
              <a:buNone/>
            </a:pPr>
            <a:r>
              <a:rPr lang="en" sz="1100" b="0" i="0" u="none" strike="noStrike" cap="none" dirty="0" smtClean="0">
                <a:solidFill>
                  <a:srgbClr val="000000"/>
                </a:solidFill>
                <a:latin typeface="Lora"/>
                <a:ea typeface="Lora"/>
                <a:cs typeface="Lora"/>
                <a:sym typeface="Lora"/>
              </a:rPr>
              <a:t>-  After </a:t>
            </a:r>
            <a:r>
              <a:rPr lang="en" sz="1100" b="0" i="0" u="none" strike="noStrike" cap="none" dirty="0">
                <a:solidFill>
                  <a:srgbClr val="000000"/>
                </a:solidFill>
                <a:latin typeface="Lora"/>
                <a:ea typeface="Lora"/>
                <a:cs typeface="Lora"/>
                <a:sym typeface="Lora"/>
              </a:rPr>
              <a:t>very long year of hard work you decided to take a flight </a:t>
            </a:r>
            <a:r>
              <a:rPr lang="en" sz="1100" b="0" i="0" u="none" strike="noStrike" cap="none" dirty="0" smtClean="0">
                <a:solidFill>
                  <a:srgbClr val="000000"/>
                </a:solidFill>
                <a:latin typeface="Lora"/>
                <a:ea typeface="Lora"/>
                <a:cs typeface="Lora"/>
                <a:sym typeface="Lora"/>
              </a:rPr>
              <a:t>to </a:t>
            </a:r>
            <a:r>
              <a:rPr lang="en" sz="1100" b="0" i="0" u="none" strike="noStrike" cap="none" dirty="0">
                <a:solidFill>
                  <a:srgbClr val="000000"/>
                </a:solidFill>
                <a:latin typeface="Lora"/>
                <a:ea typeface="Lora"/>
                <a:cs typeface="Lora"/>
                <a:sym typeface="Lora"/>
              </a:rPr>
              <a:t>Paris and rent a luxury hotel. You want to depart </a:t>
            </a:r>
            <a:r>
              <a:rPr lang="en" sz="1100" b="0" i="0" u="none" strike="noStrike" cap="none" dirty="0" smtClean="0">
                <a:solidFill>
                  <a:srgbClr val="000000"/>
                </a:solidFill>
                <a:latin typeface="Lora"/>
                <a:ea typeface="Lora"/>
                <a:cs typeface="Lora"/>
                <a:sym typeface="Lora"/>
              </a:rPr>
              <a:t>30/11/2018 </a:t>
            </a:r>
            <a:r>
              <a:rPr lang="en" sz="1100" b="0" i="0" u="none" strike="noStrike" cap="none" dirty="0">
                <a:solidFill>
                  <a:srgbClr val="000000"/>
                </a:solidFill>
                <a:latin typeface="Lora"/>
                <a:ea typeface="Lora"/>
                <a:cs typeface="Lora"/>
                <a:sym typeface="Lora"/>
              </a:rPr>
              <a:t>and return 09/12/2018. You want to land on </a:t>
            </a:r>
            <a:r>
              <a:rPr lang="en" sz="1100" b="0" i="0" u="none" strike="noStrike" cap="none" dirty="0" smtClean="0">
                <a:solidFill>
                  <a:srgbClr val="000000"/>
                </a:solidFill>
                <a:latin typeface="Lora"/>
                <a:ea typeface="Lora"/>
                <a:cs typeface="Lora"/>
                <a:sym typeface="Lora"/>
              </a:rPr>
              <a:t>Charles </a:t>
            </a:r>
            <a:r>
              <a:rPr lang="en" sz="1100" b="0" i="0" u="none" strike="noStrike" cap="none" dirty="0">
                <a:solidFill>
                  <a:srgbClr val="000000"/>
                </a:solidFill>
                <a:latin typeface="Lora"/>
                <a:ea typeface="Lora"/>
                <a:cs typeface="Lora"/>
                <a:sym typeface="Lora"/>
              </a:rPr>
              <a:t>de Gaulle airport. You want to take the best possible </a:t>
            </a:r>
            <a:r>
              <a:rPr lang="en" sz="1100" b="0" i="0" u="none" strike="noStrike" cap="none" dirty="0" smtClean="0">
                <a:solidFill>
                  <a:srgbClr val="000000"/>
                </a:solidFill>
                <a:latin typeface="Lora"/>
                <a:ea typeface="Lora"/>
                <a:cs typeface="Lora"/>
                <a:sym typeface="Lora"/>
              </a:rPr>
              <a:t>flight </a:t>
            </a:r>
            <a:r>
              <a:rPr lang="en" sz="1100" b="0" i="0" u="none" strike="noStrike" cap="none" dirty="0">
                <a:solidFill>
                  <a:srgbClr val="000000"/>
                </a:solidFill>
                <a:latin typeface="Lora"/>
                <a:ea typeface="Lora"/>
                <a:cs typeface="Lora"/>
                <a:sym typeface="Lora"/>
              </a:rPr>
              <a:t>when it comes to the price/time ratio. During this time </a:t>
            </a:r>
            <a:r>
              <a:rPr lang="en" sz="1100" b="0" i="0" u="none" strike="noStrike" cap="none" dirty="0" smtClean="0">
                <a:solidFill>
                  <a:srgbClr val="000000"/>
                </a:solidFill>
                <a:latin typeface="Lora"/>
                <a:ea typeface="Lora"/>
                <a:cs typeface="Lora"/>
                <a:sym typeface="Lora"/>
              </a:rPr>
              <a:t>you </a:t>
            </a:r>
            <a:r>
              <a:rPr lang="en" sz="1100" b="0" i="0" u="none" strike="noStrike" cap="none" dirty="0">
                <a:solidFill>
                  <a:srgbClr val="000000"/>
                </a:solidFill>
                <a:latin typeface="Lora"/>
                <a:ea typeface="Lora"/>
                <a:cs typeface="Lora"/>
                <a:sym typeface="Lora"/>
              </a:rPr>
              <a:t>want to reserve the best hotel when it comes to the user </a:t>
            </a:r>
            <a:r>
              <a:rPr lang="en" sz="1100" b="0" i="0" u="none" strike="noStrike" cap="none" dirty="0" smtClean="0">
                <a:solidFill>
                  <a:srgbClr val="000000"/>
                </a:solidFill>
                <a:latin typeface="Lora"/>
                <a:ea typeface="Lora"/>
                <a:cs typeface="Lora"/>
                <a:sym typeface="Lora"/>
              </a:rPr>
              <a:t>ratings</a:t>
            </a:r>
            <a:r>
              <a:rPr lang="en" sz="1100" b="0" i="0" u="none" strike="noStrike" cap="none" dirty="0">
                <a:solidFill>
                  <a:srgbClr val="000000"/>
                </a:solidFill>
                <a:latin typeface="Lora"/>
                <a:ea typeface="Lora"/>
                <a:cs typeface="Lora"/>
                <a:sym typeface="Lora"/>
              </a:rPr>
              <a:t>. </a:t>
            </a:r>
            <a:endParaRPr lang="en" sz="1100" b="0" i="0" u="none" strike="noStrike" cap="none" dirty="0" smtClean="0">
              <a:solidFill>
                <a:srgbClr val="000000"/>
              </a:solidFill>
              <a:latin typeface="Lora"/>
              <a:ea typeface="Lora"/>
              <a:cs typeface="Lora"/>
              <a:sym typeface="Lora"/>
            </a:endParaRPr>
          </a:p>
          <a:p>
            <a:pPr marL="0" lvl="0" indent="0">
              <a:buNone/>
            </a:pPr>
            <a:r>
              <a:rPr lang="en" sz="1100" b="1" i="0" u="none" strike="noStrike" cap="none" dirty="0" smtClean="0">
                <a:solidFill>
                  <a:srgbClr val="000000"/>
                </a:solidFill>
                <a:sym typeface="Quattrocento Sans"/>
              </a:rPr>
              <a:t>- </a:t>
            </a:r>
            <a:r>
              <a:rPr lang="en-US" sz="1100" dirty="0">
                <a:latin typeface="Lora" panose="020B0604020202020204" charset="0"/>
              </a:rPr>
              <a:t>During winter vacation, you want to take a trip to Tokyo with your friend for five days. Because you are students, you decided to find the cheapest round-trip tickets in January.</a:t>
            </a:r>
          </a:p>
          <a:p>
            <a:pPr marL="0" lvl="0" indent="0">
              <a:buNone/>
            </a:pPr>
            <a:r>
              <a:rPr lang="en-US" sz="1100" dirty="0" smtClean="0">
                <a:latin typeface="Lora" panose="020B0604020202020204" charset="0"/>
              </a:rPr>
              <a:t>- The </a:t>
            </a:r>
            <a:r>
              <a:rPr lang="en-US" sz="1100" dirty="0">
                <a:latin typeface="Lora" panose="020B0604020202020204" charset="0"/>
              </a:rPr>
              <a:t>typhoon is coming soon. The reporter said it will land on 2018/10/31. And now you are in Tokyo. So you need to back to Taipei before Typhoon coming. And you want to choose a cheapest ticket. Now, you only have a smartphone. So you need to use it to book a ticket. </a:t>
            </a:r>
          </a:p>
          <a:p>
            <a:pPr marL="0" marR="0" lvl="0" indent="0" algn="l" rtl="0">
              <a:lnSpc>
                <a:spcPct val="100000"/>
              </a:lnSpc>
              <a:spcBef>
                <a:spcPts val="600"/>
              </a:spcBef>
              <a:spcAft>
                <a:spcPts val="0"/>
              </a:spcAft>
              <a:buClr>
                <a:srgbClr val="FFCD00"/>
              </a:buClr>
              <a:buSzPts val="2400"/>
              <a:buFont typeface="Quattrocento Sans"/>
              <a:buNone/>
            </a:pPr>
            <a:r>
              <a:rPr lang="en" sz="1100" b="1" i="0" u="none" strike="noStrike" cap="none" dirty="0">
                <a:solidFill>
                  <a:srgbClr val="000000"/>
                </a:solidFill>
                <a:sym typeface="Quattrocento Sans"/>
              </a:rPr>
              <a:t/>
            </a:r>
            <a:br>
              <a:rPr lang="en" sz="1100" b="1" i="0" u="none" strike="noStrike" cap="none" dirty="0">
                <a:solidFill>
                  <a:srgbClr val="000000"/>
                </a:solidFill>
                <a:sym typeface="Quattrocento Sans"/>
              </a:rPr>
            </a:br>
            <a:endParaRPr sz="1100" b="0" i="0" u="none" strike="noStrike" cap="none" dirty="0">
              <a:solidFill>
                <a:srgbClr val="000000"/>
              </a:solidFill>
              <a:sym typeface="Quattrocento Sans"/>
            </a:endParaRPr>
          </a:p>
        </p:txBody>
      </p:sp>
      <p:grpSp>
        <p:nvGrpSpPr>
          <p:cNvPr id="144" name="Google Shape;144;p17"/>
          <p:cNvGrpSpPr/>
          <p:nvPr/>
        </p:nvGrpSpPr>
        <p:grpSpPr>
          <a:xfrm>
            <a:off x="916458" y="1019750"/>
            <a:ext cx="214625" cy="214625"/>
            <a:chOff x="2594050" y="1631825"/>
            <a:chExt cx="439625" cy="439625"/>
          </a:xfrm>
        </p:grpSpPr>
        <p:sp>
          <p:nvSpPr>
            <p:cNvPr id="145" name="Google Shape;145;p17"/>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7"/>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7"/>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17"/>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9" name="Google Shape;149;p17"/>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6</a:t>
            </a:fld>
            <a:endParaRPr sz="1000" b="0" i="0" u="none" strike="noStrike" cap="none">
              <a:solidFill>
                <a:srgbClr val="1D1D1B"/>
              </a:solidFill>
              <a:latin typeface="Lora"/>
              <a:ea typeface="Lora"/>
              <a:cs typeface="Lora"/>
              <a:sym typeface="Lora"/>
            </a:endParaRPr>
          </a:p>
        </p:txBody>
      </p:sp>
      <p:pic>
        <p:nvPicPr>
          <p:cNvPr id="150" name="Google Shape;150;p17"/>
          <p:cNvPicPr preferRelativeResize="0"/>
          <p:nvPr/>
        </p:nvPicPr>
        <p:blipFill rotWithShape="1">
          <a:blip r:embed="rId3">
            <a:alphaModFix/>
          </a:blip>
          <a:srcRect/>
          <a:stretch/>
        </p:blipFill>
        <p:spPr>
          <a:xfrm>
            <a:off x="323528" y="1563638"/>
            <a:ext cx="3400267" cy="3277857"/>
          </a:xfrm>
          <a:prstGeom prst="rect">
            <a:avLst/>
          </a:prstGeom>
          <a:noFill/>
          <a:ln>
            <a:noFill/>
          </a:ln>
        </p:spPr>
      </p:pic>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cxnSp>
        <p:nvCxnSpPr>
          <p:cNvPr id="155" name="Google Shape;155;p18"/>
          <p:cNvCxnSpPr/>
          <p:nvPr/>
        </p:nvCxnSpPr>
        <p:spPr>
          <a:xfrm>
            <a:off x="-6450" y="1131725"/>
            <a:ext cx="9150600" cy="0"/>
          </a:xfrm>
          <a:prstGeom prst="straightConnector1">
            <a:avLst/>
          </a:prstGeom>
          <a:noFill/>
          <a:ln w="9525" cap="flat" cmpd="sng">
            <a:solidFill>
              <a:srgbClr val="CCCCCC"/>
            </a:solidFill>
            <a:prstDash val="solid"/>
            <a:round/>
            <a:headEnd type="none" w="sm" len="sm"/>
            <a:tailEnd type="none" w="sm" len="sm"/>
          </a:ln>
        </p:spPr>
      </p:cxnSp>
      <p:pic>
        <p:nvPicPr>
          <p:cNvPr id="156" name="Google Shape;156;p18" descr="pigargo.jpg"/>
          <p:cNvPicPr preferRelativeResize="0"/>
          <p:nvPr/>
        </p:nvPicPr>
        <p:blipFill rotWithShape="1">
          <a:blip r:embed="rId3">
            <a:alphaModFix/>
          </a:blip>
          <a:srcRect/>
          <a:stretch/>
        </p:blipFill>
        <p:spPr>
          <a:xfrm>
            <a:off x="2744850" y="1347614"/>
            <a:ext cx="3654300" cy="3654300"/>
          </a:xfrm>
          <a:prstGeom prst="ellipse">
            <a:avLst/>
          </a:prstGeom>
          <a:noFill/>
          <a:ln>
            <a:noFill/>
          </a:ln>
        </p:spPr>
      </p:pic>
      <p:sp>
        <p:nvSpPr>
          <p:cNvPr id="157" name="Google Shape;157;p18"/>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7</a:t>
            </a:fld>
            <a:endParaRPr sz="1000" b="0" i="0" u="none" strike="noStrike" cap="none">
              <a:solidFill>
                <a:srgbClr val="1D1D1B"/>
              </a:solidFill>
              <a:latin typeface="Lora"/>
              <a:ea typeface="Lora"/>
              <a:cs typeface="Lora"/>
              <a:sym typeface="Lora"/>
            </a:endParaRPr>
          </a:p>
        </p:txBody>
      </p:sp>
      <p:sp>
        <p:nvSpPr>
          <p:cNvPr id="158" name="Google Shape;158;p18"/>
          <p:cNvSpPr txBox="1"/>
          <p:nvPr/>
        </p:nvSpPr>
        <p:spPr>
          <a:xfrm>
            <a:off x="503549" y="51470"/>
            <a:ext cx="8136903" cy="115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Lora"/>
              <a:buNone/>
            </a:pPr>
            <a:r>
              <a:rPr lang="en" sz="3600" b="1" i="0" u="none" strike="noStrike" cap="none">
                <a:solidFill>
                  <a:srgbClr val="000000"/>
                </a:solidFill>
                <a:highlight>
                  <a:srgbClr val="FFCD00"/>
                </a:highlight>
                <a:latin typeface="Lora"/>
                <a:ea typeface="Lora"/>
                <a:cs typeface="Lora"/>
                <a:sym typeface="Lora"/>
              </a:rPr>
              <a:t>Findings</a:t>
            </a:r>
            <a:endParaRPr sz="3600" b="1" i="0" u="none" strike="noStrike" cap="none">
              <a:solidFill>
                <a:srgbClr val="000000"/>
              </a:solidFill>
              <a:highlight>
                <a:srgbClr val="FFCD00"/>
              </a:highlight>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ctrTitle" idx="4294967295"/>
          </p:nvPr>
        </p:nvSpPr>
        <p:spPr>
          <a:xfrm>
            <a:off x="506524" y="107869"/>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Positive finding</a:t>
            </a:r>
            <a:r>
              <a:rPr lang="en" sz="2000" b="1" i="0" u="none" strike="noStrike" cap="none">
                <a:solidFill>
                  <a:srgbClr val="000000"/>
                </a:solidFill>
                <a:highlight>
                  <a:srgbClr val="FFCD00"/>
                </a:highlight>
                <a:latin typeface="Lora"/>
                <a:ea typeface="Lora"/>
                <a:cs typeface="Lora"/>
                <a:sym typeface="Lora"/>
              </a:rPr>
              <a:t>: Clean design and clear layout</a:t>
            </a:r>
            <a:endParaRPr sz="2000" b="1" i="0" u="none" strike="noStrike" cap="none">
              <a:solidFill>
                <a:srgbClr val="000000"/>
              </a:solidFill>
              <a:highlight>
                <a:srgbClr val="FFCD00"/>
              </a:highlight>
              <a:latin typeface="Lora"/>
              <a:ea typeface="Lora"/>
              <a:cs typeface="Lora"/>
              <a:sym typeface="Lora"/>
            </a:endParaRPr>
          </a:p>
          <a:p>
            <a:pPr marL="0" marR="0" lvl="0" indent="0" algn="l" rtl="0">
              <a:lnSpc>
                <a:spcPct val="100000"/>
              </a:lnSpc>
              <a:spcBef>
                <a:spcPts val="0"/>
              </a:spcBef>
              <a:spcAft>
                <a:spcPts val="0"/>
              </a:spcAft>
              <a:buClr>
                <a:srgbClr val="000000"/>
              </a:buClr>
              <a:buSzPts val="2000"/>
              <a:buFont typeface="Lora"/>
              <a:buNone/>
            </a:pPr>
            <a:r>
              <a:rPr lang="en" sz="1400">
                <a:solidFill>
                  <a:schemeClr val="dk1"/>
                </a:solidFill>
              </a:rPr>
              <a:t>Heuristics: Visibility of system status, aesthetics and minimalist design</a:t>
            </a:r>
            <a:r>
              <a:rPr lang="en" sz="2000" b="1" i="0" u="none" strike="noStrike" cap="none">
                <a:solidFill>
                  <a:srgbClr val="000000"/>
                </a:solidFill>
                <a:latin typeface="Lora"/>
                <a:ea typeface="Lora"/>
                <a:cs typeface="Lora"/>
                <a:sym typeface="Lora"/>
              </a:rPr>
              <a:t/>
            </a:r>
            <a:br>
              <a:rPr lang="en" sz="2000" b="1" i="0" u="none" strike="noStrike" cap="none">
                <a:solidFill>
                  <a:srgbClr val="000000"/>
                </a:solidFill>
                <a:latin typeface="Lora"/>
                <a:ea typeface="Lora"/>
                <a:cs typeface="Lora"/>
                <a:sym typeface="Lora"/>
              </a:rPr>
            </a:br>
            <a:endParaRPr sz="2000" b="0" i="0" u="none" strike="noStrike" cap="none">
              <a:solidFill>
                <a:srgbClr val="000000"/>
              </a:solidFill>
              <a:latin typeface="Lora"/>
              <a:ea typeface="Lora"/>
              <a:cs typeface="Lora"/>
              <a:sym typeface="Lora"/>
            </a:endParaRPr>
          </a:p>
        </p:txBody>
      </p:sp>
      <p:cxnSp>
        <p:nvCxnSpPr>
          <p:cNvPr id="164" name="Google Shape;164;p19"/>
          <p:cNvCxnSpPr/>
          <p:nvPr/>
        </p:nvCxnSpPr>
        <p:spPr>
          <a:xfrm>
            <a:off x="-6025" y="1001528"/>
            <a:ext cx="9162000" cy="0"/>
          </a:xfrm>
          <a:prstGeom prst="straightConnector1">
            <a:avLst/>
          </a:prstGeom>
          <a:noFill/>
          <a:ln w="9525" cap="flat" cmpd="sng">
            <a:solidFill>
              <a:srgbClr val="CCCCCC"/>
            </a:solidFill>
            <a:prstDash val="solid"/>
            <a:round/>
            <a:headEnd type="none" w="sm" len="sm"/>
            <a:tailEnd type="none" w="sm" len="sm"/>
          </a:ln>
        </p:spPr>
      </p:cxnSp>
      <p:sp>
        <p:nvSpPr>
          <p:cNvPr id="165" name="Google Shape;165;p19"/>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8</a:t>
            </a:fld>
            <a:endParaRPr sz="1000" b="0" i="0" u="none" strike="noStrike" cap="none">
              <a:solidFill>
                <a:srgbClr val="1D1D1B"/>
              </a:solidFill>
              <a:latin typeface="Lora"/>
              <a:ea typeface="Lora"/>
              <a:cs typeface="Lora"/>
              <a:sym typeface="Lora"/>
            </a:endParaRPr>
          </a:p>
        </p:txBody>
      </p:sp>
      <p:sp>
        <p:nvSpPr>
          <p:cNvPr id="166" name="Google Shape;166;p19"/>
          <p:cNvSpPr/>
          <p:nvPr/>
        </p:nvSpPr>
        <p:spPr>
          <a:xfrm>
            <a:off x="491398" y="1116743"/>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sz="1400" b="0" i="0" u="none" strike="noStrike" cap="none" dirty="0" smtClean="0">
                <a:solidFill>
                  <a:srgbClr val="000000"/>
                </a:solidFill>
                <a:latin typeface="Arial"/>
                <a:ea typeface="Arial"/>
                <a:cs typeface="Arial"/>
                <a:sym typeface="Arial"/>
              </a:rPr>
              <a:t>The </a:t>
            </a:r>
            <a:r>
              <a:rPr lang="en" sz="1400" b="0" i="0" u="none" strike="noStrike" cap="none" dirty="0">
                <a:solidFill>
                  <a:srgbClr val="000000"/>
                </a:solidFill>
                <a:latin typeface="Arial"/>
                <a:ea typeface="Arial"/>
                <a:cs typeface="Arial"/>
                <a:sym typeface="Arial"/>
              </a:rPr>
              <a:t>website </a:t>
            </a:r>
            <a:r>
              <a:rPr lang="en" dirty="0"/>
              <a:t>is easily navigable, have clean layout that doesn’t take the users focus from the </a:t>
            </a:r>
            <a:r>
              <a:rPr lang="en" dirty="0" smtClean="0"/>
              <a:t>tasks</a:t>
            </a:r>
            <a:r>
              <a:rPr lang="zh-TW" altLang="en-US" dirty="0" smtClean="0"/>
              <a:t> </a:t>
            </a:r>
            <a:endParaRPr sz="1400" b="0" i="0" u="none" strike="noStrike" cap="none" dirty="0">
              <a:solidFill>
                <a:srgbClr val="000000"/>
              </a:solidFill>
              <a:latin typeface="Arial"/>
              <a:ea typeface="Arial"/>
              <a:cs typeface="Arial"/>
              <a:sym typeface="Arial"/>
            </a:endParaRPr>
          </a:p>
        </p:txBody>
      </p:sp>
      <p:pic>
        <p:nvPicPr>
          <p:cNvPr id="167" name="Google Shape;167;p19"/>
          <p:cNvPicPr preferRelativeResize="0"/>
          <p:nvPr/>
        </p:nvPicPr>
        <p:blipFill>
          <a:blip r:embed="rId3">
            <a:alphaModFix/>
          </a:blip>
          <a:stretch>
            <a:fillRect/>
          </a:stretch>
        </p:blipFill>
        <p:spPr>
          <a:xfrm>
            <a:off x="1537162" y="1909200"/>
            <a:ext cx="6069677" cy="3148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txBox="1">
            <a:spLocks noGrp="1"/>
          </p:cNvSpPr>
          <p:nvPr>
            <p:ph type="ctrTitle" idx="4294967295"/>
          </p:nvPr>
        </p:nvSpPr>
        <p:spPr>
          <a:xfrm>
            <a:off x="503549" y="-6"/>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Positive finding</a:t>
            </a:r>
            <a:r>
              <a:rPr lang="en" sz="2000" b="1" i="0" u="none" strike="noStrike" cap="none">
                <a:solidFill>
                  <a:srgbClr val="000000"/>
                </a:solidFill>
                <a:highlight>
                  <a:srgbClr val="FFCD00"/>
                </a:highlight>
                <a:latin typeface="Lora"/>
                <a:ea typeface="Lora"/>
                <a:cs typeface="Lora"/>
                <a:sym typeface="Lora"/>
              </a:rPr>
              <a:t>: </a:t>
            </a:r>
            <a:r>
              <a:rPr lang="en">
                <a:highlight>
                  <a:srgbClr val="FFCD00"/>
                </a:highlight>
              </a:rPr>
              <a:t>The search engine does the price/time analysis</a:t>
            </a:r>
            <a:endParaRPr>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a:t>Heuristics: </a:t>
            </a:r>
            <a:r>
              <a:rPr lang="en" sz="1400">
                <a:solidFill>
                  <a:schemeClr val="dk1"/>
                </a:solidFill>
              </a:rPr>
              <a:t>Visibility of system status, flexibility and efficiency of use</a:t>
            </a:r>
            <a:endParaRPr sz="1400"/>
          </a:p>
        </p:txBody>
      </p:sp>
      <p:cxnSp>
        <p:nvCxnSpPr>
          <p:cNvPr id="173" name="Google Shape;173;p20"/>
          <p:cNvCxnSpPr/>
          <p:nvPr/>
        </p:nvCxnSpPr>
        <p:spPr>
          <a:xfrm>
            <a:off x="-6025" y="1001528"/>
            <a:ext cx="9162000" cy="0"/>
          </a:xfrm>
          <a:prstGeom prst="straightConnector1">
            <a:avLst/>
          </a:prstGeom>
          <a:noFill/>
          <a:ln w="9525" cap="flat" cmpd="sng">
            <a:solidFill>
              <a:srgbClr val="CCCCCC"/>
            </a:solidFill>
            <a:prstDash val="solid"/>
            <a:round/>
            <a:headEnd type="none" w="sm" len="sm"/>
            <a:tailEnd type="none" w="sm" len="sm"/>
          </a:ln>
        </p:spPr>
      </p:cxnSp>
      <p:sp>
        <p:nvSpPr>
          <p:cNvPr id="174" name="Google Shape;174;p20"/>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9</a:t>
            </a:fld>
            <a:endParaRPr sz="1000" b="0" i="0" u="none" strike="noStrike" cap="none">
              <a:solidFill>
                <a:srgbClr val="1D1D1B"/>
              </a:solidFill>
              <a:latin typeface="Lora"/>
              <a:ea typeface="Lora"/>
              <a:cs typeface="Lora"/>
              <a:sym typeface="Lora"/>
            </a:endParaRPr>
          </a:p>
        </p:txBody>
      </p:sp>
      <p:sp>
        <p:nvSpPr>
          <p:cNvPr id="175" name="Google Shape;175;p20"/>
          <p:cNvSpPr/>
          <p:nvPr/>
        </p:nvSpPr>
        <p:spPr>
          <a:xfrm>
            <a:off x="491398" y="1160987"/>
            <a:ext cx="8652602"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websites engine analyse the prices and time for the user, what makes the tasks easier and more efficient.</a:t>
            </a:r>
            <a:endParaRPr sz="1400" b="0" i="0" u="none" strike="noStrike" cap="none" dirty="0">
              <a:solidFill>
                <a:srgbClr val="000000"/>
              </a:solidFill>
              <a:latin typeface="Arial"/>
              <a:ea typeface="Arial"/>
              <a:cs typeface="Arial"/>
              <a:sym typeface="Arial"/>
            </a:endParaRPr>
          </a:p>
        </p:txBody>
      </p:sp>
      <p:pic>
        <p:nvPicPr>
          <p:cNvPr id="176" name="Google Shape;176;p20"/>
          <p:cNvPicPr preferRelativeResize="0"/>
          <p:nvPr/>
        </p:nvPicPr>
        <p:blipFill>
          <a:blip r:embed="rId3">
            <a:alphaModFix/>
          </a:blip>
          <a:stretch>
            <a:fillRect/>
          </a:stretch>
        </p:blipFill>
        <p:spPr>
          <a:xfrm>
            <a:off x="1323888" y="1773537"/>
            <a:ext cx="6496219" cy="33699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1"/>
          <p:cNvSpPr txBox="1">
            <a:spLocks noGrp="1"/>
          </p:cNvSpPr>
          <p:nvPr>
            <p:ph type="ctrTitle" idx="4294967295"/>
          </p:nvPr>
        </p:nvSpPr>
        <p:spPr>
          <a:xfrm>
            <a:off x="503549" y="65519"/>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Positive finding</a:t>
            </a:r>
            <a:r>
              <a:rPr lang="en" sz="2000" b="1" i="0" u="none" strike="noStrike" cap="none">
                <a:solidFill>
                  <a:srgbClr val="000000"/>
                </a:solidFill>
                <a:highlight>
                  <a:srgbClr val="FFCD00"/>
                </a:highlight>
                <a:latin typeface="Lora"/>
                <a:ea typeface="Lora"/>
                <a:cs typeface="Lora"/>
                <a:sym typeface="Lora"/>
              </a:rPr>
              <a:t>: </a:t>
            </a:r>
            <a:r>
              <a:rPr lang="en">
                <a:highlight>
                  <a:srgbClr val="FFCD00"/>
                </a:highlight>
              </a:rPr>
              <a:t>Website remembers our search</a:t>
            </a:r>
            <a:endParaRPr>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a:t>Heuristics: Flexibility and efficiency of use, error prevention, </a:t>
            </a:r>
            <a:endParaRPr sz="1400"/>
          </a:p>
        </p:txBody>
      </p:sp>
      <p:cxnSp>
        <p:nvCxnSpPr>
          <p:cNvPr id="182" name="Google Shape;182;p21"/>
          <p:cNvCxnSpPr/>
          <p:nvPr/>
        </p:nvCxnSpPr>
        <p:spPr>
          <a:xfrm>
            <a:off x="-6025" y="1001528"/>
            <a:ext cx="9162000" cy="0"/>
          </a:xfrm>
          <a:prstGeom prst="straightConnector1">
            <a:avLst/>
          </a:prstGeom>
          <a:noFill/>
          <a:ln w="9525" cap="flat" cmpd="sng">
            <a:solidFill>
              <a:srgbClr val="CCCCCC"/>
            </a:solidFill>
            <a:prstDash val="solid"/>
            <a:round/>
            <a:headEnd type="none" w="sm" len="sm"/>
            <a:tailEnd type="none" w="sm" len="sm"/>
          </a:ln>
        </p:spPr>
      </p:cxnSp>
      <p:sp>
        <p:nvSpPr>
          <p:cNvPr id="183" name="Google Shape;183;p2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10</a:t>
            </a:fld>
            <a:endParaRPr sz="1000" b="0" i="0" u="none" strike="noStrike" cap="none">
              <a:solidFill>
                <a:srgbClr val="1D1D1B"/>
              </a:solidFill>
              <a:latin typeface="Lora"/>
              <a:ea typeface="Lora"/>
              <a:cs typeface="Lora"/>
              <a:sym typeface="Lora"/>
            </a:endParaRPr>
          </a:p>
        </p:txBody>
      </p:sp>
      <p:sp>
        <p:nvSpPr>
          <p:cNvPr id="184" name="Google Shape;184;p21"/>
          <p:cNvSpPr/>
          <p:nvPr/>
        </p:nvSpPr>
        <p:spPr>
          <a:xfrm>
            <a:off x="476650" y="1160987"/>
            <a:ext cx="8593608"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smtClean="0"/>
              <a:t>The </a:t>
            </a:r>
            <a:r>
              <a:rPr lang="en" dirty="0"/>
              <a:t>website have very helpful feature - when we are looking for car/hotel after searching for the flight, the localization and date are already there for us. After I searched for flight from Taipei to Paris and clicked the Hotels tab, it already showed the Paris and the right dates</a:t>
            </a:r>
            <a:endParaRPr sz="1400" b="0" i="0" u="none" strike="noStrike" cap="none" dirty="0">
              <a:solidFill>
                <a:srgbClr val="000000"/>
              </a:solidFill>
              <a:latin typeface="Arial"/>
              <a:ea typeface="Arial"/>
              <a:cs typeface="Arial"/>
              <a:sym typeface="Arial"/>
            </a:endParaRPr>
          </a:p>
        </p:txBody>
      </p:sp>
      <p:pic>
        <p:nvPicPr>
          <p:cNvPr id="185" name="Google Shape;185;p21"/>
          <p:cNvPicPr preferRelativeResize="0"/>
          <p:nvPr/>
        </p:nvPicPr>
        <p:blipFill>
          <a:blip r:embed="rId3">
            <a:alphaModFix/>
          </a:blip>
          <a:stretch>
            <a:fillRect/>
          </a:stretch>
        </p:blipFill>
        <p:spPr>
          <a:xfrm>
            <a:off x="1494113" y="1947101"/>
            <a:ext cx="6161726" cy="31964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191" name="Google Shape;191;p22"/>
          <p:cNvSpPr txBox="1">
            <a:spLocks noGrp="1"/>
          </p:cNvSpPr>
          <p:nvPr>
            <p:ph type="ctrTitle" idx="4294967295"/>
          </p:nvPr>
        </p:nvSpPr>
        <p:spPr>
          <a:xfrm>
            <a:off x="503549" y="65519"/>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Positive finding</a:t>
            </a:r>
            <a:r>
              <a:rPr lang="en" sz="2000" b="1" i="0" u="none" strike="noStrike" cap="none">
                <a:solidFill>
                  <a:srgbClr val="000000"/>
                </a:solidFill>
                <a:highlight>
                  <a:srgbClr val="FFCD00"/>
                </a:highlight>
                <a:latin typeface="Lora"/>
                <a:ea typeface="Lora"/>
                <a:cs typeface="Lora"/>
                <a:sym typeface="Lora"/>
              </a:rPr>
              <a:t>: </a:t>
            </a:r>
            <a:r>
              <a:rPr lang="en">
                <a:highlight>
                  <a:srgbClr val="FFCD00"/>
                </a:highlight>
              </a:rPr>
              <a:t>Tracking the price changing</a:t>
            </a:r>
            <a:endParaRPr>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a:t>Heuristics: Flexibility and efficiency of use, error prevention, </a:t>
            </a:r>
            <a:endParaRPr sz="1400"/>
          </a:p>
        </p:txBody>
      </p:sp>
      <p:cxnSp>
        <p:nvCxnSpPr>
          <p:cNvPr id="192" name="Google Shape;192;p22"/>
          <p:cNvCxnSpPr/>
          <p:nvPr/>
        </p:nvCxnSpPr>
        <p:spPr>
          <a:xfrm>
            <a:off x="-6025" y="1001528"/>
            <a:ext cx="9162000" cy="0"/>
          </a:xfrm>
          <a:prstGeom prst="straightConnector1">
            <a:avLst/>
          </a:prstGeom>
          <a:noFill/>
          <a:ln w="9525" cap="flat" cmpd="sng">
            <a:solidFill>
              <a:srgbClr val="CCCCCC"/>
            </a:solidFill>
            <a:prstDash val="solid"/>
            <a:round/>
            <a:headEnd type="none" w="sm" len="sm"/>
            <a:tailEnd type="none" w="sm" len="sm"/>
          </a:ln>
        </p:spPr>
      </p:cxnSp>
      <p:sp>
        <p:nvSpPr>
          <p:cNvPr id="193" name="Google Shape;193;p22"/>
          <p:cNvSpPr/>
          <p:nvPr/>
        </p:nvSpPr>
        <p:spPr>
          <a:xfrm>
            <a:off x="506146" y="1160987"/>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Because the price of ticket always change. When we still not sure which ticket we will buy, we can track the price by this function. </a:t>
            </a:r>
            <a:r>
              <a:rPr lang="en"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pic>
        <p:nvPicPr>
          <p:cNvPr id="194" name="Google Shape;194;p22"/>
          <p:cNvPicPr preferRelativeResize="0"/>
          <p:nvPr/>
        </p:nvPicPr>
        <p:blipFill>
          <a:blip r:embed="rId3">
            <a:alphaModFix/>
          </a:blip>
          <a:stretch>
            <a:fillRect/>
          </a:stretch>
        </p:blipFill>
        <p:spPr>
          <a:xfrm>
            <a:off x="1811475" y="1907575"/>
            <a:ext cx="5895224" cy="3090575"/>
          </a:xfrm>
          <a:prstGeom prst="rect">
            <a:avLst/>
          </a:prstGeom>
          <a:noFill/>
          <a:ln>
            <a:noFill/>
          </a:ln>
        </p:spPr>
      </p:pic>
      <p:sp>
        <p:nvSpPr>
          <p:cNvPr id="195" name="Google Shape;195;p22"/>
          <p:cNvSpPr/>
          <p:nvPr/>
        </p:nvSpPr>
        <p:spPr>
          <a:xfrm>
            <a:off x="1771800" y="3578850"/>
            <a:ext cx="4125300" cy="1419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highlight>
                <a:srgbClr val="FF00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3"/>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M</a:t>
            </a:r>
            <a:r>
              <a:rPr lang="en" dirty="0">
                <a:highlight>
                  <a:srgbClr val="FFCD00"/>
                </a:highlight>
              </a:rPr>
              <a:t>ain Menu is hard to access in lower resolutions</a:t>
            </a:r>
            <a:r>
              <a:rPr lang="en" sz="2000" b="1" i="0" u="none" strike="noStrike" cap="none" dirty="0">
                <a:solidFill>
                  <a:srgbClr val="000000"/>
                </a:solidFill>
                <a:latin typeface="Lora"/>
                <a:ea typeface="Lora"/>
                <a:cs typeface="Lora"/>
                <a:sym typeface="Lora"/>
              </a:rPr>
              <a:t/>
            </a:r>
            <a:br>
              <a:rPr lang="en" sz="2000" b="1" i="0" u="none" strike="noStrike" cap="none" dirty="0">
                <a:solidFill>
                  <a:srgbClr val="000000"/>
                </a:solidFill>
                <a:latin typeface="Lora"/>
                <a:ea typeface="Lora"/>
                <a:cs typeface="Lora"/>
                <a:sym typeface="Lora"/>
              </a:rPr>
            </a:br>
            <a:r>
              <a:rPr lang="en" sz="1400" i="0" u="none" strike="noStrike" cap="none" dirty="0">
                <a:solidFill>
                  <a:srgbClr val="000000"/>
                </a:solidFill>
                <a:sym typeface="Lora"/>
              </a:rPr>
              <a:t>Heuristic violations: </a:t>
            </a:r>
            <a:r>
              <a:rPr lang="en" sz="1400" dirty="0"/>
              <a:t>Aesthetics</a:t>
            </a:r>
            <a:r>
              <a:rPr lang="en" sz="1400" i="0" u="none" strike="noStrike" cap="none" dirty="0">
                <a:solidFill>
                  <a:srgbClr val="000000"/>
                </a:solidFill>
                <a:sym typeface="Lora"/>
              </a:rPr>
              <a:t> and minima</a:t>
            </a:r>
            <a:r>
              <a:rPr lang="en" sz="1400" dirty="0"/>
              <a:t>list design, error prevention</a:t>
            </a:r>
            <a:r>
              <a:rPr lang="en" sz="1400" i="0" u="none" strike="noStrike" cap="none" dirty="0">
                <a:solidFill>
                  <a:srgbClr val="000000"/>
                </a:solidFill>
                <a:sym typeface="Lora"/>
              </a:rPr>
              <a:t/>
            </a:r>
            <a:br>
              <a:rPr lang="en" sz="1400" i="0" u="none" strike="noStrike" cap="none" dirty="0">
                <a:solidFill>
                  <a:srgbClr val="000000"/>
                </a:solidFill>
                <a:sym typeface="Lora"/>
              </a:rPr>
            </a:br>
            <a:r>
              <a:rPr lang="en" sz="1400" i="0" u="none" strike="noStrike" cap="none" dirty="0">
                <a:solidFill>
                  <a:srgbClr val="000000"/>
                </a:solidFill>
                <a:sym typeface="Lora"/>
              </a:rPr>
              <a:t>Severity: 2</a:t>
            </a:r>
            <a:endParaRPr sz="2000" i="0" u="none" strike="noStrike" cap="none" dirty="0">
              <a:solidFill>
                <a:srgbClr val="000000"/>
              </a:solidFill>
              <a:sym typeface="Lora"/>
            </a:endParaRPr>
          </a:p>
        </p:txBody>
      </p:sp>
      <p:cxnSp>
        <p:nvCxnSpPr>
          <p:cNvPr id="201" name="Google Shape;201;p23"/>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02" name="Google Shape;202;p2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12</a:t>
            </a:fld>
            <a:endParaRPr sz="1000" b="0" i="0" u="none" strike="noStrike" cap="none">
              <a:solidFill>
                <a:srgbClr val="1D1D1B"/>
              </a:solidFill>
              <a:latin typeface="Lora"/>
              <a:ea typeface="Lora"/>
              <a:cs typeface="Lora"/>
              <a:sym typeface="Lora"/>
            </a:endParaRPr>
          </a:p>
        </p:txBody>
      </p:sp>
      <p:sp>
        <p:nvSpPr>
          <p:cNvPr id="203" name="Google Shape;203;p23"/>
          <p:cNvSpPr/>
          <p:nvPr/>
        </p:nvSpPr>
        <p:spPr>
          <a:xfrm>
            <a:off x="476650"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 </a:t>
            </a:r>
            <a:r>
              <a:rPr lang="en" dirty="0"/>
              <a:t>While using older cell phones/lower screen resolution the menu is hard to access.</a:t>
            </a:r>
            <a:endParaRPr sz="1400" b="0" i="0" u="none" strike="noStrike" cap="none" dirty="0">
              <a:solidFill>
                <a:srgbClr val="000000"/>
              </a:solidFill>
              <a:latin typeface="Arial"/>
              <a:ea typeface="Arial"/>
              <a:cs typeface="Arial"/>
              <a:sym typeface="Arial"/>
            </a:endParaRPr>
          </a:p>
        </p:txBody>
      </p:sp>
      <p:pic>
        <p:nvPicPr>
          <p:cNvPr id="204" name="Google Shape;204;p23"/>
          <p:cNvPicPr preferRelativeResize="0"/>
          <p:nvPr/>
        </p:nvPicPr>
        <p:blipFill>
          <a:blip r:embed="rId3">
            <a:alphaModFix/>
          </a:blip>
          <a:stretch>
            <a:fillRect/>
          </a:stretch>
        </p:blipFill>
        <p:spPr>
          <a:xfrm>
            <a:off x="3561200" y="2392212"/>
            <a:ext cx="1790085" cy="27512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210" name="Google Shape;210;p24"/>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11" name="Google Shape;211;p2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13</a:t>
            </a:fld>
            <a:endParaRPr sz="1000" b="0" i="0" u="none" strike="noStrike" cap="none">
              <a:solidFill>
                <a:srgbClr val="1D1D1B"/>
              </a:solidFill>
              <a:latin typeface="Lora"/>
              <a:ea typeface="Lora"/>
              <a:cs typeface="Lora"/>
              <a:sym typeface="Lora"/>
            </a:endParaRPr>
          </a:p>
        </p:txBody>
      </p:sp>
      <p:sp>
        <p:nvSpPr>
          <p:cNvPr id="212" name="Google Shape;212;p24"/>
          <p:cNvSpPr/>
          <p:nvPr/>
        </p:nvSpPr>
        <p:spPr>
          <a:xfrm>
            <a:off x="513520"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Make the logo and tabs a little bit smaller, make the hamburger menu bigger</a:t>
            </a:r>
            <a:endParaRPr sz="1400" b="0" i="0" u="none" strike="noStrike" cap="none" dirty="0">
              <a:solidFill>
                <a:srgbClr val="000000"/>
              </a:solidFill>
              <a:latin typeface="Arial"/>
              <a:ea typeface="Arial"/>
              <a:cs typeface="Arial"/>
              <a:sym typeface="Arial"/>
            </a:endParaRPr>
          </a:p>
        </p:txBody>
      </p:sp>
      <p:pic>
        <p:nvPicPr>
          <p:cNvPr id="213" name="Google Shape;213;p24"/>
          <p:cNvPicPr preferRelativeResize="0"/>
          <p:nvPr/>
        </p:nvPicPr>
        <p:blipFill>
          <a:blip r:embed="rId3">
            <a:alphaModFix/>
          </a:blip>
          <a:stretch>
            <a:fillRect/>
          </a:stretch>
        </p:blipFill>
        <p:spPr>
          <a:xfrm>
            <a:off x="3561200" y="2392212"/>
            <a:ext cx="1790085" cy="27512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5"/>
          <p:cNvSpPr txBox="1">
            <a:spLocks noGrp="1"/>
          </p:cNvSpPr>
          <p:nvPr>
            <p:ph type="ctrTitle" idx="4294967295"/>
          </p:nvPr>
        </p:nvSpPr>
        <p:spPr>
          <a:xfrm>
            <a:off x="503549" y="267494"/>
            <a:ext cx="8652426"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In some parts there is a problem with responsive design</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a:t>
            </a:r>
            <a:r>
              <a:rPr lang="en" sz="1400" dirty="0"/>
              <a:t>Aesthetics</a:t>
            </a:r>
            <a:r>
              <a:rPr lang="en" sz="1400" i="0" u="none" strike="noStrike" cap="none" dirty="0">
                <a:solidFill>
                  <a:srgbClr val="000000"/>
                </a:solidFill>
                <a:sym typeface="Lora"/>
              </a:rPr>
              <a:t> and minima</a:t>
            </a:r>
            <a:r>
              <a:rPr lang="en" sz="1400" dirty="0"/>
              <a:t>list design</a:t>
            </a:r>
            <a:endParaRPr sz="1400" dirty="0"/>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2</a:t>
            </a:r>
            <a:endParaRPr sz="2000" i="0" u="none" strike="noStrike" cap="none" dirty="0">
              <a:solidFill>
                <a:srgbClr val="000000"/>
              </a:solidFill>
              <a:sym typeface="Lora"/>
            </a:endParaRPr>
          </a:p>
        </p:txBody>
      </p:sp>
      <p:cxnSp>
        <p:nvCxnSpPr>
          <p:cNvPr id="219" name="Google Shape;219;p25"/>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20" name="Google Shape;220;p2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14</a:t>
            </a:fld>
            <a:endParaRPr sz="1000" b="0" i="0" u="none" strike="noStrike" cap="none">
              <a:solidFill>
                <a:srgbClr val="1D1D1B"/>
              </a:solidFill>
              <a:latin typeface="Lora"/>
              <a:ea typeface="Lora"/>
              <a:cs typeface="Lora"/>
              <a:sym typeface="Lora"/>
            </a:endParaRPr>
          </a:p>
        </p:txBody>
      </p:sp>
      <p:sp>
        <p:nvSpPr>
          <p:cNvPr id="221" name="Google Shape;221;p25"/>
          <p:cNvSpPr/>
          <p:nvPr/>
        </p:nvSpPr>
        <p:spPr>
          <a:xfrm>
            <a:off x="520894"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 </a:t>
            </a:r>
            <a:r>
              <a:rPr lang="en" dirty="0"/>
              <a:t>While the problem is relatively small, it might destroy the general users impression</a:t>
            </a:r>
            <a:endParaRPr sz="1400" b="0" i="0" u="none" strike="noStrike" cap="none" dirty="0">
              <a:solidFill>
                <a:srgbClr val="000000"/>
              </a:solidFill>
              <a:latin typeface="Arial"/>
              <a:ea typeface="Arial"/>
              <a:cs typeface="Arial"/>
              <a:sym typeface="Arial"/>
            </a:endParaRPr>
          </a:p>
        </p:txBody>
      </p:sp>
      <p:pic>
        <p:nvPicPr>
          <p:cNvPr id="222" name="Google Shape;222;p25"/>
          <p:cNvPicPr preferRelativeResize="0"/>
          <p:nvPr/>
        </p:nvPicPr>
        <p:blipFill>
          <a:blip r:embed="rId3">
            <a:alphaModFix/>
          </a:blip>
          <a:stretch>
            <a:fillRect/>
          </a:stretch>
        </p:blipFill>
        <p:spPr>
          <a:xfrm>
            <a:off x="3675320" y="2239862"/>
            <a:ext cx="1793360" cy="27512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6"/>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228" name="Google Shape;228;p26"/>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29" name="Google Shape;229;p26"/>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15</a:t>
            </a:fld>
            <a:endParaRPr sz="1000" b="0" i="0" u="none" strike="noStrike" cap="none">
              <a:solidFill>
                <a:srgbClr val="1D1D1B"/>
              </a:solidFill>
              <a:latin typeface="Lora"/>
              <a:ea typeface="Lora"/>
              <a:cs typeface="Lora"/>
              <a:sym typeface="Lora"/>
            </a:endParaRPr>
          </a:p>
        </p:txBody>
      </p:sp>
      <p:sp>
        <p:nvSpPr>
          <p:cNvPr id="230" name="Google Shape;230;p26"/>
          <p:cNvSpPr/>
          <p:nvPr/>
        </p:nvSpPr>
        <p:spPr>
          <a:xfrm>
            <a:off x="520894"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31" name="Google Shape;231;p26"/>
          <p:cNvPicPr preferRelativeResize="0"/>
          <p:nvPr/>
        </p:nvPicPr>
        <p:blipFill>
          <a:blip r:embed="rId3">
            <a:alphaModFix/>
          </a:blip>
          <a:stretch>
            <a:fillRect/>
          </a:stretch>
        </p:blipFill>
        <p:spPr>
          <a:xfrm>
            <a:off x="3675320" y="2239862"/>
            <a:ext cx="1793360" cy="2751237"/>
          </a:xfrm>
          <a:prstGeom prst="rect">
            <a:avLst/>
          </a:prstGeom>
          <a:noFill/>
          <a:ln>
            <a:noFill/>
          </a:ln>
        </p:spPr>
      </p:pic>
      <p:sp>
        <p:nvSpPr>
          <p:cNvPr id="232" name="Google Shape;232;p26"/>
          <p:cNvSpPr/>
          <p:nvPr/>
        </p:nvSpPr>
        <p:spPr>
          <a:xfrm>
            <a:off x="579891" y="1780227"/>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Carefully check the css width scaling of particular elements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Links and their pictures are too small</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a:t>
            </a:r>
            <a:r>
              <a:rPr lang="en" sz="1400" dirty="0">
                <a:solidFill>
                  <a:schemeClr val="dk1"/>
                </a:solidFill>
              </a:rPr>
              <a:t>Error prevention, flexibility and efficiency of use</a:t>
            </a:r>
            <a:endParaRPr sz="1400" dirty="0"/>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2</a:t>
            </a:r>
            <a:endParaRPr sz="2000" i="0" u="none" strike="noStrike" cap="none" dirty="0">
              <a:solidFill>
                <a:srgbClr val="000000"/>
              </a:solidFill>
              <a:sym typeface="Lora"/>
            </a:endParaRPr>
          </a:p>
        </p:txBody>
      </p:sp>
      <p:cxnSp>
        <p:nvCxnSpPr>
          <p:cNvPr id="238" name="Google Shape;238;p27"/>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39" name="Google Shape;239;p27"/>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16</a:t>
            </a:fld>
            <a:endParaRPr sz="1000" b="0" i="0" u="none" strike="noStrike" cap="none">
              <a:solidFill>
                <a:srgbClr val="1D1D1B"/>
              </a:solidFill>
              <a:latin typeface="Lora"/>
              <a:ea typeface="Lora"/>
              <a:cs typeface="Lora"/>
              <a:sym typeface="Lora"/>
            </a:endParaRPr>
          </a:p>
        </p:txBody>
      </p:sp>
      <p:sp>
        <p:nvSpPr>
          <p:cNvPr id="240" name="Google Shape;240;p27"/>
          <p:cNvSpPr/>
          <p:nvPr/>
        </p:nvSpPr>
        <p:spPr>
          <a:xfrm>
            <a:off x="491397" y="1779662"/>
            <a:ext cx="8652599"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While it's great that we can access dedicated websites in our languages, the links are too small and it is very easy to click on the wrong one when we are using cellphone.</a:t>
            </a:r>
            <a:endParaRPr sz="1400" b="0" i="0" u="none" strike="noStrike" cap="none" dirty="0">
              <a:solidFill>
                <a:srgbClr val="000000"/>
              </a:solidFill>
              <a:latin typeface="Arial"/>
              <a:ea typeface="Arial"/>
              <a:cs typeface="Arial"/>
              <a:sym typeface="Arial"/>
            </a:endParaRPr>
          </a:p>
        </p:txBody>
      </p:sp>
      <p:pic>
        <p:nvPicPr>
          <p:cNvPr id="241" name="Google Shape;241;p27"/>
          <p:cNvPicPr preferRelativeResize="0"/>
          <p:nvPr/>
        </p:nvPicPr>
        <p:blipFill>
          <a:blip r:embed="rId3">
            <a:alphaModFix/>
          </a:blip>
          <a:stretch>
            <a:fillRect/>
          </a:stretch>
        </p:blipFill>
        <p:spPr>
          <a:xfrm>
            <a:off x="3230000" y="2392212"/>
            <a:ext cx="2689938" cy="27512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8"/>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247" name="Google Shape;247;p28"/>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48" name="Google Shape;248;p28"/>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17</a:t>
            </a:fld>
            <a:endParaRPr sz="1000" b="0" i="0" u="none" strike="noStrike" cap="none">
              <a:solidFill>
                <a:srgbClr val="1D1D1B"/>
              </a:solidFill>
              <a:latin typeface="Lora"/>
              <a:ea typeface="Lora"/>
              <a:cs typeface="Lora"/>
              <a:sym typeface="Lora"/>
            </a:endParaRPr>
          </a:p>
        </p:txBody>
      </p:sp>
      <p:sp>
        <p:nvSpPr>
          <p:cNvPr id="249" name="Google Shape;249;p28"/>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 name="Google Shape;250;p28"/>
          <p:cNvSpPr/>
          <p:nvPr/>
        </p:nvSpPr>
        <p:spPr>
          <a:xfrm>
            <a:off x="535642"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Make the flags and links bigger</a:t>
            </a:r>
            <a:endParaRPr sz="1400" b="0" i="0" u="none" strike="noStrike" cap="none" dirty="0">
              <a:solidFill>
                <a:srgbClr val="000000"/>
              </a:solidFill>
              <a:latin typeface="Arial"/>
              <a:ea typeface="Arial"/>
              <a:cs typeface="Arial"/>
              <a:sym typeface="Arial"/>
            </a:endParaRPr>
          </a:p>
        </p:txBody>
      </p:sp>
      <p:pic>
        <p:nvPicPr>
          <p:cNvPr id="251" name="Google Shape;251;p28"/>
          <p:cNvPicPr preferRelativeResize="0"/>
          <p:nvPr/>
        </p:nvPicPr>
        <p:blipFill>
          <a:blip r:embed="rId3">
            <a:alphaModFix/>
          </a:blip>
          <a:stretch>
            <a:fillRect/>
          </a:stretch>
        </p:blipFill>
        <p:spPr>
          <a:xfrm>
            <a:off x="3230000" y="2392212"/>
            <a:ext cx="2689938" cy="27512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9"/>
          <p:cNvSpPr txBox="1">
            <a:spLocks noGrp="1"/>
          </p:cNvSpPr>
          <p:nvPr>
            <p:ph type="ctrTitle" idx="4294967295"/>
          </p:nvPr>
        </p:nvSpPr>
        <p:spPr>
          <a:xfrm>
            <a:off x="503549" y="267500"/>
            <a:ext cx="8652426"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Commercials take too much space</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a:t>
            </a:r>
            <a:r>
              <a:rPr lang="en" sz="1400" dirty="0">
                <a:solidFill>
                  <a:schemeClr val="dk1"/>
                </a:solidFill>
              </a:rPr>
              <a:t>Error prevention, visibility of system status, aesthetics and minimalist design</a:t>
            </a:r>
            <a:endParaRPr sz="1400" dirty="0">
              <a:solidFill>
                <a:schemeClr val="dk1"/>
              </a:solidFill>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a:t>
            </a:r>
            <a:r>
              <a:rPr lang="en" sz="1400" dirty="0"/>
              <a:t>3</a:t>
            </a:r>
            <a:endParaRPr sz="2000" i="0" u="none" strike="noStrike" cap="none" dirty="0">
              <a:solidFill>
                <a:srgbClr val="000000"/>
              </a:solidFill>
              <a:sym typeface="Lora"/>
            </a:endParaRPr>
          </a:p>
        </p:txBody>
      </p:sp>
      <p:cxnSp>
        <p:nvCxnSpPr>
          <p:cNvPr id="257" name="Google Shape;257;p29"/>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58" name="Google Shape;258;p29"/>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18</a:t>
            </a:fld>
            <a:endParaRPr sz="1000" b="0" i="0" u="none" strike="noStrike" cap="none">
              <a:solidFill>
                <a:srgbClr val="1D1D1B"/>
              </a:solidFill>
              <a:latin typeface="Lora"/>
              <a:ea typeface="Lora"/>
              <a:cs typeface="Lora"/>
              <a:sym typeface="Lora"/>
            </a:endParaRPr>
          </a:p>
        </p:txBody>
      </p:sp>
      <p:sp>
        <p:nvSpPr>
          <p:cNvPr id="259" name="Google Shape;259;p29"/>
          <p:cNvSpPr/>
          <p:nvPr/>
        </p:nvSpPr>
        <p:spPr>
          <a:xfrm>
            <a:off x="469265" y="1779650"/>
            <a:ext cx="8363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Comparing to the content, commercials take too much space, especially that the main container doesn’t take full width. Because of that, the fonts of the content are small and might be hard to see for an older person.</a:t>
            </a:r>
            <a:endParaRPr sz="1400" b="0" i="0" u="none" strike="noStrike" cap="none" dirty="0">
              <a:solidFill>
                <a:srgbClr val="000000"/>
              </a:solidFill>
              <a:latin typeface="Arial"/>
              <a:ea typeface="Arial"/>
              <a:cs typeface="Arial"/>
              <a:sym typeface="Arial"/>
            </a:endParaRPr>
          </a:p>
        </p:txBody>
      </p:sp>
      <p:pic>
        <p:nvPicPr>
          <p:cNvPr id="260" name="Google Shape;260;p29"/>
          <p:cNvPicPr preferRelativeResize="0"/>
          <p:nvPr/>
        </p:nvPicPr>
        <p:blipFill>
          <a:blip r:embed="rId3">
            <a:alphaModFix/>
          </a:blip>
          <a:stretch>
            <a:fillRect/>
          </a:stretch>
        </p:blipFill>
        <p:spPr>
          <a:xfrm>
            <a:off x="2067350" y="2571750"/>
            <a:ext cx="5009299" cy="2598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0"/>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266" name="Google Shape;266;p30"/>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67" name="Google Shape;267;p30"/>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19</a:t>
            </a:fld>
            <a:endParaRPr sz="1000" b="0" i="0" u="none" strike="noStrike" cap="none">
              <a:solidFill>
                <a:srgbClr val="1D1D1B"/>
              </a:solidFill>
              <a:latin typeface="Lora"/>
              <a:ea typeface="Lora"/>
              <a:cs typeface="Lora"/>
              <a:sym typeface="Lora"/>
            </a:endParaRPr>
          </a:p>
        </p:txBody>
      </p:sp>
      <p:sp>
        <p:nvSpPr>
          <p:cNvPr id="268" name="Google Shape;268;p30"/>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9" name="Google Shape;269;p30"/>
          <p:cNvSpPr/>
          <p:nvPr/>
        </p:nvSpPr>
        <p:spPr>
          <a:xfrm>
            <a:off x="50614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Either resize the commercial banners so the main content can be made bigger or resize the whole main container.</a:t>
            </a:r>
            <a:endParaRPr sz="1400" b="0" i="0" u="none" strike="noStrike" cap="none" dirty="0">
              <a:solidFill>
                <a:srgbClr val="000000"/>
              </a:solidFill>
              <a:latin typeface="Arial"/>
              <a:ea typeface="Arial"/>
              <a:cs typeface="Arial"/>
              <a:sym typeface="Arial"/>
            </a:endParaRPr>
          </a:p>
        </p:txBody>
      </p:sp>
      <p:pic>
        <p:nvPicPr>
          <p:cNvPr id="270" name="Google Shape;270;p30"/>
          <p:cNvPicPr preferRelativeResize="0"/>
          <p:nvPr/>
        </p:nvPicPr>
        <p:blipFill>
          <a:blip r:embed="rId3">
            <a:alphaModFix/>
          </a:blip>
          <a:stretch>
            <a:fillRect/>
          </a:stretch>
        </p:blipFill>
        <p:spPr>
          <a:xfrm>
            <a:off x="2067350" y="2571750"/>
            <a:ext cx="5009299" cy="25985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1"/>
          <p:cNvSpPr txBox="1">
            <a:spLocks noGrp="1"/>
          </p:cNvSpPr>
          <p:nvPr>
            <p:ph type="ctrTitle" idx="4294967295"/>
          </p:nvPr>
        </p:nvSpPr>
        <p:spPr>
          <a:xfrm>
            <a:off x="503550" y="267500"/>
            <a:ext cx="82245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Inconsistent pricing</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a:t>
            </a:r>
            <a:r>
              <a:rPr lang="en" sz="1400" dirty="0">
                <a:solidFill>
                  <a:schemeClr val="dk1"/>
                </a:solidFill>
              </a:rPr>
              <a:t>Visibility of system status, consistency and standards</a:t>
            </a:r>
            <a:endParaRPr sz="1400" dirty="0">
              <a:solidFill>
                <a:schemeClr val="dk1"/>
              </a:solidFill>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a:t>
            </a:r>
            <a:r>
              <a:rPr lang="en" sz="1400" dirty="0"/>
              <a:t>3</a:t>
            </a:r>
            <a:endParaRPr sz="2000" i="0" u="none" strike="noStrike" cap="none" dirty="0">
              <a:solidFill>
                <a:srgbClr val="000000"/>
              </a:solidFill>
              <a:sym typeface="Lora"/>
            </a:endParaRPr>
          </a:p>
        </p:txBody>
      </p:sp>
      <p:cxnSp>
        <p:nvCxnSpPr>
          <p:cNvPr id="276" name="Google Shape;276;p31"/>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77" name="Google Shape;277;p3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20</a:t>
            </a:fld>
            <a:endParaRPr sz="1000" b="0" i="0" u="none" strike="noStrike" cap="none">
              <a:solidFill>
                <a:srgbClr val="1D1D1B"/>
              </a:solidFill>
              <a:latin typeface="Lora"/>
              <a:ea typeface="Lora"/>
              <a:cs typeface="Lora"/>
              <a:sym typeface="Lora"/>
            </a:endParaRPr>
          </a:p>
        </p:txBody>
      </p:sp>
      <p:sp>
        <p:nvSpPr>
          <p:cNvPr id="278" name="Google Shape;278;p31"/>
          <p:cNvSpPr/>
          <p:nvPr/>
        </p:nvSpPr>
        <p:spPr>
          <a:xfrm>
            <a:off x="454517" y="1779650"/>
            <a:ext cx="8363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While most of the time prices on the Skyscanner are accurate, it happens far too often that they changes when we are directed to the website, where we can buy a ticket. It seems strange, since the user have to wait for the prices to load after choosing his directions and dates.</a:t>
            </a:r>
            <a:endParaRPr sz="1400" b="0" i="0" u="none" strike="noStrike" cap="none" dirty="0">
              <a:solidFill>
                <a:srgbClr val="000000"/>
              </a:solidFill>
              <a:latin typeface="Arial"/>
              <a:ea typeface="Arial"/>
              <a:cs typeface="Arial"/>
              <a:sym typeface="Arial"/>
            </a:endParaRPr>
          </a:p>
        </p:txBody>
      </p:sp>
      <p:pic>
        <p:nvPicPr>
          <p:cNvPr id="279" name="Google Shape;279;p31"/>
          <p:cNvPicPr preferRelativeResize="0"/>
          <p:nvPr/>
        </p:nvPicPr>
        <p:blipFill>
          <a:blip r:embed="rId3">
            <a:alphaModFix/>
          </a:blip>
          <a:stretch>
            <a:fillRect/>
          </a:stretch>
        </p:blipFill>
        <p:spPr>
          <a:xfrm>
            <a:off x="3312875" y="2995300"/>
            <a:ext cx="2245000" cy="2104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2"/>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285" name="Google Shape;285;p32"/>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86" name="Google Shape;286;p32"/>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21</a:t>
            </a:fld>
            <a:endParaRPr sz="1000" b="0" i="0" u="none" strike="noStrike" cap="none">
              <a:solidFill>
                <a:srgbClr val="1D1D1B"/>
              </a:solidFill>
              <a:latin typeface="Lora"/>
              <a:ea typeface="Lora"/>
              <a:cs typeface="Lora"/>
              <a:sym typeface="Lora"/>
            </a:endParaRPr>
          </a:p>
        </p:txBody>
      </p:sp>
      <p:sp>
        <p:nvSpPr>
          <p:cNvPr id="287" name="Google Shape;287;p32"/>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 name="Google Shape;288;p32"/>
          <p:cNvSpPr/>
          <p:nvPr/>
        </p:nvSpPr>
        <p:spPr>
          <a:xfrm>
            <a:off x="491398"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Actualize the Skyscanners database more often, so the sure doesn’t have to wait two times and, in case of the different price, doesn’t have to star the whole process all over again</a:t>
            </a:r>
            <a:endParaRPr sz="1400" b="0" i="0" u="none" strike="noStrike" cap="none" dirty="0">
              <a:solidFill>
                <a:srgbClr val="000000"/>
              </a:solidFill>
              <a:latin typeface="Arial"/>
              <a:ea typeface="Arial"/>
              <a:cs typeface="Arial"/>
              <a:sym typeface="Arial"/>
            </a:endParaRPr>
          </a:p>
        </p:txBody>
      </p:sp>
      <p:pic>
        <p:nvPicPr>
          <p:cNvPr id="289" name="Google Shape;289;p32"/>
          <p:cNvPicPr preferRelativeResize="0"/>
          <p:nvPr/>
        </p:nvPicPr>
        <p:blipFill>
          <a:blip r:embed="rId3">
            <a:alphaModFix/>
          </a:blip>
          <a:stretch>
            <a:fillRect/>
          </a:stretch>
        </p:blipFill>
        <p:spPr>
          <a:xfrm>
            <a:off x="3312875" y="2995300"/>
            <a:ext cx="2245000" cy="2104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3"/>
          <p:cNvSpPr txBox="1">
            <a:spLocks noGrp="1"/>
          </p:cNvSpPr>
          <p:nvPr>
            <p:ph type="ctrTitle" idx="4294967295"/>
          </p:nvPr>
        </p:nvSpPr>
        <p:spPr>
          <a:xfrm>
            <a:off x="503550" y="267500"/>
            <a:ext cx="82245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Annoying questionnaire</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a:t>
            </a:r>
            <a:r>
              <a:rPr lang="en" sz="1400" dirty="0">
                <a:solidFill>
                  <a:schemeClr val="dk1"/>
                </a:solidFill>
              </a:rPr>
              <a:t>Visibility of system status, aesthetics and minimalist design</a:t>
            </a:r>
            <a:endParaRPr sz="1400" dirty="0">
              <a:solidFill>
                <a:schemeClr val="dk1"/>
              </a:solidFill>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a:t>
            </a:r>
            <a:r>
              <a:rPr lang="en" sz="1400" dirty="0"/>
              <a:t>1</a:t>
            </a:r>
            <a:endParaRPr sz="2000" i="0" u="none" strike="noStrike" cap="none" dirty="0">
              <a:solidFill>
                <a:srgbClr val="000000"/>
              </a:solidFill>
              <a:sym typeface="Lora"/>
            </a:endParaRPr>
          </a:p>
        </p:txBody>
      </p:sp>
      <p:cxnSp>
        <p:nvCxnSpPr>
          <p:cNvPr id="295" name="Google Shape;295;p33"/>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296" name="Google Shape;296;p3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22</a:t>
            </a:fld>
            <a:endParaRPr sz="1000" b="0" i="0" u="none" strike="noStrike" cap="none">
              <a:solidFill>
                <a:srgbClr val="1D1D1B"/>
              </a:solidFill>
              <a:latin typeface="Lora"/>
              <a:ea typeface="Lora"/>
              <a:cs typeface="Lora"/>
              <a:sym typeface="Lora"/>
            </a:endParaRPr>
          </a:p>
        </p:txBody>
      </p:sp>
      <p:sp>
        <p:nvSpPr>
          <p:cNvPr id="297" name="Google Shape;297;p33"/>
          <p:cNvSpPr/>
          <p:nvPr/>
        </p:nvSpPr>
        <p:spPr>
          <a:xfrm>
            <a:off x="484013" y="1779650"/>
            <a:ext cx="8363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sz="1400" b="0" i="0" u="none" strike="noStrike" cap="none" dirty="0">
                <a:solidFill>
                  <a:srgbClr val="000000"/>
                </a:solidFill>
                <a:latin typeface="Arial"/>
                <a:ea typeface="Arial"/>
                <a:cs typeface="Arial"/>
                <a:sym typeface="Arial"/>
              </a:rPr>
              <a:t> </a:t>
            </a:r>
            <a:r>
              <a:rPr lang="en" dirty="0"/>
              <a:t>After we are redirected to the GotoGate, which opens in the new window, when we come back to the Skyscanner website, we are welcomed with the pop-up ad. After going through the comments, we found that a lot of users find it irritating.</a:t>
            </a:r>
            <a:endParaRPr sz="1400" b="0" i="0" u="none" strike="noStrike" cap="none" dirty="0">
              <a:solidFill>
                <a:srgbClr val="000000"/>
              </a:solidFill>
              <a:latin typeface="Arial"/>
              <a:ea typeface="Arial"/>
              <a:cs typeface="Arial"/>
              <a:sym typeface="Arial"/>
            </a:endParaRPr>
          </a:p>
        </p:txBody>
      </p:sp>
      <p:pic>
        <p:nvPicPr>
          <p:cNvPr id="298" name="Google Shape;298;p33"/>
          <p:cNvPicPr preferRelativeResize="0"/>
          <p:nvPr/>
        </p:nvPicPr>
        <p:blipFill>
          <a:blip r:embed="rId3">
            <a:alphaModFix/>
          </a:blip>
          <a:stretch>
            <a:fillRect/>
          </a:stretch>
        </p:blipFill>
        <p:spPr>
          <a:xfrm>
            <a:off x="3196673" y="2857250"/>
            <a:ext cx="2838250" cy="2286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4"/>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304" name="Google Shape;304;p34"/>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305" name="Google Shape;305;p3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23</a:t>
            </a:fld>
            <a:endParaRPr sz="1000" b="0" i="0" u="none" strike="noStrike" cap="none">
              <a:solidFill>
                <a:srgbClr val="1D1D1B"/>
              </a:solidFill>
              <a:latin typeface="Lora"/>
              <a:ea typeface="Lora"/>
              <a:cs typeface="Lora"/>
              <a:sym typeface="Lora"/>
            </a:endParaRPr>
          </a:p>
        </p:txBody>
      </p:sp>
      <p:sp>
        <p:nvSpPr>
          <p:cNvPr id="306" name="Google Shape;306;p34"/>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 name="Google Shape;307;p34"/>
          <p:cNvSpPr/>
          <p:nvPr/>
        </p:nvSpPr>
        <p:spPr>
          <a:xfrm>
            <a:off x="513508" y="1779650"/>
            <a:ext cx="84177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Find different moment to ask, or add this question to the feedback that shows on the right side of the main webpage.</a:t>
            </a:r>
            <a:endParaRPr sz="1400" b="0" i="0" u="none" strike="noStrike" cap="none" dirty="0">
              <a:solidFill>
                <a:srgbClr val="000000"/>
              </a:solidFill>
              <a:latin typeface="Arial"/>
              <a:ea typeface="Arial"/>
              <a:cs typeface="Arial"/>
              <a:sym typeface="Arial"/>
            </a:endParaRPr>
          </a:p>
        </p:txBody>
      </p:sp>
      <p:pic>
        <p:nvPicPr>
          <p:cNvPr id="308" name="Google Shape;308;p34"/>
          <p:cNvPicPr preferRelativeResize="0"/>
          <p:nvPr/>
        </p:nvPicPr>
        <p:blipFill>
          <a:blip r:embed="rId3">
            <a:alphaModFix/>
          </a:blip>
          <a:stretch>
            <a:fillRect/>
          </a:stretch>
        </p:blipFill>
        <p:spPr>
          <a:xfrm>
            <a:off x="2968075" y="2857200"/>
            <a:ext cx="3272600" cy="2286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5"/>
          <p:cNvSpPr txBox="1">
            <a:spLocks noGrp="1"/>
          </p:cNvSpPr>
          <p:nvPr>
            <p:ph type="ctrTitle" idx="4294967295"/>
          </p:nvPr>
        </p:nvSpPr>
        <p:spPr>
          <a:xfrm>
            <a:off x="503550" y="267500"/>
            <a:ext cx="82245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Bag fee price is not clear  </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Error prevention</a:t>
            </a:r>
            <a:endParaRPr sz="1400" dirty="0">
              <a:solidFill>
                <a:schemeClr val="dk1"/>
              </a:solidFill>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3</a:t>
            </a:r>
            <a:endParaRPr sz="2000" i="0" u="none" strike="noStrike" cap="none" dirty="0">
              <a:solidFill>
                <a:srgbClr val="000000"/>
              </a:solidFill>
              <a:sym typeface="Lora"/>
            </a:endParaRPr>
          </a:p>
        </p:txBody>
      </p:sp>
      <p:cxnSp>
        <p:nvCxnSpPr>
          <p:cNvPr id="314" name="Google Shape;314;p35"/>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315" name="Google Shape;315;p3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24</a:t>
            </a:fld>
            <a:endParaRPr sz="1000" b="0" i="0" u="none" strike="noStrike" cap="none">
              <a:solidFill>
                <a:srgbClr val="1D1D1B"/>
              </a:solidFill>
              <a:latin typeface="Lora"/>
              <a:ea typeface="Lora"/>
              <a:cs typeface="Lora"/>
              <a:sym typeface="Lora"/>
            </a:endParaRPr>
          </a:p>
        </p:txBody>
      </p:sp>
      <p:sp>
        <p:nvSpPr>
          <p:cNvPr id="316" name="Google Shape;316;p35"/>
          <p:cNvSpPr/>
          <p:nvPr/>
        </p:nvSpPr>
        <p:spPr>
          <a:xfrm>
            <a:off x="491387" y="1779650"/>
            <a:ext cx="8363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dirty="0"/>
              <a:t> </a:t>
            </a:r>
            <a:r>
              <a:rPr lang="en" sz="1400" b="0" i="0" u="none" strike="noStrike" cap="none" dirty="0">
                <a:solidFill>
                  <a:srgbClr val="000000"/>
                </a:solidFill>
                <a:latin typeface="Arial"/>
                <a:ea typeface="Arial"/>
                <a:cs typeface="Arial"/>
                <a:sym typeface="Arial"/>
              </a:rPr>
              <a:t>it's hard for users to notice that "Additional bag fees may apply". Some of prices contains the bag fees, but some don't. </a:t>
            </a:r>
            <a:r>
              <a:rPr lang="en" dirty="0"/>
              <a:t>T</a:t>
            </a:r>
            <a:r>
              <a:rPr lang="en" sz="1400" b="0" i="0" u="none" strike="noStrike" cap="none" dirty="0">
                <a:solidFill>
                  <a:srgbClr val="000000"/>
                </a:solidFill>
                <a:latin typeface="Arial"/>
                <a:ea typeface="Arial"/>
                <a:cs typeface="Arial"/>
                <a:sym typeface="Arial"/>
              </a:rPr>
              <a:t>his will confuse the users </a:t>
            </a:r>
            <a:r>
              <a:rPr lang="en" dirty="0">
                <a:solidFill>
                  <a:schemeClr val="dk1"/>
                </a:solidFill>
              </a:rPr>
              <a:t>especially first-time users</a:t>
            </a:r>
            <a:r>
              <a:rPr lang="en" sz="1400"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dirty="0"/>
          </a:p>
        </p:txBody>
      </p:sp>
      <p:pic>
        <p:nvPicPr>
          <p:cNvPr id="317" name="Google Shape;317;p35"/>
          <p:cNvPicPr preferRelativeResize="0"/>
          <p:nvPr/>
        </p:nvPicPr>
        <p:blipFill rotWithShape="1">
          <a:blip r:embed="rId3">
            <a:alphaModFix/>
          </a:blip>
          <a:srcRect b="31572"/>
          <a:stretch/>
        </p:blipFill>
        <p:spPr>
          <a:xfrm>
            <a:off x="2391425" y="2702250"/>
            <a:ext cx="3939299" cy="1882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6"/>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cxnSp>
        <p:nvCxnSpPr>
          <p:cNvPr id="323" name="Google Shape;323;p36"/>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324" name="Google Shape;324;p36"/>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25</a:t>
            </a:fld>
            <a:endParaRPr sz="1000" b="0" i="0" u="none" strike="noStrike" cap="none">
              <a:solidFill>
                <a:srgbClr val="1D1D1B"/>
              </a:solidFill>
              <a:latin typeface="Lora"/>
              <a:ea typeface="Lora"/>
              <a:cs typeface="Lora"/>
              <a:sym typeface="Lora"/>
            </a:endParaRPr>
          </a:p>
        </p:txBody>
      </p:sp>
      <p:sp>
        <p:nvSpPr>
          <p:cNvPr id="325" name="Google Shape;325;p36"/>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 name="Google Shape;326;p36"/>
          <p:cNvSpPr/>
          <p:nvPr/>
        </p:nvSpPr>
        <p:spPr>
          <a:xfrm>
            <a:off x="498760" y="1779650"/>
            <a:ext cx="84177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Resize the text of “</a:t>
            </a:r>
            <a:r>
              <a:rPr lang="en" dirty="0">
                <a:solidFill>
                  <a:schemeClr val="dk1"/>
                </a:solidFill>
              </a:rPr>
              <a:t>Additional bag fees may apply</a:t>
            </a:r>
            <a:r>
              <a:rPr lang="en" dirty="0"/>
              <a:t>”. If not impossible, indicate whether the prices contain bag fee or not. </a:t>
            </a:r>
            <a:endParaRPr sz="1400" b="0" i="0" u="none" strike="noStrike" cap="none" dirty="0">
              <a:solidFill>
                <a:srgbClr val="000000"/>
              </a:solidFill>
              <a:latin typeface="Arial"/>
              <a:ea typeface="Arial"/>
              <a:cs typeface="Arial"/>
              <a:sym typeface="Arial"/>
            </a:endParaRPr>
          </a:p>
        </p:txBody>
      </p:sp>
      <p:pic>
        <p:nvPicPr>
          <p:cNvPr id="327" name="Google Shape;327;p36"/>
          <p:cNvPicPr preferRelativeResize="0"/>
          <p:nvPr/>
        </p:nvPicPr>
        <p:blipFill rotWithShape="1">
          <a:blip r:embed="rId3">
            <a:alphaModFix/>
          </a:blip>
          <a:srcRect b="31572"/>
          <a:stretch/>
        </p:blipFill>
        <p:spPr>
          <a:xfrm>
            <a:off x="2391425" y="2702250"/>
            <a:ext cx="3939299" cy="1882600"/>
          </a:xfrm>
          <a:prstGeom prst="rect">
            <a:avLst/>
          </a:prstGeom>
          <a:noFill/>
          <a:ln>
            <a:noFill/>
          </a:ln>
        </p:spPr>
      </p:pic>
      <p:sp>
        <p:nvSpPr>
          <p:cNvPr id="328" name="Google Shape;328;p36"/>
          <p:cNvSpPr/>
          <p:nvPr/>
        </p:nvSpPr>
        <p:spPr>
          <a:xfrm>
            <a:off x="6048900" y="4392250"/>
            <a:ext cx="684000" cy="192600"/>
          </a:xfrm>
          <a:prstGeom prst="leftArrow">
            <a:avLst>
              <a:gd name="adj1" fmla="val 50000"/>
              <a:gd name="adj2" fmla="val 50000"/>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6"/>
          <p:cNvSpPr/>
          <p:nvPr/>
        </p:nvSpPr>
        <p:spPr>
          <a:xfrm>
            <a:off x="6838725" y="4271950"/>
            <a:ext cx="1502700" cy="4332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Without bag fee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26</a:t>
            </a:fld>
            <a:endParaRPr/>
          </a:p>
        </p:txBody>
      </p:sp>
      <p:sp>
        <p:nvSpPr>
          <p:cNvPr id="335" name="Google Shape;335;p37"/>
          <p:cNvSpPr txBox="1">
            <a:spLocks noGrp="1"/>
          </p:cNvSpPr>
          <p:nvPr>
            <p:ph type="ctrTitle" idx="4294967295"/>
          </p:nvPr>
        </p:nvSpPr>
        <p:spPr>
          <a:xfrm>
            <a:off x="503550" y="267500"/>
            <a:ext cx="82245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000" b="1" i="0" u="none" strike="noStrike" cap="none" dirty="0">
                <a:solidFill>
                  <a:srgbClr val="000000"/>
                </a:solidFill>
                <a:highlight>
                  <a:srgbClr val="FFCD00"/>
                </a:highlight>
                <a:latin typeface="Lora"/>
                <a:ea typeface="Lora"/>
                <a:cs typeface="Lora"/>
                <a:sym typeface="Lora"/>
              </a:rPr>
              <a:t>Problem: </a:t>
            </a:r>
            <a:r>
              <a:rPr lang="en" dirty="0">
                <a:highlight>
                  <a:srgbClr val="FFCD00"/>
                </a:highlight>
              </a:rPr>
              <a:t>The time connect in the airport  </a:t>
            </a:r>
            <a:endParaRPr dirty="0">
              <a:highlight>
                <a:srgbClr val="FFCD00"/>
              </a:highlight>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Heuristic violations: Error prevention</a:t>
            </a:r>
            <a:endParaRPr sz="1400" dirty="0">
              <a:solidFill>
                <a:schemeClr val="dk1"/>
              </a:solidFill>
            </a:endParaRPr>
          </a:p>
          <a:p>
            <a:pPr marL="0" marR="0" lvl="0" indent="0" algn="l" rtl="0">
              <a:lnSpc>
                <a:spcPct val="100000"/>
              </a:lnSpc>
              <a:spcBef>
                <a:spcPts val="0"/>
              </a:spcBef>
              <a:spcAft>
                <a:spcPts val="0"/>
              </a:spcAft>
              <a:buClr>
                <a:srgbClr val="000000"/>
              </a:buClr>
              <a:buSzPts val="2000"/>
              <a:buFont typeface="Lora"/>
              <a:buNone/>
            </a:pPr>
            <a:r>
              <a:rPr lang="en" sz="1400" i="0" u="none" strike="noStrike" cap="none" dirty="0">
                <a:solidFill>
                  <a:srgbClr val="000000"/>
                </a:solidFill>
                <a:sym typeface="Lora"/>
              </a:rPr>
              <a:t>Severity: </a:t>
            </a:r>
            <a:r>
              <a:rPr lang="en" sz="1400" dirty="0"/>
              <a:t>2</a:t>
            </a:r>
            <a:endParaRPr sz="2000" i="0" u="none" strike="noStrike" cap="none" dirty="0">
              <a:solidFill>
                <a:srgbClr val="000000"/>
              </a:solidFill>
              <a:sym typeface="Lora"/>
            </a:endParaRPr>
          </a:p>
        </p:txBody>
      </p:sp>
      <p:cxnSp>
        <p:nvCxnSpPr>
          <p:cNvPr id="336" name="Google Shape;336;p37"/>
          <p:cNvCxnSpPr/>
          <p:nvPr/>
        </p:nvCxnSpPr>
        <p:spPr>
          <a:xfrm>
            <a:off x="-6025" y="1363928"/>
            <a:ext cx="9162000" cy="0"/>
          </a:xfrm>
          <a:prstGeom prst="straightConnector1">
            <a:avLst/>
          </a:prstGeom>
          <a:noFill/>
          <a:ln w="9525" cap="flat" cmpd="sng">
            <a:solidFill>
              <a:srgbClr val="CCCCCC"/>
            </a:solidFill>
            <a:prstDash val="solid"/>
            <a:round/>
            <a:headEnd type="none" w="sm" len="sm"/>
            <a:tailEnd type="none" w="sm" len="sm"/>
          </a:ln>
        </p:spPr>
      </p:cxnSp>
      <p:sp>
        <p:nvSpPr>
          <p:cNvPr id="337" name="Google Shape;337;p37"/>
          <p:cNvSpPr/>
          <p:nvPr/>
        </p:nvSpPr>
        <p:spPr>
          <a:xfrm>
            <a:off x="484013" y="1474850"/>
            <a:ext cx="8363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dirty="0">
                <a:solidFill>
                  <a:srgbClr val="000000"/>
                </a:solidFill>
                <a:latin typeface="Arial"/>
                <a:ea typeface="Arial"/>
                <a:cs typeface="Arial"/>
                <a:sym typeface="Arial"/>
              </a:rPr>
              <a:t>Description:</a:t>
            </a:r>
            <a:r>
              <a:rPr lang="en" dirty="0"/>
              <a:t> For someone often going abroad remember to care about spending time connect in airport naturally. But for someone seldom going aboard, the time connect in airport should be aware. Because it may miss the flight, if the  </a:t>
            </a:r>
            <a:r>
              <a:rPr lang="en" dirty="0">
                <a:solidFill>
                  <a:schemeClr val="dk1"/>
                </a:solidFill>
              </a:rPr>
              <a:t>the time connect in airport is too short.</a:t>
            </a:r>
            <a:endParaRPr dirty="0"/>
          </a:p>
          <a:p>
            <a:pPr marL="0" marR="0" lvl="0" indent="0" algn="l" rtl="0">
              <a:lnSpc>
                <a:spcPct val="100000"/>
              </a:lnSpc>
              <a:spcBef>
                <a:spcPts val="0"/>
              </a:spcBef>
              <a:spcAft>
                <a:spcPts val="0"/>
              </a:spcAft>
              <a:buNone/>
            </a:pPr>
            <a:endParaRPr dirty="0"/>
          </a:p>
        </p:txBody>
      </p:sp>
      <p:pic>
        <p:nvPicPr>
          <p:cNvPr id="338" name="Google Shape;338;p37"/>
          <p:cNvPicPr preferRelativeResize="0"/>
          <p:nvPr/>
        </p:nvPicPr>
        <p:blipFill>
          <a:blip r:embed="rId3">
            <a:alphaModFix/>
          </a:blip>
          <a:stretch>
            <a:fillRect/>
          </a:stretch>
        </p:blipFill>
        <p:spPr>
          <a:xfrm>
            <a:off x="2201850" y="2392200"/>
            <a:ext cx="3962492" cy="27512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8"/>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27</a:t>
            </a:fld>
            <a:endParaRPr/>
          </a:p>
        </p:txBody>
      </p:sp>
      <p:sp>
        <p:nvSpPr>
          <p:cNvPr id="344" name="Google Shape;344;p38"/>
          <p:cNvSpPr txBox="1">
            <a:spLocks noGrp="1"/>
          </p:cNvSpPr>
          <p:nvPr>
            <p:ph type="ctrTitle" idx="4294967295"/>
          </p:nvPr>
        </p:nvSpPr>
        <p:spPr>
          <a:xfrm>
            <a:off x="503549" y="267494"/>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Recommendation</a:t>
            </a:r>
            <a:endParaRPr sz="2000" b="0" i="0" u="none" strike="noStrike" cap="none">
              <a:solidFill>
                <a:srgbClr val="000000"/>
              </a:solidFill>
              <a:highlight>
                <a:srgbClr val="FFCD00"/>
              </a:highlight>
              <a:latin typeface="Lora"/>
              <a:ea typeface="Lora"/>
              <a:cs typeface="Lora"/>
              <a:sym typeface="Lora"/>
            </a:endParaRPr>
          </a:p>
        </p:txBody>
      </p:sp>
      <p:sp>
        <p:nvSpPr>
          <p:cNvPr id="345" name="Google Shape;345;p38"/>
          <p:cNvSpPr/>
          <p:nvPr/>
        </p:nvSpPr>
        <p:spPr>
          <a:xfrm>
            <a:off x="557752" y="1558430"/>
            <a:ext cx="84177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dirty="0"/>
              <a:t>The time connect in the airport can show larger or in early step during searching flight</a:t>
            </a:r>
            <a:endParaRPr sz="1400" b="0" i="0" u="none" strike="noStrike" cap="none" dirty="0">
              <a:solidFill>
                <a:srgbClr val="000000"/>
              </a:solidFill>
              <a:latin typeface="Arial"/>
              <a:ea typeface="Arial"/>
              <a:cs typeface="Arial"/>
              <a:sym typeface="Arial"/>
            </a:endParaRPr>
          </a:p>
        </p:txBody>
      </p:sp>
      <p:cxnSp>
        <p:nvCxnSpPr>
          <p:cNvPr id="346" name="Google Shape;346;p38"/>
          <p:cNvCxnSpPr/>
          <p:nvPr/>
        </p:nvCxnSpPr>
        <p:spPr>
          <a:xfrm>
            <a:off x="-6025" y="1363928"/>
            <a:ext cx="9162000" cy="0"/>
          </a:xfrm>
          <a:prstGeom prst="straightConnector1">
            <a:avLst/>
          </a:prstGeom>
          <a:noFill/>
          <a:ln w="9525" cap="flat" cmpd="sng">
            <a:solidFill>
              <a:srgbClr val="CCCCCC"/>
            </a:solidFill>
            <a:prstDash val="solid"/>
            <a:round/>
            <a:headEnd type="none" w="sm" len="sm"/>
            <a:tailEnd type="none" w="sm" len="sm"/>
          </a:ln>
        </p:spPr>
      </p:cxnSp>
      <p:pic>
        <p:nvPicPr>
          <p:cNvPr id="347" name="Google Shape;347;p38"/>
          <p:cNvPicPr preferRelativeResize="0"/>
          <p:nvPr/>
        </p:nvPicPr>
        <p:blipFill>
          <a:blip r:embed="rId3">
            <a:alphaModFix/>
          </a:blip>
          <a:stretch>
            <a:fillRect/>
          </a:stretch>
        </p:blipFill>
        <p:spPr>
          <a:xfrm>
            <a:off x="2201850" y="2392200"/>
            <a:ext cx="3962492" cy="2751250"/>
          </a:xfrm>
          <a:prstGeom prst="rect">
            <a:avLst/>
          </a:prstGeom>
          <a:noFill/>
          <a:ln>
            <a:noFill/>
          </a:ln>
        </p:spPr>
      </p:pic>
      <p:sp>
        <p:nvSpPr>
          <p:cNvPr id="348" name="Google Shape;348;p38"/>
          <p:cNvSpPr/>
          <p:nvPr/>
        </p:nvSpPr>
        <p:spPr>
          <a:xfrm>
            <a:off x="2201850" y="3637275"/>
            <a:ext cx="4026000" cy="433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8"/>
          <p:cNvSpPr txBox="1"/>
          <p:nvPr/>
        </p:nvSpPr>
        <p:spPr>
          <a:xfrm>
            <a:off x="6197475" y="3373575"/>
            <a:ext cx="1877700" cy="52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Larger to alert</a:t>
            </a:r>
            <a:endParaRPr>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9"/>
          <p:cNvSpPr txBox="1">
            <a:spLocks noGrp="1"/>
          </p:cNvSpPr>
          <p:nvPr>
            <p:ph type="ctrTitle" idx="4294967295"/>
          </p:nvPr>
        </p:nvSpPr>
        <p:spPr>
          <a:xfrm>
            <a:off x="473224" y="-6"/>
            <a:ext cx="8136900" cy="936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highlight>
                  <a:srgbClr val="FFCD00"/>
                </a:highlight>
              </a:rPr>
              <a:t>Group evaluation</a:t>
            </a:r>
            <a:endParaRPr sz="2000" b="0" i="0" u="none" strike="noStrike" cap="none">
              <a:solidFill>
                <a:srgbClr val="000000"/>
              </a:solidFill>
              <a:highlight>
                <a:srgbClr val="FFCD00"/>
              </a:highlight>
              <a:latin typeface="Lora"/>
              <a:ea typeface="Lora"/>
              <a:cs typeface="Lora"/>
              <a:sym typeface="Lora"/>
            </a:endParaRPr>
          </a:p>
        </p:txBody>
      </p:sp>
      <p:cxnSp>
        <p:nvCxnSpPr>
          <p:cNvPr id="355" name="Google Shape;355;p39"/>
          <p:cNvCxnSpPr/>
          <p:nvPr/>
        </p:nvCxnSpPr>
        <p:spPr>
          <a:xfrm rot="10800000" flipH="1">
            <a:off x="0" y="740800"/>
            <a:ext cx="9198900" cy="9900"/>
          </a:xfrm>
          <a:prstGeom prst="straightConnector1">
            <a:avLst/>
          </a:prstGeom>
          <a:noFill/>
          <a:ln w="9525" cap="flat" cmpd="sng">
            <a:solidFill>
              <a:srgbClr val="CCCCCC"/>
            </a:solidFill>
            <a:prstDash val="solid"/>
            <a:round/>
            <a:headEnd type="none" w="sm" len="sm"/>
            <a:tailEnd type="none" w="sm" len="sm"/>
          </a:ln>
        </p:spPr>
      </p:cxnSp>
      <p:sp>
        <p:nvSpPr>
          <p:cNvPr id="356" name="Google Shape;356;p39"/>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28</a:t>
            </a:fld>
            <a:endParaRPr sz="1000" b="0" i="0" u="none" strike="noStrike" cap="none">
              <a:solidFill>
                <a:srgbClr val="1D1D1B"/>
              </a:solidFill>
              <a:latin typeface="Lora"/>
              <a:ea typeface="Lora"/>
              <a:cs typeface="Lora"/>
              <a:sym typeface="Lora"/>
            </a:endParaRPr>
          </a:p>
        </p:txBody>
      </p:sp>
      <p:sp>
        <p:nvSpPr>
          <p:cNvPr id="357" name="Google Shape;357;p39"/>
          <p:cNvSpPr/>
          <p:nvPr/>
        </p:nvSpPr>
        <p:spPr>
          <a:xfrm>
            <a:off x="395536" y="1779662"/>
            <a:ext cx="7848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358" name="Google Shape;358;p39"/>
          <p:cNvGraphicFramePr/>
          <p:nvPr/>
        </p:nvGraphicFramePr>
        <p:xfrm>
          <a:off x="952500" y="1238250"/>
          <a:ext cx="7239000" cy="3718290"/>
        </p:xfrm>
        <a:graphic>
          <a:graphicData uri="http://schemas.openxmlformats.org/drawingml/2006/table">
            <a:tbl>
              <a:tblPr>
                <a:noFill/>
                <a:tableStyleId>{AC0D9067-4189-4902-9140-2DD05B903422}</a:tableStyleId>
              </a:tblPr>
              <a:tblGrid>
                <a:gridCol w="1809750"/>
                <a:gridCol w="1809750"/>
                <a:gridCol w="1809750"/>
                <a:gridCol w="1809750"/>
              </a:tblGrid>
              <a:tr h="381000">
                <a:tc>
                  <a:txBody>
                    <a:bodyPr/>
                    <a:lstStyle/>
                    <a:p>
                      <a:pPr marL="0" lvl="0" indent="0" algn="l" rtl="0">
                        <a:spcBef>
                          <a:spcPts val="0"/>
                        </a:spcBef>
                        <a:spcAft>
                          <a:spcPts val="0"/>
                        </a:spcAft>
                        <a:buNone/>
                      </a:pPr>
                      <a:r>
                        <a:rPr lang="en"/>
                        <a:t>Problem</a:t>
                      </a:r>
                      <a:endParaRPr/>
                    </a:p>
                  </a:txBody>
                  <a:tcPr marL="91425" marR="91425" marT="91425" marB="91425">
                    <a:solidFill>
                      <a:srgbClr val="FFCD00"/>
                    </a:solidFill>
                  </a:tcPr>
                </a:tc>
                <a:tc>
                  <a:txBody>
                    <a:bodyPr/>
                    <a:lstStyle/>
                    <a:p>
                      <a:pPr marL="0" lvl="0" indent="0" algn="l" rtl="0">
                        <a:spcBef>
                          <a:spcPts val="0"/>
                        </a:spcBef>
                        <a:spcAft>
                          <a:spcPts val="0"/>
                        </a:spcAft>
                        <a:buNone/>
                      </a:pPr>
                      <a:r>
                        <a:rPr lang="en"/>
                        <a:t>Peter</a:t>
                      </a:r>
                      <a:endParaRPr/>
                    </a:p>
                  </a:txBody>
                  <a:tcPr marL="91425" marR="91425" marT="91425" marB="91425">
                    <a:solidFill>
                      <a:srgbClr val="FFCD00"/>
                    </a:solidFill>
                  </a:tcPr>
                </a:tc>
                <a:tc>
                  <a:txBody>
                    <a:bodyPr/>
                    <a:lstStyle/>
                    <a:p>
                      <a:pPr marL="0" lvl="0" indent="0" algn="l" rtl="0">
                        <a:spcBef>
                          <a:spcPts val="0"/>
                        </a:spcBef>
                        <a:spcAft>
                          <a:spcPts val="0"/>
                        </a:spcAft>
                        <a:buNone/>
                      </a:pPr>
                      <a:r>
                        <a:rPr lang="en"/>
                        <a:t>Henry</a:t>
                      </a:r>
                      <a:endParaRPr/>
                    </a:p>
                  </a:txBody>
                  <a:tcPr marL="91425" marR="91425" marT="91425" marB="91425">
                    <a:solidFill>
                      <a:srgbClr val="FFCD00"/>
                    </a:solidFill>
                  </a:tcPr>
                </a:tc>
                <a:tc>
                  <a:txBody>
                    <a:bodyPr/>
                    <a:lstStyle/>
                    <a:p>
                      <a:pPr marL="0" lvl="0" indent="0" algn="l" rtl="0">
                        <a:spcBef>
                          <a:spcPts val="0"/>
                        </a:spcBef>
                        <a:spcAft>
                          <a:spcPts val="0"/>
                        </a:spcAft>
                        <a:buNone/>
                      </a:pPr>
                      <a:r>
                        <a:rPr lang="en"/>
                        <a:t>Chin-An</a:t>
                      </a:r>
                      <a:endParaRPr/>
                    </a:p>
                  </a:txBody>
                  <a:tcPr marL="91425" marR="91425" marT="91425" marB="91425">
                    <a:solidFill>
                      <a:srgbClr val="FFCD00"/>
                    </a:solidFill>
                  </a:tcPr>
                </a:tc>
              </a:tr>
              <a:tr h="381000">
                <a:tc>
                  <a:txBody>
                    <a:bodyPr/>
                    <a:lstStyle/>
                    <a:p>
                      <a:pPr marL="0" lvl="0" indent="0" algn="l" rtl="0">
                        <a:spcBef>
                          <a:spcPts val="0"/>
                        </a:spcBef>
                        <a:spcAft>
                          <a:spcPts val="0"/>
                        </a:spcAft>
                        <a:buClr>
                          <a:schemeClr val="dk1"/>
                        </a:buClr>
                        <a:buSzPts val="2000"/>
                        <a:buFont typeface="Lora"/>
                        <a:buNone/>
                      </a:pPr>
                      <a:r>
                        <a:rPr lang="en" sz="900" b="1">
                          <a:solidFill>
                            <a:schemeClr val="dk1"/>
                          </a:solidFill>
                          <a:highlight>
                            <a:srgbClr val="FFFFFF"/>
                          </a:highlight>
                          <a:latin typeface="Lora"/>
                          <a:ea typeface="Lora"/>
                          <a:cs typeface="Lora"/>
                          <a:sym typeface="Lora"/>
                        </a:rPr>
                        <a:t>Main Menu is hard to access in lower resolutions</a:t>
                      </a:r>
                      <a:endParaRPr sz="900">
                        <a:highlight>
                          <a:srgbClr val="FFFFFF"/>
                        </a:highlight>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r>
              <a:tr h="381000">
                <a:tc>
                  <a:txBody>
                    <a:bodyPr/>
                    <a:lstStyle/>
                    <a:p>
                      <a:pPr marL="0" lvl="0" indent="0" algn="l" rtl="0">
                        <a:spcBef>
                          <a:spcPts val="0"/>
                        </a:spcBef>
                        <a:spcAft>
                          <a:spcPts val="0"/>
                        </a:spcAft>
                        <a:buClr>
                          <a:schemeClr val="dk1"/>
                        </a:buClr>
                        <a:buSzPts val="2000"/>
                        <a:buFont typeface="Lora"/>
                        <a:buNone/>
                      </a:pPr>
                      <a:r>
                        <a:rPr lang="en" sz="800" b="1">
                          <a:solidFill>
                            <a:schemeClr val="dk1"/>
                          </a:solidFill>
                          <a:highlight>
                            <a:srgbClr val="FFFFFF"/>
                          </a:highlight>
                          <a:latin typeface="Lora"/>
                          <a:ea typeface="Lora"/>
                          <a:cs typeface="Lora"/>
                          <a:sym typeface="Lora"/>
                        </a:rPr>
                        <a:t>In some parts there is a problem with responsive design</a:t>
                      </a:r>
                      <a:endParaRPr sz="800">
                        <a:highlight>
                          <a:srgbClr val="FFFFFF"/>
                        </a:highlight>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r>
              <a:tr h="381000">
                <a:tc>
                  <a:txBody>
                    <a:bodyPr/>
                    <a:lstStyle/>
                    <a:p>
                      <a:pPr marL="0" lvl="0" indent="0" algn="l" rtl="0">
                        <a:spcBef>
                          <a:spcPts val="0"/>
                        </a:spcBef>
                        <a:spcAft>
                          <a:spcPts val="0"/>
                        </a:spcAft>
                        <a:buClr>
                          <a:schemeClr val="dk1"/>
                        </a:buClr>
                        <a:buSzPts val="2000"/>
                        <a:buFont typeface="Lora"/>
                        <a:buNone/>
                      </a:pPr>
                      <a:r>
                        <a:rPr lang="en" sz="800" b="1">
                          <a:solidFill>
                            <a:schemeClr val="dk1"/>
                          </a:solidFill>
                          <a:latin typeface="Lora"/>
                          <a:ea typeface="Lora"/>
                          <a:cs typeface="Lora"/>
                          <a:sym typeface="Lora"/>
                        </a:rPr>
                        <a:t>Links and their pictures are too small</a:t>
                      </a:r>
                      <a:endParaRPr sz="800"/>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r>
              <a:tr h="381000">
                <a:tc>
                  <a:txBody>
                    <a:bodyPr/>
                    <a:lstStyle/>
                    <a:p>
                      <a:pPr marL="0" lvl="0" indent="0" algn="l" rtl="0">
                        <a:spcBef>
                          <a:spcPts val="0"/>
                        </a:spcBef>
                        <a:spcAft>
                          <a:spcPts val="0"/>
                        </a:spcAft>
                        <a:buClr>
                          <a:schemeClr val="dk1"/>
                        </a:buClr>
                        <a:buSzPts val="2000"/>
                        <a:buFont typeface="Lora"/>
                        <a:buNone/>
                      </a:pPr>
                      <a:r>
                        <a:rPr lang="en" sz="800" b="1">
                          <a:solidFill>
                            <a:schemeClr val="dk1"/>
                          </a:solidFill>
                          <a:latin typeface="Lora"/>
                          <a:ea typeface="Lora"/>
                          <a:cs typeface="Lora"/>
                          <a:sym typeface="Lora"/>
                        </a:rPr>
                        <a:t>Commercials take too much space</a:t>
                      </a:r>
                      <a:endParaRPr sz="800"/>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2</a:t>
                      </a:r>
                      <a:endParaRPr/>
                    </a:p>
                  </a:txBody>
                  <a:tcPr marL="91425" marR="91425" marT="91425" marB="91425">
                    <a:solidFill>
                      <a:srgbClr val="FF0000"/>
                    </a:solidFill>
                  </a:tcPr>
                </a:tc>
              </a:tr>
              <a:tr h="381000">
                <a:tc>
                  <a:txBody>
                    <a:bodyPr/>
                    <a:lstStyle/>
                    <a:p>
                      <a:pPr marL="0" lvl="0" indent="0" algn="l" rtl="0">
                        <a:spcBef>
                          <a:spcPts val="0"/>
                        </a:spcBef>
                        <a:spcAft>
                          <a:spcPts val="0"/>
                        </a:spcAft>
                        <a:buClr>
                          <a:schemeClr val="dk1"/>
                        </a:buClr>
                        <a:buSzPts val="2000"/>
                        <a:buFont typeface="Lora"/>
                        <a:buNone/>
                      </a:pPr>
                      <a:r>
                        <a:rPr lang="en" sz="800" b="1">
                          <a:solidFill>
                            <a:schemeClr val="dk1"/>
                          </a:solidFill>
                          <a:latin typeface="Lora"/>
                          <a:ea typeface="Lora"/>
                          <a:cs typeface="Lora"/>
                          <a:sym typeface="Lora"/>
                        </a:rPr>
                        <a:t>Inconsistent pricing</a:t>
                      </a:r>
                      <a:endParaRPr sz="800"/>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2</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r>
              <a:tr h="381000">
                <a:tc>
                  <a:txBody>
                    <a:bodyPr/>
                    <a:lstStyle/>
                    <a:p>
                      <a:pPr marL="0" lvl="0" indent="0" algn="l" rtl="0">
                        <a:spcBef>
                          <a:spcPts val="0"/>
                        </a:spcBef>
                        <a:spcAft>
                          <a:spcPts val="0"/>
                        </a:spcAft>
                        <a:buClr>
                          <a:schemeClr val="dk1"/>
                        </a:buClr>
                        <a:buSzPts val="2000"/>
                        <a:buFont typeface="Lora"/>
                        <a:buNone/>
                      </a:pPr>
                      <a:r>
                        <a:rPr lang="en" sz="800" b="1">
                          <a:solidFill>
                            <a:schemeClr val="dk1"/>
                          </a:solidFill>
                          <a:latin typeface="Lora"/>
                          <a:ea typeface="Lora"/>
                          <a:cs typeface="Lora"/>
                          <a:sym typeface="Lora"/>
                        </a:rPr>
                        <a:t>Annoying questionnaire</a:t>
                      </a:r>
                      <a:endParaRPr sz="800"/>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r>
              <a:tr h="381000">
                <a:tc>
                  <a:txBody>
                    <a:bodyPr/>
                    <a:lstStyle/>
                    <a:p>
                      <a:pPr marL="0" lvl="0" indent="0" algn="l" rtl="0">
                        <a:spcBef>
                          <a:spcPts val="0"/>
                        </a:spcBef>
                        <a:spcAft>
                          <a:spcPts val="0"/>
                        </a:spcAft>
                        <a:buNone/>
                      </a:pPr>
                      <a:r>
                        <a:rPr lang="en" sz="800" b="1">
                          <a:solidFill>
                            <a:schemeClr val="dk1"/>
                          </a:solidFill>
                          <a:latin typeface="Lora"/>
                          <a:ea typeface="Lora"/>
                          <a:cs typeface="Lora"/>
                          <a:sym typeface="Lora"/>
                        </a:rPr>
                        <a:t>Bag fee price is not clear</a:t>
                      </a:r>
                      <a:endParaRPr sz="800" b="1">
                        <a:solidFill>
                          <a:schemeClr val="dk1"/>
                        </a:solidFill>
                        <a:latin typeface="Lora"/>
                        <a:ea typeface="Lora"/>
                        <a:cs typeface="Lora"/>
                        <a:sym typeface="Lora"/>
                      </a:endParaRPr>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2</a:t>
                      </a:r>
                      <a:endParaRPr/>
                    </a:p>
                  </a:txBody>
                  <a:tcPr marL="91425" marR="91425" marT="91425" marB="91425">
                    <a:solidFill>
                      <a:srgbClr val="FF0000"/>
                    </a:solidFill>
                  </a:tcPr>
                </a:tc>
                <a:tc>
                  <a:txBody>
                    <a:bodyPr/>
                    <a:lstStyle/>
                    <a:p>
                      <a:pPr marL="0" lvl="0" indent="0" algn="l" rtl="0">
                        <a:spcBef>
                          <a:spcPts val="0"/>
                        </a:spcBef>
                        <a:spcAft>
                          <a:spcPts val="0"/>
                        </a:spcAft>
                        <a:buNone/>
                      </a:pPr>
                      <a:r>
                        <a:rPr lang="en"/>
                        <a:t>3</a:t>
                      </a:r>
                      <a:endParaRPr/>
                    </a:p>
                  </a:txBody>
                  <a:tcPr marL="91425" marR="91425" marT="91425" marB="91425">
                    <a:solidFill>
                      <a:srgbClr val="FF0000"/>
                    </a:solidFill>
                  </a:tcPr>
                </a:tc>
              </a:tr>
              <a:tr h="381000">
                <a:tc>
                  <a:txBody>
                    <a:bodyPr/>
                    <a:lstStyle/>
                    <a:p>
                      <a:pPr marL="0" lvl="0" indent="0" algn="l" rtl="0">
                        <a:spcBef>
                          <a:spcPts val="0"/>
                        </a:spcBef>
                        <a:spcAft>
                          <a:spcPts val="0"/>
                        </a:spcAft>
                        <a:buNone/>
                      </a:pPr>
                      <a:r>
                        <a:rPr lang="en" sz="800" b="1">
                          <a:solidFill>
                            <a:schemeClr val="dk1"/>
                          </a:solidFill>
                          <a:latin typeface="Lora"/>
                          <a:ea typeface="Lora"/>
                          <a:cs typeface="Lora"/>
                          <a:sym typeface="Lora"/>
                        </a:rPr>
                        <a:t>The time connect in the airport</a:t>
                      </a:r>
                      <a:endParaRPr sz="800" b="1">
                        <a:solidFill>
                          <a:schemeClr val="dk1"/>
                        </a:solidFill>
                        <a:latin typeface="Lora"/>
                        <a:ea typeface="Lora"/>
                        <a:cs typeface="Lora"/>
                        <a:sym typeface="Lora"/>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t>Our evaluation</a:t>
            </a:r>
            <a:endParaRPr sz="2000" b="1" i="0" u="none" strike="noStrike" cap="none">
              <a:solidFill>
                <a:srgbClr val="000000"/>
              </a:solidFill>
              <a:highlight>
                <a:srgbClr val="FFCD00"/>
              </a:highlight>
              <a:latin typeface="Lora"/>
              <a:ea typeface="Lora"/>
              <a:cs typeface="Lora"/>
              <a:sym typeface="Lora"/>
            </a:endParaRPr>
          </a:p>
        </p:txBody>
      </p:sp>
      <p:sp>
        <p:nvSpPr>
          <p:cNvPr id="364" name="Google Shape;364;p40"/>
          <p:cNvSpPr txBox="1">
            <a:spLocks noGrp="1"/>
          </p:cNvSpPr>
          <p:nvPr>
            <p:ph type="body" idx="1"/>
          </p:nvPr>
        </p:nvSpPr>
        <p:spPr>
          <a:xfrm>
            <a:off x="3851920" y="1616470"/>
            <a:ext cx="4338900" cy="3112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600"/>
              </a:spcBef>
              <a:spcAft>
                <a:spcPts val="0"/>
              </a:spcAft>
              <a:buClr>
                <a:srgbClr val="FFCD00"/>
              </a:buClr>
              <a:buSzPts val="2400"/>
              <a:buFont typeface="Quattrocento Sans"/>
              <a:buNone/>
            </a:pPr>
            <a:r>
              <a:rPr lang="en" sz="1200">
                <a:latin typeface="Lora"/>
                <a:ea typeface="Lora"/>
                <a:cs typeface="Lora"/>
                <a:sym typeface="Lora"/>
              </a:rPr>
              <a:t>In our opinion Skyscanner is very useful and very well designed. Most of the problems have very low severity and don’t prevent user from full participation in Skyscanners features. </a:t>
            </a:r>
            <a:endParaRPr sz="12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r>
              <a:rPr lang="en" sz="1200">
                <a:latin typeface="Lora"/>
                <a:ea typeface="Lora"/>
                <a:cs typeface="Lora"/>
                <a:sym typeface="Lora"/>
              </a:rPr>
              <a:t>The main problem with the website is the lack of consistency with prices, what can be very irritating and demands from the user more focus than it should.</a:t>
            </a:r>
            <a:endParaRPr sz="12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r>
              <a:rPr lang="en" sz="1200">
                <a:latin typeface="Lora"/>
                <a:ea typeface="Lora"/>
                <a:cs typeface="Lora"/>
                <a:sym typeface="Lora"/>
              </a:rPr>
              <a:t>Although we fully understand that using the website is free and it probably gets most of its funds from commercials, they take too much space. Fortunately, this problem is also easy to solve.</a:t>
            </a:r>
            <a:endParaRPr sz="12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endParaRPr sz="12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r>
              <a:rPr lang="en" sz="1200" b="1" i="0" u="none" strike="noStrike" cap="none">
                <a:solidFill>
                  <a:srgbClr val="000000"/>
                </a:solidFill>
                <a:latin typeface="Quattrocento Sans"/>
                <a:ea typeface="Quattrocento Sans"/>
                <a:cs typeface="Quattrocento Sans"/>
                <a:sym typeface="Quattrocento Sans"/>
              </a:rPr>
              <a:t/>
            </a:r>
            <a:br>
              <a:rPr lang="en" sz="1200" b="1" i="0" u="none" strike="noStrike" cap="none">
                <a:solidFill>
                  <a:srgbClr val="000000"/>
                </a:solidFill>
                <a:latin typeface="Quattrocento Sans"/>
                <a:ea typeface="Quattrocento Sans"/>
                <a:cs typeface="Quattrocento Sans"/>
                <a:sym typeface="Quattrocento Sans"/>
              </a:rPr>
            </a:br>
            <a:endParaRPr sz="1200" b="0" i="0" u="none" strike="noStrike" cap="none">
              <a:solidFill>
                <a:srgbClr val="000000"/>
              </a:solidFill>
              <a:latin typeface="Quattrocento Sans"/>
              <a:ea typeface="Quattrocento Sans"/>
              <a:cs typeface="Quattrocento Sans"/>
              <a:sym typeface="Quattrocento Sans"/>
            </a:endParaRPr>
          </a:p>
        </p:txBody>
      </p:sp>
      <p:grpSp>
        <p:nvGrpSpPr>
          <p:cNvPr id="365" name="Google Shape;365;p40"/>
          <p:cNvGrpSpPr/>
          <p:nvPr/>
        </p:nvGrpSpPr>
        <p:grpSpPr>
          <a:xfrm>
            <a:off x="916458" y="1019750"/>
            <a:ext cx="214625" cy="214625"/>
            <a:chOff x="2594050" y="1631825"/>
            <a:chExt cx="439625" cy="439625"/>
          </a:xfrm>
        </p:grpSpPr>
        <p:sp>
          <p:nvSpPr>
            <p:cNvPr id="366" name="Google Shape;366;p40"/>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40"/>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40"/>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40"/>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0" name="Google Shape;370;p40"/>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29</a:t>
            </a:fld>
            <a:endParaRPr sz="1000" b="0" i="0" u="none" strike="noStrike" cap="none">
              <a:solidFill>
                <a:srgbClr val="1D1D1B"/>
              </a:solidFill>
              <a:latin typeface="Lora"/>
              <a:ea typeface="Lora"/>
              <a:cs typeface="Lora"/>
              <a:sym typeface="Lora"/>
            </a:endParaRPr>
          </a:p>
        </p:txBody>
      </p:sp>
      <p:pic>
        <p:nvPicPr>
          <p:cNvPr id="371" name="Google Shape;371;p40"/>
          <p:cNvPicPr preferRelativeResize="0"/>
          <p:nvPr/>
        </p:nvPicPr>
        <p:blipFill>
          <a:blip r:embed="rId3">
            <a:alphaModFix/>
          </a:blip>
          <a:stretch>
            <a:fillRect/>
          </a:stretch>
        </p:blipFill>
        <p:spPr>
          <a:xfrm>
            <a:off x="346500" y="1641575"/>
            <a:ext cx="2767250" cy="2767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1"/>
          <p:cNvSpPr txBox="1">
            <a:spLocks noGrp="1"/>
          </p:cNvSpPr>
          <p:nvPr>
            <p:ph type="ctrTitle" idx="4294967295"/>
          </p:nvPr>
        </p:nvSpPr>
        <p:spPr>
          <a:xfrm>
            <a:off x="503549" y="267494"/>
            <a:ext cx="8136900" cy="115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Lora"/>
              <a:buNone/>
            </a:pPr>
            <a:r>
              <a:rPr lang="en" sz="4800">
                <a:highlight>
                  <a:srgbClr val="FFCD00"/>
                </a:highlight>
              </a:rPr>
              <a:t>Usability testing</a:t>
            </a:r>
            <a:endParaRPr sz="4800" b="1" i="0" u="none" strike="noStrike" cap="none">
              <a:solidFill>
                <a:srgbClr val="000000"/>
              </a:solidFill>
              <a:highlight>
                <a:srgbClr val="FFCD00"/>
              </a:highlight>
              <a:latin typeface="Lora"/>
              <a:ea typeface="Lora"/>
              <a:cs typeface="Lora"/>
              <a:sym typeface="Lora"/>
            </a:endParaRPr>
          </a:p>
        </p:txBody>
      </p:sp>
      <p:cxnSp>
        <p:nvCxnSpPr>
          <p:cNvPr id="377" name="Google Shape;377;p41"/>
          <p:cNvCxnSpPr/>
          <p:nvPr/>
        </p:nvCxnSpPr>
        <p:spPr>
          <a:xfrm>
            <a:off x="-6025" y="1668728"/>
            <a:ext cx="9162000" cy="0"/>
          </a:xfrm>
          <a:prstGeom prst="straightConnector1">
            <a:avLst/>
          </a:prstGeom>
          <a:noFill/>
          <a:ln w="9525" cap="flat" cmpd="sng">
            <a:solidFill>
              <a:srgbClr val="CCCCCC"/>
            </a:solidFill>
            <a:prstDash val="solid"/>
            <a:round/>
            <a:headEnd type="none" w="sm" len="sm"/>
            <a:tailEnd type="none" w="sm" len="sm"/>
          </a:ln>
        </p:spPr>
      </p:cxnSp>
      <p:sp>
        <p:nvSpPr>
          <p:cNvPr id="378" name="Google Shape;378;p4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30</a:t>
            </a:fld>
            <a:endParaRPr sz="1000" b="0" i="0" u="none" strike="noStrike" cap="none">
              <a:solidFill>
                <a:srgbClr val="1D1D1B"/>
              </a:solidFill>
              <a:latin typeface="Lora"/>
              <a:ea typeface="Lora"/>
              <a:cs typeface="Lora"/>
              <a:sym typeface="Lora"/>
            </a:endParaRPr>
          </a:p>
        </p:txBody>
      </p:sp>
      <p:sp>
        <p:nvSpPr>
          <p:cNvPr id="379" name="Google Shape;379;p41"/>
          <p:cNvSpPr/>
          <p:nvPr/>
        </p:nvSpPr>
        <p:spPr>
          <a:xfrm>
            <a:off x="395536" y="2223187"/>
            <a:ext cx="8208900" cy="73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a:t>The main goal of this usability test is to find out how users interact with the system while doing most common tasks. Heuristic analysis not only helped us to better understand the user interface and experience of the website, but also helped defining most common and probable scenarios and tasks connected with the usage of the website.</a:t>
            </a:r>
            <a:endParaRPr sz="1400" b="0" i="0" u="none" strike="noStrike" cap="none">
              <a:solidFill>
                <a:srgbClr val="000000"/>
              </a:solidFill>
              <a:latin typeface="Arial"/>
              <a:ea typeface="Arial"/>
              <a:cs typeface="Arial"/>
              <a:sym typeface="Arial"/>
            </a:endParaRPr>
          </a:p>
        </p:txBody>
      </p:sp>
      <p:sp>
        <p:nvSpPr>
          <p:cNvPr id="380" name="Google Shape;380;p41"/>
          <p:cNvSpPr/>
          <p:nvPr/>
        </p:nvSpPr>
        <p:spPr>
          <a:xfrm>
            <a:off x="395536" y="1914214"/>
            <a:ext cx="2828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Goals and Research Questions</a:t>
            </a:r>
            <a:endParaRPr sz="1400" b="0" i="0" u="none" strike="noStrike" cap="none">
              <a:solidFill>
                <a:srgbClr val="000000"/>
              </a:solidFill>
              <a:latin typeface="Arial"/>
              <a:ea typeface="Arial"/>
              <a:cs typeface="Arial"/>
              <a:sym typeface="Arial"/>
            </a:endParaRPr>
          </a:p>
        </p:txBody>
      </p:sp>
      <p:sp>
        <p:nvSpPr>
          <p:cNvPr id="381" name="Google Shape;381;p41"/>
          <p:cNvSpPr/>
          <p:nvPr/>
        </p:nvSpPr>
        <p:spPr>
          <a:xfrm>
            <a:off x="395536" y="3083176"/>
            <a:ext cx="7848900" cy="1169700"/>
          </a:xfrm>
          <a:prstGeom prst="rect">
            <a:avLst/>
          </a:prstGeom>
          <a:noFill/>
          <a:ln>
            <a:noFill/>
          </a:ln>
        </p:spPr>
        <p:txBody>
          <a:bodyPr spcFirstLastPara="1" wrap="square" lIns="91425" tIns="45700" rIns="91425" bIns="45700" anchor="t" anchorCtr="0">
            <a:noAutofit/>
          </a:bodyPr>
          <a:lstStyle/>
          <a:p>
            <a:pPr marL="457200" lvl="0" indent="-317500" algn="l" rtl="0">
              <a:lnSpc>
                <a:spcPct val="115000"/>
              </a:lnSpc>
              <a:spcBef>
                <a:spcPts val="0"/>
              </a:spcBef>
              <a:spcAft>
                <a:spcPts val="0"/>
              </a:spcAft>
              <a:buSzPts val="1400"/>
              <a:buChar char="•"/>
            </a:pPr>
            <a:r>
              <a:rPr lang="en" sz="1200">
                <a:solidFill>
                  <a:schemeClr val="dk1"/>
                </a:solidFill>
              </a:rPr>
              <a:t>Finding flights (best ratio of price/time, best price, best time)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Finding hotels (by price, location, user ratings, stars)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Renting Car(class, type, pick up, features, star rating etc)</a:t>
            </a:r>
            <a:endParaRPr sz="1200">
              <a:solidFill>
                <a:schemeClr val="dk1"/>
              </a:solidFill>
            </a:endParaRPr>
          </a:p>
          <a:p>
            <a:pPr marL="0" lvl="0" indent="0" algn="l" rtl="0">
              <a:lnSpc>
                <a:spcPct val="115000"/>
              </a:lnSpc>
              <a:spcBef>
                <a:spcPts val="0"/>
              </a:spcBef>
              <a:spcAft>
                <a:spcPts val="0"/>
              </a:spcAft>
              <a:buNone/>
            </a:pPr>
            <a:r>
              <a:rPr lang="en" sz="1200">
                <a:solidFill>
                  <a:schemeClr val="dk1"/>
                </a:solidFill>
              </a:rPr>
              <a:t>What is very important, those tasks might be connected (for example, someone can search for the flight to Paris and need a hotel and car during his stay)</a:t>
            </a:r>
            <a:endParaRPr sz="1200">
              <a:solidFill>
                <a:schemeClr val="dk1"/>
              </a:solidFill>
            </a:endParaRPr>
          </a:p>
          <a:p>
            <a:pPr marL="457200" marR="0" lvl="0" indent="0" algn="l" rtl="0">
              <a:lnSpc>
                <a:spcPct val="1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2"/>
          <p:cNvSpPr txBox="1">
            <a:spLocks noGrp="1"/>
          </p:cNvSpPr>
          <p:nvPr>
            <p:ph type="ctrTitle" idx="4294967295"/>
          </p:nvPr>
        </p:nvSpPr>
        <p:spPr>
          <a:xfrm>
            <a:off x="503549" y="267494"/>
            <a:ext cx="8136900" cy="1159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Recruiting</a:t>
            </a:r>
            <a:endParaRPr sz="2400" b="1" i="0" u="none" strike="noStrike" cap="none">
              <a:solidFill>
                <a:srgbClr val="000000"/>
              </a:solidFill>
              <a:highlight>
                <a:srgbClr val="FFCD00"/>
              </a:highlight>
              <a:latin typeface="Lora"/>
              <a:ea typeface="Lora"/>
              <a:cs typeface="Lora"/>
              <a:sym typeface="Lora"/>
            </a:endParaRPr>
          </a:p>
        </p:txBody>
      </p:sp>
      <p:cxnSp>
        <p:nvCxnSpPr>
          <p:cNvPr id="387" name="Google Shape;387;p42"/>
          <p:cNvCxnSpPr/>
          <p:nvPr/>
        </p:nvCxnSpPr>
        <p:spPr>
          <a:xfrm>
            <a:off x="-9000" y="1401853"/>
            <a:ext cx="9162000" cy="0"/>
          </a:xfrm>
          <a:prstGeom prst="straightConnector1">
            <a:avLst/>
          </a:prstGeom>
          <a:noFill/>
          <a:ln w="9525" cap="flat" cmpd="sng">
            <a:solidFill>
              <a:srgbClr val="CCCCCC"/>
            </a:solidFill>
            <a:prstDash val="solid"/>
            <a:round/>
            <a:headEnd type="none" w="sm" len="sm"/>
            <a:tailEnd type="none" w="sm" len="sm"/>
          </a:ln>
        </p:spPr>
      </p:cxnSp>
      <p:sp>
        <p:nvSpPr>
          <p:cNvPr id="388" name="Google Shape;388;p42"/>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31</a:t>
            </a:fld>
            <a:endParaRPr sz="1000" b="0" i="0" u="none" strike="noStrike" cap="none">
              <a:solidFill>
                <a:srgbClr val="1D1D1B"/>
              </a:solidFill>
              <a:latin typeface="Lora"/>
              <a:ea typeface="Lora"/>
              <a:cs typeface="Lora"/>
              <a:sym typeface="Lora"/>
            </a:endParaRPr>
          </a:p>
        </p:txBody>
      </p:sp>
      <p:sp>
        <p:nvSpPr>
          <p:cNvPr id="389" name="Google Shape;389;p42"/>
          <p:cNvSpPr/>
          <p:nvPr/>
        </p:nvSpPr>
        <p:spPr>
          <a:xfrm>
            <a:off x="395536" y="2223187"/>
            <a:ext cx="8208900" cy="738600"/>
          </a:xfrm>
          <a:prstGeom prst="rect">
            <a:avLst/>
          </a:prstGeom>
          <a:noFill/>
          <a:ln>
            <a:noFill/>
          </a:ln>
        </p:spPr>
        <p:txBody>
          <a:bodyPr spcFirstLastPara="1" wrap="square" lIns="91425" tIns="45700" rIns="91425" bIns="45700" anchor="t" anchorCtr="0">
            <a:noAutofit/>
          </a:bodyPr>
          <a:lstStyle/>
          <a:p>
            <a:pPr marL="457200" marR="0" lvl="0" indent="-317500" algn="l" rtl="0">
              <a:lnSpc>
                <a:spcPct val="100000"/>
              </a:lnSpc>
              <a:spcBef>
                <a:spcPts val="0"/>
              </a:spcBef>
              <a:spcAft>
                <a:spcPts val="0"/>
              </a:spcAft>
              <a:buClr>
                <a:srgbClr val="000000"/>
              </a:buClr>
              <a:buSzPts val="1400"/>
              <a:buFont typeface="Arial"/>
              <a:buChar char="-"/>
            </a:pPr>
            <a:r>
              <a:rPr lang="en"/>
              <a:t>Recruiting people with different backgrounds and traveling experience</a:t>
            </a:r>
            <a:endParaRPr/>
          </a:p>
          <a:p>
            <a:pPr marL="457200" marR="0" lvl="0" indent="-317500" algn="l" rtl="0">
              <a:lnSpc>
                <a:spcPct val="100000"/>
              </a:lnSpc>
              <a:spcBef>
                <a:spcPts val="0"/>
              </a:spcBef>
              <a:spcAft>
                <a:spcPts val="0"/>
              </a:spcAft>
              <a:buSzPts val="1400"/>
              <a:buChar char="-"/>
            </a:pPr>
            <a:r>
              <a:rPr lang="en"/>
              <a:t>Try to reach different age groups</a:t>
            </a:r>
            <a:endParaRPr/>
          </a:p>
        </p:txBody>
      </p:sp>
      <p:sp>
        <p:nvSpPr>
          <p:cNvPr id="390" name="Google Shape;390;p42"/>
          <p:cNvSpPr/>
          <p:nvPr/>
        </p:nvSpPr>
        <p:spPr>
          <a:xfrm>
            <a:off x="395536" y="1914214"/>
            <a:ext cx="2828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b="1"/>
              <a:t>What we tried to achieve:</a:t>
            </a:r>
            <a:endParaRPr sz="1400" b="0" i="0" u="none" strike="noStrike" cap="none">
              <a:solidFill>
                <a:srgbClr val="000000"/>
              </a:solidFill>
              <a:latin typeface="Arial"/>
              <a:ea typeface="Arial"/>
              <a:cs typeface="Arial"/>
              <a:sym typeface="Arial"/>
            </a:endParaRPr>
          </a:p>
        </p:txBody>
      </p:sp>
      <p:pic>
        <p:nvPicPr>
          <p:cNvPr id="391" name="Google Shape;391;p42"/>
          <p:cNvPicPr preferRelativeResize="0"/>
          <p:nvPr/>
        </p:nvPicPr>
        <p:blipFill>
          <a:blip r:embed="rId3">
            <a:alphaModFix/>
          </a:blip>
          <a:stretch>
            <a:fillRect/>
          </a:stretch>
        </p:blipFill>
        <p:spPr>
          <a:xfrm>
            <a:off x="2398888" y="3193037"/>
            <a:ext cx="4202174" cy="187691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3"/>
          <p:cNvSpPr txBox="1">
            <a:spLocks noGrp="1"/>
          </p:cNvSpPr>
          <p:nvPr>
            <p:ph type="ctrTitle" idx="4294967295"/>
          </p:nvPr>
        </p:nvSpPr>
        <p:spPr>
          <a:xfrm>
            <a:off x="503549" y="267494"/>
            <a:ext cx="8136900" cy="1159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Participants</a:t>
            </a:r>
            <a:endParaRPr sz="2400" b="1" i="0" u="none" strike="noStrike" cap="none">
              <a:solidFill>
                <a:srgbClr val="000000"/>
              </a:solidFill>
              <a:highlight>
                <a:srgbClr val="FFCD00"/>
              </a:highlight>
              <a:latin typeface="Lora"/>
              <a:ea typeface="Lora"/>
              <a:cs typeface="Lora"/>
              <a:sym typeface="Lora"/>
            </a:endParaRPr>
          </a:p>
        </p:txBody>
      </p:sp>
      <p:cxnSp>
        <p:nvCxnSpPr>
          <p:cNvPr id="397" name="Google Shape;397;p43"/>
          <p:cNvCxnSpPr/>
          <p:nvPr/>
        </p:nvCxnSpPr>
        <p:spPr>
          <a:xfrm>
            <a:off x="-9000" y="1401853"/>
            <a:ext cx="9162000" cy="0"/>
          </a:xfrm>
          <a:prstGeom prst="straightConnector1">
            <a:avLst/>
          </a:prstGeom>
          <a:noFill/>
          <a:ln w="9525" cap="flat" cmpd="sng">
            <a:solidFill>
              <a:srgbClr val="CCCCCC"/>
            </a:solidFill>
            <a:prstDash val="solid"/>
            <a:round/>
            <a:headEnd type="none" w="sm" len="sm"/>
            <a:tailEnd type="none" w="sm" len="sm"/>
          </a:ln>
        </p:spPr>
      </p:cxnSp>
      <p:sp>
        <p:nvSpPr>
          <p:cNvPr id="398" name="Google Shape;398;p4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32</a:t>
            </a:fld>
            <a:endParaRPr sz="1000" b="0" i="0" u="none" strike="noStrike" cap="none">
              <a:solidFill>
                <a:srgbClr val="1D1D1B"/>
              </a:solidFill>
              <a:latin typeface="Lora"/>
              <a:ea typeface="Lora"/>
              <a:cs typeface="Lora"/>
              <a:sym typeface="Lora"/>
            </a:endParaRPr>
          </a:p>
        </p:txBody>
      </p:sp>
      <p:sp>
        <p:nvSpPr>
          <p:cNvPr id="399" name="Google Shape;399;p43"/>
          <p:cNvSpPr/>
          <p:nvPr/>
        </p:nvSpPr>
        <p:spPr>
          <a:xfrm>
            <a:off x="395536" y="2223187"/>
            <a:ext cx="8208900" cy="7386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r>
              <a:rPr lang="en"/>
              <a:t>1. Electrical Engineer, Male, 35 years old, has experience with skyscanner </a:t>
            </a:r>
            <a:endParaRPr/>
          </a:p>
          <a:p>
            <a:pPr marL="457200" marR="0" lvl="0" indent="0" algn="l" rtl="0">
              <a:lnSpc>
                <a:spcPct val="100000"/>
              </a:lnSpc>
              <a:spcBef>
                <a:spcPts val="0"/>
              </a:spcBef>
              <a:spcAft>
                <a:spcPts val="0"/>
              </a:spcAft>
              <a:buNone/>
            </a:pPr>
            <a:r>
              <a:rPr lang="en"/>
              <a:t>2. EE NTHU undergraduate, male, 22 years old, never use skyscanner before</a:t>
            </a:r>
            <a:endParaRPr/>
          </a:p>
          <a:p>
            <a:pPr marL="457200" marR="0" lvl="0" indent="0" algn="l" rtl="0">
              <a:lnSpc>
                <a:spcPct val="100000"/>
              </a:lnSpc>
              <a:spcBef>
                <a:spcPts val="0"/>
              </a:spcBef>
              <a:spcAft>
                <a:spcPts val="0"/>
              </a:spcAft>
              <a:buNone/>
            </a:pPr>
            <a:r>
              <a:rPr lang="en"/>
              <a:t>3. </a:t>
            </a:r>
            <a:r>
              <a:rPr lang="en">
                <a:solidFill>
                  <a:schemeClr val="dk1"/>
                </a:solidFill>
              </a:rPr>
              <a:t>EECS NCTU Master Student, has little experience with skyscanner</a:t>
            </a:r>
            <a:endParaRPr>
              <a:solidFill>
                <a:schemeClr val="dk1"/>
              </a:solidFill>
            </a:endParaRPr>
          </a:p>
          <a:p>
            <a:pPr marL="457200" marR="0" lvl="0" indent="0" algn="l" rtl="0">
              <a:lnSpc>
                <a:spcPct val="100000"/>
              </a:lnSpc>
              <a:spcBef>
                <a:spcPts val="0"/>
              </a:spcBef>
              <a:spcAft>
                <a:spcPts val="0"/>
              </a:spcAft>
              <a:buNone/>
            </a:pPr>
            <a:r>
              <a:rPr lang="en">
                <a:solidFill>
                  <a:schemeClr val="dk1"/>
                </a:solidFill>
              </a:rPr>
              <a:t>4. PhD in Chemistry, Post-doc at NCTU, has experience with skyscanner </a:t>
            </a:r>
            <a:endParaRPr>
              <a:solidFill>
                <a:schemeClr val="dk1"/>
              </a:solidFill>
            </a:endParaRPr>
          </a:p>
        </p:txBody>
      </p:sp>
      <p:sp>
        <p:nvSpPr>
          <p:cNvPr id="400" name="Google Shape;400;p43"/>
          <p:cNvSpPr/>
          <p:nvPr/>
        </p:nvSpPr>
        <p:spPr>
          <a:xfrm>
            <a:off x="395536" y="1914214"/>
            <a:ext cx="2828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b="1"/>
              <a:t>Backgrounds: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ctrTitle" idx="4294967295"/>
          </p:nvPr>
        </p:nvSpPr>
        <p:spPr>
          <a:xfrm>
            <a:off x="503549" y="267494"/>
            <a:ext cx="8136900" cy="1159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Introduction to Method</a:t>
            </a:r>
            <a:endParaRPr sz="2400" b="1" i="0" u="none" strike="noStrike" cap="none">
              <a:solidFill>
                <a:srgbClr val="000000"/>
              </a:solidFill>
              <a:highlight>
                <a:srgbClr val="FFCD00"/>
              </a:highlight>
              <a:latin typeface="Lora"/>
              <a:ea typeface="Lora"/>
              <a:cs typeface="Lora"/>
              <a:sym typeface="Lora"/>
            </a:endParaRPr>
          </a:p>
        </p:txBody>
      </p:sp>
      <p:cxnSp>
        <p:nvCxnSpPr>
          <p:cNvPr id="406" name="Google Shape;406;p44"/>
          <p:cNvCxnSpPr/>
          <p:nvPr/>
        </p:nvCxnSpPr>
        <p:spPr>
          <a:xfrm>
            <a:off x="-9000" y="1401853"/>
            <a:ext cx="9162000" cy="0"/>
          </a:xfrm>
          <a:prstGeom prst="straightConnector1">
            <a:avLst/>
          </a:prstGeom>
          <a:noFill/>
          <a:ln w="9525" cap="flat" cmpd="sng">
            <a:solidFill>
              <a:srgbClr val="CCCCCC"/>
            </a:solidFill>
            <a:prstDash val="solid"/>
            <a:round/>
            <a:headEnd type="none" w="sm" len="sm"/>
            <a:tailEnd type="none" w="sm" len="sm"/>
          </a:ln>
        </p:spPr>
      </p:cxnSp>
      <p:sp>
        <p:nvSpPr>
          <p:cNvPr id="407" name="Google Shape;407;p4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33</a:t>
            </a:fld>
            <a:endParaRPr sz="1000" b="0" i="0" u="none" strike="noStrike" cap="none">
              <a:solidFill>
                <a:srgbClr val="1D1D1B"/>
              </a:solidFill>
              <a:latin typeface="Lora"/>
              <a:ea typeface="Lora"/>
              <a:cs typeface="Lora"/>
              <a:sym typeface="Lora"/>
            </a:endParaRPr>
          </a:p>
        </p:txBody>
      </p:sp>
      <p:sp>
        <p:nvSpPr>
          <p:cNvPr id="408" name="Google Shape;408;p44"/>
          <p:cNvSpPr/>
          <p:nvPr/>
        </p:nvSpPr>
        <p:spPr>
          <a:xfrm>
            <a:off x="395525" y="1642316"/>
            <a:ext cx="8208900" cy="1319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a:t>The setup and all the questions were first tested among the team. All of us, individually, went through all the tasks. We wanted to avoid system errors and prepare ourselves to make the actual test with “real people” go fluently.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5"/>
          <p:cNvSpPr txBox="1">
            <a:spLocks noGrp="1"/>
          </p:cNvSpPr>
          <p:nvPr>
            <p:ph type="ctrTitle" idx="4294967295"/>
          </p:nvPr>
        </p:nvSpPr>
        <p:spPr>
          <a:xfrm>
            <a:off x="503549" y="267494"/>
            <a:ext cx="8136900" cy="1159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Test settings</a:t>
            </a:r>
            <a:endParaRPr sz="2400" b="1" i="0" u="none" strike="noStrike" cap="none">
              <a:solidFill>
                <a:srgbClr val="000000"/>
              </a:solidFill>
              <a:highlight>
                <a:srgbClr val="FFCD00"/>
              </a:highlight>
              <a:latin typeface="Lora"/>
              <a:ea typeface="Lora"/>
              <a:cs typeface="Lora"/>
              <a:sym typeface="Lora"/>
            </a:endParaRPr>
          </a:p>
        </p:txBody>
      </p:sp>
      <p:cxnSp>
        <p:nvCxnSpPr>
          <p:cNvPr id="414" name="Google Shape;414;p45"/>
          <p:cNvCxnSpPr/>
          <p:nvPr/>
        </p:nvCxnSpPr>
        <p:spPr>
          <a:xfrm>
            <a:off x="-9000" y="1401853"/>
            <a:ext cx="9162000" cy="0"/>
          </a:xfrm>
          <a:prstGeom prst="straightConnector1">
            <a:avLst/>
          </a:prstGeom>
          <a:noFill/>
          <a:ln w="9525" cap="flat" cmpd="sng">
            <a:solidFill>
              <a:srgbClr val="CCCCCC"/>
            </a:solidFill>
            <a:prstDash val="solid"/>
            <a:round/>
            <a:headEnd type="none" w="sm" len="sm"/>
            <a:tailEnd type="none" w="sm" len="sm"/>
          </a:ln>
        </p:spPr>
      </p:cxnSp>
      <p:sp>
        <p:nvSpPr>
          <p:cNvPr id="415" name="Google Shape;415;p4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34</a:t>
            </a:fld>
            <a:endParaRPr sz="1000" b="0" i="0" u="none" strike="noStrike" cap="none">
              <a:solidFill>
                <a:srgbClr val="1D1D1B"/>
              </a:solidFill>
              <a:latin typeface="Lora"/>
              <a:ea typeface="Lora"/>
              <a:cs typeface="Lora"/>
              <a:sym typeface="Lora"/>
            </a:endParaRPr>
          </a:p>
        </p:txBody>
      </p:sp>
      <p:sp>
        <p:nvSpPr>
          <p:cNvPr id="416" name="Google Shape;416;p45"/>
          <p:cNvSpPr/>
          <p:nvPr/>
        </p:nvSpPr>
        <p:spPr>
          <a:xfrm>
            <a:off x="395525" y="1642325"/>
            <a:ext cx="2770500" cy="33057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r>
              <a:rPr lang="en" sz="1200" b="1"/>
              <a:t>Test location</a:t>
            </a:r>
            <a:endParaRPr sz="1200" b="1"/>
          </a:p>
          <a:p>
            <a:pPr marL="457200" marR="0" lvl="0" indent="0" algn="l" rtl="0">
              <a:lnSpc>
                <a:spcPct val="100000"/>
              </a:lnSpc>
              <a:spcBef>
                <a:spcPts val="0"/>
              </a:spcBef>
              <a:spcAft>
                <a:spcPts val="0"/>
              </a:spcAft>
              <a:buNone/>
            </a:pPr>
            <a:endParaRPr sz="1200" b="1"/>
          </a:p>
          <a:p>
            <a:pPr marL="457200" marR="0" lvl="0" indent="0" algn="l" rtl="0">
              <a:lnSpc>
                <a:spcPct val="100000"/>
              </a:lnSpc>
              <a:spcBef>
                <a:spcPts val="0"/>
              </a:spcBef>
              <a:spcAft>
                <a:spcPts val="0"/>
              </a:spcAft>
              <a:buNone/>
            </a:pPr>
            <a:r>
              <a:rPr lang="en" sz="1200" b="1"/>
              <a:t>Equipement</a:t>
            </a:r>
            <a:endParaRPr sz="1200" b="1"/>
          </a:p>
          <a:p>
            <a:pPr marL="457200" marR="0" lvl="0" indent="0" algn="l" rtl="0">
              <a:lnSpc>
                <a:spcPct val="100000"/>
              </a:lnSpc>
              <a:spcBef>
                <a:spcPts val="0"/>
              </a:spcBef>
              <a:spcAft>
                <a:spcPts val="0"/>
              </a:spcAft>
              <a:buNone/>
            </a:pPr>
            <a:endParaRPr sz="1200" b="1"/>
          </a:p>
          <a:p>
            <a:pPr marL="457200" marR="0" lvl="0" indent="0" algn="l" rtl="0">
              <a:lnSpc>
                <a:spcPct val="100000"/>
              </a:lnSpc>
              <a:spcBef>
                <a:spcPts val="0"/>
              </a:spcBef>
              <a:spcAft>
                <a:spcPts val="0"/>
              </a:spcAft>
              <a:buNone/>
            </a:pPr>
            <a:r>
              <a:rPr lang="en" sz="1200" b="1"/>
              <a:t>Recording method</a:t>
            </a:r>
            <a:endParaRPr sz="1200" b="1"/>
          </a:p>
          <a:p>
            <a:pPr marL="457200" marR="0" lvl="0" indent="0" algn="l" rtl="0">
              <a:lnSpc>
                <a:spcPct val="100000"/>
              </a:lnSpc>
              <a:spcBef>
                <a:spcPts val="0"/>
              </a:spcBef>
              <a:spcAft>
                <a:spcPts val="0"/>
              </a:spcAft>
              <a:buNone/>
            </a:pPr>
            <a:endParaRPr sz="1200" b="1"/>
          </a:p>
          <a:p>
            <a:pPr marL="457200" marR="0" lvl="0" indent="0" algn="l" rtl="0">
              <a:lnSpc>
                <a:spcPct val="100000"/>
              </a:lnSpc>
              <a:spcBef>
                <a:spcPts val="0"/>
              </a:spcBef>
              <a:spcAft>
                <a:spcPts val="0"/>
              </a:spcAft>
              <a:buNone/>
            </a:pPr>
            <a:r>
              <a:rPr lang="en" sz="1200" b="1"/>
              <a:t>Scripts</a:t>
            </a:r>
            <a:endParaRPr sz="1200" b="1"/>
          </a:p>
          <a:p>
            <a:pPr marL="457200" marR="0" lvl="0" indent="0" algn="l" rtl="0">
              <a:lnSpc>
                <a:spcPct val="100000"/>
              </a:lnSpc>
              <a:spcBef>
                <a:spcPts val="0"/>
              </a:spcBef>
              <a:spcAft>
                <a:spcPts val="0"/>
              </a:spcAft>
              <a:buNone/>
            </a:pPr>
            <a:endParaRPr sz="1200" b="1"/>
          </a:p>
          <a:p>
            <a:pPr marL="457200" marR="0" lvl="0" indent="0" algn="l" rtl="0">
              <a:lnSpc>
                <a:spcPct val="100000"/>
              </a:lnSpc>
              <a:spcBef>
                <a:spcPts val="0"/>
              </a:spcBef>
              <a:spcAft>
                <a:spcPts val="0"/>
              </a:spcAft>
              <a:buNone/>
            </a:pPr>
            <a:endParaRPr sz="1200" b="1"/>
          </a:p>
          <a:p>
            <a:pPr marL="457200" marR="0" lvl="0" indent="0" algn="l" rtl="0">
              <a:lnSpc>
                <a:spcPct val="100000"/>
              </a:lnSpc>
              <a:spcBef>
                <a:spcPts val="0"/>
              </a:spcBef>
              <a:spcAft>
                <a:spcPts val="0"/>
              </a:spcAft>
              <a:buNone/>
            </a:pPr>
            <a:r>
              <a:rPr lang="en" sz="1200" b="1"/>
              <a:t>Data logging</a:t>
            </a:r>
            <a:endParaRPr sz="1200" b="1"/>
          </a:p>
          <a:p>
            <a:pPr marL="457200" marR="0" lvl="0" indent="0" algn="l" rtl="0">
              <a:lnSpc>
                <a:spcPct val="100000"/>
              </a:lnSpc>
              <a:spcBef>
                <a:spcPts val="0"/>
              </a:spcBef>
              <a:spcAft>
                <a:spcPts val="0"/>
              </a:spcAft>
              <a:buNone/>
            </a:pPr>
            <a:endParaRPr/>
          </a:p>
          <a:p>
            <a:pPr marL="457200" marR="0" lvl="0" indent="0" algn="l" rtl="0">
              <a:lnSpc>
                <a:spcPct val="100000"/>
              </a:lnSpc>
              <a:spcBef>
                <a:spcPts val="0"/>
              </a:spcBef>
              <a:spcAft>
                <a:spcPts val="0"/>
              </a:spcAft>
              <a:buNone/>
            </a:pPr>
            <a:endParaRPr/>
          </a:p>
        </p:txBody>
      </p:sp>
      <p:cxnSp>
        <p:nvCxnSpPr>
          <p:cNvPr id="417" name="Google Shape;417;p45"/>
          <p:cNvCxnSpPr/>
          <p:nvPr/>
        </p:nvCxnSpPr>
        <p:spPr>
          <a:xfrm rot="10800000">
            <a:off x="4179000" y="1399775"/>
            <a:ext cx="18300" cy="3760500"/>
          </a:xfrm>
          <a:prstGeom prst="straightConnector1">
            <a:avLst/>
          </a:prstGeom>
          <a:noFill/>
          <a:ln w="9525" cap="flat" cmpd="sng">
            <a:solidFill>
              <a:srgbClr val="CCCCCC"/>
            </a:solidFill>
            <a:prstDash val="solid"/>
            <a:round/>
            <a:headEnd type="none" w="sm" len="sm"/>
            <a:tailEnd type="none" w="sm" len="sm"/>
          </a:ln>
        </p:spPr>
      </p:cxnSp>
      <p:sp>
        <p:nvSpPr>
          <p:cNvPr id="418" name="Google Shape;418;p45"/>
          <p:cNvSpPr/>
          <p:nvPr/>
        </p:nvSpPr>
        <p:spPr>
          <a:xfrm>
            <a:off x="4508650" y="1627175"/>
            <a:ext cx="4268100" cy="33057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r>
              <a:rPr lang="en" sz="1200" i="1"/>
              <a:t>The location where we conduct the test</a:t>
            </a:r>
            <a:endParaRPr sz="1200" i="1"/>
          </a:p>
          <a:p>
            <a:pPr marL="457200" marR="0" lvl="0" indent="0" algn="l" rtl="0">
              <a:lnSpc>
                <a:spcPct val="100000"/>
              </a:lnSpc>
              <a:spcBef>
                <a:spcPts val="0"/>
              </a:spcBef>
              <a:spcAft>
                <a:spcPts val="0"/>
              </a:spcAft>
              <a:buNone/>
            </a:pPr>
            <a:endParaRPr sz="1200" i="1"/>
          </a:p>
          <a:p>
            <a:pPr marL="457200" marR="0" lvl="0" indent="0" algn="l" rtl="0">
              <a:lnSpc>
                <a:spcPct val="100000"/>
              </a:lnSpc>
              <a:spcBef>
                <a:spcPts val="0"/>
              </a:spcBef>
              <a:spcAft>
                <a:spcPts val="0"/>
              </a:spcAft>
              <a:buNone/>
            </a:pPr>
            <a:r>
              <a:rPr lang="en" sz="1200" i="1"/>
              <a:t>Camera, laptop</a:t>
            </a:r>
            <a:endParaRPr sz="1200" i="1"/>
          </a:p>
          <a:p>
            <a:pPr marL="457200" marR="0" lvl="0" indent="0" algn="l" rtl="0">
              <a:lnSpc>
                <a:spcPct val="100000"/>
              </a:lnSpc>
              <a:spcBef>
                <a:spcPts val="0"/>
              </a:spcBef>
              <a:spcAft>
                <a:spcPts val="0"/>
              </a:spcAft>
              <a:buNone/>
            </a:pPr>
            <a:endParaRPr sz="1200" i="1"/>
          </a:p>
          <a:p>
            <a:pPr marL="457200" marR="0" lvl="0" indent="0" algn="l" rtl="0">
              <a:lnSpc>
                <a:spcPct val="100000"/>
              </a:lnSpc>
              <a:spcBef>
                <a:spcPts val="0"/>
              </a:spcBef>
              <a:spcAft>
                <a:spcPts val="0"/>
              </a:spcAft>
              <a:buNone/>
            </a:pPr>
            <a:r>
              <a:rPr lang="en" sz="1200" i="1"/>
              <a:t>Camera and screen recorder</a:t>
            </a:r>
            <a:endParaRPr sz="1200" i="1"/>
          </a:p>
          <a:p>
            <a:pPr marL="457200" marR="0" lvl="0" indent="0" algn="l" rtl="0">
              <a:lnSpc>
                <a:spcPct val="100000"/>
              </a:lnSpc>
              <a:spcBef>
                <a:spcPts val="0"/>
              </a:spcBef>
              <a:spcAft>
                <a:spcPts val="0"/>
              </a:spcAft>
              <a:buNone/>
            </a:pPr>
            <a:endParaRPr sz="1200" i="1"/>
          </a:p>
          <a:p>
            <a:pPr marL="457200" marR="0" lvl="0" indent="0" algn="l" rtl="0">
              <a:lnSpc>
                <a:spcPct val="100000"/>
              </a:lnSpc>
              <a:spcBef>
                <a:spcPts val="0"/>
              </a:spcBef>
              <a:spcAft>
                <a:spcPts val="0"/>
              </a:spcAft>
              <a:buNone/>
            </a:pPr>
            <a:r>
              <a:rPr lang="en" sz="1200" i="1"/>
              <a:t>Prepared interview script (intro, post-questionnaire, outro)</a:t>
            </a:r>
            <a:endParaRPr sz="1200" i="1"/>
          </a:p>
          <a:p>
            <a:pPr marL="457200" marR="0" lvl="0" indent="0" algn="l" rtl="0">
              <a:lnSpc>
                <a:spcPct val="100000"/>
              </a:lnSpc>
              <a:spcBef>
                <a:spcPts val="0"/>
              </a:spcBef>
              <a:spcAft>
                <a:spcPts val="0"/>
              </a:spcAft>
              <a:buNone/>
            </a:pPr>
            <a:endParaRPr sz="1200" i="1"/>
          </a:p>
          <a:p>
            <a:pPr marL="457200" marR="0" lvl="0" indent="0" algn="l" rtl="0">
              <a:lnSpc>
                <a:spcPct val="100000"/>
              </a:lnSpc>
              <a:spcBef>
                <a:spcPts val="0"/>
              </a:spcBef>
              <a:spcAft>
                <a:spcPts val="0"/>
              </a:spcAft>
              <a:buNone/>
            </a:pPr>
            <a:r>
              <a:rPr lang="en" sz="1200" i="1"/>
              <a:t>Handwritten notes of incidents</a:t>
            </a:r>
            <a:endParaRPr sz="1200" i="1"/>
          </a:p>
          <a:p>
            <a:pPr marL="457200" marR="0" lvl="0" indent="0" algn="l" rtl="0">
              <a:lnSpc>
                <a:spcPct val="100000"/>
              </a:lnSpc>
              <a:spcBef>
                <a:spcPts val="0"/>
              </a:spcBef>
              <a:spcAft>
                <a:spcPts val="0"/>
              </a:spcAft>
              <a:buNone/>
            </a:pPr>
            <a:endParaRPr/>
          </a:p>
          <a:p>
            <a:pPr marL="457200" marR="0" lvl="0" indent="0" algn="l" rtl="0">
              <a:lnSpc>
                <a:spcPct val="100000"/>
              </a:lnSpc>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6"/>
          <p:cNvSpPr txBox="1">
            <a:spLocks noGrp="1"/>
          </p:cNvSpPr>
          <p:nvPr>
            <p:ph type="title"/>
          </p:nvPr>
        </p:nvSpPr>
        <p:spPr>
          <a:xfrm>
            <a:off x="1381250" y="937125"/>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t>Test structure</a:t>
            </a:r>
            <a:endParaRPr sz="2000" b="1" i="0" u="none" strike="noStrike" cap="none">
              <a:solidFill>
                <a:srgbClr val="000000"/>
              </a:solidFill>
              <a:latin typeface="Lora"/>
              <a:ea typeface="Lora"/>
              <a:cs typeface="Lora"/>
              <a:sym typeface="Lora"/>
            </a:endParaRPr>
          </a:p>
        </p:txBody>
      </p:sp>
      <p:sp>
        <p:nvSpPr>
          <p:cNvPr id="424" name="Google Shape;424;p46"/>
          <p:cNvSpPr/>
          <p:nvPr/>
        </p:nvSpPr>
        <p:spPr>
          <a:xfrm>
            <a:off x="928551" y="1635647"/>
            <a:ext cx="1453500" cy="1453500"/>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latin typeface="Lora"/>
                <a:ea typeface="Lora"/>
                <a:cs typeface="Lora"/>
                <a:sym typeface="Lora"/>
              </a:rPr>
              <a:t>Intro</a:t>
            </a:r>
            <a:endParaRPr sz="1400" b="1" i="0" u="none" strike="noStrike" cap="none">
              <a:solidFill>
                <a:srgbClr val="000000"/>
              </a:solidFill>
              <a:latin typeface="Lora"/>
              <a:ea typeface="Lora"/>
              <a:cs typeface="Lora"/>
              <a:sym typeface="Lora"/>
            </a:endParaRPr>
          </a:p>
        </p:txBody>
      </p:sp>
      <p:cxnSp>
        <p:nvCxnSpPr>
          <p:cNvPr id="425" name="Google Shape;425;p46"/>
          <p:cNvCxnSpPr/>
          <p:nvPr/>
        </p:nvCxnSpPr>
        <p:spPr>
          <a:xfrm>
            <a:off x="2381942" y="2362343"/>
            <a:ext cx="537300" cy="0"/>
          </a:xfrm>
          <a:prstGeom prst="straightConnector1">
            <a:avLst/>
          </a:prstGeom>
          <a:noFill/>
          <a:ln w="38100" cap="flat" cmpd="sng">
            <a:solidFill>
              <a:srgbClr val="FFCD00"/>
            </a:solidFill>
            <a:prstDash val="solid"/>
            <a:round/>
            <a:headEnd type="none" w="sm" len="sm"/>
            <a:tailEnd type="triangle" w="sm" len="sm"/>
          </a:ln>
        </p:spPr>
      </p:cxnSp>
      <p:sp>
        <p:nvSpPr>
          <p:cNvPr id="426" name="Google Shape;426;p46"/>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35</a:t>
            </a:fld>
            <a:endParaRPr sz="1000" b="0" i="0" u="none" strike="noStrike" cap="none">
              <a:solidFill>
                <a:srgbClr val="1D1D1B"/>
              </a:solidFill>
              <a:latin typeface="Lora"/>
              <a:ea typeface="Lora"/>
              <a:cs typeface="Lora"/>
              <a:sym typeface="Lora"/>
            </a:endParaRPr>
          </a:p>
        </p:txBody>
      </p:sp>
      <p:cxnSp>
        <p:nvCxnSpPr>
          <p:cNvPr id="427" name="Google Shape;427;p46"/>
          <p:cNvCxnSpPr/>
          <p:nvPr/>
        </p:nvCxnSpPr>
        <p:spPr>
          <a:xfrm>
            <a:off x="6428293" y="2362343"/>
            <a:ext cx="537300" cy="0"/>
          </a:xfrm>
          <a:prstGeom prst="straightConnector1">
            <a:avLst/>
          </a:prstGeom>
          <a:noFill/>
          <a:ln w="38100" cap="flat" cmpd="sng">
            <a:solidFill>
              <a:srgbClr val="FFCD00"/>
            </a:solidFill>
            <a:prstDash val="solid"/>
            <a:round/>
            <a:headEnd type="none" w="sm" len="sm"/>
            <a:tailEnd type="triangle" w="sm" len="sm"/>
          </a:ln>
        </p:spPr>
      </p:cxnSp>
      <p:cxnSp>
        <p:nvCxnSpPr>
          <p:cNvPr id="428" name="Google Shape;428;p46"/>
          <p:cNvCxnSpPr/>
          <p:nvPr/>
        </p:nvCxnSpPr>
        <p:spPr>
          <a:xfrm>
            <a:off x="4412796" y="2362343"/>
            <a:ext cx="537300" cy="0"/>
          </a:xfrm>
          <a:prstGeom prst="straightConnector1">
            <a:avLst/>
          </a:prstGeom>
          <a:noFill/>
          <a:ln w="38100" cap="flat" cmpd="sng">
            <a:solidFill>
              <a:srgbClr val="FFCD00"/>
            </a:solidFill>
            <a:prstDash val="solid"/>
            <a:round/>
            <a:headEnd type="none" w="sm" len="sm"/>
            <a:tailEnd type="triangle" w="sm" len="sm"/>
          </a:ln>
        </p:spPr>
      </p:cxnSp>
      <p:sp>
        <p:nvSpPr>
          <p:cNvPr id="429" name="Google Shape;429;p46"/>
          <p:cNvSpPr/>
          <p:nvPr/>
        </p:nvSpPr>
        <p:spPr>
          <a:xfrm>
            <a:off x="2919148" y="1623871"/>
            <a:ext cx="1453500" cy="1453500"/>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a:latin typeface="Lora"/>
                <a:ea typeface="Lora"/>
                <a:cs typeface="Lora"/>
                <a:sym typeface="Lora"/>
              </a:rPr>
              <a:t>Tasks</a:t>
            </a:r>
            <a:endParaRPr sz="1200" b="1" i="0" u="none" strike="noStrike" cap="none">
              <a:solidFill>
                <a:srgbClr val="000000"/>
              </a:solidFill>
              <a:latin typeface="Lora"/>
              <a:ea typeface="Lora"/>
              <a:cs typeface="Lora"/>
              <a:sym typeface="Lora"/>
            </a:endParaRPr>
          </a:p>
        </p:txBody>
      </p:sp>
      <p:sp>
        <p:nvSpPr>
          <p:cNvPr id="430" name="Google Shape;430;p46"/>
          <p:cNvSpPr/>
          <p:nvPr/>
        </p:nvSpPr>
        <p:spPr>
          <a:xfrm>
            <a:off x="4950002" y="1635646"/>
            <a:ext cx="1453500" cy="1453500"/>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b="1" i="0" u="none" strike="noStrike" cap="none">
              <a:solidFill>
                <a:srgbClr val="000000"/>
              </a:solidFill>
              <a:latin typeface="Lora"/>
              <a:ea typeface="Lora"/>
              <a:cs typeface="Lora"/>
              <a:sym typeface="Lora"/>
            </a:endParaRPr>
          </a:p>
          <a:p>
            <a:pPr marL="0" marR="0" lvl="0" indent="0" algn="ctr" rtl="0">
              <a:lnSpc>
                <a:spcPct val="100000"/>
              </a:lnSpc>
              <a:spcBef>
                <a:spcPts val="0"/>
              </a:spcBef>
              <a:spcAft>
                <a:spcPts val="0"/>
              </a:spcAft>
              <a:buNone/>
            </a:pPr>
            <a:r>
              <a:rPr lang="en" sz="1200" b="1">
                <a:latin typeface="Lora"/>
                <a:ea typeface="Lora"/>
                <a:cs typeface="Lora"/>
                <a:sym typeface="Lora"/>
              </a:rPr>
              <a:t>Post</a:t>
            </a:r>
            <a:endParaRPr sz="1200" b="1">
              <a:latin typeface="Lora"/>
              <a:ea typeface="Lora"/>
              <a:cs typeface="Lora"/>
              <a:sym typeface="Lora"/>
            </a:endParaRPr>
          </a:p>
          <a:p>
            <a:pPr marL="0" marR="0" lvl="0" indent="0" algn="ctr" rtl="0">
              <a:lnSpc>
                <a:spcPct val="100000"/>
              </a:lnSpc>
              <a:spcBef>
                <a:spcPts val="0"/>
              </a:spcBef>
              <a:spcAft>
                <a:spcPts val="0"/>
              </a:spcAft>
              <a:buNone/>
            </a:pPr>
            <a:r>
              <a:rPr lang="en" sz="1200" b="1">
                <a:latin typeface="Lora"/>
                <a:ea typeface="Lora"/>
                <a:cs typeface="Lora"/>
                <a:sym typeface="Lora"/>
              </a:rPr>
              <a:t>questions</a:t>
            </a:r>
            <a:endParaRPr sz="1200" b="1" i="0" u="none" strike="noStrike" cap="none">
              <a:solidFill>
                <a:srgbClr val="000000"/>
              </a:solidFill>
              <a:latin typeface="Lora"/>
              <a:ea typeface="Lora"/>
              <a:cs typeface="Lora"/>
              <a:sym typeface="Lora"/>
            </a:endParaRP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Lora"/>
              <a:ea typeface="Lora"/>
              <a:cs typeface="Lora"/>
              <a:sym typeface="Lora"/>
            </a:endParaRPr>
          </a:p>
        </p:txBody>
      </p:sp>
      <p:sp>
        <p:nvSpPr>
          <p:cNvPr id="431" name="Google Shape;431;p46"/>
          <p:cNvSpPr/>
          <p:nvPr/>
        </p:nvSpPr>
        <p:spPr>
          <a:xfrm>
            <a:off x="6966226" y="1623870"/>
            <a:ext cx="1453500" cy="1453500"/>
          </a:xfrm>
          <a:prstGeom prst="ellipse">
            <a:avLst/>
          </a:prstGeom>
          <a:noFill/>
          <a:ln w="114300" cap="flat" cmpd="sng">
            <a:solidFill>
              <a:srgbClr val="FFCD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b="1">
                <a:latin typeface="Lora"/>
                <a:ea typeface="Lora"/>
                <a:cs typeface="Lora"/>
                <a:sym typeface="Lora"/>
              </a:rPr>
              <a:t>Debrief</a:t>
            </a:r>
            <a:endParaRPr sz="1400" b="1" i="0" u="none" strike="noStrike" cap="none">
              <a:solidFill>
                <a:srgbClr val="000000"/>
              </a:solidFill>
              <a:latin typeface="Lora"/>
              <a:ea typeface="Lora"/>
              <a:cs typeface="Lora"/>
              <a:sym typeface="Lora"/>
            </a:endParaRPr>
          </a:p>
        </p:txBody>
      </p:sp>
      <p:sp>
        <p:nvSpPr>
          <p:cNvPr id="432" name="Google Shape;432;p46"/>
          <p:cNvSpPr/>
          <p:nvPr/>
        </p:nvSpPr>
        <p:spPr>
          <a:xfrm>
            <a:off x="590035" y="3219822"/>
            <a:ext cx="2060400" cy="147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000">
                <a:solidFill>
                  <a:srgbClr val="595959"/>
                </a:solidFill>
                <a:latin typeface="Lato"/>
                <a:ea typeface="Lato"/>
                <a:cs typeface="Lato"/>
                <a:sym typeface="Lato"/>
              </a:rPr>
              <a:t>The user gets informed about the goal of the test, that his participation is voluntary and can be terminated at any time. We remind him/her that we are grading the system, not him/her.</a:t>
            </a:r>
            <a:endParaRPr sz="1000">
              <a:solidFill>
                <a:srgbClr val="595959"/>
              </a:solidFill>
              <a:latin typeface="Lato"/>
              <a:ea typeface="Lato"/>
              <a:cs typeface="Lato"/>
              <a:sym typeface="Lato"/>
            </a:endParaRPr>
          </a:p>
          <a:p>
            <a:pPr marL="0" lvl="0" indent="0" algn="l" rtl="0">
              <a:spcBef>
                <a:spcPts val="0"/>
              </a:spcBef>
              <a:spcAft>
                <a:spcPts val="0"/>
              </a:spcAft>
              <a:buClr>
                <a:schemeClr val="dk1"/>
              </a:buClr>
              <a:buSzPts val="1100"/>
              <a:buFont typeface="Arial"/>
              <a:buNone/>
            </a:pPr>
            <a:r>
              <a:rPr lang="en" sz="1000">
                <a:solidFill>
                  <a:srgbClr val="595959"/>
                </a:solidFill>
                <a:latin typeface="Lato"/>
                <a:ea typeface="Lato"/>
                <a:cs typeface="Lato"/>
                <a:sym typeface="Lato"/>
              </a:rPr>
              <a:t>We also inform that everything will be recorded, so we need our consent form signed and describe the tasks.</a:t>
            </a:r>
            <a:endParaRPr sz="1000"/>
          </a:p>
        </p:txBody>
      </p:sp>
      <p:sp>
        <p:nvSpPr>
          <p:cNvPr id="433" name="Google Shape;433;p46"/>
          <p:cNvSpPr/>
          <p:nvPr/>
        </p:nvSpPr>
        <p:spPr>
          <a:xfrm>
            <a:off x="2615588" y="3239244"/>
            <a:ext cx="2060400" cy="1323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100">
                <a:solidFill>
                  <a:srgbClr val="595959"/>
                </a:solidFill>
                <a:latin typeface="Lato"/>
                <a:ea typeface="Lato"/>
                <a:cs typeface="Lato"/>
                <a:sym typeface="Lato"/>
              </a:rPr>
              <a:t>We focused on:</a:t>
            </a:r>
            <a:endParaRPr sz="1100">
              <a:solidFill>
                <a:srgbClr val="595959"/>
              </a:solidFill>
              <a:latin typeface="Lato"/>
              <a:ea typeface="Lato"/>
              <a:cs typeface="Lato"/>
              <a:sym typeface="Lato"/>
            </a:endParaRPr>
          </a:p>
          <a:p>
            <a:pPr marL="457200" lvl="0" indent="-298450" algn="l" rtl="0">
              <a:spcBef>
                <a:spcPts val="0"/>
              </a:spcBef>
              <a:spcAft>
                <a:spcPts val="0"/>
              </a:spcAft>
              <a:buClr>
                <a:srgbClr val="595959"/>
              </a:buClr>
              <a:buSzPts val="1100"/>
              <a:buFont typeface="Lato"/>
              <a:buChar char="-"/>
            </a:pPr>
            <a:r>
              <a:rPr lang="en" sz="1100">
                <a:solidFill>
                  <a:srgbClr val="595959"/>
                </a:solidFill>
                <a:latin typeface="Lato"/>
                <a:ea typeface="Lato"/>
                <a:cs typeface="Lato"/>
                <a:sym typeface="Lato"/>
              </a:rPr>
              <a:t>common tasks</a:t>
            </a:r>
            <a:endParaRPr sz="1100">
              <a:solidFill>
                <a:srgbClr val="595959"/>
              </a:solidFill>
              <a:latin typeface="Lato"/>
              <a:ea typeface="Lato"/>
              <a:cs typeface="Lato"/>
              <a:sym typeface="Lato"/>
            </a:endParaRPr>
          </a:p>
          <a:p>
            <a:pPr marL="457200" lvl="0" indent="-298450" algn="l" rtl="0">
              <a:spcBef>
                <a:spcPts val="0"/>
              </a:spcBef>
              <a:spcAft>
                <a:spcPts val="0"/>
              </a:spcAft>
              <a:buClr>
                <a:srgbClr val="595959"/>
              </a:buClr>
              <a:buSzPts val="1100"/>
              <a:buFont typeface="Lato"/>
              <a:buChar char="-"/>
            </a:pPr>
            <a:r>
              <a:rPr lang="en" sz="1100">
                <a:solidFill>
                  <a:srgbClr val="595959"/>
                </a:solidFill>
                <a:latin typeface="Lato"/>
                <a:ea typeface="Lato"/>
                <a:cs typeface="Lato"/>
                <a:sym typeface="Lato"/>
              </a:rPr>
              <a:t>multi-tasks</a:t>
            </a:r>
            <a:endParaRPr sz="1100">
              <a:solidFill>
                <a:srgbClr val="595959"/>
              </a:solidFill>
              <a:latin typeface="Lato"/>
              <a:ea typeface="Lato"/>
              <a:cs typeface="Lato"/>
              <a:sym typeface="Lato"/>
            </a:endParaRPr>
          </a:p>
          <a:p>
            <a:pPr marL="0" lvl="0" indent="0" algn="l" rtl="0">
              <a:spcBef>
                <a:spcPts val="0"/>
              </a:spcBef>
              <a:spcAft>
                <a:spcPts val="0"/>
              </a:spcAft>
              <a:buClr>
                <a:schemeClr val="dk1"/>
              </a:buClr>
              <a:buSzPts val="1100"/>
              <a:buFont typeface="Arial"/>
              <a:buNone/>
            </a:pPr>
            <a:r>
              <a:rPr lang="en" sz="1100">
                <a:solidFill>
                  <a:srgbClr val="595959"/>
                </a:solidFill>
                <a:latin typeface="Lato"/>
                <a:ea typeface="Lato"/>
                <a:cs typeface="Lato"/>
                <a:sym typeface="Lato"/>
              </a:rPr>
              <a:t>We start with easy warm-up tasks and steadily graduate the difficulty level</a:t>
            </a:r>
            <a:endParaRPr sz="1000"/>
          </a:p>
          <a:p>
            <a:pPr marL="0" marR="0" lvl="0" indent="0" algn="l" rtl="0">
              <a:lnSpc>
                <a:spcPct val="100000"/>
              </a:lnSpc>
              <a:spcBef>
                <a:spcPts val="0"/>
              </a:spcBef>
              <a:spcAft>
                <a:spcPts val="0"/>
              </a:spcAft>
              <a:buNone/>
            </a:pPr>
            <a:endParaRPr sz="1000" b="0" i="0" u="none" strike="noStrike" cap="none">
              <a:solidFill>
                <a:srgbClr val="000000"/>
              </a:solidFill>
              <a:latin typeface="Arial"/>
              <a:ea typeface="Arial"/>
              <a:cs typeface="Arial"/>
              <a:sym typeface="Arial"/>
            </a:endParaRPr>
          </a:p>
        </p:txBody>
      </p:sp>
      <p:sp>
        <p:nvSpPr>
          <p:cNvPr id="434" name="Google Shape;434;p46"/>
          <p:cNvSpPr/>
          <p:nvPr/>
        </p:nvSpPr>
        <p:spPr>
          <a:xfrm>
            <a:off x="4670079" y="3239244"/>
            <a:ext cx="2060400" cy="40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100">
                <a:solidFill>
                  <a:srgbClr val="595959"/>
                </a:solidFill>
                <a:latin typeface="Lato"/>
                <a:ea typeface="Lato"/>
                <a:cs typeface="Lato"/>
                <a:sym typeface="Lato"/>
              </a:rPr>
              <a:t>The post questionnaire goal is to check the experience and impressions of the user about the system.</a:t>
            </a:r>
            <a:endParaRPr sz="1000" b="0" i="0" u="none" strike="noStrike" cap="none">
              <a:solidFill>
                <a:srgbClr val="000000"/>
              </a:solidFill>
              <a:latin typeface="Arial"/>
              <a:ea typeface="Arial"/>
              <a:cs typeface="Arial"/>
              <a:sym typeface="Arial"/>
            </a:endParaRPr>
          </a:p>
        </p:txBody>
      </p:sp>
      <p:sp>
        <p:nvSpPr>
          <p:cNvPr id="435" name="Google Shape;435;p46"/>
          <p:cNvSpPr/>
          <p:nvPr/>
        </p:nvSpPr>
        <p:spPr>
          <a:xfrm>
            <a:off x="6804248" y="3239244"/>
            <a:ext cx="2060400" cy="554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100">
                <a:solidFill>
                  <a:srgbClr val="595959"/>
                </a:solidFill>
                <a:latin typeface="Lato"/>
                <a:ea typeface="Lato"/>
                <a:cs typeface="Lato"/>
                <a:sym typeface="Lato"/>
              </a:rPr>
              <a:t>Debriefing includes the general talk with the user about his impressions, questioning about the mistakes he/she did (if there are any) and how could those be avoided in the future, and outro script.</a:t>
            </a:r>
            <a:endParaRPr sz="1000" b="0" i="0" u="none" strike="noStrike" cap="none">
              <a:solidFill>
                <a:srgbClr val="000000"/>
              </a:solidFill>
              <a:latin typeface="Arial"/>
              <a:ea typeface="Arial"/>
              <a:cs typeface="Arial"/>
              <a:sym typeface="Arial"/>
            </a:endParaRPr>
          </a:p>
        </p:txBody>
      </p:sp>
      <p:grpSp>
        <p:nvGrpSpPr>
          <p:cNvPr id="436" name="Google Shape;436;p46"/>
          <p:cNvGrpSpPr/>
          <p:nvPr/>
        </p:nvGrpSpPr>
        <p:grpSpPr>
          <a:xfrm>
            <a:off x="842044" y="1017277"/>
            <a:ext cx="363369" cy="221115"/>
            <a:chOff x="3269900" y="3064500"/>
            <a:chExt cx="432325" cy="263075"/>
          </a:xfrm>
        </p:grpSpPr>
        <p:sp>
          <p:nvSpPr>
            <p:cNvPr id="437" name="Google Shape;437;p46"/>
            <p:cNvSpPr/>
            <p:nvPr/>
          </p:nvSpPr>
          <p:spPr>
            <a:xfrm>
              <a:off x="3269900" y="3064500"/>
              <a:ext cx="432325" cy="263075"/>
            </a:xfrm>
            <a:custGeom>
              <a:avLst/>
              <a:gdLst/>
              <a:ahLst/>
              <a:cxnLst/>
              <a:rect l="l" t="t" r="r" b="b"/>
              <a:pathLst>
                <a:path w="17293" h="10523" fill="none" extrusionOk="0">
                  <a:moveTo>
                    <a:pt x="14711" y="7916"/>
                  </a:moveTo>
                  <a:lnTo>
                    <a:pt x="14711" y="7916"/>
                  </a:lnTo>
                  <a:lnTo>
                    <a:pt x="14151" y="8379"/>
                  </a:lnTo>
                  <a:lnTo>
                    <a:pt x="13493" y="8842"/>
                  </a:lnTo>
                  <a:lnTo>
                    <a:pt x="12811" y="9280"/>
                  </a:lnTo>
                  <a:lnTo>
                    <a:pt x="12446" y="9475"/>
                  </a:lnTo>
                  <a:lnTo>
                    <a:pt x="12056" y="9670"/>
                  </a:lnTo>
                  <a:lnTo>
                    <a:pt x="11667" y="9840"/>
                  </a:lnTo>
                  <a:lnTo>
                    <a:pt x="11253" y="10011"/>
                  </a:lnTo>
                  <a:lnTo>
                    <a:pt x="10839" y="10157"/>
                  </a:lnTo>
                  <a:lnTo>
                    <a:pt x="10425" y="10278"/>
                  </a:lnTo>
                  <a:lnTo>
                    <a:pt x="9986" y="10376"/>
                  </a:lnTo>
                  <a:lnTo>
                    <a:pt x="9548" y="10449"/>
                  </a:lnTo>
                  <a:lnTo>
                    <a:pt x="9109" y="10498"/>
                  </a:lnTo>
                  <a:lnTo>
                    <a:pt x="8647" y="10522"/>
                  </a:lnTo>
                  <a:lnTo>
                    <a:pt x="8647" y="10522"/>
                  </a:lnTo>
                  <a:lnTo>
                    <a:pt x="8233" y="10522"/>
                  </a:lnTo>
                  <a:lnTo>
                    <a:pt x="7843" y="10473"/>
                  </a:lnTo>
                  <a:lnTo>
                    <a:pt x="7453" y="10425"/>
                  </a:lnTo>
                  <a:lnTo>
                    <a:pt x="7064" y="10327"/>
                  </a:lnTo>
                  <a:lnTo>
                    <a:pt x="6674" y="10230"/>
                  </a:lnTo>
                  <a:lnTo>
                    <a:pt x="6284" y="10108"/>
                  </a:lnTo>
                  <a:lnTo>
                    <a:pt x="5919" y="9986"/>
                  </a:lnTo>
                  <a:lnTo>
                    <a:pt x="5554" y="9840"/>
                  </a:lnTo>
                  <a:lnTo>
                    <a:pt x="5213" y="9670"/>
                  </a:lnTo>
                  <a:lnTo>
                    <a:pt x="4847" y="9499"/>
                  </a:lnTo>
                  <a:lnTo>
                    <a:pt x="4190" y="9109"/>
                  </a:lnTo>
                  <a:lnTo>
                    <a:pt x="3557" y="8695"/>
                  </a:lnTo>
                  <a:lnTo>
                    <a:pt x="2972" y="8233"/>
                  </a:lnTo>
                  <a:lnTo>
                    <a:pt x="2412" y="7794"/>
                  </a:lnTo>
                  <a:lnTo>
                    <a:pt x="1900" y="7332"/>
                  </a:lnTo>
                  <a:lnTo>
                    <a:pt x="1438" y="6893"/>
                  </a:lnTo>
                  <a:lnTo>
                    <a:pt x="1048" y="6479"/>
                  </a:lnTo>
                  <a:lnTo>
                    <a:pt x="390" y="5748"/>
                  </a:lnTo>
                  <a:lnTo>
                    <a:pt x="1" y="5261"/>
                  </a:lnTo>
                  <a:lnTo>
                    <a:pt x="1" y="5261"/>
                  </a:lnTo>
                  <a:lnTo>
                    <a:pt x="390" y="4774"/>
                  </a:lnTo>
                  <a:lnTo>
                    <a:pt x="1048" y="4044"/>
                  </a:lnTo>
                  <a:lnTo>
                    <a:pt x="1438" y="3630"/>
                  </a:lnTo>
                  <a:lnTo>
                    <a:pt x="1900" y="3191"/>
                  </a:lnTo>
                  <a:lnTo>
                    <a:pt x="2412" y="2728"/>
                  </a:lnTo>
                  <a:lnTo>
                    <a:pt x="2972" y="2290"/>
                  </a:lnTo>
                  <a:lnTo>
                    <a:pt x="3557" y="1852"/>
                  </a:lnTo>
                  <a:lnTo>
                    <a:pt x="4190" y="1413"/>
                  </a:lnTo>
                  <a:lnTo>
                    <a:pt x="4847" y="1024"/>
                  </a:lnTo>
                  <a:lnTo>
                    <a:pt x="5213" y="853"/>
                  </a:lnTo>
                  <a:lnTo>
                    <a:pt x="5554" y="683"/>
                  </a:lnTo>
                  <a:lnTo>
                    <a:pt x="5919" y="536"/>
                  </a:lnTo>
                  <a:lnTo>
                    <a:pt x="6284" y="415"/>
                  </a:lnTo>
                  <a:lnTo>
                    <a:pt x="6674" y="293"/>
                  </a:lnTo>
                  <a:lnTo>
                    <a:pt x="7064" y="196"/>
                  </a:lnTo>
                  <a:lnTo>
                    <a:pt x="7453" y="98"/>
                  </a:lnTo>
                  <a:lnTo>
                    <a:pt x="7843" y="49"/>
                  </a:lnTo>
                  <a:lnTo>
                    <a:pt x="8233" y="1"/>
                  </a:lnTo>
                  <a:lnTo>
                    <a:pt x="8647" y="1"/>
                  </a:lnTo>
                  <a:lnTo>
                    <a:pt x="8647" y="1"/>
                  </a:lnTo>
                  <a:lnTo>
                    <a:pt x="9109" y="25"/>
                  </a:lnTo>
                  <a:lnTo>
                    <a:pt x="9548" y="74"/>
                  </a:lnTo>
                  <a:lnTo>
                    <a:pt x="9986" y="147"/>
                  </a:lnTo>
                  <a:lnTo>
                    <a:pt x="10425" y="244"/>
                  </a:lnTo>
                  <a:lnTo>
                    <a:pt x="10839" y="366"/>
                  </a:lnTo>
                  <a:lnTo>
                    <a:pt x="11253" y="512"/>
                  </a:lnTo>
                  <a:lnTo>
                    <a:pt x="11667" y="683"/>
                  </a:lnTo>
                  <a:lnTo>
                    <a:pt x="12056" y="853"/>
                  </a:lnTo>
                  <a:lnTo>
                    <a:pt x="12446" y="1048"/>
                  </a:lnTo>
                  <a:lnTo>
                    <a:pt x="12811" y="1243"/>
                  </a:lnTo>
                  <a:lnTo>
                    <a:pt x="13493" y="1681"/>
                  </a:lnTo>
                  <a:lnTo>
                    <a:pt x="14151" y="2144"/>
                  </a:lnTo>
                  <a:lnTo>
                    <a:pt x="14711" y="2607"/>
                  </a:lnTo>
                  <a:lnTo>
                    <a:pt x="14711" y="2607"/>
                  </a:lnTo>
                  <a:lnTo>
                    <a:pt x="15198" y="3021"/>
                  </a:lnTo>
                  <a:lnTo>
                    <a:pt x="15637" y="3435"/>
                  </a:lnTo>
                  <a:lnTo>
                    <a:pt x="16026" y="3824"/>
                  </a:lnTo>
                  <a:lnTo>
                    <a:pt x="16367" y="4190"/>
                  </a:lnTo>
                  <a:lnTo>
                    <a:pt x="16927" y="4823"/>
                  </a:lnTo>
                  <a:lnTo>
                    <a:pt x="17293" y="5261"/>
                  </a:lnTo>
                  <a:lnTo>
                    <a:pt x="17293" y="5261"/>
                  </a:lnTo>
                  <a:lnTo>
                    <a:pt x="16927" y="5700"/>
                  </a:lnTo>
                  <a:lnTo>
                    <a:pt x="16367" y="6333"/>
                  </a:lnTo>
                  <a:lnTo>
                    <a:pt x="16026" y="6698"/>
                  </a:lnTo>
                  <a:lnTo>
                    <a:pt x="15637" y="7088"/>
                  </a:lnTo>
                  <a:lnTo>
                    <a:pt x="15198" y="7502"/>
                  </a:lnTo>
                  <a:lnTo>
                    <a:pt x="14711" y="7916"/>
                  </a:lnTo>
                  <a:lnTo>
                    <a:pt x="14711" y="7916"/>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46"/>
            <p:cNvSpPr/>
            <p:nvPr/>
          </p:nvSpPr>
          <p:spPr>
            <a:xfrm>
              <a:off x="3445875" y="3155825"/>
              <a:ext cx="80400" cy="80400"/>
            </a:xfrm>
            <a:custGeom>
              <a:avLst/>
              <a:gdLst/>
              <a:ahLst/>
              <a:cxnLst/>
              <a:rect l="l" t="t" r="r" b="b"/>
              <a:pathLst>
                <a:path w="3216" h="3216" fill="none" extrusionOk="0">
                  <a:moveTo>
                    <a:pt x="0" y="1608"/>
                  </a:moveTo>
                  <a:lnTo>
                    <a:pt x="0" y="1608"/>
                  </a:lnTo>
                  <a:lnTo>
                    <a:pt x="25" y="1438"/>
                  </a:lnTo>
                  <a:lnTo>
                    <a:pt x="49" y="1292"/>
                  </a:lnTo>
                  <a:lnTo>
                    <a:pt x="73" y="1121"/>
                  </a:lnTo>
                  <a:lnTo>
                    <a:pt x="146" y="975"/>
                  </a:lnTo>
                  <a:lnTo>
                    <a:pt x="195" y="853"/>
                  </a:lnTo>
                  <a:lnTo>
                    <a:pt x="293" y="707"/>
                  </a:lnTo>
                  <a:lnTo>
                    <a:pt x="366" y="585"/>
                  </a:lnTo>
                  <a:lnTo>
                    <a:pt x="487" y="488"/>
                  </a:lnTo>
                  <a:lnTo>
                    <a:pt x="585" y="366"/>
                  </a:lnTo>
                  <a:lnTo>
                    <a:pt x="707" y="293"/>
                  </a:lnTo>
                  <a:lnTo>
                    <a:pt x="853" y="196"/>
                  </a:lnTo>
                  <a:lnTo>
                    <a:pt x="974" y="147"/>
                  </a:lnTo>
                  <a:lnTo>
                    <a:pt x="1121" y="74"/>
                  </a:lnTo>
                  <a:lnTo>
                    <a:pt x="1291" y="50"/>
                  </a:lnTo>
                  <a:lnTo>
                    <a:pt x="1437" y="25"/>
                  </a:lnTo>
                  <a:lnTo>
                    <a:pt x="1608" y="1"/>
                  </a:lnTo>
                  <a:lnTo>
                    <a:pt x="1608" y="1"/>
                  </a:lnTo>
                  <a:lnTo>
                    <a:pt x="1778" y="25"/>
                  </a:lnTo>
                  <a:lnTo>
                    <a:pt x="1924" y="50"/>
                  </a:lnTo>
                  <a:lnTo>
                    <a:pt x="2095" y="74"/>
                  </a:lnTo>
                  <a:lnTo>
                    <a:pt x="2241" y="147"/>
                  </a:lnTo>
                  <a:lnTo>
                    <a:pt x="2363" y="196"/>
                  </a:lnTo>
                  <a:lnTo>
                    <a:pt x="2509" y="293"/>
                  </a:lnTo>
                  <a:lnTo>
                    <a:pt x="2631" y="366"/>
                  </a:lnTo>
                  <a:lnTo>
                    <a:pt x="2728" y="488"/>
                  </a:lnTo>
                  <a:lnTo>
                    <a:pt x="2850" y="585"/>
                  </a:lnTo>
                  <a:lnTo>
                    <a:pt x="2923" y="707"/>
                  </a:lnTo>
                  <a:lnTo>
                    <a:pt x="3020" y="853"/>
                  </a:lnTo>
                  <a:lnTo>
                    <a:pt x="3069" y="975"/>
                  </a:lnTo>
                  <a:lnTo>
                    <a:pt x="3142" y="1121"/>
                  </a:lnTo>
                  <a:lnTo>
                    <a:pt x="3166" y="1292"/>
                  </a:lnTo>
                  <a:lnTo>
                    <a:pt x="3191" y="1438"/>
                  </a:lnTo>
                  <a:lnTo>
                    <a:pt x="3215" y="1608"/>
                  </a:lnTo>
                  <a:lnTo>
                    <a:pt x="3215" y="1608"/>
                  </a:lnTo>
                  <a:lnTo>
                    <a:pt x="3191" y="1779"/>
                  </a:lnTo>
                  <a:lnTo>
                    <a:pt x="3166" y="1925"/>
                  </a:lnTo>
                  <a:lnTo>
                    <a:pt x="3142" y="2095"/>
                  </a:lnTo>
                  <a:lnTo>
                    <a:pt x="3069" y="2242"/>
                  </a:lnTo>
                  <a:lnTo>
                    <a:pt x="3020" y="2363"/>
                  </a:lnTo>
                  <a:lnTo>
                    <a:pt x="2923" y="2509"/>
                  </a:lnTo>
                  <a:lnTo>
                    <a:pt x="2850" y="2631"/>
                  </a:lnTo>
                  <a:lnTo>
                    <a:pt x="2728" y="2729"/>
                  </a:lnTo>
                  <a:lnTo>
                    <a:pt x="2631" y="2850"/>
                  </a:lnTo>
                  <a:lnTo>
                    <a:pt x="2509" y="2924"/>
                  </a:lnTo>
                  <a:lnTo>
                    <a:pt x="2363" y="3021"/>
                  </a:lnTo>
                  <a:lnTo>
                    <a:pt x="2241" y="3070"/>
                  </a:lnTo>
                  <a:lnTo>
                    <a:pt x="2095" y="3143"/>
                  </a:lnTo>
                  <a:lnTo>
                    <a:pt x="1924" y="3167"/>
                  </a:lnTo>
                  <a:lnTo>
                    <a:pt x="1778" y="3191"/>
                  </a:lnTo>
                  <a:lnTo>
                    <a:pt x="1608" y="3216"/>
                  </a:lnTo>
                  <a:lnTo>
                    <a:pt x="1608" y="3216"/>
                  </a:lnTo>
                  <a:lnTo>
                    <a:pt x="1437" y="3191"/>
                  </a:lnTo>
                  <a:lnTo>
                    <a:pt x="1291" y="3167"/>
                  </a:lnTo>
                  <a:lnTo>
                    <a:pt x="1121" y="3143"/>
                  </a:lnTo>
                  <a:lnTo>
                    <a:pt x="974" y="3070"/>
                  </a:lnTo>
                  <a:lnTo>
                    <a:pt x="853" y="3021"/>
                  </a:lnTo>
                  <a:lnTo>
                    <a:pt x="707" y="2924"/>
                  </a:lnTo>
                  <a:lnTo>
                    <a:pt x="585" y="2850"/>
                  </a:lnTo>
                  <a:lnTo>
                    <a:pt x="487" y="2729"/>
                  </a:lnTo>
                  <a:lnTo>
                    <a:pt x="366" y="2631"/>
                  </a:lnTo>
                  <a:lnTo>
                    <a:pt x="293" y="2509"/>
                  </a:lnTo>
                  <a:lnTo>
                    <a:pt x="195" y="2363"/>
                  </a:lnTo>
                  <a:lnTo>
                    <a:pt x="146" y="2242"/>
                  </a:lnTo>
                  <a:lnTo>
                    <a:pt x="73" y="2095"/>
                  </a:lnTo>
                  <a:lnTo>
                    <a:pt x="49" y="1925"/>
                  </a:lnTo>
                  <a:lnTo>
                    <a:pt x="25" y="1779"/>
                  </a:lnTo>
                  <a:lnTo>
                    <a:pt x="0" y="1608"/>
                  </a:lnTo>
                  <a:lnTo>
                    <a:pt x="0" y="1608"/>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46"/>
            <p:cNvSpPr/>
            <p:nvPr/>
          </p:nvSpPr>
          <p:spPr>
            <a:xfrm>
              <a:off x="3381925" y="3091900"/>
              <a:ext cx="208275" cy="208275"/>
            </a:xfrm>
            <a:custGeom>
              <a:avLst/>
              <a:gdLst/>
              <a:ahLst/>
              <a:cxnLst/>
              <a:rect l="l" t="t" r="r" b="b"/>
              <a:pathLst>
                <a:path w="8331" h="8331" fill="none" extrusionOk="0">
                  <a:moveTo>
                    <a:pt x="1" y="4165"/>
                  </a:moveTo>
                  <a:lnTo>
                    <a:pt x="1" y="4165"/>
                  </a:lnTo>
                  <a:lnTo>
                    <a:pt x="25" y="3751"/>
                  </a:lnTo>
                  <a:lnTo>
                    <a:pt x="74" y="3337"/>
                  </a:lnTo>
                  <a:lnTo>
                    <a:pt x="196" y="2923"/>
                  </a:lnTo>
                  <a:lnTo>
                    <a:pt x="318" y="2534"/>
                  </a:lnTo>
                  <a:lnTo>
                    <a:pt x="512" y="2168"/>
                  </a:lnTo>
                  <a:lnTo>
                    <a:pt x="707" y="1827"/>
                  </a:lnTo>
                  <a:lnTo>
                    <a:pt x="951" y="1511"/>
                  </a:lnTo>
                  <a:lnTo>
                    <a:pt x="1219" y="1218"/>
                  </a:lnTo>
                  <a:lnTo>
                    <a:pt x="1511" y="951"/>
                  </a:lnTo>
                  <a:lnTo>
                    <a:pt x="1828" y="707"/>
                  </a:lnTo>
                  <a:lnTo>
                    <a:pt x="2169" y="512"/>
                  </a:lnTo>
                  <a:lnTo>
                    <a:pt x="2534" y="317"/>
                  </a:lnTo>
                  <a:lnTo>
                    <a:pt x="2924" y="195"/>
                  </a:lnTo>
                  <a:lnTo>
                    <a:pt x="3313" y="74"/>
                  </a:lnTo>
                  <a:lnTo>
                    <a:pt x="3727" y="25"/>
                  </a:lnTo>
                  <a:lnTo>
                    <a:pt x="4166" y="1"/>
                  </a:lnTo>
                  <a:lnTo>
                    <a:pt x="4166" y="1"/>
                  </a:lnTo>
                  <a:lnTo>
                    <a:pt x="4580" y="25"/>
                  </a:lnTo>
                  <a:lnTo>
                    <a:pt x="4994" y="74"/>
                  </a:lnTo>
                  <a:lnTo>
                    <a:pt x="5408" y="195"/>
                  </a:lnTo>
                  <a:lnTo>
                    <a:pt x="5797" y="317"/>
                  </a:lnTo>
                  <a:lnTo>
                    <a:pt x="6163" y="512"/>
                  </a:lnTo>
                  <a:lnTo>
                    <a:pt x="6504" y="707"/>
                  </a:lnTo>
                  <a:lnTo>
                    <a:pt x="6820" y="951"/>
                  </a:lnTo>
                  <a:lnTo>
                    <a:pt x="7113" y="1218"/>
                  </a:lnTo>
                  <a:lnTo>
                    <a:pt x="7381" y="1511"/>
                  </a:lnTo>
                  <a:lnTo>
                    <a:pt x="7624" y="1827"/>
                  </a:lnTo>
                  <a:lnTo>
                    <a:pt x="7819" y="2168"/>
                  </a:lnTo>
                  <a:lnTo>
                    <a:pt x="8014" y="2534"/>
                  </a:lnTo>
                  <a:lnTo>
                    <a:pt x="8136" y="2923"/>
                  </a:lnTo>
                  <a:lnTo>
                    <a:pt x="8257" y="3337"/>
                  </a:lnTo>
                  <a:lnTo>
                    <a:pt x="8306" y="3751"/>
                  </a:lnTo>
                  <a:lnTo>
                    <a:pt x="8330" y="4165"/>
                  </a:lnTo>
                  <a:lnTo>
                    <a:pt x="8330" y="4165"/>
                  </a:lnTo>
                  <a:lnTo>
                    <a:pt x="8306" y="4579"/>
                  </a:lnTo>
                  <a:lnTo>
                    <a:pt x="8257" y="4993"/>
                  </a:lnTo>
                  <a:lnTo>
                    <a:pt x="8136" y="5407"/>
                  </a:lnTo>
                  <a:lnTo>
                    <a:pt x="8014" y="5797"/>
                  </a:lnTo>
                  <a:lnTo>
                    <a:pt x="7819" y="6162"/>
                  </a:lnTo>
                  <a:lnTo>
                    <a:pt x="7624" y="6503"/>
                  </a:lnTo>
                  <a:lnTo>
                    <a:pt x="7381" y="6820"/>
                  </a:lnTo>
                  <a:lnTo>
                    <a:pt x="7113" y="7112"/>
                  </a:lnTo>
                  <a:lnTo>
                    <a:pt x="6820" y="7380"/>
                  </a:lnTo>
                  <a:lnTo>
                    <a:pt x="6504" y="7624"/>
                  </a:lnTo>
                  <a:lnTo>
                    <a:pt x="6163" y="7819"/>
                  </a:lnTo>
                  <a:lnTo>
                    <a:pt x="5797" y="8013"/>
                  </a:lnTo>
                  <a:lnTo>
                    <a:pt x="5408" y="8135"/>
                  </a:lnTo>
                  <a:lnTo>
                    <a:pt x="4994" y="8257"/>
                  </a:lnTo>
                  <a:lnTo>
                    <a:pt x="4580" y="8306"/>
                  </a:lnTo>
                  <a:lnTo>
                    <a:pt x="4166" y="8330"/>
                  </a:lnTo>
                  <a:lnTo>
                    <a:pt x="4166" y="8330"/>
                  </a:lnTo>
                  <a:lnTo>
                    <a:pt x="3727" y="8306"/>
                  </a:lnTo>
                  <a:lnTo>
                    <a:pt x="3313" y="8257"/>
                  </a:lnTo>
                  <a:lnTo>
                    <a:pt x="2924" y="8135"/>
                  </a:lnTo>
                  <a:lnTo>
                    <a:pt x="2534" y="8013"/>
                  </a:lnTo>
                  <a:lnTo>
                    <a:pt x="2169" y="7819"/>
                  </a:lnTo>
                  <a:lnTo>
                    <a:pt x="1828" y="7624"/>
                  </a:lnTo>
                  <a:lnTo>
                    <a:pt x="1511" y="7380"/>
                  </a:lnTo>
                  <a:lnTo>
                    <a:pt x="1219" y="7112"/>
                  </a:lnTo>
                  <a:lnTo>
                    <a:pt x="951" y="6820"/>
                  </a:lnTo>
                  <a:lnTo>
                    <a:pt x="707" y="6503"/>
                  </a:lnTo>
                  <a:lnTo>
                    <a:pt x="512" y="6162"/>
                  </a:lnTo>
                  <a:lnTo>
                    <a:pt x="318" y="5797"/>
                  </a:lnTo>
                  <a:lnTo>
                    <a:pt x="196" y="5407"/>
                  </a:lnTo>
                  <a:lnTo>
                    <a:pt x="74" y="4993"/>
                  </a:lnTo>
                  <a:lnTo>
                    <a:pt x="25" y="4579"/>
                  </a:lnTo>
                  <a:lnTo>
                    <a:pt x="1" y="4165"/>
                  </a:lnTo>
                  <a:lnTo>
                    <a:pt x="1" y="4165"/>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7"/>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Taks rules</a:t>
            </a:r>
            <a:endParaRPr sz="2400" b="1" i="0" u="none" strike="noStrike" cap="none">
              <a:solidFill>
                <a:srgbClr val="000000"/>
              </a:solidFill>
              <a:highlight>
                <a:srgbClr val="FFCD00"/>
              </a:highlight>
              <a:latin typeface="Lora"/>
              <a:ea typeface="Lora"/>
              <a:cs typeface="Lora"/>
              <a:sym typeface="Lora"/>
            </a:endParaRPr>
          </a:p>
        </p:txBody>
      </p:sp>
      <p:cxnSp>
        <p:nvCxnSpPr>
          <p:cNvPr id="445" name="Google Shape;445;p47"/>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46" name="Google Shape;446;p47"/>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36</a:t>
            </a:fld>
            <a:endParaRPr sz="1000" b="0" i="0" u="none" strike="noStrike" cap="none">
              <a:solidFill>
                <a:srgbClr val="1D1D1B"/>
              </a:solidFill>
              <a:latin typeface="Lora"/>
              <a:ea typeface="Lora"/>
              <a:cs typeface="Lora"/>
              <a:sym typeface="Lora"/>
            </a:endParaRPr>
          </a:p>
        </p:txBody>
      </p:sp>
      <p:sp>
        <p:nvSpPr>
          <p:cNvPr id="447" name="Google Shape;447;p47"/>
          <p:cNvSpPr/>
          <p:nvPr/>
        </p:nvSpPr>
        <p:spPr>
          <a:xfrm>
            <a:off x="395525" y="1132816"/>
            <a:ext cx="8208900" cy="1319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To evaluate the success rate we used 3-level scale: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Complete success (with and without assistance)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Partial success (with and without assistance)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Complete failure (with and without assistance)</a:t>
            </a:r>
            <a:endParaRPr>
              <a:solidFill>
                <a:schemeClr val="dk1"/>
              </a:solidFill>
              <a:latin typeface="Lato"/>
              <a:ea typeface="Lato"/>
              <a:cs typeface="Lato"/>
              <a:sym typeface="Lat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a:solidFill>
                  <a:schemeClr val="dk1"/>
                </a:solidFill>
                <a:latin typeface="Lato"/>
                <a:ea typeface="Lato"/>
                <a:cs typeface="Lato"/>
                <a:sym typeface="Lato"/>
              </a:rPr>
              <a:t>Additionally, if the user is not able to complete the task by himself/herself, we provide small assistance and note the number of hints we had to give.</a:t>
            </a:r>
            <a:endParaRPr/>
          </a:p>
        </p:txBody>
      </p:sp>
      <p:pic>
        <p:nvPicPr>
          <p:cNvPr id="448" name="Google Shape;448;p47"/>
          <p:cNvPicPr preferRelativeResize="0"/>
          <p:nvPr/>
        </p:nvPicPr>
        <p:blipFill>
          <a:blip r:embed="rId3">
            <a:alphaModFix/>
          </a:blip>
          <a:stretch>
            <a:fillRect/>
          </a:stretch>
        </p:blipFill>
        <p:spPr>
          <a:xfrm>
            <a:off x="3075250" y="3156573"/>
            <a:ext cx="2849451" cy="1918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8"/>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Layout</a:t>
            </a:r>
            <a:endParaRPr sz="2400" b="1" i="0" u="none" strike="noStrike" cap="none">
              <a:solidFill>
                <a:srgbClr val="000000"/>
              </a:solidFill>
              <a:highlight>
                <a:srgbClr val="FFCD00"/>
              </a:highlight>
              <a:latin typeface="Lora"/>
              <a:ea typeface="Lora"/>
              <a:cs typeface="Lora"/>
              <a:sym typeface="Lora"/>
            </a:endParaRPr>
          </a:p>
        </p:txBody>
      </p:sp>
      <p:cxnSp>
        <p:nvCxnSpPr>
          <p:cNvPr id="454" name="Google Shape;454;p48"/>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55" name="Google Shape;455;p48"/>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37</a:t>
            </a:fld>
            <a:endParaRPr sz="1000" b="0" i="0" u="none" strike="noStrike" cap="none">
              <a:solidFill>
                <a:srgbClr val="1D1D1B"/>
              </a:solidFill>
              <a:latin typeface="Lora"/>
              <a:ea typeface="Lora"/>
              <a:cs typeface="Lora"/>
              <a:sym typeface="Lora"/>
            </a:endParaRPr>
          </a:p>
        </p:txBody>
      </p:sp>
      <p:sp>
        <p:nvSpPr>
          <p:cNvPr id="456" name="Google Shape;456;p48"/>
          <p:cNvSpPr txBox="1"/>
          <p:nvPr/>
        </p:nvSpPr>
        <p:spPr>
          <a:xfrm>
            <a:off x="820625" y="1963625"/>
            <a:ext cx="4044900" cy="196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1 table</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4 chairs:</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1 chairs for test participant</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1 chair for note taker and/or camera operator</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1 chair for moderator and/or technical support </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1 chair for observer</a:t>
            </a:r>
            <a:endParaRPr sz="1200">
              <a:solidFill>
                <a:srgbClr val="1A1A1A"/>
              </a:solidFill>
              <a:latin typeface="Lato"/>
              <a:ea typeface="Lato"/>
              <a:cs typeface="Lato"/>
              <a:sym typeface="Lato"/>
            </a:endParaRPr>
          </a:p>
        </p:txBody>
      </p:sp>
      <p:sp>
        <p:nvSpPr>
          <p:cNvPr id="457" name="Google Shape;457;p48"/>
          <p:cNvSpPr txBox="1"/>
          <p:nvPr/>
        </p:nvSpPr>
        <p:spPr>
          <a:xfrm>
            <a:off x="729450" y="1430275"/>
            <a:ext cx="1917000" cy="38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Montserrat"/>
                <a:ea typeface="Montserrat"/>
                <a:cs typeface="Montserrat"/>
                <a:sym typeface="Montserrat"/>
              </a:rPr>
              <a:t>Layout</a:t>
            </a:r>
            <a:endParaRPr b="1">
              <a:latin typeface="Montserrat"/>
              <a:ea typeface="Montserrat"/>
              <a:cs typeface="Montserrat"/>
              <a:sym typeface="Montserrat"/>
            </a:endParaRPr>
          </a:p>
        </p:txBody>
      </p:sp>
      <p:sp>
        <p:nvSpPr>
          <p:cNvPr id="458" name="Google Shape;458;p48"/>
          <p:cNvSpPr txBox="1"/>
          <p:nvPr/>
        </p:nvSpPr>
        <p:spPr>
          <a:xfrm>
            <a:off x="5194800" y="1306700"/>
            <a:ext cx="2044200" cy="38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Montserrat"/>
                <a:ea typeface="Montserrat"/>
                <a:cs typeface="Montserrat"/>
                <a:sym typeface="Montserrat"/>
              </a:rPr>
              <a:t>Equipment</a:t>
            </a:r>
            <a:endParaRPr b="1">
              <a:latin typeface="Montserrat"/>
              <a:ea typeface="Montserrat"/>
              <a:cs typeface="Montserrat"/>
              <a:sym typeface="Montserrat"/>
            </a:endParaRPr>
          </a:p>
        </p:txBody>
      </p:sp>
      <p:sp>
        <p:nvSpPr>
          <p:cNvPr id="459" name="Google Shape;459;p48"/>
          <p:cNvSpPr txBox="1"/>
          <p:nvPr/>
        </p:nvSpPr>
        <p:spPr>
          <a:xfrm>
            <a:off x="5194800" y="1815475"/>
            <a:ext cx="2768700" cy="2829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Laptop (Windows OS)</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Pen</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Notes</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Wifi/ Internet Connection</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r>
              <a:rPr lang="en" sz="1200">
                <a:solidFill>
                  <a:srgbClr val="1A1A1A"/>
                </a:solidFill>
                <a:latin typeface="Lato"/>
                <a:ea typeface="Lato"/>
                <a:cs typeface="Lato"/>
                <a:sym typeface="Lato"/>
              </a:rPr>
              <a:t>Recorder</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Computer Screen Recorder</a:t>
            </a:r>
            <a:endParaRPr sz="1200">
              <a:solidFill>
                <a:srgbClr val="1A1A1A"/>
              </a:solidFill>
              <a:latin typeface="Lato"/>
              <a:ea typeface="Lato"/>
              <a:cs typeface="Lato"/>
              <a:sym typeface="Lato"/>
            </a:endParaRPr>
          </a:p>
          <a:p>
            <a:pPr marL="457200" lvl="0" indent="-304800" algn="l" rtl="0">
              <a:lnSpc>
                <a:spcPct val="115000"/>
              </a:lnSpc>
              <a:spcBef>
                <a:spcPts val="0"/>
              </a:spcBef>
              <a:spcAft>
                <a:spcPts val="0"/>
              </a:spcAft>
              <a:buClr>
                <a:srgbClr val="1A1A1A"/>
              </a:buClr>
              <a:buSzPts val="1200"/>
              <a:buFont typeface="Lato"/>
              <a:buChar char="●"/>
            </a:pPr>
            <a:r>
              <a:rPr lang="en" sz="1200">
                <a:solidFill>
                  <a:srgbClr val="1A1A1A"/>
                </a:solidFill>
                <a:latin typeface="Lato"/>
                <a:ea typeface="Lato"/>
                <a:cs typeface="Lato"/>
                <a:sym typeface="Lato"/>
              </a:rPr>
              <a:t>Video Recorder</a:t>
            </a:r>
            <a:endParaRPr sz="1200">
              <a:solidFill>
                <a:srgbClr val="1A1A1A"/>
              </a:solidFill>
              <a:latin typeface="Lato"/>
              <a:ea typeface="Lato"/>
              <a:cs typeface="Lato"/>
              <a:sym typeface="Lato"/>
            </a:endParaRPr>
          </a:p>
          <a:p>
            <a:pPr marL="0" lvl="0" indent="0" algn="l" rtl="0">
              <a:lnSpc>
                <a:spcPct val="115000"/>
              </a:lnSpc>
              <a:spcBef>
                <a:spcPts val="0"/>
              </a:spcBef>
              <a:spcAft>
                <a:spcPts val="0"/>
              </a:spcAft>
              <a:buNone/>
            </a:pPr>
            <a:endParaRPr sz="1200">
              <a:solidFill>
                <a:srgbClr val="1A1A1A"/>
              </a:solidFill>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9"/>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Roles</a:t>
            </a:r>
            <a:endParaRPr sz="2400" b="1" i="0" u="none" strike="noStrike" cap="none">
              <a:solidFill>
                <a:srgbClr val="000000"/>
              </a:solidFill>
              <a:highlight>
                <a:srgbClr val="FFCD00"/>
              </a:highlight>
              <a:latin typeface="Lora"/>
              <a:ea typeface="Lora"/>
              <a:cs typeface="Lora"/>
              <a:sym typeface="Lora"/>
            </a:endParaRPr>
          </a:p>
        </p:txBody>
      </p:sp>
      <p:cxnSp>
        <p:nvCxnSpPr>
          <p:cNvPr id="465" name="Google Shape;465;p49"/>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66" name="Google Shape;466;p49"/>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38</a:t>
            </a:fld>
            <a:endParaRPr sz="1000" b="0" i="0" u="none" strike="noStrike" cap="none">
              <a:solidFill>
                <a:srgbClr val="1D1D1B"/>
              </a:solidFill>
              <a:latin typeface="Lora"/>
              <a:ea typeface="Lora"/>
              <a:cs typeface="Lora"/>
              <a:sym typeface="Lora"/>
            </a:endParaRPr>
          </a:p>
        </p:txBody>
      </p:sp>
      <p:sp>
        <p:nvSpPr>
          <p:cNvPr id="467" name="Google Shape;467;p49"/>
          <p:cNvSpPr txBox="1"/>
          <p:nvPr/>
        </p:nvSpPr>
        <p:spPr>
          <a:xfrm>
            <a:off x="783625" y="1082500"/>
            <a:ext cx="7971600" cy="346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latin typeface="Raleway"/>
                <a:ea typeface="Raleway"/>
                <a:cs typeface="Raleway"/>
                <a:sym typeface="Raleway"/>
              </a:rPr>
              <a:t>Moderator :</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Guide the test participant through the tasks</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Read the scripts</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Give hints</a:t>
            </a:r>
            <a:endParaRPr sz="1200">
              <a:latin typeface="Raleway"/>
              <a:ea typeface="Raleway"/>
              <a:cs typeface="Raleway"/>
              <a:sym typeface="Raleway"/>
            </a:endParaRPr>
          </a:p>
          <a:p>
            <a:pPr marL="0" lvl="0" indent="0" algn="l" rtl="0">
              <a:lnSpc>
                <a:spcPct val="115000"/>
              </a:lnSpc>
              <a:spcBef>
                <a:spcPts val="0"/>
              </a:spcBef>
              <a:spcAft>
                <a:spcPts val="0"/>
              </a:spcAft>
              <a:buNone/>
            </a:pPr>
            <a:endParaRPr sz="1200">
              <a:latin typeface="Raleway"/>
              <a:ea typeface="Raleway"/>
              <a:cs typeface="Raleway"/>
              <a:sym typeface="Raleway"/>
            </a:endParaRPr>
          </a:p>
          <a:p>
            <a:pPr marL="0" lvl="0" indent="0" algn="l" rtl="0">
              <a:lnSpc>
                <a:spcPct val="115000"/>
              </a:lnSpc>
              <a:spcBef>
                <a:spcPts val="0"/>
              </a:spcBef>
              <a:spcAft>
                <a:spcPts val="0"/>
              </a:spcAft>
              <a:buNone/>
            </a:pPr>
            <a:r>
              <a:rPr lang="en" sz="1200">
                <a:latin typeface="Raleway"/>
                <a:ea typeface="Raleway"/>
                <a:cs typeface="Raleway"/>
                <a:sym typeface="Raleway"/>
              </a:rPr>
              <a:t>User:</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Follow the instruction from the moderator</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Inform about problems faced during test process</a:t>
            </a:r>
            <a:endParaRPr sz="1200">
              <a:latin typeface="Raleway"/>
              <a:ea typeface="Raleway"/>
              <a:cs typeface="Raleway"/>
              <a:sym typeface="Raleway"/>
            </a:endParaRPr>
          </a:p>
          <a:p>
            <a:pPr marL="0" lvl="0" indent="0" algn="l" rtl="0">
              <a:lnSpc>
                <a:spcPct val="115000"/>
              </a:lnSpc>
              <a:spcBef>
                <a:spcPts val="0"/>
              </a:spcBef>
              <a:spcAft>
                <a:spcPts val="0"/>
              </a:spcAft>
              <a:buNone/>
            </a:pPr>
            <a:endParaRPr sz="1200">
              <a:latin typeface="Raleway"/>
              <a:ea typeface="Raleway"/>
              <a:cs typeface="Raleway"/>
              <a:sym typeface="Raleway"/>
            </a:endParaRPr>
          </a:p>
          <a:p>
            <a:pPr marL="0" lvl="0" indent="0" algn="l" rtl="0">
              <a:lnSpc>
                <a:spcPct val="115000"/>
              </a:lnSpc>
              <a:spcBef>
                <a:spcPts val="0"/>
              </a:spcBef>
              <a:spcAft>
                <a:spcPts val="0"/>
              </a:spcAft>
              <a:buNone/>
            </a:pPr>
            <a:r>
              <a:rPr lang="en" sz="1200">
                <a:latin typeface="Raleway"/>
                <a:ea typeface="Raleway"/>
                <a:cs typeface="Raleway"/>
                <a:sym typeface="Raleway"/>
              </a:rPr>
              <a:t>Note taker</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Notes any activity during test process</a:t>
            </a:r>
            <a:endParaRPr sz="1200">
              <a:latin typeface="Raleway"/>
              <a:ea typeface="Raleway"/>
              <a:cs typeface="Raleway"/>
              <a:sym typeface="Raleway"/>
            </a:endParaRPr>
          </a:p>
          <a:p>
            <a:pPr marL="457200" lvl="0" indent="-304800" algn="l" rtl="0">
              <a:lnSpc>
                <a:spcPct val="115000"/>
              </a:lnSpc>
              <a:spcBef>
                <a:spcPts val="0"/>
              </a:spcBef>
              <a:spcAft>
                <a:spcPts val="0"/>
              </a:spcAft>
              <a:buSzPts val="1200"/>
              <a:buFont typeface="Raleway"/>
              <a:buChar char="●"/>
            </a:pPr>
            <a:r>
              <a:rPr lang="en" sz="1200">
                <a:latin typeface="Raleway"/>
                <a:ea typeface="Raleway"/>
                <a:cs typeface="Raleway"/>
                <a:sym typeface="Raleway"/>
              </a:rPr>
              <a:t>Mark the tasks checklist based on task success criteria</a:t>
            </a:r>
            <a:endParaRPr sz="1200">
              <a:latin typeface="Raleway"/>
              <a:ea typeface="Raleway"/>
              <a:cs typeface="Raleway"/>
              <a:sym typeface="Raleway"/>
            </a:endParaRPr>
          </a:p>
          <a:p>
            <a:pPr marL="0" lvl="0" indent="0" algn="l" rtl="0">
              <a:lnSpc>
                <a:spcPct val="115000"/>
              </a:lnSpc>
              <a:spcBef>
                <a:spcPts val="0"/>
              </a:spcBef>
              <a:spcAft>
                <a:spcPts val="0"/>
              </a:spcAft>
              <a:buNone/>
            </a:pPr>
            <a:endParaRPr sz="1200">
              <a:latin typeface="Raleway"/>
              <a:ea typeface="Raleway"/>
              <a:cs typeface="Raleway"/>
              <a:sym typeface="Raleway"/>
            </a:endParaRPr>
          </a:p>
          <a:p>
            <a:pPr marL="0" lvl="0" indent="0" algn="l" rtl="0">
              <a:lnSpc>
                <a:spcPct val="115000"/>
              </a:lnSpc>
              <a:spcBef>
                <a:spcPts val="0"/>
              </a:spcBef>
              <a:spcAft>
                <a:spcPts val="0"/>
              </a:spcAft>
              <a:buNone/>
            </a:pPr>
            <a:r>
              <a:rPr lang="en" sz="1200">
                <a:latin typeface="Raleway"/>
                <a:ea typeface="Raleway"/>
                <a:cs typeface="Raleway"/>
                <a:sym typeface="Raleway"/>
              </a:rPr>
              <a:t>Observer</a:t>
            </a:r>
            <a:endParaRPr sz="1200">
              <a:latin typeface="Raleway"/>
              <a:ea typeface="Raleway"/>
              <a:cs typeface="Raleway"/>
              <a:sym typeface="Raleway"/>
            </a:endParaRPr>
          </a:p>
          <a:p>
            <a:pPr marL="457200" lvl="0" indent="-304800" algn="l" rtl="0">
              <a:lnSpc>
                <a:spcPct val="115000"/>
              </a:lnSpc>
              <a:spcBef>
                <a:spcPts val="0"/>
              </a:spcBef>
              <a:spcAft>
                <a:spcPts val="0"/>
              </a:spcAft>
              <a:buClr>
                <a:schemeClr val="dk1"/>
              </a:buClr>
              <a:buSzPts val="1200"/>
              <a:buFont typeface="Raleway"/>
              <a:buChar char="●"/>
            </a:pPr>
            <a:r>
              <a:rPr lang="en" sz="1200">
                <a:solidFill>
                  <a:schemeClr val="dk1"/>
                </a:solidFill>
                <a:latin typeface="Raleway"/>
                <a:ea typeface="Raleway"/>
                <a:cs typeface="Raleway"/>
                <a:sym typeface="Raleway"/>
              </a:rPr>
              <a:t>Checks if moderator and note taker didn’t miss anything</a:t>
            </a:r>
            <a:endParaRPr sz="1200">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50"/>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Tasks</a:t>
            </a:r>
            <a:endParaRPr sz="2400" b="1" i="0" u="none" strike="noStrike" cap="none">
              <a:solidFill>
                <a:srgbClr val="000000"/>
              </a:solidFill>
              <a:highlight>
                <a:srgbClr val="FFCD00"/>
              </a:highlight>
              <a:latin typeface="Lora"/>
              <a:ea typeface="Lora"/>
              <a:cs typeface="Lora"/>
              <a:sym typeface="Lora"/>
            </a:endParaRPr>
          </a:p>
        </p:txBody>
      </p:sp>
      <p:cxnSp>
        <p:nvCxnSpPr>
          <p:cNvPr id="473" name="Google Shape;473;p50"/>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74" name="Google Shape;474;p50"/>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39</a:t>
            </a:fld>
            <a:endParaRPr sz="1000" b="0" i="0" u="none" strike="noStrike" cap="none">
              <a:solidFill>
                <a:srgbClr val="1D1D1B"/>
              </a:solidFill>
              <a:latin typeface="Lora"/>
              <a:ea typeface="Lora"/>
              <a:cs typeface="Lora"/>
              <a:sym typeface="Lora"/>
            </a:endParaRPr>
          </a:p>
        </p:txBody>
      </p:sp>
      <p:sp>
        <p:nvSpPr>
          <p:cNvPr id="475" name="Google Shape;475;p50"/>
          <p:cNvSpPr txBox="1"/>
          <p:nvPr/>
        </p:nvSpPr>
        <p:spPr>
          <a:xfrm>
            <a:off x="188025" y="1082500"/>
            <a:ext cx="8807100" cy="346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latin typeface="Lato"/>
                <a:ea typeface="Lato"/>
                <a:cs typeface="Lato"/>
                <a:sym typeface="Lato"/>
              </a:rPr>
              <a:t>All the tasks are scenario-based, what should make the test more realistic. We start with easy, warm up tasks and gradually raise the level of difficulty.</a:t>
            </a:r>
            <a:endParaRPr sz="1200" dirty="0">
              <a:latin typeface="Lato"/>
              <a:ea typeface="Lato"/>
              <a:cs typeface="Lato"/>
              <a:sym typeface="Lato"/>
            </a:endParaRPr>
          </a:p>
          <a:p>
            <a:pPr marL="457200" lvl="0" indent="-304800" algn="l" rtl="0">
              <a:lnSpc>
                <a:spcPct val="115000"/>
              </a:lnSpc>
              <a:spcBef>
                <a:spcPts val="0"/>
              </a:spcBef>
              <a:spcAft>
                <a:spcPts val="0"/>
              </a:spcAft>
              <a:buSzPts val="1200"/>
              <a:buFont typeface="Lato"/>
              <a:buAutoNum type="arabicPeriod"/>
            </a:pPr>
            <a:r>
              <a:rPr lang="en" sz="1200" dirty="0">
                <a:latin typeface="Lato"/>
                <a:ea typeface="Lato"/>
                <a:cs typeface="Lato"/>
                <a:sym typeface="Lato"/>
              </a:rPr>
              <a:t>Login to the Skyscanner using provided credentials: email: </a:t>
            </a:r>
            <a:r>
              <a:rPr lang="en" sz="1200" u="sng" dirty="0">
                <a:solidFill>
                  <a:schemeClr val="hlink"/>
                </a:solidFill>
                <a:latin typeface="Lato"/>
                <a:ea typeface="Lato"/>
                <a:cs typeface="Lato"/>
                <a:sym typeface="Lato"/>
                <a:hlinkClick r:id="rId3"/>
              </a:rPr>
              <a:t>interactiondesignnthu2018@gmail.com</a:t>
            </a:r>
            <a:r>
              <a:rPr lang="en" sz="1200" dirty="0">
                <a:latin typeface="Lato"/>
                <a:ea typeface="Lato"/>
                <a:cs typeface="Lato"/>
                <a:sym typeface="Lato"/>
              </a:rPr>
              <a:t>,  password: Nthu2018</a:t>
            </a:r>
            <a:endParaRPr sz="1200" dirty="0">
              <a:latin typeface="Lato"/>
              <a:ea typeface="Lato"/>
              <a:cs typeface="Lato"/>
              <a:sym typeface="Lato"/>
            </a:endParaRPr>
          </a:p>
          <a:p>
            <a:pPr marL="457200" lvl="0" indent="-304800" algn="l" rtl="0">
              <a:lnSpc>
                <a:spcPct val="115000"/>
              </a:lnSpc>
              <a:spcBef>
                <a:spcPts val="0"/>
              </a:spcBef>
              <a:spcAft>
                <a:spcPts val="0"/>
              </a:spcAft>
              <a:buSzPts val="1200"/>
              <a:buFont typeface="Lato"/>
              <a:buAutoNum type="arabicPeriod"/>
            </a:pPr>
            <a:r>
              <a:rPr lang="en" sz="1200" dirty="0">
                <a:latin typeface="Lato"/>
                <a:ea typeface="Lato"/>
                <a:cs typeface="Lato"/>
                <a:sym typeface="Lato"/>
              </a:rPr>
              <a:t>Your friend from Poland invited you to Warsaw. You decide to depart from Taipei at 30/11/2018 and take one way ticket. You know that he will arrive to Warsaw long before you, so you decided to take the fastest flight.</a:t>
            </a:r>
            <a:endParaRPr sz="1200" dirty="0">
              <a:latin typeface="Lato"/>
              <a:ea typeface="Lato"/>
              <a:cs typeface="Lato"/>
              <a:sym typeface="Lato"/>
            </a:endParaRPr>
          </a:p>
          <a:p>
            <a:pPr marL="457200" lvl="0" indent="-304800" algn="l" rtl="0">
              <a:lnSpc>
                <a:spcPct val="115000"/>
              </a:lnSpc>
              <a:spcBef>
                <a:spcPts val="0"/>
              </a:spcBef>
              <a:spcAft>
                <a:spcPts val="0"/>
              </a:spcAft>
              <a:buSzPts val="1200"/>
              <a:buFont typeface="Lato"/>
              <a:buAutoNum type="arabicPeriod"/>
            </a:pPr>
            <a:r>
              <a:rPr lang="en" sz="1200" dirty="0">
                <a:latin typeface="Lato"/>
                <a:ea typeface="Lato"/>
                <a:cs typeface="Lato"/>
                <a:sym typeface="Lato"/>
              </a:rPr>
              <a:t>After very long year of hard work you decided to take a flight to Paris and rent a luxury hotel. You want to depart 30/11/2018 and return 09/12/2018. You want to land on Charles de Gaulle airport. You want to take the best possible flight when it comes to the price/time ratio. During this time you want to reserve the best hotel when it comes to the user ratings.</a:t>
            </a:r>
            <a:endParaRPr sz="1200" dirty="0">
              <a:latin typeface="Lato"/>
              <a:ea typeface="Lato"/>
              <a:cs typeface="Lato"/>
              <a:sym typeface="Lato"/>
            </a:endParaRPr>
          </a:p>
          <a:p>
            <a:pPr marL="457200" lvl="0" indent="-304800" algn="l" rtl="0">
              <a:lnSpc>
                <a:spcPct val="115000"/>
              </a:lnSpc>
              <a:spcBef>
                <a:spcPts val="0"/>
              </a:spcBef>
              <a:spcAft>
                <a:spcPts val="0"/>
              </a:spcAft>
              <a:buSzPts val="1200"/>
              <a:buFont typeface="Lato"/>
              <a:buAutoNum type="arabicPeriod"/>
            </a:pPr>
            <a:r>
              <a:rPr lang="en" sz="1100" dirty="0">
                <a:solidFill>
                  <a:schemeClr val="dk1"/>
                </a:solidFill>
                <a:latin typeface="Lato"/>
                <a:ea typeface="Lato"/>
                <a:cs typeface="Lato"/>
                <a:sym typeface="Lato"/>
              </a:rPr>
              <a:t>During winter vacation, you want to take a trip to Tokyo with your friend for five days. Because you are students, you decided to find the cheapest round-trip tickets in January.</a:t>
            </a:r>
            <a:endParaRPr sz="1100" dirty="0">
              <a:solidFill>
                <a:schemeClr val="dk1"/>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Font typeface="Lato"/>
              <a:buAutoNum type="arabicPeriod"/>
            </a:pPr>
            <a:r>
              <a:rPr lang="en" sz="1100" dirty="0">
                <a:solidFill>
                  <a:schemeClr val="dk1"/>
                </a:solidFill>
                <a:latin typeface="Lato"/>
                <a:ea typeface="Lato"/>
                <a:cs typeface="Lato"/>
                <a:sym typeface="Lato"/>
              </a:rPr>
              <a:t>The typhoon is coming soon. The reporter said it will land on 2018/10/31. And now you are in Tokyo. So you need to back to Taipei before Typhoon coming. And you want to choose a cheapest ticket. Now, you only have a smartphone. So you need to use it to book a ticket. </a:t>
            </a:r>
            <a:endParaRPr sz="1100" dirty="0">
              <a:solidFill>
                <a:schemeClr val="dk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1"/>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Results</a:t>
            </a:r>
            <a:endParaRPr sz="2400" b="1" i="0" u="none" strike="noStrike" cap="none">
              <a:solidFill>
                <a:srgbClr val="000000"/>
              </a:solidFill>
              <a:highlight>
                <a:srgbClr val="FFCD00"/>
              </a:highlight>
              <a:latin typeface="Lora"/>
              <a:ea typeface="Lora"/>
              <a:cs typeface="Lora"/>
              <a:sym typeface="Lora"/>
            </a:endParaRPr>
          </a:p>
        </p:txBody>
      </p:sp>
      <p:cxnSp>
        <p:nvCxnSpPr>
          <p:cNvPr id="481" name="Google Shape;481;p51"/>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82" name="Google Shape;482;p51"/>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40</a:t>
            </a:fld>
            <a:endParaRPr sz="1000" b="0" i="0" u="none" strike="noStrike" cap="none">
              <a:solidFill>
                <a:srgbClr val="1D1D1B"/>
              </a:solidFill>
              <a:latin typeface="Lora"/>
              <a:ea typeface="Lora"/>
              <a:cs typeface="Lora"/>
              <a:sym typeface="Lora"/>
            </a:endParaRPr>
          </a:p>
        </p:txBody>
      </p:sp>
      <p:graphicFrame>
        <p:nvGraphicFramePr>
          <p:cNvPr id="483" name="Google Shape;483;p51"/>
          <p:cNvGraphicFramePr/>
          <p:nvPr/>
        </p:nvGraphicFramePr>
        <p:xfrm>
          <a:off x="467263" y="1173425"/>
          <a:ext cx="6801500" cy="3366370"/>
        </p:xfrm>
        <a:graphic>
          <a:graphicData uri="http://schemas.openxmlformats.org/drawingml/2006/table">
            <a:tbl>
              <a:tblPr>
                <a:noFill/>
                <a:tableStyleId>{AC0D9067-4189-4902-9140-2DD05B903422}</a:tableStyleId>
              </a:tblPr>
              <a:tblGrid>
                <a:gridCol w="1360300"/>
                <a:gridCol w="1360300"/>
                <a:gridCol w="1360300"/>
                <a:gridCol w="1360300"/>
                <a:gridCol w="1360300"/>
              </a:tblGrid>
              <a:tr h="528500">
                <a:tc>
                  <a:txBody>
                    <a:bodyPr/>
                    <a:lstStyle/>
                    <a:p>
                      <a:pPr marL="0" lvl="0" indent="0" algn="l" rtl="0">
                        <a:spcBef>
                          <a:spcPts val="0"/>
                        </a:spcBef>
                        <a:spcAft>
                          <a:spcPts val="0"/>
                        </a:spcAft>
                        <a:buNone/>
                      </a:pP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1</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r>
              <a:tr h="528500">
                <a:tc>
                  <a:txBody>
                    <a:bodyPr/>
                    <a:lstStyle/>
                    <a:p>
                      <a:pPr marL="0" lvl="0" indent="0" algn="l" rtl="0">
                        <a:spcBef>
                          <a:spcPts val="0"/>
                        </a:spcBef>
                        <a:spcAft>
                          <a:spcPts val="0"/>
                        </a:spcAft>
                        <a:buNone/>
                      </a:pPr>
                      <a:r>
                        <a:rPr lang="en" sz="1800" b="1"/>
                        <a:t>2</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rPr>
                        <a:t>S</a:t>
                      </a:r>
                      <a:endParaRPr sz="1800" b="1"/>
                    </a:p>
                  </a:txBody>
                  <a:tcPr marL="91425" marR="91425" marT="91425" marB="91425"/>
                </a:tc>
                <a:tc>
                  <a:txBody>
                    <a:bodyPr/>
                    <a:lstStyle/>
                    <a:p>
                      <a:pPr marL="0" lvl="0" indent="0" algn="l" rtl="0">
                        <a:spcBef>
                          <a:spcPts val="0"/>
                        </a:spcBef>
                        <a:spcAft>
                          <a:spcPts val="0"/>
                        </a:spcAft>
                        <a:buNone/>
                      </a:pPr>
                      <a:r>
                        <a:rPr lang="en" sz="1800" b="1">
                          <a:solidFill>
                            <a:schemeClr val="dk1"/>
                          </a:solidFill>
                        </a:rPr>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r h="528500">
                <a:tc>
                  <a:txBody>
                    <a:bodyPr/>
                    <a:lstStyle/>
                    <a:p>
                      <a:pPr marL="0" lvl="0" indent="0" algn="l" rtl="0">
                        <a:spcBef>
                          <a:spcPts val="0"/>
                        </a:spcBef>
                        <a:spcAft>
                          <a:spcPts val="0"/>
                        </a:spcAft>
                        <a:buNone/>
                      </a:pPr>
                      <a:r>
                        <a:rPr lang="en" sz="1800" b="1"/>
                        <a:t>3</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r h="528500">
                <a:tc>
                  <a:txBody>
                    <a:bodyPr/>
                    <a:lstStyle/>
                    <a:p>
                      <a:pPr marL="0" lvl="0" indent="0" algn="l" rtl="0">
                        <a:spcBef>
                          <a:spcPts val="0"/>
                        </a:spcBef>
                        <a:spcAft>
                          <a:spcPts val="0"/>
                        </a:spcAft>
                        <a:buNone/>
                      </a:pPr>
                      <a:r>
                        <a:rPr lang="en" sz="1800" b="1"/>
                        <a:t>4</a:t>
                      </a:r>
                      <a:endParaRPr sz="1800" b="1"/>
                    </a:p>
                  </a:txBody>
                  <a:tcPr marL="91425" marR="91425" marT="91425" marB="91425"/>
                </a:tc>
                <a:tc>
                  <a:txBody>
                    <a:bodyPr/>
                    <a:lstStyle/>
                    <a:p>
                      <a:pPr marL="0" lvl="0" indent="0" algn="l" rtl="0">
                        <a:spcBef>
                          <a:spcPts val="0"/>
                        </a:spcBef>
                        <a:spcAft>
                          <a:spcPts val="0"/>
                        </a:spcAft>
                        <a:buNone/>
                      </a:pPr>
                      <a:r>
                        <a:rPr lang="en" sz="1800" b="1">
                          <a:solidFill>
                            <a:srgbClr val="FF0000"/>
                          </a:solidFill>
                        </a:rPr>
                        <a:t>PS</a:t>
                      </a:r>
                      <a:endParaRPr sz="1800" b="1">
                        <a:solidFill>
                          <a:srgbClr val="FF0000"/>
                        </a:solidFill>
                      </a:endParaRPr>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r h="528500">
                <a:tc>
                  <a:txBody>
                    <a:bodyPr/>
                    <a:lstStyle/>
                    <a:p>
                      <a:pPr marL="0" lvl="0" indent="0" algn="l" rtl="0">
                        <a:spcBef>
                          <a:spcPts val="0"/>
                        </a:spcBef>
                        <a:spcAft>
                          <a:spcPts val="0"/>
                        </a:spcAft>
                        <a:buNone/>
                      </a:pPr>
                      <a:r>
                        <a:rPr lang="en" sz="1800" b="1"/>
                        <a:t>5</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solidFill>
                            <a:srgbClr val="FF0000"/>
                          </a:solidFill>
                        </a:rPr>
                        <a:t>PS</a:t>
                      </a:r>
                      <a:endParaRPr sz="1800" b="1">
                        <a:solidFill>
                          <a:srgbClr val="FF0000"/>
                        </a:solidFill>
                      </a:endParaRPr>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bl>
          </a:graphicData>
        </a:graphic>
      </p:graphicFrame>
      <p:sp>
        <p:nvSpPr>
          <p:cNvPr id="484" name="Google Shape;484;p51"/>
          <p:cNvSpPr txBox="1"/>
          <p:nvPr/>
        </p:nvSpPr>
        <p:spPr>
          <a:xfrm>
            <a:off x="7476125" y="3244575"/>
            <a:ext cx="1546800" cy="12876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LEGEND:</a:t>
            </a:r>
            <a:br>
              <a:rPr lang="en" sz="1200" b="1"/>
            </a:br>
            <a:endParaRPr sz="1200" b="1"/>
          </a:p>
          <a:p>
            <a:pPr marL="0" lvl="0" indent="0" algn="l" rtl="0">
              <a:spcBef>
                <a:spcPts val="0"/>
              </a:spcBef>
              <a:spcAft>
                <a:spcPts val="0"/>
              </a:spcAft>
              <a:buNone/>
            </a:pPr>
            <a:r>
              <a:rPr lang="en" sz="1200" b="1"/>
              <a:t>S</a:t>
            </a:r>
            <a:r>
              <a:rPr lang="en" sz="1200"/>
              <a:t> : Success</a:t>
            </a:r>
            <a:endParaRPr sz="1200"/>
          </a:p>
          <a:p>
            <a:pPr marL="0" lvl="0" indent="0" algn="l" rtl="0">
              <a:spcBef>
                <a:spcPts val="0"/>
              </a:spcBef>
              <a:spcAft>
                <a:spcPts val="0"/>
              </a:spcAft>
              <a:buNone/>
            </a:pPr>
            <a:r>
              <a:rPr lang="en" sz="1200" b="1"/>
              <a:t>PS</a:t>
            </a:r>
            <a:r>
              <a:rPr lang="en" sz="1200"/>
              <a:t>: Partial Success</a:t>
            </a:r>
            <a:endParaRPr sz="1200"/>
          </a:p>
          <a:p>
            <a:pPr marL="0" lvl="0" indent="0" algn="l" rtl="0">
              <a:spcBef>
                <a:spcPts val="0"/>
              </a:spcBef>
              <a:spcAft>
                <a:spcPts val="0"/>
              </a:spcAft>
              <a:buNone/>
            </a:pPr>
            <a:r>
              <a:rPr lang="en" sz="1200" b="1"/>
              <a:t>F</a:t>
            </a:r>
            <a:r>
              <a:rPr lang="en" sz="1200"/>
              <a:t> : Failure</a:t>
            </a:r>
            <a:endParaRPr sz="1200"/>
          </a:p>
          <a:p>
            <a:pPr marL="0" lvl="0" indent="0" algn="l" rtl="0">
              <a:spcBef>
                <a:spcPts val="0"/>
              </a:spcBef>
              <a:spcAft>
                <a:spcPts val="0"/>
              </a:spcAft>
              <a:buNone/>
            </a:pPr>
            <a:endParaRPr sz="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2"/>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490" name="Google Shape;490;p52"/>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491" name="Google Shape;491;p52"/>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41</a:t>
            </a:fld>
            <a:endParaRPr sz="1000" b="0" i="0" u="none" strike="noStrike" cap="none">
              <a:solidFill>
                <a:srgbClr val="1D1D1B"/>
              </a:solidFill>
              <a:latin typeface="Lora"/>
              <a:ea typeface="Lora"/>
              <a:cs typeface="Lora"/>
              <a:sym typeface="Lora"/>
            </a:endParaRPr>
          </a:p>
        </p:txBody>
      </p:sp>
      <p:sp>
        <p:nvSpPr>
          <p:cNvPr id="492" name="Google Shape;492;p52"/>
          <p:cNvSpPr txBox="1"/>
          <p:nvPr/>
        </p:nvSpPr>
        <p:spPr>
          <a:xfrm>
            <a:off x="7781950" y="1320700"/>
            <a:ext cx="1362000" cy="12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800"/>
          </a:p>
        </p:txBody>
      </p:sp>
      <p:sp>
        <p:nvSpPr>
          <p:cNvPr id="493" name="Google Shape;493;p52"/>
          <p:cNvSpPr txBox="1"/>
          <p:nvPr/>
        </p:nvSpPr>
        <p:spPr>
          <a:xfrm>
            <a:off x="604325" y="1110175"/>
            <a:ext cx="7775700" cy="22701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Question:</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Login to the Skyscanner using provided credentials: </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email: </a:t>
            </a:r>
            <a:r>
              <a:rPr lang="en" b="1" u="sng">
                <a:solidFill>
                  <a:schemeClr val="hlink"/>
                </a:solidFill>
                <a:latin typeface="Lato"/>
                <a:ea typeface="Lato"/>
                <a:cs typeface="Lato"/>
                <a:sym typeface="Lato"/>
                <a:hlinkClick r:id="rId3"/>
              </a:rPr>
              <a:t>interactiondesignnthu2018@gmail.com</a:t>
            </a:r>
            <a:r>
              <a:rPr lang="en" b="1">
                <a:solidFill>
                  <a:schemeClr val="dk1"/>
                </a:solidFill>
                <a:latin typeface="Lato"/>
                <a:ea typeface="Lato"/>
                <a:cs typeface="Lato"/>
                <a:sym typeface="Lato"/>
              </a:rPr>
              <a:t>,  password: Nthu2018</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Purpose: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Warm up for usability testing</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There are something wrong with our email account</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But when using user’s own account, it can login in successful</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endParaRPr b="1">
              <a:solidFill>
                <a:schemeClr val="dk1"/>
              </a:solidFill>
              <a:latin typeface="Lato"/>
              <a:ea typeface="Lato"/>
              <a:cs typeface="Lato"/>
              <a:sym typeface="Lato"/>
            </a:endParaRPr>
          </a:p>
        </p:txBody>
      </p:sp>
      <p:graphicFrame>
        <p:nvGraphicFramePr>
          <p:cNvPr id="494" name="Google Shape;494;p52"/>
          <p:cNvGraphicFramePr/>
          <p:nvPr/>
        </p:nvGraphicFramePr>
        <p:xfrm>
          <a:off x="1851388" y="3621400"/>
          <a:ext cx="5441200" cy="1252370"/>
        </p:xfrm>
        <a:graphic>
          <a:graphicData uri="http://schemas.openxmlformats.org/drawingml/2006/table">
            <a:tbl>
              <a:tblPr>
                <a:noFill/>
                <a:tableStyleId>{AC0D9067-4189-4902-9140-2DD05B903422}</a:tableStyleId>
              </a:tblPr>
              <a:tblGrid>
                <a:gridCol w="1360300"/>
                <a:gridCol w="1360300"/>
                <a:gridCol w="1360300"/>
                <a:gridCol w="1360300"/>
              </a:tblGrid>
              <a:tr h="528500">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c>
                  <a:txBody>
                    <a:bodyPr/>
                    <a:lstStyle/>
                    <a:p>
                      <a:pPr marL="0" lvl="0" indent="0" algn="l" rtl="0">
                        <a:spcBef>
                          <a:spcPts val="0"/>
                        </a:spcBef>
                        <a:spcAft>
                          <a:spcPts val="0"/>
                        </a:spcAft>
                        <a:buNone/>
                      </a:pPr>
                      <a:r>
                        <a:rPr lang="en" sz="1800" b="1"/>
                        <a:t>F</a:t>
                      </a:r>
                      <a:endParaRPr sz="1800" b="1"/>
                    </a:p>
                  </a:txBody>
                  <a:tcPr marL="91425" marR="91425" marT="91425" marB="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3"/>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00" name="Google Shape;500;p53"/>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501" name="Google Shape;501;p5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42</a:t>
            </a:fld>
            <a:endParaRPr sz="1000" b="0" i="0" u="none" strike="noStrike" cap="none">
              <a:solidFill>
                <a:srgbClr val="1D1D1B"/>
              </a:solidFill>
              <a:latin typeface="Lora"/>
              <a:ea typeface="Lora"/>
              <a:cs typeface="Lora"/>
              <a:sym typeface="Lora"/>
            </a:endParaRPr>
          </a:p>
        </p:txBody>
      </p:sp>
      <p:sp>
        <p:nvSpPr>
          <p:cNvPr id="502" name="Google Shape;502;p53"/>
          <p:cNvSpPr txBox="1"/>
          <p:nvPr/>
        </p:nvSpPr>
        <p:spPr>
          <a:xfrm>
            <a:off x="7781950" y="1320700"/>
            <a:ext cx="1362000" cy="12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800"/>
          </a:p>
        </p:txBody>
      </p:sp>
      <p:sp>
        <p:nvSpPr>
          <p:cNvPr id="503" name="Google Shape;503;p53"/>
          <p:cNvSpPr txBox="1"/>
          <p:nvPr/>
        </p:nvSpPr>
        <p:spPr>
          <a:xfrm>
            <a:off x="604325" y="1110175"/>
            <a:ext cx="7775700" cy="1155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Question:</a:t>
            </a:r>
            <a:endParaRPr b="1">
              <a:solidFill>
                <a:schemeClr val="dk1"/>
              </a:solidFill>
              <a:latin typeface="Lato"/>
              <a:ea typeface="Lato"/>
              <a:cs typeface="Lato"/>
              <a:sym typeface="Lato"/>
            </a:endParaRPr>
          </a:p>
          <a:p>
            <a:pPr marL="0" lvl="0" indent="457200" algn="l" rtl="0">
              <a:lnSpc>
                <a:spcPct val="115000"/>
              </a:lnSpc>
              <a:spcBef>
                <a:spcPts val="0"/>
              </a:spcBef>
              <a:spcAft>
                <a:spcPts val="0"/>
              </a:spcAft>
              <a:buNone/>
            </a:pPr>
            <a:r>
              <a:rPr lang="en" b="1">
                <a:solidFill>
                  <a:schemeClr val="dk1"/>
                </a:solidFill>
              </a:rPr>
              <a:t>Your friend from Poland invited you to Warsaw. You decide to depart from Taipei at </a:t>
            </a:r>
            <a:br>
              <a:rPr lang="en" b="1">
                <a:solidFill>
                  <a:schemeClr val="dk1"/>
                </a:solidFill>
              </a:rPr>
            </a:br>
            <a:r>
              <a:rPr lang="en" b="1">
                <a:solidFill>
                  <a:schemeClr val="dk1"/>
                </a:solidFill>
              </a:rPr>
              <a:t>         30/11/2018 and take one way ticket. You know that he will arrive to Warsaw long </a:t>
            </a:r>
            <a:br>
              <a:rPr lang="en" b="1">
                <a:solidFill>
                  <a:schemeClr val="dk1"/>
                </a:solidFill>
              </a:rPr>
            </a:br>
            <a:r>
              <a:rPr lang="en" b="1">
                <a:solidFill>
                  <a:schemeClr val="dk1"/>
                </a:solidFill>
              </a:rPr>
              <a:t>         before you, so you decided to take the fastest flight.</a:t>
            </a:r>
            <a:endParaRPr b="1">
              <a:solidFill>
                <a:schemeClr val="dk1"/>
              </a:solidFill>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Purpose: </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User is able to order fastest one way ticket from Taipei to Warsaw on the date.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endParaRPr b="1">
              <a:solidFill>
                <a:schemeClr val="dk1"/>
              </a:solidFill>
              <a:latin typeface="Lato"/>
              <a:ea typeface="Lato"/>
              <a:cs typeface="Lato"/>
              <a:sym typeface="Lato"/>
            </a:endParaRPr>
          </a:p>
          <a:p>
            <a:pPr marL="0" lvl="0" indent="45720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r>
              <a:rPr lang="en" sz="1200" b="1">
                <a:solidFill>
                  <a:schemeClr val="dk1"/>
                </a:solidFill>
              </a:rPr>
              <a:t>	</a:t>
            </a:r>
            <a:endParaRPr sz="1200" b="1">
              <a:solidFill>
                <a:schemeClr val="dk1"/>
              </a:solidFill>
            </a:endParaRPr>
          </a:p>
        </p:txBody>
      </p:sp>
      <p:graphicFrame>
        <p:nvGraphicFramePr>
          <p:cNvPr id="504" name="Google Shape;504;p53"/>
          <p:cNvGraphicFramePr/>
          <p:nvPr/>
        </p:nvGraphicFramePr>
        <p:xfrm>
          <a:off x="1851388" y="3109950"/>
          <a:ext cx="5441200" cy="1252370"/>
        </p:xfrm>
        <a:graphic>
          <a:graphicData uri="http://schemas.openxmlformats.org/drawingml/2006/table">
            <a:tbl>
              <a:tblPr>
                <a:noFill/>
                <a:tableStyleId>{AC0D9067-4189-4902-9140-2DD05B903422}</a:tableStyleId>
              </a:tblPr>
              <a:tblGrid>
                <a:gridCol w="1360300"/>
                <a:gridCol w="1360300"/>
                <a:gridCol w="1360300"/>
                <a:gridCol w="1360300"/>
              </a:tblGrid>
              <a:tr h="528500">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rPr>
                        <a:t>S</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rPr>
                        <a:t>S</a:t>
                      </a:r>
                      <a:endParaRPr sz="1800" b="1"/>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800" b="1">
                          <a:solidFill>
                            <a:schemeClr val="dk1"/>
                          </a:solidFill>
                        </a:rPr>
                        <a:t>S</a:t>
                      </a:r>
                      <a:endParaRPr sz="1800" b="1"/>
                    </a:p>
                  </a:txBody>
                  <a:tcPr marL="91425" marR="91425" marT="91425" marB="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54"/>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10" name="Google Shape;510;p54"/>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511" name="Google Shape;511;p54"/>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43</a:t>
            </a:fld>
            <a:endParaRPr sz="1000" b="0" i="0" u="none" strike="noStrike" cap="none">
              <a:solidFill>
                <a:srgbClr val="1D1D1B"/>
              </a:solidFill>
              <a:latin typeface="Lora"/>
              <a:ea typeface="Lora"/>
              <a:cs typeface="Lora"/>
              <a:sym typeface="Lora"/>
            </a:endParaRPr>
          </a:p>
        </p:txBody>
      </p:sp>
      <p:sp>
        <p:nvSpPr>
          <p:cNvPr id="512" name="Google Shape;512;p54"/>
          <p:cNvSpPr txBox="1"/>
          <p:nvPr/>
        </p:nvSpPr>
        <p:spPr>
          <a:xfrm>
            <a:off x="7781950" y="1320700"/>
            <a:ext cx="1362000" cy="12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800"/>
          </a:p>
        </p:txBody>
      </p:sp>
      <p:sp>
        <p:nvSpPr>
          <p:cNvPr id="513" name="Google Shape;513;p54"/>
          <p:cNvSpPr txBox="1"/>
          <p:nvPr/>
        </p:nvSpPr>
        <p:spPr>
          <a:xfrm>
            <a:off x="604325" y="1110175"/>
            <a:ext cx="7775700" cy="11550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One user (Experienced, Taiwanese) didn’t notice what’s the fastest meaning on skyscanner at first. </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r>
              <a:rPr lang="en" sz="1200" b="1">
                <a:solidFill>
                  <a:schemeClr val="dk1"/>
                </a:solidFill>
              </a:rPr>
              <a:t>	</a:t>
            </a:r>
            <a:endParaRPr sz="1200" b="1">
              <a:solidFill>
                <a:schemeClr val="dk1"/>
              </a:solidFill>
            </a:endParaRPr>
          </a:p>
        </p:txBody>
      </p:sp>
      <p:pic>
        <p:nvPicPr>
          <p:cNvPr id="514" name="Google Shape;514;p54"/>
          <p:cNvPicPr preferRelativeResize="0"/>
          <p:nvPr/>
        </p:nvPicPr>
        <p:blipFill rotWithShape="1">
          <a:blip r:embed="rId3">
            <a:alphaModFix/>
          </a:blip>
          <a:srcRect l="63938" t="32425" r="18160" b="51501"/>
          <a:stretch/>
        </p:blipFill>
        <p:spPr>
          <a:xfrm>
            <a:off x="2387275" y="3023225"/>
            <a:ext cx="3867072" cy="976525"/>
          </a:xfrm>
          <a:prstGeom prst="rect">
            <a:avLst/>
          </a:prstGeom>
          <a:noFill/>
          <a:ln>
            <a:noFill/>
          </a:ln>
        </p:spPr>
      </p:pic>
      <p:pic>
        <p:nvPicPr>
          <p:cNvPr id="515" name="Google Shape;515;p54"/>
          <p:cNvPicPr preferRelativeResize="0"/>
          <p:nvPr/>
        </p:nvPicPr>
        <p:blipFill rotWithShape="1">
          <a:blip r:embed="rId4">
            <a:alphaModFix/>
          </a:blip>
          <a:srcRect t="6384"/>
          <a:stretch/>
        </p:blipFill>
        <p:spPr>
          <a:xfrm>
            <a:off x="2326700" y="1939675"/>
            <a:ext cx="3988226" cy="735650"/>
          </a:xfrm>
          <a:prstGeom prst="rect">
            <a:avLst/>
          </a:prstGeom>
          <a:noFill/>
          <a:ln>
            <a:noFill/>
          </a:ln>
        </p:spPr>
      </p:pic>
      <p:sp>
        <p:nvSpPr>
          <p:cNvPr id="516" name="Google Shape;516;p54"/>
          <p:cNvSpPr/>
          <p:nvPr/>
        </p:nvSpPr>
        <p:spPr>
          <a:xfrm>
            <a:off x="4120100" y="2712175"/>
            <a:ext cx="401400" cy="274200"/>
          </a:xfrm>
          <a:prstGeom prst="downArrow">
            <a:avLst>
              <a:gd name="adj1" fmla="val 50000"/>
              <a:gd name="adj2" fmla="val 50000"/>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5"/>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22" name="Google Shape;522;p55"/>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
        <p:nvSpPr>
          <p:cNvPr id="523" name="Google Shape;523;p55"/>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44</a:t>
            </a:fld>
            <a:endParaRPr sz="1000" b="0" i="0" u="none" strike="noStrike" cap="none">
              <a:solidFill>
                <a:srgbClr val="1D1D1B"/>
              </a:solidFill>
              <a:latin typeface="Lora"/>
              <a:ea typeface="Lora"/>
              <a:cs typeface="Lora"/>
              <a:sym typeface="Lora"/>
            </a:endParaRPr>
          </a:p>
        </p:txBody>
      </p:sp>
      <p:sp>
        <p:nvSpPr>
          <p:cNvPr id="524" name="Google Shape;524;p55"/>
          <p:cNvSpPr txBox="1"/>
          <p:nvPr/>
        </p:nvSpPr>
        <p:spPr>
          <a:xfrm>
            <a:off x="7781950" y="1320700"/>
            <a:ext cx="1362000" cy="12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800"/>
          </a:p>
        </p:txBody>
      </p:sp>
      <p:sp>
        <p:nvSpPr>
          <p:cNvPr id="525" name="Google Shape;525;p55"/>
          <p:cNvSpPr txBox="1"/>
          <p:nvPr/>
        </p:nvSpPr>
        <p:spPr>
          <a:xfrm>
            <a:off x="604325" y="1110175"/>
            <a:ext cx="7775700" cy="11550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One user (Inexperienced, Taiwanese) didn’t notice that he can choose all airports at Warsaw. </a:t>
            </a:r>
            <a:endParaRPr b="1">
              <a:solidFill>
                <a:schemeClr val="dk1"/>
              </a:solidFill>
              <a:latin typeface="Lato"/>
              <a:ea typeface="Lato"/>
              <a:cs typeface="Lato"/>
              <a:sym typeface="Lato"/>
            </a:endParaRPr>
          </a:p>
          <a:p>
            <a:pPr marL="1371600" lvl="2"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 Because not familiar with Warsaw, he choose the wrong airport at first.</a:t>
            </a:r>
            <a:endParaRPr b="1">
              <a:solidFill>
                <a:schemeClr val="dk1"/>
              </a:solidFill>
              <a:latin typeface="Lato"/>
              <a:ea typeface="Lato"/>
              <a:cs typeface="Lato"/>
              <a:sym typeface="Lato"/>
            </a:endParaRPr>
          </a:p>
          <a:p>
            <a:pPr marL="1371600" lvl="2"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But if he choose “Any” at first, he can avoid this problem. </a:t>
            </a:r>
            <a:endParaRPr>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endParaRPr sz="1200" b="1">
              <a:solidFill>
                <a:schemeClr val="dk1"/>
              </a:solidFill>
            </a:endParaRPr>
          </a:p>
          <a:p>
            <a:pPr marL="0" lvl="0" indent="0" algn="l" rtl="0">
              <a:lnSpc>
                <a:spcPct val="115000"/>
              </a:lnSpc>
              <a:spcBef>
                <a:spcPts val="0"/>
              </a:spcBef>
              <a:spcAft>
                <a:spcPts val="0"/>
              </a:spcAft>
              <a:buNone/>
            </a:pPr>
            <a:r>
              <a:rPr lang="en" sz="1200" b="1">
                <a:solidFill>
                  <a:schemeClr val="dk1"/>
                </a:solidFill>
              </a:rPr>
              <a:t>	</a:t>
            </a:r>
            <a:endParaRPr sz="1200" b="1">
              <a:solidFill>
                <a:schemeClr val="dk1"/>
              </a:solidFill>
            </a:endParaRPr>
          </a:p>
        </p:txBody>
      </p:sp>
      <p:pic>
        <p:nvPicPr>
          <p:cNvPr id="526" name="Google Shape;526;p55"/>
          <p:cNvPicPr preferRelativeResize="0"/>
          <p:nvPr/>
        </p:nvPicPr>
        <p:blipFill>
          <a:blip r:embed="rId3">
            <a:alphaModFix/>
          </a:blip>
          <a:stretch>
            <a:fillRect/>
          </a:stretch>
        </p:blipFill>
        <p:spPr>
          <a:xfrm>
            <a:off x="2729997" y="2571750"/>
            <a:ext cx="3216125" cy="1424400"/>
          </a:xfrm>
          <a:prstGeom prst="rect">
            <a:avLst/>
          </a:prstGeom>
          <a:noFill/>
          <a:ln>
            <a:noFill/>
          </a:ln>
        </p:spPr>
      </p:pic>
      <p:sp>
        <p:nvSpPr>
          <p:cNvPr id="527" name="Google Shape;527;p55"/>
          <p:cNvSpPr/>
          <p:nvPr/>
        </p:nvSpPr>
        <p:spPr>
          <a:xfrm>
            <a:off x="2835950" y="2541650"/>
            <a:ext cx="3110100" cy="474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6"/>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45</a:t>
            </a:fld>
            <a:endParaRPr/>
          </a:p>
        </p:txBody>
      </p:sp>
      <p:sp>
        <p:nvSpPr>
          <p:cNvPr id="533" name="Google Shape;533;p56"/>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Question:</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After very long year of hard work you decided to take a flight to Paris and rent a luxury  </a:t>
            </a:r>
            <a:br>
              <a:rPr lang="en" b="1">
                <a:solidFill>
                  <a:schemeClr val="dk1"/>
                </a:solidFill>
                <a:latin typeface="Lato"/>
                <a:ea typeface="Lato"/>
                <a:cs typeface="Lato"/>
                <a:sym typeface="Lato"/>
              </a:rPr>
            </a:br>
            <a:r>
              <a:rPr lang="en" b="1">
                <a:solidFill>
                  <a:schemeClr val="dk1"/>
                </a:solidFill>
                <a:latin typeface="Lato"/>
                <a:ea typeface="Lato"/>
                <a:cs typeface="Lato"/>
                <a:sym typeface="Lato"/>
              </a:rPr>
              <a:t>                  hotel. You want to depart 30/11/2018 and return 09/12/2018. You want to land on Charles de </a:t>
            </a:r>
            <a:br>
              <a:rPr lang="en" b="1">
                <a:solidFill>
                  <a:schemeClr val="dk1"/>
                </a:solidFill>
                <a:latin typeface="Lato"/>
                <a:ea typeface="Lato"/>
                <a:cs typeface="Lato"/>
                <a:sym typeface="Lato"/>
              </a:rPr>
            </a:br>
            <a:r>
              <a:rPr lang="en" b="1">
                <a:solidFill>
                  <a:schemeClr val="dk1"/>
                </a:solidFill>
                <a:latin typeface="Lato"/>
                <a:ea typeface="Lato"/>
                <a:cs typeface="Lato"/>
                <a:sym typeface="Lato"/>
              </a:rPr>
              <a:t>                 Gaulle airport. You want to take the best possible flight when it comes to the price/time ratio. </a:t>
            </a:r>
            <a:br>
              <a:rPr lang="en" b="1">
                <a:solidFill>
                  <a:schemeClr val="dk1"/>
                </a:solidFill>
                <a:latin typeface="Lato"/>
                <a:ea typeface="Lato"/>
                <a:cs typeface="Lato"/>
                <a:sym typeface="Lato"/>
              </a:rPr>
            </a:br>
            <a:r>
              <a:rPr lang="en" b="1">
                <a:solidFill>
                  <a:schemeClr val="dk1"/>
                </a:solidFill>
                <a:latin typeface="Lato"/>
                <a:ea typeface="Lato"/>
                <a:cs typeface="Lato"/>
                <a:sym typeface="Lato"/>
              </a:rPr>
              <a:t>                 During this time you want to reserve the best hotel when it comes to the user ratings.</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Purpose: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Round-trip, Price/time ratio, hotel function </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There are something wrong with our email account</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But when using user’s own account, it can login in successful</a:t>
            </a:r>
            <a:endParaRPr b="1">
              <a:solidFill>
                <a:schemeClr val="dk1"/>
              </a:solidFill>
              <a:latin typeface="Lato"/>
              <a:ea typeface="Lato"/>
              <a:cs typeface="Lato"/>
              <a:sym typeface="Lato"/>
            </a:endParaRPr>
          </a:p>
          <a:p>
            <a:pPr marL="457200" lvl="0" indent="457200" algn="l" rtl="0">
              <a:lnSpc>
                <a:spcPct val="115000"/>
              </a:lnSpc>
              <a:spcBef>
                <a:spcPts val="0"/>
              </a:spcBef>
              <a:spcAft>
                <a:spcPts val="0"/>
              </a:spcAft>
              <a:buNone/>
            </a:pPr>
            <a:endParaRPr b="1">
              <a:solidFill>
                <a:schemeClr val="dk1"/>
              </a:solidFill>
              <a:latin typeface="Lato"/>
              <a:ea typeface="Lato"/>
              <a:cs typeface="Lato"/>
              <a:sym typeface="Lato"/>
            </a:endParaRPr>
          </a:p>
        </p:txBody>
      </p:sp>
      <p:graphicFrame>
        <p:nvGraphicFramePr>
          <p:cNvPr id="534" name="Google Shape;534;p56"/>
          <p:cNvGraphicFramePr/>
          <p:nvPr/>
        </p:nvGraphicFramePr>
        <p:xfrm>
          <a:off x="2153613" y="3736050"/>
          <a:ext cx="5441200" cy="1252370"/>
        </p:xfrm>
        <a:graphic>
          <a:graphicData uri="http://schemas.openxmlformats.org/drawingml/2006/table">
            <a:tbl>
              <a:tblPr>
                <a:noFill/>
                <a:tableStyleId>{AC0D9067-4189-4902-9140-2DD05B903422}</a:tableStyleId>
              </a:tblPr>
              <a:tblGrid>
                <a:gridCol w="1360300"/>
                <a:gridCol w="1360300"/>
                <a:gridCol w="1360300"/>
                <a:gridCol w="1360300"/>
              </a:tblGrid>
              <a:tr h="528500">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bl>
          </a:graphicData>
        </a:graphic>
      </p:graphicFrame>
      <p:sp>
        <p:nvSpPr>
          <p:cNvPr id="535" name="Google Shape;535;p56"/>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36" name="Google Shape;536;p56"/>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7"/>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46</a:t>
            </a:fld>
            <a:endParaRPr/>
          </a:p>
        </p:txBody>
      </p:sp>
      <p:sp>
        <p:nvSpPr>
          <p:cNvPr id="542" name="Google Shape;542;p57"/>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sp>
        <p:nvSpPr>
          <p:cNvPr id="543" name="Google Shape;543;p57"/>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Not sure the “Best” meaning</a:t>
            </a:r>
            <a:endParaRPr b="1">
              <a:solidFill>
                <a:schemeClr val="dk1"/>
              </a:solidFill>
              <a:latin typeface="Lato"/>
              <a:ea typeface="Lato"/>
              <a:cs typeface="Lato"/>
              <a:sym typeface="Lato"/>
            </a:endParaRPr>
          </a:p>
        </p:txBody>
      </p:sp>
      <p:pic>
        <p:nvPicPr>
          <p:cNvPr id="544" name="Google Shape;544;p57"/>
          <p:cNvPicPr preferRelativeResize="0"/>
          <p:nvPr/>
        </p:nvPicPr>
        <p:blipFill>
          <a:blip r:embed="rId3">
            <a:alphaModFix/>
          </a:blip>
          <a:stretch>
            <a:fillRect/>
          </a:stretch>
        </p:blipFill>
        <p:spPr>
          <a:xfrm>
            <a:off x="1604888" y="1910650"/>
            <a:ext cx="6538674" cy="2580550"/>
          </a:xfrm>
          <a:prstGeom prst="rect">
            <a:avLst/>
          </a:prstGeom>
          <a:noFill/>
          <a:ln>
            <a:noFill/>
          </a:ln>
        </p:spPr>
      </p:pic>
      <p:sp>
        <p:nvSpPr>
          <p:cNvPr id="545" name="Google Shape;545;p57"/>
          <p:cNvSpPr/>
          <p:nvPr/>
        </p:nvSpPr>
        <p:spPr>
          <a:xfrm>
            <a:off x="1686175" y="1968775"/>
            <a:ext cx="2069100" cy="8463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58"/>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47</a:t>
            </a:fld>
            <a:endParaRPr/>
          </a:p>
        </p:txBody>
      </p:sp>
      <p:sp>
        <p:nvSpPr>
          <p:cNvPr id="551" name="Google Shape;551;p58"/>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sp>
        <p:nvSpPr>
          <p:cNvPr id="552" name="Google Shape;552;p58"/>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The comments showing are limited</a:t>
            </a:r>
            <a:endParaRPr b="1">
              <a:solidFill>
                <a:schemeClr val="dk1"/>
              </a:solidFill>
              <a:latin typeface="Lato"/>
              <a:ea typeface="Lato"/>
              <a:cs typeface="Lato"/>
              <a:sym typeface="Lato"/>
            </a:endParaRPr>
          </a:p>
        </p:txBody>
      </p:sp>
      <p:pic>
        <p:nvPicPr>
          <p:cNvPr id="553" name="Google Shape;553;p58"/>
          <p:cNvPicPr preferRelativeResize="0"/>
          <p:nvPr/>
        </p:nvPicPr>
        <p:blipFill>
          <a:blip r:embed="rId3">
            <a:alphaModFix/>
          </a:blip>
          <a:stretch>
            <a:fillRect/>
          </a:stretch>
        </p:blipFill>
        <p:spPr>
          <a:xfrm>
            <a:off x="1519423" y="2181950"/>
            <a:ext cx="3572623" cy="2151500"/>
          </a:xfrm>
          <a:prstGeom prst="rect">
            <a:avLst/>
          </a:prstGeom>
          <a:noFill/>
          <a:ln>
            <a:noFill/>
          </a:ln>
        </p:spPr>
      </p:pic>
      <p:sp>
        <p:nvSpPr>
          <p:cNvPr id="554" name="Google Shape;554;p58"/>
          <p:cNvSpPr/>
          <p:nvPr/>
        </p:nvSpPr>
        <p:spPr>
          <a:xfrm>
            <a:off x="1990275" y="3168950"/>
            <a:ext cx="998100" cy="5196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5" name="Google Shape;555;p58"/>
          <p:cNvPicPr preferRelativeResize="0"/>
          <p:nvPr/>
        </p:nvPicPr>
        <p:blipFill>
          <a:blip r:embed="rId4">
            <a:alphaModFix/>
          </a:blip>
          <a:stretch>
            <a:fillRect/>
          </a:stretch>
        </p:blipFill>
        <p:spPr>
          <a:xfrm>
            <a:off x="5532955" y="165650"/>
            <a:ext cx="3226497" cy="4356399"/>
          </a:xfrm>
          <a:prstGeom prst="rect">
            <a:avLst/>
          </a:prstGeom>
          <a:noFill/>
          <a:ln>
            <a:noFill/>
          </a:ln>
        </p:spPr>
      </p:pic>
      <p:cxnSp>
        <p:nvCxnSpPr>
          <p:cNvPr id="556" name="Google Shape;556;p58"/>
          <p:cNvCxnSpPr/>
          <p:nvPr/>
        </p:nvCxnSpPr>
        <p:spPr>
          <a:xfrm rot="10800000" flipH="1">
            <a:off x="2988375" y="1688150"/>
            <a:ext cx="2512200" cy="17406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animEffect transition="in" filter="fade">
                                      <p:cBhvr>
                                        <p:cTn id="7" dur="700"/>
                                        <p:tgtEl>
                                          <p:spTgt spid="556"/>
                                        </p:tgtEl>
                                      </p:cBhvr>
                                    </p:animEffect>
                                  </p:childTnLst>
                                </p:cTn>
                              </p:par>
                              <p:par>
                                <p:cTn id="8" presetID="10" presetClass="entr" presetSubtype="0" fill="hold" nodeType="withEffect">
                                  <p:stCondLst>
                                    <p:cond delay="0"/>
                                  </p:stCondLst>
                                  <p:childTnLst>
                                    <p:set>
                                      <p:cBhvr>
                                        <p:cTn id="9" dur="1" fill="hold">
                                          <p:stCondLst>
                                            <p:cond delay="0"/>
                                          </p:stCondLst>
                                        </p:cTn>
                                        <p:tgtEl>
                                          <p:spTgt spid="555"/>
                                        </p:tgtEl>
                                        <p:attrNameLst>
                                          <p:attrName>style.visibility</p:attrName>
                                        </p:attrNameLst>
                                      </p:cBhvr>
                                      <p:to>
                                        <p:strVal val="visible"/>
                                      </p:to>
                                    </p:set>
                                    <p:animEffect transition="in" filter="fade">
                                      <p:cBhvr>
                                        <p:cTn id="10" dur="1000"/>
                                        <p:tgtEl>
                                          <p:spTgt spid="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59"/>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48</a:t>
            </a:fld>
            <a:endParaRPr/>
          </a:p>
        </p:txBody>
      </p:sp>
      <p:sp>
        <p:nvSpPr>
          <p:cNvPr id="562" name="Google Shape;562;p59"/>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Question:</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During winter vacation, you want to take a trip to Tokyo with your friend for five days. Because you are students, you decided to find the cheapest round-trip tickets in January.</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Purpose: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Test the function of  finding whole month price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a:t>
            </a:r>
            <a:endParaRPr b="1">
              <a:solidFill>
                <a:schemeClr val="dk1"/>
              </a:solidFill>
              <a:latin typeface="Lato"/>
              <a:ea typeface="Lato"/>
              <a:cs typeface="Lato"/>
              <a:sym typeface="Lato"/>
            </a:endParaRPr>
          </a:p>
        </p:txBody>
      </p:sp>
      <p:graphicFrame>
        <p:nvGraphicFramePr>
          <p:cNvPr id="563" name="Google Shape;563;p59"/>
          <p:cNvGraphicFramePr/>
          <p:nvPr/>
        </p:nvGraphicFramePr>
        <p:xfrm>
          <a:off x="1851388" y="3261175"/>
          <a:ext cx="5441200" cy="1252370"/>
        </p:xfrm>
        <a:graphic>
          <a:graphicData uri="http://schemas.openxmlformats.org/drawingml/2006/table">
            <a:tbl>
              <a:tblPr>
                <a:noFill/>
                <a:tableStyleId>{AC0D9067-4189-4902-9140-2DD05B903422}</a:tableStyleId>
              </a:tblPr>
              <a:tblGrid>
                <a:gridCol w="1360300"/>
                <a:gridCol w="1360300"/>
                <a:gridCol w="1360300"/>
                <a:gridCol w="1360300"/>
              </a:tblGrid>
              <a:tr h="528500">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PS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bl>
          </a:graphicData>
        </a:graphic>
      </p:graphicFrame>
      <p:sp>
        <p:nvSpPr>
          <p:cNvPr id="564" name="Google Shape;564;p59"/>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65" name="Google Shape;565;p59"/>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60"/>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49</a:t>
            </a:fld>
            <a:endParaRPr/>
          </a:p>
        </p:txBody>
      </p:sp>
      <p:sp>
        <p:nvSpPr>
          <p:cNvPr id="571" name="Google Shape;571;p60"/>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sp>
        <p:nvSpPr>
          <p:cNvPr id="572" name="Google Shape;572;p60"/>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One user take long time to find the function</a:t>
            </a:r>
            <a:endParaRPr b="1">
              <a:solidFill>
                <a:schemeClr val="dk1"/>
              </a:solidFill>
              <a:latin typeface="Lato"/>
              <a:ea typeface="Lato"/>
              <a:cs typeface="Lato"/>
              <a:sym typeface="Lato"/>
            </a:endParaRPr>
          </a:p>
          <a:p>
            <a:pPr marL="914400" lvl="0" indent="0" algn="l" rtl="0">
              <a:lnSpc>
                <a:spcPct val="115000"/>
              </a:lnSpc>
              <a:spcBef>
                <a:spcPts val="0"/>
              </a:spcBef>
              <a:spcAft>
                <a:spcPts val="0"/>
              </a:spcAft>
              <a:buNone/>
            </a:pPr>
            <a:endParaRPr b="1">
              <a:solidFill>
                <a:schemeClr val="dk1"/>
              </a:solidFill>
              <a:latin typeface="Lato"/>
              <a:ea typeface="Lato"/>
              <a:cs typeface="Lato"/>
              <a:sym typeface="Lato"/>
            </a:endParaRPr>
          </a:p>
        </p:txBody>
      </p:sp>
      <p:pic>
        <p:nvPicPr>
          <p:cNvPr id="573" name="Google Shape;573;p60"/>
          <p:cNvPicPr preferRelativeResize="0"/>
          <p:nvPr/>
        </p:nvPicPr>
        <p:blipFill rotWithShape="1">
          <a:blip r:embed="rId3">
            <a:alphaModFix/>
          </a:blip>
          <a:srcRect l="28668"/>
          <a:stretch/>
        </p:blipFill>
        <p:spPr>
          <a:xfrm>
            <a:off x="869500" y="2012150"/>
            <a:ext cx="2561725" cy="2602975"/>
          </a:xfrm>
          <a:prstGeom prst="rect">
            <a:avLst/>
          </a:prstGeom>
          <a:noFill/>
          <a:ln>
            <a:noFill/>
          </a:ln>
        </p:spPr>
      </p:pic>
      <p:sp>
        <p:nvSpPr>
          <p:cNvPr id="574" name="Google Shape;574;p60"/>
          <p:cNvSpPr/>
          <p:nvPr/>
        </p:nvSpPr>
        <p:spPr>
          <a:xfrm>
            <a:off x="2561725" y="2571750"/>
            <a:ext cx="722400" cy="240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5" name="Google Shape;575;p60"/>
          <p:cNvPicPr preferRelativeResize="0"/>
          <p:nvPr/>
        </p:nvPicPr>
        <p:blipFill>
          <a:blip r:embed="rId4">
            <a:alphaModFix/>
          </a:blip>
          <a:stretch>
            <a:fillRect/>
          </a:stretch>
        </p:blipFill>
        <p:spPr>
          <a:xfrm>
            <a:off x="3767151" y="2433724"/>
            <a:ext cx="4814275" cy="611800"/>
          </a:xfrm>
          <a:prstGeom prst="rect">
            <a:avLst/>
          </a:prstGeom>
          <a:noFill/>
          <a:ln>
            <a:noFill/>
          </a:ln>
        </p:spPr>
      </p:pic>
      <p:sp>
        <p:nvSpPr>
          <p:cNvPr id="576" name="Google Shape;576;p60"/>
          <p:cNvSpPr/>
          <p:nvPr/>
        </p:nvSpPr>
        <p:spPr>
          <a:xfrm>
            <a:off x="3767150" y="2812650"/>
            <a:ext cx="622200" cy="1941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61"/>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50</a:t>
            </a:fld>
            <a:endParaRPr/>
          </a:p>
        </p:txBody>
      </p:sp>
      <p:sp>
        <p:nvSpPr>
          <p:cNvPr id="582" name="Google Shape;582;p61"/>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Question:</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 b="1">
                <a:solidFill>
                  <a:schemeClr val="dk1"/>
                </a:solidFill>
                <a:latin typeface="Lato"/>
                <a:ea typeface="Lato"/>
                <a:cs typeface="Lato"/>
                <a:sym typeface="Lato"/>
              </a:rPr>
              <a:t>                   The typhoon is coming soon. The reporter said it will land on 2018/10/31. And now you are in        </a:t>
            </a:r>
            <a:br>
              <a:rPr lang="en" b="1">
                <a:solidFill>
                  <a:schemeClr val="dk1"/>
                </a:solidFill>
                <a:latin typeface="Lato"/>
                <a:ea typeface="Lato"/>
                <a:cs typeface="Lato"/>
                <a:sym typeface="Lato"/>
              </a:rPr>
            </a:br>
            <a:r>
              <a:rPr lang="en" b="1">
                <a:solidFill>
                  <a:schemeClr val="dk1"/>
                </a:solidFill>
                <a:latin typeface="Lato"/>
                <a:ea typeface="Lato"/>
                <a:cs typeface="Lato"/>
                <a:sym typeface="Lato"/>
              </a:rPr>
              <a:t>                   Tokyo. So you need to back to Taipei before Typhoon coming. And you want to choose a cheapest </a:t>
            </a:r>
            <a:br>
              <a:rPr lang="en" b="1">
                <a:solidFill>
                  <a:schemeClr val="dk1"/>
                </a:solidFill>
                <a:latin typeface="Lato"/>
                <a:ea typeface="Lato"/>
                <a:cs typeface="Lato"/>
                <a:sym typeface="Lato"/>
              </a:rPr>
            </a:br>
            <a:r>
              <a:rPr lang="en" b="1">
                <a:solidFill>
                  <a:schemeClr val="dk1"/>
                </a:solidFill>
                <a:latin typeface="Lato"/>
                <a:ea typeface="Lato"/>
                <a:cs typeface="Lato"/>
                <a:sym typeface="Lato"/>
              </a:rPr>
              <a:t>                   ticket. Now, you only have a smartphone. So you need to use it to book a ticket.</a:t>
            </a:r>
            <a:endParaRPr b="1">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Purpose:</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r>
              <a:rPr lang="en" b="1">
                <a:solidFill>
                  <a:schemeClr val="dk1"/>
                </a:solidFill>
                <a:latin typeface="Lato"/>
                <a:ea typeface="Lato"/>
                <a:cs typeface="Lato"/>
                <a:sym typeface="Lato"/>
              </a:rPr>
              <a:t>     Smartphone interface </a:t>
            </a: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endParaRPr b="1">
              <a:solidFill>
                <a:schemeClr val="dk1"/>
              </a:solidFill>
              <a:latin typeface="Lato"/>
              <a:ea typeface="Lato"/>
              <a:cs typeface="Lato"/>
              <a:sym typeface="Lato"/>
            </a:endParaRPr>
          </a:p>
        </p:txBody>
      </p:sp>
      <p:graphicFrame>
        <p:nvGraphicFramePr>
          <p:cNvPr id="583" name="Google Shape;583;p61"/>
          <p:cNvGraphicFramePr/>
          <p:nvPr/>
        </p:nvGraphicFramePr>
        <p:xfrm>
          <a:off x="1329488" y="2942700"/>
          <a:ext cx="5441200" cy="1252370"/>
        </p:xfrm>
        <a:graphic>
          <a:graphicData uri="http://schemas.openxmlformats.org/drawingml/2006/table">
            <a:tbl>
              <a:tblPr>
                <a:noFill/>
                <a:tableStyleId>{AC0D9067-4189-4902-9140-2DD05B903422}</a:tableStyleId>
              </a:tblPr>
              <a:tblGrid>
                <a:gridCol w="1360300"/>
                <a:gridCol w="1360300"/>
                <a:gridCol w="1360300"/>
                <a:gridCol w="1360300"/>
              </a:tblGrid>
              <a:tr h="528500">
                <a:tc>
                  <a:txBody>
                    <a:bodyPr/>
                    <a:lstStyle/>
                    <a:p>
                      <a:pPr marL="0" lvl="0" indent="0" algn="l" rtl="0">
                        <a:spcBef>
                          <a:spcPts val="0"/>
                        </a:spcBef>
                        <a:spcAft>
                          <a:spcPts val="0"/>
                        </a:spcAft>
                        <a:buNone/>
                      </a:pPr>
                      <a:r>
                        <a:rPr lang="en" b="1"/>
                        <a:t>User 1</a:t>
                      </a:r>
                      <a:endParaRPr b="1"/>
                    </a:p>
                    <a:p>
                      <a:pPr marL="0" lvl="0" indent="0" algn="l" rtl="0">
                        <a:spcBef>
                          <a:spcPts val="0"/>
                        </a:spcBef>
                        <a:spcAft>
                          <a:spcPts val="0"/>
                        </a:spcAft>
                        <a:buNone/>
                      </a:pPr>
                      <a:r>
                        <a:rPr lang="en" sz="1000" b="1"/>
                        <a:t>Taiwanese 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2</a:t>
                      </a:r>
                      <a:endParaRPr b="1"/>
                    </a:p>
                    <a:p>
                      <a:pPr marL="0" lvl="0" indent="0" algn="l" rtl="0">
                        <a:spcBef>
                          <a:spcPts val="0"/>
                        </a:spcBef>
                        <a:spcAft>
                          <a:spcPts val="0"/>
                        </a:spcAft>
                        <a:buNone/>
                      </a:pPr>
                      <a:r>
                        <a:rPr lang="en" sz="1000" b="1">
                          <a:solidFill>
                            <a:schemeClr val="dk1"/>
                          </a:solidFill>
                        </a:rPr>
                        <a:t>Taiwanese Inexperienced</a:t>
                      </a:r>
                      <a:endParaRPr b="1"/>
                    </a:p>
                  </a:txBody>
                  <a:tcPr marL="91425" marR="91425" marT="91425" marB="91425">
                    <a:solidFill>
                      <a:srgbClr val="FFCD00"/>
                    </a:solidFill>
                  </a:tcPr>
                </a:tc>
                <a:tc>
                  <a:txBody>
                    <a:bodyPr/>
                    <a:lstStyle/>
                    <a:p>
                      <a:pPr marL="0" lvl="0" indent="0" algn="l" rtl="0">
                        <a:spcBef>
                          <a:spcPts val="0"/>
                        </a:spcBef>
                        <a:spcAft>
                          <a:spcPts val="0"/>
                        </a:spcAft>
                        <a:buNone/>
                      </a:pPr>
                      <a:r>
                        <a:rPr lang="en" b="1"/>
                        <a:t>User 3</a:t>
                      </a:r>
                      <a:endParaRPr b="1"/>
                    </a:p>
                    <a:p>
                      <a:pPr marL="0" lvl="0" indent="0" algn="l" rtl="0">
                        <a:lnSpc>
                          <a:spcPct val="115000"/>
                        </a:lnSpc>
                        <a:spcBef>
                          <a:spcPts val="0"/>
                        </a:spcBef>
                        <a:spcAft>
                          <a:spcPts val="0"/>
                        </a:spcAft>
                        <a:buNone/>
                      </a:pPr>
                      <a:r>
                        <a:rPr lang="en" sz="1000" b="1"/>
                        <a:t>Foreigner</a:t>
                      </a:r>
                      <a:endParaRPr sz="1000" b="1"/>
                    </a:p>
                    <a:p>
                      <a:pPr marL="0" lvl="0" indent="0" algn="l" rtl="0">
                        <a:spcBef>
                          <a:spcPts val="0"/>
                        </a:spcBef>
                        <a:spcAft>
                          <a:spcPts val="0"/>
                        </a:spcAft>
                        <a:buClr>
                          <a:schemeClr val="dk1"/>
                        </a:buClr>
                        <a:buSzPts val="1100"/>
                        <a:buFont typeface="Arial"/>
                        <a:buNone/>
                      </a:pPr>
                      <a:r>
                        <a:rPr lang="en" sz="1000" b="1">
                          <a:solidFill>
                            <a:schemeClr val="dk1"/>
                          </a:solidFill>
                        </a:rPr>
                        <a:t>Inexperienced</a:t>
                      </a:r>
                      <a:endParaRPr sz="1000" b="1"/>
                    </a:p>
                  </a:txBody>
                  <a:tcPr marL="91425" marR="91425" marT="91425" marB="91425">
                    <a:solidFill>
                      <a:srgbClr val="FFCD00"/>
                    </a:solidFill>
                  </a:tcPr>
                </a:tc>
                <a:tc>
                  <a:txBody>
                    <a:bodyPr/>
                    <a:lstStyle/>
                    <a:p>
                      <a:pPr marL="0" lvl="0" indent="0" algn="l" rtl="0">
                        <a:spcBef>
                          <a:spcPts val="0"/>
                        </a:spcBef>
                        <a:spcAft>
                          <a:spcPts val="0"/>
                        </a:spcAft>
                        <a:buNone/>
                      </a:pPr>
                      <a:r>
                        <a:rPr lang="en" b="1"/>
                        <a:t>User 4</a:t>
                      </a:r>
                      <a:endParaRPr b="1"/>
                    </a:p>
                    <a:p>
                      <a:pPr marL="0" lvl="0" indent="0" algn="l" rtl="0">
                        <a:lnSpc>
                          <a:spcPct val="115000"/>
                        </a:lnSpc>
                        <a:spcBef>
                          <a:spcPts val="0"/>
                        </a:spcBef>
                        <a:spcAft>
                          <a:spcPts val="0"/>
                        </a:spcAft>
                        <a:buNone/>
                      </a:pPr>
                      <a:r>
                        <a:rPr lang="en" sz="1000" b="1">
                          <a:solidFill>
                            <a:schemeClr val="dk1"/>
                          </a:solidFill>
                        </a:rPr>
                        <a:t>Foreigner</a:t>
                      </a:r>
                      <a:endParaRPr sz="1000" b="1">
                        <a:solidFill>
                          <a:schemeClr val="dk1"/>
                        </a:solidFill>
                      </a:endParaRPr>
                    </a:p>
                    <a:p>
                      <a:pPr marL="0" lvl="0" indent="0" algn="l" rtl="0">
                        <a:spcBef>
                          <a:spcPts val="0"/>
                        </a:spcBef>
                        <a:spcAft>
                          <a:spcPts val="0"/>
                        </a:spcAft>
                        <a:buClr>
                          <a:schemeClr val="dk1"/>
                        </a:buClr>
                        <a:buSzPts val="1100"/>
                        <a:buFont typeface="Arial"/>
                        <a:buNone/>
                      </a:pPr>
                      <a:r>
                        <a:rPr lang="en" sz="1000" b="1">
                          <a:solidFill>
                            <a:schemeClr val="dk1"/>
                          </a:solidFill>
                        </a:rPr>
                        <a:t>Experienced</a:t>
                      </a:r>
                      <a:endParaRPr sz="1000" b="1">
                        <a:solidFill>
                          <a:schemeClr val="dk1"/>
                        </a:solidFill>
                      </a:endParaRPr>
                    </a:p>
                  </a:txBody>
                  <a:tcPr marL="91425" marR="91425" marT="91425" marB="91425">
                    <a:solidFill>
                      <a:srgbClr val="FFCD00"/>
                    </a:solidFill>
                  </a:tcPr>
                </a:tc>
              </a:tr>
              <a:tr h="528500">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PS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c>
                  <a:txBody>
                    <a:bodyPr/>
                    <a:lstStyle/>
                    <a:p>
                      <a:pPr marL="0" lvl="0" indent="0" algn="l" rtl="0">
                        <a:spcBef>
                          <a:spcPts val="0"/>
                        </a:spcBef>
                        <a:spcAft>
                          <a:spcPts val="0"/>
                        </a:spcAft>
                        <a:buNone/>
                      </a:pPr>
                      <a:r>
                        <a:rPr lang="en" sz="1800" b="1"/>
                        <a:t>S</a:t>
                      </a:r>
                      <a:endParaRPr sz="1800" b="1"/>
                    </a:p>
                  </a:txBody>
                  <a:tcPr marL="91425" marR="91425" marT="91425" marB="91425"/>
                </a:tc>
              </a:tr>
            </a:tbl>
          </a:graphicData>
        </a:graphic>
      </p:graphicFrame>
      <p:sp>
        <p:nvSpPr>
          <p:cNvPr id="584" name="Google Shape;584;p61"/>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85" name="Google Shape;585;p61"/>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62"/>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51</a:t>
            </a:fld>
            <a:endParaRPr/>
          </a:p>
        </p:txBody>
      </p:sp>
      <p:sp>
        <p:nvSpPr>
          <p:cNvPr id="591" name="Google Shape;591;p62"/>
          <p:cNvSpPr txBox="1"/>
          <p:nvPr/>
        </p:nvSpPr>
        <p:spPr>
          <a:xfrm>
            <a:off x="604325" y="1110175"/>
            <a:ext cx="8539800" cy="230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Analysis</a:t>
            </a: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Confuse with "magnifier" function</a:t>
            </a:r>
            <a:endParaRPr b="1">
              <a:solidFill>
                <a:schemeClr val="dk1"/>
              </a:solidFill>
              <a:latin typeface="Lato"/>
              <a:ea typeface="Lato"/>
              <a:cs typeface="Lato"/>
              <a:sym typeface="Lato"/>
            </a:endParaRPr>
          </a:p>
          <a:p>
            <a:pPr marL="914400" lvl="0" indent="0" algn="l" rtl="0">
              <a:lnSpc>
                <a:spcPct val="115000"/>
              </a:lnSpc>
              <a:spcBef>
                <a:spcPts val="0"/>
              </a:spcBef>
              <a:spcAft>
                <a:spcPts val="0"/>
              </a:spcAft>
              <a:buNone/>
            </a:pPr>
            <a:endParaRPr b="1">
              <a:solidFill>
                <a:schemeClr val="dk1"/>
              </a:solidFill>
              <a:latin typeface="Lato"/>
              <a:ea typeface="Lato"/>
              <a:cs typeface="Lato"/>
              <a:sym typeface="Lato"/>
            </a:endParaRPr>
          </a:p>
          <a:p>
            <a:pPr marL="914400" lvl="0" indent="0" algn="l" rtl="0">
              <a:lnSpc>
                <a:spcPct val="115000"/>
              </a:lnSpc>
              <a:spcBef>
                <a:spcPts val="0"/>
              </a:spcBef>
              <a:spcAft>
                <a:spcPts val="0"/>
              </a:spcAft>
              <a:buNone/>
            </a:pPr>
            <a:endParaRPr b="1">
              <a:solidFill>
                <a:schemeClr val="dk1"/>
              </a:solidFill>
              <a:latin typeface="Lato"/>
              <a:ea typeface="Lato"/>
              <a:cs typeface="Lato"/>
              <a:sym typeface="Lato"/>
            </a:endParaRPr>
          </a:p>
          <a:p>
            <a:pPr marL="914400" lvl="1" indent="-317500" algn="l" rtl="0">
              <a:lnSpc>
                <a:spcPct val="115000"/>
              </a:lnSpc>
              <a:spcBef>
                <a:spcPts val="0"/>
              </a:spcBef>
              <a:spcAft>
                <a:spcPts val="0"/>
              </a:spcAft>
              <a:buClr>
                <a:schemeClr val="dk1"/>
              </a:buClr>
              <a:buSzPts val="1400"/>
              <a:buFont typeface="Lato"/>
              <a:buChar char="○"/>
            </a:pPr>
            <a:r>
              <a:rPr lang="en" b="1">
                <a:solidFill>
                  <a:schemeClr val="dk1"/>
                </a:solidFill>
                <a:latin typeface="Lato"/>
                <a:ea typeface="Lato"/>
                <a:cs typeface="Lato"/>
                <a:sym typeface="Lato"/>
              </a:rPr>
              <a:t>User can provide traffic time to filter </a:t>
            </a:r>
            <a:endParaRPr b="1">
              <a:solidFill>
                <a:schemeClr val="dk1"/>
              </a:solidFill>
              <a:latin typeface="Lato"/>
              <a:ea typeface="Lato"/>
              <a:cs typeface="Lato"/>
              <a:sym typeface="Lato"/>
            </a:endParaRPr>
          </a:p>
          <a:p>
            <a:pPr marL="914400" lvl="0" indent="0" algn="l" rtl="0">
              <a:lnSpc>
                <a:spcPct val="115000"/>
              </a:lnSpc>
              <a:spcBef>
                <a:spcPts val="0"/>
              </a:spcBef>
              <a:spcAft>
                <a:spcPts val="0"/>
              </a:spcAft>
              <a:buNone/>
            </a:pPr>
            <a:r>
              <a:rPr lang="en" b="1">
                <a:solidFill>
                  <a:schemeClr val="dk1"/>
                </a:solidFill>
                <a:latin typeface="Lato"/>
                <a:ea typeface="Lato"/>
                <a:cs typeface="Lato"/>
                <a:sym typeface="Lato"/>
              </a:rPr>
              <a:t>some impossible flight.</a:t>
            </a:r>
            <a:endParaRPr b="1">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b="1">
              <a:solidFill>
                <a:schemeClr val="dk1"/>
              </a:solidFill>
              <a:latin typeface="Lato"/>
              <a:ea typeface="Lato"/>
              <a:cs typeface="Lato"/>
              <a:sym typeface="Lato"/>
            </a:endParaRPr>
          </a:p>
          <a:p>
            <a:pPr marL="457200" lvl="0" indent="0" algn="l" rtl="0">
              <a:lnSpc>
                <a:spcPct val="115000"/>
              </a:lnSpc>
              <a:spcBef>
                <a:spcPts val="0"/>
              </a:spcBef>
              <a:spcAft>
                <a:spcPts val="0"/>
              </a:spcAft>
              <a:buNone/>
            </a:pPr>
            <a:endParaRPr b="1">
              <a:solidFill>
                <a:schemeClr val="dk1"/>
              </a:solidFill>
              <a:latin typeface="Lato"/>
              <a:ea typeface="Lato"/>
              <a:cs typeface="Lato"/>
              <a:sym typeface="Lato"/>
            </a:endParaRPr>
          </a:p>
        </p:txBody>
      </p:sp>
      <p:sp>
        <p:nvSpPr>
          <p:cNvPr id="592" name="Google Shape;592;p62"/>
          <p:cNvSpPr txBox="1">
            <a:spLocks noGrp="1"/>
          </p:cNvSpPr>
          <p:nvPr>
            <p:ph type="ctrTitle" idx="4294967295"/>
          </p:nvPr>
        </p:nvSpPr>
        <p:spPr>
          <a:xfrm>
            <a:off x="503550" y="267497"/>
            <a:ext cx="8136900" cy="51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sz="2400">
                <a:highlight>
                  <a:srgbClr val="FFCD00"/>
                </a:highlight>
              </a:rPr>
              <a:t>Analysis</a:t>
            </a:r>
            <a:endParaRPr sz="2400" b="1" i="0" u="none" strike="noStrike" cap="none">
              <a:solidFill>
                <a:srgbClr val="000000"/>
              </a:solidFill>
              <a:highlight>
                <a:srgbClr val="FFCD00"/>
              </a:highlight>
              <a:latin typeface="Lora"/>
              <a:ea typeface="Lora"/>
              <a:cs typeface="Lora"/>
              <a:sym typeface="Lora"/>
            </a:endParaRPr>
          </a:p>
        </p:txBody>
      </p:sp>
      <p:cxnSp>
        <p:nvCxnSpPr>
          <p:cNvPr id="593" name="Google Shape;593;p62"/>
          <p:cNvCxnSpPr/>
          <p:nvPr/>
        </p:nvCxnSpPr>
        <p:spPr>
          <a:xfrm>
            <a:off x="-9000" y="934803"/>
            <a:ext cx="9162000" cy="0"/>
          </a:xfrm>
          <a:prstGeom prst="straightConnector1">
            <a:avLst/>
          </a:prstGeom>
          <a:noFill/>
          <a:ln w="9525" cap="flat" cmpd="sng">
            <a:solidFill>
              <a:srgbClr val="CCCCCC"/>
            </a:solidFill>
            <a:prstDash val="solid"/>
            <a:round/>
            <a:headEnd type="none" w="sm" len="sm"/>
            <a:tailEnd type="none" w="sm" len="sm"/>
          </a:ln>
        </p:spPr>
      </p:cxnSp>
      <p:pic>
        <p:nvPicPr>
          <p:cNvPr id="594" name="Google Shape;594;p62"/>
          <p:cNvPicPr preferRelativeResize="0"/>
          <p:nvPr/>
        </p:nvPicPr>
        <p:blipFill>
          <a:blip r:embed="rId3">
            <a:alphaModFix/>
          </a:blip>
          <a:stretch>
            <a:fillRect/>
          </a:stretch>
        </p:blipFill>
        <p:spPr>
          <a:xfrm>
            <a:off x="7004600" y="1082500"/>
            <a:ext cx="1919625" cy="3997524"/>
          </a:xfrm>
          <a:prstGeom prst="rect">
            <a:avLst/>
          </a:prstGeom>
          <a:noFill/>
          <a:ln>
            <a:noFill/>
          </a:ln>
        </p:spPr>
      </p:pic>
      <p:pic>
        <p:nvPicPr>
          <p:cNvPr id="595" name="Google Shape;595;p62"/>
          <p:cNvPicPr preferRelativeResize="0"/>
          <p:nvPr/>
        </p:nvPicPr>
        <p:blipFill>
          <a:blip r:embed="rId4">
            <a:alphaModFix/>
          </a:blip>
          <a:stretch>
            <a:fillRect/>
          </a:stretch>
        </p:blipFill>
        <p:spPr>
          <a:xfrm>
            <a:off x="4953000" y="1082500"/>
            <a:ext cx="1919625" cy="3997481"/>
          </a:xfrm>
          <a:prstGeom prst="rect">
            <a:avLst/>
          </a:prstGeom>
          <a:noFill/>
          <a:ln>
            <a:noFill/>
          </a:ln>
        </p:spPr>
      </p:pic>
      <p:sp>
        <p:nvSpPr>
          <p:cNvPr id="596" name="Google Shape;596;p62"/>
          <p:cNvSpPr/>
          <p:nvPr/>
        </p:nvSpPr>
        <p:spPr>
          <a:xfrm>
            <a:off x="4953000" y="3736050"/>
            <a:ext cx="1351500" cy="3936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62"/>
          <p:cNvSpPr/>
          <p:nvPr/>
        </p:nvSpPr>
        <p:spPr>
          <a:xfrm>
            <a:off x="7004600" y="3981025"/>
            <a:ext cx="2016900" cy="8274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8" name="Google Shape;598;p62"/>
          <p:cNvCxnSpPr>
            <a:stCxn id="596" idx="3"/>
          </p:cNvCxnSpPr>
          <p:nvPr/>
        </p:nvCxnSpPr>
        <p:spPr>
          <a:xfrm>
            <a:off x="6304500" y="3932850"/>
            <a:ext cx="608400" cy="1485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7"/>
                                        </p:tgtEl>
                                        <p:attrNameLst>
                                          <p:attrName>style.visibility</p:attrName>
                                        </p:attrNameLst>
                                      </p:cBhvr>
                                      <p:to>
                                        <p:strVal val="visible"/>
                                      </p:to>
                                    </p:set>
                                    <p:animEffect transition="in" filter="fade">
                                      <p:cBhvr>
                                        <p:cTn id="7" dur="700"/>
                                        <p:tgtEl>
                                          <p:spTgt spid="597"/>
                                        </p:tgtEl>
                                      </p:cBhvr>
                                    </p:animEffect>
                                  </p:childTnLst>
                                </p:cTn>
                              </p:par>
                              <p:par>
                                <p:cTn id="8" presetID="10" presetClass="entr" presetSubtype="0" fill="hold" nodeType="withEffect">
                                  <p:stCondLst>
                                    <p:cond delay="0"/>
                                  </p:stCondLst>
                                  <p:childTnLst>
                                    <p:set>
                                      <p:cBhvr>
                                        <p:cTn id="9" dur="1" fill="hold">
                                          <p:stCondLst>
                                            <p:cond delay="0"/>
                                          </p:stCondLst>
                                        </p:cTn>
                                        <p:tgtEl>
                                          <p:spTgt spid="598"/>
                                        </p:tgtEl>
                                        <p:attrNameLst>
                                          <p:attrName>style.visibility</p:attrName>
                                        </p:attrNameLst>
                                      </p:cBhvr>
                                      <p:to>
                                        <p:strVal val="visible"/>
                                      </p:to>
                                    </p:set>
                                    <p:animEffect transition="in" filter="fade">
                                      <p:cBhvr>
                                        <p:cTn id="10" dur="1000"/>
                                        <p:tgtEl>
                                          <p:spTgt spid="598"/>
                                        </p:tgtEl>
                                      </p:cBhvr>
                                    </p:animEffect>
                                  </p:childTnLst>
                                </p:cTn>
                              </p:par>
                              <p:par>
                                <p:cTn id="11" presetID="10" presetClass="entr" presetSubtype="0" fill="hold" nodeType="withEffect">
                                  <p:stCondLst>
                                    <p:cond delay="0"/>
                                  </p:stCondLst>
                                  <p:childTnLst>
                                    <p:set>
                                      <p:cBhvr>
                                        <p:cTn id="12" dur="1" fill="hold">
                                          <p:stCondLst>
                                            <p:cond delay="0"/>
                                          </p:stCondLst>
                                        </p:cTn>
                                        <p:tgtEl>
                                          <p:spTgt spid="594"/>
                                        </p:tgtEl>
                                        <p:attrNameLst>
                                          <p:attrName>style.visibility</p:attrName>
                                        </p:attrNameLst>
                                      </p:cBhvr>
                                      <p:to>
                                        <p:strVal val="visible"/>
                                      </p:to>
                                    </p:set>
                                    <p:animEffect transition="in" filter="fade">
                                      <p:cBhvr>
                                        <p:cTn id="13" dur="10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63"/>
          <p:cNvSpPr txBox="1">
            <a:spLocks noGrp="1"/>
          </p:cNvSpPr>
          <p:nvPr>
            <p:ph type="title"/>
          </p:nvPr>
        </p:nvSpPr>
        <p:spPr>
          <a:xfrm>
            <a:off x="1381250" y="922668"/>
            <a:ext cx="3878400" cy="43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Lora"/>
              <a:buNone/>
            </a:pPr>
            <a:r>
              <a:rPr lang="en"/>
              <a:t>Our evaluation</a:t>
            </a:r>
            <a:endParaRPr sz="2000" b="1" i="0" u="none" strike="noStrike" cap="none">
              <a:solidFill>
                <a:srgbClr val="000000"/>
              </a:solidFill>
              <a:highlight>
                <a:srgbClr val="FFCD00"/>
              </a:highlight>
              <a:latin typeface="Lora"/>
              <a:ea typeface="Lora"/>
              <a:cs typeface="Lora"/>
              <a:sym typeface="Lora"/>
            </a:endParaRPr>
          </a:p>
        </p:txBody>
      </p:sp>
      <p:sp>
        <p:nvSpPr>
          <p:cNvPr id="604" name="Google Shape;604;p63"/>
          <p:cNvSpPr txBox="1">
            <a:spLocks noGrp="1"/>
          </p:cNvSpPr>
          <p:nvPr>
            <p:ph type="body" idx="1"/>
          </p:nvPr>
        </p:nvSpPr>
        <p:spPr>
          <a:xfrm>
            <a:off x="3851920" y="1616470"/>
            <a:ext cx="4338900" cy="31122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600"/>
              </a:spcBef>
              <a:spcAft>
                <a:spcPts val="0"/>
              </a:spcAft>
              <a:buSzPts val="1400"/>
              <a:buFont typeface="Lora"/>
              <a:buChar char="●"/>
            </a:pPr>
            <a:r>
              <a:rPr lang="en" sz="1400">
                <a:latin typeface="Lora"/>
                <a:ea typeface="Lora"/>
                <a:cs typeface="Lora"/>
                <a:sym typeface="Lora"/>
              </a:rPr>
              <a:t>Almost Everyone can complete all the tasks, because Skyscanner is a well design website.</a:t>
            </a:r>
            <a:endParaRPr sz="1400">
              <a:latin typeface="Lora"/>
              <a:ea typeface="Lora"/>
              <a:cs typeface="Lora"/>
              <a:sym typeface="Lora"/>
            </a:endParaRPr>
          </a:p>
          <a:p>
            <a:pPr marL="457200" marR="0" lvl="0" indent="0" algn="l" rtl="0">
              <a:lnSpc>
                <a:spcPct val="100000"/>
              </a:lnSpc>
              <a:spcBef>
                <a:spcPts val="600"/>
              </a:spcBef>
              <a:spcAft>
                <a:spcPts val="0"/>
              </a:spcAft>
              <a:buNone/>
            </a:pPr>
            <a:endParaRPr sz="1400">
              <a:latin typeface="Lora"/>
              <a:ea typeface="Lora"/>
              <a:cs typeface="Lora"/>
              <a:sym typeface="Lora"/>
            </a:endParaRPr>
          </a:p>
          <a:p>
            <a:pPr marL="457200" marR="0" lvl="0" indent="-317500" algn="l" rtl="0">
              <a:lnSpc>
                <a:spcPct val="100000"/>
              </a:lnSpc>
              <a:spcBef>
                <a:spcPts val="600"/>
              </a:spcBef>
              <a:spcAft>
                <a:spcPts val="0"/>
              </a:spcAft>
              <a:buSzPts val="1400"/>
              <a:buFont typeface="Lora"/>
              <a:buChar char="●"/>
            </a:pPr>
            <a:r>
              <a:rPr lang="en" sz="1400">
                <a:solidFill>
                  <a:schemeClr val="dk1"/>
                </a:solidFill>
                <a:latin typeface="Lora"/>
                <a:ea typeface="Lora"/>
                <a:cs typeface="Lora"/>
                <a:sym typeface="Lora"/>
              </a:rPr>
              <a:t>Foreigner</a:t>
            </a:r>
            <a:endParaRPr sz="1400">
              <a:latin typeface="Lora"/>
              <a:ea typeface="Lora"/>
              <a:cs typeface="Lora"/>
              <a:sym typeface="Lora"/>
            </a:endParaRPr>
          </a:p>
          <a:p>
            <a:pPr marL="914400" marR="0" lvl="1" indent="-317500" algn="l" rtl="0">
              <a:lnSpc>
                <a:spcPct val="100000"/>
              </a:lnSpc>
              <a:spcBef>
                <a:spcPts val="0"/>
              </a:spcBef>
              <a:spcAft>
                <a:spcPts val="0"/>
              </a:spcAft>
              <a:buSzPts val="1400"/>
              <a:buFont typeface="Lora"/>
              <a:buChar char="○"/>
            </a:pPr>
            <a:r>
              <a:rPr lang="en" sz="1400">
                <a:latin typeface="Lora"/>
                <a:ea typeface="Lora"/>
                <a:cs typeface="Lora"/>
                <a:sym typeface="Lora"/>
              </a:rPr>
              <a:t>Most of tasks are success</a:t>
            </a:r>
            <a:endParaRPr sz="1400">
              <a:latin typeface="Lora"/>
              <a:ea typeface="Lora"/>
              <a:cs typeface="Lora"/>
              <a:sym typeface="Lora"/>
            </a:endParaRPr>
          </a:p>
          <a:p>
            <a:pPr marL="457200" marR="0" lvl="0" indent="0" algn="l" rtl="0">
              <a:lnSpc>
                <a:spcPct val="100000"/>
              </a:lnSpc>
              <a:spcBef>
                <a:spcPts val="600"/>
              </a:spcBef>
              <a:spcAft>
                <a:spcPts val="0"/>
              </a:spcAft>
              <a:buNone/>
            </a:pPr>
            <a:endParaRPr sz="1400">
              <a:latin typeface="Lora"/>
              <a:ea typeface="Lora"/>
              <a:cs typeface="Lora"/>
              <a:sym typeface="Lora"/>
            </a:endParaRPr>
          </a:p>
          <a:p>
            <a:pPr marL="457200" marR="0" lvl="0" indent="-317500" algn="l" rtl="0">
              <a:lnSpc>
                <a:spcPct val="100000"/>
              </a:lnSpc>
              <a:spcBef>
                <a:spcPts val="600"/>
              </a:spcBef>
              <a:spcAft>
                <a:spcPts val="0"/>
              </a:spcAft>
              <a:buSzPts val="1400"/>
              <a:buFont typeface="Lora"/>
              <a:buChar char="●"/>
            </a:pPr>
            <a:r>
              <a:rPr lang="en" sz="1400">
                <a:latin typeface="Lora"/>
                <a:ea typeface="Lora"/>
                <a:cs typeface="Lora"/>
                <a:sym typeface="Lora"/>
              </a:rPr>
              <a:t> Taiwanese</a:t>
            </a:r>
            <a:endParaRPr sz="1400">
              <a:latin typeface="Lora"/>
              <a:ea typeface="Lora"/>
              <a:cs typeface="Lora"/>
              <a:sym typeface="Lora"/>
            </a:endParaRPr>
          </a:p>
          <a:p>
            <a:pPr marL="914400" marR="0" lvl="1" indent="-317500" algn="l" rtl="0">
              <a:lnSpc>
                <a:spcPct val="100000"/>
              </a:lnSpc>
              <a:spcBef>
                <a:spcPts val="0"/>
              </a:spcBef>
              <a:spcAft>
                <a:spcPts val="0"/>
              </a:spcAft>
              <a:buSzPts val="1400"/>
              <a:buFont typeface="Lora"/>
              <a:buChar char="○"/>
            </a:pPr>
            <a:r>
              <a:rPr lang="en" sz="1400">
                <a:latin typeface="Lora"/>
                <a:ea typeface="Lora"/>
                <a:cs typeface="Lora"/>
                <a:sym typeface="Lora"/>
              </a:rPr>
              <a:t>Interface problem</a:t>
            </a:r>
            <a:endParaRPr sz="1400">
              <a:latin typeface="Lora"/>
              <a:ea typeface="Lora"/>
              <a:cs typeface="Lora"/>
              <a:sym typeface="Lora"/>
            </a:endParaRPr>
          </a:p>
          <a:p>
            <a:pPr marL="914400" marR="0" lvl="1" indent="-317500" algn="l" rtl="0">
              <a:lnSpc>
                <a:spcPct val="100000"/>
              </a:lnSpc>
              <a:spcBef>
                <a:spcPts val="0"/>
              </a:spcBef>
              <a:spcAft>
                <a:spcPts val="0"/>
              </a:spcAft>
              <a:buSzPts val="1400"/>
              <a:buFont typeface="Lora"/>
              <a:buChar char="○"/>
            </a:pPr>
            <a:r>
              <a:rPr lang="en" sz="1400">
                <a:latin typeface="Lora"/>
                <a:ea typeface="Lora"/>
                <a:cs typeface="Lora"/>
                <a:sym typeface="Lora"/>
              </a:rPr>
              <a:t>Function not considered</a:t>
            </a:r>
            <a:endParaRPr sz="1400">
              <a:latin typeface="Lora"/>
              <a:ea typeface="Lora"/>
              <a:cs typeface="Lora"/>
              <a:sym typeface="Lora"/>
            </a:endParaRPr>
          </a:p>
          <a:p>
            <a:pPr marL="457200" marR="0" lvl="0" indent="0" algn="l" rtl="0">
              <a:lnSpc>
                <a:spcPct val="100000"/>
              </a:lnSpc>
              <a:spcBef>
                <a:spcPts val="600"/>
              </a:spcBef>
              <a:spcAft>
                <a:spcPts val="0"/>
              </a:spcAft>
              <a:buNone/>
            </a:pPr>
            <a:endParaRPr sz="14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endParaRPr sz="1400">
              <a:latin typeface="Lora"/>
              <a:ea typeface="Lora"/>
              <a:cs typeface="Lora"/>
              <a:sym typeface="Lora"/>
            </a:endParaRPr>
          </a:p>
          <a:p>
            <a:pPr marL="0" marR="0" lvl="0" indent="0" algn="l" rtl="0">
              <a:lnSpc>
                <a:spcPct val="100000"/>
              </a:lnSpc>
              <a:spcBef>
                <a:spcPts val="600"/>
              </a:spcBef>
              <a:spcAft>
                <a:spcPts val="0"/>
              </a:spcAft>
              <a:buClr>
                <a:srgbClr val="FFCD00"/>
              </a:buClr>
              <a:buSzPts val="2400"/>
              <a:buFont typeface="Quattrocento Sans"/>
              <a:buNone/>
            </a:pPr>
            <a:r>
              <a:rPr lang="en" sz="1400" b="1" i="0" u="none" strike="noStrike" cap="none">
                <a:solidFill>
                  <a:srgbClr val="000000"/>
                </a:solidFill>
                <a:latin typeface="Quattrocento Sans"/>
                <a:ea typeface="Quattrocento Sans"/>
                <a:cs typeface="Quattrocento Sans"/>
                <a:sym typeface="Quattrocento Sans"/>
              </a:rPr>
              <a:t/>
            </a:r>
            <a:br>
              <a:rPr lang="en" sz="1400" b="1" i="0" u="none" strike="noStrike" cap="none">
                <a:solidFill>
                  <a:srgbClr val="000000"/>
                </a:solidFill>
                <a:latin typeface="Quattrocento Sans"/>
                <a:ea typeface="Quattrocento Sans"/>
                <a:cs typeface="Quattrocento Sans"/>
                <a:sym typeface="Quattrocento Sans"/>
              </a:rPr>
            </a:br>
            <a:endParaRPr sz="1400" b="0" i="0" u="none" strike="noStrike" cap="none">
              <a:solidFill>
                <a:srgbClr val="000000"/>
              </a:solidFill>
              <a:latin typeface="Quattrocento Sans"/>
              <a:ea typeface="Quattrocento Sans"/>
              <a:cs typeface="Quattrocento Sans"/>
              <a:sym typeface="Quattrocento Sans"/>
            </a:endParaRPr>
          </a:p>
        </p:txBody>
      </p:sp>
      <p:grpSp>
        <p:nvGrpSpPr>
          <p:cNvPr id="605" name="Google Shape;605;p63"/>
          <p:cNvGrpSpPr/>
          <p:nvPr/>
        </p:nvGrpSpPr>
        <p:grpSpPr>
          <a:xfrm>
            <a:off x="916458" y="1019750"/>
            <a:ext cx="214625" cy="214625"/>
            <a:chOff x="2594050" y="1631825"/>
            <a:chExt cx="439625" cy="439625"/>
          </a:xfrm>
        </p:grpSpPr>
        <p:sp>
          <p:nvSpPr>
            <p:cNvPr id="606" name="Google Shape;606;p63"/>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63"/>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63"/>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63"/>
            <p:cNvSpPr/>
            <p:nvPr/>
          </p:nvSpPr>
          <p:spPr>
            <a:xfrm>
              <a:off x="2814912" y="1754062"/>
              <a:ext cx="49950" cy="49950"/>
            </a:xfrm>
            <a:custGeom>
              <a:avLst/>
              <a:gdLst/>
              <a:ahLst/>
              <a:cxnLst/>
              <a:rect l="l" t="t" r="r" b="b"/>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0" name="Google Shape;610;p63"/>
          <p:cNvSpPr txBox="1">
            <a:spLocks noGrp="1"/>
          </p:cNvSpPr>
          <p:nvPr>
            <p:ph type="sldNum" idx="12"/>
          </p:nvPr>
        </p:nvSpPr>
        <p:spPr>
          <a:xfrm>
            <a:off x="8543227" y="4749851"/>
            <a:ext cx="548700" cy="393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000"/>
              <a:buFont typeface="Arial"/>
              <a:buNone/>
            </a:pPr>
            <a:fld id="{00000000-1234-1234-1234-123412341234}" type="slidenum">
              <a:rPr lang="en" sz="1000" b="0" i="0" u="none" strike="noStrike" cap="none">
                <a:solidFill>
                  <a:srgbClr val="1D1D1B"/>
                </a:solidFill>
                <a:latin typeface="Lora"/>
                <a:ea typeface="Lora"/>
                <a:cs typeface="Lora"/>
                <a:sym typeface="Lora"/>
              </a:rPr>
              <a:t>52</a:t>
            </a:fld>
            <a:endParaRPr sz="1000" b="0" i="0" u="none" strike="noStrike" cap="none">
              <a:solidFill>
                <a:srgbClr val="1D1D1B"/>
              </a:solidFill>
              <a:latin typeface="Lora"/>
              <a:ea typeface="Lora"/>
              <a:cs typeface="Lora"/>
              <a:sym typeface="Lora"/>
            </a:endParaRPr>
          </a:p>
        </p:txBody>
      </p:sp>
      <p:pic>
        <p:nvPicPr>
          <p:cNvPr id="611" name="Google Shape;611;p63"/>
          <p:cNvPicPr preferRelativeResize="0"/>
          <p:nvPr/>
        </p:nvPicPr>
        <p:blipFill>
          <a:blip r:embed="rId3">
            <a:alphaModFix/>
          </a:blip>
          <a:stretch>
            <a:fillRect/>
          </a:stretch>
        </p:blipFill>
        <p:spPr>
          <a:xfrm>
            <a:off x="346500" y="1641575"/>
            <a:ext cx="2767250" cy="27672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64"/>
          <p:cNvSpPr txBox="1">
            <a:spLocks noGrp="1"/>
          </p:cNvSpPr>
          <p:nvPr>
            <p:ph type="sldNum" idx="12"/>
          </p:nvPr>
        </p:nvSpPr>
        <p:spPr>
          <a:xfrm>
            <a:off x="8543227"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53</a:t>
            </a:fld>
            <a:endParaRPr/>
          </a:p>
        </p:txBody>
      </p:sp>
      <p:pic>
        <p:nvPicPr>
          <p:cNvPr id="617" name="Google Shape;617;p64"/>
          <p:cNvPicPr preferRelativeResize="0"/>
          <p:nvPr/>
        </p:nvPicPr>
        <p:blipFill>
          <a:blip r:embed="rId3">
            <a:alphaModFix/>
          </a:blip>
          <a:stretch>
            <a:fillRect/>
          </a:stretch>
        </p:blipFill>
        <p:spPr>
          <a:xfrm>
            <a:off x="2952750" y="1866900"/>
            <a:ext cx="3238500" cy="1409700"/>
          </a:xfrm>
          <a:prstGeom prst="rect">
            <a:avLst/>
          </a:prstGeom>
          <a:noFill/>
          <a:ln>
            <a:noFill/>
          </a:ln>
        </p:spPr>
      </p:pic>
    </p:spTree>
  </p:cSld>
  <p:clrMapOvr>
    <a:masterClrMapping/>
  </p:clrMapOvr>
</p:sld>
</file>

<file path=ppt/theme/theme1.xml><?xml version="1.0" encoding="utf-8"?>
<a:theme xmlns:a="http://schemas.openxmlformats.org/drawingml/2006/main" name="Viol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3117</Words>
  <Application>Microsoft Office PowerPoint</Application>
  <PresentationFormat>如螢幕大小 (16:9)</PresentationFormat>
  <Paragraphs>509</Paragraphs>
  <Slides>53</Slides>
  <Notes>53</Notes>
  <HiddenSlides>1</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53</vt:i4>
      </vt:variant>
    </vt:vector>
  </HeadingPairs>
  <TitlesOfParts>
    <vt:vector size="62" baseType="lpstr">
      <vt:lpstr>Arial</vt:lpstr>
      <vt:lpstr>新細明體</vt:lpstr>
      <vt:lpstr>微軟正黑體</vt:lpstr>
      <vt:lpstr>Quattrocento Sans</vt:lpstr>
      <vt:lpstr>Montserrat</vt:lpstr>
      <vt:lpstr>Raleway</vt:lpstr>
      <vt:lpstr>Lora</vt:lpstr>
      <vt:lpstr>Lato</vt:lpstr>
      <vt:lpstr>Viola template</vt:lpstr>
      <vt:lpstr>PowerPoint 簡報</vt:lpstr>
      <vt:lpstr>Heuristic Evaluation</vt:lpstr>
      <vt:lpstr>Our Process</vt:lpstr>
      <vt:lpstr>Method</vt:lpstr>
      <vt:lpstr>Method</vt:lpstr>
      <vt:lpstr>Tasks</vt:lpstr>
      <vt:lpstr>PowerPoint 簡報</vt:lpstr>
      <vt:lpstr>Positive finding: Clean design and clear layout Heuristics: Visibility of system status, aesthetics and minimalist design </vt:lpstr>
      <vt:lpstr>Positive finding: The search engine does the price/time analysis Heuristics: Visibility of system status, flexibility and efficiency of use</vt:lpstr>
      <vt:lpstr>Positive finding: Website remembers our search Heuristics: Flexibility and efficiency of use, error prevention, </vt:lpstr>
      <vt:lpstr>Positive finding: Tracking the price changing Heuristics: Flexibility and efficiency of use, error prevention, </vt:lpstr>
      <vt:lpstr>Problem: Main Menu is hard to access in lower resolutions Heuristic violations: Aesthetics and minimalist design, error prevention Severity: 2</vt:lpstr>
      <vt:lpstr>Recommendation</vt:lpstr>
      <vt:lpstr>Problem: In some parts there is a problem with responsive design Heuristic violations: Aesthetics and minimalist design Severity: 2</vt:lpstr>
      <vt:lpstr>Recommendation</vt:lpstr>
      <vt:lpstr>Problem: Links and their pictures are too small Heuristic violations: Error prevention, flexibility and efficiency of use Severity: 2</vt:lpstr>
      <vt:lpstr>Recommendation</vt:lpstr>
      <vt:lpstr>Problem: Commercials take too much space Heuristic violations: Error prevention, visibility of system status, aesthetics and minimalist design Severity: 3</vt:lpstr>
      <vt:lpstr>Recommendation</vt:lpstr>
      <vt:lpstr>Problem: Inconsistent pricing Heuristic violations: Visibility of system status, consistency and standards Severity: 3</vt:lpstr>
      <vt:lpstr>Recommendation</vt:lpstr>
      <vt:lpstr>Problem: Annoying questionnaire Heuristic violations: Visibility of system status, aesthetics and minimalist design Severity: 1</vt:lpstr>
      <vt:lpstr>Recommendation</vt:lpstr>
      <vt:lpstr>Problem: Bag fee price is not clear   Heuristic violations: Error prevention Severity: 3</vt:lpstr>
      <vt:lpstr>Recommendation</vt:lpstr>
      <vt:lpstr>Problem: The time connect in the airport   Heuristic violations: Error prevention Severity: 2</vt:lpstr>
      <vt:lpstr>Recommendation</vt:lpstr>
      <vt:lpstr>Group evaluation</vt:lpstr>
      <vt:lpstr>Our evaluation</vt:lpstr>
      <vt:lpstr>Usability testing</vt:lpstr>
      <vt:lpstr>Recruiting</vt:lpstr>
      <vt:lpstr>Participants</vt:lpstr>
      <vt:lpstr>Introduction to Method</vt:lpstr>
      <vt:lpstr>Test settings</vt:lpstr>
      <vt:lpstr>Test structure</vt:lpstr>
      <vt:lpstr>Taks rules</vt:lpstr>
      <vt:lpstr>Layout</vt:lpstr>
      <vt:lpstr>Roles</vt:lpstr>
      <vt:lpstr>Tasks</vt:lpstr>
      <vt:lpstr>Results</vt:lpstr>
      <vt:lpstr>Analysis</vt:lpstr>
      <vt:lpstr>Analysis</vt:lpstr>
      <vt:lpstr>Analysis</vt:lpstr>
      <vt:lpstr>Analysis</vt:lpstr>
      <vt:lpstr>Analysis</vt:lpstr>
      <vt:lpstr>Analysis</vt:lpstr>
      <vt:lpstr>Analysis</vt:lpstr>
      <vt:lpstr>Analysis</vt:lpstr>
      <vt:lpstr>Analysis</vt:lpstr>
      <vt:lpstr>Analysis</vt:lpstr>
      <vt:lpstr>Analysis</vt:lpstr>
      <vt:lpstr>Our evaluation</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cp:lastModifiedBy>Henry</cp:lastModifiedBy>
  <cp:revision>4</cp:revision>
  <dcterms:modified xsi:type="dcterms:W3CDTF">2018-10-31T01:52:10Z</dcterms:modified>
</cp:coreProperties>
</file>