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757" r:id="rId2"/>
    <p:sldMasterId id="2147483769" r:id="rId3"/>
  </p:sldMasterIdLst>
  <p:notesMasterIdLst>
    <p:notesMasterId r:id="rId67"/>
  </p:notesMasterIdLst>
  <p:handoutMasterIdLst>
    <p:handoutMasterId r:id="rId68"/>
  </p:handoutMasterIdLst>
  <p:sldIdLst>
    <p:sldId id="350" r:id="rId4"/>
    <p:sldId id="402" r:id="rId5"/>
    <p:sldId id="403" r:id="rId6"/>
    <p:sldId id="404" r:id="rId7"/>
    <p:sldId id="378" r:id="rId8"/>
    <p:sldId id="405" r:id="rId9"/>
    <p:sldId id="393" r:id="rId10"/>
    <p:sldId id="379" r:id="rId11"/>
    <p:sldId id="438" r:id="rId12"/>
    <p:sldId id="439" r:id="rId13"/>
    <p:sldId id="440" r:id="rId14"/>
    <p:sldId id="441" r:id="rId15"/>
    <p:sldId id="442" r:id="rId16"/>
    <p:sldId id="444" r:id="rId17"/>
    <p:sldId id="445" r:id="rId18"/>
    <p:sldId id="484" r:id="rId19"/>
    <p:sldId id="446" r:id="rId20"/>
    <p:sldId id="447" r:id="rId21"/>
    <p:sldId id="448" r:id="rId22"/>
    <p:sldId id="482" r:id="rId23"/>
    <p:sldId id="450" r:id="rId24"/>
    <p:sldId id="451" r:id="rId25"/>
    <p:sldId id="452" r:id="rId26"/>
    <p:sldId id="453" r:id="rId27"/>
    <p:sldId id="454" r:id="rId28"/>
    <p:sldId id="504" r:id="rId29"/>
    <p:sldId id="456" r:id="rId30"/>
    <p:sldId id="457" r:id="rId31"/>
    <p:sldId id="458" r:id="rId32"/>
    <p:sldId id="459" r:id="rId33"/>
    <p:sldId id="532" r:id="rId34"/>
    <p:sldId id="460" r:id="rId35"/>
    <p:sldId id="462" r:id="rId36"/>
    <p:sldId id="463" r:id="rId37"/>
    <p:sldId id="464" r:id="rId38"/>
    <p:sldId id="465" r:id="rId39"/>
    <p:sldId id="466" r:id="rId40"/>
    <p:sldId id="467" r:id="rId41"/>
    <p:sldId id="471" r:id="rId42"/>
    <p:sldId id="505" r:id="rId43"/>
    <p:sldId id="506" r:id="rId44"/>
    <p:sldId id="508" r:id="rId45"/>
    <p:sldId id="476" r:id="rId46"/>
    <p:sldId id="477" r:id="rId47"/>
    <p:sldId id="515" r:id="rId48"/>
    <p:sldId id="516" r:id="rId49"/>
    <p:sldId id="478" r:id="rId50"/>
    <p:sldId id="479" r:id="rId51"/>
    <p:sldId id="518" r:id="rId52"/>
    <p:sldId id="519" r:id="rId53"/>
    <p:sldId id="520" r:id="rId54"/>
    <p:sldId id="521" r:id="rId55"/>
    <p:sldId id="493" r:id="rId56"/>
    <p:sldId id="530" r:id="rId57"/>
    <p:sldId id="522" r:id="rId58"/>
    <p:sldId id="526" r:id="rId59"/>
    <p:sldId id="523" r:id="rId60"/>
    <p:sldId id="491" r:id="rId61"/>
    <p:sldId id="492" r:id="rId62"/>
    <p:sldId id="531" r:id="rId63"/>
    <p:sldId id="527" r:id="rId64"/>
    <p:sldId id="528" r:id="rId65"/>
    <p:sldId id="529" r:id="rId66"/>
  </p:sldIdLst>
  <p:sldSz cx="9144000" cy="6858000" type="letter"/>
  <p:notesSz cx="6797675" cy="99282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0000"/>
    <a:srgbClr val="FF0066"/>
    <a:srgbClr val="336633"/>
    <a:srgbClr val="97EE26"/>
    <a:srgbClr val="CC6600"/>
    <a:srgbClr val="FFCC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8" autoAdjust="0"/>
    <p:restoredTop sz="94743" autoAdjust="0"/>
  </p:normalViewPr>
  <p:slideViewPr>
    <p:cSldViewPr snapToGrid="0">
      <p:cViewPr varScale="1">
        <p:scale>
          <a:sx n="63" d="100"/>
          <a:sy n="63" d="100"/>
        </p:scale>
        <p:origin x="97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algn="r"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4813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863" y="9431338"/>
            <a:ext cx="2944812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algn="r"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F4CE75B1-576F-41C4-A47A-7803721111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2879725" y="9458325"/>
            <a:ext cx="1038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7137" tIns="44361" rIns="87137" bIns="44361">
            <a:spAutoFit/>
          </a:bodyPr>
          <a:lstStyle>
            <a:lvl1pPr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TW" sz="1200">
                <a:latin typeface="Arial" pitchFamily="34" charset="0"/>
              </a:rPr>
              <a:t>Page </a:t>
            </a:r>
            <a:fld id="{0B764333-182F-40DA-A372-E6D98395A22C}" type="slidenum">
              <a:rPr lang="en-US" altLang="zh-TW" sz="1200">
                <a:latin typeface="Arial" pitchFamily="34" charset="0"/>
              </a:rPr>
              <a:pPr algn="ctr">
                <a:lnSpc>
                  <a:spcPct val="90000"/>
                </a:lnSpc>
              </a:pPr>
              <a:t>‹#›</a:t>
            </a:fld>
            <a:endParaRPr lang="en-US" altLang="zh-TW" sz="12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44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algn="r"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4813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863" y="9431338"/>
            <a:ext cx="2944812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algn="r"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AD3B452B-A64E-4781-B673-4CE6FC5280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890" tIns="45946" rIns="91890" bIns="459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Body Text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110599" name="Rectangle 7"/>
          <p:cNvSpPr>
            <a:spLocks noChangeArrowheads="1"/>
          </p:cNvSpPr>
          <p:nvPr/>
        </p:nvSpPr>
        <p:spPr bwMode="auto">
          <a:xfrm>
            <a:off x="2879725" y="9458325"/>
            <a:ext cx="1038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7137" tIns="44361" rIns="87137" bIns="44361">
            <a:spAutoFit/>
          </a:bodyPr>
          <a:lstStyle>
            <a:lvl1pPr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TW" sz="1200">
                <a:latin typeface="Arial" pitchFamily="34" charset="0"/>
              </a:rPr>
              <a:t>Page </a:t>
            </a:r>
            <a:fld id="{CC0A0255-6235-4EB3-9428-4384871AF125}" type="slidenum">
              <a:rPr lang="en-US" altLang="zh-TW" sz="1200">
                <a:latin typeface="Arial" pitchFamily="34" charset="0"/>
              </a:rPr>
              <a:pPr algn="ctr">
                <a:lnSpc>
                  <a:spcPct val="90000"/>
                </a:lnSpc>
              </a:pPr>
              <a:t>‹#›</a:t>
            </a:fld>
            <a:endParaRPr lang="en-US" altLang="zh-TW" sz="1200">
              <a:latin typeface="Arial" pitchFamily="34" charset="0"/>
            </a:endParaRPr>
          </a:p>
        </p:txBody>
      </p:sp>
      <p:sp>
        <p:nvSpPr>
          <p:cNvPr id="110600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7100" y="750888"/>
            <a:ext cx="4946650" cy="3709987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14268763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22B4330-F1A8-444A-95EC-BE573D296ED9}" type="slidenum">
              <a:rPr lang="en-US" altLang="zh-TW" sz="1000" smtClean="0">
                <a:latin typeface="Times New Roman" pitchFamily="18" charset="0"/>
              </a:rPr>
              <a:pPr eaLnBrk="1" hangingPunct="1"/>
              <a:t>1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094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4929EEA-0EBA-45DC-84E5-02A059045C6A}" type="slidenum">
              <a:rPr lang="en-US" altLang="zh-TW" sz="1000" smtClean="0">
                <a:latin typeface="Times New Roman" pitchFamily="18" charset="0"/>
              </a:rPr>
              <a:pPr eaLnBrk="1" hangingPunct="1"/>
              <a:t>2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016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F8C183C-5642-4DA6-AB1B-E0EB64FE7712}" type="slidenum">
              <a:rPr lang="en-US" altLang="zh-TW" sz="1000" smtClean="0">
                <a:latin typeface="Times New Roman" pitchFamily="18" charset="0"/>
              </a:rPr>
              <a:pPr eaLnBrk="1" hangingPunct="1"/>
              <a:t>3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443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190BB93E-D919-4C4D-9BD5-13308E5B09DD}" type="slidenum">
              <a:rPr lang="en-US" altLang="zh-TW" sz="1000" smtClean="0">
                <a:latin typeface="Times New Roman" pitchFamily="18" charset="0"/>
              </a:rPr>
              <a:pPr eaLnBrk="1" hangingPunct="1"/>
              <a:t>4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solidFill>
            <a:srgbClr val="FFFFFF"/>
          </a:solidFill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6694" tIns="43347" rIns="86694" bIns="43347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239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11BC6B6E-2F2E-4CC1-9D53-7D04DC2DF420}" type="slidenum">
              <a:rPr lang="en-US" altLang="zh-TW" sz="1000" smtClean="0">
                <a:latin typeface="Times New Roman" pitchFamily="18" charset="0"/>
              </a:rPr>
              <a:pPr eaLnBrk="1" hangingPunct="1"/>
              <a:t>5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541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3EB39AD-B7D3-4D42-88D2-997EBB1477B5}" type="slidenum">
              <a:rPr lang="en-US" altLang="zh-TW" sz="1000" smtClean="0">
                <a:latin typeface="Times New Roman" pitchFamily="18" charset="0"/>
              </a:rPr>
              <a:pPr eaLnBrk="1" hangingPunct="1"/>
              <a:t>6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616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10E01D67-6487-406B-B3B9-D47576BF5465}" type="slidenum">
              <a:rPr lang="en-US" altLang="zh-TW" sz="1000" smtClean="0">
                <a:latin typeface="Times New Roman" pitchFamily="18" charset="0"/>
              </a:rPr>
              <a:pPr eaLnBrk="1" hangingPunct="1"/>
              <a:t>7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48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7F175D1-6D16-4628-9704-2AE94B02F697}" type="slidenum">
              <a:rPr lang="en-US" altLang="zh-TW" sz="1000" smtClean="0">
                <a:latin typeface="Times New Roman" pitchFamily="18" charset="0"/>
              </a:rPr>
              <a:pPr eaLnBrk="1" hangingPunct="1"/>
              <a:t>8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172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24E81DF-AFAA-45FB-9F17-C47F445BDB21}" type="slidenum">
              <a:rPr lang="en-US" altLang="zh-TW" sz="1000" smtClean="0">
                <a:latin typeface="Times New Roman" pitchFamily="18" charset="0"/>
              </a:rPr>
              <a:pPr eaLnBrk="1" hangingPunct="1"/>
              <a:t>9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852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25E4AE8-EE7E-4CFB-A592-48395CCB8EE9}" type="slidenum">
              <a:rPr lang="en-US" altLang="zh-TW" sz="1000" smtClean="0">
                <a:latin typeface="Times New Roman" pitchFamily="18" charset="0"/>
              </a:rPr>
              <a:pPr eaLnBrk="1" hangingPunct="1"/>
              <a:t>10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115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E0A5A0F-A1C1-4114-907A-810AC1971D77}" type="slidenum">
              <a:rPr lang="en-US" altLang="zh-TW" sz="1000" smtClean="0">
                <a:latin typeface="Times New Roman" pitchFamily="18" charset="0"/>
              </a:rPr>
              <a:pPr eaLnBrk="1" hangingPunct="1"/>
              <a:t>11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915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170FFA7-62EE-4D64-A7ED-F34159073497}" type="slidenum">
              <a:rPr lang="en-US" altLang="zh-TW" sz="1000" smtClean="0">
                <a:latin typeface="Times New Roman" pitchFamily="18" charset="0"/>
              </a:rPr>
              <a:pPr eaLnBrk="1" hangingPunct="1"/>
              <a:t>12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3923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385E845-99AE-4C23-8DC5-83C34445FD13}" type="slidenum">
              <a:rPr lang="en-US" altLang="zh-TW" sz="1000" smtClean="0">
                <a:latin typeface="Times New Roman" pitchFamily="18" charset="0"/>
              </a:rPr>
              <a:pPr eaLnBrk="1" hangingPunct="1"/>
              <a:t>13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8797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04472E5-C08B-4070-8E84-A64EE7E41D21}" type="slidenum">
              <a:rPr lang="en-US" altLang="zh-TW" sz="1000" smtClean="0">
                <a:latin typeface="Times New Roman" pitchFamily="18" charset="0"/>
              </a:rPr>
              <a:pPr eaLnBrk="1" hangingPunct="1"/>
              <a:t>14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6553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9EA2AB2-4263-4CDC-B5A6-23A7A7826DD6}" type="slidenum">
              <a:rPr lang="en-US" altLang="zh-TW" sz="1000" smtClean="0">
                <a:latin typeface="Times New Roman" pitchFamily="18" charset="0"/>
              </a:rPr>
              <a:pPr eaLnBrk="1" hangingPunct="1"/>
              <a:t>15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876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75D948D-D027-4148-9E06-7BB517B3DBB9}" type="slidenum">
              <a:rPr lang="en-US" altLang="zh-TW" sz="1000" smtClean="0">
                <a:latin typeface="Times New Roman" pitchFamily="18" charset="0"/>
              </a:rPr>
              <a:pPr eaLnBrk="1" hangingPunct="1"/>
              <a:t>16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7948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3B58569-BE5B-4F99-B481-2AC8683F04D5}" type="slidenum">
              <a:rPr lang="en-US" altLang="zh-TW" sz="1000" smtClean="0">
                <a:latin typeface="Times New Roman" pitchFamily="18" charset="0"/>
              </a:rPr>
              <a:pPr eaLnBrk="1" hangingPunct="1"/>
              <a:t>17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709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B59BD4E-3A91-44CA-9EC1-52CD893B3B16}" type="slidenum">
              <a:rPr lang="en-US" altLang="zh-TW" sz="1000" smtClean="0">
                <a:latin typeface="Times New Roman" pitchFamily="18" charset="0"/>
              </a:rPr>
              <a:pPr eaLnBrk="1" hangingPunct="1"/>
              <a:t>18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5535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A0C32F6-49EA-4BA0-BF81-A10399422C69}" type="slidenum">
              <a:rPr lang="en-US" altLang="zh-TW" sz="1000" smtClean="0">
                <a:latin typeface="Times New Roman" pitchFamily="18" charset="0"/>
              </a:rPr>
              <a:pPr eaLnBrk="1" hangingPunct="1"/>
              <a:t>19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5487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ED1A4A9-2F0D-4E50-9124-BEB70608E9B9}" type="slidenum">
              <a:rPr lang="en-US" altLang="zh-TW" sz="1000" smtClean="0">
                <a:latin typeface="Times New Roman" pitchFamily="18" charset="0"/>
              </a:rPr>
              <a:pPr eaLnBrk="1" hangingPunct="1"/>
              <a:t>20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0446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E91DC67-7CE2-4AB0-9026-396151CAF884}" type="slidenum">
              <a:rPr lang="en-US" altLang="zh-TW" sz="1000" smtClean="0">
                <a:latin typeface="Times New Roman" pitchFamily="18" charset="0"/>
              </a:rPr>
              <a:pPr eaLnBrk="1" hangingPunct="1"/>
              <a:t>21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5602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1819E73-1321-43A1-BEAE-5168422D30F3}" type="slidenum">
              <a:rPr lang="en-US" altLang="zh-TW" sz="1000" smtClean="0">
                <a:latin typeface="Times New Roman" pitchFamily="18" charset="0"/>
              </a:rPr>
              <a:pPr eaLnBrk="1" hangingPunct="1"/>
              <a:t>22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8041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20057AE-3952-4905-BE6D-11FD24D90214}" type="slidenum">
              <a:rPr lang="en-US" altLang="zh-TW" sz="1000" smtClean="0">
                <a:latin typeface="Times New Roman" pitchFamily="18" charset="0"/>
              </a:rPr>
              <a:pPr eaLnBrk="1" hangingPunct="1"/>
              <a:t>23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5635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6BD1334-214A-460A-8E8E-13505E046739}" type="slidenum">
              <a:rPr lang="en-US" altLang="zh-TW" sz="1000" smtClean="0">
                <a:latin typeface="Times New Roman" pitchFamily="18" charset="0"/>
              </a:rPr>
              <a:pPr eaLnBrk="1" hangingPunct="1"/>
              <a:t>24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1337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7D1FD2E-76D9-4C9D-94C7-B48C5939E627}" type="slidenum">
              <a:rPr lang="en-US" altLang="zh-TW" sz="1000" smtClean="0">
                <a:latin typeface="Times New Roman" pitchFamily="18" charset="0"/>
              </a:rPr>
              <a:pPr eaLnBrk="1" hangingPunct="1"/>
              <a:t>25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4005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3B8AFC6-FE54-4567-BD6F-52C356490F24}" type="slidenum">
              <a:rPr lang="en-US" altLang="zh-TW" sz="1000" smtClean="0">
                <a:latin typeface="Times New Roman" pitchFamily="18" charset="0"/>
              </a:rPr>
              <a:pPr eaLnBrk="1" hangingPunct="1"/>
              <a:t>26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6657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0BEBCD5-A017-4B7B-A4D7-104B2C28D712}" type="slidenum">
              <a:rPr lang="en-US" altLang="zh-TW" sz="1000" smtClean="0">
                <a:latin typeface="Times New Roman" pitchFamily="18" charset="0"/>
              </a:rPr>
              <a:pPr eaLnBrk="1" hangingPunct="1"/>
              <a:t>27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5276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11294BC-36E1-4297-A788-EF499CB611F9}" type="slidenum">
              <a:rPr lang="en-US" altLang="zh-TW" sz="1000" smtClean="0">
                <a:latin typeface="Times New Roman" pitchFamily="18" charset="0"/>
              </a:rPr>
              <a:pPr eaLnBrk="1" hangingPunct="1"/>
              <a:t>28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9664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10D81B13-2A3F-4876-8FC8-A1164AB34ED9}" type="slidenum">
              <a:rPr lang="en-US" altLang="zh-TW" sz="1000" smtClean="0">
                <a:latin typeface="Times New Roman" pitchFamily="18" charset="0"/>
              </a:rPr>
              <a:pPr eaLnBrk="1" hangingPunct="1"/>
              <a:t>29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6905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49FB60D-624C-4FAF-ABB3-F33091D3E580}" type="slidenum">
              <a:rPr lang="en-US" altLang="zh-TW" sz="1000" smtClean="0">
                <a:latin typeface="Times New Roman" pitchFamily="18" charset="0"/>
              </a:rPr>
              <a:pPr eaLnBrk="1" hangingPunct="1"/>
              <a:t>30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7854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49FB60D-624C-4FAF-ABB3-F33091D3E580}" type="slidenum">
              <a:rPr lang="en-US" altLang="zh-TW" sz="1000" smtClean="0">
                <a:latin typeface="Times New Roman" pitchFamily="18" charset="0"/>
              </a:rPr>
              <a:pPr eaLnBrk="1" hangingPunct="1"/>
              <a:t>31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2525" cy="3722687"/>
          </a:xfrm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3765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CCBF824-34FE-4E70-A8D5-AA0D1C95A1C4}" type="slidenum">
              <a:rPr lang="en-US" altLang="zh-TW" sz="1000" smtClean="0">
                <a:latin typeface="Times New Roman" pitchFamily="18" charset="0"/>
              </a:rPr>
              <a:pPr eaLnBrk="1" hangingPunct="1"/>
              <a:t>32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1093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2C37AED-BE3B-4267-B542-3DCB549FB5AA}" type="slidenum">
              <a:rPr lang="en-US" altLang="zh-TW" sz="1000" smtClean="0">
                <a:latin typeface="Times New Roman" pitchFamily="18" charset="0"/>
              </a:rPr>
              <a:pPr eaLnBrk="1" hangingPunct="1"/>
              <a:t>33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3289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AB9292B-5DE9-4B45-A811-FD5CF8AF1810}" type="slidenum">
              <a:rPr lang="en-US" altLang="zh-TW" sz="1000" smtClean="0">
                <a:latin typeface="Times New Roman" pitchFamily="18" charset="0"/>
              </a:rPr>
              <a:pPr eaLnBrk="1" hangingPunct="1"/>
              <a:t>34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7287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237B9B4-DCEE-43B0-AEF9-DE4CDA5CD00B}" type="slidenum">
              <a:rPr lang="en-US" altLang="zh-TW" sz="1000" smtClean="0">
                <a:latin typeface="Times New Roman" pitchFamily="18" charset="0"/>
              </a:rPr>
              <a:pPr eaLnBrk="1" hangingPunct="1"/>
              <a:t>35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1334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DF8D8AF-04EC-4E7B-976B-65086E6C989F}" type="slidenum">
              <a:rPr lang="en-US" altLang="zh-TW" sz="1000" smtClean="0">
                <a:latin typeface="Times New Roman" pitchFamily="18" charset="0"/>
              </a:rPr>
              <a:pPr eaLnBrk="1" hangingPunct="1"/>
              <a:t>36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3674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00E640B-7490-41FC-B04C-023C28F56DCC}" type="slidenum">
              <a:rPr lang="en-US" altLang="zh-TW" sz="1000" smtClean="0">
                <a:latin typeface="Times New Roman" pitchFamily="18" charset="0"/>
              </a:rPr>
              <a:pPr eaLnBrk="1" hangingPunct="1"/>
              <a:t>37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2729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9CA78D2-D2C2-4E4E-A587-B659FBA82B71}" type="slidenum">
              <a:rPr lang="en-US" altLang="zh-TW" sz="1000" smtClean="0">
                <a:latin typeface="Times New Roman" pitchFamily="18" charset="0"/>
              </a:rPr>
              <a:pPr eaLnBrk="1" hangingPunct="1"/>
              <a:t>38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2452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0085B38-B408-43A7-9D9D-C69FDE56AB18}" type="slidenum">
              <a:rPr lang="en-US" altLang="zh-TW" sz="1000" smtClean="0">
                <a:latin typeface="Times New Roman" pitchFamily="18" charset="0"/>
              </a:rPr>
              <a:pPr eaLnBrk="1" hangingPunct="1"/>
              <a:t>39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9648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D749CED-1EF6-41A0-A03D-C7D6BC6A044C}" type="slidenum">
              <a:rPr lang="en-US" altLang="zh-TW" sz="1000" smtClean="0">
                <a:latin typeface="Times New Roman" pitchFamily="18" charset="0"/>
              </a:rPr>
              <a:pPr eaLnBrk="1" hangingPunct="1"/>
              <a:t>43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8843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0932B05-F261-4308-9D4D-5F4FF7AC2C35}" type="slidenum">
              <a:rPr lang="en-US" altLang="zh-TW" sz="1000" smtClean="0">
                <a:latin typeface="Times New Roman" pitchFamily="18" charset="0"/>
              </a:rPr>
              <a:pPr eaLnBrk="1" hangingPunct="1"/>
              <a:t>44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4174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0932B05-F261-4308-9D4D-5F4FF7AC2C35}" type="slidenum">
              <a:rPr lang="en-US" altLang="zh-TW" sz="1000" smtClean="0">
                <a:latin typeface="Times New Roman" pitchFamily="18" charset="0"/>
              </a:rPr>
              <a:pPr eaLnBrk="1" hangingPunct="1"/>
              <a:t>45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3356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0932B05-F261-4308-9D4D-5F4FF7AC2C35}" type="slidenum">
              <a:rPr lang="en-US" altLang="zh-TW" sz="1000" smtClean="0">
                <a:latin typeface="Times New Roman" pitchFamily="18" charset="0"/>
              </a:rPr>
              <a:pPr eaLnBrk="1" hangingPunct="1"/>
              <a:t>46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28158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EFA910D-2ECB-4E13-B91F-167620F9DD88}" type="slidenum">
              <a:rPr lang="en-US" altLang="zh-TW" sz="1000" smtClean="0">
                <a:latin typeface="Times New Roman" pitchFamily="18" charset="0"/>
              </a:rPr>
              <a:pPr eaLnBrk="1" hangingPunct="1"/>
              <a:t>47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6702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788328B-750C-4ED0-A1F8-052BEC007888}" type="slidenum">
              <a:rPr lang="en-US" altLang="zh-TW" sz="1000" smtClean="0">
                <a:latin typeface="Times New Roman" pitchFamily="18" charset="0"/>
              </a:rPr>
              <a:pPr eaLnBrk="1" hangingPunct="1"/>
              <a:t>48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7128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788328B-750C-4ED0-A1F8-052BEC007888}" type="slidenum">
              <a:rPr lang="en-US" altLang="zh-TW" sz="1000" smtClean="0">
                <a:latin typeface="Times New Roman" pitchFamily="18" charset="0"/>
              </a:rPr>
              <a:pPr eaLnBrk="1" hangingPunct="1"/>
              <a:t>49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7962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788328B-750C-4ED0-A1F8-052BEC007888}" type="slidenum">
              <a:rPr lang="en-US" altLang="zh-TW" sz="1000" smtClean="0">
                <a:latin typeface="Times New Roman" pitchFamily="18" charset="0"/>
              </a:rPr>
              <a:pPr eaLnBrk="1" hangingPunct="1"/>
              <a:t>50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0105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0551" y="4716585"/>
            <a:ext cx="5438140" cy="4467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TW" altLang="zh-TW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842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0551" y="4716585"/>
            <a:ext cx="5438140" cy="44673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TW" altLang="zh-TW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7494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4867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>
              <a:latin typeface="Arial" pitchFamily="34" charset="0"/>
            </a:endParaRPr>
          </a:p>
        </p:txBody>
      </p:sp>
      <p:sp>
        <p:nvSpPr>
          <p:cNvPr id="16486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8EDB9CC-C76E-4E89-A8CF-7FD8598D9B8A}" type="slidenum">
              <a:rPr lang="en-US" altLang="zh-TW" sz="1200" smtClean="0">
                <a:solidFill>
                  <a:srgbClr val="000000"/>
                </a:solidFill>
                <a:latin typeface="Arial" pitchFamily="34" charset="0"/>
              </a:rPr>
              <a:pPr eaLnBrk="1" hangingPunct="1"/>
              <a:t>53</a:t>
            </a:fld>
            <a:endParaRPr lang="en-US" altLang="zh-TW" sz="1200" smtClean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6048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4867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>
              <a:latin typeface="Arial" pitchFamily="34" charset="0"/>
            </a:endParaRPr>
          </a:p>
        </p:txBody>
      </p:sp>
      <p:sp>
        <p:nvSpPr>
          <p:cNvPr id="16486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8EDB9CC-C76E-4E89-A8CF-7FD8598D9B8A}" type="slidenum">
              <a:rPr lang="en-US" altLang="zh-TW" sz="1200" smtClean="0">
                <a:solidFill>
                  <a:srgbClr val="000000"/>
                </a:solidFill>
                <a:latin typeface="Arial" pitchFamily="34" charset="0"/>
              </a:rPr>
              <a:pPr eaLnBrk="1" hangingPunct="1"/>
              <a:t>54</a:t>
            </a:fld>
            <a:endParaRPr lang="en-US" altLang="zh-TW" sz="1200" smtClean="0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76697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D81B636-C5DA-4AB5-8050-3342B3C50F96}" type="slidenum">
              <a:rPr lang="en-US" altLang="zh-TW" sz="1000" smtClean="0">
                <a:latin typeface="Times New Roman" pitchFamily="18" charset="0"/>
              </a:rPr>
              <a:pPr eaLnBrk="1" hangingPunct="1"/>
              <a:t>55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0902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D81B636-C5DA-4AB5-8050-3342B3C50F96}" type="slidenum">
              <a:rPr lang="en-US" altLang="zh-TW" sz="1000" smtClean="0">
                <a:latin typeface="Times New Roman" pitchFamily="18" charset="0"/>
              </a:rPr>
              <a:pPr eaLnBrk="1" hangingPunct="1"/>
              <a:t>56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85571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64B172E-CBD9-4865-A090-009D514D16ED}" type="slidenum">
              <a:rPr lang="en-US" altLang="zh-TW" sz="1000" smtClean="0">
                <a:latin typeface="Times New Roman" pitchFamily="18" charset="0"/>
              </a:rPr>
              <a:pPr eaLnBrk="1" hangingPunct="1"/>
              <a:t>57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12997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F2BA919-78F6-4BE4-8794-9B657EDCC963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58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39776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59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5456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60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89914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61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94763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62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23860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63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761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20486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20486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26DBC-3CB3-4DF5-A51F-A91CA2CC06C4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76BE43-4710-4DD2-8A84-0C1B4B0FB0E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84454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3B484-B40A-49F0-924C-BA3578A61DD3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F9AE2-0500-4043-9241-F71EAC3783C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465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F314D2-70E3-427F-8244-6D9010119055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5CDDF-04DD-40DA-93EB-F415F6823AD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9058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659DF9-E352-4889-828D-AB200A4CA71A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83953-96A2-4505-B746-0F9B6179228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183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6CDFC6-379E-4C69-B50D-70CD90C8B823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344D0-946A-48C1-B198-0417235728B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BA4957-B950-436D-BD8F-4D8AF3B101FF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0870C-3E22-4023-9317-1A07BD69F7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195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9C044B-D840-46F3-836B-F244D8CD5F84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707C6-4AF2-4255-9FDB-1EE42DA6F7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2756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24944-303D-4ABF-A25D-3A85CB098B7C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CD012-A440-43AE-BF29-9D85F2FC2D4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973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8B308-B853-46BE-B3B9-BCBFF36FE6F3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81F14-34B3-4516-B5AB-5CEB21DC144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326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ED1A8E-71E9-4C5E-BB78-B26E1A681A2B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03D97D-C7CD-4B29-9EBF-0126ACFF9CC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387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543D7-D913-46FB-8201-064F92C97C8F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165CC4-0FBD-4354-B5CD-7E1571EACF2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98980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zh-TW" altLang="en-US">
                  <a:solidFill>
                    <a:srgbClr val="40458C"/>
                  </a:solidFill>
                </a:endParaRPr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20486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20486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DE58B-1708-480E-98B8-5F92D68BD0E0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1F5ED-48BC-4061-8E22-54DF64A014F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47991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6F658-DBB2-4D87-9F5C-CB09DFB1F26D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259DBD-87D6-4D18-9962-FB2B210E503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82891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665C3D-E5EA-4AE7-81A3-C6159F588884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2354A8-BC0F-4FFA-88DD-E866A80F2B3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89083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D56E14-5A64-45B1-9821-FCE0F0809475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B5748-F27C-4ED4-B048-8164FDEE7A4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6931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8F7CBE-7A0D-4F9C-8D51-EDC9A7313DFB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57782-5A1E-4C48-A2A6-39EB734C173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95052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70BEF-AC05-4D73-9A6C-E2AFBEDB93E6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782597-03C3-40EB-9B5B-F6FE3E34489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11501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1D8125-D611-4814-AAE4-4BB92772D754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CCE3D-3263-4CDB-9465-AF233EFB806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78256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F2F14-5638-4E1B-B9D7-316A25389A06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DCF22-1826-4E51-BC30-260B861EDAC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742694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5D310-FCF6-4FCD-AA2D-AE47BFF59060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DEF4B5-F079-424D-874F-AD927D9E5DC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89965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813C3-57C6-4D66-BCFE-4B1E27BED627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F13B4F-A474-449B-89E9-DBBAD12CDC0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575772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BBADD-3297-4109-8B2A-7367686CFD54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6BD45F-9B51-4EC1-A2AD-7932F4D92F7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5830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B903A4C7-05AB-4B70-8A71-7E98FEF8EAAE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3A68FFE2-F0F8-4AA2-B559-A2D719280BD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863976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329AE78D-FD05-4695-8FD7-6D20BF54D554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52D7256C-E396-4B79-9C20-0B3F4DD5C3C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093169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843FFD37-C608-4831-8C89-F990DFB555DB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ECA4FDA5-7B71-4DD5-85E7-C21C1DE15D3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145132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DC8E72F5-E81E-415F-9370-00D93725AD82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38A9D10A-B015-4351-BFBB-42974C9DC0D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030667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5B6D1749-527B-42BE-9DDF-BCD46F884D20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D4485EC7-347C-407B-9B7E-BD2585C138B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92207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60B68D93-F05D-4129-A732-B02F4806B114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B29B72DB-73C6-4F1E-AD3B-AD1B281FEE5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0743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A1F752D2-E0AD-4E60-A3DD-3A9A306EB005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7128BCFE-A309-4CC3-8745-21AD8FCC526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618155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7F02C509-ED5A-45C8-937F-90ADD6DE0F45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ABBF9BA2-F394-41F9-96EF-6F25FAC35CF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630401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4F7C8E52-21A8-440E-B0AB-7D3781D26AA7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8E3153A9-9268-4830-8E89-B3297D9F535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15203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7E0FEE1B-6E9B-4843-9204-76CD50D9C8A6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B4CE719E-9C2B-4DA9-B8D8-781AA71A4B6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833499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A10F15B5-6196-4EAB-9702-18A4FDC11902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197A427B-B99F-4339-AC41-5B152EB3DB6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8150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0384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fld id="{5CAAB978-BE4E-47DC-B91F-33F99E5DFC8C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20384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20384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7E3D13E6-06DD-48F4-BADA-58CF1F74629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63" r:id="rId2"/>
    <p:sldLayoutId id="2147484164" r:id="rId3"/>
    <p:sldLayoutId id="2147484165" r:id="rId4"/>
    <p:sldLayoutId id="2147484166" r:id="rId5"/>
    <p:sldLayoutId id="2147484167" r:id="rId6"/>
    <p:sldLayoutId id="2147484168" r:id="rId7"/>
    <p:sldLayoutId id="2147484169" r:id="rId8"/>
    <p:sldLayoutId id="2147484170" r:id="rId9"/>
    <p:sldLayoutId id="2147484171" r:id="rId10"/>
    <p:sldLayoutId id="2147484172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128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5135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5166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7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8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9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0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1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2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3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4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5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6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7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8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9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0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1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2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3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4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5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6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7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5136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5137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38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39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0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1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2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3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4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5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6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7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8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9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0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1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2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3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4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5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6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7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8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9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0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1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2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3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4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5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5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>
                <a:solidFill>
                  <a:srgbClr val="40458C"/>
                </a:solidFill>
              </a:endParaRPr>
            </a:p>
          </p:txBody>
        </p:sp>
        <p:sp>
          <p:nvSpPr>
            <p:cNvPr id="5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5131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5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5123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5124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0384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solidFill>
                  <a:srgbClr val="40458C"/>
                </a:solidFill>
              </a:defRPr>
            </a:lvl1pPr>
          </a:lstStyle>
          <a:p>
            <a:pPr>
              <a:defRPr/>
            </a:pPr>
            <a:fld id="{0EA7C3F5-DE30-4AFD-8269-9F336FD0F5C6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20384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rgbClr val="40458C"/>
                </a:solidFill>
              </a:defRPr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20384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40458C"/>
                </a:solidFill>
              </a:defRPr>
            </a:lvl1pPr>
          </a:lstStyle>
          <a:p>
            <a:pPr>
              <a:defRPr/>
            </a:pPr>
            <a:fld id="{F5CCFB57-1C3F-4678-82FB-18BEEC3EB75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7" r:id="rId1"/>
    <p:sldLayoutId id="2147484173" r:id="rId2"/>
    <p:sldLayoutId id="2147484174" r:id="rId3"/>
    <p:sldLayoutId id="2147484175" r:id="rId4"/>
    <p:sldLayoutId id="2147484176" r:id="rId5"/>
    <p:sldLayoutId id="2147484177" r:id="rId6"/>
    <p:sldLayoutId id="2147484178" r:id="rId7"/>
    <p:sldLayoutId id="2147484179" r:id="rId8"/>
    <p:sldLayoutId id="2147484180" r:id="rId9"/>
    <p:sldLayoutId id="2147484181" r:id="rId10"/>
    <p:sldLayoutId id="2147484182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  <p:sp>
        <p:nvSpPr>
          <p:cNvPr id="505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40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A78A4A93-B6D4-4298-A3F3-4AD262539088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505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505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000000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0214E6BC-6A02-40A0-B522-D7ABD293B1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6151" name="Picture 7" descr="itri_CEL_A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9857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8" r:id="rId1"/>
    <p:sldLayoutId id="2147484219" r:id="rId2"/>
    <p:sldLayoutId id="2147484220" r:id="rId3"/>
    <p:sldLayoutId id="2147484221" r:id="rId4"/>
    <p:sldLayoutId id="2147484222" r:id="rId5"/>
    <p:sldLayoutId id="2147484223" r:id="rId6"/>
    <p:sldLayoutId id="2147484224" r:id="rId7"/>
    <p:sldLayoutId id="2147484225" r:id="rId8"/>
    <p:sldLayoutId id="2147484226" r:id="rId9"/>
    <p:sldLayoutId id="2147484227" r:id="rId10"/>
    <p:sldLayoutId id="2147484228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FF"/>
          </a:solidFill>
          <a:latin typeface="+mj-lt"/>
          <a:ea typeface="新細明體" pitchFamily="18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FF"/>
          </a:solidFill>
          <a:latin typeface="Arial" charset="0"/>
          <a:ea typeface="新細明體" pitchFamily="18" charset="-12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FF"/>
          </a:solidFill>
          <a:latin typeface="Arial" charset="0"/>
          <a:ea typeface="新細明體" pitchFamily="18" charset="-12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FF"/>
          </a:solidFill>
          <a:latin typeface="Arial" charset="0"/>
          <a:ea typeface="新細明體" pitchFamily="18" charset="-12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FF"/>
          </a:solidFill>
          <a:latin typeface="Arial" charset="0"/>
          <a:ea typeface="新細明體" pitchFamily="18" charset="-12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 b="1">
          <a:solidFill>
            <a:srgbClr val="0000FF"/>
          </a:solidFill>
          <a:latin typeface="Arial" charset="0"/>
          <a:ea typeface="新細明體" pitchFamily="18" charset="-12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 b="1">
          <a:solidFill>
            <a:srgbClr val="0000FF"/>
          </a:solidFill>
          <a:latin typeface="Arial" charset="0"/>
          <a:ea typeface="新細明體" pitchFamily="18" charset="-12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 b="1">
          <a:solidFill>
            <a:srgbClr val="0000FF"/>
          </a:solidFill>
          <a:latin typeface="Arial" charset="0"/>
          <a:ea typeface="新細明體" pitchFamily="18" charset="-12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 b="1">
          <a:solidFill>
            <a:srgbClr val="0000FF"/>
          </a:solidFill>
          <a:latin typeface="Arial" charset="0"/>
          <a:ea typeface="新細明體" pitchFamily="18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新細明體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>
          <a:solidFill>
            <a:schemeClr val="tx1"/>
          </a:solidFill>
          <a:latin typeface="+mn-lt"/>
          <a:ea typeface="新細明體" pitchFamily="18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BCBF32C-F8FA-4BC8-BD1B-8FA2ED31A888}" type="slidenum">
              <a:rPr kumimoji="0" lang="en-US" altLang="zh-TW" sz="1400" smtClean="0"/>
              <a:pPr eaLnBrk="1" hangingPunct="1"/>
              <a:t>1</a:t>
            </a:fld>
            <a:endParaRPr kumimoji="0" lang="en-US" altLang="zh-TW" sz="1400" smtClean="0"/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660400" y="2149475"/>
            <a:ext cx="7905750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4000" b="1" dirty="0">
                <a:latin typeface="Book Antiqua" pitchFamily="18" charset="0"/>
              </a:rPr>
              <a:t>Chapter 1</a:t>
            </a:r>
          </a:p>
          <a:p>
            <a:pPr algn="ctr"/>
            <a:r>
              <a:rPr lang="en-US" altLang="zh-TW" sz="4000" b="1" dirty="0">
                <a:latin typeface="Book Antiqua" pitchFamily="18" charset="0"/>
              </a:rPr>
              <a:t> Introduction</a:t>
            </a:r>
            <a:r>
              <a:rPr lang="en-US" altLang="zh-TW" sz="4400" b="1" dirty="0">
                <a:latin typeface="Book Antiqua" pitchFamily="18" charset="0"/>
              </a:rPr>
              <a:t> </a:t>
            </a:r>
          </a:p>
          <a:p>
            <a:pPr algn="ctr"/>
            <a:endParaRPr lang="en-US" altLang="zh-TW" sz="4400" b="1" dirty="0">
              <a:latin typeface="Book Antiqua" pitchFamily="18" charset="0"/>
            </a:endParaRPr>
          </a:p>
          <a:p>
            <a:pPr algn="ctr"/>
            <a:endParaRPr lang="en-US" altLang="zh-TW" sz="2800" b="1" dirty="0">
              <a:latin typeface="Book Antiqua" pitchFamily="18" charset="0"/>
            </a:endParaRPr>
          </a:p>
        </p:txBody>
      </p:sp>
      <p:sp>
        <p:nvSpPr>
          <p:cNvPr id="54276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06A4279-F916-41A0-84E4-2B1E2EF53159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54277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228" y="3383756"/>
            <a:ext cx="2857819" cy="274923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 bwMode="auto">
          <a:xfrm>
            <a:off x="6129177" y="3383756"/>
            <a:ext cx="2915920" cy="9144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129177" y="5485765"/>
            <a:ext cx="2915920" cy="64722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75C1099-793E-4472-856A-FD813B8AFA49}" type="slidenum">
              <a:rPr kumimoji="0" lang="en-US" altLang="zh-TW" sz="1400" smtClean="0"/>
              <a:pPr eaLnBrk="1" hangingPunct="1"/>
              <a:t>2</a:t>
            </a:fld>
            <a:endParaRPr kumimoji="0" lang="en-US" altLang="zh-TW" sz="1400" smtClean="0"/>
          </a:p>
        </p:txBody>
      </p:sp>
      <p:sp>
        <p:nvSpPr>
          <p:cNvPr id="55299" name="Rectangle 2050"/>
          <p:cNvSpPr>
            <a:spLocks noGrp="1" noChangeArrowheads="1"/>
          </p:cNvSpPr>
          <p:nvPr>
            <p:ph type="title"/>
          </p:nvPr>
        </p:nvSpPr>
        <p:spPr>
          <a:xfrm>
            <a:off x="609600" y="406400"/>
            <a:ext cx="7772400" cy="495300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Introduction</a:t>
            </a:r>
          </a:p>
        </p:txBody>
      </p:sp>
      <p:sp>
        <p:nvSpPr>
          <p:cNvPr id="199683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8596" y="1148822"/>
            <a:ext cx="8039100" cy="52959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TW" sz="2400" dirty="0" smtClean="0">
                <a:solidFill>
                  <a:schemeClr val="tx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What is an Operating System?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Computer-System Organization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TW" sz="2400" dirty="0" smtClean="0">
                <a:solidFill>
                  <a:schemeClr val="tx1">
                    <a:lumMod val="40000"/>
                    <a:lumOff val="6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Computer-System Architecture</a:t>
            </a:r>
            <a:r>
              <a:rPr lang="zh-TW" altLang="en-US" sz="2400" dirty="0" smtClean="0">
                <a:solidFill>
                  <a:schemeClr val="tx1">
                    <a:lumMod val="40000"/>
                    <a:lumOff val="60000"/>
                  </a:schemeClr>
                </a:solidFill>
                <a:latin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chemeClr val="tx1">
                    <a:lumMod val="40000"/>
                    <a:lumOff val="6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(</a:t>
            </a:r>
            <a:r>
              <a:rPr lang="en-US" altLang="zh-TW" sz="2400" dirty="0" smtClean="0">
                <a:solidFill>
                  <a:schemeClr val="tx1">
                    <a:lumMod val="40000"/>
                    <a:lumOff val="6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OS0-2018)</a:t>
            </a:r>
            <a:endParaRPr lang="en-US" altLang="zh-TW" sz="2400" dirty="0" smtClean="0">
              <a:solidFill>
                <a:schemeClr val="tx1">
                  <a:lumMod val="40000"/>
                  <a:lumOff val="6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Operating-System Operations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Process, Memory, Storage Management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Protection and Security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Kernel Data Structures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Computing Environments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Open-Source Operating Systems</a:t>
            </a:r>
            <a:endParaRPr lang="en-US" altLang="zh-TW" sz="2800" dirty="0" smtClean="0">
              <a:solidFill>
                <a:srgbClr val="FF0066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55301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A95440C-178D-4358-A91C-2EFE5D4F11DE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55302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9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9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BB926AE-9704-4A69-B423-A1D25DD8793D}" type="slidenum">
              <a:rPr kumimoji="0" lang="en-US" altLang="zh-TW" sz="1400" smtClean="0"/>
              <a:pPr eaLnBrk="1" hangingPunct="1"/>
              <a:t>3</a:t>
            </a:fld>
            <a:endParaRPr kumimoji="0" lang="en-US" altLang="zh-TW" sz="1400" smtClean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What is an Operating System?</a:t>
            </a:r>
          </a:p>
        </p:txBody>
      </p:sp>
      <p:sp>
        <p:nvSpPr>
          <p:cNvPr id="2007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62013" y="1608138"/>
            <a:ext cx="7442200" cy="459105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sz="2800" smtClean="0"/>
              <a:t>A program that acts as an intermediary between a </a:t>
            </a:r>
            <a:r>
              <a:rPr lang="en-US" altLang="zh-TW" sz="2800" smtClean="0">
                <a:solidFill>
                  <a:srgbClr val="FF0066"/>
                </a:solidFill>
              </a:rPr>
              <a:t>user</a:t>
            </a:r>
            <a:r>
              <a:rPr lang="en-US" altLang="zh-TW" sz="2800" smtClean="0"/>
              <a:t> of a computer and the computer </a:t>
            </a:r>
            <a:r>
              <a:rPr lang="en-US" altLang="zh-TW" sz="2800" smtClean="0">
                <a:solidFill>
                  <a:srgbClr val="FF0066"/>
                </a:solidFill>
              </a:rPr>
              <a:t>hardware</a:t>
            </a:r>
            <a:r>
              <a:rPr lang="en-US" altLang="zh-TW" sz="2800" smtClean="0"/>
              <a:t>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Operating system goals:</a:t>
            </a:r>
          </a:p>
          <a:p>
            <a:pPr lvl="1" eaLnBrk="1" hangingPunct="1"/>
            <a:r>
              <a:rPr lang="en-US" altLang="zh-TW" sz="2400" smtClean="0"/>
              <a:t>Execute user programs and make solving user problems easier.</a:t>
            </a:r>
          </a:p>
          <a:p>
            <a:pPr lvl="1" eaLnBrk="1" hangingPunct="1"/>
            <a:r>
              <a:rPr lang="en-US" altLang="zh-TW" sz="2400" smtClean="0"/>
              <a:t>Make the computer system convenient to use.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Use the computer hardware in an efficient manner.</a:t>
            </a:r>
          </a:p>
        </p:txBody>
      </p:sp>
      <p:sp>
        <p:nvSpPr>
          <p:cNvPr id="56325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F09FBD4-8CDD-4F4A-9C96-2108628AA8A6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56326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AC4F194-5689-40DD-9C4C-879DABBD582E}" type="slidenum">
              <a:rPr kumimoji="0" lang="en-US" altLang="zh-TW" sz="1400" smtClean="0"/>
              <a:pPr eaLnBrk="1" hangingPunct="1"/>
              <a:t>4</a:t>
            </a:fld>
            <a:endParaRPr kumimoji="0" lang="en-US" altLang="zh-TW" sz="1400" smtClean="0"/>
          </a:p>
        </p:txBody>
      </p:sp>
      <p:sp>
        <p:nvSpPr>
          <p:cNvPr id="57347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96900" y="304800"/>
            <a:ext cx="8255000" cy="812800"/>
          </a:xfrm>
        </p:spPr>
        <p:txBody>
          <a:bodyPr/>
          <a:lstStyle/>
          <a:p>
            <a:pPr eaLnBrk="1" hangingPunct="1"/>
            <a:r>
              <a:rPr lang="en-US" altLang="zh-TW" smtClean="0"/>
              <a:t>Computer System Structures</a:t>
            </a:r>
          </a:p>
        </p:txBody>
      </p:sp>
      <p:sp>
        <p:nvSpPr>
          <p:cNvPr id="201731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1963" y="1185863"/>
            <a:ext cx="8297862" cy="49339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smtClean="0"/>
              <a:t>1.	</a:t>
            </a:r>
            <a:r>
              <a:rPr lang="en-US" altLang="zh-TW" sz="2800" b="1" smtClean="0"/>
              <a:t>Hardware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provides basic </a:t>
            </a:r>
            <a:r>
              <a:rPr lang="en-US" altLang="zh-TW" sz="2800" smtClean="0">
                <a:solidFill>
                  <a:srgbClr val="FF0066"/>
                </a:solidFill>
              </a:rPr>
              <a:t>computing resources</a:t>
            </a:r>
            <a:r>
              <a:rPr lang="en-US" altLang="zh-TW" sz="2800" smtClean="0"/>
              <a:t> (CPU, memory, I/O devices).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z="2800" smtClean="0"/>
              <a:t>2.	</a:t>
            </a:r>
            <a:r>
              <a:rPr lang="en-US" altLang="zh-TW" sz="2800" b="1" smtClean="0"/>
              <a:t>Operating system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</a:t>
            </a:r>
            <a:r>
              <a:rPr lang="en-US" altLang="zh-TW" sz="2800" smtClean="0">
                <a:solidFill>
                  <a:srgbClr val="0000FF"/>
                </a:solidFill>
              </a:rPr>
              <a:t>controls</a:t>
            </a:r>
            <a:r>
              <a:rPr lang="en-US" altLang="zh-TW" sz="2800" smtClean="0"/>
              <a:t> and </a:t>
            </a:r>
            <a:r>
              <a:rPr lang="en-US" altLang="zh-TW" sz="2800" smtClean="0">
                <a:solidFill>
                  <a:srgbClr val="0000FF"/>
                </a:solidFill>
              </a:rPr>
              <a:t>coordinates</a:t>
            </a:r>
            <a:r>
              <a:rPr lang="en-US" altLang="zh-TW" sz="2800" smtClean="0"/>
              <a:t> the use of the hardware among the various application programs for the various users.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z="2800" smtClean="0"/>
              <a:t>3.</a:t>
            </a:r>
            <a:r>
              <a:rPr lang="en-US" altLang="zh-TW" sz="2800" b="1" smtClean="0"/>
              <a:t>	Applications programs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define the ways in which the system resources are used to </a:t>
            </a:r>
            <a:r>
              <a:rPr lang="en-US" altLang="zh-TW" sz="2800" smtClean="0">
                <a:solidFill>
                  <a:srgbClr val="FF0066"/>
                </a:solidFill>
              </a:rPr>
              <a:t>solve the computing problems</a:t>
            </a:r>
            <a:r>
              <a:rPr lang="en-US" altLang="zh-TW" sz="2800" smtClean="0"/>
              <a:t> of the users (compilers, database systems, video games, business programs).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en-US" altLang="zh-TW" sz="2800" smtClean="0"/>
              <a:t>4.	</a:t>
            </a:r>
            <a:r>
              <a:rPr lang="en-US" altLang="zh-TW" sz="2800" b="1" smtClean="0"/>
              <a:t>Users</a:t>
            </a:r>
            <a:r>
              <a:rPr lang="en-US" altLang="zh-TW" sz="2800" smtClean="0"/>
              <a:t> (people, machines, other computers). </a:t>
            </a:r>
          </a:p>
        </p:txBody>
      </p:sp>
      <p:sp>
        <p:nvSpPr>
          <p:cNvPr id="57349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4C7BC43-A2E7-4E7A-A55A-D448CCBFDC67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57350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229E0B6-6EBE-48AA-9585-E4BF1242765C}" type="slidenum">
              <a:rPr kumimoji="0" lang="en-US" altLang="zh-TW" sz="1400" smtClean="0"/>
              <a:pPr eaLnBrk="1" hangingPunct="1"/>
              <a:t>5</a:t>
            </a:fld>
            <a:endParaRPr kumimoji="0" lang="en-US" altLang="zh-TW" sz="1400" smtClean="0"/>
          </a:p>
        </p:txBody>
      </p:sp>
      <p:sp>
        <p:nvSpPr>
          <p:cNvPr id="58371" name="Text Box 5"/>
          <p:cNvSpPr txBox="1">
            <a:spLocks noChangeArrowheads="1"/>
          </p:cNvSpPr>
          <p:nvPr/>
        </p:nvSpPr>
        <p:spPr bwMode="auto">
          <a:xfrm>
            <a:off x="3027363" y="3894138"/>
            <a:ext cx="2341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r>
              <a:rPr lang="en-US" altLang="zh-TW" sz="2000" b="1">
                <a:latin typeface="Book Antiqua" pitchFamily="18" charset="0"/>
              </a:rPr>
              <a:t>Operating System </a:t>
            </a:r>
          </a:p>
        </p:txBody>
      </p:sp>
      <p:sp>
        <p:nvSpPr>
          <p:cNvPr id="58372" name="Text Box 7"/>
          <p:cNvSpPr txBox="1">
            <a:spLocks noChangeArrowheads="1"/>
          </p:cNvSpPr>
          <p:nvPr/>
        </p:nvSpPr>
        <p:spPr bwMode="auto">
          <a:xfrm>
            <a:off x="2762250" y="3021013"/>
            <a:ext cx="279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r>
              <a:rPr lang="en-US" altLang="zh-TW" sz="2000" b="1">
                <a:latin typeface="Book Antiqua" pitchFamily="18" charset="0"/>
              </a:rPr>
              <a:t>Application Programs </a:t>
            </a:r>
          </a:p>
        </p:txBody>
      </p:sp>
      <p:sp>
        <p:nvSpPr>
          <p:cNvPr id="58373" name="Rectangle 8"/>
          <p:cNvSpPr>
            <a:spLocks noChangeArrowheads="1"/>
          </p:cNvSpPr>
          <p:nvPr/>
        </p:nvSpPr>
        <p:spPr bwMode="auto">
          <a:xfrm>
            <a:off x="1800225" y="1031875"/>
            <a:ext cx="866775" cy="72072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58374" name="Line 9"/>
          <p:cNvSpPr>
            <a:spLocks noChangeShapeType="1"/>
          </p:cNvSpPr>
          <p:nvPr/>
        </p:nvSpPr>
        <p:spPr bwMode="auto">
          <a:xfrm flipH="1">
            <a:off x="2205038" y="1768475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8375" name="Text Box 10"/>
          <p:cNvSpPr txBox="1">
            <a:spLocks noChangeArrowheads="1"/>
          </p:cNvSpPr>
          <p:nvPr/>
        </p:nvSpPr>
        <p:spPr bwMode="auto">
          <a:xfrm>
            <a:off x="1822450" y="1042988"/>
            <a:ext cx="7191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r>
              <a:rPr lang="en-US" altLang="zh-TW" sz="2000" b="1">
                <a:latin typeface="Book Antiqua" pitchFamily="18" charset="0"/>
              </a:rPr>
              <a:t>User</a:t>
            </a:r>
          </a:p>
          <a:p>
            <a:r>
              <a:rPr lang="en-US" altLang="zh-TW" sz="2000" b="1">
                <a:latin typeface="Book Antiqua" pitchFamily="18" charset="0"/>
              </a:rPr>
              <a:t>   1 </a:t>
            </a:r>
          </a:p>
        </p:txBody>
      </p:sp>
      <p:sp>
        <p:nvSpPr>
          <p:cNvPr id="58376" name="Rectangle 11"/>
          <p:cNvSpPr>
            <a:spLocks noChangeArrowheads="1"/>
          </p:cNvSpPr>
          <p:nvPr/>
        </p:nvSpPr>
        <p:spPr bwMode="auto">
          <a:xfrm>
            <a:off x="3035300" y="1039813"/>
            <a:ext cx="866775" cy="72072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58377" name="Line 12"/>
          <p:cNvSpPr>
            <a:spLocks noChangeShapeType="1"/>
          </p:cNvSpPr>
          <p:nvPr/>
        </p:nvSpPr>
        <p:spPr bwMode="auto">
          <a:xfrm flipH="1">
            <a:off x="3440113" y="177641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8378" name="Text Box 13"/>
          <p:cNvSpPr txBox="1">
            <a:spLocks noChangeArrowheads="1"/>
          </p:cNvSpPr>
          <p:nvPr/>
        </p:nvSpPr>
        <p:spPr bwMode="auto">
          <a:xfrm>
            <a:off x="3057525" y="1050925"/>
            <a:ext cx="7191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r>
              <a:rPr lang="en-US" altLang="zh-TW" sz="2000" b="1">
                <a:latin typeface="Book Antiqua" pitchFamily="18" charset="0"/>
              </a:rPr>
              <a:t>User</a:t>
            </a:r>
          </a:p>
          <a:p>
            <a:r>
              <a:rPr lang="en-US" altLang="zh-TW" sz="2000" b="1">
                <a:latin typeface="Book Antiqua" pitchFamily="18" charset="0"/>
              </a:rPr>
              <a:t>   2 </a:t>
            </a:r>
          </a:p>
        </p:txBody>
      </p:sp>
      <p:sp>
        <p:nvSpPr>
          <p:cNvPr id="58379" name="Rectangle 14"/>
          <p:cNvSpPr>
            <a:spLocks noChangeArrowheads="1"/>
          </p:cNvSpPr>
          <p:nvPr/>
        </p:nvSpPr>
        <p:spPr bwMode="auto">
          <a:xfrm>
            <a:off x="4357688" y="1033463"/>
            <a:ext cx="866775" cy="72072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58380" name="Line 15"/>
          <p:cNvSpPr>
            <a:spLocks noChangeShapeType="1"/>
          </p:cNvSpPr>
          <p:nvPr/>
        </p:nvSpPr>
        <p:spPr bwMode="auto">
          <a:xfrm flipH="1">
            <a:off x="4762500" y="177006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8381" name="Text Box 16"/>
          <p:cNvSpPr txBox="1">
            <a:spLocks noChangeArrowheads="1"/>
          </p:cNvSpPr>
          <p:nvPr/>
        </p:nvSpPr>
        <p:spPr bwMode="auto">
          <a:xfrm>
            <a:off x="4379913" y="1044575"/>
            <a:ext cx="7191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r>
              <a:rPr lang="en-US" altLang="zh-TW" sz="2000" b="1">
                <a:latin typeface="Book Antiqua" pitchFamily="18" charset="0"/>
              </a:rPr>
              <a:t>User</a:t>
            </a:r>
          </a:p>
          <a:p>
            <a:r>
              <a:rPr lang="en-US" altLang="zh-TW" sz="2000" b="1">
                <a:latin typeface="Book Antiqua" pitchFamily="18" charset="0"/>
              </a:rPr>
              <a:t>   3 </a:t>
            </a:r>
          </a:p>
        </p:txBody>
      </p:sp>
      <p:sp>
        <p:nvSpPr>
          <p:cNvPr id="58382" name="Rectangle 17"/>
          <p:cNvSpPr>
            <a:spLocks noChangeArrowheads="1"/>
          </p:cNvSpPr>
          <p:nvPr/>
        </p:nvSpPr>
        <p:spPr bwMode="auto">
          <a:xfrm>
            <a:off x="6530975" y="1027113"/>
            <a:ext cx="866775" cy="720725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58383" name="Line 18"/>
          <p:cNvSpPr>
            <a:spLocks noChangeShapeType="1"/>
          </p:cNvSpPr>
          <p:nvPr/>
        </p:nvSpPr>
        <p:spPr bwMode="auto">
          <a:xfrm flipH="1">
            <a:off x="6935788" y="176371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8384" name="Text Box 19"/>
          <p:cNvSpPr txBox="1">
            <a:spLocks noChangeArrowheads="1"/>
          </p:cNvSpPr>
          <p:nvPr/>
        </p:nvSpPr>
        <p:spPr bwMode="auto">
          <a:xfrm>
            <a:off x="6553200" y="1038225"/>
            <a:ext cx="7191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r>
              <a:rPr lang="en-US" altLang="zh-TW" sz="2000" b="1">
                <a:latin typeface="Book Antiqua" pitchFamily="18" charset="0"/>
              </a:rPr>
              <a:t>User</a:t>
            </a:r>
          </a:p>
          <a:p>
            <a:r>
              <a:rPr lang="en-US" altLang="zh-TW" sz="2000" b="1">
                <a:latin typeface="Book Antiqua" pitchFamily="18" charset="0"/>
              </a:rPr>
              <a:t>   n </a:t>
            </a:r>
          </a:p>
        </p:txBody>
      </p:sp>
      <p:sp>
        <p:nvSpPr>
          <p:cNvPr id="58385" name="Text Box 20"/>
          <p:cNvSpPr txBox="1">
            <a:spLocks noChangeArrowheads="1"/>
          </p:cNvSpPr>
          <p:nvPr/>
        </p:nvSpPr>
        <p:spPr bwMode="auto">
          <a:xfrm>
            <a:off x="1441450" y="2408238"/>
            <a:ext cx="6276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r>
              <a:rPr lang="en-US" altLang="zh-TW" sz="2000" b="1">
                <a:latin typeface="Book Antiqua" pitchFamily="18" charset="0"/>
              </a:rPr>
              <a:t>Compiler      Assember      Text Editor             Browser</a:t>
            </a:r>
          </a:p>
        </p:txBody>
      </p:sp>
      <p:sp>
        <p:nvSpPr>
          <p:cNvPr id="58386" name="Text Box 25"/>
          <p:cNvSpPr txBox="1">
            <a:spLocks noChangeArrowheads="1"/>
          </p:cNvSpPr>
          <p:nvPr/>
        </p:nvSpPr>
        <p:spPr bwMode="auto">
          <a:xfrm>
            <a:off x="1368425" y="303213"/>
            <a:ext cx="6742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r>
              <a:rPr lang="en-US" altLang="zh-TW" sz="2800" b="1">
                <a:solidFill>
                  <a:srgbClr val="FF0066"/>
                </a:solidFill>
                <a:latin typeface="Book Antiqua" pitchFamily="18" charset="0"/>
              </a:rPr>
              <a:t>Four components of a computer system</a:t>
            </a:r>
          </a:p>
        </p:txBody>
      </p:sp>
      <p:sp>
        <p:nvSpPr>
          <p:cNvPr id="58387" name="Rectangle 30"/>
          <p:cNvSpPr>
            <a:spLocks noChangeArrowheads="1"/>
          </p:cNvSpPr>
          <p:nvPr/>
        </p:nvSpPr>
        <p:spPr bwMode="auto">
          <a:xfrm>
            <a:off x="3371850" y="4552950"/>
            <a:ext cx="2190750" cy="1009650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58388" name="Text Box 3"/>
          <p:cNvSpPr txBox="1">
            <a:spLocks noChangeArrowheads="1"/>
          </p:cNvSpPr>
          <p:nvPr/>
        </p:nvSpPr>
        <p:spPr bwMode="auto">
          <a:xfrm>
            <a:off x="3654425" y="4578350"/>
            <a:ext cx="14192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r>
              <a:rPr lang="en-US" altLang="zh-TW" sz="2000" b="1">
                <a:latin typeface="Book Antiqua" pitchFamily="18" charset="0"/>
              </a:rPr>
              <a:t>Computer </a:t>
            </a:r>
          </a:p>
          <a:p>
            <a:r>
              <a:rPr lang="en-US" altLang="zh-TW" sz="2000" b="1">
                <a:latin typeface="Book Antiqua" pitchFamily="18" charset="0"/>
              </a:rPr>
              <a:t>Hardware</a:t>
            </a:r>
          </a:p>
        </p:txBody>
      </p:sp>
      <p:sp>
        <p:nvSpPr>
          <p:cNvPr id="58389" name="Freeform 31"/>
          <p:cNvSpPr>
            <a:spLocks/>
          </p:cNvSpPr>
          <p:nvPr/>
        </p:nvSpPr>
        <p:spPr bwMode="auto">
          <a:xfrm>
            <a:off x="2686050" y="3695700"/>
            <a:ext cx="3562350" cy="1295400"/>
          </a:xfrm>
          <a:custGeom>
            <a:avLst/>
            <a:gdLst>
              <a:gd name="T0" fmla="*/ 2147483647 w 2244"/>
              <a:gd name="T1" fmla="*/ 2147483647 h 816"/>
              <a:gd name="T2" fmla="*/ 0 w 2244"/>
              <a:gd name="T3" fmla="*/ 2147483647 h 816"/>
              <a:gd name="T4" fmla="*/ 0 w 2244"/>
              <a:gd name="T5" fmla="*/ 0 h 816"/>
              <a:gd name="T6" fmla="*/ 2147483647 w 2244"/>
              <a:gd name="T7" fmla="*/ 0 h 816"/>
              <a:gd name="T8" fmla="*/ 2147483647 w 2244"/>
              <a:gd name="T9" fmla="*/ 2147483647 h 816"/>
              <a:gd name="T10" fmla="*/ 2147483647 w 2244"/>
              <a:gd name="T11" fmla="*/ 2147483647 h 8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244"/>
              <a:gd name="T19" fmla="*/ 0 h 816"/>
              <a:gd name="T20" fmla="*/ 2244 w 2244"/>
              <a:gd name="T21" fmla="*/ 816 h 81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244" h="816">
                <a:moveTo>
                  <a:pt x="432" y="816"/>
                </a:moveTo>
                <a:lnTo>
                  <a:pt x="0" y="816"/>
                </a:lnTo>
                <a:lnTo>
                  <a:pt x="0" y="0"/>
                </a:lnTo>
                <a:lnTo>
                  <a:pt x="2244" y="0"/>
                </a:lnTo>
                <a:lnTo>
                  <a:pt x="2244" y="816"/>
                </a:lnTo>
                <a:lnTo>
                  <a:pt x="1824" y="816"/>
                </a:lnTo>
              </a:path>
            </a:pathLst>
          </a:cu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8390" name="Freeform 32"/>
          <p:cNvSpPr>
            <a:spLocks/>
          </p:cNvSpPr>
          <p:nvPr/>
        </p:nvSpPr>
        <p:spPr bwMode="auto">
          <a:xfrm>
            <a:off x="1276350" y="2286000"/>
            <a:ext cx="6534150" cy="1714500"/>
          </a:xfrm>
          <a:custGeom>
            <a:avLst/>
            <a:gdLst>
              <a:gd name="T0" fmla="*/ 2147483647 w 4116"/>
              <a:gd name="T1" fmla="*/ 2147483647 h 1080"/>
              <a:gd name="T2" fmla="*/ 0 w 4116"/>
              <a:gd name="T3" fmla="*/ 2147483647 h 1080"/>
              <a:gd name="T4" fmla="*/ 0 w 4116"/>
              <a:gd name="T5" fmla="*/ 2147483647 h 1080"/>
              <a:gd name="T6" fmla="*/ 2147483647 w 4116"/>
              <a:gd name="T7" fmla="*/ 0 h 1080"/>
              <a:gd name="T8" fmla="*/ 2147483647 w 4116"/>
              <a:gd name="T9" fmla="*/ 2147483647 h 1080"/>
              <a:gd name="T10" fmla="*/ 2147483647 w 4116"/>
              <a:gd name="T11" fmla="*/ 2147483647 h 10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16"/>
              <a:gd name="T19" fmla="*/ 0 h 1080"/>
              <a:gd name="T20" fmla="*/ 4116 w 4116"/>
              <a:gd name="T21" fmla="*/ 1080 h 10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116" h="1080">
                <a:moveTo>
                  <a:pt x="888" y="1080"/>
                </a:moveTo>
                <a:lnTo>
                  <a:pt x="0" y="1080"/>
                </a:lnTo>
                <a:lnTo>
                  <a:pt x="0" y="12"/>
                </a:lnTo>
                <a:lnTo>
                  <a:pt x="4116" y="0"/>
                </a:lnTo>
                <a:lnTo>
                  <a:pt x="4116" y="1080"/>
                </a:lnTo>
                <a:lnTo>
                  <a:pt x="3156" y="1080"/>
                </a:lnTo>
              </a:path>
            </a:pathLst>
          </a:cu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8391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23EB5BB-5B5F-45B5-B469-98DFE34B5E07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58392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E2D2DD9-A113-4454-8B51-665FD404DAD6}" type="slidenum">
              <a:rPr kumimoji="0" lang="en-US" altLang="zh-TW" sz="1400" smtClean="0"/>
              <a:pPr eaLnBrk="1" hangingPunct="1"/>
              <a:t>6</a:t>
            </a:fld>
            <a:endParaRPr kumimoji="0" lang="en-US" altLang="zh-TW" sz="1400" smtClean="0"/>
          </a:p>
        </p:txBody>
      </p:sp>
      <p:sp>
        <p:nvSpPr>
          <p:cNvPr id="5939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Operating System Definitions</a:t>
            </a:r>
          </a:p>
        </p:txBody>
      </p:sp>
      <p:sp>
        <p:nvSpPr>
          <p:cNvPr id="206851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92150" y="1539875"/>
            <a:ext cx="7740650" cy="4724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800" b="1" smtClean="0"/>
              <a:t>Resource allocator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</a:t>
            </a:r>
            <a:r>
              <a:rPr lang="en-US" altLang="zh-TW" sz="2800" smtClean="0">
                <a:solidFill>
                  <a:srgbClr val="FF0066"/>
                </a:solidFill>
              </a:rPr>
              <a:t>manages</a:t>
            </a:r>
            <a:r>
              <a:rPr lang="en-US" altLang="zh-TW" sz="2800" smtClean="0"/>
              <a:t> and </a:t>
            </a:r>
            <a:r>
              <a:rPr lang="en-US" altLang="zh-TW" sz="2800" smtClean="0">
                <a:solidFill>
                  <a:srgbClr val="FF0066"/>
                </a:solidFill>
              </a:rPr>
              <a:t>allocates</a:t>
            </a:r>
            <a:r>
              <a:rPr lang="en-US" altLang="zh-TW" sz="2800" smtClean="0"/>
              <a:t> resources.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b="1" smtClean="0"/>
              <a:t>Control program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</a:t>
            </a:r>
            <a:r>
              <a:rPr lang="en-US" altLang="zh-TW" sz="2800" smtClean="0">
                <a:solidFill>
                  <a:srgbClr val="FF0066"/>
                </a:solidFill>
              </a:rPr>
              <a:t>controls</a:t>
            </a:r>
            <a:r>
              <a:rPr lang="en-US" altLang="zh-TW" sz="2800" smtClean="0"/>
              <a:t> the execution of user programs and operations of I/O devices 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No universally accepted definition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b="1" smtClean="0"/>
              <a:t>Kernel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the one program running at all times (all else being system programs or application programs).</a:t>
            </a:r>
          </a:p>
          <a:p>
            <a:pPr eaLnBrk="1" hangingPunct="1"/>
            <a:endParaRPr lang="en-US" altLang="zh-TW" sz="2800" smtClean="0"/>
          </a:p>
        </p:txBody>
      </p:sp>
      <p:sp>
        <p:nvSpPr>
          <p:cNvPr id="59397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950075B-9BFC-4AE2-AF8B-4255C0F2B200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59398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77C8146-7E75-4B7E-8126-8BA352AEA70A}" type="slidenum">
              <a:rPr kumimoji="0" lang="en-US" altLang="zh-TW" sz="1400" smtClean="0"/>
              <a:pPr eaLnBrk="1" hangingPunct="1"/>
              <a:t>7</a:t>
            </a:fld>
            <a:endParaRPr kumimoji="0" lang="en-US" altLang="zh-TW" sz="1400" smtClean="0"/>
          </a:p>
        </p:txBody>
      </p:sp>
      <p:sp>
        <p:nvSpPr>
          <p:cNvPr id="187394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876300"/>
            <a:ext cx="8093075" cy="54514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3600" dirty="0" smtClean="0"/>
              <a:t>Primary-- </a:t>
            </a:r>
            <a:r>
              <a:rPr lang="en-US" altLang="zh-TW" sz="3600" b="1" dirty="0" smtClean="0">
                <a:solidFill>
                  <a:srgbClr val="FF0066"/>
                </a:solidFill>
              </a:rPr>
              <a:t>convenience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3200" dirty="0" smtClean="0"/>
              <a:t>make the computer system convenient to use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3600" dirty="0" smtClean="0"/>
              <a:t>Secondary-- </a:t>
            </a:r>
            <a:r>
              <a:rPr lang="en-US" altLang="zh-TW" sz="3600" b="1" dirty="0" smtClean="0">
                <a:solidFill>
                  <a:srgbClr val="FF0066"/>
                </a:solidFill>
              </a:rPr>
              <a:t>efficiency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3200" dirty="0" smtClean="0"/>
              <a:t>use the computer hardware in an efficient manner</a:t>
            </a:r>
          </a:p>
          <a:p>
            <a:pPr lvl="2" eaLnBrk="1" hangingPunct="1">
              <a:lnSpc>
                <a:spcPct val="80000"/>
              </a:lnSpc>
              <a:defRPr/>
            </a:pPr>
            <a:endParaRPr lang="en-US" altLang="zh-TW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zh-TW" dirty="0" smtClean="0"/>
              <a:t>The two goals are </a:t>
            </a:r>
            <a:r>
              <a:rPr lang="en-US" altLang="zh-TW" b="1" dirty="0" smtClean="0">
                <a:solidFill>
                  <a:srgbClr val="0000FF"/>
                </a:solidFill>
              </a:rPr>
              <a:t>contradictory</a:t>
            </a:r>
            <a:r>
              <a:rPr lang="en-US" altLang="zh-TW" dirty="0" smtClean="0"/>
              <a:t> sometimes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zh-TW" dirty="0" smtClean="0"/>
              <a:t>In the past, the secondary goal is more important.</a:t>
            </a:r>
          </a:p>
        </p:txBody>
      </p:sp>
      <p:sp>
        <p:nvSpPr>
          <p:cNvPr id="6042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6575" y="68263"/>
            <a:ext cx="7772400" cy="703262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Goals of OS </a:t>
            </a:r>
          </a:p>
        </p:txBody>
      </p:sp>
      <p:sp>
        <p:nvSpPr>
          <p:cNvPr id="60421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2823E3E-D512-4B92-85D2-D70C72D39168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60422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7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7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7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7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7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7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7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7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73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73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78A2919-FC4D-47A7-AD14-567388610851}" type="slidenum">
              <a:rPr kumimoji="0" lang="en-US" altLang="zh-TW" sz="1400" smtClean="0"/>
              <a:pPr eaLnBrk="1" hangingPunct="1"/>
              <a:t>8</a:t>
            </a:fld>
            <a:endParaRPr kumimoji="0" lang="en-US" altLang="zh-TW" sz="1400" smtClean="0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65100"/>
            <a:ext cx="7594600" cy="838200"/>
          </a:xfrm>
        </p:spPr>
        <p:txBody>
          <a:bodyPr/>
          <a:lstStyle/>
          <a:p>
            <a:pPr algn="ctr" eaLnBrk="1" hangingPunct="1"/>
            <a:r>
              <a:rPr lang="en-US" altLang="zh-TW" sz="4800" smtClean="0">
                <a:solidFill>
                  <a:srgbClr val="FF0066"/>
                </a:solidFill>
                <a:latin typeface="Comic Sans MS" pitchFamily="66" charset="0"/>
              </a:rPr>
              <a:t>Comput</a:t>
            </a:r>
            <a:r>
              <a:rPr lang="en-US" altLang="zh-TW" sz="4800" smtClean="0">
                <a:solidFill>
                  <a:schemeClr val="tx1"/>
                </a:solidFill>
                <a:latin typeface="Times New Roman" pitchFamily="18" charset="0"/>
              </a:rPr>
              <a:t>er</a:t>
            </a:r>
          </a:p>
        </p:txBody>
      </p:sp>
      <p:sp>
        <p:nvSpPr>
          <p:cNvPr id="1730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933450"/>
            <a:ext cx="8108950" cy="5334000"/>
          </a:xfrm>
        </p:spPr>
        <p:txBody>
          <a:bodyPr/>
          <a:lstStyle/>
          <a:p>
            <a:pPr eaLnBrk="1" hangingPunct="1"/>
            <a:r>
              <a:rPr lang="en-US" altLang="zh-TW" sz="2800" dirty="0" smtClean="0"/>
              <a:t>Original goal: </a:t>
            </a:r>
            <a:r>
              <a:rPr lang="en-US" altLang="zh-TW" sz="2800" b="1" dirty="0" smtClean="0">
                <a:solidFill>
                  <a:srgbClr val="FF0066"/>
                </a:solidFill>
              </a:rPr>
              <a:t>Computing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zh-TW" sz="2800" dirty="0" smtClean="0">
                <a:solidFill>
                  <a:srgbClr val="FF0066"/>
                </a:solidFill>
              </a:rPr>
              <a:t>Problem Solving</a:t>
            </a:r>
            <a:endParaRPr lang="en-US" altLang="zh-TW" sz="2800" b="1" dirty="0" smtClean="0">
              <a:solidFill>
                <a:srgbClr val="FF0066"/>
              </a:solidFill>
            </a:endParaRPr>
          </a:p>
          <a:p>
            <a:pPr eaLnBrk="1" hangingPunct="1"/>
            <a:r>
              <a:rPr lang="en-US" altLang="zh-TW" sz="2800" dirty="0" smtClean="0"/>
              <a:t>Next: Reasoning and Proving, </a:t>
            </a:r>
            <a:r>
              <a:rPr lang="en-US" altLang="zh-TW" sz="2800" dirty="0" smtClean="0"/>
              <a:t>AI</a:t>
            </a:r>
            <a:endParaRPr lang="en-US" altLang="zh-TW" sz="2800" dirty="0" smtClean="0">
              <a:solidFill>
                <a:srgbClr val="FF0066"/>
              </a:solidFill>
            </a:endParaRPr>
          </a:p>
          <a:p>
            <a:pPr eaLnBrk="1" hangingPunct="1"/>
            <a:r>
              <a:rPr lang="en-US" altLang="zh-TW" sz="2800" dirty="0" smtClean="0"/>
              <a:t>Following: Storage and retrieval, </a:t>
            </a:r>
            <a:r>
              <a:rPr lang="en-US" altLang="zh-TW" sz="2800" b="1" dirty="0" smtClean="0">
                <a:solidFill>
                  <a:srgbClr val="FF0066"/>
                </a:solidFill>
              </a:rPr>
              <a:t>Database</a:t>
            </a:r>
          </a:p>
          <a:p>
            <a:pPr eaLnBrk="1" hangingPunct="1"/>
            <a:r>
              <a:rPr lang="en-US" altLang="zh-TW" sz="2800" dirty="0" smtClean="0"/>
              <a:t>Following: Communication, </a:t>
            </a:r>
            <a:r>
              <a:rPr lang="en-US" altLang="zh-TW" sz="2800" b="1" dirty="0" smtClean="0">
                <a:solidFill>
                  <a:srgbClr val="FF0066"/>
                </a:solidFill>
              </a:rPr>
              <a:t>Networking</a:t>
            </a:r>
          </a:p>
          <a:p>
            <a:pPr eaLnBrk="1" hangingPunct="1"/>
            <a:r>
              <a:rPr lang="en-US" altLang="zh-TW" sz="2800" dirty="0" smtClean="0"/>
              <a:t>Following: Multimedia, Consumer</a:t>
            </a:r>
          </a:p>
          <a:p>
            <a:pPr eaLnBrk="1" hangingPunct="1"/>
            <a:r>
              <a:rPr lang="en-US" altLang="zh-TW" sz="2800" dirty="0" smtClean="0"/>
              <a:t>Following: </a:t>
            </a:r>
            <a:r>
              <a:rPr lang="en-US" altLang="zh-TW" b="1" dirty="0" smtClean="0">
                <a:solidFill>
                  <a:srgbClr val="FF0066"/>
                </a:solidFill>
              </a:rPr>
              <a:t>Internet(WWW)</a:t>
            </a:r>
            <a:r>
              <a:rPr lang="en-US" altLang="zh-TW" b="1" dirty="0" smtClean="0"/>
              <a:t>,</a:t>
            </a:r>
            <a:r>
              <a:rPr lang="en-US" altLang="zh-TW" b="1" dirty="0" smtClean="0">
                <a:solidFill>
                  <a:srgbClr val="FF0066"/>
                </a:solidFill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</a:rPr>
              <a:t>Sharing</a:t>
            </a:r>
            <a:r>
              <a:rPr lang="en-US" altLang="zh-TW" b="1" dirty="0" smtClean="0">
                <a:solidFill>
                  <a:srgbClr val="FF0066"/>
                </a:solidFill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</a:rPr>
              <a:t>&amp; Searching</a:t>
            </a:r>
            <a:endParaRPr lang="en-US" altLang="zh-TW" sz="3600" dirty="0" smtClean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 sz="2800" dirty="0" smtClean="0"/>
              <a:t>Following: </a:t>
            </a:r>
            <a:r>
              <a:rPr lang="en-US" altLang="zh-TW" sz="2800" b="1" dirty="0" smtClean="0">
                <a:solidFill>
                  <a:srgbClr val="FF0066"/>
                </a:solidFill>
              </a:rPr>
              <a:t>Social Networks (Relationship), Cloud Computing (Utility</a:t>
            </a:r>
            <a:r>
              <a:rPr lang="en-US" altLang="zh-TW" sz="2800" b="1" dirty="0">
                <a:solidFill>
                  <a:srgbClr val="FF0066"/>
                </a:solidFill>
              </a:rPr>
              <a:t>), </a:t>
            </a:r>
            <a:r>
              <a:rPr lang="en-US" altLang="zh-TW" sz="2800" b="1" dirty="0" smtClean="0">
                <a:solidFill>
                  <a:srgbClr val="FF0066"/>
                </a:solidFill>
              </a:rPr>
              <a:t>AI(Deep Learning), Internet of Things</a:t>
            </a:r>
            <a:endParaRPr lang="en-US" altLang="zh-TW" sz="2800" b="1" dirty="0">
              <a:solidFill>
                <a:srgbClr val="FF0066"/>
              </a:solidFill>
            </a:endParaRPr>
          </a:p>
          <a:p>
            <a:pPr eaLnBrk="1" hangingPunct="1"/>
            <a:endParaRPr lang="en-US" altLang="zh-TW" sz="2800" b="1" dirty="0" smtClean="0">
              <a:solidFill>
                <a:srgbClr val="FF0066"/>
              </a:solidFill>
            </a:endParaRPr>
          </a:p>
        </p:txBody>
      </p:sp>
      <p:sp>
        <p:nvSpPr>
          <p:cNvPr id="61445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C1060A5-6238-4976-9AE6-84AB6143EF27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61446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3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3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8BD081C-BFB5-4320-8B1D-EB93AFA903C0}" type="slidenum">
              <a:rPr kumimoji="0" lang="en-US" altLang="zh-TW" sz="1400" smtClean="0"/>
              <a:pPr eaLnBrk="1" hangingPunct="1"/>
              <a:t>9</a:t>
            </a:fld>
            <a:endParaRPr kumimoji="0" lang="en-US" altLang="zh-TW" sz="1400" smtClean="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31788"/>
            <a:ext cx="7772400" cy="766762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Computer-System Organization</a:t>
            </a:r>
          </a:p>
        </p:txBody>
      </p:sp>
      <p:pic>
        <p:nvPicPr>
          <p:cNvPr id="624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" t="17949" r="427" b="17664"/>
          <a:stretch>
            <a:fillRect/>
          </a:stretch>
        </p:blipFill>
        <p:spPr bwMode="auto">
          <a:xfrm>
            <a:off x="600075" y="3363913"/>
            <a:ext cx="8027988" cy="29749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5700" name="Text Box 4"/>
          <p:cNvSpPr txBox="1">
            <a:spLocks noChangeArrowheads="1"/>
          </p:cNvSpPr>
          <p:nvPr/>
        </p:nvSpPr>
        <p:spPr bwMode="auto">
          <a:xfrm>
            <a:off x="523875" y="1089025"/>
            <a:ext cx="79883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914400" indent="-4572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buFont typeface="Wingdings" pitchFamily="2" charset="2"/>
              <a:buChar char="n"/>
            </a:pPr>
            <a:r>
              <a:rPr lang="en-US" altLang="zh-TW"/>
              <a:t>Computer-system operation</a:t>
            </a:r>
          </a:p>
          <a:p>
            <a:pPr lvl="1" eaLnBrk="1" hangingPunct="1">
              <a:buFont typeface="Wingdings" pitchFamily="2" charset="2"/>
              <a:buChar char="n"/>
            </a:pPr>
            <a:r>
              <a:rPr lang="en-US" altLang="zh-TW">
                <a:solidFill>
                  <a:srgbClr val="FF0066"/>
                </a:solidFill>
              </a:rPr>
              <a:t>One or more CPUs, device controllers connect through </a:t>
            </a:r>
            <a:r>
              <a:rPr lang="en-US" altLang="zh-TW" b="1">
                <a:solidFill>
                  <a:srgbClr val="0000FF"/>
                </a:solidFill>
              </a:rPr>
              <a:t>common bus</a:t>
            </a:r>
            <a:r>
              <a:rPr lang="en-US" altLang="zh-TW">
                <a:solidFill>
                  <a:srgbClr val="FF0066"/>
                </a:solidFill>
              </a:rPr>
              <a:t> providing access to shared memory</a:t>
            </a:r>
            <a:endParaRPr lang="en-US" altLang="zh-TW"/>
          </a:p>
          <a:p>
            <a:pPr lvl="1" eaLnBrk="1" hangingPunct="1">
              <a:buFont typeface="Wingdings" pitchFamily="2" charset="2"/>
              <a:buChar char="n"/>
            </a:pPr>
            <a:r>
              <a:rPr lang="en-US" altLang="zh-TW"/>
              <a:t>Concurrent execution of CPUs and devices competing for memory cycles</a:t>
            </a:r>
          </a:p>
        </p:txBody>
      </p:sp>
      <p:sp>
        <p:nvSpPr>
          <p:cNvPr id="62470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7C8DB72-DB72-418C-8061-B269440AA1E2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6247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5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5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5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5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C7FFEB7-D5CE-4BBA-B105-66A03A1D3598}" type="slidenum">
              <a:rPr kumimoji="0" lang="en-US" altLang="zh-TW" sz="1400" smtClean="0"/>
              <a:pPr eaLnBrk="1" hangingPunct="1"/>
              <a:t>10</a:t>
            </a:fld>
            <a:endParaRPr kumimoji="0" lang="en-US" altLang="zh-TW" sz="1400" smtClean="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74725"/>
          </a:xfrm>
        </p:spPr>
        <p:txBody>
          <a:bodyPr/>
          <a:lstStyle/>
          <a:p>
            <a:pPr eaLnBrk="1" hangingPunct="1"/>
            <a:r>
              <a:rPr lang="en-US" altLang="zh-TW" smtClean="0"/>
              <a:t>Computer-System Operation</a:t>
            </a:r>
          </a:p>
        </p:txBody>
      </p:sp>
      <p:sp>
        <p:nvSpPr>
          <p:cNvPr id="2877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14388" y="1473200"/>
            <a:ext cx="7859712" cy="47386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F31F47"/>
                </a:solidFill>
                <a:latin typeface="Comic Sans MS" pitchFamily="66" charset="0"/>
              </a:rPr>
              <a:t>I/O devices and the CPU can execute concurrently</a:t>
            </a:r>
            <a:r>
              <a:rPr lang="en-US" altLang="zh-TW" sz="280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Each </a:t>
            </a:r>
            <a:r>
              <a:rPr lang="en-US" altLang="zh-TW" sz="2800" b="1" smtClean="0">
                <a:solidFill>
                  <a:srgbClr val="F31F47"/>
                </a:solidFill>
              </a:rPr>
              <a:t>device controller</a:t>
            </a:r>
            <a:r>
              <a:rPr lang="en-US" altLang="zh-TW" sz="2800" smtClean="0"/>
              <a:t> is in charge of a particular device type.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Each device controller has a </a:t>
            </a:r>
            <a:r>
              <a:rPr lang="en-US" altLang="zh-TW" sz="2800" b="1" smtClean="0">
                <a:solidFill>
                  <a:srgbClr val="F31F47"/>
                </a:solidFill>
              </a:rPr>
              <a:t>local buffer</a:t>
            </a:r>
            <a:r>
              <a:rPr lang="en-US" altLang="zh-TW" sz="2800" smtClean="0">
                <a:solidFill>
                  <a:schemeClr val="tx2"/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CPU moves data from/to </a:t>
            </a:r>
            <a:r>
              <a:rPr lang="en-US" altLang="zh-TW" sz="2800" smtClean="0">
                <a:solidFill>
                  <a:srgbClr val="0000FF"/>
                </a:solidFill>
              </a:rPr>
              <a:t>main memory</a:t>
            </a:r>
            <a:r>
              <a:rPr lang="en-US" altLang="zh-TW" sz="2800" smtClean="0"/>
              <a:t> to/from </a:t>
            </a:r>
            <a:r>
              <a:rPr lang="en-US" altLang="zh-TW" sz="2800" smtClean="0">
                <a:solidFill>
                  <a:srgbClr val="0000FF"/>
                </a:solidFill>
              </a:rPr>
              <a:t>local buffers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0000FF"/>
                </a:solidFill>
              </a:rPr>
              <a:t>I/O is from the device to local buffer of controller</a:t>
            </a:r>
            <a:r>
              <a:rPr lang="en-US" altLang="zh-TW" sz="280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Device controller informs CPU that it has finished its operation by causing an </a:t>
            </a:r>
            <a:r>
              <a:rPr lang="en-US" altLang="zh-TW" sz="2800" b="1" i="1" smtClean="0">
                <a:solidFill>
                  <a:srgbClr val="F31F47"/>
                </a:solidFill>
              </a:rPr>
              <a:t>interrupt</a:t>
            </a:r>
            <a:r>
              <a:rPr lang="en-US" altLang="zh-TW" sz="2800" smtClean="0"/>
              <a:t>.</a:t>
            </a:r>
          </a:p>
        </p:txBody>
      </p:sp>
      <p:sp>
        <p:nvSpPr>
          <p:cNvPr id="6349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89767CA-253A-40B9-8CF8-3198B54C2D02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6349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7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7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7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7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7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7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7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7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7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87175F6-DED8-4859-B700-3541D06E836C}" type="slidenum">
              <a:rPr kumimoji="0" lang="en-US" altLang="zh-TW" sz="1400" smtClean="0"/>
              <a:pPr eaLnBrk="1" hangingPunct="1"/>
              <a:t>11</a:t>
            </a:fld>
            <a:endParaRPr kumimoji="0" lang="en-US" altLang="zh-TW" sz="1400" smtClean="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46063"/>
            <a:ext cx="8223250" cy="708025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31F47"/>
                </a:solidFill>
              </a:rPr>
              <a:t>Common Functions of Interrupts</a:t>
            </a:r>
          </a:p>
        </p:txBody>
      </p:sp>
      <p:sp>
        <p:nvSpPr>
          <p:cNvPr id="2897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61988" y="892175"/>
            <a:ext cx="8205787" cy="55197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800" smtClean="0"/>
              <a:t>Interrupt transfers control to the interrupt service routine generally, through the </a:t>
            </a:r>
            <a:r>
              <a:rPr lang="en-US" altLang="zh-TW" sz="2800" b="1" i="1" smtClean="0">
                <a:solidFill>
                  <a:srgbClr val="F31F47"/>
                </a:solidFill>
              </a:rPr>
              <a:t>interrupt vector</a:t>
            </a:r>
            <a:r>
              <a:rPr lang="en-US" altLang="zh-TW" sz="2800" smtClean="0"/>
              <a:t>, which contains the addresses of all the service routines.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800" smtClean="0"/>
              <a:t>Interrupt architecture must save the </a:t>
            </a:r>
            <a:r>
              <a:rPr lang="en-US" altLang="zh-TW" sz="2800" b="1" smtClean="0">
                <a:solidFill>
                  <a:srgbClr val="F31F47"/>
                </a:solidFill>
              </a:rPr>
              <a:t>address</a:t>
            </a:r>
            <a:r>
              <a:rPr lang="en-US" altLang="zh-TW" sz="2800" smtClean="0"/>
              <a:t> of the interrupted instruction.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800" smtClean="0"/>
              <a:t>Incoming interrupts are </a:t>
            </a:r>
            <a:r>
              <a:rPr lang="en-US" altLang="zh-TW" sz="2800" b="1" i="1" smtClean="0">
                <a:solidFill>
                  <a:srgbClr val="F31F47"/>
                </a:solidFill>
              </a:rPr>
              <a:t>disabled</a:t>
            </a:r>
            <a:r>
              <a:rPr lang="en-US" altLang="zh-TW" sz="2800" smtClean="0"/>
              <a:t> while another interrupt is being processed to prevent a </a:t>
            </a:r>
            <a:r>
              <a:rPr lang="en-US" altLang="zh-TW" sz="2800" i="1" smtClean="0"/>
              <a:t>lost interrupt</a:t>
            </a:r>
            <a:r>
              <a:rPr lang="en-US" altLang="zh-TW" sz="2800" smtClean="0"/>
              <a:t>.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altLang="zh-TW" sz="2800" smtClean="0">
                <a:sym typeface="Wingdings 2" pitchFamily="18" charset="2"/>
              </a:rPr>
              <a:t>	</a:t>
            </a:r>
            <a:r>
              <a:rPr lang="en-US" altLang="zh-TW" sz="2800" b="1" smtClean="0">
                <a:solidFill>
                  <a:srgbClr val="000000"/>
                </a:solidFill>
              </a:rPr>
              <a:t>Nested interrupts </a:t>
            </a:r>
            <a:r>
              <a:rPr lang="en-US" altLang="zh-TW" sz="2800" smtClean="0">
                <a:sym typeface="Wingdings 2" pitchFamily="18" charset="2"/>
              </a:rPr>
              <a:t></a:t>
            </a:r>
            <a:endParaRPr lang="en-US" altLang="zh-TW" sz="2800" b="1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800" smtClean="0"/>
              <a:t>A </a:t>
            </a:r>
            <a:r>
              <a:rPr lang="en-US" altLang="zh-TW" sz="2800" b="1" i="1" smtClean="0">
                <a:solidFill>
                  <a:srgbClr val="F31F47"/>
                </a:solidFill>
              </a:rPr>
              <a:t>trap</a:t>
            </a:r>
            <a:r>
              <a:rPr lang="en-US" altLang="zh-TW" sz="2800" smtClean="0"/>
              <a:t> is a </a:t>
            </a:r>
            <a:r>
              <a:rPr lang="en-US" altLang="zh-TW" sz="280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software</a:t>
            </a:r>
            <a:r>
              <a:rPr lang="en-US" altLang="zh-TW" sz="2800" smtClean="0"/>
              <a:t>-generated interrupt caused either by an </a:t>
            </a:r>
            <a:r>
              <a:rPr lang="en-US" altLang="zh-TW" sz="2800" b="1" smtClean="0">
                <a:solidFill>
                  <a:srgbClr val="F31F47"/>
                </a:solidFill>
              </a:rPr>
              <a:t>error</a:t>
            </a:r>
            <a:r>
              <a:rPr lang="en-US" altLang="zh-TW" sz="2800" smtClean="0"/>
              <a:t> or a </a:t>
            </a:r>
            <a:r>
              <a:rPr lang="en-US" altLang="zh-TW" sz="2800" b="1" smtClean="0">
                <a:solidFill>
                  <a:srgbClr val="F31F47"/>
                </a:solidFill>
              </a:rPr>
              <a:t>user request</a:t>
            </a:r>
            <a:r>
              <a:rPr lang="en-US" altLang="zh-TW" sz="2800" smtClean="0"/>
              <a:t>.</a:t>
            </a:r>
          </a:p>
        </p:txBody>
      </p:sp>
      <p:sp>
        <p:nvSpPr>
          <p:cNvPr id="64517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90E325B-7D47-4D83-8A2B-2E201A40E5C4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64518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9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9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9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9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9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9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9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9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A9EC077-7F65-4FF8-A653-6CCF4A5A674F}" type="slidenum">
              <a:rPr kumimoji="0" lang="en-US" altLang="zh-TW" sz="1400" smtClean="0"/>
              <a:pPr eaLnBrk="1" hangingPunct="1"/>
              <a:t>12</a:t>
            </a:fld>
            <a:endParaRPr kumimoji="0" lang="en-US" altLang="zh-TW" sz="1400" smtClean="0"/>
          </a:p>
        </p:txBody>
      </p:sp>
      <p:sp>
        <p:nvSpPr>
          <p:cNvPr id="65539" name="Text Box 2"/>
          <p:cNvSpPr txBox="1">
            <a:spLocks noChangeArrowheads="1"/>
          </p:cNvSpPr>
          <p:nvPr/>
        </p:nvSpPr>
        <p:spPr bwMode="auto">
          <a:xfrm>
            <a:off x="3273425" y="434975"/>
            <a:ext cx="1993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2000" b="1">
                <a:latin typeface="Times New Roman" pitchFamily="18" charset="0"/>
              </a:rPr>
              <a:t>resident monitor</a:t>
            </a: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3146425" y="4343400"/>
            <a:ext cx="2190750" cy="2079625"/>
          </a:xfrm>
          <a:prstGeom prst="rect">
            <a:avLst/>
          </a:prstGeom>
          <a:solidFill>
            <a:srgbClr val="C1C1C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endParaRPr lang="zh-TW" altLang="zh-TW" sz="2000" b="1">
              <a:latin typeface="Times New Roman" pitchFamily="18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52425" y="3703638"/>
            <a:ext cx="1655763" cy="1746250"/>
            <a:chOff x="504" y="2276"/>
            <a:chExt cx="1043" cy="1100"/>
          </a:xfrm>
        </p:grpSpPr>
        <p:sp>
          <p:nvSpPr>
            <p:cNvPr id="65569" name="Oval 6"/>
            <p:cNvSpPr>
              <a:spLocks noChangeArrowheads="1"/>
            </p:cNvSpPr>
            <p:nvPr/>
          </p:nvSpPr>
          <p:spPr bwMode="auto">
            <a:xfrm>
              <a:off x="862" y="2276"/>
              <a:ext cx="328" cy="3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65570" name="Text Box 7"/>
            <p:cNvSpPr txBox="1">
              <a:spLocks noChangeArrowheads="1"/>
            </p:cNvSpPr>
            <p:nvPr/>
          </p:nvSpPr>
          <p:spPr bwMode="auto">
            <a:xfrm>
              <a:off x="504" y="2742"/>
              <a:ext cx="1043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solidFill>
                    <a:srgbClr val="FF0066"/>
                  </a:solidFill>
                  <a:latin typeface="Times New Roman" pitchFamily="18" charset="0"/>
                </a:rPr>
                <a:t>an interrupt</a:t>
              </a:r>
            </a:p>
            <a:p>
              <a:pPr algn="ctr"/>
              <a:r>
                <a:rPr lang="en-US" altLang="zh-TW" sz="2000" b="1">
                  <a:solidFill>
                    <a:srgbClr val="FF0066"/>
                  </a:solidFill>
                  <a:latin typeface="Times New Roman" pitchFamily="18" charset="0"/>
                </a:rPr>
                <a:t>from device </a:t>
              </a:r>
              <a:r>
                <a:rPr lang="en-US" altLang="zh-TW" sz="2000" b="1" i="1">
                  <a:solidFill>
                    <a:srgbClr val="FF0066"/>
                  </a:solidFill>
                  <a:latin typeface="Times New Roman" pitchFamily="18" charset="0"/>
                </a:rPr>
                <a:t>i</a:t>
              </a:r>
              <a:r>
                <a:rPr lang="en-US" altLang="zh-TW" sz="2000" b="1">
                  <a:solidFill>
                    <a:srgbClr val="FF0066"/>
                  </a:solidFill>
                  <a:latin typeface="Times New Roman" pitchFamily="18" charset="0"/>
                </a:rPr>
                <a:t> </a:t>
              </a:r>
            </a:p>
            <a:p>
              <a:pPr algn="ctr"/>
              <a:r>
                <a:rPr lang="en-US" altLang="zh-TW" sz="2000" b="1">
                  <a:solidFill>
                    <a:srgbClr val="FF0066"/>
                  </a:solidFill>
                  <a:latin typeface="Times New Roman" pitchFamily="18" charset="0"/>
                </a:rPr>
                <a:t>occurs</a:t>
              </a:r>
            </a:p>
          </p:txBody>
        </p:sp>
      </p:grpSp>
      <p:sp>
        <p:nvSpPr>
          <p:cNvPr id="65542" name="Rectangle 8"/>
          <p:cNvSpPr>
            <a:spLocks noChangeArrowheads="1"/>
          </p:cNvSpPr>
          <p:nvPr/>
        </p:nvSpPr>
        <p:spPr bwMode="auto">
          <a:xfrm>
            <a:off x="3141663" y="858838"/>
            <a:ext cx="2247900" cy="3519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65543" name="Rectangle 9"/>
          <p:cNvSpPr>
            <a:spLocks noChangeArrowheads="1"/>
          </p:cNvSpPr>
          <p:nvPr/>
        </p:nvSpPr>
        <p:spPr bwMode="auto">
          <a:xfrm>
            <a:off x="3471863" y="2232025"/>
            <a:ext cx="1668462" cy="835025"/>
          </a:xfrm>
          <a:prstGeom prst="rect">
            <a:avLst/>
          </a:prstGeom>
          <a:solidFill>
            <a:srgbClr val="C7C7C7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2000" b="1">
                <a:latin typeface="Times New Roman" pitchFamily="18" charset="0"/>
              </a:rPr>
              <a:t>service routine</a:t>
            </a:r>
          </a:p>
          <a:p>
            <a:pPr algn="ctr"/>
            <a:r>
              <a:rPr lang="en-US" altLang="zh-TW" sz="2000" b="1">
                <a:latin typeface="Times New Roman" pitchFamily="18" charset="0"/>
              </a:rPr>
              <a:t>for device </a:t>
            </a:r>
            <a:r>
              <a:rPr lang="en-US" altLang="zh-TW" sz="2000" b="1" i="1">
                <a:latin typeface="Times New Roman" pitchFamily="18" charset="0"/>
              </a:rPr>
              <a:t>i</a:t>
            </a:r>
            <a:endParaRPr lang="en-US" altLang="zh-TW" sz="2000" b="1">
              <a:latin typeface="Times New Roman" pitchFamily="18" charset="0"/>
            </a:endParaRPr>
          </a:p>
        </p:txBody>
      </p:sp>
      <p:sp>
        <p:nvSpPr>
          <p:cNvPr id="65544" name="Line 10"/>
          <p:cNvSpPr>
            <a:spLocks noChangeShapeType="1"/>
          </p:cNvSpPr>
          <p:nvPr/>
        </p:nvSpPr>
        <p:spPr bwMode="auto">
          <a:xfrm flipH="1">
            <a:off x="2230438" y="4865688"/>
            <a:ext cx="998537" cy="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5545" name="Line 11"/>
          <p:cNvSpPr>
            <a:spLocks noChangeShapeType="1"/>
          </p:cNvSpPr>
          <p:nvPr/>
        </p:nvSpPr>
        <p:spPr bwMode="auto">
          <a:xfrm flipV="1">
            <a:off x="2262188" y="1646238"/>
            <a:ext cx="0" cy="320040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5546" name="Line 12"/>
          <p:cNvSpPr>
            <a:spLocks noChangeShapeType="1"/>
          </p:cNvSpPr>
          <p:nvPr/>
        </p:nvSpPr>
        <p:spPr bwMode="auto">
          <a:xfrm flipV="1">
            <a:off x="2281238" y="1646238"/>
            <a:ext cx="552450" cy="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5547" name="Line 13"/>
          <p:cNvSpPr>
            <a:spLocks noChangeShapeType="1"/>
          </p:cNvSpPr>
          <p:nvPr/>
        </p:nvSpPr>
        <p:spPr bwMode="auto">
          <a:xfrm>
            <a:off x="5038725" y="3003550"/>
            <a:ext cx="863600" cy="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5548" name="Line 14"/>
          <p:cNvSpPr>
            <a:spLocks noChangeShapeType="1"/>
          </p:cNvSpPr>
          <p:nvPr/>
        </p:nvSpPr>
        <p:spPr bwMode="auto">
          <a:xfrm flipH="1">
            <a:off x="5864225" y="3016250"/>
            <a:ext cx="19050" cy="2243138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5549" name="Line 15"/>
          <p:cNvSpPr>
            <a:spLocks noChangeShapeType="1"/>
          </p:cNvSpPr>
          <p:nvPr/>
        </p:nvSpPr>
        <p:spPr bwMode="auto">
          <a:xfrm flipH="1">
            <a:off x="5070475" y="5233988"/>
            <a:ext cx="793750" cy="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5550" name="Text Box 16"/>
          <p:cNvSpPr txBox="1">
            <a:spLocks noChangeArrowheads="1"/>
          </p:cNvSpPr>
          <p:nvPr/>
        </p:nvSpPr>
        <p:spPr bwMode="auto">
          <a:xfrm>
            <a:off x="2879725" y="143827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2000" b="1" i="1">
                <a:latin typeface="Times New Roman" pitchFamily="18" charset="0"/>
              </a:rPr>
              <a:t>i</a:t>
            </a:r>
          </a:p>
        </p:txBody>
      </p:sp>
      <p:sp>
        <p:nvSpPr>
          <p:cNvPr id="291857" name="Oval 17"/>
          <p:cNvSpPr>
            <a:spLocks noChangeArrowheads="1"/>
          </p:cNvSpPr>
          <p:nvPr/>
        </p:nvSpPr>
        <p:spPr bwMode="auto">
          <a:xfrm>
            <a:off x="6065838" y="3695700"/>
            <a:ext cx="519112" cy="53975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2000" b="1">
                <a:latin typeface="Times New Roman" pitchFamily="18" charset="0"/>
              </a:rPr>
              <a:t>3</a:t>
            </a: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5586413" y="1712913"/>
            <a:ext cx="3097212" cy="1116012"/>
            <a:chOff x="3777" y="1542"/>
            <a:chExt cx="1735" cy="694"/>
          </a:xfrm>
        </p:grpSpPr>
        <p:sp>
          <p:nvSpPr>
            <p:cNvPr id="65567" name="Oval 19"/>
            <p:cNvSpPr>
              <a:spLocks noChangeArrowheads="1"/>
            </p:cNvSpPr>
            <p:nvPr/>
          </p:nvSpPr>
          <p:spPr bwMode="auto">
            <a:xfrm>
              <a:off x="3777" y="1542"/>
              <a:ext cx="328" cy="3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5568" name="Text Box 20"/>
            <p:cNvSpPr txBox="1">
              <a:spLocks noChangeArrowheads="1"/>
            </p:cNvSpPr>
            <p:nvPr/>
          </p:nvSpPr>
          <p:spPr bwMode="auto">
            <a:xfrm>
              <a:off x="4158" y="1610"/>
              <a:ext cx="1354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solidFill>
                    <a:srgbClr val="FF0066"/>
                  </a:solidFill>
                  <a:latin typeface="Times New Roman" pitchFamily="18" charset="0"/>
                </a:rPr>
                <a:t>perform the service </a:t>
              </a:r>
            </a:p>
            <a:p>
              <a:pPr algn="ctr"/>
              <a:r>
                <a:rPr lang="en-US" altLang="zh-TW" sz="2000" b="1">
                  <a:solidFill>
                    <a:srgbClr val="FF0066"/>
                  </a:solidFill>
                  <a:latin typeface="Times New Roman" pitchFamily="18" charset="0"/>
                </a:rPr>
                <a:t>routine for device </a:t>
              </a:r>
              <a:r>
                <a:rPr lang="en-US" altLang="zh-TW" sz="2000" b="1" i="1">
                  <a:solidFill>
                    <a:srgbClr val="FF0066"/>
                  </a:solidFill>
                  <a:latin typeface="Times New Roman" pitchFamily="18" charset="0"/>
                </a:rPr>
                <a:t>i</a:t>
              </a:r>
              <a:endParaRPr lang="en-US" altLang="zh-TW" sz="2000" b="1">
                <a:solidFill>
                  <a:srgbClr val="FF0066"/>
                </a:solidFill>
                <a:latin typeface="Times New Roman" pitchFamily="18" charset="0"/>
              </a:endParaRPr>
            </a:p>
            <a:p>
              <a:pPr algn="ctr"/>
              <a:endParaRPr lang="en-US" altLang="zh-TW" sz="2000" b="1">
                <a:solidFill>
                  <a:srgbClr val="FF0066"/>
                </a:solidFill>
                <a:latin typeface="Times New Roman" pitchFamily="18" charset="0"/>
              </a:endParaRPr>
            </a:p>
          </p:txBody>
        </p:sp>
      </p:grpSp>
      <p:sp>
        <p:nvSpPr>
          <p:cNvPr id="291861" name="Text Box 21"/>
          <p:cNvSpPr txBox="1">
            <a:spLocks noChangeArrowheads="1"/>
          </p:cNvSpPr>
          <p:nvPr/>
        </p:nvSpPr>
        <p:spPr bwMode="auto">
          <a:xfrm>
            <a:off x="6645275" y="3625850"/>
            <a:ext cx="12271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2000" b="1">
                <a:solidFill>
                  <a:srgbClr val="FF0066"/>
                </a:solidFill>
                <a:latin typeface="Times New Roman" pitchFamily="18" charset="0"/>
              </a:rPr>
              <a:t>return to </a:t>
            </a:r>
          </a:p>
          <a:p>
            <a:pPr algn="ctr"/>
            <a:r>
              <a:rPr lang="en-US" altLang="zh-TW" sz="2000" b="1">
                <a:solidFill>
                  <a:srgbClr val="FF0066"/>
                </a:solidFill>
                <a:latin typeface="Times New Roman" pitchFamily="18" charset="0"/>
              </a:rPr>
              <a:t>user</a:t>
            </a:r>
          </a:p>
        </p:txBody>
      </p:sp>
      <p:sp>
        <p:nvSpPr>
          <p:cNvPr id="65554" name="Text Box 22"/>
          <p:cNvSpPr txBox="1">
            <a:spLocks noChangeArrowheads="1"/>
          </p:cNvSpPr>
          <p:nvPr/>
        </p:nvSpPr>
        <p:spPr bwMode="auto">
          <a:xfrm>
            <a:off x="1089025" y="5654675"/>
            <a:ext cx="1671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2000" b="1">
                <a:latin typeface="Times New Roman" pitchFamily="18" charset="0"/>
              </a:rPr>
              <a:t>user program</a:t>
            </a:r>
          </a:p>
        </p:txBody>
      </p:sp>
      <p:sp>
        <p:nvSpPr>
          <p:cNvPr id="65555" name="Text Box 23"/>
          <p:cNvSpPr txBox="1">
            <a:spLocks noChangeArrowheads="1"/>
          </p:cNvSpPr>
          <p:nvPr/>
        </p:nvSpPr>
        <p:spPr bwMode="auto">
          <a:xfrm>
            <a:off x="3889375" y="5032375"/>
            <a:ext cx="920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r>
              <a:rPr lang="en-US" altLang="zh-TW" sz="2000" b="1">
                <a:latin typeface="Times New Roman" pitchFamily="18" charset="0"/>
              </a:rPr>
              <a:t>d:=3*c</a:t>
            </a:r>
          </a:p>
        </p:txBody>
      </p:sp>
      <p:sp>
        <p:nvSpPr>
          <p:cNvPr id="65556" name="Line 24"/>
          <p:cNvSpPr>
            <a:spLocks noChangeShapeType="1"/>
          </p:cNvSpPr>
          <p:nvPr/>
        </p:nvSpPr>
        <p:spPr bwMode="auto">
          <a:xfrm>
            <a:off x="3152775" y="1055688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5557" name="Line 25"/>
          <p:cNvSpPr>
            <a:spLocks noChangeShapeType="1"/>
          </p:cNvSpPr>
          <p:nvPr/>
        </p:nvSpPr>
        <p:spPr bwMode="auto">
          <a:xfrm>
            <a:off x="3133725" y="1227138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5558" name="Line 26"/>
          <p:cNvSpPr>
            <a:spLocks noChangeShapeType="1"/>
          </p:cNvSpPr>
          <p:nvPr/>
        </p:nvSpPr>
        <p:spPr bwMode="auto">
          <a:xfrm>
            <a:off x="3133725" y="1531938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5559" name="Line 27"/>
          <p:cNvSpPr>
            <a:spLocks noChangeShapeType="1"/>
          </p:cNvSpPr>
          <p:nvPr/>
        </p:nvSpPr>
        <p:spPr bwMode="auto">
          <a:xfrm>
            <a:off x="3171825" y="1741488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5560" name="Text Box 28"/>
          <p:cNvSpPr txBox="1">
            <a:spLocks noChangeArrowheads="1"/>
          </p:cNvSpPr>
          <p:nvPr/>
        </p:nvSpPr>
        <p:spPr bwMode="auto">
          <a:xfrm>
            <a:off x="2908300" y="7270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r>
              <a:rPr lang="en-US" altLang="zh-TW" sz="2000" b="1">
                <a:latin typeface="Times New Roman" pitchFamily="18" charset="0"/>
              </a:rPr>
              <a:t>1</a:t>
            </a:r>
          </a:p>
        </p:txBody>
      </p:sp>
      <p:sp>
        <p:nvSpPr>
          <p:cNvPr id="65561" name="Text Box 29"/>
          <p:cNvSpPr txBox="1">
            <a:spLocks noChangeArrowheads="1"/>
          </p:cNvSpPr>
          <p:nvPr/>
        </p:nvSpPr>
        <p:spPr bwMode="auto">
          <a:xfrm>
            <a:off x="2908300" y="9556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r>
              <a:rPr lang="en-US" altLang="zh-TW" sz="2000" b="1">
                <a:latin typeface="Times New Roman" pitchFamily="18" charset="0"/>
              </a:rPr>
              <a:t>2</a:t>
            </a:r>
          </a:p>
        </p:txBody>
      </p:sp>
      <p:sp>
        <p:nvSpPr>
          <p:cNvPr id="65562" name="Line 30"/>
          <p:cNvSpPr>
            <a:spLocks noChangeShapeType="1"/>
          </p:cNvSpPr>
          <p:nvPr/>
        </p:nvSpPr>
        <p:spPr bwMode="auto">
          <a:xfrm flipH="1">
            <a:off x="3514725" y="1589088"/>
            <a:ext cx="457200" cy="552450"/>
          </a:xfrm>
          <a:prstGeom prst="line">
            <a:avLst/>
          </a:prstGeom>
          <a:noFill/>
          <a:ln w="12700">
            <a:solidFill>
              <a:srgbClr val="FFCC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5563" name="Text Box 31"/>
          <p:cNvSpPr txBox="1">
            <a:spLocks noChangeArrowheads="1"/>
          </p:cNvSpPr>
          <p:nvPr/>
        </p:nvSpPr>
        <p:spPr bwMode="auto">
          <a:xfrm>
            <a:off x="3906838" y="4651375"/>
            <a:ext cx="938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2000" b="1">
                <a:latin typeface="Times New Roman" pitchFamily="18" charset="0"/>
              </a:rPr>
              <a:t>a:=b+c</a:t>
            </a:r>
          </a:p>
        </p:txBody>
      </p:sp>
      <p:sp>
        <p:nvSpPr>
          <p:cNvPr id="65564" name="Text Box 32"/>
          <p:cNvSpPr txBox="1">
            <a:spLocks noChangeArrowheads="1"/>
          </p:cNvSpPr>
          <p:nvPr/>
        </p:nvSpPr>
        <p:spPr bwMode="auto">
          <a:xfrm>
            <a:off x="719138" y="936625"/>
            <a:ext cx="11842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2000" b="1">
                <a:latin typeface="Times New Roman" pitchFamily="18" charset="0"/>
              </a:rPr>
              <a:t>interrupt</a:t>
            </a:r>
          </a:p>
          <a:p>
            <a:pPr algn="ctr"/>
            <a:r>
              <a:rPr lang="en-US" altLang="zh-TW" sz="2000" b="1">
                <a:latin typeface="Times New Roman" pitchFamily="18" charset="0"/>
              </a:rPr>
              <a:t>vector</a:t>
            </a:r>
          </a:p>
        </p:txBody>
      </p:sp>
      <p:sp>
        <p:nvSpPr>
          <p:cNvPr id="65565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AB28C44-DA75-4C73-82E0-E17572BD0C60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65566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1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1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1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1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57" grpId="0" animBg="1"/>
      <p:bldP spid="29186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1984AFA-770F-4E5A-9C00-ABDFEC734246}" type="slidenum">
              <a:rPr kumimoji="0" lang="en-US" altLang="zh-TW" sz="1400" smtClean="0"/>
              <a:pPr eaLnBrk="1" hangingPunct="1"/>
              <a:t>13</a:t>
            </a:fld>
            <a:endParaRPr kumimoji="0" lang="en-US" altLang="zh-TW" sz="1400" smtClean="0"/>
          </a:p>
        </p:txBody>
      </p:sp>
      <p:sp>
        <p:nvSpPr>
          <p:cNvPr id="66563" name="Text Box 2"/>
          <p:cNvSpPr txBox="1">
            <a:spLocks noChangeArrowheads="1"/>
          </p:cNvSpPr>
          <p:nvPr/>
        </p:nvSpPr>
        <p:spPr bwMode="auto">
          <a:xfrm>
            <a:off x="3216275" y="363538"/>
            <a:ext cx="1993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2000" b="1">
                <a:latin typeface="Times New Roman" pitchFamily="18" charset="0"/>
              </a:rPr>
              <a:t>resident monitor</a:t>
            </a:r>
          </a:p>
        </p:txBody>
      </p:sp>
      <p:grpSp>
        <p:nvGrpSpPr>
          <p:cNvPr id="66564" name="Group 3"/>
          <p:cNvGrpSpPr>
            <a:grpSpLocks/>
          </p:cNvGrpSpPr>
          <p:nvPr/>
        </p:nvGrpSpPr>
        <p:grpSpPr bwMode="auto">
          <a:xfrm>
            <a:off x="1241425" y="860425"/>
            <a:ext cx="6821488" cy="5449888"/>
            <a:chOff x="800" y="368"/>
            <a:chExt cx="4297" cy="3433"/>
          </a:xfrm>
        </p:grpSpPr>
        <p:sp>
          <p:nvSpPr>
            <p:cNvPr id="66567" name="Rectangle 4"/>
            <p:cNvSpPr>
              <a:spLocks noChangeArrowheads="1"/>
            </p:cNvSpPr>
            <p:nvPr/>
          </p:nvSpPr>
          <p:spPr bwMode="auto">
            <a:xfrm>
              <a:off x="2000" y="1951"/>
              <a:ext cx="1392" cy="1850"/>
            </a:xfrm>
            <a:prstGeom prst="rect">
              <a:avLst/>
            </a:prstGeom>
            <a:solidFill>
              <a:srgbClr val="C1C1C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latin typeface="Times New Roman" pitchFamily="18" charset="0"/>
                </a:rPr>
                <a:t>system call n</a:t>
              </a:r>
            </a:p>
          </p:txBody>
        </p:sp>
        <p:sp>
          <p:nvSpPr>
            <p:cNvPr id="66568" name="Rectangle 5"/>
            <p:cNvSpPr>
              <a:spLocks noChangeArrowheads="1"/>
            </p:cNvSpPr>
            <p:nvPr/>
          </p:nvSpPr>
          <p:spPr bwMode="auto">
            <a:xfrm>
              <a:off x="1997" y="368"/>
              <a:ext cx="1392" cy="160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66569" name="Rectangle 6"/>
            <p:cNvSpPr>
              <a:spLocks noChangeArrowheads="1"/>
            </p:cNvSpPr>
            <p:nvPr/>
          </p:nvSpPr>
          <p:spPr bwMode="auto">
            <a:xfrm>
              <a:off x="2215" y="978"/>
              <a:ext cx="931" cy="19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66570" name="Rectangle 7"/>
            <p:cNvSpPr>
              <a:spLocks noChangeArrowheads="1"/>
            </p:cNvSpPr>
            <p:nvPr/>
          </p:nvSpPr>
          <p:spPr bwMode="auto">
            <a:xfrm>
              <a:off x="2205" y="1497"/>
              <a:ext cx="931" cy="262"/>
            </a:xfrm>
            <a:prstGeom prst="rect">
              <a:avLst/>
            </a:prstGeom>
            <a:solidFill>
              <a:srgbClr val="C7C7C7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latin typeface="Times New Roman" pitchFamily="18" charset="0"/>
                </a:rPr>
                <a:t>read</a:t>
              </a:r>
            </a:p>
          </p:txBody>
        </p:sp>
        <p:sp>
          <p:nvSpPr>
            <p:cNvPr id="66571" name="Line 8"/>
            <p:cNvSpPr>
              <a:spLocks noChangeShapeType="1"/>
            </p:cNvSpPr>
            <p:nvPr/>
          </p:nvSpPr>
          <p:spPr bwMode="auto">
            <a:xfrm flipH="1">
              <a:off x="1627" y="2892"/>
              <a:ext cx="42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6572" name="Line 9"/>
            <p:cNvSpPr>
              <a:spLocks noChangeShapeType="1"/>
            </p:cNvSpPr>
            <p:nvPr/>
          </p:nvSpPr>
          <p:spPr bwMode="auto">
            <a:xfrm flipV="1">
              <a:off x="1635" y="600"/>
              <a:ext cx="0" cy="229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6573" name="Line 10"/>
            <p:cNvSpPr>
              <a:spLocks noChangeShapeType="1"/>
            </p:cNvSpPr>
            <p:nvPr/>
          </p:nvSpPr>
          <p:spPr bwMode="auto">
            <a:xfrm>
              <a:off x="1635" y="600"/>
              <a:ext cx="108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6574" name="Line 11"/>
            <p:cNvSpPr>
              <a:spLocks noChangeShapeType="1"/>
            </p:cNvSpPr>
            <p:nvPr/>
          </p:nvSpPr>
          <p:spPr bwMode="auto">
            <a:xfrm>
              <a:off x="2715" y="600"/>
              <a:ext cx="0" cy="15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6575" name="Line 12"/>
            <p:cNvSpPr>
              <a:spLocks noChangeShapeType="1"/>
            </p:cNvSpPr>
            <p:nvPr/>
          </p:nvSpPr>
          <p:spPr bwMode="auto">
            <a:xfrm flipH="1">
              <a:off x="1858" y="853"/>
              <a:ext cx="566" cy="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6576" name="Line 13"/>
            <p:cNvSpPr>
              <a:spLocks noChangeShapeType="1"/>
            </p:cNvSpPr>
            <p:nvPr/>
          </p:nvSpPr>
          <p:spPr bwMode="auto">
            <a:xfrm>
              <a:off x="1866" y="870"/>
              <a:ext cx="0" cy="81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6577" name="Line 14"/>
            <p:cNvSpPr>
              <a:spLocks noChangeShapeType="1"/>
            </p:cNvSpPr>
            <p:nvPr/>
          </p:nvSpPr>
          <p:spPr bwMode="auto">
            <a:xfrm>
              <a:off x="1866" y="1675"/>
              <a:ext cx="33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6578" name="Line 15"/>
            <p:cNvSpPr>
              <a:spLocks noChangeShapeType="1"/>
            </p:cNvSpPr>
            <p:nvPr/>
          </p:nvSpPr>
          <p:spPr bwMode="auto">
            <a:xfrm>
              <a:off x="3168" y="1635"/>
              <a:ext cx="54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6579" name="Line 16"/>
            <p:cNvSpPr>
              <a:spLocks noChangeShapeType="1"/>
            </p:cNvSpPr>
            <p:nvPr/>
          </p:nvSpPr>
          <p:spPr bwMode="auto">
            <a:xfrm>
              <a:off x="3712" y="1643"/>
              <a:ext cx="0" cy="146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6580" name="Line 17"/>
            <p:cNvSpPr>
              <a:spLocks noChangeShapeType="1"/>
            </p:cNvSpPr>
            <p:nvPr/>
          </p:nvSpPr>
          <p:spPr bwMode="auto">
            <a:xfrm flipH="1">
              <a:off x="3260" y="3112"/>
              <a:ext cx="44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6581" name="Text Box 18"/>
            <p:cNvSpPr txBox="1">
              <a:spLocks noChangeArrowheads="1"/>
            </p:cNvSpPr>
            <p:nvPr/>
          </p:nvSpPr>
          <p:spPr bwMode="auto">
            <a:xfrm>
              <a:off x="2452" y="757"/>
              <a:ext cx="5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latin typeface="Times New Roman" pitchFamily="18" charset="0"/>
                </a:rPr>
                <a:t>case n</a:t>
              </a:r>
            </a:p>
          </p:txBody>
        </p:sp>
        <p:sp>
          <p:nvSpPr>
            <p:cNvPr id="66582" name="Oval 19"/>
            <p:cNvSpPr>
              <a:spLocks noChangeArrowheads="1"/>
            </p:cNvSpPr>
            <p:nvPr/>
          </p:nvSpPr>
          <p:spPr bwMode="auto">
            <a:xfrm>
              <a:off x="1054" y="1532"/>
              <a:ext cx="328" cy="3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66583" name="Oval 20"/>
            <p:cNvSpPr>
              <a:spLocks noChangeArrowheads="1"/>
            </p:cNvSpPr>
            <p:nvPr/>
          </p:nvSpPr>
          <p:spPr bwMode="auto">
            <a:xfrm>
              <a:off x="3777" y="1542"/>
              <a:ext cx="328" cy="3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6584" name="Oval 21"/>
            <p:cNvSpPr>
              <a:spLocks noChangeArrowheads="1"/>
            </p:cNvSpPr>
            <p:nvPr/>
          </p:nvSpPr>
          <p:spPr bwMode="auto">
            <a:xfrm>
              <a:off x="3959" y="2647"/>
              <a:ext cx="327" cy="3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66585" name="Text Box 22"/>
            <p:cNvSpPr txBox="1">
              <a:spLocks noChangeArrowheads="1"/>
            </p:cNvSpPr>
            <p:nvPr/>
          </p:nvSpPr>
          <p:spPr bwMode="auto">
            <a:xfrm>
              <a:off x="878" y="1998"/>
              <a:ext cx="66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latin typeface="Times New Roman" pitchFamily="18" charset="0"/>
                </a:rPr>
                <a:t>trap to </a:t>
              </a:r>
            </a:p>
            <a:p>
              <a:pPr algn="ctr"/>
              <a:r>
                <a:rPr lang="en-US" altLang="zh-TW" sz="2000" b="1">
                  <a:latin typeface="Times New Roman" pitchFamily="18" charset="0"/>
                </a:rPr>
                <a:t>monitor</a:t>
              </a:r>
            </a:p>
          </p:txBody>
        </p:sp>
        <p:sp>
          <p:nvSpPr>
            <p:cNvPr id="66586" name="Text Box 23"/>
            <p:cNvSpPr txBox="1">
              <a:spLocks noChangeArrowheads="1"/>
            </p:cNvSpPr>
            <p:nvPr/>
          </p:nvSpPr>
          <p:spPr bwMode="auto">
            <a:xfrm>
              <a:off x="4219" y="1526"/>
              <a:ext cx="724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latin typeface="Times New Roman" pitchFamily="18" charset="0"/>
                </a:rPr>
                <a:t>perform </a:t>
              </a:r>
            </a:p>
            <a:p>
              <a:pPr algn="ctr"/>
              <a:r>
                <a:rPr lang="en-US" altLang="zh-TW" sz="2000" b="1">
                  <a:latin typeface="Times New Roman" pitchFamily="18" charset="0"/>
                </a:rPr>
                <a:t>I/O </a:t>
              </a:r>
            </a:p>
            <a:p>
              <a:pPr algn="ctr"/>
              <a:endParaRPr lang="en-US" altLang="zh-TW" sz="2000" b="1">
                <a:latin typeface="Times New Roman" pitchFamily="18" charset="0"/>
              </a:endParaRPr>
            </a:p>
          </p:txBody>
        </p:sp>
        <p:sp>
          <p:nvSpPr>
            <p:cNvPr id="66587" name="Text Box 24"/>
            <p:cNvSpPr txBox="1">
              <a:spLocks noChangeArrowheads="1"/>
            </p:cNvSpPr>
            <p:nvPr/>
          </p:nvSpPr>
          <p:spPr bwMode="auto">
            <a:xfrm>
              <a:off x="4324" y="2603"/>
              <a:ext cx="77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latin typeface="Times New Roman" pitchFamily="18" charset="0"/>
                </a:rPr>
                <a:t>return to </a:t>
              </a:r>
            </a:p>
            <a:p>
              <a:pPr algn="ctr"/>
              <a:r>
                <a:rPr lang="en-US" altLang="zh-TW" sz="2000" b="1">
                  <a:latin typeface="Times New Roman" pitchFamily="18" charset="0"/>
                </a:rPr>
                <a:t>user</a:t>
              </a:r>
            </a:p>
          </p:txBody>
        </p:sp>
        <p:sp>
          <p:nvSpPr>
            <p:cNvPr id="66588" name="Text Box 25"/>
            <p:cNvSpPr txBox="1">
              <a:spLocks noChangeArrowheads="1"/>
            </p:cNvSpPr>
            <p:nvPr/>
          </p:nvSpPr>
          <p:spPr bwMode="auto">
            <a:xfrm>
              <a:off x="800" y="3437"/>
              <a:ext cx="105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algn="ctr"/>
              <a:r>
                <a:rPr lang="en-US" altLang="zh-TW" sz="2000" b="1">
                  <a:latin typeface="Times New Roman" pitchFamily="18" charset="0"/>
                </a:rPr>
                <a:t>user program</a:t>
              </a:r>
            </a:p>
          </p:txBody>
        </p:sp>
        <p:sp>
          <p:nvSpPr>
            <p:cNvPr id="66589" name="Text Box 26"/>
            <p:cNvSpPr txBox="1">
              <a:spLocks noChangeArrowheads="1"/>
            </p:cNvSpPr>
            <p:nvPr/>
          </p:nvSpPr>
          <p:spPr bwMode="auto">
            <a:xfrm>
              <a:off x="2240" y="2997"/>
              <a:ext cx="5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r>
                <a:rPr lang="en-US" altLang="zh-TW" sz="2000" b="1">
                  <a:latin typeface="Times New Roman" pitchFamily="18" charset="0"/>
                </a:rPr>
                <a:t>d:=3*c</a:t>
              </a:r>
            </a:p>
          </p:txBody>
        </p:sp>
      </p:grpSp>
      <p:sp>
        <p:nvSpPr>
          <p:cNvPr id="66565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867E73C-B69E-40E4-8CF0-9EE029EAA3F0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66566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7282E01-9403-40BA-B23B-0FC2C736F569}" type="slidenum">
              <a:rPr kumimoji="0" lang="en-US" altLang="zh-TW" sz="1400" smtClean="0"/>
              <a:pPr eaLnBrk="1" hangingPunct="1"/>
              <a:t>14</a:t>
            </a:fld>
            <a:endParaRPr kumimoji="0" lang="en-US" altLang="zh-TW" sz="1400" smtClean="0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522288" y="274638"/>
            <a:ext cx="8382000" cy="1168400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Interrupt Time Line For a Single Process Doing Output</a:t>
            </a:r>
          </a:p>
        </p:txBody>
      </p:sp>
      <p:pic>
        <p:nvPicPr>
          <p:cNvPr id="6758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" t="21761" r="642" b="21663"/>
          <a:stretch>
            <a:fillRect/>
          </a:stretch>
        </p:blipFill>
        <p:spPr bwMode="auto">
          <a:xfrm>
            <a:off x="492125" y="1825625"/>
            <a:ext cx="8228013" cy="418306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589" name="Line 4"/>
          <p:cNvSpPr>
            <a:spLocks noChangeShapeType="1"/>
          </p:cNvSpPr>
          <p:nvPr/>
        </p:nvSpPr>
        <p:spPr bwMode="auto">
          <a:xfrm flipV="1">
            <a:off x="1905000" y="4076700"/>
            <a:ext cx="762000" cy="63500"/>
          </a:xfrm>
          <a:prstGeom prst="line">
            <a:avLst/>
          </a:prstGeom>
          <a:noFill/>
          <a:ln w="12699">
            <a:solidFill>
              <a:srgbClr val="FF0066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7590" name="Line 5"/>
          <p:cNvSpPr>
            <a:spLocks noChangeShapeType="1"/>
          </p:cNvSpPr>
          <p:nvPr/>
        </p:nvSpPr>
        <p:spPr bwMode="auto">
          <a:xfrm>
            <a:off x="2590800" y="4495800"/>
            <a:ext cx="546100" cy="127000"/>
          </a:xfrm>
          <a:prstGeom prst="line">
            <a:avLst/>
          </a:prstGeom>
          <a:noFill/>
          <a:ln w="12699">
            <a:solidFill>
              <a:srgbClr val="FF0066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7591" name="Line 6"/>
          <p:cNvSpPr>
            <a:spLocks noChangeShapeType="1"/>
          </p:cNvSpPr>
          <p:nvPr/>
        </p:nvSpPr>
        <p:spPr bwMode="auto">
          <a:xfrm flipV="1">
            <a:off x="2717800" y="3022600"/>
            <a:ext cx="1828800" cy="469900"/>
          </a:xfrm>
          <a:prstGeom prst="line">
            <a:avLst/>
          </a:prstGeom>
          <a:noFill/>
          <a:ln w="12699">
            <a:solidFill>
              <a:srgbClr val="FF0066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7592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573B429-DCB0-4818-AF06-7DC8596EF99C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67593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1AAF7F4-5AED-4C9F-92E8-EF368797DCF9}" type="slidenum">
              <a:rPr kumimoji="0" lang="en-US" altLang="zh-TW" sz="1400" smtClean="0"/>
              <a:pPr eaLnBrk="1" hangingPunct="1"/>
              <a:t>15</a:t>
            </a:fld>
            <a:endParaRPr kumimoji="0" lang="en-US" altLang="zh-TW" sz="1400" smtClean="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434975"/>
            <a:ext cx="7772400" cy="722313"/>
          </a:xfrm>
        </p:spPr>
        <p:txBody>
          <a:bodyPr/>
          <a:lstStyle/>
          <a:p>
            <a:pPr eaLnBrk="1" hangingPunct="1"/>
            <a:r>
              <a:rPr lang="en-US" altLang="zh-TW" smtClean="0"/>
              <a:t>I/O Structure</a:t>
            </a:r>
          </a:p>
        </p:txBody>
      </p:sp>
      <p:sp>
        <p:nvSpPr>
          <p:cNvPr id="3000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42938" y="1847850"/>
            <a:ext cx="8131175" cy="4686300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AutoNum type="arabicPeriod"/>
              <a:defRPr/>
            </a:pPr>
            <a:r>
              <a:rPr lang="en-US" altLang="zh-TW" dirty="0" smtClean="0"/>
              <a:t>After I/O starts, control returns to user program </a:t>
            </a:r>
            <a:r>
              <a:rPr lang="en-US" altLang="zh-TW" dirty="0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only upon I/O completion</a:t>
            </a:r>
            <a:r>
              <a:rPr lang="en-US" altLang="zh-TW" dirty="0" smtClean="0"/>
              <a:t>.</a:t>
            </a:r>
          </a:p>
          <a:p>
            <a:pPr marL="990600" lvl="1" indent="-533400" eaLnBrk="1" hangingPunct="1">
              <a:defRPr/>
            </a:pPr>
            <a:r>
              <a:rPr lang="en-US" altLang="zh-TW" dirty="0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Wait instruction</a:t>
            </a:r>
            <a:r>
              <a:rPr lang="en-US" altLang="zh-TW" dirty="0" smtClean="0"/>
              <a:t> idles the CPU until the next interrupt</a:t>
            </a:r>
          </a:p>
          <a:p>
            <a:pPr marL="990600" lvl="1" indent="-533400" eaLnBrk="1" hangingPunct="1">
              <a:defRPr/>
            </a:pPr>
            <a:r>
              <a:rPr lang="en-US" altLang="zh-TW" dirty="0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Wait loop</a:t>
            </a:r>
            <a:r>
              <a:rPr lang="en-US" altLang="zh-TW" dirty="0" smtClean="0"/>
              <a:t> (Loop: </a:t>
            </a:r>
            <a:r>
              <a:rPr lang="en-US" altLang="zh-TW" dirty="0" err="1" smtClean="0"/>
              <a:t>jmp</a:t>
            </a:r>
            <a:r>
              <a:rPr lang="en-US" altLang="zh-TW" dirty="0" smtClean="0"/>
              <a:t> Loop)</a:t>
            </a:r>
          </a:p>
          <a:p>
            <a:pPr marL="990600" lvl="1" indent="-533400" eaLnBrk="1" hangingPunct="1">
              <a:defRPr/>
            </a:pPr>
            <a:r>
              <a:rPr lang="en-US" altLang="zh-TW" dirty="0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At most one I/O request</a:t>
            </a:r>
            <a:r>
              <a:rPr lang="en-US" altLang="zh-TW" dirty="0" smtClean="0"/>
              <a:t> is outstanding at a time, no simultaneous I/O processing.</a:t>
            </a:r>
          </a:p>
        </p:txBody>
      </p:sp>
      <p:sp>
        <p:nvSpPr>
          <p:cNvPr id="6861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86FA929-74B6-489F-9C3E-F7D885E00D52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6861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0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0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0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0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1F1C0A7-761F-41C3-9E0B-05BF0593859E}" type="slidenum">
              <a:rPr kumimoji="0" lang="en-US" altLang="zh-TW" sz="1400" smtClean="0"/>
              <a:pPr eaLnBrk="1" hangingPunct="1"/>
              <a:t>16</a:t>
            </a:fld>
            <a:endParaRPr kumimoji="0" lang="en-US" altLang="zh-TW" sz="1400" smtClean="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434975"/>
            <a:ext cx="7772400" cy="722313"/>
          </a:xfrm>
        </p:spPr>
        <p:txBody>
          <a:bodyPr/>
          <a:lstStyle/>
          <a:p>
            <a:pPr eaLnBrk="1" hangingPunct="1"/>
            <a:r>
              <a:rPr lang="en-US" altLang="zh-TW" smtClean="0"/>
              <a:t>I/O Structure</a:t>
            </a:r>
          </a:p>
        </p:txBody>
      </p:sp>
      <p:sp>
        <p:nvSpPr>
          <p:cNvPr id="4608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42938" y="1171575"/>
            <a:ext cx="8131175" cy="53625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AutoNum type="arabicPeriod" startAt="2"/>
              <a:defRPr/>
            </a:pPr>
            <a:r>
              <a:rPr lang="en-US" altLang="zh-TW" smtClean="0"/>
              <a:t>After I/O starts, control returns to user program </a:t>
            </a:r>
            <a:r>
              <a:rPr lang="en-US" altLang="zh-TW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without waiting for I/O completion</a:t>
            </a:r>
            <a:r>
              <a:rPr lang="en-US" altLang="zh-TW" smtClean="0"/>
              <a:t>.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altLang="zh-TW" b="1" i="1" smtClean="0">
                <a:solidFill>
                  <a:srgbClr val="F31F47"/>
                </a:solidFill>
              </a:rPr>
              <a:t>System call</a:t>
            </a:r>
            <a:r>
              <a:rPr lang="en-US" altLang="zh-TW" smtClean="0"/>
              <a:t> </a:t>
            </a:r>
            <a:r>
              <a:rPr lang="en-US" altLang="zh-TW" smtClean="0">
                <a:latin typeface="Helvetica"/>
              </a:rPr>
              <a:t>–</a:t>
            </a:r>
            <a:r>
              <a:rPr lang="en-US" altLang="zh-TW" smtClean="0"/>
              <a:t> request to the operating system to allow user to wait for I/O completion.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altLang="zh-TW" b="1" i="1" smtClean="0">
                <a:solidFill>
                  <a:srgbClr val="F31F47"/>
                </a:solidFill>
              </a:rPr>
              <a:t>Device-status table</a:t>
            </a:r>
            <a:r>
              <a:rPr lang="en-US" altLang="zh-TW" smtClean="0"/>
              <a:t> contains entry for each I/O device indicating its type, address, and state.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altLang="zh-TW" smtClean="0"/>
              <a:t>Operating system indexes into I/O device table to determine device status and to modify table entry to include interrupt.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endParaRPr lang="en-US" altLang="zh-TW" smtClean="0"/>
          </a:p>
        </p:txBody>
      </p:sp>
      <p:sp>
        <p:nvSpPr>
          <p:cNvPr id="69637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B467DE8-B6CB-4562-8885-A8DB3AF36115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69638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14ED995-920A-48FD-9CC8-EBE0EB3D911D}" type="slidenum">
              <a:rPr kumimoji="0" lang="en-US" altLang="zh-TW" sz="1400" smtClean="0"/>
              <a:pPr eaLnBrk="1" hangingPunct="1"/>
              <a:t>17</a:t>
            </a:fld>
            <a:endParaRPr kumimoji="0" lang="en-US" altLang="zh-TW" sz="1400" smtClean="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Two I/O Methods</a:t>
            </a:r>
          </a:p>
        </p:txBody>
      </p:sp>
      <p:sp>
        <p:nvSpPr>
          <p:cNvPr id="70660" name="Text Box 3"/>
          <p:cNvSpPr txBox="1">
            <a:spLocks noChangeArrowheads="1"/>
          </p:cNvSpPr>
          <p:nvPr/>
        </p:nvSpPr>
        <p:spPr bwMode="auto">
          <a:xfrm>
            <a:off x="2151063" y="1792288"/>
            <a:ext cx="151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zh-TW" sz="1800">
                <a:latin typeface="Helvetica" pitchFamily="34" charset="0"/>
              </a:rPr>
              <a:t>Synchronous</a:t>
            </a:r>
          </a:p>
        </p:txBody>
      </p:sp>
      <p:sp>
        <p:nvSpPr>
          <p:cNvPr id="70661" name="Text Box 4"/>
          <p:cNvSpPr txBox="1">
            <a:spLocks noChangeArrowheads="1"/>
          </p:cNvSpPr>
          <p:nvPr/>
        </p:nvSpPr>
        <p:spPr bwMode="auto">
          <a:xfrm>
            <a:off x="5360988" y="1819275"/>
            <a:ext cx="1631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zh-TW" sz="1800">
                <a:latin typeface="Helvetica" pitchFamily="34" charset="0"/>
              </a:rPr>
              <a:t>Asynchronous</a:t>
            </a:r>
          </a:p>
        </p:txBody>
      </p:sp>
      <p:pic>
        <p:nvPicPr>
          <p:cNvPr id="7066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" t="22591" r="568" b="22527"/>
          <a:stretch>
            <a:fillRect/>
          </a:stretch>
        </p:blipFill>
        <p:spPr bwMode="auto">
          <a:xfrm>
            <a:off x="754063" y="2284413"/>
            <a:ext cx="7747000" cy="391795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66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CF69EBC-ABA8-410C-9041-9A9AE8527699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7066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CE7D065-6E5B-4666-A5D1-14C5AB839A08}" type="slidenum">
              <a:rPr kumimoji="0" lang="en-US" altLang="zh-TW" sz="1400" smtClean="0"/>
              <a:pPr eaLnBrk="1" hangingPunct="1"/>
              <a:t>18</a:t>
            </a:fld>
            <a:endParaRPr kumimoji="0" lang="en-US" altLang="zh-TW" sz="1400" smtClean="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Device-Status Table</a:t>
            </a:r>
          </a:p>
        </p:txBody>
      </p:sp>
      <p:pic>
        <p:nvPicPr>
          <p:cNvPr id="716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" t="15446" r="728" b="15446"/>
          <a:stretch>
            <a:fillRect/>
          </a:stretch>
        </p:blipFill>
        <p:spPr bwMode="auto">
          <a:xfrm>
            <a:off x="769938" y="1639888"/>
            <a:ext cx="7326312" cy="4506912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685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F6470E9-B0B1-4C57-8DB1-F498F34868DE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71686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35D405C-E0F1-47AB-A61D-E354745C110A}" type="slidenum">
              <a:rPr kumimoji="0" lang="en-US" altLang="zh-TW" sz="1400" smtClean="0"/>
              <a:pPr eaLnBrk="1" hangingPunct="1"/>
              <a:t>19</a:t>
            </a:fld>
            <a:endParaRPr kumimoji="0" lang="en-US" altLang="zh-TW" sz="1400" smtClean="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581025" y="477838"/>
            <a:ext cx="8178800" cy="722312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31F47"/>
                </a:solidFill>
              </a:rPr>
              <a:t>Direct Memory Access</a:t>
            </a:r>
            <a:r>
              <a:rPr lang="en-US" altLang="zh-TW" smtClean="0"/>
              <a:t> Structure</a:t>
            </a:r>
          </a:p>
        </p:txBody>
      </p:sp>
      <p:sp>
        <p:nvSpPr>
          <p:cNvPr id="3829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303338"/>
            <a:ext cx="7772400" cy="4903787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smtClean="0"/>
              <a:t>Used for </a:t>
            </a:r>
            <a:r>
              <a:rPr lang="en-US" altLang="zh-TW" sz="2800" smtClean="0">
                <a:solidFill>
                  <a:srgbClr val="000000"/>
                </a:solidFill>
              </a:rPr>
              <a:t>high-speed I/O devices</a:t>
            </a:r>
            <a:r>
              <a:rPr lang="en-US" altLang="zh-TW" sz="2800" smtClean="0"/>
              <a:t> able to transmit information at </a:t>
            </a:r>
            <a:r>
              <a:rPr lang="en-US" altLang="zh-TW" sz="2800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close to memory speeds</a:t>
            </a:r>
            <a:r>
              <a:rPr lang="en-US" altLang="zh-TW" sz="2800" smtClean="0"/>
              <a:t>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smtClean="0"/>
              <a:t>Device controller transfers </a:t>
            </a:r>
            <a:r>
              <a:rPr lang="en-US" altLang="zh-TW" sz="2800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blocks of data</a:t>
            </a:r>
            <a:r>
              <a:rPr lang="en-US" altLang="zh-TW" sz="2800" smtClean="0">
                <a:solidFill>
                  <a:srgbClr val="000000"/>
                </a:solidFill>
                <a:sym typeface="Wingdings" pitchFamily="2" charset="2"/>
              </a:rPr>
              <a:t></a:t>
            </a:r>
            <a:r>
              <a:rPr lang="en-US" altLang="zh-TW" sz="2800" smtClean="0"/>
              <a:t> from </a:t>
            </a:r>
            <a:r>
              <a:rPr lang="en-US" altLang="zh-TW" sz="2800" b="1" smtClean="0">
                <a:solidFill>
                  <a:schemeClr val="tx2"/>
                </a:solidFill>
              </a:rPr>
              <a:t>buffer storage</a:t>
            </a:r>
            <a:r>
              <a:rPr lang="en-US" altLang="zh-TW" sz="2800" smtClean="0">
                <a:solidFill>
                  <a:srgbClr val="000000"/>
                </a:solidFill>
                <a:sym typeface="Wingdings" pitchFamily="2" charset="2"/>
              </a:rPr>
              <a:t></a:t>
            </a:r>
            <a:r>
              <a:rPr lang="en-US" altLang="zh-TW" sz="2800" smtClean="0"/>
              <a:t> </a:t>
            </a:r>
            <a:r>
              <a:rPr lang="en-US" altLang="zh-TW" sz="28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directly</a:t>
            </a:r>
            <a:r>
              <a:rPr lang="en-US" altLang="zh-TW" sz="2800" smtClean="0"/>
              <a:t> to main memory </a:t>
            </a:r>
            <a:r>
              <a:rPr lang="en-US" altLang="zh-TW" sz="2800" b="1" smtClean="0">
                <a:solidFill>
                  <a:srgbClr val="F31F47"/>
                </a:solidFill>
              </a:rPr>
              <a:t>without CPU intervention</a:t>
            </a:r>
            <a:r>
              <a:rPr lang="en-US" altLang="zh-TW" sz="2800" smtClean="0">
                <a:solidFill>
                  <a:srgbClr val="000000"/>
                </a:solidFill>
                <a:sym typeface="Wingdings" pitchFamily="2" charset="2"/>
              </a:rPr>
              <a:t></a:t>
            </a:r>
            <a:r>
              <a:rPr lang="en-US" altLang="zh-TW" sz="2800" smtClean="0"/>
              <a:t>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smtClean="0"/>
              <a:t>Only one interrupt is generated per block, rather than the one interrupt per byte.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b="1" i="1" smtClean="0">
                <a:solidFill>
                  <a:srgbClr val="F31F47"/>
                </a:solidFill>
              </a:rPr>
              <a:t>Cycle Stealing</a:t>
            </a:r>
          </a:p>
        </p:txBody>
      </p:sp>
      <p:sp>
        <p:nvSpPr>
          <p:cNvPr id="72709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7173D0D-F9E8-4C1E-B7A6-81B60ADE3427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72710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8C309D6-FA24-42A5-B5F9-C7E6D44938AC}" type="slidenum">
              <a:rPr kumimoji="0" lang="en-US" altLang="zh-TW" sz="1400" smtClean="0"/>
              <a:pPr eaLnBrk="1" hangingPunct="1"/>
              <a:t>20</a:t>
            </a:fld>
            <a:endParaRPr kumimoji="0" lang="en-US" altLang="zh-TW" sz="1400" smtClean="0"/>
          </a:p>
        </p:txBody>
      </p:sp>
      <p:sp>
        <p:nvSpPr>
          <p:cNvPr id="73731" name="Title 1"/>
          <p:cNvSpPr>
            <a:spLocks noGrp="1"/>
          </p:cNvSpPr>
          <p:nvPr>
            <p:ph type="title" idx="4294967295"/>
          </p:nvPr>
        </p:nvSpPr>
        <p:spPr>
          <a:xfrm>
            <a:off x="609600" y="304800"/>
            <a:ext cx="8069263" cy="876300"/>
          </a:xfrm>
        </p:spPr>
        <p:txBody>
          <a:bodyPr/>
          <a:lstStyle/>
          <a:p>
            <a:pPr eaLnBrk="1" hangingPunct="1"/>
            <a:r>
              <a:rPr lang="en-US" altLang="zh-TW" smtClean="0"/>
              <a:t>How a Modern Computer Works</a:t>
            </a:r>
          </a:p>
        </p:txBody>
      </p:sp>
      <p:pic>
        <p:nvPicPr>
          <p:cNvPr id="73732" name="Picture 5" descr="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50" y="1641475"/>
            <a:ext cx="5746750" cy="4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91EB443-BEE1-49BF-A089-38F0C8C1A7A1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7373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065BC9F-A7C1-41FB-AD25-C8C42F13DFF2}" type="slidenum">
              <a:rPr kumimoji="0" lang="en-US" altLang="zh-TW" sz="1400" smtClean="0"/>
              <a:pPr eaLnBrk="1" hangingPunct="1"/>
              <a:t>21</a:t>
            </a:fld>
            <a:endParaRPr kumimoji="0" lang="en-US" altLang="zh-TW" sz="1400" smtClean="0"/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>
          <a:xfrm>
            <a:off x="652463" y="320675"/>
            <a:ext cx="7772400" cy="822325"/>
          </a:xfrm>
        </p:spPr>
        <p:txBody>
          <a:bodyPr/>
          <a:lstStyle/>
          <a:p>
            <a:pPr eaLnBrk="1" hangingPunct="1"/>
            <a:r>
              <a:rPr lang="en-US" altLang="zh-TW" smtClean="0"/>
              <a:t>Storage Structure</a:t>
            </a:r>
          </a:p>
        </p:txBody>
      </p:sp>
      <p:sp>
        <p:nvSpPr>
          <p:cNvPr id="3870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5175" y="1114425"/>
            <a:ext cx="7772400" cy="50514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800" b="1" smtClean="0">
                <a:solidFill>
                  <a:srgbClr val="F31F47"/>
                </a:solidFill>
              </a:rPr>
              <a:t>Main memory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/>
              </a:rPr>
              <a:t>–</a:t>
            </a:r>
            <a:r>
              <a:rPr lang="en-US" altLang="zh-TW" sz="2800" smtClean="0"/>
              <a:t> only large storage media that the </a:t>
            </a:r>
            <a:r>
              <a:rPr lang="en-US" altLang="zh-TW" sz="2800" b="1" smtClean="0">
                <a:solidFill>
                  <a:srgbClr val="F31F47"/>
                </a:solidFill>
              </a:rPr>
              <a:t>CPU can access directly</a:t>
            </a:r>
            <a:r>
              <a:rPr lang="en-US" altLang="zh-TW" sz="280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800" smtClean="0"/>
              <a:t>Secondary storage </a:t>
            </a:r>
            <a:r>
              <a:rPr lang="en-US" altLang="zh-TW" sz="2800" smtClean="0">
                <a:latin typeface="Helvetica"/>
              </a:rPr>
              <a:t>–</a:t>
            </a:r>
            <a:r>
              <a:rPr lang="en-US" altLang="zh-TW" sz="2800" smtClean="0"/>
              <a:t> extension of main memory that provides </a:t>
            </a:r>
            <a:r>
              <a:rPr lang="en-US" altLang="zh-TW" sz="2800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large nonvolatile storage</a:t>
            </a:r>
            <a:r>
              <a:rPr lang="en-US" altLang="zh-TW" sz="2800" smtClean="0"/>
              <a:t> capacity.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800" smtClean="0">
                <a:solidFill>
                  <a:srgbClr val="0066FF"/>
                </a:solidFill>
              </a:rPr>
              <a:t>Magnetic</a:t>
            </a:r>
            <a:r>
              <a:rPr lang="en-US" altLang="zh-TW" sz="2800" smtClean="0"/>
              <a:t> disks </a:t>
            </a:r>
            <a:r>
              <a:rPr lang="en-US" altLang="zh-TW" sz="2800" smtClean="0">
                <a:latin typeface="Helvetica"/>
              </a:rPr>
              <a:t>–</a:t>
            </a:r>
            <a:r>
              <a:rPr lang="en-US" altLang="zh-TW" sz="2800" smtClean="0"/>
              <a:t> rigid metal or glass platters covered with magnetic recording material 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400" smtClean="0"/>
              <a:t>Disk surface is logically divided into </a:t>
            </a:r>
            <a:r>
              <a:rPr lang="en-US" altLang="zh-TW" sz="2400" i="1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tracks</a:t>
            </a:r>
            <a:r>
              <a:rPr lang="en-US" altLang="zh-TW" sz="2400" smtClean="0"/>
              <a:t>, which are subdivided into </a:t>
            </a:r>
            <a:r>
              <a:rPr lang="en-US" altLang="zh-TW" sz="2400" i="1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sectors</a:t>
            </a:r>
            <a:r>
              <a:rPr lang="en-US" altLang="zh-TW" sz="2400" smtClean="0"/>
              <a:t>.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400" smtClean="0"/>
              <a:t>The </a:t>
            </a:r>
            <a:r>
              <a:rPr lang="en-US" altLang="zh-TW" sz="2400" b="1" i="1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disk controller</a:t>
            </a:r>
            <a:r>
              <a:rPr lang="en-US" altLang="zh-TW" sz="2400" smtClean="0"/>
              <a:t> determines the logical interaction between the device and the computer. </a:t>
            </a:r>
          </a:p>
        </p:txBody>
      </p:sp>
      <p:sp>
        <p:nvSpPr>
          <p:cNvPr id="74757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383F40B-F410-4BD3-B71F-2D2C02E69C01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74758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7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7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7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7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7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7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7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7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7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7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56FC8C7-F129-47EC-B863-DA57C3120997}" type="slidenum">
              <a:rPr kumimoji="0" lang="en-US" altLang="zh-TW" sz="1400" smtClean="0"/>
              <a:pPr eaLnBrk="1" hangingPunct="1"/>
              <a:t>22</a:t>
            </a:fld>
            <a:endParaRPr kumimoji="0" lang="en-US" altLang="zh-TW" sz="1400" smtClean="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320675"/>
            <a:ext cx="7772400" cy="808038"/>
          </a:xfrm>
        </p:spPr>
        <p:txBody>
          <a:bodyPr/>
          <a:lstStyle/>
          <a:p>
            <a:pPr eaLnBrk="1" hangingPunct="1"/>
            <a:r>
              <a:rPr lang="en-US" altLang="zh-TW" smtClean="0"/>
              <a:t>Moving-Head Disk Mechanism</a:t>
            </a:r>
          </a:p>
        </p:txBody>
      </p:sp>
      <p:pic>
        <p:nvPicPr>
          <p:cNvPr id="7578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0" t="816" r="2420" b="1633"/>
          <a:stretch>
            <a:fillRect/>
          </a:stretch>
        </p:blipFill>
        <p:spPr bwMode="auto">
          <a:xfrm>
            <a:off x="1265238" y="1306513"/>
            <a:ext cx="6689725" cy="5091112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781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C94D8D9-85DD-4A7E-914E-354B4AC6A95C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75782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A544291-5896-4FEC-836C-A2778A7B1827}" type="slidenum">
              <a:rPr kumimoji="0" lang="en-US" altLang="zh-TW" sz="1400" smtClean="0"/>
              <a:pPr eaLnBrk="1" hangingPunct="1"/>
              <a:t>23</a:t>
            </a:fld>
            <a:endParaRPr kumimoji="0" lang="en-US" altLang="zh-TW" sz="1400" smtClean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15963"/>
          </a:xfrm>
        </p:spPr>
        <p:txBody>
          <a:bodyPr/>
          <a:lstStyle/>
          <a:p>
            <a:pPr eaLnBrk="1" hangingPunct="1"/>
            <a:r>
              <a:rPr lang="en-US" altLang="zh-TW" smtClean="0"/>
              <a:t>Storage Hierarchy</a:t>
            </a:r>
          </a:p>
        </p:txBody>
      </p:sp>
      <p:sp>
        <p:nvSpPr>
          <p:cNvPr id="3911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60400" y="1133475"/>
            <a:ext cx="7772400" cy="48958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Storage systems organized in hierarchy.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3200" b="1" dirty="0" smtClean="0">
                <a:solidFill>
                  <a:srgbClr val="F31F47"/>
                </a:solidFill>
              </a:rPr>
              <a:t>Speed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/>
              <a:t>Cost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/>
              <a:t>Volatility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Speed of magnetic disk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i="1" dirty="0" smtClean="0"/>
              <a:t>transfer rate</a:t>
            </a:r>
            <a:r>
              <a:rPr lang="en-US" altLang="zh-TW" sz="2400" dirty="0" smtClean="0"/>
              <a:t> * size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i="1" dirty="0" smtClean="0"/>
              <a:t>positioning time</a:t>
            </a:r>
            <a:r>
              <a:rPr lang="en-US" altLang="zh-TW" sz="2400" dirty="0" smtClean="0"/>
              <a:t> (</a:t>
            </a:r>
            <a:r>
              <a:rPr lang="en-US" altLang="zh-TW" sz="2400" i="1" dirty="0" smtClean="0"/>
              <a:t>random access time</a:t>
            </a:r>
            <a:r>
              <a:rPr lang="en-US" altLang="zh-TW" sz="2400" dirty="0" smtClean="0"/>
              <a:t>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sz="2000" i="1" dirty="0" smtClean="0"/>
              <a:t>seek time</a:t>
            </a:r>
            <a:r>
              <a:rPr lang="en-US" altLang="zh-TW" sz="2000" dirty="0" smtClean="0"/>
              <a:t> + </a:t>
            </a:r>
            <a:r>
              <a:rPr lang="en-US" altLang="zh-TW" sz="2000" i="1" dirty="0" smtClean="0"/>
              <a:t>rotational latency</a:t>
            </a:r>
            <a:r>
              <a:rPr lang="en-US" altLang="zh-TW" sz="2000" dirty="0" smtClean="0"/>
              <a:t> </a:t>
            </a:r>
            <a:endParaRPr lang="en-US" altLang="zh-TW" sz="2000" i="1" dirty="0" smtClean="0"/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800" b="1" i="1" dirty="0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Caching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latin typeface="Helvetica"/>
              </a:rPr>
              <a:t>–</a:t>
            </a:r>
            <a:r>
              <a:rPr lang="en-US" altLang="zh-TW" sz="2800" dirty="0" smtClean="0"/>
              <a:t> copying information into faster storage system; </a:t>
            </a:r>
            <a:r>
              <a:rPr lang="en-US" altLang="zh-TW" sz="2800" dirty="0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main memory can be viewed as a last </a:t>
            </a:r>
            <a:r>
              <a:rPr lang="en-US" altLang="zh-TW" sz="2800" i="1" dirty="0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cache</a:t>
            </a:r>
            <a:r>
              <a:rPr lang="en-US" altLang="zh-TW" sz="2800" dirty="0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for secondary storage</a:t>
            </a:r>
            <a:r>
              <a:rPr lang="en-US" altLang="zh-TW" sz="2800" dirty="0" smtClean="0"/>
              <a:t>.</a:t>
            </a:r>
          </a:p>
        </p:txBody>
      </p:sp>
      <p:sp>
        <p:nvSpPr>
          <p:cNvPr id="76805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A5866F9-1C45-4F30-81C8-AE11EC3192E3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76806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1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1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1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1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1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1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1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1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1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1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1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1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1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1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1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1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FAC2D69-8C4C-46CF-94B9-80BA120D3AF8}" type="slidenum">
              <a:rPr kumimoji="0" lang="en-US" altLang="zh-TW" sz="1400" smtClean="0"/>
              <a:pPr eaLnBrk="1" hangingPunct="1"/>
              <a:t>24</a:t>
            </a:fld>
            <a:endParaRPr kumimoji="0" lang="en-US" altLang="zh-TW" sz="1400" smtClean="0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62013"/>
          </a:xfrm>
        </p:spPr>
        <p:txBody>
          <a:bodyPr/>
          <a:lstStyle/>
          <a:p>
            <a:pPr eaLnBrk="1" hangingPunct="1"/>
            <a:r>
              <a:rPr lang="en-US" altLang="zh-TW" smtClean="0"/>
              <a:t>Storage-Device Hierarchy</a:t>
            </a:r>
          </a:p>
        </p:txBody>
      </p:sp>
      <p:pic>
        <p:nvPicPr>
          <p:cNvPr id="7782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" t="1303" r="2591" b="568"/>
          <a:stretch>
            <a:fillRect/>
          </a:stretch>
        </p:blipFill>
        <p:spPr bwMode="auto">
          <a:xfrm>
            <a:off x="1133475" y="1322388"/>
            <a:ext cx="6162675" cy="4665662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829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8DA8288-2BD8-4755-82BA-5F5176A4B391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77830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8E07DC2-342A-4BBB-9AD0-6EB77E6533E9}" type="slidenum">
              <a:rPr kumimoji="0" lang="en-US" altLang="zh-TW" sz="1400" smtClean="0"/>
              <a:pPr eaLnBrk="1" hangingPunct="1"/>
              <a:t>25</a:t>
            </a:fld>
            <a:endParaRPr kumimoji="0" lang="en-US" altLang="zh-TW" sz="1400" smtClean="0"/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79463"/>
          </a:xfrm>
        </p:spPr>
        <p:txBody>
          <a:bodyPr/>
          <a:lstStyle/>
          <a:p>
            <a:pPr eaLnBrk="1" hangingPunct="1"/>
            <a:r>
              <a:rPr lang="en-US" altLang="zh-TW" smtClean="0"/>
              <a:t>Caching (1)</a:t>
            </a:r>
          </a:p>
        </p:txBody>
      </p:sp>
      <p:sp>
        <p:nvSpPr>
          <p:cNvPr id="3952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0375" y="1104900"/>
            <a:ext cx="8345488" cy="53070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smtClean="0"/>
              <a:t>Important principle, performed at many levels in a computer (in hardware, operating system, software)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smtClean="0"/>
              <a:t>Information in use </a:t>
            </a:r>
            <a:r>
              <a:rPr lang="en-US" altLang="zh-TW" sz="2800" smtClean="0">
                <a:solidFill>
                  <a:srgbClr val="000000"/>
                </a:solidFill>
              </a:rPr>
              <a:t>copied</a:t>
            </a:r>
            <a:r>
              <a:rPr lang="en-US" altLang="zh-TW" sz="2800" smtClean="0"/>
              <a:t> from </a:t>
            </a:r>
            <a:r>
              <a:rPr lang="en-US" altLang="zh-TW" sz="2800" smtClean="0">
                <a:solidFill>
                  <a:srgbClr val="F31F47"/>
                </a:solidFill>
              </a:rPr>
              <a:t>slower</a:t>
            </a:r>
            <a:r>
              <a:rPr lang="en-US" altLang="zh-TW" sz="2800" smtClean="0"/>
              <a:t> to </a:t>
            </a:r>
            <a:r>
              <a:rPr lang="en-US" altLang="zh-TW" sz="2800" smtClean="0">
                <a:solidFill>
                  <a:srgbClr val="F31F47"/>
                </a:solidFill>
              </a:rPr>
              <a:t>faster</a:t>
            </a:r>
            <a:r>
              <a:rPr lang="en-US" altLang="zh-TW" sz="2800" smtClean="0"/>
              <a:t> storage temporarily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smtClean="0"/>
              <a:t>Faster storage (cache) checked first to determine if information is there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If it is, information used directly from the cache (fast)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If not, data copied to cache and used there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800" smtClean="0"/>
              <a:t>Smaller than storage being cached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Cache management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Cache size and replacement policy</a:t>
            </a:r>
          </a:p>
        </p:txBody>
      </p:sp>
      <p:sp>
        <p:nvSpPr>
          <p:cNvPr id="7885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229F3A3-28D3-4CBC-B07D-86983E1138D0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7885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5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5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5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5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5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5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168687E-76E2-4339-9866-1456E00B6E78}" type="slidenum">
              <a:rPr kumimoji="0" lang="en-US" altLang="zh-TW" sz="1400" smtClean="0"/>
              <a:pPr eaLnBrk="1" hangingPunct="1"/>
              <a:t>26</a:t>
            </a:fld>
            <a:endParaRPr kumimoji="0" lang="en-US" altLang="zh-TW" sz="1400" smtClean="0"/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79463"/>
          </a:xfrm>
        </p:spPr>
        <p:txBody>
          <a:bodyPr/>
          <a:lstStyle/>
          <a:p>
            <a:pPr eaLnBrk="1" hangingPunct="1"/>
            <a:r>
              <a:rPr lang="en-US" altLang="zh-TW" smtClean="0"/>
              <a:t>Caching (2)</a:t>
            </a:r>
          </a:p>
        </p:txBody>
      </p:sp>
      <p:sp>
        <p:nvSpPr>
          <p:cNvPr id="3973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0375" y="1104900"/>
            <a:ext cx="8345488" cy="53070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Use of high-speed memory to hold </a:t>
            </a:r>
            <a:r>
              <a:rPr lang="en-US" altLang="zh-TW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recently-accessed data</a:t>
            </a:r>
            <a:r>
              <a:rPr lang="en-US" altLang="zh-TW" smtClean="0"/>
              <a:t>.</a:t>
            </a:r>
          </a:p>
          <a:p>
            <a:pPr eaLnBrk="1" hangingPunct="1">
              <a:defRPr/>
            </a:pPr>
            <a:r>
              <a:rPr lang="en-US" altLang="zh-TW" smtClean="0"/>
              <a:t>Caching introduces </a:t>
            </a:r>
            <a:r>
              <a:rPr lang="en-US" altLang="zh-TW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another level in storage hierarchy</a:t>
            </a:r>
            <a:r>
              <a:rPr lang="en-US" altLang="zh-TW" smtClean="0"/>
              <a:t>. This requires data that is simultaneously stored in more than one level to be </a:t>
            </a:r>
            <a:r>
              <a:rPr lang="en-US" altLang="zh-TW" b="1" i="1" smtClean="0">
                <a:solidFill>
                  <a:srgbClr val="F31F47"/>
                </a:solidFill>
              </a:rPr>
              <a:t>consistent</a:t>
            </a:r>
            <a:r>
              <a:rPr lang="en-US" altLang="zh-TW" smtClean="0"/>
              <a:t>.</a:t>
            </a:r>
          </a:p>
        </p:txBody>
      </p:sp>
      <p:sp>
        <p:nvSpPr>
          <p:cNvPr id="79877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06AFC04-4B8A-430C-876A-1A7CABB0E08C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79878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  <p:extLst>
      <p:ext uri="{BB962C8B-B14F-4D97-AF65-F5344CB8AC3E}">
        <p14:creationId xmlns:p14="http://schemas.microsoft.com/office/powerpoint/2010/main" val="490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7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7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89709D4-AA61-4791-A22B-A1F7889D1F00}" type="slidenum">
              <a:rPr kumimoji="0" lang="en-US" altLang="zh-TW" sz="1400" smtClean="0"/>
              <a:pPr eaLnBrk="1" hangingPunct="1"/>
              <a:t>27</a:t>
            </a:fld>
            <a:endParaRPr kumimoji="0" lang="en-US" altLang="zh-TW" sz="1400" smtClean="0"/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07375" cy="1143000"/>
          </a:xfrm>
        </p:spPr>
        <p:txBody>
          <a:bodyPr/>
          <a:lstStyle/>
          <a:p>
            <a:pPr eaLnBrk="1" hangingPunct="1"/>
            <a:r>
              <a:rPr lang="en-US" altLang="zh-TW" smtClean="0"/>
              <a:t>Performance of Various Levels of Storage</a:t>
            </a:r>
          </a:p>
        </p:txBody>
      </p:sp>
      <p:pic>
        <p:nvPicPr>
          <p:cNvPr id="8090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" t="23097" r="787" b="22835"/>
          <a:stretch>
            <a:fillRect/>
          </a:stretch>
        </p:blipFill>
        <p:spPr bwMode="auto">
          <a:xfrm>
            <a:off x="346075" y="1752600"/>
            <a:ext cx="8393113" cy="42576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901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6BFD84C-A8E2-494E-85A7-C39AFD7FBB77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80902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12844EC-575B-48B0-AE3E-9B34502FC930}" type="slidenum">
              <a:rPr kumimoji="0" lang="en-US" altLang="zh-TW" sz="1400" smtClean="0"/>
              <a:pPr eaLnBrk="1" hangingPunct="1"/>
              <a:t>28</a:t>
            </a:fld>
            <a:endParaRPr kumimoji="0" lang="en-US" altLang="zh-TW" sz="1400" smtClean="0"/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>
          <a:xfrm>
            <a:off x="344488" y="261938"/>
            <a:ext cx="8405812" cy="649287"/>
          </a:xfrm>
        </p:spPr>
        <p:txBody>
          <a:bodyPr/>
          <a:lstStyle/>
          <a:p>
            <a:pPr eaLnBrk="1" hangingPunct="1"/>
            <a:r>
              <a:rPr lang="en-US" altLang="zh-TW" sz="3200" smtClean="0"/>
              <a:t>Migration of Integer A from Disk to Register</a:t>
            </a:r>
          </a:p>
        </p:txBody>
      </p:sp>
      <p:sp>
        <p:nvSpPr>
          <p:cNvPr id="4014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2750" y="2581275"/>
            <a:ext cx="8450263" cy="38401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 typeface="Wingdings" pitchFamily="2" charset="2"/>
              <a:buChar char="n"/>
            </a:pPr>
            <a:r>
              <a:rPr lang="en-US" altLang="zh-TW" sz="2400" b="1" smtClean="0">
                <a:solidFill>
                  <a:srgbClr val="0066FF"/>
                </a:solidFill>
              </a:rPr>
              <a:t>Multitasking</a:t>
            </a:r>
            <a:r>
              <a:rPr lang="en-US" altLang="zh-TW" sz="2400" smtClean="0"/>
              <a:t> environments must be careful to use </a:t>
            </a:r>
            <a:r>
              <a:rPr lang="en-US" altLang="zh-TW" sz="2400" smtClean="0">
                <a:solidFill>
                  <a:srgbClr val="FF0066"/>
                </a:solidFill>
              </a:rPr>
              <a:t>most recent value</a:t>
            </a:r>
            <a:r>
              <a:rPr lang="en-US" altLang="zh-TW" sz="2400" smtClean="0"/>
              <a:t>, not matter where it is stored in the storage hierarchy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n"/>
            </a:pPr>
            <a:r>
              <a:rPr lang="en-US" altLang="zh-TW" sz="2400" b="1" smtClean="0">
                <a:solidFill>
                  <a:srgbClr val="0066FF"/>
                </a:solidFill>
              </a:rPr>
              <a:t>Multiprocessor</a:t>
            </a:r>
            <a:r>
              <a:rPr lang="en-US" altLang="zh-TW" sz="2400" smtClean="0"/>
              <a:t> environment must provide </a:t>
            </a:r>
            <a:r>
              <a:rPr lang="en-US" altLang="zh-TW" sz="2400" b="1" smtClean="0">
                <a:solidFill>
                  <a:srgbClr val="FF0066"/>
                </a:solidFill>
              </a:rPr>
              <a:t>cache coherency</a:t>
            </a:r>
            <a:r>
              <a:rPr lang="en-US" altLang="zh-TW" sz="2400" smtClean="0"/>
              <a:t> in hardware such that all CPUs have the most recent value in their cache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n"/>
            </a:pPr>
            <a:r>
              <a:rPr lang="en-US" altLang="zh-TW" sz="2400" b="1" smtClean="0">
                <a:solidFill>
                  <a:srgbClr val="0066FF"/>
                </a:solidFill>
              </a:rPr>
              <a:t>Distributed</a:t>
            </a:r>
            <a:r>
              <a:rPr lang="en-US" altLang="zh-TW" sz="2400" smtClean="0"/>
              <a:t> environment situation even more complex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Several copies of a datum can exist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Various solutions covered in Chapter 16</a:t>
            </a:r>
            <a:endParaRPr lang="en-US" altLang="zh-TW" sz="2400" smtClean="0"/>
          </a:p>
        </p:txBody>
      </p:sp>
      <p:pic>
        <p:nvPicPr>
          <p:cNvPr id="8192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" t="40875" r="1044" b="40834"/>
          <a:stretch>
            <a:fillRect/>
          </a:stretch>
        </p:blipFill>
        <p:spPr bwMode="auto">
          <a:xfrm>
            <a:off x="344488" y="1212850"/>
            <a:ext cx="8461375" cy="117792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26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FBD6D92-5134-425C-B823-DC3075EC189F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81927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1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1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1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1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3C64B83-99A4-4B00-952D-5A1A080179C1}" type="slidenum">
              <a:rPr kumimoji="0" lang="en-US" altLang="zh-TW" sz="1400" smtClean="0"/>
              <a:pPr eaLnBrk="1" hangingPunct="1"/>
              <a:t>29</a:t>
            </a:fld>
            <a:endParaRPr kumimoji="0" lang="en-US" altLang="zh-TW" sz="1400" smtClean="0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>
          <a:xfrm>
            <a:off x="398463" y="355600"/>
            <a:ext cx="7948612" cy="649288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31F47"/>
                </a:solidFill>
              </a:rPr>
              <a:t>Coherency and Consistency</a:t>
            </a:r>
            <a:endParaRPr lang="en-US" altLang="zh-TW" sz="4800" smtClean="0">
              <a:solidFill>
                <a:srgbClr val="F31F47"/>
              </a:solidFill>
            </a:endParaRPr>
          </a:p>
        </p:txBody>
      </p:sp>
      <p:sp>
        <p:nvSpPr>
          <p:cNvPr id="4034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2750" y="1195388"/>
            <a:ext cx="8401050" cy="51625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altLang="zh-TW" dirty="0" smtClean="0"/>
              <a:t>In a hierarchical storage system, the same data may appear in different levels.</a:t>
            </a: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altLang="zh-TW" dirty="0" smtClean="0"/>
              <a:t>Change the </a:t>
            </a:r>
            <a:r>
              <a:rPr lang="en-US" altLang="zh-TW" dirty="0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copy in register</a:t>
            </a:r>
            <a:r>
              <a:rPr lang="en-US" altLang="zh-TW" dirty="0" smtClean="0"/>
              <a:t> make it inconsistent with other copies</a:t>
            </a: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altLang="zh-TW" dirty="0" smtClean="0"/>
              <a:t>No problem for single task accessing (</a:t>
            </a:r>
            <a:r>
              <a:rPr lang="en-US" altLang="zh-TW" dirty="0" smtClean="0">
                <a:solidFill>
                  <a:srgbClr val="F31F4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Highest level</a:t>
            </a:r>
            <a:r>
              <a:rPr lang="en-US" altLang="zh-TW" dirty="0" smtClean="0"/>
              <a:t> is used)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altLang="zh-TW" dirty="0" smtClean="0"/>
              <a:t>Multi-task accessing: need to ensure each access obtain the most recent value</a:t>
            </a:r>
            <a:endParaRPr lang="en-US" altLang="zh-TW" sz="3600" dirty="0" smtClean="0"/>
          </a:p>
          <a:p>
            <a:pPr lvl="1" eaLnBrk="1" hangingPunct="1">
              <a:lnSpc>
                <a:spcPct val="90000"/>
              </a:lnSpc>
              <a:defRPr/>
            </a:pPr>
            <a:endParaRPr lang="en-US" altLang="zh-TW" sz="3200" dirty="0" smtClean="0"/>
          </a:p>
        </p:txBody>
      </p:sp>
      <p:sp>
        <p:nvSpPr>
          <p:cNvPr id="82949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612C13E-1BC7-4FD9-9926-2CA3D24B6796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82950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B52612E-D04D-44C0-A4FB-8759EC7361DB}" type="slidenum">
              <a:rPr kumimoji="0" lang="en-US" altLang="zh-TW" sz="1400" smtClean="0"/>
              <a:pPr eaLnBrk="1" hangingPunct="1"/>
              <a:t>30</a:t>
            </a:fld>
            <a:endParaRPr kumimoji="0" lang="en-US" altLang="zh-TW" sz="1400" smtClean="0"/>
          </a:p>
        </p:txBody>
      </p:sp>
      <p:sp>
        <p:nvSpPr>
          <p:cNvPr id="4055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77825" y="600075"/>
            <a:ext cx="8499475" cy="5570538"/>
          </a:xfrm>
        </p:spPr>
        <p:txBody>
          <a:bodyPr/>
          <a:lstStyle/>
          <a:p>
            <a:pPr eaLnBrk="1" hangingPunct="1"/>
            <a:r>
              <a:rPr lang="en-US" altLang="zh-TW" dirty="0" smtClean="0"/>
              <a:t>Multiprocessor environment </a:t>
            </a:r>
          </a:p>
          <a:p>
            <a:pPr lvl="1" eaLnBrk="1" hangingPunct="1"/>
            <a:r>
              <a:rPr lang="en-US" altLang="zh-TW" dirty="0" smtClean="0"/>
              <a:t>Each CPU has a local cache.</a:t>
            </a:r>
            <a:endParaRPr lang="en-US" altLang="zh-TW" b="1" dirty="0" smtClean="0">
              <a:solidFill>
                <a:srgbClr val="F31F47"/>
              </a:solidFill>
            </a:endParaRPr>
          </a:p>
          <a:p>
            <a:pPr lvl="1" eaLnBrk="1" hangingPunct="1"/>
            <a:r>
              <a:rPr lang="en-US" altLang="zh-TW" b="1" i="1" dirty="0" smtClean="0">
                <a:solidFill>
                  <a:srgbClr val="F31F47"/>
                </a:solidFill>
              </a:rPr>
              <a:t>Cache coherency problem</a:t>
            </a:r>
            <a:r>
              <a:rPr lang="en-US" altLang="zh-TW" dirty="0" smtClean="0"/>
              <a:t>: </a:t>
            </a:r>
            <a:r>
              <a:rPr lang="en-US" altLang="zh-TW" u="sng" dirty="0" smtClean="0">
                <a:solidFill>
                  <a:srgbClr val="0000FF"/>
                </a:solidFill>
              </a:rPr>
              <a:t>make sure </a:t>
            </a:r>
            <a:r>
              <a:rPr lang="en-US" altLang="zh-TW" dirty="0" smtClean="0"/>
              <a:t>that an update to a copy in one cache is immediately reflected in all copies of other caches.</a:t>
            </a:r>
          </a:p>
          <a:p>
            <a:pPr eaLnBrk="1" hangingPunct="1"/>
            <a:r>
              <a:rPr lang="en-US" altLang="zh-TW" dirty="0" smtClean="0"/>
              <a:t>Distributed environment</a:t>
            </a:r>
          </a:p>
          <a:p>
            <a:pPr lvl="1" eaLnBrk="1" hangingPunct="1"/>
            <a:r>
              <a:rPr lang="en-US" altLang="zh-TW" dirty="0" smtClean="0"/>
              <a:t>Several copies of the same file can be kept on different computers</a:t>
            </a:r>
          </a:p>
          <a:p>
            <a:pPr lvl="1"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</p:txBody>
      </p:sp>
      <p:sp>
        <p:nvSpPr>
          <p:cNvPr id="83972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2F66F49-4EE2-4CAE-8E08-B524257A87AB}" type="datetime1">
              <a:rPr kumimoji="0" lang="zh-TW" altLang="en-US" sz="1400" smtClean="0"/>
              <a:t>2018/2/19</a:t>
            </a:fld>
            <a:endParaRPr kumimoji="0" lang="en-US" altLang="zh-TW" sz="1400" dirty="0" smtClean="0"/>
          </a:p>
        </p:txBody>
      </p:sp>
      <p:sp>
        <p:nvSpPr>
          <p:cNvPr id="83973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dirty="0" smtClean="0"/>
          </a:p>
        </p:txBody>
      </p:sp>
      <p:sp>
        <p:nvSpPr>
          <p:cNvPr id="2" name="矩形 1"/>
          <p:cNvSpPr/>
          <p:nvPr/>
        </p:nvSpPr>
        <p:spPr>
          <a:xfrm>
            <a:off x="3803758" y="3000390"/>
            <a:ext cx="42899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u="sng" dirty="0">
                <a:solidFill>
                  <a:srgbClr val="0000FF"/>
                </a:solidFill>
                <a:latin typeface="Helvetica" pitchFamily="34" charset="0"/>
                <a:ea typeface="新細明體" charset="-120"/>
              </a:rPr>
              <a:t>Cache Coherency Protocols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5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5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5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5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B52612E-D04D-44C0-A4FB-8759EC7361DB}" type="slidenum">
              <a:rPr kumimoji="0" lang="en-US" altLang="zh-TW" sz="1400" smtClean="0"/>
              <a:pPr eaLnBrk="1" hangingPunct="1"/>
              <a:t>31</a:t>
            </a:fld>
            <a:endParaRPr kumimoji="0" lang="en-US" altLang="zh-TW" sz="1400" smtClean="0"/>
          </a:p>
        </p:txBody>
      </p:sp>
      <p:sp>
        <p:nvSpPr>
          <p:cNvPr id="83972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2F66F49-4EE2-4CAE-8E08-B524257A87AB}" type="datetime1">
              <a:rPr kumimoji="0" lang="zh-TW" altLang="en-US" sz="1400" smtClean="0"/>
              <a:t>2018/2/19</a:t>
            </a:fld>
            <a:endParaRPr kumimoji="0" lang="en-US" altLang="zh-TW" sz="1400" dirty="0" smtClean="0"/>
          </a:p>
        </p:txBody>
      </p:sp>
      <p:sp>
        <p:nvSpPr>
          <p:cNvPr id="83973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dirty="0" smtClean="0"/>
          </a:p>
        </p:txBody>
      </p:sp>
      <p:sp>
        <p:nvSpPr>
          <p:cNvPr id="2" name="矩形 1"/>
          <p:cNvSpPr/>
          <p:nvPr/>
        </p:nvSpPr>
        <p:spPr>
          <a:xfrm>
            <a:off x="2838558" y="2795595"/>
            <a:ext cx="42899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u="sng" dirty="0">
                <a:solidFill>
                  <a:srgbClr val="0000FF"/>
                </a:solidFill>
                <a:latin typeface="Helvetica" pitchFamily="34" charset="0"/>
                <a:ea typeface="新細明體" charset="-120"/>
              </a:rPr>
              <a:t>Cache Coherency Protocols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165" y="3462055"/>
            <a:ext cx="6686550" cy="337185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133" y="467360"/>
            <a:ext cx="6053668" cy="212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95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62F1ACF-3581-4077-99F5-5235B5641468}" type="slidenum">
              <a:rPr kumimoji="0" lang="en-US" altLang="zh-TW" sz="1400" smtClean="0"/>
              <a:pPr eaLnBrk="1" hangingPunct="1"/>
              <a:t>32</a:t>
            </a:fld>
            <a:endParaRPr kumimoji="0" lang="en-US" altLang="zh-TW" sz="1400" smtClean="0"/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350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Operating System Components</a:t>
            </a:r>
          </a:p>
        </p:txBody>
      </p:sp>
      <p:sp>
        <p:nvSpPr>
          <p:cNvPr id="4075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15900" y="838200"/>
            <a:ext cx="8648700" cy="5842000"/>
          </a:xfrm>
        </p:spPr>
        <p:txBody>
          <a:bodyPr/>
          <a:lstStyle/>
          <a:p>
            <a:pPr eaLnBrk="1" hangingPunct="1"/>
            <a:r>
              <a:rPr lang="en-US" altLang="zh-TW" sz="2800" b="1" smtClean="0"/>
              <a:t>Timesharing (multitasking)</a:t>
            </a:r>
            <a:r>
              <a:rPr lang="en-US" altLang="zh-TW" sz="2800" smtClean="0"/>
              <a:t> is logical extension in which CPU switches jobs so frequently that users can interact with each job while it is running, creating </a:t>
            </a:r>
            <a:r>
              <a:rPr lang="en-US" altLang="zh-TW" sz="2800" b="1" smtClean="0"/>
              <a:t>interactive</a:t>
            </a:r>
            <a:r>
              <a:rPr lang="en-US" altLang="zh-TW" sz="2800" smtClean="0"/>
              <a:t> computing</a:t>
            </a:r>
          </a:p>
          <a:p>
            <a:pPr lvl="1" eaLnBrk="1" hangingPunct="1"/>
            <a:r>
              <a:rPr lang="en-US" altLang="zh-TW" sz="2400" b="1" smtClean="0">
                <a:solidFill>
                  <a:srgbClr val="0000FF"/>
                </a:solidFill>
              </a:rPr>
              <a:t>Response time</a:t>
            </a:r>
            <a:r>
              <a:rPr lang="en-US" altLang="zh-TW" sz="2400" smtClean="0"/>
              <a:t> should be &lt; 1 second</a:t>
            </a:r>
          </a:p>
          <a:p>
            <a:pPr lvl="1" eaLnBrk="1" hangingPunct="1"/>
            <a:r>
              <a:rPr lang="en-US" altLang="zh-TW" sz="2400" smtClean="0"/>
              <a:t>Each user has at least one program executing in memory </a:t>
            </a:r>
            <a:r>
              <a:rPr lang="en-US" altLang="zh-TW" sz="2400" smtClean="0">
                <a:sym typeface="Wingdings 3" pitchFamily="18" charset="2"/>
              </a:rPr>
              <a:t></a:t>
            </a:r>
            <a:r>
              <a:rPr lang="en-US" altLang="zh-TW" sz="2400" b="1" smtClean="0">
                <a:solidFill>
                  <a:srgbClr val="0000FF"/>
                </a:solidFill>
                <a:sym typeface="Wingdings 3" pitchFamily="18" charset="2"/>
              </a:rPr>
              <a:t>process</a:t>
            </a:r>
          </a:p>
          <a:p>
            <a:pPr lvl="1" eaLnBrk="1" hangingPunct="1"/>
            <a:r>
              <a:rPr lang="en-US" altLang="zh-TW" sz="2400" smtClean="0">
                <a:sym typeface="Wingdings 3" pitchFamily="18" charset="2"/>
              </a:rPr>
              <a:t>If several jobs ready to run at the same time  </a:t>
            </a:r>
            <a:r>
              <a:rPr lang="en-US" altLang="zh-TW" sz="2400" b="1" smtClean="0">
                <a:solidFill>
                  <a:srgbClr val="0000FF"/>
                </a:solidFill>
                <a:sym typeface="Wingdings 3" pitchFamily="18" charset="2"/>
              </a:rPr>
              <a:t>CPU scheduling</a:t>
            </a:r>
          </a:p>
          <a:p>
            <a:pPr lvl="1" eaLnBrk="1" hangingPunct="1"/>
            <a:r>
              <a:rPr lang="en-US" altLang="zh-TW" sz="2400" smtClean="0">
                <a:sym typeface="Wingdings 3" pitchFamily="18" charset="2"/>
              </a:rPr>
              <a:t>If processes don</a:t>
            </a:r>
            <a:r>
              <a:rPr lang="en-US" altLang="zh-TW" sz="2400" smtClean="0">
                <a:latin typeface="Helvetica" pitchFamily="34" charset="0"/>
                <a:sym typeface="Wingdings 3" pitchFamily="18" charset="2"/>
              </a:rPr>
              <a:t>’</a:t>
            </a:r>
            <a:r>
              <a:rPr lang="en-US" altLang="zh-TW" sz="2400" smtClean="0">
                <a:sym typeface="Wingdings 3" pitchFamily="18" charset="2"/>
              </a:rPr>
              <a:t>t fit in memory, </a:t>
            </a:r>
            <a:r>
              <a:rPr lang="en-US" altLang="zh-TW" sz="2400" b="1" smtClean="0">
                <a:solidFill>
                  <a:srgbClr val="0000FF"/>
                </a:solidFill>
                <a:sym typeface="Wingdings 3" pitchFamily="18" charset="2"/>
              </a:rPr>
              <a:t>swapping</a:t>
            </a:r>
            <a:r>
              <a:rPr lang="en-US" altLang="zh-TW" sz="2400" smtClean="0">
                <a:sym typeface="Wingdings 3" pitchFamily="18" charset="2"/>
              </a:rPr>
              <a:t> moves them in and out to run</a:t>
            </a:r>
          </a:p>
          <a:p>
            <a:pPr lvl="1" eaLnBrk="1" hangingPunct="1"/>
            <a:r>
              <a:rPr lang="en-US" altLang="zh-TW" sz="2400" b="1" smtClean="0">
                <a:solidFill>
                  <a:srgbClr val="0000FF"/>
                </a:solidFill>
                <a:sym typeface="Wingdings 3" pitchFamily="18" charset="2"/>
              </a:rPr>
              <a:t>Virtual memory</a:t>
            </a:r>
            <a:r>
              <a:rPr lang="en-US" altLang="zh-TW" sz="2400" smtClean="0">
                <a:sym typeface="Wingdings 3" pitchFamily="18" charset="2"/>
              </a:rPr>
              <a:t> allows execution of processes not completely in memory</a:t>
            </a:r>
          </a:p>
        </p:txBody>
      </p:sp>
      <p:sp>
        <p:nvSpPr>
          <p:cNvPr id="84997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158C8466-AB71-4C88-9B7F-BB5DBD256E67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84998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A933774-2673-4677-B23C-AB29FD82DE6F}" type="slidenum">
              <a:rPr kumimoji="0" lang="en-US" altLang="zh-TW" sz="1400" smtClean="0"/>
              <a:pPr eaLnBrk="1" hangingPunct="1"/>
              <a:t>33</a:t>
            </a:fld>
            <a:endParaRPr kumimoji="0" lang="en-US" altLang="zh-TW" sz="1400" smtClean="0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zh-TW" smtClean="0"/>
              <a:t>Process Management</a:t>
            </a:r>
          </a:p>
        </p:txBody>
      </p:sp>
      <p:sp>
        <p:nvSpPr>
          <p:cNvPr id="4116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65100" y="1120775"/>
            <a:ext cx="8775700" cy="5537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 typeface="Wingdings" pitchFamily="2" charset="2"/>
              <a:buChar char="p"/>
            </a:pPr>
            <a:r>
              <a:rPr lang="en-US" altLang="zh-TW" sz="2400" smtClean="0">
                <a:solidFill>
                  <a:srgbClr val="FF0066"/>
                </a:solidFill>
              </a:rPr>
              <a:t>A process is a program in execution</a:t>
            </a:r>
            <a:r>
              <a:rPr lang="en-US" altLang="zh-TW" sz="2400" smtClean="0"/>
              <a:t>. It is a unit of work within the system. Program is a </a:t>
            </a:r>
            <a:r>
              <a:rPr lang="en-US" altLang="zh-TW" sz="2400" i="1" smtClean="0">
                <a:solidFill>
                  <a:srgbClr val="FF3300"/>
                </a:solidFill>
              </a:rPr>
              <a:t>passive entity</a:t>
            </a:r>
            <a:r>
              <a:rPr lang="en-US" altLang="zh-TW" sz="2400" smtClean="0"/>
              <a:t>, process is an </a:t>
            </a:r>
            <a:r>
              <a:rPr lang="en-US" altLang="zh-TW" sz="2400" i="1" smtClean="0">
                <a:solidFill>
                  <a:srgbClr val="FF3300"/>
                </a:solidFill>
              </a:rPr>
              <a:t>active entity</a:t>
            </a:r>
            <a:r>
              <a:rPr lang="en-US" altLang="zh-TW" sz="24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smtClean="0"/>
              <a:t>Process needs resources to accomplish its task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000" smtClean="0"/>
              <a:t>CPU, memory, I/O, files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000" smtClean="0"/>
              <a:t>Initialization data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smtClean="0">
                <a:solidFill>
                  <a:srgbClr val="FF0066"/>
                </a:solidFill>
              </a:rPr>
              <a:t>Single-threaded process</a:t>
            </a:r>
            <a:r>
              <a:rPr lang="en-US" altLang="zh-TW" sz="2400" smtClean="0"/>
              <a:t> has one </a:t>
            </a:r>
            <a:r>
              <a:rPr lang="en-US" altLang="zh-TW" sz="2400" b="1" smtClean="0"/>
              <a:t>program counter</a:t>
            </a:r>
            <a:r>
              <a:rPr lang="en-US" altLang="zh-TW" sz="2400" smtClean="0"/>
              <a:t> specifying location of next instruction to execute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000" smtClean="0"/>
              <a:t>Process executes instructions sequentially, one at a time, until completion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smtClean="0">
                <a:solidFill>
                  <a:srgbClr val="FF0066"/>
                </a:solidFill>
              </a:rPr>
              <a:t>Multi-threaded process</a:t>
            </a:r>
            <a:r>
              <a:rPr lang="en-US" altLang="zh-TW" sz="2400" smtClean="0"/>
              <a:t> has one program counter per thread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smtClean="0"/>
              <a:t>Typically system has many processes, some user, some operating system running concurrently on one or more CPUs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000" smtClean="0"/>
              <a:t>Concurrency by multiplexing the CPUs among the processes / threads</a:t>
            </a:r>
            <a:endParaRPr lang="en-US" altLang="zh-TW" sz="2100" b="1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 typeface="Wingdings" pitchFamily="2" charset="2"/>
              <a:buChar char="p"/>
            </a:pPr>
            <a:endParaRPr lang="en-US" altLang="zh-TW" sz="2000" b="1" smtClean="0"/>
          </a:p>
        </p:txBody>
      </p:sp>
      <p:sp>
        <p:nvSpPr>
          <p:cNvPr id="86021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2BDF7A9-EE42-4C02-8F52-C46152A87C15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86022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1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1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1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1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AE0498F-9A0B-47E6-982D-C8C1A0155C59}" type="slidenum">
              <a:rPr kumimoji="0" lang="en-US" altLang="zh-TW" sz="1400" smtClean="0"/>
              <a:pPr eaLnBrk="1" hangingPunct="1"/>
              <a:t>34</a:t>
            </a:fld>
            <a:endParaRPr kumimoji="0" lang="en-US" altLang="zh-TW" sz="1400" smtClean="0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15963"/>
          </a:xfrm>
        </p:spPr>
        <p:txBody>
          <a:bodyPr/>
          <a:lstStyle/>
          <a:p>
            <a:pPr eaLnBrk="1" hangingPunct="1"/>
            <a:r>
              <a:rPr lang="en-US" altLang="zh-TW" smtClean="0"/>
              <a:t>Process Management Activities</a:t>
            </a:r>
          </a:p>
        </p:txBody>
      </p:sp>
      <p:sp>
        <p:nvSpPr>
          <p:cNvPr id="4136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36550" y="982663"/>
            <a:ext cx="8216900" cy="47117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mtClean="0">
                <a:solidFill>
                  <a:srgbClr val="FF0066"/>
                </a:solidFill>
              </a:rPr>
              <a:t>The operating system is responsible for the following activities in  connection with process management:</a:t>
            </a:r>
          </a:p>
          <a:p>
            <a:pPr lvl="1" eaLnBrk="1" hangingPunct="1"/>
            <a:r>
              <a:rPr lang="en-US" altLang="zh-TW" smtClean="0">
                <a:solidFill>
                  <a:srgbClr val="0066FF"/>
                </a:solidFill>
              </a:rPr>
              <a:t>Creating</a:t>
            </a:r>
            <a:r>
              <a:rPr lang="en-US" altLang="zh-TW" smtClean="0"/>
              <a:t> and </a:t>
            </a:r>
            <a:r>
              <a:rPr lang="en-US" altLang="zh-TW" smtClean="0">
                <a:solidFill>
                  <a:srgbClr val="0066FF"/>
                </a:solidFill>
              </a:rPr>
              <a:t>deleting</a:t>
            </a:r>
            <a:r>
              <a:rPr lang="en-US" altLang="zh-TW" smtClean="0"/>
              <a:t> both user and system processes</a:t>
            </a:r>
          </a:p>
          <a:p>
            <a:pPr lvl="1" eaLnBrk="1" hangingPunct="1"/>
            <a:r>
              <a:rPr lang="en-US" altLang="zh-TW" smtClean="0">
                <a:solidFill>
                  <a:srgbClr val="0066FF"/>
                </a:solidFill>
              </a:rPr>
              <a:t>Suspending</a:t>
            </a:r>
            <a:r>
              <a:rPr lang="en-US" altLang="zh-TW" smtClean="0"/>
              <a:t> and </a:t>
            </a:r>
            <a:r>
              <a:rPr lang="en-US" altLang="zh-TW" smtClean="0">
                <a:solidFill>
                  <a:srgbClr val="0066FF"/>
                </a:solidFill>
              </a:rPr>
              <a:t>resuming</a:t>
            </a:r>
            <a:r>
              <a:rPr lang="en-US" altLang="zh-TW" smtClean="0"/>
              <a:t> processes</a:t>
            </a:r>
          </a:p>
          <a:p>
            <a:pPr lvl="1" eaLnBrk="1" hangingPunct="1"/>
            <a:r>
              <a:rPr lang="en-US" altLang="zh-TW" smtClean="0"/>
              <a:t>Providing mechanisms for process </a:t>
            </a:r>
            <a:r>
              <a:rPr lang="en-US" altLang="zh-TW" smtClean="0">
                <a:solidFill>
                  <a:srgbClr val="0066FF"/>
                </a:solidFill>
              </a:rPr>
              <a:t>synchronization</a:t>
            </a:r>
          </a:p>
          <a:p>
            <a:pPr lvl="1" eaLnBrk="1" hangingPunct="1"/>
            <a:r>
              <a:rPr lang="en-US" altLang="zh-TW" smtClean="0"/>
              <a:t>Providing mechanisms for process </a:t>
            </a:r>
            <a:r>
              <a:rPr lang="en-US" altLang="zh-TW" smtClean="0">
                <a:solidFill>
                  <a:srgbClr val="0066FF"/>
                </a:solidFill>
              </a:rPr>
              <a:t>communication</a:t>
            </a:r>
          </a:p>
          <a:p>
            <a:pPr lvl="1" eaLnBrk="1" hangingPunct="1"/>
            <a:r>
              <a:rPr lang="en-US" altLang="zh-TW" smtClean="0"/>
              <a:t>Providing mechanisms for </a:t>
            </a:r>
            <a:r>
              <a:rPr lang="en-US" altLang="zh-TW" smtClean="0">
                <a:solidFill>
                  <a:srgbClr val="0066FF"/>
                </a:solidFill>
              </a:rPr>
              <a:t>deadlock handling</a:t>
            </a:r>
          </a:p>
        </p:txBody>
      </p:sp>
      <p:sp>
        <p:nvSpPr>
          <p:cNvPr id="87045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7EEB971-E7B1-4A43-9E73-9E1E6F85150A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87046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B5B2BE3-D568-437F-BA4B-7E52CDFF2C47}" type="slidenum">
              <a:rPr kumimoji="0" lang="en-US" altLang="zh-TW" sz="1400" smtClean="0"/>
              <a:pPr eaLnBrk="1" hangingPunct="1"/>
              <a:t>35</a:t>
            </a:fld>
            <a:endParaRPr kumimoji="0" lang="en-US" altLang="zh-TW" sz="1400" smtClean="0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89000"/>
          </a:xfrm>
        </p:spPr>
        <p:txBody>
          <a:bodyPr/>
          <a:lstStyle/>
          <a:p>
            <a:pPr eaLnBrk="1" hangingPunct="1"/>
            <a:r>
              <a:rPr lang="en-US" altLang="zh-TW" smtClean="0"/>
              <a:t>Memory Management</a:t>
            </a:r>
          </a:p>
        </p:txBody>
      </p:sp>
      <p:sp>
        <p:nvSpPr>
          <p:cNvPr id="4157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9100" y="1612900"/>
            <a:ext cx="8216900" cy="4711700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Memory management determines </a:t>
            </a:r>
            <a:r>
              <a:rPr lang="en-US" altLang="zh-TW" sz="2800" smtClean="0">
                <a:solidFill>
                  <a:srgbClr val="0066FF"/>
                </a:solidFill>
              </a:rPr>
              <a:t>what is in memory</a:t>
            </a:r>
            <a:r>
              <a:rPr lang="en-US" altLang="zh-TW" sz="2800" smtClean="0"/>
              <a:t> when</a:t>
            </a:r>
          </a:p>
          <a:p>
            <a:pPr lvl="1" eaLnBrk="1" hangingPunct="1"/>
            <a:r>
              <a:rPr lang="en-US" altLang="zh-TW" sz="2400" smtClean="0"/>
              <a:t>Optimizing </a:t>
            </a:r>
            <a:r>
              <a:rPr lang="en-US" altLang="zh-TW" sz="2400" smtClean="0">
                <a:solidFill>
                  <a:srgbClr val="FF0066"/>
                </a:solidFill>
              </a:rPr>
              <a:t>CPU utilization</a:t>
            </a:r>
            <a:r>
              <a:rPr lang="en-US" altLang="zh-TW" sz="2400" smtClean="0"/>
              <a:t> and </a:t>
            </a:r>
            <a:r>
              <a:rPr lang="en-US" altLang="zh-TW" sz="2400" smtClean="0">
                <a:solidFill>
                  <a:srgbClr val="FF0066"/>
                </a:solidFill>
              </a:rPr>
              <a:t>computer response to users</a:t>
            </a:r>
          </a:p>
          <a:p>
            <a:pPr eaLnBrk="1" hangingPunct="1"/>
            <a:r>
              <a:rPr lang="en-US" altLang="zh-TW" sz="2800" smtClean="0"/>
              <a:t>Memory management activities</a:t>
            </a:r>
          </a:p>
          <a:p>
            <a:pPr lvl="1" eaLnBrk="1" hangingPunct="1"/>
            <a:r>
              <a:rPr lang="en-US" altLang="zh-TW" sz="2400" smtClean="0"/>
              <a:t>Keeping </a:t>
            </a:r>
            <a:r>
              <a:rPr lang="en-US" altLang="zh-TW" sz="2400" smtClean="0">
                <a:solidFill>
                  <a:srgbClr val="FF0066"/>
                </a:solidFill>
              </a:rPr>
              <a:t>track</a:t>
            </a:r>
            <a:r>
              <a:rPr lang="en-US" altLang="zh-TW" sz="2400" smtClean="0"/>
              <a:t> of which parts of memory are currently being used and by whom</a:t>
            </a:r>
          </a:p>
          <a:p>
            <a:pPr lvl="1" eaLnBrk="1" hangingPunct="1"/>
            <a:r>
              <a:rPr lang="en-US" altLang="zh-TW" sz="2400" smtClean="0"/>
              <a:t>Deciding which processes (or parts thereof) and data to </a:t>
            </a:r>
            <a:r>
              <a:rPr lang="en-US" altLang="zh-TW" sz="2400" smtClean="0">
                <a:solidFill>
                  <a:srgbClr val="FF0066"/>
                </a:solidFill>
              </a:rPr>
              <a:t>move into and out</a:t>
            </a:r>
            <a:r>
              <a:rPr lang="en-US" altLang="zh-TW" sz="2400" smtClean="0"/>
              <a:t> of memory</a:t>
            </a:r>
          </a:p>
          <a:p>
            <a:pPr lvl="1" eaLnBrk="1" hangingPunct="1"/>
            <a:r>
              <a:rPr lang="en-US" altLang="zh-TW" sz="2400" smtClean="0">
                <a:solidFill>
                  <a:srgbClr val="FF0066"/>
                </a:solidFill>
              </a:rPr>
              <a:t>Allocating</a:t>
            </a:r>
            <a:r>
              <a:rPr lang="en-US" altLang="zh-TW" sz="2400" smtClean="0"/>
              <a:t> and </a:t>
            </a:r>
            <a:r>
              <a:rPr lang="en-US" altLang="zh-TW" sz="2400" smtClean="0">
                <a:solidFill>
                  <a:srgbClr val="FF0066"/>
                </a:solidFill>
              </a:rPr>
              <a:t>deallocating</a:t>
            </a:r>
            <a:r>
              <a:rPr lang="en-US" altLang="zh-TW" sz="2400" smtClean="0"/>
              <a:t> memory space as needed</a:t>
            </a:r>
            <a:endParaRPr lang="en-US" altLang="zh-TW" sz="2400" b="1" smtClean="0"/>
          </a:p>
        </p:txBody>
      </p:sp>
      <p:sp>
        <p:nvSpPr>
          <p:cNvPr id="88069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9346A61-0B6B-46B1-9F8D-154B0BA2661A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88070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86DA7BA-6717-4293-BBA2-9C0748A83A84}" type="slidenum">
              <a:rPr kumimoji="0" lang="en-US" altLang="zh-TW" sz="1400" smtClean="0"/>
              <a:pPr eaLnBrk="1" hangingPunct="1"/>
              <a:t>36</a:t>
            </a:fld>
            <a:endParaRPr kumimoji="0" lang="en-US" altLang="zh-TW" sz="1400" smtClean="0"/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55650"/>
          </a:xfrm>
        </p:spPr>
        <p:txBody>
          <a:bodyPr/>
          <a:lstStyle/>
          <a:p>
            <a:pPr eaLnBrk="1" hangingPunct="1"/>
            <a:r>
              <a:rPr lang="en-US" altLang="zh-TW" smtClean="0"/>
              <a:t>Storage Management</a:t>
            </a:r>
          </a:p>
        </p:txBody>
      </p:sp>
      <p:sp>
        <p:nvSpPr>
          <p:cNvPr id="4177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73063" y="1090613"/>
            <a:ext cx="8429625" cy="51244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OS provides uniform, logical view of information storage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Abstracts physical properties to </a:t>
            </a:r>
            <a:r>
              <a:rPr lang="en-US" altLang="zh-TW" sz="2000" smtClean="0">
                <a:solidFill>
                  <a:srgbClr val="FF0066"/>
                </a:solidFill>
              </a:rPr>
              <a:t>logical storage unit</a:t>
            </a:r>
            <a:r>
              <a:rPr lang="en-US" altLang="zh-TW" sz="2000" smtClean="0"/>
              <a:t>  - </a:t>
            </a:r>
            <a:r>
              <a:rPr lang="en-US" altLang="zh-TW" sz="2000" b="1" smtClean="0">
                <a:solidFill>
                  <a:srgbClr val="FF0066"/>
                </a:solidFill>
              </a:rPr>
              <a:t>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Each medium is controlled by device (i.e., disk drive, tape drive)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800" smtClean="0"/>
              <a:t>Varying properties include access </a:t>
            </a:r>
            <a:r>
              <a:rPr lang="en-US" altLang="zh-TW" sz="1800" smtClean="0">
                <a:solidFill>
                  <a:srgbClr val="0066FF"/>
                </a:solidFill>
              </a:rPr>
              <a:t>speed, capacity, data-transfer rate, access method</a:t>
            </a:r>
            <a:r>
              <a:rPr lang="en-US" altLang="zh-TW" sz="1800" smtClean="0"/>
              <a:t> (sequential or random)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File-System management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Files usually organized into </a:t>
            </a:r>
            <a:r>
              <a:rPr lang="en-US" altLang="zh-TW" sz="2000" smtClean="0">
                <a:solidFill>
                  <a:srgbClr val="FF0066"/>
                </a:solidFill>
              </a:rPr>
              <a:t>directories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>
                <a:solidFill>
                  <a:srgbClr val="FF0066"/>
                </a:solidFill>
              </a:rPr>
              <a:t>Access control</a:t>
            </a:r>
            <a:r>
              <a:rPr lang="en-US" altLang="zh-TW" sz="2000" smtClean="0"/>
              <a:t> on most systems to determine who can access what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OS activities include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800" smtClean="0"/>
              <a:t>Creating and deleting files and directories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800" smtClean="0"/>
              <a:t>Primitives to manipulate files and dirs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800" smtClean="0"/>
              <a:t>Mapping files onto secondary storage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800" smtClean="0"/>
              <a:t>Backup files onto stable (non-volatile) storage media</a:t>
            </a:r>
            <a:endParaRPr lang="en-US" altLang="zh-TW" sz="1800" b="1" smtClean="0"/>
          </a:p>
        </p:txBody>
      </p:sp>
      <p:sp>
        <p:nvSpPr>
          <p:cNvPr id="8909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D16FE72-2B9C-43B1-82A7-D8201E31B21B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8909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7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7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7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7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7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7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7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7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7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7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7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7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7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7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7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7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7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7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7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7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7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7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17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17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627EDC5-DCDC-4B2F-B34C-A8293A70F0E1}" type="slidenum">
              <a:rPr kumimoji="0" lang="en-US" altLang="zh-TW" sz="1400" smtClean="0"/>
              <a:pPr eaLnBrk="1" hangingPunct="1"/>
              <a:t>37</a:t>
            </a:fld>
            <a:endParaRPr kumimoji="0" lang="en-US" altLang="zh-TW" sz="1400" smtClean="0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65200"/>
          </a:xfrm>
        </p:spPr>
        <p:txBody>
          <a:bodyPr/>
          <a:lstStyle/>
          <a:p>
            <a:pPr eaLnBrk="1" hangingPunct="1"/>
            <a:r>
              <a:rPr lang="en-US" altLang="zh-TW" smtClean="0"/>
              <a:t>Mass-Storage Management</a:t>
            </a:r>
          </a:p>
        </p:txBody>
      </p:sp>
      <p:sp>
        <p:nvSpPr>
          <p:cNvPr id="419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9100" y="1320800"/>
            <a:ext cx="8420100" cy="5118100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Entire speed of computer operation hinges on disk subsystem and its algorithms</a:t>
            </a:r>
          </a:p>
          <a:p>
            <a:pPr eaLnBrk="1" hangingPunct="1"/>
            <a:r>
              <a:rPr lang="en-US" altLang="zh-TW" sz="2800" smtClean="0"/>
              <a:t>OS activities</a:t>
            </a:r>
          </a:p>
          <a:p>
            <a:pPr lvl="1" eaLnBrk="1" hangingPunct="1"/>
            <a:r>
              <a:rPr lang="en-US" altLang="zh-TW" sz="2400" smtClean="0"/>
              <a:t>Free-space management</a:t>
            </a:r>
          </a:p>
          <a:p>
            <a:pPr lvl="1" eaLnBrk="1" hangingPunct="1"/>
            <a:r>
              <a:rPr lang="en-US" altLang="zh-TW" sz="2400" smtClean="0"/>
              <a:t>Storage allocation</a:t>
            </a:r>
          </a:p>
          <a:p>
            <a:pPr lvl="1" eaLnBrk="1" hangingPunct="1"/>
            <a:r>
              <a:rPr lang="en-US" altLang="zh-TW" sz="2400" smtClean="0"/>
              <a:t>Disk scheduling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sz="2800" smtClean="0"/>
              <a:t>Some storage need not be fast</a:t>
            </a:r>
          </a:p>
          <a:p>
            <a:pPr lvl="1" eaLnBrk="1" hangingPunct="1"/>
            <a:r>
              <a:rPr lang="en-US" altLang="zh-TW" sz="2400" smtClean="0"/>
              <a:t>Tertiary storage includes optical storage, magnetic tape</a:t>
            </a:r>
          </a:p>
          <a:p>
            <a:pPr lvl="1" eaLnBrk="1" hangingPunct="1"/>
            <a:r>
              <a:rPr lang="en-US" altLang="zh-TW" sz="2400" smtClean="0"/>
              <a:t>Varies between WORM (write-once, read-many-times) and RW (read-write)</a:t>
            </a:r>
          </a:p>
        </p:txBody>
      </p:sp>
      <p:sp>
        <p:nvSpPr>
          <p:cNvPr id="90117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B2E15DD-06C8-46A7-B307-20FD397D7E00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90118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9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9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9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9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9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9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9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2E5A7DF-E0B2-43D7-A72D-1A6AF306AE79}" type="slidenum">
              <a:rPr kumimoji="0" lang="en-US" altLang="zh-TW" sz="1400" smtClean="0"/>
              <a:pPr eaLnBrk="1" hangingPunct="1"/>
              <a:t>38</a:t>
            </a:fld>
            <a:endParaRPr kumimoji="0" lang="en-US" altLang="zh-TW" sz="1400" smtClean="0"/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49300"/>
          </a:xfrm>
        </p:spPr>
        <p:txBody>
          <a:bodyPr/>
          <a:lstStyle/>
          <a:p>
            <a:pPr eaLnBrk="1" hangingPunct="1"/>
            <a:r>
              <a:rPr lang="en-US" altLang="zh-TW" smtClean="0"/>
              <a:t>I/O Subsystem</a:t>
            </a:r>
          </a:p>
        </p:txBody>
      </p:sp>
      <p:sp>
        <p:nvSpPr>
          <p:cNvPr id="4218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73063" y="1016000"/>
            <a:ext cx="8420100" cy="51181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mtClean="0"/>
              <a:t>One purpose of OS is to </a:t>
            </a:r>
            <a:r>
              <a:rPr lang="en-US" altLang="zh-TW" smtClean="0">
                <a:solidFill>
                  <a:srgbClr val="FF0066"/>
                </a:solidFill>
              </a:rPr>
              <a:t>hide peculiarities of hardware devices </a:t>
            </a:r>
            <a:r>
              <a:rPr lang="en-US" altLang="zh-TW" smtClean="0">
                <a:solidFill>
                  <a:srgbClr val="0066FF"/>
                </a:solidFill>
              </a:rPr>
              <a:t>from the user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/>
              <a:t>I/O subsystem responsible for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mtClean="0"/>
              <a:t>Memory management of I/O including</a:t>
            </a:r>
          </a:p>
          <a:p>
            <a:pPr lvl="2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mtClean="0">
                <a:solidFill>
                  <a:srgbClr val="FF0066"/>
                </a:solidFill>
              </a:rPr>
              <a:t>buffering</a:t>
            </a:r>
            <a:r>
              <a:rPr lang="en-US" altLang="zh-TW" smtClean="0"/>
              <a:t> (storing data temporarily while it is being transferred), </a:t>
            </a:r>
          </a:p>
          <a:p>
            <a:pPr lvl="2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mtClean="0">
                <a:solidFill>
                  <a:srgbClr val="FF0066"/>
                </a:solidFill>
              </a:rPr>
              <a:t>caching</a:t>
            </a:r>
            <a:r>
              <a:rPr lang="en-US" altLang="zh-TW" smtClean="0"/>
              <a:t> (storing parts of data in faster storage for performance), </a:t>
            </a:r>
          </a:p>
          <a:p>
            <a:pPr lvl="2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mtClean="0">
                <a:solidFill>
                  <a:srgbClr val="FF0066"/>
                </a:solidFill>
              </a:rPr>
              <a:t>spooling</a:t>
            </a:r>
            <a:r>
              <a:rPr lang="en-US" altLang="zh-TW" smtClean="0"/>
              <a:t> (the overlapping of output of one job with input of other jobs)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mtClean="0"/>
              <a:t>General device-driver interface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mtClean="0"/>
              <a:t>Drivers for specific hardware devices</a:t>
            </a:r>
          </a:p>
        </p:txBody>
      </p:sp>
      <p:sp>
        <p:nvSpPr>
          <p:cNvPr id="91141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8DBC4D0-C62B-4644-84D1-63D677BB2085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91142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1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21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21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1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1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C4748A-27DD-4FBD-BA29-E4AF83ADF253}" type="slidenum">
              <a:rPr kumimoji="0" lang="en-US" altLang="zh-TW" sz="1400" smtClean="0"/>
              <a:pPr eaLnBrk="1" hangingPunct="1"/>
              <a:t>39</a:t>
            </a:fld>
            <a:endParaRPr kumimoji="0" lang="en-US" altLang="zh-TW" sz="1400" smtClean="0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25488"/>
          </a:xfrm>
        </p:spPr>
        <p:txBody>
          <a:bodyPr/>
          <a:lstStyle/>
          <a:p>
            <a:pPr eaLnBrk="1" hangingPunct="1"/>
            <a:r>
              <a:rPr lang="en-US" altLang="zh-TW" smtClean="0"/>
              <a:t>Protection and Security</a:t>
            </a:r>
          </a:p>
        </p:txBody>
      </p:sp>
      <p:sp>
        <p:nvSpPr>
          <p:cNvPr id="9216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71500" y="1004888"/>
            <a:ext cx="8078788" cy="51673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800" b="1" smtClean="0">
                <a:solidFill>
                  <a:srgbClr val="3366FF"/>
                </a:solidFill>
              </a:rPr>
              <a:t>Protection </a:t>
            </a:r>
            <a:r>
              <a:rPr lang="en-US" altLang="zh-TW" sz="2800" smtClean="0"/>
              <a:t>– </a:t>
            </a:r>
            <a:r>
              <a:rPr lang="en-US" altLang="zh-TW" sz="2400" smtClean="0"/>
              <a:t>the mechanism for controlling access</a:t>
            </a:r>
            <a:endParaRPr lang="en-US" altLang="zh-TW" sz="2800" smtClean="0"/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800" b="1" smtClean="0">
                <a:solidFill>
                  <a:srgbClr val="3366FF"/>
                </a:solidFill>
              </a:rPr>
              <a:t>Security </a:t>
            </a:r>
            <a:r>
              <a:rPr lang="en-US" altLang="zh-TW" sz="2800" smtClean="0"/>
              <a:t>– the </a:t>
            </a:r>
            <a:r>
              <a:rPr lang="en-US" altLang="zh-TW" sz="2400" smtClean="0"/>
              <a:t>defense of the system against internal and external attacks</a:t>
            </a:r>
            <a:endParaRPr lang="en-US" altLang="zh-TW" sz="2800" smtClean="0"/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400" smtClean="0"/>
              <a:t>Systems generally first distinguish among users, to determine who </a:t>
            </a:r>
            <a:r>
              <a:rPr lang="en-US" altLang="zh-TW" sz="2400" smtClean="0">
                <a:solidFill>
                  <a:srgbClr val="FF0000"/>
                </a:solidFill>
              </a:rPr>
              <a:t>can do what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000" smtClean="0"/>
              <a:t>User identities (</a:t>
            </a:r>
            <a:r>
              <a:rPr lang="en-US" altLang="zh-TW" sz="2000" b="1" smtClean="0">
                <a:solidFill>
                  <a:srgbClr val="3366FF"/>
                </a:solidFill>
              </a:rPr>
              <a:t>user IDs</a:t>
            </a:r>
            <a:r>
              <a:rPr lang="en-US" altLang="zh-TW" sz="2000" smtClean="0"/>
              <a:t>, security IDs) include name and associated number, one per user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000" smtClean="0"/>
              <a:t>User ID then associated with all files, processes of that user to determine access control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000" smtClean="0"/>
              <a:t>Group identifier (</a:t>
            </a:r>
            <a:r>
              <a:rPr lang="en-US" altLang="zh-TW" sz="2000" b="1" smtClean="0">
                <a:solidFill>
                  <a:srgbClr val="3366FF"/>
                </a:solidFill>
              </a:rPr>
              <a:t>group ID</a:t>
            </a:r>
            <a:r>
              <a:rPr lang="en-US" altLang="zh-TW" sz="2000" smtClean="0"/>
              <a:t>) allows set of users to be defined and controls managed, then also associated with each process, file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000" b="1" smtClean="0">
                <a:solidFill>
                  <a:srgbClr val="3366FF"/>
                </a:solidFill>
              </a:rPr>
              <a:t>Privilege escalation </a:t>
            </a:r>
            <a:r>
              <a:rPr lang="en-US" altLang="zh-TW" sz="2000" smtClean="0"/>
              <a:t>allows user to change to effective ID with more rights, such as </a:t>
            </a:r>
            <a:r>
              <a:rPr lang="en-US" altLang="zh-TW" sz="2000" smtClean="0">
                <a:latin typeface="Courier New" pitchFamily="49" charset="0"/>
                <a:cs typeface="Courier New" pitchFamily="49" charset="0"/>
              </a:rPr>
              <a:t>setuid</a:t>
            </a:r>
            <a:endParaRPr lang="en-US" altLang="zh-TW" smtClean="0"/>
          </a:p>
        </p:txBody>
      </p:sp>
      <p:sp>
        <p:nvSpPr>
          <p:cNvPr id="92165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E045BA6-E862-40E0-A0A2-D4B449E1AEE9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92166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r>
              <a:rPr lang="en-US" altLang="zh-TW" smtClean="0"/>
              <a:t>Kernel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199" y="846667"/>
            <a:ext cx="8568267" cy="5173133"/>
          </a:xfrm>
        </p:spPr>
        <p:txBody>
          <a:bodyPr/>
          <a:lstStyle/>
          <a:p>
            <a:r>
              <a:rPr lang="en-US" altLang="zh-TW" sz="2400" dirty="0" smtClean="0"/>
              <a:t>Many similar to standard programming data structures</a:t>
            </a:r>
          </a:p>
          <a:p>
            <a:r>
              <a:rPr lang="en-US" altLang="zh-TW" sz="2400" b="1" i="1" dirty="0" smtClean="0">
                <a:latin typeface="Adobe Gothic Std B" pitchFamily="34" charset="-128"/>
                <a:ea typeface="Adobe Gothic Std B" pitchFamily="34" charset="-128"/>
              </a:rPr>
              <a:t>Singly linked list</a:t>
            </a:r>
          </a:p>
          <a:p>
            <a:endParaRPr lang="en-US" altLang="zh-TW" sz="2400" dirty="0" smtClean="0"/>
          </a:p>
          <a:p>
            <a:endParaRPr lang="en-US" altLang="zh-TW" sz="2400" dirty="0" smtClean="0"/>
          </a:p>
          <a:p>
            <a:pPr marL="0" indent="0">
              <a:buNone/>
            </a:pPr>
            <a:endParaRPr lang="en-US" altLang="zh-TW" sz="1400" dirty="0" smtClean="0"/>
          </a:p>
          <a:p>
            <a:r>
              <a:rPr lang="en-US" altLang="zh-TW" sz="2400" b="1" i="1" dirty="0" smtClean="0">
                <a:latin typeface="Adobe Gothic Std B" pitchFamily="34" charset="-128"/>
                <a:ea typeface="Adobe Gothic Std B" pitchFamily="34" charset="-128"/>
              </a:rPr>
              <a:t>Doubly linked list</a:t>
            </a:r>
          </a:p>
          <a:p>
            <a:endParaRPr lang="en-US" altLang="zh-TW" sz="2400" dirty="0" smtClean="0"/>
          </a:p>
          <a:p>
            <a:endParaRPr lang="en-US" altLang="zh-TW" sz="2400" dirty="0" smtClean="0"/>
          </a:p>
          <a:p>
            <a:endParaRPr lang="en-US" altLang="zh-TW" sz="2400" dirty="0" smtClean="0"/>
          </a:p>
          <a:p>
            <a:r>
              <a:rPr lang="en-US" altLang="zh-TW" sz="2400" b="1" i="1" dirty="0" smtClean="0">
                <a:latin typeface="Adobe Gothic Std B" pitchFamily="34" charset="-128"/>
                <a:ea typeface="Adobe Gothic Std B" pitchFamily="34" charset="-128"/>
              </a:rPr>
              <a:t>Circular linked list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>
              <a:buFont typeface="Monotype Sorts" pitchFamily="-84" charset="2"/>
              <a:buNone/>
            </a:pPr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46084" name="Picture 3" descr="1_13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2" y="1907646"/>
            <a:ext cx="6932613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5" name="Picture 4" descr="1_14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3479799"/>
            <a:ext cx="7026275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6" name="Picture 5" descr="1_15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5099050"/>
            <a:ext cx="684212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6D7164-472A-4DA0-AB75-8A84E3996B29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2F9AE2-0500-4043-9241-F71EAC3783CE}" type="slidenum">
              <a:rPr lang="en-US" altLang="zh-TW" smtClean="0"/>
              <a:pPr>
                <a:defRPr/>
              </a:pPr>
              <a:t>40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311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r>
              <a:rPr lang="en-US" altLang="zh-TW" smtClean="0"/>
              <a:t>Kernel Data Structures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sz="half" idx="1"/>
          </p:nvPr>
        </p:nvSpPr>
        <p:spPr>
          <a:xfrm>
            <a:off x="347133" y="897467"/>
            <a:ext cx="8509000" cy="5672666"/>
          </a:xfrm>
        </p:spPr>
        <p:txBody>
          <a:bodyPr/>
          <a:lstStyle/>
          <a:p>
            <a:r>
              <a:rPr lang="en-US" altLang="zh-TW" sz="3200" b="1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Balanced binary search tree</a:t>
            </a:r>
            <a:r>
              <a:rPr lang="en-US" altLang="zh-TW" sz="3200" b="1" dirty="0" smtClean="0">
                <a:solidFill>
                  <a:srgbClr val="3366FF"/>
                </a:solidFill>
              </a:rPr>
              <a:t>:</a:t>
            </a:r>
            <a:r>
              <a:rPr lang="en-US" altLang="zh-TW" sz="3200" dirty="0" smtClean="0"/>
              <a:t> 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uses a balanced binary search tree as part its CPU-scheduling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r>
              <a:rPr lang="en-US" altLang="zh-TW" sz="3200" b="1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Hash function: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data as its input, performs a numeric operation on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returns a numeric value. </a:t>
            </a:r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 value can then be used as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index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a table (typically an array) to quickly retrieve the data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zh-TW" sz="2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cs typeface="Times New Roman" panose="02020603050405020304" pitchFamily="18" charset="0"/>
              </a:rPr>
              <a:t>hash </a:t>
            </a:r>
            <a:r>
              <a:rPr lang="en-US" altLang="zh-TW" sz="28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cs typeface="Times New Roman" panose="02020603050405020304" pitchFamily="18" charset="0"/>
              </a:rPr>
              <a:t>collision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at that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location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contains all of the items with the same hash value. </a:t>
            </a:r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>
              <a:buFont typeface="Monotype Sorts" pitchFamily="-84" charset="2"/>
              <a:buNone/>
            </a:pPr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2365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66" y="3065991"/>
            <a:ext cx="7979834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EF444E-9F2B-48AE-B2D9-733E7D0E3747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83953-96A2-4505-B746-0F9B61792281}" type="slidenum">
              <a:rPr lang="en-US" altLang="zh-TW" smtClean="0"/>
              <a:pPr>
                <a:defRPr/>
              </a:pPr>
              <a:t>41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082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r>
              <a:rPr lang="en-US" altLang="zh-TW" smtClean="0"/>
              <a:t>Kernel Data Structures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sz="half" idx="1"/>
          </p:nvPr>
        </p:nvSpPr>
        <p:spPr>
          <a:xfrm>
            <a:off x="347133" y="897467"/>
            <a:ext cx="8509000" cy="5672666"/>
          </a:xfrm>
        </p:spPr>
        <p:txBody>
          <a:bodyPr/>
          <a:lstStyle/>
          <a:p>
            <a:pPr lvl="1"/>
            <a:r>
              <a:rPr lang="en-US" altLang="zh-TW" sz="2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cs typeface="Times New Roman" panose="02020603050405020304" pitchFamily="18" charset="0"/>
              </a:rPr>
              <a:t>hash map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associates (or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maps) </a:t>
            </a:r>
            <a:r>
              <a:rPr lang="en-US" altLang="zh-TW" sz="2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cs typeface="Times New Roman" panose="02020603050405020304" pitchFamily="18" charset="0"/>
              </a:rPr>
              <a:t>[key</a:t>
            </a:r>
            <a:r>
              <a:rPr lang="en-US" altLang="zh-TW" sz="28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cs typeface="Times New Roman" panose="02020603050405020304" pitchFamily="18" charset="0"/>
              </a:rPr>
              <a:t>: value</a:t>
            </a:r>
            <a:r>
              <a:rPr lang="en-US" altLang="zh-TW" sz="2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cs typeface="Times New Roman" panose="02020603050405020304" pitchFamily="18" charset="0"/>
              </a:rPr>
              <a:t>]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 using a hash function. Once the mapping is established, we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apply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hash function to the key to obtain the value from the hash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map.</a:t>
            </a:r>
          </a:p>
          <a:p>
            <a:pPr lvl="1"/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lang="en-US" altLang="zh-TW" sz="2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cs typeface="Times New Roman" panose="02020603050405020304" pitchFamily="18" charset="0"/>
              </a:rPr>
              <a:t>[user name: password]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  <a:cs typeface="Times New Roman" panose="02020603050405020304" pitchFamily="18" charset="0"/>
              </a:rPr>
              <a:t>Bitmaps</a:t>
            </a:r>
          </a:p>
          <a:p>
            <a:pPr lvl="1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disk blocks. A bitmap can be used to indicate the availability of each disk block.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>
              <a:buFont typeface="Monotype Sorts" pitchFamily="-84" charset="2"/>
              <a:buNone/>
            </a:pPr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4" name="Picture 3" descr="1_17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853" y="3208867"/>
            <a:ext cx="4037013" cy="162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78AF9C-4673-4D23-A95F-A8A3F001578C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C83953-96A2-4505-B746-0F9B61792281}" type="slidenum">
              <a:rPr lang="en-US" altLang="zh-TW" smtClean="0"/>
              <a:pPr>
                <a:defRPr/>
              </a:pPr>
              <a:t>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8376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35D1B04-CDAF-48F0-BD56-BC8FBEE15642}" type="slidenum">
              <a:rPr kumimoji="0" lang="en-US" altLang="zh-TW" sz="1400" smtClean="0"/>
              <a:pPr eaLnBrk="1" hangingPunct="1"/>
              <a:t>43</a:t>
            </a:fld>
            <a:endParaRPr kumimoji="0" lang="en-US" altLang="zh-TW" sz="1400" smtClean="0"/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35468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TW" b="1" dirty="0" smtClean="0"/>
              <a:t>Computing Environments</a:t>
            </a:r>
          </a:p>
        </p:txBody>
      </p:sp>
      <p:sp>
        <p:nvSpPr>
          <p:cNvPr id="9933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7566" y="952500"/>
            <a:ext cx="8216900" cy="47117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p"/>
            </a:pPr>
            <a:r>
              <a:rPr lang="en-US" altLang="zh-TW" sz="2800" b="1" dirty="0" smtClean="0">
                <a:latin typeface="Adobe Gothic Std B" pitchFamily="34" charset="-128"/>
                <a:ea typeface="Adobe Gothic Std B" pitchFamily="34" charset="-128"/>
              </a:rPr>
              <a:t>Traditional </a:t>
            </a:r>
            <a:r>
              <a:rPr lang="en-US" altLang="zh-TW" sz="2800" b="1" dirty="0">
                <a:latin typeface="Adobe Gothic Std B" pitchFamily="34" charset="-128"/>
                <a:ea typeface="Adobe Gothic Std B" pitchFamily="34" charset="-128"/>
              </a:rPr>
              <a:t>C</a:t>
            </a:r>
            <a:r>
              <a:rPr lang="en-US" altLang="zh-TW" sz="2800" b="1" dirty="0" smtClean="0">
                <a:latin typeface="Adobe Gothic Std B" pitchFamily="34" charset="-128"/>
                <a:ea typeface="Adobe Gothic Std B" pitchFamily="34" charset="-128"/>
              </a:rPr>
              <a:t>omputing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p"/>
            </a:pPr>
            <a:r>
              <a:rPr lang="en-US" altLang="zh-TW" sz="2800" b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Mobile Computing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p"/>
            </a:pPr>
            <a:r>
              <a:rPr lang="en-US" altLang="zh-TW" sz="2800" b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Distributed Systems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p"/>
            </a:pPr>
            <a:r>
              <a:rPr lang="en-US" altLang="zh-TW" sz="2800" b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Client-Server Computing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p"/>
            </a:pPr>
            <a:r>
              <a:rPr lang="en-US" altLang="zh-TW" sz="2800" b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Peer-to-Peer Computing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p"/>
            </a:pPr>
            <a:r>
              <a:rPr lang="en-US" altLang="zh-TW" sz="2800" b="1" dirty="0" smtClean="0">
                <a:solidFill>
                  <a:schemeClr val="bg2">
                    <a:lumMod val="75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Virtualization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p"/>
            </a:pPr>
            <a:r>
              <a:rPr lang="en-US" altLang="zh-TW" sz="2800" b="1" dirty="0" smtClean="0">
                <a:solidFill>
                  <a:schemeClr val="bg2">
                    <a:lumMod val="75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Cloud Computing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p"/>
            </a:pPr>
            <a:r>
              <a:rPr lang="en-US" altLang="zh-TW" sz="2800" b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Real-Time Embedded Systems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  <a:buClrTx/>
              <a:buSzTx/>
              <a:buFont typeface="Wingdings" pitchFamily="2" charset="2"/>
              <a:buChar char="p"/>
            </a:pPr>
            <a:endParaRPr lang="en-US" altLang="zh-TW" b="1" dirty="0" smtClean="0"/>
          </a:p>
        </p:txBody>
      </p:sp>
      <p:sp>
        <p:nvSpPr>
          <p:cNvPr id="9933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474D938-8A11-4DD9-80AF-342DF388BCC3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9933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866635C-1E83-4A8B-B4CB-A347105F644D}" type="slidenum">
              <a:rPr kumimoji="0" lang="en-US" altLang="zh-TW" sz="1400" smtClean="0"/>
              <a:pPr eaLnBrk="1" hangingPunct="1"/>
              <a:t>44</a:t>
            </a:fld>
            <a:endParaRPr kumimoji="0" lang="en-US" altLang="zh-TW" sz="1400" smtClean="0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92150"/>
          </a:xfrm>
        </p:spPr>
        <p:txBody>
          <a:bodyPr/>
          <a:lstStyle/>
          <a:p>
            <a:pPr eaLnBrk="1" hangingPunct="1"/>
            <a:r>
              <a:rPr lang="en-US" altLang="zh-TW" b="1" dirty="0" smtClean="0"/>
              <a:t>Traditional Computing</a:t>
            </a:r>
          </a:p>
        </p:txBody>
      </p:sp>
      <p:sp>
        <p:nvSpPr>
          <p:cNvPr id="10035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9263" y="956733"/>
            <a:ext cx="8216900" cy="5461000"/>
          </a:xfrm>
        </p:spPr>
        <p:txBody>
          <a:bodyPr/>
          <a:lstStyle/>
          <a:p>
            <a:pPr eaLnBrk="1" hangingPunct="1"/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Office environment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eb-based computing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: network computers (or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thin clients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) are used in place of traditional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workstations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 where more security or easier maintenance is desired.</a:t>
            </a:r>
            <a:endParaRPr lang="en-US" altLang="zh-TW" sz="2400" dirty="0" smtClean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lvl="1" eaLnBrk="1" hangingPunct="1"/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Mobile computers can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synchronize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 with PCs to allow very portable use of company information.</a:t>
            </a:r>
          </a:p>
          <a:p>
            <a:pPr eaLnBrk="1" hangingPunct="1"/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Home networks</a:t>
            </a:r>
          </a:p>
          <a:p>
            <a:pPr lvl="1" eaLnBrk="1" hangingPunct="1"/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Networking becoming ubiquitous - even home systems use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firewalls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 to protect home computers from Internet attacks.</a:t>
            </a:r>
          </a:p>
          <a:p>
            <a:pPr eaLnBrk="1" hangingPunct="1"/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Time-sharing systems</a:t>
            </a:r>
            <a:endParaRPr lang="en-US" altLang="zh-TW" dirty="0" smtClean="0"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0357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671BA6F-77F8-407D-8349-072F15257E23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100358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  <p:sp>
        <p:nvSpPr>
          <p:cNvPr id="2" name="矩形 1"/>
          <p:cNvSpPr/>
          <p:nvPr/>
        </p:nvSpPr>
        <p:spPr>
          <a:xfrm>
            <a:off x="4650180" y="3948181"/>
            <a:ext cx="4323171" cy="461665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7030A0"/>
                </a:solidFill>
              </a:rPr>
              <a:t>Bring your own device (BYOD)</a:t>
            </a:r>
            <a:endParaRPr lang="zh-TW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866635C-1E83-4A8B-B4CB-A347105F644D}" type="slidenum">
              <a:rPr kumimoji="0" lang="en-US" altLang="zh-TW" sz="1400" smtClean="0"/>
              <a:pPr eaLnBrk="1" hangingPunct="1"/>
              <a:t>45</a:t>
            </a:fld>
            <a:endParaRPr kumimoji="0" lang="en-US" altLang="zh-TW" sz="1400" smtClean="0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92150"/>
          </a:xfrm>
        </p:spPr>
        <p:txBody>
          <a:bodyPr/>
          <a:lstStyle/>
          <a:p>
            <a:pPr eaLnBrk="1" hangingPunct="1"/>
            <a:r>
              <a:rPr lang="en-US" altLang="zh-TW" b="1" dirty="0" smtClean="0"/>
              <a:t>Mobile Computing</a:t>
            </a:r>
          </a:p>
        </p:txBody>
      </p:sp>
      <p:sp>
        <p:nvSpPr>
          <p:cNvPr id="10035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9263" y="956733"/>
            <a:ext cx="8216900" cy="54610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Handheld smartphones, tablets, etc.</a:t>
            </a:r>
          </a:p>
          <a:p>
            <a:pPr lvl="1"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zh-TW" dirty="0" smtClean="0">
                <a:latin typeface="Adobe Gothic Std B" pitchFamily="34" charset="-128"/>
                <a:ea typeface="Adobe Gothic Std B" pitchFamily="34" charset="-128"/>
              </a:rPr>
              <a:t>Extra feature - more OS features (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GPS, gyroscope</a:t>
            </a:r>
            <a:r>
              <a:rPr lang="en-US" altLang="zh-TW" dirty="0" smtClean="0">
                <a:latin typeface="Adobe Gothic Std B" pitchFamily="34" charset="-128"/>
                <a:ea typeface="Adobe Gothic Std B" pitchFamily="34" charset="-128"/>
              </a:rPr>
              <a:t>)</a:t>
            </a:r>
          </a:p>
          <a:p>
            <a:pPr lvl="1"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zh-TW" dirty="0" smtClean="0">
                <a:latin typeface="Adobe Gothic Std B" pitchFamily="34" charset="-128"/>
                <a:ea typeface="Adobe Gothic Std B" pitchFamily="34" charset="-128"/>
              </a:rPr>
              <a:t>Allows new types of 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apps</a:t>
            </a:r>
            <a:r>
              <a:rPr lang="en-US" altLang="zh-TW" dirty="0" smtClean="0">
                <a:latin typeface="Adobe Gothic Std B" pitchFamily="34" charset="-128"/>
                <a:ea typeface="Adobe Gothic Std B" pitchFamily="34" charset="-128"/>
              </a:rPr>
              <a:t> like augmented reality, which overlay information on a display of the current environment.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Use IEEE 802.11 wireless, or cellular data networks (4G, 5G?) for connectivity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Leaders are Apple iOS and Google Android</a:t>
            </a:r>
            <a:endParaRPr lang="en-US" altLang="zh-TW" dirty="0" smtClean="0"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0357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8A33409-9EDE-4881-99CA-CFE8574F0052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100358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  <p:extLst>
      <p:ext uri="{BB962C8B-B14F-4D97-AF65-F5344CB8AC3E}">
        <p14:creationId xmlns:p14="http://schemas.microsoft.com/office/powerpoint/2010/main" val="162483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866635C-1E83-4A8B-B4CB-A347105F644D}" type="slidenum">
              <a:rPr kumimoji="0" lang="en-US" altLang="zh-TW" sz="1400" smtClean="0"/>
              <a:pPr eaLnBrk="1" hangingPunct="1"/>
              <a:t>46</a:t>
            </a:fld>
            <a:endParaRPr kumimoji="0" lang="en-US" altLang="zh-TW" sz="1400" smtClean="0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92150"/>
          </a:xfrm>
        </p:spPr>
        <p:txBody>
          <a:bodyPr/>
          <a:lstStyle/>
          <a:p>
            <a:pPr eaLnBrk="1" hangingPunct="1"/>
            <a:r>
              <a:rPr lang="en-US" altLang="zh-TW" b="1" dirty="0" smtClean="0"/>
              <a:t>Distributed Systems</a:t>
            </a:r>
          </a:p>
        </p:txBody>
      </p:sp>
      <p:sp>
        <p:nvSpPr>
          <p:cNvPr id="10035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9263" y="956733"/>
            <a:ext cx="8216900" cy="54610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Distributed computing</a:t>
            </a: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Collection of separate, possibly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heterogeneous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, systems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networked together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with TCP/IP, FTP, NFS, etc.</a:t>
            </a: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</a:pP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Local Area Network (LAN), Wide Area Network (WAN), Metropolitan Area Network (MAN), Personal Area Network (PAN)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zh-TW" sz="28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Network Operating System</a:t>
            </a: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 provides features between systems across network</a:t>
            </a: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file sharing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across the network,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communication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 scheme that allows different processes on different computers to exchange messages</a:t>
            </a: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</a:pP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Illusion of a single system</a:t>
            </a:r>
          </a:p>
        </p:txBody>
      </p:sp>
      <p:sp>
        <p:nvSpPr>
          <p:cNvPr id="100357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0B4F5DA-F136-4110-866F-EECFF434EF4D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100358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dirty="0" smtClean="0"/>
          </a:p>
        </p:txBody>
      </p:sp>
    </p:spTree>
    <p:extLst>
      <p:ext uri="{BB962C8B-B14F-4D97-AF65-F5344CB8AC3E}">
        <p14:creationId xmlns:p14="http://schemas.microsoft.com/office/powerpoint/2010/main" val="364032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106ADFB2-DABE-42C3-878E-DBA5ED9D9706}" type="slidenum">
              <a:rPr kumimoji="0" lang="en-US" altLang="zh-TW" sz="1400" smtClean="0"/>
              <a:pPr eaLnBrk="1" hangingPunct="1"/>
              <a:t>47</a:t>
            </a:fld>
            <a:endParaRPr kumimoji="0" lang="en-US" altLang="zh-TW" sz="1400" smtClean="0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65188"/>
          </a:xfrm>
        </p:spPr>
        <p:txBody>
          <a:bodyPr/>
          <a:lstStyle/>
          <a:p>
            <a:pPr eaLnBrk="1" hangingPunct="1"/>
            <a:r>
              <a:rPr lang="en-US" altLang="zh-TW" sz="4000" b="1" dirty="0" smtClean="0">
                <a:solidFill>
                  <a:srgbClr val="7030A0"/>
                </a:solidFill>
              </a:rPr>
              <a:t>Client-Server Computing</a:t>
            </a:r>
          </a:p>
        </p:txBody>
      </p:sp>
      <p:sp>
        <p:nvSpPr>
          <p:cNvPr id="10138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6400" y="1362075"/>
            <a:ext cx="8216900" cy="3048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Many systems now </a:t>
            </a:r>
            <a:r>
              <a:rPr lang="en-US" altLang="zh-TW" sz="2800" b="1" dirty="0" smtClean="0">
                <a:latin typeface="Adobe Gothic Std B" pitchFamily="34" charset="-128"/>
                <a:ea typeface="Adobe Gothic Std B" pitchFamily="34" charset="-128"/>
              </a:rPr>
              <a:t>servers</a:t>
            </a: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, responding to requests generated by </a:t>
            </a:r>
            <a:r>
              <a:rPr lang="en-US" altLang="zh-TW" sz="2800" b="1" dirty="0" smtClean="0">
                <a:latin typeface="Adobe Gothic Std B" pitchFamily="34" charset="-128"/>
                <a:ea typeface="Adobe Gothic Std B" pitchFamily="34" charset="-128"/>
              </a:rPr>
              <a:t>clients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Compute-server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 provides an interface to client to request services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</a:pPr>
            <a:r>
              <a:rPr lang="en-US" altLang="zh-TW" sz="2400" b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File-server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 provides interface for clients to store and retrieve files</a:t>
            </a:r>
          </a:p>
        </p:txBody>
      </p:sp>
      <p:pic>
        <p:nvPicPr>
          <p:cNvPr id="10138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" t="30930" r="586" b="30669"/>
          <a:stretch>
            <a:fillRect/>
          </a:stretch>
        </p:blipFill>
        <p:spPr bwMode="auto">
          <a:xfrm>
            <a:off x="692150" y="3980921"/>
            <a:ext cx="7632700" cy="18764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382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5F63611-727C-47FA-8899-BC566F40A12C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101383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9702CA9-90CA-4DEF-AD91-F93CA065C529}" type="slidenum">
              <a:rPr kumimoji="0" lang="en-US" altLang="zh-TW" sz="1400" smtClean="0"/>
              <a:pPr eaLnBrk="1" hangingPunct="1"/>
              <a:t>48</a:t>
            </a:fld>
            <a:endParaRPr kumimoji="0" lang="en-US" altLang="zh-TW" sz="1400" smtClean="0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06438"/>
          </a:xfrm>
        </p:spPr>
        <p:txBody>
          <a:bodyPr/>
          <a:lstStyle/>
          <a:p>
            <a:pPr eaLnBrk="1" hangingPunct="1"/>
            <a:r>
              <a:rPr lang="en-US" altLang="zh-TW" sz="4000" b="1" dirty="0" smtClean="0">
                <a:solidFill>
                  <a:srgbClr val="7030A0"/>
                </a:solidFill>
              </a:rPr>
              <a:t>Peer-to-Peer Computing</a:t>
            </a:r>
          </a:p>
        </p:txBody>
      </p:sp>
      <p:sp>
        <p:nvSpPr>
          <p:cNvPr id="10240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4975" y="1063625"/>
            <a:ext cx="8445500" cy="5379508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Another model of 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distributed systems</a:t>
            </a:r>
          </a:p>
          <a:p>
            <a:pPr eaLnBrk="1" hangingPunct="1"/>
            <a:r>
              <a:rPr lang="en-US" altLang="zh-TW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P2P does not distinguish clients and servers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Instead all nodes are considered peers, may each act as client, server or both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Node must join P2P networks</a:t>
            </a:r>
          </a:p>
          <a:p>
            <a:pPr lvl="2" eaLnBrk="1" hangingPunct="1"/>
            <a:r>
              <a:rPr lang="en-US" altLang="zh-TW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Registers</a:t>
            </a:r>
            <a:r>
              <a:rPr lang="en-US" altLang="zh-TW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its service with central lookup service on network, or</a:t>
            </a:r>
          </a:p>
          <a:p>
            <a:pPr lvl="2" eaLnBrk="1" hangingPunct="1"/>
            <a:r>
              <a:rPr lang="en-US" altLang="zh-TW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Broadcast</a:t>
            </a:r>
            <a:r>
              <a:rPr lang="en-US" altLang="zh-TW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request for service and respond to requests for service via </a:t>
            </a:r>
            <a:r>
              <a:rPr lang="en-US" altLang="zh-TW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discovery protocol</a:t>
            </a:r>
          </a:p>
          <a:p>
            <a:pPr lvl="1" eaLnBrk="1" hangingPunct="1"/>
            <a:r>
              <a:rPr lang="en-US" altLang="zh-TW" sz="2400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Napster</a:t>
            </a:r>
            <a:r>
              <a:rPr lang="en-US" altLang="zh-TW" sz="2400" i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</a:t>
            </a:r>
            <a:r>
              <a:rPr lang="en-US" altLang="zh-TW" sz="2400" i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Gnutella</a:t>
            </a:r>
            <a:r>
              <a:rPr lang="en-US" altLang="zh-TW" sz="2400" i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r>
              <a:rPr lang="en-US" altLang="zh-TW" sz="2400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Skype</a:t>
            </a:r>
            <a:r>
              <a:rPr lang="en-US" altLang="zh-TW" sz="2400" i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another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example.</a:t>
            </a:r>
            <a:endParaRPr lang="en-US" altLang="zh-TW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lvl="1" eaLnBrk="1" hangingPunct="1"/>
            <a:endParaRPr lang="en-US" altLang="zh-TW" b="1" i="1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2405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CAB1938-EEFB-495A-923F-383AE4DB75B4}" type="datetime1">
              <a:rPr kumimoji="0" lang="zh-TW" altLang="en-US" sz="1400" smtClean="0"/>
              <a:t>2018/2/19</a:t>
            </a:fld>
            <a:endParaRPr kumimoji="0" lang="en-US" altLang="zh-TW" sz="1400" dirty="0" smtClean="0"/>
          </a:p>
        </p:txBody>
      </p:sp>
      <p:sp>
        <p:nvSpPr>
          <p:cNvPr id="102406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9702CA9-90CA-4DEF-AD91-F93CA065C529}" type="slidenum">
              <a:rPr kumimoji="0" lang="en-US" altLang="zh-TW" sz="1400" smtClean="0"/>
              <a:pPr eaLnBrk="1" hangingPunct="1"/>
              <a:t>49</a:t>
            </a:fld>
            <a:endParaRPr kumimoji="0" lang="en-US" altLang="zh-TW" sz="1400" smtClean="0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06438"/>
          </a:xfrm>
        </p:spPr>
        <p:txBody>
          <a:bodyPr/>
          <a:lstStyle/>
          <a:p>
            <a:pPr eaLnBrk="1" hangingPunct="1"/>
            <a:r>
              <a:rPr lang="en-US" altLang="zh-TW" sz="4000" b="1" dirty="0">
                <a:solidFill>
                  <a:srgbClr val="7030A0"/>
                </a:solidFill>
              </a:rPr>
              <a:t>Virtualization</a:t>
            </a:r>
            <a:endParaRPr lang="en-US" altLang="zh-TW" sz="4000" b="1" dirty="0" smtClean="0">
              <a:solidFill>
                <a:srgbClr val="7030A0"/>
              </a:solidFill>
            </a:endParaRPr>
          </a:p>
        </p:txBody>
      </p:sp>
      <p:sp>
        <p:nvSpPr>
          <p:cNvPr id="10240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4975" y="1063625"/>
            <a:ext cx="8445500" cy="5379508"/>
          </a:xfrm>
        </p:spPr>
        <p:txBody>
          <a:bodyPr/>
          <a:lstStyle/>
          <a:p>
            <a:pPr eaLnBrk="1" hangingPunct="1"/>
            <a:r>
              <a:rPr lang="en-US" altLang="zh-TW" sz="28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Virtualization is a technology that allows operating systems to </a:t>
            </a:r>
            <a:r>
              <a:rPr lang="en-US" altLang="zh-TW" sz="2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run as </a:t>
            </a:r>
            <a:r>
              <a:rPr lang="en-US" altLang="zh-TW" sz="28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applications within </a:t>
            </a:r>
            <a:r>
              <a:rPr lang="en-US" altLang="zh-TW" sz="2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other operating systems</a:t>
            </a:r>
            <a:r>
              <a:rPr lang="en-US" altLang="zh-TW" sz="28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800" dirty="0" smtClean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lvl="1" eaLnBrk="1" hangingPunct="1"/>
            <a:r>
              <a:rPr lang="en-US" altLang="zh-TW" sz="2400" b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one </a:t>
            </a:r>
            <a:r>
              <a:rPr lang="en-US" altLang="zh-TW" sz="24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member of a class of </a:t>
            </a:r>
            <a:r>
              <a:rPr lang="en-US" altLang="zh-TW" sz="2400" b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software that includes </a:t>
            </a:r>
            <a:r>
              <a:rPr lang="en-US" altLang="zh-TW" sz="24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emulation. </a:t>
            </a:r>
            <a:r>
              <a:rPr lang="en-US" altLang="zh-TW" sz="2400" b="1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Emulation</a:t>
            </a:r>
            <a:r>
              <a:rPr lang="en-US" altLang="zh-TW" sz="2400" b="1" i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used when the source CPU </a:t>
            </a:r>
            <a:r>
              <a:rPr lang="en-US" altLang="zh-TW" sz="2400" b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type is </a:t>
            </a:r>
            <a:r>
              <a:rPr lang="en-US" altLang="zh-TW" sz="24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different from the target CPU type</a:t>
            </a:r>
            <a:r>
              <a:rPr lang="en-US" altLang="zh-TW" sz="2400" b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zh-TW" sz="24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example, when Apple switched </a:t>
            </a:r>
            <a:r>
              <a:rPr lang="en-US" altLang="zh-TW" sz="2400" b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from the </a:t>
            </a:r>
            <a:r>
              <a:rPr lang="en-US" altLang="zh-TW" sz="24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IBM Power CPU to the Intel </a:t>
            </a:r>
            <a:r>
              <a:rPr lang="en-US" altLang="zh-TW" sz="2400" b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x86, it </a:t>
            </a:r>
            <a:r>
              <a:rPr lang="en-US" altLang="zh-TW" sz="24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included an emulation facility called “Rosetta,” which </a:t>
            </a:r>
            <a:r>
              <a:rPr lang="en-US" altLang="zh-TW" sz="2400" b="1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allowed </a:t>
            </a:r>
            <a:r>
              <a:rPr lang="en-US" altLang="zh-TW" sz="2400" b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applications compiled </a:t>
            </a:r>
            <a:r>
              <a:rPr lang="en-US" altLang="zh-TW" sz="2400" b="1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for the IBM CPU to run on the Intel CPU.</a:t>
            </a:r>
            <a:endParaRPr lang="en-US" altLang="zh-TW" sz="2400" b="1" dirty="0" smtClean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2405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661E341-C3E4-4F59-893D-73F5665D56D2}" type="datetime1">
              <a:rPr kumimoji="0" lang="zh-TW" altLang="en-US" sz="1400" smtClean="0"/>
              <a:t>2018/2/19</a:t>
            </a:fld>
            <a:endParaRPr kumimoji="0" lang="en-US" altLang="zh-TW" sz="1400" dirty="0" smtClean="0"/>
          </a:p>
        </p:txBody>
      </p:sp>
      <p:sp>
        <p:nvSpPr>
          <p:cNvPr id="102406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dirty="0" smtClean="0"/>
          </a:p>
        </p:txBody>
      </p:sp>
    </p:spTree>
    <p:extLst>
      <p:ext uri="{BB962C8B-B14F-4D97-AF65-F5344CB8AC3E}">
        <p14:creationId xmlns:p14="http://schemas.microsoft.com/office/powerpoint/2010/main" val="84904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9702CA9-90CA-4DEF-AD91-F93CA065C529}" type="slidenum">
              <a:rPr kumimoji="0" lang="en-US" altLang="zh-TW" sz="1400" smtClean="0"/>
              <a:pPr eaLnBrk="1" hangingPunct="1"/>
              <a:t>50</a:t>
            </a:fld>
            <a:endParaRPr kumimoji="0" lang="en-US" altLang="zh-TW" sz="1400" smtClean="0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06438"/>
          </a:xfrm>
        </p:spPr>
        <p:txBody>
          <a:bodyPr/>
          <a:lstStyle/>
          <a:p>
            <a:pPr eaLnBrk="1" hangingPunct="1"/>
            <a:r>
              <a:rPr lang="en-US" altLang="zh-TW" sz="4000" b="1" dirty="0">
                <a:solidFill>
                  <a:srgbClr val="7030A0"/>
                </a:solidFill>
              </a:rPr>
              <a:t>Virtualization</a:t>
            </a:r>
            <a:endParaRPr lang="en-US" altLang="zh-TW" sz="4000" b="1" dirty="0" smtClean="0">
              <a:solidFill>
                <a:srgbClr val="7030A0"/>
              </a:solidFill>
            </a:endParaRPr>
          </a:p>
        </p:txBody>
      </p:sp>
      <p:sp>
        <p:nvSpPr>
          <p:cNvPr id="10240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4975" y="990600"/>
            <a:ext cx="8445500" cy="5452533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Virtualization first came about on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IBM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mainframes as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method for multiple users to run tasks concurrently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zh-TW" sz="24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Later, in response to problems with running </a:t>
            </a:r>
            <a:r>
              <a:rPr lang="en-US" altLang="zh-TW" sz="2400" b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multiple Microsoft </a:t>
            </a:r>
            <a:r>
              <a:rPr lang="en-US" altLang="zh-TW" sz="24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Windows XP applications </a:t>
            </a:r>
            <a:r>
              <a:rPr lang="en-US" altLang="zh-TW" sz="2400" b="1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on the Intel x86 CPU</a:t>
            </a:r>
            <a:r>
              <a:rPr lang="en-US" altLang="zh-TW" sz="24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</a:t>
            </a:r>
            <a:r>
              <a:rPr lang="en-US" altLang="zh-TW" sz="2400" b="1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VMware</a:t>
            </a:r>
            <a:r>
              <a:rPr lang="en-US" altLang="zh-TW" sz="24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created </a:t>
            </a:r>
            <a:r>
              <a:rPr lang="en-US" altLang="zh-TW" sz="2400" b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new </a:t>
            </a:r>
            <a:r>
              <a:rPr lang="en-US" altLang="zh-TW" sz="24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virtualization technology in the form of an application that ran on XP</a:t>
            </a:r>
            <a:r>
              <a:rPr lang="en-US" altLang="zh-TW" sz="2400" b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lvl="1" eaLnBrk="1" hangingPunct="1">
              <a:spcBef>
                <a:spcPts val="1200"/>
              </a:spcBef>
            </a:pPr>
            <a:r>
              <a:rPr lang="en-US" altLang="zh-TW" sz="20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That application ran one or more guest copies of Windows or other native x86 operating systems, each running its own applications.</a:t>
            </a:r>
            <a:endParaRPr lang="en-US" altLang="zh-TW" sz="2000" b="1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/>
            <a:endParaRPr lang="en-US" altLang="zh-TW" sz="2400" b="1" dirty="0" smtClean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2405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4A30CCA-2265-42FD-AFF1-A4E661E72D4F}" type="datetime1">
              <a:rPr kumimoji="0" lang="zh-TW" altLang="en-US" sz="1400" smtClean="0"/>
              <a:t>2018/2/19</a:t>
            </a:fld>
            <a:endParaRPr kumimoji="0" lang="en-US" altLang="zh-TW" sz="1400" dirty="0" smtClean="0"/>
          </a:p>
        </p:txBody>
      </p:sp>
      <p:sp>
        <p:nvSpPr>
          <p:cNvPr id="102406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210049"/>
            <a:ext cx="4266142" cy="2647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881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7417" y="198967"/>
            <a:ext cx="7645400" cy="576263"/>
          </a:xfrm>
        </p:spPr>
        <p:txBody>
          <a:bodyPr/>
          <a:lstStyle/>
          <a:p>
            <a:pPr eaLnBrk="1" hangingPunct="1"/>
            <a:r>
              <a:rPr lang="en-US" altLang="zh-TW" sz="4000" b="1" dirty="0" smtClean="0">
                <a:solidFill>
                  <a:srgbClr val="7030A0"/>
                </a:solidFill>
              </a:rPr>
              <a:t>Cloud </a:t>
            </a:r>
            <a:r>
              <a:rPr lang="en-US" altLang="zh-TW" sz="4000" b="1" dirty="0">
                <a:solidFill>
                  <a:srgbClr val="7030A0"/>
                </a:solidFill>
              </a:rPr>
              <a:t>Computing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2467" y="770467"/>
            <a:ext cx="8542865" cy="5587999"/>
          </a:xfrm>
        </p:spPr>
        <p:txBody>
          <a:bodyPr/>
          <a:lstStyle/>
          <a:p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000" dirty="0">
                <a:latin typeface="Adobe Gothic Std B" pitchFamily="34" charset="-128"/>
                <a:ea typeface="Adobe Gothic Std B" pitchFamily="34" charset="-128"/>
              </a:rPr>
              <a:t>type of computing </a:t>
            </a: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that delivers computing, storage, even apps as a service across a network.</a:t>
            </a:r>
          </a:p>
          <a:p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Uses 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virtualization</a:t>
            </a: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 as the base for it functionality.</a:t>
            </a:r>
          </a:p>
          <a:p>
            <a:pPr lvl="1"/>
            <a:r>
              <a:rPr lang="en-US" altLang="zh-TW" sz="2000" dirty="0">
                <a:latin typeface="Adobe Gothic Std B" pitchFamily="34" charset="-128"/>
                <a:ea typeface="Adobe Gothic Std B" pitchFamily="34" charset="-128"/>
              </a:rPr>
              <a:t>E.g., Amazon Elastic Compute </a:t>
            </a: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Cloud (EC2)</a:t>
            </a:r>
          </a:p>
          <a:p>
            <a:pPr>
              <a:spcBef>
                <a:spcPts val="1200"/>
              </a:spcBef>
            </a:pPr>
            <a:r>
              <a:rPr lang="en-US" altLang="zh-TW" sz="2000" b="1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Public cloud </a:t>
            </a: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– available via Internet to anyone willing to pay</a:t>
            </a:r>
          </a:p>
          <a:p>
            <a:pPr>
              <a:spcBef>
                <a:spcPts val="1200"/>
              </a:spcBef>
            </a:pPr>
            <a:r>
              <a:rPr lang="en-US" altLang="zh-TW" sz="2000" b="1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Private cloud </a:t>
            </a: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– run by a company for the company</a:t>
            </a:r>
            <a:r>
              <a:rPr lang="en-US" altLang="zh-TW" sz="2000" dirty="0">
                <a:latin typeface="Adobe Gothic Std B" pitchFamily="34" charset="-128"/>
                <a:ea typeface="Adobe Gothic Std B" pitchFamily="34" charset="-128"/>
              </a:rPr>
              <a:t>'</a:t>
            </a: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s own use</a:t>
            </a:r>
          </a:p>
          <a:p>
            <a:pPr>
              <a:spcBef>
                <a:spcPts val="1200"/>
              </a:spcBef>
            </a:pPr>
            <a:r>
              <a:rPr lang="en-US" altLang="zh-TW" sz="2000" b="1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Hybrid cloud </a:t>
            </a: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– includes both public and private cloud components</a:t>
            </a:r>
          </a:p>
          <a:p>
            <a:pPr>
              <a:spcBef>
                <a:spcPts val="1200"/>
              </a:spcBef>
            </a:pP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Software as a Service (</a:t>
            </a:r>
            <a:r>
              <a:rPr lang="en-US" altLang="zh-TW" sz="2000" b="1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SaaS</a:t>
            </a: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) – one or more applications available via the Internet (i.e., word processor)</a:t>
            </a:r>
          </a:p>
          <a:p>
            <a:pPr>
              <a:spcBef>
                <a:spcPts val="1200"/>
              </a:spcBef>
            </a:pP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Platform as a Service (</a:t>
            </a:r>
            <a:r>
              <a:rPr lang="en-US" altLang="zh-TW" sz="2000" b="1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PaaS</a:t>
            </a: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) – software stack ready for application use via the Internet (i.e., a database server)</a:t>
            </a:r>
          </a:p>
          <a:p>
            <a:pPr>
              <a:spcBef>
                <a:spcPts val="1200"/>
              </a:spcBef>
            </a:pP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Infrastructure as a Service (</a:t>
            </a:r>
            <a:r>
              <a:rPr lang="en-US" altLang="zh-TW" sz="2000" b="1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IaaS</a:t>
            </a: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) – servers or storage available over Internet (i.e., storage available for backup use)</a:t>
            </a: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209848-6A0F-40A2-B251-7503D47FD66A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8707C6-4AF2-4255-9FDB-1EE42DA6F710}" type="slidenum">
              <a:rPr lang="en-US" altLang="zh-TW" smtClean="0"/>
              <a:pPr>
                <a:defRPr/>
              </a:pPr>
              <a:t>51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3212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4867" y="775230"/>
            <a:ext cx="8534400" cy="4694237"/>
          </a:xfrm>
        </p:spPr>
        <p:txBody>
          <a:bodyPr/>
          <a:lstStyle/>
          <a:p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Cloud computing environments composed of traditional OS + VMMs + Cloud management tools </a:t>
            </a: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(e.g., </a:t>
            </a:r>
            <a:r>
              <a:rPr lang="en-US" altLang="zh-TW" sz="2800" dirty="0" err="1" smtClean="0">
                <a:latin typeface="Adobe Gothic Std B" pitchFamily="34" charset="-128"/>
                <a:ea typeface="Adobe Gothic Std B" pitchFamily="34" charset="-128"/>
              </a:rPr>
              <a:t>Vware</a:t>
            </a: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800" dirty="0" err="1" smtClean="0">
                <a:latin typeface="Adobe Gothic Std B" pitchFamily="34" charset="-128"/>
                <a:ea typeface="Adobe Gothic Std B" pitchFamily="34" charset="-128"/>
              </a:rPr>
              <a:t>vCloud</a:t>
            </a: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 Director, Eucalyptus)</a:t>
            </a:r>
          </a:p>
          <a:p>
            <a:pPr lvl="1"/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Internet connectivity requires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security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 like firewalls</a:t>
            </a:r>
            <a:endParaRPr lang="en-US" altLang="zh-TW" sz="700" dirty="0" smtClean="0">
              <a:latin typeface="Adobe Gothic Std B" pitchFamily="34" charset="-128"/>
              <a:ea typeface="Adobe Gothic Std B" pitchFamily="34" charset="-128"/>
            </a:endParaRPr>
          </a:p>
          <a:p>
            <a:pPr lvl="1"/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Load balancers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spread traffic across multiple applications</a:t>
            </a:r>
          </a:p>
        </p:txBody>
      </p:sp>
      <p:pic>
        <p:nvPicPr>
          <p:cNvPr id="58372" name="Picture 1" descr="1_2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221" y="3079750"/>
            <a:ext cx="4710112" cy="3728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97417" y="198967"/>
            <a:ext cx="76454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Cloud Computing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1683FB-640C-4C81-8B55-3ACB9AC5C412}" type="datetime1">
              <a:rPr lang="zh-TW" altLang="en-US" smtClean="0"/>
              <a:t>2018/2/19</a:t>
            </a:fld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OS1-2018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8707C6-4AF2-4255-9FDB-1EE42DA6F710}" type="slidenum">
              <a:rPr lang="en-US" altLang="zh-TW" smtClean="0"/>
              <a:pPr>
                <a:defRPr/>
              </a:pPr>
              <a:t>52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2050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75" y="333375"/>
            <a:ext cx="8235950" cy="6858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hangingPunct="1"/>
            <a:r>
              <a:rPr lang="zh-TW" altLang="en-US" sz="4000" dirty="0">
                <a:solidFill>
                  <a:srgbClr val="7030A0"/>
                </a:solidFill>
                <a:ea typeface="+mj-ea"/>
              </a:rPr>
              <a:t>   </a:t>
            </a:r>
            <a:r>
              <a:rPr lang="en-US" altLang="zh-TW" sz="4000" dirty="0">
                <a:solidFill>
                  <a:srgbClr val="7030A0"/>
                </a:solidFill>
                <a:ea typeface="+mj-ea"/>
              </a:rPr>
              <a:t>Software Stack for Cloud OS</a:t>
            </a:r>
          </a:p>
        </p:txBody>
      </p:sp>
      <p:sp>
        <p:nvSpPr>
          <p:cNvPr id="107523" name="Cloud"/>
          <p:cNvSpPr>
            <a:spLocks noChangeAspect="1" noEditPoints="1" noChangeArrowheads="1"/>
          </p:cNvSpPr>
          <p:nvPr/>
        </p:nvSpPr>
        <p:spPr bwMode="auto">
          <a:xfrm>
            <a:off x="2179638" y="2924175"/>
            <a:ext cx="4476750" cy="2449513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endParaRPr lang="zh-TW" altLang="en-US" sz="1800">
              <a:solidFill>
                <a:srgbClr val="000000"/>
              </a:solidFill>
              <a:latin typeface="Arial" pitchFamily="34" charset="0"/>
              <a:ea typeface="標楷體" pitchFamily="65" charset="-120"/>
            </a:endParaRPr>
          </a:p>
          <a:p>
            <a:pPr algn="ctr" eaLnBrk="1" hangingPunct="1"/>
            <a:endParaRPr lang="zh-TW" altLang="en-US" sz="1800">
              <a:solidFill>
                <a:srgbClr val="000000"/>
              </a:solidFill>
              <a:latin typeface="Arial" pitchFamily="34" charset="0"/>
              <a:ea typeface="標楷體" pitchFamily="65" charset="-120"/>
            </a:endParaRPr>
          </a:p>
        </p:txBody>
      </p:sp>
      <p:grpSp>
        <p:nvGrpSpPr>
          <p:cNvPr id="140292" name="Group 4"/>
          <p:cNvGrpSpPr>
            <a:grpSpLocks/>
          </p:cNvGrpSpPr>
          <p:nvPr/>
        </p:nvGrpSpPr>
        <p:grpSpPr bwMode="auto">
          <a:xfrm>
            <a:off x="317500" y="3357563"/>
            <a:ext cx="1862138" cy="1190625"/>
            <a:chOff x="217" y="2115"/>
            <a:chExt cx="1270" cy="750"/>
          </a:xfrm>
        </p:grpSpPr>
        <p:sp>
          <p:nvSpPr>
            <p:cNvPr id="140293" name="Text Box 5"/>
            <p:cNvSpPr txBox="1">
              <a:spLocks noChangeArrowheads="1"/>
            </p:cNvSpPr>
            <p:nvPr/>
          </p:nvSpPr>
          <p:spPr bwMode="auto">
            <a:xfrm>
              <a:off x="217" y="2115"/>
              <a:ext cx="883" cy="750"/>
            </a:xfrm>
            <a:prstGeom prst="rect">
              <a:avLst/>
            </a:prstGeom>
            <a:noFill/>
            <a:ln>
              <a:noFill/>
            </a:ln>
            <a:effectLst>
              <a:prstShdw prst="shdw13" dist="53882" dir="135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1800">
                  <a:solidFill>
                    <a:srgbClr val="000000"/>
                  </a:solidFill>
                  <a:latin typeface="Arial" pitchFamily="34" charset="0"/>
                </a:rPr>
                <a:t>Physical </a:t>
              </a:r>
            </a:p>
            <a:p>
              <a:pPr>
                <a:defRPr/>
              </a:pPr>
              <a:r>
                <a:rPr lang="en-US" altLang="zh-TW" sz="1800">
                  <a:solidFill>
                    <a:srgbClr val="000000"/>
                  </a:solidFill>
                  <a:latin typeface="Arial" pitchFamily="34" charset="0"/>
                </a:rPr>
                <a:t>Cluster</a:t>
              </a:r>
            </a:p>
            <a:p>
              <a:pPr>
                <a:defRPr/>
              </a:pPr>
              <a:r>
                <a:rPr lang="en-US" altLang="zh-TW" sz="1800">
                  <a:solidFill>
                    <a:srgbClr val="000000"/>
                  </a:solidFill>
                  <a:latin typeface="Arial" pitchFamily="34" charset="0"/>
                </a:rPr>
                <a:t>Deployment</a:t>
              </a:r>
            </a:p>
            <a:p>
              <a:pPr>
                <a:defRPr/>
              </a:pPr>
              <a:r>
                <a:rPr lang="en-US" altLang="zh-TW" sz="1800">
                  <a:solidFill>
                    <a:srgbClr val="000000"/>
                  </a:solidFill>
                  <a:latin typeface="Arial" pitchFamily="34" charset="0"/>
                </a:rPr>
                <a:t>Tool</a:t>
              </a:r>
            </a:p>
          </p:txBody>
        </p:sp>
        <p:sp>
          <p:nvSpPr>
            <p:cNvPr id="107552" name="Line 6"/>
            <p:cNvSpPr>
              <a:spLocks noChangeShapeType="1"/>
            </p:cNvSpPr>
            <p:nvPr/>
          </p:nvSpPr>
          <p:spPr bwMode="auto">
            <a:xfrm>
              <a:off x="1079" y="2523"/>
              <a:ext cx="4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13500000" kx="-3284103" algn="b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40295" name="Text Box 7"/>
          <p:cNvSpPr txBox="1">
            <a:spLocks noChangeArrowheads="1"/>
          </p:cNvSpPr>
          <p:nvPr/>
        </p:nvSpPr>
        <p:spPr bwMode="auto">
          <a:xfrm>
            <a:off x="3043238" y="5876925"/>
            <a:ext cx="2913062" cy="366713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>
                <a:solidFill>
                  <a:srgbClr val="000000"/>
                </a:solidFill>
                <a:latin typeface="Arial" pitchFamily="34" charset="0"/>
              </a:rPr>
              <a:t>Virtual Machine Management</a:t>
            </a:r>
          </a:p>
        </p:txBody>
      </p:sp>
      <p:sp>
        <p:nvSpPr>
          <p:cNvPr id="140296" name="Line 8"/>
          <p:cNvSpPr>
            <a:spLocks noChangeShapeType="1"/>
          </p:cNvSpPr>
          <p:nvPr/>
        </p:nvSpPr>
        <p:spPr bwMode="auto">
          <a:xfrm>
            <a:off x="4371975" y="5445125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13500000" kx="-3284103" algn="br" rotWithShape="0">
                    <a:srgbClr val="00000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pSp>
        <p:nvGrpSpPr>
          <p:cNvPr id="140297" name="Group 9"/>
          <p:cNvGrpSpPr>
            <a:grpSpLocks/>
          </p:cNvGrpSpPr>
          <p:nvPr/>
        </p:nvGrpSpPr>
        <p:grpSpPr bwMode="auto">
          <a:xfrm>
            <a:off x="3109913" y="2205038"/>
            <a:ext cx="2701925" cy="792162"/>
            <a:chOff x="2122" y="1389"/>
            <a:chExt cx="1844" cy="499"/>
          </a:xfrm>
        </p:grpSpPr>
        <p:sp>
          <p:nvSpPr>
            <p:cNvPr id="140298" name="Text Box 10"/>
            <p:cNvSpPr txBox="1">
              <a:spLocks noChangeArrowheads="1"/>
            </p:cNvSpPr>
            <p:nvPr/>
          </p:nvSpPr>
          <p:spPr bwMode="auto">
            <a:xfrm>
              <a:off x="2122" y="1389"/>
              <a:ext cx="1844" cy="231"/>
            </a:xfrm>
            <a:prstGeom prst="rect">
              <a:avLst/>
            </a:prstGeom>
            <a:noFill/>
            <a:ln>
              <a:noFill/>
            </a:ln>
            <a:effectLst>
              <a:prstShdw prst="shdw13" dist="53882" dir="135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1800" dirty="0">
                  <a:solidFill>
                    <a:srgbClr val="000000"/>
                  </a:solidFill>
                  <a:latin typeface="Arial" pitchFamily="34" charset="0"/>
                </a:rPr>
                <a:t>Virtual Cluster Provisioning</a:t>
              </a:r>
            </a:p>
          </p:txBody>
        </p:sp>
        <p:sp>
          <p:nvSpPr>
            <p:cNvPr id="107550" name="Line 11"/>
            <p:cNvSpPr>
              <a:spLocks noChangeShapeType="1"/>
            </p:cNvSpPr>
            <p:nvPr/>
          </p:nvSpPr>
          <p:spPr bwMode="auto">
            <a:xfrm>
              <a:off x="3029" y="1616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13500000" kx="-3284103" algn="b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40300" name="Text Box 12"/>
          <p:cNvSpPr txBox="1">
            <a:spLocks noChangeArrowheads="1"/>
          </p:cNvSpPr>
          <p:nvPr/>
        </p:nvSpPr>
        <p:spPr bwMode="auto">
          <a:xfrm>
            <a:off x="1114425" y="5373688"/>
            <a:ext cx="1401763" cy="6413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1800">
                <a:solidFill>
                  <a:srgbClr val="000000"/>
                </a:solidFill>
                <a:latin typeface="Arial" pitchFamily="34" charset="0"/>
              </a:rPr>
              <a:t>Power</a:t>
            </a:r>
          </a:p>
          <a:p>
            <a:pPr algn="ctr">
              <a:defRPr/>
            </a:pPr>
            <a:r>
              <a:rPr lang="en-US" altLang="zh-TW" sz="1800">
                <a:solidFill>
                  <a:srgbClr val="000000"/>
                </a:solidFill>
                <a:latin typeface="Arial" pitchFamily="34" charset="0"/>
              </a:rPr>
              <a:t>Management</a:t>
            </a:r>
          </a:p>
        </p:txBody>
      </p:sp>
      <p:sp>
        <p:nvSpPr>
          <p:cNvPr id="140301" name="Line 13"/>
          <p:cNvSpPr>
            <a:spLocks noChangeShapeType="1"/>
          </p:cNvSpPr>
          <p:nvPr/>
        </p:nvSpPr>
        <p:spPr bwMode="auto">
          <a:xfrm flipV="1">
            <a:off x="2179638" y="5013325"/>
            <a:ext cx="465137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13500000" kx="-3284103" algn="br" rotWithShape="0">
                    <a:srgbClr val="00000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40302" name="Text Box 14"/>
          <p:cNvSpPr txBox="1">
            <a:spLocks noChangeArrowheads="1"/>
          </p:cNvSpPr>
          <p:nvPr/>
        </p:nvSpPr>
        <p:spPr bwMode="auto">
          <a:xfrm>
            <a:off x="6632575" y="4868863"/>
            <a:ext cx="1998663" cy="6413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TW" sz="1800">
                <a:solidFill>
                  <a:srgbClr val="000000"/>
                </a:solidFill>
                <a:latin typeface="Arial" pitchFamily="34" charset="0"/>
              </a:rPr>
              <a:t>Intra-Virtual-Cluster</a:t>
            </a:r>
          </a:p>
          <a:p>
            <a:pPr algn="ctr">
              <a:defRPr/>
            </a:pPr>
            <a:r>
              <a:rPr lang="en-US" altLang="zh-TW" sz="1800">
                <a:solidFill>
                  <a:srgbClr val="000000"/>
                </a:solidFill>
                <a:latin typeface="Arial" pitchFamily="34" charset="0"/>
              </a:rPr>
              <a:t>Load Balancing</a:t>
            </a:r>
          </a:p>
        </p:txBody>
      </p:sp>
      <p:sp>
        <p:nvSpPr>
          <p:cNvPr id="140303" name="Line 15"/>
          <p:cNvSpPr>
            <a:spLocks noChangeShapeType="1"/>
          </p:cNvSpPr>
          <p:nvPr/>
        </p:nvSpPr>
        <p:spPr bwMode="auto">
          <a:xfrm flipH="1" flipV="1">
            <a:off x="6299200" y="4724400"/>
            <a:ext cx="40005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13500000" kx="-3284103" algn="br" rotWithShape="0">
                    <a:srgbClr val="00000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pSp>
        <p:nvGrpSpPr>
          <p:cNvPr id="140304" name="Group 16"/>
          <p:cNvGrpSpPr>
            <a:grpSpLocks/>
          </p:cNvGrpSpPr>
          <p:nvPr/>
        </p:nvGrpSpPr>
        <p:grpSpPr bwMode="auto">
          <a:xfrm>
            <a:off x="6432550" y="2420938"/>
            <a:ext cx="2038350" cy="936625"/>
            <a:chOff x="4390" y="1525"/>
            <a:chExt cx="1391" cy="590"/>
          </a:xfrm>
        </p:grpSpPr>
        <p:sp>
          <p:nvSpPr>
            <p:cNvPr id="140305" name="Text Box 17"/>
            <p:cNvSpPr txBox="1">
              <a:spLocks noChangeArrowheads="1"/>
            </p:cNvSpPr>
            <p:nvPr/>
          </p:nvSpPr>
          <p:spPr bwMode="auto">
            <a:xfrm>
              <a:off x="4618" y="1525"/>
              <a:ext cx="1168" cy="404"/>
            </a:xfrm>
            <a:prstGeom prst="rect">
              <a:avLst/>
            </a:prstGeom>
            <a:noFill/>
            <a:ln>
              <a:noFill/>
            </a:ln>
            <a:effectLst>
              <a:prstShdw prst="shdw13" dist="53882" dir="135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TW" sz="1800">
                  <a:solidFill>
                    <a:srgbClr val="000000"/>
                  </a:solidFill>
                  <a:latin typeface="Arial" pitchFamily="34" charset="0"/>
                </a:rPr>
                <a:t>Network/System</a:t>
              </a:r>
            </a:p>
            <a:p>
              <a:pPr algn="ctr">
                <a:defRPr/>
              </a:pPr>
              <a:r>
                <a:rPr lang="en-US" altLang="zh-TW" sz="1800">
                  <a:solidFill>
                    <a:srgbClr val="000000"/>
                  </a:solidFill>
                  <a:latin typeface="Arial" pitchFamily="34" charset="0"/>
                </a:rPr>
                <a:t>Management</a:t>
              </a:r>
            </a:p>
          </p:txBody>
        </p:sp>
        <p:sp>
          <p:nvSpPr>
            <p:cNvPr id="107548" name="Line 18"/>
            <p:cNvSpPr>
              <a:spLocks noChangeShapeType="1"/>
            </p:cNvSpPr>
            <p:nvPr/>
          </p:nvSpPr>
          <p:spPr bwMode="auto">
            <a:xfrm flipH="1">
              <a:off x="4390" y="1842"/>
              <a:ext cx="272" cy="2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13500000" kx="-3284103" algn="b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40307" name="Group 19"/>
          <p:cNvGrpSpPr>
            <a:grpSpLocks/>
          </p:cNvGrpSpPr>
          <p:nvPr/>
        </p:nvGrpSpPr>
        <p:grpSpPr bwMode="auto">
          <a:xfrm>
            <a:off x="6699250" y="3716338"/>
            <a:ext cx="1397000" cy="366712"/>
            <a:chOff x="4572" y="2341"/>
            <a:chExt cx="953" cy="231"/>
          </a:xfrm>
        </p:grpSpPr>
        <p:sp>
          <p:nvSpPr>
            <p:cNvPr id="140308" name="Text Box 20"/>
            <p:cNvSpPr txBox="1">
              <a:spLocks noChangeArrowheads="1"/>
            </p:cNvSpPr>
            <p:nvPr/>
          </p:nvSpPr>
          <p:spPr bwMode="auto">
            <a:xfrm>
              <a:off x="4889" y="2341"/>
              <a:ext cx="636" cy="231"/>
            </a:xfrm>
            <a:prstGeom prst="rect">
              <a:avLst/>
            </a:prstGeom>
            <a:noFill/>
            <a:ln>
              <a:noFill/>
            </a:ln>
            <a:effectLst>
              <a:prstShdw prst="shdw13" dist="53882" dir="135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1800">
                  <a:solidFill>
                    <a:srgbClr val="000000"/>
                  </a:solidFill>
                  <a:latin typeface="Arial" pitchFamily="34" charset="0"/>
                </a:rPr>
                <a:t>Security</a:t>
              </a:r>
            </a:p>
          </p:txBody>
        </p:sp>
        <p:sp>
          <p:nvSpPr>
            <p:cNvPr id="107546" name="Line 21"/>
            <p:cNvSpPr>
              <a:spLocks noChangeShapeType="1"/>
            </p:cNvSpPr>
            <p:nvPr/>
          </p:nvSpPr>
          <p:spPr bwMode="auto">
            <a:xfrm>
              <a:off x="4572" y="2478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13500000" kx="-3284103" algn="b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40310" name="Group 22"/>
          <p:cNvGrpSpPr>
            <a:grpSpLocks/>
          </p:cNvGrpSpPr>
          <p:nvPr/>
        </p:nvGrpSpPr>
        <p:grpSpPr bwMode="auto">
          <a:xfrm>
            <a:off x="2711450" y="1412875"/>
            <a:ext cx="4252913" cy="936625"/>
            <a:chOff x="1850" y="890"/>
            <a:chExt cx="2903" cy="590"/>
          </a:xfrm>
        </p:grpSpPr>
        <p:sp>
          <p:nvSpPr>
            <p:cNvPr id="140311" name="Text Box 23"/>
            <p:cNvSpPr txBox="1">
              <a:spLocks noChangeArrowheads="1"/>
            </p:cNvSpPr>
            <p:nvPr/>
          </p:nvSpPr>
          <p:spPr bwMode="auto">
            <a:xfrm>
              <a:off x="1850" y="890"/>
              <a:ext cx="2696" cy="250"/>
            </a:xfrm>
            <a:prstGeom prst="rect">
              <a:avLst/>
            </a:prstGeom>
            <a:noFill/>
            <a:ln>
              <a:noFill/>
            </a:ln>
            <a:effectLst>
              <a:prstShdw prst="shdw13" dist="53882" dir="135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2000">
                  <a:solidFill>
                    <a:srgbClr val="000000"/>
                  </a:solidFill>
                  <a:latin typeface="Arial" pitchFamily="34" charset="0"/>
                </a:rPr>
                <a:t>Cloud Application Management Tool</a:t>
              </a:r>
            </a:p>
          </p:txBody>
        </p:sp>
        <p:sp>
          <p:nvSpPr>
            <p:cNvPr id="107543" name="Line 24"/>
            <p:cNvSpPr>
              <a:spLocks noChangeShapeType="1"/>
            </p:cNvSpPr>
            <p:nvPr/>
          </p:nvSpPr>
          <p:spPr bwMode="auto">
            <a:xfrm>
              <a:off x="3029" y="1117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13500000" kx="-3284103" algn="b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7544" name="Line 25"/>
            <p:cNvSpPr>
              <a:spLocks noChangeShapeType="1"/>
            </p:cNvSpPr>
            <p:nvPr/>
          </p:nvSpPr>
          <p:spPr bwMode="auto">
            <a:xfrm>
              <a:off x="4163" y="1117"/>
              <a:ext cx="59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13500000" kx="-3284103" algn="b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40314" name="Text Box 26"/>
          <p:cNvSpPr txBox="1">
            <a:spLocks noChangeArrowheads="1"/>
          </p:cNvSpPr>
          <p:nvPr/>
        </p:nvSpPr>
        <p:spPr bwMode="auto">
          <a:xfrm>
            <a:off x="3243263" y="3500438"/>
            <a:ext cx="2654300" cy="366712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>
                <a:solidFill>
                  <a:srgbClr val="FF0000"/>
                </a:solidFill>
                <a:latin typeface="Arial" pitchFamily="34" charset="0"/>
              </a:rPr>
              <a:t>Physical Compute Servers</a:t>
            </a:r>
          </a:p>
        </p:txBody>
      </p:sp>
      <p:sp>
        <p:nvSpPr>
          <p:cNvPr id="140315" name="Text Box 27"/>
          <p:cNvSpPr txBox="1">
            <a:spLocks noChangeArrowheads="1"/>
          </p:cNvSpPr>
          <p:nvPr/>
        </p:nvSpPr>
        <p:spPr bwMode="auto">
          <a:xfrm>
            <a:off x="3508375" y="4221163"/>
            <a:ext cx="2009775" cy="366712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>
                <a:solidFill>
                  <a:srgbClr val="000000"/>
                </a:solidFill>
                <a:latin typeface="Arial" pitchFamily="34" charset="0"/>
              </a:rPr>
              <a:t>All-layer-2 Network </a:t>
            </a:r>
          </a:p>
        </p:txBody>
      </p:sp>
      <p:sp>
        <p:nvSpPr>
          <p:cNvPr id="140316" name="Text Box 28"/>
          <p:cNvSpPr txBox="1">
            <a:spLocks noChangeArrowheads="1"/>
          </p:cNvSpPr>
          <p:nvPr/>
        </p:nvSpPr>
        <p:spPr bwMode="auto">
          <a:xfrm>
            <a:off x="2711450" y="3860800"/>
            <a:ext cx="3557588" cy="366713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>
                <a:solidFill>
                  <a:srgbClr val="000000"/>
                </a:solidFill>
                <a:latin typeface="Arial" pitchFamily="34" charset="0"/>
              </a:rPr>
              <a:t>Distributed Main/Secondary Storage</a:t>
            </a:r>
          </a:p>
        </p:txBody>
      </p:sp>
      <p:sp>
        <p:nvSpPr>
          <p:cNvPr id="107538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78A46B0-AC30-49CC-BEE6-753E76561532}" type="slidenum">
              <a:rPr kumimoji="0" lang="en-US" altLang="zh-TW" sz="1400" smtClean="0">
                <a:solidFill>
                  <a:srgbClr val="000000"/>
                </a:solidFill>
              </a:rPr>
              <a:pPr eaLnBrk="1" hangingPunct="1"/>
              <a:t>53</a:t>
            </a:fld>
            <a:endParaRPr kumimoji="0" lang="en-US" altLang="zh-TW" sz="1400" smtClean="0">
              <a:solidFill>
                <a:srgbClr val="000000"/>
              </a:solidFill>
            </a:endParaRPr>
          </a:p>
        </p:txBody>
      </p:sp>
      <p:sp>
        <p:nvSpPr>
          <p:cNvPr id="107539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ABA10C6-184D-4C70-9521-80217E5C810D}" type="datetime1">
              <a:rPr kumimoji="0" lang="zh-TW" altLang="en-US" sz="1400" smtClean="0">
                <a:solidFill>
                  <a:srgbClr val="000000"/>
                </a:solidFill>
              </a:rPr>
              <a:t>2018/2/19</a:t>
            </a:fld>
            <a:endParaRPr kumimoji="0" lang="en-US" altLang="zh-TW" sz="1400" smtClean="0">
              <a:solidFill>
                <a:srgbClr val="000000"/>
              </a:solidFill>
            </a:endParaRPr>
          </a:p>
        </p:txBody>
      </p:sp>
      <p:sp>
        <p:nvSpPr>
          <p:cNvPr id="107540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000000"/>
                </a:solidFill>
              </a:rPr>
              <a:t>OS1-2018</a:t>
            </a:r>
            <a:endParaRPr kumimoji="0" lang="en-US" altLang="zh-TW" sz="1400" smtClean="0">
              <a:solidFill>
                <a:srgbClr val="000000"/>
              </a:solidFill>
            </a:endParaRPr>
          </a:p>
        </p:txBody>
      </p:sp>
      <p:sp>
        <p:nvSpPr>
          <p:cNvPr id="107541" name="文字方塊 1"/>
          <p:cNvSpPr txBox="1">
            <a:spLocks noChangeArrowheads="1"/>
          </p:cNvSpPr>
          <p:nvPr/>
        </p:nvSpPr>
        <p:spPr bwMode="auto">
          <a:xfrm>
            <a:off x="195263" y="1809750"/>
            <a:ext cx="2374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1800" dirty="0" smtClean="0">
                <a:solidFill>
                  <a:srgbClr val="FF0000"/>
                </a:solidFill>
              </a:rPr>
              <a:t>Hypervisor (VMM)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sz="1800" dirty="0" smtClean="0">
                <a:solidFill>
                  <a:srgbClr val="FF0000"/>
                </a:solidFill>
              </a:rPr>
              <a:t>Xen</a:t>
            </a:r>
            <a:r>
              <a:rPr lang="en-US" altLang="zh-TW" sz="1800" dirty="0">
                <a:solidFill>
                  <a:srgbClr val="FF0000"/>
                </a:solidFill>
              </a:rPr>
              <a:t>, Cambridge 2003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0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4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5" grpId="0"/>
      <p:bldP spid="140296" grpId="0" animBg="1"/>
      <p:bldP spid="140300" grpId="0"/>
      <p:bldP spid="140301" grpId="0" animBg="1"/>
      <p:bldP spid="140302" grpId="0"/>
      <p:bldP spid="14030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75" y="333375"/>
            <a:ext cx="8235950" cy="6858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hangingPunct="1"/>
            <a:r>
              <a:rPr lang="zh-TW" altLang="en-US" sz="4000" dirty="0">
                <a:solidFill>
                  <a:srgbClr val="7030A0"/>
                </a:solidFill>
                <a:ea typeface="+mj-ea"/>
              </a:rPr>
              <a:t>   </a:t>
            </a:r>
            <a:r>
              <a:rPr lang="en-US" altLang="zh-TW" sz="4000" dirty="0" smtClean="0">
                <a:solidFill>
                  <a:srgbClr val="7030A0"/>
                </a:solidFill>
                <a:ea typeface="+mj-ea"/>
              </a:rPr>
              <a:t>OpenStack</a:t>
            </a:r>
            <a:endParaRPr lang="en-US" altLang="zh-TW" sz="4000" dirty="0">
              <a:solidFill>
                <a:srgbClr val="7030A0"/>
              </a:solidFill>
              <a:ea typeface="+mj-ea"/>
            </a:endParaRPr>
          </a:p>
        </p:txBody>
      </p:sp>
      <p:sp>
        <p:nvSpPr>
          <p:cNvPr id="107538" name="投影片編號版面配置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78A46B0-AC30-49CC-BEE6-753E76561532}" type="slidenum">
              <a:rPr kumimoji="0" lang="en-US" altLang="zh-TW" sz="1400" smtClean="0">
                <a:solidFill>
                  <a:srgbClr val="000000"/>
                </a:solidFill>
              </a:rPr>
              <a:pPr eaLnBrk="1" hangingPunct="1"/>
              <a:t>54</a:t>
            </a:fld>
            <a:endParaRPr kumimoji="0" lang="en-US" altLang="zh-TW" sz="1400" smtClean="0">
              <a:solidFill>
                <a:srgbClr val="000000"/>
              </a:solidFill>
            </a:endParaRPr>
          </a:p>
        </p:txBody>
      </p:sp>
      <p:sp>
        <p:nvSpPr>
          <p:cNvPr id="107539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950A3ED-7457-4B4D-A845-BF5893B97B88}" type="datetime1">
              <a:rPr kumimoji="0" lang="zh-TW" altLang="en-US" sz="1400" smtClean="0">
                <a:solidFill>
                  <a:srgbClr val="000000"/>
                </a:solidFill>
              </a:rPr>
              <a:t>2018/2/19</a:t>
            </a:fld>
            <a:endParaRPr kumimoji="0" lang="en-US" altLang="zh-TW" sz="1400" smtClean="0">
              <a:solidFill>
                <a:srgbClr val="000000"/>
              </a:solidFill>
            </a:endParaRPr>
          </a:p>
        </p:txBody>
      </p:sp>
      <p:sp>
        <p:nvSpPr>
          <p:cNvPr id="107540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000000"/>
                </a:solidFill>
              </a:rPr>
              <a:t>OS1-2018</a:t>
            </a:r>
            <a:endParaRPr kumimoji="0" lang="en-US" altLang="zh-TW" sz="1400" smtClean="0">
              <a:solidFill>
                <a:srgbClr val="000000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19175"/>
            <a:ext cx="6858000" cy="242926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562" y="83037"/>
            <a:ext cx="2636678" cy="93613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9563" y="85725"/>
            <a:ext cx="2152957" cy="9334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8525" y="3286282"/>
            <a:ext cx="4647247" cy="357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36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378380D-B413-40DB-B656-0B3BAB15073A}" type="slidenum">
              <a:rPr kumimoji="0" lang="en-US" altLang="zh-TW" sz="1400" smtClean="0"/>
              <a:pPr eaLnBrk="1" hangingPunct="1"/>
              <a:t>55</a:t>
            </a:fld>
            <a:endParaRPr kumimoji="0" lang="en-US" altLang="zh-TW" sz="1400" smtClean="0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4000" dirty="0">
                <a:solidFill>
                  <a:srgbClr val="7030A0"/>
                </a:solidFill>
                <a:ea typeface="+mj-ea"/>
              </a:rPr>
              <a:t>Real-Time </a:t>
            </a:r>
            <a:r>
              <a:rPr lang="en-US" altLang="zh-TW" sz="4000" dirty="0" smtClean="0">
                <a:solidFill>
                  <a:srgbClr val="7030A0"/>
                </a:solidFill>
                <a:ea typeface="+mj-ea"/>
              </a:rPr>
              <a:t>Embedded Systems</a:t>
            </a:r>
            <a:endParaRPr lang="en-US" altLang="zh-TW" sz="4000" dirty="0">
              <a:solidFill>
                <a:srgbClr val="7030A0"/>
              </a:solidFill>
              <a:ea typeface="+mj-ea"/>
            </a:endParaRPr>
          </a:p>
        </p:txBody>
      </p:sp>
      <p:sp>
        <p:nvSpPr>
          <p:cNvPr id="4321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1800" y="1253067"/>
            <a:ext cx="8159750" cy="4858808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Embedded computers are the most prevalent form of computers in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existence. These </a:t>
            </a: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devices are found everywhere, from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car engines </a:t>
            </a: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and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manufacturing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robots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to Unmanned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aerial </a:t>
            </a: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v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ehicle (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UAV,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Drone</a:t>
            </a: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) and microwave ovens.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Embedded systems almost always run real-time operating systems. </a:t>
            </a:r>
            <a:endParaRPr lang="en-US" altLang="zh-TW" sz="2400" dirty="0" smtClean="0"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A real-time </a:t>
            </a: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system is used when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rigid time requirements </a:t>
            </a: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have been placed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on the </a:t>
            </a: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operation of a processor or the flow of data; thus, it is often used as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a control </a:t>
            </a: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device in a dedicated application. </a:t>
            </a:r>
            <a:endParaRPr lang="en-US" altLang="zh-TW" sz="2400" dirty="0" smtClean="0"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9421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86553E4-2214-486B-99FE-EDB36406C9F5}" type="datetime1">
              <a:rPr kumimoji="0" lang="zh-TW" altLang="en-US" sz="1400" smtClean="0"/>
              <a:t>2018/2/19</a:t>
            </a:fld>
            <a:endParaRPr kumimoji="0" lang="en-US" altLang="zh-TW" sz="1400" dirty="0" smtClean="0"/>
          </a:p>
        </p:txBody>
      </p:sp>
      <p:sp>
        <p:nvSpPr>
          <p:cNvPr id="9421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59" y="5348816"/>
            <a:ext cx="1776942" cy="1582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93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378380D-B413-40DB-B656-0B3BAB15073A}" type="slidenum">
              <a:rPr kumimoji="0" lang="en-US" altLang="zh-TW" sz="1400" smtClean="0"/>
              <a:pPr eaLnBrk="1" hangingPunct="1"/>
              <a:t>56</a:t>
            </a:fld>
            <a:endParaRPr kumimoji="0" lang="en-US" altLang="zh-TW" sz="1400" smtClean="0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4000" dirty="0">
                <a:solidFill>
                  <a:srgbClr val="7030A0"/>
                </a:solidFill>
                <a:ea typeface="+mj-ea"/>
              </a:rPr>
              <a:t>Real-Time </a:t>
            </a:r>
            <a:r>
              <a:rPr lang="en-US" altLang="zh-TW" sz="4000" dirty="0" smtClean="0">
                <a:solidFill>
                  <a:srgbClr val="7030A0"/>
                </a:solidFill>
                <a:ea typeface="+mj-ea"/>
              </a:rPr>
              <a:t>Embedded Systems</a:t>
            </a:r>
            <a:endParaRPr lang="en-US" altLang="zh-TW" sz="4000" dirty="0">
              <a:solidFill>
                <a:srgbClr val="7030A0"/>
              </a:solidFill>
              <a:ea typeface="+mj-ea"/>
            </a:endParaRPr>
          </a:p>
        </p:txBody>
      </p:sp>
      <p:sp>
        <p:nvSpPr>
          <p:cNvPr id="4321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1800" y="1253067"/>
            <a:ext cx="8159750" cy="4858808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Sensors </a:t>
            </a: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bring data to the computer. The computer must analyze the data and possibly adjust controls to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modify the </a:t>
            </a: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sensor inputs.</a:t>
            </a:r>
            <a:endParaRPr lang="en-US" altLang="zh-TW" sz="2400" dirty="0" smtClean="0"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A real-time system has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well-defined, fixed time constraints.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Processing must </a:t>
            </a: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be done within the defined constraints, or the system will fail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Real-time systems may be either </a:t>
            </a:r>
            <a:r>
              <a:rPr lang="en-US" altLang="zh-TW" sz="2400" i="1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hard</a:t>
            </a:r>
            <a:r>
              <a:rPr lang="en-US" altLang="zh-TW" sz="2400" i="1" dirty="0" smtClean="0"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or </a:t>
            </a:r>
            <a:r>
              <a:rPr lang="en-US" altLang="zh-TW" sz="2400" i="1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soft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 real-time.</a:t>
            </a:r>
          </a:p>
        </p:txBody>
      </p:sp>
      <p:sp>
        <p:nvSpPr>
          <p:cNvPr id="9421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D2E5A19-E7D5-4D34-8E96-E5B1FEB08126}" type="datetime1">
              <a:rPr kumimoji="0" lang="zh-TW" altLang="en-US" sz="1400" smtClean="0"/>
              <a:t>2018/2/19</a:t>
            </a:fld>
            <a:endParaRPr kumimoji="0" lang="en-US" altLang="zh-TW" sz="1400" dirty="0" smtClean="0"/>
          </a:p>
        </p:txBody>
      </p:sp>
      <p:sp>
        <p:nvSpPr>
          <p:cNvPr id="9421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  <p:extLst>
      <p:ext uri="{BB962C8B-B14F-4D97-AF65-F5344CB8AC3E}">
        <p14:creationId xmlns:p14="http://schemas.microsoft.com/office/powerpoint/2010/main" val="55263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2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2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2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2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55B9787-3C75-4D1A-8B2D-6DDB70AD9A00}" type="slidenum">
              <a:rPr kumimoji="0" lang="en-US" altLang="zh-TW" sz="1400" smtClean="0"/>
              <a:pPr eaLnBrk="1" hangingPunct="1"/>
              <a:t>57</a:t>
            </a:fld>
            <a:endParaRPr kumimoji="0" lang="en-US" altLang="zh-TW" sz="1400" smtClean="0"/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>
          <a:xfrm>
            <a:off x="622300" y="203200"/>
            <a:ext cx="7772400" cy="749300"/>
          </a:xfrm>
        </p:spPr>
        <p:txBody>
          <a:bodyPr/>
          <a:lstStyle/>
          <a:p>
            <a:pPr algn="l" eaLnBrk="1" hangingPunct="1"/>
            <a:r>
              <a:rPr lang="en-US" altLang="zh-TW" sz="4000" dirty="0">
                <a:solidFill>
                  <a:srgbClr val="7030A0"/>
                </a:solidFill>
                <a:ea typeface="+mj-ea"/>
              </a:rPr>
              <a:t>Real-Time </a:t>
            </a:r>
            <a:r>
              <a:rPr lang="en-US" altLang="zh-TW" sz="4000" dirty="0" smtClean="0">
                <a:solidFill>
                  <a:srgbClr val="7030A0"/>
                </a:solidFill>
                <a:ea typeface="+mj-ea"/>
              </a:rPr>
              <a:t>Embedded Systems</a:t>
            </a:r>
            <a:endParaRPr lang="en-US" altLang="zh-TW" sz="4000" dirty="0">
              <a:solidFill>
                <a:srgbClr val="7030A0"/>
              </a:solidFill>
              <a:ea typeface="+mj-ea"/>
            </a:endParaRPr>
          </a:p>
        </p:txBody>
      </p:sp>
      <p:sp>
        <p:nvSpPr>
          <p:cNvPr id="434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09083" y="885297"/>
            <a:ext cx="8083550" cy="5321300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latin typeface="Adobe Gothic Std B" pitchFamily="34" charset="-128"/>
                <a:ea typeface="Adobe Gothic Std B" pitchFamily="34" charset="-128"/>
              </a:rPr>
              <a:t>Hard real-time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TW" dirty="0" smtClean="0">
                <a:latin typeface="Adobe Gothic Std B" pitchFamily="34" charset="-128"/>
                <a:ea typeface="Adobe Gothic Std B" pitchFamily="34" charset="-128"/>
              </a:rPr>
              <a:t>Guarantees that the critical tasks </a:t>
            </a:r>
            <a:r>
              <a:rPr lang="en-US" altLang="zh-TW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complete on time.</a:t>
            </a:r>
            <a:r>
              <a:rPr lang="en-US" altLang="zh-TW" dirty="0" smtClean="0">
                <a:latin typeface="Adobe Gothic Std B" pitchFamily="34" charset="-128"/>
                <a:ea typeface="Adobe Gothic Std B" pitchFamily="34" charset="-128"/>
              </a:rPr>
              <a:t> 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TW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Secondary storage limited</a:t>
            </a:r>
            <a:r>
              <a:rPr lang="en-US" altLang="zh-TW" dirty="0" smtClean="0">
                <a:latin typeface="Adobe Gothic Std B" pitchFamily="34" charset="-128"/>
                <a:ea typeface="Adobe Gothic Std B" pitchFamily="34" charset="-128"/>
              </a:rPr>
              <a:t> or </a:t>
            </a:r>
            <a:r>
              <a:rPr lang="en-US" altLang="zh-TW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absent</a:t>
            </a:r>
            <a:r>
              <a:rPr lang="en-US" altLang="zh-TW" dirty="0" smtClean="0">
                <a:latin typeface="Adobe Gothic Std B" pitchFamily="34" charset="-128"/>
                <a:ea typeface="Adobe Gothic Std B" pitchFamily="34" charset="-128"/>
              </a:rPr>
              <a:t>, data stored in short term memory, or read-only memory (ROM)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TW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Conflicts with time-sharing systems</a:t>
            </a:r>
            <a:r>
              <a:rPr lang="en-US" altLang="zh-TW" dirty="0" smtClean="0">
                <a:latin typeface="Adobe Gothic Std B" pitchFamily="34" charset="-128"/>
                <a:ea typeface="Adobe Gothic Std B" pitchFamily="34" charset="-128"/>
              </a:rPr>
              <a:t>, not supported by general-purpose operating systems.</a:t>
            </a:r>
          </a:p>
          <a:p>
            <a:pPr eaLnBrk="1" hangingPunct="1"/>
            <a:r>
              <a:rPr lang="en-US" altLang="zh-TW" dirty="0">
                <a:latin typeface="Adobe Gothic Std B" pitchFamily="34" charset="-128"/>
                <a:ea typeface="Adobe Gothic Std B" pitchFamily="34" charset="-128"/>
              </a:rPr>
              <a:t>Soft real-time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latin typeface="Adobe Gothic Std B" pitchFamily="34" charset="-128"/>
                <a:ea typeface="Adobe Gothic Std B" pitchFamily="34" charset="-128"/>
              </a:rPr>
              <a:t>A critical real-time task gets </a:t>
            </a:r>
            <a:r>
              <a:rPr lang="en-US" altLang="zh-TW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priority</a:t>
            </a:r>
            <a:r>
              <a:rPr lang="en-US" altLang="zh-TW" dirty="0">
                <a:latin typeface="Adobe Gothic Std B" pitchFamily="34" charset="-128"/>
                <a:ea typeface="Adobe Gothic Std B" pitchFamily="34" charset="-128"/>
              </a:rPr>
              <a:t> over other tasks, and retains that priority until it </a:t>
            </a:r>
            <a:r>
              <a:rPr lang="en-US" altLang="zh-TW" dirty="0" smtClean="0">
                <a:latin typeface="Adobe Gothic Std B" pitchFamily="34" charset="-128"/>
                <a:ea typeface="Adobe Gothic Std B" pitchFamily="34" charset="-128"/>
              </a:rPr>
              <a:t>completes.</a:t>
            </a:r>
            <a:endParaRPr lang="en-US" altLang="zh-TW" dirty="0">
              <a:latin typeface="Adobe Gothic Std B" pitchFamily="34" charset="-128"/>
              <a:ea typeface="Adobe Gothic Std B" pitchFamily="34" charset="-128"/>
            </a:endParaRP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zh-TW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Kernel delays </a:t>
            </a:r>
            <a:r>
              <a:rPr lang="en-US" altLang="zh-TW" dirty="0">
                <a:latin typeface="Adobe Gothic Std B" pitchFamily="34" charset="-128"/>
                <a:ea typeface="Adobe Gothic Std B" pitchFamily="34" charset="-128"/>
              </a:rPr>
              <a:t>need to be bounded; Limited utility in industrial control of </a:t>
            </a:r>
            <a:r>
              <a:rPr lang="en-US" altLang="zh-TW" dirty="0" smtClean="0">
                <a:latin typeface="Adobe Gothic Std B" pitchFamily="34" charset="-128"/>
                <a:ea typeface="Adobe Gothic Std B" pitchFamily="34" charset="-128"/>
              </a:rPr>
              <a:t>robotics</a:t>
            </a:r>
            <a:r>
              <a:rPr lang="en-US" altLang="zh-TW" dirty="0">
                <a:latin typeface="Adobe Gothic Std B" pitchFamily="34" charset="-128"/>
                <a:ea typeface="Adobe Gothic Std B" pitchFamily="34" charset="-128"/>
              </a:rPr>
              <a:t>.</a:t>
            </a:r>
          </a:p>
        </p:txBody>
      </p:sp>
      <p:sp>
        <p:nvSpPr>
          <p:cNvPr id="95237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27C139B-4E4A-4366-A151-1C9885A740C8}" type="datetime1">
              <a:rPr kumimoji="0" lang="zh-TW" altLang="en-US" sz="1400" smtClean="0"/>
              <a:t>2018/2/19</a:t>
            </a:fld>
            <a:endParaRPr kumimoji="0" lang="en-US" altLang="zh-TW" sz="1400" smtClean="0"/>
          </a:p>
        </p:txBody>
      </p:sp>
      <p:sp>
        <p:nvSpPr>
          <p:cNvPr id="95238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OS1-2018</a:t>
            </a:r>
            <a:endParaRPr kumimoji="0" lang="en-US" altLang="zh-TW" sz="1400" smtClean="0"/>
          </a:p>
        </p:txBody>
      </p:sp>
    </p:spTree>
    <p:extLst>
      <p:ext uri="{BB962C8B-B14F-4D97-AF65-F5344CB8AC3E}">
        <p14:creationId xmlns:p14="http://schemas.microsoft.com/office/powerpoint/2010/main" val="407339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4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4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4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4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4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4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4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4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4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4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4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4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4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4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FD29F65-BE9B-4AA6-8A16-76662DB35927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58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8547" name="Title 1"/>
          <p:cNvSpPr>
            <a:spLocks noGrp="1"/>
          </p:cNvSpPr>
          <p:nvPr>
            <p:ph type="title" idx="4294967295"/>
          </p:nvPr>
        </p:nvSpPr>
        <p:spPr>
          <a:xfrm>
            <a:off x="321733" y="304800"/>
            <a:ext cx="8517467" cy="639763"/>
          </a:xfrm>
        </p:spPr>
        <p:txBody>
          <a:bodyPr/>
          <a:lstStyle/>
          <a:p>
            <a:pPr eaLnBrk="1" hangingPunct="1"/>
            <a:r>
              <a:rPr lang="en-US" altLang="zh-TW" sz="4000" b="1" dirty="0">
                <a:solidFill>
                  <a:srgbClr val="7030A0"/>
                </a:solidFill>
              </a:rPr>
              <a:t>Open-Source Operating </a:t>
            </a:r>
            <a:r>
              <a:rPr lang="en-US" altLang="zh-TW" sz="4000" b="1" dirty="0" smtClean="0">
                <a:solidFill>
                  <a:srgbClr val="7030A0"/>
                </a:solidFill>
              </a:rPr>
              <a:t>Systems</a:t>
            </a:r>
            <a:endParaRPr lang="en-US" altLang="zh-TW" sz="4000" b="1" dirty="0">
              <a:solidFill>
                <a:srgbClr val="7030A0"/>
              </a:solidFill>
            </a:endParaRPr>
          </a:p>
        </p:txBody>
      </p:sp>
      <p:sp>
        <p:nvSpPr>
          <p:cNvPr id="108548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298450" y="993775"/>
            <a:ext cx="8634413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available in source-code rather than just binary </a:t>
            </a:r>
            <a:r>
              <a:rPr lang="en-US" altLang="zh-TW" sz="28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closed-source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Learning OS by examining the actual source code, rather than reading summaries of that code, can be extremely useful. (modify </a:t>
            </a:r>
            <a:r>
              <a:rPr lang="en-US" altLang="zh-TW" sz="28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  <a:sym typeface="Symbol" pitchFamily="18" charset="2"/>
              </a:rPr>
              <a:t> compile  run)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Benefits: </a:t>
            </a:r>
            <a:r>
              <a:rPr lang="en-US" altLang="zh-TW" sz="28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community of interested programmers </a:t>
            </a: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contribute to the code: debug, analyze, support, and suggest changes. </a:t>
            </a:r>
          </a:p>
          <a:p>
            <a:pPr lvl="1" eaLnBrk="1" hangingPunct="1"/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More secure than closed-source codes (?)</a:t>
            </a:r>
          </a:p>
          <a:p>
            <a:pPr lvl="1" eaLnBrk="1" hangingPunct="1"/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Version control and services: Red Hat, etc.</a:t>
            </a:r>
          </a:p>
          <a:p>
            <a:pPr lvl="1" eaLnBrk="1" hangingPunct="1"/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Low cost</a:t>
            </a:r>
          </a:p>
        </p:txBody>
      </p:sp>
      <p:sp>
        <p:nvSpPr>
          <p:cNvPr id="108549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8A2058C-F460-4016-817C-006BCAC12A1D}" type="datetime1">
              <a:rPr kumimoji="0" lang="zh-TW" altLang="en-US" sz="1400" smtClean="0">
                <a:solidFill>
                  <a:srgbClr val="40458C"/>
                </a:solidFill>
              </a:rPr>
              <a:t>2018/2/19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8550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OS1-2018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3555" y="4658358"/>
            <a:ext cx="1664449" cy="2199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855" y="5853113"/>
            <a:ext cx="4457700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59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1203325"/>
            <a:ext cx="8634412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Counter to the </a:t>
            </a:r>
            <a:r>
              <a:rPr lang="en-US" altLang="zh-TW" sz="28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copy protection </a:t>
            </a:r>
            <a:r>
              <a:rPr lang="en-US" altLang="zh-TW" sz="28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</a:t>
            </a:r>
            <a:r>
              <a:rPr lang="en-US" altLang="zh-TW" sz="28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Digital Rights Management (DRM) </a:t>
            </a:r>
            <a:r>
              <a:rPr lang="en-US" altLang="zh-TW" sz="28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movement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Free Software Foundation (FSF)</a:t>
            </a:r>
            <a:r>
              <a:rPr lang="en-US" altLang="zh-TW" sz="28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which has </a:t>
            </a:r>
            <a:r>
              <a:rPr lang="en-US" altLang="zh-TW" sz="28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  <a:sym typeface="Symbol" pitchFamily="18" charset="2"/>
              </a:rPr>
              <a:t></a:t>
            </a:r>
            <a:r>
              <a:rPr lang="en-US" altLang="zh-TW" sz="28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copyleft</a:t>
            </a:r>
            <a:r>
              <a:rPr lang="en-US" altLang="zh-TW" sz="28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  <a:sym typeface="Symbol" pitchFamily="18" charset="2"/>
              </a:rPr>
              <a:t></a:t>
            </a:r>
            <a:r>
              <a:rPr lang="en-US" altLang="zh-TW" sz="28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8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GNU Public License (GPL)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Examples: </a:t>
            </a:r>
            <a:r>
              <a:rPr lang="en-US" altLang="zh-TW" sz="28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GNU/Linux, BSD UNIX </a:t>
            </a:r>
            <a:r>
              <a:rPr lang="en-US" altLang="zh-TW" sz="28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(including core of </a:t>
            </a:r>
            <a:r>
              <a:rPr lang="en-US" altLang="zh-TW" sz="28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Mac OS X</a:t>
            </a:r>
            <a:r>
              <a:rPr lang="en-US" altLang="zh-TW" sz="28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), and </a:t>
            </a:r>
            <a:r>
              <a:rPr lang="en-US" altLang="zh-TW" sz="28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Sun Solaris</a:t>
            </a:r>
            <a:r>
              <a:rPr lang="en-US" altLang="zh-TW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Can use VMM like VMware Player (Free on Windows), </a:t>
            </a:r>
            <a:r>
              <a:rPr lang="en-US" altLang="zh-TW" sz="2800" dirty="0" err="1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Virtualbox</a:t>
            </a:r>
            <a:r>
              <a:rPr lang="en-US" altLang="zh-TW" sz="28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 (open source and free on many platforms - http://www.virtualbox.com) 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7689A8E-64A4-4215-9F27-BC29B8E75645}" type="datetime1">
              <a:rPr kumimoji="0" lang="zh-TW" altLang="en-US" sz="1400" smtClean="0">
                <a:solidFill>
                  <a:srgbClr val="40458C"/>
                </a:solidFill>
              </a:rPr>
              <a:t>2018/2/19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OS1-2018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3" y="304800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smtClean="0">
                <a:solidFill>
                  <a:srgbClr val="7030A0"/>
                </a:solidFill>
              </a:rPr>
              <a:t>Open-Source Operating Systems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60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1203325"/>
            <a:ext cx="6317932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The largest open source community in the </a:t>
            </a: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world, </a:t>
            </a: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  <a:hlinkClick r:id="rId3"/>
              </a:rPr>
              <a:t>https</a:t>
            </a: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  <a:hlinkClick r:id="rId3"/>
              </a:rPr>
              <a:t>://github.com</a:t>
            </a: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  <a:hlinkClick r:id="rId3"/>
              </a:rPr>
              <a:t>/</a:t>
            </a: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err="1" smtClean="0">
                <a:latin typeface="Adobe Gothic Std B" pitchFamily="34" charset="-128"/>
                <a:ea typeface="Adobe Gothic Std B" pitchFamily="34" charset="-128"/>
              </a:rPr>
              <a:t>Git</a:t>
            </a: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:  </a:t>
            </a:r>
            <a:r>
              <a:rPr lang="en-US" altLang="zh-TW" sz="28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version control system </a:t>
            </a: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that is used for software </a:t>
            </a: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development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created </a:t>
            </a:r>
            <a:r>
              <a:rPr lang="en-US" altLang="zh-TW" sz="2400" dirty="0">
                <a:latin typeface="Adobe Gothic Std B" pitchFamily="34" charset="-128"/>
                <a:ea typeface="Adobe Gothic Std B" pitchFamily="34" charset="-128"/>
              </a:rPr>
              <a:t>by Linus Torvalds in 2005 for development of the Linux </a:t>
            </a:r>
            <a:r>
              <a:rPr lang="en-US" altLang="zh-TW" sz="2400" dirty="0" smtClean="0">
                <a:latin typeface="Adobe Gothic Std B" pitchFamily="34" charset="-128"/>
                <a:ea typeface="Adobe Gothic Std B" pitchFamily="34" charset="-128"/>
              </a:rPr>
              <a:t>kernel.</a:t>
            </a:r>
          </a:p>
          <a:p>
            <a:pPr eaLnBrk="1" hangingPunct="1">
              <a:spcBef>
                <a:spcPct val="60000"/>
              </a:spcBef>
            </a:pPr>
            <a:endParaRPr lang="en-US" altLang="zh-TW" sz="28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4A25BF3-BF61-4CAB-A05B-C576E1B65D3F}" type="datetime1">
              <a:rPr kumimoji="0" lang="zh-TW" altLang="en-US" sz="1400" smtClean="0">
                <a:solidFill>
                  <a:srgbClr val="40458C"/>
                </a:solidFill>
              </a:rPr>
              <a:t>2018/2/19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OS1-2018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3" y="304800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GitHub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124" y="1028065"/>
            <a:ext cx="2879876" cy="151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9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61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1203325"/>
            <a:ext cx="8634412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Which of the following instructions should be privileged?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a. Set value of timer.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b. Read the clock.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c. Clear memory.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d. Issue a trap instruction.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e. Turn off interrupts.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f. Modify entries in device-status table.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g. Switch from user to kernel mode.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h. Access I/O device.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57A34B6-C400-4A4D-8B99-B525B5DFB38E}" type="datetime1">
              <a:rPr kumimoji="0" lang="zh-TW" altLang="en-US" sz="1400" smtClean="0">
                <a:solidFill>
                  <a:srgbClr val="40458C"/>
                </a:solidFill>
              </a:rPr>
              <a:t>2018/2/19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OS1-2018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3" y="304800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1.6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10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62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842481"/>
            <a:ext cx="8634412" cy="5847244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In Linux, threads are implemented within the kernel by a 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clone mechanism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that creates a new process within the same virtual 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address space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as the parent process. Unlike some kernel-based thread 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packages, the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Linux kernel does not make any distinction between threads 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and processes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: a thread is simply a process that did not create a new 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virtual address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space when it was initialized.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The main advantage of implementing threads in the kernel 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rather than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in a user-mode library are that: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kernel-threaded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systems can take advantage of multiple 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processors if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they are available; and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if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one thread blocks in a kernel service routine (for example, 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a system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call or page fault), other threads are still able to run.</a:t>
            </a: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859D397-D81E-41BE-816D-FEFBE18A525F}" type="datetime1">
              <a:rPr kumimoji="0" lang="zh-TW" altLang="en-US" sz="1400" smtClean="0">
                <a:solidFill>
                  <a:srgbClr val="40458C"/>
                </a:solidFill>
              </a:rPr>
              <a:t>2018/2/19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OS1-2018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3" y="304800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18.2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7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63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842481"/>
            <a:ext cx="8634412" cy="5847244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8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Discuss </a:t>
            </a:r>
            <a:r>
              <a:rPr lang="en-US" altLang="zh-TW" sz="28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advantages </a:t>
            </a:r>
            <a:r>
              <a:rPr lang="en-US" altLang="zh-TW" sz="28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dynamic (shared) linkage of </a:t>
            </a:r>
            <a:r>
              <a:rPr lang="en-US" altLang="zh-TW" sz="28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libraries compared </a:t>
            </a:r>
            <a:r>
              <a:rPr lang="en-US" altLang="zh-TW" sz="28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with static linkage. </a:t>
            </a:r>
            <a:endParaRPr lang="en-US" altLang="zh-TW" sz="28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Reduce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memory and disk space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used by a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system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Enhance maintainability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upgrading (either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add new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functionality or to fix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bugs)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can be done simply by replacing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that shared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library. There is no need to recompile or relink any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applications.</a:t>
            </a: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6BFA9CA-573F-4893-868C-025071B15561}" type="datetime1">
              <a:rPr kumimoji="0" lang="zh-TW" altLang="en-US" sz="1400" smtClean="0">
                <a:solidFill>
                  <a:srgbClr val="40458C"/>
                </a:solidFill>
              </a:rPr>
              <a:t>2018/2/19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OS1-2018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3" y="304800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18.4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94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新細明體"/>
        <a:cs typeface="Arial"/>
      </a:majorFont>
      <a:minorFont>
        <a:latin typeface="Arial"/>
        <a:ea typeface="新細明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813</TotalTime>
  <Pages>36</Pages>
  <Words>3577</Words>
  <Application>Microsoft Office PowerPoint</Application>
  <PresentationFormat>Letter 紙張 (8.5x11 英吋)</PresentationFormat>
  <Paragraphs>675</Paragraphs>
  <Slides>63</Slides>
  <Notes>60</Notes>
  <HiddenSlides>0</HiddenSlides>
  <MMClips>0</MMClips>
  <ScaleCrop>false</ScaleCrop>
  <HeadingPairs>
    <vt:vector size="6" baseType="variant">
      <vt:variant>
        <vt:lpstr>使用字型</vt:lpstr>
      </vt:variant>
      <vt:variant>
        <vt:i4>15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63</vt:i4>
      </vt:variant>
    </vt:vector>
  </HeadingPairs>
  <TitlesOfParts>
    <vt:vector size="81" baseType="lpstr">
      <vt:lpstr>Adobe Gothic Std B</vt:lpstr>
      <vt:lpstr>Monotype Sorts</vt:lpstr>
      <vt:lpstr>新細明體</vt:lpstr>
      <vt:lpstr>標楷體</vt:lpstr>
      <vt:lpstr>Arial</vt:lpstr>
      <vt:lpstr>Book Antiqua</vt:lpstr>
      <vt:lpstr>Comic Sans MS</vt:lpstr>
      <vt:lpstr>Courier New</vt:lpstr>
      <vt:lpstr>Helvetica</vt:lpstr>
      <vt:lpstr>Symbol</vt:lpstr>
      <vt:lpstr>Tahoma</vt:lpstr>
      <vt:lpstr>Times New Roman</vt:lpstr>
      <vt:lpstr>Wingdings</vt:lpstr>
      <vt:lpstr>Wingdings 2</vt:lpstr>
      <vt:lpstr>Wingdings 3</vt:lpstr>
      <vt:lpstr>Blueprint</vt:lpstr>
      <vt:lpstr>1_Blueprint</vt:lpstr>
      <vt:lpstr>3_Default Design</vt:lpstr>
      <vt:lpstr>PowerPoint 簡報</vt:lpstr>
      <vt:lpstr>Introduction</vt:lpstr>
      <vt:lpstr>What is an Operating System?</vt:lpstr>
      <vt:lpstr>Computer System Structures</vt:lpstr>
      <vt:lpstr>PowerPoint 簡報</vt:lpstr>
      <vt:lpstr>Operating System Definitions</vt:lpstr>
      <vt:lpstr>Goals of OS </vt:lpstr>
      <vt:lpstr>Computer</vt:lpstr>
      <vt:lpstr>Computer-System Organization</vt:lpstr>
      <vt:lpstr>Computer-System Operation</vt:lpstr>
      <vt:lpstr>Common Functions of Interrupts</vt:lpstr>
      <vt:lpstr>PowerPoint 簡報</vt:lpstr>
      <vt:lpstr>PowerPoint 簡報</vt:lpstr>
      <vt:lpstr>Interrupt Time Line For a Single Process Doing Output</vt:lpstr>
      <vt:lpstr>I/O Structure</vt:lpstr>
      <vt:lpstr>I/O Structure</vt:lpstr>
      <vt:lpstr>Two I/O Methods</vt:lpstr>
      <vt:lpstr>Device-Status Table</vt:lpstr>
      <vt:lpstr>Direct Memory Access Structure</vt:lpstr>
      <vt:lpstr>How a Modern Computer Works</vt:lpstr>
      <vt:lpstr>Storage Structure</vt:lpstr>
      <vt:lpstr>Moving-Head Disk Mechanism</vt:lpstr>
      <vt:lpstr>Storage Hierarchy</vt:lpstr>
      <vt:lpstr>Storage-Device Hierarchy</vt:lpstr>
      <vt:lpstr>Caching (1)</vt:lpstr>
      <vt:lpstr>Caching (2)</vt:lpstr>
      <vt:lpstr>Performance of Various Levels of Storage</vt:lpstr>
      <vt:lpstr>Migration of Integer A from Disk to Register</vt:lpstr>
      <vt:lpstr>Coherency and Consistency</vt:lpstr>
      <vt:lpstr>PowerPoint 簡報</vt:lpstr>
      <vt:lpstr>PowerPoint 簡報</vt:lpstr>
      <vt:lpstr>Operating System Components</vt:lpstr>
      <vt:lpstr>Process Management</vt:lpstr>
      <vt:lpstr>Process Management Activities</vt:lpstr>
      <vt:lpstr>Memory Management</vt:lpstr>
      <vt:lpstr>Storage Management</vt:lpstr>
      <vt:lpstr>Mass-Storage Management</vt:lpstr>
      <vt:lpstr>I/O Subsystem</vt:lpstr>
      <vt:lpstr>Protection and Security</vt:lpstr>
      <vt:lpstr>Kernel Data Structures</vt:lpstr>
      <vt:lpstr>Kernel Data Structures</vt:lpstr>
      <vt:lpstr>Kernel Data Structures</vt:lpstr>
      <vt:lpstr>Computing Environments</vt:lpstr>
      <vt:lpstr>Traditional Computing</vt:lpstr>
      <vt:lpstr>Mobile Computing</vt:lpstr>
      <vt:lpstr>Distributed Systems</vt:lpstr>
      <vt:lpstr>Client-Server Computing</vt:lpstr>
      <vt:lpstr>Peer-to-Peer Computing</vt:lpstr>
      <vt:lpstr>Virtualization</vt:lpstr>
      <vt:lpstr>Virtualization</vt:lpstr>
      <vt:lpstr>Cloud Computing</vt:lpstr>
      <vt:lpstr>PowerPoint 簡報</vt:lpstr>
      <vt:lpstr>   Software Stack for Cloud OS</vt:lpstr>
      <vt:lpstr>   OpenStack</vt:lpstr>
      <vt:lpstr>Real-Time Embedded Systems</vt:lpstr>
      <vt:lpstr>Real-Time Embedded Systems</vt:lpstr>
      <vt:lpstr>Real-Time Embedded Systems</vt:lpstr>
      <vt:lpstr>Open-Source Operating Systems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IPv6</dc:title>
  <dc:creator>Jia-Shung WANG</dc:creator>
  <cp:lastModifiedBy>JS</cp:lastModifiedBy>
  <cp:revision>268</cp:revision>
  <cp:lastPrinted>2011-09-13T06:16:46Z</cp:lastPrinted>
  <dcterms:created xsi:type="dcterms:W3CDTF">1996-10-19T01:28:28Z</dcterms:created>
  <dcterms:modified xsi:type="dcterms:W3CDTF">2018-02-19T05:19:01Z</dcterms:modified>
</cp:coreProperties>
</file>