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35"/>
  </p:notesMasterIdLst>
  <p:handoutMasterIdLst>
    <p:handoutMasterId r:id="rId36"/>
  </p:handoutMasterIdLst>
  <p:sldIdLst>
    <p:sldId id="256" r:id="rId2"/>
    <p:sldId id="286" r:id="rId3"/>
    <p:sldId id="287" r:id="rId4"/>
    <p:sldId id="288" r:id="rId5"/>
    <p:sldId id="360" r:id="rId6"/>
    <p:sldId id="289" r:id="rId7"/>
    <p:sldId id="290" r:id="rId8"/>
    <p:sldId id="392" r:id="rId9"/>
    <p:sldId id="257" r:id="rId10"/>
    <p:sldId id="367" r:id="rId11"/>
    <p:sldId id="308" r:id="rId12"/>
    <p:sldId id="311" r:id="rId13"/>
    <p:sldId id="313" r:id="rId14"/>
    <p:sldId id="381" r:id="rId15"/>
    <p:sldId id="269" r:id="rId16"/>
    <p:sldId id="270" r:id="rId17"/>
    <p:sldId id="382" r:id="rId18"/>
    <p:sldId id="271" r:id="rId19"/>
    <p:sldId id="374" r:id="rId20"/>
    <p:sldId id="273" r:id="rId21"/>
    <p:sldId id="274" r:id="rId22"/>
    <p:sldId id="383" r:id="rId23"/>
    <p:sldId id="275" r:id="rId24"/>
    <p:sldId id="318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349" r:id="rId34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28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28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28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28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B0756"/>
    <a:srgbClr val="008080"/>
    <a:srgbClr val="FF3300"/>
    <a:srgbClr val="FF9900"/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928" autoAdjust="0"/>
  </p:normalViewPr>
  <p:slideViewPr>
    <p:cSldViewPr>
      <p:cViewPr varScale="1">
        <p:scale>
          <a:sx n="108" d="100"/>
          <a:sy n="108" d="100"/>
        </p:scale>
        <p:origin x="166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0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0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D81FB7-1683-479C-B1EE-D7557443DCA4}" type="datetimeFigureOut">
              <a:rPr lang="zh-TW" altLang="en-US" smtClean="0"/>
              <a:t>2018/9/13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415712-86ED-45BD-AF4C-A32BAFF02F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19166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65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3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993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93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7A53D09E-C67E-4B6F-B8B6-A7F8A72E74F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073853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http://www.fastcompany.com/magazine/60/chalktalk.html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53D09E-C67E-4B6F-B8B6-A7F8A72E74F6}" type="slidenum">
              <a:rPr lang="en-US" altLang="zh-TW" smtClean="0"/>
              <a:pPr>
                <a:defRPr/>
              </a:pPr>
              <a:t>3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469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en-US" smtClean="0"/>
          </a:p>
        </p:txBody>
      </p:sp>
      <p:sp>
        <p:nvSpPr>
          <p:cNvPr id="11469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742E28B-D51D-406B-A5A4-37C42F1F4F59}" type="slidenum">
              <a:rPr lang="zh-TW" altLang="en-US" smtClean="0"/>
              <a:pPr/>
              <a:t>5</a:t>
            </a:fld>
            <a:endParaRPr lang="en-US" altLang="zh-TW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7763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TW" altLang="en-US" smtClean="0"/>
          </a:p>
        </p:txBody>
      </p:sp>
      <p:sp>
        <p:nvSpPr>
          <p:cNvPr id="11776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5BACD6-23F0-4483-9685-EF4E0778B4E9}" type="slidenum">
              <a:rPr lang="en-US" altLang="zh-TW" smtClean="0"/>
              <a:pPr/>
              <a:t>6</a:t>
            </a:fld>
            <a:endParaRPr lang="en-US" altLang="zh-TW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185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en-US" smtClean="0"/>
          </a:p>
        </p:txBody>
      </p:sp>
      <p:sp>
        <p:nvSpPr>
          <p:cNvPr id="12186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D273F47-B4E6-4ACB-BA1E-FAAB54ABA6B0}" type="slidenum">
              <a:rPr lang="zh-TW" altLang="en-US" smtClean="0"/>
              <a:pPr/>
              <a:t>10</a:t>
            </a:fld>
            <a:endParaRPr lang="en-US" altLang="zh-TW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3907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altLang="zh-TW" smtClean="0"/>
              <a:t>P.</a:t>
            </a:r>
            <a:r>
              <a:rPr lang="zh-TW" altLang="en-US" smtClean="0"/>
              <a:t> </a:t>
            </a:r>
            <a:r>
              <a:rPr lang="en-US" altLang="zh-TW" smtClean="0"/>
              <a:t>17-18</a:t>
            </a:r>
            <a:endParaRPr lang="zh-TW" altLang="en-US" smtClean="0"/>
          </a:p>
        </p:txBody>
      </p:sp>
      <p:sp>
        <p:nvSpPr>
          <p:cNvPr id="123908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8DC1F7E-580F-43C0-891F-B5CC2C183B04}" type="slidenum">
              <a:rPr lang="en-US" altLang="zh-TW" smtClean="0"/>
              <a:pPr/>
              <a:t>16</a:t>
            </a:fld>
            <a:endParaRPr lang="en-US" altLang="zh-TW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493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altLang="zh-TW" smtClean="0"/>
              <a:t>P 18</a:t>
            </a:r>
            <a:endParaRPr lang="zh-TW" altLang="en-US" smtClean="0"/>
          </a:p>
        </p:txBody>
      </p:sp>
      <p:sp>
        <p:nvSpPr>
          <p:cNvPr id="12493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49E4738-9072-4D0E-A922-EA308890311F}" type="slidenum">
              <a:rPr lang="en-US" altLang="zh-TW" smtClean="0"/>
              <a:pPr/>
              <a:t>17</a:t>
            </a:fld>
            <a:endParaRPr lang="en-US" altLang="zh-TW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5955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altLang="zh-TW" smtClean="0"/>
              <a:t>P</a:t>
            </a:r>
            <a:r>
              <a:rPr lang="zh-TW" altLang="en-US" smtClean="0"/>
              <a:t> </a:t>
            </a:r>
            <a:r>
              <a:rPr lang="en-US" altLang="zh-TW" smtClean="0"/>
              <a:t>16</a:t>
            </a:r>
            <a:endParaRPr lang="zh-TW" altLang="en-US" smtClean="0"/>
          </a:p>
        </p:txBody>
      </p:sp>
      <p:sp>
        <p:nvSpPr>
          <p:cNvPr id="12595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0BE1FF7-AF81-4D03-8A2A-614AFD28D8EF}" type="slidenum">
              <a:rPr lang="en-US" altLang="zh-TW" smtClean="0"/>
              <a:pPr/>
              <a:t>19</a:t>
            </a:fld>
            <a:endParaRPr lang="en-US" altLang="zh-TW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697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TW" altLang="en-US" smtClean="0"/>
          </a:p>
        </p:txBody>
      </p:sp>
      <p:sp>
        <p:nvSpPr>
          <p:cNvPr id="12698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2AE7830-E991-4F3C-8D0D-C201A71CA6A1}" type="slidenum">
              <a:rPr lang="en-US" altLang="zh-TW" smtClean="0"/>
              <a:pPr/>
              <a:t>20</a:t>
            </a:fld>
            <a:endParaRPr lang="en-US" altLang="zh-TW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defRPr/>
            </a:pPr>
            <a:r>
              <a:rPr lang="zh-TW" altLang="en-US" smtClean="0">
                <a:solidFill>
                  <a:srgbClr val="7030A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準則   </a:t>
            </a:r>
            <a:r>
              <a:rPr lang="en-US" altLang="zh-TW" sz="7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P25</a:t>
            </a:r>
            <a:endParaRPr lang="zh-TW" altLang="en-US" sz="700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圓角矩形 3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 sz="3200"/>
          </a:p>
        </p:txBody>
      </p:sp>
      <p:sp>
        <p:nvSpPr>
          <p:cNvPr id="6" name="圓角矩形 5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 sz="3200"/>
          </a:p>
        </p:txBody>
      </p:sp>
      <p:sp>
        <p:nvSpPr>
          <p:cNvPr id="5" name="標題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20" name="副標題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zh-TW" altLang="en-US" smtClean="0"/>
              <a:t>按一下以編輯母片副標題樣式</a:t>
            </a:r>
            <a:endParaRPr lang="en-US"/>
          </a:p>
        </p:txBody>
      </p:sp>
      <p:sp>
        <p:nvSpPr>
          <p:cNvPr id="7" name="日期版面配置區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投影片編號版面配置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B5CC5FED-0D5E-426B-8818-49BE757FE12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0086" y="234300"/>
            <a:ext cx="8183880" cy="1051560"/>
          </a:xfrm>
        </p:spPr>
        <p:txBody>
          <a:bodyPr/>
          <a:lstStyle>
            <a:lvl1pPr>
              <a:defRPr>
                <a:latin typeface="+mn-lt"/>
                <a:ea typeface="+mn-ea"/>
              </a:defRPr>
            </a:lvl1pPr>
            <a:extLst/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0086" y="1500174"/>
            <a:ext cx="8183880" cy="4187952"/>
          </a:xfrm>
        </p:spPr>
        <p:txBody>
          <a:bodyPr>
            <a:normAutofit/>
          </a:bodyPr>
          <a:lstStyle>
            <a:lvl1pPr>
              <a:defRPr sz="2400">
                <a:latin typeface="+mn-lt"/>
                <a:ea typeface="+mn-ea"/>
              </a:defRPr>
            </a:lvl1pPr>
            <a:lvl2pPr>
              <a:defRPr sz="2400">
                <a:latin typeface="+mn-lt"/>
                <a:ea typeface="+mn-ea"/>
              </a:defRPr>
            </a:lvl2pPr>
            <a:lvl3pPr>
              <a:defRPr sz="2400">
                <a:latin typeface="+mn-lt"/>
                <a:ea typeface="+mn-ea"/>
              </a:defRPr>
            </a:lvl3pPr>
            <a:lvl4pPr>
              <a:defRPr sz="2400">
                <a:latin typeface="+mn-lt"/>
                <a:ea typeface="+mn-ea"/>
              </a:defRPr>
            </a:lvl4pPr>
            <a:lvl5pPr>
              <a:defRPr sz="2400">
                <a:latin typeface="+mn-lt"/>
                <a:ea typeface="+mn-ea"/>
              </a:defRPr>
            </a:lvl5pPr>
            <a:extLst/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en-US" dirty="0"/>
          </a:p>
        </p:txBody>
      </p:sp>
      <p:sp>
        <p:nvSpPr>
          <p:cNvPr id="4" name="日期版面配置區 2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1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8E221B-39D4-47E4-B64D-9C39A64FB4E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圓角矩形 3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 sz="3200"/>
          </a:p>
        </p:txBody>
      </p:sp>
      <p:sp>
        <p:nvSpPr>
          <p:cNvPr id="5" name="圓角矩形 4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 sz="320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42DBB739-A875-42F3-AC0B-919573C21B2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日期版面配置區 2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1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379E58-E48E-4779-9153-3CE1D6FAFE7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lvl1pPr>
              <a:defRPr b="1"/>
            </a:lvl1pPr>
            <a:extLst/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7" name="日期版面配置區 2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頁尾版面配置區 1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DD477F-CC3A-4084-8571-97463B1D918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日期版面配置區 2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頁尾版面配置區 1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FF8B1-FF1C-4397-AFA1-09C4D71A1C7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 sz="3200"/>
          </a:p>
        </p:txBody>
      </p:sp>
      <p:sp>
        <p:nvSpPr>
          <p:cNvPr id="3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1AF171FA-E87C-4667-AB4F-4C86190E7E3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日期版面配置區 2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1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C0CD02-392F-4292-B3BB-9103384335E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圓角矩形 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 sz="3200"/>
          </a:p>
        </p:txBody>
      </p:sp>
      <p:sp>
        <p:nvSpPr>
          <p:cNvPr id="6" name="圓角化單一角落矩形 5"/>
          <p:cNvSpPr/>
          <p:nvPr/>
        </p:nvSpPr>
        <p:spPr>
          <a:xfrm>
            <a:off x="6400800" y="433388"/>
            <a:ext cx="2324100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 sz="320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zh-TW" altLang="en-US" noProof="0" smtClean="0"/>
              <a:t>按一下圖示以新增圖片</a:t>
            </a:r>
            <a:endParaRPr lang="en-US" noProof="0"/>
          </a:p>
        </p:txBody>
      </p:sp>
      <p:sp>
        <p:nvSpPr>
          <p:cNvPr id="7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F67C9B42-B5FC-470B-9A30-19506B637CB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2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1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538DC-6191-4190-A8F5-00D45D61CB2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2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1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173F32-6963-4415-819A-18A5D7694AA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2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頁尾版面配置區 1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8CA59F-E5F1-412B-84C6-3D1313BA103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圓角矩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 sz="3200"/>
          </a:p>
        </p:txBody>
      </p:sp>
      <p:sp>
        <p:nvSpPr>
          <p:cNvPr id="9" name="圓角矩形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 sz="3200"/>
          </a:p>
        </p:txBody>
      </p:sp>
      <p:sp>
        <p:nvSpPr>
          <p:cNvPr id="13" name="標題版面配置區 12"/>
          <p:cNvSpPr>
            <a:spLocks noGrp="1"/>
          </p:cNvSpPr>
          <p:nvPr>
            <p:ph type="title"/>
          </p:nvPr>
        </p:nvSpPr>
        <p:spPr>
          <a:xfrm>
            <a:off x="503238" y="4986338"/>
            <a:ext cx="8183562" cy="1050925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2055" name="文字版面配置區 3"/>
          <p:cNvSpPr>
            <a:spLocks noGrp="1"/>
          </p:cNvSpPr>
          <p:nvPr>
            <p:ph type="body" idx="1"/>
          </p:nvPr>
        </p:nvSpPr>
        <p:spPr bwMode="auto">
          <a:xfrm>
            <a:off x="503238" y="530225"/>
            <a:ext cx="8183562" cy="418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82880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smtClean="0"/>
          </a:p>
        </p:txBody>
      </p:sp>
      <p:sp>
        <p:nvSpPr>
          <p:cNvPr id="25" name="日期版面配置區 24"/>
          <p:cNvSpPr>
            <a:spLocks noGrp="1"/>
          </p:cNvSpPr>
          <p:nvPr>
            <p:ph type="dt" sz="half" idx="2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 altLang="zh-TW"/>
          </a:p>
        </p:txBody>
      </p:sp>
      <p:sp>
        <p:nvSpPr>
          <p:cNvPr id="18" name="頁尾版面配置區 17"/>
          <p:cNvSpPr>
            <a:spLocks noGrp="1"/>
          </p:cNvSpPr>
          <p:nvPr>
            <p:ph type="ftr" sz="quarter" idx="3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4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pPr>
              <a:defRPr/>
            </a:pPr>
            <a:fld id="{5AA02D8A-8DA6-47E7-AE53-41DA2B8B057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57" r:id="rId2"/>
    <p:sldLayoutId id="2147483867" r:id="rId3"/>
    <p:sldLayoutId id="2147483858" r:id="rId4"/>
    <p:sldLayoutId id="2147483859" r:id="rId5"/>
    <p:sldLayoutId id="2147483860" r:id="rId6"/>
    <p:sldLayoutId id="2147483868" r:id="rId7"/>
    <p:sldLayoutId id="2147483861" r:id="rId8"/>
    <p:sldLayoutId id="2147483869" r:id="rId9"/>
    <p:sldLayoutId id="2147483862" r:id="rId10"/>
    <p:sldLayoutId id="2147483863" r:id="rId11"/>
    <p:sldLayoutId id="2147483865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FF8D3E"/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itchFamily="34" charset="0"/>
          <a:ea typeface="微軟正黑體" pitchFamily="34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itchFamily="34" charset="0"/>
          <a:ea typeface="微軟正黑體" pitchFamily="34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itchFamily="34" charset="0"/>
          <a:ea typeface="微軟正黑體" pitchFamily="34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itchFamily="34" charset="0"/>
          <a:ea typeface="微軟正黑體" pitchFamily="34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itchFamily="34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itchFamily="34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itchFamily="34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itchFamily="34" charset="0"/>
          <a:ea typeface="微軟正黑體" pitchFamily="34" charset="-120"/>
        </a:defRPr>
      </a:lvl9pPr>
      <a:extLst/>
    </p:titleStyle>
    <p:bodyStyle>
      <a:lvl1pPr marL="265113" indent="-265113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00025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100000"/>
        <a:buFont typeface="Verdana" pitchFamily="34" charset="0"/>
        <a:buChar char="◦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5813" indent="-182563" algn="l" rtl="0" eaLnBrk="0" fontAlgn="base" hangingPunct="0">
        <a:spcBef>
          <a:spcPts val="250"/>
        </a:spcBef>
        <a:spcAft>
          <a:spcPct val="0"/>
        </a:spcAft>
        <a:buClr>
          <a:srgbClr val="ED3742"/>
        </a:buClr>
        <a:buSzPct val="100000"/>
        <a:buFont typeface="Wingdings 2" pitchFamily="18" charset="2"/>
        <a:buChar char="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3938" indent="-182563" algn="l" rtl="0" eaLnBrk="0" fontAlgn="base" hangingPunct="0">
        <a:spcBef>
          <a:spcPts val="225"/>
        </a:spcBef>
        <a:spcAft>
          <a:spcPct val="0"/>
        </a:spcAft>
        <a:buClr>
          <a:srgbClr val="ED3742"/>
        </a:buClr>
        <a:buSzPct val="112000"/>
        <a:buFont typeface="Verdana" pitchFamily="34" charset="0"/>
        <a:buChar char="◦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79525" indent="-182563" algn="l" rtl="0" eaLnBrk="0" fontAlgn="base" hangingPunct="0">
        <a:spcBef>
          <a:spcPts val="250"/>
        </a:spcBef>
        <a:spcAft>
          <a:spcPct val="0"/>
        </a:spcAft>
        <a:buClr>
          <a:srgbClr val="4A85BF"/>
        </a:buClr>
        <a:buSzPct val="100000"/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22313" y="1820863"/>
            <a:ext cx="7772400" cy="18288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en-US" altLang="zh-TW" sz="5400" dirty="0" smtClean="0"/>
          </a:p>
        </p:txBody>
      </p:sp>
      <p:sp>
        <p:nvSpPr>
          <p:cNvPr id="409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722313" y="3684588"/>
            <a:ext cx="7772400" cy="9144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altLang="zh-TW" sz="3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C1</a:t>
            </a:r>
            <a:r>
              <a:rPr lang="zh-TW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TW" sz="3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What is interaction design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CC5FED-0D5E-426B-8818-49BE757FE12B}" type="slidenum">
              <a:rPr lang="en-US" altLang="zh-TW" smtClean="0"/>
              <a:pPr>
                <a:defRPr/>
              </a:pPr>
              <a:t>1</a:t>
            </a:fld>
            <a:endParaRPr lang="en-US" altLang="zh-TW"/>
          </a:p>
        </p:txBody>
      </p:sp>
      <p:sp>
        <p:nvSpPr>
          <p:cNvPr id="7" name="頁尾版面配置區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388938" y="71438"/>
            <a:ext cx="8183562" cy="105092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accent1">
                    <a:tint val="88000"/>
                    <a:satMod val="150000"/>
                  </a:schemeClr>
                </a:solidFill>
              </a:rPr>
              <a:t>Intro</a:t>
            </a:r>
            <a:endParaRPr lang="zh-TW" altLang="zh-TW" dirty="0" smtClean="0">
              <a:solidFill>
                <a:schemeClr val="accent1">
                  <a:tint val="88000"/>
                  <a:satMod val="150000"/>
                </a:schemeClr>
              </a:solidFill>
            </a:endParaRPr>
          </a:p>
        </p:txBody>
      </p:sp>
      <p:sp>
        <p:nvSpPr>
          <p:cNvPr id="1126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571500" y="1268413"/>
            <a:ext cx="8183563" cy="4187825"/>
          </a:xfrm>
        </p:spPr>
        <p:txBody>
          <a:bodyPr/>
          <a:lstStyle/>
          <a:p>
            <a:pPr eaLnBrk="1" hangingPunct="1"/>
            <a:r>
              <a:rPr lang="en-US" altLang="zh-TW" dirty="0" smtClean="0"/>
              <a:t>How many interactive products are there in everyday use? How usable they are? </a:t>
            </a:r>
          </a:p>
          <a:p>
            <a:pPr eaLnBrk="1" hangingPunct="1"/>
            <a:r>
              <a:rPr lang="zh-TW" altLang="en-US" dirty="0" smtClean="0"/>
              <a:t>哪些產品設計的容易使用</a:t>
            </a:r>
            <a:r>
              <a:rPr lang="en-US" altLang="zh-TW" dirty="0" smtClean="0"/>
              <a:t>? </a:t>
            </a:r>
            <a:r>
              <a:rPr lang="zh-TW" altLang="en-US" dirty="0" smtClean="0"/>
              <a:t>為什麼</a:t>
            </a:r>
            <a:r>
              <a:rPr lang="en-US" altLang="zh-TW" dirty="0" smtClean="0"/>
              <a:t>? How many are actually easy, effortless, and enjoyable to use?</a:t>
            </a:r>
          </a:p>
          <a:p>
            <a:pPr lvl="1" eaLnBrk="1" hangingPunct="1"/>
            <a:endParaRPr lang="zh-TW" altLang="en-US" dirty="0" smtClean="0">
              <a:solidFill>
                <a:srgbClr val="CB0756"/>
              </a:solidFill>
            </a:endParaRPr>
          </a:p>
          <a:p>
            <a:pPr eaLnBrk="1" hangingPunct="1"/>
            <a:r>
              <a:rPr lang="zh-TW" altLang="en-US" dirty="0" smtClean="0"/>
              <a:t>許多產品從</a:t>
            </a:r>
            <a:r>
              <a:rPr lang="en-US" altLang="zh-TW" dirty="0" smtClean="0"/>
              <a:t>engineering </a:t>
            </a:r>
            <a:r>
              <a:rPr lang="zh-TW" altLang="en-US" dirty="0" smtClean="0"/>
              <a:t>觀點來看沒有問題 </a:t>
            </a:r>
            <a:r>
              <a:rPr lang="en-US" altLang="zh-TW" dirty="0" smtClean="0"/>
              <a:t>(</a:t>
            </a:r>
            <a:r>
              <a:rPr lang="zh-TW" altLang="en-US" dirty="0" smtClean="0"/>
              <a:t>提供一組功能</a:t>
            </a:r>
            <a:r>
              <a:rPr lang="en-US" altLang="zh-TW" dirty="0" smtClean="0"/>
              <a:t>)</a:t>
            </a:r>
            <a:r>
              <a:rPr lang="zh-TW" altLang="en-US" dirty="0" smtClean="0"/>
              <a:t>，可是使用者卻不了解如何操作。因設計上未考量</a:t>
            </a:r>
            <a:r>
              <a:rPr lang="en-US" altLang="zh-TW" dirty="0" smtClean="0"/>
              <a:t>USER</a:t>
            </a:r>
            <a:r>
              <a:rPr lang="zh-TW" altLang="en-US" dirty="0" smtClean="0"/>
              <a:t>。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8E221B-39D4-47E4-B64D-9C39A64FB4EB}" type="slidenum">
              <a:rPr lang="en-US" altLang="zh-TW" smtClean="0"/>
              <a:pPr>
                <a:defRPr/>
              </a:pPr>
              <a:t>2</a:t>
            </a:fld>
            <a:endParaRPr lang="en-US" altLang="zh-TW"/>
          </a:p>
        </p:txBody>
      </p:sp>
      <p:sp>
        <p:nvSpPr>
          <p:cNvPr id="7" name="頁尾版面配置區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827088" y="765175"/>
            <a:ext cx="7772400" cy="561657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TW" altLang="en-US" sz="2800" dirty="0" smtClean="0"/>
              <a:t>互動式設計 </a:t>
            </a:r>
            <a:r>
              <a:rPr lang="en-US" altLang="zh-TW" sz="2800" dirty="0" smtClean="0"/>
              <a:t>(interaction design) </a:t>
            </a:r>
            <a:r>
              <a:rPr lang="zh-TW" altLang="en-US" sz="2800" dirty="0" smtClean="0"/>
              <a:t>的目標</a:t>
            </a:r>
            <a:r>
              <a:rPr lang="en-US" altLang="zh-TW" sz="2800" dirty="0" smtClean="0"/>
              <a:t>: </a:t>
            </a:r>
            <a:r>
              <a:rPr lang="zh-TW" altLang="en-US" sz="2800" dirty="0" smtClean="0"/>
              <a:t>解決以上問題，方式 </a:t>
            </a:r>
            <a:r>
              <a:rPr lang="en-US" altLang="zh-TW" sz="2800" dirty="0" smtClean="0">
                <a:latin typeface="Times New Roman" pitchFamily="18" charset="0"/>
              </a:rPr>
              <a:t>–</a:t>
            </a:r>
            <a:r>
              <a:rPr lang="en-US" altLang="zh-TW" sz="2800" dirty="0" smtClean="0"/>
              <a:t>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TW" sz="2800" dirty="0" smtClean="0"/>
          </a:p>
          <a:p>
            <a:pPr lvl="1" eaLnBrk="1" hangingPunct="1">
              <a:lnSpc>
                <a:spcPct val="80000"/>
              </a:lnSpc>
            </a:pPr>
            <a:r>
              <a:rPr lang="en-US" altLang="zh-TW" dirty="0" smtClean="0"/>
              <a:t>Bring </a:t>
            </a:r>
            <a:r>
              <a:rPr lang="en-US" altLang="zh-TW" dirty="0" smtClean="0">
                <a:solidFill>
                  <a:srgbClr val="CB0756"/>
                </a:solidFill>
              </a:rPr>
              <a:t>usability</a:t>
            </a:r>
            <a:r>
              <a:rPr lang="en-US" altLang="zh-TW" dirty="0" smtClean="0"/>
              <a:t> into the design process</a:t>
            </a:r>
            <a:r>
              <a:rPr lang="zh-TW" altLang="en-US" dirty="0" smtClean="0"/>
              <a:t> </a:t>
            </a:r>
            <a:r>
              <a:rPr lang="en-US" altLang="zh-TW" sz="1600" dirty="0" smtClean="0"/>
              <a:t>(not just features)</a:t>
            </a:r>
            <a:r>
              <a:rPr lang="en-US" altLang="zh-TW" dirty="0" smtClean="0"/>
              <a:t>.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dirty="0" smtClean="0"/>
              <a:t>Develop interactive products with good usability </a:t>
            </a:r>
            <a:r>
              <a:rPr lang="en-US" altLang="zh-TW" dirty="0" smtClean="0">
                <a:latin typeface="Times New Roman" pitchFamily="18" charset="0"/>
              </a:rPr>
              <a:t>–</a:t>
            </a:r>
            <a:r>
              <a:rPr lang="en-US" altLang="zh-TW" dirty="0" smtClean="0"/>
              <a:t> from </a:t>
            </a:r>
            <a:r>
              <a:rPr lang="en-US" altLang="zh-TW" dirty="0" smtClean="0">
                <a:solidFill>
                  <a:srgbClr val="CB0756"/>
                </a:solidFill>
              </a:rPr>
              <a:t>users</a:t>
            </a:r>
            <a:r>
              <a:rPr lang="en-US" altLang="zh-TW" dirty="0" smtClean="0">
                <a:solidFill>
                  <a:srgbClr val="CB0756"/>
                </a:solidFill>
                <a:latin typeface="Times New Roman" pitchFamily="18" charset="0"/>
              </a:rPr>
              <a:t>’</a:t>
            </a:r>
            <a:r>
              <a:rPr lang="en-US" altLang="zh-TW" dirty="0" smtClean="0">
                <a:solidFill>
                  <a:srgbClr val="CB0756"/>
                </a:solidFill>
              </a:rPr>
              <a:t> perspective</a:t>
            </a:r>
            <a:r>
              <a:rPr lang="en-US" altLang="zh-TW" dirty="0" smtClean="0"/>
              <a:t>. </a:t>
            </a:r>
          </a:p>
          <a:p>
            <a:pPr eaLnBrk="1" hangingPunct="1">
              <a:lnSpc>
                <a:spcPct val="80000"/>
              </a:lnSpc>
            </a:pPr>
            <a:endParaRPr lang="en-US" altLang="zh-TW" sz="2800" dirty="0" smtClean="0"/>
          </a:p>
          <a:p>
            <a:pPr eaLnBrk="1" hangingPunct="1">
              <a:lnSpc>
                <a:spcPct val="80000"/>
              </a:lnSpc>
            </a:pPr>
            <a:r>
              <a:rPr lang="zh-TW" altLang="en-US" sz="2800" dirty="0" smtClean="0"/>
              <a:t>本章大綱</a:t>
            </a:r>
            <a:endParaRPr lang="en-US" altLang="zh-TW" sz="2800" dirty="0" smtClean="0"/>
          </a:p>
          <a:p>
            <a:pPr lvl="1" eaLnBrk="1" hangingPunct="1">
              <a:lnSpc>
                <a:spcPct val="80000"/>
              </a:lnSpc>
            </a:pPr>
            <a:r>
              <a:rPr lang="en-US" altLang="zh-TW" dirty="0" smtClean="0"/>
              <a:t>Difference b/t good and bad design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dirty="0" smtClean="0"/>
              <a:t>Interaction design (ID) and it relation to HCI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dirty="0" smtClean="0"/>
              <a:t>User experience &amp; usability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dirty="0" smtClean="0"/>
              <a:t>What &amp; who is involved in ID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dirty="0" smtClean="0"/>
              <a:t>Guidelines in ID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dirty="0" smtClean="0"/>
              <a:t>Evaluate interactive products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8E221B-39D4-47E4-B64D-9C39A64FB4EB}" type="slidenum">
              <a:rPr lang="en-US" altLang="zh-TW" smtClean="0"/>
              <a:pPr>
                <a:defRPr/>
              </a:pPr>
              <a:t>3</a:t>
            </a:fld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-26988"/>
            <a:ext cx="7772400" cy="1143001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smtClean="0">
                <a:solidFill>
                  <a:schemeClr val="accent1">
                    <a:tint val="88000"/>
                    <a:satMod val="150000"/>
                  </a:schemeClr>
                </a:solidFill>
              </a:rPr>
              <a:t>1.2 Good and poor design</a:t>
            </a:r>
          </a:p>
        </p:txBody>
      </p:sp>
      <p:sp>
        <p:nvSpPr>
          <p:cNvPr id="3993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684213" y="1557338"/>
            <a:ext cx="8135937" cy="4895850"/>
          </a:xfrm>
        </p:spPr>
        <p:txBody>
          <a:bodyPr/>
          <a:lstStyle/>
          <a:p>
            <a:pPr eaLnBrk="1" hangingPunct="1"/>
            <a:r>
              <a:rPr lang="zh-TW" altLang="en-US" smtClean="0"/>
              <a:t>你如何定義一個產品的可用性 </a:t>
            </a:r>
            <a:r>
              <a:rPr lang="en-US" altLang="zh-TW" smtClean="0"/>
              <a:t>(usable products)?</a:t>
            </a:r>
          </a:p>
          <a:p>
            <a:pPr eaLnBrk="1" hangingPunct="1"/>
            <a:endParaRPr lang="en-US" altLang="zh-TW" smtClean="0"/>
          </a:p>
          <a:p>
            <a:pPr lvl="1" eaLnBrk="1" hangingPunct="1"/>
            <a:r>
              <a:rPr lang="en-US" altLang="zh-TW" smtClean="0">
                <a:solidFill>
                  <a:srgbClr val="CB0756"/>
                </a:solidFill>
              </a:rPr>
              <a:t>Easy</a:t>
            </a:r>
            <a:r>
              <a:rPr lang="en-US" altLang="zh-TW" smtClean="0"/>
              <a:t> to learn</a:t>
            </a:r>
            <a:r>
              <a:rPr lang="zh-TW" altLang="en-US" smtClean="0"/>
              <a:t> </a:t>
            </a:r>
            <a:r>
              <a:rPr lang="en-US" altLang="zh-TW" smtClean="0"/>
              <a:t>(</a:t>
            </a:r>
            <a:r>
              <a:rPr lang="zh-TW" altLang="en-US" smtClean="0"/>
              <a:t>容易操作</a:t>
            </a:r>
            <a:r>
              <a:rPr lang="en-US" altLang="zh-TW" smtClean="0"/>
              <a:t>), </a:t>
            </a:r>
            <a:r>
              <a:rPr lang="en-US" altLang="zh-TW" smtClean="0">
                <a:solidFill>
                  <a:srgbClr val="CB0756"/>
                </a:solidFill>
              </a:rPr>
              <a:t>effective</a:t>
            </a:r>
            <a:r>
              <a:rPr lang="en-US" altLang="zh-TW" smtClean="0"/>
              <a:t> to use</a:t>
            </a:r>
            <a:r>
              <a:rPr lang="zh-TW" altLang="en-US" smtClean="0"/>
              <a:t> </a:t>
            </a:r>
            <a:r>
              <a:rPr lang="en-US" altLang="zh-TW" smtClean="0"/>
              <a:t>(</a:t>
            </a:r>
            <a:r>
              <a:rPr lang="zh-TW" altLang="en-US" smtClean="0"/>
              <a:t>達到使用目的</a:t>
            </a:r>
            <a:r>
              <a:rPr lang="en-US" altLang="zh-TW" smtClean="0"/>
              <a:t>), and provide enjoyable </a:t>
            </a:r>
            <a:r>
              <a:rPr lang="en-US" altLang="zh-TW" smtClean="0">
                <a:solidFill>
                  <a:srgbClr val="CB0756"/>
                </a:solidFill>
              </a:rPr>
              <a:t>user experience</a:t>
            </a:r>
            <a:r>
              <a:rPr lang="zh-TW" altLang="en-US" smtClean="0"/>
              <a:t> </a:t>
            </a:r>
            <a:r>
              <a:rPr lang="en-US" altLang="zh-TW" smtClean="0"/>
              <a:t>(</a:t>
            </a:r>
            <a:r>
              <a:rPr lang="zh-TW" altLang="en-US" smtClean="0"/>
              <a:t>使用經驗及感受</a:t>
            </a:r>
            <a:r>
              <a:rPr lang="en-US" altLang="zh-TW" smtClean="0"/>
              <a:t>).</a:t>
            </a:r>
          </a:p>
          <a:p>
            <a:pPr lvl="1" eaLnBrk="1" hangingPunct="1"/>
            <a:endParaRPr lang="en-US" altLang="zh-TW" smtClean="0">
              <a:solidFill>
                <a:srgbClr val="CB0756"/>
              </a:solidFill>
            </a:endParaRPr>
          </a:p>
          <a:p>
            <a:pPr eaLnBrk="1" hangingPunct="1"/>
            <a:r>
              <a:rPr lang="zh-TW" altLang="en-US" smtClean="0"/>
              <a:t>底下將</a:t>
            </a:r>
            <a:r>
              <a:rPr lang="zh-TW" altLang="en-US" smtClean="0">
                <a:solidFill>
                  <a:srgbClr val="006699"/>
                </a:solidFill>
                <a:latin typeface="微軟正黑體" pitchFamily="34" charset="-120"/>
              </a:rPr>
              <a:t>比較優良與拙劣的產品設計</a:t>
            </a:r>
            <a:r>
              <a:rPr lang="zh-TW" altLang="en-US" smtClean="0">
                <a:latin typeface="微軟正黑體" pitchFamily="34" charset="-120"/>
              </a:rPr>
              <a:t>。藉由這些互動設計優缺點，來了解何謂可用的及不可用的。</a:t>
            </a:r>
            <a:endParaRPr lang="en-US" altLang="zh-TW" smtClean="0">
              <a:latin typeface="微軟正黑體" pitchFamily="34" charset="-120"/>
            </a:endParaRPr>
          </a:p>
          <a:p>
            <a:pPr eaLnBrk="1" hangingPunct="1"/>
            <a:endParaRPr lang="en-US" altLang="zh-TW" smtClean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8E221B-39D4-47E4-B64D-9C39A64FB4EB}" type="slidenum">
              <a:rPr lang="en-US" altLang="zh-TW" smtClean="0"/>
              <a:pPr>
                <a:defRPr/>
              </a:pPr>
              <a:t>4</a:t>
            </a:fld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57188"/>
            <a:ext cx="7772400" cy="73342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dirty="0" smtClean="0">
                <a:solidFill>
                  <a:schemeClr val="accent1">
                    <a:tint val="88000"/>
                    <a:satMod val="150000"/>
                  </a:schemeClr>
                </a:solidFill>
                <a:ea typeface="新細明體" pitchFamily="18" charset="-120"/>
              </a:rPr>
              <a:t>上述情況的問題在哪裡？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285875"/>
            <a:ext cx="7662863" cy="4733925"/>
          </a:xfrm>
        </p:spPr>
        <p:txBody>
          <a:bodyPr/>
          <a:lstStyle/>
          <a:p>
            <a:pPr marL="342900" lvl="1" indent="-342900" eaLnBrk="1" hangingPunct="1">
              <a:lnSpc>
                <a:spcPct val="80000"/>
              </a:lnSpc>
              <a:buClr>
                <a:schemeClr val="hlink"/>
              </a:buClr>
              <a:buSzPct val="110000"/>
              <a:buFont typeface="Verdana" pitchFamily="34" charset="0"/>
              <a:buBlip>
                <a:blip r:embed="rId3"/>
              </a:buBlip>
            </a:pPr>
            <a:r>
              <a:rPr lang="en-US" altLang="zh-TW" dirty="0" smtClean="0"/>
              <a:t>Take 6 steps to access a message and 5 steps to leave a message. (confusing, inefficient, difficult to use, </a:t>
            </a:r>
            <a:r>
              <a:rPr lang="en-US" altLang="zh-TW" dirty="0" smtClean="0">
                <a:solidFill>
                  <a:srgbClr val="CB0756"/>
                </a:solidFill>
              </a:rPr>
              <a:t>not obvious what to do</a:t>
            </a:r>
            <a:r>
              <a:rPr lang="en-US" altLang="zh-TW" dirty="0" smtClean="0">
                <a:latin typeface="Times New Roman" pitchFamily="18" charset="0"/>
              </a:rPr>
              <a:t>…</a:t>
            </a:r>
            <a:r>
              <a:rPr lang="en-US" altLang="zh-TW" dirty="0" smtClean="0"/>
              <a:t>)</a:t>
            </a:r>
          </a:p>
          <a:p>
            <a:pPr marL="342900" lvl="1" indent="-342900" eaLnBrk="1" hangingPunct="1">
              <a:lnSpc>
                <a:spcPct val="80000"/>
              </a:lnSpc>
              <a:buClr>
                <a:schemeClr val="hlink"/>
              </a:buClr>
              <a:buSzPct val="110000"/>
              <a:buFont typeface="Verdana" pitchFamily="34" charset="0"/>
              <a:buBlip>
                <a:blip r:embed="rId3"/>
              </a:buBlip>
            </a:pPr>
            <a:endParaRPr lang="en-US" altLang="zh-TW" dirty="0" smtClean="0"/>
          </a:p>
          <a:p>
            <a:pPr eaLnBrk="1" hangingPunct="1"/>
            <a:r>
              <a:rPr lang="zh-TW" altLang="en-US" sz="2000" dirty="0" smtClean="0"/>
              <a:t>難以使用、令人生氣困惑</a:t>
            </a:r>
          </a:p>
          <a:p>
            <a:pPr eaLnBrk="1" hangingPunct="1"/>
            <a:r>
              <a:rPr lang="zh-TW" altLang="en-US" sz="2000" dirty="0" smtClean="0"/>
              <a:t>缺乏效率，需要</a:t>
            </a:r>
            <a:r>
              <a:rPr lang="zh-TW" altLang="en-US" sz="2000" dirty="0" smtClean="0">
                <a:solidFill>
                  <a:srgbClr val="0000FF"/>
                </a:solidFill>
              </a:rPr>
              <a:t>很多步驟</a:t>
            </a:r>
            <a:r>
              <a:rPr lang="zh-TW" altLang="en-US" sz="2000" dirty="0" smtClean="0"/>
              <a:t>來完成簡單工作。</a:t>
            </a:r>
          </a:p>
          <a:p>
            <a:pPr eaLnBrk="1" hangingPunct="1"/>
            <a:r>
              <a:rPr lang="zh-TW" altLang="en-US" sz="2000" dirty="0" smtClean="0"/>
              <a:t>沒有任何方法可以讓你</a:t>
            </a:r>
            <a:r>
              <a:rPr lang="zh-TW" altLang="en-US" sz="2000" dirty="0" smtClean="0">
                <a:solidFill>
                  <a:srgbClr val="0000FF"/>
                </a:solidFill>
              </a:rPr>
              <a:t>快速知道，是否有任何留言或是到底有幾通留言</a:t>
            </a:r>
            <a:r>
              <a:rPr lang="zh-TW" altLang="en-US" sz="2000" dirty="0" smtClean="0"/>
              <a:t>，你必湏拿起聽筒去發現並且用一連串的步驟來聽取留言。</a:t>
            </a:r>
          </a:p>
          <a:p>
            <a:pPr eaLnBrk="1" hangingPunct="1"/>
            <a:r>
              <a:rPr lang="zh-TW" altLang="en-US" sz="2000" dirty="0" smtClean="0"/>
              <a:t>沒有明示如何使用：部分措施由系統提供，而另外一部分則需閱讀操作說明。</a:t>
            </a:r>
          </a:p>
          <a:p>
            <a:pPr eaLnBrk="1" hangingPunct="1">
              <a:lnSpc>
                <a:spcPct val="80000"/>
              </a:lnSpc>
            </a:pPr>
            <a:endParaRPr lang="zh-TW" altLang="en-US" dirty="0" smtClean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8E221B-39D4-47E4-B64D-9C39A64FB4EB}" type="slidenum">
              <a:rPr lang="en-US" altLang="zh-TW" smtClean="0"/>
              <a:pPr>
                <a:defRPr/>
              </a:pPr>
              <a:t>5</a:t>
            </a:fld>
            <a:endParaRPr lang="en-US" alt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-458788"/>
            <a:ext cx="7772400" cy="1143001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accent1">
                    <a:tint val="88000"/>
                    <a:satMod val="150000"/>
                  </a:schemeClr>
                </a:solidFill>
              </a:rPr>
              <a:t>1.2.1 What to design</a:t>
            </a:r>
          </a:p>
        </p:txBody>
      </p:sp>
      <p:sp>
        <p:nvSpPr>
          <p:cNvPr id="4096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323850" y="836613"/>
            <a:ext cx="8496300" cy="545465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zh-TW" altLang="en-US" sz="2200" dirty="0" smtClean="0"/>
              <a:t>各種可能</a:t>
            </a:r>
            <a:r>
              <a:rPr lang="en-US" altLang="zh-TW" sz="2200" dirty="0" smtClean="0"/>
              <a:t>:</a:t>
            </a:r>
            <a:r>
              <a:rPr lang="zh-TW" altLang="en-US" sz="2200" dirty="0" smtClean="0"/>
              <a:t> </a:t>
            </a:r>
            <a:r>
              <a:rPr lang="en-US" altLang="zh-TW" sz="2200" dirty="0" smtClean="0"/>
              <a:t>There are ---</a:t>
            </a:r>
            <a:r>
              <a:rPr lang="zh-TW" altLang="en-US" sz="2200" dirty="0" smtClean="0"/>
              <a:t> 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altLang="zh-TW" sz="800" dirty="0" smtClean="0"/>
          </a:p>
          <a:p>
            <a:pPr lvl="1" indent="-265113" eaLnBrk="1" hangingPunct="1">
              <a:lnSpc>
                <a:spcPct val="90000"/>
              </a:lnSpc>
              <a:buFont typeface="Wingdings 2" pitchFamily="18" charset="2"/>
              <a:buChar char=""/>
              <a:defRPr/>
            </a:pPr>
            <a:r>
              <a:rPr lang="en-US" altLang="zh-TW" sz="2200" dirty="0" smtClean="0"/>
              <a:t>all kinds of </a:t>
            </a:r>
            <a:r>
              <a:rPr lang="en-US" altLang="zh-TW" sz="2200" b="1" dirty="0" smtClean="0">
                <a:solidFill>
                  <a:srgbClr val="CB0756"/>
                </a:solidFill>
              </a:rPr>
              <a:t>activities</a:t>
            </a:r>
            <a:r>
              <a:rPr lang="en-US" altLang="zh-TW" sz="2200" dirty="0" smtClean="0"/>
              <a:t> people do when interacting with the products (draw, play game ..) </a:t>
            </a:r>
          </a:p>
          <a:p>
            <a:pPr lvl="2" indent="-265113" eaLnBrk="1" hangingPunct="1">
              <a:lnSpc>
                <a:spcPct val="90000"/>
              </a:lnSpc>
              <a:buFont typeface="Wingdings 2" pitchFamily="18" charset="2"/>
              <a:buChar char=""/>
              <a:defRPr/>
            </a:pPr>
            <a:r>
              <a:rPr lang="zh-TW" altLang="en-US" sz="2000" dirty="0" smtClean="0"/>
              <a:t>系統</a:t>
            </a:r>
            <a:r>
              <a:rPr lang="en-US" altLang="zh-TW" sz="2000" dirty="0" smtClean="0"/>
              <a:t>/</a:t>
            </a:r>
            <a:r>
              <a:rPr lang="zh-TW" altLang="en-US" sz="2000" dirty="0" smtClean="0"/>
              <a:t>產品的選擇取決於其要支援的活動</a:t>
            </a:r>
            <a:endParaRPr lang="en-US" altLang="zh-TW" sz="2000" dirty="0" smtClean="0"/>
          </a:p>
          <a:p>
            <a:pPr lvl="1" indent="-265113" eaLnBrk="1" hangingPunct="1">
              <a:lnSpc>
                <a:spcPct val="90000"/>
              </a:lnSpc>
              <a:buFont typeface="Wingdings 2" pitchFamily="18" charset="2"/>
              <a:buChar char=""/>
              <a:defRPr/>
            </a:pPr>
            <a:r>
              <a:rPr lang="en-US" altLang="zh-TW" sz="2200" dirty="0" smtClean="0"/>
              <a:t>many different types of </a:t>
            </a:r>
            <a:r>
              <a:rPr lang="en-US" altLang="zh-TW" sz="2200" b="1" dirty="0" smtClean="0">
                <a:solidFill>
                  <a:srgbClr val="CB0756"/>
                </a:solidFill>
              </a:rPr>
              <a:t>interfaces / interactive devices</a:t>
            </a:r>
            <a:r>
              <a:rPr lang="zh-TW" altLang="en-US" sz="2200" b="1" dirty="0" smtClean="0">
                <a:solidFill>
                  <a:srgbClr val="CB0756"/>
                </a:solidFill>
              </a:rPr>
              <a:t> </a:t>
            </a:r>
            <a:r>
              <a:rPr lang="en-US" altLang="zh-TW" sz="2200" dirty="0" smtClean="0"/>
              <a:t>(C6)</a:t>
            </a:r>
          </a:p>
          <a:p>
            <a:pPr lvl="2" indent="-265113" eaLnBrk="1" hangingPunct="1">
              <a:lnSpc>
                <a:spcPct val="90000"/>
              </a:lnSpc>
              <a:buFont typeface="Wingdings 2" pitchFamily="18" charset="2"/>
              <a:buChar char=""/>
              <a:defRPr/>
            </a:pPr>
            <a:r>
              <a:rPr lang="en-US" altLang="zh-TW" sz="2000" dirty="0" smtClean="0"/>
              <a:t>Camera, microwave oven, washing machines…</a:t>
            </a:r>
          </a:p>
          <a:p>
            <a:pPr eaLnBrk="1" hangingPunct="1">
              <a:lnSpc>
                <a:spcPct val="90000"/>
              </a:lnSpc>
              <a:defRPr/>
            </a:pPr>
            <a:endParaRPr lang="zh-TW" altLang="en-US" sz="2000" dirty="0" smtClean="0">
              <a:solidFill>
                <a:srgbClr val="CB0756"/>
              </a:solidFill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zh-TW" altLang="en-US" sz="2200" dirty="0" smtClean="0">
                <a:solidFill>
                  <a:srgbClr val="CB0756"/>
                </a:solidFill>
              </a:rPr>
              <a:t>互動設計要思考 </a:t>
            </a:r>
            <a:r>
              <a:rPr lang="en-US" altLang="zh-TW" sz="2200" dirty="0" smtClean="0"/>
              <a:t>-- </a:t>
            </a:r>
            <a:r>
              <a:rPr lang="zh-TW" altLang="en-US" sz="2200" dirty="0" smtClean="0"/>
              <a:t>如何強化</a:t>
            </a:r>
            <a:r>
              <a:rPr lang="zh-TW" altLang="en-US" sz="2200" dirty="0" smtClean="0">
                <a:solidFill>
                  <a:srgbClr val="CB0756"/>
                </a:solidFill>
              </a:rPr>
              <a:t>使用者與 </a:t>
            </a:r>
            <a:r>
              <a:rPr lang="en-US" altLang="zh-TW" sz="2200" dirty="0" smtClean="0">
                <a:solidFill>
                  <a:srgbClr val="CB0756"/>
                </a:solidFill>
              </a:rPr>
              <a:t>“</a:t>
            </a:r>
            <a:r>
              <a:rPr lang="zh-TW" altLang="en-US" sz="2200" dirty="0" smtClean="0">
                <a:solidFill>
                  <a:srgbClr val="CB0756"/>
                </a:solidFill>
              </a:rPr>
              <a:t>系統</a:t>
            </a:r>
            <a:r>
              <a:rPr lang="en-US" altLang="zh-TW" sz="2200" dirty="0" smtClean="0">
                <a:solidFill>
                  <a:srgbClr val="CB0756"/>
                </a:solidFill>
              </a:rPr>
              <a:t>/</a:t>
            </a:r>
            <a:r>
              <a:rPr lang="zh-TW" altLang="en-US" sz="2200" dirty="0" smtClean="0">
                <a:solidFill>
                  <a:srgbClr val="CB0756"/>
                </a:solidFill>
              </a:rPr>
              <a:t>環境</a:t>
            </a:r>
            <a:r>
              <a:rPr lang="en-US" altLang="zh-TW" sz="2200" dirty="0" smtClean="0">
                <a:solidFill>
                  <a:srgbClr val="CB0756"/>
                </a:solidFill>
              </a:rPr>
              <a:t>/</a:t>
            </a:r>
            <a:r>
              <a:rPr lang="zh-TW" altLang="en-US" sz="2200" dirty="0" smtClean="0">
                <a:solidFill>
                  <a:srgbClr val="CB0756"/>
                </a:solidFill>
              </a:rPr>
              <a:t>產品</a:t>
            </a:r>
            <a:r>
              <a:rPr lang="en-US" altLang="zh-TW" sz="2200" dirty="0" smtClean="0">
                <a:solidFill>
                  <a:srgbClr val="CB0756"/>
                </a:solidFill>
              </a:rPr>
              <a:t>” </a:t>
            </a:r>
            <a:r>
              <a:rPr lang="zh-TW" altLang="en-US" sz="2200" dirty="0" smtClean="0">
                <a:solidFill>
                  <a:srgbClr val="CB0756"/>
                </a:solidFill>
              </a:rPr>
              <a:t>的互動</a:t>
            </a:r>
            <a:r>
              <a:rPr lang="zh-TW" altLang="zh-TW" sz="2800" dirty="0" smtClean="0"/>
              <a:t>，</a:t>
            </a:r>
            <a:r>
              <a:rPr lang="zh-TW" altLang="en-US" sz="2200" dirty="0" smtClean="0"/>
              <a:t>以輔助他們操作這些設備</a:t>
            </a:r>
            <a:r>
              <a:rPr lang="en-US" altLang="zh-TW" sz="2200" dirty="0" smtClean="0"/>
              <a:t>? 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altLang="zh-TW" sz="2200" dirty="0" smtClean="0"/>
          </a:p>
          <a:p>
            <a:pPr eaLnBrk="1" hangingPunct="1">
              <a:lnSpc>
                <a:spcPct val="80000"/>
              </a:lnSpc>
              <a:defRPr/>
            </a:pPr>
            <a:r>
              <a:rPr lang="zh-TW" altLang="en-US" sz="2200" dirty="0" smtClean="0"/>
              <a:t>當考量一個設計的使用性時，要考慮哪些層面</a:t>
            </a:r>
            <a:r>
              <a:rPr lang="en-US" altLang="zh-TW" sz="2200" dirty="0" smtClean="0"/>
              <a:t>?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altLang="zh-TW" sz="2200" dirty="0" smtClean="0"/>
          </a:p>
          <a:p>
            <a:pPr lvl="1" indent="-265113" eaLnBrk="1" hangingPunct="1">
              <a:lnSpc>
                <a:spcPct val="90000"/>
              </a:lnSpc>
              <a:defRPr/>
            </a:pPr>
            <a:r>
              <a:rPr lang="en-GB" altLang="zh-TW" sz="2200" b="1" dirty="0" smtClean="0"/>
              <a:t>Who</a:t>
            </a:r>
            <a:r>
              <a:rPr lang="en-GB" altLang="zh-TW" sz="2200" dirty="0" smtClean="0"/>
              <a:t> the users are </a:t>
            </a:r>
          </a:p>
          <a:p>
            <a:pPr lvl="1" indent="-265113" eaLnBrk="1" hangingPunct="1">
              <a:lnSpc>
                <a:spcPct val="90000"/>
              </a:lnSpc>
              <a:defRPr/>
            </a:pPr>
            <a:r>
              <a:rPr lang="en-GB" altLang="zh-TW" sz="2200" b="1" dirty="0" smtClean="0"/>
              <a:t>What</a:t>
            </a:r>
            <a:r>
              <a:rPr lang="en-GB" altLang="zh-TW" sz="2200" dirty="0" smtClean="0"/>
              <a:t> activities are being carried out</a:t>
            </a:r>
            <a:r>
              <a:rPr lang="en-GB" altLang="zh-TW" sz="2200" dirty="0" smtClean="0">
                <a:solidFill>
                  <a:srgbClr val="C00000"/>
                </a:solidFill>
              </a:rPr>
              <a:t> </a:t>
            </a:r>
          </a:p>
          <a:p>
            <a:pPr lvl="1" indent="-265113" eaLnBrk="1" hangingPunct="1">
              <a:lnSpc>
                <a:spcPct val="90000"/>
              </a:lnSpc>
              <a:defRPr/>
            </a:pPr>
            <a:r>
              <a:rPr lang="en-GB" altLang="zh-TW" sz="2200" b="1" dirty="0" smtClean="0"/>
              <a:t>Where</a:t>
            </a:r>
            <a:r>
              <a:rPr lang="en-GB" altLang="zh-TW" sz="2200" dirty="0" smtClean="0"/>
              <a:t> the interaction is taking place</a:t>
            </a:r>
            <a:endParaRPr lang="en-US" altLang="zh-TW" sz="2200" dirty="0" smtClean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8E221B-39D4-47E4-B64D-9C39A64FB4EB}" type="slidenum">
              <a:rPr lang="en-US" altLang="zh-TW" smtClean="0"/>
              <a:pPr>
                <a:defRPr/>
              </a:pPr>
              <a:t>6</a:t>
            </a:fld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60375" y="-142875"/>
            <a:ext cx="8183563" cy="105092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accent1">
                    <a:tint val="88000"/>
                    <a:satMod val="150000"/>
                  </a:schemeClr>
                </a:solidFill>
              </a:rPr>
              <a:t>Understanding users</a:t>
            </a:r>
          </a:p>
        </p:txBody>
      </p:sp>
      <p:sp>
        <p:nvSpPr>
          <p:cNvPr id="4198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214313" y="1216298"/>
            <a:ext cx="8246119" cy="5453062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en-US" altLang="zh-TW" sz="800" dirty="0" smtClean="0">
              <a:solidFill>
                <a:srgbClr val="008080"/>
              </a:solidFill>
            </a:endParaRPr>
          </a:p>
          <a:p>
            <a:pPr eaLnBrk="1" hangingPunct="1"/>
            <a:r>
              <a:rPr lang="zh-TW" altLang="en-US" dirty="0" smtClean="0"/>
              <a:t>有哪些關於使用者部分是可以考量的</a:t>
            </a:r>
            <a:r>
              <a:rPr lang="en-US" altLang="zh-TW" dirty="0" smtClean="0"/>
              <a:t>?</a:t>
            </a:r>
          </a:p>
          <a:p>
            <a:pPr eaLnBrk="1" hangingPunct="1"/>
            <a:endParaRPr lang="en-US" altLang="zh-TW" sz="800" dirty="0" smtClean="0"/>
          </a:p>
          <a:p>
            <a:pPr marL="804863" lvl="1" indent="-457200" eaLnBrk="1" hangingPunct="1">
              <a:buFont typeface="Verdana" pitchFamily="34" charset="0"/>
              <a:buAutoNum type="arabicPeriod"/>
            </a:pPr>
            <a:r>
              <a:rPr lang="en-US" altLang="zh-TW" sz="2200" dirty="0" smtClean="0"/>
              <a:t>What they are </a:t>
            </a:r>
            <a:r>
              <a:rPr lang="en-US" altLang="zh-TW" sz="2200" dirty="0" smtClean="0">
                <a:solidFill>
                  <a:srgbClr val="CB0756"/>
                </a:solidFill>
              </a:rPr>
              <a:t>good and bad at </a:t>
            </a:r>
            <a:r>
              <a:rPr lang="en-US" altLang="zh-TW" sz="2200" dirty="0" smtClean="0"/>
              <a:t>What might help them with the </a:t>
            </a:r>
            <a:r>
              <a:rPr lang="en-US" altLang="zh-TW" sz="2200" dirty="0" smtClean="0">
                <a:solidFill>
                  <a:srgbClr val="CB0756"/>
                </a:solidFill>
              </a:rPr>
              <a:t>way they currently do things </a:t>
            </a:r>
            <a:endParaRPr lang="en-US" altLang="zh-TW" sz="2200" dirty="0" smtClean="0"/>
          </a:p>
          <a:p>
            <a:pPr marL="804863" lvl="1" indent="-457200" eaLnBrk="1" hangingPunct="1">
              <a:buFont typeface="Verdana" pitchFamily="34" charset="0"/>
              <a:buAutoNum type="arabicPeriod"/>
            </a:pPr>
            <a:r>
              <a:rPr lang="en-US" altLang="zh-TW" sz="2200" dirty="0" smtClean="0"/>
              <a:t>What might provide quality </a:t>
            </a:r>
            <a:r>
              <a:rPr lang="en-US" altLang="zh-TW" sz="2200" dirty="0" smtClean="0">
                <a:solidFill>
                  <a:srgbClr val="CB0756"/>
                </a:solidFill>
              </a:rPr>
              <a:t>user experiences</a:t>
            </a:r>
            <a:endParaRPr lang="en-US" altLang="zh-TW" sz="2200" dirty="0" smtClean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8E221B-39D4-47E4-B64D-9C39A64FB4EB}" type="slidenum">
              <a:rPr lang="en-US" altLang="zh-TW" smtClean="0"/>
              <a:pPr>
                <a:defRPr/>
              </a:pPr>
              <a:t>7</a:t>
            </a:fld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內容版面配置區 2"/>
          <p:cNvSpPr>
            <a:spLocks noGrp="1"/>
          </p:cNvSpPr>
          <p:nvPr>
            <p:ph idx="1"/>
          </p:nvPr>
        </p:nvSpPr>
        <p:spPr>
          <a:xfrm>
            <a:off x="460375" y="536575"/>
            <a:ext cx="8183563" cy="4187825"/>
          </a:xfrm>
        </p:spPr>
        <p:txBody>
          <a:bodyPr/>
          <a:lstStyle/>
          <a:p>
            <a:pPr eaLnBrk="1" hangingPunct="1"/>
            <a:r>
              <a:rPr lang="zh-TW" altLang="en-US" smtClean="0"/>
              <a:t>可以使用的方法</a:t>
            </a:r>
            <a:endParaRPr lang="en-US" altLang="zh-TW" smtClean="0"/>
          </a:p>
          <a:p>
            <a:pPr eaLnBrk="1" hangingPunct="1"/>
            <a:endParaRPr lang="en-US" altLang="zh-TW" smtClean="0"/>
          </a:p>
          <a:p>
            <a:pPr lvl="1" eaLnBrk="1" hangingPunct="1"/>
            <a:r>
              <a:rPr lang="en-US" altLang="zh-TW" smtClean="0"/>
              <a:t>Listen to what they </a:t>
            </a:r>
            <a:r>
              <a:rPr lang="en-US" altLang="zh-TW" smtClean="0">
                <a:solidFill>
                  <a:srgbClr val="CB0756"/>
                </a:solidFill>
              </a:rPr>
              <a:t>want</a:t>
            </a:r>
            <a:r>
              <a:rPr lang="en-US" altLang="zh-TW" smtClean="0"/>
              <a:t> (</a:t>
            </a:r>
            <a:r>
              <a:rPr lang="zh-TW" altLang="en-US" smtClean="0"/>
              <a:t>邀請她們一起設計</a:t>
            </a:r>
            <a:r>
              <a:rPr lang="en-US" altLang="zh-TW" smtClean="0"/>
              <a:t>)</a:t>
            </a:r>
          </a:p>
          <a:p>
            <a:pPr lvl="1" eaLnBrk="1" hangingPunct="1"/>
            <a:r>
              <a:rPr lang="en-US" altLang="zh-TW" smtClean="0"/>
              <a:t>Use </a:t>
            </a:r>
            <a:r>
              <a:rPr lang="en-US" altLang="zh-TW" smtClean="0">
                <a:latin typeface="Times New Roman" pitchFamily="18" charset="0"/>
              </a:rPr>
              <a:t>“</a:t>
            </a:r>
            <a:r>
              <a:rPr lang="en-US" altLang="zh-TW" smtClean="0">
                <a:solidFill>
                  <a:srgbClr val="CB0756"/>
                </a:solidFill>
              </a:rPr>
              <a:t>tried and tested</a:t>
            </a:r>
            <a:r>
              <a:rPr lang="en-US" altLang="zh-TW" smtClean="0">
                <a:latin typeface="Times New Roman" pitchFamily="18" charset="0"/>
              </a:rPr>
              <a:t>”</a:t>
            </a:r>
            <a:r>
              <a:rPr lang="en-US" altLang="zh-TW" smtClean="0"/>
              <a:t> techniques during the design process (</a:t>
            </a:r>
            <a:r>
              <a:rPr lang="zh-TW" altLang="en-US" smtClean="0"/>
              <a:t>循環式設計</a:t>
            </a:r>
            <a:r>
              <a:rPr lang="en-US" altLang="zh-TW" smtClean="0"/>
              <a:t>)</a:t>
            </a:r>
          </a:p>
          <a:p>
            <a:endParaRPr lang="zh-TW" altLang="en-US" smtClean="0"/>
          </a:p>
        </p:txBody>
      </p:sp>
      <p:pic>
        <p:nvPicPr>
          <p:cNvPr id="32771" name="Picture 2" descr="http://t0.gstatic.com/images?q=tbn:ANd9GcSj7AHER5IEvMFqOgYnErtj3XTnzQC6w0PpTUOz3StIOm7xm-OQ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16238" y="3048000"/>
            <a:ext cx="5184775" cy="2725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8E221B-39D4-47E4-B64D-9C39A64FB4EB}" type="slidenum">
              <a:rPr lang="en-US" altLang="zh-TW" smtClean="0"/>
              <a:pPr>
                <a:defRPr/>
              </a:pPr>
              <a:t>8</a:t>
            </a:fld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-285750"/>
            <a:ext cx="7772400" cy="11430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accent1">
                    <a:tint val="88000"/>
                    <a:satMod val="150000"/>
                  </a:schemeClr>
                </a:solidFill>
              </a:rPr>
              <a:t>1.3 What is interaction design</a:t>
            </a:r>
          </a:p>
        </p:txBody>
      </p:sp>
      <p:sp>
        <p:nvSpPr>
          <p:cNvPr id="2253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250825" y="1125538"/>
            <a:ext cx="8642350" cy="4751387"/>
          </a:xfrm>
        </p:spPr>
        <p:txBody>
          <a:bodyPr/>
          <a:lstStyle/>
          <a:p>
            <a:pPr eaLnBrk="1" hangingPunct="1"/>
            <a:r>
              <a:rPr lang="zh-TW" altLang="en-US" sz="2200" smtClean="0"/>
              <a:t>互動設計定義</a:t>
            </a:r>
            <a:r>
              <a:rPr lang="en-US" altLang="zh-TW" sz="2200" smtClean="0"/>
              <a:t>?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altLang="zh-TW" sz="2200" smtClean="0"/>
              <a:t>	Designing interactive products </a:t>
            </a:r>
            <a:r>
              <a:rPr lang="en-US" altLang="zh-TW" sz="2200" smtClean="0">
                <a:solidFill>
                  <a:srgbClr val="C00000"/>
                </a:solidFill>
              </a:rPr>
              <a:t>to support people </a:t>
            </a:r>
            <a:r>
              <a:rPr lang="en-US" altLang="zh-TW" sz="2200" smtClean="0"/>
              <a:t>in their everyday and working lives. </a:t>
            </a:r>
          </a:p>
          <a:p>
            <a:pPr eaLnBrk="1" hangingPunct="1"/>
            <a:endParaRPr lang="en-US" altLang="zh-TW" sz="2200" smtClean="0"/>
          </a:p>
          <a:p>
            <a:pPr eaLnBrk="1" hangingPunct="1"/>
            <a:r>
              <a:rPr lang="en-US" altLang="zh-TW" sz="2200" b="1" smtClean="0"/>
              <a:t>Interaction designer </a:t>
            </a:r>
            <a:r>
              <a:rPr lang="en-US" altLang="zh-TW" sz="2200" smtClean="0"/>
              <a:t>creating</a:t>
            </a:r>
            <a:r>
              <a:rPr lang="en-US" altLang="zh-TW" sz="2200" smtClean="0">
                <a:solidFill>
                  <a:srgbClr val="0070C0"/>
                </a:solidFill>
              </a:rPr>
              <a:t> user experiences </a:t>
            </a:r>
            <a:r>
              <a:rPr lang="en-US" altLang="zh-TW" sz="2200" smtClean="0"/>
              <a:t>that enhance and extend the way</a:t>
            </a:r>
            <a:r>
              <a:rPr lang="en-US" altLang="zh-TW" sz="2200" smtClean="0">
                <a:solidFill>
                  <a:srgbClr val="0070C0"/>
                </a:solidFill>
              </a:rPr>
              <a:t> people work, communicate and interact </a:t>
            </a:r>
            <a:r>
              <a:rPr lang="en-US" altLang="zh-TW" sz="2200" smtClean="0"/>
              <a:t>-- Finding ways of supporting people (</a:t>
            </a:r>
            <a:r>
              <a:rPr lang="zh-TW" altLang="en-US" sz="2200" smtClean="0"/>
              <a:t>現在已經從 </a:t>
            </a:r>
            <a:r>
              <a:rPr lang="en-US" altLang="zh-TW" sz="2200" smtClean="0">
                <a:solidFill>
                  <a:srgbClr val="C00000"/>
                </a:solidFill>
              </a:rPr>
              <a:t>performance</a:t>
            </a:r>
            <a:r>
              <a:rPr lang="en-US" altLang="zh-TW" sz="2200" smtClean="0"/>
              <a:t> to </a:t>
            </a:r>
            <a:r>
              <a:rPr lang="en-US" altLang="zh-TW" sz="2200" smtClean="0">
                <a:solidFill>
                  <a:srgbClr val="C00000"/>
                </a:solidFill>
              </a:rPr>
              <a:t>experience </a:t>
            </a:r>
            <a:r>
              <a:rPr lang="en-US" altLang="zh-TW" sz="2200" smtClean="0"/>
              <a:t>– paradigm shift)</a:t>
            </a:r>
          </a:p>
          <a:p>
            <a:pPr eaLnBrk="1" hangingPunct="1"/>
            <a:endParaRPr lang="en-US" altLang="zh-TW" sz="2200" smtClean="0"/>
          </a:p>
          <a:p>
            <a:pPr eaLnBrk="1" hangingPunct="1"/>
            <a:r>
              <a:rPr lang="zh-TW" altLang="en-US" sz="2200" smtClean="0"/>
              <a:t>實務上 </a:t>
            </a:r>
            <a:r>
              <a:rPr lang="en-US" altLang="zh-TW" sz="2200" smtClean="0"/>
              <a:t>--</a:t>
            </a:r>
            <a:r>
              <a:rPr lang="zh-TW" altLang="en-US" sz="2200" smtClean="0"/>
              <a:t> </a:t>
            </a:r>
            <a:r>
              <a:rPr lang="en-US" altLang="zh-TW" sz="2200" smtClean="0"/>
              <a:t>How to design user experiences (goal-directed, thoughtful</a:t>
            </a:r>
            <a:r>
              <a:rPr lang="zh-TW" altLang="en-US" sz="2200" smtClean="0"/>
              <a:t> 體貼</a:t>
            </a:r>
            <a:r>
              <a:rPr lang="en-US" altLang="zh-TW" sz="2200" smtClean="0"/>
              <a:t>)</a:t>
            </a:r>
          </a:p>
          <a:p>
            <a:pPr eaLnBrk="1" hangingPunct="1"/>
            <a:endParaRPr lang="en-US" altLang="zh-TW" sz="2200" smtClean="0"/>
          </a:p>
          <a:p>
            <a:pPr eaLnBrk="1" hangingPunct="1"/>
            <a:endParaRPr lang="en-US" altLang="zh-TW" sz="2200" smtClean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8E221B-39D4-47E4-B64D-9C39A64FB4EB}" type="slidenum">
              <a:rPr lang="en-US" altLang="zh-TW" smtClean="0"/>
              <a:pPr>
                <a:defRPr/>
              </a:pPr>
              <a:t>9</a:t>
            </a:fld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838200"/>
            <a:ext cx="8534400" cy="5562600"/>
          </a:xfrm>
        </p:spPr>
        <p:txBody>
          <a:bodyPr/>
          <a:lstStyle/>
          <a:p>
            <a:pPr eaLnBrk="1" hangingPunct="1"/>
            <a:r>
              <a:rPr lang="en-US" altLang="zh-TW" dirty="0" smtClean="0">
                <a:solidFill>
                  <a:srgbClr val="0000FF"/>
                </a:solidFill>
                <a:latin typeface="微軟正黑體" pitchFamily="34" charset="-120"/>
              </a:rPr>
              <a:t>Architects </a:t>
            </a:r>
            <a:r>
              <a:rPr lang="zh-TW" altLang="en-US" dirty="0" smtClean="0">
                <a:solidFill>
                  <a:srgbClr val="0000FF"/>
                </a:solidFill>
                <a:latin typeface="微軟正黑體" pitchFamily="34" charset="-120"/>
              </a:rPr>
              <a:t>建築設計師 </a:t>
            </a:r>
            <a:r>
              <a:rPr lang="en-US" altLang="zh-TW" dirty="0" smtClean="0">
                <a:solidFill>
                  <a:srgbClr val="0000FF"/>
                </a:solidFill>
                <a:latin typeface="微軟正黑體" pitchFamily="34" charset="-120"/>
              </a:rPr>
              <a:t>(</a:t>
            </a:r>
            <a:r>
              <a:rPr lang="zh-TW" altLang="en-US" dirty="0" smtClean="0">
                <a:solidFill>
                  <a:srgbClr val="0000FF"/>
                </a:solidFill>
                <a:latin typeface="微軟正黑體" pitchFamily="34" charset="-120"/>
              </a:rPr>
              <a:t>互動系統設計者</a:t>
            </a:r>
            <a:r>
              <a:rPr lang="en-US" altLang="zh-TW" dirty="0" smtClean="0">
                <a:solidFill>
                  <a:srgbClr val="0000FF"/>
                </a:solidFill>
                <a:latin typeface="微軟正黑體" pitchFamily="34" charset="-120"/>
              </a:rPr>
              <a:t>)</a:t>
            </a:r>
          </a:p>
          <a:p>
            <a:pPr eaLnBrk="1" hangingPunct="1">
              <a:buFontTx/>
              <a:buNone/>
            </a:pPr>
            <a:r>
              <a:rPr lang="en-US" altLang="zh-TW" dirty="0" smtClean="0">
                <a:latin typeface="微軟正黑體" pitchFamily="34" charset="-120"/>
              </a:rPr>
              <a:t>	Concert with the people and their interactions with each other and within the house</a:t>
            </a:r>
          </a:p>
          <a:p>
            <a:pPr eaLnBrk="1" hangingPunct="1">
              <a:buFontTx/>
              <a:buNone/>
            </a:pPr>
            <a:endParaRPr lang="en-US" altLang="zh-TW" sz="800" dirty="0" smtClean="0">
              <a:latin typeface="微軟正黑體" pitchFamily="34" charset="-120"/>
            </a:endParaRPr>
          </a:p>
          <a:p>
            <a:pPr eaLnBrk="1" hangingPunct="1">
              <a:buFontTx/>
              <a:buNone/>
            </a:pPr>
            <a:endParaRPr lang="en-US" altLang="zh-TW" sz="2000" dirty="0" smtClean="0">
              <a:solidFill>
                <a:srgbClr val="C00000"/>
              </a:solidFill>
              <a:latin typeface="微軟正黑體" pitchFamily="34" charset="-120"/>
            </a:endParaRPr>
          </a:p>
          <a:p>
            <a:pPr eaLnBrk="1" hangingPunct="1">
              <a:buNone/>
            </a:pPr>
            <a:r>
              <a:rPr lang="zh-TW" altLang="en-US" sz="2000" dirty="0" smtClean="0"/>
              <a:t>反之</a:t>
            </a:r>
            <a:r>
              <a:rPr lang="en-US" altLang="zh-TW" sz="2000" b="1" dirty="0" smtClean="0"/>
              <a:t>Software engineering </a:t>
            </a:r>
            <a:r>
              <a:rPr lang="en-US" altLang="zh-TW" sz="2000" dirty="0" smtClean="0"/>
              <a:t>focuses on the production of </a:t>
            </a:r>
            <a:r>
              <a:rPr lang="en-US" altLang="zh-TW" sz="2000" dirty="0" smtClean="0">
                <a:solidFill>
                  <a:srgbClr val="CB0756"/>
                </a:solidFill>
              </a:rPr>
              <a:t>software solutions</a:t>
            </a:r>
            <a:r>
              <a:rPr lang="en-US" altLang="zh-TW" sz="2000" dirty="0" smtClean="0"/>
              <a:t> for given applications.</a:t>
            </a:r>
          </a:p>
          <a:p>
            <a:pPr eaLnBrk="1" hangingPunct="1">
              <a:buNone/>
            </a:pPr>
            <a:endParaRPr lang="en-US" altLang="zh-TW" sz="2000" dirty="0" smtClean="0"/>
          </a:p>
          <a:p>
            <a:pPr eaLnBrk="1" hangingPunct="1">
              <a:buNone/>
            </a:pPr>
            <a:endParaRPr lang="en-US" altLang="zh-TW" sz="2000" dirty="0" smtClean="0"/>
          </a:p>
          <a:p>
            <a:pPr eaLnBrk="1" hangingPunct="1">
              <a:buFontTx/>
              <a:buNone/>
            </a:pPr>
            <a:endParaRPr lang="en-US" altLang="zh-TW" sz="2000" dirty="0" smtClean="0">
              <a:solidFill>
                <a:srgbClr val="C00000"/>
              </a:solidFill>
              <a:latin typeface="微軟正黑體" pitchFamily="34" charset="-120"/>
            </a:endParaRPr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-357188"/>
            <a:ext cx="7772400" cy="1143001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dirty="0" smtClean="0">
                <a:ea typeface="新細明體" pitchFamily="18" charset="-120"/>
              </a:rPr>
              <a:t>互動設計師 </a:t>
            </a:r>
            <a:r>
              <a:rPr lang="en-US" altLang="zh-TW" dirty="0" smtClean="0">
                <a:ea typeface="新細明體" pitchFamily="18" charset="-120"/>
              </a:rPr>
              <a:t>vs. </a:t>
            </a:r>
            <a:r>
              <a:rPr lang="zh-TW" altLang="en-US" dirty="0" smtClean="0">
                <a:ea typeface="新細明體" pitchFamily="18" charset="-120"/>
              </a:rPr>
              <a:t>軟體工程師比喻</a:t>
            </a: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8E221B-39D4-47E4-B64D-9C39A64FB4EB}" type="slidenum">
              <a:rPr lang="en-US" altLang="zh-TW" smtClean="0"/>
              <a:pPr>
                <a:defRPr/>
              </a:pPr>
              <a:t>10</a:t>
            </a:fld>
            <a:endParaRPr lang="en-US" altLang="zh-TW"/>
          </a:p>
        </p:txBody>
      </p:sp>
      <p:sp>
        <p:nvSpPr>
          <p:cNvPr id="11" name="頁尾版面配置區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50" y="260648"/>
            <a:ext cx="8572500" cy="1345157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sz="2800" dirty="0" smtClean="0">
                <a:solidFill>
                  <a:schemeClr val="accent1">
                    <a:tint val="88000"/>
                    <a:satMod val="150000"/>
                  </a:schemeClr>
                </a:solidFill>
              </a:rPr>
              <a:t>1.3.1 Interaction design</a:t>
            </a:r>
            <a:r>
              <a:rPr lang="zh-TW" altLang="en-US" sz="2800" dirty="0" smtClean="0">
                <a:solidFill>
                  <a:schemeClr val="accent1">
                    <a:tint val="88000"/>
                    <a:satMod val="150000"/>
                  </a:schemeClr>
                </a:solidFill>
                <a:latin typeface="新細明體" pitchFamily="18" charset="-120"/>
              </a:rPr>
              <a:t>的組成</a:t>
            </a:r>
            <a:r>
              <a:rPr lang="zh-TW" altLang="en-US" sz="2800" dirty="0" smtClean="0">
                <a:solidFill>
                  <a:schemeClr val="accent1">
                    <a:tint val="88000"/>
                    <a:satMod val="150000"/>
                  </a:schemeClr>
                </a:solidFill>
              </a:rPr>
              <a:t> </a:t>
            </a:r>
            <a:r>
              <a:rPr lang="en-US" altLang="zh-TW" sz="2800" dirty="0" smtClean="0">
                <a:solidFill>
                  <a:schemeClr val="accent1">
                    <a:tint val="88000"/>
                    <a:satMod val="150000"/>
                  </a:schemeClr>
                </a:solidFill>
              </a:rPr>
              <a:t/>
            </a:r>
            <a:br>
              <a:rPr lang="en-US" altLang="zh-TW" sz="2800" dirty="0" smtClean="0">
                <a:solidFill>
                  <a:schemeClr val="accent1">
                    <a:tint val="88000"/>
                    <a:satMod val="150000"/>
                  </a:schemeClr>
                </a:solidFill>
              </a:rPr>
            </a:br>
            <a:r>
              <a:rPr lang="en-GB" altLang="zh-TW" sz="2800" dirty="0" smtClean="0">
                <a:solidFill>
                  <a:schemeClr val="accent1">
                    <a:tint val="88000"/>
                    <a:satMod val="150000"/>
                  </a:schemeClr>
                </a:solidFill>
              </a:rPr>
              <a:t>Relationship between ID, HCI and other fields</a:t>
            </a:r>
          </a:p>
        </p:txBody>
      </p:sp>
      <p:sp>
        <p:nvSpPr>
          <p:cNvPr id="43011" name="Text Box 4"/>
          <p:cNvSpPr txBox="1">
            <a:spLocks noChangeArrowheads="1"/>
          </p:cNvSpPr>
          <p:nvPr/>
        </p:nvSpPr>
        <p:spPr bwMode="auto">
          <a:xfrm>
            <a:off x="1331640" y="5589240"/>
            <a:ext cx="741682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kumimoji="0" lang="en-GB" altLang="zh-TW" sz="2000" b="1" dirty="0">
                <a:latin typeface="Arial" charset="0"/>
              </a:rPr>
              <a:t>Interdisciplinary fields </a:t>
            </a:r>
            <a:endParaRPr kumimoji="0" lang="en-GB" altLang="zh-TW" sz="2000" b="1" dirty="0" smtClean="0">
              <a:latin typeface="Arial" charset="0"/>
            </a:endParaRPr>
          </a:p>
          <a:p>
            <a:pPr eaLnBrk="0" hangingPunct="0"/>
            <a:r>
              <a:rPr kumimoji="0" lang="en-GB" altLang="zh-TW" sz="2000" dirty="0" smtClean="0">
                <a:solidFill>
                  <a:srgbClr val="CB0756"/>
                </a:solidFill>
                <a:latin typeface="Arial" charset="0"/>
              </a:rPr>
              <a:t>HCI</a:t>
            </a:r>
            <a:r>
              <a:rPr kumimoji="0" lang="en-GB" altLang="zh-TW" sz="2000" dirty="0">
                <a:latin typeface="Arial" charset="0"/>
              </a:rPr>
              <a:t>, </a:t>
            </a:r>
            <a:r>
              <a:rPr kumimoji="0" lang="en-US" altLang="zh-TW" sz="2000" dirty="0" smtClean="0">
                <a:latin typeface="Arial" charset="0"/>
              </a:rPr>
              <a:t>Human factor</a:t>
            </a:r>
            <a:r>
              <a:rPr kumimoji="0" lang="en-GB" altLang="zh-TW" sz="2000" dirty="0" smtClean="0">
                <a:latin typeface="Arial" charset="0"/>
              </a:rPr>
              <a:t>, </a:t>
            </a:r>
            <a:r>
              <a:rPr kumimoji="0" lang="en-GB" altLang="zh-TW" sz="2000" dirty="0" smtClean="0">
                <a:solidFill>
                  <a:srgbClr val="CB0756"/>
                </a:solidFill>
                <a:latin typeface="Arial" charset="0"/>
              </a:rPr>
              <a:t>cognitive</a:t>
            </a:r>
            <a:r>
              <a:rPr kumimoji="0" lang="zh-TW" altLang="en-US" sz="2000" dirty="0" smtClean="0">
                <a:latin typeface="Arial" charset="0"/>
              </a:rPr>
              <a:t> </a:t>
            </a:r>
            <a:r>
              <a:rPr kumimoji="0" lang="en-GB" altLang="zh-TW" sz="2000" dirty="0" smtClean="0">
                <a:latin typeface="Arial" charset="0"/>
              </a:rPr>
              <a:t>engineering/ergonomics</a:t>
            </a:r>
            <a:r>
              <a:rPr kumimoji="0" lang="zh-TW" altLang="en-US" sz="2000" dirty="0" smtClean="0">
                <a:latin typeface="Arial" charset="0"/>
              </a:rPr>
              <a:t>認知工程</a:t>
            </a:r>
            <a:r>
              <a:rPr kumimoji="0" lang="en-GB" altLang="zh-TW" sz="2000" dirty="0" smtClean="0">
                <a:latin typeface="Arial" charset="0"/>
              </a:rPr>
              <a:t>, </a:t>
            </a:r>
            <a:r>
              <a:rPr kumimoji="0" lang="en-GB" altLang="zh-TW" sz="2000" dirty="0" smtClean="0">
                <a:solidFill>
                  <a:srgbClr val="CB0756"/>
                </a:solidFill>
                <a:latin typeface="Arial" charset="0"/>
              </a:rPr>
              <a:t>information systems</a:t>
            </a:r>
            <a:endParaRPr kumimoji="0" lang="en-GB" altLang="zh-TW" sz="2000" dirty="0">
              <a:latin typeface="Arial" charset="0"/>
            </a:endParaRPr>
          </a:p>
        </p:txBody>
      </p:sp>
      <p:sp>
        <p:nvSpPr>
          <p:cNvPr id="43012" name="Text Box 5"/>
          <p:cNvSpPr txBox="1">
            <a:spLocks noChangeArrowheads="1"/>
          </p:cNvSpPr>
          <p:nvPr/>
        </p:nvSpPr>
        <p:spPr bwMode="auto">
          <a:xfrm>
            <a:off x="5724128" y="2060848"/>
            <a:ext cx="3332964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kumimoji="0" lang="en-GB" altLang="zh-TW" sz="2000" b="1" dirty="0">
                <a:latin typeface="Arial" charset="0"/>
              </a:rPr>
              <a:t>Design </a:t>
            </a:r>
            <a:r>
              <a:rPr kumimoji="0" lang="en-GB" altLang="zh-TW" sz="2000" b="1" dirty="0" smtClean="0">
                <a:latin typeface="Arial" charset="0"/>
              </a:rPr>
              <a:t>practices</a:t>
            </a:r>
            <a:r>
              <a:rPr kumimoji="0" lang="zh-TW" altLang="en-US" sz="2000" b="1" dirty="0" smtClean="0">
                <a:latin typeface="Arial" charset="0"/>
              </a:rPr>
              <a:t> 設計實做</a:t>
            </a:r>
            <a:endParaRPr kumimoji="0" lang="en-GB" altLang="zh-TW" sz="2000" b="1" dirty="0">
              <a:latin typeface="Arial" charset="0"/>
            </a:endParaRPr>
          </a:p>
          <a:p>
            <a:pPr lvl="1"/>
            <a:endParaRPr lang="en-GB" altLang="zh-TW" sz="2000" dirty="0"/>
          </a:p>
          <a:p>
            <a:pPr lvl="1"/>
            <a:r>
              <a:rPr lang="en-GB" altLang="zh-TW" sz="2000" dirty="0"/>
              <a:t>Graphic design</a:t>
            </a:r>
          </a:p>
          <a:p>
            <a:pPr lvl="1"/>
            <a:r>
              <a:rPr lang="en-GB" altLang="zh-TW" sz="2000" dirty="0"/>
              <a:t>Product design</a:t>
            </a:r>
          </a:p>
          <a:p>
            <a:pPr lvl="1"/>
            <a:r>
              <a:rPr lang="en-GB" altLang="zh-TW" sz="2000" dirty="0"/>
              <a:t>Artist-design</a:t>
            </a:r>
          </a:p>
          <a:p>
            <a:pPr lvl="1"/>
            <a:r>
              <a:rPr lang="en-GB" altLang="zh-TW" sz="2000" dirty="0"/>
              <a:t>Industrial design</a:t>
            </a:r>
          </a:p>
          <a:p>
            <a:pPr lvl="1"/>
            <a:r>
              <a:rPr lang="en-GB" altLang="zh-TW" sz="2000" dirty="0"/>
              <a:t>Film industry</a:t>
            </a:r>
          </a:p>
        </p:txBody>
      </p:sp>
      <p:sp>
        <p:nvSpPr>
          <p:cNvPr id="43015" name="Text Box 7"/>
          <p:cNvSpPr txBox="1">
            <a:spLocks noChangeArrowheads="1"/>
          </p:cNvSpPr>
          <p:nvPr/>
        </p:nvSpPr>
        <p:spPr bwMode="auto">
          <a:xfrm>
            <a:off x="179388" y="1909638"/>
            <a:ext cx="2852384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kumimoji="0" lang="en-GB" altLang="zh-TW" sz="2000" b="1" dirty="0">
                <a:latin typeface="Arial" charset="0"/>
              </a:rPr>
              <a:t>Academic</a:t>
            </a:r>
          </a:p>
          <a:p>
            <a:pPr eaLnBrk="0" hangingPunct="0">
              <a:defRPr/>
            </a:pPr>
            <a:r>
              <a:rPr kumimoji="0" lang="en-GB" altLang="zh-TW" sz="2000" b="1" dirty="0">
                <a:latin typeface="Arial" charset="0"/>
              </a:rPr>
              <a:t>disciplines</a:t>
            </a:r>
          </a:p>
          <a:p>
            <a:pPr lvl="1">
              <a:defRPr/>
            </a:pPr>
            <a:endParaRPr lang="en-GB" altLang="zh-TW" sz="2000" dirty="0"/>
          </a:p>
          <a:p>
            <a:pPr marL="0" lvl="1">
              <a:defRPr/>
            </a:pPr>
            <a:r>
              <a:rPr lang="en-GB" altLang="zh-TW" sz="2000" dirty="0"/>
              <a:t>Psychology</a:t>
            </a:r>
          </a:p>
          <a:p>
            <a:pPr marL="0" lvl="1">
              <a:defRPr/>
            </a:pPr>
            <a:r>
              <a:rPr lang="en-GB" altLang="zh-TW" sz="2000" dirty="0"/>
              <a:t>Social Sciences</a:t>
            </a:r>
          </a:p>
          <a:p>
            <a:pPr marL="0" lvl="1">
              <a:defRPr/>
            </a:pPr>
            <a:r>
              <a:rPr lang="en-GB" altLang="zh-TW" sz="2000" dirty="0"/>
              <a:t>Computing Sciences</a:t>
            </a:r>
          </a:p>
          <a:p>
            <a:pPr marL="0" lvl="1">
              <a:defRPr/>
            </a:pPr>
            <a:r>
              <a:rPr lang="en-GB" altLang="zh-TW" sz="2000" dirty="0"/>
              <a:t>Engineering</a:t>
            </a:r>
          </a:p>
          <a:p>
            <a:pPr marL="0" lvl="1">
              <a:defRPr/>
            </a:pPr>
            <a:r>
              <a:rPr lang="en-GB" altLang="zh-TW" sz="2000" dirty="0"/>
              <a:t>Ergonomics </a:t>
            </a:r>
            <a:r>
              <a:rPr lang="zh-TW" altLang="en-GB" sz="2000" dirty="0"/>
              <a:t>人</a:t>
            </a:r>
            <a:r>
              <a:rPr lang="zh-TW" altLang="en-US" sz="2000" dirty="0"/>
              <a:t>因</a:t>
            </a:r>
            <a:r>
              <a:rPr lang="zh-TW" altLang="en-GB" sz="2000" dirty="0"/>
              <a:t>工程學</a:t>
            </a:r>
          </a:p>
          <a:p>
            <a:pPr marL="0" lvl="1">
              <a:defRPr/>
            </a:pPr>
            <a:r>
              <a:rPr lang="en-GB" altLang="zh-TW" sz="2000" dirty="0"/>
              <a:t>Informatics </a:t>
            </a:r>
            <a:r>
              <a:rPr lang="zh-TW" altLang="en-GB" sz="2000" dirty="0"/>
              <a:t>資訊學</a:t>
            </a:r>
          </a:p>
        </p:txBody>
      </p:sp>
      <p:grpSp>
        <p:nvGrpSpPr>
          <p:cNvPr id="2" name="群組 10"/>
          <p:cNvGrpSpPr>
            <a:grpSpLocks/>
          </p:cNvGrpSpPr>
          <p:nvPr/>
        </p:nvGrpSpPr>
        <p:grpSpPr bwMode="auto">
          <a:xfrm>
            <a:off x="3707904" y="2996952"/>
            <a:ext cx="2133600" cy="1981200"/>
            <a:chOff x="3352800" y="1712208"/>
            <a:chExt cx="2133600" cy="1981200"/>
          </a:xfrm>
        </p:grpSpPr>
        <p:sp>
          <p:nvSpPr>
            <p:cNvPr id="63491" name="Oval 3"/>
            <p:cNvSpPr>
              <a:spLocks noChangeArrowheads="1"/>
            </p:cNvSpPr>
            <p:nvPr/>
          </p:nvSpPr>
          <p:spPr bwMode="auto">
            <a:xfrm>
              <a:off x="3352800" y="1712208"/>
              <a:ext cx="2133600" cy="1981200"/>
            </a:xfrm>
            <a:prstGeom prst="ellipse">
              <a:avLst/>
            </a:prstGeom>
            <a:ln w="57150"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>
                <a:defRPr/>
              </a:pPr>
              <a:endParaRPr lang="zh-TW" altLang="en-US" sz="3200"/>
            </a:p>
          </p:txBody>
        </p:sp>
        <p:sp>
          <p:nvSpPr>
            <p:cNvPr id="43019" name="Text Box 8"/>
            <p:cNvSpPr txBox="1">
              <a:spLocks noChangeArrowheads="1"/>
            </p:cNvSpPr>
            <p:nvPr/>
          </p:nvSpPr>
          <p:spPr bwMode="auto">
            <a:xfrm>
              <a:off x="3640832" y="2360280"/>
              <a:ext cx="1741488" cy="822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en-GB" altLang="zh-TW" sz="2400" b="1" dirty="0">
                  <a:latin typeface="Arial" charset="0"/>
                </a:rPr>
                <a:t>Interaction</a:t>
              </a:r>
            </a:p>
            <a:p>
              <a:pPr eaLnBrk="0" hangingPunct="0"/>
              <a:r>
                <a:rPr kumimoji="0" lang="en-GB" altLang="zh-TW" sz="2400" b="1" dirty="0">
                  <a:latin typeface="Arial" charset="0"/>
                </a:rPr>
                <a:t>Design</a:t>
              </a:r>
            </a:p>
          </p:txBody>
        </p:sp>
      </p:grpSp>
      <p:sp>
        <p:nvSpPr>
          <p:cNvPr id="43013" name="Line 6"/>
          <p:cNvSpPr>
            <a:spLocks noChangeShapeType="1"/>
          </p:cNvSpPr>
          <p:nvPr/>
        </p:nvSpPr>
        <p:spPr bwMode="auto">
          <a:xfrm>
            <a:off x="2627313" y="2917700"/>
            <a:ext cx="1295400" cy="609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16" name="Line 9"/>
          <p:cNvSpPr>
            <a:spLocks noChangeShapeType="1"/>
          </p:cNvSpPr>
          <p:nvPr/>
        </p:nvSpPr>
        <p:spPr bwMode="auto">
          <a:xfrm flipV="1">
            <a:off x="4860032" y="5013176"/>
            <a:ext cx="0" cy="576263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17" name="Line 10"/>
          <p:cNvSpPr>
            <a:spLocks noChangeShapeType="1"/>
          </p:cNvSpPr>
          <p:nvPr/>
        </p:nvSpPr>
        <p:spPr bwMode="auto">
          <a:xfrm flipH="1">
            <a:off x="5364163" y="2701800"/>
            <a:ext cx="647700" cy="639763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" name="投影片編號版面配置區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AFF8B1-FF1C-4397-AFA1-09C4D71A1C7A}" type="slidenum">
              <a:rPr lang="en-US" altLang="zh-TW" smtClean="0"/>
              <a:pPr>
                <a:defRPr/>
              </a:pPr>
              <a:t>11</a:t>
            </a:fld>
            <a:endParaRPr lang="en-US" altLang="zh-TW"/>
          </a:p>
        </p:txBody>
      </p:sp>
      <p:sp>
        <p:nvSpPr>
          <p:cNvPr id="14" name="頁尾版面配置區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60375" y="234950"/>
            <a:ext cx="8255000" cy="1050925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zh-TW" sz="2800" dirty="0" smtClean="0">
                <a:solidFill>
                  <a:schemeClr val="accent1">
                    <a:tint val="88000"/>
                    <a:satMod val="150000"/>
                  </a:schemeClr>
                </a:solidFill>
              </a:rPr>
              <a:t>1.3.2 Who is involved in interaction design?</a:t>
            </a:r>
          </a:p>
        </p:txBody>
      </p:sp>
      <p:sp>
        <p:nvSpPr>
          <p:cNvPr id="4403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467544" y="1340768"/>
            <a:ext cx="8280920" cy="4751387"/>
          </a:xfrm>
        </p:spPr>
        <p:txBody>
          <a:bodyPr>
            <a:noAutofit/>
          </a:bodyPr>
          <a:lstStyle/>
          <a:p>
            <a:pPr marL="200025" lvl="1" eaLnBrk="1" hangingPunct="1">
              <a:lnSpc>
                <a:spcPct val="110000"/>
              </a:lnSpc>
            </a:pPr>
            <a:r>
              <a:rPr lang="zh-TW" altLang="en-US" dirty="0" smtClean="0">
                <a:latin typeface="+mn-ea"/>
              </a:rPr>
              <a:t>互動設計師需要了解</a:t>
            </a:r>
            <a:endParaRPr lang="en-US" altLang="zh-TW" dirty="0" smtClean="0">
              <a:latin typeface="+mn-ea"/>
            </a:endParaRPr>
          </a:p>
          <a:p>
            <a:pPr marL="438150" lvl="2" eaLnBrk="1" hangingPunct="1">
              <a:lnSpc>
                <a:spcPct val="110000"/>
              </a:lnSpc>
            </a:pPr>
            <a:r>
              <a:rPr lang="zh-TW" altLang="en-US" dirty="0" smtClean="0">
                <a:latin typeface="+mn-ea"/>
              </a:rPr>
              <a:t>人對事情的反應 </a:t>
            </a:r>
            <a:endParaRPr lang="en-US" altLang="zh-TW" dirty="0" smtClean="0">
              <a:latin typeface="+mn-ea"/>
            </a:endParaRPr>
          </a:p>
          <a:p>
            <a:pPr marL="438150" lvl="2" eaLnBrk="1" hangingPunct="1">
              <a:lnSpc>
                <a:spcPct val="110000"/>
              </a:lnSpc>
            </a:pPr>
            <a:r>
              <a:rPr lang="zh-TW" altLang="en-US" dirty="0" smtClean="0">
                <a:latin typeface="+mn-ea"/>
              </a:rPr>
              <a:t>人與人互動的</a:t>
            </a:r>
            <a:endParaRPr lang="en-US" altLang="zh-TW" dirty="0" smtClean="0">
              <a:latin typeface="+mn-ea"/>
            </a:endParaRPr>
          </a:p>
          <a:p>
            <a:pPr marL="438150" lvl="2" eaLnBrk="1" hangingPunct="1">
              <a:lnSpc>
                <a:spcPct val="110000"/>
              </a:lnSpc>
            </a:pPr>
            <a:r>
              <a:rPr lang="zh-TW" altLang="en-US" dirty="0" smtClean="0">
                <a:latin typeface="+mn-ea"/>
              </a:rPr>
              <a:t>情緒的作用、生理限制 </a:t>
            </a:r>
            <a:endParaRPr lang="en-US" altLang="zh-TW" dirty="0" smtClean="0">
              <a:solidFill>
                <a:srgbClr val="0070C0"/>
              </a:solidFill>
              <a:latin typeface="+mn-ea"/>
            </a:endParaRPr>
          </a:p>
          <a:p>
            <a:pPr marL="438150" lvl="2" eaLnBrk="1" hangingPunct="1">
              <a:lnSpc>
                <a:spcPct val="110000"/>
              </a:lnSpc>
            </a:pPr>
            <a:r>
              <a:rPr lang="zh-TW" altLang="en-US" dirty="0" smtClean="0">
                <a:latin typeface="+mn-ea"/>
              </a:rPr>
              <a:t>商業、技術、製造、行銷</a:t>
            </a:r>
            <a:endParaRPr lang="en-US" altLang="zh-TW" dirty="0" smtClean="0">
              <a:latin typeface="+mn-ea"/>
            </a:endParaRPr>
          </a:p>
          <a:p>
            <a:pPr marL="200025" lvl="1" eaLnBrk="1" hangingPunct="1">
              <a:lnSpc>
                <a:spcPct val="110000"/>
              </a:lnSpc>
            </a:pPr>
            <a:r>
              <a:rPr lang="en-US" altLang="zh-TW" dirty="0" smtClean="0">
                <a:latin typeface="+mn-ea"/>
              </a:rPr>
              <a:t>Multidisciplinary teams –</a:t>
            </a:r>
          </a:p>
          <a:p>
            <a:pPr marL="438150" lvl="2" eaLnBrk="1" hangingPunct="1">
              <a:lnSpc>
                <a:spcPct val="110000"/>
              </a:lnSpc>
            </a:pPr>
            <a:r>
              <a:rPr lang="en-US" altLang="zh-TW" dirty="0" smtClean="0">
                <a:latin typeface="+mn-ea"/>
              </a:rPr>
              <a:t>Engineers, designers, programmers, psychologists, anthropologists, sociologists, artists, toy makers…</a:t>
            </a:r>
          </a:p>
          <a:p>
            <a:pPr marL="200025" lvl="1" eaLnBrk="1" hangingPunct="1">
              <a:lnSpc>
                <a:spcPct val="110000"/>
              </a:lnSpc>
            </a:pPr>
            <a:endParaRPr lang="en-US" altLang="zh-TW" dirty="0" smtClean="0">
              <a:latin typeface="+mn-ea"/>
            </a:endParaRPr>
          </a:p>
          <a:p>
            <a:pPr marL="200025" lvl="1" eaLnBrk="1" hangingPunct="1">
              <a:lnSpc>
                <a:spcPct val="110000"/>
              </a:lnSpc>
            </a:pPr>
            <a:r>
              <a:rPr lang="zh-TW" altLang="en-US" dirty="0" smtClean="0">
                <a:latin typeface="+mn-ea"/>
              </a:rPr>
              <a:t>參與的不同角色越多，越能激發創意，但溝通上也越不易 </a:t>
            </a:r>
            <a:r>
              <a:rPr lang="en-US" altLang="zh-TW" dirty="0" smtClean="0">
                <a:latin typeface="+mn-ea"/>
              </a:rPr>
              <a:t>(</a:t>
            </a:r>
            <a:r>
              <a:rPr lang="zh-TW" altLang="en-US" dirty="0" smtClean="0">
                <a:latin typeface="+mn-ea"/>
              </a:rPr>
              <a:t>不同部分的隔閡</a:t>
            </a:r>
            <a:r>
              <a:rPr lang="en-US" altLang="zh-TW" dirty="0" smtClean="0">
                <a:latin typeface="+mn-ea"/>
              </a:rPr>
              <a:t>)</a:t>
            </a:r>
          </a:p>
          <a:p>
            <a:pPr marL="200025" lvl="1" eaLnBrk="1" hangingPunct="1">
              <a:lnSpc>
                <a:spcPct val="110000"/>
              </a:lnSpc>
              <a:buFont typeface="Verdana" pitchFamily="34" charset="0"/>
              <a:buNone/>
            </a:pPr>
            <a:r>
              <a:rPr lang="en-US" altLang="zh-TW" dirty="0" smtClean="0">
                <a:latin typeface="+mn-ea"/>
              </a:rPr>
              <a:t>  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8E221B-39D4-47E4-B64D-9C39A64FB4EB}" type="slidenum">
              <a:rPr lang="en-US" altLang="zh-TW" smtClean="0"/>
              <a:pPr>
                <a:defRPr/>
              </a:pPr>
              <a:t>12</a:t>
            </a:fld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8153400" cy="9906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zh-TW" sz="4000" dirty="0" smtClean="0">
                <a:solidFill>
                  <a:schemeClr val="accent1">
                    <a:tint val="88000"/>
                    <a:satMod val="150000"/>
                  </a:schemeClr>
                </a:solidFill>
              </a:rPr>
              <a:t>Interaction design in business</a:t>
            </a:r>
          </a:p>
        </p:txBody>
      </p:sp>
      <p:sp>
        <p:nvSpPr>
          <p:cNvPr id="4505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755650" y="1412875"/>
            <a:ext cx="7986713" cy="4114800"/>
          </a:xfrm>
        </p:spPr>
        <p:txBody>
          <a:bodyPr/>
          <a:lstStyle/>
          <a:p>
            <a:pPr eaLnBrk="1" hangingPunct="1"/>
            <a:r>
              <a:rPr lang="en-GB" altLang="zh-TW" sz="2000" smtClean="0"/>
              <a:t>Increasing number of ID consultancies, examples of well known ones include:</a:t>
            </a:r>
          </a:p>
          <a:p>
            <a:pPr lvl="1" eaLnBrk="1" hangingPunct="1"/>
            <a:r>
              <a:rPr lang="en-GB" altLang="zh-TW" sz="2000" b="1" smtClean="0"/>
              <a:t>Nielsen Norman Group</a:t>
            </a:r>
            <a:r>
              <a:rPr lang="en-GB" altLang="zh-TW" sz="2000" smtClean="0"/>
              <a:t>: </a:t>
            </a:r>
            <a:r>
              <a:rPr lang="en-GB" altLang="zh-TW" sz="2000" smtClean="0">
                <a:latin typeface="Times New Roman" pitchFamily="18" charset="0"/>
              </a:rPr>
              <a:t>“</a:t>
            </a:r>
            <a:r>
              <a:rPr lang="en-GB" altLang="zh-TW" sz="2000" smtClean="0"/>
              <a:t>help companies enter the age of the consumer, designing human-centered products and services</a:t>
            </a:r>
            <a:r>
              <a:rPr lang="en-GB" altLang="zh-TW" sz="2000" smtClean="0">
                <a:latin typeface="Times New Roman" pitchFamily="18" charset="0"/>
              </a:rPr>
              <a:t>”</a:t>
            </a:r>
            <a:endParaRPr lang="en-GB" altLang="zh-TW" sz="2000" smtClean="0"/>
          </a:p>
          <a:p>
            <a:pPr lvl="1" eaLnBrk="1" hangingPunct="1"/>
            <a:r>
              <a:rPr lang="en-GB" altLang="zh-TW" sz="2000" b="1" smtClean="0"/>
              <a:t>Swim:</a:t>
            </a:r>
            <a:r>
              <a:rPr lang="en-GB" altLang="zh-TW" sz="2000" smtClean="0"/>
              <a:t> </a:t>
            </a:r>
            <a:r>
              <a:rPr lang="en-GB" altLang="zh-TW" sz="2000" smtClean="0">
                <a:latin typeface="Times New Roman" pitchFamily="18" charset="0"/>
              </a:rPr>
              <a:t>“</a:t>
            </a:r>
            <a:r>
              <a:rPr lang="en-GB" altLang="zh-TW" sz="2000" smtClean="0"/>
              <a:t>provides a wide range of design services, in each case targeted to address the product development needs at hand</a:t>
            </a:r>
            <a:r>
              <a:rPr lang="en-GB" altLang="zh-TW" sz="2000" smtClean="0">
                <a:latin typeface="Times New Roman" pitchFamily="18" charset="0"/>
              </a:rPr>
              <a:t>”</a:t>
            </a:r>
            <a:endParaRPr lang="en-GB" altLang="zh-TW" sz="2000" smtClean="0"/>
          </a:p>
          <a:p>
            <a:pPr lvl="1" eaLnBrk="1" hangingPunct="1"/>
            <a:r>
              <a:rPr lang="en-GB" altLang="zh-TW" sz="2000" b="1" smtClean="0"/>
              <a:t>IDEO: </a:t>
            </a:r>
            <a:r>
              <a:rPr lang="en-GB" altLang="zh-TW" sz="2000" b="1" smtClean="0">
                <a:latin typeface="Times New Roman" pitchFamily="18" charset="0"/>
              </a:rPr>
              <a:t>“</a:t>
            </a:r>
            <a:r>
              <a:rPr lang="en-GB" altLang="zh-TW" sz="2000" smtClean="0"/>
              <a:t>creates products, services and environments for companies pioneering new ways to provide value to their customers</a:t>
            </a:r>
            <a:r>
              <a:rPr lang="en-GB" altLang="zh-TW" sz="2000" smtClean="0">
                <a:latin typeface="Times New Roman" pitchFamily="18" charset="0"/>
              </a:rPr>
              <a:t>”</a:t>
            </a:r>
            <a:endParaRPr lang="en-GB" altLang="zh-TW" sz="2000" smtClean="0"/>
          </a:p>
          <a:p>
            <a:pPr lvl="1" eaLnBrk="1" hangingPunct="1"/>
            <a:endParaRPr lang="en-GB" altLang="zh-TW" sz="2000" smtClean="0"/>
          </a:p>
          <a:p>
            <a:pPr eaLnBrk="1" hangingPunct="1"/>
            <a:endParaRPr lang="en-GB" altLang="zh-TW" sz="2000" smtClean="0"/>
          </a:p>
        </p:txBody>
      </p:sp>
      <p:pic>
        <p:nvPicPr>
          <p:cNvPr id="4506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5013325"/>
            <a:ext cx="1933575" cy="1690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06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86600" y="5029200"/>
            <a:ext cx="1676400" cy="12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062" name="Picture 6" descr="ideo"/>
          <p:cNvPicPr>
            <a:picLocks noChangeAspect="1" noChangeArrowheads="1"/>
          </p:cNvPicPr>
          <p:nvPr/>
        </p:nvPicPr>
        <p:blipFill>
          <a:blip r:embed="rId4" cstate="print"/>
          <a:srcRect l="36215" r="1440"/>
          <a:stretch>
            <a:fillRect/>
          </a:stretch>
        </p:blipFill>
        <p:spPr bwMode="auto">
          <a:xfrm>
            <a:off x="3622675" y="5181600"/>
            <a:ext cx="1898650" cy="998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8E221B-39D4-47E4-B64D-9C39A64FB4EB}" type="slidenum">
              <a:rPr lang="en-US" altLang="zh-TW" smtClean="0"/>
              <a:pPr>
                <a:defRPr/>
              </a:pPr>
              <a:t>13</a:t>
            </a:fld>
            <a:endParaRPr lang="en-US" altLang="zh-TW"/>
          </a:p>
        </p:txBody>
      </p:sp>
      <p:sp>
        <p:nvSpPr>
          <p:cNvPr id="9" name="頁尾版面配置區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idx="4294967295"/>
          </p:nvPr>
        </p:nvSpPr>
        <p:spPr bwMode="auto">
          <a:xfrm>
            <a:off x="468313" y="0"/>
            <a:ext cx="8183562" cy="1050925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zh-TW" sz="320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1.4 The user experience</a:t>
            </a:r>
            <a:endParaRPr lang="zh-TW" altLang="en-US" sz="3200" smtClean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7891" name="內容版面配置區 2"/>
          <p:cNvSpPr>
            <a:spLocks noGrp="1"/>
          </p:cNvSpPr>
          <p:nvPr>
            <p:ph idx="4294967295"/>
          </p:nvPr>
        </p:nvSpPr>
        <p:spPr>
          <a:xfrm>
            <a:off x="467544" y="1412776"/>
            <a:ext cx="8183563" cy="4187825"/>
          </a:xfrm>
        </p:spPr>
        <p:txBody>
          <a:bodyPr/>
          <a:lstStyle/>
          <a:p>
            <a:pPr>
              <a:defRPr/>
            </a:pPr>
            <a:r>
              <a:rPr lang="en-US" altLang="zh-TW" sz="2400" dirty="0" smtClean="0"/>
              <a:t>Jesse Garrett (2003) – every product that is used by someone has a </a:t>
            </a:r>
            <a:r>
              <a:rPr lang="en-US" altLang="zh-TW" sz="2400" dirty="0" smtClean="0">
                <a:solidFill>
                  <a:srgbClr val="CB0756"/>
                </a:solidFill>
              </a:rPr>
              <a:t>user experience</a:t>
            </a:r>
            <a:r>
              <a:rPr lang="en-US" altLang="zh-TW" sz="2400" dirty="0" smtClean="0"/>
              <a:t> – </a:t>
            </a:r>
          </a:p>
          <a:p>
            <a:pPr>
              <a:buFont typeface="Wingdings 2" pitchFamily="18" charset="2"/>
              <a:buNone/>
              <a:defRPr/>
            </a:pPr>
            <a:r>
              <a:rPr lang="zh-TW" altLang="en-US" sz="2400" dirty="0" smtClean="0"/>
              <a:t>　</a:t>
            </a:r>
          </a:p>
          <a:p>
            <a:pPr>
              <a:buFont typeface="Wingdings 2" pitchFamily="18" charset="2"/>
              <a:buNone/>
              <a:defRPr/>
            </a:pPr>
            <a:r>
              <a:rPr lang="zh-TW" altLang="en-US" sz="2400" dirty="0" smtClean="0">
                <a:solidFill>
                  <a:srgbClr val="CB0756"/>
                </a:solidFill>
              </a:rPr>
              <a:t>  使用起來的感覺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How people feel about a product and their pleasure and satisfaction when using it, looking at it, holding, it and opening or closing it.</a:t>
            </a:r>
            <a:endParaRPr lang="en-US" altLang="en-US" sz="2400" dirty="0" smtClean="0">
              <a:ea typeface="微軟正黑體" pitchFamily="34" charset="-120"/>
            </a:endParaRPr>
          </a:p>
          <a:p>
            <a:pPr>
              <a:buFont typeface="Wingdings 2" pitchFamily="18" charset="2"/>
              <a:buNone/>
              <a:defRPr/>
            </a:pPr>
            <a:r>
              <a:rPr lang="en-US" altLang="zh-TW" sz="1800" dirty="0" smtClean="0"/>
              <a:t>　</a:t>
            </a:r>
            <a:endParaRPr lang="zh-TW" altLang="en-US" sz="1800" dirty="0" smtClean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8CA59F-E5F1-412B-84C6-3D1313BA103D}" type="slidenum">
              <a:rPr lang="en-US" altLang="zh-TW" smtClean="0"/>
              <a:pPr>
                <a:defRPr/>
              </a:pPr>
              <a:t>14</a:t>
            </a:fld>
            <a:endParaRPr lang="en-US" altLang="zh-TW"/>
          </a:p>
        </p:txBody>
      </p:sp>
      <p:sp>
        <p:nvSpPr>
          <p:cNvPr id="7" name="頁尾版面配置區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-357188"/>
            <a:ext cx="8058150" cy="1143001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accent1">
                    <a:tint val="88000"/>
                    <a:satMod val="150000"/>
                  </a:schemeClr>
                </a:solidFill>
              </a:rPr>
              <a:t>1.5 Process of interaction design? </a:t>
            </a:r>
          </a:p>
        </p:txBody>
      </p:sp>
      <p:sp>
        <p:nvSpPr>
          <p:cNvPr id="2048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838200" y="1127125"/>
            <a:ext cx="7837488" cy="48529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TW" altLang="en-US" sz="2800" b="1" smtClean="0">
                <a:latin typeface="Times New Roman" pitchFamily="18" charset="0"/>
              </a:rPr>
              <a:t>四個基本的設計活動 </a:t>
            </a:r>
            <a:r>
              <a:rPr lang="en-US" altLang="zh-TW" sz="2800" b="1" smtClean="0">
                <a:solidFill>
                  <a:srgbClr val="008080"/>
                </a:solidFill>
                <a:latin typeface="Times New Roman" pitchFamily="18" charset="0"/>
              </a:rPr>
              <a:t>(</a:t>
            </a:r>
            <a:r>
              <a:rPr lang="zh-TW" altLang="en-US" sz="2800" smtClean="0">
                <a:solidFill>
                  <a:srgbClr val="008080"/>
                </a:solidFill>
                <a:latin typeface="Times New Roman" pitchFamily="18" charset="0"/>
              </a:rPr>
              <a:t>這個流程與你之前學的過程一樣嗎</a:t>
            </a:r>
            <a:r>
              <a:rPr lang="en-US" altLang="zh-TW" sz="2800" smtClean="0">
                <a:solidFill>
                  <a:srgbClr val="008080"/>
                </a:solidFill>
                <a:latin typeface="Times New Roman" pitchFamily="18" charset="0"/>
              </a:rPr>
              <a:t>?)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sz="12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600" smtClean="0">
                <a:latin typeface="Times New Roman" pitchFamily="18" charset="0"/>
              </a:rPr>
              <a:t>1.</a:t>
            </a:r>
            <a:r>
              <a:rPr lang="en-US" altLang="zh-TW" sz="26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TW" altLang="en-US" sz="2600" smtClean="0">
                <a:latin typeface="Times New Roman" pitchFamily="18" charset="0"/>
                <a:cs typeface="Times New Roman" pitchFamily="18" charset="0"/>
              </a:rPr>
              <a:t>確認與建立需求 </a:t>
            </a:r>
            <a:r>
              <a:rPr lang="en-US" altLang="zh-TW" sz="260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TW" sz="2600" smtClean="0">
                <a:latin typeface="Times New Roman" pitchFamily="18" charset="0"/>
              </a:rPr>
              <a:t>dentifying </a:t>
            </a:r>
            <a:r>
              <a:rPr lang="en-US" altLang="zh-TW" sz="2600" b="1" smtClean="0">
                <a:solidFill>
                  <a:srgbClr val="CB0756"/>
                </a:solidFill>
                <a:latin typeface="Times New Roman" pitchFamily="18" charset="0"/>
              </a:rPr>
              <a:t>needs</a:t>
            </a:r>
            <a:r>
              <a:rPr lang="en-US" altLang="zh-TW" sz="2600" smtClean="0">
                <a:latin typeface="Times New Roman" pitchFamily="18" charset="0"/>
              </a:rPr>
              <a:t> and establishing </a:t>
            </a:r>
            <a:r>
              <a:rPr lang="en-US" altLang="zh-TW" sz="2600" b="1" smtClean="0">
                <a:solidFill>
                  <a:srgbClr val="CB0756"/>
                </a:solidFill>
                <a:latin typeface="Times New Roman" pitchFamily="18" charset="0"/>
              </a:rPr>
              <a:t>requirements </a:t>
            </a:r>
            <a:r>
              <a:rPr lang="en-US" altLang="zh-TW" sz="2600" b="1" smtClean="0">
                <a:latin typeface="Times New Roman" pitchFamily="18" charset="0"/>
              </a:rPr>
              <a:t>(</a:t>
            </a:r>
            <a:r>
              <a:rPr lang="zh-TW" altLang="en-US" sz="2600" b="1" smtClean="0">
                <a:latin typeface="Times New Roman" pitchFamily="18" charset="0"/>
              </a:rPr>
              <a:t>分析</a:t>
            </a:r>
            <a:r>
              <a:rPr lang="en-US" altLang="zh-TW" sz="2600" b="1" smtClean="0">
                <a:latin typeface="Times New Roman" pitchFamily="18" charset="0"/>
              </a:rPr>
              <a:t>)</a:t>
            </a:r>
            <a:endParaRPr lang="en-US" altLang="zh-TW" sz="26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600" smtClean="0">
                <a:latin typeface="Times New Roman" pitchFamily="18" charset="0"/>
              </a:rPr>
              <a:t>2.</a:t>
            </a:r>
            <a:r>
              <a:rPr lang="zh-TW" altLang="en-US" sz="2600" smtClean="0">
                <a:latin typeface="Times New Roman" pitchFamily="18" charset="0"/>
              </a:rPr>
              <a:t>發展多個設計想法 </a:t>
            </a:r>
            <a:r>
              <a:rPr lang="en-US" altLang="zh-TW" sz="2600" smtClean="0">
                <a:latin typeface="Times New Roman" pitchFamily="18" charset="0"/>
              </a:rPr>
              <a:t>Developing </a:t>
            </a:r>
            <a:r>
              <a:rPr lang="en-US" altLang="zh-TW" sz="2600" b="1" smtClean="0">
                <a:solidFill>
                  <a:srgbClr val="CB0756"/>
                </a:solidFill>
                <a:latin typeface="Times New Roman" pitchFamily="18" charset="0"/>
              </a:rPr>
              <a:t>alternative designs</a:t>
            </a:r>
            <a:r>
              <a:rPr lang="en-US" altLang="zh-TW" sz="2600" smtClean="0">
                <a:latin typeface="Times New Roman" pitchFamily="18" charset="0"/>
              </a:rPr>
              <a:t> that meet those requirements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600" smtClean="0">
                <a:latin typeface="Times New Roman" pitchFamily="18" charset="0"/>
              </a:rPr>
              <a:t>3.</a:t>
            </a:r>
            <a:r>
              <a:rPr lang="en-US" altLang="zh-TW" sz="260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zh-TW" altLang="en-US" sz="2600" smtClean="0">
                <a:latin typeface="Times New Roman" pitchFamily="18" charset="0"/>
              </a:rPr>
              <a:t>建置雛形以供評估 </a:t>
            </a:r>
            <a:r>
              <a:rPr lang="en-US" altLang="zh-TW" sz="260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sz="2600" smtClean="0">
                <a:latin typeface="Times New Roman" pitchFamily="18" charset="0"/>
              </a:rPr>
              <a:t>uilding </a:t>
            </a:r>
            <a:r>
              <a:rPr lang="en-US" altLang="zh-TW" sz="2600" b="1" smtClean="0">
                <a:solidFill>
                  <a:srgbClr val="CB0756"/>
                </a:solidFill>
                <a:latin typeface="Times New Roman" pitchFamily="18" charset="0"/>
              </a:rPr>
              <a:t>interactive versions of the designs</a:t>
            </a:r>
            <a:r>
              <a:rPr lang="en-US" altLang="zh-TW" sz="2600" smtClean="0">
                <a:latin typeface="Times New Roman" pitchFamily="18" charset="0"/>
              </a:rPr>
              <a:t> so that they can be communicated and assessed.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600" smtClean="0">
                <a:latin typeface="Times New Roman" pitchFamily="18" charset="0"/>
              </a:rPr>
              <a:t>4.</a:t>
            </a:r>
            <a:r>
              <a:rPr lang="en-US" altLang="zh-TW" sz="260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zh-TW" altLang="en-US" sz="2600" smtClean="0">
                <a:latin typeface="Times New Roman" pitchFamily="18" charset="0"/>
              </a:rPr>
              <a:t>評估雛形使用性 </a:t>
            </a:r>
            <a:r>
              <a:rPr lang="en-US" altLang="zh-TW" sz="2600" b="1" smtClean="0">
                <a:solidFill>
                  <a:srgbClr val="CB0756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zh-TW" sz="2600" b="1" smtClean="0">
                <a:solidFill>
                  <a:srgbClr val="CB0756"/>
                </a:solidFill>
                <a:latin typeface="Times New Roman" pitchFamily="18" charset="0"/>
              </a:rPr>
              <a:t>valuating</a:t>
            </a:r>
            <a:r>
              <a:rPr lang="en-US" altLang="zh-TW" sz="2600" smtClean="0">
                <a:latin typeface="Times New Roman" pitchFamily="18" charset="0"/>
              </a:rPr>
              <a:t> what is being built throughout the process </a:t>
            </a:r>
            <a:r>
              <a:rPr lang="zh-TW" altLang="en-US" sz="2600" smtClean="0">
                <a:latin typeface="Times New Roman" pitchFamily="18" charset="0"/>
              </a:rPr>
              <a:t> </a:t>
            </a:r>
            <a:r>
              <a:rPr lang="en-US" altLang="zh-TW" sz="2600" smtClean="0">
                <a:latin typeface="Times New Roman" pitchFamily="18" charset="0"/>
              </a:rPr>
              <a:t>(measure the usability)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8E221B-39D4-47E4-B64D-9C39A64FB4EB}" type="slidenum">
              <a:rPr lang="en-US" altLang="zh-TW" smtClean="0"/>
              <a:pPr>
                <a:defRPr/>
              </a:pPr>
              <a:t>15</a:t>
            </a:fld>
            <a:endParaRPr lang="en-US" altLang="zh-TW"/>
          </a:p>
        </p:txBody>
      </p:sp>
      <p:sp>
        <p:nvSpPr>
          <p:cNvPr id="10" name="頁尾版面配置區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63" y="0"/>
            <a:ext cx="77724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sz="3200" dirty="0" smtClean="0">
                <a:solidFill>
                  <a:schemeClr val="accent1">
                    <a:tint val="88000"/>
                    <a:satMod val="150000"/>
                  </a:schemeClr>
                </a:solidFill>
              </a:rPr>
              <a:t>以使用者為中心的設計</a:t>
            </a:r>
            <a:r>
              <a:rPr lang="en-US" altLang="zh-TW" sz="3200" dirty="0" smtClean="0">
                <a:solidFill>
                  <a:schemeClr val="accent1">
                    <a:tint val="88000"/>
                    <a:satMod val="150000"/>
                  </a:schemeClr>
                </a:solidFill>
              </a:rPr>
              <a:t>User-centered</a:t>
            </a:r>
            <a:r>
              <a:rPr lang="zh-TW" altLang="en-US" sz="3200" dirty="0" smtClean="0">
                <a:solidFill>
                  <a:schemeClr val="accent1">
                    <a:tint val="88000"/>
                    <a:satMod val="150000"/>
                  </a:schemeClr>
                </a:solidFill>
              </a:rPr>
              <a:t> </a:t>
            </a:r>
            <a:r>
              <a:rPr lang="en-US" altLang="zh-TW" sz="3200" dirty="0" smtClean="0">
                <a:solidFill>
                  <a:schemeClr val="accent1">
                    <a:tint val="88000"/>
                    <a:satMod val="150000"/>
                  </a:schemeClr>
                </a:solidFill>
              </a:rPr>
              <a:t>(UC) approach </a:t>
            </a:r>
          </a:p>
        </p:txBody>
      </p:sp>
      <p:sp>
        <p:nvSpPr>
          <p:cNvPr id="4915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684213" y="1214438"/>
            <a:ext cx="7704137" cy="5286375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TW" dirty="0" smtClean="0">
                <a:solidFill>
                  <a:srgbClr val="CB0756"/>
                </a:solidFill>
              </a:rPr>
              <a:t>UC approach: 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endParaRPr lang="en-US" altLang="zh-TW" dirty="0" smtClean="0">
              <a:solidFill>
                <a:srgbClr val="CB0756"/>
              </a:solidFill>
            </a:endParaRP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TW" dirty="0" smtClean="0"/>
              <a:t>-- Evaluation </a:t>
            </a:r>
            <a:r>
              <a:rPr lang="en-US" altLang="zh-TW" dirty="0" smtClean="0">
                <a:solidFill>
                  <a:srgbClr val="0000FF"/>
                </a:solidFill>
              </a:rPr>
              <a:t>(chapter 12-15)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TW" dirty="0" smtClean="0"/>
              <a:t>-- Understand what people do  </a:t>
            </a:r>
            <a:r>
              <a:rPr lang="zh-TW" altLang="en-US" dirty="0" smtClean="0"/>
              <a:t>人如何與他人、資訊、科技互動。人的能力，情緒、需求、欲望、困擾。了解這些可幫助設計者選擇設計方案，並進行設計與測試 </a:t>
            </a:r>
            <a:r>
              <a:rPr lang="en-US" altLang="zh-TW" dirty="0" smtClean="0">
                <a:solidFill>
                  <a:srgbClr val="0000FF"/>
                </a:solidFill>
              </a:rPr>
              <a:t>(chapter 345)</a:t>
            </a:r>
            <a:r>
              <a:rPr lang="zh-TW" altLang="en-US" dirty="0" smtClean="0">
                <a:solidFill>
                  <a:srgbClr val="0000FF"/>
                </a:solidFill>
              </a:rPr>
              <a:t> </a:t>
            </a:r>
            <a:endParaRPr lang="en-US" altLang="zh-TW" b="1" dirty="0" smtClean="0">
              <a:solidFill>
                <a:srgbClr val="0000FF"/>
              </a:solidFill>
            </a:endParaRPr>
          </a:p>
          <a:p>
            <a:pPr eaLnBrk="1" hangingPunct="1">
              <a:lnSpc>
                <a:spcPct val="110000"/>
              </a:lnSpc>
              <a:buFont typeface="Wingdings 2" pitchFamily="18" charset="2"/>
              <a:buNone/>
            </a:pPr>
            <a:r>
              <a:rPr lang="en-US" altLang="zh-TW" dirty="0" smtClean="0"/>
              <a:t>-- How an understanding of people and what they do can be translated to requirements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TW" dirty="0" smtClean="0">
                <a:solidFill>
                  <a:srgbClr val="0000FF"/>
                </a:solidFill>
              </a:rPr>
              <a:t>(chapter 10)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TW" dirty="0" smtClean="0"/>
              <a:t>-- Involve users in design process </a:t>
            </a:r>
            <a:r>
              <a:rPr lang="en-US" altLang="zh-TW" dirty="0" smtClean="0">
                <a:solidFill>
                  <a:srgbClr val="0000FF"/>
                </a:solidFill>
              </a:rPr>
              <a:t>(chapter 9 &amp; 11)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endParaRPr lang="en-US" altLang="zh-TW" dirty="0" smtClean="0">
              <a:solidFill>
                <a:srgbClr val="008080"/>
              </a:solidFill>
              <a:latin typeface="Times New Roman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8E221B-39D4-47E4-B64D-9C39A64FB4EB}" type="slidenum">
              <a:rPr lang="en-US" altLang="zh-TW" smtClean="0"/>
              <a:pPr>
                <a:defRPr/>
              </a:pPr>
              <a:t>16</a:t>
            </a:fld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9" name="Rectangle 3"/>
          <p:cNvSpPr>
            <a:spLocks noGrp="1"/>
          </p:cNvSpPr>
          <p:nvPr>
            <p:ph type="body" idx="1"/>
          </p:nvPr>
        </p:nvSpPr>
        <p:spPr>
          <a:xfrm>
            <a:off x="646113" y="609600"/>
            <a:ext cx="7958137" cy="5267325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TW" sz="3000" dirty="0" smtClean="0"/>
              <a:t>What are the reasons of understanding users in the contexts ?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endParaRPr lang="en-US" altLang="zh-TW" sz="2800" dirty="0" smtClean="0">
              <a:latin typeface="Times New Roman" pitchFamily="18" charset="0"/>
            </a:endParaRP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TW" sz="2600" dirty="0" smtClean="0">
                <a:latin typeface="Times New Roman" pitchFamily="18" charset="0"/>
              </a:rPr>
              <a:t>1.</a:t>
            </a:r>
            <a:r>
              <a:rPr lang="zh-TW" altLang="en-US" sz="2600" dirty="0" smtClean="0">
                <a:latin typeface="Times New Roman" pitchFamily="18" charset="0"/>
              </a:rPr>
              <a:t> 不同的使用者需求不一</a:t>
            </a:r>
            <a:r>
              <a:rPr lang="zh-TW" altLang="en-US" sz="2600" dirty="0" smtClean="0"/>
              <a:t> </a:t>
            </a:r>
            <a:r>
              <a:rPr lang="en-US" altLang="zh-TW" sz="2600" dirty="0" smtClean="0"/>
              <a:t>(</a:t>
            </a:r>
            <a:r>
              <a:rPr lang="zh-TW" altLang="en-US" sz="2600" dirty="0" smtClean="0">
                <a:latin typeface="Times New Roman" pitchFamily="18" charset="0"/>
              </a:rPr>
              <a:t>個人差異</a:t>
            </a:r>
            <a:r>
              <a:rPr lang="en-US" altLang="zh-TW" sz="2600" dirty="0" smtClean="0"/>
              <a:t>: </a:t>
            </a:r>
            <a:r>
              <a:rPr lang="zh-TW" altLang="en-US" sz="2600" dirty="0" smtClean="0">
                <a:latin typeface="Times New Roman" pitchFamily="18" charset="0"/>
              </a:rPr>
              <a:t>理解能力、喜好</a:t>
            </a:r>
            <a:r>
              <a:rPr lang="en-US" altLang="zh-TW" sz="2600" dirty="0" smtClean="0">
                <a:latin typeface="Times New Roman" pitchFamily="18" charset="0"/>
              </a:rPr>
              <a:t>…</a:t>
            </a:r>
            <a:r>
              <a:rPr lang="en-US" altLang="zh-TW" sz="2600" dirty="0" smtClean="0"/>
              <a:t>)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TW" sz="2600" dirty="0" smtClean="0">
                <a:solidFill>
                  <a:srgbClr val="FF9900"/>
                </a:solidFill>
              </a:rPr>
              <a:t>	</a:t>
            </a:r>
            <a:endParaRPr lang="en-US" altLang="zh-TW" sz="2600" dirty="0" smtClean="0">
              <a:solidFill>
                <a:srgbClr val="008080"/>
              </a:solidFill>
            </a:endParaRPr>
          </a:p>
          <a:p>
            <a:pPr eaLnBrk="1" hangingPunct="1">
              <a:lnSpc>
                <a:spcPct val="110000"/>
              </a:lnSpc>
              <a:buFont typeface="Wingdings 2" pitchFamily="18" charset="2"/>
              <a:buNone/>
              <a:defRPr/>
            </a:pPr>
            <a:r>
              <a:rPr lang="en-US" altLang="zh-TW" sz="2600" dirty="0" smtClean="0">
                <a:latin typeface="Times New Roman" pitchFamily="18" charset="0"/>
              </a:rPr>
              <a:t>2.</a:t>
            </a:r>
            <a:r>
              <a:rPr lang="zh-TW" altLang="en-US" sz="2600" dirty="0" smtClean="0">
                <a:latin typeface="Times New Roman" pitchFamily="18" charset="0"/>
              </a:rPr>
              <a:t>發覺</a:t>
            </a:r>
            <a:r>
              <a:rPr lang="en-US" altLang="zh-TW" sz="2600" dirty="0" smtClean="0">
                <a:latin typeface="Times New Roman" pitchFamily="18" charset="0"/>
              </a:rPr>
              <a:t>designers</a:t>
            </a:r>
            <a:r>
              <a:rPr lang="zh-TW" altLang="en-US" sz="2600" dirty="0" smtClean="0">
                <a:latin typeface="Times New Roman" pitchFamily="18" charset="0"/>
              </a:rPr>
              <a:t>對於</a:t>
            </a:r>
            <a:r>
              <a:rPr lang="en-US" altLang="zh-TW" sz="2600" dirty="0" smtClean="0">
                <a:latin typeface="Times New Roman" pitchFamily="18" charset="0"/>
              </a:rPr>
              <a:t>users</a:t>
            </a:r>
            <a:r>
              <a:rPr lang="zh-TW" altLang="en-US" sz="2600" dirty="0" smtClean="0">
                <a:latin typeface="Times New Roman" pitchFamily="18" charset="0"/>
              </a:rPr>
              <a:t>特性及需求的錯誤假設</a:t>
            </a:r>
            <a:r>
              <a:rPr lang="en-US" altLang="zh-TW" sz="2600" dirty="0" smtClean="0">
                <a:latin typeface="Times New Roman" pitchFamily="18" charset="0"/>
              </a:rPr>
              <a:t>/</a:t>
            </a:r>
            <a:r>
              <a:rPr lang="zh-TW" altLang="en-US" sz="2600" dirty="0" smtClean="0">
                <a:latin typeface="Times New Roman" pitchFamily="18" charset="0"/>
              </a:rPr>
              <a:t>認知</a:t>
            </a:r>
            <a:endParaRPr lang="en-US" altLang="zh-TW" sz="2600" dirty="0" smtClean="0">
              <a:latin typeface="Times New Roman" pitchFamily="18" charset="0"/>
            </a:endParaRPr>
          </a:p>
          <a:p>
            <a:pPr>
              <a:buNone/>
              <a:defRPr/>
            </a:pPr>
            <a:endParaRPr lang="en-US" altLang="zh-TW" sz="2800" dirty="0" smtClean="0"/>
          </a:p>
          <a:p>
            <a:pPr>
              <a:buNone/>
              <a:defRPr/>
            </a:pPr>
            <a:r>
              <a:rPr lang="en-US" altLang="zh-TW" sz="2800" dirty="0" smtClean="0"/>
              <a:t>3. Be aware of cultural differences</a:t>
            </a:r>
            <a:r>
              <a:rPr lang="zh-TW" altLang="en-US" sz="2800" dirty="0" smtClean="0"/>
              <a:t> 了解文化差異有助於設計產品給跨國家族群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8E221B-39D4-47E4-B64D-9C39A64FB4EB}" type="slidenum">
              <a:rPr lang="en-US" altLang="zh-TW" smtClean="0"/>
              <a:pPr>
                <a:defRPr/>
              </a:pPr>
              <a:t>17</a:t>
            </a:fld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42875"/>
            <a:ext cx="77724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accent1">
                    <a:tint val="88000"/>
                    <a:satMod val="150000"/>
                  </a:schemeClr>
                </a:solidFill>
                <a:latin typeface="Times New Roman" pitchFamily="18" charset="0"/>
              </a:rPr>
              <a:t>Key characteristics of the ID process</a:t>
            </a:r>
          </a:p>
        </p:txBody>
      </p:sp>
      <p:sp>
        <p:nvSpPr>
          <p:cNvPr id="2253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571500" y="1557338"/>
            <a:ext cx="7888288" cy="5014912"/>
          </a:xfrm>
        </p:spPr>
        <p:txBody>
          <a:bodyPr>
            <a:normAutofit/>
          </a:bodyPr>
          <a:lstStyle/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000" dirty="0" smtClean="0">
                <a:cs typeface="Times New Roman" pitchFamily="18" charset="0"/>
              </a:rPr>
              <a:t>1. </a:t>
            </a:r>
            <a:r>
              <a:rPr lang="en-US" altLang="zh-TW" sz="2000" dirty="0" smtClean="0">
                <a:solidFill>
                  <a:srgbClr val="008080"/>
                </a:solidFill>
                <a:cs typeface="Times New Roman" pitchFamily="18" charset="0"/>
              </a:rPr>
              <a:t>Involve user</a:t>
            </a:r>
            <a:r>
              <a:rPr lang="en-US" altLang="zh-TW" sz="2000" dirty="0" smtClean="0">
                <a:cs typeface="Times New Roman" pitchFamily="18" charset="0"/>
              </a:rPr>
              <a:t> through the process</a:t>
            </a:r>
          </a:p>
          <a:p>
            <a:pPr marL="609600" indent="-609600" eaLnBrk="1" hangingPunct="1">
              <a:buFont typeface="Wingdings" pitchFamily="2" charset="2"/>
              <a:buNone/>
            </a:pPr>
            <a:r>
              <a:rPr lang="zh-TW" altLang="en-US" sz="2000" dirty="0" smtClean="0"/>
              <a:t>方式</a:t>
            </a:r>
            <a:r>
              <a:rPr lang="en-US" altLang="zh-TW" sz="2000" dirty="0" smtClean="0"/>
              <a:t>: observing users, taking to them, interviewing them, testing them using performance tasks, modeling their performance, asking them to fill in questionnaires, asking them to become co-designers 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TW" sz="2000" dirty="0" smtClean="0">
              <a:cs typeface="Times New Roman" pitchFamily="18" charset="0"/>
            </a:endParaRP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000" dirty="0" smtClean="0"/>
              <a:t>2. Specific </a:t>
            </a:r>
            <a:r>
              <a:rPr lang="en-US" altLang="zh-TW" sz="2000" dirty="0" smtClean="0">
                <a:solidFill>
                  <a:srgbClr val="008080"/>
                </a:solidFill>
              </a:rPr>
              <a:t>usability and user experience goals</a:t>
            </a:r>
            <a:r>
              <a:rPr lang="en-US" altLang="zh-TW" sz="2000" dirty="0" smtClean="0"/>
              <a:t> should be identified, clearly documented, and agreed upon at the </a:t>
            </a:r>
            <a:r>
              <a:rPr lang="en-US" altLang="zh-TW" sz="2000" dirty="0" smtClean="0">
                <a:solidFill>
                  <a:srgbClr val="008080"/>
                </a:solidFill>
              </a:rPr>
              <a:t>beginning</a:t>
            </a:r>
            <a:r>
              <a:rPr lang="en-US" altLang="zh-TW" sz="2000" dirty="0" smtClean="0"/>
              <a:t> of the project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000" dirty="0" smtClean="0"/>
              <a:t>        </a:t>
            </a:r>
            <a:r>
              <a:rPr lang="zh-TW" altLang="en-US" sz="2000" dirty="0" smtClean="0"/>
              <a:t>從一開始即共同訂出</a:t>
            </a:r>
            <a:r>
              <a:rPr lang="en-US" altLang="zh-TW" sz="2000" dirty="0" smtClean="0"/>
              <a:t>.</a:t>
            </a:r>
            <a:r>
              <a:rPr lang="zh-TW" altLang="en-US" sz="2000" dirty="0" smtClean="0">
                <a:solidFill>
                  <a:srgbClr val="CB0756"/>
                </a:solidFill>
              </a:rPr>
              <a:t>使用性</a:t>
            </a:r>
            <a:r>
              <a:rPr lang="zh-TW" altLang="en-US" sz="2000" dirty="0" smtClean="0"/>
              <a:t>以及</a:t>
            </a:r>
            <a:r>
              <a:rPr lang="zh-TW" altLang="en-US" sz="2000" dirty="0" smtClean="0">
                <a:solidFill>
                  <a:srgbClr val="CB0756"/>
                </a:solidFill>
              </a:rPr>
              <a:t>使用者經驗標準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endParaRPr lang="zh-TW" altLang="en-US" sz="2000" dirty="0" smtClean="0">
              <a:cs typeface="Times New Roman" pitchFamily="18" charset="0"/>
            </a:endParaRP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000" dirty="0" smtClean="0"/>
              <a:t>3.</a:t>
            </a:r>
            <a:r>
              <a:rPr lang="en-US" altLang="zh-TW" sz="2000" dirty="0" smtClean="0">
                <a:solidFill>
                  <a:srgbClr val="008080"/>
                </a:solidFill>
              </a:rPr>
              <a:t> Iteration</a:t>
            </a:r>
            <a:r>
              <a:rPr lang="en-US" altLang="zh-TW" sz="2000" dirty="0" smtClean="0"/>
              <a:t> through the four activities is inevitable. </a:t>
            </a:r>
            <a:r>
              <a:rPr lang="zh-TW" altLang="en-US" sz="2000" dirty="0" smtClean="0"/>
              <a:t>重複</a:t>
            </a:r>
            <a:r>
              <a:rPr lang="en-US" altLang="zh-TW" sz="2000" dirty="0" smtClean="0"/>
              <a:t>process of ID </a:t>
            </a:r>
            <a:r>
              <a:rPr lang="zh-TW" altLang="en-US" sz="2000" dirty="0" smtClean="0"/>
              <a:t>四步驟</a:t>
            </a:r>
          </a:p>
          <a:p>
            <a:pPr marL="609600" indent="-609600" eaLnBrk="1" hangingPunct="1">
              <a:lnSpc>
                <a:spcPct val="80000"/>
              </a:lnSpc>
            </a:pPr>
            <a:endParaRPr lang="en-US" altLang="zh-TW" sz="2000" dirty="0" smtClean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8E221B-39D4-47E4-B64D-9C39A64FB4EB}" type="slidenum">
              <a:rPr lang="en-US" altLang="zh-TW" smtClean="0"/>
              <a:pPr>
                <a:defRPr/>
              </a:pPr>
              <a:t>18</a:t>
            </a:fld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0375" y="-70197"/>
            <a:ext cx="8183563" cy="1050925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altLang="zh-TW" sz="3200" b="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1.6 Interaction design and the user experience</a:t>
            </a:r>
            <a:endParaRPr lang="zh-TW" altLang="en-US" sz="3200" b="0" dirty="0" smtClean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1204" name="內容版面配置區 2"/>
          <p:cNvSpPr>
            <a:spLocks noGrp="1"/>
          </p:cNvSpPr>
          <p:nvPr>
            <p:ph idx="1"/>
          </p:nvPr>
        </p:nvSpPr>
        <p:spPr>
          <a:xfrm>
            <a:off x="395536" y="1257399"/>
            <a:ext cx="8072438" cy="4187825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zh-TW" altLang="en-US" dirty="0" smtClean="0"/>
              <a:t>為清楚訂定產品設計目標</a:t>
            </a:r>
            <a:r>
              <a:rPr lang="en-US" altLang="zh-TW" dirty="0" smtClean="0"/>
              <a:t>(</a:t>
            </a:r>
            <a:r>
              <a:rPr lang="zh-TW" altLang="en-US" dirty="0" smtClean="0"/>
              <a:t>增強效率</a:t>
            </a:r>
            <a:r>
              <a:rPr lang="en-US" altLang="zh-TW" dirty="0" smtClean="0"/>
              <a:t>OR </a:t>
            </a:r>
            <a:r>
              <a:rPr lang="zh-TW" altLang="en-US" dirty="0" smtClean="0"/>
              <a:t>帶來愉悅 </a:t>
            </a:r>
            <a:r>
              <a:rPr lang="en-US" altLang="zh-TW" dirty="0" smtClean="0"/>
              <a:t>)</a:t>
            </a:r>
            <a:r>
              <a:rPr lang="zh-TW" altLang="en-US" dirty="0" smtClean="0"/>
              <a:t>，可將之分為</a:t>
            </a:r>
            <a:r>
              <a:rPr lang="en-US" altLang="zh-TW" dirty="0" smtClean="0"/>
              <a:t>usability goal and user experience. </a:t>
            </a:r>
          </a:p>
          <a:p>
            <a:pPr>
              <a:defRPr/>
            </a:pPr>
            <a:endParaRPr lang="en-US" altLang="zh-TW" dirty="0" smtClean="0">
              <a:latin typeface="新細明體" pitchFamily="18" charset="-120"/>
            </a:endParaRPr>
          </a:p>
          <a:p>
            <a:pPr>
              <a:defRPr/>
            </a:pPr>
            <a:r>
              <a:rPr lang="zh-TW" altLang="en-US" b="1" dirty="0" smtClean="0">
                <a:latin typeface="新細明體" pitchFamily="18" charset="-120"/>
              </a:rPr>
              <a:t>互動式設計目標可稱之為</a:t>
            </a:r>
            <a:r>
              <a:rPr lang="en-US" altLang="zh-TW" b="1" dirty="0" smtClean="0"/>
              <a:t>: </a:t>
            </a:r>
          </a:p>
          <a:p>
            <a:pPr>
              <a:defRPr/>
            </a:pPr>
            <a:endParaRPr lang="en-US" altLang="zh-TW" sz="800" b="1" dirty="0" smtClean="0"/>
          </a:p>
          <a:p>
            <a:pPr>
              <a:buFont typeface="Wingdings 2" pitchFamily="18" charset="2"/>
              <a:buNone/>
              <a:defRPr/>
            </a:pPr>
            <a:r>
              <a:rPr lang="en-US" altLang="zh-TW" dirty="0" smtClean="0">
                <a:solidFill>
                  <a:srgbClr val="C00000"/>
                </a:solidFill>
              </a:rPr>
              <a:t>1.</a:t>
            </a:r>
            <a:r>
              <a:rPr lang="zh-TW" altLang="en-US" dirty="0" smtClean="0">
                <a:solidFill>
                  <a:srgbClr val="C00000"/>
                </a:solidFill>
              </a:rPr>
              <a:t> </a:t>
            </a:r>
            <a:r>
              <a:rPr lang="en-US" altLang="zh-TW" dirty="0" smtClean="0">
                <a:solidFill>
                  <a:srgbClr val="C00000"/>
                </a:solidFill>
              </a:rPr>
              <a:t>Usability goal –</a:t>
            </a:r>
          </a:p>
          <a:p>
            <a:pPr marL="503238" lvl="2" indent="-265113">
              <a:buSzPct val="80000"/>
              <a:buFont typeface="Wingdings 2" pitchFamily="18" charset="2"/>
              <a:buChar char=""/>
              <a:defRPr/>
            </a:pPr>
            <a:r>
              <a:rPr lang="en-US" altLang="zh-TW" dirty="0" smtClean="0"/>
              <a:t>Concerned with meeting specific usability criteria (e.g. efficiency)</a:t>
            </a:r>
            <a:endParaRPr lang="zh-TW" altLang="en-US" dirty="0" smtClean="0"/>
          </a:p>
          <a:p>
            <a:pPr>
              <a:defRPr/>
            </a:pPr>
            <a:endParaRPr lang="en-US" altLang="zh-TW" sz="800" dirty="0" smtClean="0"/>
          </a:p>
          <a:p>
            <a:pPr>
              <a:buFont typeface="Wingdings 2" pitchFamily="18" charset="2"/>
              <a:buNone/>
              <a:defRPr/>
            </a:pPr>
            <a:r>
              <a:rPr lang="en-US" altLang="zh-TW" dirty="0" smtClean="0">
                <a:solidFill>
                  <a:srgbClr val="C00000"/>
                </a:solidFill>
              </a:rPr>
              <a:t>2.</a:t>
            </a:r>
            <a:r>
              <a:rPr lang="zh-TW" altLang="en-US" dirty="0" smtClean="0">
                <a:solidFill>
                  <a:srgbClr val="C00000"/>
                </a:solidFill>
              </a:rPr>
              <a:t> </a:t>
            </a:r>
            <a:r>
              <a:rPr lang="en-US" altLang="zh-TW" dirty="0" smtClean="0">
                <a:solidFill>
                  <a:srgbClr val="C00000"/>
                </a:solidFill>
              </a:rPr>
              <a:t>User experience goal –</a:t>
            </a:r>
          </a:p>
          <a:p>
            <a:pPr lvl="1">
              <a:defRPr/>
            </a:pPr>
            <a:r>
              <a:rPr lang="en-US" altLang="zh-TW" dirty="0" smtClean="0"/>
              <a:t>Concerned with explicating the nature of the user experience (aesthetically pleasing)</a:t>
            </a:r>
          </a:p>
          <a:p>
            <a:pPr lvl="1">
              <a:defRPr/>
            </a:pPr>
            <a:endParaRPr lang="en-US" altLang="zh-TW" dirty="0" smtClean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8E221B-39D4-47E4-B64D-9C39A64FB4EB}" type="slidenum">
              <a:rPr lang="en-US" altLang="zh-TW" smtClean="0"/>
              <a:pPr>
                <a:defRPr/>
              </a:pPr>
              <a:t>19</a:t>
            </a:fld>
            <a:endParaRPr lang="en-US" alt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-100013"/>
            <a:ext cx="7772400" cy="1143001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altLang="zh-TW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1.6.1 Usability goals </a:t>
            </a:r>
          </a:p>
        </p:txBody>
      </p:sp>
      <p:sp>
        <p:nvSpPr>
          <p:cNvPr id="2457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838200" y="1268413"/>
            <a:ext cx="7837488" cy="47815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TW" altLang="en-US" sz="2200" smtClean="0">
                <a:solidFill>
                  <a:srgbClr val="CB0756"/>
                </a:solidFill>
                <a:latin typeface="Times New Roman" pitchFamily="18" charset="0"/>
              </a:rPr>
              <a:t>使用性有以下目標</a:t>
            </a:r>
            <a:r>
              <a:rPr lang="en-US" altLang="zh-TW" sz="2200" smtClean="0"/>
              <a:t> (</a:t>
            </a:r>
            <a:r>
              <a:rPr lang="zh-TW" altLang="en-US" sz="2200" smtClean="0"/>
              <a:t>以問題型式呈現</a:t>
            </a:r>
            <a:r>
              <a:rPr lang="en-US" altLang="zh-TW" sz="2200" smtClean="0"/>
              <a:t>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sz="220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200" smtClean="0"/>
              <a:t>1.</a:t>
            </a:r>
            <a:r>
              <a:rPr lang="en-US" altLang="zh-TW" sz="22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200" smtClean="0">
                <a:solidFill>
                  <a:srgbClr val="CB0756"/>
                </a:solidFill>
              </a:rPr>
              <a:t>Effective</a:t>
            </a:r>
            <a:r>
              <a:rPr lang="en-US" altLang="zh-TW" sz="2200" smtClean="0"/>
              <a:t> to use (effectiveness)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TW" altLang="en-US" sz="2200" smtClean="0">
                <a:latin typeface="Times New Roman" pitchFamily="18" charset="0"/>
              </a:rPr>
              <a:t>是否能有效完成應做的事 </a:t>
            </a:r>
            <a:r>
              <a:rPr lang="en-US" altLang="zh-TW" sz="2200" smtClean="0"/>
              <a:t>how good a system is at doing what it is supposed to do (</a:t>
            </a:r>
            <a:r>
              <a:rPr lang="zh-TW" altLang="en-US" sz="2200" smtClean="0"/>
              <a:t>選課</a:t>
            </a:r>
            <a:r>
              <a:rPr lang="en-US" altLang="zh-TW" sz="2200" smtClean="0"/>
              <a:t>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200" smtClean="0">
                <a:solidFill>
                  <a:srgbClr val="008080"/>
                </a:solidFill>
              </a:rPr>
              <a:t>	</a:t>
            </a:r>
            <a:r>
              <a:rPr lang="zh-TW" altLang="en-US" sz="2200" smtClean="0">
                <a:solidFill>
                  <a:srgbClr val="008080"/>
                </a:solidFill>
              </a:rPr>
              <a:t>要問的 </a:t>
            </a:r>
            <a:r>
              <a:rPr lang="en-US" altLang="zh-TW" sz="2200" smtClean="0">
                <a:solidFill>
                  <a:srgbClr val="008080"/>
                </a:solidFill>
              </a:rPr>
              <a:t>Q: </a:t>
            </a:r>
            <a:r>
              <a:rPr lang="zh-TW" altLang="en-US" sz="2200" smtClean="0">
                <a:solidFill>
                  <a:srgbClr val="008080"/>
                </a:solidFill>
                <a:latin typeface="Times New Roman" pitchFamily="18" charset="0"/>
              </a:rPr>
              <a:t>系統是否能讓使用者去執行他們要做的事情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sz="2200" smtClean="0">
              <a:solidFill>
                <a:srgbClr val="008080"/>
              </a:solidFill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TW" altLang="en-US" sz="2200" smtClean="0">
              <a:solidFill>
                <a:srgbClr val="008080"/>
              </a:solidFill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200" smtClean="0"/>
              <a:t>2.</a:t>
            </a:r>
            <a:r>
              <a:rPr lang="en-US" altLang="zh-TW" sz="220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altLang="zh-TW" sz="2200" smtClean="0">
                <a:solidFill>
                  <a:srgbClr val="CB0756"/>
                </a:solidFill>
              </a:rPr>
              <a:t>Efficient</a:t>
            </a:r>
            <a:r>
              <a:rPr lang="en-US" altLang="zh-TW" sz="2200" smtClean="0"/>
              <a:t> to use (efficiency)</a:t>
            </a:r>
            <a:r>
              <a:rPr lang="zh-TW" altLang="en-US" sz="2200" smtClean="0"/>
              <a:t> </a:t>
            </a:r>
            <a:endParaRPr lang="en-US" altLang="zh-TW" sz="220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TW" altLang="en-US" sz="2200" smtClean="0">
                <a:latin typeface="Times New Roman" pitchFamily="18" charset="0"/>
              </a:rPr>
              <a:t>系統支援使用者執行工作的方法是否有效率</a:t>
            </a:r>
            <a:r>
              <a:rPr lang="zh-TW" altLang="en-US" sz="2200" smtClean="0"/>
              <a:t> </a:t>
            </a:r>
            <a:r>
              <a:rPr lang="en-US" altLang="zh-TW" sz="2200" smtClean="0"/>
              <a:t>(e.g. </a:t>
            </a:r>
            <a:r>
              <a:rPr lang="zh-TW" altLang="en-US" sz="2200" smtClean="0"/>
              <a:t>減少操作步驟</a:t>
            </a:r>
            <a:r>
              <a:rPr lang="en-US" altLang="zh-TW" sz="2200" smtClean="0"/>
              <a:t>) the way a system supports users in carrying out their tasks. (</a:t>
            </a:r>
            <a:r>
              <a:rPr lang="zh-TW" altLang="en-US" sz="2200" smtClean="0"/>
              <a:t>選影片</a:t>
            </a:r>
            <a:r>
              <a:rPr lang="en-US" altLang="zh-TW" sz="2200" smtClean="0"/>
              <a:t>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200" smtClean="0">
                <a:solidFill>
                  <a:srgbClr val="008080"/>
                </a:solidFill>
              </a:rPr>
              <a:t>	</a:t>
            </a:r>
            <a:r>
              <a:rPr lang="zh-TW" altLang="en-US" sz="2200" smtClean="0">
                <a:solidFill>
                  <a:srgbClr val="008080"/>
                </a:solidFill>
              </a:rPr>
              <a:t>要問的 </a:t>
            </a:r>
            <a:r>
              <a:rPr lang="en-US" altLang="zh-TW" sz="2200" smtClean="0">
                <a:solidFill>
                  <a:srgbClr val="008080"/>
                </a:solidFill>
              </a:rPr>
              <a:t>Q: </a:t>
            </a:r>
            <a:r>
              <a:rPr lang="zh-TW" altLang="en-US" sz="2200" smtClean="0">
                <a:solidFill>
                  <a:srgbClr val="008080"/>
                </a:solidFill>
                <a:latin typeface="Times New Roman" pitchFamily="18" charset="0"/>
              </a:rPr>
              <a:t>一但使用者學會操作系統</a:t>
            </a:r>
            <a:r>
              <a:rPr lang="ja-JP" altLang="en-US" sz="2200" smtClean="0">
                <a:solidFill>
                  <a:srgbClr val="008080"/>
                </a:solidFill>
                <a:latin typeface="MS Gothic" pitchFamily="49" charset="-128"/>
              </a:rPr>
              <a:t>，</a:t>
            </a:r>
            <a:r>
              <a:rPr lang="zh-TW" altLang="en-US" sz="2200" smtClean="0">
                <a:solidFill>
                  <a:srgbClr val="008080"/>
                </a:solidFill>
                <a:latin typeface="Times New Roman" pitchFamily="18" charset="0"/>
              </a:rPr>
              <a:t>是否能達到高產出率</a:t>
            </a:r>
            <a:r>
              <a:rPr lang="en-US" altLang="zh-TW" sz="2200" smtClean="0">
                <a:solidFill>
                  <a:srgbClr val="008080"/>
                </a:solidFill>
                <a:latin typeface="Times New Roman" pitchFamily="18" charset="0"/>
              </a:rPr>
              <a:t>(</a:t>
            </a:r>
            <a:r>
              <a:rPr lang="zh-TW" altLang="en-US" sz="2200" smtClean="0">
                <a:solidFill>
                  <a:srgbClr val="008080"/>
                </a:solidFill>
                <a:latin typeface="Times New Roman" pitchFamily="18" charset="0"/>
              </a:rPr>
              <a:t>效率</a:t>
            </a:r>
            <a:r>
              <a:rPr lang="en-US" altLang="zh-TW" sz="2200" smtClean="0">
                <a:solidFill>
                  <a:srgbClr val="008080"/>
                </a:solidFill>
                <a:latin typeface="Times New Roman" pitchFamily="18" charset="0"/>
              </a:rPr>
              <a:t>)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8E221B-39D4-47E4-B64D-9C39A64FB4EB}" type="slidenum">
              <a:rPr lang="en-US" altLang="zh-TW" smtClean="0"/>
              <a:pPr>
                <a:defRPr/>
              </a:pPr>
              <a:t>20</a:t>
            </a:fld>
            <a:endParaRPr lang="en-US" altLang="zh-TW"/>
          </a:p>
        </p:txBody>
      </p:sp>
      <p:sp>
        <p:nvSpPr>
          <p:cNvPr id="7" name="頁尾版面配置區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5" descr="http://3.bp.blogspot.com/_FFglI1QNcfg/Shg5Pgviy0I/AAAAAAAAAIU/GN5_4VjhXPo/s400/Locked+Exit+Door+1(small)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4750" y="0"/>
            <a:ext cx="1439863" cy="144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13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612775" y="765175"/>
            <a:ext cx="8062913" cy="5976938"/>
          </a:xfrm>
        </p:spPr>
        <p:txBody>
          <a:bodyPr>
            <a:normAutofit/>
          </a:bodyPr>
          <a:lstStyle/>
          <a:p>
            <a:pPr marL="533400" indent="-533400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TW" dirty="0" smtClean="0"/>
              <a:t>3. </a:t>
            </a:r>
            <a:r>
              <a:rPr lang="en-US" altLang="zh-TW" dirty="0" smtClean="0">
                <a:solidFill>
                  <a:srgbClr val="CB0756"/>
                </a:solidFill>
              </a:rPr>
              <a:t>Safe</a:t>
            </a:r>
            <a:r>
              <a:rPr lang="en-US" altLang="zh-TW" dirty="0" smtClean="0"/>
              <a:t> to use (safety)</a:t>
            </a:r>
          </a:p>
          <a:p>
            <a:pPr marL="533400" indent="-533400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endParaRPr lang="en-US" altLang="zh-TW" dirty="0" smtClean="0"/>
          </a:p>
          <a:p>
            <a:pPr marL="533400" indent="-533400" eaLnBrk="1" hangingPunct="1">
              <a:lnSpc>
                <a:spcPct val="110000"/>
              </a:lnSpc>
              <a:defRPr/>
            </a:pPr>
            <a:r>
              <a:rPr lang="zh-TW" altLang="en-US" sz="2200" dirty="0" smtClean="0">
                <a:latin typeface="Times New Roman" pitchFamily="18" charset="0"/>
              </a:rPr>
              <a:t>考慮外在環境</a:t>
            </a:r>
            <a:r>
              <a:rPr lang="en-US" altLang="zh-TW" sz="2200" dirty="0" smtClean="0">
                <a:latin typeface="Times New Roman" pitchFamily="18" charset="0"/>
              </a:rPr>
              <a:t>, </a:t>
            </a:r>
            <a:r>
              <a:rPr lang="zh-TW" altLang="en-US" sz="2200" dirty="0" smtClean="0">
                <a:latin typeface="Times New Roman" pitchFamily="18" charset="0"/>
              </a:rPr>
              <a:t>保護使用者使免於危險 </a:t>
            </a:r>
            <a:r>
              <a:rPr lang="en-US" altLang="zh-TW" sz="2200" dirty="0" smtClean="0">
                <a:latin typeface="Times New Roman" pitchFamily="18" charset="0"/>
              </a:rPr>
              <a:t>protecting the user from dangerous condition. </a:t>
            </a:r>
            <a:r>
              <a:rPr lang="en-US" altLang="zh-TW" sz="2200" dirty="0" smtClean="0"/>
              <a:t> e.g. </a:t>
            </a:r>
            <a:r>
              <a:rPr lang="zh-TW" altLang="en-US" sz="2200" dirty="0" smtClean="0">
                <a:latin typeface="Times New Roman" pitchFamily="18" charset="0"/>
              </a:rPr>
              <a:t>拆爆裂物小組，</a:t>
            </a:r>
            <a:r>
              <a:rPr lang="en-US" altLang="zh-TW" sz="2200" dirty="0" smtClean="0"/>
              <a:t>X</a:t>
            </a:r>
            <a:r>
              <a:rPr lang="zh-TW" altLang="en-US" sz="2200" dirty="0" smtClean="0">
                <a:latin typeface="Times New Roman" pitchFamily="18" charset="0"/>
              </a:rPr>
              <a:t>光操作員</a:t>
            </a:r>
            <a:r>
              <a:rPr lang="zh-TW" altLang="en-US" sz="2200" dirty="0" smtClean="0"/>
              <a:t>，化學藥廠工作 </a:t>
            </a:r>
            <a:r>
              <a:rPr lang="en-US" altLang="zh-TW" sz="2200" dirty="0" smtClean="0">
                <a:latin typeface="Times New Roman" pitchFamily="18" charset="0"/>
              </a:rPr>
              <a:t>–</a:t>
            </a:r>
            <a:r>
              <a:rPr lang="zh-TW" altLang="en-US" sz="2200" dirty="0" smtClean="0"/>
              <a:t>可從遠端操作</a:t>
            </a:r>
            <a:endParaRPr lang="en-US" altLang="zh-TW" sz="2200" dirty="0" smtClean="0"/>
          </a:p>
          <a:p>
            <a:pPr marL="533400" indent="-533400" eaLnBrk="1" hangingPunct="1">
              <a:lnSpc>
                <a:spcPct val="110000"/>
              </a:lnSpc>
              <a:defRPr/>
            </a:pPr>
            <a:r>
              <a:rPr lang="zh-TW" altLang="en-US" sz="2200" dirty="0" smtClean="0">
                <a:latin typeface="Times New Roman" pitchFamily="18" charset="0"/>
              </a:rPr>
              <a:t>防止嚴重錯誤</a:t>
            </a:r>
            <a:endParaRPr lang="en-US" altLang="zh-TW" sz="2200" dirty="0" smtClean="0"/>
          </a:p>
          <a:p>
            <a:pPr marL="533400" indent="-533400" eaLnBrk="1" hangingPunct="1">
              <a:lnSpc>
                <a:spcPct val="110000"/>
              </a:lnSpc>
              <a:defRPr/>
            </a:pPr>
            <a:r>
              <a:rPr lang="zh-TW" altLang="en-US" sz="2200" dirty="0" smtClean="0">
                <a:latin typeface="Times New Roman" pitchFamily="18" charset="0"/>
              </a:rPr>
              <a:t>回復</a:t>
            </a:r>
            <a:r>
              <a:rPr lang="zh-TW" altLang="en-US" sz="2200" dirty="0" smtClean="0"/>
              <a:t> </a:t>
            </a:r>
            <a:r>
              <a:rPr lang="en-US" altLang="zh-TW" sz="2200" dirty="0" smtClean="0"/>
              <a:t>(undo, </a:t>
            </a:r>
            <a:r>
              <a:rPr lang="en-US" altLang="zh-TW" sz="2200" dirty="0" err="1" smtClean="0"/>
              <a:t>photoshop</a:t>
            </a:r>
            <a:r>
              <a:rPr lang="en-US" altLang="zh-TW" sz="2200" dirty="0" smtClean="0"/>
              <a:t> history)</a:t>
            </a:r>
          </a:p>
          <a:p>
            <a:pPr marL="533400" indent="-533400" eaLnBrk="1" hangingPunct="1">
              <a:lnSpc>
                <a:spcPct val="110000"/>
              </a:lnSpc>
              <a:buFontTx/>
              <a:buChar char="-"/>
              <a:defRPr/>
            </a:pPr>
            <a:endParaRPr lang="en-US" altLang="zh-TW" sz="2200" dirty="0" smtClean="0"/>
          </a:p>
          <a:p>
            <a:pPr marL="533400" indent="-533400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zh-TW" altLang="en-US" sz="2200" dirty="0" smtClean="0">
                <a:solidFill>
                  <a:srgbClr val="008080"/>
                </a:solidFill>
              </a:rPr>
              <a:t>要問的</a:t>
            </a:r>
            <a:r>
              <a:rPr lang="en-US" altLang="zh-TW" sz="2200" dirty="0" smtClean="0">
                <a:solidFill>
                  <a:srgbClr val="008080"/>
                </a:solidFill>
              </a:rPr>
              <a:t>Q: </a:t>
            </a:r>
            <a:r>
              <a:rPr lang="zh-TW" altLang="en-US" sz="2200" dirty="0" smtClean="0">
                <a:solidFill>
                  <a:srgbClr val="008080"/>
                </a:solidFill>
                <a:latin typeface="Times New Roman" pitchFamily="18" charset="0"/>
              </a:rPr>
              <a:t>系統防止使用者發生嚴重錯誤，錯誤一但發生能夠回復嗎</a:t>
            </a:r>
            <a:r>
              <a:rPr lang="en-US" altLang="zh-TW" sz="2200" dirty="0" smtClean="0">
                <a:solidFill>
                  <a:srgbClr val="008080"/>
                </a:solidFill>
                <a:latin typeface="Times New Roman" pitchFamily="18" charset="0"/>
              </a:rPr>
              <a:t>?</a:t>
            </a:r>
          </a:p>
          <a:p>
            <a:pPr marL="533400" indent="-533400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endParaRPr lang="en-US" altLang="zh-TW" sz="2200" dirty="0" smtClean="0">
              <a:solidFill>
                <a:srgbClr val="008080"/>
              </a:solidFill>
              <a:latin typeface="Times New Roman" pitchFamily="18" charset="0"/>
            </a:endParaRPr>
          </a:p>
          <a:p>
            <a:pPr marL="533400" indent="-533400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endParaRPr lang="en-US" altLang="zh-TW" sz="800" dirty="0" smtClean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8E221B-39D4-47E4-B64D-9C39A64FB4EB}" type="slidenum">
              <a:rPr lang="en-US" altLang="zh-TW" smtClean="0"/>
              <a:pPr>
                <a:defRPr/>
              </a:pPr>
              <a:t>21</a:t>
            </a:fld>
            <a:endParaRPr lang="en-US" altLang="zh-TW"/>
          </a:p>
        </p:txBody>
      </p:sp>
      <p:sp>
        <p:nvSpPr>
          <p:cNvPr id="7" name="頁尾版面配置區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/>
          <p:cNvSpPr>
            <a:spLocks noGrp="1"/>
          </p:cNvSpPr>
          <p:nvPr>
            <p:ph type="body" idx="1"/>
          </p:nvPr>
        </p:nvSpPr>
        <p:spPr>
          <a:xfrm>
            <a:off x="647700" y="681038"/>
            <a:ext cx="7596188" cy="48355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mtClean="0"/>
              <a:t>4. Have good </a:t>
            </a:r>
            <a:r>
              <a:rPr lang="en-US" altLang="zh-TW" smtClean="0">
                <a:solidFill>
                  <a:srgbClr val="CB0756"/>
                </a:solidFill>
              </a:rPr>
              <a:t>utility</a:t>
            </a:r>
            <a:r>
              <a:rPr lang="en-US" altLang="zh-TW" smtClean="0"/>
              <a:t> (utility</a:t>
            </a:r>
            <a:r>
              <a:rPr lang="zh-TW" altLang="en-US" smtClean="0"/>
              <a:t>實用</a:t>
            </a:r>
            <a:r>
              <a:rPr lang="en-US" altLang="zh-TW" smtClean="0"/>
              <a:t>):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TW" smtClean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mtClean="0"/>
              <a:t>	The extent to which the systems provides the right kind of </a:t>
            </a:r>
            <a:r>
              <a:rPr lang="en-US" altLang="zh-TW" smtClean="0">
                <a:solidFill>
                  <a:srgbClr val="CB0756"/>
                </a:solidFill>
              </a:rPr>
              <a:t>functionality</a:t>
            </a:r>
            <a:r>
              <a:rPr lang="en-US" altLang="zh-TW" smtClean="0"/>
              <a:t> so that users can do what they need or want to do. </a:t>
            </a:r>
            <a:r>
              <a:rPr lang="zh-TW" altLang="en-US" sz="2200" smtClean="0">
                <a:latin typeface="Times New Roman" pitchFamily="18" charset="0"/>
              </a:rPr>
              <a:t>能提供使用者所需的適當功能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zh-TW" altLang="en-US" sz="2000" smtClean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000" smtClean="0"/>
              <a:t>e.g. </a:t>
            </a:r>
            <a:r>
              <a:rPr lang="zh-TW" altLang="en-US" sz="2000" smtClean="0">
                <a:latin typeface="新細明體" pitchFamily="18" charset="-120"/>
              </a:rPr>
              <a:t>繪圖軟體</a:t>
            </a:r>
            <a:r>
              <a:rPr lang="en-US" altLang="zh-TW" sz="2000" smtClean="0">
                <a:latin typeface="新細明體" pitchFamily="18" charset="-120"/>
              </a:rPr>
              <a:t>--</a:t>
            </a:r>
            <a:r>
              <a:rPr lang="zh-TW" altLang="en-US" sz="2000" smtClean="0">
                <a:latin typeface="新細明體" pitchFamily="18" charset="-120"/>
              </a:rPr>
              <a:t>不同繪圖方式</a:t>
            </a:r>
            <a:r>
              <a:rPr lang="en-US" altLang="zh-TW" sz="2000" smtClean="0">
                <a:latin typeface="新細明體" pitchFamily="18" charset="-120"/>
              </a:rPr>
              <a:t>, </a:t>
            </a:r>
            <a:r>
              <a:rPr lang="en-US" altLang="zh-TW" sz="2000" smtClean="0">
                <a:latin typeface="Times New Roman" pitchFamily="18" charset="0"/>
              </a:rPr>
              <a:t>freehand OR use polygon shapes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TW" altLang="en-US" sz="2000" smtClean="0">
                <a:latin typeface="Times New Roman" pitchFamily="18" charset="0"/>
              </a:rPr>
              <a:t>         運動手錶 </a:t>
            </a:r>
            <a:r>
              <a:rPr lang="en-US" altLang="zh-TW" sz="2000" smtClean="0">
                <a:latin typeface="Times New Roman" pitchFamily="18" charset="0"/>
              </a:rPr>
              <a:t>(</a:t>
            </a:r>
            <a:r>
              <a:rPr lang="zh-TW" altLang="en-US" sz="2000" smtClean="0">
                <a:latin typeface="Times New Roman" pitchFamily="18" charset="0"/>
              </a:rPr>
              <a:t>高度</a:t>
            </a:r>
            <a:r>
              <a:rPr lang="zh-TW" altLang="zh-TW" sz="2000" smtClean="0"/>
              <a:t>、</a:t>
            </a:r>
            <a:r>
              <a:rPr lang="zh-TW" altLang="en-US" sz="2000" smtClean="0">
                <a:latin typeface="Times New Roman" pitchFamily="18" charset="0"/>
              </a:rPr>
              <a:t>體溫</a:t>
            </a:r>
            <a:r>
              <a:rPr lang="zh-TW" altLang="zh-TW" sz="2000" smtClean="0"/>
              <a:t>、</a:t>
            </a:r>
            <a:r>
              <a:rPr lang="zh-TW" altLang="en-US" sz="2000" smtClean="0"/>
              <a:t>氣溫、防水、羅盤</a:t>
            </a:r>
            <a:r>
              <a:rPr lang="en-US" altLang="zh-TW" sz="2000" smtClean="0">
                <a:latin typeface="Times New Roman" pitchFamily="18" charset="0"/>
              </a:rPr>
              <a:t>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TW" sz="20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TW" altLang="en-US" sz="2200" smtClean="0">
                <a:solidFill>
                  <a:srgbClr val="008080"/>
                </a:solidFill>
              </a:rPr>
              <a:t>要問的 </a:t>
            </a:r>
            <a:r>
              <a:rPr lang="en-US" altLang="zh-TW" sz="2200" smtClean="0">
                <a:solidFill>
                  <a:srgbClr val="008080"/>
                </a:solidFill>
              </a:rPr>
              <a:t>Q: </a:t>
            </a:r>
            <a:r>
              <a:rPr lang="zh-TW" altLang="en-US" sz="2200" smtClean="0">
                <a:solidFill>
                  <a:srgbClr val="008080"/>
                </a:solidFill>
                <a:latin typeface="Times New Roman" pitchFamily="18" charset="0"/>
              </a:rPr>
              <a:t>系統能否提供適當功能讓使用者以適合方式執行工作</a:t>
            </a:r>
            <a:r>
              <a:rPr lang="en-US" altLang="zh-TW" sz="2200" smtClean="0">
                <a:solidFill>
                  <a:srgbClr val="008080"/>
                </a:solidFill>
                <a:latin typeface="Times New Roman" pitchFamily="18" charset="0"/>
              </a:rPr>
              <a:t>?</a:t>
            </a:r>
          </a:p>
          <a:p>
            <a:endParaRPr lang="zh-TW" altLang="en-US" sz="280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8E221B-39D4-47E4-B64D-9C39A64FB4EB}" type="slidenum">
              <a:rPr lang="en-US" altLang="zh-TW" smtClean="0"/>
              <a:pPr>
                <a:defRPr/>
              </a:pPr>
              <a:t>22</a:t>
            </a:fld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357188" y="620713"/>
            <a:ext cx="8318500" cy="5903912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 smtClean="0">
                <a:latin typeface="Times New Roman" pitchFamily="18" charset="0"/>
              </a:rPr>
              <a:t>5. Easy to </a:t>
            </a:r>
            <a:r>
              <a:rPr lang="en-US" altLang="zh-TW" dirty="0" smtClean="0">
                <a:solidFill>
                  <a:srgbClr val="CB0756"/>
                </a:solidFill>
                <a:latin typeface="Times New Roman" pitchFamily="18" charset="0"/>
              </a:rPr>
              <a:t>learn</a:t>
            </a:r>
            <a:r>
              <a:rPr lang="en-US" altLang="zh-TW" dirty="0" smtClean="0">
                <a:latin typeface="Times New Roman" pitchFamily="18" charset="0"/>
              </a:rPr>
              <a:t> (</a:t>
            </a:r>
            <a:r>
              <a:rPr lang="en-US" altLang="zh-TW" dirty="0" err="1" smtClean="0">
                <a:latin typeface="Times New Roman" pitchFamily="18" charset="0"/>
              </a:rPr>
              <a:t>learnability</a:t>
            </a:r>
            <a:r>
              <a:rPr lang="en-US" altLang="zh-TW" dirty="0" smtClean="0">
                <a:latin typeface="Times New Roman" pitchFamily="18" charset="0"/>
              </a:rPr>
              <a:t>):  </a:t>
            </a: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 smtClean="0">
                <a:latin typeface="Times New Roman" pitchFamily="18" charset="0"/>
              </a:rPr>
              <a:t>	How easy a system is to learn to use</a:t>
            </a: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dirty="0" smtClean="0">
              <a:latin typeface="Times New Roman" pitchFamily="18" charset="0"/>
            </a:endParaRP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Char char="l"/>
            </a:pPr>
            <a:r>
              <a:rPr lang="zh-TW" altLang="en-US" dirty="0" smtClean="0">
                <a:latin typeface="Times New Roman" pitchFamily="18" charset="0"/>
              </a:rPr>
              <a:t>使用者不喜歡花時間學習，而希望能立即上手使用</a:t>
            </a: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dirty="0" smtClean="0">
              <a:latin typeface="Times New Roman" pitchFamily="18" charset="0"/>
            </a:endParaRP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Char char="l"/>
            </a:pPr>
            <a:r>
              <a:rPr lang="zh-TW" altLang="en-US" dirty="0" smtClean="0">
                <a:latin typeface="Times New Roman" pitchFamily="18" charset="0"/>
              </a:rPr>
              <a:t>如果使用者不喜歡花長時間學習一個系統</a:t>
            </a:r>
            <a:r>
              <a:rPr lang="en-US" altLang="zh-TW" dirty="0" smtClean="0">
                <a:latin typeface="Times New Roman" pitchFamily="18" charset="0"/>
              </a:rPr>
              <a:t>, </a:t>
            </a:r>
            <a:r>
              <a:rPr lang="zh-TW" altLang="en-US" dirty="0" smtClean="0">
                <a:latin typeface="Times New Roman" pitchFamily="18" charset="0"/>
              </a:rPr>
              <a:t>沒必要提供過多的功能</a:t>
            </a:r>
            <a:endParaRPr lang="en-US" altLang="zh-TW" dirty="0" smtClean="0">
              <a:latin typeface="Times New Roman" pitchFamily="18" charset="0"/>
            </a:endParaRP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Char char="l"/>
            </a:pPr>
            <a:r>
              <a:rPr lang="zh-TW" altLang="en-US" dirty="0" smtClean="0">
                <a:latin typeface="Times New Roman" pitchFamily="18" charset="0"/>
              </a:rPr>
              <a:t>在某些情況中 </a:t>
            </a:r>
            <a:r>
              <a:rPr lang="en-US" altLang="zh-TW" dirty="0" smtClean="0">
                <a:latin typeface="Times New Roman" pitchFamily="18" charset="0"/>
              </a:rPr>
              <a:t>people are prepared to spend </a:t>
            </a:r>
            <a:r>
              <a:rPr lang="en-US" altLang="zh-TW" b="1" dirty="0" smtClean="0">
                <a:solidFill>
                  <a:srgbClr val="008080"/>
                </a:solidFill>
                <a:latin typeface="Times New Roman" pitchFamily="18" charset="0"/>
              </a:rPr>
              <a:t>longer learning </a:t>
            </a:r>
            <a:r>
              <a:rPr lang="en-US" altLang="zh-TW" dirty="0" smtClean="0">
                <a:latin typeface="Times New Roman" pitchFamily="18" charset="0"/>
              </a:rPr>
              <a:t>more complex systems that provide a </a:t>
            </a:r>
            <a:r>
              <a:rPr lang="en-US" altLang="zh-TW" b="1" dirty="0" smtClean="0">
                <a:solidFill>
                  <a:srgbClr val="008080"/>
                </a:solidFill>
                <a:latin typeface="Times New Roman" pitchFamily="18" charset="0"/>
              </a:rPr>
              <a:t>wider range of functionality.</a:t>
            </a:r>
            <a:r>
              <a:rPr lang="en-US" altLang="zh-TW" dirty="0" smtClean="0">
                <a:latin typeface="Times New Roman" pitchFamily="18" charset="0"/>
              </a:rPr>
              <a:t> --- step-by-step tutorial with hands-on exercises. </a:t>
            </a:r>
          </a:p>
          <a:p>
            <a:pPr marL="533400" indent="-533400" eaLnBrk="1" hangingPunct="1">
              <a:lnSpc>
                <a:spcPct val="90000"/>
              </a:lnSpc>
              <a:buFontTx/>
              <a:buChar char="-"/>
            </a:pPr>
            <a:endParaRPr lang="en-US" altLang="zh-TW" dirty="0" smtClean="0">
              <a:latin typeface="Times New Roman" pitchFamily="18" charset="0"/>
            </a:endParaRPr>
          </a:p>
          <a:p>
            <a:pPr marL="533400" indent="-533400" eaLnBrk="1" hangingPunct="1">
              <a:lnSpc>
                <a:spcPct val="90000"/>
              </a:lnSpc>
              <a:buFontTx/>
              <a:buNone/>
            </a:pPr>
            <a:r>
              <a:rPr lang="zh-TW" altLang="en-US" dirty="0" smtClean="0">
                <a:solidFill>
                  <a:srgbClr val="008080"/>
                </a:solidFill>
              </a:rPr>
              <a:t>要問的 </a:t>
            </a:r>
            <a:r>
              <a:rPr lang="en-US" altLang="zh-TW" dirty="0" smtClean="0">
                <a:solidFill>
                  <a:srgbClr val="008080"/>
                </a:solidFill>
              </a:rPr>
              <a:t>Q: </a:t>
            </a:r>
            <a:r>
              <a:rPr lang="zh-TW" altLang="en-US" dirty="0" smtClean="0">
                <a:solidFill>
                  <a:srgbClr val="008080"/>
                </a:solidFill>
              </a:rPr>
              <a:t>學習使用一個系統 </a:t>
            </a:r>
            <a:r>
              <a:rPr lang="en-US" altLang="zh-TW" dirty="0" smtClean="0">
                <a:solidFill>
                  <a:srgbClr val="008080"/>
                </a:solidFill>
              </a:rPr>
              <a:t>(to perform core tasks / wider set of tasks) </a:t>
            </a:r>
            <a:r>
              <a:rPr lang="zh-TW" altLang="en-US" dirty="0" smtClean="0">
                <a:solidFill>
                  <a:srgbClr val="008080"/>
                </a:solidFill>
              </a:rPr>
              <a:t>需要花多少時間，多容易學習</a:t>
            </a:r>
            <a:r>
              <a:rPr lang="en-US" altLang="zh-TW" dirty="0" smtClean="0">
                <a:solidFill>
                  <a:srgbClr val="008080"/>
                </a:solidFill>
              </a:rPr>
              <a:t>?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8E221B-39D4-47E4-B64D-9C39A64FB4EB}" type="slidenum">
              <a:rPr lang="en-US" altLang="zh-TW" smtClean="0"/>
              <a:pPr>
                <a:defRPr/>
              </a:pPr>
              <a:t>23</a:t>
            </a:fld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900113" y="908050"/>
            <a:ext cx="7775575" cy="50419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TW" dirty="0" smtClean="0">
                <a:latin typeface="Times New Roman" pitchFamily="18" charset="0"/>
              </a:rPr>
              <a:t>6. Easy to </a:t>
            </a:r>
            <a:r>
              <a:rPr lang="en-US" altLang="zh-TW" dirty="0" smtClean="0">
                <a:solidFill>
                  <a:srgbClr val="CB0756"/>
                </a:solidFill>
                <a:latin typeface="Times New Roman" pitchFamily="18" charset="0"/>
              </a:rPr>
              <a:t>remember</a:t>
            </a:r>
            <a:r>
              <a:rPr lang="en-US" altLang="zh-TW" dirty="0" smtClean="0">
                <a:latin typeface="Times New Roman" pitchFamily="18" charset="0"/>
              </a:rPr>
              <a:t> how to use (</a:t>
            </a:r>
            <a:r>
              <a:rPr lang="en-US" altLang="zh-TW" dirty="0" err="1" smtClean="0">
                <a:latin typeface="Times New Roman" pitchFamily="18" charset="0"/>
              </a:rPr>
              <a:t>memorability</a:t>
            </a:r>
            <a:r>
              <a:rPr lang="en-US" altLang="zh-TW" dirty="0" smtClean="0">
                <a:latin typeface="Times New Roman" pitchFamily="18" charset="0"/>
              </a:rPr>
              <a:t>) </a:t>
            </a:r>
          </a:p>
          <a:p>
            <a:pPr eaLnBrk="1" hangingPunct="1">
              <a:buFontTx/>
              <a:buNone/>
            </a:pPr>
            <a:r>
              <a:rPr lang="en-US" altLang="zh-TW" dirty="0" smtClean="0">
                <a:latin typeface="Times New Roman" pitchFamily="18" charset="0"/>
              </a:rPr>
              <a:t>How easy a system is to remember how to use, once learned. </a:t>
            </a:r>
            <a:r>
              <a:rPr lang="zh-TW" altLang="en-US" dirty="0" smtClean="0">
                <a:latin typeface="Times New Roman" pitchFamily="18" charset="0"/>
              </a:rPr>
              <a:t>一旦學會了，能夠記得其操作方法，針對不常用的系統，能在短時間內回憶起如何操作 </a:t>
            </a:r>
            <a:r>
              <a:rPr lang="en-US" altLang="zh-TW" dirty="0" smtClean="0">
                <a:solidFill>
                  <a:srgbClr val="008080"/>
                </a:solidFill>
                <a:latin typeface="Times New Roman" pitchFamily="18" charset="0"/>
              </a:rPr>
              <a:t>(</a:t>
            </a:r>
            <a:r>
              <a:rPr lang="zh-TW" altLang="en-US" dirty="0" smtClean="0">
                <a:solidFill>
                  <a:srgbClr val="008080"/>
                </a:solidFill>
                <a:latin typeface="Times New Roman" pitchFamily="18" charset="0"/>
              </a:rPr>
              <a:t>銀行帳戶系統</a:t>
            </a:r>
            <a:r>
              <a:rPr lang="en-US" altLang="zh-TW" dirty="0" smtClean="0">
                <a:solidFill>
                  <a:srgbClr val="008080"/>
                </a:solidFill>
                <a:latin typeface="Times New Roman" pitchFamily="18" charset="0"/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dirty="0" smtClean="0"/>
          </a:p>
          <a:p>
            <a:pPr eaLnBrk="1" hangingPunct="1">
              <a:buFont typeface="Wingdings" pitchFamily="2" charset="2"/>
              <a:buNone/>
            </a:pPr>
            <a:endParaRPr lang="zh-TW" altLang="en-US" dirty="0" smtClean="0">
              <a:solidFill>
                <a:srgbClr val="008080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TW" dirty="0" smtClean="0">
                <a:solidFill>
                  <a:srgbClr val="008080"/>
                </a:solidFill>
              </a:rPr>
              <a:t>Q: </a:t>
            </a:r>
            <a:r>
              <a:rPr lang="zh-TW" altLang="en-US" dirty="0" smtClean="0">
                <a:solidFill>
                  <a:srgbClr val="008080"/>
                </a:solidFill>
                <a:latin typeface="Times New Roman" pitchFamily="18" charset="0"/>
              </a:rPr>
              <a:t>提供哪些支援來協助使用者去記住如何執行不常使用的工作  </a:t>
            </a:r>
            <a:r>
              <a:rPr lang="en-US" altLang="zh-TW" b="1" dirty="0" smtClean="0">
                <a:solidFill>
                  <a:srgbClr val="008080"/>
                </a:solidFill>
                <a:latin typeface="Times New Roman" pitchFamily="18" charset="0"/>
              </a:rPr>
              <a:t>(</a:t>
            </a:r>
            <a:r>
              <a:rPr lang="zh-TW" altLang="en-US" b="1" dirty="0" smtClean="0">
                <a:solidFill>
                  <a:srgbClr val="008080"/>
                </a:solidFill>
                <a:latin typeface="Times New Roman" pitchFamily="18" charset="0"/>
              </a:rPr>
              <a:t>以前</a:t>
            </a:r>
            <a:r>
              <a:rPr lang="en-US" altLang="zh-TW" b="1" dirty="0" smtClean="0">
                <a:solidFill>
                  <a:srgbClr val="008080"/>
                </a:solidFill>
                <a:latin typeface="Times New Roman" pitchFamily="18" charset="0"/>
              </a:rPr>
              <a:t>WORD</a:t>
            </a:r>
            <a:r>
              <a:rPr lang="zh-TW" altLang="en-US" b="1" dirty="0" smtClean="0">
                <a:solidFill>
                  <a:srgbClr val="008080"/>
                </a:solidFill>
                <a:latin typeface="Times New Roman" pitchFamily="18" charset="0"/>
              </a:rPr>
              <a:t>的履歷表及信件撰寫功能</a:t>
            </a:r>
            <a:r>
              <a:rPr lang="en-US" altLang="zh-TW" b="1" dirty="0" smtClean="0">
                <a:solidFill>
                  <a:srgbClr val="008080"/>
                </a:solidFill>
                <a:latin typeface="Times New Roman" pitchFamily="18" charset="0"/>
              </a:rPr>
              <a:t>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8E221B-39D4-47E4-B64D-9C39A64FB4EB}" type="slidenum">
              <a:rPr lang="en-US" altLang="zh-TW" smtClean="0"/>
              <a:pPr>
                <a:defRPr/>
              </a:pPr>
              <a:t>24</a:t>
            </a:fld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460375" y="234950"/>
            <a:ext cx="8183563" cy="1050925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altLang="zh-TW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Usability criteria</a:t>
            </a:r>
            <a:r>
              <a:rPr lang="zh-TW" altLang="en-US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zh-TW" altLang="en-US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使用性</a:t>
            </a:r>
            <a:endParaRPr lang="en-US" altLang="zh-TW" dirty="0" smtClean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6041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460375" y="1500188"/>
            <a:ext cx="8183563" cy="4187825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altLang="zh-TW" sz="2800" dirty="0" smtClean="0"/>
              <a:t>-</a:t>
            </a:r>
            <a:r>
              <a:rPr lang="zh-TW" altLang="en-US" sz="2800" dirty="0" smtClean="0">
                <a:latin typeface="Times New Roman" pitchFamily="18" charset="0"/>
              </a:rPr>
              <a:t>使用性目標可轉為</a:t>
            </a:r>
            <a:r>
              <a:rPr lang="zh-TW" altLang="en-US" sz="2800" dirty="0" smtClean="0">
                <a:solidFill>
                  <a:srgbClr val="CB0756"/>
                </a:solidFill>
                <a:latin typeface="Times New Roman" pitchFamily="18" charset="0"/>
              </a:rPr>
              <a:t>使用性準則</a:t>
            </a:r>
            <a:r>
              <a:rPr lang="en-US" altLang="zh-TW" sz="2800" dirty="0" smtClean="0">
                <a:solidFill>
                  <a:srgbClr val="CB0756"/>
                </a:solidFill>
                <a:latin typeface="Times New Roman" pitchFamily="18" charset="0"/>
              </a:rPr>
              <a:t>(usability criteria)</a:t>
            </a:r>
            <a:r>
              <a:rPr lang="en-US" altLang="zh-TW" sz="2800" dirty="0" smtClean="0"/>
              <a:t> 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altLang="zh-TW" sz="2800" dirty="0" smtClean="0"/>
          </a:p>
          <a:p>
            <a:pPr eaLnBrk="1" hangingPunct="1">
              <a:buFontTx/>
              <a:buChar char="-"/>
              <a:defRPr/>
            </a:pPr>
            <a:r>
              <a:rPr lang="en-US" altLang="zh-TW" sz="2800" dirty="0" smtClean="0"/>
              <a:t>Specific objectives that enable the</a:t>
            </a:r>
            <a:r>
              <a:rPr lang="en-US" altLang="zh-TW" sz="2800" dirty="0" smtClean="0">
                <a:solidFill>
                  <a:srgbClr val="CB0756"/>
                </a:solidFill>
              </a:rPr>
              <a:t> usability of a product to be assessed</a:t>
            </a:r>
            <a:r>
              <a:rPr lang="en-US" altLang="zh-TW" sz="2800" dirty="0" smtClean="0"/>
              <a:t> in terms of how it can improve a user</a:t>
            </a:r>
            <a:r>
              <a:rPr lang="en-US" altLang="zh-TW" sz="2800" dirty="0" smtClean="0">
                <a:latin typeface="Times New Roman" pitchFamily="18" charset="0"/>
              </a:rPr>
              <a:t>’</a:t>
            </a:r>
            <a:r>
              <a:rPr lang="en-US" altLang="zh-TW" sz="2800" dirty="0" smtClean="0"/>
              <a:t>s performance. </a:t>
            </a:r>
          </a:p>
          <a:p>
            <a:pPr eaLnBrk="1" hangingPunct="1">
              <a:buFontTx/>
              <a:buChar char="-"/>
              <a:defRPr/>
            </a:pPr>
            <a:endParaRPr lang="en-US" altLang="zh-TW" sz="2800" dirty="0" smtClean="0"/>
          </a:p>
          <a:p>
            <a:pPr eaLnBrk="1" hangingPunct="1">
              <a:buFontTx/>
              <a:buChar char="-"/>
              <a:defRPr/>
            </a:pPr>
            <a:r>
              <a:rPr lang="en-US" altLang="zh-TW" sz="2800" dirty="0" smtClean="0">
                <a:solidFill>
                  <a:srgbClr val="0070C0"/>
                </a:solidFill>
              </a:rPr>
              <a:t>Example</a:t>
            </a:r>
          </a:p>
          <a:p>
            <a:pPr lvl="1" eaLnBrk="1" hangingPunct="1">
              <a:buFontTx/>
              <a:buChar char="-"/>
              <a:defRPr/>
            </a:pPr>
            <a:r>
              <a:rPr lang="en-US" altLang="zh-TW" dirty="0" smtClean="0">
                <a:solidFill>
                  <a:srgbClr val="0070C0"/>
                </a:solidFill>
              </a:rPr>
              <a:t>time to complete a task (efficiency)</a:t>
            </a:r>
          </a:p>
          <a:p>
            <a:pPr lvl="1" eaLnBrk="1" hangingPunct="1">
              <a:buFontTx/>
              <a:buChar char="-"/>
              <a:defRPr/>
            </a:pPr>
            <a:r>
              <a:rPr lang="en-US" altLang="zh-TW" dirty="0" smtClean="0">
                <a:solidFill>
                  <a:srgbClr val="0070C0"/>
                </a:solidFill>
              </a:rPr>
              <a:t>time to learn a task (</a:t>
            </a:r>
            <a:r>
              <a:rPr lang="en-US" altLang="zh-TW" dirty="0" err="1" smtClean="0">
                <a:solidFill>
                  <a:srgbClr val="0070C0"/>
                </a:solidFill>
              </a:rPr>
              <a:t>learnability</a:t>
            </a:r>
            <a:r>
              <a:rPr lang="en-US" altLang="zh-TW" dirty="0" smtClean="0">
                <a:solidFill>
                  <a:srgbClr val="0070C0"/>
                </a:solidFill>
              </a:rPr>
              <a:t>)</a:t>
            </a:r>
          </a:p>
          <a:p>
            <a:pPr lvl="1" eaLnBrk="1" hangingPunct="1">
              <a:buFontTx/>
              <a:buChar char="-"/>
              <a:defRPr/>
            </a:pPr>
            <a:r>
              <a:rPr lang="en-US" altLang="zh-TW" dirty="0" smtClean="0">
                <a:solidFill>
                  <a:srgbClr val="0070C0"/>
                </a:solidFill>
              </a:rPr>
              <a:t>number of error made when carrying out a given task over time (</a:t>
            </a:r>
            <a:r>
              <a:rPr lang="en-US" altLang="zh-TW" dirty="0" err="1" smtClean="0">
                <a:solidFill>
                  <a:srgbClr val="0070C0"/>
                </a:solidFill>
              </a:rPr>
              <a:t>memorability</a:t>
            </a:r>
            <a:r>
              <a:rPr lang="en-US" altLang="zh-TW" dirty="0" smtClean="0">
                <a:solidFill>
                  <a:srgbClr val="0070C0"/>
                </a:solidFill>
              </a:rPr>
              <a:t>)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altLang="zh-TW" sz="2800" dirty="0" smtClean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8E221B-39D4-47E4-B64D-9C39A64FB4EB}" type="slidenum">
              <a:rPr lang="en-US" altLang="zh-TW" smtClean="0"/>
              <a:pPr>
                <a:defRPr/>
              </a:pPr>
              <a:t>25</a:t>
            </a:fld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-28575"/>
            <a:ext cx="77724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accent1">
                    <a:tint val="88000"/>
                    <a:satMod val="150000"/>
                  </a:schemeClr>
                </a:solidFill>
              </a:rPr>
              <a:t>1.6.2 User experience goals </a:t>
            </a:r>
          </a:p>
        </p:txBody>
      </p:sp>
      <p:sp>
        <p:nvSpPr>
          <p:cNvPr id="634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838200" y="1268413"/>
            <a:ext cx="7478713" cy="18415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TW" altLang="en-US" sz="2800" smtClean="0">
                <a:latin typeface="Times New Roman" pitchFamily="18" charset="0"/>
              </a:rPr>
              <a:t>與</a:t>
            </a:r>
            <a:r>
              <a:rPr lang="zh-TW" altLang="en-US" sz="2800" smtClean="0">
                <a:solidFill>
                  <a:srgbClr val="CB0756"/>
                </a:solidFill>
                <a:latin typeface="Times New Roman" pitchFamily="18" charset="0"/>
              </a:rPr>
              <a:t>使用者經驗相關</a:t>
            </a:r>
            <a:r>
              <a:rPr lang="zh-TW" altLang="en-US" sz="2800" smtClean="0">
                <a:solidFill>
                  <a:srgbClr val="CB0756"/>
                </a:solidFill>
              </a:rPr>
              <a:t> </a:t>
            </a:r>
            <a:r>
              <a:rPr lang="en-US" altLang="zh-TW" sz="2800" smtClean="0">
                <a:solidFill>
                  <a:srgbClr val="CB0756"/>
                </a:solidFill>
              </a:rPr>
              <a:t>(</a:t>
            </a:r>
            <a:r>
              <a:rPr lang="zh-TW" altLang="en-US" sz="2800" smtClean="0">
                <a:solidFill>
                  <a:srgbClr val="CB0756"/>
                </a:solidFill>
                <a:latin typeface="Times New Roman" pitchFamily="18" charset="0"/>
              </a:rPr>
              <a:t>主觀感受</a:t>
            </a:r>
            <a:r>
              <a:rPr lang="en-US" altLang="zh-TW" sz="2800" smtClean="0">
                <a:solidFill>
                  <a:srgbClr val="CB0756"/>
                </a:solidFill>
              </a:rPr>
              <a:t>)</a:t>
            </a:r>
            <a:r>
              <a:rPr lang="en-US" altLang="zh-TW" sz="2800" smtClean="0"/>
              <a:t> = what the </a:t>
            </a:r>
            <a:r>
              <a:rPr lang="en-US" altLang="zh-TW" sz="2800" smtClean="0">
                <a:solidFill>
                  <a:srgbClr val="CB0756"/>
                </a:solidFill>
              </a:rPr>
              <a:t>interaction with the system feels like</a:t>
            </a:r>
            <a:r>
              <a:rPr lang="en-US" altLang="zh-TW" sz="2800" smtClean="0"/>
              <a:t> to the users</a:t>
            </a:r>
            <a:r>
              <a:rPr lang="zh-TW" altLang="en-US" sz="2800" smtClean="0"/>
              <a:t>，</a:t>
            </a:r>
            <a:r>
              <a:rPr lang="zh-TW" altLang="en-US" sz="2800" b="1" smtClean="0">
                <a:latin typeface="Times New Roman" pitchFamily="18" charset="0"/>
              </a:rPr>
              <a:t>主觀經驗包括</a:t>
            </a:r>
            <a:r>
              <a:rPr lang="zh-TW" altLang="en-US" sz="2800" b="1" smtClean="0"/>
              <a:t>哪些</a:t>
            </a:r>
            <a:r>
              <a:rPr lang="en-US" altLang="zh-TW" sz="2800" b="1" smtClean="0"/>
              <a:t>?</a:t>
            </a:r>
            <a:endParaRPr lang="en-US" altLang="zh-TW" sz="2800" smtClean="0"/>
          </a:p>
        </p:txBody>
      </p:sp>
      <p:sp>
        <p:nvSpPr>
          <p:cNvPr id="28678" name="Text Box 6"/>
          <p:cNvSpPr txBox="1">
            <a:spLocks noChangeArrowheads="1"/>
          </p:cNvSpPr>
          <p:nvPr/>
        </p:nvSpPr>
        <p:spPr bwMode="auto">
          <a:xfrm>
            <a:off x="5099050" y="3444875"/>
            <a:ext cx="2786063" cy="177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zh-TW" sz="2400"/>
              <a:t>Boring 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zh-TW" sz="2400"/>
              <a:t>Frustrating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zh-TW" sz="2400"/>
              <a:t>Annoying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endParaRPr lang="en-US" altLang="zh-TW" sz="2400"/>
          </a:p>
        </p:txBody>
      </p:sp>
      <p:sp>
        <p:nvSpPr>
          <p:cNvPr id="28679" name="Text Box 7"/>
          <p:cNvSpPr txBox="1">
            <a:spLocks noChangeArrowheads="1"/>
          </p:cNvSpPr>
          <p:nvPr/>
        </p:nvSpPr>
        <p:spPr bwMode="auto">
          <a:xfrm>
            <a:off x="1025525" y="3373438"/>
            <a:ext cx="3314700" cy="267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400"/>
              <a:t>Satisfying               </a:t>
            </a:r>
          </a:p>
          <a:p>
            <a:r>
              <a:rPr lang="en-US" altLang="zh-TW" sz="2400"/>
              <a:t>Enjoyable</a:t>
            </a:r>
          </a:p>
          <a:p>
            <a:r>
              <a:rPr lang="en-US" altLang="zh-TW" sz="2400"/>
              <a:t>Engaging</a:t>
            </a:r>
          </a:p>
          <a:p>
            <a:r>
              <a:rPr lang="en-US" altLang="zh-TW" sz="2400"/>
              <a:t>Exciting</a:t>
            </a:r>
          </a:p>
          <a:p>
            <a:r>
              <a:rPr lang="en-US" altLang="zh-TW" sz="2400"/>
              <a:t>Aesthetically pleasing</a:t>
            </a:r>
          </a:p>
          <a:p>
            <a:r>
              <a:rPr lang="en-US" altLang="zh-TW" sz="2400"/>
              <a:t>Supportive of creativity</a:t>
            </a:r>
          </a:p>
          <a:p>
            <a:endParaRPr lang="en-US" altLang="zh-TW" sz="2400"/>
          </a:p>
        </p:txBody>
      </p:sp>
      <p:sp>
        <p:nvSpPr>
          <p:cNvPr id="63494" name="AutoShape 11" descr="9k="/>
          <p:cNvSpPr>
            <a:spLocks noChangeAspect="1" noChangeArrowheads="1"/>
          </p:cNvSpPr>
          <p:nvPr/>
        </p:nvSpPr>
        <p:spPr bwMode="auto">
          <a:xfrm>
            <a:off x="3810000" y="2954338"/>
            <a:ext cx="15240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495" name="AutoShape 13" descr="9k="/>
          <p:cNvSpPr>
            <a:spLocks noChangeAspect="1" noChangeArrowheads="1"/>
          </p:cNvSpPr>
          <p:nvPr/>
        </p:nvSpPr>
        <p:spPr bwMode="auto">
          <a:xfrm>
            <a:off x="3810000" y="2954338"/>
            <a:ext cx="15240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496" name="AutoShape 15" descr="9k="/>
          <p:cNvSpPr>
            <a:spLocks noChangeAspect="1" noChangeArrowheads="1"/>
          </p:cNvSpPr>
          <p:nvPr/>
        </p:nvSpPr>
        <p:spPr bwMode="auto">
          <a:xfrm>
            <a:off x="3810000" y="2954338"/>
            <a:ext cx="15240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497" name="AutoShape 17" descr="9k="/>
          <p:cNvSpPr>
            <a:spLocks noChangeAspect="1" noChangeArrowheads="1"/>
          </p:cNvSpPr>
          <p:nvPr/>
        </p:nvSpPr>
        <p:spPr bwMode="auto">
          <a:xfrm>
            <a:off x="3810000" y="2420938"/>
            <a:ext cx="15240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投影片編號版面配置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8E221B-39D4-47E4-B64D-9C39A64FB4EB}" type="slidenum">
              <a:rPr lang="en-US" altLang="zh-TW" smtClean="0"/>
              <a:pPr>
                <a:defRPr/>
              </a:pPr>
              <a:t>26</a:t>
            </a:fld>
            <a:endParaRPr lang="en-US" altLang="zh-TW"/>
          </a:p>
        </p:txBody>
      </p:sp>
      <p:sp>
        <p:nvSpPr>
          <p:cNvPr id="12" name="頁尾版面配置區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8" grpId="0"/>
      <p:bldP spid="2867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395288" y="692150"/>
            <a:ext cx="8137525" cy="5327650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</a:pPr>
            <a:r>
              <a:rPr lang="zh-TW" altLang="en-US" sz="2200" dirty="0" smtClean="0"/>
              <a:t>讓</a:t>
            </a:r>
            <a:r>
              <a:rPr lang="en-US" altLang="zh-TW" sz="2200" dirty="0" smtClean="0"/>
              <a:t>USER</a:t>
            </a:r>
            <a:r>
              <a:rPr lang="zh-TW" altLang="en-US" sz="2200" dirty="0" smtClean="0"/>
              <a:t>體驗</a:t>
            </a:r>
            <a:r>
              <a:rPr lang="en-US" altLang="zh-TW" sz="2200" dirty="0" smtClean="0"/>
              <a:t>pleasurable, fun, exciting ..</a:t>
            </a:r>
            <a:r>
              <a:rPr lang="zh-TW" altLang="en-US" sz="2200" dirty="0" smtClean="0"/>
              <a:t>的要素</a:t>
            </a:r>
            <a:r>
              <a:rPr lang="en-US" altLang="zh-TW" sz="2200" dirty="0" smtClean="0"/>
              <a:t>:</a:t>
            </a:r>
          </a:p>
          <a:p>
            <a:pPr eaLnBrk="1" hangingPunct="1">
              <a:lnSpc>
                <a:spcPct val="110000"/>
              </a:lnSpc>
            </a:pPr>
            <a:endParaRPr lang="en-US" altLang="zh-TW" sz="2200" dirty="0" smtClean="0"/>
          </a:p>
          <a:p>
            <a:pPr lvl="1" eaLnBrk="1" hangingPunct="1">
              <a:lnSpc>
                <a:spcPct val="110000"/>
              </a:lnSpc>
            </a:pPr>
            <a:r>
              <a:rPr lang="en-US" altLang="zh-TW" sz="2200" dirty="0" smtClean="0"/>
              <a:t>Attention, pace, play, interactivity, conscious and </a:t>
            </a:r>
            <a:r>
              <a:rPr lang="en-US" altLang="zh-TW" sz="2200" dirty="0" err="1" smtClean="0"/>
              <a:t>unconsicous</a:t>
            </a:r>
            <a:r>
              <a:rPr lang="en-US" altLang="zh-TW" sz="2200" dirty="0" smtClean="0"/>
              <a:t> control, flow (</a:t>
            </a:r>
            <a:r>
              <a:rPr lang="zh-TW" altLang="en-US" sz="2200" dirty="0" smtClean="0"/>
              <a:t>心流</a:t>
            </a:r>
            <a:r>
              <a:rPr lang="en-US" altLang="zh-TW" sz="2200" dirty="0" smtClean="0"/>
              <a:t>).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200" dirty="0" smtClean="0"/>
              <a:t>Flow</a:t>
            </a:r>
            <a:r>
              <a:rPr lang="zh-TW" altLang="en-US" sz="2200" dirty="0" smtClean="0"/>
              <a:t> </a:t>
            </a:r>
            <a:r>
              <a:rPr lang="en-US" altLang="zh-TW" sz="2200" dirty="0" smtClean="0"/>
              <a:t>–</a:t>
            </a:r>
            <a:r>
              <a:rPr lang="zh-TW" altLang="en-US" sz="2200" dirty="0" smtClean="0"/>
              <a:t> 完全沉浸於活動中的情緒投入狀態 </a:t>
            </a:r>
            <a:r>
              <a:rPr lang="en-US" altLang="zh-TW" sz="2200" dirty="0" smtClean="0">
                <a:solidFill>
                  <a:srgbClr val="008080"/>
                </a:solidFill>
              </a:rPr>
              <a:t>(e.g. </a:t>
            </a:r>
            <a:r>
              <a:rPr lang="zh-TW" altLang="en-US" sz="2200" dirty="0" smtClean="0">
                <a:solidFill>
                  <a:srgbClr val="008080"/>
                </a:solidFill>
              </a:rPr>
              <a:t>讀金庸小說</a:t>
            </a:r>
            <a:r>
              <a:rPr lang="en-US" altLang="zh-TW" sz="2200" dirty="0" smtClean="0">
                <a:solidFill>
                  <a:srgbClr val="008080"/>
                </a:solidFill>
              </a:rPr>
              <a:t>)</a:t>
            </a:r>
            <a:endParaRPr lang="en-US" altLang="zh-TW" sz="2200" dirty="0" smtClean="0"/>
          </a:p>
          <a:p>
            <a:pPr eaLnBrk="1" hangingPunct="1">
              <a:lnSpc>
                <a:spcPct val="110000"/>
              </a:lnSpc>
            </a:pPr>
            <a:r>
              <a:rPr lang="zh-TW" altLang="en-US" sz="2200" dirty="0" smtClean="0"/>
              <a:t>過去</a:t>
            </a:r>
            <a:r>
              <a:rPr lang="en-US" altLang="zh-TW" sz="2200" dirty="0" smtClean="0"/>
              <a:t>HCI</a:t>
            </a:r>
            <a:r>
              <a:rPr lang="zh-TW" altLang="en-US" sz="2200" dirty="0" smtClean="0"/>
              <a:t>只重視使用性，輕忽</a:t>
            </a:r>
            <a:r>
              <a:rPr lang="en-US" altLang="zh-TW" sz="2200" dirty="0" smtClean="0"/>
              <a:t>user experience</a:t>
            </a:r>
            <a:r>
              <a:rPr lang="zh-TW" altLang="en-US" sz="2200" dirty="0" smtClean="0"/>
              <a:t>。近幾年開始注意後者 </a:t>
            </a:r>
            <a:r>
              <a:rPr lang="en-US" altLang="zh-TW" sz="2200" dirty="0" smtClean="0"/>
              <a:t>(Norman</a:t>
            </a:r>
            <a:r>
              <a:rPr lang="zh-TW" altLang="en-US" sz="2200" dirty="0" smtClean="0"/>
              <a:t>， </a:t>
            </a:r>
            <a:r>
              <a:rPr lang="en-US" altLang="zh-TW" sz="2200" dirty="0" smtClean="0"/>
              <a:t>ATM</a:t>
            </a:r>
            <a:r>
              <a:rPr lang="zh-TW" altLang="en-US" sz="2200" dirty="0" smtClean="0"/>
              <a:t>美感研究</a:t>
            </a:r>
            <a:r>
              <a:rPr lang="en-US" altLang="zh-TW" sz="2200" dirty="0" smtClean="0"/>
              <a:t>)</a:t>
            </a:r>
          </a:p>
          <a:p>
            <a:pPr eaLnBrk="1" hangingPunct="1">
              <a:lnSpc>
                <a:spcPct val="110000"/>
              </a:lnSpc>
            </a:pPr>
            <a:r>
              <a:rPr lang="zh-TW" altLang="en-US" sz="2200" dirty="0" smtClean="0">
                <a:solidFill>
                  <a:srgbClr val="CB0756"/>
                </a:solidFill>
              </a:rPr>
              <a:t>兩者有時無法並存 </a:t>
            </a:r>
            <a:r>
              <a:rPr lang="en-US" altLang="zh-TW" sz="2200" dirty="0" smtClean="0">
                <a:solidFill>
                  <a:srgbClr val="CB0756"/>
                </a:solidFill>
              </a:rPr>
              <a:t>(safe, fun)</a:t>
            </a:r>
            <a:endParaRPr lang="zh-TW" altLang="en-US" sz="2200" dirty="0" smtClean="0">
              <a:solidFill>
                <a:srgbClr val="CB0756"/>
              </a:solidFill>
            </a:endParaRP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endParaRPr lang="en-US" altLang="zh-TW" sz="2200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8E221B-39D4-47E4-B64D-9C39A64FB4EB}" type="slidenum">
              <a:rPr lang="en-US" altLang="zh-TW" smtClean="0"/>
              <a:pPr>
                <a:defRPr/>
              </a:pPr>
              <a:t>27</a:t>
            </a:fld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61938"/>
            <a:ext cx="77724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sz="3200" dirty="0" smtClean="0">
                <a:solidFill>
                  <a:schemeClr val="accent1">
                    <a:tint val="88000"/>
                    <a:satMod val="150000"/>
                  </a:schemeClr>
                </a:solidFill>
              </a:rPr>
              <a:t>1.6.3  design principles </a:t>
            </a:r>
            <a:br>
              <a:rPr lang="en-US" altLang="zh-TW" sz="3200" dirty="0" smtClean="0">
                <a:solidFill>
                  <a:schemeClr val="accent1">
                    <a:tint val="88000"/>
                    <a:satMod val="150000"/>
                  </a:schemeClr>
                </a:solidFill>
              </a:rPr>
            </a:br>
            <a:endParaRPr lang="en-US" altLang="zh-TW" sz="3200" dirty="0" smtClean="0">
              <a:solidFill>
                <a:schemeClr val="accent1">
                  <a:tint val="88000"/>
                  <a:satMod val="150000"/>
                </a:schemeClr>
              </a:solidFill>
            </a:endParaRPr>
          </a:p>
        </p:txBody>
      </p:sp>
      <p:sp>
        <p:nvSpPr>
          <p:cNvPr id="6963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838200" y="1630363"/>
            <a:ext cx="7805738" cy="37988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 smtClean="0">
                <a:latin typeface="Times New Roman" pitchFamily="18" charset="0"/>
              </a:rPr>
              <a:t>l.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zh-TW" b="1" dirty="0" smtClean="0">
                <a:latin typeface="Times New Roman" pitchFamily="18" charset="0"/>
              </a:rPr>
              <a:t>isibility: </a:t>
            </a:r>
            <a:r>
              <a:rPr lang="zh-TW" altLang="en-US" b="1" dirty="0" smtClean="0">
                <a:latin typeface="Times New Roman" pitchFamily="18" charset="0"/>
              </a:rPr>
              <a:t>易視性</a:t>
            </a:r>
            <a:endParaRPr lang="zh-TW" altLang="en-US" dirty="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TW" altLang="en-US" dirty="0" smtClean="0">
                <a:latin typeface="Times New Roman" pitchFamily="18" charset="0"/>
              </a:rPr>
              <a:t>本文前面的留言機設計</a:t>
            </a:r>
            <a:r>
              <a:rPr lang="zh-TW" altLang="en-US" dirty="0" smtClean="0"/>
              <a:t>，</a:t>
            </a:r>
            <a:r>
              <a:rPr lang="en-US" altLang="zh-TW" dirty="0" smtClean="0">
                <a:latin typeface="Times New Roman" pitchFamily="18" charset="0"/>
              </a:rPr>
              <a:t>The more visible functions are, the more likely users will be able to know what to do.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2. </a:t>
            </a:r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zh-TW" b="1" dirty="0" smtClean="0">
                <a:latin typeface="Times New Roman" pitchFamily="18" charset="0"/>
              </a:rPr>
              <a:t>eedback </a:t>
            </a:r>
            <a:r>
              <a:rPr lang="zh-TW" altLang="en-US" b="1" dirty="0" smtClean="0">
                <a:latin typeface="Times New Roman" pitchFamily="18" charset="0"/>
              </a:rPr>
              <a:t>回饋</a:t>
            </a:r>
            <a:endParaRPr lang="zh-TW" altLang="en-US" dirty="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Char char="-"/>
            </a:pPr>
            <a:r>
              <a:rPr lang="en-US" altLang="zh-TW" dirty="0" smtClean="0">
                <a:latin typeface="Times New Roman" pitchFamily="18" charset="0"/>
              </a:rPr>
              <a:t>Sending back information about what action has been done and what has been accomplished. </a:t>
            </a:r>
          </a:p>
          <a:p>
            <a:pPr eaLnBrk="1" hangingPunct="1">
              <a:lnSpc>
                <a:spcPct val="90000"/>
              </a:lnSpc>
              <a:buFontTx/>
              <a:buChar char="-"/>
            </a:pPr>
            <a:r>
              <a:rPr lang="zh-TW" altLang="en-US" dirty="0" smtClean="0">
                <a:latin typeface="Times New Roman" pitchFamily="18" charset="0"/>
              </a:rPr>
              <a:t>回饋型態</a:t>
            </a:r>
            <a:r>
              <a:rPr lang="en-US" altLang="zh-TW" dirty="0" smtClean="0">
                <a:latin typeface="Times New Roman" pitchFamily="18" charset="0"/>
              </a:rPr>
              <a:t>: audio</a:t>
            </a:r>
            <a:r>
              <a:rPr lang="zh-TW" altLang="en-US" dirty="0" smtClean="0">
                <a:latin typeface="Times New Roman" pitchFamily="18" charset="0"/>
              </a:rPr>
              <a:t>，</a:t>
            </a:r>
            <a:r>
              <a:rPr lang="en-US" altLang="zh-TW" dirty="0" smtClean="0">
                <a:latin typeface="Times New Roman" pitchFamily="18" charset="0"/>
              </a:rPr>
              <a:t>tactile </a:t>
            </a:r>
            <a:r>
              <a:rPr lang="zh-TW" altLang="en-US" dirty="0" smtClean="0">
                <a:latin typeface="Times New Roman" pitchFamily="18" charset="0"/>
              </a:rPr>
              <a:t>，</a:t>
            </a:r>
            <a:r>
              <a:rPr lang="en-US" altLang="zh-TW" dirty="0" smtClean="0">
                <a:latin typeface="Times New Roman" pitchFamily="18" charset="0"/>
              </a:rPr>
              <a:t>verbal, visual, combinations of these.</a:t>
            </a:r>
          </a:p>
          <a:p>
            <a:pPr eaLnBrk="1" hangingPunct="1">
              <a:lnSpc>
                <a:spcPct val="90000"/>
              </a:lnSpc>
              <a:buFontTx/>
              <a:buChar char="-"/>
            </a:pPr>
            <a:endParaRPr lang="en-US" altLang="zh-TW" dirty="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dirty="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dirty="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dirty="0" smtClean="0">
              <a:latin typeface="Times New Roman" pitchFamily="18" charset="0"/>
            </a:endParaRPr>
          </a:p>
        </p:txBody>
      </p:sp>
      <p:sp>
        <p:nvSpPr>
          <p:cNvPr id="16" name="投影片編號版面配置區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8E221B-39D4-47E4-B64D-9C39A64FB4EB}" type="slidenum">
              <a:rPr lang="en-US" altLang="zh-TW" smtClean="0"/>
              <a:pPr>
                <a:defRPr/>
              </a:pPr>
              <a:t>28</a:t>
            </a:fld>
            <a:endParaRPr lang="en-US" altLang="zh-TW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642938" y="620713"/>
            <a:ext cx="6592887" cy="5903912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3. </a:t>
            </a:r>
            <a:r>
              <a:rPr lang="en-US" altLang="zh-TW" b="1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TW" b="1" smtClean="0">
                <a:latin typeface="Times New Roman" pitchFamily="18" charset="0"/>
              </a:rPr>
              <a:t>onstraints </a:t>
            </a:r>
            <a:r>
              <a:rPr lang="zh-TW" altLang="en-US" b="1" smtClean="0">
                <a:latin typeface="Times New Roman" pitchFamily="18" charset="0"/>
              </a:rPr>
              <a:t>限制</a:t>
            </a:r>
            <a:endParaRPr lang="zh-TW" altLang="en-US" smtClean="0">
              <a:latin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TW" altLang="en-US" smtClean="0">
                <a:latin typeface="Times New Roman" pitchFamily="18" charset="0"/>
              </a:rPr>
              <a:t>在特別處限制住某些使用者互動功能</a:t>
            </a:r>
            <a:r>
              <a:rPr lang="zh-TW" altLang="en-US" smtClean="0"/>
              <a:t>，</a:t>
            </a:r>
            <a:r>
              <a:rPr lang="zh-TW" altLang="en-US" smtClean="0">
                <a:latin typeface="Times New Roman" pitchFamily="18" charset="0"/>
              </a:rPr>
              <a:t>例如使用</a:t>
            </a:r>
            <a:r>
              <a:rPr lang="en-US" altLang="zh-TW" smtClean="0">
                <a:latin typeface="Times New Roman" pitchFamily="18" charset="0"/>
              </a:rPr>
              <a:t>grey out</a:t>
            </a:r>
            <a:r>
              <a:rPr lang="zh-TW" altLang="en-US" smtClean="0">
                <a:latin typeface="Times New Roman" pitchFamily="18" charset="0"/>
              </a:rPr>
              <a:t>代表不能選取 </a:t>
            </a:r>
            <a:r>
              <a:rPr lang="en-US" altLang="zh-TW" smtClean="0">
                <a:latin typeface="Times New Roman" pitchFamily="18" charset="0"/>
              </a:rPr>
              <a:t>(e.g. </a:t>
            </a:r>
            <a:r>
              <a:rPr lang="zh-TW" altLang="en-US" smtClean="0">
                <a:latin typeface="Times New Roman" pitchFamily="18" charset="0"/>
              </a:rPr>
              <a:t>大樓地下室樓梯設置小柵欄</a:t>
            </a:r>
            <a:r>
              <a:rPr lang="en-US" altLang="zh-TW" smtClean="0">
                <a:latin typeface="Times New Roman" pitchFamily="18" charset="0"/>
              </a:rPr>
              <a:t>-- book)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b="1" smtClean="0"/>
          </a:p>
          <a:p>
            <a:pPr eaLnBrk="1" hangingPunct="1"/>
            <a:r>
              <a:rPr lang="en-US" altLang="zh-TW" b="1" smtClean="0"/>
              <a:t> Norman (1999): </a:t>
            </a:r>
            <a:r>
              <a:rPr lang="zh-TW" altLang="en-US" b="1" smtClean="0">
                <a:latin typeface="新細明體" pitchFamily="18" charset="-120"/>
              </a:rPr>
              <a:t>三類限制</a:t>
            </a:r>
          </a:p>
          <a:p>
            <a:pPr eaLnBrk="1" hangingPunct="1">
              <a:buFont typeface="Wingdings" pitchFamily="2" charset="2"/>
              <a:buNone/>
            </a:pPr>
            <a:endParaRPr lang="zh-TW" altLang="en-US" smtClean="0"/>
          </a:p>
          <a:p>
            <a:pPr eaLnBrk="1" hangingPunct="1">
              <a:buFont typeface="Wingdings" pitchFamily="2" charset="2"/>
              <a:buNone/>
            </a:pPr>
            <a:r>
              <a:rPr lang="en-US" altLang="zh-TW" smtClean="0"/>
              <a:t>a.</a:t>
            </a: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altLang="zh-TW" smtClean="0"/>
              <a:t>Physical: </a:t>
            </a:r>
            <a:r>
              <a:rPr lang="zh-TW" altLang="en-US" smtClean="0">
                <a:latin typeface="Times New Roman" pitchFamily="18" charset="0"/>
              </a:rPr>
              <a:t>磁片插入的方式</a:t>
            </a:r>
          </a:p>
          <a:p>
            <a:pPr eaLnBrk="1" hangingPunct="1">
              <a:buFont typeface="Wingdings" pitchFamily="2" charset="2"/>
              <a:buNone/>
            </a:pPr>
            <a:endParaRPr lang="zh-TW" altLang="en-US" smtClean="0"/>
          </a:p>
          <a:p>
            <a:pPr eaLnBrk="1" hangingPunct="1">
              <a:buFont typeface="Wingdings" pitchFamily="2" charset="2"/>
              <a:buNone/>
            </a:pPr>
            <a:r>
              <a:rPr lang="en-US" altLang="zh-TW" smtClean="0"/>
              <a:t>b.</a:t>
            </a: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altLang="zh-TW" smtClean="0"/>
              <a:t>Logical: </a:t>
            </a:r>
            <a:r>
              <a:rPr lang="zh-TW" altLang="en-US" smtClean="0">
                <a:latin typeface="Times New Roman" pitchFamily="18" charset="0"/>
              </a:rPr>
              <a:t>符合人類的邏輯推理模式</a:t>
            </a:r>
            <a:r>
              <a:rPr lang="zh-TW" altLang="en-US" smtClean="0"/>
              <a:t> </a:t>
            </a:r>
            <a:r>
              <a:rPr lang="en-US" altLang="zh-TW" smtClean="0"/>
              <a:t>disable menu options when not appropriate for the task in hand (</a:t>
            </a:r>
            <a:r>
              <a:rPr lang="zh-TW" altLang="en-US" smtClean="0"/>
              <a:t>如右圖 </a:t>
            </a:r>
            <a:r>
              <a:rPr lang="en-US" altLang="zh-TW" smtClean="0"/>
              <a:t>&amp; </a:t>
            </a:r>
            <a:r>
              <a:rPr lang="zh-TW" altLang="en-US" smtClean="0"/>
              <a:t>大理石留言機</a:t>
            </a:r>
            <a:r>
              <a:rPr lang="en-US" altLang="zh-TW" smtClean="0"/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mtClean="0"/>
              <a:t>c. Cultural: </a:t>
            </a:r>
            <a:r>
              <a:rPr lang="zh-TW" altLang="en-US" smtClean="0">
                <a:latin typeface="新細明體" pitchFamily="18" charset="-120"/>
              </a:rPr>
              <a:t>約定成俗的習慣，形狀、顏色代表的意義</a:t>
            </a:r>
            <a:r>
              <a:rPr lang="zh-TW" altLang="en-US" smtClean="0"/>
              <a:t> </a:t>
            </a:r>
            <a:r>
              <a:rPr lang="en-US" altLang="zh-TW" smtClean="0"/>
              <a:t>e.g. smiling face,</a:t>
            </a:r>
            <a:r>
              <a:rPr lang="zh-TW" altLang="en-US" smtClean="0"/>
              <a:t>骷髏頭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8E221B-39D4-47E4-B64D-9C39A64FB4EB}" type="slidenum">
              <a:rPr lang="en-US" altLang="zh-TW" smtClean="0"/>
              <a:pPr>
                <a:defRPr/>
              </a:pPr>
              <a:t>29</a:t>
            </a:fld>
            <a:endParaRPr lang="en-US" altLang="zh-TW"/>
          </a:p>
        </p:txBody>
      </p:sp>
      <p:sp>
        <p:nvSpPr>
          <p:cNvPr id="7" name="頁尾版面配置區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838200" y="909638"/>
            <a:ext cx="7772400" cy="532765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2800" b="1" smtClean="0"/>
              <a:t>4. Mapping </a:t>
            </a:r>
            <a:r>
              <a:rPr lang="zh-TW" altLang="en-US" sz="2800" b="1" smtClean="0">
                <a:latin typeface="新細明體" pitchFamily="18" charset="-120"/>
              </a:rPr>
              <a:t>配對</a:t>
            </a:r>
          </a:p>
          <a:p>
            <a:pPr eaLnBrk="1" hangingPunct="1">
              <a:buFont typeface="Wingdings" pitchFamily="2" charset="2"/>
              <a:buNone/>
            </a:pPr>
            <a:endParaRPr lang="zh-TW" altLang="en-US" sz="2800" smtClean="0"/>
          </a:p>
          <a:p>
            <a:pPr eaLnBrk="1" hangingPunct="1">
              <a:buFont typeface="Wingdings" pitchFamily="2" charset="2"/>
              <a:buNone/>
            </a:pPr>
            <a:r>
              <a:rPr lang="en-US" altLang="zh-TW" sz="2800" smtClean="0"/>
              <a:t>Relationship between controls and their effects in the world.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800" smtClean="0">
                <a:latin typeface="Times New Roman" pitchFamily="18" charset="0"/>
              </a:rPr>
              <a:t> </a:t>
            </a:r>
            <a:endParaRPr lang="en-US" altLang="zh-TW" sz="2800" smtClean="0"/>
          </a:p>
          <a:p>
            <a:pPr eaLnBrk="1" hangingPunct="1">
              <a:buFont typeface="Wingdings" pitchFamily="2" charset="2"/>
              <a:buNone/>
            </a:pPr>
            <a:endParaRPr lang="en-US" altLang="zh-TW" sz="2800" smtClean="0"/>
          </a:p>
          <a:p>
            <a:pPr eaLnBrk="1" hangingPunct="1">
              <a:buFont typeface="Wingdings" pitchFamily="2" charset="2"/>
              <a:buNone/>
            </a:pPr>
            <a:endParaRPr lang="en-US" altLang="zh-TW" smtClean="0"/>
          </a:p>
          <a:p>
            <a:pPr eaLnBrk="1" hangingPunct="1">
              <a:buFont typeface="Wingdings" pitchFamily="2" charset="2"/>
              <a:buNone/>
            </a:pPr>
            <a:r>
              <a:rPr lang="en-US" altLang="zh-TW" smtClean="0"/>
              <a:t>(</a:t>
            </a:r>
            <a:r>
              <a:rPr lang="zh-TW" altLang="en-US" smtClean="0">
                <a:latin typeface="Times New Roman" pitchFamily="18" charset="0"/>
              </a:rPr>
              <a:t>操作</a:t>
            </a:r>
            <a:r>
              <a:rPr lang="zh-TW" altLang="en-US" smtClean="0"/>
              <a:t> </a:t>
            </a:r>
            <a:r>
              <a:rPr lang="en-US" altLang="zh-TW" smtClean="0"/>
              <a:t>= </a:t>
            </a:r>
            <a:r>
              <a:rPr lang="zh-TW" altLang="en-US" smtClean="0">
                <a:latin typeface="Times New Roman" pitchFamily="18" charset="0"/>
              </a:rPr>
              <a:t>結果</a:t>
            </a:r>
            <a:r>
              <a:rPr lang="en-US" altLang="zh-TW" smtClean="0"/>
              <a:t>) </a:t>
            </a:r>
            <a:r>
              <a:rPr lang="zh-TW" altLang="en-US" smtClean="0">
                <a:latin typeface="Times New Roman" pitchFamily="18" charset="0"/>
              </a:rPr>
              <a:t>的配對</a:t>
            </a:r>
            <a:endParaRPr lang="zh-TW" altLang="en-US" smtClean="0"/>
          </a:p>
          <a:p>
            <a:pPr eaLnBrk="1" hangingPunct="1">
              <a:buFont typeface="Wingdings" pitchFamily="2" charset="2"/>
              <a:buNone/>
            </a:pPr>
            <a:r>
              <a:rPr lang="zh-TW" altLang="en-US" smtClean="0">
                <a:latin typeface="Times New Roman" pitchFamily="18" charset="0"/>
                <a:sym typeface="Wingdings" pitchFamily="2" charset="2"/>
              </a:rPr>
              <a:t></a:t>
            </a:r>
            <a:r>
              <a:rPr lang="en-US" altLang="zh-TW" smtClean="0"/>
              <a:t>------    ------</a:t>
            </a:r>
            <a:r>
              <a:rPr lang="en-US" altLang="zh-TW" smtClean="0">
                <a:latin typeface="Times New Roman" pitchFamily="18" charset="0"/>
                <a:sym typeface="Wingdings" pitchFamily="2" charset="2"/>
              </a:rPr>
              <a:t></a:t>
            </a:r>
            <a:endParaRPr lang="en-US" altLang="zh-TW" smtClean="0"/>
          </a:p>
          <a:p>
            <a:pPr eaLnBrk="1" hangingPunct="1">
              <a:buFont typeface="Wingdings" pitchFamily="2" charset="2"/>
              <a:buNone/>
            </a:pPr>
            <a:endParaRPr lang="en-US" altLang="zh-TW" smtClean="0"/>
          </a:p>
        </p:txBody>
      </p:sp>
      <p:grpSp>
        <p:nvGrpSpPr>
          <p:cNvPr id="74755" name="Group 13"/>
          <p:cNvGrpSpPr>
            <a:grpSpLocks/>
          </p:cNvGrpSpPr>
          <p:nvPr/>
        </p:nvGrpSpPr>
        <p:grpSpPr bwMode="auto">
          <a:xfrm>
            <a:off x="1187450" y="2997200"/>
            <a:ext cx="1223963" cy="936625"/>
            <a:chOff x="1292" y="1888"/>
            <a:chExt cx="771" cy="590"/>
          </a:xfrm>
        </p:grpSpPr>
        <p:sp>
          <p:nvSpPr>
            <p:cNvPr id="74761" name="AutoShape 4"/>
            <p:cNvSpPr>
              <a:spLocks noChangeArrowheads="1"/>
            </p:cNvSpPr>
            <p:nvPr/>
          </p:nvSpPr>
          <p:spPr bwMode="auto">
            <a:xfrm>
              <a:off x="1837" y="2069"/>
              <a:ext cx="226" cy="227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 sz="3200"/>
            </a:p>
          </p:txBody>
        </p:sp>
        <p:sp>
          <p:nvSpPr>
            <p:cNvPr id="74762" name="AutoShape 5"/>
            <p:cNvSpPr>
              <a:spLocks noChangeArrowheads="1"/>
            </p:cNvSpPr>
            <p:nvPr/>
          </p:nvSpPr>
          <p:spPr bwMode="auto">
            <a:xfrm>
              <a:off x="1292" y="2069"/>
              <a:ext cx="227" cy="227"/>
            </a:xfrm>
            <a:prstGeom prst="left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 sz="3200"/>
            </a:p>
          </p:txBody>
        </p:sp>
        <p:sp>
          <p:nvSpPr>
            <p:cNvPr id="74763" name="AutoShape 6"/>
            <p:cNvSpPr>
              <a:spLocks noChangeArrowheads="1"/>
            </p:cNvSpPr>
            <p:nvPr/>
          </p:nvSpPr>
          <p:spPr bwMode="auto">
            <a:xfrm>
              <a:off x="1565" y="1888"/>
              <a:ext cx="227" cy="227"/>
            </a:xfrm>
            <a:prstGeom prst="up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 sz="3200"/>
            </a:p>
          </p:txBody>
        </p:sp>
        <p:sp>
          <p:nvSpPr>
            <p:cNvPr id="74764" name="AutoShape 7"/>
            <p:cNvSpPr>
              <a:spLocks noChangeArrowheads="1"/>
            </p:cNvSpPr>
            <p:nvPr/>
          </p:nvSpPr>
          <p:spPr bwMode="auto">
            <a:xfrm>
              <a:off x="1565" y="2297"/>
              <a:ext cx="227" cy="181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 sz="3200"/>
            </a:p>
          </p:txBody>
        </p:sp>
      </p:grpSp>
      <p:grpSp>
        <p:nvGrpSpPr>
          <p:cNvPr id="74756" name="Group 14"/>
          <p:cNvGrpSpPr>
            <a:grpSpLocks/>
          </p:cNvGrpSpPr>
          <p:nvPr/>
        </p:nvGrpSpPr>
        <p:grpSpPr bwMode="auto">
          <a:xfrm>
            <a:off x="4213225" y="3284538"/>
            <a:ext cx="1727200" cy="431800"/>
            <a:chOff x="1837" y="2069"/>
            <a:chExt cx="1088" cy="272"/>
          </a:xfrm>
        </p:grpSpPr>
        <p:sp>
          <p:nvSpPr>
            <p:cNvPr id="74757" name="AutoShape 9"/>
            <p:cNvSpPr>
              <a:spLocks noChangeArrowheads="1"/>
            </p:cNvSpPr>
            <p:nvPr/>
          </p:nvSpPr>
          <p:spPr bwMode="auto">
            <a:xfrm>
              <a:off x="2699" y="2069"/>
              <a:ext cx="226" cy="227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 sz="3200"/>
            </a:p>
          </p:txBody>
        </p:sp>
        <p:sp>
          <p:nvSpPr>
            <p:cNvPr id="74758" name="AutoShape 10"/>
            <p:cNvSpPr>
              <a:spLocks noChangeArrowheads="1"/>
            </p:cNvSpPr>
            <p:nvPr/>
          </p:nvSpPr>
          <p:spPr bwMode="auto">
            <a:xfrm>
              <a:off x="1837" y="2069"/>
              <a:ext cx="227" cy="227"/>
            </a:xfrm>
            <a:prstGeom prst="left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 sz="3200"/>
            </a:p>
          </p:txBody>
        </p:sp>
        <p:sp>
          <p:nvSpPr>
            <p:cNvPr id="74759" name="AutoShape 11"/>
            <p:cNvSpPr>
              <a:spLocks noChangeArrowheads="1"/>
            </p:cNvSpPr>
            <p:nvPr/>
          </p:nvSpPr>
          <p:spPr bwMode="auto">
            <a:xfrm>
              <a:off x="2154" y="2069"/>
              <a:ext cx="227" cy="227"/>
            </a:xfrm>
            <a:prstGeom prst="up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 sz="3200"/>
            </a:p>
          </p:txBody>
        </p:sp>
        <p:sp>
          <p:nvSpPr>
            <p:cNvPr id="74760" name="AutoShape 12"/>
            <p:cNvSpPr>
              <a:spLocks noChangeArrowheads="1"/>
            </p:cNvSpPr>
            <p:nvPr/>
          </p:nvSpPr>
          <p:spPr bwMode="auto">
            <a:xfrm>
              <a:off x="2426" y="2114"/>
              <a:ext cx="227" cy="227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 sz="3200"/>
            </a:p>
          </p:txBody>
        </p:sp>
      </p:grpSp>
      <p:sp>
        <p:nvSpPr>
          <p:cNvPr id="14" name="投影片編號版面配置區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8E221B-39D4-47E4-B64D-9C39A64FB4EB}" type="slidenum">
              <a:rPr lang="en-US" altLang="zh-TW" smtClean="0"/>
              <a:pPr>
                <a:defRPr/>
              </a:pPr>
              <a:t>30</a:t>
            </a:fld>
            <a:endParaRPr lang="en-US" altLang="zh-TW"/>
          </a:p>
        </p:txBody>
      </p:sp>
      <p:sp>
        <p:nvSpPr>
          <p:cNvPr id="15" name="頁尾版面配置區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838200" y="549275"/>
            <a:ext cx="7772400" cy="5470525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TW" sz="2800" b="1" dirty="0" smtClean="0"/>
              <a:t>5. Consistency </a:t>
            </a:r>
            <a:r>
              <a:rPr lang="zh-TW" altLang="en-US" sz="2800" b="1" dirty="0" smtClean="0">
                <a:latin typeface="新細明體" pitchFamily="18" charset="-120"/>
              </a:rPr>
              <a:t>一致性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endParaRPr lang="zh-TW" altLang="en-US" sz="2800" dirty="0" smtClean="0"/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TW" dirty="0" smtClean="0"/>
              <a:t>Designing interfaces to have similar </a:t>
            </a:r>
            <a:r>
              <a:rPr lang="en-US" altLang="zh-TW" b="1" dirty="0" smtClean="0">
                <a:solidFill>
                  <a:srgbClr val="CB0756"/>
                </a:solidFill>
              </a:rPr>
              <a:t>operations</a:t>
            </a:r>
            <a:r>
              <a:rPr lang="en-US" altLang="zh-TW" dirty="0" smtClean="0"/>
              <a:t> and use similar </a:t>
            </a:r>
            <a:r>
              <a:rPr lang="en-US" altLang="zh-TW" b="1" dirty="0" smtClean="0">
                <a:solidFill>
                  <a:srgbClr val="CB0756"/>
                </a:solidFill>
              </a:rPr>
              <a:t>elements</a:t>
            </a:r>
            <a:r>
              <a:rPr lang="en-US" altLang="zh-TW" dirty="0" smtClean="0"/>
              <a:t> for achieving similar </a:t>
            </a:r>
            <a:r>
              <a:rPr lang="en-US" altLang="zh-TW" b="1" dirty="0" smtClean="0">
                <a:solidFill>
                  <a:srgbClr val="CB0756"/>
                </a:solidFill>
              </a:rPr>
              <a:t>tasks</a:t>
            </a:r>
            <a:r>
              <a:rPr lang="en-US" altLang="zh-TW" dirty="0" smtClean="0"/>
              <a:t>. </a:t>
            </a:r>
            <a:endParaRPr lang="en-US" altLang="zh-TW" dirty="0" smtClean="0">
              <a:latin typeface="Times New Roman" pitchFamily="18" charset="0"/>
            </a:endParaRP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zh-TW" altLang="en-US" dirty="0" smtClean="0">
                <a:latin typeface="Times New Roman" pitchFamily="18" charset="0"/>
              </a:rPr>
              <a:t>使容易學習與使用</a:t>
            </a:r>
            <a:r>
              <a:rPr lang="en-US" altLang="zh-TW" dirty="0" smtClean="0">
                <a:latin typeface="Times New Roman" pitchFamily="18" charset="0"/>
              </a:rPr>
              <a:t>(</a:t>
            </a:r>
            <a:r>
              <a:rPr lang="zh-TW" altLang="en-US" dirty="0" smtClean="0">
                <a:latin typeface="Times New Roman" pitchFamily="18" charset="0"/>
              </a:rPr>
              <a:t>一種操作方式適用於整個介面</a:t>
            </a:r>
            <a:r>
              <a:rPr lang="en-US" altLang="zh-TW" dirty="0" smtClean="0">
                <a:latin typeface="Times New Roman" pitchFamily="18" charset="0"/>
              </a:rPr>
              <a:t>)</a:t>
            </a:r>
            <a:r>
              <a:rPr lang="zh-TW" altLang="en-US" dirty="0" smtClean="0">
                <a:latin typeface="Times New Roman" pitchFamily="18" charset="0"/>
              </a:rPr>
              <a:t>，但是對於</a:t>
            </a:r>
            <a:r>
              <a:rPr lang="zh-TW" altLang="en-US" dirty="0" smtClean="0">
                <a:solidFill>
                  <a:srgbClr val="CB0756"/>
                </a:solidFill>
                <a:latin typeface="Times New Roman" pitchFamily="18" charset="0"/>
              </a:rPr>
              <a:t>複雜的介面</a:t>
            </a:r>
            <a:r>
              <a:rPr lang="zh-TW" altLang="en-US" dirty="0" smtClean="0"/>
              <a:t> </a:t>
            </a:r>
            <a:r>
              <a:rPr lang="en-US" altLang="zh-TW" dirty="0" smtClean="0"/>
              <a:t>(</a:t>
            </a:r>
            <a:r>
              <a:rPr lang="zh-TW" altLang="en-US" dirty="0" smtClean="0">
                <a:latin typeface="Times New Roman" pitchFamily="18" charset="0"/>
              </a:rPr>
              <a:t>多種操作</a:t>
            </a:r>
            <a:r>
              <a:rPr lang="en-US" altLang="zh-TW" dirty="0" smtClean="0"/>
              <a:t>) </a:t>
            </a:r>
            <a:r>
              <a:rPr lang="zh-TW" altLang="en-US" dirty="0" smtClean="0">
                <a:latin typeface="Times New Roman" pitchFamily="18" charset="0"/>
              </a:rPr>
              <a:t>來說，就不易達成一致性的設計</a:t>
            </a:r>
            <a:endParaRPr lang="zh-TW" altLang="en-US" dirty="0" smtClean="0"/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endParaRPr lang="zh-TW" altLang="en-US" dirty="0" smtClean="0">
              <a:latin typeface="Times New Roman" pitchFamily="18" charset="0"/>
            </a:endParaRP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zh-TW" altLang="en-US" dirty="0" smtClean="0">
                <a:latin typeface="Times New Roman" pitchFamily="18" charset="0"/>
              </a:rPr>
              <a:t>解決方式</a:t>
            </a:r>
            <a:r>
              <a:rPr lang="en-US" altLang="zh-TW" dirty="0" smtClean="0"/>
              <a:t>: </a:t>
            </a:r>
            <a:r>
              <a:rPr lang="zh-TW" altLang="en-US" dirty="0" smtClean="0">
                <a:latin typeface="Times New Roman" pitchFamily="18" charset="0"/>
              </a:rPr>
              <a:t>利用分類將</a:t>
            </a:r>
            <a:r>
              <a:rPr lang="zh-TW" altLang="en-US" dirty="0" smtClean="0">
                <a:solidFill>
                  <a:srgbClr val="CB0756"/>
                </a:solidFill>
                <a:latin typeface="Times New Roman" pitchFamily="18" charset="0"/>
              </a:rPr>
              <a:t>同類的操作</a:t>
            </a:r>
            <a:r>
              <a:rPr lang="zh-TW" altLang="en-US" dirty="0" smtClean="0">
                <a:latin typeface="Times New Roman" pitchFamily="18" charset="0"/>
              </a:rPr>
              <a:t>放在一起並分出</a:t>
            </a:r>
            <a:r>
              <a:rPr lang="en-US" altLang="zh-TW" dirty="0" smtClean="0"/>
              <a:t>subset operations. </a:t>
            </a:r>
            <a:r>
              <a:rPr lang="zh-TW" altLang="en-US" dirty="0" smtClean="0">
                <a:solidFill>
                  <a:srgbClr val="FF66CC"/>
                </a:solidFill>
              </a:rPr>
              <a:t>如下一頁圖</a:t>
            </a:r>
            <a:r>
              <a:rPr lang="zh-TW" altLang="en-US" dirty="0" smtClean="0"/>
              <a:t> </a:t>
            </a:r>
            <a:r>
              <a:rPr lang="en-US" altLang="zh-TW" dirty="0" smtClean="0"/>
              <a:t>(</a:t>
            </a:r>
            <a:r>
              <a:rPr lang="zh-TW" altLang="en-US" dirty="0" smtClean="0">
                <a:latin typeface="Times New Roman" pitchFamily="18" charset="0"/>
              </a:rPr>
              <a:t>例如</a:t>
            </a:r>
            <a:r>
              <a:rPr lang="en-US" altLang="zh-TW" dirty="0" smtClean="0"/>
              <a:t>word</a:t>
            </a:r>
            <a:r>
              <a:rPr lang="zh-TW" altLang="en-US" dirty="0" smtClean="0">
                <a:latin typeface="Times New Roman" pitchFamily="18" charset="0"/>
              </a:rPr>
              <a:t>的下拉式選單</a:t>
            </a:r>
            <a:r>
              <a:rPr lang="en-US" altLang="zh-TW" dirty="0" smtClean="0"/>
              <a:t>) --- </a:t>
            </a:r>
            <a:r>
              <a:rPr lang="zh-TW" altLang="en-US" dirty="0" smtClean="0"/>
              <a:t>但</a:t>
            </a:r>
            <a:r>
              <a:rPr lang="zh-TW" altLang="en-US" dirty="0" smtClean="0">
                <a:latin typeface="Times New Roman" pitchFamily="18" charset="0"/>
              </a:rPr>
              <a:t>違反了</a:t>
            </a:r>
            <a:r>
              <a:rPr lang="en-US" altLang="zh-TW" dirty="0" smtClean="0"/>
              <a:t>visibility</a:t>
            </a:r>
            <a:r>
              <a:rPr lang="zh-TW" altLang="en-US" dirty="0" smtClean="0">
                <a:latin typeface="Times New Roman" pitchFamily="18" charset="0"/>
              </a:rPr>
              <a:t>原則</a:t>
            </a:r>
            <a:endParaRPr lang="zh-TW" altLang="en-US" dirty="0" smtClean="0"/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zh-TW" altLang="en-US" dirty="0" smtClean="0">
                <a:latin typeface="Times New Roman" pitchFamily="18" charset="0"/>
              </a:rPr>
              <a:t> </a:t>
            </a:r>
            <a:endParaRPr lang="zh-TW" altLang="en-US" dirty="0" smtClean="0"/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zh-TW" altLang="en-US" dirty="0" smtClean="0">
                <a:solidFill>
                  <a:srgbClr val="CB0756"/>
                </a:solidFill>
                <a:latin typeface="新細明體" pitchFamily="18" charset="-120"/>
              </a:rPr>
              <a:t>原則之間是有衝突的</a:t>
            </a:r>
            <a:r>
              <a:rPr lang="zh-TW" altLang="en-US" dirty="0" smtClean="0">
                <a:solidFill>
                  <a:srgbClr val="CB0756"/>
                </a:solidFill>
              </a:rPr>
              <a:t>，</a:t>
            </a:r>
            <a:r>
              <a:rPr lang="zh-TW" altLang="en-US" dirty="0" smtClean="0">
                <a:solidFill>
                  <a:srgbClr val="CB0756"/>
                </a:solidFill>
                <a:latin typeface="新細明體" pitchFamily="18" charset="-120"/>
              </a:rPr>
              <a:t>因此要有所取捨</a:t>
            </a:r>
            <a:r>
              <a:rPr lang="zh-TW" altLang="en-US" dirty="0" smtClean="0">
                <a:solidFill>
                  <a:srgbClr val="CB0756"/>
                </a:solidFill>
              </a:rPr>
              <a:t> </a:t>
            </a:r>
            <a:r>
              <a:rPr lang="en-US" altLang="zh-TW" dirty="0" smtClean="0">
                <a:solidFill>
                  <a:srgbClr val="CB0756"/>
                </a:solidFill>
              </a:rPr>
              <a:t>(tradeoff)</a:t>
            </a:r>
            <a:r>
              <a:rPr lang="en-US" altLang="ja-JP" dirty="0" smtClean="0">
                <a:solidFill>
                  <a:srgbClr val="CB0756"/>
                </a:solidFill>
                <a:latin typeface="MS Gothic" pitchFamily="49" charset="-128"/>
              </a:rPr>
              <a:t>，</a:t>
            </a:r>
            <a:endParaRPr lang="zh-TW" altLang="en-US" dirty="0" smtClean="0">
              <a:solidFill>
                <a:srgbClr val="CB0756"/>
              </a:solidFill>
              <a:latin typeface="MS Gothic" pitchFamily="49" charset="-128"/>
              <a:ea typeface="MS Gothic" pitchFamily="49" charset="-128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8E221B-39D4-47E4-B64D-9C39A64FB4EB}" type="slidenum">
              <a:rPr lang="en-US" altLang="zh-TW" smtClean="0"/>
              <a:pPr>
                <a:defRPr/>
              </a:pPr>
              <a:t>31</a:t>
            </a:fld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838200" y="908050"/>
            <a:ext cx="7772400" cy="511175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800" b="1" smtClean="0"/>
              <a:t>6. affordance </a:t>
            </a:r>
            <a:r>
              <a:rPr lang="zh-TW" altLang="en-US" sz="2800" b="1" smtClean="0">
                <a:latin typeface="新細明體" pitchFamily="18" charset="-120"/>
              </a:rPr>
              <a:t>支援 </a:t>
            </a:r>
            <a:r>
              <a:rPr lang="en-US" altLang="zh-TW" sz="2800" b="1" smtClean="0">
                <a:latin typeface="新細明體" pitchFamily="18" charset="-120"/>
              </a:rPr>
              <a:t>--</a:t>
            </a:r>
            <a:r>
              <a:rPr lang="en-US" altLang="zh-TW" sz="2800" smtClean="0"/>
              <a:t> </a:t>
            </a:r>
            <a:r>
              <a:rPr lang="zh-TW" altLang="en-US" sz="2800" smtClean="0"/>
              <a:t>感覺的操作方式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zh-TW" altLang="en-US" sz="2800" smtClean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800" smtClean="0">
                <a:solidFill>
                  <a:srgbClr val="CB0756"/>
                </a:solidFill>
              </a:rPr>
              <a:t>To give a glue </a:t>
            </a:r>
            <a:r>
              <a:rPr lang="en-US" altLang="zh-TW" sz="2800" smtClean="0"/>
              <a:t>= attribute of an object that allow people to know how to use it </a:t>
            </a:r>
            <a:r>
              <a:rPr lang="zh-TW" altLang="en-US" sz="2800" smtClean="0">
                <a:solidFill>
                  <a:srgbClr val="CB0756"/>
                </a:solidFill>
              </a:rPr>
              <a:t>物件外觀的特性</a:t>
            </a:r>
            <a:r>
              <a:rPr lang="zh-TW" altLang="en-US" sz="2800" smtClean="0"/>
              <a:t>，讓使用者看了就知道要如何操作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zh-TW" altLang="en-US" sz="2800" smtClean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800" smtClean="0"/>
              <a:t>Perceived and real affordance </a:t>
            </a:r>
            <a:r>
              <a:rPr lang="en-US" altLang="zh-TW" sz="2800" smtClean="0">
                <a:latin typeface="Times New Roman" pitchFamily="18" charset="0"/>
              </a:rPr>
              <a:t>–</a:t>
            </a:r>
            <a:r>
              <a:rPr lang="en-US" altLang="zh-TW" sz="2800" smtClean="0"/>
              <a:t> </a:t>
            </a:r>
            <a:r>
              <a:rPr lang="zh-TW" altLang="en-US" sz="2800" smtClean="0"/>
              <a:t>介面上的屬於前者</a:t>
            </a:r>
            <a:r>
              <a:rPr lang="zh-TW" altLang="zh-TW" sz="2800" smtClean="0"/>
              <a:t>，</a:t>
            </a:r>
            <a:r>
              <a:rPr lang="zh-TW" altLang="en-US" sz="2800" smtClean="0"/>
              <a:t>門把的設計為後者  </a:t>
            </a:r>
            <a:r>
              <a:rPr lang="en-US" altLang="zh-TW" sz="2800" smtClean="0"/>
              <a:t>(</a:t>
            </a:r>
            <a:r>
              <a:rPr lang="zh-TW" altLang="en-US" sz="2800" smtClean="0"/>
              <a:t>利用一些設計來引導， 如 </a:t>
            </a:r>
            <a:r>
              <a:rPr lang="en-US" altLang="zh-TW" sz="2800" smtClean="0"/>
              <a:t>convention, feedback, cultural and logical constraints)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800" smtClean="0"/>
              <a:t>e.g. </a:t>
            </a:r>
            <a:r>
              <a:rPr lang="zh-TW" altLang="en-US" sz="2800" smtClean="0">
                <a:latin typeface="Times New Roman" pitchFamily="18" charset="0"/>
              </a:rPr>
              <a:t>滑鼠的外觀讓人知道要點選</a:t>
            </a:r>
            <a:endParaRPr lang="zh-TW" altLang="en-US" sz="2800" smtClean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TW" altLang="en-US" sz="2800" smtClean="0"/>
              <a:t>	</a:t>
            </a:r>
            <a:r>
              <a:rPr lang="zh-TW" altLang="en-US" sz="2800" smtClean="0">
                <a:latin typeface="新細明體" pitchFamily="18" charset="-120"/>
              </a:rPr>
              <a:t>門手把</a:t>
            </a:r>
            <a:r>
              <a:rPr lang="zh-TW" altLang="en-US" sz="2800" smtClean="0"/>
              <a:t> </a:t>
            </a:r>
            <a:r>
              <a:rPr lang="en-US" altLang="zh-TW" sz="2800" smtClean="0">
                <a:latin typeface="Times New Roman" pitchFamily="18" charset="0"/>
              </a:rPr>
              <a:t>–</a:t>
            </a:r>
            <a:r>
              <a:rPr lang="en-US" altLang="zh-TW" sz="2800" smtClean="0"/>
              <a:t> </a:t>
            </a:r>
            <a:r>
              <a:rPr lang="zh-TW" altLang="en-US" sz="2800" smtClean="0">
                <a:latin typeface="新細明體" pitchFamily="18" charset="-120"/>
              </a:rPr>
              <a:t>旋轉開啟</a:t>
            </a:r>
            <a:r>
              <a:rPr lang="zh-TW" altLang="en-US" sz="2800" smtClean="0"/>
              <a:t> 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8E221B-39D4-47E4-B64D-9C39A64FB4EB}" type="slidenum">
              <a:rPr lang="en-US" altLang="zh-TW" smtClean="0"/>
              <a:pPr>
                <a:defRPr/>
              </a:pPr>
              <a:t>32</a:t>
            </a:fld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460375" y="234950"/>
            <a:ext cx="8183563" cy="105092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sz="3200" dirty="0" smtClean="0">
                <a:solidFill>
                  <a:schemeClr val="accent1">
                    <a:tint val="88000"/>
                    <a:satMod val="150000"/>
                  </a:schemeClr>
                </a:solidFill>
              </a:rPr>
              <a:t>Usability principles -- Nielsen</a:t>
            </a:r>
          </a:p>
        </p:txBody>
      </p:sp>
      <p:sp>
        <p:nvSpPr>
          <p:cNvPr id="8806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460375" y="1689100"/>
            <a:ext cx="8183563" cy="41878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TW" smtClean="0"/>
              <a:t>Visibility of system status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mtClean="0"/>
              <a:t>Match between system and the real world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mtClean="0"/>
              <a:t>User control and freedom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mtClean="0"/>
              <a:t>Consistency and standards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mtClean="0"/>
              <a:t>Help users recognize, diagnose, and recover from errors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mtClean="0"/>
              <a:t>Error prevention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mtClean="0"/>
              <a:t>Recognition rather than recall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mtClean="0"/>
              <a:t>Flexibility and efficiency of use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mtClean="0"/>
              <a:t>Aesthetic and minimalist design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mtClean="0"/>
              <a:t>Help and documentation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8E221B-39D4-47E4-B64D-9C39A64FB4EB}" type="slidenum">
              <a:rPr lang="en-US" altLang="zh-TW" smtClean="0"/>
              <a:pPr>
                <a:defRPr/>
              </a:pPr>
              <a:t>33</a:t>
            </a:fld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觀點">
  <a:themeElements>
    <a:clrScheme name="觀點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觀點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觀點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2570</TotalTime>
  <Words>1867</Words>
  <Application>Microsoft Office PowerPoint</Application>
  <PresentationFormat>如螢幕大小 (4:3)</PresentationFormat>
  <Paragraphs>316</Paragraphs>
  <Slides>33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33</vt:i4>
      </vt:variant>
    </vt:vector>
  </HeadingPairs>
  <TitlesOfParts>
    <vt:vector size="44" baseType="lpstr">
      <vt:lpstr>ＭＳ ゴシック</vt:lpstr>
      <vt:lpstr>ＭＳ ゴシック</vt:lpstr>
      <vt:lpstr>微軟正黑體</vt:lpstr>
      <vt:lpstr>新細明體</vt:lpstr>
      <vt:lpstr>Arial</vt:lpstr>
      <vt:lpstr>Tahoma</vt:lpstr>
      <vt:lpstr>Times New Roman</vt:lpstr>
      <vt:lpstr>Verdana</vt:lpstr>
      <vt:lpstr>Wingdings</vt:lpstr>
      <vt:lpstr>Wingdings 2</vt:lpstr>
      <vt:lpstr>觀點</vt:lpstr>
      <vt:lpstr>PowerPoint 簡報</vt:lpstr>
      <vt:lpstr>Intro</vt:lpstr>
      <vt:lpstr>PowerPoint 簡報</vt:lpstr>
      <vt:lpstr>1.2 Good and poor design</vt:lpstr>
      <vt:lpstr>上述情況的問題在哪裡？</vt:lpstr>
      <vt:lpstr>1.2.1 What to design</vt:lpstr>
      <vt:lpstr>Understanding users</vt:lpstr>
      <vt:lpstr>PowerPoint 簡報</vt:lpstr>
      <vt:lpstr>1.3 What is interaction design</vt:lpstr>
      <vt:lpstr>互動設計師 vs. 軟體工程師比喻</vt:lpstr>
      <vt:lpstr>1.3.1 Interaction design的組成  Relationship between ID, HCI and other fields</vt:lpstr>
      <vt:lpstr>1.3.2 Who is involved in interaction design?</vt:lpstr>
      <vt:lpstr>Interaction design in business</vt:lpstr>
      <vt:lpstr>1.4 The user experience</vt:lpstr>
      <vt:lpstr>1.5 Process of interaction design? </vt:lpstr>
      <vt:lpstr>以使用者為中心的設計User-centered (UC) approach </vt:lpstr>
      <vt:lpstr>PowerPoint 簡報</vt:lpstr>
      <vt:lpstr>Key characteristics of the ID process</vt:lpstr>
      <vt:lpstr>1.6 Interaction design and the user experience</vt:lpstr>
      <vt:lpstr>1.6.1 Usability goals </vt:lpstr>
      <vt:lpstr>PowerPoint 簡報</vt:lpstr>
      <vt:lpstr>PowerPoint 簡報</vt:lpstr>
      <vt:lpstr>PowerPoint 簡報</vt:lpstr>
      <vt:lpstr>PowerPoint 簡報</vt:lpstr>
      <vt:lpstr>Usability criteria 使用性</vt:lpstr>
      <vt:lpstr>1.6.2 User experience goals </vt:lpstr>
      <vt:lpstr>PowerPoint 簡報</vt:lpstr>
      <vt:lpstr>1.6.3  design principles  </vt:lpstr>
      <vt:lpstr>PowerPoint 簡報</vt:lpstr>
      <vt:lpstr>PowerPoint 簡報</vt:lpstr>
      <vt:lpstr>PowerPoint 簡報</vt:lpstr>
      <vt:lpstr>PowerPoint 簡報</vt:lpstr>
      <vt:lpstr>Usability principles -- Nielsen</vt:lpstr>
    </vt:vector>
  </TitlesOfParts>
  <Company>nthuISA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week11</dc:title>
  <dc:creator>wakaba</dc:creator>
  <cp:lastModifiedBy>User</cp:lastModifiedBy>
  <cp:revision>866</cp:revision>
  <dcterms:created xsi:type="dcterms:W3CDTF">2004-04-29T05:35:37Z</dcterms:created>
  <dcterms:modified xsi:type="dcterms:W3CDTF">2018-09-13T07:48:37Z</dcterms:modified>
</cp:coreProperties>
</file>