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6" r:id="rId5"/>
    <p:sldId id="259" r:id="rId6"/>
    <p:sldId id="295" r:id="rId7"/>
    <p:sldId id="296" r:id="rId8"/>
    <p:sldId id="268" r:id="rId9"/>
    <p:sldId id="297" r:id="rId10"/>
    <p:sldId id="310" r:id="rId11"/>
    <p:sldId id="299" r:id="rId12"/>
    <p:sldId id="300" r:id="rId13"/>
    <p:sldId id="301" r:id="rId14"/>
    <p:sldId id="304" r:id="rId15"/>
    <p:sldId id="302" r:id="rId16"/>
    <p:sldId id="305" r:id="rId17"/>
    <p:sldId id="306" r:id="rId18"/>
    <p:sldId id="307" r:id="rId19"/>
    <p:sldId id="308" r:id="rId20"/>
    <p:sldId id="309" r:id="rId21"/>
    <p:sldId id="262" r:id="rId22"/>
  </p:sldIdLst>
  <p:sldSz cx="12192000" cy="6858000"/>
  <p:notesSz cx="7104063" cy="10234613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535"/>
    <a:srgbClr val="6C6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/>
              <a:t>完成任務時間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完成任務時間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455</c:v>
                </c:pt>
                <c:pt idx="1">
                  <c:v>363</c:v>
                </c:pt>
                <c:pt idx="2">
                  <c:v>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91-42EE-9EA0-08F5154205D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欄1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791-42EE-9EA0-08F5154205DA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欄2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2791-42EE-9EA0-08F5154205D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71647663"/>
        <c:axId val="1971648079"/>
      </c:barChart>
      <c:catAx>
        <c:axId val="1971647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71648079"/>
        <c:crosses val="autoZero"/>
        <c:auto val="1"/>
        <c:lblAlgn val="ctr"/>
        <c:lblOffset val="100"/>
        <c:noMultiLvlLbl val="0"/>
      </c:catAx>
      <c:valAx>
        <c:axId val="1971648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71647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 smtClean="0"/>
              <a:t>其他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遇到危險次數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6F-48F1-9B68-FF172E1BF303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任務中猶豫次數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6F-48F1-9B68-FF172E1BF303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走錯路次數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6F-48F1-9B68-FF172E1BF303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求助輔助人員次數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3"/>
                <c:pt idx="0">
                  <c:v>User 1</c:v>
                </c:pt>
                <c:pt idx="1">
                  <c:v>User 2</c:v>
                </c:pt>
                <c:pt idx="2">
                  <c:v>User 3</c:v>
                </c:pt>
              </c:strCache>
            </c:strRef>
          </c:cat>
          <c:val>
            <c:numRef>
              <c:f>工作表1!$E$2:$E$5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6F-48F1-9B68-FF172E1BF3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18834911"/>
        <c:axId val="1918830335"/>
      </c:barChart>
      <c:catAx>
        <c:axId val="19188349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8830335"/>
        <c:crosses val="autoZero"/>
        <c:auto val="1"/>
        <c:lblAlgn val="ctr"/>
        <c:lblOffset val="100"/>
        <c:noMultiLvlLbl val="0"/>
      </c:catAx>
      <c:valAx>
        <c:axId val="191883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1883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1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615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19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355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77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72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886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100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501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557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28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967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218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45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075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520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831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808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22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059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81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2018/10/30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445" y="-29210"/>
            <a:ext cx="12200890" cy="69157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1955" y="429260"/>
            <a:ext cx="11388090" cy="5998845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848485" y="2574925"/>
            <a:ext cx="84969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zh-TW" altLang="en-US" sz="6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互動設計期中報告</a:t>
            </a:r>
            <a:endParaRPr lang="en-US" altLang="zh-CN" sz="6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28252" y="4528578"/>
            <a:ext cx="7134225" cy="1524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TW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資應所 袁偉軒</a:t>
            </a:r>
            <a:endParaRPr lang="en-US" altLang="zh-TW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40000"/>
              </a:lnSpc>
            </a:pPr>
            <a:r>
              <a:rPr lang="zh-TW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音樂</a:t>
            </a:r>
            <a:r>
              <a:rPr lang="zh-TW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 </a:t>
            </a:r>
            <a:r>
              <a:rPr lang="zh-TW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陳鵬安</a:t>
            </a:r>
            <a:endParaRPr lang="en-US" altLang="zh-TW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zh-TW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資應</a:t>
            </a:r>
            <a:r>
              <a:rPr lang="zh-TW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 </a:t>
            </a:r>
            <a:r>
              <a:rPr lang="zh-TW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黃小卉</a:t>
            </a:r>
          </a:p>
          <a:p>
            <a:pPr algn="ctr">
              <a:lnSpc>
                <a:spcPct val="14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9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4" grpId="2"/>
      <p:bldP spid="14" grpId="4"/>
      <p:bldP spid="9" grpId="0"/>
      <p:bldP spid="9" grpId="2"/>
      <p:bldP spid="9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495516937959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855" y="-8890"/>
            <a:ext cx="3237865" cy="68751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75205" y="715010"/>
            <a:ext cx="9299575" cy="5428615"/>
          </a:xfrm>
          <a:prstGeom prst="rect">
            <a:avLst/>
          </a:prstGeom>
          <a:noFill/>
          <a:ln>
            <a:solidFill>
              <a:srgbClr val="3535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95855" y="839470"/>
            <a:ext cx="9058910" cy="5178425"/>
          </a:xfrm>
          <a:prstGeom prst="rect">
            <a:avLst/>
          </a:prstGeom>
          <a:solidFill>
            <a:srgbClr val="35353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105785" y="1993900"/>
            <a:ext cx="2407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報告大綱</a:t>
            </a:r>
            <a:endParaRPr lang="en-US" altLang="zh-CN" sz="3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70420" y="1101004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1 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- </a:t>
            </a:r>
            <a:r>
              <a:rPr lang="zh-TW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簡短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的測試系統簡介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0420" y="1782284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2 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- </a:t>
            </a:r>
            <a:r>
              <a:rPr lang="zh-TW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測試目的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</a:t>
            </a:r>
            <a:r>
              <a:rPr lang="zh-TW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方式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、選擇原因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70420" y="2463563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3 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- 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測試過程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70420" y="3144843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4 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-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分析之量化資料及圖表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420" y="3754765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5 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-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訪談發現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3" name="文本框 11"/>
          <p:cNvSpPr txBox="1"/>
          <p:nvPr/>
        </p:nvSpPr>
        <p:spPr>
          <a:xfrm>
            <a:off x="7170420" y="4364687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6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-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使用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性問題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4" name="文本框 11"/>
          <p:cNvSpPr txBox="1"/>
          <p:nvPr/>
        </p:nvSpPr>
        <p:spPr>
          <a:xfrm>
            <a:off x="7170420" y="4974609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7</a:t>
            </a:r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-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zh-TW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系統修改建議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5" name="文本框 11"/>
          <p:cNvSpPr txBox="1"/>
          <p:nvPr/>
        </p:nvSpPr>
        <p:spPr>
          <a:xfrm>
            <a:off x="7170420" y="5528091"/>
            <a:ext cx="3279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8 –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反</a:t>
            </a:r>
            <a:r>
              <a:rPr lang="zh-TW" altLang="en-US" sz="16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思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1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簡短的測試系統簡介</a:t>
            </a:r>
            <a:endParaRPr lang="en-US" altLang="zh-CN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62998" y="2125150"/>
            <a:ext cx="2969895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測試者資料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34093" y="2664246"/>
            <a:ext cx="275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TW" altLang="en-US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清大</a:t>
            </a:r>
            <a:r>
              <a:rPr lang="en-US" altLang="zh-TW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2~30</a:t>
            </a:r>
            <a:r>
              <a:rPr lang="zh-TW" altLang="en-US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歲有基本獨立行動能力的視障學生、教職員</a:t>
            </a:r>
            <a:endParaRPr lang="zh-CN" altLang="en-US" sz="14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>
            <a:off x="7062997" y="3759881"/>
            <a:ext cx="2969895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系統介紹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7534092" y="4439920"/>
            <a:ext cx="2759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en-US" altLang="zh-TW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Google map</a:t>
            </a:r>
            <a:r>
              <a:rPr lang="zh-TW" altLang="en-US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、</a:t>
            </a:r>
            <a:r>
              <a:rPr lang="en-US" altLang="zh-TW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apple map</a:t>
            </a:r>
          </a:p>
          <a:p>
            <a:pPr algn="l" fontAlgn="auto">
              <a:lnSpc>
                <a:spcPct val="200000"/>
              </a:lnSpc>
            </a:pPr>
            <a:r>
              <a:rPr lang="en-US" altLang="zh-CN" sz="14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VoiceOver</a:t>
            </a:r>
            <a:endParaRPr lang="zh-CN" altLang="en-US" sz="14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  <p:bldP spid="22" grpId="0"/>
      <p:bldP spid="22" grpId="1"/>
      <p:bldP spid="9" grpId="0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圈箭头"/>
          <p:cNvSpPr/>
          <p:nvPr/>
        </p:nvSpPr>
        <p:spPr>
          <a:xfrm rot="5400000">
            <a:off x="4123934" y="1771747"/>
            <a:ext cx="460375" cy="460375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130053 h 585904"/>
              <a:gd name="connsiteX2" fmla="*/ 484425 w 585904"/>
              <a:gd name="connsiteY2" fmla="*/ 292952 h 585904"/>
              <a:gd name="connsiteX3" fmla="*/ 321527 w 585904"/>
              <a:gd name="connsiteY3" fmla="*/ 455850 h 585904"/>
              <a:gd name="connsiteX4" fmla="*/ 158628 w 585904"/>
              <a:gd name="connsiteY4" fmla="*/ 455850 h 585904"/>
              <a:gd name="connsiteX5" fmla="*/ 321527 w 585904"/>
              <a:gd name="connsiteY5" fmla="*/ 292952 h 585904"/>
              <a:gd name="connsiteX6" fmla="*/ 292951 w 585904"/>
              <a:gd name="connsiteY6" fmla="*/ 28505 h 585904"/>
              <a:gd name="connsiteX7" fmla="*/ 28504 w 585904"/>
              <a:gd name="connsiteY7" fmla="*/ 292952 h 585904"/>
              <a:gd name="connsiteX8" fmla="*/ 292951 w 585904"/>
              <a:gd name="connsiteY8" fmla="*/ 557399 h 585904"/>
              <a:gd name="connsiteX9" fmla="*/ 557398 w 585904"/>
              <a:gd name="connsiteY9" fmla="*/ 292952 h 585904"/>
              <a:gd name="connsiteX10" fmla="*/ 292951 w 585904"/>
              <a:gd name="connsiteY10" fmla="*/ 28505 h 585904"/>
              <a:gd name="connsiteX11" fmla="*/ 292952 w 585904"/>
              <a:gd name="connsiteY11" fmla="*/ 0 h 585904"/>
              <a:gd name="connsiteX12" fmla="*/ 585904 w 585904"/>
              <a:gd name="connsiteY12" fmla="*/ 292952 h 585904"/>
              <a:gd name="connsiteX13" fmla="*/ 292952 w 585904"/>
              <a:gd name="connsiteY13" fmla="*/ 585904 h 585904"/>
              <a:gd name="connsiteX14" fmla="*/ 0 w 585904"/>
              <a:gd name="connsiteY14" fmla="*/ 292952 h 585904"/>
              <a:gd name="connsiteX15" fmla="*/ 292952 w 585904"/>
              <a:gd name="connsiteY15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130053"/>
                </a:lnTo>
                <a:lnTo>
                  <a:pt x="484425" y="292952"/>
                </a:lnTo>
                <a:lnTo>
                  <a:pt x="321527" y="455850"/>
                </a:lnTo>
                <a:lnTo>
                  <a:pt x="158628" y="455850"/>
                </a:lnTo>
                <a:lnTo>
                  <a:pt x="321527" y="292952"/>
                </a:lnTo>
                <a:close/>
                <a:moveTo>
                  <a:pt x="292951" y="28505"/>
                </a:moveTo>
                <a:cubicBezTo>
                  <a:pt x="146901" y="28505"/>
                  <a:pt x="28504" y="146902"/>
                  <a:pt x="28504" y="292952"/>
                </a:cubicBezTo>
                <a:cubicBezTo>
                  <a:pt x="28504" y="439002"/>
                  <a:pt x="146901" y="557399"/>
                  <a:pt x="292951" y="557399"/>
                </a:cubicBezTo>
                <a:cubicBezTo>
                  <a:pt x="439001" y="557399"/>
                  <a:pt x="557398" y="439002"/>
                  <a:pt x="557398" y="292952"/>
                </a:cubicBezTo>
                <a:cubicBezTo>
                  <a:pt x="557398" y="146902"/>
                  <a:pt x="439001" y="28505"/>
                  <a:pt x="292951" y="28505"/>
                </a:cubicBez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68187" y="2806138"/>
            <a:ext cx="3809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觸碰到的地方會由文字轉換語音</a:t>
            </a:r>
            <a:endParaRPr lang="zh-CN" altLang="en-US" sz="20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pic>
        <p:nvPicPr>
          <p:cNvPr id="1030" name="Picture 6" descr="https://scontent-tpe1-1.xx.fbcdn.net/v/t1.15752-9/44968935_161723431448268_451925598575525888_n.jpg?_nc_cat=110&amp;_nc_ht=scontent-tpe1-1.xx&amp;oh=e0bbfc37c3e4317e131ac8bb3c2d2d7f&amp;oe=5C3DE09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76" y="521651"/>
            <a:ext cx="2924804" cy="519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6986" y="521651"/>
            <a:ext cx="2899418" cy="515905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 rot="10800000">
            <a:off x="4312284" y="1316988"/>
            <a:ext cx="5003165" cy="749935"/>
            <a:chOff x="2349" y="7543"/>
            <a:chExt cx="9110" cy="1754"/>
          </a:xfrm>
        </p:grpSpPr>
        <p:grpSp>
          <p:nvGrpSpPr>
            <p:cNvPr id="8" name="组合 7"/>
            <p:cNvGrpSpPr/>
            <p:nvPr/>
          </p:nvGrpSpPr>
          <p:grpSpPr>
            <a:xfrm>
              <a:off x="2349" y="7695"/>
              <a:ext cx="9036" cy="1603"/>
              <a:chOff x="2349" y="7695"/>
              <a:chExt cx="9036" cy="1603"/>
            </a:xfrm>
          </p:grpSpPr>
          <p:cxnSp>
            <p:nvCxnSpPr>
              <p:cNvPr id="6" name="直接连接符 5"/>
              <p:cNvCxnSpPr/>
              <p:nvPr/>
            </p:nvCxnSpPr>
            <p:spPr>
              <a:xfrm>
                <a:off x="2349" y="9298"/>
                <a:ext cx="9032" cy="0"/>
              </a:xfrm>
              <a:prstGeom prst="line">
                <a:avLst/>
              </a:prstGeom>
              <a:ln w="12700">
                <a:solidFill>
                  <a:srgbClr val="3535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V="1">
                <a:off x="11381" y="7695"/>
                <a:ext cx="4" cy="1603"/>
              </a:xfrm>
              <a:prstGeom prst="line">
                <a:avLst/>
              </a:prstGeom>
              <a:ln w="12700">
                <a:solidFill>
                  <a:srgbClr val="3535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椭圆 8"/>
            <p:cNvSpPr/>
            <p:nvPr/>
          </p:nvSpPr>
          <p:spPr>
            <a:xfrm>
              <a:off x="11307" y="7543"/>
              <a:ext cx="152" cy="152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156" grpId="1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350040"/>
            <a:ext cx="3642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測試目的</a:t>
            </a:r>
            <a:r>
              <a:rPr lang="zh-TW" altLang="en-US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</a:t>
            </a:r>
            <a:r>
              <a:rPr lang="zh-TW" altLang="zh-TW" sz="28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方式</a:t>
            </a:r>
            <a:endParaRPr lang="en-US" altLang="zh-TW" sz="280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algn="ctr"/>
            <a:r>
              <a:rPr lang="zh-TW" altLang="en-US" sz="28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、選擇原因</a:t>
            </a:r>
            <a:endParaRPr lang="en-US" altLang="zh-CN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111" y="2231429"/>
            <a:ext cx="296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目的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22810" y="2704288"/>
            <a:ext cx="2969895" cy="2482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</a:pP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想探討目前市面上對</a:t>
            </a:r>
            <a:r>
              <a:rPr lang="en-US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“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行</a:t>
            </a:r>
            <a:r>
              <a:rPr lang="en-US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”</a:t>
            </a: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幫助最大的導航程式在搭配他們輔助使用手機的程式後，視障者在使用的時候還有哪些不適用之處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>
            <a:off x="7143110" y="5327837"/>
            <a:ext cx="2969895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方法</a:t>
            </a:r>
            <a:r>
              <a:rPr lang="en-US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7322811" y="5886130"/>
            <a:ext cx="2969895" cy="51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使用者測試</a:t>
            </a:r>
            <a:r>
              <a:rPr lang="en-US" altLang="zh-TW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(User Testing)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  <p:bldP spid="10" grpId="0"/>
      <p:bldP spid="11" grpId="0"/>
      <p:bldP spid="22" grpId="0"/>
      <p:bldP spid="22" grpId="1"/>
      <p:bldP spid="9" grpId="0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350040"/>
            <a:ext cx="3642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測試目的</a:t>
            </a:r>
            <a:r>
              <a:rPr lang="zh-TW" altLang="en-US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</a:t>
            </a:r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方式</a:t>
            </a:r>
            <a:endParaRPr lang="en-US" altLang="zh-TW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algn="ctr"/>
            <a:r>
              <a:rPr lang="zh-TW" altLang="en-US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、選擇原因</a:t>
            </a:r>
            <a:endParaRPr lang="en-US" altLang="zh-CN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3455" y="3087368"/>
            <a:ext cx="296989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16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希望能直接觀察、紀錄測試者在使用當下即時的反應、想法</a:t>
            </a:r>
            <a:endParaRPr lang="zh-CN" altLang="en-US" sz="16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3" name="文本框 10"/>
          <p:cNvSpPr txBox="1"/>
          <p:nvPr/>
        </p:nvSpPr>
        <p:spPr>
          <a:xfrm>
            <a:off x="7143432" y="2396554"/>
            <a:ext cx="2969895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原因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1635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  <p:bldP spid="10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測試過程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431" y="2151380"/>
            <a:ext cx="29698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測試者基本資料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任務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進行、</a:t>
            </a: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紀錄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訪談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55085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487545" y="1498600"/>
            <a:ext cx="3216275" cy="2263140"/>
          </a:xfrm>
          <a:prstGeom prst="rect">
            <a:avLst/>
          </a:prstGeom>
          <a:blipFill rotWithShape="1"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21599" y="363953"/>
            <a:ext cx="4148166" cy="722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zh-TW" altLang="en-US" sz="2400" dirty="0" smtClean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測試過程</a:t>
            </a:r>
            <a:endParaRPr lang="zh-CN" altLang="en-US" sz="2400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96580" y="1498600"/>
            <a:ext cx="3216275" cy="2263140"/>
          </a:xfrm>
          <a:prstGeom prst="rect">
            <a:avLst/>
          </a:prstGeom>
          <a:blipFill rotWithShape="1"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68350" y="1498600"/>
            <a:ext cx="3216275" cy="2263140"/>
          </a:xfrm>
          <a:prstGeom prst="rect">
            <a:avLst/>
          </a:prstGeom>
          <a:blipFill rotWithShape="1">
            <a:blip r:embed="rId7" cstate="email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圈箭头"/>
          <p:cNvSpPr/>
          <p:nvPr/>
        </p:nvSpPr>
        <p:spPr>
          <a:xfrm>
            <a:off x="3524250" y="5041265"/>
            <a:ext cx="460375" cy="460375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130053 h 585904"/>
              <a:gd name="connsiteX2" fmla="*/ 484425 w 585904"/>
              <a:gd name="connsiteY2" fmla="*/ 292952 h 585904"/>
              <a:gd name="connsiteX3" fmla="*/ 321527 w 585904"/>
              <a:gd name="connsiteY3" fmla="*/ 455850 h 585904"/>
              <a:gd name="connsiteX4" fmla="*/ 158628 w 585904"/>
              <a:gd name="connsiteY4" fmla="*/ 455850 h 585904"/>
              <a:gd name="connsiteX5" fmla="*/ 321527 w 585904"/>
              <a:gd name="connsiteY5" fmla="*/ 292952 h 585904"/>
              <a:gd name="connsiteX6" fmla="*/ 292951 w 585904"/>
              <a:gd name="connsiteY6" fmla="*/ 28505 h 585904"/>
              <a:gd name="connsiteX7" fmla="*/ 28504 w 585904"/>
              <a:gd name="connsiteY7" fmla="*/ 292952 h 585904"/>
              <a:gd name="connsiteX8" fmla="*/ 292951 w 585904"/>
              <a:gd name="connsiteY8" fmla="*/ 557399 h 585904"/>
              <a:gd name="connsiteX9" fmla="*/ 557398 w 585904"/>
              <a:gd name="connsiteY9" fmla="*/ 292952 h 585904"/>
              <a:gd name="connsiteX10" fmla="*/ 292951 w 585904"/>
              <a:gd name="connsiteY10" fmla="*/ 28505 h 585904"/>
              <a:gd name="connsiteX11" fmla="*/ 292952 w 585904"/>
              <a:gd name="connsiteY11" fmla="*/ 0 h 585904"/>
              <a:gd name="connsiteX12" fmla="*/ 585904 w 585904"/>
              <a:gd name="connsiteY12" fmla="*/ 292952 h 585904"/>
              <a:gd name="connsiteX13" fmla="*/ 292952 w 585904"/>
              <a:gd name="connsiteY13" fmla="*/ 585904 h 585904"/>
              <a:gd name="connsiteX14" fmla="*/ 0 w 585904"/>
              <a:gd name="connsiteY14" fmla="*/ 292952 h 585904"/>
              <a:gd name="connsiteX15" fmla="*/ 292952 w 585904"/>
              <a:gd name="connsiteY15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130053"/>
                </a:lnTo>
                <a:lnTo>
                  <a:pt x="484425" y="292952"/>
                </a:lnTo>
                <a:lnTo>
                  <a:pt x="321527" y="455850"/>
                </a:lnTo>
                <a:lnTo>
                  <a:pt x="158628" y="455850"/>
                </a:lnTo>
                <a:lnTo>
                  <a:pt x="321527" y="292952"/>
                </a:lnTo>
                <a:close/>
                <a:moveTo>
                  <a:pt x="292951" y="28505"/>
                </a:moveTo>
                <a:cubicBezTo>
                  <a:pt x="146901" y="28505"/>
                  <a:pt x="28504" y="146902"/>
                  <a:pt x="28504" y="292952"/>
                </a:cubicBezTo>
                <a:cubicBezTo>
                  <a:pt x="28504" y="439002"/>
                  <a:pt x="146901" y="557399"/>
                  <a:pt x="292951" y="557399"/>
                </a:cubicBezTo>
                <a:cubicBezTo>
                  <a:pt x="439001" y="557399"/>
                  <a:pt x="557398" y="439002"/>
                  <a:pt x="557398" y="292952"/>
                </a:cubicBezTo>
                <a:cubicBezTo>
                  <a:pt x="557398" y="146902"/>
                  <a:pt x="439001" y="28505"/>
                  <a:pt x="292951" y="28505"/>
                </a:cubicBez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8020" y="4133215"/>
            <a:ext cx="267589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16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使用者資訊、實驗事項告知</a:t>
            </a:r>
            <a:endParaRPr lang="zh-CN" altLang="en-US" sz="16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8020" y="4519295"/>
            <a:ext cx="28562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基本資料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是否</a:t>
            </a:r>
            <a:r>
              <a:rPr lang="zh-TW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用過</a:t>
            </a:r>
            <a:r>
              <a:rPr lang="en-US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google map</a:t>
            </a:r>
            <a:r>
              <a:rPr lang="zh-TW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或是類似</a:t>
            </a:r>
            <a:r>
              <a:rPr lang="zh-TW" altLang="zh-TW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軟體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是否配</a:t>
            </a:r>
            <a:r>
              <a:rPr lang="zh-TW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過</a:t>
            </a:r>
            <a:r>
              <a:rPr lang="en-US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VoiceOver</a:t>
            </a:r>
            <a:r>
              <a:rPr lang="zh-TW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使用</a:t>
            </a:r>
            <a:r>
              <a:rPr lang="zh-TW" altLang="zh-TW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過</a:t>
            </a: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導航軟體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行動遇到最大的</a:t>
            </a:r>
            <a:r>
              <a:rPr lang="zh-TW" altLang="zh-TW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困難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權力告知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任務內容</a:t>
            </a:r>
            <a:endParaRPr lang="en-US" altLang="zh-TW" sz="105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側</a:t>
            </a: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錄</a:t>
            </a: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詢問</a:t>
            </a:r>
            <a:endParaRPr lang="zh-CN" altLang="en-US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7" name="圈箭头"/>
          <p:cNvSpPr/>
          <p:nvPr/>
        </p:nvSpPr>
        <p:spPr>
          <a:xfrm>
            <a:off x="7243445" y="5041265"/>
            <a:ext cx="460375" cy="460375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130053 h 585904"/>
              <a:gd name="connsiteX2" fmla="*/ 484425 w 585904"/>
              <a:gd name="connsiteY2" fmla="*/ 292952 h 585904"/>
              <a:gd name="connsiteX3" fmla="*/ 321527 w 585904"/>
              <a:gd name="connsiteY3" fmla="*/ 455850 h 585904"/>
              <a:gd name="connsiteX4" fmla="*/ 158628 w 585904"/>
              <a:gd name="connsiteY4" fmla="*/ 455850 h 585904"/>
              <a:gd name="connsiteX5" fmla="*/ 321527 w 585904"/>
              <a:gd name="connsiteY5" fmla="*/ 292952 h 585904"/>
              <a:gd name="connsiteX6" fmla="*/ 292951 w 585904"/>
              <a:gd name="connsiteY6" fmla="*/ 28505 h 585904"/>
              <a:gd name="connsiteX7" fmla="*/ 28504 w 585904"/>
              <a:gd name="connsiteY7" fmla="*/ 292952 h 585904"/>
              <a:gd name="connsiteX8" fmla="*/ 292951 w 585904"/>
              <a:gd name="connsiteY8" fmla="*/ 557399 h 585904"/>
              <a:gd name="connsiteX9" fmla="*/ 557398 w 585904"/>
              <a:gd name="connsiteY9" fmla="*/ 292952 h 585904"/>
              <a:gd name="connsiteX10" fmla="*/ 292951 w 585904"/>
              <a:gd name="connsiteY10" fmla="*/ 28505 h 585904"/>
              <a:gd name="connsiteX11" fmla="*/ 292952 w 585904"/>
              <a:gd name="connsiteY11" fmla="*/ 0 h 585904"/>
              <a:gd name="connsiteX12" fmla="*/ 585904 w 585904"/>
              <a:gd name="connsiteY12" fmla="*/ 292952 h 585904"/>
              <a:gd name="connsiteX13" fmla="*/ 292952 w 585904"/>
              <a:gd name="connsiteY13" fmla="*/ 585904 h 585904"/>
              <a:gd name="connsiteX14" fmla="*/ 0 w 585904"/>
              <a:gd name="connsiteY14" fmla="*/ 292952 h 585904"/>
              <a:gd name="connsiteX15" fmla="*/ 292952 w 585904"/>
              <a:gd name="connsiteY15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130053"/>
                </a:lnTo>
                <a:lnTo>
                  <a:pt x="484425" y="292952"/>
                </a:lnTo>
                <a:lnTo>
                  <a:pt x="321527" y="455850"/>
                </a:lnTo>
                <a:lnTo>
                  <a:pt x="158628" y="455850"/>
                </a:lnTo>
                <a:lnTo>
                  <a:pt x="321527" y="292952"/>
                </a:lnTo>
                <a:close/>
                <a:moveTo>
                  <a:pt x="292951" y="28505"/>
                </a:moveTo>
                <a:cubicBezTo>
                  <a:pt x="146901" y="28505"/>
                  <a:pt x="28504" y="146902"/>
                  <a:pt x="28504" y="292952"/>
                </a:cubicBezTo>
                <a:cubicBezTo>
                  <a:pt x="28504" y="439002"/>
                  <a:pt x="146901" y="557399"/>
                  <a:pt x="292951" y="557399"/>
                </a:cubicBezTo>
                <a:cubicBezTo>
                  <a:pt x="439001" y="557399"/>
                  <a:pt x="557398" y="439002"/>
                  <a:pt x="557398" y="292952"/>
                </a:cubicBezTo>
                <a:cubicBezTo>
                  <a:pt x="557398" y="146902"/>
                  <a:pt x="439001" y="28505"/>
                  <a:pt x="292951" y="28505"/>
                </a:cubicBez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87215" y="4133215"/>
            <a:ext cx="2085340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16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任務進行、紀錄</a:t>
            </a:r>
            <a:endParaRPr lang="zh-CN" altLang="en-US" sz="16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87215" y="4519295"/>
            <a:ext cx="2675890" cy="275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讓測試者從綜二館使用他慣用的導航軟體搭配</a:t>
            </a:r>
            <a:r>
              <a:rPr lang="en-US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VoiceOver</a:t>
            </a: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前往旺宏館，如果有任何問題都可以跟身旁的紀錄人員發問或是求救</a:t>
            </a:r>
            <a:endParaRPr lang="en-US" altLang="zh-TW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完成任務時間、任務中遇到危險次數、任務中猶豫的次數、走錯路次數</a:t>
            </a: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、發現自己錯誤時間、</a:t>
            </a: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求助輔助人員次數、是否有在同一個</a:t>
            </a: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地方遇到相同困難</a:t>
            </a:r>
            <a:endParaRPr lang="en-US" altLang="zh-TW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96250" y="4133215"/>
            <a:ext cx="2085340" cy="364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16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訪談</a:t>
            </a:r>
            <a:endParaRPr lang="zh-CN" altLang="en-US" sz="16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96250" y="4519295"/>
            <a:ext cx="26758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請問自己覺得自己平時在過馬路時謹慎嗎</a:t>
            </a:r>
            <a:r>
              <a:rPr lang="en-US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?</a:t>
            </a: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可以舉例說明更好、當時使用心裡的感受、對當前系統的滿意度</a:t>
            </a:r>
            <a:r>
              <a:rPr lang="en-US" altLang="zh-TW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(1~10)</a:t>
            </a:r>
            <a:r>
              <a:rPr lang="zh-TW" altLang="en-US" sz="105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，並</a:t>
            </a:r>
            <a:r>
              <a:rPr lang="zh-TW" altLang="en-US" sz="105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說明原因、優缺點</a:t>
            </a:r>
            <a:endParaRPr lang="zh-CN" altLang="en-US" sz="105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  <p:bldP spid="14" grpId="0" animBg="1"/>
      <p:bldP spid="156" grpId="0" animBg="1"/>
      <p:bldP spid="156" grpId="1" bldLvl="0" animBg="1"/>
      <p:bldP spid="15" grpId="0"/>
      <p:bldP spid="16" grpId="0"/>
      <p:bldP spid="16" grpId="1"/>
      <p:bldP spid="17" grpId="0" animBg="1"/>
      <p:bldP spid="17" grpId="1" bldLvl="0" animBg="1"/>
      <p:bldP spid="18" grpId="0"/>
      <p:bldP spid="19" grpId="0"/>
      <p:bldP spid="19" grpId="1"/>
      <p:bldP spid="23" grpId="0"/>
      <p:bldP spid="24" grpId="0"/>
      <p:bldP spid="2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分析之量化</a:t>
            </a:r>
            <a:r>
              <a:rPr lang="zh-TW" altLang="zh-TW" sz="28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資料</a:t>
            </a:r>
            <a:endParaRPr lang="en-US" altLang="zh-TW" sz="280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 algn="ctr"/>
            <a:r>
              <a:rPr lang="zh-TW" altLang="zh-TW" sz="28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及</a:t>
            </a:r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圖表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431" y="2504777"/>
            <a:ext cx="29698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完成任務時間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任務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中猶豫的次數</a:t>
            </a:r>
            <a:endParaRPr lang="en-US" altLang="zh-TW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任務中遇到危險次數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走錯路次數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發現自己錯誤時間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求助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輔助人員次數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8058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451669" y="615431"/>
            <a:ext cx="2967536" cy="5152390"/>
            <a:chOff x="7509" y="1797"/>
            <a:chExt cx="3907" cy="8114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4" name="矩形 3"/>
            <p:cNvSpPr/>
            <p:nvPr/>
          </p:nvSpPr>
          <p:spPr>
            <a:xfrm>
              <a:off x="7509" y="1797"/>
              <a:ext cx="3907" cy="3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509" y="6004"/>
              <a:ext cx="3907" cy="3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flipH="1">
            <a:off x="248194" y="5088255"/>
            <a:ext cx="11171011" cy="1113790"/>
            <a:chOff x="2349" y="7543"/>
            <a:chExt cx="9110" cy="1754"/>
          </a:xfrm>
        </p:grpSpPr>
        <p:grpSp>
          <p:nvGrpSpPr>
            <p:cNvPr id="9" name="组合 8"/>
            <p:cNvGrpSpPr/>
            <p:nvPr/>
          </p:nvGrpSpPr>
          <p:grpSpPr>
            <a:xfrm>
              <a:off x="2349" y="7695"/>
              <a:ext cx="9036" cy="1603"/>
              <a:chOff x="2349" y="7695"/>
              <a:chExt cx="9036" cy="1603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349" y="9298"/>
                <a:ext cx="9032" cy="0"/>
              </a:xfrm>
              <a:prstGeom prst="line">
                <a:avLst/>
              </a:prstGeom>
              <a:ln w="12700">
                <a:solidFill>
                  <a:srgbClr val="3535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V="1">
                <a:off x="11381" y="7695"/>
                <a:ext cx="4" cy="1603"/>
              </a:xfrm>
              <a:prstGeom prst="line">
                <a:avLst/>
              </a:prstGeom>
              <a:ln w="12700">
                <a:solidFill>
                  <a:srgbClr val="35353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椭圆 12"/>
            <p:cNvSpPr/>
            <p:nvPr/>
          </p:nvSpPr>
          <p:spPr>
            <a:xfrm>
              <a:off x="11307" y="7543"/>
              <a:ext cx="152" cy="152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48194" y="266297"/>
            <a:ext cx="296989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zh-TW" altLang="en-US" sz="2400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測試項目設計</a:t>
            </a:r>
            <a:endParaRPr lang="zh-CN" altLang="en-US" sz="2400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8935" y="1807011"/>
            <a:ext cx="36552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zh-TW" altLang="en-US" sz="16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完成任務的時間</a:t>
            </a:r>
            <a:r>
              <a:rPr lang="zh-CN" altLang="en-US" sz="16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.</a:t>
            </a:r>
            <a:endParaRPr lang="en-US" altLang="zh-CN" sz="16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TW" altLang="en-US" sz="1600" dirty="0"/>
              <a:t>間歇</a:t>
            </a:r>
            <a:r>
              <a:rPr lang="zh-TW" altLang="en-US" sz="1600" dirty="0" smtClean="0"/>
              <a:t>使用者</a:t>
            </a:r>
            <a:endParaRPr lang="en-US" altLang="zh-TW" sz="1600" dirty="0" smtClean="0"/>
          </a:p>
          <a:p>
            <a:pPr fontAlgn="auto">
              <a:lnSpc>
                <a:spcPct val="150000"/>
              </a:lnSpc>
            </a:pPr>
            <a:r>
              <a:rPr lang="zh-TW" altLang="en-US" sz="1600" strike="sngStrike" dirty="0"/>
              <a:t>每項任務中</a:t>
            </a:r>
            <a:r>
              <a:rPr lang="zh-TW" altLang="en-US" sz="1600" strike="sngStrike" dirty="0" smtClean="0"/>
              <a:t>錯誤率</a:t>
            </a:r>
            <a:endParaRPr lang="en-US" altLang="zh-TW" sz="1600" strike="sngStrike" dirty="0" smtClean="0"/>
          </a:p>
          <a:p>
            <a:pPr fontAlgn="auto">
              <a:lnSpc>
                <a:spcPct val="150000"/>
              </a:lnSpc>
            </a:pPr>
            <a:r>
              <a:rPr lang="zh-TW" altLang="en-US" sz="1600" dirty="0"/>
              <a:t>一段時間內的</a:t>
            </a:r>
            <a:r>
              <a:rPr lang="zh-TW" altLang="en-US" sz="1600" dirty="0" smtClean="0"/>
              <a:t>錯誤率</a:t>
            </a:r>
            <a:endParaRPr lang="en-US" altLang="zh-TW" sz="1600" dirty="0" smtClean="0"/>
          </a:p>
          <a:p>
            <a:pPr fontAlgn="auto">
              <a:lnSpc>
                <a:spcPct val="150000"/>
              </a:lnSpc>
            </a:pPr>
            <a:r>
              <a:rPr lang="zh-TW" altLang="en-US" sz="16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線上求救、詢問輔助人員如何使用次數</a:t>
            </a:r>
            <a:endParaRPr lang="en-US" altLang="zh-TW" sz="16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TW" altLang="en-US" sz="16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犯相同錯誤的人數</a:t>
            </a:r>
            <a:endParaRPr lang="en-US" altLang="zh-TW" sz="16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TW" altLang="en-US" sz="1600" strike="sngStrike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成功完成任務的人</a:t>
            </a:r>
            <a:r>
              <a:rPr lang="zh-TW" altLang="en-US" sz="1600" strike="sngStrike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數</a:t>
            </a:r>
            <a:endParaRPr lang="zh-CN" altLang="en-US" sz="1600" strike="sngStrike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8" name="文本框 14"/>
          <p:cNvSpPr txBox="1"/>
          <p:nvPr/>
        </p:nvSpPr>
        <p:spPr>
          <a:xfrm>
            <a:off x="4568570" y="1807011"/>
            <a:ext cx="37901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完成任務時間</a:t>
            </a:r>
            <a:r>
              <a:rPr lang="zh-CN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.</a:t>
            </a:r>
            <a:endParaRPr lang="en-US" altLang="zh-CN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發現自己錯誤時間、任務中猶豫的次數</a:t>
            </a:r>
            <a:endParaRPr lang="en-US" altLang="zh-TW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只有一個任務，所以不列入考</a:t>
            </a: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慮</a:t>
            </a:r>
            <a:endParaRPr lang="en-US" altLang="zh-TW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走錯路次數、任務中遇到危險次數</a:t>
            </a:r>
            <a:endParaRPr lang="en-US" altLang="zh-TW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求助輔助人員次數</a:t>
            </a:r>
            <a:endParaRPr lang="en-US" altLang="zh-TW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紀錄大家共同發生危險地點、原因</a:t>
            </a:r>
            <a:endParaRPr lang="en-US" altLang="zh-TW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所有人都必須完成任務，所以不列入考慮</a:t>
            </a:r>
            <a:endParaRPr lang="zh-CN" altLang="en-US" sz="16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9" name="圈箭头"/>
          <p:cNvSpPr/>
          <p:nvPr/>
        </p:nvSpPr>
        <p:spPr>
          <a:xfrm>
            <a:off x="3937379" y="2915651"/>
            <a:ext cx="460375" cy="460375"/>
          </a:xfrm>
          <a:custGeom>
            <a:avLst/>
            <a:gdLst>
              <a:gd name="connsiteX0" fmla="*/ 158628 w 585904"/>
              <a:gd name="connsiteY0" fmla="*/ 130053 h 585904"/>
              <a:gd name="connsiteX1" fmla="*/ 321527 w 585904"/>
              <a:gd name="connsiteY1" fmla="*/ 130053 h 585904"/>
              <a:gd name="connsiteX2" fmla="*/ 484425 w 585904"/>
              <a:gd name="connsiteY2" fmla="*/ 292952 h 585904"/>
              <a:gd name="connsiteX3" fmla="*/ 321527 w 585904"/>
              <a:gd name="connsiteY3" fmla="*/ 455850 h 585904"/>
              <a:gd name="connsiteX4" fmla="*/ 158628 w 585904"/>
              <a:gd name="connsiteY4" fmla="*/ 455850 h 585904"/>
              <a:gd name="connsiteX5" fmla="*/ 321527 w 585904"/>
              <a:gd name="connsiteY5" fmla="*/ 292952 h 585904"/>
              <a:gd name="connsiteX6" fmla="*/ 292951 w 585904"/>
              <a:gd name="connsiteY6" fmla="*/ 28505 h 585904"/>
              <a:gd name="connsiteX7" fmla="*/ 28504 w 585904"/>
              <a:gd name="connsiteY7" fmla="*/ 292952 h 585904"/>
              <a:gd name="connsiteX8" fmla="*/ 292951 w 585904"/>
              <a:gd name="connsiteY8" fmla="*/ 557399 h 585904"/>
              <a:gd name="connsiteX9" fmla="*/ 557398 w 585904"/>
              <a:gd name="connsiteY9" fmla="*/ 292952 h 585904"/>
              <a:gd name="connsiteX10" fmla="*/ 292951 w 585904"/>
              <a:gd name="connsiteY10" fmla="*/ 28505 h 585904"/>
              <a:gd name="connsiteX11" fmla="*/ 292952 w 585904"/>
              <a:gd name="connsiteY11" fmla="*/ 0 h 585904"/>
              <a:gd name="connsiteX12" fmla="*/ 585904 w 585904"/>
              <a:gd name="connsiteY12" fmla="*/ 292952 h 585904"/>
              <a:gd name="connsiteX13" fmla="*/ 292952 w 585904"/>
              <a:gd name="connsiteY13" fmla="*/ 585904 h 585904"/>
              <a:gd name="connsiteX14" fmla="*/ 0 w 585904"/>
              <a:gd name="connsiteY14" fmla="*/ 292952 h 585904"/>
              <a:gd name="connsiteX15" fmla="*/ 292952 w 585904"/>
              <a:gd name="connsiteY15" fmla="*/ 0 h 58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5904" h="585904">
                <a:moveTo>
                  <a:pt x="158628" y="130053"/>
                </a:moveTo>
                <a:lnTo>
                  <a:pt x="321527" y="130053"/>
                </a:lnTo>
                <a:lnTo>
                  <a:pt x="484425" y="292952"/>
                </a:lnTo>
                <a:lnTo>
                  <a:pt x="321527" y="455850"/>
                </a:lnTo>
                <a:lnTo>
                  <a:pt x="158628" y="455850"/>
                </a:lnTo>
                <a:lnTo>
                  <a:pt x="321527" y="292952"/>
                </a:lnTo>
                <a:close/>
                <a:moveTo>
                  <a:pt x="292951" y="28505"/>
                </a:moveTo>
                <a:cubicBezTo>
                  <a:pt x="146901" y="28505"/>
                  <a:pt x="28504" y="146902"/>
                  <a:pt x="28504" y="292952"/>
                </a:cubicBezTo>
                <a:cubicBezTo>
                  <a:pt x="28504" y="439002"/>
                  <a:pt x="146901" y="557399"/>
                  <a:pt x="292951" y="557399"/>
                </a:cubicBezTo>
                <a:cubicBezTo>
                  <a:pt x="439001" y="557399"/>
                  <a:pt x="557398" y="439002"/>
                  <a:pt x="557398" y="292952"/>
                </a:cubicBezTo>
                <a:cubicBezTo>
                  <a:pt x="557398" y="146902"/>
                  <a:pt x="439001" y="28505"/>
                  <a:pt x="292951" y="28505"/>
                </a:cubicBezTo>
                <a:close/>
                <a:moveTo>
                  <a:pt x="292952" y="0"/>
                </a:moveTo>
                <a:cubicBezTo>
                  <a:pt x="454745" y="0"/>
                  <a:pt x="585904" y="131159"/>
                  <a:pt x="585904" y="292952"/>
                </a:cubicBezTo>
                <a:cubicBezTo>
                  <a:pt x="585904" y="454745"/>
                  <a:pt x="454745" y="585904"/>
                  <a:pt x="292952" y="585904"/>
                </a:cubicBezTo>
                <a:cubicBezTo>
                  <a:pt x="131159" y="585904"/>
                  <a:pt x="0" y="454745"/>
                  <a:pt x="0" y="292952"/>
                </a:cubicBezTo>
                <a:cubicBezTo>
                  <a:pt x="0" y="131159"/>
                  <a:pt x="131159" y="0"/>
                  <a:pt x="292952" y="0"/>
                </a:cubicBezTo>
                <a:close/>
              </a:path>
            </a:pathLst>
          </a:cu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963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5" grpId="1"/>
      <p:bldP spid="18" grpId="0"/>
      <p:bldP spid="18" grpId="1"/>
      <p:bldP spid="19" grpId="0" animBg="1"/>
      <p:bldP spid="19" grpId="1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368379"/>
              </p:ext>
            </p:extLst>
          </p:nvPr>
        </p:nvGraphicFramePr>
        <p:xfrm>
          <a:off x="183605" y="240026"/>
          <a:ext cx="4277574" cy="2903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圖表 12"/>
          <p:cNvGraphicFramePr/>
          <p:nvPr>
            <p:extLst>
              <p:ext uri="{D42A27DB-BD31-4B8C-83A1-F6EECF244321}">
                <p14:modId xmlns:p14="http://schemas.microsoft.com/office/powerpoint/2010/main" val="2603569743"/>
              </p:ext>
            </p:extLst>
          </p:nvPr>
        </p:nvGraphicFramePr>
        <p:xfrm>
          <a:off x="4525072" y="1657350"/>
          <a:ext cx="7304978" cy="5017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橢圓形圖說文字 1"/>
          <p:cNvSpPr/>
          <p:nvPr/>
        </p:nvSpPr>
        <p:spPr>
          <a:xfrm>
            <a:off x="5462332" y="4446270"/>
            <a:ext cx="458408" cy="263682"/>
          </a:xfrm>
          <a:prstGeom prst="wedgeEllipseCallout">
            <a:avLst>
              <a:gd name="adj1" fmla="val 36516"/>
              <a:gd name="adj2" fmla="val 7550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橢圓形圖說文字 16"/>
          <p:cNvSpPr/>
          <p:nvPr/>
        </p:nvSpPr>
        <p:spPr>
          <a:xfrm>
            <a:off x="7399020" y="2914650"/>
            <a:ext cx="1047750" cy="400050"/>
          </a:xfrm>
          <a:prstGeom prst="wedgeEllipseCallout">
            <a:avLst>
              <a:gd name="adj1" fmla="val -27046"/>
              <a:gd name="adj2" fmla="val 9583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120</a:t>
            </a:r>
            <a:r>
              <a:rPr lang="zh-TW" altLang="en-US" sz="1400" dirty="0" smtClean="0">
                <a:solidFill>
                  <a:schemeClr val="tx1"/>
                </a:solidFill>
              </a:rPr>
              <a:t>、</a:t>
            </a:r>
            <a:r>
              <a:rPr lang="en-US" altLang="zh-TW" sz="1400" dirty="0" smtClean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橢圓形圖說文字 17"/>
          <p:cNvSpPr/>
          <p:nvPr/>
        </p:nvSpPr>
        <p:spPr>
          <a:xfrm>
            <a:off x="8830883" y="4011930"/>
            <a:ext cx="644587" cy="434340"/>
          </a:xfrm>
          <a:prstGeom prst="wedgeEllipseCallout">
            <a:avLst>
              <a:gd name="adj1" fmla="val 19241"/>
              <a:gd name="adj2" fmla="val 8092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150</a:t>
            </a:r>
            <a:endParaRPr lang="en-US" altLang="zh-TW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98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Graphic spid="13" grpId="0">
        <p:bldAsOne/>
      </p:bldGraphic>
      <p:bldP spid="2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訪談發現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431" y="1922205"/>
            <a:ext cx="29698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請問自己覺得自己平時在過馬路時謹慎嗎</a:t>
            </a:r>
            <a:r>
              <a:rPr lang="en-US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?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可以舉例說明更</a:t>
            </a: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好</a:t>
            </a:r>
            <a:endParaRPr lang="en-US" altLang="zh-TW" sz="2000" b="1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當時</a:t>
            </a: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使用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心裡</a:t>
            </a: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的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感受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?(e.g</a:t>
            </a:r>
            <a:r>
              <a:rPr lang="en-US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.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安全感、是否會有壓力</a:t>
            </a:r>
            <a:r>
              <a:rPr lang="en-US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9969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8368664" y="3260216"/>
            <a:ext cx="3632835" cy="3437255"/>
          </a:xfrm>
          <a:prstGeom prst="rect">
            <a:avLst/>
          </a:prstGeom>
          <a:blipFill rotWithShape="1"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4315" y="216722"/>
            <a:ext cx="3708400" cy="3447415"/>
          </a:xfrm>
          <a:prstGeom prst="rect">
            <a:avLst/>
          </a:prstGeom>
          <a:blipFill rotWithShape="1"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11"/>
          <p:cNvSpPr txBox="1"/>
          <p:nvPr/>
        </p:nvSpPr>
        <p:spPr>
          <a:xfrm>
            <a:off x="4106544" y="216722"/>
            <a:ext cx="7266305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請問自己覺得自己平時在過馬路時謹慎嗎</a:t>
            </a:r>
            <a:r>
              <a:rPr lang="en-US" altLang="zh-TW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?</a:t>
            </a: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可以舉例說明更好</a:t>
            </a:r>
            <a:endParaRPr lang="en-US" altLang="zh-TW" sz="2000" b="1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06546" y="858888"/>
            <a:ext cx="747267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User1: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謹慎。會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聽周遭的聲音，然後跟著其他行人一起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行動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User2: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普通。行走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時會先確認大該方向之後，覺得可以走出發，小細節等到時候再確定</a:t>
            </a:r>
            <a:endParaRPr lang="en-US" altLang="zh-CN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User3: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不謹慎，想去哪裡都是先走再說，不會考慮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細節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發現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謹慎的使用者在任務中的猶豫次數會比較少，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推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測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”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猶豫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”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不是由導航軟體造成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的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234315" y="3873299"/>
            <a:ext cx="694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當時使用的感受</a:t>
            </a:r>
            <a:r>
              <a:rPr lang="en-US" altLang="zh-TW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?(</a:t>
            </a: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心理方面</a:t>
            </a:r>
            <a:r>
              <a:rPr lang="en-US" altLang="zh-TW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e.g.</a:t>
            </a: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安全感、是否會有壓力</a:t>
            </a:r>
            <a:r>
              <a:rPr lang="en-US" altLang="zh-TW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  <a:endParaRPr sz="2000" b="1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34315" y="4405626"/>
            <a:ext cx="759936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User1: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有點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緊張。因為不太常用導航系統，所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以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感覺有點緊張</a:t>
            </a:r>
            <a:endParaRPr lang="en-US" altLang="zh-CN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User2: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沒有特別感受。就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只是一般的走路，加上熟悉校園，所以不會有太大反應，只是這次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路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    線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跟平常不太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一樣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，所以沒那麼從容</a:t>
            </a:r>
            <a:endParaRPr lang="en-US" altLang="zh-CN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User3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感到不安、緊張。在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馬路口時因為沒有凸起的路面讓它當作依據，所以會緊張、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不安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發現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不同使用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者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緊張的原因不同，無法確定這個軟體會讓視障使用者不安。但是有一位使用者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  因為路況資訊不足所以感到緊張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1653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2" grpId="0" animBg="1"/>
      <p:bldP spid="22" grpId="1" bldLvl="0" animBg="1"/>
      <p:bldP spid="25" grpId="0"/>
      <p:bldP spid="27" grpId="0"/>
      <p:bldP spid="27" grpId="1"/>
      <p:bldP spid="28" grpId="0"/>
      <p:bldP spid="29" grpId="0"/>
      <p:bldP spid="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-4445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使用性問題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431" y="1922205"/>
            <a:ext cx="2969895" cy="117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對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當前系統的滿意度</a:t>
            </a:r>
            <a:r>
              <a:rPr lang="en-US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(1~10)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，</a:t>
            </a: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並說出優缺點原因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4318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V="1">
            <a:off x="1221218" y="6544385"/>
            <a:ext cx="10361930" cy="5080"/>
          </a:xfrm>
          <a:prstGeom prst="line">
            <a:avLst/>
          </a:prstGeom>
          <a:ln w="25400">
            <a:solidFill>
              <a:srgbClr val="353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492614" y="5723776"/>
            <a:ext cx="521335" cy="9169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4315" y="528953"/>
            <a:ext cx="6201410" cy="433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對當前系統的滿意度</a:t>
            </a:r>
            <a:r>
              <a:rPr lang="en-US" altLang="zh-TW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(1~10)</a:t>
            </a: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，並詢問優缺點原因</a:t>
            </a:r>
            <a:endParaRPr lang="zh-CN" altLang="en-US" sz="2000" b="1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4315" y="1273107"/>
            <a:ext cx="740681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User1:6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可用，但是沒很好用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優點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可以給出大概的方向感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缺點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不知道是否有人行道、路邊車輛，而且外面的路況一定更複雜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，路況細部資訊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不夠</a:t>
            </a:r>
          </a:p>
          <a:p>
            <a:pPr fontAlgn="auto">
              <a:lnSpc>
                <a:spcPct val="150000"/>
              </a:lnSpc>
            </a:pPr>
            <a:endParaRPr lang="en-US" altLang="zh-TW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User2: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7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一般人的路線不見得適合盲人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優點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大方向來說已經夠準了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缺點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盲人不方便選擇自己喜歡的路線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一般人多已距離為考量，但這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位測試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者希望走直線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多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  的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路線就算多花點時間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  <a:endParaRPr lang="en-US" altLang="zh-CN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en-US" altLang="zh-CN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User3: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7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en-US" altLang="zh-TW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因為偏離路線時不會馬上提醒，覺得偵測的不夠準確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優點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可以提供大方向</a:t>
            </a: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缺點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障礙物的資訊提供不夠，而且最近的路不見得是最適合視障者的路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(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這位測試者的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方向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   感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不太好，所以不方便在大路口行動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)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820899" y="297343"/>
            <a:ext cx="4193050" cy="5199852"/>
          </a:xfrm>
          <a:prstGeom prst="rect">
            <a:avLst/>
          </a:prstGeom>
          <a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234315" y="5921683"/>
            <a:ext cx="85294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發現</a:t>
            </a:r>
            <a:r>
              <a:rPr lang="en-US" altLang="zh-TW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: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使用者都覺得導航可以提供他們大概的方向已經很有幫助。但是都缺乏視障人士需要的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資訊</a:t>
            </a:r>
            <a:endParaRPr lang="zh-TW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258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4" grpId="0"/>
      <p:bldP spid="15" grpId="0"/>
      <p:bldP spid="15" grpId="1"/>
      <p:bldP spid="11" grpId="0" animBg="1"/>
      <p:bldP spid="1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63365" y="553085"/>
            <a:ext cx="4812458" cy="5578865"/>
          </a:xfrm>
          <a:prstGeom prst="rect">
            <a:avLst/>
          </a:prstGeom>
          <a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25170" y="1511935"/>
            <a:ext cx="705278" cy="640080"/>
            <a:chOff x="2095" y="2746"/>
            <a:chExt cx="1008" cy="1008"/>
          </a:xfrm>
        </p:grpSpPr>
        <p:sp>
          <p:nvSpPr>
            <p:cNvPr id="5" name="椭圆 4"/>
            <p:cNvSpPr/>
            <p:nvPr/>
          </p:nvSpPr>
          <p:spPr>
            <a:xfrm>
              <a:off x="2095" y="2746"/>
              <a:ext cx="1008" cy="1008"/>
            </a:xfrm>
            <a:prstGeom prst="ellipse">
              <a:avLst/>
            </a:prstGeom>
            <a:noFill/>
            <a:ln>
              <a:solidFill>
                <a:srgbClr val="35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华文细黑" panose="02010600040101010101" charset="-122"/>
                <a:ea typeface="华文细黑" panose="02010600040101010101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145" y="2796"/>
              <a:ext cx="909" cy="909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华文细黑" panose="02010600040101010101" charset="-122"/>
                  <a:ea typeface="华文细黑" panose="02010600040101010101" charset="-122"/>
                </a:rPr>
                <a:t>01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724534" y="570845"/>
            <a:ext cx="1470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TW" altLang="en-US" sz="2000" b="1" dirty="0" smtClean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使用</a:t>
            </a:r>
            <a:r>
              <a:rPr lang="zh-TW" altLang="en-US" sz="2000" b="1" dirty="0">
                <a:latin typeface="华文细黑" panose="02010600040101010101" charset="-122"/>
                <a:ea typeface="华文细黑" panose="02010600040101010101" charset="-122"/>
                <a:sym typeface="+mn-ea"/>
              </a:rPr>
              <a:t>性問題</a:t>
            </a:r>
            <a:endParaRPr lang="zh-CN" altLang="en-US" sz="2000" b="1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58925" y="1642339"/>
            <a:ext cx="50431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路況細部資訊不夠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00322" y="2727016"/>
            <a:ext cx="702744" cy="640080"/>
            <a:chOff x="2095" y="2746"/>
            <a:chExt cx="1008" cy="1008"/>
          </a:xfrm>
        </p:grpSpPr>
        <p:sp>
          <p:nvSpPr>
            <p:cNvPr id="9" name="椭圆 8"/>
            <p:cNvSpPr/>
            <p:nvPr/>
          </p:nvSpPr>
          <p:spPr>
            <a:xfrm>
              <a:off x="2095" y="2746"/>
              <a:ext cx="1008" cy="1008"/>
            </a:xfrm>
            <a:prstGeom prst="ellipse">
              <a:avLst/>
            </a:prstGeom>
            <a:noFill/>
            <a:ln>
              <a:solidFill>
                <a:srgbClr val="35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145" y="2796"/>
              <a:ext cx="909" cy="909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华文细黑" panose="02010600040101010101" charset="-122"/>
                  <a:ea typeface="华文细黑" panose="02010600040101010101" charset="-122"/>
                  <a:sym typeface="+mn-ea"/>
                </a:rPr>
                <a:t>02</a:t>
              </a:r>
              <a:endParaRPr lang="zh-CN" altLang="en-US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558925" y="2854865"/>
            <a:ext cx="5043170" cy="379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提供的資訊不是視障者需要的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35180" y="5157178"/>
            <a:ext cx="705913" cy="640080"/>
            <a:chOff x="2095" y="2746"/>
            <a:chExt cx="1008" cy="1008"/>
          </a:xfrm>
        </p:grpSpPr>
        <p:sp>
          <p:nvSpPr>
            <p:cNvPr id="16" name="椭圆 15"/>
            <p:cNvSpPr/>
            <p:nvPr/>
          </p:nvSpPr>
          <p:spPr>
            <a:xfrm>
              <a:off x="2095" y="2746"/>
              <a:ext cx="1008" cy="1008"/>
            </a:xfrm>
            <a:prstGeom prst="ellipse">
              <a:avLst/>
            </a:prstGeom>
            <a:noFill/>
            <a:ln>
              <a:solidFill>
                <a:srgbClr val="35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2145" y="2796"/>
              <a:ext cx="909" cy="909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latin typeface="华文细黑" panose="02010600040101010101" charset="-122"/>
                  <a:ea typeface="华文细黑" panose="02010600040101010101" charset="-122"/>
                  <a:sym typeface="+mn-ea"/>
                </a:rPr>
                <a:t>04</a:t>
              </a:r>
              <a:endParaRPr lang="zh-CN" altLang="en-US" dirty="0"/>
            </a:p>
          </p:txBody>
        </p:sp>
      </p:grpSp>
      <p:grpSp>
        <p:nvGrpSpPr>
          <p:cNvPr id="20" name="组合 14"/>
          <p:cNvGrpSpPr/>
          <p:nvPr/>
        </p:nvGrpSpPr>
        <p:grpSpPr>
          <a:xfrm>
            <a:off x="724852" y="3942097"/>
            <a:ext cx="705913" cy="640080"/>
            <a:chOff x="2095" y="2746"/>
            <a:chExt cx="1008" cy="1008"/>
          </a:xfrm>
        </p:grpSpPr>
        <p:sp>
          <p:nvSpPr>
            <p:cNvPr id="21" name="椭圆 15"/>
            <p:cNvSpPr/>
            <p:nvPr/>
          </p:nvSpPr>
          <p:spPr>
            <a:xfrm>
              <a:off x="2095" y="2746"/>
              <a:ext cx="1008" cy="1008"/>
            </a:xfrm>
            <a:prstGeom prst="ellipse">
              <a:avLst/>
            </a:prstGeom>
            <a:noFill/>
            <a:ln>
              <a:solidFill>
                <a:srgbClr val="35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16"/>
            <p:cNvSpPr/>
            <p:nvPr/>
          </p:nvSpPr>
          <p:spPr>
            <a:xfrm>
              <a:off x="2145" y="2796"/>
              <a:ext cx="909" cy="909"/>
            </a:xfrm>
            <a:prstGeom prst="ellipse">
              <a:avLst/>
            </a:prstGeom>
            <a:solidFill>
              <a:srgbClr val="3535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华文细黑" panose="02010600040101010101" charset="-122"/>
                  <a:ea typeface="华文细黑" panose="02010600040101010101" charset="-122"/>
                  <a:sym typeface="+mn-ea"/>
                </a:rPr>
                <a:t>03</a:t>
              </a:r>
              <a:endParaRPr lang="zh-CN" altLang="en-US" dirty="0"/>
            </a:p>
          </p:txBody>
        </p:sp>
      </p:grpSp>
      <p:sp>
        <p:nvSpPr>
          <p:cNvPr id="23" name="文本框 18"/>
          <p:cNvSpPr txBox="1"/>
          <p:nvPr/>
        </p:nvSpPr>
        <p:spPr>
          <a:xfrm>
            <a:off x="1558925" y="5290137"/>
            <a:ext cx="5043170" cy="379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方向、定位不夠精準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4" name="文本框 18"/>
          <p:cNvSpPr txBox="1"/>
          <p:nvPr/>
        </p:nvSpPr>
        <p:spPr>
          <a:xfrm>
            <a:off x="1558925" y="4072501"/>
            <a:ext cx="29738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不會提示人行道、安全的道路在哪裡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4827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3" grpId="0"/>
      <p:bldP spid="13" grpId="1"/>
      <p:bldP spid="14" grpId="0"/>
      <p:bldP spid="14" grpId="1"/>
      <p:bldP spid="23" grpId="0"/>
      <p:bldP spid="23" grpId="1"/>
      <p:bldP spid="24" grpId="0"/>
      <p:bldP spid="2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0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系統修改建議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3431" y="2139342"/>
            <a:ext cx="2969895" cy="434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改善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9" name="文本框 10"/>
          <p:cNvSpPr txBox="1"/>
          <p:nvPr/>
        </p:nvSpPr>
        <p:spPr>
          <a:xfrm>
            <a:off x="7143430" y="2817542"/>
            <a:ext cx="2969895" cy="434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新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增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24329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40"/>
          <p:cNvSpPr/>
          <p:nvPr/>
        </p:nvSpPr>
        <p:spPr>
          <a:xfrm>
            <a:off x="6128862" y="224169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353535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Shape 2540"/>
          <p:cNvSpPr/>
          <p:nvPr/>
        </p:nvSpPr>
        <p:spPr>
          <a:xfrm>
            <a:off x="6128862" y="3090347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353535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7" name="Straight Connector 75"/>
          <p:cNvCxnSpPr/>
          <p:nvPr/>
        </p:nvCxnSpPr>
        <p:spPr>
          <a:xfrm>
            <a:off x="6235700" y="1672432"/>
            <a:ext cx="720000" cy="0"/>
          </a:xfrm>
          <a:prstGeom prst="line">
            <a:avLst/>
          </a:prstGeom>
          <a:ln w="57150">
            <a:solidFill>
              <a:srgbClr val="353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128862" y="1103174"/>
            <a:ext cx="3521710" cy="5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TW" altLang="en-US" sz="28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改善</a:t>
            </a:r>
            <a:endParaRPr lang="en-US" altLang="zh-CN" sz="28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94780" y="2165593"/>
            <a:ext cx="56972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視障者不能用視覺搭配導航來使用，所以在定位、定向需要更加精確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94780" y="3022298"/>
            <a:ext cx="51828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導航路線的資訊可以提供多一點，不再只是以時間作為選擇依據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grpSp>
        <p:nvGrpSpPr>
          <p:cNvPr id="11" name="组合 6"/>
          <p:cNvGrpSpPr/>
          <p:nvPr/>
        </p:nvGrpSpPr>
        <p:grpSpPr>
          <a:xfrm>
            <a:off x="445655" y="1103174"/>
            <a:ext cx="4594975" cy="4439361"/>
            <a:chOff x="1314" y="1179"/>
            <a:chExt cx="6084" cy="8442"/>
          </a:xfrm>
        </p:grpSpPr>
        <p:sp>
          <p:nvSpPr>
            <p:cNvPr id="12" name="矩形 11"/>
            <p:cNvSpPr/>
            <p:nvPr/>
          </p:nvSpPr>
          <p:spPr>
            <a:xfrm>
              <a:off x="1314" y="1179"/>
              <a:ext cx="6084" cy="8442"/>
            </a:xfrm>
            <a:prstGeom prst="rect">
              <a:avLst/>
            </a:prstGeom>
            <a:blipFill rotWithShape="1">
              <a:blip r:embed="rId3" cstate="email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314" y="1179"/>
              <a:ext cx="6084" cy="8442"/>
            </a:xfrm>
            <a:prstGeom prst="rect">
              <a:avLst/>
            </a:prstGeom>
            <a:solidFill>
              <a:srgbClr val="353535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Shape 2540"/>
          <p:cNvSpPr/>
          <p:nvPr/>
        </p:nvSpPr>
        <p:spPr>
          <a:xfrm>
            <a:off x="6128862" y="501751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353535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Shape 2540"/>
          <p:cNvSpPr/>
          <p:nvPr/>
        </p:nvSpPr>
        <p:spPr>
          <a:xfrm>
            <a:off x="6136324" y="570657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353535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0" name="Straight Connector 75"/>
          <p:cNvCxnSpPr/>
          <p:nvPr/>
        </p:nvCxnSpPr>
        <p:spPr>
          <a:xfrm>
            <a:off x="6235700" y="4448261"/>
            <a:ext cx="720000" cy="0"/>
          </a:xfrm>
          <a:prstGeom prst="line">
            <a:avLst/>
          </a:prstGeom>
          <a:ln w="57150">
            <a:solidFill>
              <a:srgbClr val="3535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128862" y="3879003"/>
            <a:ext cx="3521710" cy="56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TW" altLang="en-US" sz="2800" b="1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新</a:t>
            </a:r>
            <a:r>
              <a:rPr lang="zh-TW" altLang="en-US" sz="2800" b="1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增</a:t>
            </a:r>
            <a:endParaRPr lang="en-US" altLang="zh-CN" sz="2800" b="1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22" name="文本框 12"/>
          <p:cNvSpPr txBox="1"/>
          <p:nvPr/>
        </p:nvSpPr>
        <p:spPr>
          <a:xfrm>
            <a:off x="6494780" y="4941422"/>
            <a:ext cx="56972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導航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途中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用影像辨識把細部路況轉換成聲音，讓視障者更安心、安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全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3" name="文本框 4"/>
          <p:cNvSpPr txBox="1"/>
          <p:nvPr/>
        </p:nvSpPr>
        <p:spPr>
          <a:xfrm>
            <a:off x="6494780" y="5680688"/>
            <a:ext cx="5182870" cy="36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</a:rPr>
              <a:t>結合即時視訊，讓視障者遇到困難時可以透過遠端他人的協助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24" name="Shape 2540"/>
          <p:cNvSpPr/>
          <p:nvPr/>
        </p:nvSpPr>
        <p:spPr>
          <a:xfrm>
            <a:off x="6136324" y="6415527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353535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7965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文本框 4"/>
          <p:cNvSpPr txBox="1"/>
          <p:nvPr/>
        </p:nvSpPr>
        <p:spPr>
          <a:xfrm>
            <a:off x="6494780" y="6313849"/>
            <a:ext cx="51828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增加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群組功能，讓視障者能參考其他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人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的路線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3376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 animBg="1"/>
      <p:bldP spid="18" grpId="0"/>
      <p:bldP spid="13" grpId="0"/>
      <p:bldP spid="13" grpId="1"/>
      <p:bldP spid="5" grpId="0"/>
      <p:bldP spid="5" grpId="1"/>
      <p:bldP spid="16" grpId="0" animBg="1"/>
      <p:bldP spid="19" grpId="0" animBg="1"/>
      <p:bldP spid="21" grpId="0"/>
      <p:bldP spid="22" grpId="0"/>
      <p:bldP spid="22" grpId="1"/>
      <p:bldP spid="23" grpId="0"/>
      <p:bldP spid="23" grpId="1"/>
      <p:bldP spid="24" grpId="0" animBg="1"/>
      <p:bldP spid="25" grpId="0"/>
      <p:bldP spid="2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495516917951"/>
          <p:cNvPicPr>
            <a:picLocks noChangeAspect="1"/>
          </p:cNvPicPr>
          <p:nvPr/>
        </p:nvPicPr>
        <p:blipFill>
          <a:blip r:embed="rId3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005" y="2433320"/>
            <a:ext cx="11350625" cy="40132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07200" y="0"/>
            <a:ext cx="3642360" cy="687324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63410" y="153670"/>
            <a:ext cx="3329940" cy="6550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07200" y="1231900"/>
            <a:ext cx="3642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反</a:t>
            </a:r>
            <a:r>
              <a:rPr lang="zh-TW" altLang="en-US" sz="2800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思</a:t>
            </a:r>
            <a:endParaRPr lang="zh-CN" altLang="en-US" sz="28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63410" y="2139342"/>
            <a:ext cx="340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zh-TW" sz="2000" b="1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測試遇到</a:t>
            </a:r>
            <a:r>
              <a:rPr lang="zh-TW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的問題</a:t>
            </a:r>
            <a:r>
              <a:rPr lang="en-US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 &amp; </a:t>
            </a:r>
            <a:r>
              <a:rPr lang="zh-TW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限制</a:t>
            </a:r>
            <a:endParaRPr lang="en-US" altLang="zh-TW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TW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方法檢討</a:t>
            </a:r>
            <a:r>
              <a:rPr lang="zh-TW" altLang="en-US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、</a:t>
            </a:r>
            <a:r>
              <a:rPr lang="zh-TW" altLang="zh-TW" sz="20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改進</a:t>
            </a:r>
            <a:endParaRPr lang="zh-CN" altLang="en-US" sz="2000" b="1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3452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368763" y="-2540"/>
            <a:ext cx="5296277" cy="6860540"/>
            <a:chOff x="8787" y="-12"/>
            <a:chExt cx="9499" cy="10804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4" name="矩形 3"/>
            <p:cNvSpPr/>
            <p:nvPr/>
          </p:nvSpPr>
          <p:spPr>
            <a:xfrm>
              <a:off x="15246" y="-12"/>
              <a:ext cx="3041" cy="627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2010" y="-12"/>
              <a:ext cx="3041" cy="304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2010" y="3224"/>
              <a:ext cx="3041" cy="304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8787" y="3224"/>
              <a:ext cx="3041" cy="304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787" y="6460"/>
              <a:ext cx="3041" cy="4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980421" y="4118160"/>
            <a:ext cx="2969895" cy="56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zh-TW" sz="2800" b="1" dirty="0">
                <a:latin typeface="华文细黑" panose="02010600040101010101" charset="-122"/>
                <a:ea typeface="华文细黑" panose="02010600040101010101" charset="-122"/>
              </a:rPr>
              <a:t>方法檢討</a:t>
            </a:r>
            <a:r>
              <a:rPr lang="zh-TW" altLang="en-US" sz="2800" b="1" dirty="0">
                <a:latin typeface="华文细黑" panose="02010600040101010101" charset="-122"/>
                <a:ea typeface="华文细黑" panose="02010600040101010101" charset="-122"/>
              </a:rPr>
              <a:t>、</a:t>
            </a:r>
            <a:r>
              <a:rPr lang="zh-TW" altLang="zh-TW" sz="2800" b="1" dirty="0">
                <a:latin typeface="华文细黑" panose="02010600040101010101" charset="-122"/>
                <a:ea typeface="华文细黑" panose="02010600040101010101" charset="-122"/>
              </a:rPr>
              <a:t>改進</a:t>
            </a:r>
            <a:endParaRPr lang="zh-CN" altLang="en-US" sz="2800" b="1" dirty="0"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80421" y="4687418"/>
            <a:ext cx="55815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如果真的找不到人，可以讓一般人矇著眼睛受測</a:t>
            </a:r>
            <a:endParaRPr lang="en-US" altLang="zh-TW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應該要換到一個大家都不熟悉的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地方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在校園以外的地方進行測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試</a:t>
            </a:r>
            <a:endParaRPr lang="en-US" altLang="zh-CN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171450" indent="-1714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工作分配可以在測試的時候先調整</a:t>
            </a: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2767" y="547676"/>
            <a:ext cx="419608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zh-TW" sz="2800" b="1" dirty="0">
                <a:latin typeface="华文细黑" panose="02010600040101010101" charset="-122"/>
                <a:ea typeface="华文细黑" panose="02010600040101010101" charset="-122"/>
              </a:rPr>
              <a:t>測試遇到的問題</a:t>
            </a:r>
            <a:r>
              <a:rPr lang="en-US" altLang="zh-TW" sz="2800" b="1" dirty="0">
                <a:latin typeface="华文细黑" panose="02010600040101010101" charset="-122"/>
                <a:ea typeface="华文细黑" panose="02010600040101010101" charset="-122"/>
              </a:rPr>
              <a:t> &amp; </a:t>
            </a:r>
            <a:r>
              <a:rPr lang="zh-TW" altLang="zh-TW" sz="2800" b="1" dirty="0">
                <a:latin typeface="华文细黑" panose="02010600040101010101" charset="-122"/>
                <a:ea typeface="华文细黑" panose="02010600040101010101" charset="-122"/>
              </a:rPr>
              <a:t>限制</a:t>
            </a:r>
            <a:endParaRPr lang="en-US" altLang="zh-TW" sz="2800" b="1" dirty="0"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2767" y="1459492"/>
            <a:ext cx="40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符合受測資格的人不好找</a:t>
            </a:r>
            <a:endParaRPr lang="en-US" altLang="zh-TW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導航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規劃的路線跟他們習慣的路線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不同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路上的行人、車輛都會禮讓我們，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不</a:t>
            </a: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接近</a:t>
            </a:r>
            <a:r>
              <a:rPr lang="zh-TW" altLang="en-US" sz="1400" dirty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真實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 smtClean="0">
                <a:solidFill>
                  <a:srgbClr val="353535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人力不太足夠，需要一邊輔助受測者一邊紀錄</a:t>
            </a: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sz="1400" dirty="0" smtClean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  <a:p>
            <a:pPr marL="285750" indent="-285750" algn="l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rgbClr val="353535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3013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3" grpId="1"/>
      <p:bldP spid="14" grpId="0"/>
      <p:bldP spid="14" grpId="1"/>
      <p:bldP spid="14" grpId="2"/>
      <p:bldP spid="16" grpId="0"/>
      <p:bldP spid="1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445" y="-29210"/>
            <a:ext cx="12200890" cy="69157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1955" y="429260"/>
            <a:ext cx="11388090" cy="5998845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6802" y="1725566"/>
            <a:ext cx="11116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zh-TW" altLang="en-US" sz="72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rPr>
              <a:t>謝謝大家</a:t>
            </a:r>
            <a:endParaRPr lang="en-US" altLang="zh-CN" sz="72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0706" y="4003494"/>
            <a:ext cx="2328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zh-TW" sz="40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Q&amp;A</a:t>
            </a:r>
            <a:r>
              <a:rPr lang="zh-TW" altLang="en-US" sz="400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sym typeface="+mn-ea"/>
              </a:rPr>
              <a:t>時間</a:t>
            </a:r>
            <a:endParaRPr lang="zh-CN" altLang="en-US" sz="4000" dirty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9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5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4" grpId="0"/>
      <p:bldP spid="14" grpId="2"/>
      <p:bldP spid="14" grpId="4"/>
      <p:bldP spid="9" grpId="0"/>
      <p:bldP spid="9" grpId="2"/>
      <p:bldP spid="9" grpId="3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1210</Words>
  <Application>Microsoft Office PowerPoint</Application>
  <PresentationFormat>寬螢幕</PresentationFormat>
  <Paragraphs>178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0" baseType="lpstr">
      <vt:lpstr>Gill Sans</vt:lpstr>
      <vt:lpstr>微软雅黑</vt:lpstr>
      <vt:lpstr>宋体</vt:lpstr>
      <vt:lpstr>华文细黑</vt:lpstr>
      <vt:lpstr>新細明體</vt:lpstr>
      <vt:lpstr>Arial</vt:lpstr>
      <vt:lpstr>Calibri</vt:lpstr>
      <vt:lpstr>Calibri Light</vt:lpstr>
      <vt:lpstr>第一PPT，www.1ppt.com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灰色雅致</dc:title>
  <dc:creator>第一PPT</dc:creator>
  <cp:keywords>www.1ppt.com</cp:keywords>
  <dc:description>www.1ppt.com</dc:description>
  <cp:lastModifiedBy>X450J</cp:lastModifiedBy>
  <cp:revision>71</cp:revision>
  <dcterms:created xsi:type="dcterms:W3CDTF">2017-08-14T13:13:00Z</dcterms:created>
  <dcterms:modified xsi:type="dcterms:W3CDTF">2018-10-30T15:55:12Z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2052-10.1.0.6690</vt:lpwstr>
  </property>
</Properties>
</file>