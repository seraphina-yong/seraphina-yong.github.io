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tags/tag1.xml" ContentType="application/vnd.openxmlformats-officedocument.presentationml.tags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66"/>
  </p:notesMasterIdLst>
  <p:handoutMasterIdLst>
    <p:handoutMasterId r:id="rId67"/>
  </p:handoutMasterIdLst>
  <p:sldIdLst>
    <p:sldId id="370" r:id="rId2"/>
    <p:sldId id="394" r:id="rId3"/>
    <p:sldId id="371" r:id="rId4"/>
    <p:sldId id="437" r:id="rId5"/>
    <p:sldId id="441" r:id="rId6"/>
    <p:sldId id="465" r:id="rId7"/>
    <p:sldId id="466" r:id="rId8"/>
    <p:sldId id="469" r:id="rId9"/>
    <p:sldId id="470" r:id="rId10"/>
    <p:sldId id="468" r:id="rId11"/>
    <p:sldId id="455" r:id="rId12"/>
    <p:sldId id="376" r:id="rId13"/>
    <p:sldId id="398" r:id="rId14"/>
    <p:sldId id="399" r:id="rId15"/>
    <p:sldId id="402" r:id="rId16"/>
    <p:sldId id="403" r:id="rId17"/>
    <p:sldId id="442" r:id="rId18"/>
    <p:sldId id="456" r:id="rId19"/>
    <p:sldId id="457" r:id="rId20"/>
    <p:sldId id="458" r:id="rId21"/>
    <p:sldId id="459" r:id="rId22"/>
    <p:sldId id="472" r:id="rId23"/>
    <p:sldId id="372" r:id="rId24"/>
    <p:sldId id="373" r:id="rId25"/>
    <p:sldId id="374" r:id="rId26"/>
    <p:sldId id="475" r:id="rId27"/>
    <p:sldId id="476" r:id="rId28"/>
    <p:sldId id="477" r:id="rId29"/>
    <p:sldId id="478" r:id="rId30"/>
    <p:sldId id="443" r:id="rId31"/>
    <p:sldId id="444" r:id="rId32"/>
    <p:sldId id="404" r:id="rId33"/>
    <p:sldId id="405" r:id="rId34"/>
    <p:sldId id="406" r:id="rId35"/>
    <p:sldId id="407" r:id="rId36"/>
    <p:sldId id="408" r:id="rId37"/>
    <p:sldId id="409" r:id="rId38"/>
    <p:sldId id="410" r:id="rId39"/>
    <p:sldId id="411" r:id="rId40"/>
    <p:sldId id="412" r:id="rId41"/>
    <p:sldId id="413" r:id="rId42"/>
    <p:sldId id="414" r:id="rId43"/>
    <p:sldId id="415" r:id="rId44"/>
    <p:sldId id="416" r:id="rId45"/>
    <p:sldId id="417" r:id="rId46"/>
    <p:sldId id="418" r:id="rId47"/>
    <p:sldId id="464" r:id="rId48"/>
    <p:sldId id="430" r:id="rId49"/>
    <p:sldId id="419" r:id="rId50"/>
    <p:sldId id="420" r:id="rId51"/>
    <p:sldId id="421" r:id="rId52"/>
    <p:sldId id="422" r:id="rId53"/>
    <p:sldId id="423" r:id="rId54"/>
    <p:sldId id="431" r:id="rId55"/>
    <p:sldId id="432" r:id="rId56"/>
    <p:sldId id="426" r:id="rId57"/>
    <p:sldId id="433" r:id="rId58"/>
    <p:sldId id="434" r:id="rId59"/>
    <p:sldId id="424" r:id="rId60"/>
    <p:sldId id="425" r:id="rId61"/>
    <p:sldId id="384" r:id="rId62"/>
    <p:sldId id="385" r:id="rId63"/>
    <p:sldId id="380" r:id="rId64"/>
    <p:sldId id="381" r:id="rId65"/>
  </p:sldIdLst>
  <p:sldSz cx="9906000" cy="6858000" type="A4"/>
  <p:notesSz cx="9928225" cy="679767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6600"/>
    <a:srgbClr val="0000FF"/>
    <a:srgbClr val="FF0066"/>
    <a:srgbClr val="000000"/>
    <a:srgbClr val="336633"/>
    <a:srgbClr val="97EE26"/>
    <a:srgbClr val="FFCC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63" autoAdjust="0"/>
  </p:normalViewPr>
  <p:slideViewPr>
    <p:cSldViewPr snapToGrid="0">
      <p:cViewPr varScale="1">
        <p:scale>
          <a:sx n="63" d="100"/>
          <a:sy n="63" d="100"/>
        </p:scale>
        <p:origin x="824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3" tIns="0" rIns="19043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abbbb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6100" y="0"/>
            <a:ext cx="430212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3" tIns="0" rIns="19043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9538"/>
            <a:ext cx="430212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3" tIns="0" rIns="19043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cccc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6100" y="6459538"/>
            <a:ext cx="430212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3" tIns="0" rIns="19043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0934507E-B603-4BC8-B865-FB0053BA2FD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33126" name="Rectangle 6"/>
          <p:cNvSpPr>
            <a:spLocks noChangeArrowheads="1"/>
          </p:cNvSpPr>
          <p:nvPr/>
        </p:nvSpPr>
        <p:spPr bwMode="auto">
          <a:xfrm>
            <a:off x="4203700" y="6477000"/>
            <a:ext cx="1520825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280" tIns="44435" rIns="87280" bIns="44435">
            <a:spAutoFit/>
          </a:bodyPr>
          <a:lstStyle>
            <a:lvl1pPr defTabSz="86836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defTabSz="86836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defTabSz="86836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defTabSz="86836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defTabSz="86836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altLang="zh-TW" sz="1200" smtClean="0">
                <a:latin typeface="Arial" charset="0"/>
              </a:rPr>
              <a:t>Page </a:t>
            </a:r>
            <a:fld id="{77E6FA2A-62A8-409A-BDCC-4F8327761770}" type="slidenum">
              <a:rPr lang="en-US" altLang="zh-TW" sz="1200" smtClean="0">
                <a:latin typeface="Arial" charset="0"/>
              </a:rPr>
              <a:pPr algn="ctr">
                <a:lnSpc>
                  <a:spcPct val="90000"/>
                </a:lnSpc>
                <a:defRPr/>
              </a:pPr>
              <a:t>‹#›</a:t>
            </a:fld>
            <a:endParaRPr lang="en-US" altLang="zh-TW" sz="1200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357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3" tIns="0" rIns="19043" bIns="0" numCol="1" anchor="t" anchorCtr="0" compatLnSpc="1">
            <a:prstTxWarp prst="textNoShape">
              <a:avLst/>
            </a:prstTxWarp>
          </a:bodyPr>
          <a:lstStyle>
            <a:lvl1pPr defTabSz="762000">
              <a:defRPr sz="1000" i="1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abbbb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6100" y="0"/>
            <a:ext cx="430212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3" tIns="0" rIns="19043" bIns="0" numCol="1" anchor="t" anchorCtr="0" compatLnSpc="1">
            <a:prstTxWarp prst="textNoShape">
              <a:avLst/>
            </a:prstTxWarp>
          </a:bodyPr>
          <a:lstStyle>
            <a:lvl1pPr algn="r" defTabSz="762000">
              <a:defRPr sz="1000" i="1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9538"/>
            <a:ext cx="430212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3" tIns="0" rIns="19043" bIns="0" numCol="1" anchor="b" anchorCtr="0" compatLnSpc="1">
            <a:prstTxWarp prst="textNoShape">
              <a:avLst/>
            </a:prstTxWarp>
          </a:bodyPr>
          <a:lstStyle>
            <a:lvl1pPr defTabSz="762000">
              <a:defRPr sz="1000" i="1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cccc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6100" y="6459538"/>
            <a:ext cx="430212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3" tIns="0" rIns="19043" bIns="0" numCol="1" anchor="b" anchorCtr="0" compatLnSpc="1">
            <a:prstTxWarp prst="textNoShape">
              <a:avLst/>
            </a:prstTxWarp>
          </a:bodyPr>
          <a:lstStyle>
            <a:lvl1pPr algn="r" defTabSz="762000">
              <a:defRPr sz="1000" i="1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fld id="{703966C2-19B8-49CB-AAB5-83A30A5042C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2388" y="3228975"/>
            <a:ext cx="7283450" cy="305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43" tIns="46020" rIns="92043" bIns="460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Body Text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73735" name="Rectangle 7"/>
          <p:cNvSpPr>
            <a:spLocks noChangeArrowheads="1"/>
          </p:cNvSpPr>
          <p:nvPr/>
        </p:nvSpPr>
        <p:spPr bwMode="auto">
          <a:xfrm>
            <a:off x="4586288" y="6477000"/>
            <a:ext cx="755650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280" tIns="44435" rIns="87280" bIns="44435">
            <a:spAutoFit/>
          </a:bodyPr>
          <a:lstStyle>
            <a:lvl1pPr defTabSz="86836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defTabSz="86836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defTabSz="86836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defTabSz="86836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defTabSz="86836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altLang="zh-TW" sz="1200" smtClean="0">
                <a:latin typeface="Arial" charset="0"/>
              </a:rPr>
              <a:t>Page </a:t>
            </a:r>
            <a:fld id="{1AAD8568-945B-405B-9F62-4E713134433C}" type="slidenum">
              <a:rPr lang="en-US" altLang="zh-TW" sz="1200" smtClean="0">
                <a:latin typeface="Arial" charset="0"/>
              </a:rPr>
              <a:pPr algn="ctr">
                <a:lnSpc>
                  <a:spcPct val="90000"/>
                </a:lnSpc>
                <a:defRPr/>
              </a:pPr>
              <a:t>‹#›</a:t>
            </a:fld>
            <a:endParaRPr lang="en-US" altLang="zh-TW" sz="1200" smtClean="0">
              <a:latin typeface="Arial" charset="0"/>
            </a:endParaRPr>
          </a:p>
        </p:txBody>
      </p:sp>
      <p:sp>
        <p:nvSpPr>
          <p:cNvPr id="77832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30550" y="515938"/>
            <a:ext cx="3663950" cy="2536825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15240591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0748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3279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9006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9988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0367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28963" y="509588"/>
            <a:ext cx="3679825" cy="2547937"/>
          </a:xfrm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5865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28963" y="509588"/>
            <a:ext cx="3679825" cy="2547937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5635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0256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2207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2418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8767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6379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dirty="0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337311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0458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0722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1114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27563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28221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23533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842" indent="-286093" defTabSz="96317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372" indent="-228874" defTabSz="96317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2120" indent="-228874" defTabSz="96317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869" indent="-228874" defTabSz="96317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618" indent="-228874" defTabSz="96317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5366" indent="-228874" defTabSz="96317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3115" indent="-228874" defTabSz="96317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863" indent="-228874" defTabSz="96317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DA929602-C256-4872-83E7-C3824ACB9DAE}" type="slidenum">
              <a:rPr kumimoji="0" lang="zh-TW" altLang="en-US" sz="1300">
                <a:latin typeface="Helvetica" pitchFamily="34" charset="0"/>
              </a:rPr>
              <a:pPr/>
              <a:t>20</a:t>
            </a:fld>
            <a:endParaRPr kumimoji="0" lang="en-US" altLang="zh-TW" sz="1300">
              <a:latin typeface="Helvetica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6575130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615482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007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801" indent="-285693" defTabSz="965007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2771" indent="-228554" defTabSz="965007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599880" indent="-228554" defTabSz="965007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6989" indent="-228554" defTabSz="965007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097" indent="-228554" defTabSz="96500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206" indent="-228554" defTabSz="96500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8314" indent="-228554" defTabSz="96500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5423" indent="-228554" defTabSz="96500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fld id="{956FFDE1-C4BF-429C-8F37-E0CD7871EC71}" type="slidenum">
              <a:rPr kumimoji="0" lang="zh-TW" altLang="en-US" sz="1300">
                <a:latin typeface="Times New Roman" pitchFamily="18" charset="0"/>
              </a:rPr>
              <a:pPr/>
              <a:t>22</a:t>
            </a:fld>
            <a:endParaRPr kumimoji="0" lang="en-US" altLang="zh-TW" sz="1300">
              <a:latin typeface="Times New Roman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24200" y="509588"/>
            <a:ext cx="3681413" cy="2549525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3517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38143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21230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02665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0055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0056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51837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84195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28963" y="509588"/>
            <a:ext cx="3679825" cy="2547937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40736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28963" y="509588"/>
            <a:ext cx="3679825" cy="2547937"/>
          </a:xfrm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82634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62379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8200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77702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04472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53661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85190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835410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23308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84521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76705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98679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07387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050445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345047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47441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28963" y="509588"/>
            <a:ext cx="3679825" cy="2547937"/>
          </a:xfrm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6313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07345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21956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0587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117964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99148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306523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34802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603202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24200" y="509588"/>
            <a:ext cx="3679825" cy="2547937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5363" y="3230563"/>
            <a:ext cx="7940675" cy="3057525"/>
          </a:xfrm>
          <a:noFill/>
        </p:spPr>
        <p:txBody>
          <a:bodyPr lIns="92411" tIns="46208" rIns="92411" bIns="46208"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385630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625531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280373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788771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0550" y="515938"/>
            <a:ext cx="3663950" cy="2536825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730444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28963" y="509588"/>
            <a:ext cx="3679825" cy="2547937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569893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28963" y="509588"/>
            <a:ext cx="3679825" cy="2547937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871782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28963" y="509588"/>
            <a:ext cx="3679825" cy="2547937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61129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28963" y="509588"/>
            <a:ext cx="3679825" cy="2547937"/>
          </a:xfrm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6406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906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91555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1073150" y="17526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191556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073150" y="3309938"/>
            <a:ext cx="6934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743014-464D-4BC3-A53F-0FEDF77E8B88}" type="datetime1">
              <a:rPr lang="zh-TW" altLang="en-US" smtClean="0"/>
              <a:t>2018/2/18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os0-2018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323B89-E562-4A7F-B0B5-EA757176A3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00551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0C5413-93ED-442C-B55A-CDD05A14872E}" type="datetime1">
              <a:rPr lang="zh-TW" altLang="en-US" smtClean="0"/>
              <a:t>2018/2/18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os0-2018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0815B6-53DD-42A9-A54A-E25EE700C0E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277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2638" y="4406908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98125-CD6E-4CE9-8705-E508D59CE9D6}" type="datetime1">
              <a:rPr lang="zh-TW" altLang="en-US" smtClean="0"/>
              <a:t>2018/2/18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os0-2018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BE675-ED17-4EE2-BC19-D6A7D6AB673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3016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08053" y="1905000"/>
            <a:ext cx="4133851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194299" y="1905000"/>
            <a:ext cx="4133851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E7018-C149-4DE9-A1A0-DF713F5260F7}" type="datetime1">
              <a:rPr lang="zh-TW" altLang="en-US" smtClean="0"/>
              <a:t>2018/2/18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os0-2018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F8D8C-C95C-40E7-BD64-ACE981FDF8A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23240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32380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32380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6DEA70-571B-4071-98BA-0EC9FEB3F3BB}" type="datetime1">
              <a:rPr lang="zh-TW" altLang="en-US" smtClean="0"/>
              <a:t>2018/2/18</a:t>
            </a:fld>
            <a:endParaRPr lang="en-US" altLang="zh-TW"/>
          </a:p>
        </p:txBody>
      </p:sp>
      <p:sp>
        <p:nvSpPr>
          <p:cNvPr id="8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os0-2018</a:t>
            </a:r>
            <a:endParaRPr lang="en-US" altLang="zh-TW"/>
          </a:p>
        </p:txBody>
      </p:sp>
      <p:sp>
        <p:nvSpPr>
          <p:cNvPr id="9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ED160B-6720-46C2-845B-E492C72E0A1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90722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0ECEBB-E198-4643-9EE7-86D066DC192F}" type="datetime1">
              <a:rPr lang="zh-TW" altLang="en-US" smtClean="0"/>
              <a:t>2018/2/18</a:t>
            </a:fld>
            <a:endParaRPr lang="en-US" altLang="zh-TW"/>
          </a:p>
        </p:txBody>
      </p:sp>
      <p:sp>
        <p:nvSpPr>
          <p:cNvPr id="4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os0-2018</a:t>
            </a:r>
            <a:endParaRPr lang="en-US" altLang="zh-TW"/>
          </a:p>
        </p:txBody>
      </p:sp>
      <p:sp>
        <p:nvSpPr>
          <p:cNvPr id="5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62760-8D9E-4029-BB5B-724CCF6A336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82613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ACB60B-DA38-4030-9F3F-9CECCCE55AB9}" type="datetime1">
              <a:rPr lang="zh-TW" altLang="en-US" smtClean="0"/>
              <a:t>2018/2/18</a:t>
            </a:fld>
            <a:endParaRPr lang="en-US" altLang="zh-TW"/>
          </a:p>
        </p:txBody>
      </p:sp>
      <p:sp>
        <p:nvSpPr>
          <p:cNvPr id="3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os0-2018</a:t>
            </a:r>
            <a:endParaRPr lang="en-US" altLang="zh-TW"/>
          </a:p>
        </p:txBody>
      </p:sp>
      <p:sp>
        <p:nvSpPr>
          <p:cNvPr id="4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76C93-2701-46D1-B44F-46D028CD238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4312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4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73499" y="273058"/>
            <a:ext cx="553720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95304" y="1435103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607D2-FB7D-4A28-B8FE-3F62EED6038D}" type="datetime1">
              <a:rPr lang="zh-TW" altLang="en-US" smtClean="0"/>
              <a:t>2018/2/18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os0-2018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5666D-EBBB-4356-8F27-9B4D20EFDB2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17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B1C4D1-96C1-48A4-9FC4-7FF019B4FED4}" type="datetime1">
              <a:rPr lang="zh-TW" altLang="en-US" smtClean="0"/>
              <a:t>2018/2/18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os0-2018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3A37B4-23F4-4619-9AEB-6BF7B7CAAF7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28787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C0BAA-EBCE-4A0C-8F3A-B21D29B9A6D8}" type="datetime1">
              <a:rPr lang="zh-TW" altLang="en-US" smtClean="0"/>
              <a:t>2018/2/18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os0-2018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FD50FA-73D4-441C-865F-6BCD2636998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528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61213" y="304800"/>
            <a:ext cx="2166938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60400" y="304800"/>
            <a:ext cx="6348414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68820-8BBE-4B0C-9909-B6B13AD2D283}" type="datetime1">
              <a:rPr lang="zh-TW" altLang="en-US" smtClean="0"/>
              <a:t>2018/2/18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os0-2018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53D58F-B861-4922-B78B-B908DB08246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9502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>
            <a:grpSpLocks/>
          </p:cNvGrpSpPr>
          <p:nvPr/>
        </p:nvGrpSpPr>
        <p:grpSpPr bwMode="auto">
          <a:xfrm>
            <a:off x="0" y="0"/>
            <a:ext cx="9906000" cy="6858000"/>
            <a:chOff x="0" y="0"/>
            <a:chExt cx="5760" cy="4320"/>
          </a:xfrm>
        </p:grpSpPr>
        <p:grpSp>
          <p:nvGrpSpPr>
            <p:cNvPr id="1032" name="Group 1027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1028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1029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1030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1031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1032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1033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34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035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036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037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038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039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040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041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042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043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1044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1045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1046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1047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1048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1049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1050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1051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1052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1053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1054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1055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1056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1057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1058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1059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1060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1061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1062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1063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1064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1065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1066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1067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1068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1069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1070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1071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1072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1073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1074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1075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1076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1077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1078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1079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1080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1081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/>
            </a:p>
          </p:txBody>
        </p:sp>
        <p:sp>
          <p:nvSpPr>
            <p:cNvPr id="1034" name="Line 1082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1083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1084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1085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1086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1087"/>
          <p:cNvSpPr>
            <a:spLocks noGrp="1" noChangeArrowheads="1"/>
          </p:cNvSpPr>
          <p:nvPr>
            <p:ph type="title"/>
          </p:nvPr>
        </p:nvSpPr>
        <p:spPr bwMode="auto">
          <a:xfrm>
            <a:off x="660400" y="304800"/>
            <a:ext cx="84201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088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8050" y="1905000"/>
            <a:ext cx="84201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90529" name="Rectangle 108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2950" y="6248400"/>
            <a:ext cx="206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ea typeface="新細明體" pitchFamily="18" charset="-120"/>
              </a:defRPr>
            </a:lvl1pPr>
          </a:lstStyle>
          <a:p>
            <a:pPr>
              <a:defRPr/>
            </a:pPr>
            <a:fld id="{D9A3BBBB-84D9-416E-AF88-F37BE2E113FF}" type="datetime1">
              <a:rPr lang="zh-TW" altLang="en-US" smtClean="0"/>
              <a:t>2018/2/18</a:t>
            </a:fld>
            <a:endParaRPr lang="en-US" altLang="zh-TW"/>
          </a:p>
        </p:txBody>
      </p:sp>
      <p:sp>
        <p:nvSpPr>
          <p:cNvPr id="190530" name="Rectangle 109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840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 smtClean="0"/>
              <a:t>os0-2018</a:t>
            </a:r>
            <a:endParaRPr lang="en-US" altLang="zh-TW"/>
          </a:p>
        </p:txBody>
      </p:sp>
      <p:sp>
        <p:nvSpPr>
          <p:cNvPr id="190531" name="Rectangle 109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8400"/>
            <a:ext cx="206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ea typeface="新細明體" pitchFamily="18" charset="-120"/>
              </a:defRPr>
            </a:lvl1pPr>
          </a:lstStyle>
          <a:p>
            <a:pPr>
              <a:defRPr/>
            </a:pPr>
            <a:fld id="{9EB42EDB-B982-4117-8018-77943CB93DB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://lms.nthu.edu.tw/course/22911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odex.cs.yale.edu/avi/os-book/OS9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jpeg"/><Relationship Id="rId3" Type="http://schemas.openxmlformats.org/officeDocument/2006/relationships/image" Target="../media/image1.png"/><Relationship Id="rId7" Type="http://schemas.openxmlformats.org/officeDocument/2006/relationships/image" Target="../media/image15.jpe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jpe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emf"/><Relationship Id="rId4" Type="http://schemas.openxmlformats.org/officeDocument/2006/relationships/image" Target="../media/image4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5" Type="http://schemas.openxmlformats.org/officeDocument/2006/relationships/image" Target="../media/image46.jpeg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9775817-987F-4F39-A15A-0EB83582B625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153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153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3AB46C6-3A5D-4235-A2B8-D0FA146D903D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400" smtClean="0"/>
          </a:p>
        </p:txBody>
      </p:sp>
      <p:sp>
        <p:nvSpPr>
          <p:cNvPr id="1536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52512" y="438150"/>
            <a:ext cx="8399463" cy="1143000"/>
          </a:xfrm>
          <a:noFill/>
        </p:spPr>
        <p:txBody>
          <a:bodyPr lIns="92075" tIns="46038" rIns="92075" bIns="46038" anchor="ctr"/>
          <a:lstStyle/>
          <a:p>
            <a:pPr algn="ctr" eaLnBrk="1" hangingPunct="1"/>
            <a:r>
              <a:rPr lang="en-US" altLang="zh-TW" sz="4800" dirty="0" smtClean="0">
                <a:solidFill>
                  <a:srgbClr val="FF0066"/>
                </a:solidFill>
                <a:latin typeface="Comic Sans MS" pitchFamily="66" charset="0"/>
              </a:rPr>
              <a:t>Operating System Course</a:t>
            </a:r>
          </a:p>
        </p:txBody>
      </p:sp>
      <p:sp>
        <p:nvSpPr>
          <p:cNvPr id="163843" name="Rectangle 1027"/>
          <p:cNvSpPr>
            <a:spLocks noChangeArrowheads="1"/>
          </p:cNvSpPr>
          <p:nvPr/>
        </p:nvSpPr>
        <p:spPr bwMode="auto">
          <a:xfrm>
            <a:off x="850900" y="3797300"/>
            <a:ext cx="8707438" cy="2462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defRPr/>
            </a:pPr>
            <a:r>
              <a:rPr lang="en-US" altLang="zh-TW" sz="2200" b="1" dirty="0" smtClean="0">
                <a:solidFill>
                  <a:srgbClr val="000000"/>
                </a:solidFill>
                <a:latin typeface="Book Antiqua" pitchFamily="18" charset="0"/>
              </a:rPr>
              <a:t>Textbooks: </a:t>
            </a:r>
            <a:r>
              <a:rPr lang="en-US" altLang="zh-TW" sz="2000" b="1" dirty="0" smtClean="0">
                <a:solidFill>
                  <a:srgbClr val="000000"/>
                </a:solidFill>
                <a:latin typeface="Book Antiqua" pitchFamily="18" charset="0"/>
              </a:rPr>
              <a:t>(</a:t>
            </a:r>
            <a:r>
              <a:rPr lang="en-US" altLang="zh-TW" sz="2000" dirty="0" smtClean="0">
                <a:solidFill>
                  <a:srgbClr val="000000"/>
                </a:solidFill>
              </a:rPr>
              <a:t>A. </a:t>
            </a:r>
            <a:r>
              <a:rPr lang="en-US" altLang="zh-TW" sz="2000" dirty="0" err="1" smtClean="0">
                <a:solidFill>
                  <a:srgbClr val="000000"/>
                </a:solidFill>
              </a:rPr>
              <a:t>Silberschatz</a:t>
            </a:r>
            <a:r>
              <a:rPr lang="en-US" altLang="zh-TW" sz="2000" dirty="0" smtClean="0">
                <a:solidFill>
                  <a:srgbClr val="000000"/>
                </a:solidFill>
              </a:rPr>
              <a:t>, P. Galvin and G. Gagne)</a:t>
            </a:r>
            <a:endParaRPr lang="en-US" altLang="zh-TW" sz="2000" b="1" dirty="0" smtClean="0">
              <a:solidFill>
                <a:srgbClr val="000000"/>
              </a:solidFill>
              <a:latin typeface="Book Antiqua" pitchFamily="18" charset="0"/>
            </a:endParaRPr>
          </a:p>
          <a:p>
            <a:pPr marL="0" indent="0">
              <a:defRPr/>
            </a:pPr>
            <a:endParaRPr lang="en-US" altLang="zh-TW" sz="2200" i="1" dirty="0" smtClean="0">
              <a:solidFill>
                <a:srgbClr val="0000FF"/>
              </a:solidFill>
              <a:latin typeface="Times New Roman" pitchFamily="18" charset="0"/>
            </a:endParaRPr>
          </a:p>
          <a:p>
            <a:pPr marL="0" indent="0">
              <a:defRPr/>
            </a:pPr>
            <a:r>
              <a:rPr lang="en-US" altLang="zh-TW" sz="2200" i="1" dirty="0" smtClean="0">
                <a:solidFill>
                  <a:srgbClr val="0000FF"/>
                </a:solidFill>
                <a:latin typeface="Times New Roman" pitchFamily="18" charset="0"/>
              </a:rPr>
              <a:t>Operating System</a:t>
            </a:r>
            <a:r>
              <a:rPr lang="en-US" altLang="zh-TW" sz="2200" dirty="0" smtClean="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zh-TW" sz="2200" i="1" dirty="0" smtClean="0">
                <a:solidFill>
                  <a:srgbClr val="0000FF"/>
                </a:solidFill>
                <a:latin typeface="Times New Roman" pitchFamily="18" charset="0"/>
              </a:rPr>
              <a:t>Concepts</a:t>
            </a:r>
            <a:r>
              <a:rPr lang="en-US" altLang="zh-TW" sz="2200" dirty="0" smtClean="0">
                <a:latin typeface="Times New Roman" pitchFamily="18" charset="0"/>
              </a:rPr>
              <a:t>, 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 pitchFamily="18" charset="0"/>
              </a:rPr>
              <a:t>9</a:t>
            </a:r>
            <a:r>
              <a:rPr lang="en-US" altLang="zh-TW" sz="2200" baseline="30000" dirty="0" smtClean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 pitchFamily="18" charset="0"/>
              </a:rPr>
              <a:t> Edition</a:t>
            </a:r>
            <a:r>
              <a:rPr lang="en-US" altLang="zh-TW" sz="2200" dirty="0" smtClean="0">
                <a:latin typeface="Times New Roman" pitchFamily="18" charset="0"/>
              </a:rPr>
              <a:t> (</a:t>
            </a:r>
            <a:r>
              <a:rPr lang="en-US" altLang="zh-TW" sz="2200" dirty="0" smtClean="0">
                <a:solidFill>
                  <a:srgbClr val="0000FF"/>
                </a:solidFill>
                <a:latin typeface="Times New Roman" pitchFamily="18" charset="0"/>
              </a:rPr>
              <a:t>International Student</a:t>
            </a:r>
            <a:r>
              <a:rPr lang="en-US" altLang="zh-TW" sz="2200" dirty="0" smtClean="0">
                <a:latin typeface="Times New Roman" pitchFamily="18" charset="0"/>
              </a:rPr>
              <a:t>)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 pitchFamily="18" charset="0"/>
              </a:rPr>
              <a:t>, John Wiley &amp; Sons, Inc., 2013. </a:t>
            </a:r>
          </a:p>
          <a:p>
            <a:pPr marL="0" indent="0">
              <a:defRPr/>
            </a:pPr>
            <a:endParaRPr lang="en-US" altLang="zh-TW" sz="2200" dirty="0" smtClean="0">
              <a:solidFill>
                <a:srgbClr val="FF0066"/>
              </a:solidFill>
              <a:latin typeface="Times New Roman" pitchFamily="18" charset="0"/>
            </a:endParaRPr>
          </a:p>
          <a:p>
            <a:pPr marL="0" indent="0">
              <a:defRPr/>
            </a:pPr>
            <a:r>
              <a:rPr lang="en-US" altLang="zh-TW" sz="2200" i="1" dirty="0">
                <a:solidFill>
                  <a:srgbClr val="00B0F0"/>
                </a:solidFill>
                <a:latin typeface="Times New Roman" pitchFamily="18" charset="0"/>
              </a:rPr>
              <a:t>Operating System</a:t>
            </a:r>
            <a:r>
              <a:rPr lang="en-US" altLang="zh-TW" sz="2200" dirty="0">
                <a:solidFill>
                  <a:srgbClr val="00B0F0"/>
                </a:solidFill>
                <a:latin typeface="Times New Roman" pitchFamily="18" charset="0"/>
              </a:rPr>
              <a:t> </a:t>
            </a:r>
            <a:r>
              <a:rPr lang="en-US" altLang="zh-TW" sz="2200" i="1" dirty="0">
                <a:solidFill>
                  <a:srgbClr val="00B0F0"/>
                </a:solidFill>
                <a:latin typeface="Times New Roman" pitchFamily="18" charset="0"/>
              </a:rPr>
              <a:t>Concepts</a:t>
            </a:r>
            <a:r>
              <a:rPr lang="en-US" altLang="zh-TW" sz="2200" dirty="0">
                <a:solidFill>
                  <a:srgbClr val="00B0F0"/>
                </a:solidFill>
                <a:latin typeface="Times New Roman" pitchFamily="18" charset="0"/>
              </a:rPr>
              <a:t>, </a:t>
            </a:r>
            <a:r>
              <a:rPr lang="en-US" altLang="zh-TW" sz="2200" dirty="0" smtClean="0">
                <a:solidFill>
                  <a:srgbClr val="00B0F0"/>
                </a:solidFill>
                <a:latin typeface="Times New Roman" pitchFamily="18" charset="0"/>
              </a:rPr>
              <a:t>10</a:t>
            </a:r>
            <a:r>
              <a:rPr lang="en-US" altLang="zh-TW" sz="2200" baseline="30000" dirty="0" smtClean="0">
                <a:solidFill>
                  <a:srgbClr val="00B0F0"/>
                </a:solidFill>
                <a:latin typeface="Times New Roman" pitchFamily="18" charset="0"/>
              </a:rPr>
              <a:t>th</a:t>
            </a:r>
            <a:r>
              <a:rPr lang="en-US" altLang="zh-TW" sz="2200" dirty="0" smtClean="0">
                <a:solidFill>
                  <a:srgbClr val="00B0F0"/>
                </a:solidFill>
                <a:latin typeface="Times New Roman" pitchFamily="18" charset="0"/>
              </a:rPr>
              <a:t> Edition, </a:t>
            </a:r>
            <a:r>
              <a:rPr lang="en-US" altLang="zh-TW" sz="2200" dirty="0">
                <a:solidFill>
                  <a:srgbClr val="00B0F0"/>
                </a:solidFill>
                <a:latin typeface="Times New Roman" pitchFamily="18" charset="0"/>
              </a:rPr>
              <a:t>John Wiley &amp; Sons, Inc., </a:t>
            </a:r>
            <a:r>
              <a:rPr lang="en-US" altLang="zh-TW" sz="2200" dirty="0" smtClean="0">
                <a:solidFill>
                  <a:srgbClr val="00B0F0"/>
                </a:solidFill>
                <a:latin typeface="Times New Roman" pitchFamily="18" charset="0"/>
              </a:rPr>
              <a:t>February, 2018.</a:t>
            </a:r>
          </a:p>
        </p:txBody>
      </p:sp>
      <p:sp>
        <p:nvSpPr>
          <p:cNvPr id="15367" name="Text Box 1030"/>
          <p:cNvSpPr txBox="1">
            <a:spLocks noChangeArrowheads="1"/>
          </p:cNvSpPr>
          <p:nvPr/>
        </p:nvSpPr>
        <p:spPr bwMode="auto">
          <a:xfrm>
            <a:off x="1870075" y="1450983"/>
            <a:ext cx="6946900" cy="206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b="1">
              <a:latin typeface="Book Antiqua" pitchFamily="18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b="1">
              <a:latin typeface="Book Antiqua" pitchFamily="18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Book Antiqua" pitchFamily="18" charset="0"/>
              </a:rPr>
              <a:t>Jia-Shung Wang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Book Antiqua" pitchFamily="18" charset="0"/>
              </a:rPr>
              <a:t>Department of Computer Science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Book Antiqua" pitchFamily="18" charset="0"/>
              </a:rPr>
              <a:t>National Tsing Hua University</a:t>
            </a:r>
            <a:endParaRPr lang="en-US" altLang="zh-TW" sz="2800" b="1">
              <a:latin typeface="Book Antiqua" pitchFamily="18" charset="0"/>
            </a:endParaRPr>
          </a:p>
        </p:txBody>
      </p:sp>
      <p:sp>
        <p:nvSpPr>
          <p:cNvPr id="15368" name="文字方塊 1"/>
          <p:cNvSpPr txBox="1">
            <a:spLocks noChangeArrowheads="1"/>
          </p:cNvSpPr>
          <p:nvPr/>
        </p:nvSpPr>
        <p:spPr bwMode="auto">
          <a:xfrm>
            <a:off x="2170113" y="1676400"/>
            <a:ext cx="61896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 smtClean="0">
                <a:hlinkClick r:id="rId4"/>
              </a:rPr>
              <a:t>http://lms.nthu.edu.tw/course/</a:t>
            </a:r>
            <a:r>
              <a:rPr lang="en-US" altLang="zh-TW" sz="2400" dirty="0" smtClean="0">
                <a:solidFill>
                  <a:srgbClr val="FF0000"/>
                </a:solidFill>
                <a:hlinkClick r:id="rId4"/>
              </a:rPr>
              <a:t>33022</a:t>
            </a:r>
            <a:r>
              <a:rPr lang="en-US" altLang="zh-TW" sz="2400" dirty="0" smtClean="0">
                <a:hlinkClick r:id="rId4"/>
              </a:rPr>
              <a:t>/</a:t>
            </a:r>
            <a:r>
              <a:rPr lang="en-US" altLang="zh-TW" sz="2400" dirty="0" smtClean="0"/>
              <a:t> </a:t>
            </a:r>
            <a:endParaRPr lang="en-US" altLang="zh-TW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 dirty="0"/>
          </a:p>
        </p:txBody>
      </p:sp>
      <p:pic>
        <p:nvPicPr>
          <p:cNvPr id="10" name="Picture 1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490" y="1934230"/>
            <a:ext cx="1826348" cy="261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版面配置區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86712BA-787E-467A-8AB6-166482D75719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16387" name="頁尾版面配置區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16388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607F42A-0BD7-4572-9888-B3F36BE7D5AB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TW" sz="1400" smtClean="0"/>
          </a:p>
        </p:txBody>
      </p:sp>
      <p:pic>
        <p:nvPicPr>
          <p:cNvPr id="235530" name="Picture 10" descr="cover os7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5992" y="3743333"/>
            <a:ext cx="2117725" cy="29956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90" name="AutoShape 12"/>
          <p:cNvSpPr>
            <a:spLocks noChangeAspect="1" noChangeArrowheads="1"/>
          </p:cNvSpPr>
          <p:nvPr/>
        </p:nvSpPr>
        <p:spPr bwMode="auto">
          <a:xfrm>
            <a:off x="3810000" y="1795463"/>
            <a:ext cx="2286000" cy="326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6391" name="AutoShape 13"/>
          <p:cNvSpPr>
            <a:spLocks noChangeAspect="1" noChangeArrowheads="1"/>
          </p:cNvSpPr>
          <p:nvPr/>
        </p:nvSpPr>
        <p:spPr bwMode="auto">
          <a:xfrm>
            <a:off x="4038601" y="2514600"/>
            <a:ext cx="18288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6392" name="AutoShape 14"/>
          <p:cNvSpPr>
            <a:spLocks noChangeAspect="1" noChangeArrowheads="1"/>
          </p:cNvSpPr>
          <p:nvPr/>
        </p:nvSpPr>
        <p:spPr bwMode="auto">
          <a:xfrm>
            <a:off x="3048001" y="1524000"/>
            <a:ext cx="3810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6393" name="AutoShape 15"/>
          <p:cNvSpPr>
            <a:spLocks noChangeAspect="1" noChangeArrowheads="1"/>
          </p:cNvSpPr>
          <p:nvPr/>
        </p:nvSpPr>
        <p:spPr bwMode="auto">
          <a:xfrm>
            <a:off x="3048001" y="1524000"/>
            <a:ext cx="3810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6394" name="AutoShape 16"/>
          <p:cNvSpPr>
            <a:spLocks noChangeAspect="1" noChangeArrowheads="1"/>
          </p:cNvSpPr>
          <p:nvPr/>
        </p:nvSpPr>
        <p:spPr bwMode="auto">
          <a:xfrm>
            <a:off x="3048001" y="1524000"/>
            <a:ext cx="3810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6395" name="AutoShape 18"/>
          <p:cNvSpPr>
            <a:spLocks noChangeAspect="1" noChangeArrowheads="1"/>
          </p:cNvSpPr>
          <p:nvPr/>
        </p:nvSpPr>
        <p:spPr bwMode="auto">
          <a:xfrm>
            <a:off x="4038601" y="2514600"/>
            <a:ext cx="18288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6396" name="AutoShape 19"/>
          <p:cNvSpPr>
            <a:spLocks noChangeAspect="1" noChangeArrowheads="1"/>
          </p:cNvSpPr>
          <p:nvPr/>
        </p:nvSpPr>
        <p:spPr bwMode="auto">
          <a:xfrm>
            <a:off x="3048001" y="1524000"/>
            <a:ext cx="3810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6397" name="AutoShape 20"/>
          <p:cNvSpPr>
            <a:spLocks noChangeAspect="1" noChangeArrowheads="1"/>
          </p:cNvSpPr>
          <p:nvPr/>
        </p:nvSpPr>
        <p:spPr bwMode="auto">
          <a:xfrm>
            <a:off x="3048001" y="1524000"/>
            <a:ext cx="3810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pic>
        <p:nvPicPr>
          <p:cNvPr id="235547" name="Picture 27" descr="os6"/>
          <p:cNvPicPr>
            <a:picLocks noGrp="1" noChangeAspect="1" noChangeArrowheads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76675" y="3732213"/>
            <a:ext cx="1963738" cy="3016250"/>
          </a:xfrm>
        </p:spPr>
      </p:pic>
      <p:pic>
        <p:nvPicPr>
          <p:cNvPr id="16399" name="Picture 20" descr="http://ecx.images-amazon.com/images/I/51iYySljKzL._SS500_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354" y="441328"/>
            <a:ext cx="2986088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0" name="Picture 1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4" y="469904"/>
            <a:ext cx="2068513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6402" name="Picture 1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3703638"/>
            <a:ext cx="2090738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21" y="469904"/>
            <a:ext cx="2169795" cy="30738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77F6D07-7F59-483C-B68A-E21FE8A20F13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1741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174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558DADA-573A-44C8-AC92-86439E79F857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400" smtClean="0"/>
          </a:p>
        </p:txBody>
      </p:sp>
      <p:sp>
        <p:nvSpPr>
          <p:cNvPr id="1648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42990" y="361950"/>
            <a:ext cx="8461375" cy="6057900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en-US" altLang="zh-TW" sz="4400" dirty="0" smtClean="0">
                <a:solidFill>
                  <a:schemeClr val="tx2"/>
                </a:solidFill>
                <a:latin typeface="Comic Sans MS" pitchFamily="66" charset="0"/>
              </a:rPr>
              <a:t>Scoring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altLang="zh-TW" sz="4400" dirty="0" smtClean="0">
              <a:solidFill>
                <a:schemeClr val="tx2"/>
              </a:solidFill>
              <a:latin typeface="Comic Sans MS" pitchFamily="66" charset="0"/>
            </a:endParaRPr>
          </a:p>
          <a:p>
            <a:pPr lvl="1" eaLnBrk="1" hangingPunct="1"/>
            <a:r>
              <a:rPr lang="en-US" altLang="zh-TW" dirty="0" smtClean="0">
                <a:solidFill>
                  <a:srgbClr val="0000FF"/>
                </a:solidFill>
              </a:rPr>
              <a:t>Midterm Exam (32%)	17   April, 2018</a:t>
            </a:r>
          </a:p>
          <a:p>
            <a:pPr lvl="1" eaLnBrk="1" hangingPunct="1"/>
            <a:r>
              <a:rPr lang="en-US" altLang="zh-TW" dirty="0" smtClean="0">
                <a:solidFill>
                  <a:srgbClr val="0000FF"/>
                </a:solidFill>
              </a:rPr>
              <a:t>Quiz		    (</a:t>
            </a:r>
            <a:r>
              <a:rPr lang="en-US" altLang="zh-TW" dirty="0" smtClean="0">
                <a:solidFill>
                  <a:srgbClr val="FF0000"/>
                </a:solidFill>
              </a:rPr>
              <a:t>12%</a:t>
            </a:r>
            <a:r>
              <a:rPr lang="en-US" altLang="zh-TW" dirty="0" smtClean="0">
                <a:solidFill>
                  <a:srgbClr val="0000FF"/>
                </a:solidFill>
              </a:rPr>
              <a:t>)    3    May, 2018</a:t>
            </a:r>
          </a:p>
          <a:p>
            <a:pPr lvl="1" eaLnBrk="1" hangingPunct="1"/>
            <a:r>
              <a:rPr lang="en-US" altLang="zh-TW" dirty="0" smtClean="0">
                <a:solidFill>
                  <a:srgbClr val="0000FF"/>
                </a:solidFill>
              </a:rPr>
              <a:t>Final Exam       (36%)	12   June, 2018	</a:t>
            </a:r>
          </a:p>
          <a:p>
            <a:pPr lvl="1" eaLnBrk="1" hangingPunct="1"/>
            <a:r>
              <a:rPr lang="en-US" altLang="zh-TW" dirty="0" smtClean="0">
                <a:solidFill>
                  <a:srgbClr val="0000FF"/>
                </a:solidFill>
              </a:rPr>
              <a:t>Exercises  and </a:t>
            </a:r>
            <a:r>
              <a:rPr lang="en-US" altLang="zh-TW" dirty="0">
                <a:solidFill>
                  <a:srgbClr val="0000FF"/>
                </a:solidFill>
              </a:rPr>
              <a:t>Term Projects</a:t>
            </a:r>
            <a:r>
              <a:rPr lang="en-US" altLang="zh-TW" dirty="0" smtClean="0">
                <a:solidFill>
                  <a:srgbClr val="0000FF"/>
                </a:solidFill>
              </a:rPr>
              <a:t>      (</a:t>
            </a:r>
            <a:r>
              <a:rPr lang="en-US" altLang="zh-TW" dirty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0%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dirty="0" smtClean="0"/>
          </a:p>
          <a:p>
            <a:pPr algn="ctr" eaLnBrk="1" hangingPunct="1">
              <a:buFont typeface="Wingdings" pitchFamily="2" charset="2"/>
              <a:buNone/>
            </a:pPr>
            <a:r>
              <a:rPr lang="en-US" altLang="zh-TW" sz="4400" dirty="0" smtClean="0">
                <a:solidFill>
                  <a:schemeClr val="tx2"/>
                </a:solidFill>
                <a:latin typeface="Comic Sans MS" pitchFamily="66" charset="0"/>
              </a:rPr>
              <a:t>Office Hour</a:t>
            </a:r>
            <a:endParaRPr lang="en-US" altLang="zh-TW" sz="4800" dirty="0" smtClean="0">
              <a:solidFill>
                <a:schemeClr val="tx2"/>
              </a:solidFill>
              <a:latin typeface="Comic Sans MS" pitchFamily="66" charset="0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dirty="0" smtClean="0"/>
              <a:t>		</a:t>
            </a:r>
            <a:r>
              <a:rPr lang="en-US" altLang="zh-TW" sz="3200" dirty="0" smtClean="0"/>
              <a:t>Friday		</a:t>
            </a:r>
            <a:r>
              <a:rPr lang="en-US" altLang="zh-TW" sz="3200" dirty="0" smtClean="0"/>
              <a:t>11:00~12:00</a:t>
            </a:r>
            <a:endParaRPr lang="en-US" altLang="zh-TW" sz="3200" b="1" dirty="0" smtClean="0"/>
          </a:p>
          <a:p>
            <a:pPr eaLnBrk="1" hangingPunct="1"/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4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4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71B22A4-3B71-4FDB-88DB-2258F1A15EBA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4D7DB3D-C21A-454A-BAC9-D3106869A73A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400" smtClean="0"/>
          </a:p>
        </p:txBody>
      </p:sp>
      <p:sp>
        <p:nvSpPr>
          <p:cNvPr id="2007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5505" y="247650"/>
            <a:ext cx="8556625" cy="6248400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en-US" altLang="zh-TW" sz="4000" dirty="0" smtClean="0">
                <a:solidFill>
                  <a:srgbClr val="000000"/>
                </a:solidFill>
                <a:latin typeface="Comic Sans MS" pitchFamily="66" charset="0"/>
              </a:rPr>
              <a:t>Book Information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 smtClean="0">
                <a:solidFill>
                  <a:srgbClr val="000000"/>
                </a:solidFill>
                <a:hlinkClick r:id="rId4"/>
              </a:rPr>
              <a:t>http://codex.cs.yale.edu/avi/os-book/</a:t>
            </a:r>
            <a:endParaRPr lang="en-US" altLang="zh-TW" sz="2800" dirty="0" smtClean="0">
              <a:solidFill>
                <a:srgbClr val="000000"/>
              </a:solidFill>
            </a:endParaRP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A brief history of the textbooks (21 chapters and 4 appendices)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Important </a:t>
            </a:r>
            <a:r>
              <a:rPr lang="en-US" altLang="zh-TW" dirty="0" smtClean="0">
                <a:solidFill>
                  <a:srgbClr val="0000FF"/>
                </a:solidFill>
              </a:rPr>
              <a:t>OS papers</a:t>
            </a:r>
            <a:endParaRPr lang="en-US" altLang="zh-TW" dirty="0">
              <a:solidFill>
                <a:srgbClr val="0000FF"/>
              </a:solidFill>
            </a:endParaRP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 smtClean="0">
                <a:solidFill>
                  <a:srgbClr val="0000FF"/>
                </a:solidFill>
              </a:rPr>
              <a:t>Linux Virtual Machine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 smtClean="0">
                <a:solidFill>
                  <a:srgbClr val="FF0000"/>
                </a:solidFill>
              </a:rPr>
              <a:t>Solutions to Practice Exercises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FF0000"/>
                </a:solidFill>
              </a:rPr>
              <a:t>Source </a:t>
            </a:r>
            <a:r>
              <a:rPr lang="en-US" altLang="zh-TW" dirty="0" smtClean="0">
                <a:solidFill>
                  <a:srgbClr val="FF0000"/>
                </a:solidFill>
              </a:rPr>
              <a:t>codes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 smtClean="0">
                <a:solidFill>
                  <a:srgbClr val="0000FF"/>
                </a:solidFill>
              </a:rPr>
              <a:t>Study Guide to Accompany Operating Systems Concepts, </a:t>
            </a:r>
            <a:r>
              <a:rPr lang="en-US" altLang="zh-TW" sz="2400" dirty="0" smtClean="0">
                <a:solidFill>
                  <a:srgbClr val="0000FF"/>
                </a:solidFill>
              </a:rPr>
              <a:t>By Andrew </a:t>
            </a:r>
            <a:r>
              <a:rPr lang="en-US" altLang="zh-TW" sz="2400" dirty="0" err="1" smtClean="0">
                <a:solidFill>
                  <a:srgbClr val="0000FF"/>
                </a:solidFill>
              </a:rPr>
              <a:t>DeNicola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0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0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0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0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15A28E9-37A2-4F02-B2B2-F8006FD05F3A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4D7DB3D-C21A-454A-BAC9-D3106869A73A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 smtClean="0"/>
          </a:p>
        </p:txBody>
      </p:sp>
      <p:sp>
        <p:nvSpPr>
          <p:cNvPr id="2007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5505" y="81489"/>
            <a:ext cx="8556625" cy="6414569"/>
          </a:xfrm>
        </p:spPr>
        <p:txBody>
          <a:bodyPr/>
          <a:lstStyle/>
          <a:p>
            <a:pPr algn="ctr" eaLnBrk="1" hangingPunct="1">
              <a:buNone/>
            </a:pPr>
            <a:r>
              <a:rPr lang="en-US" altLang="zh-TW" sz="4000" dirty="0" smtClean="0">
                <a:solidFill>
                  <a:srgbClr val="000000"/>
                </a:solidFill>
                <a:latin typeface="Comic Sans MS" pitchFamily="66" charset="0"/>
              </a:rPr>
              <a:t>Early Stage: Von Neumann Machine, Batch OS, … </a:t>
            </a:r>
            <a:endParaRPr lang="en-US" altLang="zh-TW" sz="2800" dirty="0" smtClean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>	</a:t>
            </a:r>
          </a:p>
        </p:txBody>
      </p:sp>
      <p:pic>
        <p:nvPicPr>
          <p:cNvPr id="16487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070" y="1293750"/>
            <a:ext cx="4528382" cy="262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6487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307" y="3952964"/>
            <a:ext cx="5857544" cy="2552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030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B541FBD-1E62-4925-A4F6-22D5047CD0F7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15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15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187435E-E80B-4D1F-B474-92F0BD06CF98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400" smtClean="0"/>
          </a:p>
        </p:txBody>
      </p:sp>
      <p:sp>
        <p:nvSpPr>
          <p:cNvPr id="21509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7338" y="0"/>
            <a:ext cx="9010650" cy="62388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4000" dirty="0">
                <a:solidFill>
                  <a:srgbClr val="000000"/>
                </a:solidFill>
                <a:latin typeface="Comic Sans MS" pitchFamily="66" charset="0"/>
              </a:rPr>
              <a:t>1970s: Original UNIX System</a:t>
            </a:r>
          </a:p>
        </p:txBody>
      </p:sp>
      <p:sp>
        <p:nvSpPr>
          <p:cNvPr id="21510" name="Rectangle 3"/>
          <p:cNvSpPr>
            <a:spLocks noChangeArrowheads="1"/>
          </p:cNvSpPr>
          <p:nvPr/>
        </p:nvSpPr>
        <p:spPr bwMode="auto">
          <a:xfrm>
            <a:off x="3751263" y="658814"/>
            <a:ext cx="5802312" cy="5616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002F"/>
                    </a:gs>
                    <a:gs pos="50000">
                      <a:srgbClr val="FF0066"/>
                    </a:gs>
                    <a:gs pos="100000">
                      <a:srgbClr val="76002F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1511" name="Line 4"/>
          <p:cNvSpPr>
            <a:spLocks noChangeShapeType="1"/>
          </p:cNvSpPr>
          <p:nvPr/>
        </p:nvSpPr>
        <p:spPr bwMode="auto">
          <a:xfrm>
            <a:off x="3751268" y="1238250"/>
            <a:ext cx="58054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12" name="Rectangle 5"/>
          <p:cNvSpPr>
            <a:spLocks noChangeArrowheads="1"/>
          </p:cNvSpPr>
          <p:nvPr/>
        </p:nvSpPr>
        <p:spPr bwMode="auto">
          <a:xfrm>
            <a:off x="5554668" y="776291"/>
            <a:ext cx="1540487" cy="422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400" b="1">
                <a:solidFill>
                  <a:schemeClr val="tx2"/>
                </a:solidFill>
                <a:latin typeface="Book Antiqua" pitchFamily="18" charset="0"/>
              </a:rPr>
              <a:t>The users</a:t>
            </a:r>
          </a:p>
        </p:txBody>
      </p:sp>
      <p:sp>
        <p:nvSpPr>
          <p:cNvPr id="219142" name="Rectangle 6"/>
          <p:cNvSpPr>
            <a:spLocks noChangeArrowheads="1"/>
          </p:cNvSpPr>
          <p:nvPr/>
        </p:nvSpPr>
        <p:spPr bwMode="auto">
          <a:xfrm>
            <a:off x="5032379" y="1223971"/>
            <a:ext cx="2704267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Book Antiqua" pitchFamily="18" charset="0"/>
              </a:rPr>
              <a:t>shells and commands</a:t>
            </a:r>
          </a:p>
        </p:txBody>
      </p:sp>
      <p:sp>
        <p:nvSpPr>
          <p:cNvPr id="219143" name="Rectangle 7"/>
          <p:cNvSpPr>
            <a:spLocks noChangeArrowheads="1"/>
          </p:cNvSpPr>
          <p:nvPr/>
        </p:nvSpPr>
        <p:spPr bwMode="auto">
          <a:xfrm>
            <a:off x="4718050" y="1462096"/>
            <a:ext cx="327173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Book Antiqua" pitchFamily="18" charset="0"/>
              </a:rPr>
              <a:t>compilers and interpreters</a:t>
            </a:r>
          </a:p>
        </p:txBody>
      </p:sp>
      <p:sp>
        <p:nvSpPr>
          <p:cNvPr id="219144" name="Rectangle 8"/>
          <p:cNvSpPr>
            <a:spLocks noChangeArrowheads="1"/>
          </p:cNvSpPr>
          <p:nvPr/>
        </p:nvSpPr>
        <p:spPr bwMode="auto">
          <a:xfrm>
            <a:off x="5268918" y="1757366"/>
            <a:ext cx="2039021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Book Antiqua" pitchFamily="18" charset="0"/>
              </a:rPr>
              <a:t>system libraries</a:t>
            </a:r>
          </a:p>
        </p:txBody>
      </p:sp>
      <p:sp>
        <p:nvSpPr>
          <p:cNvPr id="219145" name="Rectangle 9"/>
          <p:cNvSpPr>
            <a:spLocks noChangeArrowheads="1"/>
          </p:cNvSpPr>
          <p:nvPr/>
        </p:nvSpPr>
        <p:spPr bwMode="auto">
          <a:xfrm>
            <a:off x="3751263" y="2173291"/>
            <a:ext cx="5821362" cy="3330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219146" name="Rectangle 10"/>
          <p:cNvSpPr>
            <a:spLocks noChangeArrowheads="1"/>
          </p:cNvSpPr>
          <p:nvPr/>
        </p:nvSpPr>
        <p:spPr bwMode="auto">
          <a:xfrm>
            <a:off x="4537075" y="2109796"/>
            <a:ext cx="412452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C72F05"/>
                </a:solidFill>
                <a:latin typeface="Book Antiqua" pitchFamily="18" charset="0"/>
              </a:rPr>
              <a:t>system-call interface to the kernel</a:t>
            </a:r>
          </a:p>
        </p:txBody>
      </p:sp>
      <p:sp>
        <p:nvSpPr>
          <p:cNvPr id="219147" name="Rectangle 11"/>
          <p:cNvSpPr>
            <a:spLocks noChangeArrowheads="1"/>
          </p:cNvSpPr>
          <p:nvPr/>
        </p:nvSpPr>
        <p:spPr bwMode="auto">
          <a:xfrm>
            <a:off x="4376738" y="5076832"/>
            <a:ext cx="405559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C72F05"/>
                </a:solidFill>
                <a:latin typeface="Book Antiqua" pitchFamily="18" charset="0"/>
              </a:rPr>
              <a:t>kernel  interface to the hardware</a:t>
            </a:r>
            <a:r>
              <a:rPr lang="en-US" altLang="zh-TW" sz="2000" b="1">
                <a:latin typeface="Book Antiqua" pitchFamily="18" charset="0"/>
              </a:rPr>
              <a:t> </a:t>
            </a:r>
          </a:p>
        </p:txBody>
      </p:sp>
      <p:sp>
        <p:nvSpPr>
          <p:cNvPr id="21519" name="Rectangle 12"/>
          <p:cNvSpPr>
            <a:spLocks noChangeArrowheads="1"/>
          </p:cNvSpPr>
          <p:nvPr/>
        </p:nvSpPr>
        <p:spPr bwMode="auto">
          <a:xfrm>
            <a:off x="3748092" y="5557846"/>
            <a:ext cx="1920399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1500" b="1">
                <a:latin typeface="Book Antiqua" pitchFamily="18" charset="0"/>
              </a:rPr>
              <a:t>terminal controllers</a:t>
            </a:r>
          </a:p>
        </p:txBody>
      </p:sp>
      <p:sp>
        <p:nvSpPr>
          <p:cNvPr id="21520" name="Rectangle 13"/>
          <p:cNvSpPr>
            <a:spLocks noChangeArrowheads="1"/>
          </p:cNvSpPr>
          <p:nvPr/>
        </p:nvSpPr>
        <p:spPr bwMode="auto">
          <a:xfrm>
            <a:off x="5537198" y="5553083"/>
            <a:ext cx="1833836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1500" b="1">
                <a:latin typeface="Book Antiqua" pitchFamily="18" charset="0"/>
              </a:rPr>
              <a:t>  device controllers</a:t>
            </a:r>
          </a:p>
        </p:txBody>
      </p:sp>
      <p:sp>
        <p:nvSpPr>
          <p:cNvPr id="21521" name="Rectangle 14"/>
          <p:cNvSpPr>
            <a:spLocks noChangeArrowheads="1"/>
          </p:cNvSpPr>
          <p:nvPr/>
        </p:nvSpPr>
        <p:spPr bwMode="auto">
          <a:xfrm>
            <a:off x="7389817" y="5548321"/>
            <a:ext cx="1997343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1500" b="1">
                <a:latin typeface="Book Antiqua" pitchFamily="18" charset="0"/>
              </a:rPr>
              <a:t>  memory controllers</a:t>
            </a:r>
          </a:p>
        </p:txBody>
      </p:sp>
      <p:sp>
        <p:nvSpPr>
          <p:cNvPr id="21522" name="Line 15"/>
          <p:cNvSpPr>
            <a:spLocks noChangeShapeType="1"/>
          </p:cNvSpPr>
          <p:nvPr/>
        </p:nvSpPr>
        <p:spPr bwMode="auto">
          <a:xfrm>
            <a:off x="5662613" y="5459413"/>
            <a:ext cx="0" cy="830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23" name="Line 16"/>
          <p:cNvSpPr>
            <a:spLocks noChangeShapeType="1"/>
          </p:cNvSpPr>
          <p:nvPr/>
        </p:nvSpPr>
        <p:spPr bwMode="auto">
          <a:xfrm>
            <a:off x="7381875" y="5459413"/>
            <a:ext cx="0" cy="830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24" name="Rectangle 17"/>
          <p:cNvSpPr>
            <a:spLocks noChangeArrowheads="1"/>
          </p:cNvSpPr>
          <p:nvPr/>
        </p:nvSpPr>
        <p:spPr bwMode="auto">
          <a:xfrm>
            <a:off x="4149726" y="5886458"/>
            <a:ext cx="5027018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1500" b="1">
                <a:latin typeface="Book Antiqua" pitchFamily="18" charset="0"/>
              </a:rPr>
              <a:t>terminals             devices and tapes       physical memory</a:t>
            </a:r>
          </a:p>
        </p:txBody>
      </p:sp>
      <p:sp>
        <p:nvSpPr>
          <p:cNvPr id="219154" name="Rectangle 18"/>
          <p:cNvSpPr>
            <a:spLocks noChangeArrowheads="1"/>
          </p:cNvSpPr>
          <p:nvPr/>
        </p:nvSpPr>
        <p:spPr bwMode="auto">
          <a:xfrm>
            <a:off x="3871917" y="2838450"/>
            <a:ext cx="5307544" cy="1400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signals </a:t>
            </a:r>
            <a:r>
              <a:rPr lang="en-US" altLang="zh-TW" sz="2000" b="1">
                <a:latin typeface="Book Antiqua" pitchFamily="18" charset="0"/>
              </a:rPr>
              <a:t>         file system     </a:t>
            </a: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CPU scheduling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terminal </a:t>
            </a:r>
            <a:r>
              <a:rPr lang="en-US" altLang="zh-TW" sz="1400" b="1">
                <a:solidFill>
                  <a:srgbClr val="FF0066"/>
                </a:solidFill>
                <a:latin typeface="Book Antiqua" pitchFamily="18" charset="0"/>
              </a:rPr>
              <a:t>        </a:t>
            </a:r>
            <a:r>
              <a:rPr lang="en-US" altLang="zh-TW" sz="1400" b="1">
                <a:solidFill>
                  <a:srgbClr val="0000FF"/>
                </a:solidFill>
                <a:latin typeface="Book Antiqua" pitchFamily="18" charset="0"/>
              </a:rPr>
              <a:t> </a:t>
            </a: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swapping</a:t>
            </a: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     </a:t>
            </a: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page</a:t>
            </a: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 </a:t>
            </a: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replacement</a:t>
            </a: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  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1600">
                <a:solidFill>
                  <a:srgbClr val="FF0066"/>
                </a:solidFill>
              </a:rPr>
              <a:t>Handling</a:t>
            </a:r>
          </a:p>
          <a:p>
            <a:pPr latinLnBrk="1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endParaRPr lang="en-US" altLang="zh-TW" sz="2000" b="1">
              <a:latin typeface="Book Antiqua" pitchFamily="18" charset="0"/>
            </a:endParaRPr>
          </a:p>
        </p:txBody>
      </p:sp>
      <p:sp>
        <p:nvSpPr>
          <p:cNvPr id="219156" name="Rectangle 20"/>
          <p:cNvSpPr>
            <a:spLocks noChangeArrowheads="1"/>
          </p:cNvSpPr>
          <p:nvPr/>
        </p:nvSpPr>
        <p:spPr bwMode="auto">
          <a:xfrm>
            <a:off x="3762375" y="3824295"/>
            <a:ext cx="5355634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 </a:t>
            </a:r>
            <a:r>
              <a:rPr lang="en-US" altLang="zh-TW" sz="2000" b="1">
                <a:solidFill>
                  <a:srgbClr val="336633"/>
                </a:solidFill>
                <a:latin typeface="Book Antiqua" pitchFamily="18" charset="0"/>
              </a:rPr>
              <a:t>char I/O           block I/O</a:t>
            </a:r>
            <a:r>
              <a:rPr lang="en-US" altLang="zh-TW" sz="2000" b="1">
                <a:latin typeface="Book Antiqua" pitchFamily="18" charset="0"/>
              </a:rPr>
              <a:t>        </a:t>
            </a: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demand paging</a:t>
            </a:r>
          </a:p>
        </p:txBody>
      </p:sp>
      <p:sp>
        <p:nvSpPr>
          <p:cNvPr id="219157" name="Rectangle 21"/>
          <p:cNvSpPr>
            <a:spLocks noChangeArrowheads="1"/>
          </p:cNvSpPr>
          <p:nvPr/>
        </p:nvSpPr>
        <p:spPr bwMode="auto">
          <a:xfrm>
            <a:off x="3902078" y="4195771"/>
            <a:ext cx="4504439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336633"/>
                </a:solidFill>
                <a:latin typeface="Book Antiqua" pitchFamily="18" charset="0"/>
              </a:rPr>
              <a:t>terminal </a:t>
            </a:r>
            <a:r>
              <a:rPr lang="en-US" altLang="zh-TW" sz="2000" b="1">
                <a:latin typeface="Book Antiqua" pitchFamily="18" charset="0"/>
              </a:rPr>
              <a:t>     </a:t>
            </a:r>
            <a:r>
              <a:rPr lang="en-US" altLang="zh-TW" sz="2000" b="1">
                <a:solidFill>
                  <a:srgbClr val="336633"/>
                </a:solidFill>
                <a:latin typeface="Book Antiqua" pitchFamily="18" charset="0"/>
              </a:rPr>
              <a:t>disk and tape</a:t>
            </a:r>
            <a:r>
              <a:rPr lang="en-US" altLang="zh-TW" sz="2000" b="1">
                <a:latin typeface="Book Antiqua" pitchFamily="18" charset="0"/>
              </a:rPr>
              <a:t>         </a:t>
            </a: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virtual</a:t>
            </a:r>
          </a:p>
        </p:txBody>
      </p:sp>
      <p:sp>
        <p:nvSpPr>
          <p:cNvPr id="219158" name="Rectangle 22"/>
          <p:cNvSpPr>
            <a:spLocks noChangeArrowheads="1"/>
          </p:cNvSpPr>
          <p:nvPr/>
        </p:nvSpPr>
        <p:spPr bwMode="auto">
          <a:xfrm>
            <a:off x="3963992" y="4424371"/>
            <a:ext cx="4533293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336633"/>
                </a:solidFill>
                <a:latin typeface="Book Antiqua" pitchFamily="18" charset="0"/>
              </a:rPr>
              <a:t>drivers              drivers</a:t>
            </a:r>
            <a:r>
              <a:rPr lang="en-US" altLang="zh-TW" sz="2000" b="1">
                <a:latin typeface="Book Antiqua" pitchFamily="18" charset="0"/>
              </a:rPr>
              <a:t>             </a:t>
            </a: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memory</a:t>
            </a:r>
          </a:p>
        </p:txBody>
      </p:sp>
      <p:sp>
        <p:nvSpPr>
          <p:cNvPr id="21529" name="Rectangle 23"/>
          <p:cNvSpPr>
            <a:spLocks noChangeArrowheads="1"/>
          </p:cNvSpPr>
          <p:nvPr/>
        </p:nvSpPr>
        <p:spPr bwMode="auto">
          <a:xfrm>
            <a:off x="1651000" y="3473450"/>
            <a:ext cx="11414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kernel</a:t>
            </a:r>
          </a:p>
        </p:txBody>
      </p:sp>
      <p:sp>
        <p:nvSpPr>
          <p:cNvPr id="21530" name="Text Box 24"/>
          <p:cNvSpPr txBox="1">
            <a:spLocks noChangeArrowheads="1"/>
          </p:cNvSpPr>
          <p:nvPr/>
        </p:nvSpPr>
        <p:spPr bwMode="auto">
          <a:xfrm>
            <a:off x="1603378" y="5641976"/>
            <a:ext cx="12955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hardware</a:t>
            </a:r>
          </a:p>
        </p:txBody>
      </p:sp>
      <p:sp>
        <p:nvSpPr>
          <p:cNvPr id="21531" name="Line 25"/>
          <p:cNvSpPr>
            <a:spLocks noChangeShapeType="1"/>
          </p:cNvSpPr>
          <p:nvPr/>
        </p:nvSpPr>
        <p:spPr bwMode="auto">
          <a:xfrm>
            <a:off x="3775075" y="5053013"/>
            <a:ext cx="57991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32" name="Line 26"/>
          <p:cNvSpPr>
            <a:spLocks noChangeShapeType="1"/>
          </p:cNvSpPr>
          <p:nvPr/>
        </p:nvSpPr>
        <p:spPr bwMode="auto">
          <a:xfrm>
            <a:off x="3775075" y="2538413"/>
            <a:ext cx="57991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33" name="Line 27"/>
          <p:cNvSpPr>
            <a:spLocks noChangeShapeType="1"/>
          </p:cNvSpPr>
          <p:nvPr/>
        </p:nvSpPr>
        <p:spPr bwMode="auto">
          <a:xfrm flipV="1">
            <a:off x="3008316" y="3209925"/>
            <a:ext cx="676275" cy="463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34" name="Line 28"/>
          <p:cNvSpPr>
            <a:spLocks noChangeShapeType="1"/>
          </p:cNvSpPr>
          <p:nvPr/>
        </p:nvSpPr>
        <p:spPr bwMode="auto">
          <a:xfrm>
            <a:off x="3008314" y="3644900"/>
            <a:ext cx="723900" cy="1606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35" name="Text Box 29"/>
          <p:cNvSpPr txBox="1">
            <a:spLocks noChangeArrowheads="1"/>
          </p:cNvSpPr>
          <p:nvPr/>
        </p:nvSpPr>
        <p:spPr bwMode="auto">
          <a:xfrm>
            <a:off x="1394546" y="1808170"/>
            <a:ext cx="12955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system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programs</a:t>
            </a:r>
          </a:p>
        </p:txBody>
      </p:sp>
      <p:sp>
        <p:nvSpPr>
          <p:cNvPr id="21536" name="Line 30"/>
          <p:cNvSpPr>
            <a:spLocks noChangeShapeType="1"/>
          </p:cNvSpPr>
          <p:nvPr/>
        </p:nvSpPr>
        <p:spPr bwMode="auto">
          <a:xfrm flipV="1">
            <a:off x="2867029" y="1793875"/>
            <a:ext cx="676275" cy="463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37" name="Text Box 31"/>
          <p:cNvSpPr txBox="1">
            <a:spLocks noChangeArrowheads="1"/>
          </p:cNvSpPr>
          <p:nvPr/>
        </p:nvSpPr>
        <p:spPr bwMode="auto">
          <a:xfrm>
            <a:off x="701676" y="3489326"/>
            <a:ext cx="4828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(1)</a:t>
            </a:r>
          </a:p>
        </p:txBody>
      </p:sp>
      <p:sp>
        <p:nvSpPr>
          <p:cNvPr id="21538" name="Text Box 32"/>
          <p:cNvSpPr txBox="1">
            <a:spLocks noChangeArrowheads="1"/>
          </p:cNvSpPr>
          <p:nvPr/>
        </p:nvSpPr>
        <p:spPr bwMode="auto">
          <a:xfrm>
            <a:off x="665164" y="2043113"/>
            <a:ext cx="4828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(2)</a:t>
            </a:r>
          </a:p>
        </p:txBody>
      </p:sp>
      <p:sp>
        <p:nvSpPr>
          <p:cNvPr id="21539" name="Line 33"/>
          <p:cNvSpPr>
            <a:spLocks noChangeShapeType="1"/>
          </p:cNvSpPr>
          <p:nvPr/>
        </p:nvSpPr>
        <p:spPr bwMode="auto">
          <a:xfrm flipV="1">
            <a:off x="3019429" y="2339975"/>
            <a:ext cx="657225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43" y="493720"/>
            <a:ext cx="1849437" cy="1300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92529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9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9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9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9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9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9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9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9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2" grpId="0"/>
      <p:bldP spid="219143" grpId="0"/>
      <p:bldP spid="219146" grpId="0"/>
      <p:bldP spid="219147" grpId="0"/>
      <p:bldP spid="219154" grpId="0"/>
      <p:bldP spid="219156" grpId="0"/>
      <p:bldP spid="219157" grpId="0"/>
      <p:bldP spid="2191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BF0C13B-F7BB-471E-9F66-F1CBB1CEDAF1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253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25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A289594-6A9B-4AC4-BBB6-EDA33CD87502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400" smtClean="0"/>
          </a:p>
        </p:txBody>
      </p:sp>
      <p:sp>
        <p:nvSpPr>
          <p:cNvPr id="22533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7338" y="0"/>
            <a:ext cx="9010650" cy="62388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3600" smtClean="0"/>
              <a:t>Evolution of Unix and Unix-like systems</a:t>
            </a:r>
          </a:p>
        </p:txBody>
      </p:sp>
      <p:pic>
        <p:nvPicPr>
          <p:cNvPr id="2253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5463"/>
            <a:ext cx="9871076" cy="614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801" y="5597081"/>
            <a:ext cx="999088" cy="749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503" y="5308997"/>
            <a:ext cx="758865" cy="66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953" y="3938264"/>
            <a:ext cx="1022763" cy="767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518" y="525471"/>
            <a:ext cx="1847850" cy="129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040" y="6398686"/>
            <a:ext cx="893401" cy="574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419" y="6387146"/>
            <a:ext cx="1710748" cy="570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372" y="1298041"/>
            <a:ext cx="749928" cy="749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572" y="832919"/>
            <a:ext cx="1086318" cy="840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920" y="224191"/>
            <a:ext cx="712008" cy="950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90" y="4706091"/>
            <a:ext cx="11525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964" y="3560747"/>
            <a:ext cx="1206551" cy="59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150" y="6081834"/>
            <a:ext cx="985774" cy="855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09332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E3FA626-50C2-429A-AB51-563B02D814E3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47B26EA-7FA6-48FB-90D2-0A85C48DFAF2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TW" sz="1400" smtClean="0"/>
          </a:p>
        </p:txBody>
      </p:sp>
      <p:sp>
        <p:nvSpPr>
          <p:cNvPr id="2007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5505" y="247650"/>
            <a:ext cx="8556625" cy="6248400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en-US" altLang="zh-TW" sz="4000" dirty="0" smtClean="0">
                <a:solidFill>
                  <a:srgbClr val="000000"/>
                </a:solidFill>
                <a:latin typeface="Comic Sans MS" pitchFamily="66" charset="0"/>
              </a:rPr>
              <a:t>Lately: </a:t>
            </a:r>
            <a:r>
              <a:rPr lang="en-US" altLang="zh-TW" sz="4000" dirty="0" smtClean="0">
                <a:solidFill>
                  <a:srgbClr val="0000FF"/>
                </a:solidFill>
                <a:latin typeface="Comic Sans MS" pitchFamily="66" charset="0"/>
              </a:rPr>
              <a:t>ARM </a:t>
            </a:r>
            <a:r>
              <a:rPr lang="en-US" altLang="zh-TW" sz="4000" dirty="0" err="1" smtClean="0">
                <a:solidFill>
                  <a:srgbClr val="0000FF"/>
                </a:solidFill>
                <a:latin typeface="Comic Sans MS" pitchFamily="66" charset="0"/>
              </a:rPr>
              <a:t>mbed</a:t>
            </a:r>
            <a:r>
              <a:rPr lang="en-US" altLang="zh-TW" sz="4000" dirty="0" smtClean="0">
                <a:solidFill>
                  <a:srgbClr val="000000"/>
                </a:solidFill>
                <a:latin typeface="Comic Sans MS" pitchFamily="66" charset="0"/>
              </a:rPr>
              <a:t>, </a:t>
            </a:r>
            <a:r>
              <a:rPr lang="en-US" altLang="zh-TW" sz="4000" dirty="0" err="1" smtClean="0">
                <a:solidFill>
                  <a:srgbClr val="000000"/>
                </a:solidFill>
                <a:latin typeface="Comic Sans MS" pitchFamily="66" charset="0"/>
              </a:rPr>
              <a:t>IoT</a:t>
            </a:r>
            <a:r>
              <a:rPr lang="en-US" altLang="zh-TW" sz="4000" dirty="0" smtClean="0">
                <a:solidFill>
                  <a:srgbClr val="000000"/>
                </a:solidFill>
                <a:latin typeface="Comic Sans MS" pitchFamily="66" charset="0"/>
              </a:rPr>
              <a:t> Solution, 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00"/>
                </a:solidFill>
              </a:rPr>
              <a:t>https://os.mbed.com/ </a:t>
            </a:r>
            <a:endParaRPr lang="en-US" altLang="zh-TW" sz="2800" dirty="0" smtClean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>	</a:t>
            </a:r>
          </a:p>
        </p:txBody>
      </p:sp>
      <p:pic>
        <p:nvPicPr>
          <p:cNvPr id="204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75" y="1631957"/>
            <a:ext cx="7824788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896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635217C-B24C-4DB7-8B14-E6B2EFAFC5AF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47B26EA-7FA6-48FB-90D2-0A85C48DFAF2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TW" sz="1400" smtClean="0"/>
          </a:p>
        </p:txBody>
      </p:sp>
      <p:sp>
        <p:nvSpPr>
          <p:cNvPr id="2007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5505" y="247650"/>
            <a:ext cx="8556625" cy="6248400"/>
          </a:xfrm>
        </p:spPr>
        <p:txBody>
          <a:bodyPr/>
          <a:lstStyle/>
          <a:p>
            <a:pPr algn="ctr" eaLnBrk="1" hangingPunct="1">
              <a:buNone/>
            </a:pPr>
            <a:r>
              <a:rPr lang="en-US" altLang="zh-TW" sz="3600" dirty="0" smtClean="0">
                <a:solidFill>
                  <a:srgbClr val="000000"/>
                </a:solidFill>
                <a:latin typeface="Comic Sans MS" pitchFamily="66" charset="0"/>
              </a:rPr>
              <a:t>Lately: </a:t>
            </a:r>
            <a:r>
              <a:rPr lang="en-US" altLang="zh-TW" sz="3600" dirty="0">
                <a:solidFill>
                  <a:srgbClr val="0000FF"/>
                </a:solidFill>
                <a:latin typeface="Comic Sans MS" pitchFamily="66" charset="0"/>
              </a:rPr>
              <a:t>Vault OS</a:t>
            </a:r>
            <a:r>
              <a:rPr lang="en-US" altLang="zh-TW" sz="3600" dirty="0">
                <a:solidFill>
                  <a:srgbClr val="000000"/>
                </a:solidFill>
                <a:latin typeface="Comic Sans MS" pitchFamily="66" charset="0"/>
              </a:rPr>
              <a:t>, </a:t>
            </a:r>
            <a:r>
              <a:rPr lang="en-US" altLang="zh-TW" sz="3600" dirty="0" err="1">
                <a:solidFill>
                  <a:srgbClr val="000000"/>
                </a:solidFill>
                <a:latin typeface="Comic Sans MS" pitchFamily="66" charset="0"/>
              </a:rPr>
              <a:t>Blockchain</a:t>
            </a:r>
            <a:r>
              <a:rPr lang="en-US" altLang="zh-TW" sz="3600" dirty="0">
                <a:solidFill>
                  <a:srgbClr val="000000"/>
                </a:solidFill>
                <a:latin typeface="Comic Sans MS" pitchFamily="66" charset="0"/>
              </a:rPr>
              <a:t>-Based System for </a:t>
            </a:r>
            <a:r>
              <a:rPr lang="en-US" altLang="zh-TW" sz="3600" dirty="0" smtClean="0">
                <a:solidFill>
                  <a:srgbClr val="000000"/>
                </a:solidFill>
                <a:latin typeface="Comic Sans MS" pitchFamily="66" charset="0"/>
              </a:rPr>
              <a:t>Banks </a:t>
            </a:r>
            <a:r>
              <a:rPr lang="en-US" altLang="zh-TW" sz="2000" dirty="0" smtClean="0">
                <a:solidFill>
                  <a:srgbClr val="000000"/>
                </a:solidFill>
                <a:latin typeface="Comic Sans MS" pitchFamily="66" charset="0"/>
              </a:rPr>
              <a:t>https</a:t>
            </a:r>
            <a:r>
              <a:rPr lang="en-US" altLang="zh-TW" sz="2000" dirty="0">
                <a:solidFill>
                  <a:srgbClr val="000000"/>
                </a:solidFill>
                <a:latin typeface="Comic Sans MS" pitchFamily="66" charset="0"/>
              </a:rPr>
              <a:t>://www.thoughtmachine.net/</a:t>
            </a:r>
            <a:endParaRPr lang="en-US" altLang="zh-TW" sz="4000" dirty="0" smtClean="0">
              <a:solidFill>
                <a:srgbClr val="000000"/>
              </a:solidFill>
              <a:latin typeface="Comic Sans MS" pitchFamily="66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sz="2800" dirty="0">
                <a:solidFill>
                  <a:srgbClr val="000000"/>
                </a:solidFill>
              </a:rPr>
              <a:t> ex-Google engineer Paul Taylor</a:t>
            </a:r>
            <a:endParaRPr lang="en-US" altLang="zh-TW" sz="2800" dirty="0" smtClean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>	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400" y="2243996"/>
            <a:ext cx="6273800" cy="4239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168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20D057F-AD8A-44BD-B4C4-EAF429482209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47B26EA-7FA6-48FB-90D2-0A85C48DFAF2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TW" sz="1400" smtClean="0"/>
          </a:p>
        </p:txBody>
      </p:sp>
      <p:sp>
        <p:nvSpPr>
          <p:cNvPr id="2007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5501" y="247650"/>
            <a:ext cx="5981700" cy="6248400"/>
          </a:xfrm>
        </p:spPr>
        <p:txBody>
          <a:bodyPr/>
          <a:lstStyle/>
          <a:p>
            <a:pPr algn="ctr" eaLnBrk="1" hangingPunct="1">
              <a:buNone/>
            </a:pPr>
            <a:r>
              <a:rPr lang="en-US" altLang="zh-TW" sz="4000" dirty="0" smtClean="0">
                <a:solidFill>
                  <a:srgbClr val="000000"/>
                </a:solidFill>
                <a:latin typeface="Comic Sans MS" pitchFamily="66" charset="0"/>
              </a:rPr>
              <a:t>Lately:, </a:t>
            </a:r>
            <a:r>
              <a:rPr lang="en-US" altLang="zh-TW" sz="4000" dirty="0" err="1" smtClean="0">
                <a:solidFill>
                  <a:srgbClr val="000000"/>
                </a:solidFill>
                <a:latin typeface="Comic Sans MS" pitchFamily="66" charset="0"/>
              </a:rPr>
              <a:t>MesOS</a:t>
            </a:r>
            <a:r>
              <a:rPr lang="en-US" altLang="zh-TW" sz="4000" dirty="0" smtClean="0">
                <a:solidFill>
                  <a:srgbClr val="000000"/>
                </a:solidFill>
                <a:latin typeface="Comic Sans MS" pitchFamily="66" charset="0"/>
              </a:rPr>
              <a:t>,</a:t>
            </a:r>
            <a:r>
              <a:rPr lang="zh-TW" altLang="en-US" sz="4000" dirty="0" smtClean="0">
                <a:solidFill>
                  <a:srgbClr val="000000"/>
                </a:solidFill>
                <a:latin typeface="Comic Sans MS" pitchFamily="66" charset="0"/>
              </a:rPr>
              <a:t> </a:t>
            </a:r>
            <a:r>
              <a:rPr lang="en-US" altLang="zh-TW" sz="4000" dirty="0">
                <a:solidFill>
                  <a:srgbClr val="000000"/>
                </a:solidFill>
                <a:latin typeface="Comic Sans MS" pitchFamily="66" charset="0"/>
              </a:rPr>
              <a:t>CentOS</a:t>
            </a:r>
            <a:endParaRPr lang="en-US" altLang="zh-TW" sz="4000" dirty="0" smtClean="0">
              <a:solidFill>
                <a:srgbClr val="000000"/>
              </a:solidFill>
              <a:latin typeface="Comic Sans MS" pitchFamily="66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sz="2800" dirty="0">
                <a:solidFill>
                  <a:srgbClr val="000000"/>
                </a:solidFill>
              </a:rPr>
              <a:t>Since being developed at UC Berkeley, it has been adopted by several large software companies, including Twitter, Airbnb and Apple. At least 50 organizations currently use </a:t>
            </a:r>
            <a:r>
              <a:rPr lang="en-US" altLang="zh-TW" sz="2800" dirty="0" err="1">
                <a:solidFill>
                  <a:srgbClr val="000000"/>
                </a:solidFill>
              </a:rPr>
              <a:t>Mesos</a:t>
            </a:r>
            <a:r>
              <a:rPr lang="en-US" altLang="zh-TW" sz="2800" dirty="0" smtClean="0">
                <a:solidFill>
                  <a:srgbClr val="000000"/>
                </a:solidFill>
              </a:rPr>
              <a:t>.</a:t>
            </a:r>
          </a:p>
          <a:p>
            <a:pPr marL="0" indent="0" eaLnBrk="1" hangingPunct="1">
              <a:spcBef>
                <a:spcPts val="1200"/>
              </a:spcBef>
              <a:spcAft>
                <a:spcPts val="600"/>
              </a:spcAft>
              <a:buNone/>
            </a:pPr>
            <a:endParaRPr lang="en-US" altLang="zh-TW" sz="2800" dirty="0" smtClean="0">
              <a:solidFill>
                <a:srgbClr val="000000"/>
              </a:solidFill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800" dirty="0" smtClean="0">
                <a:solidFill>
                  <a:srgbClr val="000000"/>
                </a:solidFill>
              </a:rPr>
              <a:t>Community </a:t>
            </a:r>
            <a:r>
              <a:rPr lang="en-US" altLang="zh-TW" sz="2800" dirty="0">
                <a:solidFill>
                  <a:srgbClr val="000000"/>
                </a:solidFill>
              </a:rPr>
              <a:t>Enterprise Operating </a:t>
            </a:r>
            <a:r>
              <a:rPr lang="en-US" altLang="zh-TW" sz="2800" dirty="0" smtClean="0">
                <a:solidFill>
                  <a:srgbClr val="000000"/>
                </a:solidFill>
              </a:rPr>
              <a:t>System(CentOS)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000000"/>
                </a:solidFill>
              </a:rPr>
              <a:t>forked from RHEL version 2.1AS</a:t>
            </a:r>
            <a:r>
              <a:rPr lang="en-US" altLang="zh-TW" sz="2400" dirty="0" smtClean="0">
                <a:solidFill>
                  <a:srgbClr val="000000"/>
                </a:solidFill>
              </a:rPr>
              <a:t>.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000000"/>
                </a:solidFill>
              </a:rPr>
              <a:t>7.4-1708</a:t>
            </a:r>
            <a:endParaRPr lang="en-US" altLang="zh-TW" sz="2400" dirty="0" smtClean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>	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904" y="4498702"/>
            <a:ext cx="2044700" cy="1698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001" y="1085850"/>
            <a:ext cx="2888003" cy="1146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7" y="602977"/>
            <a:ext cx="7419975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8390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1B1A8D9-E112-4AC6-ACA2-097A50D21A14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47B26EA-7FA6-48FB-90D2-0A85C48DFAF2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TW" sz="1400" smtClean="0"/>
          </a:p>
        </p:txBody>
      </p:sp>
      <p:sp>
        <p:nvSpPr>
          <p:cNvPr id="2007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5505" y="247650"/>
            <a:ext cx="8556625" cy="6248400"/>
          </a:xfrm>
        </p:spPr>
        <p:txBody>
          <a:bodyPr/>
          <a:lstStyle/>
          <a:p>
            <a:pPr algn="ctr" eaLnBrk="1" hangingPunct="1">
              <a:buNone/>
            </a:pPr>
            <a:r>
              <a:rPr lang="en-US" altLang="zh-TW" sz="4000" dirty="0" smtClean="0">
                <a:solidFill>
                  <a:srgbClr val="000000"/>
                </a:solidFill>
                <a:latin typeface="Comic Sans MS" pitchFamily="66" charset="0"/>
              </a:rPr>
              <a:t>Lately: </a:t>
            </a:r>
            <a:r>
              <a:rPr lang="en-US" altLang="zh-TW" sz="4000" dirty="0" smtClean="0">
                <a:solidFill>
                  <a:srgbClr val="0000FF"/>
                </a:solidFill>
                <a:latin typeface="Comic Sans MS" pitchFamily="66" charset="0"/>
              </a:rPr>
              <a:t>Fuchsia</a:t>
            </a:r>
            <a:r>
              <a:rPr lang="zh-TW" altLang="en-US" sz="4000" dirty="0" smtClean="0">
                <a:solidFill>
                  <a:srgbClr val="0000FF"/>
                </a:solidFill>
                <a:latin typeface="Comic Sans MS" pitchFamily="66" charset="0"/>
              </a:rPr>
              <a:t> </a:t>
            </a:r>
            <a:r>
              <a:rPr lang="en-US" altLang="zh-TW" sz="4000" dirty="0" smtClean="0">
                <a:solidFill>
                  <a:srgbClr val="0000FF"/>
                </a:solidFill>
                <a:latin typeface="Comic Sans MS" pitchFamily="66" charset="0"/>
              </a:rPr>
              <a:t>OS</a:t>
            </a:r>
            <a:r>
              <a:rPr lang="en-US" altLang="zh-TW" sz="4000" dirty="0">
                <a:solidFill>
                  <a:srgbClr val="000000"/>
                </a:solidFill>
                <a:latin typeface="Comic Sans MS" pitchFamily="66" charset="0"/>
              </a:rPr>
              <a:t>, </a:t>
            </a:r>
            <a:r>
              <a:rPr lang="en-US" altLang="zh-TW" sz="4000" dirty="0" smtClean="0">
                <a:solidFill>
                  <a:srgbClr val="000000"/>
                </a:solidFill>
                <a:latin typeface="Comic Sans MS" pitchFamily="66" charset="0"/>
              </a:rPr>
              <a:t>Google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sz="2800" dirty="0">
                <a:solidFill>
                  <a:srgbClr val="000000"/>
                </a:solidFill>
              </a:rPr>
              <a:t>Fuchsia (pronounced "</a:t>
            </a:r>
            <a:r>
              <a:rPr lang="en-US" altLang="zh-TW" sz="2800" dirty="0" err="1" smtClean="0">
                <a:solidFill>
                  <a:srgbClr val="000000"/>
                </a:solidFill>
              </a:rPr>
              <a:t>fyoo-shuh</a:t>
            </a:r>
            <a:r>
              <a:rPr lang="en-US" altLang="zh-TW" sz="2800" dirty="0" smtClean="0">
                <a:solidFill>
                  <a:srgbClr val="000000"/>
                </a:solidFill>
              </a:rPr>
              <a:t>") </a:t>
            </a:r>
            <a:r>
              <a:rPr lang="en-US" altLang="zh-TW" sz="2800" dirty="0">
                <a:solidFill>
                  <a:srgbClr val="000000"/>
                </a:solidFill>
              </a:rPr>
              <a:t>can run on just about any kind of </a:t>
            </a:r>
            <a:r>
              <a:rPr lang="en-US" altLang="zh-TW" sz="2800" dirty="0" smtClean="0">
                <a:solidFill>
                  <a:srgbClr val="000000"/>
                </a:solidFill>
              </a:rPr>
              <a:t>device</a:t>
            </a:r>
            <a:r>
              <a:rPr lang="en-US" altLang="zh-TW" sz="2800" dirty="0">
                <a:solidFill>
                  <a:srgbClr val="000000"/>
                </a:solidFill>
              </a:rPr>
              <a:t>? </a:t>
            </a:r>
            <a:r>
              <a:rPr lang="en-US" altLang="zh-TW" sz="2800" dirty="0" err="1" smtClean="0">
                <a:solidFill>
                  <a:srgbClr val="0000FF"/>
                </a:solidFill>
              </a:rPr>
              <a:t>Pixelbook</a:t>
            </a:r>
            <a:r>
              <a:rPr lang="en-US" altLang="zh-TW" sz="2800" dirty="0" smtClean="0">
                <a:solidFill>
                  <a:srgbClr val="0000FF"/>
                </a:solidFill>
              </a:rPr>
              <a:t>, …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sz="2800" dirty="0" smtClean="0">
                <a:solidFill>
                  <a:srgbClr val="FF0000"/>
                </a:solidFill>
              </a:rPr>
              <a:t>Magenta</a:t>
            </a:r>
            <a:r>
              <a:rPr lang="en-US" altLang="zh-TW" sz="2800" dirty="0" smtClean="0">
                <a:solidFill>
                  <a:srgbClr val="000000"/>
                </a:solidFill>
              </a:rPr>
              <a:t> </a:t>
            </a:r>
            <a:r>
              <a:rPr lang="en-US" altLang="zh-TW" sz="2800" dirty="0">
                <a:solidFill>
                  <a:srgbClr val="000000"/>
                </a:solidFill>
              </a:rPr>
              <a:t>kernel (Chrome OS, Android: </a:t>
            </a:r>
            <a:r>
              <a:rPr lang="en-US" altLang="zh-TW" sz="2800" dirty="0" smtClean="0">
                <a:solidFill>
                  <a:srgbClr val="000000"/>
                </a:solidFill>
              </a:rPr>
              <a:t>Linux kernel)</a:t>
            </a:r>
            <a:endParaRPr lang="en-US" altLang="zh-TW" sz="2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sz="2800" dirty="0" smtClean="0">
                <a:solidFill>
                  <a:srgbClr val="000000"/>
                </a:solidFill>
              </a:rPr>
              <a:t>Google's </a:t>
            </a:r>
            <a:r>
              <a:rPr lang="en-US" altLang="zh-TW" sz="2800" dirty="0">
                <a:solidFill>
                  <a:srgbClr val="000000"/>
                </a:solidFill>
              </a:rPr>
              <a:t>Dart programming language</a:t>
            </a:r>
            <a:endParaRPr lang="en-US" altLang="zh-TW" sz="2800" dirty="0" smtClean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>	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76" y="3409950"/>
            <a:ext cx="474345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108" y="4021138"/>
            <a:ext cx="3561955" cy="201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5840" y="0"/>
            <a:ext cx="1280160" cy="112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0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87974EB-8DC7-4122-90A1-6B282C951A4F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35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35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369BBF7-A8FA-4E7E-A85B-84BA845CED76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TW" sz="1400" smtClean="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8"/>
            <a:ext cx="8420100" cy="601663"/>
          </a:xfrm>
        </p:spPr>
        <p:txBody>
          <a:bodyPr/>
          <a:lstStyle/>
          <a:p>
            <a:pPr algn="ctr" eaLnBrk="1" hangingPunct="1"/>
            <a:r>
              <a:rPr lang="en-US" altLang="zh-TW" sz="4000" smtClean="0"/>
              <a:t>Overview (1)</a:t>
            </a:r>
          </a:p>
        </p:txBody>
      </p:sp>
      <p:sp>
        <p:nvSpPr>
          <p:cNvPr id="1986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7091" y="901700"/>
            <a:ext cx="8686800" cy="49657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Char char="p"/>
            </a:pPr>
            <a:r>
              <a:rPr lang="en-US" altLang="zh-TW" sz="2800" dirty="0" smtClean="0"/>
              <a:t>Operating systems are an essential part of any computer system.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Char char="p"/>
            </a:pPr>
            <a:r>
              <a:rPr lang="en-US" altLang="zh-TW" sz="2800" dirty="0" smtClean="0"/>
              <a:t>Similarly, a course on operating systems is an essential part of any computer-science education.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Char char="p"/>
            </a:pPr>
            <a:r>
              <a:rPr lang="en-US" altLang="zh-TW" sz="2800" dirty="0" smtClean="0"/>
              <a:t>This field is undergoing change at a rapid rate, as computers are now prevalent in virtually every application, from games for children through the most sophisticated planning tools for governments and multinational firms.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Char char="p"/>
            </a:pPr>
            <a:r>
              <a:rPr lang="en-US" altLang="zh-TW" sz="2800" dirty="0" smtClean="0">
                <a:solidFill>
                  <a:srgbClr val="FF0066"/>
                </a:solidFill>
              </a:rPr>
              <a:t>Prerequisites</a:t>
            </a:r>
            <a:r>
              <a:rPr lang="en-US" altLang="zh-TW" sz="2800" dirty="0" smtClean="0"/>
              <a:t>: we assume that the reader is familiar with </a:t>
            </a:r>
            <a:r>
              <a:rPr lang="en-US" altLang="zh-TW" sz="2800" dirty="0" smtClean="0">
                <a:solidFill>
                  <a:srgbClr val="0000FF"/>
                </a:solidFill>
              </a:rPr>
              <a:t>basic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solidFill>
                  <a:schemeClr val="tx2"/>
                </a:solidFill>
              </a:rPr>
              <a:t>data structures</a:t>
            </a:r>
            <a:r>
              <a:rPr lang="en-US" altLang="zh-TW" sz="2800" dirty="0" smtClean="0"/>
              <a:t>, </a:t>
            </a:r>
            <a:r>
              <a:rPr lang="en-US" altLang="zh-TW" sz="2800" dirty="0" smtClean="0">
                <a:solidFill>
                  <a:schemeClr val="tx2"/>
                </a:solidFill>
              </a:rPr>
              <a:t>computer organization</a:t>
            </a:r>
            <a:r>
              <a:rPr lang="en-US" altLang="zh-TW" sz="2800" dirty="0" smtClean="0"/>
              <a:t>, and </a:t>
            </a:r>
            <a:r>
              <a:rPr lang="en-US" altLang="zh-TW" sz="2800" dirty="0" smtClean="0">
                <a:solidFill>
                  <a:schemeClr val="tx2"/>
                </a:solidFill>
              </a:rPr>
              <a:t>a high-level language</a:t>
            </a:r>
            <a:r>
              <a:rPr lang="en-US" altLang="zh-TW" sz="2800" dirty="0" smtClean="0"/>
              <a:t>, such as C, POXIS, Java.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57C8069-ED37-4125-86C3-DD008D93699C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457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45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54FA873-275B-4E63-BB47-658854CE4E99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TW" sz="1400" smtClean="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152400"/>
            <a:ext cx="8420100" cy="1143000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Overview (2)</a:t>
            </a:r>
          </a:p>
        </p:txBody>
      </p:sp>
      <p:sp>
        <p:nvSpPr>
          <p:cNvPr id="2457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60404" y="1176338"/>
            <a:ext cx="8686800" cy="4965700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buFont typeface="Wingdings" pitchFamily="2" charset="2"/>
              <a:buChar char="p"/>
            </a:pPr>
            <a:r>
              <a:rPr lang="en-US" altLang="zh-TW" sz="2800" dirty="0" smtClean="0">
                <a:solidFill>
                  <a:srgbClr val="0000FF"/>
                </a:solidFill>
              </a:rPr>
              <a:t>Concepts</a:t>
            </a:r>
            <a:r>
              <a:rPr lang="en-US" altLang="zh-TW" sz="2800" dirty="0" smtClean="0"/>
              <a:t> are presented using intuitive descriptions.</a:t>
            </a:r>
          </a:p>
          <a:p>
            <a:pPr eaLnBrk="1" hangingPunct="1">
              <a:spcBef>
                <a:spcPct val="60000"/>
              </a:spcBef>
              <a:buFont typeface="Wingdings" pitchFamily="2" charset="2"/>
              <a:buChar char="p"/>
            </a:pPr>
            <a:r>
              <a:rPr lang="en-US" altLang="zh-TW" sz="2800" dirty="0" smtClean="0"/>
              <a:t>Important theoretical results are covered, but </a:t>
            </a:r>
            <a:r>
              <a:rPr lang="en-US" altLang="zh-TW" sz="2800" dirty="0" smtClean="0">
                <a:solidFill>
                  <a:srgbClr val="0000FF"/>
                </a:solidFill>
              </a:rPr>
              <a:t>formal proofs are omitted</a:t>
            </a:r>
            <a:r>
              <a:rPr lang="en-US" altLang="zh-TW" sz="2800" dirty="0" smtClean="0"/>
              <a:t>.</a:t>
            </a:r>
          </a:p>
          <a:p>
            <a:pPr eaLnBrk="1" hangingPunct="1">
              <a:spcBef>
                <a:spcPct val="60000"/>
              </a:spcBef>
              <a:buFont typeface="Wingdings" pitchFamily="2" charset="2"/>
              <a:buChar char="p"/>
            </a:pPr>
            <a:r>
              <a:rPr lang="en-US" altLang="zh-TW" sz="2800" dirty="0" smtClean="0"/>
              <a:t>The </a:t>
            </a:r>
            <a:r>
              <a:rPr lang="en-US" altLang="zh-TW" sz="2800" dirty="0" smtClean="0">
                <a:solidFill>
                  <a:srgbClr val="0000FF"/>
                </a:solidFill>
              </a:rPr>
              <a:t>bibliographical notes </a:t>
            </a:r>
            <a:r>
              <a:rPr lang="en-US" altLang="zh-TW" sz="2800" dirty="0" smtClean="0"/>
              <a:t>contain pointers to research papers in which results were first presented and proved, as well as references to material for further reading. </a:t>
            </a:r>
          </a:p>
          <a:p>
            <a:pPr eaLnBrk="1" hangingPunct="1">
              <a:spcBef>
                <a:spcPct val="60000"/>
              </a:spcBef>
              <a:buFont typeface="Wingdings" pitchFamily="2" charset="2"/>
              <a:buChar char="p"/>
            </a:pPr>
            <a:r>
              <a:rPr lang="en-US" altLang="zh-TW" sz="2800" dirty="0" smtClean="0"/>
              <a:t>In place of proofs, </a:t>
            </a:r>
            <a:r>
              <a:rPr lang="en-US" altLang="zh-TW" sz="2800" dirty="0" smtClean="0">
                <a:solidFill>
                  <a:srgbClr val="0000FF"/>
                </a:solidFill>
              </a:rPr>
              <a:t>figures and examples </a:t>
            </a:r>
            <a:r>
              <a:rPr lang="en-US" altLang="zh-TW" sz="2800" dirty="0" smtClean="0"/>
              <a:t>are used to suggest why we should expect the result in question to be true.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3816CE7-7AE4-43D4-907C-6C4E5E1E3C0B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560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56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AB8030A-7FAE-4074-89EF-ED505ECD25E7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TW" sz="1400" smtClean="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>
          <a:xfrm>
            <a:off x="790576" y="222258"/>
            <a:ext cx="8420100" cy="822325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Overview (3)</a:t>
            </a:r>
          </a:p>
        </p:txBody>
      </p:sp>
      <p:sp>
        <p:nvSpPr>
          <p:cNvPr id="2488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11200" y="963618"/>
            <a:ext cx="8686800" cy="52403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Char char="p"/>
            </a:pPr>
            <a:r>
              <a:rPr lang="en-US" altLang="zh-TW" sz="2800" dirty="0" smtClean="0"/>
              <a:t>The fundamental concepts and algorithms covered in the book are often based on those used in </a:t>
            </a:r>
            <a:r>
              <a:rPr lang="en-US" altLang="zh-TW" sz="2800" dirty="0" smtClean="0">
                <a:solidFill>
                  <a:srgbClr val="0000FF"/>
                </a:solidFill>
              </a:rPr>
              <a:t>existing commercial operating systems.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Char char="p"/>
            </a:pPr>
            <a:r>
              <a:rPr lang="en-US" altLang="zh-TW" sz="2800" dirty="0" smtClean="0"/>
              <a:t>Our aim is to present these concepts and algorithms in a general setting that is </a:t>
            </a:r>
            <a:r>
              <a:rPr lang="en-US" altLang="zh-TW" sz="2800" dirty="0" smtClean="0">
                <a:solidFill>
                  <a:srgbClr val="FF0066"/>
                </a:solidFill>
              </a:rPr>
              <a:t>not tied to one particular operating system</a:t>
            </a:r>
            <a:r>
              <a:rPr lang="en-US" altLang="zh-TW" sz="2800" dirty="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Char char="p"/>
            </a:pPr>
            <a:r>
              <a:rPr lang="en-US" altLang="zh-TW" sz="2800" dirty="0" smtClean="0"/>
              <a:t>The content of the text corresponds to the suggestions from </a:t>
            </a:r>
            <a:r>
              <a:rPr lang="en-US" altLang="zh-TW" sz="2800" dirty="0" smtClean="0">
                <a:solidFill>
                  <a:srgbClr val="0000FF"/>
                </a:solidFill>
              </a:rPr>
              <a:t>Computing Curricula 2001</a:t>
            </a:r>
            <a:r>
              <a:rPr lang="en-US" altLang="zh-TW" sz="2800" dirty="0" smtClean="0"/>
              <a:t> for teaching operating systems, published by the Joint Task Force of the IEEE Computing Society and the </a:t>
            </a:r>
            <a:r>
              <a:rPr lang="en-US" altLang="zh-TW" sz="2800" dirty="0" smtClean="0">
                <a:solidFill>
                  <a:srgbClr val="0000FF"/>
                </a:solidFill>
              </a:rPr>
              <a:t>Association for Computing Machinery (ACM)</a:t>
            </a:r>
            <a:r>
              <a:rPr lang="en-US" altLang="zh-TW" sz="2800" dirty="0" smtClean="0"/>
              <a:t>.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Char char="p"/>
            </a:pPr>
            <a:endParaRPr lang="en-US" altLang="zh-TW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623F79A-C7D1-4CF4-B903-E9FDBDDEE42A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765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76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3F6CCDD-32B3-48D1-9F9C-F4BB4B1243BB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TW" sz="1400" smtClean="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633240" y="178056"/>
            <a:ext cx="8420100" cy="557213"/>
          </a:xfrm>
        </p:spPr>
        <p:txBody>
          <a:bodyPr/>
          <a:lstStyle/>
          <a:p>
            <a:pPr algn="ctr" eaLnBrk="1" hangingPunct="1"/>
            <a:r>
              <a:rPr lang="en-US" altLang="zh-TW" sz="4000" dirty="0"/>
              <a:t>P</a:t>
            </a:r>
            <a:r>
              <a:rPr lang="en-US" altLang="zh-TW" sz="4000" dirty="0" smtClean="0"/>
              <a:t>rogramming Environments (1)</a:t>
            </a:r>
          </a:p>
        </p:txBody>
      </p:sp>
      <p:sp>
        <p:nvSpPr>
          <p:cNvPr id="2549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60393" y="847731"/>
            <a:ext cx="8885237" cy="55975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anose="05000000000000000000" pitchFamily="2" charset="2"/>
              <a:buChar char="p"/>
            </a:pPr>
            <a:r>
              <a:rPr lang="en-US" altLang="zh-TW" sz="2400" b="1" dirty="0" smtClean="0"/>
              <a:t>POSIX:</a:t>
            </a:r>
            <a:r>
              <a:rPr lang="en-US" altLang="zh-TW" sz="2400" dirty="0" smtClean="0"/>
              <a:t> POSIX (</a:t>
            </a:r>
            <a:r>
              <a:rPr lang="en-US" altLang="zh-TW" sz="2400" i="1" dirty="0" smtClean="0"/>
              <a:t>Portable Operating System Interface</a:t>
            </a:r>
            <a:r>
              <a:rPr lang="en-US" altLang="zh-TW" sz="2400" dirty="0" smtClean="0"/>
              <a:t>) represents a set of standards implemented primarily for </a:t>
            </a:r>
            <a:r>
              <a:rPr lang="en-US" altLang="zh-TW" sz="2400" dirty="0" smtClean="0">
                <a:solidFill>
                  <a:srgbClr val="FF0066"/>
                </a:solidFill>
              </a:rPr>
              <a:t>UNIX-based</a:t>
            </a:r>
            <a:r>
              <a:rPr lang="en-US" altLang="zh-TW" sz="2400" dirty="0" smtClean="0"/>
              <a:t> operating systems. POSIX-compliant systems must implement the POSIX core standard (POSIX .1)--</a:t>
            </a:r>
            <a:r>
              <a:rPr lang="en-US" altLang="zh-TW" sz="2400" dirty="0" smtClean="0">
                <a:solidFill>
                  <a:srgbClr val="0000FF"/>
                </a:solidFill>
              </a:rPr>
              <a:t>Linux</a:t>
            </a:r>
            <a:r>
              <a:rPr lang="en-US" altLang="zh-TW" sz="2400" dirty="0" smtClean="0"/>
              <a:t>, </a:t>
            </a:r>
            <a:r>
              <a:rPr lang="en-US" altLang="zh-TW" sz="2400" dirty="0" smtClean="0">
                <a:solidFill>
                  <a:srgbClr val="0000FF"/>
                </a:solidFill>
              </a:rPr>
              <a:t>Solaris</a:t>
            </a:r>
            <a:r>
              <a:rPr lang="en-US" altLang="zh-TW" sz="2400" dirty="0" smtClean="0"/>
              <a:t>, and Mac </a:t>
            </a:r>
            <a:r>
              <a:rPr lang="en-US" altLang="zh-TW" sz="2400" dirty="0" smtClean="0">
                <a:solidFill>
                  <a:srgbClr val="0000FF"/>
                </a:solidFill>
              </a:rPr>
              <a:t>OS X</a:t>
            </a:r>
            <a:r>
              <a:rPr lang="en-US" altLang="zh-TW" sz="2400" dirty="0" smtClean="0"/>
              <a:t>. POSIX also defines several extensions to the standards, including </a:t>
            </a:r>
            <a:r>
              <a:rPr lang="en-US" altLang="zh-TW" sz="2400" dirty="0" smtClean="0">
                <a:solidFill>
                  <a:srgbClr val="FF0066"/>
                </a:solidFill>
              </a:rPr>
              <a:t>real-time extensions</a:t>
            </a:r>
            <a:r>
              <a:rPr lang="en-US" altLang="zh-TW" sz="2400" dirty="0" smtClean="0"/>
              <a:t> (POSIX 1.b) and an extension for a threads library (POSIX 1.c, better known as </a:t>
            </a:r>
            <a:r>
              <a:rPr lang="en-US" altLang="zh-TW" sz="2400" dirty="0" err="1" smtClean="0">
                <a:solidFill>
                  <a:srgbClr val="FF0066"/>
                </a:solidFill>
              </a:rPr>
              <a:t>Pthreads</a:t>
            </a:r>
            <a:r>
              <a:rPr lang="en-US" altLang="zh-TW" sz="2400" dirty="0" smtClean="0"/>
              <a:t>)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60000"/>
              </a:spcBef>
              <a:buFontTx/>
              <a:buChar char="•"/>
            </a:pPr>
            <a:r>
              <a:rPr lang="en-US" altLang="zh-TW" sz="2400" dirty="0" smtClean="0"/>
              <a:t>Several programming examples written in C and tested on Linux 2.6, and 3.2 systems, Mac OS X 10.7, and Solaris 10.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anose="05000000000000000000" pitchFamily="2" charset="2"/>
              <a:buChar char="p"/>
            </a:pPr>
            <a:r>
              <a:rPr lang="en-US" altLang="zh-TW" sz="2400" b="1" dirty="0" smtClean="0"/>
              <a:t>Windows systems: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FF0066"/>
                </a:solidFill>
              </a:rPr>
              <a:t>Windows API</a:t>
            </a:r>
            <a:r>
              <a:rPr lang="en-US" altLang="zh-TW" sz="2400" dirty="0" smtClean="0"/>
              <a:t>,</a:t>
            </a:r>
            <a:r>
              <a:rPr lang="en-US" altLang="zh-TW" sz="2400" dirty="0" smtClean="0">
                <a:solidFill>
                  <a:srgbClr val="FF0066"/>
                </a:solidFill>
              </a:rPr>
              <a:t> </a:t>
            </a:r>
            <a:r>
              <a:rPr lang="en-US" altLang="zh-TW" sz="2400" dirty="0" smtClean="0"/>
              <a:t>which provides a comprehensive set of functions for managing </a:t>
            </a:r>
            <a:r>
              <a:rPr lang="en-US" altLang="zh-TW" sz="2400" dirty="0" smtClean="0">
                <a:solidFill>
                  <a:srgbClr val="336633"/>
                </a:solidFill>
              </a:rPr>
              <a:t>processes</a:t>
            </a:r>
            <a:r>
              <a:rPr lang="en-US" altLang="zh-TW" sz="2400" dirty="0" smtClean="0"/>
              <a:t>, </a:t>
            </a:r>
            <a:r>
              <a:rPr lang="en-US" altLang="zh-TW" sz="2400" dirty="0" smtClean="0">
                <a:solidFill>
                  <a:srgbClr val="336633"/>
                </a:solidFill>
              </a:rPr>
              <a:t>threads</a:t>
            </a:r>
            <a:r>
              <a:rPr lang="en-US" altLang="zh-TW" sz="2400" dirty="0" smtClean="0"/>
              <a:t>, </a:t>
            </a:r>
            <a:r>
              <a:rPr lang="en-US" altLang="zh-TW" sz="2400" dirty="0" smtClean="0">
                <a:solidFill>
                  <a:srgbClr val="336633"/>
                </a:solidFill>
              </a:rPr>
              <a:t>memory</a:t>
            </a:r>
            <a:r>
              <a:rPr lang="en-US" altLang="zh-TW" sz="2400" dirty="0" smtClean="0"/>
              <a:t>, and </a:t>
            </a:r>
            <a:r>
              <a:rPr lang="en-US" altLang="zh-TW" sz="2400" dirty="0" smtClean="0">
                <a:solidFill>
                  <a:srgbClr val="336633"/>
                </a:solidFill>
              </a:rPr>
              <a:t>peripheral devices</a:t>
            </a:r>
            <a:r>
              <a:rPr lang="en-US" altLang="zh-TW" sz="2400" dirty="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anose="05000000000000000000" pitchFamily="2" charset="2"/>
              <a:buChar char="p"/>
            </a:pPr>
            <a:endParaRPr lang="en-US" altLang="zh-TW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1A9E5BE-7445-403D-A2F6-A6C8E0A2EF7E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86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86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67A27C-D16A-429C-922E-B40B282EE5E3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TW" sz="1400" smtClean="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8"/>
            <a:ext cx="8420100" cy="790669"/>
          </a:xfrm>
        </p:spPr>
        <p:txBody>
          <a:bodyPr/>
          <a:lstStyle/>
          <a:p>
            <a:pPr algn="ctr" eaLnBrk="1" hangingPunct="1"/>
            <a:r>
              <a:rPr lang="en-US" altLang="zh-TW" sz="4000" dirty="0" smtClean="0"/>
              <a:t>Programming Environments (2)</a:t>
            </a:r>
          </a:p>
        </p:txBody>
      </p:sp>
      <p:sp>
        <p:nvSpPr>
          <p:cNvPr id="2580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66750" y="1473200"/>
            <a:ext cx="8686800" cy="4965700"/>
          </a:xfrm>
        </p:spPr>
        <p:txBody>
          <a:bodyPr/>
          <a:lstStyle/>
          <a:p>
            <a:pPr marL="609600" indent="-609600" eaLnBrk="1" hangingPunct="1">
              <a:buFontTx/>
              <a:buChar char="•"/>
            </a:pPr>
            <a:r>
              <a:rPr lang="en-US" altLang="zh-TW" sz="2800" b="1" dirty="0" smtClean="0"/>
              <a:t>Java:</a:t>
            </a:r>
            <a:r>
              <a:rPr lang="en-US" altLang="zh-TW" sz="2800" dirty="0" smtClean="0"/>
              <a:t> Java is a widely used programming language with a rich API and built-in language Java programs run on any OS supporting a </a:t>
            </a:r>
            <a:r>
              <a:rPr lang="en-US" altLang="zh-TW" sz="2800" dirty="0" smtClean="0">
                <a:solidFill>
                  <a:srgbClr val="FF0066"/>
                </a:solidFill>
              </a:rPr>
              <a:t>Java virtual machine</a:t>
            </a:r>
            <a:r>
              <a:rPr lang="en-US" altLang="zh-TW" sz="2800" dirty="0" smtClean="0"/>
              <a:t> (or JVM).</a:t>
            </a:r>
            <a:r>
              <a:rPr lang="en-US" altLang="zh-TW" dirty="0" smtClean="0"/>
              <a:t> 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043" y="4224940"/>
            <a:ext cx="2393463" cy="1213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87" y="3150606"/>
            <a:ext cx="2062035" cy="1548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ECF6A3E-532A-49FF-8BBA-F0E88DD67564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86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86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67A27C-D16A-429C-922E-B40B282EE5E3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TW" sz="1400" smtClean="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8"/>
            <a:ext cx="8420100" cy="790669"/>
          </a:xfrm>
        </p:spPr>
        <p:txBody>
          <a:bodyPr/>
          <a:lstStyle/>
          <a:p>
            <a:pPr algn="ctr" eaLnBrk="1" hangingPunct="1"/>
            <a:r>
              <a:rPr lang="en-US" altLang="zh-TW" sz="4000" dirty="0" smtClean="0">
                <a:solidFill>
                  <a:srgbClr val="0000FF"/>
                </a:solidFill>
              </a:rPr>
              <a:t>Linux Virtual Machine</a:t>
            </a:r>
          </a:p>
        </p:txBody>
      </p:sp>
      <p:sp>
        <p:nvSpPr>
          <p:cNvPr id="2580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66750" y="1068310"/>
            <a:ext cx="8686800" cy="5370591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p"/>
            </a:pPr>
            <a:r>
              <a:rPr lang="en-US" altLang="zh-TW" sz="2800" dirty="0" smtClean="0"/>
              <a:t>This virtual machine also includes a </a:t>
            </a:r>
            <a:r>
              <a:rPr lang="en-US" altLang="zh-TW" sz="2800" dirty="0" err="1" smtClean="0"/>
              <a:t>gcc</a:t>
            </a:r>
            <a:r>
              <a:rPr lang="en-US" altLang="zh-TW" sz="2800" dirty="0" smtClean="0"/>
              <a:t> development environment with compilers and editors. </a:t>
            </a: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en-US" altLang="zh-TW" sz="2800" dirty="0" smtClean="0"/>
              <a:t>Most of the programming assignments in the book can be completed on this virtual machine.</a:t>
            </a:r>
            <a:r>
              <a:rPr lang="en-US" altLang="zh-TW" dirty="0" smtClean="0"/>
              <a:t> </a:t>
            </a: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en-US" altLang="zh-TW" sz="2800" dirty="0"/>
              <a:t>P</a:t>
            </a:r>
            <a:r>
              <a:rPr lang="en-US" altLang="zh-TW" sz="2800" dirty="0" smtClean="0"/>
              <a:t>rovide </a:t>
            </a:r>
            <a:r>
              <a:rPr lang="en-US" altLang="zh-TW" sz="2800" dirty="0" smtClean="0">
                <a:solidFill>
                  <a:srgbClr val="0000FF"/>
                </a:solidFill>
              </a:rPr>
              <a:t>three programming assignments </a:t>
            </a:r>
            <a:r>
              <a:rPr lang="en-US" altLang="zh-TW" sz="2800" dirty="0" smtClean="0"/>
              <a:t>that </a:t>
            </a:r>
            <a:r>
              <a:rPr lang="en-US" altLang="zh-TW" sz="2800" dirty="0" smtClean="0">
                <a:solidFill>
                  <a:srgbClr val="FF0000"/>
                </a:solidFill>
              </a:rPr>
              <a:t>modify the Linux kernel </a:t>
            </a:r>
            <a:r>
              <a:rPr lang="en-US" altLang="zh-TW" sz="2800" dirty="0" smtClean="0"/>
              <a:t>through kernel modules:</a:t>
            </a:r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en-US" altLang="zh-TW" sz="2400" dirty="0" smtClean="0">
                <a:solidFill>
                  <a:srgbClr val="7030A0"/>
                </a:solidFill>
              </a:rPr>
              <a:t>Adding a basic kernel module to the Linux kernel.</a:t>
            </a:r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en-US" altLang="zh-TW" sz="2400" dirty="0" smtClean="0">
                <a:solidFill>
                  <a:srgbClr val="7030A0"/>
                </a:solidFill>
              </a:rPr>
              <a:t>Adding a kernel module that uses various kernel data structures.</a:t>
            </a:r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en-US" altLang="zh-TW" sz="2400" dirty="0" smtClean="0">
                <a:solidFill>
                  <a:srgbClr val="7030A0"/>
                </a:solidFill>
              </a:rPr>
              <a:t>Adding a kernel module that iterates over tasks in a running Linux system.</a:t>
            </a:r>
          </a:p>
        </p:txBody>
      </p:sp>
    </p:spTree>
    <p:extLst>
      <p:ext uri="{BB962C8B-B14F-4D97-AF65-F5344CB8AC3E}">
        <p14:creationId xmlns:p14="http://schemas.microsoft.com/office/powerpoint/2010/main" val="332058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8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8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8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8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8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8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8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8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8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8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9B8BE0B-8716-4F17-8859-F756101F4897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47B26EA-7FA6-48FB-90D2-0A85C48DFAF2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TW" sz="1400" smtClean="0"/>
          </a:p>
        </p:txBody>
      </p:sp>
      <p:sp>
        <p:nvSpPr>
          <p:cNvPr id="2007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17500" y="863600"/>
            <a:ext cx="9064625" cy="56324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dirty="0" smtClean="0">
                <a:solidFill>
                  <a:srgbClr val="C72F0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Booting</a:t>
            </a:r>
            <a:r>
              <a:rPr lang="en-US" altLang="zh-TW" dirty="0" smtClean="0"/>
              <a:t> </a:t>
            </a:r>
            <a:r>
              <a:rPr lang="en-US" altLang="zh-TW" dirty="0">
                <a:latin typeface="Helvetica"/>
              </a:rPr>
              <a:t>–</a:t>
            </a:r>
            <a:r>
              <a:rPr lang="en-US" altLang="zh-TW" dirty="0"/>
              <a:t> starting a computer by loading the kernel.</a:t>
            </a:r>
            <a:endParaRPr lang="en-US" altLang="zh-TW" i="1" dirty="0">
              <a:solidFill>
                <a:srgbClr val="C72F05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i="1" dirty="0">
                <a:solidFill>
                  <a:srgbClr val="C72F0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Bootstrap program</a:t>
            </a:r>
            <a:r>
              <a:rPr lang="en-US" altLang="zh-TW" dirty="0"/>
              <a:t> </a:t>
            </a:r>
            <a:r>
              <a:rPr lang="en-US" altLang="zh-TW" dirty="0">
                <a:latin typeface="Helvetica"/>
              </a:rPr>
              <a:t>–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code stored in ROM </a:t>
            </a:r>
            <a:r>
              <a:rPr lang="en-US" altLang="zh-TW" dirty="0"/>
              <a:t>that is able to </a:t>
            </a:r>
            <a:r>
              <a:rPr lang="en-US" altLang="zh-TW" dirty="0">
                <a:solidFill>
                  <a:srgbClr val="0000FF"/>
                </a:solidFill>
              </a:rPr>
              <a:t>locate</a:t>
            </a:r>
            <a:r>
              <a:rPr lang="en-US" altLang="zh-TW" dirty="0"/>
              <a:t> the </a:t>
            </a:r>
            <a:r>
              <a:rPr lang="en-US" altLang="zh-TW" dirty="0">
                <a:solidFill>
                  <a:srgbClr val="FF0000"/>
                </a:solidFill>
              </a:rPr>
              <a:t>kernel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0000FF"/>
                </a:solidFill>
              </a:rPr>
              <a:t>load it into memory</a:t>
            </a:r>
            <a:r>
              <a:rPr lang="en-US" altLang="zh-TW" dirty="0"/>
              <a:t>, and </a:t>
            </a:r>
            <a:r>
              <a:rPr lang="en-US" altLang="zh-TW" dirty="0">
                <a:solidFill>
                  <a:srgbClr val="FF0000"/>
                </a:solidFill>
              </a:rPr>
              <a:t>start its execution</a:t>
            </a:r>
            <a:r>
              <a:rPr lang="en-US" altLang="zh-TW" dirty="0"/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>	</a:t>
            </a:r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22312" y="260350"/>
            <a:ext cx="8399463" cy="755650"/>
          </a:xfrm>
          <a:noFill/>
        </p:spPr>
        <p:txBody>
          <a:bodyPr lIns="92075" tIns="46038" rIns="92075" bIns="46038" anchor="ctr"/>
          <a:lstStyle/>
          <a:p>
            <a:pPr algn="ctr" eaLnBrk="1" hangingPunct="1"/>
            <a:r>
              <a:rPr lang="en-US" altLang="zh-TW" sz="4800" dirty="0">
                <a:solidFill>
                  <a:srgbClr val="FF0066"/>
                </a:solidFill>
                <a:latin typeface="Comic Sans MS" pitchFamily="66" charset="0"/>
              </a:rPr>
              <a:t>Startup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588" y="3427413"/>
            <a:ext cx="2055812" cy="2660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080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F1CC392-BB1E-438A-9318-B389A107EB20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47B26EA-7FA6-48FB-90D2-0A85C48DFAF2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TW" sz="1400" smtClean="0"/>
          </a:p>
        </p:txBody>
      </p:sp>
      <p:sp>
        <p:nvSpPr>
          <p:cNvPr id="2007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17500" y="1016000"/>
            <a:ext cx="9064625" cy="54800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dirty="0">
                <a:solidFill>
                  <a:srgbClr val="C72F0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Process Creation: </a:t>
            </a:r>
            <a:r>
              <a:rPr lang="en-US" altLang="zh-TW" dirty="0"/>
              <a:t>Parent process create children processes, which, in turn create other processes, forming a tree of </a:t>
            </a:r>
            <a:r>
              <a:rPr lang="en-US" altLang="zh-TW" dirty="0" smtClean="0"/>
              <a:t>processes.</a:t>
            </a:r>
            <a:endParaRPr lang="en-US" altLang="zh-TW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>	</a:t>
            </a:r>
          </a:p>
        </p:txBody>
      </p:sp>
      <p:pic>
        <p:nvPicPr>
          <p:cNvPr id="6" name="Picture 1" descr="3_08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01" y="2410451"/>
            <a:ext cx="7770046" cy="4117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22312" y="260350"/>
            <a:ext cx="8399463" cy="755650"/>
          </a:xfrm>
          <a:noFill/>
        </p:spPr>
        <p:txBody>
          <a:bodyPr lIns="92075" tIns="46038" rIns="92075" bIns="46038" anchor="ctr"/>
          <a:lstStyle/>
          <a:p>
            <a:pPr algn="ctr" eaLnBrk="1" hangingPunct="1"/>
            <a:r>
              <a:rPr lang="en-US" altLang="zh-TW" sz="4800" dirty="0">
                <a:solidFill>
                  <a:srgbClr val="FF0066"/>
                </a:solidFill>
                <a:latin typeface="Comic Sans MS" pitchFamily="66" charset="0"/>
              </a:rPr>
              <a:t>Startup</a:t>
            </a:r>
          </a:p>
        </p:txBody>
      </p:sp>
    </p:spTree>
    <p:extLst>
      <p:ext uri="{BB962C8B-B14F-4D97-AF65-F5344CB8AC3E}">
        <p14:creationId xmlns:p14="http://schemas.microsoft.com/office/powerpoint/2010/main" val="241003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版面配置區 3"/>
          <p:cNvSpPr>
            <a:spLocks noGrp="1"/>
          </p:cNvSpPr>
          <p:nvPr>
            <p:ph type="dt" sz="quarter" idx="4294967295"/>
          </p:nvPr>
        </p:nvSpPr>
        <p:spPr>
          <a:xfrm>
            <a:off x="742950" y="6248400"/>
            <a:ext cx="206375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F411D707-96EA-4E59-B315-039EC7CF66E3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31747" name="頁尾版面配置區 4"/>
          <p:cNvSpPr>
            <a:spLocks noGrp="1"/>
          </p:cNvSpPr>
          <p:nvPr>
            <p:ph type="ftr" sz="quarter" idx="4294967295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os0-2018</a:t>
            </a:r>
          </a:p>
        </p:txBody>
      </p:sp>
      <p:sp>
        <p:nvSpPr>
          <p:cNvPr id="31748" name="投影片編號版面配置區 5"/>
          <p:cNvSpPr>
            <a:spLocks noGrp="1"/>
          </p:cNvSpPr>
          <p:nvPr>
            <p:ph type="sldNum" sz="quarter" idx="4294967295"/>
          </p:nvPr>
        </p:nvSpPr>
        <p:spPr>
          <a:xfrm>
            <a:off x="7099300" y="6248400"/>
            <a:ext cx="206375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CA285A1-0B78-46A8-A92A-6E96D0D7AC88}" type="slidenum">
              <a:rPr kumimoji="0" lang="zh-TW" altLang="en-US" sz="1400" smtClean="0"/>
              <a:pPr eaLnBrk="1" hangingPunct="1"/>
              <a:t>20</a:t>
            </a:fld>
            <a:endParaRPr kumimoji="0" lang="en-US" altLang="zh-TW" sz="1400" smtClean="0"/>
          </a:p>
        </p:txBody>
      </p:sp>
      <p:sp>
        <p:nvSpPr>
          <p:cNvPr id="31750" name="Rectangle 3"/>
          <p:cNvSpPr>
            <a:spLocks noChangeArrowheads="1"/>
          </p:cNvSpPr>
          <p:nvPr/>
        </p:nvSpPr>
        <p:spPr bwMode="auto">
          <a:xfrm>
            <a:off x="2708678" y="2316172"/>
            <a:ext cx="2508701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 dirty="0">
                <a:latin typeface="Times New Roman" charset="0"/>
              </a:rPr>
              <a:t>   </a:t>
            </a:r>
            <a:r>
              <a:rPr lang="en-US" altLang="zh-TW" sz="2000" b="1" dirty="0">
                <a:solidFill>
                  <a:srgbClr val="FF0000"/>
                </a:solidFill>
                <a:latin typeface="Times New Roman" charset="0"/>
              </a:rPr>
              <a:t>Logical File System</a:t>
            </a:r>
          </a:p>
        </p:txBody>
      </p:sp>
      <p:sp>
        <p:nvSpPr>
          <p:cNvPr id="31751" name="Rectangle 4"/>
          <p:cNvSpPr>
            <a:spLocks noChangeArrowheads="1"/>
          </p:cNvSpPr>
          <p:nvPr/>
        </p:nvSpPr>
        <p:spPr bwMode="auto">
          <a:xfrm>
            <a:off x="2804986" y="1411297"/>
            <a:ext cx="2605073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Times New Roman" charset="0"/>
              </a:rPr>
              <a:t>Application Programs</a:t>
            </a:r>
          </a:p>
        </p:txBody>
      </p:sp>
      <p:sp>
        <p:nvSpPr>
          <p:cNvPr id="31752" name="AutoShape 5"/>
          <p:cNvSpPr>
            <a:spLocks noChangeArrowheads="1"/>
          </p:cNvSpPr>
          <p:nvPr/>
        </p:nvSpPr>
        <p:spPr bwMode="auto">
          <a:xfrm rot="16200000" flipH="1">
            <a:off x="3855381" y="1901298"/>
            <a:ext cx="403225" cy="385233"/>
          </a:xfrm>
          <a:prstGeom prst="rightArrow">
            <a:avLst>
              <a:gd name="adj1" fmla="val 50000"/>
              <a:gd name="adj2" fmla="val 56702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vert="eaVert"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endParaRPr lang="zh-TW" altLang="en-US" sz="2000" b="1">
              <a:latin typeface="Times New Roman" charset="0"/>
            </a:endParaRPr>
          </a:p>
        </p:txBody>
      </p:sp>
      <p:sp>
        <p:nvSpPr>
          <p:cNvPr id="31753" name="AutoShape 6"/>
          <p:cNvSpPr>
            <a:spLocks noChangeArrowheads="1"/>
          </p:cNvSpPr>
          <p:nvPr/>
        </p:nvSpPr>
        <p:spPr bwMode="auto">
          <a:xfrm rot="16200000" flipH="1">
            <a:off x="3849427" y="2822845"/>
            <a:ext cx="404813" cy="385233"/>
          </a:xfrm>
          <a:prstGeom prst="rightArrow">
            <a:avLst>
              <a:gd name="adj1" fmla="val 50000"/>
              <a:gd name="adj2" fmla="val 56925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1754" name="Rectangle 7"/>
          <p:cNvSpPr>
            <a:spLocks noChangeArrowheads="1"/>
          </p:cNvSpPr>
          <p:nvPr/>
        </p:nvSpPr>
        <p:spPr bwMode="auto">
          <a:xfrm>
            <a:off x="2794663" y="3260733"/>
            <a:ext cx="3034486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FF0000"/>
                </a:solidFill>
                <a:latin typeface="Times New Roman" charset="0"/>
              </a:rPr>
              <a:t>File-Organization Module</a:t>
            </a:r>
          </a:p>
        </p:txBody>
      </p:sp>
      <p:sp>
        <p:nvSpPr>
          <p:cNvPr id="31755" name="AutoShape 8"/>
          <p:cNvSpPr>
            <a:spLocks noChangeArrowheads="1"/>
          </p:cNvSpPr>
          <p:nvPr/>
        </p:nvSpPr>
        <p:spPr bwMode="auto">
          <a:xfrm rot="16200000" flipH="1">
            <a:off x="3864840" y="3716672"/>
            <a:ext cx="403225" cy="383513"/>
          </a:xfrm>
          <a:prstGeom prst="rightArrow">
            <a:avLst>
              <a:gd name="adj1" fmla="val 50000"/>
              <a:gd name="adj2" fmla="val 56956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1756" name="Rectangle 9"/>
          <p:cNvSpPr>
            <a:spLocks noChangeArrowheads="1"/>
          </p:cNvSpPr>
          <p:nvPr/>
        </p:nvSpPr>
        <p:spPr bwMode="auto">
          <a:xfrm>
            <a:off x="2718996" y="4130683"/>
            <a:ext cx="2537555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 dirty="0">
                <a:latin typeface="Times New Roman" charset="0"/>
              </a:rPr>
              <a:t>       </a:t>
            </a:r>
            <a:r>
              <a:rPr lang="en-US" altLang="zh-TW" sz="2000" b="1" dirty="0">
                <a:solidFill>
                  <a:srgbClr val="FF0000"/>
                </a:solidFill>
                <a:latin typeface="Times New Roman" charset="0"/>
              </a:rPr>
              <a:t>Basic File System</a:t>
            </a:r>
          </a:p>
        </p:txBody>
      </p:sp>
      <p:sp>
        <p:nvSpPr>
          <p:cNvPr id="31757" name="AutoShape 10"/>
          <p:cNvSpPr>
            <a:spLocks noChangeArrowheads="1"/>
          </p:cNvSpPr>
          <p:nvPr/>
        </p:nvSpPr>
        <p:spPr bwMode="auto">
          <a:xfrm rot="16200000" flipH="1">
            <a:off x="3874360" y="4638217"/>
            <a:ext cx="404812" cy="383513"/>
          </a:xfrm>
          <a:prstGeom prst="rightArrow">
            <a:avLst>
              <a:gd name="adj1" fmla="val 50000"/>
              <a:gd name="adj2" fmla="val 57180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1758" name="Rectangle 11"/>
          <p:cNvSpPr>
            <a:spLocks noChangeArrowheads="1"/>
          </p:cNvSpPr>
          <p:nvPr/>
        </p:nvSpPr>
        <p:spPr bwMode="auto">
          <a:xfrm>
            <a:off x="2780905" y="5127633"/>
            <a:ext cx="2106540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charset="0"/>
              </a:rPr>
              <a:t>          </a:t>
            </a:r>
            <a:r>
              <a:rPr lang="en-US" altLang="zh-TW" sz="2000" b="1">
                <a:latin typeface="Times New Roman" charset="0"/>
              </a:rPr>
              <a:t>I/O Control</a:t>
            </a:r>
          </a:p>
        </p:txBody>
      </p:sp>
      <p:sp>
        <p:nvSpPr>
          <p:cNvPr id="31759" name="AutoShape 12"/>
          <p:cNvSpPr>
            <a:spLocks noChangeArrowheads="1"/>
          </p:cNvSpPr>
          <p:nvPr/>
        </p:nvSpPr>
        <p:spPr bwMode="auto">
          <a:xfrm rot="16200000" flipH="1">
            <a:off x="3889843" y="5636754"/>
            <a:ext cx="404813" cy="383514"/>
          </a:xfrm>
          <a:prstGeom prst="rightArrow">
            <a:avLst>
              <a:gd name="adj1" fmla="val 50000"/>
              <a:gd name="adj2" fmla="val 57180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1760" name="Rectangle 13"/>
          <p:cNvSpPr>
            <a:spLocks noChangeArrowheads="1"/>
          </p:cNvSpPr>
          <p:nvPr/>
        </p:nvSpPr>
        <p:spPr bwMode="auto">
          <a:xfrm>
            <a:off x="3570287" y="6067433"/>
            <a:ext cx="1072410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 dirty="0">
                <a:latin typeface="Times New Roman" charset="0"/>
              </a:rPr>
              <a:t> </a:t>
            </a:r>
            <a:r>
              <a:rPr lang="en-US" altLang="zh-TW" sz="2000" b="1" dirty="0">
                <a:latin typeface="Times New Roman" charset="0"/>
              </a:rPr>
              <a:t>Devices</a:t>
            </a:r>
          </a:p>
        </p:txBody>
      </p:sp>
      <p:sp>
        <p:nvSpPr>
          <p:cNvPr id="31761" name="Text Box 14"/>
          <p:cNvSpPr txBox="1">
            <a:spLocks noChangeArrowheads="1"/>
          </p:cNvSpPr>
          <p:nvPr/>
        </p:nvSpPr>
        <p:spPr bwMode="auto">
          <a:xfrm>
            <a:off x="6014112" y="1797050"/>
            <a:ext cx="3256020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Times New Roman" charset="0"/>
              </a:rPr>
              <a:t>Given a symbolic file name, 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Times New Roman" charset="0"/>
              </a:rPr>
              <a:t>  use directory to provide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latin typeface="Times New Roman" charset="0"/>
              </a:rPr>
              <a:t>  values needed by FOM</a:t>
            </a:r>
          </a:p>
          <a:p>
            <a:endParaRPr lang="zh-TW" altLang="en-US" sz="2000" b="1" dirty="0">
              <a:latin typeface="Times New Roman" charset="0"/>
            </a:endParaRPr>
          </a:p>
        </p:txBody>
      </p:sp>
      <p:sp>
        <p:nvSpPr>
          <p:cNvPr id="31762" name="Text Box 15"/>
          <p:cNvSpPr txBox="1">
            <a:spLocks noChangeArrowheads="1"/>
          </p:cNvSpPr>
          <p:nvPr/>
        </p:nvSpPr>
        <p:spPr bwMode="auto">
          <a:xfrm>
            <a:off x="5914370" y="3060701"/>
            <a:ext cx="337201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 dirty="0">
                <a:latin typeface="Times New Roman" charset="0"/>
              </a:rPr>
              <a:t> </a:t>
            </a:r>
            <a:r>
              <a:rPr lang="en-US" altLang="zh-TW" sz="2000" b="1" dirty="0">
                <a:solidFill>
                  <a:schemeClr val="tx2"/>
                </a:solidFill>
                <a:latin typeface="Times New Roman" charset="0"/>
              </a:rPr>
              <a:t>Transform logical address to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 dirty="0">
                <a:solidFill>
                  <a:schemeClr val="tx2"/>
                </a:solidFill>
                <a:latin typeface="Times New Roman" charset="0"/>
              </a:rPr>
              <a:t>   physical  block address</a:t>
            </a:r>
            <a:r>
              <a:rPr lang="en-US" altLang="zh-TW" sz="2000" b="1" dirty="0">
                <a:latin typeface="Times New Roman" charset="0"/>
              </a:rPr>
              <a:t> </a:t>
            </a:r>
          </a:p>
        </p:txBody>
      </p:sp>
      <p:sp>
        <p:nvSpPr>
          <p:cNvPr id="31763" name="Text Box 16"/>
          <p:cNvSpPr txBox="1">
            <a:spLocks noChangeArrowheads="1"/>
          </p:cNvSpPr>
          <p:nvPr/>
        </p:nvSpPr>
        <p:spPr bwMode="auto">
          <a:xfrm>
            <a:off x="5914368" y="4149726"/>
            <a:ext cx="26855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charset="0"/>
              </a:rPr>
              <a:t>  </a:t>
            </a:r>
            <a:r>
              <a:rPr lang="en-US" altLang="zh-TW" sz="2000" b="1">
                <a:solidFill>
                  <a:schemeClr val="tx2"/>
                </a:solidFill>
                <a:latin typeface="Times New Roman" charset="0"/>
              </a:rPr>
              <a:t>Numeric disk address</a:t>
            </a:r>
          </a:p>
        </p:txBody>
      </p:sp>
      <p:sp>
        <p:nvSpPr>
          <p:cNvPr id="31764" name="Text Box 17"/>
          <p:cNvSpPr txBox="1">
            <a:spLocks noChangeArrowheads="1"/>
          </p:cNvSpPr>
          <p:nvPr/>
        </p:nvSpPr>
        <p:spPr bwMode="auto">
          <a:xfrm>
            <a:off x="5916083" y="5135563"/>
            <a:ext cx="36104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charset="0"/>
              </a:rPr>
              <a:t>  </a:t>
            </a:r>
            <a:r>
              <a:rPr lang="en-US" altLang="zh-TW" sz="2000" b="1">
                <a:latin typeface="Times New Roman" charset="0"/>
              </a:rPr>
              <a:t>Driver: hardware instructions</a:t>
            </a:r>
          </a:p>
        </p:txBody>
      </p:sp>
      <p:sp>
        <p:nvSpPr>
          <p:cNvPr id="31765" name="Text Box 18"/>
          <p:cNvSpPr txBox="1">
            <a:spLocks noChangeArrowheads="1"/>
          </p:cNvSpPr>
          <p:nvPr/>
        </p:nvSpPr>
        <p:spPr bwMode="auto">
          <a:xfrm>
            <a:off x="249375" y="1865313"/>
            <a:ext cx="25506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latin typeface="Times New Roman" charset="0"/>
              </a:rPr>
              <a:t> </a:t>
            </a:r>
            <a:r>
              <a:rPr lang="en-US" altLang="zh-TW" sz="2000" b="1">
                <a:latin typeface="Times New Roman" charset="0"/>
              </a:rPr>
              <a:t>write(data_file, item)</a:t>
            </a:r>
          </a:p>
        </p:txBody>
      </p:sp>
      <p:sp>
        <p:nvSpPr>
          <p:cNvPr id="31766" name="Line 19"/>
          <p:cNvSpPr>
            <a:spLocks noChangeShapeType="1"/>
          </p:cNvSpPr>
          <p:nvPr/>
        </p:nvSpPr>
        <p:spPr bwMode="auto">
          <a:xfrm>
            <a:off x="1169458" y="1603375"/>
            <a:ext cx="419629" cy="317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1767" name="Text Box 20"/>
          <p:cNvSpPr txBox="1">
            <a:spLocks noChangeArrowheads="1"/>
          </p:cNvSpPr>
          <p:nvPr/>
        </p:nvSpPr>
        <p:spPr bwMode="auto">
          <a:xfrm>
            <a:off x="438552" y="1300163"/>
            <a:ext cx="11865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file name</a:t>
            </a:r>
          </a:p>
        </p:txBody>
      </p:sp>
      <p:sp>
        <p:nvSpPr>
          <p:cNvPr id="31768" name="Text Box 21"/>
          <p:cNvSpPr txBox="1">
            <a:spLocks noChangeArrowheads="1"/>
          </p:cNvSpPr>
          <p:nvPr/>
        </p:nvSpPr>
        <p:spPr bwMode="auto">
          <a:xfrm>
            <a:off x="397276" y="2695576"/>
            <a:ext cx="155683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information 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of data_file</a:t>
            </a:r>
          </a:p>
        </p:txBody>
      </p:sp>
      <p:sp>
        <p:nvSpPr>
          <p:cNvPr id="31769" name="Text Box 22"/>
          <p:cNvSpPr txBox="1">
            <a:spLocks noChangeArrowheads="1"/>
          </p:cNvSpPr>
          <p:nvPr/>
        </p:nvSpPr>
        <p:spPr bwMode="auto">
          <a:xfrm>
            <a:off x="448866" y="3748088"/>
            <a:ext cx="15872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zh-TW" altLang="en-US" sz="2000" b="1">
                <a:solidFill>
                  <a:srgbClr val="000000"/>
                </a:solidFill>
                <a:latin typeface="Times New Roman" charset="0"/>
              </a:rPr>
              <a:t>2144</a:t>
            </a:r>
            <a:r>
              <a:rPr lang="en-US" altLang="zh-TW" sz="2000" b="1">
                <a:solidFill>
                  <a:srgbClr val="000000"/>
                </a:solidFill>
                <a:latin typeface="Times New Roman" charset="0"/>
              </a:rPr>
              <a:t>th block</a:t>
            </a:r>
          </a:p>
        </p:txBody>
      </p:sp>
      <p:sp>
        <p:nvSpPr>
          <p:cNvPr id="31770" name="Text Box 23"/>
          <p:cNvSpPr txBox="1">
            <a:spLocks noChangeArrowheads="1"/>
          </p:cNvSpPr>
          <p:nvPr/>
        </p:nvSpPr>
        <p:spPr bwMode="auto">
          <a:xfrm>
            <a:off x="359438" y="4600575"/>
            <a:ext cx="252383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Times New Roman" charset="0"/>
              </a:rPr>
              <a:t>driver 1,  cylinder 73,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Times New Roman" charset="0"/>
              </a:rPr>
              <a:t>surface 2, sector 10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endParaRPr lang="zh-TW" altLang="en-US" sz="2000" b="1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22312" y="260350"/>
            <a:ext cx="8399463" cy="755650"/>
          </a:xfrm>
          <a:noFill/>
        </p:spPr>
        <p:txBody>
          <a:bodyPr lIns="92075" tIns="46038" rIns="92075" bIns="46038" anchor="ctr"/>
          <a:lstStyle/>
          <a:p>
            <a:pPr algn="ctr" eaLnBrk="1" hangingPunct="1"/>
            <a:r>
              <a:rPr lang="en-US" altLang="zh-TW" sz="4800" dirty="0">
                <a:solidFill>
                  <a:srgbClr val="FF0066"/>
                </a:solidFill>
                <a:latin typeface="Comic Sans MS" pitchFamily="66" charset="0"/>
              </a:rPr>
              <a:t>Startup</a:t>
            </a:r>
          </a:p>
        </p:txBody>
      </p:sp>
    </p:spTree>
    <p:extLst>
      <p:ext uri="{BB962C8B-B14F-4D97-AF65-F5344CB8AC3E}">
        <p14:creationId xmlns:p14="http://schemas.microsoft.com/office/powerpoint/2010/main" val="6604824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0" grpId="0"/>
      <p:bldP spid="31753" grpId="0" animBg="1"/>
      <p:bldP spid="31754" grpId="0"/>
      <p:bldP spid="31755" grpId="0" animBg="1"/>
      <p:bldP spid="31756" grpId="0"/>
      <p:bldP spid="31757" grpId="0" animBg="1"/>
      <p:bldP spid="31758" grpId="0"/>
      <p:bldP spid="31759" grpId="0" animBg="1"/>
      <p:bldP spid="31760" grpId="0"/>
      <p:bldP spid="31761" grpId="0"/>
      <p:bldP spid="31762" grpId="0"/>
      <p:bldP spid="31763" grpId="0"/>
      <p:bldP spid="3176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81FD0C9-64F5-4DB2-A4BD-626FC53B58E1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47B26EA-7FA6-48FB-90D2-0A85C48DFAF2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TW" sz="1400" smtClean="0"/>
          </a:p>
        </p:txBody>
      </p:sp>
      <p:sp>
        <p:nvSpPr>
          <p:cNvPr id="2007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17500" y="850900"/>
            <a:ext cx="9064625" cy="56451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Long-term Scheduler</a:t>
            </a:r>
            <a:r>
              <a:rPr lang="en-US" altLang="zh-TW" dirty="0"/>
              <a:t> </a:t>
            </a:r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Job </a:t>
            </a:r>
            <a:r>
              <a:rPr lang="en-US" altLang="zh-TW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Scheduler</a:t>
            </a:r>
            <a:r>
              <a:rPr lang="en-US" altLang="zh-TW" dirty="0"/>
              <a:t>): selecting processes from the job pool and </a:t>
            </a:r>
            <a:r>
              <a:rPr lang="en-US" altLang="zh-TW" dirty="0">
                <a:solidFill>
                  <a:srgbClr val="0000FF"/>
                </a:solidFill>
              </a:rPr>
              <a:t>loads them into memory for </a:t>
            </a:r>
            <a:r>
              <a:rPr lang="en-US" altLang="zh-TW" dirty="0" smtClean="0">
                <a:solidFill>
                  <a:srgbClr val="0000FF"/>
                </a:solidFill>
              </a:rPr>
              <a:t>execution</a:t>
            </a:r>
            <a:r>
              <a:rPr lang="en-US" altLang="zh-TW" dirty="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zh-TW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Paging</a:t>
            </a:r>
            <a:r>
              <a:rPr lang="en-US" altLang="zh-TW" dirty="0"/>
              <a:t>: </a:t>
            </a:r>
            <a:r>
              <a:rPr lang="en-US" altLang="zh-TW" dirty="0" smtClean="0"/>
              <a:t>dividing </a:t>
            </a:r>
            <a:r>
              <a:rPr lang="en-US" altLang="zh-TW" dirty="0"/>
              <a:t>logical memory into blocks of same size, </a:t>
            </a:r>
            <a:r>
              <a:rPr lang="en-US" altLang="zh-TW" dirty="0" smtClean="0"/>
              <a:t>set </a:t>
            </a:r>
            <a:r>
              <a:rPr lang="en-US" altLang="zh-TW" dirty="0"/>
              <a:t>up a page table to translate logical to physical addresses. </a:t>
            </a:r>
            <a:endParaRPr lang="en-US" altLang="zh-TW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endParaRPr lang="en-US" altLang="zh-TW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>	</a:t>
            </a:r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22312" y="260350"/>
            <a:ext cx="8399463" cy="755650"/>
          </a:xfrm>
          <a:noFill/>
        </p:spPr>
        <p:txBody>
          <a:bodyPr lIns="92075" tIns="46038" rIns="92075" bIns="46038" anchor="ctr"/>
          <a:lstStyle/>
          <a:p>
            <a:pPr algn="ctr" eaLnBrk="1" hangingPunct="1"/>
            <a:r>
              <a:rPr lang="en-US" altLang="zh-TW" sz="4800" dirty="0">
                <a:solidFill>
                  <a:srgbClr val="FF0066"/>
                </a:solidFill>
                <a:latin typeface="Comic Sans MS" pitchFamily="66" charset="0"/>
              </a:rPr>
              <a:t>Startup</a:t>
            </a:r>
          </a:p>
        </p:txBody>
      </p:sp>
      <p:pic>
        <p:nvPicPr>
          <p:cNvPr id="8" name="Picture 10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" t="4521" r="2406" b="4019"/>
          <a:stretch>
            <a:fillRect/>
          </a:stretch>
        </p:blipFill>
        <p:spPr bwMode="auto">
          <a:xfrm>
            <a:off x="2080923" y="3632200"/>
            <a:ext cx="5602578" cy="32258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108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345829B5-2AAA-47F5-8117-A5E4BD98B2C3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9219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os0-2018</a:t>
            </a:r>
          </a:p>
        </p:txBody>
      </p:sp>
      <p:sp>
        <p:nvSpPr>
          <p:cNvPr id="922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0EBA70F-9587-430D-AFF9-8E1A60D1C1BF}" type="slidenum">
              <a:rPr kumimoji="0" lang="zh-TW" altLang="en-US" sz="1400" smtClean="0"/>
              <a:pPr eaLnBrk="1" hangingPunct="1"/>
              <a:t>22</a:t>
            </a:fld>
            <a:endParaRPr kumimoji="0" lang="en-US" altLang="zh-TW" sz="1400" smtClean="0"/>
          </a:p>
        </p:txBody>
      </p:sp>
      <p:sp>
        <p:nvSpPr>
          <p:cNvPr id="922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605367" y="304803"/>
            <a:ext cx="8698706" cy="506413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In-Memory File System Structures</a:t>
            </a:r>
            <a:endParaRPr lang="en-US" altLang="zh-TW" sz="3200" smtClean="0"/>
          </a:p>
        </p:txBody>
      </p:sp>
      <p:pic>
        <p:nvPicPr>
          <p:cNvPr id="9222" name="Picture 20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7" t="919" r="4572" b="716"/>
          <a:stretch>
            <a:fillRect/>
          </a:stretch>
        </p:blipFill>
        <p:spPr bwMode="auto">
          <a:xfrm>
            <a:off x="756710" y="1023938"/>
            <a:ext cx="8519848" cy="50546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020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358EC3B-E853-4885-9F52-ECCC045FD929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96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97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3DEDC30-C374-4334-BB71-DC79FE879D6A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TW" sz="1400" smtClean="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730252" y="182571"/>
            <a:ext cx="8151813" cy="719137"/>
          </a:xfrm>
        </p:spPr>
        <p:txBody>
          <a:bodyPr/>
          <a:lstStyle/>
          <a:p>
            <a:pPr algn="ctr" eaLnBrk="1" hangingPunct="1"/>
            <a:r>
              <a:rPr lang="en-US" altLang="zh-TW" sz="4800" dirty="0" smtClean="0">
                <a:solidFill>
                  <a:srgbClr val="000000"/>
                </a:solidFill>
              </a:rPr>
              <a:t>Contents</a:t>
            </a:r>
            <a:r>
              <a:rPr lang="en-US" altLang="zh-TW" sz="4800" b="1" i="1" dirty="0" smtClean="0">
                <a:solidFill>
                  <a:srgbClr val="000000"/>
                </a:solidFill>
              </a:rPr>
              <a:t> </a:t>
            </a:r>
            <a:r>
              <a:rPr lang="en-US" altLang="zh-TW" sz="4800" dirty="0" smtClean="0">
                <a:solidFill>
                  <a:srgbClr val="000000"/>
                </a:solidFill>
              </a:rPr>
              <a:t>(9th ed.)</a:t>
            </a:r>
          </a:p>
        </p:txBody>
      </p:sp>
      <p:sp>
        <p:nvSpPr>
          <p:cNvPr id="1658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11242" y="835025"/>
            <a:ext cx="8626475" cy="55245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dirty="0" smtClean="0">
                <a:solidFill>
                  <a:srgbClr val="000000"/>
                </a:solidFill>
              </a:rPr>
              <a:t>PART ONE 		</a:t>
            </a:r>
            <a:r>
              <a:rPr lang="en-US" altLang="zh-TW" sz="2400" b="1" dirty="0" smtClean="0">
                <a:solidFill>
                  <a:srgbClr val="FF0066"/>
                </a:solidFill>
              </a:rPr>
              <a:t>OVERVIEW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dirty="0" smtClean="0">
                <a:solidFill>
                  <a:srgbClr val="000000"/>
                </a:solidFill>
              </a:rPr>
              <a:t>	Chapter 1	Introduction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dirty="0" smtClean="0">
                <a:solidFill>
                  <a:srgbClr val="000000"/>
                </a:solidFill>
              </a:rPr>
              <a:t>	Chapter 2 	Operating-System Structures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400" b="1" dirty="0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dirty="0" smtClean="0">
                <a:solidFill>
                  <a:srgbClr val="000000"/>
                </a:solidFill>
              </a:rPr>
              <a:t>PART TWO 		</a:t>
            </a:r>
            <a:r>
              <a:rPr lang="en-US" altLang="zh-TW" sz="2400" b="1" dirty="0" smtClean="0">
                <a:solidFill>
                  <a:srgbClr val="FF0066"/>
                </a:solidFill>
              </a:rPr>
              <a:t>PROCESS MANAGEMENT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dirty="0" smtClean="0">
                <a:solidFill>
                  <a:srgbClr val="000000"/>
                </a:solidFill>
              </a:rPr>
              <a:t>	Chapter 3 	Processes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dirty="0" smtClean="0">
                <a:solidFill>
                  <a:srgbClr val="000000"/>
                </a:solidFill>
              </a:rPr>
              <a:t>	Chapter 4  	Threads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400" b="1" dirty="0" smtClean="0">
                <a:solidFill>
                  <a:srgbClr val="000000"/>
                </a:solidFill>
              </a:rPr>
              <a:t>	</a:t>
            </a:r>
            <a:r>
              <a:rPr lang="en-US" altLang="zh-TW" sz="2400" b="1" dirty="0" smtClean="0">
                <a:solidFill>
                  <a:srgbClr val="0000FF"/>
                </a:solidFill>
              </a:rPr>
              <a:t>Chapter 5 	Process Synchronization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TW" sz="2400" b="1" dirty="0" smtClean="0">
                <a:solidFill>
                  <a:srgbClr val="0000FF"/>
                </a:solidFill>
              </a:rPr>
              <a:t>	Chapter 6 	CPU Scheduling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dirty="0" smtClean="0">
                <a:solidFill>
                  <a:srgbClr val="000000"/>
                </a:solidFill>
              </a:rPr>
              <a:t>	Chapter 7 	Deadlocks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400" b="1" dirty="0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dirty="0" smtClean="0">
                <a:solidFill>
                  <a:srgbClr val="000000"/>
                </a:solidFill>
              </a:rPr>
              <a:t>PART THREE 	</a:t>
            </a:r>
            <a:r>
              <a:rPr lang="en-US" altLang="zh-TW" sz="2400" b="1" dirty="0" smtClean="0">
                <a:solidFill>
                  <a:srgbClr val="FF0066"/>
                </a:solidFill>
              </a:rPr>
              <a:t>STORAGE MANAGEMENT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b="1" dirty="0" smtClean="0">
                <a:solidFill>
                  <a:srgbClr val="000000"/>
                </a:solidFill>
              </a:rPr>
              <a:t>	Chapter 8 	Memory Management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b="1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5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5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5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5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5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5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24BF24A-F7D9-4348-AA31-7C73B2AB9CCE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307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307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D1979F4-B7D5-4E99-848D-0556AA60482B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TW" sz="1400" smtClean="0"/>
          </a:p>
        </p:txBody>
      </p:sp>
      <p:sp>
        <p:nvSpPr>
          <p:cNvPr id="1669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52514" y="190508"/>
            <a:ext cx="8432800" cy="62325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>	</a:t>
            </a:r>
            <a:r>
              <a:rPr lang="en-US" altLang="zh-TW" sz="2400" b="1" dirty="0" smtClean="0">
                <a:solidFill>
                  <a:srgbClr val="000000"/>
                </a:solidFill>
              </a:rPr>
              <a:t>Chapter 9 	</a:t>
            </a:r>
            <a:r>
              <a:rPr lang="en-US" altLang="zh-TW" sz="2400" b="1" dirty="0" smtClean="0">
                <a:solidFill>
                  <a:srgbClr val="0000FF"/>
                </a:solidFill>
              </a:rPr>
              <a:t>Virtual Memory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400" b="1" dirty="0" smtClean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b="1" dirty="0" smtClean="0">
                <a:solidFill>
                  <a:srgbClr val="000000"/>
                </a:solidFill>
              </a:rPr>
              <a:t>PART FOUR 	STORAGE MANAGEMENT</a:t>
            </a:r>
          </a:p>
          <a:p>
            <a:pPr eaLnBrk="1" hangingPunct="1">
              <a:buNone/>
            </a:pPr>
            <a:r>
              <a:rPr lang="en-US" altLang="zh-TW" sz="2400" b="1" dirty="0" smtClean="0">
                <a:solidFill>
                  <a:srgbClr val="000000"/>
                </a:solidFill>
              </a:rPr>
              <a:t>	</a:t>
            </a:r>
            <a:r>
              <a:rPr lang="en-US" altLang="zh-TW" sz="2400" b="1" dirty="0" smtClean="0">
                <a:solidFill>
                  <a:srgbClr val="0000FF"/>
                </a:solidFill>
              </a:rPr>
              <a:t>Chapter 10	Mass-Storage Structure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b="1" dirty="0">
                <a:solidFill>
                  <a:srgbClr val="000000"/>
                </a:solidFill>
              </a:rPr>
              <a:t>	</a:t>
            </a:r>
            <a:r>
              <a:rPr lang="en-US" altLang="zh-TW" sz="2400" b="1" dirty="0" smtClean="0">
                <a:solidFill>
                  <a:srgbClr val="000000"/>
                </a:solidFill>
              </a:rPr>
              <a:t>Chapter 11 	</a:t>
            </a:r>
            <a:r>
              <a:rPr lang="en-US" altLang="zh-TW" sz="2400" b="1" dirty="0">
                <a:solidFill>
                  <a:srgbClr val="000000"/>
                </a:solidFill>
              </a:rPr>
              <a:t>File-System Interface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b="1" dirty="0">
                <a:solidFill>
                  <a:srgbClr val="000000"/>
                </a:solidFill>
              </a:rPr>
              <a:t>	Chapter 12 	File-System Implementation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b="1" dirty="0" smtClean="0">
                <a:solidFill>
                  <a:srgbClr val="000000"/>
                </a:solidFill>
              </a:rPr>
              <a:t>	Chapter 13 	I/O Systems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400" b="1" dirty="0" smtClean="0">
              <a:solidFill>
                <a:schemeClr val="bg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CC6600"/>
                </a:solidFill>
              </a:rPr>
              <a:t>PART FIVE 		PROTECTION AND SECURITY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CC6600"/>
                </a:solidFill>
              </a:rPr>
              <a:t>	Chapter 14 	Protection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CC6600"/>
                </a:solidFill>
              </a:rPr>
              <a:t>	Chapter 15 	Security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400" dirty="0" smtClean="0">
              <a:solidFill>
                <a:srgbClr val="CC6600"/>
              </a:solidFill>
            </a:endParaRPr>
          </a:p>
          <a:p>
            <a:pPr eaLnBrk="1" hangingPunct="1">
              <a:buNone/>
            </a:pPr>
            <a:r>
              <a:rPr lang="en-US" altLang="zh-TW" sz="2400" dirty="0" smtClean="0">
                <a:solidFill>
                  <a:srgbClr val="CC6600"/>
                </a:solidFill>
              </a:rPr>
              <a:t>PART SIX		ADVANCED TOPICS</a:t>
            </a:r>
            <a:endParaRPr lang="en-US" altLang="zh-TW" sz="2800" dirty="0" smtClean="0">
              <a:solidFill>
                <a:srgbClr val="CC66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CC6600"/>
                </a:solidFill>
              </a:rPr>
              <a:t>	Chapter 16 	Virtual Machines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CC6600"/>
                </a:solidFill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400" dirty="0" smtClean="0"/>
          </a:p>
          <a:p>
            <a:pPr eaLnBrk="1" hangingPunct="1">
              <a:buFont typeface="Wingdings" pitchFamily="2" charset="2"/>
              <a:buNone/>
            </a:pPr>
            <a:endParaRPr lang="en-US" altLang="zh-TW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69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69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45EA57B-82EE-44DB-950D-7B72128D020E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317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317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9EAD47B-B1A5-4469-837D-47A4A03DF5BE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TW" sz="1400" smtClean="0"/>
          </a:p>
        </p:txBody>
      </p:sp>
      <p:sp>
        <p:nvSpPr>
          <p:cNvPr id="187394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52513" y="342900"/>
            <a:ext cx="8585200" cy="59055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en-US" altLang="zh-TW" sz="2400" dirty="0" smtClean="0"/>
              <a:t>	</a:t>
            </a:r>
            <a:r>
              <a:rPr lang="en-US" altLang="zh-TW" sz="2400" dirty="0" smtClean="0">
                <a:solidFill>
                  <a:srgbClr val="CC6600"/>
                </a:solidFill>
              </a:rPr>
              <a:t>Chapter 17 	Distributed Systems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CC6600"/>
                </a:solidFill>
              </a:rPr>
              <a:t>	</a:t>
            </a:r>
            <a:endParaRPr lang="en-US" altLang="zh-TW" sz="2800" dirty="0" smtClean="0">
              <a:solidFill>
                <a:schemeClr val="bg2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800" b="1" dirty="0" smtClean="0">
                <a:solidFill>
                  <a:srgbClr val="7030A0"/>
                </a:solidFill>
              </a:rPr>
              <a:t>PART SEVEN	CASE STUDIES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b="1" dirty="0" smtClean="0">
                <a:solidFill>
                  <a:srgbClr val="000000"/>
                </a:solidFill>
              </a:rPr>
              <a:t>	</a:t>
            </a:r>
            <a:r>
              <a:rPr lang="en-US" altLang="zh-TW" sz="2400" dirty="0" smtClean="0">
                <a:solidFill>
                  <a:srgbClr val="7030A0"/>
                </a:solidFill>
              </a:rPr>
              <a:t>Chapter 18 	The Linux System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 smtClean="0"/>
              <a:t>	</a:t>
            </a:r>
            <a:r>
              <a:rPr lang="en-US" altLang="zh-TW" sz="2400" dirty="0" smtClean="0">
                <a:solidFill>
                  <a:srgbClr val="7030A0"/>
                </a:solidFill>
              </a:rPr>
              <a:t>Chapter 19 	Windows 7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7030A0"/>
                </a:solidFill>
              </a:rPr>
              <a:t>	</a:t>
            </a:r>
            <a:r>
              <a:rPr lang="en-US" altLang="zh-TW" sz="2400" dirty="0" smtClean="0">
                <a:solidFill>
                  <a:srgbClr val="000000"/>
                </a:solidFill>
              </a:rPr>
              <a:t>Chapter 20 	Influential Operating Systems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sz="20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CC6600"/>
                </a:solidFill>
              </a:rPr>
              <a:t>Appendix A 		BSD Unix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0070C0"/>
                </a:solidFill>
              </a:rPr>
              <a:t>Appendix B 		The Mach System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000" strike="sngStrike" dirty="0" smtClean="0">
                <a:solidFill>
                  <a:srgbClr val="0070C0"/>
                </a:solidFill>
              </a:rPr>
              <a:t>Appendix 		The Nachos System</a:t>
            </a:r>
            <a:r>
              <a:rPr lang="en-US" altLang="zh-TW" sz="2400" strike="sngStrike" dirty="0" smtClean="0">
                <a:solidFill>
                  <a:srgbClr val="0000FF"/>
                </a:solidFill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71B22A4-3B71-4FDB-88DB-2258F1A15EBA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4D7DB3D-C21A-454A-BAC9-D3106869A73A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TW" sz="1400" smtClean="0"/>
          </a:p>
        </p:txBody>
      </p:sp>
      <p:sp>
        <p:nvSpPr>
          <p:cNvPr id="2007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5505" y="247650"/>
            <a:ext cx="8556625" cy="6248400"/>
          </a:xfrm>
        </p:spPr>
        <p:txBody>
          <a:bodyPr/>
          <a:lstStyle/>
          <a:p>
            <a:pPr algn="ctr" eaLnBrk="1" hangingPunct="1">
              <a:buNone/>
            </a:pPr>
            <a:r>
              <a:rPr lang="en-US" altLang="zh-TW" sz="4000" dirty="0">
                <a:solidFill>
                  <a:srgbClr val="000000"/>
                </a:solidFill>
                <a:latin typeface="Comic Sans MS" pitchFamily="66" charset="0"/>
              </a:rPr>
              <a:t>Tenth Edition</a:t>
            </a:r>
            <a:endParaRPr lang="en-US" altLang="zh-TW" sz="4000" dirty="0" smtClean="0">
              <a:solidFill>
                <a:srgbClr val="000000"/>
              </a:solidFill>
              <a:latin typeface="Comic Sans MS" pitchFamily="66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sz="2800" dirty="0" smtClean="0">
                <a:solidFill>
                  <a:srgbClr val="000000"/>
                </a:solidFill>
              </a:rPr>
              <a:t>Sustained </a:t>
            </a:r>
            <a:r>
              <a:rPr lang="en-US" altLang="zh-TW" sz="2800" dirty="0">
                <a:solidFill>
                  <a:srgbClr val="000000"/>
                </a:solidFill>
              </a:rPr>
              <a:t>growth in four fundamental areas that affect operating systems</a:t>
            </a:r>
            <a:r>
              <a:rPr lang="en-US" altLang="zh-TW" sz="2800" dirty="0" smtClean="0">
                <a:solidFill>
                  <a:srgbClr val="000000"/>
                </a:solidFill>
              </a:rPr>
              <a:t>: </a:t>
            </a:r>
            <a:r>
              <a:rPr lang="en-US" altLang="zh-TW" sz="2800" dirty="0">
                <a:solidFill>
                  <a:srgbClr val="0000FF"/>
                </a:solidFill>
              </a:rPr>
              <a:t>Mobile</a:t>
            </a:r>
            <a:r>
              <a:rPr lang="en-US" altLang="zh-TW" sz="2800" dirty="0">
                <a:solidFill>
                  <a:srgbClr val="000000"/>
                </a:solidFill>
              </a:rPr>
              <a:t> OSs, </a:t>
            </a:r>
            <a:r>
              <a:rPr lang="en-US" altLang="zh-TW" sz="2800" dirty="0">
                <a:solidFill>
                  <a:srgbClr val="7030A0"/>
                </a:solidFill>
              </a:rPr>
              <a:t>Multicore</a:t>
            </a:r>
            <a:r>
              <a:rPr lang="en-US" altLang="zh-TW" sz="2800" dirty="0">
                <a:solidFill>
                  <a:srgbClr val="000000"/>
                </a:solidFill>
              </a:rPr>
              <a:t>, </a:t>
            </a:r>
            <a:r>
              <a:rPr lang="en-US" altLang="zh-TW" sz="2800" dirty="0">
                <a:solidFill>
                  <a:srgbClr val="C00000"/>
                </a:solidFill>
              </a:rPr>
              <a:t>Virtualization</a:t>
            </a:r>
            <a:r>
              <a:rPr lang="en-US" altLang="zh-TW" sz="2800" dirty="0">
                <a:solidFill>
                  <a:srgbClr val="000000"/>
                </a:solidFill>
              </a:rPr>
              <a:t>, </a:t>
            </a:r>
            <a:r>
              <a:rPr lang="en-US" altLang="zh-TW" sz="2800" dirty="0">
                <a:solidFill>
                  <a:srgbClr val="CC6600"/>
                </a:solidFill>
              </a:rPr>
              <a:t>Nonvolatile memory secondary storage</a:t>
            </a:r>
            <a:endParaRPr lang="en-US" altLang="zh-TW" sz="2800" dirty="0" smtClean="0">
              <a:solidFill>
                <a:srgbClr val="CC6600"/>
              </a:solidFill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Major Changes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Chapter 1</a:t>
            </a:r>
            <a:r>
              <a:rPr lang="en-US" altLang="zh-TW" dirty="0" smtClean="0">
                <a:solidFill>
                  <a:srgbClr val="0000FF"/>
                </a:solidFill>
              </a:rPr>
              <a:t>: updated </a:t>
            </a:r>
            <a:r>
              <a:rPr lang="en-US" altLang="zh-TW" dirty="0">
                <a:solidFill>
                  <a:srgbClr val="0000FF"/>
                </a:solidFill>
              </a:rPr>
              <a:t>coverage of multicore </a:t>
            </a:r>
            <a:r>
              <a:rPr lang="en-US" altLang="zh-TW" dirty="0" smtClean="0">
                <a:solidFill>
                  <a:srgbClr val="0000FF"/>
                </a:solidFill>
              </a:rPr>
              <a:t>systems, as </a:t>
            </a:r>
            <a:r>
              <a:rPr lang="en-US" altLang="zh-TW" dirty="0">
                <a:solidFill>
                  <a:srgbClr val="0000FF"/>
                </a:solidFill>
              </a:rPr>
              <a:t>well as new coverage of </a:t>
            </a:r>
            <a:r>
              <a:rPr lang="en-US" altLang="zh-TW" dirty="0" smtClean="0">
                <a:solidFill>
                  <a:srgbClr val="0000FF"/>
                </a:solidFill>
              </a:rPr>
              <a:t>NUMA systems </a:t>
            </a:r>
            <a:r>
              <a:rPr lang="en-US" altLang="zh-TW" dirty="0">
                <a:solidFill>
                  <a:srgbClr val="0000FF"/>
                </a:solidFill>
              </a:rPr>
              <a:t>and Hadoop </a:t>
            </a:r>
            <a:r>
              <a:rPr lang="en-US" altLang="zh-TW" dirty="0" smtClean="0">
                <a:solidFill>
                  <a:srgbClr val="0000FF"/>
                </a:solidFill>
              </a:rPr>
              <a:t>clusters.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Chapter 2: GRUB (system boot</a:t>
            </a:r>
            <a:r>
              <a:rPr lang="en-US" altLang="zh-TW" dirty="0" smtClean="0">
                <a:solidFill>
                  <a:srgbClr val="0000FF"/>
                </a:solidFill>
              </a:rPr>
              <a:t>) for </a:t>
            </a:r>
            <a:r>
              <a:rPr lang="en-US" altLang="zh-TW" dirty="0">
                <a:solidFill>
                  <a:srgbClr val="0000FF"/>
                </a:solidFill>
              </a:rPr>
              <a:t>Linux systems, linkers and loaders, BCC debugging </a:t>
            </a:r>
            <a:r>
              <a:rPr lang="en-US" altLang="zh-TW" dirty="0" smtClean="0">
                <a:solidFill>
                  <a:srgbClr val="0000FF"/>
                </a:solidFill>
              </a:rPr>
              <a:t>toolset.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37429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71B22A4-3B71-4FDB-88DB-2258F1A15EBA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4D7DB3D-C21A-454A-BAC9-D3106869A73A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TW" sz="1400" smtClean="0"/>
          </a:p>
        </p:txBody>
      </p:sp>
      <p:sp>
        <p:nvSpPr>
          <p:cNvPr id="2007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5505" y="247650"/>
            <a:ext cx="8556625" cy="6248400"/>
          </a:xfrm>
        </p:spPr>
        <p:txBody>
          <a:bodyPr/>
          <a:lstStyle/>
          <a:p>
            <a:pPr algn="ctr" eaLnBrk="1" hangingPunct="1">
              <a:buNone/>
            </a:pPr>
            <a:r>
              <a:rPr lang="en-US" altLang="zh-TW" sz="4000" dirty="0">
                <a:solidFill>
                  <a:srgbClr val="000000"/>
                </a:solidFill>
                <a:latin typeface="Comic Sans MS" pitchFamily="66" charset="0"/>
              </a:rPr>
              <a:t>Major </a:t>
            </a:r>
            <a:r>
              <a:rPr lang="en-US" altLang="zh-TW" sz="4000" dirty="0" smtClean="0">
                <a:solidFill>
                  <a:srgbClr val="000000"/>
                </a:solidFill>
                <a:latin typeface="Comic Sans MS" pitchFamily="66" charset="0"/>
              </a:rPr>
              <a:t>Changes, cont’d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 smtClean="0">
                <a:solidFill>
                  <a:srgbClr val="0000FF"/>
                </a:solidFill>
              </a:rPr>
              <a:t>Chapter </a:t>
            </a:r>
            <a:r>
              <a:rPr lang="en-US" altLang="zh-TW" dirty="0">
                <a:solidFill>
                  <a:srgbClr val="0000FF"/>
                </a:solidFill>
              </a:rPr>
              <a:t>3</a:t>
            </a:r>
            <a:r>
              <a:rPr lang="en-US" altLang="zh-TW" dirty="0" smtClean="0">
                <a:solidFill>
                  <a:srgbClr val="0000FF"/>
                </a:solidFill>
              </a:rPr>
              <a:t>: </a:t>
            </a:r>
            <a:r>
              <a:rPr lang="en-US" altLang="zh-TW" dirty="0">
                <a:solidFill>
                  <a:srgbClr val="0000FF"/>
                </a:solidFill>
              </a:rPr>
              <a:t>Android process hierarchy, </a:t>
            </a:r>
            <a:r>
              <a:rPr lang="en-US" altLang="zh-TW" dirty="0" smtClean="0">
                <a:solidFill>
                  <a:srgbClr val="0000FF"/>
                </a:solidFill>
              </a:rPr>
              <a:t>Mach message </a:t>
            </a:r>
            <a:r>
              <a:rPr lang="en-US" altLang="zh-TW" dirty="0">
                <a:solidFill>
                  <a:srgbClr val="0000FF"/>
                </a:solidFill>
              </a:rPr>
              <a:t>passing, and Android </a:t>
            </a:r>
            <a:r>
              <a:rPr lang="en-US" altLang="zh-TW" dirty="0" smtClean="0">
                <a:solidFill>
                  <a:srgbClr val="0000FF"/>
                </a:solidFill>
              </a:rPr>
              <a:t>RPCs.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Chapter </a:t>
            </a:r>
            <a:r>
              <a:rPr lang="en-US" altLang="zh-TW" dirty="0" smtClean="0">
                <a:solidFill>
                  <a:srgbClr val="0000FF"/>
                </a:solidFill>
              </a:rPr>
              <a:t>4</a:t>
            </a:r>
            <a:r>
              <a:rPr lang="en-US" altLang="zh-TW" dirty="0">
                <a:solidFill>
                  <a:srgbClr val="0000FF"/>
                </a:solidFill>
              </a:rPr>
              <a:t>: </a:t>
            </a:r>
            <a:r>
              <a:rPr lang="en-US" altLang="zh-TW" dirty="0" smtClean="0">
                <a:solidFill>
                  <a:srgbClr val="0000FF"/>
                </a:solidFill>
              </a:rPr>
              <a:t>fork-join framework in Java, Intel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</a:rPr>
              <a:t>thread </a:t>
            </a:r>
            <a:r>
              <a:rPr lang="en-US" altLang="zh-TW" dirty="0">
                <a:solidFill>
                  <a:srgbClr val="0000FF"/>
                </a:solidFill>
              </a:rPr>
              <a:t>building blocks</a:t>
            </a:r>
            <a:r>
              <a:rPr lang="en-US" altLang="zh-TW" dirty="0" smtClean="0">
                <a:solidFill>
                  <a:srgbClr val="0000FF"/>
                </a:solidFill>
              </a:rPr>
              <a:t>.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Chapter </a:t>
            </a:r>
            <a:r>
              <a:rPr lang="en-US" altLang="zh-TW" dirty="0" smtClean="0">
                <a:solidFill>
                  <a:srgbClr val="0000FF"/>
                </a:solidFill>
              </a:rPr>
              <a:t>5 (scheduling): </a:t>
            </a:r>
            <a:r>
              <a:rPr lang="en-US" altLang="zh-TW" dirty="0">
                <a:solidFill>
                  <a:srgbClr val="0000FF"/>
                </a:solidFill>
              </a:rPr>
              <a:t>NUMA-aware scheduling issues throughout, including </a:t>
            </a:r>
            <a:r>
              <a:rPr lang="en-US" altLang="zh-TW" dirty="0" smtClean="0">
                <a:solidFill>
                  <a:srgbClr val="0000FF"/>
                </a:solidFill>
              </a:rPr>
              <a:t>how this </a:t>
            </a:r>
            <a:r>
              <a:rPr lang="en-US" altLang="zh-TW" dirty="0">
                <a:solidFill>
                  <a:srgbClr val="0000FF"/>
                </a:solidFill>
              </a:rPr>
              <a:t>scheduling affects load balancing</a:t>
            </a:r>
            <a:r>
              <a:rPr lang="en-US" altLang="zh-TW" dirty="0" smtClean="0">
                <a:solidFill>
                  <a:srgbClr val="0000FF"/>
                </a:solidFill>
              </a:rPr>
              <a:t>.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Chapter </a:t>
            </a:r>
            <a:r>
              <a:rPr lang="en-US" altLang="zh-TW" dirty="0" smtClean="0">
                <a:solidFill>
                  <a:srgbClr val="0000FF"/>
                </a:solidFill>
              </a:rPr>
              <a:t>6 </a:t>
            </a:r>
            <a:r>
              <a:rPr lang="en-US" altLang="zh-TW" dirty="0">
                <a:solidFill>
                  <a:srgbClr val="0000FF"/>
                </a:solidFill>
              </a:rPr>
              <a:t>(Synchronization </a:t>
            </a:r>
            <a:r>
              <a:rPr lang="en-US" altLang="zh-TW" dirty="0">
                <a:solidFill>
                  <a:srgbClr val="CC6600"/>
                </a:solidFill>
              </a:rPr>
              <a:t>Tools</a:t>
            </a:r>
            <a:r>
              <a:rPr lang="en-US" altLang="zh-TW" dirty="0">
                <a:solidFill>
                  <a:srgbClr val="0000FF"/>
                </a:solidFill>
              </a:rPr>
              <a:t>): </a:t>
            </a:r>
            <a:r>
              <a:rPr lang="en-US" altLang="zh-TW" dirty="0" err="1" smtClean="0">
                <a:solidFill>
                  <a:srgbClr val="0000FF"/>
                </a:solidFill>
              </a:rPr>
              <a:t>Lockfree</a:t>
            </a:r>
            <a:r>
              <a:rPr lang="en-US" altLang="zh-TW" dirty="0" smtClean="0">
                <a:solidFill>
                  <a:srgbClr val="0000FF"/>
                </a:solidFill>
              </a:rPr>
              <a:t> algorithms </a:t>
            </a:r>
            <a:r>
              <a:rPr lang="en-US" altLang="zh-TW" dirty="0">
                <a:solidFill>
                  <a:srgbClr val="0000FF"/>
                </a:solidFill>
              </a:rPr>
              <a:t>using compare-and-swap instructions; new coverage of memory models, memory barriers, and </a:t>
            </a:r>
            <a:r>
              <a:rPr lang="en-US" altLang="zh-TW" dirty="0" smtClean="0">
                <a:solidFill>
                  <a:srgbClr val="0000FF"/>
                </a:solidFill>
              </a:rPr>
              <a:t>liveness issues.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7398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71B22A4-3B71-4FDB-88DB-2258F1A15EBA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4D7DB3D-C21A-454A-BAC9-D3106869A73A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TW" sz="1400" smtClean="0"/>
          </a:p>
        </p:txBody>
      </p:sp>
      <p:sp>
        <p:nvSpPr>
          <p:cNvPr id="2007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5505" y="247650"/>
            <a:ext cx="8556625" cy="6248400"/>
          </a:xfrm>
        </p:spPr>
        <p:txBody>
          <a:bodyPr/>
          <a:lstStyle/>
          <a:p>
            <a:pPr algn="ctr" eaLnBrk="1" hangingPunct="1">
              <a:buNone/>
            </a:pPr>
            <a:r>
              <a:rPr lang="en-US" altLang="zh-TW" sz="4000" dirty="0">
                <a:solidFill>
                  <a:srgbClr val="000000"/>
                </a:solidFill>
                <a:latin typeface="Comic Sans MS" pitchFamily="66" charset="0"/>
              </a:rPr>
              <a:t>Major </a:t>
            </a:r>
            <a:r>
              <a:rPr lang="en-US" altLang="zh-TW" sz="4000" dirty="0" smtClean="0">
                <a:solidFill>
                  <a:srgbClr val="000000"/>
                </a:solidFill>
                <a:latin typeface="Comic Sans MS" pitchFamily="66" charset="0"/>
              </a:rPr>
              <a:t>Changes, cont’d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Chapter 7: Synchronization </a:t>
            </a:r>
            <a:r>
              <a:rPr lang="en-US" altLang="zh-TW" dirty="0">
                <a:solidFill>
                  <a:srgbClr val="CC6600"/>
                </a:solidFill>
              </a:rPr>
              <a:t>Examples</a:t>
            </a:r>
            <a:r>
              <a:rPr lang="en-US" altLang="zh-TW" dirty="0">
                <a:solidFill>
                  <a:srgbClr val="0000FF"/>
                </a:solidFill>
              </a:rPr>
              <a:t> (previously part of Chapter </a:t>
            </a:r>
            <a:r>
              <a:rPr lang="en-US" altLang="zh-TW" dirty="0" smtClean="0">
                <a:solidFill>
                  <a:srgbClr val="0000FF"/>
                </a:solidFill>
              </a:rPr>
              <a:t>5, Process </a:t>
            </a:r>
            <a:r>
              <a:rPr lang="en-US" altLang="zh-TW" dirty="0">
                <a:solidFill>
                  <a:srgbClr val="0000FF"/>
                </a:solidFill>
              </a:rPr>
              <a:t>Synchronization) POSIX named </a:t>
            </a:r>
            <a:r>
              <a:rPr lang="en-US" altLang="zh-TW" dirty="0" smtClean="0">
                <a:solidFill>
                  <a:srgbClr val="0000FF"/>
                </a:solidFill>
              </a:rPr>
              <a:t>and unnamed </a:t>
            </a:r>
            <a:r>
              <a:rPr lang="en-US" altLang="zh-TW" dirty="0">
                <a:solidFill>
                  <a:srgbClr val="0000FF"/>
                </a:solidFill>
              </a:rPr>
              <a:t>semaphores, </a:t>
            </a:r>
            <a:r>
              <a:rPr lang="en-US" altLang="zh-TW" dirty="0" smtClean="0">
                <a:solidFill>
                  <a:srgbClr val="0000FF"/>
                </a:solidFill>
              </a:rPr>
              <a:t>and condition variables; Java </a:t>
            </a:r>
            <a:r>
              <a:rPr lang="en-US" altLang="zh-TW" dirty="0">
                <a:solidFill>
                  <a:srgbClr val="0000FF"/>
                </a:solidFill>
              </a:rPr>
              <a:t>synchronization is </a:t>
            </a:r>
            <a:r>
              <a:rPr lang="en-US" altLang="zh-TW" dirty="0" smtClean="0">
                <a:solidFill>
                  <a:srgbClr val="0000FF"/>
                </a:solidFill>
              </a:rPr>
              <a:t>included.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Chapter </a:t>
            </a:r>
            <a:r>
              <a:rPr lang="en-US" altLang="zh-TW" dirty="0" smtClean="0">
                <a:solidFill>
                  <a:srgbClr val="0000FF"/>
                </a:solidFill>
              </a:rPr>
              <a:t>8</a:t>
            </a:r>
            <a:r>
              <a:rPr lang="en-US" altLang="zh-TW" dirty="0">
                <a:solidFill>
                  <a:srgbClr val="0000FF"/>
                </a:solidFill>
              </a:rPr>
              <a:t>: </a:t>
            </a:r>
            <a:r>
              <a:rPr lang="en-US" altLang="zh-TW" dirty="0" err="1">
                <a:solidFill>
                  <a:srgbClr val="0000FF"/>
                </a:solidFill>
              </a:rPr>
              <a:t>livelock</a:t>
            </a:r>
            <a:r>
              <a:rPr lang="en-US" altLang="zh-TW" dirty="0">
                <a:solidFill>
                  <a:srgbClr val="0000FF"/>
                </a:solidFill>
              </a:rPr>
              <a:t> and </a:t>
            </a:r>
            <a:r>
              <a:rPr lang="en-US" altLang="zh-TW" dirty="0" smtClean="0">
                <a:solidFill>
                  <a:srgbClr val="0000FF"/>
                </a:solidFill>
              </a:rPr>
              <a:t>liveness </a:t>
            </a:r>
            <a:r>
              <a:rPr lang="en-US" altLang="zh-TW" dirty="0">
                <a:solidFill>
                  <a:srgbClr val="0000FF"/>
                </a:solidFill>
              </a:rPr>
              <a:t>hazard.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Chapter </a:t>
            </a:r>
            <a:r>
              <a:rPr lang="en-US" altLang="zh-TW" dirty="0" smtClean="0">
                <a:solidFill>
                  <a:srgbClr val="0000FF"/>
                </a:solidFill>
              </a:rPr>
              <a:t>9</a:t>
            </a:r>
            <a:r>
              <a:rPr lang="en-US" altLang="zh-TW" dirty="0">
                <a:solidFill>
                  <a:srgbClr val="0000FF"/>
                </a:solidFill>
              </a:rPr>
              <a:t>: ARMv8 </a:t>
            </a:r>
            <a:r>
              <a:rPr lang="en-US" altLang="zh-TW" dirty="0" smtClean="0">
                <a:solidFill>
                  <a:srgbClr val="0000FF"/>
                </a:solidFill>
              </a:rPr>
              <a:t>64-bit </a:t>
            </a:r>
            <a:r>
              <a:rPr lang="en-US" altLang="zh-TW" dirty="0">
                <a:solidFill>
                  <a:srgbClr val="0000FF"/>
                </a:solidFill>
              </a:rPr>
              <a:t>architecture, eliminated coverage of </a:t>
            </a:r>
            <a:r>
              <a:rPr lang="en-US" altLang="zh-TW" strike="sngStrike" dirty="0" smtClean="0">
                <a:solidFill>
                  <a:srgbClr val="0000FF"/>
                </a:solidFill>
              </a:rPr>
              <a:t>segmentation</a:t>
            </a:r>
            <a:r>
              <a:rPr lang="en-US" altLang="zh-TW" dirty="0" smtClean="0">
                <a:solidFill>
                  <a:srgbClr val="0000FF"/>
                </a:solidFill>
              </a:rPr>
              <a:t>.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Chapter </a:t>
            </a:r>
            <a:r>
              <a:rPr lang="en-US" altLang="zh-TW" dirty="0" smtClean="0">
                <a:solidFill>
                  <a:srgbClr val="0000FF"/>
                </a:solidFill>
              </a:rPr>
              <a:t>10</a:t>
            </a:r>
            <a:r>
              <a:rPr lang="en-US" altLang="zh-TW" dirty="0">
                <a:solidFill>
                  <a:srgbClr val="0000FF"/>
                </a:solidFill>
              </a:rPr>
              <a:t>: </a:t>
            </a:r>
            <a:r>
              <a:rPr lang="en-US" altLang="zh-TW" dirty="0" smtClean="0">
                <a:solidFill>
                  <a:srgbClr val="0000FF"/>
                </a:solidFill>
              </a:rPr>
              <a:t>compressed memory</a:t>
            </a:r>
            <a:r>
              <a:rPr lang="en-US" altLang="zh-TW" dirty="0">
                <a:solidFill>
                  <a:srgbClr val="0000FF"/>
                </a:solidFill>
              </a:rPr>
              <a:t>, major/minor page faults, and memory management </a:t>
            </a:r>
            <a:r>
              <a:rPr lang="en-US" altLang="zh-TW" dirty="0" smtClean="0">
                <a:solidFill>
                  <a:srgbClr val="0000FF"/>
                </a:solidFill>
              </a:rPr>
              <a:t>in Linux </a:t>
            </a:r>
            <a:r>
              <a:rPr lang="en-US" altLang="zh-TW" dirty="0">
                <a:solidFill>
                  <a:srgbClr val="0000FF"/>
                </a:solidFill>
              </a:rPr>
              <a:t>and Windows 10</a:t>
            </a:r>
            <a:r>
              <a:rPr lang="en-US" altLang="zh-TW" dirty="0" smtClean="0">
                <a:solidFill>
                  <a:srgbClr val="0000FF"/>
                </a:solidFill>
              </a:rPr>
              <a:t>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66910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71B22A4-3B71-4FDB-88DB-2258F1A15EBA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4D7DB3D-C21A-454A-BAC9-D3106869A73A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TW" sz="1400" smtClean="0"/>
          </a:p>
        </p:txBody>
      </p:sp>
      <p:sp>
        <p:nvSpPr>
          <p:cNvPr id="2007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5505" y="247650"/>
            <a:ext cx="8556625" cy="6248400"/>
          </a:xfrm>
        </p:spPr>
        <p:txBody>
          <a:bodyPr/>
          <a:lstStyle/>
          <a:p>
            <a:pPr algn="ctr" eaLnBrk="1" hangingPunct="1">
              <a:buNone/>
            </a:pPr>
            <a:r>
              <a:rPr lang="en-US" altLang="zh-TW" sz="4000" dirty="0">
                <a:solidFill>
                  <a:srgbClr val="000000"/>
                </a:solidFill>
                <a:latin typeface="Comic Sans MS" pitchFamily="66" charset="0"/>
              </a:rPr>
              <a:t>Major </a:t>
            </a:r>
            <a:r>
              <a:rPr lang="en-US" altLang="zh-TW" sz="4000" dirty="0" smtClean="0">
                <a:solidFill>
                  <a:srgbClr val="000000"/>
                </a:solidFill>
                <a:latin typeface="Comic Sans MS" pitchFamily="66" charset="0"/>
              </a:rPr>
              <a:t>Changes, cont’d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Chapter </a:t>
            </a:r>
            <a:r>
              <a:rPr lang="en-US" altLang="zh-TW" dirty="0" smtClean="0">
                <a:solidFill>
                  <a:srgbClr val="0000FF"/>
                </a:solidFill>
              </a:rPr>
              <a:t>11</a:t>
            </a:r>
            <a:r>
              <a:rPr lang="en-US" altLang="zh-TW" dirty="0">
                <a:solidFill>
                  <a:srgbClr val="0000FF"/>
                </a:solidFill>
              </a:rPr>
              <a:t>: cloud storage, updated </a:t>
            </a:r>
            <a:r>
              <a:rPr lang="en-US" altLang="zh-TW" dirty="0" smtClean="0">
                <a:solidFill>
                  <a:srgbClr val="0000FF"/>
                </a:solidFill>
              </a:rPr>
              <a:t>RAID coverage</a:t>
            </a:r>
            <a:r>
              <a:rPr lang="en-US" altLang="zh-TW" dirty="0">
                <a:solidFill>
                  <a:srgbClr val="0000FF"/>
                </a:solidFill>
              </a:rPr>
              <a:t>, </a:t>
            </a:r>
            <a:r>
              <a:rPr lang="en-US" altLang="zh-TW" dirty="0" smtClean="0">
                <a:solidFill>
                  <a:srgbClr val="0000FF"/>
                </a:solidFill>
              </a:rPr>
              <a:t>object </a:t>
            </a:r>
            <a:r>
              <a:rPr lang="en-US" altLang="zh-TW" dirty="0">
                <a:solidFill>
                  <a:srgbClr val="0000FF"/>
                </a:solidFill>
              </a:rPr>
              <a:t>storage.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Chapter </a:t>
            </a:r>
            <a:r>
              <a:rPr lang="en-US" altLang="zh-TW" dirty="0" smtClean="0">
                <a:solidFill>
                  <a:srgbClr val="0000FF"/>
                </a:solidFill>
              </a:rPr>
              <a:t>12 (I/O): </a:t>
            </a:r>
            <a:r>
              <a:rPr lang="en-US" altLang="zh-TW" dirty="0">
                <a:solidFill>
                  <a:srgbClr val="0000FF"/>
                </a:solidFill>
              </a:rPr>
              <a:t>vectored </a:t>
            </a:r>
            <a:r>
              <a:rPr lang="en-US" altLang="zh-TW" dirty="0" smtClean="0">
                <a:solidFill>
                  <a:srgbClr val="0000FF"/>
                </a:solidFill>
              </a:rPr>
              <a:t>I/O, power </a:t>
            </a:r>
            <a:r>
              <a:rPr lang="en-US" altLang="zh-TW" dirty="0">
                <a:solidFill>
                  <a:srgbClr val="0000FF"/>
                </a:solidFill>
              </a:rPr>
              <a:t>management for mobile </a:t>
            </a:r>
            <a:r>
              <a:rPr lang="en-US" altLang="zh-TW" dirty="0" smtClean="0">
                <a:solidFill>
                  <a:srgbClr val="0000FF"/>
                </a:solidFill>
              </a:rPr>
              <a:t>OS.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Chapter 13 (File-System Interface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Chapter 14 (File-System </a:t>
            </a:r>
            <a:r>
              <a:rPr lang="en-US" altLang="zh-TW" dirty="0" smtClean="0">
                <a:solidFill>
                  <a:srgbClr val="0000FF"/>
                </a:solidFill>
              </a:rPr>
              <a:t>Implementation): </a:t>
            </a:r>
            <a:r>
              <a:rPr lang="en-US" altLang="zh-TW" dirty="0">
                <a:solidFill>
                  <a:srgbClr val="0000FF"/>
                </a:solidFill>
              </a:rPr>
              <a:t>TRIM and the Apple File System. 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0000FF"/>
                </a:solidFill>
              </a:rPr>
              <a:t>Chapter </a:t>
            </a:r>
            <a:r>
              <a:rPr lang="en-US" altLang="zh-TW" dirty="0" smtClean="0">
                <a:solidFill>
                  <a:srgbClr val="0000FF"/>
                </a:solidFill>
              </a:rPr>
              <a:t>15 (File </a:t>
            </a:r>
            <a:r>
              <a:rPr lang="en-US" altLang="zh-TW" dirty="0">
                <a:solidFill>
                  <a:srgbClr val="0000FF"/>
                </a:solidFill>
              </a:rPr>
              <a:t>System </a:t>
            </a:r>
            <a:r>
              <a:rPr lang="en-US" altLang="zh-TW" dirty="0" smtClean="0">
                <a:solidFill>
                  <a:srgbClr val="0000FF"/>
                </a:solidFill>
              </a:rPr>
              <a:t>Internals) </a:t>
            </a:r>
            <a:r>
              <a:rPr lang="en-US" altLang="zh-TW" dirty="0">
                <a:solidFill>
                  <a:srgbClr val="0000FF"/>
                </a:solidFill>
              </a:rPr>
              <a:t>is new and contains updated </a:t>
            </a:r>
            <a:r>
              <a:rPr lang="en-US" altLang="zh-TW" dirty="0" smtClean="0">
                <a:solidFill>
                  <a:srgbClr val="0000FF"/>
                </a:solidFill>
              </a:rPr>
              <a:t>information from </a:t>
            </a:r>
            <a:r>
              <a:rPr lang="en-US" altLang="zh-TW" dirty="0">
                <a:solidFill>
                  <a:srgbClr val="0000FF"/>
                </a:solidFill>
              </a:rPr>
              <a:t>the previous Chapters 11 and 12.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776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9A31837-1314-4F56-9123-A8F0EB27C20D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3584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358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A5EEAB3-6016-41BD-86E8-3D9DC5C4FB99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TW" sz="1400" smtClean="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393700" y="392113"/>
            <a:ext cx="8885238" cy="773112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The 9th Edition (1)</a:t>
            </a:r>
          </a:p>
        </p:txBody>
      </p:sp>
      <p:sp>
        <p:nvSpPr>
          <p:cNvPr id="309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28638" y="1274763"/>
            <a:ext cx="9193212" cy="53451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TW" sz="2400" b="1" dirty="0" smtClean="0"/>
              <a:t>1: </a:t>
            </a:r>
            <a:r>
              <a:rPr lang="en-US" altLang="zh-TW" sz="2400" dirty="0" smtClean="0">
                <a:solidFill>
                  <a:srgbClr val="0000FF"/>
                </a:solidFill>
              </a:rPr>
              <a:t>updated coverage of multiprocessor and multicore systems, as well as a new section on </a:t>
            </a:r>
            <a:r>
              <a:rPr lang="en-US" altLang="zh-TW" sz="2400" dirty="0" smtClean="0">
                <a:solidFill>
                  <a:srgbClr val="FF0000"/>
                </a:solidFill>
              </a:rPr>
              <a:t>kernel data structures</a:t>
            </a:r>
            <a:r>
              <a:rPr lang="en-US" altLang="zh-TW" sz="2400" dirty="0" smtClean="0">
                <a:solidFill>
                  <a:srgbClr val="0000FF"/>
                </a:solidFill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TW" sz="2400" b="1" dirty="0" smtClean="0"/>
              <a:t>1: </a:t>
            </a:r>
            <a:r>
              <a:rPr lang="en-US" altLang="zh-TW" sz="2400" dirty="0" smtClean="0">
                <a:solidFill>
                  <a:srgbClr val="0000FF"/>
                </a:solidFill>
              </a:rPr>
              <a:t>computing environments: includes mobile systems, cloud computing and an overview of real-time systems.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TW" sz="2400" b="1" dirty="0" smtClean="0"/>
              <a:t>2: </a:t>
            </a:r>
            <a:r>
              <a:rPr lang="en-US" altLang="zh-TW" sz="2400" dirty="0" smtClean="0">
                <a:solidFill>
                  <a:srgbClr val="0000FF"/>
                </a:solidFill>
              </a:rPr>
              <a:t>user interfaces for mobile devices, including discussions of iOS and Android.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TW" sz="2400" b="1" dirty="0" smtClean="0"/>
              <a:t>3(Processes):</a:t>
            </a:r>
            <a:r>
              <a:rPr lang="en-US" altLang="zh-TW" sz="2400" dirty="0" smtClean="0"/>
              <a:t> multitasking in </a:t>
            </a:r>
            <a:r>
              <a:rPr lang="en-US" altLang="zh-TW" sz="2400" dirty="0" smtClean="0">
                <a:solidFill>
                  <a:srgbClr val="0000FF"/>
                </a:solidFill>
              </a:rPr>
              <a:t>mobile OSs</a:t>
            </a:r>
            <a:r>
              <a:rPr lang="en-US" altLang="zh-TW" sz="2400" dirty="0" smtClean="0"/>
              <a:t>, </a:t>
            </a:r>
            <a:r>
              <a:rPr lang="en-US" altLang="zh-TW" sz="2400" dirty="0" err="1" smtClean="0"/>
              <a:t>multiprocess</a:t>
            </a:r>
            <a:r>
              <a:rPr lang="en-US" altLang="zh-TW" sz="2400" dirty="0" smtClean="0"/>
              <a:t> model in </a:t>
            </a:r>
            <a:r>
              <a:rPr lang="en-US" altLang="zh-TW" sz="2400" dirty="0" smtClean="0">
                <a:solidFill>
                  <a:srgbClr val="0000FF"/>
                </a:solidFill>
              </a:rPr>
              <a:t>Google’s Chrome</a:t>
            </a:r>
            <a:r>
              <a:rPr lang="en-US" altLang="zh-TW" sz="2400" dirty="0" smtClean="0"/>
              <a:t>, and </a:t>
            </a:r>
            <a:r>
              <a:rPr lang="en-US" altLang="zh-TW" sz="2400" dirty="0" smtClean="0">
                <a:solidFill>
                  <a:srgbClr val="0000FF"/>
                </a:solidFill>
              </a:rPr>
              <a:t>zombie</a:t>
            </a:r>
            <a:r>
              <a:rPr lang="en-US" altLang="zh-TW" sz="2400" dirty="0" smtClean="0"/>
              <a:t> and </a:t>
            </a:r>
            <a:r>
              <a:rPr lang="en-US" altLang="zh-TW" sz="2400" dirty="0" smtClean="0">
                <a:solidFill>
                  <a:srgbClr val="0000FF"/>
                </a:solidFill>
              </a:rPr>
              <a:t>orphan</a:t>
            </a:r>
            <a:r>
              <a:rPr lang="en-US" altLang="zh-TW" sz="2400" dirty="0" smtClean="0"/>
              <a:t> processes in UNIX.</a:t>
            </a:r>
          </a:p>
          <a:p>
            <a:r>
              <a:rPr lang="en-US" altLang="zh-TW" sz="2400" b="1" dirty="0"/>
              <a:t>4</a:t>
            </a:r>
            <a:r>
              <a:rPr lang="en-US" altLang="zh-TW" sz="2400" b="1" dirty="0" smtClean="0"/>
              <a:t>(Threads): </a:t>
            </a:r>
            <a:r>
              <a:rPr lang="en-US" altLang="zh-TW" sz="2400" dirty="0" smtClean="0">
                <a:solidFill>
                  <a:srgbClr val="0000FF"/>
                </a:solidFill>
              </a:rPr>
              <a:t>parallelism</a:t>
            </a:r>
            <a:r>
              <a:rPr lang="en-US" altLang="zh-TW" sz="2400" dirty="0" smtClean="0"/>
              <a:t> and </a:t>
            </a:r>
            <a:r>
              <a:rPr lang="en-US" altLang="zh-TW" sz="2400" dirty="0" smtClean="0">
                <a:solidFill>
                  <a:srgbClr val="0000FF"/>
                </a:solidFill>
              </a:rPr>
              <a:t>Amdahl’s law</a:t>
            </a:r>
            <a:r>
              <a:rPr lang="en-US" altLang="zh-TW" sz="2400" dirty="0" smtClean="0"/>
              <a:t>; </a:t>
            </a:r>
            <a:r>
              <a:rPr lang="en-US" altLang="zh-TW" sz="2400" dirty="0"/>
              <a:t>a new section on implicit </a:t>
            </a:r>
            <a:r>
              <a:rPr lang="en-US" altLang="zh-TW" sz="2400" dirty="0" smtClean="0"/>
              <a:t>threading, including </a:t>
            </a:r>
            <a:r>
              <a:rPr lang="en-US" altLang="zh-TW" sz="2400" dirty="0" err="1">
                <a:solidFill>
                  <a:srgbClr val="0000FF"/>
                </a:solidFill>
              </a:rPr>
              <a:t>OpenMP</a:t>
            </a:r>
            <a:r>
              <a:rPr lang="en-US" altLang="zh-TW" sz="2400" dirty="0">
                <a:solidFill>
                  <a:srgbClr val="0000FF"/>
                </a:solidFill>
              </a:rPr>
              <a:t> </a:t>
            </a:r>
            <a:r>
              <a:rPr lang="en-US" altLang="zh-TW" sz="2400" dirty="0"/>
              <a:t>and </a:t>
            </a:r>
            <a:r>
              <a:rPr lang="en-US" altLang="zh-TW" sz="2400" dirty="0">
                <a:solidFill>
                  <a:srgbClr val="0000FF"/>
                </a:solidFill>
              </a:rPr>
              <a:t>Apple’s Grand Central Dispatch</a:t>
            </a:r>
            <a:r>
              <a:rPr lang="en-US" altLang="zh-TW" sz="2400" dirty="0" smtClean="0"/>
              <a:t>.</a:t>
            </a:r>
            <a:endParaRPr lang="en-US" altLang="zh-TW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21110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2EF64E4-F155-4DF2-ACC5-18AD03C3385A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3686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368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8973ED-0172-47FD-935D-13EA66A65D75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TW" sz="1400" smtClean="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xfrm>
            <a:off x="393700" y="392113"/>
            <a:ext cx="8885238" cy="773112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The 9th Edition (2)</a:t>
            </a:r>
          </a:p>
        </p:txBody>
      </p:sp>
      <p:sp>
        <p:nvSpPr>
          <p:cNvPr id="311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20705" y="1130305"/>
            <a:ext cx="9193213" cy="5345113"/>
          </a:xfrm>
        </p:spPr>
        <p:txBody>
          <a:bodyPr/>
          <a:lstStyle/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sz="2400" b="1" dirty="0" smtClean="0"/>
              <a:t>5(Process Synchronization): </a:t>
            </a:r>
            <a:r>
              <a:rPr lang="en-US" altLang="zh-TW" sz="2400" dirty="0" err="1" smtClean="0"/>
              <a:t>mutex</a:t>
            </a:r>
            <a:r>
              <a:rPr lang="en-US" altLang="zh-TW" sz="2400" dirty="0" smtClean="0"/>
              <a:t> locks, synchronization using </a:t>
            </a:r>
            <a:r>
              <a:rPr lang="en-US" altLang="zh-TW" sz="2400" dirty="0" err="1" smtClean="0">
                <a:solidFill>
                  <a:srgbClr val="0000FF"/>
                </a:solidFill>
              </a:rPr>
              <a:t>OpenMP</a:t>
            </a:r>
            <a:r>
              <a:rPr lang="en-US" altLang="zh-TW" sz="2400" dirty="0" smtClean="0"/>
              <a:t>, … . 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sz="2400" b="1" dirty="0" smtClean="0"/>
              <a:t>6(CPU Scheduling):</a:t>
            </a:r>
            <a:r>
              <a:rPr lang="en-US" altLang="zh-TW" sz="2400" dirty="0" smtClean="0"/>
              <a:t>  </a:t>
            </a:r>
            <a:r>
              <a:rPr lang="en-US" altLang="zh-TW" sz="2400" dirty="0">
                <a:solidFill>
                  <a:srgbClr val="0000FF"/>
                </a:solidFill>
              </a:rPr>
              <a:t>Linux CFS scheduler </a:t>
            </a:r>
            <a:r>
              <a:rPr lang="en-US" altLang="zh-TW" sz="2400" dirty="0" smtClean="0"/>
              <a:t>and Windows </a:t>
            </a:r>
            <a:r>
              <a:rPr lang="en-US" altLang="zh-TW" sz="2400" dirty="0"/>
              <a:t>user-mode </a:t>
            </a:r>
            <a:r>
              <a:rPr lang="en-US" altLang="zh-TW" sz="2400" dirty="0" smtClean="0"/>
              <a:t>scheduling.</a:t>
            </a:r>
          </a:p>
          <a:p>
            <a:r>
              <a:rPr lang="en-US" altLang="zh-TW" sz="2400" b="1" dirty="0" smtClean="0"/>
              <a:t>8</a:t>
            </a:r>
            <a:r>
              <a:rPr lang="en-US" altLang="zh-TW" sz="2400" dirty="0" smtClean="0"/>
              <a:t> (</a:t>
            </a:r>
            <a:r>
              <a:rPr lang="en-US" altLang="zh-TW" sz="2400" b="1" dirty="0" smtClean="0"/>
              <a:t>Main Memory): </a:t>
            </a:r>
            <a:r>
              <a:rPr lang="en-US" altLang="zh-TW" sz="2400" dirty="0"/>
              <a:t>swapping on </a:t>
            </a:r>
            <a:r>
              <a:rPr lang="en-US" altLang="zh-TW" sz="2400" dirty="0" smtClean="0">
                <a:solidFill>
                  <a:srgbClr val="0000FF"/>
                </a:solidFill>
              </a:rPr>
              <a:t>mobile systems </a:t>
            </a:r>
            <a:r>
              <a:rPr lang="en-US" altLang="zh-TW" sz="2400" dirty="0"/>
              <a:t>and Intel 32- and 64-bit architectures. A new section </a:t>
            </a:r>
            <a:r>
              <a:rPr lang="en-US" altLang="zh-TW" sz="2400" dirty="0" smtClean="0"/>
              <a:t>for </a:t>
            </a:r>
            <a:r>
              <a:rPr lang="en-US" altLang="zh-TW" sz="2400" dirty="0" smtClean="0">
                <a:solidFill>
                  <a:srgbClr val="0000FF"/>
                </a:solidFill>
              </a:rPr>
              <a:t>ARM </a:t>
            </a:r>
            <a:r>
              <a:rPr lang="en-US" altLang="zh-TW" sz="2400" dirty="0">
                <a:solidFill>
                  <a:srgbClr val="0000FF"/>
                </a:solidFill>
              </a:rPr>
              <a:t>architecture</a:t>
            </a:r>
            <a:r>
              <a:rPr lang="en-US" altLang="zh-TW" sz="2400" dirty="0"/>
              <a:t>.</a:t>
            </a:r>
            <a:endParaRPr lang="en-US" altLang="zh-TW" sz="2400" dirty="0" smtClean="0">
              <a:solidFill>
                <a:srgbClr val="0000FF"/>
              </a:solidFill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sz="2400" b="1" dirty="0" smtClean="0"/>
              <a:t>9</a:t>
            </a:r>
            <a:r>
              <a:rPr lang="en-US" altLang="zh-TW" sz="2400" dirty="0" smtClean="0"/>
              <a:t> (</a:t>
            </a:r>
            <a:r>
              <a:rPr lang="en-US" altLang="zh-TW" sz="2400" b="1" dirty="0" smtClean="0"/>
              <a:t>Virtual Memory): </a:t>
            </a:r>
            <a:r>
              <a:rPr lang="en-US" altLang="zh-TW" sz="2400" dirty="0" smtClean="0">
                <a:solidFill>
                  <a:srgbClr val="0000FF"/>
                </a:solidFill>
              </a:rPr>
              <a:t>Linux SLUB and SLOB </a:t>
            </a:r>
            <a:r>
              <a:rPr lang="en-US" altLang="zh-TW" sz="2400" dirty="0" smtClean="0"/>
              <a:t>memory allocators.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sz="2400" b="1" dirty="0" smtClean="0"/>
              <a:t>10</a:t>
            </a:r>
            <a:r>
              <a:rPr lang="en-US" altLang="zh-TW" sz="2400" dirty="0" smtClean="0"/>
              <a:t> (</a:t>
            </a:r>
            <a:r>
              <a:rPr lang="en-US" altLang="zh-TW" sz="2400" b="1" dirty="0" smtClean="0"/>
              <a:t>Mass-Storage Structure): </a:t>
            </a:r>
            <a:r>
              <a:rPr lang="en-US" altLang="zh-TW" sz="2400" dirty="0" smtClean="0">
                <a:solidFill>
                  <a:srgbClr val="0000FF"/>
                </a:solidFill>
              </a:rPr>
              <a:t>solid-state disks</a:t>
            </a:r>
            <a:r>
              <a:rPr lang="en-US" altLang="zh-TW" sz="2400" dirty="0"/>
              <a:t>.</a:t>
            </a: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83737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70C74ED-BBC6-497C-A72E-32B57945191C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3993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399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E0353D6-B715-4782-AC49-77AA37FA9F63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TW" sz="1400" smtClean="0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406400"/>
            <a:ext cx="8420100" cy="876300"/>
          </a:xfrm>
        </p:spPr>
        <p:txBody>
          <a:bodyPr/>
          <a:lstStyle/>
          <a:p>
            <a:pPr eaLnBrk="1" hangingPunct="1"/>
            <a:r>
              <a:rPr lang="en-US" altLang="zh-TW" smtClean="0"/>
              <a:t>Historical Perspective </a:t>
            </a:r>
          </a:p>
        </p:txBody>
      </p:sp>
      <p:sp>
        <p:nvSpPr>
          <p:cNvPr id="2600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7388" y="1308100"/>
            <a:ext cx="8709025" cy="47371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TW" sz="3600" b="1" smtClean="0">
                <a:solidFill>
                  <a:srgbClr val="0066FF"/>
                </a:solidFill>
              </a:rPr>
              <a:t>Mainframe: Batch</a:t>
            </a:r>
            <a:endParaRPr lang="en-US" altLang="zh-TW" b="1" smtClean="0">
              <a:solidFill>
                <a:srgbClr val="0066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TW" b="1" smtClean="0">
                <a:solidFill>
                  <a:srgbClr val="0066FF"/>
                </a:solidFill>
              </a:rPr>
              <a:t>Mainframe: Multiprogramming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TW" b="1" smtClean="0">
                <a:solidFill>
                  <a:srgbClr val="0066FF"/>
                </a:solidFill>
              </a:rPr>
              <a:t>Mainframe: Time-Sharing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TW" b="1" smtClean="0">
                <a:solidFill>
                  <a:srgbClr val="0066FF"/>
                </a:solidFill>
              </a:rPr>
              <a:t>Computer-system Architecture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b="1" smtClean="0">
                <a:solidFill>
                  <a:srgbClr val="0066FF"/>
                </a:solidFill>
              </a:rPr>
              <a:t>Single-processor Systems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b="1" smtClean="0">
                <a:solidFill>
                  <a:srgbClr val="0066FF"/>
                </a:solidFill>
              </a:rPr>
              <a:t>PCs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b="1" smtClean="0">
                <a:solidFill>
                  <a:srgbClr val="0066FF"/>
                </a:solidFill>
              </a:rPr>
              <a:t>Multiprocessor Systems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b="1" smtClean="0">
                <a:solidFill>
                  <a:srgbClr val="0066FF"/>
                </a:solidFill>
              </a:rPr>
              <a:t>Parallel Systems or Tightly Coupled Systems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b="1" smtClean="0">
                <a:solidFill>
                  <a:srgbClr val="0066FF"/>
                </a:solidFill>
              </a:rPr>
              <a:t>Cluster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0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0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0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0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0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0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0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0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3906C7-7857-424E-9C86-60435823773F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409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409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1E1565E-54DA-4548-9B98-67FA60C8B3C1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zh-TW" sz="1400" smtClean="0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>
          <a:xfrm>
            <a:off x="1073154" y="165100"/>
            <a:ext cx="8228013" cy="838200"/>
          </a:xfrm>
        </p:spPr>
        <p:txBody>
          <a:bodyPr/>
          <a:lstStyle/>
          <a:p>
            <a:pPr eaLnBrk="1" hangingPunct="1"/>
            <a:r>
              <a:rPr lang="en-US" altLang="zh-TW" sz="4800" smtClean="0">
                <a:solidFill>
                  <a:srgbClr val="FF0066"/>
                </a:solidFill>
              </a:rPr>
              <a:t>Mainframe</a:t>
            </a:r>
            <a:r>
              <a:rPr lang="en-US" altLang="zh-TW" sz="4800" smtClean="0"/>
              <a:t>: Batch Systems</a:t>
            </a:r>
            <a:endParaRPr lang="en-US" altLang="zh-TW" smtClean="0"/>
          </a:p>
        </p:txBody>
      </p:sp>
      <p:sp>
        <p:nvSpPr>
          <p:cNvPr id="2621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42953" y="933450"/>
            <a:ext cx="8785225" cy="53340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Main job of early OS: automatically transfer control </a:t>
            </a:r>
            <a:r>
              <a:rPr lang="en-US" altLang="zh-TW" sz="2800" smtClean="0">
                <a:solidFill>
                  <a:srgbClr val="FF0066"/>
                </a:solidFill>
              </a:rPr>
              <a:t>from one job to the next</a:t>
            </a:r>
            <a:r>
              <a:rPr lang="en-US" altLang="zh-TW" sz="2800" smtClean="0"/>
              <a:t>. (</a:t>
            </a:r>
            <a:r>
              <a:rPr lang="en-US" altLang="zh-TW" sz="2800" smtClean="0">
                <a:solidFill>
                  <a:srgbClr val="FF0066"/>
                </a:solidFill>
              </a:rPr>
              <a:t>resident in memory</a:t>
            </a:r>
            <a:r>
              <a:rPr lang="en-US" altLang="zh-TW" sz="2800" smtClean="0"/>
              <a:t>)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To speed up processing, jobs with </a:t>
            </a:r>
            <a:r>
              <a:rPr lang="en-US" altLang="zh-TW" sz="2800" smtClean="0">
                <a:solidFill>
                  <a:srgbClr val="FF0066"/>
                </a:solidFill>
              </a:rPr>
              <a:t>similar needs</a:t>
            </a:r>
            <a:r>
              <a:rPr lang="en-US" altLang="zh-TW" sz="2800" smtClean="0"/>
              <a:t> were </a:t>
            </a:r>
            <a:r>
              <a:rPr lang="en-US" altLang="zh-TW" sz="2800" smtClean="0">
                <a:solidFill>
                  <a:srgbClr val="FF0066"/>
                </a:solidFill>
              </a:rPr>
              <a:t>batched</a:t>
            </a:r>
            <a:r>
              <a:rPr lang="en-US" altLang="zh-TW" sz="2800" smtClean="0"/>
              <a:t> together and were running through the computer as a group.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A </a:t>
            </a:r>
            <a:r>
              <a:rPr lang="en-US" altLang="zh-TW" sz="2800" smtClean="0">
                <a:solidFill>
                  <a:srgbClr val="FF0066"/>
                </a:solidFill>
              </a:rPr>
              <a:t>batch operating system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 smtClean="0"/>
              <a:t>Programmers submit jobs (program, data, control cards)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 smtClean="0"/>
              <a:t>Operator sort jobs into batches with similar requirements (Fortran, Cobol)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 smtClean="0"/>
              <a:t>OS transfers control from one job the the next.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2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2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31D3A13-304E-40CC-9946-0D6D9DD3461A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4198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419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CAF0931-A5D9-4F11-840C-C879EB486244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kumimoji="0" lang="en-US" altLang="zh-TW" sz="1400" smtClean="0"/>
          </a:p>
        </p:txBody>
      </p:sp>
      <p:sp>
        <p:nvSpPr>
          <p:cNvPr id="41989" name="Text Box 2"/>
          <p:cNvSpPr txBox="1">
            <a:spLocks noChangeArrowheads="1"/>
          </p:cNvSpPr>
          <p:nvPr/>
        </p:nvSpPr>
        <p:spPr bwMode="auto">
          <a:xfrm>
            <a:off x="5472118" y="4891089"/>
            <a:ext cx="29835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1E1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itchFamily="18" charset="0"/>
              </a:rPr>
              <a:t>program to be compiled</a:t>
            </a:r>
          </a:p>
        </p:txBody>
      </p:sp>
      <p:sp>
        <p:nvSpPr>
          <p:cNvPr id="41990" name="Text Box 3"/>
          <p:cNvSpPr txBox="1">
            <a:spLocks noChangeArrowheads="1"/>
          </p:cNvSpPr>
          <p:nvPr/>
        </p:nvSpPr>
        <p:spPr bwMode="auto">
          <a:xfrm>
            <a:off x="6834189" y="3805238"/>
            <a:ext cx="25843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itchFamily="18" charset="0"/>
              </a:rPr>
              <a:t>data for the program</a:t>
            </a:r>
          </a:p>
        </p:txBody>
      </p:sp>
      <p:sp>
        <p:nvSpPr>
          <p:cNvPr id="41991" name="Freeform 4"/>
          <p:cNvSpPr>
            <a:spLocks/>
          </p:cNvSpPr>
          <p:nvPr/>
        </p:nvSpPr>
        <p:spPr bwMode="auto">
          <a:xfrm>
            <a:off x="5353050" y="747715"/>
            <a:ext cx="2963864" cy="2124075"/>
          </a:xfrm>
          <a:custGeom>
            <a:avLst/>
            <a:gdLst>
              <a:gd name="T0" fmla="*/ 0 w 1404"/>
              <a:gd name="T1" fmla="*/ 2147483647 h 1128"/>
              <a:gd name="T2" fmla="*/ 2147483647 w 1404"/>
              <a:gd name="T3" fmla="*/ 2147483647 h 1128"/>
              <a:gd name="T4" fmla="*/ 2147483647 w 1404"/>
              <a:gd name="T5" fmla="*/ 2147483647 h 1128"/>
              <a:gd name="T6" fmla="*/ 2147483647 w 1404"/>
              <a:gd name="T7" fmla="*/ 0 h 1128"/>
              <a:gd name="T8" fmla="*/ 0 w 1404"/>
              <a:gd name="T9" fmla="*/ 2147483647 h 1128"/>
              <a:gd name="T10" fmla="*/ 0 w 1404"/>
              <a:gd name="T11" fmla="*/ 2147483647 h 1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04" h="1128">
                <a:moveTo>
                  <a:pt x="0" y="1128"/>
                </a:moveTo>
                <a:lnTo>
                  <a:pt x="1404" y="1128"/>
                </a:lnTo>
                <a:lnTo>
                  <a:pt x="1404" y="12"/>
                </a:lnTo>
                <a:lnTo>
                  <a:pt x="156" y="0"/>
                </a:lnTo>
                <a:lnTo>
                  <a:pt x="0" y="96"/>
                </a:lnTo>
                <a:lnTo>
                  <a:pt x="0" y="1128"/>
                </a:lnTo>
                <a:close/>
              </a:path>
            </a:pathLst>
          </a:custGeom>
          <a:solidFill>
            <a:srgbClr val="E1E1FF"/>
          </a:solidFill>
          <a:ln w="12699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1992" name="Freeform 5"/>
          <p:cNvSpPr>
            <a:spLocks/>
          </p:cNvSpPr>
          <p:nvPr/>
        </p:nvSpPr>
        <p:spPr bwMode="auto">
          <a:xfrm>
            <a:off x="4518025" y="1176338"/>
            <a:ext cx="2963864" cy="2125662"/>
          </a:xfrm>
          <a:custGeom>
            <a:avLst/>
            <a:gdLst>
              <a:gd name="T0" fmla="*/ 0 w 1404"/>
              <a:gd name="T1" fmla="*/ 2147483647 h 1128"/>
              <a:gd name="T2" fmla="*/ 2147483647 w 1404"/>
              <a:gd name="T3" fmla="*/ 2147483647 h 1128"/>
              <a:gd name="T4" fmla="*/ 2147483647 w 1404"/>
              <a:gd name="T5" fmla="*/ 2147483647 h 1128"/>
              <a:gd name="T6" fmla="*/ 2147483647 w 1404"/>
              <a:gd name="T7" fmla="*/ 0 h 1128"/>
              <a:gd name="T8" fmla="*/ 0 w 1404"/>
              <a:gd name="T9" fmla="*/ 2147483647 h 1128"/>
              <a:gd name="T10" fmla="*/ 0 w 1404"/>
              <a:gd name="T11" fmla="*/ 2147483647 h 1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04" h="1128">
                <a:moveTo>
                  <a:pt x="0" y="1128"/>
                </a:moveTo>
                <a:lnTo>
                  <a:pt x="1404" y="1128"/>
                </a:lnTo>
                <a:lnTo>
                  <a:pt x="1404" y="12"/>
                </a:lnTo>
                <a:lnTo>
                  <a:pt x="156" y="0"/>
                </a:lnTo>
                <a:lnTo>
                  <a:pt x="0" y="96"/>
                </a:lnTo>
                <a:lnTo>
                  <a:pt x="0" y="1128"/>
                </a:lnTo>
                <a:close/>
              </a:path>
            </a:pathLst>
          </a:custGeom>
          <a:solidFill>
            <a:srgbClr val="E1E1FF"/>
          </a:solidFill>
          <a:ln w="12699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1993" name="Freeform 6"/>
          <p:cNvSpPr>
            <a:spLocks/>
          </p:cNvSpPr>
          <p:nvPr/>
        </p:nvSpPr>
        <p:spPr bwMode="auto">
          <a:xfrm>
            <a:off x="4138613" y="1403358"/>
            <a:ext cx="2962275" cy="2124075"/>
          </a:xfrm>
          <a:custGeom>
            <a:avLst/>
            <a:gdLst>
              <a:gd name="T0" fmla="*/ 0 w 1404"/>
              <a:gd name="T1" fmla="*/ 2147483647 h 1128"/>
              <a:gd name="T2" fmla="*/ 2147483647 w 1404"/>
              <a:gd name="T3" fmla="*/ 2147483647 h 1128"/>
              <a:gd name="T4" fmla="*/ 2147483647 w 1404"/>
              <a:gd name="T5" fmla="*/ 2147483647 h 1128"/>
              <a:gd name="T6" fmla="*/ 2147483647 w 1404"/>
              <a:gd name="T7" fmla="*/ 0 h 1128"/>
              <a:gd name="T8" fmla="*/ 0 w 1404"/>
              <a:gd name="T9" fmla="*/ 2147483647 h 1128"/>
              <a:gd name="T10" fmla="*/ 0 w 1404"/>
              <a:gd name="T11" fmla="*/ 2147483647 h 1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04" h="1128">
                <a:moveTo>
                  <a:pt x="0" y="1128"/>
                </a:moveTo>
                <a:lnTo>
                  <a:pt x="1404" y="1128"/>
                </a:lnTo>
                <a:lnTo>
                  <a:pt x="1404" y="12"/>
                </a:lnTo>
                <a:lnTo>
                  <a:pt x="156" y="0"/>
                </a:lnTo>
                <a:lnTo>
                  <a:pt x="0" y="96"/>
                </a:lnTo>
                <a:lnTo>
                  <a:pt x="0" y="1128"/>
                </a:lnTo>
                <a:close/>
              </a:path>
            </a:pathLst>
          </a:custGeom>
          <a:solidFill>
            <a:srgbClr val="E1E1FF"/>
          </a:solidFill>
          <a:ln w="12699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1994" name="Freeform 7"/>
          <p:cNvSpPr>
            <a:spLocks/>
          </p:cNvSpPr>
          <p:nvPr/>
        </p:nvSpPr>
        <p:spPr bwMode="auto">
          <a:xfrm>
            <a:off x="3325813" y="1900238"/>
            <a:ext cx="2965450" cy="2125662"/>
          </a:xfrm>
          <a:custGeom>
            <a:avLst/>
            <a:gdLst>
              <a:gd name="T0" fmla="*/ 0 w 1404"/>
              <a:gd name="T1" fmla="*/ 2147483647 h 1128"/>
              <a:gd name="T2" fmla="*/ 2147483647 w 1404"/>
              <a:gd name="T3" fmla="*/ 2147483647 h 1128"/>
              <a:gd name="T4" fmla="*/ 2147483647 w 1404"/>
              <a:gd name="T5" fmla="*/ 2147483647 h 1128"/>
              <a:gd name="T6" fmla="*/ 2147483647 w 1404"/>
              <a:gd name="T7" fmla="*/ 0 h 1128"/>
              <a:gd name="T8" fmla="*/ 0 w 1404"/>
              <a:gd name="T9" fmla="*/ 2147483647 h 1128"/>
              <a:gd name="T10" fmla="*/ 0 w 1404"/>
              <a:gd name="T11" fmla="*/ 2147483647 h 1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04" h="1128">
                <a:moveTo>
                  <a:pt x="0" y="1128"/>
                </a:moveTo>
                <a:lnTo>
                  <a:pt x="1404" y="1128"/>
                </a:lnTo>
                <a:lnTo>
                  <a:pt x="1404" y="12"/>
                </a:lnTo>
                <a:lnTo>
                  <a:pt x="156" y="0"/>
                </a:lnTo>
                <a:lnTo>
                  <a:pt x="0" y="96"/>
                </a:lnTo>
                <a:lnTo>
                  <a:pt x="0" y="1128"/>
                </a:lnTo>
                <a:close/>
              </a:path>
            </a:pathLst>
          </a:custGeom>
          <a:solidFill>
            <a:srgbClr val="E1E1FF"/>
          </a:solidFill>
          <a:ln w="12699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1995" name="Freeform 8"/>
          <p:cNvSpPr>
            <a:spLocks/>
          </p:cNvSpPr>
          <p:nvPr/>
        </p:nvSpPr>
        <p:spPr bwMode="auto">
          <a:xfrm>
            <a:off x="2643191" y="2306638"/>
            <a:ext cx="2963862" cy="2125662"/>
          </a:xfrm>
          <a:custGeom>
            <a:avLst/>
            <a:gdLst>
              <a:gd name="T0" fmla="*/ 0 w 1404"/>
              <a:gd name="T1" fmla="*/ 2147483647 h 1128"/>
              <a:gd name="T2" fmla="*/ 2147483647 w 1404"/>
              <a:gd name="T3" fmla="*/ 2147483647 h 1128"/>
              <a:gd name="T4" fmla="*/ 2147483647 w 1404"/>
              <a:gd name="T5" fmla="*/ 2147483647 h 1128"/>
              <a:gd name="T6" fmla="*/ 2147483647 w 1404"/>
              <a:gd name="T7" fmla="*/ 0 h 1128"/>
              <a:gd name="T8" fmla="*/ 0 w 1404"/>
              <a:gd name="T9" fmla="*/ 2147483647 h 1128"/>
              <a:gd name="T10" fmla="*/ 0 w 1404"/>
              <a:gd name="T11" fmla="*/ 2147483647 h 1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04" h="1128">
                <a:moveTo>
                  <a:pt x="0" y="1128"/>
                </a:moveTo>
                <a:lnTo>
                  <a:pt x="1404" y="1128"/>
                </a:lnTo>
                <a:lnTo>
                  <a:pt x="1404" y="12"/>
                </a:lnTo>
                <a:lnTo>
                  <a:pt x="156" y="0"/>
                </a:lnTo>
                <a:lnTo>
                  <a:pt x="0" y="96"/>
                </a:lnTo>
                <a:lnTo>
                  <a:pt x="0" y="1128"/>
                </a:lnTo>
                <a:close/>
              </a:path>
            </a:pathLst>
          </a:custGeom>
          <a:solidFill>
            <a:srgbClr val="E1E1FF"/>
          </a:solidFill>
          <a:ln w="12699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1996" name="Freeform 9"/>
          <p:cNvSpPr>
            <a:spLocks/>
          </p:cNvSpPr>
          <p:nvPr/>
        </p:nvSpPr>
        <p:spPr bwMode="auto">
          <a:xfrm>
            <a:off x="2243138" y="2547938"/>
            <a:ext cx="2962275" cy="2125662"/>
          </a:xfrm>
          <a:custGeom>
            <a:avLst/>
            <a:gdLst>
              <a:gd name="T0" fmla="*/ 0 w 1404"/>
              <a:gd name="T1" fmla="*/ 2147483647 h 1128"/>
              <a:gd name="T2" fmla="*/ 2147483647 w 1404"/>
              <a:gd name="T3" fmla="*/ 2147483647 h 1128"/>
              <a:gd name="T4" fmla="*/ 2147483647 w 1404"/>
              <a:gd name="T5" fmla="*/ 2147483647 h 1128"/>
              <a:gd name="T6" fmla="*/ 2147483647 w 1404"/>
              <a:gd name="T7" fmla="*/ 0 h 1128"/>
              <a:gd name="T8" fmla="*/ 0 w 1404"/>
              <a:gd name="T9" fmla="*/ 2147483647 h 1128"/>
              <a:gd name="T10" fmla="*/ 0 w 1404"/>
              <a:gd name="T11" fmla="*/ 2147483647 h 1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04" h="1128">
                <a:moveTo>
                  <a:pt x="0" y="1128"/>
                </a:moveTo>
                <a:lnTo>
                  <a:pt x="1404" y="1128"/>
                </a:lnTo>
                <a:lnTo>
                  <a:pt x="1404" y="12"/>
                </a:lnTo>
                <a:lnTo>
                  <a:pt x="156" y="0"/>
                </a:lnTo>
                <a:lnTo>
                  <a:pt x="0" y="96"/>
                </a:lnTo>
                <a:lnTo>
                  <a:pt x="0" y="1128"/>
                </a:lnTo>
                <a:close/>
              </a:path>
            </a:pathLst>
          </a:custGeom>
          <a:solidFill>
            <a:srgbClr val="E1E1FF"/>
          </a:solidFill>
          <a:ln w="12699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1997" name="Freeform 10"/>
          <p:cNvSpPr>
            <a:spLocks/>
          </p:cNvSpPr>
          <p:nvPr/>
        </p:nvSpPr>
        <p:spPr bwMode="auto">
          <a:xfrm>
            <a:off x="1300163" y="3074988"/>
            <a:ext cx="2963862" cy="2125662"/>
          </a:xfrm>
          <a:custGeom>
            <a:avLst/>
            <a:gdLst>
              <a:gd name="T0" fmla="*/ 0 w 1404"/>
              <a:gd name="T1" fmla="*/ 2147483647 h 1128"/>
              <a:gd name="T2" fmla="*/ 2147483647 w 1404"/>
              <a:gd name="T3" fmla="*/ 2147483647 h 1128"/>
              <a:gd name="T4" fmla="*/ 2147483647 w 1404"/>
              <a:gd name="T5" fmla="*/ 2147483647 h 1128"/>
              <a:gd name="T6" fmla="*/ 2147483647 w 1404"/>
              <a:gd name="T7" fmla="*/ 0 h 1128"/>
              <a:gd name="T8" fmla="*/ 0 w 1404"/>
              <a:gd name="T9" fmla="*/ 2147483647 h 1128"/>
              <a:gd name="T10" fmla="*/ 0 w 1404"/>
              <a:gd name="T11" fmla="*/ 2147483647 h 1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04" h="1128">
                <a:moveTo>
                  <a:pt x="0" y="1128"/>
                </a:moveTo>
                <a:lnTo>
                  <a:pt x="1404" y="1128"/>
                </a:lnTo>
                <a:lnTo>
                  <a:pt x="1404" y="12"/>
                </a:lnTo>
                <a:lnTo>
                  <a:pt x="156" y="0"/>
                </a:lnTo>
                <a:lnTo>
                  <a:pt x="0" y="96"/>
                </a:lnTo>
                <a:lnTo>
                  <a:pt x="0" y="1128"/>
                </a:lnTo>
                <a:close/>
              </a:path>
            </a:pathLst>
          </a:custGeom>
          <a:solidFill>
            <a:srgbClr val="E1E1FF"/>
          </a:solidFill>
          <a:ln w="12699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1998" name="Text Box 11"/>
          <p:cNvSpPr txBox="1">
            <a:spLocks noChangeArrowheads="1"/>
          </p:cNvSpPr>
          <p:nvPr/>
        </p:nvSpPr>
        <p:spPr bwMode="auto">
          <a:xfrm>
            <a:off x="5586417" y="719139"/>
            <a:ext cx="8963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1E1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itchFamily="18" charset="0"/>
              </a:rPr>
              <a:t>$END</a:t>
            </a:r>
          </a:p>
        </p:txBody>
      </p:sp>
      <p:sp>
        <p:nvSpPr>
          <p:cNvPr id="41999" name="Text Box 12"/>
          <p:cNvSpPr txBox="1">
            <a:spLocks noChangeArrowheads="1"/>
          </p:cNvSpPr>
          <p:nvPr/>
        </p:nvSpPr>
        <p:spPr bwMode="auto">
          <a:xfrm>
            <a:off x="4460879" y="1443039"/>
            <a:ext cx="9366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1E1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itchFamily="18" charset="0"/>
              </a:rPr>
              <a:t>$RUN</a:t>
            </a:r>
          </a:p>
        </p:txBody>
      </p:sp>
      <p:sp>
        <p:nvSpPr>
          <p:cNvPr id="42000" name="Text Box 13"/>
          <p:cNvSpPr txBox="1">
            <a:spLocks noChangeArrowheads="1"/>
          </p:cNvSpPr>
          <p:nvPr/>
        </p:nvSpPr>
        <p:spPr bwMode="auto">
          <a:xfrm>
            <a:off x="3656013" y="1900239"/>
            <a:ext cx="10951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1E1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itchFamily="18" charset="0"/>
              </a:rPr>
              <a:t>$LOAD</a:t>
            </a:r>
          </a:p>
        </p:txBody>
      </p:sp>
      <p:sp>
        <p:nvSpPr>
          <p:cNvPr id="42001" name="Text Box 14"/>
          <p:cNvSpPr txBox="1">
            <a:spLocks noChangeArrowheads="1"/>
          </p:cNvSpPr>
          <p:nvPr/>
        </p:nvSpPr>
        <p:spPr bwMode="auto">
          <a:xfrm>
            <a:off x="2582866" y="2586039"/>
            <a:ext cx="8402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1E1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itchFamily="18" charset="0"/>
              </a:rPr>
              <a:t>$FNT</a:t>
            </a:r>
          </a:p>
        </p:txBody>
      </p:sp>
      <p:sp>
        <p:nvSpPr>
          <p:cNvPr id="42002" name="Text Box 15"/>
          <p:cNvSpPr txBox="1">
            <a:spLocks noChangeArrowheads="1"/>
          </p:cNvSpPr>
          <p:nvPr/>
        </p:nvSpPr>
        <p:spPr bwMode="auto">
          <a:xfrm>
            <a:off x="1571629" y="3176589"/>
            <a:ext cx="7970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1E1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itchFamily="18" charset="0"/>
              </a:rPr>
              <a:t>$JOB</a:t>
            </a:r>
          </a:p>
        </p:txBody>
      </p:sp>
      <p:sp>
        <p:nvSpPr>
          <p:cNvPr id="42003" name="Line 16"/>
          <p:cNvSpPr>
            <a:spLocks noChangeShapeType="1"/>
          </p:cNvSpPr>
          <p:nvPr/>
        </p:nvSpPr>
        <p:spPr bwMode="auto">
          <a:xfrm flipV="1">
            <a:off x="5221287" y="4400550"/>
            <a:ext cx="392113" cy="28575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2004" name="Line 17"/>
          <p:cNvSpPr>
            <a:spLocks noChangeShapeType="1"/>
          </p:cNvSpPr>
          <p:nvPr/>
        </p:nvSpPr>
        <p:spPr bwMode="auto">
          <a:xfrm flipH="1">
            <a:off x="5221292" y="2324100"/>
            <a:ext cx="371475" cy="24765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2005" name="Line 18"/>
          <p:cNvSpPr>
            <a:spLocks noChangeShapeType="1"/>
          </p:cNvSpPr>
          <p:nvPr/>
        </p:nvSpPr>
        <p:spPr bwMode="auto">
          <a:xfrm>
            <a:off x="5427667" y="3943350"/>
            <a:ext cx="619125" cy="857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2006" name="Line 19"/>
          <p:cNvSpPr>
            <a:spLocks noChangeShapeType="1"/>
          </p:cNvSpPr>
          <p:nvPr/>
        </p:nvSpPr>
        <p:spPr bwMode="auto">
          <a:xfrm flipH="1">
            <a:off x="7119938" y="1200150"/>
            <a:ext cx="350838" cy="20955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2007" name="Line 20"/>
          <p:cNvSpPr>
            <a:spLocks noChangeShapeType="1"/>
          </p:cNvSpPr>
          <p:nvPr/>
        </p:nvSpPr>
        <p:spPr bwMode="auto">
          <a:xfrm flipH="1">
            <a:off x="7119938" y="3295650"/>
            <a:ext cx="350838" cy="22860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2008" name="Line 21"/>
          <p:cNvSpPr>
            <a:spLocks noChangeShapeType="1"/>
          </p:cNvSpPr>
          <p:nvPr/>
        </p:nvSpPr>
        <p:spPr bwMode="auto">
          <a:xfrm>
            <a:off x="7285042" y="2819400"/>
            <a:ext cx="866775" cy="857250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2009" name="Freeform 22"/>
          <p:cNvSpPr>
            <a:spLocks/>
          </p:cNvSpPr>
          <p:nvPr/>
        </p:nvSpPr>
        <p:spPr bwMode="auto">
          <a:xfrm>
            <a:off x="2951163" y="2381250"/>
            <a:ext cx="2559050" cy="2114550"/>
          </a:xfrm>
          <a:custGeom>
            <a:avLst/>
            <a:gdLst>
              <a:gd name="T0" fmla="*/ 0 w 1488"/>
              <a:gd name="T1" fmla="*/ 0 h 1332"/>
              <a:gd name="T2" fmla="*/ 2147483647 w 1488"/>
              <a:gd name="T3" fmla="*/ 0 h 1332"/>
              <a:gd name="T4" fmla="*/ 2147483647 w 1488"/>
              <a:gd name="T5" fmla="*/ 2147483647 h 13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88" h="1332">
                <a:moveTo>
                  <a:pt x="0" y="0"/>
                </a:moveTo>
                <a:lnTo>
                  <a:pt x="1488" y="0"/>
                </a:lnTo>
                <a:lnTo>
                  <a:pt x="1488" y="1332"/>
                </a:lnTo>
              </a:path>
            </a:pathLst>
          </a:custGeom>
          <a:noFill/>
          <a:ln w="12699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1E1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2010" name="Freeform 23"/>
          <p:cNvSpPr>
            <a:spLocks/>
          </p:cNvSpPr>
          <p:nvPr/>
        </p:nvSpPr>
        <p:spPr bwMode="auto">
          <a:xfrm>
            <a:off x="4684713" y="1333500"/>
            <a:ext cx="2559050" cy="2114550"/>
          </a:xfrm>
          <a:custGeom>
            <a:avLst/>
            <a:gdLst>
              <a:gd name="T0" fmla="*/ 0 w 1488"/>
              <a:gd name="T1" fmla="*/ 0 h 1332"/>
              <a:gd name="T2" fmla="*/ 2147483647 w 1488"/>
              <a:gd name="T3" fmla="*/ 0 h 1332"/>
              <a:gd name="T4" fmla="*/ 2147483647 w 1488"/>
              <a:gd name="T5" fmla="*/ 2147483647 h 13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88" h="1332">
                <a:moveTo>
                  <a:pt x="0" y="0"/>
                </a:moveTo>
                <a:lnTo>
                  <a:pt x="1488" y="0"/>
                </a:lnTo>
                <a:lnTo>
                  <a:pt x="1488" y="1332"/>
                </a:lnTo>
              </a:path>
            </a:pathLst>
          </a:custGeom>
          <a:noFill/>
          <a:ln w="12699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1E1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2011" name="Freeform 24"/>
          <p:cNvSpPr>
            <a:spLocks/>
          </p:cNvSpPr>
          <p:nvPr/>
        </p:nvSpPr>
        <p:spPr bwMode="auto">
          <a:xfrm>
            <a:off x="4808538" y="1257300"/>
            <a:ext cx="2559050" cy="2114550"/>
          </a:xfrm>
          <a:custGeom>
            <a:avLst/>
            <a:gdLst>
              <a:gd name="T0" fmla="*/ 0 w 1488"/>
              <a:gd name="T1" fmla="*/ 0 h 1332"/>
              <a:gd name="T2" fmla="*/ 2147483647 w 1488"/>
              <a:gd name="T3" fmla="*/ 0 h 1332"/>
              <a:gd name="T4" fmla="*/ 2147483647 w 1488"/>
              <a:gd name="T5" fmla="*/ 2147483647 h 13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88" h="1332">
                <a:moveTo>
                  <a:pt x="0" y="0"/>
                </a:moveTo>
                <a:lnTo>
                  <a:pt x="1488" y="0"/>
                </a:lnTo>
                <a:lnTo>
                  <a:pt x="1488" y="1332"/>
                </a:lnTo>
              </a:path>
            </a:pathLst>
          </a:custGeom>
          <a:noFill/>
          <a:ln w="12699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1E1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2012" name="Freeform 25"/>
          <p:cNvSpPr>
            <a:spLocks/>
          </p:cNvSpPr>
          <p:nvPr/>
        </p:nvSpPr>
        <p:spPr bwMode="auto">
          <a:xfrm>
            <a:off x="2806700" y="2438400"/>
            <a:ext cx="2559050" cy="2114550"/>
          </a:xfrm>
          <a:custGeom>
            <a:avLst/>
            <a:gdLst>
              <a:gd name="T0" fmla="*/ 0 w 1488"/>
              <a:gd name="T1" fmla="*/ 0 h 1332"/>
              <a:gd name="T2" fmla="*/ 2147483647 w 1488"/>
              <a:gd name="T3" fmla="*/ 0 h 1332"/>
              <a:gd name="T4" fmla="*/ 2147483647 w 1488"/>
              <a:gd name="T5" fmla="*/ 2147483647 h 13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88" h="1332">
                <a:moveTo>
                  <a:pt x="0" y="0"/>
                </a:moveTo>
                <a:lnTo>
                  <a:pt x="1488" y="0"/>
                </a:lnTo>
                <a:lnTo>
                  <a:pt x="1488" y="1332"/>
                </a:lnTo>
              </a:path>
            </a:pathLst>
          </a:custGeom>
          <a:noFill/>
          <a:ln w="12699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1E1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51B63DC-9649-4237-9B42-DFD99D2D9ACD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43011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4301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3DC49DD-6437-4606-9119-F370E6BFE5E1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kumimoji="0" lang="en-US" altLang="zh-TW" sz="1400" smtClean="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176213" y="196850"/>
            <a:ext cx="9193212" cy="11430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Memory Layout for a Simple Batch System</a:t>
            </a:r>
          </a:p>
        </p:txBody>
      </p:sp>
      <p:pic>
        <p:nvPicPr>
          <p:cNvPr id="430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65" t="1007" r="28203" b="806"/>
          <a:stretch>
            <a:fillRect/>
          </a:stretch>
        </p:blipFill>
        <p:spPr bwMode="auto">
          <a:xfrm>
            <a:off x="3421063" y="1349375"/>
            <a:ext cx="2781300" cy="464185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746FD6F-675E-4B9F-A009-364BB9F1CB09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4403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440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FF2625C-8E04-402A-8CCA-969A3BD28BEF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kumimoji="0" lang="en-US" altLang="zh-TW" sz="1400" smtClean="0"/>
          </a:p>
        </p:txBody>
      </p:sp>
      <p:sp>
        <p:nvSpPr>
          <p:cNvPr id="44037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60400" y="381008"/>
            <a:ext cx="8870950" cy="5883275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F0066"/>
                </a:solidFill>
              </a:rPr>
              <a:t>Lack of interaction</a:t>
            </a:r>
            <a:r>
              <a:rPr lang="en-US" altLang="zh-TW" smtClean="0"/>
              <a:t> between the user and the job while that job is executing.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TW" smtClean="0"/>
              <a:t>CPU is </a:t>
            </a:r>
            <a:r>
              <a:rPr lang="en-US" altLang="zh-TW" smtClean="0">
                <a:solidFill>
                  <a:srgbClr val="FF0066"/>
                </a:solidFill>
              </a:rPr>
              <a:t>often idle</a:t>
            </a:r>
            <a:r>
              <a:rPr lang="en-US" altLang="zh-TW" smtClean="0"/>
              <a:t> </a:t>
            </a:r>
          </a:p>
          <a:p>
            <a:pPr lvl="1" eaLnBrk="1" hangingPunct="1"/>
            <a:r>
              <a:rPr lang="en-US" altLang="zh-TW" smtClean="0"/>
              <a:t>I/O devices: card reader/printer</a:t>
            </a:r>
          </a:p>
          <a:p>
            <a:pPr lvl="1" eaLnBrk="1" hangingPunct="1"/>
            <a:r>
              <a:rPr lang="en-US" altLang="zh-TW" smtClean="0"/>
              <a:t>I/O speed &lt;&lt; CPU speed  (at least 1:1000)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b="1" smtClean="0">
                <a:solidFill>
                  <a:srgbClr val="000000"/>
                </a:solidFill>
              </a:rPr>
              <a:t>Introduction of Disk technology</a:t>
            </a:r>
          </a:p>
          <a:p>
            <a:pPr lvl="1" eaLnBrk="1" hangingPunct="1"/>
            <a:r>
              <a:rPr lang="en-US" altLang="zh-TW" b="1" smtClean="0">
                <a:solidFill>
                  <a:srgbClr val="FF0066"/>
                </a:solidFill>
              </a:rPr>
              <a:t>Spooling</a:t>
            </a:r>
            <a:r>
              <a:rPr lang="en-US" altLang="zh-TW" smtClean="0"/>
              <a:t> (</a:t>
            </a:r>
            <a:r>
              <a:rPr lang="en-US" altLang="zh-TW" smtClean="0">
                <a:solidFill>
                  <a:srgbClr val="FF0066"/>
                </a:solidFill>
              </a:rPr>
              <a:t>S</a:t>
            </a:r>
            <a:r>
              <a:rPr lang="en-US" altLang="zh-TW" smtClean="0"/>
              <a:t>imultaneous </a:t>
            </a:r>
            <a:r>
              <a:rPr lang="en-US" altLang="zh-TW" smtClean="0">
                <a:solidFill>
                  <a:srgbClr val="FF0066"/>
                </a:solidFill>
              </a:rPr>
              <a:t>P</a:t>
            </a:r>
            <a:r>
              <a:rPr lang="en-US" altLang="zh-TW" smtClean="0"/>
              <a:t>eripheral </a:t>
            </a:r>
            <a:r>
              <a:rPr lang="en-US" altLang="zh-TW" smtClean="0">
                <a:solidFill>
                  <a:srgbClr val="FF0066"/>
                </a:solidFill>
              </a:rPr>
              <a:t>O</a:t>
            </a:r>
            <a:r>
              <a:rPr lang="en-US" altLang="zh-TW" smtClean="0"/>
              <a:t>peration </a:t>
            </a:r>
            <a:r>
              <a:rPr lang="en-US" altLang="zh-TW" smtClean="0">
                <a:solidFill>
                  <a:srgbClr val="FF0066"/>
                </a:solidFill>
              </a:rPr>
              <a:t>O</a:t>
            </a:r>
            <a:r>
              <a:rPr lang="en-US" altLang="zh-TW" smtClean="0"/>
              <a:t>n-</a:t>
            </a:r>
            <a:r>
              <a:rPr lang="en-US" altLang="zh-TW" smtClean="0">
                <a:solidFill>
                  <a:srgbClr val="FF0066"/>
                </a:solidFill>
              </a:rPr>
              <a:t>L</a:t>
            </a:r>
            <a:r>
              <a:rPr lang="en-US" altLang="zh-TW" smtClean="0"/>
              <a:t>ine)</a:t>
            </a:r>
          </a:p>
          <a:p>
            <a:pPr lvl="1" eaLnBrk="1" hangingPunct="1"/>
            <a:r>
              <a:rPr lang="en-US" altLang="zh-TW" smtClean="0">
                <a:solidFill>
                  <a:srgbClr val="FF0066"/>
                </a:solidFill>
              </a:rPr>
              <a:t>I/O is done with no CPU intervention</a:t>
            </a:r>
          </a:p>
          <a:p>
            <a:pPr lvl="1" eaLnBrk="1" hangingPunct="1"/>
            <a:r>
              <a:rPr lang="en-US" altLang="zh-TW" smtClean="0"/>
              <a:t>CPU just needs to be </a:t>
            </a:r>
            <a:r>
              <a:rPr lang="en-US" altLang="zh-TW" b="1" smtClean="0">
                <a:solidFill>
                  <a:srgbClr val="FF0066"/>
                </a:solidFill>
              </a:rPr>
              <a:t>notified</a:t>
            </a:r>
            <a:r>
              <a:rPr lang="en-US" altLang="zh-TW" smtClean="0"/>
              <a:t> when I/O is done</a:t>
            </a:r>
          </a:p>
          <a:p>
            <a:pPr lvl="2" eaLnBrk="1" hangingPunct="1"/>
            <a:endParaRPr lang="en-US" altLang="zh-TW" smtClean="0"/>
          </a:p>
          <a:p>
            <a:pPr eaLnBrk="1" hangingPunct="1"/>
            <a:endParaRPr lang="en-US" altLang="zh-TW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A582AB1-EF9D-42B1-BFBB-1722E7547417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45059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4506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D16D36A-8BB0-4242-88D1-9AD3C6322B90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kumimoji="0" lang="en-US" altLang="zh-TW" sz="1400" smtClean="0"/>
          </a:p>
        </p:txBody>
      </p:sp>
      <p:sp>
        <p:nvSpPr>
          <p:cNvPr id="45061" name="Rectangle 2"/>
          <p:cNvSpPr>
            <a:spLocks noChangeArrowheads="1"/>
          </p:cNvSpPr>
          <p:nvPr/>
        </p:nvSpPr>
        <p:spPr bwMode="auto">
          <a:xfrm>
            <a:off x="6721479" y="3219450"/>
            <a:ext cx="2328863" cy="9525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5062" name="Rectangle 3"/>
          <p:cNvSpPr>
            <a:spLocks noChangeArrowheads="1"/>
          </p:cNvSpPr>
          <p:nvPr/>
        </p:nvSpPr>
        <p:spPr bwMode="auto">
          <a:xfrm>
            <a:off x="3643318" y="3189294"/>
            <a:ext cx="2251075" cy="1068387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000" b="1">
              <a:solidFill>
                <a:srgbClr val="FFCC00"/>
              </a:solidFill>
              <a:latin typeface="Book Antiqua" pitchFamily="18" charset="0"/>
            </a:endParaRPr>
          </a:p>
        </p:txBody>
      </p:sp>
      <p:sp>
        <p:nvSpPr>
          <p:cNvPr id="45063" name="Text Box 4"/>
          <p:cNvSpPr txBox="1">
            <a:spLocks noChangeArrowheads="1"/>
          </p:cNvSpPr>
          <p:nvPr/>
        </p:nvSpPr>
        <p:spPr bwMode="auto">
          <a:xfrm>
            <a:off x="4145923" y="3477348"/>
            <a:ext cx="12458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dirty="0" smtClean="0">
                <a:latin typeface="Book Antiqua" pitchFamily="18" charset="0"/>
              </a:rPr>
              <a:t>Memory </a:t>
            </a:r>
            <a:endParaRPr lang="en-US" altLang="zh-TW" sz="2000" b="1" dirty="0">
              <a:latin typeface="Book Antiqua" pitchFamily="18" charset="0"/>
            </a:endParaRPr>
          </a:p>
        </p:txBody>
      </p:sp>
      <p:sp>
        <p:nvSpPr>
          <p:cNvPr id="45064" name="Rectangle 5"/>
          <p:cNvSpPr>
            <a:spLocks noChangeArrowheads="1"/>
          </p:cNvSpPr>
          <p:nvPr/>
        </p:nvSpPr>
        <p:spPr bwMode="auto">
          <a:xfrm>
            <a:off x="844554" y="3189293"/>
            <a:ext cx="2143125" cy="923925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B8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5065" name="Text Box 6"/>
          <p:cNvSpPr txBox="1">
            <a:spLocks noChangeArrowheads="1"/>
          </p:cNvSpPr>
          <p:nvPr/>
        </p:nvSpPr>
        <p:spPr bwMode="auto">
          <a:xfrm>
            <a:off x="868367" y="3403601"/>
            <a:ext cx="17107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itchFamily="18" charset="0"/>
              </a:rPr>
              <a:t>Card Reader </a:t>
            </a:r>
          </a:p>
        </p:txBody>
      </p:sp>
      <p:sp>
        <p:nvSpPr>
          <p:cNvPr id="45066" name="Text Box 7"/>
          <p:cNvSpPr txBox="1">
            <a:spLocks noChangeArrowheads="1"/>
          </p:cNvSpPr>
          <p:nvPr/>
        </p:nvSpPr>
        <p:spPr bwMode="auto">
          <a:xfrm>
            <a:off x="6910388" y="3470276"/>
            <a:ext cx="15872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itchFamily="18" charset="0"/>
              </a:rPr>
              <a:t>Line Printer</a:t>
            </a:r>
          </a:p>
        </p:txBody>
      </p:sp>
      <p:sp>
        <p:nvSpPr>
          <p:cNvPr id="45067" name="AutoShape 8"/>
          <p:cNvSpPr>
            <a:spLocks noChangeArrowheads="1"/>
          </p:cNvSpPr>
          <p:nvPr/>
        </p:nvSpPr>
        <p:spPr bwMode="auto">
          <a:xfrm>
            <a:off x="3894138" y="781050"/>
            <a:ext cx="1624012" cy="1385888"/>
          </a:xfrm>
          <a:prstGeom prst="can">
            <a:avLst>
              <a:gd name="adj" fmla="val 25000"/>
            </a:avLst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33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5068" name="Text Box 9"/>
          <p:cNvSpPr txBox="1">
            <a:spLocks noChangeArrowheads="1"/>
          </p:cNvSpPr>
          <p:nvPr/>
        </p:nvSpPr>
        <p:spPr bwMode="auto">
          <a:xfrm>
            <a:off x="4175130" y="1377951"/>
            <a:ext cx="8178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dirty="0">
                <a:latin typeface="Book Antiqua" pitchFamily="18" charset="0"/>
              </a:rPr>
              <a:t>Disk </a:t>
            </a:r>
          </a:p>
        </p:txBody>
      </p:sp>
      <p:sp>
        <p:nvSpPr>
          <p:cNvPr id="45069" name="Freeform 10"/>
          <p:cNvSpPr>
            <a:spLocks/>
          </p:cNvSpPr>
          <p:nvPr/>
        </p:nvSpPr>
        <p:spPr bwMode="auto">
          <a:xfrm>
            <a:off x="2986092" y="2193925"/>
            <a:ext cx="1266825" cy="1270000"/>
          </a:xfrm>
          <a:custGeom>
            <a:avLst/>
            <a:gdLst>
              <a:gd name="T0" fmla="*/ 0 w 737"/>
              <a:gd name="T1" fmla="*/ 2147483647 h 800"/>
              <a:gd name="T2" fmla="*/ 2147483647 w 737"/>
              <a:gd name="T3" fmla="*/ 2147483647 h 800"/>
              <a:gd name="T4" fmla="*/ 2147483647 w 737"/>
              <a:gd name="T5" fmla="*/ 2147483647 h 800"/>
              <a:gd name="T6" fmla="*/ 2147483647 w 737"/>
              <a:gd name="T7" fmla="*/ 2147483647 h 800"/>
              <a:gd name="T8" fmla="*/ 2147483647 w 737"/>
              <a:gd name="T9" fmla="*/ 2147483647 h 800"/>
              <a:gd name="T10" fmla="*/ 2147483647 w 737"/>
              <a:gd name="T11" fmla="*/ 2147483647 h 800"/>
              <a:gd name="T12" fmla="*/ 2147483647 w 737"/>
              <a:gd name="T13" fmla="*/ 2147483647 h 800"/>
              <a:gd name="T14" fmla="*/ 2147483647 w 737"/>
              <a:gd name="T15" fmla="*/ 0 h 8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37" h="800">
                <a:moveTo>
                  <a:pt x="0" y="800"/>
                </a:moveTo>
                <a:cubicBezTo>
                  <a:pt x="148" y="797"/>
                  <a:pt x="297" y="797"/>
                  <a:pt x="445" y="791"/>
                </a:cubicBezTo>
                <a:cubicBezTo>
                  <a:pt x="477" y="790"/>
                  <a:pt x="536" y="764"/>
                  <a:pt x="536" y="764"/>
                </a:cubicBezTo>
                <a:cubicBezTo>
                  <a:pt x="562" y="738"/>
                  <a:pt x="596" y="720"/>
                  <a:pt x="618" y="691"/>
                </a:cubicBezTo>
                <a:cubicBezTo>
                  <a:pt x="631" y="674"/>
                  <a:pt x="654" y="637"/>
                  <a:pt x="654" y="637"/>
                </a:cubicBezTo>
                <a:cubicBezTo>
                  <a:pt x="676" y="569"/>
                  <a:pt x="647" y="650"/>
                  <a:pt x="682" y="582"/>
                </a:cubicBezTo>
                <a:cubicBezTo>
                  <a:pt x="701" y="546"/>
                  <a:pt x="708" y="495"/>
                  <a:pt x="718" y="455"/>
                </a:cubicBezTo>
                <a:cubicBezTo>
                  <a:pt x="737" y="303"/>
                  <a:pt x="736" y="155"/>
                  <a:pt x="736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5070" name="Line 11"/>
          <p:cNvSpPr>
            <a:spLocks noChangeShapeType="1"/>
          </p:cNvSpPr>
          <p:nvPr/>
        </p:nvSpPr>
        <p:spPr bwMode="auto">
          <a:xfrm>
            <a:off x="4548188" y="2324100"/>
            <a:ext cx="0" cy="11255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5071" name="Line 12"/>
          <p:cNvSpPr>
            <a:spLocks noChangeShapeType="1"/>
          </p:cNvSpPr>
          <p:nvPr/>
        </p:nvSpPr>
        <p:spPr bwMode="auto">
          <a:xfrm flipV="1">
            <a:off x="4954588" y="2266950"/>
            <a:ext cx="0" cy="11255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5072" name="Freeform 13"/>
          <p:cNvSpPr>
            <a:spLocks/>
          </p:cNvSpPr>
          <p:nvPr/>
        </p:nvSpPr>
        <p:spPr bwMode="auto">
          <a:xfrm>
            <a:off x="5299079" y="2208213"/>
            <a:ext cx="1390650" cy="1485900"/>
          </a:xfrm>
          <a:custGeom>
            <a:avLst/>
            <a:gdLst>
              <a:gd name="T0" fmla="*/ 0 w 809"/>
              <a:gd name="T1" fmla="*/ 0 h 936"/>
              <a:gd name="T2" fmla="*/ 2147483647 w 809"/>
              <a:gd name="T3" fmla="*/ 2147483647 h 936"/>
              <a:gd name="T4" fmla="*/ 2147483647 w 809"/>
              <a:gd name="T5" fmla="*/ 2147483647 h 936"/>
              <a:gd name="T6" fmla="*/ 2147483647 w 809"/>
              <a:gd name="T7" fmla="*/ 2147483647 h 936"/>
              <a:gd name="T8" fmla="*/ 2147483647 w 809"/>
              <a:gd name="T9" fmla="*/ 2147483647 h 9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09" h="936">
                <a:moveTo>
                  <a:pt x="0" y="0"/>
                </a:moveTo>
                <a:cubicBezTo>
                  <a:pt x="3" y="197"/>
                  <a:pt x="1" y="394"/>
                  <a:pt x="9" y="591"/>
                </a:cubicBezTo>
                <a:cubicBezTo>
                  <a:pt x="10" y="606"/>
                  <a:pt x="26" y="725"/>
                  <a:pt x="46" y="755"/>
                </a:cubicBezTo>
                <a:cubicBezTo>
                  <a:pt x="167" y="936"/>
                  <a:pt x="462" y="907"/>
                  <a:pt x="646" y="918"/>
                </a:cubicBezTo>
                <a:cubicBezTo>
                  <a:pt x="803" y="909"/>
                  <a:pt x="749" y="909"/>
                  <a:pt x="809" y="909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5073" name="Text Box 14"/>
          <p:cNvSpPr txBox="1">
            <a:spLocks noChangeArrowheads="1"/>
          </p:cNvSpPr>
          <p:nvPr/>
        </p:nvSpPr>
        <p:spPr bwMode="auto">
          <a:xfrm>
            <a:off x="2339979" y="4733926"/>
            <a:ext cx="311335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itchFamily="18" charset="0"/>
              </a:rPr>
              <a:t>                             Spooling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 b="1">
              <a:latin typeface="Book Antiqua" pitchFamily="18" charset="0"/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4314033" y="3867151"/>
            <a:ext cx="7906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dirty="0">
                <a:latin typeface="Book Antiqua" pitchFamily="18" charset="0"/>
              </a:rPr>
              <a:t>CPU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09EA348-5BF7-4DF4-A56B-A1BD51F69F70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460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460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40A351B-9F0D-4046-A584-8DE1092B35CC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kumimoji="0" lang="en-US" altLang="zh-TW" sz="1400" smtClean="0"/>
          </a:p>
        </p:txBody>
      </p:sp>
      <p:sp>
        <p:nvSpPr>
          <p:cNvPr id="27238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81029" y="419100"/>
            <a:ext cx="8964613" cy="6070600"/>
          </a:xfrm>
        </p:spPr>
        <p:txBody>
          <a:bodyPr/>
          <a:lstStyle/>
          <a:p>
            <a:pPr eaLnBrk="1" hangingPunct="1"/>
            <a:r>
              <a:rPr lang="en-US" altLang="zh-TW" smtClean="0"/>
              <a:t>Spooling </a:t>
            </a:r>
            <a:r>
              <a:rPr lang="en-US" altLang="zh-TW" smtClean="0">
                <a:solidFill>
                  <a:srgbClr val="FF0066"/>
                </a:solidFill>
              </a:rPr>
              <a:t>overlaps</a:t>
            </a:r>
            <a:r>
              <a:rPr lang="en-US" altLang="zh-TW" smtClean="0"/>
              <a:t> the </a:t>
            </a:r>
            <a:r>
              <a:rPr lang="en-US" altLang="zh-TW" smtClean="0">
                <a:solidFill>
                  <a:srgbClr val="000000"/>
                </a:solidFill>
              </a:rPr>
              <a:t>I/O of one job</a:t>
            </a:r>
            <a:r>
              <a:rPr lang="en-US" altLang="zh-TW" smtClean="0"/>
              <a:t> with the </a:t>
            </a:r>
            <a:r>
              <a:rPr lang="en-US" altLang="zh-TW" smtClean="0">
                <a:solidFill>
                  <a:srgbClr val="000000"/>
                </a:solidFill>
              </a:rPr>
              <a:t>computation of other jobs</a:t>
            </a:r>
            <a:r>
              <a:rPr lang="en-US" altLang="zh-TW" smtClean="0"/>
              <a:t>.</a:t>
            </a:r>
          </a:p>
          <a:p>
            <a:pPr lvl="1" eaLnBrk="1" hangingPunct="1"/>
            <a:r>
              <a:rPr lang="en-US" altLang="zh-TW" smtClean="0"/>
              <a:t>The</a:t>
            </a:r>
            <a:r>
              <a:rPr lang="en-US" altLang="zh-TW" smtClean="0">
                <a:solidFill>
                  <a:srgbClr val="FFCC00"/>
                </a:solidFill>
              </a:rPr>
              <a:t> </a:t>
            </a:r>
            <a:r>
              <a:rPr lang="en-US" altLang="zh-TW" smtClean="0">
                <a:solidFill>
                  <a:srgbClr val="FF0066"/>
                </a:solidFill>
              </a:rPr>
              <a:t>spooler</a:t>
            </a:r>
            <a:r>
              <a:rPr lang="en-US" altLang="zh-TW" smtClean="0"/>
              <a:t> may be reading the input of one job while printing the output of a different job.</a:t>
            </a:r>
          </a:p>
          <a:p>
            <a:pPr lvl="1" eaLnBrk="1" hangingPunct="1"/>
            <a:endParaRPr lang="en-US" altLang="zh-TW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zh-TW" smtClean="0">
                <a:sym typeface="Wingdings" pitchFamily="2" charset="2"/>
              </a:rPr>
              <a:t></a:t>
            </a:r>
            <a:r>
              <a:rPr lang="en-US" altLang="zh-TW" smtClean="0"/>
              <a:t>By overlaps,</a:t>
            </a:r>
            <a:r>
              <a:rPr lang="en-US" altLang="zh-TW" smtClean="0">
                <a:solidFill>
                  <a:srgbClr val="FFCC00"/>
                </a:solidFill>
              </a:rPr>
              <a:t> </a:t>
            </a:r>
            <a:r>
              <a:rPr lang="en-US" altLang="zh-TW" smtClean="0">
                <a:solidFill>
                  <a:srgbClr val="FF0066"/>
                </a:solidFill>
              </a:rPr>
              <a:t>spooling</a:t>
            </a:r>
            <a:r>
              <a:rPr lang="en-US" altLang="zh-TW" smtClean="0"/>
              <a:t> keeps both the CPU and the I/O devices </a:t>
            </a:r>
            <a:r>
              <a:rPr lang="en-US" altLang="zh-TW" smtClean="0">
                <a:solidFill>
                  <a:srgbClr val="FF0066"/>
                </a:solidFill>
              </a:rPr>
              <a:t>working at much higher rates</a:t>
            </a:r>
            <a:r>
              <a:rPr lang="en-US" altLang="zh-TW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2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2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2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2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1F32907-205B-4D33-AEA9-363AE5156D58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471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471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24F1B8-4D8F-4BF5-AC51-E97542E987D8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kumimoji="0" lang="en-US" altLang="zh-TW" sz="1400" smtClean="0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7" y="215900"/>
            <a:ext cx="8886825" cy="14097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Mainframe: </a:t>
            </a:r>
            <a:r>
              <a:rPr lang="en-US" altLang="zh-TW" sz="4000" b="1" smtClean="0">
                <a:solidFill>
                  <a:srgbClr val="FF0066"/>
                </a:solidFill>
              </a:rPr>
              <a:t>Multiprogramming</a:t>
            </a:r>
            <a:r>
              <a:rPr lang="en-US" altLang="zh-TW" sz="4000" smtClean="0"/>
              <a:t> </a:t>
            </a:r>
            <a:r>
              <a:rPr lang="en-US" altLang="zh-TW" sz="4000" b="1" smtClean="0">
                <a:solidFill>
                  <a:srgbClr val="0066FF"/>
                </a:solidFill>
              </a:rPr>
              <a:t>Batched</a:t>
            </a:r>
            <a:r>
              <a:rPr lang="en-US" altLang="zh-TW" sz="4000" smtClean="0"/>
              <a:t> Systems</a:t>
            </a:r>
          </a:p>
        </p:txBody>
      </p:sp>
      <p:sp>
        <p:nvSpPr>
          <p:cNvPr id="2744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6088" y="1831975"/>
            <a:ext cx="9294812" cy="45783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smtClean="0"/>
              <a:t>Spooling provides an important data structure: </a:t>
            </a:r>
            <a:r>
              <a:rPr lang="en-US" altLang="zh-TW" sz="2800" smtClean="0">
                <a:solidFill>
                  <a:srgbClr val="FF0066"/>
                </a:solidFill>
              </a:rPr>
              <a:t>a job pool</a:t>
            </a:r>
            <a:r>
              <a:rPr lang="en-US" altLang="zh-TW" sz="2800" smtClean="0"/>
              <a:t>, which contains jobs waiting on disk, ready to run.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smtClean="0">
                <a:solidFill>
                  <a:srgbClr val="FF0066"/>
                </a:solidFill>
              </a:rPr>
              <a:t>Job </a:t>
            </a:r>
            <a:r>
              <a:rPr lang="en-US" altLang="zh-TW" sz="2800" b="1" smtClean="0">
                <a:solidFill>
                  <a:srgbClr val="FF0066"/>
                </a:solidFill>
              </a:rPr>
              <a:t>scheduling</a:t>
            </a:r>
            <a:r>
              <a:rPr lang="en-US" altLang="zh-TW" sz="2800" smtClean="0">
                <a:solidFill>
                  <a:srgbClr val="FFCC00"/>
                </a:solidFill>
              </a:rPr>
              <a:t> </a:t>
            </a:r>
            <a:r>
              <a:rPr lang="en-US" altLang="zh-TW" sz="2800" smtClean="0"/>
              <a:t>becomes possible: OS can select which job to run next, to </a:t>
            </a:r>
            <a:r>
              <a:rPr lang="en-US" altLang="zh-TW" sz="2800" smtClean="0">
                <a:solidFill>
                  <a:srgbClr val="FF0066"/>
                </a:solidFill>
              </a:rPr>
              <a:t>increase CPU utilization</a:t>
            </a:r>
            <a:r>
              <a:rPr lang="en-US" altLang="zh-TW" sz="28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smtClean="0"/>
              <a:t>The most important aspect of job scheduling is the ability to </a:t>
            </a:r>
            <a:r>
              <a:rPr lang="en-US" altLang="zh-TW" sz="2800" b="1" smtClean="0">
                <a:solidFill>
                  <a:srgbClr val="FF0066"/>
                </a:solidFill>
              </a:rPr>
              <a:t>multiprogram</a:t>
            </a:r>
            <a:r>
              <a:rPr lang="en-US" altLang="zh-TW" sz="2800" smtClean="0"/>
              <a:t> : OS keeps several jobs in memory at a time.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smtClean="0">
                <a:sym typeface="Wingdings" pitchFamily="2" charset="2"/>
              </a:rPr>
              <a:t></a:t>
            </a:r>
            <a:r>
              <a:rPr lang="en-US" altLang="zh-TW" sz="2800" smtClean="0"/>
              <a:t> Multiprogramming organizes jobs such that CPU always has one to execute. (</a:t>
            </a:r>
            <a:r>
              <a:rPr lang="en-US" altLang="zh-TW" sz="2800" smtClean="0">
                <a:solidFill>
                  <a:srgbClr val="FF0066"/>
                </a:solidFill>
              </a:rPr>
              <a:t>When one job is waiting for I/O, CPU switches to another</a:t>
            </a:r>
            <a:r>
              <a:rPr lang="en-US" altLang="zh-TW" sz="2800" smtClean="0"/>
              <a:t>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E63C2F4-48C9-4182-9EB5-4392659F718F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48131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4813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6036127-682D-4A0F-B265-CDED6C457753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kumimoji="0" lang="en-US" altLang="zh-TW" sz="1400" smtClean="0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>
          <a:xfrm>
            <a:off x="687388" y="355600"/>
            <a:ext cx="8420100" cy="800100"/>
          </a:xfrm>
        </p:spPr>
        <p:txBody>
          <a:bodyPr/>
          <a:lstStyle/>
          <a:p>
            <a:pPr eaLnBrk="1" hangingPunct="1"/>
            <a:r>
              <a:rPr lang="en-US" altLang="zh-TW" smtClean="0"/>
              <a:t>Multiprogramming Systems</a:t>
            </a:r>
          </a:p>
        </p:txBody>
      </p:sp>
      <p:sp>
        <p:nvSpPr>
          <p:cNvPr id="48134" name="Text Box 3"/>
          <p:cNvSpPr txBox="1">
            <a:spLocks noChangeArrowheads="1"/>
          </p:cNvSpPr>
          <p:nvPr/>
        </p:nvSpPr>
        <p:spPr bwMode="auto">
          <a:xfrm>
            <a:off x="973143" y="1237448"/>
            <a:ext cx="839628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2800">
                <a:latin typeface="Helvetica" pitchFamily="34" charset="0"/>
              </a:rPr>
              <a:t>Several jobs are kept in main memory at the same time, and the CPU is multiplexed among them. </a:t>
            </a:r>
          </a:p>
        </p:txBody>
      </p:sp>
      <p:pic>
        <p:nvPicPr>
          <p:cNvPr id="4813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1" t="934" r="25233" b="934"/>
          <a:stretch>
            <a:fillRect/>
          </a:stretch>
        </p:blipFill>
        <p:spPr bwMode="auto">
          <a:xfrm>
            <a:off x="3465513" y="2257425"/>
            <a:ext cx="2724150" cy="40005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6459B12-7212-4C67-9DFD-9DF84CBC0EE6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491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491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BC54FB-4F5E-4B51-BD81-63FE9E0E535A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kumimoji="0" lang="en-US" altLang="zh-TW" sz="1400" smtClean="0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58763"/>
            <a:ext cx="8289925" cy="1098550"/>
          </a:xfrm>
        </p:spPr>
        <p:txBody>
          <a:bodyPr/>
          <a:lstStyle/>
          <a:p>
            <a:pPr eaLnBrk="1" hangingPunct="1"/>
            <a:r>
              <a:rPr lang="en-US" altLang="zh-TW" sz="3600" b="1" smtClean="0">
                <a:solidFill>
                  <a:srgbClr val="FF0066"/>
                </a:solidFill>
              </a:rPr>
              <a:t>OS Features Needed for Multiprogramming</a:t>
            </a:r>
            <a:r>
              <a:rPr lang="en-US" altLang="zh-TW" sz="4000" smtClean="0"/>
              <a:t> </a:t>
            </a:r>
          </a:p>
        </p:txBody>
      </p:sp>
      <p:sp>
        <p:nvSpPr>
          <p:cNvPr id="2785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57229" y="1655763"/>
            <a:ext cx="8456613" cy="461645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66"/>
                </a:solidFill>
              </a:rPr>
              <a:t>I/O routine</a:t>
            </a:r>
            <a:r>
              <a:rPr lang="en-US" altLang="zh-TW" smtClean="0"/>
              <a:t> supplied by the system.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66"/>
                </a:solidFill>
              </a:rPr>
              <a:t>Memory management</a:t>
            </a:r>
            <a:r>
              <a:rPr lang="en-US" altLang="zh-TW" smtClean="0"/>
              <a:t> </a:t>
            </a:r>
            <a:r>
              <a:rPr lang="en-US" altLang="zh-TW" smtClean="0">
                <a:latin typeface="Helvetica" pitchFamily="34" charset="0"/>
              </a:rPr>
              <a:t>–</a:t>
            </a:r>
            <a:r>
              <a:rPr lang="en-US" altLang="zh-TW" smtClean="0"/>
              <a:t> the system must allocate the memory to several jobs.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66"/>
                </a:solidFill>
              </a:rPr>
              <a:t>CPU scheduling</a:t>
            </a:r>
            <a:r>
              <a:rPr lang="en-US" altLang="zh-TW" smtClean="0"/>
              <a:t> </a:t>
            </a:r>
            <a:r>
              <a:rPr lang="en-US" altLang="zh-TW" smtClean="0">
                <a:latin typeface="Helvetica" pitchFamily="34" charset="0"/>
              </a:rPr>
              <a:t>–</a:t>
            </a:r>
            <a:r>
              <a:rPr lang="en-US" altLang="zh-TW" smtClean="0"/>
              <a:t> the system must choose among several jobs ready to run.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66"/>
                </a:solidFill>
              </a:rPr>
              <a:t>Allocation of devices</a:t>
            </a:r>
            <a:r>
              <a:rPr lang="en-US" altLang="zh-TW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732D277-4075-437F-8B41-74F46509E1A0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50179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5018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DE6881A-D866-4167-BB12-88C0608C8A4D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kumimoji="0" lang="en-US" altLang="zh-TW" sz="1400" smtClean="0"/>
          </a:p>
        </p:txBody>
      </p:sp>
      <p:sp>
        <p:nvSpPr>
          <p:cNvPr id="50181" name="Rectangle 2"/>
          <p:cNvSpPr>
            <a:spLocks noChangeArrowheads="1"/>
          </p:cNvSpPr>
          <p:nvPr/>
        </p:nvSpPr>
        <p:spPr bwMode="auto">
          <a:xfrm>
            <a:off x="3282950" y="1257300"/>
            <a:ext cx="2798764" cy="46609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B8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1400" b="1">
              <a:latin typeface="Book Antiqua" pitchFamily="18" charset="0"/>
            </a:endParaRPr>
          </a:p>
        </p:txBody>
      </p:sp>
      <p:sp>
        <p:nvSpPr>
          <p:cNvPr id="50182" name="Rectangle 3"/>
          <p:cNvSpPr>
            <a:spLocks noChangeArrowheads="1"/>
          </p:cNvSpPr>
          <p:nvPr/>
        </p:nvSpPr>
        <p:spPr bwMode="auto">
          <a:xfrm>
            <a:off x="3282950" y="2382846"/>
            <a:ext cx="2798764" cy="822325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3282950" y="3219453"/>
            <a:ext cx="2798764" cy="866775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33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0184" name="Rectangle 5"/>
          <p:cNvSpPr>
            <a:spLocks noChangeArrowheads="1"/>
          </p:cNvSpPr>
          <p:nvPr/>
        </p:nvSpPr>
        <p:spPr bwMode="auto">
          <a:xfrm>
            <a:off x="3298827" y="4100521"/>
            <a:ext cx="2767013" cy="966787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0185" name="Text Box 6"/>
          <p:cNvSpPr txBox="1">
            <a:spLocks noChangeArrowheads="1"/>
          </p:cNvSpPr>
          <p:nvPr/>
        </p:nvSpPr>
        <p:spPr bwMode="auto">
          <a:xfrm>
            <a:off x="3308353" y="1550990"/>
            <a:ext cx="27238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Book Antiqua" pitchFamily="18" charset="0"/>
              </a:rPr>
              <a:t>Operating System</a:t>
            </a:r>
          </a:p>
        </p:txBody>
      </p:sp>
      <p:sp>
        <p:nvSpPr>
          <p:cNvPr id="50186" name="Text Box 7"/>
          <p:cNvSpPr txBox="1">
            <a:spLocks noChangeArrowheads="1"/>
          </p:cNvSpPr>
          <p:nvPr/>
        </p:nvSpPr>
        <p:spPr bwMode="auto">
          <a:xfrm>
            <a:off x="4162431" y="2582870"/>
            <a:ext cx="8947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Book Antiqua" pitchFamily="18" charset="0"/>
              </a:rPr>
              <a:t>Job 1</a:t>
            </a:r>
          </a:p>
        </p:txBody>
      </p:sp>
      <p:sp>
        <p:nvSpPr>
          <p:cNvPr id="50187" name="Text Box 8"/>
          <p:cNvSpPr txBox="1">
            <a:spLocks noChangeArrowheads="1"/>
          </p:cNvSpPr>
          <p:nvPr/>
        </p:nvSpPr>
        <p:spPr bwMode="auto">
          <a:xfrm>
            <a:off x="4216405" y="3398845"/>
            <a:ext cx="8947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Book Antiqua" pitchFamily="18" charset="0"/>
              </a:rPr>
              <a:t>Job 2</a:t>
            </a:r>
          </a:p>
        </p:txBody>
      </p:sp>
      <p:sp>
        <p:nvSpPr>
          <p:cNvPr id="50188" name="Text Box 9"/>
          <p:cNvSpPr txBox="1">
            <a:spLocks noChangeArrowheads="1"/>
          </p:cNvSpPr>
          <p:nvPr/>
        </p:nvSpPr>
        <p:spPr bwMode="auto">
          <a:xfrm>
            <a:off x="4238630" y="4359282"/>
            <a:ext cx="8947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Book Antiqua" pitchFamily="18" charset="0"/>
              </a:rPr>
              <a:t>Job 3</a:t>
            </a:r>
          </a:p>
        </p:txBody>
      </p:sp>
      <p:sp>
        <p:nvSpPr>
          <p:cNvPr id="50189" name="Text Box 10"/>
          <p:cNvSpPr txBox="1">
            <a:spLocks noChangeArrowheads="1"/>
          </p:cNvSpPr>
          <p:nvPr/>
        </p:nvSpPr>
        <p:spPr bwMode="auto">
          <a:xfrm>
            <a:off x="4262444" y="5232407"/>
            <a:ext cx="8947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Book Antiqua" pitchFamily="18" charset="0"/>
              </a:rPr>
              <a:t>Job 4</a:t>
            </a:r>
          </a:p>
        </p:txBody>
      </p:sp>
      <p:sp>
        <p:nvSpPr>
          <p:cNvPr id="50190" name="AutoShape 11"/>
          <p:cNvSpPr>
            <a:spLocks noChangeArrowheads="1"/>
          </p:cNvSpPr>
          <p:nvPr/>
        </p:nvSpPr>
        <p:spPr bwMode="auto">
          <a:xfrm>
            <a:off x="7175500" y="1817696"/>
            <a:ext cx="2000250" cy="2916237"/>
          </a:xfrm>
          <a:prstGeom prst="can">
            <a:avLst>
              <a:gd name="adj" fmla="val 36448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0191" name="Rectangle 12"/>
          <p:cNvSpPr>
            <a:spLocks noChangeArrowheads="1"/>
          </p:cNvSpPr>
          <p:nvPr/>
        </p:nvSpPr>
        <p:spPr bwMode="auto">
          <a:xfrm>
            <a:off x="7456488" y="2843221"/>
            <a:ext cx="406400" cy="390525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1400" b="1">
              <a:latin typeface="Book Antiqua" pitchFamily="18" charset="0"/>
            </a:endParaRPr>
          </a:p>
        </p:txBody>
      </p:sp>
      <p:sp>
        <p:nvSpPr>
          <p:cNvPr id="50192" name="Rectangle 13"/>
          <p:cNvSpPr>
            <a:spLocks noChangeArrowheads="1"/>
          </p:cNvSpPr>
          <p:nvPr/>
        </p:nvSpPr>
        <p:spPr bwMode="auto">
          <a:xfrm>
            <a:off x="7997825" y="2851158"/>
            <a:ext cx="404814" cy="390525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1400" b="1">
              <a:latin typeface="Book Antiqua" pitchFamily="18" charset="0"/>
            </a:endParaRPr>
          </a:p>
        </p:txBody>
      </p:sp>
      <p:sp>
        <p:nvSpPr>
          <p:cNvPr id="50193" name="Rectangle 14"/>
          <p:cNvSpPr>
            <a:spLocks noChangeArrowheads="1"/>
          </p:cNvSpPr>
          <p:nvPr/>
        </p:nvSpPr>
        <p:spPr bwMode="auto">
          <a:xfrm>
            <a:off x="8537575" y="2859096"/>
            <a:ext cx="404814" cy="390525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1400" b="1">
              <a:latin typeface="Book Antiqua" pitchFamily="18" charset="0"/>
            </a:endParaRPr>
          </a:p>
        </p:txBody>
      </p:sp>
      <p:sp>
        <p:nvSpPr>
          <p:cNvPr id="50194" name="Rectangle 15"/>
          <p:cNvSpPr>
            <a:spLocks noChangeArrowheads="1"/>
          </p:cNvSpPr>
          <p:nvPr/>
        </p:nvSpPr>
        <p:spPr bwMode="auto">
          <a:xfrm>
            <a:off x="7700963" y="3502032"/>
            <a:ext cx="406400" cy="390525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1400" b="1">
              <a:latin typeface="Book Antiqua" pitchFamily="18" charset="0"/>
            </a:endParaRPr>
          </a:p>
        </p:txBody>
      </p:sp>
      <p:sp>
        <p:nvSpPr>
          <p:cNvPr id="50195" name="Rectangle 16"/>
          <p:cNvSpPr>
            <a:spLocks noChangeArrowheads="1"/>
          </p:cNvSpPr>
          <p:nvPr/>
        </p:nvSpPr>
        <p:spPr bwMode="auto">
          <a:xfrm>
            <a:off x="8288338" y="3495676"/>
            <a:ext cx="404812" cy="390525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1400" b="1">
              <a:latin typeface="Book Antiqua" pitchFamily="18" charset="0"/>
            </a:endParaRPr>
          </a:p>
        </p:txBody>
      </p:sp>
      <p:sp>
        <p:nvSpPr>
          <p:cNvPr id="50196" name="Rectangle 17"/>
          <p:cNvSpPr>
            <a:spLocks noChangeArrowheads="1"/>
          </p:cNvSpPr>
          <p:nvPr/>
        </p:nvSpPr>
        <p:spPr bwMode="auto">
          <a:xfrm>
            <a:off x="8045450" y="4065596"/>
            <a:ext cx="406400" cy="390525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1400" b="1">
              <a:latin typeface="Book Antiqua" pitchFamily="18" charset="0"/>
            </a:endParaRPr>
          </a:p>
        </p:txBody>
      </p:sp>
      <p:sp>
        <p:nvSpPr>
          <p:cNvPr id="50197" name="Rectangle 18"/>
          <p:cNvSpPr>
            <a:spLocks noChangeArrowheads="1"/>
          </p:cNvSpPr>
          <p:nvPr/>
        </p:nvSpPr>
        <p:spPr bwMode="auto">
          <a:xfrm>
            <a:off x="250825" y="2871795"/>
            <a:ext cx="969963" cy="1227137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0198" name="Text Box 19"/>
          <p:cNvSpPr txBox="1">
            <a:spLocks noChangeArrowheads="1"/>
          </p:cNvSpPr>
          <p:nvPr/>
        </p:nvSpPr>
        <p:spPr bwMode="auto">
          <a:xfrm>
            <a:off x="265117" y="3254382"/>
            <a:ext cx="8338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Book Antiqua" pitchFamily="18" charset="0"/>
              </a:rPr>
              <a:t>CPU</a:t>
            </a:r>
          </a:p>
        </p:txBody>
      </p:sp>
      <p:grpSp>
        <p:nvGrpSpPr>
          <p:cNvPr id="50199" name="Group 20"/>
          <p:cNvGrpSpPr>
            <a:grpSpLocks/>
          </p:cNvGrpSpPr>
          <p:nvPr/>
        </p:nvGrpSpPr>
        <p:grpSpPr bwMode="auto">
          <a:xfrm>
            <a:off x="1220792" y="2698754"/>
            <a:ext cx="2046287" cy="2828925"/>
            <a:chOff x="1064" y="1700"/>
            <a:chExt cx="836" cy="1782"/>
          </a:xfrm>
        </p:grpSpPr>
        <p:sp>
          <p:nvSpPr>
            <p:cNvPr id="50207" name="Line 21"/>
            <p:cNvSpPr>
              <a:spLocks noChangeShapeType="1"/>
            </p:cNvSpPr>
            <p:nvPr/>
          </p:nvSpPr>
          <p:spPr bwMode="auto">
            <a:xfrm flipH="1">
              <a:off x="1064" y="1700"/>
              <a:ext cx="827" cy="337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0208" name="Line 22"/>
            <p:cNvSpPr>
              <a:spLocks noChangeShapeType="1"/>
            </p:cNvSpPr>
            <p:nvPr/>
          </p:nvSpPr>
          <p:spPr bwMode="auto">
            <a:xfrm flipH="1" flipV="1">
              <a:off x="1073" y="2146"/>
              <a:ext cx="827" cy="145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0209" name="Line 23"/>
            <p:cNvSpPr>
              <a:spLocks noChangeShapeType="1"/>
            </p:cNvSpPr>
            <p:nvPr/>
          </p:nvSpPr>
          <p:spPr bwMode="auto">
            <a:xfrm flipH="1" flipV="1">
              <a:off x="1091" y="2291"/>
              <a:ext cx="809" cy="582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0210" name="Line 24"/>
            <p:cNvSpPr>
              <a:spLocks noChangeShapeType="1"/>
            </p:cNvSpPr>
            <p:nvPr/>
          </p:nvSpPr>
          <p:spPr bwMode="auto">
            <a:xfrm flipH="1" flipV="1">
              <a:off x="1082" y="2373"/>
              <a:ext cx="818" cy="1109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50200" name="Line 25"/>
          <p:cNvSpPr>
            <a:spLocks noChangeShapeType="1"/>
          </p:cNvSpPr>
          <p:nvPr/>
        </p:nvSpPr>
        <p:spPr bwMode="auto">
          <a:xfrm flipH="1" flipV="1">
            <a:off x="6096000" y="2800358"/>
            <a:ext cx="1471613" cy="258763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0201" name="Line 26"/>
          <p:cNvSpPr>
            <a:spLocks noChangeShapeType="1"/>
          </p:cNvSpPr>
          <p:nvPr/>
        </p:nvSpPr>
        <p:spPr bwMode="auto">
          <a:xfrm flipH="1" flipV="1">
            <a:off x="6096004" y="3622675"/>
            <a:ext cx="1798638" cy="71438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0202" name="Line 27"/>
          <p:cNvSpPr>
            <a:spLocks noChangeShapeType="1"/>
          </p:cNvSpPr>
          <p:nvPr/>
        </p:nvSpPr>
        <p:spPr bwMode="auto">
          <a:xfrm flipH="1">
            <a:off x="6049963" y="3695700"/>
            <a:ext cx="2406650" cy="90805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0203" name="Text Box 28"/>
          <p:cNvSpPr txBox="1">
            <a:spLocks noChangeArrowheads="1"/>
          </p:cNvSpPr>
          <p:nvPr/>
        </p:nvSpPr>
        <p:spPr bwMode="auto">
          <a:xfrm>
            <a:off x="6249988" y="1162057"/>
            <a:ext cx="23455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FF0066"/>
                </a:solidFill>
                <a:latin typeface="Book Antiqua" pitchFamily="18" charset="0"/>
              </a:rPr>
              <a:t>Job Scheduling</a:t>
            </a:r>
          </a:p>
        </p:txBody>
      </p:sp>
      <p:sp>
        <p:nvSpPr>
          <p:cNvPr id="50204" name="Text Box 29"/>
          <p:cNvSpPr txBox="1">
            <a:spLocks noChangeArrowheads="1"/>
          </p:cNvSpPr>
          <p:nvPr/>
        </p:nvSpPr>
        <p:spPr bwMode="auto">
          <a:xfrm>
            <a:off x="644526" y="2036770"/>
            <a:ext cx="25154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FF0066"/>
                </a:solidFill>
                <a:latin typeface="Book Antiqua" pitchFamily="18" charset="0"/>
              </a:rPr>
              <a:t>CPU Scheduling</a:t>
            </a:r>
          </a:p>
        </p:txBody>
      </p:sp>
      <p:sp>
        <p:nvSpPr>
          <p:cNvPr id="50205" name="Line 30"/>
          <p:cNvSpPr>
            <a:spLocks noChangeShapeType="1"/>
          </p:cNvSpPr>
          <p:nvPr/>
        </p:nvSpPr>
        <p:spPr bwMode="auto">
          <a:xfrm flipH="1">
            <a:off x="6121405" y="4294188"/>
            <a:ext cx="2062163" cy="111125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0206" name="Text Box 31"/>
          <p:cNvSpPr txBox="1">
            <a:spLocks noChangeArrowheads="1"/>
          </p:cNvSpPr>
          <p:nvPr/>
        </p:nvSpPr>
        <p:spPr bwMode="auto">
          <a:xfrm>
            <a:off x="7432679" y="4943475"/>
            <a:ext cx="1539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latin typeface="Book Antiqua" pitchFamily="18" charset="0"/>
              </a:rPr>
              <a:t>Job pool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1771BDD-D4A2-4F56-A008-962DAF16D069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5120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512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E5CF45C-5CA6-4256-A875-3BEED79F317A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kumimoji="0" lang="en-US" altLang="zh-TW" sz="1400" smtClean="0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>
          <a:xfrm>
            <a:off x="585788" y="201613"/>
            <a:ext cx="8737600" cy="1155700"/>
          </a:xfrm>
        </p:spPr>
        <p:txBody>
          <a:bodyPr/>
          <a:lstStyle/>
          <a:p>
            <a:pPr eaLnBrk="1" hangingPunct="1"/>
            <a:r>
              <a:rPr lang="en-US" altLang="zh-TW" sz="4000" dirty="0" smtClean="0"/>
              <a:t>Mainframe: </a:t>
            </a:r>
            <a:r>
              <a:rPr lang="en-US" altLang="zh-TW" sz="4000" b="1" dirty="0" smtClean="0">
                <a:solidFill>
                  <a:srgbClr val="FF0066"/>
                </a:solidFill>
              </a:rPr>
              <a:t>Time-Sharing</a:t>
            </a:r>
            <a:r>
              <a:rPr lang="en-US" altLang="zh-TW" sz="4000" dirty="0" smtClean="0"/>
              <a:t> Systems</a:t>
            </a:r>
          </a:p>
        </p:txBody>
      </p:sp>
      <p:sp>
        <p:nvSpPr>
          <p:cNvPr id="2826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9130" y="1200150"/>
            <a:ext cx="8882063" cy="5208588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sz="2800" dirty="0" smtClean="0">
                <a:sym typeface="Wingdings" pitchFamily="2" charset="2"/>
              </a:rPr>
              <a:t></a:t>
            </a:r>
            <a:r>
              <a:rPr lang="en-US" altLang="zh-TW" sz="2800" dirty="0" smtClean="0"/>
              <a:t> Disadvantages of a </a:t>
            </a:r>
            <a:r>
              <a:rPr lang="en-US" altLang="zh-TW" sz="2800" dirty="0" err="1" smtClean="0"/>
              <a:t>multiprogrammed</a:t>
            </a:r>
            <a:r>
              <a:rPr lang="en-US" altLang="zh-TW" sz="2800" dirty="0" smtClean="0"/>
              <a:t> batched systems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FF0066"/>
                </a:solidFill>
              </a:rPr>
              <a:t>No interaction with users</a:t>
            </a:r>
            <a:r>
              <a:rPr lang="en-US" altLang="zh-TW" sz="2400" dirty="0" smtClean="0"/>
              <a:t>: users must set up control cards for all possible outcomes.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FF0066"/>
                </a:solidFill>
              </a:rPr>
              <a:t>Statically debugging</a:t>
            </a:r>
            <a:r>
              <a:rPr lang="en-US" altLang="zh-TW" sz="2400" dirty="0" smtClean="0"/>
              <a:t>: long turnaround time inhibits experimentation. (But, it instills good discipline of writing/testing)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/>
              <a:t>An</a:t>
            </a:r>
            <a:r>
              <a:rPr lang="en-US" altLang="zh-TW" sz="2800" dirty="0" smtClean="0">
                <a:solidFill>
                  <a:srgbClr val="FFCC00"/>
                </a:solidFill>
              </a:rPr>
              <a:t> </a:t>
            </a:r>
            <a:r>
              <a:rPr lang="en-US" altLang="zh-TW" sz="2800" dirty="0" smtClean="0">
                <a:solidFill>
                  <a:srgbClr val="FF0066"/>
                </a:solidFill>
              </a:rPr>
              <a:t>interactive</a:t>
            </a:r>
            <a:r>
              <a:rPr lang="en-US" altLang="zh-TW" sz="2800" dirty="0" smtClean="0"/>
              <a:t> (or hand-on) system: allows on-line communication </a:t>
            </a:r>
            <a:r>
              <a:rPr lang="en-US" altLang="zh-TW" sz="2800" dirty="0" smtClean="0">
                <a:solidFill>
                  <a:srgbClr val="FF0066"/>
                </a:solidFill>
              </a:rPr>
              <a:t>between users and the system</a:t>
            </a:r>
            <a:r>
              <a:rPr lang="en-US" altLang="zh-TW" sz="2800" dirty="0" smtClean="0"/>
              <a:t>. (Usually, </a:t>
            </a:r>
            <a:r>
              <a:rPr lang="en-US" altLang="zh-TW" sz="2800" dirty="0" smtClean="0">
                <a:solidFill>
                  <a:srgbClr val="FF0066"/>
                </a:solidFill>
              </a:rPr>
              <a:t>keyboard/screen</a:t>
            </a:r>
            <a:r>
              <a:rPr lang="en-US" altLang="zh-TW" sz="2800" dirty="0" smtClean="0"/>
              <a:t> are used. Users can see results immediately.)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1868376-5636-4082-B114-1A89FC34B20C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522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522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692B1D5-8E31-4BB0-B878-5CDF54840026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kumimoji="0" lang="en-US" altLang="zh-TW" sz="1400" smtClean="0"/>
          </a:p>
        </p:txBody>
      </p:sp>
      <p:sp>
        <p:nvSpPr>
          <p:cNvPr id="284674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71463" y="412755"/>
            <a:ext cx="9353550" cy="6062663"/>
          </a:xfrm>
        </p:spPr>
        <p:txBody>
          <a:bodyPr/>
          <a:lstStyle/>
          <a:p>
            <a:pPr eaLnBrk="1" hangingPunct="1"/>
            <a:r>
              <a:rPr lang="en-US" altLang="zh-TW" b="1" dirty="0" smtClean="0">
                <a:solidFill>
                  <a:srgbClr val="FF0066"/>
                </a:solidFill>
              </a:rPr>
              <a:t>Time-sharing </a:t>
            </a:r>
            <a:r>
              <a:rPr lang="en-US" altLang="zh-TW" dirty="0" smtClean="0"/>
              <a:t>(or </a:t>
            </a:r>
            <a:r>
              <a:rPr lang="en-US" altLang="zh-TW" b="1" dirty="0" smtClean="0">
                <a:solidFill>
                  <a:srgbClr val="FF0066"/>
                </a:solidFill>
              </a:rPr>
              <a:t>multi-tasking</a:t>
            </a:r>
            <a:r>
              <a:rPr lang="en-US" altLang="zh-TW" dirty="0" smtClean="0"/>
              <a:t>):  an </a:t>
            </a:r>
            <a:r>
              <a:rPr lang="en-US" altLang="zh-TW" dirty="0" smtClean="0">
                <a:solidFill>
                  <a:srgbClr val="0066FF"/>
                </a:solidFill>
              </a:rPr>
              <a:t>extension</a:t>
            </a:r>
            <a:r>
              <a:rPr lang="en-US" altLang="zh-TW" dirty="0" smtClean="0"/>
              <a:t> of multiprogramming. </a:t>
            </a:r>
          </a:p>
          <a:p>
            <a:pPr lvl="1" eaLnBrk="1" hangingPunct="1"/>
            <a:r>
              <a:rPr lang="en-US" altLang="zh-TW" dirty="0" smtClean="0">
                <a:solidFill>
                  <a:srgbClr val="FF0066"/>
                </a:solidFill>
              </a:rPr>
              <a:t>CPU switches among jobs frequently</a:t>
            </a:r>
            <a:r>
              <a:rPr lang="en-US" altLang="zh-TW" dirty="0" smtClean="0"/>
              <a:t> such that </a:t>
            </a:r>
            <a:r>
              <a:rPr lang="en-US" altLang="zh-TW" dirty="0" smtClean="0">
                <a:solidFill>
                  <a:srgbClr val="FF0066"/>
                </a:solidFill>
              </a:rPr>
              <a:t>users may interact with programs</a:t>
            </a:r>
            <a:r>
              <a:rPr lang="en-US" altLang="zh-TW" dirty="0" smtClean="0"/>
              <a:t>.</a:t>
            </a:r>
          </a:p>
          <a:p>
            <a:pPr lvl="1" eaLnBrk="1" hangingPunct="1"/>
            <a:r>
              <a:rPr lang="en-US" altLang="zh-TW" dirty="0" smtClean="0"/>
              <a:t>Switch job when</a:t>
            </a:r>
          </a:p>
          <a:p>
            <a:pPr lvl="2" eaLnBrk="1" hangingPunct="1"/>
            <a:r>
              <a:rPr lang="en-US" altLang="zh-TW" dirty="0" smtClean="0"/>
              <a:t>finish</a:t>
            </a:r>
          </a:p>
          <a:p>
            <a:pPr lvl="2" eaLnBrk="1" hangingPunct="1"/>
            <a:r>
              <a:rPr lang="en-US" altLang="zh-TW" dirty="0" smtClean="0"/>
              <a:t>waiting I/O</a:t>
            </a:r>
          </a:p>
          <a:p>
            <a:pPr lvl="2" eaLnBrk="1" hangingPunct="1"/>
            <a:r>
              <a:rPr lang="en-US" altLang="zh-TW" dirty="0" smtClean="0"/>
              <a:t>a short period of time</a:t>
            </a:r>
          </a:p>
          <a:p>
            <a:pPr eaLnBrk="1" hangingPunct="1"/>
            <a:r>
              <a:rPr lang="en-US" altLang="zh-TW" sz="2800" dirty="0" smtClean="0">
                <a:solidFill>
                  <a:srgbClr val="FF0066"/>
                </a:solidFill>
              </a:rPr>
              <a:t>Early OS</a:t>
            </a:r>
            <a:r>
              <a:rPr lang="en-US" altLang="zh-TW" sz="2800" dirty="0" smtClean="0"/>
              <a:t>: single user, interactive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 dirty="0" smtClean="0"/>
              <a:t>   </a:t>
            </a:r>
            <a:r>
              <a:rPr lang="en-US" altLang="zh-TW" sz="2800" dirty="0" smtClean="0">
                <a:solidFill>
                  <a:srgbClr val="FF0066"/>
                </a:solidFill>
              </a:rPr>
              <a:t>Batch</a:t>
            </a:r>
            <a:r>
              <a:rPr lang="en-US" altLang="zh-TW" sz="2800" dirty="0" smtClean="0"/>
              <a:t>: good CPU utilization, no interaction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 dirty="0" smtClean="0"/>
              <a:t>   </a:t>
            </a:r>
            <a:r>
              <a:rPr lang="en-US" altLang="zh-TW" sz="2800" dirty="0" smtClean="0">
                <a:solidFill>
                  <a:srgbClr val="FF0066"/>
                </a:solidFill>
              </a:rPr>
              <a:t>Time-sharing</a:t>
            </a:r>
            <a:r>
              <a:rPr lang="en-US" altLang="zh-TW" sz="2800" dirty="0" smtClean="0"/>
              <a:t>: interaction, reasonable cost</a:t>
            </a:r>
          </a:p>
          <a:p>
            <a:pPr eaLnBrk="1" hangingPunct="1"/>
            <a:r>
              <a:rPr lang="en-US" altLang="zh-TW" sz="2800" b="1" dirty="0" smtClean="0">
                <a:solidFill>
                  <a:srgbClr val="FF0066"/>
                </a:solidFill>
              </a:rPr>
              <a:t>Combine: Batch + Time sharing (IBM OS/360)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4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4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4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4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4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4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4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4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4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4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4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4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4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4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4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4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4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4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11A065F-FBDA-45FC-A2F0-7C4C2F2CDE26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5325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532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146EB9A-5B6B-433D-A0F1-9C421D6D8B72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kumimoji="0" lang="en-US" altLang="zh-TW" sz="1400" smtClean="0"/>
          </a:p>
        </p:txBody>
      </p:sp>
      <p:sp>
        <p:nvSpPr>
          <p:cNvPr id="286722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9125" y="342900"/>
            <a:ext cx="8915400" cy="5995988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4400" b="1" dirty="0" smtClean="0">
                <a:solidFill>
                  <a:srgbClr val="FF0066"/>
                </a:solidFill>
                <a:latin typeface="Comic Sans MS" pitchFamily="66" charset="0"/>
              </a:rPr>
              <a:t>Time-sharing System</a:t>
            </a:r>
            <a:r>
              <a:rPr lang="en-US" altLang="zh-TW" sz="3600" dirty="0" smtClean="0"/>
              <a:t> 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dirty="0" smtClean="0">
                <a:latin typeface="Comic Sans MS" pitchFamily="66" charset="0"/>
              </a:rPr>
              <a:t>CPU Scheduling and multiprogramming  provide </a:t>
            </a:r>
            <a:r>
              <a:rPr lang="en-US" altLang="zh-TW" sz="2800" dirty="0" smtClean="0">
                <a:solidFill>
                  <a:srgbClr val="FF0066"/>
                </a:solidFill>
                <a:latin typeface="Comic Sans MS" pitchFamily="66" charset="0"/>
              </a:rPr>
              <a:t>each user with a small portion of a time-shared computer</a:t>
            </a:r>
            <a:r>
              <a:rPr lang="en-US" altLang="zh-TW" sz="2800" dirty="0" smtClean="0">
                <a:latin typeface="Comic Sans MS" pitchFamily="66" charset="0"/>
              </a:rPr>
              <a:t>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dirty="0" smtClean="0">
                <a:solidFill>
                  <a:srgbClr val="FF0066"/>
                </a:solidFill>
                <a:latin typeface="Comic Sans MS" pitchFamily="66" charset="0"/>
              </a:rPr>
              <a:t>CPU-bound</a:t>
            </a:r>
            <a:r>
              <a:rPr lang="en-US" altLang="zh-TW" sz="2800" dirty="0" smtClean="0">
                <a:latin typeface="Comic Sans MS" pitchFamily="66" charset="0"/>
              </a:rPr>
              <a:t> and </a:t>
            </a:r>
            <a:r>
              <a:rPr lang="en-US" altLang="zh-TW" dirty="0" smtClean="0">
                <a:solidFill>
                  <a:srgbClr val="FF0066"/>
                </a:solidFill>
                <a:latin typeface="Comic Sans MS" pitchFamily="66" charset="0"/>
              </a:rPr>
              <a:t>I/O-bound</a:t>
            </a:r>
            <a:r>
              <a:rPr lang="en-US" altLang="zh-TW" sz="2800" dirty="0" smtClean="0">
                <a:latin typeface="Comic Sans MS" pitchFamily="66" charset="0"/>
              </a:rPr>
              <a:t> </a:t>
            </a:r>
            <a:r>
              <a:rPr lang="en-US" altLang="zh-TW" sz="4000" dirty="0" smtClean="0">
                <a:latin typeface="Comic Sans MS" pitchFamily="66" charset="0"/>
              </a:rPr>
              <a:t>process</a:t>
            </a:r>
            <a:r>
              <a:rPr lang="en-US" altLang="zh-TW" sz="4000" dirty="0" smtClean="0">
                <a:solidFill>
                  <a:schemeClr val="hlink"/>
                </a:solidFill>
                <a:latin typeface="Comic Sans MS" pitchFamily="66" charset="0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dirty="0" smtClean="0">
                <a:solidFill>
                  <a:srgbClr val="FF0066"/>
                </a:solidFill>
                <a:latin typeface="Comic Sans MS" pitchFamily="66" charset="0"/>
              </a:rPr>
              <a:t>Memory management</a:t>
            </a:r>
            <a:r>
              <a:rPr lang="en-US" altLang="zh-TW" sz="2800" dirty="0" smtClean="0">
                <a:latin typeface="Comic Sans MS" pitchFamily="66" charset="0"/>
              </a:rPr>
              <a:t> and </a:t>
            </a:r>
            <a:r>
              <a:rPr lang="en-US" altLang="zh-TW" sz="2800" dirty="0" smtClean="0">
                <a:solidFill>
                  <a:srgbClr val="FF0066"/>
                </a:solidFill>
                <a:latin typeface="Comic Sans MS" pitchFamily="66" charset="0"/>
              </a:rPr>
              <a:t>Protection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sz="2800" dirty="0" smtClean="0">
                <a:solidFill>
                  <a:srgbClr val="FF0066"/>
                </a:solidFill>
                <a:latin typeface="Comic Sans MS" pitchFamily="66" charset="0"/>
              </a:rPr>
              <a:t>		Virtual memory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dirty="0" smtClean="0">
                <a:solidFill>
                  <a:srgbClr val="FF0066"/>
                </a:solidFill>
                <a:latin typeface="Comic Sans MS" pitchFamily="66" charset="0"/>
              </a:rPr>
              <a:t>File system</a:t>
            </a:r>
            <a:r>
              <a:rPr lang="en-US" altLang="zh-TW" sz="2800" dirty="0" smtClean="0">
                <a:latin typeface="Comic Sans MS" pitchFamily="66" charset="0"/>
              </a:rPr>
              <a:t>, </a:t>
            </a:r>
            <a:r>
              <a:rPr lang="en-US" altLang="zh-TW" sz="2800" dirty="0" smtClean="0">
                <a:solidFill>
                  <a:srgbClr val="FF0066"/>
                </a:solidFill>
                <a:latin typeface="Comic Sans MS" pitchFamily="66" charset="0"/>
              </a:rPr>
              <a:t>Disk management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b="1" dirty="0" smtClean="0">
                <a:solidFill>
                  <a:srgbClr val="0000FF"/>
                </a:solidFill>
                <a:latin typeface="Comic Sans MS" pitchFamily="66" charset="0"/>
              </a:rPr>
              <a:t>Concurrent execution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b="1" dirty="0" smtClean="0">
                <a:solidFill>
                  <a:srgbClr val="0000FF"/>
                </a:solidFill>
                <a:latin typeface="Comic Sans MS" pitchFamily="66" charset="0"/>
              </a:rPr>
              <a:t>Process synchronization and Deadlock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944" y="3138473"/>
            <a:ext cx="2814061" cy="269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6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6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6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6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2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E6F211B-50BB-4B41-9A2C-A1062692F4A3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542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542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9D97D14-AB02-46F9-A816-F86E350A97E5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kumimoji="0" lang="en-US" altLang="zh-TW" sz="1400" smtClean="0"/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>
          <a:xfrm>
            <a:off x="636588" y="4"/>
            <a:ext cx="8420100" cy="868363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The Movement of OS</a:t>
            </a:r>
          </a:p>
        </p:txBody>
      </p:sp>
      <p:sp>
        <p:nvSpPr>
          <p:cNvPr id="2887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19088" y="811213"/>
            <a:ext cx="9129712" cy="5416550"/>
          </a:xfrm>
        </p:spPr>
        <p:txBody>
          <a:bodyPr/>
          <a:lstStyle/>
          <a:p>
            <a:pPr eaLnBrk="1" hangingPunct="1">
              <a:spcBef>
                <a:spcPts val="1800"/>
              </a:spcBef>
              <a:spcAft>
                <a:spcPts val="600"/>
              </a:spcAft>
              <a:tabLst>
                <a:tab pos="6000750" algn="l"/>
              </a:tabLst>
              <a:defRPr/>
            </a:pPr>
            <a:r>
              <a:rPr lang="en-US" altLang="zh-TW" sz="2400" dirty="0" smtClean="0">
                <a:solidFill>
                  <a:srgbClr val="FF0066"/>
                </a:solidFill>
              </a:rPr>
              <a:t>MULTICS</a:t>
            </a:r>
            <a:r>
              <a:rPr lang="en-US" altLang="zh-TW" sz="2400" dirty="0" smtClean="0"/>
              <a:t> (1965-1970 MIT) for GE 645</a:t>
            </a:r>
          </a:p>
          <a:p>
            <a:pPr eaLnBrk="1" hangingPunct="1">
              <a:spcBef>
                <a:spcPts val="1800"/>
              </a:spcBef>
              <a:spcAft>
                <a:spcPts val="600"/>
              </a:spcAft>
              <a:tabLst>
                <a:tab pos="6000750" algn="l"/>
              </a:tabLst>
              <a:defRPr/>
            </a:pPr>
            <a:r>
              <a:rPr lang="en-US" altLang="zh-TW" sz="2400" b="1" dirty="0" smtClean="0">
                <a:solidFill>
                  <a:srgbClr val="FF0066"/>
                </a:solidFill>
              </a:rPr>
              <a:t>UNIX</a:t>
            </a:r>
            <a:r>
              <a:rPr lang="en-US" altLang="zh-TW" sz="2400" dirty="0" smtClean="0"/>
              <a:t> (Ken Thompson, 1970 Bell Lab) for DEC PDP-11, </a:t>
            </a:r>
            <a:r>
              <a:rPr lang="en-US" altLang="zh-TW" sz="2400" b="1" dirty="0" smtClean="0">
                <a:solidFill>
                  <a:srgbClr val="FF0066"/>
                </a:solidFill>
              </a:rPr>
              <a:t>C-language</a:t>
            </a:r>
          </a:p>
          <a:p>
            <a:pPr eaLnBrk="1" hangingPunct="1">
              <a:spcBef>
                <a:spcPts val="1800"/>
              </a:spcBef>
              <a:spcAft>
                <a:spcPts val="600"/>
              </a:spcAft>
              <a:tabLst>
                <a:tab pos="6000750" algn="l"/>
              </a:tabLst>
              <a:defRPr/>
            </a:pPr>
            <a:r>
              <a:rPr lang="en-US" altLang="zh-TW" sz="2400" dirty="0" smtClean="0"/>
              <a:t>UNIX-like OS: </a:t>
            </a:r>
            <a:r>
              <a:rPr lang="en-US" altLang="zh-TW" sz="2000" dirty="0" smtClean="0"/>
              <a:t>System V, XENIX</a:t>
            </a:r>
            <a:r>
              <a:rPr lang="en-US" altLang="zh-TW" sz="2400" dirty="0" smtClean="0"/>
              <a:t>, </a:t>
            </a:r>
            <a:r>
              <a:rPr lang="en-US" altLang="zh-TW" sz="2400" dirty="0" smtClean="0">
                <a:solidFill>
                  <a:srgbClr val="FF0066"/>
                </a:solidFill>
              </a:rPr>
              <a:t>BSD</a:t>
            </a:r>
            <a:r>
              <a:rPr lang="en-US" altLang="zh-TW" sz="2400" dirty="0" smtClean="0"/>
              <a:t>, </a:t>
            </a:r>
            <a:r>
              <a:rPr lang="en-US" altLang="zh-TW" sz="2400" dirty="0" smtClean="0">
                <a:solidFill>
                  <a:srgbClr val="FF0066"/>
                </a:solidFill>
              </a:rPr>
              <a:t>Solaris, </a:t>
            </a:r>
            <a:r>
              <a:rPr lang="en-US" altLang="zh-TW" sz="2400" b="1" dirty="0" smtClean="0">
                <a:solidFill>
                  <a:srgbClr val="FF0066"/>
                </a:solidFill>
              </a:rPr>
              <a:t>Linux, </a:t>
            </a:r>
            <a:r>
              <a:rPr lang="en-US" altLang="zh-TW" sz="2400" dirty="0" smtClean="0">
                <a:solidFill>
                  <a:srgbClr val="0000FF"/>
                </a:solidFill>
              </a:rPr>
              <a:t>Cloud OS</a:t>
            </a:r>
            <a:endParaRPr lang="en-US" altLang="zh-TW" sz="2400" u="sng" dirty="0" smtClean="0">
              <a:solidFill>
                <a:srgbClr val="0000FF"/>
              </a:solidFill>
            </a:endParaRPr>
          </a:p>
          <a:p>
            <a:pPr eaLnBrk="1" hangingPunct="1">
              <a:spcBef>
                <a:spcPts val="1800"/>
              </a:spcBef>
              <a:spcAft>
                <a:spcPts val="600"/>
              </a:spcAft>
              <a:tabLst>
                <a:tab pos="6000750" algn="l"/>
              </a:tabLst>
              <a:defRPr/>
            </a:pPr>
            <a:r>
              <a:rPr lang="en-US" altLang="zh-TW" sz="2400" dirty="0" smtClean="0"/>
              <a:t>Workstation: Solaris, RS/6000, NT</a:t>
            </a:r>
          </a:p>
          <a:p>
            <a:pPr eaLnBrk="1" hangingPunct="1">
              <a:spcBef>
                <a:spcPts val="1800"/>
              </a:spcBef>
              <a:spcAft>
                <a:spcPts val="600"/>
              </a:spcAft>
              <a:tabLst>
                <a:tab pos="6000750" algn="l"/>
              </a:tabLst>
              <a:defRPr/>
            </a:pPr>
            <a:r>
              <a:rPr lang="en-US" altLang="zh-TW" sz="2400" dirty="0" smtClean="0"/>
              <a:t>PC: Windows, Unix, Linux, </a:t>
            </a:r>
            <a:r>
              <a:rPr lang="en-US" altLang="zh-TW" sz="2400" dirty="0" smtClean="0">
                <a:solidFill>
                  <a:schemeClr val="bg2">
                    <a:lumMod val="75000"/>
                  </a:schemeClr>
                </a:solidFill>
              </a:rPr>
              <a:t>OS/2</a:t>
            </a:r>
            <a:r>
              <a:rPr lang="en-US" altLang="zh-TW" sz="2400" dirty="0" smtClean="0"/>
              <a:t>, </a:t>
            </a:r>
            <a:r>
              <a:rPr lang="en-US" altLang="zh-TW" sz="2400" dirty="0" err="1" smtClean="0"/>
              <a:t>MacOS</a:t>
            </a:r>
            <a:r>
              <a:rPr lang="en-US" altLang="zh-TW" sz="2400" dirty="0" smtClean="0"/>
              <a:t>, </a:t>
            </a:r>
            <a:r>
              <a:rPr lang="en-US" altLang="zh-TW" sz="2400" dirty="0" smtClean="0">
                <a:latin typeface="Times New Roman" pitchFamily="18" charset="0"/>
              </a:rPr>
              <a:t>…</a:t>
            </a:r>
            <a:endParaRPr lang="en-US" altLang="zh-TW" sz="2400" dirty="0" smtClean="0"/>
          </a:p>
          <a:p>
            <a:pPr eaLnBrk="1" hangingPunct="1">
              <a:spcBef>
                <a:spcPts val="1800"/>
              </a:spcBef>
              <a:spcAft>
                <a:spcPts val="600"/>
              </a:spcAft>
              <a:tabLst>
                <a:tab pos="6000750" algn="l"/>
              </a:tabLst>
              <a:defRPr/>
            </a:pPr>
            <a:r>
              <a:rPr lang="en-US" altLang="zh-TW" sz="2400" dirty="0" smtClean="0"/>
              <a:t>Hand-held: </a:t>
            </a:r>
            <a:r>
              <a:rPr lang="en-US" altLang="zh-TW" sz="2400" dirty="0" smtClean="0">
                <a:solidFill>
                  <a:schemeClr val="bg2">
                    <a:lumMod val="75000"/>
                  </a:schemeClr>
                </a:solidFill>
              </a:rPr>
              <a:t>Palm, Windows CE,</a:t>
            </a:r>
            <a:r>
              <a:rPr lang="en-US" altLang="zh-TW" sz="2400" dirty="0" smtClean="0">
                <a:solidFill>
                  <a:schemeClr val="folHlink"/>
                </a:solidFill>
              </a:rPr>
              <a:t> </a:t>
            </a:r>
            <a:r>
              <a:rPr lang="en-US" altLang="zh-TW" sz="2400" dirty="0" smtClean="0">
                <a:solidFill>
                  <a:schemeClr val="bg2">
                    <a:lumMod val="75000"/>
                  </a:schemeClr>
                </a:solidFill>
              </a:rPr>
              <a:t>Linux,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chemeClr val="bg2">
                    <a:lumMod val="75000"/>
                  </a:schemeClr>
                </a:solidFill>
              </a:rPr>
              <a:t>Symbian,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iOS</a:t>
            </a:r>
            <a:r>
              <a:rPr lang="en-US" altLang="zh-TW" sz="2400" dirty="0" smtClean="0"/>
              <a:t>, Android, </a:t>
            </a:r>
            <a:r>
              <a:rPr lang="en-US" altLang="zh-TW" sz="2400" dirty="0" smtClean="0">
                <a:latin typeface="Times New Roman" pitchFamily="18" charset="0"/>
              </a:rPr>
              <a:t>…</a:t>
            </a:r>
            <a:endParaRPr lang="en-US" altLang="zh-TW" sz="2400" dirty="0" smtClean="0"/>
          </a:p>
          <a:p>
            <a:pPr eaLnBrk="1" hangingPunct="1">
              <a:spcBef>
                <a:spcPts val="1800"/>
              </a:spcBef>
              <a:spcAft>
                <a:spcPts val="600"/>
              </a:spcAft>
              <a:tabLst>
                <a:tab pos="6000750" algn="l"/>
              </a:tabLst>
              <a:defRPr/>
            </a:pPr>
            <a:r>
              <a:rPr lang="en-US" altLang="zh-TW" sz="2400" dirty="0" smtClean="0"/>
              <a:t>Embedded Systems: Linux, Wind River, </a:t>
            </a:r>
            <a:r>
              <a:rPr lang="en-US" altLang="zh-TW" sz="2400" dirty="0" smtClean="0">
                <a:latin typeface="Times New Roman" pitchFamily="18" charset="0"/>
              </a:rPr>
              <a:t>…</a:t>
            </a:r>
            <a:endParaRPr lang="en-US" altLang="zh-TW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8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8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8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8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206DC10-FB6C-49FF-8A45-FA6FA7F6054B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215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215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187435E-E80B-4D1F-B474-92F0BD06CF98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kumimoji="0" lang="en-US" altLang="zh-TW" sz="1400" smtClean="0"/>
          </a:p>
        </p:txBody>
      </p:sp>
      <p:sp>
        <p:nvSpPr>
          <p:cNvPr id="21509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87338" y="0"/>
            <a:ext cx="9010650" cy="62388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4000" dirty="0">
                <a:solidFill>
                  <a:srgbClr val="000000"/>
                </a:solidFill>
                <a:latin typeface="Comic Sans MS" pitchFamily="66" charset="0"/>
              </a:rPr>
              <a:t>1970s: Original UNIX System</a:t>
            </a:r>
          </a:p>
        </p:txBody>
      </p:sp>
      <p:sp>
        <p:nvSpPr>
          <p:cNvPr id="21510" name="Rectangle 3"/>
          <p:cNvSpPr>
            <a:spLocks noChangeArrowheads="1"/>
          </p:cNvSpPr>
          <p:nvPr/>
        </p:nvSpPr>
        <p:spPr bwMode="auto">
          <a:xfrm>
            <a:off x="3751263" y="658814"/>
            <a:ext cx="5802312" cy="5616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002F"/>
                    </a:gs>
                    <a:gs pos="50000">
                      <a:srgbClr val="FF0066"/>
                    </a:gs>
                    <a:gs pos="100000">
                      <a:srgbClr val="76002F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1511" name="Line 4"/>
          <p:cNvSpPr>
            <a:spLocks noChangeShapeType="1"/>
          </p:cNvSpPr>
          <p:nvPr/>
        </p:nvSpPr>
        <p:spPr bwMode="auto">
          <a:xfrm>
            <a:off x="3751268" y="1238250"/>
            <a:ext cx="58054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12" name="Rectangle 5"/>
          <p:cNvSpPr>
            <a:spLocks noChangeArrowheads="1"/>
          </p:cNvSpPr>
          <p:nvPr/>
        </p:nvSpPr>
        <p:spPr bwMode="auto">
          <a:xfrm>
            <a:off x="5554668" y="776291"/>
            <a:ext cx="1540487" cy="422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400" b="1">
                <a:solidFill>
                  <a:schemeClr val="tx2"/>
                </a:solidFill>
                <a:latin typeface="Book Antiqua" pitchFamily="18" charset="0"/>
              </a:rPr>
              <a:t>The users</a:t>
            </a:r>
          </a:p>
        </p:txBody>
      </p:sp>
      <p:sp>
        <p:nvSpPr>
          <p:cNvPr id="219142" name="Rectangle 6"/>
          <p:cNvSpPr>
            <a:spLocks noChangeArrowheads="1"/>
          </p:cNvSpPr>
          <p:nvPr/>
        </p:nvSpPr>
        <p:spPr bwMode="auto">
          <a:xfrm>
            <a:off x="5032379" y="1223971"/>
            <a:ext cx="2704267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Book Antiqua" pitchFamily="18" charset="0"/>
              </a:rPr>
              <a:t>shells and commands</a:t>
            </a:r>
          </a:p>
        </p:txBody>
      </p:sp>
      <p:sp>
        <p:nvSpPr>
          <p:cNvPr id="219143" name="Rectangle 7"/>
          <p:cNvSpPr>
            <a:spLocks noChangeArrowheads="1"/>
          </p:cNvSpPr>
          <p:nvPr/>
        </p:nvSpPr>
        <p:spPr bwMode="auto">
          <a:xfrm>
            <a:off x="4718050" y="1462096"/>
            <a:ext cx="327173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Book Antiqua" pitchFamily="18" charset="0"/>
              </a:rPr>
              <a:t>compilers and interpreters</a:t>
            </a:r>
          </a:p>
        </p:txBody>
      </p:sp>
      <p:sp>
        <p:nvSpPr>
          <p:cNvPr id="219144" name="Rectangle 8"/>
          <p:cNvSpPr>
            <a:spLocks noChangeArrowheads="1"/>
          </p:cNvSpPr>
          <p:nvPr/>
        </p:nvSpPr>
        <p:spPr bwMode="auto">
          <a:xfrm>
            <a:off x="5268918" y="1757366"/>
            <a:ext cx="2039021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Book Antiqua" pitchFamily="18" charset="0"/>
              </a:rPr>
              <a:t>system libraries</a:t>
            </a:r>
          </a:p>
        </p:txBody>
      </p:sp>
      <p:sp>
        <p:nvSpPr>
          <p:cNvPr id="219145" name="Rectangle 9"/>
          <p:cNvSpPr>
            <a:spLocks noChangeArrowheads="1"/>
          </p:cNvSpPr>
          <p:nvPr/>
        </p:nvSpPr>
        <p:spPr bwMode="auto">
          <a:xfrm>
            <a:off x="3751263" y="2173291"/>
            <a:ext cx="5821362" cy="3330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219146" name="Rectangle 10"/>
          <p:cNvSpPr>
            <a:spLocks noChangeArrowheads="1"/>
          </p:cNvSpPr>
          <p:nvPr/>
        </p:nvSpPr>
        <p:spPr bwMode="auto">
          <a:xfrm>
            <a:off x="4537075" y="2109796"/>
            <a:ext cx="412452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C72F05"/>
                </a:solidFill>
                <a:latin typeface="Book Antiqua" pitchFamily="18" charset="0"/>
              </a:rPr>
              <a:t>system-call interface to the kernel</a:t>
            </a:r>
          </a:p>
        </p:txBody>
      </p:sp>
      <p:sp>
        <p:nvSpPr>
          <p:cNvPr id="219147" name="Rectangle 11"/>
          <p:cNvSpPr>
            <a:spLocks noChangeArrowheads="1"/>
          </p:cNvSpPr>
          <p:nvPr/>
        </p:nvSpPr>
        <p:spPr bwMode="auto">
          <a:xfrm>
            <a:off x="4376738" y="5076832"/>
            <a:ext cx="405559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C72F05"/>
                </a:solidFill>
                <a:latin typeface="Book Antiqua" pitchFamily="18" charset="0"/>
              </a:rPr>
              <a:t>kernel  interface to the hardware</a:t>
            </a:r>
            <a:r>
              <a:rPr lang="en-US" altLang="zh-TW" sz="2000" b="1">
                <a:latin typeface="Book Antiqua" pitchFamily="18" charset="0"/>
              </a:rPr>
              <a:t> </a:t>
            </a:r>
          </a:p>
        </p:txBody>
      </p:sp>
      <p:sp>
        <p:nvSpPr>
          <p:cNvPr id="21519" name="Rectangle 12"/>
          <p:cNvSpPr>
            <a:spLocks noChangeArrowheads="1"/>
          </p:cNvSpPr>
          <p:nvPr/>
        </p:nvSpPr>
        <p:spPr bwMode="auto">
          <a:xfrm>
            <a:off x="3748092" y="5557846"/>
            <a:ext cx="1920399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1500" b="1">
                <a:latin typeface="Book Antiqua" pitchFamily="18" charset="0"/>
              </a:rPr>
              <a:t>terminal controllers</a:t>
            </a:r>
          </a:p>
        </p:txBody>
      </p:sp>
      <p:sp>
        <p:nvSpPr>
          <p:cNvPr id="21520" name="Rectangle 13"/>
          <p:cNvSpPr>
            <a:spLocks noChangeArrowheads="1"/>
          </p:cNvSpPr>
          <p:nvPr/>
        </p:nvSpPr>
        <p:spPr bwMode="auto">
          <a:xfrm>
            <a:off x="5537198" y="5553083"/>
            <a:ext cx="1833836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1500" b="1">
                <a:latin typeface="Book Antiqua" pitchFamily="18" charset="0"/>
              </a:rPr>
              <a:t>  device controllers</a:t>
            </a:r>
          </a:p>
        </p:txBody>
      </p:sp>
      <p:sp>
        <p:nvSpPr>
          <p:cNvPr id="21521" name="Rectangle 14"/>
          <p:cNvSpPr>
            <a:spLocks noChangeArrowheads="1"/>
          </p:cNvSpPr>
          <p:nvPr/>
        </p:nvSpPr>
        <p:spPr bwMode="auto">
          <a:xfrm>
            <a:off x="7389817" y="5548321"/>
            <a:ext cx="1997343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1500" b="1">
                <a:latin typeface="Book Antiqua" pitchFamily="18" charset="0"/>
              </a:rPr>
              <a:t>  memory controllers</a:t>
            </a:r>
          </a:p>
        </p:txBody>
      </p:sp>
      <p:sp>
        <p:nvSpPr>
          <p:cNvPr id="21522" name="Line 15"/>
          <p:cNvSpPr>
            <a:spLocks noChangeShapeType="1"/>
          </p:cNvSpPr>
          <p:nvPr/>
        </p:nvSpPr>
        <p:spPr bwMode="auto">
          <a:xfrm>
            <a:off x="5662613" y="5459413"/>
            <a:ext cx="0" cy="830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23" name="Line 16"/>
          <p:cNvSpPr>
            <a:spLocks noChangeShapeType="1"/>
          </p:cNvSpPr>
          <p:nvPr/>
        </p:nvSpPr>
        <p:spPr bwMode="auto">
          <a:xfrm>
            <a:off x="7381875" y="5459413"/>
            <a:ext cx="0" cy="830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24" name="Rectangle 17"/>
          <p:cNvSpPr>
            <a:spLocks noChangeArrowheads="1"/>
          </p:cNvSpPr>
          <p:nvPr/>
        </p:nvSpPr>
        <p:spPr bwMode="auto">
          <a:xfrm>
            <a:off x="4149726" y="5886458"/>
            <a:ext cx="5027018" cy="29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1500" b="1">
                <a:latin typeface="Book Antiqua" pitchFamily="18" charset="0"/>
              </a:rPr>
              <a:t>terminals             devices and tapes       physical memory</a:t>
            </a:r>
          </a:p>
        </p:txBody>
      </p:sp>
      <p:sp>
        <p:nvSpPr>
          <p:cNvPr id="219154" name="Rectangle 18"/>
          <p:cNvSpPr>
            <a:spLocks noChangeArrowheads="1"/>
          </p:cNvSpPr>
          <p:nvPr/>
        </p:nvSpPr>
        <p:spPr bwMode="auto">
          <a:xfrm>
            <a:off x="3871917" y="2838450"/>
            <a:ext cx="5307544" cy="1400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signals </a:t>
            </a:r>
            <a:r>
              <a:rPr lang="en-US" altLang="zh-TW" sz="2000" b="1">
                <a:latin typeface="Book Antiqua" pitchFamily="18" charset="0"/>
              </a:rPr>
              <a:t>         file system     </a:t>
            </a: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CPU scheduling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terminal </a:t>
            </a:r>
            <a:r>
              <a:rPr lang="en-US" altLang="zh-TW" sz="1400" b="1">
                <a:solidFill>
                  <a:srgbClr val="FF0066"/>
                </a:solidFill>
                <a:latin typeface="Book Antiqua" pitchFamily="18" charset="0"/>
              </a:rPr>
              <a:t>        </a:t>
            </a:r>
            <a:r>
              <a:rPr lang="en-US" altLang="zh-TW" sz="1400" b="1">
                <a:solidFill>
                  <a:srgbClr val="0000FF"/>
                </a:solidFill>
                <a:latin typeface="Book Antiqua" pitchFamily="18" charset="0"/>
              </a:rPr>
              <a:t> </a:t>
            </a: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swapping</a:t>
            </a: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     </a:t>
            </a: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page</a:t>
            </a: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 </a:t>
            </a: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replacement</a:t>
            </a:r>
            <a:r>
              <a:rPr lang="en-US" altLang="zh-TW" sz="2000" b="1">
                <a:solidFill>
                  <a:srgbClr val="FF0066"/>
                </a:solidFill>
                <a:latin typeface="Book Antiqua" pitchFamily="18" charset="0"/>
              </a:rPr>
              <a:t>  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1600">
                <a:solidFill>
                  <a:srgbClr val="FF0066"/>
                </a:solidFill>
              </a:rPr>
              <a:t>Handling</a:t>
            </a:r>
          </a:p>
          <a:p>
            <a:pPr latinLnBrk="1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endParaRPr lang="en-US" altLang="zh-TW" sz="2000" b="1">
              <a:latin typeface="Book Antiqua" pitchFamily="18" charset="0"/>
            </a:endParaRPr>
          </a:p>
        </p:txBody>
      </p:sp>
      <p:sp>
        <p:nvSpPr>
          <p:cNvPr id="219156" name="Rectangle 20"/>
          <p:cNvSpPr>
            <a:spLocks noChangeArrowheads="1"/>
          </p:cNvSpPr>
          <p:nvPr/>
        </p:nvSpPr>
        <p:spPr bwMode="auto">
          <a:xfrm>
            <a:off x="3762375" y="3824295"/>
            <a:ext cx="5355634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 </a:t>
            </a:r>
            <a:r>
              <a:rPr lang="en-US" altLang="zh-TW" sz="2000" b="1">
                <a:solidFill>
                  <a:srgbClr val="336633"/>
                </a:solidFill>
                <a:latin typeface="Book Antiqua" pitchFamily="18" charset="0"/>
              </a:rPr>
              <a:t>char I/O           block I/O</a:t>
            </a:r>
            <a:r>
              <a:rPr lang="en-US" altLang="zh-TW" sz="2000" b="1">
                <a:latin typeface="Book Antiqua" pitchFamily="18" charset="0"/>
              </a:rPr>
              <a:t>        </a:t>
            </a: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demand paging</a:t>
            </a:r>
          </a:p>
        </p:txBody>
      </p:sp>
      <p:sp>
        <p:nvSpPr>
          <p:cNvPr id="219157" name="Rectangle 21"/>
          <p:cNvSpPr>
            <a:spLocks noChangeArrowheads="1"/>
          </p:cNvSpPr>
          <p:nvPr/>
        </p:nvSpPr>
        <p:spPr bwMode="auto">
          <a:xfrm>
            <a:off x="3902078" y="4195771"/>
            <a:ext cx="4504439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336633"/>
                </a:solidFill>
                <a:latin typeface="Book Antiqua" pitchFamily="18" charset="0"/>
              </a:rPr>
              <a:t>terminal </a:t>
            </a:r>
            <a:r>
              <a:rPr lang="en-US" altLang="zh-TW" sz="2000" b="1">
                <a:latin typeface="Book Antiqua" pitchFamily="18" charset="0"/>
              </a:rPr>
              <a:t>     </a:t>
            </a:r>
            <a:r>
              <a:rPr lang="en-US" altLang="zh-TW" sz="2000" b="1">
                <a:solidFill>
                  <a:srgbClr val="336633"/>
                </a:solidFill>
                <a:latin typeface="Book Antiqua" pitchFamily="18" charset="0"/>
              </a:rPr>
              <a:t>disk and tape</a:t>
            </a:r>
            <a:r>
              <a:rPr lang="en-US" altLang="zh-TW" sz="2000" b="1">
                <a:latin typeface="Book Antiqua" pitchFamily="18" charset="0"/>
              </a:rPr>
              <a:t>         </a:t>
            </a: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virtual</a:t>
            </a:r>
          </a:p>
        </p:txBody>
      </p:sp>
      <p:sp>
        <p:nvSpPr>
          <p:cNvPr id="219158" name="Rectangle 22"/>
          <p:cNvSpPr>
            <a:spLocks noChangeArrowheads="1"/>
          </p:cNvSpPr>
          <p:nvPr/>
        </p:nvSpPr>
        <p:spPr bwMode="auto">
          <a:xfrm>
            <a:off x="3963992" y="4424371"/>
            <a:ext cx="4533293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336633"/>
                </a:solidFill>
                <a:latin typeface="Book Antiqua" pitchFamily="18" charset="0"/>
              </a:rPr>
              <a:t>drivers              drivers</a:t>
            </a:r>
            <a:r>
              <a:rPr lang="en-US" altLang="zh-TW" sz="2000" b="1">
                <a:latin typeface="Book Antiqua" pitchFamily="18" charset="0"/>
              </a:rPr>
              <a:t>             </a:t>
            </a:r>
            <a:r>
              <a:rPr lang="en-US" altLang="zh-TW" sz="2000" b="1">
                <a:solidFill>
                  <a:srgbClr val="0000FF"/>
                </a:solidFill>
                <a:latin typeface="Book Antiqua" pitchFamily="18" charset="0"/>
              </a:rPr>
              <a:t>memory</a:t>
            </a:r>
          </a:p>
        </p:txBody>
      </p:sp>
      <p:sp>
        <p:nvSpPr>
          <p:cNvPr id="21529" name="Rectangle 23"/>
          <p:cNvSpPr>
            <a:spLocks noChangeArrowheads="1"/>
          </p:cNvSpPr>
          <p:nvPr/>
        </p:nvSpPr>
        <p:spPr bwMode="auto">
          <a:xfrm>
            <a:off x="1651000" y="3473450"/>
            <a:ext cx="11414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kernel</a:t>
            </a:r>
          </a:p>
        </p:txBody>
      </p:sp>
      <p:sp>
        <p:nvSpPr>
          <p:cNvPr id="21530" name="Text Box 24"/>
          <p:cNvSpPr txBox="1">
            <a:spLocks noChangeArrowheads="1"/>
          </p:cNvSpPr>
          <p:nvPr/>
        </p:nvSpPr>
        <p:spPr bwMode="auto">
          <a:xfrm>
            <a:off x="1603378" y="5641976"/>
            <a:ext cx="12955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hardware</a:t>
            </a:r>
          </a:p>
        </p:txBody>
      </p:sp>
      <p:sp>
        <p:nvSpPr>
          <p:cNvPr id="21531" name="Line 25"/>
          <p:cNvSpPr>
            <a:spLocks noChangeShapeType="1"/>
          </p:cNvSpPr>
          <p:nvPr/>
        </p:nvSpPr>
        <p:spPr bwMode="auto">
          <a:xfrm>
            <a:off x="3775075" y="5053013"/>
            <a:ext cx="57991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32" name="Line 26"/>
          <p:cNvSpPr>
            <a:spLocks noChangeShapeType="1"/>
          </p:cNvSpPr>
          <p:nvPr/>
        </p:nvSpPr>
        <p:spPr bwMode="auto">
          <a:xfrm>
            <a:off x="3775075" y="2538413"/>
            <a:ext cx="57991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33" name="Line 27"/>
          <p:cNvSpPr>
            <a:spLocks noChangeShapeType="1"/>
          </p:cNvSpPr>
          <p:nvPr/>
        </p:nvSpPr>
        <p:spPr bwMode="auto">
          <a:xfrm flipV="1">
            <a:off x="3008316" y="3209925"/>
            <a:ext cx="676275" cy="463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34" name="Line 28"/>
          <p:cNvSpPr>
            <a:spLocks noChangeShapeType="1"/>
          </p:cNvSpPr>
          <p:nvPr/>
        </p:nvSpPr>
        <p:spPr bwMode="auto">
          <a:xfrm>
            <a:off x="3008314" y="3644900"/>
            <a:ext cx="723900" cy="1606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35" name="Text Box 29"/>
          <p:cNvSpPr txBox="1">
            <a:spLocks noChangeArrowheads="1"/>
          </p:cNvSpPr>
          <p:nvPr/>
        </p:nvSpPr>
        <p:spPr bwMode="auto">
          <a:xfrm>
            <a:off x="1394546" y="1808170"/>
            <a:ext cx="12955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system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Book Antiqua" pitchFamily="18" charset="0"/>
              </a:rPr>
              <a:t>programs</a:t>
            </a:r>
          </a:p>
        </p:txBody>
      </p:sp>
      <p:sp>
        <p:nvSpPr>
          <p:cNvPr id="21536" name="Line 30"/>
          <p:cNvSpPr>
            <a:spLocks noChangeShapeType="1"/>
          </p:cNvSpPr>
          <p:nvPr/>
        </p:nvSpPr>
        <p:spPr bwMode="auto">
          <a:xfrm flipV="1">
            <a:off x="2867029" y="1793875"/>
            <a:ext cx="676275" cy="463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37" name="Text Box 31"/>
          <p:cNvSpPr txBox="1">
            <a:spLocks noChangeArrowheads="1"/>
          </p:cNvSpPr>
          <p:nvPr/>
        </p:nvSpPr>
        <p:spPr bwMode="auto">
          <a:xfrm>
            <a:off x="701676" y="3489326"/>
            <a:ext cx="4828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(1)</a:t>
            </a:r>
          </a:p>
        </p:txBody>
      </p:sp>
      <p:sp>
        <p:nvSpPr>
          <p:cNvPr id="21538" name="Text Box 32"/>
          <p:cNvSpPr txBox="1">
            <a:spLocks noChangeArrowheads="1"/>
          </p:cNvSpPr>
          <p:nvPr/>
        </p:nvSpPr>
        <p:spPr bwMode="auto">
          <a:xfrm>
            <a:off x="665164" y="2043113"/>
            <a:ext cx="4828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pitchFamily="18" charset="0"/>
              </a:rPr>
              <a:t>(2)</a:t>
            </a:r>
          </a:p>
        </p:txBody>
      </p:sp>
      <p:sp>
        <p:nvSpPr>
          <p:cNvPr id="21539" name="Line 33"/>
          <p:cNvSpPr>
            <a:spLocks noChangeShapeType="1"/>
          </p:cNvSpPr>
          <p:nvPr/>
        </p:nvSpPr>
        <p:spPr bwMode="auto">
          <a:xfrm flipV="1">
            <a:off x="3019429" y="2339975"/>
            <a:ext cx="657225" cy="132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4769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9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9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9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9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9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9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9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9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2" grpId="0"/>
      <p:bldP spid="219143" grpId="0"/>
      <p:bldP spid="219146" grpId="0"/>
      <p:bldP spid="219147" grpId="0"/>
      <p:bldP spid="219154" grpId="0"/>
      <p:bldP spid="219156" grpId="0"/>
      <p:bldP spid="219157" grpId="0"/>
      <p:bldP spid="21915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E66ADF4-A363-4CBE-97F5-EBD50DB3C6F3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552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553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0B24315-9867-4B02-8840-DA53D99B43BB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kumimoji="0" lang="en-US" altLang="zh-TW" sz="1400" smtClean="0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1" y="503238"/>
            <a:ext cx="8564563" cy="708025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solidFill>
                  <a:srgbClr val="0066FF"/>
                </a:solidFill>
              </a:rPr>
              <a:t>Computer-system Architecture</a:t>
            </a:r>
          </a:p>
        </p:txBody>
      </p:sp>
      <p:sp>
        <p:nvSpPr>
          <p:cNvPr id="5530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solidFill>
                  <a:srgbClr val="0066FF"/>
                </a:solidFill>
              </a:rPr>
              <a:t>Single-processor Systems</a:t>
            </a:r>
          </a:p>
          <a:p>
            <a:pPr lvl="1" eaLnBrk="1" hangingPunct="1"/>
            <a:r>
              <a:rPr lang="en-US" altLang="zh-TW" smtClean="0">
                <a:solidFill>
                  <a:srgbClr val="0066FF"/>
                </a:solidFill>
              </a:rPr>
              <a:t>PCs</a:t>
            </a:r>
          </a:p>
          <a:p>
            <a:pPr lvl="1" eaLnBrk="1" hangingPunct="1"/>
            <a:endParaRPr lang="en-US" altLang="zh-TW" smtClean="0">
              <a:solidFill>
                <a:srgbClr val="0066FF"/>
              </a:solidFill>
            </a:endParaRPr>
          </a:p>
          <a:p>
            <a:pPr eaLnBrk="1" hangingPunct="1"/>
            <a:r>
              <a:rPr lang="en-US" altLang="zh-TW" smtClean="0">
                <a:solidFill>
                  <a:srgbClr val="0066FF"/>
                </a:solidFill>
              </a:rPr>
              <a:t>Multiprocessor Systems</a:t>
            </a:r>
          </a:p>
          <a:p>
            <a:pPr lvl="1" eaLnBrk="1" hangingPunct="1"/>
            <a:r>
              <a:rPr lang="en-US" altLang="zh-TW" smtClean="0">
                <a:solidFill>
                  <a:srgbClr val="0066FF"/>
                </a:solidFill>
              </a:rPr>
              <a:t>Parallel Systems or Tightly Coupled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2CFF915-1ABE-45F6-B6EA-2A86A3EC35AE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563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563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A740D22-C75E-4C8D-90FB-5796ABD7D208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kumimoji="0" lang="en-US" altLang="zh-TW" sz="1400" smtClean="0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8"/>
            <a:ext cx="8420100" cy="746125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Desktop Systems</a:t>
            </a:r>
          </a:p>
        </p:txBody>
      </p:sp>
      <p:sp>
        <p:nvSpPr>
          <p:cNvPr id="290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96918" y="963613"/>
            <a:ext cx="8721725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6000750" algn="l"/>
              </a:tabLst>
            </a:pPr>
            <a:r>
              <a:rPr lang="en-US" altLang="zh-TW" sz="2800" i="1" smtClean="0">
                <a:solidFill>
                  <a:srgbClr val="FF0066"/>
                </a:solidFill>
              </a:rPr>
              <a:t>Personal computers</a:t>
            </a:r>
            <a:r>
              <a:rPr lang="en-US" altLang="zh-TW" sz="2800" smtClean="0"/>
              <a:t> (PC)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computer system dedicated to </a:t>
            </a:r>
            <a:r>
              <a:rPr lang="en-US" altLang="zh-TW" sz="2800" smtClean="0">
                <a:solidFill>
                  <a:srgbClr val="FF0066"/>
                </a:solidFill>
              </a:rPr>
              <a:t>a single user</a:t>
            </a:r>
            <a:r>
              <a:rPr lang="en-US" altLang="zh-TW" sz="280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6000750" algn="l"/>
              </a:tabLst>
            </a:pPr>
            <a:r>
              <a:rPr lang="en-US" altLang="zh-TW" sz="2800" smtClean="0"/>
              <a:t>I/O devices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keyboards, </a:t>
            </a:r>
            <a:r>
              <a:rPr lang="en-US" altLang="zh-TW" sz="2800" b="1" smtClean="0">
                <a:solidFill>
                  <a:srgbClr val="FF0066"/>
                </a:solidFill>
              </a:rPr>
              <a:t>mice</a:t>
            </a:r>
            <a:r>
              <a:rPr lang="en-US" altLang="zh-TW" sz="2800" smtClean="0"/>
              <a:t>, display screens, small printers.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6000750" algn="l"/>
              </a:tabLst>
            </a:pPr>
            <a:r>
              <a:rPr lang="en-US" altLang="zh-TW" sz="2800" smtClean="0">
                <a:solidFill>
                  <a:srgbClr val="0000FF"/>
                </a:solidFill>
              </a:rPr>
              <a:t>User convenience and responsiveness</a:t>
            </a:r>
            <a:r>
              <a:rPr lang="en-US" altLang="zh-TW" sz="280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6000750" algn="l"/>
              </a:tabLst>
            </a:pPr>
            <a:r>
              <a:rPr lang="en-US" altLang="zh-TW" sz="2800" smtClean="0"/>
              <a:t>Can adopt technology developed for larger operating system, often individuals have sole use of computer and </a:t>
            </a:r>
            <a:r>
              <a:rPr lang="en-US" altLang="zh-TW" sz="2800" smtClean="0">
                <a:solidFill>
                  <a:srgbClr val="FF0066"/>
                </a:solidFill>
              </a:rPr>
              <a:t>do not need advanced CPU utilization of protection features</a:t>
            </a:r>
            <a:r>
              <a:rPr lang="en-US" altLang="zh-TW" sz="280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6000750" algn="l"/>
              </a:tabLst>
            </a:pPr>
            <a:r>
              <a:rPr lang="en-US" altLang="zh-TW" sz="2800" smtClean="0"/>
              <a:t>May run several different types of operating systems (Windows, MacOS, UNIX, Linux)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0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0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0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8C955AC-5889-4126-9695-7EF9FA7E52E3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573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573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1271332-EA05-4C39-BA7C-7E0FB7D5E5A5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kumimoji="0" lang="en-US" altLang="zh-TW" sz="1400" smtClean="0"/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43" y="254000"/>
            <a:ext cx="8891587" cy="889000"/>
          </a:xfrm>
        </p:spPr>
        <p:txBody>
          <a:bodyPr/>
          <a:lstStyle/>
          <a:p>
            <a:pPr eaLnBrk="1" hangingPunct="1"/>
            <a:r>
              <a:rPr lang="en-US" altLang="zh-TW" sz="4800" smtClean="0"/>
              <a:t>Personal-Computer Systems</a:t>
            </a:r>
          </a:p>
        </p:txBody>
      </p:sp>
      <p:sp>
        <p:nvSpPr>
          <p:cNvPr id="2928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5505" y="1301750"/>
            <a:ext cx="8716963" cy="4978400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sz="2800" smtClean="0">
                <a:solidFill>
                  <a:srgbClr val="FF0066"/>
                </a:solidFill>
              </a:rPr>
              <a:t>PCs: appeared in the 1970s, instead of maximizing CPU and peripheral utilization, the systems opt for </a:t>
            </a:r>
            <a:r>
              <a:rPr lang="en-US" altLang="zh-TW" sz="2800" smtClean="0">
                <a:solidFill>
                  <a:srgbClr val="FF0066"/>
                </a:solidFill>
                <a:latin typeface="Comic Sans MS" pitchFamily="66" charset="0"/>
              </a:rPr>
              <a:t>maximizing user convenience and responsiveness</a:t>
            </a:r>
            <a:r>
              <a:rPr lang="en-US" altLang="zh-TW" sz="2800" smtClean="0">
                <a:solidFill>
                  <a:srgbClr val="FF0066"/>
                </a:solidFill>
              </a:rPr>
              <a:t>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MS-DOS, </a:t>
            </a:r>
            <a:r>
              <a:rPr lang="en-US" altLang="zh-TW" sz="2400" smtClean="0"/>
              <a:t>OS/2</a:t>
            </a:r>
            <a:r>
              <a:rPr lang="en-US" altLang="zh-TW" sz="2800" smtClean="0"/>
              <a:t>, MacOS, Windows, Linux, Android, </a:t>
            </a:r>
            <a:r>
              <a:rPr lang="en-US" altLang="zh-TW" sz="2800" smtClean="0">
                <a:latin typeface="Times New Roman" pitchFamily="18" charset="0"/>
              </a:rPr>
              <a:t>…</a:t>
            </a:r>
            <a:endParaRPr lang="en-US" altLang="zh-TW" sz="2800" smtClean="0"/>
          </a:p>
          <a:p>
            <a:pPr eaLnBrk="1" hangingPunct="1">
              <a:spcBef>
                <a:spcPct val="60000"/>
              </a:spcBef>
            </a:pPr>
            <a:r>
              <a:rPr lang="en-US" altLang="zh-TW" sz="3600" smtClean="0">
                <a:solidFill>
                  <a:srgbClr val="FF0066"/>
                </a:solidFill>
              </a:rPr>
              <a:t>GUI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Lack of file protection at first: destroy data, system or even worldwide networks via virus mechanisms.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LAN, </a:t>
            </a:r>
            <a:r>
              <a:rPr lang="en-US" altLang="zh-TW" b="1" smtClean="0">
                <a:solidFill>
                  <a:srgbClr val="FF0066"/>
                </a:solidFill>
              </a:rPr>
              <a:t>Internet</a:t>
            </a:r>
            <a:r>
              <a:rPr lang="en-US" altLang="zh-TW" sz="2800" smtClean="0"/>
              <a:t>, </a:t>
            </a:r>
            <a:r>
              <a:rPr lang="en-US" altLang="zh-TW" b="1" smtClean="0">
                <a:solidFill>
                  <a:srgbClr val="FF0066"/>
                </a:solidFill>
              </a:rPr>
              <a:t>browser</a:t>
            </a:r>
            <a:r>
              <a:rPr lang="en-US" altLang="zh-TW" smtClean="0"/>
              <a:t>,</a:t>
            </a:r>
            <a:r>
              <a:rPr lang="en-US" altLang="zh-TW" b="1" smtClean="0">
                <a:solidFill>
                  <a:srgbClr val="FF0066"/>
                </a:solidFill>
              </a:rPr>
              <a:t> </a:t>
            </a:r>
            <a:r>
              <a:rPr lang="en-US" altLang="zh-TW" sz="2800" b="1" smtClean="0">
                <a:solidFill>
                  <a:srgbClr val="FF0066"/>
                </a:solidFill>
              </a:rPr>
              <a:t>Social Networks</a:t>
            </a:r>
            <a:r>
              <a:rPr lang="en-US" altLang="zh-TW" sz="2800" smtClean="0"/>
              <a:t>, …</a:t>
            </a:r>
            <a:endParaRPr lang="en-US" altLang="zh-TW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2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2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2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2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2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2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7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3FB183D-7B6E-40AE-8213-4D1C33BCC262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583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583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5F70A48-C976-47E4-B744-83DE18780256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kumimoji="0" lang="en-US" altLang="zh-TW" sz="1400" smtClean="0"/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8"/>
            <a:ext cx="8420100" cy="854075"/>
          </a:xfrm>
        </p:spPr>
        <p:txBody>
          <a:bodyPr/>
          <a:lstStyle/>
          <a:p>
            <a:pPr eaLnBrk="1" hangingPunct="1"/>
            <a:r>
              <a:rPr lang="en-US" altLang="zh-TW" smtClean="0"/>
              <a:t>Parallel Systems (1)</a:t>
            </a:r>
          </a:p>
        </p:txBody>
      </p:sp>
      <p:sp>
        <p:nvSpPr>
          <p:cNvPr id="2949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7679" y="1082675"/>
            <a:ext cx="9129713" cy="52720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b="1" smtClean="0">
                <a:solidFill>
                  <a:srgbClr val="FF0066"/>
                </a:solidFill>
              </a:rPr>
              <a:t>Multiprocessor</a:t>
            </a:r>
            <a:r>
              <a:rPr lang="en-US" altLang="zh-TW" smtClean="0"/>
              <a:t> systems with more than one CPU in </a:t>
            </a:r>
            <a:r>
              <a:rPr lang="en-US" altLang="zh-TW" smtClean="0">
                <a:solidFill>
                  <a:srgbClr val="FF0066"/>
                </a:solidFill>
              </a:rPr>
              <a:t>close</a:t>
            </a:r>
            <a:r>
              <a:rPr lang="en-US" altLang="zh-TW" smtClean="0"/>
              <a:t> communication.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i="1" smtClean="0">
                <a:solidFill>
                  <a:srgbClr val="FF0066"/>
                </a:solidFill>
              </a:rPr>
              <a:t>Tightly coupled system</a:t>
            </a:r>
            <a:r>
              <a:rPr lang="en-US" altLang="zh-TW" smtClean="0"/>
              <a:t> </a:t>
            </a:r>
            <a:r>
              <a:rPr lang="en-US" altLang="zh-TW" smtClean="0">
                <a:latin typeface="Helvetica" pitchFamily="34" charset="0"/>
              </a:rPr>
              <a:t>–</a:t>
            </a:r>
            <a:r>
              <a:rPr lang="en-US" altLang="zh-TW" smtClean="0"/>
              <a:t> processors share </a:t>
            </a:r>
            <a:r>
              <a:rPr lang="en-US" altLang="zh-TW" smtClean="0">
                <a:solidFill>
                  <a:srgbClr val="FF0066"/>
                </a:solidFill>
              </a:rPr>
              <a:t>memory</a:t>
            </a:r>
            <a:r>
              <a:rPr lang="en-US" altLang="zh-TW" smtClean="0"/>
              <a:t> and a </a:t>
            </a:r>
            <a:r>
              <a:rPr lang="en-US" altLang="zh-TW" smtClean="0">
                <a:solidFill>
                  <a:srgbClr val="FF0066"/>
                </a:solidFill>
              </a:rPr>
              <a:t>clock</a:t>
            </a:r>
            <a:r>
              <a:rPr lang="en-US" altLang="zh-TW" smtClean="0"/>
              <a:t>; communication usually takes place through the </a:t>
            </a:r>
            <a:r>
              <a:rPr lang="en-US" altLang="zh-TW" smtClean="0">
                <a:solidFill>
                  <a:srgbClr val="FF0066"/>
                </a:solidFill>
              </a:rPr>
              <a:t>shared memory</a:t>
            </a:r>
            <a:r>
              <a:rPr lang="en-US" altLang="zh-TW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/>
              <a:t>Advantages of parallel systems: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Increased </a:t>
            </a:r>
            <a:r>
              <a:rPr lang="en-US" altLang="zh-TW" b="1" i="1" smtClean="0">
                <a:solidFill>
                  <a:srgbClr val="FF0066"/>
                </a:solidFill>
              </a:rPr>
              <a:t>throughput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b="1" smtClean="0">
                <a:solidFill>
                  <a:srgbClr val="FF0066"/>
                </a:solidFill>
              </a:rPr>
              <a:t>Economical</a:t>
            </a:r>
            <a:endParaRPr lang="en-US" altLang="zh-TW" i="1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Increased </a:t>
            </a:r>
            <a:r>
              <a:rPr lang="en-US" altLang="zh-TW" b="1" smtClean="0">
                <a:solidFill>
                  <a:srgbClr val="FF0066"/>
                </a:solidFill>
              </a:rPr>
              <a:t>reliability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mtClean="0"/>
              <a:t>graceful degradation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4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4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4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4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4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4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4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4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4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4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4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4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4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4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271BEC2-0C0B-4FF2-8BA6-A39D2F1F6A31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593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593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923B1A0-DE77-4912-ABC3-D2C1B97E60DE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kumimoji="0" lang="en-US" altLang="zh-TW" sz="1400" smtClean="0"/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Parallel Systems (2)</a:t>
            </a:r>
          </a:p>
        </p:txBody>
      </p:sp>
      <p:sp>
        <p:nvSpPr>
          <p:cNvPr id="2969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49304" y="1601788"/>
            <a:ext cx="8428038" cy="46355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b="1" i="1" dirty="0" smtClean="0">
                <a:solidFill>
                  <a:srgbClr val="FF0066"/>
                </a:solidFill>
              </a:rPr>
              <a:t>Symmetric multiprocessing</a:t>
            </a:r>
            <a:r>
              <a:rPr lang="en-US" altLang="zh-TW" sz="2800" i="1" dirty="0" smtClean="0"/>
              <a:t> (SMP)</a:t>
            </a:r>
            <a:endParaRPr lang="en-US" altLang="zh-TW" sz="28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 smtClean="0"/>
              <a:t>Each processor runs an </a:t>
            </a:r>
            <a:r>
              <a:rPr lang="en-US" altLang="zh-TW" sz="2400" dirty="0" smtClean="0">
                <a:solidFill>
                  <a:srgbClr val="FF0066"/>
                </a:solidFill>
              </a:rPr>
              <a:t>identical copy</a:t>
            </a:r>
            <a:r>
              <a:rPr lang="en-US" altLang="zh-TW" sz="2400" dirty="0" smtClean="0"/>
              <a:t> of the operating system.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 smtClean="0"/>
              <a:t>Many processes can run at once without </a:t>
            </a:r>
            <a:r>
              <a:rPr lang="en-US" altLang="zh-TW" sz="2400" dirty="0" smtClean="0">
                <a:solidFill>
                  <a:srgbClr val="FF0066"/>
                </a:solidFill>
              </a:rPr>
              <a:t>performance deterioration</a:t>
            </a:r>
            <a:r>
              <a:rPr lang="en-US" altLang="zh-TW" sz="2400" dirty="0" smtClean="0"/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 smtClean="0"/>
              <a:t>Most modern operating systems support SMP, Solaris 2, </a:t>
            </a:r>
            <a:r>
              <a:rPr lang="en-US" altLang="zh-TW" sz="2400" dirty="0" smtClean="0">
                <a:latin typeface="Times New Roman" pitchFamily="18" charset="0"/>
              </a:rPr>
              <a:t>…</a:t>
            </a:r>
            <a:endParaRPr lang="en-US" altLang="zh-TW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altLang="zh-TW" sz="2800" b="1" i="1" dirty="0" smtClean="0">
                <a:solidFill>
                  <a:srgbClr val="FF0066"/>
                </a:solidFill>
              </a:rPr>
              <a:t>Asymmetric multiprocessing</a:t>
            </a:r>
            <a:endParaRPr lang="en-US" altLang="zh-TW" sz="2800" b="1" dirty="0" smtClean="0">
              <a:solidFill>
                <a:srgbClr val="FF0066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400" dirty="0" smtClean="0"/>
              <a:t>Each processor is assigned a specific task; </a:t>
            </a:r>
            <a:r>
              <a:rPr lang="en-US" altLang="zh-TW" sz="2400" dirty="0" smtClean="0">
                <a:solidFill>
                  <a:srgbClr val="FF0066"/>
                </a:solidFill>
              </a:rPr>
              <a:t>master</a:t>
            </a:r>
            <a:r>
              <a:rPr lang="en-US" altLang="zh-TW" sz="2400" dirty="0" smtClean="0"/>
              <a:t> processor schedules and allocated work to </a:t>
            </a:r>
            <a:r>
              <a:rPr lang="en-US" altLang="zh-TW" sz="2400" dirty="0" smtClean="0">
                <a:solidFill>
                  <a:srgbClr val="0066FF"/>
                </a:solidFill>
              </a:rPr>
              <a:t>slave</a:t>
            </a:r>
            <a:r>
              <a:rPr lang="en-US" altLang="zh-TW" sz="2400" dirty="0" smtClean="0"/>
              <a:t> processors.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400" dirty="0" smtClean="0"/>
              <a:t>More common in extremely large systems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400" dirty="0" smtClean="0"/>
              <a:t>Grid computing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863997"/>
            <a:ext cx="3771900" cy="541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968" y="864001"/>
            <a:ext cx="1735137" cy="162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0" y="2563318"/>
            <a:ext cx="2562225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44" y="1497406"/>
            <a:ext cx="3463233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9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9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9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9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9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9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9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9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9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96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96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96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96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80958D7-6F97-4685-BA76-8E4FD6E7B604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60419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6042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8F45438-F915-49D9-A34A-02CEDF9B8A3B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kumimoji="0" lang="en-US" altLang="zh-TW" sz="1400" smtClean="0"/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9" y="754071"/>
            <a:ext cx="9012238" cy="763587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Symmetric Multiprocessing Architecture</a:t>
            </a:r>
          </a:p>
        </p:txBody>
      </p:sp>
      <p:pic>
        <p:nvPicPr>
          <p:cNvPr id="60422" name="Picture 4" descr="fg1_06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42" y="2176468"/>
            <a:ext cx="8231187" cy="394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423" name="Text Box 5"/>
          <p:cNvSpPr txBox="1">
            <a:spLocks noChangeArrowheads="1"/>
          </p:cNvSpPr>
          <p:nvPr/>
        </p:nvSpPr>
        <p:spPr bwMode="auto">
          <a:xfrm>
            <a:off x="700092" y="1554164"/>
            <a:ext cx="92059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66"/>
                </a:solidFill>
              </a:rPr>
              <a:t>All processors are peer; no master-slave relationship exists between processors.</a:t>
            </a:r>
            <a:r>
              <a:rPr lang="en-US" altLang="zh-TW" sz="2400"/>
              <a:t> </a:t>
            </a:r>
          </a:p>
        </p:txBody>
      </p:sp>
      <p:sp>
        <p:nvSpPr>
          <p:cNvPr id="60424" name="Text Box 6"/>
          <p:cNvSpPr txBox="1">
            <a:spLocks noChangeArrowheads="1"/>
          </p:cNvSpPr>
          <p:nvPr/>
        </p:nvSpPr>
        <p:spPr bwMode="auto">
          <a:xfrm>
            <a:off x="5981700" y="5389571"/>
            <a:ext cx="281301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66"/>
                </a:solidFill>
              </a:rPr>
              <a:t>Shared dynamically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66"/>
                </a:solidFill>
              </a:rPr>
              <a:t>Among PEs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F33F6C0-8264-4FB8-98E2-A61138059DBF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6144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614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43F6256-CA5D-4ACE-89E7-731DAB32BBF9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kumimoji="0" lang="en-US" altLang="zh-TW" sz="1400" smtClean="0"/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1" y="304800"/>
            <a:ext cx="8816975" cy="1143000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solidFill>
                  <a:srgbClr val="0000FF"/>
                </a:solidFill>
              </a:rPr>
              <a:t>Uniform Memory Access VS.</a:t>
            </a:r>
            <a:br>
              <a:rPr lang="en-US" altLang="zh-TW" sz="4000" smtClean="0">
                <a:solidFill>
                  <a:srgbClr val="0000FF"/>
                </a:solidFill>
              </a:rPr>
            </a:br>
            <a:r>
              <a:rPr lang="en-US" altLang="zh-TW" sz="4000" smtClean="0">
                <a:solidFill>
                  <a:srgbClr val="FF0066"/>
                </a:solidFill>
              </a:rPr>
              <a:t>Non-Uniform Memory Access (NUMA)</a:t>
            </a:r>
          </a:p>
        </p:txBody>
      </p:sp>
      <p:sp>
        <p:nvSpPr>
          <p:cNvPr id="3143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49304" y="1601788"/>
            <a:ext cx="8428038" cy="4635500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0000FF"/>
                </a:solidFill>
              </a:rPr>
              <a:t>Uniform Memory Access (UMA)</a:t>
            </a:r>
            <a:endParaRPr lang="en-US" altLang="zh-TW" smtClean="0"/>
          </a:p>
          <a:p>
            <a:pPr lvl="1" eaLnBrk="1" hangingPunct="1"/>
            <a:r>
              <a:rPr lang="en-US" altLang="zh-TW" smtClean="0"/>
              <a:t>Access to any RAM from any CPU (or Core) takes the </a:t>
            </a:r>
            <a:r>
              <a:rPr lang="en-US" altLang="zh-TW" smtClean="0">
                <a:solidFill>
                  <a:srgbClr val="0000FF"/>
                </a:solidFill>
              </a:rPr>
              <a:t>same amount of time</a:t>
            </a:r>
            <a:r>
              <a:rPr lang="en-US" altLang="zh-TW" smtClean="0"/>
              <a:t>.</a:t>
            </a:r>
          </a:p>
          <a:p>
            <a:pPr lvl="1" eaLnBrk="1" hangingPunct="1"/>
            <a:endParaRPr lang="en-US" altLang="zh-TW" smtClean="0"/>
          </a:p>
          <a:p>
            <a:pPr eaLnBrk="1" hangingPunct="1"/>
            <a:r>
              <a:rPr lang="en-US" altLang="zh-TW" smtClean="0">
                <a:solidFill>
                  <a:srgbClr val="FF0066"/>
                </a:solidFill>
              </a:rPr>
              <a:t>Non-Uniform Memory Access (NUMA)</a:t>
            </a:r>
            <a:endParaRPr lang="en-US" altLang="zh-TW" b="1" smtClean="0">
              <a:solidFill>
                <a:srgbClr val="FF0066"/>
              </a:solidFill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TW" smtClean="0"/>
              <a:t>Some part of memory may take longer access than other parts, creating a performance penalty. (Section 9.5.4)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4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4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4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4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4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4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4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4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781C540-D4CD-4C4A-8287-A08254B050B3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6246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624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128B47A-88B8-4BEB-B7A2-AE15F7A09091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kumimoji="0" lang="en-US" altLang="zh-TW" sz="1400" smtClean="0"/>
          </a:p>
        </p:txBody>
      </p:sp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1" y="304800"/>
            <a:ext cx="8816975" cy="1143000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solidFill>
                  <a:srgbClr val="FF0066"/>
                </a:solidFill>
              </a:rPr>
              <a:t>Multi-Core</a:t>
            </a:r>
          </a:p>
        </p:txBody>
      </p:sp>
      <p:sp>
        <p:nvSpPr>
          <p:cNvPr id="3164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49304" y="1601788"/>
            <a:ext cx="8428038" cy="4635500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0000FF"/>
                </a:solidFill>
              </a:rPr>
              <a:t>On-chip communication is faster than between-chip communication</a:t>
            </a:r>
            <a:endParaRPr lang="en-US" altLang="zh-TW" smtClean="0"/>
          </a:p>
          <a:p>
            <a:pPr lvl="1" eaLnBrk="1" hangingPunct="1"/>
            <a:endParaRPr lang="en-US" altLang="zh-TW" smtClean="0"/>
          </a:p>
          <a:p>
            <a:pPr eaLnBrk="1" hangingPunct="1"/>
            <a:r>
              <a:rPr lang="en-US" altLang="zh-TW" smtClean="0">
                <a:solidFill>
                  <a:srgbClr val="FF0066"/>
                </a:solidFill>
              </a:rPr>
              <a:t>Power Consumption</a:t>
            </a:r>
            <a:endParaRPr lang="en-US" altLang="zh-TW" b="1" smtClean="0">
              <a:solidFill>
                <a:srgbClr val="FF0066"/>
              </a:solidFill>
            </a:endParaRP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TW" smtClean="0"/>
              <a:t>One chip with multiple cores uses significantly </a:t>
            </a:r>
            <a:r>
              <a:rPr lang="en-US" altLang="zh-TW" smtClean="0">
                <a:solidFill>
                  <a:srgbClr val="FF0066"/>
                </a:solidFill>
              </a:rPr>
              <a:t>less power </a:t>
            </a:r>
            <a:r>
              <a:rPr lang="en-US" altLang="zh-TW" smtClean="0"/>
              <a:t>than multiple single-core chips. 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TW" smtClean="0"/>
              <a:t>Multicore systems are well suited for server systems such as database and Web servers.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5CDBC96-7086-43B4-8AA8-FD2A1964CB31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63491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6349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06105D6-63E3-47F2-BB7B-B4823DE57B55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kumimoji="0" lang="en-US" altLang="zh-TW" sz="1400" smtClean="0"/>
          </a:p>
        </p:txBody>
      </p:sp>
      <p:sp>
        <p:nvSpPr>
          <p:cNvPr id="63493" name="Title 1"/>
          <p:cNvSpPr>
            <a:spLocks noGrp="1"/>
          </p:cNvSpPr>
          <p:nvPr>
            <p:ph type="title" idx="4294967295"/>
          </p:nvPr>
        </p:nvSpPr>
        <p:spPr>
          <a:xfrm>
            <a:off x="660400" y="304800"/>
            <a:ext cx="8420100" cy="769938"/>
          </a:xfrm>
        </p:spPr>
        <p:txBody>
          <a:bodyPr/>
          <a:lstStyle/>
          <a:p>
            <a:pPr eaLnBrk="1" hangingPunct="1"/>
            <a:r>
              <a:rPr lang="en-US" altLang="zh-TW" smtClean="0"/>
              <a:t>A Dual-Core Design</a:t>
            </a:r>
          </a:p>
        </p:txBody>
      </p:sp>
      <p:pic>
        <p:nvPicPr>
          <p:cNvPr id="63494" name="Picture 10" descr="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189" y="1765300"/>
            <a:ext cx="5181600" cy="352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5156" name="Text Box 4"/>
          <p:cNvSpPr txBox="1">
            <a:spLocks noChangeArrowheads="1"/>
          </p:cNvSpPr>
          <p:nvPr/>
        </p:nvSpPr>
        <p:spPr bwMode="auto">
          <a:xfrm>
            <a:off x="387350" y="4683132"/>
            <a:ext cx="34196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other designs: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A combination of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local and shared caches</a:t>
            </a:r>
          </a:p>
        </p:txBody>
      </p:sp>
      <p:sp>
        <p:nvSpPr>
          <p:cNvPr id="305157" name="Text Box 5"/>
          <p:cNvSpPr txBox="1">
            <a:spLocks noChangeArrowheads="1"/>
          </p:cNvSpPr>
          <p:nvPr/>
        </p:nvSpPr>
        <p:spPr bwMode="auto">
          <a:xfrm>
            <a:off x="5768979" y="4867276"/>
            <a:ext cx="409144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66"/>
                </a:solidFill>
              </a:rPr>
              <a:t>blade</a:t>
            </a:r>
            <a:r>
              <a:rPr lang="en-US" altLang="zh-TW" sz="2400"/>
              <a:t> servers: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Each blade</a:t>
            </a:r>
            <a:r>
              <a:rPr lang="en-US" altLang="zh-TW" sz="2400">
                <a:latin typeface="Times New Roman" pitchFamily="18" charset="0"/>
              </a:rPr>
              <a:t>–</a:t>
            </a:r>
            <a:r>
              <a:rPr lang="en-US" altLang="zh-TW" sz="2400"/>
              <a:t>processor board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boots independently and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run its own 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6" grpId="0"/>
      <p:bldP spid="30515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D0D4FC0-FCC2-4E29-B665-5811CD723F43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645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645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E4FAA2E-7D78-4EAC-855E-6953E229B66B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kumimoji="0" lang="en-US" altLang="zh-TW" sz="1400" smtClean="0"/>
          </a:p>
        </p:txBody>
      </p:sp>
      <p:sp>
        <p:nvSpPr>
          <p:cNvPr id="645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Clustered Systems</a:t>
            </a:r>
          </a:p>
        </p:txBody>
      </p:sp>
      <p:sp>
        <p:nvSpPr>
          <p:cNvPr id="3184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8150" y="1608144"/>
            <a:ext cx="9012238" cy="432752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TW" sz="2800" smtClean="0">
                <a:solidFill>
                  <a:srgbClr val="0000FF"/>
                </a:solidFill>
              </a:rPr>
              <a:t>Definition</a:t>
            </a:r>
            <a:r>
              <a:rPr lang="en-US" altLang="zh-TW" sz="2800" smtClean="0"/>
              <a:t>: Cluster computers </a:t>
            </a:r>
            <a:r>
              <a:rPr lang="en-US" altLang="zh-TW" sz="2800" smtClean="0">
                <a:solidFill>
                  <a:srgbClr val="FF0066"/>
                </a:solidFill>
              </a:rPr>
              <a:t>share storage </a:t>
            </a:r>
            <a:r>
              <a:rPr lang="en-US" altLang="zh-TW" sz="2800" smtClean="0"/>
              <a:t>and are closely </a:t>
            </a:r>
            <a:r>
              <a:rPr lang="en-US" altLang="zh-TW" sz="2800" smtClean="0">
                <a:solidFill>
                  <a:srgbClr val="FF0066"/>
                </a:solidFill>
              </a:rPr>
              <a:t>linked via a local area network</a:t>
            </a:r>
            <a:r>
              <a:rPr lang="en-US" altLang="zh-TW" sz="2800" smtClean="0"/>
              <a:t> (LAN) or a faster interconnect, such as InfiniBand.</a:t>
            </a:r>
            <a:endParaRPr lang="en-US" altLang="zh-TW" sz="2800" smtClean="0">
              <a:solidFill>
                <a:srgbClr val="FF0066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TW" sz="2800" smtClean="0"/>
              <a:t>Provides high reliability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800" i="1" smtClean="0">
                <a:solidFill>
                  <a:srgbClr val="0000FF"/>
                </a:solidFill>
                <a:latin typeface="Times New Roman" pitchFamily="18" charset="0"/>
              </a:rPr>
              <a:t>Asymmetric clustering</a:t>
            </a:r>
            <a:r>
              <a:rPr lang="en-US" altLang="zh-TW" sz="2800" smtClean="0"/>
              <a:t>: one server runs the application while other servers standby.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800" i="1" smtClean="0">
                <a:solidFill>
                  <a:srgbClr val="0000FF"/>
                </a:solidFill>
                <a:latin typeface="Times New Roman" pitchFamily="18" charset="0"/>
              </a:rPr>
              <a:t>Symmetric clustering</a:t>
            </a:r>
            <a:r>
              <a:rPr lang="en-US" altLang="zh-TW" sz="2800" smtClean="0"/>
              <a:t>: two or more hosts are running application and are monitoring each other.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32E75F1-12EF-4A6D-BFCD-3B9B92BB40BC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6553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655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655E0D1-8314-4518-90CF-840ED3F6A547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kumimoji="0" lang="en-US" altLang="zh-TW" sz="1400" smtClean="0"/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Parallelization and </a:t>
            </a:r>
            <a:br>
              <a:rPr lang="en-US" altLang="zh-TW" sz="4000" smtClean="0"/>
            </a:br>
            <a:r>
              <a:rPr lang="en-US" altLang="zh-TW" sz="4000" smtClean="0"/>
              <a:t>Distributed Lock Management</a:t>
            </a:r>
          </a:p>
        </p:txBody>
      </p:sp>
      <p:sp>
        <p:nvSpPr>
          <p:cNvPr id="3205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6092" y="1700217"/>
            <a:ext cx="9012237" cy="451802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Parallelization</a:t>
            </a:r>
            <a:r>
              <a:rPr lang="en-US" altLang="zh-TW" smtClean="0"/>
              <a:t>: divide  a program in several components and run in parallel</a:t>
            </a:r>
            <a:endParaRPr lang="en-US" altLang="zh-TW" smtClean="0">
              <a:solidFill>
                <a:srgbClr val="0000FF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Parallel clusters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Distributed Lock Management</a:t>
            </a:r>
            <a:r>
              <a:rPr lang="en-US" altLang="zh-TW" smtClean="0"/>
              <a:t> (DLM): To provide the shared access to data, the system must also supply </a:t>
            </a:r>
            <a:r>
              <a:rPr lang="en-US" altLang="zh-TW" smtClean="0">
                <a:solidFill>
                  <a:srgbClr val="FF0066"/>
                </a:solidFill>
              </a:rPr>
              <a:t>access control</a:t>
            </a:r>
            <a:r>
              <a:rPr lang="en-US" altLang="zh-TW" smtClean="0"/>
              <a:t> and </a:t>
            </a:r>
            <a:r>
              <a:rPr lang="en-US" altLang="zh-TW" smtClean="0">
                <a:solidFill>
                  <a:srgbClr val="FF0066"/>
                </a:solidFill>
              </a:rPr>
              <a:t>locking</a:t>
            </a:r>
            <a:r>
              <a:rPr lang="en-US" altLang="zh-TW" smtClean="0"/>
              <a:t> to ensure that no conflicting operations occur.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C03327B-5B6F-4ACF-8B39-D8A6BDEB88FA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6861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686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2AD609D-88A8-46CA-BAF1-A8A3B8AF8C6C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kumimoji="0" lang="en-US" altLang="zh-TW" sz="1400" smtClean="0"/>
          </a:p>
        </p:txBody>
      </p:sp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0"/>
            <a:ext cx="8420100" cy="6350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Operating System Components</a:t>
            </a:r>
          </a:p>
        </p:txBody>
      </p:sp>
      <p:sp>
        <p:nvSpPr>
          <p:cNvPr id="3010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3363" y="838200"/>
            <a:ext cx="9369425" cy="5842000"/>
          </a:xfrm>
        </p:spPr>
        <p:txBody>
          <a:bodyPr/>
          <a:lstStyle/>
          <a:p>
            <a:pPr eaLnBrk="1" hangingPunct="1"/>
            <a:r>
              <a:rPr lang="en-US" altLang="zh-TW" sz="2800" b="1" smtClean="0">
                <a:solidFill>
                  <a:srgbClr val="FF0066"/>
                </a:solidFill>
              </a:rPr>
              <a:t>Timesharing (multitasking)</a:t>
            </a:r>
            <a:r>
              <a:rPr lang="en-US" altLang="zh-TW" sz="2800" smtClean="0"/>
              <a:t> is logical extension in which CPU switches jobs so frequently that users can interact with each job while it is running, creating </a:t>
            </a:r>
            <a:r>
              <a:rPr lang="en-US" altLang="zh-TW" sz="2800" b="1" smtClean="0">
                <a:solidFill>
                  <a:srgbClr val="0000FF"/>
                </a:solidFill>
              </a:rPr>
              <a:t>interactive</a:t>
            </a:r>
            <a:r>
              <a:rPr lang="en-US" altLang="zh-TW" sz="2800" smtClean="0"/>
              <a:t> computing</a:t>
            </a:r>
          </a:p>
          <a:p>
            <a:pPr lvl="1" eaLnBrk="1" hangingPunct="1"/>
            <a:r>
              <a:rPr lang="en-US" altLang="zh-TW" sz="2400" b="1" smtClean="0">
                <a:solidFill>
                  <a:srgbClr val="0000FF"/>
                </a:solidFill>
              </a:rPr>
              <a:t>Response time</a:t>
            </a:r>
            <a:r>
              <a:rPr lang="en-US" altLang="zh-TW" sz="2400" smtClean="0"/>
              <a:t> should be &lt; 1 second</a:t>
            </a:r>
          </a:p>
          <a:p>
            <a:pPr lvl="1" eaLnBrk="1" hangingPunct="1"/>
            <a:r>
              <a:rPr lang="en-US" altLang="zh-TW" sz="2400" smtClean="0"/>
              <a:t>Each user has at least one program executing in memory </a:t>
            </a:r>
            <a:r>
              <a:rPr lang="en-US" altLang="zh-TW" sz="2400" smtClean="0">
                <a:sym typeface="Wingdings 3" pitchFamily="18" charset="2"/>
              </a:rPr>
              <a:t></a:t>
            </a:r>
            <a:r>
              <a:rPr lang="en-US" altLang="zh-TW" sz="2400" b="1" smtClean="0">
                <a:solidFill>
                  <a:srgbClr val="0000FF"/>
                </a:solidFill>
                <a:sym typeface="Wingdings 3" pitchFamily="18" charset="2"/>
              </a:rPr>
              <a:t>process</a:t>
            </a:r>
          </a:p>
          <a:p>
            <a:pPr lvl="1" eaLnBrk="1" hangingPunct="1"/>
            <a:r>
              <a:rPr lang="en-US" altLang="zh-TW" sz="2400" smtClean="0">
                <a:sym typeface="Wingdings 3" pitchFamily="18" charset="2"/>
              </a:rPr>
              <a:t>If several jobs ready to run at the same time  </a:t>
            </a:r>
            <a:r>
              <a:rPr lang="en-US" altLang="zh-TW" sz="2400" b="1" smtClean="0">
                <a:solidFill>
                  <a:srgbClr val="0000FF"/>
                </a:solidFill>
                <a:sym typeface="Wingdings 3" pitchFamily="18" charset="2"/>
              </a:rPr>
              <a:t>CPU scheduling</a:t>
            </a:r>
          </a:p>
          <a:p>
            <a:pPr lvl="1" eaLnBrk="1" hangingPunct="1"/>
            <a:r>
              <a:rPr lang="en-US" altLang="zh-TW" sz="2400" smtClean="0">
                <a:sym typeface="Wingdings 3" pitchFamily="18" charset="2"/>
              </a:rPr>
              <a:t>If processes don</a:t>
            </a:r>
            <a:r>
              <a:rPr lang="en-US" altLang="zh-TW" sz="2400" smtClean="0">
                <a:latin typeface="Helvetica" pitchFamily="34" charset="0"/>
                <a:sym typeface="Wingdings 3" pitchFamily="18" charset="2"/>
              </a:rPr>
              <a:t>’</a:t>
            </a:r>
            <a:r>
              <a:rPr lang="en-US" altLang="zh-TW" sz="2400" smtClean="0">
                <a:sym typeface="Wingdings 3" pitchFamily="18" charset="2"/>
              </a:rPr>
              <a:t>t fit in memory, </a:t>
            </a:r>
            <a:r>
              <a:rPr lang="en-US" altLang="zh-TW" sz="2400" b="1" smtClean="0">
                <a:solidFill>
                  <a:srgbClr val="0000FF"/>
                </a:solidFill>
                <a:sym typeface="Wingdings 3" pitchFamily="18" charset="2"/>
              </a:rPr>
              <a:t>swapping</a:t>
            </a:r>
            <a:r>
              <a:rPr lang="en-US" altLang="zh-TW" sz="2400" smtClean="0">
                <a:sym typeface="Wingdings 3" pitchFamily="18" charset="2"/>
              </a:rPr>
              <a:t> moves them in and out to run</a:t>
            </a:r>
          </a:p>
          <a:p>
            <a:pPr lvl="1" eaLnBrk="1" hangingPunct="1"/>
            <a:r>
              <a:rPr lang="en-US" altLang="zh-TW" sz="2400" b="1" smtClean="0">
                <a:solidFill>
                  <a:srgbClr val="0000FF"/>
                </a:solidFill>
                <a:sym typeface="Wingdings 3" pitchFamily="18" charset="2"/>
              </a:rPr>
              <a:t>Virtual memory</a:t>
            </a:r>
            <a:r>
              <a:rPr lang="en-US" altLang="zh-TW" sz="2400" smtClean="0">
                <a:sym typeface="Wingdings 3" pitchFamily="18" charset="2"/>
              </a:rPr>
              <a:t> allows execution of processes not completely in memory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1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1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1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1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1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1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183B880-3A0E-4103-8342-FC403DCA4443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6963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696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65969F8-1118-456D-8FA1-CCBBD0ED3548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kumimoji="0" lang="en-US" altLang="zh-TW" sz="1400" smtClean="0"/>
          </a:p>
        </p:txBody>
      </p:sp>
      <p:sp>
        <p:nvSpPr>
          <p:cNvPr id="69637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304800"/>
            <a:ext cx="8420100" cy="635000"/>
          </a:xfrm>
        </p:spPr>
        <p:txBody>
          <a:bodyPr/>
          <a:lstStyle/>
          <a:p>
            <a:pPr algn="ctr" eaLnBrk="1" hangingPunct="1"/>
            <a:r>
              <a:rPr lang="en-US" altLang="zh-TW" b="1" smtClean="0">
                <a:solidFill>
                  <a:schemeClr val="tx1"/>
                </a:solidFill>
              </a:rPr>
              <a:t>Dual-mode</a:t>
            </a:r>
          </a:p>
        </p:txBody>
      </p:sp>
      <p:sp>
        <p:nvSpPr>
          <p:cNvPr id="3031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3363" y="973138"/>
            <a:ext cx="9369425" cy="57070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b="1" smtClean="0">
                <a:solidFill>
                  <a:srgbClr val="FF0066"/>
                </a:solidFill>
              </a:rPr>
              <a:t>Dual-mode</a:t>
            </a:r>
            <a:r>
              <a:rPr lang="en-US" altLang="zh-TW" sz="2800" smtClean="0"/>
              <a:t> operation allows OS to protect itself and other system components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b="1" smtClean="0">
                <a:solidFill>
                  <a:srgbClr val="0000FF"/>
                </a:solidFill>
              </a:rPr>
              <a:t>User mode</a:t>
            </a:r>
            <a:r>
              <a:rPr lang="en-US" altLang="zh-TW" sz="2400" smtClean="0"/>
              <a:t> and </a:t>
            </a:r>
            <a:r>
              <a:rPr lang="en-US" altLang="zh-TW" sz="2400" b="1" smtClean="0">
                <a:solidFill>
                  <a:srgbClr val="0000FF"/>
                </a:solidFill>
              </a:rPr>
              <a:t>kernel mode</a:t>
            </a:r>
            <a:r>
              <a:rPr lang="en-US" altLang="zh-TW" sz="2400" smtClean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b="1" smtClean="0">
                <a:solidFill>
                  <a:srgbClr val="0000FF"/>
                </a:solidFill>
              </a:rPr>
              <a:t>Mode bit</a:t>
            </a:r>
            <a:r>
              <a:rPr lang="en-US" altLang="zh-TW" sz="2400" smtClean="0"/>
              <a:t> provided by hardware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TW" sz="2000" smtClean="0"/>
              <a:t>Provides ability to distinguish when system is running user code or kernel code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TW" sz="2000" smtClean="0"/>
              <a:t>Some instructions designated as </a:t>
            </a:r>
            <a:r>
              <a:rPr lang="en-US" altLang="zh-TW" sz="2000" b="1" smtClean="0">
                <a:solidFill>
                  <a:srgbClr val="0000FF"/>
                </a:solidFill>
              </a:rPr>
              <a:t>privileged</a:t>
            </a:r>
            <a:r>
              <a:rPr lang="en-US" altLang="zh-TW" sz="2000" smtClean="0"/>
              <a:t>, only executable in kernel mode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TW" sz="2000" smtClean="0"/>
              <a:t>System call changes mode to kernel, return from call resets it to user</a:t>
            </a:r>
          </a:p>
        </p:txBody>
      </p:sp>
      <p:pic>
        <p:nvPicPr>
          <p:cNvPr id="30310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" t="30278" r="417" b="30000"/>
          <a:stretch>
            <a:fillRect/>
          </a:stretch>
        </p:blipFill>
        <p:spPr bwMode="auto">
          <a:xfrm>
            <a:off x="623889" y="3875088"/>
            <a:ext cx="8972550" cy="248761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3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3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5D035FA-5E81-42E2-8A42-A91BCC05F2B3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706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706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570DBB7-66D4-4560-9416-C9C3E528E7A8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kumimoji="0" lang="en-US" altLang="zh-TW" sz="1400" smtClean="0"/>
          </a:p>
        </p:txBody>
      </p:sp>
      <p:sp>
        <p:nvSpPr>
          <p:cNvPr id="706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b="1" smtClean="0"/>
              <a:t>System Structures</a:t>
            </a:r>
            <a:br>
              <a:rPr lang="en-US" altLang="zh-TW" sz="4000" b="1" smtClean="0"/>
            </a:br>
            <a:r>
              <a:rPr lang="en-US" altLang="zh-TW" sz="3600" smtClean="0"/>
              <a:t>	</a:t>
            </a:r>
            <a:r>
              <a:rPr lang="en-US" altLang="zh-TW" sz="3600" smtClean="0">
                <a:solidFill>
                  <a:srgbClr val="0000FF"/>
                </a:solidFill>
                <a:latin typeface="Comic Sans MS" pitchFamily="66" charset="0"/>
              </a:rPr>
              <a:t>designer point of view</a:t>
            </a:r>
            <a:endParaRPr lang="en-US" altLang="zh-TW" sz="4000" smtClean="0">
              <a:solidFill>
                <a:srgbClr val="0000FF"/>
              </a:solidFill>
              <a:latin typeface="Comic Sans MS" pitchFamily="66" charset="0"/>
            </a:endParaRPr>
          </a:p>
        </p:txBody>
      </p:sp>
      <p:sp>
        <p:nvSpPr>
          <p:cNvPr id="2150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4000" smtClean="0"/>
              <a:t>Simple structure: DOS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4000" smtClean="0"/>
              <a:t>Layered approach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4000" smtClean="0"/>
              <a:t>Microkernels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31E65E6-F724-4129-806D-8690670E94EC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71683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7168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DA36E95-692B-43E9-A83C-1108EBFD893F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kumimoji="0" lang="en-US" altLang="zh-TW" sz="1400" smtClean="0"/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MS-DOS Layer Structure</a:t>
            </a:r>
          </a:p>
        </p:txBody>
      </p:sp>
      <p:grpSp>
        <p:nvGrpSpPr>
          <p:cNvPr id="71686" name="Group 3"/>
          <p:cNvGrpSpPr>
            <a:grpSpLocks/>
          </p:cNvGrpSpPr>
          <p:nvPr/>
        </p:nvGrpSpPr>
        <p:grpSpPr bwMode="auto">
          <a:xfrm>
            <a:off x="1712912" y="2006600"/>
            <a:ext cx="5675313" cy="4002088"/>
            <a:chOff x="1383" y="1909"/>
            <a:chExt cx="2583" cy="2063"/>
          </a:xfrm>
        </p:grpSpPr>
        <p:sp>
          <p:nvSpPr>
            <p:cNvPr id="71687" name="Rectangle 4"/>
            <p:cNvSpPr>
              <a:spLocks noChangeArrowheads="1"/>
            </p:cNvSpPr>
            <p:nvPr/>
          </p:nvSpPr>
          <p:spPr bwMode="auto">
            <a:xfrm>
              <a:off x="1417" y="1909"/>
              <a:ext cx="2317" cy="2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470540"/>
                      </a:gs>
                      <a:gs pos="50000">
                        <a:srgbClr val="990B8A"/>
                      </a:gs>
                      <a:gs pos="100000">
                        <a:srgbClr val="470540"/>
                      </a:gs>
                    </a:gsLst>
                    <a:lin ang="5400000" scaled="1"/>
                  </a:gra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1688" name="Rectangle 5"/>
            <p:cNvSpPr>
              <a:spLocks noChangeArrowheads="1"/>
            </p:cNvSpPr>
            <p:nvPr/>
          </p:nvSpPr>
          <p:spPr bwMode="auto">
            <a:xfrm>
              <a:off x="1392" y="2510"/>
              <a:ext cx="1845" cy="2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765E00"/>
                      </a:gs>
                      <a:gs pos="50000">
                        <a:srgbClr val="FFCC00"/>
                      </a:gs>
                      <a:gs pos="100000">
                        <a:srgbClr val="765E00"/>
                      </a:gs>
                    </a:gsLst>
                    <a:lin ang="5400000" scaled="1"/>
                  </a:gra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1689" name="Rectangle 6"/>
            <p:cNvSpPr>
              <a:spLocks noChangeArrowheads="1"/>
            </p:cNvSpPr>
            <p:nvPr/>
          </p:nvSpPr>
          <p:spPr bwMode="auto">
            <a:xfrm>
              <a:off x="1400" y="3630"/>
              <a:ext cx="2566" cy="34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76002F"/>
                      </a:gs>
                      <a:gs pos="50000">
                        <a:srgbClr val="FF0066"/>
                      </a:gs>
                      <a:gs pos="100000">
                        <a:srgbClr val="76002F"/>
                      </a:gs>
                    </a:gsLst>
                    <a:lin ang="5400000" scaled="1"/>
                  </a:gra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1690" name="Line 7"/>
            <p:cNvSpPr>
              <a:spLocks noChangeShapeType="1"/>
            </p:cNvSpPr>
            <p:nvPr/>
          </p:nvSpPr>
          <p:spPr bwMode="auto">
            <a:xfrm>
              <a:off x="3498" y="2196"/>
              <a:ext cx="0" cy="14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1691" name="Line 8"/>
            <p:cNvSpPr>
              <a:spLocks noChangeShapeType="1"/>
            </p:cNvSpPr>
            <p:nvPr/>
          </p:nvSpPr>
          <p:spPr bwMode="auto">
            <a:xfrm>
              <a:off x="2983" y="2790"/>
              <a:ext cx="0" cy="8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1692" name="Line 9"/>
            <p:cNvSpPr>
              <a:spLocks noChangeShapeType="1"/>
            </p:cNvSpPr>
            <p:nvPr/>
          </p:nvSpPr>
          <p:spPr bwMode="auto">
            <a:xfrm>
              <a:off x="1894" y="2196"/>
              <a:ext cx="0" cy="3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1693" name="Line 10"/>
            <p:cNvSpPr>
              <a:spLocks noChangeShapeType="1"/>
            </p:cNvSpPr>
            <p:nvPr/>
          </p:nvSpPr>
          <p:spPr bwMode="auto">
            <a:xfrm>
              <a:off x="1902" y="2797"/>
              <a:ext cx="0" cy="2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1694" name="Line 11"/>
            <p:cNvSpPr>
              <a:spLocks noChangeShapeType="1"/>
            </p:cNvSpPr>
            <p:nvPr/>
          </p:nvSpPr>
          <p:spPr bwMode="auto">
            <a:xfrm>
              <a:off x="1911" y="338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1695" name="Rectangle 12"/>
            <p:cNvSpPr>
              <a:spLocks noChangeArrowheads="1"/>
            </p:cNvSpPr>
            <p:nvPr/>
          </p:nvSpPr>
          <p:spPr bwMode="auto">
            <a:xfrm>
              <a:off x="1604" y="1974"/>
              <a:ext cx="1169" cy="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application program</a:t>
              </a:r>
            </a:p>
          </p:txBody>
        </p:sp>
        <p:sp>
          <p:nvSpPr>
            <p:cNvPr id="71696" name="Rectangle 13"/>
            <p:cNvSpPr>
              <a:spLocks noChangeArrowheads="1"/>
            </p:cNvSpPr>
            <p:nvPr/>
          </p:nvSpPr>
          <p:spPr bwMode="auto">
            <a:xfrm>
              <a:off x="1433" y="2568"/>
              <a:ext cx="1399" cy="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resident system program</a:t>
              </a:r>
            </a:p>
          </p:txBody>
        </p:sp>
        <p:sp>
          <p:nvSpPr>
            <p:cNvPr id="71697" name="Rectangle 14"/>
            <p:cNvSpPr>
              <a:spLocks noChangeArrowheads="1"/>
            </p:cNvSpPr>
            <p:nvPr/>
          </p:nvSpPr>
          <p:spPr bwMode="auto">
            <a:xfrm>
              <a:off x="1383" y="3021"/>
              <a:ext cx="1317" cy="4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182F18"/>
                      </a:gs>
                      <a:gs pos="50000">
                        <a:srgbClr val="336633"/>
                      </a:gs>
                      <a:gs pos="100000">
                        <a:srgbClr val="182F18"/>
                      </a:gs>
                    </a:gsLst>
                    <a:lin ang="5400000" scaled="1"/>
                  </a:gra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71698" name="Rectangle 15"/>
            <p:cNvSpPr>
              <a:spLocks noChangeArrowheads="1"/>
            </p:cNvSpPr>
            <p:nvPr/>
          </p:nvSpPr>
          <p:spPr bwMode="auto">
            <a:xfrm>
              <a:off x="1605" y="3047"/>
              <a:ext cx="576" cy="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MS-DOS</a:t>
              </a:r>
            </a:p>
          </p:txBody>
        </p:sp>
        <p:sp>
          <p:nvSpPr>
            <p:cNvPr id="71699" name="Rectangle 16"/>
            <p:cNvSpPr>
              <a:spLocks noChangeArrowheads="1"/>
            </p:cNvSpPr>
            <p:nvPr/>
          </p:nvSpPr>
          <p:spPr bwMode="auto">
            <a:xfrm>
              <a:off x="1435" y="3193"/>
              <a:ext cx="832" cy="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device drivers</a:t>
              </a:r>
            </a:p>
          </p:txBody>
        </p:sp>
        <p:sp>
          <p:nvSpPr>
            <p:cNvPr id="71700" name="Rectangle 17"/>
            <p:cNvSpPr>
              <a:spLocks noChangeArrowheads="1"/>
            </p:cNvSpPr>
            <p:nvPr/>
          </p:nvSpPr>
          <p:spPr bwMode="auto">
            <a:xfrm>
              <a:off x="1647" y="3716"/>
              <a:ext cx="1480" cy="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itchFamily="2" charset="2"/>
                <a:buChar char="w"/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itchFamily="2" charset="2"/>
                <a:buNone/>
              </a:pPr>
              <a:r>
                <a:rPr lang="en-US" altLang="zh-TW" sz="2000" b="1">
                  <a:latin typeface="Book Antiqua" pitchFamily="18" charset="0"/>
                </a:rPr>
                <a:t>ROM BIOS device drivers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B986E7E-3EF1-400C-9901-95372C933397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7373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737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534336C-A2E3-4790-8F6D-CBBF59F30B3C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kumimoji="0" lang="en-US" altLang="zh-TW" sz="1400" smtClean="0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319088"/>
            <a:ext cx="8420100" cy="8239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mtClean="0">
                <a:solidFill>
                  <a:srgbClr val="C72F0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System Implementation</a:t>
            </a:r>
          </a:p>
        </p:txBody>
      </p:sp>
      <p:sp>
        <p:nvSpPr>
          <p:cNvPr id="2068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843963" cy="51450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800" smtClean="0"/>
              <a:t>Traditionally written in assembly language, operating systems can now be written in higher-level languages.</a:t>
            </a:r>
            <a:endParaRPr lang="en-US" altLang="zh-TW" sz="2800" smtClean="0">
              <a:solidFill>
                <a:srgbClr val="C72F05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800" smtClean="0">
                <a:solidFill>
                  <a:srgbClr val="C72F0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Code written in a high-level language</a:t>
            </a:r>
            <a:r>
              <a:rPr lang="en-US" altLang="zh-TW" sz="2800" smtClean="0"/>
              <a:t>: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400" smtClean="0"/>
              <a:t>can be written faster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400" smtClean="0"/>
              <a:t>is more compact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400" smtClean="0"/>
              <a:t>is easier to understand and debug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800" smtClean="0"/>
              <a:t>An operating system is far </a:t>
            </a:r>
            <a:r>
              <a:rPr lang="en-US" altLang="zh-TW" sz="2800" smtClean="0">
                <a:solidFill>
                  <a:srgbClr val="C72F0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easier to </a:t>
            </a:r>
            <a:r>
              <a:rPr lang="en-US" altLang="zh-TW" sz="2800" i="1" smtClean="0">
                <a:solidFill>
                  <a:srgbClr val="C72F0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port</a:t>
            </a:r>
            <a:r>
              <a:rPr lang="en-US" altLang="zh-TW" sz="2800" smtClean="0"/>
              <a:t> (move to some other hardware) if it is written in a high-level language.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6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6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AE3FE9A-72E9-4A26-82E1-071539FEFEC6}" type="datetime1">
              <a:rPr kumimoji="0" lang="zh-TW" altLang="en-US" sz="1400" smtClean="0"/>
              <a:t>2018/2/18</a:t>
            </a:fld>
            <a:endParaRPr kumimoji="0" lang="en-US" altLang="zh-TW" sz="1400" smtClean="0"/>
          </a:p>
        </p:txBody>
      </p:sp>
      <p:sp>
        <p:nvSpPr>
          <p:cNvPr id="747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os0-2018</a:t>
            </a:r>
          </a:p>
        </p:txBody>
      </p:sp>
      <p:sp>
        <p:nvSpPr>
          <p:cNvPr id="747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CC450DA-9B1A-433F-AC5A-E71FEF8CF696}" type="slidenum">
              <a:rPr kumimoji="0" lang="en-US" altLang="zh-TW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kumimoji="0" lang="en-US" altLang="zh-TW" sz="1400" smtClean="0"/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558800" y="285750"/>
            <a:ext cx="8420100" cy="76993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mtClean="0">
                <a:solidFill>
                  <a:srgbClr val="C72F0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System Generation (SYSGEN)</a:t>
            </a:r>
          </a:p>
        </p:txBody>
      </p:sp>
      <p:sp>
        <p:nvSpPr>
          <p:cNvPr id="2088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19118" y="1058863"/>
            <a:ext cx="8943975" cy="54562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800" smtClean="0"/>
              <a:t>Operating systems are designed to run on any of a class of machines; </a:t>
            </a:r>
            <a:r>
              <a:rPr lang="en-US" altLang="zh-TW" sz="2800" smtClean="0">
                <a:solidFill>
                  <a:srgbClr val="C72F0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 system must be configured for each specific computer site</a:t>
            </a:r>
            <a:r>
              <a:rPr lang="en-US" altLang="zh-TW" sz="280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800" b="1" smtClean="0">
                <a:solidFill>
                  <a:srgbClr val="C72F05"/>
                </a:solidFill>
              </a:rPr>
              <a:t>SYSGEN</a:t>
            </a:r>
            <a:r>
              <a:rPr lang="en-US" altLang="zh-TW" sz="2800" smtClean="0"/>
              <a:t> program obtains information concerning the specific configuration of the hardware system.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400" smtClean="0"/>
              <a:t>CPU type, memory size, devices, OS options, OS parameters, etc.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800" smtClean="0">
                <a:solidFill>
                  <a:srgbClr val="C72F0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Booting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/>
              </a:rPr>
              <a:t>–</a:t>
            </a:r>
            <a:r>
              <a:rPr lang="en-US" altLang="zh-TW" sz="2800" smtClean="0"/>
              <a:t> starting a computer by loading the kernel.</a:t>
            </a:r>
            <a:endParaRPr lang="en-US" altLang="zh-TW" sz="2800" i="1" smtClean="0">
              <a:solidFill>
                <a:srgbClr val="C72F05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800" i="1" smtClean="0">
                <a:solidFill>
                  <a:srgbClr val="C72F0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Bootstrap program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/>
              </a:rPr>
              <a:t>–</a:t>
            </a:r>
            <a:r>
              <a:rPr lang="en-US" altLang="zh-TW" sz="2800" smtClean="0"/>
              <a:t> code stored in ROM that is able to locate the kernel, load it into memory, and start its execution.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1001</TotalTime>
  <Pages>36</Pages>
  <Words>3301</Words>
  <Application>Microsoft Office PowerPoint</Application>
  <PresentationFormat>A4 紙張 (210x297 公釐)</PresentationFormat>
  <Paragraphs>628</Paragraphs>
  <Slides>64</Slides>
  <Notes>64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64</vt:i4>
      </vt:variant>
    </vt:vector>
  </HeadingPairs>
  <TitlesOfParts>
    <vt:vector size="74" baseType="lpstr">
      <vt:lpstr>新細明體</vt:lpstr>
      <vt:lpstr>Arial</vt:lpstr>
      <vt:lpstr>Book Antiqua</vt:lpstr>
      <vt:lpstr>Comic Sans MS</vt:lpstr>
      <vt:lpstr>Helvetica</vt:lpstr>
      <vt:lpstr>Tahoma</vt:lpstr>
      <vt:lpstr>Times New Roman</vt:lpstr>
      <vt:lpstr>Wingdings</vt:lpstr>
      <vt:lpstr>Wingdings 3</vt:lpstr>
      <vt:lpstr>Blueprint</vt:lpstr>
      <vt:lpstr>Operating System Course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Overview (1)</vt:lpstr>
      <vt:lpstr>Overview (2)</vt:lpstr>
      <vt:lpstr>Overview (3)</vt:lpstr>
      <vt:lpstr>Programming Environments (1)</vt:lpstr>
      <vt:lpstr>Programming Environments (2)</vt:lpstr>
      <vt:lpstr>Linux Virtual Machine</vt:lpstr>
      <vt:lpstr>Startup</vt:lpstr>
      <vt:lpstr>Startup</vt:lpstr>
      <vt:lpstr>Startup</vt:lpstr>
      <vt:lpstr>Startup</vt:lpstr>
      <vt:lpstr>In-Memory File System Structures</vt:lpstr>
      <vt:lpstr>Contents (9th ed.)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The 9th Edition (1)</vt:lpstr>
      <vt:lpstr>The 9th Edition (2)</vt:lpstr>
      <vt:lpstr>Historical Perspective </vt:lpstr>
      <vt:lpstr>Mainframe: Batch Systems</vt:lpstr>
      <vt:lpstr>PowerPoint 簡報</vt:lpstr>
      <vt:lpstr>Memory Layout for a Simple Batch System</vt:lpstr>
      <vt:lpstr>PowerPoint 簡報</vt:lpstr>
      <vt:lpstr>PowerPoint 簡報</vt:lpstr>
      <vt:lpstr>PowerPoint 簡報</vt:lpstr>
      <vt:lpstr>Mainframe: Multiprogramming Batched Systems</vt:lpstr>
      <vt:lpstr>Multiprogramming Systems</vt:lpstr>
      <vt:lpstr>OS Features Needed for Multiprogramming </vt:lpstr>
      <vt:lpstr>PowerPoint 簡報</vt:lpstr>
      <vt:lpstr>Mainframe: Time-Sharing Systems</vt:lpstr>
      <vt:lpstr>PowerPoint 簡報</vt:lpstr>
      <vt:lpstr>PowerPoint 簡報</vt:lpstr>
      <vt:lpstr>The Movement of OS</vt:lpstr>
      <vt:lpstr>PowerPoint 簡報</vt:lpstr>
      <vt:lpstr>Computer-system Architecture</vt:lpstr>
      <vt:lpstr>Desktop Systems</vt:lpstr>
      <vt:lpstr>Personal-Computer Systems</vt:lpstr>
      <vt:lpstr>Parallel Systems (1)</vt:lpstr>
      <vt:lpstr>Parallel Systems (2)</vt:lpstr>
      <vt:lpstr>Symmetric Multiprocessing Architecture</vt:lpstr>
      <vt:lpstr>Uniform Memory Access VS. Non-Uniform Memory Access (NUMA)</vt:lpstr>
      <vt:lpstr>Multi-Core</vt:lpstr>
      <vt:lpstr>A Dual-Core Design</vt:lpstr>
      <vt:lpstr>Clustered Systems</vt:lpstr>
      <vt:lpstr>Parallelization and  Distributed Lock Management</vt:lpstr>
      <vt:lpstr>Operating System Components</vt:lpstr>
      <vt:lpstr>Dual-mode</vt:lpstr>
      <vt:lpstr>System Structures  designer point of view</vt:lpstr>
      <vt:lpstr>MS-DOS Layer Structure</vt:lpstr>
      <vt:lpstr>System Implementation</vt:lpstr>
      <vt:lpstr>System Generation (SYSGEN)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IPv6</dc:title>
  <dc:creator>JSWANG</dc:creator>
  <cp:lastModifiedBy>JS</cp:lastModifiedBy>
  <cp:revision>334</cp:revision>
  <cp:lastPrinted>1999-09-14T14:06:20Z</cp:lastPrinted>
  <dcterms:created xsi:type="dcterms:W3CDTF">1996-10-19T01:28:28Z</dcterms:created>
  <dcterms:modified xsi:type="dcterms:W3CDTF">2018-02-18T06:43:34Z</dcterms:modified>
</cp:coreProperties>
</file>