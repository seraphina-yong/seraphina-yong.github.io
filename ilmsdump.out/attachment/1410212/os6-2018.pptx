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tags/tag1.xml" ContentType="application/vnd.openxmlformats-officedocument.presentationml.tags+xml"/>
  <Override PartName="/ppt/notesSlides/notesSlide40.xml" ContentType="application/vnd.openxmlformats-officedocument.presentationml.notesSlide+xml"/>
  <Override PartName="/ppt/tags/tag2.xml" ContentType="application/vnd.openxmlformats-officedocument.presentationml.tags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tags/tag3.xml" ContentType="application/vnd.openxmlformats-officedocument.presentationml.tags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89"/>
  </p:notesMasterIdLst>
  <p:handoutMasterIdLst>
    <p:handoutMasterId r:id="rId90"/>
  </p:handoutMasterIdLst>
  <p:sldIdLst>
    <p:sldId id="256" r:id="rId2"/>
    <p:sldId id="299" r:id="rId3"/>
    <p:sldId id="257" r:id="rId4"/>
    <p:sldId id="402" r:id="rId5"/>
    <p:sldId id="300" r:id="rId6"/>
    <p:sldId id="301" r:id="rId7"/>
    <p:sldId id="302" r:id="rId8"/>
    <p:sldId id="392" r:id="rId9"/>
    <p:sldId id="303" r:id="rId10"/>
    <p:sldId id="377" r:id="rId11"/>
    <p:sldId id="369" r:id="rId12"/>
    <p:sldId id="306" r:id="rId13"/>
    <p:sldId id="264" r:id="rId14"/>
    <p:sldId id="265" r:id="rId15"/>
    <p:sldId id="307" r:id="rId16"/>
    <p:sldId id="308" r:id="rId17"/>
    <p:sldId id="268" r:id="rId18"/>
    <p:sldId id="269" r:id="rId19"/>
    <p:sldId id="313" r:id="rId20"/>
    <p:sldId id="310" r:id="rId21"/>
    <p:sldId id="311" r:id="rId22"/>
    <p:sldId id="314" r:id="rId23"/>
    <p:sldId id="272" r:id="rId24"/>
    <p:sldId id="315" r:id="rId25"/>
    <p:sldId id="316" r:id="rId26"/>
    <p:sldId id="317" r:id="rId27"/>
    <p:sldId id="318" r:id="rId28"/>
    <p:sldId id="319" r:id="rId29"/>
    <p:sldId id="320" r:id="rId30"/>
    <p:sldId id="321" r:id="rId31"/>
    <p:sldId id="322" r:id="rId32"/>
    <p:sldId id="379" r:id="rId33"/>
    <p:sldId id="380" r:id="rId34"/>
    <p:sldId id="381" r:id="rId35"/>
    <p:sldId id="382" r:id="rId36"/>
    <p:sldId id="383" r:id="rId37"/>
    <p:sldId id="393" r:id="rId38"/>
    <p:sldId id="325" r:id="rId39"/>
    <p:sldId id="385" r:id="rId40"/>
    <p:sldId id="387" r:id="rId41"/>
    <p:sldId id="388" r:id="rId42"/>
    <p:sldId id="389" r:id="rId43"/>
    <p:sldId id="405" r:id="rId44"/>
    <p:sldId id="406" r:id="rId45"/>
    <p:sldId id="390" r:id="rId46"/>
    <p:sldId id="331" r:id="rId47"/>
    <p:sldId id="334" r:id="rId48"/>
    <p:sldId id="407" r:id="rId49"/>
    <p:sldId id="408" r:id="rId50"/>
    <p:sldId id="395" r:id="rId51"/>
    <p:sldId id="409" r:id="rId52"/>
    <p:sldId id="410" r:id="rId53"/>
    <p:sldId id="411" r:id="rId54"/>
    <p:sldId id="397" r:id="rId55"/>
    <p:sldId id="412" r:id="rId56"/>
    <p:sldId id="413" r:id="rId57"/>
    <p:sldId id="398" r:id="rId58"/>
    <p:sldId id="399" r:id="rId59"/>
    <p:sldId id="357" r:id="rId60"/>
    <p:sldId id="414" r:id="rId61"/>
    <p:sldId id="416" r:id="rId62"/>
    <p:sldId id="415" r:id="rId63"/>
    <p:sldId id="417" r:id="rId64"/>
    <p:sldId id="419" r:id="rId65"/>
    <p:sldId id="420" r:id="rId66"/>
    <p:sldId id="421" r:id="rId67"/>
    <p:sldId id="422" r:id="rId68"/>
    <p:sldId id="427" r:id="rId69"/>
    <p:sldId id="430" r:id="rId70"/>
    <p:sldId id="429" r:id="rId71"/>
    <p:sldId id="423" r:id="rId72"/>
    <p:sldId id="424" r:id="rId73"/>
    <p:sldId id="425" r:id="rId74"/>
    <p:sldId id="426" r:id="rId75"/>
    <p:sldId id="344" r:id="rId76"/>
    <p:sldId id="345" r:id="rId77"/>
    <p:sldId id="346" r:id="rId78"/>
    <p:sldId id="347" r:id="rId79"/>
    <p:sldId id="348" r:id="rId80"/>
    <p:sldId id="349" r:id="rId81"/>
    <p:sldId id="350" r:id="rId82"/>
    <p:sldId id="351" r:id="rId83"/>
    <p:sldId id="352" r:id="rId84"/>
    <p:sldId id="431" r:id="rId85"/>
    <p:sldId id="432" r:id="rId86"/>
    <p:sldId id="433" r:id="rId87"/>
    <p:sldId id="434" r:id="rId88"/>
  </p:sldIdLst>
  <p:sldSz cx="9906000" cy="6858000" type="A4"/>
  <p:notesSz cx="6807200" cy="9939338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00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97EE26"/>
    <a:srgbClr val="FF0000"/>
    <a:srgbClr val="336633"/>
    <a:srgbClr val="CC6600"/>
    <a:srgbClr val="FFCC00"/>
    <a:srgbClr val="000000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663" autoAdjust="0"/>
  </p:normalViewPr>
  <p:slideViewPr>
    <p:cSldViewPr snapToGrid="0">
      <p:cViewPr varScale="1">
        <p:scale>
          <a:sx n="63" d="100"/>
          <a:sy n="63" d="100"/>
        </p:scale>
        <p:origin x="824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handoutMaster" Target="handoutMasters/handout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8939" cy="497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37" tIns="0" rIns="19037" bIns="0" numCol="1" anchor="t" anchorCtr="0" compatLnSpc="1">
            <a:prstTxWarp prst="textNoShape">
              <a:avLst/>
            </a:prstTxWarp>
          </a:bodyPr>
          <a:lstStyle>
            <a:lvl1pPr defTabSz="913908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altLang="zh-TW"/>
              <a:t>abbbb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8262" y="0"/>
            <a:ext cx="2948938" cy="497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37" tIns="0" rIns="19037" bIns="0" numCol="1" anchor="t" anchorCtr="0" compatLnSpc="1">
            <a:prstTxWarp prst="textNoShape">
              <a:avLst/>
            </a:prstTxWarp>
          </a:bodyPr>
          <a:lstStyle>
            <a:lvl1pPr algn="r" defTabSz="913908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41895"/>
            <a:ext cx="2948939" cy="497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37" tIns="0" rIns="19037" bIns="0" numCol="1" anchor="b" anchorCtr="0" compatLnSpc="1">
            <a:prstTxWarp prst="textNoShape">
              <a:avLst/>
            </a:prstTxWarp>
          </a:bodyPr>
          <a:lstStyle>
            <a:lvl1pPr defTabSz="913908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altLang="zh-TW"/>
              <a:t>cccc</a:t>
            </a: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8262" y="9441895"/>
            <a:ext cx="2948938" cy="497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37" tIns="0" rIns="19037" bIns="0" numCol="1" anchor="b" anchorCtr="0" compatLnSpc="1">
            <a:prstTxWarp prst="textNoShape">
              <a:avLst/>
            </a:prstTxWarp>
          </a:bodyPr>
          <a:lstStyle>
            <a:lvl1pPr algn="r" defTabSz="913908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fld id="{1AAE5F65-B699-4747-BB15-D4DC4613D55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139270" name="Rectangle 6"/>
          <p:cNvSpPr>
            <a:spLocks noChangeArrowheads="1"/>
          </p:cNvSpPr>
          <p:nvPr/>
        </p:nvSpPr>
        <p:spPr bwMode="auto">
          <a:xfrm>
            <a:off x="3021346" y="9468912"/>
            <a:ext cx="764509" cy="2559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7251" tIns="44419" rIns="87251" bIns="44419">
            <a:spAutoFit/>
          </a:bodyPr>
          <a:lstStyle>
            <a:lvl1pPr defTabSz="86677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86677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86677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86677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86677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algn="ctr">
              <a:lnSpc>
                <a:spcPct val="90000"/>
              </a:lnSpc>
              <a:defRPr/>
            </a:pPr>
            <a:r>
              <a:rPr lang="en-US" altLang="zh-TW" sz="1200">
                <a:latin typeface="Arial" charset="0"/>
              </a:rPr>
              <a:t>Page </a:t>
            </a:r>
            <a:fld id="{1FD316CB-0E0D-4037-9E6D-9FAA8E0B4ADF}" type="slidenum">
              <a:rPr lang="en-US" altLang="zh-TW" sz="1200">
                <a:latin typeface="Arial" charset="0"/>
              </a:rPr>
              <a:pPr algn="ctr">
                <a:lnSpc>
                  <a:spcPct val="90000"/>
                </a:lnSpc>
                <a:defRPr/>
              </a:pPr>
              <a:t>‹#›</a:t>
            </a:fld>
            <a:endParaRPr lang="en-US" altLang="zh-TW" sz="12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74173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8939" cy="497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37" tIns="0" rIns="19037" bIns="0" numCol="1" anchor="t" anchorCtr="0" compatLnSpc="1">
            <a:prstTxWarp prst="textNoShape">
              <a:avLst/>
            </a:prstTxWarp>
          </a:bodyPr>
          <a:lstStyle>
            <a:lvl1pPr defTabSz="761325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altLang="zh-TW"/>
              <a:t>abbbb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8262" y="0"/>
            <a:ext cx="2948938" cy="497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37" tIns="0" rIns="19037" bIns="0" numCol="1" anchor="t" anchorCtr="0" compatLnSpc="1">
            <a:prstTxWarp prst="textNoShape">
              <a:avLst/>
            </a:prstTxWarp>
          </a:bodyPr>
          <a:lstStyle>
            <a:lvl1pPr algn="r" defTabSz="761325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41895"/>
            <a:ext cx="2948939" cy="497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37" tIns="0" rIns="19037" bIns="0" numCol="1" anchor="b" anchorCtr="0" compatLnSpc="1">
            <a:prstTxWarp prst="textNoShape">
              <a:avLst/>
            </a:prstTxWarp>
          </a:bodyPr>
          <a:lstStyle>
            <a:lvl1pPr defTabSz="761325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altLang="zh-TW"/>
              <a:t>cccc</a:t>
            </a: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8262" y="9441895"/>
            <a:ext cx="2948938" cy="497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37" tIns="0" rIns="19037" bIns="0" numCol="1" anchor="b" anchorCtr="0" compatLnSpc="1">
            <a:prstTxWarp prst="textNoShape">
              <a:avLst/>
            </a:prstTxWarp>
          </a:bodyPr>
          <a:lstStyle>
            <a:lvl1pPr algn="r" defTabSz="761325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fld id="{67139406-8213-4215-8802-6A38B614D73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7733" y="4721743"/>
            <a:ext cx="4991735" cy="447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10" tIns="46006" rIns="92010" bIns="460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 smtClean="0"/>
              <a:t>Body Text</a:t>
            </a:r>
          </a:p>
          <a:p>
            <a:pPr lvl="1"/>
            <a:r>
              <a:rPr lang="en-US" altLang="zh-TW" noProof="0" smtClean="0"/>
              <a:t>Second Level</a:t>
            </a:r>
          </a:p>
          <a:p>
            <a:pPr lvl="2"/>
            <a:r>
              <a:rPr lang="en-US" altLang="zh-TW" noProof="0" smtClean="0"/>
              <a:t>Third Level</a:t>
            </a:r>
          </a:p>
          <a:p>
            <a:pPr lvl="3"/>
            <a:r>
              <a:rPr lang="en-US" altLang="zh-TW" noProof="0" smtClean="0"/>
              <a:t>Fourth Level</a:t>
            </a:r>
          </a:p>
          <a:p>
            <a:pPr lvl="4"/>
            <a:r>
              <a:rPr lang="en-US" altLang="zh-TW" noProof="0" smtClean="0"/>
              <a:t>Fifth Level</a:t>
            </a:r>
          </a:p>
        </p:txBody>
      </p:sp>
      <p:sp>
        <p:nvSpPr>
          <p:cNvPr id="70663" name="Rectangle 7"/>
          <p:cNvSpPr>
            <a:spLocks noChangeArrowheads="1"/>
          </p:cNvSpPr>
          <p:nvPr/>
        </p:nvSpPr>
        <p:spPr bwMode="auto">
          <a:xfrm>
            <a:off x="3021346" y="9468912"/>
            <a:ext cx="764509" cy="2559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7251" tIns="44419" rIns="87251" bIns="44419">
            <a:spAutoFit/>
          </a:bodyPr>
          <a:lstStyle>
            <a:lvl1pPr defTabSz="86677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86677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86677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86677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86677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algn="ctr">
              <a:lnSpc>
                <a:spcPct val="90000"/>
              </a:lnSpc>
              <a:defRPr/>
            </a:pPr>
            <a:r>
              <a:rPr lang="en-US" altLang="zh-TW" sz="1200" smtClean="0">
                <a:latin typeface="Arial" charset="0"/>
              </a:rPr>
              <a:t>Page </a:t>
            </a:r>
            <a:fld id="{C9ADCC90-5AA9-4948-A364-F6B03B2258C1}" type="slidenum">
              <a:rPr lang="en-US" altLang="zh-TW" sz="1200" smtClean="0">
                <a:latin typeface="Arial" charset="0"/>
              </a:rPr>
              <a:pPr algn="ctr">
                <a:lnSpc>
                  <a:spcPct val="90000"/>
                </a:lnSpc>
                <a:defRPr/>
              </a:pPr>
              <a:t>‹#›</a:t>
            </a:fld>
            <a:endParaRPr lang="en-US" altLang="zh-TW" sz="1200" smtClean="0">
              <a:latin typeface="Arial" charset="0"/>
            </a:endParaRPr>
          </a:p>
        </p:txBody>
      </p:sp>
      <p:sp>
        <p:nvSpPr>
          <p:cNvPr id="79880" name="Rectangle 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23900" y="752475"/>
            <a:ext cx="5362575" cy="3713163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</p:spTree>
    <p:extLst>
      <p:ext uri="{BB962C8B-B14F-4D97-AF65-F5344CB8AC3E}">
        <p14:creationId xmlns:p14="http://schemas.microsoft.com/office/powerpoint/2010/main" val="2606759007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lnSpc>
        <a:spcPct val="88000"/>
      </a:lnSpc>
      <a:spcBef>
        <a:spcPct val="4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eaLnBrk="0" fontAlgn="base" hangingPunct="0">
      <a:lnSpc>
        <a:spcPct val="88000"/>
      </a:lnSpc>
      <a:spcBef>
        <a:spcPct val="4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eaLnBrk="0" fontAlgn="base" hangingPunct="0">
      <a:lnSpc>
        <a:spcPct val="88000"/>
      </a:lnSpc>
      <a:spcBef>
        <a:spcPct val="4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eaLnBrk="0" fontAlgn="base" hangingPunct="0">
      <a:lnSpc>
        <a:spcPct val="88000"/>
      </a:lnSpc>
      <a:spcBef>
        <a:spcPct val="4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eaLnBrk="0" fontAlgn="base" hangingPunct="0">
      <a:lnSpc>
        <a:spcPct val="88000"/>
      </a:lnSpc>
      <a:spcBef>
        <a:spcPct val="4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80899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8090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DB76FC2C-DCEF-45C5-9E46-63A72C73CF43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1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8090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38914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81923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8192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2A22D95E-3BF4-4A53-AC6D-1CF22123CAFE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2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819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409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82947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8294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6E85C527-30A9-4A2B-B069-3DC730F6D3C3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3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829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5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45954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83971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8397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3FEA71CE-BEAD-4E82-BDC4-7F84861D4DBB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4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839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45953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84995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8499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9332D91D-9772-454E-ABC2-2DD2139ECE1A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5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849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1211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86019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8602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0E2C4809-53CC-4BFB-9A04-958E5D7D2D38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6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860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71526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87043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8704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811BDF1C-CA78-48A8-82AE-7F5B04CF21C0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7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870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00809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3172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89091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8909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9FB77FF5-6273-43DD-9AF0-B20CE2CB5917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9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890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90603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90115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9011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FFCB987C-F254-44BE-AE3D-E4404DC25D9A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10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901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77176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91139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9114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78B47CDE-696E-4184-A60B-36036526412A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11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911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17214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92163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9216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E9E3193B-AD26-429F-B325-BBDEF30462FC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12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921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6865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93187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9318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066BA1BA-4A5A-4EB0-B8AF-A42E02944EEE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13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931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9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60181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94211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9421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BBCB1B93-DCDF-438F-B3AE-A0AB257249C8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14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942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95469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95235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9523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193C6B91-1CDD-40E5-94C2-B8AFD62D845B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15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952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18901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96259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9626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B86AEEC5-F0FC-4E64-A57A-11E154A55074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16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962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14212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97283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9728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9102ACFD-17CB-478C-AA81-056938683C69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17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972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0502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98307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9830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BF8DFF52-8122-46FB-9A93-D7A4170C4F8F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18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9830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1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36595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99331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9933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DBF5E4D3-8F43-4A16-B10B-7CD2CF1994AD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19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993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8578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100355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10035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E2F89ECB-D749-4690-AB76-0F8874F32916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20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1003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5859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101379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10138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F00682D7-8708-4CA1-A55F-1313898A98C8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21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1013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3103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102403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10240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BB7064D9-4B0F-4B52-958E-5DDE01E63C37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22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1024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5729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103427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10342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7F25EC73-6CB9-4705-B016-A5C6514F9556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23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1034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3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66569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104451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10445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763EB03B-F34F-4F9B-9FD4-42BB45B971FC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24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1044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28486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105475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10547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50D2E196-889C-4147-95E0-750954867200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25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1054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121374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106499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10650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1FC63C65-55CD-4C2A-98A2-E09833284DE1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26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10650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00296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107523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10752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8F9644C9-2B8D-4B51-BC4E-53CF376C02EA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27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1075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450393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108547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10854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3E57586A-96F1-446D-BE4E-ADF6CD5458CA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28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1085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5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372198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109571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10957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D575D115-A0C2-4469-AAD1-DC07AE20EC4F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29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1095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224126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110595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11059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D9A23151-B8B0-4692-9AD9-1C2709B7DC6C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30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1105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400335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111619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11162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E912B427-3D6E-4EC2-9937-0842D02C3D42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31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1116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357919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112643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11264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B1142536-B353-462C-B448-25655ED0704C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32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1126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756918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113667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11366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9C5CBB5A-1737-420C-BC09-B29C30007B55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33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1136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5963" y="747713"/>
            <a:ext cx="5378450" cy="3724275"/>
          </a:xfrm>
          <a:ln/>
        </p:spPr>
      </p:sp>
      <p:sp>
        <p:nvSpPr>
          <p:cNvPr id="1136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7733" y="4721743"/>
            <a:ext cx="4991735" cy="4470636"/>
          </a:xfrm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8480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114691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11469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71E90F0E-862E-4CE7-AF8A-31F113BEB02A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34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1146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5963" y="747713"/>
            <a:ext cx="5378450" cy="3724275"/>
          </a:xfrm>
          <a:ln/>
        </p:spPr>
      </p:sp>
      <p:sp>
        <p:nvSpPr>
          <p:cNvPr id="1146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7733" y="4721743"/>
            <a:ext cx="4991735" cy="4470636"/>
          </a:xfrm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0380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115715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11571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AAFE7917-5AC4-4F22-A9A0-8220178267E3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35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1157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549905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116739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11674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8551D5D9-39B6-44EF-9D2F-BF16A45A3CD6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36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1167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670671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117763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11776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97442AB2-8628-4477-BA02-50808B8A6902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37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1177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476040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118787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11878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58CAA9EC-76EC-4FCC-9198-8C05473CC8B7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38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1187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9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257486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119811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11981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313E4CF5-A03D-43BF-A645-5E5D365843A8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39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1198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4375" y="746125"/>
            <a:ext cx="5383213" cy="3727450"/>
          </a:xfrm>
          <a:ln/>
        </p:spPr>
      </p:sp>
      <p:sp>
        <p:nvSpPr>
          <p:cNvPr id="11981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wrap="none" lIns="96583" tIns="48292" rIns="96583" bIns="48292" anchor="ctr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256366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120835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12083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C01A9BD0-BB91-49C4-AA36-97E08B8E2863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40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1208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4375" y="746125"/>
            <a:ext cx="5383213" cy="3727450"/>
          </a:xfrm>
          <a:ln/>
        </p:spPr>
      </p:sp>
      <p:sp>
        <p:nvSpPr>
          <p:cNvPr id="12083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wrap="none" lIns="96583" tIns="48292" rIns="96583" bIns="48292" anchor="ctr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097896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121859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12186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41DD100E-ACD2-4213-9F31-A6DDE6CBD53A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41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1218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4375" y="746125"/>
            <a:ext cx="5383213" cy="3727450"/>
          </a:xfrm>
          <a:ln/>
        </p:spPr>
      </p:sp>
      <p:sp>
        <p:nvSpPr>
          <p:cNvPr id="12186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wrap="none" lIns="96583" tIns="48292" rIns="96583" bIns="48292" anchor="ctr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867380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122883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12288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EE76C811-9771-4ED3-BB8B-6F060168D3A0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42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1228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4375" y="746125"/>
            <a:ext cx="5383213" cy="3727450"/>
          </a:xfrm>
          <a:ln/>
        </p:spPr>
      </p:sp>
      <p:sp>
        <p:nvSpPr>
          <p:cNvPr id="12288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wrap="none" lIns="96583" tIns="48292" rIns="96583" bIns="48292" anchor="ctr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53953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123907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12390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507D2F23-D449-487E-B8B4-A8D3A79B17B8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43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12390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1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334824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124931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12493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3851427A-ED81-45BD-BAA8-C6672C0F8EF7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44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1249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518220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125955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12595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FA01DD96-F9BC-4AC4-85EB-CE59BCAC40F3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45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1259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141640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126979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12698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C8D540D8-A83B-44A4-95B1-DA593B9CD61D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46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1269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40455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128003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12800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FAF9B260-C6E9-40CC-8939-5E30D6F9AE61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47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1280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007545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128003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12800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FAF9B260-C6E9-40CC-8939-5E30D6F9AE61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48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1280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460738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128003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12800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FAF9B260-C6E9-40CC-8939-5E30D6F9AE61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49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1280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190443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0928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3842" indent="-286093" defTabSz="940928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4372" indent="-228874" defTabSz="940928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2120" indent="-228874" defTabSz="940928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9869" indent="-228874" defTabSz="940928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7618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5366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33115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90863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54BD65F6-3BF1-4391-86AA-564AA7478A65}" type="slidenum">
              <a:rPr lang="en-US" altLang="en-US" sz="1000">
                <a:latin typeface="Times New Roman" pitchFamily="18" charset="0"/>
                <a:ea typeface="MS PGothic" pitchFamily="34" charset="-128"/>
              </a:rPr>
              <a:pPr eaLnBrk="1" hangingPunct="1"/>
              <a:t>50</a:t>
            </a:fld>
            <a:endParaRPr lang="en-US" altLang="en-US" sz="1000">
              <a:latin typeface="Times New Roman" pitchFamily="18" charset="0"/>
              <a:ea typeface="MS PGothic" pitchFamily="34" charset="-128"/>
            </a:endParaRPr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23900" y="752475"/>
            <a:ext cx="5362575" cy="3713163"/>
          </a:xfrm>
          <a:ln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557862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0928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3842" indent="-286093" defTabSz="940928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4372" indent="-228874" defTabSz="940928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2120" indent="-228874" defTabSz="940928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9869" indent="-228874" defTabSz="940928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7618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5366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33115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90863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54BD65F6-3BF1-4391-86AA-564AA7478A65}" type="slidenum">
              <a:rPr lang="en-US" altLang="en-US" sz="1000">
                <a:latin typeface="Times New Roman" pitchFamily="18" charset="0"/>
                <a:ea typeface="MS PGothic" pitchFamily="34" charset="-128"/>
              </a:rPr>
              <a:pPr eaLnBrk="1" hangingPunct="1"/>
              <a:t>51</a:t>
            </a:fld>
            <a:endParaRPr lang="en-US" altLang="en-US" sz="1000">
              <a:latin typeface="Times New Roman" pitchFamily="18" charset="0"/>
              <a:ea typeface="MS PGothic" pitchFamily="34" charset="-128"/>
            </a:endParaRPr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23900" y="752475"/>
            <a:ext cx="5362575" cy="3713163"/>
          </a:xfrm>
          <a:ln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039376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0928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3842" indent="-286093" defTabSz="940928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4372" indent="-228874" defTabSz="940928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2120" indent="-228874" defTabSz="940928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9869" indent="-228874" defTabSz="940928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7618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5366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33115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90863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54BD65F6-3BF1-4391-86AA-564AA7478A65}" type="slidenum">
              <a:rPr lang="en-US" altLang="en-US" sz="1000">
                <a:latin typeface="Times New Roman" pitchFamily="18" charset="0"/>
                <a:ea typeface="MS PGothic" pitchFamily="34" charset="-128"/>
              </a:rPr>
              <a:pPr eaLnBrk="1" hangingPunct="1"/>
              <a:t>52</a:t>
            </a:fld>
            <a:endParaRPr lang="en-US" altLang="en-US" sz="1000">
              <a:latin typeface="Times New Roman" pitchFamily="18" charset="0"/>
              <a:ea typeface="MS PGothic" pitchFamily="34" charset="-128"/>
            </a:endParaRPr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23900" y="752475"/>
            <a:ext cx="5362575" cy="3713163"/>
          </a:xfrm>
          <a:ln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241565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0928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3842" indent="-286093" defTabSz="940928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4372" indent="-228874" defTabSz="940928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2120" indent="-228874" defTabSz="940928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9869" indent="-228874" defTabSz="940928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7618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5366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33115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90863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54BD65F6-3BF1-4391-86AA-564AA7478A65}" type="slidenum">
              <a:rPr lang="en-US" altLang="en-US" sz="1000">
                <a:latin typeface="Times New Roman" pitchFamily="18" charset="0"/>
                <a:ea typeface="MS PGothic" pitchFamily="34" charset="-128"/>
              </a:rPr>
              <a:pPr eaLnBrk="1" hangingPunct="1"/>
              <a:t>53</a:t>
            </a:fld>
            <a:endParaRPr lang="en-US" altLang="en-US" sz="1000">
              <a:latin typeface="Times New Roman" pitchFamily="18" charset="0"/>
              <a:ea typeface="MS PGothic" pitchFamily="34" charset="-128"/>
            </a:endParaRPr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23900" y="752475"/>
            <a:ext cx="5362575" cy="3713163"/>
          </a:xfrm>
          <a:ln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508398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0928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3842" indent="-286093" defTabSz="940928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4372" indent="-228874" defTabSz="940928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2120" indent="-228874" defTabSz="940928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9869" indent="-228874" defTabSz="940928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7618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5366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33115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90863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859ECB2A-C9D8-42F2-A71A-C1E436FA64E3}" type="slidenum">
              <a:rPr lang="en-US" altLang="en-US" sz="1000">
                <a:latin typeface="Times New Roman" pitchFamily="18" charset="0"/>
                <a:ea typeface="MS PGothic" pitchFamily="34" charset="-128"/>
              </a:rPr>
              <a:pPr eaLnBrk="1" hangingPunct="1"/>
              <a:t>54</a:t>
            </a:fld>
            <a:endParaRPr lang="en-US" altLang="en-US" sz="1000">
              <a:latin typeface="Times New Roman" pitchFamily="18" charset="0"/>
              <a:ea typeface="MS PGothic" pitchFamily="34" charset="-128"/>
            </a:endParaRPr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23900" y="752475"/>
            <a:ext cx="5362575" cy="3713163"/>
          </a:xfrm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292165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0928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3842" indent="-286093" defTabSz="940928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4372" indent="-228874" defTabSz="940928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2120" indent="-228874" defTabSz="940928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9869" indent="-228874" defTabSz="940928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7618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5366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33115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90863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859ECB2A-C9D8-42F2-A71A-C1E436FA64E3}" type="slidenum">
              <a:rPr lang="en-US" altLang="en-US" sz="1000">
                <a:latin typeface="Times New Roman" pitchFamily="18" charset="0"/>
                <a:ea typeface="MS PGothic" pitchFamily="34" charset="-128"/>
              </a:rPr>
              <a:pPr eaLnBrk="1" hangingPunct="1"/>
              <a:t>55</a:t>
            </a:fld>
            <a:endParaRPr lang="en-US" altLang="en-US" sz="1000">
              <a:latin typeface="Times New Roman" pitchFamily="18" charset="0"/>
              <a:ea typeface="MS PGothic" pitchFamily="34" charset="-128"/>
            </a:endParaRPr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23900" y="752475"/>
            <a:ext cx="5362575" cy="3713163"/>
          </a:xfrm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491926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0928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3842" indent="-286093" defTabSz="940928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4372" indent="-228874" defTabSz="940928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2120" indent="-228874" defTabSz="940928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9869" indent="-228874" defTabSz="940928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7618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5366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33115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90863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859ECB2A-C9D8-42F2-A71A-C1E436FA64E3}" type="slidenum">
              <a:rPr lang="en-US" altLang="en-US" sz="1000">
                <a:latin typeface="Times New Roman" pitchFamily="18" charset="0"/>
                <a:ea typeface="MS PGothic" pitchFamily="34" charset="-128"/>
              </a:rPr>
              <a:pPr eaLnBrk="1" hangingPunct="1"/>
              <a:t>56</a:t>
            </a:fld>
            <a:endParaRPr lang="en-US" altLang="en-US" sz="1000">
              <a:latin typeface="Times New Roman" pitchFamily="18" charset="0"/>
              <a:ea typeface="MS PGothic" pitchFamily="34" charset="-128"/>
            </a:endParaRPr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23900" y="752475"/>
            <a:ext cx="5362575" cy="3713163"/>
          </a:xfrm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44106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0928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3842" indent="-286093" defTabSz="940928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4372" indent="-228874" defTabSz="940928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2120" indent="-228874" defTabSz="940928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9869" indent="-228874" defTabSz="940928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7618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5366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33115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90863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B5D6BA7C-1651-44F2-B02B-079F7E82E5F5}" type="slidenum">
              <a:rPr lang="en-US" altLang="en-US" sz="1000">
                <a:latin typeface="Times New Roman" pitchFamily="18" charset="0"/>
                <a:ea typeface="MS PGothic" pitchFamily="34" charset="-128"/>
              </a:rPr>
              <a:pPr eaLnBrk="1" hangingPunct="1"/>
              <a:t>57</a:t>
            </a:fld>
            <a:endParaRPr lang="en-US" altLang="en-US" sz="1000">
              <a:latin typeface="Times New Roman" pitchFamily="18" charset="0"/>
              <a:ea typeface="MS PGothic" pitchFamily="34" charset="-128"/>
            </a:endParaRPr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23900" y="752475"/>
            <a:ext cx="5362575" cy="3713163"/>
          </a:xfrm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75616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0928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3842" indent="-286093" defTabSz="940928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4372" indent="-228874" defTabSz="940928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2120" indent="-228874" defTabSz="940928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9869" indent="-228874" defTabSz="940928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7618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5366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33115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90863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389A95FE-D59E-484D-B6C5-869338CE695B}" type="slidenum">
              <a:rPr lang="en-US" altLang="en-US" sz="1000">
                <a:latin typeface="Times New Roman" pitchFamily="18" charset="0"/>
                <a:ea typeface="MS PGothic" pitchFamily="34" charset="-128"/>
              </a:rPr>
              <a:pPr eaLnBrk="1" hangingPunct="1"/>
              <a:t>58</a:t>
            </a:fld>
            <a:endParaRPr lang="en-US" altLang="en-US" sz="1000">
              <a:latin typeface="Times New Roman" pitchFamily="18" charset="0"/>
              <a:ea typeface="MS PGothic" pitchFamily="34" charset="-128"/>
            </a:endParaRPr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23900" y="752475"/>
            <a:ext cx="5362575" cy="3713163"/>
          </a:xfrm>
          <a:ln/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278291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136195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13619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A013348C-7F37-4141-90D6-DD71547AE987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59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1361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5963" y="747713"/>
            <a:ext cx="5378450" cy="3724275"/>
          </a:xfrm>
          <a:ln/>
        </p:spPr>
      </p:sp>
      <p:sp>
        <p:nvSpPr>
          <p:cNvPr id="1361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7733" y="4721743"/>
            <a:ext cx="4991735" cy="4470636"/>
          </a:xfrm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475445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142339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14234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A5CE1E0A-D876-4AD1-A650-F93131630F2B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60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1423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5963" y="747713"/>
            <a:ext cx="5378450" cy="3724275"/>
          </a:xfrm>
          <a:ln/>
        </p:spPr>
      </p:sp>
      <p:sp>
        <p:nvSpPr>
          <p:cNvPr id="1423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7733" y="4721743"/>
            <a:ext cx="4991735" cy="4470636"/>
          </a:xfrm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000784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142339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14234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A5CE1E0A-D876-4AD1-A650-F93131630F2B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61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1423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5963" y="747713"/>
            <a:ext cx="5378450" cy="3724275"/>
          </a:xfrm>
          <a:ln/>
        </p:spPr>
      </p:sp>
      <p:sp>
        <p:nvSpPr>
          <p:cNvPr id="1423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7733" y="4721743"/>
            <a:ext cx="4991735" cy="4470636"/>
          </a:xfrm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70504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143363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14336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D20F3E62-9858-419A-9FE7-F34C1CB210D4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62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1433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5963" y="747713"/>
            <a:ext cx="5378450" cy="3724275"/>
          </a:xfrm>
          <a:ln/>
        </p:spPr>
      </p:sp>
      <p:sp>
        <p:nvSpPr>
          <p:cNvPr id="1433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7733" y="4721743"/>
            <a:ext cx="4991735" cy="4470636"/>
          </a:xfrm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820561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0928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3842" indent="-286093" defTabSz="940928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4372" indent="-228874" defTabSz="940928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2120" indent="-228874" defTabSz="940928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9869" indent="-228874" defTabSz="940928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7618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5366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33115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90863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35262F8-8B14-4A50-A2A3-B4B7825E4D32}" type="slidenum">
              <a:rPr lang="en-US" altLang="en-US">
                <a:latin typeface="Times New Roman" pitchFamily="18" charset="0"/>
              </a:rPr>
              <a:pPr/>
              <a:t>63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23900" y="752475"/>
            <a:ext cx="5362575" cy="3713163"/>
          </a:xfrm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182962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0928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3842" indent="-286093" defTabSz="940928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4372" indent="-228874" defTabSz="940928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2120" indent="-228874" defTabSz="940928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9869" indent="-228874" defTabSz="940928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7618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5366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33115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90863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35262F8-8B14-4A50-A2A3-B4B7825E4D32}" type="slidenum">
              <a:rPr lang="en-US" altLang="en-US">
                <a:latin typeface="Times New Roman" pitchFamily="18" charset="0"/>
              </a:rPr>
              <a:pPr/>
              <a:t>64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23900" y="752475"/>
            <a:ext cx="5362575" cy="3713163"/>
          </a:xfrm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2111195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0928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3842" indent="-286093" defTabSz="940928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4372" indent="-228874" defTabSz="940928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2120" indent="-228874" defTabSz="940928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9869" indent="-228874" defTabSz="940928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7618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5366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33115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90863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35262F8-8B14-4A50-A2A3-B4B7825E4D32}" type="slidenum">
              <a:rPr lang="en-US" altLang="en-US">
                <a:latin typeface="Times New Roman" pitchFamily="18" charset="0"/>
              </a:rPr>
              <a:pPr/>
              <a:t>65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23900" y="752475"/>
            <a:ext cx="5362575" cy="3713163"/>
          </a:xfrm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273170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0928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3842" indent="-286093" defTabSz="940928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4372" indent="-228874" defTabSz="940928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2120" indent="-228874" defTabSz="940928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9869" indent="-228874" defTabSz="940928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7618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5366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33115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90863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35262F8-8B14-4A50-A2A3-B4B7825E4D32}" type="slidenum">
              <a:rPr lang="en-US" altLang="en-US">
                <a:latin typeface="Times New Roman" pitchFamily="18" charset="0"/>
              </a:rPr>
              <a:pPr/>
              <a:t>66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23900" y="752475"/>
            <a:ext cx="5362575" cy="3713163"/>
          </a:xfrm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021761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0928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3842" indent="-286093" defTabSz="940928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4372" indent="-228874" defTabSz="940928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2120" indent="-228874" defTabSz="940928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9869" indent="-228874" defTabSz="940928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7618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5366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33115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90863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35262F8-8B14-4A50-A2A3-B4B7825E4D32}" type="slidenum">
              <a:rPr lang="en-US" altLang="en-US">
                <a:latin typeface="Times New Roman" pitchFamily="18" charset="0"/>
              </a:rPr>
              <a:pPr/>
              <a:t>67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23900" y="752475"/>
            <a:ext cx="5362575" cy="3713163"/>
          </a:xfrm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7707779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141315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14131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4B9DABD9-604F-4D81-AF9B-7DAA68BD169F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69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1413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5963" y="747713"/>
            <a:ext cx="5378450" cy="3724275"/>
          </a:xfrm>
          <a:ln/>
        </p:spPr>
      </p:sp>
      <p:sp>
        <p:nvSpPr>
          <p:cNvPr id="1413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7733" y="4721743"/>
            <a:ext cx="4991735" cy="4470636"/>
          </a:xfrm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4799530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137219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13722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67AAC952-756F-4505-8ABE-6A0C2D0AB4E2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71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1372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5963" y="747713"/>
            <a:ext cx="5378450" cy="3724275"/>
          </a:xfrm>
          <a:ln/>
        </p:spPr>
      </p:sp>
      <p:sp>
        <p:nvSpPr>
          <p:cNvPr id="1372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7733" y="4721743"/>
            <a:ext cx="4991735" cy="4470636"/>
          </a:xfrm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8705506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138243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13824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A7E0BC3C-3026-4EDF-B7B9-9F92C7C9D8D9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72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138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6047772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139267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13926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657C76B0-F680-429D-B7C1-467CEB7B233F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73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139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7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393050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140291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14029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1B1FB286-5A9C-4FBB-999B-C37FDAE5CD5E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74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1402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5963" y="747713"/>
            <a:ext cx="5378450" cy="3724275"/>
          </a:xfrm>
          <a:ln/>
        </p:spPr>
      </p:sp>
      <p:sp>
        <p:nvSpPr>
          <p:cNvPr id="1402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7733" y="4721743"/>
            <a:ext cx="4991735" cy="4470636"/>
          </a:xfrm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28380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148483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14848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0AE42DBF-EF5A-4EDC-8644-1E17993F2179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75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1484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6062229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149507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14950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63B5F471-77DB-49E7-9AE0-BE97670410ED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76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14950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1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478838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150531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15053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7B2F61A8-B280-4DD0-B373-33F8887D1FD6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77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1505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1899073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151555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15155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F87EDB7F-89DF-46A6-ADBF-68F8D54AFE87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78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1515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928537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152579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15258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172168A6-1993-4BAC-9FC2-A6DB06B7D205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79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1525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8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5078908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153603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15360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6006DA9A-751A-4A44-B244-D3FEF769DFEB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80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1536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0025874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154627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15462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E7C89C81-2629-4CB1-883E-331861F9C91D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81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1546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3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477712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155651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15565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93A1AB3C-D4F0-4670-9B64-AC38FE915415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82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1556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2090458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156675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15667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CF8DD83A-A04D-408B-9BCD-507376C88FA8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83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1566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7461440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144387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14438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C9D3A63C-314D-4B42-B5D1-0B31824F0780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84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1443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9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6308035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145411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14541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C932605D-0F90-4D5A-8DE0-DFAAA9B24111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85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1454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0792596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146435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14643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B9974738-5FDC-4BEC-AA99-3649FA1FA22D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86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1464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5963" y="747713"/>
            <a:ext cx="5378450" cy="3724275"/>
          </a:xfrm>
          <a:ln/>
        </p:spPr>
      </p:sp>
      <p:sp>
        <p:nvSpPr>
          <p:cNvPr id="1464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7733" y="4721743"/>
            <a:ext cx="4991735" cy="4470636"/>
          </a:xfrm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912466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abbbb</a:t>
            </a:r>
          </a:p>
        </p:txBody>
      </p:sp>
      <p:sp>
        <p:nvSpPr>
          <p:cNvPr id="147459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TW" sz="1000">
                <a:latin typeface="Times New Roman" pitchFamily="18" charset="0"/>
              </a:rPr>
              <a:t>cccc</a:t>
            </a:r>
          </a:p>
        </p:txBody>
      </p:sp>
      <p:sp>
        <p:nvSpPr>
          <p:cNvPr id="14746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3842" indent="-286093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4372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2120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9869" indent="-228874" defTabSz="761325" eaLnBrk="0" hangingPunct="0">
              <a:lnSpc>
                <a:spcPct val="88000"/>
              </a:lnSpc>
              <a:spcBef>
                <a:spcPct val="40000"/>
              </a:spcBef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7618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5366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33115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90863" indent="-228874" defTabSz="761325" eaLnBrk="0" fontAlgn="base" hangingPunct="0">
              <a:lnSpc>
                <a:spcPct val="88000"/>
              </a:lnSpc>
              <a:spcBef>
                <a:spcPct val="4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1ABF20F4-6BE7-42E0-A0D2-9B9FCEC941D0}" type="slidenum">
              <a:rPr lang="en-US" altLang="zh-TW" sz="1000">
                <a:latin typeface="Times New Roman" pitchFamily="18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87</a:t>
            </a:fld>
            <a:endParaRPr lang="en-US" altLang="zh-TW" sz="1000">
              <a:latin typeface="Times New Roman" pitchFamily="18" charset="0"/>
            </a:endParaRPr>
          </a:p>
        </p:txBody>
      </p:sp>
      <p:sp>
        <p:nvSpPr>
          <p:cNvPr id="1474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5963" y="747713"/>
            <a:ext cx="5378450" cy="3724275"/>
          </a:xfrm>
          <a:ln/>
        </p:spPr>
      </p:sp>
      <p:sp>
        <p:nvSpPr>
          <p:cNvPr id="1474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7733" y="4721743"/>
            <a:ext cx="4991735" cy="4470636"/>
          </a:xfrm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9415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906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9pPr>
              </a:lstStyle>
              <a:p>
                <a:pPr eaLnBrk="1" hangingPunct="1">
                  <a:defRPr/>
                </a:pPr>
                <a:endParaRPr lang="zh-TW" altLang="en-US" smtClean="0"/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6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</p:grpSp>
      <p:sp>
        <p:nvSpPr>
          <p:cNvPr id="238659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1073150" y="1752600"/>
            <a:ext cx="84201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TW" altLang="en-US" noProof="0" smtClean="0"/>
              <a:t>按一下以編輯母片標題樣式</a:t>
            </a:r>
          </a:p>
        </p:txBody>
      </p:sp>
      <p:sp>
        <p:nvSpPr>
          <p:cNvPr id="238660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1073150" y="3309938"/>
            <a:ext cx="6934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zh-TW" altLang="en-US" noProof="0" smtClean="0"/>
              <a:t>按一下以編輯母片副標題樣式</a:t>
            </a:r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A2CCEAD-6613-4BED-9DD2-0FFE4CEE2A14}" type="datetime1">
              <a:rPr lang="zh-TW" altLang="en-US" smtClean="0"/>
              <a:t>2018/3/22</a:t>
            </a:fld>
            <a:endParaRPr lang="en-US" altLang="zh-TW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zh-TW" smtClean="0"/>
              <a:t>OS6-2018</a:t>
            </a:r>
            <a:endParaRPr lang="en-US" altLang="zh-TW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7E86D7-324F-486F-895A-4EB8B06BDF1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04495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01E470-2160-4DBC-8EDC-C3A26B100AA7}" type="datetime1">
              <a:rPr lang="zh-TW" altLang="en-US" smtClean="0"/>
              <a:t>2018/3/22</a:t>
            </a:fld>
            <a:endParaRPr lang="en-US" altLang="zh-TW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OS6-2018</a:t>
            </a:r>
            <a:endParaRPr lang="en-US" altLang="zh-TW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7D0856-F05B-46B4-A8C6-92B923A29FD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77252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F448FB-697C-4266-8D2B-6261E32710BD}" type="datetime1">
              <a:rPr lang="zh-TW" altLang="en-US" smtClean="0"/>
              <a:t>2018/3/22</a:t>
            </a:fld>
            <a:endParaRPr lang="en-US" altLang="zh-TW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OS6-2018</a:t>
            </a:r>
            <a:endParaRPr lang="en-US" altLang="zh-TW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90ECA7-5125-482A-B940-A8A488C79A4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74161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908050" y="1905000"/>
            <a:ext cx="413385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194300" y="1905000"/>
            <a:ext cx="413385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C1C009-A06E-4F94-A8CF-0873A82E29FC}" type="datetime1">
              <a:rPr lang="zh-TW" altLang="en-US" smtClean="0"/>
              <a:t>2018/3/22</a:t>
            </a:fld>
            <a:endParaRPr lang="en-US" altLang="zh-TW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OS6-2018</a:t>
            </a:r>
            <a:endParaRPr lang="en-US" altLang="zh-TW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FAB938-8F41-416B-9A63-23D6B382954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78913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A3DDA3-1061-4034-9B50-F35425A8EB80}" type="datetime1">
              <a:rPr lang="zh-TW" altLang="en-US" smtClean="0"/>
              <a:t>2018/3/22</a:t>
            </a:fld>
            <a:endParaRPr lang="en-US" altLang="zh-TW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OS6-2018</a:t>
            </a:r>
            <a:endParaRPr lang="en-US" altLang="zh-TW"/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AC5318-A393-470C-9EDE-86CE07F9EAB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28143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3C18C0-6721-4662-BFBD-0ED6967E0C8D}" type="datetime1">
              <a:rPr lang="zh-TW" altLang="en-US" smtClean="0"/>
              <a:t>2018/3/22</a:t>
            </a:fld>
            <a:endParaRPr lang="en-US" altLang="zh-TW"/>
          </a:p>
        </p:txBody>
      </p:sp>
      <p:sp>
        <p:nvSpPr>
          <p:cNvPr id="4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OS6-2018</a:t>
            </a:r>
            <a:endParaRPr lang="en-US" altLang="zh-TW"/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ADA71C-C939-46DF-94C7-BB7972539DC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1028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1E3F10-6CA6-4322-B472-339CE483664C}" type="datetime1">
              <a:rPr lang="zh-TW" altLang="en-US" smtClean="0"/>
              <a:t>2018/3/22</a:t>
            </a:fld>
            <a:endParaRPr lang="en-US" altLang="zh-TW"/>
          </a:p>
        </p:txBody>
      </p:sp>
      <p:sp>
        <p:nvSpPr>
          <p:cNvPr id="3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OS6-2018</a:t>
            </a:r>
            <a:endParaRPr lang="en-US" altLang="zh-TW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825E16-C8F3-4C9D-95CD-E7EDF025A04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88390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D401B4-32DB-45F7-82DB-67D9FE89037C}" type="datetime1">
              <a:rPr lang="zh-TW" altLang="en-US" smtClean="0"/>
              <a:t>2018/3/22</a:t>
            </a:fld>
            <a:endParaRPr lang="en-US" altLang="zh-TW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OS6-2018</a:t>
            </a:r>
            <a:endParaRPr lang="en-US" altLang="zh-TW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4E906C-07FD-40A7-8B13-10A61E42923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12467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8092B0-D657-4CDA-934B-B45949319201}" type="datetime1">
              <a:rPr lang="zh-TW" altLang="en-US" smtClean="0"/>
              <a:t>2018/3/22</a:t>
            </a:fld>
            <a:endParaRPr lang="en-US" altLang="zh-TW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OS6-2018</a:t>
            </a:r>
            <a:endParaRPr lang="en-US" altLang="zh-TW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173089-24B7-47A2-ADEC-82081B3AFB9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05047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1CF8B7-2CD7-461C-A3D6-51A5DD4DF226}" type="datetime1">
              <a:rPr lang="zh-TW" altLang="en-US" smtClean="0"/>
              <a:t>2018/3/22</a:t>
            </a:fld>
            <a:endParaRPr lang="en-US" altLang="zh-TW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OS6-2018</a:t>
            </a:r>
            <a:endParaRPr lang="en-US" altLang="zh-TW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A20077-FD27-4A56-BC8A-711B4C284E5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85817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7161213" y="304800"/>
            <a:ext cx="2166937" cy="571500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60400" y="304800"/>
            <a:ext cx="6348413" cy="571500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7E7C80-6B1A-4EBC-9323-DF914912E722}" type="datetime1">
              <a:rPr lang="zh-TW" altLang="en-US" smtClean="0"/>
              <a:t>2018/3/22</a:t>
            </a:fld>
            <a:endParaRPr lang="en-US" altLang="zh-TW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OS6-2018</a:t>
            </a:r>
            <a:endParaRPr lang="en-US" altLang="zh-TW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AB088C-6430-4A1A-9F33-85BB4E0C1D3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15409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9906000" cy="6858000"/>
            <a:chOff x="0" y="0"/>
            <a:chExt cx="5760" cy="4320"/>
          </a:xfrm>
        </p:grpSpPr>
        <p:grpSp>
          <p:nvGrpSpPr>
            <p:cNvPr id="1032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1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2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3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4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5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6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7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8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9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0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1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2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3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4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5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6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7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8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9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90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91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040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2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3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4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5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6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7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8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9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0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1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2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3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4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5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6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7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8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9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0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1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2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3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4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5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6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7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8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9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</p:grpSp>
        <p:sp>
          <p:nvSpPr>
            <p:cNvPr id="1033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 smtClean="0"/>
            </a:p>
          </p:txBody>
        </p:sp>
        <p:sp>
          <p:nvSpPr>
            <p:cNvPr id="1034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grpSp>
          <p:nvGrpSpPr>
            <p:cNvPr id="1035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60"/>
              <p:cNvSpPr>
                <a:spLocks noChangeShapeType="1"/>
              </p:cNvSpPr>
              <p:nvPr/>
            </p:nvSpPr>
            <p:spPr bwMode="ltGray">
              <a:xfrm flipH="1">
                <a:off x="96" y="1037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37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38" name="Arc 62"/>
              <p:cNvSpPr>
                <a:spLocks/>
              </p:cNvSpPr>
              <p:nvPr/>
            </p:nvSpPr>
            <p:spPr bwMode="ltGray">
              <a:xfrm flipH="1">
                <a:off x="217" y="916"/>
                <a:ext cx="239" cy="239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</p:grpSp>
      <p:sp>
        <p:nvSpPr>
          <p:cNvPr id="1027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60400" y="304800"/>
            <a:ext cx="84201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8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908050" y="1905000"/>
            <a:ext cx="84201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237633" name="Rectangle 6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42950" y="6248400"/>
            <a:ext cx="2063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 smtClean="0"/>
            </a:lvl1pPr>
          </a:lstStyle>
          <a:p>
            <a:pPr>
              <a:defRPr/>
            </a:pPr>
            <a:fld id="{EAE789FD-7E87-4022-AD64-826E099FA12B}" type="datetime1">
              <a:rPr lang="zh-TW" altLang="en-US" smtClean="0"/>
              <a:t>2018/3/22</a:t>
            </a:fld>
            <a:endParaRPr lang="en-US" altLang="zh-TW"/>
          </a:p>
        </p:txBody>
      </p:sp>
      <p:sp>
        <p:nvSpPr>
          <p:cNvPr id="237634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248400"/>
            <a:ext cx="313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 smtClean="0"/>
            </a:lvl1pPr>
          </a:lstStyle>
          <a:p>
            <a:pPr>
              <a:defRPr/>
            </a:pPr>
            <a:r>
              <a:rPr lang="en-US" altLang="zh-TW" smtClean="0"/>
              <a:t>OS6-2018</a:t>
            </a:r>
            <a:endParaRPr lang="en-US" altLang="zh-TW"/>
          </a:p>
        </p:txBody>
      </p:sp>
      <p:sp>
        <p:nvSpPr>
          <p:cNvPr id="237635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248400"/>
            <a:ext cx="2063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pPr>
              <a:defRPr/>
            </a:pPr>
            <a:fld id="{3A720CCA-2D64-43AC-A902-55B9831D8B0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Blip>
          <a:blip r:embed="rId13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itchFamily="2" charset="2"/>
        <a:buChar char="w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slide" Target="slide45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notesSlide" Target="../notesSlides/notesSlide17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10.wmf"/><Relationship Id="rId4" Type="http://schemas.openxmlformats.org/officeDocument/2006/relationships/image" Target="../media/image1.png"/><Relationship Id="rId9" Type="http://schemas.openxmlformats.org/officeDocument/2006/relationships/oleObject" Target="../embeddings/oleObject3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6" Type="http://schemas.openxmlformats.org/officeDocument/2006/relationships/image" Target="../media/image17.jpeg"/><Relationship Id="rId5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1.xml"/><Relationship Id="rId4" Type="http://schemas.openxmlformats.org/officeDocument/2006/relationships/image" Target="../media/image2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9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6" Type="http://schemas.openxmlformats.org/officeDocument/2006/relationships/image" Target="../media/image32.jpeg"/><Relationship Id="rId5" Type="http://schemas.openxmlformats.org/officeDocument/2006/relationships/image" Target="../media/image31.png"/><Relationship Id="rId4" Type="http://schemas.openxmlformats.org/officeDocument/2006/relationships/image" Target="../media/image1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3075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3C12096-2E78-4C4C-8C20-1BCF0BE63294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kumimoji="0" lang="en-US" altLang="zh-TW" sz="1400" smtClean="0"/>
          </a:p>
        </p:txBody>
      </p:sp>
      <p:sp>
        <p:nvSpPr>
          <p:cNvPr id="3076" name="Rectangle 2050"/>
          <p:cNvSpPr>
            <a:spLocks noGrp="1" noChangeArrowheads="1"/>
          </p:cNvSpPr>
          <p:nvPr>
            <p:ph type="title"/>
          </p:nvPr>
        </p:nvSpPr>
        <p:spPr>
          <a:xfrm>
            <a:off x="1238250" y="2603500"/>
            <a:ext cx="7759700" cy="1143000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z="4800" smtClean="0"/>
              <a:t>Chapter 6 </a:t>
            </a:r>
            <a:br>
              <a:rPr lang="en-US" altLang="zh-TW" sz="4800" smtClean="0"/>
            </a:br>
            <a:r>
              <a:rPr lang="en-US" altLang="zh-TW" sz="4800" smtClean="0"/>
              <a:t>CPU Scheduling </a:t>
            </a:r>
          </a:p>
        </p:txBody>
      </p:sp>
      <p:sp>
        <p:nvSpPr>
          <p:cNvPr id="3077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5DC37CC3-45C7-496C-BEBB-FA183495A07B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4099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C1865F7-B5B2-4506-A8E0-539BA68AF99D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kumimoji="0" lang="en-US" altLang="zh-TW" sz="1400" smtClean="0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660400" y="304800"/>
            <a:ext cx="8420100" cy="808038"/>
          </a:xfrm>
        </p:spPr>
        <p:txBody>
          <a:bodyPr/>
          <a:lstStyle/>
          <a:p>
            <a:pPr algn="ctr" eaLnBrk="1" hangingPunct="1"/>
            <a:r>
              <a:rPr lang="en-US" altLang="zh-TW" smtClean="0"/>
              <a:t>Outline</a:t>
            </a:r>
          </a:p>
        </p:txBody>
      </p:sp>
      <p:sp>
        <p:nvSpPr>
          <p:cNvPr id="23961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58800" y="992188"/>
            <a:ext cx="9153525" cy="5003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ts val="1200"/>
              </a:spcBef>
            </a:pPr>
            <a:r>
              <a:rPr lang="en-US" altLang="zh-TW" dirty="0" smtClean="0"/>
              <a:t>Basic Concepts</a:t>
            </a:r>
          </a:p>
          <a:p>
            <a:pPr eaLnBrk="1" hangingPunct="1">
              <a:lnSpc>
                <a:spcPct val="90000"/>
              </a:lnSpc>
              <a:spcBef>
                <a:spcPts val="1200"/>
              </a:spcBef>
            </a:pPr>
            <a:r>
              <a:rPr lang="en-US" altLang="zh-TW" dirty="0" smtClean="0"/>
              <a:t>Scheduling Criteria </a:t>
            </a:r>
            <a:endParaRPr lang="en-US" altLang="zh-TW" dirty="0" smtClean="0">
              <a:solidFill>
                <a:srgbClr val="FF0066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ts val="1200"/>
              </a:spcBef>
            </a:pPr>
            <a:r>
              <a:rPr lang="en-US" altLang="zh-TW" dirty="0" smtClean="0">
                <a:solidFill>
                  <a:srgbClr val="FF0066"/>
                </a:solidFill>
              </a:rPr>
              <a:t>Scheduling Algorithms</a:t>
            </a:r>
          </a:p>
          <a:p>
            <a:pPr eaLnBrk="1" hangingPunct="1">
              <a:lnSpc>
                <a:spcPct val="90000"/>
              </a:lnSpc>
              <a:spcBef>
                <a:spcPts val="1200"/>
              </a:spcBef>
            </a:pPr>
            <a:r>
              <a:rPr lang="en-US" altLang="zh-TW" dirty="0" smtClean="0"/>
              <a:t>Thread Scheduling</a:t>
            </a:r>
          </a:p>
          <a:p>
            <a:pPr eaLnBrk="1" hangingPunct="1">
              <a:lnSpc>
                <a:spcPct val="90000"/>
              </a:lnSpc>
              <a:spcBef>
                <a:spcPts val="1200"/>
              </a:spcBef>
            </a:pPr>
            <a:r>
              <a:rPr lang="en-US" altLang="zh-TW" dirty="0" smtClean="0">
                <a:solidFill>
                  <a:srgbClr val="0000FF"/>
                </a:solidFill>
              </a:rPr>
              <a:t>Multiple-Processor Scheduling</a:t>
            </a:r>
          </a:p>
          <a:p>
            <a:pPr eaLnBrk="1" hangingPunct="1">
              <a:lnSpc>
                <a:spcPct val="90000"/>
              </a:lnSpc>
              <a:spcBef>
                <a:spcPts val="1200"/>
              </a:spcBef>
            </a:pPr>
            <a:r>
              <a:rPr lang="en-US" altLang="zh-TW" dirty="0" smtClean="0"/>
              <a:t>Real-Time Scheduling</a:t>
            </a:r>
          </a:p>
          <a:p>
            <a:pPr eaLnBrk="1" hangingPunct="1">
              <a:lnSpc>
                <a:spcPct val="90000"/>
              </a:lnSpc>
              <a:spcBef>
                <a:spcPts val="1200"/>
              </a:spcBef>
            </a:pPr>
            <a:r>
              <a:rPr lang="en-US" altLang="zh-TW" dirty="0" smtClean="0"/>
              <a:t>Operating Systems Examples</a:t>
            </a:r>
          </a:p>
          <a:p>
            <a:pPr eaLnBrk="1" hangingPunct="1">
              <a:lnSpc>
                <a:spcPct val="90000"/>
              </a:lnSpc>
              <a:spcBef>
                <a:spcPts val="1200"/>
              </a:spcBef>
            </a:pPr>
            <a:r>
              <a:rPr lang="en-US" altLang="zh-TW" dirty="0" smtClean="0"/>
              <a:t>Algorithm Evaluation</a:t>
            </a:r>
          </a:p>
          <a:p>
            <a:pPr eaLnBrk="1" hangingPunct="1">
              <a:lnSpc>
                <a:spcPct val="90000"/>
              </a:lnSpc>
              <a:spcBef>
                <a:spcPts val="1200"/>
              </a:spcBef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Java Thread Scheduling</a:t>
            </a:r>
            <a:endParaRPr lang="en-US" altLang="zh-TW" dirty="0" smtClean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102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789B85D-F473-465F-B8C3-36A014F73843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5123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BD0C663-BA4E-4732-8930-949375721801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kumimoji="0" lang="en-US" altLang="zh-TW" sz="1400" smtClean="0"/>
          </a:p>
        </p:txBody>
      </p:sp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>
          <a:xfrm>
            <a:off x="420688" y="0"/>
            <a:ext cx="7896225" cy="963613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z="4800" dirty="0" smtClean="0"/>
              <a:t>Objectives</a:t>
            </a:r>
          </a:p>
        </p:txBody>
      </p:sp>
      <p:sp>
        <p:nvSpPr>
          <p:cNvPr id="512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42900" y="919163"/>
            <a:ext cx="9123363" cy="5329237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>
              <a:spcBef>
                <a:spcPts val="1800"/>
              </a:spcBef>
            </a:pPr>
            <a:r>
              <a:rPr lang="en-US" altLang="zh-TW" sz="2800" dirty="0" smtClean="0"/>
              <a:t>To introduce CPU scheduling, which is the basis for </a:t>
            </a:r>
            <a:r>
              <a:rPr lang="en-US" altLang="zh-TW" sz="2800" dirty="0" err="1" smtClean="0"/>
              <a:t>multiprogrammed</a:t>
            </a:r>
            <a:r>
              <a:rPr lang="en-US" altLang="zh-TW" sz="2800" dirty="0" smtClean="0"/>
              <a:t> operating systems</a:t>
            </a:r>
          </a:p>
          <a:p>
            <a:pPr eaLnBrk="1" hangingPunct="1">
              <a:spcBef>
                <a:spcPts val="1800"/>
              </a:spcBef>
            </a:pPr>
            <a:r>
              <a:rPr lang="en-US" altLang="zh-TW" sz="2800" dirty="0" smtClean="0"/>
              <a:t>To describe various </a:t>
            </a:r>
            <a:r>
              <a:rPr lang="en-US" altLang="zh-TW" sz="2800" dirty="0" smtClean="0">
                <a:solidFill>
                  <a:srgbClr val="FF0000"/>
                </a:solidFill>
              </a:rPr>
              <a:t>CPU-scheduling algorithms</a:t>
            </a:r>
          </a:p>
          <a:p>
            <a:pPr eaLnBrk="1" hangingPunct="1">
              <a:spcBef>
                <a:spcPts val="1800"/>
              </a:spcBef>
            </a:pPr>
            <a:r>
              <a:rPr lang="en-US" altLang="zh-TW" sz="2800" dirty="0" smtClean="0"/>
              <a:t>To discuss </a:t>
            </a:r>
            <a:r>
              <a:rPr lang="en-US" altLang="zh-TW" sz="2800" dirty="0" smtClean="0">
                <a:solidFill>
                  <a:srgbClr val="FF0000"/>
                </a:solidFill>
              </a:rPr>
              <a:t>evaluation criteria </a:t>
            </a:r>
            <a:r>
              <a:rPr lang="en-US" altLang="zh-TW" sz="2800" dirty="0" smtClean="0"/>
              <a:t>for selecting a CPU-scheduling algorithm for a particular system</a:t>
            </a:r>
          </a:p>
          <a:p>
            <a:pPr eaLnBrk="1" hangingPunct="1">
              <a:spcBef>
                <a:spcPts val="1800"/>
              </a:spcBef>
            </a:pPr>
            <a:r>
              <a:rPr lang="en-US" altLang="zh-TW" sz="2800" dirty="0" smtClean="0"/>
              <a:t>To examine the scheduling algorithms of several operating systems</a:t>
            </a:r>
          </a:p>
        </p:txBody>
      </p:sp>
      <p:sp>
        <p:nvSpPr>
          <p:cNvPr id="5126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4AC89A1B-9806-4A0B-AF86-B1DCBB3764E6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6147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72B3D9C-14F2-4580-8CE6-9AFA57642503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kumimoji="0" lang="en-US" altLang="zh-TW" sz="1400" smtClean="0"/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>
          <a:xfrm>
            <a:off x="420688" y="0"/>
            <a:ext cx="7896225" cy="963613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z="4800" smtClean="0"/>
              <a:t>Basic Concepts</a:t>
            </a:r>
          </a:p>
        </p:txBody>
      </p:sp>
      <p:sp>
        <p:nvSpPr>
          <p:cNvPr id="19149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42900" y="919163"/>
            <a:ext cx="9123363" cy="5329237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/>
            <a:r>
              <a:rPr lang="en-US" altLang="zh-TW" sz="2800" dirty="0" smtClean="0"/>
              <a:t>The idea of multiprogramming: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400" dirty="0" smtClean="0"/>
              <a:t>	</a:t>
            </a:r>
            <a:r>
              <a:rPr lang="en-US" altLang="zh-TW" sz="2400" dirty="0" smtClean="0">
                <a:solidFill>
                  <a:srgbClr val="0000FF"/>
                </a:solidFill>
              </a:rPr>
              <a:t>Keep several processes in memory. Every time one process has to wait, another process takes over the use of the CPU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800" dirty="0" smtClean="0">
                <a:solidFill>
                  <a:srgbClr val="FF0066"/>
                </a:solidFill>
              </a:rPr>
              <a:t>CPU-I/O burst cycle</a:t>
            </a:r>
            <a:r>
              <a:rPr lang="en-US" altLang="zh-TW" sz="2800" dirty="0" smtClean="0"/>
              <a:t>: Process execution consists of a cycle of CPU execution and I/O wait (i.e., </a:t>
            </a:r>
            <a:r>
              <a:rPr lang="en-US" altLang="zh-TW" sz="2800" dirty="0" smtClean="0">
                <a:solidFill>
                  <a:srgbClr val="FF0066"/>
                </a:solidFill>
              </a:rPr>
              <a:t>CPU burst</a:t>
            </a:r>
            <a:r>
              <a:rPr lang="en-US" altLang="zh-TW" sz="2800" dirty="0" smtClean="0"/>
              <a:t> and </a:t>
            </a:r>
            <a:r>
              <a:rPr lang="en-US" altLang="zh-TW" sz="2800" dirty="0" smtClean="0">
                <a:solidFill>
                  <a:srgbClr val="FF0066"/>
                </a:solidFill>
              </a:rPr>
              <a:t>I/O burst</a:t>
            </a:r>
            <a:r>
              <a:rPr lang="en-US" altLang="zh-TW" sz="2800" dirty="0" smtClean="0"/>
              <a:t>).</a:t>
            </a:r>
            <a:endParaRPr lang="en-US" altLang="zh-TW" sz="2800" dirty="0" smtClean="0">
              <a:solidFill>
                <a:srgbClr val="FF0066"/>
              </a:solidFill>
            </a:endParaRPr>
          </a:p>
          <a:p>
            <a:pPr lvl="1" eaLnBrk="1" hangingPunct="1"/>
            <a:r>
              <a:rPr lang="en-US" altLang="zh-TW" sz="2400" dirty="0" smtClean="0">
                <a:solidFill>
                  <a:srgbClr val="FF0066"/>
                </a:solidFill>
              </a:rPr>
              <a:t>Generally, there is a large number of short CPU bursts, and a small number of long CPU bursts</a:t>
            </a:r>
            <a:r>
              <a:rPr lang="en-US" altLang="zh-TW" sz="2400" dirty="0" smtClean="0"/>
              <a:t>.</a:t>
            </a:r>
          </a:p>
          <a:p>
            <a:pPr lvl="1" eaLnBrk="1" hangingPunct="1"/>
            <a:r>
              <a:rPr lang="en-US" altLang="zh-TW" sz="2400" dirty="0" smtClean="0"/>
              <a:t>A I/O-bound program would typically has many very short CPU bursts.</a:t>
            </a:r>
          </a:p>
          <a:p>
            <a:pPr lvl="1" eaLnBrk="1" hangingPunct="1"/>
            <a:r>
              <a:rPr lang="en-US" altLang="zh-TW" sz="2400" dirty="0" smtClean="0"/>
              <a:t>A CPU-bound program might have a few long CPU bursts </a:t>
            </a:r>
          </a:p>
        </p:txBody>
      </p:sp>
      <p:sp>
        <p:nvSpPr>
          <p:cNvPr id="6150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ACA8E641-614D-4B14-B66A-FF8A6FE50084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1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1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1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1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1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1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1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1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7171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A4F90BF-1FAF-4111-A319-ECAABCD8766B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kumimoji="0" lang="en-US" altLang="zh-TW" sz="1400" smtClean="0"/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xfrm>
            <a:off x="311150" y="390525"/>
            <a:ext cx="9328150" cy="647700"/>
          </a:xfrm>
        </p:spPr>
        <p:txBody>
          <a:bodyPr/>
          <a:lstStyle/>
          <a:p>
            <a:pPr eaLnBrk="1" hangingPunct="1"/>
            <a:r>
              <a:rPr lang="en-US" altLang="zh-TW" sz="3600" smtClean="0"/>
              <a:t>Alternating Sequence of CPU and I/O Bursts</a:t>
            </a:r>
          </a:p>
        </p:txBody>
      </p:sp>
      <p:pic>
        <p:nvPicPr>
          <p:cNvPr id="717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74" t="10310" r="40599" b="52560"/>
          <a:stretch>
            <a:fillRect/>
          </a:stretch>
        </p:blipFill>
        <p:spPr bwMode="auto">
          <a:xfrm>
            <a:off x="1717675" y="1055688"/>
            <a:ext cx="3983038" cy="5168900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174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2F8EC4E0-1FC1-48F9-B9C8-AE32DA5970FD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8195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01EC207-EF22-4513-8DCC-40E741B6D2CE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kumimoji="0" lang="en-US" altLang="zh-TW" sz="1400" smtClean="0"/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660400" y="206375"/>
            <a:ext cx="8420100" cy="800100"/>
          </a:xfrm>
        </p:spPr>
        <p:txBody>
          <a:bodyPr/>
          <a:lstStyle/>
          <a:p>
            <a:pPr eaLnBrk="1" hangingPunct="1"/>
            <a:r>
              <a:rPr lang="en-US" altLang="zh-TW" smtClean="0"/>
              <a:t>Histogram of CPU-burst Times</a:t>
            </a:r>
          </a:p>
        </p:txBody>
      </p:sp>
      <p:pic>
        <p:nvPicPr>
          <p:cNvPr id="819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9" t="9616" r="389" b="9158"/>
          <a:stretch>
            <a:fillRect/>
          </a:stretch>
        </p:blipFill>
        <p:spPr bwMode="auto">
          <a:xfrm>
            <a:off x="361950" y="2319338"/>
            <a:ext cx="6154738" cy="3746500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174" name="Text Box 4"/>
          <p:cNvSpPr txBox="1">
            <a:spLocks noChangeArrowheads="1"/>
          </p:cNvSpPr>
          <p:nvPr/>
        </p:nvSpPr>
        <p:spPr bwMode="auto">
          <a:xfrm>
            <a:off x="908050" y="1063625"/>
            <a:ext cx="7016750" cy="1030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zh-TW" sz="2800" b="1">
                <a:solidFill>
                  <a:srgbClr val="FF0066"/>
                </a:solidFill>
                <a:latin typeface="Book Antiqua" pitchFamily="18" charset="0"/>
              </a:rPr>
              <a:t>exponential</a:t>
            </a:r>
            <a:r>
              <a:rPr lang="en-US" altLang="zh-TW" sz="2800" b="1">
                <a:latin typeface="Book Antiqua" pitchFamily="18" charset="0"/>
              </a:rPr>
              <a:t> or </a:t>
            </a:r>
          </a:p>
          <a:p>
            <a:pPr eaLnBrk="1" hangingPunct="1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zh-TW" sz="2800" b="1">
                <a:latin typeface="Book Antiqua" pitchFamily="18" charset="0"/>
              </a:rPr>
              <a:t>hyper-exponential</a:t>
            </a:r>
          </a:p>
        </p:txBody>
      </p:sp>
      <p:pic>
        <p:nvPicPr>
          <p:cNvPr id="7175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2663" y="1063625"/>
            <a:ext cx="3114675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7176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5825" y="3406775"/>
            <a:ext cx="2009775" cy="279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7178" name="Picture 1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7338" y="984250"/>
            <a:ext cx="3028950" cy="200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8202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1835B5C8-05A2-4149-A62B-4296ED78D0EC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9219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018A98D-26D2-43EB-B89A-EFB950F1EC06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kumimoji="0" lang="en-US" altLang="zh-TW" sz="1400" smtClean="0"/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>
          <a:xfrm>
            <a:off x="660400" y="304800"/>
            <a:ext cx="8420100" cy="769938"/>
          </a:xfrm>
        </p:spPr>
        <p:txBody>
          <a:bodyPr/>
          <a:lstStyle/>
          <a:p>
            <a:pPr eaLnBrk="1" hangingPunct="1"/>
            <a:r>
              <a:rPr lang="en-US" altLang="zh-TW" smtClean="0"/>
              <a:t>CPU Scheduler</a:t>
            </a:r>
          </a:p>
        </p:txBody>
      </p:sp>
      <p:sp>
        <p:nvSpPr>
          <p:cNvPr id="24166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82638" y="1101725"/>
            <a:ext cx="8705850" cy="5402263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zh-TW" sz="2800" b="1" smtClean="0">
                <a:solidFill>
                  <a:srgbClr val="FF0066"/>
                </a:solidFill>
              </a:rPr>
              <a:t>Selects</a:t>
            </a:r>
            <a:r>
              <a:rPr lang="en-US" altLang="zh-TW" sz="2800" smtClean="0"/>
              <a:t> from among the processes in memory that are ready to execute, and </a:t>
            </a:r>
            <a:r>
              <a:rPr lang="en-US" altLang="zh-TW" sz="2800" b="1" smtClean="0">
                <a:solidFill>
                  <a:srgbClr val="FF0066"/>
                </a:solidFill>
              </a:rPr>
              <a:t>allocates</a:t>
            </a:r>
            <a:r>
              <a:rPr lang="en-US" altLang="zh-TW" sz="2800" smtClean="0"/>
              <a:t> the CPU to one of them</a:t>
            </a:r>
          </a:p>
          <a:p>
            <a:pPr eaLnBrk="1" hangingPunct="1">
              <a:lnSpc>
                <a:spcPct val="80000"/>
              </a:lnSpc>
              <a:spcBef>
                <a:spcPct val="60000"/>
              </a:spcBef>
              <a:defRPr/>
            </a:pPr>
            <a:r>
              <a:rPr lang="en-US" altLang="zh-TW" sz="2800" smtClean="0"/>
              <a:t>CPU scheduling decisions </a:t>
            </a:r>
            <a:r>
              <a:rPr lang="en-US" altLang="zh-TW" sz="2800" smtClean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may take place when</a:t>
            </a:r>
            <a:r>
              <a:rPr lang="en-US" altLang="zh-TW" sz="2800" smtClean="0"/>
              <a:t> a process: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TW" sz="2400" smtClean="0"/>
              <a:t>1.</a:t>
            </a:r>
            <a:r>
              <a:rPr lang="en-US" altLang="zh-TW" sz="2400" smtClean="0">
                <a:solidFill>
                  <a:srgbClr val="990B8A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	Switches from running to waiting state</a:t>
            </a:r>
            <a:endParaRPr lang="en-US" altLang="zh-TW" sz="2400" smtClean="0"/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TW" sz="2400" smtClean="0"/>
              <a:t>2.	Switches from running to ready state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TW" sz="2400" smtClean="0"/>
              <a:t>3.	Switches from waiting to ready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TW" sz="2400" smtClean="0"/>
              <a:t>4.	</a:t>
            </a:r>
            <a:r>
              <a:rPr lang="en-US" altLang="zh-TW" sz="2400" smtClean="0">
                <a:solidFill>
                  <a:srgbClr val="990B8A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Terminates</a:t>
            </a:r>
            <a:endParaRPr lang="en-US" altLang="zh-TW" sz="2400" smtClean="0"/>
          </a:p>
          <a:p>
            <a:pPr eaLnBrk="1" hangingPunct="1">
              <a:lnSpc>
                <a:spcPct val="80000"/>
              </a:lnSpc>
              <a:spcBef>
                <a:spcPct val="60000"/>
              </a:spcBef>
              <a:defRPr/>
            </a:pPr>
            <a:r>
              <a:rPr lang="en-US" altLang="zh-TW" sz="2800" smtClean="0"/>
              <a:t>Scheduling under 1 and 4 (</a:t>
            </a:r>
            <a:r>
              <a:rPr lang="en-US" altLang="zh-TW" sz="2800" smtClean="0">
                <a:solidFill>
                  <a:schemeClr val="tx2"/>
                </a:solidFill>
              </a:rPr>
              <a:t>no choice in terms of scheduling</a:t>
            </a:r>
            <a:r>
              <a:rPr lang="en-US" altLang="zh-TW" sz="2800" smtClean="0"/>
              <a:t>) is </a:t>
            </a:r>
            <a:r>
              <a:rPr lang="en-US" altLang="zh-TW" sz="2800" b="1" smtClean="0">
                <a:solidFill>
                  <a:srgbClr val="FF0066"/>
                </a:solidFill>
              </a:rPr>
              <a:t>nonpreemptive</a:t>
            </a:r>
            <a:endParaRPr lang="en-US" altLang="zh-TW" sz="2800" smtClean="0"/>
          </a:p>
          <a:p>
            <a:pPr eaLnBrk="1" hangingPunct="1">
              <a:lnSpc>
                <a:spcPct val="80000"/>
              </a:lnSpc>
              <a:spcBef>
                <a:spcPct val="60000"/>
              </a:spcBef>
              <a:defRPr/>
            </a:pPr>
            <a:r>
              <a:rPr lang="en-US" altLang="zh-TW" sz="2800" smtClean="0"/>
              <a:t>All other scheduling is </a:t>
            </a:r>
            <a:r>
              <a:rPr lang="en-US" altLang="zh-TW" sz="2800" b="1" smtClean="0">
                <a:solidFill>
                  <a:srgbClr val="0000FF"/>
                </a:solidFill>
              </a:rPr>
              <a:t>preemptive</a:t>
            </a:r>
            <a:endParaRPr lang="en-US" altLang="zh-TW" sz="2800" smtClean="0">
              <a:solidFill>
                <a:srgbClr val="0000FF"/>
              </a:solidFill>
            </a:endParaRPr>
          </a:p>
        </p:txBody>
      </p:sp>
      <p:sp>
        <p:nvSpPr>
          <p:cNvPr id="9222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74523B62-8521-48D5-8173-5EFACF104E81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1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1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1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1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1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1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16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16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16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16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16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16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10243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BBF40CB-43D5-47B1-8537-B20001A45119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kumimoji="0" lang="en-US" altLang="zh-TW" sz="1400" smtClean="0"/>
          </a:p>
        </p:txBody>
      </p:sp>
      <p:sp>
        <p:nvSpPr>
          <p:cNvPr id="10244" name="Oval 1026"/>
          <p:cNvSpPr>
            <a:spLocks noChangeArrowheads="1"/>
          </p:cNvSpPr>
          <p:nvPr/>
        </p:nvSpPr>
        <p:spPr bwMode="auto">
          <a:xfrm>
            <a:off x="1419225" y="1828800"/>
            <a:ext cx="1643063" cy="766763"/>
          </a:xfrm>
          <a:prstGeom prst="ellips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5E2F00"/>
                    </a:gs>
                    <a:gs pos="50000">
                      <a:srgbClr val="CC6600"/>
                    </a:gs>
                    <a:gs pos="100000">
                      <a:srgbClr val="5E2F00"/>
                    </a:gs>
                  </a:gsLst>
                  <a:lin ang="2700000" scaled="1"/>
                </a:gra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0245" name="Rectangle 1027"/>
          <p:cNvSpPr>
            <a:spLocks noChangeArrowheads="1"/>
          </p:cNvSpPr>
          <p:nvPr/>
        </p:nvSpPr>
        <p:spPr bwMode="auto">
          <a:xfrm>
            <a:off x="1878013" y="2046288"/>
            <a:ext cx="6810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FF3300"/>
                </a:solidFill>
                <a:latin typeface="Book Antiqua" pitchFamily="18" charset="0"/>
              </a:rPr>
              <a:t>new</a:t>
            </a:r>
          </a:p>
        </p:txBody>
      </p:sp>
      <p:sp>
        <p:nvSpPr>
          <p:cNvPr id="10246" name="Oval 1028"/>
          <p:cNvSpPr>
            <a:spLocks noChangeArrowheads="1"/>
          </p:cNvSpPr>
          <p:nvPr/>
        </p:nvSpPr>
        <p:spPr bwMode="auto">
          <a:xfrm>
            <a:off x="3429000" y="2727325"/>
            <a:ext cx="1658938" cy="1216025"/>
          </a:xfrm>
          <a:prstGeom prst="ellips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765E00"/>
                    </a:gs>
                    <a:gs pos="50000">
                      <a:srgbClr val="FFCC00"/>
                    </a:gs>
                    <a:gs pos="100000">
                      <a:srgbClr val="765E00"/>
                    </a:gs>
                  </a:gsLst>
                  <a:lin ang="2700000" scaled="1"/>
                </a:gra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84325" name="Rectangle 1029"/>
          <p:cNvSpPr>
            <a:spLocks noChangeArrowheads="1"/>
          </p:cNvSpPr>
          <p:nvPr/>
        </p:nvSpPr>
        <p:spPr bwMode="auto">
          <a:xfrm>
            <a:off x="3711575" y="3140075"/>
            <a:ext cx="838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FF3300"/>
                </a:solidFill>
                <a:latin typeface="Book Antiqua" pitchFamily="18" charset="0"/>
              </a:rPr>
              <a:t>ready</a:t>
            </a:r>
          </a:p>
        </p:txBody>
      </p:sp>
      <p:sp>
        <p:nvSpPr>
          <p:cNvPr id="10248" name="Oval 1030"/>
          <p:cNvSpPr>
            <a:spLocks noChangeArrowheads="1"/>
          </p:cNvSpPr>
          <p:nvPr/>
        </p:nvSpPr>
        <p:spPr bwMode="auto">
          <a:xfrm>
            <a:off x="5795963" y="2725738"/>
            <a:ext cx="1671637" cy="1225550"/>
          </a:xfrm>
          <a:prstGeom prst="ellips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224422"/>
                    </a:gs>
                    <a:gs pos="50000">
                      <a:srgbClr val="336633"/>
                    </a:gs>
                    <a:gs pos="100000">
                      <a:srgbClr val="224422"/>
                    </a:gs>
                  </a:gsLst>
                  <a:lin ang="2700000" scaled="1"/>
                </a:gra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84327" name="Rectangle 1031"/>
          <p:cNvSpPr>
            <a:spLocks noChangeArrowheads="1"/>
          </p:cNvSpPr>
          <p:nvPr/>
        </p:nvSpPr>
        <p:spPr bwMode="auto">
          <a:xfrm>
            <a:off x="6008688" y="3182938"/>
            <a:ext cx="11382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FF3300"/>
                </a:solidFill>
                <a:latin typeface="Book Antiqua" pitchFamily="18" charset="0"/>
              </a:rPr>
              <a:t>running</a:t>
            </a:r>
          </a:p>
        </p:txBody>
      </p:sp>
      <p:sp>
        <p:nvSpPr>
          <p:cNvPr id="184328" name="Oval 1032"/>
          <p:cNvSpPr>
            <a:spLocks noChangeArrowheads="1"/>
          </p:cNvSpPr>
          <p:nvPr/>
        </p:nvSpPr>
        <p:spPr bwMode="auto">
          <a:xfrm>
            <a:off x="7069138" y="1646238"/>
            <a:ext cx="1985962" cy="823912"/>
          </a:xfrm>
          <a:prstGeom prst="ellips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folHlink">
                        <a:gamma/>
                        <a:shade val="46275"/>
                        <a:invGamma/>
                      </a:schemeClr>
                    </a:gs>
                    <a:gs pos="50000">
                      <a:schemeClr val="folHlink"/>
                    </a:gs>
                    <a:gs pos="100000">
                      <a:schemeClr val="folHlink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TW" altLang="en-US"/>
          </a:p>
        </p:txBody>
      </p:sp>
      <p:sp>
        <p:nvSpPr>
          <p:cNvPr id="184329" name="Rectangle 1033"/>
          <p:cNvSpPr>
            <a:spLocks noChangeArrowheads="1"/>
          </p:cNvSpPr>
          <p:nvPr/>
        </p:nvSpPr>
        <p:spPr bwMode="auto">
          <a:xfrm>
            <a:off x="7132638" y="1878013"/>
            <a:ext cx="14636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6600FF"/>
                </a:solidFill>
                <a:latin typeface="Book Antiqua" pitchFamily="18" charset="0"/>
              </a:rPr>
              <a:t>terminated</a:t>
            </a:r>
          </a:p>
        </p:txBody>
      </p:sp>
      <p:sp>
        <p:nvSpPr>
          <p:cNvPr id="10252" name="Oval 1034"/>
          <p:cNvSpPr>
            <a:spLocks noChangeArrowheads="1"/>
          </p:cNvSpPr>
          <p:nvPr/>
        </p:nvSpPr>
        <p:spPr bwMode="auto">
          <a:xfrm>
            <a:off x="4411663" y="4489450"/>
            <a:ext cx="1755775" cy="1135063"/>
          </a:xfrm>
          <a:prstGeom prst="ellips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76002F"/>
                    </a:gs>
                    <a:gs pos="50000">
                      <a:srgbClr val="FF0066"/>
                    </a:gs>
                    <a:gs pos="100000">
                      <a:srgbClr val="76002F"/>
                    </a:gs>
                  </a:gsLst>
                  <a:lin ang="2700000" scaled="1"/>
                </a:gra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84331" name="Rectangle 1035"/>
          <p:cNvSpPr>
            <a:spLocks noChangeArrowheads="1"/>
          </p:cNvSpPr>
          <p:nvPr/>
        </p:nvSpPr>
        <p:spPr bwMode="auto">
          <a:xfrm>
            <a:off x="4648200" y="4879975"/>
            <a:ext cx="10795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FF3300"/>
                </a:solidFill>
                <a:latin typeface="Book Antiqua" pitchFamily="18" charset="0"/>
              </a:rPr>
              <a:t>waiting</a:t>
            </a:r>
          </a:p>
        </p:txBody>
      </p:sp>
      <p:sp>
        <p:nvSpPr>
          <p:cNvPr id="184332" name="Arc 1036"/>
          <p:cNvSpPr>
            <a:spLocks/>
          </p:cNvSpPr>
          <p:nvPr/>
        </p:nvSpPr>
        <p:spPr bwMode="auto">
          <a:xfrm>
            <a:off x="4498975" y="2392363"/>
            <a:ext cx="1666875" cy="401637"/>
          </a:xfrm>
          <a:custGeom>
            <a:avLst/>
            <a:gdLst>
              <a:gd name="T0" fmla="*/ 0 w 43200"/>
              <a:gd name="T1" fmla="*/ 2147483647 h 22056"/>
              <a:gd name="T2" fmla="*/ 2147483647 w 43200"/>
              <a:gd name="T3" fmla="*/ 2147483647 h 22056"/>
              <a:gd name="T4" fmla="*/ 2147483647 w 43200"/>
              <a:gd name="T5" fmla="*/ 2147483647 h 2205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22056" fill="none" extrusionOk="0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1752"/>
                  <a:pt x="43198" y="21904"/>
                  <a:pt x="43195" y="22056"/>
                </a:cubicBezTo>
              </a:path>
              <a:path w="43200" h="22056" stroke="0" extrusionOk="0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1752"/>
                  <a:pt x="43198" y="21904"/>
                  <a:pt x="43195" y="22056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8575" cap="rnd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333" name="Arc 1037"/>
          <p:cNvSpPr>
            <a:spLocks/>
          </p:cNvSpPr>
          <p:nvPr/>
        </p:nvSpPr>
        <p:spPr bwMode="auto">
          <a:xfrm>
            <a:off x="4625975" y="3846513"/>
            <a:ext cx="1497013" cy="268287"/>
          </a:xfrm>
          <a:custGeom>
            <a:avLst/>
            <a:gdLst>
              <a:gd name="T0" fmla="*/ 2147483647 w 43082"/>
              <a:gd name="T1" fmla="*/ 0 h 21600"/>
              <a:gd name="T2" fmla="*/ 0 w 43082"/>
              <a:gd name="T3" fmla="*/ 2147483647 h 21600"/>
              <a:gd name="T4" fmla="*/ 2147483647 w 43082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082" h="21600" fill="none" extrusionOk="0">
                <a:moveTo>
                  <a:pt x="43082" y="0"/>
                </a:moveTo>
                <a:cubicBezTo>
                  <a:pt x="43082" y="11929"/>
                  <a:pt x="33411" y="21600"/>
                  <a:pt x="21482" y="21600"/>
                </a:cubicBezTo>
                <a:cubicBezTo>
                  <a:pt x="10426" y="21600"/>
                  <a:pt x="1155" y="13252"/>
                  <a:pt x="0" y="2256"/>
                </a:cubicBezTo>
              </a:path>
              <a:path w="43082" h="21600" stroke="0" extrusionOk="0">
                <a:moveTo>
                  <a:pt x="43082" y="0"/>
                </a:moveTo>
                <a:cubicBezTo>
                  <a:pt x="43082" y="11929"/>
                  <a:pt x="33411" y="21600"/>
                  <a:pt x="21482" y="21600"/>
                </a:cubicBezTo>
                <a:cubicBezTo>
                  <a:pt x="10426" y="21600"/>
                  <a:pt x="1155" y="13252"/>
                  <a:pt x="0" y="2256"/>
                </a:cubicBezTo>
                <a:lnTo>
                  <a:pt x="21482" y="0"/>
                </a:lnTo>
                <a:lnTo>
                  <a:pt x="43082" y="0"/>
                </a:lnTo>
                <a:close/>
              </a:path>
            </a:pathLst>
          </a:custGeom>
          <a:noFill/>
          <a:ln w="28575" cap="rnd">
            <a:solidFill>
              <a:srgbClr val="FF99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334" name="Arc 1038"/>
          <p:cNvSpPr>
            <a:spLocks/>
          </p:cNvSpPr>
          <p:nvPr/>
        </p:nvSpPr>
        <p:spPr bwMode="auto">
          <a:xfrm>
            <a:off x="6219825" y="3938588"/>
            <a:ext cx="666750" cy="1089025"/>
          </a:xfrm>
          <a:custGeom>
            <a:avLst/>
            <a:gdLst>
              <a:gd name="T0" fmla="*/ 2147483647 w 23981"/>
              <a:gd name="T1" fmla="*/ 0 h 21600"/>
              <a:gd name="T2" fmla="*/ 0 w 23981"/>
              <a:gd name="T3" fmla="*/ 2147483647 h 21600"/>
              <a:gd name="T4" fmla="*/ 2147483647 w 23981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3981" h="21600" fill="none" extrusionOk="0">
                <a:moveTo>
                  <a:pt x="23981" y="0"/>
                </a:moveTo>
                <a:cubicBezTo>
                  <a:pt x="23981" y="11929"/>
                  <a:pt x="14310" y="21600"/>
                  <a:pt x="2381" y="21600"/>
                </a:cubicBezTo>
                <a:cubicBezTo>
                  <a:pt x="1585" y="21600"/>
                  <a:pt x="790" y="21556"/>
                  <a:pt x="-1" y="21468"/>
                </a:cubicBezTo>
              </a:path>
              <a:path w="23981" h="21600" stroke="0" extrusionOk="0">
                <a:moveTo>
                  <a:pt x="23981" y="0"/>
                </a:moveTo>
                <a:cubicBezTo>
                  <a:pt x="23981" y="11929"/>
                  <a:pt x="14310" y="21600"/>
                  <a:pt x="2381" y="21600"/>
                </a:cubicBezTo>
                <a:cubicBezTo>
                  <a:pt x="1585" y="21600"/>
                  <a:pt x="790" y="21556"/>
                  <a:pt x="-1" y="21468"/>
                </a:cubicBezTo>
                <a:lnTo>
                  <a:pt x="2381" y="0"/>
                </a:lnTo>
                <a:lnTo>
                  <a:pt x="23981" y="0"/>
                </a:lnTo>
                <a:close/>
              </a:path>
            </a:pathLst>
          </a:custGeom>
          <a:noFill/>
          <a:ln w="28575" cap="rnd">
            <a:solidFill>
              <a:srgbClr val="0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335" name="Arc 1039"/>
          <p:cNvSpPr>
            <a:spLocks/>
          </p:cNvSpPr>
          <p:nvPr/>
        </p:nvSpPr>
        <p:spPr bwMode="auto">
          <a:xfrm>
            <a:off x="3644900" y="3811588"/>
            <a:ext cx="752475" cy="1104900"/>
          </a:xfrm>
          <a:custGeom>
            <a:avLst/>
            <a:gdLst>
              <a:gd name="T0" fmla="*/ 2147483647 w 24375"/>
              <a:gd name="T1" fmla="*/ 2147483647 h 24220"/>
              <a:gd name="T2" fmla="*/ 2147483647 w 24375"/>
              <a:gd name="T3" fmla="*/ 0 h 24220"/>
              <a:gd name="T4" fmla="*/ 2147483647 w 24375"/>
              <a:gd name="T5" fmla="*/ 2147483647 h 2422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4375" h="24220" fill="none" extrusionOk="0">
                <a:moveTo>
                  <a:pt x="24375" y="24041"/>
                </a:moveTo>
                <a:cubicBezTo>
                  <a:pt x="23454" y="24160"/>
                  <a:pt x="22527" y="24219"/>
                  <a:pt x="21600" y="24220"/>
                </a:cubicBezTo>
                <a:cubicBezTo>
                  <a:pt x="9670" y="24220"/>
                  <a:pt x="0" y="14549"/>
                  <a:pt x="0" y="2620"/>
                </a:cubicBezTo>
                <a:cubicBezTo>
                  <a:pt x="-1" y="1744"/>
                  <a:pt x="53" y="869"/>
                  <a:pt x="159" y="0"/>
                </a:cubicBezTo>
              </a:path>
              <a:path w="24375" h="24220" stroke="0" extrusionOk="0">
                <a:moveTo>
                  <a:pt x="24375" y="24041"/>
                </a:moveTo>
                <a:cubicBezTo>
                  <a:pt x="23454" y="24160"/>
                  <a:pt x="22527" y="24219"/>
                  <a:pt x="21600" y="24220"/>
                </a:cubicBezTo>
                <a:cubicBezTo>
                  <a:pt x="9670" y="24220"/>
                  <a:pt x="0" y="14549"/>
                  <a:pt x="0" y="2620"/>
                </a:cubicBezTo>
                <a:cubicBezTo>
                  <a:pt x="-1" y="1744"/>
                  <a:pt x="53" y="869"/>
                  <a:pt x="159" y="0"/>
                </a:cubicBezTo>
                <a:lnTo>
                  <a:pt x="21600" y="2620"/>
                </a:lnTo>
                <a:lnTo>
                  <a:pt x="24375" y="24041"/>
                </a:lnTo>
                <a:close/>
              </a:path>
            </a:pathLst>
          </a:custGeom>
          <a:noFill/>
          <a:ln w="28575" cap="rnd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336" name="Arc 1040"/>
          <p:cNvSpPr>
            <a:spLocks/>
          </p:cNvSpPr>
          <p:nvPr/>
        </p:nvSpPr>
        <p:spPr bwMode="auto">
          <a:xfrm>
            <a:off x="6854825" y="2357438"/>
            <a:ext cx="612775" cy="369887"/>
          </a:xfrm>
          <a:custGeom>
            <a:avLst/>
            <a:gdLst>
              <a:gd name="T0" fmla="*/ 0 w 21600"/>
              <a:gd name="T1" fmla="*/ 2147483647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21600"/>
                </a:moveTo>
                <a:cubicBezTo>
                  <a:pt x="0" y="9691"/>
                  <a:pt x="9637" y="29"/>
                  <a:pt x="21546" y="0"/>
                </a:cubicBezTo>
              </a:path>
              <a:path w="21600" h="21600" stroke="0" extrusionOk="0">
                <a:moveTo>
                  <a:pt x="0" y="21600"/>
                </a:moveTo>
                <a:cubicBezTo>
                  <a:pt x="0" y="9691"/>
                  <a:pt x="9637" y="29"/>
                  <a:pt x="21546" y="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8575" cap="rnd">
            <a:solidFill>
              <a:srgbClr val="66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337" name="Rectangle 1041"/>
          <p:cNvSpPr>
            <a:spLocks noChangeArrowheads="1"/>
          </p:cNvSpPr>
          <p:nvPr/>
        </p:nvSpPr>
        <p:spPr bwMode="auto">
          <a:xfrm>
            <a:off x="3151188" y="2012950"/>
            <a:ext cx="12350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FF3300"/>
                </a:solidFill>
                <a:latin typeface="Book Antiqua" pitchFamily="18" charset="0"/>
              </a:rPr>
              <a:t>admitted</a:t>
            </a:r>
          </a:p>
        </p:txBody>
      </p:sp>
      <p:sp>
        <p:nvSpPr>
          <p:cNvPr id="184338" name="Rectangle 1042"/>
          <p:cNvSpPr>
            <a:spLocks noChangeArrowheads="1"/>
          </p:cNvSpPr>
          <p:nvPr/>
        </p:nvSpPr>
        <p:spPr bwMode="auto">
          <a:xfrm>
            <a:off x="4727575" y="1971675"/>
            <a:ext cx="12366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FF3300"/>
                </a:solidFill>
                <a:latin typeface="Book Antiqua" pitchFamily="18" charset="0"/>
              </a:rPr>
              <a:t>interrupt</a:t>
            </a:r>
          </a:p>
        </p:txBody>
      </p:sp>
      <p:sp>
        <p:nvSpPr>
          <p:cNvPr id="184339" name="Rectangle 1043"/>
          <p:cNvSpPr>
            <a:spLocks noChangeArrowheads="1"/>
          </p:cNvSpPr>
          <p:nvPr/>
        </p:nvSpPr>
        <p:spPr bwMode="auto">
          <a:xfrm>
            <a:off x="7215188" y="2571750"/>
            <a:ext cx="6080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6600FF"/>
                </a:solidFill>
                <a:latin typeface="Book Antiqua" pitchFamily="18" charset="0"/>
              </a:rPr>
              <a:t>exit</a:t>
            </a:r>
          </a:p>
        </p:txBody>
      </p:sp>
      <p:sp>
        <p:nvSpPr>
          <p:cNvPr id="184340" name="Rectangle 1044"/>
          <p:cNvSpPr>
            <a:spLocks noChangeArrowheads="1"/>
          </p:cNvSpPr>
          <p:nvPr/>
        </p:nvSpPr>
        <p:spPr bwMode="auto">
          <a:xfrm>
            <a:off x="4200525" y="4171950"/>
            <a:ext cx="23828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FF9900"/>
                </a:solidFill>
                <a:latin typeface="Book Antiqua" pitchFamily="18" charset="0"/>
              </a:rPr>
              <a:t>scheduler</a:t>
            </a:r>
            <a:r>
              <a:rPr lang="en-US" altLang="zh-TW" sz="2000" b="1">
                <a:solidFill>
                  <a:srgbClr val="FF3300"/>
                </a:solidFill>
                <a:latin typeface="Book Antiqua" pitchFamily="18" charset="0"/>
              </a:rPr>
              <a:t> </a:t>
            </a:r>
            <a:r>
              <a:rPr lang="en-US" altLang="zh-TW" sz="2000" b="1">
                <a:solidFill>
                  <a:srgbClr val="FF9900"/>
                </a:solidFill>
                <a:latin typeface="Book Antiqua" pitchFamily="18" charset="0"/>
              </a:rPr>
              <a:t>dispatch</a:t>
            </a:r>
          </a:p>
        </p:txBody>
      </p:sp>
      <p:sp>
        <p:nvSpPr>
          <p:cNvPr id="184341" name="Rectangle 1045"/>
          <p:cNvSpPr>
            <a:spLocks noChangeArrowheads="1"/>
          </p:cNvSpPr>
          <p:nvPr/>
        </p:nvSpPr>
        <p:spPr bwMode="auto">
          <a:xfrm>
            <a:off x="6926263" y="4251325"/>
            <a:ext cx="21574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008000"/>
                </a:solidFill>
                <a:latin typeface="Book Antiqua" pitchFamily="18" charset="0"/>
              </a:rPr>
              <a:t>I/O or event wait</a:t>
            </a:r>
          </a:p>
        </p:txBody>
      </p:sp>
      <p:sp>
        <p:nvSpPr>
          <p:cNvPr id="184342" name="Rectangle 1046"/>
          <p:cNvSpPr>
            <a:spLocks noChangeArrowheads="1"/>
          </p:cNvSpPr>
          <p:nvPr/>
        </p:nvSpPr>
        <p:spPr bwMode="auto">
          <a:xfrm>
            <a:off x="1549400" y="4200525"/>
            <a:ext cx="2276475" cy="73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zh-TW" altLang="en-US" sz="2000" b="1">
                <a:solidFill>
                  <a:srgbClr val="0000FF"/>
                </a:solidFill>
                <a:latin typeface="Book Antiqua" pitchFamily="18" charset="0"/>
              </a:rPr>
              <a:t>        </a:t>
            </a:r>
            <a:r>
              <a:rPr lang="en-US" altLang="zh-TW" sz="2000" b="1">
                <a:solidFill>
                  <a:srgbClr val="0000FF"/>
                </a:solidFill>
                <a:latin typeface="Book Antiqua" pitchFamily="18" charset="0"/>
              </a:rPr>
              <a:t>I/O or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0000FF"/>
                </a:solidFill>
                <a:latin typeface="Book Antiqua" pitchFamily="18" charset="0"/>
              </a:rPr>
              <a:t> event completion</a:t>
            </a:r>
          </a:p>
        </p:txBody>
      </p:sp>
      <p:sp>
        <p:nvSpPr>
          <p:cNvPr id="184343" name="Freeform 1047"/>
          <p:cNvSpPr>
            <a:spLocks/>
          </p:cNvSpPr>
          <p:nvPr/>
        </p:nvSpPr>
        <p:spPr bwMode="auto">
          <a:xfrm>
            <a:off x="2984500" y="2247900"/>
            <a:ext cx="712788" cy="641350"/>
          </a:xfrm>
          <a:custGeom>
            <a:avLst/>
            <a:gdLst>
              <a:gd name="T0" fmla="*/ 2147483647 w 467"/>
              <a:gd name="T1" fmla="*/ 2147483647 h 508"/>
              <a:gd name="T2" fmla="*/ 2147483647 w 467"/>
              <a:gd name="T3" fmla="*/ 2147483647 h 508"/>
              <a:gd name="T4" fmla="*/ 2147483647 w 467"/>
              <a:gd name="T5" fmla="*/ 2147483647 h 508"/>
              <a:gd name="T6" fmla="*/ 2147483647 w 467"/>
              <a:gd name="T7" fmla="*/ 2147483647 h 508"/>
              <a:gd name="T8" fmla="*/ 2147483647 w 467"/>
              <a:gd name="T9" fmla="*/ 2147483647 h 50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67" h="508">
                <a:moveTo>
                  <a:pt x="49" y="35"/>
                </a:moveTo>
                <a:cubicBezTo>
                  <a:pt x="143" y="98"/>
                  <a:pt x="0" y="0"/>
                  <a:pt x="104" y="81"/>
                </a:cubicBezTo>
                <a:cubicBezTo>
                  <a:pt x="173" y="135"/>
                  <a:pt x="250" y="173"/>
                  <a:pt x="304" y="244"/>
                </a:cubicBezTo>
                <a:cubicBezTo>
                  <a:pt x="340" y="292"/>
                  <a:pt x="386" y="354"/>
                  <a:pt x="413" y="408"/>
                </a:cubicBezTo>
                <a:cubicBezTo>
                  <a:pt x="430" y="443"/>
                  <a:pt x="439" y="480"/>
                  <a:pt x="467" y="508"/>
                </a:cubicBezTo>
              </a:path>
            </a:pathLst>
          </a:custGeom>
          <a:noFill/>
          <a:ln w="28575" cap="flat" cmpd="sng">
            <a:solidFill>
              <a:srgbClr val="FF3300"/>
            </a:solidFill>
            <a:prstDash val="solid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266" name="Rectangle 1048"/>
          <p:cNvSpPr>
            <a:spLocks noChangeArrowheads="1"/>
          </p:cNvSpPr>
          <p:nvPr/>
        </p:nvSpPr>
        <p:spPr bwMode="auto">
          <a:xfrm>
            <a:off x="1755775" y="244475"/>
            <a:ext cx="7835900" cy="727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4400">
                <a:solidFill>
                  <a:schemeClr val="tx2"/>
                </a:solidFill>
              </a:rPr>
              <a:t>Diagram of Process State</a:t>
            </a:r>
          </a:p>
        </p:txBody>
      </p:sp>
      <p:sp>
        <p:nvSpPr>
          <p:cNvPr id="10267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75DAE877-3DC8-44EA-936C-7111BCF6E124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43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4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4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4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43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4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43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43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84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84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4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4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84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4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84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84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43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43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25" grpId="0"/>
      <p:bldP spid="184327" grpId="0"/>
      <p:bldP spid="184329" grpId="0"/>
      <p:bldP spid="184331" grpId="0"/>
      <p:bldP spid="184332" grpId="0" animBg="1"/>
      <p:bldP spid="184333" grpId="0" animBg="1"/>
      <p:bldP spid="184334" grpId="0" animBg="1"/>
      <p:bldP spid="184335" grpId="0" animBg="1"/>
      <p:bldP spid="184336" grpId="0" animBg="1"/>
      <p:bldP spid="184337" grpId="0"/>
      <p:bldP spid="184338" grpId="0"/>
      <p:bldP spid="184339" grpId="0"/>
      <p:bldP spid="184340" grpId="0"/>
      <p:bldP spid="184341" grpId="0"/>
      <p:bldP spid="184342" grpId="0"/>
      <p:bldP spid="18434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11267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124AACB-413C-491D-A558-961B1D96CE18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kumimoji="0" lang="en-US" altLang="zh-TW" sz="1400" smtClean="0"/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>
          <a:xfrm>
            <a:off x="660400" y="304800"/>
            <a:ext cx="8420100" cy="563563"/>
          </a:xfrm>
        </p:spPr>
        <p:txBody>
          <a:bodyPr/>
          <a:lstStyle/>
          <a:p>
            <a:pPr eaLnBrk="1" hangingPunct="1"/>
            <a:r>
              <a:rPr lang="en-US" altLang="zh-TW" b="1" dirty="0" smtClean="0">
                <a:solidFill>
                  <a:srgbClr val="0000FF"/>
                </a:solidFill>
              </a:rPr>
              <a:t>Preemptive Issues</a:t>
            </a:r>
          </a:p>
        </p:txBody>
      </p:sp>
      <p:sp>
        <p:nvSpPr>
          <p:cNvPr id="24269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52450" y="960438"/>
            <a:ext cx="9004300" cy="541496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TW" sz="2800" smtClean="0">
                <a:solidFill>
                  <a:srgbClr val="0000FF"/>
                </a:solidFill>
              </a:rPr>
              <a:t>Inconsistent cases may occur: </a:t>
            </a:r>
            <a:r>
              <a:rPr lang="en-US" altLang="zh-TW" sz="2800" smtClean="0"/>
              <a:t>preemptive scheduling incurs a cost associated with access to shared data</a:t>
            </a:r>
          </a:p>
          <a:p>
            <a:pPr eaLnBrk="1" hangingPunct="1">
              <a:lnSpc>
                <a:spcPct val="80000"/>
              </a:lnSpc>
              <a:spcBef>
                <a:spcPct val="60000"/>
              </a:spcBef>
            </a:pPr>
            <a:r>
              <a:rPr lang="en-US" altLang="zh-TW" sz="2800" smtClean="0">
                <a:solidFill>
                  <a:srgbClr val="0000FF"/>
                </a:solidFill>
              </a:rPr>
              <a:t>Affect the design of OS kernel:</a:t>
            </a:r>
            <a:r>
              <a:rPr lang="en-US" altLang="zh-TW" sz="2800" smtClean="0"/>
              <a:t> What happens if the process is preempted in the middle of critical changes (for instance, I/O queues) and the kernel (or the device driver) needs to read or modify the same structure? </a:t>
            </a:r>
          </a:p>
          <a:p>
            <a:pPr lvl="1" eaLnBrk="1" hangingPunct="1">
              <a:lnSpc>
                <a:spcPct val="80000"/>
              </a:lnSpc>
              <a:spcBef>
                <a:spcPct val="30000"/>
              </a:spcBef>
            </a:pPr>
            <a:r>
              <a:rPr lang="en-US" altLang="zh-TW" sz="2400" smtClean="0">
                <a:solidFill>
                  <a:srgbClr val="FF0000"/>
                </a:solidFill>
              </a:rPr>
              <a:t>Unix solution: </a:t>
            </a:r>
            <a:r>
              <a:rPr lang="en-US" altLang="zh-TW" sz="2400" b="1" smtClean="0">
                <a:solidFill>
                  <a:srgbClr val="FF0000"/>
                </a:solidFill>
              </a:rPr>
              <a:t>waiting</a:t>
            </a:r>
            <a:r>
              <a:rPr lang="en-US" altLang="zh-TW" sz="2400" smtClean="0"/>
              <a:t> either for a system call to complete or for an I/O block to take place before doing a context switch</a:t>
            </a:r>
          </a:p>
          <a:p>
            <a:pPr lvl="1" eaLnBrk="1" hangingPunct="1">
              <a:lnSpc>
                <a:spcPct val="80000"/>
              </a:lnSpc>
              <a:spcBef>
                <a:spcPct val="30000"/>
              </a:spcBef>
            </a:pPr>
            <a:r>
              <a:rPr lang="en-US" altLang="zh-TW" sz="2400" smtClean="0"/>
              <a:t>However, weak in supporting real-time computing and multiprocessing</a:t>
            </a:r>
          </a:p>
          <a:p>
            <a:pPr eaLnBrk="1" hangingPunct="1">
              <a:lnSpc>
                <a:spcPct val="80000"/>
              </a:lnSpc>
              <a:spcBef>
                <a:spcPct val="60000"/>
              </a:spcBef>
            </a:pPr>
            <a:r>
              <a:rPr lang="en-US" altLang="zh-TW" sz="2800" smtClean="0"/>
              <a:t>Windows 95 and subsequent versions, Mac OS X</a:t>
            </a:r>
          </a:p>
        </p:txBody>
      </p:sp>
      <p:sp>
        <p:nvSpPr>
          <p:cNvPr id="11270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0A033E24-C6FA-4F0C-9FC6-6E2FB24ECD0E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2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2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2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2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2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2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2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2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12291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179B795-15A7-4782-AEFA-CABB78749C50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kumimoji="0" lang="en-US" altLang="zh-TW" sz="1400" smtClean="0"/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>
          <a:xfrm>
            <a:off x="660400" y="304800"/>
            <a:ext cx="8420100" cy="769938"/>
          </a:xfrm>
        </p:spPr>
        <p:txBody>
          <a:bodyPr/>
          <a:lstStyle/>
          <a:p>
            <a:pPr eaLnBrk="1" hangingPunct="1"/>
            <a:r>
              <a:rPr lang="en-US" altLang="zh-TW" smtClean="0"/>
              <a:t>Dispatcher</a:t>
            </a:r>
          </a:p>
        </p:txBody>
      </p:sp>
      <p:sp>
        <p:nvSpPr>
          <p:cNvPr id="40141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6575" y="1041400"/>
            <a:ext cx="9004300" cy="52498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mtClean="0"/>
              <a:t>Dispatcher module gives control of the CPU to the process selected by the short-term scheduler; this involves:</a:t>
            </a:r>
            <a:endParaRPr lang="en-US" altLang="zh-TW" b="1" smtClean="0">
              <a:solidFill>
                <a:srgbClr val="FF0066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TW" b="1" smtClean="0">
                <a:solidFill>
                  <a:srgbClr val="FF0066"/>
                </a:solidFill>
              </a:rPr>
              <a:t>switching context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mtClean="0"/>
              <a:t>switching to user mode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mtClean="0"/>
              <a:t>jumping to the proper location in the user program to restart that program</a:t>
            </a:r>
            <a:endParaRPr lang="en-US" altLang="zh-TW" b="1" smtClean="0">
              <a:solidFill>
                <a:srgbClr val="FF0066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b="1" smtClean="0">
                <a:solidFill>
                  <a:srgbClr val="FF0066"/>
                </a:solidFill>
              </a:rPr>
              <a:t>Dispatch latency</a:t>
            </a:r>
            <a:r>
              <a:rPr lang="en-US" altLang="zh-TW" smtClean="0"/>
              <a:t> </a:t>
            </a:r>
            <a:r>
              <a:rPr lang="en-US" altLang="zh-TW" smtClean="0">
                <a:latin typeface="Helvetica" pitchFamily="34" charset="0"/>
              </a:rPr>
              <a:t>–</a:t>
            </a:r>
            <a:r>
              <a:rPr lang="en-US" altLang="zh-TW" smtClean="0"/>
              <a:t> time it takes for the dispatcher to </a:t>
            </a:r>
            <a:r>
              <a:rPr lang="en-US" altLang="zh-TW" smtClean="0">
                <a:solidFill>
                  <a:srgbClr val="FF0066"/>
                </a:solidFill>
              </a:rPr>
              <a:t>stop one process</a:t>
            </a:r>
            <a:r>
              <a:rPr lang="en-US" altLang="zh-TW" smtClean="0"/>
              <a:t> and </a:t>
            </a:r>
            <a:r>
              <a:rPr lang="en-US" altLang="zh-TW" smtClean="0">
                <a:solidFill>
                  <a:srgbClr val="FF0066"/>
                </a:solidFill>
              </a:rPr>
              <a:t>start another running</a:t>
            </a:r>
            <a:endParaRPr lang="en-US" altLang="zh-TW" smtClean="0"/>
          </a:p>
        </p:txBody>
      </p:sp>
      <p:sp>
        <p:nvSpPr>
          <p:cNvPr id="12294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0947B2-8380-44D4-B3B9-0A459068003E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1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1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1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1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1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1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1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1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13315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8A71F28-0B5E-438A-9CF3-91C0299FC83D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kumimoji="0" lang="en-US" altLang="zh-TW" sz="1400" smtClean="0"/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>
          <a:xfrm>
            <a:off x="660400" y="304800"/>
            <a:ext cx="8420100" cy="723900"/>
          </a:xfrm>
        </p:spPr>
        <p:txBody>
          <a:bodyPr/>
          <a:lstStyle/>
          <a:p>
            <a:pPr eaLnBrk="1" hangingPunct="1"/>
            <a:r>
              <a:rPr lang="en-US" altLang="zh-TW" dirty="0" smtClean="0"/>
              <a:t>Dispatch Latency</a:t>
            </a:r>
          </a:p>
        </p:txBody>
      </p:sp>
      <p:pic>
        <p:nvPicPr>
          <p:cNvPr id="1331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79" t="16327" r="30817" b="50131"/>
          <a:stretch>
            <a:fillRect/>
          </a:stretch>
        </p:blipFill>
        <p:spPr bwMode="auto">
          <a:xfrm>
            <a:off x="487363" y="973138"/>
            <a:ext cx="8688387" cy="5353050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318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31774200-D142-4641-9A0D-888E59C966CB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  <p:sp>
        <p:nvSpPr>
          <p:cNvPr id="13319" name="動作按鈕: 起點 2">
            <a:hlinkClick r:id="rId5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9017000" y="457200"/>
            <a:ext cx="414338" cy="361950"/>
          </a:xfrm>
          <a:prstGeom prst="actionButtonBeginning">
            <a:avLst/>
          </a:prstGeom>
          <a:solidFill>
            <a:schemeClr val="accent1"/>
          </a:solidFill>
          <a:ln w="12699" algn="ctr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14339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25B6892-8ADB-4761-A709-D9C7BE42BE40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kumimoji="0" lang="en-US" altLang="zh-TW" sz="1400" smtClean="0"/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>
          <a:xfrm>
            <a:off x="392113" y="228600"/>
            <a:ext cx="7818437" cy="427038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z="4800" smtClean="0"/>
              <a:t>Scheduling Criteria</a:t>
            </a:r>
          </a:p>
        </p:txBody>
      </p:sp>
      <p:sp>
        <p:nvSpPr>
          <p:cNvPr id="24576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022350" y="746125"/>
            <a:ext cx="8559800" cy="5746750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smtClean="0">
                <a:solidFill>
                  <a:srgbClr val="FF0066"/>
                </a:solidFill>
              </a:rPr>
              <a:t>CPU utilization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theoretically: 0%~100%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real systems: 40% (light)~90% (heavy)</a:t>
            </a:r>
            <a:endParaRPr lang="en-US" altLang="zh-TW" sz="2400" smtClean="0">
              <a:solidFill>
                <a:srgbClr val="FF0066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800" smtClean="0">
                <a:solidFill>
                  <a:srgbClr val="FF0066"/>
                </a:solidFill>
              </a:rPr>
              <a:t>Throughput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number of completed processes per time unit</a:t>
            </a:r>
            <a:endParaRPr lang="en-US" altLang="zh-TW" sz="2400" smtClean="0">
              <a:solidFill>
                <a:srgbClr val="FF0066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800" smtClean="0">
                <a:solidFill>
                  <a:srgbClr val="FF0066"/>
                </a:solidFill>
              </a:rPr>
              <a:t>Turnaround time</a:t>
            </a:r>
            <a:r>
              <a:rPr lang="en-US" altLang="zh-TW" sz="2800" i="1" smtClean="0"/>
              <a:t> </a:t>
            </a:r>
            <a:r>
              <a:rPr lang="en-US" altLang="zh-TW" sz="2800" smtClean="0"/>
              <a:t>(of a process)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submission ~ completion</a:t>
            </a:r>
            <a:endParaRPr lang="en-US" altLang="zh-TW" sz="2400" smtClean="0">
              <a:solidFill>
                <a:srgbClr val="FF0066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800" smtClean="0">
                <a:solidFill>
                  <a:srgbClr val="FF0066"/>
                </a:solidFill>
              </a:rPr>
              <a:t>Waiting time</a:t>
            </a:r>
            <a:r>
              <a:rPr lang="en-US" altLang="zh-TW" sz="2800" i="1" smtClean="0"/>
              <a:t> </a:t>
            </a:r>
            <a:r>
              <a:rPr lang="en-US" altLang="zh-TW" sz="2800" smtClean="0"/>
              <a:t>(of a process)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total waiting time in the </a:t>
            </a:r>
            <a:r>
              <a:rPr lang="en-US" altLang="zh-TW" sz="2400" smtClean="0">
                <a:solidFill>
                  <a:srgbClr val="0000FF"/>
                </a:solidFill>
              </a:rPr>
              <a:t>ready queue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smtClean="0">
                <a:solidFill>
                  <a:srgbClr val="FF0066"/>
                </a:solidFill>
              </a:rPr>
              <a:t>Response time</a:t>
            </a:r>
            <a:r>
              <a:rPr lang="en-US" altLang="zh-TW" sz="2800" smtClean="0"/>
              <a:t> (of a request)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submission ~ the first response is produced </a:t>
            </a:r>
            <a:endParaRPr lang="en-US" altLang="zh-TW" smtClean="0"/>
          </a:p>
        </p:txBody>
      </p:sp>
      <p:sp>
        <p:nvSpPr>
          <p:cNvPr id="14342" name="Text Box 4"/>
          <p:cNvSpPr txBox="1">
            <a:spLocks noChangeArrowheads="1"/>
          </p:cNvSpPr>
          <p:nvPr/>
        </p:nvSpPr>
        <p:spPr bwMode="auto">
          <a:xfrm>
            <a:off x="171450" y="1512888"/>
            <a:ext cx="6635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max</a:t>
            </a:r>
          </a:p>
        </p:txBody>
      </p:sp>
      <p:sp>
        <p:nvSpPr>
          <p:cNvPr id="14343" name="Text Box 5"/>
          <p:cNvSpPr txBox="1">
            <a:spLocks noChangeArrowheads="1"/>
          </p:cNvSpPr>
          <p:nvPr/>
        </p:nvSpPr>
        <p:spPr bwMode="auto">
          <a:xfrm>
            <a:off x="0" y="4260850"/>
            <a:ext cx="6492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min</a:t>
            </a:r>
          </a:p>
        </p:txBody>
      </p:sp>
      <p:sp>
        <p:nvSpPr>
          <p:cNvPr id="14344" name="Line 6"/>
          <p:cNvSpPr>
            <a:spLocks noChangeShapeType="1"/>
          </p:cNvSpPr>
          <p:nvPr/>
        </p:nvSpPr>
        <p:spPr bwMode="auto">
          <a:xfrm flipV="1">
            <a:off x="642938" y="1044575"/>
            <a:ext cx="428625" cy="5000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45" name="Line 7"/>
          <p:cNvSpPr>
            <a:spLocks noChangeShapeType="1"/>
          </p:cNvSpPr>
          <p:nvPr/>
        </p:nvSpPr>
        <p:spPr bwMode="auto">
          <a:xfrm>
            <a:off x="661988" y="1885950"/>
            <a:ext cx="506412" cy="2619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46" name="Line 8"/>
          <p:cNvSpPr>
            <a:spLocks noChangeShapeType="1"/>
          </p:cNvSpPr>
          <p:nvPr/>
        </p:nvSpPr>
        <p:spPr bwMode="auto">
          <a:xfrm flipV="1">
            <a:off x="739775" y="3238500"/>
            <a:ext cx="428625" cy="984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47" name="Line 9"/>
          <p:cNvSpPr>
            <a:spLocks noChangeShapeType="1"/>
          </p:cNvSpPr>
          <p:nvPr/>
        </p:nvSpPr>
        <p:spPr bwMode="auto">
          <a:xfrm flipV="1">
            <a:off x="720725" y="4130675"/>
            <a:ext cx="447675" cy="3603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48" name="Line 10"/>
          <p:cNvSpPr>
            <a:spLocks noChangeShapeType="1"/>
          </p:cNvSpPr>
          <p:nvPr/>
        </p:nvSpPr>
        <p:spPr bwMode="auto">
          <a:xfrm>
            <a:off x="661988" y="4564063"/>
            <a:ext cx="506412" cy="2206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49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EEC50B-F3E0-4B7B-8864-1B0937A4E2BA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5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5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5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5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45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45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5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5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57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57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457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457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457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57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457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57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457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457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457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457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15363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FA7F4A6-6BF1-4719-B977-D940143FB604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kumimoji="0" lang="en-US" altLang="zh-TW" sz="1400" smtClean="0"/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>
          <a:xfrm>
            <a:off x="703263" y="254000"/>
            <a:ext cx="7818437" cy="1001713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z="4800" smtClean="0"/>
              <a:t>Scheduling Algorithms</a:t>
            </a:r>
          </a:p>
        </p:txBody>
      </p:sp>
      <p:sp>
        <p:nvSpPr>
          <p:cNvPr id="19968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4988" y="1212850"/>
            <a:ext cx="8775700" cy="4991100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>
              <a:spcBef>
                <a:spcPct val="60000"/>
              </a:spcBef>
            </a:pPr>
            <a:r>
              <a:rPr lang="en-US" altLang="zh-TW" smtClean="0">
                <a:solidFill>
                  <a:srgbClr val="0000FF"/>
                </a:solidFill>
              </a:rPr>
              <a:t>first-come, first-served (FCFS) scheduling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mtClean="0">
                <a:solidFill>
                  <a:srgbClr val="0000FF"/>
                </a:solidFill>
              </a:rPr>
              <a:t>shortest-job-first (SJF) scheduling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mtClean="0">
                <a:solidFill>
                  <a:srgbClr val="0000FF"/>
                </a:solidFill>
              </a:rPr>
              <a:t>priority scheduling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mtClean="0">
                <a:solidFill>
                  <a:srgbClr val="0000FF"/>
                </a:solidFill>
              </a:rPr>
              <a:t>round-robin scheduling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mtClean="0">
                <a:solidFill>
                  <a:srgbClr val="0000FF"/>
                </a:solidFill>
              </a:rPr>
              <a:t>multilevel queue scheduling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mtClean="0">
                <a:solidFill>
                  <a:srgbClr val="0000FF"/>
                </a:solidFill>
              </a:rPr>
              <a:t>multilevel feedback queue scheduling</a:t>
            </a:r>
          </a:p>
        </p:txBody>
      </p:sp>
      <p:sp>
        <p:nvSpPr>
          <p:cNvPr id="15366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837AC8-5AE4-425E-96CF-757CD44C90BD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9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9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9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9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9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9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9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9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9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9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16387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8161519-0529-476C-8AA0-FF886F0E1B1A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kumimoji="0" lang="en-US" altLang="zh-TW" sz="1400" smtClean="0"/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906000" cy="962025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algn="ctr" eaLnBrk="1" hangingPunct="1"/>
            <a:r>
              <a:rPr lang="en-US" altLang="zh-TW" sz="4000" smtClean="0"/>
              <a:t>First-Come, First-Served Scheduling (1)</a:t>
            </a:r>
          </a:p>
        </p:txBody>
      </p:sp>
      <p:sp>
        <p:nvSpPr>
          <p:cNvPr id="1638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09563" y="847725"/>
            <a:ext cx="9596437" cy="4133850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/>
            <a:r>
              <a:rPr lang="en-US" altLang="zh-TW" smtClean="0"/>
              <a:t>Simplest, </a:t>
            </a:r>
            <a:r>
              <a:rPr lang="en-US" altLang="zh-TW" smtClean="0">
                <a:solidFill>
                  <a:srgbClr val="FF0066"/>
                </a:solidFill>
              </a:rPr>
              <a:t>non-preemptive</a:t>
            </a:r>
            <a:r>
              <a:rPr lang="en-US" altLang="zh-TW" smtClean="0"/>
              <a:t>, often having a </a:t>
            </a:r>
            <a:r>
              <a:rPr lang="en-US" altLang="zh-TW" smtClean="0">
                <a:solidFill>
                  <a:srgbClr val="FF0066"/>
                </a:solidFill>
              </a:rPr>
              <a:t>long average waiting time</a:t>
            </a:r>
            <a:endParaRPr lang="en-US" altLang="zh-TW" smtClean="0"/>
          </a:p>
          <a:p>
            <a:pPr eaLnBrk="1" hangingPunct="1"/>
            <a:r>
              <a:rPr lang="en-US" altLang="zh-TW" smtClean="0"/>
              <a:t>Example:</a:t>
            </a:r>
          </a:p>
        </p:txBody>
      </p:sp>
      <p:sp>
        <p:nvSpPr>
          <p:cNvPr id="16390" name="Rectangle 4"/>
          <p:cNvSpPr>
            <a:spLocks noChangeArrowheads="1"/>
          </p:cNvSpPr>
          <p:nvPr/>
        </p:nvSpPr>
        <p:spPr bwMode="auto">
          <a:xfrm>
            <a:off x="3535363" y="2208213"/>
            <a:ext cx="3252787" cy="12207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336633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6391" name="Rectangle 5"/>
          <p:cNvSpPr>
            <a:spLocks noChangeArrowheads="1"/>
          </p:cNvSpPr>
          <p:nvPr/>
        </p:nvSpPr>
        <p:spPr bwMode="auto">
          <a:xfrm>
            <a:off x="3508375" y="2262188"/>
            <a:ext cx="2776538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33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Process       Burst Time</a:t>
            </a:r>
          </a:p>
        </p:txBody>
      </p:sp>
      <p:sp>
        <p:nvSpPr>
          <p:cNvPr id="16392" name="Line 6"/>
          <p:cNvSpPr>
            <a:spLocks noChangeShapeType="1"/>
          </p:cNvSpPr>
          <p:nvPr/>
        </p:nvSpPr>
        <p:spPr bwMode="auto">
          <a:xfrm>
            <a:off x="3567113" y="2620963"/>
            <a:ext cx="10715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393" name="Line 7"/>
          <p:cNvSpPr>
            <a:spLocks noChangeShapeType="1"/>
          </p:cNvSpPr>
          <p:nvPr/>
        </p:nvSpPr>
        <p:spPr bwMode="auto">
          <a:xfrm>
            <a:off x="4851400" y="2620963"/>
            <a:ext cx="18669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394" name="Rectangle 8"/>
          <p:cNvSpPr>
            <a:spLocks noChangeArrowheads="1"/>
          </p:cNvSpPr>
          <p:nvPr/>
        </p:nvSpPr>
        <p:spPr bwMode="auto">
          <a:xfrm>
            <a:off x="3756025" y="2633663"/>
            <a:ext cx="205105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33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P1                     24</a:t>
            </a:r>
          </a:p>
        </p:txBody>
      </p:sp>
      <p:sp>
        <p:nvSpPr>
          <p:cNvPr id="16395" name="Rectangle 9"/>
          <p:cNvSpPr>
            <a:spLocks noChangeArrowheads="1"/>
          </p:cNvSpPr>
          <p:nvPr/>
        </p:nvSpPr>
        <p:spPr bwMode="auto">
          <a:xfrm>
            <a:off x="3751263" y="2871788"/>
            <a:ext cx="205105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33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P2                       3</a:t>
            </a:r>
          </a:p>
        </p:txBody>
      </p:sp>
      <p:sp>
        <p:nvSpPr>
          <p:cNvPr id="16396" name="Rectangle 10"/>
          <p:cNvSpPr>
            <a:spLocks noChangeArrowheads="1"/>
          </p:cNvSpPr>
          <p:nvPr/>
        </p:nvSpPr>
        <p:spPr bwMode="auto">
          <a:xfrm>
            <a:off x="3760788" y="3124200"/>
            <a:ext cx="205105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33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P3                       3</a:t>
            </a:r>
          </a:p>
        </p:txBody>
      </p:sp>
      <p:sp>
        <p:nvSpPr>
          <p:cNvPr id="16397" name="Rectangle 11"/>
          <p:cNvSpPr>
            <a:spLocks noChangeArrowheads="1"/>
          </p:cNvSpPr>
          <p:nvPr/>
        </p:nvSpPr>
        <p:spPr bwMode="auto">
          <a:xfrm>
            <a:off x="906463" y="3976688"/>
            <a:ext cx="6022975" cy="4159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470540"/>
                    </a:gs>
                    <a:gs pos="50000">
                      <a:srgbClr val="990B8A"/>
                    </a:gs>
                    <a:gs pos="100000">
                      <a:srgbClr val="470540"/>
                    </a:gs>
                  </a:gsLst>
                  <a:lin ang="5400000" scaled="1"/>
                </a:gra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6398" name="Line 12"/>
          <p:cNvSpPr>
            <a:spLocks noChangeShapeType="1"/>
          </p:cNvSpPr>
          <p:nvPr/>
        </p:nvSpPr>
        <p:spPr bwMode="auto">
          <a:xfrm>
            <a:off x="4970463" y="3976688"/>
            <a:ext cx="0" cy="415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399" name="Line 13"/>
          <p:cNvSpPr>
            <a:spLocks noChangeShapeType="1"/>
          </p:cNvSpPr>
          <p:nvPr/>
        </p:nvSpPr>
        <p:spPr bwMode="auto">
          <a:xfrm>
            <a:off x="5976938" y="3976688"/>
            <a:ext cx="0" cy="415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00" name="Rectangle 14"/>
          <p:cNvSpPr>
            <a:spLocks noChangeArrowheads="1"/>
          </p:cNvSpPr>
          <p:nvPr/>
        </p:nvSpPr>
        <p:spPr bwMode="auto">
          <a:xfrm>
            <a:off x="2349500" y="4040188"/>
            <a:ext cx="46355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P1</a:t>
            </a:r>
          </a:p>
        </p:txBody>
      </p:sp>
      <p:sp>
        <p:nvSpPr>
          <p:cNvPr id="16401" name="Rectangle 15"/>
          <p:cNvSpPr>
            <a:spLocks noChangeArrowheads="1"/>
          </p:cNvSpPr>
          <p:nvPr/>
        </p:nvSpPr>
        <p:spPr bwMode="auto">
          <a:xfrm>
            <a:off x="5207000" y="4035425"/>
            <a:ext cx="46355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P2</a:t>
            </a:r>
          </a:p>
        </p:txBody>
      </p:sp>
      <p:sp>
        <p:nvSpPr>
          <p:cNvPr id="16402" name="Rectangle 16"/>
          <p:cNvSpPr>
            <a:spLocks noChangeArrowheads="1"/>
          </p:cNvSpPr>
          <p:nvPr/>
        </p:nvSpPr>
        <p:spPr bwMode="auto">
          <a:xfrm>
            <a:off x="6176963" y="4044950"/>
            <a:ext cx="46355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P3</a:t>
            </a:r>
          </a:p>
        </p:txBody>
      </p:sp>
      <p:sp>
        <p:nvSpPr>
          <p:cNvPr id="16403" name="Rectangle 17"/>
          <p:cNvSpPr>
            <a:spLocks noChangeArrowheads="1"/>
          </p:cNvSpPr>
          <p:nvPr/>
        </p:nvSpPr>
        <p:spPr bwMode="auto">
          <a:xfrm>
            <a:off x="785813" y="4454525"/>
            <a:ext cx="6213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0                                                            24           27          30</a:t>
            </a:r>
          </a:p>
        </p:txBody>
      </p:sp>
      <p:sp>
        <p:nvSpPr>
          <p:cNvPr id="16404" name="Rectangle 18"/>
          <p:cNvSpPr>
            <a:spLocks noChangeArrowheads="1"/>
          </p:cNvSpPr>
          <p:nvPr/>
        </p:nvSpPr>
        <p:spPr bwMode="auto">
          <a:xfrm>
            <a:off x="7116763" y="3967163"/>
            <a:ext cx="2395537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AWT = (0+24+27)/3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           = 17</a:t>
            </a:r>
          </a:p>
        </p:txBody>
      </p:sp>
      <p:sp>
        <p:nvSpPr>
          <p:cNvPr id="16405" name="Rectangle 19"/>
          <p:cNvSpPr>
            <a:spLocks noChangeArrowheads="1"/>
          </p:cNvSpPr>
          <p:nvPr/>
        </p:nvSpPr>
        <p:spPr bwMode="auto">
          <a:xfrm>
            <a:off x="933450" y="5238750"/>
            <a:ext cx="6022975" cy="4159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76002F"/>
                    </a:gs>
                    <a:gs pos="50000">
                      <a:srgbClr val="FF0066"/>
                    </a:gs>
                    <a:gs pos="100000">
                      <a:srgbClr val="76002F"/>
                    </a:gs>
                  </a:gsLst>
                  <a:lin ang="5400000" scaled="1"/>
                </a:gra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6406" name="Line 20"/>
          <p:cNvSpPr>
            <a:spLocks noChangeShapeType="1"/>
          </p:cNvSpPr>
          <p:nvPr/>
        </p:nvSpPr>
        <p:spPr bwMode="auto">
          <a:xfrm>
            <a:off x="2800350" y="5238750"/>
            <a:ext cx="0" cy="415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07" name="Line 21"/>
          <p:cNvSpPr>
            <a:spLocks noChangeShapeType="1"/>
          </p:cNvSpPr>
          <p:nvPr/>
        </p:nvSpPr>
        <p:spPr bwMode="auto">
          <a:xfrm>
            <a:off x="1933575" y="5238750"/>
            <a:ext cx="0" cy="415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08" name="Rectangle 22"/>
          <p:cNvSpPr>
            <a:spLocks noChangeArrowheads="1"/>
          </p:cNvSpPr>
          <p:nvPr/>
        </p:nvSpPr>
        <p:spPr bwMode="auto">
          <a:xfrm>
            <a:off x="4745038" y="5287963"/>
            <a:ext cx="46355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P1</a:t>
            </a:r>
          </a:p>
        </p:txBody>
      </p:sp>
      <p:sp>
        <p:nvSpPr>
          <p:cNvPr id="16409" name="Rectangle 23"/>
          <p:cNvSpPr>
            <a:spLocks noChangeArrowheads="1"/>
          </p:cNvSpPr>
          <p:nvPr/>
        </p:nvSpPr>
        <p:spPr bwMode="auto">
          <a:xfrm>
            <a:off x="1163638" y="5297488"/>
            <a:ext cx="46355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P2</a:t>
            </a:r>
          </a:p>
        </p:txBody>
      </p:sp>
      <p:sp>
        <p:nvSpPr>
          <p:cNvPr id="16410" name="Rectangle 24"/>
          <p:cNvSpPr>
            <a:spLocks noChangeArrowheads="1"/>
          </p:cNvSpPr>
          <p:nvPr/>
        </p:nvSpPr>
        <p:spPr bwMode="auto">
          <a:xfrm>
            <a:off x="2133600" y="5307013"/>
            <a:ext cx="46355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P3</a:t>
            </a:r>
          </a:p>
        </p:txBody>
      </p:sp>
      <p:sp>
        <p:nvSpPr>
          <p:cNvPr id="16411" name="Rectangle 25"/>
          <p:cNvSpPr>
            <a:spLocks noChangeArrowheads="1"/>
          </p:cNvSpPr>
          <p:nvPr/>
        </p:nvSpPr>
        <p:spPr bwMode="auto">
          <a:xfrm>
            <a:off x="812800" y="5716588"/>
            <a:ext cx="6215063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0            3           6                                                              30</a:t>
            </a:r>
          </a:p>
        </p:txBody>
      </p:sp>
      <p:sp>
        <p:nvSpPr>
          <p:cNvPr id="16412" name="Rectangle 26"/>
          <p:cNvSpPr>
            <a:spLocks noChangeArrowheads="1"/>
          </p:cNvSpPr>
          <p:nvPr/>
        </p:nvSpPr>
        <p:spPr bwMode="auto">
          <a:xfrm>
            <a:off x="7143750" y="5229225"/>
            <a:ext cx="2141538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AWT = (6+0+3)/3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           = 3</a:t>
            </a:r>
          </a:p>
        </p:txBody>
      </p:sp>
      <p:sp>
        <p:nvSpPr>
          <p:cNvPr id="16413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23A69427-3E15-4357-A481-4212C99D845D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17411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1022625-A6A2-442B-8A64-B99B9E3EB024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kumimoji="0" lang="en-US" altLang="zh-TW" sz="1400" smtClean="0"/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>
          <a:xfrm>
            <a:off x="703263" y="0"/>
            <a:ext cx="8904287" cy="963613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z="3600" smtClean="0"/>
              <a:t>First-Come, First-Served Scheduling (2)</a:t>
            </a:r>
          </a:p>
        </p:txBody>
      </p:sp>
      <p:sp>
        <p:nvSpPr>
          <p:cNvPr id="24781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15963" y="762000"/>
            <a:ext cx="8915400" cy="589915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marL="533400" indent="-533400" eaLnBrk="1" hangingPunct="1">
              <a:defRPr/>
            </a:pPr>
            <a:r>
              <a:rPr lang="en-US" altLang="zh-TW" sz="2400" b="1" dirty="0" smtClean="0">
                <a:solidFill>
                  <a:srgbClr val="FF0066"/>
                </a:solidFill>
              </a:rPr>
              <a:t>Convoy effect</a:t>
            </a:r>
            <a:r>
              <a:rPr lang="en-US" altLang="zh-TW" sz="2400" dirty="0" smtClean="0"/>
              <a:t>: short process behind long process</a:t>
            </a:r>
            <a:endParaRPr lang="en-US" altLang="zh-TW" sz="2800" dirty="0" smtClean="0"/>
          </a:p>
          <a:p>
            <a:pPr marL="914400" lvl="1" indent="-457200" eaLnBrk="1" hangingPunct="1">
              <a:buFont typeface="Wingdings" pitchFamily="2" charset="2"/>
              <a:buAutoNum type="arabicPeriod"/>
              <a:defRPr/>
            </a:pPr>
            <a:r>
              <a:rPr lang="en-US" altLang="zh-TW" sz="2400" dirty="0" smtClean="0">
                <a:solidFill>
                  <a:srgbClr val="FF0066"/>
                </a:solidFill>
              </a:rPr>
              <a:t>P1</a:t>
            </a:r>
            <a:r>
              <a:rPr lang="en-US" altLang="zh-TW" sz="2400" dirty="0" smtClean="0"/>
              <a:t>: a CPU bound process</a:t>
            </a:r>
          </a:p>
          <a:p>
            <a:pPr marL="914400" lvl="1" indent="-457200" eaLnBrk="1" hangingPunct="1">
              <a:buFont typeface="Wingdings" pitchFamily="2" charset="2"/>
              <a:buAutoNum type="arabicPeriod"/>
              <a:defRPr/>
            </a:pPr>
            <a:r>
              <a:rPr lang="en-US" altLang="zh-TW" sz="2400" dirty="0" smtClean="0"/>
              <a:t>others: I/O bound</a:t>
            </a:r>
            <a:endParaRPr lang="en-US" altLang="zh-TW" sz="3600" dirty="0" smtClean="0"/>
          </a:p>
          <a:p>
            <a:pPr marL="1295400" lvl="2" indent="-381000" eaLnBrk="1" hangingPunct="1">
              <a:defRPr/>
            </a:pPr>
            <a:r>
              <a:rPr lang="en-US" altLang="zh-TW" sz="2800" dirty="0" smtClean="0"/>
              <a:t>P1 uses CPU, all others wait for CPU</a:t>
            </a:r>
            <a:endParaRPr lang="en-US" altLang="zh-TW" sz="2800" dirty="0" smtClean="0">
              <a:solidFill>
                <a:srgbClr val="FF0066"/>
              </a:solidFill>
            </a:endParaRPr>
          </a:p>
          <a:p>
            <a:pPr marL="2171700" lvl="4" indent="-342900" eaLnBrk="1" hangingPunct="1">
              <a:defRPr/>
            </a:pPr>
            <a:r>
              <a:rPr lang="en-US" altLang="zh-TW" sz="2400" dirty="0" smtClean="0">
                <a:solidFill>
                  <a:srgbClr val="FF0066"/>
                </a:solidFill>
              </a:rPr>
              <a:t>I/O devices idle</a:t>
            </a:r>
          </a:p>
          <a:p>
            <a:pPr marL="1295400" lvl="2" indent="-381000" eaLnBrk="1" hangingPunct="1">
              <a:defRPr/>
            </a:pPr>
            <a:r>
              <a:rPr lang="en-US" altLang="zh-TW" sz="2800" dirty="0" smtClean="0"/>
              <a:t>P1 uses I/O, all others use CPU and then soon wait for I/O</a:t>
            </a:r>
            <a:endParaRPr lang="en-US" altLang="zh-TW" sz="2800" dirty="0" smtClean="0">
              <a:solidFill>
                <a:srgbClr val="FF0066"/>
              </a:solidFill>
            </a:endParaRPr>
          </a:p>
          <a:p>
            <a:pPr marL="2171700" lvl="4" indent="-342900" eaLnBrk="1" hangingPunct="1">
              <a:defRPr/>
            </a:pPr>
            <a:r>
              <a:rPr lang="en-US" altLang="zh-TW" sz="2400" dirty="0" smtClean="0">
                <a:solidFill>
                  <a:srgbClr val="FF0066"/>
                </a:solidFill>
              </a:rPr>
              <a:t>CPU idle</a:t>
            </a:r>
          </a:p>
          <a:p>
            <a:pPr marL="1295400" lvl="2" indent="-381000" eaLnBrk="1" hangingPunct="1">
              <a:defRPr/>
            </a:pPr>
            <a:r>
              <a:rPr lang="en-US" altLang="zh-TW" sz="2800" dirty="0" smtClean="0"/>
              <a:t>P1 uses CPU, all others uses I/O and then soon wait for CPU</a:t>
            </a:r>
          </a:p>
          <a:p>
            <a:pPr marL="914400" lvl="1" indent="-457200" eaLnBrk="1" hangingPunct="1">
              <a:defRPr/>
            </a:pPr>
            <a:r>
              <a:rPr lang="en-US" altLang="zh-TW" sz="24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lower CPU and I/O utilization</a:t>
            </a:r>
          </a:p>
        </p:txBody>
      </p:sp>
      <p:sp>
        <p:nvSpPr>
          <p:cNvPr id="17414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375CEBEA-6C3E-4F09-848E-C6F932CFCD86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7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7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7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7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7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7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7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7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78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78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78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78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18435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20334CF-5F93-4F89-84C5-A7690F4F9FD4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kumimoji="0" lang="en-US" altLang="zh-TW" sz="1400" smtClean="0"/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50" y="228600"/>
            <a:ext cx="9201150" cy="803275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algn="ctr" eaLnBrk="1" hangingPunct="1"/>
            <a:r>
              <a:rPr lang="en-US" altLang="zh-TW" sz="4000" smtClean="0"/>
              <a:t>Shortest-Job First (SJF) Scheduling (1)</a:t>
            </a:r>
          </a:p>
        </p:txBody>
      </p:sp>
      <p:sp>
        <p:nvSpPr>
          <p:cNvPr id="24883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0" y="889000"/>
            <a:ext cx="9906000" cy="4419600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/>
            <a:r>
              <a:rPr lang="en-US" altLang="zh-TW" smtClean="0"/>
              <a:t>The </a:t>
            </a:r>
            <a:r>
              <a:rPr lang="en-US" altLang="zh-TW" smtClean="0">
                <a:solidFill>
                  <a:srgbClr val="FF0066"/>
                </a:solidFill>
              </a:rPr>
              <a:t>smallest next CPU burst</a:t>
            </a:r>
            <a:r>
              <a:rPr lang="en-US" altLang="zh-TW" smtClean="0"/>
              <a:t> is selected </a:t>
            </a:r>
          </a:p>
          <a:p>
            <a:pPr eaLnBrk="1" hangingPunct="1"/>
            <a:r>
              <a:rPr lang="en-US" altLang="zh-TW" smtClean="0"/>
              <a:t>Provide the minimum average waiting time </a:t>
            </a:r>
            <a:r>
              <a:rPr lang="en-US" altLang="zh-TW" b="1" smtClean="0">
                <a:solidFill>
                  <a:srgbClr val="FF0066"/>
                </a:solidFill>
              </a:rPr>
              <a:t>(optimal</a:t>
            </a:r>
            <a:r>
              <a:rPr lang="en-US" altLang="zh-TW" smtClean="0"/>
              <a:t>)</a:t>
            </a:r>
          </a:p>
          <a:p>
            <a:pPr eaLnBrk="1" hangingPunct="1"/>
            <a:r>
              <a:rPr lang="en-US" altLang="zh-TW" smtClean="0"/>
              <a:t>difficulty: </a:t>
            </a:r>
            <a:r>
              <a:rPr lang="en-US" altLang="zh-TW" smtClean="0">
                <a:solidFill>
                  <a:srgbClr val="FF0066"/>
                </a:solidFill>
              </a:rPr>
              <a:t>no way to know  length of the next CPU burst</a:t>
            </a:r>
            <a:r>
              <a:rPr lang="en-US" altLang="zh-TW" smtClean="0"/>
              <a:t>. Thus, it cannot be implemented in short-term scheduler</a:t>
            </a:r>
          </a:p>
        </p:txBody>
      </p:sp>
      <p:grpSp>
        <p:nvGrpSpPr>
          <p:cNvPr id="18438" name="Group 4"/>
          <p:cNvGrpSpPr>
            <a:grpSpLocks/>
          </p:cNvGrpSpPr>
          <p:nvPr/>
        </p:nvGrpSpPr>
        <p:grpSpPr bwMode="auto">
          <a:xfrm>
            <a:off x="695325" y="3571875"/>
            <a:ext cx="8824913" cy="2470150"/>
            <a:chOff x="464" y="2589"/>
            <a:chExt cx="5131" cy="1556"/>
          </a:xfrm>
        </p:grpSpPr>
        <p:sp>
          <p:nvSpPr>
            <p:cNvPr id="18440" name="Rectangle 5"/>
            <p:cNvSpPr>
              <a:spLocks noChangeArrowheads="1"/>
            </p:cNvSpPr>
            <p:nvPr/>
          </p:nvSpPr>
          <p:spPr bwMode="auto">
            <a:xfrm>
              <a:off x="534" y="3615"/>
              <a:ext cx="3502" cy="26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folHlink"/>
              </a:outerShdw>
            </a:effectLst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76002F"/>
                      </a:gs>
                      <a:gs pos="50000">
                        <a:srgbClr val="FF0066"/>
                      </a:gs>
                      <a:gs pos="100000">
                        <a:srgbClr val="76002F"/>
                      </a:gs>
                    </a:gsLst>
                    <a:lin ang="5400000" scaled="1"/>
                  </a:gra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18441" name="Line 6"/>
            <p:cNvSpPr>
              <a:spLocks noChangeShapeType="1"/>
            </p:cNvSpPr>
            <p:nvPr/>
          </p:nvSpPr>
          <p:spPr bwMode="auto">
            <a:xfrm>
              <a:off x="1898" y="3624"/>
              <a:ext cx="0" cy="2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8442" name="Line 7"/>
            <p:cNvSpPr>
              <a:spLocks noChangeShapeType="1"/>
            </p:cNvSpPr>
            <p:nvPr/>
          </p:nvSpPr>
          <p:spPr bwMode="auto">
            <a:xfrm>
              <a:off x="2933" y="3615"/>
              <a:ext cx="0" cy="2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8443" name="Rectangle 8"/>
            <p:cNvSpPr>
              <a:spLocks noChangeArrowheads="1"/>
            </p:cNvSpPr>
            <p:nvPr/>
          </p:nvSpPr>
          <p:spPr bwMode="auto">
            <a:xfrm>
              <a:off x="1373" y="3655"/>
              <a:ext cx="27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Book Antiqua" pitchFamily="18" charset="0"/>
                </a:rPr>
                <a:t>P1</a:t>
              </a:r>
            </a:p>
          </p:txBody>
        </p:sp>
        <p:sp>
          <p:nvSpPr>
            <p:cNvPr id="18444" name="Rectangle 9"/>
            <p:cNvSpPr>
              <a:spLocks noChangeArrowheads="1"/>
            </p:cNvSpPr>
            <p:nvPr/>
          </p:nvSpPr>
          <p:spPr bwMode="auto">
            <a:xfrm>
              <a:off x="3296" y="3652"/>
              <a:ext cx="269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Book Antiqua" pitchFamily="18" charset="0"/>
                </a:rPr>
                <a:t>P2</a:t>
              </a:r>
            </a:p>
          </p:txBody>
        </p:sp>
        <p:sp>
          <p:nvSpPr>
            <p:cNvPr id="18445" name="Rectangle 10"/>
            <p:cNvSpPr>
              <a:spLocks noChangeArrowheads="1"/>
            </p:cNvSpPr>
            <p:nvPr/>
          </p:nvSpPr>
          <p:spPr bwMode="auto">
            <a:xfrm>
              <a:off x="2276" y="3649"/>
              <a:ext cx="269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Book Antiqua" pitchFamily="18" charset="0"/>
                </a:rPr>
                <a:t>P3</a:t>
              </a:r>
            </a:p>
          </p:txBody>
        </p:sp>
        <p:sp>
          <p:nvSpPr>
            <p:cNvPr id="18446" name="Rectangle 11"/>
            <p:cNvSpPr>
              <a:spLocks noChangeArrowheads="1"/>
            </p:cNvSpPr>
            <p:nvPr/>
          </p:nvSpPr>
          <p:spPr bwMode="auto">
            <a:xfrm>
              <a:off x="464" y="3916"/>
              <a:ext cx="368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Book Antiqua" pitchFamily="18" charset="0"/>
                </a:rPr>
                <a:t>0          3                      9                         16                          24</a:t>
              </a:r>
            </a:p>
          </p:txBody>
        </p:sp>
        <p:sp>
          <p:nvSpPr>
            <p:cNvPr id="18447" name="Rectangle 12"/>
            <p:cNvSpPr>
              <a:spLocks noChangeArrowheads="1"/>
            </p:cNvSpPr>
            <p:nvPr/>
          </p:nvSpPr>
          <p:spPr bwMode="auto">
            <a:xfrm>
              <a:off x="1736" y="2589"/>
              <a:ext cx="1891" cy="89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folHlink"/>
              </a:outerShdw>
            </a:effectLst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182F18"/>
                      </a:gs>
                      <a:gs pos="50000">
                        <a:srgbClr val="336633"/>
                      </a:gs>
                      <a:gs pos="100000">
                        <a:srgbClr val="182F18"/>
                      </a:gs>
                    </a:gsLst>
                    <a:lin ang="5400000" scaled="1"/>
                  </a:gra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18448" name="Rectangle 13"/>
            <p:cNvSpPr>
              <a:spLocks noChangeArrowheads="1"/>
            </p:cNvSpPr>
            <p:nvPr/>
          </p:nvSpPr>
          <p:spPr bwMode="auto">
            <a:xfrm>
              <a:off x="1787" y="2611"/>
              <a:ext cx="161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Book Antiqua" pitchFamily="18" charset="0"/>
                </a:rPr>
                <a:t>Process       Burst Time</a:t>
              </a:r>
            </a:p>
          </p:txBody>
        </p:sp>
        <p:sp>
          <p:nvSpPr>
            <p:cNvPr id="18449" name="Line 14"/>
            <p:cNvSpPr>
              <a:spLocks noChangeShapeType="1"/>
            </p:cNvSpPr>
            <p:nvPr/>
          </p:nvSpPr>
          <p:spPr bwMode="auto">
            <a:xfrm>
              <a:off x="1821" y="2837"/>
              <a:ext cx="4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8450" name="Line 15"/>
            <p:cNvSpPr>
              <a:spLocks noChangeShapeType="1"/>
            </p:cNvSpPr>
            <p:nvPr/>
          </p:nvSpPr>
          <p:spPr bwMode="auto">
            <a:xfrm>
              <a:off x="2568" y="2837"/>
              <a:ext cx="7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8451" name="Rectangle 16"/>
            <p:cNvSpPr>
              <a:spLocks noChangeArrowheads="1"/>
            </p:cNvSpPr>
            <p:nvPr/>
          </p:nvSpPr>
          <p:spPr bwMode="auto">
            <a:xfrm>
              <a:off x="1931" y="2845"/>
              <a:ext cx="1081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Book Antiqua" pitchFamily="18" charset="0"/>
                </a:rPr>
                <a:t>P1                    6</a:t>
              </a:r>
            </a:p>
          </p:txBody>
        </p:sp>
        <p:sp>
          <p:nvSpPr>
            <p:cNvPr id="18452" name="Rectangle 17"/>
            <p:cNvSpPr>
              <a:spLocks noChangeArrowheads="1"/>
            </p:cNvSpPr>
            <p:nvPr/>
          </p:nvSpPr>
          <p:spPr bwMode="auto">
            <a:xfrm>
              <a:off x="1950" y="2995"/>
              <a:ext cx="1172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Book Antiqua" pitchFamily="18" charset="0"/>
                </a:rPr>
                <a:t>P2                    8</a:t>
              </a:r>
            </a:p>
          </p:txBody>
        </p:sp>
        <p:sp>
          <p:nvSpPr>
            <p:cNvPr id="18453" name="Rectangle 18"/>
            <p:cNvSpPr>
              <a:spLocks noChangeArrowheads="1"/>
            </p:cNvSpPr>
            <p:nvPr/>
          </p:nvSpPr>
          <p:spPr bwMode="auto">
            <a:xfrm>
              <a:off x="1934" y="3154"/>
              <a:ext cx="1082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Book Antiqua" pitchFamily="18" charset="0"/>
                </a:rPr>
                <a:t>P3                    7</a:t>
              </a:r>
            </a:p>
          </p:txBody>
        </p:sp>
        <p:sp>
          <p:nvSpPr>
            <p:cNvPr id="18454" name="Rectangle 19"/>
            <p:cNvSpPr>
              <a:spLocks noChangeArrowheads="1"/>
            </p:cNvSpPr>
            <p:nvPr/>
          </p:nvSpPr>
          <p:spPr bwMode="auto">
            <a:xfrm>
              <a:off x="1908" y="3286"/>
              <a:ext cx="1118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Book Antiqua" pitchFamily="18" charset="0"/>
                </a:rPr>
                <a:t> P4                    3</a:t>
              </a:r>
            </a:p>
          </p:txBody>
        </p:sp>
        <p:sp>
          <p:nvSpPr>
            <p:cNvPr id="18455" name="Line 20"/>
            <p:cNvSpPr>
              <a:spLocks noChangeShapeType="1"/>
            </p:cNvSpPr>
            <p:nvPr/>
          </p:nvSpPr>
          <p:spPr bwMode="auto">
            <a:xfrm>
              <a:off x="1025" y="3616"/>
              <a:ext cx="0" cy="2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8456" name="Rectangle 21"/>
            <p:cNvSpPr>
              <a:spLocks noChangeArrowheads="1"/>
            </p:cNvSpPr>
            <p:nvPr/>
          </p:nvSpPr>
          <p:spPr bwMode="auto">
            <a:xfrm>
              <a:off x="641" y="3661"/>
              <a:ext cx="27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Book Antiqua" pitchFamily="18" charset="0"/>
                </a:rPr>
                <a:t>P4</a:t>
              </a:r>
            </a:p>
          </p:txBody>
        </p:sp>
        <p:sp>
          <p:nvSpPr>
            <p:cNvPr id="18457" name="Rectangle 22"/>
            <p:cNvSpPr>
              <a:spLocks noChangeArrowheads="1"/>
            </p:cNvSpPr>
            <p:nvPr/>
          </p:nvSpPr>
          <p:spPr bwMode="auto">
            <a:xfrm>
              <a:off x="4113" y="3513"/>
              <a:ext cx="1482" cy="4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Book Antiqua" pitchFamily="18" charset="0"/>
                </a:rPr>
                <a:t>AWT = (3+16+9+0)/4</a:t>
              </a:r>
            </a:p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Book Antiqua" pitchFamily="18" charset="0"/>
                </a:rPr>
                <a:t>           = 7</a:t>
              </a:r>
            </a:p>
          </p:txBody>
        </p:sp>
      </p:grpSp>
      <p:sp>
        <p:nvSpPr>
          <p:cNvPr id="18439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9EFA779F-42CE-4F67-B641-9604E8F753FD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8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8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8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8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8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8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4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19459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4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B807FA4-8457-448F-A173-10F285A3D2AC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kumimoji="0" lang="en-US" altLang="zh-TW" sz="1400" smtClean="0"/>
          </a:p>
        </p:txBody>
      </p:sp>
      <p:sp>
        <p:nvSpPr>
          <p:cNvPr id="19460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68313" y="215900"/>
            <a:ext cx="9437687" cy="329088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dirty="0" smtClean="0">
                <a:solidFill>
                  <a:srgbClr val="FF0066"/>
                </a:solidFill>
              </a:rPr>
              <a:t>Frequently used in long-term scheduling</a:t>
            </a:r>
            <a:endParaRPr lang="en-US" altLang="zh-TW" dirty="0" smtClean="0"/>
          </a:p>
          <a:p>
            <a:pPr lvl="1" eaLnBrk="1" hangingPunct="1">
              <a:lnSpc>
                <a:spcPct val="90000"/>
              </a:lnSpc>
            </a:pPr>
            <a:r>
              <a:rPr lang="en-US" altLang="zh-TW" dirty="0" smtClean="0"/>
              <a:t>A user is asked to estimate the job length. A lower value means faster response. Too low a value will cause </a:t>
            </a:r>
            <a:r>
              <a:rPr lang="en-US" altLang="zh-TW" dirty="0"/>
              <a:t>timeout (</a:t>
            </a:r>
            <a:r>
              <a:rPr lang="en-US" altLang="zh-TW" dirty="0" smtClean="0">
                <a:solidFill>
                  <a:srgbClr val="0000FF"/>
                </a:solidFill>
              </a:rPr>
              <a:t>resubmission</a:t>
            </a:r>
            <a:r>
              <a:rPr lang="en-US" altLang="zh-TW" dirty="0" smtClean="0"/>
              <a:t>).</a:t>
            </a:r>
            <a:endParaRPr lang="en-US" altLang="zh-TW" b="1" dirty="0" smtClean="0">
              <a:solidFill>
                <a:srgbClr val="FF0066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b="1" dirty="0" smtClean="0">
                <a:solidFill>
                  <a:srgbClr val="FF0066"/>
                </a:solidFill>
              </a:rPr>
              <a:t>Approximate SJF</a:t>
            </a:r>
            <a:r>
              <a:rPr lang="en-US" altLang="zh-TW" dirty="0" smtClean="0"/>
              <a:t>: the next burst can be </a:t>
            </a:r>
            <a:r>
              <a:rPr lang="en-US" altLang="zh-TW" dirty="0" smtClean="0">
                <a:solidFill>
                  <a:srgbClr val="FF0066"/>
                </a:solidFill>
              </a:rPr>
              <a:t>predicted</a:t>
            </a:r>
            <a:r>
              <a:rPr lang="en-US" altLang="zh-TW" dirty="0" smtClean="0"/>
              <a:t> as an </a:t>
            </a:r>
            <a:r>
              <a:rPr lang="en-US" altLang="zh-TW" b="1" dirty="0" smtClean="0">
                <a:solidFill>
                  <a:srgbClr val="FF0066"/>
                </a:solidFill>
              </a:rPr>
              <a:t>exponential average</a:t>
            </a:r>
            <a:r>
              <a:rPr lang="en-US" altLang="zh-TW" dirty="0" smtClean="0"/>
              <a:t> of the measured length of previous CPU bursts</a:t>
            </a:r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dirty="0" smtClean="0"/>
          </a:p>
        </p:txBody>
      </p:sp>
      <p:graphicFrame>
        <p:nvGraphicFramePr>
          <p:cNvPr id="19461" name="Object 3"/>
          <p:cNvGraphicFramePr>
            <a:graphicFrameLocks noChangeAspect="1"/>
          </p:cNvGraphicFramePr>
          <p:nvPr/>
        </p:nvGraphicFramePr>
        <p:xfrm>
          <a:off x="2254250" y="3463925"/>
          <a:ext cx="3605213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69" name="方程式" r:id="rId5" imgW="3327400" imgH="431800" progId="Equation.3">
                  <p:embed/>
                </p:oleObj>
              </mc:Choice>
              <mc:Fallback>
                <p:oleObj name="方程式" r:id="rId5" imgW="3327400" imgH="431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4250" y="3463925"/>
                        <a:ext cx="3605213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3780" name="Object 4"/>
          <p:cNvGraphicFramePr>
            <a:graphicFrameLocks noChangeAspect="1"/>
          </p:cNvGraphicFramePr>
          <p:nvPr/>
        </p:nvGraphicFramePr>
        <p:xfrm>
          <a:off x="3222625" y="4432300"/>
          <a:ext cx="5435600" cy="152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70" name="方程式" r:id="rId7" imgW="2260600" imgH="635000" progId="Equation.3">
                  <p:embed/>
                </p:oleObj>
              </mc:Choice>
              <mc:Fallback>
                <p:oleObj name="方程式" r:id="rId7" imgW="2260600" imgH="635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2625" y="4432300"/>
                        <a:ext cx="5435600" cy="152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3781" name="Line 5"/>
          <p:cNvSpPr>
            <a:spLocks noChangeShapeType="1"/>
          </p:cNvSpPr>
          <p:nvPr/>
        </p:nvSpPr>
        <p:spPr bwMode="auto">
          <a:xfrm flipV="1">
            <a:off x="1789113" y="5138738"/>
            <a:ext cx="1382712" cy="1095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graphicFrame>
        <p:nvGraphicFramePr>
          <p:cNvPr id="203782" name="Object 6"/>
          <p:cNvGraphicFramePr>
            <a:graphicFrameLocks noChangeAspect="1"/>
          </p:cNvGraphicFramePr>
          <p:nvPr/>
        </p:nvGraphicFramePr>
        <p:xfrm>
          <a:off x="450850" y="4621213"/>
          <a:ext cx="1698625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71" name="方程式" r:id="rId9" imgW="1701800" imgH="863600" progId="Equation.3">
                  <p:embed/>
                </p:oleObj>
              </mc:Choice>
              <mc:Fallback>
                <p:oleObj name="方程式" r:id="rId9" imgW="1701800" imgH="863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850" y="4621213"/>
                        <a:ext cx="1698625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5" name="Text Box 7"/>
          <p:cNvSpPr txBox="1">
            <a:spLocks noChangeArrowheads="1"/>
          </p:cNvSpPr>
          <p:nvPr/>
        </p:nvSpPr>
        <p:spPr bwMode="auto">
          <a:xfrm>
            <a:off x="6597650" y="3402013"/>
            <a:ext cx="1089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4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FF0000"/>
                </a:solidFill>
              </a:rPr>
              <a:t>history</a:t>
            </a:r>
          </a:p>
        </p:txBody>
      </p:sp>
      <p:sp>
        <p:nvSpPr>
          <p:cNvPr id="19466" name="Line 8"/>
          <p:cNvSpPr>
            <a:spLocks noChangeShapeType="1"/>
          </p:cNvSpPr>
          <p:nvPr/>
        </p:nvSpPr>
        <p:spPr bwMode="auto">
          <a:xfrm flipH="1">
            <a:off x="5821363" y="3619500"/>
            <a:ext cx="800100" cy="0"/>
          </a:xfrm>
          <a:prstGeom prst="line">
            <a:avLst/>
          </a:prstGeom>
          <a:noFill/>
          <a:ln w="12699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19467" name="Text Box 9"/>
          <p:cNvSpPr txBox="1">
            <a:spLocks noChangeArrowheads="1"/>
          </p:cNvSpPr>
          <p:nvPr/>
        </p:nvSpPr>
        <p:spPr bwMode="auto">
          <a:xfrm>
            <a:off x="3375025" y="3811588"/>
            <a:ext cx="13319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4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0000FF"/>
                </a:solidFill>
              </a:rPr>
              <a:t>new one</a:t>
            </a:r>
          </a:p>
        </p:txBody>
      </p:sp>
      <p:sp>
        <p:nvSpPr>
          <p:cNvPr id="19468" name="Line 10"/>
          <p:cNvSpPr>
            <a:spLocks noChangeShapeType="1"/>
          </p:cNvSpPr>
          <p:nvPr/>
        </p:nvSpPr>
        <p:spPr bwMode="auto">
          <a:xfrm flipH="1" flipV="1">
            <a:off x="3970338" y="3870325"/>
            <a:ext cx="76200" cy="84138"/>
          </a:xfrm>
          <a:prstGeom prst="line">
            <a:avLst/>
          </a:prstGeom>
          <a:noFill/>
          <a:ln w="12699">
            <a:solidFill>
              <a:srgbClr val="0000FF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19469" name="Text Box 11"/>
          <p:cNvSpPr txBox="1">
            <a:spLocks noChangeArrowheads="1"/>
          </p:cNvSpPr>
          <p:nvPr/>
        </p:nvSpPr>
        <p:spPr bwMode="auto">
          <a:xfrm>
            <a:off x="6559550" y="373062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4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/>
          </a:p>
        </p:txBody>
      </p:sp>
      <p:sp>
        <p:nvSpPr>
          <p:cNvPr id="19470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38DA216B-3B39-4887-822E-290DA2DA4C70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37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37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37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37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37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37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78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20483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50FCF26-0D59-4B80-84E0-9D6908B04836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kumimoji="0" lang="en-US" altLang="zh-TW" sz="1400" smtClean="0"/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algn="ctr" eaLnBrk="1" hangingPunct="1"/>
            <a:r>
              <a:rPr lang="en-US" altLang="zh-TW" sz="3600" smtClean="0">
                <a:solidFill>
                  <a:srgbClr val="FF0066"/>
                </a:solidFill>
              </a:rPr>
              <a:t>Exponential predication of next CPU burst</a:t>
            </a:r>
          </a:p>
        </p:txBody>
      </p:sp>
      <p:sp>
        <p:nvSpPr>
          <p:cNvPr id="204803" name="Rectangle 3"/>
          <p:cNvSpPr>
            <a:spLocks noChangeArrowheads="1"/>
          </p:cNvSpPr>
          <p:nvPr/>
        </p:nvSpPr>
        <p:spPr bwMode="auto">
          <a:xfrm>
            <a:off x="2667000" y="2101850"/>
            <a:ext cx="4576763" cy="25241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2">
                        <a:gamma/>
                        <a:shade val="46275"/>
                        <a:invGamma/>
                      </a:schemeClr>
                    </a:gs>
                    <a:gs pos="50000">
                      <a:schemeClr val="accent2"/>
                    </a:gs>
                    <a:gs pos="100000">
                      <a:schemeClr val="accent2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TW" altLang="en-US"/>
          </a:p>
        </p:txBody>
      </p:sp>
      <p:sp>
        <p:nvSpPr>
          <p:cNvPr id="20486" name="Line 4"/>
          <p:cNvSpPr>
            <a:spLocks noChangeShapeType="1"/>
          </p:cNvSpPr>
          <p:nvPr/>
        </p:nvSpPr>
        <p:spPr bwMode="auto">
          <a:xfrm flipV="1">
            <a:off x="2660650" y="1793875"/>
            <a:ext cx="0" cy="28511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487" name="Line 5"/>
          <p:cNvSpPr>
            <a:spLocks noChangeShapeType="1"/>
          </p:cNvSpPr>
          <p:nvPr/>
        </p:nvSpPr>
        <p:spPr bwMode="auto">
          <a:xfrm>
            <a:off x="2667000" y="4257675"/>
            <a:ext cx="4576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488" name="Line 6"/>
          <p:cNvSpPr>
            <a:spLocks noChangeShapeType="1"/>
          </p:cNvSpPr>
          <p:nvPr/>
        </p:nvSpPr>
        <p:spPr bwMode="auto">
          <a:xfrm>
            <a:off x="2662238" y="3894138"/>
            <a:ext cx="45783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489" name="Line 7"/>
          <p:cNvSpPr>
            <a:spLocks noChangeShapeType="1"/>
          </p:cNvSpPr>
          <p:nvPr/>
        </p:nvSpPr>
        <p:spPr bwMode="auto">
          <a:xfrm>
            <a:off x="2657475" y="3530600"/>
            <a:ext cx="4572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490" name="Line 8"/>
          <p:cNvSpPr>
            <a:spLocks noChangeShapeType="1"/>
          </p:cNvSpPr>
          <p:nvPr/>
        </p:nvSpPr>
        <p:spPr bwMode="auto">
          <a:xfrm>
            <a:off x="2649538" y="3163888"/>
            <a:ext cx="45735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491" name="Line 9"/>
          <p:cNvSpPr>
            <a:spLocks noChangeShapeType="1"/>
          </p:cNvSpPr>
          <p:nvPr/>
        </p:nvSpPr>
        <p:spPr bwMode="auto">
          <a:xfrm>
            <a:off x="2646363" y="2797175"/>
            <a:ext cx="4575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492" name="Line 10"/>
          <p:cNvSpPr>
            <a:spLocks noChangeShapeType="1"/>
          </p:cNvSpPr>
          <p:nvPr/>
        </p:nvSpPr>
        <p:spPr bwMode="auto">
          <a:xfrm>
            <a:off x="2657475" y="2433638"/>
            <a:ext cx="4572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493" name="Line 11"/>
          <p:cNvSpPr>
            <a:spLocks noChangeShapeType="1"/>
          </p:cNvSpPr>
          <p:nvPr/>
        </p:nvSpPr>
        <p:spPr bwMode="auto">
          <a:xfrm>
            <a:off x="3195638" y="2101850"/>
            <a:ext cx="0" cy="25241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494" name="Rectangle 12"/>
          <p:cNvSpPr>
            <a:spLocks noChangeArrowheads="1"/>
          </p:cNvSpPr>
          <p:nvPr/>
        </p:nvSpPr>
        <p:spPr bwMode="auto">
          <a:xfrm>
            <a:off x="2247900" y="4143375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2</a:t>
            </a:r>
          </a:p>
        </p:txBody>
      </p:sp>
      <p:sp>
        <p:nvSpPr>
          <p:cNvPr id="20495" name="Rectangle 13"/>
          <p:cNvSpPr>
            <a:spLocks noChangeArrowheads="1"/>
          </p:cNvSpPr>
          <p:nvPr/>
        </p:nvSpPr>
        <p:spPr bwMode="auto">
          <a:xfrm>
            <a:off x="2244725" y="379095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4</a:t>
            </a:r>
          </a:p>
        </p:txBody>
      </p:sp>
      <p:sp>
        <p:nvSpPr>
          <p:cNvPr id="20496" name="Rectangle 14"/>
          <p:cNvSpPr>
            <a:spLocks noChangeArrowheads="1"/>
          </p:cNvSpPr>
          <p:nvPr/>
        </p:nvSpPr>
        <p:spPr bwMode="auto">
          <a:xfrm>
            <a:off x="2254250" y="3440113"/>
            <a:ext cx="307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6</a:t>
            </a:r>
          </a:p>
        </p:txBody>
      </p:sp>
      <p:sp>
        <p:nvSpPr>
          <p:cNvPr id="20497" name="Rectangle 15"/>
          <p:cNvSpPr>
            <a:spLocks noChangeArrowheads="1"/>
          </p:cNvSpPr>
          <p:nvPr/>
        </p:nvSpPr>
        <p:spPr bwMode="auto">
          <a:xfrm>
            <a:off x="2247900" y="3063875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8</a:t>
            </a:r>
          </a:p>
        </p:txBody>
      </p:sp>
      <p:sp>
        <p:nvSpPr>
          <p:cNvPr id="20498" name="Rectangle 16"/>
          <p:cNvSpPr>
            <a:spLocks noChangeArrowheads="1"/>
          </p:cNvSpPr>
          <p:nvPr/>
        </p:nvSpPr>
        <p:spPr bwMode="auto">
          <a:xfrm>
            <a:off x="2212975" y="2697163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10</a:t>
            </a:r>
          </a:p>
        </p:txBody>
      </p:sp>
      <p:sp>
        <p:nvSpPr>
          <p:cNvPr id="20499" name="Rectangle 17"/>
          <p:cNvSpPr>
            <a:spLocks noChangeArrowheads="1"/>
          </p:cNvSpPr>
          <p:nvPr/>
        </p:nvSpPr>
        <p:spPr bwMode="auto">
          <a:xfrm>
            <a:off x="2222500" y="2319338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12</a:t>
            </a:r>
          </a:p>
        </p:txBody>
      </p:sp>
      <p:sp>
        <p:nvSpPr>
          <p:cNvPr id="20500" name="Rectangle 18"/>
          <p:cNvSpPr>
            <a:spLocks noChangeArrowheads="1"/>
          </p:cNvSpPr>
          <p:nvPr/>
        </p:nvSpPr>
        <p:spPr bwMode="auto">
          <a:xfrm>
            <a:off x="1177925" y="1925638"/>
            <a:ext cx="1662113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burst length </a:t>
            </a:r>
          </a:p>
        </p:txBody>
      </p:sp>
      <p:sp>
        <p:nvSpPr>
          <p:cNvPr id="20501" name="Line 19"/>
          <p:cNvSpPr>
            <a:spLocks noChangeShapeType="1"/>
          </p:cNvSpPr>
          <p:nvPr/>
        </p:nvSpPr>
        <p:spPr bwMode="auto">
          <a:xfrm>
            <a:off x="3756025" y="2112963"/>
            <a:ext cx="0" cy="25225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02" name="Line 20"/>
          <p:cNvSpPr>
            <a:spLocks noChangeShapeType="1"/>
          </p:cNvSpPr>
          <p:nvPr/>
        </p:nvSpPr>
        <p:spPr bwMode="auto">
          <a:xfrm>
            <a:off x="4313238" y="2120900"/>
            <a:ext cx="0" cy="25241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03" name="Line 21"/>
          <p:cNvSpPr>
            <a:spLocks noChangeShapeType="1"/>
          </p:cNvSpPr>
          <p:nvPr/>
        </p:nvSpPr>
        <p:spPr bwMode="auto">
          <a:xfrm>
            <a:off x="4892675" y="2117725"/>
            <a:ext cx="0" cy="25225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04" name="Line 22"/>
          <p:cNvSpPr>
            <a:spLocks noChangeShapeType="1"/>
          </p:cNvSpPr>
          <p:nvPr/>
        </p:nvSpPr>
        <p:spPr bwMode="auto">
          <a:xfrm>
            <a:off x="5468938" y="2112963"/>
            <a:ext cx="0" cy="25225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05" name="Line 23"/>
          <p:cNvSpPr>
            <a:spLocks noChangeShapeType="1"/>
          </p:cNvSpPr>
          <p:nvPr/>
        </p:nvSpPr>
        <p:spPr bwMode="auto">
          <a:xfrm>
            <a:off x="6045200" y="2106613"/>
            <a:ext cx="0" cy="25225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06" name="Line 24"/>
          <p:cNvSpPr>
            <a:spLocks noChangeShapeType="1"/>
          </p:cNvSpPr>
          <p:nvPr/>
        </p:nvSpPr>
        <p:spPr bwMode="auto">
          <a:xfrm>
            <a:off x="6621463" y="2101850"/>
            <a:ext cx="0" cy="25241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07" name="Line 25"/>
          <p:cNvSpPr>
            <a:spLocks noChangeShapeType="1"/>
          </p:cNvSpPr>
          <p:nvPr/>
        </p:nvSpPr>
        <p:spPr bwMode="auto">
          <a:xfrm>
            <a:off x="2690813" y="3533775"/>
            <a:ext cx="490537" cy="0"/>
          </a:xfrm>
          <a:prstGeom prst="line">
            <a:avLst/>
          </a:prstGeom>
          <a:noFill/>
          <a:ln w="57150">
            <a:solidFill>
              <a:srgbClr val="FF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08" name="Line 26"/>
          <p:cNvSpPr>
            <a:spLocks noChangeShapeType="1"/>
          </p:cNvSpPr>
          <p:nvPr/>
        </p:nvSpPr>
        <p:spPr bwMode="auto">
          <a:xfrm>
            <a:off x="3195638" y="3529013"/>
            <a:ext cx="0" cy="349250"/>
          </a:xfrm>
          <a:prstGeom prst="line">
            <a:avLst/>
          </a:prstGeom>
          <a:noFill/>
          <a:ln w="57150">
            <a:solidFill>
              <a:srgbClr val="FF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09" name="Line 27"/>
          <p:cNvSpPr>
            <a:spLocks noChangeShapeType="1"/>
          </p:cNvSpPr>
          <p:nvPr/>
        </p:nvSpPr>
        <p:spPr bwMode="auto">
          <a:xfrm>
            <a:off x="3209925" y="3890963"/>
            <a:ext cx="536575" cy="0"/>
          </a:xfrm>
          <a:prstGeom prst="line">
            <a:avLst/>
          </a:prstGeom>
          <a:noFill/>
          <a:ln w="57150">
            <a:solidFill>
              <a:srgbClr val="FF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10" name="Line 28"/>
          <p:cNvSpPr>
            <a:spLocks noChangeShapeType="1"/>
          </p:cNvSpPr>
          <p:nvPr/>
        </p:nvSpPr>
        <p:spPr bwMode="auto">
          <a:xfrm flipV="1">
            <a:off x="3759200" y="3521075"/>
            <a:ext cx="0" cy="382588"/>
          </a:xfrm>
          <a:prstGeom prst="line">
            <a:avLst/>
          </a:prstGeom>
          <a:noFill/>
          <a:ln w="57150">
            <a:solidFill>
              <a:srgbClr val="FF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11" name="Line 29"/>
          <p:cNvSpPr>
            <a:spLocks noChangeShapeType="1"/>
          </p:cNvSpPr>
          <p:nvPr/>
        </p:nvSpPr>
        <p:spPr bwMode="auto">
          <a:xfrm>
            <a:off x="3773488" y="3533775"/>
            <a:ext cx="522287" cy="0"/>
          </a:xfrm>
          <a:prstGeom prst="line">
            <a:avLst/>
          </a:prstGeom>
          <a:noFill/>
          <a:ln w="57150">
            <a:solidFill>
              <a:srgbClr val="FF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12" name="Line 30"/>
          <p:cNvSpPr>
            <a:spLocks noChangeShapeType="1"/>
          </p:cNvSpPr>
          <p:nvPr/>
        </p:nvSpPr>
        <p:spPr bwMode="auto">
          <a:xfrm>
            <a:off x="4310063" y="3556000"/>
            <a:ext cx="0" cy="336550"/>
          </a:xfrm>
          <a:prstGeom prst="line">
            <a:avLst/>
          </a:prstGeom>
          <a:noFill/>
          <a:ln w="57150">
            <a:solidFill>
              <a:srgbClr val="FF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13" name="Line 31"/>
          <p:cNvSpPr>
            <a:spLocks noChangeShapeType="1"/>
          </p:cNvSpPr>
          <p:nvPr/>
        </p:nvSpPr>
        <p:spPr bwMode="auto">
          <a:xfrm>
            <a:off x="4306888" y="3890963"/>
            <a:ext cx="571500" cy="0"/>
          </a:xfrm>
          <a:prstGeom prst="line">
            <a:avLst/>
          </a:prstGeom>
          <a:noFill/>
          <a:ln w="57150">
            <a:solidFill>
              <a:srgbClr val="FF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14" name="Line 32"/>
          <p:cNvSpPr>
            <a:spLocks noChangeShapeType="1"/>
          </p:cNvSpPr>
          <p:nvPr/>
        </p:nvSpPr>
        <p:spPr bwMode="auto">
          <a:xfrm flipV="1">
            <a:off x="4892675" y="2228850"/>
            <a:ext cx="7938" cy="1674813"/>
          </a:xfrm>
          <a:prstGeom prst="line">
            <a:avLst/>
          </a:prstGeom>
          <a:noFill/>
          <a:ln w="57150">
            <a:solidFill>
              <a:srgbClr val="FF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15" name="Line 33"/>
          <p:cNvSpPr>
            <a:spLocks noChangeShapeType="1"/>
          </p:cNvSpPr>
          <p:nvPr/>
        </p:nvSpPr>
        <p:spPr bwMode="auto">
          <a:xfrm>
            <a:off x="4906963" y="2228850"/>
            <a:ext cx="2108200" cy="0"/>
          </a:xfrm>
          <a:prstGeom prst="line">
            <a:avLst/>
          </a:prstGeom>
          <a:noFill/>
          <a:ln w="57150">
            <a:solidFill>
              <a:srgbClr val="FF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16" name="Freeform 34"/>
          <p:cNvSpPr>
            <a:spLocks/>
          </p:cNvSpPr>
          <p:nvPr/>
        </p:nvSpPr>
        <p:spPr bwMode="auto">
          <a:xfrm>
            <a:off x="2674938" y="2517775"/>
            <a:ext cx="4449762" cy="1209675"/>
          </a:xfrm>
          <a:custGeom>
            <a:avLst/>
            <a:gdLst>
              <a:gd name="T0" fmla="*/ 2147483647 w 2588"/>
              <a:gd name="T1" fmla="*/ 2147483647 h 762"/>
              <a:gd name="T2" fmla="*/ 2147483647 w 2588"/>
              <a:gd name="T3" fmla="*/ 2147483647 h 762"/>
              <a:gd name="T4" fmla="*/ 2147483647 w 2588"/>
              <a:gd name="T5" fmla="*/ 2147483647 h 762"/>
              <a:gd name="T6" fmla="*/ 2147483647 w 2588"/>
              <a:gd name="T7" fmla="*/ 2147483647 h 762"/>
              <a:gd name="T8" fmla="*/ 2147483647 w 2588"/>
              <a:gd name="T9" fmla="*/ 2147483647 h 762"/>
              <a:gd name="T10" fmla="*/ 2147483647 w 2588"/>
              <a:gd name="T11" fmla="*/ 2147483647 h 762"/>
              <a:gd name="T12" fmla="*/ 2147483647 w 2588"/>
              <a:gd name="T13" fmla="*/ 2147483647 h 762"/>
              <a:gd name="T14" fmla="*/ 2147483647 w 2588"/>
              <a:gd name="T15" fmla="*/ 2147483647 h 762"/>
              <a:gd name="T16" fmla="*/ 2147483647 w 2588"/>
              <a:gd name="T17" fmla="*/ 2147483647 h 762"/>
              <a:gd name="T18" fmla="*/ 2147483647 w 2588"/>
              <a:gd name="T19" fmla="*/ 2147483647 h 762"/>
              <a:gd name="T20" fmla="*/ 2147483647 w 2588"/>
              <a:gd name="T21" fmla="*/ 2147483647 h 762"/>
              <a:gd name="T22" fmla="*/ 2147483647 w 2588"/>
              <a:gd name="T23" fmla="*/ 2147483647 h 762"/>
              <a:gd name="T24" fmla="*/ 2147483647 w 2588"/>
              <a:gd name="T25" fmla="*/ 2147483647 h 762"/>
              <a:gd name="T26" fmla="*/ 2147483647 w 2588"/>
              <a:gd name="T27" fmla="*/ 2147483647 h 762"/>
              <a:gd name="T28" fmla="*/ 2147483647 w 2588"/>
              <a:gd name="T29" fmla="*/ 2147483647 h 762"/>
              <a:gd name="T30" fmla="*/ 2147483647 w 2588"/>
              <a:gd name="T31" fmla="*/ 2147483647 h 762"/>
              <a:gd name="T32" fmla="*/ 2147483647 w 2588"/>
              <a:gd name="T33" fmla="*/ 2147483647 h 762"/>
              <a:gd name="T34" fmla="*/ 2147483647 w 2588"/>
              <a:gd name="T35" fmla="*/ 2147483647 h 762"/>
              <a:gd name="T36" fmla="*/ 2147483647 w 2588"/>
              <a:gd name="T37" fmla="*/ 2147483647 h 762"/>
              <a:gd name="T38" fmla="*/ 2147483647 w 2588"/>
              <a:gd name="T39" fmla="*/ 2147483647 h 762"/>
              <a:gd name="T40" fmla="*/ 2147483647 w 2588"/>
              <a:gd name="T41" fmla="*/ 2147483647 h 762"/>
              <a:gd name="T42" fmla="*/ 2147483647 w 2588"/>
              <a:gd name="T43" fmla="*/ 2147483647 h 762"/>
              <a:gd name="T44" fmla="*/ 2147483647 w 2588"/>
              <a:gd name="T45" fmla="*/ 2147483647 h 762"/>
              <a:gd name="T46" fmla="*/ 2147483647 w 2588"/>
              <a:gd name="T47" fmla="*/ 2147483647 h 762"/>
              <a:gd name="T48" fmla="*/ 2147483647 w 2588"/>
              <a:gd name="T49" fmla="*/ 2147483647 h 762"/>
              <a:gd name="T50" fmla="*/ 2147483647 w 2588"/>
              <a:gd name="T51" fmla="*/ 2147483647 h 762"/>
              <a:gd name="T52" fmla="*/ 2147483647 w 2588"/>
              <a:gd name="T53" fmla="*/ 2147483647 h 762"/>
              <a:gd name="T54" fmla="*/ 2147483647 w 2588"/>
              <a:gd name="T55" fmla="*/ 2147483647 h 762"/>
              <a:gd name="T56" fmla="*/ 2147483647 w 2588"/>
              <a:gd name="T57" fmla="*/ 2147483647 h 762"/>
              <a:gd name="T58" fmla="*/ 2147483647 w 2588"/>
              <a:gd name="T59" fmla="*/ 2147483647 h 762"/>
              <a:gd name="T60" fmla="*/ 2147483647 w 2588"/>
              <a:gd name="T61" fmla="*/ 2147483647 h 762"/>
              <a:gd name="T62" fmla="*/ 2147483647 w 2588"/>
              <a:gd name="T63" fmla="*/ 2147483647 h 762"/>
              <a:gd name="T64" fmla="*/ 2147483647 w 2588"/>
              <a:gd name="T65" fmla="*/ 2147483647 h 762"/>
              <a:gd name="T66" fmla="*/ 2147483647 w 2588"/>
              <a:gd name="T67" fmla="*/ 2147483647 h 762"/>
              <a:gd name="T68" fmla="*/ 2147483647 w 2588"/>
              <a:gd name="T69" fmla="*/ 2147483647 h 762"/>
              <a:gd name="T70" fmla="*/ 2147483647 w 2588"/>
              <a:gd name="T71" fmla="*/ 2147483647 h 762"/>
              <a:gd name="T72" fmla="*/ 2147483647 w 2588"/>
              <a:gd name="T73" fmla="*/ 2147483647 h 762"/>
              <a:gd name="T74" fmla="*/ 2147483647 w 2588"/>
              <a:gd name="T75" fmla="*/ 2147483647 h 762"/>
              <a:gd name="T76" fmla="*/ 2147483647 w 2588"/>
              <a:gd name="T77" fmla="*/ 2147483647 h 762"/>
              <a:gd name="T78" fmla="*/ 2147483647 w 2588"/>
              <a:gd name="T79" fmla="*/ 2147483647 h 762"/>
              <a:gd name="T80" fmla="*/ 2147483647 w 2588"/>
              <a:gd name="T81" fmla="*/ 2147483647 h 762"/>
              <a:gd name="T82" fmla="*/ 2147483647 w 2588"/>
              <a:gd name="T83" fmla="*/ 2147483647 h 762"/>
              <a:gd name="T84" fmla="*/ 2147483647 w 2588"/>
              <a:gd name="T85" fmla="*/ 2147483647 h 762"/>
              <a:gd name="T86" fmla="*/ 2147483647 w 2588"/>
              <a:gd name="T87" fmla="*/ 2147483647 h 762"/>
              <a:gd name="T88" fmla="*/ 2147483647 w 2588"/>
              <a:gd name="T89" fmla="*/ 2147483647 h 762"/>
              <a:gd name="T90" fmla="*/ 2147483647 w 2588"/>
              <a:gd name="T91" fmla="*/ 2147483647 h 762"/>
              <a:gd name="T92" fmla="*/ 2147483647 w 2588"/>
              <a:gd name="T93" fmla="*/ 2147483647 h 762"/>
              <a:gd name="T94" fmla="*/ 2147483647 w 2588"/>
              <a:gd name="T95" fmla="*/ 0 h 762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0" t="0" r="r" b="b"/>
            <a:pathLst>
              <a:path w="2588" h="762">
                <a:moveTo>
                  <a:pt x="0" y="184"/>
                </a:moveTo>
                <a:lnTo>
                  <a:pt x="21" y="201"/>
                </a:lnTo>
                <a:lnTo>
                  <a:pt x="49" y="210"/>
                </a:lnTo>
                <a:lnTo>
                  <a:pt x="76" y="210"/>
                </a:lnTo>
                <a:lnTo>
                  <a:pt x="103" y="210"/>
                </a:lnTo>
                <a:lnTo>
                  <a:pt x="131" y="219"/>
                </a:lnTo>
                <a:lnTo>
                  <a:pt x="158" y="219"/>
                </a:lnTo>
                <a:lnTo>
                  <a:pt x="186" y="227"/>
                </a:lnTo>
                <a:lnTo>
                  <a:pt x="213" y="227"/>
                </a:lnTo>
                <a:lnTo>
                  <a:pt x="240" y="227"/>
                </a:lnTo>
                <a:lnTo>
                  <a:pt x="277" y="236"/>
                </a:lnTo>
                <a:lnTo>
                  <a:pt x="304" y="245"/>
                </a:lnTo>
                <a:lnTo>
                  <a:pt x="332" y="262"/>
                </a:lnTo>
                <a:lnTo>
                  <a:pt x="377" y="271"/>
                </a:lnTo>
                <a:lnTo>
                  <a:pt x="405" y="280"/>
                </a:lnTo>
                <a:lnTo>
                  <a:pt x="441" y="297"/>
                </a:lnTo>
                <a:lnTo>
                  <a:pt x="469" y="297"/>
                </a:lnTo>
                <a:lnTo>
                  <a:pt x="496" y="315"/>
                </a:lnTo>
                <a:lnTo>
                  <a:pt x="523" y="324"/>
                </a:lnTo>
                <a:lnTo>
                  <a:pt x="551" y="332"/>
                </a:lnTo>
                <a:lnTo>
                  <a:pt x="578" y="341"/>
                </a:lnTo>
                <a:lnTo>
                  <a:pt x="615" y="359"/>
                </a:lnTo>
                <a:lnTo>
                  <a:pt x="642" y="367"/>
                </a:lnTo>
                <a:lnTo>
                  <a:pt x="670" y="385"/>
                </a:lnTo>
                <a:lnTo>
                  <a:pt x="697" y="402"/>
                </a:lnTo>
                <a:lnTo>
                  <a:pt x="724" y="420"/>
                </a:lnTo>
                <a:lnTo>
                  <a:pt x="752" y="437"/>
                </a:lnTo>
                <a:lnTo>
                  <a:pt x="779" y="455"/>
                </a:lnTo>
                <a:lnTo>
                  <a:pt x="807" y="481"/>
                </a:lnTo>
                <a:lnTo>
                  <a:pt x="834" y="490"/>
                </a:lnTo>
                <a:lnTo>
                  <a:pt x="861" y="516"/>
                </a:lnTo>
                <a:lnTo>
                  <a:pt x="889" y="534"/>
                </a:lnTo>
                <a:lnTo>
                  <a:pt x="907" y="560"/>
                </a:lnTo>
                <a:lnTo>
                  <a:pt x="934" y="569"/>
                </a:lnTo>
                <a:lnTo>
                  <a:pt x="953" y="595"/>
                </a:lnTo>
                <a:lnTo>
                  <a:pt x="980" y="612"/>
                </a:lnTo>
                <a:lnTo>
                  <a:pt x="1007" y="630"/>
                </a:lnTo>
                <a:lnTo>
                  <a:pt x="1026" y="656"/>
                </a:lnTo>
                <a:lnTo>
                  <a:pt x="1053" y="665"/>
                </a:lnTo>
                <a:lnTo>
                  <a:pt x="1080" y="682"/>
                </a:lnTo>
                <a:lnTo>
                  <a:pt x="1108" y="700"/>
                </a:lnTo>
                <a:lnTo>
                  <a:pt x="1135" y="717"/>
                </a:lnTo>
                <a:lnTo>
                  <a:pt x="1163" y="735"/>
                </a:lnTo>
                <a:lnTo>
                  <a:pt x="1190" y="744"/>
                </a:lnTo>
                <a:lnTo>
                  <a:pt x="1217" y="752"/>
                </a:lnTo>
                <a:lnTo>
                  <a:pt x="1245" y="752"/>
                </a:lnTo>
                <a:lnTo>
                  <a:pt x="1272" y="761"/>
                </a:lnTo>
                <a:lnTo>
                  <a:pt x="1300" y="761"/>
                </a:lnTo>
                <a:lnTo>
                  <a:pt x="1327" y="761"/>
                </a:lnTo>
                <a:lnTo>
                  <a:pt x="1354" y="752"/>
                </a:lnTo>
                <a:lnTo>
                  <a:pt x="1382" y="752"/>
                </a:lnTo>
                <a:lnTo>
                  <a:pt x="1409" y="744"/>
                </a:lnTo>
                <a:lnTo>
                  <a:pt x="1437" y="735"/>
                </a:lnTo>
                <a:lnTo>
                  <a:pt x="1464" y="717"/>
                </a:lnTo>
                <a:lnTo>
                  <a:pt x="1491" y="700"/>
                </a:lnTo>
                <a:lnTo>
                  <a:pt x="1510" y="674"/>
                </a:lnTo>
                <a:lnTo>
                  <a:pt x="1537" y="656"/>
                </a:lnTo>
                <a:lnTo>
                  <a:pt x="1546" y="630"/>
                </a:lnTo>
                <a:lnTo>
                  <a:pt x="1564" y="604"/>
                </a:lnTo>
                <a:lnTo>
                  <a:pt x="1583" y="577"/>
                </a:lnTo>
                <a:lnTo>
                  <a:pt x="1610" y="551"/>
                </a:lnTo>
                <a:lnTo>
                  <a:pt x="1628" y="525"/>
                </a:lnTo>
                <a:lnTo>
                  <a:pt x="1647" y="499"/>
                </a:lnTo>
                <a:lnTo>
                  <a:pt x="1665" y="472"/>
                </a:lnTo>
                <a:lnTo>
                  <a:pt x="1674" y="446"/>
                </a:lnTo>
                <a:lnTo>
                  <a:pt x="1692" y="420"/>
                </a:lnTo>
                <a:lnTo>
                  <a:pt x="1710" y="394"/>
                </a:lnTo>
                <a:lnTo>
                  <a:pt x="1729" y="367"/>
                </a:lnTo>
                <a:lnTo>
                  <a:pt x="1747" y="341"/>
                </a:lnTo>
                <a:lnTo>
                  <a:pt x="1765" y="315"/>
                </a:lnTo>
                <a:lnTo>
                  <a:pt x="1784" y="289"/>
                </a:lnTo>
                <a:lnTo>
                  <a:pt x="1811" y="262"/>
                </a:lnTo>
                <a:lnTo>
                  <a:pt x="1829" y="236"/>
                </a:lnTo>
                <a:lnTo>
                  <a:pt x="1857" y="210"/>
                </a:lnTo>
                <a:lnTo>
                  <a:pt x="1866" y="184"/>
                </a:lnTo>
                <a:lnTo>
                  <a:pt x="1893" y="175"/>
                </a:lnTo>
                <a:lnTo>
                  <a:pt x="1911" y="149"/>
                </a:lnTo>
                <a:lnTo>
                  <a:pt x="1930" y="122"/>
                </a:lnTo>
                <a:lnTo>
                  <a:pt x="1957" y="114"/>
                </a:lnTo>
                <a:lnTo>
                  <a:pt x="1984" y="96"/>
                </a:lnTo>
                <a:lnTo>
                  <a:pt x="2012" y="79"/>
                </a:lnTo>
                <a:lnTo>
                  <a:pt x="2057" y="61"/>
                </a:lnTo>
                <a:lnTo>
                  <a:pt x="2085" y="61"/>
                </a:lnTo>
                <a:lnTo>
                  <a:pt x="2112" y="52"/>
                </a:lnTo>
                <a:lnTo>
                  <a:pt x="2140" y="44"/>
                </a:lnTo>
                <a:lnTo>
                  <a:pt x="2167" y="35"/>
                </a:lnTo>
                <a:lnTo>
                  <a:pt x="2204" y="35"/>
                </a:lnTo>
                <a:lnTo>
                  <a:pt x="2231" y="26"/>
                </a:lnTo>
                <a:lnTo>
                  <a:pt x="2258" y="17"/>
                </a:lnTo>
                <a:lnTo>
                  <a:pt x="2286" y="17"/>
                </a:lnTo>
                <a:lnTo>
                  <a:pt x="2313" y="9"/>
                </a:lnTo>
                <a:lnTo>
                  <a:pt x="2340" y="9"/>
                </a:lnTo>
                <a:lnTo>
                  <a:pt x="2368" y="9"/>
                </a:lnTo>
                <a:lnTo>
                  <a:pt x="2468" y="9"/>
                </a:lnTo>
                <a:lnTo>
                  <a:pt x="2560" y="0"/>
                </a:lnTo>
                <a:lnTo>
                  <a:pt x="2587" y="0"/>
                </a:lnTo>
              </a:path>
            </a:pathLst>
          </a:custGeom>
          <a:noFill/>
          <a:ln w="25400" cap="rnd" cmpd="sng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0517" name="Rectangle 35"/>
          <p:cNvSpPr>
            <a:spLocks noChangeArrowheads="1"/>
          </p:cNvSpPr>
          <p:nvPr/>
        </p:nvSpPr>
        <p:spPr bwMode="auto">
          <a:xfrm>
            <a:off x="7308850" y="4219575"/>
            <a:ext cx="7016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time</a:t>
            </a:r>
          </a:p>
        </p:txBody>
      </p:sp>
      <p:sp>
        <p:nvSpPr>
          <p:cNvPr id="204836" name="Rectangle 36"/>
          <p:cNvSpPr>
            <a:spLocks noChangeArrowheads="1"/>
          </p:cNvSpPr>
          <p:nvPr/>
        </p:nvSpPr>
        <p:spPr bwMode="auto">
          <a:xfrm>
            <a:off x="688975" y="4878388"/>
            <a:ext cx="6011863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FF0066"/>
                </a:solidFill>
                <a:latin typeface="Book Antiqua" pitchFamily="18" charset="0"/>
              </a:rPr>
              <a:t>CPU burst </a:t>
            </a:r>
            <a:r>
              <a:rPr lang="en-US" altLang="zh-TW" sz="2000" b="1" i="1">
                <a:solidFill>
                  <a:srgbClr val="FF0066"/>
                </a:solidFill>
                <a:latin typeface="Times New Roman" pitchFamily="18" charset="0"/>
              </a:rPr>
              <a:t>t</a:t>
            </a:r>
            <a:r>
              <a:rPr lang="en-US" altLang="zh-TW" sz="2000" b="1" i="1" baseline="-25000">
                <a:solidFill>
                  <a:srgbClr val="FF0066"/>
                </a:solidFill>
                <a:latin typeface="Times New Roman" pitchFamily="18" charset="0"/>
              </a:rPr>
              <a:t>n</a:t>
            </a:r>
            <a:r>
              <a:rPr lang="en-US" altLang="zh-TW" sz="2000" b="1">
                <a:solidFill>
                  <a:srgbClr val="FF0066"/>
                </a:solidFill>
                <a:latin typeface="Book Antiqua" pitchFamily="18" charset="0"/>
              </a:rPr>
              <a:t>  </a:t>
            </a:r>
            <a:r>
              <a:rPr lang="en-US" altLang="zh-TW" sz="2000" b="1" i="1">
                <a:solidFill>
                  <a:srgbClr val="FF0066"/>
                </a:solidFill>
                <a:latin typeface="Book Antiqua" pitchFamily="18" charset="0"/>
              </a:rPr>
              <a:t>t</a:t>
            </a:r>
            <a:r>
              <a:rPr lang="en-US" altLang="zh-TW" sz="2000" b="1" baseline="-25000">
                <a:solidFill>
                  <a:srgbClr val="FF0066"/>
                </a:solidFill>
                <a:latin typeface="Book Antiqua" pitchFamily="18" charset="0"/>
              </a:rPr>
              <a:t>0</a:t>
            </a:r>
            <a:r>
              <a:rPr lang="en-US" altLang="zh-TW" sz="2000" b="1">
                <a:solidFill>
                  <a:srgbClr val="FF0066"/>
                </a:solidFill>
                <a:latin typeface="Book Antiqua" pitchFamily="18" charset="0"/>
              </a:rPr>
              <a:t>=6       4       6       4      13     13     13  ...</a:t>
            </a:r>
            <a:endParaRPr lang="en-US" altLang="zh-TW" sz="2000" b="1">
              <a:latin typeface="Book Antiqua" pitchFamily="18" charset="0"/>
            </a:endParaRPr>
          </a:p>
        </p:txBody>
      </p:sp>
      <p:sp>
        <p:nvSpPr>
          <p:cNvPr id="204837" name="Rectangle 37"/>
          <p:cNvSpPr>
            <a:spLocks noChangeArrowheads="1"/>
          </p:cNvSpPr>
          <p:nvPr/>
        </p:nvSpPr>
        <p:spPr bwMode="auto">
          <a:xfrm>
            <a:off x="985838" y="5281613"/>
            <a:ext cx="1885950" cy="417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000000"/>
                </a:solidFill>
                <a:latin typeface="Book Antiqua" pitchFamily="18" charset="0"/>
              </a:rPr>
              <a:t>guess </a:t>
            </a:r>
            <a:r>
              <a:rPr lang="en-US" altLang="zh-TW" sz="2200" b="1">
                <a:solidFill>
                  <a:srgbClr val="000000"/>
                </a:solidFill>
                <a:latin typeface="Book Antiqua" pitchFamily="18" charset="0"/>
                <a:sym typeface="Symbol" pitchFamily="18" charset="2"/>
              </a:rPr>
              <a:t></a:t>
            </a:r>
            <a:r>
              <a:rPr lang="en-US" altLang="zh-TW" sz="2200" b="1" i="1" baseline="-2500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n</a:t>
            </a:r>
            <a:r>
              <a:rPr lang="en-US" altLang="zh-TW" sz="2000" b="1">
                <a:solidFill>
                  <a:srgbClr val="000000"/>
                </a:solidFill>
                <a:latin typeface="Book Antiqua" pitchFamily="18" charset="0"/>
              </a:rPr>
              <a:t> </a:t>
            </a:r>
            <a:r>
              <a:rPr lang="en-US" altLang="zh-TW" sz="2400" b="1">
                <a:solidFill>
                  <a:srgbClr val="CC6600"/>
                </a:solidFill>
                <a:sym typeface="Symbol" pitchFamily="18" charset="2"/>
              </a:rPr>
              <a:t></a:t>
            </a:r>
            <a:r>
              <a:rPr lang="en-US" altLang="zh-TW" sz="2000" b="1" baseline="-25000">
                <a:solidFill>
                  <a:srgbClr val="CC6600"/>
                </a:solidFill>
                <a:sym typeface="Symbol" pitchFamily="18" charset="2"/>
              </a:rPr>
              <a:t>0</a:t>
            </a:r>
            <a:r>
              <a:rPr lang="en-US" altLang="zh-TW" sz="2000" b="1">
                <a:solidFill>
                  <a:srgbClr val="CC6600"/>
                </a:solidFill>
                <a:sym typeface="Symbol" pitchFamily="18" charset="2"/>
              </a:rPr>
              <a:t>=</a:t>
            </a:r>
            <a:r>
              <a:rPr lang="en-US" altLang="zh-TW" sz="2000" b="1">
                <a:solidFill>
                  <a:srgbClr val="CC6600"/>
                </a:solidFill>
                <a:latin typeface="Book Antiqua" pitchFamily="18" charset="0"/>
              </a:rPr>
              <a:t>10</a:t>
            </a:r>
          </a:p>
        </p:txBody>
      </p:sp>
      <p:sp>
        <p:nvSpPr>
          <p:cNvPr id="204838" name="Rectangle 38"/>
          <p:cNvSpPr>
            <a:spLocks noChangeArrowheads="1"/>
          </p:cNvSpPr>
          <p:nvPr/>
        </p:nvSpPr>
        <p:spPr bwMode="auto">
          <a:xfrm>
            <a:off x="946150" y="5892800"/>
            <a:ext cx="575151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0000FF"/>
                </a:solidFill>
                <a:latin typeface="Book Antiqua" pitchFamily="18" charset="0"/>
              </a:rPr>
              <a:t>Diff.                4        4       0       2      -8      -4      -2  ...</a:t>
            </a:r>
          </a:p>
        </p:txBody>
      </p:sp>
      <p:sp>
        <p:nvSpPr>
          <p:cNvPr id="204840" name="Text Box 40"/>
          <p:cNvSpPr txBox="1">
            <a:spLocks noChangeArrowheads="1"/>
          </p:cNvSpPr>
          <p:nvPr/>
        </p:nvSpPr>
        <p:spPr bwMode="auto">
          <a:xfrm>
            <a:off x="3122613" y="5280025"/>
            <a:ext cx="322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/>
              <a:t>8</a:t>
            </a:r>
          </a:p>
        </p:txBody>
      </p:sp>
      <p:sp>
        <p:nvSpPr>
          <p:cNvPr id="204842" name="Text Box 42"/>
          <p:cNvSpPr txBox="1">
            <a:spLocks noChangeArrowheads="1"/>
          </p:cNvSpPr>
          <p:nvPr/>
        </p:nvSpPr>
        <p:spPr bwMode="auto">
          <a:xfrm>
            <a:off x="3644900" y="5259388"/>
            <a:ext cx="3222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/>
              <a:t>6</a:t>
            </a:r>
          </a:p>
        </p:txBody>
      </p:sp>
      <p:sp>
        <p:nvSpPr>
          <p:cNvPr id="204843" name="Text Box 43"/>
          <p:cNvSpPr txBox="1">
            <a:spLocks noChangeArrowheads="1"/>
          </p:cNvSpPr>
          <p:nvPr/>
        </p:nvSpPr>
        <p:spPr bwMode="auto">
          <a:xfrm>
            <a:off x="4252913" y="5283200"/>
            <a:ext cx="322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/>
              <a:t>6</a:t>
            </a:r>
          </a:p>
        </p:txBody>
      </p:sp>
      <p:sp>
        <p:nvSpPr>
          <p:cNvPr id="204844" name="Text Box 44"/>
          <p:cNvSpPr txBox="1">
            <a:spLocks noChangeArrowheads="1"/>
          </p:cNvSpPr>
          <p:nvPr/>
        </p:nvSpPr>
        <p:spPr bwMode="auto">
          <a:xfrm>
            <a:off x="4875213" y="5280025"/>
            <a:ext cx="322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/>
              <a:t>5</a:t>
            </a:r>
          </a:p>
        </p:txBody>
      </p:sp>
      <p:sp>
        <p:nvSpPr>
          <p:cNvPr id="204845" name="Text Box 45"/>
          <p:cNvSpPr txBox="1">
            <a:spLocks noChangeArrowheads="1"/>
          </p:cNvSpPr>
          <p:nvPr/>
        </p:nvSpPr>
        <p:spPr bwMode="auto">
          <a:xfrm>
            <a:off x="5426075" y="5264150"/>
            <a:ext cx="3222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/>
              <a:t>9</a:t>
            </a:r>
          </a:p>
        </p:txBody>
      </p:sp>
      <p:sp>
        <p:nvSpPr>
          <p:cNvPr id="204846" name="Text Box 46"/>
          <p:cNvSpPr txBox="1">
            <a:spLocks noChangeArrowheads="1"/>
          </p:cNvSpPr>
          <p:nvPr/>
        </p:nvSpPr>
        <p:spPr bwMode="auto">
          <a:xfrm>
            <a:off x="5976938" y="5278438"/>
            <a:ext cx="5127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/>
              <a:t>11</a:t>
            </a:r>
          </a:p>
        </p:txBody>
      </p:sp>
      <p:sp>
        <p:nvSpPr>
          <p:cNvPr id="204847" name="Text Box 47"/>
          <p:cNvSpPr txBox="1">
            <a:spLocks noChangeArrowheads="1"/>
          </p:cNvSpPr>
          <p:nvPr/>
        </p:nvSpPr>
        <p:spPr bwMode="auto">
          <a:xfrm>
            <a:off x="6589713" y="5289550"/>
            <a:ext cx="5127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/>
              <a:t>12</a:t>
            </a:r>
          </a:p>
        </p:txBody>
      </p:sp>
      <p:sp>
        <p:nvSpPr>
          <p:cNvPr id="20528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44C9C606-A30A-4354-A370-D7DC700B7113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8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8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48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48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4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4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4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4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4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4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4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4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048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048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48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4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48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48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6" grpId="0"/>
      <p:bldP spid="204837" grpId="0"/>
      <p:bldP spid="204838" grpId="0"/>
      <p:bldP spid="204840" grpId="0"/>
      <p:bldP spid="204842" grpId="0"/>
      <p:bldP spid="204843" grpId="0"/>
      <p:bldP spid="204844" grpId="0"/>
      <p:bldP spid="204845" grpId="0"/>
      <p:bldP spid="204846" grpId="0"/>
      <p:bldP spid="20484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21507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1EC9FC1-5142-45D1-AEEA-29E336CCB6A9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kumimoji="0" lang="en-US" altLang="zh-TW" sz="1400" smtClean="0"/>
          </a:p>
        </p:txBody>
      </p:sp>
      <p:sp>
        <p:nvSpPr>
          <p:cNvPr id="2150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85750" y="228600"/>
            <a:ext cx="9201150" cy="803275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algn="ctr" eaLnBrk="1" hangingPunct="1"/>
            <a:r>
              <a:rPr lang="en-US" altLang="zh-TW" sz="4000" smtClean="0"/>
              <a:t>Shortest-Job First (SJF) Scheduling (2)</a:t>
            </a:r>
          </a:p>
        </p:txBody>
      </p:sp>
      <p:sp>
        <p:nvSpPr>
          <p:cNvPr id="253955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42900" y="1019175"/>
            <a:ext cx="9163050" cy="4778375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</a:pPr>
            <a:r>
              <a:rPr lang="en-US" altLang="zh-TW" sz="3600" smtClean="0"/>
              <a:t>Two schemes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3200" smtClean="0">
                <a:solidFill>
                  <a:srgbClr val="FF0066"/>
                </a:solidFill>
              </a:rPr>
              <a:t>nonpreemptive</a:t>
            </a:r>
            <a:r>
              <a:rPr lang="en-US" altLang="zh-TW" sz="3200" smtClean="0"/>
              <a:t> </a:t>
            </a:r>
            <a:r>
              <a:rPr lang="en-US" altLang="zh-TW" sz="3200" smtClean="0">
                <a:latin typeface="Helvetica" pitchFamily="34" charset="0"/>
              </a:rPr>
              <a:t>–</a:t>
            </a:r>
            <a:r>
              <a:rPr lang="en-US" altLang="zh-TW" sz="3200" smtClean="0"/>
              <a:t> once CPU given to the process it </a:t>
            </a:r>
            <a:r>
              <a:rPr lang="en-US" altLang="zh-TW" sz="3200" smtClean="0">
                <a:solidFill>
                  <a:srgbClr val="FF0066"/>
                </a:solidFill>
              </a:rPr>
              <a:t>cannot be preempted until completes its CPU burst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TW" sz="3200" smtClean="0">
                <a:solidFill>
                  <a:srgbClr val="FF0066"/>
                </a:solidFill>
              </a:rPr>
              <a:t>preemptive</a:t>
            </a:r>
            <a:r>
              <a:rPr lang="en-US" altLang="zh-TW" sz="3200" smtClean="0"/>
              <a:t> </a:t>
            </a:r>
            <a:r>
              <a:rPr lang="en-US" altLang="zh-TW" sz="3200" smtClean="0">
                <a:latin typeface="Helvetica" pitchFamily="34" charset="0"/>
              </a:rPr>
              <a:t>–</a:t>
            </a:r>
            <a:r>
              <a:rPr lang="en-US" altLang="zh-TW" sz="3200" smtClean="0"/>
              <a:t> if a </a:t>
            </a:r>
            <a:r>
              <a:rPr lang="en-US" altLang="zh-TW" sz="3200" smtClean="0">
                <a:solidFill>
                  <a:srgbClr val="FF0066"/>
                </a:solidFill>
              </a:rPr>
              <a:t>new process arrives</a:t>
            </a:r>
            <a:r>
              <a:rPr lang="en-US" altLang="zh-TW" sz="3200" smtClean="0"/>
              <a:t> with CPU burst length less than remaining time of current executing process, preempt.  This scheme is know as the </a:t>
            </a:r>
            <a:r>
              <a:rPr lang="en-US" altLang="zh-TW" sz="3200" b="1" smtClean="0">
                <a:solidFill>
                  <a:srgbClr val="FF0066"/>
                </a:solidFill>
              </a:rPr>
              <a:t/>
            </a:r>
            <a:br>
              <a:rPr lang="en-US" altLang="zh-TW" sz="3200" b="1" smtClean="0">
                <a:solidFill>
                  <a:srgbClr val="FF0066"/>
                </a:solidFill>
              </a:rPr>
            </a:br>
            <a:r>
              <a:rPr lang="en-US" altLang="zh-TW" sz="3200" b="1" smtClean="0">
                <a:solidFill>
                  <a:srgbClr val="FF0066"/>
                </a:solidFill>
              </a:rPr>
              <a:t>Shortest-Remaining-Time-First</a:t>
            </a:r>
            <a:r>
              <a:rPr lang="en-US" altLang="zh-TW" sz="3200" smtClean="0"/>
              <a:t> (SRTF)</a:t>
            </a:r>
          </a:p>
        </p:txBody>
      </p:sp>
      <p:sp>
        <p:nvSpPr>
          <p:cNvPr id="21510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8FA9431C-0CC4-4385-ACB2-ADA308808522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3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3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3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3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22531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790235C-581F-4729-9E7B-198F34ACBD1C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kumimoji="0" lang="en-US" altLang="zh-TW" sz="1400" smtClean="0"/>
          </a:p>
        </p:txBody>
      </p:sp>
      <p:sp>
        <p:nvSpPr>
          <p:cNvPr id="22532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92150" y="1246188"/>
            <a:ext cx="8729663" cy="46863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TW" sz="2800" smtClean="0"/>
              <a:t>		</a:t>
            </a:r>
            <a:r>
              <a:rPr lang="en-US" altLang="zh-TW" sz="2800" u="sng" smtClean="0"/>
              <a:t>Process	Arrival Time</a:t>
            </a:r>
            <a:r>
              <a:rPr lang="en-US" altLang="zh-TW" sz="2800" smtClean="0"/>
              <a:t>	</a:t>
            </a:r>
            <a:r>
              <a:rPr lang="en-US" altLang="zh-TW" sz="2800" u="sng" smtClean="0"/>
              <a:t>Burst Time</a:t>
            </a:r>
            <a:endParaRPr lang="en-US" altLang="zh-TW" sz="280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TW" sz="2800" smtClean="0"/>
              <a:t>		</a:t>
            </a:r>
            <a:r>
              <a:rPr lang="en-US" altLang="zh-TW" sz="2800" i="1" smtClean="0"/>
              <a:t>P</a:t>
            </a:r>
            <a:r>
              <a:rPr lang="en-US" altLang="zh-TW" sz="2800" i="1" baseline="-25000" smtClean="0"/>
              <a:t>1</a:t>
            </a:r>
            <a:r>
              <a:rPr lang="en-US" altLang="zh-TW" sz="2800" smtClean="0"/>
              <a:t>	0.0	7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TW" sz="2800" smtClean="0"/>
              <a:t>		 </a:t>
            </a:r>
            <a:r>
              <a:rPr lang="en-US" altLang="zh-TW" sz="2800" i="1" smtClean="0"/>
              <a:t>P</a:t>
            </a:r>
            <a:r>
              <a:rPr lang="en-US" altLang="zh-TW" sz="2800" i="1" baseline="-25000" smtClean="0"/>
              <a:t>2	</a:t>
            </a:r>
            <a:r>
              <a:rPr lang="en-US" altLang="zh-TW" sz="2800" smtClean="0"/>
              <a:t>2.0	4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TW" sz="2800" smtClean="0"/>
              <a:t>		 </a:t>
            </a:r>
            <a:r>
              <a:rPr lang="en-US" altLang="zh-TW" sz="2800" i="1" smtClean="0"/>
              <a:t>P</a:t>
            </a:r>
            <a:r>
              <a:rPr lang="en-US" altLang="zh-TW" sz="2800" i="1" baseline="-25000" smtClean="0"/>
              <a:t>3</a:t>
            </a:r>
            <a:r>
              <a:rPr lang="en-US" altLang="zh-TW" sz="2800" smtClean="0"/>
              <a:t>	4.0	1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TW" sz="2800" smtClean="0"/>
              <a:t>		 </a:t>
            </a:r>
            <a:r>
              <a:rPr lang="en-US" altLang="zh-TW" sz="2800" i="1" smtClean="0"/>
              <a:t>P</a:t>
            </a:r>
            <a:r>
              <a:rPr lang="en-US" altLang="zh-TW" sz="2800" i="1" baseline="-25000" smtClean="0"/>
              <a:t>4</a:t>
            </a:r>
            <a:r>
              <a:rPr lang="en-US" altLang="zh-TW" sz="2800" smtClean="0"/>
              <a:t>	5.0	4</a:t>
            </a:r>
          </a:p>
          <a:p>
            <a:pPr eaLnBrk="1" hangingPunct="1">
              <a:lnSpc>
                <a:spcPct val="90000"/>
              </a:lnSpc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TW" sz="2800" smtClean="0"/>
              <a:t>SJF (non-preemptive)</a:t>
            </a:r>
          </a:p>
          <a:p>
            <a:pPr eaLnBrk="1" hangingPunct="1">
              <a:lnSpc>
                <a:spcPct val="90000"/>
              </a:lnSpc>
              <a:tabLst>
                <a:tab pos="1603375" algn="ctr"/>
                <a:tab pos="3254375" algn="ctr"/>
                <a:tab pos="5143500" algn="ctr"/>
              </a:tabLst>
            </a:pPr>
            <a:endParaRPr lang="en-US" altLang="zh-TW" sz="2800" smtClean="0"/>
          </a:p>
          <a:p>
            <a:pPr eaLnBrk="1" hangingPunct="1">
              <a:lnSpc>
                <a:spcPct val="90000"/>
              </a:lnSpc>
              <a:tabLst>
                <a:tab pos="1603375" algn="ctr"/>
                <a:tab pos="3254375" algn="ctr"/>
                <a:tab pos="5143500" algn="ctr"/>
              </a:tabLst>
            </a:pPr>
            <a:endParaRPr lang="en-US" altLang="zh-TW" sz="2800" smtClean="0"/>
          </a:p>
          <a:p>
            <a:pPr eaLnBrk="1" hangingPunct="1">
              <a:lnSpc>
                <a:spcPct val="90000"/>
              </a:lnSpc>
              <a:tabLst>
                <a:tab pos="1603375" algn="ctr"/>
                <a:tab pos="3254375" algn="ctr"/>
                <a:tab pos="5143500" algn="ctr"/>
              </a:tabLst>
            </a:pPr>
            <a:endParaRPr lang="en-US" altLang="zh-TW" sz="2800" smtClean="0"/>
          </a:p>
          <a:p>
            <a:pPr eaLnBrk="1" hangingPunct="1">
              <a:lnSpc>
                <a:spcPct val="90000"/>
              </a:lnSpc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TW" sz="2800" smtClean="0"/>
              <a:t>Average waiting time = [0 + (8-2) + 3 + 7]/4 = 4</a:t>
            </a:r>
            <a:endParaRPr lang="en-US" altLang="zh-TW" sz="2800" i="1" baseline="-25000" smtClean="0"/>
          </a:p>
        </p:txBody>
      </p:sp>
      <p:sp>
        <p:nvSpPr>
          <p:cNvPr id="22533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anchor="ctr"/>
          <a:lstStyle/>
          <a:p>
            <a:pPr eaLnBrk="1" hangingPunct="1"/>
            <a:r>
              <a:rPr lang="en-US" altLang="zh-TW" smtClean="0"/>
              <a:t>Example of </a:t>
            </a:r>
            <a:r>
              <a:rPr lang="en-US" altLang="zh-TW" smtClean="0">
                <a:solidFill>
                  <a:srgbClr val="FF0066"/>
                </a:solidFill>
              </a:rPr>
              <a:t>Non-Preemptive</a:t>
            </a:r>
            <a:r>
              <a:rPr lang="en-US" altLang="zh-TW" smtClean="0"/>
              <a:t> SJF</a:t>
            </a:r>
          </a:p>
        </p:txBody>
      </p:sp>
      <p:grpSp>
        <p:nvGrpSpPr>
          <p:cNvPr id="22534" name="Group 4"/>
          <p:cNvGrpSpPr>
            <a:grpSpLocks/>
          </p:cNvGrpSpPr>
          <p:nvPr/>
        </p:nvGrpSpPr>
        <p:grpSpPr bwMode="auto">
          <a:xfrm>
            <a:off x="1582738" y="4060825"/>
            <a:ext cx="6010275" cy="1128713"/>
            <a:chOff x="871" y="2325"/>
            <a:chExt cx="3495" cy="711"/>
          </a:xfrm>
        </p:grpSpPr>
        <p:sp>
          <p:nvSpPr>
            <p:cNvPr id="22536" name="Rectangle 5"/>
            <p:cNvSpPr>
              <a:spLocks noChangeArrowheads="1"/>
            </p:cNvSpPr>
            <p:nvPr/>
          </p:nvSpPr>
          <p:spPr bwMode="auto">
            <a:xfrm flipH="1">
              <a:off x="960" y="2325"/>
              <a:ext cx="3312" cy="3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22537" name="Text Box 6"/>
            <p:cNvSpPr txBox="1">
              <a:spLocks noChangeArrowheads="1"/>
            </p:cNvSpPr>
            <p:nvPr/>
          </p:nvSpPr>
          <p:spPr bwMode="auto">
            <a:xfrm flipH="1">
              <a:off x="1403" y="2373"/>
              <a:ext cx="24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TW" sz="1800">
                  <a:latin typeface="Helvetica" pitchFamily="34" charset="0"/>
                </a:rPr>
                <a:t>P</a:t>
              </a:r>
              <a:r>
                <a:rPr kumimoji="0" lang="en-US" altLang="zh-TW" sz="1800" baseline="-25000">
                  <a:latin typeface="Helvetica" pitchFamily="34" charset="0"/>
                </a:rPr>
                <a:t>1</a:t>
              </a:r>
              <a:endParaRPr kumimoji="0" lang="en-US" altLang="zh-TW" sz="1800">
                <a:latin typeface="Helvetica" pitchFamily="34" charset="0"/>
              </a:endParaRPr>
            </a:p>
          </p:txBody>
        </p:sp>
        <p:sp>
          <p:nvSpPr>
            <p:cNvPr id="22538" name="Text Box 7"/>
            <p:cNvSpPr txBox="1">
              <a:spLocks noChangeArrowheads="1"/>
            </p:cNvSpPr>
            <p:nvPr/>
          </p:nvSpPr>
          <p:spPr bwMode="auto">
            <a:xfrm flipH="1">
              <a:off x="2411" y="2373"/>
              <a:ext cx="24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TW" sz="1800">
                  <a:latin typeface="Helvetica" pitchFamily="34" charset="0"/>
                </a:rPr>
                <a:t>P</a:t>
              </a:r>
              <a:r>
                <a:rPr kumimoji="0" lang="en-US" altLang="zh-TW" sz="1800" baseline="-25000">
                  <a:latin typeface="Helvetica" pitchFamily="34" charset="0"/>
                </a:rPr>
                <a:t>3</a:t>
              </a:r>
              <a:endParaRPr kumimoji="0" lang="en-US" altLang="zh-TW" sz="1800">
                <a:latin typeface="Helvetica" pitchFamily="34" charset="0"/>
              </a:endParaRPr>
            </a:p>
          </p:txBody>
        </p:sp>
        <p:sp>
          <p:nvSpPr>
            <p:cNvPr id="22539" name="Text Box 8"/>
            <p:cNvSpPr txBox="1">
              <a:spLocks noChangeArrowheads="1"/>
            </p:cNvSpPr>
            <p:nvPr/>
          </p:nvSpPr>
          <p:spPr bwMode="auto">
            <a:xfrm flipH="1">
              <a:off x="2987" y="2373"/>
              <a:ext cx="24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TW" sz="1800">
                  <a:latin typeface="Helvetica" pitchFamily="34" charset="0"/>
                </a:rPr>
                <a:t>P</a:t>
              </a:r>
              <a:r>
                <a:rPr kumimoji="0" lang="en-US" altLang="zh-TW" sz="1800" baseline="-25000">
                  <a:latin typeface="Helvetica" pitchFamily="34" charset="0"/>
                </a:rPr>
                <a:t>2</a:t>
              </a:r>
              <a:endParaRPr kumimoji="0" lang="en-US" altLang="zh-TW" sz="1800">
                <a:latin typeface="Helvetica" pitchFamily="34" charset="0"/>
              </a:endParaRPr>
            </a:p>
          </p:txBody>
        </p:sp>
        <p:sp>
          <p:nvSpPr>
            <p:cNvPr id="22540" name="Line 9"/>
            <p:cNvSpPr>
              <a:spLocks noChangeShapeType="1"/>
            </p:cNvSpPr>
            <p:nvPr/>
          </p:nvSpPr>
          <p:spPr bwMode="auto">
            <a:xfrm flipH="1">
              <a:off x="4272" y="2709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2541" name="Line 10"/>
            <p:cNvSpPr>
              <a:spLocks noChangeShapeType="1"/>
            </p:cNvSpPr>
            <p:nvPr/>
          </p:nvSpPr>
          <p:spPr bwMode="auto">
            <a:xfrm flipH="1">
              <a:off x="960" y="2709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2542" name="Line 11"/>
            <p:cNvSpPr>
              <a:spLocks noChangeShapeType="1"/>
            </p:cNvSpPr>
            <p:nvPr/>
          </p:nvSpPr>
          <p:spPr bwMode="auto">
            <a:xfrm flipH="1">
              <a:off x="2688" y="2325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2543" name="Line 12"/>
            <p:cNvSpPr>
              <a:spLocks noChangeShapeType="1"/>
            </p:cNvSpPr>
            <p:nvPr/>
          </p:nvSpPr>
          <p:spPr bwMode="auto">
            <a:xfrm flipH="1">
              <a:off x="2400" y="2325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2544" name="Line 13"/>
            <p:cNvSpPr>
              <a:spLocks noChangeShapeType="1"/>
            </p:cNvSpPr>
            <p:nvPr/>
          </p:nvSpPr>
          <p:spPr bwMode="auto">
            <a:xfrm flipH="1">
              <a:off x="2400" y="2709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2545" name="Line 14"/>
            <p:cNvSpPr>
              <a:spLocks noChangeShapeType="1"/>
            </p:cNvSpPr>
            <p:nvPr/>
          </p:nvSpPr>
          <p:spPr bwMode="auto">
            <a:xfrm flipH="1">
              <a:off x="1392" y="263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2546" name="Text Box 15"/>
            <p:cNvSpPr txBox="1">
              <a:spLocks noChangeArrowheads="1"/>
            </p:cNvSpPr>
            <p:nvPr/>
          </p:nvSpPr>
          <p:spPr bwMode="auto">
            <a:xfrm flipH="1">
              <a:off x="2312" y="2805"/>
              <a:ext cx="18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TW" sz="1800">
                  <a:latin typeface="Helvetica" pitchFamily="34" charset="0"/>
                </a:rPr>
                <a:t>7</a:t>
              </a:r>
            </a:p>
          </p:txBody>
        </p:sp>
        <p:sp>
          <p:nvSpPr>
            <p:cNvPr id="22547" name="Text Box 16"/>
            <p:cNvSpPr txBox="1">
              <a:spLocks noChangeArrowheads="1"/>
            </p:cNvSpPr>
            <p:nvPr/>
          </p:nvSpPr>
          <p:spPr bwMode="auto">
            <a:xfrm flipH="1">
              <a:off x="1500" y="2805"/>
              <a:ext cx="18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TW" sz="1800">
                  <a:latin typeface="Helvetica" pitchFamily="34" charset="0"/>
                </a:rPr>
                <a:t>3</a:t>
              </a:r>
            </a:p>
          </p:txBody>
        </p:sp>
        <p:sp>
          <p:nvSpPr>
            <p:cNvPr id="22548" name="Text Box 17"/>
            <p:cNvSpPr txBox="1">
              <a:spLocks noChangeArrowheads="1"/>
            </p:cNvSpPr>
            <p:nvPr/>
          </p:nvSpPr>
          <p:spPr bwMode="auto">
            <a:xfrm flipH="1">
              <a:off x="4111" y="2805"/>
              <a:ext cx="25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TW" sz="1800">
                  <a:latin typeface="Helvetica" pitchFamily="34" charset="0"/>
                </a:rPr>
                <a:t>16</a:t>
              </a:r>
            </a:p>
          </p:txBody>
        </p:sp>
        <p:sp>
          <p:nvSpPr>
            <p:cNvPr id="22549" name="Text Box 18"/>
            <p:cNvSpPr txBox="1">
              <a:spLocks noChangeArrowheads="1"/>
            </p:cNvSpPr>
            <p:nvPr/>
          </p:nvSpPr>
          <p:spPr bwMode="auto">
            <a:xfrm flipH="1">
              <a:off x="871" y="2805"/>
              <a:ext cx="18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TW" sz="1800">
                  <a:latin typeface="Helvetica" pitchFamily="34" charset="0"/>
                </a:rPr>
                <a:t>0</a:t>
              </a:r>
            </a:p>
          </p:txBody>
        </p:sp>
        <p:sp>
          <p:nvSpPr>
            <p:cNvPr id="22550" name="Text Box 19"/>
            <p:cNvSpPr txBox="1">
              <a:spLocks noChangeArrowheads="1"/>
            </p:cNvSpPr>
            <p:nvPr/>
          </p:nvSpPr>
          <p:spPr bwMode="auto">
            <a:xfrm flipH="1">
              <a:off x="3707" y="2373"/>
              <a:ext cx="24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TW" sz="1800">
                  <a:latin typeface="Helvetica" pitchFamily="34" charset="0"/>
                </a:rPr>
                <a:t>P</a:t>
              </a:r>
              <a:r>
                <a:rPr kumimoji="0" lang="en-US" altLang="zh-TW" sz="1800" baseline="-25000">
                  <a:latin typeface="Helvetica" pitchFamily="34" charset="0"/>
                </a:rPr>
                <a:t>4</a:t>
              </a:r>
              <a:endParaRPr kumimoji="0" lang="en-US" altLang="zh-TW" sz="1800">
                <a:latin typeface="Helvetica" pitchFamily="34" charset="0"/>
              </a:endParaRPr>
            </a:p>
          </p:txBody>
        </p:sp>
        <p:sp>
          <p:nvSpPr>
            <p:cNvPr id="22551" name="Line 20"/>
            <p:cNvSpPr>
              <a:spLocks noChangeShapeType="1"/>
            </p:cNvSpPr>
            <p:nvPr/>
          </p:nvSpPr>
          <p:spPr bwMode="auto">
            <a:xfrm flipH="1">
              <a:off x="3456" y="2325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2552" name="Line 21"/>
            <p:cNvSpPr>
              <a:spLocks noChangeShapeType="1"/>
            </p:cNvSpPr>
            <p:nvPr/>
          </p:nvSpPr>
          <p:spPr bwMode="auto">
            <a:xfrm flipH="1">
              <a:off x="1152" y="263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2553" name="Line 22"/>
            <p:cNvSpPr>
              <a:spLocks noChangeShapeType="1"/>
            </p:cNvSpPr>
            <p:nvPr/>
          </p:nvSpPr>
          <p:spPr bwMode="auto">
            <a:xfrm flipH="1">
              <a:off x="1632" y="263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2554" name="Line 23"/>
            <p:cNvSpPr>
              <a:spLocks noChangeShapeType="1"/>
            </p:cNvSpPr>
            <p:nvPr/>
          </p:nvSpPr>
          <p:spPr bwMode="auto">
            <a:xfrm flipH="1">
              <a:off x="1872" y="263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2555" name="Line 24"/>
            <p:cNvSpPr>
              <a:spLocks noChangeShapeType="1"/>
            </p:cNvSpPr>
            <p:nvPr/>
          </p:nvSpPr>
          <p:spPr bwMode="auto">
            <a:xfrm flipH="1">
              <a:off x="2064" y="263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2556" name="Line 25"/>
            <p:cNvSpPr>
              <a:spLocks noChangeShapeType="1"/>
            </p:cNvSpPr>
            <p:nvPr/>
          </p:nvSpPr>
          <p:spPr bwMode="auto">
            <a:xfrm flipH="1">
              <a:off x="2256" y="263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2557" name="Line 26"/>
            <p:cNvSpPr>
              <a:spLocks noChangeShapeType="1"/>
            </p:cNvSpPr>
            <p:nvPr/>
          </p:nvSpPr>
          <p:spPr bwMode="auto">
            <a:xfrm flipH="1">
              <a:off x="2688" y="2709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2558" name="Text Box 27"/>
            <p:cNvSpPr txBox="1">
              <a:spLocks noChangeArrowheads="1"/>
            </p:cNvSpPr>
            <p:nvPr/>
          </p:nvSpPr>
          <p:spPr bwMode="auto">
            <a:xfrm flipH="1">
              <a:off x="2600" y="2805"/>
              <a:ext cx="18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TW" sz="1800">
                  <a:latin typeface="Helvetica" pitchFamily="34" charset="0"/>
                </a:rPr>
                <a:t>8</a:t>
              </a:r>
            </a:p>
          </p:txBody>
        </p:sp>
        <p:sp>
          <p:nvSpPr>
            <p:cNvPr id="22559" name="Line 28"/>
            <p:cNvSpPr>
              <a:spLocks noChangeShapeType="1"/>
            </p:cNvSpPr>
            <p:nvPr/>
          </p:nvSpPr>
          <p:spPr bwMode="auto">
            <a:xfrm flipH="1">
              <a:off x="2928" y="263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2560" name="Line 29"/>
            <p:cNvSpPr>
              <a:spLocks noChangeShapeType="1"/>
            </p:cNvSpPr>
            <p:nvPr/>
          </p:nvSpPr>
          <p:spPr bwMode="auto">
            <a:xfrm flipH="1">
              <a:off x="3120" y="263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2561" name="Line 30"/>
            <p:cNvSpPr>
              <a:spLocks noChangeShapeType="1"/>
            </p:cNvSpPr>
            <p:nvPr/>
          </p:nvSpPr>
          <p:spPr bwMode="auto">
            <a:xfrm flipH="1">
              <a:off x="3312" y="263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2562" name="Line 31"/>
            <p:cNvSpPr>
              <a:spLocks noChangeShapeType="1"/>
            </p:cNvSpPr>
            <p:nvPr/>
          </p:nvSpPr>
          <p:spPr bwMode="auto">
            <a:xfrm flipH="1">
              <a:off x="3456" y="2709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2563" name="Text Box 32"/>
            <p:cNvSpPr txBox="1">
              <a:spLocks noChangeArrowheads="1"/>
            </p:cNvSpPr>
            <p:nvPr/>
          </p:nvSpPr>
          <p:spPr bwMode="auto">
            <a:xfrm flipH="1">
              <a:off x="3323" y="2805"/>
              <a:ext cx="25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TW" sz="1800">
                  <a:latin typeface="Helvetica" pitchFamily="34" charset="0"/>
                </a:rPr>
                <a:t>12</a:t>
              </a:r>
            </a:p>
          </p:txBody>
        </p:sp>
        <p:sp>
          <p:nvSpPr>
            <p:cNvPr id="22564" name="Line 33"/>
            <p:cNvSpPr>
              <a:spLocks noChangeShapeType="1"/>
            </p:cNvSpPr>
            <p:nvPr/>
          </p:nvSpPr>
          <p:spPr bwMode="auto">
            <a:xfrm flipH="1">
              <a:off x="3696" y="263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2565" name="Line 34"/>
            <p:cNvSpPr>
              <a:spLocks noChangeShapeType="1"/>
            </p:cNvSpPr>
            <p:nvPr/>
          </p:nvSpPr>
          <p:spPr bwMode="auto">
            <a:xfrm flipH="1">
              <a:off x="3888" y="263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2566" name="Line 35"/>
            <p:cNvSpPr>
              <a:spLocks noChangeShapeType="1"/>
            </p:cNvSpPr>
            <p:nvPr/>
          </p:nvSpPr>
          <p:spPr bwMode="auto">
            <a:xfrm flipH="1">
              <a:off x="4080" y="263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  <p:sp>
        <p:nvSpPr>
          <p:cNvPr id="22535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A9932C0-027A-4C57-8EFE-DB0319E7D266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23555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8BE880B-4F3D-41F8-A9F4-EA9F63E061E6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kumimoji="0" lang="en-US" altLang="zh-TW" sz="1400" smtClean="0"/>
          </a:p>
        </p:txBody>
      </p:sp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>
          <a:xfrm>
            <a:off x="701675" y="196850"/>
            <a:ext cx="8509000" cy="908050"/>
          </a:xfrm>
        </p:spPr>
        <p:txBody>
          <a:bodyPr/>
          <a:lstStyle/>
          <a:p>
            <a:pPr eaLnBrk="1" hangingPunct="1"/>
            <a:r>
              <a:rPr lang="en-US" altLang="zh-TW" smtClean="0"/>
              <a:t>Example of </a:t>
            </a:r>
            <a:r>
              <a:rPr lang="en-US" altLang="zh-TW" smtClean="0">
                <a:solidFill>
                  <a:srgbClr val="FF0066"/>
                </a:solidFill>
              </a:rPr>
              <a:t>Preemptive</a:t>
            </a:r>
            <a:r>
              <a:rPr lang="en-US" altLang="zh-TW" smtClean="0"/>
              <a:t> SJF</a:t>
            </a:r>
          </a:p>
        </p:txBody>
      </p:sp>
      <p:sp>
        <p:nvSpPr>
          <p:cNvPr id="25190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11200" y="1150938"/>
            <a:ext cx="8853488" cy="49530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TW" sz="2800" smtClean="0"/>
              <a:t>		</a:t>
            </a:r>
            <a:r>
              <a:rPr lang="en-US" altLang="zh-TW" sz="2800" u="sng" smtClean="0"/>
              <a:t>Process	Arrival Time</a:t>
            </a:r>
            <a:r>
              <a:rPr lang="en-US" altLang="zh-TW" sz="2800" smtClean="0"/>
              <a:t>	</a:t>
            </a:r>
            <a:r>
              <a:rPr lang="en-US" altLang="zh-TW" sz="2800" u="sng" smtClean="0"/>
              <a:t>Burst Time</a:t>
            </a:r>
            <a:endParaRPr lang="en-US" altLang="zh-TW" sz="280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TW" sz="2800" smtClean="0"/>
              <a:t>		</a:t>
            </a:r>
            <a:r>
              <a:rPr lang="en-US" altLang="zh-TW" sz="2800" i="1" smtClean="0"/>
              <a:t>P</a:t>
            </a:r>
            <a:r>
              <a:rPr lang="en-US" altLang="zh-TW" sz="2800" i="1" baseline="-25000" smtClean="0"/>
              <a:t>1</a:t>
            </a:r>
            <a:r>
              <a:rPr lang="en-US" altLang="zh-TW" sz="2800" smtClean="0"/>
              <a:t>	0.0	7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TW" sz="2800" smtClean="0"/>
              <a:t>		 </a:t>
            </a:r>
            <a:r>
              <a:rPr lang="en-US" altLang="zh-TW" sz="2800" i="1" smtClean="0"/>
              <a:t>P</a:t>
            </a:r>
            <a:r>
              <a:rPr lang="en-US" altLang="zh-TW" sz="2800" i="1" baseline="-25000" smtClean="0"/>
              <a:t>2</a:t>
            </a:r>
            <a:r>
              <a:rPr lang="en-US" altLang="zh-TW" sz="2800" i="1" baseline="-25000" smtClean="0">
                <a:solidFill>
                  <a:srgbClr val="FF0066"/>
                </a:solidFill>
              </a:rPr>
              <a:t>	</a:t>
            </a:r>
            <a:r>
              <a:rPr lang="en-US" altLang="zh-TW" sz="2800" smtClean="0">
                <a:solidFill>
                  <a:srgbClr val="FF0066"/>
                </a:solidFill>
              </a:rPr>
              <a:t>2.0</a:t>
            </a:r>
            <a:r>
              <a:rPr lang="en-US" altLang="zh-TW" sz="2800" smtClean="0"/>
              <a:t>	4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TW" sz="2800" smtClean="0"/>
              <a:t>		 </a:t>
            </a:r>
            <a:r>
              <a:rPr lang="en-US" altLang="zh-TW" sz="2800" i="1" smtClean="0"/>
              <a:t>P</a:t>
            </a:r>
            <a:r>
              <a:rPr lang="en-US" altLang="zh-TW" sz="2800" i="1" baseline="-25000" smtClean="0"/>
              <a:t>3</a:t>
            </a:r>
            <a:r>
              <a:rPr lang="en-US" altLang="zh-TW" sz="2800" smtClean="0">
                <a:solidFill>
                  <a:srgbClr val="FF0066"/>
                </a:solidFill>
              </a:rPr>
              <a:t>	4.0</a:t>
            </a:r>
            <a:r>
              <a:rPr lang="en-US" altLang="zh-TW" sz="2800" smtClean="0"/>
              <a:t>	1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TW" sz="2800" smtClean="0"/>
              <a:t>		 </a:t>
            </a:r>
            <a:r>
              <a:rPr lang="en-US" altLang="zh-TW" sz="2800" i="1" smtClean="0"/>
              <a:t>P</a:t>
            </a:r>
            <a:r>
              <a:rPr lang="en-US" altLang="zh-TW" sz="2800" i="1" baseline="-25000" smtClean="0"/>
              <a:t>4</a:t>
            </a:r>
            <a:r>
              <a:rPr lang="en-US" altLang="zh-TW" sz="2800" smtClean="0">
                <a:solidFill>
                  <a:srgbClr val="FF0066"/>
                </a:solidFill>
              </a:rPr>
              <a:t>	5.0</a:t>
            </a:r>
            <a:r>
              <a:rPr lang="en-US" altLang="zh-TW" sz="2800" smtClean="0"/>
              <a:t>	4</a:t>
            </a:r>
          </a:p>
          <a:p>
            <a:pPr eaLnBrk="1" hangingPunct="1">
              <a:lnSpc>
                <a:spcPct val="90000"/>
              </a:lnSpc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TW" sz="2800" smtClean="0"/>
              <a:t>SJF (preemptive)</a:t>
            </a:r>
          </a:p>
          <a:p>
            <a:pPr eaLnBrk="1" hangingPunct="1">
              <a:lnSpc>
                <a:spcPct val="90000"/>
              </a:lnSpc>
              <a:tabLst>
                <a:tab pos="1603375" algn="ctr"/>
                <a:tab pos="3254375" algn="ctr"/>
                <a:tab pos="5143500" algn="ctr"/>
              </a:tabLst>
            </a:pPr>
            <a:endParaRPr lang="en-US" altLang="zh-TW" sz="2800" smtClean="0"/>
          </a:p>
          <a:p>
            <a:pPr eaLnBrk="1" hangingPunct="1">
              <a:lnSpc>
                <a:spcPct val="90000"/>
              </a:lnSpc>
              <a:tabLst>
                <a:tab pos="1603375" algn="ctr"/>
                <a:tab pos="3254375" algn="ctr"/>
                <a:tab pos="5143500" algn="ctr"/>
              </a:tabLst>
            </a:pPr>
            <a:endParaRPr lang="en-US" altLang="zh-TW" sz="2800" smtClean="0"/>
          </a:p>
          <a:p>
            <a:pPr eaLnBrk="1" hangingPunct="1">
              <a:lnSpc>
                <a:spcPct val="90000"/>
              </a:lnSpc>
              <a:tabLst>
                <a:tab pos="1603375" algn="ctr"/>
                <a:tab pos="3254375" algn="ctr"/>
                <a:tab pos="5143500" algn="ctr"/>
              </a:tabLst>
            </a:pPr>
            <a:endParaRPr lang="en-US" altLang="zh-TW" sz="2800" smtClean="0"/>
          </a:p>
          <a:p>
            <a:pPr eaLnBrk="1" hangingPunct="1">
              <a:lnSpc>
                <a:spcPct val="90000"/>
              </a:lnSpc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TW" sz="2800" smtClean="0"/>
              <a:t>Average waiting time = [(16-7) + 1 + 0 +2]/4 = 3</a:t>
            </a:r>
            <a:endParaRPr lang="en-US" altLang="zh-TW" sz="2800" i="1" baseline="-25000" smtClean="0"/>
          </a:p>
        </p:txBody>
      </p:sp>
      <p:grpSp>
        <p:nvGrpSpPr>
          <p:cNvPr id="23558" name="Group 4"/>
          <p:cNvGrpSpPr>
            <a:grpSpLocks/>
          </p:cNvGrpSpPr>
          <p:nvPr/>
        </p:nvGrpSpPr>
        <p:grpSpPr bwMode="auto">
          <a:xfrm>
            <a:off x="1431925" y="4014788"/>
            <a:ext cx="6388100" cy="1204912"/>
            <a:chOff x="871" y="2364"/>
            <a:chExt cx="3715" cy="759"/>
          </a:xfrm>
        </p:grpSpPr>
        <p:sp>
          <p:nvSpPr>
            <p:cNvPr id="23560" name="Rectangle 5"/>
            <p:cNvSpPr>
              <a:spLocks noChangeArrowheads="1"/>
            </p:cNvSpPr>
            <p:nvPr/>
          </p:nvSpPr>
          <p:spPr bwMode="auto">
            <a:xfrm flipH="1">
              <a:off x="960" y="2373"/>
              <a:ext cx="3504" cy="3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23561" name="Text Box 6"/>
            <p:cNvSpPr txBox="1">
              <a:spLocks noChangeArrowheads="1"/>
            </p:cNvSpPr>
            <p:nvPr/>
          </p:nvSpPr>
          <p:spPr bwMode="auto">
            <a:xfrm flipH="1">
              <a:off x="1019" y="2412"/>
              <a:ext cx="24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TW" sz="1800">
                  <a:solidFill>
                    <a:srgbClr val="FF0066"/>
                  </a:solidFill>
                  <a:latin typeface="Helvetica" pitchFamily="34" charset="0"/>
                </a:rPr>
                <a:t>P</a:t>
              </a:r>
              <a:r>
                <a:rPr kumimoji="0" lang="en-US" altLang="zh-TW" sz="1800" baseline="-25000">
                  <a:solidFill>
                    <a:srgbClr val="FF0066"/>
                  </a:solidFill>
                  <a:latin typeface="Helvetica" pitchFamily="34" charset="0"/>
                </a:rPr>
                <a:t>1</a:t>
              </a:r>
              <a:endParaRPr kumimoji="0" lang="en-US" altLang="zh-TW" sz="1800">
                <a:solidFill>
                  <a:srgbClr val="FF0066"/>
                </a:solidFill>
                <a:latin typeface="Helvetica" pitchFamily="34" charset="0"/>
              </a:endParaRPr>
            </a:p>
          </p:txBody>
        </p:sp>
        <p:sp>
          <p:nvSpPr>
            <p:cNvPr id="23562" name="Text Box 7"/>
            <p:cNvSpPr txBox="1">
              <a:spLocks noChangeArrowheads="1"/>
            </p:cNvSpPr>
            <p:nvPr/>
          </p:nvSpPr>
          <p:spPr bwMode="auto">
            <a:xfrm flipH="1">
              <a:off x="1835" y="2412"/>
              <a:ext cx="24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TW" sz="1800">
                  <a:latin typeface="Helvetica" pitchFamily="34" charset="0"/>
                </a:rPr>
                <a:t>P</a:t>
              </a:r>
              <a:r>
                <a:rPr kumimoji="0" lang="en-US" altLang="zh-TW" sz="1800" baseline="-25000">
                  <a:latin typeface="Helvetica" pitchFamily="34" charset="0"/>
                </a:rPr>
                <a:t>3</a:t>
              </a:r>
              <a:endParaRPr kumimoji="0" lang="en-US" altLang="zh-TW" sz="1800">
                <a:latin typeface="Helvetica" pitchFamily="34" charset="0"/>
              </a:endParaRPr>
            </a:p>
          </p:txBody>
        </p:sp>
        <p:sp>
          <p:nvSpPr>
            <p:cNvPr id="23563" name="Text Box 8"/>
            <p:cNvSpPr txBox="1">
              <a:spLocks noChangeArrowheads="1"/>
            </p:cNvSpPr>
            <p:nvPr/>
          </p:nvSpPr>
          <p:spPr bwMode="auto">
            <a:xfrm flipH="1">
              <a:off x="1499" y="2412"/>
              <a:ext cx="24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TW" sz="1800">
                  <a:solidFill>
                    <a:schemeClr val="tx2"/>
                  </a:solidFill>
                  <a:latin typeface="Helvetica" pitchFamily="34" charset="0"/>
                </a:rPr>
                <a:t>P</a:t>
              </a:r>
              <a:r>
                <a:rPr kumimoji="0" lang="en-US" altLang="zh-TW" sz="1800" baseline="-25000">
                  <a:solidFill>
                    <a:schemeClr val="tx2"/>
                  </a:solidFill>
                  <a:latin typeface="Helvetica" pitchFamily="34" charset="0"/>
                </a:rPr>
                <a:t>2</a:t>
              </a:r>
              <a:endParaRPr kumimoji="0" lang="en-US" altLang="zh-TW" sz="1800">
                <a:solidFill>
                  <a:schemeClr val="tx2"/>
                </a:solidFill>
                <a:latin typeface="Helvetica" pitchFamily="34" charset="0"/>
              </a:endParaRPr>
            </a:p>
          </p:txBody>
        </p:sp>
        <p:sp>
          <p:nvSpPr>
            <p:cNvPr id="23564" name="Line 9"/>
            <p:cNvSpPr>
              <a:spLocks noChangeShapeType="1"/>
            </p:cNvSpPr>
            <p:nvPr/>
          </p:nvSpPr>
          <p:spPr bwMode="auto">
            <a:xfrm flipH="1">
              <a:off x="4452" y="274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3565" name="Line 10"/>
            <p:cNvSpPr>
              <a:spLocks noChangeShapeType="1"/>
            </p:cNvSpPr>
            <p:nvPr/>
          </p:nvSpPr>
          <p:spPr bwMode="auto">
            <a:xfrm flipH="1">
              <a:off x="960" y="2757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3566" name="Line 11"/>
            <p:cNvSpPr>
              <a:spLocks noChangeShapeType="1"/>
            </p:cNvSpPr>
            <p:nvPr/>
          </p:nvSpPr>
          <p:spPr bwMode="auto">
            <a:xfrm flipH="1">
              <a:off x="2688" y="2373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3567" name="Line 12"/>
            <p:cNvSpPr>
              <a:spLocks noChangeShapeType="1"/>
            </p:cNvSpPr>
            <p:nvPr/>
          </p:nvSpPr>
          <p:spPr bwMode="auto">
            <a:xfrm flipH="1">
              <a:off x="1344" y="2364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3568" name="Line 13"/>
            <p:cNvSpPr>
              <a:spLocks noChangeShapeType="1"/>
            </p:cNvSpPr>
            <p:nvPr/>
          </p:nvSpPr>
          <p:spPr bwMode="auto">
            <a:xfrm flipH="1">
              <a:off x="2400" y="2757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3569" name="Text Box 14"/>
            <p:cNvSpPr txBox="1">
              <a:spLocks noChangeArrowheads="1"/>
            </p:cNvSpPr>
            <p:nvPr/>
          </p:nvSpPr>
          <p:spPr bwMode="auto">
            <a:xfrm flipH="1">
              <a:off x="1736" y="2892"/>
              <a:ext cx="18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TW" sz="1800">
                  <a:latin typeface="Helvetica" pitchFamily="34" charset="0"/>
                </a:rPr>
                <a:t>4</a:t>
              </a:r>
            </a:p>
          </p:txBody>
        </p:sp>
        <p:sp>
          <p:nvSpPr>
            <p:cNvPr id="23570" name="Text Box 15"/>
            <p:cNvSpPr txBox="1">
              <a:spLocks noChangeArrowheads="1"/>
            </p:cNvSpPr>
            <p:nvPr/>
          </p:nvSpPr>
          <p:spPr bwMode="auto">
            <a:xfrm flipH="1">
              <a:off x="1256" y="2892"/>
              <a:ext cx="18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TW" sz="1800">
                  <a:latin typeface="Helvetica" pitchFamily="34" charset="0"/>
                </a:rPr>
                <a:t>2</a:t>
              </a:r>
            </a:p>
          </p:txBody>
        </p:sp>
        <p:sp>
          <p:nvSpPr>
            <p:cNvPr id="23571" name="Text Box 16"/>
            <p:cNvSpPr txBox="1">
              <a:spLocks noChangeArrowheads="1"/>
            </p:cNvSpPr>
            <p:nvPr/>
          </p:nvSpPr>
          <p:spPr bwMode="auto">
            <a:xfrm flipH="1">
              <a:off x="3323" y="2844"/>
              <a:ext cx="25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TW" sz="1800">
                  <a:latin typeface="Helvetica" pitchFamily="34" charset="0"/>
                </a:rPr>
                <a:t>11</a:t>
              </a:r>
            </a:p>
          </p:txBody>
        </p:sp>
        <p:sp>
          <p:nvSpPr>
            <p:cNvPr id="23572" name="Text Box 17"/>
            <p:cNvSpPr txBox="1">
              <a:spLocks noChangeArrowheads="1"/>
            </p:cNvSpPr>
            <p:nvPr/>
          </p:nvSpPr>
          <p:spPr bwMode="auto">
            <a:xfrm flipH="1">
              <a:off x="871" y="2853"/>
              <a:ext cx="18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TW" sz="1800">
                  <a:latin typeface="Helvetica" pitchFamily="34" charset="0"/>
                </a:rPr>
                <a:t>0</a:t>
              </a:r>
            </a:p>
          </p:txBody>
        </p:sp>
        <p:sp>
          <p:nvSpPr>
            <p:cNvPr id="23573" name="Text Box 18"/>
            <p:cNvSpPr txBox="1">
              <a:spLocks noChangeArrowheads="1"/>
            </p:cNvSpPr>
            <p:nvPr/>
          </p:nvSpPr>
          <p:spPr bwMode="auto">
            <a:xfrm flipH="1">
              <a:off x="2987" y="2412"/>
              <a:ext cx="24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TW" sz="1800">
                  <a:latin typeface="Helvetica" pitchFamily="34" charset="0"/>
                </a:rPr>
                <a:t>P</a:t>
              </a:r>
              <a:r>
                <a:rPr kumimoji="0" lang="en-US" altLang="zh-TW" sz="1800" baseline="-25000">
                  <a:latin typeface="Helvetica" pitchFamily="34" charset="0"/>
                </a:rPr>
                <a:t>4</a:t>
              </a:r>
              <a:endParaRPr kumimoji="0" lang="en-US" altLang="zh-TW" sz="1800">
                <a:latin typeface="Helvetica" pitchFamily="34" charset="0"/>
              </a:endParaRPr>
            </a:p>
          </p:txBody>
        </p:sp>
        <p:sp>
          <p:nvSpPr>
            <p:cNvPr id="23574" name="Line 19"/>
            <p:cNvSpPr>
              <a:spLocks noChangeShapeType="1"/>
            </p:cNvSpPr>
            <p:nvPr/>
          </p:nvSpPr>
          <p:spPr bwMode="auto">
            <a:xfrm flipH="1">
              <a:off x="3456" y="2373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3575" name="Line 20"/>
            <p:cNvSpPr>
              <a:spLocks noChangeShapeType="1"/>
            </p:cNvSpPr>
            <p:nvPr/>
          </p:nvSpPr>
          <p:spPr bwMode="auto">
            <a:xfrm flipH="1">
              <a:off x="1152" y="268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3576" name="Line 21"/>
            <p:cNvSpPr>
              <a:spLocks noChangeShapeType="1"/>
            </p:cNvSpPr>
            <p:nvPr/>
          </p:nvSpPr>
          <p:spPr bwMode="auto">
            <a:xfrm flipH="1">
              <a:off x="1632" y="268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3577" name="Line 22"/>
            <p:cNvSpPr>
              <a:spLocks noChangeShapeType="1"/>
            </p:cNvSpPr>
            <p:nvPr/>
          </p:nvSpPr>
          <p:spPr bwMode="auto">
            <a:xfrm flipH="1">
              <a:off x="2688" y="2757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3578" name="Text Box 23"/>
            <p:cNvSpPr txBox="1">
              <a:spLocks noChangeArrowheads="1"/>
            </p:cNvSpPr>
            <p:nvPr/>
          </p:nvSpPr>
          <p:spPr bwMode="auto">
            <a:xfrm flipH="1">
              <a:off x="2071" y="2892"/>
              <a:ext cx="18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TW" sz="1800">
                  <a:latin typeface="Helvetica" pitchFamily="34" charset="0"/>
                </a:rPr>
                <a:t>5</a:t>
              </a:r>
            </a:p>
          </p:txBody>
        </p:sp>
        <p:sp>
          <p:nvSpPr>
            <p:cNvPr id="23579" name="Line 24"/>
            <p:cNvSpPr>
              <a:spLocks noChangeShapeType="1"/>
            </p:cNvSpPr>
            <p:nvPr/>
          </p:nvSpPr>
          <p:spPr bwMode="auto">
            <a:xfrm flipH="1">
              <a:off x="2928" y="268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3580" name="Line 25"/>
            <p:cNvSpPr>
              <a:spLocks noChangeShapeType="1"/>
            </p:cNvSpPr>
            <p:nvPr/>
          </p:nvSpPr>
          <p:spPr bwMode="auto">
            <a:xfrm flipH="1">
              <a:off x="3120" y="268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3581" name="Line 26"/>
            <p:cNvSpPr>
              <a:spLocks noChangeShapeType="1"/>
            </p:cNvSpPr>
            <p:nvPr/>
          </p:nvSpPr>
          <p:spPr bwMode="auto">
            <a:xfrm flipH="1">
              <a:off x="3312" y="268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3582" name="Line 27"/>
            <p:cNvSpPr>
              <a:spLocks noChangeShapeType="1"/>
            </p:cNvSpPr>
            <p:nvPr/>
          </p:nvSpPr>
          <p:spPr bwMode="auto">
            <a:xfrm flipH="1">
              <a:off x="3456" y="2757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3583" name="Text Box 28"/>
            <p:cNvSpPr txBox="1">
              <a:spLocks noChangeArrowheads="1"/>
            </p:cNvSpPr>
            <p:nvPr/>
          </p:nvSpPr>
          <p:spPr bwMode="auto">
            <a:xfrm flipH="1">
              <a:off x="2599" y="2892"/>
              <a:ext cx="18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TW" sz="1800">
                  <a:latin typeface="Helvetica" pitchFamily="34" charset="0"/>
                </a:rPr>
                <a:t>7</a:t>
              </a:r>
            </a:p>
          </p:txBody>
        </p:sp>
        <p:sp>
          <p:nvSpPr>
            <p:cNvPr id="23584" name="Line 29"/>
            <p:cNvSpPr>
              <a:spLocks noChangeShapeType="1"/>
            </p:cNvSpPr>
            <p:nvPr/>
          </p:nvSpPr>
          <p:spPr bwMode="auto">
            <a:xfrm flipH="1">
              <a:off x="3696" y="268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3585" name="Line 30"/>
            <p:cNvSpPr>
              <a:spLocks noChangeShapeType="1"/>
            </p:cNvSpPr>
            <p:nvPr/>
          </p:nvSpPr>
          <p:spPr bwMode="auto">
            <a:xfrm flipH="1">
              <a:off x="3888" y="268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3586" name="Line 31"/>
            <p:cNvSpPr>
              <a:spLocks noChangeShapeType="1"/>
            </p:cNvSpPr>
            <p:nvPr/>
          </p:nvSpPr>
          <p:spPr bwMode="auto">
            <a:xfrm flipH="1">
              <a:off x="4080" y="268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3587" name="Line 32"/>
            <p:cNvSpPr>
              <a:spLocks noChangeShapeType="1"/>
            </p:cNvSpPr>
            <p:nvPr/>
          </p:nvSpPr>
          <p:spPr bwMode="auto">
            <a:xfrm flipH="1">
              <a:off x="1824" y="2364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3588" name="Line 33"/>
            <p:cNvSpPr>
              <a:spLocks noChangeShapeType="1"/>
            </p:cNvSpPr>
            <p:nvPr/>
          </p:nvSpPr>
          <p:spPr bwMode="auto">
            <a:xfrm flipH="1">
              <a:off x="2160" y="2364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3589" name="Text Box 34"/>
            <p:cNvSpPr txBox="1">
              <a:spLocks noChangeArrowheads="1"/>
            </p:cNvSpPr>
            <p:nvPr/>
          </p:nvSpPr>
          <p:spPr bwMode="auto">
            <a:xfrm flipH="1">
              <a:off x="2267" y="2412"/>
              <a:ext cx="24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TW" sz="1800">
                  <a:solidFill>
                    <a:schemeClr val="tx2"/>
                  </a:solidFill>
                  <a:latin typeface="Helvetica" pitchFamily="34" charset="0"/>
                </a:rPr>
                <a:t>P</a:t>
              </a:r>
              <a:r>
                <a:rPr kumimoji="0" lang="en-US" altLang="zh-TW" sz="1800" baseline="-25000">
                  <a:solidFill>
                    <a:schemeClr val="tx2"/>
                  </a:solidFill>
                  <a:latin typeface="Helvetica" pitchFamily="34" charset="0"/>
                </a:rPr>
                <a:t>2</a:t>
              </a:r>
              <a:endParaRPr kumimoji="0" lang="en-US" altLang="zh-TW" sz="1800">
                <a:solidFill>
                  <a:schemeClr val="tx2"/>
                </a:solidFill>
                <a:latin typeface="Helvetica" pitchFamily="34" charset="0"/>
              </a:endParaRPr>
            </a:p>
          </p:txBody>
        </p:sp>
        <p:sp>
          <p:nvSpPr>
            <p:cNvPr id="23590" name="Text Box 35"/>
            <p:cNvSpPr txBox="1">
              <a:spLocks noChangeArrowheads="1"/>
            </p:cNvSpPr>
            <p:nvPr/>
          </p:nvSpPr>
          <p:spPr bwMode="auto">
            <a:xfrm flipH="1">
              <a:off x="3851" y="2412"/>
              <a:ext cx="24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TW" sz="1800">
                  <a:solidFill>
                    <a:srgbClr val="FF0066"/>
                  </a:solidFill>
                  <a:latin typeface="Helvetica" pitchFamily="34" charset="0"/>
                </a:rPr>
                <a:t>P</a:t>
              </a:r>
              <a:r>
                <a:rPr kumimoji="0" lang="en-US" altLang="zh-TW" sz="1800" baseline="-25000">
                  <a:solidFill>
                    <a:srgbClr val="FF0066"/>
                  </a:solidFill>
                  <a:latin typeface="Helvetica" pitchFamily="34" charset="0"/>
                </a:rPr>
                <a:t>1</a:t>
              </a:r>
              <a:endParaRPr kumimoji="0" lang="en-US" altLang="zh-TW" sz="1800">
                <a:solidFill>
                  <a:srgbClr val="FF0066"/>
                </a:solidFill>
                <a:latin typeface="Helvetica" pitchFamily="34" charset="0"/>
              </a:endParaRPr>
            </a:p>
          </p:txBody>
        </p:sp>
        <p:sp>
          <p:nvSpPr>
            <p:cNvPr id="23591" name="Line 36"/>
            <p:cNvSpPr>
              <a:spLocks noChangeShapeType="1"/>
            </p:cNvSpPr>
            <p:nvPr/>
          </p:nvSpPr>
          <p:spPr bwMode="auto">
            <a:xfrm flipH="1">
              <a:off x="4272" y="268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3592" name="Text Box 37"/>
            <p:cNvSpPr txBox="1">
              <a:spLocks noChangeArrowheads="1"/>
            </p:cNvSpPr>
            <p:nvPr/>
          </p:nvSpPr>
          <p:spPr bwMode="auto">
            <a:xfrm flipH="1">
              <a:off x="4331" y="2844"/>
              <a:ext cx="25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TW" sz="1800">
                  <a:latin typeface="Helvetica" pitchFamily="34" charset="0"/>
                </a:rPr>
                <a:t>16</a:t>
              </a:r>
            </a:p>
          </p:txBody>
        </p:sp>
      </p:grpSp>
      <p:sp>
        <p:nvSpPr>
          <p:cNvPr id="23559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A25E46F9-B43A-48FD-8E8A-E3DF71846483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24579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3002F48-9493-439C-93C3-F7F3466A0E23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kumimoji="0" lang="en-US" altLang="zh-TW" sz="1400" smtClean="0"/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>
          <a:xfrm>
            <a:off x="598488" y="266700"/>
            <a:ext cx="8420100" cy="609600"/>
          </a:xfrm>
        </p:spPr>
        <p:txBody>
          <a:bodyPr/>
          <a:lstStyle/>
          <a:p>
            <a:pPr eaLnBrk="1" hangingPunct="1"/>
            <a:r>
              <a:rPr lang="en-US" altLang="zh-TW" smtClean="0"/>
              <a:t>Priority Scheduling</a:t>
            </a:r>
          </a:p>
        </p:txBody>
      </p:sp>
      <p:sp>
        <p:nvSpPr>
          <p:cNvPr id="25497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50838" y="908050"/>
            <a:ext cx="9347200" cy="56896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zh-TW" sz="2800" dirty="0" smtClean="0"/>
              <a:t>A </a:t>
            </a:r>
            <a:r>
              <a:rPr lang="en-US" altLang="zh-TW" sz="2800" dirty="0" smtClean="0">
                <a:solidFill>
                  <a:srgbClr val="FF0066"/>
                </a:solidFill>
              </a:rPr>
              <a:t>priority number</a:t>
            </a:r>
            <a:r>
              <a:rPr lang="en-US" altLang="zh-TW" sz="2800" dirty="0" smtClean="0"/>
              <a:t> (integer) is associated with each process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zh-TW" sz="2800" dirty="0" smtClean="0"/>
              <a:t>The CPU is allocated to the process with the highest priority (smallest integer </a:t>
            </a:r>
            <a:r>
              <a:rPr lang="en-US" altLang="zh-TW" sz="2800" dirty="0" smtClean="0">
                <a:sym typeface="Symbol" pitchFamily="18" charset="2"/>
              </a:rPr>
              <a:t> highest priority)</a:t>
            </a:r>
            <a:endParaRPr lang="en-US" altLang="zh-TW" sz="2800" dirty="0" smtClean="0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sym typeface="Symbol" pitchFamily="18" charset="2"/>
            </a:endParaRP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zh-TW" sz="2400" dirty="0" smtClean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Preemptive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zh-TW" sz="2400" dirty="0" err="1" smtClean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nonpreemptive</a:t>
            </a:r>
            <a:endParaRPr lang="en-US" altLang="zh-TW" sz="2400" dirty="0" smtClean="0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zh-TW" sz="2800" dirty="0" smtClean="0">
                <a:solidFill>
                  <a:srgbClr val="FF0066"/>
                </a:solidFill>
              </a:rPr>
              <a:t>SJF is a priority scheduling where priority is the predicted next CPU burst time</a:t>
            </a:r>
            <a:endParaRPr lang="en-US" altLang="zh-TW" sz="2800" dirty="0" smtClean="0"/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zh-TW" sz="2800" dirty="0" smtClean="0"/>
              <a:t>Problem </a:t>
            </a:r>
            <a:r>
              <a:rPr lang="en-US" altLang="zh-TW" sz="2800" dirty="0" smtClean="0">
                <a:sym typeface="Symbol" pitchFamily="18" charset="2"/>
              </a:rPr>
              <a:t> </a:t>
            </a:r>
            <a:r>
              <a:rPr lang="en-US" altLang="zh-TW" sz="2800" b="1" dirty="0" smtClean="0">
                <a:solidFill>
                  <a:srgbClr val="FF0066"/>
                </a:solidFill>
                <a:sym typeface="Symbol" pitchFamily="18" charset="2"/>
              </a:rPr>
              <a:t>Starvation</a:t>
            </a:r>
            <a:r>
              <a:rPr lang="en-US" altLang="zh-TW" sz="2800" dirty="0" smtClean="0">
                <a:sym typeface="Symbol" pitchFamily="18" charset="2"/>
              </a:rPr>
              <a:t> </a:t>
            </a:r>
            <a:r>
              <a:rPr lang="en-US" altLang="zh-TW" sz="2800" dirty="0" smtClean="0">
                <a:latin typeface="Helvetica"/>
                <a:sym typeface="Symbol" pitchFamily="18" charset="2"/>
              </a:rPr>
              <a:t>–</a:t>
            </a:r>
            <a:r>
              <a:rPr lang="en-US" altLang="zh-TW" sz="2800" dirty="0" smtClean="0">
                <a:sym typeface="Symbol" pitchFamily="18" charset="2"/>
              </a:rPr>
              <a:t> low priority processes may never execute. </a:t>
            </a:r>
            <a:r>
              <a:rPr lang="en-US" altLang="zh-TW" sz="2000" dirty="0" smtClean="0"/>
              <a:t>(At MIT, there was a job submitted in 1967 that had not be run in 1973.)</a:t>
            </a:r>
            <a:endParaRPr lang="en-US" altLang="zh-TW" sz="2000" dirty="0" smtClean="0">
              <a:sym typeface="Symbol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zh-TW" sz="2800" dirty="0" smtClean="0">
                <a:sym typeface="Symbol" pitchFamily="18" charset="2"/>
              </a:rPr>
              <a:t>Solution  </a:t>
            </a:r>
            <a:r>
              <a:rPr lang="en-US" altLang="zh-TW" sz="2800" b="1" dirty="0" smtClean="0">
                <a:solidFill>
                  <a:srgbClr val="FF0066"/>
                </a:solidFill>
                <a:sym typeface="Symbol" pitchFamily="18" charset="2"/>
              </a:rPr>
              <a:t>Aging</a:t>
            </a:r>
            <a:r>
              <a:rPr lang="en-US" altLang="zh-TW" sz="2800" dirty="0" smtClean="0">
                <a:sym typeface="Symbol" pitchFamily="18" charset="2"/>
              </a:rPr>
              <a:t> </a:t>
            </a:r>
            <a:r>
              <a:rPr lang="en-US" altLang="zh-TW" sz="2800" dirty="0" smtClean="0">
                <a:latin typeface="Helvetica"/>
                <a:sym typeface="Symbol" pitchFamily="18" charset="2"/>
              </a:rPr>
              <a:t>–</a:t>
            </a:r>
            <a:r>
              <a:rPr lang="en-US" altLang="zh-TW" sz="2800" dirty="0" smtClean="0">
                <a:sym typeface="Symbol" pitchFamily="18" charset="2"/>
              </a:rPr>
              <a:t> as time progresses increase the priority of the process</a:t>
            </a:r>
          </a:p>
        </p:txBody>
      </p:sp>
      <p:sp>
        <p:nvSpPr>
          <p:cNvPr id="24582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B7D0EA01-7A20-4CC1-A6E9-408E17B7594F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4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4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4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4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4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4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4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4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4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4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54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54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25603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9F38490-3C8C-4E6F-AF6D-ED6EA66D2EFC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kumimoji="0" lang="en-US" altLang="zh-TW" sz="1400" smtClean="0"/>
          </a:p>
        </p:txBody>
      </p:sp>
      <p:sp>
        <p:nvSpPr>
          <p:cNvPr id="25604" name="Rectangle 2"/>
          <p:cNvSpPr>
            <a:spLocks noChangeArrowheads="1"/>
          </p:cNvSpPr>
          <p:nvPr/>
        </p:nvSpPr>
        <p:spPr bwMode="auto">
          <a:xfrm>
            <a:off x="2452688" y="1301750"/>
            <a:ext cx="5076825" cy="17589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182F18"/>
                    </a:gs>
                    <a:gs pos="50000">
                      <a:srgbClr val="336633"/>
                    </a:gs>
                    <a:gs pos="100000">
                      <a:srgbClr val="182F18"/>
                    </a:gs>
                  </a:gsLst>
                  <a:lin ang="5400000" scaled="1"/>
                </a:gra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25605" name="Rectangle 3"/>
          <p:cNvSpPr>
            <a:spLocks noChangeArrowheads="1"/>
          </p:cNvSpPr>
          <p:nvPr/>
        </p:nvSpPr>
        <p:spPr bwMode="auto">
          <a:xfrm>
            <a:off x="2600325" y="1390650"/>
            <a:ext cx="423545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Process      Burst Time          Priority</a:t>
            </a:r>
          </a:p>
        </p:txBody>
      </p:sp>
      <p:sp>
        <p:nvSpPr>
          <p:cNvPr id="25606" name="Line 4"/>
          <p:cNvSpPr>
            <a:spLocks noChangeShapeType="1"/>
          </p:cNvSpPr>
          <p:nvPr/>
        </p:nvSpPr>
        <p:spPr bwMode="auto">
          <a:xfrm>
            <a:off x="2560638" y="1766888"/>
            <a:ext cx="10906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5607" name="Line 5"/>
          <p:cNvSpPr>
            <a:spLocks noChangeShapeType="1"/>
          </p:cNvSpPr>
          <p:nvPr/>
        </p:nvSpPr>
        <p:spPr bwMode="auto">
          <a:xfrm>
            <a:off x="3844925" y="1766888"/>
            <a:ext cx="15367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5608" name="Rectangle 6"/>
          <p:cNvSpPr>
            <a:spLocks noChangeArrowheads="1"/>
          </p:cNvSpPr>
          <p:nvPr/>
        </p:nvSpPr>
        <p:spPr bwMode="auto">
          <a:xfrm>
            <a:off x="2749550" y="1779588"/>
            <a:ext cx="363855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P1                       10                     3</a:t>
            </a:r>
          </a:p>
        </p:txBody>
      </p:sp>
      <p:sp>
        <p:nvSpPr>
          <p:cNvPr id="25609" name="Rectangle 7"/>
          <p:cNvSpPr>
            <a:spLocks noChangeArrowheads="1"/>
          </p:cNvSpPr>
          <p:nvPr/>
        </p:nvSpPr>
        <p:spPr bwMode="auto">
          <a:xfrm>
            <a:off x="2744788" y="2017713"/>
            <a:ext cx="363855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P2                        1                      1</a:t>
            </a:r>
          </a:p>
        </p:txBody>
      </p:sp>
      <p:sp>
        <p:nvSpPr>
          <p:cNvPr id="25610" name="Rectangle 8"/>
          <p:cNvSpPr>
            <a:spLocks noChangeArrowheads="1"/>
          </p:cNvSpPr>
          <p:nvPr/>
        </p:nvSpPr>
        <p:spPr bwMode="auto">
          <a:xfrm>
            <a:off x="2755900" y="2270125"/>
            <a:ext cx="363855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P3                        2                      4</a:t>
            </a:r>
          </a:p>
        </p:txBody>
      </p:sp>
      <p:sp>
        <p:nvSpPr>
          <p:cNvPr id="25611" name="Line 9"/>
          <p:cNvSpPr>
            <a:spLocks noChangeShapeType="1"/>
          </p:cNvSpPr>
          <p:nvPr/>
        </p:nvSpPr>
        <p:spPr bwMode="auto">
          <a:xfrm>
            <a:off x="5735638" y="1762125"/>
            <a:ext cx="15922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5612" name="Rectangle 10"/>
          <p:cNvSpPr>
            <a:spLocks noChangeArrowheads="1"/>
          </p:cNvSpPr>
          <p:nvPr/>
        </p:nvSpPr>
        <p:spPr bwMode="auto">
          <a:xfrm>
            <a:off x="2765425" y="2479675"/>
            <a:ext cx="363855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P4                        1                      5</a:t>
            </a:r>
          </a:p>
        </p:txBody>
      </p:sp>
      <p:sp>
        <p:nvSpPr>
          <p:cNvPr id="25613" name="Rectangle 21"/>
          <p:cNvSpPr>
            <a:spLocks noChangeArrowheads="1"/>
          </p:cNvSpPr>
          <p:nvPr/>
        </p:nvSpPr>
        <p:spPr bwMode="auto">
          <a:xfrm>
            <a:off x="2760663" y="2703513"/>
            <a:ext cx="363855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P5                        5                      2</a:t>
            </a:r>
          </a:p>
        </p:txBody>
      </p:sp>
      <p:grpSp>
        <p:nvGrpSpPr>
          <p:cNvPr id="2" name="群組 1"/>
          <p:cNvGrpSpPr>
            <a:grpSpLocks/>
          </p:cNvGrpSpPr>
          <p:nvPr/>
        </p:nvGrpSpPr>
        <p:grpSpPr bwMode="auto">
          <a:xfrm>
            <a:off x="1878013" y="3579813"/>
            <a:ext cx="6276975" cy="841375"/>
            <a:chOff x="1878013" y="4017963"/>
            <a:chExt cx="6276975" cy="841375"/>
          </a:xfrm>
        </p:grpSpPr>
        <p:sp>
          <p:nvSpPr>
            <p:cNvPr id="25619" name="Rectangle 11"/>
            <p:cNvSpPr>
              <a:spLocks noChangeArrowheads="1"/>
            </p:cNvSpPr>
            <p:nvPr/>
          </p:nvSpPr>
          <p:spPr bwMode="auto">
            <a:xfrm>
              <a:off x="1998663" y="4017963"/>
              <a:ext cx="6022975" cy="41592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folHlink"/>
              </a:outerShdw>
            </a:effectLst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76002F"/>
                      </a:gs>
                      <a:gs pos="50000">
                        <a:srgbClr val="FF0066"/>
                      </a:gs>
                      <a:gs pos="100000">
                        <a:srgbClr val="76002F"/>
                      </a:gs>
                    </a:gsLst>
                    <a:lin ang="5400000" scaled="1"/>
                  </a:gra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25620" name="Line 12"/>
            <p:cNvSpPr>
              <a:spLocks noChangeShapeType="1"/>
            </p:cNvSpPr>
            <p:nvPr/>
          </p:nvSpPr>
          <p:spPr bwMode="auto">
            <a:xfrm>
              <a:off x="3632200" y="4032250"/>
              <a:ext cx="0" cy="4159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5621" name="Rectangle 13"/>
            <p:cNvSpPr>
              <a:spLocks noChangeArrowheads="1"/>
            </p:cNvSpPr>
            <p:nvPr/>
          </p:nvSpPr>
          <p:spPr bwMode="auto">
            <a:xfrm>
              <a:off x="2822575" y="4081463"/>
              <a:ext cx="463550" cy="363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Book Antiqua" pitchFamily="18" charset="0"/>
                </a:rPr>
                <a:t>P5</a:t>
              </a:r>
            </a:p>
          </p:txBody>
        </p:sp>
        <p:sp>
          <p:nvSpPr>
            <p:cNvPr id="25622" name="Rectangle 14"/>
            <p:cNvSpPr>
              <a:spLocks noChangeArrowheads="1"/>
            </p:cNvSpPr>
            <p:nvPr/>
          </p:nvSpPr>
          <p:spPr bwMode="auto">
            <a:xfrm>
              <a:off x="7099300" y="4086225"/>
              <a:ext cx="463550" cy="3635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Book Antiqua" pitchFamily="18" charset="0"/>
                </a:rPr>
                <a:t>P3</a:t>
              </a:r>
            </a:p>
          </p:txBody>
        </p:sp>
        <p:sp>
          <p:nvSpPr>
            <p:cNvPr id="25623" name="Rectangle 15"/>
            <p:cNvSpPr>
              <a:spLocks noChangeArrowheads="1"/>
            </p:cNvSpPr>
            <p:nvPr/>
          </p:nvSpPr>
          <p:spPr bwMode="auto">
            <a:xfrm>
              <a:off x="1878013" y="4495800"/>
              <a:ext cx="6276975" cy="3635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Book Antiqua" pitchFamily="18" charset="0"/>
                </a:rPr>
                <a:t>0    1                6                                                  16      18  19</a:t>
              </a:r>
            </a:p>
          </p:txBody>
        </p:sp>
        <p:sp>
          <p:nvSpPr>
            <p:cNvPr id="25624" name="Line 16"/>
            <p:cNvSpPr>
              <a:spLocks noChangeShapeType="1"/>
            </p:cNvSpPr>
            <p:nvPr/>
          </p:nvSpPr>
          <p:spPr bwMode="auto">
            <a:xfrm>
              <a:off x="2425700" y="4019550"/>
              <a:ext cx="0" cy="4159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5625" name="Rectangle 17"/>
            <p:cNvSpPr>
              <a:spLocks noChangeArrowheads="1"/>
            </p:cNvSpPr>
            <p:nvPr/>
          </p:nvSpPr>
          <p:spPr bwMode="auto">
            <a:xfrm>
              <a:off x="7599363" y="4062413"/>
              <a:ext cx="463550" cy="363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Book Antiqua" pitchFamily="18" charset="0"/>
                </a:rPr>
                <a:t>P4</a:t>
              </a:r>
            </a:p>
          </p:txBody>
        </p:sp>
        <p:sp>
          <p:nvSpPr>
            <p:cNvPr id="25626" name="Rectangle 18"/>
            <p:cNvSpPr>
              <a:spLocks noChangeArrowheads="1"/>
            </p:cNvSpPr>
            <p:nvPr/>
          </p:nvSpPr>
          <p:spPr bwMode="auto">
            <a:xfrm>
              <a:off x="2022475" y="4071938"/>
              <a:ext cx="463550" cy="363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Book Antiqua" pitchFamily="18" charset="0"/>
                </a:rPr>
                <a:t>P2</a:t>
              </a:r>
            </a:p>
          </p:txBody>
        </p:sp>
        <p:sp>
          <p:nvSpPr>
            <p:cNvPr id="25627" name="Rectangle 19"/>
            <p:cNvSpPr>
              <a:spLocks noChangeArrowheads="1"/>
            </p:cNvSpPr>
            <p:nvPr/>
          </p:nvSpPr>
          <p:spPr bwMode="auto">
            <a:xfrm>
              <a:off x="5138738" y="4090988"/>
              <a:ext cx="463550" cy="363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Book Antiqua" pitchFamily="18" charset="0"/>
                </a:rPr>
                <a:t>P1</a:t>
              </a:r>
            </a:p>
          </p:txBody>
        </p:sp>
        <p:sp>
          <p:nvSpPr>
            <p:cNvPr id="25628" name="Line 20"/>
            <p:cNvSpPr>
              <a:spLocks noChangeShapeType="1"/>
            </p:cNvSpPr>
            <p:nvPr/>
          </p:nvSpPr>
          <p:spPr bwMode="auto">
            <a:xfrm>
              <a:off x="7610475" y="4019550"/>
              <a:ext cx="0" cy="4016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5629" name="Line 22"/>
            <p:cNvSpPr>
              <a:spLocks noChangeShapeType="1"/>
            </p:cNvSpPr>
            <p:nvPr/>
          </p:nvSpPr>
          <p:spPr bwMode="auto">
            <a:xfrm>
              <a:off x="6970713" y="4029075"/>
              <a:ext cx="0" cy="4016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  <p:sp>
        <p:nvSpPr>
          <p:cNvPr id="25615" name="Text Box 23"/>
          <p:cNvSpPr txBox="1">
            <a:spLocks noChangeArrowheads="1"/>
          </p:cNvSpPr>
          <p:nvPr/>
        </p:nvSpPr>
        <p:spPr bwMode="auto">
          <a:xfrm>
            <a:off x="3279775" y="5262563"/>
            <a:ext cx="4394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/>
          </a:p>
        </p:txBody>
      </p:sp>
      <p:sp>
        <p:nvSpPr>
          <p:cNvPr id="207896" name="Text Box 24"/>
          <p:cNvSpPr txBox="1">
            <a:spLocks noChangeArrowheads="1"/>
          </p:cNvSpPr>
          <p:nvPr/>
        </p:nvSpPr>
        <p:spPr bwMode="auto">
          <a:xfrm>
            <a:off x="1878013" y="4683125"/>
            <a:ext cx="6102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/>
              <a:t>AWT = (6+0+16+18+1)/5=8.2</a:t>
            </a:r>
          </a:p>
        </p:txBody>
      </p:sp>
      <p:sp>
        <p:nvSpPr>
          <p:cNvPr id="25617" name="Text Box 25"/>
          <p:cNvSpPr txBox="1">
            <a:spLocks noChangeArrowheads="1"/>
          </p:cNvSpPr>
          <p:nvPr/>
        </p:nvSpPr>
        <p:spPr bwMode="auto">
          <a:xfrm>
            <a:off x="1085850" y="342900"/>
            <a:ext cx="75628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4000"/>
              <a:t>An Example</a:t>
            </a:r>
          </a:p>
        </p:txBody>
      </p:sp>
      <p:sp>
        <p:nvSpPr>
          <p:cNvPr id="25618" name="日期版面配置區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E387891D-F7D4-4E5B-AA3A-9B2F0A5F275D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89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26627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ECF398B-2D9E-459D-B8F6-0C51A6D2DA51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kumimoji="0" lang="en-US" altLang="zh-TW" sz="1400" smtClean="0"/>
          </a:p>
        </p:txBody>
      </p:sp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>
          <a:xfrm>
            <a:off x="639763" y="198438"/>
            <a:ext cx="8420100" cy="655637"/>
          </a:xfrm>
        </p:spPr>
        <p:txBody>
          <a:bodyPr/>
          <a:lstStyle/>
          <a:p>
            <a:pPr eaLnBrk="1" hangingPunct="1"/>
            <a:r>
              <a:rPr lang="en-US" altLang="zh-TW" smtClean="0"/>
              <a:t>Round Robin (RR)</a:t>
            </a:r>
          </a:p>
        </p:txBody>
      </p:sp>
      <p:sp>
        <p:nvSpPr>
          <p:cNvPr id="25600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17513" y="835025"/>
            <a:ext cx="9107487" cy="55657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smtClean="0"/>
              <a:t>Each process gets a small unit of CPU time </a:t>
            </a:r>
            <a:r>
              <a:rPr lang="en-US" altLang="zh-TW" sz="2800" b="1" smtClean="0">
                <a:solidFill>
                  <a:srgbClr val="FF0066"/>
                </a:solidFill>
              </a:rPr>
              <a:t>(time quantum</a:t>
            </a:r>
            <a:r>
              <a:rPr lang="en-US" altLang="zh-TW" sz="2800" smtClean="0"/>
              <a:t>), usually 10-100 milliseconds.  After this time has elapsed, the process is preempted and added to the end of the ready queue.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TW" sz="2800" smtClean="0"/>
              <a:t>If there are </a:t>
            </a:r>
            <a:r>
              <a:rPr lang="en-US" altLang="zh-TW" sz="2800" i="1" smtClean="0">
                <a:solidFill>
                  <a:srgbClr val="FF0066"/>
                </a:solidFill>
                <a:latin typeface="Times New Roman" pitchFamily="18" charset="0"/>
              </a:rPr>
              <a:t>n</a:t>
            </a:r>
            <a:r>
              <a:rPr lang="en-US" altLang="zh-TW" sz="2800" smtClean="0"/>
              <a:t> processes in the ready queue and the time quantum is </a:t>
            </a:r>
            <a:r>
              <a:rPr lang="en-US" altLang="zh-TW" sz="2800" i="1" smtClean="0">
                <a:solidFill>
                  <a:srgbClr val="FF0066"/>
                </a:solidFill>
                <a:latin typeface="Times New Roman" pitchFamily="18" charset="0"/>
              </a:rPr>
              <a:t>q</a:t>
            </a:r>
            <a:r>
              <a:rPr lang="en-US" altLang="zh-TW" sz="2800" smtClean="0"/>
              <a:t>, then each process gets </a:t>
            </a:r>
            <a:r>
              <a:rPr lang="en-US" altLang="zh-TW" sz="2800" smtClean="0">
                <a:solidFill>
                  <a:srgbClr val="FF0066"/>
                </a:solidFill>
              </a:rPr>
              <a:t>1/</a:t>
            </a:r>
            <a:r>
              <a:rPr lang="en-US" altLang="zh-TW" sz="2800" i="1" smtClean="0">
                <a:solidFill>
                  <a:srgbClr val="FF0066"/>
                </a:solidFill>
                <a:latin typeface="Times New Roman" pitchFamily="18" charset="0"/>
              </a:rPr>
              <a:t>n</a:t>
            </a:r>
            <a:r>
              <a:rPr lang="en-US" altLang="zh-TW" sz="2800" smtClean="0"/>
              <a:t> of the CPU time in chunks of at most </a:t>
            </a:r>
            <a:r>
              <a:rPr lang="en-US" altLang="zh-TW" sz="2800" i="1" smtClean="0">
                <a:solidFill>
                  <a:srgbClr val="FF0066"/>
                </a:solidFill>
                <a:latin typeface="Times New Roman" pitchFamily="18" charset="0"/>
              </a:rPr>
              <a:t>q</a:t>
            </a:r>
            <a:r>
              <a:rPr lang="en-US" altLang="zh-TW" sz="2800" smtClean="0"/>
              <a:t> time units at once.  No process waits more than (</a:t>
            </a:r>
            <a:r>
              <a:rPr lang="en-US" altLang="zh-TW" sz="2800" i="1" smtClean="0">
                <a:solidFill>
                  <a:srgbClr val="FF0066"/>
                </a:solidFill>
                <a:latin typeface="Times New Roman" pitchFamily="18" charset="0"/>
              </a:rPr>
              <a:t>n</a:t>
            </a:r>
            <a:r>
              <a:rPr lang="en-US" altLang="zh-TW" sz="2800" smtClean="0">
                <a:solidFill>
                  <a:srgbClr val="FF0066"/>
                </a:solidFill>
              </a:rPr>
              <a:t>-1</a:t>
            </a:r>
            <a:r>
              <a:rPr lang="en-US" altLang="zh-TW" sz="2800" smtClean="0"/>
              <a:t>)</a:t>
            </a:r>
            <a:r>
              <a:rPr lang="en-US" altLang="zh-TW" sz="2800" i="1" smtClean="0">
                <a:solidFill>
                  <a:srgbClr val="FF0066"/>
                </a:solidFill>
                <a:latin typeface="Times New Roman" pitchFamily="18" charset="0"/>
              </a:rPr>
              <a:t>q</a:t>
            </a:r>
            <a:r>
              <a:rPr lang="en-US" altLang="zh-TW" sz="2800" i="1" smtClean="0"/>
              <a:t> </a:t>
            </a:r>
            <a:r>
              <a:rPr lang="en-US" altLang="zh-TW" sz="2800" smtClean="0"/>
              <a:t>time units.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TW" sz="2800" smtClean="0"/>
              <a:t>Performance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i="1" smtClean="0">
                <a:solidFill>
                  <a:srgbClr val="FF0066"/>
                </a:solidFill>
                <a:latin typeface="Times New Roman" pitchFamily="18" charset="0"/>
              </a:rPr>
              <a:t>q</a:t>
            </a:r>
            <a:r>
              <a:rPr lang="en-US" altLang="zh-TW" sz="2400" smtClean="0"/>
              <a:t> large </a:t>
            </a:r>
            <a:r>
              <a:rPr lang="en-US" altLang="zh-TW" sz="2400" smtClean="0">
                <a:sym typeface="Symbol" pitchFamily="18" charset="2"/>
              </a:rPr>
              <a:t> FIFO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i="1" smtClean="0">
                <a:solidFill>
                  <a:srgbClr val="FF0066"/>
                </a:solidFill>
                <a:latin typeface="Times New Roman" pitchFamily="18" charset="0"/>
              </a:rPr>
              <a:t>q</a:t>
            </a:r>
            <a:r>
              <a:rPr lang="en-US" altLang="zh-TW" sz="2400" i="1" smtClean="0">
                <a:sym typeface="Symbol" pitchFamily="18" charset="2"/>
              </a:rPr>
              <a:t> </a:t>
            </a:r>
            <a:r>
              <a:rPr lang="en-US" altLang="zh-TW" sz="2400" smtClean="0">
                <a:sym typeface="Symbol" pitchFamily="18" charset="2"/>
              </a:rPr>
              <a:t>small  </a:t>
            </a:r>
            <a:r>
              <a:rPr lang="en-US" altLang="zh-TW" sz="2400" i="1" smtClean="0">
                <a:solidFill>
                  <a:srgbClr val="FF0066"/>
                </a:solidFill>
                <a:latin typeface="Times New Roman" pitchFamily="18" charset="0"/>
              </a:rPr>
              <a:t>q</a:t>
            </a:r>
            <a:r>
              <a:rPr lang="en-US" altLang="zh-TW" sz="2400" i="1" smtClean="0">
                <a:sym typeface="Symbol" pitchFamily="18" charset="2"/>
              </a:rPr>
              <a:t> </a:t>
            </a:r>
            <a:r>
              <a:rPr lang="en-US" altLang="zh-TW" sz="2400" smtClean="0">
                <a:sym typeface="Symbol" pitchFamily="18" charset="2"/>
              </a:rPr>
              <a:t>must be large with respect to context switch, otherwise overhead is too high</a:t>
            </a:r>
          </a:p>
        </p:txBody>
      </p:sp>
      <p:sp>
        <p:nvSpPr>
          <p:cNvPr id="26630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418CE0EF-B03A-4526-A2B9-FC11A1D76D96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6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6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6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6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6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6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27651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EC73DC7-A3C2-4C9D-9F90-9F7FA7CD5089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kumimoji="0" lang="en-US" altLang="zh-TW" sz="1400" smtClean="0"/>
          </a:p>
        </p:txBody>
      </p:sp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>
          <a:xfrm>
            <a:off x="392113" y="266700"/>
            <a:ext cx="9324975" cy="577850"/>
          </a:xfrm>
        </p:spPr>
        <p:txBody>
          <a:bodyPr/>
          <a:lstStyle/>
          <a:p>
            <a:pPr eaLnBrk="1" hangingPunct="1"/>
            <a:r>
              <a:rPr lang="en-US" altLang="zh-TW" sz="3600" smtClean="0"/>
              <a:t>Example of RR with Time Quantum = 20</a:t>
            </a:r>
          </a:p>
        </p:txBody>
      </p:sp>
      <p:sp>
        <p:nvSpPr>
          <p:cNvPr id="25702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944563"/>
            <a:ext cx="8110538" cy="51244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2222500" algn="ctr"/>
                <a:tab pos="3997325" algn="ctr"/>
              </a:tabLst>
            </a:pPr>
            <a:r>
              <a:rPr lang="en-US" altLang="zh-TW" sz="2800" smtClean="0"/>
              <a:t>		</a:t>
            </a:r>
            <a:r>
              <a:rPr lang="en-US" altLang="zh-TW" sz="2800" u="sng" smtClean="0"/>
              <a:t>Process</a:t>
            </a:r>
            <a:r>
              <a:rPr lang="en-US" altLang="zh-TW" sz="2800" smtClean="0"/>
              <a:t>	</a:t>
            </a:r>
            <a:r>
              <a:rPr lang="en-US" altLang="zh-TW" sz="2800" u="sng" smtClean="0"/>
              <a:t>Burst Time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2222500" algn="ctr"/>
                <a:tab pos="3997325" algn="ctr"/>
              </a:tabLst>
            </a:pPr>
            <a:r>
              <a:rPr lang="en-US" altLang="zh-TW" sz="2800" i="1" smtClean="0"/>
              <a:t>		P</a:t>
            </a:r>
            <a:r>
              <a:rPr lang="en-US" altLang="zh-TW" sz="2800" i="1" baseline="-25000" smtClean="0"/>
              <a:t>1	</a:t>
            </a:r>
            <a:r>
              <a:rPr lang="en-US" altLang="zh-TW" sz="2800" smtClean="0"/>
              <a:t>53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2222500" algn="ctr"/>
                <a:tab pos="3997325" algn="ctr"/>
              </a:tabLst>
            </a:pPr>
            <a:r>
              <a:rPr lang="en-US" altLang="zh-TW" sz="2800" smtClean="0"/>
              <a:t>		 </a:t>
            </a:r>
            <a:r>
              <a:rPr lang="en-US" altLang="zh-TW" sz="2800" i="1" smtClean="0"/>
              <a:t>P</a:t>
            </a:r>
            <a:r>
              <a:rPr lang="en-US" altLang="zh-TW" sz="2800" i="1" baseline="-25000" smtClean="0"/>
              <a:t>2	 </a:t>
            </a:r>
            <a:r>
              <a:rPr lang="en-US" altLang="zh-TW" sz="2800" smtClean="0"/>
              <a:t>17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2222500" algn="ctr"/>
                <a:tab pos="3997325" algn="ctr"/>
              </a:tabLst>
            </a:pPr>
            <a:r>
              <a:rPr lang="en-US" altLang="zh-TW" sz="2800" smtClean="0"/>
              <a:t>		 </a:t>
            </a:r>
            <a:r>
              <a:rPr lang="en-US" altLang="zh-TW" sz="2800" i="1" smtClean="0"/>
              <a:t>P</a:t>
            </a:r>
            <a:r>
              <a:rPr lang="en-US" altLang="zh-TW" sz="2800" i="1" baseline="-25000" smtClean="0"/>
              <a:t>3	</a:t>
            </a:r>
            <a:r>
              <a:rPr lang="en-US" altLang="zh-TW" sz="2800" smtClean="0"/>
              <a:t>68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2222500" algn="ctr"/>
                <a:tab pos="3997325" algn="ctr"/>
              </a:tabLst>
            </a:pPr>
            <a:r>
              <a:rPr lang="en-US" altLang="zh-TW" sz="2800" smtClean="0"/>
              <a:t>		 </a:t>
            </a:r>
            <a:r>
              <a:rPr lang="en-US" altLang="zh-TW" sz="2800" i="1" smtClean="0"/>
              <a:t>P</a:t>
            </a:r>
            <a:r>
              <a:rPr lang="en-US" altLang="zh-TW" sz="2800" i="1" baseline="-25000" smtClean="0"/>
              <a:t>4	 </a:t>
            </a:r>
            <a:r>
              <a:rPr lang="en-US" altLang="zh-TW" sz="2800" smtClean="0"/>
              <a:t>24</a:t>
            </a:r>
          </a:p>
          <a:p>
            <a:pPr eaLnBrk="1" hangingPunct="1">
              <a:lnSpc>
                <a:spcPct val="90000"/>
              </a:lnSpc>
              <a:tabLst>
                <a:tab pos="2222500" algn="ctr"/>
                <a:tab pos="3997325" algn="ctr"/>
              </a:tabLst>
            </a:pPr>
            <a:r>
              <a:rPr lang="en-US" altLang="zh-TW" sz="2800" smtClean="0"/>
              <a:t>The Gantt chart is: </a:t>
            </a:r>
            <a:br>
              <a:rPr lang="en-US" altLang="zh-TW" sz="2800" smtClean="0"/>
            </a:br>
            <a:r>
              <a:rPr lang="en-US" altLang="zh-TW" sz="2800" smtClean="0"/>
              <a:t/>
            </a:r>
            <a:br>
              <a:rPr lang="en-US" altLang="zh-TW" sz="2800" smtClean="0"/>
            </a:br>
            <a:r>
              <a:rPr lang="en-US" altLang="zh-TW" sz="2800" smtClean="0"/>
              <a:t/>
            </a:r>
            <a:br>
              <a:rPr lang="en-US" altLang="zh-TW" sz="2800" smtClean="0"/>
            </a:br>
            <a:r>
              <a:rPr lang="en-US" altLang="zh-TW" sz="2800" smtClean="0"/>
              <a:t/>
            </a:r>
            <a:br>
              <a:rPr lang="en-US" altLang="zh-TW" sz="2800" smtClean="0"/>
            </a:br>
            <a:endParaRPr lang="en-US" altLang="zh-TW" sz="2800" smtClean="0"/>
          </a:p>
          <a:p>
            <a:pPr eaLnBrk="1" hangingPunct="1">
              <a:lnSpc>
                <a:spcPct val="90000"/>
              </a:lnSpc>
              <a:tabLst>
                <a:tab pos="2222500" algn="ctr"/>
                <a:tab pos="3997325" algn="ctr"/>
              </a:tabLst>
            </a:pPr>
            <a:r>
              <a:rPr lang="en-US" altLang="zh-TW" sz="2800" smtClean="0">
                <a:solidFill>
                  <a:srgbClr val="0000FF"/>
                </a:solidFill>
              </a:rPr>
              <a:t>Typically, higher average turnaround than SJF, but better </a:t>
            </a:r>
            <a:r>
              <a:rPr lang="en-US" altLang="zh-TW" sz="2800" i="1" smtClean="0">
                <a:solidFill>
                  <a:srgbClr val="0000FF"/>
                </a:solidFill>
              </a:rPr>
              <a:t>response</a:t>
            </a:r>
            <a:endParaRPr lang="en-US" altLang="zh-TW" sz="2800" smtClean="0">
              <a:solidFill>
                <a:srgbClr val="0000FF"/>
              </a:solidFill>
            </a:endParaRPr>
          </a:p>
        </p:txBody>
      </p:sp>
      <p:grpSp>
        <p:nvGrpSpPr>
          <p:cNvPr id="27654" name="Group 4"/>
          <p:cNvGrpSpPr>
            <a:grpSpLocks/>
          </p:cNvGrpSpPr>
          <p:nvPr/>
        </p:nvGrpSpPr>
        <p:grpSpPr bwMode="auto">
          <a:xfrm>
            <a:off x="1695450" y="4040188"/>
            <a:ext cx="6518275" cy="976312"/>
            <a:chOff x="1063" y="2640"/>
            <a:chExt cx="3791" cy="615"/>
          </a:xfrm>
        </p:grpSpPr>
        <p:grpSp>
          <p:nvGrpSpPr>
            <p:cNvPr id="27656" name="Group 5"/>
            <p:cNvGrpSpPr>
              <a:grpSpLocks/>
            </p:cNvGrpSpPr>
            <p:nvPr/>
          </p:nvGrpSpPr>
          <p:grpSpPr bwMode="auto">
            <a:xfrm>
              <a:off x="1152" y="2640"/>
              <a:ext cx="3552" cy="384"/>
              <a:chOff x="1152" y="2736"/>
              <a:chExt cx="2880" cy="288"/>
            </a:xfrm>
          </p:grpSpPr>
          <p:sp>
            <p:nvSpPr>
              <p:cNvPr id="27668" name="Rectangle 6"/>
              <p:cNvSpPr>
                <a:spLocks noChangeArrowheads="1"/>
              </p:cNvSpPr>
              <p:nvPr/>
            </p:nvSpPr>
            <p:spPr bwMode="auto">
              <a:xfrm>
                <a:off x="1152" y="2736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zh-TW" sz="1800">
                    <a:latin typeface="Helvetica" pitchFamily="34" charset="0"/>
                  </a:rPr>
                  <a:t>P</a:t>
                </a:r>
                <a:r>
                  <a:rPr kumimoji="0" lang="en-US" altLang="zh-TW" sz="1800" baseline="-25000">
                    <a:latin typeface="Helvetica" pitchFamily="34" charset="0"/>
                  </a:rPr>
                  <a:t>1</a:t>
                </a:r>
                <a:endParaRPr kumimoji="0" lang="en-US" altLang="zh-TW" sz="1800">
                  <a:latin typeface="Helvetica" pitchFamily="34" charset="0"/>
                </a:endParaRPr>
              </a:p>
            </p:txBody>
          </p:sp>
          <p:sp>
            <p:nvSpPr>
              <p:cNvPr id="27669" name="Rectangle 7"/>
              <p:cNvSpPr>
                <a:spLocks noChangeArrowheads="1"/>
              </p:cNvSpPr>
              <p:nvPr/>
            </p:nvSpPr>
            <p:spPr bwMode="auto">
              <a:xfrm>
                <a:off x="1440" y="2736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zh-TW" sz="1800">
                    <a:latin typeface="Helvetica" pitchFamily="34" charset="0"/>
                  </a:rPr>
                  <a:t>P</a:t>
                </a:r>
                <a:r>
                  <a:rPr kumimoji="0" lang="en-US" altLang="zh-TW" sz="1800" baseline="-25000">
                    <a:latin typeface="Helvetica" pitchFamily="34" charset="0"/>
                  </a:rPr>
                  <a:t>2</a:t>
                </a:r>
              </a:p>
            </p:txBody>
          </p:sp>
          <p:sp>
            <p:nvSpPr>
              <p:cNvPr id="27670" name="Rectangle 8"/>
              <p:cNvSpPr>
                <a:spLocks noChangeArrowheads="1"/>
              </p:cNvSpPr>
              <p:nvPr/>
            </p:nvSpPr>
            <p:spPr bwMode="auto">
              <a:xfrm>
                <a:off x="1728" y="2736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zh-TW" sz="1800">
                    <a:latin typeface="Helvetica" pitchFamily="34" charset="0"/>
                  </a:rPr>
                  <a:t>P</a:t>
                </a:r>
                <a:r>
                  <a:rPr kumimoji="0" lang="en-US" altLang="zh-TW" sz="1800" baseline="-25000">
                    <a:latin typeface="Helvetica" pitchFamily="34" charset="0"/>
                  </a:rPr>
                  <a:t>3</a:t>
                </a:r>
              </a:p>
            </p:txBody>
          </p:sp>
          <p:sp>
            <p:nvSpPr>
              <p:cNvPr id="27671" name="Rectangle 9"/>
              <p:cNvSpPr>
                <a:spLocks noChangeArrowheads="1"/>
              </p:cNvSpPr>
              <p:nvPr/>
            </p:nvSpPr>
            <p:spPr bwMode="auto">
              <a:xfrm>
                <a:off x="2016" y="2736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zh-TW" sz="1800">
                    <a:solidFill>
                      <a:srgbClr val="FF0066"/>
                    </a:solidFill>
                    <a:latin typeface="Helvetica" pitchFamily="34" charset="0"/>
                  </a:rPr>
                  <a:t>P</a:t>
                </a:r>
                <a:r>
                  <a:rPr kumimoji="0" lang="en-US" altLang="zh-TW" sz="1800" baseline="-25000">
                    <a:solidFill>
                      <a:srgbClr val="FF0066"/>
                    </a:solidFill>
                    <a:latin typeface="Helvetica" pitchFamily="34" charset="0"/>
                  </a:rPr>
                  <a:t>4</a:t>
                </a:r>
              </a:p>
            </p:txBody>
          </p:sp>
          <p:sp>
            <p:nvSpPr>
              <p:cNvPr id="27672" name="Rectangle 10"/>
              <p:cNvSpPr>
                <a:spLocks noChangeArrowheads="1"/>
              </p:cNvSpPr>
              <p:nvPr/>
            </p:nvSpPr>
            <p:spPr bwMode="auto">
              <a:xfrm>
                <a:off x="2304" y="2736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zh-TW" sz="1800">
                    <a:latin typeface="Helvetica" pitchFamily="34" charset="0"/>
                  </a:rPr>
                  <a:t>P</a:t>
                </a:r>
                <a:r>
                  <a:rPr kumimoji="0" lang="en-US" altLang="zh-TW" sz="1800" baseline="-25000">
                    <a:latin typeface="Helvetica" pitchFamily="34" charset="0"/>
                  </a:rPr>
                  <a:t>1</a:t>
                </a:r>
              </a:p>
            </p:txBody>
          </p:sp>
          <p:sp>
            <p:nvSpPr>
              <p:cNvPr id="27673" name="Rectangle 11"/>
              <p:cNvSpPr>
                <a:spLocks noChangeArrowheads="1"/>
              </p:cNvSpPr>
              <p:nvPr/>
            </p:nvSpPr>
            <p:spPr bwMode="auto">
              <a:xfrm>
                <a:off x="2592" y="2736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zh-TW" sz="1800">
                    <a:latin typeface="Helvetica" pitchFamily="34" charset="0"/>
                  </a:rPr>
                  <a:t>P</a:t>
                </a:r>
                <a:r>
                  <a:rPr kumimoji="0" lang="en-US" altLang="zh-TW" sz="1800" baseline="-25000">
                    <a:latin typeface="Helvetica" pitchFamily="34" charset="0"/>
                  </a:rPr>
                  <a:t>3</a:t>
                </a:r>
              </a:p>
            </p:txBody>
          </p:sp>
          <p:sp>
            <p:nvSpPr>
              <p:cNvPr id="27674" name="Rectangle 12"/>
              <p:cNvSpPr>
                <a:spLocks noChangeArrowheads="1"/>
              </p:cNvSpPr>
              <p:nvPr/>
            </p:nvSpPr>
            <p:spPr bwMode="auto">
              <a:xfrm>
                <a:off x="2880" y="2736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zh-TW" sz="1800">
                    <a:latin typeface="Helvetica" pitchFamily="34" charset="0"/>
                  </a:rPr>
                  <a:t>P</a:t>
                </a:r>
                <a:r>
                  <a:rPr kumimoji="0" lang="en-US" altLang="zh-TW" sz="1800" baseline="-25000">
                    <a:latin typeface="Helvetica" pitchFamily="34" charset="0"/>
                  </a:rPr>
                  <a:t>4</a:t>
                </a:r>
              </a:p>
            </p:txBody>
          </p:sp>
          <p:sp>
            <p:nvSpPr>
              <p:cNvPr id="27675" name="Rectangle 13"/>
              <p:cNvSpPr>
                <a:spLocks noChangeArrowheads="1"/>
              </p:cNvSpPr>
              <p:nvPr/>
            </p:nvSpPr>
            <p:spPr bwMode="auto">
              <a:xfrm>
                <a:off x="3168" y="2736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zh-TW" sz="1800">
                    <a:latin typeface="Helvetica" pitchFamily="34" charset="0"/>
                  </a:rPr>
                  <a:t>P</a:t>
                </a:r>
                <a:r>
                  <a:rPr kumimoji="0" lang="en-US" altLang="zh-TW" sz="1800" baseline="-25000">
                    <a:latin typeface="Helvetica" pitchFamily="34" charset="0"/>
                  </a:rPr>
                  <a:t>1</a:t>
                </a:r>
              </a:p>
            </p:txBody>
          </p:sp>
          <p:sp>
            <p:nvSpPr>
              <p:cNvPr id="27676" name="Rectangle 14"/>
              <p:cNvSpPr>
                <a:spLocks noChangeArrowheads="1"/>
              </p:cNvSpPr>
              <p:nvPr/>
            </p:nvSpPr>
            <p:spPr bwMode="auto">
              <a:xfrm>
                <a:off x="3456" y="2736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zh-TW" sz="1800">
                    <a:latin typeface="Helvetica" pitchFamily="34" charset="0"/>
                  </a:rPr>
                  <a:t>P</a:t>
                </a:r>
                <a:r>
                  <a:rPr kumimoji="0" lang="en-US" altLang="zh-TW" sz="1800" baseline="-25000">
                    <a:latin typeface="Helvetica" pitchFamily="34" charset="0"/>
                  </a:rPr>
                  <a:t>3</a:t>
                </a:r>
              </a:p>
            </p:txBody>
          </p:sp>
          <p:sp>
            <p:nvSpPr>
              <p:cNvPr id="27677" name="Rectangle 15"/>
              <p:cNvSpPr>
                <a:spLocks noChangeArrowheads="1"/>
              </p:cNvSpPr>
              <p:nvPr/>
            </p:nvSpPr>
            <p:spPr bwMode="auto">
              <a:xfrm>
                <a:off x="3744" y="2736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zh-TW" sz="1800">
                    <a:latin typeface="Helvetica" pitchFamily="34" charset="0"/>
                  </a:rPr>
                  <a:t>P</a:t>
                </a:r>
                <a:r>
                  <a:rPr kumimoji="0" lang="en-US" altLang="zh-TW" sz="1800" baseline="-25000">
                    <a:latin typeface="Helvetica" pitchFamily="34" charset="0"/>
                  </a:rPr>
                  <a:t>3</a:t>
                </a:r>
              </a:p>
            </p:txBody>
          </p:sp>
        </p:grpSp>
        <p:sp>
          <p:nvSpPr>
            <p:cNvPr id="27657" name="Text Box 16"/>
            <p:cNvSpPr txBox="1">
              <a:spLocks noChangeArrowheads="1"/>
            </p:cNvSpPr>
            <p:nvPr/>
          </p:nvSpPr>
          <p:spPr bwMode="auto">
            <a:xfrm>
              <a:off x="1063" y="3024"/>
              <a:ext cx="18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TW" sz="1800">
                  <a:latin typeface="Helvetica" pitchFamily="34" charset="0"/>
                </a:rPr>
                <a:t>0</a:t>
              </a:r>
            </a:p>
          </p:txBody>
        </p:sp>
        <p:sp>
          <p:nvSpPr>
            <p:cNvPr id="27658" name="Text Box 17"/>
            <p:cNvSpPr txBox="1">
              <a:spLocks noChangeArrowheads="1"/>
            </p:cNvSpPr>
            <p:nvPr/>
          </p:nvSpPr>
          <p:spPr bwMode="auto">
            <a:xfrm>
              <a:off x="1362" y="3024"/>
              <a:ext cx="25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TW" sz="1800">
                  <a:latin typeface="Helvetica" pitchFamily="34" charset="0"/>
                </a:rPr>
                <a:t>20</a:t>
              </a:r>
            </a:p>
          </p:txBody>
        </p:sp>
        <p:sp>
          <p:nvSpPr>
            <p:cNvPr id="27659" name="Text Box 18"/>
            <p:cNvSpPr txBox="1">
              <a:spLocks noChangeArrowheads="1"/>
            </p:cNvSpPr>
            <p:nvPr/>
          </p:nvSpPr>
          <p:spPr bwMode="auto">
            <a:xfrm>
              <a:off x="1699" y="3024"/>
              <a:ext cx="25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TW" sz="1800">
                  <a:latin typeface="Helvetica" pitchFamily="34" charset="0"/>
                </a:rPr>
                <a:t>37</a:t>
              </a:r>
            </a:p>
          </p:txBody>
        </p:sp>
        <p:sp>
          <p:nvSpPr>
            <p:cNvPr id="27660" name="Text Box 19"/>
            <p:cNvSpPr txBox="1">
              <a:spLocks noChangeArrowheads="1"/>
            </p:cNvSpPr>
            <p:nvPr/>
          </p:nvSpPr>
          <p:spPr bwMode="auto">
            <a:xfrm>
              <a:off x="2078" y="3024"/>
              <a:ext cx="25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TW" sz="1800">
                  <a:solidFill>
                    <a:srgbClr val="FF0066"/>
                  </a:solidFill>
                  <a:latin typeface="Helvetica" pitchFamily="34" charset="0"/>
                </a:rPr>
                <a:t>57</a:t>
              </a:r>
            </a:p>
          </p:txBody>
        </p:sp>
        <p:sp>
          <p:nvSpPr>
            <p:cNvPr id="27661" name="Text Box 20"/>
            <p:cNvSpPr txBox="1">
              <a:spLocks noChangeArrowheads="1"/>
            </p:cNvSpPr>
            <p:nvPr/>
          </p:nvSpPr>
          <p:spPr bwMode="auto">
            <a:xfrm>
              <a:off x="2466" y="3024"/>
              <a:ext cx="25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TW" sz="1800">
                  <a:latin typeface="Helvetica" pitchFamily="34" charset="0"/>
                </a:rPr>
                <a:t>77</a:t>
              </a:r>
            </a:p>
          </p:txBody>
        </p:sp>
        <p:sp>
          <p:nvSpPr>
            <p:cNvPr id="27662" name="Text Box 21"/>
            <p:cNvSpPr txBox="1">
              <a:spLocks noChangeArrowheads="1"/>
            </p:cNvSpPr>
            <p:nvPr/>
          </p:nvSpPr>
          <p:spPr bwMode="auto">
            <a:xfrm>
              <a:off x="2802" y="3024"/>
              <a:ext cx="25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TW" sz="1800">
                  <a:latin typeface="Helvetica" pitchFamily="34" charset="0"/>
                </a:rPr>
                <a:t>97</a:t>
              </a:r>
            </a:p>
          </p:txBody>
        </p:sp>
        <p:sp>
          <p:nvSpPr>
            <p:cNvPr id="27663" name="Text Box 22"/>
            <p:cNvSpPr txBox="1">
              <a:spLocks noChangeArrowheads="1"/>
            </p:cNvSpPr>
            <p:nvPr/>
          </p:nvSpPr>
          <p:spPr bwMode="auto">
            <a:xfrm>
              <a:off x="3102" y="3024"/>
              <a:ext cx="3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TW" sz="1800">
                  <a:latin typeface="Helvetica" pitchFamily="34" charset="0"/>
                </a:rPr>
                <a:t>117</a:t>
              </a:r>
            </a:p>
          </p:txBody>
        </p:sp>
        <p:sp>
          <p:nvSpPr>
            <p:cNvPr id="27664" name="Text Box 23"/>
            <p:cNvSpPr txBox="1">
              <a:spLocks noChangeArrowheads="1"/>
            </p:cNvSpPr>
            <p:nvPr/>
          </p:nvSpPr>
          <p:spPr bwMode="auto">
            <a:xfrm>
              <a:off x="3486" y="3024"/>
              <a:ext cx="3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TW" sz="1800">
                  <a:latin typeface="Helvetica" pitchFamily="34" charset="0"/>
                </a:rPr>
                <a:t>121</a:t>
              </a:r>
            </a:p>
          </p:txBody>
        </p:sp>
        <p:sp>
          <p:nvSpPr>
            <p:cNvPr id="27665" name="Text Box 24"/>
            <p:cNvSpPr txBox="1">
              <a:spLocks noChangeArrowheads="1"/>
            </p:cNvSpPr>
            <p:nvPr/>
          </p:nvSpPr>
          <p:spPr bwMode="auto">
            <a:xfrm>
              <a:off x="3822" y="3024"/>
              <a:ext cx="32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TW" sz="1800">
                  <a:latin typeface="Helvetica" pitchFamily="34" charset="0"/>
                </a:rPr>
                <a:t>134</a:t>
              </a:r>
            </a:p>
          </p:txBody>
        </p:sp>
        <p:sp>
          <p:nvSpPr>
            <p:cNvPr id="27666" name="Text Box 25"/>
            <p:cNvSpPr txBox="1">
              <a:spLocks noChangeArrowheads="1"/>
            </p:cNvSpPr>
            <p:nvPr/>
          </p:nvSpPr>
          <p:spPr bwMode="auto">
            <a:xfrm>
              <a:off x="4189" y="3024"/>
              <a:ext cx="32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TW" sz="1800">
                  <a:latin typeface="Helvetica" pitchFamily="34" charset="0"/>
                </a:rPr>
                <a:t>154</a:t>
              </a:r>
            </a:p>
          </p:txBody>
        </p:sp>
        <p:sp>
          <p:nvSpPr>
            <p:cNvPr id="27667" name="Text Box 26"/>
            <p:cNvSpPr txBox="1">
              <a:spLocks noChangeArrowheads="1"/>
            </p:cNvSpPr>
            <p:nvPr/>
          </p:nvSpPr>
          <p:spPr bwMode="auto">
            <a:xfrm>
              <a:off x="4525" y="3024"/>
              <a:ext cx="32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TW" sz="1800">
                  <a:latin typeface="Helvetica" pitchFamily="34" charset="0"/>
                </a:rPr>
                <a:t>162</a:t>
              </a:r>
            </a:p>
          </p:txBody>
        </p:sp>
      </p:grpSp>
      <p:sp>
        <p:nvSpPr>
          <p:cNvPr id="27655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42B38DE3-0E36-4329-87FD-776708BCE6F8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70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70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28675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F33DA6E-1B01-4238-9DFB-40C6FDF1B74F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kumimoji="0" lang="en-US" altLang="zh-TW" sz="1400" smtClean="0"/>
          </a:p>
        </p:txBody>
      </p:sp>
      <p:sp>
        <p:nvSpPr>
          <p:cNvPr id="28676" name="Rectangle 2"/>
          <p:cNvSpPr>
            <a:spLocks noGrp="1" noChangeArrowheads="1"/>
          </p:cNvSpPr>
          <p:nvPr>
            <p:ph type="title"/>
          </p:nvPr>
        </p:nvSpPr>
        <p:spPr>
          <a:xfrm>
            <a:off x="625475" y="304800"/>
            <a:ext cx="8770938" cy="876300"/>
          </a:xfrm>
        </p:spPr>
        <p:txBody>
          <a:bodyPr/>
          <a:lstStyle/>
          <a:p>
            <a:pPr eaLnBrk="1" hangingPunct="1"/>
            <a:r>
              <a:rPr lang="en-US" altLang="zh-TW" sz="3600" smtClean="0"/>
              <a:t>Time Quantum and </a:t>
            </a:r>
            <a:r>
              <a:rPr lang="en-US" altLang="zh-TW" sz="3600" smtClean="0">
                <a:solidFill>
                  <a:srgbClr val="FF0066"/>
                </a:solidFill>
              </a:rPr>
              <a:t>Context Switch</a:t>
            </a:r>
            <a:r>
              <a:rPr lang="en-US" altLang="zh-TW" sz="3600" smtClean="0"/>
              <a:t> Time</a:t>
            </a:r>
          </a:p>
        </p:txBody>
      </p:sp>
      <p:pic>
        <p:nvPicPr>
          <p:cNvPr id="2867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92" t="23140" r="28781" b="55464"/>
          <a:stretch>
            <a:fillRect/>
          </a:stretch>
        </p:blipFill>
        <p:spPr bwMode="auto">
          <a:xfrm>
            <a:off x="760413" y="1755775"/>
            <a:ext cx="8435975" cy="3933825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678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639E2BAB-ACBB-47B4-88FB-0E8FE8C32225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29699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5B4D18B-D938-4E81-BACC-C610641AE253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kumimoji="0" lang="en-US" altLang="zh-TW" sz="1400" smtClean="0"/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>
          <a:xfrm>
            <a:off x="822325" y="292100"/>
            <a:ext cx="8588375" cy="1009650"/>
          </a:xfrm>
        </p:spPr>
        <p:txBody>
          <a:bodyPr/>
          <a:lstStyle/>
          <a:p>
            <a:pPr eaLnBrk="1" hangingPunct="1"/>
            <a:r>
              <a:rPr lang="en-US" altLang="zh-TW" sz="3700" smtClean="0"/>
              <a:t>Turnaround Time Varies With The Time Quantum</a:t>
            </a:r>
          </a:p>
        </p:txBody>
      </p:sp>
      <p:pic>
        <p:nvPicPr>
          <p:cNvPr id="2970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3" t="676" r="2827" b="891"/>
          <a:stretch>
            <a:fillRect/>
          </a:stretch>
        </p:blipFill>
        <p:spPr bwMode="auto">
          <a:xfrm>
            <a:off x="1019175" y="1701800"/>
            <a:ext cx="5854700" cy="4522788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9076" name="Text Box 4"/>
          <p:cNvSpPr txBox="1">
            <a:spLocks noChangeArrowheads="1"/>
          </p:cNvSpPr>
          <p:nvPr/>
        </p:nvSpPr>
        <p:spPr bwMode="auto">
          <a:xfrm>
            <a:off x="7169150" y="2222500"/>
            <a:ext cx="14097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FF0000"/>
                </a:solidFill>
              </a:rPr>
              <a:t>5</a:t>
            </a:r>
            <a:r>
              <a:rPr lang="en-US" altLang="zh-TW" sz="2000"/>
              <a:t> </a:t>
            </a:r>
            <a:r>
              <a:rPr lang="en-US" altLang="zh-TW" sz="2000">
                <a:solidFill>
                  <a:srgbClr val="CC6600"/>
                </a:solidFill>
              </a:rPr>
              <a:t>3</a:t>
            </a:r>
            <a:r>
              <a:rPr lang="en-US" altLang="zh-TW" sz="2000"/>
              <a:t> </a:t>
            </a:r>
            <a:r>
              <a:rPr lang="en-US" altLang="zh-TW" sz="2000">
                <a:solidFill>
                  <a:srgbClr val="336633"/>
                </a:solidFill>
              </a:rPr>
              <a:t>1</a:t>
            </a:r>
            <a:r>
              <a:rPr lang="en-US" altLang="zh-TW" sz="2000"/>
              <a:t> </a:t>
            </a:r>
            <a:r>
              <a:rPr lang="en-US" altLang="zh-TW" sz="2000">
                <a:solidFill>
                  <a:srgbClr val="0000FF"/>
                </a:solidFill>
              </a:rPr>
              <a:t>5</a:t>
            </a:r>
            <a:r>
              <a:rPr lang="en-US" altLang="zh-TW" sz="2000"/>
              <a:t> </a:t>
            </a:r>
            <a:r>
              <a:rPr lang="en-US" altLang="zh-TW" sz="2000">
                <a:solidFill>
                  <a:srgbClr val="FF0000"/>
                </a:solidFill>
              </a:rPr>
              <a:t>1</a:t>
            </a:r>
            <a:r>
              <a:rPr lang="en-US" altLang="zh-TW" sz="2000"/>
              <a:t> </a:t>
            </a:r>
            <a:r>
              <a:rPr lang="en-US" altLang="zh-TW" sz="2000">
                <a:solidFill>
                  <a:srgbClr val="0000FF"/>
                </a:solidFill>
              </a:rPr>
              <a:t>2</a:t>
            </a:r>
            <a:endParaRPr lang="en-US" altLang="zh-TW" sz="2000">
              <a:solidFill>
                <a:srgbClr val="000000"/>
              </a:solidFill>
            </a:endParaRPr>
          </a:p>
        </p:txBody>
      </p:sp>
      <p:sp>
        <p:nvSpPr>
          <p:cNvPr id="259077" name="Text Box 5"/>
          <p:cNvSpPr txBox="1">
            <a:spLocks noChangeArrowheads="1"/>
          </p:cNvSpPr>
          <p:nvPr/>
        </p:nvSpPr>
        <p:spPr bwMode="auto">
          <a:xfrm>
            <a:off x="7127875" y="3019425"/>
            <a:ext cx="10795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FF0000"/>
                </a:solidFill>
              </a:rPr>
              <a:t>15+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CC6600"/>
                </a:solidFill>
              </a:rPr>
              <a:t>8+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336633"/>
                </a:solidFill>
              </a:rPr>
              <a:t>9+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0000FF"/>
                </a:solidFill>
              </a:rPr>
              <a:t>17 </a:t>
            </a:r>
            <a:r>
              <a:rPr lang="en-US" altLang="zh-TW" sz="2000">
                <a:solidFill>
                  <a:srgbClr val="000000"/>
                </a:solidFill>
              </a:rPr>
              <a:t>= 49</a:t>
            </a:r>
          </a:p>
        </p:txBody>
      </p:sp>
      <p:sp>
        <p:nvSpPr>
          <p:cNvPr id="259078" name="Text Box 6"/>
          <p:cNvSpPr txBox="1">
            <a:spLocks noChangeArrowheads="1"/>
          </p:cNvSpPr>
          <p:nvPr/>
        </p:nvSpPr>
        <p:spPr bwMode="auto">
          <a:xfrm>
            <a:off x="7092950" y="4530725"/>
            <a:ext cx="16668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49/4 = 12.25</a:t>
            </a:r>
          </a:p>
        </p:txBody>
      </p:sp>
      <p:sp>
        <p:nvSpPr>
          <p:cNvPr id="29705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4091BCF6-42FC-4CC9-A162-888D9615855F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9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9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9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9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9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9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076" grpId="0"/>
      <p:bldP spid="259077" grpId="0"/>
      <p:bldP spid="25907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30723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E46C61A-D9BF-4C82-BBC4-D4B1E0E9E417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kumimoji="0" lang="en-US" altLang="zh-TW" sz="1400" smtClean="0"/>
          </a:p>
        </p:txBody>
      </p:sp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>
          <a:xfrm>
            <a:off x="565150" y="130175"/>
            <a:ext cx="8420100" cy="723900"/>
          </a:xfrm>
        </p:spPr>
        <p:txBody>
          <a:bodyPr/>
          <a:lstStyle/>
          <a:p>
            <a:pPr eaLnBrk="1" hangingPunct="1"/>
            <a:r>
              <a:rPr lang="en-US" altLang="zh-TW" smtClean="0"/>
              <a:t>Multilevel Queue</a:t>
            </a:r>
          </a:p>
        </p:txBody>
      </p:sp>
      <p:sp>
        <p:nvSpPr>
          <p:cNvPr id="26009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79413" y="788988"/>
            <a:ext cx="9245600" cy="54483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TW" sz="2800" smtClean="0"/>
              <a:t>Ready queue is partitioned into </a:t>
            </a:r>
            <a:r>
              <a:rPr lang="en-US" altLang="zh-TW" sz="2800" smtClean="0">
                <a:solidFill>
                  <a:srgbClr val="FF0066"/>
                </a:solidFill>
              </a:rPr>
              <a:t>separate queues</a:t>
            </a:r>
            <a:r>
              <a:rPr lang="en-US" altLang="zh-TW" sz="2800" smtClean="0"/>
              <a:t>:</a:t>
            </a:r>
            <a:br>
              <a:rPr lang="en-US" altLang="zh-TW" sz="2800" smtClean="0"/>
            </a:br>
            <a:r>
              <a:rPr lang="en-US" altLang="zh-TW" sz="2800" smtClean="0"/>
              <a:t>foreground (interactive)</a:t>
            </a:r>
            <a:br>
              <a:rPr lang="en-US" altLang="zh-TW" sz="2800" smtClean="0"/>
            </a:br>
            <a:r>
              <a:rPr lang="en-US" altLang="zh-TW" sz="2800" smtClean="0"/>
              <a:t>background (batch)</a:t>
            </a:r>
            <a:endParaRPr lang="en-US" altLang="zh-TW" sz="2800" smtClean="0">
              <a:solidFill>
                <a:srgbClr val="FF0066"/>
              </a:solidFill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TW" sz="2800" smtClean="0">
                <a:solidFill>
                  <a:srgbClr val="FF0066"/>
                </a:solidFill>
              </a:rPr>
              <a:t>Each queue has its own scheduling algorithm</a:t>
            </a:r>
            <a:r>
              <a:rPr lang="en-US" altLang="zh-TW" sz="2800" smtClean="0"/>
              <a:t>, </a:t>
            </a:r>
            <a:br>
              <a:rPr lang="en-US" altLang="zh-TW" sz="2800" smtClean="0"/>
            </a:br>
            <a:r>
              <a:rPr lang="en-US" altLang="zh-TW" sz="2800" smtClean="0"/>
              <a:t>foreground </a:t>
            </a:r>
            <a:r>
              <a:rPr lang="en-US" altLang="zh-TW" sz="2800" smtClean="0">
                <a:latin typeface="Helvetica" pitchFamily="34" charset="0"/>
              </a:rPr>
              <a:t>–</a:t>
            </a:r>
            <a:r>
              <a:rPr lang="en-US" altLang="zh-TW" sz="2800" smtClean="0"/>
              <a:t> RR</a:t>
            </a:r>
            <a:br>
              <a:rPr lang="en-US" altLang="zh-TW" sz="2800" smtClean="0"/>
            </a:br>
            <a:r>
              <a:rPr lang="en-US" altLang="zh-TW" sz="2800" smtClean="0"/>
              <a:t>background </a:t>
            </a:r>
            <a:r>
              <a:rPr lang="en-US" altLang="zh-TW" sz="2800" smtClean="0">
                <a:latin typeface="Helvetica" pitchFamily="34" charset="0"/>
              </a:rPr>
              <a:t>–</a:t>
            </a:r>
            <a:r>
              <a:rPr lang="en-US" altLang="zh-TW" sz="2800" smtClean="0"/>
              <a:t> FCFS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TW" sz="2800" smtClean="0"/>
              <a:t>Scheduling must be done between the queues.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TW" sz="2400" smtClean="0"/>
              <a:t>Fixed priority scheduling; (i.e., serve all from foreground then from background).  Possibility of starvation.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TW" sz="2400" smtClean="0"/>
              <a:t>Time slice </a:t>
            </a:r>
            <a:r>
              <a:rPr lang="en-US" altLang="zh-TW" sz="2400" smtClean="0">
                <a:latin typeface="Helvetica" pitchFamily="34" charset="0"/>
              </a:rPr>
              <a:t>–</a:t>
            </a:r>
            <a:r>
              <a:rPr lang="en-US" altLang="zh-TW" sz="2400" smtClean="0"/>
              <a:t> each queue gets a certain amount of CPU time which it can schedule amongst its processes; i.e., 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zh-TW" sz="2000" smtClean="0">
                <a:solidFill>
                  <a:srgbClr val="FF0066"/>
                </a:solidFill>
              </a:rPr>
              <a:t>80% to foreground in RR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zh-TW" sz="2000" smtClean="0">
                <a:solidFill>
                  <a:srgbClr val="FF0066"/>
                </a:solidFill>
              </a:rPr>
              <a:t>20% to background in FCFS</a:t>
            </a:r>
            <a:r>
              <a:rPr lang="en-US" altLang="zh-TW" sz="2000" smtClean="0"/>
              <a:t> </a:t>
            </a:r>
          </a:p>
        </p:txBody>
      </p:sp>
      <p:sp>
        <p:nvSpPr>
          <p:cNvPr id="30726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B4961DC9-5823-4E42-84D8-5AE1C6964167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0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0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0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0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0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0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0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0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0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0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0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60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31747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C3B5DC6-E495-405A-82B6-06B317063B43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kumimoji="0" lang="en-US" altLang="zh-TW" sz="1400" smtClean="0"/>
          </a:p>
        </p:txBody>
      </p:sp>
      <p:sp>
        <p:nvSpPr>
          <p:cNvPr id="3174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60400" y="304800"/>
            <a:ext cx="8420100" cy="800100"/>
          </a:xfrm>
        </p:spPr>
        <p:txBody>
          <a:bodyPr/>
          <a:lstStyle/>
          <a:p>
            <a:pPr eaLnBrk="1" hangingPunct="1"/>
            <a:r>
              <a:rPr lang="en-US" altLang="zh-TW" smtClean="0"/>
              <a:t>Multilevel Queue Scheduling</a:t>
            </a:r>
          </a:p>
        </p:txBody>
      </p:sp>
      <p:pic>
        <p:nvPicPr>
          <p:cNvPr id="31749" name="Picture 102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9" t="8675" r="571" b="9201"/>
          <a:stretch>
            <a:fillRect/>
          </a:stretch>
        </p:blipFill>
        <p:spPr bwMode="auto">
          <a:xfrm>
            <a:off x="868363" y="1317625"/>
            <a:ext cx="7546975" cy="4630738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750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AB19693A-A357-4702-8500-5F50649E3681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32771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8846E34-79B0-4976-BEAA-62A37EF05965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kumimoji="0" lang="en-US" altLang="zh-TW" sz="1400" smtClean="0"/>
          </a:p>
        </p:txBody>
      </p:sp>
      <p:sp>
        <p:nvSpPr>
          <p:cNvPr id="32772" name="Rectangle 2"/>
          <p:cNvSpPr>
            <a:spLocks noGrp="1" noChangeArrowheads="1"/>
          </p:cNvSpPr>
          <p:nvPr>
            <p:ph type="title"/>
          </p:nvPr>
        </p:nvSpPr>
        <p:spPr>
          <a:xfrm>
            <a:off x="660400" y="304800"/>
            <a:ext cx="8420100" cy="784225"/>
          </a:xfrm>
        </p:spPr>
        <p:txBody>
          <a:bodyPr/>
          <a:lstStyle/>
          <a:p>
            <a:pPr eaLnBrk="1" hangingPunct="1"/>
            <a:r>
              <a:rPr lang="en-US" altLang="zh-TW" smtClean="0"/>
              <a:t>Multilevel Feedback Queue</a:t>
            </a:r>
          </a:p>
        </p:txBody>
      </p:sp>
      <p:sp>
        <p:nvSpPr>
          <p:cNvPr id="26214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79450" y="1203325"/>
            <a:ext cx="8688388" cy="48387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2800" dirty="0" smtClean="0">
                <a:solidFill>
                  <a:srgbClr val="FF0066"/>
                </a:solidFill>
              </a:rPr>
              <a:t>A process can move between the various queues; </a:t>
            </a:r>
            <a:r>
              <a:rPr lang="en-US" altLang="zh-TW" sz="2800" dirty="0" smtClean="0">
                <a:solidFill>
                  <a:srgbClr val="0000FF"/>
                </a:solidFill>
              </a:rPr>
              <a:t>aging</a:t>
            </a:r>
            <a:r>
              <a:rPr lang="en-US" altLang="zh-TW" sz="2800" dirty="0" smtClean="0">
                <a:solidFill>
                  <a:srgbClr val="FF0066"/>
                </a:solidFill>
              </a:rPr>
              <a:t> can be implemented this way</a:t>
            </a:r>
            <a:endParaRPr lang="en-US" altLang="zh-TW" sz="2800" dirty="0" smtClean="0"/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TW" sz="2800" dirty="0" smtClean="0"/>
              <a:t>Multilevel-feedback-queue scheduler defined by the following parameters:</a:t>
            </a:r>
            <a:endParaRPr lang="en-US" altLang="zh-TW" sz="2800" dirty="0" smtClean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lvl="1" eaLnBrk="1" hangingPunct="1">
              <a:defRPr/>
            </a:pPr>
            <a:r>
              <a:rPr lang="en-US" altLang="zh-TW" sz="24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number of queues</a:t>
            </a:r>
          </a:p>
          <a:p>
            <a:pPr lvl="1" eaLnBrk="1" hangingPunct="1">
              <a:defRPr/>
            </a:pPr>
            <a:r>
              <a:rPr lang="en-US" altLang="zh-TW" sz="24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scheduling algorithms for each queue</a:t>
            </a:r>
          </a:p>
          <a:p>
            <a:pPr lvl="1" eaLnBrk="1" hangingPunct="1">
              <a:defRPr/>
            </a:pPr>
            <a:r>
              <a:rPr lang="en-US" altLang="zh-TW" sz="24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method used to determine when to upgrade a process</a:t>
            </a:r>
          </a:p>
          <a:p>
            <a:pPr lvl="1" eaLnBrk="1" hangingPunct="1">
              <a:defRPr/>
            </a:pPr>
            <a:r>
              <a:rPr lang="en-US" altLang="zh-TW" sz="24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method used to determine when to demote a process</a:t>
            </a:r>
          </a:p>
          <a:p>
            <a:pPr lvl="1" eaLnBrk="1" hangingPunct="1">
              <a:defRPr/>
            </a:pPr>
            <a:r>
              <a:rPr lang="en-US" altLang="zh-TW" sz="24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method used to determine which queue a process will enter when that process needs service</a:t>
            </a:r>
          </a:p>
        </p:txBody>
      </p:sp>
      <p:sp>
        <p:nvSpPr>
          <p:cNvPr id="32774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44F56CCB-A901-48CF-BA19-114D91C9A864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2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2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2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2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2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2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2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2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2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2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33795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E40AE46-36CC-493A-817A-4385C1E221C2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kumimoji="0" lang="en-US" altLang="zh-TW" sz="1400" smtClean="0"/>
          </a:p>
        </p:txBody>
      </p:sp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>
          <a:xfrm>
            <a:off x="750888" y="247650"/>
            <a:ext cx="8823325" cy="914400"/>
          </a:xfrm>
        </p:spPr>
        <p:txBody>
          <a:bodyPr/>
          <a:lstStyle/>
          <a:p>
            <a:pPr eaLnBrk="1" hangingPunct="1"/>
            <a:r>
              <a:rPr lang="en-US" altLang="zh-TW" sz="4000" smtClean="0"/>
              <a:t>Example of Multilevel Feedback Queue</a:t>
            </a:r>
          </a:p>
        </p:txBody>
      </p:sp>
      <p:sp>
        <p:nvSpPr>
          <p:cNvPr id="26317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85825" y="1127125"/>
            <a:ext cx="8605838" cy="481965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2800" dirty="0" smtClean="0"/>
              <a:t>Three queues: </a:t>
            </a:r>
          </a:p>
          <a:p>
            <a:pPr lvl="1" eaLnBrk="1" hangingPunct="1">
              <a:defRPr/>
            </a:pPr>
            <a:r>
              <a:rPr lang="en-US" altLang="zh-TW" sz="2400" i="1" dirty="0" smtClean="0"/>
              <a:t>Q</a:t>
            </a:r>
            <a:r>
              <a:rPr lang="en-US" altLang="zh-TW" sz="2400" baseline="-25000" dirty="0" smtClean="0"/>
              <a:t>0</a:t>
            </a:r>
            <a:r>
              <a:rPr lang="en-US" altLang="zh-TW" sz="2400" dirty="0" smtClean="0"/>
              <a:t> </a:t>
            </a:r>
            <a:r>
              <a:rPr lang="en-US" altLang="zh-TW" sz="2400" dirty="0" smtClean="0">
                <a:latin typeface="Helvetica"/>
              </a:rPr>
              <a:t>–</a:t>
            </a:r>
            <a:r>
              <a:rPr lang="en-US" altLang="zh-TW" sz="2400" dirty="0" smtClean="0"/>
              <a:t> time quantum </a:t>
            </a:r>
            <a:r>
              <a:rPr lang="en-US" altLang="zh-TW" sz="2400" dirty="0" smtClean="0">
                <a:solidFill>
                  <a:srgbClr val="FF0066"/>
                </a:solidFill>
              </a:rPr>
              <a:t>8</a:t>
            </a:r>
            <a:r>
              <a:rPr lang="en-US" altLang="zh-TW" sz="2400" dirty="0" smtClean="0"/>
              <a:t> milliseconds</a:t>
            </a:r>
          </a:p>
          <a:p>
            <a:pPr lvl="1" eaLnBrk="1" hangingPunct="1">
              <a:defRPr/>
            </a:pPr>
            <a:r>
              <a:rPr lang="en-US" altLang="zh-TW" sz="2400" i="1" dirty="0" smtClean="0"/>
              <a:t>Q</a:t>
            </a:r>
            <a:r>
              <a:rPr lang="en-US" altLang="zh-TW" sz="2400" baseline="-25000" dirty="0" smtClean="0"/>
              <a:t>1</a:t>
            </a:r>
            <a:r>
              <a:rPr lang="en-US" altLang="zh-TW" sz="2400" dirty="0" smtClean="0"/>
              <a:t> </a:t>
            </a:r>
            <a:r>
              <a:rPr lang="en-US" altLang="zh-TW" sz="2400" dirty="0" smtClean="0">
                <a:latin typeface="Helvetica"/>
              </a:rPr>
              <a:t>–</a:t>
            </a:r>
            <a:r>
              <a:rPr lang="en-US" altLang="zh-TW" sz="2400" dirty="0" smtClean="0"/>
              <a:t> time quantum </a:t>
            </a:r>
            <a:r>
              <a:rPr lang="en-US" altLang="zh-TW" sz="2400" dirty="0" smtClean="0">
                <a:solidFill>
                  <a:srgbClr val="FF0066"/>
                </a:solidFill>
              </a:rPr>
              <a:t>16</a:t>
            </a:r>
            <a:r>
              <a:rPr lang="en-US" altLang="zh-TW" sz="2400" dirty="0" smtClean="0"/>
              <a:t> milliseconds</a:t>
            </a:r>
          </a:p>
          <a:p>
            <a:pPr lvl="1" eaLnBrk="1" hangingPunct="1">
              <a:defRPr/>
            </a:pPr>
            <a:r>
              <a:rPr lang="en-US" altLang="zh-TW" sz="2400" i="1" dirty="0" smtClean="0"/>
              <a:t>Q</a:t>
            </a:r>
            <a:r>
              <a:rPr lang="en-US" altLang="zh-TW" sz="2400" baseline="-25000" dirty="0" smtClean="0"/>
              <a:t>2</a:t>
            </a:r>
            <a:r>
              <a:rPr lang="en-US" altLang="zh-TW" sz="2400" dirty="0" smtClean="0"/>
              <a:t> </a:t>
            </a:r>
            <a:r>
              <a:rPr lang="en-US" altLang="zh-TW" sz="2400" dirty="0" smtClean="0">
                <a:latin typeface="Helvetica"/>
              </a:rPr>
              <a:t>–</a:t>
            </a:r>
            <a:r>
              <a:rPr lang="en-US" altLang="zh-TW" sz="2400" dirty="0" smtClean="0"/>
              <a:t> FCFS</a:t>
            </a:r>
          </a:p>
          <a:p>
            <a:pPr eaLnBrk="1" hangingPunct="1">
              <a:defRPr/>
            </a:pPr>
            <a:r>
              <a:rPr lang="en-US" altLang="zh-TW" sz="2800" dirty="0" smtClean="0"/>
              <a:t>Scheduling</a:t>
            </a:r>
          </a:p>
          <a:p>
            <a:pPr lvl="1" eaLnBrk="1" hangingPunct="1">
              <a:defRPr/>
            </a:pPr>
            <a:r>
              <a:rPr lang="en-US" altLang="zh-TW" sz="2400" dirty="0" smtClean="0"/>
              <a:t>A new job enters queue </a:t>
            </a:r>
            <a:r>
              <a:rPr lang="en-US" altLang="zh-TW" sz="2400" i="1" dirty="0" smtClean="0">
                <a:solidFill>
                  <a:srgbClr val="FF0066"/>
                </a:solidFill>
              </a:rPr>
              <a:t>Q</a:t>
            </a:r>
            <a:r>
              <a:rPr lang="en-US" altLang="zh-TW" sz="2400" i="1" baseline="-25000" dirty="0" smtClean="0">
                <a:solidFill>
                  <a:srgbClr val="FF0066"/>
                </a:solidFill>
              </a:rPr>
              <a:t>0</a:t>
            </a:r>
            <a:r>
              <a:rPr lang="en-US" altLang="zh-TW" sz="2400" i="1" dirty="0" smtClean="0">
                <a:solidFill>
                  <a:srgbClr val="FF0066"/>
                </a:solidFill>
              </a:rPr>
              <a:t> </a:t>
            </a:r>
            <a:r>
              <a:rPr lang="en-US" altLang="zh-TW" sz="2400" dirty="0" smtClean="0"/>
              <a:t>which is served</a:t>
            </a:r>
            <a:r>
              <a:rPr lang="en-US" altLang="zh-TW" sz="2400" i="1" dirty="0" smtClean="0"/>
              <a:t> </a:t>
            </a:r>
            <a:r>
              <a:rPr lang="en-US" altLang="zh-TW" sz="2400" dirty="0" smtClean="0">
                <a:solidFill>
                  <a:srgbClr val="FF0066"/>
                </a:solidFill>
              </a:rPr>
              <a:t>FCFS</a:t>
            </a:r>
            <a:r>
              <a:rPr lang="en-US" altLang="zh-TW" sz="2400" dirty="0" smtClean="0"/>
              <a:t>. When it gains CPU, job receives </a:t>
            </a:r>
            <a:r>
              <a:rPr lang="en-US" altLang="zh-TW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8</a:t>
            </a:r>
            <a:r>
              <a:rPr lang="en-US" altLang="zh-TW" sz="2400" dirty="0" smtClean="0"/>
              <a:t> milliseconds.  If it does not finish in 8 milliseconds, job is moved to queue </a:t>
            </a:r>
            <a:r>
              <a:rPr lang="en-US" altLang="zh-TW" sz="2400" i="1" dirty="0" smtClean="0">
                <a:solidFill>
                  <a:srgbClr val="FF0066"/>
                </a:solidFill>
              </a:rPr>
              <a:t>Q</a:t>
            </a:r>
            <a:r>
              <a:rPr lang="en-US" altLang="zh-TW" sz="2400" baseline="-25000" dirty="0" smtClean="0">
                <a:solidFill>
                  <a:srgbClr val="FF0066"/>
                </a:solidFill>
              </a:rPr>
              <a:t>1</a:t>
            </a:r>
            <a:r>
              <a:rPr lang="en-US" altLang="zh-TW" sz="2400" dirty="0" smtClean="0"/>
              <a:t>.</a:t>
            </a:r>
          </a:p>
          <a:p>
            <a:pPr lvl="1" eaLnBrk="1" hangingPunct="1">
              <a:defRPr/>
            </a:pPr>
            <a:r>
              <a:rPr lang="en-US" altLang="zh-TW" sz="2400" dirty="0" smtClean="0"/>
              <a:t>At </a:t>
            </a:r>
            <a:r>
              <a:rPr lang="en-US" altLang="zh-TW" sz="2400" i="1" dirty="0" smtClean="0"/>
              <a:t>Q</a:t>
            </a:r>
            <a:r>
              <a:rPr lang="en-US" altLang="zh-TW" sz="2400" baseline="-25000" dirty="0" smtClean="0"/>
              <a:t>1</a:t>
            </a:r>
            <a:r>
              <a:rPr lang="en-US" altLang="zh-TW" sz="2400" dirty="0" smtClean="0"/>
              <a:t> job is again served FCFS and receives </a:t>
            </a:r>
            <a:r>
              <a:rPr lang="en-US" altLang="zh-TW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16</a:t>
            </a:r>
            <a:r>
              <a:rPr lang="en-US" altLang="zh-TW" sz="2400" dirty="0" smtClean="0"/>
              <a:t> additional milliseconds.  If it still does not complete, it is preempted and moved to queue </a:t>
            </a:r>
            <a:r>
              <a:rPr lang="en-US" altLang="zh-TW" sz="2400" i="1" dirty="0" smtClean="0">
                <a:solidFill>
                  <a:srgbClr val="FF0066"/>
                </a:solidFill>
              </a:rPr>
              <a:t>Q</a:t>
            </a:r>
            <a:r>
              <a:rPr lang="en-US" altLang="zh-TW" sz="2400" baseline="-25000" dirty="0" smtClean="0">
                <a:solidFill>
                  <a:srgbClr val="FF0066"/>
                </a:solidFill>
              </a:rPr>
              <a:t>2</a:t>
            </a:r>
            <a:r>
              <a:rPr lang="en-US" altLang="zh-TW" sz="2400" dirty="0" smtClean="0"/>
              <a:t>.</a:t>
            </a:r>
          </a:p>
        </p:txBody>
      </p:sp>
      <p:pic>
        <p:nvPicPr>
          <p:cNvPr id="3379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8288" y="1768475"/>
            <a:ext cx="2952750" cy="172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3799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97FAA490-4901-4ECD-A80A-9AD7AEB7C563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3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3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34819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A5026D4-BF8F-4B29-9ABF-D5A433C52428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kumimoji="0" lang="en-US" altLang="zh-TW" sz="1400" smtClean="0"/>
          </a:p>
        </p:txBody>
      </p:sp>
      <p:sp>
        <p:nvSpPr>
          <p:cNvPr id="34820" name="Rectangle 2"/>
          <p:cNvSpPr>
            <a:spLocks noGrp="1" noChangeArrowheads="1"/>
          </p:cNvSpPr>
          <p:nvPr>
            <p:ph type="title"/>
          </p:nvPr>
        </p:nvSpPr>
        <p:spPr>
          <a:xfrm>
            <a:off x="1092200" y="304800"/>
            <a:ext cx="7662863" cy="449263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z="4800" smtClean="0"/>
              <a:t>Thread Scheduling</a:t>
            </a:r>
          </a:p>
        </p:txBody>
      </p:sp>
      <p:sp>
        <p:nvSpPr>
          <p:cNvPr id="40653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31800" y="857250"/>
            <a:ext cx="8910638" cy="5235575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>
              <a:lnSpc>
                <a:spcPct val="80000"/>
              </a:lnSpc>
              <a:spcBef>
                <a:spcPct val="60000"/>
              </a:spcBef>
              <a:defRPr/>
            </a:pPr>
            <a:r>
              <a:rPr lang="en-US" altLang="zh-TW" sz="2800" dirty="0" smtClean="0"/>
              <a:t>User-level threads are managed by a thread library, and the </a:t>
            </a:r>
            <a:r>
              <a:rPr lang="en-US" altLang="zh-TW" sz="2800" dirty="0" smtClean="0">
                <a:solidFill>
                  <a:srgbClr val="FF0066"/>
                </a:solidFill>
              </a:rPr>
              <a:t>kernel is unaware of them</a:t>
            </a:r>
            <a:r>
              <a:rPr lang="en-US" altLang="zh-TW" sz="2800" dirty="0" smtClean="0"/>
              <a:t>. To run on a CPU, user-level threads are ultimately mapped to an associated kernel-level thread, or LWP.</a:t>
            </a:r>
            <a:endParaRPr lang="en-US" altLang="zh-TW" b="1" dirty="0" smtClean="0">
              <a:solidFill>
                <a:srgbClr val="FF0066"/>
              </a:solidFill>
            </a:endParaRPr>
          </a:p>
          <a:p>
            <a:pPr lvl="1" eaLnBrk="1" hangingPunct="1">
              <a:lnSpc>
                <a:spcPct val="80000"/>
              </a:lnSpc>
              <a:spcBef>
                <a:spcPct val="60000"/>
              </a:spcBef>
              <a:buFont typeface="Wingdings" pitchFamily="2" charset="2"/>
              <a:buChar char="q"/>
              <a:defRPr/>
            </a:pPr>
            <a:r>
              <a:rPr lang="en-US" altLang="zh-TW" b="1" dirty="0" smtClean="0">
                <a:solidFill>
                  <a:srgbClr val="FF0066"/>
                </a:solidFill>
              </a:rPr>
              <a:t>Process local scheduling </a:t>
            </a:r>
            <a:r>
              <a:rPr lang="en-US" altLang="zh-TW" dirty="0" smtClean="0"/>
              <a:t>(</a:t>
            </a:r>
            <a:r>
              <a:rPr lang="en-US" altLang="zh-TW" dirty="0" smtClean="0">
                <a:solidFill>
                  <a:srgbClr val="0000FF"/>
                </a:solidFill>
              </a:rPr>
              <a:t>process-contention scope</a:t>
            </a:r>
            <a:r>
              <a:rPr lang="en-US" altLang="zh-TW" b="1" dirty="0" smtClean="0"/>
              <a:t>)</a:t>
            </a:r>
            <a:r>
              <a:rPr lang="en-US" altLang="zh-TW" dirty="0" smtClean="0"/>
              <a:t>: Thread scheduling is done </a:t>
            </a:r>
            <a:r>
              <a:rPr lang="en-US" altLang="zh-TW" dirty="0" smtClean="0">
                <a:solidFill>
                  <a:schemeClr val="tx2"/>
                </a:solidFill>
              </a:rPr>
              <a:t>local to the application</a:t>
            </a:r>
            <a:r>
              <a:rPr lang="en-US" altLang="zh-TW" dirty="0" smtClean="0"/>
              <a:t>. The threads library schedules user-level threads to run on an available LWP</a:t>
            </a:r>
          </a:p>
          <a:p>
            <a:pPr lvl="1" eaLnBrk="1" hangingPunct="1">
              <a:lnSpc>
                <a:spcPct val="80000"/>
              </a:lnSpc>
              <a:spcBef>
                <a:spcPct val="60000"/>
              </a:spcBef>
              <a:buFont typeface="Wingdings" pitchFamily="2" charset="2"/>
              <a:buNone/>
              <a:defRPr/>
            </a:pPr>
            <a:r>
              <a:rPr lang="en-US" altLang="zh-TW" sz="2400" dirty="0" smtClean="0">
                <a:solidFill>
                  <a:srgbClr val="CC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	How different threads library locally schedule threads is beyond this course. We omit the discussion here</a:t>
            </a:r>
            <a:r>
              <a:rPr lang="en-US" altLang="zh-TW" sz="24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  <a:endParaRPr lang="en-US" altLang="zh-TW" sz="2400" b="1" dirty="0" smtClean="0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lvl="1" eaLnBrk="1" hangingPunct="1">
              <a:lnSpc>
                <a:spcPct val="80000"/>
              </a:lnSpc>
              <a:spcBef>
                <a:spcPct val="60000"/>
              </a:spcBef>
              <a:buFont typeface="Wingdings" pitchFamily="2" charset="2"/>
              <a:buChar char="q"/>
              <a:defRPr/>
            </a:pPr>
            <a:r>
              <a:rPr lang="en-US" altLang="zh-TW" b="1" dirty="0" smtClean="0">
                <a:solidFill>
                  <a:srgbClr val="FF0066"/>
                </a:solidFill>
              </a:rPr>
              <a:t>System global scheduling </a:t>
            </a:r>
            <a:r>
              <a:rPr lang="en-US" altLang="zh-TW" dirty="0" smtClean="0"/>
              <a:t>(</a:t>
            </a:r>
            <a:r>
              <a:rPr lang="en-US" altLang="zh-TW" dirty="0" smtClean="0">
                <a:solidFill>
                  <a:srgbClr val="0000FF"/>
                </a:solidFill>
              </a:rPr>
              <a:t>system-contention scope</a:t>
            </a:r>
            <a:r>
              <a:rPr lang="en-US" altLang="zh-TW" dirty="0" smtClean="0"/>
              <a:t>): The kernel decides which kernel thread to schedule</a:t>
            </a:r>
            <a:r>
              <a:rPr lang="en-US" altLang="zh-TW" sz="2400" dirty="0" smtClean="0"/>
              <a:t> </a:t>
            </a:r>
            <a:r>
              <a:rPr lang="en-US" altLang="zh-TW" dirty="0" smtClean="0"/>
              <a:t>(competition </a:t>
            </a:r>
            <a:r>
              <a:rPr lang="en-US" altLang="zh-TW" dirty="0" smtClean="0">
                <a:solidFill>
                  <a:schemeClr val="tx2"/>
                </a:solidFill>
              </a:rPr>
              <a:t>among all threads in system</a:t>
            </a:r>
            <a:r>
              <a:rPr lang="en-US" altLang="zh-TW" dirty="0" smtClean="0"/>
              <a:t>)</a:t>
            </a:r>
          </a:p>
        </p:txBody>
      </p:sp>
      <p:sp>
        <p:nvSpPr>
          <p:cNvPr id="406532" name="Text Box 4"/>
          <p:cNvSpPr txBox="1">
            <a:spLocks noChangeArrowheads="1"/>
          </p:cNvSpPr>
          <p:nvPr/>
        </p:nvSpPr>
        <p:spPr bwMode="auto">
          <a:xfrm>
            <a:off x="6784975" y="1905000"/>
            <a:ext cx="31210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</a:rPr>
              <a:t>competition between threads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</a:rPr>
              <a:t>of the same process</a:t>
            </a:r>
          </a:p>
        </p:txBody>
      </p:sp>
      <p:sp>
        <p:nvSpPr>
          <p:cNvPr id="34823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A3976A00-9B0C-4437-819C-38F28E81C2C1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6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6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06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06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06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653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35843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B10B972-8C87-425C-BD5B-EDAC17D5F6A4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kumimoji="0" lang="en-US" altLang="zh-TW" sz="1400" smtClean="0"/>
          </a:p>
        </p:txBody>
      </p:sp>
      <p:sp>
        <p:nvSpPr>
          <p:cNvPr id="35844" name="Rectangle 2"/>
          <p:cNvSpPr>
            <a:spLocks noGrp="1" noChangeArrowheads="1"/>
          </p:cNvSpPr>
          <p:nvPr>
            <p:ph type="title"/>
          </p:nvPr>
        </p:nvSpPr>
        <p:spPr>
          <a:xfrm>
            <a:off x="660400" y="304800"/>
            <a:ext cx="8420100" cy="495300"/>
          </a:xfrm>
        </p:spPr>
        <p:txBody>
          <a:bodyPr/>
          <a:lstStyle/>
          <a:p>
            <a:pPr eaLnBrk="1" hangingPunct="1"/>
            <a:r>
              <a:rPr lang="en-US" altLang="zh-TW" sz="4000" smtClean="0"/>
              <a:t>Pthread Scheduling API</a:t>
            </a:r>
          </a:p>
        </p:txBody>
      </p:sp>
      <p:sp>
        <p:nvSpPr>
          <p:cNvPr id="40857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23863" y="798513"/>
            <a:ext cx="9137650" cy="5487987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0" lang="en-US" altLang="zh-TW" sz="2000" smtClean="0">
                <a:solidFill>
                  <a:srgbClr val="000000"/>
                </a:solidFill>
                <a:latin typeface="Monaco" charset="0"/>
              </a:rPr>
              <a:t>#include &lt;pthread.h&gt;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0" lang="en-US" altLang="zh-TW" sz="2000" smtClean="0">
                <a:solidFill>
                  <a:srgbClr val="000000"/>
                </a:solidFill>
                <a:latin typeface="Monaco" charset="0"/>
              </a:rPr>
              <a:t>#include &lt;stdio.h&gt;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0" lang="en-US" altLang="zh-TW" sz="2000" smtClean="0">
                <a:solidFill>
                  <a:srgbClr val="000000"/>
                </a:solidFill>
                <a:latin typeface="Monaco" charset="0"/>
              </a:rPr>
              <a:t>#define NUM_THREADS 5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0" lang="en-US" altLang="zh-TW" sz="2000" smtClean="0">
                <a:solidFill>
                  <a:srgbClr val="000000"/>
                </a:solidFill>
                <a:latin typeface="Monaco" charset="0"/>
              </a:rPr>
              <a:t>int main(int argc, char *argv[])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0" lang="en-US" altLang="zh-TW" sz="2000" smtClean="0">
                <a:solidFill>
                  <a:srgbClr val="000000"/>
                </a:solidFill>
                <a:latin typeface="Monaco" charset="0"/>
              </a:rPr>
              <a:t>{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0" lang="en-US" altLang="zh-TW" sz="2000" smtClean="0">
                <a:solidFill>
                  <a:srgbClr val="000000"/>
                </a:solidFill>
                <a:latin typeface="Monaco" charset="0"/>
              </a:rPr>
              <a:t>	int i;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0" lang="en-US" altLang="zh-TW" sz="2000" smtClean="0">
                <a:solidFill>
                  <a:srgbClr val="000000"/>
                </a:solidFill>
                <a:latin typeface="Monaco" charset="0"/>
              </a:rPr>
              <a:t>	pthread_t tid[NUM_THREADS];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0" lang="en-US" altLang="zh-TW" sz="2000" smtClean="0">
                <a:solidFill>
                  <a:srgbClr val="000000"/>
                </a:solidFill>
                <a:latin typeface="Monaco" charset="0"/>
              </a:rPr>
              <a:t>	pthread_attr_t attr;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0" lang="en-US" altLang="zh-TW" sz="2000" smtClean="0">
                <a:solidFill>
                  <a:srgbClr val="000000"/>
                </a:solidFill>
                <a:latin typeface="Monaco" charset="0"/>
              </a:rPr>
              <a:t>	</a:t>
            </a:r>
            <a:r>
              <a:rPr kumimoji="0" lang="en-US" altLang="zh-TW" sz="2000" smtClean="0">
                <a:solidFill>
                  <a:srgbClr val="0000FF"/>
                </a:solidFill>
                <a:latin typeface="Monaco" charset="0"/>
              </a:rPr>
              <a:t>/* get the default attributes */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0" lang="en-US" altLang="zh-TW" sz="2000" smtClean="0">
                <a:solidFill>
                  <a:srgbClr val="0000FF"/>
                </a:solidFill>
                <a:latin typeface="Monaco" charset="0"/>
              </a:rPr>
              <a:t>	pthread_attr_init(&amp;attr);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0" lang="en-US" altLang="zh-TW" sz="2000" smtClean="0">
                <a:solidFill>
                  <a:srgbClr val="000000"/>
                </a:solidFill>
                <a:latin typeface="Monaco" charset="0"/>
              </a:rPr>
              <a:t>	</a:t>
            </a:r>
            <a:r>
              <a:rPr kumimoji="0" lang="en-US" altLang="zh-TW" sz="2000" smtClean="0">
                <a:solidFill>
                  <a:srgbClr val="FF0000"/>
                </a:solidFill>
                <a:latin typeface="Monaco" charset="0"/>
              </a:rPr>
              <a:t>/* set the scheduling algorithm to PROCESS or SYSTEM */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0" lang="en-US" altLang="zh-TW" sz="2000" smtClean="0">
                <a:solidFill>
                  <a:srgbClr val="FF0000"/>
                </a:solidFill>
                <a:latin typeface="Monaco" charset="0"/>
              </a:rPr>
              <a:t>	pthread_attr_setscope(&amp;attr, PTHREAD_SCOPE_SYSTEM);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0" lang="en-US" altLang="zh-TW" sz="2000" smtClean="0">
                <a:solidFill>
                  <a:srgbClr val="000000"/>
                </a:solidFill>
                <a:latin typeface="Monaco" charset="0"/>
              </a:rPr>
              <a:t>	</a:t>
            </a:r>
            <a:r>
              <a:rPr kumimoji="0" lang="en-US" altLang="zh-TW" sz="2000" smtClean="0">
                <a:solidFill>
                  <a:srgbClr val="336633"/>
                </a:solidFill>
                <a:latin typeface="Monaco" charset="0"/>
              </a:rPr>
              <a:t>/* set the scheduling policy - FIFO, RT, or OTHER */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0" lang="en-US" altLang="zh-TW" sz="2000" smtClean="0">
                <a:solidFill>
                  <a:srgbClr val="336633"/>
                </a:solidFill>
                <a:latin typeface="Monaco" charset="0"/>
              </a:rPr>
              <a:t>	pthread_attr_setschedpolicy(&amp;attr, SCHED_OTHER);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0" lang="en-US" altLang="zh-TW" sz="2000" smtClean="0">
                <a:solidFill>
                  <a:srgbClr val="000000"/>
                </a:solidFill>
                <a:latin typeface="Monaco" charset="0"/>
              </a:rPr>
              <a:t>	</a:t>
            </a:r>
            <a:r>
              <a:rPr kumimoji="0" lang="en-US" altLang="zh-TW" sz="2000" smtClean="0">
                <a:solidFill>
                  <a:srgbClr val="FF0000"/>
                </a:solidFill>
                <a:latin typeface="Monaco" charset="0"/>
              </a:rPr>
              <a:t>/* create the threads */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0" lang="en-US" altLang="zh-TW" sz="2000" smtClean="0">
                <a:solidFill>
                  <a:srgbClr val="FF0000"/>
                </a:solidFill>
                <a:latin typeface="Monaco" charset="0"/>
              </a:rPr>
              <a:t>	for (i = 0; i &lt; NUM_THREADS; i++)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0" lang="en-US" altLang="zh-TW" sz="2000" smtClean="0">
                <a:solidFill>
                  <a:srgbClr val="FF0000"/>
                </a:solidFill>
                <a:latin typeface="Monaco" charset="0"/>
              </a:rPr>
              <a:t>		pthread_create(&amp;tid[i],&amp;attr,runner,NULL);</a:t>
            </a:r>
          </a:p>
        </p:txBody>
      </p:sp>
      <p:sp>
        <p:nvSpPr>
          <p:cNvPr id="35846" name="Text Box 4"/>
          <p:cNvSpPr txBox="1">
            <a:spLocks noChangeArrowheads="1"/>
          </p:cNvSpPr>
          <p:nvPr/>
        </p:nvSpPr>
        <p:spPr bwMode="auto">
          <a:xfrm>
            <a:off x="4845050" y="1052513"/>
            <a:ext cx="4279900" cy="1465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000FF"/>
                </a:solidFill>
              </a:rPr>
              <a:t>PTHREAD SCOPE PROCESS</a:t>
            </a:r>
            <a:r>
              <a:rPr lang="en-US" altLang="zh-TW" sz="1800"/>
              <a:t> schedules threads using </a:t>
            </a:r>
            <a:r>
              <a:rPr lang="en-US" altLang="zh-TW" sz="1800">
                <a:solidFill>
                  <a:schemeClr val="tx2"/>
                </a:solidFill>
              </a:rPr>
              <a:t>PCS </a:t>
            </a:r>
            <a:r>
              <a:rPr lang="en-US" altLang="zh-TW" sz="1800"/>
              <a:t>scheduling</a:t>
            </a: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TW" sz="1800"/>
          </a:p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000FF"/>
                </a:solidFill>
              </a:rPr>
              <a:t>PTHREAD SCOPE SYSTEM</a:t>
            </a:r>
            <a:r>
              <a:rPr lang="en-US" altLang="zh-TW" sz="1800"/>
              <a:t> schedules threads using </a:t>
            </a:r>
            <a:r>
              <a:rPr lang="en-US" altLang="zh-TW" sz="1800">
                <a:solidFill>
                  <a:schemeClr val="tx2"/>
                </a:solidFill>
              </a:rPr>
              <a:t>SCS</a:t>
            </a:r>
            <a:r>
              <a:rPr lang="en-US" altLang="zh-TW" sz="1800"/>
              <a:t> scheduling.</a:t>
            </a:r>
          </a:p>
        </p:txBody>
      </p:sp>
      <p:sp>
        <p:nvSpPr>
          <p:cNvPr id="35847" name="矩形 1"/>
          <p:cNvSpPr>
            <a:spLocks noChangeArrowheads="1"/>
          </p:cNvSpPr>
          <p:nvPr/>
        </p:nvSpPr>
        <p:spPr bwMode="auto">
          <a:xfrm>
            <a:off x="117475" y="6103938"/>
            <a:ext cx="97885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limited by OS: Linux and Mac OS X only allow PTHREAD_SCOPE_SYSTEM</a:t>
            </a:r>
          </a:p>
        </p:txBody>
      </p:sp>
      <p:sp>
        <p:nvSpPr>
          <p:cNvPr id="35848" name="日期版面配置區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E64E04CB-0641-44B3-9148-8237F22543F7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8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8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8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8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08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08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085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085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085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085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857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857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857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857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0857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0857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0857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0857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36867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CF9400E-6512-40D9-A1FD-BBDE7C457FE6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kumimoji="0" lang="en-US" altLang="zh-TW" sz="1400" smtClean="0"/>
          </a:p>
        </p:txBody>
      </p:sp>
      <p:sp>
        <p:nvSpPr>
          <p:cNvPr id="36868" name="Rectangle 2"/>
          <p:cNvSpPr>
            <a:spLocks noGrp="1" noChangeArrowheads="1"/>
          </p:cNvSpPr>
          <p:nvPr>
            <p:ph type="title"/>
          </p:nvPr>
        </p:nvSpPr>
        <p:spPr>
          <a:xfrm>
            <a:off x="660400" y="304800"/>
            <a:ext cx="8420100" cy="635000"/>
          </a:xfrm>
        </p:spPr>
        <p:txBody>
          <a:bodyPr/>
          <a:lstStyle/>
          <a:p>
            <a:pPr eaLnBrk="1" hangingPunct="1"/>
            <a:r>
              <a:rPr lang="en-US" altLang="zh-TW" sz="4000" smtClean="0"/>
              <a:t>Pthread Scheduling API</a:t>
            </a:r>
          </a:p>
        </p:txBody>
      </p:sp>
      <p:sp>
        <p:nvSpPr>
          <p:cNvPr id="41062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135063" y="1074738"/>
            <a:ext cx="8382000" cy="4818062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kumimoji="0" lang="en-US" altLang="zh-TW" sz="2800" smtClean="0">
                <a:solidFill>
                  <a:srgbClr val="000000"/>
                </a:solidFill>
                <a:latin typeface="Monaco" charset="0"/>
              </a:rPr>
              <a:t>	</a:t>
            </a:r>
            <a:r>
              <a:rPr kumimoji="0" lang="en-US" altLang="zh-TW" sz="2400" smtClean="0">
                <a:solidFill>
                  <a:srgbClr val="000000"/>
                </a:solidFill>
                <a:latin typeface="Monaco" charset="0"/>
              </a:rPr>
              <a:t>/* now join on each thread */</a:t>
            </a:r>
          </a:p>
          <a:p>
            <a:pPr eaLnBrk="1" hangingPunct="1">
              <a:buFont typeface="Wingdings" pitchFamily="2" charset="2"/>
              <a:buNone/>
            </a:pPr>
            <a:r>
              <a:rPr kumimoji="0" lang="en-US" altLang="zh-TW" sz="2400" smtClean="0">
                <a:solidFill>
                  <a:srgbClr val="000000"/>
                </a:solidFill>
                <a:latin typeface="Monaco" charset="0"/>
              </a:rPr>
              <a:t>	for (i = 0; i &lt; NUM THREADS; i++)</a:t>
            </a:r>
          </a:p>
          <a:p>
            <a:pPr eaLnBrk="1" hangingPunct="1">
              <a:buFont typeface="Wingdings" pitchFamily="2" charset="2"/>
              <a:buNone/>
            </a:pPr>
            <a:r>
              <a:rPr kumimoji="0" lang="en-US" altLang="zh-TW" sz="2400" smtClean="0">
                <a:solidFill>
                  <a:srgbClr val="000000"/>
                </a:solidFill>
                <a:latin typeface="Monaco" charset="0"/>
              </a:rPr>
              <a:t>		pthread_join(tid[i], NULL);</a:t>
            </a:r>
          </a:p>
          <a:p>
            <a:pPr eaLnBrk="1" hangingPunct="1">
              <a:buFont typeface="Wingdings" pitchFamily="2" charset="2"/>
              <a:buNone/>
            </a:pPr>
            <a:r>
              <a:rPr kumimoji="0" lang="en-US" altLang="zh-TW" sz="2400" smtClean="0">
                <a:solidFill>
                  <a:srgbClr val="000000"/>
                </a:solidFill>
                <a:latin typeface="Monaco" charset="0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r>
              <a:rPr kumimoji="0" lang="en-US" altLang="zh-TW" sz="2400" smtClean="0">
                <a:solidFill>
                  <a:srgbClr val="000000"/>
                </a:solidFill>
                <a:latin typeface="Monaco" charset="0"/>
              </a:rPr>
              <a:t> /* Each thread will begin control in this function */</a:t>
            </a:r>
          </a:p>
          <a:p>
            <a:pPr eaLnBrk="1" hangingPunct="1">
              <a:buFont typeface="Wingdings" pitchFamily="2" charset="2"/>
              <a:buNone/>
            </a:pPr>
            <a:r>
              <a:rPr kumimoji="0" lang="en-US" altLang="zh-TW" sz="2400" smtClean="0">
                <a:solidFill>
                  <a:srgbClr val="000000"/>
                </a:solidFill>
                <a:latin typeface="Monaco" charset="0"/>
              </a:rPr>
              <a:t>void *runner(void *param)</a:t>
            </a:r>
          </a:p>
          <a:p>
            <a:pPr eaLnBrk="1" hangingPunct="1">
              <a:buFont typeface="Wingdings" pitchFamily="2" charset="2"/>
              <a:buNone/>
            </a:pPr>
            <a:r>
              <a:rPr kumimoji="0" lang="en-US" altLang="zh-TW" sz="2400" smtClean="0">
                <a:solidFill>
                  <a:srgbClr val="000000"/>
                </a:solidFill>
                <a:latin typeface="Monaco" charset="0"/>
              </a:rPr>
              <a:t>{ </a:t>
            </a:r>
          </a:p>
          <a:p>
            <a:pPr eaLnBrk="1" hangingPunct="1">
              <a:buFont typeface="Wingdings" pitchFamily="2" charset="2"/>
              <a:buNone/>
            </a:pPr>
            <a:r>
              <a:rPr kumimoji="0" lang="en-US" altLang="zh-TW" sz="2400" smtClean="0">
                <a:solidFill>
                  <a:srgbClr val="000000"/>
                </a:solidFill>
                <a:latin typeface="Monaco" charset="0"/>
              </a:rPr>
              <a:t>	printf("I am a thread\n");</a:t>
            </a:r>
          </a:p>
          <a:p>
            <a:pPr eaLnBrk="1" hangingPunct="1">
              <a:buFont typeface="Wingdings" pitchFamily="2" charset="2"/>
              <a:buNone/>
            </a:pPr>
            <a:r>
              <a:rPr kumimoji="0" lang="en-US" altLang="zh-TW" sz="2400" smtClean="0">
                <a:solidFill>
                  <a:srgbClr val="000000"/>
                </a:solidFill>
                <a:latin typeface="Monaco" charset="0"/>
              </a:rPr>
              <a:t>	pthread_exit(0);</a:t>
            </a:r>
          </a:p>
          <a:p>
            <a:pPr eaLnBrk="1" hangingPunct="1">
              <a:buFont typeface="Wingdings" pitchFamily="2" charset="2"/>
              <a:buNone/>
            </a:pPr>
            <a:r>
              <a:rPr kumimoji="0" lang="en-US" altLang="zh-TW" sz="2400" smtClean="0">
                <a:solidFill>
                  <a:srgbClr val="000000"/>
                </a:solidFill>
                <a:latin typeface="Monaco" charset="0"/>
              </a:rPr>
              <a:t>}</a:t>
            </a:r>
          </a:p>
        </p:txBody>
      </p:sp>
      <p:sp>
        <p:nvSpPr>
          <p:cNvPr id="36870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AC2E2751-8D81-429C-8E02-04334540F893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0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0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10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0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10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10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10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10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0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0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10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10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10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10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10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10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10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10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10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10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37891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23104EA-A036-455F-A6E7-16414AC3129D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kumimoji="0" lang="en-US" altLang="zh-TW" sz="1400" smtClean="0"/>
          </a:p>
        </p:txBody>
      </p:sp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71450"/>
            <a:ext cx="8910637" cy="531813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algn="ctr" eaLnBrk="1" hangingPunct="1"/>
            <a:r>
              <a:rPr lang="en-US" altLang="zh-TW" smtClean="0"/>
              <a:t>Multiple-Processor Scheduling (1)</a:t>
            </a:r>
          </a:p>
        </p:txBody>
      </p:sp>
      <p:sp>
        <p:nvSpPr>
          <p:cNvPr id="41267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58763" y="771525"/>
            <a:ext cx="9323387" cy="5678488"/>
          </a:xfrm>
          <a:ln w="12700">
            <a:pattFill prst="pct5">
              <a:fgClr>
                <a:srgbClr val="000000"/>
              </a:fgClr>
              <a:bgClr>
                <a:srgbClr val="FFFFFF"/>
              </a:bgClr>
            </a:pattFill>
            <a:miter lim="800000"/>
            <a:headEnd/>
            <a:tailEnd/>
          </a:ln>
        </p:spPr>
        <p:txBody>
          <a:bodyPr lIns="90488" tIns="44450" rIns="90488" bIns="44450"/>
          <a:lstStyle/>
          <a:p>
            <a:pPr eaLnBrk="1" hangingPunct="1">
              <a:defRPr/>
            </a:pPr>
            <a:r>
              <a:rPr lang="en-US" altLang="zh-TW" dirty="0" smtClean="0"/>
              <a:t>Only</a:t>
            </a:r>
            <a:r>
              <a:rPr lang="en-US" altLang="zh-TW" i="1" dirty="0" smtClean="0">
                <a:solidFill>
                  <a:srgbClr val="FFCC00"/>
                </a:solidFill>
              </a:rPr>
              <a:t> </a:t>
            </a:r>
            <a:r>
              <a:rPr lang="en-US" altLang="zh-TW" b="1" dirty="0" smtClean="0">
                <a:solidFill>
                  <a:srgbClr val="FF0066"/>
                </a:solidFill>
              </a:rPr>
              <a:t>homogeneous</a:t>
            </a:r>
            <a:r>
              <a:rPr lang="en-US" altLang="zh-TW" dirty="0" smtClean="0"/>
              <a:t> systems are discussed here</a:t>
            </a:r>
          </a:p>
          <a:p>
            <a:pPr eaLnBrk="1" hangingPunct="1">
              <a:spcBef>
                <a:spcPct val="60000"/>
              </a:spcBef>
              <a:defRPr/>
            </a:pPr>
            <a:r>
              <a:rPr lang="en-US" altLang="zh-TW" b="1" dirty="0" smtClean="0">
                <a:solidFill>
                  <a:srgbClr val="0000FF"/>
                </a:solidFill>
              </a:rPr>
              <a:t>Scheduling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zh-TW" dirty="0" smtClean="0"/>
              <a:t>1. Each processor has a </a:t>
            </a:r>
            <a:r>
              <a:rPr lang="en-US" altLang="zh-TW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separate queue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zh-TW" dirty="0" smtClean="0"/>
              <a:t>2. All processes use a </a:t>
            </a:r>
            <a:r>
              <a:rPr lang="en-US" altLang="zh-TW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common ready queue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zh-TW" dirty="0" smtClean="0"/>
              <a:t>		a. Each processor is self-scheduling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zh-TW" dirty="0" smtClean="0"/>
              <a:t>		b. Appoint a processor as </a:t>
            </a:r>
            <a:r>
              <a:rPr lang="en-US" altLang="zh-TW" dirty="0" smtClean="0">
                <a:solidFill>
                  <a:srgbClr val="FF0066"/>
                </a:solidFill>
              </a:rPr>
              <a:t>scheduler</a:t>
            </a:r>
            <a:r>
              <a:rPr lang="en-US" altLang="zh-TW" dirty="0" smtClean="0"/>
              <a:t> for the 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zh-TW" dirty="0" smtClean="0"/>
              <a:t>		    other processes </a:t>
            </a:r>
            <a:r>
              <a:rPr lang="en-US" altLang="zh-TW" b="1" dirty="0" smtClean="0">
                <a:solidFill>
                  <a:srgbClr val="FF0066"/>
                </a:solidFill>
              </a:rPr>
              <a:t>(the master-slave structure</a:t>
            </a:r>
            <a:r>
              <a:rPr lang="en-US" altLang="zh-TW" dirty="0" smtClean="0"/>
              <a:t>)</a:t>
            </a:r>
            <a:endParaRPr lang="en-US" altLang="zh-TW" b="1" dirty="0" smtClean="0">
              <a:solidFill>
                <a:srgbClr val="FF0066"/>
              </a:solidFill>
            </a:endParaRPr>
          </a:p>
        </p:txBody>
      </p:sp>
      <p:sp>
        <p:nvSpPr>
          <p:cNvPr id="37894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450977EC-E72C-462F-89DC-196AE76D78E6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  <p:sp>
        <p:nvSpPr>
          <p:cNvPr id="2" name="矩形 1"/>
          <p:cNvSpPr/>
          <p:nvPr/>
        </p:nvSpPr>
        <p:spPr>
          <a:xfrm>
            <a:off x="150829" y="5331311"/>
            <a:ext cx="9755171" cy="830997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0000FF"/>
                </a:solidFill>
              </a:rPr>
              <a:t>processing element (PE) </a:t>
            </a:r>
            <a:r>
              <a:rPr lang="en-US" altLang="zh-TW" dirty="0">
                <a:solidFill>
                  <a:srgbClr val="0000FF"/>
                </a:solidFill>
                <a:sym typeface="Symbol"/>
              </a:rPr>
              <a:t></a:t>
            </a:r>
            <a:r>
              <a:rPr lang="en-US" altLang="zh-TW" dirty="0" smtClean="0">
                <a:solidFill>
                  <a:srgbClr val="0000FF"/>
                </a:solidFill>
              </a:rPr>
              <a:t> physical processors (PP)</a:t>
            </a:r>
          </a:p>
          <a:p>
            <a:r>
              <a:rPr lang="en-US" altLang="zh-TW" dirty="0" smtClean="0">
                <a:solidFill>
                  <a:srgbClr val="0000FF"/>
                </a:solidFill>
              </a:rPr>
              <a:t>logical processors (LP) </a:t>
            </a:r>
            <a:r>
              <a:rPr lang="en-US" altLang="zh-TW" dirty="0">
                <a:solidFill>
                  <a:srgbClr val="0000FF"/>
                </a:solidFill>
                <a:sym typeface="Symbol"/>
              </a:rPr>
              <a:t> hardware thread (w. machine-state registers)</a:t>
            </a:r>
            <a:endParaRPr lang="en-US" altLang="zh-TW" dirty="0" smtClean="0">
              <a:solidFill>
                <a:srgbClr val="0000FF"/>
              </a:solidFill>
              <a:sym typeface="Symbol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326363" y="5289767"/>
            <a:ext cx="806631" cy="461665"/>
          </a:xfrm>
          <a:prstGeom prst="rect">
            <a:avLst/>
          </a:prstGeom>
          <a:solidFill>
            <a:srgbClr val="97EE26"/>
          </a:solidFill>
          <a:ln>
            <a:solidFill>
              <a:srgbClr val="0000FF"/>
            </a:solidFill>
          </a:ln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00B050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SMP</a:t>
            </a:r>
            <a:endParaRPr lang="zh-TW" altLang="en-US" dirty="0">
              <a:solidFill>
                <a:srgbClr val="00B050"/>
              </a:solidFill>
              <a:latin typeface="Adobe Gothic Std B" panose="020B0800000000000000" pitchFamily="34" charset="-128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549477" y="1340495"/>
            <a:ext cx="7316426" cy="830997"/>
          </a:xfrm>
          <a:prstGeom prst="rect">
            <a:avLst/>
          </a:prstGeom>
          <a:solidFill>
            <a:srgbClr val="FFFF00"/>
          </a:solidFill>
          <a:ln>
            <a:solidFill>
              <a:srgbClr val="0000FF"/>
            </a:solidFill>
          </a:ln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00B050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load balance, NUMA: processor affinity</a:t>
            </a:r>
          </a:p>
          <a:p>
            <a:r>
              <a:rPr lang="en-US" altLang="zh-TW" dirty="0">
                <a:solidFill>
                  <a:srgbClr val="00B050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c</a:t>
            </a:r>
            <a:r>
              <a:rPr lang="en-US" altLang="zh-TW" dirty="0" smtClean="0">
                <a:solidFill>
                  <a:srgbClr val="00B050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ache miss (memory stall), </a:t>
            </a:r>
            <a:r>
              <a:rPr lang="en-US" altLang="zh-TW" dirty="0" smtClean="0">
                <a:solidFill>
                  <a:srgbClr val="00B050"/>
                </a:solidFill>
                <a:latin typeface="Adobe Gothic Std B" panose="020B0800000000000000" pitchFamily="34" charset="-128"/>
              </a:rPr>
              <a:t>instruction pipeline: LP </a:t>
            </a:r>
          </a:p>
        </p:txBody>
      </p:sp>
      <p:sp>
        <p:nvSpPr>
          <p:cNvPr id="10" name="矩形 9"/>
          <p:cNvSpPr/>
          <p:nvPr/>
        </p:nvSpPr>
        <p:spPr>
          <a:xfrm>
            <a:off x="8285043" y="6114733"/>
            <a:ext cx="1620957" cy="461665"/>
          </a:xfrm>
          <a:prstGeom prst="rect">
            <a:avLst/>
          </a:prstGeom>
          <a:solidFill>
            <a:srgbClr val="97EE26"/>
          </a:solidFill>
          <a:ln>
            <a:solidFill>
              <a:srgbClr val="0000FF"/>
            </a:solidFill>
          </a:ln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00B050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SMT(HTT) </a:t>
            </a:r>
            <a:endParaRPr lang="zh-TW" altLang="en-US" dirty="0">
              <a:solidFill>
                <a:srgbClr val="00B050"/>
              </a:solidFill>
              <a:latin typeface="Adobe Gothic Std B" panose="020B0800000000000000" pitchFamily="34" charset="-128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2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2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2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2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2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2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2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2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12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12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12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12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12" grpId="0" animBg="1"/>
      <p:bldP spid="1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38915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36D1393-4AA8-4C3B-89D1-DCC8297B24A5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kumimoji="0" lang="en-US" altLang="zh-TW" sz="1400" smtClean="0"/>
          </a:p>
        </p:txBody>
      </p:sp>
      <p:sp>
        <p:nvSpPr>
          <p:cNvPr id="38916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71450"/>
            <a:ext cx="8910637" cy="531813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algn="ctr" eaLnBrk="1" hangingPunct="1"/>
            <a:r>
              <a:rPr lang="en-US" altLang="zh-TW" smtClean="0"/>
              <a:t>Multiple-Processor Scheduling (2)</a:t>
            </a:r>
          </a:p>
        </p:txBody>
      </p:sp>
      <p:sp>
        <p:nvSpPr>
          <p:cNvPr id="41472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58763" y="877888"/>
            <a:ext cx="9323387" cy="5267325"/>
          </a:xfrm>
          <a:noFill/>
          <a:ln w="12700">
            <a:pattFill prst="pct5">
              <a:fgClr>
                <a:srgbClr val="000000"/>
              </a:fgClr>
              <a:bgClr>
                <a:srgbClr val="FFFFFF"/>
              </a:bgClr>
            </a:pattFill>
            <a:miter lim="800000"/>
            <a:headEnd/>
            <a:tailEnd/>
          </a:ln>
        </p:spPr>
        <p:txBody>
          <a:bodyPr lIns="90488" tIns="44450" rIns="90488" bIns="44450"/>
          <a:lstStyle/>
          <a:p>
            <a:pPr eaLnBrk="1" hangingPunct="1">
              <a:lnSpc>
                <a:spcPct val="80000"/>
              </a:lnSpc>
              <a:spcBef>
                <a:spcPct val="60000"/>
              </a:spcBef>
            </a:pPr>
            <a:r>
              <a:rPr lang="en-US" altLang="zh-TW" sz="2400" b="1" dirty="0" smtClean="0">
                <a:solidFill>
                  <a:srgbClr val="FF0066"/>
                </a:solidFill>
              </a:rPr>
              <a:t>Asymmetric multiprocessing</a:t>
            </a:r>
            <a:r>
              <a:rPr lang="en-US" altLang="zh-TW" sz="2400" dirty="0" smtClean="0"/>
              <a:t>: all system activities are handled by a processor (</a:t>
            </a:r>
            <a:r>
              <a:rPr lang="en-US" altLang="zh-TW" sz="2400" dirty="0" smtClean="0">
                <a:solidFill>
                  <a:srgbClr val="0000FF"/>
                </a:solidFill>
              </a:rPr>
              <a:t>alleviating the need for data sharing</a:t>
            </a:r>
            <a:r>
              <a:rPr lang="en-US" altLang="zh-TW" sz="2400" dirty="0" smtClean="0"/>
              <a:t>), the others only execute user code (allocated by the master), which is far simple than </a:t>
            </a:r>
            <a:r>
              <a:rPr lang="en-US" altLang="zh-TW" sz="2400" b="1" dirty="0" smtClean="0">
                <a:solidFill>
                  <a:srgbClr val="FF0066"/>
                </a:solidFill>
              </a:rPr>
              <a:t>SMP</a:t>
            </a:r>
          </a:p>
          <a:p>
            <a:pPr eaLnBrk="1" hangingPunct="1">
              <a:lnSpc>
                <a:spcPct val="80000"/>
              </a:lnSpc>
              <a:spcBef>
                <a:spcPct val="60000"/>
              </a:spcBef>
            </a:pPr>
            <a:r>
              <a:rPr lang="en-US" altLang="zh-TW" sz="2400" b="1" dirty="0" smtClean="0">
                <a:solidFill>
                  <a:srgbClr val="FF0000"/>
                </a:solidFill>
              </a:rPr>
              <a:t>Symmetric multiprocessing (SMP)</a:t>
            </a:r>
            <a:r>
              <a:rPr lang="en-US" altLang="zh-TW" sz="2400" b="1" dirty="0" smtClean="0"/>
              <a:t> </a:t>
            </a:r>
            <a:r>
              <a:rPr lang="en-US" altLang="zh-TW" sz="2400" dirty="0" smtClean="0">
                <a:latin typeface="Times New Roman" pitchFamily="18" charset="0"/>
              </a:rPr>
              <a:t>–</a:t>
            </a:r>
            <a:r>
              <a:rPr lang="en-US" altLang="zh-TW" sz="2400" dirty="0" smtClean="0"/>
              <a:t> each processor is </a:t>
            </a:r>
            <a:r>
              <a:rPr lang="en-US" altLang="zh-TW" sz="2400" dirty="0" smtClean="0">
                <a:solidFill>
                  <a:srgbClr val="0000FF"/>
                </a:solidFill>
              </a:rPr>
              <a:t>self-scheduling</a:t>
            </a:r>
            <a:r>
              <a:rPr lang="en-US" altLang="zh-TW" sz="2400" dirty="0" smtClean="0"/>
              <a:t>, all processes in common ready queue, or each has its own private queue of ready processes</a:t>
            </a:r>
          </a:p>
          <a:p>
            <a:pPr lvl="1" eaLnBrk="1" hangingPunct="1">
              <a:lnSpc>
                <a:spcPct val="80000"/>
              </a:lnSpc>
              <a:spcBef>
                <a:spcPct val="60000"/>
              </a:spcBef>
            </a:pPr>
            <a:r>
              <a:rPr lang="en-US" altLang="zh-TW" sz="2000" b="1" dirty="0" smtClean="0">
                <a:solidFill>
                  <a:srgbClr val="FF0066"/>
                </a:solidFill>
              </a:rPr>
              <a:t>SMT (</a:t>
            </a:r>
            <a:r>
              <a:rPr lang="en-US" altLang="zh-TW" sz="2000" b="1" dirty="0" err="1" smtClean="0">
                <a:solidFill>
                  <a:srgbClr val="FF0066"/>
                </a:solidFill>
              </a:rPr>
              <a:t>Hyperthreading</a:t>
            </a:r>
            <a:r>
              <a:rPr lang="en-US" altLang="zh-TW" sz="2000" b="1" dirty="0" smtClean="0">
                <a:solidFill>
                  <a:srgbClr val="FF0066"/>
                </a:solidFill>
              </a:rPr>
              <a:t>): one CPU, multi-logical processors</a:t>
            </a:r>
            <a:endParaRPr lang="en-US" altLang="zh-TW" sz="2000" dirty="0" smtClean="0"/>
          </a:p>
          <a:p>
            <a:pPr eaLnBrk="1" hangingPunct="1">
              <a:lnSpc>
                <a:spcPct val="80000"/>
              </a:lnSpc>
              <a:spcBef>
                <a:spcPct val="60000"/>
              </a:spcBef>
            </a:pPr>
            <a:r>
              <a:rPr lang="en-US" altLang="zh-TW" sz="2400" b="1" dirty="0" smtClean="0">
                <a:solidFill>
                  <a:srgbClr val="FF0066"/>
                </a:solidFill>
              </a:rPr>
              <a:t>Processor affinity: </a:t>
            </a:r>
            <a:r>
              <a:rPr lang="en-US" altLang="zh-TW" sz="2400" dirty="0" smtClean="0"/>
              <a:t>a process has an affinity for the processor on which it is currently running</a:t>
            </a:r>
          </a:p>
          <a:p>
            <a:pPr lvl="1" eaLnBrk="1" hangingPunct="1">
              <a:lnSpc>
                <a:spcPct val="80000"/>
              </a:lnSpc>
            </a:pPr>
            <a:endParaRPr lang="en-US" altLang="zh-TW" sz="2400" b="1" dirty="0" smtClean="0"/>
          </a:p>
          <a:p>
            <a:pPr lvl="1" eaLnBrk="1" hangingPunct="1">
              <a:lnSpc>
                <a:spcPct val="80000"/>
              </a:lnSpc>
            </a:pPr>
            <a:endParaRPr lang="en-US" altLang="zh-TW" sz="2400" b="1" dirty="0" smtClean="0"/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b="1" dirty="0" smtClean="0"/>
              <a:t>soft affinity: </a:t>
            </a:r>
            <a:r>
              <a:rPr lang="en-US" altLang="zh-TW" sz="2400" dirty="0" smtClean="0">
                <a:solidFill>
                  <a:srgbClr val="FF0000"/>
                </a:solidFill>
              </a:rPr>
              <a:t>possible to migrate between PEs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b="1" dirty="0" smtClean="0"/>
              <a:t>hard affinity : </a:t>
            </a:r>
            <a:r>
              <a:rPr lang="en-US" altLang="zh-TW" sz="2400" dirty="0" smtClean="0">
                <a:solidFill>
                  <a:srgbClr val="FF0000"/>
                </a:solidFill>
              </a:rPr>
              <a:t>not to migrate to other PEs</a:t>
            </a:r>
          </a:p>
        </p:txBody>
      </p:sp>
      <p:sp>
        <p:nvSpPr>
          <p:cNvPr id="414724" name="Text Box 4"/>
          <p:cNvSpPr txBox="1">
            <a:spLocks noChangeArrowheads="1"/>
          </p:cNvSpPr>
          <p:nvPr/>
        </p:nvSpPr>
        <p:spPr bwMode="auto">
          <a:xfrm>
            <a:off x="1506538" y="4548188"/>
            <a:ext cx="5140325" cy="469900"/>
          </a:xfrm>
          <a:prstGeom prst="rect">
            <a:avLst/>
          </a:prstGeom>
          <a:noFill/>
          <a:ln w="12699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0000FF"/>
                </a:solidFill>
              </a:rPr>
              <a:t>Keep running on the same processor</a:t>
            </a:r>
          </a:p>
        </p:txBody>
      </p:sp>
      <p:sp>
        <p:nvSpPr>
          <p:cNvPr id="414725" name="Text Box 5"/>
          <p:cNvSpPr txBox="1">
            <a:spLocks noChangeArrowheads="1"/>
          </p:cNvSpPr>
          <p:nvPr/>
        </p:nvSpPr>
        <p:spPr bwMode="auto">
          <a:xfrm>
            <a:off x="6946900" y="4352925"/>
            <a:ext cx="219233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FF0000"/>
                </a:solidFill>
              </a:rPr>
              <a:t>Cache memory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FF0000"/>
                </a:solidFill>
              </a:rPr>
              <a:t>validating</a:t>
            </a:r>
          </a:p>
        </p:txBody>
      </p:sp>
      <p:sp>
        <p:nvSpPr>
          <p:cNvPr id="38920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7E8C53F6-4583-4D26-9A16-99E2A1B585C5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4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4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14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14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14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14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14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14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14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14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14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14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4724" grpId="0" animBg="1"/>
      <p:bldP spid="4147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39939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E48BC61-8835-408C-88FC-BFF78851079A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kumimoji="0" lang="en-US" altLang="zh-TW" sz="1400" smtClean="0"/>
          </a:p>
        </p:txBody>
      </p:sp>
      <p:sp>
        <p:nvSpPr>
          <p:cNvPr id="39940" name="Rectangle 2"/>
          <p:cNvSpPr>
            <a:spLocks noGrp="1" noChangeArrowheads="1"/>
          </p:cNvSpPr>
          <p:nvPr>
            <p:ph type="title"/>
          </p:nvPr>
        </p:nvSpPr>
        <p:spPr>
          <a:xfrm>
            <a:off x="682625" y="0"/>
            <a:ext cx="8420100" cy="890588"/>
          </a:xfrm>
        </p:spPr>
        <p:txBody>
          <a:bodyPr/>
          <a:lstStyle/>
          <a:p>
            <a:pPr eaLnBrk="1" hangingPunct="1"/>
            <a:r>
              <a:rPr lang="en-US" altLang="zh-TW" smtClean="0"/>
              <a:t>SMT: Symmetric Multithreading</a:t>
            </a:r>
          </a:p>
        </p:txBody>
      </p:sp>
      <p:sp>
        <p:nvSpPr>
          <p:cNvPr id="43213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82563" y="941388"/>
            <a:ext cx="9486900" cy="563721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TW" sz="2400" dirty="0" smtClean="0"/>
              <a:t>Hyper-threading technology (HTT), intel</a:t>
            </a:r>
            <a:r>
              <a:rPr lang="en-US" altLang="zh-TW" sz="2400" dirty="0" smtClean="0">
                <a:latin typeface="Times New Roman" pitchFamily="18" charset="0"/>
              </a:rPr>
              <a:t>©</a:t>
            </a:r>
            <a:endParaRPr lang="en-US" altLang="zh-TW" sz="2400" dirty="0" smtClean="0"/>
          </a:p>
          <a:p>
            <a:pPr lvl="1" eaLnBrk="1" hangingPunct="1">
              <a:lnSpc>
                <a:spcPct val="80000"/>
              </a:lnSpc>
            </a:pPr>
            <a:r>
              <a:rPr lang="en-US" altLang="zh-TW" sz="2000" dirty="0" smtClean="0"/>
              <a:t>providing useful work for execution units that would otherwise be idle, for example during a </a:t>
            </a:r>
            <a:r>
              <a:rPr lang="en-US" altLang="zh-TW" sz="20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cache miss</a:t>
            </a:r>
            <a:r>
              <a:rPr lang="en-US" altLang="zh-TW" sz="2000" dirty="0" smtClean="0">
                <a:solidFill>
                  <a:srgbClr val="FF0000"/>
                </a:solidFill>
              </a:rPr>
              <a:t>, or</a:t>
            </a:r>
            <a:r>
              <a:rPr lang="en-US" altLang="zh-TW" sz="2000" dirty="0" smtClean="0"/>
              <a:t> </a:t>
            </a:r>
            <a:r>
              <a:rPr lang="en-US" altLang="zh-TW" sz="2000" dirty="0" smtClean="0">
                <a:solidFill>
                  <a:srgbClr val="FF0000"/>
                </a:solidFill>
              </a:rPr>
              <a:t>branch </a:t>
            </a:r>
            <a:r>
              <a:rPr lang="en-US" altLang="zh-TW" sz="2000" dirty="0" err="1" smtClean="0">
                <a:solidFill>
                  <a:srgbClr val="FF0000"/>
                </a:solidFill>
              </a:rPr>
              <a:t>misprediction</a:t>
            </a:r>
            <a:r>
              <a:rPr lang="en-US" altLang="zh-TW" sz="2000" dirty="0" smtClean="0"/>
              <a:t>.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TW" sz="2400" dirty="0" smtClean="0">
                <a:solidFill>
                  <a:srgbClr val="0000FF"/>
                </a:solidFill>
              </a:rPr>
              <a:t>SMP</a:t>
            </a:r>
            <a:r>
              <a:rPr lang="en-US" altLang="zh-TW" sz="2400" dirty="0" smtClean="0"/>
              <a:t>: Allow several threads to run concurrently by providing multiple physical processors (PPs).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TW" sz="2400" dirty="0" smtClean="0">
                <a:solidFill>
                  <a:srgbClr val="FF0000"/>
                </a:solidFill>
              </a:rPr>
              <a:t>SMT</a:t>
            </a:r>
            <a:r>
              <a:rPr lang="en-US" altLang="zh-TW" sz="2400" dirty="0" smtClean="0"/>
              <a:t>: </a:t>
            </a:r>
            <a:r>
              <a:rPr lang="en-US" altLang="zh-TW" sz="2400" dirty="0" smtClean="0">
                <a:latin typeface="Times New Roman" pitchFamily="18" charset="0"/>
              </a:rPr>
              <a:t>…</a:t>
            </a:r>
            <a:r>
              <a:rPr lang="en-US" altLang="zh-TW" sz="2400" dirty="0" smtClean="0"/>
              <a:t> providing multiple </a:t>
            </a:r>
            <a:r>
              <a:rPr lang="en-US" altLang="zh-TW" sz="2400" i="1" dirty="0" smtClean="0">
                <a:solidFill>
                  <a:srgbClr val="FF0000"/>
                </a:solidFill>
                <a:latin typeface="Times New Roman" pitchFamily="18" charset="0"/>
              </a:rPr>
              <a:t>logical</a:t>
            </a:r>
            <a:r>
              <a:rPr lang="en-US" altLang="zh-TW" sz="2400" dirty="0" smtClean="0"/>
              <a:t> processors (LPs).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TW" sz="2400" dirty="0" smtClean="0"/>
              <a:t>Each LP has its own architecture state, including general-purpose and </a:t>
            </a:r>
            <a:r>
              <a:rPr lang="en-US" altLang="zh-TW" sz="2400" i="1" dirty="0" smtClean="0">
                <a:solidFill>
                  <a:srgbClr val="FF0000"/>
                </a:solidFill>
                <a:latin typeface="Times New Roman" pitchFamily="18" charset="0"/>
              </a:rPr>
              <a:t>machine-state</a:t>
            </a:r>
            <a:r>
              <a:rPr lang="en-US" altLang="zh-TW" sz="2400" dirty="0" smtClean="0"/>
              <a:t> registers. 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TW" sz="2000" dirty="0" smtClean="0"/>
              <a:t>LP is responsible for its own interrupt handling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TW" sz="2400" dirty="0" smtClean="0"/>
              <a:t>SMT is a feature provided by H/W (</a:t>
            </a:r>
            <a:r>
              <a:rPr lang="en-US" altLang="zh-TW" sz="2400" dirty="0" smtClean="0">
                <a:solidFill>
                  <a:srgbClr val="FF0000"/>
                </a:solidFill>
              </a:rPr>
              <a:t>state, interrupt handling</a:t>
            </a:r>
            <a:r>
              <a:rPr lang="en-US" altLang="zh-TW" sz="2400" dirty="0" smtClean="0"/>
              <a:t>), not S/W.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000" dirty="0" smtClean="0"/>
              <a:t>Certain performance gain are possible if OS is aware that.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000" dirty="0" smtClean="0"/>
              <a:t>e.g., Consider a system with two PPs, both are idle. The scheduler should first try scheduling separate threads on each PP rather than on separate LPs on the same PP.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zh-TW" sz="2400" dirty="0" smtClean="0"/>
          </a:p>
        </p:txBody>
      </p:sp>
      <p:sp>
        <p:nvSpPr>
          <p:cNvPr id="39942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ACEC50FC-D504-44C1-A330-78EBA7DEED1B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  <p:sp>
        <p:nvSpPr>
          <p:cNvPr id="2" name="矩形 1"/>
          <p:cNvSpPr/>
          <p:nvPr/>
        </p:nvSpPr>
        <p:spPr>
          <a:xfrm>
            <a:off x="7869865" y="543868"/>
            <a:ext cx="203613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  <a:sym typeface="Wingdings"/>
              </a:rPr>
              <a:t> </a:t>
            </a:r>
            <a:r>
              <a:rPr lang="en-US" altLang="zh-TW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cache miss</a:t>
            </a:r>
          </a:p>
          <a:p>
            <a:r>
              <a:rPr lang="en-US" altLang="zh-TW" dirty="0">
                <a:solidFill>
                  <a:srgbClr val="0000FF"/>
                </a:solidFill>
                <a:latin typeface="Adobe Gothic Std B" pitchFamily="34" charset="-128"/>
              </a:rPr>
              <a:t>memory stall</a:t>
            </a:r>
            <a:endParaRPr lang="zh-TW" altLang="en-US" dirty="0">
              <a:solidFill>
                <a:srgbClr val="0000FF"/>
              </a:solidFill>
              <a:latin typeface="Adobe Gothic Std B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40963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018F715-D640-4EE0-A8EE-E1B327A67533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kumimoji="0" lang="en-US" altLang="zh-TW" sz="1400" smtClean="0"/>
          </a:p>
        </p:txBody>
      </p:sp>
      <p:sp>
        <p:nvSpPr>
          <p:cNvPr id="40964" name="Rectangle 2"/>
          <p:cNvSpPr>
            <a:spLocks noGrp="1" noChangeArrowheads="1"/>
          </p:cNvSpPr>
          <p:nvPr>
            <p:ph type="title"/>
          </p:nvPr>
        </p:nvSpPr>
        <p:spPr>
          <a:xfrm>
            <a:off x="622300" y="327025"/>
            <a:ext cx="8420100" cy="701675"/>
          </a:xfrm>
        </p:spPr>
        <p:txBody>
          <a:bodyPr/>
          <a:lstStyle/>
          <a:p>
            <a:pPr eaLnBrk="1" hangingPunct="1"/>
            <a:r>
              <a:rPr lang="en-US" altLang="zh-TW" dirty="0" smtClean="0"/>
              <a:t>NUMA and CPU Scheduling</a:t>
            </a:r>
          </a:p>
        </p:txBody>
      </p:sp>
      <p:sp>
        <p:nvSpPr>
          <p:cNvPr id="26624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93700" y="984250"/>
            <a:ext cx="8991600" cy="24066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dirty="0" smtClean="0"/>
              <a:t>NUMA (non-uniform memory access):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 smtClean="0"/>
              <a:t>occurs in systems containing combined CPU and memory boards.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 smtClean="0"/>
              <a:t>(</a:t>
            </a:r>
            <a:r>
              <a:rPr lang="en-US" altLang="zh-TW" sz="2400" dirty="0" smtClean="0">
                <a:solidFill>
                  <a:srgbClr val="0000FF"/>
                </a:solidFill>
              </a:rPr>
              <a:t>CPU scheduler and memory-placement works together</a:t>
            </a:r>
            <a:r>
              <a:rPr lang="en-US" altLang="zh-TW" sz="2400" dirty="0" smtClean="0"/>
              <a:t>) A process (assigned affinity to a CPU) can be allocated memory on the board where that CPU resides.</a:t>
            </a:r>
          </a:p>
        </p:txBody>
      </p:sp>
      <p:pic>
        <p:nvPicPr>
          <p:cNvPr id="266245" name="Picture 4" descr="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6725" y="3479800"/>
            <a:ext cx="5137150" cy="274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46" name="Text Box 6"/>
          <p:cNvSpPr txBox="1">
            <a:spLocks noChangeArrowheads="1"/>
          </p:cNvSpPr>
          <p:nvPr/>
        </p:nvSpPr>
        <p:spPr bwMode="auto">
          <a:xfrm>
            <a:off x="7026275" y="4095750"/>
            <a:ext cx="276066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dirty="0" err="1">
                <a:solidFill>
                  <a:srgbClr val="FF0000"/>
                </a:solidFill>
              </a:rPr>
              <a:t>SoC</a:t>
            </a:r>
            <a:endParaRPr lang="en-US" altLang="zh-TW" sz="2000" dirty="0">
              <a:solidFill>
                <a:srgbClr val="FF00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dirty="0" err="1">
                <a:solidFill>
                  <a:srgbClr val="FF0000"/>
                </a:solidFill>
              </a:rPr>
              <a:t>SiP</a:t>
            </a:r>
            <a:r>
              <a:rPr lang="en-US" altLang="zh-TW" sz="2000" dirty="0">
                <a:solidFill>
                  <a:srgbClr val="FF0000"/>
                </a:solidFill>
              </a:rPr>
              <a:t>: system in package</a:t>
            </a:r>
          </a:p>
        </p:txBody>
      </p:sp>
      <p:sp>
        <p:nvSpPr>
          <p:cNvPr id="40968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5260DE27-FBCD-44F7-90B3-171141BFCC30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  <p:sp>
        <p:nvSpPr>
          <p:cNvPr id="9" name="矩形 8"/>
          <p:cNvSpPr/>
          <p:nvPr/>
        </p:nvSpPr>
        <p:spPr>
          <a:xfrm>
            <a:off x="7577765" y="0"/>
            <a:ext cx="1984839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  <a:sym typeface="Wingdings"/>
              </a:rPr>
              <a:t> </a:t>
            </a:r>
            <a:r>
              <a:rPr lang="en-US" altLang="zh-TW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scheduler</a:t>
            </a:r>
          </a:p>
          <a:p>
            <a:r>
              <a:rPr lang="en-US" altLang="zh-TW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and memory</a:t>
            </a:r>
          </a:p>
          <a:p>
            <a:r>
              <a:rPr lang="en-US" altLang="zh-TW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placement</a:t>
            </a:r>
            <a:endParaRPr lang="en-US" altLang="zh-TW" dirty="0" smtClean="0">
              <a:solidFill>
                <a:srgbClr val="0000FF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6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66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66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6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66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4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41987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53A7125-EAA3-4B31-9A09-9ADB865EC08C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kumimoji="0" lang="en-US" altLang="zh-TW" sz="1400" smtClean="0"/>
          </a:p>
        </p:txBody>
      </p:sp>
      <p:sp>
        <p:nvSpPr>
          <p:cNvPr id="41988" name="Title 1"/>
          <p:cNvSpPr>
            <a:spLocks noGrp="1"/>
          </p:cNvSpPr>
          <p:nvPr>
            <p:ph type="title" idx="4294967295"/>
          </p:nvPr>
        </p:nvSpPr>
        <p:spPr>
          <a:xfrm>
            <a:off x="660400" y="304800"/>
            <a:ext cx="8420100" cy="655638"/>
          </a:xfrm>
        </p:spPr>
        <p:txBody>
          <a:bodyPr/>
          <a:lstStyle/>
          <a:p>
            <a:pPr eaLnBrk="1" hangingPunct="1"/>
            <a:r>
              <a:rPr lang="en-US" altLang="zh-TW" dirty="0" smtClean="0"/>
              <a:t>Load Balancing</a:t>
            </a:r>
          </a:p>
        </p:txBody>
      </p:sp>
      <p:sp>
        <p:nvSpPr>
          <p:cNvPr id="418819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527050" y="1058863"/>
            <a:ext cx="8785225" cy="5091112"/>
          </a:xfrm>
        </p:spPr>
        <p:txBody>
          <a:bodyPr/>
          <a:lstStyle/>
          <a:p>
            <a:pPr eaLnBrk="1" hangingPunct="1"/>
            <a:r>
              <a:rPr lang="en-US" altLang="zh-TW" dirty="0" smtClean="0"/>
              <a:t>Keep the workload evenly distributed across all PEs (</a:t>
            </a:r>
            <a:r>
              <a:rPr lang="en-US" altLang="zh-TW" dirty="0" smtClean="0">
                <a:solidFill>
                  <a:srgbClr val="0000FF"/>
                </a:solidFill>
              </a:rPr>
              <a:t>Processing Elements</a:t>
            </a:r>
            <a:r>
              <a:rPr lang="en-US" altLang="zh-TW" dirty="0" smtClean="0"/>
              <a:t>).</a:t>
            </a:r>
          </a:p>
          <a:p>
            <a:pPr lvl="1" eaLnBrk="1" hangingPunct="1"/>
            <a:r>
              <a:rPr lang="en-US" altLang="zh-TW" sz="2400" dirty="0" smtClean="0"/>
              <a:t>Only necessary on systems where each PE has its own private queue of eligible processes to execute.</a:t>
            </a:r>
          </a:p>
          <a:p>
            <a:pPr eaLnBrk="1" hangingPunct="1"/>
            <a:r>
              <a:rPr lang="en-US" altLang="zh-TW" b="1" dirty="0" smtClean="0">
                <a:solidFill>
                  <a:srgbClr val="FF0066"/>
                </a:solidFill>
              </a:rPr>
              <a:t>Two strategies:</a:t>
            </a:r>
            <a:r>
              <a:rPr lang="en-US" altLang="zh-TW" dirty="0" smtClean="0">
                <a:solidFill>
                  <a:srgbClr val="FF0066"/>
                </a:solidFill>
              </a:rPr>
              <a:t> </a:t>
            </a:r>
            <a:r>
              <a:rPr lang="en-US" altLang="zh-TW" sz="2800" dirty="0" smtClean="0">
                <a:solidFill>
                  <a:srgbClr val="000000"/>
                </a:solidFill>
              </a:rPr>
              <a:t>Push migration, Pull migration</a:t>
            </a:r>
          </a:p>
          <a:p>
            <a:pPr lvl="1" eaLnBrk="1" hangingPunct="1"/>
            <a:r>
              <a:rPr lang="en-US" altLang="zh-TW" sz="2400" dirty="0" smtClean="0">
                <a:solidFill>
                  <a:srgbClr val="000000"/>
                </a:solidFill>
              </a:rPr>
              <a:t>Push: move (push) processes from overloaded to idle or less-busy</a:t>
            </a:r>
          </a:p>
          <a:p>
            <a:pPr lvl="1" eaLnBrk="1" hangingPunct="1"/>
            <a:r>
              <a:rPr lang="en-US" altLang="zh-TW" sz="2400" dirty="0" smtClean="0">
                <a:solidFill>
                  <a:srgbClr val="000000"/>
                </a:solidFill>
              </a:rPr>
              <a:t>Pull: idle PE pulls a waiting task from a busy PE</a:t>
            </a:r>
          </a:p>
          <a:p>
            <a:pPr lvl="1" eaLnBrk="1" hangingPunct="1"/>
            <a:r>
              <a:rPr lang="en-US" altLang="zh-TW" sz="2400" dirty="0" smtClean="0">
                <a:solidFill>
                  <a:srgbClr val="000000"/>
                </a:solidFill>
              </a:rPr>
              <a:t>Often implemented in parallel </a:t>
            </a:r>
          </a:p>
          <a:p>
            <a:pPr eaLnBrk="1" hangingPunct="1"/>
            <a:r>
              <a:rPr lang="en-US" altLang="zh-TW" dirty="0" smtClean="0">
                <a:solidFill>
                  <a:srgbClr val="FF0000"/>
                </a:solidFill>
              </a:rPr>
              <a:t>Load balancing often counteracts the benefits of processor affinity.</a:t>
            </a:r>
          </a:p>
        </p:txBody>
      </p:sp>
      <p:sp>
        <p:nvSpPr>
          <p:cNvPr id="41990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6FEF951C-C0F2-42B1-B91E-7E1AFF810159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  <p:sp>
        <p:nvSpPr>
          <p:cNvPr id="7" name="矩形 6"/>
          <p:cNvSpPr/>
          <p:nvPr/>
        </p:nvSpPr>
        <p:spPr>
          <a:xfrm>
            <a:off x="7207825" y="0"/>
            <a:ext cx="26212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  <a:sym typeface="Wingdings"/>
              </a:rPr>
              <a:t></a:t>
            </a:r>
            <a:r>
              <a:rPr lang="en-US" altLang="zh-TW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  <a:sym typeface="Wingdings"/>
              </a:rPr>
              <a:t> l</a:t>
            </a:r>
            <a:r>
              <a:rPr lang="en-US" altLang="zh-TW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oad balancing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8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8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18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18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18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18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4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43011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4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4FCF1E9-1AB9-45C9-8B58-22FBFB6E9E3B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kumimoji="0" lang="en-US" altLang="zh-TW" sz="1400" smtClean="0"/>
          </a:p>
        </p:txBody>
      </p:sp>
      <p:sp>
        <p:nvSpPr>
          <p:cNvPr id="43012" name="Title 1"/>
          <p:cNvSpPr>
            <a:spLocks noGrp="1"/>
          </p:cNvSpPr>
          <p:nvPr>
            <p:ph type="title" idx="4294967295"/>
          </p:nvPr>
        </p:nvSpPr>
        <p:spPr>
          <a:xfrm>
            <a:off x="660400" y="304800"/>
            <a:ext cx="8420100" cy="677863"/>
          </a:xfrm>
        </p:spPr>
        <p:txBody>
          <a:bodyPr/>
          <a:lstStyle/>
          <a:p>
            <a:pPr eaLnBrk="1" hangingPunct="1"/>
            <a:r>
              <a:rPr lang="en-US" altLang="zh-TW" smtClean="0"/>
              <a:t>Multicore Processors (1)</a:t>
            </a:r>
          </a:p>
        </p:txBody>
      </p:sp>
      <p:sp>
        <p:nvSpPr>
          <p:cNvPr id="423939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344488" y="936625"/>
            <a:ext cx="8983662" cy="3094038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800" dirty="0" smtClean="0"/>
              <a:t>Faster and consume less power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800" dirty="0" smtClean="0">
                <a:solidFill>
                  <a:srgbClr val="FF0000"/>
                </a:solidFill>
              </a:rPr>
              <a:t>memory stall</a:t>
            </a:r>
            <a:r>
              <a:rPr lang="en-US" altLang="zh-TW" sz="2800" dirty="0" smtClean="0"/>
              <a:t>: </a:t>
            </a:r>
            <a:r>
              <a:rPr lang="en-US" altLang="zh-TW" sz="2400" dirty="0" smtClean="0"/>
              <a:t>When access memory, it spends a significant amount of time waiting for the data become available. (e.g. cache miss) 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800" dirty="0" smtClean="0">
                <a:solidFill>
                  <a:srgbClr val="0000FF"/>
                </a:solidFill>
              </a:rPr>
              <a:t>Multi-threaded multicore systems</a:t>
            </a:r>
            <a:r>
              <a:rPr lang="en-US" altLang="zh-TW" sz="2800" dirty="0" smtClean="0"/>
              <a:t>: two (or more) hardware threads are assigned to each core</a:t>
            </a:r>
            <a:r>
              <a:rPr lang="en-US" altLang="zh-TW" dirty="0" smtClean="0"/>
              <a:t> </a:t>
            </a:r>
          </a:p>
        </p:txBody>
      </p:sp>
      <p:pic>
        <p:nvPicPr>
          <p:cNvPr id="423940" name="Picture 4" descr="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50" y="4048125"/>
            <a:ext cx="4892675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3941" name="Picture 5" descr="fg5_11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513" y="5245100"/>
            <a:ext cx="5143500" cy="1255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23942" name="Rectangle 6"/>
          <p:cNvSpPr>
            <a:spLocks noChangeArrowheads="1"/>
          </p:cNvSpPr>
          <p:nvPr/>
        </p:nvSpPr>
        <p:spPr bwMode="auto">
          <a:xfrm>
            <a:off x="6369050" y="5164138"/>
            <a:ext cx="353695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4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</a:rPr>
              <a:t>Takes advantage of memory stall to make progress on another thread while memory retrieve happens.</a:t>
            </a:r>
          </a:p>
        </p:txBody>
      </p:sp>
      <p:sp>
        <p:nvSpPr>
          <p:cNvPr id="43017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8A8ED7D5-0EB1-4DE8-8F7B-6DEA8A4FDE4A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3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23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3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23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239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239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23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394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4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44035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4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ED0E5B0-D662-4E64-9C8F-124DD5B899BC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kumimoji="0" lang="en-US" altLang="zh-TW" sz="1400" smtClean="0"/>
          </a:p>
        </p:txBody>
      </p:sp>
      <p:sp>
        <p:nvSpPr>
          <p:cNvPr id="44036" name="Title 1"/>
          <p:cNvSpPr>
            <a:spLocks noGrp="1"/>
          </p:cNvSpPr>
          <p:nvPr>
            <p:ph type="title" idx="4294967295"/>
          </p:nvPr>
        </p:nvSpPr>
        <p:spPr>
          <a:xfrm>
            <a:off x="660400" y="304800"/>
            <a:ext cx="8420100" cy="792163"/>
          </a:xfrm>
        </p:spPr>
        <p:txBody>
          <a:bodyPr/>
          <a:lstStyle/>
          <a:p>
            <a:pPr eaLnBrk="1" hangingPunct="1"/>
            <a:r>
              <a:rPr lang="en-US" altLang="zh-TW" dirty="0" smtClean="0"/>
              <a:t>Multicore Processors(2)</a:t>
            </a:r>
          </a:p>
        </p:txBody>
      </p:sp>
      <p:sp>
        <p:nvSpPr>
          <p:cNvPr id="425987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344488" y="1096963"/>
            <a:ext cx="8999537" cy="5029200"/>
          </a:xfrm>
        </p:spPr>
        <p:txBody>
          <a:bodyPr/>
          <a:lstStyle/>
          <a:p>
            <a:pPr lvl="1" eaLnBrk="1" hangingPunct="1">
              <a:spcBef>
                <a:spcPct val="60000"/>
              </a:spcBef>
              <a:defRPr/>
            </a:pPr>
            <a:r>
              <a:rPr lang="en-US" altLang="zh-TW" sz="2400" dirty="0" err="1" smtClean="0"/>
              <a:t>UltraSPARC</a:t>
            </a:r>
            <a:r>
              <a:rPr lang="en-US" altLang="zh-TW" sz="2400" dirty="0" smtClean="0"/>
              <a:t> T1: </a:t>
            </a:r>
            <a:r>
              <a:rPr lang="en-US" altLang="zh-TW" sz="2400" dirty="0" smtClean="0">
                <a:solidFill>
                  <a:srgbClr val="FF0000"/>
                </a:solidFill>
              </a:rPr>
              <a:t>8 cores per chip</a:t>
            </a:r>
            <a:r>
              <a:rPr lang="en-US" altLang="zh-TW" sz="2400" dirty="0" smtClean="0"/>
              <a:t> and </a:t>
            </a:r>
            <a:r>
              <a:rPr lang="en-US" altLang="zh-TW" sz="2400" dirty="0" smtClean="0">
                <a:solidFill>
                  <a:srgbClr val="FF0000"/>
                </a:solidFill>
              </a:rPr>
              <a:t>4 hardware threads per core</a:t>
            </a:r>
            <a:r>
              <a:rPr lang="en-US" altLang="zh-TW" sz="2400" dirty="0" smtClean="0"/>
              <a:t>, </a:t>
            </a:r>
            <a:r>
              <a:rPr lang="en-US" altLang="zh-TW" sz="2400" dirty="0" smtClean="0">
                <a:solidFill>
                  <a:srgbClr val="0000FF"/>
                </a:solidFill>
              </a:rPr>
              <a:t>from the perspective of the OS</a:t>
            </a:r>
            <a:r>
              <a:rPr lang="en-US" altLang="zh-TW" sz="2400" dirty="0" smtClean="0"/>
              <a:t>, </a:t>
            </a:r>
            <a:r>
              <a:rPr lang="en-US" altLang="zh-TW" sz="24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32 logical processors</a:t>
            </a:r>
            <a:r>
              <a:rPr lang="en-US" altLang="zh-TW" sz="2400" dirty="0" smtClean="0"/>
              <a:t>.  </a:t>
            </a:r>
            <a:endParaRPr lang="en-US" altLang="zh-TW" sz="2400" dirty="0" smtClean="0">
              <a:solidFill>
                <a:schemeClr val="tx2"/>
              </a:solidFill>
            </a:endParaRPr>
          </a:p>
          <a:p>
            <a:pPr eaLnBrk="1" hangingPunct="1">
              <a:spcBef>
                <a:spcPct val="60000"/>
              </a:spcBef>
              <a:defRPr/>
            </a:pPr>
            <a:r>
              <a:rPr lang="en-US" altLang="zh-TW" sz="2800" dirty="0" smtClean="0">
                <a:solidFill>
                  <a:srgbClr val="0000FF"/>
                </a:solidFill>
              </a:rPr>
              <a:t>Two ways to multithread a PE: coarse-grained and fine-grained</a:t>
            </a:r>
            <a:r>
              <a:rPr lang="en-US" altLang="zh-TW" sz="2800" dirty="0" smtClean="0"/>
              <a:t> </a:t>
            </a:r>
          </a:p>
          <a:p>
            <a:pPr lvl="1" eaLnBrk="1" hangingPunct="1">
              <a:spcBef>
                <a:spcPct val="60000"/>
              </a:spcBef>
              <a:defRPr/>
            </a:pPr>
            <a:r>
              <a:rPr lang="en-US" altLang="zh-TW" sz="2400" dirty="0" smtClean="0"/>
              <a:t>coarse-grained: </a:t>
            </a:r>
            <a:r>
              <a:rPr lang="en-US" altLang="zh-TW" sz="2400" dirty="0" smtClean="0">
                <a:solidFill>
                  <a:srgbClr val="FF0000"/>
                </a:solidFill>
              </a:rPr>
              <a:t>switch to another thread when a memory stall occurs</a:t>
            </a:r>
            <a:r>
              <a:rPr lang="en-US" altLang="zh-TW" sz="2400" dirty="0" smtClean="0"/>
              <a:t>. The cost is high as the instruction pipeline must be flushed.</a:t>
            </a:r>
          </a:p>
          <a:p>
            <a:pPr lvl="1" eaLnBrk="1" hangingPunct="1">
              <a:spcBef>
                <a:spcPct val="60000"/>
              </a:spcBef>
              <a:defRPr/>
            </a:pPr>
            <a:r>
              <a:rPr lang="en-US" altLang="zh-TW" sz="2400" dirty="0" smtClean="0"/>
              <a:t>fine-grained (</a:t>
            </a:r>
            <a:r>
              <a:rPr lang="en-US" altLang="zh-TW" sz="2400" dirty="0" smtClean="0">
                <a:solidFill>
                  <a:srgbClr val="0000FF"/>
                </a:solidFill>
              </a:rPr>
              <a:t>interleaved</a:t>
            </a:r>
            <a:r>
              <a:rPr lang="en-US" altLang="zh-TW" sz="2400" dirty="0" smtClean="0"/>
              <a:t>): </a:t>
            </a:r>
            <a:r>
              <a:rPr lang="en-US" altLang="zh-TW" sz="2400" dirty="0" smtClean="0">
                <a:solidFill>
                  <a:srgbClr val="FF0000"/>
                </a:solidFill>
              </a:rPr>
              <a:t>switch between threads at the boundary of an instruction cycle</a:t>
            </a:r>
            <a:r>
              <a:rPr lang="en-US" altLang="zh-TW" sz="2400" dirty="0" smtClean="0"/>
              <a:t>. The architecture design includes logic for thread switching </a:t>
            </a:r>
            <a:r>
              <a:rPr lang="en-US" altLang="zh-TW" sz="2400" dirty="0" smtClean="0">
                <a:latin typeface="Times New Roman"/>
              </a:rPr>
              <a:t>–</a:t>
            </a:r>
            <a:r>
              <a:rPr lang="en-US" altLang="zh-TW" sz="2400" dirty="0" smtClean="0"/>
              <a:t> cost is low.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zh-TW" dirty="0" smtClean="0"/>
              <a:t> </a:t>
            </a:r>
          </a:p>
        </p:txBody>
      </p:sp>
      <p:sp>
        <p:nvSpPr>
          <p:cNvPr id="425988" name="Text Box 4"/>
          <p:cNvSpPr txBox="1">
            <a:spLocks noChangeArrowheads="1"/>
          </p:cNvSpPr>
          <p:nvPr/>
        </p:nvSpPr>
        <p:spPr bwMode="auto">
          <a:xfrm>
            <a:off x="3581400" y="1987550"/>
            <a:ext cx="5459413" cy="409575"/>
          </a:xfrm>
          <a:prstGeom prst="rect">
            <a:avLst/>
          </a:prstGeom>
          <a:noFill/>
          <a:ln w="12699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20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OS View: Hardware thread = Logical processor</a:t>
            </a:r>
          </a:p>
        </p:txBody>
      </p:sp>
      <p:pic>
        <p:nvPicPr>
          <p:cNvPr id="425992" name="Picture 8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6350" y="78053"/>
            <a:ext cx="2279650" cy="1150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4040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648F90D7-AE35-4D2F-9B25-85CEBF07D862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  <p:sp>
        <p:nvSpPr>
          <p:cNvPr id="9" name="矩形 8"/>
          <p:cNvSpPr/>
          <p:nvPr/>
        </p:nvSpPr>
        <p:spPr>
          <a:xfrm>
            <a:off x="0" y="-1"/>
            <a:ext cx="27847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  <a:sym typeface="Wingdings"/>
              </a:rPr>
              <a:t> </a:t>
            </a:r>
            <a:r>
              <a:rPr lang="en-US" altLang="zh-TW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multithread PEs</a:t>
            </a:r>
          </a:p>
        </p:txBody>
      </p:sp>
      <p:pic>
        <p:nvPicPr>
          <p:cNvPr id="10" name="Picture 5" descr="fg5_11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783" y="6013451"/>
            <a:ext cx="4109592" cy="1003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5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25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25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25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45059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A3ECD2E-0AA2-4D4B-A65A-9B4E7FA5E261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kumimoji="0" lang="en-US" altLang="zh-TW" sz="1400" smtClean="0"/>
          </a:p>
        </p:txBody>
      </p:sp>
      <p:sp>
        <p:nvSpPr>
          <p:cNvPr id="45060" name="Title 1"/>
          <p:cNvSpPr>
            <a:spLocks noGrp="1"/>
          </p:cNvSpPr>
          <p:nvPr>
            <p:ph type="title" idx="4294967295"/>
          </p:nvPr>
        </p:nvSpPr>
        <p:spPr>
          <a:xfrm>
            <a:off x="660400" y="304800"/>
            <a:ext cx="8420100" cy="792163"/>
          </a:xfrm>
        </p:spPr>
        <p:txBody>
          <a:bodyPr/>
          <a:lstStyle/>
          <a:p>
            <a:pPr eaLnBrk="1" hangingPunct="1"/>
            <a:r>
              <a:rPr lang="en-US" altLang="zh-TW" smtClean="0"/>
              <a:t>Multicore Processors (3)</a:t>
            </a:r>
          </a:p>
        </p:txBody>
      </p:sp>
      <p:sp>
        <p:nvSpPr>
          <p:cNvPr id="428035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344488" y="1096963"/>
            <a:ext cx="8999537" cy="50292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400" dirty="0" smtClean="0">
                <a:solidFill>
                  <a:srgbClr val="0000FF"/>
                </a:solidFill>
              </a:rPr>
              <a:t>Scheduling </a:t>
            </a:r>
            <a:r>
              <a:rPr lang="en-US" altLang="zh-TW" sz="2400" dirty="0" smtClean="0"/>
              <a:t>for </a:t>
            </a:r>
            <a:r>
              <a:rPr lang="en-US" altLang="zh-TW" sz="2400" dirty="0" smtClean="0">
                <a:solidFill>
                  <a:srgbClr val="0000FF"/>
                </a:solidFill>
              </a:rPr>
              <a:t>Multi-threaded multicore systems </a:t>
            </a:r>
            <a:endParaRPr lang="en-US" altLang="zh-TW" sz="2400" dirty="0" smtClean="0"/>
          </a:p>
          <a:p>
            <a:pPr lvl="1" eaLnBrk="1" hangingPunct="1">
              <a:spcBef>
                <a:spcPct val="60000"/>
              </a:spcBef>
            </a:pPr>
            <a:r>
              <a:rPr lang="en-US" altLang="zh-TW" sz="2000" dirty="0" smtClean="0"/>
              <a:t>1st level: Choose which </a:t>
            </a:r>
            <a:r>
              <a:rPr lang="en-US" altLang="zh-TW" sz="2000" dirty="0" smtClean="0">
                <a:solidFill>
                  <a:srgbClr val="FF0000"/>
                </a:solidFill>
              </a:rPr>
              <a:t>software thread</a:t>
            </a:r>
            <a:r>
              <a:rPr lang="en-US" altLang="zh-TW" sz="2000" dirty="0" smtClean="0"/>
              <a:t> to run on each </a:t>
            </a:r>
            <a:r>
              <a:rPr lang="en-US" altLang="zh-TW" sz="2000" dirty="0" smtClean="0">
                <a:solidFill>
                  <a:srgbClr val="FF0000"/>
                </a:solidFill>
              </a:rPr>
              <a:t>hardware thread</a:t>
            </a:r>
            <a:r>
              <a:rPr lang="en-US" altLang="zh-TW" sz="2000" dirty="0" smtClean="0"/>
              <a:t> (logical processor).</a:t>
            </a:r>
          </a:p>
          <a:p>
            <a:pPr lvl="1" eaLnBrk="1" hangingPunct="1">
              <a:spcBef>
                <a:spcPct val="60000"/>
              </a:spcBef>
            </a:pPr>
            <a:r>
              <a:rPr lang="en-US" altLang="zh-TW" sz="2000" dirty="0" smtClean="0"/>
              <a:t>2nd level: How each core decides </a:t>
            </a:r>
            <a:r>
              <a:rPr lang="en-US" altLang="zh-TW" sz="2000" dirty="0" smtClean="0">
                <a:solidFill>
                  <a:srgbClr val="FF0000"/>
                </a:solidFill>
              </a:rPr>
              <a:t>which hardware thread to run</a:t>
            </a:r>
            <a:r>
              <a:rPr lang="en-US" altLang="zh-TW" sz="2000" dirty="0" smtClean="0"/>
              <a:t>. 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400" dirty="0" err="1" smtClean="0"/>
              <a:t>UltraSPARC</a:t>
            </a:r>
            <a:r>
              <a:rPr lang="en-US" altLang="zh-TW" sz="2400" dirty="0" smtClean="0"/>
              <a:t> T1: a simple round-robin algorithm to schedule the 4 hardware threads to each core.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400" dirty="0" smtClean="0"/>
              <a:t>Intel Itanium (</a:t>
            </a:r>
            <a:r>
              <a:rPr lang="en-US" altLang="zh-TW" sz="2400" dirty="0" smtClean="0">
                <a:solidFill>
                  <a:srgbClr val="0000FF"/>
                </a:solidFill>
              </a:rPr>
              <a:t>dual-core processor with two hardware-managed threads per core</a:t>
            </a:r>
            <a:r>
              <a:rPr lang="en-US" altLang="zh-TW" sz="2400" dirty="0" smtClean="0"/>
              <a:t>):</a:t>
            </a:r>
          </a:p>
          <a:p>
            <a:pPr lvl="1" eaLnBrk="1" hangingPunct="1">
              <a:spcBef>
                <a:spcPct val="60000"/>
              </a:spcBef>
            </a:pPr>
            <a:r>
              <a:rPr lang="en-US" altLang="zh-TW" sz="2000" dirty="0" smtClean="0"/>
              <a:t>Assign each hardware thread with a dynamic </a:t>
            </a:r>
            <a:r>
              <a:rPr lang="en-US" altLang="zh-TW" sz="2000" b="1" i="1" dirty="0" smtClean="0">
                <a:solidFill>
                  <a:srgbClr val="FF0000"/>
                </a:solidFill>
                <a:latin typeface="Times New Roman" pitchFamily="18" charset="0"/>
              </a:rPr>
              <a:t>urgency</a:t>
            </a:r>
            <a:r>
              <a:rPr lang="en-US" altLang="zh-TW" sz="2000" dirty="0" smtClean="0"/>
              <a:t> (0~7)</a:t>
            </a:r>
          </a:p>
          <a:p>
            <a:pPr lvl="1" eaLnBrk="1" hangingPunct="1">
              <a:spcBef>
                <a:spcPct val="60000"/>
              </a:spcBef>
            </a:pPr>
            <a:r>
              <a:rPr lang="en-US" altLang="zh-TW" sz="2000" dirty="0" smtClean="0"/>
              <a:t>Identify 5 events that may trigger a thread switch. Compare the </a:t>
            </a:r>
            <a:r>
              <a:rPr lang="en-US" altLang="zh-TW" sz="2000" b="1" i="1" dirty="0" smtClean="0">
                <a:solidFill>
                  <a:srgbClr val="FF0000"/>
                </a:solidFill>
                <a:latin typeface="Times New Roman" pitchFamily="18" charset="0"/>
              </a:rPr>
              <a:t>urgency</a:t>
            </a:r>
            <a:r>
              <a:rPr lang="en-US" altLang="zh-TW" sz="2000" dirty="0" smtClean="0"/>
              <a:t> of 2 threads and selects the highest one when switch.</a:t>
            </a:r>
          </a:p>
        </p:txBody>
      </p:sp>
      <p:sp>
        <p:nvSpPr>
          <p:cNvPr id="45062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370BBB13-9CFD-4507-99DC-851B3F59CE26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8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28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28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28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28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28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8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8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46083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EA6B190-3CF3-49A2-AE96-EDBAB410AF0C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kumimoji="0" lang="en-US" altLang="zh-TW" sz="1400" smtClean="0"/>
          </a:p>
        </p:txBody>
      </p:sp>
      <p:sp>
        <p:nvSpPr>
          <p:cNvPr id="46084" name="Rectangle 2"/>
          <p:cNvSpPr>
            <a:spLocks noGrp="1" noChangeArrowheads="1"/>
          </p:cNvSpPr>
          <p:nvPr>
            <p:ph type="title"/>
          </p:nvPr>
        </p:nvSpPr>
        <p:spPr>
          <a:xfrm>
            <a:off x="569913" y="128588"/>
            <a:ext cx="8420100" cy="762000"/>
          </a:xfrm>
        </p:spPr>
        <p:txBody>
          <a:bodyPr/>
          <a:lstStyle/>
          <a:p>
            <a:pPr eaLnBrk="1" hangingPunct="1"/>
            <a:r>
              <a:rPr lang="en-US" altLang="zh-TW" smtClean="0"/>
              <a:t>Virtualization and Scheduling</a:t>
            </a:r>
          </a:p>
        </p:txBody>
      </p:sp>
      <p:sp>
        <p:nvSpPr>
          <p:cNvPr id="41677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93700" y="839788"/>
            <a:ext cx="9105900" cy="5256212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800" dirty="0" smtClean="0"/>
              <a:t>Even a single-CPU system, frequently </a:t>
            </a:r>
            <a:r>
              <a:rPr lang="en-US" altLang="zh-TW" sz="2800" dirty="0" smtClean="0">
                <a:solidFill>
                  <a:srgbClr val="FF0000"/>
                </a:solidFill>
              </a:rPr>
              <a:t>acts like a multiprocessor system</a:t>
            </a:r>
            <a:r>
              <a:rPr lang="en-US" altLang="zh-TW" sz="2800" dirty="0" smtClean="0"/>
              <a:t>. The virtualization software presents one or more virtual CPUs to each of the VM running on the system and then schedules the use of the physical CPUs among VMs.</a:t>
            </a:r>
          </a:p>
          <a:p>
            <a:pPr eaLnBrk="1" hangingPunct="1"/>
            <a:r>
              <a:rPr lang="en-US" altLang="zh-TW" sz="2800" dirty="0" err="1" smtClean="0">
                <a:solidFill>
                  <a:srgbClr val="0000FF"/>
                </a:solidFill>
              </a:rPr>
              <a:t>Overcommitment</a:t>
            </a:r>
            <a:r>
              <a:rPr lang="en-US" altLang="zh-TW" dirty="0" smtClean="0"/>
              <a:t>:</a:t>
            </a:r>
            <a:r>
              <a:rPr lang="en-US" altLang="zh-TW" dirty="0" smtClean="0">
                <a:solidFill>
                  <a:srgbClr val="FF0000"/>
                </a:solidFill>
              </a:rPr>
              <a:t> </a:t>
            </a:r>
            <a:r>
              <a:rPr lang="en-US" altLang="zh-TW" sz="2800" dirty="0" smtClean="0"/>
              <a:t>the guests are configured for more CPUs than exist in the system. </a:t>
            </a:r>
          </a:p>
          <a:p>
            <a:pPr lvl="1" eaLnBrk="1" hangingPunct="1"/>
            <a:r>
              <a:rPr lang="en-US" altLang="zh-TW" sz="2400" dirty="0" smtClean="0"/>
              <a:t>The VMM (overhead) itself needs some CPU cycles for guest management and I/O.</a:t>
            </a:r>
          </a:p>
          <a:p>
            <a:pPr eaLnBrk="1" hangingPunct="1"/>
            <a:r>
              <a:rPr lang="en-US" altLang="zh-TW" sz="2800" dirty="0" smtClean="0">
                <a:solidFill>
                  <a:srgbClr val="0000FF"/>
                </a:solidFill>
              </a:rPr>
              <a:t>Fairness</a:t>
            </a:r>
            <a:r>
              <a:rPr lang="en-US" altLang="zh-TW" sz="2800" dirty="0" smtClean="0"/>
              <a:t>: </a:t>
            </a:r>
            <a:r>
              <a:rPr lang="en-US" altLang="zh-TW" sz="2400" dirty="0" smtClean="0"/>
              <a:t>if there are 6 hardware CPUs and 12 guest-allocated CPUs, the VMM could allocate CPU resources proportionally, giving each guest half of the CPU resources it believes it has.</a:t>
            </a:r>
          </a:p>
        </p:txBody>
      </p:sp>
      <p:sp>
        <p:nvSpPr>
          <p:cNvPr id="46086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0F4E0B-446C-460B-8547-57746A610D8E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3700" y="1"/>
            <a:ext cx="3162300" cy="318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47107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5257658-E1C7-49A1-B739-4280736C8D0E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44</a:t>
            </a:fld>
            <a:endParaRPr kumimoji="0" lang="en-US" altLang="zh-TW" sz="1400" smtClean="0"/>
          </a:p>
        </p:txBody>
      </p:sp>
      <p:sp>
        <p:nvSpPr>
          <p:cNvPr id="47108" name="Rectangle 2"/>
          <p:cNvSpPr>
            <a:spLocks noGrp="1" noChangeArrowheads="1"/>
          </p:cNvSpPr>
          <p:nvPr>
            <p:ph type="title"/>
          </p:nvPr>
        </p:nvSpPr>
        <p:spPr>
          <a:xfrm>
            <a:off x="569913" y="128588"/>
            <a:ext cx="8420100" cy="762000"/>
          </a:xfrm>
        </p:spPr>
        <p:txBody>
          <a:bodyPr/>
          <a:lstStyle/>
          <a:p>
            <a:pPr eaLnBrk="1" hangingPunct="1"/>
            <a:r>
              <a:rPr lang="en-US" altLang="zh-TW" dirty="0" smtClean="0"/>
              <a:t>Virtualization and Scheduling</a:t>
            </a:r>
          </a:p>
        </p:txBody>
      </p:sp>
      <p:sp>
        <p:nvSpPr>
          <p:cNvPr id="41677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93700" y="839788"/>
            <a:ext cx="9105900" cy="5256212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800" smtClean="0"/>
              <a:t>Difficult to summarize the effect of virtualization on scheduling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sz="2400" smtClean="0"/>
              <a:t>A given 100ms time slice may take much more than 100ms of virtual CPU time. Depending on how busy the system (host OS) is, the time slice may take a second or more.</a:t>
            </a:r>
          </a:p>
          <a:p>
            <a:pPr lvl="1" eaLnBrk="1" hangingPunct="1">
              <a:spcBef>
                <a:spcPct val="60000"/>
              </a:spcBef>
            </a:pPr>
            <a:r>
              <a:rPr lang="en-US" altLang="zh-TW" sz="2400" smtClean="0">
                <a:solidFill>
                  <a:srgbClr val="FF0000"/>
                </a:solidFill>
              </a:rPr>
              <a:t>The time-of-day clocks in virtual machine are incorrect because timers take longer to trigger.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800" smtClean="0"/>
              <a:t>To correct for this, a VMM will have an application available for each OS. This application </a:t>
            </a:r>
            <a:r>
              <a:rPr lang="en-US" altLang="zh-TW" sz="2800" smtClean="0">
                <a:solidFill>
                  <a:srgbClr val="FF0000"/>
                </a:solidFill>
              </a:rPr>
              <a:t>corrects clock drift </a:t>
            </a:r>
            <a:r>
              <a:rPr lang="en-US" altLang="zh-TW" sz="2800" smtClean="0"/>
              <a:t>and others.</a:t>
            </a:r>
          </a:p>
          <a:p>
            <a:pPr eaLnBrk="1" hangingPunct="1"/>
            <a:endParaRPr lang="en-US" altLang="zh-TW" smtClean="0">
              <a:solidFill>
                <a:srgbClr val="FF0000"/>
              </a:solidFill>
            </a:endParaRPr>
          </a:p>
        </p:txBody>
      </p:sp>
      <p:sp>
        <p:nvSpPr>
          <p:cNvPr id="47110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214C7462-81F6-4476-9CC8-F6177AB3610E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  <p:sp>
        <p:nvSpPr>
          <p:cNvPr id="2" name="矩形 1"/>
          <p:cNvSpPr/>
          <p:nvPr/>
        </p:nvSpPr>
        <p:spPr>
          <a:xfrm>
            <a:off x="0" y="5652006"/>
            <a:ext cx="9906000" cy="707886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20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How do VMMs schedule CPU </a:t>
            </a:r>
            <a:r>
              <a:rPr lang="en-US" altLang="zh-TW" sz="20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use when </a:t>
            </a:r>
            <a:r>
              <a:rPr lang="en-US" altLang="zh-TW" sz="20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guest </a:t>
            </a:r>
            <a:r>
              <a:rPr lang="en-US" altLang="zh-TW" sz="20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OSs believe </a:t>
            </a:r>
            <a:r>
              <a:rPr lang="en-US" altLang="zh-TW" sz="20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they have dedicated CPUs? </a:t>
            </a:r>
            <a:endParaRPr lang="en-US" altLang="zh-TW" sz="2000" dirty="0" smtClean="0">
              <a:solidFill>
                <a:srgbClr val="0000FF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r>
              <a:rPr lang="en-US" altLang="zh-TW" sz="20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How can MM </a:t>
            </a:r>
            <a:r>
              <a:rPr lang="en-US" altLang="zh-TW" sz="20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work when many guests require large amounts </a:t>
            </a:r>
            <a:r>
              <a:rPr lang="en-US" altLang="zh-TW" sz="20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of memory</a:t>
            </a:r>
            <a:r>
              <a:rPr lang="en-US" altLang="zh-TW" sz="20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?</a:t>
            </a:r>
            <a:endParaRPr lang="zh-TW" altLang="en-US" sz="2000" dirty="0">
              <a:solidFill>
                <a:srgbClr val="0000FF"/>
              </a:solidFill>
              <a:latin typeface="Adobe Gothic Std B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6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6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48131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C1FDCDB-0F09-4633-9EA7-6B9A47F60869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kumimoji="0" lang="en-US" altLang="zh-TW" sz="1400" smtClean="0"/>
          </a:p>
        </p:txBody>
      </p:sp>
      <p:sp>
        <p:nvSpPr>
          <p:cNvPr id="48132" name="Rectangle 2"/>
          <p:cNvSpPr>
            <a:spLocks noGrp="1" noChangeArrowheads="1"/>
          </p:cNvSpPr>
          <p:nvPr>
            <p:ph type="title"/>
          </p:nvPr>
        </p:nvSpPr>
        <p:spPr>
          <a:xfrm>
            <a:off x="633413" y="112713"/>
            <a:ext cx="8420100" cy="762000"/>
          </a:xfrm>
        </p:spPr>
        <p:txBody>
          <a:bodyPr/>
          <a:lstStyle/>
          <a:p>
            <a:pPr eaLnBrk="1" hangingPunct="1"/>
            <a:r>
              <a:rPr lang="en-US" altLang="zh-TW" smtClean="0"/>
              <a:t>Real-Time Scheduling (1)</a:t>
            </a:r>
          </a:p>
        </p:txBody>
      </p:sp>
      <p:sp>
        <p:nvSpPr>
          <p:cNvPr id="43008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85763" y="819150"/>
            <a:ext cx="8991600" cy="4887913"/>
          </a:xfrm>
        </p:spPr>
        <p:txBody>
          <a:bodyPr/>
          <a:lstStyle/>
          <a:p>
            <a:pPr eaLnBrk="1" hangingPunct="1"/>
            <a:r>
              <a:rPr lang="en-US" altLang="zh-TW" sz="2800" b="1" smtClean="0">
                <a:solidFill>
                  <a:srgbClr val="FF0066"/>
                </a:solidFill>
              </a:rPr>
              <a:t>Hard real-time</a:t>
            </a:r>
            <a:r>
              <a:rPr lang="en-US" altLang="zh-TW" sz="2800" smtClean="0"/>
              <a:t> systems </a:t>
            </a:r>
            <a:r>
              <a:rPr lang="en-US" altLang="zh-TW" sz="2800" smtClean="0">
                <a:latin typeface="Helvetica" pitchFamily="34" charset="0"/>
              </a:rPr>
              <a:t>–</a:t>
            </a:r>
            <a:r>
              <a:rPr lang="en-US" altLang="zh-TW" sz="2800" smtClean="0"/>
              <a:t> required to complete a critical task within a guaranteed amount of time</a:t>
            </a:r>
            <a:endParaRPr lang="en-US" altLang="zh-TW" sz="2800" b="1" i="1" smtClean="0">
              <a:solidFill>
                <a:srgbClr val="FF0066"/>
              </a:solidFill>
            </a:endParaRPr>
          </a:p>
          <a:p>
            <a:pPr lvl="1" eaLnBrk="1" hangingPunct="1"/>
            <a:r>
              <a:rPr lang="en-US" altLang="zh-TW" sz="2400" b="1" smtClean="0">
                <a:solidFill>
                  <a:srgbClr val="FF0066"/>
                </a:solidFill>
              </a:rPr>
              <a:t>Resource reservation</a:t>
            </a:r>
            <a:r>
              <a:rPr lang="en-US" altLang="zh-TW" sz="2400" smtClean="0"/>
              <a:t> is needed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TW" sz="2400" smtClean="0"/>
              <a:t>special purpose software on </a:t>
            </a:r>
            <a:r>
              <a:rPr lang="en-US" altLang="zh-TW" sz="2400" smtClean="0">
                <a:solidFill>
                  <a:srgbClr val="FF0066"/>
                </a:solidFill>
              </a:rPr>
              <a:t>dedicated HW</a:t>
            </a:r>
            <a:endParaRPr lang="en-US" altLang="zh-TW" sz="2400" b="1" smtClean="0">
              <a:solidFill>
                <a:srgbClr val="FF0066"/>
              </a:solidFill>
            </a:endParaRPr>
          </a:p>
          <a:p>
            <a:pPr eaLnBrk="1" hangingPunct="1"/>
            <a:r>
              <a:rPr lang="en-US" altLang="zh-TW" sz="2800" b="1" smtClean="0">
                <a:solidFill>
                  <a:srgbClr val="FF0066"/>
                </a:solidFill>
              </a:rPr>
              <a:t>Soft real-time</a:t>
            </a:r>
            <a:r>
              <a:rPr lang="en-US" altLang="zh-TW" sz="2800" smtClean="0"/>
              <a:t> computing </a:t>
            </a:r>
            <a:r>
              <a:rPr lang="en-US" altLang="zh-TW" sz="2800" smtClean="0">
                <a:latin typeface="Helvetica" pitchFamily="34" charset="0"/>
              </a:rPr>
              <a:t>–</a:t>
            </a:r>
            <a:r>
              <a:rPr lang="en-US" altLang="zh-TW" sz="2800" smtClean="0"/>
              <a:t> requires that critical processes receive priority over less fortunate ones</a:t>
            </a:r>
          </a:p>
        </p:txBody>
      </p:sp>
      <p:pic>
        <p:nvPicPr>
          <p:cNvPr id="6" name="Picture 1" descr="Screen Shot 2012-12-17 at 8.37.21 P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7188" y="3795713"/>
            <a:ext cx="6591300" cy="280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5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1F46426F-B7AA-4596-A7C4-B539B218DA92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  <p:sp>
        <p:nvSpPr>
          <p:cNvPr id="48136" name="動作按鈕: 終點 2">
            <a:hlinkClick r:id="rId5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9026525" y="4795838"/>
            <a:ext cx="425450" cy="403225"/>
          </a:xfrm>
          <a:prstGeom prst="actionButtonEnd">
            <a:avLst/>
          </a:prstGeom>
          <a:solidFill>
            <a:schemeClr val="accent1"/>
          </a:solidFill>
          <a:ln w="12699" algn="ctr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5797550" y="5835650"/>
            <a:ext cx="24209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1600">
                <a:solidFill>
                  <a:srgbClr val="FF0000"/>
                </a:solidFill>
              </a:rPr>
              <a:t>interrupt service routine</a:t>
            </a:r>
            <a:endParaRPr lang="zh-TW" altLang="en-US" sz="16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0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0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0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30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0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0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49155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FDE442B-6759-4EAC-BFB3-0E250E956912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46</a:t>
            </a:fld>
            <a:endParaRPr kumimoji="0" lang="en-US" altLang="zh-TW" sz="1400" smtClean="0"/>
          </a:p>
        </p:txBody>
      </p:sp>
      <p:sp>
        <p:nvSpPr>
          <p:cNvPr id="49156" name="Rectangle 2"/>
          <p:cNvSpPr>
            <a:spLocks noGrp="1" noChangeArrowheads="1"/>
          </p:cNvSpPr>
          <p:nvPr>
            <p:ph type="title"/>
          </p:nvPr>
        </p:nvSpPr>
        <p:spPr>
          <a:xfrm>
            <a:off x="641350" y="228600"/>
            <a:ext cx="8420100" cy="762000"/>
          </a:xfrm>
        </p:spPr>
        <p:txBody>
          <a:bodyPr/>
          <a:lstStyle/>
          <a:p>
            <a:pPr eaLnBrk="1" hangingPunct="1"/>
            <a:r>
              <a:rPr lang="en-US" altLang="zh-TW" smtClean="0"/>
              <a:t>Real-Time Scheduling (2)</a:t>
            </a:r>
          </a:p>
        </p:txBody>
      </p:sp>
      <p:sp>
        <p:nvSpPr>
          <p:cNvPr id="27238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31800" y="1009650"/>
            <a:ext cx="9144000" cy="5295900"/>
          </a:xfrm>
        </p:spPr>
        <p:txBody>
          <a:bodyPr/>
          <a:lstStyle/>
          <a:p>
            <a:pPr marL="533400" indent="-533400" algn="ctr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2600" dirty="0" smtClean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Scheduler for soft real-time system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zh-TW" sz="2600" dirty="0" smtClean="0">
                <a:solidFill>
                  <a:srgbClr val="FF0066"/>
                </a:solidFill>
              </a:rPr>
              <a:t>Priority scheduling</a:t>
            </a:r>
            <a:r>
              <a:rPr lang="en-US" altLang="zh-TW" sz="2600" dirty="0" smtClean="0"/>
              <a:t> (real-time process must have the highest priority). Easy!</a:t>
            </a:r>
            <a:endParaRPr lang="en-US" altLang="zh-TW" sz="2600" b="1" dirty="0" smtClean="0">
              <a:solidFill>
                <a:srgbClr val="FF0066"/>
              </a:solidFill>
            </a:endParaRPr>
          </a:p>
          <a:p>
            <a:pPr marL="533400" indent="-533400"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sz="2600" b="1" dirty="0" smtClean="0">
                <a:solidFill>
                  <a:srgbClr val="FF0066"/>
                </a:solidFill>
              </a:rPr>
              <a:t>The dispatch latency must be small</a:t>
            </a:r>
            <a:endParaRPr lang="en-US" altLang="zh-TW" sz="2600" dirty="0" smtClean="0"/>
          </a:p>
          <a:p>
            <a:pPr marL="914400" lvl="1" indent="-457200" eaLnBrk="1" hangingPunct="1">
              <a:lnSpc>
                <a:spcPct val="90000"/>
              </a:lnSpc>
              <a:defRPr/>
            </a:pPr>
            <a:r>
              <a:rPr lang="en-US" altLang="zh-TW" sz="3000" b="1" dirty="0" smtClean="0">
                <a:solidFill>
                  <a:srgbClr val="FF0066"/>
                </a:solidFill>
              </a:rPr>
              <a:t>Problem</a:t>
            </a:r>
            <a:r>
              <a:rPr lang="en-US" altLang="zh-TW" sz="2600" dirty="0" smtClean="0"/>
              <a:t>: Most OS waits a system call to complete (or I/O block to take place) before doing context switch </a:t>
            </a:r>
          </a:p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2600" b="1" dirty="0" smtClean="0">
                <a:solidFill>
                  <a:srgbClr val="FF0066"/>
                </a:solidFill>
              </a:rPr>
              <a:t>    Solution</a:t>
            </a:r>
            <a:r>
              <a:rPr lang="en-US" altLang="zh-TW" sz="2600" dirty="0" smtClean="0"/>
              <a:t>: </a:t>
            </a:r>
            <a:r>
              <a:rPr lang="en-US" altLang="zh-TW" sz="2600" dirty="0" smtClean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system calls should be</a:t>
            </a:r>
            <a:r>
              <a:rPr lang="en-US" altLang="zh-TW" sz="26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TW" sz="2600" dirty="0" smtClean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pre-emptible</a:t>
            </a:r>
            <a:endParaRPr lang="en-US" altLang="zh-TW" sz="2600" dirty="0" smtClean="0"/>
          </a:p>
          <a:p>
            <a:pPr marL="914400" lvl="1" indent="-457200" eaLnBrk="1" hangingPunct="1">
              <a:lnSpc>
                <a:spcPct val="90000"/>
              </a:lnSpc>
              <a:buFont typeface="Wingdings" pitchFamily="2" charset="2"/>
              <a:buAutoNum type="arabicPeriod"/>
              <a:defRPr/>
            </a:pPr>
            <a:r>
              <a:rPr lang="en-US" altLang="zh-TW" sz="2600" dirty="0" smtClean="0"/>
              <a:t> Insert </a:t>
            </a:r>
            <a:r>
              <a:rPr lang="en-US" altLang="zh-TW" sz="2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preemption points</a:t>
            </a:r>
            <a:r>
              <a:rPr lang="en-US" altLang="zh-TW" sz="2600" dirty="0" smtClean="0"/>
              <a:t> in long-duration system calls (The latency is still long, there are a few preemption points.)</a:t>
            </a:r>
          </a:p>
          <a:p>
            <a:pPr marL="914400" lvl="1" indent="-457200" eaLnBrk="1" hangingPunct="1">
              <a:lnSpc>
                <a:spcPct val="90000"/>
              </a:lnSpc>
              <a:buFont typeface="Wingdings" pitchFamily="2" charset="2"/>
              <a:buAutoNum type="arabicPeriod"/>
              <a:defRPr/>
            </a:pPr>
            <a:r>
              <a:rPr lang="en-US" altLang="zh-TW" sz="2600" dirty="0" smtClean="0"/>
              <a:t>Make the entire kernel </a:t>
            </a:r>
            <a:r>
              <a:rPr lang="en-US" altLang="zh-TW" sz="2600" dirty="0" err="1" smtClean="0"/>
              <a:t>preemptible</a:t>
            </a:r>
            <a:r>
              <a:rPr lang="en-US" altLang="zh-TW" sz="2600" dirty="0" smtClean="0"/>
              <a:t> </a:t>
            </a:r>
          </a:p>
        </p:txBody>
      </p:sp>
      <p:sp>
        <p:nvSpPr>
          <p:cNvPr id="49158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0A2E8D8F-C4E1-4E00-B7D6-084C5802D5B4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2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2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2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2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2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2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2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2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2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2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50179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9B1F1B2-C083-4DE4-83CA-F14A4493CAD6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47</a:t>
            </a:fld>
            <a:endParaRPr kumimoji="0" lang="en-US" altLang="zh-TW" sz="1400" smtClean="0"/>
          </a:p>
        </p:txBody>
      </p:sp>
      <p:sp>
        <p:nvSpPr>
          <p:cNvPr id="50180" name="Rectangle 2"/>
          <p:cNvSpPr>
            <a:spLocks noGrp="1" noChangeArrowheads="1"/>
          </p:cNvSpPr>
          <p:nvPr>
            <p:ph type="title"/>
          </p:nvPr>
        </p:nvSpPr>
        <p:spPr>
          <a:xfrm>
            <a:off x="622300" y="266700"/>
            <a:ext cx="8420100" cy="762000"/>
          </a:xfrm>
        </p:spPr>
        <p:txBody>
          <a:bodyPr/>
          <a:lstStyle/>
          <a:p>
            <a:pPr eaLnBrk="1" hangingPunct="1"/>
            <a:r>
              <a:rPr lang="en-US" altLang="zh-TW" smtClean="0"/>
              <a:t>Real-Time Scheduling (3)</a:t>
            </a:r>
          </a:p>
        </p:txBody>
      </p:sp>
      <p:sp>
        <p:nvSpPr>
          <p:cNvPr id="27545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92125" y="1058863"/>
            <a:ext cx="8991600" cy="49371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TW" dirty="0" smtClean="0"/>
              <a:t>Make the entire kernel </a:t>
            </a:r>
            <a:r>
              <a:rPr lang="en-US" altLang="zh-TW" dirty="0" err="1" smtClean="0"/>
              <a:t>preemptible</a:t>
            </a:r>
            <a:r>
              <a:rPr lang="en-US" altLang="zh-TW" dirty="0" smtClean="0"/>
              <a:t> </a:t>
            </a:r>
            <a:endParaRPr lang="en-US" altLang="zh-TW" dirty="0" smtClean="0">
              <a:solidFill>
                <a:srgbClr val="FF0066"/>
              </a:solidFill>
            </a:endParaRPr>
          </a:p>
          <a:p>
            <a:pPr lvl="1"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dirty="0" smtClean="0">
                <a:solidFill>
                  <a:srgbClr val="FF0066"/>
                </a:solidFill>
              </a:rPr>
              <a:t>All kernel data structure used by lower-priority must be protected from modification by high-priority process</a:t>
            </a:r>
            <a:r>
              <a:rPr lang="en-US" altLang="zh-TW" dirty="0" smtClean="0"/>
              <a:t>.</a:t>
            </a:r>
            <a:endParaRPr lang="en-US" altLang="zh-TW" b="1" dirty="0" smtClean="0">
              <a:solidFill>
                <a:srgbClr val="FF0066"/>
              </a:solidFill>
            </a:endParaRPr>
          </a:p>
          <a:p>
            <a:pPr lvl="1"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b="1" dirty="0" smtClean="0">
                <a:solidFill>
                  <a:srgbClr val="FF0066"/>
                </a:solidFill>
              </a:rPr>
              <a:t>Problem</a:t>
            </a:r>
            <a:r>
              <a:rPr lang="en-US" altLang="zh-TW" dirty="0" smtClean="0"/>
              <a:t>: </a:t>
            </a:r>
            <a:r>
              <a:rPr lang="en-US" altLang="zh-TW" dirty="0" smtClean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priority inversion</a:t>
            </a:r>
            <a:r>
              <a:rPr lang="en-US" altLang="zh-TW" dirty="0" smtClean="0"/>
              <a:t> (A higher-priority process is waiting for a lower-priority one to finish and release some resources)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b="1" dirty="0" smtClean="0">
                <a:solidFill>
                  <a:srgbClr val="FF0066"/>
                </a:solidFill>
              </a:rPr>
              <a:t>	Solution</a:t>
            </a:r>
            <a:r>
              <a:rPr lang="en-US" altLang="zh-TW" dirty="0" smtClean="0"/>
              <a:t>: </a:t>
            </a:r>
            <a:r>
              <a:rPr lang="en-US" altLang="zh-TW" dirty="0" smtClean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priority inheritance protocol</a:t>
            </a:r>
            <a:r>
              <a:rPr lang="en-US" altLang="zh-TW" dirty="0" smtClean="0"/>
              <a:t> (all lower-priority processes inherit the high priority until they are done with the resource in question.)</a:t>
            </a:r>
          </a:p>
        </p:txBody>
      </p:sp>
      <p:sp>
        <p:nvSpPr>
          <p:cNvPr id="50182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E2689889-41AC-46E0-83DD-459EC527F82D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5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5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5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5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5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5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50179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9B1F1B2-C083-4DE4-83CA-F14A4493CAD6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48</a:t>
            </a:fld>
            <a:endParaRPr kumimoji="0" lang="en-US" altLang="zh-TW" sz="1400" smtClean="0"/>
          </a:p>
        </p:txBody>
      </p:sp>
      <p:sp>
        <p:nvSpPr>
          <p:cNvPr id="50180" name="Rectangle 2"/>
          <p:cNvSpPr>
            <a:spLocks noGrp="1" noChangeArrowheads="1"/>
          </p:cNvSpPr>
          <p:nvPr>
            <p:ph type="title"/>
          </p:nvPr>
        </p:nvSpPr>
        <p:spPr>
          <a:xfrm>
            <a:off x="101600" y="266700"/>
            <a:ext cx="9550400" cy="762000"/>
          </a:xfrm>
        </p:spPr>
        <p:txBody>
          <a:bodyPr/>
          <a:lstStyle/>
          <a:p>
            <a:pPr eaLnBrk="1" hangingPunct="1"/>
            <a:r>
              <a:rPr lang="en-US" altLang="zh-TW" sz="4000" dirty="0"/>
              <a:t>S</a:t>
            </a:r>
            <a:r>
              <a:rPr lang="en-US" altLang="zh-TW" sz="4000" dirty="0" smtClean="0"/>
              <a:t>cheduling </a:t>
            </a:r>
            <a:r>
              <a:rPr lang="en-US" altLang="zh-TW" sz="4000" dirty="0"/>
              <a:t>A</a:t>
            </a:r>
            <a:r>
              <a:rPr lang="en-US" altLang="zh-TW" sz="4000" dirty="0" smtClean="0"/>
              <a:t>lgorithms for Hard </a:t>
            </a:r>
            <a:r>
              <a:rPr lang="en-US" altLang="zh-TW" sz="4000" dirty="0"/>
              <a:t>R</a:t>
            </a:r>
            <a:r>
              <a:rPr lang="en-US" altLang="zh-TW" sz="4000" dirty="0" smtClean="0"/>
              <a:t>eal-time</a:t>
            </a:r>
          </a:p>
        </p:txBody>
      </p:sp>
      <p:sp>
        <p:nvSpPr>
          <p:cNvPr id="27545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92125" y="1058863"/>
            <a:ext cx="8991600" cy="49371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TW" dirty="0" smtClean="0">
                <a:solidFill>
                  <a:srgbClr val="FF0000"/>
                </a:solidFill>
              </a:rPr>
              <a:t>Periodic process</a:t>
            </a:r>
            <a:r>
              <a:rPr lang="en-US" altLang="zh-TW" dirty="0" smtClean="0"/>
              <a:t>: Once acquired </a:t>
            </a:r>
            <a:r>
              <a:rPr lang="en-US" altLang="zh-TW" dirty="0"/>
              <a:t>the CPU, </a:t>
            </a:r>
            <a:r>
              <a:rPr lang="en-US" altLang="zh-TW" dirty="0" smtClean="0"/>
              <a:t>it has </a:t>
            </a:r>
            <a:r>
              <a:rPr lang="en-US" altLang="zh-TW" dirty="0"/>
              <a:t>a fixed processing time </a:t>
            </a:r>
            <a:r>
              <a:rPr lang="en-US" altLang="zh-TW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dirty="0"/>
              <a:t>, a deadline </a:t>
            </a:r>
            <a:r>
              <a:rPr lang="en-US" altLang="zh-TW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dirty="0"/>
              <a:t> by which it </a:t>
            </a:r>
            <a:r>
              <a:rPr lang="en-US" altLang="zh-TW" dirty="0">
                <a:solidFill>
                  <a:srgbClr val="0000FF"/>
                </a:solidFill>
              </a:rPr>
              <a:t>must be serviced </a:t>
            </a:r>
            <a:r>
              <a:rPr lang="en-US" altLang="zh-TW" dirty="0"/>
              <a:t>by </a:t>
            </a:r>
            <a:r>
              <a:rPr lang="en-US" altLang="zh-TW" dirty="0" smtClean="0"/>
              <a:t>the CPU</a:t>
            </a:r>
            <a:r>
              <a:rPr lang="en-US" altLang="zh-TW" dirty="0"/>
              <a:t>, and a period </a:t>
            </a:r>
            <a:r>
              <a:rPr lang="en-US" altLang="zh-TW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dirty="0" smtClean="0"/>
              <a:t>, where </a:t>
            </a:r>
            <a:r>
              <a:rPr lang="en-US" altLang="zh-TW" dirty="0" smtClean="0">
                <a:solidFill>
                  <a:srgbClr val="0000FF"/>
                </a:solidFill>
              </a:rPr>
              <a:t>0 </a:t>
            </a:r>
            <a:r>
              <a:rPr lang="en-US" altLang="zh-TW" dirty="0">
                <a:solidFill>
                  <a:srgbClr val="0000FF"/>
                </a:solidFill>
              </a:rPr>
              <a:t>≤ </a:t>
            </a:r>
            <a:r>
              <a:rPr lang="en-US" altLang="zh-TW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dirty="0" smtClean="0">
                <a:solidFill>
                  <a:srgbClr val="0000FF"/>
                </a:solidFill>
              </a:rPr>
              <a:t> </a:t>
            </a:r>
            <a:r>
              <a:rPr lang="en-US" altLang="zh-TW" dirty="0">
                <a:solidFill>
                  <a:srgbClr val="0000FF"/>
                </a:solidFill>
              </a:rPr>
              <a:t>≤ </a:t>
            </a:r>
            <a:r>
              <a:rPr lang="en-US" altLang="zh-TW" b="1" i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dirty="0" smtClean="0">
                <a:solidFill>
                  <a:srgbClr val="0000FF"/>
                </a:solidFill>
              </a:rPr>
              <a:t> </a:t>
            </a:r>
            <a:r>
              <a:rPr lang="en-US" altLang="zh-TW" dirty="0">
                <a:solidFill>
                  <a:srgbClr val="0000FF"/>
                </a:solidFill>
              </a:rPr>
              <a:t>≤ </a:t>
            </a:r>
            <a:r>
              <a:rPr lang="en-US" altLang="zh-TW" b="1" i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dirty="0" smtClean="0"/>
              <a:t>. </a:t>
            </a:r>
            <a:endParaRPr lang="en-US" altLang="zh-TW" dirty="0" smtClean="0">
              <a:solidFill>
                <a:srgbClr val="FF0066"/>
              </a:solidFill>
            </a:endParaRPr>
          </a:p>
          <a:p>
            <a:pPr lvl="1"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dirty="0">
                <a:latin typeface="+mj-lt"/>
              </a:rPr>
              <a:t>The rate of a periodic task is </a:t>
            </a:r>
            <a:r>
              <a:rPr lang="en-US" altLang="zh-TW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1/p</a:t>
            </a:r>
            <a:r>
              <a:rPr lang="en-US" altLang="zh-TW" dirty="0" smtClean="0"/>
              <a:t>.</a:t>
            </a:r>
            <a:endParaRPr lang="en-US" altLang="zh-TW" b="1" dirty="0" smtClean="0">
              <a:solidFill>
                <a:srgbClr val="FF0066"/>
              </a:solidFill>
            </a:endParaRPr>
          </a:p>
        </p:txBody>
      </p:sp>
      <p:sp>
        <p:nvSpPr>
          <p:cNvPr id="50182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07758C2-F146-4D84-97B2-55142A1FA81A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  <p:pic>
        <p:nvPicPr>
          <p:cNvPr id="16998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80" y="3615957"/>
            <a:ext cx="9700920" cy="3070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9128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50179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9B1F1B2-C083-4DE4-83CA-F14A4493CAD6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49</a:t>
            </a:fld>
            <a:endParaRPr kumimoji="0" lang="en-US" altLang="zh-TW" sz="1400" smtClean="0"/>
          </a:p>
        </p:txBody>
      </p:sp>
      <p:sp>
        <p:nvSpPr>
          <p:cNvPr id="50180" name="Rectangle 2"/>
          <p:cNvSpPr>
            <a:spLocks noGrp="1" noChangeArrowheads="1"/>
          </p:cNvSpPr>
          <p:nvPr>
            <p:ph type="title"/>
          </p:nvPr>
        </p:nvSpPr>
        <p:spPr>
          <a:xfrm>
            <a:off x="101600" y="266700"/>
            <a:ext cx="9550400" cy="762000"/>
          </a:xfrm>
        </p:spPr>
        <p:txBody>
          <a:bodyPr/>
          <a:lstStyle/>
          <a:p>
            <a:pPr eaLnBrk="1" hangingPunct="1"/>
            <a:r>
              <a:rPr lang="en-US" altLang="zh-TW" sz="4000" dirty="0"/>
              <a:t>S</a:t>
            </a:r>
            <a:r>
              <a:rPr lang="en-US" altLang="zh-TW" sz="4000" dirty="0" smtClean="0"/>
              <a:t>cheduling </a:t>
            </a:r>
            <a:r>
              <a:rPr lang="en-US" altLang="zh-TW" sz="4000" dirty="0"/>
              <a:t>A</a:t>
            </a:r>
            <a:r>
              <a:rPr lang="en-US" altLang="zh-TW" sz="4000" dirty="0" smtClean="0"/>
              <a:t>lgorithms for Hard </a:t>
            </a:r>
            <a:r>
              <a:rPr lang="en-US" altLang="zh-TW" sz="4000" dirty="0"/>
              <a:t>R</a:t>
            </a:r>
            <a:r>
              <a:rPr lang="en-US" altLang="zh-TW" sz="4000" dirty="0" smtClean="0"/>
              <a:t>eal-time</a:t>
            </a:r>
          </a:p>
        </p:txBody>
      </p:sp>
      <p:sp>
        <p:nvSpPr>
          <p:cNvPr id="27545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92125" y="1058863"/>
            <a:ext cx="8991600" cy="49371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TW" dirty="0" smtClean="0">
                <a:solidFill>
                  <a:srgbClr val="0000FF"/>
                </a:solidFill>
              </a:rPr>
              <a:t>Schedulers assign </a:t>
            </a:r>
            <a:r>
              <a:rPr lang="en-US" altLang="zh-TW" dirty="0">
                <a:solidFill>
                  <a:srgbClr val="0000FF"/>
                </a:solidFill>
              </a:rPr>
              <a:t>priorities according to </a:t>
            </a:r>
            <a:r>
              <a:rPr lang="en-US" altLang="zh-TW" dirty="0" smtClean="0">
                <a:solidFill>
                  <a:srgbClr val="0000FF"/>
                </a:solidFill>
              </a:rPr>
              <a:t>a process’s </a:t>
            </a:r>
            <a:r>
              <a:rPr lang="en-US" altLang="zh-TW" dirty="0">
                <a:solidFill>
                  <a:srgbClr val="FF0000"/>
                </a:solidFill>
              </a:rPr>
              <a:t>deadline </a:t>
            </a:r>
            <a:r>
              <a:rPr lang="en-US" altLang="zh-TW" dirty="0">
                <a:solidFill>
                  <a:srgbClr val="0000FF"/>
                </a:solidFill>
              </a:rPr>
              <a:t>or</a:t>
            </a:r>
            <a:r>
              <a:rPr lang="en-US" altLang="zh-TW" dirty="0">
                <a:solidFill>
                  <a:srgbClr val="FF0000"/>
                </a:solidFill>
              </a:rPr>
              <a:t> rate requirements</a:t>
            </a:r>
            <a:r>
              <a:rPr lang="en-US" altLang="zh-TW" dirty="0" smtClean="0">
                <a:solidFill>
                  <a:srgbClr val="FF0000"/>
                </a:solidFill>
              </a:rPr>
              <a:t>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TW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admission-control:</a:t>
            </a:r>
            <a:r>
              <a:rPr lang="en-US" altLang="zh-TW" b="1" dirty="0" smtClean="0">
                <a:solidFill>
                  <a:srgbClr val="FF0066"/>
                </a:solidFill>
              </a:rPr>
              <a:t> </a:t>
            </a:r>
            <a:r>
              <a:rPr lang="en-US" altLang="zh-TW" dirty="0"/>
              <a:t>the scheduler does one of </a:t>
            </a:r>
            <a:r>
              <a:rPr lang="en-US" altLang="zh-TW" dirty="0" smtClean="0"/>
              <a:t>two things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dirty="0" smtClean="0"/>
              <a:t>It </a:t>
            </a:r>
            <a:r>
              <a:rPr lang="en-US" altLang="zh-TW" dirty="0"/>
              <a:t>either </a:t>
            </a:r>
            <a:r>
              <a:rPr lang="en-US" altLang="zh-TW" dirty="0">
                <a:solidFill>
                  <a:srgbClr val="0000FF"/>
                </a:solidFill>
              </a:rPr>
              <a:t>admits</a:t>
            </a:r>
            <a:r>
              <a:rPr lang="en-US" altLang="zh-TW" dirty="0"/>
              <a:t> the process, </a:t>
            </a:r>
            <a:r>
              <a:rPr lang="en-US" altLang="zh-TW" dirty="0">
                <a:solidFill>
                  <a:srgbClr val="0000FF"/>
                </a:solidFill>
              </a:rPr>
              <a:t>guaranteeing</a:t>
            </a:r>
            <a:r>
              <a:rPr lang="en-US" altLang="zh-TW" dirty="0"/>
              <a:t> that the process will </a:t>
            </a:r>
            <a:r>
              <a:rPr lang="en-US" altLang="zh-TW" dirty="0" smtClean="0"/>
              <a:t>complete </a:t>
            </a:r>
            <a:r>
              <a:rPr lang="en-US" altLang="zh-TW" dirty="0" smtClean="0">
                <a:solidFill>
                  <a:srgbClr val="0000FF"/>
                </a:solidFill>
              </a:rPr>
              <a:t>on </a:t>
            </a:r>
            <a:r>
              <a:rPr lang="en-US" altLang="zh-TW" dirty="0">
                <a:solidFill>
                  <a:srgbClr val="0000FF"/>
                </a:solidFill>
              </a:rPr>
              <a:t>time</a:t>
            </a:r>
            <a:r>
              <a:rPr lang="en-US" altLang="zh-TW" dirty="0"/>
              <a:t>, or </a:t>
            </a:r>
            <a:endParaRPr lang="en-US" altLang="zh-TW" dirty="0" smtClean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dirty="0" smtClean="0">
                <a:solidFill>
                  <a:srgbClr val="FF0000"/>
                </a:solidFill>
              </a:rPr>
              <a:t>rejects</a:t>
            </a:r>
            <a:r>
              <a:rPr lang="en-US" altLang="zh-TW" dirty="0" smtClean="0"/>
              <a:t> </a:t>
            </a:r>
            <a:r>
              <a:rPr lang="en-US" altLang="zh-TW" dirty="0"/>
              <a:t>the request as impossible if it </a:t>
            </a:r>
            <a:r>
              <a:rPr lang="en-US" altLang="zh-TW" dirty="0">
                <a:solidFill>
                  <a:srgbClr val="FF0000"/>
                </a:solidFill>
              </a:rPr>
              <a:t>cannot guarantee</a:t>
            </a:r>
            <a:r>
              <a:rPr lang="en-US" altLang="zh-TW" dirty="0"/>
              <a:t> that the </a:t>
            </a:r>
            <a:r>
              <a:rPr lang="en-US" altLang="zh-TW" dirty="0" smtClean="0"/>
              <a:t>task will </a:t>
            </a:r>
            <a:r>
              <a:rPr lang="en-US" altLang="zh-TW" dirty="0"/>
              <a:t>be serviced by its deadline.</a:t>
            </a:r>
            <a:endParaRPr lang="en-US" altLang="zh-TW" b="1" dirty="0" smtClean="0">
              <a:solidFill>
                <a:srgbClr val="FF0066"/>
              </a:solidFill>
            </a:endParaRPr>
          </a:p>
        </p:txBody>
      </p:sp>
      <p:sp>
        <p:nvSpPr>
          <p:cNvPr id="50182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5946C703-A2E9-4701-89DA-1F11273A162D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  <p:extLst>
      <p:ext uri="{BB962C8B-B14F-4D97-AF65-F5344CB8AC3E}">
        <p14:creationId xmlns:p14="http://schemas.microsoft.com/office/powerpoint/2010/main" val="575684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92088"/>
            <a:ext cx="9753599" cy="576262"/>
          </a:xfrm>
        </p:spPr>
        <p:txBody>
          <a:bodyPr/>
          <a:lstStyle/>
          <a:p>
            <a:pPr eaLnBrk="1" hangingPunct="1"/>
            <a:r>
              <a:rPr lang="en-US" altLang="zh-TW" sz="4000" dirty="0"/>
              <a:t>Scheduling Algorithms for Hard Real-time</a:t>
            </a:r>
            <a:endParaRPr lang="en-US" altLang="en-US" sz="4000" dirty="0" smtClean="0"/>
          </a:p>
        </p:txBody>
      </p:sp>
      <p:sp>
        <p:nvSpPr>
          <p:cNvPr id="51203" name="Rectangle 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04813" y="660400"/>
            <a:ext cx="9291637" cy="5654675"/>
          </a:xfrm>
        </p:spPr>
        <p:txBody>
          <a:bodyPr/>
          <a:lstStyle/>
          <a:p>
            <a:r>
              <a:rPr lang="en-US" altLang="en-US" dirty="0">
                <a:solidFill>
                  <a:srgbClr val="0000FF"/>
                </a:solidFill>
              </a:rPr>
              <a:t>S</a:t>
            </a:r>
            <a:r>
              <a:rPr lang="en-US" altLang="en-US" dirty="0" smtClean="0">
                <a:solidFill>
                  <a:srgbClr val="0000FF"/>
                </a:solidFill>
              </a:rPr>
              <a:t>tatic priority policy with </a:t>
            </a:r>
            <a:r>
              <a:rPr lang="en-US" altLang="en-US" dirty="0" smtClean="0">
                <a:solidFill>
                  <a:srgbClr val="FF0000"/>
                </a:solidFill>
              </a:rPr>
              <a:t>preemption</a:t>
            </a:r>
          </a:p>
          <a:p>
            <a:r>
              <a:rPr lang="en-US" altLang="en-US" dirty="0" smtClean="0">
                <a:solidFill>
                  <a:srgbClr val="0000FF"/>
                </a:solidFill>
              </a:rPr>
              <a:t>Priority</a:t>
            </a:r>
            <a:r>
              <a:rPr lang="en-US" altLang="zh-TW" dirty="0" smtClean="0"/>
              <a:t>:</a:t>
            </a:r>
            <a:r>
              <a:rPr lang="en-US" altLang="en-US" dirty="0" smtClean="0"/>
              <a:t> </a:t>
            </a:r>
            <a:r>
              <a:rPr lang="en-US" altLang="en-US" dirty="0" smtClean="0">
                <a:solidFill>
                  <a:srgbClr val="FF0000"/>
                </a:solidFill>
              </a:rPr>
              <a:t>inverse</a:t>
            </a:r>
            <a:r>
              <a:rPr lang="en-US" altLang="en-US" dirty="0" smtClean="0"/>
              <a:t> </a:t>
            </a:r>
            <a:r>
              <a:rPr lang="en-US" altLang="en-US" dirty="0" smtClean="0">
                <a:solidFill>
                  <a:srgbClr val="FF0000"/>
                </a:solidFill>
              </a:rPr>
              <a:t>of its period</a:t>
            </a:r>
            <a:r>
              <a:rPr lang="en-US" altLang="en-US" dirty="0" smtClean="0"/>
              <a:t>. </a:t>
            </a:r>
            <a:r>
              <a:rPr lang="en-US" altLang="en-US" dirty="0"/>
              <a:t>A</a:t>
            </a:r>
            <a:r>
              <a:rPr lang="en-US" altLang="en-US" dirty="0" smtClean="0"/>
              <a:t>ssign a </a:t>
            </a:r>
            <a:r>
              <a:rPr lang="en-US" altLang="en-US" dirty="0" smtClean="0">
                <a:solidFill>
                  <a:srgbClr val="0000FF"/>
                </a:solidFill>
              </a:rPr>
              <a:t>higher priority </a:t>
            </a:r>
            <a:r>
              <a:rPr lang="en-US" altLang="en-US" dirty="0" smtClean="0"/>
              <a:t>that </a:t>
            </a:r>
            <a:r>
              <a:rPr lang="en-US" altLang="en-US" dirty="0" smtClean="0">
                <a:solidFill>
                  <a:srgbClr val="0000FF"/>
                </a:solidFill>
              </a:rPr>
              <a:t>requires the CPU more often</a:t>
            </a:r>
            <a:r>
              <a:rPr lang="en-US" altLang="en-US" dirty="0" smtClean="0"/>
              <a:t>.</a:t>
            </a:r>
          </a:p>
          <a:p>
            <a:endParaRPr lang="en-US" altLang="en-US" sz="800" dirty="0" smtClean="0"/>
          </a:p>
          <a:p>
            <a:r>
              <a:rPr lang="en-US" altLang="en-US" sz="2800" dirty="0" smtClean="0"/>
              <a:t>If </a:t>
            </a:r>
            <a:r>
              <a:rPr lang="en-US" altLang="en-US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8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800" dirty="0" smtClean="0"/>
              <a:t> = 50 and </a:t>
            </a:r>
            <a:r>
              <a:rPr lang="en-US" altLang="en-US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8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800" dirty="0" smtClean="0"/>
              <a:t> = 100; </a:t>
            </a:r>
            <a:r>
              <a:rPr lang="en-US" altLang="en-US" sz="2800" i="1" dirty="0" smtClean="0"/>
              <a:t>t</a:t>
            </a:r>
            <a:r>
              <a:rPr lang="en-US" altLang="en-US" sz="2800" baseline="-25000" dirty="0" smtClean="0"/>
              <a:t>1</a:t>
            </a:r>
            <a:r>
              <a:rPr lang="en-US" altLang="en-US" sz="2800" dirty="0" smtClean="0"/>
              <a:t> = 20 and </a:t>
            </a:r>
            <a:r>
              <a:rPr lang="en-US" altLang="en-US" sz="2800" i="1" dirty="0" smtClean="0"/>
              <a:t>t</a:t>
            </a:r>
            <a:r>
              <a:rPr lang="en-US" altLang="en-US" sz="2800" baseline="-25000" dirty="0" smtClean="0"/>
              <a:t>2</a:t>
            </a:r>
            <a:r>
              <a:rPr lang="en-US" altLang="en-US" sz="2800" dirty="0" smtClean="0"/>
              <a:t> = 35 (execution time). deadline: complete its CPU burst by the start of its next period.</a:t>
            </a:r>
          </a:p>
          <a:p>
            <a:pPr lvl="1"/>
            <a:r>
              <a:rPr lang="en-US" altLang="en-US" i="1" dirty="0" smtClean="0"/>
              <a:t>t</a:t>
            </a:r>
            <a:r>
              <a:rPr lang="en-US" altLang="en-US" baseline="-25000" dirty="0" smtClean="0"/>
              <a:t>1</a:t>
            </a:r>
            <a:r>
              <a:rPr lang="en-US" altLang="en-US" dirty="0" smtClean="0"/>
              <a:t>/</a:t>
            </a:r>
            <a:r>
              <a:rPr lang="en-US" alt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20/50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0.40</a:t>
            </a:r>
            <a:r>
              <a:rPr lang="en-US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i="1" dirty="0" smtClean="0"/>
              <a:t>t</a:t>
            </a:r>
            <a:r>
              <a:rPr lang="en-US" altLang="en-US" baseline="-25000" dirty="0" smtClean="0"/>
              <a:t>2</a:t>
            </a:r>
            <a:r>
              <a:rPr lang="en-US" altLang="en-US" dirty="0" smtClean="0"/>
              <a:t>/</a:t>
            </a:r>
            <a:r>
              <a:rPr lang="en-US" alt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35/100 = 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0.35</a:t>
            </a:r>
          </a:p>
          <a:p>
            <a:pPr lvl="1"/>
            <a:r>
              <a:rPr lang="en-US" altLang="en-US" dirty="0" smtClean="0"/>
              <a:t>If assign </a:t>
            </a:r>
            <a:r>
              <a:rPr lang="en-US" altLang="en-US" dirty="0"/>
              <a:t>P</a:t>
            </a:r>
            <a:r>
              <a:rPr lang="en-US" altLang="en-US" baseline="-25000" dirty="0"/>
              <a:t>2</a:t>
            </a:r>
            <a:r>
              <a:rPr lang="en-US" altLang="en-US" dirty="0"/>
              <a:t> a higher priority than </a:t>
            </a:r>
            <a:r>
              <a:rPr lang="en-US" altLang="en-US" dirty="0" smtClean="0"/>
              <a:t>P</a:t>
            </a:r>
            <a:r>
              <a:rPr lang="en-US" altLang="en-US" baseline="-25000" dirty="0" smtClean="0"/>
              <a:t>1</a:t>
            </a:r>
            <a:r>
              <a:rPr lang="en-US" altLang="en-US" baseline="-25000" dirty="0"/>
              <a:t>, </a:t>
            </a:r>
            <a:r>
              <a:rPr lang="en-US" altLang="en-US" dirty="0"/>
              <a:t>caused P</a:t>
            </a:r>
            <a:r>
              <a:rPr lang="en-US" altLang="en-US" baseline="-25000" dirty="0"/>
              <a:t>1</a:t>
            </a:r>
            <a:r>
              <a:rPr lang="en-US" altLang="en-US" dirty="0"/>
              <a:t> to miss its deadline</a:t>
            </a:r>
            <a:r>
              <a:rPr lang="en-US" altLang="en-US" dirty="0" smtClean="0"/>
              <a:t/>
            </a:r>
            <a:br>
              <a:rPr lang="en-US" altLang="en-US" dirty="0" smtClean="0"/>
            </a:br>
            <a:endParaRPr lang="en-US" altLang="en-US" dirty="0" smtClean="0"/>
          </a:p>
        </p:txBody>
      </p:sp>
      <p:sp>
        <p:nvSpPr>
          <p:cNvPr id="51205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A5D60B5C-42B5-4BAD-B9F7-ABF04D7384BD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  <p:sp>
        <p:nvSpPr>
          <p:cNvPr id="51206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51207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43216B1C-E529-45AF-8E21-619FDD2E15D0}" type="slidenum">
              <a:rPr kumimoji="0" lang="en-US" altLang="zh-TW" sz="1400" smtClean="0"/>
              <a:pPr eaLnBrk="1" hangingPunct="1"/>
              <a:t>50</a:t>
            </a:fld>
            <a:endParaRPr kumimoji="0" lang="en-US" altLang="zh-TW" sz="1400" smtClean="0"/>
          </a:p>
        </p:txBody>
      </p:sp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5" y="5295900"/>
            <a:ext cx="9048750" cy="156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/>
          <p:cNvSpPr/>
          <p:nvPr/>
        </p:nvSpPr>
        <p:spPr bwMode="auto">
          <a:xfrm>
            <a:off x="222250" y="5441950"/>
            <a:ext cx="1212850" cy="54610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429822" y="3858568"/>
            <a:ext cx="21329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CPU utilization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365125" y="192088"/>
            <a:ext cx="8461375" cy="576262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Rate </a:t>
            </a:r>
            <a:r>
              <a:rPr lang="en-US" altLang="en-US" dirty="0" err="1" smtClean="0"/>
              <a:t>Montonic</a:t>
            </a:r>
            <a:r>
              <a:rPr lang="en-US" altLang="en-US" dirty="0" smtClean="0"/>
              <a:t> Scheduling</a:t>
            </a:r>
          </a:p>
        </p:txBody>
      </p:sp>
      <p:sp>
        <p:nvSpPr>
          <p:cNvPr id="51203" name="Rectangle 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04813" y="839788"/>
            <a:ext cx="9291637" cy="5475287"/>
          </a:xfrm>
        </p:spPr>
        <p:txBody>
          <a:bodyPr/>
          <a:lstStyle/>
          <a:p>
            <a:r>
              <a:rPr lang="en-US" altLang="en-US" dirty="0" smtClean="0">
                <a:solidFill>
                  <a:srgbClr val="0000FF"/>
                </a:solidFill>
              </a:rPr>
              <a:t>Rate-monotonic scheduling</a:t>
            </a:r>
            <a:r>
              <a:rPr lang="en-US" altLang="zh-TW" dirty="0" smtClean="0"/>
              <a:t>:</a:t>
            </a:r>
            <a:r>
              <a:rPr lang="zh-TW" altLang="en-US" dirty="0" smtClean="0"/>
              <a:t> </a:t>
            </a:r>
            <a:r>
              <a:rPr lang="en-US" altLang="en-US" dirty="0" smtClean="0"/>
              <a:t>assign P</a:t>
            </a:r>
            <a:r>
              <a:rPr lang="en-US" altLang="en-US" baseline="-25000" dirty="0" smtClean="0"/>
              <a:t>1</a:t>
            </a:r>
            <a:r>
              <a:rPr lang="zh-TW" altLang="en-US" dirty="0" smtClean="0"/>
              <a:t> </a:t>
            </a:r>
            <a:r>
              <a:rPr lang="en-US" altLang="en-US" dirty="0" smtClean="0"/>
              <a:t>a </a:t>
            </a:r>
            <a:r>
              <a:rPr lang="en-US" altLang="en-US" dirty="0"/>
              <a:t>higher priority than P</a:t>
            </a:r>
            <a:r>
              <a:rPr lang="en-US" altLang="en-US" baseline="-25000" dirty="0"/>
              <a:t>2</a:t>
            </a:r>
            <a:r>
              <a:rPr lang="en-US" altLang="en-US" dirty="0"/>
              <a:t> </a:t>
            </a:r>
            <a:r>
              <a:rPr lang="en-US" altLang="en-US" dirty="0" smtClean="0">
                <a:solidFill>
                  <a:srgbClr val="FF0000"/>
                </a:solidFill>
              </a:rPr>
              <a:t>because </a:t>
            </a:r>
            <a:r>
              <a:rPr lang="en-US" altLang="en-US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b="1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 smtClean="0">
                <a:solidFill>
                  <a:srgbClr val="FF0000"/>
                </a:solidFill>
              </a:rPr>
              <a:t>(</a:t>
            </a:r>
            <a:r>
              <a:rPr lang="en-US" altLang="en-US" dirty="0" smtClean="0">
                <a:solidFill>
                  <a:srgbClr val="FF0000"/>
                </a:solidFill>
              </a:rPr>
              <a:t>50</a:t>
            </a:r>
            <a:r>
              <a:rPr lang="en-US" altLang="zh-TW" dirty="0" smtClean="0">
                <a:solidFill>
                  <a:srgbClr val="FF0000"/>
                </a:solidFill>
              </a:rPr>
              <a:t>)</a:t>
            </a:r>
            <a:r>
              <a:rPr lang="en-US" altLang="en-US" dirty="0" smtClean="0">
                <a:solidFill>
                  <a:srgbClr val="FF0000"/>
                </a:solidFill>
              </a:rPr>
              <a:t> </a:t>
            </a:r>
            <a:r>
              <a:rPr lang="en-US" altLang="zh-TW" dirty="0" smtClean="0">
                <a:solidFill>
                  <a:srgbClr val="FF0000"/>
                </a:solidFill>
              </a:rPr>
              <a:t>&lt;</a:t>
            </a:r>
            <a:r>
              <a:rPr lang="zh-TW" altLang="en-US" dirty="0" smtClean="0">
                <a:solidFill>
                  <a:srgbClr val="FF0000"/>
                </a:solidFill>
              </a:rPr>
              <a:t> </a:t>
            </a:r>
            <a:r>
              <a:rPr lang="en-US" altLang="en-US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b="1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 smtClean="0">
                <a:solidFill>
                  <a:srgbClr val="FF0000"/>
                </a:solidFill>
              </a:rPr>
              <a:t>(</a:t>
            </a:r>
            <a:r>
              <a:rPr lang="en-US" altLang="en-US" dirty="0" smtClean="0">
                <a:solidFill>
                  <a:srgbClr val="FF0000"/>
                </a:solidFill>
              </a:rPr>
              <a:t>100</a:t>
            </a:r>
            <a:r>
              <a:rPr lang="en-US" altLang="zh-TW" dirty="0" smtClean="0">
                <a:solidFill>
                  <a:srgbClr val="FF0000"/>
                </a:solidFill>
              </a:rPr>
              <a:t>)</a:t>
            </a:r>
            <a:r>
              <a:rPr lang="en-US" altLang="en-US" dirty="0" smtClean="0"/>
              <a:t>.</a:t>
            </a:r>
          </a:p>
          <a:p>
            <a:pPr lvl="1"/>
            <a:r>
              <a:rPr lang="en-US" altLang="en-US" dirty="0" smtClean="0"/>
              <a:t>At time 50</a:t>
            </a:r>
            <a:r>
              <a:rPr lang="en-US" altLang="en-US" dirty="0"/>
              <a:t>: P</a:t>
            </a:r>
            <a:r>
              <a:rPr lang="en-US" altLang="en-US" baseline="-25000" dirty="0"/>
              <a:t>2 </a:t>
            </a:r>
            <a:r>
              <a:rPr lang="en-US" altLang="en-US" dirty="0" smtClean="0"/>
              <a:t>is preempted </a:t>
            </a:r>
            <a:r>
              <a:rPr lang="en-US" altLang="en-US" dirty="0"/>
              <a:t>by </a:t>
            </a:r>
            <a:r>
              <a:rPr lang="en-US" altLang="en-US" dirty="0" smtClean="0"/>
              <a:t>P</a:t>
            </a:r>
            <a:r>
              <a:rPr lang="en-US" altLang="en-US" baseline="-25000" dirty="0" smtClean="0"/>
              <a:t>1</a:t>
            </a:r>
            <a:r>
              <a:rPr lang="en-US" altLang="en-US" dirty="0" smtClean="0"/>
              <a:t>. Resumes P</a:t>
            </a:r>
            <a:r>
              <a:rPr lang="en-US" altLang="en-US" baseline="-25000" dirty="0" smtClean="0"/>
              <a:t>2</a:t>
            </a:r>
            <a:r>
              <a:rPr lang="en-US" altLang="en-US" dirty="0" smtClean="0"/>
              <a:t> at 70 </a:t>
            </a:r>
            <a:r>
              <a:rPr lang="en-US" altLang="en-US" dirty="0"/>
              <a:t>with 5 </a:t>
            </a:r>
            <a:r>
              <a:rPr lang="en-US" altLang="en-US" dirty="0" err="1" smtClean="0"/>
              <a:t>ms</a:t>
            </a:r>
            <a:r>
              <a:rPr lang="en-US" altLang="en-US" dirty="0" smtClean="0"/>
              <a:t> remaining. </a:t>
            </a:r>
          </a:p>
          <a:p>
            <a:pPr lvl="1"/>
            <a:r>
              <a:rPr lang="en-US" altLang="en-US" dirty="0" smtClean="0"/>
              <a:t>The system </a:t>
            </a:r>
            <a:r>
              <a:rPr lang="en-US" altLang="en-US" dirty="0"/>
              <a:t>is idle until time </a:t>
            </a:r>
            <a:r>
              <a:rPr lang="en-US" altLang="en-US" dirty="0" smtClean="0"/>
              <a:t>100.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 smtClean="0"/>
          </a:p>
          <a:p>
            <a:pPr lvl="1"/>
            <a:endParaRPr lang="en-US" altLang="en-US" dirty="0"/>
          </a:p>
          <a:p>
            <a:r>
              <a:rPr lang="en-US" alt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RM is optimal</a:t>
            </a:r>
            <a:r>
              <a:rPr lang="en-US" altLang="en-US" sz="2800" dirty="0" smtClean="0"/>
              <a:t>: if </a:t>
            </a:r>
            <a:r>
              <a:rPr lang="en-US" altLang="en-US" sz="2800" dirty="0"/>
              <a:t>a set </a:t>
            </a:r>
            <a:r>
              <a:rPr lang="en-US" altLang="en-US" sz="2800" dirty="0" smtClean="0"/>
              <a:t>of processes </a:t>
            </a:r>
            <a:r>
              <a:rPr lang="en-US" altLang="en-US" sz="2800" dirty="0"/>
              <a:t>cannot be scheduled by this algorithm, it cannot be scheduled </a:t>
            </a:r>
            <a:r>
              <a:rPr lang="en-US" altLang="en-US" sz="2800" dirty="0" smtClean="0"/>
              <a:t>by any </a:t>
            </a:r>
            <a:r>
              <a:rPr lang="en-US" altLang="en-US" sz="2800" dirty="0"/>
              <a:t>other algorithm that assigns </a:t>
            </a:r>
            <a:r>
              <a:rPr lang="en-US" altLang="en-US" sz="2800" dirty="0">
                <a:solidFill>
                  <a:srgbClr val="0000FF"/>
                </a:solidFill>
              </a:rPr>
              <a:t>static priorities</a:t>
            </a:r>
            <a:r>
              <a:rPr lang="en-US" altLang="en-US" sz="2800" dirty="0"/>
              <a:t>.</a:t>
            </a:r>
            <a:r>
              <a:rPr lang="en-US" altLang="en-US" sz="2800" dirty="0" smtClean="0"/>
              <a:t/>
            </a:r>
            <a:br>
              <a:rPr lang="en-US" altLang="en-US" sz="2800" dirty="0" smtClean="0"/>
            </a:br>
            <a:endParaRPr lang="en-US" altLang="en-US" sz="2800" dirty="0" smtClean="0"/>
          </a:p>
        </p:txBody>
      </p:sp>
      <p:sp>
        <p:nvSpPr>
          <p:cNvPr id="51205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F5B4B18-82B9-41D9-A3DF-E7E8AA3B17AC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  <p:sp>
        <p:nvSpPr>
          <p:cNvPr id="51206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OS6-2018</a:t>
            </a:r>
            <a:endParaRPr kumimoji="0" lang="en-US" altLang="zh-TW" sz="1400" dirty="0"/>
          </a:p>
        </p:txBody>
      </p:sp>
      <p:sp>
        <p:nvSpPr>
          <p:cNvPr id="51207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43216B1C-E529-45AF-8E21-619FDD2E15D0}" type="slidenum">
              <a:rPr kumimoji="0" lang="en-US" altLang="zh-TW" sz="1400" smtClean="0"/>
              <a:pPr eaLnBrk="1" hangingPunct="1"/>
              <a:t>51</a:t>
            </a:fld>
            <a:endParaRPr kumimoji="0" lang="en-US" altLang="zh-TW" sz="1400" smtClean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50" y="3379022"/>
            <a:ext cx="9378950" cy="1636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/>
          <p:cNvSpPr/>
          <p:nvPr/>
        </p:nvSpPr>
        <p:spPr bwMode="auto">
          <a:xfrm>
            <a:off x="311150" y="3404422"/>
            <a:ext cx="1212850" cy="54610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594942" y="3173589"/>
            <a:ext cx="40021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CPU </a:t>
            </a:r>
            <a:r>
              <a:rPr lang="en-US" altLang="zh-TW" dirty="0" smtClean="0">
                <a:solidFill>
                  <a:srgbClr val="FF0000"/>
                </a:solidFill>
              </a:rPr>
              <a:t>utilization = 75 </a:t>
            </a:r>
            <a:r>
              <a:rPr lang="en-US" altLang="zh-TW" dirty="0">
                <a:solidFill>
                  <a:srgbClr val="FF0000"/>
                </a:solidFill>
              </a:rPr>
              <a:t>percent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6818808" y="48568"/>
            <a:ext cx="30871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0000FF"/>
                </a:solidFill>
              </a:rPr>
              <a:t>Liu and </a:t>
            </a:r>
            <a:r>
              <a:rPr lang="en-US" altLang="zh-TW" dirty="0" err="1" smtClean="0">
                <a:solidFill>
                  <a:srgbClr val="0000FF"/>
                </a:solidFill>
              </a:rPr>
              <a:t>Layland</a:t>
            </a:r>
            <a:r>
              <a:rPr lang="zh-TW" altLang="en-US" dirty="0" smtClean="0">
                <a:solidFill>
                  <a:srgbClr val="0000FF"/>
                </a:solidFill>
              </a:rPr>
              <a:t> </a:t>
            </a:r>
            <a:r>
              <a:rPr lang="en-US" altLang="zh-TW" dirty="0" smtClean="0">
                <a:solidFill>
                  <a:srgbClr val="0000FF"/>
                </a:solidFill>
              </a:rPr>
              <a:t>1973</a:t>
            </a:r>
            <a:endParaRPr lang="zh-TW" alt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6075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365125" y="192088"/>
            <a:ext cx="8461375" cy="576262"/>
          </a:xfrm>
        </p:spPr>
        <p:txBody>
          <a:bodyPr/>
          <a:lstStyle/>
          <a:p>
            <a:pPr eaLnBrk="1" hangingPunct="1"/>
            <a:r>
              <a:rPr lang="en-US" altLang="en-US" smtClean="0"/>
              <a:t>Rate Montonic Scheduling</a:t>
            </a:r>
          </a:p>
        </p:txBody>
      </p:sp>
      <p:sp>
        <p:nvSpPr>
          <p:cNvPr id="51203" name="Rectangle 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04813" y="839788"/>
            <a:ext cx="9291637" cy="5475287"/>
          </a:xfrm>
        </p:spPr>
        <p:txBody>
          <a:bodyPr/>
          <a:lstStyle/>
          <a:p>
            <a:r>
              <a:rPr lang="en-US" altLang="en-US" sz="2800" b="1" dirty="0" smtClean="0">
                <a:solidFill>
                  <a:srgbClr val="0000FF"/>
                </a:solidFill>
              </a:rPr>
              <a:t>An example that cannot </a:t>
            </a:r>
            <a:r>
              <a:rPr lang="en-US" altLang="en-US" sz="2800" b="1" dirty="0">
                <a:solidFill>
                  <a:srgbClr val="0000FF"/>
                </a:solidFill>
              </a:rPr>
              <a:t>be scheduled </a:t>
            </a:r>
            <a:r>
              <a:rPr lang="en-US" altLang="en-US" sz="2800" b="1" dirty="0" smtClean="0">
                <a:solidFill>
                  <a:srgbClr val="0000FF"/>
                </a:solidFill>
              </a:rPr>
              <a:t>using RM</a:t>
            </a:r>
            <a:r>
              <a:rPr lang="en-US" altLang="en-US" sz="2800" dirty="0" smtClean="0"/>
              <a:t>: </a:t>
            </a:r>
          </a:p>
          <a:p>
            <a:pPr lvl="1"/>
            <a:r>
              <a:rPr lang="en-US" altLang="en-US" dirty="0" smtClean="0"/>
              <a:t>P</a:t>
            </a:r>
            <a:r>
              <a:rPr lang="en-US" altLang="en-US" baseline="-25000" dirty="0" smtClean="0"/>
              <a:t>1</a:t>
            </a:r>
            <a:r>
              <a:rPr lang="en-US" altLang="en-US" dirty="0" smtClean="0"/>
              <a:t>: </a:t>
            </a:r>
            <a:r>
              <a:rPr lang="en-US" alt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dirty="0" smtClean="0"/>
              <a:t> </a:t>
            </a:r>
            <a:r>
              <a:rPr lang="en-US" altLang="en-US" dirty="0"/>
              <a:t>= 50 and </a:t>
            </a:r>
            <a:r>
              <a:rPr lang="en-US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dirty="0" smtClean="0"/>
              <a:t> </a:t>
            </a:r>
            <a:r>
              <a:rPr lang="en-US" altLang="en-US" dirty="0"/>
              <a:t>= </a:t>
            </a:r>
            <a:r>
              <a:rPr lang="en-US" altLang="en-US" dirty="0" smtClean="0"/>
              <a:t>25. P</a:t>
            </a:r>
            <a:r>
              <a:rPr lang="en-US" altLang="en-US" baseline="-25000" dirty="0" smtClean="0"/>
              <a:t>2</a:t>
            </a:r>
            <a:r>
              <a:rPr lang="en-US" altLang="en-US" dirty="0" smtClean="0"/>
              <a:t>: </a:t>
            </a:r>
            <a:r>
              <a:rPr lang="en-US" alt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dirty="0" smtClean="0"/>
              <a:t> </a:t>
            </a:r>
            <a:r>
              <a:rPr lang="en-US" altLang="en-US" dirty="0"/>
              <a:t>= </a:t>
            </a:r>
            <a:r>
              <a:rPr lang="en-US" altLang="en-US" dirty="0" smtClean="0"/>
              <a:t>80 </a:t>
            </a:r>
            <a:r>
              <a:rPr lang="en-US" altLang="en-US" dirty="0"/>
              <a:t>and </a:t>
            </a:r>
            <a:r>
              <a:rPr lang="en-US" alt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dirty="0" smtClean="0"/>
              <a:t> = </a:t>
            </a:r>
            <a:r>
              <a:rPr lang="en-US" altLang="en-US" dirty="0"/>
              <a:t>35. 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RM scheduling </a:t>
            </a:r>
            <a:r>
              <a:rPr lang="en-US" altLang="en-US" dirty="0"/>
              <a:t>would assign process P</a:t>
            </a:r>
            <a:r>
              <a:rPr lang="en-US" altLang="en-US" baseline="-25000" dirty="0"/>
              <a:t>1</a:t>
            </a:r>
            <a:r>
              <a:rPr lang="en-US" altLang="en-US" dirty="0"/>
              <a:t> a higher priority, as it has the </a:t>
            </a:r>
            <a:r>
              <a:rPr lang="en-US" altLang="en-US" dirty="0" smtClean="0"/>
              <a:t>shorter period</a:t>
            </a:r>
            <a:r>
              <a:rPr lang="en-US" altLang="en-US" dirty="0"/>
              <a:t>. 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P</a:t>
            </a:r>
            <a:r>
              <a:rPr lang="en-US" altLang="en-US" baseline="-25000" dirty="0" smtClean="0"/>
              <a:t>2</a:t>
            </a:r>
            <a:r>
              <a:rPr lang="en-US" altLang="en-US" dirty="0" smtClean="0"/>
              <a:t> </a:t>
            </a:r>
            <a:r>
              <a:rPr lang="en-US" altLang="en-US" dirty="0"/>
              <a:t>misses the </a:t>
            </a:r>
            <a:r>
              <a:rPr lang="en-US" altLang="en-US" dirty="0" smtClean="0"/>
              <a:t>deadline for </a:t>
            </a:r>
            <a:r>
              <a:rPr lang="en-US" altLang="en-US" dirty="0"/>
              <a:t>completion of its CPU burst at time 80</a:t>
            </a:r>
            <a:r>
              <a:rPr lang="en-US" altLang="en-US" dirty="0" smtClean="0"/>
              <a:t>.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 smtClean="0"/>
          </a:p>
          <a:p>
            <a:pPr lvl="1"/>
            <a:endParaRPr lang="en-US" altLang="en-US" dirty="0"/>
          </a:p>
          <a:p>
            <a:pPr marL="0" indent="0">
              <a:buNone/>
            </a:pPr>
            <a:endParaRPr lang="en-US" altLang="en-US" dirty="0" smtClean="0"/>
          </a:p>
          <a:p>
            <a:pPr lvl="1"/>
            <a:endParaRPr lang="en-US" altLang="en-US" sz="2400" dirty="0" smtClean="0"/>
          </a:p>
        </p:txBody>
      </p:sp>
      <p:sp>
        <p:nvSpPr>
          <p:cNvPr id="51205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9B593BDC-D779-45F0-93AE-BBD43CADFABD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  <p:sp>
        <p:nvSpPr>
          <p:cNvPr id="51206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OS6-2018</a:t>
            </a:r>
            <a:endParaRPr kumimoji="0" lang="en-US" altLang="zh-TW" sz="1400" dirty="0"/>
          </a:p>
        </p:txBody>
      </p:sp>
      <p:sp>
        <p:nvSpPr>
          <p:cNvPr id="51207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43216B1C-E529-45AF-8E21-619FDD2E15D0}" type="slidenum">
              <a:rPr kumimoji="0" lang="en-US" altLang="zh-TW" sz="1400" smtClean="0"/>
              <a:pPr eaLnBrk="1" hangingPunct="1"/>
              <a:t>52</a:t>
            </a:fld>
            <a:endParaRPr kumimoji="0" lang="en-US" altLang="zh-TW" sz="1400" smtClean="0"/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" t="40077" r="664" b="40047"/>
          <a:stretch>
            <a:fillRect/>
          </a:stretch>
        </p:blipFill>
        <p:spPr bwMode="auto">
          <a:xfrm>
            <a:off x="423863" y="3813175"/>
            <a:ext cx="8966336" cy="125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1823042" y="5354936"/>
            <a:ext cx="66150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CPU </a:t>
            </a:r>
            <a:r>
              <a:rPr lang="en-US" altLang="zh-TW" dirty="0" smtClean="0">
                <a:solidFill>
                  <a:srgbClr val="FF0000"/>
                </a:solidFill>
              </a:rPr>
              <a:t>utilization = 94</a:t>
            </a:r>
            <a:r>
              <a:rPr lang="en-US" altLang="zh-TW" dirty="0">
                <a:solidFill>
                  <a:srgbClr val="FF0000"/>
                </a:solidFill>
              </a:rPr>
              <a:t> percent ((25/50)+(35/80))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4920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365125" y="192088"/>
            <a:ext cx="8461375" cy="576262"/>
          </a:xfrm>
        </p:spPr>
        <p:txBody>
          <a:bodyPr/>
          <a:lstStyle/>
          <a:p>
            <a:pPr eaLnBrk="1" hangingPunct="1"/>
            <a:r>
              <a:rPr lang="en-US" altLang="en-US" smtClean="0"/>
              <a:t>Rate Montonic Scheduling</a:t>
            </a:r>
          </a:p>
        </p:txBody>
      </p:sp>
      <p:sp>
        <p:nvSpPr>
          <p:cNvPr id="51203" name="Rectangle 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04813" y="839788"/>
            <a:ext cx="9291637" cy="5475287"/>
          </a:xfrm>
        </p:spPr>
        <p:txBody>
          <a:bodyPr/>
          <a:lstStyle/>
          <a:p>
            <a:r>
              <a:rPr lang="en-US" altLang="en-US" dirty="0"/>
              <a:t>Despite being optimal, </a:t>
            </a:r>
            <a:r>
              <a:rPr lang="en-US" altLang="en-US" dirty="0" smtClean="0"/>
              <a:t>RM has </a:t>
            </a:r>
            <a:r>
              <a:rPr lang="en-US" altLang="en-US" dirty="0"/>
              <a:t>a limitation:</a:t>
            </a:r>
          </a:p>
          <a:p>
            <a:pPr lvl="1"/>
            <a:r>
              <a:rPr lang="en-US" altLang="en-US" dirty="0"/>
              <a:t>CPU utilization is bounded, and it is not always possible fully to maximize </a:t>
            </a:r>
            <a:r>
              <a:rPr lang="en-US" altLang="en-US" dirty="0" smtClean="0"/>
              <a:t>CPU resources</a:t>
            </a:r>
            <a:r>
              <a:rPr lang="en-US" altLang="en-US" dirty="0"/>
              <a:t>. 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The </a:t>
            </a:r>
            <a:r>
              <a:rPr lang="en-US" altLang="en-US" dirty="0"/>
              <a:t>worst-case CPU utilization for scheduling </a:t>
            </a:r>
            <a:r>
              <a:rPr lang="en-US" altLang="en-US" i="1" dirty="0">
                <a:latin typeface="Adobe Gothic Std B" pitchFamily="34" charset="-128"/>
                <a:ea typeface="Adobe Gothic Std B" pitchFamily="34" charset="-128"/>
              </a:rPr>
              <a:t>N</a:t>
            </a:r>
            <a:r>
              <a:rPr lang="en-US" altLang="en-US" dirty="0"/>
              <a:t> processes is </a:t>
            </a:r>
            <a:r>
              <a:rPr lang="en-US" altLang="en-US" i="1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N</a:t>
            </a:r>
            <a:r>
              <a:rPr lang="en-US" altLang="en-US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(2</a:t>
            </a:r>
            <a:r>
              <a:rPr lang="en-US" altLang="en-US" baseline="300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1/</a:t>
            </a:r>
            <a:r>
              <a:rPr lang="en-US" altLang="en-US" i="1" baseline="300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N</a:t>
            </a:r>
            <a:r>
              <a:rPr lang="en-US" altLang="en-US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 − 1</a:t>
            </a:r>
            <a:r>
              <a:rPr lang="en-US" altLang="en-US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)</a:t>
            </a:r>
            <a:r>
              <a:rPr lang="en-US" altLang="en-US" dirty="0" smtClean="0"/>
              <a:t>.</a:t>
            </a:r>
          </a:p>
          <a:p>
            <a:pPr lvl="1"/>
            <a:r>
              <a:rPr lang="en-US" altLang="en-US" dirty="0"/>
              <a:t>With </a:t>
            </a:r>
            <a:r>
              <a:rPr lang="en-US" altLang="en-US" dirty="0">
                <a:solidFill>
                  <a:srgbClr val="FF0000"/>
                </a:solidFill>
              </a:rPr>
              <a:t>one process </a:t>
            </a:r>
            <a:r>
              <a:rPr lang="en-US" altLang="en-US" dirty="0"/>
              <a:t>in the system, CPU utilization is </a:t>
            </a:r>
            <a:r>
              <a:rPr lang="en-US" altLang="en-US" dirty="0">
                <a:solidFill>
                  <a:srgbClr val="FF0000"/>
                </a:solidFill>
              </a:rPr>
              <a:t>100 percent</a:t>
            </a:r>
            <a:r>
              <a:rPr lang="en-US" altLang="en-US" dirty="0"/>
              <a:t>, but it </a:t>
            </a:r>
            <a:r>
              <a:rPr lang="en-US" altLang="en-US" dirty="0" smtClean="0"/>
              <a:t>falls to </a:t>
            </a:r>
            <a:r>
              <a:rPr lang="en-US" altLang="en-US" dirty="0"/>
              <a:t>approximately </a:t>
            </a:r>
            <a:r>
              <a:rPr lang="en-US" altLang="en-US" dirty="0">
                <a:solidFill>
                  <a:srgbClr val="FF0000"/>
                </a:solidFill>
              </a:rPr>
              <a:t>69 percent </a:t>
            </a:r>
            <a:r>
              <a:rPr lang="en-US" altLang="en-US" dirty="0"/>
              <a:t>as the number of processes approaches </a:t>
            </a:r>
            <a:r>
              <a:rPr lang="en-US" altLang="en-US" dirty="0" smtClean="0">
                <a:solidFill>
                  <a:srgbClr val="FF0000"/>
                </a:solidFill>
              </a:rPr>
              <a:t>infinity</a:t>
            </a:r>
            <a:r>
              <a:rPr lang="en-US" altLang="en-US" dirty="0" smtClean="0"/>
              <a:t>.</a:t>
            </a:r>
          </a:p>
          <a:p>
            <a:pPr lvl="1"/>
            <a:endParaRPr lang="en-US" altLang="en-US" dirty="0" smtClean="0"/>
          </a:p>
          <a:p>
            <a:pPr lvl="1"/>
            <a:endParaRPr lang="en-US" altLang="en-US" dirty="0"/>
          </a:p>
          <a:p>
            <a:pPr lvl="1"/>
            <a:endParaRPr lang="en-US" altLang="en-US" dirty="0" smtClean="0"/>
          </a:p>
          <a:p>
            <a:pPr lvl="1"/>
            <a:endParaRPr lang="en-US" altLang="en-US" dirty="0"/>
          </a:p>
          <a:p>
            <a:pPr marL="0" indent="0">
              <a:buNone/>
            </a:pPr>
            <a:endParaRPr lang="en-US" altLang="en-US" dirty="0" smtClean="0"/>
          </a:p>
          <a:p>
            <a:pPr lvl="1"/>
            <a:endParaRPr lang="en-US" altLang="en-US" sz="2400" dirty="0" smtClean="0"/>
          </a:p>
        </p:txBody>
      </p:sp>
      <p:sp>
        <p:nvSpPr>
          <p:cNvPr id="51205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AFE99DD6-027D-4C28-90C8-CD5D3CD7C66A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  <p:sp>
        <p:nvSpPr>
          <p:cNvPr id="51206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OS6-2018</a:t>
            </a:r>
            <a:endParaRPr kumimoji="0" lang="en-US" altLang="zh-TW" sz="1400" dirty="0"/>
          </a:p>
        </p:txBody>
      </p:sp>
      <p:sp>
        <p:nvSpPr>
          <p:cNvPr id="51207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43216B1C-E529-45AF-8E21-619FDD2E15D0}" type="slidenum">
              <a:rPr kumimoji="0" lang="en-US" altLang="zh-TW" sz="1400" smtClean="0"/>
              <a:pPr eaLnBrk="1" hangingPunct="1"/>
              <a:t>53</a:t>
            </a:fld>
            <a:endParaRPr kumimoji="0" lang="en-US" altLang="zh-TW" sz="1400" smtClean="0"/>
          </a:p>
        </p:txBody>
      </p:sp>
      <p:sp>
        <p:nvSpPr>
          <p:cNvPr id="2" name="文字方塊 1"/>
          <p:cNvSpPr txBox="1"/>
          <p:nvPr/>
        </p:nvSpPr>
        <p:spPr>
          <a:xfrm>
            <a:off x="7112000" y="4914900"/>
            <a:ext cx="20585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i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ln</a:t>
            </a:r>
            <a:r>
              <a:rPr lang="en-US" altLang="zh-TW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= 0.6931…</a:t>
            </a:r>
            <a:endParaRPr lang="zh-TW" altLang="en-US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359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201613" y="227013"/>
            <a:ext cx="9229725" cy="739775"/>
          </a:xfrm>
        </p:spPr>
        <p:txBody>
          <a:bodyPr/>
          <a:lstStyle/>
          <a:p>
            <a:pPr eaLnBrk="1" hangingPunct="1"/>
            <a:r>
              <a:rPr lang="en-US" altLang="en-US" sz="4000" smtClean="0"/>
              <a:t>Earliest Deadline First Scheduling (EDF)</a:t>
            </a:r>
          </a:p>
        </p:txBody>
      </p:sp>
      <p:sp>
        <p:nvSpPr>
          <p:cNvPr id="5325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76225" y="977900"/>
            <a:ext cx="9250363" cy="5370513"/>
          </a:xfrm>
        </p:spPr>
        <p:txBody>
          <a:bodyPr/>
          <a:lstStyle/>
          <a:p>
            <a:r>
              <a:rPr lang="en-US" altLang="en-US" dirty="0" smtClean="0"/>
              <a:t>EDF </a:t>
            </a:r>
            <a:r>
              <a:rPr lang="en-US" altLang="en-US" dirty="0"/>
              <a:t>scheduling dynamically assigns priorities </a:t>
            </a:r>
            <a:r>
              <a:rPr lang="en-US" altLang="en-US" dirty="0" smtClean="0"/>
              <a:t>according to </a:t>
            </a:r>
            <a:r>
              <a:rPr lang="en-US" altLang="en-US" dirty="0"/>
              <a:t>deadline. </a:t>
            </a:r>
            <a:r>
              <a:rPr lang="en-US" altLang="en-US" dirty="0">
                <a:solidFill>
                  <a:srgbClr val="FF0000"/>
                </a:solidFill>
              </a:rPr>
              <a:t>The earlier the deadline, the higher the priority; the later </a:t>
            </a:r>
            <a:r>
              <a:rPr lang="en-US" altLang="en-US" dirty="0" smtClean="0">
                <a:solidFill>
                  <a:srgbClr val="FF0000"/>
                </a:solidFill>
              </a:rPr>
              <a:t>the deadline</a:t>
            </a:r>
            <a:r>
              <a:rPr lang="en-US" altLang="en-US" dirty="0">
                <a:solidFill>
                  <a:srgbClr val="FF0000"/>
                </a:solidFill>
              </a:rPr>
              <a:t>, the lower the priority</a:t>
            </a:r>
            <a:r>
              <a:rPr lang="en-US" altLang="en-US" dirty="0" smtClean="0"/>
              <a:t>.</a:t>
            </a:r>
          </a:p>
          <a:p>
            <a:pPr lvl="1"/>
            <a:r>
              <a:rPr lang="en-US" altLang="en-US" dirty="0"/>
              <a:t>must announce its deadline requirements to the </a:t>
            </a:r>
            <a:r>
              <a:rPr lang="en-US" altLang="en-US" dirty="0" smtClean="0"/>
              <a:t>system.</a:t>
            </a:r>
          </a:p>
          <a:p>
            <a:pPr lvl="1"/>
            <a:r>
              <a:rPr lang="en-US" altLang="en-US" dirty="0">
                <a:solidFill>
                  <a:srgbClr val="0000FF"/>
                </a:solidFill>
              </a:rPr>
              <a:t>P</a:t>
            </a:r>
            <a:r>
              <a:rPr lang="en-US" altLang="en-US" baseline="-25000" dirty="0">
                <a:solidFill>
                  <a:srgbClr val="0000FF"/>
                </a:solidFill>
              </a:rPr>
              <a:t>1</a:t>
            </a:r>
            <a:r>
              <a:rPr lang="en-US" altLang="en-US" dirty="0">
                <a:solidFill>
                  <a:srgbClr val="0000FF"/>
                </a:solidFill>
              </a:rPr>
              <a:t>: </a:t>
            </a:r>
            <a:r>
              <a:rPr lang="en-US" altLang="en-US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dirty="0">
                <a:solidFill>
                  <a:srgbClr val="0000FF"/>
                </a:solidFill>
              </a:rPr>
              <a:t> = 50 and </a:t>
            </a:r>
            <a:r>
              <a:rPr lang="en-US" altLang="en-US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dirty="0">
                <a:solidFill>
                  <a:srgbClr val="0000FF"/>
                </a:solidFill>
              </a:rPr>
              <a:t> = 25. P</a:t>
            </a:r>
            <a:r>
              <a:rPr lang="en-US" altLang="en-US" baseline="-25000" dirty="0">
                <a:solidFill>
                  <a:srgbClr val="0000FF"/>
                </a:solidFill>
              </a:rPr>
              <a:t>2</a:t>
            </a:r>
            <a:r>
              <a:rPr lang="en-US" altLang="en-US" dirty="0">
                <a:solidFill>
                  <a:srgbClr val="0000FF"/>
                </a:solidFill>
              </a:rPr>
              <a:t>: </a:t>
            </a:r>
            <a:r>
              <a:rPr lang="en-US" altLang="en-US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dirty="0">
                <a:solidFill>
                  <a:srgbClr val="0000FF"/>
                </a:solidFill>
              </a:rPr>
              <a:t> = 80 and </a:t>
            </a:r>
            <a:r>
              <a:rPr lang="en-US" altLang="en-US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dirty="0">
                <a:solidFill>
                  <a:srgbClr val="0000FF"/>
                </a:solidFill>
              </a:rPr>
              <a:t> = 35. </a:t>
            </a:r>
            <a:endParaRPr lang="en-US" altLang="en-US" dirty="0" smtClean="0">
              <a:solidFill>
                <a:srgbClr val="0000FF"/>
              </a:solidFill>
            </a:endParaRPr>
          </a:p>
          <a:p>
            <a:pPr lvl="1"/>
            <a:r>
              <a:rPr lang="en-US" altLang="en-US" dirty="0">
                <a:solidFill>
                  <a:srgbClr val="0000FF"/>
                </a:solidFill>
              </a:rPr>
              <a:t>Process P</a:t>
            </a:r>
            <a:r>
              <a:rPr lang="en-US" altLang="en-US" baseline="-25000" dirty="0">
                <a:solidFill>
                  <a:srgbClr val="0000FF"/>
                </a:solidFill>
              </a:rPr>
              <a:t>1</a:t>
            </a:r>
            <a:r>
              <a:rPr lang="en-US" altLang="en-US" dirty="0">
                <a:solidFill>
                  <a:srgbClr val="0000FF"/>
                </a:solidFill>
              </a:rPr>
              <a:t> has the earliest </a:t>
            </a:r>
            <a:r>
              <a:rPr lang="en-US" altLang="en-US" dirty="0" smtClean="0">
                <a:solidFill>
                  <a:srgbClr val="0000FF"/>
                </a:solidFill>
              </a:rPr>
              <a:t>deadline initially.</a:t>
            </a:r>
            <a:endParaRPr lang="en-US" altLang="en-US" dirty="0">
              <a:solidFill>
                <a:srgbClr val="0000FF"/>
              </a:solidFill>
            </a:endParaRPr>
          </a:p>
        </p:txBody>
      </p:sp>
      <p:pic>
        <p:nvPicPr>
          <p:cNvPr id="532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1" t="40184" r="711" b="39867"/>
          <a:stretch>
            <a:fillRect/>
          </a:stretch>
        </p:blipFill>
        <p:spPr bwMode="auto">
          <a:xfrm>
            <a:off x="439738" y="5049160"/>
            <a:ext cx="8856662" cy="1241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3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7B50ADBB-749C-4B7C-9ADB-E86B80643286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  <p:sp>
        <p:nvSpPr>
          <p:cNvPr id="53254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53255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7099300" y="6008552"/>
            <a:ext cx="2063750" cy="457200"/>
          </a:xfrm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8E67992F-FE29-4C19-B8CC-03003C00CBCB}" type="slidenum">
              <a:rPr kumimoji="0" lang="en-US" altLang="zh-TW" sz="1400" smtClean="0"/>
              <a:pPr eaLnBrk="1" hangingPunct="1"/>
              <a:t>54</a:t>
            </a:fld>
            <a:endParaRPr kumimoji="0" lang="en-US" altLang="zh-TW" sz="1400" smtClean="0"/>
          </a:p>
        </p:txBody>
      </p:sp>
      <p:sp>
        <p:nvSpPr>
          <p:cNvPr id="8" name="矩形 7"/>
          <p:cNvSpPr/>
          <p:nvPr/>
        </p:nvSpPr>
        <p:spPr>
          <a:xfrm>
            <a:off x="6818808" y="48568"/>
            <a:ext cx="30871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0000FF"/>
                </a:solidFill>
              </a:rPr>
              <a:t>Liu and </a:t>
            </a:r>
            <a:r>
              <a:rPr lang="en-US" altLang="zh-TW" dirty="0" err="1" smtClean="0">
                <a:solidFill>
                  <a:srgbClr val="0000FF"/>
                </a:solidFill>
              </a:rPr>
              <a:t>Layland</a:t>
            </a:r>
            <a:r>
              <a:rPr lang="zh-TW" altLang="en-US" dirty="0" smtClean="0">
                <a:solidFill>
                  <a:srgbClr val="0000FF"/>
                </a:solidFill>
              </a:rPr>
              <a:t> </a:t>
            </a:r>
            <a:r>
              <a:rPr lang="en-US" altLang="zh-TW" dirty="0" smtClean="0">
                <a:solidFill>
                  <a:srgbClr val="0000FF"/>
                </a:solidFill>
              </a:rPr>
              <a:t>1973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439738" y="5670008"/>
            <a:ext cx="1503362" cy="476792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201613" y="227013"/>
            <a:ext cx="9229725" cy="739775"/>
          </a:xfrm>
        </p:spPr>
        <p:txBody>
          <a:bodyPr/>
          <a:lstStyle/>
          <a:p>
            <a:pPr eaLnBrk="1" hangingPunct="1"/>
            <a:r>
              <a:rPr lang="en-US" altLang="en-US" sz="4000" smtClean="0"/>
              <a:t>Earliest Deadline First Scheduling (EDF)</a:t>
            </a:r>
          </a:p>
        </p:txBody>
      </p:sp>
      <p:sp>
        <p:nvSpPr>
          <p:cNvPr id="5325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76225" y="977900"/>
            <a:ext cx="9250363" cy="5370513"/>
          </a:xfrm>
        </p:spPr>
        <p:txBody>
          <a:bodyPr/>
          <a:lstStyle/>
          <a:p>
            <a:pPr lvl="1"/>
            <a:r>
              <a:rPr lang="en-US" altLang="en-US" sz="2600" dirty="0" smtClean="0">
                <a:solidFill>
                  <a:srgbClr val="0000FF"/>
                </a:solidFill>
              </a:rPr>
              <a:t>RM </a:t>
            </a:r>
            <a:r>
              <a:rPr lang="en-US" altLang="en-US" sz="2600" dirty="0">
                <a:solidFill>
                  <a:srgbClr val="0000FF"/>
                </a:solidFill>
              </a:rPr>
              <a:t>scheduling allows P</a:t>
            </a:r>
            <a:r>
              <a:rPr lang="en-US" altLang="en-US" sz="2600" baseline="-25000" dirty="0">
                <a:solidFill>
                  <a:srgbClr val="0000FF"/>
                </a:solidFill>
              </a:rPr>
              <a:t>1</a:t>
            </a:r>
            <a:r>
              <a:rPr lang="en-US" altLang="en-US" sz="2600" dirty="0">
                <a:solidFill>
                  <a:srgbClr val="0000FF"/>
                </a:solidFill>
              </a:rPr>
              <a:t> to preempt </a:t>
            </a:r>
            <a:r>
              <a:rPr lang="en-US" altLang="en-US" sz="2600" dirty="0" smtClean="0">
                <a:solidFill>
                  <a:srgbClr val="0000FF"/>
                </a:solidFill>
              </a:rPr>
              <a:t>P</a:t>
            </a:r>
            <a:r>
              <a:rPr lang="en-US" altLang="en-US" sz="2600" baseline="-25000" dirty="0" smtClean="0">
                <a:solidFill>
                  <a:srgbClr val="0000FF"/>
                </a:solidFill>
              </a:rPr>
              <a:t>2</a:t>
            </a:r>
            <a:r>
              <a:rPr lang="en-US" altLang="en-US" sz="2600" dirty="0" smtClean="0">
                <a:solidFill>
                  <a:srgbClr val="0000FF"/>
                </a:solidFill>
              </a:rPr>
              <a:t> at </a:t>
            </a:r>
            <a:r>
              <a:rPr lang="en-US" altLang="en-US" sz="2600" dirty="0">
                <a:solidFill>
                  <a:srgbClr val="0000FF"/>
                </a:solidFill>
              </a:rPr>
              <a:t>time 50, </a:t>
            </a:r>
            <a:r>
              <a:rPr lang="en-US" altLang="en-US" sz="2600" dirty="0">
                <a:solidFill>
                  <a:srgbClr val="FF0000"/>
                </a:solidFill>
              </a:rPr>
              <a:t>EDF scheduling allows </a:t>
            </a:r>
            <a:r>
              <a:rPr lang="en-US" altLang="en-US" sz="2600" dirty="0" smtClean="0">
                <a:solidFill>
                  <a:srgbClr val="FF0000"/>
                </a:solidFill>
              </a:rPr>
              <a:t>process P</a:t>
            </a:r>
            <a:r>
              <a:rPr lang="en-US" altLang="en-US" sz="2600" baseline="-25000" dirty="0" smtClean="0">
                <a:solidFill>
                  <a:srgbClr val="FF0000"/>
                </a:solidFill>
              </a:rPr>
              <a:t>2</a:t>
            </a:r>
            <a:r>
              <a:rPr lang="en-US" altLang="en-US" sz="2600" dirty="0" smtClean="0">
                <a:solidFill>
                  <a:srgbClr val="FF0000"/>
                </a:solidFill>
              </a:rPr>
              <a:t> </a:t>
            </a:r>
            <a:r>
              <a:rPr lang="en-US" altLang="en-US" sz="2600" dirty="0">
                <a:solidFill>
                  <a:srgbClr val="FF0000"/>
                </a:solidFill>
              </a:rPr>
              <a:t>to continue running</a:t>
            </a:r>
            <a:r>
              <a:rPr lang="en-US" altLang="en-US" sz="2600" dirty="0" smtClean="0">
                <a:solidFill>
                  <a:srgbClr val="0000FF"/>
                </a:solidFill>
              </a:rPr>
              <a:t>.</a:t>
            </a:r>
          </a:p>
          <a:p>
            <a:pPr lvl="1"/>
            <a:r>
              <a:rPr lang="en-US" altLang="en-US" sz="2600" dirty="0">
                <a:solidFill>
                  <a:srgbClr val="0000FF"/>
                </a:solidFill>
              </a:rPr>
              <a:t>P</a:t>
            </a:r>
            <a:r>
              <a:rPr lang="en-US" altLang="en-US" sz="2600" baseline="-25000" dirty="0">
                <a:solidFill>
                  <a:srgbClr val="0000FF"/>
                </a:solidFill>
              </a:rPr>
              <a:t>2</a:t>
            </a:r>
            <a:r>
              <a:rPr lang="en-US" altLang="en-US" sz="2600" dirty="0">
                <a:solidFill>
                  <a:srgbClr val="0000FF"/>
                </a:solidFill>
              </a:rPr>
              <a:t> now has a higher priority than P</a:t>
            </a:r>
            <a:r>
              <a:rPr lang="en-US" altLang="en-US" sz="2600" baseline="-25000" dirty="0">
                <a:solidFill>
                  <a:srgbClr val="0000FF"/>
                </a:solidFill>
              </a:rPr>
              <a:t>1</a:t>
            </a:r>
            <a:r>
              <a:rPr lang="en-US" altLang="en-US" sz="2600" dirty="0">
                <a:solidFill>
                  <a:srgbClr val="0000FF"/>
                </a:solidFill>
              </a:rPr>
              <a:t> because its </a:t>
            </a:r>
            <a:r>
              <a:rPr lang="en-US" altLang="en-US" sz="2600" dirty="0" smtClean="0">
                <a:solidFill>
                  <a:srgbClr val="0000FF"/>
                </a:solidFill>
              </a:rPr>
              <a:t>next deadline </a:t>
            </a:r>
            <a:r>
              <a:rPr lang="en-US" altLang="en-US" sz="2600" dirty="0">
                <a:solidFill>
                  <a:srgbClr val="0000FF"/>
                </a:solidFill>
              </a:rPr>
              <a:t>(at time 80) is earlier than that of P</a:t>
            </a:r>
            <a:r>
              <a:rPr lang="en-US" altLang="en-US" sz="2600" baseline="-25000" dirty="0">
                <a:solidFill>
                  <a:srgbClr val="0000FF"/>
                </a:solidFill>
              </a:rPr>
              <a:t>1</a:t>
            </a:r>
            <a:r>
              <a:rPr lang="en-US" altLang="en-US" sz="2600" dirty="0">
                <a:solidFill>
                  <a:srgbClr val="0000FF"/>
                </a:solidFill>
              </a:rPr>
              <a:t> (at time 100). Thus, both P1 </a:t>
            </a:r>
            <a:r>
              <a:rPr lang="en-US" altLang="en-US" sz="2600" dirty="0" smtClean="0">
                <a:solidFill>
                  <a:srgbClr val="0000FF"/>
                </a:solidFill>
              </a:rPr>
              <a:t>and P2 </a:t>
            </a:r>
            <a:r>
              <a:rPr lang="en-US" altLang="en-US" sz="2600" dirty="0">
                <a:solidFill>
                  <a:srgbClr val="0000FF"/>
                </a:solidFill>
              </a:rPr>
              <a:t>meet their first deadlines. </a:t>
            </a:r>
            <a:endParaRPr lang="en-US" altLang="en-US" sz="2600" dirty="0" smtClean="0">
              <a:solidFill>
                <a:srgbClr val="0000FF"/>
              </a:solidFill>
            </a:endParaRPr>
          </a:p>
          <a:p>
            <a:pPr lvl="1"/>
            <a:r>
              <a:rPr lang="en-US" altLang="en-US" sz="2600" dirty="0" smtClean="0">
                <a:solidFill>
                  <a:srgbClr val="0000FF"/>
                </a:solidFill>
              </a:rPr>
              <a:t>Process </a:t>
            </a:r>
            <a:r>
              <a:rPr lang="en-US" altLang="en-US" sz="2600" dirty="0">
                <a:solidFill>
                  <a:srgbClr val="0000FF"/>
                </a:solidFill>
              </a:rPr>
              <a:t>P</a:t>
            </a:r>
            <a:r>
              <a:rPr lang="en-US" altLang="en-US" sz="2600" baseline="-25000" dirty="0">
                <a:solidFill>
                  <a:srgbClr val="0000FF"/>
                </a:solidFill>
              </a:rPr>
              <a:t>1</a:t>
            </a:r>
            <a:r>
              <a:rPr lang="en-US" altLang="en-US" sz="2600" dirty="0">
                <a:solidFill>
                  <a:srgbClr val="0000FF"/>
                </a:solidFill>
              </a:rPr>
              <a:t> again begins running </a:t>
            </a:r>
            <a:r>
              <a:rPr lang="en-US" altLang="en-US" sz="2600" dirty="0" smtClean="0">
                <a:solidFill>
                  <a:srgbClr val="0000FF"/>
                </a:solidFill>
              </a:rPr>
              <a:t>(60-85), </a:t>
            </a:r>
            <a:r>
              <a:rPr lang="en-US" altLang="en-US" sz="2600" dirty="0">
                <a:solidFill>
                  <a:srgbClr val="0000FF"/>
                </a:solidFill>
              </a:rPr>
              <a:t>also meeting </a:t>
            </a:r>
            <a:r>
              <a:rPr lang="en-US" altLang="en-US" sz="2600" dirty="0" smtClean="0">
                <a:solidFill>
                  <a:srgbClr val="0000FF"/>
                </a:solidFill>
              </a:rPr>
              <a:t>the deadline 100.</a:t>
            </a:r>
          </a:p>
          <a:p>
            <a:pPr lvl="1"/>
            <a:r>
              <a:rPr lang="en-US" altLang="en-US" sz="2600" dirty="0">
                <a:solidFill>
                  <a:srgbClr val="0000FF"/>
                </a:solidFill>
              </a:rPr>
              <a:t>P</a:t>
            </a:r>
            <a:r>
              <a:rPr lang="en-US" altLang="en-US" sz="2600" baseline="-25000" dirty="0">
                <a:solidFill>
                  <a:srgbClr val="0000FF"/>
                </a:solidFill>
              </a:rPr>
              <a:t>2</a:t>
            </a:r>
            <a:r>
              <a:rPr lang="en-US" altLang="en-US" sz="2600" dirty="0">
                <a:solidFill>
                  <a:srgbClr val="0000FF"/>
                </a:solidFill>
              </a:rPr>
              <a:t> begins </a:t>
            </a:r>
            <a:r>
              <a:rPr lang="en-US" altLang="en-US" sz="2600" dirty="0" smtClean="0">
                <a:solidFill>
                  <a:srgbClr val="0000FF"/>
                </a:solidFill>
              </a:rPr>
              <a:t>running, </a:t>
            </a:r>
            <a:r>
              <a:rPr lang="en-US" altLang="en-US" sz="2600" dirty="0">
                <a:solidFill>
                  <a:srgbClr val="0000FF"/>
                </a:solidFill>
              </a:rPr>
              <a:t>only to be </a:t>
            </a:r>
            <a:r>
              <a:rPr lang="en-US" altLang="en-US" sz="2600" dirty="0">
                <a:solidFill>
                  <a:srgbClr val="FF0000"/>
                </a:solidFill>
              </a:rPr>
              <a:t>preempted by P</a:t>
            </a:r>
            <a:r>
              <a:rPr lang="en-US" altLang="en-US" sz="2600" baseline="-25000" dirty="0">
                <a:solidFill>
                  <a:srgbClr val="FF0000"/>
                </a:solidFill>
              </a:rPr>
              <a:t>1</a:t>
            </a:r>
            <a:r>
              <a:rPr lang="en-US" altLang="en-US" sz="2600" dirty="0">
                <a:solidFill>
                  <a:srgbClr val="FF0000"/>
                </a:solidFill>
              </a:rPr>
              <a:t> at </a:t>
            </a:r>
            <a:r>
              <a:rPr lang="en-US" altLang="en-US" sz="2600" dirty="0" smtClean="0">
                <a:solidFill>
                  <a:srgbClr val="FF0000"/>
                </a:solidFill>
              </a:rPr>
              <a:t>the start </a:t>
            </a:r>
            <a:r>
              <a:rPr lang="en-US" altLang="en-US" sz="2600" dirty="0">
                <a:solidFill>
                  <a:srgbClr val="FF0000"/>
                </a:solidFill>
              </a:rPr>
              <a:t>of its next period at time </a:t>
            </a:r>
            <a:r>
              <a:rPr lang="en-US" altLang="en-US" sz="2600" dirty="0" smtClean="0">
                <a:solidFill>
                  <a:srgbClr val="FF0000"/>
                </a:solidFill>
              </a:rPr>
              <a:t>100. </a:t>
            </a:r>
            <a:endParaRPr lang="en-US" altLang="en-US" sz="2600" dirty="0">
              <a:solidFill>
                <a:srgbClr val="0000FF"/>
              </a:solidFill>
            </a:endParaRPr>
          </a:p>
        </p:txBody>
      </p:sp>
      <p:pic>
        <p:nvPicPr>
          <p:cNvPr id="532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1" t="40184" r="711" b="39867"/>
          <a:stretch>
            <a:fillRect/>
          </a:stretch>
        </p:blipFill>
        <p:spPr bwMode="auto">
          <a:xfrm>
            <a:off x="439738" y="5049160"/>
            <a:ext cx="8856662" cy="1241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3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83B53CFF-A225-463F-A091-958AF6F954A6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  <p:sp>
        <p:nvSpPr>
          <p:cNvPr id="53254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53255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7099300" y="6008552"/>
            <a:ext cx="2063750" cy="457200"/>
          </a:xfrm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8E67992F-FE29-4C19-B8CC-03003C00CBCB}" type="slidenum">
              <a:rPr kumimoji="0" lang="en-US" altLang="zh-TW" sz="1400" smtClean="0"/>
              <a:pPr eaLnBrk="1" hangingPunct="1"/>
              <a:t>55</a:t>
            </a:fld>
            <a:endParaRPr kumimoji="0" lang="en-US" altLang="zh-TW" sz="1400" smtClean="0"/>
          </a:p>
        </p:txBody>
      </p:sp>
      <p:sp>
        <p:nvSpPr>
          <p:cNvPr id="8" name="矩形 7"/>
          <p:cNvSpPr/>
          <p:nvPr/>
        </p:nvSpPr>
        <p:spPr>
          <a:xfrm>
            <a:off x="5453719" y="6366470"/>
            <a:ext cx="2503762" cy="461665"/>
          </a:xfrm>
          <a:prstGeom prst="rect">
            <a:avLst/>
          </a:prstGeom>
          <a:ln w="12700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0000FF"/>
                </a:solidFill>
              </a:rPr>
              <a:t>preempted by P</a:t>
            </a:r>
            <a:r>
              <a:rPr lang="en-US" altLang="zh-TW" baseline="-25000" dirty="0">
                <a:solidFill>
                  <a:srgbClr val="0000FF"/>
                </a:solidFill>
              </a:rPr>
              <a:t>1</a:t>
            </a:r>
            <a:endParaRPr lang="zh-TW" altLang="en-US" baseline="-25000" dirty="0">
              <a:solidFill>
                <a:srgbClr val="0000FF"/>
              </a:solidFill>
            </a:endParaRPr>
          </a:p>
        </p:txBody>
      </p:sp>
      <p:cxnSp>
        <p:nvCxnSpPr>
          <p:cNvPr id="9" name="直線單箭頭接點 8"/>
          <p:cNvCxnSpPr>
            <a:stCxn id="8" idx="0"/>
          </p:cNvCxnSpPr>
          <p:nvPr/>
        </p:nvCxnSpPr>
        <p:spPr bwMode="auto">
          <a:xfrm flipH="1" flipV="1">
            <a:off x="5854700" y="5981700"/>
            <a:ext cx="850900" cy="38477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矩形 9"/>
          <p:cNvSpPr/>
          <p:nvPr/>
        </p:nvSpPr>
        <p:spPr bwMode="auto">
          <a:xfrm>
            <a:off x="1760538" y="5670008"/>
            <a:ext cx="2087562" cy="476792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457019" y="4570330"/>
            <a:ext cx="2648482" cy="461665"/>
          </a:xfrm>
          <a:prstGeom prst="rect">
            <a:avLst/>
          </a:prstGeom>
          <a:ln w="12700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P</a:t>
            </a:r>
            <a:r>
              <a:rPr lang="en-US" altLang="zh-TW" baseline="-25000" dirty="0" smtClean="0">
                <a:solidFill>
                  <a:srgbClr val="FF0000"/>
                </a:solidFill>
              </a:rPr>
              <a:t>1</a:t>
            </a:r>
            <a:r>
              <a:rPr lang="en-US" altLang="zh-TW" dirty="0" smtClean="0">
                <a:solidFill>
                  <a:srgbClr val="FF0000"/>
                </a:solidFill>
              </a:rPr>
              <a:t> starts after 100</a:t>
            </a:r>
            <a:endParaRPr lang="zh-TW" altLang="en-US" baseline="-25000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7957481" y="6404376"/>
            <a:ext cx="1941878" cy="461665"/>
          </a:xfrm>
          <a:prstGeom prst="rect">
            <a:avLst/>
          </a:prstGeom>
          <a:ln w="28575">
            <a:solidFill>
              <a:srgbClr val="336633"/>
            </a:solidFill>
          </a:ln>
        </p:spPr>
        <p:txBody>
          <a:bodyPr wrap="none">
            <a:spAutoFit/>
          </a:bodyPr>
          <a:lstStyle/>
          <a:p>
            <a:r>
              <a:rPr lang="en-US" altLang="zh-TW" dirty="0"/>
              <a:t>idle until </a:t>
            </a:r>
            <a:r>
              <a:rPr lang="en-US" altLang="zh-TW" dirty="0" smtClean="0"/>
              <a:t>150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06019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2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201613" y="227013"/>
            <a:ext cx="9229725" cy="739775"/>
          </a:xfrm>
        </p:spPr>
        <p:txBody>
          <a:bodyPr/>
          <a:lstStyle/>
          <a:p>
            <a:pPr eaLnBrk="1" hangingPunct="1"/>
            <a:r>
              <a:rPr lang="en-US" altLang="en-US" sz="4000" dirty="0" smtClean="0"/>
              <a:t>EDF</a:t>
            </a:r>
            <a:r>
              <a:rPr lang="en-US" altLang="en-US" sz="4000" dirty="0"/>
              <a:t> </a:t>
            </a:r>
            <a:r>
              <a:rPr lang="en-US" altLang="en-US" sz="4000" dirty="0" smtClean="0"/>
              <a:t>vs. RM</a:t>
            </a:r>
          </a:p>
        </p:txBody>
      </p:sp>
      <p:sp>
        <p:nvSpPr>
          <p:cNvPr id="5325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76225" y="977900"/>
            <a:ext cx="9250363" cy="5370513"/>
          </a:xfrm>
        </p:spPr>
        <p:txBody>
          <a:bodyPr/>
          <a:lstStyle/>
          <a:p>
            <a:r>
              <a:rPr lang="en-US" altLang="zh-TW" sz="2800" dirty="0">
                <a:solidFill>
                  <a:srgbClr val="FF0000"/>
                </a:solidFill>
              </a:rPr>
              <a:t>Unlike </a:t>
            </a:r>
            <a:r>
              <a:rPr lang="en-US" altLang="zh-TW" sz="2800" dirty="0" smtClean="0">
                <a:solidFill>
                  <a:srgbClr val="FF0000"/>
                </a:solidFill>
              </a:rPr>
              <a:t>RM, </a:t>
            </a:r>
            <a:r>
              <a:rPr lang="en-US" altLang="zh-TW" sz="2800" dirty="0">
                <a:solidFill>
                  <a:srgbClr val="FF0000"/>
                </a:solidFill>
              </a:rPr>
              <a:t>EDF </a:t>
            </a:r>
            <a:r>
              <a:rPr lang="en-US" altLang="zh-TW" sz="2800" dirty="0" smtClean="0">
                <a:solidFill>
                  <a:srgbClr val="FF0000"/>
                </a:solidFill>
              </a:rPr>
              <a:t>does </a:t>
            </a:r>
            <a:r>
              <a:rPr lang="en-US" altLang="zh-TW" sz="2800" dirty="0">
                <a:solidFill>
                  <a:srgbClr val="FF0000"/>
                </a:solidFill>
              </a:rPr>
              <a:t>not require </a:t>
            </a:r>
            <a:r>
              <a:rPr lang="en-US" altLang="zh-TW" sz="2800" dirty="0" smtClean="0">
                <a:solidFill>
                  <a:srgbClr val="FF0000"/>
                </a:solidFill>
              </a:rPr>
              <a:t>that processes </a:t>
            </a:r>
            <a:r>
              <a:rPr lang="en-US" altLang="zh-TW" sz="2800" dirty="0">
                <a:solidFill>
                  <a:srgbClr val="FF0000"/>
                </a:solidFill>
              </a:rPr>
              <a:t>be periodic, nor must a process require a constant amount of </a:t>
            </a:r>
            <a:r>
              <a:rPr lang="en-US" altLang="zh-TW" sz="2800" dirty="0" smtClean="0">
                <a:solidFill>
                  <a:srgbClr val="FF0000"/>
                </a:solidFill>
              </a:rPr>
              <a:t>CPU time </a:t>
            </a:r>
            <a:r>
              <a:rPr lang="en-US" altLang="zh-TW" sz="2800" dirty="0">
                <a:solidFill>
                  <a:srgbClr val="FF0000"/>
                </a:solidFill>
              </a:rPr>
              <a:t>per burst</a:t>
            </a:r>
            <a:r>
              <a:rPr lang="en-US" altLang="zh-TW" sz="2800" dirty="0"/>
              <a:t>. </a:t>
            </a:r>
            <a:endParaRPr lang="en-US" altLang="zh-TW" sz="2800" dirty="0" smtClean="0"/>
          </a:p>
          <a:p>
            <a:r>
              <a:rPr lang="en-US" altLang="zh-TW" sz="2800" dirty="0" smtClean="0"/>
              <a:t>The </a:t>
            </a:r>
            <a:r>
              <a:rPr lang="en-US" altLang="zh-TW" sz="2800" dirty="0"/>
              <a:t>only requirement is that a process </a:t>
            </a:r>
            <a:r>
              <a:rPr lang="en-US" altLang="zh-TW" sz="2800" dirty="0">
                <a:solidFill>
                  <a:srgbClr val="0000FF"/>
                </a:solidFill>
              </a:rPr>
              <a:t>announce its </a:t>
            </a:r>
            <a:r>
              <a:rPr lang="en-US" altLang="zh-TW" sz="2800" dirty="0" smtClean="0">
                <a:solidFill>
                  <a:srgbClr val="0000FF"/>
                </a:solidFill>
              </a:rPr>
              <a:t>deadline</a:t>
            </a:r>
            <a:r>
              <a:rPr lang="en-US" altLang="zh-TW" sz="2800" dirty="0" smtClean="0"/>
              <a:t> to </a:t>
            </a:r>
            <a:r>
              <a:rPr lang="en-US" altLang="zh-TW" sz="2800" dirty="0"/>
              <a:t>the scheduler when it becomes runnable</a:t>
            </a:r>
            <a:r>
              <a:rPr lang="en-US" altLang="zh-TW" sz="2800" dirty="0" smtClean="0"/>
              <a:t>.</a:t>
            </a:r>
          </a:p>
          <a:p>
            <a:r>
              <a:rPr lang="en-US" altLang="zh-TW" sz="2800" dirty="0" smtClean="0"/>
              <a:t>The </a:t>
            </a:r>
            <a:r>
              <a:rPr lang="en-US" altLang="zh-TW" sz="2800" dirty="0"/>
              <a:t>appeal of EDF scheduling </a:t>
            </a:r>
            <a:r>
              <a:rPr lang="en-US" altLang="zh-TW" sz="2800" dirty="0" smtClean="0"/>
              <a:t>is that </a:t>
            </a:r>
            <a:r>
              <a:rPr lang="en-US" altLang="zh-TW" sz="2800" dirty="0"/>
              <a:t>it is </a:t>
            </a:r>
            <a:r>
              <a:rPr lang="en-US" altLang="zh-TW" sz="2800" dirty="0">
                <a:solidFill>
                  <a:srgbClr val="FF0000"/>
                </a:solidFill>
              </a:rPr>
              <a:t>theoretically optimal</a:t>
            </a:r>
            <a:r>
              <a:rPr lang="en-US" altLang="zh-TW" sz="2800" dirty="0"/>
              <a:t>—theoretically, it can schedule processes so </a:t>
            </a:r>
            <a:r>
              <a:rPr lang="en-US" altLang="zh-TW" sz="2800" dirty="0" smtClean="0"/>
              <a:t>that each </a:t>
            </a:r>
            <a:r>
              <a:rPr lang="en-US" altLang="zh-TW" sz="2800" dirty="0"/>
              <a:t>process can </a:t>
            </a:r>
            <a:r>
              <a:rPr lang="en-US" altLang="zh-TW" sz="2800" dirty="0">
                <a:solidFill>
                  <a:srgbClr val="FF0000"/>
                </a:solidFill>
              </a:rPr>
              <a:t>meet its deadline requirements and CPU utilization will </a:t>
            </a:r>
            <a:r>
              <a:rPr lang="en-US" altLang="zh-TW" sz="2800" dirty="0" smtClean="0">
                <a:solidFill>
                  <a:srgbClr val="FF0000"/>
                </a:solidFill>
              </a:rPr>
              <a:t>be 100 </a:t>
            </a:r>
            <a:r>
              <a:rPr lang="en-US" altLang="zh-TW" sz="2800" dirty="0">
                <a:solidFill>
                  <a:srgbClr val="FF0000"/>
                </a:solidFill>
              </a:rPr>
              <a:t>percent</a:t>
            </a:r>
            <a:r>
              <a:rPr lang="en-US" altLang="zh-TW" sz="2800" dirty="0"/>
              <a:t>. </a:t>
            </a:r>
            <a:endParaRPr lang="en-US" altLang="zh-TW" sz="2800" dirty="0" smtClean="0"/>
          </a:p>
          <a:p>
            <a:r>
              <a:rPr lang="en-US" altLang="zh-TW" sz="2800" dirty="0" smtClean="0"/>
              <a:t>In </a:t>
            </a:r>
            <a:r>
              <a:rPr lang="en-US" altLang="zh-TW" sz="2800" dirty="0"/>
              <a:t>practice, however, it is impossible to achieve this level of </a:t>
            </a:r>
            <a:r>
              <a:rPr lang="en-US" altLang="zh-TW" sz="2800" dirty="0" smtClean="0"/>
              <a:t>CPU utilization </a:t>
            </a:r>
            <a:r>
              <a:rPr lang="en-US" altLang="zh-TW" sz="2800" dirty="0"/>
              <a:t>due to the cost of context switching between processes and </a:t>
            </a:r>
            <a:r>
              <a:rPr lang="en-US" altLang="zh-TW" sz="2800" dirty="0" smtClean="0"/>
              <a:t>interrupt handling</a:t>
            </a:r>
            <a:r>
              <a:rPr lang="en-US" altLang="zh-TW" sz="2800" dirty="0"/>
              <a:t>.</a:t>
            </a:r>
            <a:endParaRPr lang="en-US" altLang="en-US" sz="2600" dirty="0">
              <a:solidFill>
                <a:srgbClr val="0000FF"/>
              </a:solidFill>
            </a:endParaRPr>
          </a:p>
        </p:txBody>
      </p:sp>
      <p:sp>
        <p:nvSpPr>
          <p:cNvPr id="53253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3B551D9-E4B3-4CE9-AAF8-2FAED2229B41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  <p:sp>
        <p:nvSpPr>
          <p:cNvPr id="53254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OS6-2018</a:t>
            </a:r>
            <a:endParaRPr kumimoji="0" lang="en-US" altLang="zh-TW" sz="1400" dirty="0"/>
          </a:p>
        </p:txBody>
      </p:sp>
      <p:sp>
        <p:nvSpPr>
          <p:cNvPr id="53255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7099300" y="6008552"/>
            <a:ext cx="2063750" cy="457200"/>
          </a:xfrm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8E67992F-FE29-4C19-B8CC-03003C00CBCB}" type="slidenum">
              <a:rPr kumimoji="0" lang="en-US" altLang="zh-TW" sz="1400" smtClean="0"/>
              <a:pPr eaLnBrk="1" hangingPunct="1"/>
              <a:t>56</a:t>
            </a:fld>
            <a:endParaRPr kumimoji="0" lang="en-US" altLang="zh-TW" sz="1400" dirty="0" smtClean="0"/>
          </a:p>
        </p:txBody>
      </p:sp>
    </p:spTree>
    <p:extLst>
      <p:ext uri="{BB962C8B-B14F-4D97-AF65-F5344CB8AC3E}">
        <p14:creationId xmlns:p14="http://schemas.microsoft.com/office/powerpoint/2010/main" val="586981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449263" y="265113"/>
            <a:ext cx="8397875" cy="576262"/>
          </a:xfrm>
        </p:spPr>
        <p:txBody>
          <a:bodyPr/>
          <a:lstStyle/>
          <a:p>
            <a:pPr eaLnBrk="1" hangingPunct="1"/>
            <a:r>
              <a:rPr lang="en-US" altLang="en-US" sz="4000" smtClean="0"/>
              <a:t>Proportional Share Scheduling</a:t>
            </a:r>
          </a:p>
        </p:txBody>
      </p:sp>
      <p:sp>
        <p:nvSpPr>
          <p:cNvPr id="5427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69863" y="925513"/>
            <a:ext cx="9612312" cy="5210175"/>
          </a:xfrm>
        </p:spPr>
        <p:txBody>
          <a:bodyPr/>
          <a:lstStyle/>
          <a:p>
            <a:r>
              <a:rPr lang="en-US" altLang="en-US" dirty="0"/>
              <a:t>Proportional share schedulers operate by allocating </a:t>
            </a:r>
            <a:r>
              <a:rPr lang="en-US" altLang="en-US" i="1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T</a:t>
            </a:r>
            <a:r>
              <a:rPr lang="en-US" altLang="en-US" dirty="0"/>
              <a:t> shares among </a:t>
            </a:r>
            <a:r>
              <a:rPr lang="en-US" altLang="en-US" dirty="0" smtClean="0"/>
              <a:t>all applications</a:t>
            </a:r>
            <a:r>
              <a:rPr lang="en-US" altLang="en-US" dirty="0"/>
              <a:t>. 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An </a:t>
            </a:r>
            <a:r>
              <a:rPr lang="en-US" altLang="en-US" dirty="0"/>
              <a:t>application can receive </a:t>
            </a:r>
            <a:r>
              <a:rPr lang="en-US" altLang="en-US" i="1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N</a:t>
            </a:r>
            <a:r>
              <a:rPr lang="en-US" altLang="en-US" dirty="0"/>
              <a:t> shares of time, thus ensuring </a:t>
            </a:r>
            <a:r>
              <a:rPr lang="en-US" altLang="en-US" dirty="0" smtClean="0"/>
              <a:t>that the </a:t>
            </a:r>
            <a:r>
              <a:rPr lang="en-US" altLang="en-US" dirty="0"/>
              <a:t>application will have </a:t>
            </a:r>
            <a:r>
              <a:rPr lang="en-US" altLang="en-US" i="1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N</a:t>
            </a:r>
            <a:r>
              <a:rPr lang="en-US" altLang="en-US" dirty="0" smtClean="0">
                <a:solidFill>
                  <a:srgbClr val="0000FF"/>
                </a:solidFill>
              </a:rPr>
              <a:t>/</a:t>
            </a:r>
            <a:r>
              <a:rPr lang="en-US" altLang="en-US" i="1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T</a:t>
            </a:r>
            <a:r>
              <a:rPr lang="en-US" altLang="en-US" dirty="0" smtClean="0"/>
              <a:t> </a:t>
            </a:r>
            <a:r>
              <a:rPr lang="en-US" altLang="en-US" dirty="0"/>
              <a:t>of the total processor time</a:t>
            </a:r>
            <a:r>
              <a:rPr lang="en-US" altLang="en-US" dirty="0" smtClean="0"/>
              <a:t>.</a:t>
            </a:r>
          </a:p>
          <a:p>
            <a:r>
              <a:rPr lang="en-US" altLang="en-US" dirty="0" smtClean="0"/>
              <a:t>PS must </a:t>
            </a:r>
            <a:r>
              <a:rPr lang="en-US" altLang="en-US" dirty="0"/>
              <a:t>work in conjunction with </a:t>
            </a:r>
            <a:r>
              <a:rPr lang="en-US" altLang="en-US" dirty="0" smtClean="0"/>
              <a:t>an admission-control </a:t>
            </a:r>
            <a:r>
              <a:rPr lang="en-US" altLang="en-US" dirty="0"/>
              <a:t>policy to guarantee that an application receives its </a:t>
            </a:r>
            <a:r>
              <a:rPr lang="en-US" altLang="en-US" dirty="0" smtClean="0"/>
              <a:t>allocated shares </a:t>
            </a:r>
            <a:r>
              <a:rPr lang="en-US" altLang="en-US" dirty="0"/>
              <a:t>of time.</a:t>
            </a:r>
          </a:p>
          <a:p>
            <a:endParaRPr lang="en-US" altLang="en-US" dirty="0" smtClean="0"/>
          </a:p>
        </p:txBody>
      </p:sp>
      <p:sp>
        <p:nvSpPr>
          <p:cNvPr id="54276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EA15C31-0074-4243-AB99-FA4AB64AEEB7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  <p:sp>
        <p:nvSpPr>
          <p:cNvPr id="54277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54278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9C4CC6A0-9BCF-4F1E-937D-613E00762E88}" type="slidenum">
              <a:rPr kumimoji="0" lang="en-US" altLang="zh-TW" sz="1400" smtClean="0"/>
              <a:pPr eaLnBrk="1" hangingPunct="1"/>
              <a:t>57</a:t>
            </a:fld>
            <a:endParaRPr kumimoji="0" lang="en-US" altLang="zh-TW" sz="1400" smtClean="0"/>
          </a:p>
        </p:txBody>
      </p:sp>
      <p:sp>
        <p:nvSpPr>
          <p:cNvPr id="2" name="矩形 1"/>
          <p:cNvSpPr/>
          <p:nvPr/>
        </p:nvSpPr>
        <p:spPr>
          <a:xfrm>
            <a:off x="1397000" y="5147944"/>
            <a:ext cx="64897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0000FF"/>
                </a:solidFill>
              </a:rPr>
              <a:t>T = 100 </a:t>
            </a:r>
            <a:r>
              <a:rPr lang="en-US" altLang="zh-TW" dirty="0" smtClean="0">
                <a:solidFill>
                  <a:srgbClr val="0000FF"/>
                </a:solidFill>
              </a:rPr>
              <a:t>shares, A:50, B:15, C:20 shares</a:t>
            </a:r>
            <a:r>
              <a:rPr lang="en-US" altLang="zh-TW" dirty="0">
                <a:solidFill>
                  <a:srgbClr val="0000FF"/>
                </a:solidFill>
              </a:rPr>
              <a:t>. </a:t>
            </a:r>
            <a:endParaRPr lang="en-US" altLang="zh-TW" dirty="0" smtClean="0">
              <a:solidFill>
                <a:srgbClr val="0000FF"/>
              </a:solidFill>
            </a:endParaRPr>
          </a:p>
          <a:p>
            <a:r>
              <a:rPr lang="en-US" altLang="zh-TW" dirty="0" smtClean="0">
                <a:solidFill>
                  <a:srgbClr val="0000FF"/>
                </a:solidFill>
              </a:rPr>
              <a:t>Ensures </a:t>
            </a:r>
            <a:r>
              <a:rPr lang="en-US" altLang="zh-TW" dirty="0">
                <a:solidFill>
                  <a:srgbClr val="0000FF"/>
                </a:solidFill>
              </a:rPr>
              <a:t>that A </a:t>
            </a:r>
            <a:r>
              <a:rPr lang="en-US" altLang="zh-TW" dirty="0" smtClean="0">
                <a:solidFill>
                  <a:srgbClr val="0000FF"/>
                </a:solidFill>
              </a:rPr>
              <a:t>(50%), </a:t>
            </a:r>
            <a:r>
              <a:rPr lang="en-US" altLang="zh-TW" dirty="0">
                <a:solidFill>
                  <a:srgbClr val="0000FF"/>
                </a:solidFill>
              </a:rPr>
              <a:t>B </a:t>
            </a:r>
            <a:r>
              <a:rPr lang="en-US" altLang="zh-TW" dirty="0" smtClean="0">
                <a:solidFill>
                  <a:srgbClr val="0000FF"/>
                </a:solidFill>
              </a:rPr>
              <a:t>(15%), </a:t>
            </a:r>
            <a:r>
              <a:rPr lang="en-US" altLang="zh-TW" dirty="0">
                <a:solidFill>
                  <a:srgbClr val="0000FF"/>
                </a:solidFill>
              </a:rPr>
              <a:t>and C </a:t>
            </a:r>
            <a:r>
              <a:rPr lang="en-US" altLang="zh-TW" dirty="0" smtClean="0">
                <a:solidFill>
                  <a:srgbClr val="0000FF"/>
                </a:solidFill>
              </a:rPr>
              <a:t>(20%).</a:t>
            </a:r>
            <a:endParaRPr lang="zh-TW" altLang="en-US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522288" y="227013"/>
            <a:ext cx="8915400" cy="576262"/>
          </a:xfrm>
        </p:spPr>
        <p:txBody>
          <a:bodyPr/>
          <a:lstStyle/>
          <a:p>
            <a:pPr eaLnBrk="1" hangingPunct="1"/>
            <a:r>
              <a:rPr lang="en-US" altLang="en-US" smtClean="0"/>
              <a:t>POSIX Real-Time Scheduling</a:t>
            </a:r>
          </a:p>
        </p:txBody>
      </p:sp>
      <p:sp>
        <p:nvSpPr>
          <p:cNvPr id="5529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65100" y="749300"/>
            <a:ext cx="9512300" cy="5753100"/>
          </a:xfrm>
        </p:spPr>
        <p:txBody>
          <a:bodyPr/>
          <a:lstStyle/>
          <a:p>
            <a:pPr marL="344488" indent="-344488"/>
            <a:r>
              <a:rPr lang="en-US" altLang="zh-TW" sz="2800" dirty="0" smtClean="0"/>
              <a:t>The POSIX.1b standard</a:t>
            </a:r>
          </a:p>
          <a:p>
            <a:pPr marL="344488" indent="-344488"/>
            <a:r>
              <a:rPr lang="en-US" altLang="zh-TW" sz="2800" dirty="0" smtClean="0"/>
              <a:t>Two scheduling classes for real-time threads:</a:t>
            </a:r>
            <a:endParaRPr lang="en-US" altLang="zh-TW" sz="900" dirty="0" smtClean="0"/>
          </a:p>
          <a:p>
            <a:pPr marL="744538" lvl="1" indent="-344488">
              <a:buFont typeface="Arial" pitchFamily="34" charset="0"/>
              <a:buAutoNum type="arabicPeriod"/>
            </a:pPr>
            <a:r>
              <a:rPr lang="en-US" altLang="zh-TW" sz="2400" dirty="0" smtClean="0"/>
              <a:t>SCHED_FIFO - threads are scheduled using a FCFS strategy with a FIFO queue. There is no time-slicing for threads of equal priority</a:t>
            </a:r>
          </a:p>
          <a:p>
            <a:pPr marL="744538" lvl="1" indent="-344488">
              <a:buFont typeface="Arial" pitchFamily="34" charset="0"/>
              <a:buAutoNum type="arabicPeriod"/>
            </a:pPr>
            <a:r>
              <a:rPr lang="en-US" altLang="zh-TW" sz="2400" dirty="0" smtClean="0"/>
              <a:t>SCHED_RR - similar to SCHED_FIFO except time-slicing occurs for threads of equal priority</a:t>
            </a:r>
          </a:p>
          <a:p>
            <a:pPr marL="344488" indent="-344488"/>
            <a:r>
              <a:rPr lang="en-US" altLang="zh-TW" sz="2800" dirty="0" smtClean="0"/>
              <a:t>Getting and setting scheduling policy:</a:t>
            </a:r>
          </a:p>
          <a:p>
            <a:pPr marL="744538" lvl="1" indent="-344488">
              <a:buFont typeface="Arial" pitchFamily="34" charset="0"/>
              <a:buAutoNum type="arabicPeriod"/>
            </a:pPr>
            <a:r>
              <a:rPr lang="en-US" altLang="zh-TW" sz="2400" b="1" dirty="0" err="1" smtClean="0">
                <a:latin typeface="Adobe Gothic Std B" pitchFamily="34" charset="-128"/>
                <a:ea typeface="Adobe Gothic Std B" pitchFamily="34" charset="-128"/>
                <a:cs typeface="Courier New" pitchFamily="49" charset="0"/>
              </a:rPr>
              <a:t>pthread_attr_getsched_policy</a:t>
            </a:r>
            <a:r>
              <a:rPr lang="en-US" altLang="zh-TW" sz="2400" b="1" dirty="0" smtClean="0">
                <a:latin typeface="Adobe Gothic Std B" pitchFamily="34" charset="-128"/>
                <a:ea typeface="Adobe Gothic Std B" pitchFamily="34" charset="-128"/>
                <a:cs typeface="Courier New" pitchFamily="49" charset="0"/>
              </a:rPr>
              <a:t>(</a:t>
            </a:r>
            <a:r>
              <a:rPr lang="en-US" altLang="zh-TW" sz="2400" b="1" dirty="0" err="1" smtClean="0">
                <a:latin typeface="Adobe Gothic Std B" pitchFamily="34" charset="-128"/>
                <a:ea typeface="Adobe Gothic Std B" pitchFamily="34" charset="-128"/>
                <a:cs typeface="Courier New" pitchFamily="49" charset="0"/>
              </a:rPr>
              <a:t>pthread_attr_t</a:t>
            </a:r>
            <a:r>
              <a:rPr lang="en-US" altLang="zh-TW" sz="2400" b="1" dirty="0" smtClean="0">
                <a:latin typeface="Adobe Gothic Std B" pitchFamily="34" charset="-128"/>
                <a:ea typeface="Adobe Gothic Std B" pitchFamily="34" charset="-128"/>
                <a:cs typeface="Courier New" pitchFamily="49" charset="0"/>
              </a:rPr>
              <a:t> *</a:t>
            </a:r>
            <a:r>
              <a:rPr lang="en-US" altLang="zh-TW" sz="2400" b="1" dirty="0" err="1" smtClean="0">
                <a:latin typeface="Adobe Gothic Std B" pitchFamily="34" charset="-128"/>
                <a:ea typeface="Adobe Gothic Std B" pitchFamily="34" charset="-128"/>
                <a:cs typeface="Courier New" pitchFamily="49" charset="0"/>
              </a:rPr>
              <a:t>attr</a:t>
            </a:r>
            <a:r>
              <a:rPr lang="en-US" altLang="zh-TW" sz="2400" b="1" dirty="0" smtClean="0">
                <a:latin typeface="Adobe Gothic Std B" pitchFamily="34" charset="-128"/>
                <a:ea typeface="Adobe Gothic Std B" pitchFamily="34" charset="-128"/>
                <a:cs typeface="Courier New" pitchFamily="49" charset="0"/>
              </a:rPr>
              <a:t>, </a:t>
            </a:r>
            <a:r>
              <a:rPr lang="en-US" altLang="zh-TW" sz="2400" b="1" dirty="0" err="1" smtClean="0">
                <a:latin typeface="Adobe Gothic Std B" pitchFamily="34" charset="-128"/>
                <a:ea typeface="Adobe Gothic Std B" pitchFamily="34" charset="-128"/>
                <a:cs typeface="Courier New" pitchFamily="49" charset="0"/>
              </a:rPr>
              <a:t>int</a:t>
            </a:r>
            <a:r>
              <a:rPr lang="en-US" altLang="zh-TW" sz="2400" b="1" dirty="0" smtClean="0">
                <a:latin typeface="Adobe Gothic Std B" pitchFamily="34" charset="-128"/>
                <a:ea typeface="Adobe Gothic Std B" pitchFamily="34" charset="-128"/>
                <a:cs typeface="Courier New" pitchFamily="49" charset="0"/>
              </a:rPr>
              <a:t> *policy) </a:t>
            </a:r>
          </a:p>
          <a:p>
            <a:pPr marL="744538" lvl="1" indent="-344488">
              <a:buFont typeface="Arial" pitchFamily="34" charset="0"/>
              <a:buAutoNum type="arabicPeriod"/>
            </a:pPr>
            <a:r>
              <a:rPr lang="en-US" altLang="zh-TW" sz="2400" b="1" dirty="0" err="1" smtClean="0">
                <a:latin typeface="Adobe Gothic Std B" pitchFamily="34" charset="-128"/>
                <a:ea typeface="Adobe Gothic Std B" pitchFamily="34" charset="-128"/>
                <a:cs typeface="Courier New" pitchFamily="49" charset="0"/>
              </a:rPr>
              <a:t>pthread_attr_setsched_policy</a:t>
            </a:r>
            <a:r>
              <a:rPr lang="en-US" altLang="zh-TW" sz="2400" b="1" dirty="0" smtClean="0">
                <a:latin typeface="Adobe Gothic Std B" pitchFamily="34" charset="-128"/>
                <a:ea typeface="Adobe Gothic Std B" pitchFamily="34" charset="-128"/>
                <a:cs typeface="Courier New" pitchFamily="49" charset="0"/>
              </a:rPr>
              <a:t>(</a:t>
            </a:r>
            <a:r>
              <a:rPr lang="en-US" altLang="zh-TW" sz="2400" b="1" dirty="0" err="1" smtClean="0">
                <a:latin typeface="Adobe Gothic Std B" pitchFamily="34" charset="-128"/>
                <a:ea typeface="Adobe Gothic Std B" pitchFamily="34" charset="-128"/>
                <a:cs typeface="Courier New" pitchFamily="49" charset="0"/>
              </a:rPr>
              <a:t>pthread_attr_t</a:t>
            </a:r>
            <a:r>
              <a:rPr lang="en-US" altLang="zh-TW" sz="2400" b="1" dirty="0" smtClean="0">
                <a:latin typeface="Adobe Gothic Std B" pitchFamily="34" charset="-128"/>
                <a:ea typeface="Adobe Gothic Std B" pitchFamily="34" charset="-128"/>
                <a:cs typeface="Courier New" pitchFamily="49" charset="0"/>
              </a:rPr>
              <a:t> *</a:t>
            </a:r>
            <a:r>
              <a:rPr lang="en-US" altLang="zh-TW" sz="2400" b="1" dirty="0" err="1" smtClean="0">
                <a:latin typeface="Adobe Gothic Std B" pitchFamily="34" charset="-128"/>
                <a:ea typeface="Adobe Gothic Std B" pitchFamily="34" charset="-128"/>
                <a:cs typeface="Courier New" pitchFamily="49" charset="0"/>
              </a:rPr>
              <a:t>attr</a:t>
            </a:r>
            <a:r>
              <a:rPr lang="en-US" altLang="zh-TW" sz="2400" b="1" dirty="0" smtClean="0">
                <a:latin typeface="Adobe Gothic Std B" pitchFamily="34" charset="-128"/>
                <a:ea typeface="Adobe Gothic Std B" pitchFamily="34" charset="-128"/>
                <a:cs typeface="Courier New" pitchFamily="49" charset="0"/>
              </a:rPr>
              <a:t>, </a:t>
            </a:r>
            <a:r>
              <a:rPr lang="en-US" altLang="zh-TW" sz="2400" b="1" dirty="0" err="1" smtClean="0">
                <a:latin typeface="Adobe Gothic Std B" pitchFamily="34" charset="-128"/>
                <a:ea typeface="Adobe Gothic Std B" pitchFamily="34" charset="-128"/>
                <a:cs typeface="Courier New" pitchFamily="49" charset="0"/>
              </a:rPr>
              <a:t>int</a:t>
            </a:r>
            <a:r>
              <a:rPr lang="en-US" altLang="zh-TW" sz="2400" b="1" dirty="0" smtClean="0">
                <a:latin typeface="Adobe Gothic Std B" pitchFamily="34" charset="-128"/>
                <a:ea typeface="Adobe Gothic Std B" pitchFamily="34" charset="-128"/>
                <a:cs typeface="Courier New" pitchFamily="49" charset="0"/>
              </a:rPr>
              <a:t> policy) </a:t>
            </a:r>
          </a:p>
        </p:txBody>
      </p:sp>
      <p:sp>
        <p:nvSpPr>
          <p:cNvPr id="55300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14952A6-E7BA-429D-AF8B-D76E0FC82DE2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  <p:sp>
        <p:nvSpPr>
          <p:cNvPr id="55301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OS6-2018</a:t>
            </a:r>
            <a:endParaRPr kumimoji="0" lang="en-US" altLang="zh-TW" sz="1400" dirty="0"/>
          </a:p>
        </p:txBody>
      </p:sp>
      <p:sp>
        <p:nvSpPr>
          <p:cNvPr id="55302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14509272-8564-4CAF-9BE0-28EC1430ED00}" type="slidenum">
              <a:rPr kumimoji="0" lang="en-US" altLang="zh-TW" sz="1400" smtClean="0"/>
              <a:pPr eaLnBrk="1" hangingPunct="1"/>
              <a:t>58</a:t>
            </a:fld>
            <a:endParaRPr kumimoji="0" lang="en-US" altLang="zh-TW" sz="14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58371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7867144-E8C7-4BA2-9FDF-88431C078E58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59</a:t>
            </a:fld>
            <a:endParaRPr kumimoji="0" lang="en-US" altLang="zh-TW" sz="1400" smtClean="0"/>
          </a:p>
        </p:txBody>
      </p:sp>
      <p:sp>
        <p:nvSpPr>
          <p:cNvPr id="583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Operating System Examples</a:t>
            </a:r>
          </a:p>
        </p:txBody>
      </p:sp>
      <p:sp>
        <p:nvSpPr>
          <p:cNvPr id="35635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19150" y="1109663"/>
            <a:ext cx="7413625" cy="3508375"/>
          </a:xfrm>
        </p:spPr>
        <p:txBody>
          <a:bodyPr/>
          <a:lstStyle/>
          <a:p>
            <a:pPr eaLnBrk="1" hangingPunct="1">
              <a:defRPr/>
            </a:pPr>
            <a:endParaRPr lang="en-US" altLang="zh-TW" dirty="0" smtClean="0"/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TW" dirty="0" smtClean="0">
                <a:solidFill>
                  <a:srgbClr val="0000FF"/>
                </a:solidFill>
              </a:rPr>
              <a:t>Linux scheduling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TW" dirty="0" smtClean="0">
                <a:solidFill>
                  <a:srgbClr val="0000FF"/>
                </a:solidFill>
              </a:rPr>
              <a:t>Windows scheduling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TW" dirty="0" smtClean="0">
                <a:solidFill>
                  <a:srgbClr val="0000FF"/>
                </a:solidFill>
              </a:rPr>
              <a:t>Solaris scheduling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TW" dirty="0"/>
              <a:t>Java </a:t>
            </a:r>
            <a:r>
              <a:rPr lang="en-US" altLang="zh-TW" dirty="0" smtClean="0"/>
              <a:t>scheduling</a:t>
            </a:r>
            <a:endParaRPr lang="en-US" altLang="zh-TW" dirty="0">
              <a:solidFill>
                <a:srgbClr val="0000FF"/>
              </a:solidFill>
            </a:endParaRPr>
          </a:p>
          <a:p>
            <a:pPr eaLnBrk="1" hangingPunct="1">
              <a:spcBef>
                <a:spcPct val="50000"/>
              </a:spcBef>
              <a:defRPr/>
            </a:pPr>
            <a:endParaRPr lang="en-US" altLang="zh-TW" dirty="0"/>
          </a:p>
          <a:p>
            <a:pPr eaLnBrk="1" hangingPunct="1">
              <a:spcBef>
                <a:spcPct val="50000"/>
              </a:spcBef>
              <a:defRPr/>
            </a:pPr>
            <a:endParaRPr lang="en-US" altLang="zh-TW" dirty="0" smtClean="0"/>
          </a:p>
        </p:txBody>
      </p:sp>
      <p:sp>
        <p:nvSpPr>
          <p:cNvPr id="58374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B780B27E-BC76-4BAE-8875-D1D3D0A0494E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64515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D7B56D1-70D6-4449-AEFA-AAE93B2BEFB4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60</a:t>
            </a:fld>
            <a:endParaRPr kumimoji="0" lang="en-US" altLang="zh-TW" sz="1400" smtClean="0"/>
          </a:p>
        </p:txBody>
      </p:sp>
      <p:sp>
        <p:nvSpPr>
          <p:cNvPr id="64516" name="Rectangle 2"/>
          <p:cNvSpPr>
            <a:spLocks noGrp="1" noChangeArrowheads="1"/>
          </p:cNvSpPr>
          <p:nvPr>
            <p:ph type="title"/>
          </p:nvPr>
        </p:nvSpPr>
        <p:spPr>
          <a:xfrm>
            <a:off x="660400" y="0"/>
            <a:ext cx="8420100" cy="698500"/>
          </a:xfrm>
        </p:spPr>
        <p:txBody>
          <a:bodyPr/>
          <a:lstStyle/>
          <a:p>
            <a:pPr eaLnBrk="1" hangingPunct="1"/>
            <a:r>
              <a:rPr lang="en-US" altLang="zh-TW" sz="3600" smtClean="0"/>
              <a:t>Linux Scheduling </a:t>
            </a:r>
            <a:r>
              <a:rPr lang="en-US" altLang="zh-TW" sz="3600" smtClean="0">
                <a:latin typeface="Helvetica" pitchFamily="34" charset="0"/>
              </a:rPr>
              <a:t>–</a:t>
            </a:r>
            <a:r>
              <a:rPr lang="en-US" altLang="zh-TW" sz="3600" smtClean="0"/>
              <a:t> </a:t>
            </a:r>
            <a:r>
              <a:rPr lang="en-US" altLang="zh-TW" sz="3200" smtClean="0"/>
              <a:t>preemptive &amp; priority</a:t>
            </a:r>
          </a:p>
        </p:txBody>
      </p:sp>
      <p:sp>
        <p:nvSpPr>
          <p:cNvPr id="36454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39725" y="731838"/>
            <a:ext cx="9190038" cy="56689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Version 2.5: support SMP, </a:t>
            </a:r>
            <a:r>
              <a:rPr lang="en-US" altLang="zh-TW" sz="2800" dirty="0" smtClean="0">
                <a:solidFill>
                  <a:srgbClr val="FF0000"/>
                </a:solidFill>
              </a:rPr>
              <a:t>Load balancing </a:t>
            </a:r>
            <a:r>
              <a:rPr lang="en-US" altLang="zh-TW" sz="2800" dirty="0" smtClean="0"/>
              <a:t>&amp; </a:t>
            </a:r>
            <a:r>
              <a:rPr lang="en-US" altLang="zh-TW" sz="2800" dirty="0" smtClean="0">
                <a:solidFill>
                  <a:srgbClr val="FF0000"/>
                </a:solidFill>
              </a:rPr>
              <a:t>Processor</a:t>
            </a:r>
            <a:r>
              <a:rPr lang="en-US" altLang="zh-TW" sz="2800" dirty="0" smtClean="0">
                <a:solidFill>
                  <a:schemeClr val="tx2"/>
                </a:solidFill>
              </a:rPr>
              <a:t> </a:t>
            </a:r>
            <a:r>
              <a:rPr lang="en-US" altLang="zh-TW" sz="2800" dirty="0" smtClean="0">
                <a:solidFill>
                  <a:srgbClr val="FF0000"/>
                </a:solidFill>
              </a:rPr>
              <a:t>affinity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 smtClean="0"/>
              <a:t>Constant </a:t>
            </a:r>
            <a:r>
              <a:rPr lang="en-US" altLang="zh-TW" dirty="0"/>
              <a:t>order </a:t>
            </a:r>
            <a:r>
              <a:rPr lang="en-US" altLang="zh-TW" dirty="0">
                <a:solidFill>
                  <a:srgbClr val="FF0000"/>
                </a:solidFill>
              </a:rPr>
              <a:t>O(1) </a:t>
            </a:r>
            <a:r>
              <a:rPr lang="en-US" altLang="zh-TW" dirty="0"/>
              <a:t>scheduling </a:t>
            </a:r>
            <a:r>
              <a:rPr lang="en-US" altLang="zh-TW" dirty="0" smtClean="0"/>
              <a:t>time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/>
              <a:t>Preemptive, priority </a:t>
            </a:r>
            <a:r>
              <a:rPr lang="en-US" altLang="zh-TW" dirty="0" smtClean="0"/>
              <a:t>based. Two </a:t>
            </a:r>
            <a:r>
              <a:rPr lang="en-US" altLang="zh-TW" dirty="0"/>
              <a:t>priority ranges: time-sharing and </a:t>
            </a:r>
            <a:r>
              <a:rPr lang="en-US" altLang="zh-TW" dirty="0" smtClean="0"/>
              <a:t>real-time, Time-sharing (100-140) and Real-time (0-99)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 smtClean="0">
                <a:solidFill>
                  <a:srgbClr val="0000FF"/>
                </a:solidFill>
              </a:rPr>
              <a:t>Higher priority with longer time quanta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/>
              <a:t>Map into  global priority with numerically lower values indicating higher priority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 smtClean="0">
                <a:solidFill>
                  <a:srgbClr val="00B050"/>
                </a:solidFill>
              </a:rPr>
              <a:t>Prioritized credit-based </a:t>
            </a:r>
            <a:r>
              <a:rPr lang="en-US" altLang="zh-TW" sz="2400" dirty="0" smtClean="0">
                <a:solidFill>
                  <a:srgbClr val="00B050"/>
                </a:solidFill>
                <a:latin typeface="Helvetica" pitchFamily="34" charset="0"/>
              </a:rPr>
              <a:t>–</a:t>
            </a:r>
            <a:r>
              <a:rPr lang="en-US" altLang="zh-TW" sz="2400" dirty="0" smtClean="0">
                <a:solidFill>
                  <a:srgbClr val="00B050"/>
                </a:solidFill>
              </a:rPr>
              <a:t> process with most credits is scheduled next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 smtClean="0">
                <a:solidFill>
                  <a:srgbClr val="00B050"/>
                </a:solidFill>
              </a:rPr>
              <a:t>Credit subtracted when timer interrupt occurs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 smtClean="0">
                <a:solidFill>
                  <a:srgbClr val="00B050"/>
                </a:solidFill>
              </a:rPr>
              <a:t>When credit = 0, another process chosen</a:t>
            </a:r>
          </a:p>
        </p:txBody>
      </p:sp>
      <p:sp>
        <p:nvSpPr>
          <p:cNvPr id="64518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6554B3C5-A4A0-4247-A3E1-BC4EC9F40167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  <p:sp>
        <p:nvSpPr>
          <p:cNvPr id="2" name="矩形 1"/>
          <p:cNvSpPr/>
          <p:nvPr/>
        </p:nvSpPr>
        <p:spPr>
          <a:xfrm>
            <a:off x="7043256" y="1343968"/>
            <a:ext cx="2815514" cy="707886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</a:rPr>
              <a:t>excellent </a:t>
            </a:r>
            <a:r>
              <a:rPr lang="en-US" altLang="zh-TW" sz="2000" dirty="0" smtClean="0">
                <a:solidFill>
                  <a:srgbClr val="FF0000"/>
                </a:solidFill>
              </a:rPr>
              <a:t>performance</a:t>
            </a:r>
          </a:p>
          <a:p>
            <a:r>
              <a:rPr lang="en-US" altLang="zh-TW" sz="2000" dirty="0" smtClean="0">
                <a:solidFill>
                  <a:srgbClr val="FF0000"/>
                </a:solidFill>
              </a:rPr>
              <a:t>but poor response time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5436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64515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D7B56D1-70D6-4449-AEFA-AAE93B2BEFB4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61</a:t>
            </a:fld>
            <a:endParaRPr kumimoji="0" lang="en-US" altLang="zh-TW" sz="1400" smtClean="0"/>
          </a:p>
        </p:txBody>
      </p:sp>
      <p:sp>
        <p:nvSpPr>
          <p:cNvPr id="64516" name="Rectangle 2"/>
          <p:cNvSpPr>
            <a:spLocks noGrp="1" noChangeArrowheads="1"/>
          </p:cNvSpPr>
          <p:nvPr>
            <p:ph type="title"/>
          </p:nvPr>
        </p:nvSpPr>
        <p:spPr>
          <a:xfrm>
            <a:off x="660400" y="0"/>
            <a:ext cx="8420100" cy="698500"/>
          </a:xfrm>
        </p:spPr>
        <p:txBody>
          <a:bodyPr/>
          <a:lstStyle/>
          <a:p>
            <a:pPr eaLnBrk="1" hangingPunct="1"/>
            <a:r>
              <a:rPr lang="en-US" altLang="zh-TW" sz="3600" smtClean="0"/>
              <a:t>Linux Scheduling </a:t>
            </a:r>
            <a:r>
              <a:rPr lang="en-US" altLang="zh-TW" sz="3600" smtClean="0">
                <a:latin typeface="Helvetica" pitchFamily="34" charset="0"/>
              </a:rPr>
              <a:t>–</a:t>
            </a:r>
            <a:r>
              <a:rPr lang="en-US" altLang="zh-TW" sz="3600" smtClean="0"/>
              <a:t> </a:t>
            </a:r>
            <a:r>
              <a:rPr lang="en-US" altLang="zh-TW" sz="3200" smtClean="0"/>
              <a:t>preemptive &amp; priority</a:t>
            </a:r>
          </a:p>
        </p:txBody>
      </p:sp>
      <p:sp>
        <p:nvSpPr>
          <p:cNvPr id="36454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39725" y="731838"/>
            <a:ext cx="9190038" cy="5314950"/>
          </a:xfrm>
        </p:spPr>
        <p:txBody>
          <a:bodyPr/>
          <a:lstStyle/>
          <a:p>
            <a:pPr lvl="1" eaLnBrk="1" hangingPunct="1">
              <a:lnSpc>
                <a:spcPct val="90000"/>
              </a:lnSpc>
            </a:pPr>
            <a:r>
              <a:rPr lang="en-US" altLang="zh-TW" dirty="0">
                <a:solidFill>
                  <a:srgbClr val="00B050"/>
                </a:solidFill>
              </a:rPr>
              <a:t>When all processes have credit = 0, </a:t>
            </a:r>
            <a:r>
              <a:rPr lang="en-US" altLang="zh-TW" dirty="0" err="1">
                <a:solidFill>
                  <a:srgbClr val="00B050"/>
                </a:solidFill>
              </a:rPr>
              <a:t>recrediting</a:t>
            </a:r>
            <a:r>
              <a:rPr lang="en-US" altLang="zh-TW" dirty="0">
                <a:solidFill>
                  <a:srgbClr val="00B050"/>
                </a:solidFill>
              </a:rPr>
              <a:t> occurs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2800" dirty="0">
                <a:solidFill>
                  <a:srgbClr val="00B050"/>
                </a:solidFill>
              </a:rPr>
              <a:t>Based on factors including priority and </a:t>
            </a:r>
            <a:r>
              <a:rPr lang="en-US" altLang="zh-TW" sz="2800" dirty="0" smtClean="0">
                <a:solidFill>
                  <a:srgbClr val="00B050"/>
                </a:solidFill>
              </a:rPr>
              <a:t>history</a:t>
            </a:r>
            <a:endParaRPr lang="en-US" altLang="zh-TW" sz="3200" dirty="0" smtClean="0">
              <a:solidFill>
                <a:srgbClr val="00B050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ts val="1200"/>
              </a:spcBef>
            </a:pPr>
            <a:r>
              <a:rPr lang="en-US" altLang="zh-TW" dirty="0" smtClean="0">
                <a:solidFill>
                  <a:srgbClr val="0000FF"/>
                </a:solidFill>
              </a:rPr>
              <a:t>Worked </a:t>
            </a:r>
            <a:r>
              <a:rPr lang="en-US" altLang="zh-TW" dirty="0">
                <a:solidFill>
                  <a:srgbClr val="0000FF"/>
                </a:solidFill>
              </a:rPr>
              <a:t>well, but poor response times for interactive processes</a:t>
            </a:r>
          </a:p>
          <a:p>
            <a:pPr eaLnBrk="1" hangingPunct="1">
              <a:lnSpc>
                <a:spcPct val="90000"/>
              </a:lnSpc>
              <a:spcBef>
                <a:spcPts val="1800"/>
              </a:spcBef>
            </a:pPr>
            <a:r>
              <a:rPr lang="en-US" altLang="zh-TW" dirty="0" smtClean="0"/>
              <a:t>Real-time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 smtClean="0"/>
              <a:t>Soft </a:t>
            </a:r>
            <a:r>
              <a:rPr lang="en-US" altLang="zh-TW" dirty="0"/>
              <a:t>real-time </a:t>
            </a:r>
            <a:r>
              <a:rPr lang="en-US" altLang="zh-TW" dirty="0" smtClean="0">
                <a:solidFill>
                  <a:srgbClr val="FF0000"/>
                </a:solidFill>
              </a:rPr>
              <a:t>(assigned </a:t>
            </a:r>
            <a:r>
              <a:rPr lang="en-US" altLang="zh-TW" dirty="0">
                <a:solidFill>
                  <a:srgbClr val="FF0000"/>
                </a:solidFill>
              </a:rPr>
              <a:t>static </a:t>
            </a:r>
            <a:r>
              <a:rPr lang="en-US" altLang="zh-TW" dirty="0" smtClean="0">
                <a:solidFill>
                  <a:srgbClr val="FF0000"/>
                </a:solidFill>
              </a:rPr>
              <a:t>priorities)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 smtClean="0"/>
              <a:t>Posix.1b compliant </a:t>
            </a:r>
            <a:r>
              <a:rPr lang="en-US" altLang="zh-TW" dirty="0" smtClean="0">
                <a:latin typeface="Helvetica" pitchFamily="34" charset="0"/>
              </a:rPr>
              <a:t>–</a:t>
            </a:r>
            <a:r>
              <a:rPr lang="en-US" altLang="zh-TW" dirty="0" smtClean="0"/>
              <a:t> two classes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2800" dirty="0" smtClean="0"/>
              <a:t>FCFS and RR</a:t>
            </a:r>
          </a:p>
        </p:txBody>
      </p:sp>
      <p:sp>
        <p:nvSpPr>
          <p:cNvPr id="64518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89095954-1840-4CCB-934B-4E2C07506784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  <p:pic>
        <p:nvPicPr>
          <p:cNvPr id="7" name="Picture 1" descr="Screen Shot 2012-12-17 at 9.28.34 P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9599" y="5154613"/>
            <a:ext cx="6081713" cy="170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5479255" y="4692948"/>
            <a:ext cx="2129632" cy="461665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nice </a:t>
            </a:r>
            <a:r>
              <a:rPr lang="en-US" altLang="zh-TW" dirty="0" smtClean="0">
                <a:solidFill>
                  <a:srgbClr val="FF0000"/>
                </a:solidFill>
              </a:rPr>
              <a:t>value –20</a:t>
            </a:r>
            <a:endParaRPr lang="en-US" altLang="zh-TW" dirty="0">
              <a:solidFill>
                <a:srgbClr val="FF0000"/>
              </a:solidFill>
            </a:endParaRPr>
          </a:p>
        </p:txBody>
      </p:sp>
      <p:cxnSp>
        <p:nvCxnSpPr>
          <p:cNvPr id="4" name="直線單箭頭接點 3"/>
          <p:cNvCxnSpPr/>
          <p:nvPr/>
        </p:nvCxnSpPr>
        <p:spPr bwMode="auto">
          <a:xfrm flipH="1">
            <a:off x="5765800" y="5154613"/>
            <a:ext cx="778271" cy="523319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矩形 10"/>
          <p:cNvSpPr/>
          <p:nvPr/>
        </p:nvSpPr>
        <p:spPr>
          <a:xfrm>
            <a:off x="7635874" y="4692948"/>
            <a:ext cx="2129632" cy="461665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nice </a:t>
            </a:r>
            <a:r>
              <a:rPr lang="en-US" altLang="zh-TW" dirty="0" smtClean="0">
                <a:solidFill>
                  <a:srgbClr val="FF0000"/>
                </a:solidFill>
              </a:rPr>
              <a:t>value 19</a:t>
            </a:r>
            <a:endParaRPr lang="en-US" altLang="zh-TW" dirty="0">
              <a:solidFill>
                <a:srgbClr val="FF0000"/>
              </a:solidFill>
            </a:endParaRPr>
          </a:p>
        </p:txBody>
      </p:sp>
      <p:cxnSp>
        <p:nvCxnSpPr>
          <p:cNvPr id="12" name="直線單箭頭接點 11"/>
          <p:cNvCxnSpPr/>
          <p:nvPr/>
        </p:nvCxnSpPr>
        <p:spPr bwMode="auto">
          <a:xfrm flipH="1">
            <a:off x="7922419" y="5154613"/>
            <a:ext cx="778271" cy="523319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521586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65539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68571B0-7ED7-42F6-91E5-76A45BCD4375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62</a:t>
            </a:fld>
            <a:endParaRPr kumimoji="0" lang="en-US" altLang="zh-TW" sz="1400" smtClean="0"/>
          </a:p>
        </p:txBody>
      </p:sp>
      <p:sp>
        <p:nvSpPr>
          <p:cNvPr id="65540" name="Rectangle 2"/>
          <p:cNvSpPr>
            <a:spLocks noGrp="1" noChangeArrowheads="1"/>
          </p:cNvSpPr>
          <p:nvPr>
            <p:ph type="title"/>
          </p:nvPr>
        </p:nvSpPr>
        <p:spPr>
          <a:xfrm>
            <a:off x="288925" y="312738"/>
            <a:ext cx="9404350" cy="457200"/>
          </a:xfrm>
        </p:spPr>
        <p:txBody>
          <a:bodyPr/>
          <a:lstStyle/>
          <a:p>
            <a:pPr algn="ctr" eaLnBrk="1" hangingPunct="1"/>
            <a:r>
              <a:rPr lang="en-US" altLang="zh-TW" sz="3200" smtClean="0"/>
              <a:t>Relationship Between Priorities and Time-quantum</a:t>
            </a:r>
          </a:p>
        </p:txBody>
      </p:sp>
      <p:pic>
        <p:nvPicPr>
          <p:cNvPr id="6554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" t="12558" r="1003" b="13094"/>
          <a:stretch>
            <a:fillRect/>
          </a:stretch>
        </p:blipFill>
        <p:spPr bwMode="auto">
          <a:xfrm>
            <a:off x="2020888" y="769938"/>
            <a:ext cx="4173537" cy="2579687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5542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4688" y="3865563"/>
            <a:ext cx="4249737" cy="2524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5543" name="Rectangle 2"/>
          <p:cNvSpPr txBox="1">
            <a:spLocks noChangeArrowheads="1"/>
          </p:cNvSpPr>
          <p:nvPr/>
        </p:nvSpPr>
        <p:spPr bwMode="auto">
          <a:xfrm>
            <a:off x="296863" y="3276600"/>
            <a:ext cx="9236075" cy="588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>
                <a:solidFill>
                  <a:srgbClr val="FF0000"/>
                </a:solidFill>
              </a:rPr>
              <a:t>Active Lists and Expired Lists</a:t>
            </a:r>
          </a:p>
        </p:txBody>
      </p:sp>
      <p:sp>
        <p:nvSpPr>
          <p:cNvPr id="65544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BED6DAD5-AE35-4F5D-8544-9930BEB43543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  <p:sp>
        <p:nvSpPr>
          <p:cNvPr id="10" name="矩形 9"/>
          <p:cNvSpPr/>
          <p:nvPr/>
        </p:nvSpPr>
        <p:spPr>
          <a:xfrm>
            <a:off x="454025" y="5040958"/>
            <a:ext cx="175577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>
                <a:solidFill>
                  <a:srgbClr val="0000FF"/>
                </a:solidFill>
              </a:rPr>
              <a:t>n</a:t>
            </a:r>
            <a:r>
              <a:rPr lang="en-US" altLang="zh-TW" sz="2000" dirty="0" smtClean="0">
                <a:solidFill>
                  <a:srgbClr val="0000FF"/>
                </a:solidFill>
              </a:rPr>
              <a:t>ew tasks may come consecutively</a:t>
            </a:r>
            <a:endParaRPr lang="zh-TW" altLang="en-US" sz="2000" dirty="0">
              <a:solidFill>
                <a:srgbClr val="0000FF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016497" y="713690"/>
            <a:ext cx="877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dirty="0" smtClean="0">
                <a:solidFill>
                  <a:srgbClr val="0000FF"/>
                </a:solidFill>
              </a:rPr>
              <a:t>fixed</a:t>
            </a:r>
            <a:endParaRPr lang="zh-TW" altLang="en-US" sz="2000" dirty="0">
              <a:solidFill>
                <a:srgbClr val="0000FF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4953000" y="1644282"/>
            <a:ext cx="26924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 smtClean="0">
                <a:solidFill>
                  <a:srgbClr val="FF0000"/>
                </a:solidFill>
              </a:rPr>
              <a:t>higher </a:t>
            </a:r>
            <a:r>
              <a:rPr lang="en-US" altLang="zh-TW" sz="2000" dirty="0">
                <a:solidFill>
                  <a:srgbClr val="FF0000"/>
                </a:solidFill>
              </a:rPr>
              <a:t>priority with longer time quanta</a:t>
            </a:r>
          </a:p>
        </p:txBody>
      </p:sp>
    </p:spTree>
    <p:extLst>
      <p:ext uri="{BB962C8B-B14F-4D97-AF65-F5344CB8AC3E}">
        <p14:creationId xmlns:p14="http://schemas.microsoft.com/office/powerpoint/2010/main" val="2934120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3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129117" y="138112"/>
            <a:ext cx="9510183" cy="852487"/>
          </a:xfrm>
        </p:spPr>
        <p:txBody>
          <a:bodyPr/>
          <a:lstStyle/>
          <a:p>
            <a:pPr eaLnBrk="1" hangingPunct="1"/>
            <a:r>
              <a:rPr lang="en-US" altLang="en-US" sz="4000" dirty="0" smtClean="0"/>
              <a:t>Linux Scheduling in Version 2.6.23 +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2100" y="1028700"/>
            <a:ext cx="9436100" cy="5588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b="1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Completely Fair Scheduler </a:t>
            </a:r>
            <a:r>
              <a:rPr lang="en-US" altLang="en-US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(CFS)</a:t>
            </a:r>
          </a:p>
          <a:p>
            <a:pPr>
              <a:lnSpc>
                <a:spcPct val="90000"/>
              </a:lnSpc>
            </a:pPr>
            <a:r>
              <a:rPr lang="en-US" altLang="en-US" sz="2400" b="1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Scheduling classes</a:t>
            </a:r>
            <a:endParaRPr lang="en-US" altLang="en-US" sz="2800" b="1" dirty="0" smtClean="0">
              <a:solidFill>
                <a:srgbClr val="FF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en-US" altLang="en-US" sz="2400" dirty="0" smtClean="0"/>
              <a:t>Each has specific priority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 smtClean="0"/>
              <a:t>Scheduler picks </a:t>
            </a:r>
            <a:r>
              <a:rPr lang="en-US" altLang="en-US" sz="2400" dirty="0" smtClean="0">
                <a:solidFill>
                  <a:srgbClr val="0000FF"/>
                </a:solidFill>
              </a:rPr>
              <a:t>highest priority task </a:t>
            </a:r>
            <a:r>
              <a:rPr lang="en-US" altLang="en-US" sz="2400" dirty="0" smtClean="0"/>
              <a:t>in </a:t>
            </a:r>
            <a:r>
              <a:rPr lang="en-US" altLang="en-US" sz="2400" dirty="0" smtClean="0">
                <a:solidFill>
                  <a:srgbClr val="0000FF"/>
                </a:solidFill>
              </a:rPr>
              <a:t>highest scheduling class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 smtClean="0"/>
              <a:t>Rather than </a:t>
            </a:r>
            <a:r>
              <a:rPr lang="en-US" altLang="en-US" sz="2400" dirty="0" smtClean="0">
                <a:solidFill>
                  <a:srgbClr val="FF0000"/>
                </a:solidFill>
              </a:rPr>
              <a:t>quantum</a:t>
            </a:r>
            <a:r>
              <a:rPr lang="en-US" altLang="en-US" sz="2400" dirty="0" smtClean="0"/>
              <a:t> based on fixed time allotments, based on </a:t>
            </a:r>
            <a:r>
              <a:rPr lang="en-US" altLang="en-US" sz="2400" dirty="0" smtClean="0">
                <a:solidFill>
                  <a:srgbClr val="FF0000"/>
                </a:solidFill>
              </a:rPr>
              <a:t>proportion of CPU time </a:t>
            </a:r>
            <a:r>
              <a:rPr lang="en-US" altLang="en-US" sz="2400" dirty="0" smtClean="0">
                <a:solidFill>
                  <a:srgbClr val="0000FF"/>
                </a:solidFill>
              </a:rPr>
              <a:t>(allocated ratio)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 smtClean="0"/>
              <a:t>2 scheduling classes included: default and real-time, others can be added</a:t>
            </a:r>
          </a:p>
          <a:p>
            <a:pPr>
              <a:lnSpc>
                <a:spcPct val="90000"/>
              </a:lnSpc>
            </a:pPr>
            <a:r>
              <a:rPr lang="en-US" altLang="en-US" sz="2400" dirty="0" smtClean="0">
                <a:latin typeface="Adobe Gothic Std B" pitchFamily="34" charset="-128"/>
                <a:ea typeface="Adobe Gothic Std B" pitchFamily="34" charset="-128"/>
              </a:rPr>
              <a:t>Quantum calculated based on </a:t>
            </a:r>
            <a:r>
              <a:rPr lang="en-US" altLang="en-US" sz="2400" b="1" dirty="0" smtClean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nice value </a:t>
            </a:r>
            <a:r>
              <a:rPr lang="en-US" altLang="en-US" sz="2400" dirty="0" smtClean="0">
                <a:latin typeface="Adobe Gothic Std B" pitchFamily="34" charset="-128"/>
                <a:ea typeface="Adobe Gothic Std B" pitchFamily="34" charset="-128"/>
              </a:rPr>
              <a:t>from -20 to +19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 smtClean="0"/>
              <a:t>Lower value is higher priority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 smtClean="0"/>
              <a:t>Calculates </a:t>
            </a:r>
            <a:r>
              <a:rPr lang="en-US" altLang="en-US" sz="2400" b="1" dirty="0" smtClean="0">
                <a:solidFill>
                  <a:srgbClr val="3366FF"/>
                </a:solidFill>
              </a:rPr>
              <a:t>target</a:t>
            </a:r>
            <a:r>
              <a:rPr lang="en-US" altLang="en-US" sz="2400" b="1" dirty="0" smtClean="0">
                <a:solidFill>
                  <a:srgbClr val="FF0000"/>
                </a:solidFill>
              </a:rPr>
              <a:t>ed</a:t>
            </a:r>
            <a:r>
              <a:rPr lang="en-US" altLang="en-US" sz="2400" b="1" dirty="0" smtClean="0">
                <a:solidFill>
                  <a:srgbClr val="3366FF"/>
                </a:solidFill>
              </a:rPr>
              <a:t> latency </a:t>
            </a:r>
            <a:r>
              <a:rPr lang="en-US" altLang="en-US" sz="2400" dirty="0" smtClean="0"/>
              <a:t>– interval of time during which task should run </a:t>
            </a:r>
            <a:r>
              <a:rPr lang="en-US" altLang="en-US" sz="2400" dirty="0" smtClean="0">
                <a:solidFill>
                  <a:srgbClr val="FF0000"/>
                </a:solidFill>
              </a:rPr>
              <a:t>at least once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 smtClean="0"/>
              <a:t>Target</a:t>
            </a:r>
            <a:r>
              <a:rPr lang="en-US" altLang="en-US" sz="2400" b="1" dirty="0">
                <a:solidFill>
                  <a:srgbClr val="FF0000"/>
                </a:solidFill>
              </a:rPr>
              <a:t>ed</a:t>
            </a:r>
            <a:r>
              <a:rPr lang="en-US" altLang="en-US" sz="2400" dirty="0" smtClean="0"/>
              <a:t> latency can increase if say number of active tasks increases</a:t>
            </a:r>
            <a:endParaRPr lang="en-US" altLang="en-US" sz="3600" dirty="0" smtClean="0"/>
          </a:p>
          <a:p>
            <a:pPr lvl="1">
              <a:lnSpc>
                <a:spcPct val="90000"/>
              </a:lnSpc>
            </a:pPr>
            <a:endParaRPr lang="en-US" altLang="en-US" dirty="0" smtClean="0"/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5B18CF0-2A39-4BE2-AADE-7D5B38E38A0A}" type="datetime1">
              <a:rPr lang="zh-TW" altLang="en-US" smtClean="0"/>
              <a:t>2018/3/22</a:t>
            </a:fld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smtClean="0"/>
              <a:t>OS6-2018</a:t>
            </a: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7D0856-F05B-46B4-A8C6-92B923A29FDA}" type="slidenum">
              <a:rPr lang="en-US" altLang="zh-TW" smtClean="0"/>
              <a:pPr>
                <a:defRPr/>
              </a:pPr>
              <a:t>63</a:t>
            </a:fld>
            <a:endParaRPr lang="en-US" altLang="zh-TW"/>
          </a:p>
        </p:txBody>
      </p:sp>
      <p:sp>
        <p:nvSpPr>
          <p:cNvPr id="7" name="矩形 6"/>
          <p:cNvSpPr/>
          <p:nvPr/>
        </p:nvSpPr>
        <p:spPr>
          <a:xfrm>
            <a:off x="5227156" y="3756968"/>
            <a:ext cx="2279791" cy="400110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</a:rPr>
              <a:t>nice to other tasks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5112856" y="4620568"/>
            <a:ext cx="3075201" cy="400110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en-US" altLang="zh-TW" sz="2000" dirty="0" smtClean="0">
                <a:solidFill>
                  <a:srgbClr val="FF0000"/>
                </a:solidFill>
              </a:rPr>
              <a:t>Instead of </a:t>
            </a:r>
            <a:r>
              <a:rPr lang="en-US" altLang="zh-TW" sz="2000" dirty="0">
                <a:solidFill>
                  <a:srgbClr val="FF0000"/>
                </a:solidFill>
              </a:rPr>
              <a:t>time </a:t>
            </a:r>
            <a:r>
              <a:rPr lang="en-US" altLang="zh-TW" sz="2000" dirty="0" smtClean="0">
                <a:solidFill>
                  <a:srgbClr val="FF0000"/>
                </a:solidFill>
              </a:rPr>
              <a:t>quantum 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cxnSp>
        <p:nvCxnSpPr>
          <p:cNvPr id="6" name="直線單箭頭接點 5"/>
          <p:cNvCxnSpPr>
            <a:stCxn id="8" idx="1"/>
          </p:cNvCxnSpPr>
          <p:nvPr/>
        </p:nvCxnSpPr>
        <p:spPr bwMode="auto">
          <a:xfrm flipH="1">
            <a:off x="4749800" y="4820623"/>
            <a:ext cx="363056" cy="200055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172157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129117" y="138112"/>
            <a:ext cx="9510183" cy="852487"/>
          </a:xfrm>
        </p:spPr>
        <p:txBody>
          <a:bodyPr/>
          <a:lstStyle/>
          <a:p>
            <a:pPr eaLnBrk="1" hangingPunct="1"/>
            <a:r>
              <a:rPr lang="en-US" altLang="en-US" sz="4000" dirty="0" smtClean="0"/>
              <a:t>Linux Scheduling in Version 2.6.23 +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2100" y="1028700"/>
            <a:ext cx="9436100" cy="5588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dirty="0" smtClean="0"/>
              <a:t>CFS scheduler maintains per task </a:t>
            </a:r>
            <a:r>
              <a:rPr lang="en-US" altLang="en-US" sz="2800" b="1" dirty="0" smtClean="0">
                <a:solidFill>
                  <a:srgbClr val="FF0000"/>
                </a:solidFill>
              </a:rPr>
              <a:t>virtual run time: </a:t>
            </a:r>
            <a:r>
              <a:rPr lang="en-US" altLang="en-US" sz="2800" b="1" dirty="0" err="1" smtClean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vruntime</a:t>
            </a:r>
            <a:endParaRPr lang="en-US" altLang="en-US" sz="2800" b="1" dirty="0" smtClean="0">
              <a:solidFill>
                <a:srgbClr val="FF0000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  <a:p>
            <a:pPr lvl="1">
              <a:lnSpc>
                <a:spcPct val="90000"/>
              </a:lnSpc>
            </a:pPr>
            <a:r>
              <a:rPr lang="en-US" altLang="en-US" dirty="0" smtClean="0"/>
              <a:t>Associated with </a:t>
            </a:r>
            <a:r>
              <a:rPr lang="en-US" altLang="en-US" dirty="0" smtClean="0">
                <a:solidFill>
                  <a:srgbClr val="0000FF"/>
                </a:solidFill>
              </a:rPr>
              <a:t>decay factor </a:t>
            </a:r>
            <a:r>
              <a:rPr lang="en-US" altLang="en-US" dirty="0" smtClean="0"/>
              <a:t>based on priority of task – lower priority is higher decay rate</a:t>
            </a:r>
          </a:p>
          <a:p>
            <a:pPr lvl="1">
              <a:lnSpc>
                <a:spcPct val="90000"/>
              </a:lnSpc>
            </a:pPr>
            <a:r>
              <a:rPr lang="en-US" altLang="en-US" dirty="0" smtClean="0"/>
              <a:t>Normal default priority </a:t>
            </a:r>
            <a:r>
              <a:rPr lang="en-US" altLang="en-US" dirty="0">
                <a:solidFill>
                  <a:srgbClr val="00B050"/>
                </a:solidFill>
              </a:rPr>
              <a:t>(nice </a:t>
            </a:r>
            <a:r>
              <a:rPr lang="en-US" altLang="en-US" dirty="0" smtClean="0">
                <a:solidFill>
                  <a:srgbClr val="00B050"/>
                </a:solidFill>
              </a:rPr>
              <a:t>value = </a:t>
            </a:r>
            <a:r>
              <a:rPr lang="en-US" altLang="en-US" dirty="0">
                <a:solidFill>
                  <a:srgbClr val="00B050"/>
                </a:solidFill>
              </a:rPr>
              <a:t>0</a:t>
            </a:r>
            <a:r>
              <a:rPr lang="en-US" altLang="en-US" dirty="0" smtClean="0">
                <a:solidFill>
                  <a:srgbClr val="00B050"/>
                </a:solidFill>
              </a:rPr>
              <a:t>) </a:t>
            </a:r>
            <a:r>
              <a:rPr lang="en-US" altLang="en-US" dirty="0" smtClean="0"/>
              <a:t>yields virtual run time = actual run time</a:t>
            </a:r>
          </a:p>
          <a:p>
            <a:pPr>
              <a:lnSpc>
                <a:spcPct val="90000"/>
              </a:lnSpc>
              <a:spcBef>
                <a:spcPts val="1800"/>
              </a:spcBef>
            </a:pPr>
            <a:r>
              <a:rPr lang="en-US" altLang="en-US" sz="2800" dirty="0" smtClean="0"/>
              <a:t>To decide next task to run, scheduler </a:t>
            </a:r>
            <a:r>
              <a:rPr lang="en-US" altLang="en-US" sz="2800" dirty="0" smtClean="0">
                <a:solidFill>
                  <a:srgbClr val="FF0000"/>
                </a:solidFill>
              </a:rPr>
              <a:t>picks task with lowest virtual run time</a:t>
            </a:r>
          </a:p>
          <a:p>
            <a:pPr lvl="1">
              <a:lnSpc>
                <a:spcPct val="90000"/>
              </a:lnSpc>
            </a:pPr>
            <a:endParaRPr lang="en-US" altLang="en-US" sz="3600" dirty="0" smtClean="0"/>
          </a:p>
          <a:p>
            <a:pPr marL="1095375" lvl="2" indent="-239713">
              <a:lnSpc>
                <a:spcPct val="90000"/>
              </a:lnSpc>
            </a:pPr>
            <a:endParaRPr lang="en-US" altLang="en-US" dirty="0" smtClean="0"/>
          </a:p>
          <a:p>
            <a:pPr lvl="1">
              <a:lnSpc>
                <a:spcPct val="90000"/>
              </a:lnSpc>
            </a:pPr>
            <a:endParaRPr lang="en-US" altLang="en-US" dirty="0" smtClean="0"/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C97AFE-1DFE-4DFF-9221-5052B0B786B1}" type="datetime1">
              <a:rPr lang="zh-TW" altLang="en-US" smtClean="0"/>
              <a:t>2018/3/22</a:t>
            </a:fld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smtClean="0"/>
              <a:t>OS6-2018</a:t>
            </a: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7D0856-F05B-46B4-A8C6-92B923A29FDA}" type="slidenum">
              <a:rPr lang="en-US" altLang="zh-TW" smtClean="0"/>
              <a:pPr>
                <a:defRPr/>
              </a:pPr>
              <a:t>64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647700" y="5060940"/>
            <a:ext cx="7734300" cy="830997"/>
          </a:xfrm>
          <a:prstGeom prst="rect">
            <a:avLst/>
          </a:prstGeom>
          <a:ln w="127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TW" dirty="0" smtClean="0">
                <a:solidFill>
                  <a:srgbClr val="0000FF"/>
                </a:solidFill>
              </a:rPr>
              <a:t>lower-priority runs </a:t>
            </a:r>
            <a:r>
              <a:rPr lang="en-US" altLang="zh-TW" dirty="0">
                <a:solidFill>
                  <a:srgbClr val="0000FF"/>
                </a:solidFill>
              </a:rPr>
              <a:t>for 200 </a:t>
            </a:r>
            <a:r>
              <a:rPr lang="en-US" altLang="zh-TW" dirty="0" err="1" smtClean="0">
                <a:solidFill>
                  <a:srgbClr val="0000FF"/>
                </a:solidFill>
              </a:rPr>
              <a:t>ms</a:t>
            </a:r>
            <a:r>
              <a:rPr lang="en-US" altLang="zh-TW" dirty="0" smtClean="0">
                <a:solidFill>
                  <a:srgbClr val="0000FF"/>
                </a:solidFill>
              </a:rPr>
              <a:t>, its </a:t>
            </a:r>
            <a:r>
              <a:rPr lang="en-US" altLang="zh-TW" dirty="0" err="1" smtClean="0">
                <a:solidFill>
                  <a:srgbClr val="0000FF"/>
                </a:solidFill>
              </a:rPr>
              <a:t>vruntime</a:t>
            </a:r>
            <a:r>
              <a:rPr lang="en-US" altLang="zh-TW" dirty="0" smtClean="0">
                <a:solidFill>
                  <a:srgbClr val="0000FF"/>
                </a:solidFill>
              </a:rPr>
              <a:t> &gt; </a:t>
            </a:r>
            <a:r>
              <a:rPr lang="en-US" altLang="zh-TW" dirty="0">
                <a:solidFill>
                  <a:srgbClr val="0000FF"/>
                </a:solidFill>
              </a:rPr>
              <a:t>200 </a:t>
            </a:r>
            <a:r>
              <a:rPr lang="en-US" altLang="zh-TW" dirty="0" err="1" smtClean="0">
                <a:solidFill>
                  <a:srgbClr val="0000FF"/>
                </a:solidFill>
              </a:rPr>
              <a:t>ms.</a:t>
            </a:r>
            <a:endParaRPr lang="en-US" altLang="zh-TW" dirty="0" smtClean="0">
              <a:solidFill>
                <a:srgbClr val="0000FF"/>
              </a:solidFill>
            </a:endParaRPr>
          </a:p>
          <a:p>
            <a:r>
              <a:rPr lang="en-US" altLang="zh-TW" dirty="0" smtClean="0">
                <a:solidFill>
                  <a:srgbClr val="0000FF"/>
                </a:solidFill>
              </a:rPr>
              <a:t>higher-priority </a:t>
            </a:r>
            <a:r>
              <a:rPr lang="en-US" altLang="zh-TW" dirty="0">
                <a:solidFill>
                  <a:srgbClr val="0000FF"/>
                </a:solidFill>
              </a:rPr>
              <a:t>runs for 200 </a:t>
            </a:r>
            <a:r>
              <a:rPr lang="en-US" altLang="zh-TW" dirty="0" err="1">
                <a:solidFill>
                  <a:srgbClr val="0000FF"/>
                </a:solidFill>
              </a:rPr>
              <a:t>ms</a:t>
            </a:r>
            <a:r>
              <a:rPr lang="en-US" altLang="zh-TW" dirty="0">
                <a:solidFill>
                  <a:srgbClr val="0000FF"/>
                </a:solidFill>
              </a:rPr>
              <a:t>, its </a:t>
            </a:r>
            <a:r>
              <a:rPr lang="en-US" altLang="zh-TW" dirty="0" err="1">
                <a:solidFill>
                  <a:srgbClr val="0000FF"/>
                </a:solidFill>
              </a:rPr>
              <a:t>vruntime</a:t>
            </a:r>
            <a:r>
              <a:rPr lang="en-US" altLang="zh-TW" dirty="0">
                <a:solidFill>
                  <a:srgbClr val="0000FF"/>
                </a:solidFill>
              </a:rPr>
              <a:t> </a:t>
            </a:r>
            <a:r>
              <a:rPr lang="en-US" altLang="zh-TW" dirty="0" smtClean="0">
                <a:solidFill>
                  <a:srgbClr val="0000FF"/>
                </a:solidFill>
              </a:rPr>
              <a:t>&lt; 200 </a:t>
            </a:r>
            <a:r>
              <a:rPr lang="en-US" altLang="zh-TW" dirty="0" err="1">
                <a:solidFill>
                  <a:srgbClr val="0000FF"/>
                </a:solidFill>
              </a:rPr>
              <a:t>ms</a:t>
            </a:r>
            <a:r>
              <a:rPr lang="en-US" altLang="zh-TW" dirty="0" err="1" smtClean="0"/>
              <a:t>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609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129117" y="138112"/>
            <a:ext cx="9510183" cy="852487"/>
          </a:xfrm>
        </p:spPr>
        <p:txBody>
          <a:bodyPr/>
          <a:lstStyle/>
          <a:p>
            <a:pPr eaLnBrk="1" hangingPunct="1"/>
            <a:r>
              <a:rPr lang="en-US" altLang="en-US" sz="4000" dirty="0"/>
              <a:t>CFS Performance</a:t>
            </a:r>
            <a:endParaRPr lang="en-US" altLang="en-US" sz="4000" dirty="0" smtClean="0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2100" y="1028700"/>
            <a:ext cx="9436100" cy="5588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dirty="0" smtClean="0"/>
              <a:t>Each </a:t>
            </a:r>
            <a:r>
              <a:rPr lang="en-US" altLang="en-US" sz="2800" dirty="0"/>
              <a:t>runnable task is placed in a </a:t>
            </a:r>
            <a:r>
              <a:rPr lang="en-US" altLang="en-US" sz="28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red-black </a:t>
            </a:r>
            <a:r>
              <a:rPr lang="en-US" altLang="en-US" sz="28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tree </a:t>
            </a:r>
            <a:r>
              <a:rPr lang="en-US" altLang="en-US" sz="2800" dirty="0" smtClean="0"/>
              <a:t>- a </a:t>
            </a:r>
            <a:r>
              <a:rPr lang="en-US" altLang="en-US" sz="2800" dirty="0" smtClean="0">
                <a:solidFill>
                  <a:srgbClr val="0000FF"/>
                </a:solidFill>
              </a:rPr>
              <a:t>balanced binary </a:t>
            </a:r>
            <a:r>
              <a:rPr lang="en-US" altLang="en-US" sz="2800" dirty="0">
                <a:solidFill>
                  <a:srgbClr val="0000FF"/>
                </a:solidFill>
              </a:rPr>
              <a:t>search tree </a:t>
            </a:r>
            <a:r>
              <a:rPr lang="en-US" altLang="en-US" sz="2800" dirty="0"/>
              <a:t>whose key is based on the value of </a:t>
            </a:r>
            <a:r>
              <a:rPr lang="en-US" altLang="en-US" sz="2800" dirty="0" err="1"/>
              <a:t>vruntime</a:t>
            </a:r>
            <a:r>
              <a:rPr lang="en-US" altLang="en-US" sz="2800" dirty="0"/>
              <a:t>. </a:t>
            </a:r>
            <a:endParaRPr lang="en-US" altLang="en-US" sz="3600" dirty="0" smtClean="0"/>
          </a:p>
          <a:p>
            <a:pPr marL="1095375" lvl="2" indent="-239713">
              <a:lnSpc>
                <a:spcPct val="90000"/>
              </a:lnSpc>
            </a:pPr>
            <a:endParaRPr lang="en-US" altLang="en-US" dirty="0" smtClean="0"/>
          </a:p>
          <a:p>
            <a:pPr lvl="1">
              <a:lnSpc>
                <a:spcPct val="90000"/>
              </a:lnSpc>
            </a:pPr>
            <a:endParaRPr lang="en-US" altLang="en-US" dirty="0" smtClean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325" y="2490787"/>
            <a:ext cx="6721475" cy="3526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723F030-E3AE-48D1-94D1-09A7433EC05B}" type="datetime1">
              <a:rPr lang="zh-TW" altLang="en-US" smtClean="0"/>
              <a:t>2018/3/22</a:t>
            </a:fld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smtClean="0"/>
              <a:t>OS6-2018</a:t>
            </a: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7D0856-F05B-46B4-A8C6-92B923A29FDA}" type="slidenum">
              <a:rPr lang="en-US" altLang="zh-TW" smtClean="0"/>
              <a:pPr>
                <a:defRPr/>
              </a:pPr>
              <a:t>65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5610727" y="1839268"/>
            <a:ext cx="422506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 smtClean="0">
                <a:solidFill>
                  <a:srgbClr val="0000FF"/>
                </a:solidFill>
              </a:rPr>
              <a:t>Guibas</a:t>
            </a:r>
            <a:r>
              <a:rPr lang="en-US" altLang="zh-TW" dirty="0" smtClean="0">
                <a:solidFill>
                  <a:srgbClr val="0000FF"/>
                </a:solidFill>
              </a:rPr>
              <a:t> </a:t>
            </a:r>
            <a:r>
              <a:rPr lang="en-US" altLang="zh-TW" dirty="0">
                <a:solidFill>
                  <a:srgbClr val="0000FF"/>
                </a:solidFill>
              </a:rPr>
              <a:t>and </a:t>
            </a:r>
            <a:r>
              <a:rPr lang="en-US" altLang="zh-TW" dirty="0" smtClean="0">
                <a:solidFill>
                  <a:srgbClr val="0000FF"/>
                </a:solidFill>
              </a:rPr>
              <a:t>Sedgewick 1978</a:t>
            </a:r>
          </a:p>
          <a:p>
            <a:r>
              <a:rPr lang="en-US" altLang="zh-TW" dirty="0" smtClean="0">
                <a:solidFill>
                  <a:srgbClr val="0000FF"/>
                </a:solidFill>
              </a:rPr>
              <a:t>Insert, Delete, Search: </a:t>
            </a:r>
            <a:r>
              <a:rPr lang="en-US" altLang="zh-TW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zh-TW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lg</a:t>
            </a:r>
            <a:r>
              <a:rPr lang="en-US" altLang="zh-TW" i="1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316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129117" y="138112"/>
            <a:ext cx="9510183" cy="852487"/>
          </a:xfrm>
        </p:spPr>
        <p:txBody>
          <a:bodyPr/>
          <a:lstStyle/>
          <a:p>
            <a:pPr eaLnBrk="1" hangingPunct="1"/>
            <a:r>
              <a:rPr lang="en-US" altLang="en-US" sz="4000" dirty="0"/>
              <a:t>CFS Performance</a:t>
            </a:r>
            <a:endParaRPr lang="en-US" altLang="en-US" sz="4000" dirty="0" smtClean="0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2100" y="1028700"/>
            <a:ext cx="9436100" cy="5588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When a task becomes runnable, it is added to the tree. If a task on </a:t>
            </a:r>
            <a:r>
              <a:rPr lang="en-US" altLang="en-US" sz="2800" dirty="0" smtClean="0"/>
              <a:t>the tree </a:t>
            </a:r>
            <a:r>
              <a:rPr lang="en-US" altLang="en-US" sz="2800" dirty="0"/>
              <a:t>is not </a:t>
            </a:r>
            <a:r>
              <a:rPr lang="en-US" altLang="en-US" sz="2800" dirty="0" smtClean="0"/>
              <a:t>runnable, </a:t>
            </a:r>
            <a:r>
              <a:rPr lang="en-US" altLang="en-US" sz="2800" dirty="0"/>
              <a:t>it </a:t>
            </a:r>
            <a:r>
              <a:rPr lang="en-US" altLang="en-US" sz="2800" dirty="0" smtClean="0"/>
              <a:t>is removed</a:t>
            </a:r>
            <a:r>
              <a:rPr lang="en-US" altLang="en-US" sz="2800" dirty="0"/>
              <a:t>. </a:t>
            </a:r>
            <a:endParaRPr lang="en-US" altLang="en-US" sz="2800" dirty="0" smtClean="0"/>
          </a:p>
          <a:p>
            <a:pPr>
              <a:lnSpc>
                <a:spcPct val="90000"/>
              </a:lnSpc>
            </a:pPr>
            <a:r>
              <a:rPr lang="en-US" altLang="en-US" sz="2800" dirty="0" smtClean="0"/>
              <a:t>Generally </a:t>
            </a:r>
            <a:r>
              <a:rPr lang="en-US" altLang="en-US" sz="2800" dirty="0"/>
              <a:t>speaking, tasks that have been given </a:t>
            </a:r>
            <a:r>
              <a:rPr lang="en-US" altLang="en-US" sz="2800" dirty="0">
                <a:solidFill>
                  <a:srgbClr val="FF0000"/>
                </a:solidFill>
              </a:rPr>
              <a:t>less processing </a:t>
            </a:r>
            <a:r>
              <a:rPr lang="en-US" altLang="en-US" sz="2800" dirty="0" smtClean="0">
                <a:solidFill>
                  <a:srgbClr val="FF0000"/>
                </a:solidFill>
              </a:rPr>
              <a:t>time </a:t>
            </a:r>
            <a:r>
              <a:rPr lang="en-US" altLang="en-US" sz="2800" dirty="0" smtClean="0"/>
              <a:t>(smaller </a:t>
            </a:r>
            <a:r>
              <a:rPr lang="en-US" altLang="en-US" sz="2800" dirty="0"/>
              <a:t>values of </a:t>
            </a:r>
            <a:r>
              <a:rPr lang="en-US" altLang="en-US" sz="2800" dirty="0" err="1"/>
              <a:t>vruntime</a:t>
            </a:r>
            <a:r>
              <a:rPr lang="en-US" altLang="en-US" sz="2800" dirty="0"/>
              <a:t>) are toward </a:t>
            </a:r>
            <a:r>
              <a:rPr lang="en-US" altLang="en-US" sz="2800" dirty="0">
                <a:solidFill>
                  <a:srgbClr val="FF0000"/>
                </a:solidFill>
              </a:rPr>
              <a:t>the left side of the tree</a:t>
            </a:r>
            <a:r>
              <a:rPr lang="en-US" altLang="en-US" sz="2800" dirty="0"/>
              <a:t>, and </a:t>
            </a:r>
            <a:r>
              <a:rPr lang="en-US" altLang="en-US" sz="2800" dirty="0" smtClean="0"/>
              <a:t>tasks that </a:t>
            </a:r>
            <a:r>
              <a:rPr lang="en-US" altLang="en-US" sz="2800" dirty="0"/>
              <a:t>have been given more processing time are on the right side</a:t>
            </a:r>
            <a:r>
              <a:rPr lang="en-US" altLang="en-US" sz="2800" dirty="0" smtClean="0"/>
              <a:t>.</a:t>
            </a:r>
          </a:p>
          <a:p>
            <a:pPr>
              <a:lnSpc>
                <a:spcPct val="90000"/>
              </a:lnSpc>
            </a:pPr>
            <a:r>
              <a:rPr lang="en-US" altLang="en-US" sz="2800" dirty="0" smtClean="0"/>
              <a:t>According to </a:t>
            </a:r>
            <a:r>
              <a:rPr lang="en-US" altLang="en-US" sz="2800" dirty="0"/>
              <a:t>the properties of a binary search tree, </a:t>
            </a:r>
            <a:r>
              <a:rPr lang="en-US" altLang="en-US" sz="2800" dirty="0">
                <a:solidFill>
                  <a:srgbClr val="FF0000"/>
                </a:solidFill>
              </a:rPr>
              <a:t>the leftmost node has the </a:t>
            </a:r>
            <a:r>
              <a:rPr lang="en-US" altLang="en-US" sz="2800" dirty="0" smtClean="0">
                <a:solidFill>
                  <a:srgbClr val="FF0000"/>
                </a:solidFill>
              </a:rPr>
              <a:t>smallest key </a:t>
            </a:r>
            <a:r>
              <a:rPr lang="en-US" altLang="en-US" sz="2800" dirty="0">
                <a:solidFill>
                  <a:srgbClr val="FF0000"/>
                </a:solidFill>
              </a:rPr>
              <a:t>value</a:t>
            </a:r>
            <a:r>
              <a:rPr lang="en-US" altLang="en-US" sz="2800" dirty="0"/>
              <a:t>, which </a:t>
            </a:r>
            <a:r>
              <a:rPr lang="en-US" altLang="en-US" sz="2800" dirty="0" smtClean="0"/>
              <a:t>means </a:t>
            </a:r>
            <a:r>
              <a:rPr lang="en-US" altLang="en-US" sz="2800" dirty="0"/>
              <a:t>that it is the </a:t>
            </a:r>
            <a:r>
              <a:rPr lang="en-US" altLang="en-US" sz="2800" dirty="0" smtClean="0"/>
              <a:t>task with </a:t>
            </a:r>
            <a:r>
              <a:rPr lang="en-US" altLang="en-US" sz="2800" dirty="0"/>
              <a:t>the highest priority. </a:t>
            </a:r>
            <a:endParaRPr lang="en-US" altLang="en-US" sz="2800" dirty="0" smtClean="0"/>
          </a:p>
          <a:p>
            <a:pPr>
              <a:lnSpc>
                <a:spcPct val="90000"/>
              </a:lnSpc>
            </a:pPr>
            <a:r>
              <a:rPr lang="en-US" altLang="en-US" sz="2800" dirty="0" smtClean="0">
                <a:solidFill>
                  <a:srgbClr val="0000FF"/>
                </a:solidFill>
              </a:rPr>
              <a:t>Because </a:t>
            </a:r>
            <a:r>
              <a:rPr lang="en-US" altLang="en-US" sz="2800" dirty="0">
                <a:solidFill>
                  <a:srgbClr val="0000FF"/>
                </a:solidFill>
              </a:rPr>
              <a:t>the red-black tree is balanced, </a:t>
            </a:r>
            <a:r>
              <a:rPr lang="en-US" altLang="en-US" sz="2800" dirty="0" smtClean="0">
                <a:solidFill>
                  <a:srgbClr val="0000FF"/>
                </a:solidFill>
              </a:rPr>
              <a:t>navigating it </a:t>
            </a:r>
            <a:r>
              <a:rPr lang="en-US" altLang="en-US" sz="2800" dirty="0">
                <a:solidFill>
                  <a:srgbClr val="0000FF"/>
                </a:solidFill>
              </a:rPr>
              <a:t>to discover the leftmost node will require</a:t>
            </a:r>
            <a:r>
              <a:rPr lang="en-US" altLang="en-US" sz="2800" dirty="0"/>
              <a:t> </a:t>
            </a:r>
            <a:r>
              <a:rPr lang="en-US" altLang="en-US" sz="28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O(</a:t>
            </a:r>
            <a:r>
              <a:rPr lang="en-US" altLang="en-US" sz="2800" dirty="0" err="1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lgN</a:t>
            </a:r>
            <a:r>
              <a:rPr lang="en-US" altLang="en-US" sz="28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)</a:t>
            </a:r>
            <a:r>
              <a:rPr lang="en-US" altLang="en-US" sz="2800" dirty="0"/>
              <a:t> </a:t>
            </a:r>
            <a:r>
              <a:rPr lang="en-US" altLang="en-US" sz="2800" dirty="0" smtClean="0">
                <a:solidFill>
                  <a:srgbClr val="0000FF"/>
                </a:solidFill>
              </a:rPr>
              <a:t>operations</a:t>
            </a:r>
            <a:r>
              <a:rPr lang="en-US" altLang="en-US" sz="2800" dirty="0" smtClean="0"/>
              <a:t>.</a:t>
            </a:r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C05C43A-9D34-419E-A25D-343D2C697313}" type="datetime1">
              <a:rPr lang="zh-TW" altLang="en-US" smtClean="0"/>
              <a:t>2018/3/22</a:t>
            </a:fld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smtClean="0"/>
              <a:t>OS6-2018</a:t>
            </a: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7D0856-F05B-46B4-A8C6-92B923A29FDA}" type="slidenum">
              <a:rPr lang="en-US" altLang="zh-TW" smtClean="0"/>
              <a:pPr>
                <a:defRPr/>
              </a:pPr>
              <a:t>66</a:t>
            </a:fld>
            <a:endParaRPr lang="en-US" altLang="zh-TW"/>
          </a:p>
        </p:txBody>
      </p:sp>
      <p:sp>
        <p:nvSpPr>
          <p:cNvPr id="7" name="矩形 6"/>
          <p:cNvSpPr/>
          <p:nvPr/>
        </p:nvSpPr>
        <p:spPr>
          <a:xfrm>
            <a:off x="5166227" y="571500"/>
            <a:ext cx="31166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0000FF"/>
                </a:solidFill>
              </a:rPr>
              <a:t>Insert, Delete: </a:t>
            </a:r>
            <a:r>
              <a:rPr lang="en-US" altLang="zh-TW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zh-TW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lg</a:t>
            </a:r>
            <a:r>
              <a:rPr lang="en-US" altLang="zh-TW" i="1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7642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129117" y="138112"/>
            <a:ext cx="9510183" cy="852487"/>
          </a:xfrm>
        </p:spPr>
        <p:txBody>
          <a:bodyPr/>
          <a:lstStyle/>
          <a:p>
            <a:pPr eaLnBrk="1" hangingPunct="1"/>
            <a:r>
              <a:rPr lang="en-US" altLang="en-US" sz="4000" dirty="0"/>
              <a:t>CFS Performance</a:t>
            </a:r>
            <a:endParaRPr lang="en-US" altLang="en-US" sz="4000" dirty="0" smtClean="0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2100" y="1028700"/>
            <a:ext cx="9436100" cy="5588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 smtClean="0"/>
              <a:t>Linux </a:t>
            </a:r>
            <a:r>
              <a:rPr lang="en-US" altLang="en-US" dirty="0"/>
              <a:t>scheduler caches this value in the variable </a:t>
            </a:r>
            <a:r>
              <a:rPr lang="en-US" altLang="en-US" dirty="0" err="1">
                <a:solidFill>
                  <a:srgbClr val="FF0000"/>
                </a:solidFill>
              </a:rPr>
              <a:t>rb</a:t>
            </a:r>
            <a:r>
              <a:rPr lang="en-US" altLang="en-US" dirty="0">
                <a:solidFill>
                  <a:srgbClr val="FF0000"/>
                </a:solidFill>
              </a:rPr>
              <a:t> leftmost</a:t>
            </a:r>
            <a:r>
              <a:rPr lang="en-US" altLang="en-US" dirty="0"/>
              <a:t>, and thus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0000FF"/>
                </a:solidFill>
              </a:rPr>
              <a:t>determining which task to run next requires only </a:t>
            </a:r>
            <a:r>
              <a:rPr lang="en-US" altLang="en-US" dirty="0" smtClean="0">
                <a:solidFill>
                  <a:srgbClr val="0000FF"/>
                </a:solidFill>
              </a:rPr>
              <a:t>retrieving </a:t>
            </a:r>
            <a:r>
              <a:rPr lang="en-US" altLang="en-US" dirty="0">
                <a:solidFill>
                  <a:srgbClr val="0000FF"/>
                </a:solidFill>
              </a:rPr>
              <a:t>the cached value</a:t>
            </a:r>
            <a:r>
              <a:rPr lang="en-US" altLang="en-US" dirty="0"/>
              <a:t>.</a:t>
            </a:r>
            <a:endParaRPr lang="en-US" altLang="en-US" dirty="0" smtClean="0"/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3AA5EBD-FFDE-45BC-A421-1BA0BC446C34}" type="datetime1">
              <a:rPr lang="zh-TW" altLang="en-US" smtClean="0"/>
              <a:t>2018/3/22</a:t>
            </a:fld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smtClean="0"/>
              <a:t>OS6-2018</a:t>
            </a: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7D0856-F05B-46B4-A8C6-92B923A29FDA}" type="slidenum">
              <a:rPr lang="en-US" altLang="zh-TW" smtClean="0"/>
              <a:pPr>
                <a:defRPr/>
              </a:pPr>
              <a:t>67</a:t>
            </a:fld>
            <a:endParaRPr lang="en-US" altLang="zh-TW"/>
          </a:p>
        </p:txBody>
      </p:sp>
      <p:sp>
        <p:nvSpPr>
          <p:cNvPr id="7" name="矩形 6"/>
          <p:cNvSpPr/>
          <p:nvPr/>
        </p:nvSpPr>
        <p:spPr>
          <a:xfrm>
            <a:off x="647700" y="3511540"/>
            <a:ext cx="7734300" cy="830997"/>
          </a:xfrm>
          <a:prstGeom prst="rect">
            <a:avLst/>
          </a:prstGeom>
          <a:ln w="127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TW" dirty="0" smtClean="0">
                <a:solidFill>
                  <a:srgbClr val="0000FF"/>
                </a:solidFill>
              </a:rPr>
              <a:t>CPU-bound: lower-priority, </a:t>
            </a:r>
            <a:r>
              <a:rPr lang="en-US" altLang="zh-TW" dirty="0" err="1" smtClean="0">
                <a:solidFill>
                  <a:srgbClr val="0000FF"/>
                </a:solidFill>
              </a:rPr>
              <a:t>vruntime</a:t>
            </a:r>
            <a:r>
              <a:rPr lang="en-US" altLang="zh-TW" dirty="0" smtClean="0">
                <a:solidFill>
                  <a:srgbClr val="0000FF"/>
                </a:solidFill>
              </a:rPr>
              <a:t> &gt; </a:t>
            </a:r>
            <a:r>
              <a:rPr lang="en-US" altLang="zh-TW" dirty="0">
                <a:solidFill>
                  <a:srgbClr val="0000FF"/>
                </a:solidFill>
              </a:rPr>
              <a:t>200 </a:t>
            </a:r>
            <a:r>
              <a:rPr lang="en-US" altLang="zh-TW" dirty="0" err="1" smtClean="0">
                <a:solidFill>
                  <a:srgbClr val="0000FF"/>
                </a:solidFill>
              </a:rPr>
              <a:t>ms.</a:t>
            </a:r>
            <a:endParaRPr lang="en-US" altLang="zh-TW" dirty="0" smtClean="0">
              <a:solidFill>
                <a:srgbClr val="0000FF"/>
              </a:solidFill>
            </a:endParaRPr>
          </a:p>
          <a:p>
            <a:r>
              <a:rPr lang="en-US" altLang="zh-TW" dirty="0" smtClean="0">
                <a:solidFill>
                  <a:srgbClr val="0000FF"/>
                </a:solidFill>
              </a:rPr>
              <a:t>I/O-bound</a:t>
            </a:r>
            <a:r>
              <a:rPr lang="en-US" altLang="zh-TW" dirty="0">
                <a:solidFill>
                  <a:srgbClr val="0000FF"/>
                </a:solidFill>
              </a:rPr>
              <a:t>: </a:t>
            </a:r>
            <a:r>
              <a:rPr lang="en-US" altLang="zh-TW" dirty="0" smtClean="0">
                <a:solidFill>
                  <a:srgbClr val="0000FF"/>
                </a:solidFill>
              </a:rPr>
              <a:t>higher-priority, </a:t>
            </a:r>
            <a:r>
              <a:rPr lang="en-US" altLang="zh-TW" dirty="0" err="1" smtClean="0">
                <a:solidFill>
                  <a:srgbClr val="0000FF"/>
                </a:solidFill>
              </a:rPr>
              <a:t>vruntime</a:t>
            </a:r>
            <a:r>
              <a:rPr lang="en-US" altLang="zh-TW" dirty="0" smtClean="0">
                <a:solidFill>
                  <a:srgbClr val="0000FF"/>
                </a:solidFill>
              </a:rPr>
              <a:t> &lt; 200 </a:t>
            </a:r>
            <a:r>
              <a:rPr lang="en-US" altLang="zh-TW" dirty="0" err="1">
                <a:solidFill>
                  <a:srgbClr val="0000FF"/>
                </a:solidFill>
              </a:rPr>
              <a:t>ms</a:t>
            </a:r>
            <a:r>
              <a:rPr lang="en-US" altLang="zh-TW" dirty="0" err="1" smtClean="0"/>
              <a:t>.</a:t>
            </a:r>
            <a:endParaRPr lang="en-US" altLang="zh-TW" dirty="0" smtClean="0"/>
          </a:p>
        </p:txBody>
      </p:sp>
      <p:sp>
        <p:nvSpPr>
          <p:cNvPr id="8" name="矩形 7"/>
          <p:cNvSpPr/>
          <p:nvPr/>
        </p:nvSpPr>
        <p:spPr>
          <a:xfrm>
            <a:off x="666750" y="4738300"/>
            <a:ext cx="7734300" cy="830997"/>
          </a:xfrm>
          <a:prstGeom prst="rect">
            <a:avLst/>
          </a:prstGeom>
          <a:ln w="127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When </a:t>
            </a:r>
            <a:r>
              <a:rPr lang="en-US" altLang="zh-TW" dirty="0">
                <a:solidFill>
                  <a:srgbClr val="FF0000"/>
                </a:solidFill>
              </a:rPr>
              <a:t>the I/O-bound task becomes </a:t>
            </a:r>
            <a:r>
              <a:rPr lang="en-US" altLang="zh-TW" dirty="0" smtClean="0">
                <a:solidFill>
                  <a:srgbClr val="FF0000"/>
                </a:solidFill>
              </a:rPr>
              <a:t>eligible to run, will </a:t>
            </a:r>
            <a:r>
              <a:rPr lang="en-US" altLang="zh-TW" dirty="0">
                <a:solidFill>
                  <a:srgbClr val="FF0000"/>
                </a:solidFill>
              </a:rPr>
              <a:t>preempt the CPU-bound </a:t>
            </a:r>
            <a:r>
              <a:rPr lang="en-US" altLang="zh-TW" dirty="0" smtClean="0">
                <a:solidFill>
                  <a:srgbClr val="FF0000"/>
                </a:solidFill>
              </a:rPr>
              <a:t>task.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3138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>
          <a:xfrm>
            <a:off x="495300" y="188913"/>
            <a:ext cx="8915400" cy="576262"/>
          </a:xfrm>
        </p:spPr>
        <p:txBody>
          <a:bodyPr/>
          <a:lstStyle/>
          <a:p>
            <a:r>
              <a:rPr lang="en-US" altLang="en-US" smtClean="0"/>
              <a:t>Windows Scheduling</a:t>
            </a:r>
          </a:p>
        </p:txBody>
      </p:sp>
      <p:sp>
        <p:nvSpPr>
          <p:cNvPr id="56323" name="Content Placeholder 2"/>
          <p:cNvSpPr>
            <a:spLocks noGrp="1"/>
          </p:cNvSpPr>
          <p:nvPr>
            <p:ph idx="1"/>
          </p:nvPr>
        </p:nvSpPr>
        <p:spPr>
          <a:xfrm>
            <a:off x="406400" y="825500"/>
            <a:ext cx="9017000" cy="5714999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en-US" dirty="0" smtClean="0">
                <a:solidFill>
                  <a:srgbClr val="FF0000"/>
                </a:solidFill>
              </a:rPr>
              <a:t>priority-based preemptive scheduling</a:t>
            </a:r>
          </a:p>
          <a:p>
            <a:pPr>
              <a:spcBef>
                <a:spcPts val="1200"/>
              </a:spcBef>
            </a:pPr>
            <a:r>
              <a:rPr lang="en-US" altLang="en-US" dirty="0"/>
              <a:t>r</a:t>
            </a:r>
            <a:r>
              <a:rPr lang="en-US" altLang="en-US" dirty="0" smtClean="0"/>
              <a:t>eal-time threads can preempt non-real-time</a:t>
            </a:r>
          </a:p>
          <a:p>
            <a:pPr>
              <a:spcBef>
                <a:spcPts val="1200"/>
              </a:spcBef>
            </a:pPr>
            <a:r>
              <a:rPr lang="en-US" altLang="en-US" dirty="0" smtClean="0"/>
              <a:t>32-level priority scheme</a:t>
            </a:r>
          </a:p>
          <a:p>
            <a:pPr>
              <a:spcBef>
                <a:spcPts val="1200"/>
              </a:spcBef>
            </a:pPr>
            <a:r>
              <a:rPr lang="en-US" altLang="en-US" sz="2800" dirty="0" smtClean="0"/>
              <a:t>Priority </a:t>
            </a:r>
            <a:r>
              <a:rPr lang="en-US" altLang="en-US" sz="2800" dirty="0"/>
              <a:t>class and relative priority combine to give numeric priority</a:t>
            </a:r>
          </a:p>
          <a:p>
            <a:pPr>
              <a:spcBef>
                <a:spcPts val="1200"/>
              </a:spcBef>
            </a:pPr>
            <a:r>
              <a:rPr lang="en-US" altLang="en-US" sz="2800" dirty="0"/>
              <a:t>Base priority is NORMAL within the class</a:t>
            </a:r>
          </a:p>
          <a:p>
            <a:pPr>
              <a:spcBef>
                <a:spcPts val="1200"/>
              </a:spcBef>
            </a:pPr>
            <a:r>
              <a:rPr lang="en-US" altLang="en-US" sz="2800" dirty="0">
                <a:solidFill>
                  <a:srgbClr val="FF0000"/>
                </a:solidFill>
              </a:rPr>
              <a:t>If quantum expires, priority lowered, but never below </a:t>
            </a:r>
            <a:r>
              <a:rPr lang="en-US" altLang="en-US" sz="2800" dirty="0" smtClean="0">
                <a:solidFill>
                  <a:srgbClr val="FF0000"/>
                </a:solidFill>
              </a:rPr>
              <a:t>base</a:t>
            </a:r>
          </a:p>
          <a:p>
            <a:pPr>
              <a:spcBef>
                <a:spcPts val="1200"/>
              </a:spcBef>
            </a:pPr>
            <a:r>
              <a:rPr lang="en-US" altLang="en-US" sz="2800" dirty="0"/>
              <a:t>If no run-able thread, runs idle </a:t>
            </a:r>
            <a:r>
              <a:rPr lang="en-US" altLang="en-US" sz="2800" dirty="0" smtClean="0"/>
              <a:t>thread.</a:t>
            </a:r>
            <a:endParaRPr lang="en-US" altLang="en-US" sz="2800" dirty="0"/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E20D477-C45D-4AFE-BC40-C3701C55E8C0}" type="datetime1">
              <a:rPr lang="zh-TW" altLang="en-US" smtClean="0"/>
              <a:t>2018/3/22</a:t>
            </a:fld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smtClean="0"/>
              <a:t>OS6-2018</a:t>
            </a: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7D0856-F05B-46B4-A8C6-92B923A29FDA}" type="slidenum">
              <a:rPr lang="en-US" altLang="zh-TW" smtClean="0"/>
              <a:pPr>
                <a:defRPr/>
              </a:pPr>
              <a:t>68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49391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63491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2B6FD2B-E435-4F16-B949-026E5B38E696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69</a:t>
            </a:fld>
            <a:endParaRPr kumimoji="0" lang="en-US" altLang="zh-TW" sz="1400" smtClean="0"/>
          </a:p>
        </p:txBody>
      </p:sp>
      <p:sp>
        <p:nvSpPr>
          <p:cNvPr id="63492" name="Rectangle 2"/>
          <p:cNvSpPr>
            <a:spLocks noGrp="1" noChangeArrowheads="1"/>
          </p:cNvSpPr>
          <p:nvPr>
            <p:ph type="title"/>
          </p:nvPr>
        </p:nvSpPr>
        <p:spPr>
          <a:xfrm>
            <a:off x="660400" y="304800"/>
            <a:ext cx="8420100" cy="631825"/>
          </a:xfrm>
        </p:spPr>
        <p:txBody>
          <a:bodyPr/>
          <a:lstStyle/>
          <a:p>
            <a:pPr eaLnBrk="1" hangingPunct="1"/>
            <a:r>
              <a:rPr lang="en-US" altLang="zh-TW" dirty="0" smtClean="0"/>
              <a:t>Windows Priorities</a:t>
            </a:r>
          </a:p>
        </p:txBody>
      </p:sp>
      <p:pic>
        <p:nvPicPr>
          <p:cNvPr id="6349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" t="24452" r="386" b="23166"/>
          <a:stretch>
            <a:fillRect/>
          </a:stretch>
        </p:blipFill>
        <p:spPr bwMode="auto">
          <a:xfrm>
            <a:off x="555625" y="1022350"/>
            <a:ext cx="8761413" cy="3201988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3494" name="文字方塊 1"/>
          <p:cNvSpPr txBox="1">
            <a:spLocks noChangeArrowheads="1"/>
          </p:cNvSpPr>
          <p:nvPr/>
        </p:nvSpPr>
        <p:spPr bwMode="auto">
          <a:xfrm>
            <a:off x="495300" y="4556125"/>
            <a:ext cx="8893175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en-US" altLang="zh-TW" sz="2400" dirty="0"/>
              <a:t>Base priorities: 24, 13, 10, 8, 6, 4.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en-US" altLang="zh-TW" sz="2400" dirty="0"/>
              <a:t>Demote and upgrade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en-US" altLang="zh-TW" sz="2400" dirty="0"/>
              <a:t>For interactive: (foreground process) Increases 3 times </a:t>
            </a:r>
            <a:r>
              <a:rPr lang="en-US" altLang="zh-TW" sz="2400" dirty="0" smtClean="0"/>
              <a:t>(</a:t>
            </a:r>
            <a:r>
              <a:rPr lang="en-US" altLang="zh-TW" sz="2400" dirty="0" smtClean="0">
                <a:solidFill>
                  <a:srgbClr val="0000FF"/>
                </a:solidFill>
              </a:rPr>
              <a:t>time slices</a:t>
            </a:r>
            <a:r>
              <a:rPr lang="en-US" altLang="zh-TW" sz="2400" dirty="0" smtClean="0"/>
              <a:t>) longer </a:t>
            </a:r>
            <a:r>
              <a:rPr lang="en-US" altLang="zh-TW" sz="2400" dirty="0"/>
              <a:t>before preemption.</a:t>
            </a:r>
            <a:endParaRPr lang="zh-TW" altLang="en-US" sz="2400" dirty="0"/>
          </a:p>
        </p:txBody>
      </p:sp>
      <p:sp>
        <p:nvSpPr>
          <p:cNvPr id="63495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E173E996-4416-47F8-B7E2-109EDF87C55C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  <p:extLst>
      <p:ext uri="{BB962C8B-B14F-4D97-AF65-F5344CB8AC3E}">
        <p14:creationId xmlns:p14="http://schemas.microsoft.com/office/powerpoint/2010/main" val="2427743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/>
          </p:cNvSpPr>
          <p:nvPr>
            <p:ph type="title"/>
          </p:nvPr>
        </p:nvSpPr>
        <p:spPr>
          <a:xfrm>
            <a:off x="509058" y="150813"/>
            <a:ext cx="8915400" cy="576262"/>
          </a:xfrm>
        </p:spPr>
        <p:txBody>
          <a:bodyPr/>
          <a:lstStyle/>
          <a:p>
            <a:r>
              <a:rPr lang="en-US" altLang="zh-TW" sz="4000" dirty="0"/>
              <a:t>Windows Priorities</a:t>
            </a:r>
            <a:endParaRPr lang="en-US" altLang="en-US" sz="4000" dirty="0" smtClean="0"/>
          </a:p>
        </p:txBody>
      </p:sp>
      <p:sp>
        <p:nvSpPr>
          <p:cNvPr id="58371" name="Content Placeholder 2"/>
          <p:cNvSpPr>
            <a:spLocks noGrp="1"/>
          </p:cNvSpPr>
          <p:nvPr>
            <p:ph idx="1"/>
          </p:nvPr>
        </p:nvSpPr>
        <p:spPr>
          <a:xfrm>
            <a:off x="317500" y="812800"/>
            <a:ext cx="9220200" cy="5892799"/>
          </a:xfrm>
        </p:spPr>
        <p:txBody>
          <a:bodyPr/>
          <a:lstStyle/>
          <a:p>
            <a:r>
              <a:rPr lang="en-US" altLang="en-US" dirty="0" smtClean="0">
                <a:solidFill>
                  <a:srgbClr val="FF0000"/>
                </a:solidFill>
              </a:rPr>
              <a:t>If wait occurs, priority boosted depending on what was waited for.</a:t>
            </a:r>
          </a:p>
          <a:p>
            <a:r>
              <a:rPr lang="en-US" altLang="en-US" dirty="0" smtClean="0"/>
              <a:t>Foreground window given </a:t>
            </a:r>
            <a:r>
              <a:rPr lang="en-US" altLang="en-US" dirty="0" smtClean="0">
                <a:solidFill>
                  <a:srgbClr val="0000FF"/>
                </a:solidFill>
              </a:rPr>
              <a:t>3x priority boost</a:t>
            </a:r>
            <a:r>
              <a:rPr lang="en-US" altLang="en-US" dirty="0" smtClean="0"/>
              <a:t>.</a:t>
            </a:r>
          </a:p>
          <a:p>
            <a:r>
              <a:rPr lang="en-US" altLang="en-US" dirty="0" smtClean="0"/>
              <a:t>Windows 7 added </a:t>
            </a:r>
            <a:r>
              <a:rPr lang="en-US" altLang="en-US" dirty="0" smtClean="0">
                <a:solidFill>
                  <a:srgbClr val="0000FF"/>
                </a:solidFill>
              </a:rPr>
              <a:t>user-mode scheduling (UMS) </a:t>
            </a:r>
          </a:p>
          <a:p>
            <a:pPr lvl="1"/>
            <a:r>
              <a:rPr lang="en-US" altLang="en-US" dirty="0">
                <a:solidFill>
                  <a:srgbClr val="FF0000"/>
                </a:solidFill>
              </a:rPr>
              <a:t>UMS is not intended to be used directly </a:t>
            </a:r>
            <a:r>
              <a:rPr lang="en-US" altLang="en-US" dirty="0" smtClean="0">
                <a:solidFill>
                  <a:srgbClr val="FF0000"/>
                </a:solidFill>
              </a:rPr>
              <a:t>by the </a:t>
            </a:r>
            <a:r>
              <a:rPr lang="en-US" altLang="en-US" dirty="0">
                <a:solidFill>
                  <a:srgbClr val="FF0000"/>
                </a:solidFill>
              </a:rPr>
              <a:t>programmer</a:t>
            </a:r>
            <a:r>
              <a:rPr lang="en-US" altLang="en-US" dirty="0" smtClean="0">
                <a:solidFill>
                  <a:srgbClr val="FF0000"/>
                </a:solidFill>
              </a:rPr>
              <a:t>.</a:t>
            </a:r>
          </a:p>
          <a:p>
            <a:pPr lvl="1"/>
            <a:r>
              <a:rPr lang="en-US" altLang="en-US" dirty="0" smtClean="0">
                <a:solidFill>
                  <a:srgbClr val="0000FF"/>
                </a:solidFill>
              </a:rPr>
              <a:t>An </a:t>
            </a:r>
            <a:r>
              <a:rPr lang="en-US" altLang="en-US" dirty="0">
                <a:solidFill>
                  <a:srgbClr val="0000FF"/>
                </a:solidFill>
              </a:rPr>
              <a:t>application can create and schedule multiple threads without </a:t>
            </a:r>
            <a:r>
              <a:rPr lang="en-US" altLang="en-US" dirty="0" smtClean="0">
                <a:solidFill>
                  <a:srgbClr val="0000FF"/>
                </a:solidFill>
              </a:rPr>
              <a:t>involving the </a:t>
            </a:r>
            <a:r>
              <a:rPr lang="en-US" altLang="en-US" dirty="0">
                <a:solidFill>
                  <a:srgbClr val="0000FF"/>
                </a:solidFill>
              </a:rPr>
              <a:t>Windows kernel scheduler.</a:t>
            </a:r>
          </a:p>
          <a:p>
            <a:pPr lvl="1"/>
            <a:r>
              <a:rPr lang="en-US" altLang="en-US" dirty="0" smtClean="0"/>
              <a:t>UMS schedulers come from programming language libraries, like C++ Concurrent Runtime</a:t>
            </a:r>
            <a:r>
              <a:rPr lang="en-US" altLang="en-US" b="1" dirty="0" smtClean="0"/>
              <a:t> </a:t>
            </a:r>
            <a:r>
              <a:rPr lang="en-US" altLang="en-US" dirty="0" smtClean="0"/>
              <a:t>(</a:t>
            </a:r>
            <a:r>
              <a:rPr lang="en-US" altLang="en-US" dirty="0" err="1" smtClean="0"/>
              <a:t>ConcRT</a:t>
            </a:r>
            <a:r>
              <a:rPr lang="en-US" altLang="en-US" dirty="0" smtClean="0"/>
              <a:t>) framework.</a:t>
            </a:r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6A57A9-9363-408E-8CA5-B9FDAF4346FD}" type="datetime1">
              <a:rPr lang="zh-TW" altLang="en-US" smtClean="0"/>
              <a:t>2018/3/22</a:t>
            </a:fld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smtClean="0"/>
              <a:t>OS6-2018</a:t>
            </a: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7D0856-F05B-46B4-A8C6-92B923A29FDA}" type="slidenum">
              <a:rPr lang="en-US" altLang="zh-TW" smtClean="0"/>
              <a:pPr>
                <a:defRPr/>
              </a:pPr>
              <a:t>70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3784600" y="4984234"/>
            <a:ext cx="4775200" cy="461665"/>
          </a:xfrm>
          <a:prstGeom prst="rect">
            <a:avLst/>
          </a:prstGeom>
          <a:ln w="19050">
            <a:solidFill>
              <a:srgbClr val="0000FF"/>
            </a:solidFill>
          </a:ln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0000FF"/>
                </a:solidFill>
              </a:rPr>
              <a:t>scheduled on the available </a:t>
            </a:r>
            <a:r>
              <a:rPr lang="en-US" altLang="zh-TW" dirty="0" smtClean="0">
                <a:solidFill>
                  <a:srgbClr val="0000FF"/>
                </a:solidFill>
              </a:rPr>
              <a:t>cores</a:t>
            </a:r>
            <a:endParaRPr lang="zh-TW" alt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4655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4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59395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4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B2719CC-209D-4043-AE88-5D810A7BDA24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71</a:t>
            </a:fld>
            <a:endParaRPr kumimoji="0" lang="en-US" altLang="zh-TW" sz="1400" smtClean="0"/>
          </a:p>
        </p:txBody>
      </p:sp>
      <p:sp>
        <p:nvSpPr>
          <p:cNvPr id="59396" name="Rectangle 2"/>
          <p:cNvSpPr>
            <a:spLocks noGrp="1" noChangeArrowheads="1"/>
          </p:cNvSpPr>
          <p:nvPr>
            <p:ph type="title"/>
          </p:nvPr>
        </p:nvSpPr>
        <p:spPr>
          <a:xfrm>
            <a:off x="698500" y="114300"/>
            <a:ext cx="8420100" cy="1112838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TW" sz="4000" smtClean="0"/>
              <a:t>Solaris 2 Scheduling (1)</a:t>
            </a:r>
            <a:br>
              <a:rPr lang="en-US" altLang="zh-TW" sz="4000" smtClean="0"/>
            </a:br>
            <a:r>
              <a:rPr lang="en-US" altLang="zh-TW" sz="4000" smtClean="0"/>
              <a:t>	</a:t>
            </a:r>
            <a:r>
              <a:rPr lang="en-US" altLang="zh-TW" sz="3600" smtClean="0">
                <a:solidFill>
                  <a:srgbClr val="FF0000"/>
                </a:solidFill>
              </a:rPr>
              <a:t>priority-based scheduling</a:t>
            </a:r>
            <a:r>
              <a:rPr lang="en-US" altLang="zh-TW" sz="3600" smtClean="0"/>
              <a:t> </a:t>
            </a:r>
          </a:p>
        </p:txBody>
      </p:sp>
      <p:pic>
        <p:nvPicPr>
          <p:cNvPr id="5939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6" t="1086" r="13646" b="815"/>
          <a:stretch>
            <a:fillRect/>
          </a:stretch>
        </p:blipFill>
        <p:spPr bwMode="auto">
          <a:xfrm>
            <a:off x="573088" y="1298575"/>
            <a:ext cx="3778250" cy="4933950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9398" name="Picture 4" descr="fg5_13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7925" y="1273175"/>
            <a:ext cx="3225800" cy="5011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58405" name="Text Box 5"/>
          <p:cNvSpPr txBox="1">
            <a:spLocks noChangeArrowheads="1"/>
          </p:cNvSpPr>
          <p:nvPr/>
        </p:nvSpPr>
        <p:spPr bwMode="auto">
          <a:xfrm>
            <a:off x="7947025" y="4598988"/>
            <a:ext cx="1690688" cy="1258887"/>
          </a:xfrm>
          <a:prstGeom prst="rect">
            <a:avLst/>
          </a:prstGeom>
          <a:noFill/>
          <a:ln w="12699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4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 dirty="0">
                <a:solidFill>
                  <a:srgbClr val="0000FF"/>
                </a:solidFill>
              </a:rPr>
              <a:t>Solaris 9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 dirty="0">
                <a:solidFill>
                  <a:srgbClr val="0000FF"/>
                </a:solidFill>
              </a:rPr>
              <a:t>provides controls for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 dirty="0">
                <a:solidFill>
                  <a:srgbClr val="0000FF"/>
                </a:solidFill>
              </a:rPr>
              <a:t>the specific amounts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 dirty="0">
                <a:solidFill>
                  <a:srgbClr val="0000FF"/>
                </a:solidFill>
              </a:rPr>
              <a:t>of CPU execution time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 dirty="0">
                <a:solidFill>
                  <a:srgbClr val="0000FF"/>
                </a:solidFill>
              </a:rPr>
              <a:t>between different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 dirty="0">
                <a:solidFill>
                  <a:srgbClr val="0000FF"/>
                </a:solidFill>
              </a:rPr>
              <a:t>fair share groups</a:t>
            </a:r>
            <a:r>
              <a:rPr lang="en-US" altLang="zh-TW" sz="2400" dirty="0"/>
              <a:t> </a:t>
            </a:r>
          </a:p>
        </p:txBody>
      </p:sp>
      <p:sp>
        <p:nvSpPr>
          <p:cNvPr id="59400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4E35B593-32AA-4DFD-9ABA-11DD75453BEE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  <p:extLst>
      <p:ext uri="{BB962C8B-B14F-4D97-AF65-F5344CB8AC3E}">
        <p14:creationId xmlns:p14="http://schemas.microsoft.com/office/powerpoint/2010/main" val="2870337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8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05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60419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615452C-1B65-4259-A35E-C9F1C2436335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72</a:t>
            </a:fld>
            <a:endParaRPr kumimoji="0" lang="en-US" altLang="zh-TW" sz="1400" smtClean="0"/>
          </a:p>
        </p:txBody>
      </p:sp>
      <p:sp>
        <p:nvSpPr>
          <p:cNvPr id="60420" name="Rectangle 2"/>
          <p:cNvSpPr>
            <a:spLocks noGrp="1" noChangeArrowheads="1"/>
          </p:cNvSpPr>
          <p:nvPr>
            <p:ph type="title"/>
          </p:nvPr>
        </p:nvSpPr>
        <p:spPr>
          <a:xfrm>
            <a:off x="1073150" y="266700"/>
            <a:ext cx="7662863" cy="701675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z="4800" smtClean="0"/>
              <a:t>Solaris 2 Scheduling (2)</a:t>
            </a:r>
          </a:p>
        </p:txBody>
      </p:sp>
      <p:sp>
        <p:nvSpPr>
          <p:cNvPr id="37888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17525" y="963613"/>
            <a:ext cx="8912225" cy="5284787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>
              <a:defRPr/>
            </a:pPr>
            <a:r>
              <a:rPr lang="en-US" altLang="zh-TW" sz="2800" dirty="0" smtClean="0">
                <a:solidFill>
                  <a:srgbClr val="FF0066"/>
                </a:solidFill>
              </a:rPr>
              <a:t>Four classes</a:t>
            </a:r>
            <a:r>
              <a:rPr lang="en-US" altLang="zh-TW" sz="2800" dirty="0" smtClean="0"/>
              <a:t> of scheduling: </a:t>
            </a:r>
            <a:r>
              <a:rPr lang="en-US" altLang="zh-TW" sz="2800" dirty="0" smtClean="0">
                <a:solidFill>
                  <a:srgbClr val="FF0000"/>
                </a:solidFill>
              </a:rPr>
              <a:t>real-time</a:t>
            </a:r>
            <a:r>
              <a:rPr lang="en-US" altLang="zh-TW" sz="2800" dirty="0" smtClean="0"/>
              <a:t> -&gt; </a:t>
            </a:r>
            <a:r>
              <a:rPr lang="en-US" altLang="zh-TW" sz="2800" dirty="0" smtClean="0">
                <a:solidFill>
                  <a:srgbClr val="CC6600"/>
                </a:solidFill>
              </a:rPr>
              <a:t>system</a:t>
            </a:r>
            <a:r>
              <a:rPr lang="en-US" altLang="zh-TW" sz="2800" dirty="0" smtClean="0"/>
              <a:t> 	-&gt; </a:t>
            </a:r>
            <a:r>
              <a:rPr lang="en-US" altLang="zh-TW" sz="2800" dirty="0" smtClean="0">
                <a:solidFill>
                  <a:srgbClr val="0000FF"/>
                </a:solidFill>
              </a:rPr>
              <a:t>time sharing</a:t>
            </a:r>
            <a:r>
              <a:rPr lang="en-US" altLang="zh-TW" sz="2800" dirty="0" smtClean="0"/>
              <a:t> -&gt; </a:t>
            </a:r>
            <a:r>
              <a:rPr lang="en-US" altLang="zh-TW" sz="2800" dirty="0" smtClean="0">
                <a:solidFill>
                  <a:srgbClr val="000000"/>
                </a:solidFill>
              </a:rPr>
              <a:t>interactive</a:t>
            </a:r>
            <a:r>
              <a:rPr lang="en-US" altLang="zh-TW" sz="2800" dirty="0" smtClean="0"/>
              <a:t>.</a:t>
            </a:r>
          </a:p>
          <a:p>
            <a:pPr eaLnBrk="1" hangingPunct="1">
              <a:spcBef>
                <a:spcPct val="60000"/>
              </a:spcBef>
              <a:defRPr/>
            </a:pPr>
            <a:r>
              <a:rPr lang="en-US" altLang="zh-TW" sz="2400" dirty="0" smtClean="0"/>
              <a:t>A process starts with one LWP and is able to create new LWPs as needed. Each LWP inherits the scheduling class and priority of the parent process. Default : time sharing  (</a:t>
            </a:r>
            <a:r>
              <a:rPr lang="en-US" altLang="zh-TW" sz="24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multilevel feedback queue</a:t>
            </a:r>
            <a:r>
              <a:rPr lang="en-US" altLang="zh-TW" sz="2400" dirty="0" smtClean="0"/>
              <a:t>)</a:t>
            </a:r>
          </a:p>
          <a:p>
            <a:pPr eaLnBrk="1" hangingPunct="1">
              <a:spcBef>
                <a:spcPct val="60000"/>
              </a:spcBef>
              <a:defRPr/>
            </a:pPr>
            <a:r>
              <a:rPr lang="en-US" altLang="zh-TW" sz="2400" dirty="0" smtClean="0"/>
              <a:t>Inverse relationship between priorities and time slices: </a:t>
            </a:r>
            <a:r>
              <a:rPr lang="en-US" altLang="zh-TW" sz="2400" dirty="0" smtClean="0">
                <a:solidFill>
                  <a:srgbClr val="FF0066"/>
                </a:solidFill>
              </a:rPr>
              <a:t>the high the priority, the smaller the time slice</a:t>
            </a:r>
            <a:r>
              <a:rPr lang="en-US" altLang="zh-TW" sz="2400" dirty="0" smtClean="0"/>
              <a:t>.</a:t>
            </a:r>
          </a:p>
          <a:p>
            <a:pPr eaLnBrk="1" hangingPunct="1">
              <a:spcBef>
                <a:spcPct val="60000"/>
              </a:spcBef>
              <a:defRPr/>
            </a:pPr>
            <a:r>
              <a:rPr lang="en-US" altLang="zh-TW" sz="2400" dirty="0" smtClean="0"/>
              <a:t>Interactive processes typically have a higher priority; CPU-bound processes have a lower priority.</a:t>
            </a:r>
            <a:endParaRPr lang="en-US" altLang="zh-TW" sz="2800" dirty="0" smtClean="0"/>
          </a:p>
        </p:txBody>
      </p:sp>
      <p:sp>
        <p:nvSpPr>
          <p:cNvPr id="60422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846A6677-93FA-44E8-81BF-4E6792997566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  <p:extLst>
      <p:ext uri="{BB962C8B-B14F-4D97-AF65-F5344CB8AC3E}">
        <p14:creationId xmlns:p14="http://schemas.microsoft.com/office/powerpoint/2010/main" val="19683449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8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8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8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8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78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78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61443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F96043E-CCD1-4CF9-95D8-ABD79B8A9E6E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73</a:t>
            </a:fld>
            <a:endParaRPr kumimoji="0" lang="en-US" altLang="zh-TW" sz="1400" smtClean="0"/>
          </a:p>
        </p:txBody>
      </p:sp>
      <p:sp>
        <p:nvSpPr>
          <p:cNvPr id="61444" name="Rectangle 2"/>
          <p:cNvSpPr>
            <a:spLocks noGrp="1" noChangeArrowheads="1"/>
          </p:cNvSpPr>
          <p:nvPr>
            <p:ph type="title"/>
          </p:nvPr>
        </p:nvSpPr>
        <p:spPr>
          <a:xfrm>
            <a:off x="1073150" y="266700"/>
            <a:ext cx="7662863" cy="701675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z="4800" smtClean="0"/>
              <a:t>Solaris 2 Scheduling (3)</a:t>
            </a:r>
          </a:p>
        </p:txBody>
      </p:sp>
      <p:sp>
        <p:nvSpPr>
          <p:cNvPr id="38093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17525" y="1204913"/>
            <a:ext cx="8912225" cy="5043487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TW" sz="2800" dirty="0" smtClean="0"/>
              <a:t>Uses the </a:t>
            </a:r>
            <a:r>
              <a:rPr lang="en-US" altLang="zh-TW" sz="2800" dirty="0" smtClean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system class</a:t>
            </a:r>
            <a:r>
              <a:rPr lang="en-US" altLang="zh-TW" sz="2800" dirty="0" smtClean="0"/>
              <a:t> to run kernel processes, such as the scheduler and page daemon. The system class is reserved for </a:t>
            </a:r>
            <a:r>
              <a:rPr lang="en-US" altLang="zh-TW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kernel use only</a:t>
            </a:r>
            <a:r>
              <a:rPr lang="en-US" altLang="zh-TW" sz="2800" dirty="0" smtClean="0"/>
              <a:t>.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sz="2800" dirty="0" smtClean="0"/>
              <a:t>Threads in the real-time class are given the highest priority to run among all classes. 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sz="2800" dirty="0" smtClean="0"/>
              <a:t>There is a set of priorities within each class. However, the scheduler converts the class-specific priorities into global priorities. (round-robin queue)</a:t>
            </a:r>
            <a:endParaRPr lang="en-US" altLang="zh-TW" dirty="0" smtClean="0"/>
          </a:p>
        </p:txBody>
      </p:sp>
      <p:sp>
        <p:nvSpPr>
          <p:cNvPr id="61446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8C1BA04D-0848-4A3A-BD2D-68C9C486730B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  <p:extLst>
      <p:ext uri="{BB962C8B-B14F-4D97-AF65-F5344CB8AC3E}">
        <p14:creationId xmlns:p14="http://schemas.microsoft.com/office/powerpoint/2010/main" val="24141933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0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0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0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0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0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0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62467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B20DB37-3148-4FAD-BC65-CFEE5D426035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74</a:t>
            </a:fld>
            <a:endParaRPr kumimoji="0" lang="en-US" altLang="zh-TW" sz="1400" smtClean="0"/>
          </a:p>
        </p:txBody>
      </p:sp>
      <p:sp>
        <p:nvSpPr>
          <p:cNvPr id="62468" name="Rectangle 2"/>
          <p:cNvSpPr>
            <a:spLocks noGrp="1" noChangeArrowheads="1"/>
          </p:cNvSpPr>
          <p:nvPr>
            <p:ph type="title"/>
          </p:nvPr>
        </p:nvSpPr>
        <p:spPr>
          <a:xfrm>
            <a:off x="660400" y="495300"/>
            <a:ext cx="8420100" cy="914400"/>
          </a:xfrm>
        </p:spPr>
        <p:txBody>
          <a:bodyPr/>
          <a:lstStyle/>
          <a:p>
            <a:pPr eaLnBrk="1" hangingPunct="1"/>
            <a:r>
              <a:rPr lang="en-US" altLang="zh-TW" sz="4000" smtClean="0"/>
              <a:t>Solaris Dispatch Table, </a:t>
            </a:r>
            <a:br>
              <a:rPr lang="en-US" altLang="zh-TW" sz="4000" smtClean="0"/>
            </a:br>
            <a:r>
              <a:rPr lang="en-US" altLang="zh-TW" sz="3600" smtClean="0">
                <a:solidFill>
                  <a:srgbClr val="0000FF"/>
                </a:solidFill>
              </a:rPr>
              <a:t>T</a:t>
            </a:r>
            <a:r>
              <a:rPr lang="en-US" altLang="zh-TW" sz="3200" smtClean="0">
                <a:solidFill>
                  <a:srgbClr val="0000FF"/>
                </a:solidFill>
              </a:rPr>
              <a:t>ime-sharing and Interactive classes</a:t>
            </a:r>
            <a:r>
              <a:rPr lang="en-US" altLang="zh-TW" sz="3600" smtClean="0"/>
              <a:t> </a:t>
            </a:r>
            <a:endParaRPr lang="en-US" altLang="zh-TW" smtClean="0"/>
          </a:p>
        </p:txBody>
      </p:sp>
      <p:pic>
        <p:nvPicPr>
          <p:cNvPr id="6246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84" t="557" r="9402" b="1114"/>
          <a:stretch>
            <a:fillRect/>
          </a:stretch>
        </p:blipFill>
        <p:spPr bwMode="auto">
          <a:xfrm>
            <a:off x="1816100" y="1535113"/>
            <a:ext cx="5718175" cy="4770437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2470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ACA52AA0-471B-4421-BA87-C0CE92CE315F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  <p:extLst>
      <p:ext uri="{BB962C8B-B14F-4D97-AF65-F5344CB8AC3E}">
        <p14:creationId xmlns:p14="http://schemas.microsoft.com/office/powerpoint/2010/main" val="1416473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70659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A534B86-3ED7-47D5-AA67-10ECAD1BE67B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75</a:t>
            </a:fld>
            <a:endParaRPr kumimoji="0" lang="en-US" altLang="zh-TW" sz="1400" smtClean="0"/>
          </a:p>
        </p:txBody>
      </p:sp>
      <p:sp>
        <p:nvSpPr>
          <p:cNvPr id="70660" name="Rectangle 2"/>
          <p:cNvSpPr>
            <a:spLocks noGrp="1" noChangeArrowheads="1"/>
          </p:cNvSpPr>
          <p:nvPr>
            <p:ph type="title"/>
          </p:nvPr>
        </p:nvSpPr>
        <p:spPr>
          <a:xfrm>
            <a:off x="1092200" y="247650"/>
            <a:ext cx="7662863" cy="454025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z="4800" smtClean="0"/>
              <a:t>Algorithm Evaluation</a:t>
            </a:r>
          </a:p>
        </p:txBody>
      </p:sp>
      <p:sp>
        <p:nvSpPr>
          <p:cNvPr id="28774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20700" y="819150"/>
            <a:ext cx="9020175" cy="5484813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>
              <a:defRPr/>
            </a:pPr>
            <a:r>
              <a:rPr lang="en-US" altLang="zh-TW" sz="2800" dirty="0" smtClean="0"/>
              <a:t>Criteria to select a CPU scheduling algorithm may include several measures, </a:t>
            </a:r>
            <a:r>
              <a:rPr lang="en-US" altLang="zh-TW" sz="2800" dirty="0" smtClean="0">
                <a:solidFill>
                  <a:srgbClr val="FF0066"/>
                </a:solidFill>
              </a:rPr>
              <a:t>such as</a:t>
            </a:r>
            <a:r>
              <a:rPr lang="en-US" altLang="zh-TW" sz="2800" dirty="0" smtClean="0"/>
              <a:t>:</a:t>
            </a:r>
            <a:endParaRPr lang="en-US" altLang="zh-TW" sz="2800" dirty="0" smtClean="0">
              <a:solidFill>
                <a:srgbClr val="FF0066"/>
              </a:solidFill>
            </a:endParaRPr>
          </a:p>
          <a:p>
            <a:pPr lvl="1" eaLnBrk="1" hangingPunct="1">
              <a:defRPr/>
            </a:pPr>
            <a:r>
              <a:rPr lang="en-US" altLang="zh-TW" sz="2400" dirty="0" smtClean="0">
                <a:solidFill>
                  <a:srgbClr val="FF0066"/>
                </a:solidFill>
              </a:rPr>
              <a:t>Maximize CPU utilization</a:t>
            </a:r>
            <a:r>
              <a:rPr lang="en-US" altLang="zh-TW" sz="2400" dirty="0" smtClean="0"/>
              <a:t> under the constraint that the maximum response time is 1 second</a:t>
            </a:r>
            <a:endParaRPr lang="en-US" altLang="zh-TW" sz="2400" dirty="0" smtClean="0">
              <a:solidFill>
                <a:srgbClr val="FF0066"/>
              </a:solidFill>
            </a:endParaRPr>
          </a:p>
          <a:p>
            <a:pPr lvl="1" eaLnBrk="1" hangingPunct="1">
              <a:defRPr/>
            </a:pPr>
            <a:r>
              <a:rPr lang="en-US" altLang="zh-TW" sz="2400" dirty="0" smtClean="0">
                <a:solidFill>
                  <a:srgbClr val="FF0066"/>
                </a:solidFill>
              </a:rPr>
              <a:t>Maximize throughput</a:t>
            </a:r>
            <a:r>
              <a:rPr lang="en-US" altLang="zh-TW" sz="2400" dirty="0" smtClean="0"/>
              <a:t> such that turnaround time is (on average) linearly proportional to total execution time</a:t>
            </a:r>
          </a:p>
          <a:p>
            <a:pPr eaLnBrk="1" hangingPunct="1">
              <a:spcBef>
                <a:spcPct val="60000"/>
              </a:spcBef>
              <a:defRPr/>
            </a:pPr>
            <a:r>
              <a:rPr lang="en-US" altLang="zh-TW" sz="2800" dirty="0" smtClean="0"/>
              <a:t>Evaluation methods ?</a:t>
            </a:r>
            <a:endParaRPr lang="en-US" altLang="zh-TW" sz="2800" dirty="0" smtClean="0">
              <a:solidFill>
                <a:srgbClr val="990B8A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lvl="1" eaLnBrk="1" hangingPunct="1">
              <a:defRPr/>
            </a:pPr>
            <a:r>
              <a:rPr lang="en-US" altLang="zh-TW" sz="2400" i="1" dirty="0" smtClean="0">
                <a:solidFill>
                  <a:srgbClr val="990B8A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deterministic modeling</a:t>
            </a:r>
          </a:p>
          <a:p>
            <a:pPr lvl="1" eaLnBrk="1" hangingPunct="1">
              <a:defRPr/>
            </a:pPr>
            <a:r>
              <a:rPr lang="en-US" altLang="zh-TW" sz="2400" i="1" dirty="0" smtClean="0">
                <a:solidFill>
                  <a:srgbClr val="990B8A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queuing models</a:t>
            </a:r>
          </a:p>
          <a:p>
            <a:pPr lvl="1" eaLnBrk="1" hangingPunct="1">
              <a:defRPr/>
            </a:pPr>
            <a:r>
              <a:rPr lang="en-US" altLang="zh-TW" sz="2400" i="1" dirty="0" smtClean="0">
                <a:solidFill>
                  <a:srgbClr val="990B8A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simulations</a:t>
            </a:r>
          </a:p>
          <a:p>
            <a:pPr lvl="1" eaLnBrk="1" hangingPunct="1">
              <a:defRPr/>
            </a:pPr>
            <a:r>
              <a:rPr lang="en-US" altLang="zh-TW" sz="2400" i="1" dirty="0" smtClean="0">
                <a:solidFill>
                  <a:srgbClr val="990B8A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implementation</a:t>
            </a:r>
            <a:endParaRPr lang="en-US" altLang="zh-TW" sz="2400" dirty="0" smtClean="0">
              <a:solidFill>
                <a:srgbClr val="990B8A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0662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2B06C6DE-97C9-4EA4-AF75-C2DE0A44386F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7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7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7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7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7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7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7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7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7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7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7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7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7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87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71683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905F6D1-0402-4579-847A-DC6778A5644B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76</a:t>
            </a:fld>
            <a:endParaRPr kumimoji="0" lang="en-US" altLang="zh-TW" sz="1400" smtClean="0"/>
          </a:p>
        </p:txBody>
      </p:sp>
      <p:sp>
        <p:nvSpPr>
          <p:cNvPr id="71684" name="Rectangle 2"/>
          <p:cNvSpPr>
            <a:spLocks noGrp="1" noChangeArrowheads="1"/>
          </p:cNvSpPr>
          <p:nvPr>
            <p:ph type="title"/>
          </p:nvPr>
        </p:nvSpPr>
        <p:spPr>
          <a:xfrm>
            <a:off x="957263" y="285750"/>
            <a:ext cx="7839075" cy="820738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z="4800" smtClean="0">
                <a:solidFill>
                  <a:schemeClr val="tx1"/>
                </a:solidFill>
              </a:rPr>
              <a:t>Deterministic modeling (1)</a:t>
            </a:r>
          </a:p>
        </p:txBody>
      </p:sp>
      <p:sp>
        <p:nvSpPr>
          <p:cNvPr id="28877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22275" y="1077913"/>
            <a:ext cx="9201150" cy="49784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TW" dirty="0" smtClean="0">
                <a:solidFill>
                  <a:srgbClr val="990B8A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Analytic evaluation</a:t>
            </a:r>
            <a:endParaRPr lang="en-US" altLang="zh-TW" dirty="0" smtClean="0"/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dirty="0" smtClean="0"/>
              <a:t>Input: a given </a:t>
            </a:r>
            <a:r>
              <a:rPr lang="en-US" altLang="zh-TW" dirty="0" smtClean="0">
                <a:solidFill>
                  <a:srgbClr val="FF0000"/>
                </a:solidFill>
              </a:rPr>
              <a:t>algorithm</a:t>
            </a:r>
            <a:r>
              <a:rPr lang="en-US" altLang="zh-TW" dirty="0" smtClean="0"/>
              <a:t> and a </a:t>
            </a:r>
            <a:r>
              <a:rPr lang="en-US" altLang="zh-TW" dirty="0" smtClean="0">
                <a:solidFill>
                  <a:srgbClr val="FF0000"/>
                </a:solidFill>
              </a:rPr>
              <a:t>system workload</a:t>
            </a:r>
            <a:r>
              <a:rPr lang="en-US" altLang="zh-TW" dirty="0" smtClean="0"/>
              <a:t> to 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dirty="0" smtClean="0"/>
              <a:t>Output: performance of the algorithm for that workload</a:t>
            </a:r>
            <a:endParaRPr lang="en-US" altLang="zh-TW" dirty="0" smtClean="0">
              <a:solidFill>
                <a:srgbClr val="990B8A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dirty="0" smtClean="0">
                <a:solidFill>
                  <a:srgbClr val="990B8A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Deterministic modeling</a:t>
            </a:r>
            <a:r>
              <a:rPr lang="en-US" altLang="zh-TW" dirty="0" smtClean="0"/>
              <a:t>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dirty="0" smtClean="0"/>
              <a:t>Taking a particular </a:t>
            </a:r>
            <a:r>
              <a:rPr lang="en-US" altLang="zh-TW" dirty="0" smtClean="0">
                <a:solidFill>
                  <a:srgbClr val="FF0000"/>
                </a:solidFill>
              </a:rPr>
              <a:t>predetermined workload</a:t>
            </a:r>
            <a:r>
              <a:rPr lang="en-US" altLang="zh-TW" dirty="0" smtClean="0"/>
              <a:t> and defining the performance of each algorithm for that workload.</a:t>
            </a:r>
          </a:p>
        </p:txBody>
      </p:sp>
      <p:sp>
        <p:nvSpPr>
          <p:cNvPr id="71686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8FB20D2D-0CF2-49AE-B983-568599A9FE41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72707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9803223-A2FF-47FF-A798-2715456E5E5B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77</a:t>
            </a:fld>
            <a:endParaRPr kumimoji="0" lang="en-US" altLang="zh-TW" sz="1400" smtClean="0"/>
          </a:p>
        </p:txBody>
      </p:sp>
      <p:sp>
        <p:nvSpPr>
          <p:cNvPr id="72708" name="Rectangle 2"/>
          <p:cNvSpPr>
            <a:spLocks noGrp="1" noChangeArrowheads="1"/>
          </p:cNvSpPr>
          <p:nvPr>
            <p:ph type="title"/>
          </p:nvPr>
        </p:nvSpPr>
        <p:spPr>
          <a:xfrm>
            <a:off x="957263" y="285750"/>
            <a:ext cx="7839075" cy="820738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z="4800" smtClean="0">
                <a:solidFill>
                  <a:schemeClr val="tx1"/>
                </a:solidFill>
              </a:rPr>
              <a:t>Deterministic modeling (2)</a:t>
            </a:r>
          </a:p>
        </p:txBody>
      </p:sp>
      <p:sp>
        <p:nvSpPr>
          <p:cNvPr id="7270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30213" y="1344613"/>
            <a:ext cx="9201150" cy="4605337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Char char="l"/>
            </a:pPr>
            <a:endParaRPr lang="en-US" altLang="zh-TW" sz="2000" b="1" smtClean="0">
              <a:latin typeface="Book Antiqua" pitchFamily="18" charset="0"/>
            </a:endParaRP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Char char="l"/>
            </a:pPr>
            <a:endParaRPr lang="en-US" altLang="zh-TW" sz="2000" b="1" smtClean="0">
              <a:latin typeface="Book Antiqua" pitchFamily="18" charset="0"/>
            </a:endParaRP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Char char="l"/>
            </a:pPr>
            <a:endParaRPr lang="en-US" altLang="zh-TW" sz="2000" b="1" smtClean="0">
              <a:latin typeface="Book Antiqua" pitchFamily="18" charset="0"/>
            </a:endParaRP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Char char="l"/>
            </a:pPr>
            <a:endParaRPr lang="en-US" altLang="zh-TW" sz="2000" b="1" smtClean="0">
              <a:latin typeface="Book Antiqua" pitchFamily="18" charset="0"/>
            </a:endParaRP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Char char="l"/>
            </a:pPr>
            <a:r>
              <a:rPr lang="en-US" altLang="zh-TW" sz="2000" b="1" smtClean="0">
                <a:latin typeface="Book Antiqua" pitchFamily="18" charset="0"/>
              </a:rPr>
              <a:t>FCFS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Char char="l"/>
            </a:pPr>
            <a:endParaRPr lang="en-US" altLang="zh-TW" sz="2000" b="1" smtClean="0">
              <a:latin typeface="Book Antiqua" pitchFamily="18" charset="0"/>
            </a:endParaRP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Char char="l"/>
            </a:pPr>
            <a:endParaRPr lang="en-US" altLang="zh-TW" sz="2000" b="1" smtClean="0">
              <a:latin typeface="Book Antiqua" pitchFamily="18" charset="0"/>
            </a:endParaRP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Char char="l"/>
            </a:pPr>
            <a:r>
              <a:rPr lang="en-US" altLang="zh-TW" sz="2000" b="1" smtClean="0">
                <a:latin typeface="Book Antiqua" pitchFamily="18" charset="0"/>
              </a:rPr>
              <a:t>SJF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Char char="l"/>
            </a:pPr>
            <a:endParaRPr lang="en-US" altLang="zh-TW" sz="2000" b="1" smtClean="0">
              <a:latin typeface="Book Antiqua" pitchFamily="18" charset="0"/>
            </a:endParaRP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Char char="l"/>
            </a:pPr>
            <a:endParaRPr lang="en-US" altLang="zh-TW" sz="2000" b="1" smtClean="0">
              <a:latin typeface="Book Antiqua" pitchFamily="18" charset="0"/>
            </a:endParaRP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Char char="l"/>
            </a:pPr>
            <a:r>
              <a:rPr lang="en-US" altLang="zh-TW" sz="2000" b="1" smtClean="0">
                <a:latin typeface="Book Antiqua" pitchFamily="18" charset="0"/>
              </a:rPr>
              <a:t>RR (q = 10)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TW" smtClean="0"/>
          </a:p>
        </p:txBody>
      </p:sp>
      <p:sp>
        <p:nvSpPr>
          <p:cNvPr id="72710" name="Rectangle 4"/>
          <p:cNvSpPr>
            <a:spLocks noChangeArrowheads="1"/>
          </p:cNvSpPr>
          <p:nvPr/>
        </p:nvSpPr>
        <p:spPr bwMode="auto">
          <a:xfrm>
            <a:off x="2616200" y="1330325"/>
            <a:ext cx="3376613" cy="17192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182F18"/>
                    </a:gs>
                    <a:gs pos="50000">
                      <a:srgbClr val="336633"/>
                    </a:gs>
                    <a:gs pos="100000">
                      <a:srgbClr val="182F18"/>
                    </a:gs>
                  </a:gsLst>
                  <a:lin ang="5400000" scaled="1"/>
                </a:gra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72711" name="Rectangle 5"/>
          <p:cNvSpPr>
            <a:spLocks noChangeArrowheads="1"/>
          </p:cNvSpPr>
          <p:nvPr/>
        </p:nvSpPr>
        <p:spPr bwMode="auto">
          <a:xfrm>
            <a:off x="2667000" y="1382713"/>
            <a:ext cx="2903538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Process      Burst Time   </a:t>
            </a:r>
          </a:p>
        </p:txBody>
      </p:sp>
      <p:sp>
        <p:nvSpPr>
          <p:cNvPr id="72712" name="Line 6"/>
          <p:cNvSpPr>
            <a:spLocks noChangeShapeType="1"/>
          </p:cNvSpPr>
          <p:nvPr/>
        </p:nvSpPr>
        <p:spPr bwMode="auto">
          <a:xfrm>
            <a:off x="2725738" y="1741488"/>
            <a:ext cx="8366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2713" name="Line 7"/>
          <p:cNvSpPr>
            <a:spLocks noChangeShapeType="1"/>
          </p:cNvSpPr>
          <p:nvPr/>
        </p:nvSpPr>
        <p:spPr bwMode="auto">
          <a:xfrm>
            <a:off x="4010025" y="1741488"/>
            <a:ext cx="15144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2714" name="Rectangle 8"/>
          <p:cNvSpPr>
            <a:spLocks noChangeArrowheads="1"/>
          </p:cNvSpPr>
          <p:nvPr/>
        </p:nvSpPr>
        <p:spPr bwMode="auto">
          <a:xfrm>
            <a:off x="2914650" y="1754188"/>
            <a:ext cx="287655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P1                    10              </a:t>
            </a:r>
          </a:p>
        </p:txBody>
      </p:sp>
      <p:sp>
        <p:nvSpPr>
          <p:cNvPr id="72715" name="Rectangle 9"/>
          <p:cNvSpPr>
            <a:spLocks noChangeArrowheads="1"/>
          </p:cNvSpPr>
          <p:nvPr/>
        </p:nvSpPr>
        <p:spPr bwMode="auto">
          <a:xfrm>
            <a:off x="2909888" y="1992313"/>
            <a:ext cx="198755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P2                    29</a:t>
            </a:r>
          </a:p>
        </p:txBody>
      </p:sp>
      <p:sp>
        <p:nvSpPr>
          <p:cNvPr id="72716" name="Rectangle 10"/>
          <p:cNvSpPr>
            <a:spLocks noChangeArrowheads="1"/>
          </p:cNvSpPr>
          <p:nvPr/>
        </p:nvSpPr>
        <p:spPr bwMode="auto">
          <a:xfrm>
            <a:off x="2921000" y="2244725"/>
            <a:ext cx="192246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P3                     3</a:t>
            </a:r>
          </a:p>
        </p:txBody>
      </p:sp>
      <p:sp>
        <p:nvSpPr>
          <p:cNvPr id="72717" name="Rectangle 11"/>
          <p:cNvSpPr>
            <a:spLocks noChangeArrowheads="1"/>
          </p:cNvSpPr>
          <p:nvPr/>
        </p:nvSpPr>
        <p:spPr bwMode="auto">
          <a:xfrm>
            <a:off x="2930525" y="2454275"/>
            <a:ext cx="192405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P4                     7</a:t>
            </a:r>
          </a:p>
        </p:txBody>
      </p:sp>
      <p:sp>
        <p:nvSpPr>
          <p:cNvPr id="72718" name="Rectangle 12"/>
          <p:cNvSpPr>
            <a:spLocks noChangeArrowheads="1"/>
          </p:cNvSpPr>
          <p:nvPr/>
        </p:nvSpPr>
        <p:spPr bwMode="auto">
          <a:xfrm>
            <a:off x="1027113" y="3186113"/>
            <a:ext cx="6022975" cy="4159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76002F"/>
                    </a:gs>
                    <a:gs pos="50000">
                      <a:srgbClr val="FF0066"/>
                    </a:gs>
                    <a:gs pos="100000">
                      <a:srgbClr val="76002F"/>
                    </a:gs>
                  </a:gsLst>
                  <a:lin ang="5400000" scaled="1"/>
                </a:gra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72719" name="Line 13"/>
          <p:cNvSpPr>
            <a:spLocks noChangeShapeType="1"/>
          </p:cNvSpPr>
          <p:nvPr/>
        </p:nvSpPr>
        <p:spPr bwMode="auto">
          <a:xfrm>
            <a:off x="4905375" y="3186113"/>
            <a:ext cx="0" cy="415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2720" name="Rectangle 14"/>
          <p:cNvSpPr>
            <a:spLocks noChangeArrowheads="1"/>
          </p:cNvSpPr>
          <p:nvPr/>
        </p:nvSpPr>
        <p:spPr bwMode="auto">
          <a:xfrm>
            <a:off x="6370638" y="3221038"/>
            <a:ext cx="46355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P5</a:t>
            </a:r>
          </a:p>
        </p:txBody>
      </p:sp>
      <p:sp>
        <p:nvSpPr>
          <p:cNvPr id="72721" name="Rectangle 15"/>
          <p:cNvSpPr>
            <a:spLocks noChangeArrowheads="1"/>
          </p:cNvSpPr>
          <p:nvPr/>
        </p:nvSpPr>
        <p:spPr bwMode="auto">
          <a:xfrm>
            <a:off x="4891088" y="3240088"/>
            <a:ext cx="465137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P3</a:t>
            </a:r>
          </a:p>
        </p:txBody>
      </p:sp>
      <p:sp>
        <p:nvSpPr>
          <p:cNvPr id="72722" name="Rectangle 16"/>
          <p:cNvSpPr>
            <a:spLocks noChangeArrowheads="1"/>
          </p:cNvSpPr>
          <p:nvPr/>
        </p:nvSpPr>
        <p:spPr bwMode="auto">
          <a:xfrm>
            <a:off x="908050" y="3663950"/>
            <a:ext cx="5895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0         10                                        39   42      49          61</a:t>
            </a:r>
          </a:p>
        </p:txBody>
      </p:sp>
      <p:sp>
        <p:nvSpPr>
          <p:cNvPr id="72723" name="Line 17"/>
          <p:cNvSpPr>
            <a:spLocks noChangeShapeType="1"/>
          </p:cNvSpPr>
          <p:nvPr/>
        </p:nvSpPr>
        <p:spPr bwMode="auto">
          <a:xfrm>
            <a:off x="1919288" y="3187700"/>
            <a:ext cx="0" cy="415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2724" name="Rectangle 18"/>
          <p:cNvSpPr>
            <a:spLocks noChangeArrowheads="1"/>
          </p:cNvSpPr>
          <p:nvPr/>
        </p:nvSpPr>
        <p:spPr bwMode="auto">
          <a:xfrm>
            <a:off x="5514975" y="3230563"/>
            <a:ext cx="46355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P4</a:t>
            </a:r>
          </a:p>
        </p:txBody>
      </p:sp>
      <p:sp>
        <p:nvSpPr>
          <p:cNvPr id="72725" name="Rectangle 19"/>
          <p:cNvSpPr>
            <a:spLocks noChangeArrowheads="1"/>
          </p:cNvSpPr>
          <p:nvPr/>
        </p:nvSpPr>
        <p:spPr bwMode="auto">
          <a:xfrm>
            <a:off x="3079750" y="3225800"/>
            <a:ext cx="46355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P2</a:t>
            </a:r>
          </a:p>
        </p:txBody>
      </p:sp>
      <p:sp>
        <p:nvSpPr>
          <p:cNvPr id="72726" name="Rectangle 20"/>
          <p:cNvSpPr>
            <a:spLocks noChangeArrowheads="1"/>
          </p:cNvSpPr>
          <p:nvPr/>
        </p:nvSpPr>
        <p:spPr bwMode="auto">
          <a:xfrm>
            <a:off x="1273175" y="3259138"/>
            <a:ext cx="46355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P1</a:t>
            </a:r>
          </a:p>
        </p:txBody>
      </p:sp>
      <p:sp>
        <p:nvSpPr>
          <p:cNvPr id="72727" name="Line 21"/>
          <p:cNvSpPr>
            <a:spLocks noChangeShapeType="1"/>
          </p:cNvSpPr>
          <p:nvPr/>
        </p:nvSpPr>
        <p:spPr bwMode="auto">
          <a:xfrm>
            <a:off x="6067425" y="3187700"/>
            <a:ext cx="0" cy="4016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2728" name="Rectangle 22"/>
          <p:cNvSpPr>
            <a:spLocks noChangeArrowheads="1"/>
          </p:cNvSpPr>
          <p:nvPr/>
        </p:nvSpPr>
        <p:spPr bwMode="auto">
          <a:xfrm>
            <a:off x="2924175" y="2678113"/>
            <a:ext cx="198755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P5                    12</a:t>
            </a:r>
          </a:p>
        </p:txBody>
      </p:sp>
      <p:sp>
        <p:nvSpPr>
          <p:cNvPr id="72729" name="Line 23"/>
          <p:cNvSpPr>
            <a:spLocks noChangeShapeType="1"/>
          </p:cNvSpPr>
          <p:nvPr/>
        </p:nvSpPr>
        <p:spPr bwMode="auto">
          <a:xfrm>
            <a:off x="5318125" y="3197225"/>
            <a:ext cx="0" cy="4016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2730" name="Rectangle 24"/>
          <p:cNvSpPr>
            <a:spLocks noChangeArrowheads="1"/>
          </p:cNvSpPr>
          <p:nvPr/>
        </p:nvSpPr>
        <p:spPr bwMode="auto">
          <a:xfrm>
            <a:off x="1006475" y="4267200"/>
            <a:ext cx="6022975" cy="4159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470540"/>
                    </a:gs>
                    <a:gs pos="50000">
                      <a:srgbClr val="990B8A"/>
                    </a:gs>
                    <a:gs pos="100000">
                      <a:srgbClr val="470540"/>
                    </a:gs>
                  </a:gsLst>
                  <a:lin ang="5400000" scaled="1"/>
                </a:gra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72731" name="Line 25"/>
          <p:cNvSpPr>
            <a:spLocks noChangeShapeType="1"/>
          </p:cNvSpPr>
          <p:nvPr/>
        </p:nvSpPr>
        <p:spPr bwMode="auto">
          <a:xfrm>
            <a:off x="3089275" y="4281488"/>
            <a:ext cx="0" cy="415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2732" name="Rectangle 26"/>
          <p:cNvSpPr>
            <a:spLocks noChangeArrowheads="1"/>
          </p:cNvSpPr>
          <p:nvPr/>
        </p:nvSpPr>
        <p:spPr bwMode="auto">
          <a:xfrm>
            <a:off x="3471863" y="4316413"/>
            <a:ext cx="46355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P5</a:t>
            </a:r>
          </a:p>
        </p:txBody>
      </p:sp>
      <p:sp>
        <p:nvSpPr>
          <p:cNvPr id="72733" name="Rectangle 27"/>
          <p:cNvSpPr>
            <a:spLocks noChangeArrowheads="1"/>
          </p:cNvSpPr>
          <p:nvPr/>
        </p:nvSpPr>
        <p:spPr bwMode="auto">
          <a:xfrm>
            <a:off x="1001713" y="4321175"/>
            <a:ext cx="461962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P3</a:t>
            </a:r>
          </a:p>
        </p:txBody>
      </p:sp>
      <p:sp>
        <p:nvSpPr>
          <p:cNvPr id="72734" name="Rectangle 28"/>
          <p:cNvSpPr>
            <a:spLocks noChangeArrowheads="1"/>
          </p:cNvSpPr>
          <p:nvPr/>
        </p:nvSpPr>
        <p:spPr bwMode="auto">
          <a:xfrm>
            <a:off x="887413" y="4745038"/>
            <a:ext cx="5895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0    3       10          20           32                                      61</a:t>
            </a:r>
          </a:p>
        </p:txBody>
      </p:sp>
      <p:sp>
        <p:nvSpPr>
          <p:cNvPr id="72735" name="Line 29"/>
          <p:cNvSpPr>
            <a:spLocks noChangeShapeType="1"/>
          </p:cNvSpPr>
          <p:nvPr/>
        </p:nvSpPr>
        <p:spPr bwMode="auto">
          <a:xfrm>
            <a:off x="1417638" y="4268788"/>
            <a:ext cx="0" cy="415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2736" name="Rectangle 30"/>
          <p:cNvSpPr>
            <a:spLocks noChangeArrowheads="1"/>
          </p:cNvSpPr>
          <p:nvPr/>
        </p:nvSpPr>
        <p:spPr bwMode="auto">
          <a:xfrm>
            <a:off x="1624013" y="4325938"/>
            <a:ext cx="46355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P4</a:t>
            </a:r>
          </a:p>
        </p:txBody>
      </p:sp>
      <p:sp>
        <p:nvSpPr>
          <p:cNvPr id="72737" name="Rectangle 31"/>
          <p:cNvSpPr>
            <a:spLocks noChangeArrowheads="1"/>
          </p:cNvSpPr>
          <p:nvPr/>
        </p:nvSpPr>
        <p:spPr bwMode="auto">
          <a:xfrm>
            <a:off x="5365750" y="4321175"/>
            <a:ext cx="465138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P2</a:t>
            </a:r>
          </a:p>
        </p:txBody>
      </p:sp>
      <p:sp>
        <p:nvSpPr>
          <p:cNvPr id="72738" name="Rectangle 32"/>
          <p:cNvSpPr>
            <a:spLocks noChangeArrowheads="1"/>
          </p:cNvSpPr>
          <p:nvPr/>
        </p:nvSpPr>
        <p:spPr bwMode="auto">
          <a:xfrm>
            <a:off x="2508250" y="4325938"/>
            <a:ext cx="461963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P1</a:t>
            </a:r>
          </a:p>
        </p:txBody>
      </p:sp>
      <p:sp>
        <p:nvSpPr>
          <p:cNvPr id="72739" name="Line 33"/>
          <p:cNvSpPr>
            <a:spLocks noChangeShapeType="1"/>
          </p:cNvSpPr>
          <p:nvPr/>
        </p:nvSpPr>
        <p:spPr bwMode="auto">
          <a:xfrm>
            <a:off x="2178050" y="4283075"/>
            <a:ext cx="0" cy="4016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2740" name="Line 34"/>
          <p:cNvSpPr>
            <a:spLocks noChangeShapeType="1"/>
          </p:cNvSpPr>
          <p:nvPr/>
        </p:nvSpPr>
        <p:spPr bwMode="auto">
          <a:xfrm>
            <a:off x="4168775" y="4292600"/>
            <a:ext cx="0" cy="4016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2741" name="Rectangle 35"/>
          <p:cNvSpPr>
            <a:spLocks noChangeArrowheads="1"/>
          </p:cNvSpPr>
          <p:nvPr/>
        </p:nvSpPr>
        <p:spPr bwMode="auto">
          <a:xfrm>
            <a:off x="1033463" y="5348288"/>
            <a:ext cx="6021387" cy="4159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765E00"/>
                    </a:gs>
                    <a:gs pos="50000">
                      <a:srgbClr val="FFCC00"/>
                    </a:gs>
                    <a:gs pos="100000">
                      <a:srgbClr val="765E00"/>
                    </a:gs>
                  </a:gsLst>
                  <a:lin ang="5400000" scaled="1"/>
                </a:gra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72742" name="Line 36"/>
          <p:cNvSpPr>
            <a:spLocks noChangeShapeType="1"/>
          </p:cNvSpPr>
          <p:nvPr/>
        </p:nvSpPr>
        <p:spPr bwMode="auto">
          <a:xfrm>
            <a:off x="2776538" y="5362575"/>
            <a:ext cx="0" cy="415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2743" name="Rectangle 37"/>
          <p:cNvSpPr>
            <a:spLocks noChangeArrowheads="1"/>
          </p:cNvSpPr>
          <p:nvPr/>
        </p:nvSpPr>
        <p:spPr bwMode="auto">
          <a:xfrm>
            <a:off x="4132263" y="5397500"/>
            <a:ext cx="46355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P5</a:t>
            </a:r>
          </a:p>
        </p:txBody>
      </p:sp>
      <p:sp>
        <p:nvSpPr>
          <p:cNvPr id="72744" name="Rectangle 38"/>
          <p:cNvSpPr>
            <a:spLocks noChangeArrowheads="1"/>
          </p:cNvSpPr>
          <p:nvPr/>
        </p:nvSpPr>
        <p:spPr bwMode="auto">
          <a:xfrm>
            <a:off x="2776538" y="5402263"/>
            <a:ext cx="461962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P3</a:t>
            </a:r>
          </a:p>
        </p:txBody>
      </p:sp>
      <p:sp>
        <p:nvSpPr>
          <p:cNvPr id="72745" name="Rectangle 39"/>
          <p:cNvSpPr>
            <a:spLocks noChangeArrowheads="1"/>
          </p:cNvSpPr>
          <p:nvPr/>
        </p:nvSpPr>
        <p:spPr bwMode="auto">
          <a:xfrm>
            <a:off x="912813" y="5826125"/>
            <a:ext cx="5832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0          10        20   23       30        40         50   52       61</a:t>
            </a:r>
          </a:p>
        </p:txBody>
      </p:sp>
      <p:sp>
        <p:nvSpPr>
          <p:cNvPr id="72746" name="Line 40"/>
          <p:cNvSpPr>
            <a:spLocks noChangeShapeType="1"/>
          </p:cNvSpPr>
          <p:nvPr/>
        </p:nvSpPr>
        <p:spPr bwMode="auto">
          <a:xfrm>
            <a:off x="1924050" y="5349875"/>
            <a:ext cx="0" cy="415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2747" name="Rectangle 41"/>
          <p:cNvSpPr>
            <a:spLocks noChangeArrowheads="1"/>
          </p:cNvSpPr>
          <p:nvPr/>
        </p:nvSpPr>
        <p:spPr bwMode="auto">
          <a:xfrm>
            <a:off x="3336925" y="5392738"/>
            <a:ext cx="46355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P4</a:t>
            </a:r>
          </a:p>
        </p:txBody>
      </p:sp>
      <p:sp>
        <p:nvSpPr>
          <p:cNvPr id="72748" name="Rectangle 42"/>
          <p:cNvSpPr>
            <a:spLocks noChangeArrowheads="1"/>
          </p:cNvSpPr>
          <p:nvPr/>
        </p:nvSpPr>
        <p:spPr bwMode="auto">
          <a:xfrm>
            <a:off x="2063750" y="5416550"/>
            <a:ext cx="465138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P2</a:t>
            </a:r>
          </a:p>
        </p:txBody>
      </p:sp>
      <p:sp>
        <p:nvSpPr>
          <p:cNvPr id="72749" name="Rectangle 43"/>
          <p:cNvSpPr>
            <a:spLocks noChangeArrowheads="1"/>
          </p:cNvSpPr>
          <p:nvPr/>
        </p:nvSpPr>
        <p:spPr bwMode="auto">
          <a:xfrm>
            <a:off x="1279525" y="5421313"/>
            <a:ext cx="465138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P1</a:t>
            </a:r>
          </a:p>
        </p:txBody>
      </p:sp>
      <p:sp>
        <p:nvSpPr>
          <p:cNvPr id="72750" name="Line 44"/>
          <p:cNvSpPr>
            <a:spLocks noChangeShapeType="1"/>
          </p:cNvSpPr>
          <p:nvPr/>
        </p:nvSpPr>
        <p:spPr bwMode="auto">
          <a:xfrm>
            <a:off x="3967163" y="5364163"/>
            <a:ext cx="0" cy="4016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2751" name="Line 45"/>
          <p:cNvSpPr>
            <a:spLocks noChangeShapeType="1"/>
          </p:cNvSpPr>
          <p:nvPr/>
        </p:nvSpPr>
        <p:spPr bwMode="auto">
          <a:xfrm>
            <a:off x="3203575" y="5345113"/>
            <a:ext cx="0" cy="4016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2752" name="Line 46"/>
          <p:cNvSpPr>
            <a:spLocks noChangeShapeType="1"/>
          </p:cNvSpPr>
          <p:nvPr/>
        </p:nvSpPr>
        <p:spPr bwMode="auto">
          <a:xfrm>
            <a:off x="4813300" y="5357813"/>
            <a:ext cx="0" cy="415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2753" name="Line 47"/>
          <p:cNvSpPr>
            <a:spLocks noChangeShapeType="1"/>
          </p:cNvSpPr>
          <p:nvPr/>
        </p:nvSpPr>
        <p:spPr bwMode="auto">
          <a:xfrm>
            <a:off x="5707063" y="5353050"/>
            <a:ext cx="0" cy="415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2754" name="Line 48"/>
          <p:cNvSpPr>
            <a:spLocks noChangeShapeType="1"/>
          </p:cNvSpPr>
          <p:nvPr/>
        </p:nvSpPr>
        <p:spPr bwMode="auto">
          <a:xfrm>
            <a:off x="6119813" y="5348288"/>
            <a:ext cx="0" cy="415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2755" name="Rectangle 49"/>
          <p:cNvSpPr>
            <a:spLocks noChangeArrowheads="1"/>
          </p:cNvSpPr>
          <p:nvPr/>
        </p:nvSpPr>
        <p:spPr bwMode="auto">
          <a:xfrm>
            <a:off x="5046663" y="5397500"/>
            <a:ext cx="461962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P2</a:t>
            </a:r>
          </a:p>
        </p:txBody>
      </p:sp>
      <p:sp>
        <p:nvSpPr>
          <p:cNvPr id="72756" name="Rectangle 50"/>
          <p:cNvSpPr>
            <a:spLocks noChangeArrowheads="1"/>
          </p:cNvSpPr>
          <p:nvPr/>
        </p:nvSpPr>
        <p:spPr bwMode="auto">
          <a:xfrm>
            <a:off x="6388100" y="5392738"/>
            <a:ext cx="461963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P2</a:t>
            </a:r>
          </a:p>
        </p:txBody>
      </p:sp>
      <p:sp>
        <p:nvSpPr>
          <p:cNvPr id="72757" name="Rectangle 51"/>
          <p:cNvSpPr>
            <a:spLocks noChangeArrowheads="1"/>
          </p:cNvSpPr>
          <p:nvPr/>
        </p:nvSpPr>
        <p:spPr bwMode="auto">
          <a:xfrm>
            <a:off x="5707063" y="5407025"/>
            <a:ext cx="461962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P5</a:t>
            </a:r>
          </a:p>
        </p:txBody>
      </p:sp>
      <p:sp>
        <p:nvSpPr>
          <p:cNvPr id="72758" name="Rectangle 52"/>
          <p:cNvSpPr>
            <a:spLocks noChangeArrowheads="1"/>
          </p:cNvSpPr>
          <p:nvPr/>
        </p:nvSpPr>
        <p:spPr bwMode="auto">
          <a:xfrm>
            <a:off x="7285038" y="3208338"/>
            <a:ext cx="1738312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AWT = 28 ms</a:t>
            </a:r>
          </a:p>
        </p:txBody>
      </p:sp>
      <p:sp>
        <p:nvSpPr>
          <p:cNvPr id="72759" name="Rectangle 53"/>
          <p:cNvSpPr>
            <a:spLocks noChangeArrowheads="1"/>
          </p:cNvSpPr>
          <p:nvPr/>
        </p:nvSpPr>
        <p:spPr bwMode="auto">
          <a:xfrm>
            <a:off x="7216775" y="4332288"/>
            <a:ext cx="1738313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AWT = 13 ms</a:t>
            </a:r>
          </a:p>
        </p:txBody>
      </p:sp>
      <p:sp>
        <p:nvSpPr>
          <p:cNvPr id="72760" name="Rectangle 54"/>
          <p:cNvSpPr>
            <a:spLocks noChangeArrowheads="1"/>
          </p:cNvSpPr>
          <p:nvPr/>
        </p:nvSpPr>
        <p:spPr bwMode="auto">
          <a:xfrm>
            <a:off x="7275513" y="5399088"/>
            <a:ext cx="173672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AWT = 23 ms</a:t>
            </a:r>
          </a:p>
        </p:txBody>
      </p:sp>
      <p:sp>
        <p:nvSpPr>
          <p:cNvPr id="72761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225A15C1-9FB0-426E-8C41-7588D260B3C5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73731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A5A0F91-4AB9-49C9-9F71-8B2586BA941D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78</a:t>
            </a:fld>
            <a:endParaRPr kumimoji="0" lang="en-US" altLang="zh-TW" sz="1400" smtClean="0"/>
          </a:p>
        </p:txBody>
      </p:sp>
      <p:sp>
        <p:nvSpPr>
          <p:cNvPr id="73732" name="Rectangle 2"/>
          <p:cNvSpPr>
            <a:spLocks noGrp="1" noChangeArrowheads="1"/>
          </p:cNvSpPr>
          <p:nvPr>
            <p:ph type="title"/>
          </p:nvPr>
        </p:nvSpPr>
        <p:spPr>
          <a:xfrm>
            <a:off x="957263" y="285750"/>
            <a:ext cx="7839075" cy="820738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z="4800" dirty="0" smtClean="0">
                <a:solidFill>
                  <a:schemeClr val="tx1"/>
                </a:solidFill>
              </a:rPr>
              <a:t>Deterministic Modeling (3)</a:t>
            </a:r>
          </a:p>
        </p:txBody>
      </p:sp>
      <p:sp>
        <p:nvSpPr>
          <p:cNvPr id="29081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98475" y="1047750"/>
            <a:ext cx="9201150" cy="4948238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altLang="zh-TW" sz="2800" dirty="0" smtClean="0">
                <a:latin typeface="Wingdings" pitchFamily="2" charset="2"/>
              </a:rPr>
              <a:t>J</a:t>
            </a:r>
            <a:r>
              <a:rPr lang="en-US" altLang="zh-TW" sz="2800" dirty="0" smtClean="0"/>
              <a:t>: </a:t>
            </a:r>
            <a:r>
              <a:rPr lang="en-US" altLang="zh-TW" sz="2800" dirty="0" smtClean="0">
                <a:solidFill>
                  <a:srgbClr val="FF0066"/>
                </a:solidFill>
              </a:rPr>
              <a:t>A simple and fast method</a:t>
            </a:r>
            <a:r>
              <a:rPr lang="en-US" altLang="zh-TW" sz="2800" dirty="0" smtClean="0"/>
              <a:t>. It gives the exact numbers, allows the algorithms to be compared.</a:t>
            </a:r>
          </a:p>
          <a:p>
            <a:pPr eaLnBrk="1" hangingPunct="1">
              <a:spcBef>
                <a:spcPct val="50000"/>
              </a:spcBef>
              <a:buFont typeface="Wingdings" pitchFamily="2" charset="2"/>
              <a:buNone/>
              <a:defRPr/>
            </a:pPr>
            <a:r>
              <a:rPr lang="en-US" altLang="zh-TW" sz="2800" dirty="0" smtClean="0">
                <a:latin typeface="Wingdings" pitchFamily="2" charset="2"/>
              </a:rPr>
              <a:t>L</a:t>
            </a:r>
            <a:r>
              <a:rPr lang="en-US" altLang="zh-TW" sz="2800" dirty="0" smtClean="0"/>
              <a:t>: </a:t>
            </a:r>
            <a:r>
              <a:rPr lang="en-US" altLang="zh-TW" sz="2800" dirty="0" smtClean="0">
                <a:solidFill>
                  <a:srgbClr val="FF0066"/>
                </a:solidFill>
              </a:rPr>
              <a:t>It requires exact numbers of input</a:t>
            </a:r>
            <a:r>
              <a:rPr lang="en-US" altLang="zh-TW" sz="2800" dirty="0" smtClean="0"/>
              <a:t>, and </a:t>
            </a:r>
            <a:r>
              <a:rPr lang="en-US" altLang="zh-TW" sz="2800" dirty="0" smtClean="0">
                <a:solidFill>
                  <a:srgbClr val="990B8A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its answers apply to only those cases</a:t>
            </a:r>
            <a:r>
              <a:rPr lang="en-US" altLang="zh-TW" sz="2800" dirty="0" smtClean="0"/>
              <a:t>. In general, deterministic modeling is too specific, and requires too much exact knowledge, to be useful.</a:t>
            </a:r>
          </a:p>
          <a:p>
            <a:pPr eaLnBrk="1" hangingPunct="1">
              <a:defRPr/>
            </a:pPr>
            <a:r>
              <a:rPr lang="en-US" altLang="zh-TW" sz="2800" dirty="0" smtClean="0"/>
              <a:t>Usage</a:t>
            </a:r>
          </a:p>
          <a:p>
            <a:pPr lvl="1" eaLnBrk="1" hangingPunct="1">
              <a:defRPr/>
            </a:pPr>
            <a:r>
              <a:rPr lang="en-US" altLang="zh-TW" sz="2400" dirty="0" smtClean="0"/>
              <a:t>Describing algorithm and providing examples</a:t>
            </a:r>
            <a:endParaRPr lang="en-US" altLang="zh-TW" sz="2400" dirty="0" smtClean="0">
              <a:solidFill>
                <a:srgbClr val="990B8A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lvl="1" eaLnBrk="1" hangingPunct="1">
              <a:defRPr/>
            </a:pPr>
            <a:r>
              <a:rPr lang="en-US" altLang="zh-TW" sz="2400" dirty="0" smtClean="0">
                <a:solidFill>
                  <a:srgbClr val="990B8A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 set of programs that may run over and over again</a:t>
            </a:r>
            <a:endParaRPr lang="en-US" altLang="zh-TW" sz="2400" dirty="0" smtClean="0"/>
          </a:p>
          <a:p>
            <a:pPr lvl="1" eaLnBrk="1" hangingPunct="1">
              <a:defRPr/>
            </a:pPr>
            <a:r>
              <a:rPr lang="en-US" altLang="zh-TW" sz="2400" dirty="0" smtClean="0"/>
              <a:t>Indicating the trends that can then be proved</a:t>
            </a:r>
          </a:p>
        </p:txBody>
      </p:sp>
      <p:sp>
        <p:nvSpPr>
          <p:cNvPr id="73734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FA6D9DC1-E32B-44DE-A550-B25000CEC105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0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0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0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0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0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0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0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0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0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0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90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90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74755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13BD884-3991-426A-B0D0-2772E5614C9C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79</a:t>
            </a:fld>
            <a:endParaRPr kumimoji="0" lang="en-US" altLang="zh-TW" sz="1400" smtClean="0"/>
          </a:p>
        </p:txBody>
      </p:sp>
      <p:sp>
        <p:nvSpPr>
          <p:cNvPr id="74756" name="Rectangle 2"/>
          <p:cNvSpPr>
            <a:spLocks noGrp="1" noChangeArrowheads="1"/>
          </p:cNvSpPr>
          <p:nvPr>
            <p:ph type="title"/>
          </p:nvPr>
        </p:nvSpPr>
        <p:spPr>
          <a:xfrm>
            <a:off x="977900" y="258763"/>
            <a:ext cx="7780338" cy="563562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z="4800" smtClean="0"/>
              <a:t>Queuing Models (1)</a:t>
            </a:r>
          </a:p>
        </p:txBody>
      </p:sp>
      <p:sp>
        <p:nvSpPr>
          <p:cNvPr id="29184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44475" y="904875"/>
            <a:ext cx="9355138" cy="489585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TW" dirty="0" smtClean="0"/>
              <a:t>Queuing network analysis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dirty="0" smtClean="0"/>
              <a:t>Using 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zh-TW" dirty="0" smtClean="0"/>
              <a:t>the </a:t>
            </a:r>
            <a:r>
              <a:rPr lang="en-US" altLang="zh-TW" dirty="0" smtClean="0">
                <a:solidFill>
                  <a:srgbClr val="990B8A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distribution</a:t>
            </a:r>
            <a:r>
              <a:rPr lang="en-US" altLang="zh-TW" dirty="0" smtClean="0"/>
              <a:t> of service times (CPU and I/O bursts)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zh-TW" dirty="0" smtClean="0"/>
              <a:t>the </a:t>
            </a:r>
            <a:r>
              <a:rPr lang="en-US" altLang="zh-TW" dirty="0" smtClean="0">
                <a:solidFill>
                  <a:srgbClr val="990B8A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distribution</a:t>
            </a:r>
            <a:r>
              <a:rPr lang="en-US" altLang="zh-TW" dirty="0" smtClean="0"/>
              <a:t> of process arrival times  </a:t>
            </a:r>
          </a:p>
          <a:p>
            <a:pPr lvl="1"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dirty="0" smtClean="0"/>
              <a:t>The computer system is described as a network of servers. Each server has a queue of waiting processes. </a:t>
            </a:r>
          </a:p>
          <a:p>
            <a:pPr lvl="1"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dirty="0" smtClean="0"/>
              <a:t>Determining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zh-TW" dirty="0" smtClean="0"/>
              <a:t> </a:t>
            </a:r>
            <a:r>
              <a:rPr lang="en-US" altLang="zh-TW" dirty="0" smtClean="0">
                <a:solidFill>
                  <a:srgbClr val="FF0066"/>
                </a:solidFill>
              </a:rPr>
              <a:t>utilization, average queue length, average waiting time</a:t>
            </a:r>
            <a:r>
              <a:rPr lang="en-US" altLang="zh-TW" dirty="0" smtClean="0"/>
              <a:t>, and so on</a:t>
            </a:r>
          </a:p>
        </p:txBody>
      </p:sp>
      <p:sp>
        <p:nvSpPr>
          <p:cNvPr id="74758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359B62DF-E5B1-4A20-AFDF-1D596BE01731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1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1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1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1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1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1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1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1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1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1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91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91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75779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FD658E4-5F0C-4C5D-8156-FA8E3D657C36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80</a:t>
            </a:fld>
            <a:endParaRPr kumimoji="0" lang="en-US" altLang="zh-TW" sz="1400" smtClean="0"/>
          </a:p>
        </p:txBody>
      </p:sp>
      <p:sp>
        <p:nvSpPr>
          <p:cNvPr id="75780" name="Rectangle 2"/>
          <p:cNvSpPr>
            <a:spLocks noGrp="1" noChangeArrowheads="1"/>
          </p:cNvSpPr>
          <p:nvPr>
            <p:ph type="title"/>
          </p:nvPr>
        </p:nvSpPr>
        <p:spPr>
          <a:xfrm>
            <a:off x="977900" y="228600"/>
            <a:ext cx="7780338" cy="625475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z="4800" smtClean="0"/>
              <a:t>Queuing Models (2)</a:t>
            </a:r>
          </a:p>
        </p:txBody>
      </p:sp>
      <p:sp>
        <p:nvSpPr>
          <p:cNvPr id="29286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31775" y="922338"/>
            <a:ext cx="9355138" cy="489585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TW" sz="2800" b="1" dirty="0" smtClean="0">
                <a:solidFill>
                  <a:srgbClr val="FF0066"/>
                </a:solidFill>
              </a:rPr>
              <a:t>Little's formula</a:t>
            </a:r>
            <a:r>
              <a:rPr lang="en-US" altLang="zh-TW" sz="2800" i="1" dirty="0" smtClean="0"/>
              <a:t> </a:t>
            </a:r>
            <a:r>
              <a:rPr lang="en-US" altLang="zh-TW" sz="2800" dirty="0" smtClean="0"/>
              <a:t>(for a stable system):</a:t>
            </a:r>
            <a:r>
              <a:rPr lang="en-US" altLang="zh-TW" sz="2800" i="1" dirty="0" smtClean="0"/>
              <a:t>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2800" i="1" dirty="0" smtClean="0"/>
              <a:t>			</a:t>
            </a:r>
            <a:r>
              <a:rPr lang="en-US" altLang="zh-TW" sz="2800" b="1" i="1" dirty="0" smtClean="0">
                <a:solidFill>
                  <a:srgbClr val="FF0066"/>
                </a:solidFill>
                <a:latin typeface="Times New Roman" pitchFamily="18" charset="0"/>
              </a:rPr>
              <a:t>	n  =    </a:t>
            </a:r>
            <a:r>
              <a:rPr lang="en-US" altLang="zh-TW" sz="2800" b="1" i="1" dirty="0" smtClean="0">
                <a:solidFill>
                  <a:srgbClr val="FF0066"/>
                </a:solidFill>
                <a:latin typeface="Times New Roman" pitchFamily="18" charset="0"/>
                <a:sym typeface="Symbol" pitchFamily="18" charset="2"/>
              </a:rPr>
              <a:t></a:t>
            </a:r>
            <a:r>
              <a:rPr lang="en-US" altLang="zh-TW" sz="2800" b="1" i="1" dirty="0" smtClean="0">
                <a:solidFill>
                  <a:srgbClr val="FF0066"/>
                </a:solidFill>
                <a:latin typeface="Times New Roman" pitchFamily="18" charset="0"/>
              </a:rPr>
              <a:t>    </a:t>
            </a:r>
            <a:r>
              <a:rPr lang="en-US" altLang="zh-TW" sz="2800" b="1" dirty="0" smtClean="0">
                <a:solidFill>
                  <a:srgbClr val="FF0066"/>
                </a:solidFill>
                <a:latin typeface="Times New Roman" pitchFamily="18" charset="0"/>
                <a:sym typeface="Symbol" pitchFamily="18" charset="2"/>
              </a:rPr>
              <a:t></a:t>
            </a:r>
            <a:r>
              <a:rPr lang="en-US" altLang="zh-TW" sz="2800" b="1" i="1" dirty="0" smtClean="0">
                <a:solidFill>
                  <a:srgbClr val="FF0066"/>
                </a:solidFill>
                <a:latin typeface="Times New Roman" pitchFamily="18" charset="0"/>
              </a:rPr>
              <a:t>    W</a:t>
            </a:r>
            <a:r>
              <a:rPr lang="en-US" altLang="zh-TW" b="1" i="1" dirty="0" smtClean="0">
                <a:solidFill>
                  <a:srgbClr val="FFCC00"/>
                </a:solidFill>
              </a:rPr>
              <a:t> 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altLang="zh-TW" sz="2800" i="1" dirty="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endParaRPr lang="en-US" altLang="zh-TW" sz="2800" i="1" dirty="0" smtClean="0"/>
          </a:p>
          <a:p>
            <a:pPr lvl="1" eaLnBrk="1" hangingPunct="1">
              <a:lnSpc>
                <a:spcPct val="90000"/>
              </a:lnSpc>
              <a:defRPr/>
            </a:pPr>
            <a:endParaRPr lang="en-US" altLang="zh-TW" sz="2400" dirty="0" smtClean="0"/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TW" sz="2800" dirty="0" smtClean="0">
                <a:solidFill>
                  <a:srgbClr val="0000FF"/>
                </a:solidFill>
              </a:rPr>
              <a:t>Queuing analysis can be useful in comparing  scheduling algorithms, but it also has limitations.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  <a:defRPr/>
            </a:pPr>
            <a:r>
              <a:rPr lang="en-US" altLang="zh-TW" sz="2800" dirty="0" smtClean="0">
                <a:latin typeface="Wingdings" pitchFamily="2" charset="2"/>
              </a:rPr>
              <a:t>L</a:t>
            </a:r>
            <a:r>
              <a:rPr lang="en-US" altLang="zh-TW" sz="2800" dirty="0" smtClean="0"/>
              <a:t>: </a:t>
            </a:r>
            <a:r>
              <a:rPr lang="en-US" altLang="zh-TW" sz="2800" dirty="0" smtClean="0">
                <a:solidFill>
                  <a:srgbClr val="FF0066"/>
                </a:solidFill>
              </a:rPr>
              <a:t>Queue model is only an approximation of a real system</a:t>
            </a:r>
            <a:r>
              <a:rPr lang="en-US" altLang="zh-TW" sz="2800" dirty="0" smtClean="0"/>
              <a:t>. Thus, the result is </a:t>
            </a:r>
            <a:r>
              <a:rPr lang="en-US" altLang="zh-TW" sz="2800" dirty="0" smtClean="0">
                <a:solidFill>
                  <a:srgbClr val="FF0000"/>
                </a:solidFill>
              </a:rPr>
              <a:t>questionable</a:t>
            </a:r>
            <a:r>
              <a:rPr lang="en-US" altLang="zh-TW" sz="2800" dirty="0" smtClean="0"/>
              <a:t>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sz="2400" dirty="0" smtClean="0"/>
              <a:t>The arrival and service </a:t>
            </a:r>
            <a:r>
              <a:rPr lang="en-US" altLang="zh-TW" sz="2400" dirty="0" smtClean="0">
                <a:solidFill>
                  <a:srgbClr val="FF0066"/>
                </a:solidFill>
              </a:rPr>
              <a:t>distributions are often defined in unrealistic</a:t>
            </a:r>
            <a:r>
              <a:rPr lang="en-US" altLang="zh-TW" sz="2400" dirty="0" smtClean="0"/>
              <a:t>, but </a:t>
            </a:r>
            <a:r>
              <a:rPr lang="en-US" altLang="zh-TW" sz="2400" dirty="0" smtClean="0">
                <a:solidFill>
                  <a:srgbClr val="990B8A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mathematically tractable, ways</a:t>
            </a:r>
            <a:r>
              <a:rPr lang="en-US" altLang="zh-TW" sz="2400" dirty="0" smtClean="0"/>
              <a:t>.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sz="2400" dirty="0" smtClean="0"/>
              <a:t>Besides, </a:t>
            </a:r>
            <a:r>
              <a:rPr lang="en-US" altLang="zh-TW" sz="2400" dirty="0" smtClean="0">
                <a:solidFill>
                  <a:srgbClr val="990B8A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independent assumptions</a:t>
            </a:r>
            <a:r>
              <a:rPr lang="en-US" altLang="zh-TW" sz="2400" dirty="0" smtClean="0"/>
              <a:t> may not be true.</a:t>
            </a:r>
          </a:p>
          <a:p>
            <a:pPr lvl="1" eaLnBrk="1" hangingPunct="1">
              <a:lnSpc>
                <a:spcPct val="90000"/>
              </a:lnSpc>
              <a:defRPr/>
            </a:pPr>
            <a:endParaRPr lang="en-US" altLang="zh-TW" sz="2400" dirty="0" smtClean="0"/>
          </a:p>
        </p:txBody>
      </p:sp>
      <p:sp>
        <p:nvSpPr>
          <p:cNvPr id="75782" name="Rectangle 4"/>
          <p:cNvSpPr>
            <a:spLocks noChangeArrowheads="1"/>
          </p:cNvSpPr>
          <p:nvPr/>
        </p:nvSpPr>
        <p:spPr bwMode="auto">
          <a:xfrm>
            <a:off x="2784475" y="2100263"/>
            <a:ext cx="32940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 i="1">
                <a:solidFill>
                  <a:srgbClr val="FF0066"/>
                </a:solidFill>
                <a:latin typeface="Times New Roman" pitchFamily="18" charset="0"/>
              </a:rPr>
              <a:t>n </a:t>
            </a:r>
            <a:r>
              <a:rPr lang="en-US" altLang="zh-TW" sz="2000" b="1">
                <a:solidFill>
                  <a:srgbClr val="FF0066"/>
                </a:solidFill>
                <a:latin typeface="Times New Roman" pitchFamily="18" charset="0"/>
              </a:rPr>
              <a:t>: average queue length</a:t>
            </a:r>
          </a:p>
        </p:txBody>
      </p:sp>
      <p:sp>
        <p:nvSpPr>
          <p:cNvPr id="75783" name="Rectangle 5"/>
          <p:cNvSpPr>
            <a:spLocks noChangeArrowheads="1"/>
          </p:cNvSpPr>
          <p:nvPr/>
        </p:nvSpPr>
        <p:spPr bwMode="auto">
          <a:xfrm>
            <a:off x="3416300" y="3121025"/>
            <a:ext cx="29876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W: average waiting time</a:t>
            </a:r>
          </a:p>
        </p:txBody>
      </p:sp>
      <p:sp>
        <p:nvSpPr>
          <p:cNvPr id="75784" name="Rectangle 6"/>
          <p:cNvSpPr>
            <a:spLocks noChangeArrowheads="1"/>
          </p:cNvSpPr>
          <p:nvPr/>
        </p:nvSpPr>
        <p:spPr bwMode="auto">
          <a:xfrm>
            <a:off x="3370263" y="2574925"/>
            <a:ext cx="2444750" cy="660400"/>
          </a:xfrm>
          <a:prstGeom prst="rect">
            <a:avLst/>
          </a:prstGeom>
          <a:solidFill>
            <a:srgbClr val="DCDCD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queue</a:t>
            </a:r>
          </a:p>
        </p:txBody>
      </p:sp>
      <p:sp>
        <p:nvSpPr>
          <p:cNvPr id="75785" name="AutoShape 7"/>
          <p:cNvSpPr>
            <a:spLocks noChangeArrowheads="1"/>
          </p:cNvSpPr>
          <p:nvPr/>
        </p:nvSpPr>
        <p:spPr bwMode="auto">
          <a:xfrm>
            <a:off x="446088" y="2755900"/>
            <a:ext cx="2814637" cy="261938"/>
          </a:xfrm>
          <a:prstGeom prst="rightArrow">
            <a:avLst>
              <a:gd name="adj1" fmla="val 50000"/>
              <a:gd name="adj2" fmla="val 268636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endParaRPr lang="zh-TW" altLang="zh-TW" sz="2000">
              <a:latin typeface="Book Antiqua" pitchFamily="18" charset="0"/>
            </a:endParaRPr>
          </a:p>
        </p:txBody>
      </p:sp>
      <p:sp>
        <p:nvSpPr>
          <p:cNvPr id="75786" name="AutoShape 8"/>
          <p:cNvSpPr>
            <a:spLocks noChangeArrowheads="1"/>
          </p:cNvSpPr>
          <p:nvPr/>
        </p:nvSpPr>
        <p:spPr bwMode="auto">
          <a:xfrm>
            <a:off x="5846763" y="2787650"/>
            <a:ext cx="1443037" cy="247650"/>
          </a:xfrm>
          <a:prstGeom prst="rightArrow">
            <a:avLst>
              <a:gd name="adj1" fmla="val 50000"/>
              <a:gd name="adj2" fmla="val 145673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75787" name="Oval 9"/>
          <p:cNvSpPr>
            <a:spLocks noChangeArrowheads="1"/>
          </p:cNvSpPr>
          <p:nvPr/>
        </p:nvSpPr>
        <p:spPr bwMode="auto">
          <a:xfrm>
            <a:off x="7461250" y="2500313"/>
            <a:ext cx="949325" cy="7112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75788" name="Text Box 10"/>
          <p:cNvSpPr txBox="1">
            <a:spLocks noChangeArrowheads="1"/>
          </p:cNvSpPr>
          <p:nvPr/>
        </p:nvSpPr>
        <p:spPr bwMode="auto">
          <a:xfrm>
            <a:off x="7527925" y="2649538"/>
            <a:ext cx="889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server</a:t>
            </a:r>
          </a:p>
        </p:txBody>
      </p:sp>
      <p:sp>
        <p:nvSpPr>
          <p:cNvPr id="75789" name="Text Box 11"/>
          <p:cNvSpPr txBox="1">
            <a:spLocks noChangeArrowheads="1"/>
          </p:cNvSpPr>
          <p:nvPr/>
        </p:nvSpPr>
        <p:spPr bwMode="auto">
          <a:xfrm>
            <a:off x="0" y="2139950"/>
            <a:ext cx="3035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1">
                <a:solidFill>
                  <a:srgbClr val="FF0066"/>
                </a:solidFill>
                <a:latin typeface="Times New Roman" pitchFamily="18" charset="0"/>
                <a:sym typeface="Symbol" pitchFamily="18" charset="2"/>
              </a:rPr>
              <a:t></a:t>
            </a:r>
            <a:r>
              <a:rPr lang="en-US" altLang="zh-TW" sz="1800" b="1">
                <a:solidFill>
                  <a:srgbClr val="FF0066"/>
                </a:solidFill>
                <a:latin typeface="Times New Roman" pitchFamily="18" charset="0"/>
              </a:rPr>
              <a:t> : average arrival rate</a:t>
            </a:r>
            <a:endParaRPr lang="en-US" altLang="zh-TW" sz="1800">
              <a:solidFill>
                <a:srgbClr val="FF0066"/>
              </a:solidFill>
              <a:latin typeface="Times New Roman" pitchFamily="18" charset="0"/>
            </a:endParaRPr>
          </a:p>
        </p:txBody>
      </p:sp>
      <p:sp>
        <p:nvSpPr>
          <p:cNvPr id="292876" name="Text Box 12"/>
          <p:cNvSpPr txBox="1">
            <a:spLocks noChangeArrowheads="1"/>
          </p:cNvSpPr>
          <p:nvPr/>
        </p:nvSpPr>
        <p:spPr bwMode="auto">
          <a:xfrm>
            <a:off x="6415088" y="1616075"/>
            <a:ext cx="2473325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18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14 persons in queue =</a:t>
            </a:r>
          </a:p>
          <a:p>
            <a:pPr>
              <a:defRPr/>
            </a:pPr>
            <a:r>
              <a:rPr lang="en-US" altLang="zh-TW" sz="18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7 arrives/per second </a:t>
            </a:r>
            <a:r>
              <a:rPr lang="en-US" altLang="zh-TW" sz="1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</a:t>
            </a:r>
          </a:p>
          <a:p>
            <a:pPr>
              <a:defRPr/>
            </a:pPr>
            <a:r>
              <a:rPr lang="en-US" altLang="zh-TW" sz="18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2</a:t>
            </a:r>
            <a:r>
              <a:rPr lang="en-US" altLang="zh-TW" sz="1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 </a:t>
            </a:r>
            <a:r>
              <a:rPr lang="en-US" altLang="zh-TW" sz="18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seconds waiting</a:t>
            </a:r>
          </a:p>
        </p:txBody>
      </p:sp>
      <p:sp>
        <p:nvSpPr>
          <p:cNvPr id="75791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B4735F4F-3338-46C1-AF98-34DEBE09E2C4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28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28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2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2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2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2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2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2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2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2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2876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76803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D46227F-3720-4FE9-B19C-EE050DCF8434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81</a:t>
            </a:fld>
            <a:endParaRPr kumimoji="0" lang="en-US" altLang="zh-TW" sz="1400" smtClean="0"/>
          </a:p>
        </p:txBody>
      </p:sp>
      <p:sp>
        <p:nvSpPr>
          <p:cNvPr id="76804" name="Rectangle 2"/>
          <p:cNvSpPr>
            <a:spLocks noGrp="1" noChangeArrowheads="1"/>
          </p:cNvSpPr>
          <p:nvPr>
            <p:ph type="title"/>
          </p:nvPr>
        </p:nvSpPr>
        <p:spPr>
          <a:xfrm>
            <a:off x="1065213" y="-168275"/>
            <a:ext cx="7759700" cy="890588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z="4800" smtClean="0"/>
              <a:t>Simulations</a:t>
            </a:r>
            <a:endParaRPr lang="en-US" altLang="zh-TW" sz="6000" smtClean="0"/>
          </a:p>
        </p:txBody>
      </p:sp>
      <p:sp>
        <p:nvSpPr>
          <p:cNvPr id="29389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77813" y="644525"/>
            <a:ext cx="9364662" cy="54102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TW" sz="2800" dirty="0" smtClean="0"/>
              <a:t>Simulations involve programming a model of the system. Software data structures represent the major components of the system.</a:t>
            </a:r>
          </a:p>
          <a:p>
            <a:pPr eaLnBrk="1" hangingPunct="1">
              <a:spcBef>
                <a:spcPct val="60000"/>
              </a:spcBef>
              <a:buFont typeface="Wingdings" pitchFamily="2" charset="2"/>
              <a:buNone/>
              <a:defRPr/>
            </a:pPr>
            <a:r>
              <a:rPr lang="en-US" altLang="zh-TW" sz="2800" dirty="0" smtClean="0">
                <a:latin typeface="Wingdings" pitchFamily="2" charset="2"/>
              </a:rPr>
              <a:t>J</a:t>
            </a:r>
            <a:r>
              <a:rPr lang="en-US" altLang="zh-TW" sz="2800" dirty="0" smtClean="0"/>
              <a:t>: Simulations get a </a:t>
            </a:r>
            <a:r>
              <a:rPr lang="en-US" altLang="zh-TW" sz="2800" dirty="0" smtClean="0">
                <a:solidFill>
                  <a:srgbClr val="FF0066"/>
                </a:solidFill>
              </a:rPr>
              <a:t>more accurate evaluation</a:t>
            </a:r>
            <a:r>
              <a:rPr lang="en-US" altLang="zh-TW" sz="2800" dirty="0" smtClean="0"/>
              <a:t> of scheduling algorithms.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2800" dirty="0" smtClean="0">
                <a:latin typeface="Wingdings" pitchFamily="2" charset="2"/>
              </a:rPr>
              <a:t>L</a:t>
            </a:r>
            <a:r>
              <a:rPr lang="en-US" altLang="zh-TW" sz="2800" dirty="0" smtClean="0"/>
              <a:t>: </a:t>
            </a:r>
            <a:r>
              <a:rPr lang="en-US" altLang="zh-TW" sz="2400" dirty="0" smtClean="0">
                <a:solidFill>
                  <a:srgbClr val="FF0066"/>
                </a:solidFill>
              </a:rPr>
              <a:t>	1. expensive (several hours of computer time).</a:t>
            </a:r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dirty="0" smtClean="0">
                <a:solidFill>
                  <a:srgbClr val="FF0066"/>
                </a:solidFill>
              </a:rPr>
              <a:t>2. large storage</a:t>
            </a:r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dirty="0" smtClean="0">
                <a:solidFill>
                  <a:srgbClr val="FF0066"/>
                </a:solidFill>
              </a:rPr>
              <a:t>3. coding a simulator can be a major task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TW" sz="2800" dirty="0" smtClean="0"/>
              <a:t>Generating data to drive the simulator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sz="2400" dirty="0" smtClean="0"/>
              <a:t>a random number generator.</a:t>
            </a:r>
            <a:endParaRPr lang="en-US" altLang="zh-TW" sz="2400" dirty="0" smtClean="0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sz="2400" dirty="0" smtClean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trace tapes</a:t>
            </a:r>
            <a:r>
              <a:rPr lang="en-US" altLang="zh-TW" sz="2400" dirty="0" smtClean="0"/>
              <a:t>: created by monitoring the real system, recording the sequence of actual events.</a:t>
            </a:r>
          </a:p>
        </p:txBody>
      </p:sp>
      <p:sp>
        <p:nvSpPr>
          <p:cNvPr id="76806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4080CB26-F77E-4CB3-8DD8-8B6FC369C3B1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3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3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3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3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3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3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3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3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3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3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93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93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3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3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77827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E77B772-67C7-4E32-8E9C-223CBCAA054C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82</a:t>
            </a:fld>
            <a:endParaRPr kumimoji="0" lang="en-US" altLang="zh-TW" sz="1400" smtClean="0"/>
          </a:p>
        </p:txBody>
      </p:sp>
      <p:sp>
        <p:nvSpPr>
          <p:cNvPr id="7782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06375" y="295275"/>
            <a:ext cx="8977313" cy="847725"/>
          </a:xfrm>
        </p:spPr>
        <p:txBody>
          <a:bodyPr/>
          <a:lstStyle/>
          <a:p>
            <a:pPr eaLnBrk="1" hangingPunct="1"/>
            <a:r>
              <a:rPr lang="en-US" altLang="zh-TW" sz="3600" smtClean="0"/>
              <a:t>Evaluation of CPU Schedulers by Simulation</a:t>
            </a:r>
          </a:p>
        </p:txBody>
      </p:sp>
      <p:pic>
        <p:nvPicPr>
          <p:cNvPr id="77829" name="Picture 102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83" t="17496" r="32048" b="51474"/>
          <a:stretch>
            <a:fillRect/>
          </a:stretch>
        </p:blipFill>
        <p:spPr bwMode="auto">
          <a:xfrm>
            <a:off x="877888" y="1381125"/>
            <a:ext cx="8348662" cy="4713288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7830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21A5AF6-B67C-4DC2-916B-860789343346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78851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F58F213-A6A8-43B2-AE62-6A18BE5CA66D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83</a:t>
            </a:fld>
            <a:endParaRPr kumimoji="0" lang="en-US" altLang="zh-TW" sz="1400" smtClean="0"/>
          </a:p>
        </p:txBody>
      </p:sp>
      <p:sp>
        <p:nvSpPr>
          <p:cNvPr id="78852" name="Rectangle 2"/>
          <p:cNvSpPr>
            <a:spLocks noChangeArrowheads="1"/>
          </p:cNvSpPr>
          <p:nvPr/>
        </p:nvSpPr>
        <p:spPr bwMode="auto">
          <a:xfrm>
            <a:off x="1057275" y="185738"/>
            <a:ext cx="7543800" cy="742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4400"/>
              <a:t>Implementation</a:t>
            </a:r>
          </a:p>
        </p:txBody>
      </p:sp>
      <p:sp>
        <p:nvSpPr>
          <p:cNvPr id="295939" name="Rectangle 3"/>
          <p:cNvSpPr>
            <a:spLocks noChangeArrowheads="1"/>
          </p:cNvSpPr>
          <p:nvPr/>
        </p:nvSpPr>
        <p:spPr bwMode="auto">
          <a:xfrm>
            <a:off x="361950" y="904875"/>
            <a:ext cx="9174163" cy="537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itchFamily="2" charset="2"/>
              <a:buChar char="q"/>
            </a:pPr>
            <a:r>
              <a:rPr lang="en-US" altLang="zh-TW">
                <a:latin typeface="Times New Roman" pitchFamily="18" charset="0"/>
              </a:rPr>
              <a:t>Put data into a real system and see how it works.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>
                <a:latin typeface="Wingdings" pitchFamily="2" charset="2"/>
              </a:rPr>
              <a:t>J</a:t>
            </a:r>
            <a:r>
              <a:rPr lang="en-US" altLang="zh-TW">
                <a:latin typeface="Times New Roman" pitchFamily="18" charset="0"/>
              </a:rPr>
              <a:t>: </a:t>
            </a:r>
            <a:r>
              <a:rPr lang="en-US" altLang="zh-TW">
                <a:solidFill>
                  <a:srgbClr val="FF0066"/>
                </a:solidFill>
                <a:latin typeface="Times New Roman" pitchFamily="18" charset="0"/>
              </a:rPr>
              <a:t>The only accurate way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>
                <a:latin typeface="Wingdings" pitchFamily="2" charset="2"/>
              </a:rPr>
              <a:t>L</a:t>
            </a:r>
            <a:r>
              <a:rPr lang="en-US" altLang="zh-TW">
                <a:latin typeface="Times New Roman" pitchFamily="18" charset="0"/>
              </a:rPr>
              <a:t>: 	1. cost is too high</a:t>
            </a:r>
          </a:p>
          <a:p>
            <a:pPr lvl="2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>
                <a:latin typeface="Times New Roman" pitchFamily="18" charset="0"/>
              </a:rPr>
              <a:t>2. </a:t>
            </a:r>
            <a:r>
              <a:rPr lang="en-US" altLang="zh-TW" sz="3200">
                <a:solidFill>
                  <a:srgbClr val="FF0066"/>
                </a:solidFill>
                <a:latin typeface="Times New Roman" pitchFamily="18" charset="0"/>
              </a:rPr>
              <a:t>environment will change</a:t>
            </a:r>
            <a:r>
              <a:rPr lang="en-US" altLang="zh-TW" sz="3200">
                <a:latin typeface="Times New Roman" pitchFamily="18" charset="0"/>
              </a:rPr>
              <a:t> (</a:t>
            </a:r>
            <a:r>
              <a:rPr lang="en-US" altLang="zh-TW" sz="3200" u="sng">
                <a:latin typeface="Times New Roman" pitchFamily="18" charset="0"/>
              </a:rPr>
              <a:t>All methods have this</a:t>
            </a:r>
            <a:r>
              <a:rPr lang="en-US" altLang="zh-TW" sz="3200">
                <a:latin typeface="Times New Roman" pitchFamily="18" charset="0"/>
              </a:rPr>
              <a:t> </a:t>
            </a:r>
            <a:r>
              <a:rPr lang="en-US" altLang="zh-TW" sz="3200" u="sng">
                <a:latin typeface="Times New Roman" pitchFamily="18" charset="0"/>
              </a:rPr>
              <a:t>problem!</a:t>
            </a:r>
            <a:r>
              <a:rPr lang="en-US" altLang="zh-TW" sz="3200">
                <a:latin typeface="Times New Roman" pitchFamily="18" charset="0"/>
              </a:rPr>
              <a:t>)</a:t>
            </a:r>
            <a:endParaRPr lang="en-US" altLang="zh-TW" sz="2800">
              <a:latin typeface="Times New Roman" pitchFamily="18" charset="0"/>
            </a:endParaRPr>
          </a:p>
          <a:p>
            <a:pPr lvl="3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>
                <a:latin typeface="Times New Roman" pitchFamily="18" charset="0"/>
              </a:rPr>
              <a:t>e.g., </a:t>
            </a:r>
            <a:r>
              <a:rPr lang="en-US" altLang="zh-TW" sz="2800">
                <a:solidFill>
                  <a:srgbClr val="FF0066"/>
                </a:solidFill>
                <a:latin typeface="Times New Roman" pitchFamily="18" charset="0"/>
              </a:rPr>
              <a:t>To avoid moving to a lower priority queue, a user may output a meaningless char on the screen regularly to keep itself  in the interactive queue</a:t>
            </a:r>
            <a:r>
              <a:rPr lang="en-US" altLang="zh-TW" sz="2800">
                <a:latin typeface="Times New Roman" pitchFamily="18" charset="0"/>
              </a:rPr>
              <a:t>.</a:t>
            </a:r>
          </a:p>
        </p:txBody>
      </p:sp>
      <p:sp>
        <p:nvSpPr>
          <p:cNvPr id="78854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7C22024C-29F8-4449-888F-0E91B070F65A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5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5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5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5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5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5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95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95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66563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C7BD6B1-BC96-40F0-AD12-3865FFD1BCD2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84</a:t>
            </a:fld>
            <a:endParaRPr kumimoji="0" lang="en-US" altLang="zh-TW" sz="1400" smtClean="0"/>
          </a:p>
        </p:txBody>
      </p:sp>
      <p:sp>
        <p:nvSpPr>
          <p:cNvPr id="66564" name="Rectangle 2"/>
          <p:cNvSpPr>
            <a:spLocks noGrp="1" noChangeArrowheads="1"/>
          </p:cNvSpPr>
          <p:nvPr>
            <p:ph type="title"/>
          </p:nvPr>
        </p:nvSpPr>
        <p:spPr>
          <a:xfrm>
            <a:off x="1092200" y="304800"/>
            <a:ext cx="7662863" cy="701675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z="4800" dirty="0" smtClean="0"/>
              <a:t>Java Thread Scheduling (1)</a:t>
            </a:r>
          </a:p>
        </p:txBody>
      </p:sp>
      <p:sp>
        <p:nvSpPr>
          <p:cNvPr id="38707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6575" y="1211263"/>
            <a:ext cx="9140825" cy="5037137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smtClean="0"/>
              <a:t>Preemptive, priority-based scheduling (FIFO queue)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z="2800" smtClean="0"/>
              <a:t>Time slicing: </a:t>
            </a:r>
            <a:endParaRPr lang="en-US" altLang="zh-TW" sz="2800" smtClean="0">
              <a:solidFill>
                <a:srgbClr val="FF0066"/>
              </a:solidFill>
            </a:endParaRPr>
          </a:p>
          <a:p>
            <a:pPr lvl="1" eaLnBrk="1" hangingPunct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zh-TW" sz="2400" smtClean="0">
                <a:solidFill>
                  <a:srgbClr val="FF0066"/>
                </a:solidFill>
              </a:rPr>
              <a:t>Java does not indicate whether or not threads are time-sliced or not</a:t>
            </a:r>
            <a:r>
              <a:rPr lang="en-US" altLang="zh-TW" sz="2400" smtClean="0"/>
              <a:t> </a:t>
            </a:r>
            <a:r>
              <a:rPr lang="en-US" altLang="zh-TW" sz="2400" smtClean="0">
                <a:latin typeface="Times New Roman" pitchFamily="18" charset="0"/>
              </a:rPr>
              <a:t>–</a:t>
            </a:r>
            <a:r>
              <a:rPr lang="en-US" altLang="zh-TW" sz="2400" smtClean="0"/>
              <a:t> it is </a:t>
            </a:r>
            <a:r>
              <a:rPr lang="en-US" altLang="zh-TW" sz="2400" smtClean="0">
                <a:solidFill>
                  <a:srgbClr val="0000FF"/>
                </a:solidFill>
              </a:rPr>
              <a:t>up to the particular implementation of the JVM</a:t>
            </a:r>
            <a:r>
              <a:rPr lang="en-US" altLang="zh-TW" sz="2400" smtClean="0"/>
              <a:t>.</a:t>
            </a:r>
            <a:r>
              <a:rPr lang="en-US" altLang="zh-TW" sz="2400" i="1" smtClean="0"/>
              <a:t> </a:t>
            </a:r>
            <a:endParaRPr lang="en-US" altLang="zh-TW" sz="2400" smtClean="0"/>
          </a:p>
          <a:p>
            <a:pPr lvl="1" eaLnBrk="1" hangingPunct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zh-TW" sz="2400" smtClean="0"/>
              <a:t>All threads have an equal amount of CPU time on a system that does not perform time slicing, </a:t>
            </a:r>
            <a:r>
              <a:rPr lang="en-US" altLang="zh-TW" sz="2400" smtClean="0">
                <a:solidFill>
                  <a:srgbClr val="FF0000"/>
                </a:solidFill>
              </a:rPr>
              <a:t>a thread may yield control of the CPU</a:t>
            </a:r>
            <a:r>
              <a:rPr lang="en-US" altLang="zh-TW" sz="2400" smtClean="0"/>
              <a:t> with the </a:t>
            </a:r>
            <a:r>
              <a:rPr lang="en-US" altLang="zh-TW" sz="2400" i="1" smtClean="0">
                <a:latin typeface="Arial" pitchFamily="34" charset="0"/>
              </a:rPr>
              <a:t>yield</a:t>
            </a:r>
            <a:r>
              <a:rPr lang="en-US" altLang="zh-TW" sz="2400" smtClean="0"/>
              <a:t>() method. </a:t>
            </a:r>
            <a:r>
              <a:rPr lang="en-US" altLang="zh-TW" sz="2400" i="1" smtClean="0"/>
              <a:t>Cooperative multitasking</a:t>
            </a:r>
            <a:r>
              <a:rPr lang="en-US" altLang="zh-TW" sz="2400" smtClean="0"/>
              <a:t>. </a:t>
            </a:r>
          </a:p>
          <a:p>
            <a:pPr lvl="1" algn="ctr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smtClean="0"/>
              <a:t>Thread.yield();</a:t>
            </a:r>
          </a:p>
        </p:txBody>
      </p:sp>
      <p:sp>
        <p:nvSpPr>
          <p:cNvPr id="66566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8C54C8EC-D1E9-4C39-9C81-91DB424D2562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  <p:extLst>
      <p:ext uri="{BB962C8B-B14F-4D97-AF65-F5344CB8AC3E}">
        <p14:creationId xmlns:p14="http://schemas.microsoft.com/office/powerpoint/2010/main" val="427319821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7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7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7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7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87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87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87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87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67587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DD9F2A4-0284-464F-A5A1-93C15E9CA7A3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85</a:t>
            </a:fld>
            <a:endParaRPr kumimoji="0" lang="en-US" altLang="zh-TW" sz="1400" smtClean="0"/>
          </a:p>
        </p:txBody>
      </p:sp>
      <p:sp>
        <p:nvSpPr>
          <p:cNvPr id="67588" name="Rectangle 2"/>
          <p:cNvSpPr>
            <a:spLocks noGrp="1" noChangeArrowheads="1"/>
          </p:cNvSpPr>
          <p:nvPr>
            <p:ph type="title"/>
          </p:nvPr>
        </p:nvSpPr>
        <p:spPr>
          <a:xfrm>
            <a:off x="1092200" y="304800"/>
            <a:ext cx="7662863" cy="701675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z="4800" smtClean="0"/>
              <a:t>Java Thread Scheduling (2)</a:t>
            </a:r>
          </a:p>
        </p:txBody>
      </p:sp>
      <p:sp>
        <p:nvSpPr>
          <p:cNvPr id="38912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6575" y="1211263"/>
            <a:ext cx="9140825" cy="5037137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smtClean="0"/>
              <a:t>Thread priorities: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Char char="q"/>
            </a:pPr>
            <a:r>
              <a:rPr lang="en-US" altLang="zh-TW" sz="2400" smtClean="0"/>
              <a:t>Threads are given a priority when they are created and </a:t>
            </a:r>
            <a:r>
              <a:rPr lang="en-US" altLang="zh-TW" sz="2400" smtClean="0">
                <a:latin typeface="Times New Roman" pitchFamily="18" charset="0"/>
              </a:rPr>
              <a:t>–</a:t>
            </a:r>
            <a:r>
              <a:rPr lang="en-US" altLang="zh-TW" sz="2400" smtClean="0"/>
              <a:t> unless they are changed explicitly by the program </a:t>
            </a:r>
            <a:r>
              <a:rPr lang="en-US" altLang="zh-TW" sz="2400" smtClean="0">
                <a:latin typeface="Times New Roman" pitchFamily="18" charset="0"/>
              </a:rPr>
              <a:t>–</a:t>
            </a:r>
            <a:r>
              <a:rPr lang="en-US" altLang="zh-TW" sz="2400" smtClean="0"/>
              <a:t> they </a:t>
            </a:r>
            <a:r>
              <a:rPr lang="en-US" altLang="zh-TW" sz="2400" smtClean="0">
                <a:solidFill>
                  <a:srgbClr val="0000FF"/>
                </a:solidFill>
              </a:rPr>
              <a:t>maintain the same priority throughout their lifetime</a:t>
            </a:r>
            <a:r>
              <a:rPr lang="en-US" altLang="zh-TW" sz="2400" smtClean="0"/>
              <a:t>; </a:t>
            </a:r>
            <a:r>
              <a:rPr lang="en-US" altLang="zh-TW" sz="2400" smtClean="0">
                <a:solidFill>
                  <a:srgbClr val="FF0000"/>
                </a:solidFill>
              </a:rPr>
              <a:t>the JVM does not dynamically alter priorities</a:t>
            </a:r>
            <a:r>
              <a:rPr lang="en-US" altLang="zh-TW" sz="2400" smtClean="0"/>
              <a:t>.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Char char="q"/>
            </a:pPr>
            <a:r>
              <a:rPr lang="en-US" altLang="zh-TW" sz="2400" smtClean="0"/>
              <a:t>The priority of a thread can also be set explicitly with the </a:t>
            </a:r>
            <a:r>
              <a:rPr lang="en-US" altLang="zh-TW" sz="2400" i="1" smtClean="0">
                <a:latin typeface="Arial" pitchFamily="34" charset="0"/>
              </a:rPr>
              <a:t>setPriority</a:t>
            </a:r>
            <a:r>
              <a:rPr lang="en-US" altLang="zh-TW" sz="2400" smtClean="0"/>
              <a:t>() method. The priority can be set either before a thread is started or while a thread is active. 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</a:pPr>
            <a:r>
              <a:rPr lang="en-US" altLang="zh-TW" sz="2800" smtClean="0"/>
              <a:t>Java-Based Round-robin Scheduler</a:t>
            </a:r>
          </a:p>
        </p:txBody>
      </p:sp>
      <p:sp>
        <p:nvSpPr>
          <p:cNvPr id="67590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6437C28B-F6A8-4D62-AA49-9646AB7F1FC3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  <p:extLst>
      <p:ext uri="{BB962C8B-B14F-4D97-AF65-F5344CB8AC3E}">
        <p14:creationId xmlns:p14="http://schemas.microsoft.com/office/powerpoint/2010/main" val="20979063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9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9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9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9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68611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E0F5B38-9EF8-407A-9F3B-72B8D2677986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86</a:t>
            </a:fld>
            <a:endParaRPr kumimoji="0" lang="en-US" altLang="zh-TW" sz="1400" smtClean="0"/>
          </a:p>
        </p:txBody>
      </p:sp>
      <p:sp>
        <p:nvSpPr>
          <p:cNvPr id="68612" name="Rectangle 2"/>
          <p:cNvSpPr>
            <a:spLocks noGrp="1" noChangeArrowheads="1"/>
          </p:cNvSpPr>
          <p:nvPr>
            <p:ph type="title"/>
          </p:nvPr>
        </p:nvSpPr>
        <p:spPr>
          <a:xfrm>
            <a:off x="660400" y="304800"/>
            <a:ext cx="8420100" cy="762000"/>
          </a:xfrm>
        </p:spPr>
        <p:txBody>
          <a:bodyPr/>
          <a:lstStyle/>
          <a:p>
            <a:pPr eaLnBrk="1" hangingPunct="1"/>
            <a:r>
              <a:rPr lang="en-US" altLang="zh-TW" smtClean="0"/>
              <a:t>Time-Slicing</a:t>
            </a:r>
          </a:p>
        </p:txBody>
      </p:sp>
      <p:sp>
        <p:nvSpPr>
          <p:cNvPr id="6861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915988" y="1065213"/>
            <a:ext cx="8502650" cy="4876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sz="2400" smtClean="0"/>
              <a:t>Since the JVM Doesn</a:t>
            </a:r>
            <a:r>
              <a:rPr lang="en-US" altLang="zh-TW" sz="2400" smtClean="0">
                <a:latin typeface="Helvetica" pitchFamily="34" charset="0"/>
              </a:rPr>
              <a:t>’</a:t>
            </a:r>
            <a:r>
              <a:rPr lang="en-US" altLang="zh-TW" sz="2400" smtClean="0"/>
              <a:t>t Ensure Time-Slicing, the yield() Method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400" smtClean="0"/>
              <a:t>May Be Used:</a:t>
            </a:r>
          </a:p>
          <a:p>
            <a:pPr eaLnBrk="1" hangingPunct="1"/>
            <a:endParaRPr lang="en-US" altLang="zh-TW" sz="2400" smtClean="0"/>
          </a:p>
          <a:p>
            <a:pPr eaLnBrk="1" hangingPunct="1">
              <a:buFont typeface="Wingdings" pitchFamily="2" charset="2"/>
              <a:buNone/>
            </a:pPr>
            <a:r>
              <a:rPr lang="en-US" altLang="zh-TW" sz="2400" smtClean="0"/>
              <a:t>	while (true)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400" smtClean="0"/>
              <a:t>		// perform CPU-intensive task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400" smtClean="0"/>
              <a:t>		. . 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400" smtClean="0"/>
              <a:t>		Thread.yield();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400" smtClean="0"/>
              <a:t>	}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TW" sz="2400" smtClean="0"/>
          </a:p>
          <a:p>
            <a:pPr eaLnBrk="1" hangingPunct="1">
              <a:buFont typeface="Wingdings" pitchFamily="2" charset="2"/>
              <a:buNone/>
            </a:pPr>
            <a:r>
              <a:rPr lang="en-US" altLang="zh-TW" sz="2400" smtClean="0">
                <a:solidFill>
                  <a:srgbClr val="FF0000"/>
                </a:solidFill>
              </a:rPr>
              <a:t>This Yields Control to Another Thread of Equal Priority</a:t>
            </a:r>
          </a:p>
        </p:txBody>
      </p:sp>
      <p:sp>
        <p:nvSpPr>
          <p:cNvPr id="68614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0DF14053-1943-493C-8293-2916FD90A8F9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  <p:extLst>
      <p:ext uri="{BB962C8B-B14F-4D97-AF65-F5344CB8AC3E}">
        <p14:creationId xmlns:p14="http://schemas.microsoft.com/office/powerpoint/2010/main" val="2023042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OS6-2018</a:t>
            </a:r>
            <a:endParaRPr kumimoji="0" lang="en-US" altLang="zh-TW" sz="1400"/>
          </a:p>
        </p:txBody>
      </p:sp>
      <p:sp>
        <p:nvSpPr>
          <p:cNvPr id="69635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A237041-C8DE-4682-8759-293980FB0455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87</a:t>
            </a:fld>
            <a:endParaRPr kumimoji="0" lang="en-US" altLang="zh-TW" sz="1400" smtClean="0"/>
          </a:p>
        </p:txBody>
      </p:sp>
      <p:sp>
        <p:nvSpPr>
          <p:cNvPr id="69636" name="Rectangle 2"/>
          <p:cNvSpPr>
            <a:spLocks noGrp="1" noChangeArrowheads="1"/>
          </p:cNvSpPr>
          <p:nvPr>
            <p:ph type="title"/>
          </p:nvPr>
        </p:nvSpPr>
        <p:spPr>
          <a:xfrm>
            <a:off x="660400" y="304800"/>
            <a:ext cx="8420100" cy="914400"/>
          </a:xfrm>
        </p:spPr>
        <p:txBody>
          <a:bodyPr/>
          <a:lstStyle/>
          <a:p>
            <a:pPr eaLnBrk="1" hangingPunct="1"/>
            <a:r>
              <a:rPr lang="en-US" altLang="zh-TW" smtClean="0"/>
              <a:t>Thread Priorities</a:t>
            </a:r>
          </a:p>
        </p:txBody>
      </p:sp>
      <p:sp>
        <p:nvSpPr>
          <p:cNvPr id="6963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11163" y="1068388"/>
            <a:ext cx="8958262" cy="5332412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sz="2400" b="1" u="sng" dirty="0" smtClean="0"/>
              <a:t>Priority</a:t>
            </a:r>
            <a:r>
              <a:rPr lang="en-US" altLang="zh-TW" sz="2400" b="1" dirty="0" smtClean="0"/>
              <a:t>				   </a:t>
            </a:r>
            <a:r>
              <a:rPr lang="en-US" altLang="zh-TW" sz="2400" b="1" u="sng" dirty="0" smtClean="0"/>
              <a:t>Comment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400" dirty="0" err="1" smtClean="0"/>
              <a:t>Thread.MIN_PRIORITY</a:t>
            </a:r>
            <a:r>
              <a:rPr lang="en-US" altLang="zh-TW" sz="2400" dirty="0" smtClean="0"/>
              <a:t>		Minimum Thread Priority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400" dirty="0" err="1" smtClean="0"/>
              <a:t>Thread.MAX_PRIORITY</a:t>
            </a:r>
            <a:r>
              <a:rPr lang="en-US" altLang="zh-TW" sz="2400" dirty="0" smtClean="0"/>
              <a:t>		Maximum Thread Priority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400" dirty="0" err="1" smtClean="0"/>
              <a:t>Thread.NORM_PRIORITY</a:t>
            </a:r>
            <a:r>
              <a:rPr lang="en-US" altLang="zh-TW" sz="2400" dirty="0" smtClean="0"/>
              <a:t>		Default Thread Priority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TW" sz="2400" dirty="0" smtClean="0"/>
          </a:p>
          <a:p>
            <a:pPr eaLnBrk="1" hangingPunct="1">
              <a:buFont typeface="Wingdings" pitchFamily="2" charset="2"/>
              <a:buNone/>
            </a:pPr>
            <a:r>
              <a:rPr lang="en-US" altLang="zh-TW" sz="2400" dirty="0" smtClean="0"/>
              <a:t>Priorities May Be Set Using </a:t>
            </a:r>
            <a:r>
              <a:rPr lang="en-US" altLang="zh-TW" sz="2400" dirty="0" err="1" smtClean="0">
                <a:solidFill>
                  <a:srgbClr val="FF0000"/>
                </a:solidFill>
              </a:rPr>
              <a:t>setPriority</a:t>
            </a:r>
            <a:r>
              <a:rPr lang="en-US" altLang="zh-TW" sz="2400" dirty="0" smtClean="0">
                <a:solidFill>
                  <a:srgbClr val="FF0000"/>
                </a:solidFill>
              </a:rPr>
              <a:t>()</a:t>
            </a:r>
            <a:r>
              <a:rPr lang="en-US" altLang="zh-TW" sz="2400" dirty="0" smtClean="0"/>
              <a:t> method: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400" dirty="0" smtClean="0"/>
              <a:t>	</a:t>
            </a:r>
            <a:r>
              <a:rPr lang="en-US" altLang="zh-TW" sz="2400" dirty="0" err="1" smtClean="0"/>
              <a:t>setPriority</a:t>
            </a:r>
            <a:r>
              <a:rPr lang="en-US" altLang="zh-TW" sz="2400" dirty="0" smtClean="0"/>
              <a:t>(</a:t>
            </a:r>
            <a:r>
              <a:rPr lang="en-US" altLang="zh-TW" sz="2400" dirty="0" err="1" smtClean="0"/>
              <a:t>Thread.NORM_PRIORITY</a:t>
            </a:r>
            <a:r>
              <a:rPr lang="en-US" altLang="zh-TW" sz="2400" dirty="0" smtClean="0"/>
              <a:t> + 2);</a:t>
            </a:r>
          </a:p>
        </p:txBody>
      </p:sp>
      <p:sp>
        <p:nvSpPr>
          <p:cNvPr id="69638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67214694-1877-45C7-98D7-EDF999C8A5A1}" type="datetime1">
              <a:rPr kumimoji="0" lang="zh-TW" altLang="en-US" sz="1400" smtClean="0"/>
              <a:t>2018/3/22</a:t>
            </a:fld>
            <a:endParaRPr kumimoji="0" lang="en-US" altLang="zh-TW" sz="1400"/>
          </a:p>
        </p:txBody>
      </p:sp>
    </p:spTree>
    <p:extLst>
      <p:ext uri="{BB962C8B-B14F-4D97-AF65-F5344CB8AC3E}">
        <p14:creationId xmlns:p14="http://schemas.microsoft.com/office/powerpoint/2010/main" val="3075007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新細明體"/>
        <a:cs typeface=""/>
      </a:majorFont>
      <a:minorFont>
        <a:latin typeface="Tahoma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699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699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1361</TotalTime>
  <Pages>36</Pages>
  <Words>5457</Words>
  <Application>Microsoft Office PowerPoint</Application>
  <PresentationFormat>A4 紙張 (210x297 公釐)</PresentationFormat>
  <Paragraphs>1244</Paragraphs>
  <Slides>87</Slides>
  <Notes>85</Notes>
  <HiddenSlides>0</HiddenSlides>
  <MMClips>0</MMClips>
  <ScaleCrop>false</ScaleCrop>
  <HeadingPairs>
    <vt:vector size="8" baseType="variant">
      <vt:variant>
        <vt:lpstr>使用字型</vt:lpstr>
      </vt:variant>
      <vt:variant>
        <vt:i4>13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87</vt:i4>
      </vt:variant>
    </vt:vector>
  </HeadingPairs>
  <TitlesOfParts>
    <vt:vector size="102" baseType="lpstr">
      <vt:lpstr>Adobe Gothic Std B</vt:lpstr>
      <vt:lpstr>Arial Unicode MS</vt:lpstr>
      <vt:lpstr>Monaco</vt:lpstr>
      <vt:lpstr>MS PGothic</vt:lpstr>
      <vt:lpstr>新細明體</vt:lpstr>
      <vt:lpstr>Arial</vt:lpstr>
      <vt:lpstr>Book Antiqua</vt:lpstr>
      <vt:lpstr>Courier New</vt:lpstr>
      <vt:lpstr>Helvetica</vt:lpstr>
      <vt:lpstr>Symbol</vt:lpstr>
      <vt:lpstr>Tahoma</vt:lpstr>
      <vt:lpstr>Times New Roman</vt:lpstr>
      <vt:lpstr>Wingdings</vt:lpstr>
      <vt:lpstr>Blueprint</vt:lpstr>
      <vt:lpstr>方程式</vt:lpstr>
      <vt:lpstr>Chapter 6  CPU Scheduling </vt:lpstr>
      <vt:lpstr>Outline</vt:lpstr>
      <vt:lpstr>Objectives</vt:lpstr>
      <vt:lpstr>Basic Concepts</vt:lpstr>
      <vt:lpstr>Alternating Sequence of CPU and I/O Bursts</vt:lpstr>
      <vt:lpstr>Histogram of CPU-burst Times</vt:lpstr>
      <vt:lpstr>CPU Scheduler</vt:lpstr>
      <vt:lpstr>PowerPoint 簡報</vt:lpstr>
      <vt:lpstr>Preemptive Issues</vt:lpstr>
      <vt:lpstr>Dispatcher</vt:lpstr>
      <vt:lpstr>Dispatch Latency</vt:lpstr>
      <vt:lpstr>Scheduling Criteria</vt:lpstr>
      <vt:lpstr>Scheduling Algorithms</vt:lpstr>
      <vt:lpstr>First-Come, First-Served Scheduling (1)</vt:lpstr>
      <vt:lpstr>First-Come, First-Served Scheduling (2)</vt:lpstr>
      <vt:lpstr>Shortest-Job First (SJF) Scheduling (1)</vt:lpstr>
      <vt:lpstr>PowerPoint 簡報</vt:lpstr>
      <vt:lpstr>Exponential predication of next CPU burst</vt:lpstr>
      <vt:lpstr>Shortest-Job First (SJF) Scheduling (2)</vt:lpstr>
      <vt:lpstr>Example of Non-Preemptive SJF</vt:lpstr>
      <vt:lpstr>Example of Preemptive SJF</vt:lpstr>
      <vt:lpstr>Priority Scheduling</vt:lpstr>
      <vt:lpstr>PowerPoint 簡報</vt:lpstr>
      <vt:lpstr>Round Robin (RR)</vt:lpstr>
      <vt:lpstr>Example of RR with Time Quantum = 20</vt:lpstr>
      <vt:lpstr>Time Quantum and Context Switch Time</vt:lpstr>
      <vt:lpstr>Turnaround Time Varies With The Time Quantum</vt:lpstr>
      <vt:lpstr>Multilevel Queue</vt:lpstr>
      <vt:lpstr>Multilevel Queue Scheduling</vt:lpstr>
      <vt:lpstr>Multilevel Feedback Queue</vt:lpstr>
      <vt:lpstr>Example of Multilevel Feedback Queue</vt:lpstr>
      <vt:lpstr>Thread Scheduling</vt:lpstr>
      <vt:lpstr>Pthread Scheduling API</vt:lpstr>
      <vt:lpstr>Pthread Scheduling API</vt:lpstr>
      <vt:lpstr>Multiple-Processor Scheduling (1)</vt:lpstr>
      <vt:lpstr>Multiple-Processor Scheduling (2)</vt:lpstr>
      <vt:lpstr>SMT: Symmetric Multithreading</vt:lpstr>
      <vt:lpstr>NUMA and CPU Scheduling</vt:lpstr>
      <vt:lpstr>Load Balancing</vt:lpstr>
      <vt:lpstr>Multicore Processors (1)</vt:lpstr>
      <vt:lpstr>Multicore Processors(2)</vt:lpstr>
      <vt:lpstr>Multicore Processors (3)</vt:lpstr>
      <vt:lpstr>Virtualization and Scheduling</vt:lpstr>
      <vt:lpstr>Virtualization and Scheduling</vt:lpstr>
      <vt:lpstr>Real-Time Scheduling (1)</vt:lpstr>
      <vt:lpstr>Real-Time Scheduling (2)</vt:lpstr>
      <vt:lpstr>Real-Time Scheduling (3)</vt:lpstr>
      <vt:lpstr>Scheduling Algorithms for Hard Real-time</vt:lpstr>
      <vt:lpstr>Scheduling Algorithms for Hard Real-time</vt:lpstr>
      <vt:lpstr>Scheduling Algorithms for Hard Real-time</vt:lpstr>
      <vt:lpstr>Rate Montonic Scheduling</vt:lpstr>
      <vt:lpstr>Rate Montonic Scheduling</vt:lpstr>
      <vt:lpstr>Rate Montonic Scheduling</vt:lpstr>
      <vt:lpstr>Earliest Deadline First Scheduling (EDF)</vt:lpstr>
      <vt:lpstr>Earliest Deadline First Scheduling (EDF)</vt:lpstr>
      <vt:lpstr>EDF vs. RM</vt:lpstr>
      <vt:lpstr>Proportional Share Scheduling</vt:lpstr>
      <vt:lpstr>POSIX Real-Time Scheduling</vt:lpstr>
      <vt:lpstr>Operating System Examples</vt:lpstr>
      <vt:lpstr>Linux Scheduling – preemptive &amp; priority</vt:lpstr>
      <vt:lpstr>Linux Scheduling – preemptive &amp; priority</vt:lpstr>
      <vt:lpstr>Relationship Between Priorities and Time-quantum</vt:lpstr>
      <vt:lpstr>Linux Scheduling in Version 2.6.23 +</vt:lpstr>
      <vt:lpstr>Linux Scheduling in Version 2.6.23 +</vt:lpstr>
      <vt:lpstr>CFS Performance</vt:lpstr>
      <vt:lpstr>CFS Performance</vt:lpstr>
      <vt:lpstr>CFS Performance</vt:lpstr>
      <vt:lpstr>Windows Scheduling</vt:lpstr>
      <vt:lpstr>Windows Priorities</vt:lpstr>
      <vt:lpstr>Windows Priorities</vt:lpstr>
      <vt:lpstr>Solaris 2 Scheduling (1)  priority-based scheduling </vt:lpstr>
      <vt:lpstr>Solaris 2 Scheduling (2)</vt:lpstr>
      <vt:lpstr>Solaris 2 Scheduling (3)</vt:lpstr>
      <vt:lpstr>Solaris Dispatch Table,  Time-sharing and Interactive classes </vt:lpstr>
      <vt:lpstr>Algorithm Evaluation</vt:lpstr>
      <vt:lpstr>Deterministic modeling (1)</vt:lpstr>
      <vt:lpstr>Deterministic modeling (2)</vt:lpstr>
      <vt:lpstr>Deterministic Modeling (3)</vt:lpstr>
      <vt:lpstr>Queuing Models (1)</vt:lpstr>
      <vt:lpstr>Queuing Models (2)</vt:lpstr>
      <vt:lpstr>Simulations</vt:lpstr>
      <vt:lpstr>Evaluation of CPU Schedulers by Simulation</vt:lpstr>
      <vt:lpstr>PowerPoint 簡報</vt:lpstr>
      <vt:lpstr>Java Thread Scheduling (1)</vt:lpstr>
      <vt:lpstr>Java Thread Scheduling (2)</vt:lpstr>
      <vt:lpstr>Time-Slicing</vt:lpstr>
      <vt:lpstr>Thread Priorities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IPv6</dc:title>
  <dc:creator>Jia-Shung WANG</dc:creator>
  <cp:lastModifiedBy>JS</cp:lastModifiedBy>
  <cp:revision>337</cp:revision>
  <cp:lastPrinted>2016-10-12T06:37:52Z</cp:lastPrinted>
  <dcterms:created xsi:type="dcterms:W3CDTF">1996-10-19T01:28:28Z</dcterms:created>
  <dcterms:modified xsi:type="dcterms:W3CDTF">2018-03-22T05:25:47Z</dcterms:modified>
</cp:coreProperties>
</file>