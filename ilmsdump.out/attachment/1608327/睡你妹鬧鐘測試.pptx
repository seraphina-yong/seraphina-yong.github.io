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58" r:id="rId6"/>
    <p:sldId id="264" r:id="rId7"/>
    <p:sldId id="259" r:id="rId8"/>
    <p:sldId id="261" r:id="rId9"/>
    <p:sldId id="266" r:id="rId10"/>
    <p:sldId id="268" r:id="rId11"/>
    <p:sldId id="267" r:id="rId12"/>
    <p:sldId id="263" r:id="rId13"/>
    <p:sldId id="265" r:id="rId14"/>
  </p:sldIdLst>
  <p:sldSz cx="12192000" cy="6858000"/>
  <p:notesSz cx="6858000" cy="9144000"/>
  <p:embeddedFontLst>
    <p:embeddedFont>
      <p:font typeface="華康竹風體W4(P)" panose="03000400000000000000" pitchFamily="66" charset="-12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8D5A"/>
    <a:srgbClr val="BBAB72"/>
    <a:srgbClr val="172A2E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52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91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476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368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603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253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39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13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90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77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23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76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069FD-AF0C-4D91-A879-74A4E9DFB8E8}" type="datetimeFigureOut">
              <a:rPr lang="zh-TW" altLang="en-US" smtClean="0"/>
              <a:t>2018/10/30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97A79-1999-4834-A44F-2D2753A497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01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睡你妹鬧鐘測試</a:t>
            </a:r>
            <a:endParaRPr lang="zh-TW" altLang="en-US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000" b="37455" l="27371" r="7101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720" t="22424" r="53620" b="63276"/>
          <a:stretch/>
        </p:blipFill>
        <p:spPr>
          <a:xfrm flipH="1">
            <a:off x="3177209" y="4186737"/>
            <a:ext cx="1756281" cy="2161054"/>
          </a:xfrm>
          <a:prstGeom prst="rect">
            <a:avLst/>
          </a:prstGeom>
          <a:effectLst>
            <a:glow>
              <a:srgbClr val="CDAB5C"/>
            </a:glow>
            <a:innerShdw>
              <a:srgbClr val="CDAB5C"/>
            </a:innerShdw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92" t="25080" b="60427"/>
          <a:stretch/>
        </p:blipFill>
        <p:spPr>
          <a:xfrm>
            <a:off x="4996512" y="740569"/>
            <a:ext cx="2093844" cy="135861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177209" y="510209"/>
            <a:ext cx="5837582" cy="5837582"/>
          </a:xfrm>
          <a:prstGeom prst="rect">
            <a:avLst/>
          </a:prstGeom>
          <a:noFill/>
          <a:ln w="57150">
            <a:solidFill>
              <a:srgbClr val="CDA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0" t="22424" r="53620" b="63276"/>
          <a:stretch/>
        </p:blipFill>
        <p:spPr>
          <a:xfrm>
            <a:off x="7236386" y="4186737"/>
            <a:ext cx="1756281" cy="2161054"/>
          </a:xfrm>
          <a:prstGeom prst="rect">
            <a:avLst/>
          </a:prstGeom>
          <a:effectLst>
            <a:glow>
              <a:srgbClr val="CDAB5C"/>
            </a:glow>
            <a:innerShdw>
              <a:srgbClr val="CDAB5C"/>
            </a:innerShdw>
          </a:effectLst>
        </p:spPr>
      </p:pic>
      <p:sp>
        <p:nvSpPr>
          <p:cNvPr id="8" name="四角星形 7"/>
          <p:cNvSpPr/>
          <p:nvPr/>
        </p:nvSpPr>
        <p:spPr>
          <a:xfrm>
            <a:off x="3376224" y="4280026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四角星形 8"/>
          <p:cNvSpPr/>
          <p:nvPr/>
        </p:nvSpPr>
        <p:spPr>
          <a:xfrm>
            <a:off x="4787747" y="5174619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四角星形 9"/>
          <p:cNvSpPr/>
          <p:nvPr/>
        </p:nvSpPr>
        <p:spPr>
          <a:xfrm>
            <a:off x="4996512" y="5791826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四角星形 10"/>
          <p:cNvSpPr/>
          <p:nvPr/>
        </p:nvSpPr>
        <p:spPr>
          <a:xfrm>
            <a:off x="5125204" y="5322946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四角星形 11"/>
          <p:cNvSpPr/>
          <p:nvPr/>
        </p:nvSpPr>
        <p:spPr>
          <a:xfrm>
            <a:off x="4557308" y="4270105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四角星形 12"/>
          <p:cNvSpPr/>
          <p:nvPr/>
        </p:nvSpPr>
        <p:spPr>
          <a:xfrm>
            <a:off x="8569267" y="4273406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四角星形 13"/>
          <p:cNvSpPr/>
          <p:nvPr/>
        </p:nvSpPr>
        <p:spPr>
          <a:xfrm>
            <a:off x="7209907" y="5286846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四角星形 14"/>
          <p:cNvSpPr/>
          <p:nvPr/>
        </p:nvSpPr>
        <p:spPr>
          <a:xfrm>
            <a:off x="6912955" y="5698764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四角星形 15"/>
          <p:cNvSpPr/>
          <p:nvPr/>
        </p:nvSpPr>
        <p:spPr>
          <a:xfrm>
            <a:off x="7236386" y="4754705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四角星形 16"/>
          <p:cNvSpPr/>
          <p:nvPr/>
        </p:nvSpPr>
        <p:spPr>
          <a:xfrm>
            <a:off x="7565246" y="4137148"/>
            <a:ext cx="174171" cy="174171"/>
          </a:xfrm>
          <a:prstGeom prst="star4">
            <a:avLst/>
          </a:prstGeom>
          <a:solidFill>
            <a:srgbClr val="CDA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1240198" y="4999692"/>
            <a:ext cx="1661993" cy="13480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2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蔡</a:t>
            </a:r>
            <a:r>
              <a:rPr lang="zh-TW" altLang="en-US" sz="3200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</a:t>
            </a:r>
            <a:r>
              <a:rPr lang="zh-TW" altLang="en-US" sz="32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羽</a:t>
            </a:r>
            <a:endParaRPr lang="en-US" altLang="zh-TW" sz="32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32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王蕎芸</a:t>
            </a:r>
            <a:endParaRPr lang="en-US" altLang="zh-TW" sz="32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32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吳沛</a:t>
            </a:r>
            <a:r>
              <a:rPr lang="zh-TW" altLang="en-US" sz="3200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芸</a:t>
            </a:r>
          </a:p>
        </p:txBody>
      </p:sp>
    </p:spTree>
    <p:extLst>
      <p:ext uri="{BB962C8B-B14F-4D97-AF65-F5344CB8AC3E}">
        <p14:creationId xmlns:p14="http://schemas.microsoft.com/office/powerpoint/2010/main" val="2488991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測試目的</a:t>
            </a:r>
            <a:endParaRPr lang="zh-TW" altLang="en-US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958844" y="22819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36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之前測新生系統的題目實行不易</a:t>
            </a:r>
            <a:endParaRPr lang="en-US" altLang="zh-TW" sz="36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6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發現起床真的不容</a:t>
            </a:r>
            <a:r>
              <a:rPr lang="zh-TW" altLang="en-US" sz="3600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易</a:t>
            </a:r>
            <a:endParaRPr lang="en-US" altLang="zh-TW" sz="36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zh-TW" sz="3600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希望測試市面上熱門的鬧鐘</a:t>
            </a:r>
            <a:r>
              <a:rPr lang="en-US" altLang="zh-TW" sz="36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app</a:t>
            </a:r>
            <a:endParaRPr lang="zh-TW" altLang="en-US" sz="3600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5" name="橢圓 4"/>
          <p:cNvSpPr/>
          <p:nvPr/>
        </p:nvSpPr>
        <p:spPr>
          <a:xfrm>
            <a:off x="838200" y="2616371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838200" y="3514554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838200" y="4485140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14" name="直線接點 1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圖片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18" name="四角星形 1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四角星形 1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四角星形 1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四角星形 2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四角星形 2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四角星形 2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26" name="圖片 2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7" name="圖片 2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8" name="圖片 2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9" name="圖片 2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30" name="圖片 2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31" name="圖片 3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32" name="圖片 3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403681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測試系統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4" name="圖片 1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pic>
        <p:nvPicPr>
          <p:cNvPr id="22" name="圖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266" y="2125286"/>
            <a:ext cx="9737467" cy="321347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86027" y="2013440"/>
            <a:ext cx="10018657" cy="3483110"/>
          </a:xfrm>
          <a:prstGeom prst="rect">
            <a:avLst/>
          </a:prstGeom>
          <a:noFill/>
          <a:ln w="44450">
            <a:solidFill>
              <a:srgbClr val="9B8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直角三角形 23"/>
          <p:cNvSpPr/>
          <p:nvPr/>
        </p:nvSpPr>
        <p:spPr>
          <a:xfrm rot="10800000">
            <a:off x="10411869" y="2018969"/>
            <a:ext cx="692815" cy="593060"/>
          </a:xfrm>
          <a:prstGeom prst="rtTriangle">
            <a:avLst/>
          </a:prstGeom>
          <a:solidFill>
            <a:srgbClr val="9B8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682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系統介紹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pic>
        <p:nvPicPr>
          <p:cNvPr id="22" name="圖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776" y="1838067"/>
            <a:ext cx="2262981" cy="4023078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82" y="1795041"/>
            <a:ext cx="2263950" cy="4024800"/>
          </a:xfrm>
          <a:prstGeom prst="rect">
            <a:avLst/>
          </a:prstGeom>
        </p:spPr>
      </p:pic>
      <p:sp>
        <p:nvSpPr>
          <p:cNvPr id="24" name="文字方塊 23"/>
          <p:cNvSpPr txBox="1"/>
          <p:nvPr/>
        </p:nvSpPr>
        <p:spPr>
          <a:xfrm>
            <a:off x="5308384" y="5268040"/>
            <a:ext cx="191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其他</a:t>
            </a:r>
            <a:r>
              <a:rPr lang="zh-TW" altLang="en-US" sz="28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設定</a:t>
            </a:r>
          </a:p>
        </p:txBody>
      </p:sp>
      <p:cxnSp>
        <p:nvCxnSpPr>
          <p:cNvPr id="26" name="直線單箭頭接點 25"/>
          <p:cNvCxnSpPr/>
          <p:nvPr/>
        </p:nvCxnSpPr>
        <p:spPr>
          <a:xfrm flipH="1" flipV="1">
            <a:off x="4431375" y="5343525"/>
            <a:ext cx="846940" cy="76424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10394437" y="2789344"/>
            <a:ext cx="1916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設定起床時</a:t>
            </a:r>
            <a:r>
              <a:rPr lang="zh-TW" altLang="en-US" sz="28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間</a:t>
            </a:r>
          </a:p>
        </p:txBody>
      </p:sp>
      <p:cxnSp>
        <p:nvCxnSpPr>
          <p:cNvPr id="28" name="直線單箭頭接點 27"/>
          <p:cNvCxnSpPr/>
          <p:nvPr/>
        </p:nvCxnSpPr>
        <p:spPr>
          <a:xfrm flipH="1">
            <a:off x="9368058" y="3002013"/>
            <a:ext cx="1026380" cy="76996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5052396" y="3679674"/>
            <a:ext cx="1916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設定每週重</a:t>
            </a:r>
            <a:r>
              <a:rPr lang="zh-TW" altLang="en-US" sz="28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複</a:t>
            </a:r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模式</a:t>
            </a:r>
            <a:endParaRPr lang="zh-TW" altLang="en-US" sz="28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>
            <a:off x="6648434" y="3963358"/>
            <a:ext cx="893974" cy="55505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10275663" y="4438307"/>
            <a:ext cx="19163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調整音量、</a:t>
            </a:r>
            <a:endParaRPr lang="en-US" altLang="zh-TW" sz="28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貪睡功能、標籤</a:t>
            </a:r>
            <a:endParaRPr lang="zh-TW" altLang="en-US" sz="28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 flipH="1" flipV="1">
            <a:off x="9536351" y="4842107"/>
            <a:ext cx="683915" cy="44218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433782" y="3897397"/>
            <a:ext cx="191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設定鬧鐘</a:t>
            </a:r>
            <a:endParaRPr lang="zh-TW" altLang="en-US" sz="28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1892828" y="4513937"/>
            <a:ext cx="583672" cy="762913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278315" y="2370286"/>
            <a:ext cx="191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變更模式</a:t>
            </a:r>
            <a:endParaRPr lang="zh-TW" altLang="en-US" sz="28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cxnSp>
        <p:nvCxnSpPr>
          <p:cNvPr id="42" name="直線單箭頭接點 41"/>
          <p:cNvCxnSpPr/>
          <p:nvPr/>
        </p:nvCxnSpPr>
        <p:spPr>
          <a:xfrm flipV="1">
            <a:off x="6800834" y="2265931"/>
            <a:ext cx="939385" cy="186640"/>
          </a:xfrm>
          <a:prstGeom prst="straightConnector1">
            <a:avLst/>
          </a:prstGeom>
          <a:ln w="44450">
            <a:solidFill>
              <a:srgbClr val="9B8D5A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97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>
            <a:off x="732360" y="4647180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732360" y="3631033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732360" y="2578394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0" name="群組 19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3" name="圖片 2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4" name="圖片 2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5" name="圖片 2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6" name="圖片 2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7" name="圖片 2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b="1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測試過程</a:t>
            </a:r>
            <a:endParaRPr lang="zh-TW" altLang="en-US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235371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側錄使用者反應</a:t>
            </a:r>
            <a:endParaRPr lang="en-US" altLang="zh-TW" sz="40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問卷調查</a:t>
            </a:r>
            <a:endParaRPr lang="en-US" altLang="zh-TW" sz="4000" dirty="0" smtClean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用後訪</a:t>
            </a:r>
            <a:r>
              <a:rPr lang="zh-TW" altLang="en-US" sz="4000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談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967" y="2055813"/>
            <a:ext cx="2600229" cy="462262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130562" y="1934309"/>
            <a:ext cx="2875084" cy="4844560"/>
          </a:xfrm>
          <a:prstGeom prst="rect">
            <a:avLst/>
          </a:prstGeom>
          <a:noFill/>
          <a:ln w="44450">
            <a:solidFill>
              <a:srgbClr val="9B8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7" name="直線接點 6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14" name="四角星形 13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四角星形 14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四角星形 15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四角星形 16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四角星形 17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四角星形 18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64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橢圓 24"/>
          <p:cNvSpPr/>
          <p:nvPr/>
        </p:nvSpPr>
        <p:spPr>
          <a:xfrm>
            <a:off x="1039126" y="4660925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028445" y="3607514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1039126" y="2554103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測試對象</a:t>
            </a:r>
            <a:endParaRPr lang="zh-TW" altLang="en-US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04546" y="2225619"/>
            <a:ext cx="10149254" cy="395134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蕎芸的室友（</a:t>
            </a:r>
            <a:r>
              <a:rPr lang="en-US" altLang="zh-TW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22</a:t>
            </a: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歲）</a:t>
            </a:r>
            <a:endParaRPr lang="en-US" altLang="zh-TW" sz="40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</a:t>
            </a: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羽的室友（</a:t>
            </a:r>
            <a:r>
              <a:rPr lang="en-US" altLang="zh-TW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22</a:t>
            </a: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歲）</a:t>
            </a:r>
            <a:endParaRPr lang="en-US" altLang="zh-TW" sz="40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傑羽的弟弟（</a:t>
            </a:r>
            <a:r>
              <a:rPr lang="en-US" altLang="zh-TW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18</a:t>
            </a:r>
            <a:r>
              <a:rPr lang="zh-TW" altLang="en-US" sz="40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歲）</a:t>
            </a:r>
            <a:endParaRPr lang="zh-TW" altLang="en-US" sz="40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5" name="直線接點 4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9" name="四角星形 8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四角星形 13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380129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問卷調查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sp>
        <p:nvSpPr>
          <p:cNvPr id="22" name="文字方塊 21"/>
          <p:cNvSpPr txBox="1"/>
          <p:nvPr/>
        </p:nvSpPr>
        <p:spPr>
          <a:xfrm>
            <a:off x="501697" y="2826991"/>
            <a:ext cx="47900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第一次打開</a:t>
            </a:r>
            <a:r>
              <a:rPr lang="en-US" altLang="zh-TW" sz="3200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app</a:t>
            </a:r>
            <a:r>
              <a:rPr lang="zh-TW" altLang="en-US" sz="3200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的當下，看得出來它是一款特殊鬧鐘嗎？</a:t>
            </a:r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938" y="1742722"/>
            <a:ext cx="6571775" cy="3943066"/>
          </a:xfrm>
          <a:prstGeom prst="rect">
            <a:avLst/>
          </a:prstGeom>
        </p:spPr>
      </p:pic>
      <p:sp>
        <p:nvSpPr>
          <p:cNvPr id="30" name="文字方塊 29"/>
          <p:cNvSpPr txBox="1"/>
          <p:nvPr/>
        </p:nvSpPr>
        <p:spPr>
          <a:xfrm>
            <a:off x="6393188" y="3013501"/>
            <a:ext cx="116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可以</a:t>
            </a:r>
            <a:endParaRPr lang="en-US" altLang="zh-TW" sz="2400" dirty="0" smtClean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４０％</a:t>
            </a:r>
            <a:endParaRPr lang="zh-TW" altLang="en-US" sz="2400" dirty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150469" y="3708866"/>
            <a:ext cx="1170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不可以</a:t>
            </a:r>
            <a:endParaRPr lang="en-US" altLang="zh-TW" sz="2400" dirty="0" smtClean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６０％</a:t>
            </a:r>
            <a:endParaRPr lang="zh-TW" altLang="en-US" sz="2400" dirty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149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問卷調查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sp>
        <p:nvSpPr>
          <p:cNvPr id="22" name="文字方塊 21"/>
          <p:cNvSpPr txBox="1"/>
          <p:nvPr/>
        </p:nvSpPr>
        <p:spPr>
          <a:xfrm>
            <a:off x="691932" y="3319399"/>
            <a:ext cx="479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第一個想使用的功能</a:t>
            </a: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569" y="1847513"/>
            <a:ext cx="6628867" cy="3982630"/>
          </a:xfrm>
          <a:prstGeom prst="rect">
            <a:avLst/>
          </a:prstGeom>
        </p:spPr>
      </p:pic>
      <p:sp>
        <p:nvSpPr>
          <p:cNvPr id="24" name="文字方塊 23"/>
          <p:cNvSpPr txBox="1"/>
          <p:nvPr/>
        </p:nvSpPr>
        <p:spPr>
          <a:xfrm>
            <a:off x="6574271" y="4026670"/>
            <a:ext cx="116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預設</a:t>
            </a:r>
            <a:endParaRPr lang="en-US" altLang="zh-TW" sz="2400" dirty="0" smtClean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４０％</a:t>
            </a:r>
            <a:endParaRPr lang="zh-TW" altLang="en-US" sz="2400" dirty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256015" y="3017863"/>
            <a:ext cx="116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數學</a:t>
            </a:r>
            <a:r>
              <a:rPr lang="zh-TW" altLang="en-US" sz="2400" dirty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題</a:t>
            </a:r>
            <a:endParaRPr lang="en-US" altLang="zh-TW" sz="2400" dirty="0" smtClean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４０％</a:t>
            </a:r>
            <a:endParaRPr lang="zh-TW" altLang="en-US" sz="2400" dirty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688408" y="2493193"/>
            <a:ext cx="116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搖晃</a:t>
            </a:r>
            <a:endParaRPr lang="en-US" altLang="zh-TW" sz="2400" dirty="0" smtClean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r>
              <a:rPr lang="zh-TW" altLang="en-US" sz="2400" dirty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２</a:t>
            </a:r>
            <a:r>
              <a:rPr lang="zh-TW" altLang="en-US" sz="2400" dirty="0" smtClean="0">
                <a:solidFill>
                  <a:schemeClr val="bg1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０％</a:t>
            </a:r>
            <a:endParaRPr lang="zh-TW" altLang="en-US" sz="2400" dirty="0">
              <a:solidFill>
                <a:schemeClr val="bg1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276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23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問卷調查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sp>
        <p:nvSpPr>
          <p:cNvPr id="22" name="文字方塊 21"/>
          <p:cNvSpPr txBox="1"/>
          <p:nvPr/>
        </p:nvSpPr>
        <p:spPr>
          <a:xfrm>
            <a:off x="691932" y="3319399"/>
            <a:ext cx="479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完成設定鬧鐘所花的時</a:t>
            </a:r>
            <a:r>
              <a:rPr lang="zh-TW" altLang="en-US" sz="3200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間</a:t>
            </a:r>
            <a:endParaRPr lang="zh-TW" altLang="en-US" sz="3200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grpSp>
        <p:nvGrpSpPr>
          <p:cNvPr id="45" name="群組 44"/>
          <p:cNvGrpSpPr/>
          <p:nvPr/>
        </p:nvGrpSpPr>
        <p:grpSpPr>
          <a:xfrm>
            <a:off x="5715000" y="2019126"/>
            <a:ext cx="4709102" cy="3938975"/>
            <a:chOff x="5715000" y="2019126"/>
            <a:chExt cx="4709102" cy="3938975"/>
          </a:xfrm>
        </p:grpSpPr>
        <p:pic>
          <p:nvPicPr>
            <p:cNvPr id="28" name="圖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5000" y="2019126"/>
              <a:ext cx="4709102" cy="3616204"/>
            </a:xfrm>
            <a:prstGeom prst="rect">
              <a:avLst/>
            </a:prstGeom>
          </p:spPr>
        </p:pic>
        <p:sp>
          <p:nvSpPr>
            <p:cNvPr id="29" name="矩形 28"/>
            <p:cNvSpPr/>
            <p:nvPr/>
          </p:nvSpPr>
          <p:spPr>
            <a:xfrm>
              <a:off x="6093070" y="2030466"/>
              <a:ext cx="3963080" cy="3447142"/>
            </a:xfrm>
            <a:prstGeom prst="rect">
              <a:avLst/>
            </a:prstGeom>
            <a:noFill/>
            <a:ln w="38100">
              <a:solidFill>
                <a:srgbClr val="CDA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180992" y="5258145"/>
              <a:ext cx="527539" cy="219463"/>
            </a:xfrm>
            <a:prstGeom prst="rect">
              <a:avLst/>
            </a:prstGeom>
            <a:solidFill>
              <a:srgbClr val="BBA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7031040" y="4808718"/>
              <a:ext cx="527539" cy="659423"/>
            </a:xfrm>
            <a:prstGeom prst="rect">
              <a:avLst/>
            </a:prstGeom>
            <a:solidFill>
              <a:srgbClr val="BBA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7839764" y="5328138"/>
              <a:ext cx="527539" cy="169134"/>
            </a:xfrm>
            <a:prstGeom prst="rect">
              <a:avLst/>
            </a:prstGeom>
            <a:solidFill>
              <a:srgbClr val="BBA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8678563" y="2304971"/>
              <a:ext cx="527539" cy="3183977"/>
            </a:xfrm>
            <a:prstGeom prst="rect">
              <a:avLst/>
            </a:prstGeom>
            <a:solidFill>
              <a:srgbClr val="BBA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455143" y="5389685"/>
              <a:ext cx="527539" cy="99263"/>
            </a:xfrm>
            <a:prstGeom prst="rect">
              <a:avLst/>
            </a:prstGeom>
            <a:solidFill>
              <a:srgbClr val="BBAB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180992" y="3758225"/>
              <a:ext cx="461665" cy="15826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傑羽的室友ａ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7014632" y="3275552"/>
              <a:ext cx="461665" cy="15826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蕎</a:t>
              </a:r>
              <a:r>
                <a:rPr lang="zh-TW" altLang="en-US" b="1" dirty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芸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的室友ａ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7864680" y="3846779"/>
              <a:ext cx="461665" cy="15826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傑羽的室友ｂ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8704415" y="2483743"/>
              <a:ext cx="461665" cy="15826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TW" altLang="en-US" b="1" dirty="0" smtClean="0">
                  <a:solidFill>
                    <a:srgbClr val="172A2E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蕎</a:t>
              </a:r>
              <a:r>
                <a:rPr lang="zh-TW" altLang="en-US" b="1" dirty="0">
                  <a:solidFill>
                    <a:srgbClr val="172A2E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芸</a:t>
              </a:r>
              <a:r>
                <a:rPr lang="zh-TW" altLang="en-US" b="1" dirty="0" smtClean="0">
                  <a:solidFill>
                    <a:srgbClr val="172A2E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的室友ｂ</a:t>
              </a:r>
              <a:endParaRPr lang="zh-TW" altLang="en-US" b="1" dirty="0">
                <a:solidFill>
                  <a:srgbClr val="172A2E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9455143" y="4027826"/>
              <a:ext cx="461665" cy="158261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傑羽的弟弟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155880" y="5554862"/>
              <a:ext cx="711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3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分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6980943" y="5588769"/>
              <a:ext cx="861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3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分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828806" y="5548355"/>
              <a:ext cx="711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1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分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8664820" y="5554862"/>
              <a:ext cx="612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3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分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450386" y="5523855"/>
              <a:ext cx="711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1</a:t>
              </a:r>
              <a:r>
                <a:rPr lang="zh-TW" altLang="en-US" b="1" dirty="0" smtClean="0">
                  <a:solidFill>
                    <a:srgbClr val="BBAB72"/>
                  </a:solidFill>
                  <a:latin typeface="華康竹風體W4(P)" panose="03000400000000000000" pitchFamily="66" charset="-120"/>
                  <a:ea typeface="華康竹風體W4(P)" panose="03000400000000000000" pitchFamily="66" charset="-120"/>
                </a:rPr>
                <a:t>分</a:t>
              </a:r>
              <a:endPara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914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237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問卷調查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  <p:sp>
        <p:nvSpPr>
          <p:cNvPr id="22" name="文字方塊 21"/>
          <p:cNvSpPr txBox="1"/>
          <p:nvPr/>
        </p:nvSpPr>
        <p:spPr>
          <a:xfrm>
            <a:off x="691932" y="3319399"/>
            <a:ext cx="47900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鬧鐘響後到起床的時間</a:t>
            </a:r>
            <a:endParaRPr lang="zh-TW" altLang="en-US" sz="3200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019126"/>
            <a:ext cx="4709102" cy="3616204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6093070" y="2030466"/>
            <a:ext cx="3963080" cy="3447142"/>
          </a:xfrm>
          <a:prstGeom prst="rect">
            <a:avLst/>
          </a:prstGeom>
          <a:noFill/>
          <a:ln w="38100">
            <a:solidFill>
              <a:srgbClr val="CDA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/>
          <p:cNvSpPr/>
          <p:nvPr/>
        </p:nvSpPr>
        <p:spPr>
          <a:xfrm>
            <a:off x="6180992" y="5258145"/>
            <a:ext cx="527539" cy="219463"/>
          </a:xfrm>
          <a:prstGeom prst="rect">
            <a:avLst/>
          </a:prstGeom>
          <a:solidFill>
            <a:srgbClr val="BBA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7022077" y="4818185"/>
            <a:ext cx="527539" cy="659423"/>
          </a:xfrm>
          <a:prstGeom prst="rect">
            <a:avLst/>
          </a:prstGeom>
          <a:solidFill>
            <a:srgbClr val="BBA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7839764" y="5328138"/>
            <a:ext cx="527539" cy="169134"/>
          </a:xfrm>
          <a:prstGeom prst="rect">
            <a:avLst/>
          </a:prstGeom>
          <a:solidFill>
            <a:srgbClr val="BBA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8678563" y="2304971"/>
            <a:ext cx="527539" cy="3183977"/>
          </a:xfrm>
          <a:prstGeom prst="rect">
            <a:avLst/>
          </a:prstGeom>
          <a:solidFill>
            <a:srgbClr val="BBA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/>
          <p:cNvSpPr/>
          <p:nvPr/>
        </p:nvSpPr>
        <p:spPr>
          <a:xfrm>
            <a:off x="9455143" y="5389685"/>
            <a:ext cx="527539" cy="99263"/>
          </a:xfrm>
          <a:prstGeom prst="rect">
            <a:avLst/>
          </a:prstGeom>
          <a:solidFill>
            <a:srgbClr val="BBAB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6180992" y="3758225"/>
            <a:ext cx="461665" cy="1582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傑羽的室友ａ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7033228" y="3265720"/>
            <a:ext cx="461665" cy="1582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蕎</a:t>
            </a:r>
            <a:r>
              <a:rPr lang="zh-TW" altLang="en-US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芸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的室友ａ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7864680" y="3846779"/>
            <a:ext cx="461665" cy="1582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傑羽的室友ｂ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704415" y="2483743"/>
            <a:ext cx="461665" cy="1582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 smtClean="0">
                <a:solidFill>
                  <a:srgbClr val="172A2E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蕎</a:t>
            </a:r>
            <a:r>
              <a:rPr lang="zh-TW" altLang="en-US" b="1" dirty="0">
                <a:solidFill>
                  <a:srgbClr val="172A2E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芸</a:t>
            </a:r>
            <a:r>
              <a:rPr lang="zh-TW" altLang="en-US" b="1" dirty="0" smtClean="0">
                <a:solidFill>
                  <a:srgbClr val="172A2E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的室友ｂ</a:t>
            </a:r>
            <a:endParaRPr lang="zh-TW" altLang="en-US" b="1" dirty="0">
              <a:solidFill>
                <a:srgbClr val="172A2E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9455143" y="4027826"/>
            <a:ext cx="461665" cy="158261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傑羽的弟弟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76169" y="5554862"/>
            <a:ext cx="71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90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秒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865528" y="5554862"/>
            <a:ext cx="861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340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秒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7747786" y="5529525"/>
            <a:ext cx="71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6</a:t>
            </a:r>
            <a:r>
              <a:rPr lang="en-US" altLang="zh-TW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0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秒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478627" y="5529525"/>
            <a:ext cx="1036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1860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秒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9369621" y="5531605"/>
            <a:ext cx="711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3</a:t>
            </a:r>
            <a:r>
              <a:rPr lang="en-US" altLang="zh-TW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0</a:t>
            </a:r>
            <a:r>
              <a:rPr lang="zh-TW" altLang="en-US" b="1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秒</a:t>
            </a:r>
            <a:endParaRPr lang="zh-TW" altLang="en-US" b="1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522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橢圓 25"/>
          <p:cNvSpPr/>
          <p:nvPr/>
        </p:nvSpPr>
        <p:spPr>
          <a:xfrm>
            <a:off x="1114209" y="4412134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1146447" y="3492605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146447" y="2511905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討論</a:t>
            </a:r>
            <a:endParaRPr lang="zh-TW" altLang="en-US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1248508" y="2217885"/>
            <a:ext cx="10105292" cy="39590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發現很多人沒有發現可以改成其他模式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測試易受受測者本身的習慣影響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應該多</a:t>
            </a:r>
            <a:r>
              <a:rPr lang="zh-TW" altLang="en-US" sz="36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測</a:t>
            </a: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個沒有使用鬧鐘的對照</a:t>
            </a:r>
            <a:r>
              <a:rPr lang="zh-TW" altLang="en-US" sz="36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組</a:t>
            </a:r>
          </a:p>
        </p:txBody>
      </p:sp>
      <p:grpSp>
        <p:nvGrpSpPr>
          <p:cNvPr id="5" name="群組 4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6" name="直線接點 5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10" name="四角星形 9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四角星形 13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四角星形 14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3" name="圖片 2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133644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橢圓 24"/>
          <p:cNvSpPr/>
          <p:nvPr/>
        </p:nvSpPr>
        <p:spPr>
          <a:xfrm>
            <a:off x="1129250" y="5237037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129250" y="4269213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1129250" y="3263837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用後訪談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105025"/>
            <a:ext cx="10515600" cy="40719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在設定鬧鐘時遇到什麼問題？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　找不到改模式的地方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　功能太多，很複雜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　找不到工作日跟假日的設定在</a:t>
            </a:r>
            <a:r>
              <a:rPr lang="zh-TW" altLang="en-US" sz="3600" dirty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哪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5" name="直線接點 4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9" name="四角星形 8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四角星形 13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222748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橢圓 24"/>
          <p:cNvSpPr/>
          <p:nvPr/>
        </p:nvSpPr>
        <p:spPr>
          <a:xfrm>
            <a:off x="1144559" y="4334997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1144559" y="3352274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1146447" y="2449036"/>
            <a:ext cx="448750" cy="448750"/>
          </a:xfrm>
          <a:prstGeom prst="ellipse">
            <a:avLst/>
          </a:prstGeom>
          <a:solidFill>
            <a:srgbClr val="DB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 smtClean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期末系統改進</a:t>
            </a:r>
            <a:r>
              <a:rPr lang="zh-TW" altLang="en-US" b="1" dirty="0">
                <a:solidFill>
                  <a:srgbClr val="9B8D5A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方向</a:t>
            </a:r>
            <a:endParaRPr lang="zh-TW" altLang="en-US" b="1" dirty="0">
              <a:solidFill>
                <a:srgbClr val="9B8D5A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sp>
        <p:nvSpPr>
          <p:cNvPr id="22" name="內容版面配置區 21"/>
          <p:cNvSpPr>
            <a:spLocks noGrp="1"/>
          </p:cNvSpPr>
          <p:nvPr>
            <p:ph idx="1"/>
          </p:nvPr>
        </p:nvSpPr>
        <p:spPr>
          <a:xfrm>
            <a:off x="1292469" y="2217885"/>
            <a:ext cx="10061331" cy="39590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簡化使用者介面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增加簡單易用的新功能</a:t>
            </a:r>
            <a:endParaRPr lang="en-US" altLang="zh-TW" sz="3600" dirty="0" smtClean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3600" dirty="0" smtClean="0">
                <a:solidFill>
                  <a:srgbClr val="BBAB72"/>
                </a:solidFill>
                <a:latin typeface="華康竹風體W4(P)" panose="03000400000000000000" pitchFamily="66" charset="-120"/>
                <a:ea typeface="華康竹風體W4(P)" panose="03000400000000000000" pitchFamily="66" charset="-120"/>
              </a:rPr>
              <a:t>提出未來可能實現的新功能</a:t>
            </a:r>
            <a:endParaRPr lang="zh-TW" altLang="en-US" sz="3600" dirty="0">
              <a:solidFill>
                <a:srgbClr val="BBAB72"/>
              </a:solidFill>
              <a:latin typeface="華康竹風體W4(P)" panose="03000400000000000000" pitchFamily="66" charset="-120"/>
              <a:ea typeface="華康竹風體W4(P)" panose="03000400000000000000" pitchFamily="66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283131" y="180395"/>
            <a:ext cx="12314453" cy="2054976"/>
            <a:chOff x="441392" y="170402"/>
            <a:chExt cx="12314453" cy="2054976"/>
          </a:xfrm>
        </p:grpSpPr>
        <p:cxnSp>
          <p:nvCxnSpPr>
            <p:cNvPr id="4" name="直線接點 3"/>
            <p:cNvCxnSpPr/>
            <p:nvPr/>
          </p:nvCxnSpPr>
          <p:spPr>
            <a:xfrm>
              <a:off x="441392" y="1442287"/>
              <a:ext cx="11619878" cy="0"/>
            </a:xfrm>
            <a:prstGeom prst="line">
              <a:avLst/>
            </a:prstGeom>
            <a:ln w="28575">
              <a:solidFill>
                <a:srgbClr val="CDAB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792233" flipH="1">
              <a:off x="2373143" y="536190"/>
              <a:ext cx="1994002" cy="1689187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7767">
              <a:off x="8182364" y="536191"/>
              <a:ext cx="1994002" cy="1689187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0490" y="589597"/>
              <a:ext cx="3055355" cy="936976"/>
            </a:xfrm>
            <a:prstGeom prst="rect">
              <a:avLst/>
            </a:prstGeom>
          </p:spPr>
        </p:pic>
        <p:sp>
          <p:nvSpPr>
            <p:cNvPr id="8" name="四角星形 7"/>
            <p:cNvSpPr/>
            <p:nvPr/>
          </p:nvSpPr>
          <p:spPr>
            <a:xfrm>
              <a:off x="2880803" y="278039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四角星形 8"/>
            <p:cNvSpPr/>
            <p:nvPr/>
          </p:nvSpPr>
          <p:spPr>
            <a:xfrm>
              <a:off x="2051089" y="890064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四角星形 9"/>
            <p:cNvSpPr/>
            <p:nvPr/>
          </p:nvSpPr>
          <p:spPr>
            <a:xfrm>
              <a:off x="2320458" y="502511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四角星形 10"/>
            <p:cNvSpPr/>
            <p:nvPr/>
          </p:nvSpPr>
          <p:spPr>
            <a:xfrm>
              <a:off x="9526319" y="170402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四角星形 11"/>
            <p:cNvSpPr/>
            <p:nvPr/>
          </p:nvSpPr>
          <p:spPr>
            <a:xfrm>
              <a:off x="10040240" y="840473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四角星形 12"/>
            <p:cNvSpPr/>
            <p:nvPr/>
          </p:nvSpPr>
          <p:spPr>
            <a:xfrm>
              <a:off x="10378527" y="390276"/>
              <a:ext cx="174171" cy="174171"/>
            </a:xfrm>
            <a:prstGeom prst="star4">
              <a:avLst/>
            </a:prstGeom>
            <a:solidFill>
              <a:srgbClr val="CDAB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83131" y="5924194"/>
            <a:ext cx="11849857" cy="842834"/>
            <a:chOff x="283131" y="5924194"/>
            <a:chExt cx="11849857" cy="84283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83131" y="5924194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6" name="圖片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2016075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3749019" y="5924195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5481963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7214907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8947851" y="5924196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  <p:pic>
          <p:nvPicPr>
            <p:cNvPr id="21" name="圖片 2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0" t="22424" r="30308" b="63276"/>
            <a:stretch/>
          </p:blipFill>
          <p:spPr>
            <a:xfrm flipH="1">
              <a:off x="10680796" y="5927479"/>
              <a:ext cx="1452192" cy="839549"/>
            </a:xfrm>
            <a:prstGeom prst="rect">
              <a:avLst/>
            </a:prstGeom>
            <a:effectLst>
              <a:glow>
                <a:srgbClr val="CDAB5C"/>
              </a:glow>
              <a:innerShdw>
                <a:srgbClr val="CDAB5C"/>
              </a:innerShdw>
            </a:effectLst>
          </p:spPr>
        </p:pic>
      </p:grpSp>
    </p:spTree>
    <p:extLst>
      <p:ext uri="{BB962C8B-B14F-4D97-AF65-F5344CB8AC3E}">
        <p14:creationId xmlns:p14="http://schemas.microsoft.com/office/powerpoint/2010/main" val="263435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</TotalTime>
  <Words>279</Words>
  <Application>Microsoft Office PowerPoint</Application>
  <PresentationFormat>寬螢幕</PresentationFormat>
  <Paragraphs>76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華康竹風體W4(P)</vt:lpstr>
      <vt:lpstr>新細明體</vt:lpstr>
      <vt:lpstr>Arial</vt:lpstr>
      <vt:lpstr>Calibri</vt:lpstr>
      <vt:lpstr>Calibri Light</vt:lpstr>
      <vt:lpstr>Office 佈景主題</vt:lpstr>
      <vt:lpstr>睡你妹鬧鐘測試</vt:lpstr>
      <vt:lpstr>測試目的</vt:lpstr>
      <vt:lpstr>測試系統</vt:lpstr>
      <vt:lpstr>系統介紹</vt:lpstr>
      <vt:lpstr>測試過程</vt:lpstr>
      <vt:lpstr>測試對象</vt:lpstr>
      <vt:lpstr>問卷調查</vt:lpstr>
      <vt:lpstr>問卷調查</vt:lpstr>
      <vt:lpstr>問卷調查</vt:lpstr>
      <vt:lpstr>問卷調查</vt:lpstr>
      <vt:lpstr>討論</vt:lpstr>
      <vt:lpstr>用後訪談</vt:lpstr>
      <vt:lpstr>期末系統改進方向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傑羽 蔡</dc:creator>
  <cp:lastModifiedBy>傑羽 蔡</cp:lastModifiedBy>
  <cp:revision>25</cp:revision>
  <dcterms:created xsi:type="dcterms:W3CDTF">2018-10-30T00:58:12Z</dcterms:created>
  <dcterms:modified xsi:type="dcterms:W3CDTF">2018-10-30T16:32:13Z</dcterms:modified>
</cp:coreProperties>
</file>