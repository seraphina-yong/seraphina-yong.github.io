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6" name="Shape 56"/>
        <p:cNvGrpSpPr/>
        <p:nvPr/>
      </p:nvGrpSpPr>
      <p:grpSpPr>
        <a:xfrm>
          <a:off x="0" y="0"/>
          <a:ext cx="0" cy="0"/>
          <a:chOff x="0" y="0"/>
          <a:chExt cx="0" cy="0"/>
        </a:xfrm>
      </p:grpSpPr>
      <p:sp>
        <p:nvSpPr>
          <p:cNvPr id="57" name="Google Shape;57;g207a4d19424e5068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07a4d19424e5068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2" name="Shape 62"/>
        <p:cNvGrpSpPr/>
        <p:nvPr/>
      </p:nvGrpSpPr>
      <p:grpSpPr>
        <a:xfrm>
          <a:off x="0" y="0"/>
          <a:ext cx="0" cy="0"/>
          <a:chOff x="0" y="0"/>
          <a:chExt cx="0" cy="0"/>
        </a:xfrm>
      </p:grpSpPr>
      <p:sp>
        <p:nvSpPr>
          <p:cNvPr id="63" name="Google Shape;63;g447e2f793d_8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447e2f793d_8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0" name="Shape 70"/>
        <p:cNvGrpSpPr/>
        <p:nvPr/>
      </p:nvGrpSpPr>
      <p:grpSpPr>
        <a:xfrm>
          <a:off x="0" y="0"/>
          <a:ext cx="0" cy="0"/>
          <a:chOff x="0" y="0"/>
          <a:chExt cx="0" cy="0"/>
        </a:xfrm>
      </p:grpSpPr>
      <p:sp>
        <p:nvSpPr>
          <p:cNvPr id="71" name="Google Shape;71;g447e2f793d_8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447e2f793d_8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7" name="Shape 77"/>
        <p:cNvGrpSpPr/>
        <p:nvPr/>
      </p:nvGrpSpPr>
      <p:grpSpPr>
        <a:xfrm>
          <a:off x="0" y="0"/>
          <a:ext cx="0" cy="0"/>
          <a:chOff x="0" y="0"/>
          <a:chExt cx="0" cy="0"/>
        </a:xfrm>
      </p:grpSpPr>
      <p:sp>
        <p:nvSpPr>
          <p:cNvPr id="78" name="Google Shape;78;g447e2f793d_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447e2f793d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3" name="Shape 83"/>
        <p:cNvGrpSpPr/>
        <p:nvPr/>
      </p:nvGrpSpPr>
      <p:grpSpPr>
        <a:xfrm>
          <a:off x="0" y="0"/>
          <a:ext cx="0" cy="0"/>
          <a:chOff x="0" y="0"/>
          <a:chExt cx="0" cy="0"/>
        </a:xfrm>
      </p:grpSpPr>
      <p:sp>
        <p:nvSpPr>
          <p:cNvPr id="84" name="Google Shape;84;g447e2f793d_7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447e2f793d_7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www.researchgate.net/publication/323986552_chongwuyurenleideguanxixinlixueshijiaodetantao"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0" y="1834140"/>
            <a:ext cx="6329376" cy="3309359"/>
          </a:xfrm>
          <a:prstGeom prst="rect">
            <a:avLst/>
          </a:prstGeom>
          <a:noFill/>
          <a:ln>
            <a:noFill/>
          </a:ln>
        </p:spPr>
      </p:pic>
      <p:sp>
        <p:nvSpPr>
          <p:cNvPr id="55" name="Google Shape;55;p13"/>
          <p:cNvSpPr txBox="1"/>
          <p:nvPr>
            <p:ph type="ctrTitle"/>
          </p:nvPr>
        </p:nvSpPr>
        <p:spPr>
          <a:xfrm>
            <a:off x="2968825" y="744575"/>
            <a:ext cx="58635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zh-TW">
                <a:solidFill>
                  <a:schemeClr val="accent5"/>
                </a:solidFill>
              </a:rPr>
              <a:t>W6主題介紹</a:t>
            </a:r>
            <a:endParaRPr>
              <a:solidFill>
                <a:schemeClr val="accent5"/>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9" name="Shape 59"/>
        <p:cNvGrpSpPr/>
        <p:nvPr/>
      </p:nvGrpSpPr>
      <p:grpSpPr>
        <a:xfrm>
          <a:off x="0" y="0"/>
          <a:ext cx="0" cy="0"/>
          <a:chOff x="0" y="0"/>
          <a:chExt cx="0" cy="0"/>
        </a:xfrm>
      </p:grpSpPr>
      <p:sp>
        <p:nvSpPr>
          <p:cNvPr id="60" name="Google Shape;60;p14"/>
          <p:cNvSpPr txBox="1"/>
          <p:nvPr>
            <p:ph type="title"/>
          </p:nvPr>
        </p:nvSpPr>
        <p:spPr>
          <a:xfrm>
            <a:off x="311675" y="1521375"/>
            <a:ext cx="7523700" cy="2823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TW" sz="2400">
                <a:solidFill>
                  <a:schemeClr val="accent3"/>
                </a:solidFill>
                <a:latin typeface="Arial"/>
                <a:ea typeface="Arial"/>
                <a:cs typeface="Arial"/>
                <a:sym typeface="Arial"/>
              </a:rPr>
              <a:t>我們經常因為上班或出外讀書而長時間不在家，</a:t>
            </a:r>
            <a:endParaRPr sz="2400">
              <a:solidFill>
                <a:schemeClr val="accent3"/>
              </a:solidFill>
              <a:latin typeface="Arial"/>
              <a:ea typeface="Arial"/>
              <a:cs typeface="Arial"/>
              <a:sym typeface="Arial"/>
            </a:endParaRPr>
          </a:p>
          <a:p>
            <a:pPr indent="0" lvl="0" marL="0" rtl="0" algn="l">
              <a:lnSpc>
                <a:spcPct val="115000"/>
              </a:lnSpc>
              <a:spcBef>
                <a:spcPts val="500"/>
              </a:spcBef>
              <a:spcAft>
                <a:spcPts val="0"/>
              </a:spcAft>
              <a:buNone/>
            </a:pPr>
            <a:r>
              <a:rPr lang="zh-TW" sz="2400">
                <a:solidFill>
                  <a:schemeClr val="accent3"/>
                </a:solidFill>
                <a:latin typeface="Arial"/>
                <a:ea typeface="Arial"/>
                <a:cs typeface="Arial"/>
                <a:sym typeface="Arial"/>
              </a:rPr>
              <a:t>而許多人就會好奇寵物單獨在家時會做甚麼，</a:t>
            </a:r>
            <a:endParaRPr sz="2400">
              <a:solidFill>
                <a:schemeClr val="accent3"/>
              </a:solidFill>
              <a:latin typeface="Arial"/>
              <a:ea typeface="Arial"/>
              <a:cs typeface="Arial"/>
              <a:sym typeface="Arial"/>
            </a:endParaRPr>
          </a:p>
          <a:p>
            <a:pPr indent="0" lvl="0" marL="0" rtl="0" algn="l">
              <a:lnSpc>
                <a:spcPct val="115000"/>
              </a:lnSpc>
              <a:spcBef>
                <a:spcPts val="500"/>
              </a:spcBef>
              <a:spcAft>
                <a:spcPts val="0"/>
              </a:spcAft>
              <a:buNone/>
            </a:pPr>
            <a:r>
              <a:rPr lang="zh-TW" sz="2400">
                <a:solidFill>
                  <a:schemeClr val="accent3"/>
                </a:solidFill>
                <a:latin typeface="Arial"/>
                <a:ea typeface="Arial"/>
                <a:cs typeface="Arial"/>
                <a:sym typeface="Arial"/>
              </a:rPr>
              <a:t>於是乎就有人在家中裝設監視器來觀察寵物的行為，</a:t>
            </a:r>
            <a:endParaRPr sz="2400">
              <a:solidFill>
                <a:schemeClr val="accent3"/>
              </a:solidFill>
              <a:latin typeface="Arial"/>
              <a:ea typeface="Arial"/>
              <a:cs typeface="Arial"/>
              <a:sym typeface="Arial"/>
            </a:endParaRPr>
          </a:p>
          <a:p>
            <a:pPr indent="0" lvl="0" marL="0" rtl="0" algn="l">
              <a:lnSpc>
                <a:spcPct val="115000"/>
              </a:lnSpc>
              <a:spcBef>
                <a:spcPts val="500"/>
              </a:spcBef>
              <a:spcAft>
                <a:spcPts val="0"/>
              </a:spcAft>
              <a:buNone/>
            </a:pPr>
            <a:r>
              <a:rPr lang="zh-TW" sz="2400">
                <a:solidFill>
                  <a:schemeClr val="accent3"/>
                </a:solidFill>
                <a:latin typeface="Arial"/>
                <a:ea typeface="Arial"/>
                <a:cs typeface="Arial"/>
                <a:sym typeface="Arial"/>
              </a:rPr>
              <a:t>但對於長期出外讀書或出差的人而言，</a:t>
            </a:r>
            <a:endParaRPr sz="2400">
              <a:solidFill>
                <a:schemeClr val="accent3"/>
              </a:solidFill>
              <a:latin typeface="Arial"/>
              <a:ea typeface="Arial"/>
              <a:cs typeface="Arial"/>
              <a:sym typeface="Arial"/>
            </a:endParaRPr>
          </a:p>
          <a:p>
            <a:pPr indent="0" lvl="0" marL="0" rtl="0" algn="l">
              <a:lnSpc>
                <a:spcPct val="115000"/>
              </a:lnSpc>
              <a:spcBef>
                <a:spcPts val="500"/>
              </a:spcBef>
              <a:spcAft>
                <a:spcPts val="0"/>
              </a:spcAft>
              <a:buNone/>
            </a:pPr>
            <a:r>
              <a:rPr lang="zh-TW" sz="2400">
                <a:solidFill>
                  <a:schemeClr val="accent3"/>
                </a:solidFill>
                <a:latin typeface="Arial"/>
                <a:ea typeface="Arial"/>
                <a:cs typeface="Arial"/>
                <a:sym typeface="Arial"/>
              </a:rPr>
              <a:t>不能與寵物互動便是最大的不足之處，</a:t>
            </a:r>
            <a:endParaRPr sz="2400">
              <a:solidFill>
                <a:schemeClr val="accent3"/>
              </a:solidFill>
              <a:latin typeface="Arial"/>
              <a:ea typeface="Arial"/>
              <a:cs typeface="Arial"/>
              <a:sym typeface="Arial"/>
            </a:endParaRPr>
          </a:p>
          <a:p>
            <a:pPr indent="0" lvl="0" marL="0" rtl="0" algn="l">
              <a:lnSpc>
                <a:spcPct val="115000"/>
              </a:lnSpc>
              <a:spcBef>
                <a:spcPts val="500"/>
              </a:spcBef>
              <a:spcAft>
                <a:spcPts val="0"/>
              </a:spcAft>
              <a:buNone/>
            </a:pPr>
            <a:r>
              <a:rPr lang="zh-TW" sz="2400">
                <a:solidFill>
                  <a:schemeClr val="accent3"/>
                </a:solidFill>
                <a:latin typeface="Arial"/>
                <a:ea typeface="Arial"/>
                <a:cs typeface="Arial"/>
                <a:sym typeface="Arial"/>
              </a:rPr>
              <a:t>於是我們想以能夠跟寵物互動作為整個計畫的出發點</a:t>
            </a:r>
            <a:endParaRPr sz="2400">
              <a:solidFill>
                <a:schemeClr val="accent3"/>
              </a:solidFill>
              <a:latin typeface="Arial"/>
              <a:ea typeface="Arial"/>
              <a:cs typeface="Arial"/>
              <a:sym typeface="Arial"/>
            </a:endParaRPr>
          </a:p>
          <a:p>
            <a:pPr indent="0" lvl="0" marL="0" rtl="0" algn="l">
              <a:spcBef>
                <a:spcPts val="500"/>
              </a:spcBef>
              <a:spcAft>
                <a:spcPts val="0"/>
              </a:spcAft>
              <a:buNone/>
            </a:pPr>
            <a:r>
              <a:t/>
            </a:r>
            <a:endParaRPr sz="2400">
              <a:solidFill>
                <a:schemeClr val="accent3"/>
              </a:solidFill>
            </a:endParaRPr>
          </a:p>
        </p:txBody>
      </p:sp>
      <p:sp>
        <p:nvSpPr>
          <p:cNvPr id="61" name="Google Shape;61;p14"/>
          <p:cNvSpPr txBox="1"/>
          <p:nvPr>
            <p:ph idx="4294967295" type="ctrTitle"/>
          </p:nvPr>
        </p:nvSpPr>
        <p:spPr>
          <a:xfrm>
            <a:off x="311700" y="347545"/>
            <a:ext cx="8520600" cy="913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zh-TW" sz="4000">
                <a:solidFill>
                  <a:schemeClr val="accent1"/>
                </a:solidFill>
              </a:rPr>
              <a:t>動機目的</a:t>
            </a:r>
            <a:endParaRPr sz="4000">
              <a:solidFill>
                <a:schemeClr val="accen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5" name="Shape 65"/>
        <p:cNvGrpSpPr/>
        <p:nvPr/>
      </p:nvGrpSpPr>
      <p:grpSpPr>
        <a:xfrm>
          <a:off x="0" y="0"/>
          <a:ext cx="0" cy="0"/>
          <a:chOff x="0" y="0"/>
          <a:chExt cx="0" cy="0"/>
        </a:xfrm>
      </p:grpSpPr>
      <p:sp>
        <p:nvSpPr>
          <p:cNvPr id="66" name="Google Shape;66;p15"/>
          <p:cNvSpPr txBox="1"/>
          <p:nvPr>
            <p:ph type="ctrTitle"/>
          </p:nvPr>
        </p:nvSpPr>
        <p:spPr>
          <a:xfrm>
            <a:off x="311700" y="249125"/>
            <a:ext cx="8520600" cy="913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zh-TW" sz="4000">
                <a:solidFill>
                  <a:schemeClr val="accent1"/>
                </a:solidFill>
              </a:rPr>
              <a:t>統計資料</a:t>
            </a:r>
            <a:endParaRPr sz="4000">
              <a:solidFill>
                <a:schemeClr val="accent1"/>
              </a:solidFill>
            </a:endParaRPr>
          </a:p>
        </p:txBody>
      </p:sp>
      <p:sp>
        <p:nvSpPr>
          <p:cNvPr id="67" name="Google Shape;67;p15"/>
          <p:cNvSpPr txBox="1"/>
          <p:nvPr/>
        </p:nvSpPr>
        <p:spPr>
          <a:xfrm>
            <a:off x="464950" y="1162325"/>
            <a:ext cx="7875000" cy="308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TW" sz="2400">
                <a:solidFill>
                  <a:schemeClr val="accent3"/>
                </a:solidFill>
              </a:rPr>
              <a:t>近年來臺灣市場主要成長因素在於寵物數量成長以及臺灣民眾願意花在寵物的支出越來越高，</a:t>
            </a:r>
            <a:endParaRPr sz="2400">
              <a:solidFill>
                <a:schemeClr val="accent3"/>
              </a:solidFill>
            </a:endParaRPr>
          </a:p>
          <a:p>
            <a:pPr indent="0" lvl="0" marL="0" rtl="0" algn="l">
              <a:lnSpc>
                <a:spcPct val="115000"/>
              </a:lnSpc>
              <a:spcBef>
                <a:spcPts val="500"/>
              </a:spcBef>
              <a:spcAft>
                <a:spcPts val="0"/>
              </a:spcAft>
              <a:buNone/>
            </a:pPr>
            <a:r>
              <a:rPr lang="zh-TW" sz="2400">
                <a:solidFill>
                  <a:schemeClr val="accent3"/>
                </a:solidFill>
              </a:rPr>
              <a:t>飼主大多是具有良好消費能力的消費者，</a:t>
            </a:r>
            <a:endParaRPr sz="2400">
              <a:solidFill>
                <a:schemeClr val="accent3"/>
              </a:solidFill>
            </a:endParaRPr>
          </a:p>
          <a:p>
            <a:pPr indent="0" lvl="0" marL="0" rtl="0" algn="l">
              <a:lnSpc>
                <a:spcPct val="115000"/>
              </a:lnSpc>
              <a:spcBef>
                <a:spcPts val="500"/>
              </a:spcBef>
              <a:spcAft>
                <a:spcPts val="500"/>
              </a:spcAft>
              <a:buNone/>
            </a:pPr>
            <a:r>
              <a:rPr lang="zh-TW" sz="2400">
                <a:solidFill>
                  <a:schemeClr val="accent3"/>
                </a:solidFill>
              </a:rPr>
              <a:t>反映出飼主的「心理需求」遠超過動物的「生理需求」。</a:t>
            </a:r>
            <a:endParaRPr sz="2400">
              <a:solidFill>
                <a:schemeClr val="accent3"/>
              </a:solidFill>
            </a:endParaRPr>
          </a:p>
        </p:txBody>
      </p:sp>
      <p:pic>
        <p:nvPicPr>
          <p:cNvPr id="68" name="Google Shape;68;p15"/>
          <p:cNvPicPr preferRelativeResize="0"/>
          <p:nvPr/>
        </p:nvPicPr>
        <p:blipFill>
          <a:blip r:embed="rId3">
            <a:alphaModFix/>
          </a:blip>
          <a:stretch>
            <a:fillRect/>
          </a:stretch>
        </p:blipFill>
        <p:spPr>
          <a:xfrm>
            <a:off x="4571997" y="3349303"/>
            <a:ext cx="2781010" cy="1794200"/>
          </a:xfrm>
          <a:prstGeom prst="rect">
            <a:avLst/>
          </a:prstGeom>
          <a:noFill/>
          <a:ln>
            <a:noFill/>
          </a:ln>
        </p:spPr>
      </p:pic>
      <p:pic>
        <p:nvPicPr>
          <p:cNvPr id="69" name="Google Shape;69;p15"/>
          <p:cNvPicPr preferRelativeResize="0"/>
          <p:nvPr/>
        </p:nvPicPr>
        <p:blipFill>
          <a:blip r:embed="rId4">
            <a:alphaModFix/>
          </a:blip>
          <a:stretch>
            <a:fillRect/>
          </a:stretch>
        </p:blipFill>
        <p:spPr>
          <a:xfrm>
            <a:off x="1066387" y="3349300"/>
            <a:ext cx="3189686" cy="17941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3" name="Shape 73"/>
        <p:cNvGrpSpPr/>
        <p:nvPr/>
      </p:nvGrpSpPr>
      <p:grpSpPr>
        <a:xfrm>
          <a:off x="0" y="0"/>
          <a:ext cx="0" cy="0"/>
          <a:chOff x="0" y="0"/>
          <a:chExt cx="0" cy="0"/>
        </a:xfrm>
      </p:grpSpPr>
      <p:pic>
        <p:nvPicPr>
          <p:cNvPr id="74" name="Google Shape;74;p16"/>
          <p:cNvPicPr preferRelativeResize="0"/>
          <p:nvPr/>
        </p:nvPicPr>
        <p:blipFill>
          <a:blip r:embed="rId3">
            <a:alphaModFix/>
          </a:blip>
          <a:stretch>
            <a:fillRect/>
          </a:stretch>
        </p:blipFill>
        <p:spPr>
          <a:xfrm>
            <a:off x="6684450" y="2910802"/>
            <a:ext cx="2459550" cy="2232699"/>
          </a:xfrm>
          <a:prstGeom prst="rect">
            <a:avLst/>
          </a:prstGeom>
          <a:noFill/>
          <a:ln>
            <a:noFill/>
          </a:ln>
        </p:spPr>
      </p:pic>
      <p:sp>
        <p:nvSpPr>
          <p:cNvPr id="75" name="Google Shape;75;p16"/>
          <p:cNvSpPr txBox="1"/>
          <p:nvPr>
            <p:ph type="ctrTitle"/>
          </p:nvPr>
        </p:nvSpPr>
        <p:spPr>
          <a:xfrm>
            <a:off x="311700" y="0"/>
            <a:ext cx="8520600" cy="1162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zh-TW" sz="4000">
                <a:solidFill>
                  <a:schemeClr val="accent1"/>
                </a:solidFill>
              </a:rPr>
              <a:t>統計資料</a:t>
            </a:r>
            <a:endParaRPr sz="4000">
              <a:solidFill>
                <a:schemeClr val="accent1"/>
              </a:solidFill>
            </a:endParaRPr>
          </a:p>
        </p:txBody>
      </p:sp>
      <p:sp>
        <p:nvSpPr>
          <p:cNvPr id="76" name="Google Shape;76;p16"/>
          <p:cNvSpPr txBox="1"/>
          <p:nvPr/>
        </p:nvSpPr>
        <p:spPr>
          <a:xfrm>
            <a:off x="464950" y="1162325"/>
            <a:ext cx="7875000" cy="308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TW" sz="2400">
                <a:solidFill>
                  <a:schemeClr val="accent3"/>
                </a:solidFill>
              </a:rPr>
              <a:t>近三成五消費者目前有飼養寵物，</a:t>
            </a:r>
            <a:endParaRPr sz="2400">
              <a:solidFill>
                <a:schemeClr val="accent3"/>
              </a:solidFill>
            </a:endParaRPr>
          </a:p>
          <a:p>
            <a:pPr indent="0" lvl="0" marL="0" rtl="0" algn="l">
              <a:lnSpc>
                <a:spcPct val="115000"/>
              </a:lnSpc>
              <a:spcBef>
                <a:spcPts val="500"/>
              </a:spcBef>
              <a:spcAft>
                <a:spcPts val="0"/>
              </a:spcAft>
              <a:buNone/>
            </a:pPr>
            <a:r>
              <a:rPr lang="zh-TW" sz="2400">
                <a:solidFill>
                  <a:schemeClr val="accent3"/>
                </a:solidFill>
              </a:rPr>
              <a:t>根據全國意向Lifewin線上市調網的調查結果顯示，</a:t>
            </a:r>
            <a:endParaRPr sz="2400">
              <a:solidFill>
                <a:schemeClr val="accent3"/>
              </a:solidFill>
            </a:endParaRPr>
          </a:p>
          <a:p>
            <a:pPr indent="0" lvl="0" marL="0" rtl="0" algn="l">
              <a:lnSpc>
                <a:spcPct val="115000"/>
              </a:lnSpc>
              <a:spcBef>
                <a:spcPts val="500"/>
              </a:spcBef>
              <a:spcAft>
                <a:spcPts val="0"/>
              </a:spcAft>
              <a:buNone/>
            </a:pPr>
            <a:r>
              <a:rPr lang="zh-TW" sz="2400">
                <a:solidFill>
                  <a:schemeClr val="accent3"/>
                </a:solidFill>
              </a:rPr>
              <a:t>有34.5%的消費者目前有飼養寵物，</a:t>
            </a:r>
            <a:endParaRPr sz="2400">
              <a:solidFill>
                <a:schemeClr val="accent3"/>
              </a:solidFill>
            </a:endParaRPr>
          </a:p>
          <a:p>
            <a:pPr indent="0" lvl="0" marL="0" rtl="0" algn="l">
              <a:lnSpc>
                <a:spcPct val="115000"/>
              </a:lnSpc>
              <a:spcBef>
                <a:spcPts val="500"/>
              </a:spcBef>
              <a:spcAft>
                <a:spcPts val="0"/>
              </a:spcAft>
              <a:buNone/>
            </a:pPr>
            <a:r>
              <a:rPr lang="zh-TW" sz="2400">
                <a:solidFill>
                  <a:schemeClr val="accent3"/>
                </a:solidFill>
              </a:rPr>
              <a:t>其中有51.7%的消費者目前飼養的寵物類型為狗，</a:t>
            </a:r>
            <a:endParaRPr sz="2400">
              <a:solidFill>
                <a:schemeClr val="accent3"/>
              </a:solidFill>
            </a:endParaRPr>
          </a:p>
          <a:p>
            <a:pPr indent="0" lvl="0" marL="0" rtl="0" algn="l">
              <a:lnSpc>
                <a:spcPct val="115000"/>
              </a:lnSpc>
              <a:spcBef>
                <a:spcPts val="500"/>
              </a:spcBef>
              <a:spcAft>
                <a:spcPts val="0"/>
              </a:spcAft>
              <a:buNone/>
            </a:pPr>
            <a:r>
              <a:rPr lang="zh-TW" sz="2400">
                <a:solidFill>
                  <a:schemeClr val="accent3"/>
                </a:solidFill>
              </a:rPr>
              <a:t>其次則為貓(27.2%)及水族魚(25.5%)。</a:t>
            </a:r>
            <a:endParaRPr sz="2400">
              <a:solidFill>
                <a:schemeClr val="accent3"/>
              </a:solidFill>
            </a:endParaRPr>
          </a:p>
          <a:p>
            <a:pPr indent="0" lvl="0" marL="0" rtl="0" algn="l">
              <a:lnSpc>
                <a:spcPct val="115000"/>
              </a:lnSpc>
              <a:spcBef>
                <a:spcPts val="500"/>
              </a:spcBef>
              <a:spcAft>
                <a:spcPts val="0"/>
              </a:spcAft>
              <a:buNone/>
            </a:pPr>
            <a:r>
              <a:rPr lang="zh-TW" sz="2400">
                <a:solidFill>
                  <a:schemeClr val="accent3"/>
                </a:solidFill>
              </a:rPr>
              <a:t>然而,養狗飼養2隻狗以上(含)的飼主只有27.8%，</a:t>
            </a:r>
            <a:endParaRPr sz="2400">
              <a:solidFill>
                <a:schemeClr val="accent3"/>
              </a:solidFill>
            </a:endParaRPr>
          </a:p>
          <a:p>
            <a:pPr indent="0" lvl="0" marL="0" rtl="0" algn="l">
              <a:lnSpc>
                <a:spcPct val="115000"/>
              </a:lnSpc>
              <a:spcBef>
                <a:spcPts val="500"/>
              </a:spcBef>
              <a:spcAft>
                <a:spcPts val="0"/>
              </a:spcAft>
              <a:buNone/>
            </a:pPr>
            <a:r>
              <a:rPr lang="zh-TW" sz="2400">
                <a:solidFill>
                  <a:schemeClr val="accent3"/>
                </a:solidFill>
              </a:rPr>
              <a:t>但是飼養2隻貓以上(含)的飼主卻高達47.1%，</a:t>
            </a:r>
            <a:endParaRPr sz="2400">
              <a:solidFill>
                <a:schemeClr val="accent3"/>
              </a:solidFill>
            </a:endParaRPr>
          </a:p>
          <a:p>
            <a:pPr indent="0" lvl="0" marL="0" rtl="0" algn="l">
              <a:lnSpc>
                <a:spcPct val="115000"/>
              </a:lnSpc>
              <a:spcBef>
                <a:spcPts val="500"/>
              </a:spcBef>
              <a:spcAft>
                <a:spcPts val="500"/>
              </a:spcAft>
              <a:buNone/>
            </a:pPr>
            <a:r>
              <a:rPr lang="zh-TW" sz="2400">
                <a:solidFill>
                  <a:schemeClr val="accent3"/>
                </a:solidFill>
              </a:rPr>
              <a:t>這意味著平均每位貓飼主比狗飼主飼養更多的寵物。</a:t>
            </a:r>
            <a:endParaRPr sz="2400">
              <a:solidFill>
                <a:schemeClr val="accent3"/>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0" name="Shape 80"/>
        <p:cNvGrpSpPr/>
        <p:nvPr/>
      </p:nvGrpSpPr>
      <p:grpSpPr>
        <a:xfrm>
          <a:off x="0" y="0"/>
          <a:ext cx="0" cy="0"/>
          <a:chOff x="0" y="0"/>
          <a:chExt cx="0" cy="0"/>
        </a:xfrm>
      </p:grpSpPr>
      <p:sp>
        <p:nvSpPr>
          <p:cNvPr id="81" name="Google Shape;81;p17"/>
          <p:cNvSpPr txBox="1"/>
          <p:nvPr>
            <p:ph type="ctrTitle"/>
          </p:nvPr>
        </p:nvSpPr>
        <p:spPr>
          <a:xfrm>
            <a:off x="311700" y="249125"/>
            <a:ext cx="8520600" cy="913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zh-TW" sz="4000">
                <a:solidFill>
                  <a:schemeClr val="accent1"/>
                </a:solidFill>
              </a:rPr>
              <a:t> 相關文獻</a:t>
            </a:r>
            <a:endParaRPr sz="4000">
              <a:solidFill>
                <a:schemeClr val="accent1"/>
              </a:solidFill>
            </a:endParaRPr>
          </a:p>
        </p:txBody>
      </p:sp>
      <p:sp>
        <p:nvSpPr>
          <p:cNvPr id="82" name="Google Shape;82;p17"/>
          <p:cNvSpPr txBox="1"/>
          <p:nvPr/>
        </p:nvSpPr>
        <p:spPr>
          <a:xfrm>
            <a:off x="130775" y="1333700"/>
            <a:ext cx="8520600" cy="198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2350">
                <a:solidFill>
                  <a:schemeClr val="accent3"/>
                </a:solidFill>
              </a:rPr>
              <a:t>美國兒童心理學家列文森（Boris Levinson）--寵物出現在診療間時  為心理問題和社交障礙所苦的孩童似乎更樂意和治療師對話</a:t>
            </a:r>
            <a:endParaRPr sz="2350">
              <a:solidFill>
                <a:schemeClr val="accent3"/>
              </a:solidFill>
            </a:endParaRPr>
          </a:p>
          <a:p>
            <a:pPr indent="0" lvl="0" marL="0" rtl="0" algn="l">
              <a:spcBef>
                <a:spcPts val="0"/>
              </a:spcBef>
              <a:spcAft>
                <a:spcPts val="0"/>
              </a:spcAft>
              <a:buNone/>
            </a:pPr>
            <a:r>
              <a:t/>
            </a:r>
            <a:endParaRPr sz="2350">
              <a:solidFill>
                <a:schemeClr val="accent3"/>
              </a:solidFill>
            </a:endParaRPr>
          </a:p>
          <a:p>
            <a:pPr indent="0" lvl="0" marL="0" rtl="0" algn="l">
              <a:spcBef>
                <a:spcPts val="0"/>
              </a:spcBef>
              <a:spcAft>
                <a:spcPts val="0"/>
              </a:spcAft>
              <a:buNone/>
            </a:pPr>
            <a:r>
              <a:rPr lang="zh-TW" sz="2350">
                <a:solidFill>
                  <a:schemeClr val="accent3"/>
                </a:solidFill>
              </a:rPr>
              <a:t>心理學家羅布（Vanessa LoBue）--在寵物與人工玩具兩個選項中， 兒童選擇與玩具為伍</a:t>
            </a:r>
            <a:endParaRPr sz="2350">
              <a:solidFill>
                <a:schemeClr val="accent3"/>
              </a:solidFill>
            </a:endParaRPr>
          </a:p>
          <a:p>
            <a:pPr indent="0" lvl="0" marL="0" rtl="0" algn="l">
              <a:spcBef>
                <a:spcPts val="0"/>
              </a:spcBef>
              <a:spcAft>
                <a:spcPts val="0"/>
              </a:spcAft>
              <a:buNone/>
            </a:pPr>
            <a:r>
              <a:t/>
            </a:r>
            <a:endParaRPr sz="2350">
              <a:solidFill>
                <a:schemeClr val="accent3"/>
              </a:solidFill>
            </a:endParaRPr>
          </a:p>
          <a:p>
            <a:pPr indent="0" lvl="0" marL="0" rtl="0" algn="l">
              <a:spcBef>
                <a:spcPts val="0"/>
              </a:spcBef>
              <a:spcAft>
                <a:spcPts val="0"/>
              </a:spcAft>
              <a:buNone/>
            </a:pPr>
            <a:r>
              <a:rPr lang="zh-TW" sz="2350">
                <a:solidFill>
                  <a:schemeClr val="accent3"/>
                </a:solidFill>
              </a:rPr>
              <a:t>艾倫腦科學研究所的柯霍（Christof Koch）--在掌管情緒的重要腦區，例如杏仁體（amygdala）中，有一部份的神經元對動物圖片產生特別強烈的反應    人類對動物的情緒反應具有生理基礎</a:t>
            </a:r>
            <a:endParaRPr sz="2350">
              <a:solidFill>
                <a:schemeClr val="accent3"/>
              </a:solidFill>
            </a:endParaRPr>
          </a:p>
          <a:p>
            <a:pPr indent="0" lvl="0" marL="0" rtl="0" algn="l">
              <a:spcBef>
                <a:spcPts val="0"/>
              </a:spcBef>
              <a:spcAft>
                <a:spcPts val="0"/>
              </a:spcAft>
              <a:buNone/>
            </a:pPr>
            <a:r>
              <a:t/>
            </a:r>
            <a:endParaRPr sz="2350">
              <a:solidFill>
                <a:schemeClr val="accent3"/>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6" name="Shape 86"/>
        <p:cNvGrpSpPr/>
        <p:nvPr/>
      </p:nvGrpSpPr>
      <p:grpSpPr>
        <a:xfrm>
          <a:off x="0" y="0"/>
          <a:ext cx="0" cy="0"/>
          <a:chOff x="0" y="0"/>
          <a:chExt cx="0" cy="0"/>
        </a:xfrm>
      </p:grpSpPr>
      <p:sp>
        <p:nvSpPr>
          <p:cNvPr id="87" name="Google Shape;87;p18"/>
          <p:cNvSpPr txBox="1"/>
          <p:nvPr>
            <p:ph type="ctrTitle"/>
          </p:nvPr>
        </p:nvSpPr>
        <p:spPr>
          <a:xfrm>
            <a:off x="311700" y="146675"/>
            <a:ext cx="8520600" cy="913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zh-TW" sz="4000">
                <a:solidFill>
                  <a:schemeClr val="accent5"/>
                </a:solidFill>
              </a:rPr>
              <a:t> </a:t>
            </a:r>
            <a:r>
              <a:rPr lang="zh-TW" sz="4000">
                <a:solidFill>
                  <a:schemeClr val="accent5"/>
                </a:solidFill>
              </a:rPr>
              <a:t>相關文獻</a:t>
            </a:r>
            <a:endParaRPr sz="4000">
              <a:solidFill>
                <a:schemeClr val="accent5"/>
              </a:solidFill>
            </a:endParaRPr>
          </a:p>
        </p:txBody>
      </p:sp>
      <p:sp>
        <p:nvSpPr>
          <p:cNvPr id="88" name="Google Shape;88;p18"/>
          <p:cNvSpPr txBox="1"/>
          <p:nvPr/>
        </p:nvSpPr>
        <p:spPr>
          <a:xfrm>
            <a:off x="388350" y="864150"/>
            <a:ext cx="8367300" cy="407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2400">
                <a:solidFill>
                  <a:schemeClr val="accent1"/>
                </a:solidFill>
              </a:rPr>
              <a:t>相關論文 寵物與人類的關係： 心理學視角的探討</a:t>
            </a:r>
            <a:endParaRPr sz="2400">
              <a:solidFill>
                <a:schemeClr val="accent1"/>
              </a:solidFill>
            </a:endParaRPr>
          </a:p>
          <a:p>
            <a:pPr indent="0" lvl="0" marL="0" rtl="0" algn="l">
              <a:spcBef>
                <a:spcPts val="0"/>
              </a:spcBef>
              <a:spcAft>
                <a:spcPts val="0"/>
              </a:spcAft>
              <a:buNone/>
            </a:pPr>
            <a:r>
              <a:rPr lang="zh-TW" sz="2400" u="sng">
                <a:solidFill>
                  <a:schemeClr val="hlink"/>
                </a:solidFill>
                <a:hlinkClick r:id="rId3"/>
              </a:rPr>
              <a:t>https://www.researchgate.net/publication/323986552_chongwuyurenleideguanxixinlixueshijiaodetantao</a:t>
            </a:r>
            <a:endParaRPr sz="2400">
              <a:solidFill>
                <a:schemeClr val="accent1"/>
              </a:solidFill>
            </a:endParaRPr>
          </a:p>
          <a:p>
            <a:pPr indent="0" lvl="0" marL="0" rtl="0" algn="l">
              <a:spcBef>
                <a:spcPts val="0"/>
              </a:spcBef>
              <a:spcAft>
                <a:spcPts val="0"/>
              </a:spcAft>
              <a:buNone/>
            </a:pPr>
            <a:r>
              <a:t/>
            </a:r>
            <a:endParaRPr sz="2400">
              <a:solidFill>
                <a:schemeClr val="accent1"/>
              </a:solidFill>
            </a:endParaRPr>
          </a:p>
          <a:p>
            <a:pPr indent="0" lvl="0" marL="0" rtl="0" algn="l">
              <a:spcBef>
                <a:spcPts val="0"/>
              </a:spcBef>
              <a:spcAft>
                <a:spcPts val="0"/>
              </a:spcAft>
              <a:buNone/>
            </a:pPr>
            <a:r>
              <a:rPr lang="zh-TW" sz="2400">
                <a:solidFill>
                  <a:schemeClr val="accent1"/>
                </a:solidFill>
              </a:rPr>
              <a:t>-- 與寵物的互動可以讓人體釋放舒壓、增進免疫系統的賀爾蒙</a:t>
            </a:r>
            <a:endParaRPr sz="2400">
              <a:solidFill>
                <a:schemeClr val="accent1"/>
              </a:solidFill>
            </a:endParaRPr>
          </a:p>
          <a:p>
            <a:pPr indent="0" lvl="0" marL="0" rtl="0" algn="l">
              <a:spcBef>
                <a:spcPts val="0"/>
              </a:spcBef>
              <a:spcAft>
                <a:spcPts val="0"/>
              </a:spcAft>
              <a:buNone/>
            </a:pPr>
            <a:r>
              <a:rPr lang="zh-TW" sz="2400">
                <a:solidFill>
                  <a:schemeClr val="accent1"/>
                </a:solidFill>
              </a:rPr>
              <a:t>-- 與脾氣相同的寵物互動， 會讓人類與寵物的依賴關係更顯卓</a:t>
            </a:r>
            <a:endParaRPr sz="2400">
              <a:solidFill>
                <a:schemeClr val="accent1"/>
              </a:solidFill>
            </a:endParaRPr>
          </a:p>
          <a:p>
            <a:pPr indent="0" lvl="0" marL="0" rtl="0" algn="l">
              <a:spcBef>
                <a:spcPts val="0"/>
              </a:spcBef>
              <a:spcAft>
                <a:spcPts val="0"/>
              </a:spcAft>
              <a:buNone/>
            </a:pPr>
            <a:r>
              <a:rPr lang="zh-TW" sz="2400">
                <a:solidFill>
                  <a:schemeClr val="accent1"/>
                </a:solidFill>
              </a:rPr>
              <a:t>--人類與寵物間的照料關係, 遠比一般人際關係真誠，照料關係的反饋也對人類有極大的助益</a:t>
            </a:r>
            <a:endParaRPr sz="2400">
              <a:solidFill>
                <a:schemeClr val="accent1"/>
              </a:solidFill>
            </a:endParaRPr>
          </a:p>
          <a:p>
            <a:pPr indent="0" lvl="0" marL="0" rtl="0" algn="l">
              <a:spcBef>
                <a:spcPts val="0"/>
              </a:spcBef>
              <a:spcAft>
                <a:spcPts val="0"/>
              </a:spcAft>
              <a:buNone/>
            </a:pPr>
            <a:r>
              <a:t/>
            </a:r>
            <a:endParaRPr sz="2400">
              <a:solidFill>
                <a:schemeClr val="accen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