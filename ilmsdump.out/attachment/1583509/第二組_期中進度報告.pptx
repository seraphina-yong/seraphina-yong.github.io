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70" r:id="rId10"/>
    <p:sldId id="271" r:id="rId11"/>
    <p:sldId id="264" r:id="rId12"/>
    <p:sldId id="265" r:id="rId13"/>
    <p:sldId id="266" r:id="rId14"/>
    <p:sldId id="267" r:id="rId15"/>
    <p:sldId id="268" r:id="rId16"/>
    <p:sldId id="269"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4AD657-7922-42BA-AB30-0E5990912C54}" type="doc">
      <dgm:prSet loTypeId="urn:microsoft.com/office/officeart/2005/8/layout/pyramid2" loCatId="list" qsTypeId="urn:microsoft.com/office/officeart/2005/8/quickstyle/simple1" qsCatId="simple" csTypeId="urn:microsoft.com/office/officeart/2005/8/colors/accent2_5" csCatId="accent2" phldr="1"/>
      <dgm:spPr/>
      <dgm:t>
        <a:bodyPr/>
        <a:lstStyle/>
        <a:p>
          <a:endParaRPr lang="zh-TW" altLang="en-US"/>
        </a:p>
      </dgm:t>
    </dgm:pt>
    <dgm:pt modelId="{45FD5B0B-226E-4299-90EC-F6BDF0053572}">
      <dgm:prSet custT="1"/>
      <dgm:spPr/>
      <dgm:t>
        <a:bodyPr/>
        <a:lstStyle/>
        <a:p>
          <a:r>
            <a:rPr lang="zh-TW" altLang="en-US" sz="2800" b="1" dirty="0" smtClean="0">
              <a:latin typeface="微軟正黑體" panose="020B0604030504040204" pitchFamily="34" charset="-120"/>
              <a:ea typeface="微軟正黑體" panose="020B0604030504040204" pitchFamily="34" charset="-120"/>
            </a:rPr>
            <a:t>幫助內向的人交朋友</a:t>
          </a:r>
          <a:endParaRPr lang="zh-TW" altLang="en-US" sz="2800" b="1" dirty="0">
            <a:latin typeface="微軟正黑體" panose="020B0604030504040204" pitchFamily="34" charset="-120"/>
            <a:ea typeface="微軟正黑體" panose="020B0604030504040204" pitchFamily="34" charset="-120"/>
          </a:endParaRPr>
        </a:p>
      </dgm:t>
    </dgm:pt>
    <dgm:pt modelId="{7F9D7733-2746-4DFA-86DD-48B0F089E1AD}" type="parTrans" cxnId="{70B99297-5321-463B-B9BA-91CBC46737BC}">
      <dgm:prSet/>
      <dgm:spPr/>
      <dgm:t>
        <a:bodyPr/>
        <a:lstStyle/>
        <a:p>
          <a:endParaRPr lang="zh-TW" altLang="en-US"/>
        </a:p>
      </dgm:t>
    </dgm:pt>
    <dgm:pt modelId="{B7B49C7B-3A84-4A5C-A80A-33EF31A19336}" type="sibTrans" cxnId="{70B99297-5321-463B-B9BA-91CBC46737BC}">
      <dgm:prSet/>
      <dgm:spPr/>
      <dgm:t>
        <a:bodyPr/>
        <a:lstStyle/>
        <a:p>
          <a:endParaRPr lang="zh-TW" altLang="en-US"/>
        </a:p>
      </dgm:t>
    </dgm:pt>
    <dgm:pt modelId="{64C40C7B-FBC8-4C63-9551-0DA294896C7A}">
      <dgm:prSet custT="1"/>
      <dgm:spPr/>
      <dgm:t>
        <a:bodyPr/>
        <a:lstStyle/>
        <a:p>
          <a:r>
            <a:rPr lang="zh-TW" altLang="en-US" sz="2800" b="1" dirty="0" smtClean="0">
              <a:latin typeface="微軟正黑體" panose="020B0604030504040204" pitchFamily="34" charset="-120"/>
              <a:ea typeface="微軟正黑體" panose="020B0604030504040204" pitchFamily="34" charset="-120"/>
            </a:rPr>
            <a:t>兼顧隱私性及安全性</a:t>
          </a:r>
          <a:endParaRPr lang="zh-TW" altLang="en-US" sz="2800" b="1" dirty="0">
            <a:latin typeface="微軟正黑體" panose="020B0604030504040204" pitchFamily="34" charset="-120"/>
            <a:ea typeface="微軟正黑體" panose="020B0604030504040204" pitchFamily="34" charset="-120"/>
          </a:endParaRPr>
        </a:p>
      </dgm:t>
    </dgm:pt>
    <dgm:pt modelId="{EE759BF5-F46F-4B3C-8387-2D49ABDD718B}" type="parTrans" cxnId="{AF2D55BE-BFB8-4ED4-85BF-2611E84D55AD}">
      <dgm:prSet/>
      <dgm:spPr/>
      <dgm:t>
        <a:bodyPr/>
        <a:lstStyle/>
        <a:p>
          <a:endParaRPr lang="zh-TW" altLang="en-US"/>
        </a:p>
      </dgm:t>
    </dgm:pt>
    <dgm:pt modelId="{EFA903C9-B0D9-4A89-977A-9111C96C94CD}" type="sibTrans" cxnId="{AF2D55BE-BFB8-4ED4-85BF-2611E84D55AD}">
      <dgm:prSet/>
      <dgm:spPr/>
      <dgm:t>
        <a:bodyPr/>
        <a:lstStyle/>
        <a:p>
          <a:endParaRPr lang="zh-TW" altLang="en-US"/>
        </a:p>
      </dgm:t>
    </dgm:pt>
    <dgm:pt modelId="{FCECEC82-E292-4ABF-A4A9-10C4F3DD2C3F}">
      <dgm:prSet custT="1"/>
      <dgm:spPr/>
      <dgm:t>
        <a:bodyPr/>
        <a:lstStyle/>
        <a:p>
          <a:r>
            <a:rPr lang="zh-TW" altLang="en-US" sz="2800" b="1" dirty="0" smtClean="0">
              <a:latin typeface="微軟正黑體" panose="020B0604030504040204" pitchFamily="34" charset="-120"/>
              <a:ea typeface="微軟正黑體" panose="020B0604030504040204" pitchFamily="34" charset="-120"/>
            </a:rPr>
            <a:t>首推專屬同一校園內的交友軟體</a:t>
          </a:r>
          <a:endParaRPr lang="zh-TW" altLang="en-US" sz="2800" b="1" dirty="0">
            <a:latin typeface="微軟正黑體" panose="020B0604030504040204" pitchFamily="34" charset="-120"/>
            <a:ea typeface="微軟正黑體" panose="020B0604030504040204" pitchFamily="34" charset="-120"/>
          </a:endParaRPr>
        </a:p>
      </dgm:t>
    </dgm:pt>
    <dgm:pt modelId="{49CFC416-77DF-411B-823A-6855B46B0937}" type="parTrans" cxnId="{E08EB88E-E14B-414A-B49D-6363EFA8BB22}">
      <dgm:prSet/>
      <dgm:spPr/>
      <dgm:t>
        <a:bodyPr/>
        <a:lstStyle/>
        <a:p>
          <a:endParaRPr lang="zh-TW" altLang="en-US"/>
        </a:p>
      </dgm:t>
    </dgm:pt>
    <dgm:pt modelId="{99BC3270-3B8D-4880-9D3C-703D6A7112E3}" type="sibTrans" cxnId="{E08EB88E-E14B-414A-B49D-6363EFA8BB22}">
      <dgm:prSet/>
      <dgm:spPr/>
      <dgm:t>
        <a:bodyPr/>
        <a:lstStyle/>
        <a:p>
          <a:endParaRPr lang="zh-TW" altLang="en-US"/>
        </a:p>
      </dgm:t>
    </dgm:pt>
    <dgm:pt modelId="{0CA55D1D-E458-4342-9F69-D85011A48B68}" type="pres">
      <dgm:prSet presAssocID="{7B4AD657-7922-42BA-AB30-0E5990912C54}" presName="compositeShape" presStyleCnt="0">
        <dgm:presLayoutVars>
          <dgm:dir/>
          <dgm:resizeHandles/>
        </dgm:presLayoutVars>
      </dgm:prSet>
      <dgm:spPr/>
      <dgm:t>
        <a:bodyPr/>
        <a:lstStyle/>
        <a:p>
          <a:endParaRPr lang="zh-TW" altLang="en-US"/>
        </a:p>
      </dgm:t>
    </dgm:pt>
    <dgm:pt modelId="{90B75B75-C8E2-41D0-9B2F-9FD855CA704D}" type="pres">
      <dgm:prSet presAssocID="{7B4AD657-7922-42BA-AB30-0E5990912C54}" presName="pyramid" presStyleLbl="node1" presStyleIdx="0" presStyleCnt="1"/>
      <dgm:spPr/>
    </dgm:pt>
    <dgm:pt modelId="{87F67D83-744E-4AF0-AA9D-999A70CE8E4B}" type="pres">
      <dgm:prSet presAssocID="{7B4AD657-7922-42BA-AB30-0E5990912C54}" presName="theList" presStyleCnt="0"/>
      <dgm:spPr/>
    </dgm:pt>
    <dgm:pt modelId="{7EC78A56-3B74-4776-902D-4D38995270EF}" type="pres">
      <dgm:prSet presAssocID="{45FD5B0B-226E-4299-90EC-F6BDF0053572}" presName="aNode" presStyleLbl="fgAcc1" presStyleIdx="0" presStyleCnt="3" custScaleX="110262">
        <dgm:presLayoutVars>
          <dgm:bulletEnabled val="1"/>
        </dgm:presLayoutVars>
      </dgm:prSet>
      <dgm:spPr/>
      <dgm:t>
        <a:bodyPr/>
        <a:lstStyle/>
        <a:p>
          <a:endParaRPr lang="zh-TW" altLang="en-US"/>
        </a:p>
      </dgm:t>
    </dgm:pt>
    <dgm:pt modelId="{2AEBDD2E-9506-4515-955A-880D1165A11C}" type="pres">
      <dgm:prSet presAssocID="{45FD5B0B-226E-4299-90EC-F6BDF0053572}" presName="aSpace" presStyleCnt="0"/>
      <dgm:spPr/>
    </dgm:pt>
    <dgm:pt modelId="{7F8F6F57-97F3-4956-9D42-4350306BE12B}" type="pres">
      <dgm:prSet presAssocID="{64C40C7B-FBC8-4C63-9551-0DA294896C7A}" presName="aNode" presStyleLbl="fgAcc1" presStyleIdx="1" presStyleCnt="3" custScaleX="111005">
        <dgm:presLayoutVars>
          <dgm:bulletEnabled val="1"/>
        </dgm:presLayoutVars>
      </dgm:prSet>
      <dgm:spPr/>
      <dgm:t>
        <a:bodyPr/>
        <a:lstStyle/>
        <a:p>
          <a:endParaRPr lang="zh-TW" altLang="en-US"/>
        </a:p>
      </dgm:t>
    </dgm:pt>
    <dgm:pt modelId="{374DB88B-D715-46AE-8CDE-B138B3B2422F}" type="pres">
      <dgm:prSet presAssocID="{64C40C7B-FBC8-4C63-9551-0DA294896C7A}" presName="aSpace" presStyleCnt="0"/>
      <dgm:spPr/>
    </dgm:pt>
    <dgm:pt modelId="{807EF6DD-D2B4-42F3-B946-59902FD0279B}" type="pres">
      <dgm:prSet presAssocID="{FCECEC82-E292-4ABF-A4A9-10C4F3DD2C3F}" presName="aNode" presStyleLbl="fgAcc1" presStyleIdx="2" presStyleCnt="3" custScaleX="114302">
        <dgm:presLayoutVars>
          <dgm:bulletEnabled val="1"/>
        </dgm:presLayoutVars>
      </dgm:prSet>
      <dgm:spPr/>
      <dgm:t>
        <a:bodyPr/>
        <a:lstStyle/>
        <a:p>
          <a:endParaRPr lang="zh-TW" altLang="en-US"/>
        </a:p>
      </dgm:t>
    </dgm:pt>
    <dgm:pt modelId="{01E395ED-FF83-4FF0-9842-E2114A30077D}" type="pres">
      <dgm:prSet presAssocID="{FCECEC82-E292-4ABF-A4A9-10C4F3DD2C3F}" presName="aSpace" presStyleCnt="0"/>
      <dgm:spPr/>
    </dgm:pt>
  </dgm:ptLst>
  <dgm:cxnLst>
    <dgm:cxn modelId="{E08EB88E-E14B-414A-B49D-6363EFA8BB22}" srcId="{7B4AD657-7922-42BA-AB30-0E5990912C54}" destId="{FCECEC82-E292-4ABF-A4A9-10C4F3DD2C3F}" srcOrd="2" destOrd="0" parTransId="{49CFC416-77DF-411B-823A-6855B46B0937}" sibTransId="{99BC3270-3B8D-4880-9D3C-703D6A7112E3}"/>
    <dgm:cxn modelId="{7E7F1EEC-CB94-4572-8C81-47BD9131B90C}" type="presOf" srcId="{45FD5B0B-226E-4299-90EC-F6BDF0053572}" destId="{7EC78A56-3B74-4776-902D-4D38995270EF}" srcOrd="0" destOrd="0" presId="urn:microsoft.com/office/officeart/2005/8/layout/pyramid2"/>
    <dgm:cxn modelId="{EB41E9BB-3950-41A1-A919-B2CAF861A511}" type="presOf" srcId="{64C40C7B-FBC8-4C63-9551-0DA294896C7A}" destId="{7F8F6F57-97F3-4956-9D42-4350306BE12B}" srcOrd="0" destOrd="0" presId="urn:microsoft.com/office/officeart/2005/8/layout/pyramid2"/>
    <dgm:cxn modelId="{AF2D55BE-BFB8-4ED4-85BF-2611E84D55AD}" srcId="{7B4AD657-7922-42BA-AB30-0E5990912C54}" destId="{64C40C7B-FBC8-4C63-9551-0DA294896C7A}" srcOrd="1" destOrd="0" parTransId="{EE759BF5-F46F-4B3C-8387-2D49ABDD718B}" sibTransId="{EFA903C9-B0D9-4A89-977A-9111C96C94CD}"/>
    <dgm:cxn modelId="{5E4D9E2C-7E51-4215-AA38-3D84F051E96D}" type="presOf" srcId="{FCECEC82-E292-4ABF-A4A9-10C4F3DD2C3F}" destId="{807EF6DD-D2B4-42F3-B946-59902FD0279B}" srcOrd="0" destOrd="0" presId="urn:microsoft.com/office/officeart/2005/8/layout/pyramid2"/>
    <dgm:cxn modelId="{70B99297-5321-463B-B9BA-91CBC46737BC}" srcId="{7B4AD657-7922-42BA-AB30-0E5990912C54}" destId="{45FD5B0B-226E-4299-90EC-F6BDF0053572}" srcOrd="0" destOrd="0" parTransId="{7F9D7733-2746-4DFA-86DD-48B0F089E1AD}" sibTransId="{B7B49C7B-3A84-4A5C-A80A-33EF31A19336}"/>
    <dgm:cxn modelId="{C3C937A4-D76C-47ED-ACB3-7401E43CBF15}" type="presOf" srcId="{7B4AD657-7922-42BA-AB30-0E5990912C54}" destId="{0CA55D1D-E458-4342-9F69-D85011A48B68}" srcOrd="0" destOrd="0" presId="urn:microsoft.com/office/officeart/2005/8/layout/pyramid2"/>
    <dgm:cxn modelId="{F98741BB-FEA6-4E5C-8B1F-DB8D258C7D4D}" type="presParOf" srcId="{0CA55D1D-E458-4342-9F69-D85011A48B68}" destId="{90B75B75-C8E2-41D0-9B2F-9FD855CA704D}" srcOrd="0" destOrd="0" presId="urn:microsoft.com/office/officeart/2005/8/layout/pyramid2"/>
    <dgm:cxn modelId="{E73F176F-B1C6-4F44-B37F-F9E0A4EF8C0B}" type="presParOf" srcId="{0CA55D1D-E458-4342-9F69-D85011A48B68}" destId="{87F67D83-744E-4AF0-AA9D-999A70CE8E4B}" srcOrd="1" destOrd="0" presId="urn:microsoft.com/office/officeart/2005/8/layout/pyramid2"/>
    <dgm:cxn modelId="{B2EA4CCF-7246-4BE7-B644-6EC6EC4582DB}" type="presParOf" srcId="{87F67D83-744E-4AF0-AA9D-999A70CE8E4B}" destId="{7EC78A56-3B74-4776-902D-4D38995270EF}" srcOrd="0" destOrd="0" presId="urn:microsoft.com/office/officeart/2005/8/layout/pyramid2"/>
    <dgm:cxn modelId="{B383CF72-FAC4-43AD-8273-E8126BD516B1}" type="presParOf" srcId="{87F67D83-744E-4AF0-AA9D-999A70CE8E4B}" destId="{2AEBDD2E-9506-4515-955A-880D1165A11C}" srcOrd="1" destOrd="0" presId="urn:microsoft.com/office/officeart/2005/8/layout/pyramid2"/>
    <dgm:cxn modelId="{28AC659B-58D3-4CA8-B15D-C74BA769EAE8}" type="presParOf" srcId="{87F67D83-744E-4AF0-AA9D-999A70CE8E4B}" destId="{7F8F6F57-97F3-4956-9D42-4350306BE12B}" srcOrd="2" destOrd="0" presId="urn:microsoft.com/office/officeart/2005/8/layout/pyramid2"/>
    <dgm:cxn modelId="{E7FD53D3-6175-4005-9A38-75E55844531B}" type="presParOf" srcId="{87F67D83-744E-4AF0-AA9D-999A70CE8E4B}" destId="{374DB88B-D715-46AE-8CDE-B138B3B2422F}" srcOrd="3" destOrd="0" presId="urn:microsoft.com/office/officeart/2005/8/layout/pyramid2"/>
    <dgm:cxn modelId="{522754EF-D326-4257-82CF-02D63A673C7A}" type="presParOf" srcId="{87F67D83-744E-4AF0-AA9D-999A70CE8E4B}" destId="{807EF6DD-D2B4-42F3-B946-59902FD0279B}" srcOrd="4" destOrd="0" presId="urn:microsoft.com/office/officeart/2005/8/layout/pyramid2"/>
    <dgm:cxn modelId="{C27EACFA-834A-4C02-84F7-8EFFFD4C411A}" type="presParOf" srcId="{87F67D83-744E-4AF0-AA9D-999A70CE8E4B}" destId="{01E395ED-FF83-4FF0-9842-E2114A30077D}"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B75B75-C8E2-41D0-9B2F-9FD855CA704D}">
      <dsp:nvSpPr>
        <dsp:cNvPr id="0" name=""/>
        <dsp:cNvSpPr/>
      </dsp:nvSpPr>
      <dsp:spPr>
        <a:xfrm>
          <a:off x="1510100" y="0"/>
          <a:ext cx="5418667" cy="5418667"/>
        </a:xfrm>
        <a:prstGeom prst="triangle">
          <a:avLst/>
        </a:prstGeom>
        <a:solidFill>
          <a:schemeClr val="accent2">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C78A56-3B74-4776-902D-4D38995270EF}">
      <dsp:nvSpPr>
        <dsp:cNvPr id="0" name=""/>
        <dsp:cNvSpPr/>
      </dsp:nvSpPr>
      <dsp:spPr>
        <a:xfrm>
          <a:off x="4038712" y="544777"/>
          <a:ext cx="3883574" cy="1282700"/>
        </a:xfrm>
        <a:prstGeom prst="roundRect">
          <a:avLst/>
        </a:prstGeom>
        <a:solidFill>
          <a:schemeClr val="lt1">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zh-TW" altLang="en-US" sz="2800" b="1" kern="1200" dirty="0" smtClean="0">
              <a:latin typeface="微軟正黑體" panose="020B0604030504040204" pitchFamily="34" charset="-120"/>
              <a:ea typeface="微軟正黑體" panose="020B0604030504040204" pitchFamily="34" charset="-120"/>
            </a:rPr>
            <a:t>幫助內向的人交朋友</a:t>
          </a:r>
          <a:endParaRPr lang="zh-TW" altLang="en-US" sz="2800" b="1" kern="1200" dirty="0">
            <a:latin typeface="微軟正黑體" panose="020B0604030504040204" pitchFamily="34" charset="-120"/>
            <a:ea typeface="微軟正黑體" panose="020B0604030504040204" pitchFamily="34" charset="-120"/>
          </a:endParaRPr>
        </a:p>
      </dsp:txBody>
      <dsp:txXfrm>
        <a:off x="4101328" y="607393"/>
        <a:ext cx="3758342" cy="1157468"/>
      </dsp:txXfrm>
    </dsp:sp>
    <dsp:sp modelId="{7F8F6F57-97F3-4956-9D42-4350306BE12B}">
      <dsp:nvSpPr>
        <dsp:cNvPr id="0" name=""/>
        <dsp:cNvSpPr/>
      </dsp:nvSpPr>
      <dsp:spPr>
        <a:xfrm>
          <a:off x="4025628" y="1987814"/>
          <a:ext cx="3909744" cy="1282700"/>
        </a:xfrm>
        <a:prstGeom prst="roundRect">
          <a:avLst/>
        </a:prstGeom>
        <a:solidFill>
          <a:schemeClr val="lt1">
            <a:alpha val="90000"/>
            <a:hueOff val="0"/>
            <a:satOff val="0"/>
            <a:lumOff val="0"/>
            <a:alphaOff val="0"/>
          </a:schemeClr>
        </a:solidFill>
        <a:ln w="12700" cap="flat" cmpd="sng" algn="ctr">
          <a:solidFill>
            <a:schemeClr val="accent2">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zh-TW" altLang="en-US" sz="2800" b="1" kern="1200" dirty="0" smtClean="0">
              <a:latin typeface="微軟正黑體" panose="020B0604030504040204" pitchFamily="34" charset="-120"/>
              <a:ea typeface="微軟正黑體" panose="020B0604030504040204" pitchFamily="34" charset="-120"/>
            </a:rPr>
            <a:t>兼顧隱私性及安全性</a:t>
          </a:r>
          <a:endParaRPr lang="zh-TW" altLang="en-US" sz="2800" b="1" kern="1200" dirty="0">
            <a:latin typeface="微軟正黑體" panose="020B0604030504040204" pitchFamily="34" charset="-120"/>
            <a:ea typeface="微軟正黑體" panose="020B0604030504040204" pitchFamily="34" charset="-120"/>
          </a:endParaRPr>
        </a:p>
      </dsp:txBody>
      <dsp:txXfrm>
        <a:off x="4088244" y="2050430"/>
        <a:ext cx="3784512" cy="1157468"/>
      </dsp:txXfrm>
    </dsp:sp>
    <dsp:sp modelId="{807EF6DD-D2B4-42F3-B946-59902FD0279B}">
      <dsp:nvSpPr>
        <dsp:cNvPr id="0" name=""/>
        <dsp:cNvSpPr/>
      </dsp:nvSpPr>
      <dsp:spPr>
        <a:xfrm>
          <a:off x="3967565" y="3430852"/>
          <a:ext cx="4025869" cy="1282700"/>
        </a:xfrm>
        <a:prstGeom prst="roundRect">
          <a:avLst/>
        </a:prstGeom>
        <a:solidFill>
          <a:schemeClr val="lt1">
            <a:alpha val="90000"/>
            <a:hueOff val="0"/>
            <a:satOff val="0"/>
            <a:lumOff val="0"/>
            <a:alphaOff val="0"/>
          </a:schemeClr>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zh-TW" altLang="en-US" sz="2800" b="1" kern="1200" dirty="0" smtClean="0">
              <a:latin typeface="微軟正黑體" panose="020B0604030504040204" pitchFamily="34" charset="-120"/>
              <a:ea typeface="微軟正黑體" panose="020B0604030504040204" pitchFamily="34" charset="-120"/>
            </a:rPr>
            <a:t>首推專屬同一校園內的交友軟體</a:t>
          </a:r>
          <a:endParaRPr lang="zh-TW" altLang="en-US" sz="2800" b="1" kern="1200" dirty="0">
            <a:latin typeface="微軟正黑體" panose="020B0604030504040204" pitchFamily="34" charset="-120"/>
            <a:ea typeface="微軟正黑體" panose="020B0604030504040204" pitchFamily="34" charset="-120"/>
          </a:endParaRPr>
        </a:p>
      </dsp:txBody>
      <dsp:txXfrm>
        <a:off x="4030181" y="3493468"/>
        <a:ext cx="3900637" cy="1157468"/>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6960D2A6-53F8-41E8-92EC-76C5885B8A33}" type="datetimeFigureOut">
              <a:rPr lang="zh-TW" altLang="en-US" smtClean="0"/>
              <a:t>2018/10/17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3435203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960D2A6-53F8-41E8-92EC-76C5885B8A33}" type="datetimeFigureOut">
              <a:rPr lang="zh-TW" altLang="en-US" smtClean="0"/>
              <a:t>2018/10/17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237829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6960D2A6-53F8-41E8-92EC-76C5885B8A33}" type="datetimeFigureOut">
              <a:rPr lang="zh-TW" altLang="en-US" smtClean="0"/>
              <a:t>2018/10/17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162849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6960D2A6-53F8-41E8-92EC-76C5885B8A33}" type="datetimeFigureOut">
              <a:rPr lang="zh-TW" altLang="en-US" smtClean="0"/>
              <a:t>2018/10/17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2406652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6960D2A6-53F8-41E8-92EC-76C5885B8A33}" type="datetimeFigureOut">
              <a:rPr lang="zh-TW" altLang="en-US" smtClean="0"/>
              <a:t>2018/10/17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900175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6960D2A6-53F8-41E8-92EC-76C5885B8A33}" type="datetimeFigureOut">
              <a:rPr lang="zh-TW" altLang="en-US" smtClean="0"/>
              <a:t>2018/10/17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1573327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6960D2A6-53F8-41E8-92EC-76C5885B8A33}" type="datetimeFigureOut">
              <a:rPr lang="zh-TW" altLang="en-US" smtClean="0"/>
              <a:t>2018/10/17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211895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960D2A6-53F8-41E8-92EC-76C5885B8A33}" type="datetimeFigureOut">
              <a:rPr lang="zh-TW" altLang="en-US" smtClean="0"/>
              <a:t>2018/10/17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40113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960D2A6-53F8-41E8-92EC-76C5885B8A33}" type="datetimeFigureOut">
              <a:rPr lang="zh-TW" altLang="en-US" smtClean="0"/>
              <a:t>2018/10/17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1520962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960D2A6-53F8-41E8-92EC-76C5885B8A33}" type="datetimeFigureOut">
              <a:rPr lang="zh-TW" altLang="en-US" smtClean="0"/>
              <a:t>2018/10/17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1845865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960D2A6-53F8-41E8-92EC-76C5885B8A33}" type="datetimeFigureOut">
              <a:rPr lang="zh-TW" altLang="en-US" smtClean="0"/>
              <a:t>2018/10/17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968977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0D2A6-53F8-41E8-92EC-76C5885B8A33}" type="datetimeFigureOut">
              <a:rPr lang="zh-TW" altLang="en-US" smtClean="0"/>
              <a:t>2018/10/17</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6A2C24-475D-44F3-96DD-D7F0138BCF9A}" type="slidenum">
              <a:rPr lang="zh-TW" altLang="en-US" smtClean="0"/>
              <a:t>‹#›</a:t>
            </a:fld>
            <a:endParaRPr lang="zh-TW" altLang="en-US"/>
          </a:p>
        </p:txBody>
      </p:sp>
    </p:spTree>
    <p:extLst>
      <p:ext uri="{BB962C8B-B14F-4D97-AF65-F5344CB8AC3E}">
        <p14:creationId xmlns:p14="http://schemas.microsoft.com/office/powerpoint/2010/main" val="3327085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ndltd.ncl.edu.tw/cgi-bin/gs32/gsweb.cgi/login?o=dnclcdr&amp;s=id=%22105SHU00382002%22.&amp;searchmode=basic"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buzzorange.com/vidaorange/2017/06/19/how-to-use-dating-app-wel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31app.com/xmobile/1307/app%E4%BA%A4%E5%8F%8B%E6%A8%A1%E5%BC%8F%E7%9B%9B%E8%A1%8C%EF%BC%8C%E6%84%8F%E5%A4%96%E8%AD%89%E6%98%8E%E5%95%86%E6%A9%9F%E7%9A%84%E8%A7%B8%E7%99%BC%EF%BC%8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little7dwarfs.pixnet.net/blog/post/182682070-%E4%BA%A4%E5%8F%8Bapp%E4%B8%96%E7%95%8C%E8%A3%A1%E7%9A%84%E7%9C%9F%E7%9B%B8%E6%98%AF%E2%80%A6"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kknews.cc/zh-tw/psychology/meexj9z.html" TargetMode="External"/><Relationship Id="rId2" Type="http://schemas.openxmlformats.org/officeDocument/2006/relationships/hyperlink" Target="https://www.zhihu.com/question/21670150"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thenewslens.com/article/44105"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p:cNvPicPr>
            <a:picLocks noChangeAspect="1"/>
          </p:cNvPicPr>
          <p:nvPr/>
        </p:nvPicPr>
        <p:blipFill>
          <a:blip r:embed="rId2"/>
          <a:stretch>
            <a:fillRect/>
          </a:stretch>
        </p:blipFill>
        <p:spPr>
          <a:xfrm>
            <a:off x="2912013" y="1632635"/>
            <a:ext cx="7005710" cy="4670473"/>
          </a:xfrm>
          <a:prstGeom prst="rect">
            <a:avLst/>
          </a:prstGeom>
          <a:ln>
            <a:noFill/>
          </a:ln>
          <a:effectLst>
            <a:softEdge rad="112500"/>
          </a:effectLst>
        </p:spPr>
      </p:pic>
      <p:sp>
        <p:nvSpPr>
          <p:cNvPr id="2" name="標題 1"/>
          <p:cNvSpPr>
            <a:spLocks noGrp="1"/>
          </p:cNvSpPr>
          <p:nvPr>
            <p:ph type="ctrTitle"/>
          </p:nvPr>
        </p:nvSpPr>
        <p:spPr>
          <a:xfrm>
            <a:off x="2616591" y="292517"/>
            <a:ext cx="7188590" cy="1151988"/>
          </a:xfrm>
        </p:spPr>
        <p:txBody>
          <a:bodyPr/>
          <a:lstStyle/>
          <a:p>
            <a:r>
              <a:rPr lang="zh-TW" altLang="en-US" b="1" dirty="0" smtClean="0">
                <a:latin typeface="微軟正黑體" panose="020B0604030504040204" pitchFamily="34" charset="-120"/>
                <a:ea typeface="微軟正黑體" panose="020B0604030504040204" pitchFamily="34" charset="-120"/>
              </a:rPr>
              <a:t>校園交友軟體</a:t>
            </a:r>
            <a:endParaRPr lang="zh-TW" altLang="en-US" b="1" dirty="0">
              <a:latin typeface="微軟正黑體" panose="020B0604030504040204" pitchFamily="34" charset="-120"/>
              <a:ea typeface="微軟正黑體" panose="020B0604030504040204" pitchFamily="34" charset="-120"/>
            </a:endParaRPr>
          </a:p>
        </p:txBody>
      </p:sp>
      <p:sp>
        <p:nvSpPr>
          <p:cNvPr id="3" name="副標題 2"/>
          <p:cNvSpPr>
            <a:spLocks noGrp="1"/>
          </p:cNvSpPr>
          <p:nvPr>
            <p:ph type="subTitle" idx="1"/>
          </p:nvPr>
        </p:nvSpPr>
        <p:spPr>
          <a:xfrm>
            <a:off x="9805181" y="4957298"/>
            <a:ext cx="2625970" cy="1533940"/>
          </a:xfrm>
        </p:spPr>
        <p:txBody>
          <a:bodyPr>
            <a:normAutofit/>
          </a:bodyPr>
          <a:lstStyle/>
          <a:p>
            <a:r>
              <a:rPr lang="zh-TW" altLang="en-US" sz="1600" b="1" dirty="0" smtClean="0">
                <a:latin typeface="微軟正黑體" panose="020B0604030504040204" pitchFamily="34" charset="-120"/>
                <a:ea typeface="微軟正黑體" panose="020B0604030504040204" pitchFamily="34" charset="-120"/>
              </a:rPr>
              <a:t>資工碩一 俞尚毅</a:t>
            </a:r>
          </a:p>
          <a:p>
            <a:r>
              <a:rPr lang="zh-TW" altLang="en-US" sz="1600" b="1" dirty="0" smtClean="0">
                <a:latin typeface="微軟正黑體" panose="020B0604030504040204" pitchFamily="34" charset="-120"/>
                <a:ea typeface="微軟正黑體" panose="020B0604030504040204" pitchFamily="34" charset="-120"/>
              </a:rPr>
              <a:t>資工碩一 江秉翰</a:t>
            </a:r>
          </a:p>
          <a:p>
            <a:r>
              <a:rPr lang="zh-TW" altLang="en-US" sz="1600" b="1" dirty="0">
                <a:latin typeface="微軟正黑體" panose="020B0604030504040204" pitchFamily="34" charset="-120"/>
                <a:ea typeface="微軟正黑體" panose="020B0604030504040204" pitchFamily="34" charset="-120"/>
              </a:rPr>
              <a:t>電資大</a:t>
            </a:r>
            <a:r>
              <a:rPr lang="zh-TW" altLang="en-US" sz="1600" b="1" dirty="0" smtClean="0">
                <a:latin typeface="微軟正黑體" panose="020B0604030504040204" pitchFamily="34" charset="-120"/>
                <a:ea typeface="微軟正黑體" panose="020B0604030504040204" pitchFamily="34" charset="-120"/>
              </a:rPr>
              <a:t>四 蔡樂津</a:t>
            </a:r>
          </a:p>
          <a:p>
            <a:r>
              <a:rPr lang="zh-TW" altLang="en-US" sz="1600" b="1" dirty="0" smtClean="0">
                <a:latin typeface="微軟正黑體" panose="020B0604030504040204" pitchFamily="34" charset="-120"/>
                <a:ea typeface="微軟正黑體" panose="020B0604030504040204" pitchFamily="34" charset="-120"/>
              </a:rPr>
              <a:t>人</a:t>
            </a:r>
            <a:r>
              <a:rPr lang="zh-TW" altLang="en-US" sz="1600" b="1" dirty="0">
                <a:latin typeface="微軟正黑體" panose="020B0604030504040204" pitchFamily="34" charset="-120"/>
                <a:ea typeface="微軟正黑體" panose="020B0604030504040204" pitchFamily="34" charset="-120"/>
              </a:rPr>
              <a:t>社大</a:t>
            </a:r>
            <a:r>
              <a:rPr lang="zh-TW" altLang="en-US" sz="1600" b="1" dirty="0" smtClean="0">
                <a:latin typeface="微軟正黑體" panose="020B0604030504040204" pitchFamily="34" charset="-120"/>
                <a:ea typeface="微軟正黑體" panose="020B0604030504040204" pitchFamily="34" charset="-120"/>
              </a:rPr>
              <a:t>四 虞佩君</a:t>
            </a:r>
          </a:p>
          <a:p>
            <a:endParaRPr lang="zh-TW" altLang="en-US" dirty="0"/>
          </a:p>
        </p:txBody>
      </p:sp>
    </p:spTree>
    <p:extLst>
      <p:ext uri="{BB962C8B-B14F-4D97-AF65-F5344CB8AC3E}">
        <p14:creationId xmlns:p14="http://schemas.microsoft.com/office/powerpoint/2010/main" val="6367756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97280" y="2546252"/>
            <a:ext cx="1784739" cy="1087755"/>
          </a:xfrm>
        </p:spPr>
        <p:txBody>
          <a:bodyPr/>
          <a:lstStyle/>
          <a:p>
            <a:r>
              <a:rPr lang="zh-TW" altLang="en-US" b="1" dirty="0" smtClean="0">
                <a:latin typeface="微軟正黑體" panose="020B0604030504040204" pitchFamily="34" charset="-120"/>
                <a:ea typeface="微軟正黑體" panose="020B0604030504040204" pitchFamily="34" charset="-120"/>
              </a:rPr>
              <a:t>動機</a:t>
            </a:r>
            <a:endParaRPr lang="zh-TW" altLang="en-US" b="1" dirty="0">
              <a:latin typeface="微軟正黑體" panose="020B0604030504040204" pitchFamily="34" charset="-120"/>
              <a:ea typeface="微軟正黑體" panose="020B0604030504040204" pitchFamily="34" charset="-120"/>
            </a:endParaRPr>
          </a:p>
        </p:txBody>
      </p:sp>
      <p:sp>
        <p:nvSpPr>
          <p:cNvPr id="3" name="文字版面配置區 2"/>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6467749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pPr marL="0" indent="0">
              <a:buNone/>
            </a:pPr>
            <a:endParaRPr lang="zh-TW" altLang="en-US" dirty="0"/>
          </a:p>
        </p:txBody>
      </p:sp>
      <p:graphicFrame>
        <p:nvGraphicFramePr>
          <p:cNvPr id="4" name="資料庫圖表 3"/>
          <p:cNvGraphicFramePr/>
          <p:nvPr>
            <p:extLst>
              <p:ext uri="{D42A27DB-BD31-4B8C-83A1-F6EECF244321}">
                <p14:modId xmlns:p14="http://schemas.microsoft.com/office/powerpoint/2010/main" val="2567361487"/>
              </p:ext>
            </p:extLst>
          </p:nvPr>
        </p:nvGraphicFramePr>
        <p:xfrm>
          <a:off x="1344232" y="879318"/>
          <a:ext cx="9503535"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92852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275846" y="2475913"/>
            <a:ext cx="3627608" cy="1214364"/>
          </a:xfrm>
        </p:spPr>
        <p:txBody>
          <a:bodyPr/>
          <a:lstStyle/>
          <a:p>
            <a:r>
              <a:rPr lang="zh-TW" altLang="en-US" b="1" dirty="0" smtClean="0">
                <a:latin typeface="微軟正黑體" panose="020B0604030504040204" pitchFamily="34" charset="-120"/>
                <a:ea typeface="微軟正黑體" panose="020B0604030504040204" pitchFamily="34" charset="-120"/>
              </a:rPr>
              <a:t>人性探討</a:t>
            </a:r>
            <a:endParaRPr lang="zh-TW" altLang="en-US" b="1" dirty="0">
              <a:latin typeface="微軟正黑體" panose="020B0604030504040204" pitchFamily="34" charset="-120"/>
              <a:ea typeface="微軟正黑體" panose="020B0604030504040204" pitchFamily="34" charset="-120"/>
            </a:endParaRPr>
          </a:p>
        </p:txBody>
      </p:sp>
      <p:sp>
        <p:nvSpPr>
          <p:cNvPr id="3" name="文字版面配置區 2"/>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22850780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smtClean="0">
                <a:latin typeface="微軟正黑體" panose="020B0604030504040204" pitchFamily="34" charset="-120"/>
                <a:ea typeface="微軟正黑體" panose="020B0604030504040204" pitchFamily="34" charset="-120"/>
              </a:rPr>
              <a:t>關於交友軟體</a:t>
            </a:r>
            <a:endParaRPr lang="zh-TW" altLang="en-US" b="1"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lstStyle/>
          <a:p>
            <a:pPr marL="0" indent="0">
              <a:buNone/>
            </a:pPr>
            <a:r>
              <a:rPr lang="zh-TW" altLang="en-US" i="1" dirty="0" smtClean="0">
                <a:latin typeface="標楷體" panose="03000509000000000000" pitchFamily="65" charset="-120"/>
                <a:ea typeface="標楷體" panose="03000509000000000000" pitchFamily="65" charset="-120"/>
              </a:rPr>
              <a:t>男女大不同：交友</a:t>
            </a:r>
            <a:r>
              <a:rPr lang="en-US" altLang="zh-TW" i="1" dirty="0" smtClean="0">
                <a:latin typeface="標楷體" panose="03000509000000000000" pitchFamily="65" charset="-120"/>
                <a:ea typeface="標楷體" panose="03000509000000000000" pitchFamily="65" charset="-120"/>
              </a:rPr>
              <a:t>App</a:t>
            </a:r>
            <a:r>
              <a:rPr lang="zh-TW" altLang="en-US" i="1" dirty="0" smtClean="0">
                <a:latin typeface="標楷體" panose="03000509000000000000" pitchFamily="65" charset="-120"/>
                <a:ea typeface="標楷體" panose="03000509000000000000" pitchFamily="65" charset="-120"/>
              </a:rPr>
              <a:t>約炮使用行為之認知、態度、行為之初探</a:t>
            </a:r>
            <a:endParaRPr lang="en-US" altLang="zh-TW" i="1" dirty="0" smtClean="0">
              <a:latin typeface="標楷體" panose="03000509000000000000" pitchFamily="65" charset="-120"/>
              <a:ea typeface="標楷體" panose="03000509000000000000" pitchFamily="65" charset="-120"/>
            </a:endParaRPr>
          </a:p>
          <a:p>
            <a:pPr marL="0" indent="0">
              <a:buNone/>
            </a:pPr>
            <a:r>
              <a:rPr lang="zh-TW" altLang="en-US" dirty="0" smtClean="0"/>
              <a:t> </a:t>
            </a:r>
            <a:r>
              <a:rPr lang="en-US" altLang="zh-TW" sz="1400" dirty="0" smtClean="0">
                <a:hlinkClick r:id="rId2"/>
              </a:rPr>
              <a:t>https://ndltd.ncl.edu.tw/cgi-bin/gs32/gsweb.cgi/login?o=dnclcdr&amp;s=id=%22105SHU00382002%22.&amp;searchmode=basic</a:t>
            </a:r>
            <a:endParaRPr lang="en-US" altLang="zh-TW" sz="1400" dirty="0" smtClean="0"/>
          </a:p>
          <a:p>
            <a:pPr marL="0" indent="0">
              <a:buNone/>
            </a:pPr>
            <a:endParaRPr lang="en-US" altLang="zh-TW" sz="1400" dirty="0"/>
          </a:p>
          <a:p>
            <a:pPr marL="0" indent="0">
              <a:buNone/>
            </a:pPr>
            <a:r>
              <a:rPr lang="zh-TW" altLang="en-US" dirty="0" smtClean="0">
                <a:latin typeface="微軟正黑體" panose="020B0604030504040204" pitchFamily="34" charset="-120"/>
                <a:ea typeface="微軟正黑體" panose="020B0604030504040204" pitchFamily="34" charset="-120"/>
              </a:rPr>
              <a:t>有六成的人認為交友</a:t>
            </a:r>
            <a:r>
              <a:rPr lang="en-US" altLang="zh-TW" dirty="0" smtClean="0">
                <a:latin typeface="微軟正黑體" panose="020B0604030504040204" pitchFamily="34" charset="-120"/>
                <a:ea typeface="微軟正黑體" panose="020B0604030504040204" pitchFamily="34" charset="-120"/>
              </a:rPr>
              <a:t>App</a:t>
            </a:r>
            <a:r>
              <a:rPr lang="zh-TW" altLang="en-US" dirty="0" smtClean="0">
                <a:latin typeface="微軟正黑體" panose="020B0604030504040204" pitchFamily="34" charset="-120"/>
                <a:ea typeface="微軟正黑體" panose="020B0604030504040204" pitchFamily="34" charset="-120"/>
              </a:rPr>
              <a:t>是用來約炮的。</a:t>
            </a:r>
            <a:endParaRPr lang="en-US" altLang="zh-TW" dirty="0" smtClean="0">
              <a:latin typeface="微軟正黑體" panose="020B0604030504040204" pitchFamily="34" charset="-120"/>
              <a:ea typeface="微軟正黑體" panose="020B0604030504040204" pitchFamily="34" charset="-120"/>
            </a:endParaRPr>
          </a:p>
          <a:p>
            <a:pPr marL="0" indent="0">
              <a:buNone/>
            </a:pPr>
            <a:r>
              <a:rPr lang="zh-TW" altLang="en-US" b="1" dirty="0" smtClean="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 </a:t>
            </a:r>
            <a:r>
              <a:rPr lang="zh-TW" altLang="en-US" dirty="0" smtClean="0">
                <a:latin typeface="微軟正黑體" panose="020B0604030504040204" pitchFamily="34" charset="-120"/>
                <a:ea typeface="微軟正黑體" panose="020B0604030504040204" pitchFamily="34" charset="-120"/>
              </a:rPr>
              <a:t>因為我們要開發的是一套「正常」交友軟體，因此我們必須事先想過相關措施，以免變成約炮軟體</a:t>
            </a:r>
            <a:r>
              <a:rPr lang="zh-TW" altLang="en-US" dirty="0">
                <a:latin typeface="微軟正黑體" panose="020B0604030504040204" pitchFamily="34" charset="-120"/>
                <a:ea typeface="微軟正黑體" panose="020B0604030504040204" pitchFamily="34" charset="-120"/>
              </a:rPr>
              <a:t>。</a:t>
            </a:r>
            <a:endParaRPr lang="en-US" altLang="zh-TW" dirty="0" smtClean="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8912656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smtClean="0">
                <a:latin typeface="微軟正黑體" panose="020B0604030504040204" pitchFamily="34" charset="-120"/>
                <a:ea typeface="微軟正黑體" panose="020B0604030504040204" pitchFamily="34" charset="-120"/>
              </a:rPr>
              <a:t>關於交友軟體</a:t>
            </a:r>
            <a:endParaRPr lang="zh-TW" altLang="en-US" b="1"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normAutofit/>
          </a:bodyPr>
          <a:lstStyle/>
          <a:p>
            <a:pPr marL="0" indent="0">
              <a:buNone/>
            </a:pPr>
            <a:r>
              <a:rPr lang="zh-TW" altLang="en-US" i="1" dirty="0" smtClean="0">
                <a:latin typeface="標楷體" panose="03000509000000000000" pitchFamily="65" charset="-120"/>
                <a:ea typeface="標楷體" panose="03000509000000000000" pitchFamily="65" charset="-120"/>
              </a:rPr>
              <a:t>交友軟體真的找得到真愛嗎？用「</a:t>
            </a:r>
            <a:r>
              <a:rPr lang="en-US" altLang="zh-TW" i="1" dirty="0" smtClean="0">
                <a:latin typeface="標楷體" panose="03000509000000000000" pitchFamily="65" charset="-120"/>
                <a:ea typeface="標楷體" panose="03000509000000000000" pitchFamily="65" charset="-120"/>
              </a:rPr>
              <a:t>8/12</a:t>
            </a:r>
            <a:r>
              <a:rPr lang="zh-TW" altLang="en-US" i="1" dirty="0" smtClean="0">
                <a:latin typeface="標楷體" panose="03000509000000000000" pitchFamily="65" charset="-120"/>
                <a:ea typeface="標楷體" panose="03000509000000000000" pitchFamily="65" charset="-120"/>
              </a:rPr>
              <a:t>」法則可以增加找到適合對象的機會</a:t>
            </a:r>
            <a:endParaRPr lang="en-US" altLang="zh-TW" i="1" dirty="0" smtClean="0">
              <a:latin typeface="標楷體" panose="03000509000000000000" pitchFamily="65" charset="-120"/>
              <a:ea typeface="標楷體" panose="03000509000000000000" pitchFamily="65" charset="-120"/>
            </a:endParaRPr>
          </a:p>
          <a:p>
            <a:pPr marL="0" indent="0">
              <a:buNone/>
            </a:pPr>
            <a:r>
              <a:rPr lang="en-US" altLang="zh-TW" sz="1500" dirty="0" smtClean="0">
                <a:hlinkClick r:id="rId2"/>
              </a:rPr>
              <a:t>https://buzzorange.com/vidaorange/2017/06/19/how-to-use-dating-app-well/</a:t>
            </a:r>
            <a:endParaRPr lang="en-US" altLang="zh-TW" sz="1500" dirty="0" smtClean="0"/>
          </a:p>
          <a:p>
            <a:pPr marL="0" indent="0">
              <a:buNone/>
            </a:pPr>
            <a:endParaRPr lang="en-US" altLang="zh-TW" sz="1500" dirty="0" smtClean="0"/>
          </a:p>
          <a:p>
            <a:pPr marL="0" indent="0">
              <a:buNone/>
            </a:pPr>
            <a:r>
              <a:rPr lang="zh-TW" altLang="en-US" dirty="0" smtClean="0">
                <a:latin typeface="微軟正黑體" panose="020B0604030504040204" pitchFamily="34" charset="-120"/>
                <a:ea typeface="微軟正黑體" panose="020B0604030504040204" pitchFamily="34" charset="-120"/>
              </a:rPr>
              <a:t>有些類型的交友</a:t>
            </a:r>
            <a:r>
              <a:rPr lang="en-US" altLang="zh-TW" dirty="0" smtClean="0">
                <a:latin typeface="微軟正黑體" panose="020B0604030504040204" pitchFamily="34" charset="-120"/>
                <a:ea typeface="微軟正黑體" panose="020B0604030504040204" pitchFamily="34" charset="-120"/>
              </a:rPr>
              <a:t>app</a:t>
            </a:r>
            <a:r>
              <a:rPr lang="zh-TW" altLang="en-US" dirty="0" smtClean="0">
                <a:latin typeface="微軟正黑體" panose="020B0604030504040204" pitchFamily="34" charset="-120"/>
                <a:ea typeface="微軟正黑體" panose="020B0604030504040204" pitchFamily="34" charset="-120"/>
              </a:rPr>
              <a:t>多半會是以「照片」作為第一步交友的篩選，因此長相變成交友的第一印象。</a:t>
            </a:r>
            <a:endParaRPr lang="en-US" altLang="zh-TW" dirty="0" smtClean="0">
              <a:latin typeface="微軟正黑體" panose="020B0604030504040204" pitchFamily="34" charset="-120"/>
              <a:ea typeface="微軟正黑體" panose="020B0604030504040204" pitchFamily="34" charset="-120"/>
            </a:endParaRPr>
          </a:p>
          <a:p>
            <a:pPr marL="0" indent="0">
              <a:buNone/>
            </a:pPr>
            <a:r>
              <a:rPr lang="zh-TW" altLang="en-US" b="1"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 這並不是對我們的系統來說最好的方式，需要深加思考一個比較能交到長久朋友的方式。</a:t>
            </a:r>
          </a:p>
          <a:p>
            <a:endParaRPr lang="zh-TW" altLang="en-US" dirty="0"/>
          </a:p>
        </p:txBody>
      </p:sp>
    </p:spTree>
    <p:extLst>
      <p:ext uri="{BB962C8B-B14F-4D97-AF65-F5344CB8AC3E}">
        <p14:creationId xmlns:p14="http://schemas.microsoft.com/office/powerpoint/2010/main" val="4566526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smtClean="0">
                <a:latin typeface="微軟正黑體" panose="020B0604030504040204" pitchFamily="34" charset="-120"/>
                <a:ea typeface="微軟正黑體" panose="020B0604030504040204" pitchFamily="34" charset="-120"/>
              </a:rPr>
              <a:t>關於交友軟體</a:t>
            </a:r>
            <a:endParaRPr lang="zh-TW" altLang="en-US" b="1"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normAutofit/>
          </a:bodyPr>
          <a:lstStyle/>
          <a:p>
            <a:pPr marL="0" indent="0">
              <a:buNone/>
            </a:pPr>
            <a:r>
              <a:rPr lang="en-US" altLang="zh-TW" i="1" dirty="0" smtClean="0">
                <a:latin typeface="標楷體" panose="03000509000000000000" pitchFamily="65" charset="-120"/>
                <a:ea typeface="標楷體" panose="03000509000000000000" pitchFamily="65" charset="-120"/>
              </a:rPr>
              <a:t>【Big Data】</a:t>
            </a:r>
            <a:r>
              <a:rPr lang="zh-TW" altLang="en-US" i="1" dirty="0" smtClean="0">
                <a:latin typeface="標楷體" panose="03000509000000000000" pitchFamily="65" charset="-120"/>
                <a:ea typeface="標楷體" panose="03000509000000000000" pitchFamily="65" charset="-120"/>
              </a:rPr>
              <a:t>交友</a:t>
            </a:r>
            <a:r>
              <a:rPr lang="en-US" altLang="zh-TW" i="1" dirty="0" smtClean="0">
                <a:latin typeface="標楷體" panose="03000509000000000000" pitchFamily="65" charset="-120"/>
                <a:ea typeface="標楷體" panose="03000509000000000000" pitchFamily="65" charset="-120"/>
              </a:rPr>
              <a:t>APP</a:t>
            </a:r>
            <a:r>
              <a:rPr lang="zh-TW" altLang="en-US" i="1" dirty="0" smtClean="0">
                <a:latin typeface="標楷體" panose="03000509000000000000" pitchFamily="65" charset="-120"/>
                <a:ea typeface="標楷體" panose="03000509000000000000" pitchFamily="65" charset="-120"/>
              </a:rPr>
              <a:t>－交朋友</a:t>
            </a:r>
            <a:r>
              <a:rPr lang="en-US" altLang="zh-TW" i="1" dirty="0" smtClean="0">
                <a:latin typeface="標楷體" panose="03000509000000000000" pitchFamily="65" charset="-120"/>
                <a:ea typeface="標楷體" panose="03000509000000000000" pitchFamily="65" charset="-120"/>
              </a:rPr>
              <a:t>or</a:t>
            </a:r>
            <a:r>
              <a:rPr lang="zh-TW" altLang="en-US" i="1" dirty="0" smtClean="0">
                <a:latin typeface="標楷體" panose="03000509000000000000" pitchFamily="65" charset="-120"/>
                <a:ea typeface="標楷體" panose="03000509000000000000" pitchFamily="65" charset="-120"/>
              </a:rPr>
              <a:t>男女朋友？</a:t>
            </a:r>
            <a:endParaRPr lang="en-US" altLang="zh-TW" i="1" dirty="0" smtClean="0">
              <a:latin typeface="標楷體" panose="03000509000000000000" pitchFamily="65" charset="-120"/>
              <a:ea typeface="標楷體" panose="03000509000000000000" pitchFamily="65" charset="-120"/>
            </a:endParaRPr>
          </a:p>
          <a:p>
            <a:pPr marL="0" indent="0">
              <a:buNone/>
            </a:pPr>
            <a:r>
              <a:rPr lang="en-US" altLang="zh-TW" sz="1500" dirty="0" smtClean="0">
                <a:hlinkClick r:id="rId2"/>
              </a:rPr>
              <a:t>https://31app.com/xmobile/1307/app%E4%BA%A4%E5%8F%8B%E6%A8%A1%E5%BC%8F%E7%9B%9B%E8%A1%8C%EF%BC%8C%E6%84%8F%E5%A4%96%E8%AD%89%E6%98%8E%E5%95%86%E6%A9%9F%E7%9A%84%E8%A7%B8%E7%99%BC%EF%BC%81</a:t>
            </a:r>
            <a:endParaRPr lang="en-US" altLang="zh-TW" sz="1500" dirty="0" smtClean="0"/>
          </a:p>
          <a:p>
            <a:pPr marL="0" indent="0">
              <a:buNone/>
            </a:pPr>
            <a:endParaRPr lang="en-US" altLang="zh-TW" sz="1500" dirty="0" smtClean="0"/>
          </a:p>
          <a:p>
            <a:pPr marL="0" indent="0">
              <a:buNone/>
            </a:pPr>
            <a:r>
              <a:rPr lang="zh-TW" altLang="en-US" dirty="0" smtClean="0">
                <a:latin typeface="微軟正黑體" panose="020B0604030504040204" pitchFamily="34" charset="-120"/>
                <a:ea typeface="微軟正黑體" panose="020B0604030504040204" pitchFamily="34" charset="-120"/>
              </a:rPr>
              <a:t>會使用交友軟體的人分為三類：</a:t>
            </a:r>
            <a:r>
              <a:rPr lang="en-US" altLang="zh-TW" dirty="0" smtClean="0">
                <a:latin typeface="微軟正黑體" panose="020B0604030504040204" pitchFamily="34" charset="-120"/>
                <a:ea typeface="微軟正黑體" panose="020B0604030504040204" pitchFamily="34" charset="-120"/>
              </a:rPr>
              <a:t>1.</a:t>
            </a:r>
            <a:r>
              <a:rPr lang="zh-TW" altLang="en-US" dirty="0" smtClean="0">
                <a:latin typeface="微軟正黑體" panose="020B0604030504040204" pitchFamily="34" charset="-120"/>
                <a:ea typeface="微軟正黑體" panose="020B0604030504040204" pitchFamily="34" charset="-120"/>
              </a:rPr>
              <a:t>想要安全、快速、方便地找到男女朋友的人。</a:t>
            </a:r>
            <a:r>
              <a:rPr lang="en-US" altLang="zh-TW" dirty="0" smtClean="0">
                <a:latin typeface="微軟正黑體" panose="020B0604030504040204" pitchFamily="34" charset="-120"/>
                <a:ea typeface="微軟正黑體" panose="020B0604030504040204" pitchFamily="34" charset="-120"/>
              </a:rPr>
              <a:t>2.</a:t>
            </a:r>
            <a:r>
              <a:rPr lang="zh-TW" altLang="en-US" dirty="0" smtClean="0">
                <a:latin typeface="微軟正黑體" panose="020B0604030504040204" pitchFamily="34" charset="-120"/>
                <a:ea typeface="微軟正黑體" panose="020B0604030504040204" pitchFamily="34" charset="-120"/>
              </a:rPr>
              <a:t> 個性很內向或是朋友圈小想要認識更多朋友的人。</a:t>
            </a:r>
            <a:r>
              <a:rPr lang="en-US" altLang="zh-TW" dirty="0" smtClean="0">
                <a:latin typeface="微軟正黑體" panose="020B0604030504040204" pitchFamily="34" charset="-120"/>
                <a:ea typeface="微軟正黑體" panose="020B0604030504040204" pitchFamily="34" charset="-120"/>
              </a:rPr>
              <a:t>3.</a:t>
            </a:r>
            <a:r>
              <a:rPr lang="zh-TW" altLang="en-US" dirty="0" smtClean="0">
                <a:latin typeface="微軟正黑體" panose="020B0604030504040204" pitchFamily="34" charset="-120"/>
                <a:ea typeface="微軟正黑體" panose="020B0604030504040204" pitchFamily="34" charset="-120"/>
              </a:rPr>
              <a:t>純粹找樂子、殺時間的人。</a:t>
            </a:r>
          </a:p>
          <a:p>
            <a:pPr marL="0" indent="0">
              <a:buNone/>
            </a:pPr>
            <a:r>
              <a:rPr lang="zh-TW" altLang="en-US" b="1" dirty="0" smtClean="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 </a:t>
            </a:r>
            <a:r>
              <a:rPr lang="zh-TW" altLang="en-US" dirty="0" smtClean="0">
                <a:latin typeface="微軟正黑體" panose="020B0604030504040204" pitchFamily="34" charset="-120"/>
                <a:ea typeface="微軟正黑體" panose="020B0604030504040204" pitchFamily="34" charset="-120"/>
              </a:rPr>
              <a:t>可以試想如何為不同客戶做出不同的設計及介面以利於他們達成目的。我們聚焦於幫助內向的人，可能軟體設計上要讓用戶能拉長聊天時間，而不是太快要求客戶做出擇偶選擇之類的。</a:t>
            </a:r>
          </a:p>
          <a:p>
            <a:endParaRPr lang="zh-TW" altLang="en-US" dirty="0"/>
          </a:p>
        </p:txBody>
      </p:sp>
    </p:spTree>
    <p:extLst>
      <p:ext uri="{BB962C8B-B14F-4D97-AF65-F5344CB8AC3E}">
        <p14:creationId xmlns:p14="http://schemas.microsoft.com/office/powerpoint/2010/main" val="12178743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smtClean="0">
                <a:latin typeface="微軟正黑體" panose="020B0604030504040204" pitchFamily="34" charset="-120"/>
                <a:ea typeface="微軟正黑體" panose="020B0604030504040204" pitchFamily="34" charset="-120"/>
              </a:rPr>
              <a:t>關於交友軟體</a:t>
            </a:r>
            <a:endParaRPr lang="zh-TW" altLang="en-US" b="1"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lstStyle/>
          <a:p>
            <a:pPr marL="0" indent="0">
              <a:buNone/>
            </a:pPr>
            <a:r>
              <a:rPr lang="zh-TW" altLang="en-US" i="1" dirty="0" smtClean="0">
                <a:latin typeface="標楷體" panose="03000509000000000000" pitchFamily="65" charset="-120"/>
                <a:ea typeface="標楷體" panose="03000509000000000000" pitchFamily="65" charset="-120"/>
              </a:rPr>
              <a:t>交友</a:t>
            </a:r>
            <a:r>
              <a:rPr lang="en-US" altLang="zh-TW" i="1" dirty="0" smtClean="0">
                <a:latin typeface="標楷體" panose="03000509000000000000" pitchFamily="65" charset="-120"/>
                <a:ea typeface="標楷體" panose="03000509000000000000" pitchFamily="65" charset="-120"/>
              </a:rPr>
              <a:t>APP</a:t>
            </a:r>
            <a:r>
              <a:rPr lang="zh-TW" altLang="en-US" i="1" dirty="0" smtClean="0">
                <a:latin typeface="標楷體" panose="03000509000000000000" pitchFamily="65" charset="-120"/>
                <a:ea typeface="標楷體" panose="03000509000000000000" pitchFamily="65" charset="-120"/>
              </a:rPr>
              <a:t>世界裡的真相是</a:t>
            </a:r>
            <a:r>
              <a:rPr lang="en-US" altLang="zh-TW" i="1" dirty="0" smtClean="0">
                <a:latin typeface="標楷體" panose="03000509000000000000" pitchFamily="65" charset="-120"/>
                <a:ea typeface="標楷體" panose="03000509000000000000" pitchFamily="65" charset="-120"/>
              </a:rPr>
              <a:t>……</a:t>
            </a:r>
          </a:p>
          <a:p>
            <a:pPr marL="0" indent="0">
              <a:buNone/>
            </a:pPr>
            <a:r>
              <a:rPr lang="en-US" altLang="zh-TW" sz="1400" dirty="0" smtClean="0">
                <a:hlinkClick r:id="rId2"/>
              </a:rPr>
              <a:t>http://little7dwarfs.pixnet.net/blog/post/182682070-%E4%BA%A4%E5%8F%8Bapp%E4%B8%96%E7%95%8C%E8%A3%A1%E7%9A%84%E7%9C%9F%E7%9B%B8%E6%98%AF%E2%80%A6</a:t>
            </a:r>
            <a:endParaRPr lang="en-US" altLang="zh-TW" sz="1400" dirty="0" smtClean="0"/>
          </a:p>
          <a:p>
            <a:pPr marL="0" indent="0">
              <a:buNone/>
            </a:pPr>
            <a:endParaRPr lang="en-US" altLang="zh-TW" sz="1400" dirty="0" smtClean="0"/>
          </a:p>
          <a:p>
            <a:pPr marL="0" indent="0">
              <a:buNone/>
            </a:pPr>
            <a:r>
              <a:rPr lang="zh-TW" altLang="en-US" dirty="0" smtClean="0">
                <a:latin typeface="微軟正黑體" panose="020B0604030504040204" pitchFamily="34" charset="-120"/>
                <a:ea typeface="微軟正黑體" panose="020B0604030504040204" pitchFamily="34" charset="-120"/>
              </a:rPr>
              <a:t>大部分會使用交友軟體的人都是以想找到男</a:t>
            </a:r>
            <a:r>
              <a:rPr lang="en-US" altLang="zh-TW"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女朋友為主要的目標，然而要遇到能夠長久發展的另一半卻非常困難。若要認識異性，正確的心態最重要。</a:t>
            </a:r>
          </a:p>
          <a:p>
            <a:endParaRPr lang="zh-TW" altLang="en-US" dirty="0"/>
          </a:p>
        </p:txBody>
      </p:sp>
    </p:spTree>
    <p:extLst>
      <p:ext uri="{BB962C8B-B14F-4D97-AF65-F5344CB8AC3E}">
        <p14:creationId xmlns:p14="http://schemas.microsoft.com/office/powerpoint/2010/main" val="5440902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252584"/>
            <a:ext cx="10515600" cy="732155"/>
          </a:xfrm>
        </p:spPr>
        <p:txBody>
          <a:bodyPr/>
          <a:lstStyle/>
          <a:p>
            <a:r>
              <a:rPr lang="zh-TW" altLang="en-US" b="1" dirty="0" smtClean="0">
                <a:latin typeface="微軟正黑體" panose="020B0604030504040204" pitchFamily="34" charset="-120"/>
                <a:ea typeface="微軟正黑體" panose="020B0604030504040204" pitchFamily="34" charset="-120"/>
              </a:rPr>
              <a:t>關於內向的人</a:t>
            </a:r>
            <a:endParaRPr lang="zh-TW" altLang="en-US" b="1"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a:xfrm>
            <a:off x="838200" y="984739"/>
            <a:ext cx="10515600" cy="5873261"/>
          </a:xfrm>
        </p:spPr>
        <p:txBody>
          <a:bodyPr>
            <a:normAutofit fontScale="92500" lnSpcReduction="10000"/>
          </a:bodyPr>
          <a:lstStyle/>
          <a:p>
            <a:pPr marL="0" indent="0">
              <a:buNone/>
            </a:pPr>
            <a:r>
              <a:rPr lang="zh-TW" altLang="en-US" i="1" dirty="0" smtClean="0">
                <a:solidFill>
                  <a:prstClr val="black"/>
                </a:solidFill>
                <a:latin typeface="標楷體" panose="03000509000000000000" pitchFamily="65" charset="-120"/>
                <a:ea typeface="標楷體" panose="03000509000000000000" pitchFamily="65" charset="-120"/>
              </a:rPr>
              <a:t>內向的人如何交朋友？</a:t>
            </a:r>
            <a:endParaRPr lang="en-US" altLang="zh-TW" sz="1800" dirty="0" smtClean="0">
              <a:hlinkClick r:id="rId2"/>
            </a:endParaRPr>
          </a:p>
          <a:p>
            <a:pPr marL="0" indent="0">
              <a:buNone/>
            </a:pPr>
            <a:r>
              <a:rPr lang="en-US" altLang="zh-TW" sz="1800" dirty="0" smtClean="0">
                <a:hlinkClick r:id="rId2"/>
              </a:rPr>
              <a:t>https://www.zhihu.com/question/21670150</a:t>
            </a:r>
            <a:endParaRPr lang="en-US" altLang="zh-TW" sz="1800" dirty="0" smtClean="0"/>
          </a:p>
          <a:p>
            <a:pPr marL="0" indent="0">
              <a:buNone/>
            </a:pPr>
            <a:endParaRPr lang="en-US" altLang="zh-TW" dirty="0"/>
          </a:p>
          <a:p>
            <a:pPr marL="0" indent="0">
              <a:buNone/>
            </a:pPr>
            <a:r>
              <a:rPr lang="zh-TW" altLang="en-US" dirty="0" smtClean="0">
                <a:latin typeface="微軟正黑體" panose="020B0604030504040204" pitchFamily="34" charset="-120"/>
                <a:ea typeface="微軟正黑體" panose="020B0604030504040204" pitchFamily="34" charset="-120"/>
              </a:rPr>
              <a:t>其實不一定是因為内向交不到朋友。有可能是因為内向而不善於自我表達，</a:t>
            </a:r>
            <a:r>
              <a:rPr lang="zh-TW" altLang="en-US" dirty="0">
                <a:latin typeface="微軟正黑體" panose="020B0604030504040204" pitchFamily="34" charset="-120"/>
                <a:ea typeface="微軟正黑體" panose="020B0604030504040204" pitchFamily="34" charset="-120"/>
              </a:rPr>
              <a:t>讓</a:t>
            </a:r>
            <a:r>
              <a:rPr lang="zh-TW" altLang="en-US" dirty="0" smtClean="0">
                <a:latin typeface="微軟正黑體" panose="020B0604030504040204" pitchFamily="34" charset="-120"/>
                <a:ea typeface="微軟正黑體" panose="020B0604030504040204" pitchFamily="34" charset="-120"/>
              </a:rPr>
              <a:t>别人以為你冷漠、自私才交不到朋友。</a:t>
            </a:r>
          </a:p>
          <a:p>
            <a:pPr marL="0" indent="0">
              <a:buNone/>
            </a:pPr>
            <a:r>
              <a:rPr lang="zh-TW" altLang="en-US" b="1" dirty="0" smtClean="0">
                <a:latin typeface="微軟正黑體" panose="020B0604030504040204" pitchFamily="34" charset="-120"/>
                <a:ea typeface="微軟正黑體" panose="020B0604030504040204" pitchFamily="34" charset="-120"/>
              </a:rPr>
              <a:t>→ </a:t>
            </a:r>
            <a:r>
              <a:rPr lang="zh-TW" altLang="en-US" dirty="0" smtClean="0">
                <a:latin typeface="微軟正黑體" panose="020B0604030504040204" pitchFamily="34" charset="-120"/>
                <a:ea typeface="微軟正黑體" panose="020B0604030504040204" pitchFamily="34" charset="-120"/>
              </a:rPr>
              <a:t>表達自己對於很多內向性格的人來說是一項不小的障礙，所以我們的交友軟體可以從促進用戶積極表達 這方面考慮。</a:t>
            </a:r>
          </a:p>
          <a:p>
            <a:endParaRPr lang="en-US" altLang="zh-TW" dirty="0" smtClean="0"/>
          </a:p>
          <a:p>
            <a:pPr marL="0" indent="0">
              <a:buNone/>
            </a:pPr>
            <a:r>
              <a:rPr lang="zh-TW" altLang="en-US" i="1" dirty="0" smtClean="0">
                <a:latin typeface="標楷體" panose="03000509000000000000" pitchFamily="65" charset="-120"/>
                <a:ea typeface="標楷體" panose="03000509000000000000" pitchFamily="65" charset="-120"/>
              </a:rPr>
              <a:t>心理研究：內向性格能帶給別人安全感</a:t>
            </a:r>
            <a:endParaRPr lang="en-US" altLang="zh-TW" dirty="0" smtClean="0"/>
          </a:p>
          <a:p>
            <a:pPr marL="0" indent="0">
              <a:buNone/>
            </a:pPr>
            <a:r>
              <a:rPr lang="en-US" altLang="zh-TW" sz="1500" dirty="0" smtClean="0">
                <a:hlinkClick r:id="rId3"/>
              </a:rPr>
              <a:t>https://kknews.cc/zh-tw/psychology/meexj9z.html</a:t>
            </a:r>
            <a:endParaRPr lang="en-US" altLang="zh-TW" sz="1500" dirty="0" smtClean="0"/>
          </a:p>
          <a:p>
            <a:pPr marL="0" indent="0">
              <a:buNone/>
            </a:pPr>
            <a:endParaRPr lang="en-US" altLang="zh-TW" sz="1500" dirty="0" smtClean="0"/>
          </a:p>
          <a:p>
            <a:pPr marL="0" indent="0">
              <a:buNone/>
            </a:pPr>
            <a:r>
              <a:rPr lang="zh-TW" altLang="en-US" dirty="0" smtClean="0">
                <a:latin typeface="微軟正黑體" panose="020B0604030504040204" pitchFamily="34" charset="-120"/>
                <a:ea typeface="微軟正黑體" panose="020B0604030504040204" pitchFamily="34" charset="-120"/>
              </a:rPr>
              <a:t>內向的人會有更高比例具有誠實、寬容、傾聽他人、不善變等優點，而這些優點更能帶給他人安全感。</a:t>
            </a:r>
          </a:p>
          <a:p>
            <a:pPr marL="0" indent="0">
              <a:buNone/>
            </a:pPr>
            <a:r>
              <a:rPr lang="zh-TW" altLang="en-US" b="1" dirty="0" smtClean="0">
                <a:latin typeface="微軟正黑體" panose="020B0604030504040204" pitchFamily="34" charset="-120"/>
                <a:ea typeface="微軟正黑體" panose="020B0604030504040204" pitchFamily="34" charset="-120"/>
              </a:rPr>
              <a:t>→ </a:t>
            </a:r>
            <a:r>
              <a:rPr lang="zh-TW" altLang="en-US" dirty="0" smtClean="0">
                <a:latin typeface="微軟正黑體" panose="020B0604030504040204" pitchFamily="34" charset="-120"/>
                <a:ea typeface="微軟正黑體" panose="020B0604030504040204" pitchFamily="34" charset="-120"/>
              </a:rPr>
              <a:t>以上這些優點對於發展朋友關係，甚至是情侶關係都十分有利，我們設計的軟體應該設法凸顯他們這些優點。</a:t>
            </a:r>
          </a:p>
          <a:p>
            <a:endParaRPr lang="zh-TW" altLang="en-US" dirty="0"/>
          </a:p>
        </p:txBody>
      </p:sp>
    </p:spTree>
    <p:extLst>
      <p:ext uri="{BB962C8B-B14F-4D97-AF65-F5344CB8AC3E}">
        <p14:creationId xmlns:p14="http://schemas.microsoft.com/office/powerpoint/2010/main" val="29578361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02493"/>
          </a:xfrm>
        </p:spPr>
        <p:txBody>
          <a:bodyPr/>
          <a:lstStyle/>
          <a:p>
            <a:r>
              <a:rPr lang="zh-TW" altLang="en-US" b="1" dirty="0" smtClean="0">
                <a:latin typeface="微軟正黑體" panose="020B0604030504040204" pitchFamily="34" charset="-120"/>
                <a:ea typeface="微軟正黑體" panose="020B0604030504040204" pitchFamily="34" charset="-120"/>
              </a:rPr>
              <a:t>其他</a:t>
            </a:r>
            <a:endParaRPr lang="zh-TW" altLang="en-US" b="1"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a:xfrm>
            <a:off x="838200" y="1375458"/>
            <a:ext cx="10515600" cy="5039410"/>
          </a:xfrm>
        </p:spPr>
        <p:txBody>
          <a:bodyPr>
            <a:normAutofit lnSpcReduction="10000"/>
          </a:bodyPr>
          <a:lstStyle/>
          <a:p>
            <a:pPr marL="0" indent="0">
              <a:buNone/>
            </a:pPr>
            <a:r>
              <a:rPr lang="zh-TW" altLang="en-US" i="1" dirty="0">
                <a:latin typeface="標楷體" panose="03000509000000000000" pitchFamily="65" charset="-120"/>
                <a:ea typeface="標楷體" panose="03000509000000000000" pitchFamily="65" charset="-120"/>
              </a:rPr>
              <a:t>流動的藏私：論匿名社交</a:t>
            </a:r>
            <a:endParaRPr lang="en-US" altLang="zh-TW" i="1" dirty="0">
              <a:latin typeface="標楷體" panose="03000509000000000000" pitchFamily="65" charset="-120"/>
              <a:ea typeface="標楷體" panose="03000509000000000000" pitchFamily="65" charset="-120"/>
            </a:endParaRPr>
          </a:p>
          <a:p>
            <a:pPr marL="0" indent="0">
              <a:buNone/>
            </a:pPr>
            <a:r>
              <a:rPr lang="en-US" altLang="zh-TW" sz="1400" dirty="0" smtClean="0">
                <a:solidFill>
                  <a:srgbClr val="0070C0"/>
                </a:solidFill>
              </a:rPr>
              <a:t>http://www.woshipm.com/it/840246.html </a:t>
            </a:r>
          </a:p>
          <a:p>
            <a:pPr marL="0" indent="0">
              <a:buNone/>
            </a:pPr>
            <a:endParaRPr lang="en-US" altLang="zh-TW" dirty="0" smtClean="0"/>
          </a:p>
          <a:p>
            <a:pPr marL="0" indent="0">
              <a:buNone/>
            </a:pPr>
            <a:r>
              <a:rPr lang="zh-TW" altLang="en-US" dirty="0" smtClean="0">
                <a:latin typeface="微軟正黑體" panose="020B0604030504040204" pitchFamily="34" charset="-120"/>
                <a:ea typeface="微軟正黑體" panose="020B0604030504040204" pitchFamily="34" charset="-120"/>
              </a:rPr>
              <a:t>「只愛陌生人」的特性</a:t>
            </a:r>
            <a:r>
              <a:rPr lang="en-US" altLang="zh-TW"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沒有人情壓力，什麼都可以說。</a:t>
            </a:r>
          </a:p>
          <a:p>
            <a:pPr marL="0" indent="0">
              <a:buNone/>
            </a:pPr>
            <a:r>
              <a:rPr lang="zh-TW" altLang="en-US" b="1"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 陌生人交友仍存在需要</a:t>
            </a:r>
          </a:p>
          <a:p>
            <a:endParaRPr lang="en-US" altLang="zh-TW" dirty="0" smtClean="0"/>
          </a:p>
          <a:p>
            <a:pPr marL="0" indent="0">
              <a:buNone/>
            </a:pPr>
            <a:r>
              <a:rPr lang="zh-TW" altLang="en-US" i="1" dirty="0" smtClean="0">
                <a:latin typeface="標楷體" panose="03000509000000000000" pitchFamily="65" charset="-120"/>
                <a:ea typeface="標楷體" panose="03000509000000000000" pitchFamily="65" charset="-120"/>
              </a:rPr>
              <a:t>交友軟體數據發現：閱讀可以增加吸引力，幫助你更容易找到心靈伴侶！</a:t>
            </a:r>
            <a:endParaRPr lang="en-US" altLang="zh-TW" i="1" dirty="0" smtClean="0">
              <a:latin typeface="標楷體" panose="03000509000000000000" pitchFamily="65" charset="-120"/>
              <a:ea typeface="標楷體" panose="03000509000000000000" pitchFamily="65" charset="-120"/>
            </a:endParaRPr>
          </a:p>
          <a:p>
            <a:pPr marL="0" indent="0">
              <a:buNone/>
            </a:pPr>
            <a:r>
              <a:rPr lang="en-US" altLang="zh-TW" sz="1400" dirty="0" smtClean="0">
                <a:hlinkClick r:id="rId2"/>
              </a:rPr>
              <a:t>https://www.thenewslens.com/article/44105</a:t>
            </a:r>
            <a:endParaRPr lang="en-US" altLang="zh-TW" sz="1400" dirty="0" smtClean="0"/>
          </a:p>
          <a:p>
            <a:pPr marL="0" indent="0">
              <a:buNone/>
            </a:pPr>
            <a:endParaRPr lang="en-US" altLang="zh-TW" sz="1400" dirty="0" smtClean="0"/>
          </a:p>
          <a:p>
            <a:pPr marL="0" indent="0">
              <a:buNone/>
            </a:pPr>
            <a:r>
              <a:rPr lang="zh-TW" altLang="en-US" dirty="0" smtClean="0">
                <a:latin typeface="微軟正黑體" panose="020B0604030504040204" pitchFamily="34" charset="-120"/>
                <a:ea typeface="微軟正黑體" panose="020B0604030504040204" pitchFamily="34" charset="-120"/>
              </a:rPr>
              <a:t>如果在自我介紹裡表達自己對閱讀的嗜好，會讓他人更想了解你，甚至比電影音樂這些流行文化還更引人注目。</a:t>
            </a:r>
          </a:p>
          <a:p>
            <a:endParaRPr lang="zh-TW" altLang="en-US" dirty="0"/>
          </a:p>
        </p:txBody>
      </p:sp>
    </p:spTree>
    <p:extLst>
      <p:ext uri="{BB962C8B-B14F-4D97-AF65-F5344CB8AC3E}">
        <p14:creationId xmlns:p14="http://schemas.microsoft.com/office/powerpoint/2010/main" val="33701276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04246" y="2602523"/>
            <a:ext cx="6370808" cy="1073687"/>
          </a:xfrm>
        </p:spPr>
        <p:txBody>
          <a:bodyPr/>
          <a:lstStyle/>
          <a:p>
            <a:r>
              <a:rPr lang="zh-TW" altLang="en-US" b="1" dirty="0" smtClean="0">
                <a:latin typeface="微軟正黑體" panose="020B0604030504040204" pitchFamily="34" charset="-120"/>
                <a:ea typeface="微軟正黑體" panose="020B0604030504040204" pitchFamily="34" charset="-120"/>
              </a:rPr>
              <a:t>生活中的實際觀察</a:t>
            </a:r>
            <a:endParaRPr lang="zh-TW" altLang="en-US" b="1" dirty="0">
              <a:latin typeface="微軟正黑體" panose="020B0604030504040204" pitchFamily="34" charset="-120"/>
              <a:ea typeface="微軟正黑體" panose="020B0604030504040204" pitchFamily="34" charset="-120"/>
            </a:endParaRPr>
          </a:p>
        </p:txBody>
      </p:sp>
      <p:sp>
        <p:nvSpPr>
          <p:cNvPr id="3" name="文字版面配置區 2"/>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22047871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err="1" smtClean="0"/>
              <a:t>Dcard</a:t>
            </a:r>
            <a:endParaRPr lang="zh-TW" altLang="en-US" b="1" dirty="0"/>
          </a:p>
        </p:txBody>
      </p:sp>
      <p:sp>
        <p:nvSpPr>
          <p:cNvPr id="3" name="內容版面配置區 2"/>
          <p:cNvSpPr>
            <a:spLocks noGrp="1"/>
          </p:cNvSpPr>
          <p:nvPr>
            <p:ph idx="1"/>
          </p:nvPr>
        </p:nvSpPr>
        <p:spPr>
          <a:xfrm>
            <a:off x="739726" y="1920240"/>
            <a:ext cx="10515600" cy="4937760"/>
          </a:xfrm>
        </p:spPr>
        <p:txBody>
          <a:bodyPr>
            <a:normAutofit/>
          </a:bodyPr>
          <a:lstStyle/>
          <a:p>
            <a:pPr marL="0" indent="0">
              <a:buNone/>
            </a:pPr>
            <a:r>
              <a:rPr lang="zh-TW" altLang="en-US" b="1" dirty="0" smtClean="0">
                <a:solidFill>
                  <a:srgbClr val="0070C0"/>
                </a:solidFill>
                <a:latin typeface="微軟正黑體" panose="020B0604030504040204" pitchFamily="34" charset="-120"/>
                <a:ea typeface="微軟正黑體" panose="020B0604030504040204" pitchFamily="34" charset="-120"/>
              </a:rPr>
              <a:t>交友方式</a:t>
            </a:r>
            <a:r>
              <a:rPr lang="zh-TW" altLang="en-US" dirty="0" smtClean="0">
                <a:latin typeface="微軟正黑體" panose="020B0604030504040204" pitchFamily="34" charset="-120"/>
                <a:ea typeface="微軟正黑體" panose="020B0604030504040204" pitchFamily="34" charset="-120"/>
              </a:rPr>
              <a:t>：雙方必須都按下交友邀請，兩方才會成為好友，才能開始訊息往來（並且獲知對方的本名）。</a:t>
            </a:r>
          </a:p>
          <a:p>
            <a:pPr marL="0" indent="0">
              <a:buNone/>
            </a:pPr>
            <a:r>
              <a:rPr lang="zh-TW" altLang="en-US" b="1" dirty="0">
                <a:solidFill>
                  <a:srgbClr val="0070C0"/>
                </a:solidFill>
                <a:latin typeface="微軟正黑體" panose="020B0604030504040204" pitchFamily="34" charset="-120"/>
                <a:ea typeface="微軟正黑體" panose="020B0604030504040204" pitchFamily="34" charset="-120"/>
              </a:rPr>
              <a:t>經驗 </a:t>
            </a:r>
            <a:r>
              <a:rPr lang="en-US" altLang="zh-TW" b="1" dirty="0">
                <a:solidFill>
                  <a:srgbClr val="0070C0"/>
                </a:solidFill>
                <a:latin typeface="微軟正黑體" panose="020B0604030504040204" pitchFamily="34" charset="-120"/>
                <a:ea typeface="微軟正黑體" panose="020B0604030504040204" pitchFamily="34" charset="-120"/>
              </a:rPr>
              <a:t>/ </a:t>
            </a:r>
            <a:r>
              <a:rPr lang="zh-TW" altLang="en-US" b="1" dirty="0">
                <a:solidFill>
                  <a:srgbClr val="0070C0"/>
                </a:solidFill>
                <a:latin typeface="微軟正黑體" panose="020B0604030504040204" pitchFamily="34" charset="-120"/>
                <a:ea typeface="微軟正黑體" panose="020B0604030504040204" pitchFamily="34" charset="-120"/>
              </a:rPr>
              <a:t>心得</a:t>
            </a:r>
            <a:r>
              <a:rPr lang="zh-TW" altLang="en-US" dirty="0" smtClean="0">
                <a:latin typeface="微軟正黑體" panose="020B0604030504040204" pitchFamily="34" charset="-120"/>
                <a:ea typeface="微軟正黑體" panose="020B0604030504040204" pitchFamily="34" charset="-120"/>
              </a:rPr>
              <a:t>：</a:t>
            </a:r>
          </a:p>
          <a:p>
            <a:pPr marL="0" indent="0">
              <a:buNone/>
            </a:pPr>
            <a:r>
              <a:rPr lang="en-US" altLang="zh-TW" dirty="0" smtClean="0">
                <a:latin typeface="微軟正黑體" panose="020B0604030504040204" pitchFamily="34" charset="-120"/>
                <a:ea typeface="微軟正黑體" panose="020B0604030504040204" pitchFamily="34" charset="-120"/>
              </a:rPr>
              <a:t>1.</a:t>
            </a:r>
            <a:r>
              <a:rPr lang="zh-TW" altLang="en-US" dirty="0" smtClean="0">
                <a:latin typeface="微軟正黑體" panose="020B0604030504040204" pitchFamily="34" charset="-120"/>
                <a:ea typeface="微軟正黑體" panose="020B0604030504040204" pitchFamily="34" charset="-120"/>
              </a:rPr>
              <a:t>每天只有一次的機會加好友，所以有興趣的人會認真地看自我介紹，並考慮要不要加好友 。</a:t>
            </a:r>
            <a:endParaRPr lang="en-US" altLang="zh-TW" dirty="0" smtClean="0">
              <a:latin typeface="微軟正黑體" panose="020B0604030504040204" pitchFamily="34" charset="-120"/>
              <a:ea typeface="微軟正黑體" panose="020B0604030504040204" pitchFamily="34" charset="-120"/>
            </a:endParaRPr>
          </a:p>
          <a:p>
            <a:pPr marL="0" indent="0">
              <a:buNone/>
            </a:pPr>
            <a:r>
              <a:rPr lang="en-US" altLang="zh-TW" dirty="0" smtClean="0">
                <a:latin typeface="微軟正黑體" panose="020B0604030504040204" pitchFamily="34" charset="-120"/>
                <a:ea typeface="微軟正黑體" panose="020B0604030504040204" pitchFamily="34" charset="-120"/>
              </a:rPr>
              <a:t>2.</a:t>
            </a:r>
            <a:r>
              <a:rPr lang="zh-TW" altLang="en-US" dirty="0" smtClean="0">
                <a:latin typeface="微軟正黑體" panose="020B0604030504040204" pitchFamily="34" charset="-120"/>
                <a:ea typeface="微軟正黑體" panose="020B0604030504040204" pitchFamily="34" charset="-120"/>
              </a:rPr>
              <a:t>因為是用學校信箱及真實姓名註冊，所以真實性是非常高的，安全性良好。</a:t>
            </a:r>
            <a:endParaRPr lang="en-US" altLang="zh-TW" dirty="0" smtClean="0">
              <a:latin typeface="微軟正黑體" panose="020B0604030504040204" pitchFamily="34" charset="-120"/>
              <a:ea typeface="微軟正黑體" panose="020B0604030504040204" pitchFamily="34" charset="-120"/>
            </a:endParaRPr>
          </a:p>
          <a:p>
            <a:pPr marL="0" indent="0">
              <a:buNone/>
            </a:pPr>
            <a:r>
              <a:rPr lang="en-US" altLang="zh-TW" dirty="0" smtClean="0">
                <a:latin typeface="微軟正黑體" panose="020B0604030504040204" pitchFamily="34" charset="-120"/>
                <a:ea typeface="微軟正黑體" panose="020B0604030504040204" pitchFamily="34" charset="-120"/>
              </a:rPr>
              <a:t>3.</a:t>
            </a:r>
            <a:r>
              <a:rPr lang="zh-TW" altLang="en-US" dirty="0" smtClean="0">
                <a:latin typeface="微軟正黑體" panose="020B0604030504040204" pitchFamily="34" charset="-120"/>
                <a:ea typeface="微軟正黑體" panose="020B0604030504040204" pitchFamily="34" charset="-120"/>
              </a:rPr>
              <a:t>有基本資訊，所以開始聊天時比較容易能製造，變成好友機率比較高。</a:t>
            </a:r>
          </a:p>
        </p:txBody>
      </p:sp>
    </p:spTree>
    <p:extLst>
      <p:ext uri="{BB962C8B-B14F-4D97-AF65-F5344CB8AC3E}">
        <p14:creationId xmlns:p14="http://schemas.microsoft.com/office/powerpoint/2010/main" val="42288502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Soul</a:t>
            </a:r>
            <a:endParaRPr lang="zh-TW" altLang="en-US" b="1" dirty="0"/>
          </a:p>
        </p:txBody>
      </p:sp>
      <p:sp>
        <p:nvSpPr>
          <p:cNvPr id="3" name="內容版面配置區 2"/>
          <p:cNvSpPr>
            <a:spLocks noGrp="1"/>
          </p:cNvSpPr>
          <p:nvPr>
            <p:ph idx="1"/>
          </p:nvPr>
        </p:nvSpPr>
        <p:spPr/>
        <p:txBody>
          <a:bodyPr>
            <a:normAutofit/>
          </a:bodyPr>
          <a:lstStyle/>
          <a:p>
            <a:pPr marL="0" indent="0">
              <a:buNone/>
            </a:pPr>
            <a:r>
              <a:rPr lang="zh-TW" altLang="en-US" b="1" dirty="0">
                <a:solidFill>
                  <a:srgbClr val="0070C0"/>
                </a:solidFill>
                <a:latin typeface="微軟正黑體" panose="020B0604030504040204" pitchFamily="34" charset="-120"/>
                <a:ea typeface="微軟正黑體" panose="020B0604030504040204" pitchFamily="34" charset="-120"/>
              </a:rPr>
              <a:t>交友方式</a:t>
            </a:r>
            <a:r>
              <a:rPr lang="zh-TW" altLang="en-US" dirty="0" smtClean="0">
                <a:latin typeface="微軟正黑體" panose="020B0604030504040204" pitchFamily="34" charset="-120"/>
                <a:ea typeface="微軟正黑體" panose="020B0604030504040204" pitchFamily="34" charset="-120"/>
              </a:rPr>
              <a:t>：註冊賬號後會給出測試，按下</a:t>
            </a:r>
            <a:r>
              <a:rPr lang="en-US" altLang="zh-TW" dirty="0" smtClean="0">
                <a:latin typeface="微軟正黑體" panose="020B0604030504040204" pitchFamily="34" charset="-120"/>
                <a:ea typeface="微軟正黑體" panose="020B0604030504040204" pitchFamily="34" charset="-120"/>
              </a:rPr>
              <a:t>button</a:t>
            </a:r>
            <a:r>
              <a:rPr lang="zh-TW" altLang="en-US" dirty="0" smtClean="0">
                <a:latin typeface="微軟正黑體" panose="020B0604030504040204" pitchFamily="34" charset="-120"/>
                <a:ea typeface="微軟正黑體" panose="020B0604030504040204" pitchFamily="34" charset="-120"/>
              </a:rPr>
              <a:t>「靈魂匹配」或「語音匹配」，就會連接在線的兩個人。看得到的信息是：根據測試歸類的標籤，如「同理心</a:t>
            </a:r>
            <a:r>
              <a:rPr lang="en-US" altLang="zh-TW" dirty="0" smtClean="0">
                <a:latin typeface="微軟正黑體" panose="020B0604030504040204" pitchFamily="34" charset="-120"/>
                <a:ea typeface="微軟正黑體" panose="020B0604030504040204" pitchFamily="34" charset="-120"/>
              </a:rPr>
              <a:t>47%</a:t>
            </a:r>
            <a:r>
              <a:rPr lang="zh-TW" altLang="en-US" dirty="0" smtClean="0">
                <a:latin typeface="微軟正黑體" panose="020B0604030504040204" pitchFamily="34" charset="-120"/>
                <a:ea typeface="微軟正黑體" panose="020B0604030504040204" pitchFamily="34" charset="-120"/>
              </a:rPr>
              <a:t>， 主動性</a:t>
            </a:r>
            <a:r>
              <a:rPr lang="en-US" altLang="zh-TW" dirty="0" smtClean="0">
                <a:latin typeface="微軟正黑體" panose="020B0604030504040204" pitchFamily="34" charset="-120"/>
                <a:ea typeface="微軟正黑體" panose="020B0604030504040204" pitchFamily="34" charset="-120"/>
              </a:rPr>
              <a:t>9%</a:t>
            </a:r>
            <a:r>
              <a:rPr lang="zh-TW" altLang="en-US" dirty="0" smtClean="0">
                <a:latin typeface="微軟正黑體" panose="020B0604030504040204" pitchFamily="34" charset="-120"/>
                <a:ea typeface="微軟正黑體" panose="020B0604030504040204" pitchFamily="34" charset="-120"/>
              </a:rPr>
              <a:t>， 浪漫度</a:t>
            </a:r>
            <a:r>
              <a:rPr lang="en-US" altLang="zh-TW" dirty="0" smtClean="0">
                <a:latin typeface="微軟正黑體" panose="020B0604030504040204" pitchFamily="34" charset="-120"/>
                <a:ea typeface="微軟正黑體" panose="020B0604030504040204" pitchFamily="34" charset="-120"/>
              </a:rPr>
              <a:t>47%</a:t>
            </a:r>
            <a:r>
              <a:rPr lang="zh-TW" altLang="en-US" dirty="0" smtClean="0">
                <a:latin typeface="微軟正黑體" panose="020B0604030504040204" pitchFamily="34" charset="-120"/>
                <a:ea typeface="微軟正黑體" panose="020B0604030504040204" pitchFamily="34" charset="-120"/>
              </a:rPr>
              <a:t>， 事業心</a:t>
            </a:r>
            <a:r>
              <a:rPr lang="en-US" altLang="zh-TW" dirty="0" smtClean="0">
                <a:latin typeface="微軟正黑體" panose="020B0604030504040204" pitchFamily="34" charset="-120"/>
                <a:ea typeface="微軟正黑體" panose="020B0604030504040204" pitchFamily="34" charset="-120"/>
              </a:rPr>
              <a:t>53%</a:t>
            </a:r>
            <a:r>
              <a:rPr lang="zh-TW" altLang="en-US" dirty="0" smtClean="0">
                <a:latin typeface="微軟正黑體" panose="020B0604030504040204" pitchFamily="34" charset="-120"/>
                <a:ea typeface="微軟正黑體" panose="020B0604030504040204" pitchFamily="34" charset="-120"/>
              </a:rPr>
              <a:t>」等。</a:t>
            </a:r>
          </a:p>
          <a:p>
            <a:pPr marL="0" indent="0">
              <a:buNone/>
            </a:pPr>
            <a:r>
              <a:rPr lang="zh-TW" altLang="en-US" b="1" dirty="0">
                <a:solidFill>
                  <a:srgbClr val="0070C0"/>
                </a:solidFill>
                <a:latin typeface="微軟正黑體" panose="020B0604030504040204" pitchFamily="34" charset="-120"/>
                <a:ea typeface="微軟正黑體" panose="020B0604030504040204" pitchFamily="34" charset="-120"/>
              </a:rPr>
              <a:t>經驗 </a:t>
            </a:r>
            <a:r>
              <a:rPr lang="en-US" altLang="zh-TW" b="1" dirty="0">
                <a:solidFill>
                  <a:srgbClr val="0070C0"/>
                </a:solidFill>
                <a:latin typeface="微軟正黑體" panose="020B0604030504040204" pitchFamily="34" charset="-120"/>
                <a:ea typeface="微軟正黑體" panose="020B0604030504040204" pitchFamily="34" charset="-120"/>
              </a:rPr>
              <a:t>/ </a:t>
            </a:r>
            <a:r>
              <a:rPr lang="zh-TW" altLang="en-US" b="1" dirty="0">
                <a:solidFill>
                  <a:srgbClr val="0070C0"/>
                </a:solidFill>
                <a:latin typeface="微軟正黑體" panose="020B0604030504040204" pitchFamily="34" charset="-120"/>
                <a:ea typeface="微軟正黑體" panose="020B0604030504040204" pitchFamily="34" charset="-120"/>
              </a:rPr>
              <a:t>心得</a:t>
            </a:r>
            <a:r>
              <a:rPr lang="zh-TW" altLang="en-US" dirty="0" smtClean="0">
                <a:latin typeface="微軟正黑體" panose="020B0604030504040204" pitchFamily="34" charset="-120"/>
                <a:ea typeface="微軟正黑體" panose="020B0604030504040204" pitchFamily="34" charset="-120"/>
              </a:rPr>
              <a:t>：</a:t>
            </a:r>
          </a:p>
          <a:p>
            <a:pPr marL="0" indent="0">
              <a:buNone/>
            </a:pPr>
            <a:r>
              <a:rPr lang="zh-TW" altLang="en-US" dirty="0" smtClean="0">
                <a:latin typeface="微軟正黑體" panose="020B0604030504040204" pitchFamily="34" charset="-120"/>
                <a:ea typeface="微軟正黑體" panose="020B0604030504040204" pitchFamily="34" charset="-120"/>
              </a:rPr>
              <a:t>這個</a:t>
            </a:r>
            <a:r>
              <a:rPr lang="en-US" altLang="zh-TW" dirty="0" smtClean="0">
                <a:latin typeface="微軟正黑體" panose="020B0604030504040204" pitchFamily="34" charset="-120"/>
                <a:ea typeface="微軟正黑體" panose="020B0604030504040204" pitchFamily="34" charset="-120"/>
              </a:rPr>
              <a:t>app</a:t>
            </a:r>
            <a:r>
              <a:rPr lang="zh-TW" altLang="en-US" dirty="0" smtClean="0">
                <a:latin typeface="微軟正黑體" panose="020B0604030504040204" pitchFamily="34" charset="-120"/>
                <a:ea typeface="微軟正黑體" panose="020B0604030504040204" pitchFamily="34" charset="-120"/>
              </a:rPr>
              <a:t>用自己的語言來對一個人加標籤，而不是留下很大的空白讓用戶自己寫，同時又不洩露郵箱、手機號碼、社交賬號等信息，算是比較有安全感。</a:t>
            </a:r>
          </a:p>
          <a:p>
            <a:endParaRPr lang="zh-TW" altLang="en-US" dirty="0" smtClean="0"/>
          </a:p>
          <a:p>
            <a:endParaRPr lang="zh-TW" altLang="en-US" dirty="0"/>
          </a:p>
        </p:txBody>
      </p:sp>
    </p:spTree>
    <p:extLst>
      <p:ext uri="{BB962C8B-B14F-4D97-AF65-F5344CB8AC3E}">
        <p14:creationId xmlns:p14="http://schemas.microsoft.com/office/powerpoint/2010/main" val="31922819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err="1" smtClean="0"/>
              <a:t>Wootalk</a:t>
            </a:r>
            <a:endParaRPr lang="zh-TW" altLang="en-US" b="1" dirty="0"/>
          </a:p>
        </p:txBody>
      </p:sp>
      <p:sp>
        <p:nvSpPr>
          <p:cNvPr id="3" name="內容版面配置區 2"/>
          <p:cNvSpPr>
            <a:spLocks noGrp="1"/>
          </p:cNvSpPr>
          <p:nvPr>
            <p:ph idx="1"/>
          </p:nvPr>
        </p:nvSpPr>
        <p:spPr>
          <a:xfrm>
            <a:off x="838200" y="1690688"/>
            <a:ext cx="10515600" cy="4935195"/>
          </a:xfrm>
        </p:spPr>
        <p:txBody>
          <a:bodyPr>
            <a:normAutofit/>
          </a:bodyPr>
          <a:lstStyle/>
          <a:p>
            <a:pPr marL="0" indent="0">
              <a:buNone/>
            </a:pPr>
            <a:r>
              <a:rPr lang="zh-TW" altLang="en-US" b="1" dirty="0">
                <a:solidFill>
                  <a:srgbClr val="0070C0"/>
                </a:solidFill>
                <a:latin typeface="微軟正黑體" panose="020B0604030504040204" pitchFamily="34" charset="-120"/>
                <a:ea typeface="微軟正黑體" panose="020B0604030504040204" pitchFamily="34" charset="-120"/>
              </a:rPr>
              <a:t>交友方式</a:t>
            </a:r>
            <a:r>
              <a:rPr lang="zh-TW" altLang="en-US" dirty="0" smtClean="0">
                <a:latin typeface="微軟正黑體" panose="020B0604030504040204" pitchFamily="34" charset="-120"/>
                <a:ea typeface="微軟正黑體" panose="020B0604030504040204" pitchFamily="34" charset="-120"/>
              </a:rPr>
              <a:t>：不須註冊任何帳號，不用輸入任何資料或上傳照片，只要打開網頁，按下</a:t>
            </a:r>
            <a:r>
              <a:rPr lang="en-US" altLang="zh-TW"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開始聊天</a:t>
            </a:r>
            <a:r>
              <a:rPr lang="en-US" altLang="zh-TW"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，即可隨機和一位陌生人進行聊天。</a:t>
            </a:r>
          </a:p>
          <a:p>
            <a:pPr marL="0" indent="0">
              <a:buNone/>
            </a:pPr>
            <a:r>
              <a:rPr lang="zh-TW" altLang="en-US" b="1" dirty="0" smtClean="0">
                <a:solidFill>
                  <a:srgbClr val="0070C0"/>
                </a:solidFill>
                <a:latin typeface="微軟正黑體" panose="020B0604030504040204" pitchFamily="34" charset="-120"/>
                <a:ea typeface="微軟正黑體" panose="020B0604030504040204" pitchFamily="34" charset="-120"/>
              </a:rPr>
              <a:t>經驗 </a:t>
            </a:r>
            <a:r>
              <a:rPr lang="en-US" altLang="zh-TW" b="1" dirty="0" smtClean="0">
                <a:solidFill>
                  <a:srgbClr val="0070C0"/>
                </a:solidFill>
                <a:latin typeface="微軟正黑體" panose="020B0604030504040204" pitchFamily="34" charset="-120"/>
                <a:ea typeface="微軟正黑體" panose="020B0604030504040204" pitchFamily="34" charset="-120"/>
              </a:rPr>
              <a:t>/ </a:t>
            </a:r>
            <a:r>
              <a:rPr lang="zh-TW" altLang="en-US" b="1" dirty="0" smtClean="0">
                <a:solidFill>
                  <a:srgbClr val="0070C0"/>
                </a:solidFill>
                <a:latin typeface="微軟正黑體" panose="020B0604030504040204" pitchFamily="34" charset="-120"/>
                <a:ea typeface="微軟正黑體" panose="020B0604030504040204" pitchFamily="34" charset="-120"/>
              </a:rPr>
              <a:t>心得</a:t>
            </a:r>
            <a:r>
              <a:rPr lang="zh-TW" altLang="en-US" dirty="0" smtClean="0">
                <a:latin typeface="微軟正黑體" panose="020B0604030504040204" pitchFamily="34" charset="-120"/>
                <a:ea typeface="微軟正黑體" panose="020B0604030504040204" pitchFamily="34" charset="-120"/>
              </a:rPr>
              <a:t>：</a:t>
            </a:r>
            <a:endParaRPr lang="en-US" altLang="zh-TW" dirty="0" smtClean="0">
              <a:latin typeface="微軟正黑體" panose="020B0604030504040204" pitchFamily="34" charset="-120"/>
              <a:ea typeface="微軟正黑體" panose="020B0604030504040204" pitchFamily="34" charset="-120"/>
            </a:endParaRPr>
          </a:p>
          <a:p>
            <a:pPr marL="0" indent="0">
              <a:buNone/>
            </a:pPr>
            <a:r>
              <a:rPr lang="en-US" altLang="zh-TW" dirty="0" smtClean="0">
                <a:latin typeface="微軟正黑體" panose="020B0604030504040204" pitchFamily="34" charset="-120"/>
                <a:ea typeface="微軟正黑體" panose="020B0604030504040204" pitchFamily="34" charset="-120"/>
              </a:rPr>
              <a:t>1.</a:t>
            </a:r>
            <a:r>
              <a:rPr lang="zh-TW" altLang="en-US" dirty="0" smtClean="0">
                <a:latin typeface="微軟正黑體" panose="020B0604030504040204" pitchFamily="34" charset="-120"/>
                <a:ea typeface="微軟正黑體" panose="020B0604030504040204" pitchFamily="34" charset="-120"/>
              </a:rPr>
              <a:t>使用起來很方便，完全不用其他手續、步驟，也不用挑選人。</a:t>
            </a:r>
            <a:endParaRPr lang="en-US" altLang="zh-TW" dirty="0" smtClean="0">
              <a:latin typeface="微軟正黑體" panose="020B0604030504040204" pitchFamily="34" charset="-120"/>
              <a:ea typeface="微軟正黑體" panose="020B0604030504040204" pitchFamily="34" charset="-120"/>
            </a:endParaRPr>
          </a:p>
          <a:p>
            <a:pPr marL="0" indent="0">
              <a:buNone/>
            </a:pPr>
            <a:r>
              <a:rPr lang="en-US" altLang="zh-TW" dirty="0" smtClean="0">
                <a:latin typeface="微軟正黑體" panose="020B0604030504040204" pitchFamily="34" charset="-120"/>
                <a:ea typeface="微軟正黑體" panose="020B0604030504040204" pitchFamily="34" charset="-120"/>
              </a:rPr>
              <a:t>2.</a:t>
            </a:r>
            <a:r>
              <a:rPr lang="zh-TW" altLang="en-US" dirty="0" smtClean="0">
                <a:latin typeface="微軟正黑體" panose="020B0604030504040204" pitchFamily="34" charset="-120"/>
                <a:ea typeface="微軟正黑體" panose="020B0604030504040204" pitchFamily="34" charset="-120"/>
              </a:rPr>
              <a:t> 在聊天初期可以比較保有隱私。</a:t>
            </a:r>
            <a:endParaRPr lang="en-US" altLang="zh-TW" dirty="0" smtClean="0">
              <a:latin typeface="微軟正黑體" panose="020B0604030504040204" pitchFamily="34" charset="-120"/>
              <a:ea typeface="微軟正黑體" panose="020B0604030504040204" pitchFamily="34" charset="-120"/>
            </a:endParaRPr>
          </a:p>
          <a:p>
            <a:pPr marL="0" indent="0">
              <a:buNone/>
            </a:pPr>
            <a:r>
              <a:rPr lang="en-US" altLang="zh-TW" dirty="0" smtClean="0">
                <a:latin typeface="微軟正黑體" panose="020B0604030504040204" pitchFamily="34" charset="-120"/>
                <a:ea typeface="微軟正黑體" panose="020B0604030504040204" pitchFamily="34" charset="-120"/>
              </a:rPr>
              <a:t>3.</a:t>
            </a:r>
            <a:r>
              <a:rPr lang="zh-TW" altLang="en-US" dirty="0" smtClean="0">
                <a:latin typeface="微軟正黑體" panose="020B0604030504040204" pitchFamily="34" charset="-120"/>
                <a:ea typeface="微軟正黑體" panose="020B0604030504040204" pitchFamily="34" charset="-120"/>
              </a:rPr>
              <a:t>如果只是純粹想找個人聊天的話，蠻沒有壓力的。</a:t>
            </a:r>
            <a:endParaRPr lang="en-US" altLang="zh-TW" dirty="0" smtClean="0">
              <a:latin typeface="微軟正黑體" panose="020B0604030504040204" pitchFamily="34" charset="-120"/>
              <a:ea typeface="微軟正黑體" panose="020B0604030504040204" pitchFamily="34" charset="-120"/>
            </a:endParaRPr>
          </a:p>
          <a:p>
            <a:pPr marL="0" indent="0">
              <a:buNone/>
            </a:pPr>
            <a:r>
              <a:rPr lang="en-US" altLang="zh-TW" dirty="0" smtClean="0">
                <a:latin typeface="微軟正黑體" panose="020B0604030504040204" pitchFamily="34" charset="-120"/>
                <a:ea typeface="微軟正黑體" panose="020B0604030504040204" pitchFamily="34" charset="-120"/>
              </a:rPr>
              <a:t>4.</a:t>
            </a:r>
            <a:r>
              <a:rPr lang="zh-TW" altLang="en-US" dirty="0" smtClean="0">
                <a:latin typeface="微軟正黑體" panose="020B0604030504040204" pitchFamily="34" charset="-120"/>
                <a:ea typeface="微軟正黑體" panose="020B0604030504040204" pitchFamily="34" charset="-120"/>
              </a:rPr>
              <a:t> 匿名性高，有特殊意圖的人難以過濾，對於真的想認識朋友的人可能會沒有保障。</a:t>
            </a:r>
            <a:endParaRPr lang="en-US" altLang="zh-TW" dirty="0" smtClean="0">
              <a:latin typeface="微軟正黑體" panose="020B0604030504040204" pitchFamily="34" charset="-120"/>
              <a:ea typeface="微軟正黑體" panose="020B0604030504040204" pitchFamily="34" charset="-120"/>
            </a:endParaRPr>
          </a:p>
          <a:p>
            <a:pPr marL="0" indent="0">
              <a:buNone/>
            </a:pPr>
            <a:r>
              <a:rPr lang="en-US" altLang="zh-TW" dirty="0" smtClean="0">
                <a:latin typeface="微軟正黑體" panose="020B0604030504040204" pitchFamily="34" charset="-120"/>
                <a:ea typeface="微軟正黑體" panose="020B0604030504040204" pitchFamily="34" charset="-120"/>
              </a:rPr>
              <a:t>5.</a:t>
            </a:r>
            <a:r>
              <a:rPr lang="zh-TW" altLang="en-US" dirty="0" smtClean="0">
                <a:latin typeface="微軟正黑體" panose="020B0604030504040204" pitchFamily="34" charset="-120"/>
                <a:ea typeface="微軟正黑體" panose="020B0604030504040204" pitchFamily="34" charset="-120"/>
              </a:rPr>
              <a:t> 其實很難真的聊起來，對於一個背景完全陌生的人會不知道要聊什麼，自己也不敢透露自己太多訊息，造成很難真正的交友。</a:t>
            </a:r>
          </a:p>
          <a:p>
            <a:endParaRPr lang="zh-TW" altLang="en-US" dirty="0"/>
          </a:p>
        </p:txBody>
      </p:sp>
    </p:spTree>
    <p:extLst>
      <p:ext uri="{BB962C8B-B14F-4D97-AF65-F5344CB8AC3E}">
        <p14:creationId xmlns:p14="http://schemas.microsoft.com/office/powerpoint/2010/main" val="28890526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T</a:t>
            </a:r>
            <a:r>
              <a:rPr lang="en-US" altLang="zh-TW" b="1" dirty="0" smtClean="0"/>
              <a:t>inder</a:t>
            </a:r>
            <a:endParaRPr lang="zh-TW" altLang="en-US" b="1" dirty="0"/>
          </a:p>
        </p:txBody>
      </p:sp>
      <p:sp>
        <p:nvSpPr>
          <p:cNvPr id="3" name="內容版面配置區 2"/>
          <p:cNvSpPr>
            <a:spLocks noGrp="1"/>
          </p:cNvSpPr>
          <p:nvPr>
            <p:ph idx="1"/>
          </p:nvPr>
        </p:nvSpPr>
        <p:spPr/>
        <p:txBody>
          <a:bodyPr/>
          <a:lstStyle/>
          <a:p>
            <a:pPr marL="0" indent="0">
              <a:buNone/>
            </a:pPr>
            <a:r>
              <a:rPr lang="zh-TW" altLang="en-US" b="1" dirty="0">
                <a:solidFill>
                  <a:srgbClr val="0070C0"/>
                </a:solidFill>
                <a:latin typeface="微軟正黑體" panose="020B0604030504040204" pitchFamily="34" charset="-120"/>
                <a:ea typeface="微軟正黑體" panose="020B0604030504040204" pitchFamily="34" charset="-120"/>
              </a:rPr>
              <a:t>交友</a:t>
            </a:r>
            <a:r>
              <a:rPr lang="zh-TW" altLang="en-US" b="1" dirty="0" smtClean="0">
                <a:solidFill>
                  <a:srgbClr val="0070C0"/>
                </a:solidFill>
                <a:latin typeface="微軟正黑體" panose="020B0604030504040204" pitchFamily="34" charset="-120"/>
                <a:ea typeface="微軟正黑體" panose="020B0604030504040204" pitchFamily="34" charset="-120"/>
              </a:rPr>
              <a:t>方式</a:t>
            </a:r>
            <a:r>
              <a:rPr lang="zh-TW" altLang="en-US" b="1"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註冊帳號之後就可以開始配對，基本上配對的方法是會有一些照片，覺得喜歡這張照片就往左滑，不喜歡就往右滑，如果彼此都中意對方的照片就可會配對聊天。</a:t>
            </a:r>
          </a:p>
          <a:p>
            <a:pPr marL="0" indent="0">
              <a:buNone/>
            </a:pPr>
            <a:r>
              <a:rPr lang="zh-TW" altLang="en-US" b="1" dirty="0" smtClean="0">
                <a:solidFill>
                  <a:srgbClr val="0070C0"/>
                </a:solidFill>
                <a:latin typeface="微軟正黑體" panose="020B0604030504040204" pitchFamily="34" charset="-120"/>
                <a:ea typeface="微軟正黑體" panose="020B0604030504040204" pitchFamily="34" charset="-120"/>
              </a:rPr>
              <a:t>經驗 </a:t>
            </a:r>
            <a:r>
              <a:rPr lang="en-US" altLang="zh-TW" b="1" dirty="0" smtClean="0">
                <a:solidFill>
                  <a:srgbClr val="0070C0"/>
                </a:solidFill>
                <a:latin typeface="微軟正黑體" panose="020B0604030504040204" pitchFamily="34" charset="-120"/>
                <a:ea typeface="微軟正黑體" panose="020B0604030504040204" pitchFamily="34" charset="-120"/>
              </a:rPr>
              <a:t>/ </a:t>
            </a:r>
            <a:r>
              <a:rPr lang="zh-TW" altLang="en-US" b="1" dirty="0" smtClean="0">
                <a:solidFill>
                  <a:srgbClr val="0070C0"/>
                </a:solidFill>
                <a:latin typeface="微軟正黑體" panose="020B0604030504040204" pitchFamily="34" charset="-120"/>
                <a:ea typeface="微軟正黑體" panose="020B0604030504040204" pitchFamily="34" charset="-120"/>
              </a:rPr>
              <a:t>心得</a:t>
            </a:r>
            <a:r>
              <a:rPr lang="zh-TW" altLang="en-US" dirty="0" smtClean="0">
                <a:latin typeface="微軟正黑體" panose="020B0604030504040204" pitchFamily="34" charset="-120"/>
                <a:ea typeface="微軟正黑體" panose="020B0604030504040204" pitchFamily="34" charset="-120"/>
              </a:rPr>
              <a:t>：</a:t>
            </a:r>
            <a:endParaRPr lang="en-US" altLang="zh-TW" dirty="0" smtClean="0">
              <a:latin typeface="微軟正黑體" panose="020B0604030504040204" pitchFamily="34" charset="-120"/>
              <a:ea typeface="微軟正黑體" panose="020B0604030504040204" pitchFamily="34" charset="-120"/>
            </a:endParaRPr>
          </a:p>
          <a:p>
            <a:pPr marL="0" indent="0">
              <a:buNone/>
            </a:pPr>
            <a:r>
              <a:rPr lang="zh-TW" altLang="en-US" dirty="0" smtClean="0">
                <a:latin typeface="微軟正黑體" panose="020B0604030504040204" pitchFamily="34" charset="-120"/>
                <a:ea typeface="微軟正黑體" panose="020B0604030504040204" pitchFamily="34" charset="-120"/>
              </a:rPr>
              <a:t>大概滑了數十張還沒有任何結果就不想使用了，配對的機率實在太低。個人認為如果喜歡看異性照片或是接受程度很高的話可能會比較容易配對成功。</a:t>
            </a:r>
          </a:p>
          <a:p>
            <a:endParaRPr lang="zh-TW" altLang="en-US" dirty="0"/>
          </a:p>
        </p:txBody>
      </p:sp>
    </p:spTree>
    <p:extLst>
      <p:ext uri="{BB962C8B-B14F-4D97-AF65-F5344CB8AC3E}">
        <p14:creationId xmlns:p14="http://schemas.microsoft.com/office/powerpoint/2010/main" val="10654926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31452" y="2912013"/>
            <a:ext cx="7116396" cy="1115890"/>
          </a:xfrm>
        </p:spPr>
        <p:txBody>
          <a:bodyPr>
            <a:normAutofit/>
          </a:bodyPr>
          <a:lstStyle/>
          <a:p>
            <a:r>
              <a:rPr lang="zh-TW" altLang="en-US" sz="4800" b="1" dirty="0" smtClean="0">
                <a:latin typeface="微軟正黑體" panose="020B0604030504040204" pitchFamily="34" charset="-120"/>
                <a:ea typeface="微軟正黑體" panose="020B0604030504040204" pitchFamily="34" charset="-120"/>
              </a:rPr>
              <a:t>讓我們來幫助內向的人！</a:t>
            </a:r>
            <a:endParaRPr lang="zh-TW" altLang="en-US" sz="4800" b="1" dirty="0">
              <a:latin typeface="微軟正黑體" panose="020B0604030504040204" pitchFamily="34" charset="-120"/>
              <a:ea typeface="微軟正黑體" panose="020B0604030504040204" pitchFamily="34" charset="-120"/>
            </a:endParaRPr>
          </a:p>
        </p:txBody>
      </p:sp>
      <p:sp>
        <p:nvSpPr>
          <p:cNvPr id="3" name="文字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37075628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基準</Template>
  <TotalTime>108</TotalTime>
  <Words>1106</Words>
  <Application>Microsoft Office PowerPoint</Application>
  <PresentationFormat>寬螢幕</PresentationFormat>
  <Paragraphs>80</Paragraphs>
  <Slides>16</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微軟正黑體</vt:lpstr>
      <vt:lpstr>新細明體</vt:lpstr>
      <vt:lpstr>標楷體</vt:lpstr>
      <vt:lpstr>Arial</vt:lpstr>
      <vt:lpstr>Calibri</vt:lpstr>
      <vt:lpstr>Calibri Light</vt:lpstr>
      <vt:lpstr>Office 佈景主題</vt:lpstr>
      <vt:lpstr>校園交友軟體</vt:lpstr>
      <vt:lpstr>動機</vt:lpstr>
      <vt:lpstr>PowerPoint 簡報</vt:lpstr>
      <vt:lpstr>人性探討</vt:lpstr>
      <vt:lpstr>關於交友軟體</vt:lpstr>
      <vt:lpstr>關於交友軟體</vt:lpstr>
      <vt:lpstr>關於交友軟體</vt:lpstr>
      <vt:lpstr>關於交友軟體</vt:lpstr>
      <vt:lpstr>關於內向的人</vt:lpstr>
      <vt:lpstr>其他</vt:lpstr>
      <vt:lpstr>生活中的實際觀察</vt:lpstr>
      <vt:lpstr>Dcard</vt:lpstr>
      <vt:lpstr>Soul</vt:lpstr>
      <vt:lpstr>Wootalk</vt:lpstr>
      <vt:lpstr>Tinder</vt:lpstr>
      <vt:lpstr>讓我們來幫助內向的人！</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校園交友軟體</dc:title>
  <dc:creator>佩君 虞</dc:creator>
  <cp:lastModifiedBy>佩君 虞</cp:lastModifiedBy>
  <cp:revision>15</cp:revision>
  <dcterms:created xsi:type="dcterms:W3CDTF">2018-10-16T15:05:40Z</dcterms:created>
  <dcterms:modified xsi:type="dcterms:W3CDTF">2018-10-17T00:35:23Z</dcterms:modified>
</cp:coreProperties>
</file>