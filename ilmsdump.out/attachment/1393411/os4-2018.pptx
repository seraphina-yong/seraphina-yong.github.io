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60"/>
  </p:notesMasterIdLst>
  <p:handoutMasterIdLst>
    <p:handoutMasterId r:id="rId61"/>
  </p:handoutMasterIdLst>
  <p:sldIdLst>
    <p:sldId id="291" r:id="rId2"/>
    <p:sldId id="263" r:id="rId3"/>
    <p:sldId id="292" r:id="rId4"/>
    <p:sldId id="340" r:id="rId5"/>
    <p:sldId id="264" r:id="rId6"/>
    <p:sldId id="334" r:id="rId7"/>
    <p:sldId id="294" r:id="rId8"/>
    <p:sldId id="295" r:id="rId9"/>
    <p:sldId id="329" r:id="rId10"/>
    <p:sldId id="342" r:id="rId11"/>
    <p:sldId id="378" r:id="rId12"/>
    <p:sldId id="341" r:id="rId13"/>
    <p:sldId id="279" r:id="rId14"/>
    <p:sldId id="280" r:id="rId15"/>
    <p:sldId id="296" r:id="rId16"/>
    <p:sldId id="300" r:id="rId17"/>
    <p:sldId id="301" r:id="rId18"/>
    <p:sldId id="282" r:id="rId19"/>
    <p:sldId id="283" r:id="rId20"/>
    <p:sldId id="286" r:id="rId21"/>
    <p:sldId id="318" r:id="rId22"/>
    <p:sldId id="319" r:id="rId23"/>
    <p:sldId id="288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74" r:id="rId33"/>
    <p:sldId id="359" r:id="rId34"/>
    <p:sldId id="375" r:id="rId35"/>
    <p:sldId id="360" r:id="rId36"/>
    <p:sldId id="376" r:id="rId37"/>
    <p:sldId id="361" r:id="rId38"/>
    <p:sldId id="343" r:id="rId39"/>
    <p:sldId id="344" r:id="rId40"/>
    <p:sldId id="370" r:id="rId41"/>
    <p:sldId id="371" r:id="rId42"/>
    <p:sldId id="345" r:id="rId43"/>
    <p:sldId id="372" r:id="rId44"/>
    <p:sldId id="373" r:id="rId45"/>
    <p:sldId id="349" r:id="rId46"/>
    <p:sldId id="326" r:id="rId47"/>
    <p:sldId id="337" r:id="rId48"/>
    <p:sldId id="290" r:id="rId49"/>
    <p:sldId id="338" r:id="rId50"/>
    <p:sldId id="362" r:id="rId51"/>
    <p:sldId id="363" r:id="rId52"/>
    <p:sldId id="364" r:id="rId53"/>
    <p:sldId id="366" r:id="rId54"/>
    <p:sldId id="367" r:id="rId55"/>
    <p:sldId id="368" r:id="rId56"/>
    <p:sldId id="369" r:id="rId57"/>
    <p:sldId id="379" r:id="rId58"/>
    <p:sldId id="380" r:id="rId59"/>
  </p:sldIdLst>
  <p:sldSz cx="9144000" cy="6858000" type="screen4x3"/>
  <p:notesSz cx="6807200" cy="99393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48" autoAdjust="0"/>
  </p:normalViewPr>
  <p:slideViewPr>
    <p:cSldViewPr snapToGrid="0">
      <p:cViewPr varScale="1">
        <p:scale>
          <a:sx n="63" d="100"/>
          <a:sy n="63" d="100"/>
        </p:scale>
        <p:origin x="9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323" cy="491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27" tIns="47413" rIns="94827" bIns="47413" numCol="1" anchor="ctr" anchorCtr="0" compatLnSpc="1">
            <a:prstTxWarp prst="textNoShape">
              <a:avLst/>
            </a:prstTxWarp>
          </a:bodyPr>
          <a:lstStyle>
            <a:lvl1pPr defTabSz="947096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5770" y="0"/>
            <a:ext cx="2970502" cy="491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27" tIns="47413" rIns="94827" bIns="47413" numCol="1" anchor="ctr" anchorCtr="0" compatLnSpc="1">
            <a:prstTxWarp prst="textNoShape">
              <a:avLst/>
            </a:prstTxWarp>
          </a:bodyPr>
          <a:lstStyle>
            <a:lvl1pPr algn="r" defTabSz="947096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64220"/>
            <a:ext cx="2967323" cy="48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27" tIns="47413" rIns="94827" bIns="47413" numCol="1" anchor="b" anchorCtr="0" compatLnSpc="1">
            <a:prstTxWarp prst="textNoShape">
              <a:avLst/>
            </a:prstTxWarp>
          </a:bodyPr>
          <a:lstStyle>
            <a:lvl1pPr defTabSz="947096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5770" y="9464220"/>
            <a:ext cx="2970502" cy="48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27" tIns="47413" rIns="94827" bIns="47413" numCol="1" anchor="b" anchorCtr="0" compatLnSpc="1">
            <a:prstTxWarp prst="textNoShape">
              <a:avLst/>
            </a:prstTxWarp>
          </a:bodyPr>
          <a:lstStyle>
            <a:lvl1pPr algn="r" defTabSz="947096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fld id="{98BA2B6E-C2D9-4B6D-8D6D-BA9ADC7078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920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323" cy="491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27" tIns="47413" rIns="94827" bIns="47413" numCol="1" anchor="ctr" anchorCtr="0" compatLnSpc="1">
            <a:prstTxWarp prst="textNoShape">
              <a:avLst/>
            </a:prstTxWarp>
          </a:bodyPr>
          <a:lstStyle>
            <a:lvl1pPr defTabSz="947096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770" y="0"/>
            <a:ext cx="2970502" cy="491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27" tIns="47413" rIns="94827" bIns="47413" numCol="1" anchor="ctr" anchorCtr="0" compatLnSpc="1">
            <a:prstTxWarp prst="textNoShape">
              <a:avLst/>
            </a:prstTxWarp>
          </a:bodyPr>
          <a:lstStyle>
            <a:lvl1pPr algn="r" defTabSz="947096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5013"/>
            <a:ext cx="5000625" cy="37512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1628" y="4732110"/>
            <a:ext cx="5044607" cy="4488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27" tIns="47413" rIns="94827" bIns="474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220"/>
            <a:ext cx="2967323" cy="48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27" tIns="47413" rIns="94827" bIns="47413" numCol="1" anchor="b" anchorCtr="0" compatLnSpc="1">
            <a:prstTxWarp prst="textNoShape">
              <a:avLst/>
            </a:prstTxWarp>
          </a:bodyPr>
          <a:lstStyle>
            <a:lvl1pPr defTabSz="947096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770" y="9464220"/>
            <a:ext cx="2970502" cy="48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27" tIns="47413" rIns="94827" bIns="47413" numCol="1" anchor="b" anchorCtr="0" compatLnSpc="1">
            <a:prstTxWarp prst="textNoShape">
              <a:avLst/>
            </a:prstTxWarp>
          </a:bodyPr>
          <a:lstStyle>
            <a:lvl1pPr algn="r" defTabSz="947096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fld id="{F061DBB3-714D-4926-B74D-E0D92A39935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29122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9547E4F-2841-47BA-8F49-FAF745D62DE0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7810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020210A-567C-4CEF-B46D-9B39016BF23F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2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14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36A7FBC-C8A9-48F3-978C-F719785ECC92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3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368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E2053F1-E6BA-409B-B7F0-BF7F25457C0D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4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4298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08724A7-81F5-458B-B965-08022CCD7910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647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A48FEA4-80FA-4625-88EE-EEA1371784B3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6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736600"/>
            <a:ext cx="5000625" cy="3751263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038" y="4733699"/>
            <a:ext cx="5046197" cy="4485811"/>
          </a:xfrm>
          <a:noFill/>
        </p:spPr>
        <p:txBody>
          <a:bodyPr lIns="90983" tIns="45490" rIns="90983" bIns="4549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429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5784883-3A36-4BCF-AA11-642C7FA18E4E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7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759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A7A6BB2-18DC-4883-ACE2-65976A00322A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8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106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538F896-24CE-46B8-9A56-E7013E04943D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9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736600"/>
            <a:ext cx="5000625" cy="3751263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038" y="4733699"/>
            <a:ext cx="5046197" cy="4485811"/>
          </a:xfrm>
          <a:noFill/>
        </p:spPr>
        <p:txBody>
          <a:bodyPr lIns="90983" tIns="45490" rIns="90983" bIns="4549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500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4299E35-E401-4FBE-92D9-3914F2796171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10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736600"/>
            <a:ext cx="5000625" cy="3751263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038" y="4733699"/>
            <a:ext cx="5046197" cy="4485811"/>
          </a:xfrm>
          <a:noFill/>
        </p:spPr>
        <p:txBody>
          <a:bodyPr lIns="90983" tIns="45490" rIns="90983" bIns="4549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245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4299E35-E401-4FBE-92D9-3914F2796171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11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736600"/>
            <a:ext cx="5000625" cy="3751263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038" y="4733699"/>
            <a:ext cx="5046197" cy="4485811"/>
          </a:xfrm>
          <a:noFill/>
        </p:spPr>
        <p:txBody>
          <a:bodyPr lIns="90983" tIns="45490" rIns="90983" bIns="4549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9432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93AC22D-7198-4CB5-833D-90BF6D5F6A2B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12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736600"/>
            <a:ext cx="5000625" cy="3751263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038" y="4733699"/>
            <a:ext cx="5046197" cy="4485811"/>
          </a:xfrm>
          <a:noFill/>
        </p:spPr>
        <p:txBody>
          <a:bodyPr lIns="90983" tIns="45490" rIns="90983" bIns="4549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977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D277765-1E53-4671-BA3A-EC67059FF433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13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404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90A4888-8480-47F4-A6A2-C104EE685E58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14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432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FDFC2BC-7FC8-47E1-9D55-F16135386DD8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15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2518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A1EF71B-3D5D-4AD4-B378-99D6281EF929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16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65607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ABF0B51-B3A9-489B-93C7-1AEB1F6C4A8D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17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4425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496CF37-1854-40A1-B52E-584F45BE90AD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18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82608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3D01C2B-59DD-4B36-A6B2-165B47D674B2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19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513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BF6C673-B1EB-4FE6-A848-C38139C4C88F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20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979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2DB2265-E12D-4520-A2D1-8D908D6CA15A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21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5979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7B1B4A7-2732-4F7A-87A9-C85FFC2675FA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22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2764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A4968E2-3358-41E3-8902-693CBA85AA64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23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584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27C088B-9365-4276-933C-32C5F06B92F4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26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23677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3FEDFC9-2513-4AFC-8E20-12533AFF9A0D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27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2281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6B16C1C-ED63-4671-B499-E0994A4B8B4A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28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0377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3089234-B291-4E6F-9480-069527D0F2FF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29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7742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DFEE83C-4CC2-47ED-9A54-D45616AC84D6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30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8009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693" indent="-286036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143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1800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457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115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4772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2429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086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E806FC1E-26A0-43DC-965A-FBEEC3FED737}" type="slidenum">
              <a:rPr kumimoji="0" lang="en-US" altLang="en-US" sz="1300">
                <a:latin typeface="Helvetica" pitchFamily="-84" charset="0"/>
                <a:ea typeface="MS PGothic" pitchFamily="34" charset="-128"/>
              </a:rPr>
              <a:pPr/>
              <a:t>31</a:t>
            </a:fld>
            <a:endParaRPr kumimoji="0" lang="en-US" altLang="en-US" sz="1300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72388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A6743FB-A9AD-472C-B9F4-D4C2E5C29BC1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32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60871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693" indent="-286036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143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1800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457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115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4772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2429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086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C4B1A917-F0F2-4322-8602-54451F2CD81B}" type="slidenum">
              <a:rPr kumimoji="0" lang="en-US" altLang="en-US" sz="1300">
                <a:latin typeface="Helvetica" pitchFamily="-84" charset="0"/>
                <a:ea typeface="MS PGothic" pitchFamily="34" charset="-128"/>
              </a:rPr>
              <a:pPr/>
              <a:t>33</a:t>
            </a:fld>
            <a:endParaRPr kumimoji="0" lang="en-US" altLang="en-US" sz="1300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7125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693" indent="-286036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143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1800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457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115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4772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2429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086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D939258F-7DC1-44B7-95C7-6F2599452DE3}" type="slidenum">
              <a:rPr kumimoji="0" lang="en-US" altLang="en-US" sz="1300">
                <a:latin typeface="Helvetica" pitchFamily="-84" charset="0"/>
                <a:ea typeface="MS PGothic" pitchFamily="34" charset="-128"/>
              </a:rPr>
              <a:pPr/>
              <a:t>34</a:t>
            </a:fld>
            <a:endParaRPr kumimoji="0" lang="en-US" altLang="en-US" sz="1300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1355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693" indent="-286036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143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1800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457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115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4772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2429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086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D4797E74-1FF6-4EAC-9838-AA1848F4D0F3}" type="slidenum">
              <a:rPr kumimoji="0" lang="en-US" altLang="en-US" sz="1300">
                <a:latin typeface="Helvetica" pitchFamily="-84" charset="0"/>
                <a:ea typeface="MS PGothic" pitchFamily="34" charset="-128"/>
              </a:rPr>
              <a:pPr/>
              <a:t>35</a:t>
            </a:fld>
            <a:endParaRPr kumimoji="0" lang="en-US" altLang="en-US" sz="1300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62027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693" indent="-286036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143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1800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457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115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4772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2429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086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2FAE780E-3FD6-43C1-A521-B79C8ABFEEF0}" type="slidenum">
              <a:rPr kumimoji="0" lang="en-US" altLang="en-US" sz="1300">
                <a:latin typeface="Helvetica" pitchFamily="-84" charset="0"/>
                <a:ea typeface="MS PGothic" pitchFamily="34" charset="-128"/>
              </a:rPr>
              <a:pPr/>
              <a:t>36</a:t>
            </a:fld>
            <a:endParaRPr kumimoji="0" lang="en-US" altLang="en-US" sz="1300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6787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693" indent="-286036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143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1800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457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115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4772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2429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086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8CE94519-759C-402B-8E8F-6F0055F765B2}" type="slidenum">
              <a:rPr kumimoji="0" lang="en-US" altLang="en-US" sz="1300">
                <a:latin typeface="Helvetica" pitchFamily="-84" charset="0"/>
                <a:ea typeface="MS PGothic" pitchFamily="34" charset="-128"/>
              </a:rPr>
              <a:pPr/>
              <a:t>37</a:t>
            </a:fld>
            <a:endParaRPr kumimoji="0" lang="en-US" altLang="en-US" sz="1300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6132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525C791-A172-4DAF-B21F-E33C9AB60052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38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76514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0B7649-2E44-4992-B3F4-C7CF7376A875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39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1839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0676364-E888-4D8C-AF4D-F3E36405CFDA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40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9978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BDC17AA-74A4-46DE-88B4-83D1F0840034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41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8042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005E46A-EB2B-4F6B-8642-5ACE0FD2E389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42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3729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693" indent="-286036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143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1800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457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115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4772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2429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086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0690C1E2-2327-431A-931B-C0C4CDC8CD6B}" type="slidenum">
              <a:rPr kumimoji="0" lang="en-US" altLang="en-US" sz="1300">
                <a:latin typeface="Helvetica" pitchFamily="-84" charset="0"/>
                <a:ea typeface="MS PGothic" pitchFamily="34" charset="-128"/>
              </a:rPr>
              <a:pPr/>
              <a:t>43</a:t>
            </a:fld>
            <a:endParaRPr kumimoji="0" lang="en-US" altLang="en-US" sz="1300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54817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693" indent="-286036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143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1800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457" indent="-228829" defTabSz="91372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115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4772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2429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086" indent="-228829" defTabSz="913726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E38BC60C-2266-40E6-8474-6F21B92DCBAF}" type="slidenum">
              <a:rPr kumimoji="0" lang="en-US" altLang="en-US" sz="1300">
                <a:latin typeface="Helvetica" pitchFamily="-84" charset="0"/>
                <a:ea typeface="MS PGothic" pitchFamily="34" charset="-128"/>
              </a:rPr>
              <a:pPr/>
              <a:t>44</a:t>
            </a:fld>
            <a:endParaRPr kumimoji="0" lang="en-US" altLang="en-US" sz="1300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35175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BD437BB-2E6B-4AC7-97FE-E99EB96D036B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45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74504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835178C-AD36-4C0E-8C3C-47FF1A40EAFB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46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24570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B559064-8993-4386-A0CC-9367BF4E4756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47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35013"/>
            <a:ext cx="5002212" cy="3752850"/>
          </a:xfrm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628" y="4732110"/>
            <a:ext cx="5044607" cy="4487400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2484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2FD3A76-A641-4C94-AC54-DD144F8704D2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48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341374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44B7373-A7F0-4663-A99C-03D7E1A477AB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49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5061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E5D83EC-A67D-4775-806E-A9AD3C74E331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50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9900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057781F-C5EF-4D83-998A-B7F4AC15C848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51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63059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6D614E7-F21F-4A1D-BAEE-766BE2C6C52B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52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53097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062BA32-DBF7-4E68-8ACB-CB8D06A18AEC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53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97693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409B903-3054-46EB-AD62-F2FBB02C7583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54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4113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6766BF6-C291-49F7-8896-4F051D897E35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55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95209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A94BF4C-7297-45B4-8EF8-E8319F0CEAF8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56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97540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A94BF4C-7297-45B4-8EF8-E8319F0CEAF8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57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3282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693" indent="-286036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143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1800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457" indent="-228829" defTabSz="94709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115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4772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2429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086" indent="-228829" defTabSz="94709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A94BF4C-7297-45B4-8EF8-E8319F0CEAF8}" type="slidenum">
              <a:rPr lang="zh-TW" altLang="en-US" sz="1300">
                <a:latin typeface="Helvetica" pitchFamily="-84" charset="0"/>
              </a:rPr>
              <a:pPr>
                <a:spcBef>
                  <a:spcPct val="0"/>
                </a:spcBef>
              </a:pPr>
              <a:t>58</a:t>
            </a:fld>
            <a:endParaRPr lang="en-US" altLang="zh-TW" sz="1300">
              <a:latin typeface="Helvetica" pitchFamily="-8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06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9222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9222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3A8F85-58EC-EA48-BBFC-6AF6E45093DD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03AC7-3588-4055-B59B-DEF3DB70B2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548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CCC91-F31B-6546-8E26-C250E2441BEA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5B722C-56FD-4603-9186-6DBF5BFC774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4797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1F845-4D34-5542-A03A-2589636075C3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9015C-1718-4DCD-BE8F-151FEC73129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6486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8B630-F4FE-DD4F-A250-4CA3EB2639DC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914BA-DC31-4FFD-A4F1-B9370BBD726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854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B2EA7-DC45-894F-8A71-BA2A920D4503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8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9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3C7D9E-BA61-4580-A077-BD11992BD61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52807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D0742-4692-1C44-BB6A-D470D3D177BB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4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3253E-7F28-4FB7-B127-39FEC0D5377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5357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B746F-0351-394D-AA15-51F613E628C3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3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B6B5-4EE3-4D23-B1EC-729318FB1C6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080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29EE4-EDBF-0D41-B5FA-0EEFD7491053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CBA8D-20D2-4AC5-905F-E3DF75E70DD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279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8F1DB-5D84-584B-8C70-67089B42559F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D9483-95BC-4CBC-8E1C-67876016B38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907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44E99-7F40-7643-B143-8B95AEF5E69C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4F4A7-B780-4591-8239-D7A8521108F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861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4ACFE-36D4-E14C-9E7E-603A2A9D7A82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8CF97-1920-47EB-9DCD-884635F047D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3058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304800"/>
            <a:ext cx="8001000" cy="5715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EA725-BF18-FD43-89D2-164B94BE8622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4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3F0236-C9FA-4553-AB1A-BF9808024DA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3308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1029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1051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/>
            </a:p>
          </p:txBody>
        </p:sp>
        <p:sp>
          <p:nvSpPr>
            <p:cNvPr id="1034" name="Line 1082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1083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1084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1085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1086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108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8" name="Rectangle 1088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1201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/>
            </a:lvl1pPr>
          </a:lstStyle>
          <a:p>
            <a:pPr>
              <a:defRPr/>
            </a:pPr>
            <a:fld id="{7B5D73AD-7768-954B-B0B8-B505157D2050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91202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r>
              <a:rPr lang="en-US" altLang="zh-TW"/>
              <a:t>OS4-2018</a:t>
            </a:r>
          </a:p>
        </p:txBody>
      </p:sp>
      <p:sp>
        <p:nvSpPr>
          <p:cNvPr id="91203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75458D08-482E-48B3-8DE5-31B0094A0E5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4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57250" y="1524000"/>
            <a:ext cx="7772400" cy="2457450"/>
          </a:xfrm>
        </p:spPr>
        <p:txBody>
          <a:bodyPr/>
          <a:lstStyle/>
          <a:p>
            <a:pPr eaLnBrk="1" hangingPunct="1"/>
            <a:r>
              <a:rPr lang="en-US" altLang="zh-TW"/>
              <a:t>Chapter 4</a:t>
            </a:r>
            <a:br>
              <a:rPr lang="en-US" altLang="zh-TW"/>
            </a:br>
            <a:r>
              <a:rPr lang="en-US" altLang="zh-TW"/>
              <a:t/>
            </a:r>
            <a:br>
              <a:rPr lang="en-US" altLang="zh-TW"/>
            </a:br>
            <a:r>
              <a:rPr lang="en-US" altLang="zh-TW"/>
              <a:t> Threads</a:t>
            </a:r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BDED30-AFD9-3F4C-BAC0-D7967A192740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F29DA-B95E-4615-8E8B-C2B6FB56607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410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3588" y="1433513"/>
            <a:ext cx="7772400" cy="4875212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Overview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Multicore Programming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Multithreading Models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Thread Libraries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Implicit Threading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Threading Issues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Operating System Examples</a:t>
            </a:r>
            <a:endParaRPr lang="en-US" altLang="zh-TW" sz="2800" dirty="0">
              <a:solidFill>
                <a:schemeClr val="bg1">
                  <a:lumMod val="65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defRPr/>
            </a:pP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B985BBA-F125-8245-8F79-8D221CAADCB2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1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1FE127-C8C7-4535-BD63-77DA8C621EE4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4765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zh-TW"/>
              <a:t>OBJECTIVES</a:t>
            </a:r>
          </a:p>
        </p:txBody>
      </p:sp>
      <p:sp>
        <p:nvSpPr>
          <p:cNvPr id="942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30238" y="989013"/>
            <a:ext cx="8286750" cy="5624512"/>
          </a:xfrm>
        </p:spPr>
        <p:txBody>
          <a:bodyPr/>
          <a:lstStyle/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600">
                <a:solidFill>
                  <a:srgbClr val="000000"/>
                </a:solidFill>
              </a:rPr>
              <a:t>To introduce the </a:t>
            </a:r>
            <a:r>
              <a:rPr lang="en-US" altLang="zh-TW" sz="2600">
                <a:solidFill>
                  <a:srgbClr val="FF0000"/>
                </a:solidFill>
              </a:rPr>
              <a:t>notion</a:t>
            </a:r>
            <a:r>
              <a:rPr lang="en-US" altLang="zh-TW" sz="2600">
                <a:solidFill>
                  <a:srgbClr val="000000"/>
                </a:solidFill>
              </a:rPr>
              <a:t> of a thread—a fundamental unit of CPU utilization that forms the basis of multithreaded computer systems.</a:t>
            </a:r>
          </a:p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600">
                <a:solidFill>
                  <a:srgbClr val="000000"/>
                </a:solidFill>
              </a:rPr>
              <a:t>To discuss the </a:t>
            </a:r>
            <a:r>
              <a:rPr lang="en-US" altLang="zh-TW" sz="2600">
                <a:solidFill>
                  <a:srgbClr val="FF0000"/>
                </a:solidFill>
              </a:rPr>
              <a:t>APIs</a:t>
            </a:r>
            <a:r>
              <a:rPr lang="en-US" altLang="zh-TW" sz="2600">
                <a:solidFill>
                  <a:srgbClr val="000000"/>
                </a:solidFill>
              </a:rPr>
              <a:t> for the Pthreads, Windows, and Java thread libraries.</a:t>
            </a:r>
          </a:p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600">
                <a:solidFill>
                  <a:srgbClr val="000000"/>
                </a:solidFill>
              </a:rPr>
              <a:t>To explore several strategies that provide implicit threading.</a:t>
            </a:r>
          </a:p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600">
                <a:solidFill>
                  <a:srgbClr val="000000"/>
                </a:solidFill>
              </a:rPr>
              <a:t>To examine issues related to </a:t>
            </a:r>
            <a:r>
              <a:rPr lang="en-US" altLang="zh-TW" sz="2600">
                <a:solidFill>
                  <a:srgbClr val="FF0000"/>
                </a:solidFill>
              </a:rPr>
              <a:t>multithreaded programming</a:t>
            </a:r>
            <a:r>
              <a:rPr lang="en-US" altLang="zh-TW" sz="2600">
                <a:solidFill>
                  <a:srgbClr val="000000"/>
                </a:solidFill>
              </a:rPr>
              <a:t>.</a:t>
            </a:r>
          </a:p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600">
                <a:solidFill>
                  <a:srgbClr val="000000"/>
                </a:solidFill>
              </a:rPr>
              <a:t>To cover operating system support for threads in Windows and Linux.</a:t>
            </a:r>
            <a:endParaRPr lang="en-US" altLang="zh-TW" sz="2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E1E23D-5048-7E41-B7EE-655F3BE5EC9F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61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847208E-0ACA-4D9E-B24E-45511A2E4D8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4765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zh-TW"/>
              <a:t>Overview</a:t>
            </a:r>
          </a:p>
        </p:txBody>
      </p:sp>
      <p:sp>
        <p:nvSpPr>
          <p:cNvPr id="942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30238" y="989013"/>
            <a:ext cx="8286750" cy="5624512"/>
          </a:xfrm>
        </p:spPr>
        <p:txBody>
          <a:bodyPr/>
          <a:lstStyle/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dirty="0">
                <a:solidFill>
                  <a:srgbClr val="000000"/>
                </a:solidFill>
              </a:rPr>
              <a:t>Sometimes is called a </a:t>
            </a:r>
            <a:r>
              <a:rPr lang="en-US" altLang="zh-TW" sz="2600" b="1" dirty="0">
                <a:solidFill>
                  <a:srgbClr val="FF0000"/>
                </a:solidFill>
              </a:rPr>
              <a:t>lightweight process</a:t>
            </a:r>
            <a:r>
              <a:rPr lang="en-US" altLang="zh-TW" sz="2600" dirty="0">
                <a:solidFill>
                  <a:srgbClr val="000000"/>
                </a:solidFill>
              </a:rPr>
              <a:t>: is a basic unit of CPU utilization; it comprises a </a:t>
            </a:r>
            <a:r>
              <a:rPr lang="en-US" altLang="zh-TW" sz="2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thread ID</a:t>
            </a:r>
            <a:r>
              <a:rPr lang="en-US" altLang="zh-TW" sz="2600" dirty="0">
                <a:solidFill>
                  <a:srgbClr val="000000"/>
                </a:solidFill>
              </a:rPr>
              <a:t>, a </a:t>
            </a:r>
            <a:r>
              <a:rPr lang="en-US" altLang="zh-TW" sz="2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 counter</a:t>
            </a:r>
            <a:r>
              <a:rPr lang="en-US" altLang="zh-TW" sz="2600" dirty="0">
                <a:solidFill>
                  <a:srgbClr val="000000"/>
                </a:solidFill>
              </a:rPr>
              <a:t>, a </a:t>
            </a:r>
            <a:r>
              <a:rPr lang="en-US" altLang="zh-TW" sz="2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register set</a:t>
            </a:r>
            <a:r>
              <a:rPr lang="en-US" altLang="zh-TW" sz="2600" dirty="0">
                <a:solidFill>
                  <a:srgbClr val="000000"/>
                </a:solidFill>
              </a:rPr>
              <a:t>, and a </a:t>
            </a:r>
            <a:r>
              <a:rPr lang="en-US" altLang="zh-TW" sz="2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stack</a:t>
            </a:r>
            <a:r>
              <a:rPr lang="en-US" altLang="zh-TW" sz="2600" dirty="0">
                <a:solidFill>
                  <a:srgbClr val="000000"/>
                </a:solidFill>
              </a:rPr>
              <a:t>.</a:t>
            </a:r>
          </a:p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dirty="0"/>
              <a:t> A traditional, or heavyweight, process has a single thread of control. </a:t>
            </a:r>
            <a:endParaRPr lang="en-US" altLang="zh-TW" sz="2600" dirty="0">
              <a:solidFill>
                <a:srgbClr val="FF0000"/>
              </a:solidFill>
            </a:endParaRPr>
          </a:p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dirty="0">
                <a:solidFill>
                  <a:srgbClr val="FF0000"/>
                </a:solidFill>
              </a:rPr>
              <a:t>It shares with other threads belonging to the same process its code section, data section, and other OS resources, such as open files and </a:t>
            </a:r>
            <a:r>
              <a:rPr lang="en-US" altLang="zh-TW" sz="2600" dirty="0">
                <a:solidFill>
                  <a:srgbClr val="0000FF"/>
                </a:solidFill>
              </a:rPr>
              <a:t>signals</a:t>
            </a:r>
            <a:r>
              <a:rPr lang="en-US" altLang="zh-TW" sz="2600" dirty="0"/>
              <a:t>.</a:t>
            </a:r>
          </a:p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dirty="0"/>
              <a:t>In busy WWW server: The server creates a separate thread that would listen for clients requests, </a:t>
            </a:r>
            <a:r>
              <a:rPr lang="en-US" altLang="zh-TW" sz="2600" dirty="0">
                <a:solidFill>
                  <a:srgbClr val="FF0000"/>
                </a:solidFill>
              </a:rPr>
              <a:t>when a request was made,  creates a thread to service the request</a:t>
            </a:r>
            <a:r>
              <a:rPr lang="en-US" altLang="zh-TW" sz="2600" dirty="0"/>
              <a:t>. </a:t>
            </a:r>
          </a:p>
        </p:txBody>
      </p:sp>
      <p:sp>
        <p:nvSpPr>
          <p:cNvPr id="2" name="動作按鈕: 起點 1">
            <a:hlinkClick r:id="rId4" action="ppaction://hlinksldjump" highlightClick="1"/>
          </p:cNvPr>
          <p:cNvSpPr/>
          <p:nvPr/>
        </p:nvSpPr>
        <p:spPr bwMode="auto">
          <a:xfrm>
            <a:off x="7660640" y="4104640"/>
            <a:ext cx="375920" cy="375920"/>
          </a:xfrm>
          <a:prstGeom prst="actionButtonBeginning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CF46C72-6830-ED4B-A4A2-63FA4CCDA401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717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717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FCC660-9E5D-4C04-98D3-29D115622AD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/>
          </a:p>
        </p:txBody>
      </p:sp>
      <p:sp>
        <p:nvSpPr>
          <p:cNvPr id="717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Single and Multithreaded Processes</a:t>
            </a:r>
          </a:p>
        </p:txBody>
      </p:sp>
      <p:pic>
        <p:nvPicPr>
          <p:cNvPr id="7174" name="Picture 10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" t="11810" r="2359" b="11565"/>
          <a:stretch>
            <a:fillRect/>
          </a:stretch>
        </p:blipFill>
        <p:spPr bwMode="auto">
          <a:xfrm>
            <a:off x="773113" y="1657350"/>
            <a:ext cx="7927975" cy="4725988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5" name="Rectangle 1030"/>
          <p:cNvSpPr>
            <a:spLocks noChangeArrowheads="1"/>
          </p:cNvSpPr>
          <p:nvPr/>
        </p:nvSpPr>
        <p:spPr bwMode="auto">
          <a:xfrm>
            <a:off x="4673600" y="1763713"/>
            <a:ext cx="2974975" cy="4857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104E88-393D-5B4B-95DC-57BD318560B4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8195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321C581-C571-4628-A8D0-7FC857CB53E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/>
          </a:p>
        </p:txBody>
      </p:sp>
      <p:sp>
        <p:nvSpPr>
          <p:cNvPr id="8197" name="Title 1"/>
          <p:cNvSpPr>
            <a:spLocks noGrp="1"/>
          </p:cNvSpPr>
          <p:nvPr>
            <p:ph type="title" idx="4294967295"/>
          </p:nvPr>
        </p:nvSpPr>
        <p:spPr>
          <a:xfrm>
            <a:off x="696913" y="5762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TW" sz="4000"/>
              <a:t>Multithreaded Server Architecture</a:t>
            </a:r>
          </a:p>
        </p:txBody>
      </p:sp>
      <p:pic>
        <p:nvPicPr>
          <p:cNvPr id="8198" name="Picture 4" descr="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3443288"/>
            <a:ext cx="7108825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627063" y="1574800"/>
            <a:ext cx="5992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A separate thread listens for client request.</a:t>
            </a:r>
          </a:p>
        </p:txBody>
      </p:sp>
      <p:sp>
        <p:nvSpPr>
          <p:cNvPr id="201733" name="Text Box 5"/>
          <p:cNvSpPr txBox="1">
            <a:spLocks noChangeArrowheads="1"/>
          </p:cNvSpPr>
          <p:nvPr/>
        </p:nvSpPr>
        <p:spPr bwMode="auto">
          <a:xfrm>
            <a:off x="606425" y="2544763"/>
            <a:ext cx="76977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When a request is issued, creates (or notifies) a </a:t>
            </a:r>
            <a:r>
              <a:rPr lang="en-US" altLang="zh-TW" sz="2400">
                <a:solidFill>
                  <a:srgbClr val="FF0000"/>
                </a:solidFill>
              </a:rPr>
              <a:t>thread</a:t>
            </a:r>
            <a:r>
              <a:rPr lang="en-US" altLang="zh-TW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to serve the request.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/>
      <p:bldP spid="2017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DE1FF2-F02E-8540-AB18-EAB799211108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92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92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FC2BA45-6B00-4C32-BC8C-4799EAF256C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293688"/>
            <a:ext cx="7772400" cy="666750"/>
          </a:xfrm>
        </p:spPr>
        <p:txBody>
          <a:bodyPr/>
          <a:lstStyle/>
          <a:p>
            <a:pPr eaLnBrk="1" hangingPunct="1"/>
            <a:r>
              <a:rPr lang="en-US" altLang="zh-TW"/>
              <a:t>Benefits (1)</a:t>
            </a:r>
          </a:p>
        </p:txBody>
      </p:sp>
      <p:sp>
        <p:nvSpPr>
          <p:cNvPr id="962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58775" y="966788"/>
            <a:ext cx="8424863" cy="5594350"/>
          </a:xfrm>
        </p:spPr>
        <p:txBody>
          <a:bodyPr/>
          <a:lstStyle/>
          <a:p>
            <a:pPr marL="285750" indent="-285750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b="1">
                <a:solidFill>
                  <a:srgbClr val="FF0000"/>
                </a:solidFill>
              </a:rPr>
              <a:t>Responsiveness</a:t>
            </a:r>
            <a:r>
              <a:rPr lang="en-US" altLang="zh-TW" sz="2800"/>
              <a:t>: Allow a program to continue running even if part of it is blocked or is performing a lengthy operation.</a:t>
            </a:r>
            <a:endParaRPr lang="en-US" altLang="zh-TW" sz="2800" b="1">
              <a:solidFill>
                <a:srgbClr val="FF0000"/>
              </a:solidFill>
            </a:endParaRPr>
          </a:p>
          <a:p>
            <a:pPr marL="285750" indent="-285750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b="1">
                <a:solidFill>
                  <a:srgbClr val="FF0000"/>
                </a:solidFill>
              </a:rPr>
              <a:t>Resource sharing</a:t>
            </a:r>
            <a:r>
              <a:rPr lang="en-US" altLang="zh-TW" sz="2800"/>
              <a:t>: several different threads of activity all within </a:t>
            </a:r>
            <a:r>
              <a:rPr lang="en-US" altLang="zh-TW" sz="2800">
                <a:solidFill>
                  <a:srgbClr val="FF0000"/>
                </a:solidFill>
              </a:rPr>
              <a:t>the same address space</a:t>
            </a:r>
            <a:r>
              <a:rPr lang="en-US" altLang="zh-TW" sz="2800"/>
              <a:t>.</a:t>
            </a:r>
            <a:endParaRPr lang="en-US" altLang="zh-TW" sz="2800" b="1">
              <a:solidFill>
                <a:srgbClr val="FF0000"/>
              </a:solidFill>
            </a:endParaRPr>
          </a:p>
          <a:p>
            <a:pPr marL="285750" indent="-285750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b="1">
                <a:solidFill>
                  <a:srgbClr val="FF0000"/>
                </a:solidFill>
              </a:rPr>
              <a:t>Economy</a:t>
            </a:r>
            <a:r>
              <a:rPr lang="en-US" altLang="zh-TW" sz="2800"/>
              <a:t>: Allocating memory and resources for process creation is costly. </a:t>
            </a:r>
            <a:r>
              <a:rPr lang="en-US" altLang="zh-TW" sz="2800">
                <a:solidFill>
                  <a:srgbClr val="FF0000"/>
                </a:solidFill>
              </a:rPr>
              <a:t>In Solaris, creating a process is about 30 times slower than is creating a thread</a:t>
            </a:r>
            <a:r>
              <a:rPr lang="en-US" altLang="zh-TW" sz="2800"/>
              <a:t>, and </a:t>
            </a:r>
            <a:r>
              <a:rPr lang="en-US" altLang="zh-TW" sz="2800">
                <a:solidFill>
                  <a:srgbClr val="FF0000"/>
                </a:solidFill>
              </a:rPr>
              <a:t>context switching is about five times slower</a:t>
            </a:r>
            <a:r>
              <a:rPr lang="en-US" altLang="zh-TW" sz="2800"/>
              <a:t>. A register set switch is still required, but </a:t>
            </a:r>
            <a:r>
              <a:rPr lang="en-US" altLang="zh-TW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 memory-management related work is needed</a:t>
            </a:r>
            <a:r>
              <a:rPr lang="en-US" altLang="zh-TW" sz="2800"/>
              <a:t>.</a:t>
            </a:r>
          </a:p>
          <a:p>
            <a:pPr marL="285750" indent="-285750" eaLnBrk="1" hangingPunct="1">
              <a:lnSpc>
                <a:spcPct val="8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TW" sz="2800">
                <a:solidFill>
                  <a:schemeClr val="tx2"/>
                </a:solidFill>
              </a:rPr>
              <a:t>	</a:t>
            </a:r>
            <a:r>
              <a:rPr lang="en-US" altLang="zh-TW" sz="2800" b="1">
                <a:solidFill>
                  <a:schemeClr val="tx2"/>
                </a:solidFill>
              </a:rPr>
              <a:t>Remark</a:t>
            </a:r>
            <a:r>
              <a:rPr lang="en-US" altLang="zh-TW" sz="2800"/>
              <a:t>: Using threads, context switches take less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5A1FD1-A194-2848-8395-E6F1926CD1C0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02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02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7697253-154D-472B-BADA-3A743B89286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/>
          </a:p>
        </p:txBody>
      </p:sp>
      <p:sp>
        <p:nvSpPr>
          <p:cNvPr id="1024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23888"/>
          </a:xfrm>
        </p:spPr>
        <p:txBody>
          <a:bodyPr/>
          <a:lstStyle/>
          <a:p>
            <a:pPr eaLnBrk="1" hangingPunct="1"/>
            <a:r>
              <a:rPr lang="en-US" altLang="zh-TW"/>
              <a:t>Benefits (2)</a:t>
            </a:r>
          </a:p>
        </p:txBody>
      </p:sp>
      <p:sp>
        <p:nvSpPr>
          <p:cNvPr id="97283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2250" y="833438"/>
            <a:ext cx="8715375" cy="53403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b="1" dirty="0">
                <a:solidFill>
                  <a:srgbClr val="FF0000"/>
                </a:solidFill>
              </a:rPr>
              <a:t>Utilization of multiprocessor architecture </a:t>
            </a:r>
            <a:r>
              <a:rPr lang="en-US" altLang="zh-TW" b="1" dirty="0"/>
              <a:t>(</a:t>
            </a:r>
            <a:r>
              <a:rPr lang="en-US" altLang="zh-TW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Scalability</a:t>
            </a:r>
            <a:r>
              <a:rPr lang="en-US" altLang="zh-TW" b="1" dirty="0"/>
              <a:t>)</a:t>
            </a:r>
            <a:r>
              <a:rPr lang="en-US" altLang="zh-TW" dirty="0"/>
              <a:t>: Several thread may be </a:t>
            </a:r>
            <a:r>
              <a:rPr lang="en-US" altLang="zh-TW" dirty="0">
                <a:solidFill>
                  <a:srgbClr val="FF0000"/>
                </a:solidFill>
              </a:rPr>
              <a:t>running in parallel</a:t>
            </a:r>
            <a:r>
              <a:rPr lang="en-US" altLang="zh-TW" dirty="0"/>
              <a:t> on different processors.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>
                <a:sym typeface="Wingdings" pitchFamily="2" charset="2"/>
              </a:rPr>
              <a:t></a:t>
            </a:r>
            <a:r>
              <a:rPr lang="en-US" altLang="zh-TW" dirty="0"/>
              <a:t>Of course, multithreading a process may introduce </a:t>
            </a:r>
            <a:r>
              <a:rPr lang="en-US" altLang="zh-TW" dirty="0">
                <a:solidFill>
                  <a:srgbClr val="FF0000"/>
                </a:solidFill>
              </a:rPr>
              <a:t>concurrency control problem</a:t>
            </a:r>
            <a:r>
              <a:rPr lang="en-US" altLang="zh-TW" dirty="0"/>
              <a:t> that requires the use of </a:t>
            </a:r>
            <a:r>
              <a:rPr lang="en-US" altLang="zh-TW" b="1" dirty="0">
                <a:solidFill>
                  <a:srgbClr val="000000"/>
                </a:solidFill>
              </a:rPr>
              <a:t>critical sections</a:t>
            </a:r>
            <a:r>
              <a:rPr lang="en-US" altLang="zh-TW" dirty="0"/>
              <a:t> or </a:t>
            </a:r>
            <a:r>
              <a:rPr lang="en-US" altLang="zh-TW" b="1" dirty="0">
                <a:solidFill>
                  <a:srgbClr val="000000"/>
                </a:solidFill>
              </a:rPr>
              <a:t>locks</a:t>
            </a:r>
            <a:r>
              <a:rPr lang="en-US" altLang="zh-TW" dirty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  <a:defRPr/>
            </a:pPr>
            <a:r>
              <a:rPr lang="en-US" altLang="zh-TW" dirty="0"/>
              <a:t>This is similar to the case where a</a:t>
            </a:r>
            <a:r>
              <a:rPr lang="en-US" altLang="zh-TW" i="1" dirty="0"/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fork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system call</a:t>
            </a:r>
            <a:r>
              <a:rPr lang="en-US" altLang="zh-TW" dirty="0"/>
              <a:t> is invoked with a new program counter executing within the same address space (sharing memory space).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E06B3C-8D6D-044E-A8D7-5DE4EAF06ED5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126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126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0F60DC-1480-4D0D-ADB3-8B55AF78D48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/>
          </a:p>
        </p:txBody>
      </p:sp>
      <p:sp>
        <p:nvSpPr>
          <p:cNvPr id="11269" name="Title 1"/>
          <p:cNvSpPr>
            <a:spLocks noGrp="1"/>
          </p:cNvSpPr>
          <p:nvPr>
            <p:ph type="title" idx="4294967295"/>
          </p:nvPr>
        </p:nvSpPr>
        <p:spPr>
          <a:xfrm>
            <a:off x="609600" y="304800"/>
            <a:ext cx="7772400" cy="620713"/>
          </a:xfrm>
        </p:spPr>
        <p:txBody>
          <a:bodyPr/>
          <a:lstStyle/>
          <a:p>
            <a:pPr eaLnBrk="1" hangingPunct="1"/>
            <a:r>
              <a:rPr lang="en-US" altLang="zh-TW" sz="4000"/>
              <a:t>Multicore Programming</a:t>
            </a:r>
          </a:p>
        </p:txBody>
      </p:sp>
      <p:sp>
        <p:nvSpPr>
          <p:cNvPr id="191491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265113" y="1027113"/>
            <a:ext cx="8526462" cy="5376862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/>
              <a:t>Multithreaded programming provides a mechanism for more </a:t>
            </a:r>
            <a:r>
              <a:rPr lang="en-US" altLang="zh-TW" sz="2800">
                <a:solidFill>
                  <a:srgbClr val="0000FF"/>
                </a:solidFill>
              </a:rPr>
              <a:t>efficient use of multiple cores</a:t>
            </a:r>
            <a:r>
              <a:rPr lang="en-US" altLang="zh-TW" sz="2800"/>
              <a:t> and </a:t>
            </a:r>
            <a:r>
              <a:rPr lang="en-US" altLang="zh-TW" sz="2800">
                <a:solidFill>
                  <a:srgbClr val="0000FF"/>
                </a:solidFill>
              </a:rPr>
              <a:t>improved concurrency (threads can run in parallel)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/>
              <a:t>Multicore systems putting pressure on </a:t>
            </a:r>
            <a:r>
              <a:rPr lang="en-US" altLang="zh-TW" sz="2800">
                <a:solidFill>
                  <a:srgbClr val="FF0000"/>
                </a:solidFill>
              </a:rPr>
              <a:t>system designers</a:t>
            </a:r>
            <a:r>
              <a:rPr lang="en-US" altLang="zh-TW" sz="2800"/>
              <a:t> and </a:t>
            </a:r>
            <a:r>
              <a:rPr lang="en-US" altLang="zh-TW" sz="2800">
                <a:solidFill>
                  <a:srgbClr val="FF0000"/>
                </a:solidFill>
              </a:rPr>
              <a:t>application programmers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/>
              <a:t>OS designers: scheduling algorithms use cores to allow the </a:t>
            </a:r>
            <a:r>
              <a:rPr lang="en-US" altLang="zh-TW" sz="2400">
                <a:solidFill>
                  <a:srgbClr val="0000FF"/>
                </a:solidFill>
              </a:rPr>
              <a:t>parallel execution</a:t>
            </a:r>
          </a:p>
        </p:txBody>
      </p:sp>
      <p:pic>
        <p:nvPicPr>
          <p:cNvPr id="191492" name="Picture 4" descr="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4632325"/>
            <a:ext cx="5102225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7E29320-316F-8C4C-A62E-FEFFBFC7BDB2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3315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331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3369D2D-485B-47DA-84EE-2732B4BF86B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/>
          </a:p>
        </p:txBody>
      </p:sp>
      <p:sp>
        <p:nvSpPr>
          <p:cNvPr id="13317" name="Title 1"/>
          <p:cNvSpPr>
            <a:spLocks noGrp="1"/>
          </p:cNvSpPr>
          <p:nvPr>
            <p:ph type="title" idx="4294967295"/>
          </p:nvPr>
        </p:nvSpPr>
        <p:spPr>
          <a:xfrm>
            <a:off x="630238" y="160338"/>
            <a:ext cx="7772400" cy="620712"/>
          </a:xfrm>
        </p:spPr>
        <p:txBody>
          <a:bodyPr/>
          <a:lstStyle/>
          <a:p>
            <a:pPr eaLnBrk="1" hangingPunct="1"/>
            <a:r>
              <a:rPr lang="en-US" altLang="zh-TW" sz="3600"/>
              <a:t>AMDAHL’S LAW</a:t>
            </a:r>
          </a:p>
        </p:txBody>
      </p:sp>
      <p:sp>
        <p:nvSpPr>
          <p:cNvPr id="199683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82563" y="781050"/>
            <a:ext cx="8526462" cy="5619750"/>
          </a:xfrm>
        </p:spPr>
        <p:txBody>
          <a:bodyPr/>
          <a:lstStyle/>
          <a:p>
            <a:r>
              <a:rPr lang="en-US" altLang="zh-TW" sz="2800" dirty="0"/>
              <a:t>Identifies potential performance gains from adding additional computing cores to an application that has both serial(nonparallel) and parallel components.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portion of the application that must be performed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serially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system with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cores, the formula: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>
                <a:cs typeface="Times New Roman" panose="02020603050405020304" pitchFamily="18" charset="0"/>
              </a:rPr>
              <a:t>an application (75 percent parallel and 25 percent serial running with two processing cores: </a:t>
            </a:r>
            <a:r>
              <a:rPr lang="en-US" altLang="zh-TW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speedup of 1.6 times</a:t>
            </a:r>
            <a:r>
              <a:rPr lang="en-US" altLang="zh-TW" sz="2400" dirty="0"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altLang="zh-TW" sz="2400" dirty="0">
                <a:cs typeface="Times New Roman" panose="02020603050405020304" pitchFamily="18" charset="0"/>
              </a:rPr>
              <a:t>If we add two additional cores (for a total of four), </a:t>
            </a:r>
            <a:r>
              <a:rPr lang="en-US" altLang="zh-TW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the speedup is 2.28 times</a:t>
            </a:r>
            <a:r>
              <a:rPr lang="en-US" altLang="zh-TW" sz="2400" dirty="0"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TW" sz="2400" dirty="0">
              <a:latin typeface="Adobe Gothic Std B" pitchFamily="34" charset="-128"/>
              <a:ea typeface="Adobe Gothic Std B" pitchFamily="34" charset="-128"/>
            </a:endParaRPr>
          </a:p>
          <a:p>
            <a:pPr lvl="1" eaLnBrk="1" hangingPunct="1">
              <a:spcBef>
                <a:spcPts val="600"/>
              </a:spcBef>
            </a:pPr>
            <a:endParaRPr lang="en-US" altLang="zh-TW" sz="2400" dirty="0"/>
          </a:p>
          <a:p>
            <a:pPr lvl="1" eaLnBrk="1" hangingPunct="1">
              <a:spcBef>
                <a:spcPct val="60000"/>
              </a:spcBef>
            </a:pPr>
            <a:endParaRPr lang="zh-TW" altLang="en-US" sz="2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FFC4189A-2A23-2F4F-8179-DA978ED78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922" y="3378031"/>
            <a:ext cx="3060700" cy="10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7E29320-316F-8C4C-A62E-FEFFBFC7BDB2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3315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331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3369D2D-485B-47DA-84EE-2732B4BF86B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/>
          </a:p>
        </p:txBody>
      </p:sp>
      <p:sp>
        <p:nvSpPr>
          <p:cNvPr id="13317" name="Title 1"/>
          <p:cNvSpPr>
            <a:spLocks noGrp="1"/>
          </p:cNvSpPr>
          <p:nvPr>
            <p:ph type="title" idx="4294967295"/>
          </p:nvPr>
        </p:nvSpPr>
        <p:spPr>
          <a:xfrm>
            <a:off x="630238" y="160338"/>
            <a:ext cx="7772400" cy="620712"/>
          </a:xfrm>
        </p:spPr>
        <p:txBody>
          <a:bodyPr/>
          <a:lstStyle/>
          <a:p>
            <a:pPr eaLnBrk="1" hangingPunct="1"/>
            <a:r>
              <a:rPr lang="en-US" altLang="zh-TW" sz="3600"/>
              <a:t>AMDAHL’S LAW</a:t>
            </a:r>
          </a:p>
        </p:txBody>
      </p:sp>
      <p:sp>
        <p:nvSpPr>
          <p:cNvPr id="199683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82563" y="1233488"/>
            <a:ext cx="8526462" cy="4968875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i="1" dirty="0"/>
              <a:t>N</a:t>
            </a:r>
            <a:r>
              <a:rPr lang="en-US" altLang="zh-TW" sz="2800" dirty="0"/>
              <a:t> approaches infinity, the speedup converges to </a:t>
            </a:r>
            <a:r>
              <a:rPr lang="en-US" altLang="zh-TW" sz="2800" dirty="0">
                <a:solidFill>
                  <a:srgbClr val="0000FF"/>
                </a:solidFill>
              </a:rPr>
              <a:t>1/</a:t>
            </a:r>
            <a:r>
              <a:rPr lang="en-US" altLang="zh-TW" sz="2800" i="1" dirty="0">
                <a:solidFill>
                  <a:srgbClr val="0000FF"/>
                </a:solidFill>
              </a:rPr>
              <a:t>S</a:t>
            </a:r>
            <a:r>
              <a:rPr lang="en-US" altLang="zh-TW" sz="2800" dirty="0"/>
              <a:t>.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dirty="0"/>
              <a:t>If </a:t>
            </a:r>
            <a:r>
              <a:rPr lang="en-US" altLang="zh-TW" sz="2400" dirty="0">
                <a:solidFill>
                  <a:srgbClr val="0000FF"/>
                </a:solidFill>
              </a:rPr>
              <a:t>40%</a:t>
            </a:r>
            <a:r>
              <a:rPr lang="en-US" altLang="zh-TW" sz="2400" dirty="0"/>
              <a:t> of an application is performed </a:t>
            </a:r>
            <a:r>
              <a:rPr lang="en-US" altLang="zh-TW" sz="2400" dirty="0">
                <a:solidFill>
                  <a:srgbClr val="0000FF"/>
                </a:solidFill>
              </a:rPr>
              <a:t>serially</a:t>
            </a:r>
            <a:r>
              <a:rPr lang="en-US" altLang="zh-TW" sz="2400" dirty="0"/>
              <a:t>, </a:t>
            </a:r>
            <a:r>
              <a:rPr lang="en-US" altLang="zh-TW" sz="2400" dirty="0">
                <a:solidFill>
                  <a:srgbClr val="FF0000"/>
                </a:solidFill>
              </a:rPr>
              <a:t>the maximum speedup is 2.5 times, regardless of the number of processing cores we add.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Amdahl</a:t>
            </a:r>
            <a:r>
              <a:rPr lang="en-US" altLang="zh-TW" sz="2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sym typeface="Symbol" pitchFamily="18" charset="2"/>
              </a:rPr>
              <a:t></a:t>
            </a:r>
            <a:r>
              <a:rPr lang="en-US" altLang="zh-TW" sz="2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</a:t>
            </a:r>
            <a:r>
              <a:rPr lang="en-US" altLang="zh-TW" sz="2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Law</a:t>
            </a: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: the serial portion of an application can have a </a:t>
            </a:r>
            <a:r>
              <a:rPr lang="en-US" altLang="zh-TW" sz="2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disproportionate effect </a:t>
            </a: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on the performance we gain by adding additional computing cores.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sz="2400" dirty="0"/>
          </a:p>
          <a:p>
            <a:pPr lvl="1" eaLnBrk="1" hangingPunct="1">
              <a:spcBef>
                <a:spcPct val="60000"/>
              </a:spcBef>
            </a:pPr>
            <a:endParaRPr lang="zh-TW" altLang="en-US" sz="2400" dirty="0"/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30541" y="11351"/>
            <a:ext cx="3072059" cy="1081771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zh-TW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8949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FD81506-B69F-564A-A97F-6933D392476F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433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434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5165A7F-C5C1-4EDD-AC04-4156D63CBB0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/>
          </a:p>
        </p:txBody>
      </p:sp>
      <p:sp>
        <p:nvSpPr>
          <p:cNvPr id="14341" name="Title 1"/>
          <p:cNvSpPr>
            <a:spLocks noGrp="1"/>
          </p:cNvSpPr>
          <p:nvPr>
            <p:ph type="title" idx="4294967295"/>
          </p:nvPr>
        </p:nvSpPr>
        <p:spPr>
          <a:xfrm>
            <a:off x="609600" y="304800"/>
            <a:ext cx="7772400" cy="620713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Challenges in Multicore Programming</a:t>
            </a:r>
          </a:p>
        </p:txBody>
      </p:sp>
      <p:sp>
        <p:nvSpPr>
          <p:cNvPr id="199683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265113" y="1236663"/>
            <a:ext cx="8526462" cy="5376862"/>
          </a:xfrm>
        </p:spPr>
        <p:txBody>
          <a:bodyPr/>
          <a:lstStyle/>
          <a:p>
            <a:pPr eaLnBrk="1" hangingPunct="1"/>
            <a:r>
              <a:rPr lang="en-US" altLang="zh-TW" sz="2800" b="1" dirty="0"/>
              <a:t>Dividing activities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(Identifying tasks): </a:t>
            </a:r>
            <a:r>
              <a:rPr lang="en-US" altLang="zh-TW" sz="2800" dirty="0">
                <a:solidFill>
                  <a:srgbClr val="0000FF"/>
                </a:solidFill>
              </a:rPr>
              <a:t>separate, concurrent tasks and run in parallel</a:t>
            </a:r>
            <a:endParaRPr lang="en-US" altLang="zh-TW" sz="2800" b="1" dirty="0">
              <a:solidFill>
                <a:srgbClr val="0000FF"/>
              </a:solidFill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z="2800" b="1" dirty="0"/>
              <a:t>Balance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b="1" dirty="0"/>
              <a:t>Data splitting:</a:t>
            </a:r>
            <a:r>
              <a:rPr lang="en-US" altLang="zh-TW" sz="2800" dirty="0"/>
              <a:t> </a:t>
            </a:r>
            <a:r>
              <a:rPr lang="en-US" altLang="zh-TW" sz="2800" dirty="0">
                <a:solidFill>
                  <a:srgbClr val="0000FF"/>
                </a:solidFill>
              </a:rPr>
              <a:t>data accessed and manipulated</a:t>
            </a:r>
            <a:r>
              <a:rPr lang="en-US" altLang="zh-TW" sz="2800" dirty="0"/>
              <a:t> </a:t>
            </a:r>
            <a:endParaRPr lang="en-US" altLang="zh-TW" sz="2800" b="1" dirty="0"/>
          </a:p>
          <a:p>
            <a:pPr eaLnBrk="1" hangingPunct="1">
              <a:spcBef>
                <a:spcPct val="60000"/>
              </a:spcBef>
            </a:pPr>
            <a:r>
              <a:rPr lang="en-US" altLang="zh-TW" sz="2800" b="1" dirty="0"/>
              <a:t>Data dependency: </a:t>
            </a:r>
            <a:r>
              <a:rPr lang="en-US" altLang="zh-TW" sz="2800" dirty="0">
                <a:solidFill>
                  <a:srgbClr val="0000FF"/>
                </a:solidFill>
              </a:rPr>
              <a:t>synchronized</a:t>
            </a:r>
            <a:r>
              <a:rPr lang="en-US" altLang="zh-TW" sz="2800" dirty="0"/>
              <a:t> to accommodate the data dependency</a:t>
            </a:r>
            <a:endParaRPr lang="en-US" altLang="zh-TW" sz="2800" b="1" dirty="0"/>
          </a:p>
          <a:p>
            <a:pPr eaLnBrk="1" hangingPunct="1">
              <a:spcBef>
                <a:spcPct val="60000"/>
              </a:spcBef>
            </a:pPr>
            <a:r>
              <a:rPr lang="en-US" altLang="zh-TW" sz="2800" b="1" dirty="0"/>
              <a:t>Testing and debugging</a:t>
            </a:r>
          </a:p>
          <a:p>
            <a:pPr lvl="1" eaLnBrk="1" hangingPunct="1">
              <a:spcBef>
                <a:spcPct val="60000"/>
              </a:spcBef>
            </a:pP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D69BEC3-46E1-F040-B4D1-B37003F6542B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53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53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48E466-4490-46C7-A69F-8EB99EB9C65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04775"/>
            <a:ext cx="7874000" cy="779463"/>
          </a:xfrm>
        </p:spPr>
        <p:txBody>
          <a:bodyPr/>
          <a:lstStyle/>
          <a:p>
            <a:pPr algn="ctr" eaLnBrk="1" hangingPunct="1"/>
            <a:r>
              <a:rPr lang="en-US" altLang="zh-TW"/>
              <a:t>User Threads</a:t>
            </a:r>
          </a:p>
        </p:txBody>
      </p:sp>
      <p:sp>
        <p:nvSpPr>
          <p:cNvPr id="604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4025" y="855663"/>
            <a:ext cx="8469313" cy="56927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>
                <a:solidFill>
                  <a:srgbClr val="FF0000"/>
                </a:solidFill>
              </a:rPr>
              <a:t>Thread management done by </a:t>
            </a:r>
            <a:r>
              <a:rPr lang="en-US" altLang="zh-TW" sz="2800" b="1">
                <a:solidFill>
                  <a:srgbClr val="FF0000"/>
                </a:solidFill>
              </a:rPr>
              <a:t>user-level</a:t>
            </a:r>
            <a:r>
              <a:rPr lang="en-US" altLang="zh-TW" sz="2800">
                <a:solidFill>
                  <a:srgbClr val="FF0000"/>
                </a:solidFill>
              </a:rPr>
              <a:t> threads library.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/>
              <a:t>Fast: All thread creating and scheduling are done in user space </a:t>
            </a:r>
            <a:r>
              <a:rPr lang="en-US" altLang="zh-TW" sz="2400">
                <a:solidFill>
                  <a:srgbClr val="FF0000"/>
                </a:solidFill>
              </a:rPr>
              <a:t>without the need for kernel intervention</a:t>
            </a:r>
            <a:r>
              <a:rPr lang="en-US" altLang="zh-TW" sz="2400"/>
              <a:t>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/>
              <a:t>Any user-level thread performing a blocking system call will cause the entire process to block, even if there are other threads available to run within the applications, </a:t>
            </a:r>
            <a:r>
              <a:rPr lang="en-US" altLang="zh-TW" sz="2800">
                <a:solidFill>
                  <a:srgbClr val="FF0000"/>
                </a:solidFill>
              </a:rPr>
              <a:t>if the kernel is single-thread</a:t>
            </a:r>
            <a:r>
              <a:rPr lang="en-US" altLang="zh-TW" sz="2800"/>
              <a:t>.</a:t>
            </a:r>
            <a:endParaRPr lang="en-US" altLang="zh-TW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/>
              <a:t>Examples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800"/>
              <a:t>	-</a:t>
            </a:r>
            <a:r>
              <a:rPr lang="en-US" altLang="zh-TW" sz="2000">
                <a:latin typeface="Times New Roman" pitchFamily="18" charset="0"/>
              </a:rPr>
              <a:t>POSIX </a:t>
            </a:r>
            <a:r>
              <a:rPr lang="en-US" altLang="zh-TW" sz="2000" i="1">
                <a:latin typeface="Times New Roman" pitchFamily="18" charset="0"/>
              </a:rPr>
              <a:t>Pthreads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>
                <a:latin typeface="Times New Roman" pitchFamily="18" charset="0"/>
              </a:rPr>
              <a:t>	- Mach </a:t>
            </a:r>
            <a:r>
              <a:rPr lang="en-US" altLang="zh-TW" sz="2000" i="1">
                <a:latin typeface="Times New Roman" pitchFamily="18" charset="0"/>
              </a:rPr>
              <a:t>C-threads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i="1">
                <a:latin typeface="Times New Roman" pitchFamily="18" charset="0"/>
              </a:rPr>
              <a:t>     </a:t>
            </a:r>
            <a:r>
              <a:rPr lang="en-US" altLang="zh-TW" sz="2000">
                <a:latin typeface="Times New Roman" pitchFamily="18" charset="0"/>
              </a:rPr>
              <a:t>- Win32 </a:t>
            </a:r>
            <a:r>
              <a:rPr lang="en-US" altLang="zh-TW" sz="2000" i="1">
                <a:latin typeface="Times New Roman" pitchFamily="18" charset="0"/>
              </a:rPr>
              <a:t>threads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>
                <a:latin typeface="Times New Roman" pitchFamily="18" charset="0"/>
              </a:rPr>
              <a:t>	- Solaris </a:t>
            </a:r>
            <a:r>
              <a:rPr lang="en-US" altLang="zh-TW" sz="2000" i="1">
                <a:latin typeface="Times New Roman" pitchFamily="18" charset="0"/>
              </a:rPr>
              <a:t>threads, Solaris 2 VI-threads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B3F07FD-B512-5140-9709-539DBF2C7454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63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63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AEA5E9-3315-45D3-B16E-78A7AFEBF6F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52475"/>
          </a:xfrm>
        </p:spPr>
        <p:txBody>
          <a:bodyPr/>
          <a:lstStyle/>
          <a:p>
            <a:pPr algn="ctr" eaLnBrk="1" hangingPunct="1"/>
            <a:r>
              <a:rPr lang="en-US" altLang="zh-TW"/>
              <a:t>Kernel Threads</a:t>
            </a:r>
          </a:p>
        </p:txBody>
      </p:sp>
      <p:sp>
        <p:nvSpPr>
          <p:cNvPr id="1639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7038" y="1079500"/>
            <a:ext cx="8286750" cy="4891088"/>
          </a:xfrm>
        </p:spPr>
        <p:txBody>
          <a:bodyPr/>
          <a:lstStyle/>
          <a:p>
            <a:pPr eaLnBrk="1" hangingPunct="1"/>
            <a:r>
              <a:rPr lang="en-US" altLang="zh-TW"/>
              <a:t>Supported by the Kernel</a:t>
            </a:r>
            <a:br>
              <a:rPr lang="en-US" altLang="zh-TW"/>
            </a:br>
            <a:endParaRPr lang="en-US" altLang="zh-TW"/>
          </a:p>
          <a:p>
            <a:pPr eaLnBrk="1" hangingPunct="1"/>
            <a:r>
              <a:rPr lang="en-US" altLang="zh-TW"/>
              <a:t>Examples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- Windows XP/2000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 	- Solaris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- Tru64 UNIX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- Linux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- Mac OS X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1B1ACC-7CFA-D942-BFE5-9C7401BBFE2C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74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74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4D7255-7E32-48A8-A182-33DAB7CAA7E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50" y="74613"/>
            <a:ext cx="7772400" cy="749300"/>
          </a:xfrm>
        </p:spPr>
        <p:txBody>
          <a:bodyPr/>
          <a:lstStyle/>
          <a:p>
            <a:pPr eaLnBrk="1" hangingPunct="1"/>
            <a:r>
              <a:rPr lang="en-US" altLang="zh-TW"/>
              <a:t>Multithreading Models (1)</a:t>
            </a:r>
          </a:p>
        </p:txBody>
      </p:sp>
      <p:sp>
        <p:nvSpPr>
          <p:cNvPr id="983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5113" y="776288"/>
            <a:ext cx="8628062" cy="5678487"/>
          </a:xfrm>
        </p:spPr>
        <p:txBody>
          <a:bodyPr/>
          <a:lstStyle/>
          <a:p>
            <a:pPr marL="285750" indent="-285750" algn="ctr" eaLnBrk="1" hangingPunct="1">
              <a:buFont typeface="Wingdings" pitchFamily="2" charset="2"/>
              <a:buNone/>
            </a:pPr>
            <a:r>
              <a:rPr lang="en-US" altLang="zh-TW" sz="2400">
                <a:solidFill>
                  <a:srgbClr val="FF0000"/>
                </a:solidFill>
              </a:rPr>
              <a:t>Multi-Thread vs. Multi-process</a:t>
            </a:r>
            <a:r>
              <a:rPr lang="en-US" altLang="zh-TW" sz="2400"/>
              <a:t> </a:t>
            </a:r>
          </a:p>
          <a:p>
            <a:pPr marL="285750" indent="-285750" eaLnBrk="1" hangingPunct="1">
              <a:buSzTx/>
              <a:buFont typeface="Wingdings" pitchFamily="2" charset="2"/>
              <a:buChar char="q"/>
            </a:pPr>
            <a:r>
              <a:rPr lang="en-US" altLang="zh-TW" sz="2800">
                <a:solidFill>
                  <a:srgbClr val="0000FF"/>
                </a:solidFill>
              </a:rPr>
              <a:t>Multiple process</a:t>
            </a:r>
            <a:endParaRPr lang="en-US" altLang="zh-TW">
              <a:solidFill>
                <a:srgbClr val="0000FF"/>
              </a:solidFill>
            </a:endParaRPr>
          </a:p>
          <a:p>
            <a:pPr marL="685800" lvl="1" indent="-228600" eaLnBrk="1" hangingPunct="1">
              <a:buSzTx/>
              <a:buFont typeface="Wingdings" pitchFamily="2" charset="2"/>
              <a:buChar char="ü"/>
            </a:pPr>
            <a:r>
              <a:rPr lang="en-US" altLang="zh-TW" sz="2400"/>
              <a:t>Each is independent and has it own program counter, stack, register, and address space. This is useful for </a:t>
            </a:r>
            <a:r>
              <a:rPr lang="en-US" altLang="zh-TW" sz="2400">
                <a:solidFill>
                  <a:srgbClr val="FF0000"/>
                </a:solidFill>
              </a:rPr>
              <a:t>unrelated jobs</a:t>
            </a:r>
            <a:r>
              <a:rPr lang="en-US" altLang="zh-TW" sz="2400"/>
              <a:t>.</a:t>
            </a:r>
          </a:p>
          <a:p>
            <a:pPr marL="685800" lvl="1" indent="-228600" eaLnBrk="1" hangingPunct="1">
              <a:buSzTx/>
              <a:buFont typeface="Wingdings" pitchFamily="2" charset="2"/>
              <a:buChar char="ü"/>
            </a:pPr>
            <a:r>
              <a:rPr lang="en-US" altLang="zh-TW" sz="2400"/>
              <a:t>Multiple processes can </a:t>
            </a:r>
            <a:r>
              <a:rPr lang="en-US" altLang="zh-TW" sz="2400">
                <a:solidFill>
                  <a:srgbClr val="FF0000"/>
                </a:solidFill>
              </a:rPr>
              <a:t>perform the same task as well</a:t>
            </a:r>
            <a:r>
              <a:rPr lang="en-US" altLang="zh-TW" sz="2400"/>
              <a:t>. (e.g., provide data to remote machines in a network file system). Each executes the same code but </a:t>
            </a:r>
            <a:r>
              <a:rPr lang="en-US" altLang="zh-TW" sz="2400">
                <a:solidFill>
                  <a:srgbClr val="FF0000"/>
                </a:solidFill>
              </a:rPr>
              <a:t>has it own memory and file resources</a:t>
            </a:r>
            <a:r>
              <a:rPr lang="en-US" altLang="zh-TW" sz="2400"/>
              <a:t>.</a:t>
            </a:r>
          </a:p>
          <a:p>
            <a:pPr marL="285750" indent="-285750" eaLnBrk="1" hangingPunct="1">
              <a:buFont typeface="Wingdings" pitchFamily="2" charset="2"/>
              <a:buChar char="q"/>
            </a:pPr>
            <a:r>
              <a:rPr lang="en-US" altLang="zh-TW" sz="2800">
                <a:solidFill>
                  <a:srgbClr val="0000FF"/>
                </a:solidFill>
              </a:rPr>
              <a:t>Multi-thread process</a:t>
            </a:r>
          </a:p>
          <a:p>
            <a:pPr marL="685800" lvl="1" indent="-228600" eaLnBrk="1" hangingPunct="1">
              <a:buFont typeface="Wingdings" pitchFamily="2" charset="2"/>
              <a:buChar char="ü"/>
            </a:pPr>
            <a:r>
              <a:rPr lang="en-US" altLang="zh-TW" sz="2400"/>
              <a:t>It is more efficient to have </a:t>
            </a:r>
            <a:r>
              <a:rPr lang="en-US" altLang="zh-TW" sz="2400">
                <a:solidFill>
                  <a:srgbClr val="FF0000"/>
                </a:solidFill>
              </a:rPr>
              <a:t>one process containing multiple threads serve the same task</a:t>
            </a:r>
            <a:r>
              <a:rPr lang="en-US" altLang="zh-TW" sz="2400"/>
              <a:t>.</a:t>
            </a:r>
          </a:p>
          <a:p>
            <a:pPr marL="285750" indent="-285750" eaLnBrk="1" hangingPunct="1">
              <a:buFont typeface="Wingdings" pitchFamily="2" charset="2"/>
              <a:buChar char="q"/>
            </a:pPr>
            <a:r>
              <a:rPr lang="en-US" altLang="zh-TW" sz="2400"/>
              <a:t>Most systems support for both user and kernel 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F31FF2F-6465-9646-92BF-AA0BD85CBF17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84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84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6A7604F-7149-4477-84DC-CE20CBBA6A2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492125" y="60325"/>
            <a:ext cx="7772400" cy="819150"/>
          </a:xfrm>
        </p:spPr>
        <p:txBody>
          <a:bodyPr/>
          <a:lstStyle/>
          <a:p>
            <a:pPr eaLnBrk="1" hangingPunct="1"/>
            <a:r>
              <a:rPr lang="en-US" altLang="zh-TW"/>
              <a:t>Multithreading Models (2)</a:t>
            </a:r>
          </a:p>
        </p:txBody>
      </p:sp>
      <p:sp>
        <p:nvSpPr>
          <p:cNvPr id="1024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2438" y="763588"/>
            <a:ext cx="8324850" cy="5359400"/>
          </a:xfrm>
        </p:spPr>
        <p:txBody>
          <a:bodyPr/>
          <a:lstStyle/>
          <a:p>
            <a:pPr marL="285750" indent="-285750" eaLnBrk="1" hangingPunct="1">
              <a:buFont typeface="Wingdings" pitchFamily="2" charset="2"/>
              <a:buChar char="ü"/>
            </a:pPr>
            <a:r>
              <a:rPr lang="en-US" altLang="zh-TW" sz="2800"/>
              <a:t>uses fewer resources, including memory, open files and CPU scheduling.</a:t>
            </a:r>
            <a:endParaRPr lang="en-US" altLang="zh-TW"/>
          </a:p>
          <a:p>
            <a:pPr marL="285750" indent="-285750" eaLnBrk="1" hangingPunct="1">
              <a:buFont typeface="Wingdings" pitchFamily="2" charset="2"/>
              <a:buChar char="ü"/>
            </a:pPr>
            <a:r>
              <a:rPr lang="en-US" altLang="zh-TW" sz="2800"/>
              <a:t>Threads are not independent to each other. This structure </a:t>
            </a:r>
            <a:r>
              <a:rPr lang="en-US" altLang="zh-TW" sz="2800">
                <a:solidFill>
                  <a:srgbClr val="FF0000"/>
                </a:solidFill>
              </a:rPr>
              <a:t>does not provide protection</a:t>
            </a:r>
            <a:r>
              <a:rPr lang="en-US" altLang="zh-TW" sz="2800"/>
              <a:t>.</a:t>
            </a:r>
          </a:p>
          <a:p>
            <a:pPr marL="685800" lvl="1" indent="-228600" eaLnBrk="1" hangingPunct="1">
              <a:buFont typeface="Wingdings" pitchFamily="2" charset="2"/>
              <a:buNone/>
            </a:pPr>
            <a:r>
              <a:rPr lang="en-US" altLang="zh-TW" sz="2400"/>
              <a:t>  However, it is not necessary. Only a</a:t>
            </a:r>
            <a:r>
              <a:rPr lang="en-US" altLang="zh-TW" sz="2400">
                <a:solidFill>
                  <a:srgbClr val="FFCC00"/>
                </a:solidFill>
              </a:rPr>
              <a:t> </a:t>
            </a:r>
            <a:r>
              <a:rPr lang="en-US" altLang="zh-TW" sz="2400"/>
              <a:t>single user can own an individual task with multiple threads. </a:t>
            </a:r>
            <a:r>
              <a:rPr lang="en-US" altLang="zh-TW" sz="2400">
                <a:solidFill>
                  <a:srgbClr val="FF0000"/>
                </a:solidFill>
              </a:rPr>
              <a:t>The threads should be designed to assist one another</a:t>
            </a:r>
            <a:r>
              <a:rPr lang="en-US" altLang="zh-TW" sz="2400"/>
              <a:t>.</a:t>
            </a:r>
          </a:p>
          <a:p>
            <a:pPr marL="285750" indent="-285750" eaLnBrk="1" hangingPunct="1">
              <a:spcBef>
                <a:spcPct val="50000"/>
              </a:spcBef>
              <a:buFont typeface="Wingdings" pitchFamily="2" charset="2"/>
              <a:buChar char="q"/>
            </a:pPr>
            <a:r>
              <a:rPr lang="en-US" altLang="zh-TW" sz="2400"/>
              <a:t>Threads can create child threads. If one thread is blocked, another thread can run.</a:t>
            </a:r>
          </a:p>
          <a:p>
            <a:pPr marL="285750" indent="-285750" eaLnBrk="1" hangingPunct="1">
              <a:spcBef>
                <a:spcPct val="50000"/>
              </a:spcBef>
              <a:buFont typeface="Wingdings" pitchFamily="2" charset="2"/>
              <a:buChar char="q"/>
            </a:pPr>
            <a:r>
              <a:rPr lang="en-US" altLang="zh-TW" sz="2400"/>
              <a:t>Threads provide a mechanism that allows sequential processes to make blocking system calls while also </a:t>
            </a:r>
            <a:r>
              <a:rPr lang="en-US" altLang="zh-TW" sz="2400">
                <a:solidFill>
                  <a:srgbClr val="FF0000"/>
                </a:solidFill>
              </a:rPr>
              <a:t>achieving parallelism.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AFCB64F-4A8D-9140-A04E-ED80092E2676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BA8967D-D3AF-4054-9764-A98ABAB8625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65088"/>
            <a:ext cx="7772400" cy="811212"/>
          </a:xfrm>
        </p:spPr>
        <p:txBody>
          <a:bodyPr/>
          <a:lstStyle/>
          <a:p>
            <a:pPr eaLnBrk="1" hangingPunct="1"/>
            <a:r>
              <a:rPr lang="en-US" altLang="zh-TW"/>
              <a:t>Multithreading Models (3)</a:t>
            </a:r>
          </a:p>
        </p:txBody>
      </p:sp>
      <p:sp>
        <p:nvSpPr>
          <p:cNvPr id="1946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1038" y="954088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TW"/>
              <a:t>Many-to-One</a:t>
            </a:r>
          </a:p>
          <a:p>
            <a:pPr eaLnBrk="1" hangingPunct="1"/>
            <a:r>
              <a:rPr lang="en-US" altLang="zh-TW"/>
              <a:t>One-to-One</a:t>
            </a:r>
          </a:p>
          <a:p>
            <a:pPr eaLnBrk="1" hangingPunct="1"/>
            <a:r>
              <a:rPr lang="en-US" altLang="zh-TW"/>
              <a:t>Many-to-Many</a:t>
            </a:r>
          </a:p>
          <a:p>
            <a:pPr eaLnBrk="1" hangingPunct="1"/>
            <a:endParaRPr lang="zh-TW" altLang="en-US"/>
          </a:p>
        </p:txBody>
      </p:sp>
      <p:pic>
        <p:nvPicPr>
          <p:cNvPr id="19463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7" t="1735" r="7027" b="2176"/>
          <a:stretch>
            <a:fillRect/>
          </a:stretch>
        </p:blipFill>
        <p:spPr bwMode="auto">
          <a:xfrm>
            <a:off x="723900" y="2909888"/>
            <a:ext cx="2992438" cy="24765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4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" t="25514" r="3329" b="25290"/>
          <a:stretch>
            <a:fillRect/>
          </a:stretch>
        </p:blipFill>
        <p:spPr bwMode="auto">
          <a:xfrm>
            <a:off x="4486275" y="4148138"/>
            <a:ext cx="4227513" cy="16414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5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4" t="1373" r="12500" b="1830"/>
          <a:stretch>
            <a:fillRect/>
          </a:stretch>
        </p:blipFill>
        <p:spPr bwMode="auto">
          <a:xfrm>
            <a:off x="4992688" y="1508125"/>
            <a:ext cx="2476500" cy="2344738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6" name="Line 7"/>
          <p:cNvSpPr>
            <a:spLocks noChangeShapeType="1"/>
          </p:cNvSpPr>
          <p:nvPr/>
        </p:nvSpPr>
        <p:spPr bwMode="auto">
          <a:xfrm>
            <a:off x="3192463" y="1871663"/>
            <a:ext cx="1512887" cy="21637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9467" name="Line 8"/>
          <p:cNvSpPr>
            <a:spLocks noChangeShapeType="1"/>
          </p:cNvSpPr>
          <p:nvPr/>
        </p:nvSpPr>
        <p:spPr bwMode="auto">
          <a:xfrm>
            <a:off x="3536950" y="1296988"/>
            <a:ext cx="1278890" cy="1295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87960" y="5461337"/>
            <a:ext cx="4221480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Kernel-level threads are scheduled by the OS, and each thread can be granted its own </a:t>
            </a:r>
            <a:r>
              <a:rPr lang="en-US" altLang="zh-TW" sz="2000" dirty="0" err="1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timeslices</a:t>
            </a:r>
            <a:r>
              <a:rPr lang="en-US" altLang="zh-TW" sz="20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by the scheduler.</a:t>
            </a:r>
            <a:endParaRPr lang="zh-TW" altLang="en-US" sz="2000" dirty="0">
              <a:latin typeface="Adobe Gothic Std B" panose="020B0800000000000000" pitchFamily="34" charset="-128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16338" y="695395"/>
            <a:ext cx="5803582" cy="70788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The kernel is unaware of the existence of the user- level threads.  # of threads in a process</a:t>
            </a:r>
            <a:endParaRPr lang="zh-TW" altLang="en-US" sz="2000" dirty="0">
              <a:solidFill>
                <a:srgbClr val="0000FF"/>
              </a:solidFill>
              <a:latin typeface="Adobe Gothic Std B" panose="020B0800000000000000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1C6AEE-E448-C54B-9D22-FCCBFA02D8E0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15B39C-1408-44F1-9FEA-C6EEBCD9558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23825"/>
            <a:ext cx="7772400" cy="852488"/>
          </a:xfrm>
        </p:spPr>
        <p:txBody>
          <a:bodyPr/>
          <a:lstStyle/>
          <a:p>
            <a:pPr eaLnBrk="1" hangingPunct="1"/>
            <a:r>
              <a:rPr lang="en-US" altLang="zh-TW"/>
              <a:t>Many-to-One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1625" y="838200"/>
            <a:ext cx="8450263" cy="5576888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defRPr/>
            </a:pPr>
            <a:r>
              <a:rPr lang="en-US" altLang="zh-TW" sz="2800" dirty="0"/>
              <a:t>Many user-level threads mapped to single kernel thread.</a:t>
            </a:r>
          </a:p>
          <a:p>
            <a:pPr eaLnBrk="1" hangingPunct="1">
              <a:spcBef>
                <a:spcPct val="40000"/>
              </a:spcBef>
              <a:defRPr/>
            </a:pPr>
            <a:r>
              <a:rPr lang="en-US" altLang="zh-TW" sz="2800" dirty="0"/>
              <a:t>Used on systems that do not support kernel threads.</a:t>
            </a:r>
            <a:endParaRPr lang="en-US" altLang="zh-TW" sz="3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altLang="zh-TW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Thread management is done in user space, so it is efficient.</a:t>
            </a: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Char char="L"/>
              <a:defRPr/>
            </a:pPr>
            <a:r>
              <a:rPr lang="en-US" altLang="zh-TW" sz="2400" dirty="0">
                <a:sym typeface="Wingdings" pitchFamily="2" charset="2"/>
              </a:rPr>
              <a:t>The entire process will block if a thread makes a blocking system call.</a:t>
            </a: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Char char="L"/>
              <a:defRPr/>
            </a:pPr>
            <a:r>
              <a:rPr lang="en-US" altLang="zh-TW" sz="2400" dirty="0"/>
              <a:t>Only one thread can access the kernel at a time, </a:t>
            </a:r>
            <a:r>
              <a:rPr lang="en-US" altLang="zh-TW" sz="2400" dirty="0">
                <a:solidFill>
                  <a:srgbClr val="FF0000"/>
                </a:solidFill>
              </a:rPr>
              <a:t>multiple threads are unable to run in parallel on multiprocessors</a:t>
            </a:r>
            <a:r>
              <a:rPr lang="en-US" altLang="zh-TW" sz="2400" dirty="0"/>
              <a:t>.</a:t>
            </a:r>
          </a:p>
          <a:p>
            <a:pPr lvl="1" eaLnBrk="1" hangingPunct="1">
              <a:spcBef>
                <a:spcPct val="40000"/>
              </a:spcBef>
              <a:defRPr/>
            </a:pPr>
            <a:r>
              <a:rPr lang="en-US" altLang="zh-TW" sz="2000" dirty="0">
                <a:solidFill>
                  <a:srgbClr val="3366FF"/>
                </a:solidFill>
              </a:rPr>
              <a:t>Solaris Green Threads, GNU Portable Threads</a:t>
            </a:r>
          </a:p>
        </p:txBody>
      </p:sp>
      <p:sp>
        <p:nvSpPr>
          <p:cNvPr id="2" name="矩形 1"/>
          <p:cNvSpPr/>
          <p:nvPr/>
        </p:nvSpPr>
        <p:spPr>
          <a:xfrm>
            <a:off x="2084229" y="5997714"/>
            <a:ext cx="5281772" cy="70788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The kernel is not going to be able to distribute the other threads on other CPUs.</a:t>
            </a:r>
            <a:endParaRPr lang="zh-TW" altLang="en-US" sz="2000" dirty="0">
              <a:solidFill>
                <a:srgbClr val="0000FF"/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33521" y="123825"/>
            <a:ext cx="5212080" cy="70788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  <a:latin typeface="Adobe Gothic Std B" panose="020B0800000000000000" pitchFamily="34" charset="-128"/>
              </a:rPr>
              <a:t>Scheduling on processes</a:t>
            </a:r>
          </a:p>
          <a:p>
            <a:r>
              <a:rPr lang="en-US" altLang="zh-TW" sz="2000" dirty="0">
                <a:solidFill>
                  <a:srgbClr val="0000FF"/>
                </a:solidFill>
                <a:latin typeface="Adobe Gothic Std B" panose="020B0800000000000000" pitchFamily="34" charset="-128"/>
              </a:rPr>
              <a:t>If kernel services are relatively less often</a:t>
            </a:r>
            <a:endParaRPr lang="zh-TW" altLang="en-US" sz="2000" dirty="0">
              <a:solidFill>
                <a:srgbClr val="0000FF"/>
              </a:solidFill>
              <a:latin typeface="Adobe Gothic Std B" panose="020B0800000000000000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39D27C3-9413-4649-A663-82D68FA5DB54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511C9A8-D6F0-4BFD-8CE8-9F92C6B6EDB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9788"/>
          </a:xfrm>
        </p:spPr>
        <p:txBody>
          <a:bodyPr/>
          <a:lstStyle/>
          <a:p>
            <a:pPr eaLnBrk="1" hangingPunct="1"/>
            <a:r>
              <a:rPr lang="en-US" altLang="zh-TW"/>
              <a:t>One-to-One</a:t>
            </a:r>
          </a:p>
        </p:txBody>
      </p:sp>
      <p:sp>
        <p:nvSpPr>
          <p:cNvPr id="645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3863" y="1036638"/>
            <a:ext cx="8407400" cy="501015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800"/>
              <a:t>Each user-level thread maps to kernel thread.</a:t>
            </a:r>
            <a:endParaRPr lang="en-US" altLang="zh-TW" sz="2400"/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TW" sz="2800">
                <a:sym typeface="Wingdings" pitchFamily="2" charset="2"/>
              </a:rPr>
              <a:t></a:t>
            </a:r>
            <a:r>
              <a:rPr lang="en-US" altLang="zh-TW" sz="2800">
                <a:solidFill>
                  <a:srgbClr val="FF0000"/>
                </a:solidFill>
                <a:sym typeface="Wingdings" pitchFamily="2" charset="2"/>
              </a:rPr>
              <a:t>More concurrency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TW" sz="2800">
                <a:sym typeface="Wingdings" pitchFamily="2" charset="2"/>
              </a:rPr>
              <a:t>Overhead: </a:t>
            </a:r>
            <a:r>
              <a:rPr lang="en-US" altLang="zh-TW" sz="2800">
                <a:solidFill>
                  <a:srgbClr val="FF0000"/>
                </a:solidFill>
                <a:sym typeface="Wingdings" pitchFamily="2" charset="2"/>
              </a:rPr>
              <a:t>Creating a thread requires creating the corresponding kernel thread</a:t>
            </a:r>
            <a:r>
              <a:rPr lang="en-US" altLang="zh-TW" sz="2800">
                <a:sym typeface="Wingdings" pitchFamily="2" charset="2"/>
              </a:rPr>
              <a:t>.</a:t>
            </a:r>
            <a:endParaRPr lang="en-US" altLang="zh-TW"/>
          </a:p>
          <a:p>
            <a:pPr eaLnBrk="1" hangingPunct="1">
              <a:spcBef>
                <a:spcPct val="50000"/>
              </a:spcBef>
            </a:pPr>
            <a:r>
              <a:rPr lang="en-US" altLang="zh-TW" sz="2800"/>
              <a:t>Examples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/>
              <a:t>	- Windows XP/NT/2000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/>
              <a:t>	- Linux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/>
              <a:t>	- Solaris 9 and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47DBBCC-1DD9-3F4B-BCB9-E24E7D826229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25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225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0C242AD-0384-4B17-9050-C814CA2681A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400"/>
          </a:p>
        </p:txBody>
      </p:sp>
      <p:sp>
        <p:nvSpPr>
          <p:cNvPr id="2253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1663" y="219075"/>
            <a:ext cx="7788275" cy="720725"/>
          </a:xfrm>
        </p:spPr>
        <p:txBody>
          <a:bodyPr/>
          <a:lstStyle/>
          <a:p>
            <a:pPr eaLnBrk="1" hangingPunct="1"/>
            <a:r>
              <a:rPr lang="en-US" altLang="zh-TW" sz="4000"/>
              <a:t>Many-to-Many</a:t>
            </a:r>
          </a:p>
        </p:txBody>
      </p:sp>
      <p:sp>
        <p:nvSpPr>
          <p:cNvPr id="81923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09550" y="827088"/>
            <a:ext cx="8604250" cy="5534025"/>
          </a:xfrm>
        </p:spPr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zh-TW" sz="2800" b="1" dirty="0">
                <a:solidFill>
                  <a:srgbClr val="FF0000"/>
                </a:solidFill>
              </a:rPr>
              <a:t>Multiplexes</a:t>
            </a:r>
            <a:r>
              <a:rPr lang="en-US" altLang="zh-TW" sz="2800" dirty="0"/>
              <a:t> many user-level threads to a smaller or equal number of kernel threads</a:t>
            </a:r>
            <a:endParaRPr lang="en-US" altLang="zh-TW" sz="36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40000"/>
              </a:spcBef>
            </a:pPr>
            <a:r>
              <a:rPr lang="en-US" altLang="zh-TW" sz="2800" dirty="0">
                <a:solidFill>
                  <a:srgbClr val="FF0000"/>
                </a:solidFill>
                <a:sym typeface="Wingdings" pitchFamily="2" charset="2"/>
              </a:rPr>
              <a:t>Allows the developer to create as many </a:t>
            </a:r>
            <a:r>
              <a:rPr lang="en-US" altLang="zh-TW" sz="2800" b="1" dirty="0">
                <a:solidFill>
                  <a:srgbClr val="FF0000"/>
                </a:solidFill>
                <a:sym typeface="Wingdings" pitchFamily="2" charset="2"/>
              </a:rPr>
              <a:t>user threads</a:t>
            </a:r>
            <a:r>
              <a:rPr lang="en-US" altLang="zh-TW" sz="2800" dirty="0">
                <a:solidFill>
                  <a:srgbClr val="FF0000"/>
                </a:solidFill>
                <a:sym typeface="Wingdings" pitchFamily="2" charset="2"/>
              </a:rPr>
              <a:t> as wished</a:t>
            </a:r>
            <a:r>
              <a:rPr lang="en-US" altLang="zh-TW" sz="2800" dirty="0">
                <a:sym typeface="Wingdings" pitchFamily="2" charset="2"/>
              </a:rPr>
              <a:t>.</a:t>
            </a:r>
          </a:p>
          <a:p>
            <a:pPr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TW" sz="2400" dirty="0">
                <a:sym typeface="Wingdings" pitchFamily="2" charset="2"/>
              </a:rPr>
              <a:t>The corresponding kernel threads can run in parallel on a multiprocessor.</a:t>
            </a: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TW" sz="2400" dirty="0">
                <a:sym typeface="Wingdings" pitchFamily="2" charset="2"/>
              </a:rPr>
              <a:t></a:t>
            </a:r>
            <a:r>
              <a:rPr lang="en-US" altLang="zh-TW" sz="2400" dirty="0">
                <a:solidFill>
                  <a:srgbClr val="FF0000"/>
                </a:solidFill>
                <a:sym typeface="Wingdings" pitchFamily="2" charset="2"/>
              </a:rPr>
              <a:t>When a thread performs a blocking call, the kernel can </a:t>
            </a:r>
            <a:r>
              <a:rPr lang="en-US" altLang="zh-TW" sz="2800" b="1" dirty="0">
                <a:solidFill>
                  <a:srgbClr val="FF0000"/>
                </a:solidFill>
                <a:sym typeface="Wingdings" pitchFamily="2" charset="2"/>
              </a:rPr>
              <a:t>schedule</a:t>
            </a:r>
            <a:r>
              <a:rPr lang="en-US" altLang="zh-TW" sz="2400" dirty="0">
                <a:solidFill>
                  <a:srgbClr val="FF0000"/>
                </a:solidFill>
                <a:sym typeface="Wingdings" pitchFamily="2" charset="2"/>
              </a:rPr>
              <a:t> another thread for execution</a:t>
            </a:r>
            <a:r>
              <a:rPr lang="en-US" altLang="zh-TW" sz="2000" dirty="0">
                <a:sym typeface="Wingdings" pitchFamily="2" charset="2"/>
              </a:rPr>
              <a:t>.</a:t>
            </a:r>
          </a:p>
          <a:p>
            <a:pPr eaLnBrk="1" hangingPunct="1"/>
            <a:r>
              <a:rPr lang="en-US" altLang="zh-TW" sz="2400" dirty="0"/>
              <a:t>Solaris 2, </a:t>
            </a:r>
            <a:r>
              <a:rPr lang="en-US" altLang="zh-TW" sz="2400" dirty="0">
                <a:sym typeface="Wingdings" pitchFamily="2" charset="2"/>
              </a:rPr>
              <a:t>IRIX, Digital UNIX</a:t>
            </a:r>
            <a:r>
              <a:rPr lang="en-US" altLang="zh-TW" sz="2400" dirty="0"/>
              <a:t> </a:t>
            </a:r>
          </a:p>
          <a:p>
            <a:pPr eaLnBrk="1" hangingPunct="1"/>
            <a:r>
              <a:rPr lang="en-US" altLang="zh-TW" sz="2400" dirty="0"/>
              <a:t>Windows NT/2000 with the </a:t>
            </a:r>
            <a:r>
              <a:rPr lang="en-US" altLang="zh-TW" sz="2400" i="1" dirty="0" err="1"/>
              <a:t>ThreadFiber</a:t>
            </a:r>
            <a:r>
              <a:rPr lang="en-US" altLang="zh-TW" sz="2400" dirty="0"/>
              <a:t> package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0C42D5-6041-1E43-869D-8B96F9962D8E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CA2E46-620D-4B7F-8A39-98BF3313F50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40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595313" y="195263"/>
            <a:ext cx="7772400" cy="682625"/>
          </a:xfrm>
        </p:spPr>
        <p:txBody>
          <a:bodyPr/>
          <a:lstStyle/>
          <a:p>
            <a:pPr eaLnBrk="1" hangingPunct="1"/>
            <a:r>
              <a:rPr lang="en-US" altLang="zh-TW" sz="4000"/>
              <a:t>Two-level Model</a:t>
            </a:r>
            <a:endParaRPr lang="en-US" altLang="zh-TW" sz="3200">
              <a:solidFill>
                <a:srgbClr val="FF0000"/>
              </a:solidFill>
            </a:endParaRPr>
          </a:p>
        </p:txBody>
      </p:sp>
      <p:sp>
        <p:nvSpPr>
          <p:cNvPr id="2355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50863" y="1435100"/>
            <a:ext cx="7929562" cy="4845050"/>
          </a:xfrm>
        </p:spPr>
        <p:txBody>
          <a:bodyPr/>
          <a:lstStyle/>
          <a:p>
            <a:pPr eaLnBrk="1" hangingPunct="1"/>
            <a:r>
              <a:rPr lang="en-US" altLang="zh-TW"/>
              <a:t>Similar to Many-to-Many, except that it allows a user thread to be </a:t>
            </a:r>
            <a:r>
              <a:rPr lang="en-US" altLang="zh-TW" b="1">
                <a:solidFill>
                  <a:srgbClr val="FF0000"/>
                </a:solidFill>
              </a:rPr>
              <a:t>bound</a:t>
            </a:r>
            <a:r>
              <a:rPr lang="en-US" altLang="zh-TW"/>
              <a:t> to kernel thread</a:t>
            </a:r>
          </a:p>
          <a:p>
            <a:pPr eaLnBrk="1" hangingPunct="1"/>
            <a:r>
              <a:rPr lang="en-US" altLang="zh-TW"/>
              <a:t>Examples</a:t>
            </a:r>
          </a:p>
          <a:p>
            <a:pPr lvl="1" eaLnBrk="1" hangingPunct="1"/>
            <a:r>
              <a:rPr lang="en-US" altLang="zh-TW"/>
              <a:t>IRIX</a:t>
            </a:r>
          </a:p>
          <a:p>
            <a:pPr lvl="1" eaLnBrk="1" hangingPunct="1"/>
            <a:r>
              <a:rPr lang="en-US" altLang="zh-TW"/>
              <a:t>HP-UX</a:t>
            </a:r>
          </a:p>
          <a:p>
            <a:pPr lvl="1" eaLnBrk="1" hangingPunct="1"/>
            <a:r>
              <a:rPr lang="en-US" altLang="zh-TW"/>
              <a:t>Tru64 UNIX</a:t>
            </a:r>
          </a:p>
          <a:p>
            <a:pPr lvl="1" eaLnBrk="1" hangingPunct="1"/>
            <a:r>
              <a:rPr lang="en-US" altLang="zh-TW"/>
              <a:t>Solaris 8 and earlier</a:t>
            </a:r>
          </a:p>
        </p:txBody>
      </p:sp>
      <p:sp>
        <p:nvSpPr>
          <p:cNvPr id="160772" name="Text Box 4"/>
          <p:cNvSpPr txBox="1">
            <a:spLocks noChangeArrowheads="1"/>
          </p:cNvSpPr>
          <p:nvPr/>
        </p:nvSpPr>
        <p:spPr bwMode="auto">
          <a:xfrm>
            <a:off x="1266825" y="819150"/>
            <a:ext cx="4929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Popular Variation on Many-to-Many</a:t>
            </a:r>
            <a:endParaRPr lang="zh-TW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9733069-D491-1B4B-801F-B4B1F0459388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457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2458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280F16-39FA-440D-B06C-400E00D0291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TW" sz="140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Two-level Model</a:t>
            </a:r>
          </a:p>
        </p:txBody>
      </p:sp>
      <p:pic>
        <p:nvPicPr>
          <p:cNvPr id="2458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" t="5733" r="240" b="5414"/>
          <a:stretch>
            <a:fillRect/>
          </a:stretch>
        </p:blipFill>
        <p:spPr bwMode="auto">
          <a:xfrm>
            <a:off x="1649413" y="1757363"/>
            <a:ext cx="5588000" cy="37607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254BDA2-0ABE-DB41-A3BE-6720D9440EC9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56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256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C2ECAD6-4C58-4140-9D1F-53CCC397BBA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601663" y="79375"/>
            <a:ext cx="7772400" cy="857250"/>
          </a:xfrm>
        </p:spPr>
        <p:txBody>
          <a:bodyPr/>
          <a:lstStyle/>
          <a:p>
            <a:pPr eaLnBrk="1" hangingPunct="1"/>
            <a:r>
              <a:rPr lang="en-US" altLang="zh-TW"/>
              <a:t>Pthreads</a:t>
            </a:r>
          </a:p>
        </p:txBody>
      </p:sp>
      <p:sp>
        <p:nvSpPr>
          <p:cNvPr id="2560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1001713"/>
            <a:ext cx="8324850" cy="4783137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/>
              <a:t>A POSIX standard (</a:t>
            </a:r>
            <a:r>
              <a:rPr lang="en-US" altLang="zh-TW" sz="2800">
                <a:solidFill>
                  <a:srgbClr val="0000FF"/>
                </a:solidFill>
              </a:rPr>
              <a:t>IEEE 1003.1c</a:t>
            </a:r>
            <a:r>
              <a:rPr lang="en-US" altLang="zh-TW" sz="2800"/>
              <a:t>) API for </a:t>
            </a:r>
            <a:r>
              <a:rPr lang="en-US" altLang="zh-TW" sz="2800">
                <a:solidFill>
                  <a:srgbClr val="0000FF"/>
                </a:solidFill>
              </a:rPr>
              <a:t>thread creation and synchronization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/>
              <a:t>This is a </a:t>
            </a:r>
            <a:r>
              <a:rPr lang="en-US" altLang="zh-TW" sz="2400" b="1">
                <a:solidFill>
                  <a:srgbClr val="0000FF"/>
                </a:solidFill>
              </a:rPr>
              <a:t>specification</a:t>
            </a:r>
            <a:r>
              <a:rPr lang="en-US" altLang="zh-TW" sz="2400"/>
              <a:t> for thread behavior, </a:t>
            </a:r>
            <a:r>
              <a:rPr lang="en-US" altLang="zh-TW" sz="2400">
                <a:solidFill>
                  <a:srgbClr val="FF0000"/>
                </a:solidFill>
              </a:rPr>
              <a:t>not an implementation</a:t>
            </a:r>
            <a:r>
              <a:rPr lang="en-US" altLang="zh-TW" sz="2400"/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/>
              <a:t>API specifies behavior of the thread library, implementation is up to development of the library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/>
              <a:t>Common in UNIX operating systems(Solaris, Linux, Mac OS X)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/>
          </a:p>
          <a:p>
            <a:pPr eaLnBrk="1" hangingPunct="1">
              <a:buFont typeface="Wingdings" pitchFamily="2" charset="2"/>
              <a:buNone/>
            </a:pPr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395288" y="514350"/>
            <a:ext cx="8229600" cy="576263"/>
          </a:xfrm>
        </p:spPr>
        <p:txBody>
          <a:bodyPr/>
          <a:lstStyle/>
          <a:p>
            <a:r>
              <a:rPr lang="en-US" altLang="en-US"/>
              <a:t>Pthreads Example</a:t>
            </a:r>
          </a:p>
        </p:txBody>
      </p:sp>
      <p:pic>
        <p:nvPicPr>
          <p:cNvPr id="26627" name="Picture 1" descr="Screen Shot 2012-12-04 at 8.50.3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0613"/>
            <a:ext cx="7065963" cy="526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38A7131-D2F4-3C41-A76E-54F392E4B3B9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662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2663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6226789-0E17-4755-8AFC-F61A2B49490B}" type="slidenum">
              <a:rPr kumimoji="0" lang="zh-TW" altLang="en-US" sz="1400" smtClean="0"/>
              <a:pPr eaLnBrk="1" hangingPunct="1"/>
              <a:t>24</a:t>
            </a:fld>
            <a:endParaRPr kumimoji="0" lang="en-US" altLang="zh-TW" sz="1400"/>
          </a:p>
        </p:txBody>
      </p:sp>
      <p:sp>
        <p:nvSpPr>
          <p:cNvPr id="2" name="矩形 1"/>
          <p:cNvSpPr/>
          <p:nvPr/>
        </p:nvSpPr>
        <p:spPr>
          <a:xfrm>
            <a:off x="3417725" y="1242203"/>
            <a:ext cx="13807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header</a:t>
            </a:r>
            <a:r>
              <a:rPr lang="en-US" altLang="zh-TW" sz="2000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file</a:t>
            </a:r>
            <a:endParaRPr lang="zh-TW" altLang="en-US" sz="18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97152" y="3198168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identifier</a:t>
            </a:r>
            <a:endParaRPr lang="zh-TW" altLang="en-US" sz="18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79878" y="3752632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stack</a:t>
            </a:r>
            <a:r>
              <a:rPr lang="en-US" altLang="zh-TW" sz="2000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size</a:t>
            </a:r>
            <a:r>
              <a:rPr lang="en-US" altLang="zh-TW" sz="2000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and</a:t>
            </a:r>
            <a:r>
              <a:rPr lang="en-US" altLang="zh-TW" sz="2000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scheduling</a:t>
            </a:r>
            <a:r>
              <a:rPr lang="en-US" altLang="zh-TW" sz="2000" dirty="0">
                <a:solidFill>
                  <a:srgbClr val="0000FF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information</a:t>
            </a:r>
            <a:endParaRPr lang="zh-TW" altLang="en-US" sz="18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r>
              <a:rPr lang="en-US" altLang="en-US"/>
              <a:t>Pthreads Example (Cont.)</a:t>
            </a:r>
          </a:p>
        </p:txBody>
      </p:sp>
      <p:pic>
        <p:nvPicPr>
          <p:cNvPr id="27651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995363"/>
            <a:ext cx="5795962" cy="533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7B9C95E-F0E7-284E-AAD0-F34E7E28B2F4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7653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2765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E3FF72A-FAF2-49A3-BD86-47BC3715A647}" type="slidenum">
              <a:rPr kumimoji="0" lang="zh-TW" altLang="en-US" sz="1400" smtClean="0"/>
              <a:pPr eaLnBrk="1" hangingPunct="1"/>
              <a:t>25</a:t>
            </a:fld>
            <a:endParaRPr kumimoji="0" lang="en-US" altLang="zh-TW" sz="1400"/>
          </a:p>
        </p:txBody>
      </p:sp>
      <p:sp>
        <p:nvSpPr>
          <p:cNvPr id="2" name="矩形 1"/>
          <p:cNvSpPr/>
          <p:nvPr/>
        </p:nvSpPr>
        <p:spPr>
          <a:xfrm>
            <a:off x="5379656" y="4985183"/>
            <a:ext cx="36738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calculates the summation of a nonnegative</a:t>
            </a:r>
            <a:r>
              <a:rPr lang="zh-TW" altLang="en-US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integer</a:t>
            </a:r>
            <a:endParaRPr lang="zh-TW" altLang="en-US" sz="18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79656" y="1229107"/>
            <a:ext cx="952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default</a:t>
            </a:r>
            <a:endParaRPr lang="zh-TW" altLang="en-US" dirty="0">
              <a:solidFill>
                <a:srgbClr val="0000FF"/>
              </a:solidFill>
              <a:latin typeface="Adobe Gothic Std B" pitchFamily="34" charset="-128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03824" y="1583835"/>
            <a:ext cx="34880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 separate</a:t>
            </a:r>
            <a:r>
              <a:rPr lang="zh-TW" altLang="en-US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thread is created</a:t>
            </a:r>
            <a:endParaRPr lang="zh-TW" altLang="en-US" sz="18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42243" y="2026859"/>
            <a:ext cx="2411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name of the function</a:t>
            </a:r>
            <a:endParaRPr lang="zh-TW" altLang="en-US" sz="18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cxnSp>
        <p:nvCxnSpPr>
          <p:cNvPr id="7" name="直線單箭頭接點 6"/>
          <p:cNvCxnSpPr/>
          <p:nvPr/>
        </p:nvCxnSpPr>
        <p:spPr bwMode="auto">
          <a:xfrm flipH="1" flipV="1">
            <a:off x="5640512" y="2013680"/>
            <a:ext cx="1001731" cy="19784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E88718C-505C-2042-B7F7-422171E01100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26D56CB-4E95-454A-815A-7A6CEA9CCD1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/>
          </a:p>
        </p:txBody>
      </p:sp>
      <p:sp>
        <p:nvSpPr>
          <p:cNvPr id="28677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39763"/>
          </a:xfrm>
        </p:spPr>
        <p:txBody>
          <a:bodyPr/>
          <a:lstStyle/>
          <a:p>
            <a:pPr eaLnBrk="1" hangingPunct="1"/>
            <a:r>
              <a:rPr lang="en-US" altLang="zh-TW"/>
              <a:t>Java Threads</a:t>
            </a:r>
          </a:p>
        </p:txBody>
      </p:sp>
      <p:sp>
        <p:nvSpPr>
          <p:cNvPr id="41989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6088" y="887413"/>
            <a:ext cx="8337550" cy="53482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dirty="0"/>
              <a:t>Support for threads is provided either by </a:t>
            </a:r>
            <a:r>
              <a:rPr lang="en-US" altLang="zh-TW" sz="2400" b="1" dirty="0">
                <a:solidFill>
                  <a:srgbClr val="FF0000"/>
                </a:solidFill>
              </a:rPr>
              <a:t>OS</a:t>
            </a:r>
            <a:r>
              <a:rPr lang="en-US" altLang="zh-TW" sz="2400" dirty="0"/>
              <a:t> or by a </a:t>
            </a:r>
            <a:r>
              <a:rPr lang="en-US" altLang="zh-TW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threads library package</a:t>
            </a:r>
            <a:r>
              <a:rPr lang="en-US" altLang="zh-TW" sz="2400" dirty="0"/>
              <a:t>. For example, the Win32 library provides a set of APIs for multithreading native Windows applications.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dirty="0"/>
              <a:t>Java is </a:t>
            </a:r>
            <a:r>
              <a:rPr lang="en-US" altLang="zh-TW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unique</a:t>
            </a:r>
            <a:r>
              <a:rPr lang="en-US" altLang="zh-TW" sz="2400" dirty="0"/>
              <a:t> in that it provides support at the </a:t>
            </a:r>
            <a:r>
              <a:rPr lang="en-US" altLang="zh-TW" sz="2400" dirty="0">
                <a:solidFill>
                  <a:srgbClr val="FF0000"/>
                </a:solidFill>
              </a:rPr>
              <a:t>language level</a:t>
            </a:r>
            <a:r>
              <a:rPr lang="en-US" altLang="zh-TW" sz="2400" dirty="0"/>
              <a:t> for </a:t>
            </a:r>
            <a:r>
              <a:rPr lang="en-US" altLang="zh-TW" sz="2400" dirty="0">
                <a:solidFill>
                  <a:srgbClr val="0000FF"/>
                </a:solidFill>
              </a:rPr>
              <a:t>creation</a:t>
            </a:r>
            <a:r>
              <a:rPr lang="en-US" altLang="zh-TW" sz="2400" dirty="0"/>
              <a:t> and </a:t>
            </a:r>
            <a:r>
              <a:rPr lang="en-US" altLang="zh-TW" sz="2400" dirty="0">
                <a:solidFill>
                  <a:srgbClr val="0000FF"/>
                </a:solidFill>
              </a:rPr>
              <a:t>management</a:t>
            </a:r>
            <a:r>
              <a:rPr lang="en-US" altLang="zh-TW" sz="2400" dirty="0"/>
              <a:t> of threads.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dirty="0"/>
              <a:t>Java threads may be created by: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000" dirty="0"/>
              <a:t>Extending Thread class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000" dirty="0"/>
              <a:t>Implementing the Runnable interface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dirty="0"/>
              <a:t>Java threads are </a:t>
            </a:r>
            <a:r>
              <a:rPr lang="en-US" altLang="zh-TW" sz="2400" dirty="0">
                <a:solidFill>
                  <a:srgbClr val="FF0000"/>
                </a:solidFill>
              </a:rPr>
              <a:t>managed by the JVM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000" dirty="0">
                <a:solidFill>
                  <a:srgbClr val="FF0000"/>
                </a:solidFill>
              </a:rPr>
              <a:t>It</a:t>
            </a:r>
            <a:r>
              <a:rPr lang="en-US" altLang="zh-TW" sz="2000" dirty="0">
                <a:solidFill>
                  <a:srgbClr val="FF0000"/>
                </a:solidFill>
                <a:latin typeface="Helvetica"/>
              </a:rPr>
              <a:t>’</a:t>
            </a:r>
            <a:r>
              <a:rPr lang="en-US" altLang="zh-TW" sz="2000" dirty="0">
                <a:solidFill>
                  <a:srgbClr val="FF0000"/>
                </a:solidFill>
              </a:rPr>
              <a:t>s difficult to classify Java threads as either user or kernel level</a:t>
            </a:r>
            <a:r>
              <a:rPr lang="en-US" altLang="zh-TW" sz="20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42C207-D02A-1046-9950-503EAA71CDFA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296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1196B1-1063-49A7-968C-9846D94D5C1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231775"/>
            <a:ext cx="7772400" cy="723900"/>
          </a:xfrm>
        </p:spPr>
        <p:txBody>
          <a:bodyPr/>
          <a:lstStyle/>
          <a:p>
            <a:pPr eaLnBrk="1" hangingPunct="1"/>
            <a:r>
              <a:rPr lang="en-US" altLang="zh-TW"/>
              <a:t>Java Thread States (1)</a:t>
            </a:r>
          </a:p>
        </p:txBody>
      </p:sp>
      <p:sp>
        <p:nvSpPr>
          <p:cNvPr id="1136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554038" y="955675"/>
            <a:ext cx="8328025" cy="5040313"/>
          </a:xfrm>
        </p:spPr>
        <p:txBody>
          <a:bodyPr/>
          <a:lstStyle/>
          <a:p>
            <a:pPr eaLnBrk="1" hangingPunct="1"/>
            <a:r>
              <a:rPr lang="en-US" altLang="zh-TW" dirty="0"/>
              <a:t>Four possible states:</a:t>
            </a:r>
            <a:endParaRPr lang="en-US" altLang="zh-TW" dirty="0">
              <a:solidFill>
                <a:srgbClr val="FF0000"/>
              </a:solidFill>
            </a:endParaRPr>
          </a:p>
          <a:p>
            <a:pPr lvl="1" eaLnBrk="1" hangingPunct="1">
              <a:buFont typeface="Wingdings" pitchFamily="2" charset="2"/>
              <a:buChar char="q"/>
            </a:pPr>
            <a:r>
              <a:rPr lang="en-US" altLang="zh-TW" dirty="0">
                <a:solidFill>
                  <a:srgbClr val="FF0000"/>
                </a:solidFill>
              </a:rPr>
              <a:t>New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n-US" altLang="zh-TW" dirty="0">
                <a:solidFill>
                  <a:srgbClr val="FF0000"/>
                </a:solidFill>
              </a:rPr>
              <a:t>Runnable</a:t>
            </a:r>
            <a:r>
              <a:rPr lang="en-US" altLang="zh-TW" dirty="0"/>
              <a:t>: Calling the </a:t>
            </a:r>
            <a:r>
              <a:rPr lang="en-US" altLang="zh-TW" dirty="0">
                <a:solidFill>
                  <a:srgbClr val="0000FF"/>
                </a:solidFill>
              </a:rPr>
              <a:t>start</a:t>
            </a:r>
            <a:r>
              <a:rPr lang="en-US" altLang="zh-TW" dirty="0"/>
              <a:t>() method </a:t>
            </a:r>
            <a:r>
              <a:rPr lang="en-US" altLang="zh-TW" dirty="0">
                <a:solidFill>
                  <a:srgbClr val="0000FF"/>
                </a:solidFill>
              </a:rPr>
              <a:t>allocates memory</a:t>
            </a:r>
            <a:r>
              <a:rPr lang="en-US" altLang="zh-TW" dirty="0"/>
              <a:t> and calls the </a:t>
            </a:r>
            <a:r>
              <a:rPr lang="en-US" altLang="zh-TW" dirty="0">
                <a:solidFill>
                  <a:srgbClr val="00B050"/>
                </a:solidFill>
              </a:rPr>
              <a:t>run</a:t>
            </a:r>
            <a:r>
              <a:rPr lang="en-US" altLang="zh-TW" dirty="0"/>
              <a:t>() method for the thread object. 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dirty="0"/>
              <a:t>	Note: Java does not distinguish between a thread that is </a:t>
            </a:r>
            <a:r>
              <a:rPr lang="en-US" altLang="zh-TW" dirty="0">
                <a:solidFill>
                  <a:srgbClr val="7030A0"/>
                </a:solidFill>
              </a:rPr>
              <a:t>eligible to run </a:t>
            </a:r>
            <a:r>
              <a:rPr lang="en-US" altLang="zh-TW" dirty="0"/>
              <a:t>and a thread that is </a:t>
            </a:r>
            <a:r>
              <a:rPr lang="en-US" altLang="zh-TW" dirty="0">
                <a:solidFill>
                  <a:srgbClr val="7030A0"/>
                </a:solidFill>
              </a:rPr>
              <a:t>currently running </a:t>
            </a:r>
            <a:r>
              <a:rPr lang="en-US" altLang="zh-TW" dirty="0"/>
              <a:t>by the JVM.</a:t>
            </a:r>
            <a:endParaRPr lang="en-US" altLang="zh-TW" dirty="0">
              <a:solidFill>
                <a:srgbClr val="FF0000"/>
              </a:solidFill>
            </a:endParaRPr>
          </a:p>
          <a:p>
            <a:pPr lvl="1" eaLnBrk="1" hangingPunct="1">
              <a:buFont typeface="Wingdings" pitchFamily="2" charset="2"/>
              <a:buChar char="q"/>
            </a:pPr>
            <a:r>
              <a:rPr lang="en-US" altLang="zh-TW" dirty="0">
                <a:solidFill>
                  <a:srgbClr val="FF0000"/>
                </a:solidFill>
              </a:rPr>
              <a:t>Blocked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n-US" altLang="zh-TW" dirty="0">
                <a:solidFill>
                  <a:srgbClr val="FF0000"/>
                </a:solidFill>
              </a:rPr>
              <a:t>Dead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240CE70-5122-B94F-80D2-229EE380DDF3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0723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3072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B0709F-DF3C-4DD4-B3A8-5908C7279544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Java Thread States (2)</a:t>
            </a:r>
          </a:p>
        </p:txBody>
      </p:sp>
      <p:pic>
        <p:nvPicPr>
          <p:cNvPr id="3072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" t="30240" r="677" b="30238"/>
          <a:stretch>
            <a:fillRect/>
          </a:stretch>
        </p:blipFill>
        <p:spPr bwMode="auto">
          <a:xfrm>
            <a:off x="257175" y="1951038"/>
            <a:ext cx="8640763" cy="36163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A636C5-6C20-9D44-A527-4707B848AEE2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6EB6E8E-5E4D-49A1-B46E-88880E0C22C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217488"/>
            <a:ext cx="7772400" cy="698500"/>
          </a:xfrm>
        </p:spPr>
        <p:txBody>
          <a:bodyPr/>
          <a:lstStyle/>
          <a:p>
            <a:pPr eaLnBrk="1" hangingPunct="1"/>
            <a:r>
              <a:rPr lang="en-US" altLang="zh-TW"/>
              <a:t>Java Thread and the JVM</a:t>
            </a:r>
          </a:p>
        </p:txBody>
      </p:sp>
      <p:sp>
        <p:nvSpPr>
          <p:cNvPr id="1146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185738" y="841375"/>
            <a:ext cx="8782050" cy="577532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300"/>
              <a:t>Threads of control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300"/>
              <a:t>The </a:t>
            </a:r>
            <a:r>
              <a:rPr lang="en-US" altLang="zh-TW" sz="2300" b="1">
                <a:solidFill>
                  <a:srgbClr val="FF0000"/>
                </a:solidFill>
              </a:rPr>
              <a:t>garbage collector</a:t>
            </a:r>
            <a:r>
              <a:rPr lang="en-US" altLang="zh-TW" sz="2300"/>
              <a:t> thread: It evaluates objects with the JVM to see whether they are still in use. If they are not, it returns the memory to the system.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300"/>
              <a:t>Threads of handling timer events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300"/>
              <a:t>Threads of handling events from graphics controls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300"/>
              <a:t>Threads of updating the screen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300"/>
              <a:t>A typical Java application contains </a:t>
            </a:r>
            <a:r>
              <a:rPr lang="en-US" altLang="zh-TW" sz="2300">
                <a:solidFill>
                  <a:srgbClr val="FF0000"/>
                </a:solidFill>
              </a:rPr>
              <a:t>several different threads of control in the JVM</a:t>
            </a:r>
            <a:r>
              <a:rPr lang="en-US" altLang="zh-TW" sz="2300"/>
              <a:t>. Certain threads are explicitly by </a:t>
            </a:r>
            <a:r>
              <a:rPr lang="en-US" altLang="zh-TW" sz="2300">
                <a:solidFill>
                  <a:srgbClr val="FF0000"/>
                </a:solidFill>
              </a:rPr>
              <a:t>the program</a:t>
            </a:r>
            <a:r>
              <a:rPr lang="en-US" altLang="zh-TW" sz="2300"/>
              <a:t>; the other threads are system-level tasks running </a:t>
            </a:r>
            <a:r>
              <a:rPr lang="en-US" altLang="zh-TW" sz="2300">
                <a:solidFill>
                  <a:srgbClr val="FF0000"/>
                </a:solidFill>
              </a:rPr>
              <a:t>on behalf of the JVM</a:t>
            </a:r>
            <a:r>
              <a:rPr lang="en-US" altLang="zh-TW" sz="23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48CF67-FDFC-ED4E-B31F-38DEA83DF37B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27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43A120-77E0-4272-91E5-7C8B5296075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27100"/>
          </a:xfrm>
        </p:spPr>
        <p:txBody>
          <a:bodyPr/>
          <a:lstStyle/>
          <a:p>
            <a:pPr eaLnBrk="1" hangingPunct="1"/>
            <a:r>
              <a:rPr lang="en-US" altLang="zh-TW"/>
              <a:t>The JVM and Host OS</a:t>
            </a:r>
          </a:p>
        </p:txBody>
      </p:sp>
      <p:sp>
        <p:nvSpPr>
          <p:cNvPr id="1157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38138" y="1473200"/>
            <a:ext cx="8385175" cy="48260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800"/>
              <a:t>The typical implementation of the JVM is on top of a host OS. </a:t>
            </a:r>
            <a:r>
              <a:rPr lang="en-US" altLang="zh-TW" sz="2800">
                <a:solidFill>
                  <a:srgbClr val="FF0000"/>
                </a:solidFill>
              </a:rPr>
              <a:t>This specification for the JVM does not indicate how Java threads are to be mapped to underlying OS</a:t>
            </a:r>
            <a:r>
              <a:rPr lang="en-US" altLang="zh-TW" sz="2800"/>
              <a:t>, instead leaving that decision to the particular implementation of the JVM.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/>
              <a:t>Typically, a </a:t>
            </a:r>
            <a:r>
              <a:rPr lang="en-US" altLang="zh-TW" sz="2800">
                <a:solidFill>
                  <a:srgbClr val="FF0000"/>
                </a:solidFill>
              </a:rPr>
              <a:t>Java thread is considered a </a:t>
            </a:r>
            <a:r>
              <a:rPr lang="en-US" altLang="zh-TW" sz="2800">
                <a:solidFill>
                  <a:schemeClr val="tx2"/>
                </a:solidFill>
              </a:rPr>
              <a:t>user-level</a:t>
            </a:r>
            <a:r>
              <a:rPr lang="en-US" altLang="zh-TW" sz="2800">
                <a:solidFill>
                  <a:srgbClr val="FF0000"/>
                </a:solidFill>
              </a:rPr>
              <a:t> thread</a:t>
            </a:r>
            <a:r>
              <a:rPr lang="en-US" altLang="zh-TW" sz="2800"/>
              <a:t>, and the JVM is responsible for thread management.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Implicit Threading</a:t>
            </a:r>
          </a:p>
        </p:txBody>
      </p:sp>
      <p:sp>
        <p:nvSpPr>
          <p:cNvPr id="307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82600" y="749300"/>
            <a:ext cx="8435975" cy="5795963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en-US" sz="2800">
                <a:latin typeface="Adobe Gothic Std B" pitchFamily="34" charset="-128"/>
                <a:ea typeface="Adobe Gothic Std B" pitchFamily="34" charset="-128"/>
              </a:rPr>
              <a:t>Growing in popularity as numbers of threads increase, </a:t>
            </a:r>
            <a:r>
              <a:rPr lang="en-US" altLang="en-US" sz="280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program correctness </a:t>
            </a:r>
            <a:r>
              <a:rPr lang="en-US" altLang="en-US" sz="2800">
                <a:latin typeface="Adobe Gothic Std B" pitchFamily="34" charset="-128"/>
                <a:ea typeface="Adobe Gothic Std B" pitchFamily="34" charset="-128"/>
              </a:rPr>
              <a:t>more difficult with explicit threads</a:t>
            </a:r>
          </a:p>
          <a:p>
            <a:pPr>
              <a:spcBef>
                <a:spcPts val="1800"/>
              </a:spcBef>
            </a:pPr>
            <a:r>
              <a:rPr lang="en-US" altLang="en-US" sz="280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Implicit Threading</a:t>
            </a:r>
            <a:r>
              <a:rPr lang="en-US" altLang="en-US" sz="2800">
                <a:latin typeface="Adobe Gothic Std B" pitchFamily="34" charset="-128"/>
                <a:ea typeface="Adobe Gothic Std B" pitchFamily="34" charset="-128"/>
              </a:rPr>
              <a:t>: Creation and management of threads done </a:t>
            </a:r>
            <a:r>
              <a:rPr lang="en-US" altLang="en-US" sz="280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by compilers and run-time libraries</a:t>
            </a:r>
            <a:r>
              <a:rPr lang="en-US" altLang="en-US" sz="2800"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en-US" sz="280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rather than programmers</a:t>
            </a:r>
          </a:p>
          <a:p>
            <a:pPr>
              <a:spcBef>
                <a:spcPts val="1800"/>
              </a:spcBef>
            </a:pPr>
            <a:r>
              <a:rPr lang="en-US" altLang="en-US" sz="2800">
                <a:latin typeface="Adobe Gothic Std B" pitchFamily="34" charset="-128"/>
                <a:ea typeface="Adobe Gothic Std B" pitchFamily="34" charset="-128"/>
              </a:rPr>
              <a:t>Three methods explored</a:t>
            </a:r>
          </a:p>
          <a:p>
            <a:pPr lvl="1"/>
            <a:r>
              <a:rPr lang="en-US" altLang="en-US" sz="2400">
                <a:latin typeface="Adobe Gothic Std B" pitchFamily="34" charset="-128"/>
                <a:ea typeface="Adobe Gothic Std B" pitchFamily="34" charset="-128"/>
              </a:rPr>
              <a:t>Thread Pools</a:t>
            </a:r>
          </a:p>
          <a:p>
            <a:pPr lvl="1"/>
            <a:r>
              <a:rPr lang="en-US" altLang="en-US" sz="2400">
                <a:latin typeface="Adobe Gothic Std B" pitchFamily="34" charset="-128"/>
                <a:ea typeface="Adobe Gothic Std B" pitchFamily="34" charset="-128"/>
              </a:rPr>
              <a:t>OpenMP</a:t>
            </a:r>
          </a:p>
          <a:p>
            <a:pPr lvl="1"/>
            <a:r>
              <a:rPr lang="en-US" altLang="en-US" sz="2400">
                <a:latin typeface="Adobe Gothic Std B" pitchFamily="34" charset="-128"/>
                <a:ea typeface="Adobe Gothic Std B" pitchFamily="34" charset="-128"/>
              </a:rPr>
              <a:t>Grand Central Dispatch</a:t>
            </a:r>
          </a:p>
        </p:txBody>
      </p:sp>
      <p:sp>
        <p:nvSpPr>
          <p:cNvPr id="3379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AB82455-7D47-7240-A521-A4DAF149484D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379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3379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831025A-9AE2-4066-A223-4817EFA7EB6B}" type="slidenum">
              <a:rPr kumimoji="0" lang="zh-TW" altLang="en-US" sz="1400" smtClean="0"/>
              <a:pPr eaLnBrk="1" hangingPunct="1"/>
              <a:t>31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C4D8B69-3666-6243-B7C1-CCAD70725EAA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48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348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08F970F-6EC8-497B-AD5E-A22E04B641B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09638"/>
          </a:xfrm>
        </p:spPr>
        <p:txBody>
          <a:bodyPr/>
          <a:lstStyle/>
          <a:p>
            <a:pPr eaLnBrk="1" hangingPunct="1"/>
            <a:r>
              <a:rPr lang="en-US" altLang="zh-TW"/>
              <a:t>Thread Pools</a:t>
            </a:r>
          </a:p>
        </p:txBody>
      </p:sp>
      <p:sp>
        <p:nvSpPr>
          <p:cNvPr id="1710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8625" y="1223963"/>
            <a:ext cx="8121650" cy="4592637"/>
          </a:xfrm>
        </p:spPr>
        <p:txBody>
          <a:bodyPr/>
          <a:lstStyle/>
          <a:p>
            <a:pPr eaLnBrk="1" hangingPunct="1"/>
            <a:r>
              <a:rPr lang="en-US" altLang="zh-TW" sz="2800"/>
              <a:t>Create a number of threads in a pool where they await work</a:t>
            </a:r>
          </a:p>
          <a:p>
            <a:pPr eaLnBrk="1" hangingPunct="1"/>
            <a:r>
              <a:rPr lang="en-US" altLang="zh-TW" sz="2800"/>
              <a:t>Advantages:</a:t>
            </a:r>
          </a:p>
          <a:p>
            <a:pPr lvl="1" eaLnBrk="1" hangingPunct="1"/>
            <a:r>
              <a:rPr lang="en-US" altLang="zh-TW" sz="2400"/>
              <a:t>Usually </a:t>
            </a:r>
            <a:r>
              <a:rPr lang="en-US" altLang="zh-TW" sz="2400">
                <a:solidFill>
                  <a:srgbClr val="FF0000"/>
                </a:solidFill>
              </a:rPr>
              <a:t>slightly faster </a:t>
            </a:r>
            <a:r>
              <a:rPr lang="en-US" altLang="zh-TW" sz="2400"/>
              <a:t>to service a request with an existing thread than create a new thread</a:t>
            </a:r>
          </a:p>
          <a:p>
            <a:pPr lvl="1" eaLnBrk="1" hangingPunct="1"/>
            <a:r>
              <a:rPr lang="en-US" altLang="zh-TW" sz="2400"/>
              <a:t>Allows the number of threads in the application(s) to be bound to the size of the pool</a:t>
            </a:r>
          </a:p>
          <a:p>
            <a:pPr lvl="1" eaLnBrk="1" hangingPunct="1"/>
            <a:r>
              <a:rPr lang="en-US" altLang="zh-TW" sz="2400"/>
              <a:t>Separating task to be performed from mechanics of creating task allows different strategies for running task, i.e. tasks could be scheduled to run periodically</a:t>
            </a:r>
          </a:p>
          <a:p>
            <a:pPr eaLnBrk="1" hangingPunct="1"/>
            <a:r>
              <a:rPr lang="en-US" altLang="zh-TW" sz="2800">
                <a:solidFill>
                  <a:srgbClr val="FF0000"/>
                </a:solidFill>
              </a:rPr>
              <a:t># of threads</a:t>
            </a:r>
            <a:r>
              <a:rPr lang="en-US" altLang="zh-TW" sz="2800"/>
              <a:t>: # of CPUs, expected # of requests, amount of physical memory</a:t>
            </a:r>
          </a:p>
          <a:p>
            <a:pPr lvl="1" eaLnBrk="1" hangingPunct="1"/>
            <a:endParaRPr lang="en-US" altLang="zh-TW" sz="2400"/>
          </a:p>
        </p:txBody>
      </p:sp>
      <p:sp>
        <p:nvSpPr>
          <p:cNvPr id="171012" name="Text Box 4"/>
          <p:cNvSpPr txBox="1">
            <a:spLocks noChangeArrowheads="1"/>
          </p:cNvSpPr>
          <p:nvPr/>
        </p:nvSpPr>
        <p:spPr bwMode="auto">
          <a:xfrm>
            <a:off x="5588000" y="401638"/>
            <a:ext cx="26225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</a:rPr>
              <a:t>time for creating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</a:rPr>
              <a:t>resources overuse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81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OpenMP</a:t>
            </a:r>
          </a:p>
        </p:txBody>
      </p:sp>
      <p:sp>
        <p:nvSpPr>
          <p:cNvPr id="32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39725" y="739775"/>
            <a:ext cx="4910138" cy="5897563"/>
          </a:xfrm>
        </p:spPr>
        <p:txBody>
          <a:bodyPr/>
          <a:lstStyle/>
          <a:p>
            <a:r>
              <a:rPr lang="en-US" altLang="en-US" sz="2400" dirty="0"/>
              <a:t>Set of </a:t>
            </a:r>
            <a:r>
              <a:rPr lang="en-US" altLang="en-US" sz="2400" dirty="0">
                <a:solidFill>
                  <a:srgbClr val="FF0000"/>
                </a:solidFill>
              </a:rPr>
              <a:t>compiler directives </a:t>
            </a:r>
            <a:r>
              <a:rPr lang="en-US" altLang="en-US" sz="2400" dirty="0"/>
              <a:t>and an </a:t>
            </a:r>
            <a:r>
              <a:rPr lang="en-US" altLang="en-US" sz="2400" dirty="0">
                <a:solidFill>
                  <a:srgbClr val="FF0000"/>
                </a:solidFill>
              </a:rPr>
              <a:t>API</a:t>
            </a:r>
            <a:r>
              <a:rPr lang="en-US" altLang="en-US" sz="2400" dirty="0"/>
              <a:t> for C, C++, FORTRAN </a:t>
            </a:r>
          </a:p>
          <a:p>
            <a:r>
              <a:rPr lang="en-US" altLang="en-US" sz="2400" dirty="0"/>
              <a:t>Provides support for </a:t>
            </a:r>
            <a:r>
              <a:rPr lang="en-US" altLang="en-US" sz="2400" dirty="0">
                <a:solidFill>
                  <a:srgbClr val="0000FF"/>
                </a:solidFill>
              </a:rPr>
              <a:t>parallel programming in shared-memory environments</a:t>
            </a:r>
          </a:p>
          <a:p>
            <a:r>
              <a:rPr lang="en-US" altLang="en-US" sz="2400" dirty="0"/>
              <a:t>Identifies </a:t>
            </a:r>
            <a:r>
              <a:rPr lang="en-US" altLang="en-US" sz="2400" b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parallel regions </a:t>
            </a:r>
            <a:r>
              <a:rPr lang="en-US" altLang="en-US" sz="2400" dirty="0"/>
              <a:t>– </a:t>
            </a:r>
            <a:r>
              <a:rPr lang="en-US" altLang="en-US" sz="2400" dirty="0">
                <a:solidFill>
                  <a:srgbClr val="FF0000"/>
                </a:solidFill>
              </a:rPr>
              <a:t>blocks of code </a:t>
            </a:r>
            <a:r>
              <a:rPr lang="en-US" altLang="en-US" sz="2400" dirty="0"/>
              <a:t>that can run in parallel</a:t>
            </a:r>
            <a:endParaRPr lang="en-US" altLang="en-US" sz="2000" dirty="0"/>
          </a:p>
          <a:p>
            <a:r>
              <a:rPr lang="en-US" altLang="en-US" sz="2400" dirty="0"/>
              <a:t>Application developers</a:t>
            </a:r>
            <a:r>
              <a:rPr lang="en-US" altLang="en-US" sz="2400" dirty="0">
                <a:solidFill>
                  <a:srgbClr val="0000FF"/>
                </a:solidFill>
              </a:rPr>
              <a:t> insert compiler directives into their code at parallel regions</a:t>
            </a:r>
            <a:r>
              <a:rPr lang="en-US" altLang="en-US" sz="2400" dirty="0"/>
              <a:t>, and these directives instruct the </a:t>
            </a:r>
            <a:r>
              <a:rPr lang="en-US" altLang="en-US" sz="2400" dirty="0" err="1">
                <a:solidFill>
                  <a:srgbClr val="FF0000"/>
                </a:solidFill>
              </a:rPr>
              <a:t>OpenMP</a:t>
            </a:r>
            <a:r>
              <a:rPr lang="en-US" altLang="en-US" sz="2400" dirty="0">
                <a:solidFill>
                  <a:srgbClr val="FF0000"/>
                </a:solidFill>
              </a:rPr>
              <a:t> run-time library </a:t>
            </a:r>
            <a:r>
              <a:rPr lang="en-US" altLang="en-US" sz="2400" dirty="0"/>
              <a:t>to execute the region in parallel.</a:t>
            </a:r>
          </a:p>
        </p:txBody>
      </p:sp>
      <p:pic>
        <p:nvPicPr>
          <p:cNvPr id="3584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2417763"/>
            <a:ext cx="44831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3B6ECE5-F81B-1644-85D0-7EF580343E8C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5846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3584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1E960E8-6C28-4084-855C-17546148863E}" type="slidenum">
              <a:rPr kumimoji="0" lang="zh-TW" altLang="en-US" sz="1400" smtClean="0"/>
              <a:pPr eaLnBrk="1" hangingPunct="1"/>
              <a:t>33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81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OpenMP</a:t>
            </a:r>
            <a:endParaRPr lang="en-US" altLang="en-US" dirty="0"/>
          </a:p>
        </p:txBody>
      </p:sp>
      <p:sp>
        <p:nvSpPr>
          <p:cNvPr id="32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39725" y="739775"/>
            <a:ext cx="8310563" cy="5897563"/>
          </a:xfrm>
        </p:spPr>
        <p:txBody>
          <a:bodyPr/>
          <a:lstStyle/>
          <a:p>
            <a:r>
              <a:rPr lang="en-US" altLang="en-US" sz="2400" dirty="0"/>
              <a:t>When </a:t>
            </a:r>
            <a:r>
              <a:rPr lang="en-US" altLang="en-US" sz="2400" dirty="0" err="1"/>
              <a:t>OpenMP</a:t>
            </a:r>
            <a:r>
              <a:rPr lang="en-US" altLang="en-US" sz="2400" dirty="0"/>
              <a:t> encounters the directive </a:t>
            </a:r>
            <a:r>
              <a:rPr lang="en-US" altLang="en-US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#pragma </a:t>
            </a:r>
            <a:r>
              <a:rPr lang="en-US" altLang="en-US" sz="24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omp</a:t>
            </a:r>
            <a:r>
              <a:rPr lang="en-US" altLang="en-US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parallel, </a:t>
            </a:r>
            <a:r>
              <a:rPr lang="en-US" altLang="en-US" sz="2400" dirty="0"/>
              <a:t>it </a:t>
            </a:r>
            <a:r>
              <a:rPr lang="en-US" altLang="en-US" sz="2400" dirty="0">
                <a:solidFill>
                  <a:srgbClr val="FF0000"/>
                </a:solidFill>
              </a:rPr>
              <a:t>creates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as many threads </a:t>
            </a:r>
            <a:r>
              <a:rPr lang="en-US" altLang="en-US" sz="2400" dirty="0"/>
              <a:t>are there are processing cores in the system, i.e., for a quad-core system, four are created. </a:t>
            </a:r>
          </a:p>
          <a:p>
            <a:r>
              <a:rPr lang="en-US" altLang="en-US" sz="2400" dirty="0"/>
              <a:t>All the threads then simultaneously execute the parallel region. </a:t>
            </a:r>
            <a:r>
              <a:rPr lang="en-US" altLang="en-US" sz="2400" dirty="0">
                <a:solidFill>
                  <a:srgbClr val="0000FF"/>
                </a:solidFill>
              </a:rPr>
              <a:t>As each thread exits the parallel region, it is terminated</a:t>
            </a:r>
            <a:r>
              <a:rPr lang="en-US" altLang="en-US" sz="2400" dirty="0"/>
              <a:t>.</a:t>
            </a:r>
          </a:p>
          <a:p>
            <a:r>
              <a:rPr lang="en-US" altLang="en-US" sz="2400" dirty="0" err="1"/>
              <a:t>OpenMP</a:t>
            </a:r>
            <a:r>
              <a:rPr lang="en-US" altLang="en-US" sz="2400" dirty="0"/>
              <a:t> allows developers to choose among several levels of parallelism:</a:t>
            </a:r>
          </a:p>
          <a:p>
            <a:pPr lvl="1"/>
            <a:r>
              <a:rPr lang="en-US" altLang="en-US" sz="2400" dirty="0"/>
              <a:t>can set </a:t>
            </a:r>
            <a:r>
              <a:rPr lang="en-US" altLang="en-US" sz="2400" dirty="0">
                <a:solidFill>
                  <a:srgbClr val="FF0000"/>
                </a:solidFill>
              </a:rPr>
              <a:t>the number of threads </a:t>
            </a:r>
            <a:r>
              <a:rPr lang="en-US" altLang="en-US" sz="2400" dirty="0"/>
              <a:t>manually. </a:t>
            </a:r>
          </a:p>
          <a:p>
            <a:pPr lvl="1"/>
            <a:r>
              <a:rPr lang="en-US" altLang="en-US" sz="2400" dirty="0"/>
              <a:t>allows developers to identify whether data are </a:t>
            </a:r>
            <a:r>
              <a:rPr lang="en-US" altLang="en-US" sz="2400" dirty="0">
                <a:solidFill>
                  <a:srgbClr val="FF0000"/>
                </a:solidFill>
              </a:rPr>
              <a:t>shared</a:t>
            </a:r>
            <a:r>
              <a:rPr lang="en-US" altLang="en-US" sz="2400" dirty="0"/>
              <a:t> between threads or are </a:t>
            </a:r>
            <a:r>
              <a:rPr lang="en-US" altLang="en-US" sz="2400" dirty="0">
                <a:solidFill>
                  <a:srgbClr val="FF0000"/>
                </a:solidFill>
              </a:rPr>
              <a:t>private</a:t>
            </a:r>
            <a:r>
              <a:rPr lang="en-US" altLang="en-US" sz="2400" dirty="0"/>
              <a:t> to a thread. </a:t>
            </a:r>
          </a:p>
          <a:p>
            <a:r>
              <a:rPr lang="en-US" altLang="en-US" sz="2400" dirty="0" err="1"/>
              <a:t>OpenMP</a:t>
            </a:r>
            <a:r>
              <a:rPr lang="en-US" altLang="en-US" sz="2400" dirty="0"/>
              <a:t> is available for Linux, Windows, and Mac OS X systems.</a:t>
            </a:r>
          </a:p>
        </p:txBody>
      </p:sp>
      <p:sp>
        <p:nvSpPr>
          <p:cNvPr id="3686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C5FA5CF-9424-264C-972C-A53859F028F1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686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368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C775B52-8F10-46B8-BE3D-832D02CABC5F}" type="slidenum">
              <a:rPr kumimoji="0" lang="zh-TW" altLang="en-US" sz="1400" smtClean="0"/>
              <a:pPr eaLnBrk="1" hangingPunct="1"/>
              <a:t>34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81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4000"/>
              <a:t>Grand Central Dispatch - Apple </a:t>
            </a:r>
          </a:p>
        </p:txBody>
      </p:sp>
      <p:sp>
        <p:nvSpPr>
          <p:cNvPr id="33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7338" y="668338"/>
            <a:ext cx="8486775" cy="6081712"/>
          </a:xfrm>
        </p:spPr>
        <p:txBody>
          <a:bodyPr/>
          <a:lstStyle/>
          <a:p>
            <a:r>
              <a:rPr lang="en-US" altLang="en-US" sz="2800"/>
              <a:t>for Mac OS X and iOS: Extensions to C, C++ languages, API, and run-time library</a:t>
            </a:r>
          </a:p>
          <a:p>
            <a:r>
              <a:rPr lang="en-US" altLang="en-US" sz="2800">
                <a:solidFill>
                  <a:srgbClr val="0000FF"/>
                </a:solidFill>
              </a:rPr>
              <a:t>Allows identification of parallel sections. </a:t>
            </a:r>
            <a:r>
              <a:rPr lang="en-US" altLang="en-US" sz="2800"/>
              <a:t>Like OpenMP, manages most of the details of threading</a:t>
            </a:r>
          </a:p>
          <a:p>
            <a:r>
              <a:rPr lang="en-US" altLang="en-US" sz="2800"/>
              <a:t>GCD identifies extensions to the C and C++ languages known as </a:t>
            </a:r>
            <a:r>
              <a:rPr lang="en-US" altLang="en-US" sz="2800">
                <a:solidFill>
                  <a:srgbClr val="FF0000"/>
                </a:solidFill>
              </a:rPr>
              <a:t>blocks</a:t>
            </a:r>
            <a:r>
              <a:rPr lang="en-US" altLang="en-US" sz="2800"/>
              <a:t>. A block is simply a </a:t>
            </a:r>
            <a:r>
              <a:rPr lang="en-US" altLang="en-US" sz="2800">
                <a:solidFill>
                  <a:srgbClr val="FF0000"/>
                </a:solidFill>
              </a:rPr>
              <a:t>self-contained unit of work</a:t>
            </a:r>
            <a:r>
              <a:rPr lang="en-US" altLang="en-US" sz="2800"/>
              <a:t>.</a:t>
            </a:r>
          </a:p>
          <a:p>
            <a:r>
              <a:rPr lang="en-US" altLang="en-US" sz="2800"/>
              <a:t>GCD </a:t>
            </a:r>
            <a:r>
              <a:rPr lang="en-US" altLang="en-US" sz="2800">
                <a:solidFill>
                  <a:srgbClr val="FF0000"/>
                </a:solidFill>
              </a:rPr>
              <a:t>schedules</a:t>
            </a:r>
            <a:r>
              <a:rPr lang="en-US" altLang="en-US" sz="2800"/>
              <a:t> blocks for </a:t>
            </a:r>
            <a:r>
              <a:rPr lang="en-US" altLang="en-US" sz="2800">
                <a:solidFill>
                  <a:srgbClr val="0000FF"/>
                </a:solidFill>
              </a:rPr>
              <a:t>run-time execution by placing them on a dispatch queue</a:t>
            </a:r>
            <a:r>
              <a:rPr lang="en-US" altLang="en-US" sz="2800"/>
              <a:t>.</a:t>
            </a:r>
          </a:p>
          <a:p>
            <a:pPr lvl="1"/>
            <a:r>
              <a:rPr lang="en-US" altLang="en-US" sz="2400"/>
              <a:t>When it removes a block from a queue, assigns the block to available thread in </a:t>
            </a:r>
            <a:r>
              <a:rPr lang="en-US" altLang="en-US" sz="2400">
                <a:solidFill>
                  <a:srgbClr val="FF0000"/>
                </a:solidFill>
              </a:rPr>
              <a:t>thread pool</a:t>
            </a:r>
            <a:r>
              <a:rPr lang="en-US" altLang="en-US" sz="2400"/>
              <a:t>.</a:t>
            </a:r>
            <a:endParaRPr lang="en-US" altLang="en-US"/>
          </a:p>
        </p:txBody>
      </p:sp>
      <p:sp>
        <p:nvSpPr>
          <p:cNvPr id="3789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FB37586-2AFC-4E4C-AE6D-444257792148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7893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3789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167C8BE-E0A9-4649-B02D-4614024CAD11}" type="slidenum">
              <a:rPr kumimoji="0" lang="zh-TW" altLang="en-US" sz="1400" smtClean="0"/>
              <a:pPr eaLnBrk="1" hangingPunct="1"/>
              <a:t>35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4000"/>
              <a:t>Grand Central Dispatch - Apple 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7975" y="781050"/>
            <a:ext cx="8240713" cy="5610225"/>
          </a:xfrm>
        </p:spPr>
        <p:txBody>
          <a:bodyPr/>
          <a:lstStyle/>
          <a:p>
            <a:r>
              <a:rPr lang="en-US" altLang="en-US" sz="2800"/>
              <a:t>Two types of dispatch queues: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Serial</a:t>
            </a:r>
            <a:r>
              <a:rPr lang="en-US" altLang="en-US"/>
              <a:t> – blocks removed in </a:t>
            </a:r>
            <a:r>
              <a:rPr lang="en-US" altLang="en-US">
                <a:solidFill>
                  <a:srgbClr val="FF0000"/>
                </a:solidFill>
              </a:rPr>
              <a:t>FIFO order</a:t>
            </a:r>
            <a:r>
              <a:rPr lang="en-US" altLang="en-US"/>
              <a:t>. Once a block has been removed from the queue, it must complete execution before another block is removed. </a:t>
            </a:r>
          </a:p>
          <a:p>
            <a:pPr lvl="2"/>
            <a:r>
              <a:rPr lang="en-US" altLang="en-US" sz="2800"/>
              <a:t>Each process has its own serial queue (</a:t>
            </a:r>
            <a:r>
              <a:rPr lang="en-US" altLang="en-US" sz="280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main queue</a:t>
            </a:r>
            <a:r>
              <a:rPr lang="en-US" altLang="en-US" sz="2800"/>
              <a:t>).</a:t>
            </a:r>
            <a:endParaRPr lang="en-US" altLang="en-US" sz="2800" b="1">
              <a:solidFill>
                <a:srgbClr val="3366FF"/>
              </a:solidFill>
            </a:endParaRPr>
          </a:p>
          <a:p>
            <a:pPr lvl="2"/>
            <a:r>
              <a:rPr lang="en-US" altLang="en-US" sz="2800"/>
              <a:t>Developers can create additional serial queues that are local to particular processes.</a:t>
            </a:r>
          </a:p>
          <a:p>
            <a:pPr lvl="2"/>
            <a:r>
              <a:rPr lang="en-US" altLang="en-US" sz="2800">
                <a:solidFill>
                  <a:srgbClr val="FF0000"/>
                </a:solidFill>
              </a:rPr>
              <a:t>Serial queues are useful for ensuring the sequential execution of several tasks.</a:t>
            </a:r>
          </a:p>
          <a:p>
            <a:endParaRPr lang="en-US" altLang="en-US"/>
          </a:p>
        </p:txBody>
      </p:sp>
      <p:sp>
        <p:nvSpPr>
          <p:cNvPr id="3891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01761E8-D090-E041-A4A7-6A30B80932B1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891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3891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7984553-745B-40CC-9C29-BFA1B208832E}" type="slidenum">
              <a:rPr kumimoji="0" lang="zh-TW" altLang="en-US" sz="1400" smtClean="0"/>
              <a:pPr eaLnBrk="1" hangingPunct="1"/>
              <a:t>36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4000"/>
              <a:t>Grand Central Dispatch - Apple 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7975" y="781050"/>
            <a:ext cx="8240713" cy="5610225"/>
          </a:xfrm>
        </p:spPr>
        <p:txBody>
          <a:bodyPr/>
          <a:lstStyle/>
          <a:p>
            <a:pPr lvl="1"/>
            <a:r>
              <a:rPr lang="en-US" altLang="en-US">
                <a:solidFill>
                  <a:srgbClr val="FF0000"/>
                </a:solidFill>
              </a:rPr>
              <a:t>Concurrent</a:t>
            </a:r>
            <a:r>
              <a:rPr lang="en-US" altLang="en-US"/>
              <a:t> – removed in FIFO order </a:t>
            </a:r>
            <a:r>
              <a:rPr lang="en-US" altLang="en-US">
                <a:solidFill>
                  <a:srgbClr val="0000FF"/>
                </a:solidFill>
              </a:rPr>
              <a:t>but several may be removed at a time, thus allowing multiple blocks to execute in parallel.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Three</a:t>
            </a:r>
            <a:r>
              <a:rPr lang="en-US" altLang="en-US"/>
              <a:t> system-wide concurrent dispatch queues, and they are distinguished according to priority: </a:t>
            </a:r>
            <a:r>
              <a:rPr lang="en-US" altLang="en-US">
                <a:solidFill>
                  <a:srgbClr val="FF0000"/>
                </a:solidFill>
              </a:rPr>
              <a:t>low</a:t>
            </a:r>
            <a:r>
              <a:rPr lang="en-US" altLang="en-US"/>
              <a:t>, </a:t>
            </a:r>
            <a:r>
              <a:rPr lang="en-US" altLang="en-US">
                <a:solidFill>
                  <a:srgbClr val="FF0000"/>
                </a:solidFill>
              </a:rPr>
              <a:t>default</a:t>
            </a:r>
            <a:r>
              <a:rPr lang="en-US" altLang="en-US"/>
              <a:t>, and </a:t>
            </a:r>
            <a:r>
              <a:rPr lang="en-US" altLang="en-US">
                <a:solidFill>
                  <a:srgbClr val="FF0000"/>
                </a:solidFill>
              </a:rPr>
              <a:t>high</a:t>
            </a:r>
            <a:r>
              <a:rPr lang="en-US" altLang="en-US"/>
              <a:t>.</a:t>
            </a:r>
          </a:p>
          <a:p>
            <a:pPr lvl="1"/>
            <a:r>
              <a:rPr lang="en-US" altLang="en-US">
                <a:solidFill>
                  <a:srgbClr val="0000FF"/>
                </a:solidFill>
              </a:rPr>
              <a:t>Priorities</a:t>
            </a:r>
            <a:r>
              <a:rPr lang="en-US" altLang="en-US"/>
              <a:t> represent an approximation of </a:t>
            </a:r>
            <a:r>
              <a:rPr lang="en-US" altLang="en-US">
                <a:solidFill>
                  <a:srgbClr val="0000FF"/>
                </a:solidFill>
              </a:rPr>
              <a:t>the relative importance of blocks</a:t>
            </a:r>
            <a:r>
              <a:rPr lang="en-US" altLang="en-US"/>
              <a:t>.</a:t>
            </a:r>
          </a:p>
          <a:p>
            <a:pPr lvl="1"/>
            <a:r>
              <a:rPr lang="en-US" altLang="en-US"/>
              <a:t>Quite simply, blocks with a higher priority should be placed on the high-priority dispatch queue.</a:t>
            </a:r>
          </a:p>
          <a:p>
            <a:endParaRPr lang="en-US" altLang="en-US"/>
          </a:p>
        </p:txBody>
      </p:sp>
      <p:sp>
        <p:nvSpPr>
          <p:cNvPr id="3994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C726698-1FD7-054D-882B-2A80799EE7A0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3994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3994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B03547E-F7FB-48E1-82F0-3A1D71220082}" type="slidenum">
              <a:rPr kumimoji="0" lang="zh-TW" altLang="en-US" sz="1400" smtClean="0"/>
              <a:pPr eaLnBrk="1" hangingPunct="1"/>
              <a:t>37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E58E76F-0D77-BA4A-916D-7F61DE55FEC7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09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6D78A1-C645-4710-9187-2009563F587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40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22313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rgbClr val="FF0000"/>
                </a:solidFill>
              </a:rPr>
              <a:t>Threading Issues</a:t>
            </a:r>
          </a:p>
        </p:txBody>
      </p:sp>
      <p:sp>
        <p:nvSpPr>
          <p:cNvPr id="829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9250" y="1233488"/>
            <a:ext cx="8512175" cy="48021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40000"/>
              </a:spcBef>
              <a:defRPr/>
            </a:pPr>
            <a:r>
              <a:rPr lang="en-US" altLang="zh-TW" dirty="0">
                <a:solidFill>
                  <a:srgbClr val="0000FF"/>
                </a:solidFill>
              </a:rPr>
              <a:t>Semantics of fork() and exec()</a:t>
            </a:r>
            <a:r>
              <a:rPr lang="en-US" altLang="zh-TW" dirty="0"/>
              <a:t> system calls. </a:t>
            </a:r>
            <a:r>
              <a:rPr lang="en-US" altLang="zh-TW" sz="2800" dirty="0"/>
              <a:t>Duplicate all the threads or not?</a:t>
            </a: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defRPr/>
            </a:pPr>
            <a:r>
              <a:rPr lang="en-US" altLang="zh-TW" dirty="0">
                <a:solidFill>
                  <a:srgbClr val="0000FF"/>
                </a:solidFill>
              </a:rPr>
              <a:t>Signal handling</a:t>
            </a:r>
            <a:r>
              <a:rPr lang="en-US" altLang="zh-TW" dirty="0"/>
              <a:t>: Where then should a signal be delivered?</a:t>
            </a: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defRPr/>
            </a:pPr>
            <a:r>
              <a:rPr lang="en-US" altLang="zh-TW" dirty="0">
                <a:solidFill>
                  <a:srgbClr val="0000FF"/>
                </a:solidFill>
              </a:rPr>
              <a:t>Thread cancellation</a:t>
            </a:r>
            <a:r>
              <a:rPr lang="en-US" altLang="zh-TW" dirty="0"/>
              <a:t>: </a:t>
            </a:r>
            <a:r>
              <a:rPr lang="en-US" altLang="zh-TW" sz="2800" dirty="0"/>
              <a:t>Asynchronous or deferred</a:t>
            </a: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defRPr/>
            </a:pPr>
            <a:r>
              <a:rPr lang="en-US" altLang="zh-TW" dirty="0">
                <a:solidFill>
                  <a:srgbClr val="0000FF"/>
                </a:solidFill>
              </a:rPr>
              <a:t>Thread-local storage</a:t>
            </a:r>
            <a:r>
              <a:rPr lang="en-US" altLang="zh-TW" dirty="0"/>
              <a:t>: </a:t>
            </a:r>
            <a:r>
              <a:rPr lang="en-US" altLang="zh-TW" sz="2800" dirty="0"/>
              <a:t>Each thread might need its own copy of certain data</a:t>
            </a:r>
            <a:endParaRPr lang="en-US" altLang="zh-TW" sz="2800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defRPr/>
            </a:pPr>
            <a:r>
              <a:rPr lang="en-US" altLang="zh-TW" dirty="0">
                <a:solidFill>
                  <a:srgbClr val="0000FF"/>
                </a:solidFill>
              </a:rPr>
              <a:t>Scheduler activations </a:t>
            </a:r>
          </a:p>
          <a:p>
            <a:pPr marL="0" indent="0" eaLnBrk="1" hangingPunct="1">
              <a:lnSpc>
                <a:spcPct val="80000"/>
              </a:lnSpc>
              <a:spcBef>
                <a:spcPct val="40000"/>
              </a:spcBef>
              <a:buFont typeface="Wingdings" pitchFamily="2" charset="2"/>
              <a:buNone/>
              <a:defRPr/>
            </a:pPr>
            <a:endParaRPr lang="en-US" altLang="zh-TW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084099E-98F9-C246-94A4-BDC3F6CC69AA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19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419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44F614-4B1C-42A7-ACA8-31BB186EA51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40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60438"/>
          </a:xfrm>
        </p:spPr>
        <p:txBody>
          <a:bodyPr/>
          <a:lstStyle/>
          <a:p>
            <a:pPr eaLnBrk="1" hangingPunct="1"/>
            <a:r>
              <a:rPr lang="en-US" altLang="zh-TW"/>
              <a:t>Semantics of fork() and exec()</a:t>
            </a:r>
          </a:p>
        </p:txBody>
      </p:sp>
      <p:sp>
        <p:nvSpPr>
          <p:cNvPr id="1648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60363" y="1450975"/>
            <a:ext cx="8475412" cy="4754616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dirty="0"/>
              <a:t>Does </a:t>
            </a:r>
            <a:r>
              <a:rPr lang="en-US" altLang="zh-TW" b="1" dirty="0">
                <a:solidFill>
                  <a:srgbClr val="FF0000"/>
                </a:solidFill>
              </a:rPr>
              <a:t>fork()</a:t>
            </a:r>
            <a:r>
              <a:rPr lang="en-US" altLang="zh-TW" dirty="0"/>
              <a:t> duplicate only the calling thread or all threads?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dirty="0"/>
              <a:t>Two versions of </a:t>
            </a:r>
            <a:r>
              <a:rPr lang="en-US" altLang="zh-TW" b="1" dirty="0">
                <a:solidFill>
                  <a:srgbClr val="FF0000"/>
                </a:solidFill>
              </a:rPr>
              <a:t>fork()</a:t>
            </a:r>
            <a:endParaRPr lang="en-US" altLang="zh-TW" dirty="0"/>
          </a:p>
          <a:p>
            <a:pPr lvl="1" eaLnBrk="1" hangingPunct="1">
              <a:spcBef>
                <a:spcPct val="50000"/>
              </a:spcBef>
            </a:pPr>
            <a:r>
              <a:rPr lang="en-US" altLang="zh-TW" dirty="0"/>
              <a:t>If exec() is called immediately after forking, then duplicating all threads is unnecessary.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fork-join</a:t>
            </a:r>
            <a:r>
              <a:rPr lang="en-US" altLang="zh-TW" sz="2800" dirty="0"/>
              <a:t> strategy:</a:t>
            </a:r>
            <a:r>
              <a:rPr lang="zh-TW" altLang="en-US" sz="2800" dirty="0"/>
              <a:t> </a:t>
            </a:r>
            <a:r>
              <a:rPr lang="en-US" altLang="zh-TW" sz="2800" dirty="0"/>
              <a:t>the parent thread creates one or more</a:t>
            </a:r>
            <a:r>
              <a:rPr lang="zh-TW" altLang="en-US" sz="2800" dirty="0"/>
              <a:t> </a:t>
            </a:r>
            <a:r>
              <a:rPr lang="en-US" altLang="zh-TW" sz="2800" dirty="0"/>
              <a:t>children and then must </a:t>
            </a:r>
            <a:r>
              <a:rPr lang="en-US" altLang="zh-TW" sz="2800" dirty="0">
                <a:solidFill>
                  <a:srgbClr val="0000FF"/>
                </a:solidFill>
              </a:rPr>
              <a:t>wait for all of its children to terminate</a:t>
            </a:r>
            <a:r>
              <a:rPr lang="en-US" altLang="zh-TW" sz="2800" dirty="0"/>
              <a:t> before it resumes</a:t>
            </a:r>
          </a:p>
        </p:txBody>
      </p:sp>
      <p:cxnSp>
        <p:nvCxnSpPr>
          <p:cNvPr id="3" name="直線接點 2"/>
          <p:cNvCxnSpPr/>
          <p:nvPr/>
        </p:nvCxnSpPr>
        <p:spPr bwMode="auto">
          <a:xfrm flipV="1">
            <a:off x="360363" y="4297680"/>
            <a:ext cx="8255317" cy="203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7D94CB-CDAC-0344-8A65-064CEF0196FC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30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430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23457BA-40B8-4162-909C-B1EE9E93A0E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TW" sz="140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TW"/>
              <a:t>Signal Handling</a:t>
            </a:r>
          </a:p>
        </p:txBody>
      </p:sp>
      <p:sp>
        <p:nvSpPr>
          <p:cNvPr id="168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1938" y="882650"/>
            <a:ext cx="8342312" cy="5486400"/>
          </a:xfrm>
        </p:spPr>
        <p:txBody>
          <a:bodyPr/>
          <a:lstStyle/>
          <a:p>
            <a:pPr marL="381000" indent="-381000" eaLnBrk="1" hangingPunct="1"/>
            <a:r>
              <a:rPr lang="en-US" altLang="zh-TW" dirty="0"/>
              <a:t>Signals (</a:t>
            </a:r>
            <a:r>
              <a:rPr lang="en-US" altLang="zh-TW" dirty="0">
                <a:solidFill>
                  <a:srgbClr val="FF0000"/>
                </a:solidFill>
              </a:rPr>
              <a:t>synchronous</a:t>
            </a:r>
            <a:r>
              <a:rPr lang="en-US" altLang="zh-TW" dirty="0"/>
              <a:t> or </a:t>
            </a:r>
            <a:r>
              <a:rPr lang="en-US" altLang="zh-TW" dirty="0">
                <a:solidFill>
                  <a:srgbClr val="FF0000"/>
                </a:solidFill>
              </a:rPr>
              <a:t>asynchronous</a:t>
            </a:r>
            <a:r>
              <a:rPr lang="en-US" altLang="zh-TW" dirty="0"/>
              <a:t>) are used in </a:t>
            </a:r>
            <a:r>
              <a:rPr lang="en-US" altLang="zh-TW" dirty="0">
                <a:solidFill>
                  <a:srgbClr val="0000FF"/>
                </a:solidFill>
              </a:rPr>
              <a:t>UNIX</a:t>
            </a:r>
            <a:r>
              <a:rPr lang="en-US" altLang="zh-TW" dirty="0"/>
              <a:t> systems to notify a process that a particular event has occurred</a:t>
            </a:r>
          </a:p>
          <a:p>
            <a:pPr marL="381000" indent="-381000" eaLnBrk="1" hangingPunct="1"/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0000"/>
                </a:solidFill>
              </a:rPr>
              <a:t>signal handler</a:t>
            </a:r>
            <a:r>
              <a:rPr lang="en-US" altLang="zh-TW" dirty="0"/>
              <a:t> is used to process signals</a:t>
            </a:r>
          </a:p>
          <a:p>
            <a:pPr marL="800100" lvl="1" indent="-342900" eaLnBrk="1" hangingPunct="1">
              <a:buFont typeface="Webdings" pitchFamily="18" charset="2"/>
              <a:buAutoNum type="arabicPeriod"/>
            </a:pPr>
            <a:r>
              <a:rPr lang="en-US" altLang="zh-TW" dirty="0"/>
              <a:t>Signal is generated by particular event</a:t>
            </a:r>
          </a:p>
          <a:p>
            <a:pPr marL="800100" lvl="1" indent="-342900" eaLnBrk="1" hangingPunct="1">
              <a:buFont typeface="Webdings" pitchFamily="18" charset="2"/>
              <a:buAutoNum type="arabicPeriod"/>
            </a:pPr>
            <a:r>
              <a:rPr lang="en-US" altLang="zh-TW" dirty="0"/>
              <a:t>Signal is delivered to a </a:t>
            </a:r>
            <a:r>
              <a:rPr lang="en-US" altLang="zh-TW" dirty="0">
                <a:solidFill>
                  <a:srgbClr val="FF0000"/>
                </a:solidFill>
              </a:rPr>
              <a:t>process</a:t>
            </a:r>
          </a:p>
          <a:p>
            <a:pPr marL="800100" lvl="1" indent="-342900" eaLnBrk="1" hangingPunct="1">
              <a:buFont typeface="Webdings" pitchFamily="18" charset="2"/>
              <a:buAutoNum type="arabicPeriod"/>
            </a:pPr>
            <a:r>
              <a:rPr lang="en-US" altLang="zh-TW" dirty="0"/>
              <a:t>Signal is handled by one of two signal handlers: </a:t>
            </a:r>
            <a:r>
              <a:rPr lang="en-US" altLang="zh-TW" dirty="0">
                <a:solidFill>
                  <a:srgbClr val="0000FF"/>
                </a:solidFill>
              </a:rPr>
              <a:t>default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0000FF"/>
                </a:solidFill>
              </a:rPr>
              <a:t>user-defined</a:t>
            </a:r>
            <a:r>
              <a:rPr lang="en-US" altLang="zh-TW" dirty="0"/>
              <a:t>. </a:t>
            </a:r>
          </a:p>
          <a:p>
            <a:pPr marL="1200150" lvl="2" indent="-342900" eaLnBrk="1" hangingPunct="1">
              <a:buFont typeface="Arial" pitchFamily="34" charset="0"/>
              <a:buChar char="•"/>
            </a:pPr>
            <a:r>
              <a:rPr lang="en-US" altLang="zh-TW" dirty="0"/>
              <a:t>User-defined signal handler can override default</a:t>
            </a:r>
          </a:p>
        </p:txBody>
      </p:sp>
      <p:sp>
        <p:nvSpPr>
          <p:cNvPr id="2" name="動作按鈕: 終點 1">
            <a:hlinkClick r:id="rId4" action="ppaction://hlinksldjump" highlightClick="1"/>
          </p:cNvPr>
          <p:cNvSpPr/>
          <p:nvPr/>
        </p:nvSpPr>
        <p:spPr bwMode="auto">
          <a:xfrm>
            <a:off x="7813040" y="2052320"/>
            <a:ext cx="472440" cy="457200"/>
          </a:xfrm>
          <a:prstGeom prst="actionButtonEnd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DB2008-C2D2-E34B-AF39-B7E90F027A6D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40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440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F4CB2A7-3AC6-4B9D-B3DA-3E5CEDA39F9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TW" sz="140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TW"/>
              <a:t>Signal Handling</a:t>
            </a:r>
          </a:p>
        </p:txBody>
      </p:sp>
      <p:sp>
        <p:nvSpPr>
          <p:cNvPr id="168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1938" y="1130300"/>
            <a:ext cx="8342312" cy="5238750"/>
          </a:xfrm>
        </p:spPr>
        <p:txBody>
          <a:bodyPr/>
          <a:lstStyle/>
          <a:p>
            <a:pPr marL="381000" indent="-381000" eaLnBrk="1" hangingPunct="1"/>
            <a:r>
              <a:rPr lang="en-US" altLang="zh-TW"/>
              <a:t>Where should a signal be delivered for multi-threaded? </a:t>
            </a:r>
          </a:p>
          <a:p>
            <a:pPr marL="800100" lvl="1" indent="-342900" eaLnBrk="1" hangingPunct="1"/>
            <a:r>
              <a:rPr lang="en-US" altLang="zh-TW" sz="2400"/>
              <a:t>Deliver the signal to the thread to which the signal applies</a:t>
            </a:r>
          </a:p>
          <a:p>
            <a:pPr marL="800100" lvl="1" indent="-342900" eaLnBrk="1" hangingPunct="1"/>
            <a:r>
              <a:rPr lang="en-US" altLang="zh-TW" sz="2400"/>
              <a:t>Deliver the signal to every thread in the process</a:t>
            </a:r>
          </a:p>
          <a:p>
            <a:pPr marL="800100" lvl="1" indent="-342900" eaLnBrk="1" hangingPunct="1"/>
            <a:r>
              <a:rPr lang="en-US" altLang="zh-TW" sz="2400"/>
              <a:t>Deliver the signal to certain threads in the process</a:t>
            </a:r>
          </a:p>
          <a:p>
            <a:pPr marL="800100" lvl="1" indent="-342900" eaLnBrk="1" hangingPunct="1"/>
            <a:r>
              <a:rPr lang="en-US" altLang="zh-TW" sz="2400"/>
              <a:t>Assign a specific thread to receive all signals for the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A5AF3D7-D612-7942-8F33-6A2200F55B06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50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450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E99AF16-1F3B-4097-9B5B-121C115D33E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TW" sz="140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04825"/>
          </a:xfrm>
        </p:spPr>
        <p:txBody>
          <a:bodyPr/>
          <a:lstStyle/>
          <a:p>
            <a:pPr eaLnBrk="1" hangingPunct="1"/>
            <a:r>
              <a:rPr lang="en-US" altLang="zh-TW"/>
              <a:t>Thread Cancellation</a:t>
            </a:r>
          </a:p>
        </p:txBody>
      </p:sp>
      <p:sp>
        <p:nvSpPr>
          <p:cNvPr id="166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765175"/>
            <a:ext cx="8296275" cy="5283200"/>
          </a:xfrm>
        </p:spPr>
        <p:txBody>
          <a:bodyPr/>
          <a:lstStyle/>
          <a:p>
            <a:pPr eaLnBrk="1" hangingPunct="1"/>
            <a:r>
              <a:rPr lang="en-US" altLang="zh-TW"/>
              <a:t>Terminating a thread before it has completed.</a:t>
            </a:r>
          </a:p>
          <a:p>
            <a:pPr eaLnBrk="1" hangingPunct="1"/>
            <a:r>
              <a:rPr lang="en-US" altLang="zh-TW"/>
              <a:t>Two general approaches:</a:t>
            </a:r>
          </a:p>
          <a:p>
            <a:pPr lvl="1" eaLnBrk="1" hangingPunct="1"/>
            <a:r>
              <a:rPr lang="en-US" altLang="zh-TW" b="1">
                <a:solidFill>
                  <a:srgbClr val="FF0000"/>
                </a:solidFill>
              </a:rPr>
              <a:t>Asynchronous cancellation</a:t>
            </a:r>
            <a:r>
              <a:rPr lang="en-US" altLang="zh-TW"/>
              <a:t> terminates the target thread  immediately</a:t>
            </a:r>
          </a:p>
          <a:p>
            <a:pPr lvl="1" eaLnBrk="1" hangingPunct="1"/>
            <a:r>
              <a:rPr lang="en-US" altLang="zh-TW" b="1">
                <a:solidFill>
                  <a:srgbClr val="FF0000"/>
                </a:solidFill>
              </a:rPr>
              <a:t>Deferred cancellation</a:t>
            </a:r>
            <a:r>
              <a:rPr lang="en-US" altLang="zh-TW"/>
              <a:t> The target thread periodically checks whether it should be terminated, allowing it an opportunity to </a:t>
            </a:r>
            <a:r>
              <a:rPr lang="en-US" altLang="zh-TW">
                <a:solidFill>
                  <a:srgbClr val="0000FF"/>
                </a:solidFill>
              </a:rPr>
              <a:t>terminate itself in an orderly fashion (canceled safely)</a:t>
            </a:r>
            <a:r>
              <a:rPr lang="en-US" altLang="zh-TW"/>
              <a:t>.</a:t>
            </a:r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38" y="5132388"/>
            <a:ext cx="387667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762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 Cancellation</a:t>
            </a:r>
          </a:p>
        </p:txBody>
      </p:sp>
      <p:sp>
        <p:nvSpPr>
          <p:cNvPr id="378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5425" y="822325"/>
            <a:ext cx="8815388" cy="5897563"/>
          </a:xfrm>
        </p:spPr>
        <p:txBody>
          <a:bodyPr/>
          <a:lstStyle/>
          <a:p>
            <a:r>
              <a:rPr lang="en-US" altLang="en-US" sz="2800"/>
              <a:t>Actual cancellation depends on thread state</a:t>
            </a:r>
          </a:p>
          <a:p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If thread has cancellation disabled, cancellation remains pending until thread enables it</a:t>
            </a:r>
          </a:p>
          <a:p>
            <a:r>
              <a:rPr lang="en-US" altLang="en-US" sz="2800"/>
              <a:t>Default type is deferred</a:t>
            </a:r>
          </a:p>
          <a:p>
            <a:pPr lvl="1"/>
            <a:r>
              <a:rPr lang="en-US" altLang="en-US" sz="2400"/>
              <a:t>Cancellation only occurs when thread reaches </a:t>
            </a:r>
            <a:r>
              <a:rPr lang="en-US" altLang="en-US" sz="2400" b="1">
                <a:solidFill>
                  <a:srgbClr val="FF0000"/>
                </a:solidFill>
              </a:rPr>
              <a:t>cancellation point</a:t>
            </a:r>
            <a:r>
              <a:rPr lang="en-US" altLang="en-US" sz="2400" b="1"/>
              <a:t>, </a:t>
            </a:r>
            <a:r>
              <a:rPr lang="en-US" altLang="en-US" sz="2400"/>
              <a:t>then </a:t>
            </a:r>
            <a:r>
              <a:rPr lang="en-US" altLang="en-US" sz="2400" b="1">
                <a:solidFill>
                  <a:srgbClr val="3366FF"/>
                </a:solidFill>
              </a:rPr>
              <a:t>cleanup handler </a:t>
            </a:r>
            <a:r>
              <a:rPr lang="en-US" altLang="en-US" sz="2400"/>
              <a:t>is invoked</a:t>
            </a:r>
            <a:endParaRPr lang="en-US" altLang="en-US" sz="2000"/>
          </a:p>
          <a:p>
            <a:r>
              <a:rPr lang="en-US" altLang="en-US" sz="2800"/>
              <a:t>On Linux systems, thread cancellation is handled through signals</a:t>
            </a:r>
          </a:p>
        </p:txBody>
      </p:sp>
      <p:pic>
        <p:nvPicPr>
          <p:cNvPr id="4096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3" y="1290638"/>
            <a:ext cx="50546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701CE52-192B-264F-B1C5-814F79381CE0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6086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4608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11780DF-2AC8-46AA-94D9-9995E61808BB}" type="slidenum">
              <a:rPr kumimoji="0" lang="zh-TW" altLang="en-US" sz="1400" smtClean="0"/>
              <a:pPr eaLnBrk="1" hangingPunct="1"/>
              <a:t>43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Thread-Local Storage</a:t>
            </a:r>
          </a:p>
        </p:txBody>
      </p:sp>
      <p:sp>
        <p:nvSpPr>
          <p:cNvPr id="419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7175" y="760413"/>
            <a:ext cx="8661400" cy="600075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en-US" b="1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Thread-local storage </a:t>
            </a:r>
            <a:r>
              <a:rPr lang="en-US" altLang="en-US">
                <a:latin typeface="Adobe Gothic Std B" pitchFamily="34" charset="-128"/>
                <a:ea typeface="Adobe Gothic Std B" pitchFamily="34" charset="-128"/>
              </a:rPr>
              <a:t>(</a:t>
            </a:r>
            <a:r>
              <a:rPr lang="en-US" altLang="en-US" b="1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TLS</a:t>
            </a:r>
            <a:r>
              <a:rPr lang="en-US" altLang="en-US">
                <a:latin typeface="Adobe Gothic Std B" pitchFamily="34" charset="-128"/>
                <a:ea typeface="Adobe Gothic Std B" pitchFamily="34" charset="-128"/>
              </a:rPr>
              <a:t>) allows each thread to have its own copy of data</a:t>
            </a:r>
          </a:p>
          <a:p>
            <a:pPr>
              <a:spcBef>
                <a:spcPts val="1800"/>
              </a:spcBef>
            </a:pPr>
            <a:r>
              <a:rPr lang="en-US" altLang="en-US">
                <a:latin typeface="Adobe Gothic Std B" pitchFamily="34" charset="-128"/>
                <a:ea typeface="Adobe Gothic Std B" pitchFamily="34" charset="-128"/>
              </a:rPr>
              <a:t>Useful when you do not have control over the thread creation process (i.e., when using a thread pool)</a:t>
            </a:r>
          </a:p>
          <a:p>
            <a:pPr>
              <a:spcBef>
                <a:spcPts val="1800"/>
              </a:spcBef>
            </a:pPr>
            <a:r>
              <a:rPr lang="en-US" altLang="en-US">
                <a:latin typeface="Adobe Gothic Std B" pitchFamily="34" charset="-128"/>
                <a:ea typeface="Adobe Gothic Std B" pitchFamily="34" charset="-128"/>
              </a:rPr>
              <a:t>Different from local variables (may confuse TLS with local variables.)</a:t>
            </a:r>
          </a:p>
          <a:p>
            <a:pPr lvl="1"/>
            <a:r>
              <a:rPr lang="en-US" altLang="en-US">
                <a:latin typeface="Adobe Gothic Std B" pitchFamily="34" charset="-128"/>
                <a:ea typeface="Adobe Gothic Std B" pitchFamily="34" charset="-128"/>
              </a:rPr>
              <a:t>Local variables visible only during single function invocation</a:t>
            </a:r>
          </a:p>
          <a:p>
            <a:pPr lvl="1"/>
            <a:r>
              <a:rPr lang="en-US" altLang="en-US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TLS visible </a:t>
            </a:r>
            <a:r>
              <a:rPr lang="en-US" altLang="en-US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across</a:t>
            </a:r>
            <a:r>
              <a:rPr lang="en-US" altLang="en-US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function invocations.</a:t>
            </a:r>
          </a:p>
        </p:txBody>
      </p:sp>
      <p:sp>
        <p:nvSpPr>
          <p:cNvPr id="4710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BDACA26-3D45-CA45-BE56-04AE3E4E745E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710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/>
              <a:t>OS4-2018</a:t>
            </a:r>
          </a:p>
        </p:txBody>
      </p:sp>
      <p:sp>
        <p:nvSpPr>
          <p:cNvPr id="4711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6955905-AC86-41D7-9463-566AD626F7CE}" type="slidenum">
              <a:rPr kumimoji="0" lang="zh-TW" altLang="en-US" sz="1400" smtClean="0"/>
              <a:pPr eaLnBrk="1" hangingPunct="1"/>
              <a:t>44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96CE422-BCAC-9D41-A4B9-4FC928331060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81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481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6D8B78-36D1-479B-9E22-21613005B53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TW" sz="140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55675"/>
          </a:xfrm>
        </p:spPr>
        <p:txBody>
          <a:bodyPr/>
          <a:lstStyle/>
          <a:p>
            <a:pPr eaLnBrk="1" hangingPunct="1"/>
            <a:r>
              <a:rPr lang="en-US" altLang="zh-TW" dirty="0"/>
              <a:t>Scheduler Activations</a:t>
            </a:r>
          </a:p>
        </p:txBody>
      </p:sp>
      <p:sp>
        <p:nvSpPr>
          <p:cNvPr id="175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1223964"/>
            <a:ext cx="8570913" cy="52752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dirty="0"/>
              <a:t>Both M:M and Two-level models require communication to maintain the appropriate number of kernel threads allocated to the application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dirty="0"/>
              <a:t>Scheduler activations provide </a:t>
            </a:r>
            <a:r>
              <a:rPr lang="en-US" altLang="zh-TW" sz="2800" b="1" dirty="0" err="1">
                <a:solidFill>
                  <a:srgbClr val="FF0000"/>
                </a:solidFill>
              </a:rPr>
              <a:t>upcalls</a:t>
            </a:r>
            <a:r>
              <a:rPr lang="en-US" altLang="zh-TW" sz="2800" dirty="0"/>
              <a:t> - a communication mechanism </a:t>
            </a:r>
            <a:r>
              <a:rPr lang="en-US" altLang="zh-TW" sz="2800" dirty="0">
                <a:solidFill>
                  <a:srgbClr val="0000FF"/>
                </a:solidFill>
              </a:rPr>
              <a:t>from</a:t>
            </a:r>
            <a:r>
              <a:rPr lang="en-US" altLang="zh-TW" sz="2800" dirty="0"/>
              <a:t> the </a:t>
            </a:r>
            <a:r>
              <a:rPr lang="en-US" altLang="zh-TW" sz="2800" dirty="0">
                <a:solidFill>
                  <a:srgbClr val="FF0000"/>
                </a:solidFill>
              </a:rPr>
              <a:t>kernel</a:t>
            </a:r>
            <a:r>
              <a:rPr lang="en-US" altLang="zh-TW" sz="2800" dirty="0"/>
              <a:t> </a:t>
            </a:r>
            <a:r>
              <a:rPr lang="en-US" altLang="zh-TW" sz="2800" dirty="0">
                <a:solidFill>
                  <a:srgbClr val="0000FF"/>
                </a:solidFill>
              </a:rPr>
              <a:t>to</a:t>
            </a:r>
            <a:r>
              <a:rPr lang="en-US" altLang="zh-TW" sz="2800" dirty="0"/>
              <a:t> the </a:t>
            </a:r>
            <a:r>
              <a:rPr lang="en-US" altLang="zh-TW" sz="2800" dirty="0">
                <a:solidFill>
                  <a:srgbClr val="FF0000"/>
                </a:solidFill>
              </a:rPr>
              <a:t>thread library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sz="2800" dirty="0"/>
              <a:t>This communication allows an application to maintain the correct number kernel threads</a:t>
            </a:r>
          </a:p>
        </p:txBody>
      </p:sp>
      <p:pic>
        <p:nvPicPr>
          <p:cNvPr id="4813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825" y="0"/>
            <a:ext cx="820738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5111" name="Line 7"/>
          <p:cNvSpPr>
            <a:spLocks noChangeShapeType="1"/>
          </p:cNvSpPr>
          <p:nvPr/>
        </p:nvSpPr>
        <p:spPr bwMode="auto">
          <a:xfrm>
            <a:off x="8235950" y="652463"/>
            <a:ext cx="0" cy="2968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5112" name="Line 8"/>
          <p:cNvSpPr>
            <a:spLocks noChangeShapeType="1"/>
          </p:cNvSpPr>
          <p:nvPr/>
        </p:nvSpPr>
        <p:spPr bwMode="auto">
          <a:xfrm>
            <a:off x="8229600" y="1209675"/>
            <a:ext cx="26988" cy="3095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5113" name="Text Box 9"/>
          <p:cNvSpPr txBox="1">
            <a:spLocks noChangeArrowheads="1"/>
          </p:cNvSpPr>
          <p:nvPr/>
        </p:nvSpPr>
        <p:spPr bwMode="auto">
          <a:xfrm>
            <a:off x="7986713" y="1712913"/>
            <a:ext cx="60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000">
                <a:solidFill>
                  <a:srgbClr val="FF0000"/>
                </a:solidFill>
              </a:rPr>
              <a:t>blocked</a:t>
            </a:r>
          </a:p>
        </p:txBody>
      </p:sp>
      <p:sp>
        <p:nvSpPr>
          <p:cNvPr id="175115" name="Line 11"/>
          <p:cNvSpPr>
            <a:spLocks noChangeShapeType="1"/>
          </p:cNvSpPr>
          <p:nvPr/>
        </p:nvSpPr>
        <p:spPr bwMode="auto">
          <a:xfrm>
            <a:off x="8353425" y="549275"/>
            <a:ext cx="212725" cy="3714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5116" name="Line 12"/>
          <p:cNvSpPr>
            <a:spLocks noChangeShapeType="1"/>
          </p:cNvSpPr>
          <p:nvPr/>
        </p:nvSpPr>
        <p:spPr bwMode="auto">
          <a:xfrm>
            <a:off x="8566150" y="1223963"/>
            <a:ext cx="0" cy="2952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5117" name="Line 13"/>
          <p:cNvSpPr>
            <a:spLocks noChangeShapeType="1"/>
          </p:cNvSpPr>
          <p:nvPr/>
        </p:nvSpPr>
        <p:spPr bwMode="auto">
          <a:xfrm flipH="1" flipV="1">
            <a:off x="8807450" y="549275"/>
            <a:ext cx="6350" cy="11620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92467" y="5432178"/>
            <a:ext cx="9051533" cy="830997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Informing that a thread is about to block, then schedules another thread that is eligible to run on the new virtual processor.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76DD6C2-93B5-7341-8A08-8778E329EDB0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491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D11F3F-1B06-4145-8EB7-F38EE350C80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TW" sz="140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TW"/>
              <a:t>Windows Threads</a:t>
            </a:r>
          </a:p>
        </p:txBody>
      </p:sp>
      <p:sp>
        <p:nvSpPr>
          <p:cNvPr id="1771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96863" y="804863"/>
            <a:ext cx="8434387" cy="5394325"/>
          </a:xfrm>
        </p:spPr>
        <p:txBody>
          <a:bodyPr/>
          <a:lstStyle/>
          <a:p>
            <a:pPr eaLnBrk="1" hangingPunct="1"/>
            <a:r>
              <a:rPr lang="en-US" altLang="zh-TW" sz="2800" dirty="0"/>
              <a:t>Implements the </a:t>
            </a:r>
            <a:r>
              <a:rPr lang="en-US" altLang="zh-TW" sz="2800" dirty="0">
                <a:solidFill>
                  <a:srgbClr val="FF0000"/>
                </a:solidFill>
              </a:rPr>
              <a:t>one-to-one</a:t>
            </a:r>
            <a:r>
              <a:rPr lang="en-US" altLang="zh-TW" sz="2800" dirty="0"/>
              <a:t> mapping</a:t>
            </a:r>
          </a:p>
          <a:p>
            <a:pPr eaLnBrk="1" hangingPunct="1"/>
            <a:r>
              <a:rPr lang="en-US" altLang="zh-TW" sz="2800" dirty="0"/>
              <a:t>Each thread contains</a:t>
            </a:r>
          </a:p>
          <a:p>
            <a:pPr lvl="1" eaLnBrk="1" hangingPunct="1"/>
            <a:r>
              <a:rPr lang="en-US" altLang="zh-TW" sz="2000" dirty="0"/>
              <a:t>A thread id</a:t>
            </a:r>
          </a:p>
          <a:p>
            <a:pPr lvl="1" eaLnBrk="1" hangingPunct="1"/>
            <a:r>
              <a:rPr lang="en-US" altLang="zh-TW" sz="2000" dirty="0"/>
              <a:t>Register set</a:t>
            </a:r>
          </a:p>
          <a:p>
            <a:pPr lvl="1" eaLnBrk="1" hangingPunct="1"/>
            <a:r>
              <a:rPr lang="en-US" altLang="zh-TW" sz="2000" dirty="0"/>
              <a:t>Separate </a:t>
            </a:r>
            <a:r>
              <a:rPr lang="en-US" altLang="zh-TW" sz="2000" dirty="0">
                <a:solidFill>
                  <a:srgbClr val="0000FF"/>
                </a:solidFill>
              </a:rPr>
              <a:t>user and kernel stacks</a:t>
            </a:r>
          </a:p>
          <a:p>
            <a:pPr lvl="1" eaLnBrk="1" hangingPunct="1"/>
            <a:r>
              <a:rPr lang="en-US" altLang="zh-TW" sz="2000" dirty="0">
                <a:solidFill>
                  <a:srgbClr val="0000FF"/>
                </a:solidFill>
              </a:rPr>
              <a:t>Private data </a:t>
            </a:r>
            <a:r>
              <a:rPr lang="en-US" altLang="zh-TW" sz="2000" dirty="0"/>
              <a:t>storage area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 dirty="0"/>
              <a:t>The register set, stacks, and private storage area are known as the </a:t>
            </a:r>
            <a:r>
              <a:rPr lang="en-US" altLang="zh-TW" sz="2800" b="1" dirty="0">
                <a:solidFill>
                  <a:srgbClr val="0000FF"/>
                </a:solidFill>
              </a:rPr>
              <a:t>context</a:t>
            </a:r>
            <a:r>
              <a:rPr lang="en-US" altLang="zh-TW" sz="2800" b="1" dirty="0"/>
              <a:t> </a:t>
            </a:r>
            <a:r>
              <a:rPr lang="en-US" altLang="zh-TW" sz="2800" dirty="0"/>
              <a:t>of the threads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 dirty="0"/>
              <a:t>The primary data structures of a thread include:</a:t>
            </a:r>
          </a:p>
          <a:p>
            <a:pPr lvl="1" eaLnBrk="1" hangingPunct="1"/>
            <a:r>
              <a:rPr lang="en-US" altLang="zh-TW" sz="2000" dirty="0"/>
              <a:t>ETHREAD (executive thread block)</a:t>
            </a:r>
          </a:p>
          <a:p>
            <a:pPr lvl="1" eaLnBrk="1" hangingPunct="1"/>
            <a:r>
              <a:rPr lang="en-US" altLang="zh-TW" sz="2000" dirty="0"/>
              <a:t>KTHREAD (kernel thread block)</a:t>
            </a:r>
          </a:p>
          <a:p>
            <a:pPr lvl="1" eaLnBrk="1" hangingPunct="1"/>
            <a:r>
              <a:rPr lang="en-US" altLang="zh-TW" sz="2000" dirty="0"/>
              <a:t>TEB (thread environment block)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7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7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1A4B31-5136-644C-9573-407F5B5C74A8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01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01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050F321-C0A6-45AF-9CB3-E17E9C641D1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TW" sz="140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66775"/>
          </a:xfrm>
        </p:spPr>
        <p:txBody>
          <a:bodyPr/>
          <a:lstStyle/>
          <a:p>
            <a:pPr eaLnBrk="1" hangingPunct="1"/>
            <a:r>
              <a:rPr lang="en-US" altLang="zh-TW"/>
              <a:t>Windows Threads</a:t>
            </a:r>
          </a:p>
        </p:txBody>
      </p:sp>
      <p:pic>
        <p:nvPicPr>
          <p:cNvPr id="50182" name="Picture 4" descr="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347788"/>
            <a:ext cx="5041900" cy="490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CE05916-5DA0-1B4F-BE48-8A01C42F3FEF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12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12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5D04B6-64A6-446B-B134-A00DB3861A0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TW" sz="140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77850"/>
          </a:xfrm>
        </p:spPr>
        <p:txBody>
          <a:bodyPr/>
          <a:lstStyle/>
          <a:p>
            <a:pPr eaLnBrk="1" hangingPunct="1"/>
            <a:r>
              <a:rPr lang="en-US" altLang="zh-TW" sz="4000"/>
              <a:t>Linux Threads</a:t>
            </a:r>
          </a:p>
        </p:txBody>
      </p:sp>
      <p:sp>
        <p:nvSpPr>
          <p:cNvPr id="870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7338" y="1179513"/>
            <a:ext cx="8504237" cy="5173662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/>
              <a:t>Linux refers to them as </a:t>
            </a:r>
            <a:r>
              <a:rPr lang="en-US" altLang="zh-TW" sz="2800">
                <a:solidFill>
                  <a:srgbClr val="FF0000"/>
                </a:solidFill>
              </a:rPr>
              <a:t>tasks</a:t>
            </a:r>
            <a:r>
              <a:rPr lang="en-US" altLang="zh-TW" sz="2800"/>
              <a:t> rather than </a:t>
            </a:r>
            <a:r>
              <a:rPr lang="en-US" altLang="zh-TW" sz="2800">
                <a:solidFill>
                  <a:srgbClr val="FF0000"/>
                </a:solidFill>
              </a:rPr>
              <a:t>threads</a:t>
            </a:r>
            <a:r>
              <a:rPr lang="en-US" altLang="zh-TW" sz="2800"/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/>
              <a:t>Thread creation is done through clone() system call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/>
              <a:t>Clone() allows a child task to share the address space of the parent task (process) 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/>
              <a:t>behaves much like a separate thread</a:t>
            </a:r>
            <a:endParaRPr lang="en-US" altLang="zh-TW" sz="2400">
              <a:solidFill>
                <a:srgbClr val="FF0000"/>
              </a:solidFill>
            </a:endParaRP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>
                <a:solidFill>
                  <a:srgbClr val="FF0000"/>
                </a:solidFill>
              </a:rPr>
              <a:t>Linux does not support multithreading</a:t>
            </a:r>
            <a:r>
              <a:rPr lang="en-US" altLang="zh-TW" sz="2400"/>
              <a:t>, but various </a:t>
            </a:r>
            <a:r>
              <a:rPr lang="en-US" altLang="zh-TW" sz="2400">
                <a:solidFill>
                  <a:srgbClr val="FF0000"/>
                </a:solidFill>
              </a:rPr>
              <a:t>Pthreads implementation are available for</a:t>
            </a:r>
            <a:r>
              <a:rPr lang="en-US" altLang="zh-TW" sz="2400"/>
              <a:t> </a:t>
            </a:r>
            <a:r>
              <a:rPr lang="en-US" altLang="zh-TW" sz="2400" b="1">
                <a:solidFill>
                  <a:schemeClr val="tx2"/>
                </a:solidFill>
              </a:rPr>
              <a:t>user-level</a:t>
            </a:r>
            <a:endParaRPr lang="en-US" altLang="zh-TW" sz="2400"/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1925638" y="5489575"/>
            <a:ext cx="3760787" cy="376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NPTL: Native POSIX Thread Library</a:t>
            </a:r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5859463" y="2446338"/>
            <a:ext cx="1214437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or fork ()</a:t>
            </a:r>
          </a:p>
        </p:txBody>
      </p:sp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6589713" y="3560763"/>
            <a:ext cx="166052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A set of flags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animBg="1"/>
      <p:bldP spid="87045" grpId="0" animBg="1"/>
      <p:bldP spid="8704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822720-295A-ED46-A8F1-337F29C7924D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22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22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568E7D1-B929-4154-8234-06D8BF0DA32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TW" sz="1400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77850"/>
          </a:xfrm>
        </p:spPr>
        <p:txBody>
          <a:bodyPr/>
          <a:lstStyle/>
          <a:p>
            <a:pPr eaLnBrk="1" hangingPunct="1"/>
            <a:r>
              <a:rPr lang="en-US" altLang="zh-TW" sz="4000"/>
              <a:t>Linux Threads</a:t>
            </a:r>
          </a:p>
        </p:txBody>
      </p:sp>
      <p:pic>
        <p:nvPicPr>
          <p:cNvPr id="52230" name="Picture 7" descr="in-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214563"/>
            <a:ext cx="6669087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91CB531-034F-3E43-9B22-D32B84AB3C38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325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325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FA13AF7-6677-49E5-9083-A86392ADAC1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TW" sz="140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7088"/>
          </a:xfrm>
        </p:spPr>
        <p:txBody>
          <a:bodyPr/>
          <a:lstStyle/>
          <a:p>
            <a:pPr eaLnBrk="1" hangingPunct="1"/>
            <a:r>
              <a:rPr lang="en-US" altLang="zh-TW"/>
              <a:t>Solaris 2 Threads (1)</a:t>
            </a:r>
          </a:p>
        </p:txBody>
      </p:sp>
      <p:pic>
        <p:nvPicPr>
          <p:cNvPr id="5325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t="16856" r="511" b="16856"/>
          <a:stretch>
            <a:fillRect/>
          </a:stretch>
        </p:blipFill>
        <p:spPr bwMode="auto">
          <a:xfrm>
            <a:off x="266700" y="1327150"/>
            <a:ext cx="8693150" cy="46640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E6E74CA-E606-624B-BBA1-40541A4EC0BD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42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42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454C534-F018-49AC-AD18-45B77C3FD02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TW" sz="140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88" y="225425"/>
            <a:ext cx="7181850" cy="60483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/>
              <a:t>Solaris 2 Threads (2)</a:t>
            </a:r>
          </a:p>
        </p:txBody>
      </p:sp>
      <p:sp>
        <p:nvSpPr>
          <p:cNvPr id="1064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96850" y="1006475"/>
            <a:ext cx="8424863" cy="522763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533400" indent="-533400" eaLnBrk="1" hangingPunct="1">
              <a:spcBef>
                <a:spcPct val="60000"/>
              </a:spcBef>
            </a:pPr>
            <a:r>
              <a:rPr lang="en-US" altLang="zh-TW" sz="3100"/>
              <a:t>Support threads at the kernel and user levels, </a:t>
            </a:r>
            <a:r>
              <a:rPr lang="en-US" altLang="zh-TW" sz="3100">
                <a:solidFill>
                  <a:srgbClr val="FF0000"/>
                </a:solidFill>
              </a:rPr>
              <a:t>symmetric multiprocessing (SMP)</a:t>
            </a:r>
            <a:r>
              <a:rPr lang="en-US" altLang="zh-TW" sz="3100"/>
              <a:t>, and </a:t>
            </a:r>
            <a:r>
              <a:rPr lang="en-US" altLang="zh-TW" sz="3100">
                <a:solidFill>
                  <a:srgbClr val="FF0000"/>
                </a:solidFill>
              </a:rPr>
              <a:t>real-time scheduling</a:t>
            </a:r>
            <a:r>
              <a:rPr lang="en-US" altLang="zh-TW" sz="3100"/>
              <a:t>. </a:t>
            </a:r>
          </a:p>
          <a:p>
            <a:pPr marL="533400" indent="-533400" eaLnBrk="1" hangingPunct="1">
              <a:spcBef>
                <a:spcPct val="60000"/>
              </a:spcBef>
            </a:pPr>
            <a:r>
              <a:rPr lang="en-US" altLang="zh-TW" sz="3100"/>
              <a:t>Supports user-level threads with a library containing APIs for thread creation and management.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2FC1B1-7E74-0B45-AF01-B73F846A30E0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52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53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F5D012D-6DB6-4505-B0C3-7C967DED3CC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TW" sz="140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644525" y="174625"/>
            <a:ext cx="7181850" cy="60483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/>
              <a:t>Solaris 2 Threads (3)</a:t>
            </a:r>
          </a:p>
        </p:txBody>
      </p:sp>
      <p:sp>
        <p:nvSpPr>
          <p:cNvPr id="203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96863" y="906463"/>
            <a:ext cx="8404225" cy="57150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600" dirty="0"/>
              <a:t>Intermediate level threads: between user-level  threads and kernel-level threads, Solaris 2 defines an </a:t>
            </a:r>
            <a:r>
              <a:rPr lang="en-US" altLang="zh-TW" sz="2600" dirty="0">
                <a:solidFill>
                  <a:srgbClr val="FF0000"/>
                </a:solidFill>
              </a:rPr>
              <a:t>intermediate level</a:t>
            </a:r>
            <a:r>
              <a:rPr lang="en-US" altLang="zh-TW" sz="2600" dirty="0"/>
              <a:t>, the </a:t>
            </a:r>
            <a:r>
              <a:rPr lang="en-US" altLang="zh-TW" sz="2600" b="1" dirty="0">
                <a:solidFill>
                  <a:srgbClr val="FF0000"/>
                </a:solidFill>
              </a:rPr>
              <a:t>lightweight processes (LWP)</a:t>
            </a:r>
            <a:r>
              <a:rPr lang="en-US" altLang="zh-TW" sz="2600" dirty="0"/>
              <a:t>.</a:t>
            </a:r>
            <a:endParaRPr lang="en-US" altLang="zh-TW" sz="2600" dirty="0">
              <a:solidFill>
                <a:srgbClr val="FF0000"/>
              </a:solidFill>
            </a:endParaRP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  <a:defRPr/>
            </a:pPr>
            <a:r>
              <a:rPr lang="en-US" altLang="zh-TW" sz="2600" dirty="0">
                <a:solidFill>
                  <a:srgbClr val="FF0000"/>
                </a:solidFill>
              </a:rPr>
              <a:t>Each task contains at least one LWP</a:t>
            </a:r>
            <a:r>
              <a:rPr lang="en-US" altLang="zh-TW" sz="2600" dirty="0"/>
              <a:t>.</a:t>
            </a:r>
            <a:endParaRPr lang="en-US" altLang="zh-TW" sz="2600" dirty="0">
              <a:solidFill>
                <a:srgbClr val="FF0000"/>
              </a:solidFill>
            </a:endParaRP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  <a:defRPr/>
            </a:pPr>
            <a:r>
              <a:rPr lang="en-US" altLang="zh-TW" sz="2600" dirty="0">
                <a:solidFill>
                  <a:srgbClr val="FF0000"/>
                </a:solidFill>
              </a:rPr>
              <a:t>The user-level threads are multiplexed on the LWPs</a:t>
            </a:r>
            <a:r>
              <a:rPr lang="en-US" altLang="zh-TW" sz="2600" dirty="0"/>
              <a:t> of the process, and only user-level threads currently connected to LWPs accomplish work. The rest are either blocked or waiting for an LWP on which they can run.</a:t>
            </a:r>
            <a:endParaRPr lang="en-US" altLang="zh-TW" sz="2600" dirty="0">
              <a:solidFill>
                <a:srgbClr val="FF0000"/>
              </a:solidFill>
            </a:endParaRP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  <a:defRPr/>
            </a:pPr>
            <a:r>
              <a:rPr lang="en-US" altLang="zh-TW" sz="2600" dirty="0">
                <a:solidFill>
                  <a:srgbClr val="FF0000"/>
                </a:solidFill>
              </a:rPr>
              <a:t>There is a </a:t>
            </a:r>
            <a:r>
              <a:rPr lang="en-US" altLang="zh-TW" sz="2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kernel-level thread</a:t>
            </a:r>
            <a:r>
              <a:rPr lang="en-US" altLang="zh-TW" sz="2600" dirty="0">
                <a:solidFill>
                  <a:srgbClr val="FF0000"/>
                </a:solidFill>
              </a:rPr>
              <a:t> for each LWP</a:t>
            </a:r>
            <a:r>
              <a:rPr lang="en-US" altLang="zh-TW" sz="2600" dirty="0"/>
              <a:t>, and there are </a:t>
            </a:r>
            <a:r>
              <a:rPr lang="en-US" altLang="zh-TW" sz="2600" dirty="0">
                <a:solidFill>
                  <a:srgbClr val="FF0000"/>
                </a:solidFill>
              </a:rPr>
              <a:t>some </a:t>
            </a:r>
            <a:r>
              <a:rPr lang="en-US" altLang="zh-TW" sz="2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kernel-level threads</a:t>
            </a:r>
            <a:r>
              <a:rPr lang="en-US" altLang="zh-TW" sz="2600" dirty="0">
                <a:solidFill>
                  <a:srgbClr val="FF0000"/>
                </a:solidFill>
              </a:rPr>
              <a:t> have no associated LWP</a:t>
            </a:r>
            <a:r>
              <a:rPr lang="en-US" altLang="zh-TW" sz="2600" dirty="0"/>
              <a:t> (for instance, a thread to service disk request).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12F3F8C-9059-194A-AA10-9818F3044E15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73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73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237CA7-7563-4D4C-A55D-A7F7D3C7046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TW" sz="1400"/>
          </a:p>
        </p:txBody>
      </p:sp>
      <p:sp>
        <p:nvSpPr>
          <p:cNvPr id="10854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96850" y="442913"/>
            <a:ext cx="8709025" cy="5286375"/>
          </a:xfrm>
        </p:spPr>
        <p:txBody>
          <a:bodyPr/>
          <a:lstStyle/>
          <a:p>
            <a:pPr marL="285750" indent="-285750" eaLnBrk="1" hangingPunct="1">
              <a:spcBef>
                <a:spcPct val="60000"/>
              </a:spcBef>
              <a:defRPr/>
            </a:pPr>
            <a:r>
              <a:rPr lang="en-US" altLang="zh-TW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Kernel-level threads</a:t>
            </a:r>
            <a:r>
              <a:rPr lang="en-US" altLang="zh-TW" sz="2800" dirty="0"/>
              <a:t> are the only objects scheduled within the system. Solaris implements the many-to-many model. </a:t>
            </a:r>
            <a:endParaRPr lang="en-US" altLang="zh-TW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285750" indent="-285750" eaLnBrk="1" hangingPunct="1">
              <a:spcBef>
                <a:spcPct val="60000"/>
              </a:spcBef>
              <a:defRPr/>
            </a:pPr>
            <a:r>
              <a:rPr lang="en-US" altLang="zh-TW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Bound</a:t>
            </a:r>
            <a:r>
              <a:rPr lang="en-US" altLang="zh-TW" sz="2800" dirty="0"/>
              <a:t> user-level thread: </a:t>
            </a:r>
            <a:r>
              <a:rPr lang="en-US" altLang="zh-TW" sz="2800" dirty="0">
                <a:solidFill>
                  <a:srgbClr val="FF0000"/>
                </a:solidFill>
              </a:rPr>
              <a:t>permanently attached to a LWP</a:t>
            </a:r>
            <a:r>
              <a:rPr lang="en-US" altLang="zh-TW" sz="2800" dirty="0"/>
              <a:t>. Binding a thread is useful in situations that require quick response time, such as </a:t>
            </a:r>
            <a:r>
              <a:rPr lang="en-US" altLang="zh-TW" sz="2800" dirty="0">
                <a:solidFill>
                  <a:srgbClr val="FF0000"/>
                </a:solidFill>
              </a:rPr>
              <a:t>real-time applications</a:t>
            </a:r>
            <a:r>
              <a:rPr lang="en-US" altLang="zh-TW" sz="2800" dirty="0"/>
              <a:t>.</a:t>
            </a:r>
          </a:p>
          <a:p>
            <a:pPr marL="285750" indent="-285750" eaLnBrk="1" hangingPunct="1">
              <a:spcBef>
                <a:spcPct val="60000"/>
              </a:spcBef>
              <a:defRPr/>
            </a:pPr>
            <a:r>
              <a:rPr lang="en-US" altLang="zh-TW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Unbound</a:t>
            </a:r>
            <a:r>
              <a:rPr lang="en-US" altLang="zh-TW" sz="2800" dirty="0"/>
              <a:t> user-level thread: All unbound threads in an application are </a:t>
            </a:r>
            <a:r>
              <a:rPr lang="en-US" altLang="zh-TW" sz="2800" dirty="0">
                <a:solidFill>
                  <a:srgbClr val="FF0000"/>
                </a:solidFill>
              </a:rPr>
              <a:t>multiplexed onto the pool of available LWPs</a:t>
            </a:r>
            <a:r>
              <a:rPr lang="en-US" altLang="zh-TW" sz="2800" dirty="0"/>
              <a:t> for the application.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9149660-1420-4449-95A2-417AC9074332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83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83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BB09D0D-1AD5-4FB5-9B76-1F49A7D1477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TW" sz="1400"/>
          </a:p>
        </p:txBody>
      </p:sp>
      <p:sp>
        <p:nvSpPr>
          <p:cNvPr id="20582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19075" y="500063"/>
            <a:ext cx="8709025" cy="5461000"/>
          </a:xfrm>
        </p:spPr>
        <p:txBody>
          <a:bodyPr/>
          <a:lstStyle/>
          <a:p>
            <a:pPr marL="285750" indent="-285750" eaLnBrk="1" hangingPunct="1">
              <a:spcBef>
                <a:spcPct val="60000"/>
              </a:spcBef>
              <a:defRPr/>
            </a:pPr>
            <a:r>
              <a:rPr lang="en-US" altLang="zh-TW" sz="2800" dirty="0"/>
              <a:t>Kernel-level threads are </a:t>
            </a:r>
            <a:r>
              <a:rPr lang="en-US" altLang="zh-TW" sz="2800" b="1" dirty="0">
                <a:solidFill>
                  <a:srgbClr val="FF0000"/>
                </a:solidFill>
              </a:rPr>
              <a:t>multiplexed</a:t>
            </a:r>
            <a:r>
              <a:rPr lang="en-US" altLang="zh-TW" sz="2800" dirty="0"/>
              <a:t> on the processors. By request, a thread can also be </a:t>
            </a:r>
            <a:r>
              <a:rPr lang="en-US" altLang="zh-TW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pinned</a:t>
            </a:r>
            <a:r>
              <a:rPr lang="en-US" altLang="zh-TW" sz="2800" dirty="0">
                <a:solidFill>
                  <a:srgbClr val="FFCC00"/>
                </a:solidFill>
              </a:rPr>
              <a:t> </a:t>
            </a:r>
            <a:r>
              <a:rPr lang="en-US" altLang="zh-TW" sz="2800" dirty="0"/>
              <a:t>to a processor.</a:t>
            </a:r>
          </a:p>
          <a:p>
            <a:pPr marL="285750" indent="-285750" eaLnBrk="1" hangingPunct="1">
              <a:spcBef>
                <a:spcPct val="60000"/>
              </a:spcBef>
              <a:defRPr/>
            </a:pPr>
            <a:r>
              <a:rPr lang="en-US" altLang="zh-TW" sz="3100" dirty="0"/>
              <a:t>Each LWP is connected exactly one kernel-level thread, whereas </a:t>
            </a:r>
            <a:r>
              <a:rPr lang="en-US" altLang="zh-TW" sz="3100" dirty="0">
                <a:solidFill>
                  <a:srgbClr val="FF0000"/>
                </a:solidFill>
              </a:rPr>
              <a:t>each user-level thread is independent of the kernel</a:t>
            </a:r>
            <a:r>
              <a:rPr lang="en-US" altLang="zh-TW" sz="3100" u="sng" dirty="0"/>
              <a:t>.</a:t>
            </a:r>
            <a:endParaRPr lang="en-US" altLang="zh-TW" sz="3100" dirty="0"/>
          </a:p>
          <a:p>
            <a:pPr marL="285750" indent="-285750" eaLnBrk="1" hangingPunct="1">
              <a:spcBef>
                <a:spcPct val="60000"/>
              </a:spcBef>
              <a:defRPr/>
            </a:pPr>
            <a:r>
              <a:rPr lang="en-US" altLang="zh-TW" sz="3100" dirty="0"/>
              <a:t>There may be many LWPs in a task, but they are needed only when threads need to communicate with the kernel.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5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5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7E59579-4AEA-B446-8BC3-9099469F6DFB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593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593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D5F9414-0191-49D0-B502-43F8892FAAD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TW" sz="1400"/>
          </a:p>
        </p:txBody>
      </p:sp>
      <p:sp>
        <p:nvSpPr>
          <p:cNvPr id="109570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03200" y="323850"/>
            <a:ext cx="8940800" cy="5883275"/>
          </a:xfrm>
        </p:spPr>
        <p:txBody>
          <a:bodyPr/>
          <a:lstStyle/>
          <a:p>
            <a:pPr marL="285750" indent="-285750" eaLnBrk="1" hangingPunct="1">
              <a:spcBef>
                <a:spcPct val="50000"/>
              </a:spcBef>
            </a:pPr>
            <a:r>
              <a:rPr lang="en-US" altLang="zh-TW" sz="2600"/>
              <a:t>The threads library </a:t>
            </a:r>
            <a:r>
              <a:rPr lang="en-US" altLang="zh-TW" sz="2600">
                <a:solidFill>
                  <a:srgbClr val="FF0000"/>
                </a:solidFill>
              </a:rPr>
              <a:t>dynamically adjusts the number of LWPs in the pool</a:t>
            </a:r>
            <a:r>
              <a:rPr lang="en-US" altLang="zh-TW" sz="2600"/>
              <a:t> to ensure that the best performance for the application. </a:t>
            </a:r>
          </a:p>
          <a:p>
            <a:pPr marL="685800" lvl="1" indent="-228600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en-US" altLang="zh-TW" sz="2600"/>
              <a:t>If all the LWPs in a process are blocked and there are other threads that are able to run, the threads library automatically </a:t>
            </a:r>
            <a:r>
              <a:rPr lang="en-US" altLang="zh-TW" sz="2600">
                <a:solidFill>
                  <a:srgbClr val="FF0000"/>
                </a:solidFill>
              </a:rPr>
              <a:t>creates another LWP</a:t>
            </a:r>
            <a:r>
              <a:rPr lang="en-US" altLang="zh-TW" sz="2600"/>
              <a:t> to be assigned to a waiting thread.</a:t>
            </a:r>
          </a:p>
          <a:p>
            <a:pPr marL="285750" indent="-285750" eaLnBrk="1" hangingPunct="1">
              <a:spcBef>
                <a:spcPct val="50000"/>
              </a:spcBef>
            </a:pPr>
            <a:r>
              <a:rPr lang="en-US" altLang="zh-TW" sz="2600"/>
              <a:t>With Solaris 2, </a:t>
            </a:r>
            <a:r>
              <a:rPr lang="en-US" altLang="zh-TW" sz="2600">
                <a:solidFill>
                  <a:srgbClr val="FF0000"/>
                </a:solidFill>
              </a:rPr>
              <a:t>a task no longer must block while waiting for I/O to complete.</a:t>
            </a:r>
            <a:r>
              <a:rPr lang="en-US" altLang="zh-TW" sz="2600"/>
              <a:t> The task may have multiple LWPs. If one block, the other may continue to run.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1EDB972-6FFD-C847-85B6-8743921F193D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6041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6042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597C6E-2DBC-403E-8E28-130A5A00BC0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TW" sz="1400"/>
          </a:p>
        </p:txBody>
      </p:sp>
      <p:sp>
        <p:nvSpPr>
          <p:cNvPr id="11059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/>
          </p:nvPr>
        </p:nvSpPr>
        <p:spPr>
          <a:xfrm>
            <a:off x="330200" y="109538"/>
            <a:ext cx="8582025" cy="6172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b="1" dirty="0">
                <a:solidFill>
                  <a:srgbClr val="FF0000"/>
                </a:solidFill>
              </a:rPr>
              <a:t>Data structures for threads on Solaris 2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en-US" altLang="zh-TW" sz="2800" dirty="0"/>
              <a:t>A kernel thread has only a small data structure and a stack. </a:t>
            </a:r>
            <a:r>
              <a:rPr lang="en-US" altLang="zh-TW" sz="2800" dirty="0">
                <a:solidFill>
                  <a:srgbClr val="FF0000"/>
                </a:solidFill>
              </a:rPr>
              <a:t>Switching between kernel threads does not require changing memory access information, and thus is relative fast</a:t>
            </a:r>
            <a:r>
              <a:rPr lang="en-US" altLang="zh-TW" sz="2800" dirty="0"/>
              <a:t>.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en-US" altLang="zh-TW" sz="2800" dirty="0"/>
              <a:t>An </a:t>
            </a:r>
            <a:r>
              <a:rPr lang="en-US" altLang="zh-TW" sz="2800" dirty="0">
                <a:solidFill>
                  <a:srgbClr val="FF0000"/>
                </a:solidFill>
              </a:rPr>
              <a:t>LWP contains a PCB</a:t>
            </a:r>
            <a:r>
              <a:rPr lang="en-US" altLang="zh-TW" sz="2800" dirty="0"/>
              <a:t> with register data (</a:t>
            </a:r>
            <a:r>
              <a:rPr lang="en-US" altLang="zh-TW" sz="2800" dirty="0">
                <a:solidFill>
                  <a:srgbClr val="FF0000"/>
                </a:solidFill>
              </a:rPr>
              <a:t>user level</a:t>
            </a:r>
            <a:r>
              <a:rPr lang="en-US" altLang="zh-TW" sz="2800" dirty="0"/>
              <a:t>), accounting and memory information. (kernel data structure)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en-US" altLang="zh-TW" sz="2800" dirty="0"/>
              <a:t>A user-level thread contains a thread ID, register set (a program counter and stack pointer), stack, and priority. </a:t>
            </a:r>
            <a:r>
              <a:rPr lang="en-US" altLang="zh-TW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 kernel resources are required</a:t>
            </a:r>
            <a:r>
              <a:rPr lang="en-US" altLang="zh-TW" sz="2800" dirty="0"/>
              <a:t>. </a:t>
            </a:r>
            <a:r>
              <a:rPr lang="en-US" altLang="zh-TW" sz="2800" dirty="0">
                <a:solidFill>
                  <a:srgbClr val="FF0000"/>
                </a:solidFill>
              </a:rPr>
              <a:t>Switching between user-level threads is fast.</a:t>
            </a:r>
            <a:r>
              <a:rPr lang="en-US" altLang="zh-TW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1EDB972-6FFD-C847-85B6-8743921F193D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6041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6042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597C6E-2DBC-403E-8E28-130A5A00BC0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zh-TW" sz="1400"/>
          </a:p>
        </p:txBody>
      </p:sp>
      <p:sp>
        <p:nvSpPr>
          <p:cNvPr id="11059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/>
          </p:nvPr>
        </p:nvSpPr>
        <p:spPr>
          <a:xfrm>
            <a:off x="330200" y="109538"/>
            <a:ext cx="8582025" cy="6172200"/>
          </a:xfrm>
        </p:spPr>
        <p:txBody>
          <a:bodyPr/>
          <a:lstStyle/>
          <a:p>
            <a:pPr algn="ctr" eaLnBrk="1" hangingPunct="1">
              <a:buNone/>
              <a:defRPr/>
            </a:pPr>
            <a:r>
              <a:rPr lang="en-US" altLang="zh-TW" sz="2800" b="1" dirty="0">
                <a:solidFill>
                  <a:srgbClr val="FF0000"/>
                </a:solidFill>
              </a:rPr>
              <a:t>Multiple-choice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Questions 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000" dirty="0" smtClean="0"/>
              <a:t>A </a:t>
            </a:r>
            <a:r>
              <a:rPr lang="en-US" altLang="zh-TW" sz="2000" dirty="0"/>
              <a:t>device driver is: (a) a type of system call; (b) a feature of a hardware device that helps it interact with the OS; (c) a peripheral hardware component of a computer system; (d) a software routine that interfaces with a hardware device</a:t>
            </a:r>
            <a:r>
              <a:rPr lang="en-US" altLang="zh-TW" sz="2000" dirty="0" smtClean="0"/>
              <a:t>.</a:t>
            </a:r>
            <a:endParaRPr lang="en-US" altLang="zh-TW" sz="2000" dirty="0"/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000" dirty="0" smtClean="0"/>
              <a:t>Which </a:t>
            </a:r>
            <a:r>
              <a:rPr lang="en-US" altLang="zh-TW" sz="2000" dirty="0"/>
              <a:t>of the following would lead you to believe that a given system is an SMP-type system? (a) Each processor is assigned a specific task; (b) There is a master–slave relationship between the processors; (c) Each processor performs all tasks within the operating system. (d) None of the above</a:t>
            </a:r>
            <a:r>
              <a:rPr lang="en-US" altLang="zh-TW" sz="2000" dirty="0" smtClean="0"/>
              <a:t>.</a:t>
            </a:r>
            <a:endParaRPr lang="en-US" altLang="zh-TW" sz="2000" dirty="0"/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000" dirty="0" smtClean="0"/>
              <a:t>The </a:t>
            </a:r>
            <a:r>
              <a:rPr lang="en-US" altLang="zh-TW" sz="2000" dirty="0"/>
              <a:t>two separate modes of operating in a system are: (a) supervisor mode and system mode; (b) user mode and kernel mode; (c) physical mode and logical mode; (d) kernel mode and privileged mode</a:t>
            </a:r>
            <a:r>
              <a:rPr lang="en-US" altLang="zh-TW" sz="2000" dirty="0" smtClean="0"/>
              <a:t>.</a:t>
            </a:r>
            <a:endParaRPr lang="en-US" altLang="zh-TW" sz="2000" dirty="0"/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000" dirty="0" smtClean="0"/>
              <a:t>When </a:t>
            </a:r>
            <a:r>
              <a:rPr lang="en-US" altLang="zh-TW" sz="2000" dirty="0"/>
              <a:t>a process creates a new process using the fork() operation, which of the following states is shared between the parent process and the child process? (a) stack; (b) heap; (c) shared memory segments; (d) all of the above</a:t>
            </a:r>
            <a:r>
              <a:rPr lang="en-US" altLang="zh-TW" sz="2000" dirty="0" smtClean="0"/>
              <a:t>.</a:t>
            </a:r>
            <a:endParaRPr lang="en-US" altLang="zh-TW" sz="2000" dirty="0"/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632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1EDB972-6FFD-C847-85B6-8743921F193D}" type="datetime1">
              <a:rPr kumimoji="0" lang="zh-TW" altLang="en-US" sz="1400" smtClean="0"/>
              <a:t>2018/3/12</a:t>
            </a:fld>
            <a:endParaRPr kumimoji="0" lang="en-US" altLang="zh-TW" sz="1400"/>
          </a:p>
        </p:txBody>
      </p:sp>
      <p:sp>
        <p:nvSpPr>
          <p:cNvPr id="6041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/>
              <a:t>OS4-2018</a:t>
            </a:r>
          </a:p>
        </p:txBody>
      </p:sp>
      <p:sp>
        <p:nvSpPr>
          <p:cNvPr id="6042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597C6E-2DBC-403E-8E28-130A5A00BC0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zh-TW" sz="1400"/>
          </a:p>
        </p:txBody>
      </p:sp>
      <p:sp>
        <p:nvSpPr>
          <p:cNvPr id="11059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/>
          </p:nvPr>
        </p:nvSpPr>
        <p:spPr>
          <a:xfrm>
            <a:off x="330200" y="109538"/>
            <a:ext cx="8582025" cy="6172200"/>
          </a:xfrm>
        </p:spPr>
        <p:txBody>
          <a:bodyPr/>
          <a:lstStyle/>
          <a:p>
            <a:pPr algn="ctr" eaLnBrk="1" hangingPunct="1">
              <a:buNone/>
              <a:defRPr/>
            </a:pPr>
            <a:r>
              <a:rPr lang="en-US" altLang="zh-TW" sz="2800" b="1" dirty="0">
                <a:solidFill>
                  <a:srgbClr val="FF0000"/>
                </a:solidFill>
              </a:rPr>
              <a:t>True or False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200" dirty="0" smtClean="0"/>
              <a:t>The </a:t>
            </a:r>
            <a:r>
              <a:rPr lang="en-US" altLang="zh-TW" sz="2200" dirty="0"/>
              <a:t>operating system kernel consists of all system and application programs in a computer.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200" dirty="0" smtClean="0"/>
              <a:t>There </a:t>
            </a:r>
            <a:r>
              <a:rPr lang="en-US" altLang="zh-TW" sz="2200" dirty="0"/>
              <a:t>is no universally accepted definition of an operating system</a:t>
            </a:r>
            <a:r>
              <a:rPr lang="en-US" altLang="zh-TW" sz="2200" dirty="0" smtClean="0"/>
              <a:t>.</a:t>
            </a:r>
            <a:endParaRPr lang="en-US" altLang="zh-TW" sz="2200" dirty="0"/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200" dirty="0" smtClean="0"/>
              <a:t>Microkernels </a:t>
            </a:r>
            <a:r>
              <a:rPr lang="en-US" altLang="zh-TW" sz="2200" dirty="0"/>
              <a:t>use shared memory for communication.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200" dirty="0" smtClean="0"/>
              <a:t>One </a:t>
            </a:r>
            <a:r>
              <a:rPr lang="en-US" altLang="zh-TW" sz="2200" dirty="0"/>
              <a:t>important principle is the separation of policy from mechanism. Policies determine how to do something; mechanisms determine what will be done</a:t>
            </a:r>
            <a:r>
              <a:rPr lang="en-US" altLang="zh-TW" sz="2200" dirty="0" smtClean="0"/>
              <a:t>.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200" dirty="0" smtClean="0"/>
              <a:t>The </a:t>
            </a:r>
            <a:r>
              <a:rPr lang="en-US" altLang="zh-TW" sz="2200" dirty="0"/>
              <a:t>POSIX provides a portion of the system call interface for UNIX and Linux. Standard C library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200" dirty="0" smtClean="0"/>
              <a:t>Mac </a:t>
            </a:r>
            <a:r>
              <a:rPr lang="en-US" altLang="zh-TW" sz="2200" dirty="0"/>
              <a:t>OS X is a hybrid system consisting of both the Mach microkernel and BSD UNIX.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r>
              <a:rPr lang="en-US" altLang="zh-TW" sz="2200" dirty="0" smtClean="0"/>
              <a:t>The </a:t>
            </a:r>
            <a:r>
              <a:rPr lang="en-US" altLang="zh-TW" sz="2200" dirty="0"/>
              <a:t>exec() system call creates a new process.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endParaRPr lang="en-US" altLang="zh-TW" sz="2400" dirty="0"/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  <a:defRPr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9592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2257</TotalTime>
  <Words>3751</Words>
  <Application>Microsoft Office PowerPoint</Application>
  <PresentationFormat>如螢幕大小 (4:3)</PresentationFormat>
  <Paragraphs>547</Paragraphs>
  <Slides>58</Slides>
  <Notes>56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9" baseType="lpstr">
      <vt:lpstr>Adobe Gothic Std B</vt:lpstr>
      <vt:lpstr>MS PGothic</vt:lpstr>
      <vt:lpstr>新細明體</vt:lpstr>
      <vt:lpstr>Arial</vt:lpstr>
      <vt:lpstr>Helvetica</vt:lpstr>
      <vt:lpstr>Symbol</vt:lpstr>
      <vt:lpstr>Tahoma</vt:lpstr>
      <vt:lpstr>Times New Roman</vt:lpstr>
      <vt:lpstr>Webdings</vt:lpstr>
      <vt:lpstr>Wingdings</vt:lpstr>
      <vt:lpstr>Blueprint</vt:lpstr>
      <vt:lpstr>Chapter 4   Threads</vt:lpstr>
      <vt:lpstr>Outline</vt:lpstr>
      <vt:lpstr>OBJECTIVES</vt:lpstr>
      <vt:lpstr>Overview</vt:lpstr>
      <vt:lpstr>Single and Multithreaded Processes</vt:lpstr>
      <vt:lpstr>Multithreaded Server Architecture</vt:lpstr>
      <vt:lpstr>Benefits (1)</vt:lpstr>
      <vt:lpstr>Benefits (2)</vt:lpstr>
      <vt:lpstr>Multicore Programming</vt:lpstr>
      <vt:lpstr>AMDAHL’S LAW</vt:lpstr>
      <vt:lpstr>AMDAHL’S LAW</vt:lpstr>
      <vt:lpstr>Challenges in Multicore Programming</vt:lpstr>
      <vt:lpstr>User Threads</vt:lpstr>
      <vt:lpstr>Kernel Threads</vt:lpstr>
      <vt:lpstr>Multithreading Models (1)</vt:lpstr>
      <vt:lpstr>Multithreading Models (2)</vt:lpstr>
      <vt:lpstr>Multithreading Models (3)</vt:lpstr>
      <vt:lpstr>Many-to-One</vt:lpstr>
      <vt:lpstr>One-to-One</vt:lpstr>
      <vt:lpstr>Many-to-Many</vt:lpstr>
      <vt:lpstr>Two-level Model</vt:lpstr>
      <vt:lpstr>Two-level Model</vt:lpstr>
      <vt:lpstr>Pthreads</vt:lpstr>
      <vt:lpstr>Pthreads Example</vt:lpstr>
      <vt:lpstr>Pthreads Example (Cont.)</vt:lpstr>
      <vt:lpstr>Java Threads</vt:lpstr>
      <vt:lpstr>Java Thread States (1)</vt:lpstr>
      <vt:lpstr>Java Thread States (2)</vt:lpstr>
      <vt:lpstr>Java Thread and the JVM</vt:lpstr>
      <vt:lpstr>The JVM and Host OS</vt:lpstr>
      <vt:lpstr>Implicit Threading</vt:lpstr>
      <vt:lpstr>Thread Pools</vt:lpstr>
      <vt:lpstr>OpenMP</vt:lpstr>
      <vt:lpstr>OpenMP</vt:lpstr>
      <vt:lpstr>Grand Central Dispatch - Apple </vt:lpstr>
      <vt:lpstr>Grand Central Dispatch - Apple </vt:lpstr>
      <vt:lpstr>Grand Central Dispatch - Apple </vt:lpstr>
      <vt:lpstr>Threading Issues</vt:lpstr>
      <vt:lpstr>Semantics of fork() and exec()</vt:lpstr>
      <vt:lpstr>Signal Handling</vt:lpstr>
      <vt:lpstr>Signal Handling</vt:lpstr>
      <vt:lpstr>Thread Cancellation</vt:lpstr>
      <vt:lpstr>Thread Cancellation</vt:lpstr>
      <vt:lpstr>Thread-Local Storage</vt:lpstr>
      <vt:lpstr>Scheduler Activations</vt:lpstr>
      <vt:lpstr>Windows Threads</vt:lpstr>
      <vt:lpstr>Windows Threads</vt:lpstr>
      <vt:lpstr>Linux Threads</vt:lpstr>
      <vt:lpstr>Linux Threads</vt:lpstr>
      <vt:lpstr>Solaris 2 Threads (1)</vt:lpstr>
      <vt:lpstr>Solaris 2 Threads (2)</vt:lpstr>
      <vt:lpstr>Solaris 2 Threads (3)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5.01</dc:title>
  <dc:creator>Jia-Shung WANG</dc:creator>
  <cp:lastModifiedBy>JS</cp:lastModifiedBy>
  <cp:revision>205</cp:revision>
  <cp:lastPrinted>2018-03-12T06:02:59Z</cp:lastPrinted>
  <dcterms:created xsi:type="dcterms:W3CDTF">1999-07-15T18:20:03Z</dcterms:created>
  <dcterms:modified xsi:type="dcterms:W3CDTF">2018-03-12T06:03:01Z</dcterms:modified>
</cp:coreProperties>
</file>