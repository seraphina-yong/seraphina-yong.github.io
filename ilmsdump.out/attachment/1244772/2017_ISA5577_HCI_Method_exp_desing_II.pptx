
<file path=[Content_Types].xml><?xml version="1.0" encoding="utf-8"?>
<Types xmlns="http://schemas.openxmlformats.org/package/2006/content-types">
  <Default Extension="xml" ContentType="application/xml"/>
  <Default Extension="jpeg" ContentType="image/jpeg"/>
  <Default Extension="png" ContentType="image/png"/>
  <Default Extension="rels" ContentType="application/vnd.openxmlformats-package.relationship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handoutMasterIdLst>
    <p:handoutMasterId r:id="rId25"/>
  </p:handoutMasterIdLst>
  <p:sldIdLst>
    <p:sldId id="256" r:id="rId2"/>
    <p:sldId id="257" r:id="rId3"/>
    <p:sldId id="258" r:id="rId4"/>
    <p:sldId id="259" r:id="rId5"/>
    <p:sldId id="260" r:id="rId6"/>
    <p:sldId id="261" r:id="rId7"/>
    <p:sldId id="262" r:id="rId8"/>
    <p:sldId id="263" r:id="rId9"/>
    <p:sldId id="266" r:id="rId10"/>
    <p:sldId id="264" r:id="rId11"/>
    <p:sldId id="267" r:id="rId12"/>
    <p:sldId id="269" r:id="rId13"/>
    <p:sldId id="268" r:id="rId14"/>
    <p:sldId id="271" r:id="rId15"/>
    <p:sldId id="272" r:id="rId16"/>
    <p:sldId id="270" r:id="rId17"/>
    <p:sldId id="273" r:id="rId18"/>
    <p:sldId id="274" r:id="rId19"/>
    <p:sldId id="275" r:id="rId20"/>
    <p:sldId id="276" r:id="rId21"/>
    <p:sldId id="277" r:id="rId22"/>
    <p:sldId id="278" r:id="rId2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433" autoAdjust="0"/>
    <p:restoredTop sz="94674"/>
  </p:normalViewPr>
  <p:slideViewPr>
    <p:cSldViewPr snapToGrid="0" snapToObjects="1">
      <p:cViewPr varScale="1">
        <p:scale>
          <a:sx n="124" d="100"/>
          <a:sy n="124" d="100"/>
        </p:scale>
        <p:origin x="1640" y="168"/>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handoutMaster" Target="handoutMasters/handout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938E22B1-A489-724B-AADE-928039389399}" type="datetimeFigureOut">
              <a:rPr lang="en-US" smtClean="0"/>
              <a:t>10/19/17</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E4604B55-90AA-4E48-9675-DA460DBCD49A}" type="slidenum">
              <a:rPr lang="en-US" smtClean="0"/>
              <a:t>‹#›</a:t>
            </a:fld>
            <a:endParaRPr lang="en-US"/>
          </a:p>
        </p:txBody>
      </p:sp>
    </p:spTree>
    <p:extLst>
      <p:ext uri="{BB962C8B-B14F-4D97-AF65-F5344CB8AC3E}">
        <p14:creationId xmlns:p14="http://schemas.microsoft.com/office/powerpoint/2010/main" val="55964568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EE4CD06-6360-1344-8231-A755EBC9259C}" type="datetimeFigureOut">
              <a:rPr lang="en-US" smtClean="0"/>
              <a:t>10/19/17</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195370C-E253-5B4A-BEBB-54530F2F6723}" type="slidenum">
              <a:rPr lang="en-US" smtClean="0"/>
              <a:t>‹#›</a:t>
            </a:fld>
            <a:endParaRPr lang="en-US"/>
          </a:p>
        </p:txBody>
      </p:sp>
    </p:spTree>
    <p:extLst>
      <p:ext uri="{BB962C8B-B14F-4D97-AF65-F5344CB8AC3E}">
        <p14:creationId xmlns:p14="http://schemas.microsoft.com/office/powerpoint/2010/main" val="3623266093"/>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7"/>
          <p:cNvSpPr>
            <a:spLocks noGrp="1" noChangeArrowheads="1"/>
          </p:cNvSpPr>
          <p:nvPr>
            <p:ph type="sldNum" sz="quarter" idx="4294967295"/>
          </p:nvPr>
        </p:nvSpPr>
        <p:spPr bwMode="auto">
          <a:xfrm>
            <a:off x="3884011" y="8685556"/>
            <a:ext cx="2972817" cy="456370"/>
          </a:xfrm>
          <a:prstGeom prst="rect">
            <a:avLst/>
          </a:prstGeom>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b="1">
                <a:solidFill>
                  <a:schemeClr val="tx1"/>
                </a:solidFill>
                <a:latin typeface="Neutra Text" charset="0"/>
                <a:ea typeface="新細明體" charset="0"/>
              </a:defRPr>
            </a:lvl1pPr>
            <a:lvl2pPr marL="742950" indent="-285750" eaLnBrk="0" hangingPunct="0">
              <a:defRPr b="1">
                <a:solidFill>
                  <a:schemeClr val="tx1"/>
                </a:solidFill>
                <a:latin typeface="Neutra Text" charset="0"/>
                <a:ea typeface="新細明體" charset="0"/>
              </a:defRPr>
            </a:lvl2pPr>
            <a:lvl3pPr marL="1143000" indent="-228600" eaLnBrk="0" hangingPunct="0">
              <a:defRPr b="1">
                <a:solidFill>
                  <a:schemeClr val="tx1"/>
                </a:solidFill>
                <a:latin typeface="Neutra Text" charset="0"/>
                <a:ea typeface="新細明體" charset="0"/>
              </a:defRPr>
            </a:lvl3pPr>
            <a:lvl4pPr marL="1600200" indent="-228600" eaLnBrk="0" hangingPunct="0">
              <a:defRPr b="1">
                <a:solidFill>
                  <a:schemeClr val="tx1"/>
                </a:solidFill>
                <a:latin typeface="Neutra Text" charset="0"/>
                <a:ea typeface="新細明體" charset="0"/>
              </a:defRPr>
            </a:lvl4pPr>
            <a:lvl5pPr marL="2057400" indent="-228600" eaLnBrk="0" hangingPunct="0">
              <a:defRPr b="1">
                <a:solidFill>
                  <a:schemeClr val="tx1"/>
                </a:solidFill>
                <a:latin typeface="Neutra Text" charset="0"/>
                <a:ea typeface="新細明體" charset="0"/>
              </a:defRPr>
            </a:lvl5pPr>
            <a:lvl6pPr marL="2514600" indent="-228600" eaLnBrk="0" fontAlgn="base" hangingPunct="0">
              <a:spcBef>
                <a:spcPct val="0"/>
              </a:spcBef>
              <a:spcAft>
                <a:spcPct val="0"/>
              </a:spcAft>
              <a:defRPr b="1">
                <a:solidFill>
                  <a:schemeClr val="tx1"/>
                </a:solidFill>
                <a:latin typeface="Neutra Text" charset="0"/>
                <a:ea typeface="新細明體" charset="0"/>
              </a:defRPr>
            </a:lvl6pPr>
            <a:lvl7pPr marL="2971800" indent="-228600" eaLnBrk="0" fontAlgn="base" hangingPunct="0">
              <a:spcBef>
                <a:spcPct val="0"/>
              </a:spcBef>
              <a:spcAft>
                <a:spcPct val="0"/>
              </a:spcAft>
              <a:defRPr b="1">
                <a:solidFill>
                  <a:schemeClr val="tx1"/>
                </a:solidFill>
                <a:latin typeface="Neutra Text" charset="0"/>
                <a:ea typeface="新細明體" charset="0"/>
              </a:defRPr>
            </a:lvl7pPr>
            <a:lvl8pPr marL="3429000" indent="-228600" eaLnBrk="0" fontAlgn="base" hangingPunct="0">
              <a:spcBef>
                <a:spcPct val="0"/>
              </a:spcBef>
              <a:spcAft>
                <a:spcPct val="0"/>
              </a:spcAft>
              <a:defRPr b="1">
                <a:solidFill>
                  <a:schemeClr val="tx1"/>
                </a:solidFill>
                <a:latin typeface="Neutra Text" charset="0"/>
                <a:ea typeface="新細明體" charset="0"/>
              </a:defRPr>
            </a:lvl8pPr>
            <a:lvl9pPr marL="3886200" indent="-228600" eaLnBrk="0" fontAlgn="base" hangingPunct="0">
              <a:spcBef>
                <a:spcPct val="0"/>
              </a:spcBef>
              <a:spcAft>
                <a:spcPct val="0"/>
              </a:spcAft>
              <a:defRPr b="1">
                <a:solidFill>
                  <a:schemeClr val="tx1"/>
                </a:solidFill>
                <a:latin typeface="Neutra Text" charset="0"/>
                <a:ea typeface="新細明體" charset="0"/>
              </a:defRPr>
            </a:lvl9pPr>
          </a:lstStyle>
          <a:p>
            <a:fld id="{0682E181-A9DE-394C-9A76-F1FAB0434CC1}" type="slidenum">
              <a:rPr lang="en-US" altLang="zh-TW"/>
              <a:pPr/>
              <a:t>12</a:t>
            </a:fld>
            <a:endParaRPr lang="en-US" altLang="zh-TW"/>
          </a:p>
        </p:txBody>
      </p:sp>
      <p:sp>
        <p:nvSpPr>
          <p:cNvPr id="112643" name="Rectangle 2"/>
          <p:cNvSpPr>
            <a:spLocks noGrp="1" noRot="1" noChangeAspect="1" noChangeArrowheads="1" noTextEdit="1"/>
          </p:cNvSpPr>
          <p:nvPr>
            <p:ph type="sldImg"/>
          </p:nvPr>
        </p:nvSpPr>
        <p:spPr>
          <a:xfrm>
            <a:off x="1146175" y="688975"/>
            <a:ext cx="4567238" cy="3427413"/>
          </a:xfrm>
          <a:ln/>
        </p:spPr>
      </p:sp>
      <p:sp>
        <p:nvSpPr>
          <p:cNvPr id="112644" name="Rectangle 3"/>
          <p:cNvSpPr>
            <a:spLocks noGrp="1" noChangeArrowheads="1"/>
          </p:cNvSpPr>
          <p:nvPr>
            <p:ph type="body" idx="1"/>
          </p:nvPr>
        </p:nvSpPr>
        <p:spPr>
          <a:xfrm>
            <a:off x="913541" y="4341741"/>
            <a:ext cx="5030920" cy="4113555"/>
          </a:xfrm>
          <a:noFill/>
          <a:ln/>
          <a:extLst>
            <a:ext uri="{FAA26D3D-D897-4be2-8F04-BA451C77F1D7}">
              <ma14:placeholderFlag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5044" tIns="47521" rIns="95044" bIns="47521"/>
          <a:lstStyle/>
          <a:p>
            <a:endParaRPr lang="zh-TW" altLang="en-US">
              <a:latin typeface="Neutra Text"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6"/>
          <p:cNvSpPr>
            <a:spLocks noGrp="1" noChangeArrowheads="1"/>
          </p:cNvSpPr>
          <p:nvPr>
            <p:ph type="ftr" sz="quarter" idx="4"/>
          </p:nvPr>
        </p:nvSpPr>
        <p:spPr>
          <a:ln/>
        </p:spPr>
        <p:txBody>
          <a:bodyPr/>
          <a:lstStyle/>
          <a:p>
            <a:r>
              <a:rPr lang="en-US" altLang="zh-TW"/>
              <a:t>CHI 2007 Course Notes</a:t>
            </a:r>
          </a:p>
        </p:txBody>
      </p:sp>
      <p:sp>
        <p:nvSpPr>
          <p:cNvPr id="7" name="Rectangle 7"/>
          <p:cNvSpPr>
            <a:spLocks noGrp="1" noChangeArrowheads="1"/>
          </p:cNvSpPr>
          <p:nvPr>
            <p:ph type="sldNum" sz="quarter" idx="5"/>
          </p:nvPr>
        </p:nvSpPr>
        <p:spPr>
          <a:ln/>
        </p:spPr>
        <p:txBody>
          <a:bodyPr/>
          <a:lstStyle/>
          <a:p>
            <a:fld id="{346D5C75-E529-314B-93D1-FB234371C9E0}" type="slidenum">
              <a:rPr lang="en-US" altLang="zh-TW"/>
              <a:pPr/>
              <a:t>14</a:t>
            </a:fld>
            <a:endParaRPr lang="en-US" altLang="zh-TW"/>
          </a:p>
        </p:txBody>
      </p:sp>
      <p:sp>
        <p:nvSpPr>
          <p:cNvPr id="542722" name="Rectangle 2"/>
          <p:cNvSpPr>
            <a:spLocks noGrp="1" noRot="1" noChangeAspect="1" noChangeArrowheads="1" noTextEdit="1"/>
          </p:cNvSpPr>
          <p:nvPr>
            <p:ph type="sldImg"/>
          </p:nvPr>
        </p:nvSpPr>
        <p:spPr bwMode="auto">
          <a:xfrm>
            <a:off x="1143000" y="684213"/>
            <a:ext cx="4573588" cy="3430587"/>
          </a:xfrm>
          <a:prstGeom prst="rect">
            <a:avLst/>
          </a:prstGeom>
          <a:solidFill>
            <a:srgbClr val="FFFFFF"/>
          </a:solidFill>
          <a:ln>
            <a:solidFill>
              <a:srgbClr val="000000"/>
            </a:solidFill>
            <a:miter lim="800000"/>
            <a:headEnd/>
            <a:tailEnd/>
          </a:ln>
          <a:extLst>
            <a:ext uri="{FAA26D3D-D897-4be2-8F04-BA451C77F1D7}">
              <ma14:placeholderFlag xmlns:ma14="http://schemas.microsoft.com/office/mac/drawingml/2011/main" val="1"/>
            </a:ext>
          </a:extLst>
        </p:spPr>
      </p:sp>
      <p:sp>
        <p:nvSpPr>
          <p:cNvPr id="542723" name="Rectangle 3"/>
          <p:cNvSpPr>
            <a:spLocks noGrp="1" noChangeArrowheads="1"/>
          </p:cNvSpPr>
          <p:nvPr>
            <p:ph type="body" idx="1"/>
          </p:nvPr>
        </p:nvSpPr>
        <p:spPr bwMode="auto">
          <a:xfrm>
            <a:off x="686098" y="4343703"/>
            <a:ext cx="5485805" cy="4115405"/>
          </a:xfrm>
          <a:prstGeom prst="rect">
            <a:avLst/>
          </a:prstGeom>
          <a:solidFill>
            <a:srgbClr val="FFFFFF"/>
          </a:solidFill>
          <a:ln>
            <a:solidFill>
              <a:srgbClr val="000000"/>
            </a:solidFill>
            <a:miter lim="800000"/>
            <a:headEnd/>
            <a:tailEnd/>
          </a:ln>
          <a:extLst>
            <a:ext uri="{FAA26D3D-D897-4be2-8F04-BA451C77F1D7}">
              <ma14:placeholderFlag xmlns:ma14="http://schemas.microsoft.com/office/mac/drawingml/2011/main" val="1"/>
            </a:ext>
          </a:extLst>
        </p:spPr>
        <p:txBody>
          <a:bodyPr/>
          <a:lstStyle/>
          <a:p>
            <a:endParaRPr lang="en-GB"/>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6"/>
          <p:cNvSpPr>
            <a:spLocks noGrp="1" noChangeArrowheads="1"/>
          </p:cNvSpPr>
          <p:nvPr>
            <p:ph type="ftr" sz="quarter" idx="4"/>
          </p:nvPr>
        </p:nvSpPr>
        <p:spPr>
          <a:ln/>
        </p:spPr>
        <p:txBody>
          <a:bodyPr/>
          <a:lstStyle/>
          <a:p>
            <a:r>
              <a:rPr lang="en-US" altLang="zh-TW"/>
              <a:t>CHI 2007 Course Notes</a:t>
            </a:r>
          </a:p>
        </p:txBody>
      </p:sp>
      <p:sp>
        <p:nvSpPr>
          <p:cNvPr id="7" name="Rectangle 7"/>
          <p:cNvSpPr>
            <a:spLocks noGrp="1" noChangeArrowheads="1"/>
          </p:cNvSpPr>
          <p:nvPr>
            <p:ph type="sldNum" sz="quarter" idx="5"/>
          </p:nvPr>
        </p:nvSpPr>
        <p:spPr>
          <a:ln/>
        </p:spPr>
        <p:txBody>
          <a:bodyPr/>
          <a:lstStyle/>
          <a:p>
            <a:fld id="{71F76F99-CAEE-0D4C-AB2E-1009603159E9}" type="slidenum">
              <a:rPr lang="en-US" altLang="zh-TW"/>
              <a:pPr/>
              <a:t>15</a:t>
            </a:fld>
            <a:endParaRPr lang="en-US" altLang="zh-TW"/>
          </a:p>
        </p:txBody>
      </p:sp>
      <p:sp>
        <p:nvSpPr>
          <p:cNvPr id="544770" name="Rectangle 2"/>
          <p:cNvSpPr>
            <a:spLocks noGrp="1" noRot="1" noChangeAspect="1" noChangeArrowheads="1" noTextEdit="1"/>
          </p:cNvSpPr>
          <p:nvPr>
            <p:ph type="sldImg"/>
          </p:nvPr>
        </p:nvSpPr>
        <p:spPr bwMode="auto">
          <a:xfrm>
            <a:off x="1143000" y="684213"/>
            <a:ext cx="4573588" cy="3430587"/>
          </a:xfrm>
          <a:prstGeom prst="rect">
            <a:avLst/>
          </a:prstGeom>
          <a:solidFill>
            <a:srgbClr val="FFFFFF"/>
          </a:solidFill>
          <a:ln>
            <a:solidFill>
              <a:srgbClr val="000000"/>
            </a:solidFill>
            <a:miter lim="800000"/>
            <a:headEnd/>
            <a:tailEnd/>
          </a:ln>
          <a:extLst>
            <a:ext uri="{FAA26D3D-D897-4be2-8F04-BA451C77F1D7}">
              <ma14:placeholderFlag xmlns:ma14="http://schemas.microsoft.com/office/mac/drawingml/2011/main" val="1"/>
            </a:ext>
          </a:extLst>
        </p:spPr>
      </p:sp>
      <p:sp>
        <p:nvSpPr>
          <p:cNvPr id="544771" name="Rectangle 3"/>
          <p:cNvSpPr>
            <a:spLocks noGrp="1" noChangeArrowheads="1"/>
          </p:cNvSpPr>
          <p:nvPr>
            <p:ph type="body" idx="1"/>
          </p:nvPr>
        </p:nvSpPr>
        <p:spPr bwMode="auto">
          <a:xfrm>
            <a:off x="686098" y="4343703"/>
            <a:ext cx="5485805" cy="4115405"/>
          </a:xfrm>
          <a:prstGeom prst="rect">
            <a:avLst/>
          </a:prstGeom>
          <a:solidFill>
            <a:srgbClr val="FFFFFF"/>
          </a:solidFill>
          <a:ln>
            <a:solidFill>
              <a:srgbClr val="000000"/>
            </a:solidFill>
            <a:miter lim="800000"/>
            <a:headEnd/>
            <a:tailEnd/>
          </a:ln>
          <a:extLst>
            <a:ext uri="{FAA26D3D-D897-4be2-8F04-BA451C77F1D7}">
              <ma14:placeholderFlag xmlns:ma14="http://schemas.microsoft.com/office/mac/drawingml/2011/main" val="1"/>
            </a:ext>
          </a:extLst>
        </p:spPr>
        <p:txBody>
          <a:bodyPr/>
          <a:lstStyle/>
          <a:p>
            <a:endParaRPr lang="en-GB"/>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6"/>
          <p:cNvSpPr>
            <a:spLocks noGrp="1" noChangeArrowheads="1"/>
          </p:cNvSpPr>
          <p:nvPr>
            <p:ph type="ftr" sz="quarter" idx="4"/>
          </p:nvPr>
        </p:nvSpPr>
        <p:spPr>
          <a:ln/>
        </p:spPr>
        <p:txBody>
          <a:bodyPr/>
          <a:lstStyle/>
          <a:p>
            <a:r>
              <a:rPr lang="en-US" altLang="zh-TW"/>
              <a:t>CHI 2007 Course Notes</a:t>
            </a:r>
          </a:p>
        </p:txBody>
      </p:sp>
      <p:sp>
        <p:nvSpPr>
          <p:cNvPr id="7" name="Rectangle 7"/>
          <p:cNvSpPr>
            <a:spLocks noGrp="1" noChangeArrowheads="1"/>
          </p:cNvSpPr>
          <p:nvPr>
            <p:ph type="sldNum" sz="quarter" idx="5"/>
          </p:nvPr>
        </p:nvSpPr>
        <p:spPr>
          <a:ln/>
        </p:spPr>
        <p:txBody>
          <a:bodyPr/>
          <a:lstStyle/>
          <a:p>
            <a:fld id="{41261B16-3C99-5D48-BF49-C963B534630C}" type="slidenum">
              <a:rPr lang="en-US" altLang="zh-TW"/>
              <a:pPr/>
              <a:t>18</a:t>
            </a:fld>
            <a:endParaRPr lang="en-US" altLang="zh-TW"/>
          </a:p>
        </p:txBody>
      </p:sp>
      <p:sp>
        <p:nvSpPr>
          <p:cNvPr id="546818" name="Rectangle 2"/>
          <p:cNvSpPr>
            <a:spLocks noGrp="1" noRot="1" noChangeAspect="1" noChangeArrowheads="1" noTextEdit="1"/>
          </p:cNvSpPr>
          <p:nvPr>
            <p:ph type="sldImg"/>
          </p:nvPr>
        </p:nvSpPr>
        <p:spPr bwMode="auto">
          <a:xfrm>
            <a:off x="1143000" y="684213"/>
            <a:ext cx="4573588" cy="3430587"/>
          </a:xfrm>
          <a:prstGeom prst="rect">
            <a:avLst/>
          </a:prstGeom>
          <a:solidFill>
            <a:srgbClr val="FFFFFF"/>
          </a:solidFill>
          <a:ln>
            <a:solidFill>
              <a:srgbClr val="000000"/>
            </a:solidFill>
            <a:miter lim="800000"/>
            <a:headEnd/>
            <a:tailEnd/>
          </a:ln>
          <a:extLst>
            <a:ext uri="{FAA26D3D-D897-4be2-8F04-BA451C77F1D7}">
              <ma14:placeholderFlag xmlns:ma14="http://schemas.microsoft.com/office/mac/drawingml/2011/main" val="1"/>
            </a:ext>
          </a:extLst>
        </p:spPr>
      </p:sp>
      <p:sp>
        <p:nvSpPr>
          <p:cNvPr id="546819" name="Rectangle 3"/>
          <p:cNvSpPr>
            <a:spLocks noGrp="1" noChangeArrowheads="1"/>
          </p:cNvSpPr>
          <p:nvPr>
            <p:ph type="body" idx="1"/>
          </p:nvPr>
        </p:nvSpPr>
        <p:spPr bwMode="auto">
          <a:xfrm>
            <a:off x="686098" y="4343703"/>
            <a:ext cx="5485805" cy="4115405"/>
          </a:xfrm>
          <a:prstGeom prst="rect">
            <a:avLst/>
          </a:prstGeom>
          <a:solidFill>
            <a:srgbClr val="FFFFFF"/>
          </a:solidFill>
          <a:ln>
            <a:solidFill>
              <a:srgbClr val="000000"/>
            </a:solidFill>
            <a:miter lim="800000"/>
            <a:headEnd/>
            <a:tailEnd/>
          </a:ln>
          <a:extLst>
            <a:ext uri="{FAA26D3D-D897-4be2-8F04-BA451C77F1D7}">
              <ma14:placeholderFlag xmlns:ma14="http://schemas.microsoft.com/office/mac/drawingml/2011/main" val="1"/>
            </a:ext>
          </a:extLst>
        </p:spPr>
        <p:txBody>
          <a:bodyPr/>
          <a:lstStyle/>
          <a:p>
            <a:endParaRPr lang="en-GB"/>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6"/>
          <p:cNvSpPr>
            <a:spLocks noGrp="1" noChangeArrowheads="1"/>
          </p:cNvSpPr>
          <p:nvPr>
            <p:ph type="ftr" sz="quarter" idx="4"/>
          </p:nvPr>
        </p:nvSpPr>
        <p:spPr>
          <a:ln/>
        </p:spPr>
        <p:txBody>
          <a:bodyPr/>
          <a:lstStyle/>
          <a:p>
            <a:r>
              <a:rPr lang="en-US" altLang="zh-TW"/>
              <a:t>CHI 2007 Course Notes</a:t>
            </a:r>
          </a:p>
        </p:txBody>
      </p:sp>
      <p:sp>
        <p:nvSpPr>
          <p:cNvPr id="7" name="Rectangle 7"/>
          <p:cNvSpPr>
            <a:spLocks noGrp="1" noChangeArrowheads="1"/>
          </p:cNvSpPr>
          <p:nvPr>
            <p:ph type="sldNum" sz="quarter" idx="5"/>
          </p:nvPr>
        </p:nvSpPr>
        <p:spPr>
          <a:ln/>
        </p:spPr>
        <p:txBody>
          <a:bodyPr/>
          <a:lstStyle/>
          <a:p>
            <a:fld id="{945C76AF-03CF-4C42-8FEC-692493D2B7A6}" type="slidenum">
              <a:rPr lang="en-US" altLang="zh-TW"/>
              <a:pPr/>
              <a:t>19</a:t>
            </a:fld>
            <a:endParaRPr lang="en-US" altLang="zh-TW"/>
          </a:p>
        </p:txBody>
      </p:sp>
      <p:sp>
        <p:nvSpPr>
          <p:cNvPr id="686082" name="Rectangle 2"/>
          <p:cNvSpPr>
            <a:spLocks noGrp="1" noRot="1" noChangeAspect="1" noChangeArrowheads="1" noTextEdit="1"/>
          </p:cNvSpPr>
          <p:nvPr>
            <p:ph type="sldImg"/>
          </p:nvPr>
        </p:nvSpPr>
        <p:spPr>
          <a:ln/>
          <a:extLst>
            <a:ext uri="{FAA26D3D-D897-4be2-8F04-BA451C77F1D7}">
              <ma14:placeholderFlag xmlns:ma14="http://schemas.microsoft.com/office/mac/drawingml/2011/main" val="1"/>
            </a:ext>
          </a:extLst>
        </p:spPr>
      </p:sp>
      <p:sp>
        <p:nvSpPr>
          <p:cNvPr id="686083" name="Rectangle 3"/>
          <p:cNvSpPr>
            <a:spLocks noGrp="1" noChangeArrowheads="1"/>
          </p:cNvSpPr>
          <p:nvPr>
            <p:ph type="body" idx="1"/>
          </p:nvPr>
        </p:nvSpPr>
        <p:spPr/>
        <p:txBody>
          <a:bodyPr/>
          <a:lstStyle/>
          <a:p>
            <a:endParaRPr lang="en-GB"/>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6"/>
          <p:cNvSpPr>
            <a:spLocks noGrp="1" noChangeArrowheads="1"/>
          </p:cNvSpPr>
          <p:nvPr>
            <p:ph type="ftr" sz="quarter" idx="4"/>
          </p:nvPr>
        </p:nvSpPr>
        <p:spPr>
          <a:ln/>
        </p:spPr>
        <p:txBody>
          <a:bodyPr/>
          <a:lstStyle/>
          <a:p>
            <a:r>
              <a:rPr lang="en-US" altLang="zh-TW"/>
              <a:t>CHI 2007 Course Notes</a:t>
            </a:r>
          </a:p>
        </p:txBody>
      </p:sp>
      <p:sp>
        <p:nvSpPr>
          <p:cNvPr id="7" name="Rectangle 7"/>
          <p:cNvSpPr>
            <a:spLocks noGrp="1" noChangeArrowheads="1"/>
          </p:cNvSpPr>
          <p:nvPr>
            <p:ph type="sldNum" sz="quarter" idx="5"/>
          </p:nvPr>
        </p:nvSpPr>
        <p:spPr>
          <a:ln/>
        </p:spPr>
        <p:txBody>
          <a:bodyPr/>
          <a:lstStyle/>
          <a:p>
            <a:fld id="{24A28BC2-2593-C64C-AB6A-E8E4A397A782}" type="slidenum">
              <a:rPr lang="en-US" altLang="zh-TW"/>
              <a:pPr/>
              <a:t>20</a:t>
            </a:fld>
            <a:endParaRPr lang="en-US" altLang="zh-TW"/>
          </a:p>
        </p:txBody>
      </p:sp>
      <p:sp>
        <p:nvSpPr>
          <p:cNvPr id="548866" name="Rectangle 1026"/>
          <p:cNvSpPr>
            <a:spLocks noGrp="1" noRot="1" noChangeAspect="1" noChangeArrowheads="1" noTextEdit="1"/>
          </p:cNvSpPr>
          <p:nvPr>
            <p:ph type="sldImg"/>
          </p:nvPr>
        </p:nvSpPr>
        <p:spPr bwMode="auto">
          <a:xfrm>
            <a:off x="1143000" y="684213"/>
            <a:ext cx="4573588" cy="3430587"/>
          </a:xfrm>
          <a:prstGeom prst="rect">
            <a:avLst/>
          </a:prstGeom>
          <a:solidFill>
            <a:srgbClr val="FFFFFF"/>
          </a:solidFill>
          <a:ln>
            <a:solidFill>
              <a:srgbClr val="000000"/>
            </a:solidFill>
            <a:miter lim="800000"/>
            <a:headEnd/>
            <a:tailEnd/>
          </a:ln>
          <a:extLst>
            <a:ext uri="{FAA26D3D-D897-4be2-8F04-BA451C77F1D7}">
              <ma14:placeholderFlag xmlns:ma14="http://schemas.microsoft.com/office/mac/drawingml/2011/main" val="1"/>
            </a:ext>
          </a:extLst>
        </p:spPr>
      </p:sp>
      <p:sp>
        <p:nvSpPr>
          <p:cNvPr id="548867" name="Rectangle 1027"/>
          <p:cNvSpPr>
            <a:spLocks noGrp="1" noChangeArrowheads="1"/>
          </p:cNvSpPr>
          <p:nvPr>
            <p:ph type="body" idx="1"/>
          </p:nvPr>
        </p:nvSpPr>
        <p:spPr bwMode="auto">
          <a:xfrm>
            <a:off x="686098" y="4343703"/>
            <a:ext cx="5485805" cy="4115405"/>
          </a:xfrm>
          <a:prstGeom prst="rect">
            <a:avLst/>
          </a:prstGeom>
          <a:solidFill>
            <a:srgbClr val="FFFFFF"/>
          </a:solidFill>
          <a:ln>
            <a:solidFill>
              <a:srgbClr val="000000"/>
            </a:solidFill>
            <a:miter lim="800000"/>
            <a:headEnd/>
            <a:tailEnd/>
          </a:ln>
          <a:extLst>
            <a:ext uri="{FAA26D3D-D897-4be2-8F04-BA451C77F1D7}">
              <ma14:placeholderFlag xmlns:ma14="http://schemas.microsoft.com/office/mac/drawingml/2011/main" val="1"/>
            </a:ext>
          </a:extLst>
        </p:spPr>
        <p:txBody>
          <a:bodyPr/>
          <a:lstStyle/>
          <a:p>
            <a:endParaRPr lang="en-GB"/>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FCC096C3-D431-B640-8E06-C764B561EFF0}" type="datetime1">
              <a:rPr lang="en-US" smtClean="0"/>
              <a:t>10/19/17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D133943-7E97-DB49-B2BB-235221A3113F}" type="slidenum">
              <a:rPr lang="en-US" smtClean="0"/>
              <a:t>‹#›</a:t>
            </a:fld>
            <a:endParaRPr lang="en-US"/>
          </a:p>
        </p:txBody>
      </p:sp>
    </p:spTree>
    <p:extLst>
      <p:ext uri="{BB962C8B-B14F-4D97-AF65-F5344CB8AC3E}">
        <p14:creationId xmlns:p14="http://schemas.microsoft.com/office/powerpoint/2010/main" val="29358266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EDDF2A3-DDF1-8A43-9438-CEDB45737B0D}" type="datetime1">
              <a:rPr lang="en-US" smtClean="0"/>
              <a:t>10/19/17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D133943-7E97-DB49-B2BB-235221A3113F}" type="slidenum">
              <a:rPr lang="en-US" smtClean="0"/>
              <a:t>‹#›</a:t>
            </a:fld>
            <a:endParaRPr lang="en-US"/>
          </a:p>
        </p:txBody>
      </p:sp>
    </p:spTree>
    <p:extLst>
      <p:ext uri="{BB962C8B-B14F-4D97-AF65-F5344CB8AC3E}">
        <p14:creationId xmlns:p14="http://schemas.microsoft.com/office/powerpoint/2010/main" val="20150618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D18C87D3-C516-1D46-AF15-FF7C5AB91090}" type="datetime1">
              <a:rPr lang="en-US" smtClean="0"/>
              <a:t>10/19/17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D133943-7E97-DB49-B2BB-235221A3113F}" type="slidenum">
              <a:rPr lang="en-US" smtClean="0"/>
              <a:t>‹#›</a:t>
            </a:fld>
            <a:endParaRPr lang="en-US"/>
          </a:p>
        </p:txBody>
      </p:sp>
    </p:spTree>
    <p:extLst>
      <p:ext uri="{BB962C8B-B14F-4D97-AF65-F5344CB8AC3E}">
        <p14:creationId xmlns:p14="http://schemas.microsoft.com/office/powerpoint/2010/main" val="11513193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41A056C8-3CBB-134C-92F2-EEF14138988E}" type="datetime1">
              <a:rPr lang="en-US" smtClean="0"/>
              <a:t>10/19/17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D133943-7E97-DB49-B2BB-235221A3113F}" type="slidenum">
              <a:rPr lang="en-US" smtClean="0"/>
              <a:t>‹#›</a:t>
            </a:fld>
            <a:endParaRPr lang="en-US"/>
          </a:p>
        </p:txBody>
      </p:sp>
    </p:spTree>
    <p:extLst>
      <p:ext uri="{BB962C8B-B14F-4D97-AF65-F5344CB8AC3E}">
        <p14:creationId xmlns:p14="http://schemas.microsoft.com/office/powerpoint/2010/main" val="3708280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8A1A9085-5C84-304B-A604-D383C411A81E}" type="datetime1">
              <a:rPr lang="en-US" smtClean="0"/>
              <a:t>10/19/17</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D133943-7E97-DB49-B2BB-235221A3113F}" type="slidenum">
              <a:rPr lang="en-US" smtClean="0"/>
              <a:t>‹#›</a:t>
            </a:fld>
            <a:endParaRPr lang="en-US"/>
          </a:p>
        </p:txBody>
      </p:sp>
    </p:spTree>
    <p:extLst>
      <p:ext uri="{BB962C8B-B14F-4D97-AF65-F5344CB8AC3E}">
        <p14:creationId xmlns:p14="http://schemas.microsoft.com/office/powerpoint/2010/main" val="2123126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3A2EF518-1D25-EE43-8A7E-96097F56A74B}" type="datetime1">
              <a:rPr lang="en-US" smtClean="0"/>
              <a:t>10/19/17</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D133943-7E97-DB49-B2BB-235221A3113F}" type="slidenum">
              <a:rPr lang="en-US" smtClean="0"/>
              <a:t>‹#›</a:t>
            </a:fld>
            <a:endParaRPr lang="en-US"/>
          </a:p>
        </p:txBody>
      </p:sp>
    </p:spTree>
    <p:extLst>
      <p:ext uri="{BB962C8B-B14F-4D97-AF65-F5344CB8AC3E}">
        <p14:creationId xmlns:p14="http://schemas.microsoft.com/office/powerpoint/2010/main" val="11167112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A726380-5F2B-F940-8C5C-E73F755AAB35}" type="datetime1">
              <a:rPr lang="en-US" smtClean="0"/>
              <a:t>10/19/17</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D133943-7E97-DB49-B2BB-235221A3113F}" type="slidenum">
              <a:rPr lang="en-US" smtClean="0"/>
              <a:t>‹#›</a:t>
            </a:fld>
            <a:endParaRPr lang="en-US"/>
          </a:p>
        </p:txBody>
      </p:sp>
    </p:spTree>
    <p:extLst>
      <p:ext uri="{BB962C8B-B14F-4D97-AF65-F5344CB8AC3E}">
        <p14:creationId xmlns:p14="http://schemas.microsoft.com/office/powerpoint/2010/main" val="29020082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A43C4EF-3883-F74D-882A-BD0ED0A46B24}" type="datetime1">
              <a:rPr lang="en-US" smtClean="0"/>
              <a:t>10/19/17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D133943-7E97-DB49-B2BB-235221A3113F}" type="slidenum">
              <a:rPr lang="en-US" smtClean="0"/>
              <a:t>‹#›</a:t>
            </a:fld>
            <a:endParaRPr lang="en-US"/>
          </a:p>
        </p:txBody>
      </p:sp>
    </p:spTree>
    <p:extLst>
      <p:ext uri="{BB962C8B-B14F-4D97-AF65-F5344CB8AC3E}">
        <p14:creationId xmlns:p14="http://schemas.microsoft.com/office/powerpoint/2010/main" val="26873658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65D93E7-2475-E845-AEA9-5A0AB6A8E62A}" type="datetime1">
              <a:rPr lang="en-US" smtClean="0"/>
              <a:t>10/19/17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D133943-7E97-DB49-B2BB-235221A3113F}" type="slidenum">
              <a:rPr lang="en-US" smtClean="0"/>
              <a:t>‹#›</a:t>
            </a:fld>
            <a:endParaRPr lang="en-US"/>
          </a:p>
        </p:txBody>
      </p:sp>
    </p:spTree>
    <p:extLst>
      <p:ext uri="{BB962C8B-B14F-4D97-AF65-F5344CB8AC3E}">
        <p14:creationId xmlns:p14="http://schemas.microsoft.com/office/powerpoint/2010/main" val="32793184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0CEC446-F4B7-0E4C-96DC-FDD6F47AB62E}" type="datetime1">
              <a:rPr lang="en-US" smtClean="0"/>
              <a:t>10/19/17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D133943-7E97-DB49-B2BB-235221A3113F}" type="slidenum">
              <a:rPr lang="en-US" smtClean="0"/>
              <a:t>‹#›</a:t>
            </a:fld>
            <a:endParaRPr lang="en-US"/>
          </a:p>
        </p:txBody>
      </p:sp>
    </p:spTree>
    <p:extLst>
      <p:ext uri="{BB962C8B-B14F-4D97-AF65-F5344CB8AC3E}">
        <p14:creationId xmlns:p14="http://schemas.microsoft.com/office/powerpoint/2010/main" val="8416162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93950CC-8AA7-4243-A1D1-C4A42410C61C}" type="datetime1">
              <a:rPr lang="en-US" smtClean="0"/>
              <a:t>10/19/17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D133943-7E97-DB49-B2BB-235221A3113F}" type="slidenum">
              <a:rPr lang="en-US" smtClean="0"/>
              <a:t>‹#›</a:t>
            </a:fld>
            <a:endParaRPr lang="en-US"/>
          </a:p>
        </p:txBody>
      </p:sp>
    </p:spTree>
    <p:extLst>
      <p:ext uri="{BB962C8B-B14F-4D97-AF65-F5344CB8AC3E}">
        <p14:creationId xmlns:p14="http://schemas.microsoft.com/office/powerpoint/2010/main" val="115917882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320675" y="228600"/>
            <a:ext cx="8466138" cy="741363"/>
          </a:xfrm>
        </p:spPr>
        <p:txBody>
          <a:bodyPr/>
          <a:lstStyle/>
          <a:p>
            <a:r>
              <a:rPr lang="en-US" smtClean="0"/>
              <a:t>Click to edit Master title style</a:t>
            </a:r>
            <a:endParaRPr lang="en-US"/>
          </a:p>
        </p:txBody>
      </p:sp>
      <p:sp>
        <p:nvSpPr>
          <p:cNvPr id="3" name="Table Placeholder 2"/>
          <p:cNvSpPr>
            <a:spLocks noGrp="1"/>
          </p:cNvSpPr>
          <p:nvPr>
            <p:ph type="tbl" idx="1"/>
          </p:nvPr>
        </p:nvSpPr>
        <p:spPr>
          <a:xfrm>
            <a:off x="320675" y="1122363"/>
            <a:ext cx="8466138" cy="5507037"/>
          </a:xfrm>
        </p:spPr>
        <p:txBody>
          <a:bodyPr/>
          <a:lstStyle/>
          <a:p>
            <a:pPr lvl="0"/>
            <a:endParaRPr lang="en-US" noProof="0"/>
          </a:p>
        </p:txBody>
      </p:sp>
    </p:spTree>
    <p:extLst>
      <p:ext uri="{BB962C8B-B14F-4D97-AF65-F5344CB8AC3E}">
        <p14:creationId xmlns:p14="http://schemas.microsoft.com/office/powerpoint/2010/main" val="3645320433"/>
      </p:ext>
    </p:extLst>
  </p:cSld>
  <p:clrMapOvr>
    <a:masterClrMapping/>
  </p:clrMapOvr>
  <p:transition/>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937100"/>
          </a:xfrm>
          <a:prstGeom prst="rect">
            <a:avLst/>
          </a:prstGeom>
        </p:spPr>
        <p:txBody>
          <a:bodyPr vert="horz" lIns="91440" tIns="45720" rIns="91440" bIns="45720" rtlCol="0" anchor="ctr">
            <a:norm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457200" y="1343132"/>
            <a:ext cx="8229600" cy="5013218"/>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F5059F6-B31F-914F-9D11-0CE96A02EA33}" type="datetime1">
              <a:rPr lang="en-US" smtClean="0"/>
              <a:t>10/19/17</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D133943-7E97-DB49-B2BB-235221A3113F}" type="slidenum">
              <a:rPr lang="en-US" smtClean="0"/>
              <a:t>‹#›</a:t>
            </a:fld>
            <a:endParaRPr lang="en-US"/>
          </a:p>
        </p:txBody>
      </p:sp>
    </p:spTree>
    <p:extLst>
      <p:ext uri="{BB962C8B-B14F-4D97-AF65-F5344CB8AC3E}">
        <p14:creationId xmlns:p14="http://schemas.microsoft.com/office/powerpoint/2010/main" val="41585579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algn="ctr" defTabSz="457200" rtl="0" eaLnBrk="1" latinLnBrk="0" hangingPunct="1">
        <a:spcBef>
          <a:spcPct val="0"/>
        </a:spcBef>
        <a:buNone/>
        <a:defRPr sz="36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28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6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www.yorku.ca/mack/CourseNotes.ppt" TargetMode="External"/><Relationship Id="rId3" Type="http://schemas.openxmlformats.org/officeDocument/2006/relationships/hyperlink" Target="http://hci.stanford.edu/courses/cs147/2012/"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hyperlink" Target="http://www.yorku.ca/mack/uist01.html"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png"/><Relationship Id="rId3"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028031"/>
            <a:ext cx="9144000" cy="3086431"/>
          </a:xfrm>
        </p:spPr>
        <p:txBody>
          <a:bodyPr>
            <a:noAutofit/>
          </a:bodyPr>
          <a:lstStyle/>
          <a:p>
            <a:r>
              <a:rPr lang="en-US" dirty="0" smtClean="0">
                <a:latin typeface="Optima"/>
                <a:cs typeface="Optima"/>
              </a:rPr>
              <a:t>ISA5577 Applied Quantitative Methods for Human-Computer Interaction</a:t>
            </a:r>
            <a:r>
              <a:rPr lang="en-US" dirty="0">
                <a:latin typeface="Optima"/>
                <a:cs typeface="Optima"/>
              </a:rPr>
              <a:t/>
            </a:r>
            <a:br>
              <a:rPr lang="en-US" dirty="0">
                <a:latin typeface="Optima"/>
                <a:cs typeface="Optima"/>
              </a:rPr>
            </a:br>
            <a:r>
              <a:rPr lang="zh-TW" altLang="en-US" dirty="0" smtClean="0">
                <a:latin typeface="微軟正黑體"/>
                <a:ea typeface="微軟正黑體"/>
                <a:cs typeface="微軟正黑體"/>
              </a:rPr>
              <a:t>人機互動量化研究方法</a:t>
            </a:r>
            <a:r>
              <a:rPr lang="en-US" dirty="0" smtClean="0">
                <a:latin typeface="微軟正黑體"/>
                <a:ea typeface="微軟正黑體"/>
                <a:cs typeface="微軟正黑體"/>
              </a:rPr>
              <a:t/>
            </a:r>
            <a:br>
              <a:rPr lang="en-US" dirty="0" smtClean="0">
                <a:latin typeface="微軟正黑體"/>
                <a:ea typeface="微軟正黑體"/>
                <a:cs typeface="微軟正黑體"/>
              </a:rPr>
            </a:br>
            <a:r>
              <a:rPr lang="en-US" dirty="0" smtClean="0">
                <a:latin typeface="Optima"/>
                <a:cs typeface="Optima"/>
              </a:rPr>
              <a:t/>
            </a:r>
            <a:br>
              <a:rPr lang="en-US" dirty="0" smtClean="0">
                <a:latin typeface="Optima"/>
                <a:cs typeface="Optima"/>
              </a:rPr>
            </a:br>
            <a:r>
              <a:rPr lang="en-US" dirty="0" smtClean="0">
                <a:latin typeface="Optima"/>
                <a:cs typeface="Optima"/>
              </a:rPr>
              <a:t/>
            </a:r>
            <a:br>
              <a:rPr lang="en-US" dirty="0" smtClean="0">
                <a:latin typeface="Optima"/>
                <a:cs typeface="Optima"/>
              </a:rPr>
            </a:br>
            <a:r>
              <a:rPr lang="en-US" sz="3200" dirty="0" smtClean="0">
                <a:latin typeface="Optima"/>
                <a:cs typeface="Optima"/>
              </a:rPr>
              <a:t>October 19, 2017</a:t>
            </a:r>
            <a:endParaRPr lang="en-US" sz="3200" dirty="0">
              <a:latin typeface="Optima"/>
              <a:cs typeface="Optima"/>
            </a:endParaRPr>
          </a:p>
        </p:txBody>
      </p:sp>
      <p:sp>
        <p:nvSpPr>
          <p:cNvPr id="3" name="Subtitle 2"/>
          <p:cNvSpPr>
            <a:spLocks noGrp="1"/>
          </p:cNvSpPr>
          <p:nvPr>
            <p:ph type="subTitle" idx="1"/>
          </p:nvPr>
        </p:nvSpPr>
        <p:spPr>
          <a:xfrm>
            <a:off x="1226263" y="5522893"/>
            <a:ext cx="6809548" cy="970056"/>
          </a:xfrm>
        </p:spPr>
        <p:txBody>
          <a:bodyPr>
            <a:noAutofit/>
          </a:bodyPr>
          <a:lstStyle/>
          <a:p>
            <a:r>
              <a:rPr lang="en-US" sz="2700" dirty="0" err="1" smtClean="0"/>
              <a:t>Hao-Chuan</a:t>
            </a:r>
            <a:r>
              <a:rPr lang="en-US" sz="2700" dirty="0" smtClean="0"/>
              <a:t> Wang</a:t>
            </a:r>
            <a:endParaRPr lang="en-US" sz="2700" dirty="0" smtClean="0">
              <a:latin typeface="微軟正黑體"/>
              <a:ea typeface="微軟正黑體"/>
              <a:cs typeface="微軟正黑體"/>
            </a:endParaRPr>
          </a:p>
        </p:txBody>
      </p:sp>
      <p:sp>
        <p:nvSpPr>
          <p:cNvPr id="4" name="Slide Number Placeholder 3"/>
          <p:cNvSpPr>
            <a:spLocks noGrp="1"/>
          </p:cNvSpPr>
          <p:nvPr>
            <p:ph type="sldNum" sz="quarter" idx="12"/>
          </p:nvPr>
        </p:nvSpPr>
        <p:spPr/>
        <p:txBody>
          <a:bodyPr/>
          <a:lstStyle/>
          <a:p>
            <a:fld id="{9D133943-7E97-DB49-B2BB-235221A3113F}" type="slidenum">
              <a:rPr lang="en-US" smtClean="0"/>
              <a:t>1</a:t>
            </a:fld>
            <a:endParaRPr lang="en-US"/>
          </a:p>
        </p:txBody>
      </p:sp>
    </p:spTree>
    <p:extLst>
      <p:ext uri="{BB962C8B-B14F-4D97-AF65-F5344CB8AC3E}">
        <p14:creationId xmlns:p14="http://schemas.microsoft.com/office/powerpoint/2010/main" val="345351336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kumimoji="1" lang="en-US" altLang="zh-TW" dirty="0" smtClean="0"/>
              <a:t>Today’s Agenda</a:t>
            </a:r>
            <a:endParaRPr kumimoji="1" lang="zh-TW" altLang="en-US" dirty="0"/>
          </a:p>
        </p:txBody>
      </p:sp>
      <p:sp>
        <p:nvSpPr>
          <p:cNvPr id="3" name="內容版面配置區 2"/>
          <p:cNvSpPr>
            <a:spLocks noGrp="1"/>
          </p:cNvSpPr>
          <p:nvPr>
            <p:ph idx="1"/>
          </p:nvPr>
        </p:nvSpPr>
        <p:spPr/>
        <p:txBody>
          <a:bodyPr/>
          <a:lstStyle/>
          <a:p>
            <a:pPr marL="0" indent="0">
              <a:buNone/>
            </a:pPr>
            <a:r>
              <a:rPr kumimoji="1" lang="en-US" altLang="zh-TW" dirty="0" smtClean="0"/>
              <a:t>More advanced experimental design issues</a:t>
            </a:r>
          </a:p>
          <a:p>
            <a:r>
              <a:rPr kumimoji="1" lang="en-US" altLang="zh-TW" dirty="0" smtClean="0"/>
              <a:t>Within- and between-subject design</a:t>
            </a:r>
          </a:p>
          <a:p>
            <a:r>
              <a:rPr kumimoji="1" lang="en-US" altLang="zh-TW" dirty="0" smtClean="0"/>
              <a:t>Counterbalancing technique</a:t>
            </a:r>
          </a:p>
          <a:p>
            <a:r>
              <a:rPr kumimoji="1" lang="en-US" altLang="zh-TW" dirty="0" smtClean="0"/>
              <a:t>Strategic planning for upcoming assignments</a:t>
            </a:r>
          </a:p>
        </p:txBody>
      </p:sp>
      <p:sp>
        <p:nvSpPr>
          <p:cNvPr id="4" name="投影片編號版面配置區 3"/>
          <p:cNvSpPr>
            <a:spLocks noGrp="1"/>
          </p:cNvSpPr>
          <p:nvPr>
            <p:ph type="sldNum" sz="quarter" idx="12"/>
          </p:nvPr>
        </p:nvSpPr>
        <p:spPr/>
        <p:txBody>
          <a:bodyPr/>
          <a:lstStyle/>
          <a:p>
            <a:fld id="{9D133943-7E97-DB49-B2BB-235221A3113F}" type="slidenum">
              <a:rPr lang="en-US" smtClean="0"/>
              <a:t>2</a:t>
            </a:fld>
            <a:endParaRPr lang="en-US"/>
          </a:p>
        </p:txBody>
      </p:sp>
      <p:sp>
        <p:nvSpPr>
          <p:cNvPr id="5" name="文字方塊 4"/>
          <p:cNvSpPr txBox="1"/>
          <p:nvPr/>
        </p:nvSpPr>
        <p:spPr>
          <a:xfrm>
            <a:off x="1144951" y="5098482"/>
            <a:ext cx="7481535" cy="923330"/>
          </a:xfrm>
          <a:prstGeom prst="rect">
            <a:avLst/>
          </a:prstGeom>
          <a:noFill/>
        </p:spPr>
        <p:txBody>
          <a:bodyPr wrap="none" rtlCol="0">
            <a:spAutoFit/>
          </a:bodyPr>
          <a:lstStyle/>
          <a:p>
            <a:r>
              <a:rPr kumimoji="1" lang="en-US" altLang="zh-TW" dirty="0" smtClean="0"/>
              <a:t>Sources: Scott </a:t>
            </a:r>
            <a:r>
              <a:rPr kumimoji="1" lang="en-US" altLang="zh-TW" dirty="0" err="1" smtClean="0"/>
              <a:t>MacKenize</a:t>
            </a:r>
            <a:r>
              <a:rPr kumimoji="1" lang="en-US" altLang="zh-TW" dirty="0"/>
              <a:t> </a:t>
            </a:r>
            <a:r>
              <a:rPr kumimoji="1" lang="en-US" altLang="zh-TW" dirty="0" smtClean="0">
                <a:hlinkClick r:id="rId2"/>
              </a:rPr>
              <a:t>http://www.yorku.ca/mack/CourseNotes.ppt</a:t>
            </a:r>
            <a:r>
              <a:rPr kumimoji="1" lang="en-US" altLang="zh-TW" dirty="0" smtClean="0"/>
              <a:t> </a:t>
            </a:r>
          </a:p>
          <a:p>
            <a:r>
              <a:rPr kumimoji="1" lang="en-US" altLang="zh-TW" dirty="0"/>
              <a:t>	</a:t>
            </a:r>
            <a:r>
              <a:rPr kumimoji="1" lang="en-US" altLang="zh-TW" dirty="0" smtClean="0"/>
              <a:t>	Scott </a:t>
            </a:r>
            <a:r>
              <a:rPr kumimoji="1" lang="en-US" altLang="zh-TW" dirty="0" err="1" smtClean="0"/>
              <a:t>Klemmer</a:t>
            </a:r>
            <a:r>
              <a:rPr kumimoji="1" lang="en-US" altLang="zh-TW" dirty="0" smtClean="0"/>
              <a:t>. </a:t>
            </a:r>
            <a:r>
              <a:rPr kumimoji="1" lang="en-US" altLang="zh-TW" dirty="0"/>
              <a:t>CS147 </a:t>
            </a:r>
            <a:r>
              <a:rPr kumimoji="1" lang="en-US" altLang="zh-TW" dirty="0">
                <a:hlinkClick r:id="rId3"/>
              </a:rPr>
              <a:t>http://hci.stanford.edu/courses/cs147/2012</a:t>
            </a:r>
            <a:r>
              <a:rPr kumimoji="1" lang="en-US" altLang="zh-TW" dirty="0" smtClean="0">
                <a:hlinkClick r:id="rId3"/>
              </a:rPr>
              <a:t>/</a:t>
            </a:r>
            <a:r>
              <a:rPr kumimoji="1" lang="en-US" altLang="zh-TW" dirty="0" smtClean="0"/>
              <a:t> </a:t>
            </a:r>
          </a:p>
          <a:p>
            <a:endParaRPr kumimoji="1" lang="zh-TW" altLang="en-US" dirty="0"/>
          </a:p>
        </p:txBody>
      </p:sp>
    </p:spTree>
    <p:extLst>
      <p:ext uri="{BB962C8B-B14F-4D97-AF65-F5344CB8AC3E}">
        <p14:creationId xmlns:p14="http://schemas.microsoft.com/office/powerpoint/2010/main" val="17482021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2"/>
          </p:nvPr>
        </p:nvSpPr>
        <p:spPr/>
        <p:txBody>
          <a:bodyPr/>
          <a:lstStyle/>
          <a:p>
            <a:fld id="{9D133943-7E97-DB49-B2BB-235221A3113F}" type="slidenum">
              <a:rPr lang="en-US" smtClean="0"/>
              <a:t>3</a:t>
            </a:fld>
            <a:endParaRPr lang="en-US"/>
          </a:p>
        </p:txBody>
      </p:sp>
      <p:pic>
        <p:nvPicPr>
          <p:cNvPr id="5" name="圖片 4"/>
          <p:cNvPicPr>
            <a:picLocks noChangeAspect="1"/>
          </p:cNvPicPr>
          <p:nvPr/>
        </p:nvPicPr>
        <p:blipFill>
          <a:blip r:embed="rId2"/>
          <a:stretch>
            <a:fillRect/>
          </a:stretch>
        </p:blipFill>
        <p:spPr>
          <a:xfrm>
            <a:off x="76200" y="76200"/>
            <a:ext cx="8978900" cy="6705600"/>
          </a:xfrm>
          <a:prstGeom prst="rect">
            <a:avLst/>
          </a:prstGeom>
        </p:spPr>
      </p:pic>
    </p:spTree>
    <p:extLst>
      <p:ext uri="{BB962C8B-B14F-4D97-AF65-F5344CB8AC3E}">
        <p14:creationId xmlns:p14="http://schemas.microsoft.com/office/powerpoint/2010/main" val="13136074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788933" y="2407025"/>
            <a:ext cx="7333801" cy="2056775"/>
          </a:xfrm>
        </p:spPr>
        <p:txBody>
          <a:bodyPr>
            <a:normAutofit/>
          </a:bodyPr>
          <a:lstStyle/>
          <a:p>
            <a:r>
              <a:rPr kumimoji="1" lang="en-US" altLang="zh-TW" dirty="0" smtClean="0"/>
              <a:t>Key consideration: </a:t>
            </a:r>
            <a:br>
              <a:rPr kumimoji="1" lang="en-US" altLang="zh-TW" dirty="0" smtClean="0"/>
            </a:br>
            <a:r>
              <a:rPr kumimoji="1" lang="en-US" altLang="zh-TW" dirty="0" smtClean="0"/>
              <a:t>Should every participant use every alternative? </a:t>
            </a:r>
            <a:endParaRPr kumimoji="1" lang="zh-TW" altLang="en-US" dirty="0"/>
          </a:p>
        </p:txBody>
      </p:sp>
      <p:sp>
        <p:nvSpPr>
          <p:cNvPr id="4" name="投影片編號版面配置區 3"/>
          <p:cNvSpPr>
            <a:spLocks noGrp="1"/>
          </p:cNvSpPr>
          <p:nvPr>
            <p:ph type="sldNum" sz="quarter" idx="12"/>
          </p:nvPr>
        </p:nvSpPr>
        <p:spPr/>
        <p:txBody>
          <a:bodyPr/>
          <a:lstStyle/>
          <a:p>
            <a:fld id="{9D133943-7E97-DB49-B2BB-235221A3113F}" type="slidenum">
              <a:rPr lang="en-US" smtClean="0"/>
              <a:t>4</a:t>
            </a:fld>
            <a:endParaRPr lang="en-US"/>
          </a:p>
        </p:txBody>
      </p:sp>
    </p:spTree>
    <p:extLst>
      <p:ext uri="{BB962C8B-B14F-4D97-AF65-F5344CB8AC3E}">
        <p14:creationId xmlns:p14="http://schemas.microsoft.com/office/powerpoint/2010/main" val="14124448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kumimoji="1" lang="en-US" altLang="zh-TW" dirty="0" smtClean="0"/>
              <a:t>Example</a:t>
            </a:r>
            <a:endParaRPr kumimoji="1" lang="zh-TW" altLang="en-US" dirty="0"/>
          </a:p>
        </p:txBody>
      </p:sp>
      <p:sp>
        <p:nvSpPr>
          <p:cNvPr id="3" name="內容版面配置區 2"/>
          <p:cNvSpPr>
            <a:spLocks noGrp="1"/>
          </p:cNvSpPr>
          <p:nvPr>
            <p:ph idx="1"/>
          </p:nvPr>
        </p:nvSpPr>
        <p:spPr/>
        <p:txBody>
          <a:bodyPr/>
          <a:lstStyle/>
          <a:p>
            <a:r>
              <a:rPr kumimoji="1" lang="en-US" altLang="zh-TW" dirty="0" smtClean="0"/>
              <a:t>Which vacuum cleaner is more effective?</a:t>
            </a:r>
            <a:endParaRPr kumimoji="1" lang="zh-TW" altLang="en-US" dirty="0"/>
          </a:p>
        </p:txBody>
      </p:sp>
      <p:sp>
        <p:nvSpPr>
          <p:cNvPr id="4" name="投影片編號版面配置區 3"/>
          <p:cNvSpPr>
            <a:spLocks noGrp="1"/>
          </p:cNvSpPr>
          <p:nvPr>
            <p:ph type="sldNum" sz="quarter" idx="12"/>
          </p:nvPr>
        </p:nvSpPr>
        <p:spPr/>
        <p:txBody>
          <a:bodyPr/>
          <a:lstStyle/>
          <a:p>
            <a:fld id="{9D133943-7E97-DB49-B2BB-235221A3113F}" type="slidenum">
              <a:rPr lang="en-US" smtClean="0"/>
              <a:t>5</a:t>
            </a:fld>
            <a:endParaRPr lang="en-US"/>
          </a:p>
        </p:txBody>
      </p:sp>
      <p:pic>
        <p:nvPicPr>
          <p:cNvPr id="6" name="圖片 5"/>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3886022" y="2641322"/>
            <a:ext cx="4489034" cy="3300936"/>
          </a:xfrm>
          <a:prstGeom prst="rect">
            <a:avLst/>
          </a:prstGeom>
        </p:spPr>
      </p:pic>
      <p:pic>
        <p:nvPicPr>
          <p:cNvPr id="7" name="圖片 6"/>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830475" y="2641322"/>
            <a:ext cx="3140825" cy="3140825"/>
          </a:xfrm>
          <a:prstGeom prst="rect">
            <a:avLst/>
          </a:prstGeom>
        </p:spPr>
      </p:pic>
    </p:spTree>
    <p:extLst>
      <p:ext uri="{BB962C8B-B14F-4D97-AF65-F5344CB8AC3E}">
        <p14:creationId xmlns:p14="http://schemas.microsoft.com/office/powerpoint/2010/main" val="6834201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kumimoji="1" lang="en-US" altLang="zh-TW" dirty="0" smtClean="0"/>
              <a:t>What are the measures?</a:t>
            </a:r>
            <a:endParaRPr kumimoji="1" lang="zh-TW" altLang="en-US" dirty="0"/>
          </a:p>
        </p:txBody>
      </p:sp>
      <p:sp>
        <p:nvSpPr>
          <p:cNvPr id="3" name="內容版面配置區 2"/>
          <p:cNvSpPr>
            <a:spLocks noGrp="1"/>
          </p:cNvSpPr>
          <p:nvPr>
            <p:ph idx="1"/>
          </p:nvPr>
        </p:nvSpPr>
        <p:spPr/>
        <p:txBody>
          <a:bodyPr/>
          <a:lstStyle/>
          <a:p>
            <a:r>
              <a:rPr kumimoji="1" lang="en-US" altLang="zh-TW" dirty="0" smtClean="0"/>
              <a:t>Faster?</a:t>
            </a:r>
          </a:p>
          <a:p>
            <a:r>
              <a:rPr kumimoji="1" lang="en-US" altLang="zh-TW" dirty="0" smtClean="0"/>
              <a:t>Cleaner?</a:t>
            </a:r>
          </a:p>
          <a:p>
            <a:r>
              <a:rPr kumimoji="1" lang="en-US" altLang="zh-TW" dirty="0" smtClean="0"/>
              <a:t>Fatigue?</a:t>
            </a:r>
          </a:p>
          <a:p>
            <a:r>
              <a:rPr kumimoji="1" lang="en-US" altLang="zh-TW" dirty="0" smtClean="0"/>
              <a:t>Ergonomics?</a:t>
            </a:r>
          </a:p>
          <a:p>
            <a:r>
              <a:rPr kumimoji="1" lang="en-US" altLang="zh-TW" dirty="0" smtClean="0"/>
              <a:t>Environmental impact?</a:t>
            </a:r>
          </a:p>
          <a:p>
            <a:r>
              <a:rPr kumimoji="1" lang="en-US" altLang="zh-TW" dirty="0" smtClean="0"/>
              <a:t>Portability?</a:t>
            </a:r>
          </a:p>
          <a:p>
            <a:r>
              <a:rPr kumimoji="1" lang="en-US" altLang="zh-TW" dirty="0" smtClean="0"/>
              <a:t>Ease of use?</a:t>
            </a:r>
          </a:p>
          <a:p>
            <a:r>
              <a:rPr kumimoji="1" lang="en-US" altLang="zh-TW" dirty="0" smtClean="0"/>
              <a:t>Fewer errors? </a:t>
            </a:r>
            <a:endParaRPr kumimoji="1" lang="zh-TW" altLang="en-US" dirty="0"/>
          </a:p>
        </p:txBody>
      </p:sp>
      <p:sp>
        <p:nvSpPr>
          <p:cNvPr id="4" name="投影片編號版面配置區 3"/>
          <p:cNvSpPr>
            <a:spLocks noGrp="1"/>
          </p:cNvSpPr>
          <p:nvPr>
            <p:ph type="sldNum" sz="quarter" idx="12"/>
          </p:nvPr>
        </p:nvSpPr>
        <p:spPr/>
        <p:txBody>
          <a:bodyPr/>
          <a:lstStyle/>
          <a:p>
            <a:fld id="{9D133943-7E97-DB49-B2BB-235221A3113F}" type="slidenum">
              <a:rPr lang="en-US" smtClean="0"/>
              <a:t>6</a:t>
            </a:fld>
            <a:endParaRPr lang="en-US"/>
          </a:p>
        </p:txBody>
      </p:sp>
    </p:spTree>
    <p:extLst>
      <p:ext uri="{BB962C8B-B14F-4D97-AF65-F5344CB8AC3E}">
        <p14:creationId xmlns:p14="http://schemas.microsoft.com/office/powerpoint/2010/main" val="30303723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kumimoji="1" lang="zh-TW" altLang="en-US" dirty="0"/>
          </a:p>
        </p:txBody>
      </p:sp>
      <p:sp>
        <p:nvSpPr>
          <p:cNvPr id="3" name="內容版面配置區 2"/>
          <p:cNvSpPr>
            <a:spLocks noGrp="1"/>
          </p:cNvSpPr>
          <p:nvPr>
            <p:ph idx="1"/>
          </p:nvPr>
        </p:nvSpPr>
        <p:spPr/>
        <p:txBody>
          <a:bodyPr/>
          <a:lstStyle/>
          <a:p>
            <a:r>
              <a:rPr kumimoji="1" lang="en-US" altLang="zh-TW" dirty="0" smtClean="0"/>
              <a:t>Manipulation: Vacuum type</a:t>
            </a:r>
          </a:p>
          <a:p>
            <a:r>
              <a:rPr kumimoji="1" lang="en-US" altLang="zh-TW" dirty="0" smtClean="0"/>
              <a:t>Measure: Speed, cleanliness</a:t>
            </a:r>
            <a:endParaRPr kumimoji="1" lang="zh-TW" altLang="en-US" dirty="0"/>
          </a:p>
        </p:txBody>
      </p:sp>
      <p:sp>
        <p:nvSpPr>
          <p:cNvPr id="4" name="投影片編號版面配置區 3"/>
          <p:cNvSpPr>
            <a:spLocks noGrp="1"/>
          </p:cNvSpPr>
          <p:nvPr>
            <p:ph type="sldNum" sz="quarter" idx="12"/>
          </p:nvPr>
        </p:nvSpPr>
        <p:spPr/>
        <p:txBody>
          <a:bodyPr/>
          <a:lstStyle/>
          <a:p>
            <a:fld id="{9D133943-7E97-DB49-B2BB-235221A3113F}" type="slidenum">
              <a:rPr lang="en-US" smtClean="0"/>
              <a:t>7</a:t>
            </a:fld>
            <a:endParaRPr lang="en-US"/>
          </a:p>
        </p:txBody>
      </p:sp>
    </p:spTree>
    <p:extLst>
      <p:ext uri="{BB962C8B-B14F-4D97-AF65-F5344CB8AC3E}">
        <p14:creationId xmlns:p14="http://schemas.microsoft.com/office/powerpoint/2010/main" val="5941198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kumimoji="1" lang="en-US" altLang="zh-TW" dirty="0" smtClean="0"/>
              <a:t>Between subjects design</a:t>
            </a:r>
            <a:endParaRPr kumimoji="1" lang="zh-TW" altLang="en-US" dirty="0"/>
          </a:p>
        </p:txBody>
      </p:sp>
      <p:sp>
        <p:nvSpPr>
          <p:cNvPr id="3" name="內容版面配置區 2"/>
          <p:cNvSpPr>
            <a:spLocks noGrp="1"/>
          </p:cNvSpPr>
          <p:nvPr>
            <p:ph idx="1"/>
          </p:nvPr>
        </p:nvSpPr>
        <p:spPr/>
        <p:txBody>
          <a:bodyPr/>
          <a:lstStyle/>
          <a:p>
            <a:r>
              <a:rPr kumimoji="1" lang="en-US" altLang="zh-TW" dirty="0" smtClean="0"/>
              <a:t>Half the participants use one interface. The other half use the other.</a:t>
            </a:r>
            <a:endParaRPr kumimoji="1" lang="zh-TW" altLang="en-US" dirty="0"/>
          </a:p>
        </p:txBody>
      </p:sp>
      <p:sp>
        <p:nvSpPr>
          <p:cNvPr id="4" name="投影片編號版面配置區 3"/>
          <p:cNvSpPr>
            <a:spLocks noGrp="1"/>
          </p:cNvSpPr>
          <p:nvPr>
            <p:ph type="sldNum" sz="quarter" idx="12"/>
          </p:nvPr>
        </p:nvSpPr>
        <p:spPr/>
        <p:txBody>
          <a:bodyPr/>
          <a:lstStyle/>
          <a:p>
            <a:fld id="{9D133943-7E97-DB49-B2BB-235221A3113F}" type="slidenum">
              <a:rPr lang="en-US" smtClean="0"/>
              <a:t>8</a:t>
            </a:fld>
            <a:endParaRPr lang="en-US"/>
          </a:p>
        </p:txBody>
      </p:sp>
      <p:pic>
        <p:nvPicPr>
          <p:cNvPr id="5" name="圖片 4"/>
          <p:cNvPicPr>
            <a:picLocks noChangeAspect="1"/>
          </p:cNvPicPr>
          <p:nvPr/>
        </p:nvPicPr>
        <p:blipFill>
          <a:blip r:embed="rId2"/>
          <a:stretch>
            <a:fillRect/>
          </a:stretch>
        </p:blipFill>
        <p:spPr>
          <a:xfrm>
            <a:off x="330200" y="2318946"/>
            <a:ext cx="8356600" cy="4254500"/>
          </a:xfrm>
          <a:prstGeom prst="rect">
            <a:avLst/>
          </a:prstGeom>
        </p:spPr>
      </p:pic>
    </p:spTree>
    <p:extLst>
      <p:ext uri="{BB962C8B-B14F-4D97-AF65-F5344CB8AC3E}">
        <p14:creationId xmlns:p14="http://schemas.microsoft.com/office/powerpoint/2010/main" val="2021400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p:txBody>
          <a:bodyPr/>
          <a:lstStyle/>
          <a:p>
            <a:r>
              <a:rPr lang="en-US" altLang="zh-TW">
                <a:latin typeface="Neutra Text" charset="0"/>
              </a:rPr>
              <a:t>Between subjects design</a:t>
            </a:r>
          </a:p>
        </p:txBody>
      </p:sp>
      <p:graphicFrame>
        <p:nvGraphicFramePr>
          <p:cNvPr id="861276" name="Group 92"/>
          <p:cNvGraphicFramePr>
            <a:graphicFrameLocks noGrp="1"/>
          </p:cNvGraphicFramePr>
          <p:nvPr>
            <p:ph idx="1"/>
            <p:extLst>
              <p:ext uri="{D42A27DB-BD31-4B8C-83A1-F6EECF244321}">
                <p14:modId xmlns:p14="http://schemas.microsoft.com/office/powerpoint/2010/main" val="147072305"/>
              </p:ext>
            </p:extLst>
          </p:nvPr>
        </p:nvGraphicFramePr>
        <p:xfrm>
          <a:off x="533400" y="1693863"/>
          <a:ext cx="8253413" cy="4517742"/>
        </p:xfrm>
        <a:graphic>
          <a:graphicData uri="http://schemas.openxmlformats.org/drawingml/2006/table">
            <a:tbl>
              <a:tblPr/>
              <a:tblGrid>
                <a:gridCol w="2063750"/>
                <a:gridCol w="2063750"/>
                <a:gridCol w="2062163"/>
                <a:gridCol w="2063750"/>
              </a:tblGrid>
              <a:tr h="627998">
                <a:tc>
                  <a:txBody>
                    <a:bodyPr/>
                    <a:lstStyle/>
                    <a:p>
                      <a:pPr marL="0" marR="0" lvl="0" indent="0" algn="l" defTabSz="914400" rtl="0" eaLnBrk="0" fontAlgn="base" latinLnBrk="0" hangingPunct="0">
                        <a:lnSpc>
                          <a:spcPct val="100000"/>
                        </a:lnSpc>
                        <a:spcBef>
                          <a:spcPct val="20000"/>
                        </a:spcBef>
                        <a:spcAft>
                          <a:spcPct val="0"/>
                        </a:spcAft>
                        <a:buClr>
                          <a:schemeClr val="accent1"/>
                        </a:buClr>
                        <a:buSzPct val="80000"/>
                        <a:buFont typeface="Monotype Sorts" pitchFamily="2" charset="2"/>
                        <a:buNone/>
                        <a:tabLst/>
                      </a:pPr>
                      <a:r>
                        <a:rPr kumimoji="0" lang="en-US" sz="1600" b="1" i="0" u="none" strike="noStrike" cap="none" normalizeH="0" baseline="0" dirty="0" smtClean="0">
                          <a:ln>
                            <a:noFill/>
                          </a:ln>
                          <a:solidFill>
                            <a:schemeClr val="tx1"/>
                          </a:solidFill>
                          <a:effectLst/>
                          <a:latin typeface="Futura Book" pitchFamily="34" charset="0"/>
                        </a:rPr>
                        <a:t>Participants assigned to use Vacuum A</a:t>
                      </a:r>
                    </a:p>
                  </a:txBody>
                  <a:tcPr marT="45728" marB="4572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accent1"/>
                        </a:buClr>
                        <a:buSzPct val="80000"/>
                        <a:buFont typeface="Monotype Sorts" pitchFamily="2" charset="2"/>
                        <a:buNone/>
                        <a:tabLst/>
                      </a:pPr>
                      <a:r>
                        <a:rPr kumimoji="0" lang="en-US" sz="1600" b="0" i="0" u="none" strike="noStrike" cap="none" normalizeH="0" baseline="0" dirty="0" smtClean="0">
                          <a:ln>
                            <a:noFill/>
                          </a:ln>
                          <a:solidFill>
                            <a:srgbClr val="000000"/>
                          </a:solidFill>
                          <a:effectLst/>
                          <a:latin typeface="Futura Book" pitchFamily="34" charset="0"/>
                        </a:rPr>
                        <a:t>Time (in seconds)</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accent1"/>
                        </a:buClr>
                        <a:buSzPct val="80000"/>
                        <a:buFont typeface="Monotype Sorts" pitchFamily="2" charset="2"/>
                        <a:buNone/>
                        <a:tabLst/>
                      </a:pPr>
                      <a:r>
                        <a:rPr kumimoji="0" lang="en-US" altLang="zh-TW" sz="1600" b="1" i="0" u="none" strike="noStrike" cap="none" normalizeH="0" baseline="0" dirty="0" smtClean="0">
                          <a:ln>
                            <a:noFill/>
                          </a:ln>
                          <a:solidFill>
                            <a:schemeClr val="tx1"/>
                          </a:solidFill>
                          <a:effectLst/>
                          <a:latin typeface="Futura Book" pitchFamily="34" charset="0"/>
                        </a:rPr>
                        <a:t>Participants assigned to use Vacuum B</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accent1"/>
                        </a:buClr>
                        <a:buSzPct val="80000"/>
                        <a:buFont typeface="Monotype Sorts" pitchFamily="2" charset="2"/>
                        <a:buNone/>
                        <a:tabLst/>
                      </a:pPr>
                      <a:r>
                        <a:rPr kumimoji="0" lang="en-US" sz="1600" b="0" i="0" u="none" strike="noStrike" cap="none" normalizeH="0" baseline="0" dirty="0" smtClean="0">
                          <a:ln>
                            <a:noFill/>
                          </a:ln>
                          <a:solidFill>
                            <a:srgbClr val="000000"/>
                          </a:solidFill>
                          <a:effectLst/>
                          <a:latin typeface="Futura Book" pitchFamily="34" charset="0"/>
                        </a:rPr>
                        <a:t>Time (in seconds)</a:t>
                      </a:r>
                    </a:p>
                  </a:txBody>
                  <a:tcPr marT="45728" marB="4572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68365">
                <a:tc>
                  <a:txBody>
                    <a:bodyPr/>
                    <a:lstStyle/>
                    <a:p>
                      <a:pPr marL="0" marR="0" lvl="0" indent="0" algn="l" defTabSz="914400" rtl="0" eaLnBrk="0" fontAlgn="base" latinLnBrk="0" hangingPunct="0">
                        <a:lnSpc>
                          <a:spcPct val="100000"/>
                        </a:lnSpc>
                        <a:spcBef>
                          <a:spcPct val="20000"/>
                        </a:spcBef>
                        <a:spcAft>
                          <a:spcPct val="0"/>
                        </a:spcAft>
                        <a:buClr>
                          <a:schemeClr val="accent1"/>
                        </a:buClr>
                        <a:buSzPct val="80000"/>
                        <a:buFont typeface="Monotype Sorts" pitchFamily="2" charset="2"/>
                        <a:buNone/>
                        <a:tabLst/>
                      </a:pPr>
                      <a:r>
                        <a:rPr kumimoji="0" lang="en-US" sz="1600" b="0" i="0" u="none" strike="noStrike" cap="none" normalizeH="0" baseline="0" smtClean="0">
                          <a:ln>
                            <a:noFill/>
                          </a:ln>
                          <a:solidFill>
                            <a:schemeClr val="tx1"/>
                          </a:solidFill>
                          <a:effectLst/>
                          <a:latin typeface="Futura Book" pitchFamily="34" charset="0"/>
                        </a:rPr>
                        <a:t>Mike</a:t>
                      </a:r>
                    </a:p>
                  </a:txBody>
                  <a:tcPr marT="45728" marB="4572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accent1"/>
                        </a:buClr>
                        <a:buSzPct val="80000"/>
                        <a:buFont typeface="Monotype Sorts" pitchFamily="2" charset="2"/>
                        <a:buNone/>
                        <a:tabLst/>
                      </a:pPr>
                      <a:r>
                        <a:rPr kumimoji="0" lang="en-US" sz="1600" b="0" i="0" u="none" strike="noStrike" cap="none" normalizeH="0" baseline="0" dirty="0" smtClean="0">
                          <a:ln>
                            <a:noFill/>
                          </a:ln>
                          <a:solidFill>
                            <a:schemeClr val="tx1"/>
                          </a:solidFill>
                          <a:effectLst/>
                          <a:latin typeface="Futura Book" pitchFamily="34" charset="0"/>
                        </a:rPr>
                        <a:t>11.7</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accent1"/>
                        </a:buClr>
                        <a:buSzPct val="80000"/>
                        <a:buFont typeface="Monotype Sorts" pitchFamily="2" charset="2"/>
                        <a:buNone/>
                        <a:tabLst/>
                      </a:pPr>
                      <a:r>
                        <a:rPr kumimoji="0" lang="en-US" sz="1600" b="0" i="0" u="none" strike="noStrike" cap="none" normalizeH="0" baseline="0" dirty="0" smtClean="0">
                          <a:ln>
                            <a:noFill/>
                          </a:ln>
                          <a:solidFill>
                            <a:schemeClr val="tx1"/>
                          </a:solidFill>
                          <a:effectLst/>
                          <a:latin typeface="Futura Book" pitchFamily="34" charset="0"/>
                        </a:rPr>
                        <a:t>Don</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accent1"/>
                        </a:buClr>
                        <a:buSzPct val="80000"/>
                        <a:buFont typeface="Monotype Sorts" pitchFamily="2" charset="2"/>
                        <a:buNone/>
                        <a:tabLst/>
                      </a:pPr>
                      <a:r>
                        <a:rPr kumimoji="0" lang="en-US" sz="1600" b="0" i="0" u="none" strike="noStrike" cap="none" normalizeH="0" baseline="0" dirty="0" smtClean="0">
                          <a:ln>
                            <a:noFill/>
                          </a:ln>
                          <a:solidFill>
                            <a:schemeClr val="tx1"/>
                          </a:solidFill>
                          <a:effectLst/>
                          <a:latin typeface="Futura Book" pitchFamily="34" charset="0"/>
                        </a:rPr>
                        <a:t>15.7</a:t>
                      </a:r>
                    </a:p>
                  </a:txBody>
                  <a:tcPr marT="45728" marB="4572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69953">
                <a:tc>
                  <a:txBody>
                    <a:bodyPr/>
                    <a:lstStyle/>
                    <a:p>
                      <a:pPr marL="0" marR="0" lvl="0" indent="0" algn="l" defTabSz="914400" rtl="0" eaLnBrk="0" fontAlgn="base" latinLnBrk="0" hangingPunct="0">
                        <a:lnSpc>
                          <a:spcPct val="100000"/>
                        </a:lnSpc>
                        <a:spcBef>
                          <a:spcPct val="20000"/>
                        </a:spcBef>
                        <a:spcAft>
                          <a:spcPct val="0"/>
                        </a:spcAft>
                        <a:buClr>
                          <a:schemeClr val="accent1"/>
                        </a:buClr>
                        <a:buSzPct val="80000"/>
                        <a:buFont typeface="Monotype Sorts" pitchFamily="2" charset="2"/>
                        <a:buNone/>
                        <a:tabLst/>
                      </a:pPr>
                      <a:r>
                        <a:rPr kumimoji="0" lang="en-US" sz="1600" b="0" i="0" u="none" strike="noStrike" cap="none" normalizeH="0" baseline="0" smtClean="0">
                          <a:ln>
                            <a:noFill/>
                          </a:ln>
                          <a:solidFill>
                            <a:schemeClr val="tx1"/>
                          </a:solidFill>
                          <a:effectLst/>
                          <a:latin typeface="Futura Book" pitchFamily="34" charset="0"/>
                        </a:rPr>
                        <a:t>Bob</a:t>
                      </a:r>
                    </a:p>
                  </a:txBody>
                  <a:tcPr marT="45728" marB="4572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accent1"/>
                        </a:buClr>
                        <a:buSzPct val="80000"/>
                        <a:buFont typeface="Monotype Sorts" pitchFamily="2" charset="2"/>
                        <a:buNone/>
                        <a:tabLst/>
                      </a:pPr>
                      <a:r>
                        <a:rPr kumimoji="0" lang="en-US" sz="1600" b="0" i="0" u="none" strike="noStrike" cap="none" normalizeH="0" baseline="0" dirty="0" smtClean="0">
                          <a:ln>
                            <a:noFill/>
                          </a:ln>
                          <a:solidFill>
                            <a:schemeClr val="tx1"/>
                          </a:solidFill>
                          <a:effectLst/>
                          <a:latin typeface="Futura Book" pitchFamily="34" charset="0"/>
                        </a:rPr>
                        <a:t>18.2</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accent1"/>
                        </a:buClr>
                        <a:buSzPct val="80000"/>
                        <a:buFont typeface="Monotype Sorts" pitchFamily="2" charset="2"/>
                        <a:buNone/>
                        <a:tabLst/>
                      </a:pPr>
                      <a:r>
                        <a:rPr kumimoji="0" lang="en-US" sz="1600" b="0" i="0" u="none" strike="noStrike" cap="none" normalizeH="0" baseline="0" dirty="0" smtClean="0">
                          <a:ln>
                            <a:noFill/>
                          </a:ln>
                          <a:solidFill>
                            <a:schemeClr val="tx1"/>
                          </a:solidFill>
                          <a:effectLst/>
                          <a:latin typeface="Futura Book" pitchFamily="34" charset="0"/>
                        </a:rPr>
                        <a:t>Hector</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accent1"/>
                        </a:buClr>
                        <a:buSzPct val="80000"/>
                        <a:buFont typeface="Monotype Sorts" pitchFamily="2" charset="2"/>
                        <a:buNone/>
                        <a:tabLst/>
                      </a:pPr>
                      <a:r>
                        <a:rPr kumimoji="0" lang="en-US" sz="1600" b="0" i="0" u="none" strike="noStrike" cap="none" normalizeH="0" baseline="0" dirty="0" smtClean="0">
                          <a:ln>
                            <a:noFill/>
                          </a:ln>
                          <a:solidFill>
                            <a:schemeClr val="tx1"/>
                          </a:solidFill>
                          <a:effectLst/>
                          <a:latin typeface="Futura Book" pitchFamily="34" charset="0"/>
                        </a:rPr>
                        <a:t>13.4</a:t>
                      </a:r>
                    </a:p>
                  </a:txBody>
                  <a:tcPr marT="45728" marB="4572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69953">
                <a:tc>
                  <a:txBody>
                    <a:bodyPr/>
                    <a:lstStyle/>
                    <a:p>
                      <a:pPr marL="0" marR="0" lvl="0" indent="0" algn="l" defTabSz="914400" rtl="0" eaLnBrk="0" fontAlgn="base" latinLnBrk="0" hangingPunct="0">
                        <a:lnSpc>
                          <a:spcPct val="100000"/>
                        </a:lnSpc>
                        <a:spcBef>
                          <a:spcPct val="20000"/>
                        </a:spcBef>
                        <a:spcAft>
                          <a:spcPct val="0"/>
                        </a:spcAft>
                        <a:buClr>
                          <a:schemeClr val="accent1"/>
                        </a:buClr>
                        <a:buSzPct val="80000"/>
                        <a:buFont typeface="Monotype Sorts" pitchFamily="2" charset="2"/>
                        <a:buNone/>
                        <a:tabLst/>
                      </a:pPr>
                      <a:r>
                        <a:rPr kumimoji="0" lang="en-US" sz="1600" b="0" i="0" u="none" strike="noStrike" cap="none" normalizeH="0" baseline="0" smtClean="0">
                          <a:ln>
                            <a:noFill/>
                          </a:ln>
                          <a:solidFill>
                            <a:schemeClr val="tx1"/>
                          </a:solidFill>
                          <a:effectLst/>
                          <a:latin typeface="Futura Book" pitchFamily="34" charset="0"/>
                        </a:rPr>
                        <a:t>Homer</a:t>
                      </a:r>
                    </a:p>
                  </a:txBody>
                  <a:tcPr marT="45728" marB="4572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accent1"/>
                        </a:buClr>
                        <a:buSzPct val="80000"/>
                        <a:buFont typeface="Monotype Sorts" pitchFamily="2" charset="2"/>
                        <a:buNone/>
                        <a:tabLst/>
                      </a:pPr>
                      <a:r>
                        <a:rPr kumimoji="0" lang="en-US" sz="1600" b="0" i="0" u="none" strike="noStrike" cap="none" normalizeH="0" baseline="0" smtClean="0">
                          <a:ln>
                            <a:noFill/>
                          </a:ln>
                          <a:solidFill>
                            <a:schemeClr val="tx1"/>
                          </a:solidFill>
                          <a:effectLst/>
                          <a:latin typeface="Futura Book" pitchFamily="34" charset="0"/>
                        </a:rPr>
                        <a:t>12.2</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accent1"/>
                        </a:buClr>
                        <a:buSzPct val="80000"/>
                        <a:buFont typeface="Monotype Sorts" pitchFamily="2" charset="2"/>
                        <a:buNone/>
                        <a:tabLst/>
                      </a:pPr>
                      <a:r>
                        <a:rPr kumimoji="0" lang="en-US" sz="1600" b="0" i="0" u="none" strike="noStrike" cap="none" normalizeH="0" baseline="0" dirty="0" smtClean="0">
                          <a:ln>
                            <a:noFill/>
                          </a:ln>
                          <a:solidFill>
                            <a:schemeClr val="tx1"/>
                          </a:solidFill>
                          <a:effectLst/>
                          <a:latin typeface="Futura Book" pitchFamily="34" charset="0"/>
                        </a:rPr>
                        <a:t>Ron</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accent1"/>
                        </a:buClr>
                        <a:buSzPct val="80000"/>
                        <a:buFont typeface="Monotype Sorts" pitchFamily="2" charset="2"/>
                        <a:buNone/>
                        <a:tabLst/>
                      </a:pPr>
                      <a:r>
                        <a:rPr kumimoji="0" lang="en-US" sz="1600" b="0" i="0" u="none" strike="noStrike" cap="none" normalizeH="0" baseline="0" dirty="0" smtClean="0">
                          <a:ln>
                            <a:noFill/>
                          </a:ln>
                          <a:solidFill>
                            <a:schemeClr val="tx1"/>
                          </a:solidFill>
                          <a:effectLst/>
                          <a:latin typeface="Futura Book" pitchFamily="34" charset="0"/>
                        </a:rPr>
                        <a:t>18.0</a:t>
                      </a:r>
                    </a:p>
                  </a:txBody>
                  <a:tcPr marT="45728" marB="4572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69953">
                <a:tc>
                  <a:txBody>
                    <a:bodyPr/>
                    <a:lstStyle/>
                    <a:p>
                      <a:pPr marL="0" marR="0" lvl="0" indent="0" algn="l" defTabSz="914400" rtl="0" eaLnBrk="0" fontAlgn="base" latinLnBrk="0" hangingPunct="0">
                        <a:lnSpc>
                          <a:spcPct val="100000"/>
                        </a:lnSpc>
                        <a:spcBef>
                          <a:spcPct val="20000"/>
                        </a:spcBef>
                        <a:spcAft>
                          <a:spcPct val="0"/>
                        </a:spcAft>
                        <a:buClr>
                          <a:schemeClr val="accent1"/>
                        </a:buClr>
                        <a:buSzPct val="80000"/>
                        <a:buFont typeface="Monotype Sorts" pitchFamily="2" charset="2"/>
                        <a:buNone/>
                        <a:tabLst/>
                      </a:pPr>
                      <a:r>
                        <a:rPr kumimoji="0" lang="en-US" sz="1600" b="0" i="0" u="none" strike="noStrike" cap="none" normalizeH="0" baseline="0" smtClean="0">
                          <a:ln>
                            <a:noFill/>
                          </a:ln>
                          <a:solidFill>
                            <a:schemeClr val="tx1"/>
                          </a:solidFill>
                          <a:effectLst/>
                          <a:latin typeface="Futura Book" pitchFamily="34" charset="0"/>
                        </a:rPr>
                        <a:t>George</a:t>
                      </a:r>
                    </a:p>
                  </a:txBody>
                  <a:tcPr marT="45728" marB="4572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accent1"/>
                        </a:buClr>
                        <a:buSzPct val="80000"/>
                        <a:buFont typeface="Monotype Sorts" pitchFamily="2" charset="2"/>
                        <a:buNone/>
                        <a:tabLst/>
                      </a:pPr>
                      <a:r>
                        <a:rPr kumimoji="0" lang="en-US" sz="1600" b="0" i="0" u="none" strike="noStrike" cap="none" normalizeH="0" baseline="0" dirty="0" smtClean="0">
                          <a:ln>
                            <a:noFill/>
                          </a:ln>
                          <a:solidFill>
                            <a:schemeClr val="tx1"/>
                          </a:solidFill>
                          <a:effectLst/>
                          <a:latin typeface="Futura Book" pitchFamily="34" charset="0"/>
                        </a:rPr>
                        <a:t>15.4</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accent1"/>
                        </a:buClr>
                        <a:buSzPct val="80000"/>
                        <a:buFont typeface="Monotype Sorts" pitchFamily="2" charset="2"/>
                        <a:buNone/>
                        <a:tabLst/>
                      </a:pPr>
                      <a:r>
                        <a:rPr kumimoji="0" lang="en-US" sz="1600" b="0" i="0" u="none" strike="noStrike" cap="none" normalizeH="0" baseline="0" dirty="0" smtClean="0">
                          <a:ln>
                            <a:noFill/>
                          </a:ln>
                          <a:solidFill>
                            <a:schemeClr val="tx1"/>
                          </a:solidFill>
                          <a:effectLst/>
                          <a:latin typeface="Futura Book" pitchFamily="34" charset="0"/>
                        </a:rPr>
                        <a:t>Tom</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accent1"/>
                        </a:buClr>
                        <a:buSzPct val="80000"/>
                        <a:buFont typeface="Monotype Sorts" pitchFamily="2" charset="2"/>
                        <a:buNone/>
                        <a:tabLst/>
                      </a:pPr>
                      <a:r>
                        <a:rPr kumimoji="0" lang="en-US" sz="1600" b="0" i="0" u="none" strike="noStrike" cap="none" normalizeH="0" baseline="0" dirty="0" smtClean="0">
                          <a:ln>
                            <a:noFill/>
                          </a:ln>
                          <a:solidFill>
                            <a:schemeClr val="tx1"/>
                          </a:solidFill>
                          <a:effectLst/>
                          <a:latin typeface="Futura Book" pitchFamily="34" charset="0"/>
                        </a:rPr>
                        <a:t>12.8</a:t>
                      </a:r>
                    </a:p>
                  </a:txBody>
                  <a:tcPr marT="45728" marB="4572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68365">
                <a:tc>
                  <a:txBody>
                    <a:bodyPr/>
                    <a:lstStyle/>
                    <a:p>
                      <a:pPr marL="0" marR="0" lvl="0" indent="0" algn="l" defTabSz="914400" rtl="0" eaLnBrk="0" fontAlgn="base" latinLnBrk="0" hangingPunct="0">
                        <a:lnSpc>
                          <a:spcPct val="100000"/>
                        </a:lnSpc>
                        <a:spcBef>
                          <a:spcPct val="20000"/>
                        </a:spcBef>
                        <a:spcAft>
                          <a:spcPct val="0"/>
                        </a:spcAft>
                        <a:buClr>
                          <a:schemeClr val="accent1"/>
                        </a:buClr>
                        <a:buSzPct val="80000"/>
                        <a:buFont typeface="Monotype Sorts" pitchFamily="2" charset="2"/>
                        <a:buNone/>
                        <a:tabLst/>
                      </a:pPr>
                      <a:r>
                        <a:rPr kumimoji="0" lang="en-US" sz="1600" b="0" i="0" u="none" strike="noStrike" cap="none" normalizeH="0" baseline="0" smtClean="0">
                          <a:ln>
                            <a:noFill/>
                          </a:ln>
                          <a:solidFill>
                            <a:schemeClr val="tx1"/>
                          </a:solidFill>
                          <a:effectLst/>
                          <a:latin typeface="Futura Book" pitchFamily="34" charset="0"/>
                        </a:rPr>
                        <a:t>Harry</a:t>
                      </a:r>
                    </a:p>
                  </a:txBody>
                  <a:tcPr marT="45728" marB="4572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accent1"/>
                        </a:buClr>
                        <a:buSzPct val="80000"/>
                        <a:buFont typeface="Monotype Sorts" pitchFamily="2" charset="2"/>
                        <a:buNone/>
                        <a:tabLst/>
                      </a:pPr>
                      <a:r>
                        <a:rPr kumimoji="0" lang="en-US" sz="1600" b="0" i="0" u="none" strike="noStrike" cap="none" normalizeH="0" baseline="0" dirty="0" smtClean="0">
                          <a:ln>
                            <a:noFill/>
                          </a:ln>
                          <a:solidFill>
                            <a:schemeClr val="tx1"/>
                          </a:solidFill>
                          <a:effectLst/>
                          <a:latin typeface="Futura Book" pitchFamily="34" charset="0"/>
                        </a:rPr>
                        <a:t>15.8</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accent1"/>
                        </a:buClr>
                        <a:buSzPct val="80000"/>
                        <a:buFont typeface="Monotype Sorts" pitchFamily="2" charset="2"/>
                        <a:buNone/>
                        <a:tabLst/>
                      </a:pPr>
                      <a:r>
                        <a:rPr kumimoji="0" lang="en-US" sz="1600" b="0" i="0" u="none" strike="noStrike" cap="none" normalizeH="0" baseline="0" dirty="0" smtClean="0">
                          <a:ln>
                            <a:noFill/>
                          </a:ln>
                          <a:solidFill>
                            <a:schemeClr val="tx1"/>
                          </a:solidFill>
                          <a:effectLst/>
                          <a:latin typeface="Futura Book" pitchFamily="34" charset="0"/>
                        </a:rPr>
                        <a:t>Steve</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accent1"/>
                        </a:buClr>
                        <a:buSzPct val="80000"/>
                        <a:buFont typeface="Monotype Sorts" pitchFamily="2" charset="2"/>
                        <a:buNone/>
                        <a:tabLst/>
                      </a:pPr>
                      <a:r>
                        <a:rPr kumimoji="0" lang="en-US" sz="1600" b="0" i="0" u="none" strike="noStrike" cap="none" normalizeH="0" baseline="0" dirty="0" smtClean="0">
                          <a:ln>
                            <a:noFill/>
                          </a:ln>
                          <a:solidFill>
                            <a:schemeClr val="tx1"/>
                          </a:solidFill>
                          <a:effectLst/>
                          <a:latin typeface="Futura Book" pitchFamily="34" charset="0"/>
                        </a:rPr>
                        <a:t>13.6</a:t>
                      </a:r>
                    </a:p>
                  </a:txBody>
                  <a:tcPr marT="45728" marB="4572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69953">
                <a:tc>
                  <a:txBody>
                    <a:bodyPr/>
                    <a:lstStyle/>
                    <a:p>
                      <a:pPr marL="0" marR="0" lvl="0" indent="0" algn="l" defTabSz="914400" rtl="0" eaLnBrk="0" fontAlgn="base" latinLnBrk="0" hangingPunct="0">
                        <a:lnSpc>
                          <a:spcPct val="100000"/>
                        </a:lnSpc>
                        <a:spcBef>
                          <a:spcPct val="20000"/>
                        </a:spcBef>
                        <a:spcAft>
                          <a:spcPct val="0"/>
                        </a:spcAft>
                        <a:buClr>
                          <a:schemeClr val="accent1"/>
                        </a:buClr>
                        <a:buSzPct val="80000"/>
                        <a:buFont typeface="Monotype Sorts" pitchFamily="2" charset="2"/>
                        <a:buNone/>
                        <a:tabLst/>
                      </a:pPr>
                      <a:r>
                        <a:rPr kumimoji="0" lang="en-US" sz="1600" b="0" i="0" u="none" strike="noStrike" cap="none" normalizeH="0" baseline="0" smtClean="0">
                          <a:ln>
                            <a:noFill/>
                          </a:ln>
                          <a:solidFill>
                            <a:schemeClr val="tx1"/>
                          </a:solidFill>
                          <a:effectLst/>
                          <a:latin typeface="Futura Book" pitchFamily="34" charset="0"/>
                        </a:rPr>
                        <a:t>Gordon</a:t>
                      </a:r>
                    </a:p>
                  </a:txBody>
                  <a:tcPr marT="45728" marB="4572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accent1"/>
                        </a:buClr>
                        <a:buSzPct val="80000"/>
                        <a:buFont typeface="Monotype Sorts" pitchFamily="2" charset="2"/>
                        <a:buNone/>
                        <a:tabLst/>
                      </a:pPr>
                      <a:r>
                        <a:rPr kumimoji="0" lang="en-US" sz="1600" b="0" i="0" u="none" strike="noStrike" cap="none" normalizeH="0" baseline="0" dirty="0" smtClean="0">
                          <a:ln>
                            <a:noFill/>
                          </a:ln>
                          <a:solidFill>
                            <a:schemeClr val="tx1"/>
                          </a:solidFill>
                          <a:effectLst/>
                          <a:latin typeface="Futura Book" pitchFamily="34" charset="0"/>
                        </a:rPr>
                        <a:t>13.2</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accent1"/>
                        </a:buClr>
                        <a:buSzPct val="80000"/>
                        <a:buFont typeface="Monotype Sorts" pitchFamily="2" charset="2"/>
                        <a:buNone/>
                        <a:tabLst/>
                      </a:pPr>
                      <a:r>
                        <a:rPr kumimoji="0" lang="en-US" sz="1600" b="0" i="0" u="none" strike="noStrike" cap="none" normalizeH="0" baseline="0" dirty="0" smtClean="0">
                          <a:ln>
                            <a:noFill/>
                          </a:ln>
                          <a:solidFill>
                            <a:schemeClr val="tx1"/>
                          </a:solidFill>
                          <a:effectLst/>
                          <a:latin typeface="Futura Book" pitchFamily="34" charset="0"/>
                        </a:rPr>
                        <a:t>Dale</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accent1"/>
                        </a:buClr>
                        <a:buSzPct val="80000"/>
                        <a:buFont typeface="Monotype Sorts" pitchFamily="2" charset="2"/>
                        <a:buNone/>
                        <a:tabLst/>
                      </a:pPr>
                      <a:r>
                        <a:rPr kumimoji="0" lang="en-US" sz="1600" b="0" i="0" u="none" strike="noStrike" cap="none" normalizeH="0" baseline="0" dirty="0" smtClean="0">
                          <a:ln>
                            <a:noFill/>
                          </a:ln>
                          <a:solidFill>
                            <a:schemeClr val="tx1"/>
                          </a:solidFill>
                          <a:effectLst/>
                          <a:latin typeface="Futura Book" pitchFamily="34" charset="0"/>
                        </a:rPr>
                        <a:t>19.0</a:t>
                      </a:r>
                    </a:p>
                  </a:txBody>
                  <a:tcPr marT="45728" marB="4572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69953">
                <a:tc>
                  <a:txBody>
                    <a:bodyPr/>
                    <a:lstStyle/>
                    <a:p>
                      <a:pPr marL="0" marR="0" lvl="0" indent="0" algn="l" defTabSz="914400" rtl="0" eaLnBrk="0" fontAlgn="base" latinLnBrk="0" hangingPunct="0">
                        <a:lnSpc>
                          <a:spcPct val="100000"/>
                        </a:lnSpc>
                        <a:spcBef>
                          <a:spcPct val="20000"/>
                        </a:spcBef>
                        <a:spcAft>
                          <a:spcPct val="0"/>
                        </a:spcAft>
                        <a:buClr>
                          <a:schemeClr val="accent1"/>
                        </a:buClr>
                        <a:buSzPct val="80000"/>
                        <a:buFont typeface="Monotype Sorts" pitchFamily="2" charset="2"/>
                        <a:buNone/>
                        <a:tabLst/>
                      </a:pPr>
                      <a:r>
                        <a:rPr kumimoji="0" lang="en-US" sz="1600" b="0" i="0" u="none" strike="noStrike" cap="none" normalizeH="0" baseline="0" smtClean="0">
                          <a:ln>
                            <a:noFill/>
                          </a:ln>
                          <a:solidFill>
                            <a:schemeClr val="tx1"/>
                          </a:solidFill>
                          <a:effectLst/>
                          <a:latin typeface="Futura Book" pitchFamily="34" charset="0"/>
                        </a:rPr>
                        <a:t>John</a:t>
                      </a:r>
                    </a:p>
                  </a:txBody>
                  <a:tcPr marT="45728" marB="4572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accent1"/>
                        </a:buClr>
                        <a:buSzPct val="80000"/>
                        <a:buFont typeface="Monotype Sorts" pitchFamily="2" charset="2"/>
                        <a:buNone/>
                        <a:tabLst/>
                      </a:pPr>
                      <a:r>
                        <a:rPr kumimoji="0" lang="en-US" sz="1600" b="0" i="0" u="none" strike="noStrike" cap="none" normalizeH="0" baseline="0" dirty="0" smtClean="0">
                          <a:ln>
                            <a:noFill/>
                          </a:ln>
                          <a:solidFill>
                            <a:schemeClr val="tx1"/>
                          </a:solidFill>
                          <a:effectLst/>
                          <a:latin typeface="Futura Book" pitchFamily="34" charset="0"/>
                        </a:rPr>
                        <a:t>13.7</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accent1"/>
                        </a:buClr>
                        <a:buSzPct val="80000"/>
                        <a:buFont typeface="Monotype Sorts" pitchFamily="2" charset="2"/>
                        <a:buNone/>
                        <a:tabLst/>
                      </a:pPr>
                      <a:r>
                        <a:rPr kumimoji="0" lang="en-US" sz="1600" b="0" i="0" u="none" strike="noStrike" cap="none" normalizeH="0" baseline="0" dirty="0" smtClean="0">
                          <a:ln>
                            <a:noFill/>
                          </a:ln>
                          <a:solidFill>
                            <a:schemeClr val="tx1"/>
                          </a:solidFill>
                          <a:effectLst/>
                          <a:latin typeface="Futura Book" pitchFamily="34" charset="0"/>
                        </a:rPr>
                        <a:t>Pete</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accent1"/>
                        </a:buClr>
                        <a:buSzPct val="80000"/>
                        <a:buFont typeface="Monotype Sorts" pitchFamily="2" charset="2"/>
                        <a:buNone/>
                        <a:tabLst/>
                      </a:pPr>
                      <a:r>
                        <a:rPr kumimoji="0" lang="en-US" sz="1600" b="0" i="0" u="none" strike="noStrike" cap="none" normalizeH="0" baseline="0" dirty="0" smtClean="0">
                          <a:ln>
                            <a:noFill/>
                          </a:ln>
                          <a:solidFill>
                            <a:schemeClr val="tx1"/>
                          </a:solidFill>
                          <a:effectLst/>
                          <a:latin typeface="Futura Book" pitchFamily="34" charset="0"/>
                        </a:rPr>
                        <a:t>16.2</a:t>
                      </a:r>
                    </a:p>
                  </a:txBody>
                  <a:tcPr marT="45728" marB="4572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69953">
                <a:tc>
                  <a:txBody>
                    <a:bodyPr/>
                    <a:lstStyle/>
                    <a:p>
                      <a:pPr marL="0" marR="0" lvl="0" indent="0" algn="l" defTabSz="914400" rtl="0" eaLnBrk="0" fontAlgn="base" latinLnBrk="0" hangingPunct="0">
                        <a:lnSpc>
                          <a:spcPct val="100000"/>
                        </a:lnSpc>
                        <a:spcBef>
                          <a:spcPct val="20000"/>
                        </a:spcBef>
                        <a:spcAft>
                          <a:spcPct val="0"/>
                        </a:spcAft>
                        <a:buClr>
                          <a:schemeClr val="accent1"/>
                        </a:buClr>
                        <a:buSzPct val="80000"/>
                        <a:buFont typeface="Monotype Sorts" pitchFamily="2" charset="2"/>
                        <a:buNone/>
                        <a:tabLst/>
                      </a:pPr>
                      <a:r>
                        <a:rPr kumimoji="0" lang="en-US" sz="1600" b="0" i="0" u="none" strike="noStrike" cap="none" normalizeH="0" baseline="0" smtClean="0">
                          <a:ln>
                            <a:noFill/>
                          </a:ln>
                          <a:solidFill>
                            <a:schemeClr val="tx1"/>
                          </a:solidFill>
                          <a:effectLst/>
                          <a:latin typeface="Futura Book" pitchFamily="34" charset="0"/>
                        </a:rPr>
                        <a:t>Bill</a:t>
                      </a:r>
                    </a:p>
                  </a:txBody>
                  <a:tcPr marT="45728" marB="4572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accent1"/>
                        </a:buClr>
                        <a:buSzPct val="80000"/>
                        <a:buFont typeface="Monotype Sorts" pitchFamily="2" charset="2"/>
                        <a:buNone/>
                        <a:tabLst/>
                      </a:pPr>
                      <a:r>
                        <a:rPr kumimoji="0" lang="en-US" sz="1600" b="0" i="0" u="none" strike="noStrike" cap="none" normalizeH="0" baseline="0" dirty="0" smtClean="0">
                          <a:ln>
                            <a:noFill/>
                          </a:ln>
                          <a:solidFill>
                            <a:schemeClr val="tx1"/>
                          </a:solidFill>
                          <a:effectLst/>
                          <a:latin typeface="Futura Book" pitchFamily="34" charset="0"/>
                        </a:rPr>
                        <a:t>19.1</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accent1"/>
                        </a:buClr>
                        <a:buSzPct val="80000"/>
                        <a:buFont typeface="Monotype Sorts" pitchFamily="2" charset="2"/>
                        <a:buNone/>
                        <a:tabLst/>
                      </a:pPr>
                      <a:r>
                        <a:rPr kumimoji="0" lang="en-US" sz="1600" b="0" i="0" u="none" strike="noStrike" cap="none" normalizeH="0" baseline="0" dirty="0" smtClean="0">
                          <a:ln>
                            <a:noFill/>
                          </a:ln>
                          <a:solidFill>
                            <a:schemeClr val="tx1"/>
                          </a:solidFill>
                          <a:effectLst/>
                          <a:latin typeface="Futura Book" pitchFamily="34" charset="0"/>
                        </a:rPr>
                        <a:t>Juan</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accent1"/>
                        </a:buClr>
                        <a:buSzPct val="80000"/>
                        <a:buFont typeface="Monotype Sorts" pitchFamily="2" charset="2"/>
                        <a:buNone/>
                        <a:tabLst/>
                      </a:pPr>
                      <a:r>
                        <a:rPr kumimoji="0" lang="en-US" sz="1600" b="0" i="0" u="none" strike="noStrike" cap="none" normalizeH="0" baseline="0" dirty="0" smtClean="0">
                          <a:ln>
                            <a:noFill/>
                          </a:ln>
                          <a:solidFill>
                            <a:schemeClr val="tx1"/>
                          </a:solidFill>
                          <a:effectLst/>
                          <a:latin typeface="Futura Book" pitchFamily="34" charset="0"/>
                        </a:rPr>
                        <a:t>11.9</a:t>
                      </a:r>
                    </a:p>
                  </a:txBody>
                  <a:tcPr marT="45728" marB="4572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68365">
                <a:tc>
                  <a:txBody>
                    <a:bodyPr/>
                    <a:lstStyle/>
                    <a:p>
                      <a:pPr marL="0" marR="0" lvl="0" indent="0" algn="l" defTabSz="914400" rtl="0" eaLnBrk="0" fontAlgn="base" latinLnBrk="0" hangingPunct="0">
                        <a:lnSpc>
                          <a:spcPct val="100000"/>
                        </a:lnSpc>
                        <a:spcBef>
                          <a:spcPct val="20000"/>
                        </a:spcBef>
                        <a:spcAft>
                          <a:spcPct val="0"/>
                        </a:spcAft>
                        <a:buClr>
                          <a:schemeClr val="accent1"/>
                        </a:buClr>
                        <a:buSzPct val="80000"/>
                        <a:buFont typeface="Monotype Sorts" pitchFamily="2" charset="2"/>
                        <a:buNone/>
                        <a:tabLst/>
                      </a:pPr>
                      <a:r>
                        <a:rPr kumimoji="0" lang="en-US" sz="1600" b="0" i="0" u="none" strike="noStrike" cap="none" normalizeH="0" baseline="0" smtClean="0">
                          <a:ln>
                            <a:noFill/>
                          </a:ln>
                          <a:solidFill>
                            <a:schemeClr val="tx1"/>
                          </a:solidFill>
                          <a:effectLst/>
                          <a:latin typeface="Futura Book" pitchFamily="34" charset="0"/>
                        </a:rPr>
                        <a:t>Randy</a:t>
                      </a:r>
                    </a:p>
                  </a:txBody>
                  <a:tcPr marT="45728" marB="4572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accent1"/>
                        </a:buClr>
                        <a:buSzPct val="80000"/>
                        <a:buFont typeface="Monotype Sorts" pitchFamily="2" charset="2"/>
                        <a:buNone/>
                        <a:tabLst/>
                      </a:pPr>
                      <a:r>
                        <a:rPr kumimoji="0" lang="en-US" sz="1600" b="0" i="0" u="none" strike="noStrike" cap="none" normalizeH="0" baseline="0" dirty="0" smtClean="0">
                          <a:ln>
                            <a:noFill/>
                          </a:ln>
                          <a:solidFill>
                            <a:schemeClr val="tx1"/>
                          </a:solidFill>
                          <a:effectLst/>
                          <a:latin typeface="Futura Book" pitchFamily="34" charset="0"/>
                        </a:rPr>
                        <a:t>12.9</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accent1"/>
                        </a:buClr>
                        <a:buSzPct val="80000"/>
                        <a:buFont typeface="Monotype Sorts" pitchFamily="2" charset="2"/>
                        <a:buNone/>
                        <a:tabLst/>
                      </a:pPr>
                      <a:r>
                        <a:rPr kumimoji="0" lang="en-US" sz="1600" b="0" i="0" u="none" strike="noStrike" cap="none" normalizeH="0" baseline="0" dirty="0" smtClean="0">
                          <a:ln>
                            <a:noFill/>
                          </a:ln>
                          <a:solidFill>
                            <a:schemeClr val="tx1"/>
                          </a:solidFill>
                          <a:effectLst/>
                          <a:latin typeface="Futura Book" pitchFamily="34" charset="0"/>
                        </a:rPr>
                        <a:t>Dan</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accent1"/>
                        </a:buClr>
                        <a:buSzPct val="80000"/>
                        <a:buFont typeface="Monotype Sorts" pitchFamily="2" charset="2"/>
                        <a:buNone/>
                        <a:tabLst/>
                      </a:pPr>
                      <a:r>
                        <a:rPr kumimoji="0" lang="en-US" sz="1600" b="0" i="0" u="none" strike="noStrike" cap="none" normalizeH="0" baseline="0" dirty="0" smtClean="0">
                          <a:ln>
                            <a:noFill/>
                          </a:ln>
                          <a:solidFill>
                            <a:schemeClr val="tx1"/>
                          </a:solidFill>
                          <a:effectLst/>
                          <a:latin typeface="Futura Book" pitchFamily="34" charset="0"/>
                        </a:rPr>
                        <a:t>14.6</a:t>
                      </a:r>
                    </a:p>
                  </a:txBody>
                  <a:tcPr marT="45728" marB="4572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69953">
                <a:tc>
                  <a:txBody>
                    <a:bodyPr/>
                    <a:lstStyle/>
                    <a:p>
                      <a:pPr marL="0" marR="0" lvl="0" indent="0" algn="l" defTabSz="914400" rtl="0" eaLnBrk="0" fontAlgn="base" latinLnBrk="0" hangingPunct="0">
                        <a:lnSpc>
                          <a:spcPct val="100000"/>
                        </a:lnSpc>
                        <a:spcBef>
                          <a:spcPct val="20000"/>
                        </a:spcBef>
                        <a:spcAft>
                          <a:spcPct val="0"/>
                        </a:spcAft>
                        <a:buClr>
                          <a:schemeClr val="accent1"/>
                        </a:buClr>
                        <a:buSzPct val="80000"/>
                        <a:buFont typeface="Monotype Sorts" pitchFamily="2" charset="2"/>
                        <a:buNone/>
                        <a:tabLst/>
                      </a:pPr>
                      <a:r>
                        <a:rPr kumimoji="0" lang="en-US" sz="1600" b="0" i="0" u="none" strike="noStrike" cap="none" normalizeH="0" baseline="0" smtClean="0">
                          <a:ln>
                            <a:noFill/>
                          </a:ln>
                          <a:solidFill>
                            <a:schemeClr val="tx1"/>
                          </a:solidFill>
                          <a:effectLst/>
                          <a:latin typeface="Futura Book" pitchFamily="34" charset="0"/>
                        </a:rPr>
                        <a:t>Tim</a:t>
                      </a:r>
                    </a:p>
                  </a:txBody>
                  <a:tcPr marT="45728" marB="4572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accent1"/>
                        </a:buClr>
                        <a:buSzPct val="80000"/>
                        <a:buFont typeface="Monotype Sorts" pitchFamily="2" charset="2"/>
                        <a:buNone/>
                        <a:tabLst/>
                      </a:pPr>
                      <a:r>
                        <a:rPr kumimoji="0" lang="en-US" sz="1600" b="0" i="0" u="none" strike="noStrike" cap="none" normalizeH="0" baseline="0" dirty="0" smtClean="0">
                          <a:ln>
                            <a:noFill/>
                          </a:ln>
                          <a:solidFill>
                            <a:schemeClr val="tx1"/>
                          </a:solidFill>
                          <a:effectLst/>
                          <a:latin typeface="Futura Book" pitchFamily="34" charset="0"/>
                        </a:rPr>
                        <a:t>16.0</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accent1"/>
                        </a:buClr>
                        <a:buSzPct val="80000"/>
                        <a:buFont typeface="Monotype Sorts" pitchFamily="2" charset="2"/>
                        <a:buNone/>
                        <a:tabLst/>
                      </a:pPr>
                      <a:r>
                        <a:rPr kumimoji="0" lang="en-US" sz="1600" b="0" i="0" u="none" strike="noStrike" cap="none" normalizeH="0" baseline="0" dirty="0" smtClean="0">
                          <a:ln>
                            <a:noFill/>
                          </a:ln>
                          <a:solidFill>
                            <a:schemeClr val="tx1"/>
                          </a:solidFill>
                          <a:effectLst/>
                          <a:latin typeface="Futura Book" pitchFamily="34" charset="0"/>
                        </a:rPr>
                        <a:t>Paul</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accent1"/>
                        </a:buClr>
                        <a:buSzPct val="80000"/>
                        <a:buFont typeface="Monotype Sorts" pitchFamily="2" charset="2"/>
                        <a:buNone/>
                        <a:tabLst/>
                      </a:pPr>
                      <a:r>
                        <a:rPr kumimoji="0" lang="en-US" sz="1600" b="0" i="0" u="none" strike="noStrike" cap="none" normalizeH="0" baseline="0" dirty="0" smtClean="0">
                          <a:ln>
                            <a:noFill/>
                          </a:ln>
                          <a:solidFill>
                            <a:schemeClr val="tx1"/>
                          </a:solidFill>
                          <a:effectLst/>
                          <a:latin typeface="Futura Book" pitchFamily="34" charset="0"/>
                        </a:rPr>
                        <a:t>18.0</a:t>
                      </a:r>
                    </a:p>
                  </a:txBody>
                  <a:tcPr marT="45728" marB="4572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cxnSp>
        <p:nvCxnSpPr>
          <p:cNvPr id="4" name="直線接點 3"/>
          <p:cNvCxnSpPr>
            <a:stCxn id="861276" idx="0"/>
            <a:endCxn id="861276" idx="2"/>
          </p:cNvCxnSpPr>
          <p:nvPr/>
        </p:nvCxnSpPr>
        <p:spPr>
          <a:xfrm>
            <a:off x="4660106" y="1693863"/>
            <a:ext cx="0" cy="4517742"/>
          </a:xfrm>
          <a:prstGeom prst="line">
            <a:avLst/>
          </a:prstGeom>
          <a:ln>
            <a:solidFill>
              <a:schemeClr val="tx1">
                <a:lumMod val="95000"/>
                <a:lumOff val="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95354337"/>
      </p:ext>
    </p:extLst>
  </p:cSld>
  <p:clrMapOvr>
    <a:masterClrMapping/>
  </p:clrMapOvr>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kumimoji="1" lang="en-US" altLang="zh-TW" dirty="0" smtClean="0"/>
              <a:t>Within subjects design</a:t>
            </a:r>
            <a:endParaRPr kumimoji="1" lang="zh-TW" altLang="en-US" dirty="0"/>
          </a:p>
        </p:txBody>
      </p:sp>
      <p:sp>
        <p:nvSpPr>
          <p:cNvPr id="3" name="內容版面配置區 2"/>
          <p:cNvSpPr>
            <a:spLocks noGrp="1"/>
          </p:cNvSpPr>
          <p:nvPr>
            <p:ph idx="1"/>
          </p:nvPr>
        </p:nvSpPr>
        <p:spPr/>
        <p:txBody>
          <a:bodyPr/>
          <a:lstStyle/>
          <a:p>
            <a:r>
              <a:rPr kumimoji="1" lang="en-US" altLang="zh-TW" dirty="0" smtClean="0"/>
              <a:t>Everyone uses both interfaces.</a:t>
            </a:r>
            <a:endParaRPr kumimoji="1" lang="zh-TW" altLang="en-US" dirty="0"/>
          </a:p>
        </p:txBody>
      </p:sp>
      <p:sp>
        <p:nvSpPr>
          <p:cNvPr id="4" name="投影片編號版面配置區 3"/>
          <p:cNvSpPr>
            <a:spLocks noGrp="1"/>
          </p:cNvSpPr>
          <p:nvPr>
            <p:ph type="sldNum" sz="quarter" idx="12"/>
          </p:nvPr>
        </p:nvSpPr>
        <p:spPr/>
        <p:txBody>
          <a:bodyPr/>
          <a:lstStyle/>
          <a:p>
            <a:fld id="{9D133943-7E97-DB49-B2BB-235221A3113F}" type="slidenum">
              <a:rPr lang="en-US" smtClean="0"/>
              <a:t>10</a:t>
            </a:fld>
            <a:endParaRPr lang="en-US"/>
          </a:p>
        </p:txBody>
      </p:sp>
      <p:pic>
        <p:nvPicPr>
          <p:cNvPr id="5" name="圖片 4"/>
          <p:cNvPicPr>
            <a:picLocks noChangeAspect="1"/>
          </p:cNvPicPr>
          <p:nvPr/>
        </p:nvPicPr>
        <p:blipFill>
          <a:blip r:embed="rId2"/>
          <a:stretch>
            <a:fillRect/>
          </a:stretch>
        </p:blipFill>
        <p:spPr>
          <a:xfrm>
            <a:off x="705319" y="2150073"/>
            <a:ext cx="7543800" cy="3568700"/>
          </a:xfrm>
          <a:prstGeom prst="rect">
            <a:avLst/>
          </a:prstGeom>
        </p:spPr>
      </p:pic>
    </p:spTree>
    <p:extLst>
      <p:ext uri="{BB962C8B-B14F-4D97-AF65-F5344CB8AC3E}">
        <p14:creationId xmlns:p14="http://schemas.microsoft.com/office/powerpoint/2010/main" val="7436086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p:txBody>
          <a:bodyPr/>
          <a:lstStyle/>
          <a:p>
            <a:r>
              <a:rPr lang="en-US" altLang="zh-TW">
                <a:latin typeface="Neutra Text" charset="0"/>
              </a:rPr>
              <a:t>Within subjects design</a:t>
            </a:r>
          </a:p>
        </p:txBody>
      </p:sp>
      <p:graphicFrame>
        <p:nvGraphicFramePr>
          <p:cNvPr id="864321" name="Group 65"/>
          <p:cNvGraphicFramePr>
            <a:graphicFrameLocks noGrp="1"/>
          </p:cNvGraphicFramePr>
          <p:nvPr>
            <p:ph idx="1"/>
            <p:extLst>
              <p:ext uri="{D42A27DB-BD31-4B8C-83A1-F6EECF244321}">
                <p14:modId xmlns:p14="http://schemas.microsoft.com/office/powerpoint/2010/main" val="287332451"/>
              </p:ext>
            </p:extLst>
          </p:nvPr>
        </p:nvGraphicFramePr>
        <p:xfrm>
          <a:off x="1632860" y="1561181"/>
          <a:ext cx="6191250" cy="4566120"/>
        </p:xfrm>
        <a:graphic>
          <a:graphicData uri="http://schemas.openxmlformats.org/drawingml/2006/table">
            <a:tbl>
              <a:tblPr/>
              <a:tblGrid>
                <a:gridCol w="2063750"/>
                <a:gridCol w="2063750"/>
                <a:gridCol w="2063750"/>
              </a:tblGrid>
              <a:tr h="579163">
                <a:tc>
                  <a:txBody>
                    <a:bodyPr/>
                    <a:lstStyle/>
                    <a:p>
                      <a:pPr marL="0" marR="0" lvl="0" indent="0" algn="l" defTabSz="914400" rtl="0" eaLnBrk="0" fontAlgn="base" latinLnBrk="0" hangingPunct="0">
                        <a:lnSpc>
                          <a:spcPct val="100000"/>
                        </a:lnSpc>
                        <a:spcBef>
                          <a:spcPct val="20000"/>
                        </a:spcBef>
                        <a:spcAft>
                          <a:spcPct val="0"/>
                        </a:spcAft>
                        <a:buClr>
                          <a:schemeClr val="accent1"/>
                        </a:buClr>
                        <a:buSzPct val="80000"/>
                        <a:buFont typeface="Monotype Sorts" pitchFamily="2" charset="2"/>
                        <a:buNone/>
                        <a:tabLst/>
                      </a:pPr>
                      <a:r>
                        <a:rPr kumimoji="0" lang="en-US" altLang="zh-TW" sz="1600" b="1" i="0" u="none" strike="noStrike" cap="none" normalizeH="0" baseline="0" dirty="0" smtClean="0">
                          <a:ln>
                            <a:noFill/>
                          </a:ln>
                          <a:solidFill>
                            <a:srgbClr val="000000"/>
                          </a:solidFill>
                          <a:effectLst/>
                          <a:latin typeface="Futura Book" pitchFamily="34" charset="0"/>
                        </a:rPr>
                        <a:t>Participants</a:t>
                      </a:r>
                    </a:p>
                  </a:txBody>
                  <a:tcPr marT="45723" marB="4572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accent1"/>
                        </a:buClr>
                        <a:buSzPct val="80000"/>
                        <a:buFont typeface="Monotype Sorts" pitchFamily="2" charset="2"/>
                        <a:buNone/>
                        <a:tabLst/>
                        <a:defRPr/>
                      </a:pPr>
                      <a:r>
                        <a:rPr kumimoji="0" lang="en-US" altLang="zh-TW" sz="1600" b="0" i="0" u="none" strike="noStrike" cap="none" normalizeH="0" baseline="0" dirty="0" smtClean="0">
                          <a:ln>
                            <a:noFill/>
                          </a:ln>
                          <a:solidFill>
                            <a:srgbClr val="000000"/>
                          </a:solidFill>
                          <a:effectLst/>
                          <a:latin typeface="Futura Book" pitchFamily="34" charset="0"/>
                        </a:rPr>
                        <a:t>Time when using Vacuum A</a:t>
                      </a:r>
                    </a:p>
                    <a:p>
                      <a:pPr marL="0" marR="0" lvl="0" indent="0" algn="l" defTabSz="914400" rtl="0" eaLnBrk="0" fontAlgn="base" latinLnBrk="0" hangingPunct="0">
                        <a:lnSpc>
                          <a:spcPct val="100000"/>
                        </a:lnSpc>
                        <a:spcBef>
                          <a:spcPct val="20000"/>
                        </a:spcBef>
                        <a:spcAft>
                          <a:spcPct val="0"/>
                        </a:spcAft>
                        <a:buClr>
                          <a:schemeClr val="accent1"/>
                        </a:buClr>
                        <a:buSzPct val="80000"/>
                        <a:buFont typeface="Monotype Sorts" pitchFamily="2" charset="2"/>
                        <a:buNone/>
                        <a:tabLst/>
                      </a:pPr>
                      <a:r>
                        <a:rPr kumimoji="0" lang="en-US" altLang="zh-TW" sz="1600" b="0" i="0" u="none" strike="noStrike" cap="none" normalizeH="0" baseline="0" dirty="0" smtClean="0">
                          <a:ln>
                            <a:noFill/>
                          </a:ln>
                          <a:solidFill>
                            <a:srgbClr val="000000"/>
                          </a:solidFill>
                          <a:effectLst/>
                          <a:latin typeface="Futura Book" pitchFamily="34" charset="0"/>
                        </a:rPr>
                        <a:t> (in seconds)</a:t>
                      </a:r>
                    </a:p>
                  </a:txBody>
                  <a:tcPr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accent1"/>
                        </a:buClr>
                        <a:buSzPct val="80000"/>
                        <a:buFont typeface="Monotype Sorts" pitchFamily="2" charset="2"/>
                        <a:buNone/>
                        <a:tabLst/>
                        <a:defRPr/>
                      </a:pPr>
                      <a:r>
                        <a:rPr kumimoji="0" lang="en-US" altLang="zh-TW" sz="1600" b="0" i="0" u="none" strike="noStrike" cap="none" normalizeH="0" baseline="0" dirty="0" smtClean="0">
                          <a:ln>
                            <a:noFill/>
                          </a:ln>
                          <a:solidFill>
                            <a:srgbClr val="000000"/>
                          </a:solidFill>
                          <a:effectLst/>
                          <a:latin typeface="Futura Book" pitchFamily="34" charset="0"/>
                        </a:rPr>
                        <a:t>Time when using Vacuum B</a:t>
                      </a:r>
                    </a:p>
                    <a:p>
                      <a:pPr marL="0" marR="0" lvl="0" indent="0" algn="l" defTabSz="914400" rtl="0" eaLnBrk="0" fontAlgn="base" latinLnBrk="0" hangingPunct="0">
                        <a:lnSpc>
                          <a:spcPct val="100000"/>
                        </a:lnSpc>
                        <a:spcBef>
                          <a:spcPct val="20000"/>
                        </a:spcBef>
                        <a:spcAft>
                          <a:spcPct val="0"/>
                        </a:spcAft>
                        <a:buClr>
                          <a:schemeClr val="accent1"/>
                        </a:buClr>
                        <a:buSzPct val="80000"/>
                        <a:buFont typeface="Monotype Sorts" pitchFamily="2" charset="2"/>
                        <a:buNone/>
                        <a:tabLst/>
                      </a:pPr>
                      <a:r>
                        <a:rPr kumimoji="0" lang="en-US" altLang="zh-TW" sz="1600" b="0" i="0" u="none" strike="noStrike" cap="none" normalizeH="0" baseline="0" dirty="0" smtClean="0">
                          <a:ln>
                            <a:noFill/>
                          </a:ln>
                          <a:solidFill>
                            <a:srgbClr val="000000"/>
                          </a:solidFill>
                          <a:effectLst/>
                          <a:latin typeface="Futura Book" pitchFamily="34" charset="0"/>
                        </a:rPr>
                        <a:t> (in seconds)</a:t>
                      </a:r>
                    </a:p>
                  </a:txBody>
                  <a:tcPr marT="45723" marB="4572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68327">
                <a:tc>
                  <a:txBody>
                    <a:bodyPr/>
                    <a:lstStyle/>
                    <a:p>
                      <a:pPr marL="0" marR="0" lvl="0" indent="0" algn="l" defTabSz="914400" rtl="0" eaLnBrk="0" fontAlgn="base" latinLnBrk="0" hangingPunct="0">
                        <a:lnSpc>
                          <a:spcPct val="100000"/>
                        </a:lnSpc>
                        <a:spcBef>
                          <a:spcPct val="20000"/>
                        </a:spcBef>
                        <a:spcAft>
                          <a:spcPct val="0"/>
                        </a:spcAft>
                        <a:buClr>
                          <a:schemeClr val="accent1"/>
                        </a:buClr>
                        <a:buSzPct val="80000"/>
                        <a:buFont typeface="Monotype Sorts" pitchFamily="2" charset="2"/>
                        <a:buNone/>
                        <a:tabLst/>
                      </a:pPr>
                      <a:r>
                        <a:rPr kumimoji="0" lang="en-US" sz="1600" b="0" i="0" u="none" strike="noStrike" cap="none" normalizeH="0" baseline="0" smtClean="0">
                          <a:ln>
                            <a:noFill/>
                          </a:ln>
                          <a:solidFill>
                            <a:schemeClr val="tx1"/>
                          </a:solidFill>
                          <a:effectLst/>
                          <a:latin typeface="Futura Book" pitchFamily="34" charset="0"/>
                        </a:rPr>
                        <a:t>Mike</a:t>
                      </a:r>
                    </a:p>
                  </a:txBody>
                  <a:tcPr marT="45723" marB="4572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accent1"/>
                        </a:buClr>
                        <a:buSzPct val="80000"/>
                        <a:buFont typeface="Monotype Sorts" pitchFamily="2" charset="2"/>
                        <a:buNone/>
                        <a:tabLst/>
                      </a:pPr>
                      <a:r>
                        <a:rPr kumimoji="0" lang="en-US" sz="1600" b="0" i="0" u="none" strike="noStrike" cap="none" normalizeH="0" baseline="0" dirty="0" smtClean="0">
                          <a:ln>
                            <a:noFill/>
                          </a:ln>
                          <a:solidFill>
                            <a:schemeClr val="tx1"/>
                          </a:solidFill>
                          <a:effectLst/>
                          <a:latin typeface="Futura Book" pitchFamily="34" charset="0"/>
                        </a:rPr>
                        <a:t>11.7</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accent1"/>
                        </a:buClr>
                        <a:buSzPct val="80000"/>
                        <a:buFont typeface="Monotype Sorts" pitchFamily="2" charset="2"/>
                        <a:buNone/>
                        <a:tabLst/>
                      </a:pPr>
                      <a:r>
                        <a:rPr kumimoji="0" lang="en-US" sz="1600" b="0" i="0" u="none" strike="noStrike" cap="none" normalizeH="0" baseline="0" dirty="0" smtClean="0">
                          <a:ln>
                            <a:noFill/>
                          </a:ln>
                          <a:solidFill>
                            <a:schemeClr val="tx1"/>
                          </a:solidFill>
                          <a:effectLst/>
                          <a:latin typeface="Futura Book" pitchFamily="34" charset="0"/>
                        </a:rPr>
                        <a:t>15.7</a:t>
                      </a:r>
                    </a:p>
                  </a:txBody>
                  <a:tcPr marT="45728" marB="4572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69915">
                <a:tc>
                  <a:txBody>
                    <a:bodyPr/>
                    <a:lstStyle/>
                    <a:p>
                      <a:pPr marL="0" marR="0" lvl="0" indent="0" algn="l" defTabSz="914400" rtl="0" eaLnBrk="0" fontAlgn="base" latinLnBrk="0" hangingPunct="0">
                        <a:lnSpc>
                          <a:spcPct val="100000"/>
                        </a:lnSpc>
                        <a:spcBef>
                          <a:spcPct val="20000"/>
                        </a:spcBef>
                        <a:spcAft>
                          <a:spcPct val="0"/>
                        </a:spcAft>
                        <a:buClr>
                          <a:schemeClr val="accent1"/>
                        </a:buClr>
                        <a:buSzPct val="80000"/>
                        <a:buFont typeface="Monotype Sorts" pitchFamily="2" charset="2"/>
                        <a:buNone/>
                        <a:tabLst/>
                      </a:pPr>
                      <a:r>
                        <a:rPr kumimoji="0" lang="en-US" sz="1600" b="0" i="0" u="none" strike="noStrike" cap="none" normalizeH="0" baseline="0" smtClean="0">
                          <a:ln>
                            <a:noFill/>
                          </a:ln>
                          <a:solidFill>
                            <a:schemeClr val="tx1"/>
                          </a:solidFill>
                          <a:effectLst/>
                          <a:latin typeface="Futura Book" pitchFamily="34" charset="0"/>
                        </a:rPr>
                        <a:t>Bob</a:t>
                      </a:r>
                    </a:p>
                  </a:txBody>
                  <a:tcPr marT="45723" marB="4572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accent1"/>
                        </a:buClr>
                        <a:buSzPct val="80000"/>
                        <a:buFont typeface="Monotype Sorts" pitchFamily="2" charset="2"/>
                        <a:buNone/>
                        <a:tabLst/>
                      </a:pPr>
                      <a:r>
                        <a:rPr kumimoji="0" lang="en-US" sz="1600" b="0" i="0" u="none" strike="noStrike" cap="none" normalizeH="0" baseline="0" dirty="0" smtClean="0">
                          <a:ln>
                            <a:noFill/>
                          </a:ln>
                          <a:solidFill>
                            <a:schemeClr val="tx1"/>
                          </a:solidFill>
                          <a:effectLst/>
                          <a:latin typeface="Futura Book" pitchFamily="34" charset="0"/>
                        </a:rPr>
                        <a:t>18.2</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accent1"/>
                        </a:buClr>
                        <a:buSzPct val="80000"/>
                        <a:buFont typeface="Monotype Sorts" pitchFamily="2" charset="2"/>
                        <a:buNone/>
                        <a:tabLst/>
                      </a:pPr>
                      <a:r>
                        <a:rPr kumimoji="0" lang="en-US" sz="1600" b="0" i="0" u="none" strike="noStrike" cap="none" normalizeH="0" baseline="0" dirty="0" smtClean="0">
                          <a:ln>
                            <a:noFill/>
                          </a:ln>
                          <a:solidFill>
                            <a:schemeClr val="tx1"/>
                          </a:solidFill>
                          <a:effectLst/>
                          <a:latin typeface="Futura Book" pitchFamily="34" charset="0"/>
                        </a:rPr>
                        <a:t>13.4</a:t>
                      </a:r>
                    </a:p>
                  </a:txBody>
                  <a:tcPr marT="45728" marB="4572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69915">
                <a:tc>
                  <a:txBody>
                    <a:bodyPr/>
                    <a:lstStyle/>
                    <a:p>
                      <a:pPr marL="0" marR="0" lvl="0" indent="0" algn="l" defTabSz="914400" rtl="0" eaLnBrk="0" fontAlgn="base" latinLnBrk="0" hangingPunct="0">
                        <a:lnSpc>
                          <a:spcPct val="100000"/>
                        </a:lnSpc>
                        <a:spcBef>
                          <a:spcPct val="20000"/>
                        </a:spcBef>
                        <a:spcAft>
                          <a:spcPct val="0"/>
                        </a:spcAft>
                        <a:buClr>
                          <a:schemeClr val="accent1"/>
                        </a:buClr>
                        <a:buSzPct val="80000"/>
                        <a:buFont typeface="Monotype Sorts" pitchFamily="2" charset="2"/>
                        <a:buNone/>
                        <a:tabLst/>
                      </a:pPr>
                      <a:r>
                        <a:rPr kumimoji="0" lang="en-US" sz="1600" b="0" i="0" u="none" strike="noStrike" cap="none" normalizeH="0" baseline="0" smtClean="0">
                          <a:ln>
                            <a:noFill/>
                          </a:ln>
                          <a:solidFill>
                            <a:schemeClr val="tx1"/>
                          </a:solidFill>
                          <a:effectLst/>
                          <a:latin typeface="Futura Book" pitchFamily="34" charset="0"/>
                        </a:rPr>
                        <a:t>Homer</a:t>
                      </a:r>
                    </a:p>
                  </a:txBody>
                  <a:tcPr marT="45723" marB="4572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accent1"/>
                        </a:buClr>
                        <a:buSzPct val="80000"/>
                        <a:buFont typeface="Monotype Sorts" pitchFamily="2" charset="2"/>
                        <a:buNone/>
                        <a:tabLst/>
                      </a:pPr>
                      <a:r>
                        <a:rPr kumimoji="0" lang="en-US" sz="1600" b="0" i="0" u="none" strike="noStrike" cap="none" normalizeH="0" baseline="0" smtClean="0">
                          <a:ln>
                            <a:noFill/>
                          </a:ln>
                          <a:solidFill>
                            <a:schemeClr val="tx1"/>
                          </a:solidFill>
                          <a:effectLst/>
                          <a:latin typeface="Futura Book" pitchFamily="34" charset="0"/>
                        </a:rPr>
                        <a:t>12.2</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accent1"/>
                        </a:buClr>
                        <a:buSzPct val="80000"/>
                        <a:buFont typeface="Monotype Sorts" pitchFamily="2" charset="2"/>
                        <a:buNone/>
                        <a:tabLst/>
                      </a:pPr>
                      <a:r>
                        <a:rPr kumimoji="0" lang="en-US" sz="1600" b="0" i="0" u="none" strike="noStrike" cap="none" normalizeH="0" baseline="0" dirty="0" smtClean="0">
                          <a:ln>
                            <a:noFill/>
                          </a:ln>
                          <a:solidFill>
                            <a:schemeClr val="tx1"/>
                          </a:solidFill>
                          <a:effectLst/>
                          <a:latin typeface="Futura Book" pitchFamily="34" charset="0"/>
                        </a:rPr>
                        <a:t>18.0</a:t>
                      </a:r>
                    </a:p>
                  </a:txBody>
                  <a:tcPr marT="45728" marB="4572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69915">
                <a:tc>
                  <a:txBody>
                    <a:bodyPr/>
                    <a:lstStyle/>
                    <a:p>
                      <a:pPr marL="0" marR="0" lvl="0" indent="0" algn="l" defTabSz="914400" rtl="0" eaLnBrk="0" fontAlgn="base" latinLnBrk="0" hangingPunct="0">
                        <a:lnSpc>
                          <a:spcPct val="100000"/>
                        </a:lnSpc>
                        <a:spcBef>
                          <a:spcPct val="20000"/>
                        </a:spcBef>
                        <a:spcAft>
                          <a:spcPct val="0"/>
                        </a:spcAft>
                        <a:buClr>
                          <a:schemeClr val="accent1"/>
                        </a:buClr>
                        <a:buSzPct val="80000"/>
                        <a:buFont typeface="Monotype Sorts" pitchFamily="2" charset="2"/>
                        <a:buNone/>
                        <a:tabLst/>
                      </a:pPr>
                      <a:r>
                        <a:rPr kumimoji="0" lang="en-US" sz="1600" b="0" i="0" u="none" strike="noStrike" cap="none" normalizeH="0" baseline="0" smtClean="0">
                          <a:ln>
                            <a:noFill/>
                          </a:ln>
                          <a:solidFill>
                            <a:schemeClr val="tx1"/>
                          </a:solidFill>
                          <a:effectLst/>
                          <a:latin typeface="Futura Book" pitchFamily="34" charset="0"/>
                        </a:rPr>
                        <a:t>George</a:t>
                      </a:r>
                    </a:p>
                  </a:txBody>
                  <a:tcPr marT="45723" marB="4572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accent1"/>
                        </a:buClr>
                        <a:buSzPct val="80000"/>
                        <a:buFont typeface="Monotype Sorts" pitchFamily="2" charset="2"/>
                        <a:buNone/>
                        <a:tabLst/>
                      </a:pPr>
                      <a:r>
                        <a:rPr kumimoji="0" lang="en-US" sz="1600" b="0" i="0" u="none" strike="noStrike" cap="none" normalizeH="0" baseline="0" dirty="0" smtClean="0">
                          <a:ln>
                            <a:noFill/>
                          </a:ln>
                          <a:solidFill>
                            <a:schemeClr val="tx1"/>
                          </a:solidFill>
                          <a:effectLst/>
                          <a:latin typeface="Futura Book" pitchFamily="34" charset="0"/>
                        </a:rPr>
                        <a:t>15.4</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accent1"/>
                        </a:buClr>
                        <a:buSzPct val="80000"/>
                        <a:buFont typeface="Monotype Sorts" pitchFamily="2" charset="2"/>
                        <a:buNone/>
                        <a:tabLst/>
                      </a:pPr>
                      <a:r>
                        <a:rPr kumimoji="0" lang="en-US" sz="1600" b="0" i="0" u="none" strike="noStrike" cap="none" normalizeH="0" baseline="0" dirty="0" smtClean="0">
                          <a:ln>
                            <a:noFill/>
                          </a:ln>
                          <a:solidFill>
                            <a:schemeClr val="tx1"/>
                          </a:solidFill>
                          <a:effectLst/>
                          <a:latin typeface="Futura Book" pitchFamily="34" charset="0"/>
                        </a:rPr>
                        <a:t>12.8</a:t>
                      </a:r>
                    </a:p>
                  </a:txBody>
                  <a:tcPr marT="45728" marB="4572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68327">
                <a:tc>
                  <a:txBody>
                    <a:bodyPr/>
                    <a:lstStyle/>
                    <a:p>
                      <a:pPr marL="0" marR="0" lvl="0" indent="0" algn="l" defTabSz="914400" rtl="0" eaLnBrk="0" fontAlgn="base" latinLnBrk="0" hangingPunct="0">
                        <a:lnSpc>
                          <a:spcPct val="100000"/>
                        </a:lnSpc>
                        <a:spcBef>
                          <a:spcPct val="20000"/>
                        </a:spcBef>
                        <a:spcAft>
                          <a:spcPct val="0"/>
                        </a:spcAft>
                        <a:buClr>
                          <a:schemeClr val="accent1"/>
                        </a:buClr>
                        <a:buSzPct val="80000"/>
                        <a:buFont typeface="Monotype Sorts" pitchFamily="2" charset="2"/>
                        <a:buNone/>
                        <a:tabLst/>
                      </a:pPr>
                      <a:r>
                        <a:rPr kumimoji="0" lang="en-US" sz="1600" b="0" i="0" u="none" strike="noStrike" cap="none" normalizeH="0" baseline="0" smtClean="0">
                          <a:ln>
                            <a:noFill/>
                          </a:ln>
                          <a:solidFill>
                            <a:schemeClr val="tx1"/>
                          </a:solidFill>
                          <a:effectLst/>
                          <a:latin typeface="Futura Book" pitchFamily="34" charset="0"/>
                        </a:rPr>
                        <a:t>Harry</a:t>
                      </a:r>
                    </a:p>
                  </a:txBody>
                  <a:tcPr marT="45723" marB="4572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accent1"/>
                        </a:buClr>
                        <a:buSzPct val="80000"/>
                        <a:buFont typeface="Monotype Sorts" pitchFamily="2" charset="2"/>
                        <a:buNone/>
                        <a:tabLst/>
                      </a:pPr>
                      <a:r>
                        <a:rPr kumimoji="0" lang="en-US" sz="1600" b="0" i="0" u="none" strike="noStrike" cap="none" normalizeH="0" baseline="0" dirty="0" smtClean="0">
                          <a:ln>
                            <a:noFill/>
                          </a:ln>
                          <a:solidFill>
                            <a:schemeClr val="tx1"/>
                          </a:solidFill>
                          <a:effectLst/>
                          <a:latin typeface="Futura Book" pitchFamily="34" charset="0"/>
                        </a:rPr>
                        <a:t>15.8</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accent1"/>
                        </a:buClr>
                        <a:buSzPct val="80000"/>
                        <a:buFont typeface="Monotype Sorts" pitchFamily="2" charset="2"/>
                        <a:buNone/>
                        <a:tabLst/>
                      </a:pPr>
                      <a:r>
                        <a:rPr kumimoji="0" lang="en-US" sz="1600" b="0" i="0" u="none" strike="noStrike" cap="none" normalizeH="0" baseline="0" dirty="0" smtClean="0">
                          <a:ln>
                            <a:noFill/>
                          </a:ln>
                          <a:solidFill>
                            <a:schemeClr val="tx1"/>
                          </a:solidFill>
                          <a:effectLst/>
                          <a:latin typeface="Futura Book" pitchFamily="34" charset="0"/>
                        </a:rPr>
                        <a:t>13.6</a:t>
                      </a:r>
                    </a:p>
                  </a:txBody>
                  <a:tcPr marT="45728" marB="4572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69915">
                <a:tc>
                  <a:txBody>
                    <a:bodyPr/>
                    <a:lstStyle/>
                    <a:p>
                      <a:pPr marL="0" marR="0" lvl="0" indent="0" algn="l" defTabSz="914400" rtl="0" eaLnBrk="0" fontAlgn="base" latinLnBrk="0" hangingPunct="0">
                        <a:lnSpc>
                          <a:spcPct val="100000"/>
                        </a:lnSpc>
                        <a:spcBef>
                          <a:spcPct val="20000"/>
                        </a:spcBef>
                        <a:spcAft>
                          <a:spcPct val="0"/>
                        </a:spcAft>
                        <a:buClr>
                          <a:schemeClr val="accent1"/>
                        </a:buClr>
                        <a:buSzPct val="80000"/>
                        <a:buFont typeface="Monotype Sorts" pitchFamily="2" charset="2"/>
                        <a:buNone/>
                        <a:tabLst/>
                      </a:pPr>
                      <a:r>
                        <a:rPr kumimoji="0" lang="en-US" sz="1600" b="0" i="0" u="none" strike="noStrike" cap="none" normalizeH="0" baseline="0" smtClean="0">
                          <a:ln>
                            <a:noFill/>
                          </a:ln>
                          <a:solidFill>
                            <a:schemeClr val="tx1"/>
                          </a:solidFill>
                          <a:effectLst/>
                          <a:latin typeface="Futura Book" pitchFamily="34" charset="0"/>
                        </a:rPr>
                        <a:t>Gordon</a:t>
                      </a:r>
                    </a:p>
                  </a:txBody>
                  <a:tcPr marT="45723" marB="4572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accent1"/>
                        </a:buClr>
                        <a:buSzPct val="80000"/>
                        <a:buFont typeface="Monotype Sorts" pitchFamily="2" charset="2"/>
                        <a:buNone/>
                        <a:tabLst/>
                      </a:pPr>
                      <a:r>
                        <a:rPr kumimoji="0" lang="en-US" sz="1600" b="0" i="0" u="none" strike="noStrike" cap="none" normalizeH="0" baseline="0" dirty="0" smtClean="0">
                          <a:ln>
                            <a:noFill/>
                          </a:ln>
                          <a:solidFill>
                            <a:schemeClr val="tx1"/>
                          </a:solidFill>
                          <a:effectLst/>
                          <a:latin typeface="Futura Book" pitchFamily="34" charset="0"/>
                        </a:rPr>
                        <a:t>13.2</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accent1"/>
                        </a:buClr>
                        <a:buSzPct val="80000"/>
                        <a:buFont typeface="Monotype Sorts" pitchFamily="2" charset="2"/>
                        <a:buNone/>
                        <a:tabLst/>
                      </a:pPr>
                      <a:r>
                        <a:rPr kumimoji="0" lang="en-US" sz="1600" b="0" i="0" u="none" strike="noStrike" cap="none" normalizeH="0" baseline="0" dirty="0" smtClean="0">
                          <a:ln>
                            <a:noFill/>
                          </a:ln>
                          <a:solidFill>
                            <a:schemeClr val="tx1"/>
                          </a:solidFill>
                          <a:effectLst/>
                          <a:latin typeface="Futura Book" pitchFamily="34" charset="0"/>
                        </a:rPr>
                        <a:t>19.0</a:t>
                      </a:r>
                    </a:p>
                  </a:txBody>
                  <a:tcPr marT="45728" marB="4572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69915">
                <a:tc>
                  <a:txBody>
                    <a:bodyPr/>
                    <a:lstStyle/>
                    <a:p>
                      <a:pPr marL="0" marR="0" lvl="0" indent="0" algn="l" defTabSz="914400" rtl="0" eaLnBrk="0" fontAlgn="base" latinLnBrk="0" hangingPunct="0">
                        <a:lnSpc>
                          <a:spcPct val="100000"/>
                        </a:lnSpc>
                        <a:spcBef>
                          <a:spcPct val="20000"/>
                        </a:spcBef>
                        <a:spcAft>
                          <a:spcPct val="0"/>
                        </a:spcAft>
                        <a:buClr>
                          <a:schemeClr val="accent1"/>
                        </a:buClr>
                        <a:buSzPct val="80000"/>
                        <a:buFont typeface="Monotype Sorts" pitchFamily="2" charset="2"/>
                        <a:buNone/>
                        <a:tabLst/>
                      </a:pPr>
                      <a:r>
                        <a:rPr kumimoji="0" lang="en-US" sz="1600" b="0" i="0" u="none" strike="noStrike" cap="none" normalizeH="0" baseline="0" smtClean="0">
                          <a:ln>
                            <a:noFill/>
                          </a:ln>
                          <a:solidFill>
                            <a:schemeClr val="tx1"/>
                          </a:solidFill>
                          <a:effectLst/>
                          <a:latin typeface="Futura Book" pitchFamily="34" charset="0"/>
                        </a:rPr>
                        <a:t>John</a:t>
                      </a:r>
                    </a:p>
                  </a:txBody>
                  <a:tcPr marT="45723" marB="4572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accent1"/>
                        </a:buClr>
                        <a:buSzPct val="80000"/>
                        <a:buFont typeface="Monotype Sorts" pitchFamily="2" charset="2"/>
                        <a:buNone/>
                        <a:tabLst/>
                      </a:pPr>
                      <a:r>
                        <a:rPr kumimoji="0" lang="en-US" sz="1600" b="0" i="0" u="none" strike="noStrike" cap="none" normalizeH="0" baseline="0" dirty="0" smtClean="0">
                          <a:ln>
                            <a:noFill/>
                          </a:ln>
                          <a:solidFill>
                            <a:schemeClr val="tx1"/>
                          </a:solidFill>
                          <a:effectLst/>
                          <a:latin typeface="Futura Book" pitchFamily="34" charset="0"/>
                        </a:rPr>
                        <a:t>13.7</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accent1"/>
                        </a:buClr>
                        <a:buSzPct val="80000"/>
                        <a:buFont typeface="Monotype Sorts" pitchFamily="2" charset="2"/>
                        <a:buNone/>
                        <a:tabLst/>
                      </a:pPr>
                      <a:r>
                        <a:rPr kumimoji="0" lang="en-US" sz="1600" b="0" i="0" u="none" strike="noStrike" cap="none" normalizeH="0" baseline="0" dirty="0" smtClean="0">
                          <a:ln>
                            <a:noFill/>
                          </a:ln>
                          <a:solidFill>
                            <a:schemeClr val="tx1"/>
                          </a:solidFill>
                          <a:effectLst/>
                          <a:latin typeface="Futura Book" pitchFamily="34" charset="0"/>
                        </a:rPr>
                        <a:t>16.2</a:t>
                      </a:r>
                    </a:p>
                  </a:txBody>
                  <a:tcPr marT="45728" marB="4572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69915">
                <a:tc>
                  <a:txBody>
                    <a:bodyPr/>
                    <a:lstStyle/>
                    <a:p>
                      <a:pPr marL="0" marR="0" lvl="0" indent="0" algn="l" defTabSz="914400" rtl="0" eaLnBrk="0" fontAlgn="base" latinLnBrk="0" hangingPunct="0">
                        <a:lnSpc>
                          <a:spcPct val="100000"/>
                        </a:lnSpc>
                        <a:spcBef>
                          <a:spcPct val="20000"/>
                        </a:spcBef>
                        <a:spcAft>
                          <a:spcPct val="0"/>
                        </a:spcAft>
                        <a:buClr>
                          <a:schemeClr val="accent1"/>
                        </a:buClr>
                        <a:buSzPct val="80000"/>
                        <a:buFont typeface="Monotype Sorts" pitchFamily="2" charset="2"/>
                        <a:buNone/>
                        <a:tabLst/>
                      </a:pPr>
                      <a:r>
                        <a:rPr kumimoji="0" lang="en-US" sz="1600" b="0" i="0" u="none" strike="noStrike" cap="none" normalizeH="0" baseline="0" smtClean="0">
                          <a:ln>
                            <a:noFill/>
                          </a:ln>
                          <a:solidFill>
                            <a:schemeClr val="tx1"/>
                          </a:solidFill>
                          <a:effectLst/>
                          <a:latin typeface="Futura Book" pitchFamily="34" charset="0"/>
                        </a:rPr>
                        <a:t>Bill</a:t>
                      </a:r>
                    </a:p>
                  </a:txBody>
                  <a:tcPr marT="45723" marB="4572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accent1"/>
                        </a:buClr>
                        <a:buSzPct val="80000"/>
                        <a:buFont typeface="Monotype Sorts" pitchFamily="2" charset="2"/>
                        <a:buNone/>
                        <a:tabLst/>
                      </a:pPr>
                      <a:r>
                        <a:rPr kumimoji="0" lang="en-US" sz="1600" b="0" i="0" u="none" strike="noStrike" cap="none" normalizeH="0" baseline="0" dirty="0" smtClean="0">
                          <a:ln>
                            <a:noFill/>
                          </a:ln>
                          <a:solidFill>
                            <a:schemeClr val="tx1"/>
                          </a:solidFill>
                          <a:effectLst/>
                          <a:latin typeface="Futura Book" pitchFamily="34" charset="0"/>
                        </a:rPr>
                        <a:t>19.1</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accent1"/>
                        </a:buClr>
                        <a:buSzPct val="80000"/>
                        <a:buFont typeface="Monotype Sorts" pitchFamily="2" charset="2"/>
                        <a:buNone/>
                        <a:tabLst/>
                      </a:pPr>
                      <a:r>
                        <a:rPr kumimoji="0" lang="en-US" sz="1600" b="0" i="0" u="none" strike="noStrike" cap="none" normalizeH="0" baseline="0" dirty="0" smtClean="0">
                          <a:ln>
                            <a:noFill/>
                          </a:ln>
                          <a:solidFill>
                            <a:schemeClr val="tx1"/>
                          </a:solidFill>
                          <a:effectLst/>
                          <a:latin typeface="Futura Book" pitchFamily="34" charset="0"/>
                        </a:rPr>
                        <a:t>11.9</a:t>
                      </a:r>
                    </a:p>
                  </a:txBody>
                  <a:tcPr marT="45728" marB="4572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68327">
                <a:tc>
                  <a:txBody>
                    <a:bodyPr/>
                    <a:lstStyle/>
                    <a:p>
                      <a:pPr marL="0" marR="0" lvl="0" indent="0" algn="l" defTabSz="914400" rtl="0" eaLnBrk="0" fontAlgn="base" latinLnBrk="0" hangingPunct="0">
                        <a:lnSpc>
                          <a:spcPct val="100000"/>
                        </a:lnSpc>
                        <a:spcBef>
                          <a:spcPct val="20000"/>
                        </a:spcBef>
                        <a:spcAft>
                          <a:spcPct val="0"/>
                        </a:spcAft>
                        <a:buClr>
                          <a:schemeClr val="accent1"/>
                        </a:buClr>
                        <a:buSzPct val="80000"/>
                        <a:buFont typeface="Monotype Sorts" pitchFamily="2" charset="2"/>
                        <a:buNone/>
                        <a:tabLst/>
                      </a:pPr>
                      <a:r>
                        <a:rPr kumimoji="0" lang="en-US" sz="1600" b="0" i="0" u="none" strike="noStrike" cap="none" normalizeH="0" baseline="0" smtClean="0">
                          <a:ln>
                            <a:noFill/>
                          </a:ln>
                          <a:solidFill>
                            <a:schemeClr val="tx1"/>
                          </a:solidFill>
                          <a:effectLst/>
                          <a:latin typeface="Futura Book" pitchFamily="34" charset="0"/>
                        </a:rPr>
                        <a:t>Randy</a:t>
                      </a:r>
                    </a:p>
                  </a:txBody>
                  <a:tcPr marT="45723" marB="4572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accent1"/>
                        </a:buClr>
                        <a:buSzPct val="80000"/>
                        <a:buFont typeface="Monotype Sorts" pitchFamily="2" charset="2"/>
                        <a:buNone/>
                        <a:tabLst/>
                      </a:pPr>
                      <a:r>
                        <a:rPr kumimoji="0" lang="en-US" sz="1600" b="0" i="0" u="none" strike="noStrike" cap="none" normalizeH="0" baseline="0" dirty="0" smtClean="0">
                          <a:ln>
                            <a:noFill/>
                          </a:ln>
                          <a:solidFill>
                            <a:schemeClr val="tx1"/>
                          </a:solidFill>
                          <a:effectLst/>
                          <a:latin typeface="Futura Book" pitchFamily="34" charset="0"/>
                        </a:rPr>
                        <a:t>12.9</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accent1"/>
                        </a:buClr>
                        <a:buSzPct val="80000"/>
                        <a:buFont typeface="Monotype Sorts" pitchFamily="2" charset="2"/>
                        <a:buNone/>
                        <a:tabLst/>
                      </a:pPr>
                      <a:r>
                        <a:rPr kumimoji="0" lang="en-US" sz="1600" b="0" i="0" u="none" strike="noStrike" cap="none" normalizeH="0" baseline="0" dirty="0" smtClean="0">
                          <a:ln>
                            <a:noFill/>
                          </a:ln>
                          <a:solidFill>
                            <a:schemeClr val="tx1"/>
                          </a:solidFill>
                          <a:effectLst/>
                          <a:latin typeface="Futura Book" pitchFamily="34" charset="0"/>
                        </a:rPr>
                        <a:t>14.6</a:t>
                      </a:r>
                    </a:p>
                  </a:txBody>
                  <a:tcPr marT="45728" marB="4572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69915">
                <a:tc>
                  <a:txBody>
                    <a:bodyPr/>
                    <a:lstStyle/>
                    <a:p>
                      <a:pPr marL="0" marR="0" lvl="0" indent="0" algn="l" defTabSz="914400" rtl="0" eaLnBrk="0" fontAlgn="base" latinLnBrk="0" hangingPunct="0">
                        <a:lnSpc>
                          <a:spcPct val="100000"/>
                        </a:lnSpc>
                        <a:spcBef>
                          <a:spcPct val="20000"/>
                        </a:spcBef>
                        <a:spcAft>
                          <a:spcPct val="0"/>
                        </a:spcAft>
                        <a:buClr>
                          <a:schemeClr val="accent1"/>
                        </a:buClr>
                        <a:buSzPct val="80000"/>
                        <a:buFont typeface="Monotype Sorts" pitchFamily="2" charset="2"/>
                        <a:buNone/>
                        <a:tabLst/>
                      </a:pPr>
                      <a:r>
                        <a:rPr kumimoji="0" lang="en-US" sz="1600" b="0" i="0" u="none" strike="noStrike" cap="none" normalizeH="0" baseline="0" smtClean="0">
                          <a:ln>
                            <a:noFill/>
                          </a:ln>
                          <a:solidFill>
                            <a:schemeClr val="tx1"/>
                          </a:solidFill>
                          <a:effectLst/>
                          <a:latin typeface="Futura Book" pitchFamily="34" charset="0"/>
                        </a:rPr>
                        <a:t>Tim</a:t>
                      </a:r>
                    </a:p>
                  </a:txBody>
                  <a:tcPr marT="45723" marB="4572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accent1"/>
                        </a:buClr>
                        <a:buSzPct val="80000"/>
                        <a:buFont typeface="Monotype Sorts" pitchFamily="2" charset="2"/>
                        <a:buNone/>
                        <a:tabLst/>
                      </a:pPr>
                      <a:r>
                        <a:rPr kumimoji="0" lang="en-US" sz="1600" b="0" i="0" u="none" strike="noStrike" cap="none" normalizeH="0" baseline="0" dirty="0" smtClean="0">
                          <a:ln>
                            <a:noFill/>
                          </a:ln>
                          <a:solidFill>
                            <a:schemeClr val="tx1"/>
                          </a:solidFill>
                          <a:effectLst/>
                          <a:latin typeface="Futura Book" pitchFamily="34" charset="0"/>
                        </a:rPr>
                        <a:t>16.0</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accent1"/>
                        </a:buClr>
                        <a:buSzPct val="80000"/>
                        <a:buFont typeface="Monotype Sorts" pitchFamily="2" charset="2"/>
                        <a:buNone/>
                        <a:tabLst/>
                      </a:pPr>
                      <a:r>
                        <a:rPr kumimoji="0" lang="en-US" sz="1600" b="0" i="0" u="none" strike="noStrike" cap="none" normalizeH="0" baseline="0" dirty="0" smtClean="0">
                          <a:ln>
                            <a:noFill/>
                          </a:ln>
                          <a:solidFill>
                            <a:schemeClr val="tx1"/>
                          </a:solidFill>
                          <a:effectLst/>
                          <a:latin typeface="Futura Book" pitchFamily="34" charset="0"/>
                        </a:rPr>
                        <a:t>18.0</a:t>
                      </a:r>
                    </a:p>
                  </a:txBody>
                  <a:tcPr marT="45728" marB="4572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extLst>
      <p:ext uri="{BB962C8B-B14F-4D97-AF65-F5344CB8AC3E}">
        <p14:creationId xmlns:p14="http://schemas.microsoft.com/office/powerpoint/2010/main" val="1523298607"/>
      </p:ext>
    </p:extLst>
  </p:cSld>
  <p:clrMapOvr>
    <a:masterClrMapping/>
  </p:clrMapOvr>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p:txBody>
          <a:bodyPr/>
          <a:lstStyle/>
          <a:p>
            <a:r>
              <a:rPr lang="en-US" altLang="zh-TW">
                <a:latin typeface="Neutra Text" charset="0"/>
              </a:rPr>
              <a:t>Between vs. within subjects</a:t>
            </a:r>
          </a:p>
        </p:txBody>
      </p:sp>
      <p:sp>
        <p:nvSpPr>
          <p:cNvPr id="36867" name="Rectangle 3"/>
          <p:cNvSpPr>
            <a:spLocks noGrp="1" noChangeArrowheads="1"/>
          </p:cNvSpPr>
          <p:nvPr>
            <p:ph type="body" idx="1"/>
          </p:nvPr>
        </p:nvSpPr>
        <p:spPr>
          <a:xfrm>
            <a:off x="320675" y="1122363"/>
            <a:ext cx="8466138" cy="5162550"/>
          </a:xfrm>
        </p:spPr>
        <p:txBody>
          <a:bodyPr/>
          <a:lstStyle/>
          <a:p>
            <a:r>
              <a:rPr lang="en-US" altLang="zh-TW" sz="2800" dirty="0">
                <a:solidFill>
                  <a:srgbClr val="000000"/>
                </a:solidFill>
                <a:latin typeface="Neutra Text" charset="0"/>
              </a:rPr>
              <a:t>Within subjects</a:t>
            </a:r>
          </a:p>
          <a:p>
            <a:pPr lvl="1"/>
            <a:r>
              <a:rPr lang="en-US" altLang="zh-TW" sz="2400" dirty="0">
                <a:latin typeface="Neutra Text" charset="0"/>
              </a:rPr>
              <a:t>All participants try all conditions</a:t>
            </a:r>
          </a:p>
          <a:p>
            <a:pPr lvl="2">
              <a:spcBef>
                <a:spcPct val="50000"/>
              </a:spcBef>
            </a:pPr>
            <a:r>
              <a:rPr lang="en-US" altLang="zh-TW" sz="2000" dirty="0">
                <a:latin typeface="Neutra Text" charset="0"/>
              </a:rPr>
              <a:t>+  Can isolate effect of individual differences</a:t>
            </a:r>
          </a:p>
          <a:p>
            <a:pPr lvl="2">
              <a:spcBef>
                <a:spcPct val="50000"/>
              </a:spcBef>
            </a:pPr>
            <a:r>
              <a:rPr lang="en-US" altLang="zh-TW" sz="2000" dirty="0">
                <a:latin typeface="Neutra Text" charset="0"/>
              </a:rPr>
              <a:t>+  Requires fewer participants </a:t>
            </a:r>
          </a:p>
          <a:p>
            <a:pPr lvl="2">
              <a:spcBef>
                <a:spcPct val="50000"/>
              </a:spcBef>
            </a:pPr>
            <a:r>
              <a:rPr lang="en-US" altLang="zh-TW" sz="2000" dirty="0">
                <a:latin typeface="Neutra Text" charset="0"/>
              </a:rPr>
              <a:t>-   </a:t>
            </a:r>
            <a:r>
              <a:rPr lang="en-US" altLang="zh-TW" sz="2000" dirty="0" smtClean="0">
                <a:latin typeface="Neutra Text" charset="0"/>
              </a:rPr>
              <a:t>Ordering (learning, carry-over etc.) </a:t>
            </a:r>
            <a:r>
              <a:rPr lang="en-US" altLang="zh-TW" sz="2000" dirty="0">
                <a:latin typeface="Neutra Text" charset="0"/>
              </a:rPr>
              <a:t>and fatigue effects</a:t>
            </a:r>
          </a:p>
          <a:p>
            <a:pPr lvl="2">
              <a:spcBef>
                <a:spcPct val="50000"/>
              </a:spcBef>
              <a:buFont typeface="Monotype Sorts" charset="0"/>
              <a:buNone/>
            </a:pPr>
            <a:endParaRPr lang="en-US" altLang="zh-TW" sz="2000" dirty="0">
              <a:latin typeface="Neutra Text" charset="0"/>
            </a:endParaRPr>
          </a:p>
          <a:p>
            <a:r>
              <a:rPr lang="en-US" altLang="zh-TW" sz="2800" dirty="0">
                <a:solidFill>
                  <a:srgbClr val="000000"/>
                </a:solidFill>
                <a:latin typeface="Neutra Text" charset="0"/>
              </a:rPr>
              <a:t>Between subjects</a:t>
            </a:r>
          </a:p>
          <a:p>
            <a:pPr lvl="1"/>
            <a:r>
              <a:rPr lang="en-US" altLang="zh-TW" sz="2400" dirty="0">
                <a:latin typeface="Neutra Text" charset="0"/>
              </a:rPr>
              <a:t>Each participant tries one condition</a:t>
            </a:r>
          </a:p>
          <a:p>
            <a:pPr lvl="2">
              <a:spcBef>
                <a:spcPct val="50000"/>
              </a:spcBef>
            </a:pPr>
            <a:r>
              <a:rPr lang="en-US" altLang="zh-TW" sz="2000" dirty="0">
                <a:latin typeface="Neutra Text" charset="0"/>
              </a:rPr>
              <a:t>+  No ordering effects, less fatigue.</a:t>
            </a:r>
          </a:p>
          <a:p>
            <a:pPr lvl="2">
              <a:spcBef>
                <a:spcPct val="50000"/>
              </a:spcBef>
            </a:pPr>
            <a:r>
              <a:rPr lang="en-US" altLang="zh-TW" sz="2000" dirty="0">
                <a:latin typeface="Neutra Text" charset="0"/>
              </a:rPr>
              <a:t>-   Cannot isolate effects due to individual differences.</a:t>
            </a:r>
          </a:p>
          <a:p>
            <a:pPr lvl="2">
              <a:spcBef>
                <a:spcPct val="50000"/>
              </a:spcBef>
            </a:pPr>
            <a:r>
              <a:rPr lang="en-US" altLang="zh-TW" sz="2000" dirty="0">
                <a:latin typeface="Neutra Text" charset="0"/>
              </a:rPr>
              <a:t>-   Need more participants</a:t>
            </a:r>
            <a:endParaRPr lang="en-US" altLang="zh-TW" sz="1600" dirty="0">
              <a:latin typeface="Neutra Text" charset="0"/>
            </a:endParaRPr>
          </a:p>
          <a:p>
            <a:endParaRPr lang="en-US" altLang="zh-TW" sz="900" dirty="0">
              <a:latin typeface="Neutra Text" charset="0"/>
            </a:endParaRPr>
          </a:p>
          <a:p>
            <a:endParaRPr lang="en-US" altLang="zh-TW" sz="2800" dirty="0">
              <a:latin typeface="Neutra Text" charset="0"/>
            </a:endParaRPr>
          </a:p>
        </p:txBody>
      </p:sp>
    </p:spTree>
    <p:extLst>
      <p:ext uri="{BB962C8B-B14F-4D97-AF65-F5344CB8AC3E}">
        <p14:creationId xmlns:p14="http://schemas.microsoft.com/office/powerpoint/2010/main" val="422405812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lstStyle/>
          <a:p>
            <a:r>
              <a:rPr lang="en-US" altLang="zh-TW">
                <a:latin typeface="Neutra Text" charset="0"/>
              </a:rPr>
              <a:t>Ordering effects</a:t>
            </a:r>
          </a:p>
        </p:txBody>
      </p:sp>
      <p:sp>
        <p:nvSpPr>
          <p:cNvPr id="35843" name="Rectangle 3"/>
          <p:cNvSpPr>
            <a:spLocks noGrp="1" noChangeArrowheads="1"/>
          </p:cNvSpPr>
          <p:nvPr>
            <p:ph type="body" idx="1"/>
          </p:nvPr>
        </p:nvSpPr>
        <p:spPr/>
        <p:txBody>
          <a:bodyPr/>
          <a:lstStyle/>
          <a:p>
            <a:r>
              <a:rPr lang="en-US" altLang="zh-TW" sz="2800" dirty="0">
                <a:latin typeface="Neutra Text" charset="0"/>
              </a:rPr>
              <a:t>Ordering of conditions is a variable that can confound the </a:t>
            </a:r>
            <a:r>
              <a:rPr lang="en-US" altLang="zh-TW" sz="2800" dirty="0" smtClean="0">
                <a:latin typeface="Neutra Text" charset="0"/>
              </a:rPr>
              <a:t>results</a:t>
            </a:r>
          </a:p>
          <a:p>
            <a:endParaRPr lang="en-US" altLang="zh-TW" sz="2800" dirty="0">
              <a:latin typeface="Neutra Text" charset="0"/>
            </a:endParaRPr>
          </a:p>
          <a:p>
            <a:pPr lvl="1"/>
            <a:r>
              <a:rPr lang="en-US" altLang="zh-TW" sz="2200" dirty="0">
                <a:latin typeface="Neutra Text" charset="0"/>
              </a:rPr>
              <a:t>Randomization</a:t>
            </a:r>
          </a:p>
          <a:p>
            <a:pPr lvl="1"/>
            <a:r>
              <a:rPr lang="en-US" altLang="zh-TW" sz="2200" dirty="0">
                <a:latin typeface="Neutra Text" charset="0"/>
              </a:rPr>
              <a:t>Counterbalancing</a:t>
            </a:r>
          </a:p>
          <a:p>
            <a:pPr lvl="1"/>
            <a:r>
              <a:rPr lang="en-US" altLang="zh-TW" sz="2200" dirty="0">
                <a:latin typeface="Neutra Text" charset="0"/>
              </a:rPr>
              <a:t>Latin square (partial counterbalancing)</a:t>
            </a:r>
          </a:p>
          <a:p>
            <a:endParaRPr lang="en-US" altLang="zh-TW" sz="2400" dirty="0">
              <a:latin typeface="Neutra Text" charset="0"/>
            </a:endParaRPr>
          </a:p>
          <a:p>
            <a:r>
              <a:rPr lang="zh-TW" altLang="en-US" sz="2400" dirty="0">
                <a:latin typeface="Neutra Text" charset="0"/>
              </a:rPr>
              <a:t>“</a:t>
            </a:r>
            <a:r>
              <a:rPr lang="en-US" altLang="zh-TW" sz="2400" dirty="0">
                <a:latin typeface="Neutra Text" charset="0"/>
              </a:rPr>
              <a:t>The day should come then when no reputable psychologist will use a within-subject design… without combining it with a separate groups [between subjects] design.</a:t>
            </a:r>
            <a:r>
              <a:rPr lang="zh-TW" altLang="en-US" sz="2400" dirty="0">
                <a:latin typeface="Neutra Text" charset="0"/>
              </a:rPr>
              <a:t>”</a:t>
            </a:r>
            <a:r>
              <a:rPr lang="en-US" altLang="zh-TW" sz="2400" dirty="0">
                <a:latin typeface="Neutra Text" charset="0"/>
              </a:rPr>
              <a:t> - </a:t>
            </a:r>
            <a:r>
              <a:rPr lang="en-US" altLang="zh-TW" sz="2400" dirty="0" err="1">
                <a:latin typeface="Neutra Text" charset="0"/>
              </a:rPr>
              <a:t>Poulton</a:t>
            </a:r>
            <a:r>
              <a:rPr lang="en-US" altLang="zh-TW" sz="2400" dirty="0">
                <a:latin typeface="Neutra Text" charset="0"/>
              </a:rPr>
              <a:t> 1973</a:t>
            </a:r>
          </a:p>
          <a:p>
            <a:endParaRPr lang="zh-TW" altLang="en-US" sz="2800" dirty="0">
              <a:latin typeface="Neutra Text" charset="0"/>
            </a:endParaRPr>
          </a:p>
        </p:txBody>
      </p:sp>
    </p:spTree>
    <p:extLst>
      <p:ext uri="{BB962C8B-B14F-4D97-AF65-F5344CB8AC3E}">
        <p14:creationId xmlns:p14="http://schemas.microsoft.com/office/powerpoint/2010/main" val="202374121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1698" name="Rectangle 2"/>
          <p:cNvSpPr>
            <a:spLocks noGrp="1" noChangeArrowheads="1"/>
          </p:cNvSpPr>
          <p:nvPr>
            <p:ph type="title"/>
          </p:nvPr>
        </p:nvSpPr>
        <p:spPr/>
        <p:txBody>
          <a:bodyPr/>
          <a:lstStyle/>
          <a:p>
            <a:r>
              <a:rPr lang="en-US" altLang="zh-TW"/>
              <a:t>Within vs. Between Subjects</a:t>
            </a:r>
          </a:p>
        </p:txBody>
      </p:sp>
      <p:sp>
        <p:nvSpPr>
          <p:cNvPr id="541699" name="Rectangle 3"/>
          <p:cNvSpPr>
            <a:spLocks noGrp="1" noChangeArrowheads="1"/>
          </p:cNvSpPr>
          <p:nvPr>
            <p:ph type="body" idx="1"/>
          </p:nvPr>
        </p:nvSpPr>
        <p:spPr/>
        <p:txBody>
          <a:bodyPr>
            <a:normAutofit/>
          </a:bodyPr>
          <a:lstStyle/>
          <a:p>
            <a:r>
              <a:rPr lang="en-US" altLang="zh-TW" sz="2200" dirty="0"/>
              <a:t>Question: Is it best to assign a factor within subjects or between subjects?</a:t>
            </a:r>
          </a:p>
          <a:p>
            <a:r>
              <a:rPr lang="en-US" altLang="zh-TW" sz="2200" dirty="0"/>
              <a:t>Answer: It depends!</a:t>
            </a:r>
          </a:p>
          <a:p>
            <a:r>
              <a:rPr lang="en-US" altLang="zh-TW" sz="2200" dirty="0"/>
              <a:t>Sometimes a factor must be between subjects (e.g., gender, age)</a:t>
            </a:r>
          </a:p>
          <a:p>
            <a:r>
              <a:rPr lang="en-US" altLang="zh-TW" sz="2200" dirty="0"/>
              <a:t>Sometimes a factor must be within subjects (e.g., session, block)</a:t>
            </a:r>
          </a:p>
          <a:p>
            <a:r>
              <a:rPr lang="en-US" altLang="zh-TW" sz="2200" dirty="0"/>
              <a:t>Sometimes there is a choice.  In this case, there is a </a:t>
            </a:r>
            <a:r>
              <a:rPr lang="en-US" altLang="zh-TW" sz="2200" dirty="0" smtClean="0"/>
              <a:t>tradeoff</a:t>
            </a:r>
          </a:p>
          <a:p>
            <a:endParaRPr lang="en-US" altLang="zh-TW" sz="2200" dirty="0"/>
          </a:p>
          <a:p>
            <a:r>
              <a:rPr lang="en-US" altLang="zh-TW" sz="2200" dirty="0"/>
              <a:t>Within subjects advantage: the variance due to </a:t>
            </a:r>
            <a:r>
              <a:rPr lang="en-US" altLang="zh-TW" sz="2200" dirty="0" smtClean="0"/>
              <a:t>participants</a:t>
            </a:r>
            <a:r>
              <a:rPr lang="en-US" altLang="zh-TW" sz="2200" dirty="0" smtClean="0">
                <a:latin typeface="Arial"/>
              </a:rPr>
              <a:t>’ </a:t>
            </a:r>
            <a:r>
              <a:rPr lang="en-US" altLang="zh-TW" sz="2200" dirty="0" smtClean="0"/>
              <a:t>pre</a:t>
            </a:r>
            <a:r>
              <a:rPr lang="en-US" altLang="zh-TW" sz="2200" dirty="0"/>
              <a:t>-</a:t>
            </a:r>
            <a:r>
              <a:rPr lang="en-US" altLang="zh-TW" sz="2200" dirty="0" smtClean="0"/>
              <a:t>dispositions (i.e., individual differences) </a:t>
            </a:r>
            <a:r>
              <a:rPr lang="en-US" altLang="zh-TW" sz="2200" dirty="0"/>
              <a:t>should be the same across test </a:t>
            </a:r>
            <a:r>
              <a:rPr lang="en-US" altLang="zh-TW" sz="2200" dirty="0" smtClean="0"/>
              <a:t>conditions.</a:t>
            </a:r>
            <a:endParaRPr lang="en-US" altLang="zh-TW" sz="2200" dirty="0"/>
          </a:p>
          <a:p>
            <a:r>
              <a:rPr lang="en-US" altLang="zh-TW" sz="2200" dirty="0"/>
              <a:t>Between subjects advantage: avoids interference effects (e.g., typing on two different layouts of keyboards)</a:t>
            </a:r>
          </a:p>
        </p:txBody>
      </p:sp>
    </p:spTree>
    <p:extLst>
      <p:ext uri="{BB962C8B-B14F-4D97-AF65-F5344CB8AC3E}">
        <p14:creationId xmlns:p14="http://schemas.microsoft.com/office/powerpoint/2010/main" val="9118024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3746" name="Rectangle 2"/>
          <p:cNvSpPr>
            <a:spLocks noGrp="1" noChangeArrowheads="1"/>
          </p:cNvSpPr>
          <p:nvPr>
            <p:ph type="title"/>
          </p:nvPr>
        </p:nvSpPr>
        <p:spPr/>
        <p:txBody>
          <a:bodyPr/>
          <a:lstStyle/>
          <a:p>
            <a:r>
              <a:rPr lang="en-US" altLang="zh-TW"/>
              <a:t>Counterbalancing</a:t>
            </a:r>
          </a:p>
        </p:txBody>
      </p:sp>
      <p:sp>
        <p:nvSpPr>
          <p:cNvPr id="543747" name="Rectangle 3"/>
          <p:cNvSpPr>
            <a:spLocks noGrp="1" noChangeArrowheads="1"/>
          </p:cNvSpPr>
          <p:nvPr>
            <p:ph type="body" idx="1"/>
          </p:nvPr>
        </p:nvSpPr>
        <p:spPr>
          <a:xfrm>
            <a:off x="457200" y="1211738"/>
            <a:ext cx="8229600" cy="5144612"/>
          </a:xfrm>
        </p:spPr>
        <p:txBody>
          <a:bodyPr>
            <a:normAutofit fontScale="92500" lnSpcReduction="10000"/>
          </a:bodyPr>
          <a:lstStyle/>
          <a:p>
            <a:pPr>
              <a:lnSpc>
                <a:spcPct val="90000"/>
              </a:lnSpc>
            </a:pPr>
            <a:r>
              <a:rPr lang="en-US" altLang="zh-TW" sz="2500" dirty="0"/>
              <a:t>For within subjects designs, </a:t>
            </a:r>
            <a:r>
              <a:rPr lang="en-US" altLang="zh-TW" sz="2500" dirty="0" smtClean="0"/>
              <a:t>participants</a:t>
            </a:r>
            <a:r>
              <a:rPr lang="en-US" altLang="zh-TW" sz="2500" dirty="0" smtClean="0">
                <a:latin typeface="Arial"/>
              </a:rPr>
              <a:t>’ </a:t>
            </a:r>
            <a:r>
              <a:rPr lang="en-US" altLang="zh-TW" sz="2500" dirty="0" smtClean="0"/>
              <a:t>performance </a:t>
            </a:r>
            <a:r>
              <a:rPr lang="en-US" altLang="zh-TW" sz="2500" dirty="0"/>
              <a:t>may improve with practice as they progress from one test condition to the next.  Thus, participants may perform better on the second condition simply because they benefited from practice on the first.  This is bad news</a:t>
            </a:r>
            <a:r>
              <a:rPr lang="en-US" altLang="zh-TW" sz="2500" dirty="0" smtClean="0"/>
              <a:t>.</a:t>
            </a:r>
          </a:p>
          <a:p>
            <a:pPr>
              <a:lnSpc>
                <a:spcPct val="90000"/>
              </a:lnSpc>
            </a:pPr>
            <a:endParaRPr lang="en-US" altLang="zh-TW" sz="2500" dirty="0">
              <a:solidFill>
                <a:schemeClr val="folHlink"/>
              </a:solidFill>
            </a:endParaRPr>
          </a:p>
          <a:p>
            <a:pPr>
              <a:lnSpc>
                <a:spcPct val="90000"/>
              </a:lnSpc>
            </a:pPr>
            <a:r>
              <a:rPr lang="en-US" altLang="zh-TW" sz="2500" dirty="0"/>
              <a:t>To compensate, the order of presenting conditions is </a:t>
            </a:r>
            <a:r>
              <a:rPr lang="en-US" altLang="zh-TW" sz="2500" dirty="0" smtClean="0">
                <a:solidFill>
                  <a:schemeClr val="folHlink"/>
                </a:solidFill>
              </a:rPr>
              <a:t>counterbalanced</a:t>
            </a:r>
          </a:p>
          <a:p>
            <a:pPr>
              <a:lnSpc>
                <a:spcPct val="90000"/>
              </a:lnSpc>
            </a:pPr>
            <a:endParaRPr lang="en-US" altLang="zh-TW" sz="2500" dirty="0">
              <a:solidFill>
                <a:schemeClr val="folHlink"/>
              </a:solidFill>
            </a:endParaRPr>
          </a:p>
          <a:p>
            <a:pPr>
              <a:lnSpc>
                <a:spcPct val="90000"/>
              </a:lnSpc>
            </a:pPr>
            <a:r>
              <a:rPr lang="en-US" altLang="zh-TW" sz="2500" dirty="0"/>
              <a:t>Participants are divided into </a:t>
            </a:r>
            <a:r>
              <a:rPr lang="en-US" altLang="zh-TW" sz="2500" dirty="0">
                <a:solidFill>
                  <a:srgbClr val="990033"/>
                </a:solidFill>
              </a:rPr>
              <a:t>groups</a:t>
            </a:r>
            <a:r>
              <a:rPr lang="en-US" altLang="zh-TW" sz="2500" dirty="0"/>
              <a:t>, and a different order of administration is used for each </a:t>
            </a:r>
            <a:r>
              <a:rPr lang="en-US" altLang="zh-TW" sz="2500" dirty="0" smtClean="0"/>
              <a:t>group</a:t>
            </a:r>
            <a:endParaRPr lang="en-US" altLang="zh-TW" sz="2500" dirty="0"/>
          </a:p>
          <a:p>
            <a:pPr>
              <a:lnSpc>
                <a:spcPct val="90000"/>
              </a:lnSpc>
            </a:pPr>
            <a:r>
              <a:rPr lang="en-US" altLang="zh-TW" sz="2500" dirty="0" smtClean="0">
                <a:solidFill>
                  <a:srgbClr val="990033"/>
                </a:solidFill>
              </a:rPr>
              <a:t>Group</a:t>
            </a:r>
            <a:r>
              <a:rPr lang="en-US" altLang="zh-TW" sz="2500" dirty="0"/>
              <a:t>, then, is a between subjects factor (Was there an effect for group?  Hopefully not!</a:t>
            </a:r>
            <a:r>
              <a:rPr lang="en-US" altLang="zh-TW" sz="2500" dirty="0" smtClean="0"/>
              <a:t>)</a:t>
            </a:r>
          </a:p>
          <a:p>
            <a:pPr>
              <a:lnSpc>
                <a:spcPct val="90000"/>
              </a:lnSpc>
            </a:pPr>
            <a:endParaRPr lang="en-US" altLang="zh-TW" sz="2500" dirty="0" smtClean="0"/>
          </a:p>
          <a:p>
            <a:pPr>
              <a:lnSpc>
                <a:spcPct val="90000"/>
              </a:lnSpc>
            </a:pPr>
            <a:r>
              <a:rPr lang="en-US" altLang="zh-TW" sz="2500" dirty="0"/>
              <a:t>The order </a:t>
            </a:r>
            <a:r>
              <a:rPr lang="en-US" altLang="zh-TW" sz="2500" dirty="0" smtClean="0"/>
              <a:t>can be governed </a:t>
            </a:r>
            <a:r>
              <a:rPr lang="en-US" altLang="zh-TW" sz="2500" dirty="0"/>
              <a:t>by a </a:t>
            </a:r>
            <a:r>
              <a:rPr lang="en-US" altLang="zh-TW" sz="2500" dirty="0">
                <a:solidFill>
                  <a:schemeClr val="folHlink"/>
                </a:solidFill>
              </a:rPr>
              <a:t>Latin Square</a:t>
            </a:r>
            <a:r>
              <a:rPr lang="en-US" altLang="zh-TW" sz="2500" dirty="0"/>
              <a:t> </a:t>
            </a:r>
            <a:r>
              <a:rPr lang="en-US" altLang="zh-TW" sz="2500" dirty="0" smtClean="0"/>
              <a:t>when there’re too many conditions to test.</a:t>
            </a:r>
            <a:endParaRPr lang="en-US" altLang="zh-TW" sz="2500" dirty="0"/>
          </a:p>
          <a:p>
            <a:pPr>
              <a:lnSpc>
                <a:spcPct val="90000"/>
              </a:lnSpc>
            </a:pPr>
            <a:endParaRPr lang="en-US" altLang="zh-TW" sz="2500" dirty="0"/>
          </a:p>
        </p:txBody>
      </p:sp>
    </p:spTree>
    <p:extLst>
      <p:ext uri="{BB962C8B-B14F-4D97-AF65-F5344CB8AC3E}">
        <p14:creationId xmlns:p14="http://schemas.microsoft.com/office/powerpoint/2010/main" val="3215243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fontScale="90000"/>
          </a:bodyPr>
          <a:lstStyle/>
          <a:p>
            <a:r>
              <a:rPr kumimoji="1" lang="en-US" altLang="zh-TW" dirty="0" smtClean="0"/>
              <a:t>Addressing ordering effects with counterbalancing</a:t>
            </a:r>
            <a:endParaRPr kumimoji="1" lang="zh-TW" altLang="en-US" dirty="0"/>
          </a:p>
        </p:txBody>
      </p:sp>
      <p:sp>
        <p:nvSpPr>
          <p:cNvPr id="4" name="投影片編號版面配置區 3"/>
          <p:cNvSpPr>
            <a:spLocks noGrp="1"/>
          </p:cNvSpPr>
          <p:nvPr>
            <p:ph type="sldNum" sz="quarter" idx="12"/>
          </p:nvPr>
        </p:nvSpPr>
        <p:spPr/>
        <p:txBody>
          <a:bodyPr/>
          <a:lstStyle/>
          <a:p>
            <a:fld id="{9D133943-7E97-DB49-B2BB-235221A3113F}" type="slidenum">
              <a:rPr lang="en-US" smtClean="0"/>
              <a:t>16</a:t>
            </a:fld>
            <a:endParaRPr lang="en-US"/>
          </a:p>
        </p:txBody>
      </p:sp>
      <p:pic>
        <p:nvPicPr>
          <p:cNvPr id="5" name="圖片 4"/>
          <p:cNvPicPr>
            <a:picLocks noChangeAspect="1"/>
          </p:cNvPicPr>
          <p:nvPr/>
        </p:nvPicPr>
        <p:blipFill>
          <a:blip r:embed="rId2"/>
          <a:stretch>
            <a:fillRect/>
          </a:stretch>
        </p:blipFill>
        <p:spPr>
          <a:xfrm>
            <a:off x="457200" y="1440590"/>
            <a:ext cx="7879946" cy="4016995"/>
          </a:xfrm>
          <a:prstGeom prst="rect">
            <a:avLst/>
          </a:prstGeom>
        </p:spPr>
      </p:pic>
      <p:sp>
        <p:nvSpPr>
          <p:cNvPr id="6" name="文字方塊 5"/>
          <p:cNvSpPr txBox="1"/>
          <p:nvPr/>
        </p:nvSpPr>
        <p:spPr>
          <a:xfrm>
            <a:off x="1184763" y="6103371"/>
            <a:ext cx="3419025" cy="369332"/>
          </a:xfrm>
          <a:prstGeom prst="rect">
            <a:avLst/>
          </a:prstGeom>
          <a:noFill/>
        </p:spPr>
        <p:txBody>
          <a:bodyPr wrap="none" rtlCol="0">
            <a:spAutoFit/>
          </a:bodyPr>
          <a:lstStyle/>
          <a:p>
            <a:r>
              <a:rPr kumimoji="1" lang="en-US" altLang="zh-TW" dirty="0" smtClean="0"/>
              <a:t>From Scott </a:t>
            </a:r>
            <a:r>
              <a:rPr kumimoji="1" lang="en-US" altLang="zh-TW" dirty="0" err="1" smtClean="0"/>
              <a:t>Klemmer’s</a:t>
            </a:r>
            <a:r>
              <a:rPr kumimoji="1" lang="en-US" altLang="zh-TW" dirty="0" smtClean="0"/>
              <a:t> course note</a:t>
            </a:r>
            <a:endParaRPr kumimoji="1" lang="zh-TW" altLang="en-US" dirty="0"/>
          </a:p>
        </p:txBody>
      </p:sp>
    </p:spTree>
    <p:extLst>
      <p:ext uri="{BB962C8B-B14F-4D97-AF65-F5344CB8AC3E}">
        <p14:creationId xmlns:p14="http://schemas.microsoft.com/office/powerpoint/2010/main" val="15206471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fontScale="90000"/>
          </a:bodyPr>
          <a:lstStyle/>
          <a:p>
            <a:r>
              <a:rPr kumimoji="1" lang="en-US" altLang="zh-TW" dirty="0" smtClean="0"/>
              <a:t>What about three or more alternative conditions?</a:t>
            </a:r>
            <a:endParaRPr kumimoji="1" lang="zh-TW" altLang="en-US" dirty="0"/>
          </a:p>
        </p:txBody>
      </p:sp>
      <p:sp>
        <p:nvSpPr>
          <p:cNvPr id="3" name="內容版面配置區 2"/>
          <p:cNvSpPr>
            <a:spLocks noGrp="1"/>
          </p:cNvSpPr>
          <p:nvPr>
            <p:ph idx="1"/>
          </p:nvPr>
        </p:nvSpPr>
        <p:spPr/>
        <p:txBody>
          <a:bodyPr/>
          <a:lstStyle/>
          <a:p>
            <a:r>
              <a:rPr kumimoji="1" lang="en-US" altLang="zh-TW" dirty="0" smtClean="0"/>
              <a:t>Latin square</a:t>
            </a:r>
            <a:endParaRPr kumimoji="1" lang="zh-TW" altLang="en-US" dirty="0"/>
          </a:p>
        </p:txBody>
      </p:sp>
      <p:sp>
        <p:nvSpPr>
          <p:cNvPr id="4" name="投影片編號版面配置區 3"/>
          <p:cNvSpPr>
            <a:spLocks noGrp="1"/>
          </p:cNvSpPr>
          <p:nvPr>
            <p:ph type="sldNum" sz="quarter" idx="12"/>
          </p:nvPr>
        </p:nvSpPr>
        <p:spPr/>
        <p:txBody>
          <a:bodyPr/>
          <a:lstStyle/>
          <a:p>
            <a:fld id="{9D133943-7E97-DB49-B2BB-235221A3113F}" type="slidenum">
              <a:rPr lang="en-US" smtClean="0"/>
              <a:t>17</a:t>
            </a:fld>
            <a:endParaRPr lang="en-US"/>
          </a:p>
        </p:txBody>
      </p:sp>
      <p:pic>
        <p:nvPicPr>
          <p:cNvPr id="5" name="圖片 4"/>
          <p:cNvPicPr>
            <a:picLocks noChangeAspect="1"/>
          </p:cNvPicPr>
          <p:nvPr/>
        </p:nvPicPr>
        <p:blipFill>
          <a:blip r:embed="rId2"/>
          <a:stretch>
            <a:fillRect/>
          </a:stretch>
        </p:blipFill>
        <p:spPr>
          <a:xfrm>
            <a:off x="1752600" y="2127133"/>
            <a:ext cx="5638800" cy="3898900"/>
          </a:xfrm>
          <a:prstGeom prst="rect">
            <a:avLst/>
          </a:prstGeom>
        </p:spPr>
      </p:pic>
      <p:sp>
        <p:nvSpPr>
          <p:cNvPr id="6" name="文字方塊 5"/>
          <p:cNvSpPr txBox="1"/>
          <p:nvPr/>
        </p:nvSpPr>
        <p:spPr>
          <a:xfrm>
            <a:off x="1184763" y="6103371"/>
            <a:ext cx="3419025" cy="369332"/>
          </a:xfrm>
          <a:prstGeom prst="rect">
            <a:avLst/>
          </a:prstGeom>
          <a:noFill/>
        </p:spPr>
        <p:txBody>
          <a:bodyPr wrap="none" rtlCol="0">
            <a:spAutoFit/>
          </a:bodyPr>
          <a:lstStyle/>
          <a:p>
            <a:r>
              <a:rPr kumimoji="1" lang="en-US" altLang="zh-TW" dirty="0" smtClean="0"/>
              <a:t>From Scott </a:t>
            </a:r>
            <a:r>
              <a:rPr kumimoji="1" lang="en-US" altLang="zh-TW" dirty="0" err="1" smtClean="0"/>
              <a:t>Klemmer’s</a:t>
            </a:r>
            <a:r>
              <a:rPr kumimoji="1" lang="en-US" altLang="zh-TW" dirty="0" smtClean="0"/>
              <a:t> course note</a:t>
            </a:r>
            <a:endParaRPr kumimoji="1" lang="zh-TW" altLang="en-US" dirty="0"/>
          </a:p>
        </p:txBody>
      </p:sp>
    </p:spTree>
    <p:extLst>
      <p:ext uri="{BB962C8B-B14F-4D97-AF65-F5344CB8AC3E}">
        <p14:creationId xmlns:p14="http://schemas.microsoft.com/office/powerpoint/2010/main" val="318740863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5794" name="Rectangle 2"/>
          <p:cNvSpPr>
            <a:spLocks noGrp="1" noChangeArrowheads="1"/>
          </p:cNvSpPr>
          <p:nvPr>
            <p:ph type="title"/>
          </p:nvPr>
        </p:nvSpPr>
        <p:spPr/>
        <p:txBody>
          <a:bodyPr/>
          <a:lstStyle/>
          <a:p>
            <a:r>
              <a:rPr lang="en-US" altLang="zh-TW"/>
              <a:t>Latin Square</a:t>
            </a:r>
          </a:p>
        </p:txBody>
      </p:sp>
      <p:sp>
        <p:nvSpPr>
          <p:cNvPr id="545795" name="Rectangle 3"/>
          <p:cNvSpPr>
            <a:spLocks noGrp="1" noChangeArrowheads="1"/>
          </p:cNvSpPr>
          <p:nvPr>
            <p:ph type="body" idx="1"/>
          </p:nvPr>
        </p:nvSpPr>
        <p:spPr/>
        <p:txBody>
          <a:bodyPr>
            <a:normAutofit/>
          </a:bodyPr>
          <a:lstStyle/>
          <a:p>
            <a:r>
              <a:rPr lang="en-US" altLang="zh-TW" dirty="0"/>
              <a:t>The defining characteristic of a Latin Square is that each condition occurs only once in each row and column</a:t>
            </a:r>
          </a:p>
          <a:p>
            <a:r>
              <a:rPr lang="en-US" altLang="zh-TW" dirty="0"/>
              <a:t>Examples</a:t>
            </a:r>
            <a:r>
              <a:rPr lang="en-US" altLang="zh-TW" dirty="0" smtClean="0"/>
              <a:t>:</a:t>
            </a:r>
          </a:p>
          <a:p>
            <a:endParaRPr lang="en-US" altLang="zh-TW" dirty="0"/>
          </a:p>
          <a:p>
            <a:endParaRPr lang="en-US" altLang="zh-TW" dirty="0" smtClean="0"/>
          </a:p>
          <a:p>
            <a:endParaRPr lang="en-US" altLang="zh-TW" dirty="0"/>
          </a:p>
          <a:p>
            <a:endParaRPr lang="en-US" altLang="zh-TW" dirty="0" smtClean="0"/>
          </a:p>
          <a:p>
            <a:endParaRPr lang="en-US" altLang="zh-TW" dirty="0"/>
          </a:p>
          <a:p>
            <a:r>
              <a:rPr lang="en-US" altLang="zh-TW" dirty="0" smtClean="0"/>
              <a:t>Google “</a:t>
            </a:r>
            <a:r>
              <a:rPr lang="en-US" altLang="zh-TW" dirty="0" err="1" smtClean="0"/>
              <a:t>latin</a:t>
            </a:r>
            <a:r>
              <a:rPr lang="en-US" altLang="zh-TW" dirty="0" smtClean="0"/>
              <a:t> square” and “</a:t>
            </a:r>
            <a:r>
              <a:rPr lang="en-US" altLang="zh-TW" dirty="0" err="1" smtClean="0"/>
              <a:t>latin</a:t>
            </a:r>
            <a:r>
              <a:rPr lang="en-US" altLang="zh-TW" dirty="0" smtClean="0"/>
              <a:t> square generator”.</a:t>
            </a:r>
            <a:endParaRPr lang="en-US" altLang="zh-TW" dirty="0"/>
          </a:p>
          <a:p>
            <a:endParaRPr lang="zh-TW" altLang="en-US" dirty="0"/>
          </a:p>
        </p:txBody>
      </p:sp>
      <p:sp>
        <p:nvSpPr>
          <p:cNvPr id="545796" name="Text Box 4"/>
          <p:cNvSpPr txBox="1">
            <a:spLocks noChangeArrowheads="1"/>
          </p:cNvSpPr>
          <p:nvPr/>
        </p:nvSpPr>
        <p:spPr bwMode="auto">
          <a:xfrm>
            <a:off x="1497576" y="3752002"/>
            <a:ext cx="1117600" cy="854075"/>
          </a:xfrm>
          <a:prstGeom prst="rect">
            <a:avLst/>
          </a:prstGeom>
          <a:solidFill>
            <a:srgbClr val="FFE5E5"/>
          </a:solidFill>
          <a:ln w="28575">
            <a:solidFill>
              <a:schemeClr val="accent2"/>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0000" tIns="46800" rIns="90000" bIns="46800">
            <a:spAutoFit/>
          </a:bodyPr>
          <a:lstStyle>
            <a:lvl1pPr>
              <a:tabLst>
                <a:tab pos="387350" algn="l"/>
                <a:tab pos="762000" algn="l"/>
              </a:tabLst>
              <a:defRPr>
                <a:solidFill>
                  <a:schemeClr val="tx1"/>
                </a:solidFill>
                <a:latin typeface="Arial" charset="0"/>
                <a:ea typeface="新細明體" charset="0"/>
              </a:defRPr>
            </a:lvl1pPr>
            <a:lvl2pPr>
              <a:tabLst>
                <a:tab pos="387350" algn="l"/>
                <a:tab pos="762000" algn="l"/>
              </a:tabLst>
              <a:defRPr>
                <a:solidFill>
                  <a:schemeClr val="tx1"/>
                </a:solidFill>
                <a:latin typeface="Arial" charset="0"/>
                <a:ea typeface="新細明體" charset="0"/>
              </a:defRPr>
            </a:lvl2pPr>
            <a:lvl3pPr>
              <a:tabLst>
                <a:tab pos="387350" algn="l"/>
                <a:tab pos="762000" algn="l"/>
              </a:tabLst>
              <a:defRPr>
                <a:solidFill>
                  <a:schemeClr val="tx1"/>
                </a:solidFill>
                <a:latin typeface="Arial" charset="0"/>
                <a:ea typeface="新細明體" charset="0"/>
              </a:defRPr>
            </a:lvl3pPr>
            <a:lvl4pPr>
              <a:tabLst>
                <a:tab pos="387350" algn="l"/>
                <a:tab pos="762000" algn="l"/>
              </a:tabLst>
              <a:defRPr>
                <a:solidFill>
                  <a:schemeClr val="tx1"/>
                </a:solidFill>
                <a:latin typeface="Arial" charset="0"/>
                <a:ea typeface="新細明體" charset="0"/>
              </a:defRPr>
            </a:lvl4pPr>
            <a:lvl5pPr>
              <a:tabLst>
                <a:tab pos="387350" algn="l"/>
                <a:tab pos="762000" algn="l"/>
              </a:tabLst>
              <a:defRPr>
                <a:solidFill>
                  <a:schemeClr val="tx1"/>
                </a:solidFill>
                <a:latin typeface="Arial" charset="0"/>
                <a:ea typeface="新細明體" charset="0"/>
              </a:defRPr>
            </a:lvl5pPr>
            <a:lvl6pPr fontAlgn="base">
              <a:spcBef>
                <a:spcPct val="0"/>
              </a:spcBef>
              <a:spcAft>
                <a:spcPct val="0"/>
              </a:spcAft>
              <a:tabLst>
                <a:tab pos="387350" algn="l"/>
                <a:tab pos="762000" algn="l"/>
              </a:tabLst>
              <a:defRPr>
                <a:solidFill>
                  <a:schemeClr val="tx1"/>
                </a:solidFill>
                <a:latin typeface="Arial" charset="0"/>
                <a:ea typeface="新細明體" charset="0"/>
              </a:defRPr>
            </a:lvl6pPr>
            <a:lvl7pPr fontAlgn="base">
              <a:spcBef>
                <a:spcPct val="0"/>
              </a:spcBef>
              <a:spcAft>
                <a:spcPct val="0"/>
              </a:spcAft>
              <a:tabLst>
                <a:tab pos="387350" algn="l"/>
                <a:tab pos="762000" algn="l"/>
              </a:tabLst>
              <a:defRPr>
                <a:solidFill>
                  <a:schemeClr val="tx1"/>
                </a:solidFill>
                <a:latin typeface="Arial" charset="0"/>
                <a:ea typeface="新細明體" charset="0"/>
              </a:defRPr>
            </a:lvl7pPr>
            <a:lvl8pPr fontAlgn="base">
              <a:spcBef>
                <a:spcPct val="0"/>
              </a:spcBef>
              <a:spcAft>
                <a:spcPct val="0"/>
              </a:spcAft>
              <a:tabLst>
                <a:tab pos="387350" algn="l"/>
                <a:tab pos="762000" algn="l"/>
              </a:tabLst>
              <a:defRPr>
                <a:solidFill>
                  <a:schemeClr val="tx1"/>
                </a:solidFill>
                <a:latin typeface="Arial" charset="0"/>
                <a:ea typeface="新細明體" charset="0"/>
              </a:defRPr>
            </a:lvl8pPr>
            <a:lvl9pPr fontAlgn="base">
              <a:spcBef>
                <a:spcPct val="0"/>
              </a:spcBef>
              <a:spcAft>
                <a:spcPct val="0"/>
              </a:spcAft>
              <a:tabLst>
                <a:tab pos="387350" algn="l"/>
                <a:tab pos="762000" algn="l"/>
              </a:tabLst>
              <a:defRPr>
                <a:solidFill>
                  <a:schemeClr val="tx1"/>
                </a:solidFill>
                <a:latin typeface="Arial" charset="0"/>
                <a:ea typeface="新細明體" charset="0"/>
              </a:defRPr>
            </a:lvl9pPr>
          </a:lstStyle>
          <a:p>
            <a:r>
              <a:rPr lang="en-US" altLang="zh-TW" dirty="0"/>
              <a:t>A	B	C</a:t>
            </a:r>
          </a:p>
          <a:p>
            <a:r>
              <a:rPr lang="en-US" altLang="zh-TW" dirty="0"/>
              <a:t>B	C	A</a:t>
            </a:r>
          </a:p>
          <a:p>
            <a:r>
              <a:rPr lang="en-US" altLang="zh-TW" dirty="0"/>
              <a:t>C	A	B</a:t>
            </a:r>
          </a:p>
        </p:txBody>
      </p:sp>
      <p:sp>
        <p:nvSpPr>
          <p:cNvPr id="545797" name="Text Box 5"/>
          <p:cNvSpPr txBox="1">
            <a:spLocks noChangeArrowheads="1"/>
          </p:cNvSpPr>
          <p:nvPr/>
        </p:nvSpPr>
        <p:spPr bwMode="auto">
          <a:xfrm>
            <a:off x="3289300" y="3678199"/>
            <a:ext cx="1504950" cy="1098550"/>
          </a:xfrm>
          <a:prstGeom prst="rect">
            <a:avLst/>
          </a:prstGeom>
          <a:solidFill>
            <a:srgbClr val="FFE5E5"/>
          </a:solidFill>
          <a:ln w="28575">
            <a:solidFill>
              <a:schemeClr val="accent2"/>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0000" tIns="46800" rIns="90000" bIns="46800">
            <a:spAutoFit/>
          </a:bodyPr>
          <a:lstStyle>
            <a:lvl1pPr>
              <a:tabLst>
                <a:tab pos="387350" algn="l"/>
                <a:tab pos="762000" algn="l"/>
                <a:tab pos="1149350" algn="l"/>
              </a:tabLst>
              <a:defRPr>
                <a:solidFill>
                  <a:schemeClr val="tx1"/>
                </a:solidFill>
                <a:latin typeface="Arial" charset="0"/>
                <a:ea typeface="新細明體" charset="0"/>
              </a:defRPr>
            </a:lvl1pPr>
            <a:lvl2pPr>
              <a:tabLst>
                <a:tab pos="387350" algn="l"/>
                <a:tab pos="762000" algn="l"/>
                <a:tab pos="1149350" algn="l"/>
              </a:tabLst>
              <a:defRPr>
                <a:solidFill>
                  <a:schemeClr val="tx1"/>
                </a:solidFill>
                <a:latin typeface="Arial" charset="0"/>
                <a:ea typeface="新細明體" charset="0"/>
              </a:defRPr>
            </a:lvl2pPr>
            <a:lvl3pPr>
              <a:tabLst>
                <a:tab pos="387350" algn="l"/>
                <a:tab pos="762000" algn="l"/>
                <a:tab pos="1149350" algn="l"/>
              </a:tabLst>
              <a:defRPr>
                <a:solidFill>
                  <a:schemeClr val="tx1"/>
                </a:solidFill>
                <a:latin typeface="Arial" charset="0"/>
                <a:ea typeface="新細明體" charset="0"/>
              </a:defRPr>
            </a:lvl3pPr>
            <a:lvl4pPr>
              <a:tabLst>
                <a:tab pos="387350" algn="l"/>
                <a:tab pos="762000" algn="l"/>
                <a:tab pos="1149350" algn="l"/>
              </a:tabLst>
              <a:defRPr>
                <a:solidFill>
                  <a:schemeClr val="tx1"/>
                </a:solidFill>
                <a:latin typeface="Arial" charset="0"/>
                <a:ea typeface="新細明體" charset="0"/>
              </a:defRPr>
            </a:lvl4pPr>
            <a:lvl5pPr>
              <a:tabLst>
                <a:tab pos="387350" algn="l"/>
                <a:tab pos="762000" algn="l"/>
                <a:tab pos="1149350" algn="l"/>
              </a:tabLst>
              <a:defRPr>
                <a:solidFill>
                  <a:schemeClr val="tx1"/>
                </a:solidFill>
                <a:latin typeface="Arial" charset="0"/>
                <a:ea typeface="新細明體" charset="0"/>
              </a:defRPr>
            </a:lvl5pPr>
            <a:lvl6pPr fontAlgn="base">
              <a:spcBef>
                <a:spcPct val="0"/>
              </a:spcBef>
              <a:spcAft>
                <a:spcPct val="0"/>
              </a:spcAft>
              <a:tabLst>
                <a:tab pos="387350" algn="l"/>
                <a:tab pos="762000" algn="l"/>
                <a:tab pos="1149350" algn="l"/>
              </a:tabLst>
              <a:defRPr>
                <a:solidFill>
                  <a:schemeClr val="tx1"/>
                </a:solidFill>
                <a:latin typeface="Arial" charset="0"/>
                <a:ea typeface="新細明體" charset="0"/>
              </a:defRPr>
            </a:lvl6pPr>
            <a:lvl7pPr fontAlgn="base">
              <a:spcBef>
                <a:spcPct val="0"/>
              </a:spcBef>
              <a:spcAft>
                <a:spcPct val="0"/>
              </a:spcAft>
              <a:tabLst>
                <a:tab pos="387350" algn="l"/>
                <a:tab pos="762000" algn="l"/>
                <a:tab pos="1149350" algn="l"/>
              </a:tabLst>
              <a:defRPr>
                <a:solidFill>
                  <a:schemeClr val="tx1"/>
                </a:solidFill>
                <a:latin typeface="Arial" charset="0"/>
                <a:ea typeface="新細明體" charset="0"/>
              </a:defRPr>
            </a:lvl7pPr>
            <a:lvl8pPr fontAlgn="base">
              <a:spcBef>
                <a:spcPct val="0"/>
              </a:spcBef>
              <a:spcAft>
                <a:spcPct val="0"/>
              </a:spcAft>
              <a:tabLst>
                <a:tab pos="387350" algn="l"/>
                <a:tab pos="762000" algn="l"/>
                <a:tab pos="1149350" algn="l"/>
              </a:tabLst>
              <a:defRPr>
                <a:solidFill>
                  <a:schemeClr val="tx1"/>
                </a:solidFill>
                <a:latin typeface="Arial" charset="0"/>
                <a:ea typeface="新細明體" charset="0"/>
              </a:defRPr>
            </a:lvl8pPr>
            <a:lvl9pPr fontAlgn="base">
              <a:spcBef>
                <a:spcPct val="0"/>
              </a:spcBef>
              <a:spcAft>
                <a:spcPct val="0"/>
              </a:spcAft>
              <a:tabLst>
                <a:tab pos="387350" algn="l"/>
                <a:tab pos="762000" algn="l"/>
                <a:tab pos="1149350" algn="l"/>
              </a:tabLst>
              <a:defRPr>
                <a:solidFill>
                  <a:schemeClr val="tx1"/>
                </a:solidFill>
                <a:latin typeface="Arial" charset="0"/>
                <a:ea typeface="新細明體" charset="0"/>
              </a:defRPr>
            </a:lvl9pPr>
          </a:lstStyle>
          <a:p>
            <a:r>
              <a:rPr lang="en-US" altLang="zh-TW"/>
              <a:t>A	B	C	D</a:t>
            </a:r>
          </a:p>
          <a:p>
            <a:r>
              <a:rPr lang="en-US" altLang="zh-TW"/>
              <a:t>B	C	D	A</a:t>
            </a:r>
          </a:p>
          <a:p>
            <a:r>
              <a:rPr lang="en-US" altLang="zh-TW"/>
              <a:t>C	D	A	B</a:t>
            </a:r>
          </a:p>
          <a:p>
            <a:r>
              <a:rPr lang="en-US" altLang="zh-TW"/>
              <a:t>D	A	B	C</a:t>
            </a:r>
          </a:p>
        </p:txBody>
      </p:sp>
      <p:sp>
        <p:nvSpPr>
          <p:cNvPr id="545798" name="Text Box 6"/>
          <p:cNvSpPr txBox="1">
            <a:spLocks noChangeArrowheads="1"/>
          </p:cNvSpPr>
          <p:nvPr/>
        </p:nvSpPr>
        <p:spPr bwMode="auto">
          <a:xfrm>
            <a:off x="6051550" y="3678199"/>
            <a:ext cx="1504950" cy="1098550"/>
          </a:xfrm>
          <a:prstGeom prst="rect">
            <a:avLst/>
          </a:prstGeom>
          <a:solidFill>
            <a:srgbClr val="FFE5E5"/>
          </a:solidFill>
          <a:ln w="28575">
            <a:solidFill>
              <a:schemeClr val="accent2"/>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0000" tIns="46800" rIns="90000" bIns="46800">
            <a:spAutoFit/>
          </a:bodyPr>
          <a:lstStyle>
            <a:lvl1pPr>
              <a:tabLst>
                <a:tab pos="387350" algn="l"/>
                <a:tab pos="762000" algn="l"/>
                <a:tab pos="1149350" algn="l"/>
              </a:tabLst>
              <a:defRPr>
                <a:solidFill>
                  <a:schemeClr val="tx1"/>
                </a:solidFill>
                <a:latin typeface="Arial" charset="0"/>
                <a:ea typeface="新細明體" charset="0"/>
              </a:defRPr>
            </a:lvl1pPr>
            <a:lvl2pPr>
              <a:tabLst>
                <a:tab pos="387350" algn="l"/>
                <a:tab pos="762000" algn="l"/>
                <a:tab pos="1149350" algn="l"/>
              </a:tabLst>
              <a:defRPr>
                <a:solidFill>
                  <a:schemeClr val="tx1"/>
                </a:solidFill>
                <a:latin typeface="Arial" charset="0"/>
                <a:ea typeface="新細明體" charset="0"/>
              </a:defRPr>
            </a:lvl2pPr>
            <a:lvl3pPr>
              <a:tabLst>
                <a:tab pos="387350" algn="l"/>
                <a:tab pos="762000" algn="l"/>
                <a:tab pos="1149350" algn="l"/>
              </a:tabLst>
              <a:defRPr>
                <a:solidFill>
                  <a:schemeClr val="tx1"/>
                </a:solidFill>
                <a:latin typeface="Arial" charset="0"/>
                <a:ea typeface="新細明體" charset="0"/>
              </a:defRPr>
            </a:lvl3pPr>
            <a:lvl4pPr>
              <a:tabLst>
                <a:tab pos="387350" algn="l"/>
                <a:tab pos="762000" algn="l"/>
                <a:tab pos="1149350" algn="l"/>
              </a:tabLst>
              <a:defRPr>
                <a:solidFill>
                  <a:schemeClr val="tx1"/>
                </a:solidFill>
                <a:latin typeface="Arial" charset="0"/>
                <a:ea typeface="新細明體" charset="0"/>
              </a:defRPr>
            </a:lvl4pPr>
            <a:lvl5pPr>
              <a:tabLst>
                <a:tab pos="387350" algn="l"/>
                <a:tab pos="762000" algn="l"/>
                <a:tab pos="1149350" algn="l"/>
              </a:tabLst>
              <a:defRPr>
                <a:solidFill>
                  <a:schemeClr val="tx1"/>
                </a:solidFill>
                <a:latin typeface="Arial" charset="0"/>
                <a:ea typeface="新細明體" charset="0"/>
              </a:defRPr>
            </a:lvl5pPr>
            <a:lvl6pPr fontAlgn="base">
              <a:spcBef>
                <a:spcPct val="0"/>
              </a:spcBef>
              <a:spcAft>
                <a:spcPct val="0"/>
              </a:spcAft>
              <a:tabLst>
                <a:tab pos="387350" algn="l"/>
                <a:tab pos="762000" algn="l"/>
                <a:tab pos="1149350" algn="l"/>
              </a:tabLst>
              <a:defRPr>
                <a:solidFill>
                  <a:schemeClr val="tx1"/>
                </a:solidFill>
                <a:latin typeface="Arial" charset="0"/>
                <a:ea typeface="新細明體" charset="0"/>
              </a:defRPr>
            </a:lvl6pPr>
            <a:lvl7pPr fontAlgn="base">
              <a:spcBef>
                <a:spcPct val="0"/>
              </a:spcBef>
              <a:spcAft>
                <a:spcPct val="0"/>
              </a:spcAft>
              <a:tabLst>
                <a:tab pos="387350" algn="l"/>
                <a:tab pos="762000" algn="l"/>
                <a:tab pos="1149350" algn="l"/>
              </a:tabLst>
              <a:defRPr>
                <a:solidFill>
                  <a:schemeClr val="tx1"/>
                </a:solidFill>
                <a:latin typeface="Arial" charset="0"/>
                <a:ea typeface="新細明體" charset="0"/>
              </a:defRPr>
            </a:lvl7pPr>
            <a:lvl8pPr fontAlgn="base">
              <a:spcBef>
                <a:spcPct val="0"/>
              </a:spcBef>
              <a:spcAft>
                <a:spcPct val="0"/>
              </a:spcAft>
              <a:tabLst>
                <a:tab pos="387350" algn="l"/>
                <a:tab pos="762000" algn="l"/>
                <a:tab pos="1149350" algn="l"/>
              </a:tabLst>
              <a:defRPr>
                <a:solidFill>
                  <a:schemeClr val="tx1"/>
                </a:solidFill>
                <a:latin typeface="Arial" charset="0"/>
                <a:ea typeface="新細明體" charset="0"/>
              </a:defRPr>
            </a:lvl8pPr>
            <a:lvl9pPr fontAlgn="base">
              <a:spcBef>
                <a:spcPct val="0"/>
              </a:spcBef>
              <a:spcAft>
                <a:spcPct val="0"/>
              </a:spcAft>
              <a:tabLst>
                <a:tab pos="387350" algn="l"/>
                <a:tab pos="762000" algn="l"/>
                <a:tab pos="1149350" algn="l"/>
              </a:tabLst>
              <a:defRPr>
                <a:solidFill>
                  <a:schemeClr val="tx1"/>
                </a:solidFill>
                <a:latin typeface="Arial" charset="0"/>
                <a:ea typeface="新細明體" charset="0"/>
              </a:defRPr>
            </a:lvl9pPr>
          </a:lstStyle>
          <a:p>
            <a:r>
              <a:rPr lang="en-US" altLang="zh-TW"/>
              <a:t>A	B	C	D</a:t>
            </a:r>
          </a:p>
          <a:p>
            <a:r>
              <a:rPr lang="en-US" altLang="zh-TW"/>
              <a:t>B	D	A	C</a:t>
            </a:r>
          </a:p>
          <a:p>
            <a:r>
              <a:rPr lang="en-US" altLang="zh-TW"/>
              <a:t>D	C	B	A</a:t>
            </a:r>
          </a:p>
          <a:p>
            <a:r>
              <a:rPr lang="en-US" altLang="zh-TW"/>
              <a:t>C	A	D	B</a:t>
            </a:r>
          </a:p>
        </p:txBody>
      </p:sp>
      <p:sp>
        <p:nvSpPr>
          <p:cNvPr id="545799" name="Text Box 7"/>
          <p:cNvSpPr txBox="1">
            <a:spLocks noChangeArrowheads="1"/>
          </p:cNvSpPr>
          <p:nvPr/>
        </p:nvSpPr>
        <p:spPr bwMode="auto">
          <a:xfrm>
            <a:off x="1116576" y="3371002"/>
            <a:ext cx="1863725" cy="336550"/>
          </a:xfrm>
          <a:prstGeom prst="rect">
            <a:avLst/>
          </a:prstGeom>
          <a:noFill/>
          <a:ln>
            <a:noFill/>
          </a:ln>
          <a:effectLst/>
          <a:extLst>
            <a:ext uri="{909E8E84-426E-40dd-AFC4-6F175D3DCCD1}">
              <a14:hiddenFill xmlns:a14="http://schemas.microsoft.com/office/drawing/2010/main" xmlns="">
                <a:solidFill>
                  <a:srgbClr val="DDDDDD"/>
                </a:solidFill>
              </a14:hiddenFill>
            </a:ext>
            <a:ext uri="{91240B29-F687-4f45-9708-019B960494DF}">
              <a14:hiddenLine xmlns:a14="http://schemas.microsoft.com/office/drawing/2010/main" xmlns="" w="28575">
                <a:solidFill>
                  <a:schemeClr val="bg2"/>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0000" tIns="46800" rIns="90000" bIns="46800">
            <a:spAutoFit/>
          </a:bodyPr>
          <a:lstStyle/>
          <a:p>
            <a:r>
              <a:rPr lang="en-US" altLang="zh-TW" dirty="0"/>
              <a:t>3 X 3 Latin Square</a:t>
            </a:r>
          </a:p>
        </p:txBody>
      </p:sp>
      <p:sp>
        <p:nvSpPr>
          <p:cNvPr id="545800" name="Text Box 8"/>
          <p:cNvSpPr txBox="1">
            <a:spLocks noChangeArrowheads="1"/>
          </p:cNvSpPr>
          <p:nvPr/>
        </p:nvSpPr>
        <p:spPr bwMode="auto">
          <a:xfrm>
            <a:off x="3136900" y="3297199"/>
            <a:ext cx="1830387" cy="336550"/>
          </a:xfrm>
          <a:prstGeom prst="rect">
            <a:avLst/>
          </a:prstGeom>
          <a:noFill/>
          <a:ln>
            <a:noFill/>
          </a:ln>
          <a:effectLst/>
          <a:extLst>
            <a:ext uri="{909E8E84-426E-40dd-AFC4-6F175D3DCCD1}">
              <a14:hiddenFill xmlns:a14="http://schemas.microsoft.com/office/drawing/2010/main" xmlns="">
                <a:solidFill>
                  <a:srgbClr val="DDDDDD"/>
                </a:solidFill>
              </a14:hiddenFill>
            </a:ext>
            <a:ext uri="{91240B29-F687-4f45-9708-019B960494DF}">
              <a14:hiddenLine xmlns:a14="http://schemas.microsoft.com/office/drawing/2010/main" xmlns="" w="28575">
                <a:solidFill>
                  <a:schemeClr val="bg2"/>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0000" tIns="46800" rIns="90000" bIns="46800">
            <a:spAutoFit/>
          </a:bodyPr>
          <a:lstStyle/>
          <a:p>
            <a:r>
              <a:rPr lang="en-US" altLang="zh-TW"/>
              <a:t>4 x 4 Latin Square</a:t>
            </a:r>
          </a:p>
        </p:txBody>
      </p:sp>
      <p:sp>
        <p:nvSpPr>
          <p:cNvPr id="545801" name="Text Box 9"/>
          <p:cNvSpPr txBox="1">
            <a:spLocks noChangeArrowheads="1"/>
          </p:cNvSpPr>
          <p:nvPr/>
        </p:nvSpPr>
        <p:spPr bwMode="auto">
          <a:xfrm>
            <a:off x="5346700" y="3297199"/>
            <a:ext cx="2732087" cy="336550"/>
          </a:xfrm>
          <a:prstGeom prst="rect">
            <a:avLst/>
          </a:prstGeom>
          <a:noFill/>
          <a:ln>
            <a:noFill/>
          </a:ln>
          <a:effectLst/>
          <a:extLst>
            <a:ext uri="{909E8E84-426E-40dd-AFC4-6F175D3DCCD1}">
              <a14:hiddenFill xmlns:a14="http://schemas.microsoft.com/office/drawing/2010/main" xmlns="">
                <a:solidFill>
                  <a:srgbClr val="DDDDDD"/>
                </a:solidFill>
              </a14:hiddenFill>
            </a:ext>
            <a:ext uri="{91240B29-F687-4f45-9708-019B960494DF}">
              <a14:hiddenLine xmlns:a14="http://schemas.microsoft.com/office/drawing/2010/main" xmlns="" w="28575">
                <a:solidFill>
                  <a:schemeClr val="bg2"/>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0000" tIns="46800" rIns="90000" bIns="46800">
            <a:spAutoFit/>
          </a:bodyPr>
          <a:lstStyle/>
          <a:p>
            <a:r>
              <a:rPr lang="en-US" altLang="zh-TW"/>
              <a:t>4 x 4 Balanced Latin Square</a:t>
            </a:r>
          </a:p>
        </p:txBody>
      </p:sp>
      <p:sp>
        <p:nvSpPr>
          <p:cNvPr id="545802" name="Text Box 10"/>
          <p:cNvSpPr txBox="1">
            <a:spLocks noChangeArrowheads="1"/>
          </p:cNvSpPr>
          <p:nvPr/>
        </p:nvSpPr>
        <p:spPr bwMode="auto">
          <a:xfrm>
            <a:off x="972769" y="4939390"/>
            <a:ext cx="6781800" cy="641350"/>
          </a:xfrm>
          <a:prstGeom prst="rect">
            <a:avLst/>
          </a:prstGeom>
          <a:noFill/>
          <a:ln>
            <a:noFill/>
          </a:ln>
          <a:effectLst/>
          <a:extLst>
            <a:ext uri="{909E8E84-426E-40dd-AFC4-6F175D3DCCD1}">
              <a14:hiddenFill xmlns:a14="http://schemas.microsoft.com/office/drawing/2010/main" xmlns="">
                <a:solidFill>
                  <a:srgbClr val="DDDDDD"/>
                </a:solidFill>
              </a14:hiddenFill>
            </a:ext>
            <a:ext uri="{91240B29-F687-4f45-9708-019B960494DF}">
              <a14:hiddenLine xmlns:a14="http://schemas.microsoft.com/office/drawing/2010/main" xmlns="" w="28575">
                <a:solidFill>
                  <a:schemeClr val="bg2"/>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lIns="90000" tIns="46800" rIns="90000" bIns="46800">
            <a:spAutoFit/>
          </a:bodyPr>
          <a:lstStyle/>
          <a:p>
            <a:r>
              <a:rPr lang="en-US" altLang="zh-TW" sz="1800" dirty="0"/>
              <a:t>Note:  In a </a:t>
            </a:r>
            <a:r>
              <a:rPr lang="en-US" altLang="zh-TW" sz="1800" dirty="0">
                <a:solidFill>
                  <a:schemeClr val="folHlink"/>
                </a:solidFill>
              </a:rPr>
              <a:t>balanced Latin Square</a:t>
            </a:r>
            <a:r>
              <a:rPr lang="en-US" altLang="zh-TW" sz="1800" dirty="0"/>
              <a:t> each condition both precedes and follows each other condition an equal number of times</a:t>
            </a:r>
          </a:p>
        </p:txBody>
      </p:sp>
      <p:sp>
        <p:nvSpPr>
          <p:cNvPr id="2" name="向右箭號 1"/>
          <p:cNvSpPr/>
          <p:nvPr/>
        </p:nvSpPr>
        <p:spPr>
          <a:xfrm>
            <a:off x="5346700" y="3753004"/>
            <a:ext cx="633983" cy="170591"/>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TW" altLang="en-US"/>
          </a:p>
        </p:txBody>
      </p:sp>
      <p:sp>
        <p:nvSpPr>
          <p:cNvPr id="3" name="文字方塊 2"/>
          <p:cNvSpPr txBox="1"/>
          <p:nvPr/>
        </p:nvSpPr>
        <p:spPr>
          <a:xfrm>
            <a:off x="4923993" y="3923595"/>
            <a:ext cx="1150037" cy="646331"/>
          </a:xfrm>
          <a:prstGeom prst="rect">
            <a:avLst/>
          </a:prstGeom>
          <a:noFill/>
        </p:spPr>
        <p:txBody>
          <a:bodyPr wrap="none" rtlCol="0">
            <a:spAutoFit/>
          </a:bodyPr>
          <a:lstStyle/>
          <a:p>
            <a:r>
              <a:rPr kumimoji="1" lang="en-US" altLang="zh-TW" dirty="0" smtClean="0"/>
              <a:t>A row is a </a:t>
            </a:r>
            <a:br>
              <a:rPr kumimoji="1" lang="en-US" altLang="zh-TW" dirty="0" smtClean="0"/>
            </a:br>
            <a:r>
              <a:rPr kumimoji="1" lang="en-US" altLang="zh-TW" dirty="0" smtClean="0"/>
              <a:t>test group</a:t>
            </a:r>
            <a:endParaRPr kumimoji="1" lang="zh-TW" altLang="en-US" dirty="0"/>
          </a:p>
        </p:txBody>
      </p:sp>
    </p:spTree>
    <p:extLst>
      <p:ext uri="{BB962C8B-B14F-4D97-AF65-F5344CB8AC3E}">
        <p14:creationId xmlns:p14="http://schemas.microsoft.com/office/powerpoint/2010/main" val="381247198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5058" name="Rectangle 2"/>
          <p:cNvSpPr>
            <a:spLocks noGrp="1" noChangeArrowheads="1"/>
          </p:cNvSpPr>
          <p:nvPr>
            <p:ph type="title"/>
          </p:nvPr>
        </p:nvSpPr>
        <p:spPr/>
        <p:txBody>
          <a:bodyPr/>
          <a:lstStyle/>
          <a:p>
            <a:r>
              <a:rPr lang="en-US" altLang="zh-TW"/>
              <a:t>Random Order</a:t>
            </a:r>
            <a:endParaRPr lang="en-GB"/>
          </a:p>
        </p:txBody>
      </p:sp>
      <p:sp>
        <p:nvSpPr>
          <p:cNvPr id="685059" name="Rectangle 3"/>
          <p:cNvSpPr>
            <a:spLocks noGrp="1" noChangeArrowheads="1"/>
          </p:cNvSpPr>
          <p:nvPr>
            <p:ph type="body" idx="1"/>
          </p:nvPr>
        </p:nvSpPr>
        <p:spPr/>
        <p:txBody>
          <a:bodyPr/>
          <a:lstStyle/>
          <a:p>
            <a:r>
              <a:rPr lang="en-US" altLang="zh-TW" dirty="0"/>
              <a:t>Counterbalancing using a Latin Square requires </a:t>
            </a:r>
            <a:r>
              <a:rPr lang="en-US" altLang="zh-TW" i="1" dirty="0"/>
              <a:t>m</a:t>
            </a:r>
            <a:r>
              <a:rPr lang="en-US" altLang="zh-TW" dirty="0"/>
              <a:t> participants, where </a:t>
            </a:r>
            <a:r>
              <a:rPr lang="en-US" altLang="zh-TW" i="1" dirty="0"/>
              <a:t>m</a:t>
            </a:r>
            <a:r>
              <a:rPr lang="en-US" altLang="zh-TW" dirty="0"/>
              <a:t> % </a:t>
            </a:r>
            <a:r>
              <a:rPr lang="en-US" altLang="zh-TW" i="1" dirty="0"/>
              <a:t>n</a:t>
            </a:r>
            <a:r>
              <a:rPr lang="en-US" altLang="zh-TW" dirty="0"/>
              <a:t> = 0 (</a:t>
            </a:r>
            <a:r>
              <a:rPr lang="en-US" altLang="zh-TW" i="1" dirty="0"/>
              <a:t>n</a:t>
            </a:r>
            <a:r>
              <a:rPr lang="en-US" altLang="zh-TW" dirty="0"/>
              <a:t> is the number of test </a:t>
            </a:r>
            <a:r>
              <a:rPr lang="en-US" altLang="zh-TW" dirty="0" smtClean="0"/>
              <a:t>conditions)</a:t>
            </a:r>
            <a:endParaRPr lang="en-US" altLang="zh-TW" dirty="0"/>
          </a:p>
          <a:p>
            <a:r>
              <a:rPr lang="en-US" altLang="zh-TW" dirty="0"/>
              <a:t>Sometimes this is not practical or possible (e.g., number of participants is unknown) </a:t>
            </a:r>
          </a:p>
          <a:p>
            <a:r>
              <a:rPr lang="en-US" altLang="zh-TW" dirty="0"/>
              <a:t>Alternatively, learning effects may be minimized by</a:t>
            </a:r>
          </a:p>
          <a:p>
            <a:pPr lvl="1"/>
            <a:r>
              <a:rPr lang="en-US" altLang="zh-TW" dirty="0"/>
              <a:t>Randomizing the order of presentation</a:t>
            </a:r>
          </a:p>
          <a:p>
            <a:pPr lvl="1"/>
            <a:r>
              <a:rPr lang="en-US" altLang="zh-TW" dirty="0"/>
              <a:t>Using </a:t>
            </a:r>
            <a:r>
              <a:rPr lang="en-US" altLang="zh-TW" dirty="0" smtClean="0"/>
              <a:t>“all </a:t>
            </a:r>
            <a:r>
              <a:rPr lang="en-US" altLang="zh-TW" dirty="0"/>
              <a:t>possible </a:t>
            </a:r>
            <a:r>
              <a:rPr lang="en-US" altLang="zh-TW" dirty="0" smtClean="0"/>
              <a:t>orders</a:t>
            </a:r>
            <a:r>
              <a:rPr lang="en-US" altLang="zh-TW" dirty="0" smtClean="0">
                <a:latin typeface="Arial"/>
              </a:rPr>
              <a:t>”</a:t>
            </a:r>
            <a:r>
              <a:rPr lang="en-US" altLang="zh-TW" dirty="0" smtClean="0"/>
              <a:t>; </a:t>
            </a:r>
            <a:r>
              <a:rPr lang="en-US" altLang="zh-TW" dirty="0"/>
              <a:t>e.g., </a:t>
            </a:r>
            <a:r>
              <a:rPr lang="en-US" altLang="zh-TW" i="1" dirty="0"/>
              <a:t>n</a:t>
            </a:r>
            <a:r>
              <a:rPr lang="en-US" altLang="zh-TW" dirty="0"/>
              <a:t> = 3 </a:t>
            </a:r>
            <a:r>
              <a:rPr lang="en-US" altLang="zh-TW" dirty="0">
                <a:sym typeface="Wingdings" charset="0"/>
              </a:rPr>
              <a:t></a:t>
            </a:r>
            <a:endParaRPr lang="en-GB" dirty="0"/>
          </a:p>
        </p:txBody>
      </p:sp>
      <p:sp>
        <p:nvSpPr>
          <p:cNvPr id="685060" name="Text Box 4"/>
          <p:cNvSpPr txBox="1">
            <a:spLocks noChangeArrowheads="1"/>
          </p:cNvSpPr>
          <p:nvPr/>
        </p:nvSpPr>
        <p:spPr bwMode="auto">
          <a:xfrm>
            <a:off x="7010400" y="4648200"/>
            <a:ext cx="685800" cy="1928813"/>
          </a:xfrm>
          <a:prstGeom prst="rect">
            <a:avLst/>
          </a:prstGeom>
          <a:solidFill>
            <a:srgbClr val="FFE5E5"/>
          </a:solidFill>
          <a:ln w="28575">
            <a:solidFill>
              <a:srgbClr val="990033"/>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lIns="90000" tIns="46800" rIns="90000" bIns="46800">
            <a:spAutoFit/>
          </a:bodyPr>
          <a:lstStyle/>
          <a:p>
            <a:pPr algn="ctr">
              <a:spcBef>
                <a:spcPct val="50000"/>
              </a:spcBef>
            </a:pPr>
            <a:r>
              <a:rPr lang="en-US" altLang="zh-TW" sz="1400"/>
              <a:t>ABC</a:t>
            </a:r>
          </a:p>
          <a:p>
            <a:pPr algn="ctr">
              <a:spcBef>
                <a:spcPct val="50000"/>
              </a:spcBef>
            </a:pPr>
            <a:r>
              <a:rPr lang="en-US" altLang="zh-TW" sz="1400"/>
              <a:t>ACB</a:t>
            </a:r>
          </a:p>
          <a:p>
            <a:pPr algn="ctr">
              <a:spcBef>
                <a:spcPct val="50000"/>
              </a:spcBef>
            </a:pPr>
            <a:r>
              <a:rPr lang="en-US" altLang="zh-TW" sz="1400"/>
              <a:t>BAC</a:t>
            </a:r>
          </a:p>
          <a:p>
            <a:pPr algn="ctr">
              <a:spcBef>
                <a:spcPct val="50000"/>
              </a:spcBef>
            </a:pPr>
            <a:r>
              <a:rPr lang="en-US" altLang="zh-TW" sz="1400"/>
              <a:t>BCA</a:t>
            </a:r>
          </a:p>
          <a:p>
            <a:pPr algn="ctr">
              <a:spcBef>
                <a:spcPct val="50000"/>
              </a:spcBef>
            </a:pPr>
            <a:r>
              <a:rPr lang="en-US" altLang="zh-TW" sz="1400"/>
              <a:t>CAB</a:t>
            </a:r>
          </a:p>
          <a:p>
            <a:pPr algn="ctr">
              <a:spcBef>
                <a:spcPct val="50000"/>
              </a:spcBef>
            </a:pPr>
            <a:r>
              <a:rPr lang="en-US" altLang="zh-TW" sz="1400"/>
              <a:t>CBA</a:t>
            </a:r>
            <a:endParaRPr lang="en-GB" sz="1400"/>
          </a:p>
        </p:txBody>
      </p:sp>
    </p:spTree>
    <p:extLst>
      <p:ext uri="{BB962C8B-B14F-4D97-AF65-F5344CB8AC3E}">
        <p14:creationId xmlns:p14="http://schemas.microsoft.com/office/powerpoint/2010/main" val="308062724"/>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7842" name="Rectangle 1026"/>
          <p:cNvSpPr>
            <a:spLocks noGrp="1" noChangeArrowheads="1"/>
          </p:cNvSpPr>
          <p:nvPr>
            <p:ph type="title"/>
          </p:nvPr>
        </p:nvSpPr>
        <p:spPr/>
        <p:txBody>
          <a:bodyPr/>
          <a:lstStyle/>
          <a:p>
            <a:r>
              <a:rPr lang="en-US" altLang="zh-TW"/>
              <a:t>Succinct Statement of Design</a:t>
            </a:r>
          </a:p>
        </p:txBody>
      </p:sp>
      <p:sp>
        <p:nvSpPr>
          <p:cNvPr id="547843" name="Rectangle 1027"/>
          <p:cNvSpPr>
            <a:spLocks noGrp="1" noChangeArrowheads="1"/>
          </p:cNvSpPr>
          <p:nvPr>
            <p:ph type="body" idx="1"/>
          </p:nvPr>
        </p:nvSpPr>
        <p:spPr/>
        <p:txBody>
          <a:bodyPr/>
          <a:lstStyle/>
          <a:p>
            <a:r>
              <a:rPr lang="en-US" altLang="zh-TW" sz="2500" dirty="0" smtClean="0">
                <a:latin typeface="Arial"/>
              </a:rPr>
              <a:t>“</a:t>
            </a:r>
            <a:r>
              <a:rPr lang="en-US" altLang="zh-TW" sz="2500" dirty="0" smtClean="0">
                <a:solidFill>
                  <a:schemeClr val="folHlink"/>
                </a:solidFill>
              </a:rPr>
              <a:t>3 </a:t>
            </a:r>
            <a:r>
              <a:rPr lang="en-US" altLang="zh-TW" sz="2500" dirty="0">
                <a:solidFill>
                  <a:schemeClr val="folHlink"/>
                </a:solidFill>
              </a:rPr>
              <a:t>x 2 repeated-measures </a:t>
            </a:r>
            <a:r>
              <a:rPr lang="en-US" altLang="zh-TW" sz="2500" dirty="0" smtClean="0">
                <a:solidFill>
                  <a:schemeClr val="folHlink"/>
                </a:solidFill>
              </a:rPr>
              <a:t>design</a:t>
            </a:r>
            <a:r>
              <a:rPr lang="en-US" altLang="zh-TW" sz="2500" dirty="0" smtClean="0">
                <a:latin typeface="Arial"/>
              </a:rPr>
              <a:t>”</a:t>
            </a:r>
            <a:r>
              <a:rPr lang="en-US" altLang="zh-TW" sz="2500" dirty="0" smtClean="0"/>
              <a:t> </a:t>
            </a:r>
            <a:r>
              <a:rPr lang="en-US" altLang="zh-TW" sz="2500" dirty="0"/>
              <a:t>refers to an experiment with two factors, having </a:t>
            </a:r>
            <a:r>
              <a:rPr lang="en-US" altLang="zh-TW" sz="2500" dirty="0">
                <a:solidFill>
                  <a:schemeClr val="folHlink"/>
                </a:solidFill>
              </a:rPr>
              <a:t>three levels</a:t>
            </a:r>
            <a:r>
              <a:rPr lang="en-US" altLang="zh-TW" sz="2500" dirty="0"/>
              <a:t> on the first, and </a:t>
            </a:r>
            <a:r>
              <a:rPr lang="en-US" altLang="zh-TW" sz="2500" dirty="0">
                <a:solidFill>
                  <a:schemeClr val="folHlink"/>
                </a:solidFill>
              </a:rPr>
              <a:t>two levels</a:t>
            </a:r>
            <a:r>
              <a:rPr lang="en-US" altLang="zh-TW" sz="2500" dirty="0"/>
              <a:t> on the second.  There are </a:t>
            </a:r>
            <a:r>
              <a:rPr lang="en-US" altLang="zh-TW" sz="2500" dirty="0">
                <a:solidFill>
                  <a:schemeClr val="folHlink"/>
                </a:solidFill>
              </a:rPr>
              <a:t>six test conditions</a:t>
            </a:r>
            <a:r>
              <a:rPr lang="en-US" altLang="zh-TW" sz="2500" dirty="0"/>
              <a:t> in total. Both factors are repeated measures, meaning all participants were tested on all test conditions</a:t>
            </a:r>
          </a:p>
          <a:p>
            <a:r>
              <a:rPr lang="en-US" altLang="zh-TW" sz="2500" dirty="0"/>
              <a:t>Note: A mixed design is also possible</a:t>
            </a:r>
          </a:p>
          <a:p>
            <a:pPr lvl="1"/>
            <a:r>
              <a:rPr lang="en-US" altLang="zh-TW" sz="2400" dirty="0"/>
              <a:t>In this case, the levels for one factor are administered to all participants (within subjects) while the levels for another factor are administered to separate groups of participants (between subjects).</a:t>
            </a:r>
          </a:p>
          <a:p>
            <a:pPr lvl="1"/>
            <a:r>
              <a:rPr lang="en-US" altLang="zh-TW" sz="2400" dirty="0"/>
              <a:t>A</a:t>
            </a:r>
            <a:r>
              <a:rPr lang="en-US" altLang="zh-TW" sz="2400" dirty="0" smtClean="0"/>
              <a:t>n </a:t>
            </a:r>
            <a:r>
              <a:rPr lang="en-US" altLang="zh-TW" sz="2400" dirty="0"/>
              <a:t>example of a mixed </a:t>
            </a:r>
            <a:r>
              <a:rPr lang="en-US" altLang="zh-TW" sz="2400" dirty="0" smtClean="0"/>
              <a:t>design: </a:t>
            </a:r>
            <a:r>
              <a:rPr lang="en-US" altLang="zh-TW" sz="2400" dirty="0" smtClean="0">
                <a:hlinkClick r:id="rId3"/>
              </a:rPr>
              <a:t>http</a:t>
            </a:r>
            <a:r>
              <a:rPr lang="en-US" altLang="zh-TW" sz="2400" dirty="0">
                <a:hlinkClick r:id="rId3"/>
              </a:rPr>
              <a:t>://www.yorku.ca/mack/uist01.</a:t>
            </a:r>
            <a:r>
              <a:rPr lang="en-US" altLang="zh-TW" sz="2400" dirty="0" smtClean="0">
                <a:hlinkClick r:id="rId3"/>
              </a:rPr>
              <a:t>html</a:t>
            </a:r>
            <a:r>
              <a:rPr lang="en-US" altLang="zh-TW" sz="2400" dirty="0" smtClean="0"/>
              <a:t> </a:t>
            </a:r>
            <a:endParaRPr lang="en-US" altLang="zh-TW" sz="2400" dirty="0"/>
          </a:p>
        </p:txBody>
      </p:sp>
    </p:spTree>
    <p:extLst>
      <p:ext uri="{BB962C8B-B14F-4D97-AF65-F5344CB8AC3E}">
        <p14:creationId xmlns:p14="http://schemas.microsoft.com/office/powerpoint/2010/main" val="1159712302"/>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kumimoji="1" lang="en-US" altLang="zh-TW" smtClean="0"/>
              <a:t>Assignment 2</a:t>
            </a:r>
            <a:endParaRPr kumimoji="1" lang="en-US" altLang="zh-TW" dirty="0"/>
          </a:p>
        </p:txBody>
      </p:sp>
      <p:sp>
        <p:nvSpPr>
          <p:cNvPr id="3" name="內容版面配置區 2"/>
          <p:cNvSpPr>
            <a:spLocks noGrp="1"/>
          </p:cNvSpPr>
          <p:nvPr>
            <p:ph idx="1"/>
          </p:nvPr>
        </p:nvSpPr>
        <p:spPr/>
        <p:txBody>
          <a:bodyPr>
            <a:normAutofit/>
          </a:bodyPr>
          <a:lstStyle/>
          <a:p>
            <a:r>
              <a:rPr kumimoji="1" lang="en-US" altLang="zh-TW" dirty="0" smtClean="0"/>
              <a:t>Assignment 2- Experimental design and initial data collection based on your own research questions (due </a:t>
            </a:r>
            <a:r>
              <a:rPr kumimoji="1" lang="en-US" altLang="zh-TW" dirty="0" smtClean="0"/>
              <a:t>November 9). </a:t>
            </a:r>
            <a:r>
              <a:rPr kumimoji="1" lang="en-US" altLang="zh-TW" dirty="0" smtClean="0"/>
              <a:t>(think this as a pilot study)</a:t>
            </a:r>
          </a:p>
          <a:p>
            <a:pPr lvl="1"/>
            <a:r>
              <a:rPr kumimoji="1" lang="en-US" altLang="zh-TW" dirty="0" smtClean="0"/>
              <a:t>Collect </a:t>
            </a:r>
            <a:r>
              <a:rPr kumimoji="1" lang="en-US" altLang="zh-TW" dirty="0"/>
              <a:t>a small set of data on your own for your </a:t>
            </a:r>
            <a:r>
              <a:rPr kumimoji="1" lang="en-US" altLang="zh-TW" dirty="0" smtClean="0"/>
              <a:t>topic</a:t>
            </a:r>
          </a:p>
          <a:p>
            <a:endParaRPr kumimoji="1" lang="en-US" altLang="zh-TW" dirty="0"/>
          </a:p>
          <a:p>
            <a:endParaRPr kumimoji="1" lang="zh-TW" altLang="en-US" dirty="0"/>
          </a:p>
        </p:txBody>
      </p:sp>
      <p:sp>
        <p:nvSpPr>
          <p:cNvPr id="4" name="投影片編號版面配置區 3"/>
          <p:cNvSpPr>
            <a:spLocks noGrp="1"/>
          </p:cNvSpPr>
          <p:nvPr>
            <p:ph type="sldNum" sz="quarter" idx="12"/>
          </p:nvPr>
        </p:nvSpPr>
        <p:spPr/>
        <p:txBody>
          <a:bodyPr/>
          <a:lstStyle/>
          <a:p>
            <a:fld id="{9D133943-7E97-DB49-B2BB-235221A3113F}" type="slidenum">
              <a:rPr lang="en-US" smtClean="0"/>
              <a:t>21</a:t>
            </a:fld>
            <a:endParaRPr lang="en-US"/>
          </a:p>
        </p:txBody>
      </p:sp>
    </p:spTree>
    <p:extLst>
      <p:ext uri="{BB962C8B-B14F-4D97-AF65-F5344CB8AC3E}">
        <p14:creationId xmlns:p14="http://schemas.microsoft.com/office/powerpoint/2010/main" val="387769052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kumimoji="1" lang="en-US" altLang="zh-TW" dirty="0" smtClean="0"/>
              <a:t>Sample Research Method Course Project</a:t>
            </a:r>
            <a:endParaRPr kumimoji="1" lang="zh-TW" altLang="en-US" dirty="0"/>
          </a:p>
        </p:txBody>
      </p:sp>
      <p:sp>
        <p:nvSpPr>
          <p:cNvPr id="4" name="投影片編號版面配置區 3"/>
          <p:cNvSpPr>
            <a:spLocks noGrp="1"/>
          </p:cNvSpPr>
          <p:nvPr>
            <p:ph type="sldNum" sz="quarter" idx="12"/>
          </p:nvPr>
        </p:nvSpPr>
        <p:spPr/>
        <p:txBody>
          <a:bodyPr/>
          <a:lstStyle/>
          <a:p>
            <a:fld id="{9D133943-7E97-DB49-B2BB-235221A3113F}" type="slidenum">
              <a:rPr lang="en-US" smtClean="0"/>
              <a:t>22</a:t>
            </a:fld>
            <a:endParaRPr lang="en-US"/>
          </a:p>
        </p:txBody>
      </p:sp>
      <p:pic>
        <p:nvPicPr>
          <p:cNvPr id="6" name="圖片 5"/>
          <p:cNvPicPr>
            <a:picLocks noChangeAspect="1"/>
          </p:cNvPicPr>
          <p:nvPr/>
        </p:nvPicPr>
        <p:blipFill>
          <a:blip r:embed="rId2"/>
          <a:stretch>
            <a:fillRect/>
          </a:stretch>
        </p:blipFill>
        <p:spPr>
          <a:xfrm>
            <a:off x="6394488" y="3887246"/>
            <a:ext cx="1460500" cy="1803400"/>
          </a:xfrm>
          <a:prstGeom prst="rect">
            <a:avLst/>
          </a:prstGeom>
        </p:spPr>
      </p:pic>
      <p:sp>
        <p:nvSpPr>
          <p:cNvPr id="7" name="文字方塊 6"/>
          <p:cNvSpPr txBox="1"/>
          <p:nvPr/>
        </p:nvSpPr>
        <p:spPr>
          <a:xfrm>
            <a:off x="5080829" y="5690646"/>
            <a:ext cx="4055505" cy="646331"/>
          </a:xfrm>
          <a:prstGeom prst="rect">
            <a:avLst/>
          </a:prstGeom>
          <a:noFill/>
        </p:spPr>
        <p:txBody>
          <a:bodyPr wrap="none" rtlCol="0">
            <a:spAutoFit/>
          </a:bodyPr>
          <a:lstStyle/>
          <a:p>
            <a:pPr algn="ctr"/>
            <a:r>
              <a:rPr kumimoji="1" lang="en-US" altLang="zh-TW" dirty="0" smtClean="0"/>
              <a:t>Prof. Sara </a:t>
            </a:r>
            <a:r>
              <a:rPr kumimoji="1" lang="en-US" altLang="zh-TW" dirty="0" err="1" smtClean="0"/>
              <a:t>Kiesler</a:t>
            </a:r>
            <a:endParaRPr kumimoji="1" lang="en-US" altLang="zh-TW" dirty="0" smtClean="0"/>
          </a:p>
          <a:p>
            <a:r>
              <a:rPr kumimoji="1" lang="en-US" altLang="zh-TW" dirty="0" smtClean="0"/>
              <a:t>Applied Research Method course at CMU</a:t>
            </a:r>
            <a:endParaRPr kumimoji="1" lang="zh-TW" altLang="en-US" dirty="0"/>
          </a:p>
        </p:txBody>
      </p:sp>
      <p:pic>
        <p:nvPicPr>
          <p:cNvPr id="9" name="圖片 8"/>
          <p:cNvPicPr>
            <a:picLocks noChangeAspect="1"/>
          </p:cNvPicPr>
          <p:nvPr/>
        </p:nvPicPr>
        <p:blipFill>
          <a:blip r:embed="rId3"/>
          <a:stretch>
            <a:fillRect/>
          </a:stretch>
        </p:blipFill>
        <p:spPr>
          <a:xfrm>
            <a:off x="272703" y="1235746"/>
            <a:ext cx="4594090" cy="5120604"/>
          </a:xfrm>
          <a:prstGeom prst="rect">
            <a:avLst/>
          </a:prstGeom>
        </p:spPr>
      </p:pic>
    </p:spTree>
    <p:extLst>
      <p:ext uri="{BB962C8B-B14F-4D97-AF65-F5344CB8AC3E}">
        <p14:creationId xmlns:p14="http://schemas.microsoft.com/office/powerpoint/2010/main" val="386083540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9378</TotalTime>
  <Words>942</Words>
  <Application>Microsoft Macintosh PowerPoint</Application>
  <PresentationFormat>On-screen Show (4:3)</PresentationFormat>
  <Paragraphs>223</Paragraphs>
  <Slides>22</Slides>
  <Notes>6</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22</vt:i4>
      </vt:variant>
    </vt:vector>
  </HeadingPairs>
  <TitlesOfParts>
    <vt:vector size="32" baseType="lpstr">
      <vt:lpstr>Calibri</vt:lpstr>
      <vt:lpstr>Futura Book</vt:lpstr>
      <vt:lpstr>Monotype Sorts</vt:lpstr>
      <vt:lpstr>Neutra Text</vt:lpstr>
      <vt:lpstr>Optima</vt:lpstr>
      <vt:lpstr>Wingdings</vt:lpstr>
      <vt:lpstr>微軟正黑體</vt:lpstr>
      <vt:lpstr>新細明體</vt:lpstr>
      <vt:lpstr>Arial</vt:lpstr>
      <vt:lpstr>Office Theme</vt:lpstr>
      <vt:lpstr>ISA5577 Applied Quantitative Methods for Human-Computer Interaction 人機互動量化研究方法   October 19, 2017</vt:lpstr>
      <vt:lpstr>Today’s Agenda</vt:lpstr>
      <vt:lpstr>PowerPoint Presentation</vt:lpstr>
      <vt:lpstr>Key consideration:  Should every participant use every alternative? </vt:lpstr>
      <vt:lpstr>Example</vt:lpstr>
      <vt:lpstr>What are the measures?</vt:lpstr>
      <vt:lpstr>PowerPoint Presentation</vt:lpstr>
      <vt:lpstr>Between subjects design</vt:lpstr>
      <vt:lpstr>Between subjects design</vt:lpstr>
      <vt:lpstr>Within subjects design</vt:lpstr>
      <vt:lpstr>Within subjects design</vt:lpstr>
      <vt:lpstr>Between vs. within subjects</vt:lpstr>
      <vt:lpstr>Ordering effects</vt:lpstr>
      <vt:lpstr>Within vs. Between Subjects</vt:lpstr>
      <vt:lpstr>Counterbalancing</vt:lpstr>
      <vt:lpstr>Addressing ordering effects with counterbalancing</vt:lpstr>
      <vt:lpstr>What about three or more alternative conditions?</vt:lpstr>
      <vt:lpstr>Latin Square</vt:lpstr>
      <vt:lpstr>Random Order</vt:lpstr>
      <vt:lpstr>Succinct Statement of Design</vt:lpstr>
      <vt:lpstr>Assignment 2</vt:lpstr>
      <vt:lpstr>Sample Research Method Course Project</vt:lpstr>
    </vt:vector>
  </TitlesOfParts>
  <Company>Cornell University</Company>
  <LinksUpToDate>false</LinksUpToDate>
  <SharedDoc>false</SharedDoc>
  <HyperlinksChanged>false</HyperlinksChanged>
  <AppVersion>15.0037</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 5441 Social Computing TA</dc:title>
  <dc:creator>Hao-Chuan Wang</dc:creator>
  <cp:lastModifiedBy>王浩全</cp:lastModifiedBy>
  <cp:revision>435</cp:revision>
  <dcterms:created xsi:type="dcterms:W3CDTF">2012-02-07T03:56:58Z</dcterms:created>
  <dcterms:modified xsi:type="dcterms:W3CDTF">2017-10-19T07:18:09Z</dcterms:modified>
</cp:coreProperties>
</file>