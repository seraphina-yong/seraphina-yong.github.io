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6"/>
  </p:notesMasterIdLst>
  <p:handoutMasterIdLst>
    <p:handoutMasterId r:id="rId87"/>
  </p:handoutMasterIdLst>
  <p:sldIdLst>
    <p:sldId id="257" r:id="rId2"/>
    <p:sldId id="298" r:id="rId3"/>
    <p:sldId id="258" r:id="rId4"/>
    <p:sldId id="299" r:id="rId5"/>
    <p:sldId id="329" r:id="rId6"/>
    <p:sldId id="327" r:id="rId7"/>
    <p:sldId id="328" r:id="rId8"/>
    <p:sldId id="360" r:id="rId9"/>
    <p:sldId id="333" r:id="rId10"/>
    <p:sldId id="300" r:id="rId11"/>
    <p:sldId id="263" r:id="rId12"/>
    <p:sldId id="302" r:id="rId13"/>
    <p:sldId id="264" r:id="rId14"/>
    <p:sldId id="301" r:id="rId15"/>
    <p:sldId id="266" r:id="rId16"/>
    <p:sldId id="366" r:id="rId17"/>
    <p:sldId id="367" r:id="rId18"/>
    <p:sldId id="303" r:id="rId19"/>
    <p:sldId id="362" r:id="rId20"/>
    <p:sldId id="361" r:id="rId21"/>
    <p:sldId id="304" r:id="rId22"/>
    <p:sldId id="363" r:id="rId23"/>
    <p:sldId id="334" r:id="rId24"/>
    <p:sldId id="335" r:id="rId25"/>
    <p:sldId id="267" r:id="rId26"/>
    <p:sldId id="307" r:id="rId27"/>
    <p:sldId id="308" r:id="rId28"/>
    <p:sldId id="268" r:id="rId29"/>
    <p:sldId id="336" r:id="rId30"/>
    <p:sldId id="269" r:id="rId31"/>
    <p:sldId id="270" r:id="rId32"/>
    <p:sldId id="271" r:id="rId33"/>
    <p:sldId id="309" r:id="rId34"/>
    <p:sldId id="272" r:id="rId35"/>
    <p:sldId id="273" r:id="rId36"/>
    <p:sldId id="274" r:id="rId37"/>
    <p:sldId id="311" r:id="rId38"/>
    <p:sldId id="276" r:id="rId39"/>
    <p:sldId id="364" r:id="rId40"/>
    <p:sldId id="277" r:id="rId41"/>
    <p:sldId id="278" r:id="rId42"/>
    <p:sldId id="279" r:id="rId43"/>
    <p:sldId id="280" r:id="rId44"/>
    <p:sldId id="281" r:id="rId45"/>
    <p:sldId id="313" r:id="rId46"/>
    <p:sldId id="314" r:id="rId47"/>
    <p:sldId id="315" r:id="rId48"/>
    <p:sldId id="316" r:id="rId49"/>
    <p:sldId id="368" r:id="rId50"/>
    <p:sldId id="369" r:id="rId51"/>
    <p:sldId id="284" r:id="rId52"/>
    <p:sldId id="318" r:id="rId53"/>
    <p:sldId id="317" r:id="rId54"/>
    <p:sldId id="286" r:id="rId55"/>
    <p:sldId id="287" r:id="rId56"/>
    <p:sldId id="319" r:id="rId57"/>
    <p:sldId id="289" r:id="rId58"/>
    <p:sldId id="290" r:id="rId59"/>
    <p:sldId id="320" r:id="rId60"/>
    <p:sldId id="370" r:id="rId61"/>
    <p:sldId id="337" r:id="rId62"/>
    <p:sldId id="338" r:id="rId63"/>
    <p:sldId id="339" r:id="rId64"/>
    <p:sldId id="340" r:id="rId65"/>
    <p:sldId id="341" r:id="rId66"/>
    <p:sldId id="342" r:id="rId67"/>
    <p:sldId id="343" r:id="rId68"/>
    <p:sldId id="344" r:id="rId69"/>
    <p:sldId id="374" r:id="rId70"/>
    <p:sldId id="375" r:id="rId71"/>
    <p:sldId id="324" r:id="rId72"/>
    <p:sldId id="345" r:id="rId73"/>
    <p:sldId id="292" r:id="rId74"/>
    <p:sldId id="348" r:id="rId75"/>
    <p:sldId id="352" r:id="rId76"/>
    <p:sldId id="353" r:id="rId77"/>
    <p:sldId id="354" r:id="rId78"/>
    <p:sldId id="359" r:id="rId79"/>
    <p:sldId id="322" r:id="rId80"/>
    <p:sldId id="371" r:id="rId81"/>
    <p:sldId id="373" r:id="rId82"/>
    <p:sldId id="372" r:id="rId83"/>
    <p:sldId id="377" r:id="rId84"/>
    <p:sldId id="378" r:id="rId85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96" autoAdjust="0"/>
  </p:normalViewPr>
  <p:slideViewPr>
    <p:cSldViewPr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t" anchorCtr="0" compatLnSpc="1">
            <a:prstTxWarp prst="textNoShape">
              <a:avLst/>
            </a:prstTxWarp>
          </a:bodyPr>
          <a:lstStyle>
            <a:lvl1pPr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t" anchorCtr="0" compatLnSpc="1">
            <a:prstTxWarp prst="textNoShape">
              <a:avLst/>
            </a:prstTxWarp>
          </a:bodyPr>
          <a:lstStyle>
            <a:lvl1pPr algn="r"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b" anchorCtr="0" compatLnSpc="1">
            <a:prstTxWarp prst="textNoShape">
              <a:avLst/>
            </a:prstTxWarp>
          </a:bodyPr>
          <a:lstStyle>
            <a:lvl1pPr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b" anchorCtr="0" compatLnSpc="1">
            <a:prstTxWarp prst="textNoShape">
              <a:avLst/>
            </a:prstTxWarp>
          </a:bodyPr>
          <a:lstStyle>
            <a:lvl1pPr algn="r" defTabSz="931391">
              <a:defRPr sz="1200">
                <a:latin typeface="Times New Roman" panose="02020603050405020304" pitchFamily="18" charset="0"/>
              </a:defRPr>
            </a:lvl1pPr>
          </a:lstStyle>
          <a:p>
            <a:fld id="{6FB542FB-A179-4D91-ADD1-39B508E6720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5361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t" anchorCtr="0" compatLnSpc="1">
            <a:prstTxWarp prst="textNoShape">
              <a:avLst/>
            </a:prstTxWarp>
          </a:bodyPr>
          <a:lstStyle>
            <a:lvl1pPr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t" anchorCtr="0" compatLnSpc="1">
            <a:prstTxWarp prst="textNoShape">
              <a:avLst/>
            </a:prstTxWarp>
          </a:bodyPr>
          <a:lstStyle>
            <a:lvl1pPr algn="r"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3" y="4720153"/>
            <a:ext cx="4991735" cy="4473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b" anchorCtr="0" compatLnSpc="1">
            <a:prstTxWarp prst="textNoShape">
              <a:avLst/>
            </a:prstTxWarp>
          </a:bodyPr>
          <a:lstStyle>
            <a:lvl1pPr defTabSz="931391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6" tIns="46584" rIns="93166" bIns="46584" numCol="1" anchor="b" anchorCtr="0" compatLnSpc="1">
            <a:prstTxWarp prst="textNoShape">
              <a:avLst/>
            </a:prstTxWarp>
          </a:bodyPr>
          <a:lstStyle>
            <a:lvl1pPr algn="r" defTabSz="931391">
              <a:defRPr sz="1200">
                <a:latin typeface="Times New Roman" panose="02020603050405020304" pitchFamily="18" charset="0"/>
              </a:defRPr>
            </a:lvl1pPr>
          </a:lstStyle>
          <a:p>
            <a:fld id="{2F82996A-1060-4626-AD4C-0FC8EBB1BBA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71592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69CCB70-EC05-4718-8875-99AAA72B458F}" type="slidenum">
              <a:rPr lang="en-US" altLang="zh-TW"/>
              <a:pPr eaLnBrk="1" hangingPunct="1"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04817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3B32687-3FE5-47EA-89C5-C91B797F6A5F}" type="slidenum">
              <a:rPr lang="en-US" altLang="zh-TW"/>
              <a:pPr eaLnBrk="1" hangingPunct="1"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82654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E187EAD-D800-44C2-B2B8-03749466FE71}" type="slidenum">
              <a:rPr lang="en-US" altLang="zh-TW"/>
              <a:pPr eaLnBrk="1" hangingPunct="1"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7564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DF64FA7-46EB-4F7D-8E6B-054B1D472BD3}" type="slidenum">
              <a:rPr lang="en-US" altLang="zh-TW"/>
              <a:pPr eaLnBrk="1" hangingPunct="1"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72502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6ECFC92-64D0-459E-A283-BD46C824326D}" type="slidenum">
              <a:rPr lang="en-US" altLang="zh-TW"/>
              <a:pPr eaLnBrk="1" hangingPunct="1"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410811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BC6568B-A240-44C4-8FF1-1809EF026FDE}" type="slidenum">
              <a:rPr lang="en-US" altLang="zh-TW"/>
              <a:pPr eaLnBrk="1" hangingPunct="1"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84226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0615A8F-E28F-470C-A7F5-BFD3AEEB2BAC}" type="slidenum">
              <a:rPr lang="en-US" altLang="zh-TW"/>
              <a:pPr eaLnBrk="1" hangingPunct="1">
                <a:spcBef>
                  <a:spcPct val="0"/>
                </a:spcBef>
              </a:pPr>
              <a:t>7</a:t>
            </a:fld>
            <a:endParaRPr lang="en-US" altLang="zh-TW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521437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11D7424-187A-4C8A-9266-A4316D170188}" type="slidenum">
              <a:rPr lang="en-US" altLang="zh-TW"/>
              <a:pPr eaLnBrk="1" hangingPunct="1"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0389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C6C7C94-5FF8-4E65-A17B-0B1EE7B414EC}" type="slidenum">
              <a:rPr lang="en-US" altLang="zh-TW"/>
              <a:pPr eaLnBrk="1" hangingPunct="1"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33266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5941E24-B6C8-47B4-9279-C9C4FF95D9DB}" type="slidenum">
              <a:rPr lang="en-US" altLang="zh-TW"/>
              <a:pPr eaLnBrk="1" hangingPunct="1"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02323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0A89E2F-F870-4163-BB60-D0916795F54D}" type="slidenum">
              <a:rPr lang="en-US" altLang="zh-TW"/>
              <a:pPr eaLnBrk="1" hangingPunct="1">
                <a:spcBef>
                  <a:spcPct val="0"/>
                </a:spcBef>
              </a:pPr>
              <a:t>11</a:t>
            </a:fld>
            <a:endParaRPr lang="en-US" altLang="zh-TW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899404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D3B8E1F-7780-4807-93E3-B004D2B92501}" type="slidenum">
              <a:rPr lang="en-US" altLang="zh-TW"/>
              <a:pPr eaLnBrk="1" hangingPunct="1">
                <a:spcBef>
                  <a:spcPct val="0"/>
                </a:spcBef>
              </a:pPr>
              <a:t>12</a:t>
            </a:fld>
            <a:endParaRPr lang="en-US" altLang="zh-TW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946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924161A-9E75-4958-9D15-AA824DAA22BE}" type="slidenum">
              <a:rPr lang="en-US" altLang="zh-TW"/>
              <a:pPr eaLnBrk="1" hangingPunct="1"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35284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5BB60E3-0D5A-4423-A635-A019615A2F50}" type="slidenum">
              <a:rPr lang="en-US" altLang="zh-TW"/>
              <a:pPr eaLnBrk="1" hangingPunct="1">
                <a:spcBef>
                  <a:spcPct val="0"/>
                </a:spcBef>
              </a:pPr>
              <a:t>14</a:t>
            </a:fld>
            <a:endParaRPr lang="en-US" altLang="zh-TW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651639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7A8C55D-1D3C-43F1-9ADB-44BA44F296D9}" type="slidenum">
              <a:rPr lang="en-US" altLang="zh-TW"/>
              <a:pPr eaLnBrk="1" hangingPunct="1">
                <a:spcBef>
                  <a:spcPct val="0"/>
                </a:spcBef>
              </a:pPr>
              <a:t>15</a:t>
            </a:fld>
            <a:endParaRPr lang="en-US" altLang="zh-TW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94823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EED9D80-1760-4342-A979-06C1D1F3D761}" type="slidenum">
              <a:rPr lang="en-US" altLang="zh-TW"/>
              <a:pPr eaLnBrk="1" hangingPunct="1">
                <a:spcBef>
                  <a:spcPct val="0"/>
                </a:spcBef>
              </a:pPr>
              <a:t>16</a:t>
            </a:fld>
            <a:endParaRPr lang="en-US" altLang="zh-TW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082342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B9984DF-748A-44DD-8621-B51AAB15AED9}" type="slidenum">
              <a:rPr lang="en-US" altLang="zh-TW"/>
              <a:pPr eaLnBrk="1" hangingPunct="1">
                <a:spcBef>
                  <a:spcPct val="0"/>
                </a:spcBef>
              </a:pPr>
              <a:t>17</a:t>
            </a:fld>
            <a:endParaRPr lang="en-US" altLang="zh-TW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14080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A0C24FD-401D-4535-9102-585B81DDC4A9}" type="slidenum">
              <a:rPr lang="en-US" altLang="zh-TW"/>
              <a:pPr eaLnBrk="1" hangingPunct="1">
                <a:spcBef>
                  <a:spcPct val="0"/>
                </a:spcBef>
              </a:pPr>
              <a:t>18</a:t>
            </a:fld>
            <a:endParaRPr lang="en-US" altLang="zh-TW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980280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661E418-B5A8-4C75-9F33-E66D49A6F8F9}" type="slidenum">
              <a:rPr lang="en-US" altLang="zh-TW"/>
              <a:pPr eaLnBrk="1" hangingPunct="1">
                <a:spcBef>
                  <a:spcPct val="0"/>
                </a:spcBef>
              </a:pPr>
              <a:t>19</a:t>
            </a:fld>
            <a:endParaRPr lang="en-US" altLang="zh-TW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30313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C887B40-0274-4311-98FD-D04377F76347}" type="slidenum">
              <a:rPr lang="en-US" altLang="zh-TW"/>
              <a:pPr eaLnBrk="1" hangingPunct="1">
                <a:spcBef>
                  <a:spcPct val="0"/>
                </a:spcBef>
              </a:pPr>
              <a:t>20</a:t>
            </a:fld>
            <a:endParaRPr lang="en-US" altLang="zh-TW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18451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2679B9B-8E27-4160-B321-821CF89CAC35}" type="slidenum">
              <a:rPr lang="en-US" altLang="zh-TW"/>
              <a:pPr eaLnBrk="1" hangingPunct="1">
                <a:spcBef>
                  <a:spcPct val="0"/>
                </a:spcBef>
              </a:pPr>
              <a:t>21</a:t>
            </a:fld>
            <a:endParaRPr lang="en-US" altLang="zh-TW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24450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162BF76-74BC-4833-BF34-C83DF4C4194C}" type="slidenum">
              <a:rPr lang="en-US" altLang="zh-TW"/>
              <a:pPr eaLnBrk="1" hangingPunct="1">
                <a:spcBef>
                  <a:spcPct val="0"/>
                </a:spcBef>
              </a:pPr>
              <a:t>22</a:t>
            </a:fld>
            <a:endParaRPr lang="en-US" altLang="zh-TW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55091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FCF6C12-C17A-4F79-9BF0-210660F96A02}" type="slidenum">
              <a:rPr lang="en-US" altLang="zh-TW"/>
              <a:pPr eaLnBrk="1" hangingPunct="1">
                <a:spcBef>
                  <a:spcPct val="0"/>
                </a:spcBef>
              </a:pPr>
              <a:t>23</a:t>
            </a:fld>
            <a:endParaRPr lang="en-US" altLang="zh-TW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8353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DA8E5AF-72C5-4999-985A-651A239EC3E6}" type="slidenum">
              <a:rPr lang="en-US" altLang="zh-TW"/>
              <a:pPr eaLnBrk="1" hangingPunct="1">
                <a:spcBef>
                  <a:spcPct val="0"/>
                </a:spcBef>
              </a:pPr>
              <a:t>24</a:t>
            </a:fld>
            <a:endParaRPr lang="en-US" altLang="zh-TW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735977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859715D-B4A5-442F-BF85-BC76D2B671D0}" type="slidenum">
              <a:rPr lang="en-US" altLang="zh-TW"/>
              <a:pPr eaLnBrk="1" hangingPunct="1">
                <a:spcBef>
                  <a:spcPct val="0"/>
                </a:spcBef>
              </a:pPr>
              <a:t>25</a:t>
            </a:fld>
            <a:endParaRPr lang="en-US" altLang="zh-TW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708544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C631A1B-F744-4774-9ECD-33B19E67CA26}" type="slidenum">
              <a:rPr lang="en-US" altLang="zh-TW"/>
              <a:pPr eaLnBrk="1" hangingPunct="1">
                <a:spcBef>
                  <a:spcPct val="0"/>
                </a:spcBef>
              </a:pPr>
              <a:t>26</a:t>
            </a:fld>
            <a:endParaRPr lang="en-US" altLang="zh-TW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457124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F7542EA-3CF7-4CF8-83A6-B79734DD22F1}" type="slidenum">
              <a:rPr lang="en-US" altLang="zh-TW"/>
              <a:pPr eaLnBrk="1" hangingPunct="1">
                <a:spcBef>
                  <a:spcPct val="0"/>
                </a:spcBef>
              </a:pPr>
              <a:t>27</a:t>
            </a:fld>
            <a:endParaRPr lang="en-US" altLang="zh-TW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040296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9AD74E7-8ED0-4C82-BDB4-659C37AE414C}" type="slidenum">
              <a:rPr lang="en-US" altLang="zh-TW"/>
              <a:pPr eaLnBrk="1" hangingPunct="1">
                <a:spcBef>
                  <a:spcPct val="0"/>
                </a:spcBef>
              </a:pPr>
              <a:t>28</a:t>
            </a:fld>
            <a:endParaRPr lang="en-US" altLang="zh-TW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319305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618DA57-E93A-40EF-970C-35997705312F}" type="slidenum">
              <a:rPr lang="en-US" altLang="zh-TW"/>
              <a:pPr eaLnBrk="1" hangingPunct="1">
                <a:spcBef>
                  <a:spcPct val="0"/>
                </a:spcBef>
              </a:pPr>
              <a:t>29</a:t>
            </a:fld>
            <a:endParaRPr lang="en-US" altLang="zh-TW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741619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1C01846-C3E5-4B68-A6EC-EA884A9BA24E}" type="slidenum">
              <a:rPr lang="en-US" altLang="zh-TW"/>
              <a:pPr eaLnBrk="1" hangingPunct="1">
                <a:spcBef>
                  <a:spcPct val="0"/>
                </a:spcBef>
              </a:pPr>
              <a:t>30</a:t>
            </a:fld>
            <a:endParaRPr lang="en-US" altLang="zh-TW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763244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F17878E-C132-4FF9-8DC1-8F54FB3F737E}" type="slidenum">
              <a:rPr lang="en-US" altLang="zh-TW"/>
              <a:pPr eaLnBrk="1" hangingPunct="1">
                <a:spcBef>
                  <a:spcPct val="0"/>
                </a:spcBef>
              </a:pPr>
              <a:t>31</a:t>
            </a:fld>
            <a:endParaRPr lang="en-US" altLang="zh-TW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2560788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0C01852-BBBD-43A8-94D1-2E0ED31E036D}" type="slidenum">
              <a:rPr lang="en-US" altLang="zh-TW"/>
              <a:pPr eaLnBrk="1" hangingPunct="1">
                <a:spcBef>
                  <a:spcPct val="0"/>
                </a:spcBef>
              </a:pPr>
              <a:t>32</a:t>
            </a:fld>
            <a:endParaRPr lang="en-US" altLang="zh-TW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468007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9C6CD28-56DC-44DA-8434-D4F6B15561D4}" type="slidenum">
              <a:rPr lang="en-US" altLang="zh-TW"/>
              <a:pPr eaLnBrk="1" hangingPunct="1">
                <a:spcBef>
                  <a:spcPct val="0"/>
                </a:spcBef>
              </a:pPr>
              <a:t>33</a:t>
            </a:fld>
            <a:endParaRPr lang="en-US" altLang="zh-TW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591145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92F7B6F-E6B4-4F43-BCB6-16198D3BEE77}" type="slidenum">
              <a:rPr lang="en-US" altLang="zh-TW"/>
              <a:pPr eaLnBrk="1" hangingPunct="1">
                <a:spcBef>
                  <a:spcPct val="0"/>
                </a:spcBef>
              </a:pPr>
              <a:t>34</a:t>
            </a:fld>
            <a:endParaRPr lang="en-US" altLang="zh-TW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7806319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19A63A2-242E-4F9F-A5C1-9E81A4820479}" type="slidenum">
              <a:rPr lang="en-US" altLang="zh-TW"/>
              <a:pPr eaLnBrk="1" hangingPunct="1">
                <a:spcBef>
                  <a:spcPct val="0"/>
                </a:spcBef>
              </a:pPr>
              <a:t>35</a:t>
            </a:fld>
            <a:endParaRPr lang="en-US" altLang="zh-TW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089523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1D99FB3-A7E3-41AD-8716-1EEFEE61D925}" type="slidenum">
              <a:rPr lang="en-US" altLang="zh-TW"/>
              <a:pPr eaLnBrk="1" hangingPunct="1">
                <a:spcBef>
                  <a:spcPct val="0"/>
                </a:spcBef>
              </a:pPr>
              <a:t>36</a:t>
            </a:fld>
            <a:endParaRPr lang="en-US" altLang="zh-TW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196915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FA51D72-06A8-448E-BA34-5FEC077304A6}" type="slidenum">
              <a:rPr lang="en-US" altLang="zh-TW"/>
              <a:pPr eaLnBrk="1" hangingPunct="1">
                <a:spcBef>
                  <a:spcPct val="0"/>
                </a:spcBef>
              </a:pPr>
              <a:t>37</a:t>
            </a:fld>
            <a:endParaRPr lang="en-US" altLang="zh-TW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44694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FD279F4-0D63-4905-94A2-2B3AEDEE444B}" type="slidenum">
              <a:rPr lang="en-US" altLang="zh-TW"/>
              <a:pPr eaLnBrk="1" hangingPunct="1">
                <a:spcBef>
                  <a:spcPct val="0"/>
                </a:spcBef>
              </a:pPr>
              <a:t>38</a:t>
            </a:fld>
            <a:endParaRPr lang="en-US" altLang="zh-TW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968425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3EF2AA9-D23E-40E2-9193-CE7DC7EFBF49}" type="slidenum">
              <a:rPr lang="en-US" altLang="zh-TW"/>
              <a:pPr eaLnBrk="1" hangingPunct="1">
                <a:spcBef>
                  <a:spcPct val="0"/>
                </a:spcBef>
              </a:pPr>
              <a:t>39</a:t>
            </a:fld>
            <a:endParaRPr lang="en-US" altLang="zh-TW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314309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13841FC-B4B4-4E8D-BC47-A508FB84E451}" type="slidenum">
              <a:rPr lang="en-US" altLang="zh-TW"/>
              <a:pPr eaLnBrk="1" hangingPunct="1">
                <a:spcBef>
                  <a:spcPct val="0"/>
                </a:spcBef>
              </a:pPr>
              <a:t>40</a:t>
            </a:fld>
            <a:endParaRPr lang="en-US" altLang="zh-TW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6652992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3E00584-69B3-4D46-A397-23390390C92C}" type="slidenum">
              <a:rPr lang="en-US" altLang="zh-TW"/>
              <a:pPr eaLnBrk="1" hangingPunct="1">
                <a:spcBef>
                  <a:spcPct val="0"/>
                </a:spcBef>
              </a:pPr>
              <a:t>41</a:t>
            </a:fld>
            <a:endParaRPr lang="en-US" altLang="zh-TW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129338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30F603E-3DAC-4183-9145-A79E4FB75516}" type="slidenum">
              <a:rPr lang="en-US" altLang="zh-TW"/>
              <a:pPr eaLnBrk="1" hangingPunct="1">
                <a:spcBef>
                  <a:spcPct val="0"/>
                </a:spcBef>
              </a:pPr>
              <a:t>42</a:t>
            </a:fld>
            <a:endParaRPr lang="en-US" altLang="zh-TW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6259546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F5B3753-3E9F-4E0D-9E69-328C2A641F75}" type="slidenum">
              <a:rPr lang="en-US" altLang="zh-TW"/>
              <a:pPr eaLnBrk="1" hangingPunct="1">
                <a:spcBef>
                  <a:spcPct val="0"/>
                </a:spcBef>
              </a:pPr>
              <a:t>43</a:t>
            </a:fld>
            <a:endParaRPr lang="en-US" altLang="zh-TW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520060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ACF3B66-C9BC-4A97-BBD4-EE6EE5998F5B}" type="slidenum">
              <a:rPr lang="en-US" altLang="zh-TW"/>
              <a:pPr eaLnBrk="1" hangingPunct="1">
                <a:spcBef>
                  <a:spcPct val="0"/>
                </a:spcBef>
              </a:pPr>
              <a:t>44</a:t>
            </a:fld>
            <a:endParaRPr lang="en-US" altLang="zh-TW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747341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9313E5B-79B7-46F3-9850-669BCB4B1DC2}" type="slidenum">
              <a:rPr lang="en-US" altLang="zh-TW"/>
              <a:pPr eaLnBrk="1" hangingPunct="1">
                <a:spcBef>
                  <a:spcPct val="0"/>
                </a:spcBef>
              </a:pPr>
              <a:t>45</a:t>
            </a:fld>
            <a:endParaRPr lang="en-US" altLang="zh-TW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508274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D2541A9-AF0F-44E8-AF73-B6E3133321F0}" type="slidenum">
              <a:rPr lang="en-US" altLang="zh-TW"/>
              <a:pPr eaLnBrk="1" hangingPunct="1">
                <a:spcBef>
                  <a:spcPct val="0"/>
                </a:spcBef>
              </a:pPr>
              <a:t>46</a:t>
            </a:fld>
            <a:endParaRPr lang="en-US" altLang="zh-TW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735816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4F8FABD-FC80-48BB-B509-DC5B386AA044}" type="slidenum">
              <a:rPr lang="en-US" altLang="zh-TW"/>
              <a:pPr eaLnBrk="1" hangingPunct="1">
                <a:spcBef>
                  <a:spcPct val="0"/>
                </a:spcBef>
              </a:pPr>
              <a:t>47</a:t>
            </a:fld>
            <a:endParaRPr lang="en-US" altLang="zh-TW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708417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F89DB03-836C-4CF1-B327-493759A635E0}" type="slidenum">
              <a:rPr lang="en-US" altLang="zh-TW"/>
              <a:pPr eaLnBrk="1" hangingPunct="1">
                <a:spcBef>
                  <a:spcPct val="0"/>
                </a:spcBef>
              </a:pPr>
              <a:t>48</a:t>
            </a:fld>
            <a:endParaRPr lang="en-US" altLang="zh-TW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706491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351DA7A-2C91-48FC-BA1F-8931705689A8}" type="slidenum">
              <a:rPr lang="en-US" altLang="zh-TW"/>
              <a:pPr eaLnBrk="1" hangingPunct="1">
                <a:spcBef>
                  <a:spcPct val="0"/>
                </a:spcBef>
              </a:pPr>
              <a:t>49</a:t>
            </a:fld>
            <a:endParaRPr lang="en-US" altLang="zh-TW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52475"/>
            <a:ext cx="4949825" cy="3713163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645351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9C31348-7EED-4AB9-9E48-82819192002E}" type="slidenum">
              <a:rPr lang="en-US" altLang="zh-TW"/>
              <a:pPr eaLnBrk="1" hangingPunct="1">
                <a:spcBef>
                  <a:spcPct val="0"/>
                </a:spcBef>
              </a:pPr>
              <a:t>50</a:t>
            </a:fld>
            <a:endParaRPr lang="en-US" altLang="zh-TW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52475"/>
            <a:ext cx="4949825" cy="3713163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5552787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9710FC9-AE8A-480B-81A0-EE3CBC3EE2FA}" type="slidenum">
              <a:rPr lang="en-US" altLang="zh-TW"/>
              <a:pPr eaLnBrk="1" hangingPunct="1">
                <a:spcBef>
                  <a:spcPct val="0"/>
                </a:spcBef>
              </a:pPr>
              <a:t>51</a:t>
            </a:fld>
            <a:endParaRPr lang="en-US" altLang="zh-TW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2027100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FE56A9F-9CFE-48DE-A3E4-254B203090FB}" type="slidenum">
              <a:rPr lang="en-US" altLang="zh-TW"/>
              <a:pPr eaLnBrk="1" hangingPunct="1">
                <a:spcBef>
                  <a:spcPct val="0"/>
                </a:spcBef>
              </a:pPr>
              <a:t>52</a:t>
            </a:fld>
            <a:endParaRPr lang="en-US" altLang="zh-TW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094406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52023B9-3D86-4904-B161-9FAF7B865C5E}" type="slidenum">
              <a:rPr lang="en-US" altLang="zh-TW"/>
              <a:pPr eaLnBrk="1" hangingPunct="1">
                <a:spcBef>
                  <a:spcPct val="0"/>
                </a:spcBef>
              </a:pPr>
              <a:t>53</a:t>
            </a:fld>
            <a:endParaRPr lang="en-US" altLang="zh-TW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456711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018DC70-9AEC-4D17-B8D1-CD528BA10139}" type="slidenum">
              <a:rPr lang="en-US" altLang="zh-TW"/>
              <a:pPr eaLnBrk="1" hangingPunct="1">
                <a:spcBef>
                  <a:spcPct val="0"/>
                </a:spcBef>
              </a:pPr>
              <a:t>54</a:t>
            </a:fld>
            <a:endParaRPr lang="en-US" altLang="zh-TW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430341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A702770-DF3E-4E57-BFBA-CA2D091F6F9C}" type="slidenum">
              <a:rPr lang="en-US" altLang="zh-TW"/>
              <a:pPr eaLnBrk="1" hangingPunct="1">
                <a:spcBef>
                  <a:spcPct val="0"/>
                </a:spcBef>
              </a:pPr>
              <a:t>55</a:t>
            </a:fld>
            <a:endParaRPr lang="en-US" altLang="zh-TW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7710178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3FDA0FF-3C1E-4A82-A5FA-EC8F085F3909}" type="slidenum">
              <a:rPr lang="en-US" altLang="zh-TW"/>
              <a:pPr eaLnBrk="1" hangingPunct="1">
                <a:spcBef>
                  <a:spcPct val="0"/>
                </a:spcBef>
              </a:pPr>
              <a:t>56</a:t>
            </a:fld>
            <a:endParaRPr lang="en-US" altLang="zh-TW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3659257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BD190FD-4781-4795-9B25-268DC3C4AB1A}" type="slidenum">
              <a:rPr lang="en-US" altLang="zh-TW"/>
              <a:pPr eaLnBrk="1" hangingPunct="1">
                <a:spcBef>
                  <a:spcPct val="0"/>
                </a:spcBef>
              </a:pPr>
              <a:t>57</a:t>
            </a:fld>
            <a:endParaRPr lang="en-US" altLang="zh-TW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9845538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DCD1228-9FF5-4AE9-9E94-4664021AD521}" type="slidenum">
              <a:rPr lang="en-US" altLang="zh-TW"/>
              <a:pPr eaLnBrk="1" hangingPunct="1">
                <a:spcBef>
                  <a:spcPct val="0"/>
                </a:spcBef>
              </a:pPr>
              <a:t>58</a:t>
            </a:fld>
            <a:endParaRPr lang="en-US" altLang="zh-TW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920071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6EBC287-4EA8-4160-AB9E-54E0363E037F}" type="slidenum">
              <a:rPr lang="en-US" altLang="zh-TW"/>
              <a:pPr eaLnBrk="1" hangingPunct="1">
                <a:spcBef>
                  <a:spcPct val="0"/>
                </a:spcBef>
              </a:pPr>
              <a:t>59</a:t>
            </a:fld>
            <a:endParaRPr lang="en-US" altLang="zh-TW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123978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69DC1E5-31B1-4F9A-BD29-4740CD9FF0C4}" type="slidenum">
              <a:rPr lang="en-US" altLang="zh-TW"/>
              <a:pPr eaLnBrk="1" hangingPunct="1">
                <a:spcBef>
                  <a:spcPct val="0"/>
                </a:spcBef>
              </a:pPr>
              <a:t>60</a:t>
            </a:fld>
            <a:endParaRPr lang="en-US" altLang="zh-TW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7713"/>
            <a:ext cx="4968875" cy="3725862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063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6757" tIns="48377" rIns="96757" bIns="48377" anchor="ctr"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4060411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7AE2C31-6556-4BB9-B797-0228639BB513}" type="slidenum">
              <a:rPr lang="en-US" altLang="zh-TW"/>
              <a:pPr eaLnBrk="1" hangingPunct="1">
                <a:spcBef>
                  <a:spcPct val="0"/>
                </a:spcBef>
              </a:pPr>
              <a:t>61</a:t>
            </a:fld>
            <a:endParaRPr lang="en-US" altLang="zh-TW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9686775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80A0360-9138-4160-A470-82471CCEA79F}" type="slidenum">
              <a:rPr lang="en-US" altLang="zh-TW"/>
              <a:pPr eaLnBrk="1" hangingPunct="1">
                <a:spcBef>
                  <a:spcPct val="0"/>
                </a:spcBef>
              </a:pPr>
              <a:t>62</a:t>
            </a:fld>
            <a:endParaRPr lang="en-US" altLang="zh-TW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888087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CB18EF6-03D6-4644-9328-CCDB304EC8A9}" type="slidenum">
              <a:rPr lang="en-US" altLang="zh-TW"/>
              <a:pPr eaLnBrk="1" hangingPunct="1">
                <a:spcBef>
                  <a:spcPct val="0"/>
                </a:spcBef>
              </a:pPr>
              <a:t>63</a:t>
            </a:fld>
            <a:endParaRPr lang="en-US" altLang="zh-TW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385669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CFB832A-10FD-4298-83D3-E8658475CF84}" type="slidenum">
              <a:rPr lang="en-US" altLang="zh-TW"/>
              <a:pPr eaLnBrk="1" hangingPunct="1">
                <a:spcBef>
                  <a:spcPct val="0"/>
                </a:spcBef>
              </a:pPr>
              <a:t>64</a:t>
            </a:fld>
            <a:endParaRPr lang="en-US" altLang="zh-TW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6743830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40C88C0-B902-4FD1-BAD6-A063C74F96C4}" type="slidenum">
              <a:rPr lang="en-US" altLang="zh-TW"/>
              <a:pPr eaLnBrk="1" hangingPunct="1">
                <a:spcBef>
                  <a:spcPct val="0"/>
                </a:spcBef>
              </a:pPr>
              <a:t>65</a:t>
            </a:fld>
            <a:endParaRPr lang="en-US" altLang="zh-TW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5583921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AF07B8F-C989-4C75-BABE-0C8268E18BBE}" type="slidenum">
              <a:rPr lang="en-US" altLang="zh-TW"/>
              <a:pPr eaLnBrk="1" hangingPunct="1">
                <a:spcBef>
                  <a:spcPct val="0"/>
                </a:spcBef>
              </a:pPr>
              <a:t>66</a:t>
            </a:fld>
            <a:endParaRPr lang="en-US" altLang="zh-TW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5355566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5ABF1D9-8401-4760-8BF5-614938A6FE65}" type="slidenum">
              <a:rPr lang="en-US" altLang="zh-TW"/>
              <a:pPr eaLnBrk="1" hangingPunct="1">
                <a:spcBef>
                  <a:spcPct val="0"/>
                </a:spcBef>
              </a:pPr>
              <a:t>67</a:t>
            </a:fld>
            <a:endParaRPr lang="en-US" altLang="zh-TW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4083629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D075049-542D-47AF-83C8-1E9A9D284B66}" type="slidenum">
              <a:rPr lang="en-US" altLang="zh-TW"/>
              <a:pPr eaLnBrk="1" hangingPunct="1">
                <a:spcBef>
                  <a:spcPct val="0"/>
                </a:spcBef>
              </a:pPr>
              <a:t>68</a:t>
            </a:fld>
            <a:endParaRPr lang="en-US" altLang="zh-TW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892751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780624-9951-4453-B0E0-D43817AB62EE}" type="slidenum">
              <a:rPr lang="en-US" altLang="en-US"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69</a:t>
            </a:fld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334499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4092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4092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AD05D3E-DBFF-44C5-A7FC-D6D58413B778}" type="slidenum">
              <a:rPr lang="en-US" altLang="en-US"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70</a:t>
            </a:fld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722714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D176CD7-DBE4-4F58-9F60-2BB8CE72049A}" type="slidenum">
              <a:rPr lang="en-US" altLang="zh-TW"/>
              <a:pPr eaLnBrk="1" hangingPunct="1">
                <a:spcBef>
                  <a:spcPct val="0"/>
                </a:spcBef>
              </a:pPr>
              <a:t>71</a:t>
            </a:fld>
            <a:endParaRPr lang="en-US" altLang="zh-TW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90414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0BC42A88-724D-47AA-B46C-BC881EA6D6E4}" type="slidenum">
              <a:rPr lang="en-US" altLang="zh-TW"/>
              <a:pPr eaLnBrk="1" hangingPunct="1">
                <a:spcBef>
                  <a:spcPct val="0"/>
                </a:spcBef>
              </a:pPr>
              <a:t>72</a:t>
            </a:fld>
            <a:endParaRPr lang="en-US" altLang="zh-TW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8627330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EE5F52F-7C5F-45EA-9AC2-C3FE222A4AC3}" type="slidenum">
              <a:rPr lang="en-US" altLang="zh-TW"/>
              <a:pPr eaLnBrk="1" hangingPunct="1">
                <a:spcBef>
                  <a:spcPct val="0"/>
                </a:spcBef>
              </a:pPr>
              <a:t>73</a:t>
            </a:fld>
            <a:endParaRPr lang="en-US" altLang="zh-TW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97830282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6FE1CD6-D411-4B75-AE2D-393831B89640}" type="slidenum">
              <a:rPr lang="en-US" altLang="zh-TW"/>
              <a:pPr eaLnBrk="1" hangingPunct="1">
                <a:spcBef>
                  <a:spcPct val="0"/>
                </a:spcBef>
              </a:pPr>
              <a:t>74</a:t>
            </a:fld>
            <a:endParaRPr lang="en-US" altLang="zh-TW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7287" cy="3725863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733" y="4721743"/>
            <a:ext cx="4991735" cy="4472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938186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2135308-9D0D-4021-A1B4-12E5AA68D371}" type="slidenum">
              <a:rPr lang="en-US" altLang="zh-TW"/>
              <a:pPr eaLnBrk="1" hangingPunct="1">
                <a:spcBef>
                  <a:spcPct val="0"/>
                </a:spcBef>
              </a:pPr>
              <a:t>75</a:t>
            </a:fld>
            <a:endParaRPr lang="en-US" altLang="zh-TW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717110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2D709F2-573E-42C7-9512-4EB5120930D7}" type="slidenum">
              <a:rPr lang="en-US" altLang="zh-TW"/>
              <a:pPr eaLnBrk="1" hangingPunct="1">
                <a:spcBef>
                  <a:spcPct val="0"/>
                </a:spcBef>
              </a:pPr>
              <a:t>76</a:t>
            </a:fld>
            <a:endParaRPr lang="en-US" altLang="zh-TW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1718135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7F5CC22-9F3E-4FEE-9EEB-3ECD35083EB8}" type="slidenum">
              <a:rPr lang="en-US" altLang="zh-TW"/>
              <a:pPr eaLnBrk="1" hangingPunct="1">
                <a:spcBef>
                  <a:spcPct val="0"/>
                </a:spcBef>
              </a:pPr>
              <a:t>77</a:t>
            </a:fld>
            <a:endParaRPr lang="en-US" altLang="zh-TW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7646535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D148F21-5119-4028-84D0-84F4A47A6DFE}" type="slidenum">
              <a:rPr lang="en-US" altLang="zh-TW"/>
              <a:pPr eaLnBrk="1" hangingPunct="1">
                <a:spcBef>
                  <a:spcPct val="0"/>
                </a:spcBef>
              </a:pPr>
              <a:t>78</a:t>
            </a:fld>
            <a:endParaRPr lang="en-US" altLang="zh-TW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26356159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96DC05E-99BF-48CE-B9B7-B843A3DF2A0B}" type="slidenum">
              <a:rPr lang="en-US" altLang="zh-TW"/>
              <a:pPr eaLnBrk="1" hangingPunct="1">
                <a:spcBef>
                  <a:spcPct val="0"/>
                </a:spcBef>
              </a:pPr>
              <a:t>79</a:t>
            </a:fld>
            <a:endParaRPr lang="en-US" altLang="zh-TW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1722670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AC8645C-24DB-4090-B699-D1C8A9AD0EB7}" type="slidenum">
              <a:rPr lang="en-US" altLang="zh-TW"/>
              <a:pPr eaLnBrk="1" hangingPunct="1">
                <a:spcBef>
                  <a:spcPct val="0"/>
                </a:spcBef>
              </a:pPr>
              <a:t>80</a:t>
            </a:fld>
            <a:endParaRPr lang="en-US" altLang="zh-TW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3457442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4B360EA-C1DD-42D1-93EC-54A8DAC9C1AA}" type="slidenum">
              <a:rPr lang="en-US" altLang="zh-TW"/>
              <a:pPr eaLnBrk="1" hangingPunct="1">
                <a:spcBef>
                  <a:spcPct val="0"/>
                </a:spcBef>
              </a:pPr>
              <a:t>81</a:t>
            </a:fld>
            <a:endParaRPr lang="en-US" altLang="zh-TW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763999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C8FA7A0-9D4C-4C4B-BC62-FDD66A71C047}" type="slidenum">
              <a:rPr lang="en-US" altLang="zh-TW"/>
              <a:pPr eaLnBrk="1" hangingPunct="1">
                <a:spcBef>
                  <a:spcPct val="0"/>
                </a:spcBef>
              </a:pPr>
              <a:t>82</a:t>
            </a:fld>
            <a:endParaRPr lang="en-US" altLang="zh-TW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7012914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C8FA7A0-9D4C-4C4B-BC62-FDD66A71C047}" type="slidenum">
              <a:rPr lang="en-US" altLang="zh-TW"/>
              <a:pPr eaLnBrk="1" hangingPunct="1">
                <a:spcBef>
                  <a:spcPct val="0"/>
                </a:spcBef>
              </a:pPr>
              <a:t>83</a:t>
            </a:fld>
            <a:endParaRPr lang="en-US" altLang="zh-TW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05436451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C8FA7A0-9D4C-4C4B-BC62-FDD66A71C047}" type="slidenum">
              <a:rPr lang="en-US" altLang="zh-TW"/>
              <a:pPr eaLnBrk="1" hangingPunct="1">
                <a:spcBef>
                  <a:spcPct val="0"/>
                </a:spcBef>
              </a:pPr>
              <a:t>84</a:t>
            </a:fld>
            <a:endParaRPr lang="en-US" altLang="zh-TW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3323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512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512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DB13-E06D-42DA-8F25-E9C115F1E0BF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CC153-72C2-4AC4-88B8-8975A6B1657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060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9FAA0-95A4-45DE-BEEB-981DB7AB77F1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BCA5A8-32B4-44E8-9B67-804BD09C16C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041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C1696-C942-459F-A9B2-ADDAEDE122BE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489E9F-87CE-4FE4-A97B-45AD8843EB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014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51A36-4B01-4689-9703-9FE592C02AC6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E803C-41E5-4EFD-9930-DF28D0923CF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923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A88E9-2765-4E53-AB73-5C8C06DDF910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D41CE-E107-4D65-B42C-22F95C9E73C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293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B6ECC-C836-41DF-9D81-76A9490FA193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92D653-727B-40D6-8D57-82862FC9216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466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4C7B5-BEE0-4B1C-805F-A6E684AE2C42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D89038-EB1F-45CE-92AB-A5CF61A82B0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2372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A9CA3-8C3E-4C97-8118-9DB675008CB3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A29AC-6993-4EDD-867E-C1F055879E4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171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7D8F1-7110-4307-9106-C4C52F0C1ACC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CC0974-FAF2-49E8-A903-2DA41978EF8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338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44EF1-60C4-4907-8397-52D8A2D1200B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DC16CB-6182-4AD0-B14B-1F2BE66E7A1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510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8140B-E08E-4462-BC49-8DD8F2D7864E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70AA56-FE62-4252-AE19-D13BC18B3FB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76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02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fld id="{5FE83FE4-2C1D-4D71-B36D-F12B26EE7400}" type="datetime1">
              <a:rPr lang="zh-TW" altLang="en-US" smtClean="0"/>
              <a:t>2018/5/4</a:t>
            </a:fld>
            <a:endParaRPr lang="en-US" altLang="zh-TW"/>
          </a:p>
        </p:txBody>
      </p:sp>
      <p:sp>
        <p:nvSpPr>
          <p:cNvPr id="502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os9-2018</a:t>
            </a:r>
            <a:endParaRPr lang="en-US" altLang="zh-TW"/>
          </a:p>
        </p:txBody>
      </p:sp>
      <p:sp>
        <p:nvSpPr>
          <p:cNvPr id="502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15049A11-620D-4F61-ACC2-39BECAB20EB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46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5" Type="http://schemas.openxmlformats.org/officeDocument/2006/relationships/slide" Target="slide3.xml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5.xml"/><Relationship Id="rId4" Type="http://schemas.openxmlformats.org/officeDocument/2006/relationships/image" Target="../media/image15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43DA79-9475-4F60-9316-E737569B97F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1A2888-C300-436E-82C0-473A43CED96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2281238"/>
            <a:ext cx="71628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Chapter 9 </a:t>
            </a:r>
            <a:br>
              <a:rPr lang="en-US" altLang="zh-TW" smtClean="0">
                <a:latin typeface="Comic Sans MS" panose="030F0702030302020204" pitchFamily="66" charset="0"/>
              </a:rPr>
            </a:br>
            <a:r>
              <a:rPr lang="en-US" altLang="zh-TW" smtClean="0">
                <a:latin typeface="Comic Sans MS" panose="030F0702030302020204" pitchFamily="66" charset="0"/>
              </a:rPr>
              <a:t>Virtual Memory</a:t>
            </a:r>
            <a:r>
              <a:rPr lang="en-US" altLang="zh-TW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610451-E9F9-4E84-8E80-86FE4780287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D9264B-3C6D-4489-9DBE-FCF738B873B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/>
          </a:p>
        </p:txBody>
      </p:sp>
      <p:sp>
        <p:nvSpPr>
          <p:cNvPr id="41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052513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4102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001000" cy="480060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Background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Demand Paging</a:t>
            </a:r>
          </a:p>
          <a:p>
            <a:pPr eaLnBrk="1" hangingPunct="1"/>
            <a:r>
              <a:rPr lang="en-US" altLang="zh-TW" sz="2800" smtClean="0"/>
              <a:t>Process Creation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Page Replacement</a:t>
            </a:r>
          </a:p>
          <a:p>
            <a:pPr eaLnBrk="1" hangingPunct="1"/>
            <a:r>
              <a:rPr lang="en-US" altLang="zh-TW" sz="2800" smtClean="0"/>
              <a:t>Allocation of Frames 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Thrashing</a:t>
            </a:r>
          </a:p>
          <a:p>
            <a:pPr eaLnBrk="1" hangingPunct="1"/>
            <a:r>
              <a:rPr lang="en-US" altLang="zh-TW" sz="2800" smtClean="0"/>
              <a:t>Allocating Kernel Memory</a:t>
            </a:r>
          </a:p>
          <a:p>
            <a:pPr eaLnBrk="1" hangingPunct="1"/>
            <a:r>
              <a:rPr lang="en-US" altLang="zh-TW" sz="2800" smtClean="0"/>
              <a:t>Other Considerations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smtClean="0"/>
              <a:t>Operating System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81AFD5-1220-4ED5-A27E-A30DCB88B610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BAB307-0590-40DB-8364-04902ED1211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232650" cy="84296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Background (1)</a:t>
            </a:r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16900" cy="508635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mtClean="0">
                <a:latin typeface="Comic Sans MS" panose="030F0702030302020204" pitchFamily="66" charset="0"/>
              </a:rPr>
              <a:t>Virtual memory is a technique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TW" smtClean="0">
                <a:latin typeface="Comic Sans MS" panose="030F0702030302020204" pitchFamily="66" charset="0"/>
              </a:rPr>
              <a:t>allows the execution of processes that may not completely in memory</a:t>
            </a:r>
            <a:endParaRPr lang="en-US" altLang="zh-TW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allows a large logical address space to be mapped onto a smaller physical memory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mtClean="0">
                <a:latin typeface="Comic Sans MS" panose="030F0702030302020204" pitchFamily="66" charset="0"/>
              </a:rPr>
              <a:t>Virtual memory is commonly implemented by </a:t>
            </a:r>
            <a:endParaRPr lang="en-US" altLang="zh-TW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demand paging</a:t>
            </a:r>
          </a:p>
          <a:p>
            <a:pPr lvl="1"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demand segmentation</a:t>
            </a:r>
            <a:r>
              <a:rPr lang="en-US" altLang="zh-TW" smtClean="0">
                <a:latin typeface="Comic Sans MS" panose="030F0702030302020204" pitchFamily="66" charset="0"/>
              </a:rPr>
              <a:t>: more complicated due to variable sizes.</a:t>
            </a:r>
          </a:p>
        </p:txBody>
      </p:sp>
      <p:sp>
        <p:nvSpPr>
          <p:cNvPr id="2" name="動作按鈕: 終點 1">
            <a:hlinkClick r:id="rId4" action="ppaction://hlinksldjump" highlightClick="1"/>
          </p:cNvPr>
          <p:cNvSpPr/>
          <p:nvPr/>
        </p:nvSpPr>
        <p:spPr bwMode="auto">
          <a:xfrm>
            <a:off x="7956550" y="1341438"/>
            <a:ext cx="360363" cy="287337"/>
          </a:xfrm>
          <a:prstGeom prst="actionButtonEnd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E88DDA-B9B3-447B-9B1E-BA3A1079CD0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4D7F11-4A6F-41E1-BF46-726BC38C75E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/>
          </a:p>
        </p:txBody>
      </p:sp>
      <p:sp>
        <p:nvSpPr>
          <p:cNvPr id="614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232650" cy="84296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Background (2)</a:t>
            </a:r>
          </a:p>
        </p:txBody>
      </p:sp>
      <p:sp>
        <p:nvSpPr>
          <p:cNvPr id="5325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16900" cy="508635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z="2800" smtClean="0">
                <a:latin typeface="Comic Sans MS" pitchFamily="66" charset="0"/>
              </a:rPr>
              <a:t>Benefits: (both system and user)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smtClean="0">
                <a:latin typeface="Comic Sans MS" pitchFamily="66" charset="0"/>
              </a:rPr>
              <a:t>To run a extremely large process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>
                <a:latin typeface="Comic Sans MS" pitchFamily="66" charset="0"/>
              </a:rPr>
              <a:t>To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raise the degree of multiprogramming</a:t>
            </a:r>
            <a:r>
              <a:rPr lang="en-US" altLang="zh-TW" sz="2400" smtClean="0">
                <a:latin typeface="Comic Sans MS" pitchFamily="66" charset="0"/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degree</a:t>
            </a:r>
            <a:r>
              <a:rPr lang="en-US" altLang="zh-TW" sz="2400" smtClean="0">
                <a:latin typeface="Comic Sans MS" pitchFamily="66" charset="0"/>
              </a:rPr>
              <a:t> and thus increase CPU utilization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>
                <a:latin typeface="Comic Sans MS" pitchFamily="66" charset="0"/>
              </a:rPr>
              <a:t>To simplify programming tasks </a:t>
            </a:r>
            <a:endParaRPr lang="en-US" altLang="zh-TW" sz="2400" smtClean="0">
              <a:solidFill>
                <a:srgbClr val="FF0000"/>
              </a:solidFill>
              <a:latin typeface="Comic Sans MS" pitchFamily="66" charset="0"/>
            </a:endParaRPr>
          </a:p>
          <a:p>
            <a:pPr lvl="2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Free programmer from concerning over memory limitation</a:t>
            </a:r>
          </a:p>
          <a:p>
            <a:pPr lvl="2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mtClean="0">
                <a:latin typeface="Comic Sans MS" pitchFamily="66" charset="0"/>
              </a:rPr>
              <a:t>Once system supporting virtual memory, overlays have disappeared</a:t>
            </a:r>
            <a:endParaRPr lang="en-US" altLang="zh-TW" smtClean="0">
              <a:solidFill>
                <a:srgbClr val="FF0000"/>
              </a:solidFill>
              <a:latin typeface="Comic Sans MS" pitchFamily="66" charset="0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Programs run faster </a:t>
            </a:r>
            <a:r>
              <a:rPr lang="en-US" altLang="zh-TW" sz="2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(less I/O would be needed to load or swap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E57633-CA8C-4D42-9848-4CD2D041ACE9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17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1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D8FB49-D202-4D0B-88FB-F7F7ADF4F61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161337" cy="720725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latin typeface="Comic Sans MS" panose="030F0702030302020204" pitchFamily="66" charset="0"/>
              </a:rPr>
              <a:t>Virtual Memory</a:t>
            </a: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4367213" y="3246438"/>
            <a:ext cx="4095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Helvetica" panose="020B0604020202020204" pitchFamily="34" charset="0"/>
                <a:sym typeface="Symbol" panose="05050102010706020507" pitchFamily="18" charset="2"/>
              </a:rPr>
              <a:t></a:t>
            </a:r>
          </a:p>
        </p:txBody>
      </p:sp>
      <p:pic>
        <p:nvPicPr>
          <p:cNvPr id="717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" t="629" r="3572" b="958"/>
          <a:stretch>
            <a:fillRect/>
          </a:stretch>
        </p:blipFill>
        <p:spPr bwMode="auto">
          <a:xfrm>
            <a:off x="611188" y="1052513"/>
            <a:ext cx="4537075" cy="51435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5" y="1033463"/>
            <a:ext cx="2182813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7" name="Rectangle 2"/>
          <p:cNvSpPr txBox="1">
            <a:spLocks noChangeArrowheads="1"/>
          </p:cNvSpPr>
          <p:nvPr/>
        </p:nvSpPr>
        <p:spPr bwMode="auto">
          <a:xfrm>
            <a:off x="5435600" y="188913"/>
            <a:ext cx="360045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chemeClr val="tx2"/>
                </a:solidFill>
                <a:latin typeface="Comic Sans MS" panose="030F0702030302020204" pitchFamily="66" charset="0"/>
              </a:rPr>
              <a:t>Virtual-address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AAE4B3-0DED-4327-A5C8-435BDCE1B17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19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19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E50365-176E-4591-9410-BA2CD015205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04800"/>
            <a:ext cx="8280400" cy="820738"/>
          </a:xfrm>
        </p:spPr>
        <p:txBody>
          <a:bodyPr/>
          <a:lstStyle/>
          <a:p>
            <a:pPr eaLnBrk="1" hangingPunct="1"/>
            <a:r>
              <a:rPr lang="en-US" altLang="zh-TW" sz="3600" smtClean="0">
                <a:latin typeface="Comic Sans MS" panose="030F0702030302020204" pitchFamily="66" charset="0"/>
              </a:rPr>
              <a:t>Shared Library Using Virtual Memory</a:t>
            </a:r>
          </a:p>
        </p:txBody>
      </p:sp>
      <p:pic>
        <p:nvPicPr>
          <p:cNvPr id="819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" t="6815" r="1163" b="6815"/>
          <a:stretch>
            <a:fillRect/>
          </a:stretch>
        </p:blipFill>
        <p:spPr bwMode="auto">
          <a:xfrm>
            <a:off x="1258888" y="1916113"/>
            <a:ext cx="6624637" cy="43719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1166813" y="1052513"/>
            <a:ext cx="6334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Allow pages to be shared during creation with </a:t>
            </a:r>
            <a:r>
              <a:rPr lang="en-US" altLang="zh-TW" sz="2000">
                <a:solidFill>
                  <a:srgbClr val="FF0000"/>
                </a:solidFill>
              </a:rPr>
              <a:t>fork()</a:t>
            </a:r>
            <a:r>
              <a:rPr lang="en-US" altLang="zh-TW" sz="2000">
                <a:solidFill>
                  <a:srgbClr val="0000FF"/>
                </a:solidFill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thus speeding up process creation.</a:t>
            </a:r>
            <a:endParaRPr lang="zh-TW" altLang="en-US" sz="2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014405-0EDD-458A-8ECE-408AEBFFA465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DC0015-AB68-4632-8098-356BC9E601B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938213" y="0"/>
            <a:ext cx="7110412" cy="808038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Demand Paging (1)</a:t>
            </a:r>
          </a:p>
        </p:txBody>
      </p:sp>
      <p:sp>
        <p:nvSpPr>
          <p:cNvPr id="150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645525" cy="5724525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spcBef>
                <a:spcPct val="40000"/>
              </a:spcBef>
              <a:buFont typeface="Wingdings" panose="05000000000000000000" pitchFamily="2" charset="2"/>
              <a:buChar char="p"/>
            </a:pP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Bring a page into memory only when it is needed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mtClean="0"/>
              <a:t>Less I/O needed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mtClean="0"/>
              <a:t>Less memory needed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mtClean="0"/>
              <a:t>Faster response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mtClean="0"/>
              <a:t>More users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Char char="p"/>
            </a:pPr>
            <a:r>
              <a:rPr lang="en-US" altLang="zh-TW" sz="2800" smtClean="0">
                <a:latin typeface="Comic Sans MS" panose="030F0702030302020204" pitchFamily="66" charset="0"/>
              </a:rPr>
              <a:t>Page is needed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z="2400" smtClean="0"/>
              <a:t>invalid reference ⇒ abort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not-in-memory ⇒ bring into memory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lazy swapper</a:t>
            </a:r>
            <a:r>
              <a:rPr lang="en-US" altLang="zh-TW" sz="2800" smtClean="0">
                <a:latin typeface="Comic Sans MS" panose="030F0702030302020204" pitchFamily="66" charset="0"/>
              </a:rPr>
              <a:t>: Never swap a page into memory unless that page will be needed.</a:t>
            </a:r>
            <a:endParaRPr lang="en-US" altLang="zh-TW" sz="2800" smtClean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B44C3C-2078-4A63-B2FD-524D8EA703D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044BE9-1524-4BEF-830C-C5A4CDEC0E9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88913"/>
            <a:ext cx="7110413" cy="808037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Demand Paging (2)</a:t>
            </a:r>
          </a:p>
        </p:txBody>
      </p:sp>
      <p:sp>
        <p:nvSpPr>
          <p:cNvPr id="220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052513"/>
            <a:ext cx="8645525" cy="5527675"/>
          </a:xfrm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mtClean="0">
                <a:latin typeface="Comic Sans MS" pitchFamily="66" charset="0"/>
              </a:rPr>
              <a:t>A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swapper</a:t>
            </a:r>
            <a:r>
              <a:rPr lang="en-US" altLang="zh-TW" smtClean="0">
                <a:latin typeface="Comic Sans MS" pitchFamily="66" charset="0"/>
              </a:rPr>
              <a:t> manipulates the entire process, whereas a </a:t>
            </a:r>
            <a:r>
              <a:rPr lang="en-US" altLang="zh-TW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pager</a:t>
            </a:r>
            <a:r>
              <a:rPr lang="en-US" altLang="zh-TW" smtClean="0">
                <a:latin typeface="Comic Sans MS" pitchFamily="66" charset="0"/>
              </a:rPr>
              <a:t> is concerned with the individual pages of a process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mtClean="0">
                <a:latin typeface="Comic Sans MS" pitchFamily="66" charset="0"/>
              </a:rPr>
              <a:t>Hardware support 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Page Table</a:t>
            </a:r>
            <a:r>
              <a:rPr lang="en-US" altLang="zh-TW" smtClean="0">
                <a:latin typeface="Comic Sans MS" pitchFamily="66" charset="0"/>
              </a:rPr>
              <a:t>: </a:t>
            </a: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a valid-invalid bit</a:t>
            </a: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  <a:defRPr/>
            </a:pPr>
            <a:r>
              <a:rPr lang="en-US" altLang="zh-TW" smtClean="0">
                <a:latin typeface="Comic Sans MS" pitchFamily="66" charset="0"/>
              </a:rPr>
              <a:t>Secondary memory (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swap space</a:t>
            </a:r>
            <a:r>
              <a:rPr lang="en-US" altLang="zh-TW" smtClean="0">
                <a:latin typeface="Comic Sans MS" pitchFamily="66" charset="0"/>
              </a:rPr>
              <a:t>, backing store): Usually, a high-speed disk (swap device) is used. </a:t>
            </a:r>
            <a:endParaRPr lang="en-US" altLang="zh-TW" smtClean="0">
              <a:solidFill>
                <a:srgbClr val="FF0000"/>
              </a:solidFill>
              <a:latin typeface="Comic Sans MS" pitchFamily="66" charset="0"/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Page-fault trap</a:t>
            </a:r>
            <a:r>
              <a:rPr lang="en-US" altLang="zh-TW" smtClean="0">
                <a:latin typeface="Comic Sans MS" pitchFamily="66" charset="0"/>
              </a:rPr>
              <a:t>: when access to a page marked invalid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149406-EC2D-427D-959F-72DB048643A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12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12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FCDC76-B69A-46B6-8DA1-FF86049230E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/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873625" y="3673475"/>
            <a:ext cx="1163638" cy="354013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4862513" y="2640013"/>
            <a:ext cx="1163637" cy="354012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4868863" y="1992313"/>
            <a:ext cx="1163637" cy="354012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2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3810000" cy="533400"/>
          </a:xfrm>
          <a:noFill/>
        </p:spPr>
        <p:txBody>
          <a:bodyPr/>
          <a:lstStyle/>
          <a:p>
            <a:pPr eaLnBrk="1" hangingPunct="1"/>
            <a:r>
              <a:rPr lang="en-US" altLang="zh-TW" sz="3600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valid-invalid bit</a:t>
            </a:r>
            <a:r>
              <a:rPr lang="en-US" altLang="zh-TW" sz="2400" i="1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273" name="AutoShape 6"/>
          <p:cNvSpPr>
            <a:spLocks noChangeArrowheads="1"/>
          </p:cNvSpPr>
          <p:nvPr/>
        </p:nvSpPr>
        <p:spPr bwMode="auto">
          <a:xfrm>
            <a:off x="6415088" y="1704975"/>
            <a:ext cx="2322512" cy="3911600"/>
          </a:xfrm>
          <a:prstGeom prst="can">
            <a:avLst>
              <a:gd name="adj" fmla="val 27782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4" name="Rectangle 7"/>
          <p:cNvSpPr>
            <a:spLocks noChangeArrowheads="1"/>
          </p:cNvSpPr>
          <p:nvPr/>
        </p:nvSpPr>
        <p:spPr bwMode="auto">
          <a:xfrm>
            <a:off x="6743700" y="2501900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5" name="Rectangle 8"/>
          <p:cNvSpPr>
            <a:spLocks noChangeArrowheads="1"/>
          </p:cNvSpPr>
          <p:nvPr/>
        </p:nvSpPr>
        <p:spPr bwMode="auto">
          <a:xfrm>
            <a:off x="7400925" y="2495550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6" name="Rectangle 9"/>
          <p:cNvSpPr>
            <a:spLocks noChangeArrowheads="1"/>
          </p:cNvSpPr>
          <p:nvPr/>
        </p:nvSpPr>
        <p:spPr bwMode="auto">
          <a:xfrm>
            <a:off x="8051800" y="2495550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7" name="Rectangle 10"/>
          <p:cNvSpPr>
            <a:spLocks noChangeArrowheads="1"/>
          </p:cNvSpPr>
          <p:nvPr/>
        </p:nvSpPr>
        <p:spPr bwMode="auto">
          <a:xfrm>
            <a:off x="7394575" y="3108325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</a:t>
            </a:r>
          </a:p>
        </p:txBody>
      </p:sp>
      <p:sp>
        <p:nvSpPr>
          <p:cNvPr id="11278" name="Rectangle 11"/>
          <p:cNvSpPr>
            <a:spLocks noChangeArrowheads="1"/>
          </p:cNvSpPr>
          <p:nvPr/>
        </p:nvSpPr>
        <p:spPr bwMode="auto">
          <a:xfrm>
            <a:off x="8045450" y="3108325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B</a:t>
            </a:r>
          </a:p>
        </p:txBody>
      </p:sp>
      <p:sp>
        <p:nvSpPr>
          <p:cNvPr id="11279" name="Rectangle 12"/>
          <p:cNvSpPr>
            <a:spLocks noChangeArrowheads="1"/>
          </p:cNvSpPr>
          <p:nvPr/>
        </p:nvSpPr>
        <p:spPr bwMode="auto">
          <a:xfrm>
            <a:off x="6765925" y="3678238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C</a:t>
            </a:r>
          </a:p>
        </p:txBody>
      </p:sp>
      <p:sp>
        <p:nvSpPr>
          <p:cNvPr id="11280" name="Rectangle 13"/>
          <p:cNvSpPr>
            <a:spLocks noChangeArrowheads="1"/>
          </p:cNvSpPr>
          <p:nvPr/>
        </p:nvSpPr>
        <p:spPr bwMode="auto">
          <a:xfrm>
            <a:off x="7423150" y="3671888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</a:t>
            </a:r>
          </a:p>
        </p:txBody>
      </p:sp>
      <p:sp>
        <p:nvSpPr>
          <p:cNvPr id="11281" name="Rectangle 14"/>
          <p:cNvSpPr>
            <a:spLocks noChangeArrowheads="1"/>
          </p:cNvSpPr>
          <p:nvPr/>
        </p:nvSpPr>
        <p:spPr bwMode="auto">
          <a:xfrm>
            <a:off x="8074025" y="3671888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E</a:t>
            </a:r>
          </a:p>
        </p:txBody>
      </p:sp>
      <p:sp>
        <p:nvSpPr>
          <p:cNvPr id="11282" name="Rectangle 15"/>
          <p:cNvSpPr>
            <a:spLocks noChangeArrowheads="1"/>
          </p:cNvSpPr>
          <p:nvPr/>
        </p:nvSpPr>
        <p:spPr bwMode="auto">
          <a:xfrm>
            <a:off x="6759575" y="4291013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</a:t>
            </a:r>
          </a:p>
        </p:txBody>
      </p:sp>
      <p:sp>
        <p:nvSpPr>
          <p:cNvPr id="11283" name="Rectangle 16"/>
          <p:cNvSpPr>
            <a:spLocks noChangeArrowheads="1"/>
          </p:cNvSpPr>
          <p:nvPr/>
        </p:nvSpPr>
        <p:spPr bwMode="auto">
          <a:xfrm>
            <a:off x="7416800" y="4284663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84" name="Rectangle 17"/>
          <p:cNvSpPr>
            <a:spLocks noChangeArrowheads="1"/>
          </p:cNvSpPr>
          <p:nvPr/>
        </p:nvSpPr>
        <p:spPr bwMode="auto">
          <a:xfrm>
            <a:off x="8067675" y="4284663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85" name="Rectangle 18"/>
          <p:cNvSpPr>
            <a:spLocks noChangeArrowheads="1"/>
          </p:cNvSpPr>
          <p:nvPr/>
        </p:nvSpPr>
        <p:spPr bwMode="auto">
          <a:xfrm>
            <a:off x="6788150" y="4854575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86" name="Rectangle 19"/>
          <p:cNvSpPr>
            <a:spLocks noChangeArrowheads="1"/>
          </p:cNvSpPr>
          <p:nvPr/>
        </p:nvSpPr>
        <p:spPr bwMode="auto">
          <a:xfrm>
            <a:off x="7410450" y="4884738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87" name="Rectangle 20"/>
          <p:cNvSpPr>
            <a:spLocks noChangeArrowheads="1"/>
          </p:cNvSpPr>
          <p:nvPr/>
        </p:nvSpPr>
        <p:spPr bwMode="auto">
          <a:xfrm>
            <a:off x="8061325" y="4884738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88" name="Rectangle 21"/>
          <p:cNvSpPr>
            <a:spLocks noChangeArrowheads="1"/>
          </p:cNvSpPr>
          <p:nvPr/>
        </p:nvSpPr>
        <p:spPr bwMode="auto">
          <a:xfrm>
            <a:off x="6737350" y="3101975"/>
            <a:ext cx="317500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grpSp>
        <p:nvGrpSpPr>
          <p:cNvPr id="11289" name="Group 22"/>
          <p:cNvGrpSpPr>
            <a:grpSpLocks/>
          </p:cNvGrpSpPr>
          <p:nvPr/>
        </p:nvGrpSpPr>
        <p:grpSpPr bwMode="auto">
          <a:xfrm>
            <a:off x="4418013" y="655638"/>
            <a:ext cx="1647825" cy="5648325"/>
            <a:chOff x="2972" y="269"/>
            <a:chExt cx="1038" cy="3881"/>
          </a:xfrm>
        </p:grpSpPr>
        <p:sp>
          <p:nvSpPr>
            <p:cNvPr id="11349" name="Rectangle 23"/>
            <p:cNvSpPr>
              <a:spLocks noChangeArrowheads="1"/>
            </p:cNvSpPr>
            <p:nvPr/>
          </p:nvSpPr>
          <p:spPr bwMode="auto">
            <a:xfrm>
              <a:off x="3257" y="269"/>
              <a:ext cx="736" cy="38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1350" name="Line 24"/>
            <p:cNvSpPr>
              <a:spLocks noChangeShapeType="1"/>
            </p:cNvSpPr>
            <p:nvPr/>
          </p:nvSpPr>
          <p:spPr bwMode="auto">
            <a:xfrm>
              <a:off x="3250" y="3897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1" name="Line 25"/>
            <p:cNvSpPr>
              <a:spLocks noChangeShapeType="1"/>
            </p:cNvSpPr>
            <p:nvPr/>
          </p:nvSpPr>
          <p:spPr bwMode="auto">
            <a:xfrm>
              <a:off x="3261" y="3347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2" name="Line 26"/>
            <p:cNvSpPr>
              <a:spLocks noChangeShapeType="1"/>
            </p:cNvSpPr>
            <p:nvPr/>
          </p:nvSpPr>
          <p:spPr bwMode="auto">
            <a:xfrm>
              <a:off x="3241" y="3093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3" name="Line 27"/>
            <p:cNvSpPr>
              <a:spLocks noChangeShapeType="1"/>
            </p:cNvSpPr>
            <p:nvPr/>
          </p:nvSpPr>
          <p:spPr bwMode="auto">
            <a:xfrm>
              <a:off x="3258" y="282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4" name="Line 28"/>
            <p:cNvSpPr>
              <a:spLocks noChangeShapeType="1"/>
            </p:cNvSpPr>
            <p:nvPr/>
          </p:nvSpPr>
          <p:spPr bwMode="auto">
            <a:xfrm>
              <a:off x="3250" y="2087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5" name="Line 29"/>
            <p:cNvSpPr>
              <a:spLocks noChangeShapeType="1"/>
            </p:cNvSpPr>
            <p:nvPr/>
          </p:nvSpPr>
          <p:spPr bwMode="auto">
            <a:xfrm>
              <a:off x="3261" y="1864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6" name="Line 30"/>
            <p:cNvSpPr>
              <a:spLocks noChangeShapeType="1"/>
            </p:cNvSpPr>
            <p:nvPr/>
          </p:nvSpPr>
          <p:spPr bwMode="auto">
            <a:xfrm>
              <a:off x="3272" y="164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7" name="Line 31"/>
            <p:cNvSpPr>
              <a:spLocks noChangeShapeType="1"/>
            </p:cNvSpPr>
            <p:nvPr/>
          </p:nvSpPr>
          <p:spPr bwMode="auto">
            <a:xfrm>
              <a:off x="3264" y="972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8" name="Line 32"/>
            <p:cNvSpPr>
              <a:spLocks noChangeShapeType="1"/>
            </p:cNvSpPr>
            <p:nvPr/>
          </p:nvSpPr>
          <p:spPr bwMode="auto">
            <a:xfrm>
              <a:off x="3269" y="749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59" name="Line 33"/>
            <p:cNvSpPr>
              <a:spLocks noChangeShapeType="1"/>
            </p:cNvSpPr>
            <p:nvPr/>
          </p:nvSpPr>
          <p:spPr bwMode="auto">
            <a:xfrm>
              <a:off x="3274" y="52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1360" name="Text Box 34"/>
            <p:cNvSpPr txBox="1">
              <a:spLocks noChangeArrowheads="1"/>
            </p:cNvSpPr>
            <p:nvPr/>
          </p:nvSpPr>
          <p:spPr bwMode="auto">
            <a:xfrm>
              <a:off x="3039" y="280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</a:t>
              </a:r>
            </a:p>
          </p:txBody>
        </p:sp>
        <p:sp>
          <p:nvSpPr>
            <p:cNvPr id="11361" name="Text Box 35"/>
            <p:cNvSpPr txBox="1">
              <a:spLocks noChangeArrowheads="1"/>
            </p:cNvSpPr>
            <p:nvPr/>
          </p:nvSpPr>
          <p:spPr bwMode="auto">
            <a:xfrm>
              <a:off x="3044" y="504"/>
              <a:ext cx="19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11362" name="Text Box 36"/>
            <p:cNvSpPr txBox="1">
              <a:spLocks noChangeArrowheads="1"/>
            </p:cNvSpPr>
            <p:nvPr/>
          </p:nvSpPr>
          <p:spPr bwMode="auto">
            <a:xfrm>
              <a:off x="3045" y="713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2</a:t>
              </a:r>
            </a:p>
          </p:txBody>
        </p:sp>
        <p:sp>
          <p:nvSpPr>
            <p:cNvPr id="11363" name="Text Box 37"/>
            <p:cNvSpPr txBox="1">
              <a:spLocks noChangeArrowheads="1"/>
            </p:cNvSpPr>
            <p:nvPr/>
          </p:nvSpPr>
          <p:spPr bwMode="auto">
            <a:xfrm>
              <a:off x="3058" y="954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3</a:t>
              </a:r>
            </a:p>
          </p:txBody>
        </p:sp>
        <p:sp>
          <p:nvSpPr>
            <p:cNvPr id="11364" name="Text Box 38"/>
            <p:cNvSpPr txBox="1">
              <a:spLocks noChangeArrowheads="1"/>
            </p:cNvSpPr>
            <p:nvPr/>
          </p:nvSpPr>
          <p:spPr bwMode="auto">
            <a:xfrm>
              <a:off x="3044" y="1157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4</a:t>
              </a:r>
            </a:p>
          </p:txBody>
        </p:sp>
        <p:sp>
          <p:nvSpPr>
            <p:cNvPr id="11365" name="Text Box 39"/>
            <p:cNvSpPr txBox="1">
              <a:spLocks noChangeArrowheads="1"/>
            </p:cNvSpPr>
            <p:nvPr/>
          </p:nvSpPr>
          <p:spPr bwMode="auto">
            <a:xfrm>
              <a:off x="3049" y="1371"/>
              <a:ext cx="19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5</a:t>
              </a:r>
            </a:p>
          </p:txBody>
        </p:sp>
        <p:sp>
          <p:nvSpPr>
            <p:cNvPr id="11366" name="Text Box 40"/>
            <p:cNvSpPr txBox="1">
              <a:spLocks noChangeArrowheads="1"/>
            </p:cNvSpPr>
            <p:nvPr/>
          </p:nvSpPr>
          <p:spPr bwMode="auto">
            <a:xfrm>
              <a:off x="3050" y="1626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6</a:t>
              </a:r>
            </a:p>
          </p:txBody>
        </p:sp>
        <p:sp>
          <p:nvSpPr>
            <p:cNvPr id="11367" name="Text Box 41"/>
            <p:cNvSpPr txBox="1">
              <a:spLocks noChangeArrowheads="1"/>
            </p:cNvSpPr>
            <p:nvPr/>
          </p:nvSpPr>
          <p:spPr bwMode="auto">
            <a:xfrm>
              <a:off x="3055" y="1858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7</a:t>
              </a:r>
            </a:p>
          </p:txBody>
        </p:sp>
        <p:sp>
          <p:nvSpPr>
            <p:cNvPr id="11368" name="Text Box 42"/>
            <p:cNvSpPr txBox="1">
              <a:spLocks noChangeArrowheads="1"/>
            </p:cNvSpPr>
            <p:nvPr/>
          </p:nvSpPr>
          <p:spPr bwMode="auto">
            <a:xfrm>
              <a:off x="3043" y="2094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8</a:t>
              </a:r>
            </a:p>
          </p:txBody>
        </p:sp>
        <p:sp>
          <p:nvSpPr>
            <p:cNvPr id="11369" name="Text Box 43"/>
            <p:cNvSpPr txBox="1">
              <a:spLocks noChangeArrowheads="1"/>
            </p:cNvSpPr>
            <p:nvPr/>
          </p:nvSpPr>
          <p:spPr bwMode="auto">
            <a:xfrm>
              <a:off x="3040" y="2335"/>
              <a:ext cx="19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9</a:t>
              </a:r>
            </a:p>
          </p:txBody>
        </p:sp>
        <p:sp>
          <p:nvSpPr>
            <p:cNvPr id="11370" name="Text Box 44"/>
            <p:cNvSpPr txBox="1">
              <a:spLocks noChangeArrowheads="1"/>
            </p:cNvSpPr>
            <p:nvPr/>
          </p:nvSpPr>
          <p:spPr bwMode="auto">
            <a:xfrm>
              <a:off x="2978" y="2572"/>
              <a:ext cx="27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10</a:t>
              </a:r>
            </a:p>
          </p:txBody>
        </p:sp>
        <p:sp>
          <p:nvSpPr>
            <p:cNvPr id="11371" name="Text Box 45"/>
            <p:cNvSpPr txBox="1">
              <a:spLocks noChangeArrowheads="1"/>
            </p:cNvSpPr>
            <p:nvPr/>
          </p:nvSpPr>
          <p:spPr bwMode="auto">
            <a:xfrm>
              <a:off x="2972" y="2823"/>
              <a:ext cx="27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11</a:t>
              </a:r>
            </a:p>
          </p:txBody>
        </p:sp>
        <p:sp>
          <p:nvSpPr>
            <p:cNvPr id="11372" name="Text Box 46"/>
            <p:cNvSpPr txBox="1">
              <a:spLocks noChangeArrowheads="1"/>
            </p:cNvSpPr>
            <p:nvPr/>
          </p:nvSpPr>
          <p:spPr bwMode="auto">
            <a:xfrm>
              <a:off x="2985" y="3090"/>
              <a:ext cx="27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12</a:t>
              </a:r>
            </a:p>
          </p:txBody>
        </p:sp>
        <p:sp>
          <p:nvSpPr>
            <p:cNvPr id="11373" name="Text Box 47"/>
            <p:cNvSpPr txBox="1">
              <a:spLocks noChangeArrowheads="1"/>
            </p:cNvSpPr>
            <p:nvPr/>
          </p:nvSpPr>
          <p:spPr bwMode="auto">
            <a:xfrm>
              <a:off x="2982" y="3357"/>
              <a:ext cx="27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13</a:t>
              </a:r>
            </a:p>
          </p:txBody>
        </p:sp>
        <p:sp>
          <p:nvSpPr>
            <p:cNvPr id="11374" name="Text Box 48"/>
            <p:cNvSpPr txBox="1">
              <a:spLocks noChangeArrowheads="1"/>
            </p:cNvSpPr>
            <p:nvPr/>
          </p:nvSpPr>
          <p:spPr bwMode="auto">
            <a:xfrm>
              <a:off x="2977" y="3644"/>
              <a:ext cx="27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14</a:t>
              </a:r>
            </a:p>
          </p:txBody>
        </p:sp>
        <p:sp>
          <p:nvSpPr>
            <p:cNvPr id="11375" name="Text Box 49"/>
            <p:cNvSpPr txBox="1">
              <a:spLocks noChangeArrowheads="1"/>
            </p:cNvSpPr>
            <p:nvPr/>
          </p:nvSpPr>
          <p:spPr bwMode="auto">
            <a:xfrm>
              <a:off x="2975" y="3877"/>
              <a:ext cx="276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15</a:t>
              </a:r>
            </a:p>
          </p:txBody>
        </p:sp>
        <p:sp>
          <p:nvSpPr>
            <p:cNvPr id="11376" name="Rectangle 50"/>
            <p:cNvSpPr>
              <a:spLocks noChangeArrowheads="1"/>
            </p:cNvSpPr>
            <p:nvPr/>
          </p:nvSpPr>
          <p:spPr bwMode="auto">
            <a:xfrm>
              <a:off x="3261" y="2326"/>
              <a:ext cx="727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F</a:t>
              </a:r>
            </a:p>
          </p:txBody>
        </p:sp>
        <p:sp>
          <p:nvSpPr>
            <p:cNvPr id="11377" name="Rectangle 51"/>
            <p:cNvSpPr>
              <a:spLocks noChangeArrowheads="1"/>
            </p:cNvSpPr>
            <p:nvPr/>
          </p:nvSpPr>
          <p:spPr bwMode="auto">
            <a:xfrm>
              <a:off x="3257" y="1631"/>
              <a:ext cx="727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C</a:t>
              </a:r>
            </a:p>
          </p:txBody>
        </p:sp>
        <p:sp>
          <p:nvSpPr>
            <p:cNvPr id="11378" name="Rectangle 52"/>
            <p:cNvSpPr>
              <a:spLocks noChangeArrowheads="1"/>
            </p:cNvSpPr>
            <p:nvPr/>
          </p:nvSpPr>
          <p:spPr bwMode="auto">
            <a:xfrm>
              <a:off x="3263" y="1181"/>
              <a:ext cx="727" cy="2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A</a:t>
              </a:r>
            </a:p>
          </p:txBody>
        </p:sp>
        <p:sp>
          <p:nvSpPr>
            <p:cNvPr id="11379" name="Line 53"/>
            <p:cNvSpPr>
              <a:spLocks noChangeShapeType="1"/>
            </p:cNvSpPr>
            <p:nvPr/>
          </p:nvSpPr>
          <p:spPr bwMode="auto">
            <a:xfrm>
              <a:off x="3273" y="3638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1290" name="Rectangle 54"/>
          <p:cNvSpPr>
            <a:spLocks noChangeArrowheads="1"/>
          </p:cNvSpPr>
          <p:nvPr/>
        </p:nvSpPr>
        <p:spPr bwMode="auto">
          <a:xfrm>
            <a:off x="1181100" y="2395538"/>
            <a:ext cx="730250" cy="2794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91" name="Line 55"/>
          <p:cNvSpPr>
            <a:spLocks noChangeShapeType="1"/>
          </p:cNvSpPr>
          <p:nvPr/>
        </p:nvSpPr>
        <p:spPr bwMode="auto">
          <a:xfrm>
            <a:off x="1181100" y="2760663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292" name="Line 56"/>
          <p:cNvSpPr>
            <a:spLocks noChangeShapeType="1"/>
          </p:cNvSpPr>
          <p:nvPr/>
        </p:nvSpPr>
        <p:spPr bwMode="auto">
          <a:xfrm>
            <a:off x="1176338" y="3113088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293" name="Line 57"/>
          <p:cNvSpPr>
            <a:spLocks noChangeShapeType="1"/>
          </p:cNvSpPr>
          <p:nvPr/>
        </p:nvSpPr>
        <p:spPr bwMode="auto">
          <a:xfrm>
            <a:off x="1185863" y="3479800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294" name="Rectangle 58"/>
          <p:cNvSpPr>
            <a:spLocks noChangeArrowheads="1"/>
          </p:cNvSpPr>
          <p:nvPr/>
        </p:nvSpPr>
        <p:spPr bwMode="auto">
          <a:xfrm>
            <a:off x="1184275" y="2436813"/>
            <a:ext cx="6318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A</a:t>
            </a:r>
          </a:p>
        </p:txBody>
      </p:sp>
      <p:sp>
        <p:nvSpPr>
          <p:cNvPr id="11295" name="Rectangle 59"/>
          <p:cNvSpPr>
            <a:spLocks noChangeArrowheads="1"/>
          </p:cNvSpPr>
          <p:nvPr/>
        </p:nvSpPr>
        <p:spPr bwMode="auto">
          <a:xfrm>
            <a:off x="1193800" y="2789238"/>
            <a:ext cx="60483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B</a:t>
            </a:r>
          </a:p>
        </p:txBody>
      </p:sp>
      <p:sp>
        <p:nvSpPr>
          <p:cNvPr id="11296" name="Rectangle 60"/>
          <p:cNvSpPr>
            <a:spLocks noChangeArrowheads="1"/>
          </p:cNvSpPr>
          <p:nvPr/>
        </p:nvSpPr>
        <p:spPr bwMode="auto">
          <a:xfrm>
            <a:off x="1203325" y="3141663"/>
            <a:ext cx="6191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C</a:t>
            </a:r>
          </a:p>
        </p:txBody>
      </p:sp>
      <p:sp>
        <p:nvSpPr>
          <p:cNvPr id="11297" name="Rectangle 61"/>
          <p:cNvSpPr>
            <a:spLocks noChangeArrowheads="1"/>
          </p:cNvSpPr>
          <p:nvPr/>
        </p:nvSpPr>
        <p:spPr bwMode="auto">
          <a:xfrm>
            <a:off x="1198563" y="3522663"/>
            <a:ext cx="64611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D</a:t>
            </a:r>
          </a:p>
        </p:txBody>
      </p:sp>
      <p:sp>
        <p:nvSpPr>
          <p:cNvPr id="11298" name="Rectangle 62"/>
          <p:cNvSpPr>
            <a:spLocks noChangeArrowheads="1"/>
          </p:cNvSpPr>
          <p:nvPr/>
        </p:nvSpPr>
        <p:spPr bwMode="auto">
          <a:xfrm>
            <a:off x="858838" y="5356225"/>
            <a:ext cx="12033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logical</a:t>
            </a:r>
          </a:p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memory</a:t>
            </a:r>
          </a:p>
        </p:txBody>
      </p:sp>
      <p:sp>
        <p:nvSpPr>
          <p:cNvPr id="11299" name="Rectangle 63"/>
          <p:cNvSpPr>
            <a:spLocks noChangeArrowheads="1"/>
          </p:cNvSpPr>
          <p:nvPr/>
        </p:nvSpPr>
        <p:spPr bwMode="auto">
          <a:xfrm>
            <a:off x="2578100" y="5167313"/>
            <a:ext cx="14366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11300" name="Line 64"/>
          <p:cNvSpPr>
            <a:spLocks noChangeShapeType="1"/>
          </p:cNvSpPr>
          <p:nvPr/>
        </p:nvSpPr>
        <p:spPr bwMode="auto">
          <a:xfrm>
            <a:off x="1185863" y="3836988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01" name="Line 65"/>
          <p:cNvSpPr>
            <a:spLocks noChangeShapeType="1"/>
          </p:cNvSpPr>
          <p:nvPr/>
        </p:nvSpPr>
        <p:spPr bwMode="auto">
          <a:xfrm>
            <a:off x="1181100" y="4217988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02" name="Rectangle 66"/>
          <p:cNvSpPr>
            <a:spLocks noChangeArrowheads="1"/>
          </p:cNvSpPr>
          <p:nvPr/>
        </p:nvSpPr>
        <p:spPr bwMode="auto">
          <a:xfrm>
            <a:off x="1198563" y="3879850"/>
            <a:ext cx="5905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E</a:t>
            </a:r>
          </a:p>
        </p:txBody>
      </p:sp>
      <p:sp>
        <p:nvSpPr>
          <p:cNvPr id="11303" name="Rectangle 67"/>
          <p:cNvSpPr>
            <a:spLocks noChangeArrowheads="1"/>
          </p:cNvSpPr>
          <p:nvPr/>
        </p:nvSpPr>
        <p:spPr bwMode="auto">
          <a:xfrm>
            <a:off x="1193800" y="4260850"/>
            <a:ext cx="57626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F</a:t>
            </a:r>
          </a:p>
        </p:txBody>
      </p:sp>
      <p:sp>
        <p:nvSpPr>
          <p:cNvPr id="11304" name="Rectangle 68"/>
          <p:cNvSpPr>
            <a:spLocks noChangeArrowheads="1"/>
          </p:cNvSpPr>
          <p:nvPr/>
        </p:nvSpPr>
        <p:spPr bwMode="auto">
          <a:xfrm>
            <a:off x="2917825" y="2565400"/>
            <a:ext cx="822325" cy="2405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305" name="Line 69"/>
          <p:cNvSpPr>
            <a:spLocks noChangeShapeType="1"/>
          </p:cNvSpPr>
          <p:nvPr/>
        </p:nvSpPr>
        <p:spPr bwMode="auto">
          <a:xfrm>
            <a:off x="2917825" y="2851150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06" name="Line 70"/>
          <p:cNvSpPr>
            <a:spLocks noChangeShapeType="1"/>
          </p:cNvSpPr>
          <p:nvPr/>
        </p:nvSpPr>
        <p:spPr bwMode="auto">
          <a:xfrm>
            <a:off x="2924175" y="3175000"/>
            <a:ext cx="815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07" name="Line 71"/>
          <p:cNvSpPr>
            <a:spLocks noChangeShapeType="1"/>
          </p:cNvSpPr>
          <p:nvPr/>
        </p:nvSpPr>
        <p:spPr bwMode="auto">
          <a:xfrm>
            <a:off x="2917825" y="3481388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08" name="Rectangle 72"/>
          <p:cNvSpPr>
            <a:spLocks noChangeArrowheads="1"/>
          </p:cNvSpPr>
          <p:nvPr/>
        </p:nvSpPr>
        <p:spPr bwMode="auto">
          <a:xfrm>
            <a:off x="2959100" y="2547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11309" name="Rectangle 73"/>
          <p:cNvSpPr>
            <a:spLocks noChangeArrowheads="1"/>
          </p:cNvSpPr>
          <p:nvPr/>
        </p:nvSpPr>
        <p:spPr bwMode="auto">
          <a:xfrm>
            <a:off x="2965450" y="31845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11310" name="Rectangle 74"/>
          <p:cNvSpPr>
            <a:spLocks noChangeArrowheads="1"/>
          </p:cNvSpPr>
          <p:nvPr/>
        </p:nvSpPr>
        <p:spPr bwMode="auto">
          <a:xfrm>
            <a:off x="2546350" y="25431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11311" name="Rectangle 75"/>
          <p:cNvSpPr>
            <a:spLocks noChangeArrowheads="1"/>
          </p:cNvSpPr>
          <p:nvPr/>
        </p:nvSpPr>
        <p:spPr bwMode="auto">
          <a:xfrm>
            <a:off x="2540000" y="28606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11312" name="Rectangle 76"/>
          <p:cNvSpPr>
            <a:spLocks noChangeArrowheads="1"/>
          </p:cNvSpPr>
          <p:nvPr/>
        </p:nvSpPr>
        <p:spPr bwMode="auto">
          <a:xfrm>
            <a:off x="2552700" y="317976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11313" name="Rectangle 77"/>
          <p:cNvSpPr>
            <a:spLocks noChangeArrowheads="1"/>
          </p:cNvSpPr>
          <p:nvPr/>
        </p:nvSpPr>
        <p:spPr bwMode="auto">
          <a:xfrm>
            <a:off x="2546350" y="34813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11314" name="Line 78"/>
          <p:cNvSpPr>
            <a:spLocks noChangeShapeType="1"/>
          </p:cNvSpPr>
          <p:nvPr/>
        </p:nvSpPr>
        <p:spPr bwMode="auto">
          <a:xfrm>
            <a:off x="2917825" y="3768725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15" name="Line 79"/>
          <p:cNvSpPr>
            <a:spLocks noChangeShapeType="1"/>
          </p:cNvSpPr>
          <p:nvPr/>
        </p:nvSpPr>
        <p:spPr bwMode="auto">
          <a:xfrm>
            <a:off x="2917825" y="4070350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16" name="Line 80"/>
          <p:cNvSpPr>
            <a:spLocks noChangeShapeType="1"/>
          </p:cNvSpPr>
          <p:nvPr/>
        </p:nvSpPr>
        <p:spPr bwMode="auto">
          <a:xfrm>
            <a:off x="2917825" y="4371975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17" name="Line 81"/>
          <p:cNvSpPr>
            <a:spLocks noChangeShapeType="1"/>
          </p:cNvSpPr>
          <p:nvPr/>
        </p:nvSpPr>
        <p:spPr bwMode="auto">
          <a:xfrm>
            <a:off x="2917825" y="4675188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18" name="Line 82"/>
          <p:cNvSpPr>
            <a:spLocks noChangeShapeType="1"/>
          </p:cNvSpPr>
          <p:nvPr/>
        </p:nvSpPr>
        <p:spPr bwMode="auto">
          <a:xfrm>
            <a:off x="3322638" y="2571750"/>
            <a:ext cx="0" cy="2403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19" name="Rectangle 83"/>
          <p:cNvSpPr>
            <a:spLocks noChangeArrowheads="1"/>
          </p:cNvSpPr>
          <p:nvPr/>
        </p:nvSpPr>
        <p:spPr bwMode="auto">
          <a:xfrm>
            <a:off x="2546350" y="37417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11320" name="Rectangle 84"/>
          <p:cNvSpPr>
            <a:spLocks noChangeArrowheads="1"/>
          </p:cNvSpPr>
          <p:nvPr/>
        </p:nvSpPr>
        <p:spPr bwMode="auto">
          <a:xfrm>
            <a:off x="2540000" y="40592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</a:t>
            </a:r>
          </a:p>
        </p:txBody>
      </p:sp>
      <p:sp>
        <p:nvSpPr>
          <p:cNvPr id="11321" name="Rectangle 85"/>
          <p:cNvSpPr>
            <a:spLocks noChangeArrowheads="1"/>
          </p:cNvSpPr>
          <p:nvPr/>
        </p:nvSpPr>
        <p:spPr bwMode="auto">
          <a:xfrm>
            <a:off x="2552700" y="43783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11322" name="Rectangle 86"/>
          <p:cNvSpPr>
            <a:spLocks noChangeArrowheads="1"/>
          </p:cNvSpPr>
          <p:nvPr/>
        </p:nvSpPr>
        <p:spPr bwMode="auto">
          <a:xfrm>
            <a:off x="2546350" y="467995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11323" name="Rectangle 87"/>
          <p:cNvSpPr>
            <a:spLocks noChangeArrowheads="1"/>
          </p:cNvSpPr>
          <p:nvPr/>
        </p:nvSpPr>
        <p:spPr bwMode="auto">
          <a:xfrm>
            <a:off x="2928938" y="40751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</a:t>
            </a:r>
          </a:p>
        </p:txBody>
      </p:sp>
      <p:sp>
        <p:nvSpPr>
          <p:cNvPr id="11324" name="Rectangle 88"/>
          <p:cNvSpPr>
            <a:spLocks noChangeArrowheads="1"/>
          </p:cNvSpPr>
          <p:nvPr/>
        </p:nvSpPr>
        <p:spPr bwMode="auto">
          <a:xfrm>
            <a:off x="3384550" y="2543175"/>
            <a:ext cx="32226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v</a:t>
            </a:r>
          </a:p>
        </p:txBody>
      </p:sp>
      <p:sp>
        <p:nvSpPr>
          <p:cNvPr id="11325" name="Rectangle 89"/>
          <p:cNvSpPr>
            <a:spLocks noChangeArrowheads="1"/>
          </p:cNvSpPr>
          <p:nvPr/>
        </p:nvSpPr>
        <p:spPr bwMode="auto">
          <a:xfrm>
            <a:off x="3395663" y="2844800"/>
            <a:ext cx="2651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1326" name="Rectangle 90"/>
          <p:cNvSpPr>
            <a:spLocks noChangeArrowheads="1"/>
          </p:cNvSpPr>
          <p:nvPr/>
        </p:nvSpPr>
        <p:spPr bwMode="auto">
          <a:xfrm>
            <a:off x="3395663" y="3157538"/>
            <a:ext cx="3222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v</a:t>
            </a:r>
          </a:p>
        </p:txBody>
      </p:sp>
      <p:sp>
        <p:nvSpPr>
          <p:cNvPr id="11327" name="Rectangle 91"/>
          <p:cNvSpPr>
            <a:spLocks noChangeArrowheads="1"/>
          </p:cNvSpPr>
          <p:nvPr/>
        </p:nvSpPr>
        <p:spPr bwMode="auto">
          <a:xfrm>
            <a:off x="3395663" y="3471863"/>
            <a:ext cx="26511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1328" name="Rectangle 92"/>
          <p:cNvSpPr>
            <a:spLocks noChangeArrowheads="1"/>
          </p:cNvSpPr>
          <p:nvPr/>
        </p:nvSpPr>
        <p:spPr bwMode="auto">
          <a:xfrm>
            <a:off x="3408363" y="3762375"/>
            <a:ext cx="2651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1329" name="Rectangle 93"/>
          <p:cNvSpPr>
            <a:spLocks noChangeArrowheads="1"/>
          </p:cNvSpPr>
          <p:nvPr/>
        </p:nvSpPr>
        <p:spPr bwMode="auto">
          <a:xfrm>
            <a:off x="3365500" y="4054475"/>
            <a:ext cx="32226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v</a:t>
            </a:r>
          </a:p>
        </p:txBody>
      </p:sp>
      <p:sp>
        <p:nvSpPr>
          <p:cNvPr id="11330" name="Rectangle 94"/>
          <p:cNvSpPr>
            <a:spLocks noChangeArrowheads="1"/>
          </p:cNvSpPr>
          <p:nvPr/>
        </p:nvSpPr>
        <p:spPr bwMode="auto">
          <a:xfrm>
            <a:off x="3390900" y="4356100"/>
            <a:ext cx="26511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1331" name="Rectangle 95"/>
          <p:cNvSpPr>
            <a:spLocks noChangeArrowheads="1"/>
          </p:cNvSpPr>
          <p:nvPr/>
        </p:nvSpPr>
        <p:spPr bwMode="auto">
          <a:xfrm>
            <a:off x="3381375" y="4679950"/>
            <a:ext cx="26511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1332" name="Rectangle 96"/>
          <p:cNvSpPr>
            <a:spLocks noChangeArrowheads="1"/>
          </p:cNvSpPr>
          <p:nvPr/>
        </p:nvSpPr>
        <p:spPr bwMode="auto">
          <a:xfrm>
            <a:off x="2317750" y="1827213"/>
            <a:ext cx="9207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frame </a:t>
            </a:r>
          </a:p>
        </p:txBody>
      </p:sp>
      <p:sp>
        <p:nvSpPr>
          <p:cNvPr id="11333" name="Line 97"/>
          <p:cNvSpPr>
            <a:spLocks noChangeShapeType="1"/>
          </p:cNvSpPr>
          <p:nvPr/>
        </p:nvSpPr>
        <p:spPr bwMode="auto">
          <a:xfrm>
            <a:off x="1189038" y="4572000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34" name="Line 98"/>
          <p:cNvSpPr>
            <a:spLocks noChangeShapeType="1"/>
          </p:cNvSpPr>
          <p:nvPr/>
        </p:nvSpPr>
        <p:spPr bwMode="auto">
          <a:xfrm>
            <a:off x="1182688" y="4868863"/>
            <a:ext cx="730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35" name="Rectangle 99"/>
          <p:cNvSpPr>
            <a:spLocks noChangeArrowheads="1"/>
          </p:cNvSpPr>
          <p:nvPr/>
        </p:nvSpPr>
        <p:spPr bwMode="auto">
          <a:xfrm>
            <a:off x="1201738" y="4586288"/>
            <a:ext cx="64611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Book Antiqua" panose="02040602050305030304" pitchFamily="18" charset="0"/>
              </a:rPr>
              <a:t>    G</a:t>
            </a:r>
          </a:p>
        </p:txBody>
      </p:sp>
      <p:sp>
        <p:nvSpPr>
          <p:cNvPr id="11336" name="Rectangle 100"/>
          <p:cNvSpPr>
            <a:spLocks noChangeArrowheads="1"/>
          </p:cNvSpPr>
          <p:nvPr/>
        </p:nvSpPr>
        <p:spPr bwMode="auto">
          <a:xfrm>
            <a:off x="1209675" y="4911725"/>
            <a:ext cx="64611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</a:t>
            </a:r>
            <a:r>
              <a:rPr lang="en-US" altLang="zh-TW" sz="2000" b="1">
                <a:solidFill>
                  <a:schemeClr val="tx2"/>
                </a:solidFill>
                <a:latin typeface="Book Antiqua" panose="02040602050305030304" pitchFamily="18" charset="0"/>
              </a:rPr>
              <a:t>H</a:t>
            </a:r>
          </a:p>
        </p:txBody>
      </p:sp>
      <p:sp>
        <p:nvSpPr>
          <p:cNvPr id="11337" name="Rectangle 101"/>
          <p:cNvSpPr>
            <a:spLocks noChangeArrowheads="1"/>
          </p:cNvSpPr>
          <p:nvPr/>
        </p:nvSpPr>
        <p:spPr bwMode="auto">
          <a:xfrm>
            <a:off x="750888" y="2420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11338" name="Rectangle 102"/>
          <p:cNvSpPr>
            <a:spLocks noChangeArrowheads="1"/>
          </p:cNvSpPr>
          <p:nvPr/>
        </p:nvSpPr>
        <p:spPr bwMode="auto">
          <a:xfrm>
            <a:off x="744538" y="27384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11339" name="Rectangle 103"/>
          <p:cNvSpPr>
            <a:spLocks noChangeArrowheads="1"/>
          </p:cNvSpPr>
          <p:nvPr/>
        </p:nvSpPr>
        <p:spPr bwMode="auto">
          <a:xfrm>
            <a:off x="757238" y="314325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11340" name="Rectangle 104"/>
          <p:cNvSpPr>
            <a:spLocks noChangeArrowheads="1"/>
          </p:cNvSpPr>
          <p:nvPr/>
        </p:nvSpPr>
        <p:spPr bwMode="auto">
          <a:xfrm>
            <a:off x="750888" y="34448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11341" name="Rectangle 105"/>
          <p:cNvSpPr>
            <a:spLocks noChangeArrowheads="1"/>
          </p:cNvSpPr>
          <p:nvPr/>
        </p:nvSpPr>
        <p:spPr bwMode="auto">
          <a:xfrm>
            <a:off x="765175" y="38354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11342" name="Rectangle 106"/>
          <p:cNvSpPr>
            <a:spLocks noChangeArrowheads="1"/>
          </p:cNvSpPr>
          <p:nvPr/>
        </p:nvSpPr>
        <p:spPr bwMode="auto">
          <a:xfrm>
            <a:off x="758825" y="41529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</a:t>
            </a:r>
          </a:p>
        </p:txBody>
      </p:sp>
      <p:sp>
        <p:nvSpPr>
          <p:cNvPr id="11343" name="Rectangle 107"/>
          <p:cNvSpPr>
            <a:spLocks noChangeArrowheads="1"/>
          </p:cNvSpPr>
          <p:nvPr/>
        </p:nvSpPr>
        <p:spPr bwMode="auto">
          <a:xfrm>
            <a:off x="757238" y="45450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11344" name="Rectangle 108"/>
          <p:cNvSpPr>
            <a:spLocks noChangeArrowheads="1"/>
          </p:cNvSpPr>
          <p:nvPr/>
        </p:nvSpPr>
        <p:spPr bwMode="auto">
          <a:xfrm>
            <a:off x="750888" y="48466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11345" name="Freeform 109"/>
          <p:cNvSpPr>
            <a:spLocks/>
          </p:cNvSpPr>
          <p:nvPr/>
        </p:nvSpPr>
        <p:spPr bwMode="auto">
          <a:xfrm>
            <a:off x="2857500" y="2165350"/>
            <a:ext cx="215900" cy="374650"/>
          </a:xfrm>
          <a:custGeom>
            <a:avLst/>
            <a:gdLst>
              <a:gd name="T0" fmla="*/ 0 w 136"/>
              <a:gd name="T1" fmla="*/ 0 h 236"/>
              <a:gd name="T2" fmla="*/ 2147483647 w 136"/>
              <a:gd name="T3" fmla="*/ 2147483647 h 236"/>
              <a:gd name="T4" fmla="*/ 2147483647 w 136"/>
              <a:gd name="T5" fmla="*/ 2147483647 h 236"/>
              <a:gd name="T6" fmla="*/ 0 60000 65536"/>
              <a:gd name="T7" fmla="*/ 0 60000 65536"/>
              <a:gd name="T8" fmla="*/ 0 60000 65536"/>
              <a:gd name="T9" fmla="*/ 0 w 136"/>
              <a:gd name="T10" fmla="*/ 0 h 236"/>
              <a:gd name="T11" fmla="*/ 136 w 136"/>
              <a:gd name="T12" fmla="*/ 236 h 2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236">
                <a:moveTo>
                  <a:pt x="0" y="0"/>
                </a:moveTo>
                <a:cubicBezTo>
                  <a:pt x="37" y="25"/>
                  <a:pt x="70" y="50"/>
                  <a:pt x="100" y="82"/>
                </a:cubicBezTo>
                <a:cubicBezTo>
                  <a:pt x="116" y="146"/>
                  <a:pt x="136" y="166"/>
                  <a:pt x="136" y="23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46" name="Rectangle 110"/>
          <p:cNvSpPr>
            <a:spLocks noChangeArrowheads="1"/>
          </p:cNvSpPr>
          <p:nvPr/>
        </p:nvSpPr>
        <p:spPr bwMode="auto">
          <a:xfrm>
            <a:off x="4344988" y="257175"/>
            <a:ext cx="223996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physical memory</a:t>
            </a:r>
          </a:p>
        </p:txBody>
      </p:sp>
      <p:sp>
        <p:nvSpPr>
          <p:cNvPr id="11347" name="Freeform 111"/>
          <p:cNvSpPr>
            <a:spLocks/>
          </p:cNvSpPr>
          <p:nvPr/>
        </p:nvSpPr>
        <p:spPr bwMode="auto">
          <a:xfrm>
            <a:off x="3189288" y="947738"/>
            <a:ext cx="433387" cy="1549400"/>
          </a:xfrm>
          <a:custGeom>
            <a:avLst/>
            <a:gdLst>
              <a:gd name="T0" fmla="*/ 0 w 273"/>
              <a:gd name="T1" fmla="*/ 2147483647 h 976"/>
              <a:gd name="T2" fmla="*/ 2147483647 w 273"/>
              <a:gd name="T3" fmla="*/ 2147483647 h 976"/>
              <a:gd name="T4" fmla="*/ 2147483647 w 273"/>
              <a:gd name="T5" fmla="*/ 2147483647 h 976"/>
              <a:gd name="T6" fmla="*/ 2147483647 w 273"/>
              <a:gd name="T7" fmla="*/ 2147483647 h 976"/>
              <a:gd name="T8" fmla="*/ 2147483647 w 273"/>
              <a:gd name="T9" fmla="*/ 2147483647 h 976"/>
              <a:gd name="T10" fmla="*/ 2147483647 w 273"/>
              <a:gd name="T11" fmla="*/ 2147483647 h 976"/>
              <a:gd name="T12" fmla="*/ 2147483647 w 273"/>
              <a:gd name="T13" fmla="*/ 2147483647 h 9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3"/>
              <a:gd name="T22" fmla="*/ 0 h 976"/>
              <a:gd name="T23" fmla="*/ 273 w 273"/>
              <a:gd name="T24" fmla="*/ 976 h 9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3" h="976">
                <a:moveTo>
                  <a:pt x="0" y="21"/>
                </a:moveTo>
                <a:cubicBezTo>
                  <a:pt x="170" y="170"/>
                  <a:pt x="4" y="0"/>
                  <a:pt x="91" y="158"/>
                </a:cubicBezTo>
                <a:cubicBezTo>
                  <a:pt x="126" y="223"/>
                  <a:pt x="180" y="276"/>
                  <a:pt x="218" y="339"/>
                </a:cubicBezTo>
                <a:cubicBezTo>
                  <a:pt x="241" y="454"/>
                  <a:pt x="257" y="569"/>
                  <a:pt x="273" y="685"/>
                </a:cubicBezTo>
                <a:cubicBezTo>
                  <a:pt x="270" y="746"/>
                  <a:pt x="268" y="806"/>
                  <a:pt x="263" y="867"/>
                </a:cubicBezTo>
                <a:cubicBezTo>
                  <a:pt x="262" y="882"/>
                  <a:pt x="255" y="930"/>
                  <a:pt x="245" y="949"/>
                </a:cubicBezTo>
                <a:cubicBezTo>
                  <a:pt x="240" y="959"/>
                  <a:pt x="227" y="976"/>
                  <a:pt x="227" y="97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348" name="Text Box 112"/>
          <p:cNvSpPr txBox="1">
            <a:spLocks noChangeArrowheads="1"/>
          </p:cNvSpPr>
          <p:nvPr/>
        </p:nvSpPr>
        <p:spPr bwMode="auto">
          <a:xfrm>
            <a:off x="2051050" y="5597525"/>
            <a:ext cx="23828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Comic Sans MS" panose="030F0702030302020204" pitchFamily="66" charset="0"/>
              </a:rPr>
              <a:t>v</a:t>
            </a:r>
            <a:r>
              <a:rPr lang="en-US" altLang="zh-TW" sz="2000">
                <a:latin typeface="Comic Sans MS" panose="030F0702030302020204" pitchFamily="66" charset="0"/>
              </a:rPr>
              <a:t> </a:t>
            </a:r>
            <a:r>
              <a:rPr lang="en-US" altLang="zh-TW" sz="2000">
                <a:latin typeface="Comic Sans MS" panose="030F0702030302020204" pitchFamily="66" charset="0"/>
                <a:sym typeface="Symbol" panose="05050102010706020507" pitchFamily="18" charset="2"/>
              </a:rPr>
              <a:t> in-memory,</a:t>
            </a:r>
            <a:r>
              <a:rPr lang="en-US" altLang="zh-TW" sz="20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zh-TW" sz="2000">
                <a:latin typeface="Comic Sans MS" panose="030F0702030302020204" pitchFamily="66" charset="0"/>
                <a:sym typeface="Symbol" panose="05050102010706020507" pitchFamily="18" charset="2"/>
              </a:rPr>
              <a:t>  not-in-memory</a:t>
            </a:r>
            <a:endParaRPr lang="en-US" altLang="zh-TW" sz="200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BDDB7A-3028-4C0E-B72E-5B618DA1BBA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EA9CD9-BF3D-44C4-8DC7-B1E7B676510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Page Fault</a:t>
            </a:r>
          </a:p>
        </p:txBody>
      </p:sp>
      <p:sp>
        <p:nvSpPr>
          <p:cNvPr id="54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1054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800" smtClean="0"/>
              <a:t>If there is a reference to a page, </a:t>
            </a:r>
            <a:r>
              <a:rPr lang="en-US" altLang="zh-TW" sz="2800" smtClean="0">
                <a:solidFill>
                  <a:srgbClr val="FF0000"/>
                </a:solidFill>
              </a:rPr>
              <a:t>first reference</a:t>
            </a:r>
            <a:r>
              <a:rPr lang="en-US" altLang="zh-TW" sz="2800" smtClean="0"/>
              <a:t> will trap to </a:t>
            </a:r>
            <a:br>
              <a:rPr lang="en-US" altLang="zh-TW" sz="2800" smtClean="0"/>
            </a:br>
            <a:r>
              <a:rPr lang="en-US" altLang="zh-TW" sz="2800" smtClean="0">
                <a:solidFill>
                  <a:srgbClr val="0000FF"/>
                </a:solidFill>
              </a:rPr>
              <a:t>OS </a:t>
            </a:r>
            <a:r>
              <a:rPr lang="en-US" altLang="zh-TW" sz="2800" smtClean="0">
                <a:solidFill>
                  <a:srgbClr val="0000FF"/>
                </a:solidFill>
                <a:sym typeface="Symbol" panose="05050102010706020507" pitchFamily="18" charset="2"/>
              </a:rPr>
              <a:t> page fault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ym typeface="Symbol" panose="05050102010706020507" pitchFamily="18" charset="2"/>
              </a:rPr>
              <a:t>OS looks at internal table (in PCB) to decide: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smtClean="0"/>
              <a:t>Invalid reference </a:t>
            </a:r>
            <a:r>
              <a:rPr lang="en-US" altLang="zh-TW" sz="2400" smtClean="0">
                <a:sym typeface="Symbol" panose="05050102010706020507" pitchFamily="18" charset="2"/>
              </a:rPr>
              <a:t> abort the process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400" smtClean="0">
                <a:sym typeface="Symbol" panose="05050102010706020507" pitchFamily="18" charset="2"/>
              </a:rPr>
              <a:t>not in memory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ym typeface="Symbol" panose="05050102010706020507" pitchFamily="18" charset="2"/>
              </a:rPr>
              <a:t>Get empty frame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ym typeface="Symbol" panose="05050102010706020507" pitchFamily="18" charset="2"/>
              </a:rPr>
              <a:t>Swap page into frame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ym typeface="Symbol" panose="05050102010706020507" pitchFamily="18" charset="2"/>
              </a:rPr>
              <a:t>Reset tables, validation bit = </a:t>
            </a:r>
            <a:r>
              <a:rPr lang="en-US" altLang="zh-TW" sz="2800" smtClean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ym typeface="Symbol" panose="05050102010706020507" pitchFamily="18" charset="2"/>
              </a:rPr>
              <a:t>Restart the instruction interrupted by illegal address trap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B4AB8A-6A60-493D-96C5-53D6317EA8C5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7C7A61-DD95-4747-914C-A643C7F9B28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/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3081338" y="3573463"/>
            <a:ext cx="846137" cy="334962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3318" name="Rectangle 3"/>
          <p:cNvSpPr>
            <a:spLocks noChangeArrowheads="1"/>
          </p:cNvSpPr>
          <p:nvPr/>
        </p:nvSpPr>
        <p:spPr bwMode="auto">
          <a:xfrm>
            <a:off x="441325" y="3279775"/>
            <a:ext cx="1004888" cy="935038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3319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092950" cy="596900"/>
          </a:xfrm>
        </p:spPr>
        <p:txBody>
          <a:bodyPr/>
          <a:lstStyle/>
          <a:p>
            <a:pPr eaLnBrk="1" hangingPunct="1"/>
            <a:r>
              <a:rPr lang="en-US" altLang="zh-TW" sz="3600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Steps in handling a page fault</a:t>
            </a:r>
          </a:p>
        </p:txBody>
      </p:sp>
      <p:sp>
        <p:nvSpPr>
          <p:cNvPr id="13320" name="AutoShape 5"/>
          <p:cNvSpPr>
            <a:spLocks noChangeArrowheads="1"/>
          </p:cNvSpPr>
          <p:nvPr/>
        </p:nvSpPr>
        <p:spPr bwMode="auto">
          <a:xfrm>
            <a:off x="7227888" y="1758950"/>
            <a:ext cx="1198562" cy="3146425"/>
          </a:xfrm>
          <a:prstGeom prst="can">
            <a:avLst>
              <a:gd name="adj" fmla="val 43303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345" name="Rectangle 6"/>
          <p:cNvSpPr>
            <a:spLocks noChangeArrowheads="1"/>
          </p:cNvSpPr>
          <p:nvPr/>
        </p:nvSpPr>
        <p:spPr bwMode="auto">
          <a:xfrm>
            <a:off x="7631113" y="2960688"/>
            <a:ext cx="317500" cy="317500"/>
          </a:xfrm>
          <a:prstGeom prst="rect">
            <a:avLst/>
          </a:prstGeom>
          <a:solidFill>
            <a:srgbClr val="E8E8E8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3322" name="Group 7"/>
          <p:cNvGrpSpPr>
            <a:grpSpLocks/>
          </p:cNvGrpSpPr>
          <p:nvPr/>
        </p:nvGrpSpPr>
        <p:grpSpPr bwMode="auto">
          <a:xfrm>
            <a:off x="4899025" y="3049588"/>
            <a:ext cx="1435100" cy="3328987"/>
            <a:chOff x="3197" y="1944"/>
            <a:chExt cx="760" cy="2074"/>
          </a:xfrm>
        </p:grpSpPr>
        <p:sp>
          <p:nvSpPr>
            <p:cNvPr id="13352" name="Rectangle 8"/>
            <p:cNvSpPr>
              <a:spLocks noChangeArrowheads="1"/>
            </p:cNvSpPr>
            <p:nvPr/>
          </p:nvSpPr>
          <p:spPr bwMode="auto">
            <a:xfrm>
              <a:off x="3226" y="2892"/>
              <a:ext cx="689" cy="211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53" name="Rectangle 9"/>
            <p:cNvSpPr>
              <a:spLocks noChangeArrowheads="1"/>
            </p:cNvSpPr>
            <p:nvPr/>
          </p:nvSpPr>
          <p:spPr bwMode="auto">
            <a:xfrm>
              <a:off x="3204" y="1944"/>
              <a:ext cx="736" cy="20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13354" name="Line 10"/>
            <p:cNvSpPr>
              <a:spLocks noChangeShapeType="1"/>
            </p:cNvSpPr>
            <p:nvPr/>
          </p:nvSpPr>
          <p:spPr bwMode="auto">
            <a:xfrm>
              <a:off x="3197" y="3762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55" name="Line 11"/>
            <p:cNvSpPr>
              <a:spLocks noChangeShapeType="1"/>
            </p:cNvSpPr>
            <p:nvPr/>
          </p:nvSpPr>
          <p:spPr bwMode="auto">
            <a:xfrm>
              <a:off x="3208" y="3539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56" name="Line 12"/>
            <p:cNvSpPr>
              <a:spLocks noChangeShapeType="1"/>
            </p:cNvSpPr>
            <p:nvPr/>
          </p:nvSpPr>
          <p:spPr bwMode="auto">
            <a:xfrm>
              <a:off x="3219" y="331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57" name="Line 13"/>
            <p:cNvSpPr>
              <a:spLocks noChangeShapeType="1"/>
            </p:cNvSpPr>
            <p:nvPr/>
          </p:nvSpPr>
          <p:spPr bwMode="auto">
            <a:xfrm>
              <a:off x="3211" y="2647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58" name="Line 14"/>
            <p:cNvSpPr>
              <a:spLocks noChangeShapeType="1"/>
            </p:cNvSpPr>
            <p:nvPr/>
          </p:nvSpPr>
          <p:spPr bwMode="auto">
            <a:xfrm>
              <a:off x="3216" y="2424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59" name="Line 15"/>
            <p:cNvSpPr>
              <a:spLocks noChangeShapeType="1"/>
            </p:cNvSpPr>
            <p:nvPr/>
          </p:nvSpPr>
          <p:spPr bwMode="auto">
            <a:xfrm>
              <a:off x="3221" y="220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3360" name="Rectangle 16"/>
            <p:cNvSpPr>
              <a:spLocks noChangeArrowheads="1"/>
            </p:cNvSpPr>
            <p:nvPr/>
          </p:nvSpPr>
          <p:spPr bwMode="auto">
            <a:xfrm>
              <a:off x="3210" y="2889"/>
              <a:ext cx="716" cy="2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free frame</a:t>
              </a:r>
            </a:p>
          </p:txBody>
        </p:sp>
      </p:grpSp>
      <p:sp>
        <p:nvSpPr>
          <p:cNvPr id="13323" name="Rectangle 17"/>
          <p:cNvSpPr>
            <a:spLocks noChangeArrowheads="1"/>
          </p:cNvSpPr>
          <p:nvPr/>
        </p:nvSpPr>
        <p:spPr bwMode="auto">
          <a:xfrm>
            <a:off x="430213" y="2957513"/>
            <a:ext cx="1019175" cy="2794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3324" name="Rectangle 18"/>
          <p:cNvSpPr>
            <a:spLocks noChangeArrowheads="1"/>
          </p:cNvSpPr>
          <p:nvPr/>
        </p:nvSpPr>
        <p:spPr bwMode="auto">
          <a:xfrm>
            <a:off x="2925763" y="4359275"/>
            <a:ext cx="143668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13325" name="Rectangle 19"/>
          <p:cNvSpPr>
            <a:spLocks noChangeArrowheads="1"/>
          </p:cNvSpPr>
          <p:nvPr/>
        </p:nvSpPr>
        <p:spPr bwMode="auto">
          <a:xfrm>
            <a:off x="3090863" y="3302000"/>
            <a:ext cx="822325" cy="1006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3326" name="Line 20"/>
          <p:cNvSpPr>
            <a:spLocks noChangeShapeType="1"/>
          </p:cNvSpPr>
          <p:nvPr/>
        </p:nvSpPr>
        <p:spPr bwMode="auto">
          <a:xfrm>
            <a:off x="3090863" y="3587750"/>
            <a:ext cx="822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27" name="Line 21"/>
          <p:cNvSpPr>
            <a:spLocks noChangeShapeType="1"/>
          </p:cNvSpPr>
          <p:nvPr/>
        </p:nvSpPr>
        <p:spPr bwMode="auto">
          <a:xfrm>
            <a:off x="3097213" y="3911600"/>
            <a:ext cx="815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28" name="Line 22"/>
          <p:cNvSpPr>
            <a:spLocks noChangeShapeType="1"/>
          </p:cNvSpPr>
          <p:nvPr/>
        </p:nvSpPr>
        <p:spPr bwMode="auto">
          <a:xfrm>
            <a:off x="3495675" y="3308350"/>
            <a:ext cx="0" cy="1019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3543300" y="3524250"/>
            <a:ext cx="26511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</a:t>
            </a:r>
          </a:p>
        </p:txBody>
      </p:sp>
      <p:sp>
        <p:nvSpPr>
          <p:cNvPr id="13330" name="Rectangle 24"/>
          <p:cNvSpPr>
            <a:spLocks noChangeArrowheads="1"/>
          </p:cNvSpPr>
          <p:nvPr/>
        </p:nvSpPr>
        <p:spPr bwMode="auto">
          <a:xfrm>
            <a:off x="6402388" y="6005513"/>
            <a:ext cx="121761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physical</a:t>
            </a:r>
          </a:p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memory</a:t>
            </a:r>
          </a:p>
        </p:txBody>
      </p:sp>
      <p:sp>
        <p:nvSpPr>
          <p:cNvPr id="14355" name="Line 25"/>
          <p:cNvSpPr>
            <a:spLocks noChangeShapeType="1"/>
          </p:cNvSpPr>
          <p:nvPr/>
        </p:nvSpPr>
        <p:spPr bwMode="auto">
          <a:xfrm flipH="1">
            <a:off x="1573213" y="3752850"/>
            <a:ext cx="1471612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6" name="Freeform 26"/>
          <p:cNvSpPr>
            <a:spLocks/>
          </p:cNvSpPr>
          <p:nvPr/>
        </p:nvSpPr>
        <p:spPr bwMode="auto">
          <a:xfrm>
            <a:off x="2597150" y="3925888"/>
            <a:ext cx="2395538" cy="993775"/>
          </a:xfrm>
          <a:custGeom>
            <a:avLst/>
            <a:gdLst>
              <a:gd name="T0" fmla="*/ 2147483647 w 1509"/>
              <a:gd name="T1" fmla="*/ 2147483647 h 626"/>
              <a:gd name="T2" fmla="*/ 2147483647 w 1509"/>
              <a:gd name="T3" fmla="*/ 2147483647 h 626"/>
              <a:gd name="T4" fmla="*/ 2147483647 w 1509"/>
              <a:gd name="T5" fmla="*/ 2147483647 h 626"/>
              <a:gd name="T6" fmla="*/ 2147483647 w 1509"/>
              <a:gd name="T7" fmla="*/ 2147483647 h 626"/>
              <a:gd name="T8" fmla="*/ 2147483647 w 1509"/>
              <a:gd name="T9" fmla="*/ 2147483647 h 626"/>
              <a:gd name="T10" fmla="*/ 2147483647 w 1509"/>
              <a:gd name="T11" fmla="*/ 2147483647 h 626"/>
              <a:gd name="T12" fmla="*/ 2147483647 w 1509"/>
              <a:gd name="T13" fmla="*/ 2147483647 h 626"/>
              <a:gd name="T14" fmla="*/ 2147483647 w 1509"/>
              <a:gd name="T15" fmla="*/ 2147483647 h 626"/>
              <a:gd name="T16" fmla="*/ 0 w 1509"/>
              <a:gd name="T17" fmla="*/ 2147483647 h 626"/>
              <a:gd name="T18" fmla="*/ 2147483647 w 1509"/>
              <a:gd name="T19" fmla="*/ 2147483647 h 626"/>
              <a:gd name="T20" fmla="*/ 2147483647 w 1509"/>
              <a:gd name="T21" fmla="*/ 2147483647 h 626"/>
              <a:gd name="T22" fmla="*/ 2147483647 w 1509"/>
              <a:gd name="T23" fmla="*/ 2147483647 h 626"/>
              <a:gd name="T24" fmla="*/ 2147483647 w 1509"/>
              <a:gd name="T25" fmla="*/ 0 h 62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509"/>
              <a:gd name="T40" fmla="*/ 0 h 626"/>
              <a:gd name="T41" fmla="*/ 1509 w 1509"/>
              <a:gd name="T42" fmla="*/ 626 h 62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509" h="626">
                <a:moveTo>
                  <a:pt x="1509" y="518"/>
                </a:moveTo>
                <a:cubicBezTo>
                  <a:pt x="1459" y="530"/>
                  <a:pt x="1414" y="546"/>
                  <a:pt x="1364" y="554"/>
                </a:cubicBezTo>
                <a:cubicBezTo>
                  <a:pt x="1285" y="608"/>
                  <a:pt x="1084" y="610"/>
                  <a:pt x="982" y="618"/>
                </a:cubicBezTo>
                <a:cubicBezTo>
                  <a:pt x="631" y="611"/>
                  <a:pt x="624" y="626"/>
                  <a:pt x="409" y="591"/>
                </a:cubicBezTo>
                <a:cubicBezTo>
                  <a:pt x="306" y="539"/>
                  <a:pt x="469" y="616"/>
                  <a:pt x="300" y="564"/>
                </a:cubicBezTo>
                <a:cubicBezTo>
                  <a:pt x="292" y="561"/>
                  <a:pt x="290" y="548"/>
                  <a:pt x="282" y="545"/>
                </a:cubicBezTo>
                <a:cubicBezTo>
                  <a:pt x="265" y="538"/>
                  <a:pt x="245" y="540"/>
                  <a:pt x="227" y="536"/>
                </a:cubicBezTo>
                <a:cubicBezTo>
                  <a:pt x="178" y="525"/>
                  <a:pt x="82" y="500"/>
                  <a:pt x="82" y="500"/>
                </a:cubicBezTo>
                <a:cubicBezTo>
                  <a:pt x="3" y="441"/>
                  <a:pt x="9" y="346"/>
                  <a:pt x="0" y="254"/>
                </a:cubicBezTo>
                <a:cubicBezTo>
                  <a:pt x="18" y="143"/>
                  <a:pt x="43" y="91"/>
                  <a:pt x="155" y="64"/>
                </a:cubicBezTo>
                <a:cubicBezTo>
                  <a:pt x="161" y="58"/>
                  <a:pt x="165" y="49"/>
                  <a:pt x="173" y="45"/>
                </a:cubicBezTo>
                <a:cubicBezTo>
                  <a:pt x="190" y="36"/>
                  <a:pt x="227" y="27"/>
                  <a:pt x="227" y="27"/>
                </a:cubicBezTo>
                <a:cubicBezTo>
                  <a:pt x="249" y="6"/>
                  <a:pt x="240" y="15"/>
                  <a:pt x="255" y="0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33" name="Freeform 27"/>
          <p:cNvSpPr>
            <a:spLocks/>
          </p:cNvSpPr>
          <p:nvPr/>
        </p:nvSpPr>
        <p:spPr bwMode="auto">
          <a:xfrm>
            <a:off x="1587500" y="3505200"/>
            <a:ext cx="1489075" cy="192088"/>
          </a:xfrm>
          <a:custGeom>
            <a:avLst/>
            <a:gdLst>
              <a:gd name="T0" fmla="*/ 0 w 527"/>
              <a:gd name="T1" fmla="*/ 0 h 118"/>
              <a:gd name="T2" fmla="*/ 2147483647 w 527"/>
              <a:gd name="T3" fmla="*/ 2147483647 h 118"/>
              <a:gd name="T4" fmla="*/ 2147483647 w 527"/>
              <a:gd name="T5" fmla="*/ 2147483647 h 118"/>
              <a:gd name="T6" fmla="*/ 2147483647 w 527"/>
              <a:gd name="T7" fmla="*/ 2147483647 h 118"/>
              <a:gd name="T8" fmla="*/ 0 60000 65536"/>
              <a:gd name="T9" fmla="*/ 0 60000 65536"/>
              <a:gd name="T10" fmla="*/ 0 60000 65536"/>
              <a:gd name="T11" fmla="*/ 0 60000 65536"/>
              <a:gd name="T12" fmla="*/ 0 w 527"/>
              <a:gd name="T13" fmla="*/ 0 h 118"/>
              <a:gd name="T14" fmla="*/ 527 w 527"/>
              <a:gd name="T15" fmla="*/ 118 h 1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7" h="118">
                <a:moveTo>
                  <a:pt x="0" y="0"/>
                </a:moveTo>
                <a:cubicBezTo>
                  <a:pt x="67" y="3"/>
                  <a:pt x="133" y="4"/>
                  <a:pt x="200" y="9"/>
                </a:cubicBezTo>
                <a:cubicBezTo>
                  <a:pt x="265" y="14"/>
                  <a:pt x="347" y="53"/>
                  <a:pt x="409" y="73"/>
                </a:cubicBezTo>
                <a:cubicBezTo>
                  <a:pt x="445" y="85"/>
                  <a:pt x="500" y="91"/>
                  <a:pt x="527" y="118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34" name="Rectangle 28"/>
          <p:cNvSpPr>
            <a:spLocks noChangeArrowheads="1"/>
          </p:cNvSpPr>
          <p:nvPr/>
        </p:nvSpPr>
        <p:spPr bwMode="auto">
          <a:xfrm>
            <a:off x="3030538" y="1212850"/>
            <a:ext cx="1052512" cy="1009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OS</a:t>
            </a:r>
          </a:p>
        </p:txBody>
      </p:sp>
      <p:sp>
        <p:nvSpPr>
          <p:cNvPr id="14359" name="Freeform 29"/>
          <p:cNvSpPr>
            <a:spLocks/>
          </p:cNvSpPr>
          <p:nvPr/>
        </p:nvSpPr>
        <p:spPr bwMode="auto">
          <a:xfrm>
            <a:off x="4054475" y="1789113"/>
            <a:ext cx="736600" cy="1963737"/>
          </a:xfrm>
          <a:custGeom>
            <a:avLst/>
            <a:gdLst>
              <a:gd name="T0" fmla="*/ 0 w 464"/>
              <a:gd name="T1" fmla="*/ 2147483647 h 1237"/>
              <a:gd name="T2" fmla="*/ 2147483647 w 464"/>
              <a:gd name="T3" fmla="*/ 2147483647 h 1237"/>
              <a:gd name="T4" fmla="*/ 2147483647 w 464"/>
              <a:gd name="T5" fmla="*/ 2147483647 h 1237"/>
              <a:gd name="T6" fmla="*/ 2147483647 w 464"/>
              <a:gd name="T7" fmla="*/ 2147483647 h 1237"/>
              <a:gd name="T8" fmla="*/ 2147483647 w 464"/>
              <a:gd name="T9" fmla="*/ 2147483647 h 1237"/>
              <a:gd name="T10" fmla="*/ 2147483647 w 464"/>
              <a:gd name="T11" fmla="*/ 2147483647 h 1237"/>
              <a:gd name="T12" fmla="*/ 2147483647 w 464"/>
              <a:gd name="T13" fmla="*/ 2147483647 h 1237"/>
              <a:gd name="T14" fmla="*/ 2147483647 w 464"/>
              <a:gd name="T15" fmla="*/ 2147483647 h 1237"/>
              <a:gd name="T16" fmla="*/ 2147483647 w 464"/>
              <a:gd name="T17" fmla="*/ 2147483647 h 1237"/>
              <a:gd name="T18" fmla="*/ 2147483647 w 464"/>
              <a:gd name="T19" fmla="*/ 2147483647 h 1237"/>
              <a:gd name="T20" fmla="*/ 2147483647 w 464"/>
              <a:gd name="T21" fmla="*/ 2147483647 h 1237"/>
              <a:gd name="T22" fmla="*/ 2147483647 w 464"/>
              <a:gd name="T23" fmla="*/ 2147483647 h 1237"/>
              <a:gd name="T24" fmla="*/ 2147483647 w 464"/>
              <a:gd name="T25" fmla="*/ 2147483647 h 1237"/>
              <a:gd name="T26" fmla="*/ 2147483647 w 464"/>
              <a:gd name="T27" fmla="*/ 0 h 1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64"/>
              <a:gd name="T43" fmla="*/ 0 h 1237"/>
              <a:gd name="T44" fmla="*/ 464 w 464"/>
              <a:gd name="T45" fmla="*/ 1237 h 123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64" h="1237">
                <a:moveTo>
                  <a:pt x="0" y="1237"/>
                </a:moveTo>
                <a:cubicBezTo>
                  <a:pt x="47" y="1230"/>
                  <a:pt x="92" y="1225"/>
                  <a:pt x="137" y="1210"/>
                </a:cubicBezTo>
                <a:cubicBezTo>
                  <a:pt x="164" y="1182"/>
                  <a:pt x="200" y="1174"/>
                  <a:pt x="228" y="1146"/>
                </a:cubicBezTo>
                <a:cubicBezTo>
                  <a:pt x="245" y="1129"/>
                  <a:pt x="257" y="1108"/>
                  <a:pt x="273" y="1091"/>
                </a:cubicBezTo>
                <a:cubicBezTo>
                  <a:pt x="282" y="1067"/>
                  <a:pt x="289" y="1042"/>
                  <a:pt x="300" y="1019"/>
                </a:cubicBezTo>
                <a:cubicBezTo>
                  <a:pt x="304" y="1011"/>
                  <a:pt x="315" y="1008"/>
                  <a:pt x="318" y="1000"/>
                </a:cubicBezTo>
                <a:cubicBezTo>
                  <a:pt x="325" y="983"/>
                  <a:pt x="323" y="963"/>
                  <a:pt x="328" y="946"/>
                </a:cubicBezTo>
                <a:cubicBezTo>
                  <a:pt x="332" y="933"/>
                  <a:pt x="340" y="922"/>
                  <a:pt x="346" y="910"/>
                </a:cubicBezTo>
                <a:cubicBezTo>
                  <a:pt x="368" y="774"/>
                  <a:pt x="394" y="612"/>
                  <a:pt x="437" y="482"/>
                </a:cubicBezTo>
                <a:cubicBezTo>
                  <a:pt x="443" y="432"/>
                  <a:pt x="449" y="392"/>
                  <a:pt x="464" y="346"/>
                </a:cubicBezTo>
                <a:cubicBezTo>
                  <a:pt x="455" y="253"/>
                  <a:pt x="449" y="118"/>
                  <a:pt x="346" y="73"/>
                </a:cubicBezTo>
                <a:cubicBezTo>
                  <a:pt x="296" y="51"/>
                  <a:pt x="235" y="34"/>
                  <a:pt x="182" y="19"/>
                </a:cubicBezTo>
                <a:cubicBezTo>
                  <a:pt x="170" y="16"/>
                  <a:pt x="158" y="11"/>
                  <a:pt x="146" y="9"/>
                </a:cubicBezTo>
                <a:cubicBezTo>
                  <a:pt x="122" y="5"/>
                  <a:pt x="73" y="0"/>
                  <a:pt x="73" y="0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0" name="Freeform 30"/>
          <p:cNvSpPr>
            <a:spLocks/>
          </p:cNvSpPr>
          <p:nvPr/>
        </p:nvSpPr>
        <p:spPr bwMode="auto">
          <a:xfrm>
            <a:off x="4170363" y="1485900"/>
            <a:ext cx="3606800" cy="1458913"/>
          </a:xfrm>
          <a:custGeom>
            <a:avLst/>
            <a:gdLst>
              <a:gd name="T0" fmla="*/ 0 w 2272"/>
              <a:gd name="T1" fmla="*/ 0 h 919"/>
              <a:gd name="T2" fmla="*/ 2147483647 w 2272"/>
              <a:gd name="T3" fmla="*/ 2147483647 h 919"/>
              <a:gd name="T4" fmla="*/ 2147483647 w 2272"/>
              <a:gd name="T5" fmla="*/ 2147483647 h 919"/>
              <a:gd name="T6" fmla="*/ 2147483647 w 2272"/>
              <a:gd name="T7" fmla="*/ 2147483647 h 919"/>
              <a:gd name="T8" fmla="*/ 2147483647 w 2272"/>
              <a:gd name="T9" fmla="*/ 2147483647 h 919"/>
              <a:gd name="T10" fmla="*/ 2147483647 w 2272"/>
              <a:gd name="T11" fmla="*/ 2147483647 h 919"/>
              <a:gd name="T12" fmla="*/ 2147483647 w 2272"/>
              <a:gd name="T13" fmla="*/ 2147483647 h 919"/>
              <a:gd name="T14" fmla="*/ 2147483647 w 2272"/>
              <a:gd name="T15" fmla="*/ 2147483647 h 919"/>
              <a:gd name="T16" fmla="*/ 2147483647 w 2272"/>
              <a:gd name="T17" fmla="*/ 2147483647 h 919"/>
              <a:gd name="T18" fmla="*/ 2147483647 w 2272"/>
              <a:gd name="T19" fmla="*/ 2147483647 h 919"/>
              <a:gd name="T20" fmla="*/ 2147483647 w 2272"/>
              <a:gd name="T21" fmla="*/ 2147483647 h 919"/>
              <a:gd name="T22" fmla="*/ 2147483647 w 2272"/>
              <a:gd name="T23" fmla="*/ 2147483647 h 919"/>
              <a:gd name="T24" fmla="*/ 2147483647 w 2272"/>
              <a:gd name="T25" fmla="*/ 2147483647 h 919"/>
              <a:gd name="T26" fmla="*/ 2147483647 w 2272"/>
              <a:gd name="T27" fmla="*/ 2147483647 h 919"/>
              <a:gd name="T28" fmla="*/ 2147483647 w 2272"/>
              <a:gd name="T29" fmla="*/ 2147483647 h 919"/>
              <a:gd name="T30" fmla="*/ 2147483647 w 2272"/>
              <a:gd name="T31" fmla="*/ 2147483647 h 919"/>
              <a:gd name="T32" fmla="*/ 2147483647 w 2272"/>
              <a:gd name="T33" fmla="*/ 2147483647 h 91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272"/>
              <a:gd name="T52" fmla="*/ 0 h 919"/>
              <a:gd name="T53" fmla="*/ 2272 w 2272"/>
              <a:gd name="T54" fmla="*/ 919 h 91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272" h="919">
                <a:moveTo>
                  <a:pt x="0" y="0"/>
                </a:moveTo>
                <a:cubicBezTo>
                  <a:pt x="37" y="8"/>
                  <a:pt x="75" y="11"/>
                  <a:pt x="109" y="28"/>
                </a:cubicBezTo>
                <a:cubicBezTo>
                  <a:pt x="119" y="33"/>
                  <a:pt x="126" y="42"/>
                  <a:pt x="136" y="46"/>
                </a:cubicBezTo>
                <a:cubicBezTo>
                  <a:pt x="199" y="69"/>
                  <a:pt x="269" y="60"/>
                  <a:pt x="336" y="64"/>
                </a:cubicBezTo>
                <a:cubicBezTo>
                  <a:pt x="509" y="85"/>
                  <a:pt x="698" y="86"/>
                  <a:pt x="864" y="146"/>
                </a:cubicBezTo>
                <a:cubicBezTo>
                  <a:pt x="990" y="192"/>
                  <a:pt x="1108" y="257"/>
                  <a:pt x="1236" y="300"/>
                </a:cubicBezTo>
                <a:cubicBezTo>
                  <a:pt x="1275" y="341"/>
                  <a:pt x="1236" y="307"/>
                  <a:pt x="1327" y="337"/>
                </a:cubicBezTo>
                <a:cubicBezTo>
                  <a:pt x="1441" y="375"/>
                  <a:pt x="1262" y="335"/>
                  <a:pt x="1418" y="373"/>
                </a:cubicBezTo>
                <a:cubicBezTo>
                  <a:pt x="1436" y="377"/>
                  <a:pt x="1455" y="378"/>
                  <a:pt x="1473" y="382"/>
                </a:cubicBezTo>
                <a:cubicBezTo>
                  <a:pt x="1497" y="387"/>
                  <a:pt x="1521" y="394"/>
                  <a:pt x="1545" y="400"/>
                </a:cubicBezTo>
                <a:cubicBezTo>
                  <a:pt x="1593" y="425"/>
                  <a:pt x="1637" y="437"/>
                  <a:pt x="1691" y="446"/>
                </a:cubicBezTo>
                <a:cubicBezTo>
                  <a:pt x="1741" y="484"/>
                  <a:pt x="1812" y="518"/>
                  <a:pt x="1873" y="528"/>
                </a:cubicBezTo>
                <a:cubicBezTo>
                  <a:pt x="1925" y="567"/>
                  <a:pt x="1968" y="613"/>
                  <a:pt x="2018" y="655"/>
                </a:cubicBezTo>
                <a:cubicBezTo>
                  <a:pt x="2053" y="685"/>
                  <a:pt x="2080" y="694"/>
                  <a:pt x="2109" y="737"/>
                </a:cubicBezTo>
                <a:cubicBezTo>
                  <a:pt x="2121" y="755"/>
                  <a:pt x="2133" y="773"/>
                  <a:pt x="2145" y="791"/>
                </a:cubicBezTo>
                <a:cubicBezTo>
                  <a:pt x="2151" y="800"/>
                  <a:pt x="2154" y="813"/>
                  <a:pt x="2163" y="819"/>
                </a:cubicBezTo>
                <a:cubicBezTo>
                  <a:pt x="2205" y="846"/>
                  <a:pt x="2237" y="884"/>
                  <a:pt x="2272" y="919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61" name="Freeform 31"/>
          <p:cNvSpPr>
            <a:spLocks/>
          </p:cNvSpPr>
          <p:nvPr/>
        </p:nvSpPr>
        <p:spPr bwMode="auto">
          <a:xfrm>
            <a:off x="6276975" y="3333750"/>
            <a:ext cx="1544638" cy="1428750"/>
          </a:xfrm>
          <a:custGeom>
            <a:avLst/>
            <a:gdLst>
              <a:gd name="T0" fmla="*/ 2147483647 w 973"/>
              <a:gd name="T1" fmla="*/ 0 h 900"/>
              <a:gd name="T2" fmla="*/ 2147483647 w 973"/>
              <a:gd name="T3" fmla="*/ 2147483647 h 900"/>
              <a:gd name="T4" fmla="*/ 2147483647 w 973"/>
              <a:gd name="T5" fmla="*/ 2147483647 h 900"/>
              <a:gd name="T6" fmla="*/ 2147483647 w 973"/>
              <a:gd name="T7" fmla="*/ 2147483647 h 900"/>
              <a:gd name="T8" fmla="*/ 2147483647 w 973"/>
              <a:gd name="T9" fmla="*/ 2147483647 h 900"/>
              <a:gd name="T10" fmla="*/ 2147483647 w 973"/>
              <a:gd name="T11" fmla="*/ 2147483647 h 900"/>
              <a:gd name="T12" fmla="*/ 2147483647 w 973"/>
              <a:gd name="T13" fmla="*/ 2147483647 h 900"/>
              <a:gd name="T14" fmla="*/ 2147483647 w 973"/>
              <a:gd name="T15" fmla="*/ 2147483647 h 900"/>
              <a:gd name="T16" fmla="*/ 2147483647 w 973"/>
              <a:gd name="T17" fmla="*/ 2147483647 h 900"/>
              <a:gd name="T18" fmla="*/ 2147483647 w 973"/>
              <a:gd name="T19" fmla="*/ 2147483647 h 900"/>
              <a:gd name="T20" fmla="*/ 2147483647 w 973"/>
              <a:gd name="T21" fmla="*/ 2147483647 h 900"/>
              <a:gd name="T22" fmla="*/ 0 w 973"/>
              <a:gd name="T23" fmla="*/ 2147483647 h 9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73"/>
              <a:gd name="T37" fmla="*/ 0 h 900"/>
              <a:gd name="T38" fmla="*/ 973 w 973"/>
              <a:gd name="T39" fmla="*/ 900 h 9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73" h="900">
                <a:moveTo>
                  <a:pt x="973" y="0"/>
                </a:moveTo>
                <a:cubicBezTo>
                  <a:pt x="970" y="15"/>
                  <a:pt x="966" y="30"/>
                  <a:pt x="964" y="46"/>
                </a:cubicBezTo>
                <a:cubicBezTo>
                  <a:pt x="960" y="85"/>
                  <a:pt x="960" y="125"/>
                  <a:pt x="955" y="164"/>
                </a:cubicBezTo>
                <a:cubicBezTo>
                  <a:pt x="938" y="285"/>
                  <a:pt x="892" y="434"/>
                  <a:pt x="791" y="509"/>
                </a:cubicBezTo>
                <a:cubicBezTo>
                  <a:pt x="757" y="562"/>
                  <a:pt x="709" y="596"/>
                  <a:pt x="664" y="637"/>
                </a:cubicBezTo>
                <a:cubicBezTo>
                  <a:pt x="645" y="654"/>
                  <a:pt x="630" y="677"/>
                  <a:pt x="609" y="691"/>
                </a:cubicBezTo>
                <a:cubicBezTo>
                  <a:pt x="574" y="715"/>
                  <a:pt x="531" y="747"/>
                  <a:pt x="491" y="764"/>
                </a:cubicBezTo>
                <a:cubicBezTo>
                  <a:pt x="422" y="793"/>
                  <a:pt x="345" y="815"/>
                  <a:pt x="273" y="837"/>
                </a:cubicBezTo>
                <a:cubicBezTo>
                  <a:pt x="202" y="858"/>
                  <a:pt x="309" y="833"/>
                  <a:pt x="173" y="855"/>
                </a:cubicBezTo>
                <a:cubicBezTo>
                  <a:pt x="126" y="863"/>
                  <a:pt x="135" y="869"/>
                  <a:pt x="82" y="882"/>
                </a:cubicBezTo>
                <a:cubicBezTo>
                  <a:pt x="70" y="885"/>
                  <a:pt x="58" y="888"/>
                  <a:pt x="46" y="891"/>
                </a:cubicBezTo>
                <a:cubicBezTo>
                  <a:pt x="31" y="894"/>
                  <a:pt x="0" y="900"/>
                  <a:pt x="0" y="900"/>
                </a:cubicBezTo>
              </a:path>
            </a:pathLst>
          </a:cu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338" name="Rectangle 32"/>
          <p:cNvSpPr>
            <a:spLocks noChangeArrowheads="1"/>
          </p:cNvSpPr>
          <p:nvPr/>
        </p:nvSpPr>
        <p:spPr bwMode="auto">
          <a:xfrm>
            <a:off x="433388" y="3276600"/>
            <a:ext cx="1009650" cy="938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load M</a:t>
            </a:r>
          </a:p>
        </p:txBody>
      </p:sp>
      <p:sp>
        <p:nvSpPr>
          <p:cNvPr id="13339" name="Oval 33"/>
          <p:cNvSpPr>
            <a:spLocks noChangeArrowheads="1"/>
          </p:cNvSpPr>
          <p:nvPr/>
        </p:nvSpPr>
        <p:spPr bwMode="auto">
          <a:xfrm>
            <a:off x="1760538" y="2900363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14364" name="Oval 34"/>
          <p:cNvSpPr>
            <a:spLocks noChangeArrowheads="1"/>
          </p:cNvSpPr>
          <p:nvPr/>
        </p:nvSpPr>
        <p:spPr bwMode="auto">
          <a:xfrm>
            <a:off x="4813300" y="2432050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14365" name="Oval 35"/>
          <p:cNvSpPr>
            <a:spLocks noChangeArrowheads="1"/>
          </p:cNvSpPr>
          <p:nvPr/>
        </p:nvSpPr>
        <p:spPr bwMode="auto">
          <a:xfrm>
            <a:off x="5327650" y="1184275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14366" name="Oval 36"/>
          <p:cNvSpPr>
            <a:spLocks noChangeArrowheads="1"/>
          </p:cNvSpPr>
          <p:nvPr/>
        </p:nvSpPr>
        <p:spPr bwMode="auto">
          <a:xfrm>
            <a:off x="7570788" y="4164013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14367" name="Oval 37"/>
          <p:cNvSpPr>
            <a:spLocks noChangeArrowheads="1"/>
          </p:cNvSpPr>
          <p:nvPr/>
        </p:nvSpPr>
        <p:spPr bwMode="auto">
          <a:xfrm>
            <a:off x="3308350" y="5022850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</a:t>
            </a:r>
          </a:p>
        </p:txBody>
      </p:sp>
      <p:sp>
        <p:nvSpPr>
          <p:cNvPr id="14368" name="Oval 38"/>
          <p:cNvSpPr>
            <a:spLocks noChangeArrowheads="1"/>
          </p:cNvSpPr>
          <p:nvPr/>
        </p:nvSpPr>
        <p:spPr bwMode="auto">
          <a:xfrm>
            <a:off x="1771650" y="3832225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14369" name="Text Box 39"/>
          <p:cNvSpPr txBox="1">
            <a:spLocks noChangeArrowheads="1"/>
          </p:cNvSpPr>
          <p:nvPr/>
        </p:nvSpPr>
        <p:spPr bwMode="auto">
          <a:xfrm>
            <a:off x="5327650" y="2301875"/>
            <a:ext cx="1423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page fault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trap</a:t>
            </a:r>
          </a:p>
        </p:txBody>
      </p:sp>
      <p:sp>
        <p:nvSpPr>
          <p:cNvPr id="14370" name="Text Box 40"/>
          <p:cNvSpPr txBox="1">
            <a:spLocks noChangeArrowheads="1"/>
          </p:cNvSpPr>
          <p:nvPr/>
        </p:nvSpPr>
        <p:spPr bwMode="auto">
          <a:xfrm>
            <a:off x="1671638" y="4489450"/>
            <a:ext cx="915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restart</a:t>
            </a:r>
          </a:p>
        </p:txBody>
      </p:sp>
      <p:sp>
        <p:nvSpPr>
          <p:cNvPr id="13347" name="Text Box 41"/>
          <p:cNvSpPr txBox="1">
            <a:spLocks noChangeArrowheads="1"/>
          </p:cNvSpPr>
          <p:nvPr/>
        </p:nvSpPr>
        <p:spPr bwMode="auto">
          <a:xfrm>
            <a:off x="1706563" y="2514600"/>
            <a:ext cx="1198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14372" name="Text Box 42"/>
          <p:cNvSpPr txBox="1">
            <a:spLocks noChangeArrowheads="1"/>
          </p:cNvSpPr>
          <p:nvPr/>
        </p:nvSpPr>
        <p:spPr bwMode="auto">
          <a:xfrm>
            <a:off x="6413500" y="1016000"/>
            <a:ext cx="25288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in backing store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(terminate if invalid)</a:t>
            </a:r>
          </a:p>
        </p:txBody>
      </p:sp>
      <p:sp>
        <p:nvSpPr>
          <p:cNvPr id="14373" name="Text Box 43"/>
          <p:cNvSpPr txBox="1">
            <a:spLocks noChangeArrowheads="1"/>
          </p:cNvSpPr>
          <p:nvPr/>
        </p:nvSpPr>
        <p:spPr bwMode="auto">
          <a:xfrm>
            <a:off x="6523038" y="4789488"/>
            <a:ext cx="1050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bring in</a:t>
            </a:r>
          </a:p>
        </p:txBody>
      </p:sp>
      <p:sp>
        <p:nvSpPr>
          <p:cNvPr id="14374" name="Text Box 44"/>
          <p:cNvSpPr txBox="1">
            <a:spLocks noChangeArrowheads="1"/>
          </p:cNvSpPr>
          <p:nvPr/>
        </p:nvSpPr>
        <p:spPr bwMode="auto">
          <a:xfrm>
            <a:off x="2889250" y="5459413"/>
            <a:ext cx="18748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reset page table</a:t>
            </a:r>
          </a:p>
        </p:txBody>
      </p:sp>
      <p:sp>
        <p:nvSpPr>
          <p:cNvPr id="9261" name="Rectangle 45"/>
          <p:cNvSpPr>
            <a:spLocks noChangeArrowheads="1"/>
          </p:cNvSpPr>
          <p:nvPr/>
        </p:nvSpPr>
        <p:spPr bwMode="auto">
          <a:xfrm>
            <a:off x="3563938" y="3500438"/>
            <a:ext cx="3254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 animBg="1"/>
      <p:bldP spid="9239" grpId="0"/>
      <p:bldP spid="14355" grpId="0" animBg="1"/>
      <p:bldP spid="14356" grpId="0" animBg="1"/>
      <p:bldP spid="14359" grpId="0" animBg="1"/>
      <p:bldP spid="14360" grpId="0" animBg="1"/>
      <p:bldP spid="14361" grpId="0" animBg="1"/>
      <p:bldP spid="14364" grpId="0" animBg="1"/>
      <p:bldP spid="14365" grpId="0" animBg="1"/>
      <p:bldP spid="14366" grpId="0" animBg="1"/>
      <p:bldP spid="14367" grpId="0" animBg="1"/>
      <p:bldP spid="14368" grpId="0" animBg="1"/>
      <p:bldP spid="14369" grpId="0"/>
      <p:bldP spid="14370" grpId="0"/>
      <p:bldP spid="14372" grpId="0"/>
      <p:bldP spid="14373" grpId="0"/>
      <p:bldP spid="143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DD1F1D-9FD5-4375-897F-08E61459575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D739D25-13A7-4FAB-B1F5-53253700F49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0000FF"/>
                </a:solidFill>
                <a:latin typeface="Comic Sans MS" panose="030F0702030302020204" pitchFamily="66" charset="0"/>
              </a:rPr>
              <a:t>What happens if there is no free frame?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FF0000"/>
                </a:solidFill>
              </a:rPr>
              <a:t>Page replacement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anose="020B0604020202020204" pitchFamily="34" charset="0"/>
              </a:rPr>
              <a:t>–</a:t>
            </a:r>
            <a:r>
              <a:rPr lang="en-US" altLang="zh-TW" smtClean="0"/>
              <a:t> find some page in memory, but not really in use, swap it out.</a:t>
            </a:r>
          </a:p>
          <a:p>
            <a:pPr lvl="1" eaLnBrk="1" hangingPunct="1"/>
            <a:r>
              <a:rPr lang="en-US" altLang="zh-TW" smtClean="0">
                <a:solidFill>
                  <a:srgbClr val="0000FF"/>
                </a:solidFill>
              </a:rPr>
              <a:t>replacement algorithms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performance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 panose="020B0604020202020204" pitchFamily="34" charset="0"/>
              </a:rPr>
              <a:t>–</a:t>
            </a:r>
            <a:r>
              <a:rPr lang="en-US" altLang="zh-TW" smtClean="0"/>
              <a:t> want an algorithm which will result in </a:t>
            </a:r>
            <a:r>
              <a:rPr lang="en-US" altLang="zh-TW" smtClean="0">
                <a:solidFill>
                  <a:srgbClr val="FF0000"/>
                </a:solidFill>
              </a:rPr>
              <a:t>minimum number of page faults</a:t>
            </a:r>
            <a:r>
              <a:rPr lang="en-US" altLang="zh-TW" smtClean="0"/>
              <a:t>.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0000FF"/>
                </a:solidFill>
              </a:rPr>
              <a:t>Same page may be brought into memory several times.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E7553E-787E-499F-9518-460305F9D5E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BB08E2-4BD5-4A65-B4FB-EA28CC7E243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/>
          </a:p>
        </p:txBody>
      </p:sp>
      <p:sp>
        <p:nvSpPr>
          <p:cNvPr id="16389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230188"/>
            <a:ext cx="8893175" cy="2622550"/>
          </a:xfrm>
          <a:noFill/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3600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Software Support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latin typeface="Comic Sans MS" panose="030F0702030302020204" pitchFamily="66" charset="0"/>
              </a:rPr>
              <a:t>Able to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restart any instruction</a:t>
            </a:r>
            <a:r>
              <a:rPr lang="en-US" altLang="zh-TW" sz="2800" smtClean="0">
                <a:latin typeface="Comic Sans MS" panose="030F0702030302020204" pitchFamily="66" charset="0"/>
              </a:rPr>
              <a:t> after a page fault</a:t>
            </a:r>
            <a:endParaRPr lang="en-US" altLang="zh-TW" sz="2800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Difficulty</a:t>
            </a:r>
            <a:r>
              <a:rPr lang="en-US" altLang="zh-TW" sz="2800" smtClean="0">
                <a:latin typeface="Comic Sans MS" panose="030F0702030302020204" pitchFamily="66" charset="0"/>
              </a:rPr>
              <a:t>: when one instruction modifies several different locations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000" smtClean="0">
                <a:latin typeface="Comic Sans MS" panose="030F0702030302020204" pitchFamily="66" charset="0"/>
              </a:rPr>
              <a:t>e.g., IBM 390/370  MVC move block2 to block1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</a:rPr>
              <a:t>          </a:t>
            </a:r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2663825" y="3140075"/>
            <a:ext cx="2963863" cy="263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latin typeface="Times New Roman" panose="02020603050405020304" pitchFamily="18" charset="0"/>
            </a:endParaRPr>
          </a:p>
        </p:txBody>
      </p:sp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3203575" y="3398838"/>
            <a:ext cx="2963863" cy="263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latin typeface="Times New Roman" panose="02020603050405020304" pitchFamily="18" charset="0"/>
            </a:endParaRPr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2663825" y="3157538"/>
            <a:ext cx="1076325" cy="246062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3240088" y="3417888"/>
            <a:ext cx="987425" cy="227012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5370" name="Line 7"/>
          <p:cNvSpPr>
            <a:spLocks noChangeShapeType="1"/>
          </p:cNvSpPr>
          <p:nvPr/>
        </p:nvSpPr>
        <p:spPr bwMode="auto">
          <a:xfrm>
            <a:off x="4251325" y="2698750"/>
            <a:ext cx="0" cy="1552575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71" name="Text Box 8"/>
          <p:cNvSpPr txBox="1">
            <a:spLocks noChangeArrowheads="1"/>
          </p:cNvSpPr>
          <p:nvPr/>
        </p:nvSpPr>
        <p:spPr bwMode="auto">
          <a:xfrm>
            <a:off x="4846638" y="3854450"/>
            <a:ext cx="1347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fault</a:t>
            </a:r>
          </a:p>
        </p:txBody>
      </p:sp>
      <p:sp>
        <p:nvSpPr>
          <p:cNvPr id="15372" name="Line 9"/>
          <p:cNvSpPr>
            <a:spLocks noChangeShapeType="1"/>
          </p:cNvSpPr>
          <p:nvPr/>
        </p:nvSpPr>
        <p:spPr bwMode="auto">
          <a:xfrm flipH="1" flipV="1">
            <a:off x="4357688" y="3775075"/>
            <a:ext cx="546100" cy="246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397" name="Text Box 10"/>
          <p:cNvSpPr txBox="1">
            <a:spLocks noChangeArrowheads="1"/>
          </p:cNvSpPr>
          <p:nvPr/>
        </p:nvSpPr>
        <p:spPr bwMode="auto">
          <a:xfrm>
            <a:off x="381000" y="4343400"/>
            <a:ext cx="830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Comic Sans MS" panose="030F0702030302020204" pitchFamily="66" charset="0"/>
              </a:rPr>
              <a:t>Solutions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2400">
                <a:latin typeface="Comic Sans MS" panose="030F0702030302020204" pitchFamily="66" charset="0"/>
              </a:rPr>
              <a:t> Access both ends of both blocks before moving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2400">
                <a:latin typeface="Comic Sans MS" panose="030F0702030302020204" pitchFamily="66" charset="0"/>
              </a:rPr>
              <a:t> Use temporary registers to hold the values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latin typeface="Comic Sans MS" panose="030F0702030302020204" pitchFamily="66" charset="0"/>
              </a:rPr>
              <a:t>      of overwritten locations – </a:t>
            </a:r>
            <a:r>
              <a:rPr lang="en-US" altLang="zh-TW" sz="2400">
                <a:solidFill>
                  <a:schemeClr val="tx2"/>
                </a:solidFill>
                <a:latin typeface="Comic Sans MS" panose="030F0702030302020204" pitchFamily="66" charset="0"/>
              </a:rPr>
              <a:t>for the undo</a:t>
            </a:r>
            <a:endParaRPr lang="en-US" altLang="zh-TW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4" name="Text Box 11"/>
          <p:cNvSpPr txBox="1">
            <a:spLocks noChangeArrowheads="1"/>
          </p:cNvSpPr>
          <p:nvPr/>
        </p:nvSpPr>
        <p:spPr bwMode="auto">
          <a:xfrm>
            <a:off x="4344988" y="3079750"/>
            <a:ext cx="9604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block1</a:t>
            </a:r>
          </a:p>
        </p:txBody>
      </p:sp>
      <p:sp>
        <p:nvSpPr>
          <p:cNvPr id="15375" name="Text Box 12"/>
          <p:cNvSpPr txBox="1">
            <a:spLocks noChangeArrowheads="1"/>
          </p:cNvSpPr>
          <p:nvPr/>
        </p:nvSpPr>
        <p:spPr bwMode="auto">
          <a:xfrm>
            <a:off x="4800600" y="3352800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block2</a:t>
            </a: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6372225" y="2701925"/>
            <a:ext cx="2460625" cy="1754188"/>
          </a:xfrm>
          <a:prstGeom prst="rect">
            <a:avLst/>
          </a:prstGeom>
          <a:noFill/>
          <a:ln w="9525">
            <a:solidFill>
              <a:srgbClr val="9933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ADD A+B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Fetch and decode ADD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Fetch 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Fetch B.</a:t>
            </a:r>
            <a:endParaRPr lang="zh-TW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ADD A and B.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sum in C.</a:t>
            </a:r>
            <a:endParaRPr lang="zh-TW" altLang="en-US" sz="1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>
            <a:cxnSpLocks noChangeShapeType="1"/>
          </p:cNvCxnSpPr>
          <p:nvPr/>
        </p:nvCxnSpPr>
        <p:spPr bwMode="auto">
          <a:xfrm>
            <a:off x="6167438" y="4021138"/>
            <a:ext cx="322262" cy="198437"/>
          </a:xfrm>
          <a:prstGeom prst="straightConnector1">
            <a:avLst/>
          </a:prstGeom>
          <a:noFill/>
          <a:ln w="2857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字方塊 2"/>
          <p:cNvSpPr txBox="1">
            <a:spLocks noChangeArrowheads="1"/>
          </p:cNvSpPr>
          <p:nvPr/>
        </p:nvSpPr>
        <p:spPr bwMode="auto">
          <a:xfrm>
            <a:off x="6329363" y="5895975"/>
            <a:ext cx="2889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Fetch the instruction again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After handling page fault.</a:t>
            </a:r>
            <a:endParaRPr lang="zh-TW" altLang="en-US" sz="1800">
              <a:solidFill>
                <a:srgbClr val="FF0000"/>
              </a:solidFill>
            </a:endParaRPr>
          </a:p>
        </p:txBody>
      </p:sp>
      <p:sp>
        <p:nvSpPr>
          <p:cNvPr id="15379" name="動作按鈕: 起點 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34388" y="5129213"/>
            <a:ext cx="457200" cy="387350"/>
          </a:xfrm>
          <a:prstGeom prst="actionButtonBeginning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683DA3-7FF4-4700-BD69-0EC401EEC51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A9318D-3DD9-4FF7-8888-C360CB2857D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63613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Demand Paging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724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mtClean="0">
                <a:latin typeface="Comic Sans MS" pitchFamily="66" charset="0"/>
              </a:rPr>
              <a:t>Programs tend to have </a:t>
            </a:r>
            <a:r>
              <a:rPr lang="en-US" altLang="zh-TW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locality of reference</a:t>
            </a:r>
            <a:r>
              <a:rPr lang="en-US" altLang="zh-TW" smtClean="0">
                <a:latin typeface="Comic Sans MS" pitchFamily="66" charset="0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TW" smtClean="0">
                <a:latin typeface="Comic Sans MS" pitchFamily="66" charset="0"/>
                <a:sym typeface="Symbol" pitchFamily="18" charset="2"/>
              </a:rPr>
              <a:t> </a:t>
            </a:r>
            <a:r>
              <a:rPr lang="en-US" altLang="zh-TW" smtClean="0">
                <a:latin typeface="Comic Sans MS" pitchFamily="66" charset="0"/>
              </a:rPr>
              <a:t>reasonable performance for demand paging</a:t>
            </a:r>
            <a:endParaRPr lang="en-US" altLang="zh-TW" sz="3200" smtClean="0">
              <a:solidFill>
                <a:srgbClr val="FF0000"/>
              </a:solidFill>
              <a:latin typeface="Comic Sans MS" pitchFamily="66" charset="0"/>
            </a:endParaRPr>
          </a:p>
          <a:p>
            <a:pPr eaLnBrk="1" hangingPunct="1"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pure</a:t>
            </a:r>
            <a:r>
              <a:rPr lang="en-US" altLang="zh-TW" smtClean="0">
                <a:latin typeface="Comic Sans MS" pitchFamily="66" charset="0"/>
              </a:rPr>
              <a:t> demand paging</a:t>
            </a:r>
          </a:p>
          <a:p>
            <a:pPr lvl="1" eaLnBrk="1" hangingPunct="1">
              <a:defRPr/>
            </a:pPr>
            <a:r>
              <a:rPr lang="en-US" altLang="zh-TW" smtClean="0">
                <a:latin typeface="Comic Sans MS" pitchFamily="66" charset="0"/>
              </a:rPr>
              <a:t>Start a process with no page.</a:t>
            </a:r>
          </a:p>
          <a:p>
            <a:pPr lvl="1" eaLnBrk="1" hangingPunct="1">
              <a:defRPr/>
            </a:pPr>
            <a:r>
              <a:rPr lang="en-US" altLang="zh-TW" smtClean="0">
                <a:latin typeface="Comic Sans MS" pitchFamily="66" charset="0"/>
              </a:rPr>
              <a:t>Never bring a page into memory until it is required</a:t>
            </a:r>
            <a:r>
              <a:rPr lang="en-US" altLang="zh-TW" smtClean="0"/>
              <a:t>.</a:t>
            </a:r>
            <a:endParaRPr lang="en-US" altLang="zh-TW" sz="3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0267BAE-477C-4C9C-AB2A-64DCA74DDE0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E7EE9B-C957-4BE5-A463-4FCFAD2AAB4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52413"/>
            <a:ext cx="8396287" cy="773112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Performance of Demand Paging (1)</a:t>
            </a:r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996950"/>
            <a:ext cx="8569325" cy="5267325"/>
          </a:xfrm>
          <a:noFill/>
        </p:spPr>
        <p:txBody>
          <a:bodyPr lIns="90488" tIns="44450" rIns="90488" bIns="44450"/>
          <a:lstStyle/>
          <a:p>
            <a:pPr marL="609600" indent="-60960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mtClean="0">
                <a:latin typeface="Comic Sans MS" panose="030F0702030302020204" pitchFamily="66" charset="0"/>
              </a:rPr>
              <a:t>effective access time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</a:rPr>
              <a:t>		</a:t>
            </a:r>
            <a:r>
              <a:rPr lang="en-US" altLang="zh-TW" smtClean="0">
                <a:latin typeface="Times New Roman" panose="02020603050405020304" pitchFamily="18" charset="0"/>
              </a:rPr>
              <a:t>=(1-</a:t>
            </a:r>
            <a:r>
              <a:rPr lang="en-US" altLang="zh-TW" i="1" smtClean="0">
                <a:latin typeface="Times New Roman" panose="02020603050405020304" pitchFamily="18" charset="0"/>
              </a:rPr>
              <a:t>p</a:t>
            </a:r>
            <a:r>
              <a:rPr lang="en-US" altLang="zh-TW" smtClean="0">
                <a:latin typeface="Times New Roman" panose="02020603050405020304" pitchFamily="18" charset="0"/>
              </a:rPr>
              <a:t>)</a:t>
            </a:r>
            <a:r>
              <a:rPr lang="en-US" altLang="zh-TW" smtClean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TW" smtClean="0">
                <a:latin typeface="Times New Roman" panose="02020603050405020304" pitchFamily="18" charset="0"/>
              </a:rPr>
              <a:t>200</a:t>
            </a:r>
            <a:r>
              <a:rPr lang="en-US" altLang="zh-TW" b="1" smtClean="0">
                <a:solidFill>
                  <a:schemeClr val="tx2"/>
                </a:solidFill>
                <a:latin typeface="Times New Roman" panose="02020603050405020304" pitchFamily="18" charset="0"/>
              </a:rPr>
              <a:t>ns</a:t>
            </a:r>
            <a:r>
              <a:rPr lang="en-US" altLang="zh-TW" smtClean="0">
                <a:latin typeface="Times New Roman" panose="02020603050405020304" pitchFamily="18" charset="0"/>
              </a:rPr>
              <a:t> + </a:t>
            </a:r>
            <a:r>
              <a:rPr lang="en-US" altLang="zh-TW" i="1" smtClean="0">
                <a:latin typeface="Times New Roman" panose="02020603050405020304" pitchFamily="18" charset="0"/>
              </a:rPr>
              <a:t>p</a:t>
            </a:r>
            <a:r>
              <a:rPr lang="en-US" altLang="zh-TW" smtClean="0">
                <a:latin typeface="Times New Roman" panose="02020603050405020304" pitchFamily="18" charset="0"/>
              </a:rPr>
              <a:t> </a:t>
            </a:r>
            <a:r>
              <a:rPr lang="en-US" altLang="zh-TW" smtClean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TW" smtClean="0">
                <a:latin typeface="Times New Roman" panose="02020603050405020304" pitchFamily="18" charset="0"/>
              </a:rPr>
              <a:t> </a:t>
            </a:r>
            <a:r>
              <a:rPr lang="en-US" altLang="zh-TW" smtClean="0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TW" b="1" smtClean="0">
                <a:solidFill>
                  <a:srgbClr val="FF0000"/>
                </a:solidFill>
                <a:latin typeface="Times New Roman" panose="02020603050405020304" pitchFamily="18" charset="0"/>
              </a:rPr>
              <a:t>ms</a:t>
            </a:r>
          </a:p>
          <a:p>
            <a:pPr marL="2209800" lvl="4" indent="-3810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TW" sz="2400" smtClean="0">
                <a:latin typeface="Times New Roman" panose="02020603050405020304" pitchFamily="18" charset="0"/>
              </a:rPr>
              <a:t> 200 + 7</a:t>
            </a:r>
            <a:r>
              <a:rPr lang="en-US" altLang="zh-TW" sz="2400" smtClean="0">
                <a:solidFill>
                  <a:srgbClr val="FF0000"/>
                </a:solidFill>
                <a:latin typeface="Times New Roman" panose="02020603050405020304" pitchFamily="18" charset="0"/>
              </a:rPr>
              <a:t>,999,800</a:t>
            </a:r>
            <a:r>
              <a:rPr lang="en-US" altLang="zh-TW" sz="2400" smtClean="0">
                <a:latin typeface="Times New Roman" panose="02020603050405020304" pitchFamily="18" charset="0"/>
              </a:rPr>
              <a:t> </a:t>
            </a:r>
            <a:r>
              <a:rPr lang="en-US" altLang="zh-TW" smtClean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TW" sz="2400" smtClean="0">
                <a:latin typeface="Times New Roman" panose="02020603050405020304" pitchFamily="18" charset="0"/>
              </a:rPr>
              <a:t>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smtClean="0">
                <a:latin typeface="Times New Roman" panose="02020603050405020304" pitchFamily="18" charset="0"/>
              </a:rPr>
              <a:t> </a:t>
            </a:r>
            <a:r>
              <a:rPr lang="en-US" altLang="zh-TW" sz="2800" b="1" smtClean="0">
                <a:solidFill>
                  <a:schemeClr val="tx2"/>
                </a:solidFill>
                <a:latin typeface="Times New Roman" panose="02020603050405020304" pitchFamily="18" charset="0"/>
              </a:rPr>
              <a:t>ns</a:t>
            </a:r>
            <a:endParaRPr lang="en-US" altLang="zh-TW" sz="3200" smtClean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major components of page fault time (about 8 ms)</a:t>
            </a:r>
            <a:endParaRPr lang="en-US" altLang="zh-TW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1371600" lvl="2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/>
            </a:pP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serve the page-fault interrupt</a:t>
            </a:r>
          </a:p>
          <a:p>
            <a:pPr marL="1371600" lvl="2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/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read in the page (most expensive)</a:t>
            </a:r>
          </a:p>
          <a:p>
            <a:pPr marL="1371600" lvl="2" indent="-457200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AutoNum type="arabicPeriod"/>
            </a:pP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restart the process</a:t>
            </a:r>
          </a:p>
          <a:p>
            <a:pPr marL="1371600" lvl="2" indent="-457200" eaLnBrk="1" hangingPunct="1">
              <a:lnSpc>
                <a:spcPct val="90000"/>
              </a:lnSpc>
              <a:buSzPct val="75000"/>
            </a:pPr>
            <a:r>
              <a:rPr lang="en-US" altLang="zh-TW" smtClean="0">
                <a:latin typeface="Comic Sans MS" panose="030F0702030302020204" pitchFamily="66" charset="0"/>
              </a:rPr>
              <a:t>The 1</a:t>
            </a:r>
            <a:r>
              <a:rPr lang="en-US" altLang="zh-TW" baseline="30000" smtClean="0">
                <a:latin typeface="Comic Sans MS" panose="030F0702030302020204" pitchFamily="66" charset="0"/>
              </a:rPr>
              <a:t>st</a:t>
            </a:r>
            <a:r>
              <a:rPr lang="en-US" altLang="zh-TW" smtClean="0">
                <a:latin typeface="Comic Sans MS" panose="030F0702030302020204" pitchFamily="66" charset="0"/>
              </a:rPr>
              <a:t> and 3</a:t>
            </a:r>
            <a:r>
              <a:rPr lang="en-US" altLang="zh-TW" baseline="30000" smtClean="0">
                <a:latin typeface="Comic Sans MS" panose="030F0702030302020204" pitchFamily="66" charset="0"/>
              </a:rPr>
              <a:t>rd</a:t>
            </a:r>
            <a:r>
              <a:rPr lang="en-US" altLang="zh-TW" smtClean="0">
                <a:latin typeface="Comic Sans MS" panose="030F0702030302020204" pitchFamily="66" charset="0"/>
              </a:rPr>
              <a:t> can be reduced to several hundread instructions.</a:t>
            </a:r>
          </a:p>
          <a:p>
            <a:pPr marL="1371600" lvl="2" indent="-457200" eaLnBrk="1" hangingPunct="1">
              <a:lnSpc>
                <a:spcPct val="90000"/>
              </a:lnSpc>
              <a:buSzPct val="75000"/>
            </a:pPr>
            <a:r>
              <a:rPr lang="en-US" altLang="zh-TW" smtClean="0">
                <a:latin typeface="Comic Sans MS" panose="030F0702030302020204" pitchFamily="66" charset="0"/>
              </a:rPr>
              <a:t>The page switch time is close to 8ms. (latency 3ms, seek time 5ms, transfer time 0.05ms)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3D85EA-72DF-464E-9948-BBE89B82272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2C1F89B-F308-468B-94D4-EDDF4975D9A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52413"/>
            <a:ext cx="8396287" cy="773112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Performance of Demand Paging (2)</a:t>
            </a:r>
          </a:p>
        </p:txBody>
      </p:sp>
      <p:sp>
        <p:nvSpPr>
          <p:cNvPr id="2324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569325" cy="5267325"/>
          </a:xfrm>
          <a:noFill/>
        </p:spPr>
        <p:txBody>
          <a:bodyPr lIns="90488" tIns="44450" rIns="90488" bIns="44450"/>
          <a:lstStyle/>
          <a:p>
            <a:pPr marL="609600" indent="-609600" eaLnBrk="1" hangingPunct="1"/>
            <a:r>
              <a:rPr lang="en-US" altLang="zh-TW" sz="2800" smtClean="0">
                <a:latin typeface="Comic Sans MS" panose="030F0702030302020204" pitchFamily="66" charset="0"/>
              </a:rPr>
              <a:t>Directly proportional to the page-fault rate </a:t>
            </a:r>
            <a:r>
              <a:rPr lang="en-US" altLang="zh-TW" sz="2800" i="1" smtClean="0">
                <a:latin typeface="Times New Roman" panose="02020603050405020304" pitchFamily="18" charset="0"/>
              </a:rPr>
              <a:t>p</a:t>
            </a:r>
            <a:r>
              <a:rPr lang="en-US" altLang="zh-TW" sz="2800" smtClean="0">
                <a:latin typeface="Comic Sans MS" panose="030F0702030302020204" pitchFamily="66" charset="0"/>
              </a:rPr>
              <a:t>.</a:t>
            </a:r>
          </a:p>
          <a:p>
            <a:pPr marL="609600" indent="-609600" eaLnBrk="1" hangingPunct="1">
              <a:spcBef>
                <a:spcPct val="60000"/>
              </a:spcBef>
            </a:pPr>
            <a:r>
              <a:rPr lang="en-US" altLang="zh-TW" sz="2800" smtClean="0">
                <a:latin typeface="Comic Sans MS" panose="030F0702030302020204" pitchFamily="66" charset="0"/>
              </a:rPr>
              <a:t>If one access out of 1,000 causes a page fault, then</a:t>
            </a:r>
          </a:p>
          <a:p>
            <a:pPr marL="609600" indent="-609600" algn="ctr" eaLnBrk="1" hangingPunct="1"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</a:rPr>
              <a:t>         EAT = 8.2 microseconds.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</a:rPr>
              <a:t>      This is a slowdown by a factor of 40!</a:t>
            </a:r>
          </a:p>
          <a:p>
            <a:pPr marL="609600" indent="-609600" eaLnBrk="1" hangingPunct="1"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For degradation less then 10%: </a:t>
            </a:r>
          </a:p>
          <a:p>
            <a:pPr marL="990600" lvl="1" indent="-533400" algn="ctr" eaLnBrk="1" hangingPunct="1">
              <a:buFont typeface="Wingdings" panose="05000000000000000000" pitchFamily="2" charset="2"/>
              <a:buNone/>
            </a:pPr>
            <a:r>
              <a:rPr lang="en-US" altLang="zh-TW" smtClean="0"/>
              <a:t>220 &gt; 200+ </a:t>
            </a:r>
            <a:r>
              <a:rPr lang="en-US" altLang="zh-TW" sz="3200" smtClean="0">
                <a:latin typeface="Times New Roman" panose="02020603050405020304" pitchFamily="18" charset="0"/>
              </a:rPr>
              <a:t>7</a:t>
            </a:r>
            <a:r>
              <a:rPr lang="en-US" altLang="zh-TW" sz="3200" smtClean="0">
                <a:solidFill>
                  <a:srgbClr val="FF0000"/>
                </a:solidFill>
                <a:latin typeface="Times New Roman" panose="02020603050405020304" pitchFamily="18" charset="0"/>
              </a:rPr>
              <a:t>,999,800</a:t>
            </a:r>
            <a:r>
              <a:rPr lang="en-US" altLang="zh-TW" sz="3200" smtClean="0">
                <a:latin typeface="Times New Roman" panose="02020603050405020304" pitchFamily="18" charset="0"/>
              </a:rPr>
              <a:t> </a:t>
            </a:r>
            <a:r>
              <a:rPr lang="en-US" altLang="zh-TW" smtClean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TW" sz="3200" smtClean="0">
                <a:latin typeface="Times New Roman" panose="02020603050405020304" pitchFamily="18" charset="0"/>
              </a:rPr>
              <a:t> </a:t>
            </a:r>
            <a:r>
              <a:rPr lang="en-US" altLang="zh-TW" sz="3200" i="1" smtClean="0">
                <a:latin typeface="Times New Roman" panose="02020603050405020304" pitchFamily="18" charset="0"/>
              </a:rPr>
              <a:t>p</a:t>
            </a:r>
            <a:r>
              <a:rPr lang="en-US" altLang="zh-TW" sz="3200" smtClean="0">
                <a:latin typeface="Times New Roman" panose="02020603050405020304" pitchFamily="18" charset="0"/>
              </a:rPr>
              <a:t> </a:t>
            </a:r>
            <a:r>
              <a:rPr lang="en-US" altLang="zh-TW" i="1" smtClean="0">
                <a:latin typeface="Times New Roman" panose="02020603050405020304" pitchFamily="18" charset="0"/>
              </a:rPr>
              <a:t>, </a:t>
            </a:r>
          </a:p>
          <a:p>
            <a:pPr marL="990600" lvl="1" indent="-533400" algn="ctr" eaLnBrk="1" hangingPunct="1">
              <a:buFont typeface="Wingdings" panose="05000000000000000000" pitchFamily="2" charset="2"/>
              <a:buNone/>
            </a:pPr>
            <a:r>
              <a:rPr lang="en-US" altLang="zh-TW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TW" smtClean="0">
                <a:solidFill>
                  <a:srgbClr val="FF0000"/>
                </a:solidFill>
              </a:rPr>
              <a:t> &lt; 0.0000025</a:t>
            </a:r>
            <a:r>
              <a:rPr lang="en-US" altLang="zh-TW" smtClean="0"/>
              <a:t>, or </a:t>
            </a:r>
          </a:p>
          <a:p>
            <a:pPr marL="990600" lvl="1" indent="-533400" algn="ctr"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solidFill>
                  <a:srgbClr val="0000FF"/>
                </a:solidFill>
              </a:rPr>
              <a:t>one memory access  out of 399,990 to page fault.</a:t>
            </a:r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3995738" y="5822950"/>
            <a:ext cx="139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25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 10</a:t>
            </a:r>
            <a:r>
              <a:rPr lang="en-US" altLang="zh-TW" sz="2400" baseline="30000">
                <a:solidFill>
                  <a:srgbClr val="0000FF"/>
                </a:solidFill>
                <a:sym typeface="Symbol" panose="05050102010706020507" pitchFamily="18" charset="2"/>
              </a:rPr>
              <a:t>-7</a:t>
            </a:r>
            <a:endParaRPr lang="en-US" altLang="zh-TW" sz="240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2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2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27D282-5311-4E3D-BCED-2FC6DE6CF5DD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42ACAF-ABCD-41A4-A900-FBF4E562E2F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52413"/>
            <a:ext cx="8396287" cy="773112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Performance of Demand Paging (3)</a:t>
            </a:r>
          </a:p>
        </p:txBody>
      </p:sp>
      <p:sp>
        <p:nvSpPr>
          <p:cNvPr id="234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569325" cy="5122862"/>
          </a:xfrm>
          <a:noFill/>
        </p:spPr>
        <p:txBody>
          <a:bodyPr lIns="90488" tIns="44450" rIns="90488" bIns="44450"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zh-TW" sz="2400" smtClean="0">
                <a:latin typeface="Comic Sans MS" panose="030F0702030302020204" pitchFamily="66" charset="0"/>
              </a:rPr>
              <a:t>Handle and overall use of swap space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altLang="zh-TW" sz="2000" smtClean="0">
                <a:solidFill>
                  <a:srgbClr val="0000FF"/>
                </a:solidFill>
                <a:latin typeface="Comic Sans MS" panose="030F0702030302020204" pitchFamily="66" charset="0"/>
              </a:rPr>
              <a:t>Disk I/O to swap space is generally faster than that to the file system.</a:t>
            </a:r>
            <a:r>
              <a:rPr lang="en-US" altLang="zh-TW" sz="2000" smtClean="0">
                <a:latin typeface="Comic Sans MS" panose="030F0702030302020204" pitchFamily="66" charset="0"/>
              </a:rPr>
              <a:t> Because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altLang="zh-TW" sz="1800" smtClean="0">
                <a:latin typeface="Comic Sans MS" panose="030F0702030302020204" pitchFamily="66" charset="0"/>
              </a:rPr>
              <a:t>much larger blocks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altLang="zh-TW" sz="1800" smtClean="0">
                <a:latin typeface="Comic Sans MS" panose="030F0702030302020204" pitchFamily="66" charset="0"/>
              </a:rPr>
              <a:t>file lookup and indirect allocation methods are not used.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000" smtClean="0">
                <a:latin typeface="Comic Sans MS" panose="030F0702030302020204" pitchFamily="66" charset="0"/>
              </a:rPr>
              <a:t>Another option is to demand pages </a:t>
            </a: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from the file system initially but to write the pages to swap space as they are replaced.</a:t>
            </a:r>
          </a:p>
          <a:p>
            <a:pPr marL="1371600" lvl="2" indent="-4572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1800" smtClean="0">
                <a:solidFill>
                  <a:srgbClr val="0000FF"/>
                </a:solidFill>
                <a:latin typeface="Comic Sans MS" panose="030F0702030302020204" pitchFamily="66" charset="0"/>
              </a:rPr>
              <a:t>ensure that only needed pages are read from the file system.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>
                <a:latin typeface="Comic Sans MS" panose="030F0702030302020204" pitchFamily="66" charset="0"/>
              </a:rPr>
              <a:t>Demand pages are brought directly from the file system. </a:t>
            </a: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Solaris, BSD UNIX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000" smtClean="0">
                <a:latin typeface="Comic Sans MS" panose="030F0702030302020204" pitchFamily="66" charset="0"/>
              </a:rPr>
              <a:t>The file system itself serves as backing store.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000" smtClean="0">
                <a:latin typeface="Comic Sans MS" panose="030F0702030302020204" pitchFamily="66" charset="0"/>
              </a:rPr>
              <a:t>However swap space must still be used for the stack and heap.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108E30-6BDB-42CA-B7A0-9832837EAC9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C52796-FAA5-4167-8BA6-6D0893C0A74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923213" cy="67627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Page Fault Processing: Details (1)</a:t>
            </a:r>
          </a:p>
        </p:txBody>
      </p:sp>
      <p:sp>
        <p:nvSpPr>
          <p:cNvPr id="60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497887" cy="5256212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TW" sz="2800" smtClean="0"/>
              <a:t>Trap to the OS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en-US" altLang="zh-TW" sz="2800" smtClean="0"/>
              <a:t>Save the user registers and process state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en-US" altLang="zh-TW" sz="2800" smtClean="0"/>
              <a:t>Determine that the interrupt was a page fault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en-US" altLang="zh-TW" sz="2800" smtClean="0"/>
              <a:t>Check that the page reference was legal and determine the location on the disk</a:t>
            </a:r>
          </a:p>
          <a:p>
            <a:pPr marL="609600" indent="-609600" eaLnBrk="1" hangingPunct="1">
              <a:spcBef>
                <a:spcPct val="50000"/>
              </a:spcBef>
              <a:buFont typeface="Wingdings" panose="05000000000000000000" pitchFamily="2" charset="2"/>
              <a:buAutoNum type="arabicPeriod"/>
            </a:pPr>
            <a:r>
              <a:rPr lang="en-US" altLang="zh-TW" sz="2800" smtClean="0">
                <a:solidFill>
                  <a:srgbClr val="0000FF"/>
                </a:solidFill>
              </a:rPr>
              <a:t>Issue a read from the disk to a free frame: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eriod"/>
            </a:pPr>
            <a:r>
              <a:rPr lang="en-US" altLang="zh-TW" sz="2000" smtClean="0">
                <a:solidFill>
                  <a:srgbClr val="0000FF"/>
                </a:solidFill>
              </a:rPr>
              <a:t>Wait in a queue for this device until the read request is serviced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eriod"/>
            </a:pPr>
            <a:r>
              <a:rPr lang="en-US" altLang="zh-TW" sz="2000" smtClean="0">
                <a:solidFill>
                  <a:srgbClr val="0000FF"/>
                </a:solidFill>
              </a:rPr>
              <a:t>Wait for the device seek and/or latency time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eriod"/>
            </a:pPr>
            <a:r>
              <a:rPr lang="en-US" altLang="zh-TW" sz="2000" smtClean="0">
                <a:solidFill>
                  <a:srgbClr val="0000FF"/>
                </a:solidFill>
              </a:rPr>
              <a:t>Begin the transfer of the page to a free frame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BECB52-ABA7-4DC2-B11E-91AB3909520D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1A5BE71-6D26-434B-9CDA-98D493B46C8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8064500" cy="91440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Page Fault Processing: Details (2)</a:t>
            </a:r>
          </a:p>
        </p:txBody>
      </p:sp>
      <p:sp>
        <p:nvSpPr>
          <p:cNvPr id="2242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424862" cy="51847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While waiting, allocate the CPU to some other user (CPU scheduling)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Receive an interrupt from the disk I/O subsystem (I/O completed)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Save the registers and process state for the other user (if step 6 is executed)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Determine that the interrupt was from the disk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Correct the page table and other tables to show that the desired page is now in memory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Wait for the CPU to be allocated to this process again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AutoNum type="arabicPeriod" startAt="6"/>
            </a:pPr>
            <a:r>
              <a:rPr lang="en-US" altLang="zh-TW" sz="2400" smtClean="0"/>
              <a:t>Restore the user registers, process state, and new page table, and then resume the interrupted instruction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 startAt="6"/>
            </a:pP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3FD4F3-C94B-4AD1-B615-67178DA48ED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21DBA6-0F9F-497A-BC1C-0393D74661C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Process Creation</a:t>
            </a:r>
          </a:p>
        </p:txBody>
      </p:sp>
      <p:sp>
        <p:nvSpPr>
          <p:cNvPr id="2253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137525" cy="4249737"/>
          </a:xfrm>
        </p:spPr>
        <p:txBody>
          <a:bodyPr/>
          <a:lstStyle/>
          <a:p>
            <a:pPr marL="381000" indent="-381000" eaLnBrk="1" hangingPunct="1"/>
            <a:r>
              <a:rPr lang="en-US" altLang="zh-TW" smtClean="0"/>
              <a:t>Virtual memory allows other benefits during process creation:</a:t>
            </a:r>
            <a:br>
              <a:rPr lang="en-US" altLang="zh-TW" smtClean="0"/>
            </a:br>
            <a:endParaRPr lang="en-US" altLang="zh-TW" smtClean="0"/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r>
              <a:rPr lang="en-US" altLang="zh-TW" smtClean="0"/>
              <a:t>	- </a:t>
            </a:r>
            <a:r>
              <a:rPr lang="en-US" altLang="zh-TW" smtClean="0">
                <a:solidFill>
                  <a:srgbClr val="FF0000"/>
                </a:solidFill>
              </a:rPr>
              <a:t>Copy-on-Write</a:t>
            </a:r>
            <a:r>
              <a:rPr lang="en-US" altLang="zh-TW" smtClean="0"/>
              <a:t/>
            </a:r>
            <a:br>
              <a:rPr lang="en-US" altLang="zh-TW" smtClean="0"/>
            </a:br>
            <a:endParaRPr lang="en-US" altLang="zh-TW" smtClean="0"/>
          </a:p>
          <a:p>
            <a:pPr marL="381000" indent="-381000" eaLnBrk="1" hangingPunct="1">
              <a:buFont typeface="Wingdings" panose="05000000000000000000" pitchFamily="2" charset="2"/>
              <a:buNone/>
            </a:pPr>
            <a:r>
              <a:rPr lang="en-US" altLang="zh-TW" smtClean="0"/>
              <a:t>	- Memory-Mapped Files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E83069-E450-436A-AC4A-2AF4D9E48FF9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10277D-F520-4F60-A7A9-CFE8A9B9165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Copy-on-Write</a:t>
            </a:r>
          </a:p>
        </p:txBody>
      </p:sp>
      <p:sp>
        <p:nvSpPr>
          <p:cNvPr id="61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305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Copy-on-Write</a:t>
            </a:r>
            <a:r>
              <a:rPr lang="en-US" altLang="zh-TW" sz="2800" smtClean="0"/>
              <a:t> (COW) allows both parent and child processes to initially </a:t>
            </a:r>
            <a:r>
              <a:rPr lang="en-US" altLang="zh-TW" sz="2800" b="1" smtClean="0">
                <a:solidFill>
                  <a:srgbClr val="FF0000"/>
                </a:solidFill>
              </a:rPr>
              <a:t>share</a:t>
            </a:r>
            <a:r>
              <a:rPr lang="en-US" altLang="zh-TW" sz="2800" smtClean="0"/>
              <a:t> the same pages in memory.</a:t>
            </a:r>
            <a:br>
              <a:rPr lang="en-US" altLang="zh-TW" sz="2800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800" smtClean="0"/>
              <a:t>If either process modifies a shared page, only then is the page copied.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COW allows </a:t>
            </a:r>
            <a:r>
              <a:rPr lang="en-US" altLang="zh-TW" sz="2800" smtClean="0">
                <a:solidFill>
                  <a:srgbClr val="FF0000"/>
                </a:solidFill>
              </a:rPr>
              <a:t>more efficient process creation</a:t>
            </a:r>
            <a:r>
              <a:rPr lang="en-US" altLang="zh-TW" sz="2800" smtClean="0"/>
              <a:t> as only modified pages are copied.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Free pages are allocated from a </a:t>
            </a:r>
            <a:r>
              <a:rPr lang="en-US" altLang="zh-TW" sz="2800" b="1" smtClean="0">
                <a:solidFill>
                  <a:srgbClr val="FF0000"/>
                </a:solidFill>
              </a:rPr>
              <a:t>pool</a:t>
            </a:r>
            <a:r>
              <a:rPr lang="en-US" altLang="zh-TW" sz="2800" smtClean="0"/>
              <a:t> of zeroed-out pages.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284E51-3159-40B6-9A09-289BD1A700A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8307EA-042E-45D4-9461-DA267CCD42F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vfork</a:t>
            </a:r>
            <a:r>
              <a:rPr lang="en-US" altLang="zh-TW" sz="4000" smtClean="0">
                <a:latin typeface="Comic Sans MS" panose="030F0702030302020204" pitchFamily="66" charset="0"/>
              </a:rPr>
              <a:t> (): Virtual Memory Fork</a:t>
            </a:r>
          </a:p>
        </p:txBody>
      </p:sp>
      <p:sp>
        <p:nvSpPr>
          <p:cNvPr id="2263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05800" cy="52578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solidFill>
                  <a:srgbClr val="0000FF"/>
                </a:solidFill>
              </a:rPr>
              <a:t>vfork(): without COW </a:t>
            </a:r>
            <a:r>
              <a:rPr lang="en-US" altLang="zh-TW" sz="2400" smtClean="0"/>
              <a:t>capability</a:t>
            </a: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400" smtClean="0">
                <a:solidFill>
                  <a:srgbClr val="0000FF"/>
                </a:solidFill>
              </a:rPr>
              <a:t>fork(): with COW </a:t>
            </a:r>
            <a:r>
              <a:rPr lang="en-US" altLang="zh-TW" sz="2400" smtClean="0"/>
              <a:t>capability</a:t>
            </a:r>
            <a:endParaRPr lang="en-US" altLang="zh-TW" sz="280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With vfork(), the parent process is suspended, and the child process uses the address space of the parent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vfork() </a:t>
            </a:r>
            <a:r>
              <a:rPr lang="en-US" altLang="zh-TW" sz="2800" smtClean="0"/>
              <a:t>is intended to be used when the child process </a:t>
            </a:r>
            <a:r>
              <a:rPr lang="en-US" altLang="zh-TW" sz="2800" smtClean="0">
                <a:solidFill>
                  <a:srgbClr val="FF0000"/>
                </a:solidFill>
              </a:rPr>
              <a:t>calls exec() immediately after creation</a:t>
            </a:r>
            <a:r>
              <a:rPr lang="en-US" altLang="zh-TW" sz="2800" smtClean="0"/>
              <a:t>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Because no copying of pages takes place, </a:t>
            </a:r>
            <a:r>
              <a:rPr lang="en-US" altLang="zh-TW" sz="2400" smtClean="0">
                <a:solidFill>
                  <a:srgbClr val="0000FF"/>
                </a:solidFill>
              </a:rPr>
              <a:t>vfork() </a:t>
            </a:r>
            <a:r>
              <a:rPr lang="en-US" altLang="zh-TW" sz="2800" smtClean="0"/>
              <a:t>is an extremely efficient method of process creation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1B9147-02A3-4C2A-A1CD-93CA82FD50B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DE5593-1A7B-4FFE-8732-C4D482A338E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04800"/>
            <a:ext cx="8569325" cy="114300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Before Process 1 Modifies Page C</a:t>
            </a:r>
          </a:p>
        </p:txBody>
      </p:sp>
      <p:pic>
        <p:nvPicPr>
          <p:cNvPr id="25606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23741" r="781" b="23329"/>
          <a:stretch>
            <a:fillRect/>
          </a:stretch>
        </p:blipFill>
        <p:spPr>
          <a:xfrm>
            <a:off x="400050" y="2241550"/>
            <a:ext cx="8248650" cy="3524250"/>
          </a:xfr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C95CF6-FA4A-48F5-9E15-A4D14CD7003D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8BB65F-ED70-42C8-BE3E-FB55E3A4BBC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04800"/>
            <a:ext cx="8424862" cy="114300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After Modified Page C</a:t>
            </a:r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23807" r="885" b="23807"/>
          <a:stretch>
            <a:fillRect/>
          </a:stretch>
        </p:blipFill>
        <p:spPr bwMode="auto">
          <a:xfrm>
            <a:off x="395288" y="1700213"/>
            <a:ext cx="8116887" cy="3240087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3876675" y="4478338"/>
            <a:ext cx="1154113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/>
              <a:t>Copy of page C</a:t>
            </a:r>
          </a:p>
        </p:txBody>
      </p:sp>
      <p:sp>
        <p:nvSpPr>
          <p:cNvPr id="26632" name="Text Box 5"/>
          <p:cNvSpPr txBox="1">
            <a:spLocks noChangeArrowheads="1"/>
          </p:cNvSpPr>
          <p:nvPr/>
        </p:nvSpPr>
        <p:spPr bwMode="auto">
          <a:xfrm>
            <a:off x="2987675" y="3933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/>
          </a:p>
        </p:txBody>
      </p:sp>
      <p:sp>
        <p:nvSpPr>
          <p:cNvPr id="27657" name="Line 6"/>
          <p:cNvSpPr>
            <a:spLocks noChangeShapeType="1"/>
          </p:cNvSpPr>
          <p:nvPr/>
        </p:nvSpPr>
        <p:spPr bwMode="auto">
          <a:xfrm>
            <a:off x="3079750" y="4221163"/>
            <a:ext cx="7715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" name="橢圓 1"/>
          <p:cNvSpPr/>
          <p:nvPr/>
        </p:nvSpPr>
        <p:spPr bwMode="auto">
          <a:xfrm>
            <a:off x="3079750" y="4162425"/>
            <a:ext cx="771525" cy="5873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/>
      <p:bldP spid="27657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115AF9-49D7-4D79-9574-D9F73217D237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6C764D6-8649-4388-A756-CD2B21F65AF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162800" cy="738188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Page Replacement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638800"/>
          </a:xfrm>
          <a:noFill/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When a page fault occurs with no free frame</a:t>
            </a:r>
            <a:r>
              <a:rPr lang="en-US" altLang="zh-TW" sz="2800" smtClean="0">
                <a:latin typeface="Comic Sans MS" panose="030F0702030302020204" pitchFamily="66" charset="0"/>
              </a:rPr>
              <a:t> </a:t>
            </a:r>
            <a:endParaRPr lang="en-US" altLang="zh-TW" sz="2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swap out a process</a:t>
            </a:r>
            <a:r>
              <a:rPr lang="en-US" altLang="zh-TW" sz="2400" smtClean="0">
                <a:latin typeface="Comic Sans MS" panose="030F0702030302020204" pitchFamily="66" charset="0"/>
              </a:rPr>
              <a:t>, freeing all its frames, or</a:t>
            </a:r>
            <a:endParaRPr lang="en-US" altLang="zh-TW" sz="2400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r>
              <a:rPr lang="en-US" altLang="zh-TW" sz="24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page replacement</a:t>
            </a:r>
            <a:r>
              <a:rPr lang="en-US" altLang="zh-TW" sz="2400" smtClean="0">
                <a:latin typeface="Comic Sans MS" panose="030F0702030302020204" pitchFamily="66" charset="0"/>
              </a:rPr>
              <a:t>: find one not currently used and free it.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  <a:sym typeface="Wingdings" panose="05000000000000000000" pitchFamily="2" charset="2"/>
              </a:rPr>
              <a:t></a:t>
            </a:r>
            <a:r>
              <a:rPr lang="en-US" altLang="zh-TW" smtClean="0">
                <a:latin typeface="Comic Sans MS" panose="030F0702030302020204" pitchFamily="66" charset="0"/>
              </a:rPr>
              <a:t>: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two page transfers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</a:rPr>
              <a:t>Solution: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modify bit (dirty bit)</a:t>
            </a:r>
          </a:p>
          <a:p>
            <a:pPr eaLnBrk="1" hangingPunct="1"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Solve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two major problems</a:t>
            </a:r>
            <a:r>
              <a:rPr lang="en-US" altLang="zh-TW" sz="2800" smtClean="0">
                <a:latin typeface="Comic Sans MS" panose="030F0702030302020204" pitchFamily="66" charset="0"/>
              </a:rPr>
              <a:t> for demand paging</a:t>
            </a:r>
            <a:endParaRPr lang="en-US" altLang="zh-TW" sz="28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frame-allocation algorithm</a:t>
            </a:r>
            <a:r>
              <a:rPr lang="en-US" altLang="zh-TW" smtClean="0">
                <a:latin typeface="Comic Sans MS" panose="030F0702030302020204" pitchFamily="66" charset="0"/>
              </a:rPr>
              <a:t>:</a:t>
            </a:r>
          </a:p>
          <a:p>
            <a:pPr lvl="2" eaLnBrk="1" hangingPunct="1"/>
            <a:r>
              <a:rPr lang="en-US" altLang="zh-TW" sz="2800" smtClean="0">
                <a:latin typeface="Comic Sans MS" panose="030F0702030302020204" pitchFamily="66" charset="0"/>
              </a:rPr>
              <a:t>how many frames to allocate to a process</a:t>
            </a:r>
            <a:endParaRPr lang="en-US" altLang="zh-TW" sz="28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/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page-replacement algorithm</a:t>
            </a:r>
            <a:r>
              <a:rPr lang="en-US" altLang="zh-TW" smtClean="0">
                <a:latin typeface="Comic Sans MS" panose="030F0702030302020204" pitchFamily="66" charset="0"/>
              </a:rPr>
              <a:t>:</a:t>
            </a:r>
          </a:p>
          <a:p>
            <a:pPr lvl="2" eaLnBrk="1" hangingPunct="1"/>
            <a:r>
              <a:rPr lang="en-US" altLang="zh-TW" sz="2800" smtClean="0">
                <a:latin typeface="Comic Sans MS" panose="030F0702030302020204" pitchFamily="66" charset="0"/>
              </a:rPr>
              <a:t>select the frame to be replaced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C947449-9E7E-47A4-8D3F-05321BBB6C9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867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867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21FBC9-694E-4BC2-9EEC-DF9D1B2A450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Need For Page Replacement</a:t>
            </a:r>
          </a:p>
        </p:txBody>
      </p:sp>
      <p:pic>
        <p:nvPicPr>
          <p:cNvPr id="2867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" t="3044" r="1244" b="3044"/>
          <a:stretch>
            <a:fillRect/>
          </a:stretch>
        </p:blipFill>
        <p:spPr bwMode="auto">
          <a:xfrm>
            <a:off x="533400" y="908050"/>
            <a:ext cx="7924800" cy="51720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9" name="橢圓 1"/>
          <p:cNvSpPr>
            <a:spLocks noChangeArrowheads="1"/>
          </p:cNvSpPr>
          <p:nvPr/>
        </p:nvSpPr>
        <p:spPr bwMode="auto">
          <a:xfrm>
            <a:off x="1763713" y="2276475"/>
            <a:ext cx="360362" cy="360363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8680" name="橢圓 7"/>
          <p:cNvSpPr>
            <a:spLocks noChangeArrowheads="1"/>
          </p:cNvSpPr>
          <p:nvPr/>
        </p:nvSpPr>
        <p:spPr bwMode="auto">
          <a:xfrm>
            <a:off x="7667625" y="3644900"/>
            <a:ext cx="360363" cy="360363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8681" name="橢圓 8"/>
          <p:cNvSpPr>
            <a:spLocks noChangeArrowheads="1"/>
          </p:cNvSpPr>
          <p:nvPr/>
        </p:nvSpPr>
        <p:spPr bwMode="auto">
          <a:xfrm>
            <a:off x="1736725" y="4437063"/>
            <a:ext cx="358775" cy="360362"/>
          </a:xfrm>
          <a:prstGeom prst="ellipse">
            <a:avLst/>
          </a:prstGeom>
          <a:noFill/>
          <a:ln w="381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8682" name="橢圓 9"/>
          <p:cNvSpPr>
            <a:spLocks noChangeArrowheads="1"/>
          </p:cNvSpPr>
          <p:nvPr/>
        </p:nvSpPr>
        <p:spPr bwMode="auto">
          <a:xfrm>
            <a:off x="6732588" y="2276475"/>
            <a:ext cx="360362" cy="360363"/>
          </a:xfrm>
          <a:prstGeom prst="ellipse">
            <a:avLst/>
          </a:prstGeom>
          <a:noFill/>
          <a:ln w="381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189C1B-DF2E-4D5F-A9D2-BD2C3629CCE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E58F2A-D63F-4C8C-9A66-6A47C8BBFD4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Basic Page Replacement</a:t>
            </a:r>
          </a:p>
        </p:txBody>
      </p:sp>
      <p:sp>
        <p:nvSpPr>
          <p:cNvPr id="65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TW" sz="2800" smtClean="0"/>
              <a:t>Find the location of the desired page on disk.</a:t>
            </a:r>
            <a:br>
              <a:rPr lang="en-US" altLang="zh-TW" sz="2800" smtClean="0"/>
            </a:br>
            <a:endParaRPr lang="en-US" altLang="zh-TW" sz="2800" smtClean="0"/>
          </a:p>
          <a:p>
            <a:pPr marL="381000" indent="-381000" eaLnBrk="1" hangingPunct="1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TW" sz="2800" smtClean="0"/>
              <a:t>Find a free frame:</a:t>
            </a:r>
          </a:p>
          <a:p>
            <a:pPr marL="800100" lvl="1" indent="-342900" eaLnBrk="1" hangingPunct="1">
              <a:lnSpc>
                <a:spcPct val="90000"/>
              </a:lnSpc>
              <a:buFont typeface="Monotype Sorts" pitchFamily="2" charset="2"/>
              <a:buChar char="n"/>
            </a:pPr>
            <a:r>
              <a:rPr lang="en-US" altLang="zh-TW" sz="2400" smtClean="0"/>
              <a:t>If there is a free frame, use it.</a:t>
            </a:r>
            <a:br>
              <a:rPr lang="en-US" altLang="zh-TW" sz="2400" smtClean="0"/>
            </a:br>
            <a:r>
              <a:rPr lang="en-US" altLang="zh-TW" sz="2400" smtClean="0"/>
              <a:t>If there is no free frame, use a page replacement algorithm to select a </a:t>
            </a:r>
            <a:r>
              <a:rPr lang="en-US" altLang="zh-TW" sz="2400" b="1" smtClean="0">
                <a:solidFill>
                  <a:srgbClr val="FF0000"/>
                </a:solidFill>
              </a:rPr>
              <a:t>victim</a:t>
            </a:r>
            <a:r>
              <a:rPr lang="en-US" altLang="zh-TW" sz="2400" smtClean="0"/>
              <a:t> frame.</a:t>
            </a:r>
            <a:br>
              <a:rPr lang="en-US" altLang="zh-TW" sz="2400" smtClean="0"/>
            </a:br>
            <a:endParaRPr lang="en-US" altLang="zh-TW" sz="2400" smtClean="0"/>
          </a:p>
          <a:p>
            <a:pPr marL="381000" indent="-381000" eaLnBrk="1" hangingPunct="1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TW" sz="2800" smtClean="0"/>
              <a:t>Read the desired page into the (newly) free frame. Update the page and frame tables.</a:t>
            </a:r>
            <a:br>
              <a:rPr lang="en-US" altLang="zh-TW" sz="2800" smtClean="0"/>
            </a:br>
            <a:endParaRPr lang="en-US" altLang="zh-TW" sz="2800" smtClean="0"/>
          </a:p>
          <a:p>
            <a:pPr marL="381000" indent="-381000" eaLnBrk="1" hangingPunct="1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zh-TW" sz="2800" smtClean="0"/>
              <a:t>Restart the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6D053A-657E-4854-BDF0-F9B2502C817F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05C1CC-CF30-4E44-B313-B6C438606D7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4516438" y="3016250"/>
            <a:ext cx="952500" cy="4222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8750" cy="67627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>
                <a:latin typeface="Comic Sans MS" panose="030F0702030302020204" pitchFamily="66" charset="0"/>
              </a:rPr>
              <a:t>Page replacement</a:t>
            </a:r>
          </a:p>
        </p:txBody>
      </p:sp>
      <p:sp>
        <p:nvSpPr>
          <p:cNvPr id="30727" name="Rectangle 4"/>
          <p:cNvSpPr>
            <a:spLocks noChangeArrowheads="1"/>
          </p:cNvSpPr>
          <p:nvPr/>
        </p:nvSpPr>
        <p:spPr bwMode="auto">
          <a:xfrm>
            <a:off x="4495800" y="1192213"/>
            <a:ext cx="9715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4510088" y="3000375"/>
            <a:ext cx="952500" cy="43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9" name="AutoShape 6"/>
          <p:cNvSpPr>
            <a:spLocks noChangeArrowheads="1"/>
          </p:cNvSpPr>
          <p:nvPr/>
        </p:nvSpPr>
        <p:spPr bwMode="auto">
          <a:xfrm>
            <a:off x="7097713" y="1565275"/>
            <a:ext cx="1441450" cy="3536950"/>
          </a:xfrm>
          <a:prstGeom prst="can">
            <a:avLst>
              <a:gd name="adj" fmla="val 40475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0" name="Rectangle 7"/>
          <p:cNvSpPr>
            <a:spLocks noChangeArrowheads="1"/>
          </p:cNvSpPr>
          <p:nvPr/>
        </p:nvSpPr>
        <p:spPr bwMode="auto">
          <a:xfrm>
            <a:off x="7315200" y="2608263"/>
            <a:ext cx="793750" cy="265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latin typeface="Book Antiqua" panose="02040602050305030304" pitchFamily="18" charset="0"/>
            </a:endParaRP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7742238" y="3795713"/>
            <a:ext cx="757237" cy="29845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zh-TW" sz="2000" b="1">
              <a:latin typeface="Book Antiqua" panose="02040602050305030304" pitchFamily="18" charset="0"/>
            </a:endParaRPr>
          </a:p>
        </p:txBody>
      </p:sp>
      <p:sp>
        <p:nvSpPr>
          <p:cNvPr id="30732" name="Rectangle 9"/>
          <p:cNvSpPr>
            <a:spLocks noChangeArrowheads="1"/>
          </p:cNvSpPr>
          <p:nvPr/>
        </p:nvSpPr>
        <p:spPr bwMode="auto">
          <a:xfrm>
            <a:off x="950913" y="4478338"/>
            <a:ext cx="14366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540250" y="3048000"/>
            <a:ext cx="97631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victim</a:t>
            </a:r>
          </a:p>
        </p:txBody>
      </p:sp>
      <p:sp>
        <p:nvSpPr>
          <p:cNvPr id="30734" name="Rectangle 11"/>
          <p:cNvSpPr>
            <a:spLocks noChangeArrowheads="1"/>
          </p:cNvSpPr>
          <p:nvPr/>
        </p:nvSpPr>
        <p:spPr bwMode="auto">
          <a:xfrm>
            <a:off x="4156075" y="3025775"/>
            <a:ext cx="282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rPr>
              <a:t>f</a:t>
            </a:r>
          </a:p>
        </p:txBody>
      </p:sp>
      <p:sp>
        <p:nvSpPr>
          <p:cNvPr id="30735" name="Rectangle 12"/>
          <p:cNvSpPr>
            <a:spLocks noChangeArrowheads="1"/>
          </p:cNvSpPr>
          <p:nvPr/>
        </p:nvSpPr>
        <p:spPr bwMode="auto">
          <a:xfrm>
            <a:off x="4321175" y="5262563"/>
            <a:ext cx="1217613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physical</a:t>
            </a:r>
          </a:p>
          <a:p>
            <a:pPr>
              <a:lnSpc>
                <a:spcPct val="6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memory</a:t>
            </a:r>
          </a:p>
        </p:txBody>
      </p:sp>
      <p:sp>
        <p:nvSpPr>
          <p:cNvPr id="30736" name="Rectangle 13"/>
          <p:cNvSpPr>
            <a:spLocks noChangeArrowheads="1"/>
          </p:cNvSpPr>
          <p:nvPr/>
        </p:nvSpPr>
        <p:spPr bwMode="auto">
          <a:xfrm>
            <a:off x="958850" y="1970088"/>
            <a:ext cx="1298575" cy="2333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7" name="Line 14"/>
          <p:cNvSpPr>
            <a:spLocks noChangeShapeType="1"/>
          </p:cNvSpPr>
          <p:nvPr/>
        </p:nvSpPr>
        <p:spPr bwMode="auto">
          <a:xfrm>
            <a:off x="958850" y="2335213"/>
            <a:ext cx="1298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8" name="Line 15"/>
          <p:cNvSpPr>
            <a:spLocks noChangeShapeType="1"/>
          </p:cNvSpPr>
          <p:nvPr/>
        </p:nvSpPr>
        <p:spPr bwMode="auto">
          <a:xfrm>
            <a:off x="968375" y="3522663"/>
            <a:ext cx="1289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9" name="Line 16"/>
          <p:cNvSpPr>
            <a:spLocks noChangeShapeType="1"/>
          </p:cNvSpPr>
          <p:nvPr/>
        </p:nvSpPr>
        <p:spPr bwMode="auto">
          <a:xfrm>
            <a:off x="958850" y="3913188"/>
            <a:ext cx="1298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996950" y="3570288"/>
            <a:ext cx="6953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0-&gt;f</a:t>
            </a:r>
          </a:p>
        </p:txBody>
      </p:sp>
      <p:sp>
        <p:nvSpPr>
          <p:cNvPr id="30741" name="Line 18"/>
          <p:cNvSpPr>
            <a:spLocks noChangeShapeType="1"/>
          </p:cNvSpPr>
          <p:nvPr/>
        </p:nvSpPr>
        <p:spPr bwMode="auto">
          <a:xfrm>
            <a:off x="1598613" y="1978025"/>
            <a:ext cx="0" cy="2322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1628775" y="3554413"/>
            <a:ext cx="6445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i-&gt;v</a:t>
            </a:r>
          </a:p>
        </p:txBody>
      </p:sp>
      <p:sp>
        <p:nvSpPr>
          <p:cNvPr id="30743" name="Freeform 20"/>
          <p:cNvSpPr>
            <a:spLocks/>
          </p:cNvSpPr>
          <p:nvPr/>
        </p:nvSpPr>
        <p:spPr bwMode="auto">
          <a:xfrm>
            <a:off x="6000750" y="2862263"/>
            <a:ext cx="1255713" cy="274637"/>
          </a:xfrm>
          <a:custGeom>
            <a:avLst/>
            <a:gdLst>
              <a:gd name="T0" fmla="*/ 0 w 791"/>
              <a:gd name="T1" fmla="*/ 2147483647 h 173"/>
              <a:gd name="T2" fmla="*/ 2147483647 w 791"/>
              <a:gd name="T3" fmla="*/ 2147483647 h 173"/>
              <a:gd name="T4" fmla="*/ 2147483647 w 791"/>
              <a:gd name="T5" fmla="*/ 2147483647 h 173"/>
              <a:gd name="T6" fmla="*/ 2147483647 w 791"/>
              <a:gd name="T7" fmla="*/ 2147483647 h 173"/>
              <a:gd name="T8" fmla="*/ 2147483647 w 791"/>
              <a:gd name="T9" fmla="*/ 2147483647 h 173"/>
              <a:gd name="T10" fmla="*/ 2147483647 w 791"/>
              <a:gd name="T11" fmla="*/ 0 h 17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91"/>
              <a:gd name="T19" fmla="*/ 0 h 173"/>
              <a:gd name="T20" fmla="*/ 791 w 791"/>
              <a:gd name="T21" fmla="*/ 173 h 17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91" h="173">
                <a:moveTo>
                  <a:pt x="0" y="173"/>
                </a:moveTo>
                <a:cubicBezTo>
                  <a:pt x="85" y="152"/>
                  <a:pt x="168" y="144"/>
                  <a:pt x="255" y="137"/>
                </a:cubicBezTo>
                <a:cubicBezTo>
                  <a:pt x="317" y="127"/>
                  <a:pt x="373" y="116"/>
                  <a:pt x="436" y="109"/>
                </a:cubicBezTo>
                <a:cubicBezTo>
                  <a:pt x="478" y="99"/>
                  <a:pt x="524" y="99"/>
                  <a:pt x="564" y="82"/>
                </a:cubicBezTo>
                <a:cubicBezTo>
                  <a:pt x="594" y="70"/>
                  <a:pt x="618" y="46"/>
                  <a:pt x="645" y="28"/>
                </a:cubicBezTo>
                <a:cubicBezTo>
                  <a:pt x="674" y="8"/>
                  <a:pt x="760" y="0"/>
                  <a:pt x="791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4" name="Freeform 21"/>
          <p:cNvSpPr>
            <a:spLocks/>
          </p:cNvSpPr>
          <p:nvPr/>
        </p:nvSpPr>
        <p:spPr bwMode="auto">
          <a:xfrm>
            <a:off x="5986463" y="3411538"/>
            <a:ext cx="1789112" cy="635000"/>
          </a:xfrm>
          <a:custGeom>
            <a:avLst/>
            <a:gdLst>
              <a:gd name="T0" fmla="*/ 2147483647 w 1127"/>
              <a:gd name="T1" fmla="*/ 2147483647 h 400"/>
              <a:gd name="T2" fmla="*/ 2147483647 w 1127"/>
              <a:gd name="T3" fmla="*/ 2147483647 h 400"/>
              <a:gd name="T4" fmla="*/ 2147483647 w 1127"/>
              <a:gd name="T5" fmla="*/ 2147483647 h 400"/>
              <a:gd name="T6" fmla="*/ 2147483647 w 1127"/>
              <a:gd name="T7" fmla="*/ 2147483647 h 400"/>
              <a:gd name="T8" fmla="*/ 2147483647 w 1127"/>
              <a:gd name="T9" fmla="*/ 2147483647 h 400"/>
              <a:gd name="T10" fmla="*/ 2147483647 w 1127"/>
              <a:gd name="T11" fmla="*/ 2147483647 h 400"/>
              <a:gd name="T12" fmla="*/ 0 w 1127"/>
              <a:gd name="T13" fmla="*/ 0 h 4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7"/>
              <a:gd name="T22" fmla="*/ 0 h 400"/>
              <a:gd name="T23" fmla="*/ 1127 w 1127"/>
              <a:gd name="T24" fmla="*/ 400 h 4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7" h="400">
                <a:moveTo>
                  <a:pt x="1127" y="364"/>
                </a:moveTo>
                <a:cubicBezTo>
                  <a:pt x="1019" y="400"/>
                  <a:pt x="801" y="348"/>
                  <a:pt x="673" y="327"/>
                </a:cubicBezTo>
                <a:cubicBezTo>
                  <a:pt x="635" y="303"/>
                  <a:pt x="595" y="302"/>
                  <a:pt x="554" y="282"/>
                </a:cubicBezTo>
                <a:cubicBezTo>
                  <a:pt x="507" y="233"/>
                  <a:pt x="458" y="224"/>
                  <a:pt x="400" y="191"/>
                </a:cubicBezTo>
                <a:cubicBezTo>
                  <a:pt x="377" y="178"/>
                  <a:pt x="359" y="157"/>
                  <a:pt x="336" y="145"/>
                </a:cubicBezTo>
                <a:cubicBezTo>
                  <a:pt x="280" y="117"/>
                  <a:pt x="224" y="84"/>
                  <a:pt x="164" y="64"/>
                </a:cubicBezTo>
                <a:cubicBezTo>
                  <a:pt x="113" y="29"/>
                  <a:pt x="54" y="27"/>
                  <a:pt x="0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5" name="Oval 22"/>
          <p:cNvSpPr>
            <a:spLocks noChangeArrowheads="1"/>
          </p:cNvSpPr>
          <p:nvPr/>
        </p:nvSpPr>
        <p:spPr bwMode="auto">
          <a:xfrm>
            <a:off x="2482850" y="2427288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0746" name="Oval 23"/>
          <p:cNvSpPr>
            <a:spLocks noChangeArrowheads="1"/>
          </p:cNvSpPr>
          <p:nvPr/>
        </p:nvSpPr>
        <p:spPr bwMode="auto">
          <a:xfrm>
            <a:off x="6281738" y="2451100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0747" name="Oval 24"/>
          <p:cNvSpPr>
            <a:spLocks noChangeArrowheads="1"/>
          </p:cNvSpPr>
          <p:nvPr/>
        </p:nvSpPr>
        <p:spPr bwMode="auto">
          <a:xfrm>
            <a:off x="6276975" y="3903663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0748" name="Oval 25"/>
          <p:cNvSpPr>
            <a:spLocks noChangeArrowheads="1"/>
          </p:cNvSpPr>
          <p:nvPr/>
        </p:nvSpPr>
        <p:spPr bwMode="auto">
          <a:xfrm>
            <a:off x="2446338" y="3503613"/>
            <a:ext cx="476250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886075" y="2062163"/>
            <a:ext cx="14160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change to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  invalid</a:t>
            </a:r>
          </a:p>
        </p:txBody>
      </p:sp>
      <p:sp>
        <p:nvSpPr>
          <p:cNvPr id="14363" name="Rectangle 27"/>
          <p:cNvSpPr>
            <a:spLocks noChangeArrowheads="1"/>
          </p:cNvSpPr>
          <p:nvPr/>
        </p:nvSpPr>
        <p:spPr bwMode="auto">
          <a:xfrm>
            <a:off x="2862263" y="3973513"/>
            <a:ext cx="1471612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reset page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  table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5942013" y="1809750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panose="02020603050405020304" pitchFamily="18" charset="0"/>
              </a:rPr>
              <a:t>swap out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5992813" y="4435475"/>
            <a:ext cx="1009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swap in</a:t>
            </a:r>
          </a:p>
        </p:txBody>
      </p:sp>
      <p:sp>
        <p:nvSpPr>
          <p:cNvPr id="14366" name="Rectangle 30"/>
          <p:cNvSpPr>
            <a:spLocks noChangeArrowheads="1"/>
          </p:cNvSpPr>
          <p:nvPr/>
        </p:nvSpPr>
        <p:spPr bwMode="auto">
          <a:xfrm>
            <a:off x="7304088" y="2609850"/>
            <a:ext cx="793750" cy="265113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solidFill>
                <a:srgbClr val="0000FF"/>
              </a:solidFill>
            </a:endParaRPr>
          </a:p>
        </p:txBody>
      </p:sp>
      <p:sp>
        <p:nvSpPr>
          <p:cNvPr id="30754" name="Line 31"/>
          <p:cNvSpPr>
            <a:spLocks noChangeShapeType="1"/>
          </p:cNvSpPr>
          <p:nvPr/>
        </p:nvSpPr>
        <p:spPr bwMode="auto">
          <a:xfrm>
            <a:off x="962025" y="2530475"/>
            <a:ext cx="1289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5" name="Line 32"/>
          <p:cNvSpPr>
            <a:spLocks noChangeShapeType="1"/>
          </p:cNvSpPr>
          <p:nvPr/>
        </p:nvSpPr>
        <p:spPr bwMode="auto">
          <a:xfrm>
            <a:off x="952500" y="2921000"/>
            <a:ext cx="1298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6" name="Rectangle 33"/>
          <p:cNvSpPr>
            <a:spLocks noChangeArrowheads="1"/>
          </p:cNvSpPr>
          <p:nvPr/>
        </p:nvSpPr>
        <p:spPr bwMode="auto">
          <a:xfrm>
            <a:off x="1027113" y="2543175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rPr>
              <a:t>f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-&gt;0</a:t>
            </a:r>
          </a:p>
        </p:txBody>
      </p:sp>
      <p:sp>
        <p:nvSpPr>
          <p:cNvPr id="14370" name="Rectangle 34"/>
          <p:cNvSpPr>
            <a:spLocks noChangeArrowheads="1"/>
          </p:cNvSpPr>
          <p:nvPr/>
        </p:nvSpPr>
        <p:spPr bwMode="auto">
          <a:xfrm>
            <a:off x="1622425" y="2508250"/>
            <a:ext cx="6445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v-&gt;i</a:t>
            </a:r>
          </a:p>
        </p:txBody>
      </p:sp>
      <p:sp>
        <p:nvSpPr>
          <p:cNvPr id="30758" name="文字方塊 1"/>
          <p:cNvSpPr txBox="1">
            <a:spLocks noChangeArrowheads="1"/>
          </p:cNvSpPr>
          <p:nvPr/>
        </p:nvSpPr>
        <p:spPr bwMode="auto">
          <a:xfrm>
            <a:off x="962025" y="1631950"/>
            <a:ext cx="708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frame</a:t>
            </a:r>
            <a:endParaRPr lang="zh-TW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4" grpId="0" animBg="1"/>
      <p:bldP spid="14362" grpId="0"/>
      <p:bldP spid="14363" grpId="0"/>
      <p:bldP spid="14364" grpId="0"/>
      <p:bldP spid="14365" grpId="0"/>
      <p:bldP spid="14366" grpId="0" animBg="1"/>
      <p:bldP spid="1437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8A880D-DC46-467F-A5BB-60D6817D8C95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D1F1B8-68C4-4576-95AE-3A18FFA0570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88265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0000FF"/>
                </a:solidFill>
                <a:latin typeface="Comic Sans MS" panose="030F0702030302020204" pitchFamily="66" charset="0"/>
              </a:rPr>
              <a:t>Page Replacement Algorithms</a:t>
            </a:r>
          </a:p>
        </p:txBody>
      </p:sp>
      <p:sp>
        <p:nvSpPr>
          <p:cNvPr id="1689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496300" cy="4418012"/>
          </a:xfrm>
        </p:spPr>
        <p:txBody>
          <a:bodyPr/>
          <a:lstStyle/>
          <a:p>
            <a:pPr eaLnBrk="1" hangingPunct="1">
              <a:tabLst>
                <a:tab pos="3146425" algn="ctr"/>
              </a:tabLst>
            </a:pPr>
            <a:r>
              <a:rPr lang="en-US" altLang="zh-TW" smtClean="0">
                <a:solidFill>
                  <a:srgbClr val="0000FF"/>
                </a:solidFill>
              </a:rPr>
              <a:t>Goal</a:t>
            </a:r>
            <a:r>
              <a:rPr lang="en-US" altLang="zh-TW" smtClean="0"/>
              <a:t>: </a:t>
            </a:r>
            <a:r>
              <a:rPr lang="en-US" altLang="zh-TW" smtClean="0">
                <a:solidFill>
                  <a:srgbClr val="FF0000"/>
                </a:solidFill>
              </a:rPr>
              <a:t>lowest page-fault rate</a:t>
            </a:r>
          </a:p>
          <a:p>
            <a:pPr eaLnBrk="1" hangingPunct="1">
              <a:spcBef>
                <a:spcPct val="60000"/>
              </a:spcBef>
              <a:tabLst>
                <a:tab pos="3146425" algn="ctr"/>
              </a:tabLst>
            </a:pPr>
            <a:r>
              <a:rPr lang="en-US" altLang="zh-TW" smtClean="0">
                <a:solidFill>
                  <a:srgbClr val="0000FF"/>
                </a:solidFill>
              </a:rPr>
              <a:t>Evaluate</a:t>
            </a:r>
            <a:r>
              <a:rPr lang="en-US" altLang="zh-TW" smtClean="0"/>
              <a:t> algorithm by running it on a particular string of memory references (</a:t>
            </a:r>
            <a:r>
              <a:rPr lang="en-US" altLang="zh-TW" smtClean="0">
                <a:solidFill>
                  <a:srgbClr val="FF0000"/>
                </a:solidFill>
              </a:rPr>
              <a:t>reference string</a:t>
            </a:r>
            <a:r>
              <a:rPr lang="en-US" altLang="zh-TW" smtClean="0"/>
              <a:t>) and computing the number of page faults on that string</a:t>
            </a:r>
          </a:p>
          <a:p>
            <a:pPr eaLnBrk="1" hangingPunct="1">
              <a:spcBef>
                <a:spcPct val="60000"/>
              </a:spcBef>
              <a:tabLst>
                <a:tab pos="3146425" algn="ctr"/>
              </a:tabLst>
            </a:pPr>
            <a:r>
              <a:rPr lang="en-US" altLang="zh-TW" smtClean="0"/>
              <a:t>In all our examples, the reference string is  </a:t>
            </a:r>
            <a:r>
              <a:rPr lang="en-US" altLang="zh-TW" b="1" smtClean="0">
                <a:solidFill>
                  <a:srgbClr val="FF0000"/>
                </a:solidFill>
              </a:rPr>
              <a:t>1, 2, 3, 4, 1, 2, 5, 1, 2, 3, 4, 5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27A386-083D-422B-88A3-AC35A68A932D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3578B8-AD20-44DD-8FF1-D3B0AB6B966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50288" cy="719138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200" b="1" smtClean="0">
                <a:solidFill>
                  <a:srgbClr val="0000FF"/>
                </a:solidFill>
              </a:rPr>
              <a:t># of</a:t>
            </a:r>
            <a:r>
              <a:rPr lang="en-US" altLang="zh-TW" sz="3200" b="1" smtClean="0"/>
              <a:t> </a:t>
            </a:r>
            <a:r>
              <a:rPr lang="en-US" altLang="zh-TW" sz="3200" b="1" smtClean="0">
                <a:solidFill>
                  <a:srgbClr val="0000FF"/>
                </a:solidFill>
              </a:rPr>
              <a:t>Page Faults</a:t>
            </a:r>
            <a:r>
              <a:rPr lang="en-US" altLang="zh-TW" sz="3200" b="1" smtClean="0"/>
              <a:t> VS. # of Frames</a:t>
            </a:r>
            <a:endParaRPr lang="en-US" altLang="zh-TW" sz="3200" smtClean="0"/>
          </a:p>
        </p:txBody>
      </p:sp>
      <p:sp>
        <p:nvSpPr>
          <p:cNvPr id="3277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501063" cy="1069975"/>
          </a:xfrm>
          <a:noFill/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mtClean="0">
                <a:latin typeface="Comic Sans MS" panose="030F0702030302020204" pitchFamily="66" charset="0"/>
              </a:rPr>
              <a:t>Expected curve</a:t>
            </a:r>
          </a:p>
        </p:txBody>
      </p:sp>
      <p:sp>
        <p:nvSpPr>
          <p:cNvPr id="32775" name="Rectangle 4"/>
          <p:cNvSpPr>
            <a:spLocks noChangeArrowheads="1"/>
          </p:cNvSpPr>
          <p:nvPr/>
        </p:nvSpPr>
        <p:spPr bwMode="auto">
          <a:xfrm>
            <a:off x="2398713" y="2943225"/>
            <a:ext cx="5254625" cy="25479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6" name="Arc 5"/>
          <p:cNvSpPr>
            <a:spLocks/>
          </p:cNvSpPr>
          <p:nvPr/>
        </p:nvSpPr>
        <p:spPr bwMode="auto">
          <a:xfrm>
            <a:off x="3092450" y="3567113"/>
            <a:ext cx="4227513" cy="1460500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510" y="21599"/>
                </a:moveTo>
                <a:cubicBezTo>
                  <a:pt x="9615" y="21550"/>
                  <a:pt x="0" y="11894"/>
                  <a:pt x="0" y="0"/>
                </a:cubicBezTo>
              </a:path>
              <a:path w="21600" h="21600" stroke="0" extrusionOk="0">
                <a:moveTo>
                  <a:pt x="21510" y="21599"/>
                </a:moveTo>
                <a:cubicBezTo>
                  <a:pt x="9615" y="21550"/>
                  <a:pt x="0" y="11894"/>
                  <a:pt x="0" y="0"/>
                </a:cubicBezTo>
                <a:lnTo>
                  <a:pt x="21600" y="0"/>
                </a:lnTo>
                <a:lnTo>
                  <a:pt x="21510" y="21599"/>
                </a:lnTo>
                <a:close/>
              </a:path>
            </a:pathLst>
          </a:custGeom>
          <a:noFill/>
          <a:ln w="25400" cap="rnd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77" name="Rectangle 6"/>
          <p:cNvSpPr>
            <a:spLocks noChangeArrowheads="1"/>
          </p:cNvSpPr>
          <p:nvPr/>
        </p:nvSpPr>
        <p:spPr bwMode="auto">
          <a:xfrm>
            <a:off x="3552825" y="5718175"/>
            <a:ext cx="22542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number of frames</a:t>
            </a:r>
          </a:p>
        </p:txBody>
      </p:sp>
      <p:sp>
        <p:nvSpPr>
          <p:cNvPr id="32778" name="Text Box 7"/>
          <p:cNvSpPr txBox="1">
            <a:spLocks noChangeArrowheads="1"/>
          </p:cNvSpPr>
          <p:nvPr/>
        </p:nvSpPr>
        <p:spPr bwMode="auto">
          <a:xfrm>
            <a:off x="769938" y="3325813"/>
            <a:ext cx="1460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# of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page faults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B52E62-4C16-4CFE-8BA4-7E6A93EFD82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1C2D5A-3EAC-40F9-9E00-E1D07EBC7BD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1638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8"/>
            <a:ext cx="8353425" cy="6135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Page Replacement Algorithms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FIFO algorithm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Optimal algorithm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LRU algorithm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LRU approximation algorithms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additional-reference-bits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second-chance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enhanced second-chance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Counting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LFU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MFU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Page buffering algorithm</a:t>
            </a:r>
            <a:endParaRPr lang="en-US" altLang="zh-TW" sz="28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324999-D1CB-40A5-9D3F-15AD6DEF932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DB46EE-B135-4525-B788-22132C894F8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1741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5788" y="642938"/>
            <a:ext cx="7720012" cy="3221037"/>
          </a:xfrm>
          <a:noFill/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latin typeface="Comic Sans MS" panose="030F0702030302020204" pitchFamily="66" charset="0"/>
              </a:rPr>
              <a:t>Simplest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latin typeface="Comic Sans MS" panose="030F0702030302020204" pitchFamily="66" charset="0"/>
              </a:rPr>
              <a:t>Performance is not always good</a:t>
            </a:r>
          </a:p>
          <a:p>
            <a:pPr lvl="1" eaLnBrk="1" hangingPunct="1"/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Page out</a:t>
            </a:r>
            <a:r>
              <a:rPr lang="en-US" altLang="zh-TW" sz="2400" smtClean="0">
                <a:latin typeface="Comic Sans MS" panose="030F0702030302020204" pitchFamily="66" charset="0"/>
              </a:rPr>
              <a:t> a sequence of </a:t>
            </a: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active pages</a:t>
            </a:r>
            <a:r>
              <a:rPr lang="en-US" altLang="zh-TW" sz="2400" smtClean="0">
                <a:latin typeface="Comic Sans MS" panose="030F0702030302020204" pitchFamily="66" charset="0"/>
              </a:rPr>
              <a:t> </a:t>
            </a:r>
          </a:p>
          <a:p>
            <a:pPr lvl="2" algn="ctr"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latin typeface="Comic Sans MS" panose="030F0702030302020204" pitchFamily="66" charset="0"/>
              </a:rPr>
              <a:t>1,  </a:t>
            </a:r>
            <a:r>
              <a:rPr lang="en-US" altLang="zh-TW" sz="2000" u="sng" smtClean="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lang="en-US" altLang="zh-TW" sz="2000" u="sng" smtClean="0">
                <a:latin typeface="Comic Sans MS" panose="030F0702030302020204" pitchFamily="66" charset="0"/>
              </a:rPr>
              <a:t>, </a:t>
            </a:r>
            <a:r>
              <a:rPr lang="en-US" altLang="zh-TW" sz="2000" u="sng" smtClean="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  <a:r>
              <a:rPr lang="en-US" altLang="zh-TW" sz="2000" u="sng" smtClean="0">
                <a:latin typeface="Comic Sans MS" panose="030F0702030302020204" pitchFamily="66" charset="0"/>
              </a:rPr>
              <a:t>, </a:t>
            </a:r>
            <a:r>
              <a:rPr lang="en-US" altLang="zh-TW" sz="2000" u="sng" smtClean="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  <a:r>
              <a:rPr lang="en-US" altLang="zh-TW" sz="2000" smtClean="0">
                <a:latin typeface="Comic Sans MS" panose="030F0702030302020204" pitchFamily="66" charset="0"/>
              </a:rPr>
              <a:t>, 1, 2, </a:t>
            </a:r>
            <a:r>
              <a:rPr lang="en-US" altLang="zh-TW" sz="2000" u="sng" smtClean="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  <a:r>
              <a:rPr lang="en-US" altLang="zh-TW" sz="2000" smtClean="0">
                <a:latin typeface="Comic Sans MS" panose="030F0702030302020204" pitchFamily="66" charset="0"/>
              </a:rPr>
              <a:t>, </a:t>
            </a: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  <a:r>
              <a:rPr lang="en-US" altLang="zh-TW" sz="2000" smtClean="0">
                <a:latin typeface="Comic Sans MS" panose="030F0702030302020204" pitchFamily="66" charset="0"/>
              </a:rPr>
              <a:t>, </a:t>
            </a: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2, 3, 4, 5</a:t>
            </a:r>
          </a:p>
          <a:p>
            <a:pPr lvl="1" eaLnBrk="1" hangingPunct="1"/>
            <a:r>
              <a:rPr lang="en-US" altLang="zh-TW" sz="2400" i="1" smtClean="0">
                <a:solidFill>
                  <a:srgbClr val="FF0000"/>
                </a:solidFill>
                <a:latin typeface="Comic Sans MS" panose="030F0702030302020204" pitchFamily="66" charset="0"/>
              </a:rPr>
              <a:t>Belady’s anomaly</a:t>
            </a:r>
            <a:endParaRPr lang="en-US" altLang="zh-TW" sz="2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</a:rPr>
              <a:t>   	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allocated frames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   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page-fault rate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title"/>
          </p:nvPr>
        </p:nvSpPr>
        <p:spPr>
          <a:xfrm>
            <a:off x="531813" y="0"/>
            <a:ext cx="7143750" cy="75565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The FIFO Algorithm</a:t>
            </a:r>
          </a:p>
        </p:txBody>
      </p:sp>
      <p:sp>
        <p:nvSpPr>
          <p:cNvPr id="34823" name="Line 4"/>
          <p:cNvSpPr>
            <a:spLocks noChangeShapeType="1"/>
          </p:cNvSpPr>
          <p:nvPr/>
        </p:nvSpPr>
        <p:spPr bwMode="auto">
          <a:xfrm>
            <a:off x="2024063" y="5767388"/>
            <a:ext cx="5172075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24" name="Line 5"/>
          <p:cNvSpPr>
            <a:spLocks noChangeShapeType="1"/>
          </p:cNvSpPr>
          <p:nvPr/>
        </p:nvSpPr>
        <p:spPr bwMode="auto">
          <a:xfrm flipH="1" flipV="1">
            <a:off x="2041525" y="3884613"/>
            <a:ext cx="0" cy="1882775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25" name="Rectangle 6"/>
          <p:cNvSpPr>
            <a:spLocks noChangeArrowheads="1"/>
          </p:cNvSpPr>
          <p:nvPr/>
        </p:nvSpPr>
        <p:spPr bwMode="auto">
          <a:xfrm>
            <a:off x="2225675" y="5764213"/>
            <a:ext cx="36734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1      2      </a:t>
            </a:r>
            <a:r>
              <a:rPr lang="en-US" altLang="zh-TW" sz="2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TW" sz="2000" b="1">
                <a:latin typeface="Times New Roman" panose="02020603050405020304" pitchFamily="18" charset="0"/>
              </a:rPr>
              <a:t>     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sz="2000" b="1">
                <a:latin typeface="Times New Roman" panose="02020603050405020304" pitchFamily="18" charset="0"/>
              </a:rPr>
              <a:t>     5        6        7</a:t>
            </a:r>
          </a:p>
        </p:txBody>
      </p:sp>
      <p:sp>
        <p:nvSpPr>
          <p:cNvPr id="34826" name="Oval 7"/>
          <p:cNvSpPr>
            <a:spLocks noChangeArrowheads="1"/>
          </p:cNvSpPr>
          <p:nvPr/>
        </p:nvSpPr>
        <p:spPr bwMode="auto">
          <a:xfrm>
            <a:off x="2305050" y="4516438"/>
            <a:ext cx="211138" cy="1539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27" name="Oval 8"/>
          <p:cNvSpPr>
            <a:spLocks noChangeArrowheads="1"/>
          </p:cNvSpPr>
          <p:nvPr/>
        </p:nvSpPr>
        <p:spPr bwMode="auto">
          <a:xfrm>
            <a:off x="2832100" y="4508500"/>
            <a:ext cx="211138" cy="155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28" name="Oval 9"/>
          <p:cNvSpPr>
            <a:spLocks noChangeArrowheads="1"/>
          </p:cNvSpPr>
          <p:nvPr/>
        </p:nvSpPr>
        <p:spPr bwMode="auto">
          <a:xfrm>
            <a:off x="3411538" y="4979988"/>
            <a:ext cx="212725" cy="155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29" name="Oval 10"/>
          <p:cNvSpPr>
            <a:spLocks noChangeArrowheads="1"/>
          </p:cNvSpPr>
          <p:nvPr/>
        </p:nvSpPr>
        <p:spPr bwMode="auto">
          <a:xfrm>
            <a:off x="3946525" y="4703763"/>
            <a:ext cx="211138" cy="155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30" name="Oval 11"/>
          <p:cNvSpPr>
            <a:spLocks noChangeArrowheads="1"/>
          </p:cNvSpPr>
          <p:nvPr/>
        </p:nvSpPr>
        <p:spPr bwMode="auto">
          <a:xfrm>
            <a:off x="4330700" y="5240338"/>
            <a:ext cx="212725" cy="1539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31" name="Oval 12"/>
          <p:cNvSpPr>
            <a:spLocks noChangeArrowheads="1"/>
          </p:cNvSpPr>
          <p:nvPr/>
        </p:nvSpPr>
        <p:spPr bwMode="auto">
          <a:xfrm>
            <a:off x="4929188" y="5253038"/>
            <a:ext cx="212725" cy="155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32" name="Line 13"/>
          <p:cNvSpPr>
            <a:spLocks noChangeShapeType="1"/>
          </p:cNvSpPr>
          <p:nvPr/>
        </p:nvSpPr>
        <p:spPr bwMode="auto">
          <a:xfrm flipV="1">
            <a:off x="2487613" y="4583113"/>
            <a:ext cx="369887" cy="79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33" name="Line 14"/>
          <p:cNvSpPr>
            <a:spLocks noChangeShapeType="1"/>
          </p:cNvSpPr>
          <p:nvPr/>
        </p:nvSpPr>
        <p:spPr bwMode="auto">
          <a:xfrm>
            <a:off x="3000375" y="4643438"/>
            <a:ext cx="493713" cy="352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V="1">
            <a:off x="3589338" y="4837113"/>
            <a:ext cx="412750" cy="193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35" name="Line 16"/>
          <p:cNvSpPr>
            <a:spLocks noChangeShapeType="1"/>
          </p:cNvSpPr>
          <p:nvPr/>
        </p:nvSpPr>
        <p:spPr bwMode="auto">
          <a:xfrm>
            <a:off x="4095750" y="4867275"/>
            <a:ext cx="282575" cy="3952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36" name="Line 17"/>
          <p:cNvSpPr>
            <a:spLocks noChangeShapeType="1"/>
          </p:cNvSpPr>
          <p:nvPr/>
        </p:nvSpPr>
        <p:spPr bwMode="auto">
          <a:xfrm>
            <a:off x="4548188" y="5334000"/>
            <a:ext cx="42703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37" name="Rectangle 18"/>
          <p:cNvSpPr>
            <a:spLocks noChangeArrowheads="1"/>
          </p:cNvSpPr>
          <p:nvPr/>
        </p:nvSpPr>
        <p:spPr bwMode="auto">
          <a:xfrm>
            <a:off x="2235200" y="4257675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4838" name="Rectangle 19"/>
          <p:cNvSpPr>
            <a:spLocks noChangeArrowheads="1"/>
          </p:cNvSpPr>
          <p:nvPr/>
        </p:nvSpPr>
        <p:spPr bwMode="auto">
          <a:xfrm>
            <a:off x="2740025" y="4252913"/>
            <a:ext cx="434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4067175" y="429260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7429" name="Rectangle 21"/>
          <p:cNvSpPr>
            <a:spLocks noChangeArrowheads="1"/>
          </p:cNvSpPr>
          <p:nvPr/>
        </p:nvSpPr>
        <p:spPr bwMode="auto">
          <a:xfrm>
            <a:off x="3209925" y="51847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41" name="Rectangle 22"/>
          <p:cNvSpPr>
            <a:spLocks noChangeArrowheads="1"/>
          </p:cNvSpPr>
          <p:nvPr/>
        </p:nvSpPr>
        <p:spPr bwMode="auto">
          <a:xfrm>
            <a:off x="4267200" y="5387975"/>
            <a:ext cx="157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6        6        6</a:t>
            </a:r>
          </a:p>
        </p:txBody>
      </p:sp>
      <p:sp>
        <p:nvSpPr>
          <p:cNvPr id="34842" name="Oval 23"/>
          <p:cNvSpPr>
            <a:spLocks noChangeArrowheads="1"/>
          </p:cNvSpPr>
          <p:nvPr/>
        </p:nvSpPr>
        <p:spPr bwMode="auto">
          <a:xfrm>
            <a:off x="5575300" y="5264150"/>
            <a:ext cx="212725" cy="1555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4843" name="Line 24"/>
          <p:cNvSpPr>
            <a:spLocks noChangeShapeType="1"/>
          </p:cNvSpPr>
          <p:nvPr/>
        </p:nvSpPr>
        <p:spPr bwMode="auto">
          <a:xfrm>
            <a:off x="5194300" y="5345113"/>
            <a:ext cx="427038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44" name="Oval 25"/>
          <p:cNvSpPr>
            <a:spLocks noChangeArrowheads="1"/>
          </p:cNvSpPr>
          <p:nvPr/>
        </p:nvSpPr>
        <p:spPr bwMode="auto">
          <a:xfrm>
            <a:off x="3298825" y="4479925"/>
            <a:ext cx="969963" cy="811213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4427538" y="2636838"/>
            <a:ext cx="1033462" cy="36512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</a:rPr>
              <a:t>2</a:t>
            </a:r>
            <a:r>
              <a:rPr lang="en-US" altLang="zh-TW" sz="1600"/>
              <a:t>, </a:t>
            </a:r>
            <a:r>
              <a:rPr lang="en-US" altLang="zh-TW" sz="1600">
                <a:solidFill>
                  <a:srgbClr val="000000"/>
                </a:solidFill>
              </a:rPr>
              <a:t>3</a:t>
            </a:r>
            <a:r>
              <a:rPr lang="en-US" altLang="zh-TW" sz="1600"/>
              <a:t>, </a:t>
            </a:r>
            <a:r>
              <a:rPr lang="en-US" altLang="zh-TW" sz="1600">
                <a:solidFill>
                  <a:srgbClr val="000000"/>
                </a:solidFill>
              </a:rPr>
              <a:t>4</a:t>
            </a:r>
            <a:r>
              <a:rPr lang="en-US" altLang="zh-TW" sz="1600"/>
              <a:t>, </a:t>
            </a:r>
            <a:r>
              <a:rPr lang="en-US" altLang="zh-TW" sz="16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 flipH="1">
            <a:off x="5219700" y="2420938"/>
            <a:ext cx="144463" cy="2159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4427538" y="2636838"/>
            <a:ext cx="1033462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</a:rPr>
              <a:t>3</a:t>
            </a:r>
            <a:r>
              <a:rPr lang="en-US" altLang="zh-TW" sz="1600"/>
              <a:t>, </a:t>
            </a:r>
            <a:r>
              <a:rPr lang="en-US" altLang="zh-TW" sz="1600">
                <a:solidFill>
                  <a:srgbClr val="000000"/>
                </a:solidFill>
              </a:rPr>
              <a:t>4</a:t>
            </a:r>
            <a:r>
              <a:rPr lang="en-US" altLang="zh-TW" sz="1600"/>
              <a:t>, </a:t>
            </a:r>
            <a:r>
              <a:rPr lang="en-US" altLang="zh-TW" sz="1600">
                <a:solidFill>
                  <a:srgbClr val="000000"/>
                </a:solidFill>
              </a:rPr>
              <a:t>5, 1</a:t>
            </a:r>
          </a:p>
        </p:txBody>
      </p:sp>
      <p:sp>
        <p:nvSpPr>
          <p:cNvPr id="34848" name="弧形箭號 (上彎) 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181850" y="4165600"/>
            <a:ext cx="414338" cy="268288"/>
          </a:xfrm>
          <a:prstGeom prst="curvedUpArrow">
            <a:avLst>
              <a:gd name="adj1" fmla="val 25082"/>
              <a:gd name="adj2" fmla="val 50178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7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1742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2000" fill="hold"/>
                                        <p:tgtEl>
                                          <p:spTgt spid="174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2000" fill="hold"/>
                                        <p:tgtEl>
                                          <p:spTgt spid="174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3" grpId="0" animBg="1"/>
      <p:bldP spid="17428" grpId="0"/>
      <p:bldP spid="17429" grpId="0"/>
      <p:bldP spid="17434" grpId="0" animBg="1"/>
      <p:bldP spid="17434" grpId="1" animBg="1"/>
      <p:bldP spid="17435" grpId="0" animBg="1"/>
      <p:bldP spid="1743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48AEFE-6CC1-4244-AEDB-7A6097DFB3F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584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584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14235E-A49F-49DA-8489-21FC8C4CCD7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An Example </a:t>
            </a:r>
          </a:p>
        </p:txBody>
      </p:sp>
      <p:pic>
        <p:nvPicPr>
          <p:cNvPr id="3584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" t="32248" r="1999" b="32661"/>
          <a:stretch>
            <a:fillRect/>
          </a:stretch>
        </p:blipFill>
        <p:spPr bwMode="auto">
          <a:xfrm>
            <a:off x="457200" y="1981200"/>
            <a:ext cx="8305800" cy="3657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D38CCB-F3DB-4E2F-84BA-FA4FC71049D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9CB8B4-60B1-4705-9BD7-666C2BCD074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216775" cy="79057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Optimal Algorithm</a:t>
            </a:r>
          </a:p>
        </p:txBody>
      </p:sp>
      <p:sp>
        <p:nvSpPr>
          <p:cNvPr id="18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825500"/>
            <a:ext cx="8515350" cy="3108325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latin typeface="Comic Sans MS" panose="030F0702030302020204" pitchFamily="66" charset="0"/>
              </a:rPr>
              <a:t>Has the lowest page-fault rate of all algorithms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latin typeface="Comic Sans MS" panose="030F0702030302020204" pitchFamily="66" charset="0"/>
              </a:rPr>
              <a:t>It replaces the page that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will not be used</a:t>
            </a:r>
            <a:r>
              <a:rPr lang="en-US" altLang="zh-TW" sz="2800" smtClean="0">
                <a:latin typeface="Comic Sans MS" panose="030F0702030302020204" pitchFamily="66" charset="0"/>
              </a:rPr>
              <a:t> for the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longest period of time</a:t>
            </a:r>
            <a:r>
              <a:rPr lang="en-US" altLang="zh-TW" sz="2800" smtClean="0">
                <a:latin typeface="Comic Sans MS" panose="030F0702030302020204" pitchFamily="66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difficult to implement, because it requires future knowledge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TW" sz="2800" smtClean="0">
                <a:latin typeface="Comic Sans MS" panose="030F0702030302020204" pitchFamily="66" charset="0"/>
              </a:rPr>
              <a:t>used mainly for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comparison studies</a:t>
            </a:r>
          </a:p>
        </p:txBody>
      </p:sp>
      <p:sp>
        <p:nvSpPr>
          <p:cNvPr id="36871" name="Rectangle 5"/>
          <p:cNvSpPr>
            <a:spLocks noChangeArrowheads="1"/>
          </p:cNvSpPr>
          <p:nvPr/>
        </p:nvSpPr>
        <p:spPr bwMode="auto">
          <a:xfrm>
            <a:off x="1017588" y="4545013"/>
            <a:ext cx="292100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72" name="Line 6"/>
          <p:cNvSpPr>
            <a:spLocks noChangeShapeType="1"/>
          </p:cNvSpPr>
          <p:nvPr/>
        </p:nvSpPr>
        <p:spPr bwMode="auto">
          <a:xfrm>
            <a:off x="1017588" y="5010150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3" name="Line 7"/>
          <p:cNvSpPr>
            <a:spLocks noChangeShapeType="1"/>
          </p:cNvSpPr>
          <p:nvPr/>
        </p:nvSpPr>
        <p:spPr bwMode="auto">
          <a:xfrm>
            <a:off x="1017588" y="5486400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4" name="Rectangle 8"/>
          <p:cNvSpPr>
            <a:spLocks noChangeArrowheads="1"/>
          </p:cNvSpPr>
          <p:nvPr/>
        </p:nvSpPr>
        <p:spPr bwMode="auto">
          <a:xfrm>
            <a:off x="963613" y="45164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6875" name="Rectangle 9"/>
          <p:cNvSpPr>
            <a:spLocks noChangeArrowheads="1"/>
          </p:cNvSpPr>
          <p:nvPr/>
        </p:nvSpPr>
        <p:spPr bwMode="auto">
          <a:xfrm>
            <a:off x="1497013" y="4535488"/>
            <a:ext cx="292100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76" name="Line 10"/>
          <p:cNvSpPr>
            <a:spLocks noChangeShapeType="1"/>
          </p:cNvSpPr>
          <p:nvPr/>
        </p:nvSpPr>
        <p:spPr bwMode="auto">
          <a:xfrm>
            <a:off x="1497013" y="5002213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7" name="Line 11"/>
          <p:cNvSpPr>
            <a:spLocks noChangeShapeType="1"/>
          </p:cNvSpPr>
          <p:nvPr/>
        </p:nvSpPr>
        <p:spPr bwMode="auto">
          <a:xfrm>
            <a:off x="1497013" y="5476875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78" name="Rectangle 12"/>
          <p:cNvSpPr>
            <a:spLocks noChangeArrowheads="1"/>
          </p:cNvSpPr>
          <p:nvPr/>
        </p:nvSpPr>
        <p:spPr bwMode="auto">
          <a:xfrm>
            <a:off x="1443038" y="45085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6879" name="Rectangle 13"/>
          <p:cNvSpPr>
            <a:spLocks noChangeArrowheads="1"/>
          </p:cNvSpPr>
          <p:nvPr/>
        </p:nvSpPr>
        <p:spPr bwMode="auto">
          <a:xfrm>
            <a:off x="1474788" y="5026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880" name="Rectangle 14"/>
          <p:cNvSpPr>
            <a:spLocks noChangeArrowheads="1"/>
          </p:cNvSpPr>
          <p:nvPr/>
        </p:nvSpPr>
        <p:spPr bwMode="auto">
          <a:xfrm>
            <a:off x="1954213" y="4552950"/>
            <a:ext cx="293687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81" name="Line 15"/>
          <p:cNvSpPr>
            <a:spLocks noChangeShapeType="1"/>
          </p:cNvSpPr>
          <p:nvPr/>
        </p:nvSpPr>
        <p:spPr bwMode="auto">
          <a:xfrm>
            <a:off x="1954213" y="5018088"/>
            <a:ext cx="293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2" name="Line 16"/>
          <p:cNvSpPr>
            <a:spLocks noChangeShapeType="1"/>
          </p:cNvSpPr>
          <p:nvPr/>
        </p:nvSpPr>
        <p:spPr bwMode="auto">
          <a:xfrm>
            <a:off x="1954213" y="5494338"/>
            <a:ext cx="293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3" name="Rectangle 17"/>
          <p:cNvSpPr>
            <a:spLocks noChangeArrowheads="1"/>
          </p:cNvSpPr>
          <p:nvPr/>
        </p:nvSpPr>
        <p:spPr bwMode="auto">
          <a:xfrm>
            <a:off x="1900238" y="452596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6884" name="Rectangle 18"/>
          <p:cNvSpPr>
            <a:spLocks noChangeArrowheads="1"/>
          </p:cNvSpPr>
          <p:nvPr/>
        </p:nvSpPr>
        <p:spPr bwMode="auto">
          <a:xfrm>
            <a:off x="1893888" y="5018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9933FF"/>
                </a:solidFill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885" name="Rectangle 19"/>
          <p:cNvSpPr>
            <a:spLocks noChangeArrowheads="1"/>
          </p:cNvSpPr>
          <p:nvPr/>
        </p:nvSpPr>
        <p:spPr bwMode="auto">
          <a:xfrm>
            <a:off x="1906588" y="54864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6886" name="Rectangle 20"/>
          <p:cNvSpPr>
            <a:spLocks noChangeArrowheads="1"/>
          </p:cNvSpPr>
          <p:nvPr/>
        </p:nvSpPr>
        <p:spPr bwMode="auto">
          <a:xfrm>
            <a:off x="2393950" y="4545013"/>
            <a:ext cx="293688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87" name="Line 21"/>
          <p:cNvSpPr>
            <a:spLocks noChangeShapeType="1"/>
          </p:cNvSpPr>
          <p:nvPr/>
        </p:nvSpPr>
        <p:spPr bwMode="auto">
          <a:xfrm>
            <a:off x="2393950" y="5010150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88" name="Line 22"/>
          <p:cNvSpPr>
            <a:spLocks noChangeShapeType="1"/>
          </p:cNvSpPr>
          <p:nvPr/>
        </p:nvSpPr>
        <p:spPr bwMode="auto">
          <a:xfrm>
            <a:off x="2393950" y="5486400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2341563" y="45164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6890" name="Rectangle 24"/>
          <p:cNvSpPr>
            <a:spLocks noChangeArrowheads="1"/>
          </p:cNvSpPr>
          <p:nvPr/>
        </p:nvSpPr>
        <p:spPr bwMode="auto">
          <a:xfrm>
            <a:off x="2333625" y="501015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891" name="Rectangle 25"/>
          <p:cNvSpPr>
            <a:spLocks noChangeArrowheads="1"/>
          </p:cNvSpPr>
          <p:nvPr/>
        </p:nvSpPr>
        <p:spPr bwMode="auto">
          <a:xfrm>
            <a:off x="2366963" y="55022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6892" name="Rectangle 26"/>
          <p:cNvSpPr>
            <a:spLocks noChangeArrowheads="1"/>
          </p:cNvSpPr>
          <p:nvPr/>
        </p:nvSpPr>
        <p:spPr bwMode="auto">
          <a:xfrm>
            <a:off x="3273425" y="4545013"/>
            <a:ext cx="293688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93" name="Line 27"/>
          <p:cNvSpPr>
            <a:spLocks noChangeShapeType="1"/>
          </p:cNvSpPr>
          <p:nvPr/>
        </p:nvSpPr>
        <p:spPr bwMode="auto">
          <a:xfrm>
            <a:off x="3273425" y="5010150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94" name="Line 28"/>
          <p:cNvSpPr>
            <a:spLocks noChangeShapeType="1"/>
          </p:cNvSpPr>
          <p:nvPr/>
        </p:nvSpPr>
        <p:spPr bwMode="auto">
          <a:xfrm>
            <a:off x="3273425" y="5486400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895" name="Rectangle 29"/>
          <p:cNvSpPr>
            <a:spLocks noChangeArrowheads="1"/>
          </p:cNvSpPr>
          <p:nvPr/>
        </p:nvSpPr>
        <p:spPr bwMode="auto">
          <a:xfrm>
            <a:off x="3219450" y="45164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6896" name="Rectangle 30"/>
          <p:cNvSpPr>
            <a:spLocks noChangeArrowheads="1"/>
          </p:cNvSpPr>
          <p:nvPr/>
        </p:nvSpPr>
        <p:spPr bwMode="auto">
          <a:xfrm>
            <a:off x="3213100" y="501015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897" name="Rectangle 31"/>
          <p:cNvSpPr>
            <a:spLocks noChangeArrowheads="1"/>
          </p:cNvSpPr>
          <p:nvPr/>
        </p:nvSpPr>
        <p:spPr bwMode="auto">
          <a:xfrm>
            <a:off x="3225800" y="54768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6898" name="Rectangle 32"/>
          <p:cNvSpPr>
            <a:spLocks noChangeArrowheads="1"/>
          </p:cNvSpPr>
          <p:nvPr/>
        </p:nvSpPr>
        <p:spPr bwMode="auto">
          <a:xfrm>
            <a:off x="4135438" y="4535488"/>
            <a:ext cx="292100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99" name="Line 33"/>
          <p:cNvSpPr>
            <a:spLocks noChangeShapeType="1"/>
          </p:cNvSpPr>
          <p:nvPr/>
        </p:nvSpPr>
        <p:spPr bwMode="auto">
          <a:xfrm>
            <a:off x="4135438" y="5002213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00" name="Line 34"/>
          <p:cNvSpPr>
            <a:spLocks noChangeShapeType="1"/>
          </p:cNvSpPr>
          <p:nvPr/>
        </p:nvSpPr>
        <p:spPr bwMode="auto">
          <a:xfrm>
            <a:off x="4135438" y="5476875"/>
            <a:ext cx="292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01" name="Rectangle 35"/>
          <p:cNvSpPr>
            <a:spLocks noChangeArrowheads="1"/>
          </p:cNvSpPr>
          <p:nvPr/>
        </p:nvSpPr>
        <p:spPr bwMode="auto">
          <a:xfrm>
            <a:off x="4079875" y="45085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6902" name="Rectangle 36"/>
          <p:cNvSpPr>
            <a:spLocks noChangeArrowheads="1"/>
          </p:cNvSpPr>
          <p:nvPr/>
        </p:nvSpPr>
        <p:spPr bwMode="auto">
          <a:xfrm>
            <a:off x="4092575" y="5026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36903" name="Rectangle 37"/>
          <p:cNvSpPr>
            <a:spLocks noChangeArrowheads="1"/>
          </p:cNvSpPr>
          <p:nvPr/>
        </p:nvSpPr>
        <p:spPr bwMode="auto">
          <a:xfrm>
            <a:off x="4086225" y="5468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6904" name="Rectangle 38"/>
          <p:cNvSpPr>
            <a:spLocks noChangeArrowheads="1"/>
          </p:cNvSpPr>
          <p:nvPr/>
        </p:nvSpPr>
        <p:spPr bwMode="auto">
          <a:xfrm>
            <a:off x="5375275" y="4535488"/>
            <a:ext cx="293688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905" name="Line 39"/>
          <p:cNvSpPr>
            <a:spLocks noChangeShapeType="1"/>
          </p:cNvSpPr>
          <p:nvPr/>
        </p:nvSpPr>
        <p:spPr bwMode="auto">
          <a:xfrm>
            <a:off x="5375275" y="5002213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06" name="Line 40"/>
          <p:cNvSpPr>
            <a:spLocks noChangeShapeType="1"/>
          </p:cNvSpPr>
          <p:nvPr/>
        </p:nvSpPr>
        <p:spPr bwMode="auto">
          <a:xfrm>
            <a:off x="5375275" y="5476875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07" name="Rectangle 41"/>
          <p:cNvSpPr>
            <a:spLocks noChangeArrowheads="1"/>
          </p:cNvSpPr>
          <p:nvPr/>
        </p:nvSpPr>
        <p:spPr bwMode="auto">
          <a:xfrm>
            <a:off x="5321300" y="45085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6908" name="Rectangle 42"/>
          <p:cNvSpPr>
            <a:spLocks noChangeArrowheads="1"/>
          </p:cNvSpPr>
          <p:nvPr/>
        </p:nvSpPr>
        <p:spPr bwMode="auto">
          <a:xfrm>
            <a:off x="5356225" y="50022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909" name="Rectangle 43"/>
          <p:cNvSpPr>
            <a:spLocks noChangeArrowheads="1"/>
          </p:cNvSpPr>
          <p:nvPr/>
        </p:nvSpPr>
        <p:spPr bwMode="auto">
          <a:xfrm>
            <a:off x="5327650" y="5468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6910" name="Rectangle 44"/>
          <p:cNvSpPr>
            <a:spLocks noChangeArrowheads="1"/>
          </p:cNvSpPr>
          <p:nvPr/>
        </p:nvSpPr>
        <p:spPr bwMode="auto">
          <a:xfrm>
            <a:off x="6732588" y="4535488"/>
            <a:ext cx="293687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911" name="Line 45"/>
          <p:cNvSpPr>
            <a:spLocks noChangeShapeType="1"/>
          </p:cNvSpPr>
          <p:nvPr/>
        </p:nvSpPr>
        <p:spPr bwMode="auto">
          <a:xfrm>
            <a:off x="6732588" y="5002213"/>
            <a:ext cx="293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12" name="Line 46"/>
          <p:cNvSpPr>
            <a:spLocks noChangeShapeType="1"/>
          </p:cNvSpPr>
          <p:nvPr/>
        </p:nvSpPr>
        <p:spPr bwMode="auto">
          <a:xfrm>
            <a:off x="6732588" y="5476875"/>
            <a:ext cx="2936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13" name="Rectangle 47"/>
          <p:cNvSpPr>
            <a:spLocks noChangeArrowheads="1"/>
          </p:cNvSpPr>
          <p:nvPr/>
        </p:nvSpPr>
        <p:spPr bwMode="auto">
          <a:xfrm>
            <a:off x="6678613" y="45085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6914" name="Rectangle 48"/>
          <p:cNvSpPr>
            <a:spLocks noChangeArrowheads="1"/>
          </p:cNvSpPr>
          <p:nvPr/>
        </p:nvSpPr>
        <p:spPr bwMode="auto">
          <a:xfrm>
            <a:off x="6711950" y="5026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915" name="Rectangle 49"/>
          <p:cNvSpPr>
            <a:spLocks noChangeArrowheads="1"/>
          </p:cNvSpPr>
          <p:nvPr/>
        </p:nvSpPr>
        <p:spPr bwMode="auto">
          <a:xfrm>
            <a:off x="6684963" y="5468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6916" name="Rectangle 50"/>
          <p:cNvSpPr>
            <a:spLocks noChangeArrowheads="1"/>
          </p:cNvSpPr>
          <p:nvPr/>
        </p:nvSpPr>
        <p:spPr bwMode="auto">
          <a:xfrm>
            <a:off x="8382000" y="4535488"/>
            <a:ext cx="293688" cy="1381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917" name="Line 51"/>
          <p:cNvSpPr>
            <a:spLocks noChangeShapeType="1"/>
          </p:cNvSpPr>
          <p:nvPr/>
        </p:nvSpPr>
        <p:spPr bwMode="auto">
          <a:xfrm>
            <a:off x="8382000" y="5002213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18" name="Line 52"/>
          <p:cNvSpPr>
            <a:spLocks noChangeShapeType="1"/>
          </p:cNvSpPr>
          <p:nvPr/>
        </p:nvSpPr>
        <p:spPr bwMode="auto">
          <a:xfrm>
            <a:off x="8382000" y="5476875"/>
            <a:ext cx="293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919" name="Rectangle 53"/>
          <p:cNvSpPr>
            <a:spLocks noChangeArrowheads="1"/>
          </p:cNvSpPr>
          <p:nvPr/>
        </p:nvSpPr>
        <p:spPr bwMode="auto">
          <a:xfrm>
            <a:off x="8328025" y="45085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6920" name="Rectangle 54"/>
          <p:cNvSpPr>
            <a:spLocks noChangeArrowheads="1"/>
          </p:cNvSpPr>
          <p:nvPr/>
        </p:nvSpPr>
        <p:spPr bwMode="auto">
          <a:xfrm>
            <a:off x="8361363" y="50022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6921" name="Rectangle 55"/>
          <p:cNvSpPr>
            <a:spLocks noChangeArrowheads="1"/>
          </p:cNvSpPr>
          <p:nvPr/>
        </p:nvSpPr>
        <p:spPr bwMode="auto">
          <a:xfrm>
            <a:off x="8335963" y="54689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6922" name="Text Box 56"/>
          <p:cNvSpPr txBox="1">
            <a:spLocks noChangeArrowheads="1"/>
          </p:cNvSpPr>
          <p:nvPr/>
        </p:nvSpPr>
        <p:spPr bwMode="auto">
          <a:xfrm>
            <a:off x="831850" y="3967163"/>
            <a:ext cx="831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7       0     1     2     </a:t>
            </a:r>
            <a:r>
              <a:rPr lang="en-US" altLang="zh-TW" sz="2000" b="1">
                <a:solidFill>
                  <a:srgbClr val="9933FF"/>
                </a:solidFill>
                <a:latin typeface="Book Antiqua" panose="02040602050305030304" pitchFamily="18" charset="0"/>
              </a:rPr>
              <a:t>0</a:t>
            </a:r>
            <a:r>
              <a:rPr lang="en-US" altLang="zh-TW" sz="2000" b="1">
                <a:latin typeface="Book Antiqua" panose="02040602050305030304" pitchFamily="18" charset="0"/>
              </a:rPr>
              <a:t>    3     0    4     2    3    0     3      2     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1</a:t>
            </a:r>
            <a:r>
              <a:rPr lang="en-US" altLang="zh-TW" sz="2000" b="1">
                <a:latin typeface="Book Antiqua" panose="02040602050305030304" pitchFamily="18" charset="0"/>
              </a:rPr>
              <a:t>     2     0     1  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7</a:t>
            </a:r>
            <a:r>
              <a:rPr lang="en-US" altLang="zh-TW" sz="2000" b="1">
                <a:latin typeface="Book Antiqua" panose="02040602050305030304" pitchFamily="18" charset="0"/>
              </a:rPr>
              <a:t>   0   1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184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EE9706-3B24-4DE9-91FD-43BA2C22870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0B3DEFE-DFB2-417E-8A82-02D37251C4C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" y="212725"/>
            <a:ext cx="8943975" cy="86042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solidFill>
                  <a:srgbClr val="FF0000"/>
                </a:solidFill>
                <a:latin typeface="Comic Sans MS" panose="030F0702030302020204" pitchFamily="66" charset="0"/>
              </a:rPr>
              <a:t>LRU Algorithm (Least Recently Used)</a:t>
            </a:r>
          </a:p>
        </p:txBody>
      </p:sp>
      <p:sp>
        <p:nvSpPr>
          <p:cNvPr id="19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08000" y="1185863"/>
            <a:ext cx="8636000" cy="4191000"/>
          </a:xfrm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TW" smtClean="0">
                <a:latin typeface="Comic Sans MS" pitchFamily="66" charset="0"/>
              </a:rPr>
              <a:t>An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approximation</a:t>
            </a:r>
            <a:r>
              <a:rPr lang="en-US" altLang="zh-TW" smtClean="0">
                <a:latin typeface="Comic Sans MS" pitchFamily="66" charset="0"/>
              </a:rPr>
              <a:t> of optimal algorithm: </a:t>
            </a:r>
          </a:p>
          <a:p>
            <a:pPr lvl="1" eaLnBrk="1" hangingPunct="1">
              <a:buFont typeface="Wingdings" panose="05000000000000000000" pitchFamily="2" charset="2"/>
              <a:buChar char="v"/>
              <a:defRPr/>
            </a:pP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looking backward</a:t>
            </a:r>
            <a:r>
              <a:rPr lang="en-US" altLang="zh-TW" smtClean="0">
                <a:latin typeface="Comic Sans MS" pitchFamily="66" charset="0"/>
              </a:rPr>
              <a:t>, rather than </a:t>
            </a:r>
            <a:r>
              <a:rPr lang="en-US" altLang="zh-TW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forward</a:t>
            </a:r>
            <a:r>
              <a:rPr lang="en-US" altLang="zh-TW" smtClean="0">
                <a:latin typeface="Comic Sans MS" pitchFamily="66" charset="0"/>
              </a:rPr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TW" smtClean="0">
                <a:latin typeface="Comic Sans MS" pitchFamily="66" charset="0"/>
              </a:rPr>
              <a:t>It replaces the page that has </a:t>
            </a: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not been used for the longest period of time</a:t>
            </a:r>
            <a:r>
              <a:rPr lang="en-US" altLang="zh-TW" smtClean="0">
                <a:latin typeface="Comic Sans MS" pitchFamily="66" charset="0"/>
              </a:rPr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altLang="zh-TW" smtClean="0">
                <a:latin typeface="Comic Sans MS" pitchFamily="66" charset="0"/>
              </a:rPr>
              <a:t>It is often used, and is considered as </a:t>
            </a:r>
            <a:r>
              <a:rPr lang="en-US" altLang="zh-TW" b="1" smtClean="0">
                <a:solidFill>
                  <a:srgbClr val="FF0000"/>
                </a:solidFill>
                <a:latin typeface="Comic Sans MS" pitchFamily="66" charset="0"/>
              </a:rPr>
              <a:t>quite good</a:t>
            </a:r>
            <a:r>
              <a:rPr lang="en-US" altLang="zh-TW" smtClean="0">
                <a:latin typeface="Comic Sans MS" pitchFamily="66" charset="0"/>
              </a:rPr>
              <a:t>.</a:t>
            </a:r>
            <a:r>
              <a:rPr lang="en-US" altLang="zh-TW" smtClean="0"/>
              <a:t> </a:t>
            </a:r>
          </a:p>
        </p:txBody>
      </p:sp>
      <p:sp>
        <p:nvSpPr>
          <p:cNvPr id="37895" name="Rectangle 5"/>
          <p:cNvSpPr>
            <a:spLocks noChangeArrowheads="1"/>
          </p:cNvSpPr>
          <p:nvPr/>
        </p:nvSpPr>
        <p:spPr bwMode="auto">
          <a:xfrm>
            <a:off x="881063" y="4924425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896" name="Line 6"/>
          <p:cNvSpPr>
            <a:spLocks noChangeShapeType="1"/>
          </p:cNvSpPr>
          <p:nvPr/>
        </p:nvSpPr>
        <p:spPr bwMode="auto">
          <a:xfrm>
            <a:off x="881063" y="53451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897" name="Line 7"/>
          <p:cNvSpPr>
            <a:spLocks noChangeShapeType="1"/>
          </p:cNvSpPr>
          <p:nvPr/>
        </p:nvSpPr>
        <p:spPr bwMode="auto">
          <a:xfrm>
            <a:off x="881063" y="57769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898" name="Rectangle 8"/>
          <p:cNvSpPr>
            <a:spLocks noChangeArrowheads="1"/>
          </p:cNvSpPr>
          <p:nvPr/>
        </p:nvSpPr>
        <p:spPr bwMode="auto">
          <a:xfrm>
            <a:off x="830263" y="4899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7899" name="Rectangle 9"/>
          <p:cNvSpPr>
            <a:spLocks noChangeArrowheads="1"/>
          </p:cNvSpPr>
          <p:nvPr/>
        </p:nvSpPr>
        <p:spPr bwMode="auto">
          <a:xfrm>
            <a:off x="1336675" y="4916488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00" name="Line 10"/>
          <p:cNvSpPr>
            <a:spLocks noChangeShapeType="1"/>
          </p:cNvSpPr>
          <p:nvPr/>
        </p:nvSpPr>
        <p:spPr bwMode="auto">
          <a:xfrm>
            <a:off x="1336675" y="53371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01" name="Line 11"/>
          <p:cNvSpPr>
            <a:spLocks noChangeShapeType="1"/>
          </p:cNvSpPr>
          <p:nvPr/>
        </p:nvSpPr>
        <p:spPr bwMode="auto">
          <a:xfrm>
            <a:off x="1336675" y="57689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02" name="Rectangle 12"/>
          <p:cNvSpPr>
            <a:spLocks noChangeArrowheads="1"/>
          </p:cNvSpPr>
          <p:nvPr/>
        </p:nvSpPr>
        <p:spPr bwMode="auto">
          <a:xfrm>
            <a:off x="1285875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7903" name="Rectangle 13"/>
          <p:cNvSpPr>
            <a:spLocks noChangeArrowheads="1"/>
          </p:cNvSpPr>
          <p:nvPr/>
        </p:nvSpPr>
        <p:spPr bwMode="auto">
          <a:xfrm>
            <a:off x="1316038" y="53609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04" name="Rectangle 14"/>
          <p:cNvSpPr>
            <a:spLocks noChangeArrowheads="1"/>
          </p:cNvSpPr>
          <p:nvPr/>
        </p:nvSpPr>
        <p:spPr bwMode="auto">
          <a:xfrm>
            <a:off x="1774825" y="4932363"/>
            <a:ext cx="277813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05" name="Line 15"/>
          <p:cNvSpPr>
            <a:spLocks noChangeShapeType="1"/>
          </p:cNvSpPr>
          <p:nvPr/>
        </p:nvSpPr>
        <p:spPr bwMode="auto">
          <a:xfrm>
            <a:off x="1774825" y="5353050"/>
            <a:ext cx="277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06" name="Line 16"/>
          <p:cNvSpPr>
            <a:spLocks noChangeShapeType="1"/>
          </p:cNvSpPr>
          <p:nvPr/>
        </p:nvSpPr>
        <p:spPr bwMode="auto">
          <a:xfrm>
            <a:off x="1774825" y="5784850"/>
            <a:ext cx="277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07" name="Rectangle 17"/>
          <p:cNvSpPr>
            <a:spLocks noChangeArrowheads="1"/>
          </p:cNvSpPr>
          <p:nvPr/>
        </p:nvSpPr>
        <p:spPr bwMode="auto">
          <a:xfrm>
            <a:off x="1722438" y="490696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7908" name="Rectangle 18"/>
          <p:cNvSpPr>
            <a:spLocks noChangeArrowheads="1"/>
          </p:cNvSpPr>
          <p:nvPr/>
        </p:nvSpPr>
        <p:spPr bwMode="auto">
          <a:xfrm>
            <a:off x="1716088" y="535305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9933FF"/>
                </a:solidFill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09" name="Rectangle 19"/>
          <p:cNvSpPr>
            <a:spLocks noChangeArrowheads="1"/>
          </p:cNvSpPr>
          <p:nvPr/>
        </p:nvSpPr>
        <p:spPr bwMode="auto">
          <a:xfrm>
            <a:off x="1728788" y="57769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7910" name="Rectangle 20"/>
          <p:cNvSpPr>
            <a:spLocks noChangeArrowheads="1"/>
          </p:cNvSpPr>
          <p:nvPr/>
        </p:nvSpPr>
        <p:spPr bwMode="auto">
          <a:xfrm>
            <a:off x="2192338" y="4924425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11" name="Line 21"/>
          <p:cNvSpPr>
            <a:spLocks noChangeShapeType="1"/>
          </p:cNvSpPr>
          <p:nvPr/>
        </p:nvSpPr>
        <p:spPr bwMode="auto">
          <a:xfrm>
            <a:off x="2192338" y="53451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12" name="Line 22"/>
          <p:cNvSpPr>
            <a:spLocks noChangeShapeType="1"/>
          </p:cNvSpPr>
          <p:nvPr/>
        </p:nvSpPr>
        <p:spPr bwMode="auto">
          <a:xfrm>
            <a:off x="2192338" y="57769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2141538" y="4899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14" name="Rectangle 24"/>
          <p:cNvSpPr>
            <a:spLocks noChangeArrowheads="1"/>
          </p:cNvSpPr>
          <p:nvPr/>
        </p:nvSpPr>
        <p:spPr bwMode="auto">
          <a:xfrm>
            <a:off x="2135188" y="53451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15" name="Rectangle 25"/>
          <p:cNvSpPr>
            <a:spLocks noChangeArrowheads="1"/>
          </p:cNvSpPr>
          <p:nvPr/>
        </p:nvSpPr>
        <p:spPr bwMode="auto">
          <a:xfrm>
            <a:off x="2166938" y="57927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7916" name="Rectangle 26"/>
          <p:cNvSpPr>
            <a:spLocks noChangeArrowheads="1"/>
          </p:cNvSpPr>
          <p:nvPr/>
        </p:nvSpPr>
        <p:spPr bwMode="auto">
          <a:xfrm>
            <a:off x="3030538" y="4924425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17" name="Line 27"/>
          <p:cNvSpPr>
            <a:spLocks noChangeShapeType="1"/>
          </p:cNvSpPr>
          <p:nvPr/>
        </p:nvSpPr>
        <p:spPr bwMode="auto">
          <a:xfrm>
            <a:off x="3030538" y="53451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18" name="Line 28"/>
          <p:cNvSpPr>
            <a:spLocks noChangeShapeType="1"/>
          </p:cNvSpPr>
          <p:nvPr/>
        </p:nvSpPr>
        <p:spPr bwMode="auto">
          <a:xfrm>
            <a:off x="3030538" y="57769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19" name="Rectangle 29"/>
          <p:cNvSpPr>
            <a:spLocks noChangeArrowheads="1"/>
          </p:cNvSpPr>
          <p:nvPr/>
        </p:nvSpPr>
        <p:spPr bwMode="auto">
          <a:xfrm>
            <a:off x="2979738" y="4899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20" name="Rectangle 30"/>
          <p:cNvSpPr>
            <a:spLocks noChangeArrowheads="1"/>
          </p:cNvSpPr>
          <p:nvPr/>
        </p:nvSpPr>
        <p:spPr bwMode="auto">
          <a:xfrm>
            <a:off x="2973388" y="53451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21" name="Rectangle 31"/>
          <p:cNvSpPr>
            <a:spLocks noChangeArrowheads="1"/>
          </p:cNvSpPr>
          <p:nvPr/>
        </p:nvSpPr>
        <p:spPr bwMode="auto">
          <a:xfrm>
            <a:off x="2984500" y="57689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7922" name="Rectangle 32"/>
          <p:cNvSpPr>
            <a:spLocks noChangeArrowheads="1"/>
          </p:cNvSpPr>
          <p:nvPr/>
        </p:nvSpPr>
        <p:spPr bwMode="auto">
          <a:xfrm>
            <a:off x="3849688" y="4916488"/>
            <a:ext cx="277812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23" name="Line 33"/>
          <p:cNvSpPr>
            <a:spLocks noChangeShapeType="1"/>
          </p:cNvSpPr>
          <p:nvPr/>
        </p:nvSpPr>
        <p:spPr bwMode="auto">
          <a:xfrm>
            <a:off x="3849688" y="533717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24" name="Line 34"/>
          <p:cNvSpPr>
            <a:spLocks noChangeShapeType="1"/>
          </p:cNvSpPr>
          <p:nvPr/>
        </p:nvSpPr>
        <p:spPr bwMode="auto">
          <a:xfrm>
            <a:off x="3849688" y="576897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25" name="Rectangle 35"/>
          <p:cNvSpPr>
            <a:spLocks noChangeArrowheads="1"/>
          </p:cNvSpPr>
          <p:nvPr/>
        </p:nvSpPr>
        <p:spPr bwMode="auto">
          <a:xfrm>
            <a:off x="3797300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37926" name="Rectangle 36"/>
          <p:cNvSpPr>
            <a:spLocks noChangeArrowheads="1"/>
          </p:cNvSpPr>
          <p:nvPr/>
        </p:nvSpPr>
        <p:spPr bwMode="auto">
          <a:xfrm>
            <a:off x="3825875" y="53609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27" name="Rectangle 37"/>
          <p:cNvSpPr>
            <a:spLocks noChangeArrowheads="1"/>
          </p:cNvSpPr>
          <p:nvPr/>
        </p:nvSpPr>
        <p:spPr bwMode="auto">
          <a:xfrm>
            <a:off x="3803650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7928" name="Rectangle 38"/>
          <p:cNvSpPr>
            <a:spLocks noChangeArrowheads="1"/>
          </p:cNvSpPr>
          <p:nvPr/>
        </p:nvSpPr>
        <p:spPr bwMode="auto">
          <a:xfrm>
            <a:off x="4262438" y="4916488"/>
            <a:ext cx="277812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29" name="Line 39"/>
          <p:cNvSpPr>
            <a:spLocks noChangeShapeType="1"/>
          </p:cNvSpPr>
          <p:nvPr/>
        </p:nvSpPr>
        <p:spPr bwMode="auto">
          <a:xfrm>
            <a:off x="4262438" y="533717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30" name="Line 40"/>
          <p:cNvSpPr>
            <a:spLocks noChangeShapeType="1"/>
          </p:cNvSpPr>
          <p:nvPr/>
        </p:nvSpPr>
        <p:spPr bwMode="auto">
          <a:xfrm>
            <a:off x="4262438" y="5768975"/>
            <a:ext cx="277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31" name="Rectangle 41"/>
          <p:cNvSpPr>
            <a:spLocks noChangeArrowheads="1"/>
          </p:cNvSpPr>
          <p:nvPr/>
        </p:nvSpPr>
        <p:spPr bwMode="auto">
          <a:xfrm>
            <a:off x="4210050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37932" name="Rectangle 42"/>
          <p:cNvSpPr>
            <a:spLocks noChangeArrowheads="1"/>
          </p:cNvSpPr>
          <p:nvPr/>
        </p:nvSpPr>
        <p:spPr bwMode="auto">
          <a:xfrm>
            <a:off x="4203700" y="53371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33" name="Rectangle 43"/>
          <p:cNvSpPr>
            <a:spLocks noChangeArrowheads="1"/>
          </p:cNvSpPr>
          <p:nvPr/>
        </p:nvSpPr>
        <p:spPr bwMode="auto">
          <a:xfrm>
            <a:off x="4216400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34" name="Rectangle 44"/>
          <p:cNvSpPr>
            <a:spLocks noChangeArrowheads="1"/>
          </p:cNvSpPr>
          <p:nvPr/>
        </p:nvSpPr>
        <p:spPr bwMode="auto">
          <a:xfrm>
            <a:off x="4649788" y="4924425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35" name="Line 45"/>
          <p:cNvSpPr>
            <a:spLocks noChangeShapeType="1"/>
          </p:cNvSpPr>
          <p:nvPr/>
        </p:nvSpPr>
        <p:spPr bwMode="auto">
          <a:xfrm>
            <a:off x="4649788" y="53451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36" name="Line 46"/>
          <p:cNvSpPr>
            <a:spLocks noChangeShapeType="1"/>
          </p:cNvSpPr>
          <p:nvPr/>
        </p:nvSpPr>
        <p:spPr bwMode="auto">
          <a:xfrm>
            <a:off x="4649788" y="5776913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37" name="Rectangle 47"/>
          <p:cNvSpPr>
            <a:spLocks noChangeArrowheads="1"/>
          </p:cNvSpPr>
          <p:nvPr/>
        </p:nvSpPr>
        <p:spPr bwMode="auto">
          <a:xfrm>
            <a:off x="4598988" y="489902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37938" name="Rectangle 48"/>
          <p:cNvSpPr>
            <a:spLocks noChangeArrowheads="1"/>
          </p:cNvSpPr>
          <p:nvPr/>
        </p:nvSpPr>
        <p:spPr bwMode="auto">
          <a:xfrm>
            <a:off x="4592638" y="53451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7939" name="Rectangle 49"/>
          <p:cNvSpPr>
            <a:spLocks noChangeArrowheads="1"/>
          </p:cNvSpPr>
          <p:nvPr/>
        </p:nvSpPr>
        <p:spPr bwMode="auto">
          <a:xfrm>
            <a:off x="4603750" y="57689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40" name="Rectangle 50"/>
          <p:cNvSpPr>
            <a:spLocks noChangeArrowheads="1"/>
          </p:cNvSpPr>
          <p:nvPr/>
        </p:nvSpPr>
        <p:spPr bwMode="auto">
          <a:xfrm>
            <a:off x="5030788" y="4916488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41" name="Line 51"/>
          <p:cNvSpPr>
            <a:spLocks noChangeShapeType="1"/>
          </p:cNvSpPr>
          <p:nvPr/>
        </p:nvSpPr>
        <p:spPr bwMode="auto">
          <a:xfrm>
            <a:off x="5030788" y="53371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42" name="Line 52"/>
          <p:cNvSpPr>
            <a:spLocks noChangeShapeType="1"/>
          </p:cNvSpPr>
          <p:nvPr/>
        </p:nvSpPr>
        <p:spPr bwMode="auto">
          <a:xfrm>
            <a:off x="5030788" y="57689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43" name="Rectangle 53"/>
          <p:cNvSpPr>
            <a:spLocks noChangeArrowheads="1"/>
          </p:cNvSpPr>
          <p:nvPr/>
        </p:nvSpPr>
        <p:spPr bwMode="auto">
          <a:xfrm>
            <a:off x="4978400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44" name="Rectangle 54"/>
          <p:cNvSpPr>
            <a:spLocks noChangeArrowheads="1"/>
          </p:cNvSpPr>
          <p:nvPr/>
        </p:nvSpPr>
        <p:spPr bwMode="auto">
          <a:xfrm>
            <a:off x="4992688" y="53371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7945" name="Rectangle 55"/>
          <p:cNvSpPr>
            <a:spLocks noChangeArrowheads="1"/>
          </p:cNvSpPr>
          <p:nvPr/>
        </p:nvSpPr>
        <p:spPr bwMode="auto">
          <a:xfrm>
            <a:off x="4984750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46" name="Rectangle 56"/>
          <p:cNvSpPr>
            <a:spLocks noChangeArrowheads="1"/>
          </p:cNvSpPr>
          <p:nvPr/>
        </p:nvSpPr>
        <p:spPr bwMode="auto">
          <a:xfrm>
            <a:off x="6324600" y="4916488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47" name="Line 57"/>
          <p:cNvSpPr>
            <a:spLocks noChangeShapeType="1"/>
          </p:cNvSpPr>
          <p:nvPr/>
        </p:nvSpPr>
        <p:spPr bwMode="auto">
          <a:xfrm>
            <a:off x="6324600" y="53371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48" name="Line 58"/>
          <p:cNvSpPr>
            <a:spLocks noChangeShapeType="1"/>
          </p:cNvSpPr>
          <p:nvPr/>
        </p:nvSpPr>
        <p:spPr bwMode="auto">
          <a:xfrm>
            <a:off x="6324600" y="57689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49" name="Rectangle 59"/>
          <p:cNvSpPr>
            <a:spLocks noChangeArrowheads="1"/>
          </p:cNvSpPr>
          <p:nvPr/>
        </p:nvSpPr>
        <p:spPr bwMode="auto">
          <a:xfrm>
            <a:off x="6272213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7950" name="Rectangle 60"/>
          <p:cNvSpPr>
            <a:spLocks noChangeArrowheads="1"/>
          </p:cNvSpPr>
          <p:nvPr/>
        </p:nvSpPr>
        <p:spPr bwMode="auto">
          <a:xfrm>
            <a:off x="6302375" y="53609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7951" name="Rectangle 61"/>
          <p:cNvSpPr>
            <a:spLocks noChangeArrowheads="1"/>
          </p:cNvSpPr>
          <p:nvPr/>
        </p:nvSpPr>
        <p:spPr bwMode="auto">
          <a:xfrm>
            <a:off x="6281738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52" name="Rectangle 62"/>
          <p:cNvSpPr>
            <a:spLocks noChangeArrowheads="1"/>
          </p:cNvSpPr>
          <p:nvPr/>
        </p:nvSpPr>
        <p:spPr bwMode="auto">
          <a:xfrm>
            <a:off x="7043738" y="4916488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53" name="Line 63"/>
          <p:cNvSpPr>
            <a:spLocks noChangeShapeType="1"/>
          </p:cNvSpPr>
          <p:nvPr/>
        </p:nvSpPr>
        <p:spPr bwMode="auto">
          <a:xfrm>
            <a:off x="7043738" y="53371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54" name="Line 64"/>
          <p:cNvSpPr>
            <a:spLocks noChangeShapeType="1"/>
          </p:cNvSpPr>
          <p:nvPr/>
        </p:nvSpPr>
        <p:spPr bwMode="auto">
          <a:xfrm>
            <a:off x="7043738" y="57689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55" name="Rectangle 65"/>
          <p:cNvSpPr>
            <a:spLocks noChangeArrowheads="1"/>
          </p:cNvSpPr>
          <p:nvPr/>
        </p:nvSpPr>
        <p:spPr bwMode="auto">
          <a:xfrm>
            <a:off x="6991350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7956" name="Rectangle 66"/>
          <p:cNvSpPr>
            <a:spLocks noChangeArrowheads="1"/>
          </p:cNvSpPr>
          <p:nvPr/>
        </p:nvSpPr>
        <p:spPr bwMode="auto">
          <a:xfrm>
            <a:off x="7024688" y="53371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57" name="Rectangle 67"/>
          <p:cNvSpPr>
            <a:spLocks noChangeArrowheads="1"/>
          </p:cNvSpPr>
          <p:nvPr/>
        </p:nvSpPr>
        <p:spPr bwMode="auto">
          <a:xfrm>
            <a:off x="6997700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7958" name="Rectangle 68"/>
          <p:cNvSpPr>
            <a:spLocks noChangeArrowheads="1"/>
          </p:cNvSpPr>
          <p:nvPr/>
        </p:nvSpPr>
        <p:spPr bwMode="auto">
          <a:xfrm>
            <a:off x="7894638" y="4916488"/>
            <a:ext cx="279400" cy="1250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7959" name="Line 69"/>
          <p:cNvSpPr>
            <a:spLocks noChangeShapeType="1"/>
          </p:cNvSpPr>
          <p:nvPr/>
        </p:nvSpPr>
        <p:spPr bwMode="auto">
          <a:xfrm>
            <a:off x="7894638" y="53371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60" name="Line 70"/>
          <p:cNvSpPr>
            <a:spLocks noChangeShapeType="1"/>
          </p:cNvSpPr>
          <p:nvPr/>
        </p:nvSpPr>
        <p:spPr bwMode="auto">
          <a:xfrm>
            <a:off x="7894638" y="5768975"/>
            <a:ext cx="27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961" name="Rectangle 71"/>
          <p:cNvSpPr>
            <a:spLocks noChangeArrowheads="1"/>
          </p:cNvSpPr>
          <p:nvPr/>
        </p:nvSpPr>
        <p:spPr bwMode="auto">
          <a:xfrm>
            <a:off x="7842250" y="48910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7962" name="Rectangle 72"/>
          <p:cNvSpPr>
            <a:spLocks noChangeArrowheads="1"/>
          </p:cNvSpPr>
          <p:nvPr/>
        </p:nvSpPr>
        <p:spPr bwMode="auto">
          <a:xfrm>
            <a:off x="7874000" y="53371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7963" name="Rectangle 73"/>
          <p:cNvSpPr>
            <a:spLocks noChangeArrowheads="1"/>
          </p:cNvSpPr>
          <p:nvPr/>
        </p:nvSpPr>
        <p:spPr bwMode="auto">
          <a:xfrm>
            <a:off x="7847013" y="57610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7964" name="Text Box 74"/>
          <p:cNvSpPr txBox="1">
            <a:spLocks noChangeArrowheads="1"/>
          </p:cNvSpPr>
          <p:nvPr/>
        </p:nvSpPr>
        <p:spPr bwMode="auto">
          <a:xfrm>
            <a:off x="912813" y="44434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zh-TW" altLang="zh-TW" sz="2000" b="1">
              <a:latin typeface="Book Antiqua" panose="02040602050305030304" pitchFamily="18" charset="0"/>
            </a:endParaRPr>
          </a:p>
        </p:txBody>
      </p:sp>
      <p:sp>
        <p:nvSpPr>
          <p:cNvPr id="37965" name="Text Box 75"/>
          <p:cNvSpPr txBox="1">
            <a:spLocks noChangeArrowheads="1"/>
          </p:cNvSpPr>
          <p:nvPr/>
        </p:nvSpPr>
        <p:spPr bwMode="auto">
          <a:xfrm>
            <a:off x="620713" y="4424363"/>
            <a:ext cx="812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7</a:t>
            </a:r>
            <a:r>
              <a:rPr lang="en-US" altLang="zh-TW" sz="2000" b="1">
                <a:latin typeface="Book Antiqua" panose="02040602050305030304" pitchFamily="18" charset="0"/>
              </a:rPr>
              <a:t>       </a:t>
            </a:r>
            <a:r>
              <a:rPr lang="en-US" altLang="zh-TW" sz="2000" b="1">
                <a:solidFill>
                  <a:srgbClr val="9933FF"/>
                </a:solidFill>
                <a:latin typeface="Book Antiqua" panose="02040602050305030304" pitchFamily="18" charset="0"/>
              </a:rPr>
              <a:t>0</a:t>
            </a:r>
            <a:r>
              <a:rPr lang="en-US" altLang="zh-TW" sz="2000" b="1">
                <a:latin typeface="Book Antiqua" panose="02040602050305030304" pitchFamily="18" charset="0"/>
              </a:rPr>
              <a:t>     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1</a:t>
            </a:r>
            <a:r>
              <a:rPr lang="en-US" altLang="zh-TW" sz="2000" b="1">
                <a:latin typeface="Book Antiqua" panose="02040602050305030304" pitchFamily="18" charset="0"/>
              </a:rPr>
              <a:t>     2     0    3     0    4     2    3    0     3      2     1   2   0    1    7    0   1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1947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C189B71-FCA4-4CA0-BF77-2D1F7B9F5DE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0453A0-1AE4-4300-BF8A-5066B524D12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2048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304800"/>
            <a:ext cx="8442325" cy="4854575"/>
          </a:xfrm>
        </p:spPr>
        <p:txBody>
          <a:bodyPr/>
          <a:lstStyle/>
          <a:p>
            <a:pPr marL="609600" indent="-609600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3600" b="1" smtClean="0">
                <a:latin typeface="Comic Sans MS" panose="030F0702030302020204" pitchFamily="66" charset="0"/>
              </a:rPr>
              <a:t>Two implementation</a:t>
            </a:r>
            <a:endParaRPr lang="en-US" altLang="zh-TW" sz="3600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609600" indent="-609600" eaLnBrk="1" hangingPunct="1"/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counter (clock)</a:t>
            </a:r>
            <a:r>
              <a:rPr lang="en-US" altLang="zh-TW" sz="2800" smtClean="0">
                <a:latin typeface="Comic Sans MS" panose="030F0702030302020204" pitchFamily="66" charset="0"/>
              </a:rPr>
              <a:t>: </a:t>
            </a:r>
          </a:p>
          <a:p>
            <a:pPr marL="990600" lvl="1" indent="-533400" eaLnBrk="1" hangingPunct="1"/>
            <a:r>
              <a:rPr lang="en-US" altLang="zh-TW" sz="2400" smtClean="0">
                <a:latin typeface="Comic Sans MS" panose="030F0702030302020204" pitchFamily="66" charset="0"/>
              </a:rPr>
              <a:t> time-of-used field for each page table entry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latin typeface="Comic Sans MS" panose="030F0702030302020204" pitchFamily="66" charset="0"/>
              </a:rPr>
              <a:t> </a:t>
            </a:r>
            <a:r>
              <a:rPr lang="en-US" altLang="zh-TW" sz="2000" smtClean="0">
                <a:latin typeface="Comic Sans MS" panose="030F0702030302020204" pitchFamily="66" charset="0"/>
                <a:sym typeface="Wingdings" panose="05000000000000000000" pitchFamily="2" charset="2"/>
              </a:rPr>
              <a:t></a:t>
            </a:r>
            <a:r>
              <a:rPr lang="en-US" altLang="zh-TW" sz="2000" smtClean="0">
                <a:latin typeface="Comic Sans MS" panose="030F0702030302020204" pitchFamily="66" charset="0"/>
              </a:rPr>
              <a:t>:	1. write counter to the field for each access 	</a:t>
            </a:r>
          </a:p>
          <a:p>
            <a:pPr marL="1752600" lvl="3" indent="-381000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</a:rPr>
              <a:t>2.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search for the LRU</a:t>
            </a:r>
          </a:p>
          <a:p>
            <a:pPr marL="609600" indent="-609600" eaLnBrk="1" hangingPunct="1">
              <a:spcBef>
                <a:spcPct val="50000"/>
              </a:spcBef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Stack</a:t>
            </a:r>
            <a:r>
              <a:rPr lang="en-US" altLang="zh-TW" sz="2800" smtClean="0">
                <a:latin typeface="Comic Sans MS" panose="030F0702030302020204" pitchFamily="66" charset="0"/>
              </a:rPr>
              <a:t>: a stack of page number</a:t>
            </a:r>
          </a:p>
          <a:p>
            <a:pPr marL="990600" lvl="1" indent="-533400" eaLnBrk="1" hangingPunct="1"/>
            <a:r>
              <a:rPr lang="en-US" altLang="zh-TW" sz="2400" smtClean="0">
                <a:latin typeface="Comic Sans MS" panose="030F0702030302020204" pitchFamily="66" charset="0"/>
              </a:rPr>
              <a:t>move the reference page form middle to the top</a:t>
            </a:r>
          </a:p>
          <a:p>
            <a:pPr marL="990600" lvl="1" indent="-533400" eaLnBrk="1" hangingPunct="1"/>
            <a:r>
              <a:rPr lang="en-US" altLang="zh-TW" sz="2400" smtClean="0">
                <a:latin typeface="Comic Sans MS" panose="030F0702030302020204" pitchFamily="66" charset="0"/>
              </a:rPr>
              <a:t>best implemented by a doubly linked list 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latin typeface="Comic Sans MS" panose="030F0702030302020204" pitchFamily="66" charset="0"/>
                <a:sym typeface="Wingdings" panose="05000000000000000000" pitchFamily="2" charset="2"/>
              </a:rPr>
              <a:t> </a:t>
            </a:r>
            <a:r>
              <a:rPr lang="en-US" altLang="zh-TW" smtClean="0">
                <a:latin typeface="Comic Sans MS" panose="030F0702030302020204" pitchFamily="66" charset="0"/>
                <a:sym typeface="Wingdings" panose="05000000000000000000" pitchFamily="2" charset="2"/>
              </a:rPr>
              <a:t> </a:t>
            </a:r>
            <a:r>
              <a:rPr lang="en-US" altLang="zh-TW" smtClean="0">
                <a:latin typeface="Comic Sans MS" panose="030F0702030302020204" pitchFamily="66" charset="0"/>
              </a:rPr>
              <a:t>: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no search</a:t>
            </a:r>
          </a:p>
          <a:p>
            <a:pPr marL="1371600" lvl="2" indent="-457200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</a:rPr>
              <a:t> </a:t>
            </a:r>
            <a:r>
              <a:rPr lang="en-US" altLang="zh-TW" smtClean="0">
                <a:latin typeface="Comic Sans MS" panose="030F0702030302020204" pitchFamily="66" charset="0"/>
                <a:sym typeface="Wingdings" panose="05000000000000000000" pitchFamily="2" charset="2"/>
              </a:rPr>
              <a:t></a:t>
            </a:r>
            <a:r>
              <a:rPr lang="en-US" altLang="zh-TW" smtClean="0">
                <a:latin typeface="Comic Sans MS" panose="030F0702030302020204" pitchFamily="66" charset="0"/>
              </a:rPr>
              <a:t> : change </a:t>
            </a: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six pointers</a:t>
            </a:r>
            <a:r>
              <a:rPr lang="en-US" altLang="zh-TW" smtClean="0">
                <a:latin typeface="Comic Sans MS" panose="030F0702030302020204" pitchFamily="66" charset="0"/>
              </a:rPr>
              <a:t> per reference at most</a:t>
            </a:r>
          </a:p>
        </p:txBody>
      </p:sp>
      <p:grpSp>
        <p:nvGrpSpPr>
          <p:cNvPr id="40966" name="Group 3"/>
          <p:cNvGrpSpPr>
            <a:grpSpLocks/>
          </p:cNvGrpSpPr>
          <p:nvPr/>
        </p:nvGrpSpPr>
        <p:grpSpPr bwMode="auto">
          <a:xfrm>
            <a:off x="2438400" y="4900613"/>
            <a:ext cx="531813" cy="1452562"/>
            <a:chOff x="1896" y="3250"/>
            <a:chExt cx="335" cy="915"/>
          </a:xfrm>
        </p:grpSpPr>
        <p:sp>
          <p:nvSpPr>
            <p:cNvPr id="38939" name="Rectangle 4"/>
            <p:cNvSpPr>
              <a:spLocks noChangeArrowheads="1"/>
            </p:cNvSpPr>
            <p:nvPr/>
          </p:nvSpPr>
          <p:spPr bwMode="auto">
            <a:xfrm>
              <a:off x="1900" y="3261"/>
              <a:ext cx="327" cy="85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40" name="Rectangle 5"/>
            <p:cNvSpPr>
              <a:spLocks noChangeArrowheads="1"/>
            </p:cNvSpPr>
            <p:nvPr/>
          </p:nvSpPr>
          <p:spPr bwMode="auto">
            <a:xfrm>
              <a:off x="1900" y="3785"/>
              <a:ext cx="327" cy="16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41" name="Line 6"/>
            <p:cNvSpPr>
              <a:spLocks noChangeShapeType="1"/>
            </p:cNvSpPr>
            <p:nvPr/>
          </p:nvSpPr>
          <p:spPr bwMode="auto">
            <a:xfrm>
              <a:off x="1900" y="3431"/>
              <a:ext cx="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2" name="Line 7"/>
            <p:cNvSpPr>
              <a:spLocks noChangeShapeType="1"/>
            </p:cNvSpPr>
            <p:nvPr/>
          </p:nvSpPr>
          <p:spPr bwMode="auto">
            <a:xfrm>
              <a:off x="1896" y="3613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3" name="Line 8"/>
            <p:cNvSpPr>
              <a:spLocks noChangeShapeType="1"/>
            </p:cNvSpPr>
            <p:nvPr/>
          </p:nvSpPr>
          <p:spPr bwMode="auto">
            <a:xfrm>
              <a:off x="1905" y="3785"/>
              <a:ext cx="3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4" name="Line 9"/>
            <p:cNvSpPr>
              <a:spLocks noChangeShapeType="1"/>
            </p:cNvSpPr>
            <p:nvPr/>
          </p:nvSpPr>
          <p:spPr bwMode="auto">
            <a:xfrm>
              <a:off x="1900" y="3956"/>
              <a:ext cx="3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5" name="Rectangle 10"/>
            <p:cNvSpPr>
              <a:spLocks noChangeArrowheads="1"/>
            </p:cNvSpPr>
            <p:nvPr/>
          </p:nvSpPr>
          <p:spPr bwMode="auto">
            <a:xfrm>
              <a:off x="1944" y="3250"/>
              <a:ext cx="1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2</a:t>
              </a:r>
            </a:p>
          </p:txBody>
        </p:sp>
        <p:sp>
          <p:nvSpPr>
            <p:cNvPr id="38946" name="Rectangle 11"/>
            <p:cNvSpPr>
              <a:spLocks noChangeArrowheads="1"/>
            </p:cNvSpPr>
            <p:nvPr/>
          </p:nvSpPr>
          <p:spPr bwMode="auto">
            <a:xfrm>
              <a:off x="1940" y="3421"/>
              <a:ext cx="1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38947" name="Rectangle 12"/>
            <p:cNvSpPr>
              <a:spLocks noChangeArrowheads="1"/>
            </p:cNvSpPr>
            <p:nvPr/>
          </p:nvSpPr>
          <p:spPr bwMode="auto">
            <a:xfrm>
              <a:off x="1948" y="3613"/>
              <a:ext cx="1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</a:t>
              </a:r>
            </a:p>
          </p:txBody>
        </p:sp>
        <p:sp>
          <p:nvSpPr>
            <p:cNvPr id="38948" name="Rectangle 13"/>
            <p:cNvSpPr>
              <a:spLocks noChangeArrowheads="1"/>
            </p:cNvSpPr>
            <p:nvPr/>
          </p:nvSpPr>
          <p:spPr bwMode="auto">
            <a:xfrm>
              <a:off x="1944" y="3774"/>
              <a:ext cx="1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7</a:t>
              </a:r>
            </a:p>
          </p:txBody>
        </p:sp>
        <p:sp>
          <p:nvSpPr>
            <p:cNvPr id="38949" name="Rectangle 14"/>
            <p:cNvSpPr>
              <a:spLocks noChangeArrowheads="1"/>
            </p:cNvSpPr>
            <p:nvPr/>
          </p:nvSpPr>
          <p:spPr bwMode="auto">
            <a:xfrm>
              <a:off x="1952" y="3936"/>
              <a:ext cx="1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4</a:t>
              </a:r>
            </a:p>
          </p:txBody>
        </p:sp>
      </p:grp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5956300" y="4895850"/>
            <a:ext cx="517525" cy="13573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0968" name="Rectangle 17"/>
          <p:cNvSpPr>
            <a:spLocks noChangeArrowheads="1"/>
          </p:cNvSpPr>
          <p:nvPr/>
        </p:nvSpPr>
        <p:spPr bwMode="auto">
          <a:xfrm>
            <a:off x="5962650" y="4900613"/>
            <a:ext cx="519113" cy="2460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0969" name="Line 18"/>
          <p:cNvSpPr>
            <a:spLocks noChangeShapeType="1"/>
          </p:cNvSpPr>
          <p:nvPr/>
        </p:nvSpPr>
        <p:spPr bwMode="auto">
          <a:xfrm>
            <a:off x="5970588" y="5453063"/>
            <a:ext cx="517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970" name="Line 19"/>
          <p:cNvSpPr>
            <a:spLocks noChangeShapeType="1"/>
          </p:cNvSpPr>
          <p:nvPr/>
        </p:nvSpPr>
        <p:spPr bwMode="auto">
          <a:xfrm>
            <a:off x="5962650" y="5726113"/>
            <a:ext cx="519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971" name="Line 20"/>
          <p:cNvSpPr>
            <a:spLocks noChangeShapeType="1"/>
          </p:cNvSpPr>
          <p:nvPr/>
        </p:nvSpPr>
        <p:spPr bwMode="auto">
          <a:xfrm>
            <a:off x="5956300" y="5997575"/>
            <a:ext cx="517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972" name="Rectangle 21"/>
          <p:cNvSpPr>
            <a:spLocks noChangeArrowheads="1"/>
          </p:cNvSpPr>
          <p:nvPr/>
        </p:nvSpPr>
        <p:spPr bwMode="auto">
          <a:xfrm>
            <a:off x="6003925" y="5172075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40973" name="Rectangle 22"/>
          <p:cNvSpPr>
            <a:spLocks noChangeArrowheads="1"/>
          </p:cNvSpPr>
          <p:nvPr/>
        </p:nvSpPr>
        <p:spPr bwMode="auto">
          <a:xfrm>
            <a:off x="6016625" y="544353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0974" name="Rectangle 23"/>
          <p:cNvSpPr>
            <a:spLocks noChangeArrowheads="1"/>
          </p:cNvSpPr>
          <p:nvPr/>
        </p:nvSpPr>
        <p:spPr bwMode="auto">
          <a:xfrm>
            <a:off x="6010275" y="5716588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20504" name="Rectangle 24"/>
          <p:cNvSpPr>
            <a:spLocks noChangeArrowheads="1"/>
          </p:cNvSpPr>
          <p:nvPr/>
        </p:nvSpPr>
        <p:spPr bwMode="auto">
          <a:xfrm>
            <a:off x="5981700" y="48768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40976" name="Rectangle 25"/>
          <p:cNvSpPr>
            <a:spLocks noChangeArrowheads="1"/>
          </p:cNvSpPr>
          <p:nvPr/>
        </p:nvSpPr>
        <p:spPr bwMode="auto">
          <a:xfrm>
            <a:off x="6038850" y="5967413"/>
            <a:ext cx="3079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40977" name="Line 26"/>
          <p:cNvSpPr>
            <a:spLocks noChangeShapeType="1"/>
          </p:cNvSpPr>
          <p:nvPr/>
        </p:nvSpPr>
        <p:spPr bwMode="auto">
          <a:xfrm flipV="1">
            <a:off x="3186113" y="5526088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3416300" y="5048250"/>
            <a:ext cx="1446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reference 7</a:t>
            </a:r>
          </a:p>
        </p:txBody>
      </p:sp>
      <p:sp>
        <p:nvSpPr>
          <p:cNvPr id="20512" name="Line 32"/>
          <p:cNvSpPr>
            <a:spLocks noChangeShapeType="1"/>
          </p:cNvSpPr>
          <p:nvPr/>
        </p:nvSpPr>
        <p:spPr bwMode="auto">
          <a:xfrm>
            <a:off x="5795963" y="5876925"/>
            <a:ext cx="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0513" name="Line 33"/>
          <p:cNvSpPr>
            <a:spLocks noChangeShapeType="1"/>
          </p:cNvSpPr>
          <p:nvPr/>
        </p:nvSpPr>
        <p:spPr bwMode="auto">
          <a:xfrm flipV="1">
            <a:off x="6588125" y="5876925"/>
            <a:ext cx="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5795963" y="5084763"/>
            <a:ext cx="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0519" name="Line 39"/>
          <p:cNvSpPr>
            <a:spLocks noChangeShapeType="1"/>
          </p:cNvSpPr>
          <p:nvPr/>
        </p:nvSpPr>
        <p:spPr bwMode="auto">
          <a:xfrm flipV="1">
            <a:off x="6588125" y="5013325"/>
            <a:ext cx="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0983" name="Text Box 42"/>
          <p:cNvSpPr txBox="1">
            <a:spLocks noChangeArrowheads="1"/>
          </p:cNvSpPr>
          <p:nvPr/>
        </p:nvSpPr>
        <p:spPr bwMode="auto">
          <a:xfrm>
            <a:off x="7092950" y="4797425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Head</a:t>
            </a:r>
          </a:p>
        </p:txBody>
      </p:sp>
      <p:sp>
        <p:nvSpPr>
          <p:cNvPr id="40984" name="Text Box 43"/>
          <p:cNvSpPr txBox="1">
            <a:spLocks noChangeArrowheads="1"/>
          </p:cNvSpPr>
          <p:nvPr/>
        </p:nvSpPr>
        <p:spPr bwMode="auto">
          <a:xfrm>
            <a:off x="6804025" y="6165850"/>
            <a:ext cx="661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Tail</a:t>
            </a:r>
          </a:p>
        </p:txBody>
      </p:sp>
      <p:sp>
        <p:nvSpPr>
          <p:cNvPr id="20524" name="Line 44"/>
          <p:cNvSpPr>
            <a:spLocks noChangeShapeType="1"/>
          </p:cNvSpPr>
          <p:nvPr/>
        </p:nvSpPr>
        <p:spPr bwMode="auto">
          <a:xfrm flipH="1" flipV="1">
            <a:off x="6372225" y="6308725"/>
            <a:ext cx="287338" cy="144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0525" name="Line 45"/>
          <p:cNvSpPr>
            <a:spLocks noChangeShapeType="1"/>
          </p:cNvSpPr>
          <p:nvPr/>
        </p:nvSpPr>
        <p:spPr bwMode="auto">
          <a:xfrm flipH="1">
            <a:off x="6659563" y="5013325"/>
            <a:ext cx="4333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6" grpId="0" animBg="1"/>
      <p:bldP spid="40968" grpId="0" animBg="1"/>
      <p:bldP spid="40969" grpId="0" animBg="1"/>
      <p:bldP spid="40970" grpId="0" animBg="1"/>
      <p:bldP spid="40971" grpId="0" animBg="1"/>
      <p:bldP spid="40972" grpId="0"/>
      <p:bldP spid="40973" grpId="0"/>
      <p:bldP spid="40974" grpId="0"/>
      <p:bldP spid="20504" grpId="0"/>
      <p:bldP spid="40976" grpId="0"/>
      <p:bldP spid="40977" grpId="0" animBg="1"/>
      <p:bldP spid="20507" grpId="0"/>
      <p:bldP spid="20512" grpId="0" animBg="1"/>
      <p:bldP spid="20513" grpId="0" animBg="1"/>
      <p:bldP spid="20517" grpId="0" animBg="1"/>
      <p:bldP spid="20519" grpId="0" animBg="1"/>
      <p:bldP spid="40983" grpId="0"/>
      <p:bldP spid="40984" grpId="0"/>
      <p:bldP spid="20524" grpId="0" animBg="1"/>
      <p:bldP spid="205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71E42D-40EC-414A-BADD-2F4781C01B6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9A6695-28CF-425E-B3B5-F9EF076ABED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813675" cy="676275"/>
          </a:xfrm>
        </p:spPr>
        <p:txBody>
          <a:bodyPr/>
          <a:lstStyle/>
          <a:p>
            <a:pPr eaLnBrk="1" hangingPunct="1"/>
            <a:r>
              <a:rPr lang="en-US" altLang="zh-TW" sz="4000" b="1" smtClean="0">
                <a:latin typeface="Comic Sans MS" panose="030F0702030302020204" pitchFamily="66" charset="0"/>
              </a:rPr>
              <a:t>Stack Algorithm</a:t>
            </a:r>
            <a:endParaRPr lang="en-US" altLang="zh-TW" sz="2800" b="1" smtClean="0">
              <a:latin typeface="Arial" panose="020B0604020202020204" pitchFamily="34" charset="0"/>
            </a:endParaRPr>
          </a:p>
        </p:txBody>
      </p:sp>
      <p:sp>
        <p:nvSpPr>
          <p:cNvPr id="686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382000" cy="5056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Stack algorithm</a:t>
            </a:r>
            <a:r>
              <a:rPr lang="en-US" altLang="zh-TW" sz="2800" smtClean="0">
                <a:latin typeface="Comic Sans MS" panose="030F0702030302020204" pitchFamily="66" charset="0"/>
              </a:rPr>
              <a:t>: the set of pages in memory for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 frames</a:t>
            </a:r>
            <a:r>
              <a:rPr lang="en-US" altLang="zh-TW" sz="2800" smtClean="0">
                <a:latin typeface="Comic Sans MS" panose="030F0702030302020204" pitchFamily="66" charset="0"/>
              </a:rPr>
              <a:t> is always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a subset</a:t>
            </a:r>
            <a:r>
              <a:rPr lang="en-US" altLang="zh-TW" sz="2800" smtClean="0">
                <a:latin typeface="Comic Sans MS" panose="030F0702030302020204" pitchFamily="66" charset="0"/>
              </a:rPr>
              <a:t> of the set of pages that would be in memory with </a:t>
            </a:r>
            <a:r>
              <a:rPr lang="en-US" altLang="zh-TW" sz="2800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 +1 frames</a:t>
            </a:r>
            <a:r>
              <a:rPr lang="en-US" altLang="zh-TW" sz="2800" smtClean="0">
                <a:latin typeface="Comic Sans MS" panose="030F0702030302020204" pitchFamily="66" charset="0"/>
              </a:rPr>
              <a:t>.</a:t>
            </a:r>
            <a:endParaRPr lang="en-US" altLang="zh-TW" sz="28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Stack algorithms do not suffers from Belady's anomaly</a:t>
            </a:r>
            <a:r>
              <a:rPr lang="en-US" altLang="zh-TW" sz="2800" smtClean="0">
                <a:latin typeface="Comic Sans MS" panose="030F0702030302020204" pitchFamily="66" charset="0"/>
              </a:rPr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Both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optimal</a:t>
            </a:r>
            <a:r>
              <a:rPr lang="en-US" altLang="zh-TW" sz="2800" smtClean="0">
                <a:latin typeface="Comic Sans MS" panose="030F0702030302020204" pitchFamily="66" charset="0"/>
              </a:rPr>
              <a:t> algorithm and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LRU</a:t>
            </a:r>
            <a:r>
              <a:rPr lang="en-US" altLang="zh-TW" sz="2800" smtClean="0">
                <a:latin typeface="Comic Sans MS" panose="030F0702030302020204" pitchFamily="66" charset="0"/>
              </a:rPr>
              <a:t> algorithm are stack algorithm. (Prove it as an </a:t>
            </a:r>
            <a:r>
              <a:rPr lang="en-US" altLang="zh-TW" sz="2800" smtClean="0">
                <a:solidFill>
                  <a:schemeClr val="tx2"/>
                </a:solidFill>
                <a:latin typeface="Comic Sans MS" panose="030F0702030302020204" pitchFamily="66" charset="0"/>
              </a:rPr>
              <a:t>exercise</a:t>
            </a:r>
            <a:r>
              <a:rPr lang="en-US" altLang="zh-TW" sz="2800" smtClean="0">
                <a:latin typeface="Comic Sans MS" panose="030F0702030302020204" pitchFamily="66" charset="0"/>
              </a:rPr>
              <a:t>!)</a:t>
            </a:r>
            <a:endParaRPr lang="en-US" altLang="zh-TW" sz="28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Few systems</a:t>
            </a:r>
            <a:r>
              <a:rPr lang="en-US" altLang="zh-TW" sz="2800" smtClean="0">
                <a:latin typeface="Comic Sans MS" panose="030F0702030302020204" pitchFamily="66" charset="0"/>
              </a:rPr>
              <a:t> provide sufficient hardware support for the LRU page-replacement.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Comic Sans MS" panose="030F0702030302020204" pitchFamily="66" charset="0"/>
                <a:sym typeface="Symbol" panose="05050102010706020507" pitchFamily="18" charset="2"/>
              </a:rPr>
              <a:t> </a:t>
            </a:r>
            <a:r>
              <a:rPr lang="en-US" altLang="zh-TW" sz="2400" b="1" smtClean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LRU approximation algorithms</a:t>
            </a:r>
          </a:p>
        </p:txBody>
      </p:sp>
      <p:sp>
        <p:nvSpPr>
          <p:cNvPr id="39943" name="Text Box 4"/>
          <p:cNvSpPr txBox="1">
            <a:spLocks noChangeArrowheads="1"/>
          </p:cNvSpPr>
          <p:nvPr/>
        </p:nvSpPr>
        <p:spPr bwMode="auto">
          <a:xfrm>
            <a:off x="592138" y="849313"/>
            <a:ext cx="390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>
                <a:solidFill>
                  <a:srgbClr val="0000FF"/>
                </a:solidFill>
              </a:rPr>
              <a:t>a property of algorithms</a:t>
            </a:r>
          </a:p>
        </p:txBody>
      </p:sp>
      <p:sp>
        <p:nvSpPr>
          <p:cNvPr id="39944" name="向右箭號 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508625" y="982663"/>
            <a:ext cx="287338" cy="190500"/>
          </a:xfrm>
          <a:prstGeom prst="rightArrow">
            <a:avLst>
              <a:gd name="adj1" fmla="val 50000"/>
              <a:gd name="adj2" fmla="val 4997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5E74DC-0CE7-4189-8F68-0EC2C8DE552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D8D3BC-A9F6-4871-AA28-F84B79CC217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85188" cy="63182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LRU Approximation Algorithms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250825" y="1268413"/>
            <a:ext cx="8382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8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TW" b="1">
                <a:solidFill>
                  <a:srgbClr val="FF0000"/>
                </a:solidFill>
                <a:latin typeface="Comic Sans MS" panose="030F0702030302020204" pitchFamily="66" charset="0"/>
              </a:rPr>
              <a:t>reference bit</a:t>
            </a:r>
            <a:r>
              <a:rPr lang="en-US" altLang="zh-TW">
                <a:latin typeface="Comic Sans MS" panose="030F0702030302020204" pitchFamily="66" charset="0"/>
              </a:rPr>
              <a:t>: When a page is referenced, </a:t>
            </a:r>
          </a:p>
          <a:p>
            <a:pPr lvl="1" eaLnBrk="1" hangingPunct="1">
              <a:spcBef>
                <a:spcPct val="8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3200">
                <a:latin typeface="Comic Sans MS" panose="030F0702030302020204" pitchFamily="66" charset="0"/>
              </a:rPr>
              <a:t>its reference bit is set by hardware. </a:t>
            </a:r>
            <a:r>
              <a:rPr lang="en-US" altLang="zh-TW" sz="3200">
                <a:solidFill>
                  <a:srgbClr val="FF0000"/>
                </a:solidFill>
                <a:latin typeface="Comic Sans MS" panose="030F0702030302020204" pitchFamily="66" charset="0"/>
              </a:rPr>
              <a:t>(every 100 ms</a:t>
            </a:r>
            <a:r>
              <a:rPr lang="en-US" altLang="zh-TW" sz="3200">
                <a:latin typeface="Comic Sans MS" panose="030F0702030302020204" pitchFamily="66" charset="0"/>
              </a:rPr>
              <a:t>)</a:t>
            </a:r>
          </a:p>
          <a:p>
            <a:pPr eaLnBrk="1" hangingPunct="1">
              <a:spcBef>
                <a:spcPct val="8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TW">
                <a:latin typeface="Comic Sans MS" panose="030F0702030302020204" pitchFamily="66" charset="0"/>
              </a:rPr>
              <a:t>We </a:t>
            </a:r>
            <a:r>
              <a:rPr lang="en-US" altLang="zh-TW">
                <a:solidFill>
                  <a:srgbClr val="FF0000"/>
                </a:solidFill>
                <a:latin typeface="Comic Sans MS" panose="030F0702030302020204" pitchFamily="66" charset="0"/>
              </a:rPr>
              <a:t>do not know the order of use</a:t>
            </a:r>
            <a:r>
              <a:rPr lang="en-US" altLang="zh-TW">
                <a:latin typeface="Comic Sans MS" panose="030F0702030302020204" pitchFamily="66" charset="0"/>
              </a:rPr>
              <a:t>, </a:t>
            </a:r>
          </a:p>
          <a:p>
            <a:pPr lvl="1" eaLnBrk="1" hangingPunct="1">
              <a:spcBef>
                <a:spcPct val="8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TW" sz="3200">
                <a:latin typeface="Comic Sans MS" panose="030F0702030302020204" pitchFamily="66" charset="0"/>
              </a:rPr>
              <a:t>but we know which pages were used and which were not used.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F0D2D4-B4AD-4734-893B-D4285812DD97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60D503-C36F-4C1B-B523-96ECBB93371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/>
          </a:p>
        </p:txBody>
      </p:sp>
      <p:sp>
        <p:nvSpPr>
          <p:cNvPr id="228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642350" cy="4465638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Keep a </a:t>
            </a:r>
            <a:r>
              <a:rPr lang="en-US" altLang="zh-TW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TW" smtClean="0">
                <a:solidFill>
                  <a:srgbClr val="FF0000"/>
                </a:solidFill>
                <a:latin typeface="Times New Roman" panose="02020603050405020304" pitchFamily="18" charset="0"/>
              </a:rPr>
              <a:t>-bit</a:t>
            </a:r>
            <a:r>
              <a:rPr lang="en-US" altLang="zh-TW" smtClean="0">
                <a:latin typeface="Comic Sans MS" panose="030F0702030302020204" pitchFamily="66" charset="0"/>
              </a:rPr>
              <a:t> byte for each page in memory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At regular intervals,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shift right the </a:t>
            </a:r>
            <a:r>
              <a:rPr lang="en-US" altLang="zh-TW" i="1" smtClean="0">
                <a:latin typeface="Times New Roman" panose="02020603050405020304" pitchFamily="18" charset="0"/>
              </a:rPr>
              <a:t>k</a:t>
            </a:r>
            <a:r>
              <a:rPr lang="en-US" altLang="zh-TW" smtClean="0">
                <a:latin typeface="Times New Roman" panose="02020603050405020304" pitchFamily="18" charset="0"/>
              </a:rPr>
              <a:t>-bit</a:t>
            </a:r>
            <a:r>
              <a:rPr lang="en-US" altLang="zh-TW" smtClean="0">
                <a:latin typeface="Comic Sans MS" panose="030F0702030302020204" pitchFamily="66" charset="0"/>
              </a:rPr>
              <a:t> (discarding the lowest)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copy reference bit to the highest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Replace the page with smallest number (byte)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if not unique, FIFO or replace all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179388" y="476250"/>
            <a:ext cx="86502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FF"/>
                </a:solidFill>
                <a:latin typeface="Comic Sans MS" panose="030F0702030302020204" pitchFamily="66" charset="0"/>
              </a:rPr>
              <a:t>Additional-reference-bits Algorithm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83992E-5448-4A27-94DD-3BDF4C0825B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EF6C58-EA74-4847-8BF4-1801500A85C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/>
          </a:p>
        </p:txBody>
      </p:sp>
      <p:sp>
        <p:nvSpPr>
          <p:cNvPr id="43013" name="Rectangle 2"/>
          <p:cNvSpPr>
            <a:spLocks noChangeArrowheads="1"/>
          </p:cNvSpPr>
          <p:nvPr/>
        </p:nvSpPr>
        <p:spPr bwMode="auto">
          <a:xfrm>
            <a:off x="6011863" y="1412875"/>
            <a:ext cx="182562" cy="3006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519488" y="2976563"/>
            <a:ext cx="1790700" cy="320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reference bit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3015" name="Text Box 4"/>
          <p:cNvSpPr txBox="1">
            <a:spLocks noChangeArrowheads="1"/>
          </p:cNvSpPr>
          <p:nvPr/>
        </p:nvSpPr>
        <p:spPr bwMode="auto">
          <a:xfrm>
            <a:off x="1023938" y="838200"/>
            <a:ext cx="1998662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history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200" b="1"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1101011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0011001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1010000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0000111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0010000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1000000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</a:rPr>
              <a:t>0000000</a:t>
            </a:r>
            <a:endParaRPr lang="en-US" altLang="zh-TW" sz="22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5691188" y="814388"/>
            <a:ext cx="1998662" cy="360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history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en-US" altLang="zh-TW" sz="2200" b="1">
              <a:latin typeface="Book Antiqua" pitchFamily="18" charset="0"/>
            </a:endParaRP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1101011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0011001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1010000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0000111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0010000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1000000</a:t>
            </a:r>
          </a:p>
          <a:p>
            <a:pPr algn="ctr" eaLnBrk="0" hangingPunct="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>
                <a:latin typeface="Book Antiqua" pitchFamily="18" charset="0"/>
              </a:rPr>
              <a:t>0000000</a:t>
            </a:r>
          </a:p>
        </p:txBody>
      </p:sp>
      <p:sp>
        <p:nvSpPr>
          <p:cNvPr id="43017" name="Line 6"/>
          <p:cNvSpPr>
            <a:spLocks noChangeShapeType="1"/>
          </p:cNvSpPr>
          <p:nvPr/>
        </p:nvSpPr>
        <p:spPr bwMode="auto">
          <a:xfrm>
            <a:off x="3122613" y="2644775"/>
            <a:ext cx="2897187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8" name="Line 7"/>
          <p:cNvSpPr>
            <a:spLocks noChangeShapeType="1"/>
          </p:cNvSpPr>
          <p:nvPr/>
        </p:nvSpPr>
        <p:spPr bwMode="auto">
          <a:xfrm flipH="1" flipV="1">
            <a:off x="7321550" y="3421063"/>
            <a:ext cx="1039813" cy="565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9" name="Text Box 8"/>
          <p:cNvSpPr txBox="1">
            <a:spLocks noChangeArrowheads="1"/>
          </p:cNvSpPr>
          <p:nvPr/>
        </p:nvSpPr>
        <p:spPr bwMode="auto">
          <a:xfrm>
            <a:off x="8089900" y="4125913"/>
            <a:ext cx="722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LRU</a:t>
            </a:r>
          </a:p>
        </p:txBody>
      </p:sp>
      <p:sp>
        <p:nvSpPr>
          <p:cNvPr id="43020" name="Text Box 9"/>
          <p:cNvSpPr txBox="1">
            <a:spLocks noChangeArrowheads="1"/>
          </p:cNvSpPr>
          <p:nvPr/>
        </p:nvSpPr>
        <p:spPr bwMode="auto">
          <a:xfrm>
            <a:off x="3632200" y="314325"/>
            <a:ext cx="15192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800" b="1" i="1">
                <a:latin typeface="Book Antiqua" panose="02040602050305030304" pitchFamily="18" charset="0"/>
              </a:rPr>
              <a:t>(k</a:t>
            </a:r>
            <a:r>
              <a:rPr lang="en-US" altLang="zh-TW" sz="2800" b="1">
                <a:latin typeface="Book Antiqua" panose="02040602050305030304" pitchFamily="18" charset="0"/>
              </a:rPr>
              <a:t>=8)</a:t>
            </a:r>
            <a:endParaRPr lang="en-US" altLang="zh-TW" sz="2800" b="1" i="1">
              <a:latin typeface="Book Antiqua" panose="02040602050305030304" pitchFamily="18" charset="0"/>
            </a:endParaRPr>
          </a:p>
        </p:txBody>
      </p:sp>
      <p:sp>
        <p:nvSpPr>
          <p:cNvPr id="43021" name="Text Box 10"/>
          <p:cNvSpPr txBox="1">
            <a:spLocks noChangeArrowheads="1"/>
          </p:cNvSpPr>
          <p:nvPr/>
        </p:nvSpPr>
        <p:spPr bwMode="auto">
          <a:xfrm>
            <a:off x="609600" y="4724400"/>
            <a:ext cx="2438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400"/>
              <a:t>Every 100 ms, a timer interrupt transfers control to OS.</a:t>
            </a:r>
          </a:p>
        </p:txBody>
      </p:sp>
      <p:sp>
        <p:nvSpPr>
          <p:cNvPr id="43022" name="Line 11"/>
          <p:cNvSpPr>
            <a:spLocks noChangeShapeType="1"/>
          </p:cNvSpPr>
          <p:nvPr/>
        </p:nvSpPr>
        <p:spPr bwMode="auto">
          <a:xfrm>
            <a:off x="1476375" y="1412875"/>
            <a:ext cx="10795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268538" y="836613"/>
            <a:ext cx="72072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latin typeface="Book Antiqua" panose="02040602050305030304" pitchFamily="18" charset="0"/>
                <a:sym typeface="Symbol" panose="05050102010706020507" pitchFamily="18" charset="2"/>
              </a:rPr>
              <a:t>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200" b="1">
              <a:latin typeface="Book Antiqua" panose="02040602050305030304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1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200" b="1">
                <a:solidFill>
                  <a:srgbClr val="000000"/>
                </a:solidFill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940425" y="836613"/>
            <a:ext cx="358775" cy="360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latin typeface="Book Antiqua" pitchFamily="18" charset="0"/>
              </a:rPr>
              <a:t>+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0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en-US" altLang="zh-TW" sz="2200" b="1" smtClean="0">
              <a:latin typeface="Book Antiqua" pitchFamily="18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200" b="1" smtClean="0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en-US" altLang="zh-TW" sz="2200" b="1" smtClean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23564" grpId="0"/>
      <p:bldP spid="2356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1CE8666-BC74-4C96-80EE-2FCD8FD9C488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026903-A50F-4CB2-81D8-9AB2E07EF02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/>
          </a:p>
        </p:txBody>
      </p:sp>
      <p:sp>
        <p:nvSpPr>
          <p:cNvPr id="2457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898525"/>
            <a:ext cx="8534400" cy="159385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Check pages in FIFO order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(circular queue</a:t>
            </a:r>
            <a:r>
              <a:rPr lang="en-US" altLang="zh-TW" smtClean="0">
                <a:latin typeface="Comic Sans MS" panose="030F0702030302020204" pitchFamily="66" charset="0"/>
              </a:rPr>
              <a:t>)</a:t>
            </a:r>
            <a:endParaRPr lang="en-US" altLang="zh-TW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If reference bit = 0, replace it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	else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 set to 0 and check next.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mtClean="0">
              <a:latin typeface="Comic Sans MS" panose="030F0702030302020204" pitchFamily="66" charset="0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title"/>
          </p:nvPr>
        </p:nvSpPr>
        <p:spPr>
          <a:xfrm>
            <a:off x="357188" y="0"/>
            <a:ext cx="8450262" cy="109061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solidFill>
                  <a:srgbClr val="0000FF"/>
                </a:solidFill>
                <a:latin typeface="Comic Sans MS" panose="030F0702030302020204" pitchFamily="66" charset="0"/>
              </a:rPr>
              <a:t>Second-chance Algorithm</a:t>
            </a:r>
          </a:p>
        </p:txBody>
      </p:sp>
      <p:pic>
        <p:nvPicPr>
          <p:cNvPr id="44039" name="Picture 5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6" t="983" r="8766" b="983"/>
          <a:stretch>
            <a:fillRect/>
          </a:stretch>
        </p:blipFill>
        <p:spPr bwMode="auto">
          <a:xfrm>
            <a:off x="1042988" y="2420938"/>
            <a:ext cx="7200900" cy="39608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9405EF-BA26-4544-8F8E-E195229B985F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6AEC7C-20C6-4361-AFA1-3FD2A1CE6C1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418513" cy="773113"/>
          </a:xfrm>
        </p:spPr>
        <p:txBody>
          <a:bodyPr/>
          <a:lstStyle/>
          <a:p>
            <a:pPr eaLnBrk="1" hangingPunct="1"/>
            <a:r>
              <a:rPr lang="en-US" altLang="zh-TW" sz="3600" b="1" smtClean="0">
                <a:latin typeface="Comic Sans MS" panose="030F0702030302020204" pitchFamily="66" charset="0"/>
              </a:rPr>
              <a:t>Enhanced Second Chance Algorithm</a:t>
            </a:r>
          </a:p>
        </p:txBody>
      </p:sp>
      <p:sp>
        <p:nvSpPr>
          <p:cNvPr id="256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374775"/>
            <a:ext cx="8148638" cy="494982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Consider the pair (reference bit,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modify bit</a:t>
            </a:r>
            <a:r>
              <a:rPr lang="en-US" altLang="zh-TW" sz="2800" smtClean="0">
                <a:latin typeface="Comic Sans MS" panose="030F0702030302020204" pitchFamily="66" charset="0"/>
              </a:rPr>
              <a:t>), categorized into four classes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(0,0): neither used and dirty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(0,1): not used but dirty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(1,0): used but clean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zh-TW" sz="2400" smtClean="0">
                <a:latin typeface="Comic Sans MS" panose="030F0702030302020204" pitchFamily="66" charset="0"/>
              </a:rPr>
              <a:t>(1,1): used and dirty</a:t>
            </a:r>
          </a:p>
          <a:p>
            <a:pPr eaLnBrk="1" hangingPunct="1"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The algorithm: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replace the first page in the lowest nonempty class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  <a:sym typeface="Wingdings" panose="05000000000000000000" pitchFamily="2" charset="2"/>
              </a:rPr>
              <a:t></a:t>
            </a:r>
            <a:r>
              <a:rPr lang="en-US" altLang="zh-TW" sz="2800" smtClean="0">
                <a:latin typeface="Comic Sans MS" panose="030F0702030302020204" pitchFamily="66" charset="0"/>
              </a:rPr>
              <a:t> : search time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2800" smtClean="0">
                <a:latin typeface="Comic Sans MS" panose="030F0702030302020204" pitchFamily="66" charset="0"/>
                <a:sym typeface="Wingdings" panose="05000000000000000000" pitchFamily="2" charset="2"/>
              </a:rPr>
              <a:t></a:t>
            </a:r>
            <a:r>
              <a:rPr lang="en-US" altLang="zh-TW" sz="2800" smtClean="0">
                <a:latin typeface="Comic Sans MS" panose="030F0702030302020204" pitchFamily="66" charset="0"/>
              </a:rPr>
              <a:t>: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reduce I/O</a:t>
            </a:r>
            <a:r>
              <a:rPr lang="en-US" altLang="zh-TW" sz="2800" smtClean="0">
                <a:latin typeface="Comic Sans MS" panose="030F0702030302020204" pitchFamily="66" charset="0"/>
              </a:rPr>
              <a:t> (for swap 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420C07-34EC-4E3D-BFB5-364835790350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643EF6-41E4-4486-A6E7-CE878B03237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145338" cy="84296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Counting Algorithms</a:t>
            </a:r>
          </a:p>
        </p:txBody>
      </p:sp>
      <p:sp>
        <p:nvSpPr>
          <p:cNvPr id="26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591550" cy="5018088"/>
          </a:xfrm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z="2800" b="1" smtClean="0">
                <a:solidFill>
                  <a:srgbClr val="FF0000"/>
                </a:solidFill>
                <a:latin typeface="Comic Sans MS" pitchFamily="66" charset="0"/>
              </a:rPr>
              <a:t>LFU Algorithm</a:t>
            </a:r>
            <a:r>
              <a:rPr lang="en-US" altLang="zh-TW" sz="2800" smtClean="0">
                <a:latin typeface="Comic Sans MS" pitchFamily="66" charset="0"/>
              </a:rPr>
              <a:t> (least frequently used)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smtClean="0">
                <a:latin typeface="Comic Sans MS" pitchFamily="66" charset="0"/>
              </a:rPr>
              <a:t>keep a counter for each page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smtClean="0">
                <a:latin typeface="Comic Sans MS" pitchFamily="66" charset="0"/>
              </a:rPr>
              <a:t>Idea: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An actively used page should have a large reference count</a:t>
            </a:r>
            <a:r>
              <a:rPr lang="en-US" altLang="zh-TW" sz="2400" smtClean="0">
                <a:latin typeface="Comic Sans MS" pitchFamily="66" charset="0"/>
              </a:rPr>
              <a:t>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smtClean="0">
                <a:latin typeface="Comic Sans MS" pitchFamily="66" charset="0"/>
                <a:sym typeface="Wingdings" pitchFamily="2" charset="2"/>
              </a:rPr>
              <a:t> 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sym typeface="Wingdings" pitchFamily="2" charset="2"/>
              </a:rPr>
              <a:t>Used heavily -&gt; large counter -&gt; may no longer needed but in memory</a:t>
            </a:r>
            <a:endParaRPr lang="en-US" altLang="zh-TW" sz="2400" b="1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rgbClr val="FFCC00"/>
              </a:buClr>
              <a:defRPr/>
            </a:pPr>
            <a:r>
              <a:rPr lang="en-US" altLang="zh-TW" sz="2800" b="1" smtClean="0">
                <a:solidFill>
                  <a:srgbClr val="FF0000"/>
                </a:solidFill>
                <a:latin typeface="Comic Sans MS" pitchFamily="66" charset="0"/>
              </a:rPr>
              <a:t>MFU Algorithm</a:t>
            </a:r>
            <a:r>
              <a:rPr lang="en-US" altLang="zh-TW" sz="2800" smtClean="0">
                <a:latin typeface="Comic Sans MS" pitchFamily="66" charset="0"/>
              </a:rPr>
              <a:t> (most frequently used)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smtClean="0">
                <a:latin typeface="Comic Sans MS" pitchFamily="66" charset="0"/>
              </a:rPr>
              <a:t>Idea: The page with the smallest count was probably just brought in and has yet to be used.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buClr>
                <a:schemeClr val="tx1"/>
              </a:buClr>
              <a:defRPr/>
            </a:pPr>
            <a:r>
              <a:rPr lang="en-US" altLang="zh-TW" sz="2800" smtClean="0">
                <a:latin typeface="Comic Sans MS" pitchFamily="66" charset="0"/>
              </a:rPr>
              <a:t>Both counting algorithm are not common</a:t>
            </a:r>
            <a:endParaRPr lang="en-US" altLang="zh-TW" sz="2800" smtClean="0">
              <a:solidFill>
                <a:srgbClr val="FF0000"/>
              </a:solidFill>
              <a:latin typeface="Comic Sans MS" pitchFamily="66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implementation is expensive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do not approximate OPT algorithm very well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181932-0FB0-4373-B979-B4B3D9DE6D40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A22B74C-5E70-4552-8D8C-660281F54B1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7197725" cy="490538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Page Buffering</a:t>
            </a:r>
            <a:r>
              <a:rPr lang="en-US" altLang="zh-TW" sz="4000" smtClean="0">
                <a:latin typeface="Comic Sans MS" panose="030F0702030302020204" pitchFamily="66" charset="0"/>
              </a:rPr>
              <a:t> Algorithms</a:t>
            </a:r>
          </a:p>
        </p:txBody>
      </p:sp>
      <p:sp>
        <p:nvSpPr>
          <p:cNvPr id="27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8300" y="1143000"/>
            <a:ext cx="8547100" cy="5214938"/>
          </a:xfrm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400" smtClean="0">
                <a:latin typeface="Comic Sans MS" pitchFamily="66" charset="0"/>
              </a:rPr>
              <a:t>	</a:t>
            </a:r>
            <a:r>
              <a:rPr lang="en-US" altLang="zh-TW" sz="240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(used in addition to a specific replacement algorithm)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z="2800" smtClean="0">
                <a:latin typeface="Comic Sans MS" pitchFamily="66" charset="0"/>
              </a:rPr>
              <a:t>Keep a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itchFamily="66" charset="0"/>
              </a:rPr>
              <a:t>pool</a:t>
            </a:r>
            <a:r>
              <a:rPr lang="en-US" altLang="zh-TW" sz="2800" smtClean="0">
                <a:latin typeface="Comic Sans MS" pitchFamily="66" charset="0"/>
              </a:rPr>
              <a:t> of free frames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</a:rPr>
              <a:t>the desired page is read before the victim is written out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</a:rPr>
              <a:t>allows the process to restart as soon as possible </a:t>
            </a:r>
            <a:endParaRPr lang="en-US" altLang="zh-TW" sz="2400" smtClean="0">
              <a:solidFill>
                <a:srgbClr val="FF0000"/>
              </a:solidFill>
              <a:latin typeface="Comic Sans MS" pitchFamily="66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z="2800" smtClean="0">
                <a:solidFill>
                  <a:srgbClr val="FF0000"/>
                </a:solidFill>
                <a:latin typeface="Comic Sans MS" pitchFamily="66" charset="0"/>
              </a:rPr>
              <a:t>Maintain a list of modified pages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</a:rPr>
              <a:t>When paging device is idle,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a modified page is written to the disk and its modify bit is reset</a:t>
            </a:r>
            <a:r>
              <a:rPr lang="en-US" altLang="zh-TW" sz="2400" smtClean="0">
                <a:latin typeface="Comic Sans MS" pitchFamily="66" charset="0"/>
              </a:rPr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  <a:defRPr/>
            </a:pPr>
            <a:r>
              <a:rPr lang="en-US" altLang="zh-TW" sz="2800" smtClean="0">
                <a:latin typeface="Comic Sans MS" pitchFamily="66" charset="0"/>
              </a:rPr>
              <a:t>Keep a pool of free frames but to remember which page was in each frame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</a:rPr>
              <a:t>possible to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reuse an old page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22CE303-8798-47C9-B993-9C46BF52477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677BD5-3E3F-48F7-AC5F-3AA423AF7B4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Allocation of Frames</a:t>
            </a:r>
          </a:p>
        </p:txBody>
      </p:sp>
      <p:sp>
        <p:nvSpPr>
          <p:cNvPr id="70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569325" cy="53292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Each process needs </a:t>
            </a:r>
            <a:r>
              <a:rPr lang="en-US" altLang="zh-TW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minimum</a:t>
            </a:r>
            <a:r>
              <a:rPr lang="en-US" altLang="zh-TW" smtClean="0">
                <a:latin typeface="Comic Sans MS" panose="030F0702030302020204" pitchFamily="66" charset="0"/>
              </a:rPr>
              <a:t> number of pages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Example:  IBM 370 –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6 pages</a:t>
            </a:r>
            <a:r>
              <a:rPr lang="en-US" altLang="zh-TW" smtClean="0">
                <a:latin typeface="Comic Sans MS" panose="030F0702030302020204" pitchFamily="66" charset="0"/>
              </a:rPr>
              <a:t> to handle Storage to Storage MOVE instruction: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instruction is 6 bytes, might span 2 pages.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2 pages to handle </a:t>
            </a:r>
            <a:r>
              <a:rPr lang="en-US" altLang="zh-TW" b="1" smtClean="0">
                <a:latin typeface="Comic Sans MS" panose="030F0702030302020204" pitchFamily="66" charset="0"/>
              </a:rPr>
              <a:t>from</a:t>
            </a:r>
            <a:endParaRPr lang="en-US" altLang="zh-TW" smtClean="0"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2 pages to handle </a:t>
            </a:r>
            <a:r>
              <a:rPr lang="en-US" altLang="zh-TW" b="1" smtClean="0">
                <a:latin typeface="Comic Sans MS" panose="030F0702030302020204" pitchFamily="66" charset="0"/>
              </a:rPr>
              <a:t>to</a:t>
            </a:r>
            <a:endParaRPr lang="en-US" altLang="zh-TW" smtClean="0"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latin typeface="Comic Sans MS" panose="030F0702030302020204" pitchFamily="66" charset="0"/>
              </a:rPr>
              <a:t>Two major allocation schemes</a:t>
            </a:r>
            <a:endParaRPr lang="en-US" altLang="zh-TW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fixed allocation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priority allocation</a:t>
            </a:r>
          </a:p>
        </p:txBody>
      </p:sp>
      <p:sp>
        <p:nvSpPr>
          <p:cNvPr id="48135" name="動作按鈕: 下一項 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72450" y="4292600"/>
            <a:ext cx="503238" cy="431800"/>
          </a:xfrm>
          <a:prstGeom prst="actionButtonForwardNex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A7AEBA-20E2-4E41-95E8-7B21301D010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94160F-1B26-460F-91F0-70A2F578161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Fixed Allocation</a:t>
            </a:r>
          </a:p>
        </p:txBody>
      </p:sp>
      <p:sp>
        <p:nvSpPr>
          <p:cNvPr id="491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848600" cy="54102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Equal allocation</a:t>
            </a:r>
            <a:r>
              <a:rPr lang="en-US" altLang="zh-TW" sz="2400" smtClean="0">
                <a:latin typeface="Comic Sans MS" panose="030F0702030302020204" pitchFamily="66" charset="0"/>
              </a:rPr>
              <a:t> – e.g., if 100 frames and 5 processes, give each 20 pages.</a:t>
            </a:r>
            <a:endParaRPr lang="en-US" altLang="zh-TW" sz="2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/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Proportional allocation</a:t>
            </a:r>
            <a:r>
              <a:rPr lang="en-US" altLang="zh-TW" sz="2400" smtClean="0">
                <a:latin typeface="Comic Sans MS" panose="030F0702030302020204" pitchFamily="66" charset="0"/>
              </a:rPr>
              <a:t> – Allocate according to the size of process.</a:t>
            </a:r>
          </a:p>
        </p:txBody>
      </p:sp>
      <p:graphicFrame>
        <p:nvGraphicFramePr>
          <p:cNvPr id="49159" name="Object 4"/>
          <p:cNvGraphicFramePr>
            <a:graphicFrameLocks noChangeAspect="1"/>
          </p:cNvGraphicFramePr>
          <p:nvPr/>
        </p:nvGraphicFramePr>
        <p:xfrm>
          <a:off x="1625600" y="2613025"/>
          <a:ext cx="28575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name="Equation" r:id="rId5" imgW="2857500" imgH="1612900" progId="Equation.3">
                  <p:embed/>
                </p:oleObj>
              </mc:Choice>
              <mc:Fallback>
                <p:oleObj name="Equation" r:id="rId5" imgW="2857500" imgH="1612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2613025"/>
                        <a:ext cx="28575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Line 5"/>
          <p:cNvSpPr>
            <a:spLocks noChangeShapeType="1"/>
          </p:cNvSpPr>
          <p:nvPr/>
        </p:nvSpPr>
        <p:spPr bwMode="auto">
          <a:xfrm>
            <a:off x="1447800" y="269557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61" name="Line 6"/>
          <p:cNvSpPr>
            <a:spLocks noChangeShapeType="1"/>
          </p:cNvSpPr>
          <p:nvPr/>
        </p:nvSpPr>
        <p:spPr bwMode="auto">
          <a:xfrm>
            <a:off x="1447800" y="307657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62" name="Line 7"/>
          <p:cNvSpPr>
            <a:spLocks noChangeShapeType="1"/>
          </p:cNvSpPr>
          <p:nvPr/>
        </p:nvSpPr>
        <p:spPr bwMode="auto">
          <a:xfrm>
            <a:off x="1447800" y="345757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63" name="Line 8"/>
          <p:cNvSpPr>
            <a:spLocks noChangeShapeType="1"/>
          </p:cNvSpPr>
          <p:nvPr/>
        </p:nvSpPr>
        <p:spPr bwMode="auto">
          <a:xfrm>
            <a:off x="1447800" y="391477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49164" name="Object 9"/>
          <p:cNvGraphicFramePr>
            <a:graphicFrameLocks noChangeAspect="1"/>
          </p:cNvGraphicFramePr>
          <p:nvPr/>
        </p:nvGraphicFramePr>
        <p:xfrm>
          <a:off x="4867275" y="2997200"/>
          <a:ext cx="2568575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4" name="方程式" r:id="rId7" imgW="1143000" imgH="1473200" progId="Equation.3">
                  <p:embed/>
                </p:oleObj>
              </mc:Choice>
              <mc:Fallback>
                <p:oleObj name="方程式" r:id="rId7" imgW="1143000" imgH="147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2997200"/>
                        <a:ext cx="2568575" cy="331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9A55587-06B0-4EED-B08E-B2D4FD0DF69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68982D-2B25-4634-A7A6-C6E020E0BF2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Priority Allocation</a:t>
            </a:r>
          </a:p>
        </p:txBody>
      </p:sp>
      <p:sp>
        <p:nvSpPr>
          <p:cNvPr id="72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zh-TW" smtClean="0"/>
              <a:t>Use a proportional allocation scheme </a:t>
            </a:r>
            <a:r>
              <a:rPr lang="en-US" altLang="zh-TW" smtClean="0">
                <a:solidFill>
                  <a:srgbClr val="FF0000"/>
                </a:solidFill>
              </a:rPr>
              <a:t>using priorities rather than size</a:t>
            </a:r>
            <a:endParaRPr lang="en-US" altLang="zh-TW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mtClean="0"/>
          </a:p>
          <a:p>
            <a:pPr eaLnBrk="1" hangingPunct="1"/>
            <a:r>
              <a:rPr lang="en-US" altLang="zh-TW" smtClean="0"/>
              <a:t>If process </a:t>
            </a:r>
            <a:r>
              <a:rPr lang="en-US" altLang="zh-TW" i="1" smtClean="0">
                <a:latin typeface="Times New Roman" panose="02020603050405020304" pitchFamily="18" charset="0"/>
              </a:rPr>
              <a:t>P</a:t>
            </a:r>
            <a:r>
              <a:rPr lang="en-US" altLang="zh-TW" i="1" baseline="-25000" smtClean="0">
                <a:latin typeface="Times New Roman" panose="02020603050405020304" pitchFamily="18" charset="0"/>
              </a:rPr>
              <a:t>i</a:t>
            </a:r>
            <a:r>
              <a:rPr lang="en-US" altLang="zh-TW" smtClean="0">
                <a:latin typeface="Times New Roman" panose="02020603050405020304" pitchFamily="18" charset="0"/>
              </a:rPr>
              <a:t> </a:t>
            </a:r>
            <a:r>
              <a:rPr lang="en-US" altLang="zh-TW" smtClean="0"/>
              <a:t>generates a page fault,</a:t>
            </a:r>
          </a:p>
          <a:p>
            <a:pPr lvl="1" eaLnBrk="1" hangingPunct="1"/>
            <a:r>
              <a:rPr lang="en-US" altLang="zh-TW" smtClean="0"/>
              <a:t>select for replacement one of its frames</a:t>
            </a:r>
          </a:p>
          <a:p>
            <a:pPr lvl="1" eaLnBrk="1" hangingPunct="1"/>
            <a:r>
              <a:rPr lang="en-US" altLang="zh-TW" smtClean="0"/>
              <a:t>select for replacement a frame from a process with lower priority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E4A9D2-5767-49DE-B58D-EAF94E5B0F3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1F1D2-FA78-42A1-A9BD-48D7990D5DA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Global vs. Local Allocation</a:t>
            </a:r>
          </a:p>
        </p:txBody>
      </p:sp>
      <p:sp>
        <p:nvSpPr>
          <p:cNvPr id="73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351838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b="1" smtClean="0">
                <a:solidFill>
                  <a:srgbClr val="0000FF"/>
                </a:solidFill>
              </a:rPr>
              <a:t>Global</a:t>
            </a:r>
            <a:r>
              <a:rPr lang="en-US" altLang="zh-TW" smtClean="0"/>
              <a:t> replacement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process selects a replacement frame </a:t>
            </a:r>
            <a:r>
              <a:rPr lang="en-US" altLang="zh-TW" smtClean="0">
                <a:solidFill>
                  <a:srgbClr val="FF0000"/>
                </a:solidFill>
              </a:rPr>
              <a:t>from the set of </a:t>
            </a:r>
            <a:r>
              <a:rPr lang="en-US" altLang="zh-TW" b="1" smtClean="0">
                <a:solidFill>
                  <a:srgbClr val="FF0000"/>
                </a:solidFill>
              </a:rPr>
              <a:t>all</a:t>
            </a:r>
            <a:r>
              <a:rPr lang="en-US" altLang="zh-TW" smtClean="0">
                <a:solidFill>
                  <a:srgbClr val="FF0000"/>
                </a:solidFill>
              </a:rPr>
              <a:t> frames</a:t>
            </a:r>
            <a:r>
              <a:rPr lang="en-US" altLang="zh-TW" smtClean="0"/>
              <a:t>; </a:t>
            </a:r>
            <a:r>
              <a:rPr lang="en-US" altLang="zh-TW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 process can take a frame from another</a:t>
            </a:r>
            <a:r>
              <a:rPr lang="en-US" altLang="zh-TW" smtClean="0"/>
              <a:t>.</a:t>
            </a:r>
            <a:endParaRPr lang="en-US" altLang="zh-TW" smtClean="0">
              <a:latin typeface="Comic Sans MS" pitchFamily="66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>
                <a:latin typeface="Comic Sans MS" pitchFamily="66" charset="0"/>
              </a:rPr>
              <a:t>e.g., allow a high-priority process to take frames from a low-priority process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mtClean="0">
                <a:latin typeface="Comic Sans MS" pitchFamily="66" charset="0"/>
              </a:rPr>
              <a:t>good system performance and thus is </a:t>
            </a: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</a:rPr>
              <a:t>common used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b="1" smtClean="0">
                <a:solidFill>
                  <a:srgbClr val="0000FF"/>
                </a:solidFill>
              </a:rPr>
              <a:t>Local</a:t>
            </a:r>
            <a:r>
              <a:rPr lang="en-US" altLang="zh-TW" smtClean="0"/>
              <a:t> replacement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each process selects from only its own set of allocated frames.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04D6815-5EB3-4B4A-8C0A-22E0447DACA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522BE4-E9D4-44B1-AC62-EEFFB6BDBE8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NUMA: </a:t>
            </a:r>
            <a:r>
              <a:rPr lang="en-US" altLang="zh-TW" sz="3200" smtClean="0"/>
              <a:t>Non-Uniform Memory Access</a:t>
            </a:r>
            <a:r>
              <a:rPr lang="en-US" altLang="zh-TW" sz="3600" smtClean="0"/>
              <a:t> (1)</a:t>
            </a:r>
          </a:p>
        </p:txBody>
      </p:sp>
      <p:sp>
        <p:nvSpPr>
          <p:cNvPr id="236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0675" y="1052513"/>
            <a:ext cx="8499475" cy="35290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Memory access times vary significantly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Occurs in systems containing combined CPU and memory boards. </a:t>
            </a:r>
            <a:r>
              <a:rPr lang="en-US" altLang="zh-TW" sz="2000" smtClean="0">
                <a:solidFill>
                  <a:srgbClr val="0000FF"/>
                </a:solidFill>
              </a:rPr>
              <a:t>Without exception, they are slower than systems in which memory and CPUs are located on the same motherboard.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Managing which page frames are stored at which locations can significantly affect performance.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(</a:t>
            </a:r>
            <a:r>
              <a:rPr lang="en-US" altLang="zh-TW" sz="2000" smtClean="0">
                <a:solidFill>
                  <a:srgbClr val="0000FF"/>
                </a:solidFill>
              </a:rPr>
              <a:t>CPU scheduler and memory-placement works together</a:t>
            </a:r>
            <a:r>
              <a:rPr lang="en-US" altLang="zh-TW" sz="2000" smtClean="0"/>
              <a:t>) (</a:t>
            </a:r>
            <a:r>
              <a:rPr lang="en-US" altLang="zh-TW" sz="2000" smtClean="0">
                <a:solidFill>
                  <a:srgbClr val="FF0000"/>
                </a:solidFill>
              </a:rPr>
              <a:t>assigned affinity to a CPU</a:t>
            </a:r>
            <a:r>
              <a:rPr lang="en-US" altLang="zh-TW" sz="2000" smtClean="0"/>
              <a:t>)  allocated memory frames </a:t>
            </a:r>
            <a:r>
              <a:rPr lang="en-US" altLang="zh-TW" sz="2000" smtClean="0">
                <a:latin typeface="Times New Roman" panose="02020603050405020304" pitchFamily="18" charset="0"/>
              </a:rPr>
              <a:t>“</a:t>
            </a:r>
            <a:r>
              <a:rPr lang="en-US" altLang="zh-TW" sz="2000" smtClean="0">
                <a:solidFill>
                  <a:srgbClr val="0000FF"/>
                </a:solidFill>
              </a:rPr>
              <a:t>as close as possible</a:t>
            </a:r>
            <a:r>
              <a:rPr lang="en-US" altLang="zh-TW" sz="2000" smtClean="0">
                <a:latin typeface="Times New Roman" panose="02020603050405020304" pitchFamily="18" charset="0"/>
              </a:rPr>
              <a:t>”</a:t>
            </a:r>
            <a:r>
              <a:rPr lang="en-US" altLang="zh-TW" sz="2000" smtClean="0"/>
              <a:t> to the CPU board on which the process is running.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>
                <a:solidFill>
                  <a:schemeClr val="tx2"/>
                </a:solidFill>
              </a:rPr>
              <a:t>The scheduler tracks the last CPU on which each process ran.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000" smtClean="0">
              <a:solidFill>
                <a:schemeClr val="tx2"/>
              </a:solidFill>
            </a:endParaRPr>
          </a:p>
        </p:txBody>
      </p:sp>
      <p:pic>
        <p:nvPicPr>
          <p:cNvPr id="236548" name="Picture 4" descr="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437063"/>
            <a:ext cx="3257550" cy="188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900113" y="4575175"/>
            <a:ext cx="36004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  <a:latin typeface="Times New Roman" panose="02020603050405020304" pitchFamily="18" charset="0"/>
              </a:rPr>
              <a:t>Minimize</a:t>
            </a:r>
            <a:r>
              <a:rPr lang="en-US" altLang="zh-TW" sz="2000">
                <a:solidFill>
                  <a:srgbClr val="0000FF"/>
                </a:solidFill>
              </a:rPr>
              <a:t> overall (all threads) memory latency,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  <a:latin typeface="Times New Roman" panose="02020603050405020304" pitchFamily="18" charset="0"/>
              </a:rPr>
              <a:t>Maximize</a:t>
            </a:r>
            <a:r>
              <a:rPr lang="en-US" altLang="zh-TW" sz="2000">
                <a:solidFill>
                  <a:srgbClr val="0000FF"/>
                </a:solidFill>
              </a:rPr>
              <a:t> CPU cache hit rates</a:t>
            </a:r>
            <a:endParaRPr lang="en-US" altLang="zh-TW" sz="24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C2568A-6C28-4728-81BD-02BAB89C1F6F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167C30-A747-4A82-9E29-7D227394E48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7772400" cy="6477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NUMA: </a:t>
            </a:r>
            <a:r>
              <a:rPr lang="en-US" altLang="zh-TW" sz="3200" smtClean="0"/>
              <a:t>Non-Uniform Memory Access</a:t>
            </a:r>
            <a:r>
              <a:rPr lang="en-US" altLang="zh-TW" sz="3600" smtClean="0"/>
              <a:t> (2)</a:t>
            </a:r>
          </a:p>
        </p:txBody>
      </p:sp>
      <p:sp>
        <p:nvSpPr>
          <p:cNvPr id="2385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0675" y="1052513"/>
            <a:ext cx="849947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More complicated once threads are added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threads are scheduled on many different system boards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Solaris solution,</a:t>
            </a:r>
            <a:r>
              <a:rPr lang="en-US" altLang="zh-TW" smtClean="0">
                <a:solidFill>
                  <a:srgbClr val="FF0000"/>
                </a:solidFill>
              </a:rPr>
              <a:t>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lgroup</a:t>
            </a:r>
            <a:r>
              <a:rPr lang="en-US" altLang="zh-TW" smtClean="0"/>
              <a:t> in the kernel: each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lgroup</a:t>
            </a:r>
            <a:r>
              <a:rPr lang="en-US" altLang="zh-TW" smtClean="0"/>
              <a:t> gathers together close CPUs and memory. </a:t>
            </a:r>
          </a:p>
          <a:p>
            <a:pPr lvl="2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There is a hierarchy of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lgroups</a:t>
            </a:r>
            <a:r>
              <a:rPr lang="en-US" altLang="zh-TW" smtClean="0"/>
              <a:t> based on the amount of latency between the groups.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Solaris tries to schedule all threads of a process and allocate all memory of a process within an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lgroup</a:t>
            </a:r>
            <a:r>
              <a:rPr lang="en-US" altLang="zh-TW" smtClean="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F79E61-FF19-41AF-B547-AE6D0245BB86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42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42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D749507-046C-4775-A8E4-28C68E7763A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2546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Thrashing (1)</a:t>
            </a:r>
          </a:p>
        </p:txBody>
      </p:sp>
      <p:sp>
        <p:nvSpPr>
          <p:cNvPr id="307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96938" y="1087438"/>
            <a:ext cx="7816850" cy="2206625"/>
          </a:xfrm>
          <a:noFill/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If allocated frames  &lt;  minimum number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Comic Sans MS" panose="030F0702030302020204" pitchFamily="66" charset="0"/>
                <a:sym typeface="Symbol" panose="05050102010706020507" pitchFamily="18" charset="2"/>
              </a:rPr>
              <a:t>	 </a:t>
            </a:r>
            <a:r>
              <a:rPr lang="en-US" altLang="zh-TW" sz="24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Very high paging activity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A process is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thrashing</a:t>
            </a:r>
            <a:r>
              <a:rPr lang="en-US" altLang="zh-TW" sz="2800" smtClean="0">
                <a:latin typeface="Comic Sans MS" panose="030F0702030302020204" pitchFamily="66" charset="0"/>
              </a:rPr>
              <a:t> if it is </a:t>
            </a: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spending more time paging than executing</a:t>
            </a:r>
            <a:r>
              <a:rPr lang="en-US" altLang="zh-TW" sz="2800" smtClean="0">
                <a:latin typeface="Comic Sans MS" panose="030F0702030302020204" pitchFamily="66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2800" smtClean="0">
              <a:latin typeface="Comic Sans MS" panose="030F0702030302020204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20763" y="3684588"/>
            <a:ext cx="5824537" cy="2517775"/>
            <a:chOff x="865" y="2344"/>
            <a:chExt cx="3669" cy="1586"/>
          </a:xfrm>
        </p:grpSpPr>
        <p:sp>
          <p:nvSpPr>
            <p:cNvPr id="54280" name="Arc 5"/>
            <p:cNvSpPr>
              <a:spLocks/>
            </p:cNvSpPr>
            <p:nvPr/>
          </p:nvSpPr>
          <p:spPr bwMode="auto">
            <a:xfrm>
              <a:off x="2101" y="2921"/>
              <a:ext cx="1175" cy="7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77"/>
                    <a:pt x="9659" y="9"/>
                    <a:pt x="21582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7"/>
                    <a:pt x="9659" y="9"/>
                    <a:pt x="21582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57150" cap="rnd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1" name="Arc 6"/>
            <p:cNvSpPr>
              <a:spLocks/>
            </p:cNvSpPr>
            <p:nvPr/>
          </p:nvSpPr>
          <p:spPr bwMode="auto">
            <a:xfrm>
              <a:off x="3266" y="2921"/>
              <a:ext cx="275" cy="3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 cap="rnd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2" name="Arc 7"/>
            <p:cNvSpPr>
              <a:spLocks/>
            </p:cNvSpPr>
            <p:nvPr/>
          </p:nvSpPr>
          <p:spPr bwMode="auto">
            <a:xfrm>
              <a:off x="3550" y="3285"/>
              <a:ext cx="455" cy="3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57150" cap="rnd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3" name="Line 8"/>
            <p:cNvSpPr>
              <a:spLocks noChangeShapeType="1"/>
            </p:cNvSpPr>
            <p:nvPr/>
          </p:nvSpPr>
          <p:spPr bwMode="auto">
            <a:xfrm>
              <a:off x="3491" y="2704"/>
              <a:ext cx="0" cy="2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4" name="Line 9"/>
            <p:cNvSpPr>
              <a:spLocks noChangeShapeType="1"/>
            </p:cNvSpPr>
            <p:nvPr/>
          </p:nvSpPr>
          <p:spPr bwMode="auto">
            <a:xfrm>
              <a:off x="3495" y="2826"/>
              <a:ext cx="7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5" name="Rectangle 10"/>
            <p:cNvSpPr>
              <a:spLocks noChangeArrowheads="1"/>
            </p:cNvSpPr>
            <p:nvPr/>
          </p:nvSpPr>
          <p:spPr bwMode="auto">
            <a:xfrm>
              <a:off x="3479" y="2470"/>
              <a:ext cx="81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thrashing</a:t>
              </a:r>
            </a:p>
          </p:txBody>
        </p:sp>
        <p:sp>
          <p:nvSpPr>
            <p:cNvPr id="54286" name="Rectangle 11"/>
            <p:cNvSpPr>
              <a:spLocks noChangeArrowheads="1"/>
            </p:cNvSpPr>
            <p:nvPr/>
          </p:nvSpPr>
          <p:spPr bwMode="auto">
            <a:xfrm>
              <a:off x="865" y="3071"/>
              <a:ext cx="120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CPU utilization</a:t>
              </a:r>
            </a:p>
          </p:txBody>
        </p:sp>
        <p:sp>
          <p:nvSpPr>
            <p:cNvPr id="54287" name="Rectangle 12"/>
            <p:cNvSpPr>
              <a:spLocks noChangeArrowheads="1"/>
            </p:cNvSpPr>
            <p:nvPr/>
          </p:nvSpPr>
          <p:spPr bwMode="auto">
            <a:xfrm>
              <a:off x="2171" y="3701"/>
              <a:ext cx="223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degree of multiprogramming</a:t>
              </a:r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 flipV="1">
              <a:off x="2100" y="2344"/>
              <a:ext cx="0" cy="13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4289" name="Line 14"/>
            <p:cNvSpPr>
              <a:spLocks noChangeShapeType="1"/>
            </p:cNvSpPr>
            <p:nvPr/>
          </p:nvSpPr>
          <p:spPr bwMode="auto">
            <a:xfrm>
              <a:off x="2111" y="3677"/>
              <a:ext cx="24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B99459-A886-421C-9869-C8759E3C86F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4C8DD5-6A42-4D91-8B59-1C6AE4CE634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Thrashing (2)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600" smtClean="0">
                <a:latin typeface="Comic Sans MS" panose="030F0702030302020204" pitchFamily="66" charset="0"/>
              </a:rPr>
              <a:t>Performance problem caused by thrashing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smtClean="0">
                <a:latin typeface="Comic Sans MS" panose="030F0702030302020204" pitchFamily="66" charset="0"/>
              </a:rPr>
              <a:t>	(Assume </a:t>
            </a:r>
            <a:r>
              <a:rPr lang="en-US" altLang="zh-TW" sz="2600" smtClean="0">
                <a:solidFill>
                  <a:srgbClr val="FF0000"/>
                </a:solidFill>
                <a:latin typeface="Comic Sans MS" panose="030F0702030302020204" pitchFamily="66" charset="0"/>
              </a:rPr>
              <a:t>global replacement </a:t>
            </a:r>
            <a:r>
              <a:rPr lang="en-US" altLang="zh-TW" sz="2600" smtClean="0">
                <a:latin typeface="Comic Sans MS" panose="030F0702030302020204" pitchFamily="66" charset="0"/>
              </a:rPr>
              <a:t>is used)</a:t>
            </a:r>
            <a:endParaRPr lang="en-US" altLang="zh-TW" sz="26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all processes queued for I/O to swap (page fault)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CPU utilization is low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OS increases degree of multiprogramming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new processes take frames from old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more page faults and thus more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solidFill>
                  <a:srgbClr val="0000FF"/>
                </a:solidFill>
                <a:latin typeface="Comic Sans MS" panose="030F0702030302020204" pitchFamily="66" charset="0"/>
              </a:rPr>
              <a:t>CPU utilization drops even further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</a:pPr>
            <a:r>
              <a:rPr lang="en-US" altLang="zh-TW" sz="2600" smtClean="0">
                <a:latin typeface="Comic Sans MS" panose="030F0702030302020204" pitchFamily="66" charset="0"/>
              </a:rPr>
              <a:t>To prevent thrashing</a:t>
            </a:r>
            <a:endParaRPr lang="en-US" altLang="zh-TW" sz="2600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working-set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page-fault frequency</a:t>
            </a:r>
          </a:p>
          <a:p>
            <a:pPr eaLnBrk="1" hangingPunct="1">
              <a:lnSpc>
                <a:spcPct val="90000"/>
              </a:lnSpc>
            </a:pPr>
            <a:endParaRPr lang="en-US" altLang="zh-TW" sz="26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A6868C-908D-4931-B340-9D30B43440D8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632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632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1B1F0-B9D6-4367-B1C9-452B5820781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04800"/>
            <a:ext cx="8424863" cy="676275"/>
          </a:xfrm>
        </p:spPr>
        <p:txBody>
          <a:bodyPr/>
          <a:lstStyle/>
          <a:p>
            <a:pPr algn="ctr" eaLnBrk="1" hangingPunct="1"/>
            <a:r>
              <a:rPr lang="en-US" altLang="zh-TW" sz="3200" smtClean="0">
                <a:solidFill>
                  <a:srgbClr val="0000FF"/>
                </a:solidFill>
                <a:latin typeface="Comic Sans MS" panose="030F0702030302020204" pitchFamily="66" charset="0"/>
              </a:rPr>
              <a:t>Locality in a Memory-Reference Pattern</a:t>
            </a:r>
          </a:p>
        </p:txBody>
      </p:sp>
      <p:pic>
        <p:nvPicPr>
          <p:cNvPr id="5632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5" t="717" r="21895" b="1672"/>
          <a:stretch>
            <a:fillRect/>
          </a:stretch>
        </p:blipFill>
        <p:spPr bwMode="auto">
          <a:xfrm>
            <a:off x="1219200" y="990600"/>
            <a:ext cx="6629400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7" name="動作按鈕: 起點 1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2813" y="4724400"/>
            <a:ext cx="360362" cy="360363"/>
          </a:xfrm>
          <a:prstGeom prst="actionButtonBeginning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EF4F1D-7B50-4CAB-85B6-D3CF12AA4B4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19BEE3-10C4-48B7-98E3-191A5DA792C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215188" cy="76041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Working-Set Model</a:t>
            </a:r>
            <a:r>
              <a:rPr lang="en-US" altLang="zh-TW" smtClean="0">
                <a:latin typeface="Comic Sans MS" panose="030F0702030302020204" pitchFamily="66" charset="0"/>
              </a:rPr>
              <a:t> (1)</a:t>
            </a:r>
          </a:p>
        </p:txBody>
      </p:sp>
      <p:sp>
        <p:nvSpPr>
          <p:cNvPr id="32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0850" y="1295400"/>
            <a:ext cx="8312150" cy="49530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30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Locality</a:t>
            </a:r>
            <a:r>
              <a:rPr lang="en-US" altLang="zh-TW" sz="3000" smtClean="0">
                <a:latin typeface="Comic Sans MS" panose="030F0702030302020204" pitchFamily="66" charset="0"/>
              </a:rPr>
              <a:t>: </a:t>
            </a:r>
            <a:r>
              <a:rPr lang="en-US" altLang="zh-TW" sz="3000" u="sng" smtClean="0">
                <a:latin typeface="Comic Sans MS" panose="030F0702030302020204" pitchFamily="66" charset="0"/>
              </a:rPr>
              <a:t>a set of pages</a:t>
            </a:r>
            <a:r>
              <a:rPr lang="en-US" altLang="zh-TW" sz="3000" smtClean="0">
                <a:latin typeface="Comic Sans MS" panose="030F0702030302020204" pitchFamily="66" charset="0"/>
              </a:rPr>
              <a:t> that are </a:t>
            </a:r>
            <a:r>
              <a:rPr lang="en-US" altLang="zh-TW" sz="3000" smtClean="0">
                <a:solidFill>
                  <a:srgbClr val="FF0000"/>
                </a:solidFill>
                <a:latin typeface="Comic Sans MS" panose="030F0702030302020204" pitchFamily="66" charset="0"/>
              </a:rPr>
              <a:t>actively used together</a:t>
            </a:r>
            <a:endParaRPr lang="en-US" altLang="zh-TW" sz="3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3000" smtClean="0">
                <a:latin typeface="Comic Sans MS" panose="030F0702030302020204" pitchFamily="66" charset="0"/>
              </a:rPr>
              <a:t>Locality model: as a process executes, it </a:t>
            </a:r>
            <a:r>
              <a:rPr lang="en-US" altLang="zh-TW" sz="3000" smtClean="0">
                <a:solidFill>
                  <a:srgbClr val="FF0000"/>
                </a:solidFill>
                <a:latin typeface="Comic Sans MS" panose="030F0702030302020204" pitchFamily="66" charset="0"/>
              </a:rPr>
              <a:t>moves from locality to locality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latin typeface="Comic Sans MS" panose="030F0702030302020204" pitchFamily="66" charset="0"/>
              </a:rPr>
              <a:t>program structure (subroutine, loop, stack)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latin typeface="Comic Sans MS" panose="030F0702030302020204" pitchFamily="66" charset="0"/>
              </a:rPr>
              <a:t>data structure (array, table)</a:t>
            </a:r>
            <a:endParaRPr lang="en-US" altLang="zh-TW" sz="30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3000" smtClean="0">
                <a:solidFill>
                  <a:srgbClr val="FF0000"/>
                </a:solidFill>
                <a:latin typeface="Comic Sans MS" panose="030F0702030302020204" pitchFamily="66" charset="0"/>
              </a:rPr>
              <a:t>Working-set model</a:t>
            </a:r>
            <a:r>
              <a:rPr lang="en-US" altLang="zh-TW" sz="3000" smtClean="0">
                <a:latin typeface="Comic Sans MS" panose="030F0702030302020204" pitchFamily="66" charset="0"/>
              </a:rPr>
              <a:t> (based on locality model)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latin typeface="Comic Sans MS" panose="030F0702030302020204" pitchFamily="66" charset="0"/>
              </a:rPr>
              <a:t>working-set </a:t>
            </a:r>
            <a:r>
              <a:rPr lang="en-US" altLang="zh-TW" sz="26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window</a:t>
            </a:r>
            <a:r>
              <a:rPr lang="en-US" altLang="zh-TW" sz="2600" smtClean="0">
                <a:latin typeface="Comic Sans MS" panose="030F0702030302020204" pitchFamily="66" charset="0"/>
              </a:rPr>
              <a:t>: a parameter </a:t>
            </a:r>
            <a:r>
              <a:rPr lang="en-US" altLang="zh-TW" sz="2600" smtClean="0">
                <a:latin typeface="Comic Sans MS" panose="030F0702030302020204" pitchFamily="66" charset="0"/>
                <a:sym typeface="Symbol" panose="05050102010706020507" pitchFamily="18" charset="2"/>
              </a:rPr>
              <a:t> (delta)</a:t>
            </a:r>
            <a:endParaRPr lang="en-US" altLang="zh-TW" sz="2600" smtClean="0"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>
                <a:latin typeface="Comic Sans MS" panose="030F0702030302020204" pitchFamily="66" charset="0"/>
              </a:rPr>
              <a:t>working set: set of pages in most recent </a:t>
            </a:r>
            <a:r>
              <a:rPr lang="en-US" altLang="zh-TW" sz="2600" smtClean="0">
                <a:latin typeface="Comic Sans MS" panose="030F0702030302020204" pitchFamily="66" charset="0"/>
                <a:sym typeface="Symbol" panose="05050102010706020507" pitchFamily="18" charset="2"/>
              </a:rPr>
              <a:t>  </a:t>
            </a:r>
            <a:r>
              <a:rPr lang="en-US" altLang="zh-TW" sz="2600" smtClean="0">
                <a:latin typeface="Comic Sans MS" panose="030F0702030302020204" pitchFamily="66" charset="0"/>
              </a:rPr>
              <a:t>page references </a:t>
            </a:r>
            <a:r>
              <a:rPr lang="en-US" altLang="zh-TW" sz="26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(an approximation locality</a:t>
            </a:r>
            <a:r>
              <a:rPr lang="en-US" altLang="zh-TW" sz="2600" smtClean="0">
                <a:latin typeface="Comic Sans MS" panose="030F0702030302020204" pitchFamily="66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862535-10FF-4F9D-93CF-73BA48D83B36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83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83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D32DA3-6121-44C0-A11A-0B3807CF03B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/>
          </a:p>
        </p:txBody>
      </p:sp>
      <p:sp>
        <p:nvSpPr>
          <p:cNvPr id="58373" name="Rectangle 2"/>
          <p:cNvSpPr>
            <a:spLocks noChangeArrowheads="1"/>
          </p:cNvSpPr>
          <p:nvPr/>
        </p:nvSpPr>
        <p:spPr bwMode="auto">
          <a:xfrm>
            <a:off x="657225" y="1981200"/>
            <a:ext cx="7800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2 6 1 5 7 7 7 7 5 1 6  2  3 4  1  2 3 4 4 4 3 4 3 4 4 4 1 3 2 3 4 4 4 4 3 4 4 . . .</a:t>
            </a:r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2520950" y="2689225"/>
            <a:ext cx="1588" cy="8524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796" name="Line 4"/>
          <p:cNvSpPr>
            <a:spLocks noChangeShapeType="1"/>
          </p:cNvSpPr>
          <p:nvPr/>
        </p:nvSpPr>
        <p:spPr bwMode="auto">
          <a:xfrm flipH="1">
            <a:off x="695325" y="3213100"/>
            <a:ext cx="1831975" cy="15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558925" y="2830513"/>
            <a:ext cx="3365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>
                <a:solidFill>
                  <a:srgbClr val="FF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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185863" y="3787775"/>
            <a:ext cx="2203450" cy="3762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WS(t</a:t>
            </a:r>
            <a:r>
              <a:rPr lang="en-US" altLang="zh-TW" sz="2000" b="1" baseline="-25000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) ={1,2,5,6,7}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2530475" y="3397250"/>
            <a:ext cx="360363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t</a:t>
            </a:r>
            <a:r>
              <a:rPr lang="en-US" altLang="zh-TW" sz="2000" b="1" baseline="-25000">
                <a:solidFill>
                  <a:srgbClr val="FF0000"/>
                </a:solidFill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5875338" y="2665413"/>
            <a:ext cx="1587" cy="8524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 flipH="1">
            <a:off x="4138613" y="3206750"/>
            <a:ext cx="1778000" cy="317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4913313" y="2805113"/>
            <a:ext cx="339725" cy="3667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>
                <a:solidFill>
                  <a:srgbClr val="0000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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4846638" y="3781425"/>
            <a:ext cx="1619250" cy="3635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WS(t</a:t>
            </a:r>
            <a:r>
              <a:rPr lang="en-US" altLang="zh-TW" sz="2000" b="1" baseline="-25000">
                <a:solidFill>
                  <a:srgbClr val="0000FF"/>
                </a:solidFill>
                <a:latin typeface="Book Antiqua" panose="02040602050305030304" pitchFamily="18" charset="0"/>
              </a:rPr>
              <a:t>2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) ={3,4}</a:t>
            </a: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5884863" y="3371850"/>
            <a:ext cx="34766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t</a:t>
            </a:r>
            <a:r>
              <a:rPr lang="en-US" altLang="zh-TW" sz="2000" b="1" baseline="-25000">
                <a:solidFill>
                  <a:srgbClr val="0000FF"/>
                </a:solidFill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58384" name="Text Box 13"/>
          <p:cNvSpPr txBox="1">
            <a:spLocks noChangeArrowheads="1"/>
          </p:cNvSpPr>
          <p:nvPr/>
        </p:nvSpPr>
        <p:spPr bwMode="auto">
          <a:xfrm>
            <a:off x="533400" y="609600"/>
            <a:ext cx="51895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3600">
                <a:solidFill>
                  <a:schemeClr val="tx2"/>
                </a:solidFill>
                <a:latin typeface="Comic Sans MS" panose="030F0702030302020204" pitchFamily="66" charset="0"/>
              </a:rPr>
              <a:t>An Example</a:t>
            </a:r>
          </a:p>
        </p:txBody>
      </p:sp>
      <p:sp>
        <p:nvSpPr>
          <p:cNvPr id="58385" name="弧形箭號 (上彎) 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596188" y="5300663"/>
            <a:ext cx="504825" cy="360362"/>
          </a:xfrm>
          <a:prstGeom prst="curvedUpArrow">
            <a:avLst>
              <a:gd name="adj1" fmla="val 25021"/>
              <a:gd name="adj2" fmla="val 50030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/>
      <p:bldP spid="33796" grpId="0" animBg="1"/>
      <p:bldP spid="33798" grpId="0" animBg="1"/>
      <p:bldP spid="33799" grpId="0"/>
      <p:bldP spid="33800" grpId="0" animBg="1"/>
      <p:bldP spid="33801" grpId="0" animBg="1"/>
      <p:bldP spid="33802" grpId="0" animBg="1"/>
      <p:bldP spid="33803" grpId="0" animBg="1"/>
      <p:bldP spid="3380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58F967-0494-498C-B825-A57865D21AF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3753A2-5A0C-4D41-927E-92EE827D78A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1813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Working-Set Model (2)</a:t>
            </a:r>
          </a:p>
        </p:txBody>
      </p:sp>
      <p:sp>
        <p:nvSpPr>
          <p:cNvPr id="76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765175"/>
            <a:ext cx="87630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Prevent thrashing using the working-set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D = </a:t>
            </a:r>
            <a:r>
              <a:rPr lang="en-US" altLang="zh-TW" smtClean="0">
                <a:latin typeface="Comic Sans MS" panose="030F0702030302020204" pitchFamily="66" charset="0"/>
                <a:sym typeface="Symbol" panose="05050102010706020507" pitchFamily="18" charset="2"/>
              </a:rPr>
              <a:t></a:t>
            </a:r>
            <a:r>
              <a:rPr lang="en-US" altLang="zh-TW" smtClean="0">
                <a:latin typeface="Comic Sans MS" panose="030F0702030302020204" pitchFamily="66" charset="0"/>
              </a:rPr>
              <a:t> WSS</a:t>
            </a:r>
            <a:r>
              <a:rPr lang="en-US" altLang="zh-TW" baseline="-25000" smtClean="0">
                <a:latin typeface="Comic Sans MS" panose="030F0702030302020204" pitchFamily="66" charset="0"/>
              </a:rPr>
              <a:t>i</a:t>
            </a:r>
            <a:r>
              <a:rPr lang="en-US" altLang="zh-TW" smtClean="0">
                <a:latin typeface="Comic Sans MS" panose="030F0702030302020204" pitchFamily="66" charset="0"/>
              </a:rPr>
              <a:t>   (total demand frames)</a:t>
            </a:r>
            <a:endParaRPr lang="en-US" altLang="zh-TW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If D &gt; m (available frames)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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 thrashing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The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OS monitors the WSS</a:t>
            </a:r>
            <a:r>
              <a:rPr lang="en-US" altLang="zh-TW" baseline="-25000" smtClean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n-US" altLang="zh-TW" smtClean="0">
                <a:latin typeface="Comic Sans MS" panose="030F0702030302020204" pitchFamily="66" charset="0"/>
              </a:rPr>
              <a:t> of each process and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allocates to the process enough frames</a:t>
            </a:r>
            <a:r>
              <a:rPr lang="en-US" altLang="zh-TW" smtClean="0">
                <a:latin typeface="Comic Sans MS" panose="030F0702030302020204" pitchFamily="66" charset="0"/>
              </a:rPr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if D &lt;&lt; m, </a:t>
            </a:r>
            <a:r>
              <a:rPr lang="en-US" altLang="zh-TW" smtClean="0">
                <a:solidFill>
                  <a:srgbClr val="0000FF"/>
                </a:solidFill>
                <a:latin typeface="Comic Sans MS" panose="030F0702030302020204" pitchFamily="66" charset="0"/>
              </a:rPr>
              <a:t>increase degree of MP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>
                <a:latin typeface="Comic Sans MS" panose="030F0702030302020204" pitchFamily="66" charset="0"/>
              </a:rPr>
              <a:t>if D &gt; m,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suspend a process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Comic Sans MS" panose="030F0702030302020204" pitchFamily="66" charset="0"/>
                <a:sym typeface="Wingdings" panose="05000000000000000000" pitchFamily="2" charset="2"/>
              </a:rPr>
              <a:t></a:t>
            </a:r>
            <a:r>
              <a:rPr lang="en-US" altLang="zh-TW" sz="2400" smtClean="0">
                <a:latin typeface="Comic Sans MS" panose="030F0702030302020204" pitchFamily="66" charset="0"/>
              </a:rPr>
              <a:t>: 1. prevent thrashing while keeping the 		    degree of multiprogramming as high as 		    possible. 	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Comic Sans MS" panose="030F0702030302020204" pitchFamily="66" charset="0"/>
              </a:rPr>
              <a:t>		2. optimize CPU utilization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latin typeface="Comic Sans MS" panose="030F0702030302020204" pitchFamily="66" charset="0"/>
                <a:sym typeface="Wingdings" panose="05000000000000000000" pitchFamily="2" charset="2"/>
              </a:rPr>
              <a:t></a:t>
            </a:r>
            <a:r>
              <a:rPr lang="en-US" altLang="zh-TW" sz="2400" smtClean="0">
                <a:latin typeface="Comic Sans MS" panose="030F0702030302020204" pitchFamily="66" charset="0"/>
              </a:rPr>
              <a:t> : </a:t>
            </a:r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too expensive for tracking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6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6C8C14-5544-4F26-9677-0982D7A78805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04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04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BBA8AD-A3C6-4829-926E-D0D6968D927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/>
          </a:p>
        </p:txBody>
      </p:sp>
      <p:sp>
        <p:nvSpPr>
          <p:cNvPr id="3584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4137025"/>
          </a:xfrm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mtClean="0">
                <a:latin typeface="Comic Sans MS" pitchFamily="66" charset="0"/>
              </a:rPr>
              <a:t> 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Approximate working set </a:t>
            </a:r>
            <a:r>
              <a:rPr lang="en-US" altLang="zh-TW" sz="2800" smtClean="0">
                <a:solidFill>
                  <a:srgbClr val="0000FF"/>
                </a:solidFill>
                <a:latin typeface="Comic Sans MS" pitchFamily="66" charset="0"/>
              </a:rPr>
              <a:t>by using a fixed interval timer interrupt and a reference bit</a:t>
            </a:r>
          </a:p>
          <a:p>
            <a:pPr lvl="1" eaLnBrk="1" hangingPunct="1">
              <a:defRPr/>
            </a:pPr>
            <a:r>
              <a:rPr lang="en-US" altLang="zh-TW" smtClean="0">
                <a:latin typeface="Comic Sans MS" pitchFamily="66" charset="0"/>
                <a:sym typeface="Symbol" pitchFamily="18" charset="2"/>
              </a:rPr>
              <a:t></a:t>
            </a:r>
            <a:r>
              <a:rPr lang="en-US" altLang="zh-TW" i="1" smtClean="0">
                <a:latin typeface="Comic Sans MS" pitchFamily="66" charset="0"/>
              </a:rPr>
              <a:t> </a:t>
            </a:r>
            <a:r>
              <a:rPr lang="en-US" altLang="zh-TW" smtClean="0">
                <a:latin typeface="Comic Sans MS" pitchFamily="66" charset="0"/>
              </a:rPr>
              <a:t>=</a:t>
            </a:r>
            <a:r>
              <a:rPr lang="en-US" altLang="zh-TW" i="1" smtClean="0">
                <a:latin typeface="Comic Sans MS" pitchFamily="66" charset="0"/>
              </a:rPr>
              <a:t> </a:t>
            </a:r>
            <a:r>
              <a:rPr lang="en-US" altLang="zh-TW" smtClean="0">
                <a:solidFill>
                  <a:srgbClr val="0000FF"/>
                </a:solidFill>
                <a:latin typeface="Comic Sans MS" pitchFamily="66" charset="0"/>
              </a:rPr>
              <a:t>10,000 references</a:t>
            </a:r>
            <a:r>
              <a:rPr lang="en-US" altLang="zh-TW" smtClean="0">
                <a:latin typeface="Comic Sans MS" pitchFamily="66" charset="0"/>
              </a:rPr>
              <a:t>, a timer interrupt every 5000 references, 2-bit history</a:t>
            </a:r>
          </a:p>
          <a:p>
            <a:pPr lvl="2" eaLnBrk="1" hangingPunct="1">
              <a:defRPr/>
            </a:pPr>
            <a:r>
              <a:rPr lang="en-US" altLang="zh-TW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copy and clear the reference bit for each interrupt</a:t>
            </a:r>
          </a:p>
          <a:p>
            <a:pPr lvl="2" eaLnBrk="1" hangingPunct="1">
              <a:defRPr/>
            </a:pPr>
            <a:r>
              <a:rPr lang="en-US" altLang="zh-TW" smtClean="0">
                <a:latin typeface="Comic Sans MS" pitchFamily="66" charset="0"/>
              </a:rPr>
              <a:t>In case of page fault, </a:t>
            </a:r>
          </a:p>
          <a:p>
            <a:pPr lvl="3" eaLnBrk="1" hangingPunct="1">
              <a:buFont typeface="Wingdings" panose="05000000000000000000" pitchFamily="2" charset="2"/>
              <a:buNone/>
              <a:defRPr/>
            </a:pPr>
            <a:r>
              <a:rPr lang="en-US" altLang="zh-TW" smtClean="0">
                <a:latin typeface="Comic Sans MS" pitchFamily="66" charset="0"/>
              </a:rPr>
              <a:t>	a page is referenced within last 10,000 to 15,000 references can be identified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4140200" y="5949950"/>
            <a:ext cx="13462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4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TW" sz="2000" b="1" i="1">
                <a:solidFill>
                  <a:srgbClr val="FF0000"/>
                </a:solidFill>
                <a:latin typeface="Book Antiqua" panose="02040602050305030304" pitchFamily="18" charset="0"/>
              </a:rPr>
              <a:t> =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10,000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270625" y="3405188"/>
            <a:ext cx="1357313" cy="376237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page fault</a:t>
            </a:r>
          </a:p>
        </p:txBody>
      </p:sp>
      <p:sp>
        <p:nvSpPr>
          <p:cNvPr id="60424" name="Text Box 5"/>
          <p:cNvSpPr txBox="1">
            <a:spLocks noChangeArrowheads="1"/>
          </p:cNvSpPr>
          <p:nvPr/>
        </p:nvSpPr>
        <p:spPr bwMode="auto">
          <a:xfrm>
            <a:off x="1320800" y="4038600"/>
            <a:ext cx="5559425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  time                0    ~    5,000    ~    10,000~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reference       P1              </a:t>
            </a:r>
            <a:r>
              <a:rPr lang="en-US" altLang="zh-TW" sz="2000" b="1">
                <a:solidFill>
                  <a:srgbClr val="0000FF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TW" sz="2000" b="1">
                <a:latin typeface="Times New Roman" panose="02020603050405020304" pitchFamily="18" charset="0"/>
              </a:rPr>
              <a:t>                 </a:t>
            </a:r>
            <a:r>
              <a:rPr lang="en-US" altLang="zh-TW" sz="2000" b="1">
                <a:solidFill>
                  <a:srgbClr val="9933FF"/>
                </a:solidFill>
                <a:latin typeface="Times New Roman" panose="02020603050405020304" pitchFamily="18" charset="0"/>
              </a:rPr>
              <a:t>0</a:t>
            </a:r>
            <a:endParaRPr lang="en-US" altLang="zh-TW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  bits             P2              </a:t>
            </a:r>
            <a:r>
              <a:rPr lang="en-US" altLang="zh-TW" sz="20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TW" sz="2000" b="1">
                <a:latin typeface="Times New Roman" panose="02020603050405020304" pitchFamily="18" charset="0"/>
              </a:rPr>
              <a:t>                  </a:t>
            </a:r>
            <a:r>
              <a:rPr lang="en-US" altLang="zh-TW" sz="2000" b="1">
                <a:solidFill>
                  <a:srgbClr val="9933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TW" sz="2000" b="1">
                <a:latin typeface="Times New Roman" panose="02020603050405020304" pitchFamily="18" charset="0"/>
              </a:rPr>
              <a:t>                   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                     P3              </a:t>
            </a:r>
            <a:r>
              <a:rPr lang="en-US" altLang="zh-TW" sz="20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TW" sz="2000" b="1">
                <a:latin typeface="Times New Roman" panose="02020603050405020304" pitchFamily="18" charset="0"/>
              </a:rPr>
              <a:t>                  </a:t>
            </a:r>
            <a:r>
              <a:rPr lang="en-US" altLang="zh-TW" sz="2000" b="1">
                <a:solidFill>
                  <a:srgbClr val="99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sz="2000" b="1">
                <a:latin typeface="Times New Roman" panose="02020603050405020304" pitchFamily="18" charset="0"/>
              </a:rPr>
              <a:t>                   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0425" name="Line 6"/>
          <p:cNvSpPr>
            <a:spLocks noChangeShapeType="1"/>
          </p:cNvSpPr>
          <p:nvPr/>
        </p:nvSpPr>
        <p:spPr bwMode="auto">
          <a:xfrm>
            <a:off x="3192463" y="4411663"/>
            <a:ext cx="44275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6" name="Line 7"/>
          <p:cNvSpPr>
            <a:spLocks noChangeShapeType="1"/>
          </p:cNvSpPr>
          <p:nvPr/>
        </p:nvSpPr>
        <p:spPr bwMode="auto">
          <a:xfrm flipH="1">
            <a:off x="4233863" y="4340225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7" name="Line 8"/>
          <p:cNvSpPr>
            <a:spLocks noChangeShapeType="1"/>
          </p:cNvSpPr>
          <p:nvPr/>
        </p:nvSpPr>
        <p:spPr bwMode="auto">
          <a:xfrm flipH="1">
            <a:off x="5462588" y="4333875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6011863" y="3789363"/>
            <a:ext cx="288925" cy="6032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0429" name="Line 10"/>
          <p:cNvSpPr>
            <a:spLocks noChangeShapeType="1"/>
          </p:cNvSpPr>
          <p:nvPr/>
        </p:nvSpPr>
        <p:spPr bwMode="auto">
          <a:xfrm flipH="1">
            <a:off x="3168650" y="4298950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H="1">
            <a:off x="3563938" y="5876925"/>
            <a:ext cx="243522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 flipH="1">
            <a:off x="3563938" y="5734050"/>
            <a:ext cx="0" cy="2476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 flipH="1">
            <a:off x="6011863" y="5734050"/>
            <a:ext cx="0" cy="2476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7192963" y="5889625"/>
            <a:ext cx="1616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WS={P1, P3}</a:t>
            </a:r>
          </a:p>
        </p:txBody>
      </p:sp>
      <p:sp>
        <p:nvSpPr>
          <p:cNvPr id="60434" name="Line 15"/>
          <p:cNvSpPr>
            <a:spLocks noChangeShapeType="1"/>
          </p:cNvSpPr>
          <p:nvPr/>
        </p:nvSpPr>
        <p:spPr bwMode="auto">
          <a:xfrm flipH="1">
            <a:off x="6659563" y="4292600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 animBg="1"/>
      <p:bldP spid="35849" grpId="0" animBg="1"/>
      <p:bldP spid="35851" grpId="0" animBg="1"/>
      <p:bldP spid="35852" grpId="0" animBg="1"/>
      <p:bldP spid="35853" grpId="0" animBg="1"/>
      <p:bldP spid="3585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FDE5A4-787F-429E-B94D-4400415A896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AA7EE8-50F9-4F60-A58E-52D87D543AE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6888" y="228600"/>
            <a:ext cx="8189912" cy="6096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Page Fault Frequency Scheme</a:t>
            </a:r>
          </a:p>
        </p:txBody>
      </p:sp>
      <p:sp>
        <p:nvSpPr>
          <p:cNvPr id="36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973138"/>
            <a:ext cx="8550275" cy="5408612"/>
          </a:xfrm>
          <a:noFill/>
        </p:spPr>
        <p:txBody>
          <a:bodyPr lIns="90488" tIns="44450" rIns="90488" bIns="44450"/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TW" sz="2800" smtClean="0">
                <a:latin typeface="Comic Sans MS" panose="030F0702030302020204" pitchFamily="66" charset="0"/>
              </a:rPr>
              <a:t>The knowledge of the working set can be useful for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prepaging</a:t>
            </a:r>
            <a:r>
              <a:rPr lang="en-US" altLang="zh-TW" sz="2800" smtClean="0">
                <a:latin typeface="Comic Sans MS" panose="030F0702030302020204" pitchFamily="66" charset="0"/>
              </a:rPr>
              <a:t> (page </a:t>
            </a: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72</a:t>
            </a:r>
            <a:r>
              <a:rPr lang="en-US" altLang="zh-TW" sz="2800" smtClean="0">
                <a:latin typeface="Comic Sans MS" panose="030F0702030302020204" pitchFamily="66" charset="0"/>
              </a:rPr>
              <a:t>), but it seems a rather clumsy way to control thrashing.</a:t>
            </a:r>
            <a:endParaRPr lang="en-US" altLang="zh-TW" sz="2800" b="1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60000"/>
              </a:spcBef>
              <a:buClr>
                <a:srgbClr val="FFCC00"/>
              </a:buClr>
              <a:buFont typeface="Wingdings" panose="05000000000000000000" pitchFamily="2" charset="2"/>
              <a:buChar char="q"/>
            </a:pPr>
            <a:r>
              <a:rPr lang="en-US" altLang="zh-TW" sz="2800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Page fault frequency</a:t>
            </a:r>
            <a:r>
              <a:rPr lang="en-US" altLang="zh-TW" sz="2800" smtClean="0">
                <a:latin typeface="Comic Sans MS" panose="030F0702030302020204" pitchFamily="66" charset="0"/>
              </a:rPr>
              <a:t> </a:t>
            </a: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directly</a:t>
            </a:r>
            <a:r>
              <a:rPr lang="en-US" altLang="zh-TW" sz="2800" smtClean="0">
                <a:latin typeface="Comic Sans MS" panose="030F0702030302020204" pitchFamily="66" charset="0"/>
              </a:rPr>
              <a:t> measures and controls the page-fault rate to prevent thrashing.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Establish </a:t>
            </a:r>
            <a:r>
              <a:rPr lang="en-US" altLang="zh-TW" sz="2400" smtClean="0">
                <a:solidFill>
                  <a:srgbClr val="FF0000"/>
                </a:solidFill>
                <a:latin typeface="Comic Sans MS" panose="030F0702030302020204" pitchFamily="66" charset="0"/>
              </a:rPr>
              <a:t>upper and lower bounds</a:t>
            </a:r>
            <a:r>
              <a:rPr lang="en-US" altLang="zh-TW" sz="2400" smtClean="0">
                <a:latin typeface="Comic Sans MS" panose="030F0702030302020204" pitchFamily="66" charset="0"/>
              </a:rPr>
              <a:t> on the desired page-fault rate of a process.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If page fault rate exceeds the upper limit</a:t>
            </a:r>
            <a:endParaRPr lang="en-US" altLang="zh-TW" sz="2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2" eaLnBrk="1" hangingPunct="1"/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allocate the process another frame</a:t>
            </a:r>
          </a:p>
          <a:p>
            <a:pPr lvl="1" eaLnBrk="1" hangingPunct="1"/>
            <a:r>
              <a:rPr lang="en-US" altLang="zh-TW" sz="2400" smtClean="0">
                <a:latin typeface="Comic Sans MS" panose="030F0702030302020204" pitchFamily="66" charset="0"/>
              </a:rPr>
              <a:t>If page fault rate falls below the lower limit</a:t>
            </a:r>
            <a:endParaRPr lang="en-US" altLang="zh-TW" sz="2400" smtClean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lvl="2" eaLnBrk="1" hangingPunct="1"/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remove the process a frame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C59307-80AE-47B9-BBFC-3C72D6C5EEE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24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24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AEEB869-3BB1-4B28-B705-9B32E138DA9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algn="ctr" eaLnBrk="1" hangingPunct="1"/>
            <a:r>
              <a:rPr lang="en-US" altLang="zh-TW" sz="4000" smtClean="0">
                <a:latin typeface="Comic Sans MS" panose="030F0702030302020204" pitchFamily="66" charset="0"/>
              </a:rPr>
              <a:t>Page-Fault Frequency Scheme</a:t>
            </a:r>
          </a:p>
        </p:txBody>
      </p:sp>
      <p:sp>
        <p:nvSpPr>
          <p:cNvPr id="6247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00113" y="5445125"/>
            <a:ext cx="7029450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Establish “acceptable” page-fault rate</a:t>
            </a:r>
          </a:p>
        </p:txBody>
      </p:sp>
      <p:pic>
        <p:nvPicPr>
          <p:cNvPr id="6247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" t="18047" r="580" b="18515"/>
          <a:stretch>
            <a:fillRect/>
          </a:stretch>
        </p:blipFill>
        <p:spPr bwMode="auto">
          <a:xfrm>
            <a:off x="304800" y="1143000"/>
            <a:ext cx="8458200" cy="41306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AB45AC-C90B-45C3-BEE8-721F2855556F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349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349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5033E4-D3D8-4B7B-8A4D-C01493A1544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/>
          </a:p>
        </p:txBody>
      </p:sp>
      <p:sp>
        <p:nvSpPr>
          <p:cNvPr id="63493" name="Title 1"/>
          <p:cNvSpPr>
            <a:spLocks noGrp="1"/>
          </p:cNvSpPr>
          <p:nvPr>
            <p:ph type="title" idx="4294967295"/>
          </p:nvPr>
        </p:nvSpPr>
        <p:spPr>
          <a:xfrm>
            <a:off x="684213" y="333375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Working Sets and Page Fault Rates</a:t>
            </a:r>
          </a:p>
        </p:txBody>
      </p:sp>
      <p:pic>
        <p:nvPicPr>
          <p:cNvPr id="63494" name="Picture 4" descr="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2082800"/>
            <a:ext cx="6869112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5" name="Text Box 4"/>
          <p:cNvSpPr txBox="1">
            <a:spLocks noChangeArrowheads="1"/>
          </p:cNvSpPr>
          <p:nvPr/>
        </p:nvSpPr>
        <p:spPr bwMode="auto">
          <a:xfrm>
            <a:off x="2824163" y="1281113"/>
            <a:ext cx="28606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peak of new locality</a:t>
            </a:r>
          </a:p>
        </p:txBody>
      </p:sp>
      <p:sp>
        <p:nvSpPr>
          <p:cNvPr id="240645" name="Line 5"/>
          <p:cNvSpPr>
            <a:spLocks noChangeShapeType="1"/>
          </p:cNvSpPr>
          <p:nvPr/>
        </p:nvSpPr>
        <p:spPr bwMode="auto">
          <a:xfrm flipH="1">
            <a:off x="2268538" y="1773238"/>
            <a:ext cx="574675" cy="19431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40646" name="Line 6"/>
          <p:cNvSpPr>
            <a:spLocks noChangeShapeType="1"/>
          </p:cNvSpPr>
          <p:nvPr/>
        </p:nvSpPr>
        <p:spPr bwMode="auto">
          <a:xfrm>
            <a:off x="3563938" y="1773238"/>
            <a:ext cx="431800" cy="13684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40647" name="Line 7"/>
          <p:cNvSpPr>
            <a:spLocks noChangeShapeType="1"/>
          </p:cNvSpPr>
          <p:nvPr/>
        </p:nvSpPr>
        <p:spPr bwMode="auto">
          <a:xfrm>
            <a:off x="4500563" y="1773238"/>
            <a:ext cx="1871662" cy="18716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240648" name="Text Box 8"/>
          <p:cNvSpPr txBox="1">
            <a:spLocks noChangeArrowheads="1"/>
          </p:cNvSpPr>
          <p:nvPr/>
        </p:nvSpPr>
        <p:spPr bwMode="auto">
          <a:xfrm>
            <a:off x="539750" y="5516563"/>
            <a:ext cx="8243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When the process moves to a new WS, the PF rate rises toward a peak.</a:t>
            </a:r>
          </a:p>
        </p:txBody>
      </p:sp>
      <p:sp>
        <p:nvSpPr>
          <p:cNvPr id="63500" name="向右箭號 1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7308850" y="1703388"/>
            <a:ext cx="431800" cy="242887"/>
          </a:xfrm>
          <a:prstGeom prst="rightArrow">
            <a:avLst>
              <a:gd name="adj1" fmla="val 50000"/>
              <a:gd name="adj2" fmla="val 4985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5" grpId="0" animBg="1"/>
      <p:bldP spid="240646" grpId="0" animBg="1"/>
      <p:bldP spid="240647" grpId="0" animBg="1"/>
      <p:bldP spid="24064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EE36126-3F62-4CAD-8D17-1A9D2555EE26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45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45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036BE8-C8BC-45BB-A418-E57BA33CB26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/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Memory-Mapped Files</a:t>
            </a:r>
          </a:p>
        </p:txBody>
      </p:sp>
      <p:sp>
        <p:nvSpPr>
          <p:cNvPr id="171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b="1" dirty="0" smtClean="0">
                <a:solidFill>
                  <a:srgbClr val="FF0000"/>
                </a:solidFill>
              </a:rPr>
              <a:t>Memory-mapped file I/O</a:t>
            </a:r>
            <a:r>
              <a:rPr lang="en-US" altLang="zh-TW" sz="2400" dirty="0" smtClean="0"/>
              <a:t> allows file I/O to be treated as </a:t>
            </a:r>
            <a:r>
              <a:rPr lang="en-US" altLang="zh-TW" sz="2400" dirty="0" smtClean="0">
                <a:solidFill>
                  <a:srgbClr val="FF0000"/>
                </a:solidFill>
              </a:rPr>
              <a:t>routine memory access</a:t>
            </a:r>
            <a:r>
              <a:rPr lang="en-US" altLang="zh-TW" sz="2400" dirty="0" smtClean="0"/>
              <a:t> by </a:t>
            </a:r>
            <a:r>
              <a:rPr lang="en-US" altLang="zh-TW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</a:t>
            </a:r>
            <a:r>
              <a:rPr lang="en-US" altLang="zh-TW" sz="2400" dirty="0" smtClean="0"/>
              <a:t> a disk block to a page </a:t>
            </a:r>
            <a:r>
              <a:rPr lang="en-US" altLang="zh-TW" sz="2400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 memory</a:t>
            </a:r>
            <a:r>
              <a:rPr lang="en-US" altLang="zh-TW" sz="24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A file is initially read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using demand paging</a:t>
            </a:r>
            <a:r>
              <a:rPr lang="en-US" altLang="zh-TW" sz="2400" dirty="0" smtClean="0"/>
              <a:t>. A page-sized portion of the file is read from the file system into a physical page. Subsequent reads/writes to/from the file are treated as </a:t>
            </a:r>
            <a:r>
              <a:rPr lang="en-US" altLang="zh-TW" sz="2400" dirty="0" smtClean="0">
                <a:solidFill>
                  <a:srgbClr val="FF0000"/>
                </a:solidFill>
              </a:rPr>
              <a:t>ordinary memory accesses</a:t>
            </a:r>
            <a:r>
              <a:rPr lang="en-US" altLang="zh-TW" sz="2400" dirty="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Simplifies file access by treating file I/O through memory rather than </a:t>
            </a:r>
            <a:r>
              <a:rPr lang="en-US" altLang="zh-TW" sz="2400" b="1" dirty="0" smtClean="0"/>
              <a:t>read(),</a:t>
            </a:r>
            <a:r>
              <a:rPr lang="en-US" altLang="zh-TW" sz="2400" dirty="0" smtClean="0"/>
              <a:t> </a:t>
            </a:r>
            <a:r>
              <a:rPr lang="en-US" altLang="zh-TW" sz="2400" b="1" dirty="0" smtClean="0"/>
              <a:t>write()</a:t>
            </a:r>
            <a:r>
              <a:rPr lang="en-US" altLang="zh-TW" sz="2400" dirty="0" smtClean="0"/>
              <a:t> system calls.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Also allows several processes to map the same file </a:t>
            </a:r>
            <a:r>
              <a:rPr lang="en-US" altLang="zh-TW" sz="2400" dirty="0" smtClean="0">
                <a:solidFill>
                  <a:srgbClr val="0000FF"/>
                </a:solidFill>
              </a:rPr>
              <a:t>allowing the pages in memory to be shared</a:t>
            </a:r>
            <a:r>
              <a:rPr lang="en-US" altLang="zh-TW" sz="2400" dirty="0" smtClean="0"/>
              <a:t>.</a:t>
            </a:r>
            <a:endParaRPr lang="en-US" altLang="zh-TW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C006CB6-9A7C-42DD-AA39-57B0B35BFF4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553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554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F3569ED-8C5C-42B5-9E00-7B6EB5BF214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latin typeface="Comic Sans MS" panose="030F0702030302020204" pitchFamily="66" charset="0"/>
              </a:rPr>
              <a:t>Memory Mapped Files</a:t>
            </a:r>
          </a:p>
        </p:txBody>
      </p:sp>
      <p:pic>
        <p:nvPicPr>
          <p:cNvPr id="6554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t="1688" r="6488" b="1688"/>
          <a:stretch>
            <a:fillRect/>
          </a:stretch>
        </p:blipFill>
        <p:spPr bwMode="auto">
          <a:xfrm>
            <a:off x="609600" y="1122363"/>
            <a:ext cx="7924800" cy="53197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2E6688-6BA9-4A91-9667-30F1C8C3DC09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65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65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C2205B-D8FB-464B-97E6-7A1999D70F3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40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994650" cy="114300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Memory-Mapped Shared Memory in Windows</a:t>
            </a:r>
          </a:p>
        </p:txBody>
      </p:sp>
      <p:pic>
        <p:nvPicPr>
          <p:cNvPr id="6656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" t="23116" r="916" b="22835"/>
          <a:stretch>
            <a:fillRect/>
          </a:stretch>
        </p:blipFill>
        <p:spPr bwMode="auto">
          <a:xfrm>
            <a:off x="377825" y="2008188"/>
            <a:ext cx="8207375" cy="33797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202A210-8037-4CE7-882D-ABB1210591D9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75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75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41421B-A0E6-4638-A00F-169D8B2CB8C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400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>
                <a:latin typeface="Comic Sans MS" pitchFamily="66" charset="0"/>
              </a:rPr>
              <a:t>Allocating </a:t>
            </a:r>
            <a:r>
              <a:rPr lang="en-US" altLang="zh-TW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Kernel</a:t>
            </a:r>
            <a:r>
              <a:rPr lang="en-US" altLang="zh-TW" smtClean="0">
                <a:latin typeface="Comic Sans MS" pitchFamily="66" charset="0"/>
              </a:rPr>
              <a:t> Memory</a:t>
            </a:r>
          </a:p>
        </p:txBody>
      </p:sp>
      <p:sp>
        <p:nvSpPr>
          <p:cNvPr id="177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Treated differently from user memory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dirty="0" smtClean="0"/>
              <a:t>Often allocated from a free-memory pool</a:t>
            </a:r>
          </a:p>
          <a:p>
            <a:pPr lvl="1" eaLnBrk="1" hangingPunct="1">
              <a:defRPr/>
            </a:pPr>
            <a:r>
              <a:rPr lang="en-US" altLang="zh-TW" dirty="0" smtClean="0"/>
              <a:t>Kernel requests memory for structures of </a:t>
            </a:r>
            <a:r>
              <a:rPr lang="en-US" altLang="zh-TW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varying sizes</a:t>
            </a:r>
          </a:p>
          <a:p>
            <a:pPr lvl="1" eaLnBrk="1" hangingPunct="1">
              <a:defRPr/>
            </a:pPr>
            <a:r>
              <a:rPr lang="en-US" altLang="zh-TW" dirty="0" smtClean="0"/>
              <a:t>Some kernel memory needs to be </a:t>
            </a:r>
            <a:r>
              <a:rPr lang="en-US" altLang="zh-TW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contiguous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847931-1C74-49CE-8799-04A6A59970B0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86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86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E38BDD-5B18-40F5-A444-8F165E94E42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TW" sz="140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88265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Buddy System</a:t>
            </a:r>
          </a:p>
        </p:txBody>
      </p:sp>
      <p:sp>
        <p:nvSpPr>
          <p:cNvPr id="179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640762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Allocates memory from fixed-size </a:t>
            </a:r>
            <a:r>
              <a:rPr lang="en-US" altLang="zh-TW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segment</a:t>
            </a:r>
            <a:r>
              <a:rPr lang="en-US" altLang="zh-TW" dirty="0" smtClean="0"/>
              <a:t> consisting of </a:t>
            </a:r>
            <a:r>
              <a:rPr lang="en-US" altLang="zh-TW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physically-contiguous</a:t>
            </a:r>
            <a:r>
              <a:rPr lang="en-US" altLang="zh-TW" dirty="0" smtClean="0"/>
              <a:t> pages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dirty="0" smtClean="0"/>
              <a:t>Memory allocated using </a:t>
            </a:r>
            <a:r>
              <a:rPr lang="en-US" altLang="zh-TW" b="1" dirty="0" smtClean="0">
                <a:solidFill>
                  <a:srgbClr val="FF0000"/>
                </a:solidFill>
              </a:rPr>
              <a:t>power-of-2 allocator</a:t>
            </a:r>
          </a:p>
          <a:p>
            <a:pPr lvl="1" eaLnBrk="1" hangingPunct="1">
              <a:defRPr/>
            </a:pPr>
            <a:r>
              <a:rPr lang="en-US" altLang="zh-TW" dirty="0" smtClean="0"/>
              <a:t>Satisfies requests in units sized as power of 2</a:t>
            </a:r>
          </a:p>
          <a:p>
            <a:pPr lvl="1" eaLnBrk="1" hangingPunct="1">
              <a:defRPr/>
            </a:pPr>
            <a:r>
              <a:rPr lang="en-US" altLang="zh-TW" dirty="0" smtClean="0"/>
              <a:t>Request </a:t>
            </a:r>
            <a:r>
              <a:rPr lang="en-US" altLang="zh-TW" dirty="0" smtClean="0">
                <a:solidFill>
                  <a:srgbClr val="0000FF"/>
                </a:solidFill>
              </a:rPr>
              <a:t>rounded up to next highest power of 2</a:t>
            </a:r>
          </a:p>
          <a:p>
            <a:pPr lvl="1" eaLnBrk="1" hangingPunct="1">
              <a:defRPr/>
            </a:pPr>
            <a:r>
              <a:rPr lang="en-US" altLang="zh-TW" dirty="0" smtClean="0"/>
              <a:t>When smaller allocation needed than is available, current chunk </a:t>
            </a:r>
            <a:r>
              <a:rPr lang="en-US" altLang="zh-TW" dirty="0" smtClean="0">
                <a:solidFill>
                  <a:srgbClr val="0000FF"/>
                </a:solidFill>
              </a:rPr>
              <a:t>split into two buddies of next-lower power of 2</a:t>
            </a:r>
          </a:p>
          <a:p>
            <a:pPr lvl="2" eaLnBrk="1" hangingPunct="1">
              <a:defRPr/>
            </a:pPr>
            <a:r>
              <a:rPr lang="en-US" altLang="zh-TW" dirty="0" smtClean="0"/>
              <a:t>Continue until appropriate sized chunk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E5FB8A-F354-4944-A2AA-1887745A6B1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696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696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8838DD-1F6E-4B77-A9B0-B73D8FDA94C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TW" sz="140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63613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Buddy System Allocator</a:t>
            </a:r>
          </a:p>
        </p:txBody>
      </p:sp>
      <p:pic>
        <p:nvPicPr>
          <p:cNvPr id="696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6" t="1498" r="7864" b="1498"/>
          <a:stretch>
            <a:fillRect/>
          </a:stretch>
        </p:blipFill>
        <p:spPr bwMode="auto">
          <a:xfrm>
            <a:off x="1914525" y="1657350"/>
            <a:ext cx="5151438" cy="44481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395288" y="5661025"/>
            <a:ext cx="996950" cy="527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/>
              <a:t>A request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/>
              <a:t>of 23 KB</a:t>
            </a:r>
          </a:p>
        </p:txBody>
      </p:sp>
      <p:sp>
        <p:nvSpPr>
          <p:cNvPr id="181254" name="Line 6"/>
          <p:cNvSpPr>
            <a:spLocks noChangeShapeType="1"/>
          </p:cNvSpPr>
          <p:nvPr/>
        </p:nvSpPr>
        <p:spPr bwMode="auto">
          <a:xfrm flipV="1">
            <a:off x="1403350" y="5949950"/>
            <a:ext cx="35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 animBg="1"/>
      <p:bldP spid="18125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554575-4ACD-4721-9551-98B21195D13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06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06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C196C69-1E51-4914-830B-783F567494A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TW" sz="1400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Slab Allocator</a:t>
            </a:r>
          </a:p>
        </p:txBody>
      </p:sp>
      <p:sp>
        <p:nvSpPr>
          <p:cNvPr id="183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785225" cy="568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0000FF"/>
                </a:solidFill>
              </a:rPr>
              <a:t>Slab</a:t>
            </a:r>
            <a:r>
              <a:rPr lang="en-US" altLang="zh-TW" sz="2800" dirty="0" smtClean="0">
                <a:solidFill>
                  <a:srgbClr val="0000FF"/>
                </a:solidFill>
              </a:rPr>
              <a:t> is one or more physically contiguous pages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b="1" dirty="0" smtClean="0">
                <a:solidFill>
                  <a:srgbClr val="FF0000"/>
                </a:solidFill>
              </a:rPr>
              <a:t>Cache</a:t>
            </a:r>
            <a:r>
              <a:rPr lang="en-US" altLang="zh-TW" sz="2400" dirty="0" smtClean="0"/>
              <a:t> consists of one or more slabs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Single cache for each unique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kernel</a:t>
            </a:r>
            <a:r>
              <a:rPr lang="en-US" altLang="zh-TW" sz="2400" dirty="0" smtClean="0">
                <a:solidFill>
                  <a:srgbClr val="FF0000"/>
                </a:solidFill>
              </a:rPr>
              <a:t> data structure</a:t>
            </a:r>
            <a:r>
              <a:rPr lang="en-US" altLang="zh-TW" sz="2400" dirty="0" smtClean="0"/>
              <a:t> </a:t>
            </a:r>
            <a:r>
              <a:rPr lang="en-US" altLang="zh-TW" sz="1600" dirty="0" smtClean="0">
                <a:solidFill>
                  <a:srgbClr val="FF0000"/>
                </a:solidFill>
              </a:rPr>
              <a:t>(semaphores, </a:t>
            </a:r>
            <a:r>
              <a:rPr lang="en-US" altLang="zh-TW" sz="1600" dirty="0" smtClean="0">
                <a:solidFill>
                  <a:srgbClr val="0000FF"/>
                </a:solidFill>
              </a:rPr>
              <a:t>process</a:t>
            </a:r>
            <a:r>
              <a:rPr lang="en-US" altLang="zh-TW" sz="1600" dirty="0" smtClean="0">
                <a:solidFill>
                  <a:srgbClr val="FF0000"/>
                </a:solidFill>
              </a:rPr>
              <a:t> descriptors, file objects, </a:t>
            </a:r>
            <a:r>
              <a:rPr lang="en-US" altLang="zh-TW" sz="1600" dirty="0" smtClean="0">
                <a:solidFill>
                  <a:srgbClr val="FF0000"/>
                </a:solidFill>
                <a:latin typeface="Helvetica"/>
              </a:rPr>
              <a:t>…</a:t>
            </a:r>
            <a:r>
              <a:rPr lang="en-US" altLang="zh-TW" sz="1600" dirty="0" smtClean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en-US" altLang="zh-TW" sz="2000" dirty="0" smtClean="0"/>
              <a:t>Each cache filled with </a:t>
            </a:r>
            <a:r>
              <a:rPr lang="en-US" altLang="zh-TW" sz="2000" b="1" dirty="0" smtClean="0"/>
              <a:t>objects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latin typeface="Helvetica"/>
              </a:rPr>
              <a:t>–</a:t>
            </a:r>
            <a:r>
              <a:rPr lang="en-US" altLang="zh-TW" sz="2000" dirty="0" smtClean="0"/>
              <a:t> instantiations of the data structure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When cache created, filled with objects marked as</a:t>
            </a:r>
            <a:r>
              <a:rPr lang="en-US" altLang="zh-TW" sz="2400" dirty="0" smtClean="0"/>
              <a:t>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free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When structures stored, objects marked as </a:t>
            </a:r>
            <a:r>
              <a:rPr lang="en-US" altLang="zh-TW" sz="2400" b="1" dirty="0" smtClean="0"/>
              <a:t>used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/>
              <a:t>If slab is full of used objects, next object allocated from empty slab</a:t>
            </a:r>
          </a:p>
          <a:p>
            <a:pPr lvl="1" eaLnBrk="1" hangingPunct="1">
              <a:defRPr/>
            </a:pPr>
            <a:r>
              <a:rPr lang="en-US" altLang="zh-TW" sz="2000" dirty="0" smtClean="0"/>
              <a:t>If no empty slabs, new slab allocated</a:t>
            </a:r>
          </a:p>
          <a:p>
            <a:pPr eaLnBrk="1" hangingPunct="1">
              <a:spcAft>
                <a:spcPct val="60000"/>
              </a:spcAft>
              <a:defRPr/>
            </a:pPr>
            <a:r>
              <a:rPr lang="en-US" altLang="zh-TW" sz="2400" dirty="0" smtClean="0"/>
              <a:t>Benefits include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no fragmentation, fast memory request satisfaction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9BB267-AB35-47FB-A3C0-46AFB82DABA1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16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16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19B20AB-7D75-44A1-9272-D1FDD722AD1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TW" sz="140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Slab Allocation</a:t>
            </a:r>
          </a:p>
        </p:txBody>
      </p:sp>
      <p:pic>
        <p:nvPicPr>
          <p:cNvPr id="7168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" t="3944" r="720" b="3635"/>
          <a:stretch>
            <a:fillRect/>
          </a:stretch>
        </p:blipFill>
        <p:spPr bwMode="auto">
          <a:xfrm>
            <a:off x="1042988" y="1196975"/>
            <a:ext cx="7127875" cy="48244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5867400" y="1412875"/>
            <a:ext cx="490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9KB</a:t>
            </a: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5651500" y="1916113"/>
            <a:ext cx="360363" cy="217487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6011863" y="1916113"/>
            <a:ext cx="360362" cy="2174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5351" name="Rectangle 7"/>
          <p:cNvSpPr>
            <a:spLocks noChangeArrowheads="1"/>
          </p:cNvSpPr>
          <p:nvPr/>
        </p:nvSpPr>
        <p:spPr bwMode="auto">
          <a:xfrm>
            <a:off x="6372225" y="1916113"/>
            <a:ext cx="287338" cy="2174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/>
      <p:bldP spid="185349" grpId="0" animBg="1"/>
      <p:bldP spid="185350" grpId="0" animBg="1"/>
      <p:bldP spid="18535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Slab Allocator in Linux</a:t>
            </a:r>
          </a:p>
        </p:txBody>
      </p:sp>
      <p:sp>
        <p:nvSpPr>
          <p:cNvPr id="70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7950" y="620713"/>
            <a:ext cx="8785225" cy="5976937"/>
          </a:xfrm>
        </p:spPr>
        <p:txBody>
          <a:bodyPr/>
          <a:lstStyle/>
          <a:p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 </a:t>
            </a:r>
            <a:r>
              <a:rPr lang="en-US" altLang="en-US" sz="280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process descriptor </a:t>
            </a:r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is of the type struct task_struct, which requires</a:t>
            </a:r>
            <a:r>
              <a:rPr lang="zh-TW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approximately 1.7 KB.</a:t>
            </a:r>
          </a:p>
          <a:p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When the Linux kernel creates a new task, </a:t>
            </a:r>
          </a:p>
          <a:p>
            <a:pPr lvl="1"/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will use existing free </a:t>
            </a: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struct task_struct</a:t>
            </a:r>
            <a:endParaRPr lang="en-US" altLang="en-US" sz="2400" smtClean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 slab may be in three possible states: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Full – all used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Empty</a:t>
            </a: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– all free</a:t>
            </a:r>
          </a:p>
          <a:p>
            <a:pPr lvl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Partial</a:t>
            </a: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– mix of free and used</a:t>
            </a:r>
          </a:p>
          <a:p>
            <a:r>
              <a:rPr lang="en-US" altLang="en-US" sz="2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Upon request, slab allocator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first attempts uses free struct in </a:t>
            </a:r>
            <a:r>
              <a:rPr lang="en-US" altLang="en-US" sz="240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partial slab,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if none exists, takes one from </a:t>
            </a:r>
            <a:r>
              <a:rPr lang="en-US" altLang="en-US" sz="240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empty slab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If no empty slabs are available, a new slab is allocated from contiguous physical pages and assigned to a cache.</a:t>
            </a:r>
          </a:p>
        </p:txBody>
      </p:sp>
      <p:sp>
        <p:nvSpPr>
          <p:cNvPr id="72708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BD9233-1B9E-49CC-AC22-66962F6CDBBE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2709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27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71554C-AABD-442E-B942-66E571037D1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88913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Slab Allocator in Linux</a:t>
            </a:r>
          </a:p>
        </p:txBody>
      </p:sp>
      <p:sp>
        <p:nvSpPr>
          <p:cNvPr id="71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713788" cy="5832475"/>
          </a:xfrm>
        </p:spPr>
        <p:txBody>
          <a:bodyPr/>
          <a:lstStyle/>
          <a:p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Two slab implementation as SLAB:  the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SLOB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and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SLUB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allocators.</a:t>
            </a:r>
          </a:p>
          <a:p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The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SLOB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is designed for systems with a limited amount of memory, such as embedded systems.</a:t>
            </a:r>
          </a:p>
          <a:p>
            <a:pPr lvl="1"/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SLOB (Simple List of Blocks): maintains 3 list objects for small (&lt; 256 bytes), medium (&lt; 1,024 bytes), and large (for objects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sym typeface="Symbol" panose="05050102010706020507" pitchFamily="18" charset="2"/>
              </a:rPr>
              <a:t>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1,024 bytes) objects, using a first-fit.</a:t>
            </a:r>
          </a:p>
          <a:p>
            <a:r>
              <a:rPr lang="en-US" altLang="en-US" sz="24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Version 2.6.24: the SLUB allocator replaced SLAB as the default allocator.  </a:t>
            </a:r>
            <a:r>
              <a:rPr lang="en-US" altLang="en-US" sz="2400" dirty="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(For large systems)</a:t>
            </a:r>
          </a:p>
          <a:p>
            <a:pPr lvl="1"/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One change is to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move the metadata 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that is stored with each slab under SLAB allocation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to the page structure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.</a:t>
            </a:r>
          </a:p>
          <a:p>
            <a:pPr lvl="1"/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SLUB </a:t>
            </a:r>
            <a:r>
              <a:rPr lang="en-US" altLang="en-US" sz="24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removes the per-CPU queues </a:t>
            </a:r>
            <a:r>
              <a:rPr lang="en-US" altLang="en-US" sz="24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that the SLAB allocator maintains for objects in each cache.</a:t>
            </a:r>
          </a:p>
        </p:txBody>
      </p:sp>
      <p:sp>
        <p:nvSpPr>
          <p:cNvPr id="73732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DCFEDE-5F8D-40E2-8A72-F7D7C8D7ACE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373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373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C62428-96A7-41EF-834C-50FCD782B95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TW" sz="14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50825" y="6027738"/>
            <a:ext cx="8785225" cy="8302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A 128 byte object will be aligned at 128 byte boundaries and can fit tightly into a 4k page with no bytes left over. 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2852936"/>
            <a:ext cx="876202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/>
              <a:t>array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-108520" y="4209504"/>
            <a:ext cx="1694695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 err="1" smtClean="0"/>
              <a:t>noncontinous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52CFFF-E23A-4D80-9119-E652AA0190FD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47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47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63ABD0-77E0-42A7-970D-BC742D57B11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TW" sz="1400"/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Other Considerations</a:t>
            </a:r>
          </a:p>
        </p:txBody>
      </p:sp>
      <p:sp>
        <p:nvSpPr>
          <p:cNvPr id="829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353425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Prepaging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  <a:latin typeface="Comic Sans MS" panose="030F0702030302020204" pitchFamily="66" charset="0"/>
              </a:rPr>
              <a:t>Page size selection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fragmentation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table size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I/O overhead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  <a:latin typeface="Comic Sans MS" panose="030F0702030302020204" pitchFamily="66" charset="0"/>
              </a:rPr>
              <a:t>Locality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Program structure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chemeClr val="bg2"/>
                </a:solidFill>
                <a:latin typeface="Comic Sans MS" panose="030F0702030302020204" pitchFamily="66" charset="0"/>
              </a:rPr>
              <a:t>Inverted page table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  <a:latin typeface="Comic Sans MS" panose="030F0702030302020204" pitchFamily="66" charset="0"/>
              </a:rPr>
              <a:t>I/O interlock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B4FF7A-8AE3-4A9D-976B-CFFF4B31ADBE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57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57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A5BA59F-A7A8-454F-BC07-E0452C9D616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TW" sz="1400"/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latin typeface="Comic Sans MS" panose="030F0702030302020204" pitchFamily="66" charset="0"/>
              </a:rPr>
              <a:t>Prepaging</a:t>
            </a:r>
          </a:p>
        </p:txBody>
      </p:sp>
      <p:sp>
        <p:nvSpPr>
          <p:cNvPr id="189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496300" cy="54721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err="1" smtClean="0"/>
              <a:t>Prepaging</a:t>
            </a:r>
            <a:r>
              <a:rPr lang="en-US" altLang="zh-TW" sz="2800" dirty="0" smtClean="0"/>
              <a:t> 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9933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 reduce the large number of page faults that occurs at process startup (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itchFamily="18" charset="0"/>
              </a:rPr>
              <a:t>e.g., pure demand-paging)</a:t>
            </a:r>
            <a:endParaRPr lang="en-US" altLang="zh-TW" sz="2400" dirty="0" smtClean="0">
              <a:solidFill>
                <a:srgbClr val="9933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en-US" altLang="zh-TW" sz="2400" dirty="0" err="1" smtClean="0">
                <a:solidFill>
                  <a:srgbClr val="FF0000"/>
                </a:solidFill>
              </a:rPr>
              <a:t>Prepage</a:t>
            </a:r>
            <a:r>
              <a:rPr lang="en-US" altLang="zh-TW" sz="2400" dirty="0" smtClean="0">
                <a:solidFill>
                  <a:srgbClr val="FF0000"/>
                </a:solidFill>
              </a:rPr>
              <a:t> all or some of the pages a process will need, before they are referenced</a:t>
            </a:r>
            <a:r>
              <a:rPr lang="en-US" altLang="zh-TW" sz="2400" dirty="0" smtClean="0">
                <a:latin typeface="Times New Roman" pitchFamily="18" charset="0"/>
              </a:rPr>
              <a:t>.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 smtClean="0">
                <a:latin typeface="Times New Roman" pitchFamily="18" charset="0"/>
              </a:rPr>
              <a:t>e.g., 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</a:rPr>
              <a:t>whole working set</a:t>
            </a:r>
            <a:r>
              <a:rPr lang="en-US" altLang="zh-TW" sz="2000" dirty="0" smtClean="0">
                <a:latin typeface="Times New Roman" pitchFamily="18" charset="0"/>
              </a:rPr>
              <a:t> for a swapping-in process</a:t>
            </a:r>
            <a:endParaRPr lang="en-US" altLang="zh-TW" sz="2000" dirty="0" smtClean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>
                <a:solidFill>
                  <a:srgbClr val="0000FF"/>
                </a:solidFill>
                <a:sym typeface="Wingdings" pitchFamily="2" charset="2"/>
              </a:rPr>
              <a:t> </a:t>
            </a:r>
            <a:r>
              <a:rPr lang="en-US" altLang="zh-TW" sz="2400" dirty="0" smtClean="0">
                <a:solidFill>
                  <a:srgbClr val="0000FF"/>
                </a:solidFill>
              </a:rPr>
              <a:t>But if </a:t>
            </a:r>
            <a:r>
              <a:rPr lang="en-US" altLang="zh-TW" sz="2400" dirty="0" err="1" smtClean="0">
                <a:solidFill>
                  <a:srgbClr val="0000FF"/>
                </a:solidFill>
              </a:rPr>
              <a:t>prepaged</a:t>
            </a:r>
            <a:r>
              <a:rPr lang="en-US" altLang="zh-TW" sz="2400" dirty="0" smtClean="0">
                <a:solidFill>
                  <a:srgbClr val="0000FF"/>
                </a:solidFill>
              </a:rPr>
              <a:t> pages are unused, I/O and memory was wasted.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Assume </a:t>
            </a:r>
            <a:r>
              <a:rPr lang="en-US" altLang="zh-TW" sz="2400" i="1" dirty="0" smtClean="0">
                <a:latin typeface="Times New Roman" pitchFamily="18" charset="0"/>
              </a:rPr>
              <a:t>s</a:t>
            </a:r>
            <a:r>
              <a:rPr lang="en-US" altLang="zh-TW" sz="2400" dirty="0" smtClean="0"/>
              <a:t> pages are </a:t>
            </a:r>
            <a:r>
              <a:rPr lang="en-US" altLang="zh-TW" sz="2400" dirty="0" err="1" smtClean="0"/>
              <a:t>prepaged</a:t>
            </a:r>
            <a:r>
              <a:rPr lang="en-US" altLang="zh-TW" sz="2400" dirty="0" smtClean="0"/>
              <a:t> and </a:t>
            </a:r>
            <a:r>
              <a:rPr lang="el-GR" altLang="zh-TW" sz="2400" dirty="0">
                <a:sym typeface="Symbol"/>
              </a:rPr>
              <a:t></a:t>
            </a:r>
            <a:r>
              <a:rPr lang="en-US" altLang="zh-TW" sz="2400" dirty="0" smtClean="0"/>
              <a:t>%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of the pages is used</a:t>
            </a:r>
          </a:p>
          <a:p>
            <a:pPr lvl="2" eaLnBrk="1" hangingPunct="1">
              <a:defRPr/>
            </a:pPr>
            <a:r>
              <a:rPr lang="en-US" altLang="zh-TW" i="1" dirty="0" smtClean="0">
                <a:latin typeface="Times New Roman" pitchFamily="18" charset="0"/>
              </a:rPr>
              <a:t>s</a:t>
            </a:r>
            <a:r>
              <a:rPr lang="en-US" altLang="zh-TW" dirty="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l-GR" dirty="0" smtClean="0">
                <a:latin typeface="Times New Roman" pitchFamily="18" charset="0"/>
              </a:rPr>
              <a:t>α</a:t>
            </a:r>
            <a:r>
              <a:rPr lang="en-US" altLang="zh-TW" i="1" dirty="0" smtClean="0">
                <a:latin typeface="Times New Roman" pitchFamily="18" charset="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Times New Roman" pitchFamily="18" charset="0"/>
              </a:rPr>
              <a:t>saves page faults</a:t>
            </a:r>
            <a:r>
              <a:rPr lang="en-US" altLang="zh-TW" dirty="0" smtClean="0">
                <a:latin typeface="Times New Roman" pitchFamily="18" charset="0"/>
              </a:rPr>
              <a:t> VS. </a:t>
            </a:r>
            <a:r>
              <a:rPr lang="en-US" altLang="zh-TW" i="1" dirty="0" smtClean="0">
                <a:latin typeface="Times New Roman" pitchFamily="18" charset="0"/>
              </a:rPr>
              <a:t/>
            </a:r>
            <a:br>
              <a:rPr lang="en-US" altLang="zh-TW" i="1" dirty="0" smtClean="0">
                <a:latin typeface="Times New Roman" pitchFamily="18" charset="0"/>
              </a:rPr>
            </a:br>
            <a:r>
              <a:rPr lang="en-US" altLang="zh-TW" i="1" dirty="0" smtClean="0">
                <a:latin typeface="Times New Roman" pitchFamily="18" charset="0"/>
              </a:rPr>
              <a:t> </a:t>
            </a:r>
            <a:r>
              <a:rPr lang="en-US" altLang="zh-TW" dirty="0" err="1" smtClean="0">
                <a:latin typeface="Times New Roman" pitchFamily="18" charset="0"/>
              </a:rPr>
              <a:t>prepaging</a:t>
            </a:r>
            <a:r>
              <a:rPr lang="en-US" altLang="zh-TW" i="1" dirty="0" smtClean="0">
                <a:latin typeface="Times New Roman" pitchFamily="18" charset="0"/>
              </a:rPr>
              <a:t> s</a:t>
            </a:r>
            <a:r>
              <a:rPr lang="en-US" altLang="zh-TW" dirty="0" smtClean="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TW" dirty="0" smtClean="0">
                <a:latin typeface="Times New Roman" pitchFamily="18" charset="0"/>
              </a:rPr>
              <a:t>(1-</a:t>
            </a:r>
            <a:r>
              <a:rPr lang="el-GR" dirty="0" smtClean="0">
                <a:latin typeface="Times New Roman" pitchFamily="18" charset="0"/>
              </a:rPr>
              <a:t>α</a:t>
            </a:r>
            <a:r>
              <a:rPr lang="en-US" altLang="zh-TW" dirty="0" smtClean="0">
                <a:latin typeface="Times New Roman" pitchFamily="18" charset="0"/>
              </a:rPr>
              <a:t>)</a:t>
            </a:r>
            <a:r>
              <a:rPr lang="en-US" altLang="zh-TW" i="1" dirty="0" smtClean="0">
                <a:latin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</a:rPr>
              <a:t>unnecessary pages</a:t>
            </a:r>
            <a:r>
              <a:rPr lang="en-US" altLang="zh-TW" i="1" dirty="0" smtClean="0">
                <a:latin typeface="Times New Roman" pitchFamily="18" charset="0"/>
              </a:rPr>
              <a:t>  </a:t>
            </a:r>
          </a:p>
          <a:p>
            <a:pPr lvl="2" eaLnBrk="1" hangingPunct="1">
              <a:defRPr/>
            </a:pPr>
            <a:r>
              <a:rPr lang="el-GR" dirty="0" smtClean="0">
                <a:latin typeface="Times New Roman" pitchFamily="18" charset="0"/>
              </a:rPr>
              <a:t>α</a:t>
            </a:r>
            <a:r>
              <a:rPr lang="en-US" altLang="zh-TW" i="1" dirty="0" smtClean="0">
                <a:latin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</a:rPr>
              <a:t>near zero </a:t>
            </a:r>
            <a:r>
              <a:rPr lang="en-US" altLang="zh-TW" dirty="0" smtClean="0">
                <a:latin typeface="Times New Roman" pitchFamily="18" charset="0"/>
                <a:sym typeface="Symbol" pitchFamily="18" charset="2"/>
              </a:rPr>
              <a:t> </a:t>
            </a:r>
            <a:r>
              <a:rPr lang="en-US" altLang="zh-TW" dirty="0" err="1" smtClean="0">
                <a:latin typeface="Times New Roman" pitchFamily="18" charset="0"/>
                <a:sym typeface="Symbol" pitchFamily="18" charset="2"/>
              </a:rPr>
              <a:t>prepaging</a:t>
            </a:r>
            <a:r>
              <a:rPr lang="en-US" altLang="zh-TW" dirty="0" smtClean="0">
                <a:latin typeface="Times New Roman" pitchFamily="18" charset="0"/>
                <a:sym typeface="Symbol" pitchFamily="18" charset="2"/>
              </a:rPr>
              <a:t> loses</a:t>
            </a:r>
            <a:r>
              <a:rPr lang="en-US" altLang="zh-TW" dirty="0" smtClean="0"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BFC413-33FC-43F6-B11D-00E502DF1B4F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680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68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156E22-922C-471D-AB84-2FA3093F57B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TW" sz="1400"/>
          </a:p>
        </p:txBody>
      </p:sp>
      <p:sp>
        <p:nvSpPr>
          <p:cNvPr id="3891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228600"/>
            <a:ext cx="8534400" cy="6400800"/>
          </a:xfrm>
        </p:spPr>
        <p:txBody>
          <a:bodyPr lIns="90488" tIns="44450" rIns="90488" bIns="44450"/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1" smtClean="0">
                <a:solidFill>
                  <a:srgbClr val="0000FF"/>
                </a:solidFill>
                <a:latin typeface="Comic Sans MS" pitchFamily="66" charset="0"/>
              </a:rPr>
              <a:t>Page size</a:t>
            </a:r>
          </a:p>
          <a:p>
            <a:pPr eaLnBrk="1" hangingPunct="1">
              <a:defRPr/>
            </a:pPr>
            <a:r>
              <a:rPr lang="en-US" altLang="zh-TW" sz="2800" baseline="30000" smtClean="0">
                <a:latin typeface="Comic Sans MS" pitchFamily="66" charset="0"/>
              </a:rPr>
              <a:t> </a:t>
            </a:r>
            <a:r>
              <a:rPr lang="en-US" altLang="zh-TW" sz="2800" smtClean="0">
                <a:latin typeface="Comic Sans MS" pitchFamily="66" charset="0"/>
              </a:rPr>
              <a:t>usually,</a:t>
            </a:r>
            <a:r>
              <a:rPr lang="en-US" altLang="zh-TW" sz="2800" baseline="30000" smtClean="0">
                <a:latin typeface="Comic Sans MS" pitchFamily="66" charset="0"/>
              </a:rPr>
              <a:t> </a:t>
            </a:r>
            <a:r>
              <a:rPr lang="en-US" altLang="zh-TW" sz="2800" smtClean="0">
                <a:latin typeface="Comic Sans MS" pitchFamily="66" charset="0"/>
              </a:rPr>
              <a:t>2</a:t>
            </a:r>
            <a:r>
              <a:rPr lang="en-US" altLang="zh-TW" sz="2800" baseline="30000" smtClean="0">
                <a:latin typeface="Comic Sans MS" pitchFamily="66" charset="0"/>
              </a:rPr>
              <a:t>12</a:t>
            </a:r>
            <a:r>
              <a:rPr lang="en-US" altLang="zh-TW" sz="2800" smtClean="0">
                <a:latin typeface="Comic Sans MS" pitchFamily="66" charset="0"/>
              </a:rPr>
              <a:t>(4K) ~ 2</a:t>
            </a:r>
            <a:r>
              <a:rPr lang="en-US" altLang="zh-TW" sz="2800" baseline="30000" smtClean="0">
                <a:latin typeface="Comic Sans MS" pitchFamily="66" charset="0"/>
              </a:rPr>
              <a:t>22</a:t>
            </a:r>
            <a:r>
              <a:rPr lang="en-US" altLang="zh-TW" sz="2800" smtClean="0">
                <a:latin typeface="Comic Sans MS" pitchFamily="66" charset="0"/>
              </a:rPr>
              <a:t> (4M)</a:t>
            </a:r>
            <a:r>
              <a:rPr lang="en-US" altLang="zh-TW" sz="2800" smtClean="0">
                <a:latin typeface="Comic Sans MS" pitchFamily="66" charset="0"/>
                <a:sym typeface="Symbol" pitchFamily="18" charset="2"/>
              </a:rPr>
              <a:t> size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memory utilization (small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internal fragmentation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)</a:t>
            </a:r>
          </a:p>
          <a:p>
            <a:pPr lvl="3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1800" smtClean="0">
                <a:latin typeface="Comic Sans MS" pitchFamily="66" charset="0"/>
                <a:sym typeface="Symbol" pitchFamily="18" charset="2"/>
              </a:rPr>
              <a:t>			   </a:t>
            </a:r>
            <a:r>
              <a:rPr lang="en-US" altLang="zh-TW" smtClean="0">
                <a:latin typeface="Comic Sans MS" pitchFamily="66" charset="0"/>
                <a:sym typeface="Symbol" pitchFamily="18" charset="2"/>
              </a:rPr>
              <a:t> </a:t>
            </a:r>
            <a:r>
              <a:rPr lang="en-US" altLang="zh-TW" smtClean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small size</a:t>
            </a:r>
            <a:r>
              <a:rPr lang="en-US" altLang="zh-TW" smtClean="0">
                <a:latin typeface="Comic Sans MS" pitchFamily="66" charset="0"/>
                <a:sym typeface="Symbol" pitchFamily="18" charset="2"/>
              </a:rPr>
              <a:t> </a:t>
            </a:r>
          </a:p>
          <a:p>
            <a:pPr lvl="1" eaLnBrk="1" hangingPunct="1">
              <a:defRPr/>
            </a:pP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  <a:sym typeface="Symbol" pitchFamily="18" charset="2"/>
              </a:rPr>
              <a:t>minimize I/O time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 (less seek, latency)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				  </a:t>
            </a: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  <a:sym typeface="Symbol" pitchFamily="18" charset="2"/>
              </a:rPr>
              <a:t>large size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 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reduce total I/O (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improve locality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) 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small size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 better </a:t>
            </a:r>
            <a:r>
              <a:rPr lang="en-US" altLang="zh-TW" sz="240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sym typeface="Symbol" pitchFamily="18" charset="2"/>
              </a:rPr>
              <a:t>resolution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, allowing us to isolate only the memory that is actually needed.</a:t>
            </a:r>
          </a:p>
          <a:p>
            <a:pPr lvl="1" eaLnBrk="1" hangingPunct="1">
              <a:defRPr/>
            </a:pP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</a:rPr>
              <a:t>minimize number of page faults</a:t>
            </a:r>
            <a:r>
              <a:rPr lang="en-US" altLang="zh-TW" sz="2400" smtClean="0">
                <a:latin typeface="Comic Sans MS" pitchFamily="66" charset="0"/>
              </a:rPr>
              <a:t>  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 </a:t>
            </a: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  <a:sym typeface="Symbol" pitchFamily="18" charset="2"/>
              </a:rPr>
              <a:t>large size</a:t>
            </a:r>
            <a:r>
              <a:rPr lang="en-US" altLang="zh-TW" sz="2400" smtClean="0">
                <a:latin typeface="Comic Sans MS" pitchFamily="66" charset="0"/>
                <a:sym typeface="Symbol" pitchFamily="18" charset="2"/>
              </a:rPr>
              <a:t> </a:t>
            </a:r>
          </a:p>
          <a:p>
            <a:pPr eaLnBrk="1" hangingPunct="1">
              <a:defRPr/>
            </a:pPr>
            <a:r>
              <a:rPr lang="en-US" altLang="zh-TW" sz="2800" smtClean="0">
                <a:latin typeface="Comic Sans MS" pitchFamily="66" charset="0"/>
              </a:rPr>
              <a:t>Trend: larger</a:t>
            </a:r>
          </a:p>
          <a:p>
            <a:pPr lvl="1" eaLnBrk="1" hangingPunct="1">
              <a:defRPr/>
            </a:pPr>
            <a:r>
              <a:rPr lang="en-US" altLang="zh-TW" sz="2400" smtClean="0">
                <a:latin typeface="Comic Sans MS" pitchFamily="66" charset="0"/>
              </a:rPr>
              <a:t>CPU speed/memory capacity increase faster than disks. Page faults are more costly today.</a:t>
            </a:r>
          </a:p>
          <a:p>
            <a:pPr lvl="4" eaLnBrk="1" hangingPunct="1">
              <a:buFont typeface="Wingdings" panose="05000000000000000000" pitchFamily="2" charset="2"/>
              <a:buNone/>
              <a:defRPr/>
            </a:pPr>
            <a:endParaRPr lang="en-US" altLang="zh-TW" sz="1800" smtClean="0">
              <a:latin typeface="Comic Sans MS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B9CC77-140D-4AAC-93B5-6DFCAA018666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78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78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FE8BBB-6299-404E-AFDA-1103B8D2EE4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TW" sz="140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913"/>
            <a:ext cx="7772400" cy="719137"/>
          </a:xfrm>
        </p:spPr>
        <p:txBody>
          <a:bodyPr/>
          <a:lstStyle/>
          <a:p>
            <a:pPr algn="ctr" eaLnBrk="1" hangingPunct="1"/>
            <a:r>
              <a:rPr lang="en-US" altLang="zh-TW" sz="4000" smtClean="0">
                <a:solidFill>
                  <a:srgbClr val="0000FF"/>
                </a:solidFill>
                <a:latin typeface="Comic Sans MS" panose="030F0702030302020204" pitchFamily="66" charset="0"/>
              </a:rPr>
              <a:t>TLB Reach</a:t>
            </a:r>
            <a:r>
              <a:rPr lang="en-US" altLang="zh-TW" sz="4000" smtClean="0"/>
              <a:t> </a:t>
            </a:r>
          </a:p>
        </p:txBody>
      </p:sp>
      <p:sp>
        <p:nvSpPr>
          <p:cNvPr id="195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640762" cy="5472112"/>
          </a:xfrm>
        </p:spPr>
        <p:txBody>
          <a:bodyPr/>
          <a:lstStyle/>
          <a:p>
            <a:pPr eaLnBrk="1" hangingPunct="1"/>
            <a:r>
              <a:rPr lang="en-US" altLang="zh-TW" sz="2400" smtClean="0"/>
              <a:t>TLB Reach - The amount of memory accessible from the TLB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TLB Reach = (TLB Size) X (Page Size)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Ideally</a:t>
            </a:r>
            <a:r>
              <a:rPr lang="en-US" altLang="zh-TW" sz="2400" smtClean="0"/>
              <a:t>, the working set of each process is stored in the TLB</a:t>
            </a:r>
          </a:p>
          <a:p>
            <a:pPr lvl="1" eaLnBrk="1" hangingPunct="1"/>
            <a:r>
              <a:rPr lang="en-US" altLang="zh-TW" sz="2000" smtClean="0"/>
              <a:t>Otherwise there is a high degree of page faults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smtClean="0"/>
              <a:t>Increase the Page Size</a:t>
            </a:r>
          </a:p>
          <a:p>
            <a:pPr lvl="1" eaLnBrk="1" hangingPunct="1"/>
            <a:r>
              <a:rPr lang="en-US" altLang="zh-TW" sz="2000" smtClean="0"/>
              <a:t>This may lead to an increase in fragmentation as not all applications require a large page size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smtClean="0"/>
              <a:t>Provide </a:t>
            </a:r>
            <a:r>
              <a:rPr lang="en-US" altLang="zh-TW" sz="2400" smtClean="0">
                <a:solidFill>
                  <a:srgbClr val="FF0000"/>
                </a:solidFill>
              </a:rPr>
              <a:t>Multiple Page Sizes </a:t>
            </a:r>
            <a:r>
              <a:rPr lang="en-US" altLang="zh-TW" sz="1600" smtClean="0">
                <a:solidFill>
                  <a:srgbClr val="FF0000"/>
                </a:solidFill>
              </a:rPr>
              <a:t>(8KB, 4MB in Solaris)</a:t>
            </a:r>
          </a:p>
          <a:p>
            <a:pPr lvl="1" eaLnBrk="1" hangingPunct="1"/>
            <a:r>
              <a:rPr lang="en-US" altLang="zh-TW" sz="2000" smtClean="0"/>
              <a:t>This allows applications that require larger page sizes the opportunity to use them without an increase in fragmentation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6592B3-576B-4C4C-9B29-9008483B5927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88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88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76CC64-4E76-42F4-911A-A0CBC6D9F62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kumimoji="0" lang="en-US" altLang="zh-TW" sz="1400"/>
          </a:p>
        </p:txBody>
      </p:sp>
      <p:sp>
        <p:nvSpPr>
          <p:cNvPr id="20377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0" y="282575"/>
            <a:ext cx="8001000" cy="6254750"/>
          </a:xfrm>
          <a:noFill/>
        </p:spPr>
        <p:txBody>
          <a:bodyPr lIns="90488" tIns="44450" rIns="90488" bIns="44450"/>
          <a:lstStyle/>
          <a:p>
            <a:pPr algn="ctr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b="1" smtClean="0">
                <a:solidFill>
                  <a:srgbClr val="0000FF"/>
                </a:solidFill>
                <a:latin typeface="Comic Sans MS" panose="030F0702030302020204" pitchFamily="66" charset="0"/>
              </a:rPr>
              <a:t>Program Structure</a:t>
            </a:r>
          </a:p>
          <a:p>
            <a:pPr lvl="1" eaLnBrk="1" hangingPunct="1"/>
            <a:r>
              <a:rPr lang="en-US" altLang="zh-TW" smtClean="0">
                <a:latin typeface="Comic Sans MS" panose="030F0702030302020204" pitchFamily="66" charset="0"/>
              </a:rPr>
              <a:t>Careful selection of data/programming structure can 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increase locality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Comic Sans MS" panose="030F0702030302020204" pitchFamily="66" charset="0"/>
              </a:rPr>
              <a:t>		</a:t>
            </a:r>
            <a:r>
              <a:rPr lang="en-US" altLang="zh-TW" sz="1800" smtClean="0">
                <a:solidFill>
                  <a:srgbClr val="0000FF"/>
                </a:solidFill>
                <a:latin typeface="Times New Roman" panose="02020603050405020304" pitchFamily="18" charset="0"/>
              </a:rPr>
              <a:t>var A: array[1..128, 1..128] of integer;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			for j := 1 to 128 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				for i := 1 to 128 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		 	A[i,j] :=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 			for i := 1 to 128 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				for j := 1 to 128 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0000FF"/>
                </a:solidFill>
                <a:latin typeface="Times New Roman" panose="02020603050405020304" pitchFamily="18" charset="0"/>
              </a:rPr>
              <a:t>					A[i,j] := 0;</a:t>
            </a:r>
          </a:p>
          <a:p>
            <a:pPr lvl="1" eaLnBrk="1" hangingPunct="1"/>
            <a:r>
              <a:rPr lang="en-US" altLang="zh-TW" smtClean="0">
                <a:latin typeface="Comic Sans MS" panose="030F0702030302020204" pitchFamily="66" charset="0"/>
              </a:rPr>
              <a:t>	</a:t>
            </a:r>
            <a:r>
              <a:rPr lang="en-US" altLang="zh-TW" smtClean="0">
                <a:solidFill>
                  <a:srgbClr val="FF0000"/>
                </a:solidFill>
                <a:latin typeface="Comic Sans MS" panose="030F0702030302020204" pitchFamily="66" charset="0"/>
              </a:rPr>
              <a:t>Stack is better than hash</a:t>
            </a:r>
          </a:p>
          <a:p>
            <a:pPr lvl="2" eaLnBrk="1" hangingPunct="1">
              <a:buFont typeface="Wingdings" panose="05000000000000000000" pitchFamily="2" charset="2"/>
              <a:buChar char="n"/>
            </a:pP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Stack: good locality since access is always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	made to the top</a:t>
            </a:r>
          </a:p>
          <a:p>
            <a:pPr lvl="2" eaLnBrk="1" hangingPunct="1">
              <a:buFont typeface="Wingdings" panose="05000000000000000000" pitchFamily="2" charset="2"/>
              <a:buChar char="n"/>
            </a:pP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Hash: bad locality since  designed to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TW" sz="2000" smtClean="0">
                <a:solidFill>
                  <a:srgbClr val="FF0000"/>
                </a:solidFill>
                <a:latin typeface="Comic Sans MS" panose="030F0702030302020204" pitchFamily="66" charset="0"/>
              </a:rPr>
              <a:t>	scatter references</a:t>
            </a:r>
            <a:endParaRPr lang="en-US" altLang="zh-TW" smtClean="0">
              <a:latin typeface="Comic Sans MS" panose="030F0702030302020204" pitchFamily="66" charset="0"/>
            </a:endParaRPr>
          </a:p>
        </p:txBody>
      </p:sp>
      <p:sp>
        <p:nvSpPr>
          <p:cNvPr id="78854" name="Rectangle 3"/>
          <p:cNvSpPr>
            <a:spLocks noChangeArrowheads="1"/>
          </p:cNvSpPr>
          <p:nvPr/>
        </p:nvSpPr>
        <p:spPr bwMode="auto">
          <a:xfrm>
            <a:off x="7554913" y="1885950"/>
            <a:ext cx="973137" cy="4727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78855" name="Rectangle 4"/>
          <p:cNvSpPr>
            <a:spLocks noChangeArrowheads="1"/>
          </p:cNvSpPr>
          <p:nvPr/>
        </p:nvSpPr>
        <p:spPr bwMode="auto">
          <a:xfrm>
            <a:off x="6411913" y="2416175"/>
            <a:ext cx="9223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1</a:t>
            </a:r>
          </a:p>
        </p:txBody>
      </p:sp>
      <p:sp>
        <p:nvSpPr>
          <p:cNvPr id="78856" name="Rectangle 5"/>
          <p:cNvSpPr>
            <a:spLocks noChangeArrowheads="1"/>
          </p:cNvSpPr>
          <p:nvPr/>
        </p:nvSpPr>
        <p:spPr bwMode="auto">
          <a:xfrm>
            <a:off x="6413500" y="3905250"/>
            <a:ext cx="9223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2</a:t>
            </a:r>
          </a:p>
        </p:txBody>
      </p:sp>
      <p:grpSp>
        <p:nvGrpSpPr>
          <p:cNvPr id="78857" name="Group 6"/>
          <p:cNvGrpSpPr>
            <a:grpSpLocks/>
          </p:cNvGrpSpPr>
          <p:nvPr/>
        </p:nvGrpSpPr>
        <p:grpSpPr bwMode="auto">
          <a:xfrm>
            <a:off x="7485063" y="1887538"/>
            <a:ext cx="1108075" cy="1482725"/>
            <a:chOff x="4646" y="1133"/>
            <a:chExt cx="667" cy="934"/>
          </a:xfrm>
        </p:grpSpPr>
        <p:sp>
          <p:nvSpPr>
            <p:cNvPr id="78865" name="Rectangle 7"/>
            <p:cNvSpPr>
              <a:spLocks noChangeArrowheads="1"/>
            </p:cNvSpPr>
            <p:nvPr/>
          </p:nvSpPr>
          <p:spPr bwMode="auto">
            <a:xfrm>
              <a:off x="4690" y="1133"/>
              <a:ext cx="555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endParaRPr lang="zh-TW" altLang="zh-TW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8866" name="Text Box 8"/>
            <p:cNvSpPr txBox="1">
              <a:spLocks noChangeArrowheads="1"/>
            </p:cNvSpPr>
            <p:nvPr/>
          </p:nvSpPr>
          <p:spPr bwMode="auto">
            <a:xfrm>
              <a:off x="4646" y="1143"/>
              <a:ext cx="667" cy="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A[1,1]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A[1,2]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A[1,128]</a:t>
              </a:r>
            </a:p>
          </p:txBody>
        </p:sp>
      </p:grpSp>
      <p:grpSp>
        <p:nvGrpSpPr>
          <p:cNvPr id="78858" name="Group 9"/>
          <p:cNvGrpSpPr>
            <a:grpSpLocks/>
          </p:cNvGrpSpPr>
          <p:nvPr/>
        </p:nvGrpSpPr>
        <p:grpSpPr bwMode="auto">
          <a:xfrm>
            <a:off x="7496175" y="4865688"/>
            <a:ext cx="1108075" cy="1482725"/>
            <a:chOff x="4299" y="2896"/>
            <a:chExt cx="698" cy="934"/>
          </a:xfrm>
        </p:grpSpPr>
        <p:sp>
          <p:nvSpPr>
            <p:cNvPr id="78863" name="Rectangle 10"/>
            <p:cNvSpPr>
              <a:spLocks noChangeArrowheads="1"/>
            </p:cNvSpPr>
            <p:nvPr/>
          </p:nvSpPr>
          <p:spPr bwMode="auto">
            <a:xfrm>
              <a:off x="4345" y="2896"/>
              <a:ext cx="581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endParaRPr lang="zh-TW" altLang="zh-TW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8864" name="Text Box 11"/>
            <p:cNvSpPr txBox="1">
              <a:spLocks noChangeArrowheads="1"/>
            </p:cNvSpPr>
            <p:nvPr/>
          </p:nvSpPr>
          <p:spPr bwMode="auto">
            <a:xfrm>
              <a:off x="4299" y="2906"/>
              <a:ext cx="698" cy="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A[3,1]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A[3,2]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A[3,128]</a:t>
              </a:r>
            </a:p>
          </p:txBody>
        </p:sp>
      </p:grpSp>
      <p:grpSp>
        <p:nvGrpSpPr>
          <p:cNvPr id="78859" name="Group 12"/>
          <p:cNvGrpSpPr>
            <a:grpSpLocks/>
          </p:cNvGrpSpPr>
          <p:nvPr/>
        </p:nvGrpSpPr>
        <p:grpSpPr bwMode="auto">
          <a:xfrm>
            <a:off x="7489825" y="3375025"/>
            <a:ext cx="1108075" cy="1482725"/>
            <a:chOff x="4299" y="2896"/>
            <a:chExt cx="698" cy="934"/>
          </a:xfrm>
        </p:grpSpPr>
        <p:sp>
          <p:nvSpPr>
            <p:cNvPr id="78861" name="Rectangle 13"/>
            <p:cNvSpPr>
              <a:spLocks noChangeArrowheads="1"/>
            </p:cNvSpPr>
            <p:nvPr/>
          </p:nvSpPr>
          <p:spPr bwMode="auto">
            <a:xfrm>
              <a:off x="4345" y="2896"/>
              <a:ext cx="581" cy="933"/>
            </a:xfrm>
            <a:prstGeom prst="rect">
              <a:avLst/>
            </a:prstGeom>
            <a:solidFill>
              <a:srgbClr val="ECECE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endParaRPr lang="zh-TW" altLang="zh-TW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78862" name="Text Box 14"/>
            <p:cNvSpPr txBox="1">
              <a:spLocks noChangeArrowheads="1"/>
            </p:cNvSpPr>
            <p:nvPr/>
          </p:nvSpPr>
          <p:spPr bwMode="auto">
            <a:xfrm>
              <a:off x="4299" y="2906"/>
              <a:ext cx="698" cy="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A[2,1]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A[2,2]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.</a:t>
              </a:r>
            </a:p>
            <a:p>
              <a:pPr algn="ctr"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Times New Roman" panose="02020603050405020304" pitchFamily="18" charset="0"/>
                </a:rPr>
                <a:t>A[2,128]</a:t>
              </a:r>
            </a:p>
          </p:txBody>
        </p:sp>
      </p:grpSp>
      <p:sp>
        <p:nvSpPr>
          <p:cNvPr id="78860" name="Rectangle 15"/>
          <p:cNvSpPr>
            <a:spLocks noChangeArrowheads="1"/>
          </p:cNvSpPr>
          <p:nvPr/>
        </p:nvSpPr>
        <p:spPr bwMode="auto">
          <a:xfrm>
            <a:off x="6443663" y="5451475"/>
            <a:ext cx="10239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3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3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3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3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37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37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37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37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37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37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B3140D-B74F-47BC-BC18-E72FFB51CA92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798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798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72638C-28DB-4147-899B-C6037498C34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kumimoji="0" lang="en-US" altLang="zh-TW" sz="1400"/>
          </a:p>
        </p:txBody>
      </p:sp>
      <p:sp>
        <p:nvSpPr>
          <p:cNvPr id="20582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304800"/>
            <a:ext cx="8534400" cy="6096000"/>
          </a:xfrm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3600" b="1" smtClean="0">
                <a:solidFill>
                  <a:srgbClr val="0000FF"/>
                </a:solidFill>
                <a:latin typeface="Comic Sans MS" pitchFamily="66" charset="0"/>
              </a:rPr>
              <a:t>Inverted Page Table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baseline="30000" smtClean="0">
                <a:latin typeface="Comic Sans MS" pitchFamily="66" charset="0"/>
              </a:rPr>
              <a:t>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Reduce the amount of physical memory that is needed to track virtual-to-physical address translations.</a:t>
            </a:r>
            <a:r>
              <a:rPr lang="en-US" altLang="zh-TW" sz="2400" smtClean="0">
                <a:latin typeface="Comic Sans MS" pitchFamily="66" charset="0"/>
              </a:rPr>
              <a:t> 	&lt;pid, page#&gt;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>
                <a:latin typeface="Comic Sans MS" pitchFamily="66" charset="0"/>
              </a:rPr>
              <a:t>The table no longer contains complete information about the logical address of </a:t>
            </a: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</a:rPr>
              <a:t>a process</a:t>
            </a:r>
            <a:r>
              <a:rPr lang="en-US" altLang="zh-TW" sz="2400" smtClean="0">
                <a:latin typeface="Comic Sans MS" pitchFamily="66" charset="0"/>
              </a:rPr>
              <a:t> and that information is required if a referenced page is </a:t>
            </a: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not currently in memory</a:t>
            </a:r>
            <a:r>
              <a:rPr lang="en-US" altLang="zh-TW" sz="2400" smtClean="0">
                <a:latin typeface="Comic Sans MS" pitchFamily="66" charset="0"/>
              </a:rPr>
              <a:t>.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>
                <a:solidFill>
                  <a:srgbClr val="FF0000"/>
                </a:solidFill>
                <a:latin typeface="Comic Sans MS" pitchFamily="66" charset="0"/>
              </a:rPr>
              <a:t>Demand paging</a:t>
            </a:r>
            <a:r>
              <a:rPr lang="en-US" altLang="zh-TW" sz="2400" smtClean="0">
                <a:latin typeface="Comic Sans MS" pitchFamily="66" charset="0"/>
              </a:rPr>
              <a:t> requires this to process page faults. An </a:t>
            </a:r>
            <a:r>
              <a:rPr lang="en-US" altLang="zh-TW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external page table</a:t>
            </a:r>
            <a:r>
              <a:rPr lang="en-US" altLang="zh-TW" sz="2400" smtClean="0">
                <a:latin typeface="Comic Sans MS" pitchFamily="66" charset="0"/>
              </a:rPr>
              <a:t> (one per process) must be kept.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>
                <a:latin typeface="Comic Sans MS" pitchFamily="66" charset="0"/>
              </a:rPr>
              <a:t>Do external page tables </a:t>
            </a:r>
            <a:r>
              <a:rPr lang="en-US" altLang="zh-TW" sz="2400" smtClean="0">
                <a:solidFill>
                  <a:srgbClr val="0000FF"/>
                </a:solidFill>
                <a:latin typeface="Comic Sans MS" pitchFamily="66" charset="0"/>
              </a:rPr>
              <a:t>negate</a:t>
            </a:r>
            <a:r>
              <a:rPr lang="en-US" altLang="zh-TW" sz="2400" smtClean="0">
                <a:latin typeface="Comic Sans MS" pitchFamily="66" charset="0"/>
              </a:rPr>
              <a:t> the utility of inverted page tables?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>
                <a:latin typeface="Comic Sans MS" pitchFamily="66" charset="0"/>
              </a:rPr>
              <a:t>They do not need to be available quickly </a:t>
            </a:r>
            <a:r>
              <a:rPr lang="en-US" altLang="zh-TW" sz="2000" smtClean="0">
                <a:latin typeface="Comic Sans MS" pitchFamily="66" charset="0"/>
                <a:sym typeface="Wingdings" pitchFamily="2" charset="2"/>
              </a:rPr>
              <a:t> paged in and out memory as necessary   </a:t>
            </a:r>
            <a:r>
              <a:rPr lang="en-US" altLang="zh-TW" sz="20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  <a:sym typeface="Wingdings" pitchFamily="2" charset="2"/>
              </a:rPr>
              <a:t>Another page fault may occur</a:t>
            </a:r>
            <a:r>
              <a:rPr lang="en-US" altLang="zh-TW" sz="2000" smtClean="0">
                <a:latin typeface="Comic Sans MS" pitchFamily="66" charset="0"/>
                <a:sym typeface="Wingdings" pitchFamily="2" charset="2"/>
              </a:rPr>
              <a:t> as it pages in the external page table</a:t>
            </a:r>
            <a:endParaRPr lang="en-US" altLang="zh-TW" sz="2000" smtClean="0">
              <a:latin typeface="Comic Sans MS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B57FC5-5370-4B64-B182-9CF66B0E8FA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08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09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4299D7-1F95-431F-8560-08E10884221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kumimoji="0" lang="en-US" altLang="zh-TW" sz="1400"/>
          </a:p>
        </p:txBody>
      </p:sp>
      <p:sp>
        <p:nvSpPr>
          <p:cNvPr id="20787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9250" y="404813"/>
            <a:ext cx="8493125" cy="6194425"/>
          </a:xfrm>
          <a:noFill/>
        </p:spPr>
        <p:txBody>
          <a:bodyPr lIns="90488" tIns="44450" rIns="90488" bIns="44450"/>
          <a:lstStyle/>
          <a:p>
            <a:pPr marL="609600" indent="-609600" algn="ctr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b="1" smtClean="0">
                <a:latin typeface="Comic Sans MS" panose="030F0702030302020204" pitchFamily="66" charset="0"/>
              </a:rPr>
              <a:t>  </a:t>
            </a:r>
            <a:r>
              <a:rPr lang="en-US" altLang="zh-TW" b="1" smtClean="0">
                <a:solidFill>
                  <a:srgbClr val="FF0000"/>
                </a:solidFill>
                <a:latin typeface="Comic Sans MS" panose="030F0702030302020204" pitchFamily="66" charset="0"/>
              </a:rPr>
              <a:t>I/O Interlock</a:t>
            </a:r>
            <a:endParaRPr lang="en-US" altLang="zh-TW" sz="2400" b="1" smtClean="0">
              <a:latin typeface="Arial" panose="020B0604020202020204" pitchFamily="34" charset="0"/>
            </a:endParaRPr>
          </a:p>
          <a:p>
            <a:pPr marL="609600" indent="-609600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2400" b="1" smtClean="0">
                <a:latin typeface="Arial" panose="020B0604020202020204" pitchFamily="34" charset="0"/>
              </a:rPr>
              <a:t>	Sometimes, we need to allow some of the pages to be </a:t>
            </a:r>
            <a:r>
              <a:rPr lang="en-US" altLang="zh-TW" sz="2400" b="1" smtClean="0">
                <a:solidFill>
                  <a:srgbClr val="9933FF"/>
                </a:solidFill>
                <a:latin typeface="Arial" panose="020B0604020202020204" pitchFamily="34" charset="0"/>
              </a:rPr>
              <a:t>locked</a:t>
            </a:r>
            <a:r>
              <a:rPr lang="en-US" altLang="zh-TW" sz="2400" b="1" smtClean="0">
                <a:latin typeface="Arial" panose="020B0604020202020204" pitchFamily="34" charset="0"/>
              </a:rPr>
              <a:t> in memory</a:t>
            </a:r>
            <a:r>
              <a:rPr lang="en-US" altLang="zh-TW" smtClean="0">
                <a:latin typeface="Comic Sans MS" panose="030F0702030302020204" pitchFamily="66" charset="0"/>
              </a:rPr>
              <a:t> </a:t>
            </a:r>
          </a:p>
          <a:p>
            <a:pPr marL="990600" lvl="1" indent="-533400" eaLnBrk="1" hangingPunct="1"/>
            <a:r>
              <a:rPr lang="en-US" altLang="zh-TW" smtClean="0">
                <a:latin typeface="Arial" panose="020B0604020202020204" pitchFamily="34" charset="0"/>
              </a:rPr>
              <a:t>An example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circleNumWdWhitePlain"/>
            </a:pPr>
            <a:r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</a:rPr>
              <a:t>Process A prepare a page as I/O buffer and then waiting for an I/O device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circleNumWdWhitePlain"/>
            </a:pPr>
            <a:r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</a:rPr>
              <a:t>Process B takes the frame of A’s I/O page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circleNumWdWhitePlain"/>
            </a:pPr>
            <a:r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</a:rPr>
              <a:t>I/O device ready for A, a page fault occurs</a:t>
            </a:r>
            <a:r>
              <a:rPr lang="en-US" altLang="zh-TW" smtClean="0">
                <a:latin typeface="Arial" panose="020B0604020202020204" pitchFamily="34" charset="0"/>
              </a:rPr>
              <a:t> </a:t>
            </a:r>
          </a:p>
          <a:p>
            <a:pPr marL="990600" lvl="1" indent="-533400"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  <a:latin typeface="Arial" panose="020B0604020202020204" pitchFamily="34" charset="0"/>
              </a:rPr>
              <a:t>Solutions</a:t>
            </a:r>
            <a:r>
              <a:rPr lang="en-US" altLang="zh-TW" smtClean="0">
                <a:latin typeface="Arial" panose="020B0604020202020204" pitchFamily="34" charset="0"/>
              </a:rPr>
              <a:t>:</a:t>
            </a:r>
          </a:p>
          <a:p>
            <a:pPr marL="1371600" lvl="2" indent="-457200" eaLnBrk="1" hangingPunct="1"/>
            <a:r>
              <a:rPr lang="en-US" altLang="zh-TW" smtClean="0">
                <a:latin typeface="Arial" panose="020B0604020202020204" pitchFamily="34" charset="0"/>
              </a:rPr>
              <a:t>Never execute I/O to </a:t>
            </a:r>
            <a:r>
              <a:rPr lang="en-US" altLang="zh-TW" smtClean="0">
                <a:solidFill>
                  <a:srgbClr val="0000FF"/>
                </a:solidFill>
                <a:latin typeface="Arial" panose="020B0604020202020204" pitchFamily="34" charset="0"/>
              </a:rPr>
              <a:t>user memory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TW" smtClean="0">
                <a:latin typeface="Arial" panose="020B0604020202020204" pitchFamily="34" charset="0"/>
              </a:rPr>
              <a:t>          	</a:t>
            </a:r>
            <a:r>
              <a:rPr lang="en-US" altLang="zh-TW" sz="2400" smtClean="0">
                <a:solidFill>
                  <a:srgbClr val="0000FF"/>
                </a:solidFill>
                <a:latin typeface="Arial" panose="020B0604020202020204" pitchFamily="34" charset="0"/>
              </a:rPr>
              <a:t>(system memory </a:t>
            </a:r>
            <a:r>
              <a:rPr lang="en-US" altLang="zh-TW" sz="2400" smtClean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</a:t>
            </a:r>
            <a:r>
              <a:rPr lang="en-US" altLang="zh-TW" sz="2400" smtClean="0">
                <a:solidFill>
                  <a:srgbClr val="0000FF"/>
                </a:solidFill>
                <a:latin typeface="Arial" panose="020B0604020202020204" pitchFamily="34" charset="0"/>
              </a:rPr>
              <a:t> I/O device)</a:t>
            </a:r>
          </a:p>
          <a:p>
            <a:pPr marL="1371600" lvl="2" indent="-457200" eaLnBrk="1" hangingPunct="1"/>
            <a:r>
              <a:rPr lang="en-US" altLang="zh-TW" smtClean="0">
                <a:latin typeface="Arial" panose="020B0604020202020204" pitchFamily="34" charset="0"/>
              </a:rPr>
              <a:t>Allow pages to be locked (using a </a:t>
            </a:r>
            <a:r>
              <a:rPr lang="en-US" altLang="zh-TW" smtClean="0">
                <a:solidFill>
                  <a:srgbClr val="FF0000"/>
                </a:solidFill>
                <a:latin typeface="Arial" panose="020B0604020202020204" pitchFamily="34" charset="0"/>
              </a:rPr>
              <a:t>lock</a:t>
            </a:r>
            <a:r>
              <a:rPr lang="en-US" altLang="zh-TW" i="1" smtClean="0">
                <a:latin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FF0000"/>
                </a:solidFill>
                <a:latin typeface="Arial" panose="020B0604020202020204" pitchFamily="34" charset="0"/>
              </a:rPr>
              <a:t>bit</a:t>
            </a:r>
            <a:r>
              <a:rPr lang="en-US" altLang="zh-TW" smtClean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0902" name="Text Box 3"/>
          <p:cNvSpPr txBox="1">
            <a:spLocks noChangeArrowheads="1"/>
          </p:cNvSpPr>
          <p:nvPr/>
        </p:nvSpPr>
        <p:spPr bwMode="auto">
          <a:xfrm>
            <a:off x="7162800" y="3962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7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7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7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7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7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7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7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7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7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7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7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7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2E0A5C-1A17-4606-9827-7F89CA0B524B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19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19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ED5288-F932-450E-B9B0-520DB6222B4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kumimoji="0" lang="en-US" altLang="zh-TW" sz="1400"/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latin typeface="Comic Sans MS" panose="030F0702030302020204" pitchFamily="66" charset="0"/>
              </a:rPr>
              <a:t>Windows</a:t>
            </a:r>
          </a:p>
        </p:txBody>
      </p:sp>
      <p:sp>
        <p:nvSpPr>
          <p:cNvPr id="2181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334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smtClean="0"/>
              <a:t>Uses demand paging with </a:t>
            </a:r>
            <a:r>
              <a:rPr lang="en-US" altLang="zh-TW" sz="2400" b="1" smtClean="0">
                <a:solidFill>
                  <a:srgbClr val="FF0000"/>
                </a:solidFill>
              </a:rPr>
              <a:t>clustering</a:t>
            </a:r>
            <a:r>
              <a:rPr lang="en-US" altLang="zh-TW" sz="2400" smtClean="0"/>
              <a:t>. Clustering </a:t>
            </a:r>
            <a:r>
              <a:rPr lang="en-US" altLang="zh-TW" sz="2400" smtClean="0">
                <a:solidFill>
                  <a:srgbClr val="9933FF"/>
                </a:solidFill>
              </a:rPr>
              <a:t>brings in pages surrounding the faulting page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Processes are assigned </a:t>
            </a:r>
            <a:r>
              <a:rPr lang="en-US" altLang="zh-TW" sz="2400" b="1" smtClean="0">
                <a:solidFill>
                  <a:srgbClr val="FF0000"/>
                </a:solidFill>
              </a:rPr>
              <a:t>working set minimum</a:t>
            </a:r>
            <a:r>
              <a:rPr lang="en-US" altLang="zh-TW" sz="2400" smtClean="0"/>
              <a:t> and </a:t>
            </a:r>
            <a:r>
              <a:rPr lang="en-US" altLang="zh-TW" sz="2400" b="1" smtClean="0">
                <a:solidFill>
                  <a:srgbClr val="FF0000"/>
                </a:solidFill>
              </a:rPr>
              <a:t>working set maximum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Working set minimum is the minimum number of pages the process is guaranteed to have in memory.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A process may be assigned as many pages up to its working set maximum.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When the amount of free memory in the system falls below a threshold, </a:t>
            </a:r>
            <a:r>
              <a:rPr lang="en-US" altLang="zh-TW" sz="2400" b="1" smtClean="0">
                <a:solidFill>
                  <a:srgbClr val="FF0000"/>
                </a:solidFill>
              </a:rPr>
              <a:t>automatic working set trimming</a:t>
            </a:r>
            <a:r>
              <a:rPr lang="en-US" altLang="zh-TW" sz="2400" smtClean="0"/>
              <a:t> is performed to restore the amount of free memory.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/>
              <a:t>Working set trimming removes pages from processes that have pages in excess of their working set minimum.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D922E1-93D1-4384-8EA9-0DD200111B1A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29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29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EF9A10-2EC1-4232-99E4-CE4FED11FC5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kumimoji="0" lang="en-US" altLang="zh-TW" sz="1400"/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Solaris (1)</a:t>
            </a:r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512175" cy="5534025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Maintains a list of free pages to assign faulting processes.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2800" b="1" smtClean="0">
                <a:solidFill>
                  <a:srgbClr val="FF0000"/>
                </a:solidFill>
              </a:rPr>
              <a:t>Lotsfree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anose="020B0604020202020204" pitchFamily="34" charset="0"/>
              </a:rPr>
              <a:t>–</a:t>
            </a:r>
            <a:r>
              <a:rPr lang="en-US" altLang="zh-TW" sz="2800" smtClean="0"/>
              <a:t> threshold parameter to begin </a:t>
            </a:r>
            <a:r>
              <a:rPr lang="en-US" altLang="zh-TW" sz="2800" u="sng" smtClean="0"/>
              <a:t>paging</a:t>
            </a:r>
            <a:r>
              <a:rPr lang="en-US" altLang="zh-TW" sz="2800" smtClean="0"/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u="sng" smtClean="0"/>
              <a:t>Paging</a:t>
            </a:r>
            <a:r>
              <a:rPr lang="en-US" altLang="zh-TW" sz="2800" smtClean="0"/>
              <a:t> is performed by </a:t>
            </a:r>
            <a:r>
              <a:rPr lang="en-US" altLang="zh-TW" sz="2800" i="1" smtClean="0">
                <a:solidFill>
                  <a:srgbClr val="0000FF"/>
                </a:solidFill>
              </a:rPr>
              <a:t>pageout</a:t>
            </a:r>
            <a:r>
              <a:rPr lang="en-US" altLang="zh-TW" sz="2800" smtClean="0"/>
              <a:t> process.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Pageout process is </a:t>
            </a:r>
            <a:r>
              <a:rPr lang="en-US" altLang="zh-TW" sz="2800" smtClean="0">
                <a:solidFill>
                  <a:srgbClr val="FF0000"/>
                </a:solidFill>
              </a:rPr>
              <a:t>similar to the second-chance </a:t>
            </a:r>
            <a:r>
              <a:rPr lang="en-US" altLang="zh-TW" sz="2800" smtClean="0"/>
              <a:t>algorithm but with two hands (pointers)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front hand:</a:t>
            </a:r>
            <a:r>
              <a:rPr lang="en-US" altLang="zh-TW" smtClean="0">
                <a:solidFill>
                  <a:srgbClr val="0000FF"/>
                </a:solidFill>
              </a:rPr>
              <a:t> </a:t>
            </a:r>
            <a:r>
              <a:rPr lang="en-US" altLang="zh-TW" sz="2400" smtClean="0">
                <a:solidFill>
                  <a:srgbClr val="0000FF"/>
                </a:solidFill>
              </a:rPr>
              <a:t>scan all pages in memory, setting the reference bit to 0.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smtClean="0">
                <a:solidFill>
                  <a:srgbClr val="9933FF"/>
                </a:solidFill>
              </a:rPr>
              <a:t>back hand:</a:t>
            </a:r>
            <a:r>
              <a:rPr lang="en-US" altLang="zh-TW" smtClean="0">
                <a:solidFill>
                  <a:srgbClr val="9933FF"/>
                </a:solidFill>
              </a:rPr>
              <a:t> </a:t>
            </a:r>
            <a:r>
              <a:rPr lang="en-US" altLang="zh-TW" sz="2400" smtClean="0">
                <a:solidFill>
                  <a:srgbClr val="9933FF"/>
                </a:solidFill>
              </a:rPr>
              <a:t>check the reference bit (Rb), collect the pages if Rb are still 0 and write to disk if modified.</a:t>
            </a:r>
            <a:endParaRPr lang="en-US" altLang="zh-TW" smtClean="0">
              <a:solidFill>
                <a:srgbClr val="9933FF"/>
              </a:solidFill>
            </a:endParaRP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4708525" y="1481138"/>
            <a:ext cx="17224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1/64 of MM</a:t>
            </a:r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 flipH="1">
            <a:off x="4038600" y="17526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/>
      <p:bldP spid="7987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0C9257-AC67-4064-AE4C-B0E70A869CDC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39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39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7958C7-B414-40CF-8EA2-5D5E1E66EF1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kumimoji="0" lang="en-US" altLang="zh-TW" sz="140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Solaris (2)</a:t>
            </a:r>
          </a:p>
        </p:txBody>
      </p:sp>
      <p:sp>
        <p:nvSpPr>
          <p:cNvPr id="242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512175" cy="5534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Solaris maintains a cache list of pages that have been </a:t>
            </a:r>
            <a:r>
              <a:rPr lang="en-US" altLang="zh-TW" sz="2800" i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freed</a:t>
            </a:r>
            <a:r>
              <a:rPr lang="en-US" altLang="zh-TW" sz="2800" smtClean="0"/>
              <a:t>. </a:t>
            </a:r>
            <a:r>
              <a:rPr lang="en-US" altLang="zh-TW" sz="2800" smtClean="0">
                <a:solidFill>
                  <a:srgbClr val="0000FF"/>
                </a:solidFill>
              </a:rPr>
              <a:t>Pages can be reclaimed if they are accessed before being moved to the free list.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b="1" smtClean="0">
                <a:solidFill>
                  <a:srgbClr val="FF0000"/>
                </a:solidFill>
              </a:rPr>
              <a:t>Scanrate</a:t>
            </a:r>
            <a:r>
              <a:rPr lang="en-US" altLang="zh-TW" sz="2800" smtClean="0"/>
              <a:t> is the rate at which pages are scanned. This ranged from </a:t>
            </a:r>
            <a:r>
              <a:rPr lang="en-US" altLang="zh-TW" sz="2800" b="1" smtClean="0"/>
              <a:t>slowscan</a:t>
            </a:r>
            <a:r>
              <a:rPr lang="en-US" altLang="zh-TW" sz="2800" smtClean="0"/>
              <a:t> (100 pages/s) to </a:t>
            </a:r>
            <a:r>
              <a:rPr lang="en-US" altLang="zh-TW" sz="2800" b="1" smtClean="0"/>
              <a:t>fastscan</a:t>
            </a:r>
            <a:r>
              <a:rPr lang="en-US" altLang="zh-TW" sz="2800" smtClean="0"/>
              <a:t> (8192</a:t>
            </a:r>
            <a:r>
              <a:rPr lang="en-US" altLang="zh-TW" sz="2800" b="1" smtClean="0"/>
              <a:t> </a:t>
            </a:r>
            <a:r>
              <a:rPr lang="en-US" altLang="zh-TW" sz="2800" smtClean="0"/>
              <a:t>pages/s).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Pageout is called more frequently depending upon the amount of free memory available.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The distance between the hands of clock is determined by </a:t>
            </a:r>
            <a:r>
              <a:rPr lang="en-US" altLang="zh-TW" sz="2800" smtClean="0">
                <a:solidFill>
                  <a:srgbClr val="FF0000"/>
                </a:solidFill>
                <a:latin typeface="Comic Sans MS" pitchFamily="66" charset="0"/>
              </a:rPr>
              <a:t>handspread</a:t>
            </a:r>
            <a:r>
              <a:rPr lang="en-US" altLang="zh-TW" sz="2800" smtClean="0"/>
              <a:t>, usually a few seconds.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B914A7-B058-4FF0-B5C8-2020BFEC1064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499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499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588ED8B-C60A-42A3-90BC-8630DD5948D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kumimoji="0" lang="en-US" altLang="zh-TW" sz="140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latin typeface="Comic Sans MS" panose="030F0702030302020204" pitchFamily="66" charset="0"/>
              </a:rPr>
              <a:t>Solar Page Scanner</a:t>
            </a:r>
          </a:p>
        </p:txBody>
      </p:sp>
      <p:pic>
        <p:nvPicPr>
          <p:cNvPr id="8499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" t="5479" r="1021" b="5247"/>
          <a:stretch>
            <a:fillRect/>
          </a:stretch>
        </p:blipFill>
        <p:spPr bwMode="auto">
          <a:xfrm>
            <a:off x="914400" y="1447800"/>
            <a:ext cx="7467600" cy="46482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57FD58-2A7D-47B6-B496-9DC95655BBB3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60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60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B17913-FAEE-48CD-9B35-67EEF89144E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kumimoji="0" lang="en-US" altLang="zh-TW" sz="140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Solaris (3)</a:t>
            </a:r>
          </a:p>
        </p:txBody>
      </p:sp>
      <p:sp>
        <p:nvSpPr>
          <p:cNvPr id="2447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512175" cy="5534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</a:rPr>
              <a:t>Enhancement 1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recognizing pages from shared libraries</a:t>
            </a:r>
            <a:r>
              <a:rPr lang="en-US" altLang="zh-TW" sz="2800" smtClean="0"/>
              <a:t>. </a:t>
            </a:r>
            <a:r>
              <a:rPr lang="en-US" altLang="zh-TW" sz="2800" smtClean="0">
                <a:solidFill>
                  <a:srgbClr val="0000FF"/>
                </a:solidFill>
              </a:rPr>
              <a:t>Skipped during the scanning if shared.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0000FF"/>
                </a:solidFill>
              </a:rPr>
              <a:t>Enhancement 2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priority paging</a:t>
            </a:r>
            <a:r>
              <a:rPr lang="en-US" altLang="zh-TW" sz="2800" smtClean="0"/>
              <a:t>.  Distinguish pages that have been </a:t>
            </a:r>
            <a:r>
              <a:rPr lang="en-US" altLang="zh-TW" sz="2800" smtClean="0">
                <a:solidFill>
                  <a:srgbClr val="0000FF"/>
                </a:solidFill>
              </a:rPr>
              <a:t>allocated to processes</a:t>
            </a:r>
            <a:r>
              <a:rPr lang="en-US" altLang="zh-TW" sz="2800" smtClean="0"/>
              <a:t> from </a:t>
            </a:r>
            <a:r>
              <a:rPr lang="en-US" altLang="zh-TW" sz="2800" smtClean="0">
                <a:solidFill>
                  <a:srgbClr val="9933FF"/>
                </a:solidFill>
              </a:rPr>
              <a:t>pages allocated to regular files</a:t>
            </a:r>
            <a:r>
              <a:rPr lang="en-US" altLang="zh-TW" sz="280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D9F2ED-5E66-4FDF-BACB-66D59E0683D5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60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60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B17913-FAEE-48CD-9B35-67EEF89144E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kumimoji="0" lang="en-US" altLang="zh-TW" sz="140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latin typeface="Comic Sans MS" panose="030F0702030302020204" pitchFamily="66" charset="0"/>
              </a:rPr>
              <a:t>SLUB, overall </a:t>
            </a:r>
            <a:r>
              <a:rPr lang="en-US" altLang="zh-TW" dirty="0">
                <a:latin typeface="Comic Sans MS" panose="030F0702030302020204" pitchFamily="66" charset="0"/>
              </a:rPr>
              <a:t>structure</a:t>
            </a:r>
            <a:endParaRPr lang="en-US" altLang="zh-TW" dirty="0" smtClean="0">
              <a:latin typeface="Comic Sans MS" panose="030F0702030302020204" pitchFamily="66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1095580"/>
            <a:ext cx="7992888" cy="521949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948264" y="474221"/>
            <a:ext cx="1895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Joonsoo</a:t>
            </a:r>
            <a:r>
              <a:rPr lang="en-US" altLang="zh-TW" dirty="0"/>
              <a:t> Kim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27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B52D4F-BDF4-4E54-879E-C59BC1E4909E}" type="datetime1">
              <a:rPr kumimoji="0" lang="zh-TW" altLang="en-US" sz="1400" smtClean="0"/>
              <a:t>2018/5/4</a:t>
            </a:fld>
            <a:endParaRPr kumimoji="0" lang="en-US" altLang="zh-TW" sz="1400" smtClean="0"/>
          </a:p>
        </p:txBody>
      </p:sp>
      <p:sp>
        <p:nvSpPr>
          <p:cNvPr id="860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os9-2018</a:t>
            </a:r>
          </a:p>
        </p:txBody>
      </p:sp>
      <p:sp>
        <p:nvSpPr>
          <p:cNvPr id="860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B17913-FAEE-48CD-9B35-67EEF89144E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kumimoji="0" lang="en-US" altLang="zh-TW" sz="140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latin typeface="Comic Sans MS" panose="030F0702030302020204" pitchFamily="66" charset="0"/>
              </a:rPr>
              <a:t>SLUB</a:t>
            </a:r>
            <a:r>
              <a:rPr lang="en-US" altLang="zh-TW" dirty="0">
                <a:latin typeface="Comic Sans MS" panose="030F0702030302020204" pitchFamily="66" charset="0"/>
              </a:rPr>
              <a:t>, Per </a:t>
            </a:r>
            <a:r>
              <a:rPr lang="en-US" altLang="zh-TW" dirty="0" err="1">
                <a:latin typeface="Comic Sans MS" panose="030F0702030302020204" pitchFamily="66" charset="0"/>
              </a:rPr>
              <a:t>cpu</a:t>
            </a:r>
            <a:r>
              <a:rPr lang="en-US" altLang="zh-TW" dirty="0">
                <a:latin typeface="Comic Sans MS" panose="030F0702030302020204" pitchFamily="66" charset="0"/>
              </a:rPr>
              <a:t> </a:t>
            </a:r>
            <a:r>
              <a:rPr lang="en-US" altLang="zh-TW" dirty="0" smtClean="0">
                <a:latin typeface="Comic Sans MS" panose="030F0702030302020204" pitchFamily="66" charset="0"/>
              </a:rPr>
              <a:t>structure </a:t>
            </a:r>
          </a:p>
        </p:txBody>
      </p:sp>
      <p:sp>
        <p:nvSpPr>
          <p:cNvPr id="2" name="矩形 1"/>
          <p:cNvSpPr/>
          <p:nvPr/>
        </p:nvSpPr>
        <p:spPr>
          <a:xfrm>
            <a:off x="7164288" y="474221"/>
            <a:ext cx="1895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Joonsoo</a:t>
            </a:r>
            <a:r>
              <a:rPr lang="en-US" altLang="zh-TW" dirty="0"/>
              <a:t> Kim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22" y="973455"/>
            <a:ext cx="8485956" cy="53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2733</TotalTime>
  <Words>4317</Words>
  <Application>Microsoft Office PowerPoint</Application>
  <PresentationFormat>如螢幕大小 (4:3)</PresentationFormat>
  <Paragraphs>1124</Paragraphs>
  <Slides>84</Slides>
  <Notes>84</Notes>
  <HiddenSlides>2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84</vt:i4>
      </vt:variant>
    </vt:vector>
  </HeadingPairs>
  <TitlesOfParts>
    <vt:vector size="100" baseType="lpstr">
      <vt:lpstr>Adobe Gothic Std B</vt:lpstr>
      <vt:lpstr>Monotype Sorts</vt:lpstr>
      <vt:lpstr>MS PGothic</vt:lpstr>
      <vt:lpstr>新細明體</vt:lpstr>
      <vt:lpstr>Arial</vt:lpstr>
      <vt:lpstr>Book Antiqua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Blueprint</vt:lpstr>
      <vt:lpstr>Equation</vt:lpstr>
      <vt:lpstr>方程式</vt:lpstr>
      <vt:lpstr>Chapter 9  Virtual Memory </vt:lpstr>
      <vt:lpstr>Outline</vt:lpstr>
      <vt:lpstr>Background (1)</vt:lpstr>
      <vt:lpstr>Background (2)</vt:lpstr>
      <vt:lpstr>Virtual Memory</vt:lpstr>
      <vt:lpstr>Shared Library Using Virtual Memory</vt:lpstr>
      <vt:lpstr>Demand Paging (1)</vt:lpstr>
      <vt:lpstr>Demand Paging (2)</vt:lpstr>
      <vt:lpstr>valid-invalid bit </vt:lpstr>
      <vt:lpstr>Page Fault</vt:lpstr>
      <vt:lpstr>Steps in handling a page fault</vt:lpstr>
      <vt:lpstr>What happens if there is no free frame?</vt:lpstr>
      <vt:lpstr>PowerPoint 簡報</vt:lpstr>
      <vt:lpstr>Demand Paging</vt:lpstr>
      <vt:lpstr>Performance of Demand Paging (1)</vt:lpstr>
      <vt:lpstr>Performance of Demand Paging (2)</vt:lpstr>
      <vt:lpstr>Performance of Demand Paging (3)</vt:lpstr>
      <vt:lpstr>Page Fault Processing: Details (1)</vt:lpstr>
      <vt:lpstr>Page Fault Processing: Details (2)</vt:lpstr>
      <vt:lpstr>Process Creation</vt:lpstr>
      <vt:lpstr>Copy-on-Write</vt:lpstr>
      <vt:lpstr>vfork (): Virtual Memory Fork</vt:lpstr>
      <vt:lpstr>Before Process 1 Modifies Page C</vt:lpstr>
      <vt:lpstr>After Modified Page C</vt:lpstr>
      <vt:lpstr>Page Replacement</vt:lpstr>
      <vt:lpstr>Need For Page Replacement</vt:lpstr>
      <vt:lpstr>Basic Page Replacement</vt:lpstr>
      <vt:lpstr>Page replacement</vt:lpstr>
      <vt:lpstr>Page Replacement Algorithms</vt:lpstr>
      <vt:lpstr># of Page Faults VS. # of Frames</vt:lpstr>
      <vt:lpstr>PowerPoint 簡報</vt:lpstr>
      <vt:lpstr>The FIFO Algorithm</vt:lpstr>
      <vt:lpstr>An Example </vt:lpstr>
      <vt:lpstr>Optimal Algorithm</vt:lpstr>
      <vt:lpstr>LRU Algorithm (Least Recently Used)</vt:lpstr>
      <vt:lpstr>PowerPoint 簡報</vt:lpstr>
      <vt:lpstr>Stack Algorithm</vt:lpstr>
      <vt:lpstr>LRU Approximation Algorithms</vt:lpstr>
      <vt:lpstr>PowerPoint 簡報</vt:lpstr>
      <vt:lpstr>PowerPoint 簡報</vt:lpstr>
      <vt:lpstr>Second-chance Algorithm</vt:lpstr>
      <vt:lpstr>Enhanced Second Chance Algorithm</vt:lpstr>
      <vt:lpstr>Counting Algorithms</vt:lpstr>
      <vt:lpstr>Page Buffering Algorithms</vt:lpstr>
      <vt:lpstr>Allocation of Frames</vt:lpstr>
      <vt:lpstr>Fixed Allocation</vt:lpstr>
      <vt:lpstr>Priority Allocation</vt:lpstr>
      <vt:lpstr>Global vs. Local Allocation</vt:lpstr>
      <vt:lpstr>NUMA: Non-Uniform Memory Access (1)</vt:lpstr>
      <vt:lpstr>NUMA: Non-Uniform Memory Access (2)</vt:lpstr>
      <vt:lpstr>Thrashing (1)</vt:lpstr>
      <vt:lpstr>Thrashing (2)</vt:lpstr>
      <vt:lpstr>Locality in a Memory-Reference Pattern</vt:lpstr>
      <vt:lpstr>Working-Set Model (1)</vt:lpstr>
      <vt:lpstr>PowerPoint 簡報</vt:lpstr>
      <vt:lpstr>Working-Set Model (2)</vt:lpstr>
      <vt:lpstr>PowerPoint 簡報</vt:lpstr>
      <vt:lpstr>Page Fault Frequency Scheme</vt:lpstr>
      <vt:lpstr>Page-Fault Frequency Scheme</vt:lpstr>
      <vt:lpstr>Working Sets and Page Fault Rates</vt:lpstr>
      <vt:lpstr>Memory-Mapped Files</vt:lpstr>
      <vt:lpstr>Memory Mapped Files</vt:lpstr>
      <vt:lpstr>Memory-Mapped Shared Memory in Windows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</vt:lpstr>
      <vt:lpstr>Other Considerations</vt:lpstr>
      <vt:lpstr>Prepaging</vt:lpstr>
      <vt:lpstr>PowerPoint 簡報</vt:lpstr>
      <vt:lpstr>TLB Reach </vt:lpstr>
      <vt:lpstr>PowerPoint 簡報</vt:lpstr>
      <vt:lpstr>PowerPoint 簡報</vt:lpstr>
      <vt:lpstr>PowerPoint 簡報</vt:lpstr>
      <vt:lpstr>Windows</vt:lpstr>
      <vt:lpstr>Solaris (1)</vt:lpstr>
      <vt:lpstr>Solaris (2)</vt:lpstr>
      <vt:lpstr>Solar Page Scanner</vt:lpstr>
      <vt:lpstr>Solaris (3)</vt:lpstr>
      <vt:lpstr>SLUB, overall structure</vt:lpstr>
      <vt:lpstr>SLUB, Per cpu structure </vt:lpstr>
    </vt:vector>
  </TitlesOfParts>
  <Company>nthu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  Virtual Memory</dc:title>
  <dc:creator>Jia-Shung WANG</dc:creator>
  <cp:lastModifiedBy>JS</cp:lastModifiedBy>
  <cp:revision>217</cp:revision>
  <dcterms:created xsi:type="dcterms:W3CDTF">2000-12-12T09:48:04Z</dcterms:created>
  <dcterms:modified xsi:type="dcterms:W3CDTF">2018-05-04T01:43:02Z</dcterms:modified>
</cp:coreProperties>
</file>