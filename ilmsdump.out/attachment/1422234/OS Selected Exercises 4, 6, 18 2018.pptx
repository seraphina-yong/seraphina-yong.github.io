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  <p:sldMasterId id="2147483757" r:id="rId2"/>
  </p:sldMasterIdLst>
  <p:notesMasterIdLst>
    <p:notesMasterId r:id="rId26"/>
  </p:notesMasterIdLst>
  <p:handoutMasterIdLst>
    <p:handoutMasterId r:id="rId27"/>
  </p:handoutMasterIdLst>
  <p:sldIdLst>
    <p:sldId id="350" r:id="rId3"/>
    <p:sldId id="574" r:id="rId4"/>
    <p:sldId id="575" r:id="rId5"/>
    <p:sldId id="598" r:id="rId6"/>
    <p:sldId id="576" r:id="rId7"/>
    <p:sldId id="596" r:id="rId8"/>
    <p:sldId id="597" r:id="rId9"/>
    <p:sldId id="578" r:id="rId10"/>
    <p:sldId id="579" r:id="rId11"/>
    <p:sldId id="580" r:id="rId12"/>
    <p:sldId id="581" r:id="rId13"/>
    <p:sldId id="582" r:id="rId14"/>
    <p:sldId id="584" r:id="rId15"/>
    <p:sldId id="585" r:id="rId16"/>
    <p:sldId id="594" r:id="rId17"/>
    <p:sldId id="595" r:id="rId18"/>
    <p:sldId id="610" r:id="rId19"/>
    <p:sldId id="604" r:id="rId20"/>
    <p:sldId id="605" r:id="rId21"/>
    <p:sldId id="606" r:id="rId22"/>
    <p:sldId id="607" r:id="rId23"/>
    <p:sldId id="608" r:id="rId24"/>
    <p:sldId id="609" r:id="rId25"/>
  </p:sldIdLst>
  <p:sldSz cx="9144000" cy="6858000" type="letter"/>
  <p:notesSz cx="6797675" cy="9928225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ahoma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00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6600"/>
    <a:srgbClr val="3333FF"/>
    <a:srgbClr val="000000"/>
    <a:srgbClr val="FF0066"/>
    <a:srgbClr val="336633"/>
    <a:srgbClr val="97EE26"/>
    <a:srgbClr val="FFCC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8" autoAdjust="0"/>
    <p:restoredTop sz="94743" autoAdjust="0"/>
  </p:normalViewPr>
  <p:slideViewPr>
    <p:cSldViewPr snapToGrid="0">
      <p:cViewPr varScale="1">
        <p:scale>
          <a:sx n="63" d="100"/>
          <a:sy n="63" d="100"/>
        </p:scale>
        <p:origin x="976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22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algn="r"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algn="r" defTabSz="912813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F4CE75B1-576F-41C4-A47A-7803721111A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67942" name="Rectangle 6"/>
          <p:cNvSpPr>
            <a:spLocks noChangeArrowheads="1"/>
          </p:cNvSpPr>
          <p:nvPr/>
        </p:nvSpPr>
        <p:spPr bwMode="auto">
          <a:xfrm>
            <a:off x="2879725" y="9458325"/>
            <a:ext cx="1038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137" tIns="44361" rIns="87137" bIns="44361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TW" sz="1200">
                <a:latin typeface="Arial" pitchFamily="34" charset="0"/>
              </a:rPr>
              <a:t>Page </a:t>
            </a:r>
            <a:fld id="{0B764333-182F-40DA-A372-E6D98395A22C}" type="slidenum">
              <a:rPr lang="en-US" altLang="zh-TW" sz="1200">
                <a:latin typeface="Arial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zh-TW" sz="120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445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2863" y="0"/>
            <a:ext cx="2944812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t" anchorCtr="0" compatLnSpc="1">
            <a:prstTxWarp prst="textNoShape">
              <a:avLst/>
            </a:prstTxWarp>
          </a:bodyPr>
          <a:lstStyle>
            <a:lvl1pPr algn="r"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944813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2863" y="9431338"/>
            <a:ext cx="2944812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9012" tIns="0" rIns="19012" bIns="0" numCol="1" anchor="b" anchorCtr="0" compatLnSpc="1">
            <a:prstTxWarp prst="textNoShape">
              <a:avLst/>
            </a:prstTxWarp>
          </a:bodyPr>
          <a:lstStyle>
            <a:lvl1pPr algn="r" defTabSz="760413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fld id="{AD3B452B-A64E-4781-B673-4CE6FC5280C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463" y="4716463"/>
            <a:ext cx="4984750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890" tIns="45946" rIns="91890" bIns="4594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 smtClean="0"/>
              <a:t>Body Text</a:t>
            </a:r>
          </a:p>
          <a:p>
            <a:pPr lvl="1"/>
            <a:r>
              <a:rPr lang="en-US" altLang="zh-TW" noProof="0" smtClean="0"/>
              <a:t>Second Level</a:t>
            </a:r>
          </a:p>
          <a:p>
            <a:pPr lvl="2"/>
            <a:r>
              <a:rPr lang="en-US" altLang="zh-TW" noProof="0" smtClean="0"/>
              <a:t>Third Level</a:t>
            </a:r>
          </a:p>
          <a:p>
            <a:pPr lvl="3"/>
            <a:r>
              <a:rPr lang="en-US" altLang="zh-TW" noProof="0" smtClean="0"/>
              <a:t>Fourth Level</a:t>
            </a:r>
          </a:p>
          <a:p>
            <a:pPr lvl="4"/>
            <a:r>
              <a:rPr lang="en-US" altLang="zh-TW" noProof="0" smtClean="0"/>
              <a:t>Fifth Level</a:t>
            </a:r>
          </a:p>
        </p:txBody>
      </p:sp>
      <p:sp>
        <p:nvSpPr>
          <p:cNvPr id="110599" name="Rectangle 7"/>
          <p:cNvSpPr>
            <a:spLocks noChangeArrowheads="1"/>
          </p:cNvSpPr>
          <p:nvPr/>
        </p:nvSpPr>
        <p:spPr bwMode="auto">
          <a:xfrm>
            <a:off x="2879725" y="9458325"/>
            <a:ext cx="103822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87137" tIns="44361" rIns="87137" bIns="44361">
            <a:spAutoFit/>
          </a:bodyPr>
          <a:lstStyle>
            <a:lvl1pPr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866775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866775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zh-TW" sz="1200">
                <a:latin typeface="Arial" pitchFamily="34" charset="0"/>
              </a:rPr>
              <a:t>Page </a:t>
            </a:r>
            <a:fld id="{CC0A0255-6235-4EB3-9428-4384871AF125}" type="slidenum">
              <a:rPr lang="en-US" altLang="zh-TW" sz="1200">
                <a:latin typeface="Arial" pitchFamily="34" charset="0"/>
              </a:rPr>
              <a:pPr algn="ctr">
                <a:lnSpc>
                  <a:spcPct val="90000"/>
                </a:lnSpc>
              </a:pPr>
              <a:t>‹#›</a:t>
            </a:fld>
            <a:endParaRPr lang="en-US" altLang="zh-TW" sz="1200">
              <a:latin typeface="Arial" pitchFamily="34" charset="0"/>
            </a:endParaRPr>
          </a:p>
        </p:txBody>
      </p:sp>
      <p:sp>
        <p:nvSpPr>
          <p:cNvPr id="110600" name="Rectangle 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7100" y="750888"/>
            <a:ext cx="4946650" cy="3709987"/>
          </a:xfrm>
          <a:prstGeom prst="rect">
            <a:avLst/>
          </a:prstGeom>
          <a:noFill/>
          <a:ln w="12699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42687637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lnSpc>
        <a:spcPct val="88000"/>
      </a:lnSpc>
      <a:spcBef>
        <a:spcPct val="4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22B4330-F1A8-444A-95EC-BE573D296ED9}" type="slidenum">
              <a:rPr lang="en-US" altLang="zh-TW" sz="1000" smtClean="0">
                <a:latin typeface="Times New Roman" pitchFamily="18" charset="0"/>
              </a:rPr>
              <a:pPr eaLnBrk="1" hangingPunct="1"/>
              <a:t>1</a:t>
            </a:fld>
            <a:endParaRPr lang="en-US" altLang="zh-TW" sz="1000" smtClean="0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7100" y="750888"/>
            <a:ext cx="4946650" cy="3709987"/>
          </a:xfrm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215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9471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3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16747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4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90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5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73685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6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83918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7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88489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8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54753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9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17990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10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445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11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918601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12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57731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13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2751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14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5237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15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dirty="0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19030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16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8705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17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4467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18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683580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19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9698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20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267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21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80968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22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95475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defTabSz="760413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defTabSz="760413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D3EFDFD1-4BF3-4AB7-BB63-4899B7170572}" type="slidenum">
              <a:rPr lang="en-US" altLang="zh-TW" sz="1000" smtClean="0">
                <a:solidFill>
                  <a:srgbClr val="000000"/>
                </a:solidFill>
                <a:latin typeface="Times New Roman" pitchFamily="18" charset="0"/>
              </a:rPr>
              <a:pPr eaLnBrk="1" hangingPunct="1"/>
              <a:t>23</a:t>
            </a:fld>
            <a:endParaRPr lang="en-US" altLang="zh-TW" sz="1000" smtClean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17575" y="744538"/>
            <a:ext cx="4965700" cy="3724275"/>
          </a:xfrm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1038" y="4718050"/>
            <a:ext cx="5437187" cy="4465638"/>
          </a:xfrm>
          <a:noFill/>
        </p:spPr>
        <p:txBody>
          <a:bodyPr lIns="92427" tIns="46214" rIns="92427" bIns="46214"/>
          <a:lstStyle/>
          <a:p>
            <a:endParaRPr lang="zh-TW" altLang="zh-TW" smtClean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52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20486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20486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DB0AF9-27D4-4EB2-BA85-38E1D5AB61B3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76BE43-4710-4DD2-8A84-0C1B4B0FB0E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84454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F957C8-53AB-4C32-AB12-32BCEC03A053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82F9AE2-0500-4043-9241-F71EAC3783C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465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FBCB93-773B-4D16-9F06-A70F94F614F6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75CDDF-04DD-40DA-93EB-F415F6823AD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989058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5CAE3A-DAE5-454A-A091-CFBFE31439C8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83953-96A2-4505-B746-0F9B61792281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1834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D339FA-1F9B-4E6C-A979-EFEDCD3619C2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344D0-946A-48C1-B198-0417235728B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802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1D8650-8534-430C-974E-C5CC43F94418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00870C-3E22-4023-9317-1A07BD69F7E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1955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CCB580-C5CC-4ECB-8845-81F44EFBE8ED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8707C6-4AF2-4255-9FDB-1EE42DA6F71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752756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9DB01-ABDA-468E-8193-4CDEF8EF100E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0CD012-A440-43AE-BF29-9D85F2FC2D4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489730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FD7AC7-AD8C-4C9E-AE53-FD5840E244DA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81F14-34B3-4516-B5AB-5CEB21DC1447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0032621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9448CA-CF31-419D-9CB3-9E649F2AB45A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03D97D-C7CD-4B29-9EBF-0126ACFF9CC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43872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3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DA2B7A-7F73-4807-8D8A-DE2217B2E2D4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165CC4-0FBD-4354-B5CD-7E1571EACF2D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1989808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itchFamily="34" charset="0"/>
                    <a:ea typeface="新細明體" pitchFamily="18" charset="-120"/>
                  </a:defRPr>
                </a:lvl9pPr>
              </a:lstStyle>
              <a:p>
                <a:pPr eaLnBrk="1" hangingPunct="1"/>
                <a:endParaRPr lang="zh-TW" altLang="en-US">
                  <a:solidFill>
                    <a:srgbClr val="40458C"/>
                  </a:solidFill>
                </a:endParaRPr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204867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204868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1ED63A-B8EE-4E6A-870D-8F2C6523DA6F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41F5ED-48BC-4061-8E22-54DF64A014F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747991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FD2F31-B5F9-42BF-A500-F65C824A999A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259DBD-87D6-4D18-9962-FB2B210E503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882891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1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49707-5150-466B-8E3B-315E560845D2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2354A8-BC0F-4FFA-88DD-E866A80F2B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89083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4EB14-455D-4595-88A1-AA7FBEFCFBBD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4B5748-F27C-4ED4-B048-8164FDEE7A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06931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20D6016-56A8-406F-88EF-04B521B04C2D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557782-5A1E-4C48-A2A6-39EB734C173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995052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021463-C2F2-42CC-A783-21AD593EDB9E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782597-03C3-40EB-9B5B-F6FE3E34489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115018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9C4A87-9ACD-4CF8-B585-A70CECE43E33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CCE3D-3263-4CDB-9465-AF233EFB806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3782560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1" y="27306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01BCFB-67D7-4E75-A2D3-454F1342426C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EDCF22-1826-4E51-BC30-260B861EDAC9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5742694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5DE795-909D-4908-8EFC-5C863C618FED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DEF4B5-F079-424D-874F-AD927D9E5DC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899655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DF297A-1138-432E-A557-FD42D4E01510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F13B4F-A474-449B-89E9-DBBAD12CDC02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25757723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3" y="304800"/>
            <a:ext cx="5848350" cy="57150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8A3191-156D-40C6-8D7E-D9E5856C0CFE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6BD45F-9B51-4EC1-A2AD-7932F4D92F7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315830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89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0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91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0384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/>
            </a:lvl1pPr>
          </a:lstStyle>
          <a:p>
            <a:pPr>
              <a:defRPr/>
            </a:pPr>
            <a:fld id="{95BE84C1-72D1-41C8-8972-EAC2D911006A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20384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/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20384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/>
            </a:lvl1pPr>
          </a:lstStyle>
          <a:p>
            <a:pPr>
              <a:defRPr/>
            </a:pPr>
            <a:fld id="{7E3D13E6-06DD-48F4-BADA-58CF1F74629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83" r:id="rId1"/>
    <p:sldLayoutId id="2147484163" r:id="rId2"/>
    <p:sldLayoutId id="2147484164" r:id="rId3"/>
    <p:sldLayoutId id="2147484165" r:id="rId4"/>
    <p:sldLayoutId id="2147484166" r:id="rId5"/>
    <p:sldLayoutId id="2147484167" r:id="rId6"/>
    <p:sldLayoutId id="2147484168" r:id="rId7"/>
    <p:sldLayoutId id="2147484169" r:id="rId8"/>
    <p:sldLayoutId id="2147484170" r:id="rId9"/>
    <p:sldLayoutId id="2147484171" r:id="rId10"/>
    <p:sldLayoutId id="2147484172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128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5135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5166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7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8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9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0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1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2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3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4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5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6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7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8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79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0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1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2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3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4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5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6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87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  <p:grpSp>
            <p:nvGrpSpPr>
              <p:cNvPr id="5136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5137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38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39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0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1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2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3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4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5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6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7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8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49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0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1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2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3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4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5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6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7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8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59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0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1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2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3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4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  <p:sp>
              <p:nvSpPr>
                <p:cNvPr id="5165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TW" altLang="en-US"/>
                </a:p>
              </p:txBody>
            </p:sp>
          </p:grpSp>
        </p:grpSp>
        <p:sp>
          <p:nvSpPr>
            <p:cNvPr id="5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itchFamily="34" charset="0"/>
                  <a:ea typeface="新細明體" pitchFamily="18" charset="-120"/>
                </a:defRPr>
              </a:lvl9pPr>
            </a:lstStyle>
            <a:p>
              <a:pPr eaLnBrk="1" hangingPunct="1"/>
              <a:endParaRPr lang="zh-TW" altLang="en-US">
                <a:solidFill>
                  <a:srgbClr val="40458C"/>
                </a:solidFill>
              </a:endParaRPr>
            </a:p>
          </p:txBody>
        </p:sp>
        <p:sp>
          <p:nvSpPr>
            <p:cNvPr id="5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TW" altLang="en-US"/>
            </a:p>
          </p:txBody>
        </p:sp>
        <p:grpSp>
          <p:nvGrpSpPr>
            <p:cNvPr id="5131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5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  <p:sp>
            <p:nvSpPr>
              <p:cNvPr id="5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TW" altLang="en-US"/>
              </a:p>
            </p:txBody>
          </p:sp>
        </p:grpSp>
      </p:grpSp>
      <p:sp>
        <p:nvSpPr>
          <p:cNvPr id="5123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5124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03841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400">
                <a:solidFill>
                  <a:srgbClr val="40458C"/>
                </a:solidFill>
              </a:defRPr>
            </a:lvl1pPr>
          </a:lstStyle>
          <a:p>
            <a:pPr>
              <a:defRPr/>
            </a:pPr>
            <a:fld id="{A6523D6E-389E-4774-8E02-EB11B8D6FC20}" type="datetime1">
              <a:rPr lang="zh-TW" altLang="en-US" smtClean="0"/>
              <a:t>2018/4/3</a:t>
            </a:fld>
            <a:endParaRPr lang="en-US" altLang="zh-TW"/>
          </a:p>
        </p:txBody>
      </p:sp>
      <p:sp>
        <p:nvSpPr>
          <p:cNvPr id="203842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kumimoji="0" sz="1400">
                <a:solidFill>
                  <a:srgbClr val="40458C"/>
                </a:solidFill>
              </a:defRPr>
            </a:lvl1pPr>
          </a:lstStyle>
          <a:p>
            <a:pPr>
              <a:defRPr/>
            </a:pPr>
            <a:r>
              <a:rPr lang="en-US" altLang="zh-TW" smtClean="0"/>
              <a:t>OS Summary 2018-04</a:t>
            </a:r>
            <a:endParaRPr lang="en-US" altLang="zh-TW"/>
          </a:p>
        </p:txBody>
      </p:sp>
      <p:sp>
        <p:nvSpPr>
          <p:cNvPr id="203843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solidFill>
                  <a:srgbClr val="40458C"/>
                </a:solidFill>
              </a:defRPr>
            </a:lvl1pPr>
          </a:lstStyle>
          <a:p>
            <a:pPr>
              <a:defRPr/>
            </a:pPr>
            <a:fld id="{F5CCFB57-1C3F-4678-82FB-18BEEC3EB75F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7" r:id="rId1"/>
    <p:sldLayoutId id="2147484173" r:id="rId2"/>
    <p:sldLayoutId id="2147484174" r:id="rId3"/>
    <p:sldLayoutId id="2147484175" r:id="rId4"/>
    <p:sldLayoutId id="2147484176" r:id="rId5"/>
    <p:sldLayoutId id="2147484177" r:id="rId6"/>
    <p:sldLayoutId id="2147484178" r:id="rId7"/>
    <p:sldLayoutId id="2147484179" r:id="rId8"/>
    <p:sldLayoutId id="2147484180" r:id="rId9"/>
    <p:sldLayoutId id="2147484181" r:id="rId10"/>
    <p:sldLayoutId id="2147484182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3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投影片編號版面配置區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BCBF32C-F8FA-4BC8-BD1B-8FA2ED31A888}" type="slidenum">
              <a:rPr kumimoji="0" lang="en-US" altLang="zh-TW" sz="1400" smtClean="0"/>
              <a:pPr eaLnBrk="1" hangingPunct="1"/>
              <a:t>1</a:t>
            </a:fld>
            <a:endParaRPr kumimoji="0" lang="en-US" altLang="zh-TW" sz="1400" smtClean="0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660400" y="2149475"/>
            <a:ext cx="7905750" cy="30476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algn="ctr"/>
            <a:r>
              <a:rPr lang="en-US" altLang="zh-TW" sz="4000" b="1" dirty="0" smtClean="0">
                <a:latin typeface="Book Antiqua" pitchFamily="18" charset="0"/>
              </a:rPr>
              <a:t>Selected Exercises</a:t>
            </a:r>
          </a:p>
          <a:p>
            <a:pPr algn="ctr"/>
            <a:r>
              <a:rPr lang="en-US" altLang="zh-TW" sz="4000" b="1" dirty="0" smtClean="0">
                <a:latin typeface="Book Antiqua" pitchFamily="18" charset="0"/>
              </a:rPr>
              <a:t>Chapters 4, </a:t>
            </a:r>
            <a:r>
              <a:rPr lang="en-US" altLang="zh-TW" sz="4000" b="1" dirty="0" smtClean="0">
                <a:latin typeface="Book Antiqua" pitchFamily="18" charset="0"/>
              </a:rPr>
              <a:t>6, 18</a:t>
            </a:r>
            <a:endParaRPr lang="en-US" altLang="zh-TW" sz="4000" b="1" dirty="0">
              <a:latin typeface="Book Antiqua" pitchFamily="18" charset="0"/>
            </a:endParaRPr>
          </a:p>
          <a:p>
            <a:pPr algn="ctr"/>
            <a:r>
              <a:rPr lang="en-US" altLang="zh-TW" sz="4000" b="1" dirty="0">
                <a:latin typeface="Book Antiqua" pitchFamily="18" charset="0"/>
              </a:rPr>
              <a:t> </a:t>
            </a:r>
            <a:endParaRPr lang="en-US" altLang="zh-TW" sz="4400" b="1" dirty="0">
              <a:latin typeface="Book Antiqua" pitchFamily="18" charset="0"/>
            </a:endParaRPr>
          </a:p>
          <a:p>
            <a:pPr algn="ctr"/>
            <a:endParaRPr lang="en-US" altLang="zh-TW" sz="4400" b="1" dirty="0">
              <a:latin typeface="Book Antiqua" pitchFamily="18" charset="0"/>
            </a:endParaRPr>
          </a:p>
          <a:p>
            <a:pPr algn="ctr"/>
            <a:endParaRPr lang="en-US" altLang="zh-TW" sz="2800" b="1" dirty="0">
              <a:latin typeface="Book Antiqua" pitchFamily="18" charset="0"/>
            </a:endParaRPr>
          </a:p>
        </p:txBody>
      </p:sp>
      <p:sp>
        <p:nvSpPr>
          <p:cNvPr id="54276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7970EA22-930B-4B47-AE49-7791E1D36BCB}" type="datetime1">
              <a:rPr kumimoji="0" lang="zh-TW" altLang="en-US" sz="1400" smtClean="0"/>
              <a:t>2018/4/3</a:t>
            </a:fld>
            <a:endParaRPr kumimoji="0" lang="en-US" altLang="zh-TW" sz="1400" smtClean="0"/>
          </a:p>
        </p:txBody>
      </p:sp>
      <p:sp>
        <p:nvSpPr>
          <p:cNvPr id="54277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/>
              <a:t>OS Summary 2018-04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Under what circumstances does a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multithreaded solution using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multiple kernel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threads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provide better performance than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single-threaded solution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 single-processor system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When a kernel thread suffers a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page fault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another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kernel thread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can be switched in to use the interleaving time in a useful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manner. 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single-threaded process, on the other hand, will not be capable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performing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useful work when a page fault takes place.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Therefore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scenarios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where a program might suffer from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frequent page faults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or has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wait for other system events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a multi-threaded solution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would perform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better even on a single-processor system.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89036CB-8C3F-4B5F-982C-2EDB2604F311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4.7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7358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Can a multithreaded solution using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multiple user-level threads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achieve better performance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multiprocessor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system than on a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single-processor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system?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NO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Cannot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make use of the different processors in a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multiprocessor system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simultaneously.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The OS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sees only a single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process and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will not schedule the different threads of the process on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separate processors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0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E182096-FB3B-4C87-832B-7B97805E7A28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4.9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147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4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0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What are the differences between user-level and kernel-level threads?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Under </a:t>
            </a:r>
            <a:r>
              <a:rPr lang="en-US" altLang="zh-TW" sz="20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what circumstances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is one type better than the other?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What is the essential cause of </a:t>
            </a:r>
            <a:r>
              <a:rPr lang="en-US" altLang="zh-TW" sz="20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the difference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in cost between a context switch for kernel-level threads and a switch </a:t>
            </a:r>
            <a:r>
              <a:rPr lang="en-US" altLang="zh-TW" sz="20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that occurs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between user-level threads</a:t>
            </a:r>
            <a:r>
              <a:rPr lang="en-US" altLang="zh-TW" sz="20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0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User-level threads are threads that the OS is not aware of. They exist entirely within </a:t>
            </a:r>
            <a:r>
              <a:rPr lang="en-US" altLang="zh-TW" sz="20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a process</a:t>
            </a:r>
            <a:r>
              <a:rPr lang="en-US" altLang="zh-TW" sz="20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, and are scheduled to run within that process's </a:t>
            </a:r>
            <a:r>
              <a:rPr lang="en-US" altLang="zh-TW" sz="2000" dirty="0" err="1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timeslices</a:t>
            </a:r>
            <a:r>
              <a:rPr lang="en-US" altLang="zh-TW" sz="20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. The </a:t>
            </a:r>
            <a:r>
              <a:rPr lang="en-US" altLang="zh-TW" sz="20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OS is aware of kernel-level threads. Kernel threads are scheduled by the </a:t>
            </a:r>
            <a:r>
              <a:rPr lang="en-US" altLang="zh-TW" sz="20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OS's scheduling algorithm.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User-level threads are much faster to switch between, as there is no context </a:t>
            </a:r>
            <a:r>
              <a:rPr lang="en-US" altLang="zh-TW" sz="20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switch. A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task that has multiple threads that are I/O bound, or </a:t>
            </a:r>
            <a:r>
              <a:rPr lang="en-US" altLang="zh-TW" sz="20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that has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many threads (and thus will benefit from the additional </a:t>
            </a:r>
            <a:r>
              <a:rPr lang="en-US" altLang="zh-TW" sz="2000" dirty="0" err="1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timeslices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 that kernel </a:t>
            </a:r>
            <a:r>
              <a:rPr lang="en-US" altLang="zh-TW" sz="20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threads will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receive) might best be handled by kernel threads.</a:t>
            </a:r>
            <a:endParaRPr lang="en-US" altLang="zh-TW" sz="2000" dirty="0" smtClean="0">
              <a:solidFill>
                <a:srgbClr val="00B05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Kernel-level threads require a system call for the switch to occur; user-level threads </a:t>
            </a:r>
            <a:r>
              <a:rPr lang="en-US" altLang="zh-TW" sz="20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do not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E129A96A-066B-4C2E-9110-E193D77AF37F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Threads 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940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5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Linux, threads are implemented within the kernel by 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clone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mechanism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creates a new process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within the same virtual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address space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parent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process. Unlike some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kernel-based thread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packages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the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Linux kernel does not make any distinction between threads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and processes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Arial" panose="020B0604020202020204" pitchFamily="34" charset="0"/>
              <a:buChar char="•"/>
            </a:pPr>
            <a:r>
              <a:rPr lang="en-US" altLang="zh-TW" sz="2400" u="sng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Advantage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implementing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threads in the kernel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rather than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a user-mode library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are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kernel-threaded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systems can take advantage of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multiple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processors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if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they are available; and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if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thread blocks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a kernel service routine (for example,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system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call or page fault), other threads are still able to run.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6AA9915-5D99-4824-AD36-C88CC44DEE51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Unix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7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6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Distinguish between PCS and SCS scheduling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PCS scheduling is done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local to the process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It is how the thread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library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schedules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threads onto available LWPs.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SCS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scheduling is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situation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where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operating system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schedules kernel threads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systems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using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either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many-to-one or many-to-many, the two scheduling models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are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fundamentally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different.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systems using one-to-one, PCS and SCS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are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same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84E7985-3BCF-4A0C-AA7B-9B717CC4523A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6.7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600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variation of the round-robin scheduler is </a:t>
            </a:r>
            <a:r>
              <a:rPr lang="en-US" altLang="zh-TW" sz="20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the regressive </a:t>
            </a:r>
            <a:r>
              <a:rPr lang="en-US" altLang="zh-TW" sz="20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round-robin scheduler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This scheduler assigns each process a </a:t>
            </a: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time quantum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priority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initial value of a time quantum is 50 milliseconds.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However, every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time a process has been allocated the CPU and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uses its entire </a:t>
            </a:r>
            <a:r>
              <a:rPr lang="en-US" altLang="zh-TW" sz="20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time quantum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(does not block for I/O),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10 milliseconds is added to its </a:t>
            </a:r>
            <a:r>
              <a:rPr lang="en-US" altLang="zh-TW" sz="20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time quantum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, and its priority level is boosted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(maximum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100 </a:t>
            </a:r>
            <a:r>
              <a:rPr lang="en-US" altLang="zh-TW" sz="20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ms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 </a:t>
            </a:r>
          </a:p>
          <a:p>
            <a:pPr eaLnBrk="1" hangingPunct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When a process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blocks before using its entire time quantum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its time quantum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</a:t>
            </a:r>
            <a:r>
              <a:rPr lang="en-US" altLang="zh-TW" sz="2000" dirty="0" smtClean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reduced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by 5 milliseconds, but its priority remains the same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What 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type of 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process (CPU-bound or I/O-bound) does the regressive </a:t>
            </a: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round-robin scheduler 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favor?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Explain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This scheduler would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favor CPU-bound processes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 they are rewarded with a longer time quantum as well as priority boost whenever they consume an entire time quantum. </a:t>
            </a: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This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scheduler </a:t>
            </a:r>
            <a:r>
              <a:rPr lang="en-US" altLang="zh-TW" sz="2000" dirty="0">
                <a:solidFill>
                  <a:srgbClr val="CC6600"/>
                </a:solidFill>
                <a:latin typeface="Adobe Gothic Std B" pitchFamily="34" charset="-128"/>
                <a:ea typeface="Adobe Gothic Std B" pitchFamily="34" charset="-128"/>
              </a:rPr>
              <a:t>does not penalize I/O-bound processes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 they are likely to block for I/O before consuming their entire time quantum, but their priority remains the same.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5FC17974-51DE-455A-A843-A45F27AE57EB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6.15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231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8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Which of the following scheduling algorithms could result in starvation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 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First-come, first-served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Shortest job first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c. Round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robin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d.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Priority</a:t>
            </a: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FFA92F0-D40C-4119-B2AF-9199015CB5E8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6.19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8" name="向右箭號 7"/>
          <p:cNvSpPr/>
          <p:nvPr/>
        </p:nvSpPr>
        <p:spPr bwMode="auto">
          <a:xfrm>
            <a:off x="203201" y="2473942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9" name="向右箭號 8"/>
          <p:cNvSpPr/>
          <p:nvPr/>
        </p:nvSpPr>
        <p:spPr bwMode="auto">
          <a:xfrm>
            <a:off x="203201" y="3706842"/>
            <a:ext cx="244602" cy="242316"/>
          </a:xfrm>
          <a:prstGeom prst="rightArrow">
            <a:avLst/>
          </a:prstGeom>
          <a:solidFill>
            <a:srgbClr val="0000FF"/>
          </a:solidFill>
          <a:ln w="12699" cap="flat" cmpd="sng" algn="ctr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TW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ahoma" pitchFamily="34" charset="0"/>
              <a:ea typeface="新細明體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20466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9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exponential average formula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used to predict the length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next CPU burst. What are the implications of assigning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following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values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the parameters used by the algorithm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 </a:t>
            </a:r>
            <a:r>
              <a:rPr lang="en-US" altLang="zh-TW" sz="2400" b="1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  <a:sym typeface="Symbol"/>
              </a:rPr>
              <a:t>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  <a:sym typeface="Symbol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=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0 and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  <a:sym typeface="Symbol"/>
              </a:rPr>
              <a:t></a:t>
            </a:r>
            <a:r>
              <a:rPr lang="en-US" altLang="zh-TW" sz="2400" baseline="-25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0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=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100milliseconds</a:t>
            </a:r>
            <a:r>
              <a:rPr lang="zh-TW" altLang="en-US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Always</a:t>
            </a:r>
            <a:r>
              <a:rPr lang="zh-TW" altLang="en-US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makes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 prediction of 100 milliseconds for the next CPU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burst.</a:t>
            </a:r>
            <a:endParaRPr lang="en-US" altLang="zh-TW" sz="2400" dirty="0">
              <a:solidFill>
                <a:srgbClr val="0000FF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 </a:t>
            </a:r>
            <a:r>
              <a:rPr lang="en-US" altLang="zh-TW" sz="2400" b="1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  <a:sym typeface="Symbol"/>
              </a:rPr>
              <a:t>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=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0.99 and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  <a:sym typeface="Symbol"/>
              </a:rPr>
              <a:t></a:t>
            </a:r>
            <a:r>
              <a:rPr lang="en-US" altLang="zh-TW" sz="2400" baseline="-25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0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= 10milliseconds</a:t>
            </a: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2" indent="0" eaLnBrk="1" hangingPunct="1">
              <a:spcBef>
                <a:spcPct val="60000"/>
              </a:spcBef>
              <a:buSzPct val="110000"/>
              <a:buNone/>
            </a:pP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most recent behavior of the 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process is </a:t>
            </a:r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given</a:t>
            </a:r>
            <a:r>
              <a:rPr lang="en-US" altLang="zh-TW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much higher weight</a:t>
            </a:r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than the past 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history.</a:t>
            </a:r>
          </a:p>
          <a:p>
            <a:pPr marL="400050" lvl="2" indent="0" eaLnBrk="1" hangingPunct="1">
              <a:spcBef>
                <a:spcPct val="60000"/>
              </a:spcBef>
              <a:buSzPct val="110000"/>
              <a:buNone/>
            </a:pPr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almost memory-less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8B582065-BD56-4C04-9D7E-6CBD465E1DEB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6.14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graphicFrame>
        <p:nvGraphicFramePr>
          <p:cNvPr id="2" name="物件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2725768"/>
              </p:ext>
            </p:extLst>
          </p:nvPr>
        </p:nvGraphicFramePr>
        <p:xfrm>
          <a:off x="3101836" y="2044569"/>
          <a:ext cx="3673014" cy="5650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09" name="方程式" r:id="rId4" imgW="1371600" imgH="228600" progId="Equation.3">
                  <p:embed/>
                </p:oleObj>
              </mc:Choice>
              <mc:Fallback>
                <p:oleObj name="方程式" r:id="rId4" imgW="13716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1836" y="2044569"/>
                        <a:ext cx="3673014" cy="56507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5395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10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a system running </a:t>
            </a:r>
            <a:r>
              <a:rPr lang="en-US" altLang="zh-TW" sz="24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10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I/O-bound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tasks and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one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CPU-bound task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Assume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the I/O-bound tasks issue an I/O operation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once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for every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millisecond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CPU computing and that each I/O operation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takes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10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milliseconds to complete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Also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assume that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context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switching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overhead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0.1millisecond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that all processes are long-running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tasks.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What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is the CPU utilization for a round-robin scheduler when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</a:t>
            </a:r>
          </a:p>
          <a:p>
            <a:pPr marL="0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a. The time quantum is 1 millisecond</a:t>
            </a:r>
          </a:p>
          <a:p>
            <a:pPr marL="0" indent="0" eaLnBrk="1" hangingPunct="1">
              <a:spcBef>
                <a:spcPct val="600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b. The time quantum is 10 milliseconds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538ED10-E664-4480-9031-CA633BDE2F55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6.21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3" name="矩形 2"/>
          <p:cNvSpPr/>
          <p:nvPr/>
        </p:nvSpPr>
        <p:spPr>
          <a:xfrm>
            <a:off x="3590570" y="166490"/>
            <a:ext cx="34355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solidFill>
                  <a:srgbClr val="0000FF"/>
                </a:solidFill>
              </a:rPr>
              <a:t>10 </a:t>
            </a:r>
            <a:r>
              <a:rPr lang="en-US" altLang="zh-TW" sz="2800" dirty="0" err="1" smtClean="0">
                <a:solidFill>
                  <a:srgbClr val="0000FF"/>
                </a:solidFill>
              </a:rPr>
              <a:t>ms</a:t>
            </a:r>
            <a:r>
              <a:rPr lang="en-US" altLang="zh-TW" sz="2800" dirty="0" smtClean="0">
                <a:solidFill>
                  <a:srgbClr val="0000FF"/>
                </a:solidFill>
              </a:rPr>
              <a:t>, 1ms, 0.1 </a:t>
            </a:r>
            <a:r>
              <a:rPr lang="en-US" altLang="zh-TW" sz="2800" dirty="0" err="1">
                <a:solidFill>
                  <a:srgbClr val="0000FF"/>
                </a:solidFill>
              </a:rPr>
              <a:t>ms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29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11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u="sng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 millisecond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scheduler incurs a 0.1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context-switching cost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every context-switch.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This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results in a CPU utilization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1/1.1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* 100 = 91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%.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u="sng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10 </a:t>
            </a:r>
            <a:r>
              <a:rPr lang="en-US" altLang="zh-TW" sz="2400" u="sng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milliseconds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The I/O-bound tasks incur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context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switch after using up only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1 </a:t>
            </a:r>
            <a:r>
              <a:rPr lang="en-US" altLang="zh-TW" sz="2400" dirty="0" err="1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ms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time quantum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time required to cycle through all the processes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therefore </a:t>
            </a:r>
            <a:r>
              <a:rPr lang="en-US" altLang="zh-TW" sz="24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10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*1.1 +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10.1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each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I/O-bound task executes for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1 </a:t>
            </a:r>
            <a:r>
              <a:rPr lang="en-US" altLang="zh-TW" sz="24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ms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and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then incur the context switch task, whereas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the CPU-bound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task executes for 10 </a:t>
            </a:r>
            <a:r>
              <a:rPr lang="en-US" altLang="zh-TW" sz="2400" dirty="0" err="1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ms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before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incurring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a context switch. 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CPU utilization is therefore 20/21.1 * 100 = 94%.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5F6BDC6-DD31-4524-AABF-30E82B22345B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6.21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90570" y="166490"/>
            <a:ext cx="34355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800" dirty="0" smtClean="0">
                <a:solidFill>
                  <a:srgbClr val="0000FF"/>
                </a:solidFill>
              </a:rPr>
              <a:t>10 </a:t>
            </a:r>
            <a:r>
              <a:rPr lang="en-US" altLang="zh-TW" sz="2800" dirty="0" err="1" smtClean="0">
                <a:solidFill>
                  <a:srgbClr val="0000FF"/>
                </a:solidFill>
              </a:rPr>
              <a:t>ms</a:t>
            </a:r>
            <a:r>
              <a:rPr lang="en-US" altLang="zh-TW" sz="2800" dirty="0" smtClean="0">
                <a:solidFill>
                  <a:srgbClr val="0000FF"/>
                </a:solidFill>
              </a:rPr>
              <a:t>, 1ms, 0.1 </a:t>
            </a:r>
            <a:r>
              <a:rPr lang="en-US" altLang="zh-TW" sz="2800" dirty="0" err="1">
                <a:solidFill>
                  <a:srgbClr val="0000FF"/>
                </a:solidFill>
              </a:rPr>
              <a:t>ms</a:t>
            </a:r>
            <a:r>
              <a:rPr lang="en-US" altLang="zh-TW" sz="2800" dirty="0">
                <a:solidFill>
                  <a:srgbClr val="0000FF"/>
                </a:solidFill>
              </a:rPr>
              <a:t> 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622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Discuss ways in which the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priority inversion problem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could be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addressed in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4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real-time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system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Also discuss whether the solutions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could be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implemented within the context of a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proportional share scheduler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All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lower-priority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processes inherit the high priority until they are done with the resource in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question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When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they are finished, their priority reverts to its original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value. 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This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solution can be easily implemented within a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proportional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share scheduler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; the shares of the high priority processes are simply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transferred to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lower priority process for the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duration when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it is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accessing 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resources.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04E6182A-341C-4D98-AB8E-4322BD99D6FE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6.29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195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Explain why interrupt and dispatch latency times must be bounded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a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hard real-time system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Interrupt latency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save the currently executing instruction,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determine 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type of </a:t>
            </a:r>
            <a:r>
              <a:rPr lang="en-US" altLang="zh-TW" sz="2400" dirty="0" err="1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interupt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save the current process state, and then invoke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appropriate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interrupt service routine.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Dispatch latency:  stopping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one process and starting another.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Both interrupt and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dispatch latency needs to be minimized in order to ensure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that real-time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tasks receive immediate attention.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(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interrupts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are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disabled when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kernel data structures are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being modified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 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hard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real-time systems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they must be bounded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order to guarantee the desired quality of service.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4B6D2C9-C1FF-4D3C-8B6B-B009981F7B55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6.32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671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14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nice values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of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= -5 and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= 5.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Using the CFS scheduler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 a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guide, describe how the respective values of </a:t>
            </a:r>
            <a:r>
              <a:rPr lang="en-US" altLang="zh-TW" sz="2400" dirty="0" err="1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vruntime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vary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between the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two processes given each of the following scenarios. </a:t>
            </a:r>
            <a:r>
              <a:rPr lang="en-US" altLang="zh-TW" sz="2400" dirty="0" err="1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vruntime</a:t>
            </a:r>
            <a:r>
              <a:rPr lang="en-US" altLang="zh-TW" sz="2400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(A) &lt; </a:t>
            </a:r>
            <a:r>
              <a:rPr lang="en-US" altLang="zh-TW" sz="2400" dirty="0" err="1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vruntime</a:t>
            </a:r>
            <a:r>
              <a:rPr lang="en-US" altLang="zh-TW" sz="2400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(B) </a:t>
            </a:r>
            <a:endParaRPr lang="en-US" altLang="zh-TW" sz="2400" dirty="0" smtClean="0">
              <a:solidFill>
                <a:srgbClr val="FF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Gothic Std B" pitchFamily="34" charset="-128"/>
              <a:ea typeface="Adobe Gothic Std B" pitchFamily="34" charset="-128"/>
            </a:endParaRP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Both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and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 are CPU-bound.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is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I/O-bound, and B is CPU-bound.</a:t>
            </a:r>
          </a:p>
          <a:p>
            <a:pPr marL="0" indent="0" eaLnBrk="1" hangingPunct="1">
              <a:spcBef>
                <a:spcPts val="600"/>
              </a:spcBef>
              <a:buNone/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•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is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CPU-bound, and B is I/O-bound.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will have a greater priority to run over B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err="1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vruntime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(A)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&lt;&lt; </a:t>
            </a:r>
            <a:r>
              <a:rPr lang="en-US" altLang="zh-TW" sz="2400" dirty="0" err="1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vruntime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(B)</a:t>
            </a:r>
            <a:r>
              <a:rPr lang="en-US" altLang="zh-TW" sz="2400" dirty="0">
                <a:solidFill>
                  <a:srgbClr val="FF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because nice values difference and B is CPU-bound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12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err="1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vruntime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(A)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? </a:t>
            </a:r>
            <a:r>
              <a:rPr lang="en-US" altLang="zh-TW" sz="2400" dirty="0" err="1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vruntime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(B) </a:t>
            </a:r>
            <a:r>
              <a:rPr lang="en-US" altLang="zh-TW" sz="2400" dirty="0" smtClean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depend on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CPU time usage. </a:t>
            </a: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6933372-FB02-4414-BDB8-9CB96F50C4E9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6.28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464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15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  <a:ln>
            <a:noFill/>
          </a:ln>
        </p:spPr>
        <p:txBody>
          <a:bodyPr/>
          <a:lstStyle/>
          <a:p>
            <a:pPr eaLnBrk="1" hangingPunct="1">
              <a:spcBef>
                <a:spcPts val="6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Consider two processes,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baseline="-25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baseline="-25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where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baseline="-25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= 50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24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t</a:t>
            </a:r>
            <a:r>
              <a:rPr lang="en-US" altLang="zh-TW" sz="2400" baseline="-250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4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 = 25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400" baseline="-25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= 75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</a:t>
            </a:r>
            <a:r>
              <a:rPr lang="en-US" altLang="zh-TW" sz="2400" baseline="-25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= 30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</a:p>
          <a:p>
            <a:pPr marL="857250" lvl="1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Can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these two processes be scheduled using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rate-monotonic scheduling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 </a:t>
            </a: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857250" lvl="1" indent="-457200" eaLnBrk="1" hangingPunct="1">
              <a:spcBef>
                <a:spcPts val="600"/>
              </a:spcBef>
              <a:buFont typeface="+mj-lt"/>
              <a:buAutoNum type="alphaLcPeriod"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Illustrate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scheduling of these two processes using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earliest deadline-first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(EDF) scheduling.</a:t>
            </a: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arenR"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Because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(50) &lt;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(75), P</a:t>
            </a:r>
            <a:r>
              <a:rPr lang="en-US" altLang="zh-TW" sz="2000" baseline="-25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assigned a higher priority than P</a:t>
            </a:r>
            <a:r>
              <a:rPr lang="en-US" altLang="zh-TW" sz="2000" baseline="-25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with the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RM. </a:t>
            </a: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scheduled (</a:t>
            </a:r>
            <a:r>
              <a:rPr lang="en-US" altLang="zh-TW" sz="20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0-25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), </a:t>
            </a: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25-</a:t>
            </a:r>
            <a:r>
              <a:rPr lang="en-US" altLang="zh-TW" sz="20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55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),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preempts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000" dirty="0" smtClean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 at </a:t>
            </a:r>
            <a:r>
              <a:rPr lang="en-US" altLang="zh-TW" sz="2000" dirty="0">
                <a:solidFill>
                  <a:srgbClr val="00B050"/>
                </a:solidFill>
                <a:latin typeface="Adobe Gothic Std B" pitchFamily="34" charset="-128"/>
                <a:ea typeface="Adobe Gothic Std B" pitchFamily="34" charset="-128"/>
              </a:rPr>
              <a:t>t = 50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(</a:t>
            </a:r>
            <a:r>
              <a:rPr lang="en-US" altLang="zh-TW" sz="20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50-75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and </a:t>
            </a: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is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rescheduled (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75-80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).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is not scheduled early enough to meet its deadline. </a:t>
            </a: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ts val="600"/>
              </a:spcBef>
              <a:buFont typeface="+mj-lt"/>
              <a:buAutoNum type="alphaLcParenR"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Process 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has the earliest deadline initially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</a:t>
            </a:r>
            <a:r>
              <a:rPr lang="en-US" altLang="zh-TW" sz="20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0-25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</a:t>
            </a:r>
            <a:r>
              <a:rPr lang="en-US" altLang="zh-TW" sz="2000" u="sng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50</a:t>
            </a: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now has a higher priority than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P</a:t>
            </a:r>
            <a:r>
              <a:rPr lang="en-US" altLang="zh-TW" sz="2000" baseline="-25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0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because its next deadline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(75)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earlier than that of P</a:t>
            </a:r>
            <a:r>
              <a:rPr lang="en-US" altLang="zh-TW" sz="2000" baseline="-25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(100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).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</a:t>
            </a:r>
            <a:r>
              <a:rPr lang="en-US" altLang="zh-TW" sz="20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25-55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</a:t>
            </a:r>
            <a:r>
              <a:rPr lang="en-US" altLang="zh-TW" sz="2000" u="sng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75</a:t>
            </a: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Process </a:t>
            </a:r>
            <a:r>
              <a:rPr lang="en-US" altLang="zh-TW" sz="20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P</a:t>
            </a:r>
            <a:r>
              <a:rPr lang="en-US" altLang="zh-TW" sz="2000" baseline="-25000" dirty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again begins running 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</a:t>
            </a:r>
            <a:r>
              <a:rPr lang="en-US" altLang="zh-TW" sz="2000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55-80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)</a:t>
            </a:r>
            <a:r>
              <a:rPr lang="en-US" altLang="zh-TW" sz="2000" u="sng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100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</a:p>
          <a:p>
            <a:pPr marL="400050" lvl="1" indent="0" eaLnBrk="1" hangingPunct="1">
              <a:spcBef>
                <a:spcPts val="600"/>
              </a:spcBef>
              <a:buNone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(80-110)</a:t>
            </a:r>
            <a:r>
              <a:rPr lang="en-US" altLang="zh-TW" sz="2000" u="sng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150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(110-35)</a:t>
            </a:r>
            <a:r>
              <a:rPr lang="en-US" altLang="zh-TW" sz="2000" u="sng" dirty="0" smtClean="0">
                <a:solidFill>
                  <a:srgbClr val="3333FF"/>
                </a:solidFill>
                <a:latin typeface="Adobe Gothic Std B" pitchFamily="34" charset="-128"/>
                <a:ea typeface="Adobe Gothic Std B" pitchFamily="34" charset="-128"/>
              </a:rPr>
              <a:t>150</a:t>
            </a:r>
          </a:p>
          <a:p>
            <a:pPr marL="400050" lvl="1" indent="0" eaLnBrk="1" hangingPunct="1">
              <a:spcBef>
                <a:spcPts val="600"/>
              </a:spcBef>
              <a:buNone/>
            </a:pP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00050" lvl="1" indent="0" eaLnBrk="1" hangingPunct="1">
              <a:spcBef>
                <a:spcPts val="1200"/>
              </a:spcBef>
              <a:buNone/>
            </a:pPr>
            <a:endParaRPr lang="en-US" altLang="zh-TW" sz="20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lphaLcParenR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lphaLcParenR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99D841D-60AD-4A91-B16E-9B86AB6F1871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6.31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5510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16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102742" y="854004"/>
            <a:ext cx="8938516" cy="54864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Under what circumstances is the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rate monotonic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scheduling inferior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earliest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deadline first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scheduling in meeting the deadlines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associated with processes ?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P1: p</a:t>
            </a:r>
            <a:r>
              <a:rPr lang="en-US" altLang="zh-TW" sz="2400" baseline="-25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=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50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t</a:t>
            </a:r>
            <a:r>
              <a:rPr lang="en-US" altLang="zh-TW" sz="2400" baseline="-25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1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= </a:t>
            </a:r>
            <a:r>
              <a:rPr lang="en-US" altLang="zh-TW" sz="2400" dirty="0" smtClean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25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and P2: p</a:t>
            </a:r>
            <a:r>
              <a:rPr lang="en-US" altLang="zh-TW" sz="2400" baseline="-25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= </a:t>
            </a:r>
            <a:r>
              <a:rPr lang="en-US" altLang="zh-TW" sz="24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75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t</a:t>
            </a:r>
            <a:r>
              <a:rPr lang="en-US" altLang="zh-TW" sz="2400" baseline="-25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2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= </a:t>
            </a:r>
            <a:r>
              <a:rPr lang="en-US" altLang="zh-TW" sz="24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30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 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u="sng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RMS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P1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scheduled at t = 0, P2 is scheduled at t = 25, P1 is scheduled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at 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= 50, and P2 is scheduled at t = 75. P2 is not scheduled early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enough to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meet its deadline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en-US" altLang="zh-TW" sz="2400" u="sng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EDF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: P1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scheduled at t = 0, P2 is scheduled 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at t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= 25, </a:t>
            </a:r>
            <a:r>
              <a:rPr lang="en-US" altLang="zh-TW" sz="2400" dirty="0">
                <a:solidFill>
                  <a:srgbClr val="FF0066"/>
                </a:solidFill>
                <a:latin typeface="Adobe Gothic Std B" pitchFamily="34" charset="-128"/>
                <a:ea typeface="Adobe Gothic Std B" pitchFamily="34" charset="-128"/>
              </a:rPr>
              <a:t>P1 is scheduled at t = 55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and so on.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marL="457200" indent="-457200" eaLnBrk="1" hangingPunct="1">
              <a:spcBef>
                <a:spcPct val="60000"/>
              </a:spcBef>
              <a:buFont typeface="+mj-lt"/>
              <a:buAutoNum type="arabicPeriod"/>
            </a:pPr>
            <a:endParaRPr lang="en-US" altLang="zh-TW" sz="24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940D2F27-BF2E-4FED-8941-64AB48785F75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EX 6.30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  <p:cxnSp>
        <p:nvCxnSpPr>
          <p:cNvPr id="5" name="直線接點 4"/>
          <p:cNvCxnSpPr/>
          <p:nvPr/>
        </p:nvCxnSpPr>
        <p:spPr bwMode="auto">
          <a:xfrm flipV="1">
            <a:off x="626728" y="4243227"/>
            <a:ext cx="7284377" cy="1027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8" name="矩形 7"/>
          <p:cNvSpPr/>
          <p:nvPr/>
        </p:nvSpPr>
        <p:spPr>
          <a:xfrm>
            <a:off x="321733" y="3804348"/>
            <a:ext cx="8707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0: P1</a:t>
            </a:r>
            <a:endParaRPr lang="zh-TW" altLang="en-US" dirty="0">
              <a:solidFill>
                <a:srgbClr val="0000FF"/>
              </a:solidFill>
              <a:latin typeface="Adobe Gothic Std B" pitchFamily="34" charset="-128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31252" y="4224251"/>
            <a:ext cx="10470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25: P2</a:t>
            </a:r>
            <a:endParaRPr lang="zh-TW" altLang="en-US" dirty="0">
              <a:solidFill>
                <a:srgbClr val="0000FF"/>
              </a:solidFill>
              <a:latin typeface="Adobe Gothic Std B" pitchFamily="34" charset="-128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280253" y="3762580"/>
            <a:ext cx="10470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50: P1</a:t>
            </a:r>
            <a:endParaRPr lang="zh-TW" altLang="en-US" dirty="0">
              <a:solidFill>
                <a:srgbClr val="0000FF"/>
              </a:solidFill>
              <a:latin typeface="Adobe Gothic Std B" pitchFamily="34" charset="-128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48091" y="4243238"/>
            <a:ext cx="104708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7</a:t>
            </a:r>
            <a:r>
              <a:rPr lang="en-US" altLang="zh-TW" dirty="0" smtClean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5: P2</a:t>
            </a:r>
            <a:endParaRPr lang="zh-TW" altLang="en-US" dirty="0">
              <a:solidFill>
                <a:srgbClr val="0000FF"/>
              </a:solidFill>
              <a:latin typeface="Adobe Gothic Std B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661320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17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Would one classify Linux threads as user-level threads or as kernel-level threads? Support your answer with the appropriate arguments.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Linux threads are kernel-level threads. 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threads are visible to the kernel and are independently schedule-able. </a:t>
            </a:r>
            <a:endParaRPr lang="en-US" altLang="zh-TW" sz="22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threads used in the Linux kernel are used to support both the thread abstraction and the process abstraction. </a:t>
            </a:r>
            <a:endParaRPr lang="en-US" altLang="zh-TW" sz="22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2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new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2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process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is created by simply associating a newly created kernel thread with a distinct address space, </a:t>
            </a:r>
            <a:endParaRPr lang="en-US" altLang="zh-TW" sz="22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whereas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200" dirty="0">
                <a:solidFill>
                  <a:srgbClr val="0000FF"/>
                </a:solidFill>
                <a:latin typeface="Adobe Gothic Std B" pitchFamily="34" charset="-128"/>
                <a:ea typeface="Adobe Gothic Std B" pitchFamily="34" charset="-128"/>
              </a:rPr>
              <a:t>new thread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is created by simply creating a new kernel thread with the same address space. </a:t>
            </a:r>
            <a:endParaRPr lang="en-US" altLang="zh-TW" sz="22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This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further indicates that the thread 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abstraction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intimately tied into the kernel.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560887D-A394-4F24-A656-E47A6A104494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18.14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6103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18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How does </a:t>
            </a:r>
            <a:r>
              <a:rPr lang="en-US" altLang="zh-TW" sz="2400" dirty="0" smtClean="0">
                <a:solidFill>
                  <a:srgbClr val="000000"/>
                </a:solidFill>
                <a:latin typeface="+mj-lt"/>
                <a:ea typeface="Adobe Gothic Std B" pitchFamily="34" charset="-128"/>
              </a:rPr>
              <a:t>Linux’s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</a:t>
            </a: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Completely Fair Scheduler (CFS) provide improved fairness over a traditional UNIX process scheduler? When is the fairness guaranteed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Assigning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each process a proportion of the processor, instead of a fixed timeslice. 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CFS thus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yields constant fairness but a variable switching rate. </a:t>
            </a:r>
            <a:endParaRPr lang="en-US" altLang="zh-TW" sz="22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runnable processes 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approaches infinity)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To ensure that processes receive at least a minimum amount of the processor, 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CFS places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</a:t>
            </a:r>
            <a:r>
              <a:rPr lang="en-US" altLang="zh-TW" sz="2200" dirty="0" err="1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foor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on the proportion of processor each process is allotted, called the minimum granularity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In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common case of only a handful of runnable processes, 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CFS is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perfectly fair.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3B24CE06-5BA5-485B-B41B-969B55FF8EBE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18.16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0312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19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What are the Completely Fair Scheduler (CFS) two configurable variables? What are the pros and cons to setting each of them to very small and very large values?</a:t>
            </a:r>
            <a:endParaRPr lang="en-US" altLang="zh-TW" sz="24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CFS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provides two primary configuration knobs: minimum granularity and target latency. </a:t>
            </a:r>
            <a:endParaRPr lang="en-US" altLang="zh-TW" sz="22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Assigning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very small value will extend the fairness guarantee to a larger number of runnable processes, but will increase switching costs as those processes will each run for a very small amount of time. A very large value will yield the 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opposite.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Target latency is the period in which all runnable processes will run, hence each </a:t>
            </a:r>
            <a:r>
              <a:rPr lang="en-US" altLang="zh-TW" sz="2200" dirty="0">
                <a:solidFill>
                  <a:srgbClr val="000000"/>
                </a:solidFill>
                <a:latin typeface="+mj-lt"/>
                <a:ea typeface="Adobe Gothic Std B" pitchFamily="34" charset="-128"/>
              </a:rPr>
              <a:t>process’s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 scheduling latency is at most the target latency. 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9086214-79A0-4818-BA40-81A124703E8C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18.17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120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20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example, assume we have two runnable processes with a target latency of 20 milliseconds. Then each process will run for 10 milliseconds. Four processes, and each will run for 5 milliseconds. A very small target latency will amplify switching costs (and possibly run afoul of the minimum granularity). A very large target latency will minimize switching costs at the expensive of higher scheduling latency.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F98570E8-7EE5-4D36-A949-F6E5EC810D0B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18.17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7989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21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zh-TW" sz="24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Linux scheduler implements soft real-time scheduling. What features are missing that are necessary for some real-time programming tasks? How might they be added to the kernel</a:t>
            </a:r>
            <a:r>
              <a:rPr lang="en-US" altLang="zh-TW" sz="24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?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Real-time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processes will always be given a higher priority by the scheduler than normal timesharing processes, and a real-time process will never be interrupted by another process with a lower real-time priority.</a:t>
            </a:r>
            <a:endParaRPr lang="en-US" altLang="zh-TW" sz="2200" dirty="0" smtClean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When executing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a kernel service routine, 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there 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is no support for preemptive scheduling of kernel-mode processes. As a result, any kernel system call that runs for a significant amount of time without rescheduling will block execution of any real-time processes.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A17B806F-1CE4-4F33-8DB1-A8EE5CB8E5FE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18.18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17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22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Many real-time applications require such hard real-time scheduling. In particular, they often require guaranteed worst-case response times to external events. To achieve these guarantees, and </a:t>
            </a:r>
            <a:r>
              <a:rPr lang="en-US" altLang="zh-TW" sz="2200" dirty="0">
                <a:solidFill>
                  <a:srgbClr val="FF0000"/>
                </a:solidFill>
                <a:latin typeface="Adobe Gothic Std B" pitchFamily="34" charset="-128"/>
                <a:ea typeface="Adobe Gothic Std B" pitchFamily="34" charset="-128"/>
              </a:rPr>
              <a:t>to give user-mode real-time processes a true higher priority than kernel-mode lower-priority processes</a:t>
            </a: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, it is necessary to find a way to avoid having to wait for low-priority kernel calls to complete before scheduling a real-time process</a:t>
            </a:r>
            <a:r>
              <a:rPr lang="en-US" altLang="zh-TW" sz="22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For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example, if a device driver generates an interrupt that wakes up a high-priority real-time process, then the kernel needs to be able to schedule that process as soon as possible, even if some other process is already executing in kernel mode</a:t>
            </a: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.</a:t>
            </a:r>
          </a:p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000" dirty="0" smtClean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(Preemptive rescheduling) If </a:t>
            </a:r>
            <a:r>
              <a:rPr lang="en-US" altLang="zh-TW" sz="20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the kernel cannot rely on non-preemption to ensure atomic updates of shared data structures, then reads of or updates to those structures must be protected by some other, finer-granularity locking mechanism. This fine-grained locking of kernel resources is the main requirement for provision of tight scheduling guarantees.</a:t>
            </a: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44CB227B-9539-4676-A703-AD17FA216FF0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18.18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323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投影片編號版面配置區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C85422CC-4D75-4951-8C6A-8744C5D3A29A}" type="slidenum">
              <a:rPr kumimoji="0" lang="en-US" altLang="zh-TW" sz="1400" smtClean="0">
                <a:solidFill>
                  <a:srgbClr val="40458C"/>
                </a:solidFill>
              </a:rPr>
              <a:pPr eaLnBrk="1" hangingPunct="1"/>
              <a:t>23</a:t>
            </a:fld>
            <a:endParaRPr kumimoji="0" lang="en-US" altLang="zh-TW" sz="1400" smtClean="0">
              <a:solidFill>
                <a:srgbClr val="40458C"/>
              </a:solidFill>
            </a:endParaRPr>
          </a:p>
        </p:txBody>
      </p:sp>
      <p:sp>
        <p:nvSpPr>
          <p:cNvPr id="109572" name="Content Placeholder 2" descr="Rectangle: Click to edit Master text styles&#10;Second level&#10;Third level&#10;Fourth level&#10;Fifth level"/>
          <p:cNvSpPr>
            <a:spLocks noGrp="1"/>
          </p:cNvSpPr>
          <p:nvPr>
            <p:ph idx="4294967295"/>
          </p:nvPr>
        </p:nvSpPr>
        <p:spPr>
          <a:xfrm>
            <a:off x="306388" y="842481"/>
            <a:ext cx="8634412" cy="5847244"/>
          </a:xfrm>
        </p:spPr>
        <p:txBody>
          <a:bodyPr/>
          <a:lstStyle/>
          <a:p>
            <a:pPr eaLnBrk="1" hangingPunct="1">
              <a:spcBef>
                <a:spcPct val="60000"/>
              </a:spcBef>
              <a:buFont typeface="Wingdings" panose="05000000000000000000" pitchFamily="2" charset="2"/>
              <a:buChar char="ü"/>
            </a:pPr>
            <a:r>
              <a:rPr lang="en-US" altLang="zh-TW" sz="2200" dirty="0">
                <a:solidFill>
                  <a:srgbClr val="000000"/>
                </a:solidFill>
                <a:latin typeface="Adobe Gothic Std B" pitchFamily="34" charset="-128"/>
                <a:ea typeface="Adobe Gothic Std B" pitchFamily="34" charset="-128"/>
              </a:rPr>
              <a:t>Many other kernel features could be added to support real-time programming. Deadline-based scheduling could be achieved by making modifications to the scheduler. Prioritization of IO operations could be implemented in the block-device IO request layer.</a:t>
            </a:r>
            <a:endParaRPr lang="en-US" altLang="zh-TW" sz="2000" dirty="0">
              <a:solidFill>
                <a:srgbClr val="000000"/>
              </a:solidFill>
              <a:latin typeface="Adobe Gothic Std B" pitchFamily="34" charset="-128"/>
              <a:ea typeface="Adobe Gothic Std B" pitchFamily="34" charset="-128"/>
            </a:endParaRPr>
          </a:p>
        </p:txBody>
      </p:sp>
      <p:sp>
        <p:nvSpPr>
          <p:cNvPr id="109573" name="日期版面配置區 1"/>
          <p:cNvSpPr>
            <a:spLocks noGrp="1"/>
          </p:cNvSpPr>
          <p:nvPr>
            <p:ph type="dt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fld id="{64121DCA-5493-45E6-B86F-1977D59BCD59}" type="datetime1">
              <a:rPr kumimoji="0" lang="zh-TW" altLang="en-US" sz="1400" smtClean="0">
                <a:solidFill>
                  <a:srgbClr val="40458C"/>
                </a:solidFill>
              </a:rPr>
              <a:t>2018/4/3</a:t>
            </a:fld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109574" name="頁尾版面配置區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kumimoji="0" lang="en-US" altLang="zh-TW" sz="1400" smtClean="0">
                <a:solidFill>
                  <a:srgbClr val="40458C"/>
                </a:solidFill>
              </a:rPr>
              <a:t>OS Summary 2018-04</a:t>
            </a:r>
            <a:endParaRPr kumimoji="0" lang="en-US" altLang="zh-TW" sz="1400" dirty="0" smtClean="0">
              <a:solidFill>
                <a:srgbClr val="40458C"/>
              </a:solidFill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321739" y="304812"/>
            <a:ext cx="8517467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ahoma" pitchFamily="34" charset="0"/>
                <a:ea typeface="新細明體" pitchFamily="18" charset="-120"/>
              </a:defRPr>
            </a:lvl9pPr>
          </a:lstStyle>
          <a:p>
            <a:pPr eaLnBrk="1" hangingPunct="1"/>
            <a:r>
              <a:rPr lang="en-US" altLang="zh-TW" sz="4000" b="1" kern="0" dirty="0" smtClean="0">
                <a:solidFill>
                  <a:srgbClr val="7030A0"/>
                </a:solidFill>
              </a:rPr>
              <a:t>18.18</a:t>
            </a:r>
            <a:endParaRPr lang="en-US" altLang="zh-TW" sz="4000" b="1" kern="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856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新細明體"/>
        <a:cs typeface=""/>
      </a:majorFont>
      <a:minorFont>
        <a:latin typeface="Tahoma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699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新細明體" pitchFamily="18" charset="-12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1415</TotalTime>
  <Pages>36</Pages>
  <Words>2507</Words>
  <Application>Microsoft Office PowerPoint</Application>
  <PresentationFormat>Letter 紙張 (8.5x11 英吋)</PresentationFormat>
  <Paragraphs>226</Paragraphs>
  <Slides>23</Slides>
  <Notes>23</Notes>
  <HiddenSlides>0</HiddenSlides>
  <MMClips>0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4" baseType="lpstr">
      <vt:lpstr>Adobe Gothic Std B</vt:lpstr>
      <vt:lpstr>新細明體</vt:lpstr>
      <vt:lpstr>Arial</vt:lpstr>
      <vt:lpstr>Book Antiqua</vt:lpstr>
      <vt:lpstr>Symbol</vt:lpstr>
      <vt:lpstr>Tahoma</vt:lpstr>
      <vt:lpstr>Times New Roman</vt:lpstr>
      <vt:lpstr>Wingdings</vt:lpstr>
      <vt:lpstr>Blueprint</vt:lpstr>
      <vt:lpstr>1_Blueprint</vt:lpstr>
      <vt:lpstr>方程式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IPv6</dc:title>
  <dc:creator>Jia-Shung WANG</dc:creator>
  <cp:lastModifiedBy>JS</cp:lastModifiedBy>
  <cp:revision>341</cp:revision>
  <cp:lastPrinted>2011-09-13T06:16:46Z</cp:lastPrinted>
  <dcterms:created xsi:type="dcterms:W3CDTF">1996-10-19T01:28:28Z</dcterms:created>
  <dcterms:modified xsi:type="dcterms:W3CDTF">2018-04-03T01:23:48Z</dcterms:modified>
</cp:coreProperties>
</file>