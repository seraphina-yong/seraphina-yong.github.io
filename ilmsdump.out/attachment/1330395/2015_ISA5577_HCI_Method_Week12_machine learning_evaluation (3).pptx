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embeddings/Microsoft_______1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4" r:id="rId28"/>
    <p:sldId id="283" r:id="rId29"/>
    <p:sldId id="285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12" y="-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handoutMaster" Target="handoutMasters/handout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interSettings" Target="printerSettings/printerSettings1.bin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E22B1-A489-724B-AADE-928039389399}" type="datetimeFigureOut">
              <a:rPr lang="en-US" smtClean="0"/>
              <a:t>5/18/15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04B55-90AA-4E48-9675-DA460DBCD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56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4CD06-6360-1344-8231-A755EBC9259C}" type="datetimeFigureOut">
              <a:rPr lang="en-US" smtClean="0"/>
              <a:t>5/18/15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5370C-E253-5B4A-BEBB-54530F2F6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660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95370C-E253-5B4A-BEBB-54530F2F67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08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ahoma" charset="0"/>
                <a:ea typeface="新細明體" charset="0"/>
              </a:defRPr>
            </a:lvl9pPr>
          </a:lstStyle>
          <a:p>
            <a:fld id="{39F57265-04B0-DF40-A3F6-565410A84C19}" type="slidenum">
              <a:rPr lang="en-GB" altLang="zh-TW" sz="1200"/>
              <a:pPr/>
              <a:t>26</a:t>
            </a:fld>
            <a:endParaRPr lang="en-GB" altLang="zh-TW" sz="1200"/>
          </a:p>
        </p:txBody>
      </p:sp>
      <p:sp>
        <p:nvSpPr>
          <p:cNvPr id="1607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096C3-D431-B640-8E06-C764B561EFF0}" type="datetime1">
              <a:rPr lang="en-US" smtClean="0"/>
              <a:t>5/18/15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DF2A3-DDF1-8A43-9438-CEDB45737B0D}" type="datetime1">
              <a:rPr lang="en-US" smtClean="0"/>
              <a:t>5/18/15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6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C87D3-C516-1D46-AF15-FF7C5AB91090}" type="datetime1">
              <a:rPr lang="en-US" smtClean="0"/>
              <a:t>5/18/15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19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056C8-3CBB-134C-92F2-EEF14138988E}" type="datetime1">
              <a:rPr lang="en-US" smtClean="0"/>
              <a:t>5/18/15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085-5C84-304B-A604-D383C411A81E}" type="datetime1">
              <a:rPr lang="en-US" smtClean="0"/>
              <a:t>5/18/15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2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EF518-1D25-EE43-8A7E-96097F56A74B}" type="datetime1">
              <a:rPr lang="en-US" smtClean="0"/>
              <a:t>5/18/15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1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26380-5F2B-F940-8C5C-E73F755AAB35}" type="datetime1">
              <a:rPr lang="en-US" smtClean="0"/>
              <a:t>5/18/15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0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3C4EF-3883-F74D-882A-BD0ED0A46B24}" type="datetime1">
              <a:rPr lang="en-US" smtClean="0"/>
              <a:t>5/18/15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6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D93E7-2475-E845-AEA9-5A0AB6A8E62A}" type="datetime1">
              <a:rPr lang="en-US" smtClean="0"/>
              <a:t>5/18/15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C446-F4B7-0E4C-96DC-FDD6F47AB62E}" type="datetime1">
              <a:rPr lang="en-US" smtClean="0"/>
              <a:t>5/18/15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1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50CC-8AA7-4243-A1D1-C4A42410C61C}" type="datetime1">
              <a:rPr lang="en-US" smtClean="0"/>
              <a:t>5/18/15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78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3132"/>
            <a:ext cx="8229600" cy="5013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59F6-B31F-914F-9D11-0CE96A02EA33}" type="datetime1">
              <a:rPr lang="en-US" smtClean="0"/>
              <a:t>5/18/15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33943-7E97-DB49-B2BB-235221A31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cs.waikato.ac.nz/ml/weka/book.html" TargetMode="External"/><Relationship Id="rId3" Type="http://schemas.openxmlformats.org/officeDocument/2006/relationships/hyperlink" Target="http://web.stanford.edu/class/cs276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______1.bin"/><Relationship Id="rId4" Type="http://schemas.openxmlformats.org/officeDocument/2006/relationships/image" Target="../media/image8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28031"/>
            <a:ext cx="9144000" cy="308643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Optima"/>
                <a:cs typeface="Optima"/>
              </a:rPr>
              <a:t>ISA5577 Applied Quantitative Methods for Human-Computer Interaction</a:t>
            </a:r>
            <a:r>
              <a:rPr lang="en-US" dirty="0">
                <a:latin typeface="Optima"/>
                <a:cs typeface="Optima"/>
              </a:rPr>
              <a:t/>
            </a:r>
            <a:br>
              <a:rPr lang="en-US" dirty="0">
                <a:latin typeface="Optima"/>
                <a:cs typeface="Optima"/>
              </a:rPr>
            </a:br>
            <a:r>
              <a:rPr lang="zh-TW" altLang="en-US" dirty="0" smtClean="0">
                <a:latin typeface="微軟正黑體"/>
                <a:ea typeface="微軟正黑體"/>
                <a:cs typeface="微軟正黑體"/>
              </a:rPr>
              <a:t>人機互動量化研究方法</a:t>
            </a:r>
            <a:r>
              <a:rPr lang="en-US" dirty="0" smtClean="0">
                <a:latin typeface="微軟正黑體"/>
                <a:ea typeface="微軟正黑體"/>
                <a:cs typeface="微軟正黑體"/>
              </a:rPr>
              <a:t/>
            </a:r>
            <a:br>
              <a:rPr lang="en-US" dirty="0" smtClean="0">
                <a:latin typeface="微軟正黑體"/>
                <a:ea typeface="微軟正黑體"/>
                <a:cs typeface="微軟正黑體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dirty="0" smtClean="0">
                <a:latin typeface="Optima"/>
                <a:cs typeface="Optima"/>
              </a:rPr>
              <a:t/>
            </a:r>
            <a:br>
              <a:rPr lang="en-US" dirty="0" smtClean="0">
                <a:latin typeface="Optima"/>
                <a:cs typeface="Optima"/>
              </a:rPr>
            </a:br>
            <a:r>
              <a:rPr lang="en-US" sz="3200" dirty="0" smtClean="0">
                <a:latin typeface="Optima"/>
                <a:cs typeface="Optima"/>
              </a:rPr>
              <a:t>May </a:t>
            </a:r>
            <a:r>
              <a:rPr lang="en-US" sz="3200" dirty="0" smtClean="0">
                <a:latin typeface="Optima"/>
                <a:cs typeface="Optima"/>
              </a:rPr>
              <a:t>18, </a:t>
            </a:r>
            <a:r>
              <a:rPr lang="en-US" sz="3200" dirty="0" smtClean="0">
                <a:latin typeface="Optima"/>
                <a:cs typeface="Optima"/>
              </a:rPr>
              <a:t>2015</a:t>
            </a:r>
            <a:endParaRPr lang="en-US" sz="3200" dirty="0">
              <a:latin typeface="Optima"/>
              <a:cs typeface="Optim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6263" y="5522893"/>
            <a:ext cx="6809548" cy="970056"/>
          </a:xfrm>
        </p:spPr>
        <p:txBody>
          <a:bodyPr>
            <a:noAutofit/>
          </a:bodyPr>
          <a:lstStyle/>
          <a:p>
            <a:r>
              <a:rPr lang="en-US" sz="2700" dirty="0" err="1" smtClean="0"/>
              <a:t>Hao-Chuan</a:t>
            </a:r>
            <a:r>
              <a:rPr lang="en-US" sz="2700" dirty="0" smtClean="0"/>
              <a:t> Wang</a:t>
            </a:r>
            <a:endParaRPr lang="en-US" sz="2700" dirty="0" smtClean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133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Today’s Agenda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Machine Learning Evaluation</a:t>
            </a:r>
          </a:p>
          <a:p>
            <a:pPr marL="0" indent="0">
              <a:buNone/>
            </a:pPr>
            <a:endParaRPr kumimoji="1"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457200" y="4311082"/>
            <a:ext cx="8331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smtClean="0"/>
              <a:t>Sources &amp; Content Credits: </a:t>
            </a:r>
            <a:br>
              <a:rPr kumimoji="1" lang="en-US" altLang="zh-TW" dirty="0" smtClean="0"/>
            </a:br>
            <a:r>
              <a:rPr kumimoji="1" lang="en-US" altLang="zh-TW" dirty="0" smtClean="0"/>
              <a:t>Witten and </a:t>
            </a:r>
            <a:r>
              <a:rPr kumimoji="1" lang="en-US" altLang="zh-TW" dirty="0"/>
              <a:t>Frank. </a:t>
            </a:r>
            <a:r>
              <a:rPr kumimoji="1" lang="en-US" altLang="zh-TW" dirty="0">
                <a:hlinkClick r:id="rId2"/>
              </a:rPr>
              <a:t>http://www.cs.waikato.ac.nz/ml/weka/</a:t>
            </a:r>
            <a:r>
              <a:rPr kumimoji="1" lang="en-US" altLang="zh-TW" dirty="0" smtClean="0">
                <a:hlinkClick r:id="rId2"/>
              </a:rPr>
              <a:t>book.html</a:t>
            </a:r>
            <a:endParaRPr kumimoji="1" lang="en-US" altLang="zh-TW" dirty="0" smtClean="0"/>
          </a:p>
          <a:p>
            <a:r>
              <a:rPr kumimoji="1" lang="en-US" altLang="zh-TW" dirty="0" smtClean="0"/>
              <a:t>Stanford CS 276. Information Retrieval and </a:t>
            </a:r>
            <a:r>
              <a:rPr kumimoji="1" lang="en-US" altLang="zh-TW" dirty="0"/>
              <a:t>Web Search. </a:t>
            </a:r>
            <a:r>
              <a:rPr kumimoji="1" lang="en-US" altLang="zh-TW" dirty="0">
                <a:hlinkClick r:id="rId3"/>
              </a:rPr>
              <a:t>http://web.stanford.edu/class/cs276</a:t>
            </a:r>
            <a:r>
              <a:rPr kumimoji="1" lang="en-US" altLang="zh-TW" dirty="0" smtClean="0">
                <a:hlinkClick r:id="rId3"/>
              </a:rPr>
              <a:t>/</a:t>
            </a:r>
            <a:r>
              <a:rPr kumimoji="1" lang="en-US" altLang="zh-TW" dirty="0" smtClean="0"/>
              <a:t> </a:t>
            </a:r>
            <a:endParaRPr kumimoji="1" lang="en-US" altLang="zh-TW" dirty="0"/>
          </a:p>
          <a:p>
            <a:endParaRPr kumimoji="1" lang="en-US" altLang="zh-TW" dirty="0" smtClean="0"/>
          </a:p>
          <a:p>
            <a:r>
              <a:rPr kumimoji="1" lang="en-US" altLang="zh-TW" i="1" dirty="0" smtClean="0"/>
              <a:t>All materials are obtained from the internet and reused under the term of fair use for </a:t>
            </a:r>
            <a:br>
              <a:rPr kumimoji="1" lang="en-US" altLang="zh-TW" i="1" dirty="0" smtClean="0"/>
            </a:br>
            <a:r>
              <a:rPr kumimoji="1" lang="en-US" altLang="zh-TW" i="1" dirty="0" smtClean="0"/>
              <a:t>the sole purpose of education.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8202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Credibility: Evaluating What’s Been Learned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Issues: training, testing, tuning</a:t>
            </a:r>
          </a:p>
          <a:p>
            <a:r>
              <a:rPr kumimoji="1" lang="en-US" altLang="zh-TW" dirty="0" smtClean="0"/>
              <a:t>Holdout, cross-validation</a:t>
            </a:r>
          </a:p>
          <a:p>
            <a:r>
              <a:rPr kumimoji="1" lang="en-US" altLang="zh-TW" dirty="0" smtClean="0"/>
              <a:t>Confusion matrix</a:t>
            </a:r>
          </a:p>
          <a:p>
            <a:r>
              <a:rPr kumimoji="1" lang="en-US" altLang="zh-TW" dirty="0" smtClean="0"/>
              <a:t>Evaluating numeric prediction 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443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Evaluation: the key to success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How predictive is the model we learned? </a:t>
            </a:r>
            <a:endParaRPr lang="en-US" altLang="zh-TW" dirty="0"/>
          </a:p>
          <a:p>
            <a:r>
              <a:rPr lang="en-US" altLang="zh-TW" dirty="0"/>
              <a:t>Error on the training data is </a:t>
            </a:r>
            <a:r>
              <a:rPr lang="en-US" altLang="zh-TW" i="1" dirty="0"/>
              <a:t>not </a:t>
            </a:r>
            <a:r>
              <a:rPr lang="en-US" altLang="zh-TW" dirty="0"/>
              <a:t>a good indicator of performance on future data </a:t>
            </a:r>
            <a:endParaRPr lang="en-US" altLang="zh-TW" dirty="0"/>
          </a:p>
          <a:p>
            <a:pPr lvl="1"/>
            <a:r>
              <a:rPr lang="en-US" altLang="zh-TW" dirty="0"/>
              <a:t>Otherwise 1-</a:t>
            </a:r>
            <a:r>
              <a:rPr lang="en-US" altLang="zh-TW" dirty="0" smtClean="0"/>
              <a:t>NN (Nearest Neighbor) </a:t>
            </a:r>
            <a:r>
              <a:rPr lang="en-US" altLang="zh-TW" dirty="0"/>
              <a:t>would be the optimum classifier! </a:t>
            </a:r>
            <a:endParaRPr lang="en-US" altLang="zh-TW" dirty="0"/>
          </a:p>
          <a:p>
            <a:r>
              <a:rPr lang="en-US" altLang="zh-TW" dirty="0"/>
              <a:t>Simple solution that can be used if lots of (labeled) data is available: </a:t>
            </a:r>
            <a:endParaRPr lang="en-US" altLang="zh-TW" dirty="0"/>
          </a:p>
          <a:p>
            <a:pPr lvl="1"/>
            <a:r>
              <a:rPr lang="en-US" altLang="zh-TW" dirty="0"/>
              <a:t>Split data into training and test set </a:t>
            </a:r>
            <a:endParaRPr lang="en-US" altLang="zh-TW" dirty="0"/>
          </a:p>
          <a:p>
            <a:r>
              <a:rPr lang="en-US" altLang="zh-TW" dirty="0"/>
              <a:t>However: (labeled) data is usually limited </a:t>
            </a:r>
            <a:endParaRPr lang="en-US" altLang="zh-TW" dirty="0"/>
          </a:p>
          <a:p>
            <a:pPr lvl="1"/>
            <a:r>
              <a:rPr lang="en-US" altLang="zh-TW" dirty="0"/>
              <a:t>More sophisticated techniques need to be used </a:t>
            </a:r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172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Issues in Evaluation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Choice of performance measure: </a:t>
            </a:r>
            <a:endParaRPr lang="en-US" altLang="zh-TW" dirty="0"/>
          </a:p>
          <a:p>
            <a:pPr lvl="1"/>
            <a:r>
              <a:rPr lang="en-US" altLang="zh-TW" dirty="0"/>
              <a:t>Number of correct classifications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Error </a:t>
            </a:r>
            <a:r>
              <a:rPr lang="en-US" altLang="zh-TW" dirty="0"/>
              <a:t>in numeric predictions 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r>
              <a:rPr lang="en-US" altLang="zh-TW" dirty="0" smtClean="0"/>
              <a:t>Costs </a:t>
            </a:r>
            <a:r>
              <a:rPr lang="en-US" altLang="zh-TW" dirty="0"/>
              <a:t>assigned to different types of errors </a:t>
            </a:r>
            <a:endParaRPr lang="en-US" altLang="zh-TW" dirty="0"/>
          </a:p>
          <a:p>
            <a:r>
              <a:rPr lang="en-US" altLang="zh-TW" dirty="0"/>
              <a:t>Many practical applications involve costs 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Training and Testing I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Natural performance measure for classification problems: </a:t>
            </a:r>
            <a:r>
              <a:rPr lang="en-US" altLang="zh-TW" i="1" dirty="0"/>
              <a:t>error rate </a:t>
            </a:r>
            <a:endParaRPr lang="en-US" altLang="zh-TW" dirty="0"/>
          </a:p>
          <a:p>
            <a:pPr lvl="1"/>
            <a:r>
              <a:rPr lang="en-US" altLang="zh-TW" i="1" dirty="0"/>
              <a:t>Success</a:t>
            </a:r>
            <a:r>
              <a:rPr lang="en-US" altLang="zh-TW" dirty="0"/>
              <a:t>: instance’s class is predicted correctly </a:t>
            </a:r>
            <a:endParaRPr lang="en-US" altLang="zh-TW" dirty="0"/>
          </a:p>
          <a:p>
            <a:pPr lvl="1"/>
            <a:r>
              <a:rPr lang="en-US" altLang="zh-TW" i="1" dirty="0"/>
              <a:t>Error</a:t>
            </a:r>
            <a:r>
              <a:rPr lang="en-US" altLang="zh-TW" dirty="0"/>
              <a:t>: instance’s class is predicted incorrectly </a:t>
            </a:r>
            <a:endParaRPr lang="en-US" altLang="zh-TW" dirty="0"/>
          </a:p>
          <a:p>
            <a:pPr lvl="1"/>
            <a:r>
              <a:rPr lang="en-US" altLang="zh-TW" dirty="0"/>
              <a:t>Error rate: proportion of errors made over the whole set of instances </a:t>
            </a:r>
            <a:endParaRPr lang="en-US" altLang="zh-TW" dirty="0"/>
          </a:p>
          <a:p>
            <a:r>
              <a:rPr lang="en-US" altLang="zh-TW" i="1" dirty="0" err="1"/>
              <a:t>Resubstitution</a:t>
            </a:r>
            <a:r>
              <a:rPr lang="en-US" altLang="zh-TW" i="1" dirty="0"/>
              <a:t> error: </a:t>
            </a:r>
            <a:r>
              <a:rPr lang="en-US" altLang="zh-TW" dirty="0"/>
              <a:t>error rate obtained from training data </a:t>
            </a:r>
            <a:endParaRPr lang="en-US" altLang="zh-TW" dirty="0"/>
          </a:p>
          <a:p>
            <a:pPr lvl="1"/>
            <a:r>
              <a:rPr lang="en-US" altLang="zh-TW" dirty="0" err="1"/>
              <a:t>Resubstitution</a:t>
            </a:r>
            <a:r>
              <a:rPr lang="en-US" altLang="zh-TW" dirty="0"/>
              <a:t> error is (hopelessly) optimistic! </a:t>
            </a:r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83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Training and </a:t>
            </a:r>
            <a:r>
              <a:rPr lang="en-US" altLang="zh-TW" dirty="0"/>
              <a:t>T</a:t>
            </a:r>
            <a:r>
              <a:rPr lang="en-US" altLang="zh-TW" dirty="0" smtClean="0"/>
              <a:t>esting II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  <a:r>
              <a:rPr lang="en-US" altLang="zh-TW" i="1" dirty="0"/>
              <a:t>Test set</a:t>
            </a:r>
            <a:r>
              <a:rPr lang="en-US" altLang="zh-TW" dirty="0"/>
              <a:t>: independent instances that have played no part in formation of classifier </a:t>
            </a:r>
            <a:endParaRPr lang="en-US" altLang="zh-TW" dirty="0"/>
          </a:p>
          <a:p>
            <a:pPr lvl="1"/>
            <a:r>
              <a:rPr lang="en-US" altLang="zh-TW" dirty="0" smtClean="0"/>
              <a:t>Assumption</a:t>
            </a:r>
            <a:r>
              <a:rPr lang="en-US" altLang="zh-TW" dirty="0"/>
              <a:t>: both training data and test data are representative samples of the underlying problem 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r>
              <a:rPr lang="en-US" altLang="zh-TW" dirty="0" smtClean="0"/>
              <a:t>Test </a:t>
            </a:r>
            <a:r>
              <a:rPr lang="en-US" altLang="zh-TW" dirty="0"/>
              <a:t>and training data may differ in nature </a:t>
            </a:r>
            <a:endParaRPr lang="en-US" altLang="zh-TW" dirty="0" smtClean="0"/>
          </a:p>
          <a:p>
            <a:pPr lvl="1"/>
            <a:r>
              <a:rPr lang="en-US" altLang="zh-TW" dirty="0"/>
              <a:t>Example: classifiers built using customer data from two </a:t>
            </a:r>
            <a:r>
              <a:rPr lang="en-US" altLang="zh-TW" dirty="0" smtClean="0"/>
              <a:t>different </a:t>
            </a:r>
            <a:r>
              <a:rPr lang="en-US" altLang="zh-TW" dirty="0"/>
              <a:t>towns </a:t>
            </a:r>
            <a:r>
              <a:rPr lang="en-US" altLang="zh-TW" i="1" dirty="0"/>
              <a:t>A </a:t>
            </a:r>
            <a:r>
              <a:rPr lang="en-US" altLang="zh-TW" dirty="0"/>
              <a:t>and </a:t>
            </a:r>
            <a:r>
              <a:rPr lang="en-US" altLang="zh-TW" i="1" dirty="0"/>
              <a:t>B </a:t>
            </a:r>
            <a:endParaRPr lang="en-US" altLang="zh-TW" i="1" dirty="0" smtClean="0"/>
          </a:p>
          <a:p>
            <a:pPr lvl="1"/>
            <a:r>
              <a:rPr lang="en-US" altLang="zh-TW" dirty="0" smtClean="0"/>
              <a:t>To </a:t>
            </a:r>
            <a:r>
              <a:rPr lang="en-US" altLang="zh-TW" dirty="0"/>
              <a:t>estimate performance of classifier from town </a:t>
            </a:r>
            <a:r>
              <a:rPr lang="en-US" altLang="zh-TW" i="1" dirty="0"/>
              <a:t>A </a:t>
            </a:r>
            <a:r>
              <a:rPr lang="en-US" altLang="zh-TW" dirty="0"/>
              <a:t>in completely new town, test it on data from </a:t>
            </a:r>
            <a:r>
              <a:rPr lang="en-US" altLang="zh-TW" i="1" dirty="0"/>
              <a:t>B 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18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Once evaluation is complete, </a:t>
            </a:r>
            <a:r>
              <a:rPr lang="en-US" altLang="zh-TW" i="1" dirty="0"/>
              <a:t>all the data </a:t>
            </a:r>
            <a:r>
              <a:rPr lang="en-US" altLang="zh-TW" dirty="0"/>
              <a:t>can be used to build the final classifier </a:t>
            </a:r>
            <a:endParaRPr lang="en-US" altLang="zh-TW" dirty="0"/>
          </a:p>
          <a:p>
            <a:r>
              <a:rPr lang="en-US" altLang="zh-TW" dirty="0" smtClean="0"/>
              <a:t>Generally</a:t>
            </a:r>
            <a:r>
              <a:rPr lang="en-US" altLang="zh-TW" dirty="0"/>
              <a:t>, the larger the training data the better the classifier (but returns diminish) </a:t>
            </a:r>
            <a:endParaRPr lang="en-US" altLang="zh-TW" dirty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larger the test data the more accurate the error estimate </a:t>
            </a:r>
            <a:endParaRPr lang="en-US" altLang="zh-TW" dirty="0"/>
          </a:p>
          <a:p>
            <a:r>
              <a:rPr lang="en-US" altLang="zh-TW" i="1" dirty="0" smtClean="0"/>
              <a:t>Holdout </a:t>
            </a:r>
            <a:r>
              <a:rPr lang="en-US" altLang="zh-TW" dirty="0"/>
              <a:t>procedure: method of splitting original data into training and test set </a:t>
            </a:r>
            <a:endParaRPr lang="en-US" altLang="zh-TW" dirty="0"/>
          </a:p>
          <a:p>
            <a:pPr lvl="1"/>
            <a:r>
              <a:rPr lang="en-US" altLang="zh-TW" dirty="0" smtClean="0"/>
              <a:t>Dilemma</a:t>
            </a:r>
            <a:r>
              <a:rPr lang="en-US" altLang="zh-TW" dirty="0"/>
              <a:t>: ideally both training set </a:t>
            </a:r>
            <a:r>
              <a:rPr lang="en-US" altLang="zh-TW" i="1" dirty="0"/>
              <a:t>and </a:t>
            </a:r>
            <a:r>
              <a:rPr lang="en-US" altLang="zh-TW" dirty="0"/>
              <a:t>test set should be large! </a:t>
            </a:r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8</a:t>
            </a:fld>
            <a:endParaRPr lang="en-US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Making the most of the data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62542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Holdout estimation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What to do if the amount of data is limited? </a:t>
            </a:r>
            <a:endParaRPr lang="en-US" altLang="zh-TW" dirty="0"/>
          </a:p>
          <a:p>
            <a:r>
              <a:rPr lang="en-US" altLang="zh-TW" dirty="0"/>
              <a:t>The </a:t>
            </a:r>
            <a:r>
              <a:rPr lang="en-US" altLang="zh-TW" i="1" dirty="0"/>
              <a:t>holdout </a:t>
            </a:r>
            <a:r>
              <a:rPr lang="en-US" altLang="zh-TW" dirty="0"/>
              <a:t>method reserves a certain amount for testing and uses the remainder for training </a:t>
            </a:r>
            <a:endParaRPr lang="en-US" altLang="zh-TW" dirty="0"/>
          </a:p>
          <a:p>
            <a:pPr lvl="1"/>
            <a:r>
              <a:rPr lang="en-US" altLang="zh-TW" dirty="0"/>
              <a:t>Usually: one third for testing, the rest for training </a:t>
            </a:r>
            <a:endParaRPr lang="en-US" altLang="zh-TW" dirty="0"/>
          </a:p>
          <a:p>
            <a:r>
              <a:rPr lang="en-US" altLang="zh-TW" dirty="0"/>
              <a:t>Problem: the samples might not be representative </a:t>
            </a:r>
            <a:endParaRPr lang="en-US" altLang="zh-TW" dirty="0"/>
          </a:p>
          <a:p>
            <a:pPr lvl="1"/>
            <a:r>
              <a:rPr lang="en-US" altLang="zh-TW" dirty="0"/>
              <a:t>Example: class might be missing in the test data </a:t>
            </a:r>
            <a:endParaRPr lang="en-US" altLang="zh-TW" dirty="0"/>
          </a:p>
          <a:p>
            <a:r>
              <a:rPr lang="en-US" altLang="zh-TW" dirty="0"/>
              <a:t>Advanced version uses </a:t>
            </a:r>
            <a:r>
              <a:rPr lang="en-US" altLang="zh-TW" i="1" dirty="0"/>
              <a:t>stratification </a:t>
            </a:r>
            <a:endParaRPr lang="en-US" altLang="zh-TW" dirty="0"/>
          </a:p>
          <a:p>
            <a:pPr lvl="1"/>
            <a:r>
              <a:rPr lang="en-US" altLang="zh-TW" dirty="0"/>
              <a:t>Ensures that each class is represented with approximately equal proportions in both subsets </a:t>
            </a:r>
            <a:endParaRPr lang="en-US" altLang="zh-TW" dirty="0"/>
          </a:p>
          <a:p>
            <a:pPr lvl="1"/>
            <a:endParaRPr kumimoji="1"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613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Repeated holdout method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Holdout estimate can be made more reliable by repeating the process with different subsamples </a:t>
            </a:r>
            <a:endParaRPr lang="en-US" altLang="zh-TW" dirty="0"/>
          </a:p>
          <a:p>
            <a:pPr lvl="1"/>
            <a:r>
              <a:rPr lang="en-US" altLang="zh-TW" dirty="0"/>
              <a:t>In each iteration, a certain proportion is randomly selected for training (possibly with </a:t>
            </a:r>
            <a:r>
              <a:rPr lang="en-US" altLang="zh-TW" dirty="0" err="1"/>
              <a:t>stratificiation</a:t>
            </a:r>
            <a:r>
              <a:rPr lang="en-US" altLang="zh-TW" dirty="0"/>
              <a:t>) </a:t>
            </a:r>
            <a:endParaRPr lang="en-US" altLang="zh-TW" dirty="0"/>
          </a:p>
          <a:p>
            <a:pPr lvl="1"/>
            <a:r>
              <a:rPr lang="en-US" altLang="zh-TW" dirty="0"/>
              <a:t>The error rates on the different iterations are averaged to yield an overall error rate </a:t>
            </a:r>
            <a:endParaRPr lang="en-US" altLang="zh-TW" dirty="0"/>
          </a:p>
          <a:p>
            <a:r>
              <a:rPr lang="en-US" altLang="zh-TW" dirty="0"/>
              <a:t>This is called the </a:t>
            </a:r>
            <a:r>
              <a:rPr lang="en-US" altLang="zh-TW" i="1" dirty="0"/>
              <a:t>repeated holdout </a:t>
            </a:r>
            <a:r>
              <a:rPr lang="en-US" altLang="zh-TW" dirty="0"/>
              <a:t>method </a:t>
            </a:r>
            <a:endParaRPr lang="en-US" altLang="zh-TW" dirty="0"/>
          </a:p>
          <a:p>
            <a:r>
              <a:rPr lang="en-US" altLang="zh-TW" dirty="0"/>
              <a:t>Still not optimum: the different test sets overlap </a:t>
            </a:r>
            <a:endParaRPr lang="en-US" altLang="zh-TW" dirty="0"/>
          </a:p>
          <a:p>
            <a:pPr lvl="1"/>
            <a:r>
              <a:rPr lang="en-US" altLang="zh-TW" dirty="0"/>
              <a:t>Can we prevent overlapping? </a:t>
            </a:r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305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Cross-validation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/>
              <a:t>Cross-validation </a:t>
            </a:r>
            <a:r>
              <a:rPr lang="en-US" altLang="zh-TW" dirty="0"/>
              <a:t>avoids overlapping test sets </a:t>
            </a:r>
            <a:endParaRPr lang="en-US" altLang="zh-TW" dirty="0"/>
          </a:p>
          <a:p>
            <a:pPr lvl="1"/>
            <a:r>
              <a:rPr lang="en-US" altLang="zh-TW" dirty="0"/>
              <a:t>First step: split data into </a:t>
            </a:r>
            <a:r>
              <a:rPr lang="en-US" altLang="zh-TW" i="1" dirty="0"/>
              <a:t>k </a:t>
            </a:r>
            <a:r>
              <a:rPr lang="en-US" altLang="zh-TW" dirty="0"/>
              <a:t>subsets of equal size </a:t>
            </a:r>
            <a:endParaRPr lang="en-US" altLang="zh-TW" dirty="0"/>
          </a:p>
          <a:p>
            <a:pPr lvl="1"/>
            <a:r>
              <a:rPr lang="en-US" altLang="zh-TW" dirty="0"/>
              <a:t>Second step: use each subset in turn for testing, the </a:t>
            </a:r>
            <a:r>
              <a:rPr lang="en-US" altLang="zh-TW" dirty="0" smtClean="0"/>
              <a:t>remainder </a:t>
            </a:r>
            <a:r>
              <a:rPr lang="en-US" altLang="zh-TW" dirty="0"/>
              <a:t>for training </a:t>
            </a:r>
            <a:endParaRPr lang="en-US" altLang="zh-TW" dirty="0" smtClean="0"/>
          </a:p>
          <a:p>
            <a:r>
              <a:rPr lang="en-US" altLang="zh-TW" dirty="0"/>
              <a:t>Called </a:t>
            </a:r>
            <a:r>
              <a:rPr lang="en-US" altLang="zh-TW" i="1" dirty="0"/>
              <a:t>k-fold cross-validation </a:t>
            </a:r>
            <a:endParaRPr lang="en-US" altLang="zh-TW" dirty="0"/>
          </a:p>
          <a:p>
            <a:r>
              <a:rPr lang="en-US" altLang="zh-TW" dirty="0"/>
              <a:t>Often the subsets are stratified before the cross- validation is performed </a:t>
            </a:r>
            <a:endParaRPr lang="en-US" altLang="zh-TW" dirty="0"/>
          </a:p>
          <a:p>
            <a:r>
              <a:rPr lang="en-US" altLang="zh-TW" dirty="0"/>
              <a:t>The error estimates are averaged to yield an overall error estimate 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37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More on cross-validation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Standard method for evaluation: stratified ten-fold cross- validation </a:t>
            </a:r>
            <a:endParaRPr lang="en-US" altLang="zh-TW" dirty="0"/>
          </a:p>
          <a:p>
            <a:r>
              <a:rPr lang="en-US" altLang="zh-TW" dirty="0"/>
              <a:t>Why ten? </a:t>
            </a:r>
            <a:endParaRPr lang="en-US" altLang="zh-TW" dirty="0"/>
          </a:p>
          <a:p>
            <a:pPr lvl="1"/>
            <a:r>
              <a:rPr lang="en-US" altLang="zh-TW" dirty="0"/>
              <a:t>Extensive experiments have shown that this is the best choice to get an accurate estimate </a:t>
            </a:r>
            <a:endParaRPr lang="en-US" altLang="zh-TW" dirty="0"/>
          </a:p>
          <a:p>
            <a:pPr lvl="1"/>
            <a:r>
              <a:rPr lang="en-US" altLang="zh-TW" dirty="0"/>
              <a:t>There is also some theoretical evidence for this </a:t>
            </a:r>
            <a:endParaRPr lang="en-US" altLang="zh-TW" dirty="0"/>
          </a:p>
          <a:p>
            <a:r>
              <a:rPr lang="en-US" altLang="zh-TW" dirty="0"/>
              <a:t>Stratification reduces the estimate’s variance </a:t>
            </a:r>
            <a:endParaRPr lang="en-US" altLang="zh-TW" dirty="0"/>
          </a:p>
          <a:p>
            <a:r>
              <a:rPr lang="en-US" altLang="zh-TW" dirty="0"/>
              <a:t>Even better: repeated stratified cross-validation </a:t>
            </a:r>
            <a:endParaRPr lang="en-US" altLang="zh-TW" dirty="0"/>
          </a:p>
          <a:p>
            <a:pPr lvl="1"/>
            <a:r>
              <a:rPr lang="en-US" altLang="zh-TW" dirty="0"/>
              <a:t>E.g. ten-fold cross-validation is repeated ten times and results are averaged (reduces the variance) </a:t>
            </a:r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853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Leave-One-Out cross-validation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 Leave</a:t>
            </a:r>
            <a:r>
              <a:rPr lang="en-US" altLang="zh-TW" dirty="0"/>
              <a:t>-One-Out:</a:t>
            </a:r>
            <a:br>
              <a:rPr lang="en-US" altLang="zh-TW" dirty="0"/>
            </a:br>
            <a:r>
              <a:rPr lang="en-US" altLang="zh-TW" dirty="0"/>
              <a:t>a particular form of cross-validation: </a:t>
            </a:r>
            <a:endParaRPr lang="en-US" altLang="zh-TW" dirty="0"/>
          </a:p>
          <a:p>
            <a:pPr lvl="1"/>
            <a:r>
              <a:rPr lang="en-US" altLang="zh-TW" dirty="0"/>
              <a:t> Set number of folds to number of training </a:t>
            </a:r>
            <a:r>
              <a:rPr lang="en-US" altLang="zh-TW" dirty="0" smtClean="0"/>
              <a:t>instances</a:t>
            </a:r>
          </a:p>
          <a:p>
            <a:pPr lvl="1"/>
            <a:r>
              <a:rPr lang="en-US" altLang="zh-TW" dirty="0" smtClean="0"/>
              <a:t> </a:t>
            </a:r>
            <a:r>
              <a:rPr lang="en-US" altLang="zh-TW" dirty="0"/>
              <a:t>I.e., for </a:t>
            </a:r>
            <a:r>
              <a:rPr lang="en-US" altLang="zh-TW" i="1" dirty="0"/>
              <a:t>n </a:t>
            </a:r>
            <a:r>
              <a:rPr lang="en-US" altLang="zh-TW" dirty="0"/>
              <a:t>training instances, build classifier </a:t>
            </a:r>
            <a:r>
              <a:rPr lang="en-US" altLang="zh-TW" i="1" dirty="0"/>
              <a:t>n </a:t>
            </a:r>
            <a:r>
              <a:rPr lang="en-US" altLang="zh-TW" dirty="0"/>
              <a:t>times </a:t>
            </a:r>
            <a:endParaRPr lang="en-US" altLang="zh-TW" dirty="0"/>
          </a:p>
          <a:p>
            <a:pPr lvl="1"/>
            <a:endParaRPr lang="en-US" altLang="zh-TW" dirty="0" smtClean="0"/>
          </a:p>
          <a:p>
            <a:r>
              <a:rPr lang="en-US" altLang="zh-TW" dirty="0"/>
              <a:t>Makes best use of the data </a:t>
            </a:r>
            <a:endParaRPr lang="en-US" altLang="zh-TW" dirty="0"/>
          </a:p>
          <a:p>
            <a:r>
              <a:rPr lang="en-US" altLang="zh-TW" dirty="0"/>
              <a:t>Involves no random subsampling </a:t>
            </a:r>
            <a:endParaRPr lang="en-US" altLang="zh-TW" dirty="0"/>
          </a:p>
          <a:p>
            <a:r>
              <a:rPr lang="en-US" altLang="zh-TW" dirty="0"/>
              <a:t>Very computationally expensive 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02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Leave-One-Out-CV and stratification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Disadvantage </a:t>
            </a:r>
            <a:r>
              <a:rPr lang="en-US" altLang="zh-TW" dirty="0"/>
              <a:t>of Leave-One-Out-CV: stratification is not possible </a:t>
            </a:r>
            <a:endParaRPr lang="en-US" altLang="zh-TW" dirty="0"/>
          </a:p>
          <a:p>
            <a:pPr lvl="1"/>
            <a:r>
              <a:rPr lang="en-US" altLang="zh-TW" dirty="0"/>
              <a:t>It </a:t>
            </a:r>
            <a:r>
              <a:rPr lang="en-US" altLang="zh-TW" i="1" dirty="0"/>
              <a:t>guarantees </a:t>
            </a:r>
            <a:r>
              <a:rPr lang="en-US" altLang="zh-TW" dirty="0"/>
              <a:t>a non-stratified sample because there is only one instance in the test set! </a:t>
            </a:r>
            <a:endParaRPr lang="en-US" altLang="zh-TW" dirty="0"/>
          </a:p>
          <a:p>
            <a:r>
              <a:rPr lang="en-US" altLang="zh-TW" dirty="0" smtClean="0"/>
              <a:t>Extreme </a:t>
            </a:r>
            <a:r>
              <a:rPr lang="en-US" altLang="zh-TW" dirty="0"/>
              <a:t>example: random dataset split equally into two classes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Best </a:t>
            </a:r>
            <a:r>
              <a:rPr lang="en-US" altLang="zh-TW" dirty="0"/>
              <a:t>inducer predicts majority class </a:t>
            </a:r>
            <a:endParaRPr lang="en-US" altLang="zh-TW" dirty="0" smtClean="0"/>
          </a:p>
          <a:p>
            <a:pPr lvl="1"/>
            <a:r>
              <a:rPr lang="en-US" altLang="zh-TW" dirty="0"/>
              <a:t> 50% accuracy on fresh data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Leave</a:t>
            </a:r>
            <a:r>
              <a:rPr lang="en-US" altLang="zh-TW" dirty="0"/>
              <a:t>-One-Out-CV estimate is 100% error! 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50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Comparing data mining schemes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Frequent </a:t>
            </a:r>
            <a:r>
              <a:rPr lang="en-US" altLang="zh-TW" dirty="0"/>
              <a:t>question: which of two learning schemes performs better? </a:t>
            </a:r>
            <a:endParaRPr lang="en-US" altLang="zh-TW" dirty="0" smtClean="0"/>
          </a:p>
          <a:p>
            <a:r>
              <a:rPr lang="en-US" altLang="zh-TW" dirty="0"/>
              <a:t>Note: this is domain </a:t>
            </a:r>
            <a:r>
              <a:rPr lang="en-US" altLang="zh-TW" dirty="0" smtClean="0"/>
              <a:t>dependent!</a:t>
            </a:r>
          </a:p>
          <a:p>
            <a:r>
              <a:rPr lang="en-US" altLang="zh-TW" dirty="0"/>
              <a:t>Obvious way: compare 10-fold CV estimates </a:t>
            </a:r>
            <a:endParaRPr lang="en-US" altLang="zh-TW" dirty="0"/>
          </a:p>
          <a:p>
            <a:r>
              <a:rPr lang="en-US" altLang="zh-TW" dirty="0"/>
              <a:t>Generally sufficient in applications (we don't loose if the chosen method is not truly better) </a:t>
            </a:r>
            <a:endParaRPr lang="en-US" altLang="zh-TW" dirty="0"/>
          </a:p>
          <a:p>
            <a:r>
              <a:rPr lang="en-US" altLang="zh-TW" dirty="0"/>
              <a:t>However, what about machine learning research</a:t>
            </a:r>
            <a:r>
              <a:rPr lang="en-US" altLang="zh-TW" dirty="0" smtClean="0"/>
              <a:t>?</a:t>
            </a:r>
          </a:p>
          <a:p>
            <a:pPr lvl="1"/>
            <a:r>
              <a:rPr lang="en-US" altLang="zh-TW" dirty="0"/>
              <a:t>Need to show convincingly that a particular method </a:t>
            </a:r>
            <a:r>
              <a:rPr lang="en-US" altLang="zh-TW" dirty="0" smtClean="0"/>
              <a:t>works </a:t>
            </a:r>
            <a:r>
              <a:rPr lang="en-US" altLang="zh-TW" dirty="0"/>
              <a:t>better 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062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Comparing schemes II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Want to show that scheme A is better than scheme B in a particular domain 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Let's </a:t>
            </a:r>
            <a:r>
              <a:rPr lang="en-US" altLang="zh-TW" dirty="0"/>
              <a:t>assume we have an infinite amount of data from the </a:t>
            </a:r>
            <a:r>
              <a:rPr lang="en-US" altLang="zh-TW" dirty="0" smtClean="0"/>
              <a:t>domain</a:t>
            </a:r>
            <a:r>
              <a:rPr lang="en-US" altLang="zh-TW" dirty="0"/>
              <a:t>: </a:t>
            </a:r>
            <a:endParaRPr lang="en-US" altLang="zh-TW" dirty="0"/>
          </a:p>
          <a:p>
            <a:pPr lvl="1"/>
            <a:r>
              <a:rPr lang="en-US" altLang="zh-TW" dirty="0" smtClean="0"/>
              <a:t>Sample many </a:t>
            </a:r>
            <a:r>
              <a:rPr lang="en-US" altLang="zh-TW" dirty="0"/>
              <a:t>dataset of specified size </a:t>
            </a:r>
            <a:endParaRPr lang="en-US" altLang="zh-TW" dirty="0" smtClean="0"/>
          </a:p>
          <a:p>
            <a:pPr lvl="1"/>
            <a:r>
              <a:rPr lang="en-US" altLang="zh-TW" dirty="0"/>
              <a:t>Obtain cross-validation estimate on each dataset for each scheme </a:t>
            </a:r>
            <a:endParaRPr lang="en-US" altLang="zh-TW" dirty="0" smtClean="0"/>
          </a:p>
          <a:p>
            <a:pPr lvl="1"/>
            <a:r>
              <a:rPr lang="en-US" altLang="zh-TW" dirty="0"/>
              <a:t> Check if mean accuracy for scheme A is better than mean accuracy for scheme B </a:t>
            </a:r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05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Paired t-test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06380" y="1038332"/>
            <a:ext cx="7658100" cy="4219468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In practice we have limited data and a limited number of estimates for computing the mean </a:t>
            </a:r>
            <a:endParaRPr lang="en-US" altLang="zh-TW" dirty="0"/>
          </a:p>
          <a:p>
            <a:r>
              <a:rPr lang="en-US" altLang="zh-TW" i="1" dirty="0"/>
              <a:t>Student’s t-test </a:t>
            </a:r>
            <a:r>
              <a:rPr lang="en-US" altLang="zh-TW" dirty="0"/>
              <a:t>tells whether the means of two samples are significantly different </a:t>
            </a:r>
            <a:endParaRPr lang="en-US" altLang="zh-TW" dirty="0"/>
          </a:p>
          <a:p>
            <a:r>
              <a:rPr lang="en-US" altLang="zh-TW" dirty="0"/>
              <a:t>In our case the samples are cross-validation estimates for different datasets from the domain </a:t>
            </a:r>
            <a:endParaRPr lang="en-US" altLang="zh-TW" dirty="0"/>
          </a:p>
          <a:p>
            <a:r>
              <a:rPr lang="en-US" altLang="zh-TW" dirty="0"/>
              <a:t>Use a </a:t>
            </a:r>
            <a:r>
              <a:rPr lang="en-US" altLang="zh-TW" i="1" dirty="0"/>
              <a:t>paired </a:t>
            </a:r>
            <a:r>
              <a:rPr lang="en-US" altLang="zh-TW" dirty="0"/>
              <a:t>t-test because the individual samples are paired </a:t>
            </a:r>
            <a:endParaRPr lang="en-US" altLang="zh-TW" dirty="0"/>
          </a:p>
          <a:p>
            <a:pPr lvl="1"/>
            <a:r>
              <a:rPr lang="en-US" altLang="zh-TW" dirty="0"/>
              <a:t>The same CV is applied twice </a:t>
            </a:r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17</a:t>
            </a:fld>
            <a:endParaRPr lang="en-US"/>
          </a:p>
        </p:txBody>
      </p:sp>
      <p:sp>
        <p:nvSpPr>
          <p:cNvPr id="5" name="文字方塊 4"/>
          <p:cNvSpPr txBox="1"/>
          <p:nvPr/>
        </p:nvSpPr>
        <p:spPr>
          <a:xfrm>
            <a:off x="206380" y="5257800"/>
            <a:ext cx="7093972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William </a:t>
            </a:r>
            <a:r>
              <a:rPr lang="en-US" altLang="zh-TW" dirty="0" err="1"/>
              <a:t>Gosset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Born: 1876 in Canterbury; Died: 1937 in Beaconsfield, England </a:t>
            </a:r>
            <a:endParaRPr lang="en-US" altLang="zh-TW" dirty="0"/>
          </a:p>
          <a:p>
            <a:r>
              <a:rPr lang="en-US" altLang="zh-TW" dirty="0"/>
              <a:t>Obtained a post as a chemist in the Guinness brewery in Dublin in 1899. </a:t>
            </a:r>
            <a:endParaRPr lang="en-US" altLang="zh-TW" dirty="0" smtClean="0"/>
          </a:p>
          <a:p>
            <a:r>
              <a:rPr lang="en-US" altLang="zh-TW" dirty="0" smtClean="0"/>
              <a:t>Invented </a:t>
            </a:r>
            <a:r>
              <a:rPr lang="en-US" altLang="zh-TW" dirty="0"/>
              <a:t>the t-test to handle small samples for quality control in brewing. </a:t>
            </a:r>
            <a:endParaRPr lang="en-US" altLang="zh-TW" dirty="0" smtClean="0"/>
          </a:p>
          <a:p>
            <a:r>
              <a:rPr lang="en-US" altLang="zh-TW" dirty="0" smtClean="0"/>
              <a:t>Wrote </a:t>
            </a:r>
            <a:r>
              <a:rPr lang="en-US" altLang="zh-TW" dirty="0"/>
              <a:t>under the name "Student". </a:t>
            </a:r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3841750"/>
            <a:ext cx="2032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24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Distribution of the means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i="1" dirty="0"/>
              <a:t>x</a:t>
            </a:r>
            <a:r>
              <a:rPr lang="en-US" altLang="zh-TW" i="1" baseline="-25000" dirty="0"/>
              <a:t>1</a:t>
            </a:r>
            <a:r>
              <a:rPr lang="en-US" altLang="zh-TW" i="1" dirty="0"/>
              <a:t> x</a:t>
            </a:r>
            <a:r>
              <a:rPr lang="en-US" altLang="zh-TW" i="1" baseline="-25000" dirty="0"/>
              <a:t>2</a:t>
            </a:r>
            <a:r>
              <a:rPr lang="en-US" altLang="zh-TW" i="1" dirty="0"/>
              <a:t> ...</a:t>
            </a:r>
            <a:r>
              <a:rPr lang="en-US" altLang="zh-TW" i="1" dirty="0" err="1"/>
              <a:t>x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 </a:t>
            </a:r>
            <a:r>
              <a:rPr lang="en-US" altLang="zh-TW" dirty="0" smtClean="0"/>
              <a:t>and </a:t>
            </a:r>
            <a:r>
              <a:rPr lang="en-US" altLang="zh-TW" i="1" dirty="0" smtClean="0"/>
              <a:t>y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 </a:t>
            </a:r>
            <a:r>
              <a:rPr lang="en-US" altLang="zh-TW" i="1" dirty="0"/>
              <a:t>y</a:t>
            </a:r>
            <a:r>
              <a:rPr lang="en-US" altLang="zh-TW" i="1" baseline="-25000" dirty="0"/>
              <a:t>2</a:t>
            </a:r>
            <a:r>
              <a:rPr lang="en-US" altLang="zh-TW" i="1" dirty="0"/>
              <a:t> ...</a:t>
            </a:r>
            <a:r>
              <a:rPr lang="en-US" altLang="zh-TW" i="1" dirty="0" err="1"/>
              <a:t>y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 </a:t>
            </a:r>
            <a:r>
              <a:rPr lang="en-US" altLang="zh-TW" dirty="0" smtClean="0"/>
              <a:t>are the 2</a:t>
            </a:r>
            <a:r>
              <a:rPr lang="en-US" altLang="zh-TW" i="1" dirty="0" smtClean="0"/>
              <a:t>k </a:t>
            </a:r>
            <a:r>
              <a:rPr lang="en-US" altLang="zh-TW" dirty="0" smtClean="0"/>
              <a:t>samples for the </a:t>
            </a:r>
            <a:r>
              <a:rPr lang="en-US" altLang="zh-TW" i="1" dirty="0" smtClean="0"/>
              <a:t>k </a:t>
            </a:r>
            <a:r>
              <a:rPr lang="en-US" altLang="zh-TW" dirty="0"/>
              <a:t>different datasets </a:t>
            </a:r>
            <a:endParaRPr lang="en-US" altLang="zh-TW" dirty="0"/>
          </a:p>
          <a:p>
            <a:r>
              <a:rPr lang="en-US" altLang="zh-TW" i="1" dirty="0" smtClean="0"/>
              <a:t>m</a:t>
            </a:r>
            <a:r>
              <a:rPr lang="en-US" altLang="zh-TW" i="1" baseline="-25000" dirty="0" smtClean="0"/>
              <a:t>x</a:t>
            </a:r>
            <a:r>
              <a:rPr lang="en-US" altLang="zh-TW" i="1" dirty="0" smtClean="0"/>
              <a:t> </a:t>
            </a:r>
            <a:r>
              <a:rPr lang="en-US" altLang="zh-TW" dirty="0"/>
              <a:t>and </a:t>
            </a:r>
            <a:r>
              <a:rPr lang="en-US" altLang="zh-TW" i="1" dirty="0"/>
              <a:t>m</a:t>
            </a:r>
            <a:r>
              <a:rPr lang="en-US" altLang="zh-TW" i="1" baseline="-25000" dirty="0"/>
              <a:t>y</a:t>
            </a:r>
            <a:r>
              <a:rPr lang="en-US" altLang="zh-TW" i="1" dirty="0"/>
              <a:t> </a:t>
            </a:r>
            <a:r>
              <a:rPr lang="en-US" altLang="zh-TW" dirty="0"/>
              <a:t>are the means </a:t>
            </a:r>
            <a:endParaRPr lang="en-US" altLang="zh-TW" dirty="0" smtClean="0"/>
          </a:p>
          <a:p>
            <a:r>
              <a:rPr lang="en-US" altLang="zh-TW" dirty="0"/>
              <a:t>With enough samples, the mean of a set of </a:t>
            </a:r>
            <a:r>
              <a:rPr lang="en-US" altLang="zh-TW" dirty="0" smtClean="0"/>
              <a:t>independent </a:t>
            </a:r>
            <a:r>
              <a:rPr lang="en-US" altLang="zh-TW" dirty="0"/>
              <a:t>samples is normally distributed </a:t>
            </a:r>
            <a:endParaRPr lang="en-US" altLang="zh-TW" dirty="0"/>
          </a:p>
          <a:p>
            <a:r>
              <a:rPr lang="en-US" altLang="zh-TW" dirty="0"/>
              <a:t>Estimated variances of the means are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σ</a:t>
            </a:r>
            <a:r>
              <a:rPr lang="en-US" altLang="zh-TW" baseline="-25000" dirty="0" smtClean="0"/>
              <a:t>x</a:t>
            </a:r>
            <a:r>
              <a:rPr lang="en-US" altLang="zh-TW" baseline="30000" dirty="0" smtClean="0"/>
              <a:t>2</a:t>
            </a:r>
            <a:r>
              <a:rPr lang="en-US" altLang="zh-TW" dirty="0"/>
              <a:t>/k and σ</a:t>
            </a:r>
            <a:r>
              <a:rPr lang="en-US" altLang="zh-TW" baseline="-25000" dirty="0"/>
              <a:t>y</a:t>
            </a:r>
            <a:r>
              <a:rPr lang="en-US" altLang="zh-TW" baseline="30000" dirty="0"/>
              <a:t>2</a:t>
            </a:r>
            <a:r>
              <a:rPr lang="en-US" altLang="zh-TW" dirty="0"/>
              <a:t>/k 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/>
              <a:t>If </a:t>
            </a:r>
            <a:r>
              <a:rPr lang="en-US" altLang="zh-TW" dirty="0" err="1"/>
              <a:t>μ</a:t>
            </a:r>
            <a:r>
              <a:rPr lang="en-US" altLang="zh-TW" i="1" baseline="-25000" dirty="0" err="1"/>
              <a:t>x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dirty="0" err="1"/>
              <a:t>μ</a:t>
            </a:r>
            <a:r>
              <a:rPr lang="en-US" altLang="zh-TW" i="1" baseline="-25000" dirty="0" err="1"/>
              <a:t>y</a:t>
            </a:r>
            <a:r>
              <a:rPr lang="en-US" altLang="zh-TW" i="1" dirty="0"/>
              <a:t> </a:t>
            </a:r>
            <a:r>
              <a:rPr lang="en-US" altLang="zh-TW" dirty="0"/>
              <a:t>are the true means </a:t>
            </a:r>
            <a:r>
              <a:rPr lang="en-US" altLang="zh-TW" dirty="0" smtClean="0"/>
              <a:t>then</a:t>
            </a:r>
            <a:br>
              <a:rPr lang="en-US" altLang="zh-TW" dirty="0" smtClean="0"/>
            </a:br>
            <a:r>
              <a:rPr lang="en-US" altLang="zh-TW" dirty="0"/>
              <a:t>are </a:t>
            </a:r>
            <a:r>
              <a:rPr lang="en-US" altLang="zh-TW" i="1" dirty="0"/>
              <a:t>approximately </a:t>
            </a:r>
            <a:r>
              <a:rPr lang="en-US" altLang="zh-TW" dirty="0"/>
              <a:t>normally distributed with mean 0, variance 1 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18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0" y="4419600"/>
            <a:ext cx="21336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594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altLang="zh-TW" dirty="0" err="1"/>
              <a:t>Student’s</a:t>
            </a:r>
            <a:r>
              <a:rPr lang="fr-FR" altLang="zh-TW" dirty="0"/>
              <a:t> distribution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With small samples (</a:t>
            </a:r>
            <a:r>
              <a:rPr lang="en-US" altLang="zh-TW" i="1" dirty="0"/>
              <a:t>k </a:t>
            </a:r>
            <a:r>
              <a:rPr lang="en-US" altLang="zh-TW" dirty="0"/>
              <a:t>&lt; 100) the mean follows </a:t>
            </a:r>
            <a:r>
              <a:rPr lang="en-US" altLang="zh-TW" i="1" dirty="0"/>
              <a:t>Student’s distribution with k–</a:t>
            </a:r>
            <a:r>
              <a:rPr lang="en-US" altLang="zh-TW" dirty="0"/>
              <a:t>1 </a:t>
            </a:r>
            <a:r>
              <a:rPr lang="en-US" altLang="zh-TW" i="1" dirty="0"/>
              <a:t>degrees of freedom 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19</a:t>
            </a:fld>
            <a:endParaRPr 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0194"/>
            <a:ext cx="9144000" cy="35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68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Distribution of the differences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altLang="zh-TW" dirty="0" err="1" smtClean="0"/>
              <a:t>Let</a:t>
            </a:r>
            <a:r>
              <a:rPr lang="tr-TR" altLang="zh-TW" dirty="0" smtClean="0"/>
              <a:t> </a:t>
            </a:r>
            <a:r>
              <a:rPr lang="tr-TR" altLang="zh-TW" i="1" dirty="0" smtClean="0"/>
              <a:t>m</a:t>
            </a:r>
            <a:r>
              <a:rPr lang="tr-TR" altLang="zh-TW" i="1" baseline="-25000" dirty="0" smtClean="0"/>
              <a:t>d</a:t>
            </a:r>
            <a:r>
              <a:rPr lang="tr-TR" altLang="zh-TW" i="1" dirty="0"/>
              <a:t>=m</a:t>
            </a:r>
            <a:r>
              <a:rPr lang="tr-TR" altLang="zh-TW" i="1" baseline="-25000" dirty="0"/>
              <a:t>x</a:t>
            </a:r>
            <a:r>
              <a:rPr lang="tr-TR" altLang="zh-TW" i="1" dirty="0"/>
              <a:t>–</a:t>
            </a:r>
            <a:r>
              <a:rPr lang="tr-TR" altLang="zh-TW" i="1" dirty="0" err="1"/>
              <a:t>m</a:t>
            </a:r>
            <a:r>
              <a:rPr lang="tr-TR" altLang="zh-TW" i="1" baseline="-25000" dirty="0" err="1"/>
              <a:t>y</a:t>
            </a:r>
            <a:r>
              <a:rPr lang="tr-TR" altLang="zh-TW" i="1" dirty="0"/>
              <a:t> </a:t>
            </a:r>
            <a:endParaRPr lang="tr-TR" altLang="zh-TW" i="1" dirty="0" smtClean="0"/>
          </a:p>
          <a:p>
            <a:r>
              <a:rPr lang="tr-TR" altLang="zh-TW" dirty="0" err="1" smtClean="0"/>
              <a:t>The</a:t>
            </a:r>
            <a:r>
              <a:rPr lang="tr-TR" altLang="zh-TW" dirty="0" smtClean="0"/>
              <a:t> </a:t>
            </a:r>
            <a:r>
              <a:rPr lang="tr-TR" altLang="zh-TW" dirty="0" err="1"/>
              <a:t>difference</a:t>
            </a:r>
            <a:r>
              <a:rPr lang="tr-TR" altLang="zh-TW" dirty="0"/>
              <a:t> of </a:t>
            </a:r>
            <a:r>
              <a:rPr lang="tr-TR" altLang="zh-TW" dirty="0" err="1"/>
              <a:t>the</a:t>
            </a:r>
            <a:r>
              <a:rPr lang="tr-TR" altLang="zh-TW" dirty="0"/>
              <a:t> </a:t>
            </a:r>
            <a:r>
              <a:rPr lang="tr-TR" altLang="zh-TW" dirty="0" err="1"/>
              <a:t>means</a:t>
            </a:r>
            <a:r>
              <a:rPr lang="tr-TR" altLang="zh-TW" dirty="0"/>
              <a:t> (</a:t>
            </a:r>
            <a:r>
              <a:rPr lang="tr-TR" altLang="zh-TW" i="1" dirty="0"/>
              <a:t>m</a:t>
            </a:r>
            <a:r>
              <a:rPr lang="tr-TR" altLang="zh-TW" i="1" baseline="-25000" dirty="0"/>
              <a:t>d</a:t>
            </a:r>
            <a:r>
              <a:rPr lang="tr-TR" altLang="zh-TW" dirty="0"/>
              <a:t>) </a:t>
            </a:r>
            <a:r>
              <a:rPr lang="tr-TR" altLang="zh-TW" dirty="0" err="1"/>
              <a:t>also</a:t>
            </a:r>
            <a:r>
              <a:rPr lang="tr-TR" altLang="zh-TW" dirty="0"/>
              <a:t> has a </a:t>
            </a:r>
            <a:r>
              <a:rPr lang="tr-TR" altLang="zh-TW" dirty="0" err="1"/>
              <a:t>Student’s</a:t>
            </a:r>
            <a:r>
              <a:rPr lang="tr-TR" altLang="zh-TW" dirty="0"/>
              <a:t> </a:t>
            </a:r>
            <a:r>
              <a:rPr lang="tr-TR" altLang="zh-TW" dirty="0" err="1" smtClean="0"/>
              <a:t>distribution</a:t>
            </a:r>
            <a:r>
              <a:rPr lang="tr-TR" altLang="zh-TW" dirty="0" smtClean="0"/>
              <a:t> </a:t>
            </a:r>
            <a:r>
              <a:rPr lang="tr-TR" altLang="zh-TW" dirty="0" err="1"/>
              <a:t>with</a:t>
            </a:r>
            <a:r>
              <a:rPr lang="tr-TR" altLang="zh-TW" dirty="0"/>
              <a:t> </a:t>
            </a:r>
            <a:r>
              <a:rPr lang="tr-TR" altLang="zh-TW" i="1" dirty="0"/>
              <a:t>k–</a:t>
            </a:r>
            <a:r>
              <a:rPr lang="tr-TR" altLang="zh-TW" dirty="0"/>
              <a:t>1 </a:t>
            </a:r>
            <a:r>
              <a:rPr lang="tr-TR" altLang="zh-TW" dirty="0" err="1"/>
              <a:t>degrees</a:t>
            </a:r>
            <a:r>
              <a:rPr lang="tr-TR" altLang="zh-TW" dirty="0"/>
              <a:t> of </a:t>
            </a:r>
            <a:r>
              <a:rPr lang="tr-TR" altLang="zh-TW" dirty="0" err="1"/>
              <a:t>freedom</a:t>
            </a:r>
            <a:r>
              <a:rPr lang="tr-TR" altLang="zh-TW" dirty="0"/>
              <a:t> </a:t>
            </a:r>
            <a:endParaRPr lang="tr-TR" altLang="zh-TW" dirty="0"/>
          </a:p>
          <a:p>
            <a:r>
              <a:rPr lang="tr-TR" altLang="zh-TW" dirty="0" err="1" smtClean="0"/>
              <a:t>Let</a:t>
            </a:r>
            <a:r>
              <a:rPr lang="tr-TR" altLang="zh-TW" dirty="0" smtClean="0"/>
              <a:t> </a:t>
            </a:r>
            <a:r>
              <a:rPr lang="tr-TR" altLang="zh-TW" dirty="0"/>
              <a:t>σ</a:t>
            </a:r>
            <a:r>
              <a:rPr lang="tr-TR" altLang="zh-TW" baseline="-25000" dirty="0"/>
              <a:t>d</a:t>
            </a:r>
            <a:r>
              <a:rPr lang="tr-TR" altLang="zh-TW" baseline="30000" dirty="0"/>
              <a:t>2</a:t>
            </a:r>
            <a:r>
              <a:rPr lang="tr-TR" altLang="zh-TW" dirty="0"/>
              <a:t> be </a:t>
            </a:r>
            <a:r>
              <a:rPr lang="tr-TR" altLang="zh-TW" dirty="0" err="1"/>
              <a:t>the</a:t>
            </a:r>
            <a:r>
              <a:rPr lang="tr-TR" altLang="zh-TW" dirty="0"/>
              <a:t> </a:t>
            </a:r>
            <a:r>
              <a:rPr lang="tr-TR" altLang="zh-TW" dirty="0" err="1"/>
              <a:t>variance</a:t>
            </a:r>
            <a:r>
              <a:rPr lang="tr-TR" altLang="zh-TW" dirty="0"/>
              <a:t> of </a:t>
            </a:r>
            <a:r>
              <a:rPr lang="tr-TR" altLang="zh-TW" dirty="0" err="1"/>
              <a:t>the</a:t>
            </a:r>
            <a:r>
              <a:rPr lang="tr-TR" altLang="zh-TW" dirty="0"/>
              <a:t> </a:t>
            </a:r>
            <a:r>
              <a:rPr lang="tr-TR" altLang="zh-TW" dirty="0" err="1"/>
              <a:t>difference</a:t>
            </a:r>
            <a:r>
              <a:rPr lang="tr-TR" altLang="zh-TW" dirty="0"/>
              <a:t> </a:t>
            </a:r>
            <a:endParaRPr lang="tr-TR" altLang="zh-TW" dirty="0" smtClean="0"/>
          </a:p>
          <a:p>
            <a:r>
              <a:rPr lang="tr-TR" altLang="zh-TW" dirty="0" err="1" smtClean="0"/>
              <a:t>The</a:t>
            </a:r>
            <a:r>
              <a:rPr lang="tr-TR" altLang="zh-TW" dirty="0" smtClean="0"/>
              <a:t> </a:t>
            </a:r>
            <a:r>
              <a:rPr lang="tr-TR" altLang="zh-TW" dirty="0" err="1"/>
              <a:t>standardized</a:t>
            </a:r>
            <a:r>
              <a:rPr lang="tr-TR" altLang="zh-TW" dirty="0"/>
              <a:t> </a:t>
            </a:r>
            <a:r>
              <a:rPr lang="tr-TR" altLang="zh-TW" dirty="0" err="1"/>
              <a:t>version</a:t>
            </a:r>
            <a:r>
              <a:rPr lang="tr-TR" altLang="zh-TW" dirty="0"/>
              <a:t> of </a:t>
            </a:r>
            <a:r>
              <a:rPr lang="tr-TR" altLang="zh-TW" i="1" dirty="0"/>
              <a:t>m</a:t>
            </a:r>
            <a:r>
              <a:rPr lang="tr-TR" altLang="zh-TW" i="1" baseline="-25000" dirty="0"/>
              <a:t>d</a:t>
            </a:r>
            <a:r>
              <a:rPr lang="tr-TR" altLang="zh-TW" i="1" dirty="0"/>
              <a:t> </a:t>
            </a:r>
            <a:r>
              <a:rPr lang="tr-TR" altLang="zh-TW" dirty="0"/>
              <a:t>is </a:t>
            </a:r>
            <a:r>
              <a:rPr lang="tr-TR" altLang="zh-TW" dirty="0" err="1"/>
              <a:t>called</a:t>
            </a:r>
            <a:r>
              <a:rPr lang="tr-TR" altLang="zh-TW" dirty="0"/>
              <a:t> </a:t>
            </a:r>
            <a:r>
              <a:rPr lang="tr-TR" altLang="zh-TW" dirty="0" err="1"/>
              <a:t>the</a:t>
            </a:r>
            <a:r>
              <a:rPr lang="tr-TR" altLang="zh-TW" dirty="0"/>
              <a:t> </a:t>
            </a:r>
            <a:r>
              <a:rPr lang="tr-TR" altLang="zh-TW" i="1" dirty="0"/>
              <a:t>t</a:t>
            </a:r>
            <a:r>
              <a:rPr lang="tr-TR" altLang="zh-TW" dirty="0"/>
              <a:t>-</a:t>
            </a:r>
            <a:r>
              <a:rPr lang="tr-TR" altLang="zh-TW" dirty="0" err="1"/>
              <a:t>statistic</a:t>
            </a:r>
            <a:r>
              <a:rPr lang="tr-TR" altLang="zh-TW" dirty="0" smtClean="0"/>
              <a:t>:</a:t>
            </a:r>
          </a:p>
          <a:p>
            <a:endParaRPr lang="tr-TR" altLang="zh-TW" dirty="0"/>
          </a:p>
          <a:p>
            <a:endParaRPr lang="tr-TR" altLang="zh-TW" dirty="0" smtClean="0"/>
          </a:p>
          <a:p>
            <a:r>
              <a:rPr lang="tr-TR" altLang="zh-TW" dirty="0" smtClean="0"/>
              <a:t> </a:t>
            </a:r>
            <a:r>
              <a:rPr lang="tr-TR" altLang="zh-TW" dirty="0" err="1"/>
              <a:t>We</a:t>
            </a:r>
            <a:r>
              <a:rPr lang="tr-TR" altLang="zh-TW" dirty="0"/>
              <a:t> </a:t>
            </a:r>
            <a:r>
              <a:rPr lang="tr-TR" altLang="zh-TW" dirty="0" err="1"/>
              <a:t>use</a:t>
            </a:r>
            <a:r>
              <a:rPr lang="tr-TR" altLang="zh-TW" dirty="0"/>
              <a:t> </a:t>
            </a:r>
            <a:r>
              <a:rPr lang="tr-TR" altLang="zh-TW" i="1" dirty="0"/>
              <a:t>t </a:t>
            </a:r>
            <a:r>
              <a:rPr lang="tr-TR" altLang="zh-TW" dirty="0" err="1"/>
              <a:t>to</a:t>
            </a:r>
            <a:r>
              <a:rPr lang="tr-TR" altLang="zh-TW" dirty="0"/>
              <a:t> </a:t>
            </a:r>
            <a:r>
              <a:rPr lang="tr-TR" altLang="zh-TW" dirty="0" err="1"/>
              <a:t>perform</a:t>
            </a:r>
            <a:r>
              <a:rPr lang="tr-TR" altLang="zh-TW" dirty="0"/>
              <a:t> </a:t>
            </a:r>
            <a:r>
              <a:rPr lang="tr-TR" altLang="zh-TW" dirty="0" err="1"/>
              <a:t>the</a:t>
            </a:r>
            <a:r>
              <a:rPr lang="tr-TR" altLang="zh-TW" dirty="0"/>
              <a:t> </a:t>
            </a:r>
            <a:r>
              <a:rPr lang="tr-TR" altLang="zh-TW" i="1" dirty="0"/>
              <a:t>t-</a:t>
            </a:r>
            <a:r>
              <a:rPr lang="tr-TR" altLang="zh-TW" dirty="0"/>
              <a:t>test </a:t>
            </a:r>
            <a:endParaRPr lang="tr-TR" altLang="zh-TW" dirty="0" smtClean="0"/>
          </a:p>
          <a:p>
            <a:endParaRPr lang="tr-TR" altLang="zh-TW" dirty="0"/>
          </a:p>
          <a:p>
            <a:endParaRPr lang="tr-TR" altLang="zh-TW" dirty="0"/>
          </a:p>
          <a:p>
            <a:endParaRPr lang="tr-TR" altLang="zh-TW" dirty="0"/>
          </a:p>
          <a:p>
            <a:endParaRPr lang="tr-TR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20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0" y="4064000"/>
            <a:ext cx="17907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86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Performing the test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Fix a significance level</a:t>
            </a:r>
            <a:br>
              <a:rPr lang="en-US" altLang="zh-TW" dirty="0"/>
            </a:br>
            <a:r>
              <a:rPr lang="en-US" altLang="zh-TW" dirty="0"/>
              <a:t>If a difference is significant at the α% level, </a:t>
            </a:r>
            <a:r>
              <a:rPr lang="en-US" altLang="zh-TW" dirty="0" smtClean="0"/>
              <a:t>there </a:t>
            </a:r>
            <a:r>
              <a:rPr lang="en-US" altLang="zh-TW" dirty="0"/>
              <a:t>is a (100-α)% chance that the true means differ </a:t>
            </a:r>
            <a:endParaRPr lang="en-US" altLang="zh-TW" dirty="0"/>
          </a:p>
          <a:p>
            <a:r>
              <a:rPr lang="en-US" altLang="zh-TW" dirty="0"/>
              <a:t>Divide the significance level by two because the test is </a:t>
            </a:r>
            <a:r>
              <a:rPr lang="en-US" altLang="zh-TW" dirty="0" smtClean="0"/>
              <a:t>two</a:t>
            </a:r>
            <a:r>
              <a:rPr lang="en-US" altLang="zh-TW" dirty="0"/>
              <a:t>-tailed</a:t>
            </a:r>
            <a:br>
              <a:rPr lang="en-US" altLang="zh-TW" dirty="0"/>
            </a:br>
            <a:endParaRPr lang="en-US" altLang="zh-TW" dirty="0" smtClean="0"/>
          </a:p>
          <a:p>
            <a:r>
              <a:rPr lang="en-US" altLang="zh-TW" dirty="0"/>
              <a:t>Look up the value for </a:t>
            </a:r>
            <a:r>
              <a:rPr lang="en-US" altLang="zh-TW" i="1" dirty="0"/>
              <a:t>z </a:t>
            </a:r>
            <a:r>
              <a:rPr lang="en-US" altLang="zh-TW" dirty="0"/>
              <a:t>that corresponds to α/2 </a:t>
            </a:r>
            <a:endParaRPr lang="en-US" altLang="zh-TW" dirty="0"/>
          </a:p>
          <a:p>
            <a:r>
              <a:rPr lang="en-US" altLang="zh-TW" dirty="0"/>
              <a:t>If </a:t>
            </a:r>
            <a:r>
              <a:rPr lang="en-US" altLang="zh-TW" i="1" dirty="0"/>
              <a:t>t </a:t>
            </a:r>
            <a:r>
              <a:rPr lang="en-US" altLang="zh-TW" dirty="0"/>
              <a:t>≤ </a:t>
            </a:r>
            <a:r>
              <a:rPr lang="en-US" altLang="zh-TW" i="1" dirty="0"/>
              <a:t>–z </a:t>
            </a:r>
            <a:r>
              <a:rPr lang="en-US" altLang="zh-TW" dirty="0"/>
              <a:t>or </a:t>
            </a:r>
            <a:r>
              <a:rPr lang="en-US" altLang="zh-TW" i="1" dirty="0"/>
              <a:t>t </a:t>
            </a:r>
            <a:r>
              <a:rPr lang="en-US" altLang="zh-TW" dirty="0"/>
              <a:t>≥</a:t>
            </a:r>
            <a:r>
              <a:rPr lang="en-US" altLang="zh-TW" i="1" dirty="0"/>
              <a:t>z </a:t>
            </a:r>
            <a:r>
              <a:rPr lang="en-US" altLang="zh-TW" dirty="0"/>
              <a:t>then the difference is significant </a:t>
            </a:r>
            <a:endParaRPr lang="en-US" altLang="zh-TW" dirty="0"/>
          </a:p>
          <a:p>
            <a:pPr lvl="1"/>
            <a:r>
              <a:rPr lang="en-US" altLang="zh-TW" dirty="0"/>
              <a:t>I.e. the </a:t>
            </a:r>
            <a:r>
              <a:rPr lang="en-US" altLang="zh-TW" i="1" dirty="0"/>
              <a:t>null hypothesis </a:t>
            </a:r>
            <a:r>
              <a:rPr lang="en-US" altLang="zh-TW" dirty="0"/>
              <a:t>(that the difference is zero) can be rejected 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071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Unpaired observations 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If </a:t>
            </a:r>
            <a:r>
              <a:rPr lang="en-US" altLang="zh-TW" dirty="0"/>
              <a:t>the CV estimates are from different datasets, they are no longer paired</a:t>
            </a:r>
            <a:br>
              <a:rPr lang="en-US" altLang="zh-TW" dirty="0"/>
            </a:br>
            <a:r>
              <a:rPr lang="en-US" altLang="zh-TW" dirty="0" smtClean="0"/>
              <a:t> </a:t>
            </a:r>
            <a:r>
              <a:rPr lang="en-US" altLang="zh-TW" dirty="0"/>
              <a:t>(or maybe we have </a:t>
            </a:r>
            <a:r>
              <a:rPr lang="en-US" altLang="zh-TW" i="1" dirty="0"/>
              <a:t>k </a:t>
            </a:r>
            <a:r>
              <a:rPr lang="en-US" altLang="zh-TW" dirty="0"/>
              <a:t>estimates for one scheme, and </a:t>
            </a:r>
            <a:r>
              <a:rPr lang="en-US" altLang="zh-TW" i="1" dirty="0"/>
              <a:t>j </a:t>
            </a:r>
            <a:r>
              <a:rPr lang="en-US" altLang="zh-TW" dirty="0"/>
              <a:t>estimates for the other one) 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Then we have to use an </a:t>
            </a:r>
            <a:r>
              <a:rPr lang="en-US" altLang="zh-TW" i="1" dirty="0"/>
              <a:t>un </a:t>
            </a:r>
            <a:r>
              <a:rPr lang="en-US" altLang="zh-TW" dirty="0"/>
              <a:t>paired t-test with min(</a:t>
            </a:r>
            <a:r>
              <a:rPr lang="en-US" altLang="zh-TW" i="1" dirty="0"/>
              <a:t>k </a:t>
            </a:r>
            <a:r>
              <a:rPr lang="en-US" altLang="zh-TW" dirty="0"/>
              <a:t>, </a:t>
            </a:r>
            <a:r>
              <a:rPr lang="en-US" altLang="zh-TW" i="1" dirty="0"/>
              <a:t>j</a:t>
            </a:r>
            <a:r>
              <a:rPr lang="en-US" altLang="zh-TW" dirty="0"/>
              <a:t>) </a:t>
            </a:r>
            <a:r>
              <a:rPr lang="en-US" altLang="zh-TW" i="1" dirty="0"/>
              <a:t>– </a:t>
            </a:r>
            <a:r>
              <a:rPr lang="en-US" altLang="zh-TW" dirty="0"/>
              <a:t>1 degrees of freedom </a:t>
            </a:r>
            <a:endParaRPr lang="en-US" altLang="zh-TW" dirty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estimate of the variance of the difference of the means becomes: 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22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5207000"/>
            <a:ext cx="16510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96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Confusion matrix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i="1" dirty="0"/>
              <a:t>confusion matrix</a:t>
            </a:r>
            <a:r>
              <a:rPr lang="en-US" altLang="zh-TW" dirty="0"/>
              <a:t>: 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996031"/>
              </p:ext>
            </p:extLst>
          </p:nvPr>
        </p:nvGraphicFramePr>
        <p:xfrm>
          <a:off x="812800" y="2331192"/>
          <a:ext cx="6908800" cy="27980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7200"/>
                <a:gridCol w="1270000"/>
                <a:gridCol w="1930400"/>
                <a:gridCol w="1981200"/>
              </a:tblGrid>
              <a:tr h="576077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True</a:t>
                      </a:r>
                      <a:r>
                        <a:rPr lang="en-US" altLang="zh-TW" sz="2400" baseline="0" dirty="0" smtClean="0"/>
                        <a:t> Class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576077">
                <a:tc>
                  <a:txBody>
                    <a:bodyPr/>
                    <a:lstStyle/>
                    <a:p>
                      <a:endParaRPr lang="zh-TW" altLang="en-US" sz="240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Yes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No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</a:tr>
              <a:tr h="576077">
                <a:tc rowSpan="2">
                  <a:txBody>
                    <a:bodyPr/>
                    <a:lstStyle/>
                    <a:p>
                      <a:endParaRPr lang="en-US" altLang="zh-TW" sz="2400" dirty="0" smtClean="0"/>
                    </a:p>
                    <a:p>
                      <a:r>
                        <a:rPr lang="en-US" altLang="zh-TW" sz="2400" dirty="0" smtClean="0"/>
                        <a:t>Predicted</a:t>
                      </a:r>
                      <a:br>
                        <a:rPr lang="en-US" altLang="zh-TW" sz="2400" dirty="0" smtClean="0"/>
                      </a:br>
                      <a:r>
                        <a:rPr lang="en-US" altLang="zh-TW" sz="2400" dirty="0" smtClean="0"/>
                        <a:t>Class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Yes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True positive</a:t>
                      </a:r>
                      <a:endParaRPr lang="zh-TW" alt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False positive</a:t>
                      </a:r>
                      <a:br>
                        <a:rPr lang="en-US" altLang="zh-TW" sz="2400" dirty="0" smtClean="0"/>
                      </a:br>
                      <a:r>
                        <a:rPr lang="en-US" altLang="zh-TW" sz="2400" dirty="0" smtClean="0"/>
                        <a:t>(“false alarm”)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57607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No</a:t>
                      </a:r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False</a:t>
                      </a:r>
                      <a:r>
                        <a:rPr lang="en-US" altLang="zh-TW" sz="2400" baseline="0" dirty="0" smtClean="0"/>
                        <a:t> negative</a:t>
                      </a:r>
                      <a:endParaRPr lang="zh-TW" altLang="en-US" sz="2400" dirty="0"/>
                    </a:p>
                  </a:txBody>
                  <a:tcP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/>
                        <a:t>True negative</a:t>
                      </a:r>
                      <a:endParaRPr lang="zh-TW" alt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5885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1460500"/>
            <a:ext cx="4669354" cy="36449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Confusion matrix-based performance measures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16500" y="1343132"/>
            <a:ext cx="3937000" cy="501321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Accuracy =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(</a:t>
            </a:r>
            <a:r>
              <a:rPr lang="en-US" altLang="zh-TW" dirty="0"/>
              <a:t>TP+TN)/(P+N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Precision </a:t>
            </a:r>
            <a:r>
              <a:rPr lang="en-US" altLang="zh-TW" dirty="0"/>
              <a:t>= TP/(TP+FP) </a:t>
            </a:r>
            <a:endParaRPr lang="en-US" altLang="zh-TW" dirty="0"/>
          </a:p>
          <a:p>
            <a:r>
              <a:rPr lang="en-US" altLang="zh-TW" dirty="0" smtClean="0"/>
              <a:t>Recall (TP Rate) = </a:t>
            </a:r>
            <a:r>
              <a:rPr lang="en-US" altLang="zh-TW" dirty="0"/>
              <a:t>TP/P </a:t>
            </a:r>
            <a:endParaRPr lang="en-US" altLang="zh-TW" dirty="0" smtClean="0"/>
          </a:p>
          <a:p>
            <a:r>
              <a:rPr lang="en-US" altLang="zh-TW" dirty="0" smtClean="0"/>
              <a:t>FP Rate</a:t>
            </a:r>
            <a:r>
              <a:rPr lang="en-US" altLang="zh-TW" dirty="0"/>
              <a:t>= FP/N </a:t>
            </a:r>
            <a:endParaRPr lang="en-US" altLang="zh-TW" dirty="0" smtClean="0"/>
          </a:p>
          <a:p>
            <a:r>
              <a:rPr lang="en-US" altLang="zh-TW" dirty="0"/>
              <a:t>ROC </a:t>
            </a:r>
            <a:r>
              <a:rPr lang="en-US" altLang="zh-TW" dirty="0" smtClean="0"/>
              <a:t>Analysis: </a:t>
            </a:r>
            <a:r>
              <a:rPr lang="en-US" altLang="zh-TW" dirty="0"/>
              <a:t>M</a:t>
            </a:r>
            <a:r>
              <a:rPr lang="en-US" altLang="zh-TW" dirty="0" smtClean="0"/>
              <a:t>oves </a:t>
            </a:r>
            <a:r>
              <a:rPr lang="en-US" altLang="zh-TW" dirty="0"/>
              <a:t>the threshold between the positive and negative class from a small FP rate to a large one. It plots the value of the Recall against that of the FP Rate at each FP Rate considered. 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303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The Kappa Statistic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 Supposed we have </a:t>
            </a:r>
            <a:r>
              <a:rPr lang="en-US" altLang="zh-TW" dirty="0"/>
              <a:t>t</a:t>
            </a:r>
            <a:r>
              <a:rPr lang="en-US" altLang="zh-TW" dirty="0" smtClean="0"/>
              <a:t>wo </a:t>
            </a:r>
            <a:r>
              <a:rPr lang="en-US" altLang="zh-TW" dirty="0"/>
              <a:t>confusion matrices for a 3-class problem: actual predictor (left) vs. random predictor (right) 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i="1" dirty="0" smtClean="0"/>
              <a:t>Kappa </a:t>
            </a:r>
            <a:r>
              <a:rPr lang="en-US" altLang="zh-TW" dirty="0" smtClean="0"/>
              <a:t>statistic</a:t>
            </a:r>
            <a:r>
              <a:rPr lang="en-US" altLang="zh-TW" dirty="0"/>
              <a:t> </a:t>
            </a:r>
            <a:r>
              <a:rPr lang="en-US" altLang="zh-TW" dirty="0" smtClean="0"/>
              <a:t>measures </a:t>
            </a:r>
            <a:r>
              <a:rPr lang="en-US" altLang="zh-TW" dirty="0"/>
              <a:t>relative improvement over random predictor 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25</a:t>
            </a:fld>
            <a:endParaRPr 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2654300"/>
            <a:ext cx="68326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96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 smtClean="0">
                <a:latin typeface="Calibri"/>
                <a:cs typeface="Calibri"/>
              </a:rPr>
              <a:t>Cohen’s Kappa</a:t>
            </a:r>
            <a:endParaRPr lang="en-GB" altLang="zh-TW" dirty="0">
              <a:latin typeface="Calibri"/>
              <a:cs typeface="Calibri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2675" y="1006475"/>
            <a:ext cx="7429500" cy="5229225"/>
          </a:xfrm>
        </p:spPr>
        <p:txBody>
          <a:bodyPr>
            <a:normAutofit/>
          </a:bodyPr>
          <a:lstStyle/>
          <a:p>
            <a:r>
              <a:rPr lang="en-GB" altLang="zh-TW" dirty="0">
                <a:latin typeface="Calibri"/>
                <a:cs typeface="Calibri"/>
              </a:rPr>
              <a:t>M</a:t>
            </a:r>
            <a:r>
              <a:rPr lang="en-GB" altLang="zh-TW" dirty="0" smtClean="0">
                <a:latin typeface="Calibri"/>
                <a:cs typeface="Calibri"/>
              </a:rPr>
              <a:t>easure </a:t>
            </a:r>
            <a:r>
              <a:rPr lang="en-GB" altLang="zh-TW" dirty="0">
                <a:latin typeface="Calibri"/>
                <a:cs typeface="Calibri"/>
              </a:rPr>
              <a:t>of </a:t>
            </a:r>
            <a:r>
              <a:rPr lang="en-GB" altLang="zh-TW" dirty="0" smtClean="0">
                <a:latin typeface="Calibri"/>
                <a:cs typeface="Calibri"/>
              </a:rPr>
              <a:t>agreement</a:t>
            </a:r>
          </a:p>
          <a:p>
            <a:pPr marL="0" indent="0">
              <a:buNone/>
            </a:pPr>
            <a:endParaRPr lang="en-GB" altLang="zh-TW" dirty="0">
              <a:latin typeface="Calibri"/>
              <a:cs typeface="Calibri"/>
            </a:endParaRPr>
          </a:p>
          <a:p>
            <a:endParaRPr lang="en-GB" altLang="zh-TW" dirty="0">
              <a:latin typeface="Calibri"/>
              <a:cs typeface="Calibri"/>
            </a:endParaRPr>
          </a:p>
          <a:p>
            <a:endParaRPr lang="en-GB" altLang="zh-TW" dirty="0">
              <a:latin typeface="Calibri"/>
              <a:cs typeface="Calibri"/>
            </a:endParaRPr>
          </a:p>
          <a:p>
            <a:endParaRPr lang="en-GB" altLang="zh-TW" dirty="0">
              <a:latin typeface="Calibri"/>
              <a:cs typeface="Calibri"/>
            </a:endParaRPr>
          </a:p>
          <a:p>
            <a:endParaRPr lang="en-GB" altLang="zh-TW" dirty="0" smtClean="0">
              <a:latin typeface="Calibri"/>
              <a:cs typeface="Calibri"/>
            </a:endParaRPr>
          </a:p>
          <a:p>
            <a:r>
              <a:rPr lang="en-GB" altLang="zh-TW" dirty="0" smtClean="0">
                <a:latin typeface="Calibri"/>
                <a:cs typeface="Calibri"/>
              </a:rPr>
              <a:t>Simple </a:t>
            </a:r>
            <a:r>
              <a:rPr lang="en-GB" altLang="zh-TW" dirty="0">
                <a:latin typeface="Calibri"/>
                <a:cs typeface="Calibri"/>
              </a:rPr>
              <a:t>agreement: </a:t>
            </a:r>
            <a:r>
              <a:rPr lang="en-GB" altLang="zh-TW" dirty="0" smtClean="0">
                <a:latin typeface="Calibri"/>
                <a:cs typeface="Calibri"/>
              </a:rPr>
              <a:t>(</a:t>
            </a:r>
            <a:r>
              <a:rPr lang="en-GB" altLang="zh-TW" dirty="0" err="1" smtClean="0">
                <a:latin typeface="Calibri"/>
                <a:cs typeface="Calibri"/>
              </a:rPr>
              <a:t>a+d</a:t>
            </a:r>
            <a:r>
              <a:rPr lang="en-GB" altLang="zh-TW" dirty="0" smtClean="0">
                <a:latin typeface="Calibri"/>
                <a:cs typeface="Calibri"/>
              </a:rPr>
              <a:t>)/N</a:t>
            </a:r>
            <a:endParaRPr lang="en-GB" altLang="zh-TW" dirty="0">
              <a:latin typeface="Calibri"/>
              <a:cs typeface="Calibri"/>
            </a:endParaRPr>
          </a:p>
          <a:p>
            <a:r>
              <a:rPr lang="en-GB" altLang="zh-TW" dirty="0">
                <a:latin typeface="Calibri"/>
                <a:cs typeface="Calibri"/>
              </a:rPr>
              <a:t>The above does not take account of agreement by chance</a:t>
            </a:r>
          </a:p>
          <a:p>
            <a:r>
              <a:rPr lang="en-GB" altLang="zh-TW" dirty="0">
                <a:latin typeface="Calibri"/>
                <a:cs typeface="Calibri"/>
              </a:rPr>
              <a:t>Kappa takes account of chance agreement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263676"/>
              </p:ext>
            </p:extLst>
          </p:nvPr>
        </p:nvGraphicFramePr>
        <p:xfrm>
          <a:off x="1192213" y="1790700"/>
          <a:ext cx="6667500" cy="1857375"/>
        </p:xfrm>
        <a:graphic>
          <a:graphicData uri="http://schemas.openxmlformats.org/drawingml/2006/table">
            <a:tbl>
              <a:tblPr/>
              <a:tblGrid>
                <a:gridCol w="1790700"/>
                <a:gridCol w="1219200"/>
                <a:gridCol w="1219200"/>
                <a:gridCol w="1219200"/>
                <a:gridCol w="1219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Classification 1 </a:t>
                      </a:r>
                      <a:r>
                        <a:rPr kumimoji="0" lang="en-GB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(OR OBSERVER 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Positive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Negative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Classification 2 (</a:t>
                      </a:r>
                      <a:r>
                        <a:rPr kumimoji="0" lang="en-GB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OR OBSERVER 2)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Positive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b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a+b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Negative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c+d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a+c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b+d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a+b+c+d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931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762000" y="342900"/>
            <a:ext cx="7772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200" dirty="0" smtClean="0">
                <a:latin typeface="Calibri"/>
                <a:cs typeface="Calibri"/>
              </a:rPr>
              <a:t>Cohen’s </a:t>
            </a:r>
            <a:r>
              <a:rPr lang="en-US" altLang="zh-TW" sz="2200" dirty="0">
                <a:latin typeface="Calibri"/>
                <a:cs typeface="Calibri"/>
              </a:rPr>
              <a:t>Kappa: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176771"/>
              </p:ext>
            </p:extLst>
          </p:nvPr>
        </p:nvGraphicFramePr>
        <p:xfrm>
          <a:off x="1962150" y="1219200"/>
          <a:ext cx="4202113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2" name="方程式" r:id="rId3" imgW="1841500" imgH="635000" progId="Equation.3">
                  <p:embed/>
                </p:oleObj>
              </mc:Choice>
              <mc:Fallback>
                <p:oleObj name="方程式" r:id="rId3" imgW="18415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1219200"/>
                        <a:ext cx="4202113" cy="1466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151018"/>
              </p:ext>
            </p:extLst>
          </p:nvPr>
        </p:nvGraphicFramePr>
        <p:xfrm>
          <a:off x="1192213" y="3625850"/>
          <a:ext cx="6667500" cy="1857375"/>
        </p:xfrm>
        <a:graphic>
          <a:graphicData uri="http://schemas.openxmlformats.org/drawingml/2006/table">
            <a:tbl>
              <a:tblPr/>
              <a:tblGrid>
                <a:gridCol w="1790700"/>
                <a:gridCol w="1219200"/>
                <a:gridCol w="1219200"/>
                <a:gridCol w="1219200"/>
                <a:gridCol w="1219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Classification 1 </a:t>
                      </a:r>
                      <a:r>
                        <a:rPr kumimoji="0" lang="en-GB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(OR OBSERVER 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Positive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Negative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Classification 2 (</a:t>
                      </a:r>
                      <a:r>
                        <a:rPr kumimoji="0" lang="en-GB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OR OBSERVER 2)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Positive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b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a+b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Negative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c+d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a+c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b+d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zh-TW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新細明體" charset="0"/>
                          <a:cs typeface="Calibri"/>
                        </a:rPr>
                        <a:t>a+b+c+d</a:t>
                      </a:r>
                      <a:endParaRPr kumimoji="0" lang="en-GB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新細明體" charset="0"/>
                        <a:cs typeface="Calibri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9560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Kappa Interpretation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5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548786"/>
              </p:ext>
            </p:extLst>
          </p:nvPr>
        </p:nvGraphicFramePr>
        <p:xfrm>
          <a:off x="2586038" y="1479550"/>
          <a:ext cx="3700462" cy="3514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638"/>
                <a:gridCol w="1928824"/>
              </a:tblGrid>
              <a:tr h="585788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chemeClr val="tx1"/>
                          </a:solidFill>
                        </a:rPr>
                        <a:t>Kappa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 smtClean="0">
                          <a:solidFill>
                            <a:schemeClr val="tx1"/>
                          </a:solidFill>
                        </a:rPr>
                        <a:t>Agreement</a:t>
                      </a:r>
                      <a:endParaRPr lang="en-GB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&lt;0.20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Poor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0.21-0.40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Slight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0.41-0.60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Moderate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0.61-0.80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Good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0.80-1.00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Very good</a:t>
                      </a:r>
                      <a:endParaRPr lang="en-GB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70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/>
              <a:t>In-Class Practice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smtClean="0"/>
              <a:t>Form two-person group</a:t>
            </a:r>
          </a:p>
          <a:p>
            <a:r>
              <a:rPr kumimoji="1" lang="en-US" altLang="zh-TW" dirty="0" smtClean="0"/>
              <a:t>Use t-test to compare the performance of learning algorithms on cross-validation estimates</a:t>
            </a:r>
          </a:p>
          <a:p>
            <a:pPr lvl="1"/>
            <a:endParaRPr kumimoji="1"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33943-7E97-DB49-B2BB-235221A3113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88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10364</TotalTime>
  <Words>1327</Words>
  <Application>Microsoft Macintosh PowerPoint</Application>
  <PresentationFormat>如螢幕大小 (4:3)</PresentationFormat>
  <Paragraphs>283</Paragraphs>
  <Slides>29</Slides>
  <Notes>2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伺服器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1" baseType="lpstr">
      <vt:lpstr>Office Theme</vt:lpstr>
      <vt:lpstr>Microsoft 方程式編輯器</vt:lpstr>
      <vt:lpstr>ISA5577 Applied Quantitative Methods for Human-Computer Interaction 人機互動量化研究方法   May 18, 2015</vt:lpstr>
      <vt:lpstr>Today’s Agenda</vt:lpstr>
      <vt:lpstr>Credibility: Evaluating What’s Been Learned</vt:lpstr>
      <vt:lpstr>Evaluation: the key to success </vt:lpstr>
      <vt:lpstr>Issues in Evaluation</vt:lpstr>
      <vt:lpstr>Training and Testing I</vt:lpstr>
      <vt:lpstr>Training and Testing II</vt:lpstr>
      <vt:lpstr>Making the most of the data </vt:lpstr>
      <vt:lpstr>Holdout estimation </vt:lpstr>
      <vt:lpstr>Repeated holdout method </vt:lpstr>
      <vt:lpstr>Cross-validation </vt:lpstr>
      <vt:lpstr>More on cross-validation </vt:lpstr>
      <vt:lpstr>Leave-One-Out cross-validation </vt:lpstr>
      <vt:lpstr>Leave-One-Out-CV and stratification </vt:lpstr>
      <vt:lpstr>Comparing data mining schemes </vt:lpstr>
      <vt:lpstr>Comparing schemes II </vt:lpstr>
      <vt:lpstr>Paired t-test </vt:lpstr>
      <vt:lpstr>Distribution of the means</vt:lpstr>
      <vt:lpstr>Student’s distribution </vt:lpstr>
      <vt:lpstr>Distribution of the differences </vt:lpstr>
      <vt:lpstr>Performing the test </vt:lpstr>
      <vt:lpstr>Unpaired observations </vt:lpstr>
      <vt:lpstr>Confusion matrix</vt:lpstr>
      <vt:lpstr>Confusion matrix-based performance measures</vt:lpstr>
      <vt:lpstr>The Kappa Statistic</vt:lpstr>
      <vt:lpstr>Cohen’s Kappa</vt:lpstr>
      <vt:lpstr>PowerPoint 簡報</vt:lpstr>
      <vt:lpstr>Kappa Interpretation</vt:lpstr>
      <vt:lpstr>In-Class Practice</vt:lpstr>
    </vt:vector>
  </TitlesOfParts>
  <Company>Cornell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5441 Social Computing TA</dc:title>
  <dc:creator>Hao-Chuan Wang</dc:creator>
  <cp:lastModifiedBy>HC WANG</cp:lastModifiedBy>
  <cp:revision>654</cp:revision>
  <dcterms:created xsi:type="dcterms:W3CDTF">2012-02-07T03:56:58Z</dcterms:created>
  <dcterms:modified xsi:type="dcterms:W3CDTF">2015-05-18T03:49:50Z</dcterms:modified>
</cp:coreProperties>
</file>