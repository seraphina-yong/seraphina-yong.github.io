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9" r:id="rId1"/>
  </p:sldMasterIdLst>
  <p:notesMasterIdLst>
    <p:notesMasterId r:id="rId38"/>
  </p:notesMasterIdLst>
  <p:sldIdLst>
    <p:sldId id="256" r:id="rId2"/>
    <p:sldId id="311" r:id="rId3"/>
    <p:sldId id="294" r:id="rId4"/>
    <p:sldId id="318" r:id="rId5"/>
    <p:sldId id="319" r:id="rId6"/>
    <p:sldId id="306" r:id="rId7"/>
    <p:sldId id="286" r:id="rId8"/>
    <p:sldId id="259" r:id="rId9"/>
    <p:sldId id="265" r:id="rId10"/>
    <p:sldId id="266" r:id="rId11"/>
    <p:sldId id="267" r:id="rId12"/>
    <p:sldId id="307" r:id="rId13"/>
    <p:sldId id="257" r:id="rId14"/>
    <p:sldId id="258" r:id="rId15"/>
    <p:sldId id="263" r:id="rId16"/>
    <p:sldId id="260" r:id="rId17"/>
    <p:sldId id="261" r:id="rId18"/>
    <p:sldId id="308" r:id="rId19"/>
    <p:sldId id="262" r:id="rId20"/>
    <p:sldId id="264" r:id="rId21"/>
    <p:sldId id="268" r:id="rId22"/>
    <p:sldId id="269" r:id="rId23"/>
    <p:sldId id="270" r:id="rId24"/>
    <p:sldId id="271" r:id="rId25"/>
    <p:sldId id="272" r:id="rId26"/>
    <p:sldId id="283" r:id="rId27"/>
    <p:sldId id="273" r:id="rId28"/>
    <p:sldId id="274" r:id="rId29"/>
    <p:sldId id="275" r:id="rId30"/>
    <p:sldId id="282" r:id="rId31"/>
    <p:sldId id="276" r:id="rId32"/>
    <p:sldId id="277" r:id="rId33"/>
    <p:sldId id="278" r:id="rId34"/>
    <p:sldId id="279" r:id="rId35"/>
    <p:sldId id="280" r:id="rId36"/>
    <p:sldId id="281" r:id="rId37"/>
  </p:sldIdLst>
  <p:sldSz cx="9144000" cy="6858000" type="screen4x3"/>
  <p:notesSz cx="6858000" cy="9144000"/>
  <p:defaultTextStyle>
    <a:defPPr>
      <a:defRPr lang="zh-TW"/>
    </a:defPPr>
    <a:lvl1pPr algn="l" rtl="0" fontAlgn="base">
      <a:spcBef>
        <a:spcPct val="0"/>
      </a:spcBef>
      <a:spcAft>
        <a:spcPct val="0"/>
      </a:spcAft>
      <a:defRPr kumimoji="1" kern="1200">
        <a:solidFill>
          <a:schemeClr val="tx1"/>
        </a:solidFill>
        <a:latin typeface="Arial" charset="0"/>
        <a:ea typeface="新細明體" pitchFamily="18" charset="-120"/>
        <a:cs typeface="+mn-cs"/>
      </a:defRPr>
    </a:lvl1pPr>
    <a:lvl2pPr marL="457200" algn="l" rtl="0" fontAlgn="base">
      <a:spcBef>
        <a:spcPct val="0"/>
      </a:spcBef>
      <a:spcAft>
        <a:spcPct val="0"/>
      </a:spcAft>
      <a:defRPr kumimoji="1" kern="1200">
        <a:solidFill>
          <a:schemeClr val="tx1"/>
        </a:solidFill>
        <a:latin typeface="Arial" charset="0"/>
        <a:ea typeface="新細明體" pitchFamily="18" charset="-120"/>
        <a:cs typeface="+mn-cs"/>
      </a:defRPr>
    </a:lvl2pPr>
    <a:lvl3pPr marL="914400" algn="l" rtl="0" fontAlgn="base">
      <a:spcBef>
        <a:spcPct val="0"/>
      </a:spcBef>
      <a:spcAft>
        <a:spcPct val="0"/>
      </a:spcAft>
      <a:defRPr kumimoji="1" kern="1200">
        <a:solidFill>
          <a:schemeClr val="tx1"/>
        </a:solidFill>
        <a:latin typeface="Arial" charset="0"/>
        <a:ea typeface="新細明體" pitchFamily="18" charset="-120"/>
        <a:cs typeface="+mn-cs"/>
      </a:defRPr>
    </a:lvl3pPr>
    <a:lvl4pPr marL="1371600" algn="l" rtl="0" fontAlgn="base">
      <a:spcBef>
        <a:spcPct val="0"/>
      </a:spcBef>
      <a:spcAft>
        <a:spcPct val="0"/>
      </a:spcAft>
      <a:defRPr kumimoji="1" kern="1200">
        <a:solidFill>
          <a:schemeClr val="tx1"/>
        </a:solidFill>
        <a:latin typeface="Arial" charset="0"/>
        <a:ea typeface="新細明體" pitchFamily="18" charset="-120"/>
        <a:cs typeface="+mn-cs"/>
      </a:defRPr>
    </a:lvl4pPr>
    <a:lvl5pPr marL="1828800" algn="l" rtl="0" fontAlgn="base">
      <a:spcBef>
        <a:spcPct val="0"/>
      </a:spcBef>
      <a:spcAft>
        <a:spcPct val="0"/>
      </a:spcAft>
      <a:defRPr kumimoji="1" kern="1200">
        <a:solidFill>
          <a:schemeClr val="tx1"/>
        </a:solidFill>
        <a:latin typeface="Arial" charset="0"/>
        <a:ea typeface="新細明體" pitchFamily="18" charset="-120"/>
        <a:cs typeface="+mn-cs"/>
      </a:defRPr>
    </a:lvl5pPr>
    <a:lvl6pPr marL="2286000" algn="l" defTabSz="914400" rtl="0" eaLnBrk="1" latinLnBrk="0" hangingPunct="1">
      <a:defRPr kumimoji="1" kern="1200">
        <a:solidFill>
          <a:schemeClr val="tx1"/>
        </a:solidFill>
        <a:latin typeface="Arial" charset="0"/>
        <a:ea typeface="新細明體" pitchFamily="18" charset="-120"/>
        <a:cs typeface="+mn-cs"/>
      </a:defRPr>
    </a:lvl6pPr>
    <a:lvl7pPr marL="2743200" algn="l" defTabSz="914400" rtl="0" eaLnBrk="1" latinLnBrk="0" hangingPunct="1">
      <a:defRPr kumimoji="1" kern="1200">
        <a:solidFill>
          <a:schemeClr val="tx1"/>
        </a:solidFill>
        <a:latin typeface="Arial" charset="0"/>
        <a:ea typeface="新細明體" pitchFamily="18" charset="-120"/>
        <a:cs typeface="+mn-cs"/>
      </a:defRPr>
    </a:lvl7pPr>
    <a:lvl8pPr marL="3200400" algn="l" defTabSz="914400" rtl="0" eaLnBrk="1" latinLnBrk="0" hangingPunct="1">
      <a:defRPr kumimoji="1" kern="1200">
        <a:solidFill>
          <a:schemeClr val="tx1"/>
        </a:solidFill>
        <a:latin typeface="Arial" charset="0"/>
        <a:ea typeface="新細明體" pitchFamily="18" charset="-120"/>
        <a:cs typeface="+mn-cs"/>
      </a:defRPr>
    </a:lvl8pPr>
    <a:lvl9pPr marL="3657600" algn="l" defTabSz="914400" rtl="0" eaLnBrk="1" latinLnBrk="0" hangingPunct="1">
      <a:defRPr kumimoji="1" kern="1200">
        <a:solidFill>
          <a:schemeClr val="tx1"/>
        </a:solidFill>
        <a:latin typeface="Arial" charset="0"/>
        <a:ea typeface="新細明體" pitchFamily="18" charset="-120"/>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928" autoAdjust="0"/>
  </p:normalViewPr>
  <p:slideViewPr>
    <p:cSldViewPr>
      <p:cViewPr varScale="1">
        <p:scale>
          <a:sx n="108" d="100"/>
          <a:sy n="108" d="100"/>
        </p:scale>
        <p:origin x="1662" y="9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D2F0955-5BD0-445A-8BBD-3B94E611FB6B}" type="doc">
      <dgm:prSet loTypeId="urn:microsoft.com/office/officeart/2005/8/layout/lProcess1" loCatId="process" qsTypeId="urn:microsoft.com/office/officeart/2005/8/quickstyle/3d2" qsCatId="3D" csTypeId="urn:microsoft.com/office/officeart/2005/8/colors/accent1_2" csCatId="accent1" phldr="1"/>
      <dgm:spPr/>
      <dgm:t>
        <a:bodyPr/>
        <a:lstStyle/>
        <a:p>
          <a:endParaRPr lang="zh-TW" altLang="en-US"/>
        </a:p>
      </dgm:t>
    </dgm:pt>
    <dgm:pt modelId="{70D74883-F4A7-457C-AD78-181C4716AAFB}">
      <dgm:prSet phldrT="[文字]"/>
      <dgm:spPr/>
      <dgm:t>
        <a:bodyPr/>
        <a:lstStyle/>
        <a:p>
          <a:r>
            <a:rPr lang="en-US" altLang="zh-TW" dirty="0" smtClean="0"/>
            <a:t>Interaction design process</a:t>
          </a:r>
          <a:endParaRPr lang="zh-TW" altLang="en-US" dirty="0">
            <a:latin typeface="+mj-ea"/>
            <a:ea typeface="+mj-ea"/>
          </a:endParaRPr>
        </a:p>
      </dgm:t>
    </dgm:pt>
    <dgm:pt modelId="{4A91D8F4-5EE8-4F28-B1F7-C5B1A4BBA4BD}" type="parTrans" cxnId="{415C2C07-1D02-46E5-88E7-7221E6F8792C}">
      <dgm:prSet/>
      <dgm:spPr/>
      <dgm:t>
        <a:bodyPr/>
        <a:lstStyle/>
        <a:p>
          <a:endParaRPr lang="zh-TW" altLang="en-US"/>
        </a:p>
      </dgm:t>
    </dgm:pt>
    <dgm:pt modelId="{6ADE8581-462C-4EC9-87FD-5412679601EC}" type="sibTrans" cxnId="{415C2C07-1D02-46E5-88E7-7221E6F8792C}">
      <dgm:prSet/>
      <dgm:spPr/>
      <dgm:t>
        <a:bodyPr/>
        <a:lstStyle/>
        <a:p>
          <a:endParaRPr lang="zh-TW" altLang="en-US"/>
        </a:p>
      </dgm:t>
    </dgm:pt>
    <dgm:pt modelId="{ABBC4E11-9B86-4E63-9875-9BC805BA1247}">
      <dgm:prSet phldrT="[文字]" custT="1"/>
      <dgm:spPr/>
      <dgm:t>
        <a:bodyPr/>
        <a:lstStyle/>
        <a:p>
          <a:r>
            <a:rPr lang="zh-TW" altLang="en-US" sz="2800" dirty="0" smtClean="0">
              <a:latin typeface="+mj-ea"/>
              <a:ea typeface="+mj-ea"/>
            </a:rPr>
            <a:t>脈絡訪查 </a:t>
          </a:r>
          <a:r>
            <a:rPr lang="en-US" altLang="zh-TW" sz="2800" dirty="0" smtClean="0">
              <a:latin typeface="+mj-ea"/>
              <a:ea typeface="+mj-ea"/>
            </a:rPr>
            <a:t>contextual inquiry</a:t>
          </a:r>
          <a:endParaRPr lang="zh-TW" altLang="en-US" sz="2800" b="0" dirty="0">
            <a:latin typeface="+mn-ea"/>
            <a:ea typeface="+mn-ea"/>
          </a:endParaRPr>
        </a:p>
      </dgm:t>
    </dgm:pt>
    <dgm:pt modelId="{99E83EE1-9628-4126-8D2F-895EF958877B}" type="parTrans" cxnId="{6137DBA1-4ACD-48B9-BC22-5B0384B2FECF}">
      <dgm:prSet/>
      <dgm:spPr/>
      <dgm:t>
        <a:bodyPr/>
        <a:lstStyle/>
        <a:p>
          <a:endParaRPr lang="zh-TW" altLang="en-US"/>
        </a:p>
      </dgm:t>
    </dgm:pt>
    <dgm:pt modelId="{DCDFF91D-04EA-4A02-8FBF-4A32A93D6041}" type="sibTrans" cxnId="{6137DBA1-4ACD-48B9-BC22-5B0384B2FECF}">
      <dgm:prSet/>
      <dgm:spPr/>
      <dgm:t>
        <a:bodyPr/>
        <a:lstStyle/>
        <a:p>
          <a:endParaRPr lang="zh-TW" altLang="en-US"/>
        </a:p>
      </dgm:t>
    </dgm:pt>
    <dgm:pt modelId="{7EB94231-5418-4961-9677-358A78E859EB}">
      <dgm:prSet phldrT="[文字]" custT="1"/>
      <dgm:spPr/>
      <dgm:t>
        <a:bodyPr/>
        <a:lstStyle/>
        <a:p>
          <a:r>
            <a:rPr lang="zh-TW" altLang="en-US" sz="2800" dirty="0" smtClean="0">
              <a:latin typeface="+mj-ea"/>
              <a:ea typeface="+mj-ea"/>
            </a:rPr>
            <a:t>親和圖表 </a:t>
          </a:r>
          <a:r>
            <a:rPr lang="en-US" altLang="zh-TW" sz="2800" dirty="0" smtClean="0">
              <a:latin typeface="+mj-ea"/>
              <a:ea typeface="+mj-ea"/>
            </a:rPr>
            <a:t>affinity diagram</a:t>
          </a:r>
          <a:r>
            <a:rPr lang="zh-TW" altLang="en-US" sz="2800" dirty="0" smtClean="0">
              <a:latin typeface="+mj-ea"/>
              <a:ea typeface="+mj-ea"/>
            </a:rPr>
            <a:t> </a:t>
          </a:r>
          <a:endParaRPr lang="zh-TW" altLang="en-US" sz="2800" dirty="0">
            <a:latin typeface="+mj-ea"/>
            <a:ea typeface="+mj-ea"/>
          </a:endParaRPr>
        </a:p>
      </dgm:t>
    </dgm:pt>
    <dgm:pt modelId="{F7900FBF-5EDD-46A1-8168-B9F9919FA891}" type="parTrans" cxnId="{A57C8C79-AC72-4726-91CB-7FA1FE212FEC}">
      <dgm:prSet/>
      <dgm:spPr/>
      <dgm:t>
        <a:bodyPr/>
        <a:lstStyle/>
        <a:p>
          <a:endParaRPr lang="zh-TW" altLang="en-US"/>
        </a:p>
      </dgm:t>
    </dgm:pt>
    <dgm:pt modelId="{79FE53D6-6B33-4A8B-AFCA-7CB2D6C7E174}" type="sibTrans" cxnId="{A57C8C79-AC72-4726-91CB-7FA1FE212FEC}">
      <dgm:prSet/>
      <dgm:spPr/>
      <dgm:t>
        <a:bodyPr/>
        <a:lstStyle/>
        <a:p>
          <a:endParaRPr lang="zh-TW" altLang="en-US"/>
        </a:p>
      </dgm:t>
    </dgm:pt>
    <dgm:pt modelId="{A75AA5D8-47B9-4DF7-84B1-064CC3B9C523}">
      <dgm:prSet phldrT="[文字]" custT="1"/>
      <dgm:spPr/>
      <dgm:t>
        <a:bodyPr/>
        <a:lstStyle/>
        <a:p>
          <a:r>
            <a:rPr lang="zh-TW" altLang="en-US" sz="2800" dirty="0" smtClean="0">
              <a:latin typeface="+mj-ea"/>
              <a:ea typeface="+mj-ea"/>
            </a:rPr>
            <a:t>構想發想 </a:t>
          </a:r>
          <a:r>
            <a:rPr lang="en-US" altLang="zh-TW" sz="2800" dirty="0" smtClean="0">
              <a:latin typeface="+mj-ea"/>
              <a:ea typeface="+mj-ea"/>
            </a:rPr>
            <a:t>generate ideas</a:t>
          </a:r>
          <a:endParaRPr lang="zh-TW" altLang="en-US" sz="2800" dirty="0">
            <a:latin typeface="+mj-ea"/>
            <a:ea typeface="+mj-ea"/>
          </a:endParaRPr>
        </a:p>
      </dgm:t>
    </dgm:pt>
    <dgm:pt modelId="{3735E62B-03BD-4926-BF2E-1A31EE4F1B39}" type="parTrans" cxnId="{FB6493A4-8A68-4AF5-AC3F-0A899F07D678}">
      <dgm:prSet/>
      <dgm:spPr/>
      <dgm:t>
        <a:bodyPr/>
        <a:lstStyle/>
        <a:p>
          <a:endParaRPr lang="zh-TW" altLang="en-US"/>
        </a:p>
      </dgm:t>
    </dgm:pt>
    <dgm:pt modelId="{6324CF03-F13E-4A7C-A5DF-1BFC1FD045AF}" type="sibTrans" cxnId="{FB6493A4-8A68-4AF5-AC3F-0A899F07D678}">
      <dgm:prSet/>
      <dgm:spPr/>
      <dgm:t>
        <a:bodyPr/>
        <a:lstStyle/>
        <a:p>
          <a:endParaRPr lang="zh-TW" altLang="en-US"/>
        </a:p>
      </dgm:t>
    </dgm:pt>
    <dgm:pt modelId="{8B793B02-E920-4D44-8EA8-0ECD563A2A01}">
      <dgm:prSet phldrT="[文字]" custT="1"/>
      <dgm:spPr/>
      <dgm:t>
        <a:bodyPr/>
        <a:lstStyle/>
        <a:p>
          <a:r>
            <a:rPr lang="zh-TW" altLang="en-US" sz="2800" dirty="0" smtClean="0">
              <a:latin typeface="+mj-ea"/>
              <a:ea typeface="+mj-ea"/>
            </a:rPr>
            <a:t>分鏡腳本 </a:t>
          </a:r>
          <a:r>
            <a:rPr lang="en-US" altLang="zh-TW" sz="2800" dirty="0" smtClean="0">
              <a:latin typeface="+mj-ea"/>
              <a:ea typeface="+mj-ea"/>
            </a:rPr>
            <a:t>story board</a:t>
          </a:r>
          <a:endParaRPr lang="zh-TW" altLang="en-US" sz="2800" dirty="0">
            <a:latin typeface="+mj-ea"/>
            <a:ea typeface="+mj-ea"/>
          </a:endParaRPr>
        </a:p>
      </dgm:t>
    </dgm:pt>
    <dgm:pt modelId="{13CD0EB5-5CA8-49BC-B41A-9A423DF3345F}" type="parTrans" cxnId="{544281AC-1CEF-45C9-892E-DCB9783A5E90}">
      <dgm:prSet/>
      <dgm:spPr/>
      <dgm:t>
        <a:bodyPr/>
        <a:lstStyle/>
        <a:p>
          <a:endParaRPr lang="zh-TW" altLang="en-US"/>
        </a:p>
      </dgm:t>
    </dgm:pt>
    <dgm:pt modelId="{E4A9B63A-1AE6-49AB-84B4-E2E69FC1CC65}" type="sibTrans" cxnId="{544281AC-1CEF-45C9-892E-DCB9783A5E90}">
      <dgm:prSet/>
      <dgm:spPr/>
      <dgm:t>
        <a:bodyPr/>
        <a:lstStyle/>
        <a:p>
          <a:endParaRPr lang="zh-TW" altLang="en-US"/>
        </a:p>
      </dgm:t>
    </dgm:pt>
    <dgm:pt modelId="{B1F55872-AF21-4204-AEA3-9E93F5492A5C}">
      <dgm:prSet phldrT="[文字]" custT="1"/>
      <dgm:spPr/>
      <dgm:t>
        <a:bodyPr/>
        <a:lstStyle/>
        <a:p>
          <a:r>
            <a:rPr lang="zh-TW" altLang="en-US" sz="2800" dirty="0" smtClean="0">
              <a:latin typeface="+mj-ea"/>
              <a:ea typeface="+mj-ea"/>
            </a:rPr>
            <a:t>原型製作</a:t>
          </a:r>
          <a:r>
            <a:rPr lang="en-US" altLang="zh-TW" sz="2800" dirty="0" smtClean="0">
              <a:latin typeface="+mj-ea"/>
              <a:ea typeface="+mj-ea"/>
            </a:rPr>
            <a:t>design prototype</a:t>
          </a:r>
          <a:endParaRPr lang="zh-TW" altLang="en-US" sz="2800" dirty="0">
            <a:latin typeface="+mj-ea"/>
            <a:ea typeface="+mj-ea"/>
          </a:endParaRPr>
        </a:p>
      </dgm:t>
    </dgm:pt>
    <dgm:pt modelId="{66C7E3CC-7F10-40D1-948A-BA1933EE00CD}" type="parTrans" cxnId="{34D02933-64FD-4436-8D94-A31575D812C7}">
      <dgm:prSet/>
      <dgm:spPr/>
      <dgm:t>
        <a:bodyPr/>
        <a:lstStyle/>
        <a:p>
          <a:endParaRPr lang="zh-TW" altLang="en-US"/>
        </a:p>
      </dgm:t>
    </dgm:pt>
    <dgm:pt modelId="{022BA5B3-5E66-4B28-9867-FA0D10A0D0CB}" type="sibTrans" cxnId="{34D02933-64FD-4436-8D94-A31575D812C7}">
      <dgm:prSet/>
      <dgm:spPr/>
      <dgm:t>
        <a:bodyPr/>
        <a:lstStyle/>
        <a:p>
          <a:endParaRPr lang="zh-TW" altLang="en-US"/>
        </a:p>
      </dgm:t>
    </dgm:pt>
    <dgm:pt modelId="{EF646D0C-53B7-4CBB-8B55-DE0DCA0CC161}">
      <dgm:prSet phldrT="[文字]"/>
      <dgm:spPr/>
      <dgm:t>
        <a:bodyPr/>
        <a:lstStyle/>
        <a:p>
          <a:r>
            <a:rPr lang="zh-TW" altLang="en-US" dirty="0" smtClean="0">
              <a:latin typeface="+mn-ea"/>
              <a:ea typeface="+mn-ea"/>
            </a:rPr>
            <a:t>資料詮釋 </a:t>
          </a:r>
          <a:r>
            <a:rPr lang="en-US" altLang="zh-TW" b="0" dirty="0" smtClean="0">
              <a:latin typeface="+mn-ea"/>
              <a:ea typeface="+mn-ea"/>
            </a:rPr>
            <a:t>data interpretation </a:t>
          </a:r>
          <a:endParaRPr lang="zh-TW" altLang="en-US" b="0" dirty="0">
            <a:latin typeface="+mn-ea"/>
            <a:ea typeface="+mn-ea"/>
          </a:endParaRPr>
        </a:p>
      </dgm:t>
    </dgm:pt>
    <dgm:pt modelId="{3EEE0126-0C70-472A-BD9A-22F17EDBF69C}" type="parTrans" cxnId="{26BD3C18-7FA6-4A6F-81F1-3C20F74C9F97}">
      <dgm:prSet/>
      <dgm:spPr/>
      <dgm:t>
        <a:bodyPr/>
        <a:lstStyle/>
        <a:p>
          <a:endParaRPr lang="zh-TW" altLang="en-US"/>
        </a:p>
      </dgm:t>
    </dgm:pt>
    <dgm:pt modelId="{57EEDD3F-D1E9-4D5C-B147-397C1BE8357D}" type="sibTrans" cxnId="{26BD3C18-7FA6-4A6F-81F1-3C20F74C9F97}">
      <dgm:prSet/>
      <dgm:spPr/>
      <dgm:t>
        <a:bodyPr/>
        <a:lstStyle/>
        <a:p>
          <a:endParaRPr lang="zh-TW" altLang="en-US"/>
        </a:p>
      </dgm:t>
    </dgm:pt>
    <dgm:pt modelId="{ACFBEF8A-A995-496E-A79D-B1CE19A4E26B}" type="pres">
      <dgm:prSet presAssocID="{3D2F0955-5BD0-445A-8BBD-3B94E611FB6B}" presName="Name0" presStyleCnt="0">
        <dgm:presLayoutVars>
          <dgm:dir/>
          <dgm:animLvl val="lvl"/>
          <dgm:resizeHandles val="exact"/>
        </dgm:presLayoutVars>
      </dgm:prSet>
      <dgm:spPr/>
      <dgm:t>
        <a:bodyPr/>
        <a:lstStyle/>
        <a:p>
          <a:endParaRPr lang="zh-TW" altLang="en-US"/>
        </a:p>
      </dgm:t>
    </dgm:pt>
    <dgm:pt modelId="{230E80B3-D86F-427C-8632-E33795170AF2}" type="pres">
      <dgm:prSet presAssocID="{70D74883-F4A7-457C-AD78-181C4716AAFB}" presName="vertFlow" presStyleCnt="0"/>
      <dgm:spPr/>
      <dgm:t>
        <a:bodyPr/>
        <a:lstStyle/>
        <a:p>
          <a:endParaRPr lang="zh-TW" altLang="en-US"/>
        </a:p>
      </dgm:t>
    </dgm:pt>
    <dgm:pt modelId="{EC5BE4D7-8BD0-48BC-AC16-6A3B6954FE1D}" type="pres">
      <dgm:prSet presAssocID="{70D74883-F4A7-457C-AD78-181C4716AAFB}" presName="header" presStyleLbl="node1" presStyleIdx="0" presStyleCnt="1" custScaleX="242153"/>
      <dgm:spPr/>
      <dgm:t>
        <a:bodyPr/>
        <a:lstStyle/>
        <a:p>
          <a:endParaRPr lang="zh-TW" altLang="en-US"/>
        </a:p>
      </dgm:t>
    </dgm:pt>
    <dgm:pt modelId="{2E7882A2-765C-4738-8CE6-3147A6E9E94A}" type="pres">
      <dgm:prSet presAssocID="{99E83EE1-9628-4126-8D2F-895EF958877B}" presName="parTrans" presStyleLbl="sibTrans2D1" presStyleIdx="0" presStyleCnt="6"/>
      <dgm:spPr/>
      <dgm:t>
        <a:bodyPr/>
        <a:lstStyle/>
        <a:p>
          <a:endParaRPr lang="zh-TW" altLang="en-US"/>
        </a:p>
      </dgm:t>
    </dgm:pt>
    <dgm:pt modelId="{5A85FD78-34FC-4C53-B4F0-B3227808C1B5}" type="pres">
      <dgm:prSet presAssocID="{ABBC4E11-9B86-4E63-9875-9BC805BA1247}" presName="child" presStyleLbl="alignAccFollowNode1" presStyleIdx="0" presStyleCnt="6" custScaleX="218528" custLinFactNeighborY="18198">
        <dgm:presLayoutVars>
          <dgm:chMax val="0"/>
          <dgm:bulletEnabled val="1"/>
        </dgm:presLayoutVars>
      </dgm:prSet>
      <dgm:spPr/>
      <dgm:t>
        <a:bodyPr/>
        <a:lstStyle/>
        <a:p>
          <a:endParaRPr lang="zh-TW" altLang="en-US"/>
        </a:p>
      </dgm:t>
    </dgm:pt>
    <dgm:pt modelId="{5E8047B3-0FC1-43C8-B99E-17B66F3909BA}" type="pres">
      <dgm:prSet presAssocID="{DCDFF91D-04EA-4A02-8FBF-4A32A93D6041}" presName="sibTrans" presStyleLbl="sibTrans2D1" presStyleIdx="1" presStyleCnt="6"/>
      <dgm:spPr/>
      <dgm:t>
        <a:bodyPr/>
        <a:lstStyle/>
        <a:p>
          <a:endParaRPr lang="zh-TW" altLang="en-US"/>
        </a:p>
      </dgm:t>
    </dgm:pt>
    <dgm:pt modelId="{0D08906A-B356-4563-BBF3-560E81B297D1}" type="pres">
      <dgm:prSet presAssocID="{EF646D0C-53B7-4CBB-8B55-DE0DCA0CC161}" presName="child" presStyleLbl="alignAccFollowNode1" presStyleIdx="1" presStyleCnt="6" custScaleX="218528" custLinFactNeighborY="18198">
        <dgm:presLayoutVars>
          <dgm:chMax val="0"/>
          <dgm:bulletEnabled val="1"/>
        </dgm:presLayoutVars>
      </dgm:prSet>
      <dgm:spPr/>
      <dgm:t>
        <a:bodyPr/>
        <a:lstStyle/>
        <a:p>
          <a:endParaRPr lang="zh-TW" altLang="en-US"/>
        </a:p>
      </dgm:t>
    </dgm:pt>
    <dgm:pt modelId="{744CACA3-7E07-449A-A90C-0F0833259368}" type="pres">
      <dgm:prSet presAssocID="{57EEDD3F-D1E9-4D5C-B147-397C1BE8357D}" presName="sibTrans" presStyleLbl="sibTrans2D1" presStyleIdx="2" presStyleCnt="6"/>
      <dgm:spPr/>
      <dgm:t>
        <a:bodyPr/>
        <a:lstStyle/>
        <a:p>
          <a:endParaRPr lang="zh-TW" altLang="en-US"/>
        </a:p>
      </dgm:t>
    </dgm:pt>
    <dgm:pt modelId="{E97A953A-05B7-42AF-BA1B-28CFC04911F4}" type="pres">
      <dgm:prSet presAssocID="{7EB94231-5418-4961-9677-358A78E859EB}" presName="child" presStyleLbl="alignAccFollowNode1" presStyleIdx="2" presStyleCnt="6" custScaleX="218528" custLinFactNeighborY="18198">
        <dgm:presLayoutVars>
          <dgm:chMax val="0"/>
          <dgm:bulletEnabled val="1"/>
        </dgm:presLayoutVars>
      </dgm:prSet>
      <dgm:spPr/>
      <dgm:t>
        <a:bodyPr/>
        <a:lstStyle/>
        <a:p>
          <a:endParaRPr lang="zh-TW" altLang="en-US"/>
        </a:p>
      </dgm:t>
    </dgm:pt>
    <dgm:pt modelId="{5690B808-6B03-421C-941E-F036FD0F048C}" type="pres">
      <dgm:prSet presAssocID="{79FE53D6-6B33-4A8B-AFCA-7CB2D6C7E174}" presName="sibTrans" presStyleLbl="sibTrans2D1" presStyleIdx="3" presStyleCnt="6"/>
      <dgm:spPr/>
      <dgm:t>
        <a:bodyPr/>
        <a:lstStyle/>
        <a:p>
          <a:endParaRPr lang="zh-TW" altLang="en-US"/>
        </a:p>
      </dgm:t>
    </dgm:pt>
    <dgm:pt modelId="{5B45CC63-5A59-400F-8C71-F8FDA349B066}" type="pres">
      <dgm:prSet presAssocID="{A75AA5D8-47B9-4DF7-84B1-064CC3B9C523}" presName="child" presStyleLbl="alignAccFollowNode1" presStyleIdx="3" presStyleCnt="6" custScaleX="224435" custLinFactNeighborY="18198">
        <dgm:presLayoutVars>
          <dgm:chMax val="0"/>
          <dgm:bulletEnabled val="1"/>
        </dgm:presLayoutVars>
      </dgm:prSet>
      <dgm:spPr/>
      <dgm:t>
        <a:bodyPr/>
        <a:lstStyle/>
        <a:p>
          <a:endParaRPr lang="zh-TW" altLang="en-US"/>
        </a:p>
      </dgm:t>
    </dgm:pt>
    <dgm:pt modelId="{61725863-4A07-4153-B4DA-B85EA6FCCD86}" type="pres">
      <dgm:prSet presAssocID="{6324CF03-F13E-4A7C-A5DF-1BFC1FD045AF}" presName="sibTrans" presStyleLbl="sibTrans2D1" presStyleIdx="4" presStyleCnt="6"/>
      <dgm:spPr/>
      <dgm:t>
        <a:bodyPr/>
        <a:lstStyle/>
        <a:p>
          <a:endParaRPr lang="zh-TW" altLang="en-US"/>
        </a:p>
      </dgm:t>
    </dgm:pt>
    <dgm:pt modelId="{07EB3731-2B29-41C3-8A6A-DBDA4793F809}" type="pres">
      <dgm:prSet presAssocID="{8B793B02-E920-4D44-8EA8-0ECD563A2A01}" presName="child" presStyleLbl="alignAccFollowNode1" presStyleIdx="4" presStyleCnt="6" custScaleX="218528">
        <dgm:presLayoutVars>
          <dgm:chMax val="0"/>
          <dgm:bulletEnabled val="1"/>
        </dgm:presLayoutVars>
      </dgm:prSet>
      <dgm:spPr/>
      <dgm:t>
        <a:bodyPr/>
        <a:lstStyle/>
        <a:p>
          <a:endParaRPr lang="zh-TW" altLang="en-US"/>
        </a:p>
      </dgm:t>
    </dgm:pt>
    <dgm:pt modelId="{00D33197-9206-4219-8653-344CF88FD397}" type="pres">
      <dgm:prSet presAssocID="{E4A9B63A-1AE6-49AB-84B4-E2E69FC1CC65}" presName="sibTrans" presStyleLbl="sibTrans2D1" presStyleIdx="5" presStyleCnt="6"/>
      <dgm:spPr/>
      <dgm:t>
        <a:bodyPr/>
        <a:lstStyle/>
        <a:p>
          <a:endParaRPr lang="zh-TW" altLang="en-US"/>
        </a:p>
      </dgm:t>
    </dgm:pt>
    <dgm:pt modelId="{2E38CC2D-5498-4BE1-816D-B854DC5242E7}" type="pres">
      <dgm:prSet presAssocID="{B1F55872-AF21-4204-AEA3-9E93F5492A5C}" presName="child" presStyleLbl="alignAccFollowNode1" presStyleIdx="5" presStyleCnt="6" custScaleX="224434" custLinFactNeighborY="18198">
        <dgm:presLayoutVars>
          <dgm:chMax val="0"/>
          <dgm:bulletEnabled val="1"/>
        </dgm:presLayoutVars>
      </dgm:prSet>
      <dgm:spPr/>
      <dgm:t>
        <a:bodyPr/>
        <a:lstStyle/>
        <a:p>
          <a:endParaRPr lang="zh-TW" altLang="en-US"/>
        </a:p>
      </dgm:t>
    </dgm:pt>
  </dgm:ptLst>
  <dgm:cxnLst>
    <dgm:cxn modelId="{A57C8C79-AC72-4726-91CB-7FA1FE212FEC}" srcId="{70D74883-F4A7-457C-AD78-181C4716AAFB}" destId="{7EB94231-5418-4961-9677-358A78E859EB}" srcOrd="2" destOrd="0" parTransId="{F7900FBF-5EDD-46A1-8168-B9F9919FA891}" sibTransId="{79FE53D6-6B33-4A8B-AFCA-7CB2D6C7E174}"/>
    <dgm:cxn modelId="{B893FA94-85ED-44C2-82F2-4A7A5DD360C2}" type="presOf" srcId="{57EEDD3F-D1E9-4D5C-B147-397C1BE8357D}" destId="{744CACA3-7E07-449A-A90C-0F0833259368}" srcOrd="0" destOrd="0" presId="urn:microsoft.com/office/officeart/2005/8/layout/lProcess1"/>
    <dgm:cxn modelId="{26BD3C18-7FA6-4A6F-81F1-3C20F74C9F97}" srcId="{70D74883-F4A7-457C-AD78-181C4716AAFB}" destId="{EF646D0C-53B7-4CBB-8B55-DE0DCA0CC161}" srcOrd="1" destOrd="0" parTransId="{3EEE0126-0C70-472A-BD9A-22F17EDBF69C}" sibTransId="{57EEDD3F-D1E9-4D5C-B147-397C1BE8357D}"/>
    <dgm:cxn modelId="{BB8AF093-F98E-47D9-A14D-8FF7BACB5946}" type="presOf" srcId="{70D74883-F4A7-457C-AD78-181C4716AAFB}" destId="{EC5BE4D7-8BD0-48BC-AC16-6A3B6954FE1D}" srcOrd="0" destOrd="0" presId="urn:microsoft.com/office/officeart/2005/8/layout/lProcess1"/>
    <dgm:cxn modelId="{101ECC02-8C85-4738-A2D8-EEAD4CC619D1}" type="presOf" srcId="{3D2F0955-5BD0-445A-8BBD-3B94E611FB6B}" destId="{ACFBEF8A-A995-496E-A79D-B1CE19A4E26B}" srcOrd="0" destOrd="0" presId="urn:microsoft.com/office/officeart/2005/8/layout/lProcess1"/>
    <dgm:cxn modelId="{0A556B0E-C7D2-4DCC-B0B0-1B1A86444456}" type="presOf" srcId="{ABBC4E11-9B86-4E63-9875-9BC805BA1247}" destId="{5A85FD78-34FC-4C53-B4F0-B3227808C1B5}" srcOrd="0" destOrd="0" presId="urn:microsoft.com/office/officeart/2005/8/layout/lProcess1"/>
    <dgm:cxn modelId="{42B9385B-5873-4615-8A19-3332F96EFE61}" type="presOf" srcId="{99E83EE1-9628-4126-8D2F-895EF958877B}" destId="{2E7882A2-765C-4738-8CE6-3147A6E9E94A}" srcOrd="0" destOrd="0" presId="urn:microsoft.com/office/officeart/2005/8/layout/lProcess1"/>
    <dgm:cxn modelId="{4B01E076-0018-4EE8-8FF9-7D4D04E5C522}" type="presOf" srcId="{DCDFF91D-04EA-4A02-8FBF-4A32A93D6041}" destId="{5E8047B3-0FC1-43C8-B99E-17B66F3909BA}" srcOrd="0" destOrd="0" presId="urn:microsoft.com/office/officeart/2005/8/layout/lProcess1"/>
    <dgm:cxn modelId="{EB05FB3D-1E2F-4280-8ABC-DACA65CD3871}" type="presOf" srcId="{6324CF03-F13E-4A7C-A5DF-1BFC1FD045AF}" destId="{61725863-4A07-4153-B4DA-B85EA6FCCD86}" srcOrd="0" destOrd="0" presId="urn:microsoft.com/office/officeart/2005/8/layout/lProcess1"/>
    <dgm:cxn modelId="{544281AC-1CEF-45C9-892E-DCB9783A5E90}" srcId="{70D74883-F4A7-457C-AD78-181C4716AAFB}" destId="{8B793B02-E920-4D44-8EA8-0ECD563A2A01}" srcOrd="4" destOrd="0" parTransId="{13CD0EB5-5CA8-49BC-B41A-9A423DF3345F}" sibTransId="{E4A9B63A-1AE6-49AB-84B4-E2E69FC1CC65}"/>
    <dgm:cxn modelId="{FB6493A4-8A68-4AF5-AC3F-0A899F07D678}" srcId="{70D74883-F4A7-457C-AD78-181C4716AAFB}" destId="{A75AA5D8-47B9-4DF7-84B1-064CC3B9C523}" srcOrd="3" destOrd="0" parTransId="{3735E62B-03BD-4926-BF2E-1A31EE4F1B39}" sibTransId="{6324CF03-F13E-4A7C-A5DF-1BFC1FD045AF}"/>
    <dgm:cxn modelId="{415C2C07-1D02-46E5-88E7-7221E6F8792C}" srcId="{3D2F0955-5BD0-445A-8BBD-3B94E611FB6B}" destId="{70D74883-F4A7-457C-AD78-181C4716AAFB}" srcOrd="0" destOrd="0" parTransId="{4A91D8F4-5EE8-4F28-B1F7-C5B1A4BBA4BD}" sibTransId="{6ADE8581-462C-4EC9-87FD-5412679601EC}"/>
    <dgm:cxn modelId="{E70766F4-0510-4AF7-9D58-1EED143EEB21}" type="presOf" srcId="{EF646D0C-53B7-4CBB-8B55-DE0DCA0CC161}" destId="{0D08906A-B356-4563-BBF3-560E81B297D1}" srcOrd="0" destOrd="0" presId="urn:microsoft.com/office/officeart/2005/8/layout/lProcess1"/>
    <dgm:cxn modelId="{6137DBA1-4ACD-48B9-BC22-5B0384B2FECF}" srcId="{70D74883-F4A7-457C-AD78-181C4716AAFB}" destId="{ABBC4E11-9B86-4E63-9875-9BC805BA1247}" srcOrd="0" destOrd="0" parTransId="{99E83EE1-9628-4126-8D2F-895EF958877B}" sibTransId="{DCDFF91D-04EA-4A02-8FBF-4A32A93D6041}"/>
    <dgm:cxn modelId="{91552F54-6BF1-4D08-8A36-7B0EE6DEC694}" type="presOf" srcId="{79FE53D6-6B33-4A8B-AFCA-7CB2D6C7E174}" destId="{5690B808-6B03-421C-941E-F036FD0F048C}" srcOrd="0" destOrd="0" presId="urn:microsoft.com/office/officeart/2005/8/layout/lProcess1"/>
    <dgm:cxn modelId="{46CA69CF-F312-4246-B2BA-C8734C2A3421}" type="presOf" srcId="{B1F55872-AF21-4204-AEA3-9E93F5492A5C}" destId="{2E38CC2D-5498-4BE1-816D-B854DC5242E7}" srcOrd="0" destOrd="0" presId="urn:microsoft.com/office/officeart/2005/8/layout/lProcess1"/>
    <dgm:cxn modelId="{5E0C1F16-D5A3-488F-80D1-CF7C390DACE6}" type="presOf" srcId="{E4A9B63A-1AE6-49AB-84B4-E2E69FC1CC65}" destId="{00D33197-9206-4219-8653-344CF88FD397}" srcOrd="0" destOrd="0" presId="urn:microsoft.com/office/officeart/2005/8/layout/lProcess1"/>
    <dgm:cxn modelId="{A9C4585B-81F2-4AEA-80CE-01887AB6C068}" type="presOf" srcId="{8B793B02-E920-4D44-8EA8-0ECD563A2A01}" destId="{07EB3731-2B29-41C3-8A6A-DBDA4793F809}" srcOrd="0" destOrd="0" presId="urn:microsoft.com/office/officeart/2005/8/layout/lProcess1"/>
    <dgm:cxn modelId="{8182587C-5463-4077-BAC6-F2C61A12084A}" type="presOf" srcId="{A75AA5D8-47B9-4DF7-84B1-064CC3B9C523}" destId="{5B45CC63-5A59-400F-8C71-F8FDA349B066}" srcOrd="0" destOrd="0" presId="urn:microsoft.com/office/officeart/2005/8/layout/lProcess1"/>
    <dgm:cxn modelId="{23A5E87C-60E7-4153-9FC9-A26C531577AD}" type="presOf" srcId="{7EB94231-5418-4961-9677-358A78E859EB}" destId="{E97A953A-05B7-42AF-BA1B-28CFC04911F4}" srcOrd="0" destOrd="0" presId="urn:microsoft.com/office/officeart/2005/8/layout/lProcess1"/>
    <dgm:cxn modelId="{34D02933-64FD-4436-8D94-A31575D812C7}" srcId="{70D74883-F4A7-457C-AD78-181C4716AAFB}" destId="{B1F55872-AF21-4204-AEA3-9E93F5492A5C}" srcOrd="5" destOrd="0" parTransId="{66C7E3CC-7F10-40D1-948A-BA1933EE00CD}" sibTransId="{022BA5B3-5E66-4B28-9867-FA0D10A0D0CB}"/>
    <dgm:cxn modelId="{C71F31EC-6BE8-4207-9250-51C4B8AC7191}" type="presParOf" srcId="{ACFBEF8A-A995-496E-A79D-B1CE19A4E26B}" destId="{230E80B3-D86F-427C-8632-E33795170AF2}" srcOrd="0" destOrd="0" presId="urn:microsoft.com/office/officeart/2005/8/layout/lProcess1"/>
    <dgm:cxn modelId="{44AD5258-7AEF-45FF-8C33-D0BBB74BE46C}" type="presParOf" srcId="{230E80B3-D86F-427C-8632-E33795170AF2}" destId="{EC5BE4D7-8BD0-48BC-AC16-6A3B6954FE1D}" srcOrd="0" destOrd="0" presId="urn:microsoft.com/office/officeart/2005/8/layout/lProcess1"/>
    <dgm:cxn modelId="{CA320CD7-5230-438B-B2BE-A6D5DBFC67EC}" type="presParOf" srcId="{230E80B3-D86F-427C-8632-E33795170AF2}" destId="{2E7882A2-765C-4738-8CE6-3147A6E9E94A}" srcOrd="1" destOrd="0" presId="urn:microsoft.com/office/officeart/2005/8/layout/lProcess1"/>
    <dgm:cxn modelId="{11910B40-1F27-495F-AA43-B11DAA2D838B}" type="presParOf" srcId="{230E80B3-D86F-427C-8632-E33795170AF2}" destId="{5A85FD78-34FC-4C53-B4F0-B3227808C1B5}" srcOrd="2" destOrd="0" presId="urn:microsoft.com/office/officeart/2005/8/layout/lProcess1"/>
    <dgm:cxn modelId="{D9FA105D-2F2F-4995-9975-B1796DA380B9}" type="presParOf" srcId="{230E80B3-D86F-427C-8632-E33795170AF2}" destId="{5E8047B3-0FC1-43C8-B99E-17B66F3909BA}" srcOrd="3" destOrd="0" presId="urn:microsoft.com/office/officeart/2005/8/layout/lProcess1"/>
    <dgm:cxn modelId="{04E24D81-AC0C-4E91-B2D9-148AD579D3F6}" type="presParOf" srcId="{230E80B3-D86F-427C-8632-E33795170AF2}" destId="{0D08906A-B356-4563-BBF3-560E81B297D1}" srcOrd="4" destOrd="0" presId="urn:microsoft.com/office/officeart/2005/8/layout/lProcess1"/>
    <dgm:cxn modelId="{2CBC2C7C-6FE6-46C0-9120-5538C5FF022B}" type="presParOf" srcId="{230E80B3-D86F-427C-8632-E33795170AF2}" destId="{744CACA3-7E07-449A-A90C-0F0833259368}" srcOrd="5" destOrd="0" presId="urn:microsoft.com/office/officeart/2005/8/layout/lProcess1"/>
    <dgm:cxn modelId="{2B38CD12-DC92-495F-B75E-93445685F138}" type="presParOf" srcId="{230E80B3-D86F-427C-8632-E33795170AF2}" destId="{E97A953A-05B7-42AF-BA1B-28CFC04911F4}" srcOrd="6" destOrd="0" presId="urn:microsoft.com/office/officeart/2005/8/layout/lProcess1"/>
    <dgm:cxn modelId="{205D424E-E05A-4ED8-9EA7-A769AE2C6A15}" type="presParOf" srcId="{230E80B3-D86F-427C-8632-E33795170AF2}" destId="{5690B808-6B03-421C-941E-F036FD0F048C}" srcOrd="7" destOrd="0" presId="urn:microsoft.com/office/officeart/2005/8/layout/lProcess1"/>
    <dgm:cxn modelId="{322FB5CA-7D6D-4027-A4B9-0ED7FDE2330B}" type="presParOf" srcId="{230E80B3-D86F-427C-8632-E33795170AF2}" destId="{5B45CC63-5A59-400F-8C71-F8FDA349B066}" srcOrd="8" destOrd="0" presId="urn:microsoft.com/office/officeart/2005/8/layout/lProcess1"/>
    <dgm:cxn modelId="{B4D0C0DB-7CEF-407E-B2C4-018C93321216}" type="presParOf" srcId="{230E80B3-D86F-427C-8632-E33795170AF2}" destId="{61725863-4A07-4153-B4DA-B85EA6FCCD86}" srcOrd="9" destOrd="0" presId="urn:microsoft.com/office/officeart/2005/8/layout/lProcess1"/>
    <dgm:cxn modelId="{449FFCCD-41EC-4C48-847A-2B1DFC437E6D}" type="presParOf" srcId="{230E80B3-D86F-427C-8632-E33795170AF2}" destId="{07EB3731-2B29-41C3-8A6A-DBDA4793F809}" srcOrd="10" destOrd="0" presId="urn:microsoft.com/office/officeart/2005/8/layout/lProcess1"/>
    <dgm:cxn modelId="{AD6E08B5-A354-4AE5-B3DA-2D7F70BBF16D}" type="presParOf" srcId="{230E80B3-D86F-427C-8632-E33795170AF2}" destId="{00D33197-9206-4219-8653-344CF88FD397}" srcOrd="11" destOrd="0" presId="urn:microsoft.com/office/officeart/2005/8/layout/lProcess1"/>
    <dgm:cxn modelId="{A28D86BF-C953-47C6-8B43-48C511E4C705}" type="presParOf" srcId="{230E80B3-D86F-427C-8632-E33795170AF2}" destId="{2E38CC2D-5498-4BE1-816D-B854DC5242E7}" srcOrd="12" destOrd="0" presId="urn:microsoft.com/office/officeart/2005/8/layout/l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5BE4D7-8BD0-48BC-AC16-6A3B6954FE1D}">
      <dsp:nvSpPr>
        <dsp:cNvPr id="0" name=""/>
        <dsp:cNvSpPr/>
      </dsp:nvSpPr>
      <dsp:spPr>
        <a:xfrm>
          <a:off x="1215476" y="665"/>
          <a:ext cx="5798647" cy="598655"/>
        </a:xfrm>
        <a:prstGeom prst="roundRect">
          <a:avLst>
            <a:gd name="adj" fmla="val 10000"/>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39370" tIns="39370" rIns="39370" bIns="39370" numCol="1" spcCol="1270" anchor="ctr" anchorCtr="0">
          <a:noAutofit/>
        </a:bodyPr>
        <a:lstStyle/>
        <a:p>
          <a:pPr lvl="0" algn="ctr" defTabSz="1377950">
            <a:lnSpc>
              <a:spcPct val="90000"/>
            </a:lnSpc>
            <a:spcBef>
              <a:spcPct val="0"/>
            </a:spcBef>
            <a:spcAft>
              <a:spcPct val="35000"/>
            </a:spcAft>
          </a:pPr>
          <a:r>
            <a:rPr lang="en-US" altLang="zh-TW" sz="3100" kern="1200" dirty="0" smtClean="0"/>
            <a:t>Interaction design process</a:t>
          </a:r>
          <a:endParaRPr lang="zh-TW" altLang="en-US" sz="3100" kern="1200" dirty="0">
            <a:latin typeface="+mj-ea"/>
            <a:ea typeface="+mj-ea"/>
          </a:endParaRPr>
        </a:p>
      </dsp:txBody>
      <dsp:txXfrm>
        <a:off x="1233010" y="18199"/>
        <a:ext cx="5763579" cy="563587"/>
      </dsp:txXfrm>
    </dsp:sp>
    <dsp:sp modelId="{2E7882A2-765C-4738-8CE6-3147A6E9E94A}">
      <dsp:nvSpPr>
        <dsp:cNvPr id="0" name=""/>
        <dsp:cNvSpPr/>
      </dsp:nvSpPr>
      <dsp:spPr>
        <a:xfrm rot="5400000">
          <a:off x="4052885" y="670767"/>
          <a:ext cx="123829" cy="104764"/>
        </a:xfrm>
        <a:prstGeom prst="rightArrow">
          <a:avLst>
            <a:gd name="adj1" fmla="val 66700"/>
            <a:gd name="adj2" fmla="val 50000"/>
          </a:avLst>
        </a:prstGeom>
        <a:solidFill>
          <a:schemeClr val="accent1">
            <a:tint val="60000"/>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sp>
    <dsp:sp modelId="{5A85FD78-34FC-4C53-B4F0-B3227808C1B5}">
      <dsp:nvSpPr>
        <dsp:cNvPr id="0" name=""/>
        <dsp:cNvSpPr/>
      </dsp:nvSpPr>
      <dsp:spPr>
        <a:xfrm>
          <a:off x="1498340" y="846980"/>
          <a:ext cx="5232918" cy="598655"/>
        </a:xfrm>
        <a:prstGeom prst="roundRect">
          <a:avLst>
            <a:gd name="adj" fmla="val 10000"/>
          </a:avLst>
        </a:prstGeom>
        <a:solidFill>
          <a:schemeClr val="accent1">
            <a:alpha val="90000"/>
            <a:tint val="40000"/>
            <a:hueOff val="0"/>
            <a:satOff val="0"/>
            <a:lumOff val="0"/>
            <a:alphaOff val="0"/>
          </a:schemeClr>
        </a:solidFill>
        <a:ln w="9525" cap="flat" cmpd="sng" algn="ctr">
          <a:solidFill>
            <a:schemeClr val="accent1">
              <a:alpha val="90000"/>
              <a:tint val="40000"/>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extrusionH="190500" prstMaterial="dkEdge">
          <a:bevelT w="120650" h="38100" prst="relaxedInset"/>
          <a:bevelB w="120650" h="571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35560" tIns="35560" rIns="35560" bIns="35560" numCol="1" spcCol="1270" anchor="ctr" anchorCtr="0">
          <a:noAutofit/>
        </a:bodyPr>
        <a:lstStyle/>
        <a:p>
          <a:pPr lvl="0" algn="ctr" defTabSz="1244600">
            <a:lnSpc>
              <a:spcPct val="90000"/>
            </a:lnSpc>
            <a:spcBef>
              <a:spcPct val="0"/>
            </a:spcBef>
            <a:spcAft>
              <a:spcPct val="35000"/>
            </a:spcAft>
          </a:pPr>
          <a:r>
            <a:rPr lang="zh-TW" altLang="en-US" sz="2800" kern="1200" dirty="0" smtClean="0">
              <a:latin typeface="+mj-ea"/>
              <a:ea typeface="+mj-ea"/>
            </a:rPr>
            <a:t>脈絡訪查 </a:t>
          </a:r>
          <a:r>
            <a:rPr lang="en-US" altLang="zh-TW" sz="2800" kern="1200" dirty="0" smtClean="0">
              <a:latin typeface="+mj-ea"/>
              <a:ea typeface="+mj-ea"/>
            </a:rPr>
            <a:t>contextual inquiry</a:t>
          </a:r>
          <a:endParaRPr lang="zh-TW" altLang="en-US" sz="2800" b="0" kern="1200" dirty="0">
            <a:latin typeface="+mn-ea"/>
            <a:ea typeface="+mn-ea"/>
          </a:endParaRPr>
        </a:p>
      </dsp:txBody>
      <dsp:txXfrm>
        <a:off x="1515874" y="864514"/>
        <a:ext cx="5197850" cy="563587"/>
      </dsp:txXfrm>
    </dsp:sp>
    <dsp:sp modelId="{5E8047B3-0FC1-43C8-B99E-17B66F3909BA}">
      <dsp:nvSpPr>
        <dsp:cNvPr id="0" name=""/>
        <dsp:cNvSpPr/>
      </dsp:nvSpPr>
      <dsp:spPr>
        <a:xfrm rot="5400000">
          <a:off x="4062417" y="1498017"/>
          <a:ext cx="104764" cy="104764"/>
        </a:xfrm>
        <a:prstGeom prst="rightArrow">
          <a:avLst>
            <a:gd name="adj1" fmla="val 66700"/>
            <a:gd name="adj2" fmla="val 50000"/>
          </a:avLst>
        </a:prstGeom>
        <a:solidFill>
          <a:schemeClr val="accent1">
            <a:tint val="60000"/>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sp>
    <dsp:sp modelId="{0D08906A-B356-4563-BBF3-560E81B297D1}">
      <dsp:nvSpPr>
        <dsp:cNvPr id="0" name=""/>
        <dsp:cNvSpPr/>
      </dsp:nvSpPr>
      <dsp:spPr>
        <a:xfrm>
          <a:off x="1498340" y="1655164"/>
          <a:ext cx="5232918" cy="598655"/>
        </a:xfrm>
        <a:prstGeom prst="roundRect">
          <a:avLst>
            <a:gd name="adj" fmla="val 10000"/>
          </a:avLst>
        </a:prstGeom>
        <a:solidFill>
          <a:schemeClr val="accent1">
            <a:alpha val="90000"/>
            <a:tint val="40000"/>
            <a:hueOff val="0"/>
            <a:satOff val="0"/>
            <a:lumOff val="0"/>
            <a:alphaOff val="0"/>
          </a:schemeClr>
        </a:solidFill>
        <a:ln w="9525" cap="flat" cmpd="sng" algn="ctr">
          <a:solidFill>
            <a:schemeClr val="accent1">
              <a:alpha val="90000"/>
              <a:tint val="40000"/>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extrusionH="190500" prstMaterial="dkEdge">
          <a:bevelT w="120650" h="38100" prst="relaxedInset"/>
          <a:bevelB w="120650" h="571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39370" tIns="39370" rIns="39370" bIns="39370" numCol="1" spcCol="1270" anchor="ctr" anchorCtr="0">
          <a:noAutofit/>
        </a:bodyPr>
        <a:lstStyle/>
        <a:p>
          <a:pPr lvl="0" algn="ctr" defTabSz="1377950">
            <a:lnSpc>
              <a:spcPct val="90000"/>
            </a:lnSpc>
            <a:spcBef>
              <a:spcPct val="0"/>
            </a:spcBef>
            <a:spcAft>
              <a:spcPct val="35000"/>
            </a:spcAft>
          </a:pPr>
          <a:r>
            <a:rPr lang="zh-TW" altLang="en-US" sz="3100" kern="1200" dirty="0" smtClean="0">
              <a:latin typeface="+mn-ea"/>
              <a:ea typeface="+mn-ea"/>
            </a:rPr>
            <a:t>資料詮釋 </a:t>
          </a:r>
          <a:r>
            <a:rPr lang="en-US" altLang="zh-TW" sz="3100" b="0" kern="1200" dirty="0" smtClean="0">
              <a:latin typeface="+mn-ea"/>
              <a:ea typeface="+mn-ea"/>
            </a:rPr>
            <a:t>data interpretation </a:t>
          </a:r>
          <a:endParaRPr lang="zh-TW" altLang="en-US" sz="3100" b="0" kern="1200" dirty="0">
            <a:latin typeface="+mn-ea"/>
            <a:ea typeface="+mn-ea"/>
          </a:endParaRPr>
        </a:p>
      </dsp:txBody>
      <dsp:txXfrm>
        <a:off x="1515874" y="1672698"/>
        <a:ext cx="5197850" cy="563587"/>
      </dsp:txXfrm>
    </dsp:sp>
    <dsp:sp modelId="{744CACA3-7E07-449A-A90C-0F0833259368}">
      <dsp:nvSpPr>
        <dsp:cNvPr id="0" name=""/>
        <dsp:cNvSpPr/>
      </dsp:nvSpPr>
      <dsp:spPr>
        <a:xfrm rot="5400000">
          <a:off x="4062417" y="2306202"/>
          <a:ext cx="104764" cy="104764"/>
        </a:xfrm>
        <a:prstGeom prst="rightArrow">
          <a:avLst>
            <a:gd name="adj1" fmla="val 66700"/>
            <a:gd name="adj2" fmla="val 50000"/>
          </a:avLst>
        </a:prstGeom>
        <a:solidFill>
          <a:schemeClr val="accent1">
            <a:tint val="60000"/>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sp>
    <dsp:sp modelId="{E97A953A-05B7-42AF-BA1B-28CFC04911F4}">
      <dsp:nvSpPr>
        <dsp:cNvPr id="0" name=""/>
        <dsp:cNvSpPr/>
      </dsp:nvSpPr>
      <dsp:spPr>
        <a:xfrm>
          <a:off x="1498340" y="2463349"/>
          <a:ext cx="5232918" cy="598655"/>
        </a:xfrm>
        <a:prstGeom prst="roundRect">
          <a:avLst>
            <a:gd name="adj" fmla="val 10000"/>
          </a:avLst>
        </a:prstGeom>
        <a:solidFill>
          <a:schemeClr val="accent1">
            <a:alpha val="90000"/>
            <a:tint val="40000"/>
            <a:hueOff val="0"/>
            <a:satOff val="0"/>
            <a:lumOff val="0"/>
            <a:alphaOff val="0"/>
          </a:schemeClr>
        </a:solidFill>
        <a:ln w="9525" cap="flat" cmpd="sng" algn="ctr">
          <a:solidFill>
            <a:schemeClr val="accent1">
              <a:alpha val="90000"/>
              <a:tint val="40000"/>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extrusionH="190500" prstMaterial="dkEdge">
          <a:bevelT w="120650" h="38100" prst="relaxedInset"/>
          <a:bevelB w="120650" h="571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35560" tIns="35560" rIns="35560" bIns="35560" numCol="1" spcCol="1270" anchor="ctr" anchorCtr="0">
          <a:noAutofit/>
        </a:bodyPr>
        <a:lstStyle/>
        <a:p>
          <a:pPr lvl="0" algn="ctr" defTabSz="1244600">
            <a:lnSpc>
              <a:spcPct val="90000"/>
            </a:lnSpc>
            <a:spcBef>
              <a:spcPct val="0"/>
            </a:spcBef>
            <a:spcAft>
              <a:spcPct val="35000"/>
            </a:spcAft>
          </a:pPr>
          <a:r>
            <a:rPr lang="zh-TW" altLang="en-US" sz="2800" kern="1200" dirty="0" smtClean="0">
              <a:latin typeface="+mj-ea"/>
              <a:ea typeface="+mj-ea"/>
            </a:rPr>
            <a:t>親和圖表 </a:t>
          </a:r>
          <a:r>
            <a:rPr lang="en-US" altLang="zh-TW" sz="2800" kern="1200" dirty="0" smtClean="0">
              <a:latin typeface="+mj-ea"/>
              <a:ea typeface="+mj-ea"/>
            </a:rPr>
            <a:t>affinity diagram</a:t>
          </a:r>
          <a:r>
            <a:rPr lang="zh-TW" altLang="en-US" sz="2800" kern="1200" dirty="0" smtClean="0">
              <a:latin typeface="+mj-ea"/>
              <a:ea typeface="+mj-ea"/>
            </a:rPr>
            <a:t> </a:t>
          </a:r>
          <a:endParaRPr lang="zh-TW" altLang="en-US" sz="2800" kern="1200" dirty="0">
            <a:latin typeface="+mj-ea"/>
            <a:ea typeface="+mj-ea"/>
          </a:endParaRPr>
        </a:p>
      </dsp:txBody>
      <dsp:txXfrm>
        <a:off x="1515874" y="2480883"/>
        <a:ext cx="5197850" cy="563587"/>
      </dsp:txXfrm>
    </dsp:sp>
    <dsp:sp modelId="{5690B808-6B03-421C-941E-F036FD0F048C}">
      <dsp:nvSpPr>
        <dsp:cNvPr id="0" name=""/>
        <dsp:cNvSpPr/>
      </dsp:nvSpPr>
      <dsp:spPr>
        <a:xfrm rot="5400000">
          <a:off x="4062417" y="3114387"/>
          <a:ext cx="104764" cy="104764"/>
        </a:xfrm>
        <a:prstGeom prst="rightArrow">
          <a:avLst>
            <a:gd name="adj1" fmla="val 66700"/>
            <a:gd name="adj2" fmla="val 50000"/>
          </a:avLst>
        </a:prstGeom>
        <a:solidFill>
          <a:schemeClr val="accent1">
            <a:tint val="60000"/>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sp>
    <dsp:sp modelId="{5B45CC63-5A59-400F-8C71-F8FDA349B066}">
      <dsp:nvSpPr>
        <dsp:cNvPr id="0" name=""/>
        <dsp:cNvSpPr/>
      </dsp:nvSpPr>
      <dsp:spPr>
        <a:xfrm>
          <a:off x="1427615" y="3271534"/>
          <a:ext cx="5374368" cy="598655"/>
        </a:xfrm>
        <a:prstGeom prst="roundRect">
          <a:avLst>
            <a:gd name="adj" fmla="val 10000"/>
          </a:avLst>
        </a:prstGeom>
        <a:solidFill>
          <a:schemeClr val="accent1">
            <a:alpha val="90000"/>
            <a:tint val="40000"/>
            <a:hueOff val="0"/>
            <a:satOff val="0"/>
            <a:lumOff val="0"/>
            <a:alphaOff val="0"/>
          </a:schemeClr>
        </a:solidFill>
        <a:ln w="9525" cap="flat" cmpd="sng" algn="ctr">
          <a:solidFill>
            <a:schemeClr val="accent1">
              <a:alpha val="90000"/>
              <a:tint val="40000"/>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extrusionH="190500" prstMaterial="dkEdge">
          <a:bevelT w="120650" h="38100" prst="relaxedInset"/>
          <a:bevelB w="120650" h="571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35560" tIns="35560" rIns="35560" bIns="35560" numCol="1" spcCol="1270" anchor="ctr" anchorCtr="0">
          <a:noAutofit/>
        </a:bodyPr>
        <a:lstStyle/>
        <a:p>
          <a:pPr lvl="0" algn="ctr" defTabSz="1244600">
            <a:lnSpc>
              <a:spcPct val="90000"/>
            </a:lnSpc>
            <a:spcBef>
              <a:spcPct val="0"/>
            </a:spcBef>
            <a:spcAft>
              <a:spcPct val="35000"/>
            </a:spcAft>
          </a:pPr>
          <a:r>
            <a:rPr lang="zh-TW" altLang="en-US" sz="2800" kern="1200" dirty="0" smtClean="0">
              <a:latin typeface="+mj-ea"/>
              <a:ea typeface="+mj-ea"/>
            </a:rPr>
            <a:t>構想發想 </a:t>
          </a:r>
          <a:r>
            <a:rPr lang="en-US" altLang="zh-TW" sz="2800" kern="1200" dirty="0" smtClean="0">
              <a:latin typeface="+mj-ea"/>
              <a:ea typeface="+mj-ea"/>
            </a:rPr>
            <a:t>generate ideas</a:t>
          </a:r>
          <a:endParaRPr lang="zh-TW" altLang="en-US" sz="2800" kern="1200" dirty="0">
            <a:latin typeface="+mj-ea"/>
            <a:ea typeface="+mj-ea"/>
          </a:endParaRPr>
        </a:p>
      </dsp:txBody>
      <dsp:txXfrm>
        <a:off x="1445149" y="3289068"/>
        <a:ext cx="5339300" cy="563587"/>
      </dsp:txXfrm>
    </dsp:sp>
    <dsp:sp modelId="{61725863-4A07-4153-B4DA-B85EA6FCCD86}">
      <dsp:nvSpPr>
        <dsp:cNvPr id="0" name=""/>
        <dsp:cNvSpPr/>
      </dsp:nvSpPr>
      <dsp:spPr>
        <a:xfrm rot="5400000">
          <a:off x="4081482" y="3903506"/>
          <a:ext cx="66634" cy="104764"/>
        </a:xfrm>
        <a:prstGeom prst="rightArrow">
          <a:avLst>
            <a:gd name="adj1" fmla="val 66700"/>
            <a:gd name="adj2" fmla="val 50000"/>
          </a:avLst>
        </a:prstGeom>
        <a:solidFill>
          <a:schemeClr val="accent1">
            <a:tint val="60000"/>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sp>
    <dsp:sp modelId="{07EB3731-2B29-41C3-8A6A-DBDA4793F809}">
      <dsp:nvSpPr>
        <dsp:cNvPr id="0" name=""/>
        <dsp:cNvSpPr/>
      </dsp:nvSpPr>
      <dsp:spPr>
        <a:xfrm>
          <a:off x="1498340" y="4041588"/>
          <a:ext cx="5232918" cy="598655"/>
        </a:xfrm>
        <a:prstGeom prst="roundRect">
          <a:avLst>
            <a:gd name="adj" fmla="val 10000"/>
          </a:avLst>
        </a:prstGeom>
        <a:solidFill>
          <a:schemeClr val="accent1">
            <a:alpha val="90000"/>
            <a:tint val="40000"/>
            <a:hueOff val="0"/>
            <a:satOff val="0"/>
            <a:lumOff val="0"/>
            <a:alphaOff val="0"/>
          </a:schemeClr>
        </a:solidFill>
        <a:ln w="9525" cap="flat" cmpd="sng" algn="ctr">
          <a:solidFill>
            <a:schemeClr val="accent1">
              <a:alpha val="90000"/>
              <a:tint val="40000"/>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extrusionH="190500" prstMaterial="dkEdge">
          <a:bevelT w="120650" h="38100" prst="relaxedInset"/>
          <a:bevelB w="120650" h="571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35560" tIns="35560" rIns="35560" bIns="35560" numCol="1" spcCol="1270" anchor="ctr" anchorCtr="0">
          <a:noAutofit/>
        </a:bodyPr>
        <a:lstStyle/>
        <a:p>
          <a:pPr lvl="0" algn="ctr" defTabSz="1244600">
            <a:lnSpc>
              <a:spcPct val="90000"/>
            </a:lnSpc>
            <a:spcBef>
              <a:spcPct val="0"/>
            </a:spcBef>
            <a:spcAft>
              <a:spcPct val="35000"/>
            </a:spcAft>
          </a:pPr>
          <a:r>
            <a:rPr lang="zh-TW" altLang="en-US" sz="2800" kern="1200" dirty="0" smtClean="0">
              <a:latin typeface="+mj-ea"/>
              <a:ea typeface="+mj-ea"/>
            </a:rPr>
            <a:t>分鏡腳本 </a:t>
          </a:r>
          <a:r>
            <a:rPr lang="en-US" altLang="zh-TW" sz="2800" kern="1200" dirty="0" smtClean="0">
              <a:latin typeface="+mj-ea"/>
              <a:ea typeface="+mj-ea"/>
            </a:rPr>
            <a:t>story board</a:t>
          </a:r>
          <a:endParaRPr lang="zh-TW" altLang="en-US" sz="2800" kern="1200" dirty="0">
            <a:latin typeface="+mj-ea"/>
            <a:ea typeface="+mj-ea"/>
          </a:endParaRPr>
        </a:p>
      </dsp:txBody>
      <dsp:txXfrm>
        <a:off x="1515874" y="4059122"/>
        <a:ext cx="5197850" cy="563587"/>
      </dsp:txXfrm>
    </dsp:sp>
    <dsp:sp modelId="{00D33197-9206-4219-8653-344CF88FD397}">
      <dsp:nvSpPr>
        <dsp:cNvPr id="0" name=""/>
        <dsp:cNvSpPr/>
      </dsp:nvSpPr>
      <dsp:spPr>
        <a:xfrm rot="5400000">
          <a:off x="4062085" y="4692959"/>
          <a:ext cx="105429" cy="104764"/>
        </a:xfrm>
        <a:prstGeom prst="rightArrow">
          <a:avLst>
            <a:gd name="adj1" fmla="val 66700"/>
            <a:gd name="adj2" fmla="val 50000"/>
          </a:avLst>
        </a:prstGeom>
        <a:solidFill>
          <a:schemeClr val="accent1">
            <a:tint val="60000"/>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sp>
    <dsp:sp modelId="{2E38CC2D-5498-4BE1-816D-B854DC5242E7}">
      <dsp:nvSpPr>
        <dsp:cNvPr id="0" name=""/>
        <dsp:cNvSpPr/>
      </dsp:nvSpPr>
      <dsp:spPr>
        <a:xfrm>
          <a:off x="1427627" y="4850438"/>
          <a:ext cx="5374344" cy="598655"/>
        </a:xfrm>
        <a:prstGeom prst="roundRect">
          <a:avLst>
            <a:gd name="adj" fmla="val 10000"/>
          </a:avLst>
        </a:prstGeom>
        <a:solidFill>
          <a:schemeClr val="accent1">
            <a:alpha val="90000"/>
            <a:tint val="40000"/>
            <a:hueOff val="0"/>
            <a:satOff val="0"/>
            <a:lumOff val="0"/>
            <a:alphaOff val="0"/>
          </a:schemeClr>
        </a:solidFill>
        <a:ln w="9525" cap="flat" cmpd="sng" algn="ctr">
          <a:solidFill>
            <a:schemeClr val="accent1">
              <a:alpha val="90000"/>
              <a:tint val="40000"/>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extrusionH="190500" prstMaterial="dkEdge">
          <a:bevelT w="120650" h="38100" prst="relaxedInset"/>
          <a:bevelB w="120650" h="571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35560" tIns="35560" rIns="35560" bIns="35560" numCol="1" spcCol="1270" anchor="ctr" anchorCtr="0">
          <a:noAutofit/>
        </a:bodyPr>
        <a:lstStyle/>
        <a:p>
          <a:pPr lvl="0" algn="ctr" defTabSz="1244600">
            <a:lnSpc>
              <a:spcPct val="90000"/>
            </a:lnSpc>
            <a:spcBef>
              <a:spcPct val="0"/>
            </a:spcBef>
            <a:spcAft>
              <a:spcPct val="35000"/>
            </a:spcAft>
          </a:pPr>
          <a:r>
            <a:rPr lang="zh-TW" altLang="en-US" sz="2800" kern="1200" dirty="0" smtClean="0">
              <a:latin typeface="+mj-ea"/>
              <a:ea typeface="+mj-ea"/>
            </a:rPr>
            <a:t>原型製作</a:t>
          </a:r>
          <a:r>
            <a:rPr lang="en-US" altLang="zh-TW" sz="2800" kern="1200" dirty="0" smtClean="0">
              <a:latin typeface="+mj-ea"/>
              <a:ea typeface="+mj-ea"/>
            </a:rPr>
            <a:t>design prototype</a:t>
          </a:r>
          <a:endParaRPr lang="zh-TW" altLang="en-US" sz="2800" kern="1200" dirty="0">
            <a:latin typeface="+mj-ea"/>
            <a:ea typeface="+mj-ea"/>
          </a:endParaRPr>
        </a:p>
      </dsp:txBody>
      <dsp:txXfrm>
        <a:off x="1445161" y="4867972"/>
        <a:ext cx="5339276" cy="563587"/>
      </dsp:txXfrm>
    </dsp:sp>
  </dsp:spTree>
</dsp:drawing>
</file>

<file path=ppt/diagrams/layout1.xml><?xml version="1.0" encoding="utf-8"?>
<dgm:layoutDef xmlns:dgm="http://schemas.openxmlformats.org/drawingml/2006/diagram" xmlns:a="http://schemas.openxmlformats.org/drawingml/2006/main" uniqueId="urn:microsoft.com/office/officeart/2005/8/layout/lProcess1">
  <dgm:title val=""/>
  <dgm:desc val=""/>
  <dgm:catLst>
    <dgm:cat type="process" pri="1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0" destId="2" srcOrd="0" destOrd="0"/>
        <dgm:cxn modelId="6" srcId="1" destId="3" srcOrd="1" destOrd="0"/>
        <dgm:cxn modelId="23" srcId="2" destId="21" srcOrd="0" destOrd="0"/>
        <dgm:cxn modelId="24" srcId="2" destId="22" srcOrd="1" destOrd="0"/>
        <dgm:cxn modelId="33" srcId="1" destId="31" srcOrd="0" destOrd="0"/>
      </dgm:cxnLst>
      <dgm:bg/>
      <dgm:whole/>
    </dgm:dataModel>
  </dgm:sampData>
  <dgm:styleData>
    <dgm:dataModel>
      <dgm:ptLst>
        <dgm:pt modelId="0" type="doc"/>
        <dgm:pt modelId="1"/>
        <dgm:pt modelId="11"/>
        <dgm:pt modelId="2"/>
        <dgm:pt modelId="22"/>
      </dgm:ptLst>
      <dgm:cxnLst>
        <dgm:cxn modelId="3" srcId="0" destId="1" srcOrd="0" destOrd="0"/>
        <dgm:cxn modelId="4" srcId="0" destId="2" srcOrd="0" destOrd="0"/>
        <dgm:cxn modelId="5" srcId="1" destId="11" srcOrd="0" destOrd="0"/>
        <dgm:cxn modelId="6" srcId="2" destId="22"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51" srcId="1" destId="11" srcOrd="0" destOrd="0"/>
        <dgm:cxn modelId="61" srcId="2" destId="21" srcOrd="0" destOrd="0"/>
        <dgm:cxn modelId="71" srcId="3" destId="31" srcOrd="0" destOrd="0"/>
        <dgm:cxn modelId="81"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L"/>
          <dgm:param type="vertAlign" val="mid"/>
          <dgm:param type="nodeHorzAlign" val="l"/>
          <dgm:param type="nodeVertAlign" val="t"/>
          <dgm:param type="fallback" val="2D"/>
        </dgm:alg>
      </dgm:if>
      <dgm:else name="Name3">
        <dgm:alg type="lin">
          <dgm:param type="linDir" val="fromR"/>
          <dgm:param type="vertAlign" val="mid"/>
          <dgm:param type="nodeHorzAlign" val="r"/>
          <dgm:param type="nodeVertAlign" val="t"/>
          <dgm:param type="fallback" val="2D"/>
        </dgm:alg>
      </dgm:else>
    </dgm:choose>
    <dgm:shape xmlns:r="http://schemas.openxmlformats.org/officeDocument/2006/relationships" r:blip="">
      <dgm:adjLst/>
    </dgm:shape>
    <dgm:presOf/>
    <dgm:constrLst>
      <dgm:constr type="h" for="des" forName="header" refType="h"/>
      <dgm:constr type="w" for="des" forName="header" refType="h" refFor="des" refForName="header" op="equ" fact="4"/>
      <dgm:constr type="h" for="des" forName="child" refType="h" refFor="des" refForName="header" op="equ"/>
      <dgm:constr type="w" for="des" forName="child" refType="w" refFor="des" refForName="header" op="equ"/>
      <dgm:constr type="w" for="ch" forName="hSp" refType="w" refFor="des" refForName="header" op="equ" fact="0.14"/>
      <dgm:constr type="h" for="des" forName="parTrans" refType="h" refFor="des" refForName="header" op="equ" fact="0.35"/>
      <dgm:constr type="h" for="des" forName="sibTrans" refType="h" refFor="des" refForName="parTrans" op="equ"/>
      <dgm:constr type="primFontSz" for="des" forName="child" op="equ" val="65"/>
      <dgm:constr type="primFontSz" for="des" forName="header" op="equ" val="65"/>
    </dgm:constrLst>
    <dgm:ruleLst/>
    <dgm:forEach name="Name4" axis="ch" ptType="node">
      <dgm:layoutNode name="vertFlow">
        <dgm:choose name="Name5">
          <dgm:if name="Name6" func="var" arg="dir" op="equ" val="norm">
            <dgm:alg type="lin">
              <dgm:param type="linDir" val="fromT"/>
              <dgm:param type="nodeHorzAlign" val="ctr"/>
              <dgm:param type="nodeVertAlign" val="t"/>
              <dgm:param type="fallback" val="2D"/>
            </dgm:alg>
          </dgm:if>
          <dgm:else name="Name7">
            <dgm:alg type="lin">
              <dgm:param type="linDir" val="fromT"/>
              <dgm:param type="nodeHorzAlign" val="ctr"/>
              <dgm:param type="nodeVertAlign" val="t"/>
              <dgm:param type="fallback" val="2D"/>
            </dgm:alg>
          </dgm:else>
        </dgm:choose>
        <dgm:shape xmlns:r="http://schemas.openxmlformats.org/officeDocument/2006/relationships" r:blip="">
          <dgm:adjLst/>
        </dgm:shape>
        <dgm:presOf/>
        <dgm:constrLst/>
        <dgm:ruleLst/>
        <dgm:layoutNode name="header" styleLbl="node1">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8" axis="ch" ptType="parTrans" cnt="1">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w" refType="h"/>
              <dgm:constr type="connDist"/>
              <dgm:constr type="wArH" refType="h" fact="0.25"/>
              <dgm:constr type="hArH" refType="wArH" fact="2"/>
              <dgm:constr type="stemThick" refType="hArH" fact="0.667"/>
              <dgm:constr type="begPad" refType="connDist" fact="0.25"/>
              <dgm:constr type="endPad" refType="connDist" fact="0.25"/>
            </dgm:constrLst>
            <dgm:ruleLst/>
          </dgm:layoutNode>
        </dgm:forEach>
        <dgm:forEach name="Name9" axis="ch" ptType="node">
          <dgm:layoutNode name="child" styleLbl="alignAccFollowNode1">
            <dgm:varLst>
              <dgm:chMax val="0"/>
              <dgm:bulletEnabled val="1"/>
            </dgm:varLst>
            <dgm:alg type="tx"/>
            <dgm:shape xmlns:r="http://schemas.openxmlformats.org/officeDocument/2006/relationships" type="roundRect" r:blip="">
              <dgm:adjLst>
                <dgm:adj idx="1" val="0.1"/>
              </dgm:adjLst>
            </dgm:shape>
            <dgm:presOf axis="desOrSelf" ptType="nod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0" axis="followSib" ptType="sibTrans" cnt="1">
            <dgm:layoutNode name="sibTrans" styleLbl="sibTrans2D1">
              <dgm:alg type="conn">
                <dgm:param type="begPts" val="auto"/>
                <dgm:param type="endPts" val="auto"/>
              </dgm:alg>
              <dgm:shape xmlns:r="http://schemas.openxmlformats.org/officeDocument/2006/relationships" type="conn" r:blip="">
                <dgm:adjLst/>
              </dgm:shape>
              <dgm:presOf axis="self"/>
              <dgm:constrLst>
                <dgm:constr type="w" refType="h"/>
                <dgm:constr type="connDist"/>
                <dgm:constr type="wArH" refType="h" fact="0.25"/>
                <dgm:constr type="hArH" refType="wArH" fact="2"/>
                <dgm:constr type="stemThick" refType="hArH" fact="0.667"/>
                <dgm:constr type="begPad" refType="w" fact="0.25"/>
                <dgm:constr type="endPad" refType="w" fact="0.25"/>
              </dgm:constrLst>
              <dgm:ruleLst/>
            </dgm:layoutNode>
          </dgm:forEach>
        </dgm:forEach>
      </dgm:layoutNode>
      <dgm:choose name="Name11">
        <dgm:if name="Name12" axis="self" ptType="node" func="revPos" op="gte" val="2">
          <dgm:layoutNode name="hSp">
            <dgm:alg type="sp"/>
            <dgm:shape xmlns:r="http://schemas.openxmlformats.org/officeDocument/2006/relationships" r:blip="">
              <dgm:adjLst/>
            </dgm:shape>
            <dgm:presOf/>
            <dgm:constrLst/>
            <dgm:ruleLst/>
          </dgm:layoutNode>
        </dgm:if>
        <dgm:else name="Name13"/>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222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US" altLang="zh-TW"/>
          </a:p>
        </p:txBody>
      </p:sp>
      <p:sp>
        <p:nvSpPr>
          <p:cNvPr id="52227"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ltLang="zh-TW"/>
          </a:p>
        </p:txBody>
      </p:sp>
      <p:sp>
        <p:nvSpPr>
          <p:cNvPr id="50180"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52229"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TW" altLang="en-US" noProof="0" smtClean="0"/>
              <a:t>按一下以編輯母片</a:t>
            </a:r>
          </a:p>
          <a:p>
            <a:pPr lvl="1"/>
            <a:r>
              <a:rPr lang="zh-TW" altLang="en-US" noProof="0" smtClean="0"/>
              <a:t>第二層</a:t>
            </a:r>
          </a:p>
          <a:p>
            <a:pPr lvl="2"/>
            <a:r>
              <a:rPr lang="zh-TW" altLang="en-US" noProof="0" smtClean="0"/>
              <a:t>第三層</a:t>
            </a:r>
          </a:p>
          <a:p>
            <a:pPr lvl="3"/>
            <a:r>
              <a:rPr lang="zh-TW" altLang="en-US" noProof="0" smtClean="0"/>
              <a:t>第四層</a:t>
            </a:r>
          </a:p>
          <a:p>
            <a:pPr lvl="4"/>
            <a:r>
              <a:rPr lang="zh-TW" altLang="en-US" noProof="0" smtClean="0"/>
              <a:t>第五層</a:t>
            </a:r>
          </a:p>
        </p:txBody>
      </p:sp>
      <p:sp>
        <p:nvSpPr>
          <p:cNvPr id="52230"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US" altLang="zh-TW"/>
          </a:p>
        </p:txBody>
      </p:sp>
      <p:sp>
        <p:nvSpPr>
          <p:cNvPr id="52231"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4FE013E1-5DF5-4930-ADFA-E313263632B1}" type="slidenum">
              <a:rPr lang="en-US" altLang="zh-TW"/>
              <a:pPr>
                <a:defRPr/>
              </a:pPr>
              <a:t>‹#›</a:t>
            </a:fld>
            <a:endParaRPr lang="en-US" altLang="zh-TW"/>
          </a:p>
        </p:txBody>
      </p:sp>
    </p:spTree>
    <p:extLst>
      <p:ext uri="{BB962C8B-B14F-4D97-AF65-F5344CB8AC3E}">
        <p14:creationId xmlns:p14="http://schemas.microsoft.com/office/powerpoint/2010/main" val="213058552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Arial" charset="0"/>
        <a:ea typeface="新細明體" pitchFamily="18" charset="-120"/>
        <a:cs typeface="+mn-cs"/>
      </a:defRPr>
    </a:lvl1pPr>
    <a:lvl2pPr marL="457200" algn="l" rtl="0" eaLnBrk="0" fontAlgn="base" hangingPunct="0">
      <a:spcBef>
        <a:spcPct val="30000"/>
      </a:spcBef>
      <a:spcAft>
        <a:spcPct val="0"/>
      </a:spcAft>
      <a:defRPr kumimoji="1" sz="1200" kern="1200">
        <a:solidFill>
          <a:schemeClr val="tx1"/>
        </a:solidFill>
        <a:latin typeface="Arial" charset="0"/>
        <a:ea typeface="新細明體" pitchFamily="18" charset="-120"/>
        <a:cs typeface="+mn-cs"/>
      </a:defRPr>
    </a:lvl2pPr>
    <a:lvl3pPr marL="914400" algn="l" rtl="0" eaLnBrk="0" fontAlgn="base" hangingPunct="0">
      <a:spcBef>
        <a:spcPct val="30000"/>
      </a:spcBef>
      <a:spcAft>
        <a:spcPct val="0"/>
      </a:spcAft>
      <a:defRPr kumimoji="1" sz="1200" kern="1200">
        <a:solidFill>
          <a:schemeClr val="tx1"/>
        </a:solidFill>
        <a:latin typeface="Arial" charset="0"/>
        <a:ea typeface="新細明體" pitchFamily="18" charset="-120"/>
        <a:cs typeface="+mn-cs"/>
      </a:defRPr>
    </a:lvl3pPr>
    <a:lvl4pPr marL="1371600" algn="l" rtl="0" eaLnBrk="0" fontAlgn="base" hangingPunct="0">
      <a:spcBef>
        <a:spcPct val="30000"/>
      </a:spcBef>
      <a:spcAft>
        <a:spcPct val="0"/>
      </a:spcAft>
      <a:defRPr kumimoji="1" sz="1200" kern="1200">
        <a:solidFill>
          <a:schemeClr val="tx1"/>
        </a:solidFill>
        <a:latin typeface="Arial" charset="0"/>
        <a:ea typeface="新細明體" pitchFamily="18" charset="-120"/>
        <a:cs typeface="+mn-cs"/>
      </a:defRPr>
    </a:lvl4pPr>
    <a:lvl5pPr marL="1828800" algn="l" rtl="0" eaLnBrk="0" fontAlgn="base" hangingPunct="0">
      <a:spcBef>
        <a:spcPct val="30000"/>
      </a:spcBef>
      <a:spcAft>
        <a:spcPct val="0"/>
      </a:spcAft>
      <a:defRPr kumimoji="1" sz="1200" kern="1200">
        <a:solidFill>
          <a:schemeClr val="tx1"/>
        </a:solidFill>
        <a:latin typeface="Arial" charset="0"/>
        <a:ea typeface="新細明體" pitchFamily="18" charset="-12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投影片圖像版面配置區 1"/>
          <p:cNvSpPr>
            <a:spLocks noGrp="1" noRot="1" noChangeAspect="1" noTextEdit="1"/>
          </p:cNvSpPr>
          <p:nvPr>
            <p:ph type="sldImg"/>
          </p:nvPr>
        </p:nvSpPr>
        <p:spPr>
          <a:ln/>
        </p:spPr>
      </p:sp>
      <p:sp>
        <p:nvSpPr>
          <p:cNvPr id="55299" name="備忘稿版面配置區 2"/>
          <p:cNvSpPr>
            <a:spLocks noGrp="1"/>
          </p:cNvSpPr>
          <p:nvPr>
            <p:ph type="body" idx="1"/>
          </p:nvPr>
        </p:nvSpPr>
        <p:spPr>
          <a:noFill/>
          <a:ln/>
        </p:spPr>
        <p:txBody>
          <a:bodyPr/>
          <a:lstStyle/>
          <a:p>
            <a:r>
              <a:rPr lang="en-US" altLang="zh-TW" smtClean="0"/>
              <a:t>There are lots of questions you should ask about each task.  Here are a few, with examples relevant to the OMS send-message task.</a:t>
            </a:r>
          </a:p>
          <a:p>
            <a:endParaRPr lang="zh-TW" altLang="en-US" smtClean="0"/>
          </a:p>
        </p:txBody>
      </p:sp>
      <p:sp>
        <p:nvSpPr>
          <p:cNvPr id="55300" name="投影片編號版面配置區 3"/>
          <p:cNvSpPr>
            <a:spLocks noGrp="1"/>
          </p:cNvSpPr>
          <p:nvPr>
            <p:ph type="sldNum" sz="quarter" idx="5"/>
          </p:nvPr>
        </p:nvSpPr>
        <p:spPr>
          <a:noFill/>
        </p:spPr>
        <p:txBody>
          <a:bodyPr/>
          <a:lstStyle/>
          <a:p>
            <a:fld id="{10E3B878-B437-4812-9CB5-17469E2D1641}" type="slidenum">
              <a:rPr lang="en-US" altLang="zh-TW" smtClean="0"/>
              <a:pPr/>
              <a:t>3</a:t>
            </a:fld>
            <a:endParaRPr lang="en-US" altLang="zh-TW"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投影片圖像版面配置區 1"/>
          <p:cNvSpPr>
            <a:spLocks noGrp="1" noRot="1" noChangeAspect="1" noTextEdit="1"/>
          </p:cNvSpPr>
          <p:nvPr>
            <p:ph type="sldImg"/>
          </p:nvPr>
        </p:nvSpPr>
        <p:spPr>
          <a:ln/>
        </p:spPr>
      </p:sp>
      <p:sp>
        <p:nvSpPr>
          <p:cNvPr id="57347" name="備忘稿版面配置區 2"/>
          <p:cNvSpPr>
            <a:spLocks noGrp="1"/>
          </p:cNvSpPr>
          <p:nvPr>
            <p:ph type="body" idx="1"/>
          </p:nvPr>
        </p:nvSpPr>
        <p:spPr>
          <a:noFill/>
          <a:ln/>
        </p:spPr>
        <p:txBody>
          <a:bodyPr/>
          <a:lstStyle/>
          <a:p>
            <a:r>
              <a:rPr lang="en-US" altLang="zh-TW" smtClean="0"/>
              <a:t>http://courses.csail.mit.edu/6.831/archive/2008/lectures/L5-task-analysis/ </a:t>
            </a:r>
          </a:p>
          <a:p>
            <a:endParaRPr lang="en-US" altLang="zh-TW" smtClean="0"/>
          </a:p>
          <a:p>
            <a:r>
              <a:rPr lang="en-US" altLang="zh-TW" smtClean="0"/>
              <a:t>User, task, and domain analysis feed into a more general process called </a:t>
            </a:r>
            <a:r>
              <a:rPr lang="en-US" altLang="zh-TW" b="1" smtClean="0"/>
              <a:t>requirements analysis</a:t>
            </a:r>
            <a:r>
              <a:rPr lang="en-US" altLang="zh-TW" smtClean="0"/>
              <a:t>, which creates a description of the system’s desired functionality and other nonfunctional properties (like performance, security, and capacity).  </a:t>
            </a:r>
          </a:p>
          <a:p>
            <a:r>
              <a:rPr lang="en-US" altLang="zh-TW" smtClean="0"/>
              <a:t>Without user and task analysis, requirements are incomplete.  User and task analysis contribute additional functionality (tasks that users need to do which may not be evident from the domain analysis alone) as well as nonfunctional requirements about </a:t>
            </a:r>
            <a:r>
              <a:rPr lang="en-US" altLang="zh-TW" b="1" smtClean="0"/>
              <a:t>usability</a:t>
            </a:r>
            <a:r>
              <a:rPr lang="en-US" altLang="zh-TW" smtClean="0"/>
              <a:t> (like how efficient certain tasks should be, or how learnable, or how memorable) and about other properties of the system as well (e.g., accommodation for users’ physical limitations, like impaired vision).  For example, here are some of the requirements in the OMS system that might come out of user and task analysis:</a:t>
            </a:r>
          </a:p>
          <a:p>
            <a:endParaRPr lang="zh-TW" altLang="en-US" smtClean="0"/>
          </a:p>
        </p:txBody>
      </p:sp>
      <p:sp>
        <p:nvSpPr>
          <p:cNvPr id="57348" name="投影片編號版面配置區 3"/>
          <p:cNvSpPr>
            <a:spLocks noGrp="1"/>
          </p:cNvSpPr>
          <p:nvPr>
            <p:ph type="sldNum" sz="quarter" idx="5"/>
          </p:nvPr>
        </p:nvSpPr>
        <p:spPr>
          <a:noFill/>
        </p:spPr>
        <p:txBody>
          <a:bodyPr/>
          <a:lstStyle/>
          <a:p>
            <a:fld id="{6178D7DF-50B2-40B9-AC37-2052F28616BF}" type="slidenum">
              <a:rPr lang="en-US" altLang="zh-TW" smtClean="0"/>
              <a:pPr/>
              <a:t>5</a:t>
            </a:fld>
            <a:endParaRPr lang="en-US" altLang="zh-TW"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投影片圖像版面配置區 1"/>
          <p:cNvSpPr>
            <a:spLocks noGrp="1" noRot="1" noChangeAspect="1" noTextEdit="1"/>
          </p:cNvSpPr>
          <p:nvPr>
            <p:ph type="sldImg"/>
          </p:nvPr>
        </p:nvSpPr>
        <p:spPr>
          <a:ln/>
        </p:spPr>
      </p:sp>
      <p:sp>
        <p:nvSpPr>
          <p:cNvPr id="58371" name="備忘稿版面配置區 2"/>
          <p:cNvSpPr>
            <a:spLocks noGrp="1"/>
          </p:cNvSpPr>
          <p:nvPr>
            <p:ph type="body" idx="1"/>
          </p:nvPr>
        </p:nvSpPr>
        <p:spPr>
          <a:noFill/>
          <a:ln/>
        </p:spPr>
        <p:txBody>
          <a:bodyPr/>
          <a:lstStyle/>
          <a:p>
            <a:pPr eaLnBrk="1" hangingPunct="1"/>
            <a:endParaRPr lang="zh-TW" altLang="en-US" smtClean="0"/>
          </a:p>
        </p:txBody>
      </p:sp>
      <p:sp>
        <p:nvSpPr>
          <p:cNvPr id="58372" name="投影片編號版面配置區 3"/>
          <p:cNvSpPr>
            <a:spLocks noGrp="1"/>
          </p:cNvSpPr>
          <p:nvPr>
            <p:ph type="sldNum" sz="quarter" idx="5"/>
          </p:nvPr>
        </p:nvSpPr>
        <p:spPr>
          <a:noFill/>
        </p:spPr>
        <p:txBody>
          <a:bodyPr/>
          <a:lstStyle/>
          <a:p>
            <a:fld id="{A3E281DE-3FE9-46D3-BDC2-35C3603C6E94}" type="slidenum">
              <a:rPr lang="en-US" altLang="zh-TW" smtClean="0"/>
              <a:pPr/>
              <a:t>7</a:t>
            </a:fld>
            <a:endParaRPr lang="en-US" altLang="zh-TW"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p:spPr>
        <p:txBody>
          <a:bodyPr/>
          <a:lstStyle/>
          <a:p>
            <a:fld id="{E4A40A1B-CD83-42BC-A200-7D7A10BC03D6}" type="slidenum">
              <a:rPr lang="en-US" altLang="zh-TW" smtClean="0"/>
              <a:pPr/>
              <a:t>15</a:t>
            </a:fld>
            <a:endParaRPr lang="en-US" altLang="zh-TW" smtClean="0"/>
          </a:p>
        </p:txBody>
      </p:sp>
      <p:sp>
        <p:nvSpPr>
          <p:cNvPr id="59395" name="Rectangle 2"/>
          <p:cNvSpPr>
            <a:spLocks noGrp="1" noRot="1" noChangeAspect="1" noChangeArrowheads="1" noTextEdit="1"/>
          </p:cNvSpPr>
          <p:nvPr>
            <p:ph type="sldImg"/>
          </p:nvPr>
        </p:nvSpPr>
        <p:spPr>
          <a:ln/>
        </p:spPr>
      </p:sp>
      <p:sp>
        <p:nvSpPr>
          <p:cNvPr id="59396" name="Rectangle 3"/>
          <p:cNvSpPr>
            <a:spLocks noGrp="1" noChangeArrowheads="1"/>
          </p:cNvSpPr>
          <p:nvPr>
            <p:ph type="body" idx="1"/>
          </p:nvPr>
        </p:nvSpPr>
        <p:spPr>
          <a:noFill/>
          <a:ln/>
        </p:spPr>
        <p:txBody>
          <a:bodyPr/>
          <a:lstStyle/>
          <a:p>
            <a:pPr eaLnBrk="1" hangingPunct="1"/>
            <a:r>
              <a:rPr lang="zh-TW" altLang="en-US" smtClean="0"/>
              <a:t>協</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r>
              <a:rPr lang="en-US" altLang="zh-TW" dirty="0" smtClean="0"/>
              <a:t>944</a:t>
            </a:r>
            <a:endParaRPr lang="zh-TW" altLang="en-US" dirty="0"/>
          </a:p>
        </p:txBody>
      </p:sp>
      <p:sp>
        <p:nvSpPr>
          <p:cNvPr id="4" name="投影片編號版面配置區 3"/>
          <p:cNvSpPr>
            <a:spLocks noGrp="1"/>
          </p:cNvSpPr>
          <p:nvPr>
            <p:ph type="sldNum" sz="quarter" idx="10"/>
          </p:nvPr>
        </p:nvSpPr>
        <p:spPr/>
        <p:txBody>
          <a:bodyPr/>
          <a:lstStyle/>
          <a:p>
            <a:pPr>
              <a:defRPr/>
            </a:pPr>
            <a:fld id="{4FE013E1-5DF5-4930-ADFA-E313263632B1}" type="slidenum">
              <a:rPr lang="en-US" altLang="zh-TW" smtClean="0"/>
              <a:pPr>
                <a:defRPr/>
              </a:pPr>
              <a:t>16</a:t>
            </a:fld>
            <a:endParaRPr lang="en-US" altLang="zh-TW"/>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r>
              <a:rPr lang="en-US" altLang="zh-TW" dirty="0" smtClean="0"/>
              <a:t>946</a:t>
            </a:r>
            <a:endParaRPr lang="zh-TW" altLang="en-US" dirty="0"/>
          </a:p>
        </p:txBody>
      </p:sp>
      <p:sp>
        <p:nvSpPr>
          <p:cNvPr id="4" name="投影片編號版面配置區 3"/>
          <p:cNvSpPr>
            <a:spLocks noGrp="1"/>
          </p:cNvSpPr>
          <p:nvPr>
            <p:ph type="sldNum" sz="quarter" idx="10"/>
          </p:nvPr>
        </p:nvSpPr>
        <p:spPr/>
        <p:txBody>
          <a:bodyPr/>
          <a:lstStyle/>
          <a:p>
            <a:pPr>
              <a:defRPr/>
            </a:pPr>
            <a:fld id="{4FE013E1-5DF5-4930-ADFA-E313263632B1}" type="slidenum">
              <a:rPr lang="en-US" altLang="zh-TW" smtClean="0"/>
              <a:pPr>
                <a:defRPr/>
              </a:pPr>
              <a:t>21</a:t>
            </a:fld>
            <a:endParaRPr lang="en-US" altLang="zh-TW"/>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r>
              <a:rPr lang="en-US" altLang="zh-TW" dirty="0" smtClean="0"/>
              <a:t>948</a:t>
            </a:r>
            <a:endParaRPr lang="zh-TW" altLang="en-US" dirty="0"/>
          </a:p>
        </p:txBody>
      </p:sp>
      <p:sp>
        <p:nvSpPr>
          <p:cNvPr id="4" name="投影片編號版面配置區 3"/>
          <p:cNvSpPr>
            <a:spLocks noGrp="1"/>
          </p:cNvSpPr>
          <p:nvPr>
            <p:ph type="sldNum" sz="quarter" idx="10"/>
          </p:nvPr>
        </p:nvSpPr>
        <p:spPr/>
        <p:txBody>
          <a:bodyPr/>
          <a:lstStyle/>
          <a:p>
            <a:pPr>
              <a:defRPr/>
            </a:pPr>
            <a:fld id="{4FE013E1-5DF5-4930-ADFA-E313263632B1}" type="slidenum">
              <a:rPr lang="en-US" altLang="zh-TW" smtClean="0"/>
              <a:pPr>
                <a:defRPr/>
              </a:pPr>
              <a:t>28</a:t>
            </a:fld>
            <a:endParaRPr lang="en-US" altLang="zh-TW"/>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dirty="0"/>
          </a:p>
        </p:txBody>
      </p:sp>
      <p:sp>
        <p:nvSpPr>
          <p:cNvPr id="4" name="投影片編號版面配置區 3"/>
          <p:cNvSpPr>
            <a:spLocks noGrp="1"/>
          </p:cNvSpPr>
          <p:nvPr>
            <p:ph type="sldNum" sz="quarter" idx="10"/>
          </p:nvPr>
        </p:nvSpPr>
        <p:spPr/>
        <p:txBody>
          <a:bodyPr/>
          <a:lstStyle/>
          <a:p>
            <a:pPr>
              <a:defRPr/>
            </a:pPr>
            <a:fld id="{4FE013E1-5DF5-4930-ADFA-E313263632B1}" type="slidenum">
              <a:rPr lang="en-US" altLang="zh-TW" smtClean="0"/>
              <a:pPr>
                <a:defRPr/>
              </a:pPr>
              <a:t>31</a:t>
            </a:fld>
            <a:endParaRPr lang="en-US" altLang="zh-TW"/>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dirty="0"/>
          </a:p>
        </p:txBody>
      </p:sp>
      <p:sp>
        <p:nvSpPr>
          <p:cNvPr id="4" name="投影片編號版面配置區 3"/>
          <p:cNvSpPr>
            <a:spLocks noGrp="1"/>
          </p:cNvSpPr>
          <p:nvPr>
            <p:ph type="sldNum" sz="quarter" idx="10"/>
          </p:nvPr>
        </p:nvSpPr>
        <p:spPr/>
        <p:txBody>
          <a:bodyPr/>
          <a:lstStyle/>
          <a:p>
            <a:pPr>
              <a:defRPr/>
            </a:pPr>
            <a:fld id="{4FE013E1-5DF5-4930-ADFA-E313263632B1}" type="slidenum">
              <a:rPr lang="en-US" altLang="zh-TW" smtClean="0"/>
              <a:pPr>
                <a:defRPr/>
              </a:pPr>
              <a:t>32</a:t>
            </a:fld>
            <a:endParaRPr lang="en-US" altLang="zh-TW"/>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r>
              <a:rPr lang="en-US" altLang="zh-TW" sz="1200" b="1" u="sng" dirty="0" smtClean="0">
                <a:solidFill>
                  <a:srgbClr val="0000FF"/>
                </a:solidFill>
                <a:effectLst>
                  <a:outerShdw blurRad="38100" dist="38100" dir="2700000" algn="tl">
                    <a:srgbClr val="000000">
                      <a:alpha val="43137"/>
                    </a:srgbClr>
                  </a:outerShdw>
                </a:effectLst>
              </a:rPr>
              <a:t>P.596</a:t>
            </a:r>
            <a:endParaRPr lang="zh-TW" altLang="en-US" dirty="0"/>
          </a:p>
        </p:txBody>
      </p:sp>
      <p:sp>
        <p:nvSpPr>
          <p:cNvPr id="4" name="投影片編號版面配置區 3"/>
          <p:cNvSpPr>
            <a:spLocks noGrp="1"/>
          </p:cNvSpPr>
          <p:nvPr>
            <p:ph type="sldNum" sz="quarter" idx="10"/>
          </p:nvPr>
        </p:nvSpPr>
        <p:spPr/>
        <p:txBody>
          <a:bodyPr/>
          <a:lstStyle/>
          <a:p>
            <a:pPr>
              <a:defRPr/>
            </a:pPr>
            <a:fld id="{4FE013E1-5DF5-4930-ADFA-E313263632B1}" type="slidenum">
              <a:rPr lang="en-US" altLang="zh-TW" smtClean="0"/>
              <a:pPr>
                <a:defRPr/>
              </a:pPr>
              <a:t>33</a:t>
            </a:fld>
            <a:endParaRPr lang="en-US" altLang="zh-TW"/>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標題投影片">
    <p:spTree>
      <p:nvGrpSpPr>
        <p:cNvPr id="1" name=""/>
        <p:cNvGrpSpPr/>
        <p:nvPr/>
      </p:nvGrpSpPr>
      <p:grpSpPr>
        <a:xfrm>
          <a:off x="0" y="0"/>
          <a:ext cx="0" cy="0"/>
          <a:chOff x="0" y="0"/>
          <a:chExt cx="0" cy="0"/>
        </a:xfrm>
      </p:grpSpPr>
      <p:sp>
        <p:nvSpPr>
          <p:cNvPr id="4" name="Freeform 7"/>
          <p:cNvSpPr>
            <a:spLocks noChangeArrowheads="1"/>
          </p:cNvSpPr>
          <p:nvPr/>
        </p:nvSpPr>
        <p:spPr bwMode="auto">
          <a:xfrm>
            <a:off x="609600" y="1219200"/>
            <a:ext cx="7924800" cy="914400"/>
          </a:xfrm>
          <a:custGeom>
            <a:avLst/>
            <a:gdLst/>
            <a:ahLst/>
            <a:cxnLst>
              <a:cxn ang="0">
                <a:pos x="0" y="1000"/>
              </a:cxn>
              <a:cxn ang="0">
                <a:pos x="0" y="0"/>
              </a:cxn>
              <a:cxn ang="0">
                <a:pos x="1000" y="0"/>
              </a:cxn>
            </a:cxnLst>
            <a:rect l="0" t="0" r="r" b="b"/>
            <a:pathLst>
              <a:path w="1000" h="1000">
                <a:moveTo>
                  <a:pt x="0" y="1000"/>
                </a:moveTo>
                <a:lnTo>
                  <a:pt x="0" y="0"/>
                </a:lnTo>
                <a:lnTo>
                  <a:pt x="1000" y="0"/>
                </a:lnTo>
              </a:path>
            </a:pathLst>
          </a:custGeom>
          <a:noFill/>
          <a:ln w="25400" cap="flat" cmpd="sng">
            <a:solidFill>
              <a:schemeClr val="accent1"/>
            </a:solidFill>
            <a:prstDash val="solid"/>
            <a:miter lim="800000"/>
            <a:headEnd/>
            <a:tailEnd/>
          </a:ln>
        </p:spPr>
        <p:txBody>
          <a:bodyPr/>
          <a:lstStyle/>
          <a:p>
            <a:pPr>
              <a:defRPr/>
            </a:pPr>
            <a:endParaRPr lang="zh-TW" altLang="en-US"/>
          </a:p>
        </p:txBody>
      </p:sp>
      <p:sp>
        <p:nvSpPr>
          <p:cNvPr id="5" name="Line 8"/>
          <p:cNvSpPr>
            <a:spLocks noChangeShapeType="1"/>
          </p:cNvSpPr>
          <p:nvPr/>
        </p:nvSpPr>
        <p:spPr bwMode="auto">
          <a:xfrm>
            <a:off x="1981200" y="3962400"/>
            <a:ext cx="6511925" cy="0"/>
          </a:xfrm>
          <a:prstGeom prst="line">
            <a:avLst/>
          </a:prstGeom>
          <a:noFill/>
          <a:ln w="19050">
            <a:solidFill>
              <a:schemeClr val="accent1"/>
            </a:solidFill>
            <a:round/>
            <a:headEnd/>
            <a:tailEnd/>
          </a:ln>
          <a:effectLst/>
        </p:spPr>
        <p:txBody>
          <a:bodyPr/>
          <a:lstStyle/>
          <a:p>
            <a:pPr>
              <a:defRPr/>
            </a:pPr>
            <a:endParaRPr lang="zh-TW" altLang="en-US"/>
          </a:p>
        </p:txBody>
      </p:sp>
      <p:sp>
        <p:nvSpPr>
          <p:cNvPr id="40962" name="Rectangle 2"/>
          <p:cNvSpPr>
            <a:spLocks noGrp="1" noChangeArrowheads="1"/>
          </p:cNvSpPr>
          <p:nvPr>
            <p:ph type="ctrTitle"/>
          </p:nvPr>
        </p:nvSpPr>
        <p:spPr>
          <a:xfrm>
            <a:off x="914400" y="1524000"/>
            <a:ext cx="7623175" cy="1752600"/>
          </a:xfrm>
        </p:spPr>
        <p:txBody>
          <a:bodyPr/>
          <a:lstStyle>
            <a:lvl1pPr>
              <a:defRPr sz="5000"/>
            </a:lvl1pPr>
          </a:lstStyle>
          <a:p>
            <a:r>
              <a:rPr lang="zh-TW" altLang="en-US"/>
              <a:t>按一下以編輯母片標題樣式</a:t>
            </a:r>
          </a:p>
        </p:txBody>
      </p:sp>
      <p:sp>
        <p:nvSpPr>
          <p:cNvPr id="40963" name="Rectangle 3"/>
          <p:cNvSpPr>
            <a:spLocks noGrp="1" noChangeArrowheads="1"/>
          </p:cNvSpPr>
          <p:nvPr>
            <p:ph type="subTitle" idx="1"/>
          </p:nvPr>
        </p:nvSpPr>
        <p:spPr>
          <a:xfrm>
            <a:off x="1981200" y="3962400"/>
            <a:ext cx="6553200" cy="1752600"/>
          </a:xfrm>
        </p:spPr>
        <p:txBody>
          <a:bodyPr/>
          <a:lstStyle>
            <a:lvl1pPr marL="0" indent="0">
              <a:buFont typeface="Wingdings" pitchFamily="2" charset="2"/>
              <a:buNone/>
              <a:defRPr sz="2800"/>
            </a:lvl1pPr>
          </a:lstStyle>
          <a:p>
            <a:r>
              <a:rPr lang="zh-TW" altLang="en-US"/>
              <a:t>按一下以編輯母片副標題樣式</a:t>
            </a:r>
          </a:p>
        </p:txBody>
      </p:sp>
      <p:sp>
        <p:nvSpPr>
          <p:cNvPr id="6" name="Rectangle 4"/>
          <p:cNvSpPr>
            <a:spLocks noGrp="1" noChangeArrowheads="1"/>
          </p:cNvSpPr>
          <p:nvPr>
            <p:ph type="dt" sz="half" idx="10"/>
          </p:nvPr>
        </p:nvSpPr>
        <p:spPr/>
        <p:txBody>
          <a:bodyPr/>
          <a:lstStyle>
            <a:lvl1pPr>
              <a:defRPr/>
            </a:lvl1pPr>
          </a:lstStyle>
          <a:p>
            <a:pPr>
              <a:defRPr/>
            </a:pPr>
            <a:endParaRPr lang="en-US" altLang="zh-TW"/>
          </a:p>
        </p:txBody>
      </p:sp>
      <p:sp>
        <p:nvSpPr>
          <p:cNvPr id="7" name="Rectangle 5"/>
          <p:cNvSpPr>
            <a:spLocks noGrp="1" noChangeArrowheads="1"/>
          </p:cNvSpPr>
          <p:nvPr>
            <p:ph type="ftr" sz="quarter" idx="11"/>
          </p:nvPr>
        </p:nvSpPr>
        <p:spPr>
          <a:xfrm>
            <a:off x="3124200" y="6243638"/>
            <a:ext cx="2895600" cy="457200"/>
          </a:xfrm>
        </p:spPr>
        <p:txBody>
          <a:bodyPr/>
          <a:lstStyle>
            <a:lvl1pPr>
              <a:defRPr/>
            </a:lvl1pPr>
          </a:lstStyle>
          <a:p>
            <a:pPr>
              <a:defRPr/>
            </a:pPr>
            <a:endParaRPr lang="en-US" altLang="zh-TW"/>
          </a:p>
        </p:txBody>
      </p:sp>
      <p:sp>
        <p:nvSpPr>
          <p:cNvPr id="8" name="Rectangle 6"/>
          <p:cNvSpPr>
            <a:spLocks noGrp="1" noChangeArrowheads="1"/>
          </p:cNvSpPr>
          <p:nvPr>
            <p:ph type="sldNum" sz="quarter" idx="12"/>
          </p:nvPr>
        </p:nvSpPr>
        <p:spPr/>
        <p:txBody>
          <a:bodyPr/>
          <a:lstStyle>
            <a:lvl1pPr>
              <a:defRPr/>
            </a:lvl1pPr>
          </a:lstStyle>
          <a:p>
            <a:pPr>
              <a:defRPr/>
            </a:pPr>
            <a:fld id="{C917A73D-2D8E-4552-B1A8-B5540668FF3A}" type="slidenum">
              <a:rPr lang="en-US" altLang="zh-TW"/>
              <a:pPr>
                <a:defRPr/>
              </a:pPr>
              <a:t>‹#›</a:t>
            </a:fld>
            <a:endParaRPr lang="en-US" altLang="zh-TW"/>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TW"/>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TW"/>
          </a:p>
        </p:txBody>
      </p:sp>
      <p:sp>
        <p:nvSpPr>
          <p:cNvPr id="6" name="Rectangle 6"/>
          <p:cNvSpPr>
            <a:spLocks noGrp="1" noChangeArrowheads="1"/>
          </p:cNvSpPr>
          <p:nvPr>
            <p:ph type="sldNum" sz="quarter" idx="12"/>
          </p:nvPr>
        </p:nvSpPr>
        <p:spPr>
          <a:ln/>
        </p:spPr>
        <p:txBody>
          <a:bodyPr/>
          <a:lstStyle>
            <a:lvl1pPr>
              <a:defRPr/>
            </a:lvl1pPr>
          </a:lstStyle>
          <a:p>
            <a:pPr>
              <a:defRPr/>
            </a:pPr>
            <a:fld id="{12E00E1D-2E5C-46F3-A24F-4A83B6169687}" type="slidenum">
              <a:rPr lang="en-US" altLang="zh-TW"/>
              <a:pPr>
                <a:defRPr/>
              </a:pPr>
              <a:t>‹#›</a:t>
            </a:fld>
            <a:endParaRPr lang="en-US" altLang="zh-TW"/>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lstStyle>
            <a:lvl1pPr algn="l">
              <a:defRPr sz="4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TW" altLang="en-US" smtClean="0"/>
              <a:t>按一下以編輯母片文字樣式</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TW"/>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TW"/>
          </a:p>
        </p:txBody>
      </p:sp>
      <p:sp>
        <p:nvSpPr>
          <p:cNvPr id="6" name="Rectangle 6"/>
          <p:cNvSpPr>
            <a:spLocks noGrp="1" noChangeArrowheads="1"/>
          </p:cNvSpPr>
          <p:nvPr>
            <p:ph type="sldNum" sz="quarter" idx="12"/>
          </p:nvPr>
        </p:nvSpPr>
        <p:spPr>
          <a:ln/>
        </p:spPr>
        <p:txBody>
          <a:bodyPr/>
          <a:lstStyle>
            <a:lvl1pPr>
              <a:defRPr/>
            </a:lvl1pPr>
          </a:lstStyle>
          <a:p>
            <a:pPr>
              <a:defRPr/>
            </a:pPr>
            <a:fld id="{BA1A30C1-9068-423D-8542-16DB1FAC8D95}" type="slidenum">
              <a:rPr lang="en-US" altLang="zh-TW"/>
              <a:pPr>
                <a:defRPr/>
              </a:pPr>
              <a:t>‹#›</a:t>
            </a:fld>
            <a:endParaRPr lang="en-US" altLang="zh-TW"/>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457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648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TW"/>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TW"/>
          </a:p>
        </p:txBody>
      </p:sp>
      <p:sp>
        <p:nvSpPr>
          <p:cNvPr id="7" name="Rectangle 6"/>
          <p:cNvSpPr>
            <a:spLocks noGrp="1" noChangeArrowheads="1"/>
          </p:cNvSpPr>
          <p:nvPr>
            <p:ph type="sldNum" sz="quarter" idx="12"/>
          </p:nvPr>
        </p:nvSpPr>
        <p:spPr>
          <a:ln/>
        </p:spPr>
        <p:txBody>
          <a:bodyPr/>
          <a:lstStyle>
            <a:lvl1pPr>
              <a:defRPr/>
            </a:lvl1pPr>
          </a:lstStyle>
          <a:p>
            <a:pPr>
              <a:defRPr/>
            </a:pPr>
            <a:fld id="{C9FB9CEC-5322-4F68-B1A6-7E8F9DDF49F1}" type="slidenum">
              <a:rPr lang="en-US" altLang="zh-TW"/>
              <a:pPr>
                <a:defRPr/>
              </a:pPr>
              <a:t>‹#›</a:t>
            </a:fld>
            <a:endParaRPr lang="en-US" altLang="zh-TW"/>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1143000"/>
          </a:xfrm>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zh-TW"/>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zh-TW"/>
          </a:p>
        </p:txBody>
      </p:sp>
      <p:sp>
        <p:nvSpPr>
          <p:cNvPr id="9" name="Rectangle 6"/>
          <p:cNvSpPr>
            <a:spLocks noGrp="1" noChangeArrowheads="1"/>
          </p:cNvSpPr>
          <p:nvPr>
            <p:ph type="sldNum" sz="quarter" idx="12"/>
          </p:nvPr>
        </p:nvSpPr>
        <p:spPr>
          <a:ln/>
        </p:spPr>
        <p:txBody>
          <a:bodyPr/>
          <a:lstStyle>
            <a:lvl1pPr>
              <a:defRPr/>
            </a:lvl1pPr>
          </a:lstStyle>
          <a:p>
            <a:pPr>
              <a:defRPr/>
            </a:pPr>
            <a:fld id="{D43C87A1-E67E-4644-B0A7-80FE1578F5FE}" type="slidenum">
              <a:rPr lang="en-US" altLang="zh-TW"/>
              <a:pPr>
                <a:defRPr/>
              </a:pPr>
              <a:t>‹#›</a:t>
            </a:fld>
            <a:endParaRPr lang="en-US" altLang="zh-TW"/>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zh-TW"/>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TW"/>
          </a:p>
        </p:txBody>
      </p:sp>
      <p:sp>
        <p:nvSpPr>
          <p:cNvPr id="5" name="Rectangle 6"/>
          <p:cNvSpPr>
            <a:spLocks noGrp="1" noChangeArrowheads="1"/>
          </p:cNvSpPr>
          <p:nvPr>
            <p:ph type="sldNum" sz="quarter" idx="12"/>
          </p:nvPr>
        </p:nvSpPr>
        <p:spPr>
          <a:ln/>
        </p:spPr>
        <p:txBody>
          <a:bodyPr/>
          <a:lstStyle>
            <a:lvl1pPr>
              <a:defRPr/>
            </a:lvl1pPr>
          </a:lstStyle>
          <a:p>
            <a:pPr>
              <a:defRPr/>
            </a:pPr>
            <a:fld id="{6DAC9559-6D15-4F5C-8A9A-06E254A4CD82}" type="slidenum">
              <a:rPr lang="en-US" altLang="zh-TW"/>
              <a:pPr>
                <a:defRPr/>
              </a:pPr>
              <a:t>‹#›</a:t>
            </a:fld>
            <a:endParaRPr lang="en-US" altLang="zh-TW"/>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zh-TW"/>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zh-TW"/>
          </a:p>
        </p:txBody>
      </p:sp>
      <p:sp>
        <p:nvSpPr>
          <p:cNvPr id="4" name="Rectangle 6"/>
          <p:cNvSpPr>
            <a:spLocks noGrp="1" noChangeArrowheads="1"/>
          </p:cNvSpPr>
          <p:nvPr>
            <p:ph type="sldNum" sz="quarter" idx="12"/>
          </p:nvPr>
        </p:nvSpPr>
        <p:spPr>
          <a:ln/>
        </p:spPr>
        <p:txBody>
          <a:bodyPr/>
          <a:lstStyle>
            <a:lvl1pPr>
              <a:defRPr/>
            </a:lvl1pPr>
          </a:lstStyle>
          <a:p>
            <a:pPr>
              <a:defRPr/>
            </a:pPr>
            <a:fld id="{D637A62C-7F67-4E14-ADEE-5B8C9256A77C}" type="slidenum">
              <a:rPr lang="en-US" altLang="zh-TW"/>
              <a:pPr>
                <a:defRPr/>
              </a:pPr>
              <a:t>‹#›</a:t>
            </a:fld>
            <a:endParaRPr lang="en-US" altLang="zh-TW"/>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TW"/>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TW"/>
          </a:p>
        </p:txBody>
      </p:sp>
      <p:sp>
        <p:nvSpPr>
          <p:cNvPr id="7" name="Rectangle 6"/>
          <p:cNvSpPr>
            <a:spLocks noGrp="1" noChangeArrowheads="1"/>
          </p:cNvSpPr>
          <p:nvPr>
            <p:ph type="sldNum" sz="quarter" idx="12"/>
          </p:nvPr>
        </p:nvSpPr>
        <p:spPr>
          <a:ln/>
        </p:spPr>
        <p:txBody>
          <a:bodyPr/>
          <a:lstStyle>
            <a:lvl1pPr>
              <a:defRPr/>
            </a:lvl1pPr>
          </a:lstStyle>
          <a:p>
            <a:pPr>
              <a:defRPr/>
            </a:pPr>
            <a:fld id="{7C1DDC3A-B06D-450A-9B22-8724FB5127B8}" type="slidenum">
              <a:rPr lang="en-US" altLang="zh-TW"/>
              <a:pPr>
                <a:defRPr/>
              </a:pPr>
              <a:t>‹#›</a:t>
            </a:fld>
            <a:endParaRPr lang="en-US" altLang="zh-TW"/>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TW" altLang="en-US" noProof="0" smtClean="0"/>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TW"/>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TW"/>
          </a:p>
        </p:txBody>
      </p:sp>
      <p:sp>
        <p:nvSpPr>
          <p:cNvPr id="7" name="Rectangle 6"/>
          <p:cNvSpPr>
            <a:spLocks noGrp="1" noChangeArrowheads="1"/>
          </p:cNvSpPr>
          <p:nvPr>
            <p:ph type="sldNum" sz="quarter" idx="12"/>
          </p:nvPr>
        </p:nvSpPr>
        <p:spPr>
          <a:ln/>
        </p:spPr>
        <p:txBody>
          <a:bodyPr/>
          <a:lstStyle>
            <a:lvl1pPr>
              <a:defRPr/>
            </a:lvl1pPr>
          </a:lstStyle>
          <a:p>
            <a:pPr>
              <a:defRPr/>
            </a:pPr>
            <a:fld id="{02B7F1FE-3826-4E24-B90C-9DD44B630798}" type="slidenum">
              <a:rPr lang="en-US" altLang="zh-TW"/>
              <a:pPr>
                <a:defRPr/>
              </a:pPr>
              <a:t>‹#›</a:t>
            </a:fld>
            <a:endParaRPr lang="en-US" altLang="zh-TW"/>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TW"/>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TW"/>
          </a:p>
        </p:txBody>
      </p:sp>
      <p:sp>
        <p:nvSpPr>
          <p:cNvPr id="6" name="Rectangle 6"/>
          <p:cNvSpPr>
            <a:spLocks noGrp="1" noChangeArrowheads="1"/>
          </p:cNvSpPr>
          <p:nvPr>
            <p:ph type="sldNum" sz="quarter" idx="12"/>
          </p:nvPr>
        </p:nvSpPr>
        <p:spPr>
          <a:ln/>
        </p:spPr>
        <p:txBody>
          <a:bodyPr/>
          <a:lstStyle>
            <a:lvl1pPr>
              <a:defRPr/>
            </a:lvl1pPr>
          </a:lstStyle>
          <a:p>
            <a:pPr>
              <a:defRPr/>
            </a:pPr>
            <a:fld id="{31BFE0FF-F862-4DB7-920D-2C0C592AB10D}" type="slidenum">
              <a:rPr lang="en-US" altLang="zh-TW"/>
              <a:pPr>
                <a:defRPr/>
              </a:pPr>
              <a:t>‹#›</a:t>
            </a:fld>
            <a:endParaRPr lang="en-US" altLang="zh-TW"/>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7813"/>
            <a:ext cx="2057400" cy="5853112"/>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457200" y="277813"/>
            <a:ext cx="6019800" cy="5853112"/>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TW"/>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TW"/>
          </a:p>
        </p:txBody>
      </p:sp>
      <p:sp>
        <p:nvSpPr>
          <p:cNvPr id="6" name="Rectangle 6"/>
          <p:cNvSpPr>
            <a:spLocks noGrp="1" noChangeArrowheads="1"/>
          </p:cNvSpPr>
          <p:nvPr>
            <p:ph type="sldNum" sz="quarter" idx="12"/>
          </p:nvPr>
        </p:nvSpPr>
        <p:spPr>
          <a:ln/>
        </p:spPr>
        <p:txBody>
          <a:bodyPr/>
          <a:lstStyle>
            <a:lvl1pPr>
              <a:defRPr/>
            </a:lvl1pPr>
          </a:lstStyle>
          <a:p>
            <a:pPr>
              <a:defRPr/>
            </a:pPr>
            <a:fld id="{72F8F6E0-E5A2-4971-92C0-6ADC5DC8DD4B}" type="slidenum">
              <a:rPr lang="en-US" altLang="zh-TW"/>
              <a:pPr>
                <a:defRPr/>
              </a:pPr>
              <a:t>‹#›</a:t>
            </a:fld>
            <a:endParaRPr lang="en-US" altLang="zh-TW"/>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物件">
    <p:spTree>
      <p:nvGrpSpPr>
        <p:cNvPr id="1" name=""/>
        <p:cNvGrpSpPr/>
        <p:nvPr/>
      </p:nvGrpSpPr>
      <p:grpSpPr>
        <a:xfrm>
          <a:off x="0" y="0"/>
          <a:ext cx="0" cy="0"/>
          <a:chOff x="0" y="0"/>
          <a:chExt cx="0" cy="0"/>
        </a:xfrm>
      </p:grpSpPr>
      <p:sp>
        <p:nvSpPr>
          <p:cNvPr id="2" name="內容版面配置區 1"/>
          <p:cNvSpPr>
            <a:spLocks noGrp="1"/>
          </p:cNvSpPr>
          <p:nvPr>
            <p:ph/>
          </p:nvPr>
        </p:nvSpPr>
        <p:spPr>
          <a:xfrm>
            <a:off x="457200" y="277813"/>
            <a:ext cx="8229600" cy="5853112"/>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zh-TW"/>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TW"/>
          </a:p>
        </p:txBody>
      </p:sp>
      <p:sp>
        <p:nvSpPr>
          <p:cNvPr id="5" name="Rectangle 6"/>
          <p:cNvSpPr>
            <a:spLocks noGrp="1" noChangeArrowheads="1"/>
          </p:cNvSpPr>
          <p:nvPr>
            <p:ph type="sldNum" sz="quarter" idx="12"/>
          </p:nvPr>
        </p:nvSpPr>
        <p:spPr>
          <a:ln/>
        </p:spPr>
        <p:txBody>
          <a:bodyPr/>
          <a:lstStyle>
            <a:lvl1pPr>
              <a:defRPr/>
            </a:lvl1pPr>
          </a:lstStyle>
          <a:p>
            <a:pPr>
              <a:defRPr/>
            </a:pPr>
            <a:fld id="{3DBFC2A8-2654-4603-A4BE-A9C8BFB225D4}" type="slidenum">
              <a:rPr lang="en-US" altLang="zh-TW"/>
              <a:pPr>
                <a:defRPr/>
              </a:pPr>
              <a:t>‹#›</a:t>
            </a:fld>
            <a:endParaRPr lang="en-US" altLang="zh-TW"/>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bl" preserve="1">
  <p:cSld name="標題及表格">
    <p:spTree>
      <p:nvGrpSpPr>
        <p:cNvPr id="1" name=""/>
        <p:cNvGrpSpPr/>
        <p:nvPr/>
      </p:nvGrpSpPr>
      <p:grpSpPr>
        <a:xfrm>
          <a:off x="0" y="0"/>
          <a:ext cx="0" cy="0"/>
          <a:chOff x="0" y="0"/>
          <a:chExt cx="0" cy="0"/>
        </a:xfrm>
      </p:grpSpPr>
      <p:sp>
        <p:nvSpPr>
          <p:cNvPr id="2" name="標題 1"/>
          <p:cNvSpPr>
            <a:spLocks noGrp="1"/>
          </p:cNvSpPr>
          <p:nvPr>
            <p:ph type="title"/>
          </p:nvPr>
        </p:nvSpPr>
        <p:spPr>
          <a:xfrm>
            <a:off x="457200" y="277813"/>
            <a:ext cx="8229600" cy="1139825"/>
          </a:xfrm>
        </p:spPr>
        <p:txBody>
          <a:bodyPr/>
          <a:lstStyle/>
          <a:p>
            <a:r>
              <a:rPr lang="zh-TW" altLang="en-US" smtClean="0"/>
              <a:t>按一下以編輯母片標題樣式</a:t>
            </a:r>
            <a:endParaRPr lang="zh-TW" altLang="en-US"/>
          </a:p>
        </p:txBody>
      </p:sp>
      <p:sp>
        <p:nvSpPr>
          <p:cNvPr id="3" name="表格版面配置區 2"/>
          <p:cNvSpPr>
            <a:spLocks noGrp="1"/>
          </p:cNvSpPr>
          <p:nvPr>
            <p:ph type="tbl" idx="1"/>
          </p:nvPr>
        </p:nvSpPr>
        <p:spPr>
          <a:xfrm>
            <a:off x="457200" y="1600200"/>
            <a:ext cx="8229600" cy="4530725"/>
          </a:xfrm>
        </p:spPr>
        <p:txBody>
          <a:bodyPr/>
          <a:lstStyle/>
          <a:p>
            <a:pPr lvl="0"/>
            <a:endParaRPr lang="zh-TW" altLang="en-US" noProof="0" smtClean="0"/>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TW"/>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TW"/>
          </a:p>
        </p:txBody>
      </p:sp>
      <p:sp>
        <p:nvSpPr>
          <p:cNvPr id="6" name="Rectangle 6"/>
          <p:cNvSpPr>
            <a:spLocks noGrp="1" noChangeArrowheads="1"/>
          </p:cNvSpPr>
          <p:nvPr>
            <p:ph type="sldNum" sz="quarter" idx="12"/>
          </p:nvPr>
        </p:nvSpPr>
        <p:spPr>
          <a:ln/>
        </p:spPr>
        <p:txBody>
          <a:bodyPr/>
          <a:lstStyle>
            <a:lvl1pPr>
              <a:defRPr/>
            </a:lvl1pPr>
          </a:lstStyle>
          <a:p>
            <a:pPr>
              <a:defRPr/>
            </a:pPr>
            <a:fld id="{AAE0D8A7-0C4C-461A-8115-70CF1AAD76A2}" type="slidenum">
              <a:rPr lang="en-US" altLang="zh-TW"/>
              <a:pPr>
                <a:defRPr/>
              </a:pPr>
              <a:t>‹#›</a:t>
            </a:fld>
            <a:endParaRPr lang="en-US" altLang="zh-TW"/>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7813"/>
            <a:ext cx="8229600" cy="113982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TW" altLang="en-US" smtClean="0"/>
              <a:t>按一下以編輯母片標題樣式</a:t>
            </a:r>
          </a:p>
        </p:txBody>
      </p:sp>
      <p:sp>
        <p:nvSpPr>
          <p:cNvPr id="1027" name="Rectangle 3"/>
          <p:cNvSpPr>
            <a:spLocks noGrp="1" noChangeArrowheads="1"/>
          </p:cNvSpPr>
          <p:nvPr>
            <p:ph type="body" idx="1"/>
          </p:nvPr>
        </p:nvSpPr>
        <p:spPr bwMode="auto">
          <a:xfrm>
            <a:off x="457200" y="1600200"/>
            <a:ext cx="8229600" cy="453072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TW" altLang="en-US" smtClean="0"/>
              <a:t>按一下以編輯母片</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p>
        </p:txBody>
      </p:sp>
      <p:sp>
        <p:nvSpPr>
          <p:cNvPr id="39940" name="Rectangle 4"/>
          <p:cNvSpPr>
            <a:spLocks noGrp="1" noChangeArrowheads="1"/>
          </p:cNvSpPr>
          <p:nvPr>
            <p:ph type="dt" sz="half" idx="2"/>
          </p:nvPr>
        </p:nvSpPr>
        <p:spPr bwMode="auto">
          <a:xfrm>
            <a:off x="457200" y="6243638"/>
            <a:ext cx="2133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kumimoji="0" sz="1200">
                <a:latin typeface="+mj-lt"/>
              </a:defRPr>
            </a:lvl1pPr>
          </a:lstStyle>
          <a:p>
            <a:pPr>
              <a:defRPr/>
            </a:pPr>
            <a:endParaRPr lang="en-US" altLang="zh-TW"/>
          </a:p>
        </p:txBody>
      </p:sp>
      <p:sp>
        <p:nvSpPr>
          <p:cNvPr id="39941"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a:defRPr kumimoji="0" sz="1200">
                <a:latin typeface="+mj-lt"/>
              </a:defRPr>
            </a:lvl1pPr>
          </a:lstStyle>
          <a:p>
            <a:pPr>
              <a:defRPr/>
            </a:pPr>
            <a:endParaRPr lang="en-US" altLang="zh-TW"/>
          </a:p>
        </p:txBody>
      </p:sp>
      <p:sp>
        <p:nvSpPr>
          <p:cNvPr id="39942" name="Rectangle 6"/>
          <p:cNvSpPr>
            <a:spLocks noGrp="1" noChangeArrowheads="1"/>
          </p:cNvSpPr>
          <p:nvPr>
            <p:ph type="sldNum" sz="quarter" idx="4"/>
          </p:nvPr>
        </p:nvSpPr>
        <p:spPr bwMode="auto">
          <a:xfrm>
            <a:off x="6553200" y="6243638"/>
            <a:ext cx="2133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kumimoji="0" sz="1200">
                <a:latin typeface="+mj-lt"/>
              </a:defRPr>
            </a:lvl1pPr>
          </a:lstStyle>
          <a:p>
            <a:pPr>
              <a:defRPr/>
            </a:pPr>
            <a:fld id="{1C868486-0741-4AFD-B133-1D8EC5EBF4E9}" type="slidenum">
              <a:rPr lang="en-US" altLang="zh-TW"/>
              <a:pPr>
                <a:defRPr/>
              </a:pPr>
              <a:t>‹#›</a:t>
            </a:fld>
            <a:endParaRPr lang="en-US" altLang="zh-TW"/>
          </a:p>
        </p:txBody>
      </p:sp>
      <p:sp>
        <p:nvSpPr>
          <p:cNvPr id="39943" name="Freeform 7"/>
          <p:cNvSpPr>
            <a:spLocks noChangeArrowheads="1"/>
          </p:cNvSpPr>
          <p:nvPr/>
        </p:nvSpPr>
        <p:spPr bwMode="auto">
          <a:xfrm>
            <a:off x="381000" y="228600"/>
            <a:ext cx="8229600" cy="609600"/>
          </a:xfrm>
          <a:custGeom>
            <a:avLst/>
            <a:gdLst/>
            <a:ahLst/>
            <a:cxnLst>
              <a:cxn ang="0">
                <a:pos x="0" y="1000"/>
              </a:cxn>
              <a:cxn ang="0">
                <a:pos x="0" y="0"/>
              </a:cxn>
              <a:cxn ang="0">
                <a:pos x="1000" y="0"/>
              </a:cxn>
            </a:cxnLst>
            <a:rect l="0" t="0" r="r" b="b"/>
            <a:pathLst>
              <a:path w="1000" h="1000">
                <a:moveTo>
                  <a:pt x="0" y="1000"/>
                </a:moveTo>
                <a:lnTo>
                  <a:pt x="0" y="0"/>
                </a:lnTo>
                <a:lnTo>
                  <a:pt x="1000" y="0"/>
                </a:lnTo>
              </a:path>
            </a:pathLst>
          </a:custGeom>
          <a:noFill/>
          <a:ln w="19050" cap="flat" cmpd="sng">
            <a:solidFill>
              <a:schemeClr val="accent1"/>
            </a:solidFill>
            <a:prstDash val="solid"/>
            <a:miter lim="800000"/>
            <a:headEnd/>
            <a:tailEnd/>
          </a:ln>
        </p:spPr>
        <p:txBody>
          <a:bodyPr/>
          <a:lstStyle/>
          <a:p>
            <a:pPr>
              <a:defRPr/>
            </a:pPr>
            <a:endParaRPr lang="zh-TW" altLang="en-US"/>
          </a:p>
        </p:txBody>
      </p:sp>
      <p:sp>
        <p:nvSpPr>
          <p:cNvPr id="39944" name="Line 8"/>
          <p:cNvSpPr>
            <a:spLocks noChangeShapeType="1"/>
          </p:cNvSpPr>
          <p:nvPr/>
        </p:nvSpPr>
        <p:spPr bwMode="auto">
          <a:xfrm>
            <a:off x="457200" y="6172200"/>
            <a:ext cx="8229600" cy="0"/>
          </a:xfrm>
          <a:prstGeom prst="line">
            <a:avLst/>
          </a:prstGeom>
          <a:noFill/>
          <a:ln w="19050">
            <a:solidFill>
              <a:schemeClr val="accent1"/>
            </a:solidFill>
            <a:round/>
            <a:headEnd/>
            <a:tailEnd/>
          </a:ln>
          <a:effectLst/>
        </p:spPr>
        <p:txBody>
          <a:bodyPr/>
          <a:lstStyle/>
          <a:p>
            <a:pPr>
              <a:defRPr/>
            </a:pPr>
            <a:endParaRPr lang="zh-TW" altLang="en-US"/>
          </a:p>
        </p:txBody>
      </p:sp>
    </p:spTree>
  </p:cSld>
  <p:clrMap bg1="lt1" tx1="dk1" bg2="lt2" tx2="dk2" accent1="accent1" accent2="accent2" accent3="accent3" accent4="accent4" accent5="accent5" accent6="accent6" hlink="hlink" folHlink="folHlink"/>
  <p:sldLayoutIdLst>
    <p:sldLayoutId id="2147483728"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 id="2147483726" r:id="rId12"/>
    <p:sldLayoutId id="2147483727" r:id="rId13"/>
  </p:sldLayoutIdLst>
  <p:timing>
    <p:tnLst>
      <p:par>
        <p:cTn id="1" dur="indefinite" restart="never" nodeType="tmRoot"/>
      </p:par>
    </p:tnLst>
  </p:timing>
  <p:hf hdr="0" ftr="0" dt="0"/>
  <p:txStyles>
    <p:titleStyle>
      <a:lvl1pPr algn="l" rtl="0" eaLnBrk="0" fontAlgn="base" hangingPunct="0">
        <a:spcBef>
          <a:spcPct val="0"/>
        </a:spcBef>
        <a:spcAft>
          <a:spcPct val="0"/>
        </a:spcAft>
        <a:defRPr kumimoji="1" sz="4200">
          <a:solidFill>
            <a:schemeClr val="tx2"/>
          </a:solidFill>
          <a:latin typeface="+mj-lt"/>
          <a:ea typeface="+mj-ea"/>
          <a:cs typeface="+mj-cs"/>
        </a:defRPr>
      </a:lvl1pPr>
      <a:lvl2pPr algn="l" rtl="0" eaLnBrk="0" fontAlgn="base" hangingPunct="0">
        <a:spcBef>
          <a:spcPct val="0"/>
        </a:spcBef>
        <a:spcAft>
          <a:spcPct val="0"/>
        </a:spcAft>
        <a:defRPr kumimoji="1" sz="4200">
          <a:solidFill>
            <a:schemeClr val="tx2"/>
          </a:solidFill>
          <a:latin typeface="Garamond" pitchFamily="18" charset="0"/>
          <a:ea typeface="新細明體" pitchFamily="18" charset="-120"/>
        </a:defRPr>
      </a:lvl2pPr>
      <a:lvl3pPr algn="l" rtl="0" eaLnBrk="0" fontAlgn="base" hangingPunct="0">
        <a:spcBef>
          <a:spcPct val="0"/>
        </a:spcBef>
        <a:spcAft>
          <a:spcPct val="0"/>
        </a:spcAft>
        <a:defRPr kumimoji="1" sz="4200">
          <a:solidFill>
            <a:schemeClr val="tx2"/>
          </a:solidFill>
          <a:latin typeface="Garamond" pitchFamily="18" charset="0"/>
          <a:ea typeface="新細明體" pitchFamily="18" charset="-120"/>
        </a:defRPr>
      </a:lvl3pPr>
      <a:lvl4pPr algn="l" rtl="0" eaLnBrk="0" fontAlgn="base" hangingPunct="0">
        <a:spcBef>
          <a:spcPct val="0"/>
        </a:spcBef>
        <a:spcAft>
          <a:spcPct val="0"/>
        </a:spcAft>
        <a:defRPr kumimoji="1" sz="4200">
          <a:solidFill>
            <a:schemeClr val="tx2"/>
          </a:solidFill>
          <a:latin typeface="Garamond" pitchFamily="18" charset="0"/>
          <a:ea typeface="新細明體" pitchFamily="18" charset="-120"/>
        </a:defRPr>
      </a:lvl4pPr>
      <a:lvl5pPr algn="l" rtl="0" eaLnBrk="0" fontAlgn="base" hangingPunct="0">
        <a:spcBef>
          <a:spcPct val="0"/>
        </a:spcBef>
        <a:spcAft>
          <a:spcPct val="0"/>
        </a:spcAft>
        <a:defRPr kumimoji="1" sz="4200">
          <a:solidFill>
            <a:schemeClr val="tx2"/>
          </a:solidFill>
          <a:latin typeface="Garamond" pitchFamily="18" charset="0"/>
          <a:ea typeface="新細明體" pitchFamily="18" charset="-120"/>
        </a:defRPr>
      </a:lvl5pPr>
      <a:lvl6pPr marL="457200" algn="l" rtl="0" fontAlgn="base">
        <a:spcBef>
          <a:spcPct val="0"/>
        </a:spcBef>
        <a:spcAft>
          <a:spcPct val="0"/>
        </a:spcAft>
        <a:defRPr kumimoji="1" sz="4200">
          <a:solidFill>
            <a:schemeClr val="tx2"/>
          </a:solidFill>
          <a:latin typeface="Garamond" pitchFamily="18" charset="0"/>
          <a:ea typeface="新細明體" pitchFamily="18" charset="-120"/>
        </a:defRPr>
      </a:lvl6pPr>
      <a:lvl7pPr marL="914400" algn="l" rtl="0" fontAlgn="base">
        <a:spcBef>
          <a:spcPct val="0"/>
        </a:spcBef>
        <a:spcAft>
          <a:spcPct val="0"/>
        </a:spcAft>
        <a:defRPr kumimoji="1" sz="4200">
          <a:solidFill>
            <a:schemeClr val="tx2"/>
          </a:solidFill>
          <a:latin typeface="Garamond" pitchFamily="18" charset="0"/>
          <a:ea typeface="新細明體" pitchFamily="18" charset="-120"/>
        </a:defRPr>
      </a:lvl7pPr>
      <a:lvl8pPr marL="1371600" algn="l" rtl="0" fontAlgn="base">
        <a:spcBef>
          <a:spcPct val="0"/>
        </a:spcBef>
        <a:spcAft>
          <a:spcPct val="0"/>
        </a:spcAft>
        <a:defRPr kumimoji="1" sz="4200">
          <a:solidFill>
            <a:schemeClr val="tx2"/>
          </a:solidFill>
          <a:latin typeface="Garamond" pitchFamily="18" charset="0"/>
          <a:ea typeface="新細明體" pitchFamily="18" charset="-120"/>
        </a:defRPr>
      </a:lvl8pPr>
      <a:lvl9pPr marL="1828800" algn="l" rtl="0" fontAlgn="base">
        <a:spcBef>
          <a:spcPct val="0"/>
        </a:spcBef>
        <a:spcAft>
          <a:spcPct val="0"/>
        </a:spcAft>
        <a:defRPr kumimoji="1" sz="4200">
          <a:solidFill>
            <a:schemeClr val="tx2"/>
          </a:solidFill>
          <a:latin typeface="Garamond" pitchFamily="18" charset="0"/>
          <a:ea typeface="新細明體" pitchFamily="18" charset="-120"/>
        </a:defRPr>
      </a:lvl9pPr>
    </p:titleStyle>
    <p:bodyStyle>
      <a:lvl1pPr marL="342900" indent="-342900" algn="l" rtl="0" eaLnBrk="0" fontAlgn="base" hangingPunct="0">
        <a:spcBef>
          <a:spcPct val="20000"/>
        </a:spcBef>
        <a:spcAft>
          <a:spcPct val="0"/>
        </a:spcAft>
        <a:buClr>
          <a:schemeClr val="accent1"/>
        </a:buClr>
        <a:buSzPct val="65000"/>
        <a:buFont typeface="Wingdings" pitchFamily="2" charset="2"/>
        <a:buChar char="n"/>
        <a:defRPr kumimoji="1" sz="3000">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itchFamily="2" charset="2"/>
        <a:buChar char="q"/>
        <a:defRPr kumimoji="1" sz="2600">
          <a:solidFill>
            <a:schemeClr val="tx1"/>
          </a:solidFill>
          <a:latin typeface="+mn-lt"/>
          <a:ea typeface="+mn-ea"/>
        </a:defRPr>
      </a:lvl2pPr>
      <a:lvl3pPr marL="1022350" indent="-350838" algn="l" rtl="0" eaLnBrk="0" fontAlgn="base" hangingPunct="0">
        <a:spcBef>
          <a:spcPct val="20000"/>
        </a:spcBef>
        <a:spcAft>
          <a:spcPct val="0"/>
        </a:spcAft>
        <a:buClr>
          <a:schemeClr val="accent1"/>
        </a:buClr>
        <a:buSzPct val="65000"/>
        <a:buFont typeface="Wingdings" pitchFamily="2" charset="2"/>
        <a:buChar char="n"/>
        <a:defRPr kumimoji="1" sz="2200">
          <a:solidFill>
            <a:schemeClr val="tx1"/>
          </a:solidFill>
          <a:latin typeface="+mn-lt"/>
          <a:ea typeface="+mn-ea"/>
        </a:defRPr>
      </a:lvl3pPr>
      <a:lvl4pPr marL="1339850" indent="-315913" algn="l" rtl="0" eaLnBrk="0" fontAlgn="base" hangingPunct="0">
        <a:spcBef>
          <a:spcPct val="20000"/>
        </a:spcBef>
        <a:spcAft>
          <a:spcPct val="0"/>
        </a:spcAft>
        <a:buClr>
          <a:schemeClr val="accent2"/>
        </a:buClr>
        <a:buSzPct val="70000"/>
        <a:buFont typeface="Wingdings" pitchFamily="2" charset="2"/>
        <a:buChar char="q"/>
        <a:defRPr kumimoji="1" sz="2000">
          <a:solidFill>
            <a:schemeClr val="tx1"/>
          </a:solidFill>
          <a:latin typeface="+mn-lt"/>
          <a:ea typeface="+mn-ea"/>
        </a:defRPr>
      </a:lvl4pPr>
      <a:lvl5pPr marL="1681163" indent="-339725" algn="l" rtl="0" eaLnBrk="0" fontAlgn="base" hangingPunct="0">
        <a:spcBef>
          <a:spcPct val="20000"/>
        </a:spcBef>
        <a:spcAft>
          <a:spcPct val="0"/>
        </a:spcAft>
        <a:buClr>
          <a:schemeClr val="accent1"/>
        </a:buClr>
        <a:buSzPct val="75000"/>
        <a:buFont typeface="Wingdings" pitchFamily="2" charset="2"/>
        <a:buChar char="§"/>
        <a:defRPr kumimoji="1" sz="2000">
          <a:solidFill>
            <a:schemeClr val="tx1"/>
          </a:solidFill>
          <a:latin typeface="+mn-lt"/>
          <a:ea typeface="+mn-ea"/>
        </a:defRPr>
      </a:lvl5pPr>
      <a:lvl6pPr marL="2138363" indent="-339725" algn="l" rtl="0" fontAlgn="base">
        <a:spcBef>
          <a:spcPct val="20000"/>
        </a:spcBef>
        <a:spcAft>
          <a:spcPct val="0"/>
        </a:spcAft>
        <a:buClr>
          <a:schemeClr val="accent1"/>
        </a:buClr>
        <a:buSzPct val="75000"/>
        <a:buFont typeface="Wingdings" pitchFamily="2" charset="2"/>
        <a:buChar char="§"/>
        <a:defRPr kumimoji="1" sz="2000">
          <a:solidFill>
            <a:schemeClr val="tx1"/>
          </a:solidFill>
          <a:latin typeface="+mn-lt"/>
          <a:ea typeface="+mn-ea"/>
        </a:defRPr>
      </a:lvl6pPr>
      <a:lvl7pPr marL="2595563" indent="-339725" algn="l" rtl="0" fontAlgn="base">
        <a:spcBef>
          <a:spcPct val="20000"/>
        </a:spcBef>
        <a:spcAft>
          <a:spcPct val="0"/>
        </a:spcAft>
        <a:buClr>
          <a:schemeClr val="accent1"/>
        </a:buClr>
        <a:buSzPct val="75000"/>
        <a:buFont typeface="Wingdings" pitchFamily="2" charset="2"/>
        <a:buChar char="§"/>
        <a:defRPr kumimoji="1" sz="2000">
          <a:solidFill>
            <a:schemeClr val="tx1"/>
          </a:solidFill>
          <a:latin typeface="+mn-lt"/>
          <a:ea typeface="+mn-ea"/>
        </a:defRPr>
      </a:lvl7pPr>
      <a:lvl8pPr marL="3052763" indent="-339725" algn="l" rtl="0" fontAlgn="base">
        <a:spcBef>
          <a:spcPct val="20000"/>
        </a:spcBef>
        <a:spcAft>
          <a:spcPct val="0"/>
        </a:spcAft>
        <a:buClr>
          <a:schemeClr val="accent1"/>
        </a:buClr>
        <a:buSzPct val="75000"/>
        <a:buFont typeface="Wingdings" pitchFamily="2" charset="2"/>
        <a:buChar char="§"/>
        <a:defRPr kumimoji="1" sz="2000">
          <a:solidFill>
            <a:schemeClr val="tx1"/>
          </a:solidFill>
          <a:latin typeface="+mn-lt"/>
          <a:ea typeface="+mn-ea"/>
        </a:defRPr>
      </a:lvl8pPr>
      <a:lvl9pPr marL="3509963" indent="-339725" algn="l" rtl="0" fontAlgn="base">
        <a:spcBef>
          <a:spcPct val="20000"/>
        </a:spcBef>
        <a:spcAft>
          <a:spcPct val="0"/>
        </a:spcAft>
        <a:buClr>
          <a:schemeClr val="accent1"/>
        </a:buClr>
        <a:buSzPct val="75000"/>
        <a:buFont typeface="Wingdings" pitchFamily="2" charset="2"/>
        <a:buChar char="§"/>
        <a:defRPr kumimoji="1" sz="2000">
          <a:solidFill>
            <a:schemeClr val="tx1"/>
          </a:solidFill>
          <a:latin typeface="+mn-lt"/>
          <a:ea typeface="+mn-ea"/>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www.youtube.com/watch?v=O8o7Tuh2RuM"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6"/>
          <p:cNvSpPr>
            <a:spLocks noGrp="1" noChangeArrowheads="1"/>
          </p:cNvSpPr>
          <p:nvPr>
            <p:ph type="sldNum" sz="quarter" idx="12"/>
          </p:nvPr>
        </p:nvSpPr>
        <p:spPr/>
        <p:txBody>
          <a:bodyPr/>
          <a:lstStyle/>
          <a:p>
            <a:pPr>
              <a:defRPr/>
            </a:pPr>
            <a:fld id="{72D7AD6F-D058-4748-AF6C-EA3649E94DD9}" type="slidenum">
              <a:rPr lang="en-US" altLang="zh-TW"/>
              <a:pPr>
                <a:defRPr/>
              </a:pPr>
              <a:t>1</a:t>
            </a:fld>
            <a:endParaRPr lang="en-US" altLang="zh-TW"/>
          </a:p>
        </p:txBody>
      </p:sp>
      <p:sp>
        <p:nvSpPr>
          <p:cNvPr id="3075" name="Rectangle 2"/>
          <p:cNvSpPr>
            <a:spLocks noGrp="1" noChangeArrowheads="1"/>
          </p:cNvSpPr>
          <p:nvPr>
            <p:ph type="ctrTitle"/>
          </p:nvPr>
        </p:nvSpPr>
        <p:spPr/>
        <p:txBody>
          <a:bodyPr/>
          <a:lstStyle/>
          <a:p>
            <a:pPr eaLnBrk="1" hangingPunct="1"/>
            <a:r>
              <a:rPr lang="en-US" altLang="zh-TW" dirty="0" smtClean="0"/>
              <a:t>Week 10 Contextual inquiry</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內容版面配置區 3"/>
          <p:cNvGraphicFramePr>
            <a:graphicFrameLocks noGrp="1"/>
          </p:cNvGraphicFramePr>
          <p:nvPr>
            <p:ph idx="1"/>
          </p:nvPr>
        </p:nvGraphicFramePr>
        <p:xfrm>
          <a:off x="-468560" y="620688"/>
          <a:ext cx="8229600" cy="544909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向左箭號圖說文字 5"/>
          <p:cNvSpPr/>
          <p:nvPr/>
        </p:nvSpPr>
        <p:spPr>
          <a:xfrm>
            <a:off x="5364088" y="1340768"/>
            <a:ext cx="3779912" cy="1584176"/>
          </a:xfrm>
          <a:prstGeom prst="leftArrowCallou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b="1" dirty="0" smtClean="0"/>
              <a:t>Requirement analysis</a:t>
            </a:r>
            <a:r>
              <a:rPr lang="zh-TW" altLang="en-US" b="1" dirty="0" smtClean="0"/>
              <a:t> </a:t>
            </a:r>
            <a:endParaRPr lang="en-US" altLang="zh-TW" b="1" dirty="0" smtClean="0"/>
          </a:p>
          <a:p>
            <a:pPr algn="ctr"/>
            <a:r>
              <a:rPr lang="en-US" altLang="zh-TW" b="1" dirty="0" smtClean="0"/>
              <a:t>&amp;</a:t>
            </a:r>
          </a:p>
          <a:p>
            <a:pPr algn="ctr"/>
            <a:r>
              <a:rPr lang="en-US" altLang="zh-TW" b="1" dirty="0" smtClean="0"/>
              <a:t>Task analysis</a:t>
            </a:r>
            <a:r>
              <a:rPr lang="zh-TW" altLang="en-US" b="1" dirty="0" smtClean="0"/>
              <a:t> 任務分析</a:t>
            </a:r>
            <a:endParaRPr lang="zh-TW" altLang="en-US" b="1"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標題 1"/>
          <p:cNvSpPr>
            <a:spLocks noGrp="1"/>
          </p:cNvSpPr>
          <p:nvPr>
            <p:ph type="title"/>
          </p:nvPr>
        </p:nvSpPr>
        <p:spPr/>
        <p:txBody>
          <a:bodyPr/>
          <a:lstStyle/>
          <a:p>
            <a:endParaRPr lang="zh-TW" altLang="en-US" smtClean="0"/>
          </a:p>
        </p:txBody>
      </p:sp>
      <p:sp>
        <p:nvSpPr>
          <p:cNvPr id="12291" name="內容版面配置區 2"/>
          <p:cNvSpPr>
            <a:spLocks noGrp="1"/>
          </p:cNvSpPr>
          <p:nvPr>
            <p:ph idx="1"/>
          </p:nvPr>
        </p:nvSpPr>
        <p:spPr/>
        <p:txBody>
          <a:bodyPr/>
          <a:lstStyle/>
          <a:p>
            <a:endParaRPr lang="zh-TW" altLang="en-US" smtClean="0"/>
          </a:p>
        </p:txBody>
      </p:sp>
      <p:sp>
        <p:nvSpPr>
          <p:cNvPr id="4" name="投影片編號版面配置區 3"/>
          <p:cNvSpPr>
            <a:spLocks noGrp="1"/>
          </p:cNvSpPr>
          <p:nvPr>
            <p:ph type="sldNum" sz="quarter" idx="12"/>
          </p:nvPr>
        </p:nvSpPr>
        <p:spPr/>
        <p:txBody>
          <a:bodyPr/>
          <a:lstStyle/>
          <a:p>
            <a:pPr>
              <a:defRPr/>
            </a:pPr>
            <a:fld id="{A59FAA68-4E15-4456-9B9A-8E3FE8ED27E5}" type="slidenum">
              <a:rPr lang="en-US" altLang="zh-TW" smtClean="0"/>
              <a:pPr>
                <a:defRPr/>
              </a:pPr>
              <a:t>3</a:t>
            </a:fld>
            <a:endParaRPr lang="en-US" altLang="zh-TW"/>
          </a:p>
        </p:txBody>
      </p:sp>
      <p:pic>
        <p:nvPicPr>
          <p:cNvPr id="12293" name="Picture 2"/>
          <p:cNvPicPr>
            <a:picLocks noChangeAspect="1" noChangeArrowheads="1"/>
          </p:cNvPicPr>
          <p:nvPr/>
        </p:nvPicPr>
        <p:blipFill>
          <a:blip r:embed="rId3" cstate="print"/>
          <a:srcRect/>
          <a:stretch>
            <a:fillRect/>
          </a:stretch>
        </p:blipFill>
        <p:spPr bwMode="auto">
          <a:xfrm>
            <a:off x="0" y="0"/>
            <a:ext cx="9453945" cy="649796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Requirement activity</a:t>
            </a:r>
            <a:r>
              <a:rPr lang="zh-TW" altLang="en-US" dirty="0" smtClean="0"/>
              <a:t> 需求分析活動</a:t>
            </a:r>
            <a:endParaRPr lang="zh-TW" altLang="en-US" dirty="0"/>
          </a:p>
        </p:txBody>
      </p:sp>
      <p:sp>
        <p:nvSpPr>
          <p:cNvPr id="3" name="內容版面配置區 2"/>
          <p:cNvSpPr>
            <a:spLocks noGrp="1"/>
          </p:cNvSpPr>
          <p:nvPr>
            <p:ph idx="1"/>
          </p:nvPr>
        </p:nvSpPr>
        <p:spPr/>
        <p:txBody>
          <a:bodyPr/>
          <a:lstStyle/>
          <a:p>
            <a:r>
              <a:rPr lang="en-US" altLang="zh-TW" dirty="0" smtClean="0">
                <a:solidFill>
                  <a:srgbClr val="C00000"/>
                </a:solidFill>
              </a:rPr>
              <a:t>Requirement</a:t>
            </a:r>
            <a:r>
              <a:rPr lang="zh-TW" altLang="en-US" dirty="0" smtClean="0">
                <a:solidFill>
                  <a:srgbClr val="C00000"/>
                </a:solidFill>
              </a:rPr>
              <a:t> 需求</a:t>
            </a:r>
            <a:r>
              <a:rPr lang="en-US" altLang="zh-TW" dirty="0" smtClean="0">
                <a:solidFill>
                  <a:srgbClr val="C00000"/>
                </a:solidFill>
              </a:rPr>
              <a:t>: </a:t>
            </a:r>
            <a:r>
              <a:rPr lang="en-US" altLang="zh-TW" dirty="0" smtClean="0"/>
              <a:t>a statement about an intended product that specifies what it should do or how it should perform. </a:t>
            </a:r>
            <a:r>
              <a:rPr lang="zh-TW" altLang="en-US" dirty="0" smtClean="0"/>
              <a:t>描述</a:t>
            </a:r>
            <a:r>
              <a:rPr lang="zh-TW" altLang="en-US" dirty="0" smtClean="0">
                <a:solidFill>
                  <a:srgbClr val="0000FF"/>
                </a:solidFill>
              </a:rPr>
              <a:t>產品功用</a:t>
            </a:r>
            <a:r>
              <a:rPr lang="zh-TW" altLang="en-US" dirty="0" smtClean="0"/>
              <a:t>及其</a:t>
            </a:r>
            <a:r>
              <a:rPr lang="zh-TW" altLang="en-US" dirty="0" smtClean="0">
                <a:solidFill>
                  <a:srgbClr val="0000FF"/>
                </a:solidFill>
              </a:rPr>
              <a:t>如何運作</a:t>
            </a:r>
            <a:endParaRPr lang="en-US" altLang="zh-TW" dirty="0" smtClean="0">
              <a:solidFill>
                <a:srgbClr val="0000FF"/>
              </a:solidFill>
            </a:endParaRPr>
          </a:p>
          <a:p>
            <a:endParaRPr lang="en-US" altLang="zh-TW" sz="800" dirty="0" smtClean="0"/>
          </a:p>
          <a:p>
            <a:r>
              <a:rPr lang="en-US" altLang="zh-TW" dirty="0" smtClean="0"/>
              <a:t>Two aims</a:t>
            </a:r>
            <a:r>
              <a:rPr lang="zh-TW" altLang="en-US" dirty="0" smtClean="0"/>
              <a:t> 目標</a:t>
            </a:r>
            <a:endParaRPr lang="en-US" altLang="zh-TW" dirty="0" smtClean="0"/>
          </a:p>
          <a:p>
            <a:pPr lvl="1"/>
            <a:r>
              <a:rPr lang="en-US" altLang="zh-TW" dirty="0" smtClean="0">
                <a:solidFill>
                  <a:srgbClr val="C00000"/>
                </a:solidFill>
              </a:rPr>
              <a:t>Understand</a:t>
            </a:r>
            <a:r>
              <a:rPr lang="en-US" altLang="zh-TW" dirty="0" smtClean="0"/>
              <a:t> users, their work, and the context of that work  </a:t>
            </a:r>
            <a:r>
              <a:rPr lang="zh-TW" altLang="en-US" dirty="0" smtClean="0"/>
              <a:t>要了解使用者，其工作及使用情境</a:t>
            </a:r>
            <a:endParaRPr lang="en-US" altLang="zh-TW" dirty="0" smtClean="0"/>
          </a:p>
          <a:p>
            <a:pPr lvl="1"/>
            <a:r>
              <a:rPr lang="en-US" altLang="zh-TW" dirty="0" smtClean="0">
                <a:solidFill>
                  <a:srgbClr val="C00000"/>
                </a:solidFill>
              </a:rPr>
              <a:t>Product</a:t>
            </a:r>
            <a:r>
              <a:rPr lang="en-US" altLang="zh-TW" dirty="0" smtClean="0"/>
              <a:t> </a:t>
            </a:r>
            <a:r>
              <a:rPr lang="en-US" altLang="zh-TW" dirty="0" smtClean="0">
                <a:solidFill>
                  <a:srgbClr val="0000FF"/>
                </a:solidFill>
              </a:rPr>
              <a:t>a set of requirements </a:t>
            </a:r>
            <a:r>
              <a:rPr lang="en-US" altLang="zh-TW" dirty="0" smtClean="0"/>
              <a:t>as a basis to think about design</a:t>
            </a:r>
            <a:r>
              <a:rPr lang="zh-TW" altLang="en-US" dirty="0" smtClean="0"/>
              <a:t> 建立需求描述以做為設計基礎</a:t>
            </a:r>
            <a:endParaRPr lang="zh-TW" altLang="en-US" dirty="0"/>
          </a:p>
        </p:txBody>
      </p:sp>
      <p:sp>
        <p:nvSpPr>
          <p:cNvPr id="4" name="投影片編號版面配置區 3"/>
          <p:cNvSpPr>
            <a:spLocks noGrp="1"/>
          </p:cNvSpPr>
          <p:nvPr>
            <p:ph type="sldNum" sz="quarter" idx="12"/>
          </p:nvPr>
        </p:nvSpPr>
        <p:spPr/>
        <p:txBody>
          <a:bodyPr/>
          <a:lstStyle/>
          <a:p>
            <a:pPr>
              <a:defRPr/>
            </a:pPr>
            <a:fld id="{12E00E1D-2E5C-46F3-A24F-4A83B6169687}" type="slidenum">
              <a:rPr lang="en-US" altLang="zh-TW" smtClean="0"/>
              <a:pPr>
                <a:defRPr/>
              </a:pPr>
              <a:t>4</a:t>
            </a:fld>
            <a:endParaRPr lang="en-US" altLang="zh-TW"/>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標題 1"/>
          <p:cNvSpPr>
            <a:spLocks noGrp="1"/>
          </p:cNvSpPr>
          <p:nvPr>
            <p:ph type="title"/>
          </p:nvPr>
        </p:nvSpPr>
        <p:spPr/>
        <p:txBody>
          <a:bodyPr/>
          <a:lstStyle/>
          <a:p>
            <a:endParaRPr lang="zh-TW" altLang="en-US" smtClean="0"/>
          </a:p>
        </p:txBody>
      </p:sp>
      <p:sp>
        <p:nvSpPr>
          <p:cNvPr id="4" name="投影片編號版面配置區 3"/>
          <p:cNvSpPr>
            <a:spLocks noGrp="1"/>
          </p:cNvSpPr>
          <p:nvPr>
            <p:ph type="sldNum" sz="quarter" idx="12"/>
          </p:nvPr>
        </p:nvSpPr>
        <p:spPr/>
        <p:txBody>
          <a:bodyPr/>
          <a:lstStyle/>
          <a:p>
            <a:pPr>
              <a:defRPr/>
            </a:pPr>
            <a:fld id="{56888DAD-6F95-4215-A2BC-2CFC8544B614}" type="slidenum">
              <a:rPr lang="en-US" altLang="zh-TW" smtClean="0"/>
              <a:pPr>
                <a:defRPr/>
              </a:pPr>
              <a:t>5</a:t>
            </a:fld>
            <a:endParaRPr lang="en-US" altLang="zh-TW"/>
          </a:p>
        </p:txBody>
      </p:sp>
      <p:pic>
        <p:nvPicPr>
          <p:cNvPr id="14340" name="Picture 2"/>
          <p:cNvPicPr>
            <a:picLocks noGrp="1" noChangeAspect="1" noChangeArrowheads="1"/>
          </p:cNvPicPr>
          <p:nvPr>
            <p:ph idx="1"/>
          </p:nvPr>
        </p:nvPicPr>
        <p:blipFill>
          <a:blip r:embed="rId3" cstate="print"/>
          <a:srcRect/>
          <a:stretch>
            <a:fillRect/>
          </a:stretch>
        </p:blipFill>
        <p:spPr>
          <a:xfrm>
            <a:off x="250825" y="404812"/>
            <a:ext cx="7785011" cy="4896396"/>
          </a:xfrm>
          <a:noFill/>
        </p:spPr>
      </p:pic>
      <p:pic>
        <p:nvPicPr>
          <p:cNvPr id="14341" name="Picture 4" descr="http://www.avalonhu.com/SI/MeetingBytes/images/m4-01.jpg"/>
          <p:cNvPicPr>
            <a:picLocks noChangeAspect="1" noChangeArrowheads="1"/>
          </p:cNvPicPr>
          <p:nvPr/>
        </p:nvPicPr>
        <p:blipFill>
          <a:blip r:embed="rId4" cstate="print"/>
          <a:srcRect/>
          <a:stretch>
            <a:fillRect/>
          </a:stretch>
        </p:blipFill>
        <p:spPr bwMode="auto">
          <a:xfrm>
            <a:off x="4715996" y="3861048"/>
            <a:ext cx="4177178" cy="278264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6"/>
          <p:cNvSpPr>
            <a:spLocks noGrp="1" noChangeArrowheads="1"/>
          </p:cNvSpPr>
          <p:nvPr>
            <p:ph type="sldNum" sz="quarter" idx="12"/>
          </p:nvPr>
        </p:nvSpPr>
        <p:spPr/>
        <p:txBody>
          <a:bodyPr/>
          <a:lstStyle/>
          <a:p>
            <a:pPr>
              <a:defRPr/>
            </a:pPr>
            <a:fld id="{72D7AD6F-D058-4748-AF6C-EA3649E94DD9}" type="slidenum">
              <a:rPr lang="en-US" altLang="zh-TW"/>
              <a:pPr>
                <a:defRPr/>
              </a:pPr>
              <a:t>6</a:t>
            </a:fld>
            <a:endParaRPr lang="en-US" altLang="zh-TW"/>
          </a:p>
        </p:txBody>
      </p:sp>
      <p:sp>
        <p:nvSpPr>
          <p:cNvPr id="3075" name="Rectangle 2"/>
          <p:cNvSpPr>
            <a:spLocks noGrp="1" noChangeArrowheads="1"/>
          </p:cNvSpPr>
          <p:nvPr>
            <p:ph type="ctrTitle"/>
          </p:nvPr>
        </p:nvSpPr>
        <p:spPr>
          <a:xfrm>
            <a:off x="683568" y="1524000"/>
            <a:ext cx="7854007" cy="1752600"/>
          </a:xfrm>
        </p:spPr>
        <p:txBody>
          <a:bodyPr/>
          <a:lstStyle/>
          <a:p>
            <a:pPr eaLnBrk="1" hangingPunct="1"/>
            <a:r>
              <a:rPr lang="en-US" altLang="zh-TW" dirty="0" smtClean="0"/>
              <a:t/>
            </a:r>
            <a:br>
              <a:rPr lang="en-US" altLang="zh-TW" dirty="0" smtClean="0"/>
            </a:br>
            <a:r>
              <a:rPr lang="en-US" altLang="zh-TW" sz="4800" dirty="0" smtClean="0"/>
              <a:t>Contextual design </a:t>
            </a:r>
            <a:r>
              <a:rPr lang="zh-TW" altLang="en-US" sz="4800" dirty="0" smtClean="0"/>
              <a:t>情境式設計</a:t>
            </a:r>
            <a:r>
              <a:rPr lang="en-US" altLang="zh-TW" dirty="0" smtClean="0"/>
              <a:t/>
            </a:r>
            <a:br>
              <a:rPr lang="en-US" altLang="zh-TW" dirty="0" smtClean="0"/>
            </a:br>
            <a:r>
              <a:rPr lang="en-US" altLang="zh-TW" dirty="0" smtClean="0"/>
              <a:t/>
            </a:r>
            <a:br>
              <a:rPr lang="en-US" altLang="zh-TW" dirty="0" smtClean="0"/>
            </a:br>
            <a:r>
              <a:rPr lang="en-US" altLang="zh-TW" sz="2800" dirty="0" smtClean="0"/>
              <a:t>Karen </a:t>
            </a:r>
            <a:r>
              <a:rPr lang="en-US" altLang="zh-TW" sz="2800" dirty="0" err="1" smtClean="0"/>
              <a:t>Holtzblatt</a:t>
            </a:r>
            <a:r>
              <a:rPr lang="en-US" altLang="zh-TW" sz="2800" dirty="0" smtClean="0"/>
              <a:t/>
            </a:r>
            <a:br>
              <a:rPr lang="en-US" altLang="zh-TW" sz="2800" dirty="0" smtClean="0"/>
            </a:br>
            <a:endParaRPr lang="en-US" altLang="zh-TW" dirty="0" smtClean="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標題 1"/>
          <p:cNvSpPr>
            <a:spLocks noGrp="1"/>
          </p:cNvSpPr>
          <p:nvPr>
            <p:ph type="title"/>
          </p:nvPr>
        </p:nvSpPr>
        <p:spPr/>
        <p:txBody>
          <a:bodyPr/>
          <a:lstStyle/>
          <a:p>
            <a:pPr eaLnBrk="1" hangingPunct="1"/>
            <a:r>
              <a:rPr lang="en-US" altLang="zh-TW" b="1" dirty="0" smtClean="0"/>
              <a:t>Introduction</a:t>
            </a:r>
            <a:endParaRPr lang="zh-TW" altLang="en-US" dirty="0" smtClean="0"/>
          </a:p>
        </p:txBody>
      </p:sp>
      <p:sp>
        <p:nvSpPr>
          <p:cNvPr id="16387" name="內容版面配置區 2"/>
          <p:cNvSpPr>
            <a:spLocks noGrp="1"/>
          </p:cNvSpPr>
          <p:nvPr>
            <p:ph idx="1"/>
          </p:nvPr>
        </p:nvSpPr>
        <p:spPr>
          <a:xfrm>
            <a:off x="385192" y="1562571"/>
            <a:ext cx="8363272" cy="4530725"/>
          </a:xfrm>
        </p:spPr>
        <p:txBody>
          <a:bodyPr/>
          <a:lstStyle/>
          <a:p>
            <a:pPr eaLnBrk="1" hangingPunct="1"/>
            <a:r>
              <a:rPr lang="en-US" altLang="zh-TW" sz="2400" dirty="0" smtClean="0"/>
              <a:t>Usability testing was only bringing a 15-20% improvement to </a:t>
            </a:r>
            <a:r>
              <a:rPr lang="en-US" altLang="zh-TW" sz="2400" dirty="0" smtClean="0">
                <a:solidFill>
                  <a:srgbClr val="C00000"/>
                </a:solidFill>
              </a:rPr>
              <a:t>user experience. </a:t>
            </a:r>
          </a:p>
          <a:p>
            <a:pPr eaLnBrk="1" hangingPunct="1"/>
            <a:endParaRPr lang="en-US" altLang="zh-TW" sz="2400" dirty="0" smtClean="0"/>
          </a:p>
          <a:p>
            <a:pPr eaLnBrk="1" hangingPunct="1"/>
            <a:r>
              <a:rPr lang="zh-TW" altLang="en-US" sz="2400" dirty="0" smtClean="0"/>
              <a:t>過去蒐集</a:t>
            </a:r>
            <a:r>
              <a:rPr lang="en-US" altLang="zh-TW" sz="2400" dirty="0" smtClean="0"/>
              <a:t>user</a:t>
            </a:r>
            <a:r>
              <a:rPr lang="zh-TW" altLang="en-US" sz="2400" dirty="0" smtClean="0"/>
              <a:t>資料方法之不足</a:t>
            </a:r>
            <a:r>
              <a:rPr lang="en-US" altLang="zh-TW" sz="2400" dirty="0" smtClean="0"/>
              <a:t>: </a:t>
            </a:r>
            <a:r>
              <a:rPr lang="zh-TW" altLang="en-US" sz="2400" dirty="0" smtClean="0"/>
              <a:t> 只能發現問題點，但無法了解人們工作的情況</a:t>
            </a:r>
            <a:endParaRPr lang="en-US" altLang="zh-TW" sz="2400" dirty="0" smtClean="0"/>
          </a:p>
          <a:p>
            <a:pPr eaLnBrk="1" hangingPunct="1">
              <a:buNone/>
            </a:pPr>
            <a:r>
              <a:rPr lang="zh-TW" altLang="en-US" sz="3200" dirty="0" smtClean="0">
                <a:solidFill>
                  <a:srgbClr val="0000FF"/>
                </a:solidFill>
                <a:effectLst>
                  <a:outerShdw blurRad="38100" dist="38100" dir="2700000" algn="tl">
                    <a:srgbClr val="000000">
                      <a:alpha val="43137"/>
                    </a:srgbClr>
                  </a:outerShdw>
                </a:effectLst>
              </a:rPr>
              <a:t>   </a:t>
            </a:r>
            <a:r>
              <a:rPr lang="en-US" altLang="zh-TW" sz="3200" dirty="0" smtClean="0">
                <a:solidFill>
                  <a:srgbClr val="0000FF"/>
                </a:solidFill>
                <a:effectLst>
                  <a:outerShdw blurRad="38100" dist="38100" dir="2700000" algn="tl">
                    <a:srgbClr val="000000">
                      <a:alpha val="43137"/>
                    </a:srgbClr>
                  </a:outerShdw>
                </a:effectLst>
              </a:rPr>
              <a:t>Marketing data </a:t>
            </a:r>
            <a:r>
              <a:rPr lang="en-US" altLang="zh-TW" sz="2400" dirty="0" smtClean="0"/>
              <a:t>gathered in surveys, focus groups and user group conference could </a:t>
            </a:r>
            <a:r>
              <a:rPr lang="en-US" altLang="zh-TW" sz="2400" dirty="0" smtClean="0">
                <a:solidFill>
                  <a:srgbClr val="C00000"/>
                </a:solidFill>
              </a:rPr>
              <a:t>target problem areas </a:t>
            </a:r>
            <a:r>
              <a:rPr lang="en-US" altLang="zh-TW" sz="2400" dirty="0" smtClean="0"/>
              <a:t>for customers, but could not give designer the detailed data that they needed about </a:t>
            </a:r>
            <a:r>
              <a:rPr lang="en-US" altLang="zh-TW" sz="2400" dirty="0" smtClean="0">
                <a:solidFill>
                  <a:srgbClr val="C00000"/>
                </a:solidFill>
              </a:rPr>
              <a:t>how people worked, what people did to get their jobs done. </a:t>
            </a:r>
          </a:p>
          <a:p>
            <a:pPr eaLnBrk="1" hangingPunct="1"/>
            <a:endParaRPr lang="zh-TW" altLang="en-US" sz="2400" dirty="0" smtClean="0"/>
          </a:p>
        </p:txBody>
      </p:sp>
      <p:sp>
        <p:nvSpPr>
          <p:cNvPr id="4" name="投影片編號版面配置區 3"/>
          <p:cNvSpPr>
            <a:spLocks noGrp="1"/>
          </p:cNvSpPr>
          <p:nvPr>
            <p:ph type="sldNum" sz="quarter" idx="12"/>
          </p:nvPr>
        </p:nvSpPr>
        <p:spPr/>
        <p:txBody>
          <a:bodyPr/>
          <a:lstStyle/>
          <a:p>
            <a:pPr>
              <a:defRPr/>
            </a:pPr>
            <a:fld id="{AB71D1CC-C23E-4BD6-8344-2B7EECCD3625}" type="slidenum">
              <a:rPr lang="en-US" altLang="zh-TW"/>
              <a:pPr>
                <a:defRPr/>
              </a:pPr>
              <a:t>7</a:t>
            </a:fld>
            <a:endParaRPr lang="en-US" altLang="zh-TW"/>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投影片編號版面配置區 5"/>
          <p:cNvSpPr>
            <a:spLocks noGrp="1"/>
          </p:cNvSpPr>
          <p:nvPr>
            <p:ph type="sldNum" sz="quarter" idx="12"/>
          </p:nvPr>
        </p:nvSpPr>
        <p:spPr/>
        <p:txBody>
          <a:bodyPr/>
          <a:lstStyle/>
          <a:p>
            <a:pPr>
              <a:defRPr/>
            </a:pPr>
            <a:fld id="{011C5AB1-7A46-4A4F-8839-667E4282674D}" type="slidenum">
              <a:rPr lang="en-US" altLang="zh-TW"/>
              <a:pPr>
                <a:defRPr/>
              </a:pPr>
              <a:t>8</a:t>
            </a:fld>
            <a:endParaRPr lang="en-US" altLang="zh-TW"/>
          </a:p>
        </p:txBody>
      </p:sp>
      <p:sp>
        <p:nvSpPr>
          <p:cNvPr id="17411" name="Rectangle 3"/>
          <p:cNvSpPr>
            <a:spLocks noGrp="1" noChangeArrowheads="1"/>
          </p:cNvSpPr>
          <p:nvPr>
            <p:ph type="body" idx="1"/>
          </p:nvPr>
        </p:nvSpPr>
        <p:spPr>
          <a:xfrm>
            <a:off x="457200" y="692696"/>
            <a:ext cx="8329613" cy="5950992"/>
          </a:xfrm>
        </p:spPr>
        <p:txBody>
          <a:bodyPr/>
          <a:lstStyle/>
          <a:p>
            <a:pPr eaLnBrk="1" hangingPunct="1">
              <a:lnSpc>
                <a:spcPct val="120000"/>
              </a:lnSpc>
            </a:pPr>
            <a:r>
              <a:rPr lang="en-US" altLang="zh-TW" sz="2400" dirty="0" smtClean="0"/>
              <a:t>Marketing techniques (focus group, survey…)</a:t>
            </a:r>
            <a:r>
              <a:rPr lang="zh-TW" altLang="en-US" sz="2400" dirty="0" smtClean="0"/>
              <a:t>未提供產品如何融入工作流程，以及使用者意圖及工作任務。</a:t>
            </a:r>
            <a:endParaRPr lang="en-US" altLang="zh-TW" sz="2400" dirty="0" smtClean="0"/>
          </a:p>
          <a:p>
            <a:pPr eaLnBrk="1" hangingPunct="1">
              <a:lnSpc>
                <a:spcPct val="120000"/>
              </a:lnSpc>
            </a:pPr>
            <a:r>
              <a:rPr lang="en-US" altLang="zh-TW" sz="2400" dirty="0" smtClean="0"/>
              <a:t>Contextual inquiry: </a:t>
            </a:r>
          </a:p>
          <a:p>
            <a:pPr lvl="1" eaLnBrk="1" hangingPunct="1">
              <a:lnSpc>
                <a:spcPct val="120000"/>
              </a:lnSpc>
            </a:pPr>
            <a:r>
              <a:rPr lang="en-US" altLang="zh-TW" sz="2400" dirty="0" smtClean="0"/>
              <a:t>going into the field to see …</a:t>
            </a:r>
          </a:p>
          <a:p>
            <a:pPr lvl="1" eaLnBrk="1" hangingPunct="1">
              <a:lnSpc>
                <a:spcPct val="120000"/>
              </a:lnSpc>
            </a:pPr>
            <a:r>
              <a:rPr lang="en-US" altLang="zh-TW" sz="2400" dirty="0" smtClean="0"/>
              <a:t>how </a:t>
            </a:r>
            <a:r>
              <a:rPr lang="en-US" altLang="zh-TW" sz="2400" b="1" dirty="0" smtClean="0">
                <a:solidFill>
                  <a:srgbClr val="C00000"/>
                </a:solidFill>
              </a:rPr>
              <a:t>work practice unfolds </a:t>
            </a:r>
            <a:r>
              <a:rPr lang="zh-TW" altLang="en-US" sz="2400" b="1" dirty="0" smtClean="0">
                <a:solidFill>
                  <a:srgbClr val="C00000"/>
                </a:solidFill>
              </a:rPr>
              <a:t>工作實際情境 </a:t>
            </a:r>
            <a:r>
              <a:rPr lang="en-US" altLang="zh-TW" sz="2400" b="1" dirty="0" smtClean="0"/>
              <a:t>…</a:t>
            </a:r>
            <a:endParaRPr lang="en-US" altLang="zh-TW" sz="2400" dirty="0" smtClean="0"/>
          </a:p>
          <a:p>
            <a:pPr lvl="1" eaLnBrk="1" hangingPunct="1">
              <a:lnSpc>
                <a:spcPct val="120000"/>
              </a:lnSpc>
            </a:pPr>
            <a:r>
              <a:rPr lang="en-US" altLang="zh-TW" sz="2400" dirty="0" smtClean="0"/>
              <a:t>to understand what </a:t>
            </a:r>
            <a:r>
              <a:rPr lang="en-US" altLang="zh-TW" sz="2400" dirty="0" smtClean="0">
                <a:solidFill>
                  <a:srgbClr val="C00000"/>
                </a:solidFill>
              </a:rPr>
              <a:t>people were really trying to do, </a:t>
            </a:r>
            <a:r>
              <a:rPr lang="en-US" altLang="zh-TW" sz="2400" dirty="0" smtClean="0"/>
              <a:t>and</a:t>
            </a:r>
          </a:p>
          <a:p>
            <a:pPr lvl="1" eaLnBrk="1" hangingPunct="1">
              <a:lnSpc>
                <a:spcPct val="120000"/>
              </a:lnSpc>
            </a:pPr>
            <a:r>
              <a:rPr lang="en-US" altLang="zh-TW" sz="2400" dirty="0" smtClean="0">
                <a:solidFill>
                  <a:srgbClr val="0000FF"/>
                </a:solidFill>
              </a:rPr>
              <a:t>design new technology </a:t>
            </a:r>
            <a:r>
              <a:rPr lang="en-US" altLang="zh-TW" sz="2400" dirty="0" smtClean="0"/>
              <a:t>to support, extend, and transform that practice. </a:t>
            </a:r>
          </a:p>
          <a:p>
            <a:pPr eaLnBrk="1" hangingPunct="1">
              <a:lnSpc>
                <a:spcPct val="120000"/>
              </a:lnSpc>
            </a:pPr>
            <a:r>
              <a:rPr lang="zh-TW" altLang="en-US" sz="2000" b="1" dirty="0" smtClean="0">
                <a:solidFill>
                  <a:srgbClr val="C00000"/>
                </a:solidFill>
              </a:rPr>
              <a:t>影片</a:t>
            </a:r>
            <a:endParaRPr lang="en-US" altLang="zh-TW" sz="2000" b="1" dirty="0" smtClean="0">
              <a:solidFill>
                <a:srgbClr val="C00000"/>
              </a:solidFill>
            </a:endParaRPr>
          </a:p>
          <a:p>
            <a:pPr eaLnBrk="1" hangingPunct="1">
              <a:lnSpc>
                <a:spcPct val="120000"/>
              </a:lnSpc>
            </a:pPr>
            <a:r>
              <a:rPr lang="zh-TW" altLang="en-US" sz="2000" b="1" dirty="0" smtClean="0"/>
              <a:t>設計施肥切碎機 </a:t>
            </a:r>
            <a:r>
              <a:rPr lang="en-US" altLang="zh-TW" sz="2000" dirty="0" smtClean="0"/>
              <a:t>design a human powered compost shredder for an urban organic farm </a:t>
            </a:r>
            <a:r>
              <a:rPr lang="en-US" altLang="zh-TW" sz="2000" b="1" dirty="0" smtClean="0">
                <a:hlinkClick r:id="rId2"/>
              </a:rPr>
              <a:t>http://www.youtube.com/watch?v=O8o7Tuh2RuM</a:t>
            </a:r>
            <a:r>
              <a:rPr lang="zh-TW" altLang="en-US" sz="2000" b="1" dirty="0" smtClean="0"/>
              <a:t> </a:t>
            </a:r>
            <a:r>
              <a:rPr lang="en-US" altLang="zh-TW" sz="2000" b="1" dirty="0" smtClean="0"/>
              <a:t> </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投影片編號版面配置區 5"/>
          <p:cNvSpPr>
            <a:spLocks noGrp="1"/>
          </p:cNvSpPr>
          <p:nvPr>
            <p:ph type="sldNum" sz="quarter" idx="12"/>
          </p:nvPr>
        </p:nvSpPr>
        <p:spPr/>
        <p:txBody>
          <a:bodyPr/>
          <a:lstStyle/>
          <a:p>
            <a:pPr>
              <a:defRPr/>
            </a:pPr>
            <a:fld id="{7875D4BC-5334-4039-85DC-210A6B5143AF}" type="slidenum">
              <a:rPr lang="en-US" altLang="zh-TW"/>
              <a:pPr>
                <a:defRPr/>
              </a:pPr>
              <a:t>9</a:t>
            </a:fld>
            <a:endParaRPr lang="en-US" altLang="zh-TW"/>
          </a:p>
        </p:txBody>
      </p:sp>
      <p:sp>
        <p:nvSpPr>
          <p:cNvPr id="18435" name="Rectangle 2"/>
          <p:cNvSpPr>
            <a:spLocks noGrp="1" noChangeArrowheads="1"/>
          </p:cNvSpPr>
          <p:nvPr>
            <p:ph type="title"/>
          </p:nvPr>
        </p:nvSpPr>
        <p:spPr/>
        <p:txBody>
          <a:bodyPr/>
          <a:lstStyle/>
          <a:p>
            <a:pPr eaLnBrk="1" hangingPunct="1"/>
            <a:r>
              <a:rPr lang="en-US" altLang="zh-TW" b="1" smtClean="0"/>
              <a:t>Contextual design overview</a:t>
            </a:r>
          </a:p>
        </p:txBody>
      </p:sp>
      <p:sp>
        <p:nvSpPr>
          <p:cNvPr id="18436" name="Rectangle 3"/>
          <p:cNvSpPr>
            <a:spLocks noGrp="1" noChangeArrowheads="1"/>
          </p:cNvSpPr>
          <p:nvPr>
            <p:ph type="body" idx="1"/>
          </p:nvPr>
        </p:nvSpPr>
        <p:spPr/>
        <p:txBody>
          <a:bodyPr/>
          <a:lstStyle/>
          <a:p>
            <a:pPr eaLnBrk="1" hangingPunct="1"/>
            <a:r>
              <a:rPr lang="en-US" altLang="zh-TW" sz="2400" dirty="0" smtClean="0"/>
              <a:t>Contextual design </a:t>
            </a:r>
            <a:r>
              <a:rPr lang="zh-TW" altLang="en-US" sz="2400" dirty="0" smtClean="0"/>
              <a:t>定義</a:t>
            </a:r>
            <a:r>
              <a:rPr lang="en-US" altLang="zh-TW" sz="2400" dirty="0" smtClean="0"/>
              <a:t>:</a:t>
            </a:r>
          </a:p>
          <a:p>
            <a:pPr lvl="1" eaLnBrk="1" hangingPunct="1"/>
            <a:r>
              <a:rPr lang="en-US" altLang="zh-TW" sz="2400" dirty="0" smtClean="0"/>
              <a:t>A full front-end design </a:t>
            </a:r>
            <a:r>
              <a:rPr lang="en-US" altLang="zh-TW" sz="2400" b="1" dirty="0" smtClean="0">
                <a:solidFill>
                  <a:srgbClr val="0000FF"/>
                </a:solidFill>
              </a:rPr>
              <a:t>process</a:t>
            </a:r>
            <a:r>
              <a:rPr lang="en-US" altLang="zh-TW" sz="2400" dirty="0" smtClean="0"/>
              <a:t> that takes a cross-functional team from </a:t>
            </a:r>
            <a:r>
              <a:rPr lang="en-US" altLang="zh-TW" sz="2400" b="1" dirty="0" smtClean="0"/>
              <a:t>collecting data about </a:t>
            </a:r>
            <a:r>
              <a:rPr lang="en-US" altLang="zh-TW" sz="2400" b="1" dirty="0" smtClean="0">
                <a:solidFill>
                  <a:srgbClr val="C00000"/>
                </a:solidFill>
              </a:rPr>
              <a:t>users in the field</a:t>
            </a:r>
            <a:r>
              <a:rPr lang="en-US" altLang="zh-TW" sz="2400" b="1" dirty="0" smtClean="0"/>
              <a:t>, through </a:t>
            </a:r>
            <a:r>
              <a:rPr lang="en-US" altLang="zh-TW" sz="2400" b="1" dirty="0" smtClean="0">
                <a:solidFill>
                  <a:srgbClr val="0000FF"/>
                </a:solidFill>
              </a:rPr>
              <a:t>interpretation</a:t>
            </a:r>
            <a:r>
              <a:rPr lang="en-US" altLang="zh-TW" sz="2400" b="1" dirty="0" smtClean="0">
                <a:solidFill>
                  <a:srgbClr val="C00000"/>
                </a:solidFill>
              </a:rPr>
              <a:t> </a:t>
            </a:r>
            <a:r>
              <a:rPr lang="en-US" altLang="zh-TW" sz="2400" dirty="0" smtClean="0"/>
              <a:t>and</a:t>
            </a:r>
            <a:r>
              <a:rPr lang="en-US" altLang="zh-TW" sz="2400" b="1" dirty="0" smtClean="0">
                <a:solidFill>
                  <a:srgbClr val="C00000"/>
                </a:solidFill>
              </a:rPr>
              <a:t> </a:t>
            </a:r>
            <a:r>
              <a:rPr lang="en-US" altLang="zh-TW" sz="2400" b="1" dirty="0" smtClean="0">
                <a:solidFill>
                  <a:srgbClr val="0000FF"/>
                </a:solidFill>
              </a:rPr>
              <a:t>consolidation</a:t>
            </a:r>
            <a:r>
              <a:rPr lang="en-US" altLang="zh-TW" sz="2400" b="1" dirty="0" smtClean="0">
                <a:solidFill>
                  <a:srgbClr val="C00000"/>
                </a:solidFill>
              </a:rPr>
              <a:t> of that data</a:t>
            </a:r>
            <a:r>
              <a:rPr lang="en-US" altLang="zh-TW" sz="2400" b="1" dirty="0" smtClean="0"/>
              <a:t>, to the design of </a:t>
            </a:r>
            <a:r>
              <a:rPr lang="en-US" altLang="zh-TW" sz="2400" b="1" dirty="0" smtClean="0">
                <a:solidFill>
                  <a:srgbClr val="C00000"/>
                </a:solidFill>
              </a:rPr>
              <a:t>product concepts </a:t>
            </a:r>
            <a:r>
              <a:rPr lang="en-US" altLang="zh-TW" sz="2400" b="1" dirty="0" smtClean="0"/>
              <a:t>and a tested product structure. </a:t>
            </a:r>
          </a:p>
          <a:p>
            <a:pPr lvl="1" eaLnBrk="1" hangingPunct="1"/>
            <a:endParaRPr lang="en-US" altLang="zh-TW" sz="2400" b="1" dirty="0" smtClean="0"/>
          </a:p>
          <a:p>
            <a:pPr eaLnBrk="1" hangingPunct="1"/>
            <a:r>
              <a:rPr lang="en-US" altLang="zh-TW" sz="2400" dirty="0" smtClean="0"/>
              <a:t>The basic value of CD </a:t>
            </a:r>
            <a:r>
              <a:rPr lang="zh-TW" altLang="en-US" sz="2400" dirty="0" smtClean="0"/>
              <a:t>基本價值</a:t>
            </a:r>
            <a:r>
              <a:rPr lang="en-US" altLang="zh-TW" sz="2400" dirty="0" smtClean="0"/>
              <a:t>: </a:t>
            </a:r>
            <a:r>
              <a:rPr lang="en-US" altLang="zh-TW" sz="2400" dirty="0" smtClean="0">
                <a:solidFill>
                  <a:srgbClr val="0000FF"/>
                </a:solidFill>
              </a:rPr>
              <a:t>design</a:t>
            </a:r>
            <a:r>
              <a:rPr lang="en-US" altLang="zh-TW" sz="2400" dirty="0" smtClean="0"/>
              <a:t> from reliable data collected that represents the </a:t>
            </a:r>
            <a:r>
              <a:rPr lang="en-US" altLang="zh-TW" sz="2400" dirty="0" smtClean="0">
                <a:solidFill>
                  <a:srgbClr val="C00000"/>
                </a:solidFill>
              </a:rPr>
              <a:t>actual things that people do</a:t>
            </a:r>
            <a:r>
              <a:rPr lang="en-US" altLang="zh-TW" sz="2400" dirty="0" smtClean="0"/>
              <a:t>. </a:t>
            </a:r>
            <a:r>
              <a:rPr lang="zh-TW" altLang="en-US" sz="2400" dirty="0" smtClean="0"/>
              <a:t>透過資料蒐集來呈現人們做事的實際情況，做為設計產品的基礎</a:t>
            </a:r>
            <a:endParaRPr lang="en-US" altLang="zh-TW" sz="2400" dirty="0" smtClean="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投影片編號版面配置區 5"/>
          <p:cNvSpPr>
            <a:spLocks noGrp="1"/>
          </p:cNvSpPr>
          <p:nvPr>
            <p:ph type="sldNum" sz="quarter" idx="12"/>
          </p:nvPr>
        </p:nvSpPr>
        <p:spPr/>
        <p:txBody>
          <a:bodyPr/>
          <a:lstStyle/>
          <a:p>
            <a:pPr>
              <a:defRPr/>
            </a:pPr>
            <a:fld id="{E0EF4E38-82E0-403C-866B-B44A1ACF49A6}" type="slidenum">
              <a:rPr lang="en-US" altLang="zh-TW"/>
              <a:pPr>
                <a:defRPr/>
              </a:pPr>
              <a:t>10</a:t>
            </a:fld>
            <a:endParaRPr lang="en-US" altLang="zh-TW"/>
          </a:p>
        </p:txBody>
      </p:sp>
      <p:sp>
        <p:nvSpPr>
          <p:cNvPr id="19459" name="Rectangle 2"/>
          <p:cNvSpPr>
            <a:spLocks noGrp="1" noChangeArrowheads="1"/>
          </p:cNvSpPr>
          <p:nvPr>
            <p:ph type="title"/>
          </p:nvPr>
        </p:nvSpPr>
        <p:spPr/>
        <p:txBody>
          <a:bodyPr/>
          <a:lstStyle/>
          <a:p>
            <a:pPr eaLnBrk="1" hangingPunct="1"/>
            <a:r>
              <a:rPr lang="en-US" altLang="zh-TW" b="1" smtClean="0"/>
              <a:t>Setting project scope</a:t>
            </a:r>
          </a:p>
        </p:txBody>
      </p:sp>
      <p:sp>
        <p:nvSpPr>
          <p:cNvPr id="19460" name="Rectangle 3"/>
          <p:cNvSpPr>
            <a:spLocks noGrp="1" noChangeArrowheads="1"/>
          </p:cNvSpPr>
          <p:nvPr>
            <p:ph type="body" idx="1"/>
          </p:nvPr>
        </p:nvSpPr>
        <p:spPr>
          <a:xfrm>
            <a:off x="467544" y="1412776"/>
            <a:ext cx="8229600" cy="4530725"/>
          </a:xfrm>
        </p:spPr>
        <p:txBody>
          <a:bodyPr/>
          <a:lstStyle/>
          <a:p>
            <a:pPr eaLnBrk="1" hangingPunct="1">
              <a:lnSpc>
                <a:spcPct val="90000"/>
              </a:lnSpc>
            </a:pPr>
            <a:r>
              <a:rPr lang="en-US" altLang="zh-TW" sz="2400" dirty="0" smtClean="0"/>
              <a:t>First step: set the project scope </a:t>
            </a:r>
            <a:r>
              <a:rPr lang="zh-TW" altLang="en-US" sz="2400" dirty="0" smtClean="0"/>
              <a:t>設定計畫範圍 </a:t>
            </a:r>
            <a:r>
              <a:rPr lang="en-US" altLang="zh-TW" sz="2400" dirty="0" smtClean="0"/>
              <a:t> – decide </a:t>
            </a:r>
            <a:r>
              <a:rPr lang="en-US" altLang="zh-TW" sz="2400" dirty="0" smtClean="0">
                <a:solidFill>
                  <a:srgbClr val="C00000"/>
                </a:solidFill>
              </a:rPr>
              <a:t>how wide to open the inquiry </a:t>
            </a:r>
            <a:r>
              <a:rPr lang="en-US" altLang="zh-TW" sz="2400" dirty="0" smtClean="0"/>
              <a:t>and how much change the organization and its people are ready to make. (e.g. </a:t>
            </a:r>
            <a:r>
              <a:rPr lang="zh-TW" altLang="en-US" sz="2400" dirty="0" smtClean="0"/>
              <a:t>人力點餐改為電腦點餐</a:t>
            </a:r>
            <a:r>
              <a:rPr lang="en-US" altLang="zh-TW" sz="2400" dirty="0" smtClean="0"/>
              <a:t>)</a:t>
            </a:r>
          </a:p>
          <a:p>
            <a:pPr eaLnBrk="1" hangingPunct="1">
              <a:lnSpc>
                <a:spcPct val="90000"/>
              </a:lnSpc>
            </a:pPr>
            <a:endParaRPr lang="en-US" altLang="zh-TW" sz="2400" dirty="0" smtClean="0"/>
          </a:p>
          <a:p>
            <a:pPr eaLnBrk="1" hangingPunct="1">
              <a:lnSpc>
                <a:spcPct val="90000"/>
              </a:lnSpc>
            </a:pPr>
            <a:r>
              <a:rPr lang="en-US" altLang="zh-TW" sz="2400" dirty="0" smtClean="0"/>
              <a:t>Wide scope</a:t>
            </a:r>
            <a:r>
              <a:rPr lang="zh-TW" altLang="en-US" sz="2400" dirty="0" smtClean="0"/>
              <a:t> 大範圍 </a:t>
            </a:r>
            <a:r>
              <a:rPr lang="en-US" altLang="zh-TW" sz="2400" dirty="0" smtClean="0"/>
              <a:t>—</a:t>
            </a:r>
            <a:r>
              <a:rPr lang="zh-TW" altLang="en-US" sz="2400" dirty="0" smtClean="0"/>
              <a:t> </a:t>
            </a:r>
            <a:r>
              <a:rPr lang="en-US" altLang="zh-TW" sz="2400" dirty="0" smtClean="0"/>
              <a:t>collect more data, make more models, and create more designs than a small scope. The wider the scope, the longer the process and the more resources required. </a:t>
            </a:r>
            <a:r>
              <a:rPr lang="zh-TW" altLang="en-US" sz="2400" dirty="0" smtClean="0"/>
              <a:t>廣度需要考量設計團隊 </a:t>
            </a:r>
            <a:r>
              <a:rPr lang="en-US" altLang="zh-TW" sz="2400" dirty="0" smtClean="0"/>
              <a:t>(</a:t>
            </a:r>
            <a:r>
              <a:rPr lang="zh-TW" altLang="en-US" sz="2400" dirty="0" smtClean="0"/>
              <a:t>包含程式、介面設計</a:t>
            </a:r>
            <a:r>
              <a:rPr lang="en-US" altLang="zh-TW" sz="2400" dirty="0" smtClean="0"/>
              <a:t>…) </a:t>
            </a:r>
            <a:r>
              <a:rPr lang="zh-TW" altLang="en-US" sz="2400" dirty="0" smtClean="0"/>
              <a:t>改變的意願 </a:t>
            </a:r>
            <a:endParaRPr lang="en-US" altLang="zh-TW" sz="2400" dirty="0" smtClean="0"/>
          </a:p>
          <a:p>
            <a:pPr eaLnBrk="1" hangingPunct="1">
              <a:lnSpc>
                <a:spcPct val="90000"/>
              </a:lnSpc>
            </a:pPr>
            <a:endParaRPr lang="en-US" altLang="zh-TW" sz="800" dirty="0" smtClean="0"/>
          </a:p>
          <a:p>
            <a:pPr lvl="1" eaLnBrk="1" hangingPunct="1">
              <a:lnSpc>
                <a:spcPct val="90000"/>
              </a:lnSpc>
            </a:pPr>
            <a:r>
              <a:rPr lang="zh-TW" altLang="en-US" sz="2000" dirty="0" smtClean="0"/>
              <a:t>了解某點餐系統 並予以改進</a:t>
            </a:r>
            <a:r>
              <a:rPr lang="en-US" altLang="zh-TW" sz="2000" dirty="0" smtClean="0"/>
              <a:t>(small)</a:t>
            </a:r>
            <a:r>
              <a:rPr lang="zh-TW" altLang="en-US" sz="2000" dirty="0" smtClean="0"/>
              <a:t> </a:t>
            </a:r>
            <a:r>
              <a:rPr lang="en-US" altLang="zh-TW" sz="2000" dirty="0" smtClean="0"/>
              <a:t>vs. </a:t>
            </a:r>
            <a:r>
              <a:rPr lang="zh-TW" altLang="en-US" sz="2000" dirty="0" smtClean="0"/>
              <a:t>點餐可如何透過系統進行 </a:t>
            </a:r>
            <a:r>
              <a:rPr lang="en-US" altLang="zh-TW" sz="2000" dirty="0" smtClean="0"/>
              <a:t>(wide)</a:t>
            </a:r>
          </a:p>
          <a:p>
            <a:pPr eaLnBrk="1" hangingPunct="1">
              <a:lnSpc>
                <a:spcPct val="90000"/>
              </a:lnSpc>
            </a:pPr>
            <a:endParaRPr lang="en-US" altLang="zh-TW" sz="2400" dirty="0" smtClean="0"/>
          </a:p>
          <a:p>
            <a:pPr eaLnBrk="1" hangingPunct="1">
              <a:lnSpc>
                <a:spcPct val="90000"/>
              </a:lnSpc>
            </a:pPr>
            <a:r>
              <a:rPr lang="zh-TW" altLang="en-US" sz="2400" dirty="0" smtClean="0"/>
              <a:t>範圍越大，在現有設計上的改變越多</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投影片編號版面配置區 5"/>
          <p:cNvSpPr>
            <a:spLocks noGrp="1"/>
          </p:cNvSpPr>
          <p:nvPr>
            <p:ph type="sldNum" sz="quarter" idx="12"/>
          </p:nvPr>
        </p:nvSpPr>
        <p:spPr/>
        <p:txBody>
          <a:bodyPr/>
          <a:lstStyle/>
          <a:p>
            <a:pPr>
              <a:defRPr/>
            </a:pPr>
            <a:fld id="{ACF7EC68-5C90-41DC-A49E-0E19D4FBBDD4}" type="slidenum">
              <a:rPr lang="en-US" altLang="zh-TW"/>
              <a:pPr>
                <a:defRPr/>
              </a:pPr>
              <a:t>11</a:t>
            </a:fld>
            <a:endParaRPr lang="en-US" altLang="zh-TW"/>
          </a:p>
        </p:txBody>
      </p:sp>
      <p:sp>
        <p:nvSpPr>
          <p:cNvPr id="20483" name="Rectangle 2"/>
          <p:cNvSpPr>
            <a:spLocks noGrp="1" noChangeArrowheads="1"/>
          </p:cNvSpPr>
          <p:nvPr>
            <p:ph type="title"/>
          </p:nvPr>
        </p:nvSpPr>
        <p:spPr/>
        <p:txBody>
          <a:bodyPr/>
          <a:lstStyle/>
          <a:p>
            <a:pPr eaLnBrk="1" hangingPunct="1"/>
            <a:r>
              <a:rPr lang="en-US" altLang="zh-TW" sz="3800" b="1" smtClean="0"/>
              <a:t>Defining the right process for the project</a:t>
            </a:r>
            <a:r>
              <a:rPr lang="en-US" altLang="zh-TW" sz="3800" smtClean="0"/>
              <a:t> </a:t>
            </a:r>
          </a:p>
        </p:txBody>
      </p:sp>
      <p:sp>
        <p:nvSpPr>
          <p:cNvPr id="20484" name="Rectangle 3"/>
          <p:cNvSpPr>
            <a:spLocks noGrp="1" noChangeArrowheads="1"/>
          </p:cNvSpPr>
          <p:nvPr>
            <p:ph type="body" idx="1"/>
          </p:nvPr>
        </p:nvSpPr>
        <p:spPr>
          <a:xfrm>
            <a:off x="323528" y="1634579"/>
            <a:ext cx="8229600" cy="4530725"/>
          </a:xfrm>
        </p:spPr>
        <p:txBody>
          <a:bodyPr/>
          <a:lstStyle/>
          <a:p>
            <a:pPr marL="495300" indent="-495300" eaLnBrk="1" hangingPunct="1"/>
            <a:r>
              <a:rPr lang="en-US" altLang="zh-TW" sz="2600" dirty="0" smtClean="0"/>
              <a:t>Factors influence </a:t>
            </a:r>
            <a:r>
              <a:rPr lang="en-US" altLang="zh-TW" sz="2600" dirty="0" smtClean="0">
                <a:solidFill>
                  <a:srgbClr val="C00000"/>
                </a:solidFill>
              </a:rPr>
              <a:t>the length of the project</a:t>
            </a:r>
            <a:r>
              <a:rPr lang="en-US" altLang="zh-TW" sz="2600" dirty="0" smtClean="0"/>
              <a:t>:</a:t>
            </a:r>
          </a:p>
          <a:p>
            <a:pPr marL="495300" indent="-495300" eaLnBrk="1" hangingPunct="1"/>
            <a:endParaRPr lang="en-US" altLang="zh-TW" sz="800" dirty="0" smtClean="0"/>
          </a:p>
          <a:p>
            <a:pPr marL="822325" lvl="1" indent="-495300" eaLnBrk="1" hangingPunct="1">
              <a:lnSpc>
                <a:spcPct val="120000"/>
              </a:lnSpc>
              <a:buFont typeface="Wingdings" pitchFamily="2" charset="2"/>
              <a:buAutoNum type="arabicPeriod"/>
            </a:pPr>
            <a:r>
              <a:rPr lang="en-US" altLang="zh-TW" sz="2400" dirty="0" smtClean="0"/>
              <a:t>How easy or difficult it is to set up the </a:t>
            </a:r>
            <a:r>
              <a:rPr lang="en-US" altLang="zh-TW" sz="2400" dirty="0" smtClean="0">
                <a:solidFill>
                  <a:srgbClr val="0000FF"/>
                </a:solidFill>
              </a:rPr>
              <a:t>customer visits</a:t>
            </a:r>
          </a:p>
          <a:p>
            <a:pPr marL="822325" lvl="1" indent="-495300" eaLnBrk="1" hangingPunct="1">
              <a:lnSpc>
                <a:spcPct val="120000"/>
              </a:lnSpc>
              <a:buFont typeface="Wingdings" pitchFamily="2" charset="2"/>
              <a:buAutoNum type="arabicPeriod"/>
            </a:pPr>
            <a:r>
              <a:rPr lang="en-US" altLang="zh-TW" sz="2400" dirty="0" smtClean="0"/>
              <a:t>the </a:t>
            </a:r>
            <a:r>
              <a:rPr lang="en-US" altLang="zh-TW" sz="2400" dirty="0" smtClean="0">
                <a:solidFill>
                  <a:srgbClr val="0000FF"/>
                </a:solidFill>
              </a:rPr>
              <a:t>number of users </a:t>
            </a:r>
            <a:r>
              <a:rPr lang="en-US" altLang="zh-TW" sz="2400" dirty="0" smtClean="0"/>
              <a:t>to be interviewed</a:t>
            </a:r>
          </a:p>
          <a:p>
            <a:pPr marL="822325" lvl="1" indent="-495300" eaLnBrk="1" hangingPunct="1">
              <a:lnSpc>
                <a:spcPct val="120000"/>
              </a:lnSpc>
              <a:buFont typeface="Wingdings" pitchFamily="2" charset="2"/>
              <a:buAutoNum type="arabicPeriod"/>
            </a:pPr>
            <a:r>
              <a:rPr lang="en-US" altLang="zh-TW" sz="2400" dirty="0" smtClean="0"/>
              <a:t>the number of </a:t>
            </a:r>
            <a:r>
              <a:rPr lang="en-US" altLang="zh-TW" sz="2400" dirty="0" smtClean="0">
                <a:solidFill>
                  <a:srgbClr val="0000FF"/>
                </a:solidFill>
              </a:rPr>
              <a:t>work models </a:t>
            </a:r>
            <a:r>
              <a:rPr lang="en-US" altLang="zh-TW" sz="2400" dirty="0" smtClean="0"/>
              <a:t>to be consolidated</a:t>
            </a:r>
          </a:p>
          <a:p>
            <a:pPr marL="822325" lvl="1" indent="-495300" eaLnBrk="1" hangingPunct="1">
              <a:lnSpc>
                <a:spcPct val="120000"/>
              </a:lnSpc>
              <a:buFont typeface="Wingdings" pitchFamily="2" charset="2"/>
              <a:buAutoNum type="arabicPeriod"/>
            </a:pPr>
            <a:r>
              <a:rPr lang="en-US" altLang="zh-TW" sz="2400" dirty="0" smtClean="0"/>
              <a:t>the </a:t>
            </a:r>
            <a:r>
              <a:rPr lang="en-US" altLang="zh-TW" sz="2400" dirty="0" smtClean="0">
                <a:solidFill>
                  <a:srgbClr val="0000FF"/>
                </a:solidFill>
              </a:rPr>
              <a:t>complexity of the design</a:t>
            </a:r>
          </a:p>
          <a:p>
            <a:pPr marL="822325" lvl="1" indent="-495300" eaLnBrk="1" hangingPunct="1">
              <a:lnSpc>
                <a:spcPct val="120000"/>
              </a:lnSpc>
              <a:buFont typeface="Wingdings" pitchFamily="2" charset="2"/>
              <a:buAutoNum type="arabicPeriod"/>
            </a:pPr>
            <a:r>
              <a:rPr lang="en-US" altLang="zh-TW" sz="2400" dirty="0" smtClean="0"/>
              <a:t>the </a:t>
            </a:r>
            <a:r>
              <a:rPr lang="en-US" altLang="zh-TW" sz="2400" dirty="0" smtClean="0">
                <a:solidFill>
                  <a:srgbClr val="0000FF"/>
                </a:solidFill>
              </a:rPr>
              <a:t>number of people </a:t>
            </a:r>
            <a:r>
              <a:rPr lang="en-US" altLang="zh-TW" sz="2400" dirty="0" smtClean="0"/>
              <a:t>available to do the work.</a:t>
            </a:r>
          </a:p>
          <a:p>
            <a:pPr marL="822325" lvl="1" indent="-495300" eaLnBrk="1" hangingPunct="1">
              <a:lnSpc>
                <a:spcPct val="120000"/>
              </a:lnSpc>
              <a:buFont typeface="Wingdings" pitchFamily="2" charset="2"/>
              <a:buAutoNum type="arabicPeriod"/>
            </a:pPr>
            <a:r>
              <a:rPr lang="en-US" altLang="zh-TW" sz="2400" dirty="0" smtClean="0"/>
              <a:t>The </a:t>
            </a:r>
            <a:r>
              <a:rPr lang="en-US" altLang="zh-TW" sz="2400" dirty="0" smtClean="0">
                <a:solidFill>
                  <a:srgbClr val="0000FF"/>
                </a:solidFill>
              </a:rPr>
              <a:t>time to communicate </a:t>
            </a:r>
            <a:r>
              <a:rPr lang="en-US" altLang="zh-TW" sz="2400" dirty="0" smtClean="0"/>
              <a:t>to others and to obtain organizational buy-in </a:t>
            </a:r>
            <a:r>
              <a:rPr lang="zh-TW" altLang="en-US" sz="2400" dirty="0" smtClean="0"/>
              <a:t>採納</a:t>
            </a:r>
            <a:r>
              <a:rPr lang="en-US" altLang="zh-TW" sz="2400" dirty="0" smtClean="0"/>
              <a:t>.</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p:cNvSpPr>
            <a:spLocks noGrp="1"/>
          </p:cNvSpPr>
          <p:nvPr>
            <p:ph idx="1"/>
          </p:nvPr>
        </p:nvSpPr>
        <p:spPr>
          <a:xfrm>
            <a:off x="385192" y="1916832"/>
            <a:ext cx="8507288" cy="4608512"/>
          </a:xfrm>
        </p:spPr>
        <p:txBody>
          <a:bodyPr/>
          <a:lstStyle/>
          <a:p>
            <a:pPr>
              <a:lnSpc>
                <a:spcPct val="120000"/>
              </a:lnSpc>
            </a:pPr>
            <a:r>
              <a:rPr lang="en-US" altLang="zh-TW" sz="2200" dirty="0" smtClean="0"/>
              <a:t>A. </a:t>
            </a:r>
            <a:r>
              <a:rPr lang="zh-TW" altLang="en-US" sz="2200" dirty="0" smtClean="0"/>
              <a:t>情境訪談 </a:t>
            </a:r>
            <a:r>
              <a:rPr lang="en-US" altLang="zh-TW" sz="2200" dirty="0" smtClean="0"/>
              <a:t>The contextual interview – getting the right data</a:t>
            </a:r>
          </a:p>
          <a:p>
            <a:pPr>
              <a:lnSpc>
                <a:spcPct val="120000"/>
              </a:lnSpc>
            </a:pPr>
            <a:r>
              <a:rPr lang="en-US" altLang="zh-TW" sz="2200" dirty="0" smtClean="0"/>
              <a:t>B. </a:t>
            </a:r>
            <a:r>
              <a:rPr lang="zh-TW" altLang="en-US" sz="2200" dirty="0" smtClean="0"/>
              <a:t>解讀資料 </a:t>
            </a:r>
            <a:r>
              <a:rPr lang="en-US" altLang="zh-TW" sz="2200" dirty="0" smtClean="0"/>
              <a:t>Interpretation sessions – creating a shared understanding</a:t>
            </a:r>
          </a:p>
          <a:p>
            <a:pPr>
              <a:lnSpc>
                <a:spcPct val="120000"/>
              </a:lnSpc>
            </a:pPr>
            <a:r>
              <a:rPr lang="en-US" altLang="zh-TW" sz="2200" dirty="0" smtClean="0"/>
              <a:t>C. </a:t>
            </a:r>
            <a:r>
              <a:rPr lang="zh-TW" altLang="en-US" sz="2200" dirty="0" smtClean="0"/>
              <a:t>整合模式</a:t>
            </a:r>
            <a:r>
              <a:rPr lang="en-US" altLang="zh-TW" sz="2200" dirty="0" smtClean="0"/>
              <a:t>Consolidation – creating one picture of the customer</a:t>
            </a:r>
          </a:p>
          <a:p>
            <a:pPr>
              <a:lnSpc>
                <a:spcPct val="120000"/>
              </a:lnSpc>
            </a:pPr>
            <a:r>
              <a:rPr lang="en-US" altLang="zh-TW" sz="2200" dirty="0" smtClean="0"/>
              <a:t>D.</a:t>
            </a:r>
            <a:r>
              <a:rPr lang="zh-TW" altLang="en-US" sz="2200" dirty="0" smtClean="0"/>
              <a:t> 想望新工作方式</a:t>
            </a:r>
            <a:r>
              <a:rPr lang="en-US" altLang="zh-TW" sz="2200" dirty="0" smtClean="0"/>
              <a:t>Visioning a new work practice</a:t>
            </a:r>
          </a:p>
          <a:p>
            <a:pPr>
              <a:lnSpc>
                <a:spcPct val="120000"/>
              </a:lnSpc>
            </a:pPr>
            <a:r>
              <a:rPr lang="en-US" altLang="zh-TW" sz="2200" dirty="0" smtClean="0"/>
              <a:t>E. </a:t>
            </a:r>
            <a:r>
              <a:rPr lang="zh-TW" altLang="en-US" sz="2200" dirty="0" smtClean="0"/>
              <a:t>故事腳本 </a:t>
            </a:r>
            <a:r>
              <a:rPr lang="en-US" altLang="zh-TW" sz="2200" dirty="0" smtClean="0"/>
              <a:t>Storyboarding – working out the details</a:t>
            </a:r>
          </a:p>
          <a:p>
            <a:pPr>
              <a:lnSpc>
                <a:spcPct val="120000"/>
              </a:lnSpc>
            </a:pPr>
            <a:r>
              <a:rPr lang="en-US" altLang="zh-TW" sz="2200" dirty="0" smtClean="0"/>
              <a:t>F. </a:t>
            </a:r>
            <a:r>
              <a:rPr lang="zh-TW" altLang="en-US" sz="2200" dirty="0" smtClean="0"/>
              <a:t>設計使用者環境 </a:t>
            </a:r>
            <a:r>
              <a:rPr lang="en-US" altLang="zh-TW" sz="2200" dirty="0" smtClean="0"/>
              <a:t>User environment design</a:t>
            </a:r>
          </a:p>
          <a:p>
            <a:pPr>
              <a:lnSpc>
                <a:spcPct val="120000"/>
              </a:lnSpc>
            </a:pPr>
            <a:r>
              <a:rPr lang="en-US" altLang="zh-TW" sz="2200" dirty="0" smtClean="0"/>
              <a:t>G. </a:t>
            </a:r>
            <a:r>
              <a:rPr lang="zh-TW" altLang="en-US" sz="2200" dirty="0" smtClean="0"/>
              <a:t>介面設計 </a:t>
            </a:r>
            <a:r>
              <a:rPr lang="en-US" altLang="zh-TW" sz="2200" dirty="0" smtClean="0"/>
              <a:t>User interface design and mock-up</a:t>
            </a:r>
          </a:p>
        </p:txBody>
      </p:sp>
      <p:sp>
        <p:nvSpPr>
          <p:cNvPr id="4" name="投影片編號版面配置區 3"/>
          <p:cNvSpPr>
            <a:spLocks noGrp="1"/>
          </p:cNvSpPr>
          <p:nvPr>
            <p:ph type="sldNum" sz="quarter" idx="12"/>
          </p:nvPr>
        </p:nvSpPr>
        <p:spPr/>
        <p:txBody>
          <a:bodyPr/>
          <a:lstStyle/>
          <a:p>
            <a:pPr>
              <a:defRPr/>
            </a:pPr>
            <a:fld id="{12E00E1D-2E5C-46F3-A24F-4A83B6169687}" type="slidenum">
              <a:rPr lang="en-US" altLang="zh-TW" smtClean="0"/>
              <a:pPr>
                <a:defRPr/>
              </a:pPr>
              <a:t>12</a:t>
            </a:fld>
            <a:endParaRPr lang="en-US" altLang="zh-TW"/>
          </a:p>
        </p:txBody>
      </p:sp>
      <p:sp>
        <p:nvSpPr>
          <p:cNvPr id="5" name="Rectangle 2"/>
          <p:cNvSpPr>
            <a:spLocks noGrp="1" noChangeArrowheads="1"/>
          </p:cNvSpPr>
          <p:nvPr>
            <p:ph type="title"/>
          </p:nvPr>
        </p:nvSpPr>
        <p:spPr>
          <a:xfrm>
            <a:off x="467544" y="548680"/>
            <a:ext cx="8229600" cy="1139825"/>
          </a:xfrm>
        </p:spPr>
        <p:txBody>
          <a:bodyPr/>
          <a:lstStyle/>
          <a:p>
            <a:pPr eaLnBrk="1" hangingPunct="1"/>
            <a:r>
              <a:rPr lang="en-US" altLang="zh-TW" sz="4000" b="1" dirty="0" smtClean="0"/>
              <a:t>The steps of contextual design</a:t>
            </a:r>
            <a:endParaRPr lang="en-US" altLang="zh-TW" sz="4000" dirty="0" smtClean="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投影片編號版面配置區 4"/>
          <p:cNvSpPr>
            <a:spLocks noGrp="1"/>
          </p:cNvSpPr>
          <p:nvPr>
            <p:ph type="sldNum" sz="quarter" idx="12"/>
          </p:nvPr>
        </p:nvSpPr>
        <p:spPr/>
        <p:txBody>
          <a:bodyPr/>
          <a:lstStyle/>
          <a:p>
            <a:pPr>
              <a:defRPr/>
            </a:pPr>
            <a:fld id="{D06343EB-2418-45C7-809E-B5A51C17EA97}" type="slidenum">
              <a:rPr lang="en-US" altLang="zh-TW"/>
              <a:pPr>
                <a:defRPr/>
              </a:pPr>
              <a:t>13</a:t>
            </a:fld>
            <a:endParaRPr lang="en-US" altLang="zh-TW"/>
          </a:p>
        </p:txBody>
      </p:sp>
      <p:sp>
        <p:nvSpPr>
          <p:cNvPr id="22531" name="Rectangle 2"/>
          <p:cNvSpPr>
            <a:spLocks noGrp="1" noChangeArrowheads="1"/>
          </p:cNvSpPr>
          <p:nvPr>
            <p:ph type="title" idx="4294967295"/>
          </p:nvPr>
        </p:nvSpPr>
        <p:spPr>
          <a:xfrm>
            <a:off x="468313" y="260350"/>
            <a:ext cx="8229600" cy="1139825"/>
          </a:xfrm>
        </p:spPr>
        <p:txBody>
          <a:bodyPr/>
          <a:lstStyle/>
          <a:p>
            <a:pPr eaLnBrk="1" hangingPunct="1"/>
            <a:r>
              <a:rPr lang="en-US" altLang="zh-TW" smtClean="0"/>
              <a:t>Table 49.1. </a:t>
            </a:r>
            <a:r>
              <a:rPr lang="zh-TW" altLang="en-US" smtClean="0">
                <a:latin typeface="標楷體" pitchFamily="65" charset="-120"/>
                <a:ea typeface="標楷體" pitchFamily="65" charset="-120"/>
              </a:rPr>
              <a:t>情境設計的步驟</a:t>
            </a:r>
          </a:p>
        </p:txBody>
      </p:sp>
      <p:graphicFrame>
        <p:nvGraphicFramePr>
          <p:cNvPr id="4148" name="Group 52"/>
          <p:cNvGraphicFramePr>
            <a:graphicFrameLocks noGrp="1"/>
          </p:cNvGraphicFramePr>
          <p:nvPr>
            <p:ph/>
          </p:nvPr>
        </p:nvGraphicFramePr>
        <p:xfrm>
          <a:off x="539750" y="1052513"/>
          <a:ext cx="8229600" cy="5117529"/>
        </p:xfrm>
        <a:graphic>
          <a:graphicData uri="http://schemas.openxmlformats.org/drawingml/2006/table">
            <a:tbl>
              <a:tblPr/>
              <a:tblGrid>
                <a:gridCol w="27432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369888">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1" lang="zh-TW" altLang="en-US" sz="2400" b="0" i="0" u="none" strike="noStrike" cap="none" normalizeH="0" baseline="0" dirty="0" smtClean="0">
                          <a:ln>
                            <a:noFill/>
                          </a:ln>
                          <a:solidFill>
                            <a:schemeClr val="tx1"/>
                          </a:solidFill>
                          <a:effectLst/>
                          <a:latin typeface="微軟正黑體" pitchFamily="34" charset="-120"/>
                          <a:ea typeface="微軟正黑體" pitchFamily="34" charset="-120"/>
                        </a:rPr>
                        <a:t>步驟</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1" lang="zh-TW" altLang="en-US" sz="2400" b="0" i="0" u="none" strike="noStrike" cap="none" normalizeH="0" baseline="0" smtClean="0">
                          <a:ln>
                            <a:noFill/>
                          </a:ln>
                          <a:solidFill>
                            <a:schemeClr val="tx1"/>
                          </a:solidFill>
                          <a:effectLst/>
                          <a:latin typeface="微軟正黑體" pitchFamily="34" charset="-120"/>
                          <a:ea typeface="微軟正黑體" pitchFamily="34" charset="-120"/>
                        </a:rPr>
                        <a:t>描述</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1" lang="zh-TW" altLang="en-US" sz="2400" b="0" i="0" u="none" strike="noStrike" cap="none" normalizeH="0" baseline="0" smtClean="0">
                          <a:ln>
                            <a:noFill/>
                          </a:ln>
                          <a:solidFill>
                            <a:schemeClr val="tx1"/>
                          </a:solidFill>
                          <a:effectLst/>
                          <a:latin typeface="微軟正黑體" pitchFamily="34" charset="-120"/>
                          <a:ea typeface="微軟正黑體" pitchFamily="34" charset="-120"/>
                        </a:rPr>
                        <a:t>目的</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789113">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1" lang="zh-TW" altLang="en-US" sz="2400" b="0" i="0" u="none" strike="noStrike" cap="none" normalizeH="0" baseline="0" dirty="0" smtClean="0">
                          <a:ln>
                            <a:noFill/>
                          </a:ln>
                          <a:solidFill>
                            <a:schemeClr val="tx1"/>
                          </a:solidFill>
                          <a:effectLst/>
                          <a:latin typeface="微軟正黑體" pitchFamily="34" charset="-120"/>
                          <a:ea typeface="微軟正黑體" pitchFamily="34" charset="-120"/>
                        </a:rPr>
                        <a:t>使用情景調查 </a:t>
                      </a:r>
                      <a:r>
                        <a:rPr kumimoji="1" lang="en-US" altLang="zh-TW" sz="2400" b="0" i="0" u="none" strike="noStrike" cap="none" normalizeH="0" baseline="0" dirty="0" smtClean="0">
                          <a:ln>
                            <a:noFill/>
                          </a:ln>
                          <a:solidFill>
                            <a:schemeClr val="tx1"/>
                          </a:solidFill>
                          <a:effectLst/>
                          <a:latin typeface="微軟正黑體" pitchFamily="34" charset="-120"/>
                          <a:ea typeface="微軟正黑體" pitchFamily="34" charset="-120"/>
                        </a:rPr>
                        <a:t>(CI)</a:t>
                      </a:r>
                      <a:endParaRPr kumimoji="1" lang="zh-TW" altLang="en-US" sz="2400" b="0" i="0" u="none" strike="noStrike" cap="none" normalizeH="0" baseline="0" dirty="0" smtClean="0">
                        <a:ln>
                          <a:noFill/>
                        </a:ln>
                        <a:solidFill>
                          <a:schemeClr val="tx1"/>
                        </a:solidFill>
                        <a:effectLst/>
                        <a:latin typeface="微軟正黑體" pitchFamily="34" charset="-120"/>
                        <a:ea typeface="微軟正黑體" pitchFamily="34" charset="-12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1" lang="zh-TW" altLang="en-US" sz="2400" b="0" i="0" u="none" strike="noStrike" cap="none" normalizeH="0" baseline="0" dirty="0" smtClean="0">
                          <a:ln>
                            <a:noFill/>
                          </a:ln>
                          <a:solidFill>
                            <a:schemeClr val="tx1"/>
                          </a:solidFill>
                          <a:effectLst/>
                          <a:latin typeface="微軟正黑體" pitchFamily="34" charset="-120"/>
                          <a:ea typeface="微軟正黑體" pitchFamily="34" charset="-120"/>
                        </a:rPr>
                        <a:t>在</a:t>
                      </a:r>
                      <a:r>
                        <a:rPr kumimoji="1" lang="zh-TW" altLang="en-US" sz="2400" b="0" i="0" u="none" strike="noStrike" cap="none" normalizeH="0" baseline="0" dirty="0" smtClean="0">
                          <a:ln>
                            <a:noFill/>
                          </a:ln>
                          <a:solidFill>
                            <a:srgbClr val="C00000"/>
                          </a:solidFill>
                          <a:effectLst/>
                          <a:latin typeface="微軟正黑體" pitchFamily="34" charset="-120"/>
                          <a:ea typeface="微軟正黑體" pitchFamily="34" charset="-120"/>
                        </a:rPr>
                        <a:t>使用者工作時觀察並問問題</a:t>
                      </a:r>
                      <a:r>
                        <a:rPr kumimoji="1" lang="zh-TW" altLang="en-US" sz="2400" b="0" i="0" u="none" strike="noStrike" cap="none" normalizeH="0" baseline="0" dirty="0" smtClean="0">
                          <a:ln>
                            <a:noFill/>
                          </a:ln>
                          <a:solidFill>
                            <a:schemeClr val="tx1"/>
                          </a:solidFill>
                          <a:effectLst/>
                          <a:latin typeface="微軟正黑體" pitchFamily="34" charset="-120"/>
                          <a:ea typeface="微軟正黑體" pitchFamily="34" charset="-120"/>
                        </a:rPr>
                        <a:t>。利用人種誌的技術收集資料</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1" lang="zh-TW" altLang="en-US" sz="2400" b="0" i="0" u="none" strike="noStrike" cap="none" normalizeH="0" baseline="0" dirty="0" smtClean="0">
                          <a:ln>
                            <a:noFill/>
                          </a:ln>
                          <a:solidFill>
                            <a:schemeClr val="tx1"/>
                          </a:solidFill>
                          <a:effectLst/>
                          <a:latin typeface="微軟正黑體" pitchFamily="34" charset="-120"/>
                          <a:ea typeface="微軟正黑體" pitchFamily="34" charset="-120"/>
                        </a:rPr>
                        <a:t>獲得使用者所從事、所關心和實際工作架構的相關資訊</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097088">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1" lang="zh-TW" altLang="en-US" sz="2400" b="0" i="0" u="none" strike="noStrike" cap="none" normalizeH="0" baseline="0" smtClean="0">
                          <a:ln>
                            <a:noFill/>
                          </a:ln>
                          <a:solidFill>
                            <a:schemeClr val="tx1"/>
                          </a:solidFill>
                          <a:effectLst/>
                          <a:latin typeface="微軟正黑體" pitchFamily="34" charset="-120"/>
                          <a:ea typeface="微軟正黑體" pitchFamily="34" charset="-120"/>
                        </a:rPr>
                        <a:t>闡釋階段和工作塑模</a:t>
                      </a:r>
                      <a:r>
                        <a:rPr kumimoji="1" lang="en-US" altLang="zh-TW" sz="2400" b="0" i="0" u="none" strike="noStrike" cap="none" normalizeH="0" baseline="0" smtClean="0">
                          <a:ln>
                            <a:noFill/>
                          </a:ln>
                          <a:solidFill>
                            <a:schemeClr val="tx1"/>
                          </a:solidFill>
                          <a:effectLst/>
                          <a:latin typeface="微軟正黑體" pitchFamily="34" charset="-120"/>
                          <a:ea typeface="微軟正黑體" pitchFamily="34" charset="-120"/>
                        </a:rPr>
                        <a:t>(work modeling)</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1" lang="zh-TW" altLang="en-US" sz="2400" b="0" i="0" u="none" strike="noStrike" cap="none" normalizeH="0" baseline="0" dirty="0" smtClean="0">
                          <a:ln>
                            <a:noFill/>
                          </a:ln>
                          <a:solidFill>
                            <a:schemeClr val="tx1"/>
                          </a:solidFill>
                          <a:effectLst/>
                          <a:latin typeface="微軟正黑體" pitchFamily="34" charset="-120"/>
                          <a:ea typeface="微軟正黑體" pitchFamily="34" charset="-120"/>
                        </a:rPr>
                        <a:t>獲取個人實際工作的一些</a:t>
                      </a:r>
                      <a:r>
                        <a:rPr kumimoji="1" lang="zh-TW" altLang="en-US" sz="2400" b="0" i="0" u="none" strike="noStrike" cap="none" normalizeH="0" baseline="0" dirty="0" smtClean="0">
                          <a:ln>
                            <a:noFill/>
                          </a:ln>
                          <a:solidFill>
                            <a:srgbClr val="C00000"/>
                          </a:solidFill>
                          <a:effectLst/>
                          <a:latin typeface="微軟正黑體" pitchFamily="34" charset="-120"/>
                          <a:ea typeface="微軟正黑體" pitchFamily="34" charset="-120"/>
                        </a:rPr>
                        <a:t>關鍵議題</a:t>
                      </a:r>
                      <a:r>
                        <a:rPr kumimoji="1" lang="zh-TW" altLang="en-US" sz="2400" b="0" i="0" u="none" strike="noStrike" cap="none" normalizeH="0" baseline="0" dirty="0" smtClean="0">
                          <a:ln>
                            <a:noFill/>
                          </a:ln>
                          <a:solidFill>
                            <a:schemeClr val="tx1"/>
                          </a:solidFill>
                          <a:effectLst/>
                          <a:latin typeface="微軟正黑體" pitchFamily="34" charset="-120"/>
                          <a:ea typeface="微軟正黑體" pitchFamily="34" charset="-120"/>
                        </a:rPr>
                        <a:t>。</a:t>
                      </a:r>
                      <a:endParaRPr kumimoji="1" lang="en-US" altLang="zh-TW" sz="2400" b="0" i="0" u="none" strike="noStrike" cap="none" normalizeH="0" baseline="0" dirty="0" smtClean="0">
                        <a:ln>
                          <a:noFill/>
                        </a:ln>
                        <a:solidFill>
                          <a:schemeClr val="tx1"/>
                        </a:solidFill>
                        <a:effectLst/>
                        <a:latin typeface="微軟正黑體" pitchFamily="34" charset="-120"/>
                        <a:ea typeface="微軟正黑體" pitchFamily="34" charset="-120"/>
                      </a:endParaRPr>
                    </a:p>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1" lang="zh-TW" altLang="en-US" sz="2400" b="0" i="0" u="none" strike="noStrike" cap="none" normalizeH="0" baseline="0" dirty="0" smtClean="0">
                          <a:ln>
                            <a:noFill/>
                          </a:ln>
                          <a:solidFill>
                            <a:schemeClr val="tx1"/>
                          </a:solidFill>
                          <a:effectLst/>
                          <a:latin typeface="微軟正黑體" pitchFamily="34" charset="-120"/>
                          <a:ea typeface="微軟正黑體" pitchFamily="34" charset="-120"/>
                        </a:rPr>
                        <a:t>利用</a:t>
                      </a:r>
                      <a:r>
                        <a:rPr kumimoji="1" lang="en-US" altLang="zh-TW" sz="2400" b="0" i="0" u="none" strike="noStrike" cap="none" normalizeH="0" baseline="0" dirty="0" smtClean="0">
                          <a:ln>
                            <a:noFill/>
                          </a:ln>
                          <a:solidFill>
                            <a:schemeClr val="tx1"/>
                          </a:solidFill>
                          <a:effectLst/>
                          <a:latin typeface="微軟正黑體" pitchFamily="34" charset="-120"/>
                          <a:ea typeface="微軟正黑體" pitchFamily="34" charset="-120"/>
                        </a:rPr>
                        <a:t>5</a:t>
                      </a:r>
                      <a:r>
                        <a:rPr kumimoji="1" lang="zh-TW" altLang="en-US" sz="2400" b="0" i="0" u="none" strike="noStrike" cap="none" normalizeH="0" baseline="0" dirty="0" smtClean="0">
                          <a:ln>
                            <a:noFill/>
                          </a:ln>
                          <a:solidFill>
                            <a:schemeClr val="tx1"/>
                          </a:solidFill>
                          <a:effectLst/>
                          <a:latin typeface="微軟正黑體" pitchFamily="34" charset="-120"/>
                          <a:ea typeface="微軟正黑體" pitchFamily="34" charset="-120"/>
                        </a:rPr>
                        <a:t>個工作模型將個人工作模型化。</a:t>
                      </a:r>
                      <a:endParaRPr kumimoji="1" lang="en-US" altLang="zh-TW" sz="2400" b="0" i="0" u="none" strike="noStrike" cap="none" normalizeH="0" baseline="0" dirty="0" smtClean="0">
                        <a:ln>
                          <a:noFill/>
                        </a:ln>
                        <a:solidFill>
                          <a:schemeClr val="tx1"/>
                        </a:solidFill>
                        <a:effectLst/>
                        <a:latin typeface="微軟正黑體" pitchFamily="34" charset="-120"/>
                        <a:ea typeface="微軟正黑體" pitchFamily="34" charset="-120"/>
                      </a:endParaRPr>
                    </a:p>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endParaRPr kumimoji="1" lang="en-US" altLang="zh-TW" sz="2400" b="0" i="0" u="none" strike="noStrike" cap="none" normalizeH="0" baseline="0" dirty="0" smtClean="0">
                        <a:ln>
                          <a:noFill/>
                        </a:ln>
                        <a:solidFill>
                          <a:schemeClr val="tx1"/>
                        </a:solidFill>
                        <a:effectLst/>
                        <a:latin typeface="微軟正黑體" pitchFamily="34" charset="-120"/>
                        <a:ea typeface="微軟正黑體" pitchFamily="34" charset="-120"/>
                      </a:endParaRPr>
                    </a:p>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1" lang="zh-TW" altLang="en-US" sz="2400" b="0" i="0" u="none" strike="noStrike" cap="none" normalizeH="0" baseline="0" dirty="0" smtClean="0">
                          <a:ln>
                            <a:noFill/>
                          </a:ln>
                          <a:solidFill>
                            <a:schemeClr val="tx1"/>
                          </a:solidFill>
                          <a:effectLst/>
                          <a:latin typeface="微軟正黑體" pitchFamily="34" charset="-120"/>
                          <a:ea typeface="微軟正黑體" pitchFamily="34" charset="-120"/>
                        </a:rPr>
                        <a:t>每個模型紀錄實際工作的不同面向</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1" lang="zh-TW" altLang="en-US" sz="2400" b="0" i="0" u="none" strike="noStrike" cap="none" normalizeH="0" baseline="0" dirty="0" smtClean="0">
                          <a:ln>
                            <a:noFill/>
                          </a:ln>
                          <a:solidFill>
                            <a:schemeClr val="tx1"/>
                          </a:solidFill>
                          <a:effectLst/>
                          <a:latin typeface="微軟正黑體" pitchFamily="34" charset="-120"/>
                          <a:ea typeface="微軟正黑體" pitchFamily="34" charset="-120"/>
                        </a:rPr>
                        <a:t>對需在跨功能團隊中進行合作式設計的使用者產生多面向的了解。</a:t>
                      </a:r>
                      <a:endParaRPr kumimoji="1" lang="en-US" altLang="zh-TW" sz="2400" b="0" i="0" u="none" strike="noStrike" cap="none" normalizeH="0" baseline="0" dirty="0" smtClean="0">
                        <a:ln>
                          <a:noFill/>
                        </a:ln>
                        <a:solidFill>
                          <a:schemeClr val="tx1"/>
                        </a:solidFill>
                        <a:effectLst/>
                        <a:latin typeface="微軟正黑體" pitchFamily="34" charset="-120"/>
                        <a:ea typeface="微軟正黑體" pitchFamily="34" charset="-120"/>
                      </a:endParaRPr>
                    </a:p>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1" lang="zh-TW" altLang="en-US" sz="2400" b="0" i="0" u="none" strike="noStrike" cap="none" normalizeH="0" baseline="0" dirty="0" smtClean="0">
                          <a:ln>
                            <a:noFill/>
                          </a:ln>
                          <a:solidFill>
                            <a:schemeClr val="tx1"/>
                          </a:solidFill>
                          <a:effectLst/>
                          <a:latin typeface="微軟正黑體" pitchFamily="34" charset="-120"/>
                          <a:ea typeface="微軟正黑體" pitchFamily="34" charset="-120"/>
                        </a:rPr>
                        <a:t>提供一個取得複雜質性資料的方式</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投影片編號版面配置區 5"/>
          <p:cNvSpPr>
            <a:spLocks noGrp="1"/>
          </p:cNvSpPr>
          <p:nvPr>
            <p:ph type="sldNum" sz="quarter" idx="12"/>
          </p:nvPr>
        </p:nvSpPr>
        <p:spPr/>
        <p:txBody>
          <a:bodyPr/>
          <a:lstStyle/>
          <a:p>
            <a:pPr>
              <a:defRPr/>
            </a:pPr>
            <a:fld id="{5C50A847-0709-4C98-9D2B-49DCABF53079}" type="slidenum">
              <a:rPr lang="en-US" altLang="zh-TW"/>
              <a:pPr>
                <a:defRPr/>
              </a:pPr>
              <a:t>14</a:t>
            </a:fld>
            <a:endParaRPr lang="en-US" altLang="zh-TW"/>
          </a:p>
        </p:txBody>
      </p:sp>
      <p:graphicFrame>
        <p:nvGraphicFramePr>
          <p:cNvPr id="44076" name="Group 44"/>
          <p:cNvGraphicFramePr>
            <a:graphicFrameLocks noGrp="1"/>
          </p:cNvGraphicFramePr>
          <p:nvPr>
            <p:ph idx="1"/>
          </p:nvPr>
        </p:nvGraphicFramePr>
        <p:xfrm>
          <a:off x="468313" y="404813"/>
          <a:ext cx="8280400" cy="6126480"/>
        </p:xfrm>
        <a:graphic>
          <a:graphicData uri="http://schemas.openxmlformats.org/drawingml/2006/table">
            <a:tbl>
              <a:tblPr/>
              <a:tblGrid>
                <a:gridCol w="2760662">
                  <a:extLst>
                    <a:ext uri="{9D8B030D-6E8A-4147-A177-3AD203B41FA5}">
                      <a16:colId xmlns:a16="http://schemas.microsoft.com/office/drawing/2014/main" val="20000"/>
                    </a:ext>
                  </a:extLst>
                </a:gridCol>
                <a:gridCol w="2759075">
                  <a:extLst>
                    <a:ext uri="{9D8B030D-6E8A-4147-A177-3AD203B41FA5}">
                      <a16:colId xmlns:a16="http://schemas.microsoft.com/office/drawing/2014/main" val="20001"/>
                    </a:ext>
                  </a:extLst>
                </a:gridCol>
                <a:gridCol w="2760663">
                  <a:extLst>
                    <a:ext uri="{9D8B030D-6E8A-4147-A177-3AD203B41FA5}">
                      <a16:colId xmlns:a16="http://schemas.microsoft.com/office/drawing/2014/main" val="20002"/>
                    </a:ext>
                  </a:extLst>
                </a:gridCol>
              </a:tblGrid>
              <a:tr h="369888">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1" lang="zh-TW" altLang="en-US" sz="2400" b="0" i="0" u="none" strike="noStrike" cap="none" normalizeH="0" baseline="0" dirty="0" smtClean="0">
                          <a:ln>
                            <a:noFill/>
                          </a:ln>
                          <a:solidFill>
                            <a:schemeClr val="tx1"/>
                          </a:solidFill>
                          <a:effectLst/>
                          <a:latin typeface="微軟正黑體" pitchFamily="34" charset="-120"/>
                          <a:ea typeface="微軟正黑體" pitchFamily="34" charset="-120"/>
                        </a:rPr>
                        <a:t>步驟</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1" lang="zh-TW" altLang="en-US" sz="2400" b="0" i="0" u="none" strike="noStrike" cap="none" normalizeH="0" baseline="0" dirty="0" smtClean="0">
                          <a:ln>
                            <a:noFill/>
                          </a:ln>
                          <a:solidFill>
                            <a:schemeClr val="tx1"/>
                          </a:solidFill>
                          <a:effectLst/>
                          <a:latin typeface="微軟正黑體" pitchFamily="34" charset="-120"/>
                          <a:ea typeface="微軟正黑體" pitchFamily="34" charset="-120"/>
                        </a:rPr>
                        <a:t>描述</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1" lang="zh-TW" altLang="en-US" sz="2400" b="0" i="0" u="none" strike="noStrike" cap="none" normalizeH="0" baseline="0" smtClean="0">
                          <a:ln>
                            <a:noFill/>
                          </a:ln>
                          <a:solidFill>
                            <a:schemeClr val="tx1"/>
                          </a:solidFill>
                          <a:effectLst/>
                          <a:latin typeface="微軟正黑體" pitchFamily="34" charset="-120"/>
                          <a:ea typeface="微軟正黑體" pitchFamily="34" charset="-120"/>
                        </a:rPr>
                        <a:t>目的</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462088">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1" lang="zh-TW" altLang="en-US" sz="2400" b="0" i="0" u="none" strike="noStrike" cap="none" normalizeH="0" baseline="0" dirty="0" smtClean="0">
                          <a:ln>
                            <a:noFill/>
                          </a:ln>
                          <a:solidFill>
                            <a:schemeClr val="tx1"/>
                          </a:solidFill>
                          <a:effectLst/>
                          <a:latin typeface="微軟正黑體" pitchFamily="34" charset="-120"/>
                          <a:ea typeface="微軟正黑體" pitchFamily="34" charset="-120"/>
                        </a:rPr>
                        <a:t>關聯</a:t>
                      </a:r>
                      <a:r>
                        <a:rPr kumimoji="1" lang="en-US" altLang="zh-TW" sz="2400" b="0" i="0" u="none" strike="noStrike" cap="none" normalizeH="0" baseline="0" dirty="0" smtClean="0">
                          <a:ln>
                            <a:noFill/>
                          </a:ln>
                          <a:solidFill>
                            <a:schemeClr val="tx1"/>
                          </a:solidFill>
                          <a:effectLst/>
                          <a:latin typeface="微軟正黑體" pitchFamily="34" charset="-120"/>
                          <a:ea typeface="微軟正黑體" pitchFamily="34" charset="-120"/>
                        </a:rPr>
                        <a:t>(affinity)</a:t>
                      </a:r>
                      <a:r>
                        <a:rPr kumimoji="1" lang="zh-TW" altLang="en-US" sz="2400" b="0" i="0" u="none" strike="noStrike" cap="none" normalizeH="0" baseline="0" dirty="0" smtClean="0">
                          <a:ln>
                            <a:noFill/>
                          </a:ln>
                          <a:solidFill>
                            <a:schemeClr val="tx1"/>
                          </a:solidFill>
                          <a:effectLst/>
                          <a:latin typeface="微軟正黑體" pitchFamily="34" charset="-120"/>
                          <a:ea typeface="微軟正黑體" pitchFamily="34" charset="-120"/>
                        </a:rPr>
                        <a:t>和工作模型強化</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1" lang="zh-TW" altLang="en-US" sz="2400" b="0" i="0" u="none" strike="noStrike" cap="none" normalizeH="0" baseline="0" dirty="0" smtClean="0">
                          <a:ln>
                            <a:noFill/>
                          </a:ln>
                          <a:solidFill>
                            <a:schemeClr val="tx1"/>
                          </a:solidFill>
                          <a:effectLst/>
                          <a:latin typeface="微軟正黑體" pitchFamily="34" charset="-120"/>
                          <a:ea typeface="微軟正黑體" pitchFamily="34" charset="-120"/>
                        </a:rPr>
                        <a:t>強化個人的工作模型和議題，以呈現某一族群的</a:t>
                      </a:r>
                      <a:r>
                        <a:rPr kumimoji="1" lang="zh-TW" altLang="en-US" sz="2400" b="0" i="0" u="none" strike="noStrike" cap="none" normalizeH="0" baseline="0" dirty="0" smtClean="0">
                          <a:ln>
                            <a:noFill/>
                          </a:ln>
                          <a:solidFill>
                            <a:srgbClr val="C00000"/>
                          </a:solidFill>
                          <a:effectLst/>
                          <a:latin typeface="微軟正黑體" pitchFamily="34" charset="-120"/>
                          <a:ea typeface="微軟正黑體" pitchFamily="34" charset="-120"/>
                        </a:rPr>
                        <a:t>工作架構</a:t>
                      </a:r>
                      <a:r>
                        <a:rPr kumimoji="1" lang="zh-TW" altLang="en-US" sz="2400" b="0" i="0" u="none" strike="noStrike" cap="none" normalizeH="0" baseline="0" dirty="0" smtClean="0">
                          <a:ln>
                            <a:noFill/>
                          </a:ln>
                          <a:solidFill>
                            <a:schemeClr val="tx1"/>
                          </a:solidFill>
                          <a:effectLst/>
                          <a:latin typeface="微軟正黑體" pitchFamily="34" charset="-120"/>
                          <a:ea typeface="微軟正黑體" pitchFamily="34" charset="-120"/>
                        </a:rPr>
                        <a:t>，但又不失去個體差異</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1" lang="zh-TW" altLang="en-US" sz="2400" b="0" i="0" u="none" strike="noStrike" cap="none" normalizeH="0" baseline="0" dirty="0" smtClean="0">
                          <a:ln>
                            <a:noFill/>
                          </a:ln>
                          <a:solidFill>
                            <a:schemeClr val="tx1"/>
                          </a:solidFill>
                          <a:effectLst/>
                          <a:latin typeface="微軟正黑體" pitchFamily="34" charset="-120"/>
                          <a:ea typeface="微軟正黑體" pitchFamily="34" charset="-120"/>
                        </a:rPr>
                        <a:t>產生關於一個用戶族群可重複使用的一致性資料，讓設計者在</a:t>
                      </a:r>
                      <a:r>
                        <a:rPr kumimoji="1" lang="zh-TW" altLang="en-US" sz="2400" b="0" i="0" u="none" strike="noStrike" cap="none" normalizeH="0" baseline="0" dirty="0" smtClean="0">
                          <a:ln>
                            <a:noFill/>
                          </a:ln>
                          <a:solidFill>
                            <a:srgbClr val="0000FF"/>
                          </a:solidFill>
                          <a:effectLst/>
                          <a:latin typeface="微軟正黑體" pitchFamily="34" charset="-120"/>
                          <a:ea typeface="微軟正黑體" pitchFamily="34" charset="-120"/>
                        </a:rPr>
                        <a:t>定義關鍵需求和刺激設計討論時</a:t>
                      </a:r>
                      <a:r>
                        <a:rPr kumimoji="1" lang="zh-TW" altLang="en-US" sz="2400" b="0" i="0" u="none" strike="noStrike" cap="none" normalizeH="0" baseline="0" dirty="0" smtClean="0">
                          <a:ln>
                            <a:noFill/>
                          </a:ln>
                          <a:solidFill>
                            <a:schemeClr val="tx1"/>
                          </a:solidFill>
                          <a:effectLst/>
                          <a:latin typeface="微軟正黑體" pitchFamily="34" charset="-120"/>
                          <a:ea typeface="微軟正黑體" pitchFamily="34" charset="-120"/>
                        </a:rPr>
                        <a:t>有個遵循方向</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097088">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1" lang="zh-TW" altLang="en-US" sz="2400" b="0" i="0" u="none" strike="noStrike" cap="none" normalizeH="0" baseline="0" smtClean="0">
                          <a:ln>
                            <a:noFill/>
                          </a:ln>
                          <a:solidFill>
                            <a:schemeClr val="tx1"/>
                          </a:solidFill>
                          <a:effectLst/>
                          <a:latin typeface="微軟正黑體" pitchFamily="34" charset="-120"/>
                          <a:ea typeface="微軟正黑體" pitchFamily="34" charset="-120"/>
                        </a:rPr>
                        <a:t>視覺呈現和故事板</a:t>
                      </a:r>
                      <a:r>
                        <a:rPr kumimoji="1" lang="en-US" altLang="zh-TW" sz="2400" b="0" i="0" u="none" strike="noStrike" cap="none" normalizeH="0" baseline="0" smtClean="0">
                          <a:ln>
                            <a:noFill/>
                          </a:ln>
                          <a:solidFill>
                            <a:schemeClr val="tx1"/>
                          </a:solidFill>
                          <a:effectLst/>
                          <a:latin typeface="微軟正黑體" pitchFamily="34" charset="-120"/>
                          <a:ea typeface="微軟正黑體" pitchFamily="34" charset="-120"/>
                        </a:rPr>
                        <a:t>(storyboard)</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zh-TW" altLang="en-US" sz="2400" b="0" i="0" u="none" strike="noStrike" cap="none" normalizeH="0" baseline="0" dirty="0" smtClean="0">
                          <a:ln>
                            <a:noFill/>
                          </a:ln>
                          <a:solidFill>
                            <a:schemeClr val="tx1"/>
                          </a:solidFill>
                          <a:effectLst/>
                          <a:latin typeface="微軟正黑體" pitchFamily="34" charset="-120"/>
                          <a:ea typeface="微軟正黑體" pitchFamily="34" charset="-120"/>
                        </a:rPr>
                        <a:t>利用產生一個觀於</a:t>
                      </a:r>
                      <a:r>
                        <a:rPr kumimoji="0" lang="zh-TW" altLang="en-US" sz="2400" b="0" i="0" u="none" strike="noStrike" cap="none" normalizeH="0" baseline="0" dirty="0" smtClean="0">
                          <a:ln>
                            <a:noFill/>
                          </a:ln>
                          <a:solidFill>
                            <a:srgbClr val="C00000"/>
                          </a:solidFill>
                          <a:effectLst/>
                          <a:latin typeface="微軟正黑體" pitchFamily="34" charset="-120"/>
                          <a:ea typeface="微軟正黑體" pitchFamily="34" charset="-120"/>
                        </a:rPr>
                        <a:t>工作如何被改變的</a:t>
                      </a:r>
                      <a:r>
                        <a:rPr kumimoji="0" lang="en-US" altLang="zh-TW" sz="2400" b="0" i="0" u="none" strike="noStrike" cap="none" normalizeH="0" baseline="0" dirty="0" smtClean="0">
                          <a:ln>
                            <a:noFill/>
                          </a:ln>
                          <a:solidFill>
                            <a:srgbClr val="C00000"/>
                          </a:solidFill>
                          <a:effectLst/>
                          <a:latin typeface="微軟正黑體" pitchFamily="34" charset="-120"/>
                          <a:ea typeface="微軟正黑體" pitchFamily="34" charset="-120"/>
                        </a:rPr>
                        <a:t>high-level</a:t>
                      </a:r>
                      <a:r>
                        <a:rPr kumimoji="0" lang="zh-TW" altLang="en-US" sz="2400" b="0" i="0" u="none" strike="noStrike" cap="none" normalizeH="0" baseline="0" dirty="0" smtClean="0">
                          <a:ln>
                            <a:noFill/>
                          </a:ln>
                          <a:solidFill>
                            <a:srgbClr val="C00000"/>
                          </a:solidFill>
                          <a:effectLst/>
                          <a:latin typeface="微軟正黑體" pitchFamily="34" charset="-120"/>
                          <a:ea typeface="微軟正黑體" pitchFamily="34" charset="-120"/>
                        </a:rPr>
                        <a:t>故事</a:t>
                      </a:r>
                      <a:r>
                        <a:rPr kumimoji="0" lang="en-US" altLang="zh-TW" sz="2400" b="0" i="0" u="none" strike="noStrike" cap="none" normalizeH="0" baseline="0" dirty="0" smtClean="0">
                          <a:ln>
                            <a:noFill/>
                          </a:ln>
                          <a:solidFill>
                            <a:srgbClr val="C00000"/>
                          </a:solidFill>
                          <a:effectLst/>
                          <a:latin typeface="微軟正黑體" pitchFamily="34" charset="-120"/>
                          <a:ea typeface="微軟正黑體" pitchFamily="34" charset="-120"/>
                        </a:rPr>
                        <a:t>(the vision)</a:t>
                      </a:r>
                      <a:r>
                        <a:rPr kumimoji="0" lang="zh-TW" altLang="en-US" sz="2400" b="0" i="0" u="none" strike="noStrike" cap="none" normalizeH="0" baseline="0" dirty="0" smtClean="0">
                          <a:ln>
                            <a:noFill/>
                          </a:ln>
                          <a:solidFill>
                            <a:srgbClr val="C00000"/>
                          </a:solidFill>
                          <a:effectLst/>
                          <a:latin typeface="微軟正黑體" pitchFamily="34" charset="-120"/>
                          <a:ea typeface="微軟正黑體" pitchFamily="34" charset="-120"/>
                        </a:rPr>
                        <a:t>，來發想</a:t>
                      </a:r>
                      <a:r>
                        <a:rPr kumimoji="1" lang="zh-TW" altLang="en-US" sz="2400" b="0" i="0" u="none" strike="noStrike" cap="none" normalizeH="0" baseline="0" dirty="0" smtClean="0">
                          <a:ln>
                            <a:noFill/>
                          </a:ln>
                          <a:solidFill>
                            <a:srgbClr val="C00000"/>
                          </a:solidFill>
                          <a:effectLst/>
                          <a:latin typeface="微軟正黑體" pitchFamily="34" charset="-120"/>
                          <a:ea typeface="微軟正黑體" pitchFamily="34" charset="-120"/>
                        </a:rPr>
                        <a:t>科技如何滿足使用者的實際工作需要</a:t>
                      </a:r>
                      <a:r>
                        <a:rPr kumimoji="1" lang="zh-TW" altLang="en-US" sz="2400" b="0" i="0" u="none" strike="noStrike" cap="none" normalizeH="0" baseline="0" dirty="0" smtClean="0">
                          <a:ln>
                            <a:noFill/>
                          </a:ln>
                          <a:solidFill>
                            <a:schemeClr val="tx1"/>
                          </a:solidFill>
                          <a:effectLst/>
                          <a:latin typeface="微軟正黑體" pitchFamily="34" charset="-120"/>
                          <a:ea typeface="微軟正黑體" pitchFamily="34" charset="-120"/>
                        </a:rPr>
                        <a:t>。</a:t>
                      </a:r>
                      <a:r>
                        <a:rPr kumimoji="1" lang="zh-TW" altLang="en-US" sz="2400" b="0" i="0" u="none" strike="noStrike" cap="none" normalizeH="0" baseline="0" dirty="0" smtClean="0">
                          <a:ln>
                            <a:noFill/>
                          </a:ln>
                          <a:solidFill>
                            <a:srgbClr val="0000FF"/>
                          </a:solidFill>
                          <a:effectLst/>
                          <a:latin typeface="微軟正黑體" pitchFamily="34" charset="-120"/>
                          <a:ea typeface="微軟正黑體" pitchFamily="34" charset="-120"/>
                        </a:rPr>
                        <a:t>在每個任務階段</a:t>
                      </a:r>
                      <a:r>
                        <a:rPr kumimoji="1" lang="en-US" altLang="zh-TW" sz="2400" b="0" i="0" u="none" strike="noStrike" cap="none" normalizeH="0" baseline="0" dirty="0" smtClean="0">
                          <a:ln>
                            <a:noFill/>
                          </a:ln>
                          <a:solidFill>
                            <a:srgbClr val="0000FF"/>
                          </a:solidFill>
                          <a:effectLst/>
                          <a:latin typeface="微軟正黑體" pitchFamily="34" charset="-120"/>
                          <a:ea typeface="微軟正黑體" pitchFamily="34" charset="-120"/>
                        </a:rPr>
                        <a:t>(storyboard)</a:t>
                      </a:r>
                      <a:r>
                        <a:rPr kumimoji="1" lang="zh-TW" altLang="en-US" sz="2400" b="0" i="0" u="none" strike="noStrike" cap="none" normalizeH="0" baseline="0" dirty="0" smtClean="0">
                          <a:ln>
                            <a:noFill/>
                          </a:ln>
                          <a:solidFill>
                            <a:srgbClr val="0000FF"/>
                          </a:solidFill>
                          <a:effectLst/>
                          <a:latin typeface="微軟正黑體" pitchFamily="34" charset="-120"/>
                          <a:ea typeface="微軟正黑體" pitchFamily="34" charset="-120"/>
                        </a:rPr>
                        <a:t>將故事細節描述出來</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1" lang="zh-TW" altLang="en-US" sz="2400" b="0" i="0" u="none" strike="noStrike" cap="none" normalizeH="0" baseline="0" dirty="0" smtClean="0">
                          <a:ln>
                            <a:noFill/>
                          </a:ln>
                          <a:solidFill>
                            <a:schemeClr val="tx1"/>
                          </a:solidFill>
                          <a:effectLst/>
                          <a:latin typeface="微軟正黑體" pitchFamily="34" charset="-120"/>
                          <a:ea typeface="微軟正黑體" pitchFamily="34" charset="-120"/>
                        </a:rPr>
                        <a:t>確定科技可以適當融入使用者整體工作中。每個階段的科技發想要依據資料以避免破壞工作。並確保科技能夠支援工作</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投影片編號版面配置區 5"/>
          <p:cNvSpPr>
            <a:spLocks noGrp="1"/>
          </p:cNvSpPr>
          <p:nvPr>
            <p:ph type="sldNum" sz="quarter" idx="12"/>
          </p:nvPr>
        </p:nvSpPr>
        <p:spPr/>
        <p:txBody>
          <a:bodyPr/>
          <a:lstStyle/>
          <a:p>
            <a:pPr>
              <a:defRPr/>
            </a:pPr>
            <a:fld id="{A29F159F-6EBA-4381-B627-06DFB4CAB494}" type="slidenum">
              <a:rPr lang="en-US" altLang="zh-TW"/>
              <a:pPr>
                <a:defRPr/>
              </a:pPr>
              <a:t>15</a:t>
            </a:fld>
            <a:endParaRPr lang="en-US" altLang="zh-TW"/>
          </a:p>
        </p:txBody>
      </p:sp>
      <p:graphicFrame>
        <p:nvGraphicFramePr>
          <p:cNvPr id="50232" name="Group 56"/>
          <p:cNvGraphicFramePr>
            <a:graphicFrameLocks noGrp="1"/>
          </p:cNvGraphicFramePr>
          <p:nvPr>
            <p:ph idx="1"/>
          </p:nvPr>
        </p:nvGraphicFramePr>
        <p:xfrm>
          <a:off x="468313" y="188913"/>
          <a:ext cx="8351837" cy="6438583"/>
        </p:xfrm>
        <a:graphic>
          <a:graphicData uri="http://schemas.openxmlformats.org/drawingml/2006/table">
            <a:tbl>
              <a:tblPr/>
              <a:tblGrid>
                <a:gridCol w="2376487">
                  <a:extLst>
                    <a:ext uri="{9D8B030D-6E8A-4147-A177-3AD203B41FA5}">
                      <a16:colId xmlns:a16="http://schemas.microsoft.com/office/drawing/2014/main" val="20000"/>
                    </a:ext>
                  </a:extLst>
                </a:gridCol>
                <a:gridCol w="2952750">
                  <a:extLst>
                    <a:ext uri="{9D8B030D-6E8A-4147-A177-3AD203B41FA5}">
                      <a16:colId xmlns:a16="http://schemas.microsoft.com/office/drawing/2014/main" val="20001"/>
                    </a:ext>
                  </a:extLst>
                </a:gridCol>
                <a:gridCol w="3022600">
                  <a:extLst>
                    <a:ext uri="{9D8B030D-6E8A-4147-A177-3AD203B41FA5}">
                      <a16:colId xmlns:a16="http://schemas.microsoft.com/office/drawing/2014/main" val="20002"/>
                    </a:ext>
                  </a:extLst>
                </a:gridCol>
              </a:tblGrid>
              <a:tr h="523875">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1" lang="zh-TW" altLang="en-US" sz="2400" b="0" i="0" u="none" strike="noStrike" cap="none" normalizeH="0" baseline="0" dirty="0" smtClean="0">
                          <a:ln>
                            <a:noFill/>
                          </a:ln>
                          <a:solidFill>
                            <a:schemeClr val="tx1"/>
                          </a:solidFill>
                          <a:effectLst/>
                          <a:latin typeface="微軟正黑體" pitchFamily="34" charset="-120"/>
                          <a:ea typeface="微軟正黑體" pitchFamily="34" charset="-120"/>
                        </a:rPr>
                        <a:t>步驟</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1" lang="zh-TW" altLang="en-US" sz="2400" b="0" i="0" u="none" strike="noStrike" cap="none" normalizeH="0" baseline="0" smtClean="0">
                          <a:ln>
                            <a:noFill/>
                          </a:ln>
                          <a:solidFill>
                            <a:schemeClr val="tx1"/>
                          </a:solidFill>
                          <a:effectLst/>
                          <a:latin typeface="微軟正黑體" pitchFamily="34" charset="-120"/>
                          <a:ea typeface="微軟正黑體" pitchFamily="34" charset="-120"/>
                        </a:rPr>
                        <a:t>描述</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1" lang="zh-TW" altLang="en-US" sz="2400" b="0" i="0" u="none" strike="noStrike" cap="none" normalizeH="0" baseline="0" smtClean="0">
                          <a:ln>
                            <a:noFill/>
                          </a:ln>
                          <a:solidFill>
                            <a:schemeClr val="tx1"/>
                          </a:solidFill>
                          <a:effectLst/>
                          <a:latin typeface="微軟正黑體" pitchFamily="34" charset="-120"/>
                          <a:ea typeface="微軟正黑體" pitchFamily="34" charset="-120"/>
                        </a:rPr>
                        <a:t>目的</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97188">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1" lang="zh-TW" altLang="en-US" sz="2400" b="0" i="0" u="none" strike="noStrike" cap="none" normalizeH="0" baseline="0" dirty="0" smtClean="0">
                          <a:ln>
                            <a:noFill/>
                          </a:ln>
                          <a:solidFill>
                            <a:schemeClr val="tx1"/>
                          </a:solidFill>
                          <a:effectLst/>
                          <a:latin typeface="微軟正黑體" pitchFamily="34" charset="-120"/>
                          <a:ea typeface="微軟正黑體" pitchFamily="34" charset="-120"/>
                        </a:rPr>
                        <a:t>使用環境設計</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1" lang="zh-TW" altLang="en-US" sz="2400" b="0" i="0" u="none" strike="noStrike" cap="none" normalizeH="0" baseline="0" dirty="0" smtClean="0">
                          <a:ln>
                            <a:noFill/>
                          </a:ln>
                          <a:solidFill>
                            <a:schemeClr val="tx1"/>
                          </a:solidFill>
                          <a:effectLst/>
                          <a:latin typeface="微軟正黑體" pitchFamily="34" charset="-120"/>
                          <a:ea typeface="微軟正黑體" pitchFamily="34" charset="-120"/>
                        </a:rPr>
                        <a:t>設計一個顯示新系統各部份如何相互關聯的</a:t>
                      </a:r>
                      <a:r>
                        <a:rPr kumimoji="1" lang="en-US" altLang="zh-TW" sz="2400" b="0" i="0" u="none" strike="noStrike" cap="none" normalizeH="0" baseline="0" dirty="0" smtClean="0">
                          <a:ln>
                            <a:noFill/>
                          </a:ln>
                          <a:solidFill>
                            <a:schemeClr val="tx1"/>
                          </a:solidFill>
                          <a:effectLst/>
                          <a:latin typeface="微軟正黑體" pitchFamily="34" charset="-120"/>
                          <a:ea typeface="微軟正黑體" pitchFamily="34" charset="-120"/>
                        </a:rPr>
                        <a:t>floor plan</a:t>
                      </a:r>
                      <a:r>
                        <a:rPr kumimoji="1" lang="zh-TW" altLang="en-US" sz="2400" b="0" i="0" u="none" strike="noStrike" cap="none" normalizeH="0" baseline="0" dirty="0" smtClean="0">
                          <a:ln>
                            <a:noFill/>
                          </a:ln>
                          <a:solidFill>
                            <a:schemeClr val="tx1"/>
                          </a:solidFill>
                          <a:effectLst/>
                          <a:latin typeface="微軟正黑體" pitchFamily="34" charset="-120"/>
                          <a:ea typeface="微軟正黑體" pitchFamily="34" charset="-120"/>
                        </a:rPr>
                        <a:t>。呈現系統架構和群聚功能而不考量使用者介面與施行</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1" lang="zh-TW" altLang="en-US" sz="2400" b="0" i="0" u="none" strike="noStrike" cap="none" normalizeH="0" baseline="0" dirty="0" smtClean="0">
                          <a:ln>
                            <a:noFill/>
                          </a:ln>
                          <a:solidFill>
                            <a:schemeClr val="tx1"/>
                          </a:solidFill>
                          <a:effectLst/>
                          <a:latin typeface="微軟正黑體" pitchFamily="34" charset="-120"/>
                          <a:ea typeface="微軟正黑體" pitchFamily="34" charset="-120"/>
                        </a:rPr>
                        <a:t>確定系統中的工作流程可以支援工作。協助設計者將焦點放在系統工作流和功能上，而不是考量使用者介面和施行。創造支援計畫的代表系統</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039938">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1" lang="zh-TW" altLang="en-US" sz="2400" b="0" i="0" u="none" strike="noStrike" cap="none" normalizeH="0" baseline="0" dirty="0" smtClean="0">
                          <a:ln>
                            <a:noFill/>
                          </a:ln>
                          <a:solidFill>
                            <a:schemeClr val="tx1"/>
                          </a:solidFill>
                          <a:effectLst/>
                          <a:latin typeface="微軟正黑體" pitchFamily="34" charset="-120"/>
                          <a:ea typeface="微軟正黑體" pitchFamily="34" charset="-120"/>
                        </a:rPr>
                        <a:t>紙上雛型</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1" lang="zh-TW" altLang="en-US" sz="2400" b="0" i="0" u="none" strike="noStrike" cap="none" normalizeH="0" baseline="0" dirty="0" smtClean="0">
                          <a:ln>
                            <a:noFill/>
                          </a:ln>
                          <a:solidFill>
                            <a:schemeClr val="tx1"/>
                          </a:solidFill>
                          <a:effectLst/>
                          <a:latin typeface="微軟正黑體" pitchFamily="34" charset="-120"/>
                          <a:ea typeface="微軟正黑體" pitchFamily="34" charset="-120"/>
                        </a:rPr>
                        <a:t>利用使用者介面的</a:t>
                      </a:r>
                      <a:r>
                        <a:rPr kumimoji="1" lang="zh-TW" altLang="en-US" sz="2400" b="0" i="0" u="none" strike="noStrike" cap="none" normalizeH="0" baseline="0" dirty="0" smtClean="0">
                          <a:ln>
                            <a:noFill/>
                          </a:ln>
                          <a:solidFill>
                            <a:srgbClr val="C00000"/>
                          </a:solidFill>
                          <a:effectLst/>
                          <a:latin typeface="微軟正黑體" pitchFamily="34" charset="-120"/>
                          <a:ea typeface="微軟正黑體" pitchFamily="34" charset="-120"/>
                        </a:rPr>
                        <a:t>紙上原型和使用者一同測試與修正</a:t>
                      </a:r>
                      <a:r>
                        <a:rPr kumimoji="1" lang="zh-TW" altLang="en-US" sz="2400" b="0" i="0" u="none" strike="noStrike" cap="none" normalizeH="0" baseline="0" dirty="0" smtClean="0">
                          <a:ln>
                            <a:noFill/>
                          </a:ln>
                          <a:solidFill>
                            <a:schemeClr val="tx1"/>
                          </a:solidFill>
                          <a:effectLst/>
                          <a:latin typeface="微軟正黑體" pitchFamily="34" charset="-120"/>
                          <a:ea typeface="微軟正黑體" pitchFamily="34" charset="-120"/>
                        </a:rPr>
                        <a:t>系統設計。</a:t>
                      </a:r>
                      <a:endParaRPr kumimoji="1" lang="en-US" altLang="zh-TW" sz="2400" b="0" i="0" u="none" strike="noStrike" cap="none" normalizeH="0" baseline="0" dirty="0" smtClean="0">
                        <a:ln>
                          <a:noFill/>
                        </a:ln>
                        <a:solidFill>
                          <a:schemeClr val="tx1"/>
                        </a:solidFill>
                        <a:effectLst/>
                        <a:latin typeface="微軟正黑體" pitchFamily="34" charset="-120"/>
                        <a:ea typeface="微軟正黑體" pitchFamily="34" charset="-120"/>
                      </a:endParaRPr>
                    </a:p>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1" lang="zh-TW" altLang="en-US" sz="2400" b="0" i="0" u="none" strike="noStrike" cap="none" normalizeH="0" baseline="0" dirty="0" smtClean="0">
                          <a:ln>
                            <a:noFill/>
                          </a:ln>
                          <a:solidFill>
                            <a:schemeClr val="tx1"/>
                          </a:solidFill>
                          <a:effectLst/>
                          <a:latin typeface="微軟正黑體" pitchFamily="34" charset="-120"/>
                          <a:ea typeface="微軟正黑體" pitchFamily="34" charset="-120"/>
                        </a:rPr>
                        <a:t>讓使用者在紙上系統進行真實的工作，而不是只是評論和提供意見</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1" lang="zh-TW" altLang="en-US" sz="2400" b="0" i="0" u="none" strike="noStrike" cap="none" normalizeH="0" baseline="0" dirty="0" smtClean="0">
                          <a:ln>
                            <a:noFill/>
                          </a:ln>
                          <a:solidFill>
                            <a:schemeClr val="tx1"/>
                          </a:solidFill>
                          <a:effectLst/>
                          <a:latin typeface="微軟正黑體" pitchFamily="34" charset="-120"/>
                          <a:ea typeface="微軟正黑體" pitchFamily="34" charset="-120"/>
                        </a:rPr>
                        <a:t>提供一個可靠的談論方式，與使用者討論建議的系統。在將想法放進系統前先</a:t>
                      </a:r>
                      <a:r>
                        <a:rPr kumimoji="1" lang="en-US" altLang="zh-TW" sz="2400" b="0" i="0" u="none" strike="noStrike" cap="none" normalizeH="0" baseline="0" dirty="0" smtClean="0">
                          <a:ln>
                            <a:noFill/>
                          </a:ln>
                          <a:solidFill>
                            <a:schemeClr val="tx1"/>
                          </a:solidFill>
                          <a:effectLst/>
                          <a:latin typeface="微軟正黑體" pitchFamily="34" charset="-120"/>
                          <a:ea typeface="微軟正黑體" pitchFamily="34" charset="-120"/>
                        </a:rPr>
                        <a:t>verify</a:t>
                      </a:r>
                      <a:r>
                        <a:rPr kumimoji="1" lang="zh-TW" altLang="en-US" sz="2400" b="0" i="0" u="none" strike="noStrike" cap="none" normalizeH="0" baseline="0" dirty="0" smtClean="0">
                          <a:ln>
                            <a:noFill/>
                          </a:ln>
                          <a:solidFill>
                            <a:schemeClr val="tx1"/>
                          </a:solidFill>
                          <a:effectLst/>
                          <a:latin typeface="微軟正黑體" pitchFamily="34" charset="-120"/>
                          <a:ea typeface="微軟正黑體" pitchFamily="34" charset="-120"/>
                        </a:rPr>
                        <a:t>設計。深化系統需求。在交出系統前開始測試使用者介面的想法和產品概念</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投影片編號版面配置區 5"/>
          <p:cNvSpPr>
            <a:spLocks noGrp="1"/>
          </p:cNvSpPr>
          <p:nvPr>
            <p:ph type="sldNum" sz="quarter" idx="12"/>
          </p:nvPr>
        </p:nvSpPr>
        <p:spPr/>
        <p:txBody>
          <a:bodyPr/>
          <a:lstStyle/>
          <a:p>
            <a:pPr>
              <a:defRPr/>
            </a:pPr>
            <a:fld id="{B60AC918-BDFA-419F-A81E-6FD6A87E2A75}" type="slidenum">
              <a:rPr lang="en-US" altLang="zh-TW"/>
              <a:pPr>
                <a:defRPr/>
              </a:pPr>
              <a:t>16</a:t>
            </a:fld>
            <a:endParaRPr lang="en-US" altLang="zh-TW"/>
          </a:p>
        </p:txBody>
      </p:sp>
      <p:sp>
        <p:nvSpPr>
          <p:cNvPr id="21508" name="Rectangle 3"/>
          <p:cNvSpPr>
            <a:spLocks noGrp="1" noChangeArrowheads="1"/>
          </p:cNvSpPr>
          <p:nvPr>
            <p:ph type="body" idx="1"/>
          </p:nvPr>
        </p:nvSpPr>
        <p:spPr>
          <a:xfrm>
            <a:off x="323528" y="404664"/>
            <a:ext cx="8496944" cy="5222205"/>
          </a:xfrm>
        </p:spPr>
        <p:txBody>
          <a:bodyPr/>
          <a:lstStyle/>
          <a:p>
            <a:pPr eaLnBrk="1" hangingPunct="1"/>
            <a:r>
              <a:rPr lang="en-US" altLang="zh-TW" sz="2400" u="sng" dirty="0" smtClean="0">
                <a:solidFill>
                  <a:srgbClr val="0000FF"/>
                </a:solidFill>
                <a:effectLst>
                  <a:outerShdw blurRad="38100" dist="38100" dir="2700000" algn="tl">
                    <a:srgbClr val="000000">
                      <a:alpha val="43137"/>
                    </a:srgbClr>
                  </a:outerShdw>
                </a:effectLst>
              </a:rPr>
              <a:t>A. THE CONTEXTUAL INTERVIEW- GETTING THE RIGHT DATA</a:t>
            </a:r>
          </a:p>
          <a:p>
            <a:pPr eaLnBrk="1" hangingPunct="1"/>
            <a:endParaRPr lang="en-US" altLang="zh-TW" sz="800" dirty="0" smtClean="0"/>
          </a:p>
          <a:p>
            <a:pPr lvl="1" eaLnBrk="1" hangingPunct="1"/>
            <a:r>
              <a:rPr lang="en-US" altLang="zh-TW" sz="2200" dirty="0" smtClean="0"/>
              <a:t>Requirement gathering </a:t>
            </a:r>
            <a:r>
              <a:rPr lang="en-US" altLang="zh-TW" sz="2200" dirty="0" smtClean="0">
                <a:solidFill>
                  <a:srgbClr val="C00000"/>
                </a:solidFill>
              </a:rPr>
              <a:t>is not simply a matter of asking </a:t>
            </a:r>
            <a:r>
              <a:rPr lang="en-US" altLang="zh-TW" sz="2200" dirty="0" smtClean="0"/>
              <a:t>people what they need in a system </a:t>
            </a:r>
          </a:p>
          <a:p>
            <a:pPr lvl="1" eaLnBrk="1" hangingPunct="1"/>
            <a:r>
              <a:rPr lang="en-US" altLang="zh-TW" sz="2200" dirty="0" smtClean="0"/>
              <a:t>A product is part of a larger work practice. It is used in the </a:t>
            </a:r>
            <a:r>
              <a:rPr lang="en-US" altLang="zh-TW" sz="2200" dirty="0" smtClean="0">
                <a:solidFill>
                  <a:srgbClr val="C00000"/>
                </a:solidFill>
              </a:rPr>
              <a:t>context with other tools and manual </a:t>
            </a:r>
            <a:r>
              <a:rPr lang="en-US" altLang="zh-TW" sz="2200" dirty="0" smtClean="0"/>
              <a:t>processes. </a:t>
            </a:r>
          </a:p>
          <a:p>
            <a:pPr lvl="1" eaLnBrk="1" hangingPunct="1"/>
            <a:r>
              <a:rPr lang="en-US" altLang="zh-TW" sz="2200" dirty="0" smtClean="0"/>
              <a:t>Product design – </a:t>
            </a:r>
            <a:r>
              <a:rPr lang="zh-TW" altLang="en-US" sz="2200" dirty="0" smtClean="0"/>
              <a:t>利用科技的可能來 </a:t>
            </a:r>
            <a:r>
              <a:rPr lang="en-US" altLang="zh-TW" sz="2200" dirty="0" smtClean="0"/>
              <a:t>redesign of work or life practice</a:t>
            </a:r>
          </a:p>
          <a:p>
            <a:pPr lvl="1" eaLnBrk="1" hangingPunct="1"/>
            <a:r>
              <a:rPr lang="zh-TW" altLang="en-US" sz="2200" dirty="0" smtClean="0"/>
              <a:t>無法直接問使用者設計上的需求 </a:t>
            </a:r>
            <a:r>
              <a:rPr lang="en-US" altLang="zh-TW" sz="2200" dirty="0" smtClean="0"/>
              <a:t>(</a:t>
            </a:r>
            <a:r>
              <a:rPr lang="en-US" altLang="zh-TW" sz="2200" dirty="0" smtClean="0">
                <a:solidFill>
                  <a:srgbClr val="0070C0"/>
                </a:solidFill>
              </a:rPr>
              <a:t>E-learning system in NCTU</a:t>
            </a:r>
            <a:r>
              <a:rPr lang="en-US" altLang="zh-TW" sz="2200" dirty="0" smtClean="0"/>
              <a:t>)</a:t>
            </a:r>
          </a:p>
          <a:p>
            <a:pPr lvl="2" eaLnBrk="1" hangingPunct="1"/>
            <a:r>
              <a:rPr lang="en-US" altLang="zh-TW" sz="2000" dirty="0" smtClean="0"/>
              <a:t>They do not understand what technology is capable of</a:t>
            </a:r>
          </a:p>
          <a:p>
            <a:pPr lvl="2" eaLnBrk="1" hangingPunct="1"/>
            <a:r>
              <a:rPr lang="en-US" altLang="zh-TW" sz="2000" dirty="0" smtClean="0"/>
              <a:t>They are not aware of what they really do (unable to articulate their work practice.) </a:t>
            </a:r>
          </a:p>
          <a:p>
            <a:pPr lvl="2" eaLnBrk="1" hangingPunct="1"/>
            <a:endParaRPr lang="en-US" altLang="zh-TW" sz="2000" dirty="0" smtClean="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投影片編號版面配置區 5"/>
          <p:cNvSpPr>
            <a:spLocks noGrp="1"/>
          </p:cNvSpPr>
          <p:nvPr>
            <p:ph type="sldNum" sz="quarter" idx="12"/>
          </p:nvPr>
        </p:nvSpPr>
        <p:spPr/>
        <p:txBody>
          <a:bodyPr/>
          <a:lstStyle/>
          <a:p>
            <a:pPr>
              <a:defRPr/>
            </a:pPr>
            <a:fld id="{D0065E40-7CBF-4C0F-8528-45B258FACB0A}" type="slidenum">
              <a:rPr lang="en-US" altLang="zh-TW"/>
              <a:pPr>
                <a:defRPr/>
              </a:pPr>
              <a:t>17</a:t>
            </a:fld>
            <a:endParaRPr lang="en-US" altLang="zh-TW"/>
          </a:p>
        </p:txBody>
      </p:sp>
      <p:sp>
        <p:nvSpPr>
          <p:cNvPr id="25603" name="Rectangle 2"/>
          <p:cNvSpPr>
            <a:spLocks noGrp="1" noChangeArrowheads="1"/>
          </p:cNvSpPr>
          <p:nvPr>
            <p:ph type="title"/>
          </p:nvPr>
        </p:nvSpPr>
        <p:spPr/>
        <p:txBody>
          <a:bodyPr/>
          <a:lstStyle/>
          <a:p>
            <a:pPr eaLnBrk="1" hangingPunct="1"/>
            <a:r>
              <a:rPr lang="en-US" altLang="zh-TW" b="1" smtClean="0"/>
              <a:t>Contextual inquiry</a:t>
            </a:r>
          </a:p>
        </p:txBody>
      </p:sp>
      <p:sp>
        <p:nvSpPr>
          <p:cNvPr id="25604" name="Rectangle 3"/>
          <p:cNvSpPr>
            <a:spLocks noGrp="1" noChangeArrowheads="1"/>
          </p:cNvSpPr>
          <p:nvPr>
            <p:ph type="body" idx="1"/>
          </p:nvPr>
        </p:nvSpPr>
        <p:spPr>
          <a:xfrm>
            <a:off x="285750" y="1214438"/>
            <a:ext cx="8102674" cy="5786437"/>
          </a:xfrm>
        </p:spPr>
        <p:txBody>
          <a:bodyPr/>
          <a:lstStyle/>
          <a:p>
            <a:pPr marL="400050" indent="-400050" eaLnBrk="1" hangingPunct="1">
              <a:lnSpc>
                <a:spcPct val="90000"/>
              </a:lnSpc>
            </a:pPr>
            <a:r>
              <a:rPr lang="en-US" altLang="zh-TW" sz="2400" dirty="0" smtClean="0"/>
              <a:t>CD</a:t>
            </a:r>
            <a:r>
              <a:rPr lang="zh-TW" altLang="en-US" sz="2400" dirty="0" smtClean="0"/>
              <a:t>的第一步 </a:t>
            </a:r>
            <a:r>
              <a:rPr lang="en-US" altLang="zh-TW" sz="2400" dirty="0" smtClean="0"/>
              <a:t>-- contextual inquiry: the field data gathering technique that allows designers to </a:t>
            </a:r>
            <a:r>
              <a:rPr lang="en-US" altLang="zh-TW" sz="2400" dirty="0" smtClean="0">
                <a:solidFill>
                  <a:srgbClr val="0000FF"/>
                </a:solidFill>
              </a:rPr>
              <a:t>go out into the field and talk with people about their work or lives </a:t>
            </a:r>
            <a:r>
              <a:rPr lang="en-US" altLang="zh-TW" sz="2400" dirty="0" smtClean="0"/>
              <a:t>while they are observing them. </a:t>
            </a:r>
          </a:p>
          <a:p>
            <a:pPr marL="400050" indent="-400050" eaLnBrk="1" hangingPunct="1">
              <a:lnSpc>
                <a:spcPct val="90000"/>
              </a:lnSpc>
            </a:pPr>
            <a:r>
              <a:rPr lang="zh-TW" altLang="en-US" sz="2400" dirty="0" smtClean="0"/>
              <a:t>利用一對一的訪談了解客戶工作</a:t>
            </a:r>
            <a:endParaRPr lang="en-US" altLang="zh-TW" sz="2400" dirty="0" smtClean="0"/>
          </a:p>
          <a:p>
            <a:pPr marL="400050" indent="-400050" eaLnBrk="1" hangingPunct="1">
              <a:lnSpc>
                <a:spcPct val="90000"/>
              </a:lnSpc>
            </a:pPr>
            <a:endParaRPr lang="en-US" altLang="zh-TW" sz="2400" dirty="0" smtClean="0"/>
          </a:p>
          <a:p>
            <a:pPr marL="400050" indent="-400050" eaLnBrk="1" hangingPunct="1">
              <a:lnSpc>
                <a:spcPct val="90000"/>
              </a:lnSpc>
            </a:pPr>
            <a:r>
              <a:rPr lang="en-US" altLang="zh-TW" sz="2400" dirty="0" smtClean="0"/>
              <a:t>Contextual interview </a:t>
            </a:r>
            <a:r>
              <a:rPr lang="zh-TW" altLang="en-US" sz="2400" dirty="0" smtClean="0"/>
              <a:t>的四個原則</a:t>
            </a:r>
            <a:r>
              <a:rPr lang="en-US" altLang="zh-TW" sz="2400" dirty="0" smtClean="0"/>
              <a:t>:</a:t>
            </a:r>
          </a:p>
          <a:p>
            <a:pPr marL="400050" indent="-400050" eaLnBrk="1" hangingPunct="1">
              <a:lnSpc>
                <a:spcPct val="90000"/>
              </a:lnSpc>
            </a:pPr>
            <a:endParaRPr lang="en-US" altLang="zh-TW" sz="2400" dirty="0" smtClean="0"/>
          </a:p>
          <a:p>
            <a:pPr marL="400050" indent="-400050" eaLnBrk="1" hangingPunct="1">
              <a:lnSpc>
                <a:spcPct val="90000"/>
              </a:lnSpc>
              <a:buFont typeface="Wingdings" pitchFamily="2" charset="2"/>
              <a:buAutoNum type="arabicPeriod"/>
            </a:pPr>
            <a:r>
              <a:rPr lang="en-US" altLang="zh-TW" sz="2400" dirty="0" smtClean="0">
                <a:solidFill>
                  <a:srgbClr val="C00000"/>
                </a:solidFill>
              </a:rPr>
              <a:t>Context</a:t>
            </a:r>
            <a:r>
              <a:rPr lang="en-US" altLang="zh-TW" sz="2400" dirty="0" smtClean="0"/>
              <a:t>: gather data in the workplace while people are working</a:t>
            </a:r>
          </a:p>
          <a:p>
            <a:pPr marL="400050" indent="-400050" eaLnBrk="1" hangingPunct="1">
              <a:lnSpc>
                <a:spcPct val="90000"/>
              </a:lnSpc>
              <a:buFont typeface="Wingdings" pitchFamily="2" charset="2"/>
              <a:buAutoNum type="arabicPeriod"/>
            </a:pPr>
            <a:r>
              <a:rPr lang="en-US" altLang="zh-TW" sz="2400" dirty="0" smtClean="0">
                <a:solidFill>
                  <a:srgbClr val="C00000"/>
                </a:solidFill>
              </a:rPr>
              <a:t>Partnership</a:t>
            </a:r>
            <a:r>
              <a:rPr lang="en-US" altLang="zh-TW" sz="2400" dirty="0" smtClean="0"/>
              <a:t>: collaborate with customers to understand their work. </a:t>
            </a:r>
            <a:r>
              <a:rPr lang="en-US" altLang="zh-TW" sz="2400" dirty="0" smtClean="0">
                <a:solidFill>
                  <a:srgbClr val="0000FF"/>
                </a:solidFill>
              </a:rPr>
              <a:t>Let them lead the interview </a:t>
            </a:r>
            <a:r>
              <a:rPr lang="en-US" altLang="zh-TW" sz="2400" dirty="0" smtClean="0"/>
              <a:t>by doing their work. Do not come with planned questions.</a:t>
            </a: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a:xfrm>
            <a:off x="457200" y="1600200"/>
            <a:ext cx="7859216" cy="4530725"/>
          </a:xfrm>
        </p:spPr>
        <p:txBody>
          <a:bodyPr/>
          <a:lstStyle/>
          <a:p>
            <a:pPr marL="457200" indent="-457200" eaLnBrk="1" hangingPunct="1">
              <a:lnSpc>
                <a:spcPct val="90000"/>
              </a:lnSpc>
              <a:buFont typeface="+mj-lt"/>
              <a:buAutoNum type="arabicPeriod" startAt="3"/>
            </a:pPr>
            <a:r>
              <a:rPr lang="en-US" altLang="zh-TW" sz="2400" dirty="0" smtClean="0">
                <a:solidFill>
                  <a:srgbClr val="C00000"/>
                </a:solidFill>
              </a:rPr>
              <a:t>Interpretation</a:t>
            </a:r>
            <a:r>
              <a:rPr lang="en-US" altLang="zh-TW" sz="2400" dirty="0" smtClean="0"/>
              <a:t>: determine the </a:t>
            </a:r>
            <a:r>
              <a:rPr lang="en-US" altLang="zh-TW" sz="2400" dirty="0" smtClean="0">
                <a:solidFill>
                  <a:srgbClr val="0000FF"/>
                </a:solidFill>
              </a:rPr>
              <a:t>meaning of the customer’s words and actions together </a:t>
            </a:r>
            <a:r>
              <a:rPr lang="en-US" altLang="zh-TW" sz="2400" dirty="0" smtClean="0"/>
              <a:t>by sharing your interpretations and letting them tune</a:t>
            </a:r>
            <a:r>
              <a:rPr lang="zh-TW" altLang="en-US" sz="2400" dirty="0" smtClean="0"/>
              <a:t> </a:t>
            </a:r>
            <a:r>
              <a:rPr lang="zh-TW" altLang="en-US" sz="1600" dirty="0" smtClean="0"/>
              <a:t>調整</a:t>
            </a:r>
            <a:r>
              <a:rPr lang="zh-TW" altLang="en-US" sz="2400" dirty="0" smtClean="0"/>
              <a:t> </a:t>
            </a:r>
            <a:r>
              <a:rPr lang="en-US" altLang="zh-TW" sz="2400" dirty="0" smtClean="0"/>
              <a:t>your meaning. </a:t>
            </a:r>
          </a:p>
          <a:p>
            <a:pPr marL="400050" indent="-400050" eaLnBrk="1" hangingPunct="1">
              <a:lnSpc>
                <a:spcPct val="90000"/>
              </a:lnSpc>
              <a:buFont typeface="Wingdings" pitchFamily="2" charset="2"/>
              <a:buAutoNum type="arabicPeriod" startAt="3"/>
            </a:pPr>
            <a:endParaRPr lang="en-US" altLang="zh-TW" sz="2400" dirty="0" smtClean="0"/>
          </a:p>
          <a:p>
            <a:pPr marL="400050" indent="-400050" eaLnBrk="1" hangingPunct="1">
              <a:lnSpc>
                <a:spcPct val="90000"/>
              </a:lnSpc>
              <a:buFont typeface="Wingdings" pitchFamily="2" charset="2"/>
              <a:buAutoNum type="arabicPeriod" startAt="3"/>
            </a:pPr>
            <a:r>
              <a:rPr lang="en-US" altLang="zh-TW" sz="2400" dirty="0" smtClean="0">
                <a:solidFill>
                  <a:srgbClr val="C00000"/>
                </a:solidFill>
              </a:rPr>
              <a:t>Focus</a:t>
            </a:r>
            <a:r>
              <a:rPr lang="en-US" altLang="zh-TW" sz="2400" dirty="0" smtClean="0"/>
              <a:t>: Steer</a:t>
            </a:r>
            <a:r>
              <a:rPr lang="zh-TW" altLang="en-US" sz="1800" dirty="0" smtClean="0"/>
              <a:t>掌舵</a:t>
            </a:r>
            <a:r>
              <a:rPr lang="zh-TW" altLang="en-US" sz="2400" dirty="0" smtClean="0"/>
              <a:t> </a:t>
            </a:r>
            <a:r>
              <a:rPr lang="en-US" altLang="zh-TW" sz="2400" dirty="0" smtClean="0"/>
              <a:t>the </a:t>
            </a:r>
            <a:r>
              <a:rPr lang="en-US" altLang="zh-TW" sz="2400" dirty="0" smtClean="0">
                <a:solidFill>
                  <a:srgbClr val="0000FF"/>
                </a:solidFill>
              </a:rPr>
              <a:t>conversation to meaningful topics </a:t>
            </a:r>
            <a:r>
              <a:rPr lang="en-US" altLang="zh-TW" sz="2400" dirty="0" smtClean="0"/>
              <a:t>by paying attention to what falls within project scope and ignoring things that are outside of it.</a:t>
            </a:r>
          </a:p>
          <a:p>
            <a:endParaRPr lang="zh-TW" altLang="en-US" sz="2400" dirty="0"/>
          </a:p>
        </p:txBody>
      </p:sp>
      <p:sp>
        <p:nvSpPr>
          <p:cNvPr id="4" name="投影片編號版面配置區 3"/>
          <p:cNvSpPr>
            <a:spLocks noGrp="1"/>
          </p:cNvSpPr>
          <p:nvPr>
            <p:ph type="sldNum" sz="quarter" idx="12"/>
          </p:nvPr>
        </p:nvSpPr>
        <p:spPr/>
        <p:txBody>
          <a:bodyPr/>
          <a:lstStyle/>
          <a:p>
            <a:pPr>
              <a:defRPr/>
            </a:pPr>
            <a:fld id="{12E00E1D-2E5C-46F3-A24F-4A83B6169687}" type="slidenum">
              <a:rPr lang="en-US" altLang="zh-TW" smtClean="0"/>
              <a:pPr>
                <a:defRPr/>
              </a:pPr>
              <a:t>18</a:t>
            </a:fld>
            <a:endParaRPr lang="en-US" altLang="zh-TW"/>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投影片編號版面配置區 5"/>
          <p:cNvSpPr>
            <a:spLocks noGrp="1"/>
          </p:cNvSpPr>
          <p:nvPr>
            <p:ph type="sldNum" sz="quarter" idx="12"/>
          </p:nvPr>
        </p:nvSpPr>
        <p:spPr/>
        <p:txBody>
          <a:bodyPr/>
          <a:lstStyle/>
          <a:p>
            <a:pPr>
              <a:defRPr/>
            </a:pPr>
            <a:fld id="{208684ED-8AFE-44F3-B342-020ABE71E38F}" type="slidenum">
              <a:rPr lang="en-US" altLang="zh-TW"/>
              <a:pPr>
                <a:defRPr/>
              </a:pPr>
              <a:t>19</a:t>
            </a:fld>
            <a:endParaRPr lang="en-US" altLang="zh-TW"/>
          </a:p>
        </p:txBody>
      </p:sp>
      <p:sp>
        <p:nvSpPr>
          <p:cNvPr id="26627" name="Rectangle 3"/>
          <p:cNvSpPr>
            <a:spLocks noGrp="1" noChangeArrowheads="1"/>
          </p:cNvSpPr>
          <p:nvPr>
            <p:ph type="body" idx="1"/>
          </p:nvPr>
        </p:nvSpPr>
        <p:spPr>
          <a:xfrm>
            <a:off x="457200" y="1196975"/>
            <a:ext cx="8229600" cy="4530725"/>
          </a:xfrm>
        </p:spPr>
        <p:txBody>
          <a:bodyPr/>
          <a:lstStyle/>
          <a:p>
            <a:pPr eaLnBrk="1" hangingPunct="1">
              <a:lnSpc>
                <a:spcPct val="120000"/>
              </a:lnSpc>
            </a:pPr>
            <a:r>
              <a:rPr lang="zh-TW" altLang="en-US" sz="2400" dirty="0" smtClean="0"/>
              <a:t>一開始為談話式訪談，接著開始觀察</a:t>
            </a:r>
            <a:r>
              <a:rPr lang="en-US" altLang="zh-TW" sz="2400" dirty="0" smtClean="0"/>
              <a:t>/</a:t>
            </a:r>
            <a:r>
              <a:rPr lang="zh-TW" altLang="en-US" sz="2400" dirty="0" smtClean="0"/>
              <a:t>討論與設計核心</a:t>
            </a:r>
            <a:r>
              <a:rPr lang="en-US" altLang="zh-TW" sz="2400" dirty="0" smtClean="0"/>
              <a:t>(design focus)</a:t>
            </a:r>
            <a:r>
              <a:rPr lang="zh-TW" altLang="en-US" sz="2400" dirty="0" smtClean="0"/>
              <a:t>有關的使用者工作。注意</a:t>
            </a:r>
            <a:r>
              <a:rPr lang="en-US" altLang="zh-TW" sz="2400" dirty="0" smtClean="0">
                <a:solidFill>
                  <a:srgbClr val="C00000"/>
                </a:solidFill>
              </a:rPr>
              <a:t>actions, verbal clues, and body language</a:t>
            </a:r>
            <a:r>
              <a:rPr lang="en-US" altLang="zh-TW" sz="2400" dirty="0" smtClean="0"/>
              <a:t>. </a:t>
            </a:r>
          </a:p>
          <a:p>
            <a:pPr eaLnBrk="1" hangingPunct="1">
              <a:lnSpc>
                <a:spcPct val="120000"/>
              </a:lnSpc>
            </a:pPr>
            <a:r>
              <a:rPr lang="zh-TW" altLang="en-US" sz="2400" dirty="0" smtClean="0"/>
              <a:t>當雙方進入狀況後，討論到 </a:t>
            </a:r>
            <a:endParaRPr lang="en-US" altLang="zh-TW" sz="2400" dirty="0" smtClean="0"/>
          </a:p>
          <a:p>
            <a:pPr lvl="1" eaLnBrk="1" hangingPunct="1">
              <a:lnSpc>
                <a:spcPct val="120000"/>
              </a:lnSpc>
            </a:pPr>
            <a:r>
              <a:rPr lang="en-US" altLang="zh-TW" sz="2400" dirty="0" smtClean="0">
                <a:solidFill>
                  <a:srgbClr val="0000FF"/>
                </a:solidFill>
              </a:rPr>
              <a:t>What</a:t>
            </a:r>
            <a:r>
              <a:rPr lang="en-US" altLang="zh-TW" sz="2400" dirty="0" smtClean="0"/>
              <a:t> is happening</a:t>
            </a:r>
          </a:p>
          <a:p>
            <a:pPr lvl="1" eaLnBrk="1" hangingPunct="1">
              <a:lnSpc>
                <a:spcPct val="120000"/>
              </a:lnSpc>
            </a:pPr>
            <a:r>
              <a:rPr lang="en-US" altLang="zh-TW" sz="2400" dirty="0" smtClean="0">
                <a:solidFill>
                  <a:srgbClr val="0000FF"/>
                </a:solidFill>
              </a:rPr>
              <a:t>Why </a:t>
            </a:r>
          </a:p>
          <a:p>
            <a:pPr lvl="1" eaLnBrk="1" hangingPunct="1">
              <a:lnSpc>
                <a:spcPct val="120000"/>
              </a:lnSpc>
            </a:pPr>
            <a:r>
              <a:rPr lang="en-US" altLang="zh-TW" sz="2400" dirty="0" smtClean="0">
                <a:solidFill>
                  <a:srgbClr val="0000FF"/>
                </a:solidFill>
              </a:rPr>
              <a:t>Implications</a:t>
            </a:r>
            <a:r>
              <a:rPr lang="en-US" altLang="zh-TW" sz="2400" dirty="0" smtClean="0"/>
              <a:t> for any supporting system</a:t>
            </a:r>
          </a:p>
          <a:p>
            <a:pPr eaLnBrk="1" hangingPunct="1">
              <a:lnSpc>
                <a:spcPct val="120000"/>
              </a:lnSpc>
            </a:pPr>
            <a:r>
              <a:rPr lang="en-US" altLang="zh-TW" sz="2400" dirty="0" smtClean="0"/>
              <a:t>		</a:t>
            </a:r>
            <a:endParaRPr lang="en-US" altLang="zh-TW" sz="2400" dirty="0" smtClean="0">
              <a:solidFill>
                <a:srgbClr val="0070C0"/>
              </a:solidFill>
            </a:endParaRPr>
          </a:p>
        </p:txBody>
      </p:sp>
      <p:sp>
        <p:nvSpPr>
          <p:cNvPr id="26628" name="Rectangle 4"/>
          <p:cNvSpPr>
            <a:spLocks noGrp="1" noChangeArrowheads="1"/>
          </p:cNvSpPr>
          <p:nvPr>
            <p:ph type="title"/>
          </p:nvPr>
        </p:nvSpPr>
        <p:spPr>
          <a:noFill/>
        </p:spPr>
        <p:txBody>
          <a:bodyPr/>
          <a:lstStyle/>
          <a:p>
            <a:pPr eaLnBrk="1" hangingPunct="1"/>
            <a:r>
              <a:rPr lang="en-US" altLang="zh-TW" sz="3200" b="1" dirty="0" smtClean="0"/>
              <a:t>Contextual inquiry</a:t>
            </a:r>
            <a:r>
              <a:rPr lang="zh-TW" altLang="en-US" sz="3200" b="1" dirty="0" smtClean="0"/>
              <a:t> 步驟</a:t>
            </a:r>
            <a:endParaRPr lang="en-US" altLang="zh-TW" sz="3200" b="1" dirty="0" smtClean="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投影片編號版面配置區 5"/>
          <p:cNvSpPr>
            <a:spLocks noGrp="1"/>
          </p:cNvSpPr>
          <p:nvPr>
            <p:ph type="sldNum" sz="quarter" idx="12"/>
          </p:nvPr>
        </p:nvSpPr>
        <p:spPr/>
        <p:txBody>
          <a:bodyPr/>
          <a:lstStyle/>
          <a:p>
            <a:pPr>
              <a:defRPr/>
            </a:pPr>
            <a:fld id="{9984B697-816F-45D4-8298-78DC17830759}" type="slidenum">
              <a:rPr lang="en-US" altLang="zh-TW"/>
              <a:pPr>
                <a:defRPr/>
              </a:pPr>
              <a:t>20</a:t>
            </a:fld>
            <a:endParaRPr lang="en-US" altLang="zh-TW"/>
          </a:p>
        </p:txBody>
      </p:sp>
      <p:sp>
        <p:nvSpPr>
          <p:cNvPr id="27651" name="Rectangle 3"/>
          <p:cNvSpPr>
            <a:spLocks noGrp="1" noChangeArrowheads="1"/>
          </p:cNvSpPr>
          <p:nvPr>
            <p:ph type="body" idx="1"/>
          </p:nvPr>
        </p:nvSpPr>
        <p:spPr>
          <a:xfrm>
            <a:off x="457200" y="1600200"/>
            <a:ext cx="8435280" cy="4530725"/>
          </a:xfrm>
        </p:spPr>
        <p:txBody>
          <a:bodyPr/>
          <a:lstStyle/>
          <a:p>
            <a:pPr eaLnBrk="1" hangingPunct="1">
              <a:buFont typeface="Wingdings" pitchFamily="2" charset="2"/>
              <a:buNone/>
            </a:pPr>
            <a:r>
              <a:rPr lang="zh-TW" altLang="en-US" sz="2400" dirty="0" smtClean="0"/>
              <a:t>訪談人數取決於計畫大小</a:t>
            </a:r>
            <a:endParaRPr lang="en-US" altLang="zh-TW" sz="2400" dirty="0" smtClean="0"/>
          </a:p>
          <a:p>
            <a:pPr eaLnBrk="1" hangingPunct="1">
              <a:buFont typeface="Wingdings" pitchFamily="2" charset="2"/>
              <a:buNone/>
            </a:pPr>
            <a:endParaRPr lang="en-US" altLang="zh-TW" sz="800" dirty="0" smtClean="0"/>
          </a:p>
          <a:p>
            <a:pPr eaLnBrk="1" hangingPunct="1"/>
            <a:r>
              <a:rPr lang="en-US" altLang="zh-TW" sz="2400" dirty="0" smtClean="0"/>
              <a:t>Small scope (e.g. next product release, usability improvement) </a:t>
            </a:r>
            <a:r>
              <a:rPr lang="en-US" altLang="zh-TW" sz="2400" dirty="0" smtClean="0">
                <a:solidFill>
                  <a:srgbClr val="0000FF"/>
                </a:solidFill>
              </a:rPr>
              <a:t>– 4-10 customers </a:t>
            </a:r>
            <a:r>
              <a:rPr lang="en-US" altLang="zh-TW" sz="2400" dirty="0" smtClean="0"/>
              <a:t>from 3-5 businesses covering 1or2 roles.</a:t>
            </a:r>
          </a:p>
          <a:p>
            <a:pPr eaLnBrk="1" hangingPunct="1"/>
            <a:r>
              <a:rPr lang="en-US" altLang="zh-TW" sz="2400" dirty="0" smtClean="0"/>
              <a:t>Large projects—</a:t>
            </a:r>
            <a:r>
              <a:rPr lang="zh-TW" altLang="en-US" sz="2400" dirty="0" smtClean="0"/>
              <a:t> </a:t>
            </a:r>
            <a:r>
              <a:rPr lang="en-US" altLang="zh-TW" sz="2400" dirty="0" smtClean="0">
                <a:solidFill>
                  <a:srgbClr val="0000FF"/>
                </a:solidFill>
              </a:rPr>
              <a:t>15-20 customers </a:t>
            </a:r>
            <a:r>
              <a:rPr lang="en-US" altLang="zh-TW" sz="2400" dirty="0" smtClean="0"/>
              <a:t>from over 4 businesses covering 3-5 roles.</a:t>
            </a:r>
          </a:p>
          <a:p>
            <a:pPr eaLnBrk="1" hangingPunct="1"/>
            <a:r>
              <a:rPr lang="en-US" altLang="zh-TW" sz="2400" dirty="0" smtClean="0"/>
              <a:t>Very large projects – </a:t>
            </a:r>
            <a:r>
              <a:rPr lang="en-US" altLang="zh-TW" sz="2400" dirty="0" smtClean="0">
                <a:solidFill>
                  <a:srgbClr val="0000FF"/>
                </a:solidFill>
              </a:rPr>
              <a:t>20-30 customers</a:t>
            </a:r>
          </a:p>
          <a:p>
            <a:pPr eaLnBrk="1" hangingPunct="1"/>
            <a:endParaRPr lang="en-US" altLang="zh-TW" sz="2400" dirty="0" smtClean="0"/>
          </a:p>
          <a:p>
            <a:pPr eaLnBrk="1" hangingPunct="1">
              <a:buFont typeface="Wingdings" pitchFamily="2" charset="2"/>
              <a:buNone/>
            </a:pPr>
            <a:r>
              <a:rPr lang="en-US" altLang="zh-TW" sz="2400" dirty="0" smtClean="0"/>
              <a:t>Choosing customers (P. 945): </a:t>
            </a:r>
            <a:r>
              <a:rPr lang="zh-TW" altLang="en-US" sz="2400" dirty="0" smtClean="0"/>
              <a:t>考量被觀察者的</a:t>
            </a:r>
            <a:r>
              <a:rPr lang="en-US" altLang="zh-TW" sz="2400" dirty="0" smtClean="0"/>
              <a:t>job title, </a:t>
            </a:r>
            <a:r>
              <a:rPr lang="zh-TW" altLang="en-US" sz="2400" dirty="0" smtClean="0"/>
              <a:t>所屬</a:t>
            </a:r>
            <a:r>
              <a:rPr lang="en-US" altLang="zh-TW" sz="2400" dirty="0" smtClean="0"/>
              <a:t>industry, geography</a:t>
            </a:r>
            <a:r>
              <a:rPr lang="zh-TW" altLang="en-US" sz="2400" dirty="0" smtClean="0"/>
              <a:t> </a:t>
            </a:r>
            <a:r>
              <a:rPr lang="en-US" altLang="zh-TW" sz="2400" dirty="0" smtClean="0"/>
              <a:t>(</a:t>
            </a:r>
            <a:r>
              <a:rPr lang="zh-TW" altLang="en-US" sz="2400" dirty="0" smtClean="0"/>
              <a:t>產品國際化</a:t>
            </a:r>
            <a:r>
              <a:rPr lang="en-US" altLang="zh-TW" sz="2400" dirty="0" smtClean="0"/>
              <a:t>), and </a:t>
            </a:r>
            <a:r>
              <a:rPr lang="zh-TW" altLang="en-US" sz="2400" dirty="0" smtClean="0"/>
              <a:t>使用</a:t>
            </a:r>
            <a:r>
              <a:rPr lang="en-US" altLang="zh-TW" sz="2400" dirty="0" smtClean="0"/>
              <a:t>type of technology </a:t>
            </a:r>
          </a:p>
        </p:txBody>
      </p:sp>
      <p:sp>
        <p:nvSpPr>
          <p:cNvPr id="27652" name="Rectangle 4"/>
          <p:cNvSpPr>
            <a:spLocks noGrp="1" noChangeArrowheads="1"/>
          </p:cNvSpPr>
          <p:nvPr>
            <p:ph type="title"/>
          </p:nvPr>
        </p:nvSpPr>
        <p:spPr/>
        <p:txBody>
          <a:bodyPr/>
          <a:lstStyle/>
          <a:p>
            <a:pPr eaLnBrk="1" hangingPunct="1"/>
            <a:r>
              <a:rPr lang="en-US" altLang="zh-TW" sz="3800" b="1" smtClean="0"/>
              <a:t>Choosing customers depends on project scope</a:t>
            </a: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投影片編號版面配置區 5"/>
          <p:cNvSpPr>
            <a:spLocks noGrp="1"/>
          </p:cNvSpPr>
          <p:nvPr>
            <p:ph type="sldNum" sz="quarter" idx="12"/>
          </p:nvPr>
        </p:nvSpPr>
        <p:spPr/>
        <p:txBody>
          <a:bodyPr/>
          <a:lstStyle/>
          <a:p>
            <a:pPr>
              <a:defRPr/>
            </a:pPr>
            <a:fld id="{ABE248B4-C8FB-4505-A2FA-B77927D1E98B}" type="slidenum">
              <a:rPr lang="en-US" altLang="zh-TW"/>
              <a:pPr>
                <a:defRPr/>
              </a:pPr>
              <a:t>21</a:t>
            </a:fld>
            <a:endParaRPr lang="en-US" altLang="zh-TW"/>
          </a:p>
        </p:txBody>
      </p:sp>
      <p:sp>
        <p:nvSpPr>
          <p:cNvPr id="28675" name="Rectangle 2"/>
          <p:cNvSpPr>
            <a:spLocks noGrp="1" noChangeArrowheads="1"/>
          </p:cNvSpPr>
          <p:nvPr>
            <p:ph type="title"/>
          </p:nvPr>
        </p:nvSpPr>
        <p:spPr/>
        <p:txBody>
          <a:bodyPr/>
          <a:lstStyle/>
          <a:p>
            <a:pPr eaLnBrk="1" hangingPunct="1"/>
            <a:r>
              <a:rPr lang="en-US" altLang="zh-TW" sz="3800" b="1" smtClean="0"/>
              <a:t>THE STEPS OF CONTEXTUAL DEISGN</a:t>
            </a:r>
          </a:p>
        </p:txBody>
      </p:sp>
      <p:sp>
        <p:nvSpPr>
          <p:cNvPr id="28676" name="Rectangle 3"/>
          <p:cNvSpPr>
            <a:spLocks noGrp="1" noChangeArrowheads="1"/>
          </p:cNvSpPr>
          <p:nvPr>
            <p:ph type="body" idx="1"/>
          </p:nvPr>
        </p:nvSpPr>
        <p:spPr/>
        <p:txBody>
          <a:bodyPr/>
          <a:lstStyle/>
          <a:p>
            <a:pPr eaLnBrk="1" hangingPunct="1"/>
            <a:r>
              <a:rPr lang="en-US" altLang="zh-TW" sz="2400" b="1" u="sng" dirty="0" smtClean="0">
                <a:solidFill>
                  <a:srgbClr val="0000FF"/>
                </a:solidFill>
                <a:effectLst>
                  <a:outerShdw blurRad="38100" dist="38100" dir="2700000" algn="tl">
                    <a:srgbClr val="000000">
                      <a:alpha val="43137"/>
                    </a:srgbClr>
                  </a:outerShdw>
                </a:effectLst>
                <a:latin typeface="新細明體" pitchFamily="18" charset="-120"/>
                <a:ea typeface="新細明體" pitchFamily="18" charset="-120"/>
                <a:cs typeface="Times New Roman" pitchFamily="18" charset="0"/>
              </a:rPr>
              <a:t>B. INTERPRETATION SESSIONS – CREATING A SHARED UNDERSTANIDNG</a:t>
            </a:r>
          </a:p>
          <a:p>
            <a:pPr eaLnBrk="1" hangingPunct="1"/>
            <a:endParaRPr lang="en-US" altLang="zh-TW" sz="2400" dirty="0" smtClean="0">
              <a:solidFill>
                <a:srgbClr val="0000FF"/>
              </a:solidFill>
              <a:effectLst>
                <a:outerShdw blurRad="38100" dist="38100" dir="2700000" algn="tl">
                  <a:srgbClr val="000000">
                    <a:alpha val="43137"/>
                  </a:srgbClr>
                </a:outerShdw>
              </a:effectLst>
              <a:latin typeface="新細明體" pitchFamily="18" charset="-120"/>
              <a:ea typeface="新細明體" pitchFamily="18" charset="-120"/>
              <a:cs typeface="Times New Roman" pitchFamily="18" charset="0"/>
            </a:endParaRPr>
          </a:p>
          <a:p>
            <a:pPr lvl="1" eaLnBrk="1" hangingPunct="1"/>
            <a:r>
              <a:rPr lang="zh-TW" altLang="en-US" sz="2200" dirty="0" smtClean="0">
                <a:latin typeface="新細明體" pitchFamily="18" charset="-120"/>
                <a:ea typeface="新細明體" pitchFamily="18" charset="-120"/>
                <a:cs typeface="Times New Roman" pitchFamily="18" charset="0"/>
              </a:rPr>
              <a:t>傳統的 </a:t>
            </a:r>
            <a:r>
              <a:rPr lang="en-US" altLang="zh-TW" sz="2200" dirty="0" smtClean="0">
                <a:latin typeface="新細明體" pitchFamily="18" charset="-120"/>
                <a:ea typeface="新細明體" pitchFamily="18" charset="-120"/>
                <a:cs typeface="Times New Roman" pitchFamily="18" charset="0"/>
              </a:rPr>
              <a:t>presentations, reports, or email </a:t>
            </a:r>
            <a:r>
              <a:rPr lang="zh-TW" altLang="en-US" sz="2200" dirty="0" smtClean="0">
                <a:latin typeface="新細明體" pitchFamily="18" charset="-120"/>
                <a:ea typeface="新細明體" pitchFamily="18" charset="-120"/>
                <a:cs typeface="Times New Roman" pitchFamily="18" charset="0"/>
              </a:rPr>
              <a:t>無法有效了解蒐集到的資訊 </a:t>
            </a:r>
            <a:r>
              <a:rPr lang="en-US" altLang="zh-TW" sz="2200" dirty="0" smtClean="0">
                <a:latin typeface="新細明體" pitchFamily="18" charset="-120"/>
                <a:ea typeface="新細明體" pitchFamily="18" charset="-120"/>
                <a:cs typeface="Times New Roman" pitchFamily="18" charset="0"/>
              </a:rPr>
              <a:t>(</a:t>
            </a:r>
            <a:r>
              <a:rPr lang="zh-TW" altLang="en-US" sz="2200" dirty="0" smtClean="0">
                <a:latin typeface="新細明體" pitchFamily="18" charset="-120"/>
                <a:ea typeface="新細明體" pitchFamily="18" charset="-120"/>
                <a:cs typeface="Times New Roman" pitchFamily="18" charset="0"/>
              </a:rPr>
              <a:t>將觀點帶入 </a:t>
            </a:r>
            <a:r>
              <a:rPr lang="en-US" altLang="zh-TW" sz="2200" dirty="0" smtClean="0">
                <a:latin typeface="新細明體" pitchFamily="18" charset="-120"/>
                <a:ea typeface="新細明體" pitchFamily="18" charset="-120"/>
                <a:cs typeface="Times New Roman" pitchFamily="18" charset="0"/>
              </a:rPr>
              <a:t>shared understanding)</a:t>
            </a:r>
            <a:endParaRPr lang="zh-TW" altLang="en-US" sz="2200" dirty="0" smtClean="0">
              <a:latin typeface="新細明體" pitchFamily="18" charset="-120"/>
              <a:ea typeface="新細明體" pitchFamily="18" charset="-120"/>
              <a:cs typeface="Times New Roman" pitchFamily="18" charset="0"/>
            </a:endParaRPr>
          </a:p>
          <a:p>
            <a:pPr lvl="1" eaLnBrk="1" hangingPunct="1"/>
            <a:r>
              <a:rPr lang="en-US" altLang="zh-TW" sz="2200" dirty="0" smtClean="0">
                <a:latin typeface="新細明體" pitchFamily="18" charset="-120"/>
                <a:ea typeface="新細明體" pitchFamily="18" charset="-120"/>
                <a:cs typeface="Times New Roman" pitchFamily="18" charset="0"/>
              </a:rPr>
              <a:t>CD</a:t>
            </a:r>
            <a:r>
              <a:rPr lang="zh-TW" altLang="en-US" sz="2200" dirty="0" smtClean="0">
                <a:latin typeface="新細明體" pitchFamily="18" charset="-120"/>
                <a:ea typeface="新細明體" pitchFamily="18" charset="-120"/>
                <a:cs typeface="Times New Roman" pitchFamily="18" charset="0"/>
              </a:rPr>
              <a:t>採用 </a:t>
            </a:r>
            <a:r>
              <a:rPr lang="en-US" altLang="zh-TW" sz="2200" b="1" dirty="0" smtClean="0">
                <a:solidFill>
                  <a:srgbClr val="C00000"/>
                </a:solidFill>
                <a:latin typeface="新細明體" pitchFamily="18" charset="-120"/>
                <a:ea typeface="新細明體" pitchFamily="18" charset="-120"/>
                <a:cs typeface="Times New Roman" pitchFamily="18" charset="0"/>
              </a:rPr>
              <a:t>interpretation teams </a:t>
            </a:r>
            <a:r>
              <a:rPr lang="en-US" altLang="zh-TW" sz="2200" dirty="0" smtClean="0">
                <a:latin typeface="新細明體" pitchFamily="18" charset="-120"/>
                <a:ea typeface="新細明體" pitchFamily="18" charset="-120"/>
                <a:cs typeface="Times New Roman" pitchFamily="18" charset="0"/>
              </a:rPr>
              <a:t>in interactive sessions to review, analyze, and manipulate the customer data. </a:t>
            </a:r>
          </a:p>
          <a:p>
            <a:pPr lvl="1" eaLnBrk="1" hangingPunct="1"/>
            <a:r>
              <a:rPr lang="en-US" altLang="zh-TW" sz="2200" dirty="0" smtClean="0">
                <a:latin typeface="新細明體" pitchFamily="18" charset="-120"/>
                <a:ea typeface="新細明體" pitchFamily="18" charset="-120"/>
                <a:cs typeface="Times New Roman" pitchFamily="18" charset="0"/>
              </a:rPr>
              <a:t>Team</a:t>
            </a:r>
            <a:r>
              <a:rPr lang="zh-TW" altLang="en-US" sz="2200" dirty="0" smtClean="0">
                <a:latin typeface="新細明體" pitchFamily="18" charset="-120"/>
                <a:ea typeface="新細明體" pitchFamily="18" charset="-120"/>
                <a:cs typeface="Times New Roman" pitchFamily="18" charset="0"/>
              </a:rPr>
              <a:t>組成</a:t>
            </a:r>
            <a:r>
              <a:rPr lang="en-US" altLang="zh-TW" sz="2200" dirty="0" smtClean="0">
                <a:latin typeface="新細明體" pitchFamily="18" charset="-120"/>
                <a:ea typeface="新細明體" pitchFamily="18" charset="-120"/>
                <a:cs typeface="Times New Roman" pitchFamily="18" charset="0"/>
              </a:rPr>
              <a:t>: 4-6 people represent a wide range of job functions and viewpoints. </a:t>
            </a:r>
          </a:p>
          <a:p>
            <a:pPr lvl="1" eaLnBrk="1" hangingPunct="1"/>
            <a:r>
              <a:rPr lang="zh-TW" altLang="en-US" sz="2200" dirty="0" smtClean="0">
                <a:latin typeface="新細明體" pitchFamily="18" charset="-120"/>
                <a:ea typeface="新細明體" pitchFamily="18" charset="-120"/>
                <a:cs typeface="Times New Roman" pitchFamily="18" charset="0"/>
              </a:rPr>
              <a:t>方式</a:t>
            </a:r>
            <a:r>
              <a:rPr lang="en-US" altLang="zh-TW" sz="2200" dirty="0" smtClean="0">
                <a:latin typeface="新細明體" pitchFamily="18" charset="-120"/>
                <a:ea typeface="新細明體" pitchFamily="18" charset="-120"/>
                <a:cs typeface="Times New Roman" pitchFamily="18" charset="0"/>
              </a:rPr>
              <a:t>: </a:t>
            </a:r>
            <a:r>
              <a:rPr lang="zh-TW" altLang="en-US" sz="2200" dirty="0" smtClean="0">
                <a:latin typeface="新細明體" pitchFamily="18" charset="-120"/>
                <a:ea typeface="新細明體" pitchFamily="18" charset="-120"/>
                <a:cs typeface="Times New Roman" pitchFamily="18" charset="0"/>
              </a:rPr>
              <a:t>不建議採用錄影錄音 </a:t>
            </a:r>
            <a:r>
              <a:rPr lang="en-US" altLang="zh-TW" sz="2200" dirty="0" smtClean="0">
                <a:latin typeface="新細明體" pitchFamily="18" charset="-120"/>
                <a:ea typeface="新細明體" pitchFamily="18" charset="-120"/>
                <a:cs typeface="Times New Roman" pitchFamily="18" charset="0"/>
              </a:rPr>
              <a:t>(</a:t>
            </a:r>
            <a:r>
              <a:rPr lang="zh-TW" altLang="en-US" sz="2200" dirty="0" smtClean="0">
                <a:latin typeface="新細明體" pitchFamily="18" charset="-120"/>
                <a:ea typeface="新細明體" pitchFamily="18" charset="-120"/>
                <a:cs typeface="Times New Roman" pitchFamily="18" charset="0"/>
              </a:rPr>
              <a:t>太花時間</a:t>
            </a:r>
            <a:r>
              <a:rPr lang="en-US" altLang="zh-TW" sz="2200" dirty="0" smtClean="0">
                <a:latin typeface="新細明體" pitchFamily="18" charset="-120"/>
                <a:ea typeface="新細明體" pitchFamily="18" charset="-120"/>
                <a:cs typeface="Times New Roman" pitchFamily="18" charset="0"/>
              </a:rPr>
              <a:t>)</a:t>
            </a:r>
            <a:r>
              <a:rPr lang="zh-TW" altLang="en-US" sz="2200" dirty="0" smtClean="0">
                <a:latin typeface="新細明體" pitchFamily="18" charset="-120"/>
                <a:ea typeface="新細明體" pitchFamily="18" charset="-120"/>
                <a:cs typeface="Times New Roman" pitchFamily="18" charset="0"/>
              </a:rPr>
              <a:t>。</a:t>
            </a:r>
            <a:r>
              <a:rPr lang="en-US" altLang="zh-TW" sz="2200" dirty="0" smtClean="0">
                <a:latin typeface="新細明體" pitchFamily="18" charset="-120"/>
                <a:ea typeface="新細明體" pitchFamily="18" charset="-120"/>
                <a:cs typeface="Times New Roman" pitchFamily="18" charset="0"/>
              </a:rPr>
              <a:t>Within 2 days of each interview, rather the team in the design room, where the </a:t>
            </a:r>
            <a:r>
              <a:rPr lang="en-US" altLang="zh-TW" sz="2200" dirty="0" smtClean="0">
                <a:solidFill>
                  <a:srgbClr val="C00000"/>
                </a:solidFill>
                <a:latin typeface="新細明體" pitchFamily="18" charset="-120"/>
                <a:ea typeface="新細明體" pitchFamily="18" charset="-120"/>
                <a:cs typeface="Times New Roman" pitchFamily="18" charset="0"/>
              </a:rPr>
              <a:t>interviewer can tell the story of the interview from handwritten notes and memory.   </a:t>
            </a: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投影片編號版面配置區 5"/>
          <p:cNvSpPr>
            <a:spLocks noGrp="1"/>
          </p:cNvSpPr>
          <p:nvPr>
            <p:ph type="sldNum" sz="quarter" idx="12"/>
          </p:nvPr>
        </p:nvSpPr>
        <p:spPr/>
        <p:txBody>
          <a:bodyPr/>
          <a:lstStyle/>
          <a:p>
            <a:pPr>
              <a:defRPr/>
            </a:pPr>
            <a:fld id="{70539BDA-E069-451D-951D-A31286EAE2B5}" type="slidenum">
              <a:rPr lang="en-US" altLang="zh-TW"/>
              <a:pPr>
                <a:defRPr/>
              </a:pPr>
              <a:t>22</a:t>
            </a:fld>
            <a:endParaRPr lang="en-US" altLang="zh-TW"/>
          </a:p>
        </p:txBody>
      </p:sp>
      <p:sp>
        <p:nvSpPr>
          <p:cNvPr id="29699" name="Rectangle 3"/>
          <p:cNvSpPr>
            <a:spLocks noGrp="1" noChangeArrowheads="1"/>
          </p:cNvSpPr>
          <p:nvPr>
            <p:ph type="body" idx="1"/>
          </p:nvPr>
        </p:nvSpPr>
        <p:spPr>
          <a:xfrm>
            <a:off x="-71438" y="842491"/>
            <a:ext cx="8929688" cy="4530725"/>
          </a:xfrm>
        </p:spPr>
        <p:txBody>
          <a:bodyPr/>
          <a:lstStyle/>
          <a:p>
            <a:pPr lvl="1" eaLnBrk="1" hangingPunct="1"/>
            <a:r>
              <a:rPr lang="en-US" altLang="zh-TW" dirty="0" smtClean="0"/>
              <a:t>Team members: </a:t>
            </a:r>
            <a:r>
              <a:rPr lang="zh-TW" altLang="en-US" dirty="0" smtClean="0"/>
              <a:t>對這些訪問者發問問題，回溯及描述細節。同時</a:t>
            </a:r>
            <a:r>
              <a:rPr lang="en-US" altLang="zh-TW" dirty="0" smtClean="0"/>
              <a:t>perform </a:t>
            </a:r>
            <a:r>
              <a:rPr lang="en-US" altLang="zh-TW" dirty="0" smtClean="0">
                <a:solidFill>
                  <a:srgbClr val="C00000"/>
                </a:solidFill>
              </a:rPr>
              <a:t>interpretation session roles</a:t>
            </a:r>
            <a:r>
              <a:rPr lang="en-US" altLang="zh-TW" dirty="0" smtClean="0"/>
              <a:t>: </a:t>
            </a:r>
            <a:r>
              <a:rPr lang="en-US" altLang="zh-TW" sz="2400" dirty="0" smtClean="0">
                <a:solidFill>
                  <a:srgbClr val="0000FF"/>
                </a:solidFill>
              </a:rPr>
              <a:t>recorder, model builder, moderator, participant. </a:t>
            </a:r>
          </a:p>
          <a:p>
            <a:pPr lvl="1" eaLnBrk="1" hangingPunct="1"/>
            <a:endParaRPr lang="en-US" altLang="zh-TW" sz="800" dirty="0" smtClean="0"/>
          </a:p>
          <a:p>
            <a:pPr lvl="1" eaLnBrk="1" hangingPunct="1"/>
            <a:r>
              <a:rPr lang="zh-TW" altLang="en-US" dirty="0" smtClean="0"/>
              <a:t>紀錄者將紀錄內容投影出去供大家看，紀錄內容被轉印在 </a:t>
            </a:r>
            <a:r>
              <a:rPr lang="en-US" altLang="zh-TW" dirty="0" smtClean="0"/>
              <a:t>3M post-it Notes</a:t>
            </a:r>
            <a:r>
              <a:rPr lang="zh-TW" altLang="en-US" dirty="0" smtClean="0"/>
              <a:t>上，作為之後畫 </a:t>
            </a:r>
            <a:r>
              <a:rPr lang="en-US" altLang="zh-TW" dirty="0" smtClean="0"/>
              <a:t>affinity diagram</a:t>
            </a:r>
            <a:r>
              <a:rPr lang="zh-TW" altLang="en-US" dirty="0" smtClean="0"/>
              <a:t>的依據</a:t>
            </a:r>
          </a:p>
          <a:p>
            <a:pPr lvl="1" eaLnBrk="1" hangingPunct="1"/>
            <a:r>
              <a:rPr lang="en-US" altLang="zh-TW" dirty="0" smtClean="0"/>
              <a:t>Model builders</a:t>
            </a:r>
            <a:r>
              <a:rPr lang="zh-TW" altLang="en-US" dirty="0" smtClean="0"/>
              <a:t>利用這些草圖來</a:t>
            </a:r>
            <a:r>
              <a:rPr lang="zh-TW" altLang="en-US" dirty="0" smtClean="0">
                <a:solidFill>
                  <a:srgbClr val="C00000"/>
                </a:solidFill>
              </a:rPr>
              <a:t>繪製組成五種</a:t>
            </a:r>
            <a:r>
              <a:rPr lang="en-US" altLang="zh-TW" dirty="0" smtClean="0">
                <a:solidFill>
                  <a:srgbClr val="C00000"/>
                </a:solidFill>
              </a:rPr>
              <a:t>work models</a:t>
            </a:r>
            <a:r>
              <a:rPr lang="en-US" altLang="zh-TW" dirty="0" smtClean="0"/>
              <a:t> onto flip charts</a:t>
            </a:r>
          </a:p>
          <a:p>
            <a:pPr eaLnBrk="1" hangingPunct="1"/>
            <a:endParaRPr lang="en-US" altLang="zh-TW" dirty="0" smtClean="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投影片編號版面配置區 5"/>
          <p:cNvSpPr>
            <a:spLocks noGrp="1"/>
          </p:cNvSpPr>
          <p:nvPr>
            <p:ph type="sldNum" sz="quarter" idx="12"/>
          </p:nvPr>
        </p:nvSpPr>
        <p:spPr/>
        <p:txBody>
          <a:bodyPr/>
          <a:lstStyle/>
          <a:p>
            <a:pPr>
              <a:defRPr/>
            </a:pPr>
            <a:fld id="{D5154D81-568E-4FE5-AC48-277D45E8AA0F}" type="slidenum">
              <a:rPr lang="en-US" altLang="zh-TW"/>
              <a:pPr>
                <a:defRPr/>
              </a:pPr>
              <a:t>23</a:t>
            </a:fld>
            <a:endParaRPr lang="en-US" altLang="zh-TW"/>
          </a:p>
        </p:txBody>
      </p:sp>
      <p:sp>
        <p:nvSpPr>
          <p:cNvPr id="31747" name="Rectangle 2"/>
          <p:cNvSpPr>
            <a:spLocks noGrp="1" noChangeArrowheads="1"/>
          </p:cNvSpPr>
          <p:nvPr>
            <p:ph type="title"/>
          </p:nvPr>
        </p:nvSpPr>
        <p:spPr>
          <a:xfrm>
            <a:off x="251520" y="134938"/>
            <a:ext cx="8229600" cy="1139825"/>
          </a:xfrm>
        </p:spPr>
        <p:txBody>
          <a:bodyPr/>
          <a:lstStyle/>
          <a:p>
            <a:pPr eaLnBrk="1" hangingPunct="1"/>
            <a:r>
              <a:rPr lang="en-US" altLang="zh-TW" b="1" dirty="0" smtClean="0"/>
              <a:t>Five work models</a:t>
            </a:r>
          </a:p>
        </p:txBody>
      </p:sp>
      <p:sp>
        <p:nvSpPr>
          <p:cNvPr id="31748" name="Rectangle 3"/>
          <p:cNvSpPr>
            <a:spLocks noGrp="1" noChangeArrowheads="1"/>
          </p:cNvSpPr>
          <p:nvPr>
            <p:ph type="body" idx="1"/>
          </p:nvPr>
        </p:nvSpPr>
        <p:spPr>
          <a:xfrm>
            <a:off x="242888" y="1000125"/>
            <a:ext cx="8686800" cy="5286375"/>
          </a:xfrm>
        </p:spPr>
        <p:txBody>
          <a:bodyPr/>
          <a:lstStyle/>
          <a:p>
            <a:pPr marL="571500" indent="-571500" eaLnBrk="1" hangingPunct="1">
              <a:lnSpc>
                <a:spcPct val="120000"/>
              </a:lnSpc>
              <a:buFont typeface="Wingdings" pitchFamily="2" charset="2"/>
              <a:buAutoNum type="arabicPeriod"/>
            </a:pPr>
            <a:r>
              <a:rPr lang="en-US" altLang="zh-TW" sz="2400" dirty="0" smtClean="0"/>
              <a:t>The flow model </a:t>
            </a:r>
            <a:r>
              <a:rPr lang="zh-TW" altLang="en-US" sz="2400" dirty="0" smtClean="0"/>
              <a:t>描繪工作中個人負責部分、需要的溝通協調。</a:t>
            </a:r>
            <a:endParaRPr lang="en-US" altLang="zh-TW" sz="2400" dirty="0" smtClean="0"/>
          </a:p>
          <a:p>
            <a:pPr marL="571500" indent="-571500" eaLnBrk="1" hangingPunct="1">
              <a:lnSpc>
                <a:spcPct val="120000"/>
              </a:lnSpc>
              <a:buFont typeface="Wingdings" pitchFamily="2" charset="2"/>
              <a:buAutoNum type="arabicPeriod"/>
            </a:pPr>
            <a:r>
              <a:rPr lang="en-US" altLang="zh-TW" sz="2400" dirty="0" smtClean="0"/>
              <a:t>The cultural model </a:t>
            </a:r>
            <a:r>
              <a:rPr lang="zh-TW" altLang="en-US" sz="2400" b="1" dirty="0" smtClean="0"/>
              <a:t>顯示公司內部政策或外部對於個人成員的影響。</a:t>
            </a:r>
            <a:r>
              <a:rPr lang="zh-TW" altLang="en-US" sz="2400" b="1" dirty="0" smtClean="0">
                <a:solidFill>
                  <a:srgbClr val="C00000"/>
                </a:solidFill>
              </a:rPr>
              <a:t>公司文化</a:t>
            </a:r>
            <a:r>
              <a:rPr lang="zh-TW" altLang="en-US" sz="2400" b="1" dirty="0" smtClean="0"/>
              <a:t>影響其價值與信仰，決定了內部人員的預期與行為等 </a:t>
            </a:r>
          </a:p>
          <a:p>
            <a:pPr marL="571500" indent="-571500" eaLnBrk="1" hangingPunct="1">
              <a:lnSpc>
                <a:spcPct val="120000"/>
              </a:lnSpc>
              <a:buFont typeface="Wingdings" pitchFamily="2" charset="2"/>
              <a:buAutoNum type="arabicPeriod"/>
            </a:pPr>
            <a:r>
              <a:rPr lang="en-US" altLang="zh-TW" sz="2400" dirty="0" smtClean="0"/>
              <a:t>The sequence model </a:t>
            </a:r>
            <a:r>
              <a:rPr lang="zh-TW" altLang="en-US" sz="2400" dirty="0" smtClean="0"/>
              <a:t>執行任務的</a:t>
            </a:r>
            <a:r>
              <a:rPr lang="zh-TW" altLang="en-US" sz="2400" dirty="0" smtClean="0">
                <a:solidFill>
                  <a:srgbClr val="C00000"/>
                </a:solidFill>
              </a:rPr>
              <a:t>步驟及流程</a:t>
            </a:r>
          </a:p>
          <a:p>
            <a:pPr marL="571500" indent="-571500" eaLnBrk="1" hangingPunct="1">
              <a:lnSpc>
                <a:spcPct val="120000"/>
              </a:lnSpc>
              <a:buFont typeface="Wingdings" pitchFamily="2" charset="2"/>
              <a:buAutoNum type="arabicPeriod"/>
            </a:pPr>
            <a:r>
              <a:rPr lang="en-US" altLang="zh-TW" sz="2400" dirty="0" smtClean="0"/>
              <a:t>The physical model </a:t>
            </a:r>
            <a:r>
              <a:rPr lang="zh-TW" altLang="en-US" sz="2400" dirty="0" smtClean="0">
                <a:solidFill>
                  <a:srgbClr val="C00000"/>
                </a:solidFill>
              </a:rPr>
              <a:t>工作環境</a:t>
            </a:r>
            <a:r>
              <a:rPr lang="zh-TW" altLang="en-US" sz="2400" dirty="0" smtClean="0"/>
              <a:t>的外觀設計及其對於使用該科技產品所造成的限制。外在工作環境、溝通</a:t>
            </a:r>
            <a:endParaRPr lang="zh-TW" altLang="en-US" sz="1800" b="1" dirty="0" smtClean="0">
              <a:solidFill>
                <a:srgbClr val="0070C0"/>
              </a:solidFill>
            </a:endParaRPr>
          </a:p>
          <a:p>
            <a:pPr marL="571500" indent="-571500" eaLnBrk="1" hangingPunct="1">
              <a:lnSpc>
                <a:spcPct val="120000"/>
              </a:lnSpc>
              <a:buFont typeface="Wingdings" pitchFamily="2" charset="2"/>
              <a:buAutoNum type="arabicPeriod"/>
            </a:pPr>
            <a:r>
              <a:rPr lang="en-US" altLang="zh-TW" sz="2400" dirty="0" smtClean="0"/>
              <a:t>The artifact model </a:t>
            </a:r>
            <a:r>
              <a:rPr lang="zh-TW" altLang="en-US" sz="2400" dirty="0" smtClean="0"/>
              <a:t>顯示</a:t>
            </a:r>
            <a:r>
              <a:rPr lang="zh-TW" altLang="en-US" sz="2400" dirty="0" smtClean="0">
                <a:solidFill>
                  <a:srgbClr val="C00000"/>
                </a:solidFill>
              </a:rPr>
              <a:t>其他相關產品</a:t>
            </a:r>
            <a:r>
              <a:rPr lang="zh-TW" altLang="en-US" sz="2400" dirty="0" smtClean="0"/>
              <a:t>如何被使用，並建議其用途的延伸性</a:t>
            </a:r>
          </a:p>
        </p:txBody>
      </p:sp>
      <p:sp>
        <p:nvSpPr>
          <p:cNvPr id="31753" name="AutoShape 9" descr="data:image/jpg;base64,/9j/4AAQSkZJRgABAQAAAQABAAD/2wCEAAkGBhQSERUUEhMTFRQWFBoXFxQVFhgcFBcXHxcVFxwUGBoXHCYgHBojHBQYHy8iIycpLCwsFR4xNTAqNScrLCkBCQoKDgwOGg8PGjUkHh8sNS0qKi41MC8vLDU0LDUvLywsLDA1NS01MCw1Kik0LCwqNCk0KTUpKSksLywsKSkzLP/AABEIAGsAiAMBIgACEQEDEQH/xAAcAAABBAMBAAAAAAAAAAAAAAAHAAQFBgECCAP/xABJEAABAgMDBQwGBwQLAAAAAAABAgMABBEGITEFEkFRVAcWIjVhcXORkqLC0RMyUoGx0hQlQnKhssFEYpPwFSMzQ1Njg6Oz4fH/xAAaAQABBQEAAAAAAAAAAAAAAAAFAAEDBAYC/8QANhEAAQIDAQwKAwEBAQAAAAAAAQACAwQRIQUSFCIxMkFRcZHB0QYTNFJTYXKBobEW4fCS8WL/2gAMAwEAAhEDEQA/AL7ZqzUtNyrUxMtJdecTnLcVWqjUipoQMAIk94Ejszfe84VgOLpfo/EqLDEEOGwsBI0IrOTcwyYiMZEIAcQACaC3IFXt4Ejszfe84W8CR2ZvvecT7joTiQL6Xml+qNPpSPaT1iO+qZ3RuVXD5nxXf6PNQe8CR2ZvvecLeBI7M33vOJ4LGsdcbVhuqZ3RuT4fM+K7/R5qv7wJHZm+95xjeDI7M33vOLBChurZ3Qnw6Z8V28qv7wZHZm+980LeDI7M33vmifzo0L6faT1iG6tmoJYdM+K7eVB7wZHZm+95xjeFI7M33vmibVNoGK0doRocoN/4jfbT5xzeM1BPhs14jt5UPvCkdmb73zQt4Ujszfe+aJRWWGRi80P9RHnDqsNeM1BNhs14jt5UDvCkdmb73zRjeFI7M33vmifhQ143UEsOmfFdvKp1pLNy8pKuzEu0lp5tOchxNapNQKipIwJhRJW94umOj8SYxFGZcWOAbZZoW26OsbNQHOmBfkOpV1pyCy1elgOLpfo/EqLDFesBxdL9H4lRYIKQsxuxYie7VF9R+1Qt3Dih3pGv+QQFsgWumm0FpMw8AUilHF8EjAi/lp74N+7OiuSH/vNn/cTHNsqg54vERxa6DQq3c+lgcKgm0K7SeX59xYQmcmKnW6qJXMyptj38ZUVyVcKVJWMQQr8b/hBjyM40kJcU2pRoFJINwqPZNIt3NbDjwnF9S4HQU3SCJEkIkPqWMDHA2ltbRs8iKKjN5NyutJUmYmFJGKg4ugiPes7NKXVby3RdXPcXU8l5NBBmTl9GlLgPMP0MQT8lnrUptBCa3AAmg0+cX4MrCcT1jSKZKmv3Z8IBFuxMMAMG8JyGjae9hqN/6pbeQRT1EjWMesnGNHrLoV7Q+6tQ92NIujWS1KwSTfTDTqjZnJClVzUk0x5OesF3vgOFHtBA1gWLNtM4HXzYjrfM28/eqFj9jXyeCQkaBnk099I81WGmVXVBOgZxgsjIq6lOYaihIuurhDbKEgtsEgELAzgnSRqugbgEm91mU+fJHRdufaAC1oA/8n7JQpmtzaZwIQnniTs1aebyM6lt1ZclzeWiapppU2T6p5MIITNomVt0JoKesRhwbyacvxip2hkvpMityl7aypJ1pFAr3Y9URxLnN6pxDS1zcnn/AFPZXIN1HvmGNi3rmONDQUp55UZ8n5QQ+0h1pQUhaQpJGrz5I94Fe4llxRS5KqNUpHpG+Spooc2B64KkAGuvhVX5qAYEUs3KAt5xdMdH4kwoVvOL5jo/EmFFGbzhsW66K9mf6uAXpYDi6X6PxKiwRXrAcXS/R+JUWCCsPMGxYae7VF9R+1U91WXC8lTAOFEHvpjncZNQnAqrrrHR26UfquZr7Cfzojnpaxy9RinMucHABGLlMa6ESRbXgFNEyvomcwvJIbzXQvNKc8faQRfQ40Iu5YJdnXUrlmikkjNAqaaLtEA6ffIApBe3KHwqSbz7wFrF+GNRh8IvXJBa57tYye6q9JCHQGM0h2U+Y/4rKECH0pOBKM0lQ4WA1Ea9F+q+NnWk+kFycBRIwUSb630wvjeXQ2CoUFxFM4g68OTCC74jXttB1rHMhuY6whZRlBNVGpvNQSLzwaXUw0Xxo3lIBQN9CkA4m8V1m/nj2R6OqvUxGjRdh79UaMZmaQcyt4rdrN/N+MQ4luKdCmx+8Fg5QTnk1JGZQUGmtcD8Y8ZycSogp9kpIIHXWPdL6PR0FNF1L63V/wDY9XpxNQag0PVcdEOKNdUNP97JGrha4f3uqzP2el3UepmnOzjmkgqvvB5DppG0zJj0Km0pAT6NSQkYAZpieemkFQrQgD1joPN7oaPEHOuBJ+1U6r8dcTwHua29NaVrb5/21QxxfEOBFliFO5RlRQyiy3cEkr0CtfRkY46MIPsc5bmw+t5fpVDurjoyM7e3pLRrWuuk6+e12scSoG3nF8x0fiTGYxbzi+Y6PxJhRQms4bFr+ivZn+rgF6WB4ul+j8SosEV+wPF0v0fiVFggrDzBsWGnu0xfUftVfdPVTJU2RX+zGGProjmXPvrp1k1PXHTG6ifqmb6IfnRHMRmBqMRxBUq3IuvYZt08E4cNWx94wX9yAD6Cc6tPSrw10ECALq0PvH4QYtx8FUirTR5XwTFiQNHO2cQldoX0Fp2fSu2Yj9/8Izmo1K6xGxbpjdz/APcaKcSMVoHOpPnBStdaylAvZqXSqtEH3qujRaALijrVjHn/AEw0gXvsgcq0ecNH7TyteHNy/wDETHGMDbk91KGVGKLdgT0kewOsxsHLqZifxiGXbKRGM2z7lE/AR4qt/k8ftKTzIX5Qi5oyrpsvFdmtJ2D9KfCjT1U0GmnxjVxVR6qRzCIBe6zIIu9Is6qNqP6xHTO65I0JT6ZZoaDMCamlwqTdEYjNrbTepTJR8l4dxVD3NzXLDHSK/KuOjY5w3MVVytLn98/lVHR1YDk1cSNaP3RFHMHlxKgbeH6vmOj8SYUYt3xfMdH4kwoozOcNi13RXsz/AFcAvWwPF0v0fiVE/WK3YlymTZfo/EqHjs+RBSHmDYFhp7tUX1H7UdunprkmbH+V40RzEpmmIpzx0RbmfUuQmE3nObpTSeEk4QB8btOoxDFeQURubBESGTprwTdprOaFB9oxc7AWTS+lxTjr6QlQGa0rNBqDeq+KuSEJ1VOgQ9yJbBcoSW7wrFKhVPVXEi6uqKEx174bhLmjtB/aMRoMMMAcRWgy5NyuM9udBS15sy6hCEg8IlZUqhJwwpSlLzyRle5aypKAl9zOVSqiQbs0mgSDeSa6dBMVZ/dHmCtS05qAo1UhIAbV94aTS6ukCPQW0mFLow00oC5JEugGnNQ064HmFdMgVi/3moAGjNI9h5bFb5SzOT22MwqZWohaS6pXDJTdwBWgNSnHEVh5kyzuT2nCQltdUFQz1Z7YAVm1B9o0vFLtEVJjLGUFAlS0Iu4NEtChqLyAgkilRDd6bykASJmt2CVBKtfsiIHSE06oMXLlxjyXRNlKnepu1GQZRuSW4lAC7ihYqCpSlqKhStKAXXgchMD5KxHplDLEyuqH3Xla0OKUfwMNUQWlZd8FhER18SaqSHFt5roTJFlJREm059EYW4WG1KKkBRUooSSeEcSTyQ+m8kSxlXFCWl0n0KzQMtApIQrUnEQ9kE0lmUmtfQNjRcfRpx/nXDTKCMyTmtFJd24YCjasIvl0URmtDcQttOorJl5c41NtUGNzAD+lJb7x/IqOjI5z3I265VZ5M49SFR0ZHA0ohdN189uziVA274vmOj8SYUYt3xfMdH4kxmKkznDYtb0V7M/1cAtrCprk6X6PxKh3OZON9Ia2C4ul+j8Son4JsOKNiw092mL6j9lUTLcsrMWKGubdT3GKRMyTa/XQlR5RwuvGDW/JpULxFYyzYwLqpvgq10x54ijML7QpZOZEHFdkOlAm02Tw2tKUBVDfQ3kVrcOSHtndz8zKXFOuehSgA8ICqiQTTHgigvJ1xc5uzTweNWFqOaAFhNRdXAnC6H0lkacTc2yE1+0sN9Wk0ilfRKXrajzpVH474b2hweKkDKQqpkawqVMuvJSnMbSTwlAuKUBUhIIIokXk3Y3R5tkJFAOfR+Ai9M2cygELbC0BDhJWmovKqZxJ9HW+gwOiPNG50+byWQSa3BVPcBQRI6+IsaaqsyJCBN/EFNFLVDt2SdIqXGE1GBWFHQACGyojHGId2XUlSkk+qSDS4XGn2qHrghtWDeNQuZVQ6E53xUo/CPZG5wjS67XX/V/JCcHnNFNyjhzMBpN++uwFDF7JaXKZ4BpgTQkc380iEypZ5aaqShKxT7KaHsj9IOLe54x9pTquddPygQ5asHKD+6CvvFR+JjlrIoNpUpujKtFADuHEqEVukZOQhFX1LUlKRRtlwkEJA0pHLDDL26XKuy7zTKJhSnGloBLWYkFSSKnOOF+iLkix0mP2dq790frDprIUun1WGRzNo8oudY+lBRBmmVa6+o47hzQV3KZPNyk0c2nAXqxzDqMHiNG2Qm4AAahhG8RtFAlNzImHhwFKCmvT7a1A274vmOj8SYzCt3xfMdH4kwoqTOcNi23RXsz/AFcAt7BcXS/R+JUT9YCtqrQTErNvMS7y2mW1UQ2g0SkUBoBzkxFb9p3anu1FnCWsxSMliFu6OxppxmGvAD8YA1028UfqxisALftO7U92oW/ad2p7tRzhbdSb8UmO+355I9lA5IVBAE37Tu1PdqFv2ndqe7ULCm6kvxSY77fnkj5CgB79p3anu1C36zu1PdqGwpupL8VmO+355I+VjFYAe/Wd2p7tRnfrO7U92obCW6kvxWY77fnkj3WMVgCb9Z3anu1C36zu1PdqGwlupL8VmO+355I91hQBN+s7tT3ahb9Z3anu1CwhupL8VmO+355I9xmAHv1ndqe7ULfrO7U92oWEN1Jfisx32/PJF63fF8x0fiTCgb2Vy/MTU2yxMPLdZcVRbazVKhQmhHOB1Qo66ozGM2ylitwJptwBg8YXxdjVbu07F//Z"/>
          <p:cNvSpPr>
            <a:spLocks noChangeAspect="1" noChangeArrowheads="1"/>
          </p:cNvSpPr>
          <p:nvPr/>
        </p:nvSpPr>
        <p:spPr bwMode="auto">
          <a:xfrm>
            <a:off x="155575" y="-487363"/>
            <a:ext cx="1295400" cy="1019176"/>
          </a:xfrm>
          <a:prstGeom prst="rect">
            <a:avLst/>
          </a:prstGeom>
          <a:noFill/>
        </p:spPr>
        <p:txBody>
          <a:bodyPr vert="horz" wrap="square" lIns="91440" tIns="45720" rIns="91440" bIns="45720" numCol="1" anchor="t" anchorCtr="0" compatLnSpc="1">
            <a:prstTxWarp prst="textNoShape">
              <a:avLst/>
            </a:prstTxWarp>
          </a:bodyPr>
          <a:lstStyle/>
          <a:p>
            <a:endParaRPr lang="zh-TW" altLang="en-US"/>
          </a:p>
        </p:txBody>
      </p:sp>
      <p:sp>
        <p:nvSpPr>
          <p:cNvPr id="31755" name="AutoShape 11" descr="data:image/jpg;base64,/9j/4AAQSkZJRgABAQAAAQABAAD/2wCEAAkGBhQSERUUEhMTFRQWFBoXFxQVFhgcFBcXHxcVFxwUGBoXHCYgHBojHBQYHy8iIycpLCwsFR4xNTAqNScrLCkBCQoKDgwOGg8PGjUkHh8sNS0qKi41MC8vLDU0LDUvLywsLDA1NS01MCw1Kik0LCwqNCk0KTUpKSksLywsKSkzLP/AABEIAGsAiAMBIgACEQEDEQH/xAAcAAABBAMBAAAAAAAAAAAAAAAHAAQFBgECCAP/xABJEAABAgMDBQwGBwQLAAAAAAABAgMABBEGITEFEkFRVAcWIjVhcXORkqLC0RMyUoGx0hQlQnKhssFEYpPwFSMzQ1Njg6Oz4fH/xAAaAQABBQEAAAAAAAAAAAAAAAAFAAEDBAYC/8QANhEAAQIDAQwKAwEBAQAAAAAAAQACAwQRIQUSFCIxMkFRcZHB0QYTNFJTYXKBobEW4fCS8WL/2gAMAwEAAhEDEQA/AL7ZqzUtNyrUxMtJdecTnLcVWqjUipoQMAIk94Ejszfe84VgOLpfo/EqLDEEOGwsBI0IrOTcwyYiMZEIAcQACaC3IFXt4Ejszfe84W8CR2ZvvecT7joTiQL6Xml+qNPpSPaT1iO+qZ3RuVXD5nxXf6PNQe8CR2ZvvecLeBI7M33vOJ4LGsdcbVhuqZ3RuT4fM+K7/R5qv7wJHZm+95xjeDI7M33vOLBChurZ3Qnw6Z8V28qv7wZHZm+980LeDI7M33vmifzo0L6faT1iG6tmoJYdM+K7eVB7wZHZm+95xjeFI7M33vmibVNoGK0doRocoN/4jfbT5xzeM1BPhs14jt5UPvCkdmb73zQt4Ujszfe+aJRWWGRi80P9RHnDqsNeM1BNhs14jt5UDvCkdmb73zRjeFI7M33vmifhQ143UEsOmfFdvKp1pLNy8pKuzEu0lp5tOchxNapNQKipIwJhRJW94umOj8SYxFGZcWOAbZZoW26OsbNQHOmBfkOpV1pyCy1elgOLpfo/EqLDFesBxdL9H4lRYIKQsxuxYie7VF9R+1Qt3Dih3pGv+QQFsgWumm0FpMw8AUilHF8EjAi/lp74N+7OiuSH/vNn/cTHNsqg54vERxa6DQq3c+lgcKgm0K7SeX59xYQmcmKnW6qJXMyptj38ZUVyVcKVJWMQQr8b/hBjyM40kJcU2pRoFJINwqPZNIt3NbDjwnF9S4HQU3SCJEkIkPqWMDHA2ltbRs8iKKjN5NyutJUmYmFJGKg4ugiPes7NKXVby3RdXPcXU8l5NBBmTl9GlLgPMP0MQT8lnrUptBCa3AAmg0+cX4MrCcT1jSKZKmv3Z8IBFuxMMAMG8JyGjae9hqN/6pbeQRT1EjWMesnGNHrLoV7Q+6tQ92NIujWS1KwSTfTDTqjZnJClVzUk0x5OesF3vgOFHtBA1gWLNtM4HXzYjrfM28/eqFj9jXyeCQkaBnk099I81WGmVXVBOgZxgsjIq6lOYaihIuurhDbKEgtsEgELAzgnSRqugbgEm91mU+fJHRdufaAC1oA/8n7JQpmtzaZwIQnniTs1aebyM6lt1ZclzeWiapppU2T6p5MIITNomVt0JoKesRhwbyacvxip2hkvpMityl7aypJ1pFAr3Y9URxLnN6pxDS1zcnn/AFPZXIN1HvmGNi3rmONDQUp55UZ8n5QQ+0h1pQUhaQpJGrz5I94Fe4llxRS5KqNUpHpG+Spooc2B64KkAGuvhVX5qAYEUs3KAt5xdMdH4kwoVvOL5jo/EmFFGbzhsW66K9mf6uAXpYDi6X6PxKiwRXrAcXS/R+JUWCCsPMGxYae7VF9R+1U91WXC8lTAOFEHvpjncZNQnAqrrrHR26UfquZr7Cfzojnpaxy9RinMucHABGLlMa6ESRbXgFNEyvomcwvJIbzXQvNKc8faQRfQ40Iu5YJdnXUrlmikkjNAqaaLtEA6ffIApBe3KHwqSbz7wFrF+GNRh8IvXJBa57tYye6q9JCHQGM0h2U+Y/4rKECH0pOBKM0lQ4WA1Ea9F+q+NnWk+kFycBRIwUSb630wvjeXQ2CoUFxFM4g68OTCC74jXttB1rHMhuY6whZRlBNVGpvNQSLzwaXUw0Xxo3lIBQN9CkA4m8V1m/nj2R6OqvUxGjRdh79UaMZmaQcyt4rdrN/N+MQ4luKdCmx+8Fg5QTnk1JGZQUGmtcD8Y8ZycSogp9kpIIHXWPdL6PR0FNF1L63V/wDY9XpxNQag0PVcdEOKNdUNP97JGrha4f3uqzP2el3UepmnOzjmkgqvvB5DppG0zJj0Km0pAT6NSQkYAZpieemkFQrQgD1joPN7oaPEHOuBJ+1U6r8dcTwHua29NaVrb5/21QxxfEOBFliFO5RlRQyiy3cEkr0CtfRkY46MIPsc5bmw+t5fpVDurjoyM7e3pLRrWuuk6+e12scSoG3nF8x0fiTGYxbzi+Y6PxJhRQms4bFr+ivZn+rgF6WB4ul+j8SosEV+wPF0v0fiVFggrDzBsWGnu0xfUftVfdPVTJU2RX+zGGProjmXPvrp1k1PXHTG6ifqmb6IfnRHMRmBqMRxBUq3IuvYZt08E4cNWx94wX9yAD6Cc6tPSrw10ECALq0PvH4QYtx8FUirTR5XwTFiQNHO2cQldoX0Fp2fSu2Yj9/8Izmo1K6xGxbpjdz/APcaKcSMVoHOpPnBStdaylAvZqXSqtEH3qujRaALijrVjHn/AEw0gXvsgcq0ecNH7TyteHNy/wDETHGMDbk91KGVGKLdgT0kewOsxsHLqZifxiGXbKRGM2z7lE/AR4qt/k8ftKTzIX5Qi5oyrpsvFdmtJ2D9KfCjT1U0GmnxjVxVR6qRzCIBe6zIIu9Is6qNqP6xHTO65I0JT6ZZoaDMCamlwqTdEYjNrbTepTJR8l4dxVD3NzXLDHSK/KuOjY5w3MVVytLn98/lVHR1YDk1cSNaP3RFHMHlxKgbeH6vmOj8SYUYt3xfMdH4kwoozOcNi13RXsz/AFcAvWwPF0v0fiVE/WK3YlymTZfo/EqHjs+RBSHmDYFhp7tUX1H7UdunprkmbH+V40RzEpmmIpzx0RbmfUuQmE3nObpTSeEk4QB8btOoxDFeQURubBESGTprwTdprOaFB9oxc7AWTS+lxTjr6QlQGa0rNBqDeq+KuSEJ1VOgQ9yJbBcoSW7wrFKhVPVXEi6uqKEx174bhLmjtB/aMRoMMMAcRWgy5NyuM9udBS15sy6hCEg8IlZUqhJwwpSlLzyRle5aypKAl9zOVSqiQbs0mgSDeSa6dBMVZ/dHmCtS05qAo1UhIAbV94aTS6ukCPQW0mFLow00oC5JEugGnNQ064HmFdMgVi/3moAGjNI9h5bFb5SzOT22MwqZWohaS6pXDJTdwBWgNSnHEVh5kyzuT2nCQltdUFQz1Z7YAVm1B9o0vFLtEVJjLGUFAlS0Iu4NEtChqLyAgkilRDd6bykASJmt2CVBKtfsiIHSE06oMXLlxjyXRNlKnepu1GQZRuSW4lAC7ihYqCpSlqKhStKAXXgchMD5KxHplDLEyuqH3Xla0OKUfwMNUQWlZd8FhER18SaqSHFt5roTJFlJREm059EYW4WG1KKkBRUooSSeEcSTyQ+m8kSxlXFCWl0n0KzQMtApIQrUnEQ9kE0lmUmtfQNjRcfRpx/nXDTKCMyTmtFJd24YCjasIvl0URmtDcQttOorJl5c41NtUGNzAD+lJb7x/IqOjI5z3I265VZ5M49SFR0ZHA0ohdN189uziVA274vmOj8SYUYt3xfMdH4kxmKkznDYtb0V7M/1cAtrCprk6X6PxKh3OZON9Ia2C4ul+j8Son4JsOKNiw092mL6j9lUTLcsrMWKGubdT3GKRMyTa/XQlR5RwuvGDW/JpULxFYyzYwLqpvgq10x54ijML7QpZOZEHFdkOlAm02Tw2tKUBVDfQ3kVrcOSHtndz8zKXFOuehSgA8ICqiQTTHgigvJ1xc5uzTweNWFqOaAFhNRdXAnC6H0lkacTc2yE1+0sN9Wk0ilfRKXrajzpVH474b2hweKkDKQqpkawqVMuvJSnMbSTwlAuKUBUhIIIokXk3Y3R5tkJFAOfR+Ai9M2cygELbC0BDhJWmovKqZxJ9HW+gwOiPNG50+byWQSa3BVPcBQRI6+IsaaqsyJCBN/EFNFLVDt2SdIqXGE1GBWFHQACGyojHGId2XUlSkk+qSDS4XGn2qHrghtWDeNQuZVQ6E53xUo/CPZG5wjS67XX/V/JCcHnNFNyjhzMBpN++uwFDF7JaXKZ4BpgTQkc380iEypZ5aaqShKxT7KaHsj9IOLe54x9pTquddPygQ5asHKD+6CvvFR+JjlrIoNpUpujKtFADuHEqEVukZOQhFX1LUlKRRtlwkEJA0pHLDDL26XKuy7zTKJhSnGloBLWYkFSSKnOOF+iLkix0mP2dq790frDprIUun1WGRzNo8oudY+lBRBmmVa6+o47hzQV3KZPNyk0c2nAXqxzDqMHiNG2Qm4AAahhG8RtFAlNzImHhwFKCmvT7a1A274vmOj8SYzCt3xfMdH4kwoqTOcNi23RXsz/AFcAt7BcXS/R+JUT9YCtqrQTErNvMS7y2mW1UQ2g0SkUBoBzkxFb9p3anu1FnCWsxSMliFu6OxppxmGvAD8YA1028UfqxisALftO7U92oW/ad2p7tRzhbdSb8UmO+355I9lA5IVBAE37Tu1PdqFv2ndqe7ULCm6kvxSY77fnkj5CgB79p3anu1C36zu1PdqGwpupL8VmO+355I+VjFYAe/Wd2p7tRnfrO7U92obCW6kvxWY77fnkj3WMVgCb9Z3anu1C36zu1PdqGwlupL8VmO+355I91hQBN+s7tT3ahb9Z3anu1CwhupL8VmO+355I9xmAHv1ndqe7ULfrO7U92oWEN1Jfisx32/PJF63fF8x0fiTCgb2Vy/MTU2yxMPLdZcVRbazVKhQmhHOB1Qo66ozGM2ylitwJptwBg8YXxdjVbu07F//Z"/>
          <p:cNvSpPr>
            <a:spLocks noChangeAspect="1" noChangeArrowheads="1"/>
          </p:cNvSpPr>
          <p:nvPr/>
        </p:nvSpPr>
        <p:spPr bwMode="auto">
          <a:xfrm>
            <a:off x="155575" y="-487363"/>
            <a:ext cx="1295400" cy="1019176"/>
          </a:xfrm>
          <a:prstGeom prst="rect">
            <a:avLst/>
          </a:prstGeom>
          <a:noFill/>
        </p:spPr>
        <p:txBody>
          <a:bodyPr vert="horz" wrap="square" lIns="91440" tIns="45720" rIns="91440" bIns="45720" numCol="1" anchor="t" anchorCtr="0" compatLnSpc="1">
            <a:prstTxWarp prst="textNoShape">
              <a:avLst/>
            </a:prstTxWarp>
          </a:bodyPr>
          <a:lstStyle/>
          <a:p>
            <a:endParaRPr lang="zh-TW" altLang="en-US"/>
          </a:p>
        </p:txBody>
      </p:sp>
      <p:sp>
        <p:nvSpPr>
          <p:cNvPr id="31757" name="AutoShape 13" descr="data:image/jpg;base64,/9j/4AAQSkZJRgABAQAAAQABAAD/2wCEAAkGBhQSERUUEhMTFRQWFBoXFxQVFhgcFBcXHxcVFxwUGBoXHCYgHBojHBQYHy8iIycpLCwsFR4xNTAqNScrLCkBCQoKDgwOGg8PGjUkHh8sNS0qKi41MC8vLDU0LDUvLywsLDA1NS01MCw1Kik0LCwqNCk0KTUpKSksLywsKSkzLP/AABEIAGsAiAMBIgACEQEDEQH/xAAcAAABBAMBAAAAAAAAAAAAAAAHAAQFBgECCAP/xABJEAABAgMDBQwGBwQLAAAAAAABAgMABBEGITEFEkFRVAcWIjVhcXORkqLC0RMyUoGx0hQlQnKhssFEYpPwFSMzQ1Njg6Oz4fH/xAAaAQABBQEAAAAAAAAAAAAAAAAFAAEDBAYC/8QANhEAAQIDAQwKAwEBAQAAAAAAAQACAwQRIQUSFCIxMkFRcZHB0QYTNFJTYXKBobEW4fCS8WL/2gAMAwEAAhEDEQA/AL7ZqzUtNyrUxMtJdecTnLcVWqjUipoQMAIk94Ejszfe84VgOLpfo/EqLDEEOGwsBI0IrOTcwyYiMZEIAcQACaC3IFXt4Ejszfe84W8CR2ZvvecT7joTiQL6Xml+qNPpSPaT1iO+qZ3RuVXD5nxXf6PNQe8CR2ZvvecLeBI7M33vOJ4LGsdcbVhuqZ3RuT4fM+K7/R5qv7wJHZm+95xjeDI7M33vOLBChurZ3Qnw6Z8V28qv7wZHZm+980LeDI7M33vmifzo0L6faT1iG6tmoJYdM+K7eVB7wZHZm+95xjeFI7M33vmibVNoGK0doRocoN/4jfbT5xzeM1BPhs14jt5UPvCkdmb73zQt4Ujszfe+aJRWWGRi80P9RHnDqsNeM1BNhs14jt5UDvCkdmb73zRjeFI7M33vmifhQ143UEsOmfFdvKp1pLNy8pKuzEu0lp5tOchxNapNQKipIwJhRJW94umOj8SYxFGZcWOAbZZoW26OsbNQHOmBfkOpV1pyCy1elgOLpfo/EqLDFesBxdL9H4lRYIKQsxuxYie7VF9R+1Qt3Dih3pGv+QQFsgWumm0FpMw8AUilHF8EjAi/lp74N+7OiuSH/vNn/cTHNsqg54vERxa6DQq3c+lgcKgm0K7SeX59xYQmcmKnW6qJXMyptj38ZUVyVcKVJWMQQr8b/hBjyM40kJcU2pRoFJINwqPZNIt3NbDjwnF9S4HQU3SCJEkIkPqWMDHA2ltbRs8iKKjN5NyutJUmYmFJGKg4ugiPes7NKXVby3RdXPcXU8l5NBBmTl9GlLgPMP0MQT8lnrUptBCa3AAmg0+cX4MrCcT1jSKZKmv3Z8IBFuxMMAMG8JyGjae9hqN/6pbeQRT1EjWMesnGNHrLoV7Q+6tQ92NIujWS1KwSTfTDTqjZnJClVzUk0x5OesF3vgOFHtBA1gWLNtM4HXzYjrfM28/eqFj9jXyeCQkaBnk099I81WGmVXVBOgZxgsjIq6lOYaihIuurhDbKEgtsEgELAzgnSRqugbgEm91mU+fJHRdufaAC1oA/8n7JQpmtzaZwIQnniTs1aebyM6lt1ZclzeWiapppU2T6p5MIITNomVt0JoKesRhwbyacvxip2hkvpMityl7aypJ1pFAr3Y9URxLnN6pxDS1zcnn/AFPZXIN1HvmGNi3rmONDQUp55UZ8n5QQ+0h1pQUhaQpJGrz5I94Fe4llxRS5KqNUpHpG+Spooc2B64KkAGuvhVX5qAYEUs3KAt5xdMdH4kwoVvOL5jo/EmFFGbzhsW66K9mf6uAXpYDi6X6PxKiwRXrAcXS/R+JUWCCsPMGxYae7VF9R+1U91WXC8lTAOFEHvpjncZNQnAqrrrHR26UfquZr7Cfzojnpaxy9RinMucHABGLlMa6ESRbXgFNEyvomcwvJIbzXQvNKc8faQRfQ40Iu5YJdnXUrlmikkjNAqaaLtEA6ffIApBe3KHwqSbz7wFrF+GNRh8IvXJBa57tYye6q9JCHQGM0h2U+Y/4rKECH0pOBKM0lQ4WA1Ea9F+q+NnWk+kFycBRIwUSb630wvjeXQ2CoUFxFM4g68OTCC74jXttB1rHMhuY6whZRlBNVGpvNQSLzwaXUw0Xxo3lIBQN9CkA4m8V1m/nj2R6OqvUxGjRdh79UaMZmaQcyt4rdrN/N+MQ4luKdCmx+8Fg5QTnk1JGZQUGmtcD8Y8ZycSogp9kpIIHXWPdL6PR0FNF1L63V/wDY9XpxNQag0PVcdEOKNdUNP97JGrha4f3uqzP2el3UepmnOzjmkgqvvB5DppG0zJj0Km0pAT6NSQkYAZpieemkFQrQgD1joPN7oaPEHOuBJ+1U6r8dcTwHua29NaVrb5/21QxxfEOBFliFO5RlRQyiy3cEkr0CtfRkY46MIPsc5bmw+t5fpVDurjoyM7e3pLRrWuuk6+e12scSoG3nF8x0fiTGYxbzi+Y6PxJhRQms4bFr+ivZn+rgF6WB4ul+j8SosEV+wPF0v0fiVFggrDzBsWGnu0xfUftVfdPVTJU2RX+zGGProjmXPvrp1k1PXHTG6ifqmb6IfnRHMRmBqMRxBUq3IuvYZt08E4cNWx94wX9yAD6Cc6tPSrw10ECALq0PvH4QYtx8FUirTR5XwTFiQNHO2cQldoX0Fp2fSu2Yj9/8Izmo1K6xGxbpjdz/APcaKcSMVoHOpPnBStdaylAvZqXSqtEH3qujRaALijrVjHn/AEw0gXvsgcq0ecNH7TyteHNy/wDETHGMDbk91KGVGKLdgT0kewOsxsHLqZifxiGXbKRGM2z7lE/AR4qt/k8ftKTzIX5Qi5oyrpsvFdmtJ2D9KfCjT1U0GmnxjVxVR6qRzCIBe6zIIu9Is6qNqP6xHTO65I0JT6ZZoaDMCamlwqTdEYjNrbTepTJR8l4dxVD3NzXLDHSK/KuOjY5w3MVVytLn98/lVHR1YDk1cSNaP3RFHMHlxKgbeH6vmOj8SYUYt3xfMdH4kwoozOcNi13RXsz/AFcAvWwPF0v0fiVE/WK3YlymTZfo/EqHjs+RBSHmDYFhp7tUX1H7UdunprkmbH+V40RzEpmmIpzx0RbmfUuQmE3nObpTSeEk4QB8btOoxDFeQURubBESGTprwTdprOaFB9oxc7AWTS+lxTjr6QlQGa0rNBqDeq+KuSEJ1VOgQ9yJbBcoSW7wrFKhVPVXEi6uqKEx174bhLmjtB/aMRoMMMAcRWgy5NyuM9udBS15sy6hCEg8IlZUqhJwwpSlLzyRle5aypKAl9zOVSqiQbs0mgSDeSa6dBMVZ/dHmCtS05qAo1UhIAbV94aTS6ukCPQW0mFLow00oC5JEugGnNQ064HmFdMgVi/3moAGjNI9h5bFb5SzOT22MwqZWohaS6pXDJTdwBWgNSnHEVh5kyzuT2nCQltdUFQz1Z7YAVm1B9o0vFLtEVJjLGUFAlS0Iu4NEtChqLyAgkilRDd6bykASJmt2CVBKtfsiIHSE06oMXLlxjyXRNlKnepu1GQZRuSW4lAC7ihYqCpSlqKhStKAXXgchMD5KxHplDLEyuqH3Xla0OKUfwMNUQWlZd8FhER18SaqSHFt5roTJFlJREm059EYW4WG1KKkBRUooSSeEcSTyQ+m8kSxlXFCWl0n0KzQMtApIQrUnEQ9kE0lmUmtfQNjRcfRpx/nXDTKCMyTmtFJd24YCjasIvl0URmtDcQttOorJl5c41NtUGNzAD+lJb7x/IqOjI5z3I265VZ5M49SFR0ZHA0ohdN189uziVA274vmOj8SYUYt3xfMdH4kxmKkznDYtb0V7M/1cAtrCprk6X6PxKh3OZON9Ia2C4ul+j8Son4JsOKNiw092mL6j9lUTLcsrMWKGubdT3GKRMyTa/XQlR5RwuvGDW/JpULxFYyzYwLqpvgq10x54ijML7QpZOZEHFdkOlAm02Tw2tKUBVDfQ3kVrcOSHtndz8zKXFOuehSgA8ICqiQTTHgigvJ1xc5uzTweNWFqOaAFhNRdXAnC6H0lkacTc2yE1+0sN9Wk0ilfRKXrajzpVH474b2hweKkDKQqpkawqVMuvJSnMbSTwlAuKUBUhIIIokXk3Y3R5tkJFAOfR+Ai9M2cygELbC0BDhJWmovKqZxJ9HW+gwOiPNG50+byWQSa3BVPcBQRI6+IsaaqsyJCBN/EFNFLVDt2SdIqXGE1GBWFHQACGyojHGId2XUlSkk+qSDS4XGn2qHrghtWDeNQuZVQ6E53xUo/CPZG5wjS67XX/V/JCcHnNFNyjhzMBpN++uwFDF7JaXKZ4BpgTQkc380iEypZ5aaqShKxT7KaHsj9IOLe54x9pTquddPygQ5asHKD+6CvvFR+JjlrIoNpUpujKtFADuHEqEVukZOQhFX1LUlKRRtlwkEJA0pHLDDL26XKuy7zTKJhSnGloBLWYkFSSKnOOF+iLkix0mP2dq790frDprIUun1WGRzNo8oudY+lBRBmmVa6+o47hzQV3KZPNyk0c2nAXqxzDqMHiNG2Qm4AAahhG8RtFAlNzImHhwFKCmvT7a1A274vmOj8SYzCt3xfMdH4kwoqTOcNi23RXsz/AFcAt7BcXS/R+JUT9YCtqrQTErNvMS7y2mW1UQ2g0SkUBoBzkxFb9p3anu1FnCWsxSMliFu6OxppxmGvAD8YA1028UfqxisALftO7U92oW/ad2p7tRzhbdSb8UmO+355I9lA5IVBAE37Tu1PdqFv2ndqe7ULCm6kvxSY77fnkj5CgB79p3anu1C36zu1PdqGwpupL8VmO+355I+VjFYAe/Wd2p7tRnfrO7U92obCW6kvxWY77fnkj3WMVgCb9Z3anu1C36zu1PdqGwlupL8VmO+355I91hQBN+s7tT3ahb9Z3anu1CwhupL8VmO+355I9xmAHv1ndqe7ULfrO7U92oWEN1Jfisx32/PJF63fF8x0fiTCgb2Vy/MTU2yxMPLdZcVRbazVKhQmhHOB1Qo66ozGM2ylitwJptwBg8YXxdjVbu07F//Z"/>
          <p:cNvSpPr>
            <a:spLocks noChangeAspect="1" noChangeArrowheads="1"/>
          </p:cNvSpPr>
          <p:nvPr/>
        </p:nvSpPr>
        <p:spPr bwMode="auto">
          <a:xfrm>
            <a:off x="155575" y="-487363"/>
            <a:ext cx="1295400" cy="1019176"/>
          </a:xfrm>
          <a:prstGeom prst="rect">
            <a:avLst/>
          </a:prstGeom>
          <a:noFill/>
        </p:spPr>
        <p:txBody>
          <a:bodyPr vert="horz" wrap="square" lIns="91440" tIns="45720" rIns="91440" bIns="45720" numCol="1" anchor="t" anchorCtr="0" compatLnSpc="1">
            <a:prstTxWarp prst="textNoShape">
              <a:avLst/>
            </a:prstTxWarp>
          </a:bodyPr>
          <a:lstStyle/>
          <a:p>
            <a:endParaRPr lang="zh-TW" altLang="en-US"/>
          </a:p>
        </p:txBody>
      </p:sp>
      <p:sp>
        <p:nvSpPr>
          <p:cNvPr id="33794" name="AutoShape 2" descr="data:image/jpg;base64,/9j/4AAQSkZJRgABAQAAAQABAAD/2wBDAAkGBwgHBgkIBwgKCgkLDRYPDQwMDRsUFRAWIB0iIiAdHx8kKDQsJCYxJx8fLT0tMTU3Ojo6Iys/RD84QzQ5Ojf/2wBDAQoKCg0MDRoPDxo3JR8lNzc3Nzc3Nzc3Nzc3Nzc3Nzc3Nzc3Nzc3Nzc3Nzc3Nzc3Nzc3Nzc3Nzc3Nzc3Nzc3Nzf/wAARCACeAKQDASIAAhEBAxEB/8QAHAAAAgIDAQEAAAAAAAAAAAAAAAcFBgEECAMC/8QAVxAAAQIEAwQEBwgMCQ0BAAAAAQIDAAQFEQYSIQcxQVETImFxCBSBkaGxwRUjMkJSYrLRFzM3c4KSlKKz0uHwJDU4Q1NydHXCFiUnNDZERlRWY2Sj4vH/xAAbAQEAAwADAQAAAAAAAAAAAAAABAUGAQMHAv/EADIRAAIBAwEFBgQHAQEAAAAAAAABAgMEEQUSITFhcRMyQVGxwQYiI6EUJDNigZHRUvD/2gAMAwEAAhEDEQA/AHjBBBABGDGY8n3kMtKccNkpGpj5lJRWXwC3nzMzDcs2XHVAJ9fdELMVx0qsw2lKRxXqTGjOzTk46XHNEj4KeQjW3RjL/XK1SbhQeI/dljRtYpZlvZKs1x9Kh0yELT80WMTcrNNTTedpVxuI4iKigBYBEAempcLVJuJbeKbJUtOZN+FxxEcWGt1qU1Gu9qP3RzVtoyWYcS6giMxSMHbQZWtVB2iVRkU+usEpXLKVdDpHFtXHTWx1tz3xdgbi8bWLTWUVvAI0p+osygses5a4QIzUpxMpLlWhWrRA7Yrq7gF585nFG+sUmq6o7b6dPvehJoUNve+BtuVmbUbpS2kcst495SuXUETSAB8tHDvEQy3CSbnuHOMWv2xmYaveU5bbm314E129NrGC6IWlaQUkEHcQY+oos7WKpSZFT9MYRN9D11yiiQXEcQhXBXEaEHdE7hHFdLxZTRO0p0nLZLrLmjjSuSh7dxjZ6ffQvKW2tz8UV1Wk6csMnoIIInnUEEEEAEEEEAEEEYgAO6ICtzJefTKoPVTqs8zEzNPiXl3HT8UadpirouUqecN1KJN4z2vXbhTVCL3y49CVa08vafgeLuhtC02uYockWW6JIOlDz6c8wtBsUo4J7L6k9nfDGfeQ00488rK2gFSlHgALn0RzVXKk9Xa7NTxCiuZdJQgakDclI7hYRVaBZqtXdWS3R9STdVNmGyvEaexeoz8xTZ2VebcXKSik9G8dySq90ei45a8xDKeR1QsC3O0euDsLIw9gmXpGRPjHR9LMKHxnjqfMbJHYBGJcBxkoPbvjnXLVU7nait0ln+T5tqmYb/AVe16irQiWxHIFbcxLrSh5bZKVAfEXcbiDpftHKGRsoxsMX0G02oCpydkTIGmf5LgHI2N+RB7I8alIs1GQmJGaHvMw2ptfYDpfyb/JCg2Vs1SlY/elWFFssNvNTg4FA0+llIix0XUF+ElGo98PQ6rml9ROPiPqZd8en1rH2prqp5fveNKYXndIG4aARsgeLyd9yiPSYr+I6j7kUGfn79ZhlSkX4q3J/OIjN1pTr1cPvSfqS4Yis+CE5tHxNMVHEym5OYWiXp68jRbWR1x8JYtxvoDyAh0Yf90l0Kmv1lkNTj8ulxaed9xI4EixI4EwidndF/ykxrTpF4FbSnulmCeKE9ZV++1vLHU1blukk86QMzRvpy4xq9T06DsdiC3wW73IVGs1Vy+DK8sFKhY90KnEi53Z5jRjENGBTJzhPTMA2Qo3utB7/hDkT2Q28oWzpvAuIrmM6KK/h2bkgkF/L0jBO8OJ1Fu/d5YzelXbtLmLfde5/wDuRLrU+0h0GHQqtKVykytTkHM8tMthaCd45g8iDcHtESEIPwfsUqlajMYanF2bmLvSwV8VwDrJHeBe3zTzh9jdHoJVGYIIIAIIIIAIwYzGDAELX3c62pZJ1JzK9n79kRk0cqEojYcX4xUX3hqEHKk9n73jTmjd0jlpHn2pV+2rTqeGcLoi1ox2UolM2o1Q07CE0lCrOzahLp7jqr80EeWF3scoYrmO5IOIzMSd5p2406vwR+MU+mJXbbUM0/TqclWjTSnli/FRsPQn0xb/AAcaR0VLqdYWnrPvJl2yR8VAurzlQ/FjU6HQ7Kyi/GW//CFdS2qnQcdorCkdDOvtcAo29cWmK7V09HVQR/OJB9nsjp1+ntUYz8n6nNq/ma8yPm0ZXzyNjEXSaDLsYhn6i2n32f6ML0+CEA38+hian03ShY7o+6W3dS3D8UWEZODkqjhHhLj04k9tbGTFTXqlA46mFrtknvFsMNSgNlTcwAR81IufTlhiTys8yvsNoS+26bz1anSYOjMupw961W9SBE7SodtqEc8Fl/0dVV7NEnPBwpfS1OrVZadGWkMNkjislSrdwSPPD5cSFoUlW4ixhb7AJDxXASZgpIVOTTjtzxAsgfRMMo3jdtZWCsKm2ksvOMq3oVaNd1HRuKHKJKqt9FVArg4AfLu9kac6nRC+ekecXdDsqk6f/L+xb05ZSfmIPGzD+FMf+6Eh72S6idl7brk3I7swUO6OnqLUWavSZOoyp95mmUuo7ARe3k3Qj9tFM6eiylSQnryr3RrPzF/UoDzxZ/B7rhnsLTNKdVdynPdT72u5H52eNvpVx+ItITfFbn/BXV4bFRoa0EEEWJ0hBBBABGvPO9BKuucUpNu/hGxEViFwplEtg6rWB5N/1RFvavY285rwR9047UkiMk05JfMeJuT2RoKJUVE87xJPDopUgaWTaItbiWkKcWQEoSVG/IR55WTyootYPiznzaPPeP4zqSwrMlpwMJ/AASfSDHR+yqme5WAaMwU2W4wH197nX18hA8kcstIcrFcQ2LlydmgOZJWr9sdnsNJYZbabFkNpCUgcgLR6RRpqnSjBeCSKmTzJs9Ig8Qps7LOjgSPVE5ETiJN5RKuKVj1GIWrw27OfLf8A0zst3ioiOm05pZRHDWPumG0ss/PN/MIzbOwocCn2R5SistPeVxBPqEYtYVRS5E593HM0FqzKKuZJhB7VZkzONpxJN0spbaHZZAJ9JMPsC9gOOkc34pdM/i6prSbl6dcSk/hECLT4bhtXE5+S9WfF48QSOpNnEiKfgShS+UpPibbihyUsZz6VGLJHjJMiWk2GBazTaUC3YLR7RsiuIbESLJYeHxVWP7+SI+YTmlieVjEzXEZ6e582yvMYiWB0svY8U2MY3WqSjdv9yz7E+3l9NcmVnFNP91cO1GRy5lOsKyD546yfSBCw2EVZVOx23KqVlaqDK2CDuzDrJPnSR+FDjGm/gY57mlKwttAU62CBIVEOIA0ukLzAeUaRJ+Gq26pS/k4vI8JHXkEfDa0rSlaDmSoXBB3jnH3GpIIQQQQBi8QlbV0k9LNcALnz/sibiAmT0laWeCE29H7Yptcni2UfNpHfbr58nhUTZoDmbRVsYTPieFqs+DYplXADyKhlHpUIstTPXQnsvFE2qv8AQYJnQDq6ttv84H/DGTow7S9hHmvUnp7NJsWWyeRFQ2iUVo3ytvl42G7IkrHpSI6zEc3eDzK9Njh5/S0vJLV5SpKfaY6Rj0UqQiPrac1Pd7CD6YkI1KonNT3x8wxGvI7dvOPJn3TeJpkPLG7KOVo1x1JB5P8A3beqPeSN2E+URrzejC0ji+fVGBl+mnyLJL5sczTKsozctY5xw42KpjOmNr1E1Umgb8lOC/rjoSrO9BSp17+jl3F+ZBMI3ZRLiZ2iUJs/FmM/4qSr2Rf/AAzH5akunudF6+COsxujMYG6MxqCCeM4jpJZ1Ft6D6orsgq7XcYsytYrEmnKt5v5K7Rmteh9SnLqiXbv5ZI0305Xlp5KMIva/J+L4vLwFhNS7bnlF0H6I88PmeFplR5gGFHtwlv4pmwP6Ron8Uj1mKzQ57F/s+aa9/YkXK2qWR2YAnvdLBdEmiQVLk2woj5SRlPpEWCF1sGnPGtnss1/ysw8zf8ACz/44YsbgrAggggDBiuy/Xn5tz52nn/ZFhJsCYrtO6yXl81/X9cZ7XJb6UebZJt+EmatRP8ACLckwtdtTxThmVaB+2Tab+RCj9UMeeN5pfZYeiFVtwdtJ0hkH4Trqz5Ake2KHS1t6jDq/Ql1t1Fkh4NUqDNV6bO9CGGh5Ssn6Ih7QofBvYCcNVSYtq5OhF+YShP6xhvRvyrCPCcF5V4fMV6o94+HhdpY5pMfFVZhJcjlcUVynH3gd5jxqGhIHFV/QI9aafej2KjyqWjye0X9kecz3US0j+oVzGDnR4VrC/8AwnR50ke2FXsOZDu0inqP8028sfiEe2GXtBXkwXV1c2LedSRFA8H5ouY+K7aNyTpv5Uj2xp/htflpvn7IjXvfR0vBBBGiIZgxWwMtRmkj5Rt57xZDFdmBlrD45i/oEUGvR+nCXP1RJtuLXI1qkPfUHmm3phbbZpfpcLMPW1Zm0+ZSVA+m0MypjRo98UXai102CJ/TVstr8y0xnLJ9nqEHzX3Jklmiz68G6Yz0GrSxP2qbSsDlmRb/AAw4YRHg1PhM5XmCdVtMrA7isH1iHvHoRVBBBBAHk+rKy4o8EkxAUsfwQnmqJ2dNpR48m1eqK9Lvpl5EX1Uomw5xmNdklWp58mSrdNxZqTZvMuf1oUW3Ff8ACKQ3yQ6rzlI9kNpaitZUreTcwntt6v8AOtLTyllHzrP1RVaH81+mufoSrjdRGV4PrQbwEpdtXJ11XmCR7IZsL3YQ3k2cySvlvPK/PI9kMKN4VYR8q3GPqPlW4x8yWU0CsSCkobWVKAAVqTGtNvB93MkEJAsLxmrsu0qnTc9OdWVl0qdcKDmISOzjFH+yZhYf75Mfkyo8/qWV5JbKpvHQtYzpp7WTa2lqy4IqfalA/PTFT8HJIOMZ9R+LT1W8riI9Md45oVYwvNyNPmHlzDpRlSpkpGigTqe6Prwb0XxJVV8pIDzuJ+qNRoVCpQtnGosPPj0RDupKU1g6FEEEEXRGMGK/P9Wsq7Uj1RYDEBU+rWAT8geoxS68vyyf7l7ki2776HhUx702eSoqGPG+lwbWE8pYq8xB9kWicmQ8QhPwEnfziv4sRnwtVk85J70JJjI05p3cJLzXqT0vpNMong5OlOLqg1fRdPKvM4j6zHRMc0bAH0sY7XnUEpVIuhRJsAAUnXzR0hLTcvNoK5Z5t1INiUKBsY9IKg94IIIA8n2+lYcbvbOki/fFHxw8cJ4ceq6h410S0I6IHJfMoDfrzi+WiJxRh6SxPSV0yp9L4staVnol5VXSbjWIVzYW90060c46nZCrKHdYjfswt3/iRX5UP1YpmOcUjFU7LTCZQy3QNFvKXM9+sTfcOcPH7COEeVQ/Kf2QfYRwjyqH5T/8xxb6ba28+0pRw+rOZ15zWJMk9iqcuzWkdvSn/wBq4vERuHaLKYeo0vSqeHBLS4UEdIrMrVRUbnvJiSicdQRi0ZggCMxLSzWcP1CmJdDRm2FtBwi+Ukb7QmfsATh/4hY/JVfrQ+YIAQ32AJz/AKhY/JVfrRddmOzd7A87PTL1SbnPGWktgIaKMtjfiTDEggAG6CCCAMGIyo0szkx0ody9XLbLfn9cScBER7i2p3ENioso+oTcHlCJxJtLRQq9PUpVKU8ZR5TXSeMBOa3G2XSISp7Vm5+mzcp7jrR4wwtrN4yDlzJIvbL2w1KzskwzWarNVKdE74xMuFxzJMWFzyFtI0vsI4R5VD8p/wDmIkNHsoyUlDeub/07Xc1GsZFJsXY8bxw3LZsnTSryc1r2OW4uOIuNRxGkdG4fo3uSHip0KU5YWTewAud53m5OvAWHC5gsMbMMPYZq7VUpgm/GW0qSnpXsybKFjpaLqIszoMwQQQAvKxtPTTMdowsaO46VPss+Mh+wHSBJvly8M3PhHm/tUbax6MK+46yozaZbxnxgW1t1suXt3XiuYmxviGR2vNUGXnkppqpuVbLPQNk5VpQVDMU5vjHjElM4YmK1tbZqjFDXT6fTHC5MTjicpnXRqCnmL213aHjpADXBjMIGr7RcasbQ56jUl1E2lE65Ly0mZduyt4SCqwNhod43am14jarjzaNg/EKWsQTQU5YOGWcbbLTiDyKBoNDqDfSAOkII53xRi3ajRkylZqbxkJObVdlpDbRQm4uEqFib2+VrDowJXXcS4Up1WmG0tvTDZ6RKN2ZKik27Da/lgD6xviROE8OzFYXKmaDKkJ6IOZL5lBO+x5xrYAxcnGdEVU0SZlAl9TPRqcz3sEm97D5URG3L7m9Q++sfpUxXNjdYl6BsqqNVnCehlZt5agN6uqiyR2k2HlgBwwRz5IYp2lY/nZpzDrolJRg6oaKG0IvuBWoXUq3/AOCJPCO0rEdGxWnDeOhnK3Usl1aEpWypVspJTYKSbjXkb3gB4QQk38dYmom1kUKrVAOUtU6ltKDLtp96c+AcwSDpmTc9hjY2q45xFTMZyVBwxOBpa2m0rT0DbhU64ohI6wPDLp2wBYcabT04WxM1RTR3JouIbV0yX8gGYkbsp3W5wwoSW0rG2JcPY1kqTI1NKWFMS5dBlmlZ1EkKNykkXtwiY23YwrmFXKOKHOCXEyHy7dpC82Ut2+EDb4R3QA1or2OcTpwjQHKsuUM0EOIR0YcyXzG172PqhN1nE+1NvD8riR14ytMWhvKpltrUEABakkE9Y68tRYDSLVIYlmsZ7J5iZnqIqsVAPmU6BlrRblhldIG4AKBPC44DcBddn+LkYzoa6oiTVKBL6mejU5n3BJvew+VEVtG2ipwRNybCqUue8ZbUvMl/JlsQLfBPONvZXhmYwrhCXkJ6wm1rU8+kG4QpVurfsAHlvFR24Yxr2GKjS26JOpl0PsuKcBYbczEEAfCSbQBe65jGQoOGpau1Np9Mu+GuoykLUCtNwNSN0acrtBpc3RJasS8rPKk3y6ArIgKR0dyq4zdhta8LvbO/iWZwtTn3FS6qG6xLLdVZIcMwUkk926NrYc1iR6myaXmJFzDQL+XMlKnQu58u/wBEANuk1WWq0gidlM5YcUtKCoWvlUU37jluOy0EbbTTbSAhttKEjclKQAIIA52xn/KAY/t8l9FuOiiLJMUqp7NaRUsYIxQ/NTyZ1LzTobQtAbu2EgaZb26o4xdrXveAOc6N/KFc/vSY+iuPbwjdMXUztkB+kXDQltmlIlsZqxU3NTxnTMLf6NS0dHmUCCLZb26x4x9Y12c0jGdRYn6nMzrTjDXRJEutCQRmJ1uk84ArHhAADAVM0H+tt/o1RZdi/wBzaj9zn6RUSeMMHyGLqQxS6i9MtssOJcSphSQokJI1uk8zG9hehy2G6JLUiRcdcl5YKyqeIKjdRVqQAOPKAKvty+5vUfvrH6VMLjD0q/OeD9W0S4UpTc8XSkfJSWlK8wBPkh24sw9K4ooj1Jn3Xm5d5SVKUyQFdVQULXBG8co1sH4TkMKUZylSDj70ut1TqvGSlRJUACNABbq8oAXHg+4gpUtQJ2lTU2xLzaZpT4S6sIzoUlIuL77FJv3iKftTnJfFm0yXYoC0zBszKpdaN0rczG5BG8DMBf5phj1vYlhqoTa35J6bp+c3LTJSpsdwULjuvaJzBmzOgYSmTOSiXpmesQmYmSCUA78oAAHfv7YAX3hF0hbE7ScQMAgqvLuLHBSSVI9GbzRo7PScbbX5ivPIzMS4MzqLC4SENjvvY+SHRi7DcjiujLpVSU6llS0rC2SAtKk6ggkEdm7jGjgbAtLwU1Nopbky6qaKS4uYUkqsm9gLAaanzwAnNt33UJP7xL/TMTXhLfbcPf1Zn1tRfcV7NKPievN1qemp5uYbQhIQytARZJJG9JPHnGxjnAdMxsqSVU5iba8UDgQJdSRfPlve6T8kQBWMbD/QEx/d8h9JmM+Dp/sRNf3k5+jai51XCcjU8Hpww+9MJkkssshxCk9JZspKdSLX6gvpBgrCcjg6luU2mvTDrK31PFUwpJVmISDuA06ogCwwg/CV/jWif2d36Qh+RTsdbPqVjSYlX6nMTjSpZCkIEutKQQSCb3SeUAVTa5c7H6ZpuMp9CN7YPVaecGStME7LmfS48tUt0g6QJzXvl321GsXSqYap1Ww8KDUELdkw0hsHNZYygZVAjcdBFewfsvo2Eqz7p0+bn3Xg2psJfWgpAVa+5IPDnAF7ggG6CAP/2Q=="/>
          <p:cNvSpPr>
            <a:spLocks noChangeAspect="1" noChangeArrowheads="1"/>
          </p:cNvSpPr>
          <p:nvPr/>
        </p:nvSpPr>
        <p:spPr bwMode="auto">
          <a:xfrm>
            <a:off x="80963" y="-579438"/>
            <a:ext cx="1257300" cy="1219201"/>
          </a:xfrm>
          <a:prstGeom prst="rect">
            <a:avLst/>
          </a:prstGeom>
          <a:noFill/>
        </p:spPr>
        <p:txBody>
          <a:bodyPr vert="horz" wrap="square" lIns="91440" tIns="45720" rIns="91440" bIns="45720" numCol="1" anchor="t" anchorCtr="0" compatLnSpc="1">
            <a:prstTxWarp prst="textNoShape">
              <a:avLst/>
            </a:prstTxWarp>
          </a:bodyPr>
          <a:lstStyle/>
          <a:p>
            <a:endParaRPr lang="zh-TW" altLang="en-US"/>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投影片編號版面配置區 5"/>
          <p:cNvSpPr>
            <a:spLocks noGrp="1"/>
          </p:cNvSpPr>
          <p:nvPr>
            <p:ph type="sldNum" sz="quarter" idx="12"/>
          </p:nvPr>
        </p:nvSpPr>
        <p:spPr/>
        <p:txBody>
          <a:bodyPr/>
          <a:lstStyle/>
          <a:p>
            <a:pPr>
              <a:defRPr/>
            </a:pPr>
            <a:fld id="{44CF0280-4928-467B-AE8C-0D01D49B65F3}" type="slidenum">
              <a:rPr lang="en-US" altLang="zh-TW"/>
              <a:pPr>
                <a:defRPr/>
              </a:pPr>
              <a:t>24</a:t>
            </a:fld>
            <a:endParaRPr lang="en-US" altLang="zh-TW"/>
          </a:p>
        </p:txBody>
      </p:sp>
      <p:sp>
        <p:nvSpPr>
          <p:cNvPr id="32771" name="Rectangle 3"/>
          <p:cNvSpPr>
            <a:spLocks noGrp="1" noChangeArrowheads="1"/>
          </p:cNvSpPr>
          <p:nvPr>
            <p:ph type="body" idx="1"/>
          </p:nvPr>
        </p:nvSpPr>
        <p:spPr>
          <a:xfrm>
            <a:off x="457200" y="1484784"/>
            <a:ext cx="8003232" cy="4530725"/>
          </a:xfrm>
        </p:spPr>
        <p:txBody>
          <a:bodyPr/>
          <a:lstStyle/>
          <a:p>
            <a:pPr eaLnBrk="1" hangingPunct="1"/>
            <a:r>
              <a:rPr lang="en-US" altLang="zh-TW" sz="2400" dirty="0" smtClean="0"/>
              <a:t>Interpretation team </a:t>
            </a:r>
            <a:r>
              <a:rPr lang="zh-TW" altLang="en-US" sz="2400" dirty="0" smtClean="0"/>
              <a:t>的運作</a:t>
            </a:r>
            <a:r>
              <a:rPr lang="en-US" altLang="zh-TW" sz="2400" dirty="0" smtClean="0"/>
              <a:t>: </a:t>
            </a:r>
            <a:r>
              <a:rPr lang="zh-TW" altLang="en-US" sz="2400" dirty="0" smtClean="0"/>
              <a:t>每位成員帶入不同觀點來審視資料，採開放式討論方式，</a:t>
            </a:r>
            <a:r>
              <a:rPr lang="zh-TW" altLang="en-US" sz="2400" dirty="0" smtClean="0">
                <a:solidFill>
                  <a:srgbClr val="0000FF"/>
                </a:solidFill>
              </a:rPr>
              <a:t>提出問題</a:t>
            </a:r>
            <a:r>
              <a:rPr lang="zh-TW" altLang="en-US" sz="2400" dirty="0" smtClean="0"/>
              <a:t>、激發訪問員的</a:t>
            </a:r>
            <a:r>
              <a:rPr lang="zh-TW" altLang="en-US" sz="2400" dirty="0" smtClean="0">
                <a:solidFill>
                  <a:srgbClr val="0000FF"/>
                </a:solidFill>
              </a:rPr>
              <a:t>記憶</a:t>
            </a:r>
            <a:r>
              <a:rPr lang="zh-TW" altLang="en-US" sz="2400" dirty="0" smtClean="0"/>
              <a:t>、</a:t>
            </a:r>
            <a:r>
              <a:rPr lang="zh-TW" altLang="en-US" sz="2400" dirty="0" smtClean="0">
                <a:solidFill>
                  <a:srgbClr val="0000FF"/>
                </a:solidFill>
              </a:rPr>
              <a:t>引出更多資料</a:t>
            </a:r>
            <a:r>
              <a:rPr lang="zh-TW" altLang="en-US" sz="2400" dirty="0" smtClean="0"/>
              <a:t>、得到</a:t>
            </a:r>
            <a:r>
              <a:rPr lang="zh-TW" altLang="en-US" sz="2400" dirty="0" smtClean="0">
                <a:solidFill>
                  <a:srgbClr val="0000FF"/>
                </a:solidFill>
              </a:rPr>
              <a:t>設計想法</a:t>
            </a:r>
            <a:r>
              <a:rPr lang="zh-TW" altLang="en-US" sz="2400" dirty="0" smtClean="0"/>
              <a:t>。</a:t>
            </a:r>
            <a:endParaRPr lang="en-US" altLang="zh-TW" sz="2400" dirty="0" smtClean="0"/>
          </a:p>
          <a:p>
            <a:pPr eaLnBrk="1" hangingPunct="1"/>
            <a:endParaRPr lang="zh-TW" altLang="en-US" sz="2400" dirty="0" smtClean="0"/>
          </a:p>
          <a:p>
            <a:pPr eaLnBrk="1" hangingPunct="1"/>
            <a:r>
              <a:rPr lang="zh-TW" altLang="en-US" sz="2400" dirty="0" smtClean="0"/>
              <a:t>此過程確認所有訪談中的相關</a:t>
            </a:r>
            <a:r>
              <a:rPr lang="zh-TW" altLang="en-US" sz="2400" dirty="0" smtClean="0">
                <a:solidFill>
                  <a:srgbClr val="0000FF"/>
                </a:solidFill>
              </a:rPr>
              <a:t>訊息都能被轉換在設計過程中 </a:t>
            </a:r>
            <a:r>
              <a:rPr lang="en-US" altLang="zh-TW" sz="2400" dirty="0" smtClean="0"/>
              <a:t>and shared with key team members – </a:t>
            </a:r>
          </a:p>
          <a:p>
            <a:pPr eaLnBrk="1" hangingPunct="1">
              <a:buNone/>
            </a:pPr>
            <a:r>
              <a:rPr lang="zh-TW" altLang="en-US" sz="2400" dirty="0" smtClean="0"/>
              <a:t>    </a:t>
            </a:r>
            <a:r>
              <a:rPr lang="en-US" altLang="zh-TW" sz="2400" dirty="0" smtClean="0"/>
              <a:t>See the data and start design conversation about how to </a:t>
            </a:r>
            <a:r>
              <a:rPr lang="en-US" altLang="zh-TW" sz="2400" dirty="0" smtClean="0">
                <a:solidFill>
                  <a:srgbClr val="C00000"/>
                </a:solidFill>
              </a:rPr>
              <a:t>address the user’s needs with technology</a:t>
            </a:r>
            <a:r>
              <a:rPr lang="en-US" altLang="zh-TW" sz="2400" dirty="0" smtClean="0"/>
              <a:t>. </a:t>
            </a:r>
            <a:r>
              <a:rPr lang="zh-TW" altLang="en-US" sz="2400" dirty="0" smtClean="0"/>
              <a:t>如何透過科技來滿足需要</a:t>
            </a:r>
            <a:endParaRPr lang="en-US" altLang="zh-TW" sz="2400" dirty="0" smtClean="0"/>
          </a:p>
        </p:txBody>
      </p:sp>
      <p:sp>
        <p:nvSpPr>
          <p:cNvPr id="32772" name="Rectangle 4"/>
          <p:cNvSpPr>
            <a:spLocks noGrp="1" noChangeArrowheads="1"/>
          </p:cNvSpPr>
          <p:nvPr>
            <p:ph type="title"/>
          </p:nvPr>
        </p:nvSpPr>
        <p:spPr>
          <a:noFill/>
        </p:spPr>
        <p:txBody>
          <a:bodyPr/>
          <a:lstStyle/>
          <a:p>
            <a:pPr eaLnBrk="1" hangingPunct="1"/>
            <a:r>
              <a:rPr lang="en-US" altLang="zh-TW" b="1" smtClean="0"/>
              <a:t>Five work models</a:t>
            </a: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投影片編號版面配置區 5"/>
          <p:cNvSpPr>
            <a:spLocks noGrp="1"/>
          </p:cNvSpPr>
          <p:nvPr>
            <p:ph type="sldNum" sz="quarter" idx="12"/>
          </p:nvPr>
        </p:nvSpPr>
        <p:spPr/>
        <p:txBody>
          <a:bodyPr/>
          <a:lstStyle/>
          <a:p>
            <a:pPr>
              <a:defRPr/>
            </a:pPr>
            <a:fld id="{25A04AC7-28D6-400A-BE04-249F265CDF9D}" type="slidenum">
              <a:rPr lang="en-US" altLang="zh-TW"/>
              <a:pPr>
                <a:defRPr/>
              </a:pPr>
              <a:t>25</a:t>
            </a:fld>
            <a:endParaRPr lang="en-US" altLang="zh-TW"/>
          </a:p>
        </p:txBody>
      </p:sp>
      <p:sp>
        <p:nvSpPr>
          <p:cNvPr id="33795" name="Rectangle 2"/>
          <p:cNvSpPr>
            <a:spLocks noGrp="1" noChangeArrowheads="1"/>
          </p:cNvSpPr>
          <p:nvPr>
            <p:ph type="title"/>
          </p:nvPr>
        </p:nvSpPr>
        <p:spPr>
          <a:xfrm>
            <a:off x="457200" y="142875"/>
            <a:ext cx="8229600" cy="1139825"/>
          </a:xfrm>
        </p:spPr>
        <p:txBody>
          <a:bodyPr/>
          <a:lstStyle/>
          <a:p>
            <a:pPr eaLnBrk="1" hangingPunct="1"/>
            <a:r>
              <a:rPr lang="en-US" altLang="zh-TW" sz="3800" b="1" smtClean="0"/>
              <a:t>Choosing work models depends on project scope</a:t>
            </a:r>
          </a:p>
        </p:txBody>
      </p:sp>
      <p:sp>
        <p:nvSpPr>
          <p:cNvPr id="33796" name="Rectangle 3"/>
          <p:cNvSpPr>
            <a:spLocks noGrp="1" noChangeArrowheads="1"/>
          </p:cNvSpPr>
          <p:nvPr>
            <p:ph type="body" idx="1"/>
          </p:nvPr>
        </p:nvSpPr>
        <p:spPr>
          <a:xfrm>
            <a:off x="357188" y="1528763"/>
            <a:ext cx="8472487" cy="5257800"/>
          </a:xfrm>
        </p:spPr>
        <p:txBody>
          <a:bodyPr/>
          <a:lstStyle/>
          <a:p>
            <a:pPr eaLnBrk="1" hangingPunct="1"/>
            <a:r>
              <a:rPr lang="zh-TW" altLang="en-US" sz="2400" dirty="0" smtClean="0"/>
              <a:t>不同的工作模式圖及關係記錄 </a:t>
            </a:r>
            <a:r>
              <a:rPr lang="en-US" altLang="zh-TW" sz="2400" dirty="0" smtClean="0"/>
              <a:t>(affinity note) </a:t>
            </a:r>
            <a:r>
              <a:rPr lang="zh-TW" altLang="en-US" sz="2400" dirty="0" smtClean="0"/>
              <a:t>針對在工作中的不同部分。依據 </a:t>
            </a:r>
            <a:r>
              <a:rPr lang="en-US" altLang="zh-TW" sz="2400" dirty="0" smtClean="0"/>
              <a:t>project scope</a:t>
            </a:r>
            <a:r>
              <a:rPr lang="zh-TW" altLang="en-US" sz="2400" dirty="0" smtClean="0"/>
              <a:t>大小的差異，不同的模式需要被使用，歸納如下</a:t>
            </a:r>
            <a:r>
              <a:rPr lang="en-US" altLang="zh-TW" sz="2400" dirty="0" smtClean="0"/>
              <a:t>:</a:t>
            </a:r>
          </a:p>
          <a:p>
            <a:pPr eaLnBrk="1" hangingPunct="1"/>
            <a:endParaRPr lang="en-US" altLang="zh-TW" sz="2400" dirty="0" smtClean="0"/>
          </a:p>
          <a:p>
            <a:pPr eaLnBrk="1" hangingPunct="1"/>
            <a:r>
              <a:rPr lang="en-US" altLang="zh-TW" sz="2400" dirty="0" smtClean="0"/>
              <a:t>Identifying key issues: </a:t>
            </a:r>
          </a:p>
          <a:p>
            <a:pPr lvl="1" eaLnBrk="1" hangingPunct="1"/>
            <a:r>
              <a:rPr lang="en-US" altLang="zh-TW" sz="2400" dirty="0" smtClean="0"/>
              <a:t>Affinity diagram (</a:t>
            </a:r>
            <a:r>
              <a:rPr lang="zh-TW" altLang="en-US" sz="2400" dirty="0" smtClean="0"/>
              <a:t>關係圖</a:t>
            </a:r>
            <a:r>
              <a:rPr lang="en-US" altLang="zh-TW" sz="2400" dirty="0" smtClean="0"/>
              <a:t>) </a:t>
            </a:r>
            <a:r>
              <a:rPr lang="zh-TW" altLang="en-US" sz="2400" dirty="0" smtClean="0"/>
              <a:t>可用來</a:t>
            </a:r>
            <a:r>
              <a:rPr lang="zh-TW" altLang="en-US" sz="2400" dirty="0" smtClean="0">
                <a:solidFill>
                  <a:srgbClr val="C00000"/>
                </a:solidFill>
              </a:rPr>
              <a:t>界定重要議題 </a:t>
            </a:r>
            <a:r>
              <a:rPr lang="en-US" altLang="zh-TW" sz="2400" dirty="0" smtClean="0">
                <a:solidFill>
                  <a:srgbClr val="C00000"/>
                </a:solidFill>
              </a:rPr>
              <a:t>key issues</a:t>
            </a:r>
          </a:p>
          <a:p>
            <a:pPr eaLnBrk="1" hangingPunct="1"/>
            <a:r>
              <a:rPr lang="en-US" altLang="zh-TW" sz="2400" dirty="0" smtClean="0"/>
              <a:t>Designing the next product release: </a:t>
            </a:r>
          </a:p>
          <a:p>
            <a:pPr lvl="1" eaLnBrk="1" hangingPunct="1"/>
            <a:r>
              <a:rPr lang="zh-TW" altLang="en-US" sz="2400" dirty="0" smtClean="0"/>
              <a:t>如僅改善產品而非重新設計，僅需要</a:t>
            </a:r>
            <a:r>
              <a:rPr lang="en-US" altLang="zh-TW" sz="2400" dirty="0" smtClean="0"/>
              <a:t>affinity notes and the detailed models: the </a:t>
            </a:r>
            <a:r>
              <a:rPr lang="en-US" altLang="zh-TW" sz="2400" dirty="0" smtClean="0">
                <a:solidFill>
                  <a:srgbClr val="0000FF"/>
                </a:solidFill>
              </a:rPr>
              <a:t>sequence, artifact, and physical </a:t>
            </a:r>
            <a:r>
              <a:rPr lang="en-US" altLang="zh-TW" sz="2400" dirty="0" smtClean="0"/>
              <a:t>layout of the work.</a:t>
            </a: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投影片編號版面配置區 5"/>
          <p:cNvSpPr>
            <a:spLocks noGrp="1"/>
          </p:cNvSpPr>
          <p:nvPr>
            <p:ph type="sldNum" sz="quarter" idx="12"/>
          </p:nvPr>
        </p:nvSpPr>
        <p:spPr/>
        <p:txBody>
          <a:bodyPr/>
          <a:lstStyle/>
          <a:p>
            <a:pPr>
              <a:defRPr/>
            </a:pPr>
            <a:fld id="{507C0DCD-D7A4-47B2-BA07-27B83782F429}" type="slidenum">
              <a:rPr lang="en-US" altLang="zh-TW"/>
              <a:pPr>
                <a:defRPr/>
              </a:pPr>
              <a:t>26</a:t>
            </a:fld>
            <a:endParaRPr lang="en-US" altLang="zh-TW"/>
          </a:p>
        </p:txBody>
      </p:sp>
      <p:sp>
        <p:nvSpPr>
          <p:cNvPr id="34819" name="Rectangle 2"/>
          <p:cNvSpPr>
            <a:spLocks noGrp="1" noChangeArrowheads="1"/>
          </p:cNvSpPr>
          <p:nvPr>
            <p:ph type="title"/>
          </p:nvPr>
        </p:nvSpPr>
        <p:spPr/>
        <p:txBody>
          <a:bodyPr/>
          <a:lstStyle/>
          <a:p>
            <a:pPr eaLnBrk="1" hangingPunct="1"/>
            <a:endParaRPr lang="zh-TW" altLang="zh-TW" smtClean="0"/>
          </a:p>
        </p:txBody>
      </p:sp>
      <p:sp>
        <p:nvSpPr>
          <p:cNvPr id="34820" name="Rectangle 3"/>
          <p:cNvSpPr>
            <a:spLocks noGrp="1" noChangeArrowheads="1"/>
          </p:cNvSpPr>
          <p:nvPr>
            <p:ph type="body" idx="1"/>
          </p:nvPr>
        </p:nvSpPr>
        <p:spPr/>
        <p:txBody>
          <a:bodyPr/>
          <a:lstStyle/>
          <a:p>
            <a:pPr eaLnBrk="1" hangingPunct="1"/>
            <a:r>
              <a:rPr lang="en-US" altLang="zh-TW" sz="2400" dirty="0" smtClean="0"/>
              <a:t>New product, market, or technology direction</a:t>
            </a:r>
          </a:p>
          <a:p>
            <a:pPr lvl="1" eaLnBrk="1" hangingPunct="1"/>
            <a:r>
              <a:rPr lang="zh-TW" altLang="en-US" sz="2400" dirty="0" smtClean="0"/>
              <a:t>若需了解新產品市場，需要更廣的模式，</a:t>
            </a:r>
            <a:r>
              <a:rPr lang="en-US" altLang="zh-TW" sz="2400" dirty="0" smtClean="0">
                <a:solidFill>
                  <a:srgbClr val="0000FF"/>
                </a:solidFill>
              </a:rPr>
              <a:t>Flow, cultural, and physical site model</a:t>
            </a:r>
            <a:r>
              <a:rPr lang="en-US" altLang="zh-TW" sz="2400" dirty="0" smtClean="0"/>
              <a:t>. These show you who the people are that could be supported and how they interrelate, how work is distributed across space.</a:t>
            </a:r>
          </a:p>
          <a:p>
            <a:pPr lvl="1" eaLnBrk="1" hangingPunct="1"/>
            <a:endParaRPr lang="en-US" altLang="zh-TW" sz="2400" dirty="0" smtClean="0"/>
          </a:p>
          <a:p>
            <a:pPr eaLnBrk="1" hangingPunct="1"/>
            <a:r>
              <a:rPr lang="en-US" altLang="zh-TW" sz="2400" dirty="0" smtClean="0"/>
              <a:t>Getting reusable corporate data:</a:t>
            </a:r>
          </a:p>
          <a:p>
            <a:pPr lvl="1" eaLnBrk="1" hangingPunct="1"/>
            <a:r>
              <a:rPr lang="zh-TW" altLang="en-US" sz="2400" dirty="0" smtClean="0"/>
              <a:t>工作模式呈現工作中的基礎架構，因此是穩定不變的。多蒐集較廣的資料能夠供日後設計類似產品使用。</a:t>
            </a:r>
          </a:p>
          <a:p>
            <a:pPr eaLnBrk="1" hangingPunct="1"/>
            <a:endParaRPr lang="en-US" altLang="zh-TW" sz="2400" dirty="0" smtClean="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投影片編號版面配置區 5"/>
          <p:cNvSpPr>
            <a:spLocks noGrp="1"/>
          </p:cNvSpPr>
          <p:nvPr>
            <p:ph type="sldNum" sz="quarter" idx="12"/>
          </p:nvPr>
        </p:nvSpPr>
        <p:spPr/>
        <p:txBody>
          <a:bodyPr/>
          <a:lstStyle/>
          <a:p>
            <a:pPr>
              <a:defRPr/>
            </a:pPr>
            <a:fld id="{92C0B4E0-C6C3-490A-8EFB-572BED33E4CB}" type="slidenum">
              <a:rPr lang="en-US" altLang="zh-TW"/>
              <a:pPr>
                <a:defRPr/>
              </a:pPr>
              <a:t>27</a:t>
            </a:fld>
            <a:endParaRPr lang="en-US" altLang="zh-TW"/>
          </a:p>
        </p:txBody>
      </p:sp>
      <p:sp>
        <p:nvSpPr>
          <p:cNvPr id="35843" name="Rectangle 3"/>
          <p:cNvSpPr>
            <a:spLocks noGrp="1" noChangeArrowheads="1"/>
          </p:cNvSpPr>
          <p:nvPr>
            <p:ph type="body" idx="1"/>
          </p:nvPr>
        </p:nvSpPr>
        <p:spPr>
          <a:xfrm>
            <a:off x="467544" y="836712"/>
            <a:ext cx="8219256" cy="5078189"/>
          </a:xfrm>
        </p:spPr>
        <p:txBody>
          <a:bodyPr/>
          <a:lstStyle/>
          <a:p>
            <a:pPr eaLnBrk="1" hangingPunct="1">
              <a:lnSpc>
                <a:spcPct val="90000"/>
              </a:lnSpc>
            </a:pPr>
            <a:r>
              <a:rPr lang="en-US" altLang="zh-TW" sz="2400" b="1" u="sng" dirty="0" smtClean="0">
                <a:solidFill>
                  <a:srgbClr val="0000FF"/>
                </a:solidFill>
                <a:effectLst>
                  <a:outerShdw blurRad="38100" dist="38100" dir="2700000" algn="tl">
                    <a:srgbClr val="000000">
                      <a:alpha val="43137"/>
                    </a:srgbClr>
                  </a:outerShdw>
                </a:effectLst>
              </a:rPr>
              <a:t>C. </a:t>
            </a:r>
            <a:r>
              <a:rPr lang="zh-TW" altLang="en-US" sz="2400" b="1" u="sng" dirty="0" smtClean="0">
                <a:solidFill>
                  <a:srgbClr val="0000FF"/>
                </a:solidFill>
                <a:effectLst>
                  <a:outerShdw blurRad="38100" dist="38100" dir="2700000" algn="tl">
                    <a:srgbClr val="000000">
                      <a:alpha val="43137"/>
                    </a:srgbClr>
                  </a:outerShdw>
                </a:effectLst>
              </a:rPr>
              <a:t>整合模式 </a:t>
            </a:r>
            <a:r>
              <a:rPr lang="en-US" altLang="zh-TW" sz="2400" b="1" u="sng" dirty="0" smtClean="0">
                <a:solidFill>
                  <a:srgbClr val="0000FF"/>
                </a:solidFill>
                <a:effectLst>
                  <a:outerShdw blurRad="38100" dist="38100" dir="2700000" algn="tl">
                    <a:srgbClr val="000000">
                      <a:alpha val="43137"/>
                    </a:srgbClr>
                  </a:outerShdw>
                </a:effectLst>
              </a:rPr>
              <a:t>CONSOLIDATION – CREATING ONE PICTURE OF THE CUSTOMER</a:t>
            </a:r>
          </a:p>
          <a:p>
            <a:pPr eaLnBrk="1" hangingPunct="1">
              <a:lnSpc>
                <a:spcPct val="90000"/>
              </a:lnSpc>
            </a:pPr>
            <a:endParaRPr lang="en-US" altLang="zh-TW" sz="2400" b="1" u="sng" dirty="0" smtClean="0">
              <a:solidFill>
                <a:srgbClr val="0000FF"/>
              </a:solidFill>
              <a:effectLst>
                <a:outerShdw blurRad="38100" dist="38100" dir="2700000" algn="tl">
                  <a:srgbClr val="000000">
                    <a:alpha val="43137"/>
                  </a:srgbClr>
                </a:outerShdw>
              </a:effectLst>
            </a:endParaRPr>
          </a:p>
          <a:p>
            <a:pPr lvl="1" eaLnBrk="1" hangingPunct="1">
              <a:lnSpc>
                <a:spcPct val="90000"/>
              </a:lnSpc>
            </a:pPr>
            <a:r>
              <a:rPr lang="zh-TW" altLang="en-US" sz="2400" dirty="0" smtClean="0"/>
              <a:t>設計者非使用者，系統的設計需要考量整個使用者族群而非個別狀況，</a:t>
            </a:r>
            <a:r>
              <a:rPr lang="en-US" altLang="zh-TW" sz="2400" dirty="0" smtClean="0"/>
              <a:t>enables teams to</a:t>
            </a:r>
            <a:r>
              <a:rPr lang="zh-TW" altLang="en-US" sz="2400" dirty="0" smtClean="0"/>
              <a:t> </a:t>
            </a:r>
            <a:r>
              <a:rPr lang="en-US" altLang="zh-TW" sz="2400" dirty="0" smtClean="0"/>
              <a:t>create </a:t>
            </a:r>
            <a:r>
              <a:rPr lang="en-US" altLang="zh-TW" sz="2400" dirty="0" smtClean="0">
                <a:solidFill>
                  <a:srgbClr val="C00000"/>
                </a:solidFill>
              </a:rPr>
              <a:t>one representation of a market</a:t>
            </a:r>
            <a:r>
              <a:rPr lang="en-US" altLang="zh-TW" sz="2400" dirty="0" smtClean="0"/>
              <a:t> so that they design addresses a whole population, not just one individual.</a:t>
            </a:r>
          </a:p>
          <a:p>
            <a:pPr lvl="1" eaLnBrk="1" hangingPunct="1">
              <a:lnSpc>
                <a:spcPct val="90000"/>
              </a:lnSpc>
            </a:pPr>
            <a:endParaRPr lang="en-US" altLang="zh-TW" sz="2400" dirty="0" smtClean="0"/>
          </a:p>
          <a:p>
            <a:pPr lvl="1" eaLnBrk="1" hangingPunct="1">
              <a:lnSpc>
                <a:spcPct val="90000"/>
              </a:lnSpc>
            </a:pPr>
            <a:r>
              <a:rPr lang="zh-TW" altLang="en-US" sz="2400" dirty="0" smtClean="0"/>
              <a:t>當討論各模式的核心要素時，設計者想出</a:t>
            </a:r>
            <a:r>
              <a:rPr lang="zh-TW" altLang="en-US" sz="2400" dirty="0" smtClean="0">
                <a:solidFill>
                  <a:srgbClr val="0000FF"/>
                </a:solidFill>
              </a:rPr>
              <a:t>如何設計產品</a:t>
            </a:r>
            <a:r>
              <a:rPr lang="zh-TW" altLang="en-US" sz="2400" dirty="0" smtClean="0"/>
              <a:t>以支援工作。</a:t>
            </a:r>
            <a:r>
              <a:rPr lang="en-US" altLang="zh-TW" sz="2400" dirty="0" smtClean="0"/>
              <a:t>Team members will synthesize the findings into a reasonable view of </a:t>
            </a:r>
            <a:r>
              <a:rPr lang="en-US" altLang="zh-TW" sz="2400" dirty="0" smtClean="0">
                <a:solidFill>
                  <a:srgbClr val="C00000"/>
                </a:solidFill>
              </a:rPr>
              <a:t>what a product needs to support</a:t>
            </a:r>
            <a:endParaRPr lang="zh-TW" altLang="en-US" sz="2400" dirty="0" smtClean="0">
              <a:solidFill>
                <a:srgbClr val="C00000"/>
              </a:solidFill>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投影片編號版面配置區 5"/>
          <p:cNvSpPr>
            <a:spLocks noGrp="1"/>
          </p:cNvSpPr>
          <p:nvPr>
            <p:ph type="sldNum" sz="quarter" idx="12"/>
          </p:nvPr>
        </p:nvSpPr>
        <p:spPr/>
        <p:txBody>
          <a:bodyPr/>
          <a:lstStyle/>
          <a:p>
            <a:pPr>
              <a:defRPr/>
            </a:pPr>
            <a:fld id="{D1E2CDF5-72BA-4AB9-A75E-AFCE1A34E19B}" type="slidenum">
              <a:rPr lang="en-US" altLang="zh-TW"/>
              <a:pPr>
                <a:defRPr/>
              </a:pPr>
              <a:t>28</a:t>
            </a:fld>
            <a:endParaRPr lang="en-US" altLang="zh-TW"/>
          </a:p>
        </p:txBody>
      </p:sp>
      <p:sp>
        <p:nvSpPr>
          <p:cNvPr id="36867" name="Rectangle 2"/>
          <p:cNvSpPr>
            <a:spLocks noGrp="1" noChangeArrowheads="1"/>
          </p:cNvSpPr>
          <p:nvPr>
            <p:ph type="title"/>
          </p:nvPr>
        </p:nvSpPr>
        <p:spPr/>
        <p:txBody>
          <a:bodyPr/>
          <a:lstStyle/>
          <a:p>
            <a:pPr eaLnBrk="1" hangingPunct="1"/>
            <a:r>
              <a:rPr lang="en-US" altLang="zh-TW" b="1" smtClean="0"/>
              <a:t>The consolidated models</a:t>
            </a:r>
          </a:p>
        </p:txBody>
      </p:sp>
      <p:sp>
        <p:nvSpPr>
          <p:cNvPr id="36868" name="Rectangle 3"/>
          <p:cNvSpPr>
            <a:spLocks noGrp="1" noChangeArrowheads="1"/>
          </p:cNvSpPr>
          <p:nvPr>
            <p:ph type="body" idx="1"/>
          </p:nvPr>
        </p:nvSpPr>
        <p:spPr>
          <a:xfrm>
            <a:off x="539552" y="1196752"/>
            <a:ext cx="8229798" cy="5150073"/>
          </a:xfrm>
        </p:spPr>
        <p:txBody>
          <a:bodyPr/>
          <a:lstStyle/>
          <a:p>
            <a:pPr marL="571500" indent="-571500" eaLnBrk="1" hangingPunct="1">
              <a:lnSpc>
                <a:spcPct val="90000"/>
              </a:lnSpc>
              <a:buFont typeface="Wingdings" pitchFamily="2" charset="2"/>
              <a:buAutoNum type="arabicPeriod"/>
            </a:pPr>
            <a:r>
              <a:rPr lang="en-US" altLang="zh-TW" sz="2400" b="1" dirty="0" smtClean="0">
                <a:solidFill>
                  <a:srgbClr val="C00000"/>
                </a:solidFill>
              </a:rPr>
              <a:t>The affinity diagram: </a:t>
            </a:r>
            <a:r>
              <a:rPr lang="en-US" altLang="zh-TW" sz="2400" dirty="0" smtClean="0"/>
              <a:t>organize all of the data, finding common underlying themes that across the customer population. </a:t>
            </a:r>
            <a:r>
              <a:rPr lang="zh-TW" altLang="en-US" sz="2400" dirty="0" smtClean="0"/>
              <a:t>允許設計者</a:t>
            </a:r>
            <a:r>
              <a:rPr lang="zh-TW" altLang="en-US" sz="2400" dirty="0" smtClean="0">
                <a:solidFill>
                  <a:srgbClr val="C00000"/>
                </a:solidFill>
              </a:rPr>
              <a:t>從資料中提出設計想法</a:t>
            </a:r>
            <a:r>
              <a:rPr lang="zh-TW" altLang="en-US" sz="2400" dirty="0" smtClean="0"/>
              <a:t>，而非</a:t>
            </a:r>
            <a:r>
              <a:rPr lang="zh-TW" altLang="en-US" sz="2400" dirty="0" smtClean="0">
                <a:solidFill>
                  <a:srgbClr val="C00000"/>
                </a:solidFill>
              </a:rPr>
              <a:t>根據個人觀點</a:t>
            </a:r>
            <a:r>
              <a:rPr lang="zh-TW" altLang="en-US" sz="2400" dirty="0" smtClean="0"/>
              <a:t>。</a:t>
            </a:r>
            <a:endParaRPr lang="en-US" altLang="zh-TW" sz="2400" dirty="0" smtClean="0"/>
          </a:p>
          <a:p>
            <a:pPr marL="571500" indent="-571500" eaLnBrk="1" hangingPunct="1">
              <a:lnSpc>
                <a:spcPct val="90000"/>
              </a:lnSpc>
              <a:buNone/>
            </a:pPr>
            <a:r>
              <a:rPr lang="zh-TW" altLang="en-US" sz="2400" dirty="0" smtClean="0"/>
              <a:t> </a:t>
            </a:r>
          </a:p>
          <a:p>
            <a:pPr marL="571500" indent="-571500" eaLnBrk="1" hangingPunct="1">
              <a:lnSpc>
                <a:spcPct val="90000"/>
              </a:lnSpc>
              <a:buFont typeface="+mj-lt"/>
              <a:buAutoNum type="arabicPeriod" startAt="2"/>
            </a:pPr>
            <a:r>
              <a:rPr lang="en-US" altLang="zh-TW" sz="2400" dirty="0" smtClean="0"/>
              <a:t>The consolidated </a:t>
            </a:r>
            <a:r>
              <a:rPr lang="en-US" altLang="zh-TW" sz="2400" dirty="0" smtClean="0">
                <a:solidFill>
                  <a:srgbClr val="C00000"/>
                </a:solidFill>
              </a:rPr>
              <a:t>flow</a:t>
            </a:r>
            <a:r>
              <a:rPr lang="en-US" altLang="zh-TW" sz="2400" dirty="0" smtClean="0"/>
              <a:t> model: </a:t>
            </a:r>
          </a:p>
          <a:p>
            <a:pPr marL="839788" lvl="1" indent="-495300" eaLnBrk="1" hangingPunct="1">
              <a:lnSpc>
                <a:spcPct val="90000"/>
              </a:lnSpc>
            </a:pPr>
            <a:r>
              <a:rPr lang="en-US" altLang="zh-TW" sz="2400" dirty="0" smtClean="0"/>
              <a:t>Show the </a:t>
            </a:r>
            <a:r>
              <a:rPr lang="en-US" altLang="zh-TW" sz="2400" dirty="0" smtClean="0">
                <a:solidFill>
                  <a:srgbClr val="0000FF"/>
                </a:solidFill>
              </a:rPr>
              <a:t>roles (players) </a:t>
            </a:r>
            <a:r>
              <a:rPr lang="en-US" altLang="zh-TW" sz="2400" dirty="0" smtClean="0"/>
              <a:t>that a system must support</a:t>
            </a:r>
          </a:p>
          <a:p>
            <a:pPr marL="839788" lvl="1" indent="-495300" eaLnBrk="1" hangingPunct="1">
              <a:lnSpc>
                <a:spcPct val="90000"/>
              </a:lnSpc>
            </a:pPr>
            <a:r>
              <a:rPr lang="en-US" altLang="zh-TW" sz="2400" dirty="0" smtClean="0"/>
              <a:t>show the </a:t>
            </a:r>
            <a:r>
              <a:rPr lang="en-US" altLang="zh-TW" sz="2400" dirty="0" smtClean="0">
                <a:solidFill>
                  <a:srgbClr val="0000FF"/>
                </a:solidFill>
              </a:rPr>
              <a:t>pattern of relationship between players</a:t>
            </a:r>
          </a:p>
          <a:p>
            <a:pPr marL="839788" lvl="1" indent="-495300" eaLnBrk="1" hangingPunct="1">
              <a:lnSpc>
                <a:spcPct val="90000"/>
              </a:lnSpc>
            </a:pPr>
            <a:r>
              <a:rPr lang="en-US" altLang="zh-TW" sz="2400" dirty="0" smtClean="0"/>
              <a:t>reveals opportunities for </a:t>
            </a:r>
            <a:r>
              <a:rPr lang="en-US" altLang="zh-TW" sz="2400" dirty="0" smtClean="0">
                <a:solidFill>
                  <a:srgbClr val="0000FF"/>
                </a:solidFill>
              </a:rPr>
              <a:t>collaboration</a:t>
            </a:r>
          </a:p>
          <a:p>
            <a:pPr marL="839788" lvl="1" indent="-495300" eaLnBrk="1" hangingPunct="1">
              <a:lnSpc>
                <a:spcPct val="90000"/>
              </a:lnSpc>
            </a:pPr>
            <a:r>
              <a:rPr lang="en-US" altLang="zh-TW" sz="2400" dirty="0" smtClean="0"/>
              <a:t>show how </a:t>
            </a:r>
            <a:r>
              <a:rPr lang="en-US" altLang="zh-TW" sz="2400" dirty="0" smtClean="0">
                <a:solidFill>
                  <a:srgbClr val="0000FF"/>
                </a:solidFill>
              </a:rPr>
              <a:t>responsibilities</a:t>
            </a:r>
            <a:r>
              <a:rPr lang="en-US" altLang="zh-TW" sz="2400" dirty="0" smtClean="0"/>
              <a:t> are clustered into roles that can be supported. </a:t>
            </a:r>
          </a:p>
          <a:p>
            <a:pPr marL="839788" lvl="1" indent="-495300" eaLnBrk="1" hangingPunct="1">
              <a:lnSpc>
                <a:spcPct val="90000"/>
              </a:lnSpc>
            </a:pPr>
            <a:r>
              <a:rPr lang="en-US" altLang="zh-TW" sz="2400" dirty="0" smtClean="0"/>
              <a:t>Reveals </a:t>
            </a:r>
            <a:r>
              <a:rPr lang="en-US" altLang="zh-TW" sz="2400" dirty="0" smtClean="0">
                <a:solidFill>
                  <a:srgbClr val="0000FF"/>
                </a:solidFill>
              </a:rPr>
              <a:t>artifacts and information </a:t>
            </a:r>
            <a:r>
              <a:rPr lang="en-US" altLang="zh-TW" sz="2400" dirty="0" smtClean="0"/>
              <a:t>that pass between people that might be supported online.</a:t>
            </a: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投影片編號版面配置區 5"/>
          <p:cNvSpPr>
            <a:spLocks noGrp="1"/>
          </p:cNvSpPr>
          <p:nvPr>
            <p:ph type="sldNum" sz="quarter" idx="12"/>
          </p:nvPr>
        </p:nvSpPr>
        <p:spPr/>
        <p:txBody>
          <a:bodyPr/>
          <a:lstStyle/>
          <a:p>
            <a:pPr>
              <a:defRPr/>
            </a:pPr>
            <a:fld id="{65C170E6-74F9-48BA-923C-F2CAEB7EF7CA}" type="slidenum">
              <a:rPr lang="en-US" altLang="zh-TW"/>
              <a:pPr>
                <a:defRPr/>
              </a:pPr>
              <a:t>29</a:t>
            </a:fld>
            <a:endParaRPr lang="en-US" altLang="zh-TW"/>
          </a:p>
        </p:txBody>
      </p:sp>
      <p:sp>
        <p:nvSpPr>
          <p:cNvPr id="37891" name="Rectangle 3"/>
          <p:cNvSpPr>
            <a:spLocks noGrp="1" noChangeArrowheads="1"/>
          </p:cNvSpPr>
          <p:nvPr>
            <p:ph type="body" idx="1"/>
          </p:nvPr>
        </p:nvSpPr>
        <p:spPr>
          <a:xfrm>
            <a:off x="395536" y="835570"/>
            <a:ext cx="8229600" cy="4897686"/>
          </a:xfrm>
        </p:spPr>
        <p:txBody>
          <a:bodyPr/>
          <a:lstStyle/>
          <a:p>
            <a:pPr marL="571500" indent="-571500" eaLnBrk="1" hangingPunct="1">
              <a:lnSpc>
                <a:spcPct val="90000"/>
              </a:lnSpc>
              <a:buFont typeface="+mj-lt"/>
              <a:buAutoNum type="arabicPeriod" startAt="3"/>
            </a:pPr>
            <a:r>
              <a:rPr lang="en-US" altLang="zh-TW" sz="2400" dirty="0" smtClean="0"/>
              <a:t>The consolidated </a:t>
            </a:r>
            <a:r>
              <a:rPr lang="en-US" altLang="zh-TW" sz="2400" dirty="0" smtClean="0">
                <a:solidFill>
                  <a:srgbClr val="C00000"/>
                </a:solidFill>
              </a:rPr>
              <a:t>cultural</a:t>
            </a:r>
            <a:r>
              <a:rPr lang="en-US" altLang="zh-TW" sz="2400" dirty="0" smtClean="0"/>
              <a:t> model: </a:t>
            </a:r>
          </a:p>
          <a:p>
            <a:pPr marL="571500" indent="-571500" eaLnBrk="1" hangingPunct="1">
              <a:lnSpc>
                <a:spcPct val="90000"/>
              </a:lnSpc>
              <a:buFont typeface="+mj-lt"/>
              <a:buAutoNum type="arabicPeriod" startAt="3"/>
            </a:pPr>
            <a:endParaRPr lang="en-US" altLang="zh-TW" sz="2400" dirty="0" smtClean="0"/>
          </a:p>
          <a:p>
            <a:pPr marL="839788" lvl="1" indent="-495300" eaLnBrk="1" hangingPunct="1">
              <a:lnSpc>
                <a:spcPct val="90000"/>
              </a:lnSpc>
            </a:pPr>
            <a:r>
              <a:rPr lang="en-US" altLang="zh-TW" sz="2400" dirty="0" smtClean="0"/>
              <a:t>Show the influence, constraints, interpersonal friction</a:t>
            </a:r>
            <a:r>
              <a:rPr lang="zh-TW" altLang="en-US" sz="2400" dirty="0" smtClean="0"/>
              <a:t>磨擦，</a:t>
            </a:r>
            <a:r>
              <a:rPr lang="en-US" altLang="zh-TW" sz="2400" dirty="0" smtClean="0"/>
              <a:t>policies, standards, and law the people work under</a:t>
            </a:r>
          </a:p>
          <a:p>
            <a:pPr marL="839788" lvl="1" indent="-495300" eaLnBrk="1" hangingPunct="1">
              <a:lnSpc>
                <a:spcPct val="90000"/>
              </a:lnSpc>
            </a:pPr>
            <a:r>
              <a:rPr lang="en-US" altLang="zh-TW" sz="2400" dirty="0" smtClean="0"/>
              <a:t>Reveals primary </a:t>
            </a:r>
            <a:r>
              <a:rPr lang="en-US" altLang="zh-TW" sz="2400" dirty="0" smtClean="0">
                <a:solidFill>
                  <a:srgbClr val="0000FF"/>
                </a:solidFill>
              </a:rPr>
              <a:t>values and irritation </a:t>
            </a:r>
            <a:r>
              <a:rPr lang="en-US" altLang="zh-TW" sz="2400" dirty="0" smtClean="0"/>
              <a:t>in the market</a:t>
            </a:r>
          </a:p>
          <a:p>
            <a:pPr marL="839788" lvl="1" indent="-495300" eaLnBrk="1" hangingPunct="1">
              <a:lnSpc>
                <a:spcPct val="90000"/>
              </a:lnSpc>
            </a:pPr>
            <a:endParaRPr lang="en-US" altLang="zh-TW" sz="2400" dirty="0" smtClean="0"/>
          </a:p>
          <a:p>
            <a:pPr marL="571500" indent="-571500" eaLnBrk="1" hangingPunct="1">
              <a:buFont typeface="Wingdings" pitchFamily="2" charset="2"/>
              <a:buAutoNum type="arabicPeriod" startAt="4"/>
            </a:pPr>
            <a:r>
              <a:rPr lang="en-US" altLang="zh-TW" sz="2400" dirty="0" smtClean="0"/>
              <a:t>The consolidated </a:t>
            </a:r>
            <a:r>
              <a:rPr lang="en-US" altLang="zh-TW" sz="2400" dirty="0" smtClean="0">
                <a:solidFill>
                  <a:srgbClr val="C00000"/>
                </a:solidFill>
              </a:rPr>
              <a:t>physical</a:t>
            </a:r>
            <a:r>
              <a:rPr lang="en-US" altLang="zh-TW" sz="2400" dirty="0" smtClean="0"/>
              <a:t> models</a:t>
            </a:r>
          </a:p>
          <a:p>
            <a:pPr marL="839788" lvl="1" indent="-495300" eaLnBrk="1" hangingPunct="1"/>
            <a:r>
              <a:rPr lang="en-US" altLang="zh-TW" sz="2400" dirty="0" smtClean="0"/>
              <a:t>Reveal </a:t>
            </a:r>
            <a:r>
              <a:rPr lang="en-US" altLang="zh-TW" sz="2400" dirty="0" smtClean="0">
                <a:solidFill>
                  <a:srgbClr val="0000FF"/>
                </a:solidFill>
              </a:rPr>
              <a:t>physical constraints </a:t>
            </a:r>
            <a:r>
              <a:rPr lang="en-US" altLang="zh-TW" sz="2400" dirty="0" smtClean="0"/>
              <a:t>of distance, time zone, and overall physical and system access</a:t>
            </a:r>
          </a:p>
          <a:p>
            <a:pPr marL="839788" lvl="1" indent="-495300" eaLnBrk="1" hangingPunct="1"/>
            <a:r>
              <a:rPr lang="en-US" altLang="zh-TW" sz="2400" dirty="0" smtClean="0"/>
              <a:t>Reveals the way </a:t>
            </a:r>
            <a:r>
              <a:rPr lang="en-US" altLang="zh-TW" sz="2400" dirty="0" smtClean="0">
                <a:solidFill>
                  <a:srgbClr val="0000FF"/>
                </a:solidFill>
              </a:rPr>
              <a:t>space</a:t>
            </a:r>
            <a:r>
              <a:rPr lang="en-US" altLang="zh-TW" sz="2400" dirty="0" smtClean="0"/>
              <a:t> is used and how people set up their offices to support their work</a:t>
            </a:r>
          </a:p>
          <a:p>
            <a:pPr marL="839788" lvl="1" indent="-495300" eaLnBrk="1" hangingPunct="1"/>
            <a:r>
              <a:rPr lang="en-US" altLang="zh-TW" sz="2400" dirty="0" smtClean="0"/>
              <a:t>Shows the whole social, physical, and cultural </a:t>
            </a:r>
            <a:r>
              <a:rPr lang="en-US" altLang="zh-TW" sz="2400" dirty="0" smtClean="0">
                <a:solidFill>
                  <a:srgbClr val="0000FF"/>
                </a:solidFill>
              </a:rPr>
              <a:t>environment</a:t>
            </a:r>
            <a:r>
              <a:rPr lang="en-US" altLang="zh-TW" sz="2400" dirty="0" smtClean="0"/>
              <a:t> that the team will have to support.</a:t>
            </a:r>
          </a:p>
          <a:p>
            <a:pPr marL="839788" lvl="1" indent="-495300" eaLnBrk="1" hangingPunct="1">
              <a:lnSpc>
                <a:spcPct val="90000"/>
              </a:lnSpc>
              <a:buNone/>
            </a:pPr>
            <a:endParaRPr lang="en-US" altLang="zh-TW" sz="2400" dirty="0" smtClean="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投影片編號版面配置區 5"/>
          <p:cNvSpPr>
            <a:spLocks noGrp="1"/>
          </p:cNvSpPr>
          <p:nvPr>
            <p:ph type="sldNum" sz="quarter" idx="12"/>
          </p:nvPr>
        </p:nvSpPr>
        <p:spPr/>
        <p:txBody>
          <a:bodyPr/>
          <a:lstStyle/>
          <a:p>
            <a:pPr>
              <a:defRPr/>
            </a:pPr>
            <a:fld id="{E5FFD465-4477-4925-B06A-B2499B684F96}" type="slidenum">
              <a:rPr lang="en-US" altLang="zh-TW"/>
              <a:pPr>
                <a:defRPr/>
              </a:pPr>
              <a:t>30</a:t>
            </a:fld>
            <a:endParaRPr lang="en-US" altLang="zh-TW" dirty="0"/>
          </a:p>
        </p:txBody>
      </p:sp>
      <p:sp>
        <p:nvSpPr>
          <p:cNvPr id="38915" name="Rectangle 3"/>
          <p:cNvSpPr>
            <a:spLocks noGrp="1" noChangeArrowheads="1"/>
          </p:cNvSpPr>
          <p:nvPr>
            <p:ph type="body" idx="1"/>
          </p:nvPr>
        </p:nvSpPr>
        <p:spPr>
          <a:xfrm>
            <a:off x="457200" y="980728"/>
            <a:ext cx="8229600" cy="5150197"/>
          </a:xfrm>
        </p:spPr>
        <p:txBody>
          <a:bodyPr/>
          <a:lstStyle/>
          <a:p>
            <a:pPr marL="571500" indent="-571500" eaLnBrk="1" hangingPunct="1">
              <a:buNone/>
            </a:pPr>
            <a:r>
              <a:rPr lang="en-US" altLang="zh-TW" sz="2600" dirty="0" smtClean="0"/>
              <a:t>5.</a:t>
            </a:r>
            <a:r>
              <a:rPr lang="zh-TW" altLang="en-US" sz="2600" dirty="0" smtClean="0"/>
              <a:t>   </a:t>
            </a:r>
            <a:r>
              <a:rPr lang="en-US" altLang="zh-TW" sz="2600" dirty="0" smtClean="0"/>
              <a:t>The consolidated </a:t>
            </a:r>
            <a:r>
              <a:rPr lang="en-US" altLang="zh-TW" sz="2600" dirty="0" smtClean="0">
                <a:solidFill>
                  <a:srgbClr val="C00000"/>
                </a:solidFill>
              </a:rPr>
              <a:t>sequence</a:t>
            </a:r>
            <a:r>
              <a:rPr lang="en-US" altLang="zh-TW" sz="2600" dirty="0" smtClean="0"/>
              <a:t> model</a:t>
            </a:r>
          </a:p>
          <a:p>
            <a:pPr marL="839788" lvl="1" indent="-495300" eaLnBrk="1" hangingPunct="1"/>
            <a:r>
              <a:rPr lang="en-US" altLang="zh-TW" sz="2200" dirty="0" smtClean="0"/>
              <a:t>Similar to traditional </a:t>
            </a:r>
            <a:r>
              <a:rPr lang="en-US" altLang="zh-TW" sz="2200" dirty="0" smtClean="0">
                <a:solidFill>
                  <a:srgbClr val="0000FF"/>
                </a:solidFill>
              </a:rPr>
              <a:t>task analysis </a:t>
            </a:r>
            <a:r>
              <a:rPr lang="en-US" altLang="zh-TW" sz="2200" dirty="0" smtClean="0"/>
              <a:t>– show each steps, triggers for the steps, strategies for achieving each intent, and breakdowns in the ongoing work.</a:t>
            </a:r>
          </a:p>
          <a:p>
            <a:pPr marL="839788" lvl="1" indent="-495300" eaLnBrk="1" hangingPunct="1"/>
            <a:r>
              <a:rPr lang="en-US" altLang="zh-TW" sz="2200" dirty="0" smtClean="0"/>
              <a:t>Show the </a:t>
            </a:r>
            <a:r>
              <a:rPr lang="en-US" altLang="zh-TW" sz="2200" dirty="0" smtClean="0">
                <a:solidFill>
                  <a:srgbClr val="0000FF"/>
                </a:solidFill>
              </a:rPr>
              <a:t>work structure </a:t>
            </a:r>
            <a:r>
              <a:rPr lang="en-US" altLang="zh-TW" sz="2200" dirty="0" smtClean="0"/>
              <a:t>that the system will support or replace.</a:t>
            </a:r>
          </a:p>
          <a:p>
            <a:pPr marL="571500" indent="-571500" eaLnBrk="1" hangingPunct="1"/>
            <a:endParaRPr lang="en-US" altLang="zh-TW" sz="2600" dirty="0" smtClean="0"/>
          </a:p>
          <a:p>
            <a:pPr marL="571500" indent="-571500" eaLnBrk="1" hangingPunct="1">
              <a:buNone/>
            </a:pPr>
            <a:r>
              <a:rPr lang="en-US" altLang="zh-TW" sz="2600" dirty="0" smtClean="0"/>
              <a:t>6.</a:t>
            </a:r>
            <a:r>
              <a:rPr lang="zh-TW" altLang="en-US" sz="2600" dirty="0" smtClean="0"/>
              <a:t>   </a:t>
            </a:r>
            <a:r>
              <a:rPr lang="en-US" altLang="zh-TW" sz="2600" dirty="0" smtClean="0"/>
              <a:t>The consolidated </a:t>
            </a:r>
            <a:r>
              <a:rPr lang="en-US" altLang="zh-TW" sz="2600" dirty="0" smtClean="0">
                <a:solidFill>
                  <a:srgbClr val="C00000"/>
                </a:solidFill>
              </a:rPr>
              <a:t>artifact</a:t>
            </a:r>
            <a:r>
              <a:rPr lang="en-US" altLang="zh-TW" sz="2600" dirty="0" smtClean="0"/>
              <a:t> model:</a:t>
            </a:r>
          </a:p>
          <a:p>
            <a:pPr marL="839788" lvl="1" indent="-495300" eaLnBrk="1" hangingPunct="1"/>
            <a:r>
              <a:rPr lang="en-US" altLang="zh-TW" sz="2200" dirty="0" smtClean="0"/>
              <a:t>Reveal the structure of the artifact, </a:t>
            </a:r>
            <a:r>
              <a:rPr lang="en-US" altLang="zh-TW" sz="2200" dirty="0" smtClean="0">
                <a:solidFill>
                  <a:srgbClr val="0000FF"/>
                </a:solidFill>
              </a:rPr>
              <a:t>how it is used, how it is presented, and the data that it represents</a:t>
            </a:r>
            <a:r>
              <a:rPr lang="en-US" altLang="zh-TW" sz="2200" dirty="0" smtClean="0"/>
              <a:t>. </a:t>
            </a:r>
          </a:p>
          <a:p>
            <a:pPr marL="839788" lvl="1" indent="-495300" eaLnBrk="1" hangingPunct="1">
              <a:buFont typeface="Wingdings" pitchFamily="2" charset="2"/>
              <a:buChar char="p"/>
            </a:pPr>
            <a:r>
              <a:rPr lang="en-US" altLang="zh-TW" sz="2200" dirty="0" smtClean="0"/>
              <a:t>Help the team to redesign </a:t>
            </a:r>
            <a:r>
              <a:rPr lang="zh-TW" altLang="en-US" sz="2200" dirty="0" smtClean="0"/>
              <a:t>可放上網的</a:t>
            </a:r>
            <a:r>
              <a:rPr lang="en-US" altLang="zh-TW" sz="2200" dirty="0" smtClean="0"/>
              <a:t>artifacts</a:t>
            </a:r>
            <a:r>
              <a:rPr lang="zh-TW" altLang="en-US" sz="2200" dirty="0" smtClean="0"/>
              <a:t>，或刪去無用的 </a:t>
            </a:r>
            <a:r>
              <a:rPr lang="en-US" altLang="zh-TW" sz="2200" dirty="0" smtClean="0"/>
              <a:t>artifacts</a:t>
            </a:r>
            <a:r>
              <a:rPr lang="zh-TW" altLang="en-US" sz="2200" dirty="0" smtClean="0"/>
              <a:t>。 </a:t>
            </a:r>
            <a:endParaRPr lang="en-US" altLang="zh-TW" sz="2200" dirty="0" smtClean="0"/>
          </a:p>
          <a:p>
            <a:pPr marL="571500" indent="-571500" eaLnBrk="1" hangingPunct="1"/>
            <a:endParaRPr lang="en-US" altLang="zh-TW" sz="2600" dirty="0" smtClean="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投影片編號版面配置區 5"/>
          <p:cNvSpPr>
            <a:spLocks noGrp="1"/>
          </p:cNvSpPr>
          <p:nvPr>
            <p:ph type="sldNum" sz="quarter" idx="12"/>
          </p:nvPr>
        </p:nvSpPr>
        <p:spPr/>
        <p:txBody>
          <a:bodyPr/>
          <a:lstStyle/>
          <a:p>
            <a:pPr>
              <a:defRPr/>
            </a:pPr>
            <a:fld id="{F35A0A14-5E4E-4AC7-B773-DE06EF2BBD67}" type="slidenum">
              <a:rPr lang="en-US" altLang="zh-TW"/>
              <a:pPr>
                <a:defRPr/>
              </a:pPr>
              <a:t>31</a:t>
            </a:fld>
            <a:endParaRPr lang="en-US" altLang="zh-TW"/>
          </a:p>
        </p:txBody>
      </p:sp>
      <p:sp>
        <p:nvSpPr>
          <p:cNvPr id="39939" name="Rectangle 2"/>
          <p:cNvSpPr>
            <a:spLocks noGrp="1" noChangeArrowheads="1"/>
          </p:cNvSpPr>
          <p:nvPr>
            <p:ph type="title"/>
          </p:nvPr>
        </p:nvSpPr>
        <p:spPr/>
        <p:txBody>
          <a:bodyPr/>
          <a:lstStyle/>
          <a:p>
            <a:pPr eaLnBrk="1" hangingPunct="1"/>
            <a:r>
              <a:rPr lang="en-US" altLang="zh-TW" sz="3800" b="1" smtClean="0"/>
              <a:t>How can so little data characterize a whole market?</a:t>
            </a:r>
          </a:p>
        </p:txBody>
      </p:sp>
      <p:sp>
        <p:nvSpPr>
          <p:cNvPr id="39940" name="Rectangle 3"/>
          <p:cNvSpPr>
            <a:spLocks noGrp="1" noChangeArrowheads="1"/>
          </p:cNvSpPr>
          <p:nvPr>
            <p:ph type="body" idx="1"/>
          </p:nvPr>
        </p:nvSpPr>
        <p:spPr>
          <a:xfrm>
            <a:off x="457200" y="1850603"/>
            <a:ext cx="8229600" cy="4530725"/>
          </a:xfrm>
        </p:spPr>
        <p:txBody>
          <a:bodyPr/>
          <a:lstStyle/>
          <a:p>
            <a:pPr eaLnBrk="1" hangingPunct="1"/>
            <a:r>
              <a:rPr lang="en-US" altLang="zh-TW" sz="2400" dirty="0" smtClean="0"/>
              <a:t>Lasting consolidated data is built anywhere from </a:t>
            </a:r>
            <a:r>
              <a:rPr lang="en-US" altLang="zh-TW" sz="2400" dirty="0" smtClean="0">
                <a:solidFill>
                  <a:srgbClr val="C00000"/>
                </a:solidFill>
              </a:rPr>
              <a:t>15 to 30 field interviews </a:t>
            </a:r>
            <a:r>
              <a:rPr lang="en-US" altLang="zh-TW" sz="2400" dirty="0" smtClean="0"/>
              <a:t>and can characterize markets of millions of people.</a:t>
            </a:r>
          </a:p>
          <a:p>
            <a:pPr eaLnBrk="1" hangingPunct="1"/>
            <a:r>
              <a:rPr lang="zh-TW" altLang="en-US" sz="2400" dirty="0" smtClean="0"/>
              <a:t>原因</a:t>
            </a:r>
          </a:p>
          <a:p>
            <a:pPr lvl="1" eaLnBrk="1" hangingPunct="1"/>
            <a:r>
              <a:rPr lang="en-US" altLang="zh-TW" sz="2400" dirty="0" smtClean="0"/>
              <a:t>We are all different, but we are all alike.</a:t>
            </a:r>
          </a:p>
          <a:p>
            <a:pPr lvl="1" eaLnBrk="1" hangingPunct="1"/>
            <a:r>
              <a:rPr lang="en-US" altLang="zh-TW" sz="2400" dirty="0" smtClean="0"/>
              <a:t>There are only so many ways to do work.</a:t>
            </a:r>
          </a:p>
          <a:p>
            <a:pPr lvl="1" eaLnBrk="1" hangingPunct="1"/>
            <a:r>
              <a:rPr lang="en-US" altLang="zh-TW" sz="2400" dirty="0" smtClean="0"/>
              <a:t>Geographical differences are mostly about law</a:t>
            </a: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投影片編號版面配置區 5"/>
          <p:cNvSpPr>
            <a:spLocks noGrp="1"/>
          </p:cNvSpPr>
          <p:nvPr>
            <p:ph type="sldNum" sz="quarter" idx="12"/>
          </p:nvPr>
        </p:nvSpPr>
        <p:spPr/>
        <p:txBody>
          <a:bodyPr/>
          <a:lstStyle/>
          <a:p>
            <a:pPr>
              <a:defRPr/>
            </a:pPr>
            <a:fld id="{2A4741D8-3896-4FBB-B7F6-E48F9B958CA3}" type="slidenum">
              <a:rPr lang="en-US" altLang="zh-TW"/>
              <a:pPr>
                <a:defRPr/>
              </a:pPr>
              <a:t>32</a:t>
            </a:fld>
            <a:endParaRPr lang="en-US" altLang="zh-TW"/>
          </a:p>
        </p:txBody>
      </p:sp>
      <p:sp>
        <p:nvSpPr>
          <p:cNvPr id="40963" name="Rectangle 3"/>
          <p:cNvSpPr>
            <a:spLocks noGrp="1" noChangeArrowheads="1"/>
          </p:cNvSpPr>
          <p:nvPr>
            <p:ph type="body" idx="1"/>
          </p:nvPr>
        </p:nvSpPr>
        <p:spPr>
          <a:xfrm>
            <a:off x="457200" y="404664"/>
            <a:ext cx="8435280" cy="5949280"/>
          </a:xfrm>
        </p:spPr>
        <p:txBody>
          <a:bodyPr/>
          <a:lstStyle/>
          <a:p>
            <a:pPr marL="495300" indent="-495300" eaLnBrk="1" hangingPunct="1"/>
            <a:r>
              <a:rPr lang="en-US" altLang="zh-TW" sz="2400" b="1" u="sng" dirty="0" smtClean="0">
                <a:solidFill>
                  <a:srgbClr val="0000FF"/>
                </a:solidFill>
                <a:effectLst>
                  <a:outerShdw blurRad="38100" dist="38100" dir="2700000" algn="tl">
                    <a:srgbClr val="000000">
                      <a:alpha val="43137"/>
                    </a:srgbClr>
                  </a:outerShdw>
                </a:effectLst>
              </a:rPr>
              <a:t>D. VISIONING A NEW WORK PRACTICE </a:t>
            </a:r>
            <a:r>
              <a:rPr lang="zh-TW" altLang="en-US" sz="2400" b="1" u="sng" dirty="0" smtClean="0">
                <a:solidFill>
                  <a:srgbClr val="0000FF"/>
                </a:solidFill>
                <a:effectLst>
                  <a:outerShdw blurRad="38100" dist="38100" dir="2700000" algn="tl">
                    <a:srgbClr val="000000">
                      <a:alpha val="43137"/>
                    </a:srgbClr>
                  </a:outerShdw>
                </a:effectLst>
              </a:rPr>
              <a:t>想望新工作方式</a:t>
            </a:r>
            <a:endParaRPr lang="en-US" altLang="zh-TW" sz="2400" b="1" u="sng" dirty="0" smtClean="0">
              <a:solidFill>
                <a:srgbClr val="0000FF"/>
              </a:solidFill>
              <a:effectLst>
                <a:outerShdw blurRad="38100" dist="38100" dir="2700000" algn="tl">
                  <a:srgbClr val="000000">
                    <a:alpha val="43137"/>
                  </a:srgbClr>
                </a:outerShdw>
              </a:effectLst>
            </a:endParaRPr>
          </a:p>
          <a:p>
            <a:pPr marL="495300" indent="-495300" eaLnBrk="1" hangingPunct="1"/>
            <a:endParaRPr lang="en-US" altLang="zh-TW" sz="800" dirty="0" smtClean="0">
              <a:solidFill>
                <a:srgbClr val="0000FF"/>
              </a:solidFill>
              <a:effectLst>
                <a:outerShdw blurRad="38100" dist="38100" dir="2700000" algn="tl">
                  <a:srgbClr val="000000">
                    <a:alpha val="43137"/>
                  </a:srgbClr>
                </a:outerShdw>
              </a:effectLst>
            </a:endParaRPr>
          </a:p>
          <a:p>
            <a:pPr marL="495300" indent="-495300" eaLnBrk="1" hangingPunct="1"/>
            <a:r>
              <a:rPr lang="zh-TW" altLang="en-US" sz="2600" dirty="0" smtClean="0"/>
              <a:t>幾個步驟 </a:t>
            </a:r>
            <a:r>
              <a:rPr lang="en-US" altLang="zh-TW" sz="2600" dirty="0" smtClean="0"/>
              <a:t>the team:</a:t>
            </a:r>
          </a:p>
          <a:p>
            <a:pPr marL="495300" indent="-495300" eaLnBrk="1" hangingPunct="1">
              <a:buFont typeface="Wingdings" pitchFamily="2" charset="2"/>
              <a:buAutoNum type="arabicPeriod"/>
            </a:pPr>
            <a:r>
              <a:rPr lang="zh-TW" altLang="en-US" sz="2400" dirty="0" smtClean="0"/>
              <a:t>檢視一個個模式，沉浸在這些資料中 </a:t>
            </a:r>
            <a:r>
              <a:rPr lang="en-US" altLang="zh-TW" sz="2400" dirty="0" smtClean="0"/>
              <a:t>“Walk the data” model by model</a:t>
            </a:r>
            <a:r>
              <a:rPr lang="en-US" altLang="zh-TW" sz="2400" dirty="0" smtClean="0">
                <a:solidFill>
                  <a:srgbClr val="C00000"/>
                </a:solidFill>
              </a:rPr>
              <a:t>, immersing the team in customer data </a:t>
            </a:r>
            <a:r>
              <a:rPr lang="en-US" altLang="zh-TW" sz="2400" dirty="0" smtClean="0"/>
              <a:t>so their inventions will be grounded in the users’ work. </a:t>
            </a:r>
            <a:r>
              <a:rPr lang="zh-TW" altLang="en-US" sz="2400" dirty="0" smtClean="0"/>
              <a:t>選擇想法來</a:t>
            </a:r>
            <a:r>
              <a:rPr lang="en-US" altLang="zh-TW" sz="2400" dirty="0" smtClean="0"/>
              <a:t>fit the needs of the population</a:t>
            </a:r>
          </a:p>
          <a:p>
            <a:pPr marL="495300" indent="-495300" eaLnBrk="1" hangingPunct="1">
              <a:buFont typeface="Wingdings" pitchFamily="2" charset="2"/>
              <a:buAutoNum type="arabicPeriod"/>
            </a:pPr>
            <a:r>
              <a:rPr lang="en-US" altLang="zh-TW" sz="2400" dirty="0" smtClean="0"/>
              <a:t>Build </a:t>
            </a:r>
            <a:r>
              <a:rPr lang="en-US" altLang="zh-TW" sz="2400" dirty="0" smtClean="0">
                <a:solidFill>
                  <a:srgbClr val="C00000"/>
                </a:solidFill>
              </a:rPr>
              <a:t>a story of the new work practice</a:t>
            </a:r>
          </a:p>
          <a:p>
            <a:pPr marL="495300" indent="-495300" eaLnBrk="1" hangingPunct="1">
              <a:buFont typeface="Wingdings" pitchFamily="2" charset="2"/>
              <a:buAutoNum type="arabicPeriod"/>
            </a:pPr>
            <a:r>
              <a:rPr lang="en-US" altLang="zh-TW" sz="2400" dirty="0" smtClean="0"/>
              <a:t>Draws on a flip chart that descries the new work practice, show people, roles, systems, and anything else the vision requires. </a:t>
            </a:r>
          </a:p>
          <a:p>
            <a:pPr marL="495300" indent="-495300" eaLnBrk="1" hangingPunct="1">
              <a:buFont typeface="Wingdings" pitchFamily="2" charset="2"/>
              <a:buAutoNum type="arabicPeriod"/>
            </a:pPr>
            <a:r>
              <a:rPr lang="en-US" altLang="zh-TW" sz="2400" dirty="0" smtClean="0"/>
              <a:t>Evaluate each vision, list both the </a:t>
            </a:r>
            <a:r>
              <a:rPr lang="en-US" altLang="zh-TW" sz="2400" dirty="0" smtClean="0">
                <a:solidFill>
                  <a:srgbClr val="C00000"/>
                </a:solidFill>
              </a:rPr>
              <a:t>positive and negative points of the vision </a:t>
            </a:r>
            <a:r>
              <a:rPr lang="en-US" altLang="zh-TW" sz="2400" dirty="0" smtClean="0"/>
              <a:t>from the point of view of </a:t>
            </a:r>
            <a:r>
              <a:rPr lang="en-US" altLang="zh-TW" sz="2400" dirty="0" smtClean="0">
                <a:solidFill>
                  <a:srgbClr val="0000FF"/>
                </a:solidFill>
              </a:rPr>
              <a:t>customer value, engineering effort, technical possibility, and corporate value.</a:t>
            </a:r>
            <a:r>
              <a:rPr lang="en-US" altLang="zh-TW" sz="2400" dirty="0" smtClean="0"/>
              <a:t> </a:t>
            </a: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990" name="Picture 6" descr="http://t2.gstatic.com/images?q=tbn:ANd9GcQfWecH_R18F7UibJq1N_UtxmJExv2Iampal1CyuXvlIH1fKB7X"/>
          <p:cNvPicPr>
            <a:picLocks noChangeAspect="1" noChangeArrowheads="1"/>
          </p:cNvPicPr>
          <p:nvPr/>
        </p:nvPicPr>
        <p:blipFill>
          <a:blip r:embed="rId3" cstate="print"/>
          <a:srcRect/>
          <a:stretch>
            <a:fillRect/>
          </a:stretch>
        </p:blipFill>
        <p:spPr bwMode="auto">
          <a:xfrm>
            <a:off x="4788025" y="0"/>
            <a:ext cx="4355976" cy="3221086"/>
          </a:xfrm>
          <a:prstGeom prst="rect">
            <a:avLst/>
          </a:prstGeom>
          <a:noFill/>
        </p:spPr>
      </p:pic>
      <p:sp>
        <p:nvSpPr>
          <p:cNvPr id="6" name="投影片編號版面配置區 5"/>
          <p:cNvSpPr>
            <a:spLocks noGrp="1"/>
          </p:cNvSpPr>
          <p:nvPr>
            <p:ph type="sldNum" sz="quarter" idx="12"/>
          </p:nvPr>
        </p:nvSpPr>
        <p:spPr/>
        <p:txBody>
          <a:bodyPr/>
          <a:lstStyle/>
          <a:p>
            <a:pPr>
              <a:defRPr/>
            </a:pPr>
            <a:fld id="{C83E39F6-0D7B-4926-987C-8EA902B1787F}" type="slidenum">
              <a:rPr lang="en-US" altLang="zh-TW"/>
              <a:pPr>
                <a:defRPr/>
              </a:pPr>
              <a:t>33</a:t>
            </a:fld>
            <a:endParaRPr lang="en-US" altLang="zh-TW" dirty="0"/>
          </a:p>
        </p:txBody>
      </p:sp>
      <p:sp>
        <p:nvSpPr>
          <p:cNvPr id="41987" name="Rectangle 3"/>
          <p:cNvSpPr>
            <a:spLocks noGrp="1" noChangeArrowheads="1"/>
          </p:cNvSpPr>
          <p:nvPr>
            <p:ph type="body" idx="1"/>
          </p:nvPr>
        </p:nvSpPr>
        <p:spPr>
          <a:xfrm>
            <a:off x="395536" y="1196752"/>
            <a:ext cx="8229600" cy="5438229"/>
          </a:xfrm>
        </p:spPr>
        <p:txBody>
          <a:bodyPr/>
          <a:lstStyle/>
          <a:p>
            <a:pPr eaLnBrk="1" hangingPunct="1"/>
            <a:r>
              <a:rPr lang="en-US" altLang="zh-TW" sz="2400" b="1" u="sng" dirty="0" smtClean="0">
                <a:solidFill>
                  <a:srgbClr val="0000FF"/>
                </a:solidFill>
                <a:effectLst>
                  <a:outerShdw blurRad="38100" dist="38100" dir="2700000" algn="tl">
                    <a:srgbClr val="000000">
                      <a:alpha val="43137"/>
                    </a:srgbClr>
                  </a:outerShdw>
                </a:effectLst>
              </a:rPr>
              <a:t>E. STORYBOARDING – WORKING OUT THE DETAILS</a:t>
            </a:r>
          </a:p>
          <a:p>
            <a:pPr eaLnBrk="1" hangingPunct="1"/>
            <a:endParaRPr lang="en-US" altLang="zh-TW" sz="2400" dirty="0" smtClean="0">
              <a:solidFill>
                <a:srgbClr val="0000FF"/>
              </a:solidFill>
              <a:effectLst>
                <a:outerShdw blurRad="38100" dist="38100" dir="2700000" algn="tl">
                  <a:srgbClr val="000000">
                    <a:alpha val="43137"/>
                  </a:srgbClr>
                </a:outerShdw>
              </a:effectLst>
            </a:endParaRPr>
          </a:p>
          <a:p>
            <a:pPr lvl="1" eaLnBrk="1" hangingPunct="1"/>
            <a:r>
              <a:rPr lang="en-US" altLang="zh-TW" sz="2400" dirty="0" smtClean="0"/>
              <a:t>Like freeze movies of the new</a:t>
            </a:r>
          </a:p>
          <a:p>
            <a:pPr lvl="1" eaLnBrk="1" hangingPunct="1">
              <a:buNone/>
            </a:pPr>
            <a:r>
              <a:rPr lang="zh-TW" altLang="en-US" sz="2400" dirty="0" smtClean="0"/>
              <a:t>  </a:t>
            </a:r>
            <a:r>
              <a:rPr lang="en-US" altLang="zh-TW" sz="2400" dirty="0" smtClean="0"/>
              <a:t> work practice (see Fig. 49.9)</a:t>
            </a:r>
          </a:p>
          <a:p>
            <a:pPr lvl="1" eaLnBrk="1" hangingPunct="1"/>
            <a:r>
              <a:rPr lang="en-US" altLang="zh-TW" sz="2400" dirty="0" smtClean="0"/>
              <a:t>Draws step-by-step pictures of </a:t>
            </a:r>
            <a:r>
              <a:rPr lang="en-US" altLang="zh-TW" sz="2400" dirty="0" smtClean="0">
                <a:solidFill>
                  <a:srgbClr val="C00000"/>
                </a:solidFill>
              </a:rPr>
              <a:t>how people will work </a:t>
            </a:r>
            <a:r>
              <a:rPr lang="en-US" altLang="zh-TW" sz="2400" dirty="0" smtClean="0"/>
              <a:t>in their new world. </a:t>
            </a:r>
          </a:p>
          <a:p>
            <a:pPr lvl="1" eaLnBrk="1" hangingPunct="1"/>
            <a:r>
              <a:rPr lang="en-US" altLang="zh-TW" sz="2400" dirty="0" smtClean="0"/>
              <a:t>Include manual steps, </a:t>
            </a:r>
            <a:r>
              <a:rPr lang="en-US" altLang="zh-TW" sz="2400" dirty="0" smtClean="0">
                <a:solidFill>
                  <a:srgbClr val="C00000"/>
                </a:solidFill>
              </a:rPr>
              <a:t>rough user interface components, system activity and automation</a:t>
            </a:r>
            <a:r>
              <a:rPr lang="en-US" altLang="zh-TW" sz="2400" dirty="0" smtClean="0"/>
              <a:t>, and documentation use. </a:t>
            </a:r>
          </a:p>
          <a:p>
            <a:pPr lvl="1" eaLnBrk="1" hangingPunct="1"/>
            <a:r>
              <a:rPr lang="en-US" altLang="zh-TW" sz="2400" dirty="0" smtClean="0"/>
              <a:t>They show </a:t>
            </a:r>
            <a:r>
              <a:rPr lang="en-US" altLang="zh-TW" sz="2400" dirty="0" smtClean="0">
                <a:solidFill>
                  <a:srgbClr val="C00000"/>
                </a:solidFill>
              </a:rPr>
              <a:t>what happens </a:t>
            </a:r>
            <a:r>
              <a:rPr lang="en-US" altLang="zh-TW" sz="2400" dirty="0" smtClean="0"/>
              <a:t>when the roles on the flow interact with the system and each other</a:t>
            </a: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投影片編號版面配置區 5"/>
          <p:cNvSpPr>
            <a:spLocks noGrp="1"/>
          </p:cNvSpPr>
          <p:nvPr>
            <p:ph type="sldNum" sz="quarter" idx="12"/>
          </p:nvPr>
        </p:nvSpPr>
        <p:spPr/>
        <p:txBody>
          <a:bodyPr/>
          <a:lstStyle/>
          <a:p>
            <a:pPr>
              <a:defRPr/>
            </a:pPr>
            <a:fld id="{5B2FCAD1-46F8-4D7D-8B46-B8D879249024}" type="slidenum">
              <a:rPr lang="en-US" altLang="zh-TW"/>
              <a:pPr>
                <a:defRPr/>
              </a:pPr>
              <a:t>34</a:t>
            </a:fld>
            <a:endParaRPr lang="en-US" altLang="zh-TW"/>
          </a:p>
        </p:txBody>
      </p:sp>
      <p:sp>
        <p:nvSpPr>
          <p:cNvPr id="43011" name="Rectangle 3"/>
          <p:cNvSpPr>
            <a:spLocks noGrp="1" noChangeArrowheads="1"/>
          </p:cNvSpPr>
          <p:nvPr>
            <p:ph type="body" idx="1"/>
          </p:nvPr>
        </p:nvSpPr>
        <p:spPr>
          <a:xfrm>
            <a:off x="457200" y="1412776"/>
            <a:ext cx="8147248" cy="4530725"/>
          </a:xfrm>
        </p:spPr>
        <p:txBody>
          <a:bodyPr/>
          <a:lstStyle/>
          <a:p>
            <a:pPr eaLnBrk="1" hangingPunct="1">
              <a:buNone/>
            </a:pPr>
            <a:r>
              <a:rPr lang="en-US" altLang="zh-TW" sz="2400" b="1" u="sng" dirty="0" smtClean="0">
                <a:solidFill>
                  <a:srgbClr val="0000FF"/>
                </a:solidFill>
                <a:effectLst>
                  <a:outerShdw blurRad="38100" dist="38100" dir="2700000" algn="tl">
                    <a:srgbClr val="000000">
                      <a:alpha val="43137"/>
                    </a:srgbClr>
                  </a:outerShdw>
                </a:effectLst>
              </a:rPr>
              <a:t>F. USER ENVIRONMENT DESIGN</a:t>
            </a:r>
          </a:p>
          <a:p>
            <a:pPr eaLnBrk="1" hangingPunct="1"/>
            <a:endParaRPr lang="en-US" altLang="zh-TW" sz="800" dirty="0" smtClean="0">
              <a:solidFill>
                <a:srgbClr val="0000FF"/>
              </a:solidFill>
              <a:effectLst>
                <a:outerShdw blurRad="38100" dist="38100" dir="2700000" algn="tl">
                  <a:srgbClr val="000000">
                    <a:alpha val="43137"/>
                  </a:srgbClr>
                </a:outerShdw>
              </a:effectLst>
            </a:endParaRPr>
          </a:p>
          <a:p>
            <a:pPr eaLnBrk="1" hangingPunct="1"/>
            <a:r>
              <a:rPr lang="zh-TW" altLang="en-US" sz="2400" dirty="0" smtClean="0"/>
              <a:t>產品三個設計層面 </a:t>
            </a:r>
            <a:r>
              <a:rPr lang="en-US" altLang="zh-TW" sz="2400" dirty="0" smtClean="0"/>
              <a:t>layers: </a:t>
            </a:r>
          </a:p>
          <a:p>
            <a:pPr lvl="1" eaLnBrk="1" hangingPunct="1"/>
            <a:r>
              <a:rPr lang="en-US" altLang="zh-TW" sz="2000" dirty="0" smtClean="0"/>
              <a:t>user interface</a:t>
            </a:r>
          </a:p>
          <a:p>
            <a:pPr lvl="1" eaLnBrk="1" hangingPunct="1"/>
            <a:r>
              <a:rPr lang="en-US" altLang="zh-TW" sz="2000" dirty="0" smtClean="0"/>
              <a:t>implementation (object model)</a:t>
            </a:r>
          </a:p>
          <a:p>
            <a:pPr lvl="1" eaLnBrk="1" hangingPunct="1"/>
            <a:r>
              <a:rPr lang="en-US" altLang="zh-TW" sz="2000" dirty="0" smtClean="0"/>
              <a:t>explicit work the product is performing</a:t>
            </a:r>
            <a:r>
              <a:rPr lang="zh-TW" altLang="en-US" sz="2000" dirty="0" smtClean="0"/>
              <a:t> </a:t>
            </a:r>
            <a:r>
              <a:rPr lang="en-US" altLang="zh-TW" sz="2000" b="1" dirty="0" smtClean="0">
                <a:solidFill>
                  <a:schemeClr val="accent5">
                    <a:lumMod val="75000"/>
                  </a:schemeClr>
                </a:solidFill>
              </a:rPr>
              <a:t>(invisible)</a:t>
            </a:r>
          </a:p>
          <a:p>
            <a:pPr eaLnBrk="1" hangingPunct="1"/>
            <a:endParaRPr lang="en-US" altLang="zh-TW" sz="800" dirty="0" smtClean="0"/>
          </a:p>
          <a:p>
            <a:pPr eaLnBrk="1" hangingPunct="1"/>
            <a:r>
              <a:rPr lang="en-US" altLang="zh-TW" sz="2400" dirty="0" smtClean="0"/>
              <a:t>The </a:t>
            </a:r>
            <a:r>
              <a:rPr lang="en-US" altLang="zh-TW" sz="2400" dirty="0" smtClean="0">
                <a:solidFill>
                  <a:srgbClr val="0000FF"/>
                </a:solidFill>
              </a:rPr>
              <a:t>structure of the work </a:t>
            </a:r>
            <a:r>
              <a:rPr lang="en-US" altLang="zh-TW" sz="2400" dirty="0" smtClean="0"/>
              <a:t>of a product </a:t>
            </a:r>
            <a:r>
              <a:rPr lang="en-US" altLang="zh-TW" sz="4000" dirty="0" smtClean="0"/>
              <a:t>=</a:t>
            </a:r>
            <a:r>
              <a:rPr lang="en-US" altLang="zh-TW" sz="2400" dirty="0" smtClean="0"/>
              <a:t> the user environment design : it represents the </a:t>
            </a:r>
            <a:r>
              <a:rPr lang="en-US" altLang="zh-TW" sz="2400" dirty="0" smtClean="0">
                <a:solidFill>
                  <a:srgbClr val="C00000"/>
                </a:solidFill>
              </a:rPr>
              <a:t>structure, function, and flow of a system</a:t>
            </a:r>
            <a:r>
              <a:rPr lang="en-US" altLang="zh-TW" sz="2400" dirty="0" smtClean="0"/>
              <a:t>.</a:t>
            </a:r>
          </a:p>
        </p:txBody>
      </p:sp>
      <p:sp>
        <p:nvSpPr>
          <p:cNvPr id="43012" name="Rectangle 7"/>
          <p:cNvSpPr>
            <a:spLocks noGrp="1" noChangeArrowheads="1"/>
          </p:cNvSpPr>
          <p:nvPr>
            <p:ph type="title"/>
          </p:nvPr>
        </p:nvSpPr>
        <p:spPr>
          <a:xfrm>
            <a:off x="468313" y="260350"/>
            <a:ext cx="8229600" cy="1139825"/>
          </a:xfrm>
          <a:noFill/>
        </p:spPr>
        <p:txBody>
          <a:bodyPr/>
          <a:lstStyle/>
          <a:p>
            <a:pPr eaLnBrk="1" hangingPunct="1"/>
            <a:r>
              <a:rPr lang="en-US" altLang="zh-TW" sz="3800" b="1" smtClean="0"/>
              <a:t>THE STEPS OF CONTEXTUAL DEISGN</a:t>
            </a:r>
          </a:p>
        </p:txBody>
      </p:sp>
      <p:cxnSp>
        <p:nvCxnSpPr>
          <p:cNvPr id="7" name="直線單箭頭接點 6"/>
          <p:cNvCxnSpPr/>
          <p:nvPr/>
        </p:nvCxnSpPr>
        <p:spPr>
          <a:xfrm rot="5400000">
            <a:off x="2483768" y="3789040"/>
            <a:ext cx="576064" cy="1588"/>
          </a:xfrm>
          <a:prstGeom prst="straightConnector1">
            <a:avLst/>
          </a:prstGeom>
          <a:ln w="57150">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投影片編號版面配置區 5"/>
          <p:cNvSpPr>
            <a:spLocks noGrp="1"/>
          </p:cNvSpPr>
          <p:nvPr>
            <p:ph type="sldNum" sz="quarter" idx="12"/>
          </p:nvPr>
        </p:nvSpPr>
        <p:spPr/>
        <p:txBody>
          <a:bodyPr/>
          <a:lstStyle/>
          <a:p>
            <a:pPr>
              <a:defRPr/>
            </a:pPr>
            <a:fld id="{E03047D8-D570-40FD-88AE-1B11CE9E9BB3}" type="slidenum">
              <a:rPr lang="en-US" altLang="zh-TW"/>
              <a:pPr>
                <a:defRPr/>
              </a:pPr>
              <a:t>35</a:t>
            </a:fld>
            <a:endParaRPr lang="en-US" altLang="zh-TW"/>
          </a:p>
        </p:txBody>
      </p:sp>
      <p:sp>
        <p:nvSpPr>
          <p:cNvPr id="44035" name="Rectangle 2"/>
          <p:cNvSpPr>
            <a:spLocks noGrp="1" noChangeArrowheads="1"/>
          </p:cNvSpPr>
          <p:nvPr>
            <p:ph type="title"/>
          </p:nvPr>
        </p:nvSpPr>
        <p:spPr/>
        <p:txBody>
          <a:bodyPr/>
          <a:lstStyle/>
          <a:p>
            <a:pPr eaLnBrk="1" hangingPunct="1"/>
            <a:endParaRPr lang="zh-TW" altLang="zh-TW" smtClean="0"/>
          </a:p>
        </p:txBody>
      </p:sp>
      <p:sp>
        <p:nvSpPr>
          <p:cNvPr id="44036" name="Rectangle 3"/>
          <p:cNvSpPr>
            <a:spLocks noGrp="1" noChangeArrowheads="1"/>
          </p:cNvSpPr>
          <p:nvPr>
            <p:ph type="body" idx="1"/>
          </p:nvPr>
        </p:nvSpPr>
        <p:spPr>
          <a:xfrm>
            <a:off x="457200" y="1341438"/>
            <a:ext cx="8229600" cy="5516562"/>
          </a:xfrm>
        </p:spPr>
        <p:txBody>
          <a:bodyPr/>
          <a:lstStyle/>
          <a:p>
            <a:pPr eaLnBrk="1" hangingPunct="1">
              <a:lnSpc>
                <a:spcPct val="90000"/>
              </a:lnSpc>
            </a:pPr>
            <a:r>
              <a:rPr lang="zh-TW" altLang="en-US" sz="2400" dirty="0" smtClean="0"/>
              <a:t>功能</a:t>
            </a:r>
            <a:r>
              <a:rPr lang="en-US" altLang="zh-TW" sz="2400" dirty="0" smtClean="0"/>
              <a:t>, it:</a:t>
            </a:r>
          </a:p>
          <a:p>
            <a:pPr lvl="1" eaLnBrk="1" hangingPunct="1">
              <a:lnSpc>
                <a:spcPct val="90000"/>
              </a:lnSpc>
            </a:pPr>
            <a:r>
              <a:rPr lang="en-US" altLang="zh-TW" sz="2400" dirty="0" smtClean="0"/>
              <a:t>focuses the team on designing the </a:t>
            </a:r>
            <a:r>
              <a:rPr lang="en-US" altLang="zh-TW" sz="2400" dirty="0" smtClean="0">
                <a:solidFill>
                  <a:srgbClr val="C00000"/>
                </a:solidFill>
              </a:rPr>
              <a:t>work structure and flow </a:t>
            </a:r>
            <a:r>
              <a:rPr lang="en-US" altLang="zh-TW" sz="2400" dirty="0" smtClean="0"/>
              <a:t>within the system. </a:t>
            </a:r>
          </a:p>
          <a:p>
            <a:pPr lvl="1" eaLnBrk="1" hangingPunct="1">
              <a:lnSpc>
                <a:spcPct val="90000"/>
              </a:lnSpc>
            </a:pPr>
            <a:r>
              <a:rPr lang="en-US" altLang="zh-TW" sz="2400" dirty="0" smtClean="0"/>
              <a:t>Enable designers to view the </a:t>
            </a:r>
            <a:r>
              <a:rPr lang="en-US" altLang="zh-TW" sz="2400" dirty="0" smtClean="0">
                <a:solidFill>
                  <a:srgbClr val="C00000"/>
                </a:solidFill>
              </a:rPr>
              <a:t>whole system </a:t>
            </a:r>
            <a:r>
              <a:rPr lang="en-US" altLang="zh-TW" sz="2400" dirty="0" smtClean="0"/>
              <a:t>and the relationships between its parts,</a:t>
            </a:r>
          </a:p>
          <a:p>
            <a:pPr lvl="1" eaLnBrk="1" hangingPunct="1">
              <a:lnSpc>
                <a:spcPct val="90000"/>
              </a:lnSpc>
            </a:pPr>
            <a:r>
              <a:rPr lang="en-US" altLang="zh-TW" sz="2400" dirty="0" smtClean="0"/>
              <a:t>Show </a:t>
            </a:r>
            <a:r>
              <a:rPr lang="en-US" altLang="zh-TW" sz="2400" dirty="0" smtClean="0">
                <a:solidFill>
                  <a:srgbClr val="C00000"/>
                </a:solidFill>
              </a:rPr>
              <a:t>how the system will structure the user’s work </a:t>
            </a:r>
            <a:r>
              <a:rPr lang="en-US" altLang="zh-TW" sz="2400" dirty="0" smtClean="0"/>
              <a:t>and how it will interface with other systems.</a:t>
            </a:r>
          </a:p>
          <a:p>
            <a:pPr lvl="1" eaLnBrk="1" hangingPunct="1">
              <a:lnSpc>
                <a:spcPct val="90000"/>
              </a:lnSpc>
            </a:pPr>
            <a:r>
              <a:rPr lang="en-US" altLang="zh-TW" sz="2400" dirty="0" smtClean="0"/>
              <a:t>Focus on the </a:t>
            </a:r>
            <a:r>
              <a:rPr lang="en-US" altLang="zh-TW" sz="2400" dirty="0" smtClean="0">
                <a:solidFill>
                  <a:srgbClr val="C00000"/>
                </a:solidFill>
              </a:rPr>
              <a:t>system’s function </a:t>
            </a:r>
            <a:r>
              <a:rPr lang="en-US" altLang="zh-TW" sz="2400" dirty="0" smtClean="0"/>
              <a:t>instead of jumping ahead to user interface issues or beneath to implementation issues. </a:t>
            </a:r>
          </a:p>
          <a:p>
            <a:pPr lvl="1" eaLnBrk="1" hangingPunct="1">
              <a:lnSpc>
                <a:spcPct val="90000"/>
              </a:lnSpc>
            </a:pPr>
            <a:r>
              <a:rPr lang="en-US" altLang="zh-TW" sz="2400" dirty="0" smtClean="0"/>
              <a:t>Ensure that designers </a:t>
            </a:r>
            <a:r>
              <a:rPr lang="en-US" altLang="zh-TW" sz="2400" dirty="0" smtClean="0">
                <a:solidFill>
                  <a:srgbClr val="C00000"/>
                </a:solidFill>
              </a:rPr>
              <a:t>think about the work pattern within the system </a:t>
            </a:r>
            <a:r>
              <a:rPr lang="en-US" altLang="zh-TW" sz="2400" dirty="0" smtClean="0"/>
              <a:t>without being distracted by discussions of icons, placement of function, or words on the user interface</a:t>
            </a:r>
            <a:r>
              <a:rPr lang="en-US" altLang="zh-TW" sz="2200" dirty="0" smtClean="0"/>
              <a:t>.</a:t>
            </a: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投影片編號版面配置區 5"/>
          <p:cNvSpPr>
            <a:spLocks noGrp="1"/>
          </p:cNvSpPr>
          <p:nvPr>
            <p:ph type="sldNum" sz="quarter" idx="12"/>
          </p:nvPr>
        </p:nvSpPr>
        <p:spPr/>
        <p:txBody>
          <a:bodyPr/>
          <a:lstStyle/>
          <a:p>
            <a:pPr>
              <a:defRPr/>
            </a:pPr>
            <a:fld id="{6D3AB9C2-1CF7-45C6-81CD-E31B31258A05}" type="slidenum">
              <a:rPr lang="en-US" altLang="zh-TW"/>
              <a:pPr>
                <a:defRPr/>
              </a:pPr>
              <a:t>36</a:t>
            </a:fld>
            <a:endParaRPr lang="en-US" altLang="zh-TW"/>
          </a:p>
        </p:txBody>
      </p:sp>
      <p:sp>
        <p:nvSpPr>
          <p:cNvPr id="45059" name="Rectangle 3"/>
          <p:cNvSpPr>
            <a:spLocks noGrp="1" noChangeArrowheads="1"/>
          </p:cNvSpPr>
          <p:nvPr>
            <p:ph type="body" idx="1"/>
          </p:nvPr>
        </p:nvSpPr>
        <p:spPr>
          <a:xfrm>
            <a:off x="158824" y="1628800"/>
            <a:ext cx="8229600" cy="4924425"/>
          </a:xfrm>
        </p:spPr>
        <p:txBody>
          <a:bodyPr/>
          <a:lstStyle/>
          <a:p>
            <a:pPr eaLnBrk="1" hangingPunct="1"/>
            <a:r>
              <a:rPr lang="en-US" altLang="zh-TW" sz="2400" b="1" u="sng" dirty="0" smtClean="0">
                <a:solidFill>
                  <a:srgbClr val="0000FF"/>
                </a:solidFill>
                <a:effectLst>
                  <a:outerShdw blurRad="38100" dist="38100" dir="2700000" algn="tl">
                    <a:srgbClr val="000000">
                      <a:alpha val="43137"/>
                    </a:srgbClr>
                  </a:outerShdw>
                </a:effectLst>
              </a:rPr>
              <a:t>G. USER INTERFACE DESIGN AND MOCK-UP</a:t>
            </a:r>
          </a:p>
          <a:p>
            <a:pPr eaLnBrk="1" hangingPunct="1"/>
            <a:endParaRPr lang="en-US" altLang="zh-TW" sz="2400" dirty="0" smtClean="0">
              <a:solidFill>
                <a:srgbClr val="0000FF"/>
              </a:solidFill>
              <a:effectLst>
                <a:outerShdw blurRad="38100" dist="38100" dir="2700000" algn="tl">
                  <a:srgbClr val="000000">
                    <a:alpha val="43137"/>
                  </a:srgbClr>
                </a:outerShdw>
              </a:effectLst>
            </a:endParaRPr>
          </a:p>
          <a:p>
            <a:pPr lvl="1" eaLnBrk="1" hangingPunct="1"/>
            <a:r>
              <a:rPr lang="en-US" altLang="zh-TW" sz="2400" dirty="0" smtClean="0"/>
              <a:t>How can you find out if the models are right and suitable? Users do not understand models.</a:t>
            </a:r>
          </a:p>
          <a:p>
            <a:pPr lvl="1" eaLnBrk="1" hangingPunct="1"/>
            <a:r>
              <a:rPr lang="zh-TW" altLang="en-US" sz="2400" dirty="0" smtClean="0"/>
              <a:t>方法</a:t>
            </a:r>
            <a:r>
              <a:rPr lang="en-US" altLang="zh-TW" sz="2400" dirty="0" smtClean="0"/>
              <a:t>: </a:t>
            </a:r>
            <a:r>
              <a:rPr lang="en-US" altLang="zh-TW" sz="2400" dirty="0" smtClean="0">
                <a:solidFill>
                  <a:srgbClr val="C00000"/>
                </a:solidFill>
              </a:rPr>
              <a:t>use mock-ups of new design artifacts to test their ideas </a:t>
            </a:r>
            <a:r>
              <a:rPr lang="en-US" altLang="zh-TW" sz="2400" dirty="0" smtClean="0"/>
              <a:t>by having people use them in real work situations. </a:t>
            </a:r>
          </a:p>
          <a:p>
            <a:pPr lvl="1" eaLnBrk="1" hangingPunct="1"/>
            <a:r>
              <a:rPr lang="en-US" altLang="zh-TW" sz="2400" dirty="0" smtClean="0"/>
              <a:t>Mock-up interviews using </a:t>
            </a:r>
            <a:r>
              <a:rPr lang="en-US" altLang="zh-TW" sz="2400" dirty="0" smtClean="0">
                <a:solidFill>
                  <a:srgbClr val="C00000"/>
                </a:solidFill>
              </a:rPr>
              <a:t>paper prototype </a:t>
            </a:r>
            <a:r>
              <a:rPr lang="en-US" altLang="zh-TW" sz="2400" dirty="0" smtClean="0"/>
              <a:t>help designers understand why design elements work or fail and identify new function. </a:t>
            </a:r>
          </a:p>
          <a:p>
            <a:pPr lvl="1" eaLnBrk="1" hangingPunct="1"/>
            <a:r>
              <a:rPr lang="en-US" altLang="zh-TW" sz="2400" dirty="0" smtClean="0">
                <a:solidFill>
                  <a:srgbClr val="0000FF"/>
                </a:solidFill>
              </a:rPr>
              <a:t>Test the prototype in users’ work context </a:t>
            </a:r>
            <a:r>
              <a:rPr lang="en-US" altLang="zh-TW" sz="2400" dirty="0" smtClean="0"/>
              <a:t>to keep them grounded in their real work practice. </a:t>
            </a:r>
          </a:p>
        </p:txBody>
      </p:sp>
      <p:sp>
        <p:nvSpPr>
          <p:cNvPr id="45060" name="Rectangle 4"/>
          <p:cNvSpPr>
            <a:spLocks noGrp="1" noChangeArrowheads="1"/>
          </p:cNvSpPr>
          <p:nvPr>
            <p:ph type="title"/>
          </p:nvPr>
        </p:nvSpPr>
        <p:spPr>
          <a:noFill/>
        </p:spPr>
        <p:txBody>
          <a:bodyPr/>
          <a:lstStyle/>
          <a:p>
            <a:pPr eaLnBrk="1" hangingPunct="1"/>
            <a:r>
              <a:rPr lang="en-US" altLang="zh-TW" sz="3800" b="1" smtClean="0"/>
              <a:t>THE STEPS OF CONTEXTUAL DEISGN</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Edge">
  <a:themeElements>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fontScheme name="Edge">
      <a:majorFont>
        <a:latin typeface="Garamond"/>
        <a:ea typeface="新細明體"/>
        <a:cs typeface=""/>
      </a:majorFont>
      <a:minorFont>
        <a:latin typeface="Arial"/>
        <a:ea typeface="新細明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Edge 1">
        <a:dk1>
          <a:srgbClr val="333333"/>
        </a:dk1>
        <a:lt1>
          <a:srgbClr val="FFFFFF"/>
        </a:lt1>
        <a:dk2>
          <a:srgbClr val="820000"/>
        </a:dk2>
        <a:lt2>
          <a:srgbClr val="FFFFFF"/>
        </a:lt2>
        <a:accent1>
          <a:srgbClr val="FF9900"/>
        </a:accent1>
        <a:accent2>
          <a:srgbClr val="CC3300"/>
        </a:accent2>
        <a:accent3>
          <a:srgbClr val="C1AAAA"/>
        </a:accent3>
        <a:accent4>
          <a:srgbClr val="DADADA"/>
        </a:accent4>
        <a:accent5>
          <a:srgbClr val="FFCAAA"/>
        </a:accent5>
        <a:accent6>
          <a:srgbClr val="B92D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2">
        <a:dk1>
          <a:srgbClr val="333333"/>
        </a:dk1>
        <a:lt1>
          <a:srgbClr val="CCCCFF"/>
        </a:lt1>
        <a:dk2>
          <a:srgbClr val="0B0506"/>
        </a:dk2>
        <a:lt2>
          <a:srgbClr val="FFFFFF"/>
        </a:lt2>
        <a:accent1>
          <a:srgbClr val="3366CC"/>
        </a:accent1>
        <a:accent2>
          <a:srgbClr val="3333CC"/>
        </a:accent2>
        <a:accent3>
          <a:srgbClr val="AAAAAA"/>
        </a:accent3>
        <a:accent4>
          <a:srgbClr val="AEAEDA"/>
        </a:accent4>
        <a:accent5>
          <a:srgbClr val="ADB8E2"/>
        </a:accent5>
        <a:accent6>
          <a:srgbClr val="2D2DB9"/>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3">
        <a:dk1>
          <a:srgbClr val="333333"/>
        </a:dk1>
        <a:lt1>
          <a:srgbClr val="FFFFFF"/>
        </a:lt1>
        <a:dk2>
          <a:srgbClr val="221013"/>
        </a:dk2>
        <a:lt2>
          <a:srgbClr val="FFFFFF"/>
        </a:lt2>
        <a:accent1>
          <a:srgbClr val="CC3300"/>
        </a:accent1>
        <a:accent2>
          <a:srgbClr val="CC9900"/>
        </a:accent2>
        <a:accent3>
          <a:srgbClr val="ABAAAA"/>
        </a:accent3>
        <a:accent4>
          <a:srgbClr val="DADADA"/>
        </a:accent4>
        <a:accent5>
          <a:srgbClr val="E2ADAA"/>
        </a:accent5>
        <a:accent6>
          <a:srgbClr val="B98A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4">
        <a:dk1>
          <a:srgbClr val="11054B"/>
        </a:dk1>
        <a:lt1>
          <a:srgbClr val="FFFFFF"/>
        </a:lt1>
        <a:dk2>
          <a:srgbClr val="0000CC"/>
        </a:dk2>
        <a:lt2>
          <a:srgbClr val="FFFFFF"/>
        </a:lt2>
        <a:accent1>
          <a:srgbClr val="FF6600"/>
        </a:accent1>
        <a:accent2>
          <a:srgbClr val="FF3300"/>
        </a:accent2>
        <a:accent3>
          <a:srgbClr val="AAAAE2"/>
        </a:accent3>
        <a:accent4>
          <a:srgbClr val="DADADA"/>
        </a:accent4>
        <a:accent5>
          <a:srgbClr val="FFB8AA"/>
        </a:accent5>
        <a:accent6>
          <a:srgbClr val="E72D00"/>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Edge 5">
        <a:dk1>
          <a:srgbClr val="9B8D65"/>
        </a:dk1>
        <a:lt1>
          <a:srgbClr val="F8F8F8"/>
        </a:lt1>
        <a:dk2>
          <a:srgbClr val="002600"/>
        </a:dk2>
        <a:lt2>
          <a:srgbClr val="FAFACC"/>
        </a:lt2>
        <a:accent1>
          <a:srgbClr val="CC9933"/>
        </a:accent1>
        <a:accent2>
          <a:srgbClr val="8F9967"/>
        </a:accent2>
        <a:accent3>
          <a:srgbClr val="AAACAA"/>
        </a:accent3>
        <a:accent4>
          <a:srgbClr val="D4D4D4"/>
        </a:accent4>
        <a:accent5>
          <a:srgbClr val="E2CAAD"/>
        </a:accent5>
        <a:accent6>
          <a:srgbClr val="818A5D"/>
        </a:accent6>
        <a:hlink>
          <a:srgbClr val="336600"/>
        </a:hlink>
        <a:folHlink>
          <a:srgbClr val="808000"/>
        </a:folHlink>
      </a:clrScheme>
      <a:clrMap bg1="dk2" tx1="lt1" bg2="dk1" tx2="lt2" accent1="accent1" accent2="accent2" accent3="accent3" accent4="accent4" accent5="accent5" accent6="accent6" hlink="hlink" folHlink="folHlink"/>
    </a:extraClrScheme>
    <a:extraClrScheme>
      <a:clrScheme name="Edge 6">
        <a:dk1>
          <a:srgbClr val="333333"/>
        </a:dk1>
        <a:lt1>
          <a:srgbClr val="FFFFFF"/>
        </a:lt1>
        <a:dk2>
          <a:srgbClr val="006699"/>
        </a:dk2>
        <a:lt2>
          <a:srgbClr val="FFFFFF"/>
        </a:lt2>
        <a:accent1>
          <a:srgbClr val="CC9900"/>
        </a:accent1>
        <a:accent2>
          <a:srgbClr val="FF9900"/>
        </a:accent2>
        <a:accent3>
          <a:srgbClr val="AAB8CA"/>
        </a:accent3>
        <a:accent4>
          <a:srgbClr val="DADADA"/>
        </a:accent4>
        <a:accent5>
          <a:srgbClr val="E2CAAA"/>
        </a:accent5>
        <a:accent6>
          <a:srgbClr val="E78A00"/>
        </a:accent6>
        <a:hlink>
          <a:srgbClr val="FFCC00"/>
        </a:hlink>
        <a:folHlink>
          <a:srgbClr val="706F37"/>
        </a:folHlink>
      </a:clrScheme>
      <a:clrMap bg1="dk2" tx1="lt1" bg2="dk1" tx2="lt2" accent1="accent1" accent2="accent2" accent3="accent3" accent4="accent4" accent5="accent5" accent6="accent6" hlink="hlink" folHlink="folHlink"/>
    </a:extraClrScheme>
    <a:extraClrScheme>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clrMap bg1="lt1" tx1="dk1" bg2="lt2" tx2="dk2" accent1="accent1" accent2="accent2" accent3="accent3" accent4="accent4" accent5="accent5" accent6="accent6" hlink="hlink" folHlink="folHlink"/>
    </a:extraClrScheme>
    <a:extraClrScheme>
      <a:clrScheme name="Edge 8">
        <a:dk1>
          <a:srgbClr val="000000"/>
        </a:dk1>
        <a:lt1>
          <a:srgbClr val="FFFFFF"/>
        </a:lt1>
        <a:dk2>
          <a:srgbClr val="CC0000"/>
        </a:dk2>
        <a:lt2>
          <a:srgbClr val="666699"/>
        </a:lt2>
        <a:accent1>
          <a:srgbClr val="808080"/>
        </a:accent1>
        <a:accent2>
          <a:srgbClr val="999933"/>
        </a:accent2>
        <a:accent3>
          <a:srgbClr val="FFFFFF"/>
        </a:accent3>
        <a:accent4>
          <a:srgbClr val="000000"/>
        </a:accent4>
        <a:accent5>
          <a:srgbClr val="C0C0C0"/>
        </a:accent5>
        <a:accent6>
          <a:srgbClr val="8A8A2D"/>
        </a:accent6>
        <a:hlink>
          <a:srgbClr val="4C6D80"/>
        </a:hlink>
        <a:folHlink>
          <a:srgbClr val="B2B2B2"/>
        </a:folHlink>
      </a:clrScheme>
      <a:clrMap bg1="lt1" tx1="dk1" bg2="lt2" tx2="dk2" accent1="accent1" accent2="accent2" accent3="accent3" accent4="accent4" accent5="accent5" accent6="accent6" hlink="hlink" folHlink="folHlink"/>
    </a:extraClrScheme>
    <a:extraClrScheme>
      <a:clrScheme name="Edge 9">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46246"/>
        </a:accent6>
        <a:hlink>
          <a:srgbClr val="4C6D80"/>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佈景主題">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Edge</Template>
  <TotalTime>652</TotalTime>
  <Words>2957</Words>
  <Application>Microsoft Office PowerPoint</Application>
  <PresentationFormat>如螢幕大小 (4:3)</PresentationFormat>
  <Paragraphs>289</Paragraphs>
  <Slides>36</Slides>
  <Notes>10</Notes>
  <HiddenSlides>0</HiddenSlides>
  <MMClips>0</MMClips>
  <ScaleCrop>false</ScaleCrop>
  <HeadingPairs>
    <vt:vector size="6" baseType="variant">
      <vt:variant>
        <vt:lpstr>使用字型</vt:lpstr>
      </vt:variant>
      <vt:variant>
        <vt:i4>7</vt:i4>
      </vt:variant>
      <vt:variant>
        <vt:lpstr>佈景主題</vt:lpstr>
      </vt:variant>
      <vt:variant>
        <vt:i4>1</vt:i4>
      </vt:variant>
      <vt:variant>
        <vt:lpstr>投影片標題</vt:lpstr>
      </vt:variant>
      <vt:variant>
        <vt:i4>36</vt:i4>
      </vt:variant>
    </vt:vector>
  </HeadingPairs>
  <TitlesOfParts>
    <vt:vector size="44" baseType="lpstr">
      <vt:lpstr>微軟正黑體</vt:lpstr>
      <vt:lpstr>新細明體</vt:lpstr>
      <vt:lpstr>標楷體</vt:lpstr>
      <vt:lpstr>Arial</vt:lpstr>
      <vt:lpstr>Garamond</vt:lpstr>
      <vt:lpstr>Times New Roman</vt:lpstr>
      <vt:lpstr>Wingdings</vt:lpstr>
      <vt:lpstr>Edge</vt:lpstr>
      <vt:lpstr>Week 10 Contextual inquiry</vt:lpstr>
      <vt:lpstr>PowerPoint 簡報</vt:lpstr>
      <vt:lpstr>PowerPoint 簡報</vt:lpstr>
      <vt:lpstr>Requirement activity 需求分析活動</vt:lpstr>
      <vt:lpstr>PowerPoint 簡報</vt:lpstr>
      <vt:lpstr> Contextual design 情境式設計  Karen Holtzblatt </vt:lpstr>
      <vt:lpstr>Introduction</vt:lpstr>
      <vt:lpstr>PowerPoint 簡報</vt:lpstr>
      <vt:lpstr>Contextual design overview</vt:lpstr>
      <vt:lpstr>Setting project scope</vt:lpstr>
      <vt:lpstr>Defining the right process for the project </vt:lpstr>
      <vt:lpstr>The steps of contextual design</vt:lpstr>
      <vt:lpstr>Table 49.1. 情境設計的步驟</vt:lpstr>
      <vt:lpstr>PowerPoint 簡報</vt:lpstr>
      <vt:lpstr>PowerPoint 簡報</vt:lpstr>
      <vt:lpstr>PowerPoint 簡報</vt:lpstr>
      <vt:lpstr>Contextual inquiry</vt:lpstr>
      <vt:lpstr>PowerPoint 簡報</vt:lpstr>
      <vt:lpstr>Contextual inquiry 步驟</vt:lpstr>
      <vt:lpstr>Choosing customers depends on project scope</vt:lpstr>
      <vt:lpstr>THE STEPS OF CONTEXTUAL DEISGN</vt:lpstr>
      <vt:lpstr>PowerPoint 簡報</vt:lpstr>
      <vt:lpstr>Five work models</vt:lpstr>
      <vt:lpstr>Five work models</vt:lpstr>
      <vt:lpstr>Choosing work models depends on project scope</vt:lpstr>
      <vt:lpstr>PowerPoint 簡報</vt:lpstr>
      <vt:lpstr>PowerPoint 簡報</vt:lpstr>
      <vt:lpstr>The consolidated models</vt:lpstr>
      <vt:lpstr>PowerPoint 簡報</vt:lpstr>
      <vt:lpstr>PowerPoint 簡報</vt:lpstr>
      <vt:lpstr>How can so little data characterize a whole market?</vt:lpstr>
      <vt:lpstr>PowerPoint 簡報</vt:lpstr>
      <vt:lpstr>PowerPoint 簡報</vt:lpstr>
      <vt:lpstr>THE STEPS OF CONTEXTUAL DEISGN</vt:lpstr>
      <vt:lpstr>PowerPoint 簡報</vt:lpstr>
      <vt:lpstr>THE STEPS OF CONTEXTUAL DEISGN</vt:lpstr>
    </vt:vector>
  </TitlesOfParts>
  <Company>MTC-TEST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 9 Contextual Inquiry</dc:title>
  <dc:creator>MTC-TEST</dc:creator>
  <cp:lastModifiedBy>User</cp:lastModifiedBy>
  <cp:revision>291</cp:revision>
  <dcterms:created xsi:type="dcterms:W3CDTF">2006-11-09T03:03:35Z</dcterms:created>
  <dcterms:modified xsi:type="dcterms:W3CDTF">2018-09-13T07:53:03Z</dcterms:modified>
</cp:coreProperties>
</file>