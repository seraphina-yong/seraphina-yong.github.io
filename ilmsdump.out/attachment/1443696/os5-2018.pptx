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tags/tag1.xml" ContentType="application/vnd.openxmlformats-officedocument.presentationml.tags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tags/tag2.xml" ContentType="application/vnd.openxmlformats-officedocument.presentationml.tags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  <p:sldMasterId id="2147483653" r:id="rId2"/>
  </p:sldMasterIdLst>
  <p:notesMasterIdLst>
    <p:notesMasterId r:id="rId116"/>
  </p:notesMasterIdLst>
  <p:handoutMasterIdLst>
    <p:handoutMasterId r:id="rId117"/>
  </p:handoutMasterIdLst>
  <p:sldIdLst>
    <p:sldId id="344" r:id="rId3"/>
    <p:sldId id="345" r:id="rId4"/>
    <p:sldId id="257" r:id="rId5"/>
    <p:sldId id="330" r:id="rId6"/>
    <p:sldId id="331" r:id="rId7"/>
    <p:sldId id="332" r:id="rId8"/>
    <p:sldId id="333" r:id="rId9"/>
    <p:sldId id="334" r:id="rId10"/>
    <p:sldId id="336" r:id="rId11"/>
    <p:sldId id="335" r:id="rId12"/>
    <p:sldId id="337" r:id="rId13"/>
    <p:sldId id="260" r:id="rId14"/>
    <p:sldId id="261" r:id="rId15"/>
    <p:sldId id="355" r:id="rId16"/>
    <p:sldId id="274" r:id="rId17"/>
    <p:sldId id="275" r:id="rId18"/>
    <p:sldId id="276" r:id="rId19"/>
    <p:sldId id="346" r:id="rId20"/>
    <p:sldId id="277" r:id="rId21"/>
    <p:sldId id="347" r:id="rId22"/>
    <p:sldId id="278" r:id="rId23"/>
    <p:sldId id="279" r:id="rId24"/>
    <p:sldId id="289" r:id="rId25"/>
    <p:sldId id="348" r:id="rId26"/>
    <p:sldId id="280" r:id="rId27"/>
    <p:sldId id="349" r:id="rId28"/>
    <p:sldId id="281" r:id="rId29"/>
    <p:sldId id="359" r:id="rId30"/>
    <p:sldId id="338" r:id="rId31"/>
    <p:sldId id="339" r:id="rId32"/>
    <p:sldId id="282" r:id="rId33"/>
    <p:sldId id="283" r:id="rId34"/>
    <p:sldId id="351" r:id="rId35"/>
    <p:sldId id="356" r:id="rId36"/>
    <p:sldId id="357" r:id="rId37"/>
    <p:sldId id="285" r:id="rId38"/>
    <p:sldId id="353" r:id="rId39"/>
    <p:sldId id="358" r:id="rId40"/>
    <p:sldId id="286" r:id="rId41"/>
    <p:sldId id="354" r:id="rId42"/>
    <p:sldId id="360" r:id="rId43"/>
    <p:sldId id="290" r:id="rId44"/>
    <p:sldId id="288" r:id="rId45"/>
    <p:sldId id="291" r:id="rId46"/>
    <p:sldId id="361" r:id="rId47"/>
    <p:sldId id="362" r:id="rId48"/>
    <p:sldId id="363" r:id="rId49"/>
    <p:sldId id="364" r:id="rId50"/>
    <p:sldId id="365" r:id="rId51"/>
    <p:sldId id="366" r:id="rId52"/>
    <p:sldId id="367" r:id="rId53"/>
    <p:sldId id="368" r:id="rId54"/>
    <p:sldId id="369" r:id="rId55"/>
    <p:sldId id="370" r:id="rId56"/>
    <p:sldId id="371" r:id="rId57"/>
    <p:sldId id="372" r:id="rId58"/>
    <p:sldId id="373" r:id="rId59"/>
    <p:sldId id="374" r:id="rId60"/>
    <p:sldId id="375" r:id="rId61"/>
    <p:sldId id="376" r:id="rId62"/>
    <p:sldId id="377" r:id="rId63"/>
    <p:sldId id="378" r:id="rId64"/>
    <p:sldId id="379" r:id="rId65"/>
    <p:sldId id="380" r:id="rId66"/>
    <p:sldId id="381" r:id="rId67"/>
    <p:sldId id="382" r:id="rId68"/>
    <p:sldId id="383" r:id="rId69"/>
    <p:sldId id="384" r:id="rId70"/>
    <p:sldId id="385" r:id="rId71"/>
    <p:sldId id="386" r:id="rId72"/>
    <p:sldId id="387" r:id="rId73"/>
    <p:sldId id="388" r:id="rId74"/>
    <p:sldId id="389" r:id="rId75"/>
    <p:sldId id="390" r:id="rId76"/>
    <p:sldId id="391" r:id="rId77"/>
    <p:sldId id="392" r:id="rId78"/>
    <p:sldId id="393" r:id="rId79"/>
    <p:sldId id="394" r:id="rId80"/>
    <p:sldId id="395" r:id="rId81"/>
    <p:sldId id="446" r:id="rId82"/>
    <p:sldId id="396" r:id="rId83"/>
    <p:sldId id="397" r:id="rId84"/>
    <p:sldId id="426" r:id="rId85"/>
    <p:sldId id="401" r:id="rId86"/>
    <p:sldId id="402" r:id="rId87"/>
    <p:sldId id="427" r:id="rId88"/>
    <p:sldId id="429" r:id="rId89"/>
    <p:sldId id="428" r:id="rId90"/>
    <p:sldId id="405" r:id="rId91"/>
    <p:sldId id="447" r:id="rId92"/>
    <p:sldId id="448" r:id="rId93"/>
    <p:sldId id="449" r:id="rId94"/>
    <p:sldId id="450" r:id="rId95"/>
    <p:sldId id="406" r:id="rId96"/>
    <p:sldId id="407" r:id="rId97"/>
    <p:sldId id="408" r:id="rId98"/>
    <p:sldId id="409" r:id="rId99"/>
    <p:sldId id="410" r:id="rId100"/>
    <p:sldId id="411" r:id="rId101"/>
    <p:sldId id="412" r:id="rId102"/>
    <p:sldId id="413" r:id="rId103"/>
    <p:sldId id="414" r:id="rId104"/>
    <p:sldId id="415" r:id="rId105"/>
    <p:sldId id="416" r:id="rId106"/>
    <p:sldId id="417" r:id="rId107"/>
    <p:sldId id="418" r:id="rId108"/>
    <p:sldId id="419" r:id="rId109"/>
    <p:sldId id="420" r:id="rId110"/>
    <p:sldId id="421" r:id="rId111"/>
    <p:sldId id="422" r:id="rId112"/>
    <p:sldId id="423" r:id="rId113"/>
    <p:sldId id="424" r:id="rId114"/>
    <p:sldId id="445" r:id="rId115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9900"/>
    <a:srgbClr val="009900"/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3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245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fld id="{090B73B1-7B3A-49FA-86C4-A1CFC1AE3F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3559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1225"/>
            <a:ext cx="4991100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245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fld id="{8049E8FD-7810-43E2-A450-862787F32CD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31736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BF09876-E4A4-4B15-B3B8-811C39578C9F}" type="slidenum">
              <a:rPr kumimoji="0" lang="zh-TW" altLang="en-US" sz="1300" smtClean="0"/>
              <a:pPr>
                <a:spcBef>
                  <a:spcPct val="0"/>
                </a:spcBef>
              </a:pPr>
              <a:t>1</a:t>
            </a:fld>
            <a:endParaRPr kumimoji="0" lang="en-US" altLang="zh-TW" sz="1300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71564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3418ECC-976D-495E-802C-1615E6E7539B}" type="slidenum">
              <a:rPr kumimoji="0" lang="zh-TW" altLang="en-US" sz="1300" smtClean="0"/>
              <a:pPr>
                <a:spcBef>
                  <a:spcPct val="0"/>
                </a:spcBef>
              </a:pPr>
              <a:t>2</a:t>
            </a:fld>
            <a:endParaRPr kumimoji="0" lang="en-US" altLang="zh-TW" sz="1300" smtClean="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1428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1293E50-7176-4E73-BF6F-A80AF231FAA0}" type="slidenum">
              <a:rPr kumimoji="0" lang="zh-TW" altLang="en-US" sz="1300" smtClean="0"/>
              <a:pPr>
                <a:spcBef>
                  <a:spcPct val="0"/>
                </a:spcBef>
              </a:pPr>
              <a:t>3</a:t>
            </a:fld>
            <a:endParaRPr kumimoji="0" lang="en-US" altLang="zh-TW" sz="1300" smtClean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565435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5AB1033-94A2-4F8F-BCFB-6136C7FE9F3C}" type="slidenum">
              <a:rPr kumimoji="0" lang="zh-TW" altLang="en-US" sz="1300" smtClean="0"/>
              <a:pPr>
                <a:spcBef>
                  <a:spcPct val="0"/>
                </a:spcBef>
              </a:pPr>
              <a:t>4</a:t>
            </a:fld>
            <a:endParaRPr kumimoji="0" lang="en-US" altLang="zh-TW" sz="1300" smtClean="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3707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E9DE042-391D-4CB7-9215-C291F35C6C3E}" type="slidenum">
              <a:rPr kumimoji="0" lang="zh-TW" altLang="en-US" sz="1300" smtClean="0"/>
              <a:pPr>
                <a:spcBef>
                  <a:spcPct val="0"/>
                </a:spcBef>
              </a:pPr>
              <a:t>5</a:t>
            </a:fld>
            <a:endParaRPr kumimoji="0" lang="en-US" altLang="zh-TW" sz="1300" smtClean="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16470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4C0B5F3-AAED-4119-B13B-FBCA1AD61F67}" type="slidenum">
              <a:rPr kumimoji="0" lang="zh-TW" altLang="en-US" sz="1300" smtClean="0"/>
              <a:pPr>
                <a:spcBef>
                  <a:spcPct val="0"/>
                </a:spcBef>
              </a:pPr>
              <a:t>6</a:t>
            </a:fld>
            <a:endParaRPr kumimoji="0" lang="en-US" altLang="zh-TW" sz="1300" smtClean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87343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4AEABB4-EE31-49EB-959E-30FE5B889129}" type="slidenum">
              <a:rPr kumimoji="0" lang="zh-TW" altLang="en-US" sz="1300" smtClean="0"/>
              <a:pPr>
                <a:spcBef>
                  <a:spcPct val="0"/>
                </a:spcBef>
              </a:pPr>
              <a:t>7</a:t>
            </a:fld>
            <a:endParaRPr kumimoji="0" lang="en-US" altLang="zh-TW" sz="1300" smtClean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01053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3AC2022-55CD-4DD5-A4D5-F7E6E262A161}" type="slidenum">
              <a:rPr kumimoji="0" lang="zh-TW" altLang="en-US" sz="1300" smtClean="0"/>
              <a:pPr>
                <a:spcBef>
                  <a:spcPct val="0"/>
                </a:spcBef>
              </a:pPr>
              <a:t>8</a:t>
            </a:fld>
            <a:endParaRPr kumimoji="0" lang="en-US" altLang="zh-TW" sz="1300" smtClean="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58395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BF3FB2-F94B-4293-BD0B-332F627834C4}" type="slidenum">
              <a:rPr kumimoji="0" lang="zh-TW" altLang="en-US" sz="1300" smtClean="0"/>
              <a:pPr>
                <a:spcBef>
                  <a:spcPct val="0"/>
                </a:spcBef>
              </a:pPr>
              <a:t>9</a:t>
            </a:fld>
            <a:endParaRPr kumimoji="0" lang="en-US" altLang="zh-TW" sz="1300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82036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E14032E-047A-4E1D-8B11-984D82851859}" type="slidenum">
              <a:rPr kumimoji="0" lang="zh-TW" altLang="en-US" sz="1300" smtClean="0"/>
              <a:pPr>
                <a:spcBef>
                  <a:spcPct val="0"/>
                </a:spcBef>
              </a:pPr>
              <a:t>10</a:t>
            </a:fld>
            <a:endParaRPr kumimoji="0" lang="en-US" altLang="zh-TW" sz="1300" smtClean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09735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91E4C43-1AFA-40E2-9CD3-A000D366A2ED}" type="slidenum">
              <a:rPr kumimoji="0" lang="zh-TW" altLang="en-US" sz="1300" smtClean="0"/>
              <a:pPr>
                <a:spcBef>
                  <a:spcPct val="0"/>
                </a:spcBef>
              </a:pPr>
              <a:t>11</a:t>
            </a:fld>
            <a:endParaRPr kumimoji="0" lang="en-US" altLang="zh-TW" sz="1300" smtClean="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671721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9839A48-3C2E-4DA5-A2CE-9F7F19F3D272}" type="slidenum">
              <a:rPr kumimoji="0" lang="zh-TW" altLang="en-US" sz="1300" smtClean="0"/>
              <a:pPr>
                <a:spcBef>
                  <a:spcPct val="0"/>
                </a:spcBef>
              </a:pPr>
              <a:t>12</a:t>
            </a:fld>
            <a:endParaRPr kumimoji="0" lang="en-US" altLang="zh-TW" sz="1300" smtClean="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522136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DE51D98-01E8-4D01-A279-DB2CBF19C25D}" type="slidenum">
              <a:rPr kumimoji="0" lang="zh-TW" altLang="en-US" sz="1300" smtClean="0"/>
              <a:pPr>
                <a:spcBef>
                  <a:spcPct val="0"/>
                </a:spcBef>
              </a:pPr>
              <a:t>13</a:t>
            </a:fld>
            <a:endParaRPr kumimoji="0" lang="en-US" altLang="zh-TW" sz="1300" smtClean="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62845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3578DC2-4D1B-4ED6-8963-0B31AB4EF33B}" type="slidenum">
              <a:rPr kumimoji="0" lang="zh-TW" altLang="en-US" sz="1300" smtClean="0"/>
              <a:pPr>
                <a:spcBef>
                  <a:spcPct val="0"/>
                </a:spcBef>
              </a:pPr>
              <a:t>14</a:t>
            </a:fld>
            <a:endParaRPr kumimoji="0" lang="en-US" altLang="zh-TW" sz="1300" smtClean="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04916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4A50ACE-5643-4265-BEE6-E0B9CA22B18B}" type="slidenum">
              <a:rPr kumimoji="0" lang="zh-TW" altLang="en-US" sz="1300" smtClean="0"/>
              <a:pPr>
                <a:spcBef>
                  <a:spcPct val="0"/>
                </a:spcBef>
              </a:pPr>
              <a:t>15</a:t>
            </a:fld>
            <a:endParaRPr kumimoji="0" lang="en-US" altLang="zh-TW" sz="1300" smtClean="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793548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7EC0071-E6AE-4CCB-86FA-E46B90A1C764}" type="slidenum">
              <a:rPr kumimoji="0" lang="zh-TW" altLang="en-US" sz="1300" smtClean="0"/>
              <a:pPr>
                <a:spcBef>
                  <a:spcPct val="0"/>
                </a:spcBef>
              </a:pPr>
              <a:t>16</a:t>
            </a:fld>
            <a:endParaRPr kumimoji="0" lang="en-US" altLang="zh-TW" sz="1300" smtClean="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43947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9ADD5EE-1833-43B3-A3DF-0693814B9C93}" type="slidenum">
              <a:rPr kumimoji="0" lang="zh-TW" altLang="en-US" sz="1300" smtClean="0"/>
              <a:pPr>
                <a:spcBef>
                  <a:spcPct val="0"/>
                </a:spcBef>
              </a:pPr>
              <a:t>17</a:t>
            </a:fld>
            <a:endParaRPr kumimoji="0" lang="en-US" altLang="zh-TW" sz="1300" smtClean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960315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360E6A-58FC-4F03-B848-F49046C4A586}" type="slidenum">
              <a:rPr kumimoji="0" lang="zh-TW" altLang="en-US" sz="1300" smtClean="0"/>
              <a:pPr>
                <a:spcBef>
                  <a:spcPct val="0"/>
                </a:spcBef>
              </a:pPr>
              <a:t>18</a:t>
            </a:fld>
            <a:endParaRPr kumimoji="0" lang="en-US" altLang="zh-TW" sz="1300" smtClean="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681064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A08B6FE-964A-44F9-9A67-F157A2B15AA0}" type="slidenum">
              <a:rPr kumimoji="0" lang="zh-TW" altLang="en-US" sz="1300" smtClean="0"/>
              <a:pPr>
                <a:spcBef>
                  <a:spcPct val="0"/>
                </a:spcBef>
              </a:pPr>
              <a:t>19</a:t>
            </a:fld>
            <a:endParaRPr kumimoji="0" lang="en-US" altLang="zh-TW" sz="1300" smtClean="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644532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2249141-0EF3-4144-A4E8-0252149BF6B9}" type="slidenum">
              <a:rPr kumimoji="0" lang="zh-TW" altLang="en-US" sz="1300" smtClean="0"/>
              <a:pPr>
                <a:spcBef>
                  <a:spcPct val="0"/>
                </a:spcBef>
              </a:pPr>
              <a:t>20</a:t>
            </a:fld>
            <a:endParaRPr kumimoji="0" lang="en-US" altLang="zh-TW" sz="1300" smtClean="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08190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2C2C126-B513-43B7-8DF0-0C0FF1AAB0C5}" type="slidenum">
              <a:rPr kumimoji="0" lang="zh-TW" altLang="en-US" sz="1300" smtClean="0"/>
              <a:pPr>
                <a:spcBef>
                  <a:spcPct val="0"/>
                </a:spcBef>
              </a:pPr>
              <a:t>21</a:t>
            </a:fld>
            <a:endParaRPr kumimoji="0" lang="en-US" altLang="zh-TW" sz="1300" smtClean="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37803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62CA036-9465-4121-BC73-B196399809E2}" type="slidenum">
              <a:rPr kumimoji="0" lang="zh-TW" altLang="en-US" sz="1300" smtClean="0"/>
              <a:pPr>
                <a:spcBef>
                  <a:spcPct val="0"/>
                </a:spcBef>
              </a:pPr>
              <a:t>22</a:t>
            </a:fld>
            <a:endParaRPr kumimoji="0" lang="en-US" altLang="zh-TW" sz="1300" smtClean="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6438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64947BF-11C2-4BDA-A732-10DA39386A70}" type="slidenum">
              <a:rPr kumimoji="0" lang="zh-TW" altLang="en-US" sz="1300" smtClean="0"/>
              <a:pPr>
                <a:spcBef>
                  <a:spcPct val="0"/>
                </a:spcBef>
              </a:pPr>
              <a:t>23</a:t>
            </a:fld>
            <a:endParaRPr kumimoji="0" lang="en-US" altLang="zh-TW" sz="1300" smtClean="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969059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7BF29B9-484F-47BF-84E7-FBBD0418F2D3}" type="slidenum">
              <a:rPr kumimoji="0" lang="zh-TW" altLang="en-US" sz="1300" smtClean="0"/>
              <a:pPr>
                <a:spcBef>
                  <a:spcPct val="0"/>
                </a:spcBef>
              </a:pPr>
              <a:t>24</a:t>
            </a:fld>
            <a:endParaRPr kumimoji="0" lang="en-US" altLang="zh-TW" sz="1300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11495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C87DE7-1C4B-4B8B-9590-CB377B5D720E}" type="slidenum">
              <a:rPr kumimoji="0" lang="zh-TW" altLang="en-US" sz="1300" smtClean="0"/>
              <a:pPr>
                <a:spcBef>
                  <a:spcPct val="0"/>
                </a:spcBef>
              </a:pPr>
              <a:t>25</a:t>
            </a:fld>
            <a:endParaRPr kumimoji="0" lang="en-US" altLang="zh-TW" sz="1300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568499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F8D09F9-D437-4E90-93E0-BEFBB743C357}" type="slidenum">
              <a:rPr kumimoji="0" lang="zh-TW" altLang="en-US" sz="1300" smtClean="0"/>
              <a:pPr>
                <a:spcBef>
                  <a:spcPct val="0"/>
                </a:spcBef>
              </a:pPr>
              <a:t>26</a:t>
            </a:fld>
            <a:endParaRPr kumimoji="0" lang="en-US" altLang="zh-TW" sz="1300" smtClean="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23808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138A22E-5051-4C2B-888C-000D74B245DA}" type="slidenum">
              <a:rPr kumimoji="0" lang="zh-TW" altLang="en-US" sz="1300" smtClean="0"/>
              <a:pPr>
                <a:spcBef>
                  <a:spcPct val="0"/>
                </a:spcBef>
              </a:pPr>
              <a:t>27</a:t>
            </a:fld>
            <a:endParaRPr kumimoji="0" lang="en-US" altLang="zh-TW" sz="1300" smtClean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525427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583B2AD-40B6-467E-96F6-6F4FC6E491DF}" type="slidenum">
              <a:rPr kumimoji="0" lang="zh-TW" altLang="en-US" sz="1300" smtClean="0"/>
              <a:pPr>
                <a:spcBef>
                  <a:spcPct val="0"/>
                </a:spcBef>
              </a:pPr>
              <a:t>28</a:t>
            </a:fld>
            <a:endParaRPr kumimoji="0" lang="en-US" altLang="zh-TW" sz="1300" smtClean="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7587416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049191F-550C-4D62-B3A3-525C5E900036}" type="slidenum">
              <a:rPr kumimoji="0" lang="zh-TW" altLang="en-US" sz="1300" smtClean="0"/>
              <a:pPr>
                <a:spcBef>
                  <a:spcPct val="0"/>
                </a:spcBef>
              </a:pPr>
              <a:t>29</a:t>
            </a:fld>
            <a:endParaRPr kumimoji="0" lang="en-US" altLang="zh-TW" sz="1300" smtClean="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462270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4EC21D2-67CA-497E-BCEC-4C70706F3CD0}" type="slidenum">
              <a:rPr kumimoji="0" lang="zh-TW" altLang="en-US" sz="1300" smtClean="0"/>
              <a:pPr>
                <a:spcBef>
                  <a:spcPct val="0"/>
                </a:spcBef>
              </a:pPr>
              <a:t>30</a:t>
            </a:fld>
            <a:endParaRPr kumimoji="0" lang="en-US" altLang="zh-TW" sz="1300" smtClean="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859109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348E26E-8FE1-4700-9B35-A6A5A915D119}" type="slidenum">
              <a:rPr kumimoji="0" lang="zh-TW" altLang="en-US" sz="1300" smtClean="0"/>
              <a:pPr>
                <a:spcBef>
                  <a:spcPct val="0"/>
                </a:spcBef>
              </a:pPr>
              <a:t>31</a:t>
            </a:fld>
            <a:endParaRPr kumimoji="0" lang="en-US" altLang="zh-TW" sz="1300" smtClean="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346761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285F811-4209-4DCB-B42A-C36164AA5A71}" type="slidenum">
              <a:rPr kumimoji="0" lang="zh-TW" altLang="en-US" sz="1300" smtClean="0"/>
              <a:pPr>
                <a:spcBef>
                  <a:spcPct val="0"/>
                </a:spcBef>
              </a:pPr>
              <a:t>32</a:t>
            </a:fld>
            <a:endParaRPr kumimoji="0" lang="en-US" altLang="zh-TW" sz="1300" smtClean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1075669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837B566-35F8-4EC5-A295-F7337C4888C1}" type="slidenum">
              <a:rPr kumimoji="0" lang="zh-TW" altLang="en-US" sz="1300" smtClean="0"/>
              <a:pPr>
                <a:spcBef>
                  <a:spcPct val="0"/>
                </a:spcBef>
              </a:pPr>
              <a:t>33</a:t>
            </a:fld>
            <a:endParaRPr kumimoji="0" lang="en-US" altLang="zh-TW" sz="1300" smtClean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8475044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9CF3AA-4673-4A10-AE07-79ECB5551F21}" type="slidenum">
              <a:rPr kumimoji="0" lang="zh-TW" altLang="en-US" sz="1300" smtClean="0"/>
              <a:pPr>
                <a:spcBef>
                  <a:spcPct val="0"/>
                </a:spcBef>
              </a:pPr>
              <a:t>34</a:t>
            </a:fld>
            <a:endParaRPr kumimoji="0" lang="en-US" altLang="zh-TW" sz="1300" smtClean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8165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FED505-22BF-4972-830B-8D924BDB52A6}" type="slidenum">
              <a:rPr kumimoji="0" lang="zh-TW" altLang="en-US" sz="1300" smtClean="0"/>
              <a:pPr>
                <a:spcBef>
                  <a:spcPct val="0"/>
                </a:spcBef>
              </a:pPr>
              <a:t>35</a:t>
            </a:fld>
            <a:endParaRPr kumimoji="0" lang="en-US" altLang="zh-TW" sz="1300" smtClean="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265287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71C2298-9A8A-4851-9595-A3538F1E4D3A}" type="slidenum">
              <a:rPr kumimoji="0" lang="zh-TW" altLang="en-US" sz="1300" smtClean="0"/>
              <a:pPr>
                <a:spcBef>
                  <a:spcPct val="0"/>
                </a:spcBef>
              </a:pPr>
              <a:t>36</a:t>
            </a:fld>
            <a:endParaRPr kumimoji="0" lang="en-US" altLang="zh-TW" sz="1300" smtClean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7654903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5A21DB1-FB47-415A-B34A-2C4F1CA7C652}" type="slidenum">
              <a:rPr kumimoji="0" lang="zh-TW" altLang="en-US" sz="1300" smtClean="0"/>
              <a:pPr>
                <a:spcBef>
                  <a:spcPct val="0"/>
                </a:spcBef>
              </a:pPr>
              <a:t>37</a:t>
            </a:fld>
            <a:endParaRPr kumimoji="0" lang="en-US" altLang="zh-TW" sz="1300" smtClean="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206499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42931CD-E8DC-406F-80F2-F69A3EBB0029}" type="slidenum">
              <a:rPr kumimoji="0" lang="zh-TW" altLang="en-US" sz="1300" smtClean="0"/>
              <a:pPr>
                <a:spcBef>
                  <a:spcPct val="0"/>
                </a:spcBef>
              </a:pPr>
              <a:t>38</a:t>
            </a:fld>
            <a:endParaRPr kumimoji="0" lang="en-US" altLang="zh-TW" sz="1300" smtClean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690518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509B47D-2002-4D80-A13B-3718E8D83DC3}" type="slidenum">
              <a:rPr kumimoji="0" lang="zh-TW" altLang="en-US" sz="1300" smtClean="0"/>
              <a:pPr>
                <a:spcBef>
                  <a:spcPct val="0"/>
                </a:spcBef>
              </a:pPr>
              <a:t>39</a:t>
            </a:fld>
            <a:endParaRPr kumimoji="0" lang="en-US" altLang="zh-TW" sz="1300" smtClean="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30208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1C6EEEB-5CD7-41AE-BF13-849BA554EA84}" type="slidenum">
              <a:rPr kumimoji="0" lang="zh-TW" altLang="en-US" sz="1300" smtClean="0"/>
              <a:pPr>
                <a:spcBef>
                  <a:spcPct val="0"/>
                </a:spcBef>
              </a:pPr>
              <a:t>40</a:t>
            </a:fld>
            <a:endParaRPr kumimoji="0" lang="en-US" altLang="zh-TW" sz="1300" smtClean="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7996418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F5A148-0AB8-4268-8F74-127C6F5A1404}" type="slidenum">
              <a:rPr kumimoji="0" lang="zh-TW" altLang="en-US" sz="1300" smtClean="0"/>
              <a:pPr>
                <a:spcBef>
                  <a:spcPct val="0"/>
                </a:spcBef>
              </a:pPr>
              <a:t>41</a:t>
            </a:fld>
            <a:endParaRPr kumimoji="0" lang="en-US" altLang="zh-TW" sz="1300" smtClean="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092658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E7ABD57-DF2A-48BA-A1B2-B1BD1C6D6ED2}" type="slidenum">
              <a:rPr kumimoji="0" lang="zh-TW" altLang="en-US" sz="1300" smtClean="0"/>
              <a:pPr>
                <a:spcBef>
                  <a:spcPct val="0"/>
                </a:spcBef>
              </a:pPr>
              <a:t>42</a:t>
            </a:fld>
            <a:endParaRPr kumimoji="0" lang="en-US" altLang="zh-TW" sz="1300" smtClean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8275947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1E5E1CC-EDE5-4535-9A7D-26010CB0DADC}" type="slidenum">
              <a:rPr kumimoji="0" lang="zh-TW" altLang="en-US" sz="1300" smtClean="0"/>
              <a:pPr>
                <a:spcBef>
                  <a:spcPct val="0"/>
                </a:spcBef>
              </a:pPr>
              <a:t>43</a:t>
            </a:fld>
            <a:endParaRPr kumimoji="0" lang="en-US" altLang="zh-TW" sz="1300" smtClean="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793274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A97AAD-868B-4F75-A4EE-7537CCD32183}" type="slidenum">
              <a:rPr kumimoji="0" lang="zh-TW" altLang="en-US" sz="1300" smtClean="0"/>
              <a:pPr>
                <a:spcBef>
                  <a:spcPct val="0"/>
                </a:spcBef>
              </a:pPr>
              <a:t>44</a:t>
            </a:fld>
            <a:endParaRPr kumimoji="0" lang="en-US" altLang="zh-TW" sz="1300" smtClean="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518204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70ADCFA-9EE4-42D1-A349-415437C4E2C7}" type="slidenum">
              <a:rPr kumimoji="0" lang="zh-TW" altLang="en-US" sz="1300" smtClean="0"/>
              <a:pPr>
                <a:spcBef>
                  <a:spcPct val="0"/>
                </a:spcBef>
              </a:pPr>
              <a:t>45</a:t>
            </a:fld>
            <a:endParaRPr kumimoji="0" lang="en-US" altLang="zh-TW" sz="1300" smtClean="0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459292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390B95F-0CCA-4C3C-A8A3-CFF955AB591B}" type="slidenum">
              <a:rPr kumimoji="0" lang="zh-TW" altLang="en-US" sz="1300" smtClean="0"/>
              <a:pPr>
                <a:spcBef>
                  <a:spcPct val="0"/>
                </a:spcBef>
              </a:pPr>
              <a:t>46</a:t>
            </a:fld>
            <a:endParaRPr kumimoji="0" lang="en-US" altLang="zh-TW" sz="1300" smtClean="0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7649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7D46BF0-5F4D-4678-975B-383622A72254}" type="slidenum">
              <a:rPr kumimoji="0" lang="zh-TW" altLang="en-US" sz="1300" smtClean="0"/>
              <a:pPr>
                <a:spcBef>
                  <a:spcPct val="0"/>
                </a:spcBef>
              </a:pPr>
              <a:t>47</a:t>
            </a:fld>
            <a:endParaRPr kumimoji="0" lang="en-US" altLang="zh-TW" sz="1300" smtClean="0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4368226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8D4B1C7-2F7A-4C47-99C2-B1CB0DF36CCF}" type="slidenum">
              <a:rPr kumimoji="0" lang="zh-TW" altLang="en-US" sz="1300" smtClean="0"/>
              <a:pPr>
                <a:spcBef>
                  <a:spcPct val="0"/>
                </a:spcBef>
              </a:pPr>
              <a:t>48</a:t>
            </a:fld>
            <a:endParaRPr kumimoji="0" lang="en-US" altLang="zh-TW" sz="1300" smtClean="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840785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7C326F2-003A-498D-9254-71C42A6489E7}" type="slidenum">
              <a:rPr kumimoji="0" lang="zh-TW" altLang="en-US" sz="1300" smtClean="0"/>
              <a:pPr>
                <a:spcBef>
                  <a:spcPct val="0"/>
                </a:spcBef>
              </a:pPr>
              <a:t>49</a:t>
            </a:fld>
            <a:endParaRPr kumimoji="0" lang="en-US" altLang="zh-TW" sz="1300" smtClean="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671267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7B84EEC-7449-4444-B7B5-ACFB8D54D7BF}" type="slidenum">
              <a:rPr kumimoji="0" lang="zh-TW" altLang="en-US" sz="1300" smtClean="0"/>
              <a:pPr>
                <a:spcBef>
                  <a:spcPct val="0"/>
                </a:spcBef>
              </a:pPr>
              <a:t>50</a:t>
            </a:fld>
            <a:endParaRPr kumimoji="0" lang="en-US" altLang="zh-TW" sz="1300" smtClean="0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2550125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90221AA-DF5B-4D0A-9867-9D570B167B3E}" type="slidenum">
              <a:rPr kumimoji="0" lang="zh-TW" altLang="en-US" sz="1300" smtClean="0"/>
              <a:pPr>
                <a:spcBef>
                  <a:spcPct val="0"/>
                </a:spcBef>
              </a:pPr>
              <a:t>51</a:t>
            </a:fld>
            <a:endParaRPr kumimoji="0" lang="en-US" altLang="zh-TW" sz="1300" smtClean="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525639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69089DE-4F80-4348-BF33-09E262642738}" type="slidenum">
              <a:rPr kumimoji="0" lang="zh-TW" altLang="en-US" sz="1300" smtClean="0"/>
              <a:pPr>
                <a:spcBef>
                  <a:spcPct val="0"/>
                </a:spcBef>
              </a:pPr>
              <a:t>52</a:t>
            </a:fld>
            <a:endParaRPr kumimoji="0" lang="en-US" altLang="zh-TW" sz="1300" smtClean="0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6774001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2DCCA51-E052-4606-8EED-23F606DE2062}" type="slidenum">
              <a:rPr kumimoji="0" lang="zh-TW" altLang="en-US" sz="1300" smtClean="0"/>
              <a:pPr>
                <a:spcBef>
                  <a:spcPct val="0"/>
                </a:spcBef>
              </a:pPr>
              <a:t>53</a:t>
            </a:fld>
            <a:endParaRPr kumimoji="0" lang="en-US" altLang="zh-TW" sz="1300" smtClean="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944577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36289CA-2009-4302-B030-50CB16BCD5EF}" type="slidenum">
              <a:rPr kumimoji="0" lang="zh-TW" altLang="en-US" sz="1300" smtClean="0"/>
              <a:pPr>
                <a:spcBef>
                  <a:spcPct val="0"/>
                </a:spcBef>
              </a:pPr>
              <a:t>54</a:t>
            </a:fld>
            <a:endParaRPr kumimoji="0" lang="en-US" altLang="zh-TW" sz="1300" smtClean="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775208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7B5CB73-E839-4E39-B5EE-11F8A4CF498C}" type="slidenum">
              <a:rPr kumimoji="0" lang="zh-TW" altLang="en-US" sz="1300" smtClean="0"/>
              <a:pPr>
                <a:spcBef>
                  <a:spcPct val="0"/>
                </a:spcBef>
              </a:pPr>
              <a:t>55</a:t>
            </a:fld>
            <a:endParaRPr kumimoji="0" lang="en-US" altLang="zh-TW" sz="1300" smtClean="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618139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506855B-9F3A-4B83-B22F-E258578E7A66}" type="slidenum">
              <a:rPr kumimoji="0" lang="zh-TW" altLang="en-US" sz="1300" smtClean="0"/>
              <a:pPr>
                <a:spcBef>
                  <a:spcPct val="0"/>
                </a:spcBef>
              </a:pPr>
              <a:t>56</a:t>
            </a:fld>
            <a:endParaRPr kumimoji="0" lang="en-US" altLang="zh-TW" sz="1300" smtClean="0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043444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FAE010C-F64C-4115-8CB5-780FAD59F8E3}" type="slidenum">
              <a:rPr kumimoji="0" lang="zh-TW" altLang="en-US" sz="1300" smtClean="0"/>
              <a:pPr>
                <a:spcBef>
                  <a:spcPct val="0"/>
                </a:spcBef>
              </a:pPr>
              <a:t>57</a:t>
            </a:fld>
            <a:endParaRPr kumimoji="0" lang="en-US" altLang="zh-TW" sz="1300" smtClean="0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40207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C7AF05E-9237-4918-80C6-46369376D6B2}" type="slidenum">
              <a:rPr kumimoji="0" lang="zh-TW" altLang="en-US" sz="1300" smtClean="0"/>
              <a:pPr>
                <a:spcBef>
                  <a:spcPct val="0"/>
                </a:spcBef>
              </a:pPr>
              <a:t>58</a:t>
            </a:fld>
            <a:endParaRPr kumimoji="0" lang="en-US" altLang="zh-TW" sz="1300" smtClean="0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75249590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52369DD-2518-466A-9058-349B3B639ACB}" type="slidenum">
              <a:rPr kumimoji="0" lang="zh-TW" altLang="en-US" sz="1300" smtClean="0"/>
              <a:pPr>
                <a:spcBef>
                  <a:spcPct val="0"/>
                </a:spcBef>
              </a:pPr>
              <a:t>59</a:t>
            </a:fld>
            <a:endParaRPr kumimoji="0" lang="en-US" altLang="zh-TW" sz="1300" smtClean="0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700315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B8ADE68-38CC-4746-B9F2-C0FB1FFA803E}" type="slidenum">
              <a:rPr kumimoji="0" lang="zh-TW" altLang="en-US" sz="1300" smtClean="0"/>
              <a:pPr>
                <a:spcBef>
                  <a:spcPct val="0"/>
                </a:spcBef>
              </a:pPr>
              <a:t>60</a:t>
            </a:fld>
            <a:endParaRPr kumimoji="0" lang="en-US" altLang="zh-TW" sz="1300" smtClean="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220798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6F7381E-62FE-4283-A075-83928E3999FF}" type="slidenum">
              <a:rPr kumimoji="0" lang="zh-TW" altLang="en-US" sz="1300" smtClean="0"/>
              <a:pPr>
                <a:spcBef>
                  <a:spcPct val="0"/>
                </a:spcBef>
              </a:pPr>
              <a:t>61</a:t>
            </a:fld>
            <a:endParaRPr kumimoji="0" lang="en-US" altLang="zh-TW" sz="1300" smtClean="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7844539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610948-3AEA-427E-A843-88E1006BC464}" type="slidenum">
              <a:rPr kumimoji="0" lang="zh-TW" altLang="en-US" sz="1300" smtClean="0"/>
              <a:pPr>
                <a:spcBef>
                  <a:spcPct val="0"/>
                </a:spcBef>
              </a:pPr>
              <a:t>62</a:t>
            </a:fld>
            <a:endParaRPr kumimoji="0" lang="en-US" altLang="zh-TW" sz="1300" smtClean="0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8520777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A644823-7A70-460A-8F4C-3E93137E567B}" type="slidenum">
              <a:rPr kumimoji="0" lang="zh-TW" altLang="en-US" sz="1300" smtClean="0"/>
              <a:pPr>
                <a:spcBef>
                  <a:spcPct val="0"/>
                </a:spcBef>
              </a:pPr>
              <a:t>63</a:t>
            </a:fld>
            <a:endParaRPr kumimoji="0" lang="en-US" altLang="zh-TW" sz="1300" smtClean="0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516287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541665-BAA1-4601-87AA-215C4A84CECD}" type="slidenum">
              <a:rPr kumimoji="0" lang="zh-TW" altLang="en-US" sz="1300" smtClean="0"/>
              <a:pPr>
                <a:spcBef>
                  <a:spcPct val="0"/>
                </a:spcBef>
              </a:pPr>
              <a:t>64</a:t>
            </a:fld>
            <a:endParaRPr kumimoji="0" lang="en-US" altLang="zh-TW" sz="1300" smtClean="0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879443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477C21D-FA74-4791-AE1A-DAAED41BFFAD}" type="slidenum">
              <a:rPr kumimoji="0" lang="zh-TW" altLang="en-US" sz="1300" smtClean="0"/>
              <a:pPr>
                <a:spcBef>
                  <a:spcPct val="0"/>
                </a:spcBef>
              </a:pPr>
              <a:t>65</a:t>
            </a:fld>
            <a:endParaRPr kumimoji="0" lang="en-US" altLang="zh-TW" sz="1300" smtClean="0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1773743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A5BE76B-E5F3-4017-B0E8-6EE7E21D36D6}" type="slidenum">
              <a:rPr kumimoji="0" lang="zh-TW" altLang="en-US" sz="1300" smtClean="0"/>
              <a:pPr>
                <a:spcBef>
                  <a:spcPct val="0"/>
                </a:spcBef>
              </a:pPr>
              <a:t>66</a:t>
            </a:fld>
            <a:endParaRPr kumimoji="0" lang="en-US" altLang="zh-TW" sz="1300" smtClean="0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98882533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BF5F504-8855-474D-8457-0B9C87025B19}" type="slidenum">
              <a:rPr kumimoji="0" lang="zh-TW" altLang="en-US" sz="1300" smtClean="0"/>
              <a:pPr>
                <a:spcBef>
                  <a:spcPct val="0"/>
                </a:spcBef>
              </a:pPr>
              <a:t>67</a:t>
            </a:fld>
            <a:endParaRPr kumimoji="0" lang="en-US" altLang="zh-TW" sz="1300" smtClean="0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6681999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CDABCF0-E94D-4C41-B646-98D009E157D7}" type="slidenum">
              <a:rPr kumimoji="0" lang="zh-TW" altLang="en-US" sz="1300" smtClean="0"/>
              <a:pPr>
                <a:spcBef>
                  <a:spcPct val="0"/>
                </a:spcBef>
              </a:pPr>
              <a:t>68</a:t>
            </a:fld>
            <a:endParaRPr kumimoji="0" lang="en-US" altLang="zh-TW" sz="1300" smtClean="0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8319928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57027FA-2DEB-406E-8131-676205615054}" type="slidenum">
              <a:rPr kumimoji="0" lang="zh-TW" altLang="en-US" sz="1300" smtClean="0"/>
              <a:pPr>
                <a:spcBef>
                  <a:spcPct val="0"/>
                </a:spcBef>
              </a:pPr>
              <a:t>69</a:t>
            </a:fld>
            <a:endParaRPr kumimoji="0" lang="en-US" altLang="zh-TW" sz="1300" smtClean="0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0676060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085DA40-F88E-429B-94B0-85C2DCD97C7E}" type="slidenum">
              <a:rPr kumimoji="0" lang="zh-TW" altLang="en-US" sz="1300" smtClean="0"/>
              <a:pPr>
                <a:spcBef>
                  <a:spcPct val="0"/>
                </a:spcBef>
              </a:pPr>
              <a:t>70</a:t>
            </a:fld>
            <a:endParaRPr kumimoji="0" lang="en-US" altLang="zh-TW" sz="1300" smtClean="0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38500641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65034B7-FBE7-4068-81C5-7E3C16A0BC16}" type="slidenum">
              <a:rPr kumimoji="0" lang="zh-TW" altLang="en-US" sz="1300" smtClean="0"/>
              <a:pPr>
                <a:spcBef>
                  <a:spcPct val="0"/>
                </a:spcBef>
              </a:pPr>
              <a:t>71</a:t>
            </a:fld>
            <a:endParaRPr kumimoji="0" lang="en-US" altLang="zh-TW" sz="1300" smtClean="0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6452738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9723A8-B530-4A4D-9E8A-CCC02B8BF123}" type="slidenum">
              <a:rPr kumimoji="0" lang="zh-TW" altLang="en-US" sz="1300" smtClean="0"/>
              <a:pPr>
                <a:spcBef>
                  <a:spcPct val="0"/>
                </a:spcBef>
              </a:pPr>
              <a:t>72</a:t>
            </a:fld>
            <a:endParaRPr kumimoji="0" lang="en-US" altLang="zh-TW" sz="1300" smtClean="0"/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81358973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7C05E4D-25F2-4DA1-8D6F-D6A8304DB5EB}" type="slidenum">
              <a:rPr kumimoji="0" lang="zh-TW" altLang="en-US" sz="1300" smtClean="0"/>
              <a:pPr>
                <a:spcBef>
                  <a:spcPct val="0"/>
                </a:spcBef>
              </a:pPr>
              <a:t>73</a:t>
            </a:fld>
            <a:endParaRPr kumimoji="0" lang="en-US" altLang="zh-TW" sz="1300" smtClean="0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5448284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6BD9A9-58DA-4FFA-8F5B-95441E3E2113}" type="slidenum">
              <a:rPr kumimoji="0" lang="zh-TW" altLang="en-US" sz="1300" smtClean="0"/>
              <a:pPr>
                <a:spcBef>
                  <a:spcPct val="0"/>
                </a:spcBef>
              </a:pPr>
              <a:t>74</a:t>
            </a:fld>
            <a:endParaRPr kumimoji="0" lang="en-US" altLang="zh-TW" sz="1300" smtClean="0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77371628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4CE602C-B635-42FC-A8C3-20F87528B088}" type="slidenum">
              <a:rPr kumimoji="0" lang="zh-TW" altLang="en-US" sz="1300" smtClean="0"/>
              <a:pPr>
                <a:spcBef>
                  <a:spcPct val="0"/>
                </a:spcBef>
              </a:pPr>
              <a:t>75</a:t>
            </a:fld>
            <a:endParaRPr kumimoji="0" lang="en-US" altLang="zh-TW" sz="1300" smtClean="0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1988"/>
          </a:xfrm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25541349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4561114-EED8-4964-8C88-D40BB4296686}" type="slidenum">
              <a:rPr kumimoji="0" lang="zh-TW" altLang="en-US" sz="1300" smtClean="0"/>
              <a:pPr>
                <a:spcBef>
                  <a:spcPct val="0"/>
                </a:spcBef>
              </a:pPr>
              <a:t>76</a:t>
            </a:fld>
            <a:endParaRPr kumimoji="0" lang="en-US" altLang="zh-TW" sz="1300" smtClean="0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34154276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E9F65DA-E8FF-4D2A-8C3A-785725343665}" type="slidenum">
              <a:rPr kumimoji="0" lang="zh-TW" altLang="en-US" sz="1300" smtClean="0"/>
              <a:pPr>
                <a:spcBef>
                  <a:spcPct val="0"/>
                </a:spcBef>
              </a:pPr>
              <a:t>77</a:t>
            </a:fld>
            <a:endParaRPr kumimoji="0" lang="en-US" altLang="zh-TW" sz="1300" smtClean="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8578848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06AF1CC-17D4-4AE9-8372-AFC6A6253BFE}" type="slidenum">
              <a:rPr kumimoji="0" lang="zh-TW" altLang="en-US" sz="1300" smtClean="0"/>
              <a:pPr>
                <a:spcBef>
                  <a:spcPct val="0"/>
                </a:spcBef>
              </a:pPr>
              <a:t>78</a:t>
            </a:fld>
            <a:endParaRPr kumimoji="0" lang="en-US" altLang="zh-TW" sz="1300" smtClean="0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6299644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DBBD805-5688-492C-91C5-3B4E2840B32D}" type="slidenum">
              <a:rPr kumimoji="0" lang="zh-TW" altLang="en-US" sz="1300" smtClean="0"/>
              <a:pPr>
                <a:spcBef>
                  <a:spcPct val="0"/>
                </a:spcBef>
              </a:pPr>
              <a:t>79</a:t>
            </a:fld>
            <a:endParaRPr kumimoji="0" lang="en-US" altLang="zh-TW" sz="1300" smtClean="0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76318464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DBBD805-5688-492C-91C5-3B4E2840B32D}" type="slidenum">
              <a:rPr kumimoji="0" lang="zh-TW" altLang="en-US" sz="1300" smtClean="0"/>
              <a:pPr>
                <a:spcBef>
                  <a:spcPct val="0"/>
                </a:spcBef>
              </a:pPr>
              <a:t>80</a:t>
            </a:fld>
            <a:endParaRPr kumimoji="0" lang="en-US" altLang="zh-TW" sz="1300" smtClean="0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526165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32E821-BB26-4D32-B596-054312CB4136}" type="slidenum">
              <a:rPr kumimoji="0" lang="zh-TW" altLang="en-US" sz="1300" smtClean="0"/>
              <a:pPr>
                <a:spcBef>
                  <a:spcPct val="0"/>
                </a:spcBef>
              </a:pPr>
              <a:t>81</a:t>
            </a:fld>
            <a:endParaRPr kumimoji="0" lang="en-US" altLang="zh-TW" sz="1300" smtClean="0"/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1988"/>
          </a:xfrm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144281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EF9140-9B64-4292-9C2B-2580D0D9461C}" type="slidenum">
              <a:rPr kumimoji="0" lang="zh-TW" altLang="en-US" sz="1300" smtClean="0"/>
              <a:pPr>
                <a:spcBef>
                  <a:spcPct val="0"/>
                </a:spcBef>
              </a:pPr>
              <a:t>82</a:t>
            </a:fld>
            <a:endParaRPr kumimoji="0" lang="en-US" altLang="zh-TW" sz="1300" smtClean="0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1988"/>
          </a:xfrm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4474986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C1CD69C-026A-4B5B-9A3A-5BA787FF9812}" type="slidenum">
              <a:rPr kumimoji="0" lang="zh-TW" altLang="en-US" sz="1300" smtClean="0"/>
              <a:pPr>
                <a:spcBef>
                  <a:spcPct val="0"/>
                </a:spcBef>
              </a:pPr>
              <a:t>83</a:t>
            </a:fld>
            <a:endParaRPr kumimoji="0" lang="en-US" altLang="zh-TW" sz="1300" smtClean="0"/>
          </a:p>
        </p:txBody>
      </p:sp>
      <p:sp>
        <p:nvSpPr>
          <p:cNvPr id="218115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BA0D5DCD-2A27-4432-A538-9A88EE1A4677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83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18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181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6996404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3162E35-F6B6-4CFB-886C-4AB19C198723}" type="slidenum">
              <a:rPr kumimoji="0" lang="zh-TW" altLang="en-US" sz="1300" smtClean="0"/>
              <a:pPr>
                <a:spcBef>
                  <a:spcPct val="0"/>
                </a:spcBef>
              </a:pPr>
              <a:t>84</a:t>
            </a:fld>
            <a:endParaRPr kumimoji="0" lang="en-US" altLang="zh-TW" sz="1300" smtClean="0"/>
          </a:p>
        </p:txBody>
      </p:sp>
      <p:sp>
        <p:nvSpPr>
          <p:cNvPr id="221187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4A64C74D-8A6E-4999-84DE-BCF80A628E92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84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211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21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80514611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BE2A51F-2766-481A-871C-3A27AC8A9F93}" type="slidenum">
              <a:rPr kumimoji="0" lang="zh-TW" altLang="en-US" sz="1300" smtClean="0"/>
              <a:pPr>
                <a:spcBef>
                  <a:spcPct val="0"/>
                </a:spcBef>
              </a:pPr>
              <a:t>85</a:t>
            </a:fld>
            <a:endParaRPr kumimoji="0" lang="en-US" altLang="zh-TW" sz="1300" smtClean="0"/>
          </a:p>
        </p:txBody>
      </p:sp>
      <p:sp>
        <p:nvSpPr>
          <p:cNvPr id="222211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2AE98478-3BA5-4346-9AFB-A183D5A9EC07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85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222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222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2380965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DCD0B75-BB7E-47C4-AC23-18F2B195040B}" type="slidenum">
              <a:rPr kumimoji="0" lang="en-US" altLang="zh-TW" sz="1300" smtClean="0">
                <a:ea typeface="MS PGothic" pitchFamily="34" charset="-128"/>
              </a:rPr>
              <a:pPr>
                <a:spcBef>
                  <a:spcPct val="0"/>
                </a:spcBef>
              </a:pPr>
              <a:t>86</a:t>
            </a:fld>
            <a:endParaRPr kumimoji="0" lang="en-US" altLang="zh-TW" sz="1300" smtClean="0">
              <a:ea typeface="MS PGothic" pitchFamily="34" charset="-128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1630991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EC8F63A-1091-4E9B-B521-BFA9BF752483}" type="slidenum">
              <a:rPr kumimoji="0" lang="en-US" altLang="zh-TW" sz="1300" smtClean="0">
                <a:ea typeface="MS PGothic" pitchFamily="34" charset="-128"/>
              </a:rPr>
              <a:pPr>
                <a:spcBef>
                  <a:spcPct val="0"/>
                </a:spcBef>
              </a:pPr>
              <a:t>87</a:t>
            </a:fld>
            <a:endParaRPr kumimoji="0" lang="en-US" altLang="zh-TW" sz="1300" smtClean="0">
              <a:ea typeface="MS PGothic" pitchFamily="34" charset="-128"/>
            </a:endParaRPr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67307732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3027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3AF019A-0F0F-4973-AEBF-BA34335531A7}" type="slidenum">
              <a:rPr kumimoji="0" lang="en-US" altLang="zh-TW" sz="1300" smtClean="0">
                <a:ea typeface="MS PGothic" pitchFamily="34" charset="-128"/>
              </a:rPr>
              <a:pPr>
                <a:spcBef>
                  <a:spcPct val="0"/>
                </a:spcBef>
              </a:pPr>
              <a:t>88</a:t>
            </a:fld>
            <a:endParaRPr kumimoji="0" lang="en-US" altLang="zh-TW" sz="1300" smtClean="0">
              <a:ea typeface="MS PGothic" pitchFamily="34" charset="-128"/>
            </a:endParaRPr>
          </a:p>
        </p:txBody>
      </p:sp>
      <p:sp>
        <p:nvSpPr>
          <p:cNvPr id="227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3616751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6E5D3A9-37EC-45B6-82B2-0BF79637F845}" type="slidenum">
              <a:rPr kumimoji="0" lang="zh-TW" altLang="en-US" sz="1300" smtClean="0"/>
              <a:pPr>
                <a:spcBef>
                  <a:spcPct val="0"/>
                </a:spcBef>
              </a:pPr>
              <a:t>89</a:t>
            </a:fld>
            <a:endParaRPr kumimoji="0" lang="en-US" altLang="zh-TW" sz="1300" smtClean="0"/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04837255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5CE2F52-AEC8-490C-AD82-84F29A990509}" type="slidenum">
              <a:rPr kumimoji="0" lang="zh-TW" altLang="en-US" sz="1300" smtClean="0"/>
              <a:pPr>
                <a:spcBef>
                  <a:spcPct val="0"/>
                </a:spcBef>
              </a:pPr>
              <a:t>90</a:t>
            </a:fld>
            <a:endParaRPr kumimoji="0" lang="en-US" altLang="zh-TW" sz="1300" smtClean="0"/>
          </a:p>
        </p:txBody>
      </p:sp>
      <p:sp>
        <p:nvSpPr>
          <p:cNvPr id="219139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2A9B5674-3184-4BE6-BF8F-70A1C5C674C7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90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191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19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6987826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7D7078-D7FB-47F0-93A0-5703561268B7}" type="slidenum">
              <a:rPr kumimoji="0" lang="zh-TW" altLang="en-US" sz="1300" smtClean="0"/>
              <a:pPr>
                <a:spcBef>
                  <a:spcPct val="0"/>
                </a:spcBef>
              </a:pPr>
              <a:t>91</a:t>
            </a:fld>
            <a:endParaRPr kumimoji="0" lang="en-US" altLang="zh-TW" sz="1300" smtClean="0"/>
          </a:p>
        </p:txBody>
      </p:sp>
      <p:sp>
        <p:nvSpPr>
          <p:cNvPr id="220163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0E362F36-8729-47F9-85FF-A696AA7E0C8C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91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20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201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99713883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58C4C9D-A7EB-4BF3-8171-8FC3630F0A70}" type="slidenum">
              <a:rPr kumimoji="0" lang="zh-TW" altLang="en-US" sz="1300" smtClean="0"/>
              <a:pPr>
                <a:spcBef>
                  <a:spcPct val="0"/>
                </a:spcBef>
              </a:pPr>
              <a:t>92</a:t>
            </a:fld>
            <a:endParaRPr kumimoji="0" lang="en-US" altLang="zh-TW" sz="1300" smtClean="0"/>
          </a:p>
        </p:txBody>
      </p:sp>
      <p:sp>
        <p:nvSpPr>
          <p:cNvPr id="223235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D22279A5-0D43-41F3-A91A-B60869904210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92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232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232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1878751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6F7CF6-973A-4834-8268-179BC436E7B5}" type="slidenum">
              <a:rPr kumimoji="0" lang="zh-TW" altLang="en-US" sz="1300" smtClean="0"/>
              <a:pPr>
                <a:spcBef>
                  <a:spcPct val="0"/>
                </a:spcBef>
              </a:pPr>
              <a:t>93</a:t>
            </a:fld>
            <a:endParaRPr kumimoji="0" lang="en-US" altLang="zh-TW" sz="1300" smtClean="0"/>
          </a:p>
        </p:txBody>
      </p:sp>
      <p:sp>
        <p:nvSpPr>
          <p:cNvPr id="224259" name="Rectangle 7"/>
          <p:cNvSpPr txBox="1">
            <a:spLocks noGrp="1" noChangeArrowheads="1"/>
          </p:cNvSpPr>
          <p:nvPr/>
        </p:nvSpPr>
        <p:spPr bwMode="auto">
          <a:xfrm>
            <a:off x="3856038" y="9444038"/>
            <a:ext cx="2951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48" tIns="48374" rIns="96748" bIns="48374" anchor="b"/>
          <a:lstStyle>
            <a:lvl1pPr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67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</a:pPr>
            <a:fld id="{B2B5A832-B143-4DB7-986D-235378F1F701}" type="slidenum">
              <a:rPr kumimoji="0" lang="zh-TW" altLang="en-US" sz="1400">
                <a:ea typeface="MS PGothic" pitchFamily="34" charset="-128"/>
              </a:rPr>
              <a:pPr algn="r">
                <a:spcBef>
                  <a:spcPct val="0"/>
                </a:spcBef>
              </a:pPr>
              <a:t>93</a:t>
            </a:fld>
            <a:endParaRPr kumimoji="0" lang="en-US" altLang="zh-TW" sz="1400">
              <a:ea typeface="MS PGothic" pitchFamily="34" charset="-128"/>
            </a:endParaRPr>
          </a:p>
        </p:txBody>
      </p:sp>
      <p:sp>
        <p:nvSpPr>
          <p:cNvPr id="2242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2242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638" y="4721225"/>
            <a:ext cx="4987925" cy="4470400"/>
          </a:xfrm>
          <a:noFill/>
        </p:spPr>
        <p:txBody>
          <a:bodyPr lIns="96748" tIns="48374" rIns="96748" bIns="48374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30002020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198F0B3-4F26-467F-BEF0-CC738DE5DE0A}" type="slidenum">
              <a:rPr kumimoji="0" lang="zh-TW" altLang="en-US" sz="1300" smtClean="0"/>
              <a:pPr>
                <a:spcBef>
                  <a:spcPct val="0"/>
                </a:spcBef>
              </a:pPr>
              <a:t>94</a:t>
            </a:fld>
            <a:endParaRPr kumimoji="0" lang="en-US" altLang="zh-TW" sz="1300" smtClean="0"/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7123174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5C21BA0-5A53-43B2-8600-496E518ED03B}" type="slidenum">
              <a:rPr kumimoji="0" lang="zh-TW" altLang="en-US" sz="1300" smtClean="0"/>
              <a:pPr>
                <a:spcBef>
                  <a:spcPct val="0"/>
                </a:spcBef>
              </a:pPr>
              <a:t>95</a:t>
            </a:fld>
            <a:endParaRPr kumimoji="0" lang="en-US" altLang="zh-TW" sz="1300" smtClean="0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37896540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FB5549A-1AF3-45E2-AB06-8458AF27E9D1}" type="slidenum">
              <a:rPr kumimoji="0" lang="zh-TW" altLang="en-US" sz="1300" smtClean="0"/>
              <a:pPr>
                <a:spcBef>
                  <a:spcPct val="0"/>
                </a:spcBef>
              </a:pPr>
              <a:t>96</a:t>
            </a:fld>
            <a:endParaRPr kumimoji="0" lang="en-US" altLang="zh-TW" sz="1300" smtClean="0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6161196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1CDA471-3E39-43DC-B987-A8D5E2413987}" type="slidenum">
              <a:rPr kumimoji="0" lang="zh-TW" altLang="en-US" sz="1300" smtClean="0"/>
              <a:pPr>
                <a:spcBef>
                  <a:spcPct val="0"/>
                </a:spcBef>
              </a:pPr>
              <a:t>97</a:t>
            </a:fld>
            <a:endParaRPr kumimoji="0" lang="en-US" altLang="zh-TW" sz="1300" smtClean="0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56324011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C3D9B6-3A20-41CB-8CC8-DE1828F5244A}" type="slidenum">
              <a:rPr kumimoji="0" lang="zh-TW" altLang="en-US" sz="1300" smtClean="0"/>
              <a:pPr>
                <a:spcBef>
                  <a:spcPct val="0"/>
                </a:spcBef>
              </a:pPr>
              <a:t>98</a:t>
            </a:fld>
            <a:endParaRPr kumimoji="0" lang="en-US" altLang="zh-TW" sz="1300" smtClean="0"/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5957691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293DECF-4B4D-4CB6-84AC-518887591D16}" type="slidenum">
              <a:rPr kumimoji="0" lang="zh-TW" altLang="en-US" sz="1300" smtClean="0"/>
              <a:pPr>
                <a:spcBef>
                  <a:spcPct val="0"/>
                </a:spcBef>
              </a:pPr>
              <a:t>99</a:t>
            </a:fld>
            <a:endParaRPr kumimoji="0" lang="en-US" altLang="zh-TW" sz="1300" smtClean="0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5976200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B704990-04C4-43B6-AAD5-E83188F64A17}" type="slidenum">
              <a:rPr kumimoji="0" lang="zh-TW" altLang="en-US" sz="1300" smtClean="0"/>
              <a:pPr>
                <a:spcBef>
                  <a:spcPct val="0"/>
                </a:spcBef>
              </a:pPr>
              <a:t>100</a:t>
            </a:fld>
            <a:endParaRPr kumimoji="0" lang="en-US" altLang="zh-TW" sz="1300" smtClean="0"/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9346711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19F2FA9-524D-41D0-A3BD-E4F69A9CB99B}" type="slidenum">
              <a:rPr kumimoji="0" lang="zh-TW" altLang="en-US" sz="1300" smtClean="0"/>
              <a:pPr>
                <a:spcBef>
                  <a:spcPct val="0"/>
                </a:spcBef>
              </a:pPr>
              <a:t>101</a:t>
            </a:fld>
            <a:endParaRPr kumimoji="0" lang="en-US" altLang="zh-TW" sz="1300" smtClean="0"/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74926591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93A87C5-BE13-4BFC-8D83-399C60637A5E}" type="slidenum">
              <a:rPr kumimoji="0" lang="en-US" altLang="zh-TW" sz="1300" smtClean="0"/>
              <a:pPr>
                <a:spcBef>
                  <a:spcPct val="0"/>
                </a:spcBef>
              </a:pPr>
              <a:t>102</a:t>
            </a:fld>
            <a:endParaRPr kumimoji="0" lang="en-US" altLang="zh-TW" sz="1300" smtClean="0"/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39009280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606CD96-E5AD-4C78-80AA-FA49A1F635D9}" type="slidenum">
              <a:rPr kumimoji="0" lang="zh-TW" altLang="en-US" sz="1300" smtClean="0"/>
              <a:pPr>
                <a:spcBef>
                  <a:spcPct val="0"/>
                </a:spcBef>
              </a:pPr>
              <a:t>103</a:t>
            </a:fld>
            <a:endParaRPr kumimoji="0" lang="en-US" altLang="zh-TW" sz="1300" smtClean="0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36469786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DF88FC1-092F-47DA-9B7B-E6D5019F8534}" type="slidenum">
              <a:rPr kumimoji="0" lang="zh-TW" altLang="en-US" sz="1300" smtClean="0"/>
              <a:pPr>
                <a:spcBef>
                  <a:spcPct val="0"/>
                </a:spcBef>
              </a:pPr>
              <a:t>104</a:t>
            </a:fld>
            <a:endParaRPr kumimoji="0" lang="en-US" altLang="zh-TW" sz="1300" smtClean="0"/>
          </a:p>
        </p:txBody>
      </p:sp>
      <p:sp>
        <p:nvSpPr>
          <p:cNvPr id="239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65639659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A566D80-16B9-459F-B02C-F875A8D694A0}" type="slidenum">
              <a:rPr kumimoji="0" lang="zh-TW" altLang="en-US" sz="1300" smtClean="0"/>
              <a:pPr>
                <a:spcBef>
                  <a:spcPct val="0"/>
                </a:spcBef>
              </a:pPr>
              <a:t>105</a:t>
            </a:fld>
            <a:endParaRPr kumimoji="0" lang="en-US" altLang="zh-TW" sz="1300" smtClean="0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267291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23106F2-8A37-4095-ACEB-82D6FCA3EDCB}" type="slidenum">
              <a:rPr kumimoji="0" lang="zh-TW" altLang="en-US" sz="1300" smtClean="0"/>
              <a:pPr>
                <a:spcBef>
                  <a:spcPct val="0"/>
                </a:spcBef>
              </a:pPr>
              <a:t>106</a:t>
            </a:fld>
            <a:endParaRPr kumimoji="0" lang="en-US" altLang="zh-TW" sz="1300" smtClean="0"/>
          </a:p>
        </p:txBody>
      </p:sp>
      <p:sp>
        <p:nvSpPr>
          <p:cNvPr id="241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2432221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41F0D3-6B0D-4D8F-9043-12DA221BCC3D}" type="slidenum">
              <a:rPr kumimoji="0" lang="zh-TW" altLang="en-US" sz="1300" smtClean="0"/>
              <a:pPr>
                <a:spcBef>
                  <a:spcPct val="0"/>
                </a:spcBef>
              </a:pPr>
              <a:t>107</a:t>
            </a:fld>
            <a:endParaRPr kumimoji="0" lang="en-US" altLang="zh-TW" sz="1300" smtClean="0"/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6864910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C14A519-6A6A-406B-A238-B2FFB23B8915}" type="slidenum">
              <a:rPr kumimoji="0" lang="zh-TW" altLang="en-US" sz="1300" smtClean="0"/>
              <a:pPr>
                <a:spcBef>
                  <a:spcPct val="0"/>
                </a:spcBef>
              </a:pPr>
              <a:t>108</a:t>
            </a:fld>
            <a:endParaRPr kumimoji="0" lang="en-US" altLang="zh-TW" sz="1300" smtClean="0"/>
          </a:p>
        </p:txBody>
      </p:sp>
      <p:sp>
        <p:nvSpPr>
          <p:cNvPr id="243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6763925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0C18600-5731-499A-806C-787002192AF7}" type="slidenum">
              <a:rPr kumimoji="0" lang="zh-TW" altLang="en-US" sz="1300" smtClean="0"/>
              <a:pPr>
                <a:spcBef>
                  <a:spcPct val="0"/>
                </a:spcBef>
              </a:pPr>
              <a:t>109</a:t>
            </a:fld>
            <a:endParaRPr kumimoji="0" lang="en-US" altLang="zh-TW" sz="1300" smtClean="0"/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28020993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3DB96F-37FF-4E58-B5CE-27C2BF2E74A2}" type="slidenum">
              <a:rPr kumimoji="0" lang="zh-TW" altLang="en-US" sz="1300" smtClean="0"/>
              <a:pPr>
                <a:spcBef>
                  <a:spcPct val="0"/>
                </a:spcBef>
              </a:pPr>
              <a:t>110</a:t>
            </a:fld>
            <a:endParaRPr kumimoji="0" lang="en-US" altLang="zh-TW" sz="1300" smtClean="0"/>
          </a:p>
        </p:txBody>
      </p:sp>
      <p:sp>
        <p:nvSpPr>
          <p:cNvPr id="245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1061961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D87861C-CA53-4180-9226-E11714FF2CD2}" type="slidenum">
              <a:rPr kumimoji="0" lang="zh-TW" altLang="en-US" sz="1300" smtClean="0"/>
              <a:pPr>
                <a:spcBef>
                  <a:spcPct val="0"/>
                </a:spcBef>
              </a:pPr>
              <a:t>111</a:t>
            </a:fld>
            <a:endParaRPr kumimoji="0" lang="en-US" altLang="zh-TW" sz="1300" smtClean="0"/>
          </a:p>
        </p:txBody>
      </p:sp>
      <p:sp>
        <p:nvSpPr>
          <p:cNvPr id="24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09410295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4F5B4AA-9F4E-4657-92AA-D123DB8AB1C4}" type="slidenum">
              <a:rPr kumimoji="0" lang="zh-TW" altLang="en-US" sz="1300" smtClean="0"/>
              <a:pPr>
                <a:spcBef>
                  <a:spcPct val="0"/>
                </a:spcBef>
              </a:pPr>
              <a:t>112</a:t>
            </a:fld>
            <a:endParaRPr kumimoji="0" lang="en-US" altLang="zh-TW" sz="1300" smtClean="0"/>
          </a:p>
        </p:txBody>
      </p:sp>
      <p:sp>
        <p:nvSpPr>
          <p:cNvPr id="247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1470683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1363" indent="-28416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1413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7013" defTabSz="96202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7013" defTabSz="9620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DBBD805-5688-492C-91C5-3B4E2840B32D}" type="slidenum">
              <a:rPr kumimoji="0" lang="zh-TW" altLang="en-US" sz="1300" smtClean="0"/>
              <a:pPr>
                <a:spcBef>
                  <a:spcPct val="0"/>
                </a:spcBef>
              </a:pPr>
              <a:t>113</a:t>
            </a:fld>
            <a:endParaRPr kumimoji="0" lang="en-US" altLang="zh-TW" sz="1300" smtClean="0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703923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2909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2909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3F65A-B471-491E-B953-EC3596AE1308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5A5C3-A4D8-430C-85C3-468A06DE00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681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B68B2-5C61-4B6E-9FD6-1963F1103B82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068F-A8DB-4715-80D4-E261661B5E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485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83E12-5F4C-4B17-A037-9F820061C6E2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C183A-7273-4513-AC62-9D03DF5BAF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843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23850-8350-4686-A794-B4DD12F75986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813C3-3514-4567-849A-EC2F31E6577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251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684DA-1200-4D90-B2B6-45B168862236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DC75E-2BE5-4997-BB06-CDF4A9545F7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725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84973-2DAD-4970-B938-C3FFAD6D43BC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CD9420-08DB-4FFB-A9E9-9EEC82B581F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406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1CDE6-DC8E-4725-A746-2D145376A7F8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05357-5CFB-47AA-A75D-89FADAB704C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599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7A511-6E9E-4BB4-BD2B-CE596C67C0FC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604B7-DDE4-4CEF-8E47-30BF9CF8263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66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A72C9-A7AD-4F6D-8AC9-E7899BDD3D6D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AB18-78D8-4432-9A69-437FD9AF84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597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C0941-4336-479C-87AB-21C04C4B1931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1B253-BE8C-4884-BCC8-741F435C438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555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5E105-AABB-4EB0-B9B2-C625ABDD4A28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67D4F-547A-4747-8A6C-FE0231881A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965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53A8C-BDE7-4929-87EC-CF1156007F7C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DA04F-110B-4656-91AE-A931E8305F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2563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7924A-C8BB-4644-B9CC-829CE5CE3D5D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092F1-8900-4DB3-AD39-5868D966214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473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31BAD-610A-4577-970A-716E41E10FC0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B0B8B-EA74-4D76-BEE9-4DE6236BA8A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284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0CA0A-672B-4105-9900-9AFF429C68FA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4D109-BC50-42AD-BB9F-9623354B548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7397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62CBC-18D5-48D5-A9B6-1AAAE936E12E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CC50B-9882-4326-9BEC-FA99B6FBDC1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4814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738C9-3EF9-464A-BBFB-A15156B620B2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7F8DC-16DA-456B-B0BE-5FA530BF7D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6315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1FA1D-D419-4D26-B68D-4675F8760746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C4046-026E-4C02-9261-8B9D1065ACC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3463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B4787-26EB-4378-99F6-293FFB43FA4E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FF7F0-89B7-4928-AD2A-C90A95E0A94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350277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19888-C838-4215-A7C0-30C99312BD06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1A10C-9E3E-461C-9A73-6FBC7EAC3A9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217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460D4-D21D-43EE-BAB8-6D02A9AEBD51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EC81C-67BF-48AE-9CD0-61D81F872FD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7891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DEBD0-B6DE-4EAB-A1C6-91B01A558CF8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75439-DC48-4727-B60F-413E1363F53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96026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A3409-6635-4D46-A02E-15EE4645D4AF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74233-EC90-43B7-B6E3-AC44DE00BB1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723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28065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1278F09D-47B5-407E-961F-347CDF6A6ECA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128066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128067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A2FBB981-2FBF-49A8-A240-1FA66F7ED7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  <p:sldLayoutId id="2147484062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81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fld id="{57350538-EC0A-43BD-8F0A-A7364717971C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2816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TW" smtClean="0"/>
              <a:t>os5 2018</a:t>
            </a:r>
            <a:endParaRPr lang="en-US" altLang="zh-TW"/>
          </a:p>
        </p:txBody>
      </p:sp>
      <p:sp>
        <p:nvSpPr>
          <p:cNvPr id="2816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fld id="{F2643DFA-C4E9-4A05-B3EB-552E67D762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5" Type="http://schemas.openxmlformats.org/officeDocument/2006/relationships/slide" Target="slide69.xml"/><Relationship Id="rId4" Type="http://schemas.openxmlformats.org/officeDocument/2006/relationships/image" Target="../media/image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D660F6-8B42-4193-BFDB-5944556E9DD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62AC97-676D-4117-AC90-5E3BC20F464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603500"/>
            <a:ext cx="7162800" cy="1143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Chapter 5 </a:t>
            </a:r>
            <a:br>
              <a:rPr lang="en-US" altLang="zh-TW" sz="4800" smtClean="0"/>
            </a:br>
            <a:r>
              <a:rPr lang="en-US" altLang="zh-TW" smtClean="0"/>
              <a:t>Process Synchronization</a:t>
            </a:r>
            <a:br>
              <a:rPr lang="en-US" altLang="zh-TW" smtClean="0"/>
            </a:br>
            <a:r>
              <a:rPr lang="en-US" altLang="zh-TW" smtClean="0"/>
              <a:t>Part I: Basics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172F4AD-C934-4506-963F-DE635B20AB9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BEB147-2D0A-4217-BF34-AA710F28B45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 smtClean="0"/>
          </a:p>
        </p:txBody>
      </p:sp>
      <p:sp>
        <p:nvSpPr>
          <p:cNvPr id="51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20713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13107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7388" y="989013"/>
            <a:ext cx="8456612" cy="5613400"/>
          </a:xfrm>
        </p:spPr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zh-TW" smtClean="0"/>
              <a:t>Background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zh-TW" smtClean="0"/>
              <a:t>The </a:t>
            </a:r>
            <a:r>
              <a:rPr lang="en-US" altLang="zh-TW" smtClean="0">
                <a:solidFill>
                  <a:srgbClr val="FF0000"/>
                </a:solidFill>
              </a:rPr>
              <a:t>Critical-Section</a:t>
            </a:r>
            <a:r>
              <a:rPr lang="en-US" altLang="zh-TW" smtClean="0"/>
              <a:t> Problem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Peterson’s Solution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zh-TW" smtClean="0"/>
              <a:t>Synchronization Hardware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10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Mutex Locks</a:t>
            </a:r>
            <a:r>
              <a:rPr lang="zh-TW" altLang="en-US" smtClean="0">
                <a:solidFill>
                  <a:srgbClr val="FF0000"/>
                </a:solidFill>
              </a:rPr>
              <a:t> </a:t>
            </a:r>
            <a:r>
              <a:rPr lang="en-US" altLang="zh-TW" smtClean="0">
                <a:solidFill>
                  <a:srgbClr val="FF0000"/>
                </a:solidFill>
              </a:rPr>
              <a:t>and Semaphores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988B4A-AE93-4998-9FB1-85E9508E3FC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69E4A4-86EF-40B5-B33A-667989AA57C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 smtClean="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9625"/>
          </a:xfrm>
        </p:spPr>
        <p:txBody>
          <a:bodyPr/>
          <a:lstStyle/>
          <a:p>
            <a:pPr eaLnBrk="1" hangingPunct="1"/>
            <a:r>
              <a:rPr lang="en-US" altLang="zh-TW" smtClean="0"/>
              <a:t>Background</a:t>
            </a:r>
          </a:p>
        </p:txBody>
      </p:sp>
      <p:sp>
        <p:nvSpPr>
          <p:cNvPr id="31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1313" y="1057275"/>
            <a:ext cx="8496300" cy="48323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Concurrent access</a:t>
            </a:r>
            <a:r>
              <a:rPr lang="en-US" altLang="zh-TW" sz="2800" dirty="0" smtClean="0"/>
              <a:t> to shared data may result in </a:t>
            </a:r>
            <a:r>
              <a:rPr lang="en-US" altLang="zh-TW" sz="2800" dirty="0" smtClean="0">
                <a:solidFill>
                  <a:srgbClr val="FF0000"/>
                </a:solidFill>
              </a:rPr>
              <a:t>data inconsistency</a:t>
            </a:r>
            <a:r>
              <a:rPr lang="en-US" altLang="zh-TW" sz="2800" dirty="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Maintaining data consistency requires mechanisms to </a:t>
            </a:r>
            <a:r>
              <a:rPr lang="en-US" altLang="zh-TW" sz="2800" dirty="0" smtClean="0">
                <a:solidFill>
                  <a:srgbClr val="FF0000"/>
                </a:solidFill>
              </a:rPr>
              <a:t>ensure the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orderly</a:t>
            </a:r>
            <a:r>
              <a:rPr lang="en-US" altLang="zh-TW" sz="2800" dirty="0" smtClean="0">
                <a:solidFill>
                  <a:srgbClr val="FF0000"/>
                </a:solidFill>
              </a:rPr>
              <a:t> execution</a:t>
            </a:r>
            <a:r>
              <a:rPr lang="en-US" altLang="zh-TW" sz="2800" dirty="0" smtClean="0"/>
              <a:t> of cooperating processes.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Shared-memory solution to bounded-buffer problem allows at most </a:t>
            </a:r>
            <a:r>
              <a:rPr lang="en-US" altLang="zh-TW" sz="2800" i="1" dirty="0" smtClean="0">
                <a:latin typeface="Times New Roman" pitchFamily="18" charset="0"/>
              </a:rPr>
              <a:t>n </a:t>
            </a:r>
            <a:r>
              <a:rPr lang="en-US" altLang="zh-TW" sz="2800" dirty="0" smtClean="0">
                <a:latin typeface="Helvetica"/>
              </a:rPr>
              <a:t>–</a:t>
            </a:r>
            <a:r>
              <a:rPr lang="en-US" altLang="zh-TW" sz="2800" dirty="0" smtClean="0"/>
              <a:t> 1 items in buffer at the same time.  A solution where all </a:t>
            </a:r>
            <a:r>
              <a:rPr lang="en-US" altLang="zh-TW" sz="2800" i="1" dirty="0" smtClean="0">
                <a:latin typeface="Times New Roman" pitchFamily="18" charset="0"/>
              </a:rPr>
              <a:t>n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buffers are used is: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 smtClean="0"/>
              <a:t>Suppose that we modify the producer-consumer code by adding a variable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400" dirty="0" smtClean="0"/>
              <a:t>, initialized to 0 and incremented each time a new item is added to the buffer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59A95C-ED2E-4B01-B480-EBB0D64F3963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1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1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EA670D-E093-4E43-AFE8-F271D39BC34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 smtClean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588963"/>
            <a:ext cx="7129463" cy="617537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Bounded-Buffer (1) </a:t>
            </a:r>
          </a:p>
        </p:txBody>
      </p:sp>
      <p:sp>
        <p:nvSpPr>
          <p:cNvPr id="1095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71538" y="1120775"/>
            <a:ext cx="7596187" cy="4732338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Shared data</a:t>
            </a:r>
            <a:br>
              <a:rPr lang="en-US" altLang="zh-TW" sz="2800" smtClean="0"/>
            </a:br>
            <a:endParaRPr lang="en-US" altLang="zh-TW" sz="2800" smtClean="0"/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#define BUFFER_SIZE 10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typedef struct {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	. . .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} item</a:t>
            </a:r>
            <a:r>
              <a:rPr lang="en-US" altLang="zh-TW" sz="2400" smtClean="0"/>
              <a:t>;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item buffer[BUFFER_SIZE];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int in = 0;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int out = 0;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smtClean="0"/>
              <a:t>int </a:t>
            </a:r>
            <a:r>
              <a:rPr lang="en-US" altLang="zh-TW" sz="2400" b="1" smtClean="0">
                <a:solidFill>
                  <a:srgbClr val="FF0000"/>
                </a:solidFill>
              </a:rPr>
              <a:t>counter</a:t>
            </a:r>
            <a:r>
              <a:rPr lang="en-US" altLang="zh-TW" sz="2400" b="1" smtClean="0"/>
              <a:t> = 0;</a:t>
            </a:r>
          </a:p>
          <a:p>
            <a:pPr lvl="3" eaLnBrk="1" hangingPunct="1">
              <a:buFont typeface="Wingdings" pitchFamily="2" charset="2"/>
              <a:buNone/>
            </a:pPr>
            <a:endParaRPr lang="zh-TW" altLang="en-US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4C6D69-2813-46DD-964F-68988BF843A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A01688-7783-4DA1-BE54-665CB2A8EC3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smtClean="0"/>
          </a:p>
        </p:txBody>
      </p:sp>
      <p:sp>
        <p:nvSpPr>
          <p:cNvPr id="819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25488"/>
          </a:xfrm>
        </p:spPr>
        <p:txBody>
          <a:bodyPr/>
          <a:lstStyle/>
          <a:p>
            <a:pPr eaLnBrk="1" hangingPunct="1"/>
            <a:r>
              <a:rPr lang="en-US" altLang="zh-TW" smtClean="0"/>
              <a:t>Bounded-Buffer (2) </a:t>
            </a:r>
          </a:p>
        </p:txBody>
      </p:sp>
      <p:sp>
        <p:nvSpPr>
          <p:cNvPr id="11059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0538" y="1027113"/>
            <a:ext cx="8474075" cy="5070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Producer process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	</a:t>
            </a:r>
            <a:r>
              <a:rPr lang="en-US" altLang="zh-TW" sz="2800" b="1" smtClean="0"/>
              <a:t>item nextProduced;</a:t>
            </a:r>
            <a:br>
              <a:rPr lang="en-US" altLang="zh-TW" sz="2800" b="1" smtClean="0"/>
            </a:br>
            <a:endParaRPr lang="en-US" altLang="zh-TW" sz="28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while (1)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while (</a:t>
            </a:r>
            <a:r>
              <a:rPr lang="en-US" altLang="zh-TW" sz="2800" b="1" smtClean="0">
                <a:solidFill>
                  <a:srgbClr val="FF0000"/>
                </a:solidFill>
              </a:rPr>
              <a:t>counter == BUFFER_SIZE</a:t>
            </a:r>
            <a:r>
              <a:rPr lang="en-US" altLang="zh-TW" sz="2800" b="1" smtClean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	; /* do nothing 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buffer[in] = nextProduced;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in = (in + 1) % BUFFER_SIZE;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counter++;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}</a:t>
            </a: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3B9559-4690-4922-983C-E28F0CB7423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2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82108D7-04BA-4B7B-ABE9-E94A800AE2C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smtClean="0"/>
          </a:p>
        </p:txBody>
      </p:sp>
      <p:sp>
        <p:nvSpPr>
          <p:cNvPr id="922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3438"/>
          </a:xfrm>
        </p:spPr>
        <p:txBody>
          <a:bodyPr/>
          <a:lstStyle/>
          <a:p>
            <a:pPr eaLnBrk="1" hangingPunct="1"/>
            <a:r>
              <a:rPr lang="en-US" altLang="zh-TW" smtClean="0"/>
              <a:t>Bounded-Buffer (3) </a:t>
            </a:r>
          </a:p>
        </p:txBody>
      </p:sp>
      <p:sp>
        <p:nvSpPr>
          <p:cNvPr id="11161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2925" y="1185863"/>
            <a:ext cx="8201025" cy="5010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Consumer process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	</a:t>
            </a:r>
            <a:r>
              <a:rPr lang="en-US" altLang="zh-TW" sz="2800" b="1" smtClean="0"/>
              <a:t>item nextConsumed;</a:t>
            </a:r>
            <a:br>
              <a:rPr lang="en-US" altLang="zh-TW" sz="2800" b="1" smtClean="0"/>
            </a:br>
            <a:endParaRPr lang="en-US" altLang="zh-TW" sz="28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while (1)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while </a:t>
            </a:r>
            <a:r>
              <a:rPr lang="en-US" altLang="zh-TW" sz="2800" b="1" smtClean="0">
                <a:solidFill>
                  <a:srgbClr val="FF0000"/>
                </a:solidFill>
              </a:rPr>
              <a:t>(counter == 0</a:t>
            </a:r>
            <a:r>
              <a:rPr lang="en-US" altLang="zh-TW" sz="2800" b="1" smtClean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	; /* do nothing 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nextConsumed = buffer[out];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out = (out + 1) % BUFFER_SIZE;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	counter--;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/>
              <a:t>	}</a:t>
            </a: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6DB4C7-1EB1-40D9-9086-C7106C70EC5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2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03D0A6-9131-490B-BC6F-7F6AA7140BC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82650"/>
          </a:xfrm>
        </p:spPr>
        <p:txBody>
          <a:bodyPr/>
          <a:lstStyle/>
          <a:p>
            <a:pPr eaLnBrk="1" hangingPunct="1"/>
            <a:r>
              <a:rPr lang="en-US" altLang="zh-TW" smtClean="0"/>
              <a:t>Bounded Buffer (4)</a:t>
            </a:r>
          </a:p>
        </p:txBody>
      </p:sp>
      <p:sp>
        <p:nvSpPr>
          <p:cNvPr id="1126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1975" y="1425575"/>
            <a:ext cx="8048625" cy="4594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statements</a:t>
            </a:r>
            <a:br>
              <a:rPr lang="en-US" altLang="zh-TW" sz="2800" smtClean="0"/>
            </a:br>
            <a:r>
              <a:rPr lang="en-US" altLang="zh-TW" sz="2800" b="1" smtClean="0">
                <a:solidFill>
                  <a:srgbClr val="FF0000"/>
                </a:solidFill>
              </a:rPr>
              <a:t/>
            </a:r>
            <a:br>
              <a:rPr lang="en-US" altLang="zh-TW" sz="2800" b="1" smtClean="0">
                <a:solidFill>
                  <a:srgbClr val="FF0000"/>
                </a:solidFill>
              </a:rPr>
            </a:br>
            <a:r>
              <a:rPr lang="en-US" altLang="zh-TW" sz="2800" b="1" smtClean="0">
                <a:solidFill>
                  <a:srgbClr val="FF0000"/>
                </a:solidFill>
              </a:rPr>
              <a:t>counter++;</a:t>
            </a:r>
            <a:r>
              <a:rPr lang="en-US" altLang="zh-TW" sz="2800" b="1" smtClean="0"/>
              <a:t/>
            </a:r>
            <a:br>
              <a:rPr lang="en-US" altLang="zh-TW" sz="2800" b="1" smtClean="0"/>
            </a:br>
            <a:r>
              <a:rPr lang="en-US" altLang="zh-TW" sz="2800" b="1" smtClean="0"/>
              <a:t>counter--;</a:t>
            </a:r>
            <a:br>
              <a:rPr lang="en-US" altLang="zh-TW" sz="2800" b="1" smtClean="0"/>
            </a:br>
            <a:r>
              <a:rPr lang="en-US" altLang="zh-TW" sz="2800" smtClean="0"/>
              <a:t/>
            </a:r>
            <a:br>
              <a:rPr lang="en-US" altLang="zh-TW" sz="2800" smtClean="0"/>
            </a:br>
            <a:r>
              <a:rPr lang="en-US" altLang="zh-TW" sz="2800" smtClean="0"/>
              <a:t>must be performed </a:t>
            </a:r>
            <a:r>
              <a:rPr lang="en-US" altLang="zh-TW" sz="2800" b="1" smtClean="0">
                <a:solidFill>
                  <a:srgbClr val="FF0000"/>
                </a:solidFill>
              </a:rPr>
              <a:t>atomically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Atomic operation means an operation that </a:t>
            </a:r>
            <a:r>
              <a:rPr lang="en-US" altLang="zh-TW" sz="2800" smtClean="0">
                <a:solidFill>
                  <a:srgbClr val="FF0000"/>
                </a:solidFill>
              </a:rPr>
              <a:t>completes in its entirety without interruption</a:t>
            </a:r>
            <a:r>
              <a:rPr lang="en-US" altLang="zh-TW" sz="2800" smtClean="0"/>
              <a:t>.</a:t>
            </a:r>
            <a:br>
              <a:rPr lang="en-US" altLang="zh-TW" sz="2800" smtClean="0"/>
            </a:br>
            <a:endParaRPr lang="en-US" altLang="zh-TW" sz="2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F0EDA8-E257-43ED-A426-95F68AE30F9A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2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2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ED6912-BE1E-43EE-A5AE-66B2850ECF9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6888" y="322263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Bounded Buffer (5)</a:t>
            </a:r>
          </a:p>
        </p:txBody>
      </p:sp>
      <p:sp>
        <p:nvSpPr>
          <p:cNvPr id="1127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4513" y="966788"/>
            <a:ext cx="8145462" cy="5197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statement </a:t>
            </a:r>
            <a:r>
              <a:rPr lang="en-US" altLang="zh-TW" sz="2800" smtClean="0">
                <a:latin typeface="Helvetica" pitchFamily="34" charset="0"/>
              </a:rPr>
              <a:t>“</a:t>
            </a:r>
            <a:r>
              <a:rPr lang="en-US" altLang="zh-TW" sz="2800" b="1" smtClean="0"/>
              <a:t>count++</a:t>
            </a:r>
            <a:r>
              <a:rPr lang="en-US" altLang="zh-TW" sz="2800" smtClean="0">
                <a:latin typeface="Helvetica" pitchFamily="34" charset="0"/>
              </a:rPr>
              <a:t>”</a:t>
            </a:r>
            <a:r>
              <a:rPr lang="en-US" altLang="zh-TW" sz="2800" smtClean="0"/>
              <a:t> may be implemented in machine language as:</a:t>
            </a:r>
            <a:br>
              <a:rPr lang="en-US" altLang="zh-TW" sz="2800" smtClean="0"/>
            </a:br>
            <a:r>
              <a:rPr lang="en-US" altLang="zh-TW" sz="2800" smtClean="0">
                <a:solidFill>
                  <a:srgbClr val="FF0000"/>
                </a:solidFill>
              </a:rPr>
              <a:t/>
            </a:r>
            <a:br>
              <a:rPr lang="en-US" altLang="zh-TW" sz="2800" smtClean="0">
                <a:solidFill>
                  <a:srgbClr val="FF0000"/>
                </a:solidFill>
              </a:rPr>
            </a:br>
            <a:r>
              <a:rPr lang="en-US" altLang="zh-TW" sz="2800" b="1" smtClean="0">
                <a:solidFill>
                  <a:srgbClr val="FF0000"/>
                </a:solidFill>
              </a:rPr>
              <a:t>register1 = counter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>
                <a:solidFill>
                  <a:srgbClr val="FF0000"/>
                </a:solidFill>
              </a:rPr>
              <a:t>	register1 = register1 + 1</a:t>
            </a:r>
            <a:br>
              <a:rPr lang="en-US" altLang="zh-TW" sz="2800" b="1" smtClean="0">
                <a:solidFill>
                  <a:srgbClr val="FF0000"/>
                </a:solidFill>
              </a:rPr>
            </a:br>
            <a:r>
              <a:rPr lang="en-US" altLang="zh-TW" sz="2800" b="1" smtClean="0">
                <a:solidFill>
                  <a:srgbClr val="FF0000"/>
                </a:solidFill>
              </a:rPr>
              <a:t>counter   = register1</a:t>
            </a:r>
            <a:r>
              <a:rPr lang="en-US" altLang="zh-TW" sz="2800" b="1" smtClean="0"/>
              <a:t/>
            </a:r>
            <a:br>
              <a:rPr lang="en-US" altLang="zh-TW" sz="2800" b="1" smtClean="0"/>
            </a:br>
            <a:endParaRPr lang="en-US" altLang="zh-TW" sz="2800" b="1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statement </a:t>
            </a:r>
            <a:r>
              <a:rPr lang="en-US" altLang="zh-TW" sz="2800" smtClean="0">
                <a:latin typeface="Helvetica" pitchFamily="34" charset="0"/>
              </a:rPr>
              <a:t>“</a:t>
            </a:r>
            <a:r>
              <a:rPr lang="en-US" altLang="zh-TW" sz="2800" b="1" smtClean="0"/>
              <a:t>count--</a:t>
            </a:r>
            <a:r>
              <a:rPr lang="en-US" altLang="zh-TW" sz="2800" smtClean="0">
                <a:latin typeface="Helvetica" pitchFamily="34" charset="0"/>
              </a:rPr>
              <a:t>”</a:t>
            </a:r>
            <a:r>
              <a:rPr lang="en-US" altLang="zh-TW" sz="2800" smtClean="0"/>
              <a:t> may be implemented as:</a:t>
            </a:r>
            <a:br>
              <a:rPr lang="en-US" altLang="zh-TW" sz="2800" smtClean="0"/>
            </a:br>
            <a:r>
              <a:rPr lang="en-US" altLang="zh-TW" sz="2800" b="1" smtClean="0"/>
              <a:t>register2 = counter</a:t>
            </a:r>
            <a:br>
              <a:rPr lang="en-US" altLang="zh-TW" sz="2800" b="1" smtClean="0"/>
            </a:br>
            <a:r>
              <a:rPr lang="en-US" altLang="zh-TW" sz="2800" b="1" smtClean="0"/>
              <a:t>register2 = register2 </a:t>
            </a:r>
            <a:r>
              <a:rPr lang="en-US" altLang="zh-TW" sz="2800" b="1" smtClean="0">
                <a:latin typeface="Helvetica" pitchFamily="34" charset="0"/>
              </a:rPr>
              <a:t>–</a:t>
            </a:r>
            <a:r>
              <a:rPr lang="en-US" altLang="zh-TW" sz="2800" b="1" smtClean="0"/>
              <a:t> 1</a:t>
            </a:r>
            <a:br>
              <a:rPr lang="en-US" altLang="zh-TW" sz="2800" b="1" smtClean="0"/>
            </a:br>
            <a:r>
              <a:rPr lang="en-US" altLang="zh-TW" sz="2800" b="1" smtClean="0"/>
              <a:t>counter   = register2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1DF054-483D-4733-AF3B-1E0FAF736E3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AF9BA3F-0168-43F3-A930-AF1155D8018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8350"/>
          </a:xfrm>
        </p:spPr>
        <p:txBody>
          <a:bodyPr/>
          <a:lstStyle/>
          <a:p>
            <a:pPr eaLnBrk="1" hangingPunct="1"/>
            <a:r>
              <a:rPr lang="en-US" altLang="zh-TW" smtClean="0"/>
              <a:t>Bounded Buffer (6)</a:t>
            </a:r>
          </a:p>
        </p:txBody>
      </p:sp>
      <p:sp>
        <p:nvSpPr>
          <p:cNvPr id="122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79450" y="1220788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If both the producer and consumer attempt to update the buffer concurrently, </a:t>
            </a:r>
            <a:r>
              <a:rPr lang="en-US" altLang="zh-TW" smtClean="0">
                <a:solidFill>
                  <a:srgbClr val="FF0000"/>
                </a:solidFill>
              </a:rPr>
              <a:t>the assembly language statements may get interleaved</a:t>
            </a:r>
            <a:r>
              <a:rPr lang="en-US" altLang="zh-TW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TW" smtClean="0"/>
          </a:p>
          <a:p>
            <a:pPr eaLnBrk="1" hangingPunct="1">
              <a:lnSpc>
                <a:spcPct val="90000"/>
              </a:lnSpc>
            </a:pPr>
            <a:r>
              <a:rPr lang="en-US" altLang="zh-TW" smtClean="0"/>
              <a:t>Interleaving depends upon how the producer and consumer processes are </a:t>
            </a:r>
            <a:r>
              <a:rPr lang="en-US" altLang="zh-TW" sz="3600" b="1" smtClean="0">
                <a:solidFill>
                  <a:srgbClr val="0000FF"/>
                </a:solidFill>
              </a:rPr>
              <a:t>scheduled</a:t>
            </a:r>
            <a:r>
              <a:rPr lang="en-US" altLang="zh-TW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BB1A0D-E008-40F2-A9D7-C0782E703B8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E570EA-FBAD-448C-B7FA-28AA5B31736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smtClean="0"/>
          </a:p>
        </p:txBody>
      </p:sp>
      <p:sp>
        <p:nvSpPr>
          <p:cNvPr id="1331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69913" y="230188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 smtClean="0"/>
              <a:t>Race Condition</a:t>
            </a:r>
          </a:p>
        </p:txBody>
      </p:sp>
      <p:sp>
        <p:nvSpPr>
          <p:cNvPr id="11673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0350" y="860425"/>
            <a:ext cx="8593138" cy="5235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Assume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800" dirty="0" smtClean="0"/>
              <a:t> is initially </a:t>
            </a:r>
            <a:r>
              <a:rPr lang="en-US" altLang="zh-TW" sz="2800" dirty="0" smtClean="0">
                <a:solidFill>
                  <a:srgbClr val="000000"/>
                </a:solidFill>
              </a:rPr>
              <a:t>5</a:t>
            </a:r>
            <a:r>
              <a:rPr lang="en-US" altLang="zh-TW" sz="2800" dirty="0" smtClean="0"/>
              <a:t>. One interleaving of statements (</a:t>
            </a:r>
            <a:r>
              <a:rPr lang="en-US" altLang="zh-TW" sz="2800" dirty="0" smtClean="0">
                <a:solidFill>
                  <a:srgbClr val="009900"/>
                </a:solidFill>
              </a:rPr>
              <a:t>race condition</a:t>
            </a:r>
            <a:r>
              <a:rPr lang="en-US" altLang="zh-TW" sz="2800" dirty="0" smtClean="0"/>
              <a:t>) is: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b="1" dirty="0" smtClean="0">
                <a:solidFill>
                  <a:srgbClr val="0000FF"/>
                </a:solidFill>
              </a:rPr>
              <a:t>	producer</a:t>
            </a:r>
            <a:r>
              <a:rPr lang="en-US" altLang="zh-TW" sz="2600" dirty="0" smtClean="0"/>
              <a:t>: </a:t>
            </a:r>
            <a:r>
              <a:rPr lang="en-US" altLang="zh-TW" sz="2600" b="1" dirty="0" smtClean="0"/>
              <a:t>register1 =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800" dirty="0" smtClean="0"/>
              <a:t> </a:t>
            </a:r>
            <a:r>
              <a:rPr lang="en-US" altLang="zh-TW" sz="2600" dirty="0" smtClean="0"/>
              <a:t>(</a:t>
            </a:r>
            <a:r>
              <a:rPr lang="en-US" altLang="zh-TW" sz="2600" dirty="0" smtClean="0">
                <a:solidFill>
                  <a:srgbClr val="0000FF"/>
                </a:solidFill>
              </a:rPr>
              <a:t>register1</a:t>
            </a:r>
            <a:r>
              <a:rPr lang="en-US" altLang="zh-TW" sz="2600" i="1" dirty="0" smtClean="0"/>
              <a:t> </a:t>
            </a:r>
            <a:r>
              <a:rPr lang="en-US" altLang="zh-TW" sz="2600" dirty="0" smtClean="0"/>
              <a:t>= 5)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b="1" dirty="0" smtClean="0">
                <a:solidFill>
                  <a:srgbClr val="0000FF"/>
                </a:solidFill>
              </a:rPr>
              <a:t>	producer</a:t>
            </a:r>
            <a:r>
              <a:rPr lang="en-US" altLang="zh-TW" sz="2600" dirty="0" smtClean="0"/>
              <a:t>: </a:t>
            </a:r>
            <a:r>
              <a:rPr lang="en-US" altLang="zh-TW" sz="2600" b="1" dirty="0" smtClean="0"/>
              <a:t>register1 = register1 + 1</a:t>
            </a:r>
            <a:r>
              <a:rPr lang="en-US" altLang="zh-TW" sz="2600" dirty="0" smtClean="0"/>
              <a:t> (</a:t>
            </a:r>
            <a:r>
              <a:rPr lang="en-US" altLang="zh-TW" sz="2600" dirty="0" smtClean="0">
                <a:solidFill>
                  <a:srgbClr val="0000FF"/>
                </a:solidFill>
              </a:rPr>
              <a:t>register1</a:t>
            </a:r>
            <a:r>
              <a:rPr lang="en-US" altLang="zh-TW" sz="2600" i="1" dirty="0" smtClean="0"/>
              <a:t> </a:t>
            </a:r>
            <a:r>
              <a:rPr lang="en-US" altLang="zh-TW" sz="2600" dirty="0" smtClean="0"/>
              <a:t>= 6)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dirty="0" smtClean="0"/>
              <a:t>	consumer: </a:t>
            </a:r>
            <a:r>
              <a:rPr lang="en-US" altLang="zh-TW" sz="2600" b="1" dirty="0" smtClean="0"/>
              <a:t>register2 =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800" dirty="0" smtClean="0"/>
              <a:t> </a:t>
            </a:r>
            <a:r>
              <a:rPr lang="en-US" altLang="zh-TW" sz="2600" dirty="0" smtClean="0"/>
              <a:t>(register2</a:t>
            </a:r>
            <a:r>
              <a:rPr lang="en-US" altLang="zh-TW" sz="2600" i="1" dirty="0" smtClean="0"/>
              <a:t> </a:t>
            </a:r>
            <a:r>
              <a:rPr lang="en-US" altLang="zh-TW" sz="2600" dirty="0" smtClean="0"/>
              <a:t>= 5)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dirty="0" smtClean="0"/>
              <a:t>	consumer: </a:t>
            </a:r>
            <a:r>
              <a:rPr lang="en-US" altLang="zh-TW" sz="2600" b="1" dirty="0" smtClean="0"/>
              <a:t>register2 = register2 </a:t>
            </a:r>
            <a:r>
              <a:rPr lang="en-US" altLang="zh-TW" sz="2600" b="1" dirty="0" smtClean="0">
                <a:latin typeface="Helvetica"/>
              </a:rPr>
              <a:t>–</a:t>
            </a:r>
            <a:r>
              <a:rPr lang="en-US" altLang="zh-TW" sz="2600" b="1" dirty="0" smtClean="0"/>
              <a:t> 1</a:t>
            </a:r>
            <a:r>
              <a:rPr lang="en-US" altLang="zh-TW" sz="2600" dirty="0" smtClean="0"/>
              <a:t> (register2</a:t>
            </a:r>
            <a:r>
              <a:rPr lang="en-US" altLang="zh-TW" sz="2600" i="1" dirty="0" smtClean="0"/>
              <a:t> </a:t>
            </a:r>
            <a:r>
              <a:rPr lang="en-US" altLang="zh-TW" sz="2600" dirty="0" smtClean="0"/>
              <a:t>= 4)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b="1" dirty="0" smtClean="0"/>
              <a:t>	</a:t>
            </a:r>
            <a:r>
              <a:rPr lang="en-US" altLang="zh-TW" sz="2600" b="1" dirty="0" smtClean="0">
                <a:solidFill>
                  <a:srgbClr val="0000FF"/>
                </a:solidFill>
              </a:rPr>
              <a:t>producer</a:t>
            </a:r>
            <a:r>
              <a:rPr lang="en-US" altLang="zh-TW" sz="2600" dirty="0" smtClean="0"/>
              <a:t>: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600" i="1" dirty="0" smtClean="0"/>
              <a:t> </a:t>
            </a:r>
            <a:r>
              <a:rPr lang="en-US" altLang="zh-TW" sz="2600" b="1" dirty="0" smtClean="0"/>
              <a:t>= register1</a:t>
            </a:r>
            <a:r>
              <a:rPr lang="en-US" altLang="zh-TW" sz="2600" dirty="0" smtClean="0"/>
              <a:t> (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600" i="1" dirty="0" smtClean="0"/>
              <a:t> </a:t>
            </a:r>
            <a:r>
              <a:rPr lang="en-US" altLang="zh-TW" sz="2600" dirty="0" smtClean="0"/>
              <a:t>= 6)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600" dirty="0" smtClean="0"/>
              <a:t>	consumer: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600" i="1" dirty="0" smtClean="0"/>
              <a:t> </a:t>
            </a:r>
            <a:r>
              <a:rPr lang="en-US" altLang="zh-TW" sz="2600" b="1" dirty="0" smtClean="0"/>
              <a:t>= register2</a:t>
            </a:r>
            <a:r>
              <a:rPr lang="en-US" altLang="zh-TW" sz="2600" dirty="0" smtClean="0"/>
              <a:t> (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600" i="1" dirty="0" smtClean="0"/>
              <a:t> </a:t>
            </a:r>
            <a:r>
              <a:rPr lang="en-US" altLang="zh-TW" sz="2600" dirty="0" smtClean="0"/>
              <a:t>= 4)</a:t>
            </a:r>
            <a:br>
              <a:rPr lang="en-US" altLang="zh-TW" sz="2600" dirty="0" smtClean="0"/>
            </a:br>
            <a:endParaRPr lang="en-US" altLang="zh-TW" sz="26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The value of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counter</a:t>
            </a:r>
            <a:r>
              <a:rPr lang="en-US" altLang="zh-TW" sz="2800" dirty="0" smtClean="0"/>
              <a:t> may be either </a:t>
            </a:r>
            <a:r>
              <a:rPr lang="en-US" altLang="zh-TW" sz="2800" dirty="0" smtClean="0">
                <a:solidFill>
                  <a:srgbClr val="0000FF"/>
                </a:solidFill>
              </a:rPr>
              <a:t>4</a:t>
            </a:r>
            <a:r>
              <a:rPr lang="en-US" altLang="zh-TW" sz="2800" dirty="0" smtClean="0"/>
              <a:t> or </a:t>
            </a:r>
            <a:r>
              <a:rPr lang="en-US" altLang="zh-TW" sz="2800" dirty="0" smtClean="0">
                <a:solidFill>
                  <a:srgbClr val="0000FF"/>
                </a:solidFill>
              </a:rPr>
              <a:t>6</a:t>
            </a:r>
            <a:r>
              <a:rPr lang="en-US" altLang="zh-TW" sz="2800" dirty="0" smtClean="0"/>
              <a:t>, where the correct result should be 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019A8F-61D0-404B-BEBD-899FD49988D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055CD09-C471-4E11-9403-3765F6F1466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501650" y="323850"/>
            <a:ext cx="7772400" cy="90805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Race Condition</a:t>
            </a:r>
          </a:p>
        </p:txBody>
      </p:sp>
      <p:sp>
        <p:nvSpPr>
          <p:cNvPr id="1187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87375" y="1217613"/>
            <a:ext cx="8051800" cy="4618037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solidFill>
                  <a:srgbClr val="0000FF"/>
                </a:solidFill>
              </a:rPr>
              <a:t>Race condition</a:t>
            </a:r>
            <a:r>
              <a:rPr lang="en-US" altLang="zh-TW" smtClean="0"/>
              <a:t>: The situation where several processes access and manipulate shared data concurrently. </a:t>
            </a:r>
            <a:r>
              <a:rPr lang="en-US" altLang="zh-TW" smtClean="0">
                <a:solidFill>
                  <a:srgbClr val="0000FF"/>
                </a:solidFill>
              </a:rPr>
              <a:t>The final value of the shared data depends upon </a:t>
            </a:r>
            <a:r>
              <a:rPr lang="en-US" altLang="zh-TW" u="sng" smtClean="0">
                <a:solidFill>
                  <a:srgbClr val="0000FF"/>
                </a:solidFill>
              </a:rPr>
              <a:t>which process finishes last</a:t>
            </a:r>
            <a:r>
              <a:rPr lang="en-US" altLang="zh-TW" smtClean="0">
                <a:solidFill>
                  <a:srgbClr val="0000FF"/>
                </a:solidFill>
              </a:rPr>
              <a:t>.</a:t>
            </a:r>
          </a:p>
          <a:p>
            <a:pPr eaLnBrk="1" hangingPunct="1"/>
            <a:endParaRPr lang="en-US" altLang="zh-TW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To prevent race conditions, concurrent processes must be </a:t>
            </a:r>
            <a:r>
              <a:rPr lang="en-US" altLang="zh-TW" b="1" smtClean="0">
                <a:solidFill>
                  <a:srgbClr val="FF0000"/>
                </a:solidFill>
              </a:rPr>
              <a:t>synchronized</a:t>
            </a:r>
            <a:r>
              <a:rPr lang="en-US" altLang="zh-TW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934F79-3BFE-4F31-8E8F-5F5112449D6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6AA50C3-B8BA-44ED-B1C7-447D7A03E70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6125"/>
          </a:xfrm>
        </p:spPr>
        <p:txBody>
          <a:bodyPr/>
          <a:lstStyle/>
          <a:p>
            <a:pPr eaLnBrk="1" hangingPunct="1"/>
            <a:r>
              <a:rPr lang="en-US" altLang="zh-TW" smtClean="0"/>
              <a:t>The Critical-Section Problem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88963" y="1098550"/>
            <a:ext cx="7926387" cy="4730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i="1" dirty="0" smtClean="0">
                <a:latin typeface="Times New Roman" pitchFamily="18" charset="0"/>
              </a:rPr>
              <a:t>n</a:t>
            </a:r>
            <a:r>
              <a:rPr lang="en-US" altLang="zh-TW" dirty="0" smtClean="0"/>
              <a:t> processes all competing to use some </a:t>
            </a:r>
            <a:r>
              <a:rPr lang="en-US" altLang="zh-TW" b="1" dirty="0" smtClean="0">
                <a:solidFill>
                  <a:srgbClr val="FF0000"/>
                </a:solidFill>
              </a:rPr>
              <a:t>shared data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 smtClean="0"/>
              <a:t>Each process has a </a:t>
            </a:r>
            <a:r>
              <a:rPr lang="en-US" altLang="zh-TW" dirty="0" smtClean="0">
                <a:solidFill>
                  <a:srgbClr val="FF0000"/>
                </a:solidFill>
              </a:rPr>
              <a:t>code segment</a:t>
            </a:r>
            <a:r>
              <a:rPr lang="en-US" altLang="zh-TW" dirty="0" smtClean="0"/>
              <a:t>, called </a:t>
            </a:r>
            <a:r>
              <a:rPr lang="en-US" altLang="zh-TW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 section</a:t>
            </a:r>
            <a:r>
              <a:rPr lang="en-US" altLang="zh-TW" dirty="0" smtClean="0"/>
              <a:t>, in which the shared data is accessed.</a:t>
            </a:r>
            <a:endParaRPr lang="en-US" altLang="zh-TW" b="1" dirty="0" smtClean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b="1" dirty="0" smtClean="0"/>
              <a:t>Problem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/>
              </a:rPr>
              <a:t>–</a:t>
            </a:r>
            <a:r>
              <a:rPr lang="en-US" altLang="zh-TW" dirty="0" smtClean="0"/>
              <a:t> ensure that when one process is executing in its critical section, </a:t>
            </a:r>
            <a:r>
              <a:rPr lang="en-US" altLang="zh-TW" dirty="0" smtClean="0">
                <a:solidFill>
                  <a:srgbClr val="FF0000"/>
                </a:solidFill>
              </a:rPr>
              <a:t>no other process is allowed to execute in its critical section</a:t>
            </a:r>
            <a:r>
              <a:rPr lang="en-US" altLang="zh-TW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BE7A42C-704A-4109-A671-6D1D212A741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39EDD5-2123-4F25-91C1-BA0A6A9901B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smtClean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87338"/>
            <a:ext cx="8181975" cy="815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 to Critical-Section Problem (1)</a:t>
            </a:r>
          </a:p>
        </p:txBody>
      </p:sp>
      <p:sp>
        <p:nvSpPr>
          <p:cNvPr id="35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9913" y="1244600"/>
            <a:ext cx="8261350" cy="532765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2400" smtClean="0"/>
              <a:t>1.</a:t>
            </a:r>
            <a:r>
              <a:rPr lang="zh-TW" altLang="en-US" sz="2400" b="1" smtClean="0">
                <a:solidFill>
                  <a:srgbClr val="FF0000"/>
                </a:solidFill>
              </a:rPr>
              <a:t>	</a:t>
            </a:r>
            <a:r>
              <a:rPr lang="en-US" altLang="zh-TW" sz="2800" b="1" smtClean="0">
                <a:solidFill>
                  <a:srgbClr val="FF0000"/>
                </a:solidFill>
              </a:rPr>
              <a:t>Mutual Exclusion</a:t>
            </a:r>
            <a:r>
              <a:rPr lang="en-US" altLang="zh-TW" sz="2800" smtClean="0">
                <a:solidFill>
                  <a:srgbClr val="FF0000"/>
                </a:solidFill>
              </a:rPr>
              <a:t>.</a:t>
            </a:r>
            <a:r>
              <a:rPr lang="en-US" altLang="zh-TW" sz="2800" smtClean="0"/>
              <a:t>  If 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</a:t>
            </a:r>
            <a:r>
              <a:rPr lang="en-US" altLang="zh-TW" sz="2800" smtClean="0"/>
              <a:t>is executing in its </a:t>
            </a:r>
            <a:r>
              <a:rPr lang="en-US" altLang="zh-TW" sz="2800" smtClean="0">
                <a:solidFill>
                  <a:srgbClr val="0000FF"/>
                </a:solidFill>
              </a:rPr>
              <a:t>critical section</a:t>
            </a:r>
            <a:r>
              <a:rPr lang="en-US" altLang="zh-TW" sz="2800" smtClean="0"/>
              <a:t>, then no other processes can be executing in their critical sections.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AutoNum type="arabicPeriod" startAt="2"/>
            </a:pPr>
            <a:r>
              <a:rPr lang="en-US" altLang="zh-TW" sz="2800" b="1" smtClean="0">
                <a:solidFill>
                  <a:srgbClr val="FF0000"/>
                </a:solidFill>
              </a:rPr>
              <a:t>Progress</a:t>
            </a:r>
            <a:r>
              <a:rPr lang="en-US" altLang="zh-TW" sz="2800" smtClean="0"/>
              <a:t>.  If </a:t>
            </a:r>
            <a:r>
              <a:rPr lang="en-US" altLang="zh-TW" sz="2800" smtClean="0">
                <a:solidFill>
                  <a:srgbClr val="FF0000"/>
                </a:solidFill>
              </a:rPr>
              <a:t>no process is executing in its CS</a:t>
            </a:r>
            <a:r>
              <a:rPr lang="en-US" altLang="zh-TW" sz="2800" smtClean="0"/>
              <a:t> and there exist </a:t>
            </a:r>
            <a:r>
              <a:rPr lang="en-US" altLang="zh-TW" sz="2800" smtClean="0">
                <a:solidFill>
                  <a:srgbClr val="FF0000"/>
                </a:solidFill>
              </a:rPr>
              <a:t>some processes that wish to enter their CS</a:t>
            </a:r>
            <a:r>
              <a:rPr lang="en-US" altLang="zh-TW" sz="2800" smtClean="0"/>
              <a:t>, then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mtClean="0"/>
              <a:t>(1) only those </a:t>
            </a:r>
            <a:r>
              <a:rPr lang="en-US" altLang="zh-TW" smtClean="0">
                <a:solidFill>
                  <a:srgbClr val="FF0000"/>
                </a:solidFill>
              </a:rPr>
              <a:t>not in RS</a:t>
            </a:r>
            <a:r>
              <a:rPr lang="en-US" altLang="zh-TW" smtClean="0"/>
              <a:t> can participate the decision of </a:t>
            </a:r>
            <a:r>
              <a:rPr lang="en-US" altLang="zh-TW" smtClean="0">
                <a:latin typeface="Times New Roman" pitchFamily="18" charset="0"/>
              </a:rPr>
              <a:t>“</a:t>
            </a:r>
            <a:r>
              <a:rPr lang="en-US" altLang="zh-TW" smtClean="0"/>
              <a:t>the next</a:t>
            </a:r>
            <a:r>
              <a:rPr lang="en-US" altLang="zh-TW" smtClean="0">
                <a:latin typeface="Times New Roman" pitchFamily="18" charset="0"/>
              </a:rPr>
              <a:t>”</a:t>
            </a:r>
            <a:r>
              <a:rPr lang="en-US" altLang="zh-TW" smtClean="0"/>
              <a:t>, and 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mtClean="0"/>
              <a:t>(2) this selection </a:t>
            </a:r>
            <a:r>
              <a:rPr lang="en-US" altLang="zh-TW" smtClean="0">
                <a:solidFill>
                  <a:srgbClr val="FF0000"/>
                </a:solidFill>
              </a:rPr>
              <a:t>cannot be postponed indefinitely</a:t>
            </a:r>
            <a:r>
              <a:rPr lang="en-US" altLang="zh-TW" smtClean="0"/>
              <a:t>.</a:t>
            </a: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966541-DA11-41BD-BB1D-FB715967965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E5A726A-BFC9-4362-872E-B5D950D4411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smtClean="0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87338"/>
            <a:ext cx="8181975" cy="6572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 to Critical-Section Problem (2)</a:t>
            </a:r>
          </a:p>
        </p:txBody>
      </p:sp>
      <p:sp>
        <p:nvSpPr>
          <p:cNvPr id="283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9913" y="1238250"/>
            <a:ext cx="8261350" cy="5087938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400" smtClean="0"/>
              <a:t>3.</a:t>
            </a:r>
            <a:r>
              <a:rPr lang="en-US" altLang="zh-TW" sz="2400" smtClean="0">
                <a:solidFill>
                  <a:srgbClr val="FF0000"/>
                </a:solidFill>
              </a:rPr>
              <a:t>	</a:t>
            </a:r>
            <a:r>
              <a:rPr lang="en-US" altLang="zh-TW" sz="2800" b="1" smtClean="0">
                <a:solidFill>
                  <a:srgbClr val="FF0000"/>
                </a:solidFill>
              </a:rPr>
              <a:t>Bounded Waiting</a:t>
            </a:r>
            <a:r>
              <a:rPr lang="en-US" altLang="zh-TW" sz="2800" smtClean="0"/>
              <a:t>.  A bound must exist on </a:t>
            </a:r>
            <a:r>
              <a:rPr lang="en-US" altLang="zh-TW" sz="2800" smtClean="0">
                <a:solidFill>
                  <a:srgbClr val="FF0000"/>
                </a:solidFill>
              </a:rPr>
              <a:t>the number of times that other processes are allowed to enter their CSs</a:t>
            </a:r>
            <a:r>
              <a:rPr lang="en-US" altLang="zh-TW" sz="2800" smtClean="0"/>
              <a:t> after a process has made a request to enter its CS and before that request is granted.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  <a:buSzPct val="125000"/>
              <a:buFont typeface="Wingdings 2" pitchFamily="18" charset="2"/>
              <a:buChar char=""/>
            </a:pPr>
            <a:r>
              <a:rPr lang="en-US" altLang="zh-TW" sz="2800" smtClean="0">
                <a:solidFill>
                  <a:srgbClr val="FF0000"/>
                </a:solidFill>
              </a:rPr>
              <a:t>Assume that each process executes at a nonzero speed</a:t>
            </a:r>
            <a:r>
              <a:rPr lang="en-US" altLang="zh-TW" sz="2800" smtClean="0"/>
              <a:t>. 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  <a:buSzPct val="125000"/>
              <a:buFont typeface="Wingdings 2" pitchFamily="18" charset="2"/>
              <a:buChar char=""/>
            </a:pPr>
            <a:r>
              <a:rPr lang="en-US" altLang="zh-TW" sz="2800" smtClean="0">
                <a:solidFill>
                  <a:srgbClr val="FF0000"/>
                </a:solidFill>
              </a:rPr>
              <a:t>No assumption concerning relative speed of the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TW" sz="2800" smtClean="0">
                <a:solidFill>
                  <a:srgbClr val="FF0000"/>
                </a:solidFill>
              </a:rPr>
              <a:t> processes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FA14AC-FC08-4E38-BA0C-4E7FF9A9389A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84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F2F80A-66BA-439B-B410-794DC9E4C56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41313"/>
            <a:ext cx="7772400" cy="658812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Initial Attempts to Solve Problem</a:t>
            </a:r>
          </a:p>
        </p:txBody>
      </p:sp>
      <p:sp>
        <p:nvSpPr>
          <p:cNvPr id="49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3863" y="1085850"/>
            <a:ext cx="8351837" cy="47863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Only </a:t>
            </a:r>
            <a:r>
              <a:rPr lang="en-US" altLang="zh-TW" sz="2800" b="1" smtClean="0">
                <a:solidFill>
                  <a:srgbClr val="FF0000"/>
                </a:solidFill>
              </a:rPr>
              <a:t>2  processes</a:t>
            </a:r>
            <a:r>
              <a:rPr lang="en-US" altLang="zh-TW" sz="2800" smtClean="0"/>
              <a:t>,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/>
              <a:t>0</a:t>
            </a:r>
            <a:r>
              <a:rPr lang="en-US" altLang="zh-TW" sz="2800" smtClean="0"/>
              <a:t> and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/>
              <a:t>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General structure of 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 </a:t>
            </a:r>
            <a:r>
              <a:rPr lang="en-US" altLang="zh-TW" sz="2800" smtClean="0"/>
              <a:t>(other 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smtClean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		</a:t>
            </a:r>
            <a:r>
              <a:rPr lang="en-US" altLang="zh-TW" sz="2800" b="1" smtClean="0"/>
              <a:t>do</a:t>
            </a:r>
            <a:r>
              <a:rPr lang="en-US" altLang="zh-TW" sz="2800" smtClean="0"/>
              <a:t> {</a:t>
            </a:r>
            <a:endParaRPr lang="en-US" altLang="zh-TW" sz="2800" b="1" smtClean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			</a:t>
            </a:r>
            <a:r>
              <a:rPr lang="en-US" altLang="zh-TW" sz="2800" smtClean="0">
                <a:solidFill>
                  <a:srgbClr val="FF0000"/>
                </a:solidFill>
              </a:rPr>
              <a:t>entry</a:t>
            </a:r>
            <a:r>
              <a:rPr lang="en-US" altLang="zh-TW" sz="2800" smtClean="0"/>
              <a:t>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				</a:t>
            </a:r>
            <a:r>
              <a:rPr lang="en-US" altLang="zh-TW" sz="2800" smtClean="0">
                <a:solidFill>
                  <a:srgbClr val="0000FF"/>
                </a:solidFill>
              </a:rPr>
              <a:t>critical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			</a:t>
            </a:r>
            <a:r>
              <a:rPr lang="en-US" altLang="zh-TW" sz="2800" smtClean="0">
                <a:solidFill>
                  <a:srgbClr val="FF0000"/>
                </a:solidFill>
              </a:rPr>
              <a:t>exit</a:t>
            </a:r>
            <a:r>
              <a:rPr lang="en-US" altLang="zh-TW" sz="2800" smtClean="0"/>
              <a:t>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				remainder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286000" algn="l"/>
                <a:tab pos="2630488" algn="l"/>
                <a:tab pos="2911475" algn="l"/>
              </a:tabLst>
            </a:pPr>
            <a:r>
              <a:rPr lang="en-US" altLang="zh-TW" sz="2800" smtClean="0"/>
              <a:t>		} </a:t>
            </a:r>
            <a:r>
              <a:rPr lang="en-US" altLang="zh-TW" sz="2800" b="1" smtClean="0"/>
              <a:t>while (1)</a:t>
            </a:r>
            <a:r>
              <a:rPr lang="en-US" altLang="zh-TW" sz="2800" smtClean="0"/>
              <a:t>;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3068638" y="2889250"/>
            <a:ext cx="2178050" cy="47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3054350" y="4148138"/>
            <a:ext cx="213995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nimBg="1"/>
      <p:bldP spid="491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DDA1BE-54F0-450B-8513-7980B5E989B7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633D10-1972-4080-B494-D4E9B3E14A4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 smtClean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188913"/>
            <a:ext cx="7772400" cy="601662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Algorithm 1</a:t>
            </a:r>
          </a:p>
        </p:txBody>
      </p:sp>
      <p:sp>
        <p:nvSpPr>
          <p:cNvPr id="50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739775"/>
            <a:ext cx="8226425" cy="5819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800" smtClean="0"/>
              <a:t>Shared variables </a:t>
            </a:r>
          </a:p>
          <a:p>
            <a:pPr lvl="1" eaLnBrk="1" hangingPunct="1">
              <a:lnSpc>
                <a:spcPct val="90000"/>
              </a:lnSpc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000" b="1" smtClean="0"/>
              <a:t>int </a:t>
            </a:r>
            <a:r>
              <a:rPr lang="en-US" altLang="zh-TW" sz="2000" b="1" smtClean="0">
                <a:solidFill>
                  <a:srgbClr val="FF0000"/>
                </a:solidFill>
              </a:rPr>
              <a:t>turn</a:t>
            </a:r>
            <a:r>
              <a:rPr lang="en-US" altLang="zh-TW" sz="2000" smtClean="0"/>
              <a:t>;</a:t>
            </a:r>
            <a:br>
              <a:rPr lang="en-US" altLang="zh-TW" sz="2000" smtClean="0"/>
            </a:br>
            <a:r>
              <a:rPr lang="en-US" altLang="zh-TW" sz="2000" smtClean="0"/>
              <a:t>initially </a:t>
            </a:r>
            <a:r>
              <a:rPr lang="en-US" altLang="zh-TW" sz="2000" b="1" smtClean="0"/>
              <a:t>turn = 0</a:t>
            </a:r>
          </a:p>
          <a:p>
            <a:pPr lvl="1" eaLnBrk="1" hangingPunct="1">
              <a:lnSpc>
                <a:spcPct val="90000"/>
              </a:lnSpc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000" b="1" smtClean="0">
                <a:solidFill>
                  <a:srgbClr val="FF0000"/>
                </a:solidFill>
              </a:rPr>
              <a:t>turn = </a:t>
            </a:r>
            <a:r>
              <a:rPr lang="en-US" altLang="zh-TW" sz="2000" b="1" i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000" smtClean="0">
                <a:solidFill>
                  <a:srgbClr val="FF0000"/>
                </a:solidFill>
              </a:rPr>
              <a:t> </a:t>
            </a:r>
            <a:r>
              <a:rPr lang="en-US" altLang="zh-TW" sz="2000" smtClean="0">
                <a:solidFill>
                  <a:srgbClr val="FF0000"/>
                </a:solidFill>
                <a:sym typeface="Symbol" pitchFamily="18" charset="2"/>
              </a:rPr>
              <a:t>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sz="2000" i="1" baseline="-250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000" smtClean="0">
                <a:solidFill>
                  <a:srgbClr val="FF0000"/>
                </a:solidFill>
                <a:sym typeface="Symbol" pitchFamily="18" charset="2"/>
              </a:rPr>
              <a:t>can enter its critical section</a:t>
            </a:r>
            <a:endParaRPr lang="en-US" altLang="zh-TW" sz="2400" smtClean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800" smtClean="0"/>
              <a:t>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 </a:t>
            </a:r>
            <a:endParaRPr lang="en-US" altLang="zh-TW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800" smtClean="0"/>
              <a:t>	</a:t>
            </a:r>
            <a:r>
              <a:rPr lang="en-US" altLang="zh-TW" sz="2400" smtClean="0"/>
              <a:t>	</a:t>
            </a:r>
            <a:r>
              <a:rPr lang="en-US" altLang="zh-TW" sz="2400" b="1" smtClean="0"/>
              <a:t>do</a:t>
            </a:r>
            <a:r>
              <a:rPr lang="en-US" altLang="zh-TW" sz="2400" smtClean="0"/>
              <a:t>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/>
              <a:t>			</a:t>
            </a:r>
            <a:r>
              <a:rPr lang="en-US" altLang="zh-TW" sz="2400" b="1" smtClean="0"/>
              <a:t>while (turn !=</a:t>
            </a:r>
            <a:r>
              <a:rPr lang="en-US" altLang="zh-TW" sz="2400" b="1" smtClean="0">
                <a:sym typeface="Symbol" pitchFamily="18" charset="2"/>
              </a:rPr>
              <a:t> </a:t>
            </a:r>
            <a:r>
              <a:rPr lang="en-US" altLang="zh-TW" sz="2800" b="1" i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smtClean="0">
                <a:sym typeface="Symbol" pitchFamily="18" charset="2"/>
              </a:rPr>
              <a:t>) </a:t>
            </a:r>
            <a:r>
              <a:rPr lang="en-US" altLang="zh-TW" sz="2400" smtClean="0"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>
                <a:sym typeface="Symbol" pitchFamily="18" charset="2"/>
              </a:rPr>
              <a:t>				critical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>
                <a:sym typeface="Symbol" pitchFamily="18" charset="2"/>
              </a:rPr>
              <a:t>			</a:t>
            </a: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turn = </a:t>
            </a:r>
            <a:r>
              <a:rPr lang="en-US" altLang="zh-TW" sz="2400" b="1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sz="2400" smtClean="0"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>
                <a:sym typeface="Symbol" pitchFamily="18" charset="2"/>
              </a:rPr>
              <a:t>				reminder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>
                <a:sym typeface="Symbol" pitchFamily="18" charset="2"/>
              </a:rPr>
              <a:t>		} </a:t>
            </a:r>
            <a:r>
              <a:rPr lang="en-US" altLang="zh-TW" sz="2400" b="1" smtClean="0">
                <a:sym typeface="Symbol" pitchFamily="18" charset="2"/>
              </a:rPr>
              <a:t>while (1)</a:t>
            </a:r>
            <a:r>
              <a:rPr lang="en-US" altLang="zh-TW" sz="2400" smtClean="0"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/>
              <a:t>Satisfies mutual exclusion, </a:t>
            </a:r>
            <a:r>
              <a:rPr lang="en-US" altLang="zh-TW" sz="2400" smtClean="0">
                <a:solidFill>
                  <a:srgbClr val="FF0000"/>
                </a:solidFill>
              </a:rPr>
              <a:t>but not progress</a:t>
            </a:r>
            <a:endParaRPr lang="en-US" altLang="zh-TW" sz="2400" smtClean="0">
              <a:solidFill>
                <a:srgbClr val="000000"/>
              </a:solidFill>
              <a:sym typeface="Webdings" pitchFamily="18" charset="2"/>
            </a:endParaRPr>
          </a:p>
          <a:p>
            <a:pPr eaLnBrk="1" hangingPunct="1">
              <a:lnSpc>
                <a:spcPct val="90000"/>
              </a:lnSpc>
              <a:tabLst>
                <a:tab pos="2005013" algn="l"/>
                <a:tab pos="2339975" algn="l"/>
                <a:tab pos="2630488" algn="l"/>
              </a:tabLst>
            </a:pPr>
            <a:r>
              <a:rPr lang="en-US" altLang="zh-TW" sz="2400" smtClean="0"/>
              <a:t>Executing sequence: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i="1" smtClean="0">
                <a:latin typeface="Times New Roman" pitchFamily="18" charset="0"/>
              </a:rPr>
              <a:t>, P</a:t>
            </a:r>
            <a:r>
              <a:rPr lang="en-US" altLang="zh-TW" sz="2400" i="1" baseline="-25000" smtClean="0">
                <a:latin typeface="Times New Roman" pitchFamily="18" charset="0"/>
              </a:rPr>
              <a:t>j</a:t>
            </a:r>
            <a:r>
              <a:rPr lang="en-US" altLang="zh-TW" sz="2400" smtClean="0"/>
              <a:t>,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i="1" smtClean="0">
                <a:latin typeface="Times New Roman" pitchFamily="18" charset="0"/>
              </a:rPr>
              <a:t>, P</a:t>
            </a:r>
            <a:r>
              <a:rPr lang="en-US" altLang="zh-TW" sz="2400" i="1" baseline="-25000" smtClean="0">
                <a:latin typeface="Times New Roman" pitchFamily="18" charset="0"/>
              </a:rPr>
              <a:t>j,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i="1" smtClean="0">
                <a:latin typeface="Times New Roman" pitchFamily="18" charset="0"/>
              </a:rPr>
              <a:t>, P</a:t>
            </a:r>
            <a:r>
              <a:rPr lang="en-US" altLang="zh-TW" sz="2400" i="1" baseline="-25000" smtClean="0">
                <a:latin typeface="Times New Roman" pitchFamily="18" charset="0"/>
              </a:rPr>
              <a:t>j</a:t>
            </a:r>
            <a:r>
              <a:rPr lang="en-US" altLang="zh-TW" sz="2400" i="1" smtClean="0">
                <a:latin typeface="Times New Roman" pitchFamily="18" charset="0"/>
              </a:rPr>
              <a:t>, …</a:t>
            </a:r>
            <a:endParaRPr lang="en-US" altLang="zh-TW" sz="2800" i="1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3D9007-8AE0-4EAC-868D-5B3F6997B3F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0AB9BF-BDB4-4EBE-95F6-2E5A586708F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 smtClean="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261938"/>
            <a:ext cx="7772400" cy="582612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Algorithm 2 (1)</a:t>
            </a:r>
          </a:p>
        </p:txBody>
      </p:sp>
      <p:sp>
        <p:nvSpPr>
          <p:cNvPr id="512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7363" y="866775"/>
            <a:ext cx="8259762" cy="5514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400" smtClean="0"/>
              <a:t>Shared variables</a:t>
            </a:r>
          </a:p>
          <a:p>
            <a:pPr lvl="1"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/>
              <a:t>boolean </a:t>
            </a:r>
            <a:r>
              <a:rPr lang="en-US" altLang="zh-TW" sz="2000" b="1" smtClean="0">
                <a:solidFill>
                  <a:srgbClr val="FF0000"/>
                </a:solidFill>
              </a:rPr>
              <a:t>flag</a:t>
            </a:r>
            <a:r>
              <a:rPr lang="en-US" altLang="zh-TW" sz="2000" b="1" smtClean="0"/>
              <a:t>[2]</a:t>
            </a:r>
            <a:r>
              <a:rPr lang="en-US" altLang="zh-TW" sz="2000" smtClean="0"/>
              <a:t>;</a:t>
            </a:r>
            <a:br>
              <a:rPr lang="en-US" altLang="zh-TW" sz="2000" smtClean="0"/>
            </a:br>
            <a:r>
              <a:rPr lang="en-US" altLang="zh-TW" sz="2000" smtClean="0"/>
              <a:t>initially </a:t>
            </a:r>
            <a:r>
              <a:rPr lang="en-US" altLang="zh-TW" sz="2000" b="1" smtClean="0"/>
              <a:t>flag [0] = flag [1] = false.</a:t>
            </a:r>
          </a:p>
          <a:p>
            <a:pPr lvl="1"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>
                <a:solidFill>
                  <a:srgbClr val="FF0000"/>
                </a:solidFill>
              </a:rPr>
              <a:t>flag [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000" b="1" smtClean="0">
                <a:solidFill>
                  <a:srgbClr val="FF0000"/>
                </a:solidFill>
              </a:rPr>
              <a:t>] = true</a:t>
            </a:r>
            <a:r>
              <a:rPr lang="en-US" altLang="zh-TW" sz="2000" smtClean="0">
                <a:solidFill>
                  <a:srgbClr val="FF0000"/>
                </a:solidFill>
              </a:rPr>
              <a:t> </a:t>
            </a:r>
            <a:r>
              <a:rPr lang="en-US" altLang="zh-TW" sz="2000" smtClean="0">
                <a:solidFill>
                  <a:srgbClr val="FF0000"/>
                </a:solidFill>
                <a:sym typeface="Symbol" pitchFamily="18" charset="2"/>
              </a:rPr>
              <a:t>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sz="2000" i="1" baseline="-250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000" smtClean="0">
                <a:solidFill>
                  <a:srgbClr val="FF0000"/>
                </a:solidFill>
                <a:sym typeface="Symbol" pitchFamily="18" charset="2"/>
              </a:rPr>
              <a:t>ready to enter its critical section</a:t>
            </a:r>
          </a:p>
          <a:p>
            <a:pPr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400" smtClean="0"/>
              <a:t>Process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endParaRPr lang="en-US" altLang="zh-TW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400" smtClean="0"/>
              <a:t>	</a:t>
            </a:r>
            <a:r>
              <a:rPr lang="en-US" altLang="zh-TW" sz="2000" smtClean="0"/>
              <a:t>	</a:t>
            </a:r>
            <a:r>
              <a:rPr lang="en-US" altLang="zh-TW" sz="2000" b="1" smtClean="0"/>
              <a:t>do {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/>
              <a:t>			flag[</a:t>
            </a:r>
            <a:r>
              <a:rPr lang="en-US" altLang="zh-TW" sz="2000" b="1" i="1" smtClean="0">
                <a:latin typeface="Times New Roman" pitchFamily="18" charset="0"/>
              </a:rPr>
              <a:t>i</a:t>
            </a:r>
            <a:r>
              <a:rPr lang="en-US" altLang="zh-TW" sz="2000" b="1" smtClean="0"/>
              <a:t>] := true;</a:t>
            </a:r>
            <a:br>
              <a:rPr lang="en-US" altLang="zh-TW" sz="2000" b="1" smtClean="0"/>
            </a:br>
            <a:r>
              <a:rPr lang="en-US" altLang="zh-TW" sz="2000" b="1" smtClean="0"/>
              <a:t>		</a:t>
            </a:r>
            <a:r>
              <a:rPr lang="en-US" altLang="zh-TW" sz="2000" b="1" smtClean="0">
                <a:solidFill>
                  <a:srgbClr val="FF0000"/>
                </a:solidFill>
              </a:rPr>
              <a:t>while (flag[</a:t>
            </a:r>
            <a:r>
              <a:rPr lang="en-US" altLang="zh-TW" sz="2000" b="1" i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000" b="1" smtClean="0">
                <a:solidFill>
                  <a:srgbClr val="FF0000"/>
                </a:solidFill>
              </a:rPr>
              <a:t>]) 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/>
              <a:t>				</a:t>
            </a:r>
            <a:r>
              <a:rPr lang="en-US" altLang="zh-TW" sz="2400" smtClean="0">
                <a:solidFill>
                  <a:srgbClr val="0000FF"/>
                </a:solidFill>
              </a:rPr>
              <a:t>critical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/>
              <a:t>			flag [</a:t>
            </a:r>
            <a:r>
              <a:rPr lang="en-US" altLang="zh-TW" sz="2000" b="1" i="1" smtClean="0">
                <a:latin typeface="Times New Roman" pitchFamily="18" charset="0"/>
              </a:rPr>
              <a:t>i</a:t>
            </a:r>
            <a:r>
              <a:rPr lang="en-US" altLang="zh-TW" sz="2000" b="1" smtClean="0"/>
              <a:t>] = false;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/>
              <a:t>				</a:t>
            </a:r>
            <a:r>
              <a:rPr lang="en-US" altLang="zh-TW" sz="2000" smtClean="0"/>
              <a:t>remainder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000" b="1" smtClean="0"/>
              <a:t>		} while (1);</a:t>
            </a:r>
            <a:endParaRPr lang="en-US" altLang="zh-TW" sz="2400" b="1" smtClean="0"/>
          </a:p>
          <a:p>
            <a:pPr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400" smtClean="0"/>
              <a:t>Satisfies mutual exclusion, but not progress requirement.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58ACE4-F171-4AF7-8A57-3A0519E6CC1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189DDD-A1CD-402E-A82A-CAB3D97B102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 smtClean="0"/>
          </a:p>
        </p:txBody>
      </p:sp>
      <p:sp>
        <p:nvSpPr>
          <p:cNvPr id="215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98475" y="261938"/>
            <a:ext cx="7772400" cy="582612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Algorithm 2 (2)</a:t>
            </a:r>
          </a:p>
        </p:txBody>
      </p:sp>
      <p:sp>
        <p:nvSpPr>
          <p:cNvPr id="13209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036638"/>
            <a:ext cx="8259763" cy="40211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mtClean="0"/>
              <a:t>May loop infinitely</a:t>
            </a:r>
          </a:p>
          <a:p>
            <a:pPr eaLnBrk="1" hangingPunct="1">
              <a:lnSpc>
                <a:spcPct val="90000"/>
              </a:lnSpc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mtClean="0"/>
              <a:t>If changes the order to be	</a:t>
            </a:r>
          </a:p>
          <a:p>
            <a:pPr eaLnBrk="1" hangingPunct="1">
              <a:lnSpc>
                <a:spcPct val="90000"/>
              </a:lnSpc>
              <a:spcBef>
                <a:spcPct val="9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800" b="1" smtClean="0"/>
              <a:t>			while (flag[</a:t>
            </a:r>
            <a:r>
              <a:rPr lang="en-US" altLang="zh-TW" sz="2800" b="1" i="1" smtClean="0">
                <a:latin typeface="Times New Roman" pitchFamily="18" charset="0"/>
              </a:rPr>
              <a:t>j</a:t>
            </a:r>
            <a:r>
              <a:rPr lang="en-US" altLang="zh-TW" sz="2800" b="1" smtClean="0"/>
              <a:t>]) ;	</a:t>
            </a:r>
          </a:p>
          <a:p>
            <a:pPr eaLnBrk="1" hangingPunct="1">
              <a:lnSpc>
                <a:spcPct val="90000"/>
              </a:lnSpc>
              <a:spcBef>
                <a:spcPct val="90000"/>
              </a:spcBef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800" b="1" smtClean="0"/>
              <a:t>			flag[</a:t>
            </a:r>
            <a:r>
              <a:rPr lang="en-US" altLang="zh-TW" sz="2800" b="1" i="1" smtClean="0">
                <a:latin typeface="Times New Roman" pitchFamily="18" charset="0"/>
              </a:rPr>
              <a:t>i</a:t>
            </a:r>
            <a:r>
              <a:rPr lang="en-US" altLang="zh-TW" sz="2800" b="1" smtClean="0"/>
              <a:t>] := true;</a:t>
            </a:r>
            <a:br>
              <a:rPr lang="en-US" altLang="zh-TW" sz="2800" b="1" smtClean="0"/>
            </a:br>
            <a:endParaRPr lang="en-US" altLang="zh-TW" sz="28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403475" algn="l"/>
                <a:tab pos="2684463" algn="l"/>
                <a:tab pos="2974975" algn="l"/>
              </a:tabLst>
            </a:pPr>
            <a:r>
              <a:rPr lang="en-US" altLang="zh-TW" sz="2800" smtClean="0"/>
              <a:t>	</a:t>
            </a:r>
            <a:r>
              <a:rPr lang="en-US" altLang="zh-TW" sz="2800" smtClean="0">
                <a:solidFill>
                  <a:srgbClr val="FF0000"/>
                </a:solidFill>
              </a:rPr>
              <a:t>then the condition of mutual exclusion will not hold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D58183-CDD3-4816-8D51-CAE19ABA4B2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B48DD4-CED9-4D14-918B-E6728F484FF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 smtClean="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250825"/>
            <a:ext cx="7850188" cy="657225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rgbClr val="7030A0"/>
                </a:solidFill>
              </a:rPr>
              <a:t>Algorithm 3: A correct solution</a:t>
            </a:r>
          </a:p>
        </p:txBody>
      </p:sp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806450"/>
            <a:ext cx="8712200" cy="57737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Combined shared variables of algorithms 1 and 2.</a:t>
            </a: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400" dirty="0" smtClean="0"/>
              <a:t>Process </a:t>
            </a:r>
            <a:r>
              <a:rPr lang="en-US" altLang="zh-TW" sz="2400" i="1" dirty="0" smtClean="0">
                <a:latin typeface="Times New Roman" pitchFamily="18" charset="0"/>
              </a:rPr>
              <a:t>P</a:t>
            </a:r>
            <a:r>
              <a:rPr lang="en-US" altLang="zh-TW" sz="2400" i="1" baseline="-25000" dirty="0" smtClean="0">
                <a:latin typeface="Times New Roman" pitchFamily="18" charset="0"/>
              </a:rPr>
              <a:t>i</a:t>
            </a:r>
            <a:r>
              <a:rPr lang="en-US" altLang="zh-TW" sz="2000" i="1" baseline="-25000" dirty="0" smtClean="0">
                <a:latin typeface="Times New Roman" pitchFamily="18" charset="0"/>
              </a:rPr>
              <a:t> </a:t>
            </a:r>
            <a:endParaRPr lang="en-US" altLang="zh-TW" sz="2000" i="1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400" dirty="0" smtClean="0"/>
              <a:t>	</a:t>
            </a:r>
            <a:r>
              <a:rPr lang="en-US" altLang="zh-TW" sz="2000" dirty="0" smtClean="0"/>
              <a:t>	</a:t>
            </a:r>
            <a:r>
              <a:rPr lang="en-US" altLang="zh-TW" sz="2000" b="1" dirty="0" smtClean="0"/>
              <a:t>do</a:t>
            </a:r>
            <a:r>
              <a:rPr lang="en-US" altLang="zh-TW" sz="2000" dirty="0" smtClean="0"/>
              <a:t> { /* </a:t>
            </a:r>
            <a:r>
              <a:rPr lang="en-US" altLang="zh-TW" sz="2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Peterson</a:t>
            </a:r>
            <a:r>
              <a:rPr lang="en-US" altLang="zh-TW" sz="2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/>
              </a:rPr>
              <a:t>’</a:t>
            </a:r>
            <a:r>
              <a:rPr lang="en-US" altLang="zh-TW" sz="2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 solution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			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flag [</a:t>
            </a:r>
            <a:r>
              <a:rPr lang="en-US" altLang="zh-TW" sz="2000" b="1" i="1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]:= true</a:t>
            </a:r>
            <a:r>
              <a:rPr lang="en-US" altLang="zh-TW" sz="2000" b="1" dirty="0" smtClean="0"/>
              <a:t>;</a:t>
            </a:r>
            <a:br>
              <a:rPr lang="en-US" altLang="zh-TW" sz="2000" b="1" dirty="0" smtClean="0"/>
            </a:br>
            <a:r>
              <a:rPr lang="en-US" altLang="zh-TW" sz="2000" b="1" dirty="0" smtClean="0"/>
              <a:t>		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turn = </a:t>
            </a:r>
            <a:r>
              <a:rPr lang="en-US" altLang="zh-TW" sz="2000" b="1" i="1" dirty="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000" b="1" dirty="0" smtClean="0"/>
              <a:t>;</a:t>
            </a:r>
            <a:br>
              <a:rPr lang="en-US" altLang="zh-TW" sz="2000" b="1" dirty="0" smtClean="0"/>
            </a:br>
            <a:r>
              <a:rPr lang="en-US" altLang="zh-TW" sz="2000" b="1" dirty="0" smtClean="0"/>
              <a:t>		while (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flag [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Times New Roman" pitchFamily="18" charset="0"/>
              </a:rPr>
              <a:t>j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] and turn = 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Times New Roman" pitchFamily="18" charset="0"/>
              </a:rPr>
              <a:t>j</a:t>
            </a:r>
            <a:r>
              <a:rPr lang="en-US" altLang="zh-TW" sz="2000" b="1" dirty="0" smtClean="0"/>
              <a:t>) 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				</a:t>
            </a:r>
            <a:r>
              <a:rPr lang="en-US" altLang="zh-TW" sz="2000" dirty="0" smtClean="0">
                <a:solidFill>
                  <a:srgbClr val="0000FF"/>
                </a:solidFill>
              </a:rPr>
              <a:t>critical section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			</a:t>
            </a:r>
            <a:r>
              <a:rPr lang="en-US" altLang="zh-TW" sz="2000" b="1" dirty="0" smtClean="0"/>
              <a:t>flag [</a:t>
            </a:r>
            <a:r>
              <a:rPr lang="en-US" altLang="zh-TW" sz="2000" b="1" i="1" dirty="0" smtClean="0">
                <a:latin typeface="Times New Roman" pitchFamily="18" charset="0"/>
              </a:rPr>
              <a:t>i</a:t>
            </a:r>
            <a:r>
              <a:rPr lang="en-US" altLang="zh-TW" sz="2000" b="1" dirty="0" smtClean="0"/>
              <a:t>] = false;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				remainder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		} </a:t>
            </a:r>
            <a:r>
              <a:rPr lang="en-US" altLang="zh-TW" sz="2000" b="1" dirty="0" smtClean="0"/>
              <a:t>while (1);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>
                <a:solidFill>
                  <a:srgbClr val="FF0000"/>
                </a:solidFill>
                <a:latin typeface="Helvetica"/>
              </a:rPr>
              <a:t>“</a:t>
            </a:r>
            <a:r>
              <a:rPr lang="en-US" altLang="zh-TW" sz="2000" dirty="0" smtClean="0">
                <a:solidFill>
                  <a:srgbClr val="FF0000"/>
                </a:solidFill>
              </a:rPr>
              <a:t>turn</a:t>
            </a:r>
            <a:r>
              <a:rPr lang="en-US" altLang="zh-TW" sz="2000" dirty="0" smtClean="0">
                <a:solidFill>
                  <a:srgbClr val="FF0000"/>
                </a:solidFill>
                <a:latin typeface="Helvetica"/>
              </a:rPr>
              <a:t>”</a:t>
            </a:r>
            <a:r>
              <a:rPr lang="en-US" altLang="zh-TW" sz="2000" dirty="0" smtClean="0">
                <a:solidFill>
                  <a:srgbClr val="FF0000"/>
                </a:solidFill>
              </a:rPr>
              <a:t> will be set for both 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</a:rPr>
              <a:t>and 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000" dirty="0" smtClean="0">
                <a:solidFill>
                  <a:srgbClr val="FF0000"/>
                </a:solidFill>
              </a:rPr>
              <a:t>  simultaneously, but only one (turn = 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000" dirty="0" smtClean="0">
                <a:solidFill>
                  <a:srgbClr val="FF0000"/>
                </a:solidFill>
              </a:rPr>
              <a:t>) or (turn = 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000" dirty="0" smtClean="0">
                <a:solidFill>
                  <a:srgbClr val="FF0000"/>
                </a:solidFill>
              </a:rPr>
              <a:t>) will last</a:t>
            </a:r>
            <a:r>
              <a:rPr lang="en-US" altLang="zh-TW" sz="20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tabLst>
                <a:tab pos="1370013" algn="l"/>
                <a:tab pos="1714500" algn="l"/>
                <a:tab pos="2005013" algn="l"/>
              </a:tabLst>
              <a:defRPr/>
            </a:pPr>
            <a:r>
              <a:rPr lang="en-US" altLang="zh-TW" sz="2000" dirty="0" smtClean="0"/>
              <a:t>Meets all three requirements; solves the critical-section problem for two processes.</a:t>
            </a: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305607-587B-44E9-992F-44732BB253EA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D86910-7525-4B99-B8FE-D870B6875F6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 smtClean="0"/>
          </a:p>
        </p:txBody>
      </p:sp>
      <p:sp>
        <p:nvSpPr>
          <p:cNvPr id="2355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52450" y="323850"/>
            <a:ext cx="7850188" cy="65722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Algorithm 3 (2)</a:t>
            </a:r>
          </a:p>
        </p:txBody>
      </p:sp>
      <p:sp>
        <p:nvSpPr>
          <p:cNvPr id="133123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958850"/>
            <a:ext cx="8712200" cy="53387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mutual exclusion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400" smtClean="0"/>
              <a:t>At the moment that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/>
              <a:t>enters its CS </a:t>
            </a:r>
            <a:r>
              <a:rPr lang="en-US" altLang="zh-TW" sz="2400" smtClean="0">
                <a:sym typeface="Symbol" pitchFamily="18" charset="2"/>
              </a:rPr>
              <a:t>	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400" smtClean="0">
                <a:sym typeface="Symbol" pitchFamily="18" charset="2"/>
              </a:rPr>
              <a:t>	 	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flag[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] = true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400" smtClean="0">
                <a:latin typeface="Times New Roman" pitchFamily="18" charset="0"/>
              </a:rPr>
              <a:t>		either 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flag[</a:t>
            </a:r>
            <a:r>
              <a:rPr lang="en-US" altLang="zh-TW" sz="2400" i="1" smtClean="0">
                <a:solidFill>
                  <a:srgbClr val="0000FF"/>
                </a:solidFill>
                <a:latin typeface="Times New Roman" pitchFamily="18" charset="0"/>
              </a:rPr>
              <a:t>j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] = false</a:t>
            </a:r>
            <a:r>
              <a:rPr lang="en-US" altLang="zh-TW" sz="2400" smtClean="0">
                <a:latin typeface="Times New Roman" pitchFamily="18" charset="0"/>
              </a:rPr>
              <a:t>, or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flag[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] = true and turn =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400" smtClean="0"/>
              <a:t>If 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flag[</a:t>
            </a:r>
            <a:r>
              <a:rPr lang="en-US" altLang="zh-TW" sz="2400" i="1" smtClean="0">
                <a:solidFill>
                  <a:srgbClr val="0000FF"/>
                </a:solidFill>
                <a:latin typeface="Times New Roman" pitchFamily="18" charset="0"/>
              </a:rPr>
              <a:t>j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] = </a:t>
            </a:r>
            <a:r>
              <a:rPr lang="en-US" altLang="zh-TW" sz="2400" i="1" smtClean="0">
                <a:solidFill>
                  <a:srgbClr val="0000FF"/>
                </a:solidFill>
                <a:latin typeface="Times New Roman" pitchFamily="18" charset="0"/>
              </a:rPr>
              <a:t>false</a:t>
            </a:r>
            <a:r>
              <a:rPr lang="en-US" altLang="zh-TW" sz="2400" smtClean="0"/>
              <a:t>,  (later if</a:t>
            </a:r>
            <a:r>
              <a:rPr lang="en-US" altLang="zh-TW" sz="2400" i="1" smtClean="0"/>
              <a:t>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j</a:t>
            </a:r>
            <a:r>
              <a:rPr lang="en-US" altLang="zh-TW" sz="2400" baseline="-25000" smtClean="0">
                <a:latin typeface="Times New Roman" pitchFamily="18" charset="0"/>
              </a:rPr>
              <a:t> </a:t>
            </a:r>
            <a:r>
              <a:rPr lang="en-US" altLang="zh-TW" sz="2400" smtClean="0"/>
              <a:t>waits to enter)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000" i="1" smtClean="0"/>
              <a:t>	</a:t>
            </a:r>
            <a:r>
              <a:rPr lang="en-US" altLang="zh-TW" sz="2000" smtClean="0"/>
              <a:t>(</a:t>
            </a:r>
            <a:r>
              <a:rPr lang="en-US" altLang="zh-TW" sz="2000" smtClean="0">
                <a:latin typeface="Times New Roman" pitchFamily="18" charset="0"/>
              </a:rPr>
              <a:t>flag[</a:t>
            </a:r>
            <a:r>
              <a:rPr lang="en-US" altLang="zh-TW" sz="2000" i="1" smtClean="0">
                <a:latin typeface="Times New Roman" pitchFamily="18" charset="0"/>
              </a:rPr>
              <a:t>i</a:t>
            </a:r>
            <a:r>
              <a:rPr lang="en-US" altLang="zh-TW" sz="2000" smtClean="0">
                <a:latin typeface="Times New Roman" pitchFamily="18" charset="0"/>
              </a:rPr>
              <a:t>] = true &amp; turn = </a:t>
            </a:r>
            <a:r>
              <a:rPr lang="en-US" altLang="zh-TW" sz="2000" i="1" smtClean="0">
                <a:latin typeface="Times New Roman" pitchFamily="18" charset="0"/>
              </a:rPr>
              <a:t>i</a:t>
            </a:r>
            <a:r>
              <a:rPr lang="en-US" altLang="zh-TW" sz="2000" smtClean="0"/>
              <a:t>) prevents </a:t>
            </a:r>
            <a:r>
              <a:rPr lang="en-US" altLang="zh-TW" sz="2000" i="1" smtClean="0">
                <a:latin typeface="Times New Roman" pitchFamily="18" charset="0"/>
              </a:rPr>
              <a:t>P</a:t>
            </a:r>
            <a:r>
              <a:rPr lang="en-US" altLang="zh-TW" sz="2000" i="1" baseline="-25000" smtClean="0">
                <a:latin typeface="Times New Roman" pitchFamily="18" charset="0"/>
              </a:rPr>
              <a:t>j</a:t>
            </a:r>
            <a:r>
              <a:rPr lang="en-US" altLang="zh-TW" sz="2000" smtClean="0">
                <a:latin typeface="Times New Roman" pitchFamily="18" charset="0"/>
              </a:rPr>
              <a:t> </a:t>
            </a:r>
            <a:r>
              <a:rPr lang="en-US" altLang="zh-TW" sz="2000" smtClean="0"/>
              <a:t>from entering its CS until </a:t>
            </a:r>
            <a:r>
              <a:rPr lang="en-US" altLang="zh-TW" sz="2000" i="1" smtClean="0">
                <a:latin typeface="Times New Roman" pitchFamily="18" charset="0"/>
              </a:rPr>
              <a:t>P</a:t>
            </a:r>
            <a:r>
              <a:rPr lang="en-US" altLang="zh-TW" sz="2000" i="1" baseline="-25000" smtClean="0">
                <a:latin typeface="Times New Roman" pitchFamily="18" charset="0"/>
              </a:rPr>
              <a:t>i</a:t>
            </a:r>
            <a:r>
              <a:rPr lang="en-US" altLang="zh-TW" sz="2000" smtClean="0">
                <a:latin typeface="Times New Roman" pitchFamily="18" charset="0"/>
              </a:rPr>
              <a:t> </a:t>
            </a:r>
            <a:r>
              <a:rPr lang="en-US" altLang="zh-TW" sz="2000" smtClean="0"/>
              <a:t>exits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400" smtClean="0"/>
              <a:t>If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flag[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] =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true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 and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turn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=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smtClean="0"/>
              <a:t>, the same 		</a:t>
            </a:r>
          </a:p>
          <a:p>
            <a:pPr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800" smtClean="0">
                <a:solidFill>
                  <a:srgbClr val="FF0000"/>
                </a:solidFill>
              </a:rPr>
              <a:t>progress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400" smtClean="0"/>
              <a:t>suppose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i="1" smtClean="0">
                <a:latin typeface="Times New Roman" pitchFamily="18" charset="0"/>
              </a:rPr>
              <a:t> </a:t>
            </a:r>
            <a:r>
              <a:rPr lang="en-US" altLang="zh-TW" sz="2400" smtClean="0"/>
              <a:t>wishes to enter CS</a:t>
            </a:r>
          </a:p>
          <a:p>
            <a:pPr lvl="2"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000" smtClean="0"/>
              <a:t> if 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flag[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j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] = false</a:t>
            </a:r>
            <a:r>
              <a:rPr lang="en-US" altLang="zh-TW" sz="2000" smtClean="0">
                <a:latin typeface="Times New Roman" pitchFamily="18" charset="0"/>
              </a:rPr>
              <a:t>, </a:t>
            </a:r>
            <a:r>
              <a:rPr lang="en-US" altLang="zh-TW" sz="2000" i="1" smtClean="0">
                <a:latin typeface="Times New Roman" pitchFamily="18" charset="0"/>
              </a:rPr>
              <a:t>P</a:t>
            </a:r>
            <a:r>
              <a:rPr lang="en-US" altLang="zh-TW" sz="2000" i="1" baseline="-25000" smtClean="0">
                <a:latin typeface="Times New Roman" pitchFamily="18" charset="0"/>
              </a:rPr>
              <a:t>i</a:t>
            </a:r>
            <a:r>
              <a:rPr lang="en-US" altLang="zh-TW" sz="2000" smtClean="0"/>
              <a:t> can enter</a:t>
            </a:r>
          </a:p>
          <a:p>
            <a:pPr lvl="2"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000" smtClean="0"/>
              <a:t> otherwise,</a:t>
            </a:r>
            <a:r>
              <a:rPr lang="en-US" altLang="zh-TW" sz="2000" i="1" smtClean="0"/>
              <a:t> </a:t>
            </a:r>
            <a:r>
              <a:rPr lang="en-US" altLang="zh-TW" sz="2000" smtClean="0">
                <a:solidFill>
                  <a:srgbClr val="FF0000"/>
                </a:solidFill>
              </a:rPr>
              <a:t>turn</a:t>
            </a:r>
            <a:r>
              <a:rPr lang="en-US" altLang="zh-TW" sz="2000" smtClean="0"/>
              <a:t> allows </a:t>
            </a:r>
            <a:r>
              <a:rPr lang="en-US" altLang="zh-TW" sz="2000" smtClean="0">
                <a:solidFill>
                  <a:srgbClr val="FF0000"/>
                </a:solidFill>
              </a:rPr>
              <a:t>either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000" i="1" baseline="-2500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</a:rPr>
              <a:t> or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000" i="1" baseline="-2500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000" smtClean="0">
                <a:solidFill>
                  <a:srgbClr val="FF0000"/>
                </a:solidFill>
              </a:rPr>
              <a:t> to enter</a:t>
            </a:r>
          </a:p>
          <a:p>
            <a:pPr eaLnBrk="1" hangingPunct="1">
              <a:lnSpc>
                <a:spcPct val="90000"/>
              </a:lnSpc>
              <a:tabLst>
                <a:tab pos="1370013" algn="l"/>
                <a:tab pos="1714500" algn="l"/>
                <a:tab pos="2005013" algn="l"/>
              </a:tabLst>
            </a:pPr>
            <a:r>
              <a:rPr lang="en-US" altLang="zh-TW" sz="2800" smtClean="0">
                <a:solidFill>
                  <a:schemeClr val="tx2"/>
                </a:solidFill>
              </a:rPr>
              <a:t>bounded waiting</a:t>
            </a:r>
            <a:r>
              <a:rPr lang="en-US" altLang="zh-TW" sz="2800" smtClean="0"/>
              <a:t>: at most one entry of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smtClean="0">
                <a:latin typeface="Times New Roman" pitchFamily="18" charset="0"/>
              </a:rPr>
              <a:t> </a:t>
            </a:r>
            <a:endParaRPr lang="en-US" altLang="zh-TW" sz="29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3ECCD73-256D-45DF-8E23-10E8F16715A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B6609E-E8F3-4113-8B29-B4FAF1207FC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 smtClean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23850"/>
            <a:ext cx="8126413" cy="1123950"/>
          </a:xfrm>
        </p:spPr>
        <p:txBody>
          <a:bodyPr/>
          <a:lstStyle/>
          <a:p>
            <a:pPr eaLnBrk="1" hangingPunct="1"/>
            <a:r>
              <a:rPr lang="en-US" altLang="zh-TW" smtClean="0"/>
              <a:t>Bakery Algorithm </a:t>
            </a:r>
            <a:br>
              <a:rPr lang="en-US" altLang="zh-TW" smtClean="0"/>
            </a:br>
            <a:r>
              <a:rPr kumimoji="0" lang="en-US" altLang="zh-TW" sz="3200" b="1" smtClean="0">
                <a:solidFill>
                  <a:srgbClr val="FF0000"/>
                </a:solidFill>
                <a:latin typeface="Helvetica" pitchFamily="34" charset="0"/>
              </a:rPr>
              <a:t>Critical section for </a:t>
            </a:r>
            <a:r>
              <a:rPr kumimoji="0" lang="en-US" altLang="zh-TW" sz="3200" b="1" i="1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kumimoji="0" lang="en-US" altLang="zh-TW" sz="3200" b="1" i="1" smtClean="0">
                <a:solidFill>
                  <a:srgbClr val="FF0000"/>
                </a:solidFill>
                <a:latin typeface="Helvetica" pitchFamily="34" charset="0"/>
              </a:rPr>
              <a:t> </a:t>
            </a:r>
            <a:r>
              <a:rPr kumimoji="0" lang="en-US" altLang="zh-TW" sz="3200" b="1" smtClean="0">
                <a:solidFill>
                  <a:srgbClr val="FF0000"/>
                </a:solidFill>
                <a:latin typeface="Helvetica" pitchFamily="34" charset="0"/>
              </a:rPr>
              <a:t>processes</a:t>
            </a:r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5463" y="1497013"/>
            <a:ext cx="8167687" cy="48053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Before entering its critical section, </a:t>
            </a:r>
            <a:r>
              <a:rPr lang="en-US" altLang="zh-TW" sz="2800" dirty="0" smtClean="0">
                <a:solidFill>
                  <a:srgbClr val="FF0000"/>
                </a:solidFill>
              </a:rPr>
              <a:t>process receives a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number</a:t>
            </a:r>
            <a:r>
              <a:rPr lang="en-US" altLang="zh-TW" sz="2800" dirty="0" smtClean="0"/>
              <a:t>. Holder of </a:t>
            </a:r>
            <a:r>
              <a:rPr lang="en-US" altLang="zh-TW" sz="2800" u="sng" dirty="0" smtClean="0"/>
              <a:t>the smallest number</a:t>
            </a:r>
            <a:r>
              <a:rPr lang="en-US" altLang="zh-TW" sz="2800" dirty="0" smtClean="0"/>
              <a:t> enters the critical section.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If processes </a:t>
            </a:r>
            <a:r>
              <a:rPr lang="en-US" altLang="zh-TW" sz="2800" i="1" dirty="0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8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dirty="0" smtClean="0">
                <a:solidFill>
                  <a:srgbClr val="FF0000"/>
                </a:solidFill>
              </a:rPr>
              <a:t> and </a:t>
            </a:r>
            <a:r>
              <a:rPr lang="en-US" altLang="zh-TW" sz="2800" i="1" dirty="0" err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800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800" dirty="0" smtClean="0">
                <a:solidFill>
                  <a:srgbClr val="FF0000"/>
                </a:solidFill>
              </a:rPr>
              <a:t> receive the </a:t>
            </a:r>
            <a:r>
              <a:rPr lang="en-US" altLang="zh-TW" sz="2800" u="sng" dirty="0" smtClean="0">
                <a:solidFill>
                  <a:srgbClr val="FF0000"/>
                </a:solidFill>
              </a:rPr>
              <a:t>same number</a:t>
            </a:r>
            <a:r>
              <a:rPr lang="en-US" altLang="zh-TW" sz="2800" dirty="0" smtClean="0">
                <a:solidFill>
                  <a:srgbClr val="FF0000"/>
                </a:solidFill>
              </a:rPr>
              <a:t>, if </a:t>
            </a:r>
            <a:r>
              <a:rPr lang="en-US" altLang="zh-TW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lang="en-US" altLang="zh-TW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&lt; </a:t>
            </a:r>
            <a:r>
              <a:rPr lang="en-US" altLang="zh-TW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j</a:t>
            </a:r>
            <a:r>
              <a:rPr lang="en-US" altLang="zh-TW" sz="2800" dirty="0" smtClean="0">
                <a:solidFill>
                  <a:srgbClr val="FF0000"/>
                </a:solidFill>
              </a:rPr>
              <a:t>, then </a:t>
            </a:r>
            <a:r>
              <a:rPr lang="en-US" altLang="zh-TW" sz="2800" i="1" dirty="0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8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dirty="0" smtClean="0">
                <a:solidFill>
                  <a:srgbClr val="FF0000"/>
                </a:solidFill>
              </a:rPr>
              <a:t> is served first; else </a:t>
            </a:r>
            <a:r>
              <a:rPr lang="en-US" altLang="zh-TW" sz="2800" i="1" dirty="0" err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800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800" dirty="0" smtClean="0">
                <a:solidFill>
                  <a:srgbClr val="FF0000"/>
                </a:solidFill>
              </a:rPr>
              <a:t> is served first</a:t>
            </a:r>
            <a:r>
              <a:rPr lang="en-US" altLang="zh-TW" sz="28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The numbering scheme always generates numbers in increasing order of enumeration; i.e., 1,2,</a:t>
            </a:r>
            <a:r>
              <a:rPr lang="en-US" altLang="zh-TW" sz="2800" dirty="0" smtClean="0">
                <a:solidFill>
                  <a:srgbClr val="0000FF"/>
                </a:solidFill>
              </a:rPr>
              <a:t>3,3,3,3</a:t>
            </a:r>
            <a:r>
              <a:rPr lang="en-US" altLang="zh-TW" sz="2800" dirty="0" smtClean="0"/>
              <a:t>,4,5...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830027-91E7-4334-BDAB-63BE31C2ADA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C6CAE3-C3EE-47CC-8C4C-E320AB33876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 smtClean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417513"/>
            <a:ext cx="7772400" cy="806450"/>
          </a:xfrm>
        </p:spPr>
        <p:txBody>
          <a:bodyPr/>
          <a:lstStyle/>
          <a:p>
            <a:pPr eaLnBrk="1" hangingPunct="1"/>
            <a:r>
              <a:rPr lang="en-US" altLang="zh-TW" smtClean="0"/>
              <a:t>Bakery Algorithm (2)</a:t>
            </a:r>
          </a:p>
        </p:txBody>
      </p:sp>
      <p:sp>
        <p:nvSpPr>
          <p:cNvPr id="54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6088" y="1476375"/>
            <a:ext cx="8443912" cy="4954588"/>
          </a:xfrm>
        </p:spPr>
        <p:txBody>
          <a:bodyPr/>
          <a:lstStyle/>
          <a:p>
            <a:pPr eaLnBrk="1" hangingPunct="1">
              <a:tabLst>
                <a:tab pos="1316038" algn="l"/>
                <a:tab pos="1714500" algn="l"/>
              </a:tabLst>
            </a:pPr>
            <a:r>
              <a:rPr lang="en-US" altLang="zh-TW" sz="2800" smtClean="0"/>
              <a:t>Notation</a:t>
            </a:r>
            <a:endParaRPr lang="en-US" altLang="zh-TW" sz="2800" smtClean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  <a:p>
            <a:pPr lvl="1" eaLnBrk="1" hangingPunct="1">
              <a:tabLst>
                <a:tab pos="1316038" algn="l"/>
                <a:tab pos="1714500" algn="l"/>
              </a:tabLst>
            </a:pPr>
            <a:r>
              <a:rPr lang="en-US" altLang="zh-TW" smtClean="0">
                <a:latin typeface="Times New Roman" pitchFamily="18" charset="0"/>
                <a:sym typeface="Symbol" pitchFamily="18" charset="2"/>
              </a:rPr>
              <a:t>lexicographical order (</a:t>
            </a:r>
            <a:r>
              <a:rPr lang="en-US" altLang="zh-TW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ticket #, process id #)</a:t>
            </a:r>
          </a:p>
          <a:p>
            <a:pPr lvl="2" eaLnBrk="1" hangingPunct="1">
              <a:tabLst>
                <a:tab pos="1316038" algn="l"/>
                <a:tab pos="1714500" algn="l"/>
              </a:tabLst>
            </a:pPr>
            <a:r>
              <a:rPr lang="en-US" altLang="zh-TW" smtClean="0">
                <a:latin typeface="Times New Roman" pitchFamily="18" charset="0"/>
              </a:rPr>
              <a:t>(</a:t>
            </a:r>
            <a:r>
              <a:rPr lang="en-US" altLang="zh-TW" i="1" smtClean="0">
                <a:latin typeface="Times New Roman" pitchFamily="18" charset="0"/>
              </a:rPr>
              <a:t>a, b</a:t>
            </a:r>
            <a:r>
              <a:rPr lang="en-US" altLang="zh-TW" smtClean="0">
                <a:latin typeface="Times New Roman" pitchFamily="18" charset="0"/>
              </a:rPr>
              <a:t>) &lt; (</a:t>
            </a:r>
            <a:r>
              <a:rPr lang="en-US" altLang="zh-TW" i="1" smtClean="0">
                <a:latin typeface="Times New Roman" pitchFamily="18" charset="0"/>
              </a:rPr>
              <a:t>c, d</a:t>
            </a:r>
            <a:r>
              <a:rPr lang="en-US" altLang="zh-TW" smtClean="0">
                <a:latin typeface="Times New Roman" pitchFamily="18" charset="0"/>
              </a:rPr>
              <a:t>) if </a:t>
            </a:r>
            <a:r>
              <a:rPr lang="en-US" altLang="zh-TW" i="1" smtClean="0">
                <a:latin typeface="Times New Roman" pitchFamily="18" charset="0"/>
              </a:rPr>
              <a:t>a</a:t>
            </a:r>
            <a:r>
              <a:rPr lang="en-US" altLang="zh-TW" smtClean="0">
                <a:latin typeface="Times New Roman" pitchFamily="18" charset="0"/>
              </a:rPr>
              <a:t> &lt; </a:t>
            </a:r>
            <a:r>
              <a:rPr lang="en-US" altLang="zh-TW" i="1" smtClean="0">
                <a:latin typeface="Times New Roman" pitchFamily="18" charset="0"/>
              </a:rPr>
              <a:t>c</a:t>
            </a:r>
            <a:r>
              <a:rPr lang="en-US" altLang="zh-TW" smtClean="0">
                <a:latin typeface="Times New Roman" pitchFamily="18" charset="0"/>
              </a:rPr>
              <a:t> or if </a:t>
            </a:r>
            <a:r>
              <a:rPr lang="en-US" altLang="zh-TW" i="1" smtClean="0">
                <a:latin typeface="Times New Roman" pitchFamily="18" charset="0"/>
              </a:rPr>
              <a:t>a</a:t>
            </a:r>
            <a:r>
              <a:rPr lang="en-US" altLang="zh-TW" smtClean="0">
                <a:latin typeface="Times New Roman" pitchFamily="18" charset="0"/>
              </a:rPr>
              <a:t> = </a:t>
            </a:r>
            <a:r>
              <a:rPr lang="en-US" altLang="zh-TW" i="1" smtClean="0">
                <a:latin typeface="Times New Roman" pitchFamily="18" charset="0"/>
              </a:rPr>
              <a:t>c</a:t>
            </a:r>
            <a:r>
              <a:rPr lang="en-US" altLang="zh-TW" smtClean="0">
                <a:latin typeface="Times New Roman" pitchFamily="18" charset="0"/>
              </a:rPr>
              <a:t> and </a:t>
            </a:r>
            <a:r>
              <a:rPr lang="en-US" altLang="zh-TW" i="1" smtClean="0">
                <a:latin typeface="Times New Roman" pitchFamily="18" charset="0"/>
              </a:rPr>
              <a:t>b </a:t>
            </a:r>
            <a:r>
              <a:rPr lang="en-US" altLang="zh-TW" smtClean="0">
                <a:latin typeface="Times New Roman" pitchFamily="18" charset="0"/>
              </a:rPr>
              <a:t>&lt; </a:t>
            </a:r>
            <a:r>
              <a:rPr lang="en-US" altLang="zh-TW" i="1" smtClean="0">
                <a:latin typeface="Times New Roman" pitchFamily="18" charset="0"/>
              </a:rPr>
              <a:t>d</a:t>
            </a:r>
            <a:endParaRPr lang="en-US" altLang="zh-TW" smtClean="0">
              <a:latin typeface="Times New Roman" pitchFamily="18" charset="0"/>
            </a:endParaRPr>
          </a:p>
          <a:p>
            <a:pPr lvl="1" eaLnBrk="1" hangingPunct="1">
              <a:tabLst>
                <a:tab pos="1316038" algn="l"/>
                <a:tab pos="1714500" algn="l"/>
              </a:tabLst>
            </a:pPr>
            <a:r>
              <a:rPr lang="en-US" altLang="zh-TW" smtClean="0">
                <a:latin typeface="Times New Roman" pitchFamily="18" charset="0"/>
              </a:rPr>
              <a:t>max</a:t>
            </a:r>
            <a:r>
              <a:rPr lang="en-US" altLang="zh-TW" smtClean="0"/>
              <a:t> (</a:t>
            </a:r>
            <a:r>
              <a:rPr lang="en-US" altLang="zh-TW" sz="3600" i="1" smtClean="0">
                <a:latin typeface="Times New Roman" pitchFamily="18" charset="0"/>
              </a:rPr>
              <a:t>a</a:t>
            </a:r>
            <a:r>
              <a:rPr lang="en-US" altLang="zh-TW" sz="3600" i="1" baseline="-25000" smtClean="0">
                <a:latin typeface="Times New Roman" pitchFamily="18" charset="0"/>
              </a:rPr>
              <a:t>0</a:t>
            </a:r>
            <a:r>
              <a:rPr lang="en-US" altLang="zh-TW" sz="3600" smtClean="0">
                <a:latin typeface="Times New Roman" pitchFamily="18" charset="0"/>
              </a:rPr>
              <a:t>,…, </a:t>
            </a:r>
            <a:r>
              <a:rPr lang="en-US" altLang="zh-TW" sz="3600" i="1" smtClean="0">
                <a:latin typeface="Times New Roman" pitchFamily="18" charset="0"/>
              </a:rPr>
              <a:t>a</a:t>
            </a:r>
            <a:r>
              <a:rPr lang="en-US" altLang="zh-TW" sz="3600" i="1" baseline="-25000" smtClean="0">
                <a:latin typeface="Times New Roman" pitchFamily="18" charset="0"/>
              </a:rPr>
              <a:t>n</a:t>
            </a:r>
            <a:r>
              <a:rPr lang="en-US" altLang="zh-TW" sz="3600" baseline="-25000" smtClean="0">
                <a:latin typeface="Times New Roman" pitchFamily="18" charset="0"/>
              </a:rPr>
              <a:t>-1</a:t>
            </a:r>
            <a:r>
              <a:rPr lang="en-US" altLang="zh-TW" smtClean="0"/>
              <a:t>) </a:t>
            </a:r>
          </a:p>
          <a:p>
            <a:pPr eaLnBrk="1" hangingPunct="1">
              <a:tabLst>
                <a:tab pos="1316038" algn="l"/>
                <a:tab pos="1714500" algn="l"/>
              </a:tabLst>
            </a:pPr>
            <a:r>
              <a:rPr lang="en-US" altLang="zh-TW" sz="2800" smtClean="0"/>
              <a:t>Shared data</a:t>
            </a:r>
          </a:p>
          <a:p>
            <a:pPr eaLnBrk="1" hangingPunct="1">
              <a:buFont typeface="Wingdings" pitchFamily="2" charset="2"/>
              <a:buNone/>
              <a:tabLst>
                <a:tab pos="1316038" algn="l"/>
                <a:tab pos="1714500" algn="l"/>
              </a:tabLst>
            </a:pPr>
            <a:r>
              <a:rPr lang="en-US" altLang="zh-TW" sz="2800" smtClean="0"/>
              <a:t>		</a:t>
            </a:r>
            <a:r>
              <a:rPr lang="en-US" altLang="zh-TW" sz="2800" b="1" smtClean="0">
                <a:solidFill>
                  <a:srgbClr val="0000FF"/>
                </a:solidFill>
              </a:rPr>
              <a:t>boolean choosing[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n</a:t>
            </a:r>
            <a:r>
              <a:rPr lang="en-US" altLang="zh-TW" sz="2800" b="1" smtClean="0">
                <a:solidFill>
                  <a:srgbClr val="0000FF"/>
                </a:solidFill>
              </a:rPr>
              <a:t>]</a:t>
            </a:r>
            <a:r>
              <a:rPr lang="en-US" altLang="zh-TW" sz="2800" b="1" smtClean="0">
                <a:solidFill>
                  <a:srgbClr val="0000FF"/>
                </a:solidFill>
                <a:sym typeface="Symbol" pitchFamily="18" charset="2"/>
              </a:rPr>
              <a:t>;</a:t>
            </a:r>
          </a:p>
          <a:p>
            <a:pPr eaLnBrk="1" hangingPunct="1">
              <a:buFont typeface="Wingdings" pitchFamily="2" charset="2"/>
              <a:buNone/>
              <a:tabLst>
                <a:tab pos="1316038" algn="l"/>
                <a:tab pos="1714500" algn="l"/>
              </a:tabLst>
            </a:pPr>
            <a:r>
              <a:rPr lang="en-US" altLang="zh-TW" sz="2800" b="1" smtClean="0">
                <a:sym typeface="Symbol" pitchFamily="18" charset="2"/>
              </a:rPr>
              <a:t>		</a:t>
            </a:r>
            <a:r>
              <a:rPr lang="en-US" altLang="zh-TW" sz="2800" b="1" smtClean="0">
                <a:solidFill>
                  <a:schemeClr val="tx2"/>
                </a:solidFill>
                <a:sym typeface="Symbol" pitchFamily="18" charset="2"/>
              </a:rPr>
              <a:t>int number[</a:t>
            </a:r>
            <a:r>
              <a:rPr lang="en-US" altLang="zh-TW" sz="2800" b="1" i="1" smtClean="0">
                <a:solidFill>
                  <a:schemeClr val="tx2"/>
                </a:solidFill>
                <a:latin typeface="Times New Roman" pitchFamily="18" charset="0"/>
              </a:rPr>
              <a:t>n</a:t>
            </a:r>
            <a:r>
              <a:rPr lang="en-US" altLang="zh-TW" sz="2800" b="1" smtClean="0">
                <a:solidFill>
                  <a:schemeClr val="tx2"/>
                </a:solidFill>
                <a:sym typeface="Symbol" pitchFamily="18" charset="2"/>
              </a:rPr>
              <a:t>];</a:t>
            </a:r>
          </a:p>
          <a:p>
            <a:pPr eaLnBrk="1" hangingPunct="1">
              <a:buFont typeface="Wingdings" pitchFamily="2" charset="2"/>
              <a:buNone/>
              <a:tabLst>
                <a:tab pos="1316038" algn="l"/>
                <a:tab pos="1714500" algn="l"/>
              </a:tabLst>
            </a:pPr>
            <a:r>
              <a:rPr lang="en-US" altLang="zh-TW" sz="2800" smtClean="0">
                <a:sym typeface="Symbol" pitchFamily="18" charset="2"/>
              </a:rPr>
              <a:t>	initialized to </a:t>
            </a:r>
            <a:r>
              <a:rPr lang="en-US" altLang="zh-TW" sz="2800" b="1" smtClean="0">
                <a:solidFill>
                  <a:srgbClr val="0000FF"/>
                </a:solidFill>
                <a:sym typeface="Symbol" pitchFamily="18" charset="2"/>
              </a:rPr>
              <a:t>false</a:t>
            </a:r>
            <a:r>
              <a:rPr lang="en-US" altLang="zh-TW" sz="2800" smtClean="0">
                <a:sym typeface="Symbol" pitchFamily="18" charset="2"/>
              </a:rPr>
              <a:t> and  </a:t>
            </a:r>
            <a:r>
              <a:rPr lang="en-US" altLang="zh-TW" sz="2800" b="1" smtClean="0">
                <a:solidFill>
                  <a:schemeClr val="tx2"/>
                </a:solidFill>
                <a:sym typeface="Symbol" pitchFamily="18" charset="2"/>
              </a:rPr>
              <a:t>0,</a:t>
            </a:r>
            <a:r>
              <a:rPr lang="en-US" altLang="zh-TW" sz="2800" smtClean="0">
                <a:sym typeface="Symbol" pitchFamily="18" charset="2"/>
              </a:rPr>
              <a:t> respectively.</a:t>
            </a:r>
            <a:endParaRPr lang="en-US" altLang="zh-TW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B44B40-1281-4E1B-8723-11CFF718918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3E90DE-FD24-4613-B03E-B782F43DD5A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 smtClean="0"/>
          </a:p>
        </p:txBody>
      </p:sp>
      <p:sp>
        <p:nvSpPr>
          <p:cNvPr id="2662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79425" y="342900"/>
            <a:ext cx="7772400" cy="527050"/>
          </a:xfrm>
        </p:spPr>
        <p:txBody>
          <a:bodyPr/>
          <a:lstStyle/>
          <a:p>
            <a:pPr eaLnBrk="1" hangingPunct="1"/>
            <a:r>
              <a:rPr lang="en-US" altLang="zh-TW" smtClean="0"/>
              <a:t>Bakery Algorithm (3)</a:t>
            </a:r>
          </a:p>
        </p:txBody>
      </p:sp>
      <p:sp>
        <p:nvSpPr>
          <p:cNvPr id="6451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0063" y="1033463"/>
            <a:ext cx="8377237" cy="55705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/>
              <a:t>do { </a:t>
            </a:r>
            <a:endParaRPr lang="en-US" altLang="zh-TW" sz="2400" smtClean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/>
              <a:t>	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</a:rPr>
              <a:t>choosing[</a:t>
            </a:r>
            <a:r>
              <a:rPr lang="en-US" altLang="zh-TW" sz="2400" b="1" i="1" smtClean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</a:rPr>
              <a:t>] = true</a:t>
            </a:r>
            <a:r>
              <a:rPr lang="en-US" altLang="zh-TW" sz="2400" b="1" smtClean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>
                <a:latin typeface="Times New Roman" pitchFamily="18" charset="0"/>
              </a:rPr>
              <a:t>	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</a:rPr>
              <a:t>number[</a:t>
            </a:r>
            <a:r>
              <a:rPr lang="en-US" altLang="zh-TW" sz="2400" b="1" i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</a:rPr>
              <a:t>] = max(number[0], number[1], …, number [</a:t>
            </a:r>
            <a:r>
              <a:rPr lang="en-US" altLang="zh-TW" sz="2400" b="1" i="1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</a:rPr>
              <a:t> – 1])+1</a:t>
            </a:r>
            <a:r>
              <a:rPr lang="en-US" altLang="zh-TW" sz="2400" b="1" smtClean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>
                <a:latin typeface="Times New Roman" pitchFamily="18" charset="0"/>
              </a:rPr>
              <a:t>	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</a:rPr>
              <a:t>choosing[</a:t>
            </a:r>
            <a:r>
              <a:rPr lang="en-US" altLang="zh-TW" sz="2400" b="1" i="1" smtClean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</a:rPr>
              <a:t>] = false</a:t>
            </a:r>
            <a:r>
              <a:rPr lang="en-US" altLang="zh-TW" sz="2400" b="1" smtClean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>
                <a:latin typeface="Times New Roman" pitchFamily="18" charset="0"/>
              </a:rPr>
              <a:t>	</a:t>
            </a:r>
            <a:r>
              <a:rPr lang="en-US" altLang="zh-TW" sz="2400" b="1" smtClean="0">
                <a:latin typeface="Times New Roman" pitchFamily="18" charset="0"/>
              </a:rPr>
              <a:t>for (</a:t>
            </a:r>
            <a:r>
              <a:rPr lang="en-US" altLang="zh-TW" sz="2400" b="1" i="1" smtClean="0">
                <a:latin typeface="Times New Roman" pitchFamily="18" charset="0"/>
              </a:rPr>
              <a:t>j</a:t>
            </a:r>
            <a:r>
              <a:rPr lang="en-US" altLang="zh-TW" sz="2400" b="1" smtClean="0">
                <a:latin typeface="Times New Roman" pitchFamily="18" charset="0"/>
              </a:rPr>
              <a:t> = 0; </a:t>
            </a:r>
            <a:r>
              <a:rPr lang="en-US" altLang="zh-TW" sz="2400" b="1" i="1" smtClean="0">
                <a:latin typeface="Times New Roman" pitchFamily="18" charset="0"/>
              </a:rPr>
              <a:t>j</a:t>
            </a:r>
            <a:r>
              <a:rPr lang="en-US" altLang="zh-TW" sz="2400" b="1" smtClean="0">
                <a:latin typeface="Times New Roman" pitchFamily="18" charset="0"/>
              </a:rPr>
              <a:t> &lt; </a:t>
            </a:r>
            <a:r>
              <a:rPr lang="en-US" altLang="zh-TW" sz="2400" b="1" i="1" smtClean="0">
                <a:latin typeface="Times New Roman" pitchFamily="18" charset="0"/>
              </a:rPr>
              <a:t>n</a:t>
            </a:r>
            <a:r>
              <a:rPr lang="en-US" altLang="zh-TW" sz="2400" b="1" smtClean="0">
                <a:latin typeface="Times New Roman" pitchFamily="18" charset="0"/>
              </a:rPr>
              <a:t>; </a:t>
            </a:r>
            <a:r>
              <a:rPr lang="en-US" altLang="zh-TW" sz="2400" b="1" i="1" smtClean="0">
                <a:latin typeface="Times New Roman" pitchFamily="18" charset="0"/>
              </a:rPr>
              <a:t>j</a:t>
            </a:r>
            <a:r>
              <a:rPr lang="en-US" altLang="zh-TW" sz="2400" b="1" smtClean="0">
                <a:latin typeface="Times New Roman" pitchFamily="18" charset="0"/>
              </a:rPr>
              <a:t>++) {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>
                <a:latin typeface="Times New Roman" pitchFamily="18" charset="0"/>
              </a:rPr>
              <a:t>			while (choosing[</a:t>
            </a:r>
            <a:r>
              <a:rPr lang="en-US" altLang="zh-TW" sz="2400" b="1" i="1" smtClean="0">
                <a:latin typeface="Times New Roman" pitchFamily="18" charset="0"/>
              </a:rPr>
              <a:t>j</a:t>
            </a:r>
            <a:r>
              <a:rPr lang="en-US" altLang="zh-TW" sz="2400" b="1" smtClean="0">
                <a:latin typeface="Times New Roman" pitchFamily="18" charset="0"/>
              </a:rPr>
              <a:t>]) ; </a:t>
            </a:r>
            <a:r>
              <a:rPr lang="en-US" altLang="zh-TW" sz="2000" b="1" smtClean="0">
                <a:latin typeface="Times New Roman" pitchFamily="18" charset="0"/>
              </a:rPr>
              <a:t>/* Wait for the choosing of P</a:t>
            </a:r>
            <a:r>
              <a:rPr lang="en-US" altLang="zh-TW" sz="2000" b="1" i="1" baseline="-25000" smtClean="0">
                <a:latin typeface="Times New Roman" pitchFamily="18" charset="0"/>
              </a:rPr>
              <a:t>j</a:t>
            </a:r>
            <a:endParaRPr lang="en-US" altLang="zh-TW" sz="2000" b="1" i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>
                <a:latin typeface="Times New Roman" pitchFamily="18" charset="0"/>
              </a:rPr>
              <a:t>			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</a:rPr>
              <a:t>while ((number[</a:t>
            </a:r>
            <a:r>
              <a:rPr lang="en-US" altLang="zh-TW" sz="2400" b="1" i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</a:rPr>
              <a:t>] !=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0) &amp;&amp; </a:t>
            </a:r>
            <a:r>
              <a:rPr lang="en-US" altLang="zh-TW" sz="2400" b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(number[</a:t>
            </a:r>
            <a:r>
              <a:rPr lang="en-US" altLang="zh-TW" sz="2400" b="1" i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sz="2400" b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],</a:t>
            </a:r>
            <a:r>
              <a:rPr lang="en-US" altLang="zh-TW" sz="2400" b="1" i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sz="2400" b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) &lt;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						</a:t>
            </a:r>
            <a:r>
              <a:rPr lang="en-US" altLang="zh-TW" sz="2400" b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number[</a:t>
            </a:r>
            <a:r>
              <a:rPr lang="en-US" altLang="zh-TW" sz="2400" b="1" i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b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], </a:t>
            </a:r>
            <a:r>
              <a:rPr lang="en-US" altLang="zh-TW" sz="2400" b="1" i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b="1" u="sng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)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)</a:t>
            </a:r>
            <a:r>
              <a:rPr lang="en-US" altLang="zh-TW" sz="2400" b="1" smtClean="0">
                <a:latin typeface="Times New Roman" pitchFamily="18" charset="0"/>
                <a:sym typeface="Symbol" pitchFamily="18" charset="2"/>
              </a:rPr>
              <a:t> ; </a:t>
            </a:r>
            <a:r>
              <a:rPr lang="en-US" altLang="zh-TW" sz="2000" b="1" smtClean="0">
                <a:latin typeface="Times New Roman" pitchFamily="18" charset="0"/>
                <a:sym typeface="Symbol" pitchFamily="18" charset="2"/>
              </a:rPr>
              <a:t>/* smallest first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>
                <a:sym typeface="Symbol" pitchFamily="18" charset="2"/>
              </a:rPr>
              <a:t>	} 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>
                <a:sym typeface="Symbol" pitchFamily="18" charset="2"/>
              </a:rPr>
              <a:t>		</a:t>
            </a:r>
            <a:r>
              <a:rPr lang="en-US" altLang="zh-TW" sz="2400" smtClean="0">
                <a:solidFill>
                  <a:srgbClr val="0000FF"/>
                </a:solidFill>
                <a:sym typeface="Symbol" pitchFamily="18" charset="2"/>
              </a:rPr>
              <a:t>critical section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>
                <a:sym typeface="Symbol" pitchFamily="18" charset="2"/>
              </a:rPr>
              <a:t>	</a:t>
            </a:r>
            <a:r>
              <a:rPr lang="en-US" altLang="zh-TW" sz="2400" b="1" smtClean="0">
                <a:sym typeface="Symbol" pitchFamily="18" charset="2"/>
              </a:rPr>
              <a:t>number[</a:t>
            </a:r>
            <a:r>
              <a:rPr lang="en-US" altLang="zh-TW" sz="2400" b="1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b="1" smtClean="0">
                <a:sym typeface="Symbol" pitchFamily="18" charset="2"/>
              </a:rPr>
              <a:t>] = 0;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>
                <a:sym typeface="Symbol" pitchFamily="18" charset="2"/>
              </a:rPr>
              <a:t>		remainder section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b="1" smtClean="0">
                <a:sym typeface="Symbol" pitchFamily="18" charset="2"/>
              </a:rPr>
              <a:t>} while (1);</a:t>
            </a:r>
            <a:endParaRPr lang="en-US" altLang="zh-TW" sz="2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A485E3-060A-4484-A161-72CB1CB242E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EEB6984-5814-4632-9EE6-0D0D68A3D68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 smtClean="0"/>
          </a:p>
        </p:txBody>
      </p:sp>
      <p:sp>
        <p:nvSpPr>
          <p:cNvPr id="2765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79425" y="342900"/>
            <a:ext cx="7772400" cy="527050"/>
          </a:xfrm>
        </p:spPr>
        <p:txBody>
          <a:bodyPr/>
          <a:lstStyle/>
          <a:p>
            <a:pPr eaLnBrk="1" hangingPunct="1"/>
            <a:r>
              <a:rPr lang="en-US" altLang="zh-TW" smtClean="0"/>
              <a:t>Bakery Algorithm (4)</a:t>
            </a:r>
          </a:p>
        </p:txBody>
      </p:sp>
      <p:sp>
        <p:nvSpPr>
          <p:cNvPr id="13414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0063" y="1033463"/>
            <a:ext cx="8377237" cy="55705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800" smtClean="0"/>
              <a:t>Key for showing the correctness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	if P</a:t>
            </a:r>
            <a:r>
              <a:rPr lang="en-US" altLang="zh-TW" sz="2400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 in CS, all other P</a:t>
            </a:r>
            <a:r>
              <a:rPr lang="en-US" altLang="zh-TW" sz="2400" i="1" baseline="-25000" smtClean="0">
                <a:solidFill>
                  <a:srgbClr val="0000FF"/>
                </a:solidFill>
                <a:latin typeface="Times New Roman" pitchFamily="18" charset="0"/>
              </a:rPr>
              <a:t>k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 has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		number[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k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] = 0, or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		(number[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], 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) &lt; (number[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k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], 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k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mutual exclusion: OK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progress: OK (smallest first)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bounded waiting: OK 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>
                <a:solidFill>
                  <a:srgbClr val="FF0000"/>
                </a:solidFill>
              </a:rPr>
              <a:t>Note that processes enter their CSs in a</a:t>
            </a:r>
            <a:r>
              <a:rPr lang="en-US" altLang="zh-TW" sz="2400" i="1" smtClean="0">
                <a:solidFill>
                  <a:srgbClr val="FF0000"/>
                </a:solidFill>
              </a:rPr>
              <a:t> </a:t>
            </a:r>
            <a:r>
              <a:rPr lang="en-US" altLang="zh-TW" sz="2400" smtClean="0">
                <a:solidFill>
                  <a:srgbClr val="FF0000"/>
                </a:solidFill>
              </a:rPr>
              <a:t>FCFS basis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zh-TW" sz="2400" smtClean="0"/>
              <a:t>How many times ?</a:t>
            </a:r>
            <a:endParaRPr lang="en-US" altLang="zh-TW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3DA5B54-D3A9-4C26-AFB2-B4F45E6B47F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9F3558-BDB3-4E47-9E34-705E46DD74B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42875"/>
            <a:ext cx="7772400" cy="866775"/>
          </a:xfrm>
        </p:spPr>
        <p:txBody>
          <a:bodyPr/>
          <a:lstStyle/>
          <a:p>
            <a:pPr eaLnBrk="1" hangingPunct="1"/>
            <a:r>
              <a:rPr lang="en-US" altLang="zh-TW" smtClean="0"/>
              <a:t>Synchronization Hardware (1)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3863" y="1114425"/>
            <a:ext cx="8126412" cy="4846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smtClean="0"/>
              <a:t>Having the support of some simple hardware instructions, the CS problem can be solved very easily and efficiently.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The CS problem occurs because the modification of a shared variable of a process may be interrupted.</a:t>
            </a:r>
            <a:r>
              <a:rPr lang="en-US" altLang="zh-TW" sz="2800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smtClean="0"/>
              <a:t>Two common hardware instructions that execute </a:t>
            </a:r>
            <a:r>
              <a:rPr lang="en-US" altLang="zh-TW" sz="2800" b="1" smtClean="0">
                <a:solidFill>
                  <a:srgbClr val="FF0000"/>
                </a:solidFill>
              </a:rPr>
              <a:t>atomically</a:t>
            </a:r>
          </a:p>
          <a:p>
            <a:pPr lvl="1" eaLnBrk="1" hangingPunct="1"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b="1" smtClean="0">
                <a:solidFill>
                  <a:srgbClr val="FF0000"/>
                </a:solidFill>
                <a:latin typeface="Courier New" pitchFamily="49" charset="0"/>
              </a:rPr>
              <a:t>Test-and-Set</a:t>
            </a:r>
          </a:p>
          <a:p>
            <a:pPr lvl="1" eaLnBrk="1" hangingPunct="1"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b="1" smtClean="0">
                <a:solidFill>
                  <a:srgbClr val="FF0000"/>
                </a:solidFill>
                <a:latin typeface="Courier New" pitchFamily="49" charset="0"/>
              </a:rPr>
              <a:t>Swap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744A94-6EF2-46FB-BB4B-B9550566936B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25F5B8-C103-4024-96C5-40D21EBDFFC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 smtClean="0"/>
          </a:p>
        </p:txBody>
      </p:sp>
      <p:sp>
        <p:nvSpPr>
          <p:cNvPr id="2970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60400"/>
          </a:xfrm>
        </p:spPr>
        <p:txBody>
          <a:bodyPr/>
          <a:lstStyle/>
          <a:p>
            <a:pPr eaLnBrk="1" hangingPunct="1"/>
            <a:r>
              <a:rPr lang="en-US" altLang="zh-TW" smtClean="0"/>
              <a:t>Synchronization Hardware (2)</a:t>
            </a:r>
          </a:p>
        </p:txBody>
      </p:sp>
      <p:sp>
        <p:nvSpPr>
          <p:cNvPr id="135171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5938" y="1036638"/>
            <a:ext cx="8126412" cy="4637087"/>
          </a:xfrm>
        </p:spPr>
        <p:txBody>
          <a:bodyPr/>
          <a:lstStyle/>
          <a:p>
            <a:pPr eaLnBrk="1" hangingPunct="1"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mtClean="0"/>
              <a:t>Test and modify the content of a word atomically.</a:t>
            </a:r>
            <a:br>
              <a:rPr lang="en-US" altLang="zh-TW" smtClean="0"/>
            </a:br>
            <a:endParaRPr lang="en-US" altLang="zh-TW" sz="2800" smtClean="0"/>
          </a:p>
          <a:p>
            <a:pPr eaLnBrk="1" hangingPunct="1"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smtClean="0"/>
              <a:t>		</a:t>
            </a:r>
            <a:r>
              <a:rPr lang="en-US" altLang="zh-TW" sz="2800" b="1" smtClean="0"/>
              <a:t>boolean </a:t>
            </a:r>
            <a:r>
              <a:rPr lang="en-US" altLang="zh-TW" sz="2800" b="1" smtClean="0">
                <a:solidFill>
                  <a:srgbClr val="0000FF"/>
                </a:solidFill>
              </a:rPr>
              <a:t>TestAndSet</a:t>
            </a:r>
            <a:r>
              <a:rPr lang="en-US" altLang="zh-TW" sz="2800" b="1" smtClean="0"/>
              <a:t>(boolean &amp;target) {</a:t>
            </a:r>
          </a:p>
          <a:p>
            <a:pPr eaLnBrk="1" hangingPunct="1"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	</a:t>
            </a:r>
            <a:r>
              <a:rPr lang="en-US" altLang="zh-TW" sz="2800" b="1" smtClean="0">
                <a:solidFill>
                  <a:srgbClr val="FF0000"/>
                </a:solidFill>
              </a:rPr>
              <a:t>boolean rv = target;</a:t>
            </a:r>
          </a:p>
          <a:p>
            <a:pPr eaLnBrk="1" hangingPunct="1"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>
                <a:solidFill>
                  <a:srgbClr val="FF0000"/>
                </a:solidFill>
              </a:rPr>
              <a:t>			target = true;</a:t>
            </a:r>
          </a:p>
          <a:p>
            <a:pPr eaLnBrk="1" hangingPunct="1"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altLang="zh-TW" sz="2800" b="1" smtClean="0"/>
          </a:p>
          <a:p>
            <a:pPr eaLnBrk="1" hangingPunct="1"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	return rv;</a:t>
            </a:r>
          </a:p>
          <a:p>
            <a:pPr eaLnBrk="1" hangingPunct="1"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2233965-9E71-41B1-B8A0-0EC7E23CBF3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BA4784-513B-4E68-8AE9-7CEC8B96CFE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 smtClean="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92100"/>
            <a:ext cx="7772400" cy="6985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Mutual Exclusion with </a:t>
            </a:r>
            <a:r>
              <a:rPr lang="en-US" altLang="zh-TW" sz="3600" smtClean="0">
                <a:solidFill>
                  <a:srgbClr val="0000FF"/>
                </a:solidFill>
              </a:rPr>
              <a:t>Test-and-Set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4988" y="1246188"/>
            <a:ext cx="8126412" cy="46355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smtClean="0"/>
              <a:t>Shared data: </a:t>
            </a:r>
            <a:br>
              <a:rPr lang="en-US" altLang="zh-TW" sz="2800" smtClean="0"/>
            </a:br>
            <a:r>
              <a:rPr lang="en-US" altLang="zh-TW" sz="2800" smtClean="0"/>
              <a:t>	</a:t>
            </a:r>
            <a:r>
              <a:rPr lang="en-US" altLang="zh-TW" sz="2800" b="1" smtClean="0"/>
              <a:t>boolean lock = false;</a:t>
            </a:r>
            <a:br>
              <a:rPr lang="en-US" altLang="zh-TW" sz="2800" b="1" smtClean="0"/>
            </a:br>
            <a:endParaRPr lang="en-US" altLang="zh-TW" sz="2800" b="1" smtClean="0"/>
          </a:p>
          <a:p>
            <a:pPr eaLnBrk="1" hangingPunct="1">
              <a:lnSpc>
                <a:spcPct val="90000"/>
              </a:lnSpc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smtClean="0"/>
              <a:t>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endParaRPr lang="en-US" altLang="zh-TW" sz="2800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smtClean="0"/>
              <a:t>		</a:t>
            </a:r>
            <a:r>
              <a:rPr lang="en-US" altLang="zh-TW" sz="2800" b="1" smtClean="0"/>
              <a:t>do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b="1" smtClean="0"/>
              <a:t>			while (TestAndSet(&amp;lock))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b="1" smtClean="0"/>
              <a:t>				</a:t>
            </a:r>
            <a:r>
              <a:rPr lang="en-US" altLang="zh-TW" sz="2800" smtClean="0">
                <a:solidFill>
                  <a:srgbClr val="0000FF"/>
                </a:solidFill>
              </a:rPr>
              <a:t>critical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b="1" smtClean="0"/>
              <a:t>			</a:t>
            </a:r>
            <a:r>
              <a:rPr lang="en-US" altLang="zh-TW" sz="2800" b="1" smtClean="0">
                <a:solidFill>
                  <a:srgbClr val="FF0000"/>
                </a:solidFill>
              </a:rPr>
              <a:t>lock = false</a:t>
            </a:r>
            <a:r>
              <a:rPr lang="en-US" altLang="zh-TW" sz="2800" b="1" smtClean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b="1" smtClean="0"/>
              <a:t>				</a:t>
            </a:r>
            <a:r>
              <a:rPr lang="en-US" altLang="zh-TW" sz="2800" smtClean="0"/>
              <a:t>remainder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b="1" smtClean="0"/>
              <a:t>	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6645DF-F955-4AFD-A4A0-9F8387579A3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E60A65-F83C-481E-9B8B-E6F8F0792C1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85788" y="85725"/>
            <a:ext cx="7772400" cy="698500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solidFill>
                  <a:srgbClr val="0000FF"/>
                </a:solidFill>
              </a:rPr>
              <a:t>Bounded-waiting with Test-and-Set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2425" y="838200"/>
            <a:ext cx="4937125" cy="55070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smtClean="0">
                <a:solidFill>
                  <a:srgbClr val="40458C"/>
                </a:solidFill>
              </a:rPr>
              <a:t>Shared data: </a:t>
            </a:r>
            <a:r>
              <a:rPr lang="en-US" altLang="zh-TW" sz="2800" smtClean="0">
                <a:solidFill>
                  <a:srgbClr val="40458C"/>
                </a:solidFill>
              </a:rPr>
              <a:t/>
            </a:r>
            <a:br>
              <a:rPr lang="en-US" altLang="zh-TW" sz="2800" smtClean="0">
                <a:solidFill>
                  <a:srgbClr val="40458C"/>
                </a:solidFill>
              </a:rPr>
            </a:br>
            <a:r>
              <a:rPr lang="en-US" altLang="zh-TW" sz="2000" smtClean="0">
                <a:solidFill>
                  <a:srgbClr val="40458C"/>
                </a:solidFill>
                <a:latin typeface="Adobe Gothic Std B" pitchFamily="34" charset="-128"/>
                <a:ea typeface="Adobe Gothic Std B" pitchFamily="34" charset="-128"/>
                <a:cs typeface="Times New Roman" pitchFamily="18" charset="0"/>
              </a:rPr>
              <a:t>boolean </a:t>
            </a: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itchFamily="18" charset="0"/>
              </a:rPr>
              <a:t>waiting[n] = </a:t>
            </a:r>
            <a:r>
              <a:rPr lang="en-US" altLang="zh-TW" sz="2000" smtClean="0">
                <a:solidFill>
                  <a:srgbClr val="40458C"/>
                </a:solidFill>
                <a:latin typeface="Adobe Gothic Std B" pitchFamily="34" charset="-128"/>
                <a:ea typeface="Adobe Gothic Std B" pitchFamily="34" charset="-128"/>
                <a:cs typeface="Times New Roman" pitchFamily="18" charset="0"/>
              </a:rPr>
              <a:t>false; lock = false;</a:t>
            </a:r>
            <a:r>
              <a:rPr lang="en-US" altLang="zh-TW" sz="2000" smtClean="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z="2400" smtClean="0">
              <a:solidFill>
                <a:srgbClr val="40458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smtClean="0"/>
              <a:t>Process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endParaRPr lang="en-US" altLang="zh-TW" sz="2400" i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waiting [i] = true; </a:t>
            </a:r>
            <a:r>
              <a:rPr lang="en-US" altLang="zh-TW" sz="200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Key</a:t>
            </a: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 = true;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	while (waiting [i] &amp;&amp; Key)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	          </a:t>
            </a:r>
            <a:r>
              <a:rPr lang="en-US" altLang="zh-TW" sz="200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Key</a:t>
            </a: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 = TestAndSet(&amp;lock))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	waiting [i] = false;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	           </a:t>
            </a: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critical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	j = (i + 1)% n;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	</a:t>
            </a: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while ((j != i) &amp;&amp; !waiting [j])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	            j = (j + 1)% n;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	if (j == i) lock = false;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	else wait[j] = false;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smtClean="0">
                <a:latin typeface="Adobe Gothic Std B" pitchFamily="34" charset="-128"/>
                <a:ea typeface="Adobe Gothic Std B" pitchFamily="34" charset="-128"/>
              </a:rPr>
              <a:t>                  remainder section</a:t>
            </a:r>
            <a:r>
              <a:rPr lang="en-US" altLang="zh-TW" sz="2000" b="1" smtClean="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} while (true);</a:t>
            </a:r>
          </a:p>
        </p:txBody>
      </p:sp>
      <p:sp>
        <p:nvSpPr>
          <p:cNvPr id="8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5014913" y="800100"/>
            <a:ext cx="3841750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tabLst>
                <a:tab pos="1433513" algn="l"/>
                <a:tab pos="1714500" algn="l"/>
                <a:tab pos="2058988" algn="l"/>
              </a:tabLst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tabLst>
                <a:tab pos="1433513" algn="l"/>
                <a:tab pos="1714500" algn="l"/>
                <a:tab pos="205898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1433513" algn="l"/>
                <a:tab pos="1714500" algn="l"/>
                <a:tab pos="2058988" algn="l"/>
              </a:tabLst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2000">
                <a:solidFill>
                  <a:srgbClr val="40458C"/>
                </a:solidFill>
              </a:rPr>
              <a:t>A process exiting the critical section either sets </a:t>
            </a:r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lock to false </a:t>
            </a:r>
            <a:r>
              <a:rPr lang="en-US" altLang="zh-TW" sz="2000">
                <a:solidFill>
                  <a:srgbClr val="40458C"/>
                </a:solidFill>
              </a:rPr>
              <a:t>or sets </a:t>
            </a:r>
            <a:r>
              <a:rPr lang="en-US" altLang="zh-TW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waiting[j] to false</a:t>
            </a:r>
            <a:r>
              <a:rPr lang="en-US" altLang="zh-TW" sz="2000">
                <a:solidFill>
                  <a:srgbClr val="40458C"/>
                </a:solidFill>
              </a:rPr>
              <a:t>. Proceed is OK.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000">
                <a:solidFill>
                  <a:srgbClr val="40458C"/>
                </a:solidFill>
              </a:rPr>
              <a:t>Bounded-waiting is met: Scan the array waiting in the cyclic ordering 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000" i="1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+1, </a:t>
            </a:r>
            <a:r>
              <a:rPr lang="en-US" altLang="zh-TW" sz="2000" i="1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+2, …, </a:t>
            </a:r>
            <a:r>
              <a:rPr lang="en-US" altLang="zh-TW" sz="2000" i="1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-1, 0, …, </a:t>
            </a:r>
            <a:r>
              <a:rPr lang="en-US" altLang="zh-TW" sz="2000" i="1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-1)</a:t>
            </a:r>
            <a:r>
              <a:rPr lang="en-US" altLang="zh-TW" sz="2000">
                <a:solidFill>
                  <a:srgbClr val="40458C"/>
                </a:solidFill>
              </a:rPr>
              <a:t>. Any process waiting to enter will thus do so within </a:t>
            </a:r>
            <a:r>
              <a:rPr lang="en-US" altLang="zh-TW" sz="2000" i="1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en-US" altLang="zh-TW" sz="2000">
                <a:solidFill>
                  <a:srgbClr val="40458C"/>
                </a:solidFill>
              </a:rPr>
              <a:t>turns.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000">
                <a:solidFill>
                  <a:srgbClr val="40458C"/>
                </a:solidFill>
              </a:rPr>
              <a:t>Unfortunately, implementing </a:t>
            </a:r>
            <a:r>
              <a:rPr lang="en-US" altLang="zh-TW" sz="2000">
                <a:solidFill>
                  <a:srgbClr val="40458C"/>
                </a:solidFill>
                <a:latin typeface="Times New Roman" pitchFamily="18" charset="0"/>
                <a:cs typeface="Times New Roman" pitchFamily="18" charset="0"/>
              </a:rPr>
              <a:t>Test-and-Set</a:t>
            </a:r>
            <a:r>
              <a:rPr lang="en-US" altLang="zh-TW" sz="2000">
                <a:solidFill>
                  <a:srgbClr val="40458C"/>
                </a:solidFill>
              </a:rPr>
              <a:t> instructions on SMP is not trivial. </a:t>
            </a:r>
            <a:r>
              <a:rPr lang="en-US" altLang="zh-TW" sz="2400">
                <a:solidFill>
                  <a:srgbClr val="40458C"/>
                </a:solidFill>
              </a:rPr>
              <a:t/>
            </a:r>
            <a:br>
              <a:rPr lang="en-US" altLang="zh-TW" sz="2400">
                <a:solidFill>
                  <a:srgbClr val="40458C"/>
                </a:solidFill>
              </a:rPr>
            </a:br>
            <a:endParaRPr lang="en-US" altLang="zh-TW" sz="18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3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3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3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3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2487F5-0CE3-406E-A75C-72BC5F053FF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58BBC4-CABD-46BA-8C6A-5C25B72A8A9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 smtClean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09588"/>
            <a:ext cx="7772400" cy="722312"/>
          </a:xfrm>
        </p:spPr>
        <p:txBody>
          <a:bodyPr/>
          <a:lstStyle/>
          <a:p>
            <a:pPr eaLnBrk="1" hangingPunct="1"/>
            <a:r>
              <a:rPr lang="en-US" altLang="zh-TW" smtClean="0"/>
              <a:t>Synchronization Hardware </a:t>
            </a:r>
          </a:p>
        </p:txBody>
      </p:sp>
      <p:sp>
        <p:nvSpPr>
          <p:cNvPr id="3277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90550" y="1309688"/>
            <a:ext cx="8020050" cy="43703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mtClean="0"/>
              <a:t>Atomically swap two variables.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mtClean="0"/>
              <a:t>	</a:t>
            </a:r>
            <a:r>
              <a:rPr lang="en-US" altLang="zh-TW" sz="2800" b="1" smtClean="0"/>
              <a:t>void </a:t>
            </a:r>
            <a:r>
              <a:rPr lang="en-US" altLang="zh-TW" sz="2800" b="1" smtClean="0">
                <a:solidFill>
                  <a:srgbClr val="FF0000"/>
                </a:solidFill>
              </a:rPr>
              <a:t>Swap</a:t>
            </a:r>
            <a:r>
              <a:rPr lang="en-US" altLang="zh-TW" sz="2800" b="1" smtClean="0"/>
              <a:t>(boolean &amp;a, boolean &amp;b)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	boolean temp = a;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	a = b;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	b = temp;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altLang="zh-TW" sz="2800" b="1" smtClean="0"/>
              <a:t>		}</a:t>
            </a:r>
            <a:endParaRPr lang="en-US" altLang="zh-TW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420BEE6-B53B-4D43-8940-2382A995530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7C6B16-2ECD-4BD0-BC6B-F007BCAEF98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6888" y="417513"/>
            <a:ext cx="7772400" cy="769937"/>
          </a:xfrm>
        </p:spPr>
        <p:txBody>
          <a:bodyPr/>
          <a:lstStyle/>
          <a:p>
            <a:pPr eaLnBrk="1" hangingPunct="1"/>
            <a:r>
              <a:rPr lang="en-US" altLang="zh-TW" smtClean="0"/>
              <a:t>Mutual Exclusion with </a:t>
            </a:r>
            <a:r>
              <a:rPr lang="en-US" altLang="zh-TW" smtClean="0">
                <a:solidFill>
                  <a:srgbClr val="0000FF"/>
                </a:solidFill>
              </a:rPr>
              <a:t>Swap</a:t>
            </a:r>
          </a:p>
        </p:txBody>
      </p:sp>
      <p:sp>
        <p:nvSpPr>
          <p:cNvPr id="1208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9425" y="1185863"/>
            <a:ext cx="8275638" cy="491648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smtClean="0"/>
              <a:t>Shared data (initialized to </a:t>
            </a:r>
            <a:r>
              <a:rPr lang="en-US" altLang="zh-TW" sz="2800" b="1" smtClean="0">
                <a:solidFill>
                  <a:srgbClr val="FF0000"/>
                </a:solidFill>
              </a:rPr>
              <a:t>false</a:t>
            </a:r>
            <a:r>
              <a:rPr lang="en-US" altLang="zh-TW" sz="2800" smtClean="0"/>
              <a:t>): </a:t>
            </a:r>
            <a:br>
              <a:rPr lang="en-US" altLang="zh-TW" sz="2800" smtClean="0"/>
            </a:br>
            <a:r>
              <a:rPr lang="en-US" altLang="zh-TW" sz="2400" smtClean="0"/>
              <a:t>	</a:t>
            </a:r>
            <a:r>
              <a:rPr lang="en-US" altLang="zh-TW" sz="2400" b="1" smtClean="0"/>
              <a:t>boolean lock; /*</a:t>
            </a:r>
            <a:r>
              <a:rPr lang="en-US" altLang="zh-TW" sz="2400" b="1" smtClean="0">
                <a:solidFill>
                  <a:srgbClr val="FF0000"/>
                </a:solidFill>
              </a:rPr>
              <a:t>global</a:t>
            </a:r>
            <a:r>
              <a:rPr lang="en-US" altLang="zh-TW" sz="2400" b="1" smtClean="0"/>
              <a:t> variable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000" b="1" smtClean="0"/>
              <a:t>	</a:t>
            </a:r>
          </a:p>
          <a:p>
            <a:pPr eaLnBrk="1" hangingPunct="1">
              <a:lnSpc>
                <a:spcPct val="90000"/>
              </a:lnSpc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smtClean="0"/>
              <a:t>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endParaRPr lang="en-US" altLang="zh-TW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800" smtClean="0"/>
              <a:t>	</a:t>
            </a:r>
            <a:r>
              <a:rPr lang="en-US" altLang="zh-TW" sz="2400" smtClean="0"/>
              <a:t>	</a:t>
            </a:r>
            <a:r>
              <a:rPr lang="en-US" altLang="zh-TW" sz="2400" b="1" smtClean="0"/>
              <a:t>do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/>
              <a:t>			</a:t>
            </a:r>
            <a:r>
              <a:rPr lang="en-US" altLang="zh-TW" sz="2400" b="1" smtClean="0">
                <a:solidFill>
                  <a:srgbClr val="FF0000"/>
                </a:solidFill>
              </a:rPr>
              <a:t>key = true</a:t>
            </a:r>
            <a:r>
              <a:rPr lang="en-US" altLang="zh-TW" sz="2400" b="1" smtClean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/>
              <a:t>			</a:t>
            </a:r>
            <a:r>
              <a:rPr lang="en-US" altLang="zh-TW" sz="2400" b="1" smtClean="0">
                <a:solidFill>
                  <a:srgbClr val="000000"/>
                </a:solidFill>
              </a:rPr>
              <a:t>while (key == true)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>
                <a:solidFill>
                  <a:srgbClr val="000000"/>
                </a:solidFill>
              </a:rPr>
              <a:t>					Swap(lock, key);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/>
              <a:t>				</a:t>
            </a:r>
            <a:r>
              <a:rPr lang="en-US" altLang="zh-TW" sz="2400" smtClean="0">
                <a:solidFill>
                  <a:srgbClr val="0000FF"/>
                </a:solidFill>
              </a:rPr>
              <a:t>critical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/>
              <a:t>			</a:t>
            </a:r>
            <a:r>
              <a:rPr lang="en-US" altLang="zh-TW" sz="2400" b="1" smtClean="0">
                <a:solidFill>
                  <a:srgbClr val="FF0000"/>
                </a:solidFill>
              </a:rPr>
              <a:t>lock = false;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/>
              <a:t>				</a:t>
            </a:r>
            <a:r>
              <a:rPr lang="en-US" altLang="zh-TW" sz="2400" smtClean="0"/>
              <a:t>remainder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33513" algn="l"/>
                <a:tab pos="1714500" algn="l"/>
                <a:tab pos="2058988" algn="l"/>
              </a:tabLst>
            </a:pPr>
            <a:r>
              <a:rPr lang="en-US" altLang="zh-TW" sz="2400" b="1" smtClean="0"/>
              <a:t>	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1A53653-C32B-43A5-88C1-DED76F33DDC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43D1CF2-069C-4FF7-A1BE-ACA4A435626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 smtClean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322263"/>
            <a:ext cx="7772400" cy="7524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Semaphores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0375" y="1068388"/>
            <a:ext cx="8128000" cy="48974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1597025" algn="l"/>
                <a:tab pos="2576513" algn="l"/>
              </a:tabLst>
            </a:pPr>
            <a:r>
              <a:rPr lang="en-US" altLang="zh-TW" sz="2800" smtClean="0"/>
              <a:t>Synchronization tool that </a:t>
            </a:r>
            <a:r>
              <a:rPr lang="en-US" altLang="zh-TW" sz="2800" smtClean="0">
                <a:solidFill>
                  <a:srgbClr val="FF0000"/>
                </a:solidFill>
              </a:rPr>
              <a:t>does not require busy waiting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tabLst>
                <a:tab pos="1597025" algn="l"/>
                <a:tab pos="2576513" algn="l"/>
              </a:tabLst>
            </a:pPr>
            <a:r>
              <a:rPr lang="en-US" altLang="zh-TW" sz="2800" smtClean="0"/>
              <a:t>Semaphore </a:t>
            </a:r>
            <a:r>
              <a:rPr lang="en-US" altLang="zh-TW" sz="2800" i="1" smtClean="0">
                <a:solidFill>
                  <a:srgbClr val="0000FF"/>
                </a:solidFill>
              </a:rPr>
              <a:t>S</a:t>
            </a:r>
            <a:r>
              <a:rPr lang="en-US" altLang="zh-TW" sz="2800" smtClean="0">
                <a:solidFill>
                  <a:srgbClr val="0000FF"/>
                </a:solidFill>
              </a:rPr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integer variable (By </a:t>
            </a:r>
            <a:r>
              <a:rPr lang="en-US" altLang="zh-TW" sz="2800" b="1" smtClean="0">
                <a:solidFill>
                  <a:srgbClr val="FF0000"/>
                </a:solidFill>
              </a:rPr>
              <a:t>Dijkstra</a:t>
            </a:r>
            <a:r>
              <a:rPr lang="en-US" altLang="zh-TW" sz="2800" smtClean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tabLst>
                <a:tab pos="1597025" algn="l"/>
                <a:tab pos="2576513" algn="l"/>
              </a:tabLst>
            </a:pPr>
            <a:r>
              <a:rPr lang="en-US" altLang="zh-TW" sz="2800" smtClean="0"/>
              <a:t>can only be accessed via indivisible (atomic) operations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1597025" algn="l"/>
                <a:tab pos="2576513" algn="l"/>
              </a:tabLst>
            </a:pPr>
            <a:r>
              <a:rPr lang="en-US" altLang="zh-TW" sz="2800" smtClean="0"/>
              <a:t>		</a:t>
            </a:r>
            <a:r>
              <a:rPr lang="en-US" altLang="zh-TW" sz="2800" b="1" i="1" smtClean="0">
                <a:solidFill>
                  <a:srgbClr val="FF0000"/>
                </a:solidFill>
              </a:rPr>
              <a:t>wait</a:t>
            </a:r>
            <a:r>
              <a:rPr lang="en-US" altLang="zh-TW" sz="2800" b="1" smtClean="0">
                <a:solidFill>
                  <a:srgbClr val="FF0000"/>
                </a:solidFill>
              </a:rPr>
              <a:t> (</a:t>
            </a:r>
            <a:r>
              <a:rPr lang="en-US" altLang="zh-TW" sz="2800" b="1" i="1" smtClean="0">
                <a:solidFill>
                  <a:srgbClr val="FF0000"/>
                </a:solidFill>
              </a:rPr>
              <a:t>S</a:t>
            </a:r>
            <a:r>
              <a:rPr lang="en-US" altLang="zh-TW" sz="2800" b="1" smtClean="0">
                <a:solidFill>
                  <a:srgbClr val="FF0000"/>
                </a:solidFill>
              </a:rPr>
              <a:t>)</a:t>
            </a:r>
            <a:r>
              <a:rPr lang="en-US" altLang="zh-TW" sz="2800" smtClean="0"/>
              <a:t> :  </a:t>
            </a:r>
            <a:r>
              <a:rPr lang="en-US" altLang="zh-TW" sz="2800" b="1" smtClean="0">
                <a:solidFill>
                  <a:srgbClr val="000000"/>
                </a:solidFill>
              </a:rPr>
              <a:t>P</a:t>
            </a:r>
            <a:r>
              <a:rPr lang="en-US" altLang="zh-TW" sz="2800" smtClean="0">
                <a:solidFill>
                  <a:srgbClr val="000000"/>
                </a:solidFill>
              </a:rPr>
              <a:t> operation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1597025" algn="l"/>
                <a:tab pos="2576513" algn="l"/>
              </a:tabLst>
            </a:pPr>
            <a:r>
              <a:rPr lang="en-US" altLang="zh-TW" sz="2800" smtClean="0"/>
              <a:t>			</a:t>
            </a:r>
            <a:r>
              <a:rPr lang="en-US" altLang="zh-TW" sz="2800" b="1" smtClean="0"/>
              <a:t>while </a:t>
            </a:r>
            <a:r>
              <a:rPr lang="en-US" altLang="zh-TW" sz="2800" b="1" i="1" smtClean="0"/>
              <a:t>S </a:t>
            </a:r>
            <a:r>
              <a:rPr lang="en-US" altLang="zh-TW" sz="2800" b="1" smtClean="0">
                <a:sym typeface="Symbol" pitchFamily="18" charset="2"/>
              </a:rPr>
              <a:t> 0; </a:t>
            </a:r>
            <a:r>
              <a:rPr lang="en-US" altLang="zh-TW" sz="2800" smtClean="0">
                <a:sym typeface="Symbol" pitchFamily="18" charset="2"/>
              </a:rPr>
              <a:t>/*</a:t>
            </a:r>
            <a:r>
              <a:rPr lang="en-US" altLang="zh-TW" sz="2800" i="1" smtClean="0">
                <a:sym typeface="Symbol" pitchFamily="18" charset="2"/>
              </a:rPr>
              <a:t>no-op</a:t>
            </a:r>
            <a:r>
              <a:rPr lang="en-US" altLang="zh-TW" sz="2800" smtClean="0">
                <a:sym typeface="Symbol" pitchFamily="18" charset="2"/>
              </a:rPr>
              <a:t>;</a:t>
            </a:r>
            <a:br>
              <a:rPr lang="en-US" altLang="zh-TW" sz="2800" smtClean="0">
                <a:sym typeface="Symbol" pitchFamily="18" charset="2"/>
              </a:rPr>
            </a:br>
            <a:r>
              <a:rPr lang="en-US" altLang="zh-TW" sz="2800" b="1" smtClean="0">
                <a:sym typeface="Symbol" pitchFamily="18" charset="2"/>
              </a:rPr>
              <a:t>			</a:t>
            </a:r>
            <a:r>
              <a:rPr lang="en-US" altLang="zh-TW" sz="2800" b="1" i="1" smtClean="0"/>
              <a:t>S</a:t>
            </a:r>
            <a:r>
              <a:rPr lang="en-US" altLang="zh-TW" sz="2800" b="1" smtClean="0"/>
              <a:t>--;</a:t>
            </a:r>
            <a:r>
              <a:rPr lang="en-US" altLang="zh-TW" sz="2800" b="1" smtClean="0">
                <a:sym typeface="Symbol" pitchFamily="18" charset="2"/>
              </a:rPr>
              <a:t/>
            </a:r>
            <a:br>
              <a:rPr lang="en-US" altLang="zh-TW" sz="2800" b="1" smtClean="0">
                <a:sym typeface="Symbol" pitchFamily="18" charset="2"/>
              </a:rPr>
            </a:br>
            <a:endParaRPr lang="en-US" altLang="zh-TW" sz="2800" b="1" smtClean="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1597025" algn="l"/>
                <a:tab pos="2576513" algn="l"/>
              </a:tabLst>
            </a:pPr>
            <a:r>
              <a:rPr lang="en-US" altLang="zh-TW" sz="2800" smtClean="0">
                <a:sym typeface="Symbol" pitchFamily="18" charset="2"/>
              </a:rPr>
              <a:t>		</a:t>
            </a:r>
            <a:r>
              <a:rPr lang="en-US" altLang="zh-TW" sz="2800" b="1" i="1" smtClean="0">
                <a:solidFill>
                  <a:srgbClr val="FF0000"/>
                </a:solidFill>
                <a:sym typeface="Symbol" pitchFamily="18" charset="2"/>
              </a:rPr>
              <a:t>signal</a:t>
            </a:r>
            <a:r>
              <a:rPr lang="en-US" altLang="zh-TW" sz="2800" b="1" smtClean="0">
                <a:solidFill>
                  <a:srgbClr val="FF0000"/>
                </a:solidFill>
                <a:sym typeface="Symbol" pitchFamily="18" charset="2"/>
              </a:rPr>
              <a:t> (</a:t>
            </a:r>
            <a:r>
              <a:rPr lang="en-US" altLang="zh-TW" sz="2800" b="1" i="1" smtClean="0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en-US" altLang="zh-TW" sz="2800" b="1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zh-TW" sz="2800" smtClean="0">
                <a:sym typeface="Symbol" pitchFamily="18" charset="2"/>
              </a:rPr>
              <a:t> : </a:t>
            </a:r>
            <a:r>
              <a:rPr lang="en-US" altLang="zh-TW" sz="2800" b="1" smtClean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800" smtClean="0">
                <a:solidFill>
                  <a:srgbClr val="000000"/>
                </a:solidFill>
                <a:sym typeface="Symbol" pitchFamily="18" charset="2"/>
              </a:rPr>
              <a:t> operation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1597025" algn="l"/>
                <a:tab pos="2576513" algn="l"/>
              </a:tabLst>
            </a:pPr>
            <a:r>
              <a:rPr lang="en-US" altLang="zh-TW" sz="2800" smtClean="0">
                <a:sym typeface="Symbol" pitchFamily="18" charset="2"/>
              </a:rPr>
              <a:t>			</a:t>
            </a:r>
            <a:r>
              <a:rPr lang="en-US" altLang="zh-TW" sz="2800" b="1" i="1" smtClean="0">
                <a:sym typeface="Symbol" pitchFamily="18" charset="2"/>
              </a:rPr>
              <a:t>S++;</a:t>
            </a:r>
            <a:endParaRPr lang="en-US" altLang="zh-TW" sz="2800" b="1" smtClean="0">
              <a:sym typeface="Symbol" pitchFamily="18" charset="2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2967038" y="3703638"/>
            <a:ext cx="4100512" cy="971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2982913" y="5246688"/>
            <a:ext cx="4100512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0" y="4486275"/>
            <a:ext cx="1770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atomic</a:t>
            </a: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1341438" y="4921250"/>
            <a:ext cx="1647825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 flipV="1">
            <a:off x="1312863" y="4022725"/>
            <a:ext cx="1639887" cy="623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5872163" y="3251200"/>
            <a:ext cx="256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Dutch proberen, to test</a:t>
            </a:r>
            <a:endParaRPr lang="zh-TW" altLang="en-US" sz="200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>
            <a:spLocks noChangeArrowheads="1"/>
          </p:cNvSpPr>
          <p:nvPr/>
        </p:nvSpPr>
        <p:spPr bwMode="auto">
          <a:xfrm>
            <a:off x="5992813" y="4821238"/>
            <a:ext cx="3232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Dutch verhogen, to increment</a:t>
            </a:r>
            <a:endParaRPr lang="zh-TW" altLang="en-US" sz="18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animBg="1"/>
      <p:bldP spid="57350" grpId="0" animBg="1"/>
      <p:bldP spid="57351" grpId="0"/>
      <p:bldP spid="57353" grpId="0" animBg="1"/>
      <p:bldP spid="57354" grpId="0" animBg="1"/>
      <p:bldP spid="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E21557-3B13-414A-94C6-DF7E9ED27B03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E68957-F899-42C9-BEDA-C4C525A550C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 smtClean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09550"/>
            <a:ext cx="7248525" cy="6746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 Section of </a:t>
            </a:r>
            <a:r>
              <a:rPr lang="en-US" altLang="zh-TW" sz="4000" i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lang="en-US" altLang="zh-TW" sz="400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Processes</a:t>
            </a:r>
          </a:p>
        </p:txBody>
      </p:sp>
      <p:sp>
        <p:nvSpPr>
          <p:cNvPr id="58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4650" y="879475"/>
            <a:ext cx="8445500" cy="5070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800" smtClean="0"/>
              <a:t>Shared data: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b="1" smtClean="0"/>
              <a:t>	   semaphore </a:t>
            </a:r>
            <a:r>
              <a:rPr lang="en-US" altLang="zh-TW" sz="2400" b="1" smtClean="0">
                <a:solidFill>
                  <a:srgbClr val="FF0000"/>
                </a:solidFill>
              </a:rPr>
              <a:t>mutex</a:t>
            </a:r>
            <a:r>
              <a:rPr lang="en-US" altLang="zh-TW" sz="2400" b="1" smtClean="0"/>
              <a:t>; /* </a:t>
            </a:r>
            <a:r>
              <a:rPr lang="en-US" altLang="zh-TW" sz="2400" smtClean="0"/>
              <a:t>initially </a:t>
            </a:r>
            <a:r>
              <a:rPr lang="en-US" altLang="zh-TW" sz="2400" i="1" smtClean="0"/>
              <a:t>mutex</a:t>
            </a:r>
            <a:r>
              <a:rPr lang="en-US" altLang="zh-TW" sz="2400" smtClean="0"/>
              <a:t> = 1</a:t>
            </a:r>
            <a:br>
              <a:rPr lang="en-US" altLang="zh-TW" sz="2400" smtClean="0"/>
            </a:b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800" smtClean="0"/>
              <a:t>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/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smtClean="0"/>
              <a:t> 	</a:t>
            </a:r>
            <a:r>
              <a:rPr lang="en-US" altLang="zh-TW" sz="2400" b="1" smtClean="0"/>
              <a:t>do {</a:t>
            </a:r>
            <a:br>
              <a:rPr lang="en-US" altLang="zh-TW" sz="2400" b="1" smtClean="0"/>
            </a:br>
            <a:r>
              <a:rPr lang="en-US" altLang="zh-TW" sz="2400" b="1" smtClean="0"/>
              <a:t>    </a:t>
            </a:r>
            <a:r>
              <a:rPr lang="en-US" altLang="zh-TW" sz="2400" b="1" smtClean="0">
                <a:solidFill>
                  <a:srgbClr val="FF0000"/>
                </a:solidFill>
              </a:rPr>
              <a:t>wait(mutex);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b="1" smtClean="0"/>
              <a:t>	        </a:t>
            </a:r>
            <a:r>
              <a:rPr lang="en-US" altLang="zh-TW" sz="2400" smtClean="0">
                <a:solidFill>
                  <a:srgbClr val="0000FF"/>
                </a:solidFill>
              </a:rPr>
              <a:t>critical section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b="1" smtClean="0"/>
              <a:t> 	    </a:t>
            </a:r>
            <a:r>
              <a:rPr lang="en-US" altLang="zh-TW" sz="2400" b="1" smtClean="0">
                <a:solidFill>
                  <a:srgbClr val="FF0000"/>
                </a:solidFill>
              </a:rPr>
              <a:t>signal(mutex);</a:t>
            </a:r>
            <a:r>
              <a:rPr lang="en-US" altLang="zh-TW" sz="2400" b="1" smtClean="0"/>
              <a:t/>
            </a:r>
            <a:br>
              <a:rPr lang="en-US" altLang="zh-TW" sz="2400" b="1" smtClean="0"/>
            </a:br>
            <a:r>
              <a:rPr lang="en-US" altLang="zh-TW" sz="2400" b="1" smtClean="0"/>
              <a:t>       </a:t>
            </a:r>
            <a:r>
              <a:rPr lang="en-US" altLang="zh-TW" sz="2400" smtClean="0"/>
              <a:t> remainder section</a:t>
            </a:r>
            <a:br>
              <a:rPr lang="en-US" altLang="zh-TW" sz="2400" smtClean="0"/>
            </a:br>
            <a:r>
              <a:rPr lang="en-US" altLang="zh-TW" sz="2400" b="1" smtClean="0"/>
              <a:t>} while (1);</a:t>
            </a:r>
            <a:r>
              <a:rPr lang="en-US" altLang="zh-TW" sz="2400" baseline="-25000" smtClean="0"/>
              <a:t>, </a:t>
            </a:r>
            <a:endParaRPr lang="en-US" altLang="zh-TW" sz="2800" baseline="-25000" smtClean="0"/>
          </a:p>
          <a:p>
            <a:pPr eaLnBrk="1" hangingPunct="1">
              <a:lnSpc>
                <a:spcPct val="90000"/>
              </a:lnSpc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smtClean="0"/>
              <a:t>Mutual exclusion: Yes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smtClean="0"/>
              <a:t>	Progress: Yes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513013" algn="l"/>
                <a:tab pos="2857500" algn="l"/>
                <a:tab pos="3148013" algn="l"/>
              </a:tabLst>
            </a:pPr>
            <a:r>
              <a:rPr lang="en-US" altLang="zh-TW" sz="2400" smtClean="0"/>
              <a:t>	Bounded waiting: Yes using a queue</a:t>
            </a:r>
            <a:r>
              <a:rPr lang="en-US" altLang="zh-TW" sz="2400" i="1" baseline="-25000" smtClean="0"/>
              <a:t>      </a:t>
            </a:r>
            <a:r>
              <a:rPr lang="en-US" altLang="zh-TW" sz="2400" baseline="-25000" smtClean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8C27E6-9037-4600-9E60-FF309A393A8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E0653E4-84F9-4D7A-BFC5-E09C58814AD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 smtClean="0"/>
          </a:p>
        </p:txBody>
      </p:sp>
      <p:sp>
        <p:nvSpPr>
          <p:cNvPr id="36869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390650" y="304800"/>
            <a:ext cx="6469063" cy="5676900"/>
          </a:xfrm>
        </p:spPr>
        <p:txBody>
          <a:bodyPr/>
          <a:lstStyle/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4000" smtClean="0"/>
              <a:t>A more complicated example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smtClean="0"/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(Initially, all semaphores 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 ~ </a:t>
            </a:r>
            <a:r>
              <a:rPr lang="en-US" altLang="zh-TW" sz="2000" i="1" smtClean="0"/>
              <a:t>g</a:t>
            </a:r>
            <a:r>
              <a:rPr lang="en-US" altLang="zh-TW" sz="2000" smtClean="0"/>
              <a:t> are 0)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smtClean="0"/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begin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parbegin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	begin </a:t>
            </a:r>
            <a:r>
              <a:rPr lang="en-US" altLang="zh-TW" sz="2000" smtClean="0">
                <a:solidFill>
                  <a:srgbClr val="0000FF"/>
                </a:solidFill>
              </a:rPr>
              <a:t>S</a:t>
            </a:r>
            <a:r>
              <a:rPr lang="en-US" altLang="zh-TW" sz="2000" baseline="-25000" smtClean="0">
                <a:solidFill>
                  <a:srgbClr val="0000FF"/>
                </a:solidFill>
              </a:rPr>
              <a:t>1</a:t>
            </a:r>
            <a:r>
              <a:rPr lang="en-US" altLang="zh-TW" sz="2000" smtClean="0">
                <a:solidFill>
                  <a:srgbClr val="0000FF"/>
                </a:solidFill>
              </a:rPr>
              <a:t>; signal(a); signal(b);</a:t>
            </a:r>
            <a:r>
              <a:rPr lang="en-US" altLang="zh-TW" sz="2000" smtClean="0"/>
              <a:t> end;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	begin </a:t>
            </a:r>
            <a:r>
              <a:rPr lang="en-US" altLang="zh-TW" sz="2000" smtClean="0">
                <a:solidFill>
                  <a:srgbClr val="FF0000"/>
                </a:solidFill>
              </a:rPr>
              <a:t>wait(a); S</a:t>
            </a:r>
            <a:r>
              <a:rPr lang="en-US" altLang="zh-TW" sz="2000" baseline="-25000" smtClean="0">
                <a:solidFill>
                  <a:srgbClr val="FF0000"/>
                </a:solidFill>
              </a:rPr>
              <a:t>2</a:t>
            </a:r>
            <a:r>
              <a:rPr lang="en-US" altLang="zh-TW" sz="2000" smtClean="0">
                <a:solidFill>
                  <a:srgbClr val="FF0000"/>
                </a:solidFill>
              </a:rPr>
              <a:t>; S</a:t>
            </a:r>
            <a:r>
              <a:rPr lang="en-US" altLang="zh-TW" sz="2000" baseline="-25000" smtClean="0">
                <a:solidFill>
                  <a:srgbClr val="FF0000"/>
                </a:solidFill>
              </a:rPr>
              <a:t>4</a:t>
            </a:r>
            <a:r>
              <a:rPr lang="en-US" altLang="zh-TW" sz="2000" smtClean="0">
                <a:solidFill>
                  <a:srgbClr val="FF0000"/>
                </a:solidFill>
              </a:rPr>
              <a:t>; signal(c); signal(d);</a:t>
            </a:r>
            <a:r>
              <a:rPr lang="en-US" altLang="zh-TW" sz="2000" smtClean="0"/>
              <a:t> end;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	begin </a:t>
            </a:r>
            <a:r>
              <a:rPr lang="en-US" altLang="zh-TW" sz="2000" smtClean="0">
                <a:solidFill>
                  <a:srgbClr val="FF0000"/>
                </a:solidFill>
              </a:rPr>
              <a:t>wait(b); S</a:t>
            </a:r>
            <a:r>
              <a:rPr lang="en-US" altLang="zh-TW" sz="2000" baseline="-25000" smtClean="0">
                <a:solidFill>
                  <a:srgbClr val="FF0000"/>
                </a:solidFill>
              </a:rPr>
              <a:t>3</a:t>
            </a:r>
            <a:r>
              <a:rPr lang="en-US" altLang="zh-TW" sz="2000" smtClean="0">
                <a:solidFill>
                  <a:srgbClr val="FF0000"/>
                </a:solidFill>
              </a:rPr>
              <a:t>; signal(e);</a:t>
            </a:r>
            <a:r>
              <a:rPr lang="en-US" altLang="zh-TW" sz="2000" smtClean="0"/>
              <a:t> end;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	begin </a:t>
            </a:r>
            <a:r>
              <a:rPr lang="en-US" altLang="zh-TW" sz="2000" smtClean="0">
                <a:solidFill>
                  <a:schemeClr val="tx2"/>
                </a:solidFill>
              </a:rPr>
              <a:t>wait(c); S</a:t>
            </a:r>
            <a:r>
              <a:rPr lang="en-US" altLang="zh-TW" sz="2000" baseline="-25000" smtClean="0">
                <a:solidFill>
                  <a:schemeClr val="tx2"/>
                </a:solidFill>
              </a:rPr>
              <a:t>5</a:t>
            </a:r>
            <a:r>
              <a:rPr lang="en-US" altLang="zh-TW" sz="2000" smtClean="0">
                <a:solidFill>
                  <a:schemeClr val="tx2"/>
                </a:solidFill>
              </a:rPr>
              <a:t>; signal(f);</a:t>
            </a:r>
            <a:r>
              <a:rPr lang="en-US" altLang="zh-TW" sz="2000" smtClean="0"/>
              <a:t> end;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	begin </a:t>
            </a:r>
            <a:r>
              <a:rPr lang="en-US" altLang="zh-TW" sz="2000" smtClean="0">
                <a:solidFill>
                  <a:schemeClr val="tx2"/>
                </a:solidFill>
              </a:rPr>
              <a:t>wait(d); wait(e); S</a:t>
            </a:r>
            <a:r>
              <a:rPr lang="en-US" altLang="zh-TW" sz="2000" baseline="-25000" smtClean="0">
                <a:solidFill>
                  <a:schemeClr val="tx2"/>
                </a:solidFill>
              </a:rPr>
              <a:t>6</a:t>
            </a:r>
            <a:r>
              <a:rPr lang="en-US" altLang="zh-TW" sz="2000" smtClean="0">
                <a:solidFill>
                  <a:schemeClr val="tx2"/>
                </a:solidFill>
              </a:rPr>
              <a:t>; signal(g);</a:t>
            </a:r>
            <a:r>
              <a:rPr lang="en-US" altLang="zh-TW" sz="2000" smtClean="0"/>
              <a:t> end;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	begin wait(f); wait(g); S</a:t>
            </a:r>
            <a:r>
              <a:rPr lang="en-US" altLang="zh-TW" sz="2000" baseline="-25000" smtClean="0"/>
              <a:t>7</a:t>
            </a:r>
            <a:r>
              <a:rPr lang="en-US" altLang="zh-TW" sz="2000" smtClean="0"/>
              <a:t>; end;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	parend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smtClean="0"/>
              <a:t>end</a:t>
            </a:r>
          </a:p>
        </p:txBody>
      </p:sp>
      <p:grpSp>
        <p:nvGrpSpPr>
          <p:cNvPr id="36870" name="Group 3"/>
          <p:cNvGrpSpPr>
            <a:grpSpLocks/>
          </p:cNvGrpSpPr>
          <p:nvPr/>
        </p:nvGrpSpPr>
        <p:grpSpPr bwMode="auto">
          <a:xfrm>
            <a:off x="7829550" y="1733550"/>
            <a:ext cx="419100" cy="404813"/>
            <a:chOff x="4416" y="921"/>
            <a:chExt cx="264" cy="255"/>
          </a:xfrm>
        </p:grpSpPr>
        <p:sp>
          <p:nvSpPr>
            <p:cNvPr id="36934" name="Text Box 4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1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35" name="Oval 5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36871" name="Group 6"/>
          <p:cNvGrpSpPr>
            <a:grpSpLocks/>
          </p:cNvGrpSpPr>
          <p:nvPr/>
        </p:nvGrpSpPr>
        <p:grpSpPr bwMode="auto">
          <a:xfrm>
            <a:off x="7543800" y="5581650"/>
            <a:ext cx="419100" cy="404813"/>
            <a:chOff x="4416" y="921"/>
            <a:chExt cx="264" cy="255"/>
          </a:xfrm>
        </p:grpSpPr>
        <p:sp>
          <p:nvSpPr>
            <p:cNvPr id="36932" name="Text Box 7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7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33" name="Oval 8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36872" name="Group 9"/>
          <p:cNvGrpSpPr>
            <a:grpSpLocks/>
          </p:cNvGrpSpPr>
          <p:nvPr/>
        </p:nvGrpSpPr>
        <p:grpSpPr bwMode="auto">
          <a:xfrm>
            <a:off x="8591550" y="2990850"/>
            <a:ext cx="419100" cy="404813"/>
            <a:chOff x="4416" y="921"/>
            <a:chExt cx="264" cy="255"/>
          </a:xfrm>
        </p:grpSpPr>
        <p:sp>
          <p:nvSpPr>
            <p:cNvPr id="36930" name="Text Box 10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3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31" name="Oval 11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36873" name="Group 12"/>
          <p:cNvGrpSpPr>
            <a:grpSpLocks/>
          </p:cNvGrpSpPr>
          <p:nvPr/>
        </p:nvGrpSpPr>
        <p:grpSpPr bwMode="auto">
          <a:xfrm>
            <a:off x="7943850" y="4438650"/>
            <a:ext cx="419100" cy="404813"/>
            <a:chOff x="4416" y="921"/>
            <a:chExt cx="264" cy="255"/>
          </a:xfrm>
        </p:grpSpPr>
        <p:sp>
          <p:nvSpPr>
            <p:cNvPr id="36928" name="Text Box 13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6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29" name="Oval 14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36874" name="Group 15"/>
          <p:cNvGrpSpPr>
            <a:grpSpLocks/>
          </p:cNvGrpSpPr>
          <p:nvPr/>
        </p:nvGrpSpPr>
        <p:grpSpPr bwMode="auto">
          <a:xfrm>
            <a:off x="7010400" y="4457700"/>
            <a:ext cx="419100" cy="404813"/>
            <a:chOff x="4416" y="921"/>
            <a:chExt cx="264" cy="255"/>
          </a:xfrm>
        </p:grpSpPr>
        <p:sp>
          <p:nvSpPr>
            <p:cNvPr id="36926" name="Text Box 16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5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27" name="Oval 17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36875" name="Group 18"/>
          <p:cNvGrpSpPr>
            <a:grpSpLocks/>
          </p:cNvGrpSpPr>
          <p:nvPr/>
        </p:nvGrpSpPr>
        <p:grpSpPr bwMode="auto">
          <a:xfrm>
            <a:off x="7391400" y="3562350"/>
            <a:ext cx="419100" cy="404813"/>
            <a:chOff x="4416" y="921"/>
            <a:chExt cx="264" cy="255"/>
          </a:xfrm>
        </p:grpSpPr>
        <p:sp>
          <p:nvSpPr>
            <p:cNvPr id="36924" name="Text Box 19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4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25" name="Oval 20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36876" name="Group 21"/>
          <p:cNvGrpSpPr>
            <a:grpSpLocks/>
          </p:cNvGrpSpPr>
          <p:nvPr/>
        </p:nvGrpSpPr>
        <p:grpSpPr bwMode="auto">
          <a:xfrm>
            <a:off x="7391400" y="2609850"/>
            <a:ext cx="419100" cy="404813"/>
            <a:chOff x="4416" y="921"/>
            <a:chExt cx="264" cy="255"/>
          </a:xfrm>
        </p:grpSpPr>
        <p:sp>
          <p:nvSpPr>
            <p:cNvPr id="36922" name="Text Box 22"/>
            <p:cNvSpPr txBox="1">
              <a:spLocks noChangeArrowheads="1"/>
            </p:cNvSpPr>
            <p:nvPr/>
          </p:nvSpPr>
          <p:spPr bwMode="auto">
            <a:xfrm>
              <a:off x="4418" y="921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S</a:t>
              </a:r>
              <a:r>
                <a:rPr lang="en-US" altLang="zh-TW" sz="2000" b="1" baseline="-25000">
                  <a:latin typeface="Book Antiqua" pitchFamily="18" charset="0"/>
                </a:rPr>
                <a:t>2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36923" name="Oval 23"/>
            <p:cNvSpPr>
              <a:spLocks noChangeArrowheads="1"/>
            </p:cNvSpPr>
            <p:nvPr/>
          </p:nvSpPr>
          <p:spPr bwMode="auto">
            <a:xfrm>
              <a:off x="4416" y="936"/>
              <a:ext cx="264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sp>
        <p:nvSpPr>
          <p:cNvPr id="36877" name="Line 24"/>
          <p:cNvSpPr>
            <a:spLocks noChangeShapeType="1"/>
          </p:cNvSpPr>
          <p:nvPr/>
        </p:nvSpPr>
        <p:spPr bwMode="auto">
          <a:xfrm flipH="1">
            <a:off x="7715250" y="2138363"/>
            <a:ext cx="24765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78" name="Line 25"/>
          <p:cNvSpPr>
            <a:spLocks noChangeShapeType="1"/>
          </p:cNvSpPr>
          <p:nvPr/>
        </p:nvSpPr>
        <p:spPr bwMode="auto">
          <a:xfrm>
            <a:off x="8115300" y="2157413"/>
            <a:ext cx="5715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79" name="Line 26"/>
          <p:cNvSpPr>
            <a:spLocks noChangeShapeType="1"/>
          </p:cNvSpPr>
          <p:nvPr/>
        </p:nvSpPr>
        <p:spPr bwMode="auto">
          <a:xfrm flipH="1">
            <a:off x="8248650" y="3452813"/>
            <a:ext cx="45720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0" name="Line 27"/>
          <p:cNvSpPr>
            <a:spLocks noChangeShapeType="1"/>
          </p:cNvSpPr>
          <p:nvPr/>
        </p:nvSpPr>
        <p:spPr bwMode="auto">
          <a:xfrm>
            <a:off x="7581900" y="30146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1" name="Line 28"/>
          <p:cNvSpPr>
            <a:spLocks noChangeShapeType="1"/>
          </p:cNvSpPr>
          <p:nvPr/>
        </p:nvSpPr>
        <p:spPr bwMode="auto">
          <a:xfrm flipH="1">
            <a:off x="7296150" y="3986213"/>
            <a:ext cx="24765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2" name="Line 29"/>
          <p:cNvSpPr>
            <a:spLocks noChangeShapeType="1"/>
          </p:cNvSpPr>
          <p:nvPr/>
        </p:nvSpPr>
        <p:spPr bwMode="auto">
          <a:xfrm>
            <a:off x="7620000" y="4024313"/>
            <a:ext cx="40005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3" name="Line 30"/>
          <p:cNvSpPr>
            <a:spLocks noChangeShapeType="1"/>
          </p:cNvSpPr>
          <p:nvPr/>
        </p:nvSpPr>
        <p:spPr bwMode="auto">
          <a:xfrm>
            <a:off x="7315200" y="4881563"/>
            <a:ext cx="40005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4" name="Line 31"/>
          <p:cNvSpPr>
            <a:spLocks noChangeShapeType="1"/>
          </p:cNvSpPr>
          <p:nvPr/>
        </p:nvSpPr>
        <p:spPr bwMode="auto">
          <a:xfrm flipH="1">
            <a:off x="7810500" y="4843463"/>
            <a:ext cx="266700" cy="704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7248" name="Text Box 32"/>
          <p:cNvSpPr txBox="1">
            <a:spLocks noChangeArrowheads="1"/>
          </p:cNvSpPr>
          <p:nvPr/>
        </p:nvSpPr>
        <p:spPr bwMode="auto">
          <a:xfrm>
            <a:off x="7413625" y="205740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0000FF"/>
                </a:solidFill>
                <a:latin typeface="Book Antiqua" pitchFamily="18" charset="0"/>
              </a:rPr>
              <a:t>a</a:t>
            </a:r>
          </a:p>
        </p:txBody>
      </p:sp>
      <p:sp>
        <p:nvSpPr>
          <p:cNvPr id="137249" name="Text Box 33"/>
          <p:cNvSpPr txBox="1">
            <a:spLocks noChangeArrowheads="1"/>
          </p:cNvSpPr>
          <p:nvPr/>
        </p:nvSpPr>
        <p:spPr bwMode="auto">
          <a:xfrm>
            <a:off x="8461375" y="2076450"/>
            <a:ext cx="320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0000FF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137250" name="Text Box 34"/>
          <p:cNvSpPr txBox="1">
            <a:spLocks noChangeArrowheads="1"/>
          </p:cNvSpPr>
          <p:nvPr/>
        </p:nvSpPr>
        <p:spPr bwMode="auto">
          <a:xfrm>
            <a:off x="6937375" y="39624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FF0000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137251" name="Text Box 35"/>
          <p:cNvSpPr txBox="1">
            <a:spLocks noChangeArrowheads="1"/>
          </p:cNvSpPr>
          <p:nvPr/>
        </p:nvSpPr>
        <p:spPr bwMode="auto">
          <a:xfrm>
            <a:off x="8670925" y="37338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FF0000"/>
                </a:solidFill>
                <a:latin typeface="Book Antiqua" pitchFamily="18" charset="0"/>
              </a:rPr>
              <a:t>e</a:t>
            </a:r>
          </a:p>
        </p:txBody>
      </p:sp>
      <p:sp>
        <p:nvSpPr>
          <p:cNvPr id="137252" name="Text Box 36"/>
          <p:cNvSpPr txBox="1">
            <a:spLocks noChangeArrowheads="1"/>
          </p:cNvSpPr>
          <p:nvPr/>
        </p:nvSpPr>
        <p:spPr bwMode="auto">
          <a:xfrm>
            <a:off x="7870825" y="390525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FF0000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7185025" y="5067300"/>
            <a:ext cx="268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chemeClr val="tx2"/>
                </a:solidFill>
                <a:latin typeface="Book Antiqua" pitchFamily="18" charset="0"/>
              </a:rPr>
              <a:t>f</a:t>
            </a:r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8099425" y="5105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chemeClr val="tx2"/>
                </a:solidFill>
                <a:latin typeface="Book Antiqua" pitchFamily="18" charset="0"/>
              </a:rPr>
              <a:t>g</a:t>
            </a:r>
          </a:p>
        </p:txBody>
      </p:sp>
      <p:grpSp>
        <p:nvGrpSpPr>
          <p:cNvPr id="36892" name="Group 39"/>
          <p:cNvGrpSpPr>
            <a:grpSpLocks/>
          </p:cNvGrpSpPr>
          <p:nvPr/>
        </p:nvGrpSpPr>
        <p:grpSpPr bwMode="auto">
          <a:xfrm>
            <a:off x="-3175" y="1733550"/>
            <a:ext cx="2000250" cy="4252913"/>
            <a:chOff x="46" y="0"/>
            <a:chExt cx="1260" cy="2679"/>
          </a:xfrm>
        </p:grpSpPr>
        <p:grpSp>
          <p:nvGrpSpPr>
            <p:cNvPr id="36893" name="Group 40"/>
            <p:cNvGrpSpPr>
              <a:grpSpLocks/>
            </p:cNvGrpSpPr>
            <p:nvPr/>
          </p:nvGrpSpPr>
          <p:grpSpPr bwMode="auto">
            <a:xfrm>
              <a:off x="562" y="0"/>
              <a:ext cx="264" cy="255"/>
              <a:chOff x="4416" y="921"/>
              <a:chExt cx="264" cy="255"/>
            </a:xfrm>
          </p:grpSpPr>
          <p:sp>
            <p:nvSpPr>
              <p:cNvPr id="36920" name="Text Box 41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1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21" name="Oval 42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36894" name="Group 43"/>
            <p:cNvGrpSpPr>
              <a:grpSpLocks/>
            </p:cNvGrpSpPr>
            <p:nvPr/>
          </p:nvGrpSpPr>
          <p:grpSpPr bwMode="auto">
            <a:xfrm>
              <a:off x="382" y="2424"/>
              <a:ext cx="264" cy="255"/>
              <a:chOff x="4416" y="921"/>
              <a:chExt cx="264" cy="255"/>
            </a:xfrm>
          </p:grpSpPr>
          <p:sp>
            <p:nvSpPr>
              <p:cNvPr id="36918" name="Text Box 44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7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19" name="Oval 45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36895" name="Group 46"/>
            <p:cNvGrpSpPr>
              <a:grpSpLocks/>
            </p:cNvGrpSpPr>
            <p:nvPr/>
          </p:nvGrpSpPr>
          <p:grpSpPr bwMode="auto">
            <a:xfrm>
              <a:off x="1042" y="792"/>
              <a:ext cx="264" cy="255"/>
              <a:chOff x="4416" y="921"/>
              <a:chExt cx="264" cy="255"/>
            </a:xfrm>
          </p:grpSpPr>
          <p:sp>
            <p:nvSpPr>
              <p:cNvPr id="36916" name="Text Box 47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3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17" name="Oval 48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36896" name="Group 49"/>
            <p:cNvGrpSpPr>
              <a:grpSpLocks/>
            </p:cNvGrpSpPr>
            <p:nvPr/>
          </p:nvGrpSpPr>
          <p:grpSpPr bwMode="auto">
            <a:xfrm>
              <a:off x="634" y="1704"/>
              <a:ext cx="264" cy="255"/>
              <a:chOff x="4416" y="921"/>
              <a:chExt cx="264" cy="255"/>
            </a:xfrm>
          </p:grpSpPr>
          <p:sp>
            <p:nvSpPr>
              <p:cNvPr id="36914" name="Text Box 50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6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15" name="Oval 51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36897" name="Group 52"/>
            <p:cNvGrpSpPr>
              <a:grpSpLocks/>
            </p:cNvGrpSpPr>
            <p:nvPr/>
          </p:nvGrpSpPr>
          <p:grpSpPr bwMode="auto">
            <a:xfrm>
              <a:off x="46" y="1716"/>
              <a:ext cx="264" cy="255"/>
              <a:chOff x="4416" y="921"/>
              <a:chExt cx="264" cy="255"/>
            </a:xfrm>
          </p:grpSpPr>
          <p:sp>
            <p:nvSpPr>
              <p:cNvPr id="36912" name="Text Box 53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5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13" name="Oval 54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36898" name="Group 55"/>
            <p:cNvGrpSpPr>
              <a:grpSpLocks/>
            </p:cNvGrpSpPr>
            <p:nvPr/>
          </p:nvGrpSpPr>
          <p:grpSpPr bwMode="auto">
            <a:xfrm>
              <a:off x="286" y="1152"/>
              <a:ext cx="264" cy="255"/>
              <a:chOff x="4416" y="921"/>
              <a:chExt cx="264" cy="255"/>
            </a:xfrm>
          </p:grpSpPr>
          <p:sp>
            <p:nvSpPr>
              <p:cNvPr id="36910" name="Text Box 56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4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11" name="Oval 57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36899" name="Group 58"/>
            <p:cNvGrpSpPr>
              <a:grpSpLocks/>
            </p:cNvGrpSpPr>
            <p:nvPr/>
          </p:nvGrpSpPr>
          <p:grpSpPr bwMode="auto">
            <a:xfrm>
              <a:off x="286" y="552"/>
              <a:ext cx="264" cy="255"/>
              <a:chOff x="4416" y="921"/>
              <a:chExt cx="264" cy="255"/>
            </a:xfrm>
          </p:grpSpPr>
          <p:sp>
            <p:nvSpPr>
              <p:cNvPr id="36908" name="Text Box 59"/>
              <p:cNvSpPr txBox="1">
                <a:spLocks noChangeArrowheads="1"/>
              </p:cNvSpPr>
              <p:nvPr/>
            </p:nvSpPr>
            <p:spPr bwMode="auto">
              <a:xfrm>
                <a:off x="4418" y="921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b="1">
                    <a:latin typeface="Book Antiqua" pitchFamily="18" charset="0"/>
                  </a:rPr>
                  <a:t>S</a:t>
                </a:r>
                <a:r>
                  <a:rPr lang="en-US" altLang="zh-TW" sz="2000" b="1" baseline="-25000">
                    <a:latin typeface="Book Antiqua" pitchFamily="18" charset="0"/>
                  </a:rPr>
                  <a:t>2</a:t>
                </a:r>
                <a:endParaRPr lang="en-US" altLang="zh-TW" sz="2000" b="1">
                  <a:latin typeface="Book Antiqua" pitchFamily="18" charset="0"/>
                </a:endParaRPr>
              </a:p>
            </p:txBody>
          </p:sp>
          <p:sp>
            <p:nvSpPr>
              <p:cNvPr id="36909" name="Oval 60"/>
              <p:cNvSpPr>
                <a:spLocks noChangeArrowheads="1"/>
              </p:cNvSpPr>
              <p:nvPr/>
            </p:nvSpPr>
            <p:spPr bwMode="auto">
              <a:xfrm>
                <a:off x="4416" y="936"/>
                <a:ext cx="264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sp>
          <p:nvSpPr>
            <p:cNvPr id="36900" name="Line 61"/>
            <p:cNvSpPr>
              <a:spLocks noChangeShapeType="1"/>
            </p:cNvSpPr>
            <p:nvPr/>
          </p:nvSpPr>
          <p:spPr bwMode="auto">
            <a:xfrm flipH="1">
              <a:off x="490" y="255"/>
              <a:ext cx="156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1" name="Line 62"/>
            <p:cNvSpPr>
              <a:spLocks noChangeShapeType="1"/>
            </p:cNvSpPr>
            <p:nvPr/>
          </p:nvSpPr>
          <p:spPr bwMode="auto">
            <a:xfrm>
              <a:off x="742" y="267"/>
              <a:ext cx="360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2" name="Line 63"/>
            <p:cNvSpPr>
              <a:spLocks noChangeShapeType="1"/>
            </p:cNvSpPr>
            <p:nvPr/>
          </p:nvSpPr>
          <p:spPr bwMode="auto">
            <a:xfrm flipH="1">
              <a:off x="826" y="1083"/>
              <a:ext cx="288" cy="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3" name="Line 64"/>
            <p:cNvSpPr>
              <a:spLocks noChangeShapeType="1"/>
            </p:cNvSpPr>
            <p:nvPr/>
          </p:nvSpPr>
          <p:spPr bwMode="auto">
            <a:xfrm>
              <a:off x="406" y="807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4" name="Line 65"/>
            <p:cNvSpPr>
              <a:spLocks noChangeShapeType="1"/>
            </p:cNvSpPr>
            <p:nvPr/>
          </p:nvSpPr>
          <p:spPr bwMode="auto">
            <a:xfrm flipH="1">
              <a:off x="226" y="1419"/>
              <a:ext cx="156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5" name="Line 66"/>
            <p:cNvSpPr>
              <a:spLocks noChangeShapeType="1"/>
            </p:cNvSpPr>
            <p:nvPr/>
          </p:nvSpPr>
          <p:spPr bwMode="auto">
            <a:xfrm>
              <a:off x="430" y="1443"/>
              <a:ext cx="252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6" name="Line 67"/>
            <p:cNvSpPr>
              <a:spLocks noChangeShapeType="1"/>
            </p:cNvSpPr>
            <p:nvPr/>
          </p:nvSpPr>
          <p:spPr bwMode="auto">
            <a:xfrm>
              <a:off x="238" y="1983"/>
              <a:ext cx="25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7" name="Line 68"/>
            <p:cNvSpPr>
              <a:spLocks noChangeShapeType="1"/>
            </p:cNvSpPr>
            <p:nvPr/>
          </p:nvSpPr>
          <p:spPr bwMode="auto">
            <a:xfrm flipH="1">
              <a:off x="550" y="1959"/>
              <a:ext cx="168" cy="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8" grpId="0"/>
      <p:bldP spid="137249" grpId="0"/>
      <p:bldP spid="137250" grpId="0"/>
      <p:bldP spid="137251" grpId="0"/>
      <p:bldP spid="137252" grpId="0"/>
      <p:bldP spid="137253" grpId="0"/>
      <p:bldP spid="1372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8A6716-B27B-4074-9CEC-8E1F0007A05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2628CB-EFFD-4CFE-A0DD-A7B9FA7FD0F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 smtClean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300038"/>
            <a:ext cx="8039100" cy="3460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 Semaphore Implementation(1)</a:t>
            </a:r>
            <a:endParaRPr lang="en-US" altLang="zh-TW" sz="4800" smtClean="0"/>
          </a:p>
        </p:txBody>
      </p:sp>
      <p:sp>
        <p:nvSpPr>
          <p:cNvPr id="285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5750" y="1084263"/>
            <a:ext cx="8604250" cy="5421312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The main disadvantage of mutual-exclusion solutions is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busy waiting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(wasting CPU cycles in the loops of enter section).</a:t>
            </a:r>
          </a:p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A CS has better be </a:t>
            </a:r>
            <a:r>
              <a:rPr lang="en-US" altLang="zh-TW" sz="2800" i="1" dirty="0" smtClean="0">
                <a:solidFill>
                  <a:srgbClr val="FF0000"/>
                </a:solidFill>
              </a:rPr>
              <a:t>as short as possible</a:t>
            </a:r>
            <a:r>
              <a:rPr lang="en-US" altLang="zh-TW" sz="2800" dirty="0" smtClean="0"/>
              <a:t> </a:t>
            </a:r>
          </a:p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The semaphore defined before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also has the same problem</a:t>
            </a:r>
            <a:r>
              <a:rPr lang="en-US" altLang="zh-TW" sz="2800" dirty="0" smtClean="0"/>
              <a:t>. Thus, the type of semaphore is also called a 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spinlock</a:t>
            </a:r>
            <a:r>
              <a:rPr lang="en-US" altLang="zh-TW" sz="2800" dirty="0" smtClean="0"/>
              <a:t> (</a:t>
            </a:r>
            <a:r>
              <a:rPr lang="en-US" altLang="zh-TW" sz="2800" dirty="0" smtClean="0">
                <a:latin typeface="Times New Roman"/>
              </a:rPr>
              <a:t>“</a:t>
            </a:r>
            <a:r>
              <a:rPr lang="en-US" altLang="zh-TW" sz="2800" dirty="0" smtClean="0"/>
              <a:t>spin</a:t>
            </a:r>
            <a:r>
              <a:rPr lang="en-US" altLang="zh-TW" sz="2800" dirty="0" smtClean="0">
                <a:latin typeface="Times New Roman"/>
              </a:rPr>
              <a:t>”</a:t>
            </a:r>
            <a:r>
              <a:rPr lang="en-US" altLang="zh-TW" sz="2800" dirty="0" smtClean="0"/>
              <a:t> while waiting for the lock).</a:t>
            </a:r>
            <a:endParaRPr lang="en-US" altLang="zh-TW" sz="2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B0C000-B2B5-474A-861E-736CC8E5250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F47F4B-51CF-40E4-AB77-99F6960BFE9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 smtClean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300038"/>
            <a:ext cx="8039100" cy="3460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 Semaphore Implementation(2)</a:t>
            </a:r>
            <a:endParaRPr lang="en-US" altLang="zh-TW" sz="4800" smtClean="0"/>
          </a:p>
        </p:txBody>
      </p:sp>
      <p:sp>
        <p:nvSpPr>
          <p:cNvPr id="287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7975" y="1258888"/>
            <a:ext cx="8604250" cy="5065712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00"/>
                </a:solidFill>
              </a:rPr>
              <a:t>To overcome the need for busy waiting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we can modify the definition of </a:t>
            </a:r>
            <a:r>
              <a:rPr lang="en-US" altLang="zh-TW" sz="2800" i="1" smtClean="0">
                <a:solidFill>
                  <a:srgbClr val="FF0000"/>
                </a:solidFill>
              </a:rPr>
              <a:t>P</a:t>
            </a:r>
            <a:r>
              <a:rPr lang="en-US" altLang="zh-TW" sz="2800" smtClean="0">
                <a:solidFill>
                  <a:srgbClr val="FF0000"/>
                </a:solidFill>
              </a:rPr>
              <a:t> and </a:t>
            </a:r>
            <a:r>
              <a:rPr lang="en-US" altLang="zh-TW" sz="2800" i="1" smtClean="0">
                <a:solidFill>
                  <a:srgbClr val="FF0000"/>
                </a:solidFill>
              </a:rPr>
              <a:t>V</a:t>
            </a:r>
            <a:r>
              <a:rPr lang="en-US" altLang="zh-TW" sz="2800" smtClean="0">
                <a:solidFill>
                  <a:srgbClr val="FF0000"/>
                </a:solidFill>
              </a:rPr>
              <a:t>, using </a:t>
            </a:r>
            <a:r>
              <a:rPr lang="en-US" altLang="zh-TW" sz="2800" b="1" smtClean="0">
                <a:solidFill>
                  <a:srgbClr val="FF0000"/>
                </a:solidFill>
              </a:rPr>
              <a:t>block</a:t>
            </a:r>
            <a:r>
              <a:rPr lang="en-US" altLang="zh-TW" sz="2800" smtClean="0">
                <a:solidFill>
                  <a:srgbClr val="FF0000"/>
                </a:solidFill>
              </a:rPr>
              <a:t> and </a:t>
            </a:r>
            <a:r>
              <a:rPr lang="en-US" altLang="zh-TW" sz="2800" b="1" smtClean="0">
                <a:solidFill>
                  <a:srgbClr val="FF0000"/>
                </a:solidFill>
              </a:rPr>
              <a:t>wakeup</a:t>
            </a:r>
            <a:r>
              <a:rPr lang="en-US" altLang="zh-TW" sz="2800" smtClean="0">
                <a:solidFill>
                  <a:srgbClr val="FF0000"/>
                </a:solidFill>
              </a:rPr>
              <a:t> operations.</a:t>
            </a:r>
            <a:r>
              <a:rPr lang="en-US" altLang="zh-TW" sz="2800" smtClean="0"/>
              <a:t> And define a semaphore as a record	</a:t>
            </a:r>
            <a:r>
              <a:rPr lang="en-US" altLang="zh-TW" sz="2400" smtClean="0"/>
              <a:t>	</a:t>
            </a:r>
            <a:r>
              <a:rPr lang="en-US" altLang="zh-TW" sz="2400" b="1" smtClean="0"/>
              <a:t>typedef struct {</a:t>
            </a:r>
          </a:p>
          <a:p>
            <a:pPr marL="285750" indent="-28575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smtClean="0"/>
              <a:t>		   			int value;</a:t>
            </a:r>
            <a:br>
              <a:rPr lang="en-US" altLang="zh-TW" sz="2400" b="1" smtClean="0"/>
            </a:br>
            <a:r>
              <a:rPr lang="en-US" altLang="zh-TW" sz="2400" b="1" smtClean="0"/>
              <a:t>	  			struct process *</a:t>
            </a:r>
            <a:r>
              <a:rPr lang="en-US" altLang="zh-TW" sz="2400" b="1" smtClean="0">
                <a:solidFill>
                  <a:srgbClr val="FF0000"/>
                </a:solidFill>
              </a:rPr>
              <a:t>L</a:t>
            </a:r>
            <a:r>
              <a:rPr lang="en-US" altLang="zh-TW" sz="2400" b="1" smtClean="0"/>
              <a:t>;</a:t>
            </a:r>
            <a:br>
              <a:rPr lang="en-US" altLang="zh-TW" sz="2400" b="1" smtClean="0"/>
            </a:br>
            <a:r>
              <a:rPr lang="en-US" altLang="zh-TW" sz="2400" b="1" smtClean="0"/>
              <a:t>			} semaphore;</a:t>
            </a:r>
            <a:r>
              <a:rPr lang="en-US" altLang="zh-TW" sz="2800" b="1" smtClean="0"/>
              <a:t/>
            </a:r>
            <a:br>
              <a:rPr lang="en-US" altLang="zh-TW" sz="2800" b="1" smtClean="0"/>
            </a:br>
            <a:endParaRPr lang="en-US" altLang="zh-TW" sz="2800" b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8E1AB9-C5AB-49AE-A2B3-D5984202E0A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399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CA5367-A020-4DE5-AEE1-A66F36CF325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 smtClean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230188"/>
            <a:ext cx="8107363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Semaphore Implementation (3)</a:t>
            </a:r>
          </a:p>
        </p:txBody>
      </p:sp>
      <p:sp>
        <p:nvSpPr>
          <p:cNvPr id="60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8288" y="819150"/>
            <a:ext cx="8297862" cy="52752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smtClean="0"/>
              <a:t>Semaphore operations now defined as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smtClean="0"/>
              <a:t>	</a:t>
            </a:r>
            <a:r>
              <a:rPr lang="en-US" altLang="zh-TW" sz="2400" b="1" smtClean="0">
                <a:solidFill>
                  <a:srgbClr val="FF0000"/>
                </a:solidFill>
              </a:rPr>
              <a:t>wait(S):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olidFill>
                  <a:srgbClr val="FF0000"/>
                </a:solidFill>
              </a:rPr>
              <a:t>     </a:t>
            </a:r>
            <a:r>
              <a:rPr lang="en-US" altLang="zh-TW" sz="2400" smtClean="0"/>
              <a:t>		</a:t>
            </a:r>
            <a:r>
              <a:rPr lang="en-US" altLang="zh-TW" sz="2400" b="1" smtClean="0"/>
              <a:t>S.value--;</a:t>
            </a:r>
            <a:endParaRPr lang="en-US" altLang="zh-TW" sz="2400" b="1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			</a:t>
            </a:r>
            <a:r>
              <a:rPr lang="en-US" altLang="zh-TW" b="1" smtClean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sz="2400" b="1" smtClean="0">
                <a:sym typeface="Symbol" pitchFamily="18" charset="2"/>
              </a:rPr>
              <a:t> (S.value &lt; 0) {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						</a:t>
            </a:r>
            <a:r>
              <a:rPr lang="en-US" altLang="zh-TW" sz="2400" smtClean="0">
                <a:sym typeface="Symbol" pitchFamily="18" charset="2"/>
              </a:rPr>
              <a:t>add this process to</a:t>
            </a:r>
            <a:r>
              <a:rPr lang="en-US" altLang="zh-TW" sz="2400" b="1" smtClean="0">
                <a:sym typeface="Symbol" pitchFamily="18" charset="2"/>
              </a:rPr>
              <a:t> </a:t>
            </a:r>
            <a:r>
              <a:rPr lang="en-US" altLang="zh-TW" sz="2400" b="1" smtClean="0">
                <a:solidFill>
                  <a:srgbClr val="0000FF"/>
                </a:solidFill>
                <a:sym typeface="Symbol" pitchFamily="18" charset="2"/>
              </a:rPr>
              <a:t>S.L</a:t>
            </a:r>
            <a:r>
              <a:rPr lang="en-US" altLang="zh-TW" sz="2400" b="1" smtClean="0">
                <a:sym typeface="Symbol" pitchFamily="18" charset="2"/>
              </a:rPr>
              <a:t>;</a:t>
            </a:r>
            <a:br>
              <a:rPr lang="en-US" altLang="zh-TW" sz="2400" b="1" smtClean="0">
                <a:sym typeface="Symbol" pitchFamily="18" charset="2"/>
              </a:rPr>
            </a:br>
            <a:r>
              <a:rPr lang="en-US" altLang="zh-TW" sz="2400" b="1" smtClean="0">
                <a:sym typeface="Symbol" pitchFamily="18" charset="2"/>
              </a:rPr>
              <a:t>					</a:t>
            </a: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block</a:t>
            </a:r>
            <a:r>
              <a:rPr lang="en-US" altLang="zh-TW" sz="2400" b="1" smtClean="0"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		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    </a:t>
            </a: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signal(S):</a:t>
            </a:r>
            <a:r>
              <a:rPr lang="en-US" altLang="zh-TW" sz="2400" smtClean="0">
                <a:sym typeface="Symbol" pitchFamily="18" charset="2"/>
              </a:rPr>
              <a:t> </a:t>
            </a:r>
            <a:br>
              <a:rPr lang="en-US" altLang="zh-TW" sz="2400" smtClean="0">
                <a:sym typeface="Symbol" pitchFamily="18" charset="2"/>
              </a:rPr>
            </a:br>
            <a:r>
              <a:rPr lang="en-US" altLang="zh-TW" sz="2400" smtClean="0">
                <a:sym typeface="Symbol" pitchFamily="18" charset="2"/>
              </a:rPr>
              <a:t>		</a:t>
            </a:r>
            <a:r>
              <a:rPr lang="en-US" altLang="zh-TW" sz="2400" b="1" smtClean="0">
                <a:sym typeface="Symbol" pitchFamily="18" charset="2"/>
              </a:rPr>
              <a:t>S.value++;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			</a:t>
            </a:r>
            <a:r>
              <a:rPr lang="en-US" altLang="zh-TW" b="1" smtClean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sz="2400" b="1" smtClean="0">
                <a:sym typeface="Symbol" pitchFamily="18" charset="2"/>
              </a:rPr>
              <a:t> (S.value &lt;= 0)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						</a:t>
            </a:r>
            <a:r>
              <a:rPr lang="en-US" altLang="zh-TW" sz="2400" smtClean="0">
                <a:sym typeface="Symbol" pitchFamily="18" charset="2"/>
              </a:rPr>
              <a:t>remove a process</a:t>
            </a:r>
            <a:r>
              <a:rPr lang="en-US" altLang="zh-TW" sz="2400" b="1" smtClean="0">
                <a:sym typeface="Symbol" pitchFamily="18" charset="2"/>
              </a:rPr>
              <a:t> P </a:t>
            </a:r>
            <a:r>
              <a:rPr lang="en-US" altLang="zh-TW" sz="2400" smtClean="0">
                <a:sym typeface="Symbol" pitchFamily="18" charset="2"/>
              </a:rPr>
              <a:t>from</a:t>
            </a:r>
            <a:r>
              <a:rPr lang="en-US" altLang="zh-TW" sz="2400" b="1" smtClean="0">
                <a:sym typeface="Symbol" pitchFamily="18" charset="2"/>
              </a:rPr>
              <a:t> </a:t>
            </a:r>
            <a:r>
              <a:rPr lang="en-US" altLang="zh-TW" sz="2400" b="1" smtClean="0">
                <a:solidFill>
                  <a:srgbClr val="0000FF"/>
                </a:solidFill>
                <a:sym typeface="Symbol" pitchFamily="18" charset="2"/>
              </a:rPr>
              <a:t>S.L</a:t>
            </a:r>
            <a:r>
              <a:rPr lang="en-US" altLang="zh-TW" sz="2400" b="1" smtClean="0">
                <a:sym typeface="Symbol" pitchFamily="18" charset="2"/>
              </a:rPr>
              <a:t>;</a:t>
            </a:r>
            <a:br>
              <a:rPr lang="en-US" altLang="zh-TW" sz="2400" b="1" smtClean="0">
                <a:sym typeface="Symbol" pitchFamily="18" charset="2"/>
              </a:rPr>
            </a:br>
            <a:r>
              <a:rPr lang="en-US" altLang="zh-TW" sz="2400" b="1" smtClean="0">
                <a:sym typeface="Symbol" pitchFamily="18" charset="2"/>
              </a:rPr>
              <a:t>					</a:t>
            </a: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wakeup(P);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z="2400" b="1" smtClean="0">
                <a:sym typeface="Symbol" pitchFamily="18" charset="2"/>
              </a:rPr>
              <a:t>			}</a:t>
            </a:r>
          </a:p>
        </p:txBody>
      </p:sp>
      <p:grpSp>
        <p:nvGrpSpPr>
          <p:cNvPr id="60424" name="Group 8"/>
          <p:cNvGrpSpPr>
            <a:grpSpLocks/>
          </p:cNvGrpSpPr>
          <p:nvPr/>
        </p:nvGrpSpPr>
        <p:grpSpPr bwMode="auto">
          <a:xfrm>
            <a:off x="2162175" y="1544638"/>
            <a:ext cx="5443538" cy="2192337"/>
            <a:chOff x="1247" y="909"/>
            <a:chExt cx="3482" cy="1107"/>
          </a:xfrm>
        </p:grpSpPr>
        <p:sp>
          <p:nvSpPr>
            <p:cNvPr id="39947" name="Rectangle 9"/>
            <p:cNvSpPr>
              <a:spLocks noChangeArrowheads="1"/>
            </p:cNvSpPr>
            <p:nvPr/>
          </p:nvSpPr>
          <p:spPr bwMode="auto">
            <a:xfrm>
              <a:off x="1247" y="928"/>
              <a:ext cx="3482" cy="10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9948" name="Rectangle 10"/>
            <p:cNvSpPr>
              <a:spLocks noChangeArrowheads="1"/>
            </p:cNvSpPr>
            <p:nvPr/>
          </p:nvSpPr>
          <p:spPr bwMode="auto">
            <a:xfrm>
              <a:off x="1372" y="909"/>
              <a:ext cx="11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endParaRPr lang="en-US" altLang="zh-TW" sz="2000" b="1">
                <a:latin typeface="Times New Roman" pitchFamily="18" charset="0"/>
              </a:endParaRPr>
            </a:p>
          </p:txBody>
        </p:sp>
      </p:grpSp>
      <p:grpSp>
        <p:nvGrpSpPr>
          <p:cNvPr id="60427" name="Group 11"/>
          <p:cNvGrpSpPr>
            <a:grpSpLocks/>
          </p:cNvGrpSpPr>
          <p:nvPr/>
        </p:nvGrpSpPr>
        <p:grpSpPr bwMode="auto">
          <a:xfrm>
            <a:off x="2128838" y="3879850"/>
            <a:ext cx="5502275" cy="2197100"/>
            <a:chOff x="1247" y="909"/>
            <a:chExt cx="3482" cy="1107"/>
          </a:xfrm>
        </p:grpSpPr>
        <p:sp>
          <p:nvSpPr>
            <p:cNvPr id="39945" name="Rectangle 12"/>
            <p:cNvSpPr>
              <a:spLocks noChangeArrowheads="1"/>
            </p:cNvSpPr>
            <p:nvPr/>
          </p:nvSpPr>
          <p:spPr bwMode="auto">
            <a:xfrm>
              <a:off x="1247" y="928"/>
              <a:ext cx="3482" cy="10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9946" name="Rectangle 13"/>
            <p:cNvSpPr>
              <a:spLocks noChangeArrowheads="1"/>
            </p:cNvSpPr>
            <p:nvPr/>
          </p:nvSpPr>
          <p:spPr bwMode="auto">
            <a:xfrm>
              <a:off x="1366" y="909"/>
              <a:ext cx="114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endParaRPr lang="en-US" altLang="zh-TW" sz="2000" b="1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C5E408-BEF7-4056-8474-7A7937DC1E2B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6A74DF-175B-40E3-A71E-7FAE5A61A4B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 smtClean="0"/>
          </a:p>
        </p:txBody>
      </p:sp>
      <p:sp>
        <p:nvSpPr>
          <p:cNvPr id="409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0375" y="230188"/>
            <a:ext cx="8107363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Semaphore Implementation (4)</a:t>
            </a:r>
          </a:p>
        </p:txBody>
      </p:sp>
      <p:sp>
        <p:nvSpPr>
          <p:cNvPr id="13926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9263" y="996950"/>
            <a:ext cx="8694737" cy="5602288"/>
          </a:xfrm>
        </p:spPr>
        <p:txBody>
          <a:bodyPr/>
          <a:lstStyle/>
          <a:p>
            <a:pPr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b="1" smtClean="0">
                <a:solidFill>
                  <a:srgbClr val="FF0000"/>
                </a:solidFill>
              </a:rPr>
              <a:t>signal(S) </a:t>
            </a:r>
            <a:r>
              <a:rPr lang="en-US" altLang="zh-TW" smtClean="0"/>
              <a:t>and</a:t>
            </a:r>
            <a:r>
              <a:rPr lang="en-US" altLang="zh-TW" b="1" smtClean="0">
                <a:solidFill>
                  <a:srgbClr val="FF0000"/>
                </a:solidFill>
              </a:rPr>
              <a:t> wait(S)</a:t>
            </a:r>
            <a:r>
              <a:rPr lang="en-US" altLang="zh-TW" smtClean="0"/>
              <a:t> should be </a:t>
            </a:r>
            <a:r>
              <a:rPr lang="en-US" altLang="zh-TW" b="1" smtClean="0">
                <a:solidFill>
                  <a:srgbClr val="FF0000"/>
                </a:solidFill>
              </a:rPr>
              <a:t>atomic</a:t>
            </a:r>
            <a:r>
              <a:rPr lang="en-US" altLang="zh-TW" smtClean="0"/>
              <a:t>. This situation is a CS problem </a:t>
            </a:r>
            <a:r>
              <a:rPr lang="en-US" altLang="zh-TW" sz="2000" smtClean="0"/>
              <a:t>(</a:t>
            </a:r>
            <a:r>
              <a:rPr lang="en-US" altLang="zh-TW" sz="2000" smtClean="0">
                <a:solidFill>
                  <a:schemeClr val="tx2"/>
                </a:solidFill>
              </a:rPr>
              <a:t>no two processes can executed wait() and signal() on the same semaphore simultaneously</a:t>
            </a:r>
            <a:r>
              <a:rPr lang="en-US" altLang="zh-TW" sz="2000" smtClean="0"/>
              <a:t>).</a:t>
            </a:r>
          </a:p>
          <a:p>
            <a:pPr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mtClean="0"/>
              <a:t>Solutions</a:t>
            </a:r>
          </a:p>
          <a:p>
            <a:pPr lvl="1"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mtClean="0"/>
              <a:t>uniprocessor system: </a:t>
            </a:r>
            <a:r>
              <a:rPr lang="en-US" altLang="zh-TW" b="1" smtClean="0">
                <a:solidFill>
                  <a:srgbClr val="FF0000"/>
                </a:solidFill>
              </a:rPr>
              <a:t>inhibit interrupts during the execution of signal and wait operations</a:t>
            </a:r>
          </a:p>
          <a:p>
            <a:pPr lvl="1"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mtClean="0"/>
              <a:t>multiprocessor system, interrupt does not work here</a:t>
            </a:r>
            <a:endParaRPr lang="en-US" altLang="zh-TW" sz="2400" smtClean="0">
              <a:solidFill>
                <a:srgbClr val="FF0000"/>
              </a:solidFill>
            </a:endParaRPr>
          </a:p>
        </p:txBody>
      </p:sp>
      <p:sp>
        <p:nvSpPr>
          <p:cNvPr id="139274" name="Text Box 1034"/>
          <p:cNvSpPr txBox="1">
            <a:spLocks noChangeArrowheads="1"/>
          </p:cNvSpPr>
          <p:nvPr/>
        </p:nvSpPr>
        <p:spPr bwMode="auto">
          <a:xfrm>
            <a:off x="2722563" y="4597400"/>
            <a:ext cx="221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spin locks for SMP</a:t>
            </a:r>
          </a:p>
        </p:txBody>
      </p:sp>
      <p:pic>
        <p:nvPicPr>
          <p:cNvPr id="4096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4319588"/>
            <a:ext cx="3451225" cy="245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034"/>
          <p:cNvSpPr txBox="1">
            <a:spLocks noChangeArrowheads="1"/>
          </p:cNvSpPr>
          <p:nvPr/>
        </p:nvSpPr>
        <p:spPr bwMode="auto">
          <a:xfrm>
            <a:off x="101600" y="5194300"/>
            <a:ext cx="5221288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context switch takes </a:t>
            </a:r>
            <a:r>
              <a:rPr lang="en-US" altLang="zh-TW" sz="20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000">
                <a:solidFill>
                  <a:srgbClr val="0000FF"/>
                </a:solidFill>
              </a:rPr>
              <a:t> time,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upper bound for holding a spin lock is &lt; 2</a:t>
            </a:r>
            <a:r>
              <a:rPr lang="en-US" altLang="zh-TW" sz="20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000"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4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5F158C-C989-491A-9F42-CCDACCB7480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C28B04-99FE-4513-AEA3-F28930D028D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 smtClean="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230188"/>
            <a:ext cx="8107363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Semaphore Implementation (5)</a:t>
            </a:r>
          </a:p>
        </p:txBody>
      </p:sp>
      <p:sp>
        <p:nvSpPr>
          <p:cNvPr id="289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9263" y="1147763"/>
            <a:ext cx="8432800" cy="5451475"/>
          </a:xfrm>
        </p:spPr>
        <p:txBody>
          <a:bodyPr/>
          <a:lstStyle/>
          <a:p>
            <a:pPr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mtClean="0">
                <a:solidFill>
                  <a:srgbClr val="FF0000"/>
                </a:solidFill>
              </a:rPr>
              <a:t>Note that </a:t>
            </a:r>
            <a:r>
              <a:rPr lang="en-US" altLang="zh-TW" b="1" smtClean="0">
                <a:solidFill>
                  <a:srgbClr val="FF0000"/>
                </a:solidFill>
              </a:rPr>
              <a:t>busy waiting</a:t>
            </a:r>
            <a:r>
              <a:rPr lang="en-US" altLang="zh-TW" smtClean="0">
                <a:solidFill>
                  <a:srgbClr val="FF0000"/>
                </a:solidFill>
              </a:rPr>
              <a:t> have not be completely eliminated</a:t>
            </a:r>
            <a:r>
              <a:rPr lang="en-US" altLang="zh-TW" smtClean="0"/>
              <a:t>. </a:t>
            </a:r>
          </a:p>
          <a:p>
            <a:pPr lvl="1"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mtClean="0"/>
              <a:t>It is </a:t>
            </a:r>
            <a:r>
              <a:rPr lang="en-US" altLang="zh-TW" smtClean="0">
                <a:solidFill>
                  <a:srgbClr val="0000FF"/>
                </a:solidFill>
              </a:rPr>
              <a:t>removed from the entry to the CSs of </a:t>
            </a:r>
            <a:r>
              <a:rPr lang="en-US" altLang="zh-TW" smtClean="0">
                <a:solidFill>
                  <a:srgbClr val="00B050"/>
                </a:solidFill>
              </a:rPr>
              <a:t>application programs</a:t>
            </a:r>
            <a:r>
              <a:rPr lang="en-US" altLang="zh-TW" smtClean="0"/>
              <a:t>.</a:t>
            </a:r>
          </a:p>
          <a:p>
            <a:pPr lvl="1" eaLnBrk="1" hangingPunct="1">
              <a:tabLst>
                <a:tab pos="915988" algn="l"/>
                <a:tab pos="2005013" algn="l"/>
                <a:tab pos="2232025" algn="l"/>
                <a:tab pos="2803525" algn="l"/>
                <a:tab pos="3201988" algn="l"/>
              </a:tabLst>
            </a:pPr>
            <a:r>
              <a:rPr lang="en-US" altLang="zh-TW" smtClean="0"/>
              <a:t>It is limited to CSs of </a:t>
            </a:r>
            <a:r>
              <a:rPr lang="en-US" altLang="zh-TW" smtClean="0">
                <a:latin typeface="Century Gothic" pitchFamily="34" charset="0"/>
              </a:rPr>
              <a:t>signal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FF0000"/>
                </a:solidFill>
              </a:rPr>
              <a:t>and</a:t>
            </a:r>
            <a:r>
              <a:rPr lang="en-US" altLang="zh-TW" smtClean="0"/>
              <a:t> </a:t>
            </a:r>
            <a:r>
              <a:rPr lang="en-US" altLang="zh-TW" smtClean="0">
                <a:latin typeface="Century Gothic" pitchFamily="34" charset="0"/>
              </a:rPr>
              <a:t>wait</a:t>
            </a:r>
            <a:r>
              <a:rPr lang="en-US" altLang="zh-TW" smtClean="0"/>
              <a:t> operations, which are </a:t>
            </a:r>
            <a:r>
              <a:rPr lang="en-US" altLang="zh-TW" smtClean="0">
                <a:solidFill>
                  <a:srgbClr val="FF0000"/>
                </a:solidFill>
              </a:rPr>
              <a:t>short</a:t>
            </a:r>
            <a:r>
              <a:rPr lang="en-US" altLang="zh-TW" smtClean="0"/>
              <a:t>.</a:t>
            </a:r>
            <a:endParaRPr lang="en-US" altLang="zh-TW" b="1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758568-6328-4491-A5F6-2DF72EAD2F5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15C526-306E-442F-BB13-58CCD862D03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 smtClean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242888"/>
            <a:ext cx="8464550" cy="862012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Semaphore as a General Synchronization Tool</a:t>
            </a:r>
          </a:p>
        </p:txBody>
      </p:sp>
      <p:sp>
        <p:nvSpPr>
          <p:cNvPr id="4301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2600" y="1549400"/>
            <a:ext cx="8164513" cy="4600575"/>
          </a:xfrm>
        </p:spPr>
        <p:txBody>
          <a:bodyPr/>
          <a:lstStyle/>
          <a:p>
            <a:pPr eaLnBrk="1" hangingPunct="1">
              <a:tabLst>
                <a:tab pos="2005013" algn="ctr"/>
                <a:tab pos="4518025" algn="ctr"/>
              </a:tabLst>
            </a:pPr>
            <a:r>
              <a:rPr lang="en-US" altLang="zh-TW" smtClean="0"/>
              <a:t>Execute </a:t>
            </a:r>
            <a:r>
              <a:rPr lang="en-US" altLang="zh-TW" i="1" smtClean="0"/>
              <a:t>B</a:t>
            </a:r>
            <a:r>
              <a:rPr lang="en-US" altLang="zh-TW" smtClean="0"/>
              <a:t> in </a:t>
            </a:r>
            <a:r>
              <a:rPr lang="en-US" altLang="zh-TW" i="1" smtClean="0">
                <a:latin typeface="Times New Roman" pitchFamily="18" charset="0"/>
              </a:rPr>
              <a:t>P</a:t>
            </a:r>
            <a:r>
              <a:rPr lang="en-US" altLang="zh-TW" i="1" baseline="-25000" smtClean="0">
                <a:latin typeface="Times New Roman" pitchFamily="18" charset="0"/>
              </a:rPr>
              <a:t>j</a:t>
            </a:r>
            <a:r>
              <a:rPr lang="en-US" altLang="zh-TW" smtClean="0"/>
              <a:t> only after </a:t>
            </a:r>
            <a:r>
              <a:rPr lang="en-US" altLang="zh-TW" i="1" smtClean="0"/>
              <a:t>A</a:t>
            </a:r>
            <a:r>
              <a:rPr lang="en-US" altLang="zh-TW" smtClean="0"/>
              <a:t> executed in </a:t>
            </a:r>
            <a:r>
              <a:rPr lang="en-US" altLang="zh-TW" i="1" smtClean="0">
                <a:latin typeface="Times New Roman" pitchFamily="18" charset="0"/>
              </a:rPr>
              <a:t>P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endParaRPr lang="en-US" altLang="zh-TW" i="1" smtClean="0">
              <a:latin typeface="Times New Roman" pitchFamily="18" charset="0"/>
            </a:endParaRPr>
          </a:p>
          <a:p>
            <a:pPr eaLnBrk="1" hangingPunct="1">
              <a:tabLst>
                <a:tab pos="2005013" algn="ctr"/>
                <a:tab pos="4518025" algn="ctr"/>
              </a:tabLst>
            </a:pPr>
            <a:r>
              <a:rPr lang="en-US" altLang="zh-TW" smtClean="0"/>
              <a:t>Use semaphore </a:t>
            </a:r>
            <a:r>
              <a:rPr lang="en-US" altLang="zh-TW" smtClean="0">
                <a:solidFill>
                  <a:srgbClr val="FF0000"/>
                </a:solidFill>
              </a:rPr>
              <a:t>flag</a:t>
            </a:r>
            <a:r>
              <a:rPr lang="en-US" altLang="zh-TW" smtClean="0"/>
              <a:t> initialized to 0</a:t>
            </a:r>
          </a:p>
          <a:p>
            <a:pPr eaLnBrk="1" hangingPunct="1">
              <a:tabLst>
                <a:tab pos="2005013" algn="ctr"/>
                <a:tab pos="4518025" algn="ctr"/>
              </a:tabLst>
            </a:pPr>
            <a:r>
              <a:rPr lang="en-US" altLang="zh-TW" smtClean="0"/>
              <a:t>Code:</a:t>
            </a:r>
          </a:p>
          <a:p>
            <a:pPr eaLnBrk="1" hangingPunct="1">
              <a:buFont typeface="Wingdings" pitchFamily="2" charset="2"/>
              <a:buNone/>
              <a:tabLst>
                <a:tab pos="2005013" algn="ctr"/>
                <a:tab pos="4518025" algn="ctr"/>
              </a:tabLst>
            </a:pPr>
            <a:r>
              <a:rPr lang="en-US" altLang="zh-TW" i="1" smtClean="0"/>
              <a:t>		 </a:t>
            </a:r>
            <a:r>
              <a:rPr lang="en-US" altLang="zh-TW" i="1" smtClean="0">
                <a:latin typeface="Times New Roman" pitchFamily="18" charset="0"/>
              </a:rPr>
              <a:t>P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r>
              <a:rPr lang="en-US" altLang="zh-TW" i="1" smtClean="0"/>
              <a:t> 	 </a:t>
            </a:r>
            <a:r>
              <a:rPr lang="en-US" altLang="zh-TW" i="1" smtClean="0">
                <a:latin typeface="Times New Roman" pitchFamily="18" charset="0"/>
              </a:rPr>
              <a:t>P</a:t>
            </a:r>
            <a:r>
              <a:rPr lang="en-US" altLang="zh-TW" i="1" baseline="-25000" smtClean="0">
                <a:latin typeface="Times New Roman" pitchFamily="18" charset="0"/>
              </a:rPr>
              <a:t>j</a:t>
            </a:r>
            <a:endParaRPr lang="en-US" altLang="zh-TW" i="1" smtClean="0"/>
          </a:p>
          <a:p>
            <a:pPr eaLnBrk="1" hangingPunct="1">
              <a:buFont typeface="Wingdings" pitchFamily="2" charset="2"/>
              <a:buNone/>
              <a:tabLst>
                <a:tab pos="2005013" algn="ctr"/>
                <a:tab pos="4518025" algn="ctr"/>
              </a:tabLst>
            </a:pPr>
            <a:r>
              <a:rPr lang="en-US" altLang="zh-TW" smtClean="0"/>
              <a:t>		 </a:t>
            </a:r>
            <a:r>
              <a:rPr lang="en-US" altLang="zh-TW" smtClean="0">
                <a:sym typeface="MT Extra" pitchFamily="18" charset="2"/>
              </a:rPr>
              <a:t></a:t>
            </a:r>
            <a:r>
              <a:rPr lang="en-US" altLang="zh-TW" smtClean="0"/>
              <a:t> </a:t>
            </a:r>
            <a:r>
              <a:rPr lang="en-US" altLang="zh-TW" smtClean="0">
                <a:sym typeface="MT Extra" pitchFamily="18" charset="2"/>
              </a:rPr>
              <a:t>	 </a:t>
            </a:r>
          </a:p>
          <a:p>
            <a:pPr eaLnBrk="1" hangingPunct="1">
              <a:buFont typeface="Wingdings" pitchFamily="2" charset="2"/>
              <a:buNone/>
              <a:tabLst>
                <a:tab pos="2005013" algn="ctr"/>
                <a:tab pos="4518025" algn="ctr"/>
              </a:tabLst>
            </a:pPr>
            <a:r>
              <a:rPr lang="en-US" altLang="zh-TW" smtClean="0">
                <a:sym typeface="MT Extra" pitchFamily="18" charset="2"/>
              </a:rPr>
              <a:t>		</a:t>
            </a:r>
            <a:r>
              <a:rPr lang="en-US" altLang="zh-TW" i="1" smtClean="0">
                <a:sym typeface="MT Extra" pitchFamily="18" charset="2"/>
              </a:rPr>
              <a:t>A</a:t>
            </a:r>
            <a:r>
              <a:rPr lang="en-US" altLang="zh-TW" smtClean="0">
                <a:solidFill>
                  <a:srgbClr val="FF0000"/>
                </a:solidFill>
                <a:sym typeface="MT Extra" pitchFamily="18" charset="2"/>
              </a:rPr>
              <a:t>	wait(flag)</a:t>
            </a:r>
          </a:p>
          <a:p>
            <a:pPr eaLnBrk="1" hangingPunct="1">
              <a:buFont typeface="Wingdings" pitchFamily="2" charset="2"/>
              <a:buNone/>
              <a:tabLst>
                <a:tab pos="2005013" algn="ctr"/>
                <a:tab pos="4518025" algn="ctr"/>
              </a:tabLst>
            </a:pPr>
            <a:r>
              <a:rPr lang="en-US" altLang="zh-TW" smtClean="0">
                <a:sym typeface="MT Extra" pitchFamily="18" charset="2"/>
              </a:rPr>
              <a:t>	</a:t>
            </a:r>
            <a:r>
              <a:rPr lang="en-US" altLang="zh-TW" smtClean="0">
                <a:solidFill>
                  <a:srgbClr val="FF0000"/>
                </a:solidFill>
                <a:sym typeface="MT Extra" pitchFamily="18" charset="2"/>
              </a:rPr>
              <a:t>	signal(flag)</a:t>
            </a:r>
            <a:r>
              <a:rPr lang="en-US" altLang="zh-TW" smtClean="0">
                <a:sym typeface="MT Extra" pitchFamily="18" charset="2"/>
              </a:rPr>
              <a:t>	</a:t>
            </a:r>
            <a:r>
              <a:rPr lang="en-US" altLang="zh-TW" i="1" smtClean="0">
                <a:sym typeface="MT Extra" pitchFamily="18" charset="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684D42-40D5-4D81-AA72-C211D19DFF0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FF211F-F3B8-4310-B584-8D800E23706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 smtClean="0"/>
          </a:p>
        </p:txBody>
      </p:sp>
      <p:sp>
        <p:nvSpPr>
          <p:cNvPr id="44037" name="AutoShape 2"/>
          <p:cNvSpPr>
            <a:spLocks noChangeArrowheads="1"/>
          </p:cNvSpPr>
          <p:nvPr/>
        </p:nvSpPr>
        <p:spPr bwMode="auto">
          <a:xfrm>
            <a:off x="3829050" y="2152650"/>
            <a:ext cx="1790700" cy="914400"/>
          </a:xfrm>
          <a:prstGeom prst="irregularSeal1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0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0525" y="747713"/>
            <a:ext cx="8429625" cy="564832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/>
            <a:r>
              <a:rPr lang="en-US" altLang="zh-TW" sz="2800" smtClean="0"/>
              <a:t>The using of semaphores may cause </a:t>
            </a:r>
            <a:r>
              <a:rPr lang="en-US" altLang="zh-TW" sz="2800" b="1" smtClean="0">
                <a:solidFill>
                  <a:srgbClr val="FF0000"/>
                </a:solidFill>
              </a:rPr>
              <a:t>deadlocks</a:t>
            </a:r>
          </a:p>
          <a:p>
            <a:pPr marL="285750" indent="-285750" eaLnBrk="1" hangingPunct="1"/>
            <a:endParaRPr lang="en-US" altLang="zh-TW" sz="2800" smtClean="0"/>
          </a:p>
          <a:p>
            <a:pPr marL="285750" indent="-285750" eaLnBrk="1" hangingPunct="1"/>
            <a:endParaRPr lang="en-US" altLang="zh-TW" sz="2800" smtClean="0"/>
          </a:p>
          <a:p>
            <a:pPr marL="285750" indent="-285750" eaLnBrk="1" hangingPunct="1"/>
            <a:endParaRPr lang="en-US" altLang="zh-TW" sz="2800" smtClean="0"/>
          </a:p>
          <a:p>
            <a:pPr marL="285750" indent="-285750" eaLnBrk="1" hangingPunct="1"/>
            <a:endParaRPr lang="en-US" altLang="zh-TW" sz="2800" smtClean="0"/>
          </a:p>
          <a:p>
            <a:pPr marL="285750" indent="-285750" eaLnBrk="1" hangingPunct="1"/>
            <a:endParaRPr lang="en-US" altLang="zh-TW" sz="2800" smtClean="0">
              <a:solidFill>
                <a:srgbClr val="FF0000"/>
              </a:solidFill>
            </a:endParaRPr>
          </a:p>
          <a:p>
            <a:pPr marL="285750" indent="-285750" eaLnBrk="1" hangingPunct="1"/>
            <a:r>
              <a:rPr lang="en-US" altLang="zh-TW" sz="2800" b="1" smtClean="0">
                <a:solidFill>
                  <a:srgbClr val="FF0000"/>
                </a:solidFill>
                <a:sym typeface="MT Extra" pitchFamily="18" charset="2"/>
              </a:rPr>
              <a:t>Starvation</a:t>
            </a:r>
            <a:r>
              <a:rPr lang="en-US" altLang="zh-TW" sz="2800" smtClean="0">
                <a:sym typeface="MT Extra" pitchFamily="18" charset="2"/>
              </a:rPr>
              <a:t> 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FF0000"/>
                </a:solidFill>
              </a:rPr>
              <a:t>indefinite blocking</a:t>
            </a:r>
            <a:r>
              <a:rPr lang="en-US" altLang="zh-TW" sz="2800" smtClean="0"/>
              <a:t>.  A process may never be removed from the semaphore queue in which it is suspended</a:t>
            </a:r>
          </a:p>
          <a:p>
            <a:pPr marL="685800" lvl="1" indent="-228600" eaLnBrk="1" hangingPunct="1">
              <a:buFont typeface="Wingdings" pitchFamily="2" charset="2"/>
              <a:buNone/>
            </a:pPr>
            <a:r>
              <a:rPr lang="en-US" altLang="zh-TW" smtClean="0"/>
              <a:t>	For example: waiting queues are implemented in LIFO order.</a:t>
            </a:r>
          </a:p>
          <a:p>
            <a:pPr marL="685800" lvl="1" indent="-228600" eaLnBrk="1" hangingPunct="1">
              <a:buFont typeface="Wingdings" pitchFamily="2" charset="2"/>
              <a:buNone/>
            </a:pPr>
            <a:endParaRPr lang="en-US" altLang="zh-TW" smtClean="0"/>
          </a:p>
        </p:txBody>
      </p:sp>
      <p:sp>
        <p:nvSpPr>
          <p:cNvPr id="44039" name="Rectangle 4"/>
          <p:cNvSpPr>
            <a:spLocks noChangeArrowheads="1"/>
          </p:cNvSpPr>
          <p:nvPr/>
        </p:nvSpPr>
        <p:spPr bwMode="auto">
          <a:xfrm>
            <a:off x="1354138" y="1565275"/>
            <a:ext cx="1644650" cy="1882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4040" name="Rectangle 5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296150" cy="6667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Deadlocks and Starvation</a:t>
            </a:r>
          </a:p>
        </p:txBody>
      </p:sp>
      <p:sp>
        <p:nvSpPr>
          <p:cNvPr id="44041" name="Rectangle 6"/>
          <p:cNvSpPr>
            <a:spLocks noChangeArrowheads="1"/>
          </p:cNvSpPr>
          <p:nvPr/>
        </p:nvSpPr>
        <p:spPr bwMode="auto">
          <a:xfrm>
            <a:off x="1566863" y="1589088"/>
            <a:ext cx="1314450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wait(A);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itchFamily="18" charset="0"/>
              </a:rPr>
              <a:t>wait(B);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    S</a:t>
            </a:r>
            <a:r>
              <a:rPr lang="en-US" altLang="zh-TW" sz="2000" b="1" baseline="-25000">
                <a:latin typeface="Book Antiqua" pitchFamily="18" charset="0"/>
              </a:rPr>
              <a:t>0</a:t>
            </a:r>
            <a:endParaRPr lang="en-US" altLang="zh-TW" sz="2000" b="1">
              <a:solidFill>
                <a:srgbClr val="000000"/>
              </a:solidFill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signal(A)</a:t>
            </a:r>
            <a:r>
              <a:rPr lang="en-US" altLang="zh-TW" sz="2000" b="1">
                <a:latin typeface="Book Antiqua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signal(B);</a:t>
            </a:r>
          </a:p>
          <a:p>
            <a:pPr latinLnBrk="1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zh-TW" altLang="en-US" sz="2000" b="1">
              <a:latin typeface="Book Antiqua" pitchFamily="18" charset="0"/>
            </a:endParaRPr>
          </a:p>
        </p:txBody>
      </p:sp>
      <p:sp>
        <p:nvSpPr>
          <p:cNvPr id="44042" name="Rectangle 7"/>
          <p:cNvSpPr>
            <a:spLocks noChangeArrowheads="1"/>
          </p:cNvSpPr>
          <p:nvPr/>
        </p:nvSpPr>
        <p:spPr bwMode="auto">
          <a:xfrm>
            <a:off x="6526213" y="1546225"/>
            <a:ext cx="1701800" cy="1882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4043" name="Rectangle 8"/>
          <p:cNvSpPr>
            <a:spLocks noChangeArrowheads="1"/>
          </p:cNvSpPr>
          <p:nvPr/>
        </p:nvSpPr>
        <p:spPr bwMode="auto">
          <a:xfrm>
            <a:off x="6643688" y="1570038"/>
            <a:ext cx="1314450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wait(B);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itchFamily="18" charset="0"/>
              </a:rPr>
              <a:t>wait(A);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    S</a:t>
            </a:r>
            <a:r>
              <a:rPr lang="en-US" altLang="zh-TW" sz="2000" b="1" baseline="-25000">
                <a:latin typeface="Book Antiqua" pitchFamily="18" charset="0"/>
              </a:rPr>
              <a:t>1</a:t>
            </a:r>
            <a:endParaRPr lang="en-US" altLang="zh-TW" sz="2000" b="1">
              <a:solidFill>
                <a:srgbClr val="000000"/>
              </a:solidFill>
              <a:latin typeface="Book Antiqua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signal(B)</a:t>
            </a:r>
            <a:r>
              <a:rPr lang="en-US" altLang="zh-TW" sz="2000" b="1">
                <a:latin typeface="Book Antiqua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signal(A);</a:t>
            </a:r>
          </a:p>
          <a:p>
            <a:pPr latinLnBrk="1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zh-TW" altLang="en-US" sz="2000" b="1">
              <a:latin typeface="Book Antiqua" pitchFamily="18" charset="0"/>
            </a:endParaRPr>
          </a:p>
        </p:txBody>
      </p:sp>
      <p:sp>
        <p:nvSpPr>
          <p:cNvPr id="44044" name="Text Box 9"/>
          <p:cNvSpPr txBox="1">
            <a:spLocks noChangeArrowheads="1"/>
          </p:cNvSpPr>
          <p:nvPr/>
        </p:nvSpPr>
        <p:spPr bwMode="auto">
          <a:xfrm>
            <a:off x="727075" y="1485900"/>
            <a:ext cx="422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P</a:t>
            </a:r>
            <a:r>
              <a:rPr lang="en-US" altLang="zh-TW" sz="2000" b="1" baseline="-25000">
                <a:latin typeface="Times New Roman" pitchFamily="18" charset="0"/>
              </a:rPr>
              <a:t>0</a:t>
            </a:r>
            <a:endParaRPr lang="en-US" altLang="zh-TW" sz="2000" b="1">
              <a:latin typeface="Times New Roman" pitchFamily="18" charset="0"/>
            </a:endParaRPr>
          </a:p>
        </p:txBody>
      </p:sp>
      <p:sp>
        <p:nvSpPr>
          <p:cNvPr id="44045" name="Text Box 10"/>
          <p:cNvSpPr txBox="1">
            <a:spLocks noChangeArrowheads="1"/>
          </p:cNvSpPr>
          <p:nvPr/>
        </p:nvSpPr>
        <p:spPr bwMode="auto">
          <a:xfrm>
            <a:off x="5851525" y="1543050"/>
            <a:ext cx="422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P</a:t>
            </a:r>
            <a:r>
              <a:rPr lang="en-US" altLang="zh-TW" sz="2000" b="1" baseline="-25000">
                <a:latin typeface="Times New Roman" pitchFamily="18" charset="0"/>
              </a:rPr>
              <a:t>1</a:t>
            </a:r>
            <a:endParaRPr lang="en-US" altLang="zh-TW" sz="2000" b="1">
              <a:latin typeface="Times New Roman" pitchFamily="18" charset="0"/>
            </a:endParaRPr>
          </a:p>
        </p:txBody>
      </p:sp>
      <p:sp>
        <p:nvSpPr>
          <p:cNvPr id="44046" name="Text Box 11"/>
          <p:cNvSpPr txBox="1">
            <a:spLocks noChangeArrowheads="1"/>
          </p:cNvSpPr>
          <p:nvPr/>
        </p:nvSpPr>
        <p:spPr bwMode="auto">
          <a:xfrm>
            <a:off x="3508375" y="1447800"/>
            <a:ext cx="2106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(</a:t>
            </a:r>
            <a:r>
              <a:rPr lang="en-US" altLang="zh-TW" sz="2000" b="1">
                <a:latin typeface="Times New Roman" pitchFamily="18" charset="0"/>
              </a:rPr>
              <a:t>Initially, A=B=1)</a:t>
            </a:r>
          </a:p>
        </p:txBody>
      </p:sp>
      <p:sp>
        <p:nvSpPr>
          <p:cNvPr id="44047" name="Text Box 12"/>
          <p:cNvSpPr txBox="1">
            <a:spLocks noChangeArrowheads="1"/>
          </p:cNvSpPr>
          <p:nvPr/>
        </p:nvSpPr>
        <p:spPr bwMode="auto">
          <a:xfrm>
            <a:off x="4098925" y="2419350"/>
            <a:ext cx="11572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deadlock</a:t>
            </a:r>
          </a:p>
        </p:txBody>
      </p:sp>
      <p:sp>
        <p:nvSpPr>
          <p:cNvPr id="44048" name="Line 13"/>
          <p:cNvSpPr>
            <a:spLocks noChangeShapeType="1"/>
          </p:cNvSpPr>
          <p:nvPr/>
        </p:nvSpPr>
        <p:spPr bwMode="auto">
          <a:xfrm>
            <a:off x="2609850" y="2171700"/>
            <a:ext cx="116205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4049" name="Line 14"/>
          <p:cNvSpPr>
            <a:spLocks noChangeShapeType="1"/>
          </p:cNvSpPr>
          <p:nvPr/>
        </p:nvSpPr>
        <p:spPr bwMode="auto">
          <a:xfrm flipH="1">
            <a:off x="5657850" y="2171700"/>
            <a:ext cx="97155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0AFB645-C879-4F50-BF00-AB401536ED8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4617FC-4FBA-4618-BE8C-509688BDE85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 smtClean="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7772400" cy="833438"/>
          </a:xfrm>
        </p:spPr>
        <p:txBody>
          <a:bodyPr/>
          <a:lstStyle/>
          <a:p>
            <a:pPr eaLnBrk="1" hangingPunct="1"/>
            <a:r>
              <a:rPr lang="en-US" altLang="zh-TW" smtClean="0"/>
              <a:t>Priority Inversion</a:t>
            </a:r>
          </a:p>
        </p:txBody>
      </p:sp>
      <p:sp>
        <p:nvSpPr>
          <p:cNvPr id="65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7025" y="844550"/>
            <a:ext cx="8497888" cy="50307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We have three processes, 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L, M, </a:t>
            </a:r>
            <a:r>
              <a:rPr lang="en-US" altLang="zh-TW" dirty="0" smtClean="0">
                <a:solidFill>
                  <a:srgbClr val="0000FF"/>
                </a:solidFill>
                <a:latin typeface="+mj-lt"/>
                <a:cs typeface="Times New Roman" pitchFamily="18" charset="0"/>
              </a:rPr>
              <a:t>and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H</a:t>
            </a:r>
            <a:r>
              <a:rPr lang="en-US" altLang="zh-TW" dirty="0" smtClean="0">
                <a:solidFill>
                  <a:srgbClr val="0000FF"/>
                </a:solidFill>
              </a:rPr>
              <a:t>, whose priorities follow the order 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 &lt; M &lt; H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</a:p>
          <a:p>
            <a:pPr lvl="1" eaLnBrk="1" hangingPunct="1">
              <a:defRPr/>
            </a:pP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 require resource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, which is being accessed by L. H would wait for L to finish using R.</a:t>
            </a:r>
          </a:p>
          <a:p>
            <a:pPr lvl="1" eaLnBrk="1" hangingPunct="1">
              <a:defRPr/>
            </a:pP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Now, M becomes runnable, preempting L. Indirectly, </a:t>
            </a:r>
            <a:r>
              <a:rPr lang="en-US" altLang="zh-TW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process with a lower priority--process M--has affected how long H must wait for L to relinquish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Priority inheritance protocol</a:t>
            </a:r>
          </a:p>
          <a:p>
            <a:pPr lvl="1" eaLnBrk="1" hangingPunct="1">
              <a:defRPr/>
            </a:pP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Allow process L to temporarily inherit the priority of H until L had finished using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TW" dirty="0" smtClean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8CD7DA5-A27F-4E3C-824A-F6FDCCF9707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60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D2490DD-B917-49C6-BE44-00FA1D26B77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 smtClean="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3438"/>
          </a:xfrm>
        </p:spPr>
        <p:txBody>
          <a:bodyPr/>
          <a:lstStyle/>
          <a:p>
            <a:pPr eaLnBrk="1" hangingPunct="1"/>
            <a:r>
              <a:rPr lang="en-US" altLang="zh-TW" smtClean="0"/>
              <a:t>Two Types of Semaphores</a:t>
            </a:r>
          </a:p>
        </p:txBody>
      </p:sp>
      <p:sp>
        <p:nvSpPr>
          <p:cNvPr id="65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7525" y="1138238"/>
            <a:ext cx="8172450" cy="4692650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solidFill>
                  <a:srgbClr val="FF0000"/>
                </a:solidFill>
              </a:rPr>
              <a:t>Counting</a:t>
            </a:r>
            <a:r>
              <a:rPr lang="en-US" altLang="zh-TW" smtClean="0"/>
              <a:t> semaphore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integer value can range over an unrestricted domain.</a:t>
            </a:r>
            <a:endParaRPr lang="en-US" altLang="zh-TW" b="1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b="1" smtClean="0">
                <a:solidFill>
                  <a:srgbClr val="FF0000"/>
                </a:solidFill>
              </a:rPr>
              <a:t>Binary</a:t>
            </a:r>
            <a:r>
              <a:rPr lang="en-US" altLang="zh-TW" smtClean="0"/>
              <a:t> semaphore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integer value can range only between 0 and 1; can be simpler to implement.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Can implement a counting semaphore </a:t>
            </a:r>
            <a:r>
              <a:rPr lang="en-US" altLang="zh-TW" b="1" i="1" smtClean="0">
                <a:solidFill>
                  <a:srgbClr val="FF0000"/>
                </a:solidFill>
              </a:rPr>
              <a:t>S</a:t>
            </a:r>
            <a:r>
              <a:rPr lang="en-US" altLang="zh-TW" b="1" smtClean="0">
                <a:solidFill>
                  <a:srgbClr val="FF0000"/>
                </a:solidFill>
              </a:rPr>
              <a:t> </a:t>
            </a:r>
            <a:r>
              <a:rPr lang="en-US" altLang="zh-TW" smtClean="0">
                <a:solidFill>
                  <a:srgbClr val="FF0000"/>
                </a:solidFill>
              </a:rPr>
              <a:t>as a binary semaphore.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296D852-A753-4198-9FA3-3C05F3FD68F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3F258F9-D33F-4372-BBAA-B274D792162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 smtClean="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257175"/>
            <a:ext cx="8439150" cy="10922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Implementing </a:t>
            </a:r>
            <a:r>
              <a:rPr lang="en-US" altLang="zh-TW" sz="4000" b="1" i="1" smtClean="0">
                <a:solidFill>
                  <a:srgbClr val="FF0000"/>
                </a:solidFill>
              </a:rPr>
              <a:t>S</a:t>
            </a:r>
            <a:r>
              <a:rPr lang="en-US" altLang="zh-TW" sz="4000" smtClean="0"/>
              <a:t> as a Binary Semaphore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0525" y="1587500"/>
            <a:ext cx="8221663" cy="4432300"/>
          </a:xfrm>
        </p:spPr>
        <p:txBody>
          <a:bodyPr/>
          <a:lstStyle/>
          <a:p>
            <a:pPr eaLnBrk="1" hangingPunct="1">
              <a:tabLst>
                <a:tab pos="2576513" algn="l"/>
                <a:tab pos="3030538" algn="l"/>
              </a:tabLst>
            </a:pPr>
            <a:r>
              <a:rPr lang="en-US" altLang="zh-TW" smtClean="0"/>
              <a:t>Data structures: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2576513" algn="l"/>
                <a:tab pos="3030538" algn="l"/>
              </a:tabLst>
            </a:pPr>
            <a:r>
              <a:rPr lang="en-US" altLang="zh-TW" b="1" smtClean="0"/>
              <a:t>	      binary-semaphore S1, S2;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2576513" algn="l"/>
                <a:tab pos="3030538" algn="l"/>
              </a:tabLst>
            </a:pPr>
            <a:r>
              <a:rPr lang="en-US" altLang="zh-TW" b="1" smtClean="0"/>
              <a:t>	      int C:  </a:t>
            </a:r>
          </a:p>
          <a:p>
            <a:pPr eaLnBrk="1" hangingPunct="1">
              <a:spcBef>
                <a:spcPct val="15000"/>
              </a:spcBef>
              <a:tabLst>
                <a:tab pos="2576513" algn="l"/>
                <a:tab pos="3030538" algn="l"/>
              </a:tabLst>
            </a:pPr>
            <a:r>
              <a:rPr lang="en-US" altLang="zh-TW" smtClean="0"/>
              <a:t>Initialization: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2576513" algn="l"/>
                <a:tab pos="3030538" algn="l"/>
              </a:tabLst>
            </a:pPr>
            <a:r>
              <a:rPr lang="en-US" altLang="zh-TW" smtClean="0"/>
              <a:t>	      </a:t>
            </a:r>
            <a:r>
              <a:rPr lang="en-US" altLang="zh-TW" b="1" smtClean="0"/>
              <a:t>S1 = 1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2576513" algn="l"/>
                <a:tab pos="3030538" algn="l"/>
              </a:tabLst>
            </a:pPr>
            <a:r>
              <a:rPr lang="en-US" altLang="zh-TW" b="1" smtClean="0"/>
              <a:t>	       S2 = 0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2576513" algn="l"/>
                <a:tab pos="3030538" algn="l"/>
              </a:tabLst>
            </a:pPr>
            <a:r>
              <a:rPr lang="en-US" altLang="zh-TW" b="1" smtClean="0"/>
              <a:t>	       C = </a:t>
            </a:r>
            <a:r>
              <a:rPr lang="en-US" altLang="zh-TW" smtClean="0"/>
              <a:t>initial value of counting 		semaphore</a:t>
            </a:r>
            <a:r>
              <a:rPr lang="en-US" altLang="zh-TW" b="1" smtClean="0"/>
              <a:t> </a:t>
            </a:r>
            <a:r>
              <a:rPr lang="en-US" altLang="zh-TW" b="1" i="1" smtClean="0">
                <a:solidFill>
                  <a:srgbClr val="FF0000"/>
                </a:solidFill>
              </a:rPr>
              <a:t>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FE06E1-36DE-412E-B4D3-309340DC612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2B4122-8EE3-4AD1-AB8D-5158B555FE1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 smtClean="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49238"/>
            <a:ext cx="8902700" cy="54292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Implementing </a:t>
            </a:r>
            <a:r>
              <a:rPr lang="en-US" altLang="zh-TW" sz="3600" b="1" i="1" smtClean="0"/>
              <a:t>S</a:t>
            </a:r>
            <a:endParaRPr lang="en-US" altLang="zh-TW" sz="3600" b="1" smtClean="0"/>
          </a:p>
        </p:txBody>
      </p:sp>
      <p:sp>
        <p:nvSpPr>
          <p:cNvPr id="66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5938" y="660400"/>
            <a:ext cx="8283575" cy="57515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800" i="1" smtClean="0">
                <a:latin typeface="Comic Sans MS" pitchFamily="66" charset="0"/>
              </a:rPr>
              <a:t>wait</a:t>
            </a:r>
            <a:r>
              <a:rPr lang="en-US" altLang="zh-TW" sz="2800" smtClean="0">
                <a:latin typeface="Comic Sans MS" pitchFamily="66" charset="0"/>
              </a:rPr>
              <a:t> </a:t>
            </a:r>
            <a:r>
              <a:rPr lang="en-US" altLang="zh-TW" sz="2800" smtClean="0"/>
              <a:t>operation /* </a:t>
            </a:r>
            <a:r>
              <a:rPr lang="en-US" altLang="zh-TW" sz="2400" b="1" smtClean="0"/>
              <a:t>S1</a:t>
            </a:r>
            <a:r>
              <a:rPr lang="en-US" altLang="zh-TW" sz="2400" smtClean="0"/>
              <a:t>=1</a:t>
            </a:r>
            <a:r>
              <a:rPr lang="en-US" altLang="zh-TW" sz="2400" b="1" smtClean="0"/>
              <a:t>, S2</a:t>
            </a:r>
            <a:r>
              <a:rPr lang="en-US" altLang="zh-TW" sz="2400" smtClean="0"/>
              <a:t>=0 and  </a:t>
            </a:r>
            <a:r>
              <a:rPr lang="en-US" altLang="zh-TW" sz="2400" b="1" smtClean="0"/>
              <a:t>C=</a:t>
            </a:r>
            <a:r>
              <a:rPr lang="en-US" altLang="zh-TW" sz="2400" b="1" i="1" smtClean="0"/>
              <a:t>S</a:t>
            </a:r>
            <a:r>
              <a:rPr lang="en-US" altLang="zh-TW" sz="2400" b="1" smtClean="0"/>
              <a:t>  </a:t>
            </a:r>
            <a:r>
              <a:rPr lang="en-US" altLang="zh-TW" sz="2400" smtClean="0"/>
              <a:t>initially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800" smtClean="0"/>
              <a:t>	</a:t>
            </a:r>
            <a:r>
              <a:rPr lang="en-US" altLang="zh-TW" sz="2400" smtClean="0">
                <a:solidFill>
                  <a:schemeClr val="tx2"/>
                </a:solidFill>
              </a:rPr>
              <a:t>	</a:t>
            </a:r>
            <a:r>
              <a:rPr lang="en-US" altLang="zh-TW" sz="2000" b="1" smtClean="0">
                <a:solidFill>
                  <a:schemeClr val="tx2"/>
                </a:solidFill>
              </a:rPr>
              <a:t>wait(S1);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C--;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if (C &lt; 0)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	</a:t>
            </a:r>
            <a:r>
              <a:rPr lang="en-US" altLang="zh-TW" sz="2000" b="1" smtClean="0">
                <a:solidFill>
                  <a:schemeClr val="tx2"/>
                </a:solidFill>
              </a:rPr>
              <a:t>	signal(S1);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	</a:t>
            </a:r>
            <a:r>
              <a:rPr lang="en-US" altLang="zh-TW" sz="2000" b="1" smtClean="0">
                <a:solidFill>
                  <a:srgbClr val="000000"/>
                </a:solidFill>
              </a:rPr>
              <a:t>	wait(S2);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}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</a:t>
            </a:r>
            <a:r>
              <a:rPr lang="en-US" altLang="zh-TW" sz="2000" b="1" smtClean="0">
                <a:solidFill>
                  <a:schemeClr val="tx2"/>
                </a:solidFill>
              </a:rPr>
              <a:t>	signal(S1);</a:t>
            </a:r>
            <a:endParaRPr lang="en-US" altLang="zh-TW" sz="2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800" i="1" smtClean="0">
                <a:latin typeface="Comic Sans MS" pitchFamily="66" charset="0"/>
              </a:rPr>
              <a:t>signal</a:t>
            </a:r>
            <a:r>
              <a:rPr lang="en-US" altLang="zh-TW" sz="2800" smtClean="0">
                <a:latin typeface="Comic Sans MS" pitchFamily="66" charset="0"/>
              </a:rPr>
              <a:t> </a:t>
            </a:r>
            <a:r>
              <a:rPr lang="en-US" altLang="zh-TW" sz="2800" smtClean="0"/>
              <a:t>operation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400" smtClean="0"/>
              <a:t>	</a:t>
            </a:r>
            <a:r>
              <a:rPr lang="en-US" altLang="zh-TW" sz="2400" smtClean="0">
                <a:solidFill>
                  <a:schemeClr val="tx2"/>
                </a:solidFill>
              </a:rPr>
              <a:t>	</a:t>
            </a:r>
            <a:r>
              <a:rPr lang="en-US" altLang="zh-TW" sz="2000" b="1" smtClean="0">
                <a:solidFill>
                  <a:schemeClr val="tx2"/>
                </a:solidFill>
              </a:rPr>
              <a:t>wait(S1);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C ++;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/>
              <a:t>		if (C &lt;=</a:t>
            </a:r>
            <a:r>
              <a:rPr lang="en-US" altLang="zh-TW" sz="2000" b="1" smtClean="0">
                <a:sym typeface="Symbol" pitchFamily="18" charset="2"/>
              </a:rPr>
              <a:t> 0)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>
                <a:sym typeface="Symbol" pitchFamily="18" charset="2"/>
              </a:rPr>
              <a:t>		</a:t>
            </a:r>
            <a:r>
              <a:rPr lang="en-US" altLang="zh-TW" sz="2000" b="1" smtClean="0">
                <a:solidFill>
                  <a:srgbClr val="000000"/>
                </a:solidFill>
                <a:sym typeface="Symbol" pitchFamily="18" charset="2"/>
              </a:rPr>
              <a:t>	signal(S2);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>
                <a:sym typeface="Symbol" pitchFamily="18" charset="2"/>
              </a:rPr>
              <a:t>		else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403475" algn="l"/>
                <a:tab pos="2974975" algn="l"/>
                <a:tab pos="3546475" algn="l"/>
              </a:tabLst>
            </a:pPr>
            <a:r>
              <a:rPr lang="en-US" altLang="zh-TW" sz="2000" b="1" smtClean="0">
                <a:sym typeface="Symbol" pitchFamily="18" charset="2"/>
              </a:rPr>
              <a:t>		</a:t>
            </a:r>
            <a:r>
              <a:rPr lang="en-US" altLang="zh-TW" sz="2000" b="1" smtClean="0">
                <a:solidFill>
                  <a:schemeClr val="tx2"/>
                </a:solidFill>
                <a:sym typeface="Symbol" pitchFamily="18" charset="2"/>
              </a:rPr>
              <a:t>	signal(S1);</a:t>
            </a:r>
          </a:p>
        </p:txBody>
      </p:sp>
      <p:sp>
        <p:nvSpPr>
          <p:cNvPr id="48135" name="Text Box 5"/>
          <p:cNvSpPr txBox="1">
            <a:spLocks noChangeArrowheads="1"/>
          </p:cNvSpPr>
          <p:nvPr/>
        </p:nvSpPr>
        <p:spPr bwMode="auto">
          <a:xfrm>
            <a:off x="866775" y="23034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36" name="Text Box 6"/>
          <p:cNvSpPr txBox="1">
            <a:spLocks noChangeArrowheads="1"/>
          </p:cNvSpPr>
          <p:nvPr/>
        </p:nvSpPr>
        <p:spPr bwMode="auto">
          <a:xfrm>
            <a:off x="827088" y="2320925"/>
            <a:ext cx="1698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  <a:latin typeface="Comic Sans MS" pitchFamily="66" charset="0"/>
              </a:rPr>
              <a:t>Wait </a:t>
            </a:r>
            <a:r>
              <a:rPr lang="en-US" altLang="zh-TW" sz="2400">
                <a:solidFill>
                  <a:srgbClr val="FF0000"/>
                </a:solidFill>
                <a:latin typeface="Comic Sans MS" pitchFamily="66" charset="0"/>
              </a:rPr>
              <a:t>(</a:t>
            </a:r>
            <a:r>
              <a:rPr lang="en-US" altLang="zh-TW" sz="2400" b="1" i="1">
                <a:solidFill>
                  <a:srgbClr val="FF0000"/>
                </a:solidFill>
                <a:latin typeface="Comic Sans MS" pitchFamily="66" charset="0"/>
              </a:rPr>
              <a:t>S</a:t>
            </a:r>
            <a:r>
              <a:rPr lang="en-US" altLang="zh-TW" sz="2400">
                <a:solidFill>
                  <a:srgbClr val="FF0000"/>
                </a:solidFill>
                <a:latin typeface="Comic Sans MS" pitchFamily="66" charset="0"/>
              </a:rPr>
              <a:t>)</a:t>
            </a: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944563" y="5257800"/>
            <a:ext cx="181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  <a:latin typeface="Comic Sans MS" pitchFamily="66" charset="0"/>
              </a:rPr>
              <a:t>Signal</a:t>
            </a:r>
            <a:r>
              <a:rPr lang="en-US" altLang="zh-TW" sz="2400">
                <a:solidFill>
                  <a:srgbClr val="FF0000"/>
                </a:solidFill>
                <a:latin typeface="Comic Sans MS" pitchFamily="66" charset="0"/>
              </a:rPr>
              <a:t>(</a:t>
            </a:r>
            <a:r>
              <a:rPr lang="en-US" altLang="zh-TW" sz="2400" b="1" i="1">
                <a:solidFill>
                  <a:srgbClr val="FF0000"/>
                </a:solidFill>
                <a:latin typeface="Comic Sans MS" pitchFamily="66" charset="0"/>
              </a:rPr>
              <a:t>S</a:t>
            </a:r>
            <a:r>
              <a:rPr lang="en-US" altLang="zh-TW" sz="240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11200" y="1490663"/>
            <a:ext cx="1930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while S </a:t>
            </a:r>
            <a:r>
              <a:rPr lang="en-US" altLang="zh-TW" sz="240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  <a:sym typeface="Symbol" pitchFamily="18" charset="2"/>
              </a:rPr>
              <a:t></a:t>
            </a:r>
            <a:r>
              <a:rPr lang="en-US" altLang="zh-TW" sz="240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 0; </a:t>
            </a:r>
            <a:br>
              <a:rPr lang="en-US" altLang="zh-TW" sz="240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</a:br>
            <a:r>
              <a:rPr lang="zh-TW" altLang="en-US" sz="2400">
                <a:solidFill>
                  <a:srgbClr val="00B050"/>
                </a:solidFill>
                <a:latin typeface="Adobe Gothic Std B" pitchFamily="34" charset="-128"/>
              </a:rPr>
              <a:t>         </a:t>
            </a:r>
            <a:r>
              <a:rPr lang="en-US" altLang="zh-TW" sz="240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S--;</a:t>
            </a:r>
            <a:endParaRPr lang="zh-TW" altLang="en-US" sz="2400">
              <a:solidFill>
                <a:srgbClr val="00B050"/>
              </a:solidFill>
              <a:latin typeface="Adobe Gothic Std B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D7AF65-F693-481C-AA7B-E22368155B6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8A3041-3293-4285-97F9-9B2CC08FA5E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 smtClean="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603500"/>
            <a:ext cx="7162800" cy="1143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Process Synchronization</a:t>
            </a:r>
            <a:br>
              <a:rPr lang="en-US" altLang="zh-TW" smtClean="0"/>
            </a:br>
            <a:r>
              <a:rPr lang="en-US" altLang="zh-TW" smtClean="0"/>
              <a:t>PART II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C8377B-1714-499F-AF52-2BDCE8992FB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199685-8532-41C6-80C6-72D234630DF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 smtClean="0"/>
          </a:p>
        </p:txBody>
      </p:sp>
      <p:sp>
        <p:nvSpPr>
          <p:cNvPr id="5018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20713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13107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876300"/>
            <a:ext cx="8456613" cy="5613400"/>
          </a:xfrm>
        </p:spPr>
        <p:txBody>
          <a:bodyPr/>
          <a:lstStyle/>
          <a:p>
            <a:pPr eaLnBrk="1" hangingPunct="1">
              <a:spcBef>
                <a:spcPct val="80000"/>
              </a:spcBef>
              <a:defRPr/>
            </a:pPr>
            <a:r>
              <a:rPr lang="en-US" altLang="zh-TW" dirty="0" smtClean="0"/>
              <a:t>Classical Problems of Synchronization</a:t>
            </a:r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dirty="0" smtClean="0">
                <a:solidFill>
                  <a:schemeClr val="tx2"/>
                </a:solidFill>
              </a:rPr>
              <a:t>Monitors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dirty="0" smtClean="0"/>
              <a:t>Synchronization </a:t>
            </a:r>
            <a:r>
              <a:rPr lang="en-US" altLang="zh-TW" dirty="0"/>
              <a:t>Examples 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dirty="0">
                <a:solidFill>
                  <a:srgbClr val="FF0000"/>
                </a:solidFill>
              </a:rPr>
              <a:t>Alternative </a:t>
            </a:r>
            <a:r>
              <a:rPr lang="en-US" altLang="zh-TW" dirty="0" smtClean="0">
                <a:solidFill>
                  <a:srgbClr val="FF0000"/>
                </a:solidFill>
              </a:rPr>
              <a:t>Approaches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strike="sngStrike" dirty="0" err="1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Serializability</a:t>
            </a:r>
            <a:r>
              <a:rPr lang="en-US" altLang="zh-TW" strike="sngStrike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and Concurrency-control Algorithms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strike="sngStrike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 </a:t>
            </a:r>
            <a:r>
              <a:rPr lang="en-US" altLang="zh-TW" strike="sngStrike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Regions</a:t>
            </a:r>
            <a:endParaRPr lang="en-US" altLang="zh-TW" strike="sngStrike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57CFF7B-C8AB-444A-83AB-0D0C9B5348D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5AC333-54AC-458C-A022-ED5761E46F7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 smtClean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219075"/>
            <a:ext cx="7772400" cy="6397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Classical Problems of Synchronization</a:t>
            </a:r>
          </a:p>
        </p:txBody>
      </p:sp>
      <p:sp>
        <p:nvSpPr>
          <p:cNvPr id="67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6075" y="977900"/>
            <a:ext cx="8537575" cy="5672138"/>
          </a:xfrm>
        </p:spPr>
        <p:txBody>
          <a:bodyPr/>
          <a:lstStyle/>
          <a:p>
            <a:pPr eaLnBrk="1" hangingPunct="1"/>
            <a:r>
              <a:rPr lang="en-US" altLang="zh-TW" sz="2800" b="1" smtClean="0">
                <a:solidFill>
                  <a:srgbClr val="FF0000"/>
                </a:solidFill>
              </a:rPr>
              <a:t>Bounded-Buffer</a:t>
            </a:r>
            <a:r>
              <a:rPr lang="en-US" altLang="zh-TW" sz="2800" smtClean="0"/>
              <a:t> Problem</a:t>
            </a:r>
            <a:r>
              <a:rPr lang="en-US" altLang="zh-TW" sz="2800" b="1" smtClean="0">
                <a:solidFill>
                  <a:srgbClr val="FF0000"/>
                </a:solidFill>
              </a:rPr>
              <a:t/>
            </a:r>
            <a:br>
              <a:rPr lang="en-US" altLang="zh-TW" sz="2800" b="1" smtClean="0">
                <a:solidFill>
                  <a:srgbClr val="FF0000"/>
                </a:solidFill>
              </a:rPr>
            </a:br>
            <a:r>
              <a:rPr lang="en-US" altLang="zh-TW" sz="2800" b="1" smtClean="0">
                <a:solidFill>
                  <a:srgbClr val="FF0000"/>
                </a:solidFill>
              </a:rPr>
              <a:t>Readers and Writers</a:t>
            </a:r>
            <a:r>
              <a:rPr lang="en-US" altLang="zh-TW" sz="2800" smtClean="0"/>
              <a:t> Problem</a:t>
            </a:r>
            <a:r>
              <a:rPr lang="en-US" altLang="zh-TW" sz="2800" b="1" smtClean="0">
                <a:solidFill>
                  <a:srgbClr val="FF0000"/>
                </a:solidFill>
              </a:rPr>
              <a:t/>
            </a:r>
            <a:br>
              <a:rPr lang="en-US" altLang="zh-TW" sz="2800" b="1" smtClean="0">
                <a:solidFill>
                  <a:srgbClr val="FF0000"/>
                </a:solidFill>
              </a:rPr>
            </a:br>
            <a:r>
              <a:rPr lang="en-US" altLang="zh-TW" sz="2800" b="1" smtClean="0">
                <a:solidFill>
                  <a:srgbClr val="FF0000"/>
                </a:solidFill>
              </a:rPr>
              <a:t>Dining-Philosophers</a:t>
            </a:r>
            <a:r>
              <a:rPr lang="en-US" altLang="zh-TW" sz="2800" smtClean="0"/>
              <a:t> Problem</a:t>
            </a:r>
          </a:p>
          <a:p>
            <a:pPr eaLnBrk="1" hangingPunct="1"/>
            <a:r>
              <a:rPr lang="en-US" altLang="zh-TW" sz="2800" smtClean="0"/>
              <a:t>The three problems are important, because they are</a:t>
            </a:r>
          </a:p>
          <a:p>
            <a:pPr lvl="1" eaLnBrk="1" hangingPunct="1"/>
            <a:r>
              <a:rPr lang="en-US" altLang="zh-TW" sz="2400" smtClean="0"/>
              <a:t>examples for a large class of concurrency-control problems.</a:t>
            </a:r>
          </a:p>
          <a:p>
            <a:pPr lvl="1" eaLnBrk="1" hangingPunct="1"/>
            <a:r>
              <a:rPr lang="en-US" altLang="zh-TW" sz="2400" smtClean="0"/>
              <a:t>used for testing nearly every newly proposed synchronization scheme.</a:t>
            </a:r>
          </a:p>
          <a:p>
            <a:pPr eaLnBrk="1" hangingPunct="1"/>
            <a:r>
              <a:rPr lang="en-US" altLang="zh-TW" sz="2800" smtClean="0"/>
              <a:t>Semaphores are used for synchronization in our solutions.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5921375" y="1895475"/>
            <a:ext cx="322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(</a:t>
            </a:r>
            <a:r>
              <a:rPr lang="en-US" altLang="zh-TW" sz="2400">
                <a:solidFill>
                  <a:srgbClr val="0000FF"/>
                </a:solidFill>
              </a:rPr>
              <a:t>2 separate resources</a:t>
            </a:r>
            <a:r>
              <a:rPr lang="en-US" altLang="zh-TW" sz="2400"/>
              <a:t>)</a:t>
            </a: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B800599-877E-4FD7-B46E-AE7B437C16C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55E088-0C09-428B-B420-EEDDDE81233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 smtClean="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Bounded-Buffer Problem</a:t>
            </a:r>
          </a:p>
        </p:txBody>
      </p:sp>
      <p:sp>
        <p:nvSpPr>
          <p:cNvPr id="686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tabLst>
                <a:tab pos="2058988" algn="l"/>
                <a:tab pos="2459038" algn="l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2058988" algn="l"/>
                <a:tab pos="2459038" algn="l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2058988" algn="l"/>
                <a:tab pos="2459038" algn="l"/>
              </a:tabLst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tabLst>
                <a:tab pos="2058988" algn="l"/>
                <a:tab pos="2459038" algn="l"/>
              </a:tabLst>
            </a:pPr>
            <a:r>
              <a:rPr lang="en-US" altLang="zh-TW" sz="2800" smtClean="0"/>
              <a:t>Shared data</a:t>
            </a:r>
            <a:br>
              <a:rPr lang="en-US" altLang="zh-TW" sz="2800" smtClean="0"/>
            </a:br>
            <a:r>
              <a:rPr lang="en-US" altLang="zh-TW" sz="2800" b="1" smtClean="0"/>
              <a:t>semaphore </a:t>
            </a:r>
            <a:r>
              <a:rPr lang="en-US" altLang="zh-TW" sz="2800" b="1" smtClean="0">
                <a:solidFill>
                  <a:srgbClr val="FF0000"/>
                </a:solidFill>
              </a:rPr>
              <a:t>full</a:t>
            </a:r>
            <a:r>
              <a:rPr lang="en-US" altLang="zh-TW" sz="2800" b="1" smtClean="0"/>
              <a:t>, </a:t>
            </a:r>
            <a:r>
              <a:rPr lang="en-US" altLang="zh-TW" sz="2800" b="1" smtClean="0">
                <a:solidFill>
                  <a:srgbClr val="FF0000"/>
                </a:solidFill>
              </a:rPr>
              <a:t>empty</a:t>
            </a:r>
            <a:r>
              <a:rPr lang="en-US" altLang="zh-TW" sz="2800" b="1" smtClean="0"/>
              <a:t>, </a:t>
            </a:r>
            <a:r>
              <a:rPr lang="en-US" altLang="zh-TW" sz="2800" b="1" smtClean="0">
                <a:solidFill>
                  <a:srgbClr val="FF0000"/>
                </a:solidFill>
              </a:rPr>
              <a:t>mutex</a:t>
            </a:r>
            <a:r>
              <a:rPr lang="en-US" altLang="zh-TW" sz="2800" b="1" smtClean="0"/>
              <a:t>;</a:t>
            </a:r>
          </a:p>
          <a:p>
            <a:pPr eaLnBrk="1" hangingPunct="1">
              <a:lnSpc>
                <a:spcPct val="90000"/>
              </a:lnSpc>
              <a:tabLst>
                <a:tab pos="2058988" algn="l"/>
                <a:tab pos="2459038" algn="l"/>
              </a:tabLst>
            </a:pPr>
            <a:r>
              <a:rPr lang="en-US" altLang="zh-TW" sz="2800" smtClean="0"/>
              <a:t>Initially:</a:t>
            </a:r>
            <a:br>
              <a:rPr lang="en-US" altLang="zh-TW" sz="2800" smtClean="0"/>
            </a:br>
            <a:r>
              <a:rPr lang="en-US" altLang="zh-TW" sz="2800" b="1" smtClean="0"/>
              <a:t>full = 0, </a:t>
            </a:r>
            <a:r>
              <a:rPr lang="en-US" altLang="zh-TW" sz="2000" b="1" smtClean="0"/>
              <a:t>/* # of full slots</a:t>
            </a:r>
            <a:endParaRPr lang="en-US" altLang="zh-TW" sz="28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58988" algn="l"/>
                <a:tab pos="2459038" algn="l"/>
              </a:tabLst>
            </a:pPr>
            <a:r>
              <a:rPr lang="en-US" altLang="zh-TW" sz="2800" b="1" smtClean="0"/>
              <a:t>	empty = </a:t>
            </a:r>
            <a:r>
              <a:rPr lang="en-US" altLang="zh-TW" sz="2800" b="1" i="1" smtClean="0">
                <a:latin typeface="Times New Roman" pitchFamily="18" charset="0"/>
              </a:rPr>
              <a:t>n</a:t>
            </a:r>
            <a:r>
              <a:rPr lang="en-US" altLang="zh-TW" sz="2800" b="1" smtClean="0"/>
              <a:t>, </a:t>
            </a:r>
            <a:r>
              <a:rPr lang="en-US" altLang="zh-TW" sz="2000" b="1" smtClean="0"/>
              <a:t>/* # of empty slots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058988" algn="l"/>
                <a:tab pos="2459038" algn="l"/>
              </a:tabLst>
            </a:pPr>
            <a:r>
              <a:rPr lang="en-US" altLang="zh-TW" sz="2800" b="1" smtClean="0"/>
              <a:t>	mutex = 1</a:t>
            </a:r>
          </a:p>
        </p:txBody>
      </p:sp>
      <p:sp>
        <p:nvSpPr>
          <p:cNvPr id="52231" name="Rectangle 5"/>
          <p:cNvSpPr>
            <a:spLocks noChangeArrowheads="1"/>
          </p:cNvSpPr>
          <p:nvPr/>
        </p:nvSpPr>
        <p:spPr bwMode="auto">
          <a:xfrm>
            <a:off x="2286000" y="2139950"/>
            <a:ext cx="45720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zh-TW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zh-TW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zh-TW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zh-TW">
              <a:latin typeface="Times New Roman" pitchFamily="18" charset="0"/>
            </a:endParaRPr>
          </a:p>
        </p:txBody>
      </p:sp>
      <p:grpSp>
        <p:nvGrpSpPr>
          <p:cNvPr id="52232" name="Group 6"/>
          <p:cNvGrpSpPr>
            <a:grpSpLocks/>
          </p:cNvGrpSpPr>
          <p:nvPr/>
        </p:nvGrpSpPr>
        <p:grpSpPr bwMode="auto">
          <a:xfrm>
            <a:off x="1069975" y="1871663"/>
            <a:ext cx="6881813" cy="1341437"/>
            <a:chOff x="6023" y="1819"/>
            <a:chExt cx="4335" cy="845"/>
          </a:xfrm>
        </p:grpSpPr>
        <p:grpSp>
          <p:nvGrpSpPr>
            <p:cNvPr id="52233" name="Group 7"/>
            <p:cNvGrpSpPr>
              <a:grpSpLocks/>
            </p:cNvGrpSpPr>
            <p:nvPr/>
          </p:nvGrpSpPr>
          <p:grpSpPr bwMode="auto">
            <a:xfrm rot="5400000">
              <a:off x="7931" y="1968"/>
              <a:ext cx="520" cy="872"/>
              <a:chOff x="7931" y="1968"/>
              <a:chExt cx="520" cy="872"/>
            </a:xfrm>
          </p:grpSpPr>
          <p:sp>
            <p:nvSpPr>
              <p:cNvPr id="52239" name="Rectangle 8"/>
              <p:cNvSpPr>
                <a:spLocks noChangeArrowheads="1"/>
              </p:cNvSpPr>
              <p:nvPr/>
            </p:nvSpPr>
            <p:spPr bwMode="auto">
              <a:xfrm>
                <a:off x="7931" y="1968"/>
                <a:ext cx="520" cy="87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224422"/>
                        </a:gs>
                        <a:gs pos="50000">
                          <a:srgbClr val="336633"/>
                        </a:gs>
                        <a:gs pos="100000">
                          <a:srgbClr val="224422"/>
                        </a:gs>
                      </a:gsLst>
                      <a:lin ang="27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52240" name="Line 9"/>
              <p:cNvSpPr>
                <a:spLocks noChangeShapeType="1"/>
              </p:cNvSpPr>
              <p:nvPr/>
            </p:nvSpPr>
            <p:spPr bwMode="auto">
              <a:xfrm>
                <a:off x="7939" y="2088"/>
                <a:ext cx="4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2241" name="Line 10"/>
              <p:cNvSpPr>
                <a:spLocks noChangeShapeType="1"/>
              </p:cNvSpPr>
              <p:nvPr/>
            </p:nvSpPr>
            <p:spPr bwMode="auto">
              <a:xfrm>
                <a:off x="7939" y="2216"/>
                <a:ext cx="4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2242" name="Line 11"/>
              <p:cNvSpPr>
                <a:spLocks noChangeShapeType="1"/>
              </p:cNvSpPr>
              <p:nvPr/>
            </p:nvSpPr>
            <p:spPr bwMode="auto">
              <a:xfrm>
                <a:off x="7939" y="2344"/>
                <a:ext cx="4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2243" name="Line 12"/>
              <p:cNvSpPr>
                <a:spLocks noChangeShapeType="1"/>
              </p:cNvSpPr>
              <p:nvPr/>
            </p:nvSpPr>
            <p:spPr bwMode="auto">
              <a:xfrm>
                <a:off x="7939" y="2472"/>
                <a:ext cx="4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2244" name="Line 13"/>
              <p:cNvSpPr>
                <a:spLocks noChangeShapeType="1"/>
              </p:cNvSpPr>
              <p:nvPr/>
            </p:nvSpPr>
            <p:spPr bwMode="auto">
              <a:xfrm>
                <a:off x="7939" y="2600"/>
                <a:ext cx="4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2245" name="Line 14"/>
              <p:cNvSpPr>
                <a:spLocks noChangeShapeType="1"/>
              </p:cNvSpPr>
              <p:nvPr/>
            </p:nvSpPr>
            <p:spPr bwMode="auto">
              <a:xfrm>
                <a:off x="7939" y="2728"/>
                <a:ext cx="4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52234" name="Text Box 15"/>
            <p:cNvSpPr txBox="1">
              <a:spLocks noChangeArrowheads="1"/>
            </p:cNvSpPr>
            <p:nvPr/>
          </p:nvSpPr>
          <p:spPr bwMode="auto">
            <a:xfrm>
              <a:off x="6023" y="2196"/>
              <a:ext cx="9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latin typeface="Book Antiqua" pitchFamily="18" charset="0"/>
                </a:rPr>
                <a:t>producer</a:t>
              </a:r>
            </a:p>
          </p:txBody>
        </p:sp>
        <p:sp>
          <p:nvSpPr>
            <p:cNvPr id="52235" name="Text Box 16"/>
            <p:cNvSpPr txBox="1">
              <a:spLocks noChangeArrowheads="1"/>
            </p:cNvSpPr>
            <p:nvPr/>
          </p:nvSpPr>
          <p:spPr bwMode="auto">
            <a:xfrm>
              <a:off x="9389" y="2196"/>
              <a:ext cx="9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latin typeface="Book Antiqua" pitchFamily="18" charset="0"/>
                </a:rPr>
                <a:t>consumer</a:t>
              </a:r>
            </a:p>
          </p:txBody>
        </p:sp>
        <p:sp>
          <p:nvSpPr>
            <p:cNvPr id="52236" name="Text Box 17"/>
            <p:cNvSpPr txBox="1">
              <a:spLocks noChangeArrowheads="1"/>
            </p:cNvSpPr>
            <p:nvPr/>
          </p:nvSpPr>
          <p:spPr bwMode="auto">
            <a:xfrm>
              <a:off x="7702" y="1819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itchFamily="18" charset="0"/>
                </a:rPr>
                <a:t>buffer of size </a:t>
              </a:r>
              <a:r>
                <a:rPr lang="en-US" altLang="zh-TW" sz="2000" b="1" i="1">
                  <a:latin typeface="Book Antiqua" pitchFamily="18" charset="0"/>
                </a:rPr>
                <a:t>n</a:t>
              </a:r>
              <a:endParaRPr lang="en-US" altLang="zh-TW" sz="2000" b="1">
                <a:latin typeface="Book Antiqua" pitchFamily="18" charset="0"/>
              </a:endParaRPr>
            </a:p>
          </p:txBody>
        </p:sp>
        <p:sp>
          <p:nvSpPr>
            <p:cNvPr id="52237" name="AutoShape 18"/>
            <p:cNvSpPr>
              <a:spLocks noChangeArrowheads="1"/>
            </p:cNvSpPr>
            <p:nvPr/>
          </p:nvSpPr>
          <p:spPr bwMode="auto">
            <a:xfrm>
              <a:off x="7145" y="2214"/>
              <a:ext cx="327" cy="288"/>
            </a:xfrm>
            <a:prstGeom prst="rightArrow">
              <a:avLst>
                <a:gd name="adj1" fmla="val 50000"/>
                <a:gd name="adj2" fmla="val 28385"/>
              </a:avLst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52238" name="AutoShape 19"/>
            <p:cNvSpPr>
              <a:spLocks noChangeArrowheads="1"/>
            </p:cNvSpPr>
            <p:nvPr/>
          </p:nvSpPr>
          <p:spPr bwMode="auto">
            <a:xfrm>
              <a:off x="8834" y="2238"/>
              <a:ext cx="327" cy="288"/>
            </a:xfrm>
            <a:prstGeom prst="rightArrow">
              <a:avLst>
                <a:gd name="adj1" fmla="val 50000"/>
                <a:gd name="adj2" fmla="val 28385"/>
              </a:avLst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B92D9C-4F56-4DFE-9BAA-E25749E29DF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325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325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7C04D8-75C8-4012-A110-575F5BA2F3A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 smtClean="0"/>
          </a:p>
        </p:txBody>
      </p:sp>
      <p:sp>
        <p:nvSpPr>
          <p:cNvPr id="53253" name="Rectangle 2"/>
          <p:cNvSpPr>
            <a:spLocks noChangeArrowheads="1"/>
          </p:cNvSpPr>
          <p:nvPr/>
        </p:nvSpPr>
        <p:spPr bwMode="auto">
          <a:xfrm>
            <a:off x="228600" y="1768475"/>
            <a:ext cx="3887788" cy="44307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595313" y="1692275"/>
            <a:ext cx="3078162" cy="439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685800" indent="-22860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/>
              <a:t>do {</a:t>
            </a:r>
            <a:endParaRPr lang="en-US" altLang="zh-TW" sz="2000" b="1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produce an item in nextp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</a:t>
            </a: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wait(empty);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wait(mutex)</a:t>
            </a:r>
            <a:r>
              <a:rPr lang="en-US" altLang="zh-TW" sz="2000" b="1">
                <a:latin typeface="Times New Roman" pitchFamily="18" charset="0"/>
              </a:rPr>
              <a:t>;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add nextp to buffer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signal(mutex);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</a:t>
            </a:r>
            <a:r>
              <a:rPr lang="en-US" altLang="zh-TW" sz="2000" b="1">
                <a:solidFill>
                  <a:schemeClr val="tx2"/>
                </a:solidFill>
                <a:latin typeface="Times New Roman" pitchFamily="18" charset="0"/>
              </a:rPr>
              <a:t>signal(full);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/>
              <a:t>} while (1);</a:t>
            </a:r>
          </a:p>
        </p:txBody>
      </p:sp>
      <p:sp>
        <p:nvSpPr>
          <p:cNvPr id="53255" name="Rectangle 4"/>
          <p:cNvSpPr>
            <a:spLocks noChangeArrowheads="1"/>
          </p:cNvSpPr>
          <p:nvPr/>
        </p:nvSpPr>
        <p:spPr bwMode="auto">
          <a:xfrm>
            <a:off x="4181475" y="1768475"/>
            <a:ext cx="4733925" cy="433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4668838" y="1673225"/>
            <a:ext cx="4302125" cy="439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/>
              <a:t>do {</a:t>
            </a:r>
            <a:endParaRPr lang="en-US" altLang="zh-TW" sz="2000" b="1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</a:t>
            </a:r>
            <a:r>
              <a:rPr lang="en-US" altLang="zh-TW" sz="2000" b="1">
                <a:solidFill>
                  <a:schemeClr val="tx2"/>
                </a:solidFill>
                <a:latin typeface="Times New Roman" pitchFamily="18" charset="0"/>
              </a:rPr>
              <a:t>wait(full);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wait(mutex);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remove an item from buffer to nextc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signal(mutex);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</a:t>
            </a: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signal(empty);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consume the item in nextc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/>
              <a:t>} while (1);</a:t>
            </a:r>
          </a:p>
        </p:txBody>
      </p:sp>
      <p:sp>
        <p:nvSpPr>
          <p:cNvPr id="53257" name="Rectangle 6"/>
          <p:cNvSpPr>
            <a:spLocks noChangeArrowheads="1"/>
          </p:cNvSpPr>
          <p:nvPr/>
        </p:nvSpPr>
        <p:spPr bwMode="auto">
          <a:xfrm>
            <a:off x="1350963" y="1219200"/>
            <a:ext cx="1196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Producer</a:t>
            </a:r>
          </a:p>
        </p:txBody>
      </p:sp>
      <p:sp>
        <p:nvSpPr>
          <p:cNvPr id="53258" name="Rectangle 7"/>
          <p:cNvSpPr>
            <a:spLocks noChangeArrowheads="1"/>
          </p:cNvSpPr>
          <p:nvPr/>
        </p:nvSpPr>
        <p:spPr bwMode="auto">
          <a:xfrm>
            <a:off x="431800" y="327025"/>
            <a:ext cx="71437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chemeClr val="tx2"/>
                </a:solidFill>
              </a:rPr>
              <a:t>Bounded-Buffer Problem</a:t>
            </a:r>
          </a:p>
        </p:txBody>
      </p:sp>
      <p:sp>
        <p:nvSpPr>
          <p:cNvPr id="53259" name="Text Box 8"/>
          <p:cNvSpPr txBox="1">
            <a:spLocks noChangeArrowheads="1"/>
          </p:cNvSpPr>
          <p:nvPr/>
        </p:nvSpPr>
        <p:spPr bwMode="auto">
          <a:xfrm>
            <a:off x="5584825" y="1181100"/>
            <a:ext cx="1312863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Consumer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TW" altLang="en-US" sz="2000" b="1">
              <a:latin typeface="Book Antiqua" pitchFamily="18" charset="0"/>
            </a:endParaRPr>
          </a:p>
        </p:txBody>
      </p:sp>
      <p:sp>
        <p:nvSpPr>
          <p:cNvPr id="53260" name="Freeform 9"/>
          <p:cNvSpPr>
            <a:spLocks/>
          </p:cNvSpPr>
          <p:nvPr/>
        </p:nvSpPr>
        <p:spPr bwMode="auto">
          <a:xfrm>
            <a:off x="514350" y="3714750"/>
            <a:ext cx="266700" cy="148590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61" name="Freeform 10"/>
          <p:cNvSpPr>
            <a:spLocks/>
          </p:cNvSpPr>
          <p:nvPr/>
        </p:nvSpPr>
        <p:spPr bwMode="auto">
          <a:xfrm>
            <a:off x="4591050" y="2228850"/>
            <a:ext cx="304800" cy="220980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62" name="Freeform 11"/>
          <p:cNvSpPr>
            <a:spLocks/>
          </p:cNvSpPr>
          <p:nvPr/>
        </p:nvSpPr>
        <p:spPr bwMode="auto">
          <a:xfrm>
            <a:off x="266700" y="3352800"/>
            <a:ext cx="400050" cy="220980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63" name="Freeform 12"/>
          <p:cNvSpPr>
            <a:spLocks/>
          </p:cNvSpPr>
          <p:nvPr/>
        </p:nvSpPr>
        <p:spPr bwMode="auto">
          <a:xfrm>
            <a:off x="4819650" y="2743200"/>
            <a:ext cx="266700" cy="148590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64" name="Line 13"/>
          <p:cNvSpPr>
            <a:spLocks noChangeShapeType="1"/>
          </p:cNvSpPr>
          <p:nvPr/>
        </p:nvSpPr>
        <p:spPr bwMode="auto">
          <a:xfrm flipH="1" flipV="1">
            <a:off x="5848350" y="2381250"/>
            <a:ext cx="14859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65" name="Text Box 14"/>
          <p:cNvSpPr txBox="1">
            <a:spLocks noChangeArrowheads="1"/>
          </p:cNvSpPr>
          <p:nvPr/>
        </p:nvSpPr>
        <p:spPr bwMode="auto">
          <a:xfrm>
            <a:off x="7296150" y="2419350"/>
            <a:ext cx="1549400" cy="36671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0, </a:t>
            </a:r>
            <a:r>
              <a:rPr lang="en-US" altLang="zh-TW" sz="2000" b="1">
                <a:latin typeface="Times New Roman" pitchFamily="18" charset="0"/>
              </a:rPr>
              <a:t>iff no item</a:t>
            </a:r>
          </a:p>
        </p:txBody>
      </p:sp>
      <p:sp>
        <p:nvSpPr>
          <p:cNvPr id="53266" name="Text Box 15"/>
          <p:cNvSpPr txBox="1">
            <a:spLocks noChangeArrowheads="1"/>
          </p:cNvSpPr>
          <p:nvPr/>
        </p:nvSpPr>
        <p:spPr bwMode="auto">
          <a:xfrm>
            <a:off x="2613025" y="2857500"/>
            <a:ext cx="1377950" cy="64135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0, </a:t>
            </a:r>
            <a:r>
              <a:rPr lang="en-US" altLang="zh-TW" sz="2000" b="1">
                <a:latin typeface="Times New Roman" pitchFamily="18" charset="0"/>
              </a:rPr>
              <a:t>iff no buffer</a:t>
            </a:r>
          </a:p>
        </p:txBody>
      </p:sp>
      <p:sp>
        <p:nvSpPr>
          <p:cNvPr id="53267" name="Line 16"/>
          <p:cNvSpPr>
            <a:spLocks noChangeShapeType="1"/>
          </p:cNvSpPr>
          <p:nvPr/>
        </p:nvSpPr>
        <p:spPr bwMode="auto">
          <a:xfrm flipH="1">
            <a:off x="1828800" y="3105150"/>
            <a:ext cx="85725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68" name="Text Box 17"/>
          <p:cNvSpPr txBox="1">
            <a:spLocks noChangeArrowheads="1"/>
          </p:cNvSpPr>
          <p:nvPr/>
        </p:nvSpPr>
        <p:spPr bwMode="auto">
          <a:xfrm>
            <a:off x="7720013" y="4210050"/>
            <a:ext cx="1050925" cy="7334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free one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buffer</a:t>
            </a:r>
          </a:p>
        </p:txBody>
      </p:sp>
      <p:sp>
        <p:nvSpPr>
          <p:cNvPr id="53269" name="Line 18"/>
          <p:cNvSpPr>
            <a:spLocks noChangeShapeType="1"/>
          </p:cNvSpPr>
          <p:nvPr/>
        </p:nvSpPr>
        <p:spPr bwMode="auto">
          <a:xfrm flipH="1" flipV="1">
            <a:off x="6705600" y="4514850"/>
            <a:ext cx="1047750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270" name="Text Box 19"/>
          <p:cNvSpPr txBox="1">
            <a:spLocks noChangeArrowheads="1"/>
          </p:cNvSpPr>
          <p:nvPr/>
        </p:nvSpPr>
        <p:spPr bwMode="auto">
          <a:xfrm>
            <a:off x="2460625" y="5638800"/>
            <a:ext cx="1579563" cy="36671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add one item</a:t>
            </a:r>
          </a:p>
        </p:txBody>
      </p:sp>
      <p:sp>
        <p:nvSpPr>
          <p:cNvPr id="53271" name="Line 20"/>
          <p:cNvSpPr>
            <a:spLocks noChangeShapeType="1"/>
          </p:cNvSpPr>
          <p:nvPr/>
        </p:nvSpPr>
        <p:spPr bwMode="auto">
          <a:xfrm flipH="1" flipV="1">
            <a:off x="2190750" y="5543550"/>
            <a:ext cx="32385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14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141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1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1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8FFB563-1BFF-4636-8A5D-6833D6C69E6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42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8AB9BF-BAEB-44FD-9973-B7F7458E14F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 smtClean="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439738" y="250825"/>
            <a:ext cx="7772400" cy="601663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Readers</a:t>
            </a:r>
            <a:r>
              <a:rPr lang="en-US" altLang="zh-TW" smtClean="0"/>
              <a:t>-</a:t>
            </a:r>
            <a:r>
              <a:rPr lang="en-US" altLang="zh-TW" smtClean="0">
                <a:solidFill>
                  <a:srgbClr val="0000FF"/>
                </a:solidFill>
              </a:rPr>
              <a:t>Writers</a:t>
            </a:r>
            <a:r>
              <a:rPr lang="en-US" altLang="zh-TW" smtClean="0"/>
              <a:t> Problem (1)</a:t>
            </a:r>
          </a:p>
        </p:txBody>
      </p:sp>
      <p:sp>
        <p:nvSpPr>
          <p:cNvPr id="71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6863" y="935038"/>
            <a:ext cx="8612187" cy="547687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each </a:t>
            </a:r>
            <a:r>
              <a:rPr lang="en-US" altLang="zh-TW" sz="2400" smtClean="0">
                <a:solidFill>
                  <a:srgbClr val="0000FF"/>
                </a:solidFill>
              </a:rPr>
              <a:t>writer</a:t>
            </a:r>
            <a:r>
              <a:rPr lang="en-US" altLang="zh-TW" sz="2400" smtClean="0"/>
              <a:t> is required to have </a:t>
            </a:r>
            <a:r>
              <a:rPr lang="en-US" altLang="zh-TW" sz="2400" smtClean="0">
                <a:solidFill>
                  <a:srgbClr val="0000FF"/>
                </a:solidFill>
              </a:rPr>
              <a:t>exclusive access</a:t>
            </a:r>
            <a:r>
              <a:rPr lang="en-US" altLang="zh-TW" sz="2400" smtClean="0"/>
              <a:t> to the shared object.</a:t>
            </a:r>
          </a:p>
          <a:p>
            <a:pPr marL="533400" indent="-5334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At the same time, either </a:t>
            </a:r>
            <a:r>
              <a:rPr lang="en-US" altLang="zh-TW" sz="2400" b="1" smtClean="0">
                <a:solidFill>
                  <a:srgbClr val="FF0000"/>
                </a:solidFill>
              </a:rPr>
              <a:t>several reads</a:t>
            </a:r>
            <a:r>
              <a:rPr lang="en-US" altLang="zh-TW" sz="2400" smtClean="0"/>
              <a:t>, or only </a:t>
            </a:r>
            <a:r>
              <a:rPr lang="en-US" altLang="zh-TW" sz="2400" b="1" smtClean="0">
                <a:solidFill>
                  <a:srgbClr val="FF0000"/>
                </a:solidFill>
              </a:rPr>
              <a:t>a write</a:t>
            </a:r>
            <a:r>
              <a:rPr lang="en-US" altLang="zh-TW" sz="2400" smtClean="0"/>
              <a:t>	</a:t>
            </a:r>
          </a:p>
          <a:p>
            <a:pPr marL="533400" indent="-5334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Shared data</a:t>
            </a:r>
            <a:br>
              <a:rPr lang="en-US" altLang="zh-TW" sz="2400" smtClean="0"/>
            </a:br>
            <a:r>
              <a:rPr lang="en-US" altLang="zh-TW" sz="2400" b="1" smtClean="0"/>
              <a:t>semaphore </a:t>
            </a:r>
            <a:r>
              <a:rPr lang="en-US" altLang="zh-TW" sz="2400" b="1" smtClean="0">
                <a:solidFill>
                  <a:srgbClr val="FF0000"/>
                </a:solidFill>
              </a:rPr>
              <a:t>mutex</a:t>
            </a:r>
            <a:r>
              <a:rPr lang="en-US" altLang="zh-TW" sz="2400" b="1" smtClean="0"/>
              <a:t>, </a:t>
            </a:r>
            <a:r>
              <a:rPr lang="en-US" altLang="zh-TW" sz="2400" b="1" smtClean="0">
                <a:solidFill>
                  <a:srgbClr val="000000"/>
                </a:solidFill>
              </a:rPr>
              <a:t>wrt</a:t>
            </a:r>
            <a:r>
              <a:rPr lang="en-US" altLang="zh-TW" sz="2400" b="1" smtClean="0"/>
              <a:t>;</a:t>
            </a:r>
            <a:r>
              <a:rPr lang="en-US" altLang="zh-TW" sz="2400" b="1" smtClean="0">
                <a:solidFill>
                  <a:schemeClr val="tx2"/>
                </a:solidFill>
              </a:rPr>
              <a:t/>
            </a:r>
            <a:br>
              <a:rPr lang="en-US" altLang="zh-TW" sz="2400" b="1" smtClean="0">
                <a:solidFill>
                  <a:schemeClr val="tx2"/>
                </a:solidFill>
              </a:rPr>
            </a:br>
            <a:r>
              <a:rPr lang="en-US" altLang="zh-TW" sz="2400" b="1" smtClean="0">
                <a:solidFill>
                  <a:schemeClr val="tx2"/>
                </a:solidFill>
              </a:rPr>
              <a:t>readcount</a:t>
            </a:r>
            <a:r>
              <a:rPr lang="en-US" altLang="zh-TW" sz="2400" smtClean="0"/>
              <a:t>: (0, initially;  # of current readers) </a:t>
            </a:r>
          </a:p>
          <a:p>
            <a:pPr marL="533400" indent="-5334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i="1" smtClean="0"/>
              <a:t> </a:t>
            </a:r>
            <a:r>
              <a:rPr lang="en-US" altLang="zh-TW" sz="2400" i="1" smtClean="0">
                <a:solidFill>
                  <a:srgbClr val="FF0000"/>
                </a:solidFill>
              </a:rPr>
              <a:t>	</a:t>
            </a:r>
            <a:r>
              <a:rPr lang="en-US" altLang="zh-TW" sz="2400" b="1" smtClean="0">
                <a:solidFill>
                  <a:srgbClr val="FF0000"/>
                </a:solidFill>
              </a:rPr>
              <a:t>mutex</a:t>
            </a:r>
            <a:r>
              <a:rPr lang="en-US" altLang="zh-TW" sz="2400" b="1" smtClean="0"/>
              <a:t>: </a:t>
            </a:r>
            <a:r>
              <a:rPr lang="en-US" altLang="zh-TW" sz="2400" smtClean="0"/>
              <a:t>(1, initially; mutual exclusion for </a:t>
            </a:r>
            <a:r>
              <a:rPr lang="en-US" altLang="zh-TW" sz="2400" smtClean="0">
                <a:solidFill>
                  <a:schemeClr val="tx2"/>
                </a:solidFill>
              </a:rPr>
              <a:t>readcount</a:t>
            </a:r>
            <a:r>
              <a:rPr lang="en-US" altLang="zh-TW" sz="2400" smtClean="0"/>
              <a:t>)</a:t>
            </a:r>
          </a:p>
          <a:p>
            <a:pPr marL="533400" indent="-5334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i="1" smtClean="0"/>
              <a:t> </a:t>
            </a:r>
            <a:r>
              <a:rPr lang="en-US" altLang="zh-TW" sz="2400" i="1" smtClean="0">
                <a:solidFill>
                  <a:srgbClr val="000000"/>
                </a:solidFill>
              </a:rPr>
              <a:t>	</a:t>
            </a:r>
            <a:r>
              <a:rPr lang="en-US" altLang="zh-TW" sz="2400" b="1" smtClean="0">
                <a:solidFill>
                  <a:srgbClr val="000000"/>
                </a:solidFill>
              </a:rPr>
              <a:t>wrt</a:t>
            </a:r>
            <a:r>
              <a:rPr lang="en-US" altLang="zh-TW" sz="2400" b="1" smtClean="0"/>
              <a:t>: </a:t>
            </a:r>
            <a:r>
              <a:rPr lang="en-US" altLang="zh-TW" sz="2400" smtClean="0"/>
              <a:t>(1, initially)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AutoNum type="arabicPeriod"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mtClean="0">
                <a:solidFill>
                  <a:srgbClr val="FF0000"/>
                </a:solidFill>
              </a:rPr>
              <a:t>mutual exclusion for writers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AutoNum type="arabicPeriod"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mtClean="0"/>
              <a:t>It also is used by the </a:t>
            </a:r>
            <a:r>
              <a:rPr lang="en-US" altLang="zh-TW" b="1" smtClean="0">
                <a:solidFill>
                  <a:srgbClr val="000000"/>
                </a:solidFill>
              </a:rPr>
              <a:t>first-in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000000"/>
                </a:solidFill>
              </a:rPr>
              <a:t>and</a:t>
            </a:r>
            <a:r>
              <a:rPr lang="en-US" altLang="zh-TW" smtClean="0"/>
              <a:t> </a:t>
            </a:r>
            <a:r>
              <a:rPr lang="en-US" altLang="zh-TW" b="1" smtClean="0">
                <a:solidFill>
                  <a:srgbClr val="000000"/>
                </a:solidFill>
              </a:rPr>
              <a:t>last-out</a:t>
            </a:r>
            <a:r>
              <a:rPr lang="en-US" altLang="zh-TW" i="1" smtClean="0"/>
              <a:t> </a:t>
            </a:r>
            <a:r>
              <a:rPr lang="en-US" altLang="zh-TW" smtClean="0">
                <a:solidFill>
                  <a:srgbClr val="FF0000"/>
                </a:solidFill>
              </a:rPr>
              <a:t>readers</a:t>
            </a:r>
            <a:endParaRPr lang="en-US" altLang="zh-TW" sz="2800" smtClean="0">
              <a:solidFill>
                <a:srgbClr val="FF0000"/>
              </a:solidFill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508000" y="3770313"/>
            <a:ext cx="8142288" cy="1543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F282A6-A2B8-4A13-BCDF-95EAC58A9B0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1BD130-AB65-496E-81DC-A462F15FEC0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 smtClean="0"/>
          </a:p>
        </p:txBody>
      </p:sp>
      <p:sp>
        <p:nvSpPr>
          <p:cNvPr id="553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52450" y="323850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Readers</a:t>
            </a:r>
            <a:r>
              <a:rPr lang="en-US" altLang="zh-TW" smtClean="0"/>
              <a:t>-</a:t>
            </a:r>
            <a:r>
              <a:rPr lang="en-US" altLang="zh-TW" smtClean="0">
                <a:solidFill>
                  <a:srgbClr val="0000FF"/>
                </a:solidFill>
              </a:rPr>
              <a:t>Writers</a:t>
            </a:r>
            <a:r>
              <a:rPr lang="en-US" altLang="zh-TW" smtClean="0"/>
              <a:t> Problem (2)</a:t>
            </a:r>
          </a:p>
        </p:txBody>
      </p:sp>
      <p:sp>
        <p:nvSpPr>
          <p:cNvPr id="14336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3688" y="1119188"/>
            <a:ext cx="8482012" cy="4729162"/>
          </a:xfrm>
        </p:spPr>
        <p:txBody>
          <a:bodyPr/>
          <a:lstStyle/>
          <a:p>
            <a:pPr eaLnBrk="1" hangingPunct="1"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3400" smtClean="0"/>
              <a:t>If </a:t>
            </a:r>
            <a:r>
              <a:rPr lang="en-US" altLang="zh-TW" sz="3400" smtClean="0">
                <a:solidFill>
                  <a:srgbClr val="FF0000"/>
                </a:solidFill>
              </a:rPr>
              <a:t>a writer is in the CS</a:t>
            </a:r>
            <a:r>
              <a:rPr lang="en-US" altLang="zh-TW" sz="3400" smtClean="0"/>
              <a:t> and </a:t>
            </a:r>
            <a:r>
              <a:rPr lang="en-US" altLang="zh-TW" sz="3400" i="1" smtClean="0">
                <a:latin typeface="Times New Roman" pitchFamily="18" charset="0"/>
              </a:rPr>
              <a:t>n</a:t>
            </a:r>
            <a:r>
              <a:rPr lang="en-US" altLang="zh-TW" sz="3400" i="1" smtClean="0"/>
              <a:t> </a:t>
            </a:r>
            <a:r>
              <a:rPr lang="en-US" altLang="zh-TW" sz="3400" smtClean="0"/>
              <a:t>readers are waiting, then</a:t>
            </a:r>
          </a:p>
          <a:p>
            <a:pPr lvl="1" eaLnBrk="1" hangingPunct="1"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3000" smtClean="0"/>
              <a:t> </a:t>
            </a:r>
            <a:r>
              <a:rPr lang="en-US" altLang="zh-TW" sz="3000" smtClean="0">
                <a:solidFill>
                  <a:srgbClr val="FF0000"/>
                </a:solidFill>
              </a:rPr>
              <a:t>one (1st) is queued on</a:t>
            </a:r>
            <a:r>
              <a:rPr lang="en-US" altLang="zh-TW" sz="3000" i="1" smtClean="0">
                <a:solidFill>
                  <a:srgbClr val="FF0000"/>
                </a:solidFill>
              </a:rPr>
              <a:t> </a:t>
            </a:r>
            <a:r>
              <a:rPr lang="en-US" altLang="zh-TW" sz="3000" b="1" smtClean="0">
                <a:solidFill>
                  <a:srgbClr val="000000"/>
                </a:solidFill>
              </a:rPr>
              <a:t>wrt</a:t>
            </a:r>
          </a:p>
          <a:p>
            <a:pPr lvl="1" eaLnBrk="1" hangingPunct="1"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3000" i="1" smtClean="0"/>
              <a:t> </a:t>
            </a:r>
            <a:r>
              <a:rPr lang="en-US" altLang="zh-TW" sz="3000" smtClean="0"/>
              <a:t>the other </a:t>
            </a:r>
            <a:r>
              <a:rPr lang="en-US" altLang="zh-TW" sz="3000" i="1" smtClean="0">
                <a:latin typeface="Times New Roman" pitchFamily="18" charset="0"/>
              </a:rPr>
              <a:t>n</a:t>
            </a:r>
            <a:r>
              <a:rPr lang="en-US" altLang="zh-TW" sz="3000" smtClean="0">
                <a:latin typeface="Times New Roman" pitchFamily="18" charset="0"/>
              </a:rPr>
              <a:t>-1</a:t>
            </a:r>
            <a:r>
              <a:rPr lang="en-US" altLang="zh-TW" sz="3000" smtClean="0"/>
              <a:t> are queued on </a:t>
            </a:r>
            <a:r>
              <a:rPr lang="en-US" altLang="zh-TW" sz="3000" b="1" smtClean="0">
                <a:solidFill>
                  <a:srgbClr val="000000"/>
                </a:solidFill>
              </a:rPr>
              <a:t>mutex</a:t>
            </a:r>
          </a:p>
          <a:p>
            <a:pPr eaLnBrk="1" hangingPunct="1"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3400" smtClean="0"/>
              <a:t>When a writer executes signal(</a:t>
            </a:r>
            <a:r>
              <a:rPr lang="en-US" altLang="zh-TW" sz="3400" b="1" smtClean="0">
                <a:solidFill>
                  <a:srgbClr val="000000"/>
                </a:solidFill>
              </a:rPr>
              <a:t>wrt</a:t>
            </a:r>
            <a:r>
              <a:rPr lang="en-US" altLang="zh-TW" sz="3400" smtClean="0"/>
              <a:t>), </a:t>
            </a:r>
            <a:r>
              <a:rPr lang="en-US" altLang="zh-TW" sz="3400" smtClean="0">
                <a:solidFill>
                  <a:schemeClr val="tx2"/>
                </a:solidFill>
              </a:rPr>
              <a:t>either</a:t>
            </a:r>
            <a:r>
              <a:rPr lang="en-US" altLang="zh-TW" sz="3400" smtClean="0"/>
              <a:t> </a:t>
            </a:r>
            <a:r>
              <a:rPr lang="en-US" altLang="zh-TW" sz="3400" smtClean="0">
                <a:sym typeface="Wingdings 2" pitchFamily="18" charset="2"/>
              </a:rPr>
              <a:t></a:t>
            </a:r>
            <a:r>
              <a:rPr lang="en-US" altLang="zh-TW" sz="3400" smtClean="0">
                <a:solidFill>
                  <a:srgbClr val="FF0000"/>
                </a:solidFill>
              </a:rPr>
              <a:t>the waiting readers</a:t>
            </a:r>
            <a:r>
              <a:rPr lang="en-US" altLang="zh-TW" sz="3400" smtClean="0"/>
              <a:t> </a:t>
            </a:r>
            <a:r>
              <a:rPr lang="en-US" altLang="zh-TW" sz="3400" smtClean="0">
                <a:solidFill>
                  <a:schemeClr val="tx2"/>
                </a:solidFill>
              </a:rPr>
              <a:t>or</a:t>
            </a:r>
            <a:r>
              <a:rPr lang="en-US" altLang="zh-TW" sz="3400" smtClean="0"/>
              <a:t> </a:t>
            </a:r>
            <a:r>
              <a:rPr lang="en-US" altLang="zh-TW" sz="3400" smtClean="0">
                <a:sym typeface="Wingdings 2" pitchFamily="18" charset="2"/>
              </a:rPr>
              <a:t></a:t>
            </a:r>
            <a:r>
              <a:rPr lang="en-US" altLang="zh-TW" sz="3400" smtClean="0">
                <a:solidFill>
                  <a:srgbClr val="FF0000"/>
                </a:solidFill>
              </a:rPr>
              <a:t>a single writer</a:t>
            </a:r>
            <a:r>
              <a:rPr lang="en-US" altLang="zh-TW" sz="3400" smtClean="0"/>
              <a:t> are resumed. The selection is made by the scheduler.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B18D92-5F3A-4E9E-BA66-35878085277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63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669D28-DEE7-4360-965C-244C80742EE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 smtClean="0"/>
          </a:p>
        </p:txBody>
      </p:sp>
      <p:sp>
        <p:nvSpPr>
          <p:cNvPr id="563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81025" y="250825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Readers</a:t>
            </a:r>
            <a:r>
              <a:rPr lang="en-US" altLang="zh-TW" smtClean="0"/>
              <a:t>-</a:t>
            </a:r>
            <a:r>
              <a:rPr lang="en-US" altLang="zh-TW" smtClean="0">
                <a:solidFill>
                  <a:srgbClr val="0000FF"/>
                </a:solidFill>
              </a:rPr>
              <a:t>Writers</a:t>
            </a:r>
            <a:r>
              <a:rPr lang="en-US" altLang="zh-TW" smtClean="0"/>
              <a:t> Problem (3)</a:t>
            </a:r>
          </a:p>
        </p:txBody>
      </p:sp>
      <p:sp>
        <p:nvSpPr>
          <p:cNvPr id="14233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7813" y="1176338"/>
            <a:ext cx="8574087" cy="5383212"/>
          </a:xfrm>
        </p:spPr>
        <p:txBody>
          <a:bodyPr/>
          <a:lstStyle/>
          <a:p>
            <a:pPr marL="533400" indent="-533400" algn="ctr" eaLnBrk="1" hangingPunct="1">
              <a:spcAft>
                <a:spcPts val="600"/>
              </a:spcAft>
              <a:buFont typeface="Wingdings" pitchFamily="2" charset="2"/>
              <a:buNone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>
                <a:solidFill>
                  <a:srgbClr val="FF0000"/>
                </a:solidFill>
              </a:rPr>
              <a:t>Two variations (priorities of readers and writers)</a:t>
            </a:r>
          </a:p>
          <a:p>
            <a:pPr marL="533400" indent="-533400" eaLnBrk="1" hangingPunct="1">
              <a:spcAft>
                <a:spcPts val="600"/>
              </a:spcAft>
              <a:buFont typeface="Wingdings" pitchFamily="2" charset="2"/>
              <a:buAutoNum type="arabicPeriod"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No reader will be kept waiting unless a writer has already obtained permission to use the shared object. </a:t>
            </a:r>
          </a:p>
          <a:p>
            <a:pPr marL="533400" indent="-533400" eaLnBrk="1" hangingPunct="1">
              <a:spcAft>
                <a:spcPts val="600"/>
              </a:spcAft>
              <a:buFont typeface="Wingdings" pitchFamily="2" charset="2"/>
              <a:buNone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	(Thus, no reader should wait for other readers to finish simply because a writer is waiting.) </a:t>
            </a:r>
            <a:r>
              <a:rPr lang="en-US" altLang="zh-TW" sz="2400" smtClean="0">
                <a:solidFill>
                  <a:srgbClr val="0000FF"/>
                </a:solidFill>
              </a:rPr>
              <a:t>Writers may starve</a:t>
            </a:r>
          </a:p>
          <a:p>
            <a:pPr marL="533400" indent="-533400" eaLnBrk="1" hangingPunct="1">
              <a:spcAft>
                <a:spcPts val="600"/>
              </a:spcAft>
              <a:buFont typeface="Wingdings" pitchFamily="2" charset="2"/>
              <a:buAutoNum type="arabicPeriod" startAt="2"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Once a writer is ready, that writer performs its write as soon as possible. </a:t>
            </a:r>
          </a:p>
          <a:p>
            <a:pPr marL="533400" indent="-533400" eaLnBrk="1" hangingPunct="1">
              <a:spcAft>
                <a:spcPts val="600"/>
              </a:spcAft>
              <a:buFont typeface="Wingdings" pitchFamily="2" charset="2"/>
              <a:buNone/>
              <a:tabLst>
                <a:tab pos="2232025" algn="l"/>
                <a:tab pos="2513013" algn="l"/>
                <a:tab pos="2857500" algn="l"/>
              </a:tabLst>
            </a:pPr>
            <a:r>
              <a:rPr lang="en-US" altLang="zh-TW" sz="2400" smtClean="0"/>
              <a:t>	(Thus, if a writer is waiting to access the object, no new readers may start reading.) </a:t>
            </a:r>
            <a:r>
              <a:rPr lang="en-US" altLang="zh-TW" sz="2400" smtClean="0">
                <a:solidFill>
                  <a:srgbClr val="0000FF"/>
                </a:solidFill>
              </a:rPr>
              <a:t>Readers may starve</a:t>
            </a:r>
            <a:endParaRPr lang="en-US" altLang="zh-TW" sz="200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5923F7-9811-43E5-8FDD-B3EF2F420A3E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73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48EF9E-FFFC-4094-A9A0-7E6EBE4E1C0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 smtClean="0"/>
          </a:p>
        </p:txBody>
      </p:sp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4105275" y="1474788"/>
            <a:ext cx="4521200" cy="45323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7350" name="Rectangle 3"/>
          <p:cNvSpPr>
            <a:spLocks noChangeArrowheads="1"/>
          </p:cNvSpPr>
          <p:nvPr/>
        </p:nvSpPr>
        <p:spPr bwMode="auto">
          <a:xfrm>
            <a:off x="141288" y="2143125"/>
            <a:ext cx="3276600" cy="2335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4411663" y="1549400"/>
            <a:ext cx="4048125" cy="403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</a:t>
            </a:r>
            <a:r>
              <a:rPr lang="en-US" altLang="zh-TW" sz="2000" b="1">
                <a:latin typeface="Times New Roman" pitchFamily="18" charset="0"/>
              </a:rPr>
              <a:t>wait(mutex);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	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readcount++;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if (readcount == 1)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wait</a:t>
            </a: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(wrt</a:t>
            </a:r>
            <a:r>
              <a:rPr lang="en-US" altLang="zh-TW" sz="2000" b="1">
                <a:latin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signal(mutex);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	     reading is performed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wait(mutex);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	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readcount--;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</a:t>
            </a: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if (readcount == 0)  signal(wrt);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signal(mutex);</a:t>
            </a:r>
          </a:p>
        </p:txBody>
      </p:sp>
      <p:sp>
        <p:nvSpPr>
          <p:cNvPr id="57352" name="Rectangle 5"/>
          <p:cNvSpPr>
            <a:spLocks noChangeArrowheads="1"/>
          </p:cNvSpPr>
          <p:nvPr/>
        </p:nvSpPr>
        <p:spPr bwMode="auto">
          <a:xfrm>
            <a:off x="374650" y="2244725"/>
            <a:ext cx="3024188" cy="239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</a:t>
            </a:r>
            <a:r>
              <a:rPr lang="en-US" altLang="zh-TW" sz="2400" b="1">
                <a:solidFill>
                  <a:srgbClr val="FF0000"/>
                </a:solidFill>
                <a:latin typeface="Times New Roman" pitchFamily="18" charset="0"/>
              </a:rPr>
              <a:t>wait</a:t>
            </a:r>
            <a:r>
              <a:rPr lang="en-US" altLang="zh-TW" sz="2400" b="1">
                <a:solidFill>
                  <a:srgbClr val="000000"/>
                </a:solidFill>
                <a:latin typeface="Times New Roman" pitchFamily="18" charset="0"/>
              </a:rPr>
              <a:t>(wrt</a:t>
            </a:r>
            <a:r>
              <a:rPr lang="en-US" altLang="zh-TW" sz="2400" b="1">
                <a:latin typeface="Times New Roman" pitchFamily="18" charset="0"/>
              </a:rPr>
              <a:t>)</a:t>
            </a:r>
            <a:r>
              <a:rPr lang="en-US" altLang="zh-TW" sz="2000" b="1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	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	     writing is performed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</a:t>
            </a:r>
            <a:r>
              <a:rPr lang="en-US" altLang="zh-TW" sz="2400" b="1">
                <a:solidFill>
                  <a:srgbClr val="0000FF"/>
                </a:solidFill>
                <a:latin typeface="Times New Roman" pitchFamily="18" charset="0"/>
              </a:rPr>
              <a:t>signal(wrt);</a:t>
            </a:r>
          </a:p>
          <a:p>
            <a:pPr latinLnBrk="1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zh-TW" altLang="en-US" sz="24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7353" name="Rectangle 6"/>
          <p:cNvSpPr>
            <a:spLocks noChangeArrowheads="1"/>
          </p:cNvSpPr>
          <p:nvPr/>
        </p:nvSpPr>
        <p:spPr bwMode="auto">
          <a:xfrm>
            <a:off x="431800" y="242888"/>
            <a:ext cx="8355013" cy="85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rgbClr val="FF0000"/>
                </a:solidFill>
              </a:rPr>
              <a:t>Readers</a:t>
            </a:r>
            <a:r>
              <a:rPr lang="en-US" altLang="zh-TW" sz="4400">
                <a:solidFill>
                  <a:schemeClr val="tx2"/>
                </a:solidFill>
              </a:rPr>
              <a:t>-</a:t>
            </a:r>
            <a:r>
              <a:rPr lang="en-US" altLang="zh-TW" sz="4400">
                <a:solidFill>
                  <a:srgbClr val="0000FF"/>
                </a:solidFill>
              </a:rPr>
              <a:t>Writers</a:t>
            </a:r>
            <a:r>
              <a:rPr lang="en-US" altLang="zh-TW" sz="4400">
                <a:solidFill>
                  <a:schemeClr val="tx2"/>
                </a:solidFill>
              </a:rPr>
              <a:t> </a:t>
            </a:r>
            <a:r>
              <a:rPr lang="en-US" altLang="zh-TW" sz="4000">
                <a:solidFill>
                  <a:schemeClr val="tx2"/>
                </a:solidFill>
              </a:rPr>
              <a:t>Problem (4)</a:t>
            </a:r>
            <a:br>
              <a:rPr lang="en-US" altLang="zh-TW" sz="4000">
                <a:solidFill>
                  <a:schemeClr val="tx2"/>
                </a:solidFill>
              </a:rPr>
            </a:br>
            <a:r>
              <a:rPr lang="en-US" altLang="zh-TW" sz="2800">
                <a:solidFill>
                  <a:schemeClr val="tx2"/>
                </a:solidFill>
              </a:rPr>
              <a:t>for the first solution</a:t>
            </a:r>
          </a:p>
        </p:txBody>
      </p:sp>
      <p:sp>
        <p:nvSpPr>
          <p:cNvPr id="57354" name="Text Box 7"/>
          <p:cNvSpPr txBox="1">
            <a:spLocks noChangeArrowheads="1"/>
          </p:cNvSpPr>
          <p:nvPr/>
        </p:nvSpPr>
        <p:spPr bwMode="auto">
          <a:xfrm>
            <a:off x="974725" y="1587500"/>
            <a:ext cx="1130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rgbClr val="0000FF"/>
                </a:solidFill>
                <a:latin typeface="Times New Roman" pitchFamily="18" charset="0"/>
              </a:rPr>
              <a:t>writer</a:t>
            </a:r>
          </a:p>
        </p:txBody>
      </p:sp>
      <p:sp>
        <p:nvSpPr>
          <p:cNvPr id="57355" name="Text Box 8"/>
          <p:cNvSpPr txBox="1">
            <a:spLocks noChangeArrowheads="1"/>
          </p:cNvSpPr>
          <p:nvPr/>
        </p:nvSpPr>
        <p:spPr bwMode="auto">
          <a:xfrm>
            <a:off x="5832475" y="882650"/>
            <a:ext cx="11890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rgbClr val="FF0000"/>
                </a:solidFill>
                <a:latin typeface="Times New Roman" pitchFamily="18" charset="0"/>
              </a:rPr>
              <a:t>reader</a:t>
            </a:r>
          </a:p>
        </p:txBody>
      </p:sp>
      <p:sp>
        <p:nvSpPr>
          <p:cNvPr id="57356" name="Freeform 9"/>
          <p:cNvSpPr>
            <a:spLocks/>
          </p:cNvSpPr>
          <p:nvPr/>
        </p:nvSpPr>
        <p:spPr bwMode="auto">
          <a:xfrm>
            <a:off x="304800" y="2419350"/>
            <a:ext cx="266700" cy="148590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394" name="Freeform 10"/>
          <p:cNvSpPr>
            <a:spLocks/>
          </p:cNvSpPr>
          <p:nvPr/>
        </p:nvSpPr>
        <p:spPr bwMode="auto">
          <a:xfrm>
            <a:off x="4400550" y="1714500"/>
            <a:ext cx="266700" cy="112395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395" name="Freeform 11"/>
          <p:cNvSpPr>
            <a:spLocks/>
          </p:cNvSpPr>
          <p:nvPr/>
        </p:nvSpPr>
        <p:spPr bwMode="auto">
          <a:xfrm>
            <a:off x="4381500" y="4324350"/>
            <a:ext cx="266700" cy="1123950"/>
          </a:xfrm>
          <a:custGeom>
            <a:avLst/>
            <a:gdLst>
              <a:gd name="T0" fmla="*/ 2147483647 w 396"/>
              <a:gd name="T1" fmla="*/ 0 h 1032"/>
              <a:gd name="T2" fmla="*/ 0 w 396"/>
              <a:gd name="T3" fmla="*/ 0 h 1032"/>
              <a:gd name="T4" fmla="*/ 0 w 396"/>
              <a:gd name="T5" fmla="*/ 2147483647 h 1032"/>
              <a:gd name="T6" fmla="*/ 2147483647 w 396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6" h="1032">
                <a:moveTo>
                  <a:pt x="324" y="0"/>
                </a:moveTo>
                <a:lnTo>
                  <a:pt x="0" y="0"/>
                </a:lnTo>
                <a:lnTo>
                  <a:pt x="0" y="1032"/>
                </a:lnTo>
                <a:lnTo>
                  <a:pt x="396" y="10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59" name="Text Box 12"/>
          <p:cNvSpPr txBox="1">
            <a:spLocks noChangeArrowheads="1"/>
          </p:cNvSpPr>
          <p:nvPr/>
        </p:nvSpPr>
        <p:spPr bwMode="auto">
          <a:xfrm>
            <a:off x="2346325" y="5368925"/>
            <a:ext cx="1284288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update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readcount</a:t>
            </a:r>
          </a:p>
        </p:txBody>
      </p:sp>
      <p:sp>
        <p:nvSpPr>
          <p:cNvPr id="57360" name="Line 13"/>
          <p:cNvSpPr>
            <a:spLocks noChangeShapeType="1"/>
          </p:cNvSpPr>
          <p:nvPr/>
        </p:nvSpPr>
        <p:spPr bwMode="auto">
          <a:xfrm flipV="1">
            <a:off x="3238500" y="4894263"/>
            <a:ext cx="1058863" cy="541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1" name="Text Box 14"/>
          <p:cNvSpPr txBox="1">
            <a:spLocks noChangeArrowheads="1"/>
          </p:cNvSpPr>
          <p:nvPr/>
        </p:nvSpPr>
        <p:spPr bwMode="auto">
          <a:xfrm>
            <a:off x="8080375" y="819150"/>
            <a:ext cx="928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first-in</a:t>
            </a:r>
          </a:p>
        </p:txBody>
      </p:sp>
      <p:sp>
        <p:nvSpPr>
          <p:cNvPr id="57362" name="Line 17"/>
          <p:cNvSpPr>
            <a:spLocks noChangeShapeType="1"/>
          </p:cNvSpPr>
          <p:nvPr/>
        </p:nvSpPr>
        <p:spPr bwMode="auto">
          <a:xfrm flipH="1">
            <a:off x="8096250" y="1143000"/>
            <a:ext cx="400050" cy="1123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3" name="Line 18"/>
          <p:cNvSpPr>
            <a:spLocks noChangeShapeType="1"/>
          </p:cNvSpPr>
          <p:nvPr/>
        </p:nvSpPr>
        <p:spPr bwMode="auto">
          <a:xfrm flipV="1">
            <a:off x="3208338" y="2952750"/>
            <a:ext cx="1230312" cy="2535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4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4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4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4" grpId="0" animBg="1"/>
      <p:bldP spid="14439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9EDD6F-6AEC-4EAC-B1CE-45344D7E3A8E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83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83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CFFE552-ECD9-4690-B6E9-5AC813F3155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 smtClean="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304800"/>
            <a:ext cx="8370888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Dining-Philosophers Problem (1)</a:t>
            </a:r>
          </a:p>
        </p:txBody>
      </p:sp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5775" y="1535113"/>
            <a:ext cx="4733925" cy="4735512"/>
          </a:xfrm>
        </p:spPr>
        <p:txBody>
          <a:bodyPr/>
          <a:lstStyle/>
          <a:p>
            <a:pPr eaLnBrk="1" hangingPunct="1">
              <a:tabLst>
                <a:tab pos="1370013" algn="l"/>
                <a:tab pos="1541463" algn="l"/>
              </a:tabLst>
              <a:defRPr/>
            </a:pPr>
            <a:r>
              <a:rPr lang="en-US" altLang="zh-TW" sz="2800" smtClean="0"/>
              <a:t>five philosophers, either </a:t>
            </a:r>
            <a:r>
              <a:rPr lang="en-US" altLang="zh-TW" sz="2800" smtClean="0">
                <a:solidFill>
                  <a:srgbClr val="FF0000"/>
                </a:solidFill>
              </a:rPr>
              <a:t>thinking</a:t>
            </a:r>
            <a:r>
              <a:rPr lang="en-US" altLang="zh-TW" sz="2800" smtClean="0"/>
              <a:t> or </a:t>
            </a:r>
            <a:r>
              <a:rPr lang="en-US" altLang="zh-TW" sz="2800" smtClean="0">
                <a:solidFill>
                  <a:srgbClr val="FF0000"/>
                </a:solidFill>
              </a:rPr>
              <a:t>eating</a:t>
            </a:r>
          </a:p>
          <a:p>
            <a:pPr eaLnBrk="1" hangingPunct="1">
              <a:tabLst>
                <a:tab pos="1370013" algn="l"/>
                <a:tab pos="1541463" algn="l"/>
              </a:tabLst>
              <a:defRPr/>
            </a:pPr>
            <a:r>
              <a:rPr lang="en-US" altLang="zh-TW" sz="2800" smtClean="0"/>
              <a:t>to eat,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two chopsticks are required</a:t>
            </a:r>
          </a:p>
          <a:p>
            <a:pPr eaLnBrk="1" hangingPunct="1">
              <a:tabLst>
                <a:tab pos="1370013" algn="l"/>
                <a:tab pos="1541463" algn="l"/>
              </a:tabLst>
              <a:defRPr/>
            </a:pPr>
            <a:r>
              <a:rPr lang="en-US" altLang="zh-TW" sz="2800" smtClean="0"/>
              <a:t>taking one chopstick at a time</a:t>
            </a:r>
          </a:p>
          <a:p>
            <a:pPr eaLnBrk="1" hangingPunct="1">
              <a:tabLst>
                <a:tab pos="1370013" algn="l"/>
                <a:tab pos="1541463" algn="l"/>
              </a:tabLst>
              <a:defRPr/>
            </a:pPr>
            <a:r>
              <a:rPr lang="en-US" altLang="zh-TW" sz="2800" smtClean="0">
                <a:solidFill>
                  <a:srgbClr val="0000FF"/>
                </a:solidFill>
              </a:rPr>
              <a:t>Shared data </a:t>
            </a:r>
          </a:p>
          <a:p>
            <a:pPr eaLnBrk="1" hangingPunct="1">
              <a:buFont typeface="Wingdings" pitchFamily="2" charset="2"/>
              <a:buNone/>
              <a:tabLst>
                <a:tab pos="1370013" algn="l"/>
                <a:tab pos="1541463" algn="l"/>
              </a:tabLst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</a:t>
            </a:r>
            <a:r>
              <a:rPr lang="en-US" altLang="zh-TW" sz="2400" b="1" smtClean="0">
                <a:solidFill>
                  <a:srgbClr val="0000FF"/>
                </a:solidFill>
              </a:rPr>
              <a:t>semaphore chopstick[5];</a:t>
            </a:r>
          </a:p>
          <a:p>
            <a:pPr lvl="1" eaLnBrk="1" hangingPunct="1">
              <a:buFont typeface="Wingdings" pitchFamily="2" charset="2"/>
              <a:buNone/>
              <a:tabLst>
                <a:tab pos="1370013" algn="l"/>
                <a:tab pos="1541463" algn="l"/>
              </a:tabLst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Initially all values are 1</a:t>
            </a:r>
          </a:p>
        </p:txBody>
      </p:sp>
      <p:pic>
        <p:nvPicPr>
          <p:cNvPr id="5837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4" t="1529" r="9151" b="710"/>
          <a:stretch>
            <a:fillRect/>
          </a:stretch>
        </p:blipFill>
        <p:spPr bwMode="auto">
          <a:xfrm>
            <a:off x="5476875" y="2230438"/>
            <a:ext cx="3336925" cy="319563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376" name="Text Box 7"/>
          <p:cNvSpPr txBox="1">
            <a:spLocks noChangeArrowheads="1"/>
          </p:cNvSpPr>
          <p:nvPr/>
        </p:nvSpPr>
        <p:spPr bwMode="auto">
          <a:xfrm>
            <a:off x="7721600" y="44846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8377" name="Text Box 8"/>
          <p:cNvSpPr txBox="1">
            <a:spLocks noChangeArrowheads="1"/>
          </p:cNvSpPr>
          <p:nvPr/>
        </p:nvSpPr>
        <p:spPr bwMode="auto">
          <a:xfrm>
            <a:off x="8245475" y="39909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8378" name="Text Box 9"/>
          <p:cNvSpPr txBox="1">
            <a:spLocks noChangeArrowheads="1"/>
          </p:cNvSpPr>
          <p:nvPr/>
        </p:nvSpPr>
        <p:spPr bwMode="auto">
          <a:xfrm>
            <a:off x="8186738" y="3178175"/>
            <a:ext cx="43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58379" name="Text Box 10"/>
          <p:cNvSpPr txBox="1">
            <a:spLocks noChangeArrowheads="1"/>
          </p:cNvSpPr>
          <p:nvPr/>
        </p:nvSpPr>
        <p:spPr bwMode="auto">
          <a:xfrm>
            <a:off x="6929438" y="4824413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9900"/>
                </a:solidFill>
              </a:rPr>
              <a:t>5</a:t>
            </a:r>
          </a:p>
        </p:txBody>
      </p:sp>
      <p:sp>
        <p:nvSpPr>
          <p:cNvPr id="73739" name="Line 11"/>
          <p:cNvSpPr>
            <a:spLocks noChangeShapeType="1"/>
          </p:cNvSpPr>
          <p:nvPr/>
        </p:nvSpPr>
        <p:spPr bwMode="auto">
          <a:xfrm flipV="1">
            <a:off x="7969250" y="4365625"/>
            <a:ext cx="287338" cy="250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8381" name="Text Box 12"/>
          <p:cNvSpPr txBox="1">
            <a:spLocks noChangeArrowheads="1"/>
          </p:cNvSpPr>
          <p:nvPr/>
        </p:nvSpPr>
        <p:spPr bwMode="auto">
          <a:xfrm>
            <a:off x="6130925" y="46101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9900"/>
                </a:solidFill>
              </a:rPr>
              <a:t>5</a:t>
            </a:r>
          </a:p>
        </p:txBody>
      </p:sp>
      <p:sp>
        <p:nvSpPr>
          <p:cNvPr id="73741" name="Line 13"/>
          <p:cNvSpPr>
            <a:spLocks noChangeShapeType="1"/>
          </p:cNvSpPr>
          <p:nvPr/>
        </p:nvSpPr>
        <p:spPr bwMode="auto">
          <a:xfrm>
            <a:off x="6481763" y="4886325"/>
            <a:ext cx="304800" cy="793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8383" name="Text Box 14"/>
          <p:cNvSpPr txBox="1">
            <a:spLocks noChangeArrowheads="1"/>
          </p:cNvSpPr>
          <p:nvPr/>
        </p:nvSpPr>
        <p:spPr bwMode="auto">
          <a:xfrm>
            <a:off x="7824788" y="2370138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73743" name="Line 15"/>
          <p:cNvSpPr>
            <a:spLocks noChangeShapeType="1"/>
          </p:cNvSpPr>
          <p:nvPr/>
        </p:nvSpPr>
        <p:spPr bwMode="auto">
          <a:xfrm flipH="1" flipV="1">
            <a:off x="8094663" y="2868613"/>
            <a:ext cx="171450" cy="3683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8385" name="Text Box 16"/>
          <p:cNvSpPr txBox="1">
            <a:spLocks noChangeArrowheads="1"/>
          </p:cNvSpPr>
          <p:nvPr/>
        </p:nvSpPr>
        <p:spPr bwMode="auto">
          <a:xfrm>
            <a:off x="6211888" y="2333625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58386" name="Text Box 17"/>
          <p:cNvSpPr txBox="1">
            <a:spLocks noChangeArrowheads="1"/>
          </p:cNvSpPr>
          <p:nvPr/>
        </p:nvSpPr>
        <p:spPr bwMode="auto">
          <a:xfrm>
            <a:off x="6964363" y="2146300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73746" name="Line 18"/>
          <p:cNvSpPr>
            <a:spLocks noChangeShapeType="1"/>
          </p:cNvSpPr>
          <p:nvPr/>
        </p:nvSpPr>
        <p:spPr bwMode="auto">
          <a:xfrm flipH="1">
            <a:off x="6696075" y="2401888"/>
            <a:ext cx="403225" cy="904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8388" name="Text Box 19"/>
          <p:cNvSpPr txBox="1">
            <a:spLocks noChangeArrowheads="1"/>
          </p:cNvSpPr>
          <p:nvPr/>
        </p:nvSpPr>
        <p:spPr bwMode="auto">
          <a:xfrm>
            <a:off x="5683250" y="38766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8389" name="Text Box 20"/>
          <p:cNvSpPr txBox="1">
            <a:spLocks noChangeArrowheads="1"/>
          </p:cNvSpPr>
          <p:nvPr/>
        </p:nvSpPr>
        <p:spPr bwMode="auto">
          <a:xfrm>
            <a:off x="5691188" y="3025775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73749" name="Line 21"/>
          <p:cNvSpPr>
            <a:spLocks noChangeShapeType="1"/>
          </p:cNvSpPr>
          <p:nvPr/>
        </p:nvSpPr>
        <p:spPr bwMode="auto">
          <a:xfrm>
            <a:off x="5880100" y="3424238"/>
            <a:ext cx="0" cy="4492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3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9" grpId="0" animBg="1"/>
      <p:bldP spid="73741" grpId="0" animBg="1"/>
      <p:bldP spid="73743" grpId="0" animBg="1"/>
      <p:bldP spid="73746" grpId="0" animBg="1"/>
      <p:bldP spid="7374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049ABB-03E2-4B2F-B99C-5A89806BC777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593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593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45B0BB-DB59-40AC-9EA9-A1D6C63E262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 smtClean="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41313"/>
            <a:ext cx="8145463" cy="733425"/>
          </a:xfrm>
        </p:spPr>
        <p:txBody>
          <a:bodyPr/>
          <a:lstStyle/>
          <a:p>
            <a:pPr eaLnBrk="1" hangingPunct="1"/>
            <a:r>
              <a:rPr lang="en-US" altLang="zh-TW" smtClean="0"/>
              <a:t>Dining-Philosophers Problem(2) </a:t>
            </a:r>
          </a:p>
        </p:txBody>
      </p:sp>
      <p:sp>
        <p:nvSpPr>
          <p:cNvPr id="5939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11225" y="1042988"/>
            <a:ext cx="6991350" cy="17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2005013" algn="l"/>
                <a:tab pos="2232025" algn="l"/>
                <a:tab pos="2459038" algn="l"/>
              </a:tabLst>
            </a:pPr>
            <a:r>
              <a:rPr lang="en-US" altLang="zh-TW" sz="2800" smtClean="0"/>
              <a:t>	</a:t>
            </a:r>
            <a:endParaRPr lang="en-US" altLang="zh-TW" sz="2800" b="1" smtClean="0"/>
          </a:p>
        </p:txBody>
      </p:sp>
      <p:grpSp>
        <p:nvGrpSpPr>
          <p:cNvPr id="59399" name="Group 6"/>
          <p:cNvGrpSpPr>
            <a:grpSpLocks/>
          </p:cNvGrpSpPr>
          <p:nvPr/>
        </p:nvGrpSpPr>
        <p:grpSpPr bwMode="auto">
          <a:xfrm>
            <a:off x="758825" y="1176338"/>
            <a:ext cx="8115300" cy="5048250"/>
            <a:chOff x="624" y="960"/>
            <a:chExt cx="5112" cy="3181"/>
          </a:xfrm>
        </p:grpSpPr>
        <p:sp>
          <p:nvSpPr>
            <p:cNvPr id="59402" name="AutoShape 7"/>
            <p:cNvSpPr>
              <a:spLocks noChangeArrowheads="1"/>
            </p:cNvSpPr>
            <p:nvPr/>
          </p:nvSpPr>
          <p:spPr bwMode="auto">
            <a:xfrm>
              <a:off x="4164" y="3132"/>
              <a:ext cx="1572" cy="888"/>
            </a:xfrm>
            <a:prstGeom prst="star16">
              <a:avLst>
                <a:gd name="adj" fmla="val 37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CECE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59403" name="Rectangle 8"/>
            <p:cNvSpPr>
              <a:spLocks noChangeArrowheads="1"/>
            </p:cNvSpPr>
            <p:nvPr/>
          </p:nvSpPr>
          <p:spPr bwMode="auto">
            <a:xfrm>
              <a:off x="624" y="1248"/>
              <a:ext cx="2909" cy="289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folHlink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59404" name="Rectangle 9"/>
            <p:cNvSpPr>
              <a:spLocks noChangeArrowheads="1"/>
            </p:cNvSpPr>
            <p:nvPr/>
          </p:nvSpPr>
          <p:spPr bwMode="auto">
            <a:xfrm>
              <a:off x="816" y="1296"/>
              <a:ext cx="2267" cy="2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do {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</a:t>
              </a: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wait(chopstick[i]);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    wait(chopstick[(i+1) % 5]);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	 eat 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</a:t>
              </a:r>
              <a:r>
                <a:rPr lang="en-US" altLang="zh-TW" sz="2000" b="1">
                  <a:solidFill>
                    <a:srgbClr val="0000FF"/>
                  </a:solidFill>
                  <a:latin typeface="Times New Roman" pitchFamily="18" charset="0"/>
                </a:rPr>
                <a:t>signal(chopstick[i]);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FF"/>
                  </a:solidFill>
                  <a:latin typeface="Times New Roman" pitchFamily="18" charset="0"/>
                </a:rPr>
                <a:t>    signal (chopstick[(i+1) % 5]);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	think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} while(1);</a:t>
              </a:r>
            </a:p>
          </p:txBody>
        </p:sp>
        <p:sp>
          <p:nvSpPr>
            <p:cNvPr id="59405" name="AutoShape 10"/>
            <p:cNvSpPr>
              <a:spLocks noChangeArrowheads="1"/>
            </p:cNvSpPr>
            <p:nvPr/>
          </p:nvSpPr>
          <p:spPr bwMode="auto">
            <a:xfrm>
              <a:off x="3682" y="3478"/>
              <a:ext cx="465" cy="188"/>
            </a:xfrm>
            <a:prstGeom prst="rightArrow">
              <a:avLst>
                <a:gd name="adj1" fmla="val 50000"/>
                <a:gd name="adj2" fmla="val 12368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CECE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endParaRPr lang="zh-TW" altLang="en-US" sz="2000" b="1">
                <a:latin typeface="Times New Roman" pitchFamily="18" charset="0"/>
              </a:endParaRPr>
            </a:p>
          </p:txBody>
        </p:sp>
        <p:sp>
          <p:nvSpPr>
            <p:cNvPr id="59406" name="Rectangle 11"/>
            <p:cNvSpPr>
              <a:spLocks noChangeArrowheads="1"/>
            </p:cNvSpPr>
            <p:nvPr/>
          </p:nvSpPr>
          <p:spPr bwMode="auto">
            <a:xfrm>
              <a:off x="4410" y="3436"/>
              <a:ext cx="1104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800" b="1">
                  <a:solidFill>
                    <a:srgbClr val="FF0000"/>
                  </a:solidFill>
                  <a:latin typeface="Times New Roman" pitchFamily="18" charset="0"/>
                </a:rPr>
                <a:t>deadlock !</a:t>
              </a:r>
            </a:p>
          </p:txBody>
        </p:sp>
        <p:sp>
          <p:nvSpPr>
            <p:cNvPr id="59407" name="Text Box 12"/>
            <p:cNvSpPr txBox="1">
              <a:spLocks noChangeArrowheads="1"/>
            </p:cNvSpPr>
            <p:nvPr/>
          </p:nvSpPr>
          <p:spPr bwMode="auto">
            <a:xfrm>
              <a:off x="1392" y="960"/>
              <a:ext cx="1367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800" b="1">
                  <a:latin typeface="Times New Roman" pitchFamily="18" charset="0"/>
                </a:rPr>
                <a:t>philosopher </a:t>
              </a:r>
              <a:r>
                <a:rPr lang="en-US" altLang="zh-TW" sz="2800" b="1" i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59408" name="Text Box 13"/>
            <p:cNvSpPr txBox="1">
              <a:spLocks noChangeArrowheads="1"/>
            </p:cNvSpPr>
            <p:nvPr/>
          </p:nvSpPr>
          <p:spPr bwMode="auto">
            <a:xfrm>
              <a:off x="3984" y="1200"/>
              <a:ext cx="1070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CECE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get chopsticks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left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right</a:t>
              </a:r>
            </a:p>
          </p:txBody>
        </p:sp>
        <p:sp>
          <p:nvSpPr>
            <p:cNvPr id="59409" name="Line 14"/>
            <p:cNvSpPr>
              <a:spLocks noChangeShapeType="1"/>
            </p:cNvSpPr>
            <p:nvPr/>
          </p:nvSpPr>
          <p:spPr bwMode="auto">
            <a:xfrm flipH="1">
              <a:off x="2352" y="1536"/>
              <a:ext cx="1812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9410" name="Line 15"/>
            <p:cNvSpPr>
              <a:spLocks noChangeShapeType="1"/>
            </p:cNvSpPr>
            <p:nvPr/>
          </p:nvSpPr>
          <p:spPr bwMode="auto">
            <a:xfrm flipH="1">
              <a:off x="2976" y="1776"/>
              <a:ext cx="1152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9411" name="Text Box 16"/>
            <p:cNvSpPr txBox="1">
              <a:spLocks noChangeArrowheads="1"/>
            </p:cNvSpPr>
            <p:nvPr/>
          </p:nvSpPr>
          <p:spPr bwMode="auto">
            <a:xfrm>
              <a:off x="4052" y="2379"/>
              <a:ext cx="1132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CECE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free chopsticks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left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right</a:t>
              </a:r>
            </a:p>
          </p:txBody>
        </p:sp>
        <p:sp>
          <p:nvSpPr>
            <p:cNvPr id="59412" name="Line 17"/>
            <p:cNvSpPr>
              <a:spLocks noChangeShapeType="1"/>
            </p:cNvSpPr>
            <p:nvPr/>
          </p:nvSpPr>
          <p:spPr bwMode="auto">
            <a:xfrm flipH="1">
              <a:off x="2418" y="2751"/>
              <a:ext cx="1812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9413" name="Line 18"/>
            <p:cNvSpPr>
              <a:spLocks noChangeShapeType="1"/>
            </p:cNvSpPr>
            <p:nvPr/>
          </p:nvSpPr>
          <p:spPr bwMode="auto">
            <a:xfrm flipH="1">
              <a:off x="3054" y="2979"/>
              <a:ext cx="1152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59400" name="Rectangle 20"/>
          <p:cNvSpPr>
            <a:spLocks noChangeArrowheads="1"/>
          </p:cNvSpPr>
          <p:nvPr/>
        </p:nvSpPr>
        <p:spPr bwMode="auto">
          <a:xfrm>
            <a:off x="6045200" y="1443038"/>
            <a:ext cx="1800225" cy="1349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9401" name="Rectangle 21"/>
          <p:cNvSpPr>
            <a:spLocks noChangeArrowheads="1"/>
          </p:cNvSpPr>
          <p:nvPr/>
        </p:nvSpPr>
        <p:spPr bwMode="auto">
          <a:xfrm>
            <a:off x="6030913" y="3373438"/>
            <a:ext cx="2003425" cy="111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F1D4F2-DAF4-4DBD-BF19-781BBD2D882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04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04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69120D-B909-40E5-B2B7-508D6802B58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 smtClean="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304800"/>
            <a:ext cx="8370888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Dining-Philosophers Problem (3)</a:t>
            </a:r>
          </a:p>
        </p:txBody>
      </p:sp>
      <p:sp>
        <p:nvSpPr>
          <p:cNvPr id="1464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4650" y="1104900"/>
            <a:ext cx="8521700" cy="53133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370013" algn="l"/>
                <a:tab pos="1541463" algn="l"/>
              </a:tabLst>
            </a:pPr>
            <a:r>
              <a:rPr lang="en-US" altLang="zh-TW" sz="3000" smtClean="0">
                <a:solidFill>
                  <a:srgbClr val="FF0000"/>
                </a:solidFill>
              </a:rPr>
              <a:t>Possible solutions to the deadlock problem</a:t>
            </a:r>
            <a:r>
              <a:rPr lang="en-US" altLang="zh-TW" sz="3000" smtClean="0"/>
              <a:t> 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541463" algn="l"/>
              </a:tabLst>
            </a:pPr>
            <a:r>
              <a:rPr lang="en-US" altLang="zh-TW" sz="2600" smtClean="0"/>
              <a:t>Allow at most </a:t>
            </a:r>
            <a:r>
              <a:rPr lang="en-US" altLang="zh-TW" sz="2600" b="1" smtClean="0">
                <a:solidFill>
                  <a:srgbClr val="FF0000"/>
                </a:solidFill>
              </a:rPr>
              <a:t>four</a:t>
            </a:r>
            <a:r>
              <a:rPr lang="en-US" altLang="zh-TW" sz="2600" smtClean="0"/>
              <a:t> philosophers to be sitting simultaneously at the table.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541463" algn="l"/>
              </a:tabLst>
            </a:pPr>
            <a:r>
              <a:rPr lang="en-US" altLang="zh-TW" sz="2600" smtClean="0"/>
              <a:t>Allow a philosopher to pick up her chopsticks only if </a:t>
            </a:r>
            <a:r>
              <a:rPr lang="en-US" altLang="zh-TW" sz="2600" b="1" smtClean="0">
                <a:solidFill>
                  <a:srgbClr val="FF0000"/>
                </a:solidFill>
              </a:rPr>
              <a:t>both chopsticks are available</a:t>
            </a:r>
            <a:r>
              <a:rPr lang="en-US" altLang="zh-TW" sz="2600" smtClean="0"/>
              <a:t> (note that she must pick them up in a critical section).</a:t>
            </a:r>
          </a:p>
          <a:p>
            <a:pPr lvl="1" eaLnBrk="1" hangingPunct="1">
              <a:lnSpc>
                <a:spcPct val="90000"/>
              </a:lnSpc>
              <a:tabLst>
                <a:tab pos="1370013" algn="l"/>
                <a:tab pos="1541463" algn="l"/>
              </a:tabLst>
            </a:pPr>
            <a:r>
              <a:rPr lang="en-US" altLang="zh-TW" sz="2600" smtClean="0"/>
              <a:t>Use an asymmetric solution; that is, </a:t>
            </a:r>
          </a:p>
          <a:p>
            <a:pPr lvl="2" eaLnBrk="1" hangingPunct="1">
              <a:lnSpc>
                <a:spcPct val="90000"/>
              </a:lnSpc>
              <a:tabLst>
                <a:tab pos="1370013" algn="l"/>
                <a:tab pos="1541463" algn="l"/>
              </a:tabLst>
            </a:pPr>
            <a:r>
              <a:rPr lang="en-US" altLang="zh-TW" sz="2200" smtClean="0"/>
              <a:t>odd philosopher: </a:t>
            </a:r>
            <a:r>
              <a:rPr lang="en-US" altLang="zh-TW" sz="2200" b="1" smtClean="0">
                <a:solidFill>
                  <a:srgbClr val="FF0000"/>
                </a:solidFill>
              </a:rPr>
              <a:t>left first, and then right</a:t>
            </a:r>
            <a:r>
              <a:rPr lang="en-US" altLang="zh-TW" sz="2200" smtClean="0"/>
              <a:t> </a:t>
            </a:r>
          </a:p>
          <a:p>
            <a:pPr lvl="2" eaLnBrk="1" hangingPunct="1">
              <a:lnSpc>
                <a:spcPct val="90000"/>
              </a:lnSpc>
              <a:tabLst>
                <a:tab pos="1370013" algn="l"/>
                <a:tab pos="1541463" algn="l"/>
              </a:tabLst>
            </a:pPr>
            <a:r>
              <a:rPr lang="en-US" altLang="zh-TW" sz="2200" smtClean="0"/>
              <a:t>an even philosopher: </a:t>
            </a:r>
            <a:r>
              <a:rPr lang="en-US" altLang="zh-TW" sz="2200" b="1" smtClean="0">
                <a:solidFill>
                  <a:srgbClr val="FF0000"/>
                </a:solidFill>
              </a:rPr>
              <a:t>right first, and then left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1370013" algn="l"/>
                <a:tab pos="1541463" algn="l"/>
              </a:tabLst>
            </a:pPr>
            <a:r>
              <a:rPr lang="en-US" altLang="zh-TW" sz="2800" smtClean="0"/>
              <a:t>Besides deadlock, any satisfactory solution to the DPP problem must avoid the problem of </a:t>
            </a:r>
            <a:r>
              <a:rPr lang="en-US" altLang="zh-TW" sz="2800" b="1" smtClean="0">
                <a:solidFill>
                  <a:srgbClr val="FF0000"/>
                </a:solidFill>
              </a:rPr>
              <a:t>starvation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版面配置區 3"/>
          <p:cNvSpPr>
            <a:spLocks noGrp="1"/>
          </p:cNvSpPr>
          <p:nvPr>
            <p:ph type="dt" sz="quarter" idx="10"/>
          </p:nvPr>
        </p:nvSpPr>
        <p:spPr>
          <a:xfrm>
            <a:off x="700088" y="6286500"/>
            <a:ext cx="1905000" cy="45720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0E5E95-67AF-4CEE-81BE-3E6328EBADC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1443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086100" y="6269038"/>
            <a:ext cx="2895600" cy="45720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1444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29388" y="6269038"/>
            <a:ext cx="1905000" cy="45720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1F6460-4FED-4F0E-BBA1-6CCF95EC075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400" smtClean="0"/>
          </a:p>
        </p:txBody>
      </p:sp>
      <p:sp>
        <p:nvSpPr>
          <p:cNvPr id="14848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7175" y="614363"/>
            <a:ext cx="8886825" cy="41529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zh-TW" sz="2800" smtClean="0"/>
              <a:t>Semaphores provide a convenient and effective mechanism for process synchronization.</a:t>
            </a:r>
          </a:p>
          <a:p>
            <a:pPr eaLnBrk="1" hangingPunct="1"/>
            <a:r>
              <a:rPr lang="en-US" altLang="zh-TW" sz="2800" smtClean="0"/>
              <a:t>However, </a:t>
            </a:r>
            <a:r>
              <a:rPr lang="en-US" altLang="zh-TW" sz="2800" b="1" smtClean="0">
                <a:solidFill>
                  <a:srgbClr val="FF0000"/>
                </a:solidFill>
              </a:rPr>
              <a:t>incorrect use</a:t>
            </a:r>
            <a:r>
              <a:rPr lang="en-US" altLang="zh-TW" sz="2800" smtClean="0"/>
              <a:t> may result in timing errors.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smtClean="0"/>
          </a:p>
          <a:p>
            <a:pPr eaLnBrk="1" hangingPunct="1"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61446" name="Rectangle 3"/>
          <p:cNvSpPr>
            <a:spLocks noChangeArrowheads="1"/>
          </p:cNvSpPr>
          <p:nvPr/>
        </p:nvSpPr>
        <p:spPr bwMode="auto">
          <a:xfrm>
            <a:off x="6359525" y="4241800"/>
            <a:ext cx="2035175" cy="183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	</a:t>
            </a:r>
            <a:r>
              <a:rPr lang="en-US" altLang="zh-TW" sz="2000" b="1">
                <a:latin typeface="Times New Roman" pitchFamily="18" charset="0"/>
              </a:rPr>
              <a:t>critical section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signal(mutex);</a:t>
            </a:r>
          </a:p>
        </p:txBody>
      </p:sp>
      <p:sp>
        <p:nvSpPr>
          <p:cNvPr id="61447" name="Rectangle 4"/>
          <p:cNvSpPr>
            <a:spLocks noGrp="1" noChangeArrowheads="1"/>
          </p:cNvSpPr>
          <p:nvPr>
            <p:ph type="title"/>
          </p:nvPr>
        </p:nvSpPr>
        <p:spPr>
          <a:xfrm>
            <a:off x="571500" y="0"/>
            <a:ext cx="7277100" cy="5524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b="1" smtClean="0">
                <a:solidFill>
                  <a:srgbClr val="000000"/>
                </a:solidFill>
              </a:rPr>
              <a:t>Incorrect use</a:t>
            </a:r>
          </a:p>
        </p:txBody>
      </p:sp>
      <p:grpSp>
        <p:nvGrpSpPr>
          <p:cNvPr id="61448" name="Group 5"/>
          <p:cNvGrpSpPr>
            <a:grpSpLocks/>
          </p:cNvGrpSpPr>
          <p:nvPr/>
        </p:nvGrpSpPr>
        <p:grpSpPr bwMode="auto">
          <a:xfrm>
            <a:off x="650875" y="2017713"/>
            <a:ext cx="2328863" cy="1954212"/>
            <a:chOff x="-56" y="1502"/>
            <a:chExt cx="1467" cy="1231"/>
          </a:xfrm>
        </p:grpSpPr>
        <p:sp>
          <p:nvSpPr>
            <p:cNvPr id="61465" name="Rectangle 6"/>
            <p:cNvSpPr>
              <a:spLocks noChangeArrowheads="1"/>
            </p:cNvSpPr>
            <p:nvPr/>
          </p:nvSpPr>
          <p:spPr bwMode="auto">
            <a:xfrm>
              <a:off x="-56" y="1513"/>
              <a:ext cx="1467" cy="12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folHlink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61466" name="Rectangle 7"/>
            <p:cNvSpPr>
              <a:spLocks noChangeArrowheads="1"/>
            </p:cNvSpPr>
            <p:nvPr/>
          </p:nvSpPr>
          <p:spPr bwMode="auto">
            <a:xfrm>
              <a:off x="0" y="1502"/>
              <a:ext cx="1282" cy="1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   </a:t>
              </a: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signal(mutex);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	critical section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</a:t>
              </a: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wait(mutex);</a:t>
              </a:r>
            </a:p>
          </p:txBody>
        </p:sp>
      </p:grpSp>
      <p:grpSp>
        <p:nvGrpSpPr>
          <p:cNvPr id="61449" name="Group 8"/>
          <p:cNvGrpSpPr>
            <a:grpSpLocks/>
          </p:cNvGrpSpPr>
          <p:nvPr/>
        </p:nvGrpSpPr>
        <p:grpSpPr bwMode="auto">
          <a:xfrm>
            <a:off x="569913" y="4462463"/>
            <a:ext cx="2397125" cy="1912937"/>
            <a:chOff x="3037" y="1482"/>
            <a:chExt cx="1510" cy="1205"/>
          </a:xfrm>
        </p:grpSpPr>
        <p:sp>
          <p:nvSpPr>
            <p:cNvPr id="61463" name="Rectangle 9"/>
            <p:cNvSpPr>
              <a:spLocks noChangeArrowheads="1"/>
            </p:cNvSpPr>
            <p:nvPr/>
          </p:nvSpPr>
          <p:spPr bwMode="auto">
            <a:xfrm>
              <a:off x="3053" y="1482"/>
              <a:ext cx="1494" cy="12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folHlink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61464" name="Rectangle 10"/>
            <p:cNvSpPr>
              <a:spLocks noChangeArrowheads="1"/>
            </p:cNvSpPr>
            <p:nvPr/>
          </p:nvSpPr>
          <p:spPr bwMode="auto">
            <a:xfrm>
              <a:off x="3037" y="1516"/>
              <a:ext cx="1282" cy="1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   </a:t>
              </a: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wait(mutex);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	critical section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</a:t>
              </a: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wait(mutex);</a:t>
              </a:r>
            </a:p>
          </p:txBody>
        </p:sp>
      </p:grpSp>
      <p:sp>
        <p:nvSpPr>
          <p:cNvPr id="61450" name="Rectangle 11"/>
          <p:cNvSpPr>
            <a:spLocks noChangeArrowheads="1"/>
          </p:cNvSpPr>
          <p:nvPr/>
        </p:nvSpPr>
        <p:spPr bwMode="auto">
          <a:xfrm>
            <a:off x="6257925" y="2084388"/>
            <a:ext cx="2482850" cy="19542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1451" name="Rectangle 12"/>
          <p:cNvSpPr>
            <a:spLocks noChangeArrowheads="1"/>
          </p:cNvSpPr>
          <p:nvPr/>
        </p:nvSpPr>
        <p:spPr bwMode="auto">
          <a:xfrm>
            <a:off x="6175375" y="2071688"/>
            <a:ext cx="2035175" cy="183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wait(mutex);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	critical section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...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</a:t>
            </a:r>
          </a:p>
        </p:txBody>
      </p:sp>
      <p:sp>
        <p:nvSpPr>
          <p:cNvPr id="61452" name="Rectangle 13"/>
          <p:cNvSpPr>
            <a:spLocks noChangeArrowheads="1"/>
          </p:cNvSpPr>
          <p:nvPr/>
        </p:nvSpPr>
        <p:spPr bwMode="auto">
          <a:xfrm>
            <a:off x="6270625" y="4305300"/>
            <a:ext cx="2447925" cy="1817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folHlink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1453" name="Rectangle 14"/>
          <p:cNvSpPr>
            <a:spLocks noChangeArrowheads="1"/>
          </p:cNvSpPr>
          <p:nvPr/>
        </p:nvSpPr>
        <p:spPr bwMode="auto">
          <a:xfrm>
            <a:off x="6496050" y="4470400"/>
            <a:ext cx="1222375" cy="238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1454" name="Text Box 15"/>
          <p:cNvSpPr txBox="1">
            <a:spLocks noChangeArrowheads="1"/>
          </p:cNvSpPr>
          <p:nvPr/>
        </p:nvSpPr>
        <p:spPr bwMode="auto">
          <a:xfrm>
            <a:off x="3143250" y="2262188"/>
            <a:ext cx="25781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incorrect order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(not mutual exclusive)</a:t>
            </a:r>
          </a:p>
        </p:txBody>
      </p:sp>
      <p:sp>
        <p:nvSpPr>
          <p:cNvPr id="61455" name="Text Box 16"/>
          <p:cNvSpPr txBox="1">
            <a:spLocks noChangeArrowheads="1"/>
          </p:cNvSpPr>
          <p:nvPr/>
        </p:nvSpPr>
        <p:spPr bwMode="auto">
          <a:xfrm>
            <a:off x="3276600" y="4700588"/>
            <a:ext cx="1516063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typing error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(deadlock)</a:t>
            </a:r>
          </a:p>
        </p:txBody>
      </p:sp>
      <p:sp>
        <p:nvSpPr>
          <p:cNvPr id="61456" name="Text Box 17"/>
          <p:cNvSpPr txBox="1">
            <a:spLocks noChangeArrowheads="1"/>
          </p:cNvSpPr>
          <p:nvPr/>
        </p:nvSpPr>
        <p:spPr bwMode="auto">
          <a:xfrm>
            <a:off x="4533900" y="3386138"/>
            <a:ext cx="1184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forgotten</a:t>
            </a:r>
          </a:p>
        </p:txBody>
      </p:sp>
      <p:sp>
        <p:nvSpPr>
          <p:cNvPr id="61457" name="Line 18"/>
          <p:cNvSpPr>
            <a:spLocks noChangeShapeType="1"/>
          </p:cNvSpPr>
          <p:nvPr/>
        </p:nvSpPr>
        <p:spPr bwMode="auto">
          <a:xfrm flipV="1">
            <a:off x="5521325" y="3729038"/>
            <a:ext cx="857250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58" name="Line 19"/>
          <p:cNvSpPr>
            <a:spLocks noChangeShapeType="1"/>
          </p:cNvSpPr>
          <p:nvPr/>
        </p:nvSpPr>
        <p:spPr bwMode="auto">
          <a:xfrm>
            <a:off x="5483225" y="3767138"/>
            <a:ext cx="914400" cy="704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59" name="Line 20"/>
          <p:cNvSpPr>
            <a:spLocks noChangeShapeType="1"/>
          </p:cNvSpPr>
          <p:nvPr/>
        </p:nvSpPr>
        <p:spPr bwMode="auto">
          <a:xfrm flipH="1">
            <a:off x="2378075" y="5081588"/>
            <a:ext cx="80010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60" name="Line 21"/>
          <p:cNvSpPr>
            <a:spLocks noChangeShapeType="1"/>
          </p:cNvSpPr>
          <p:nvPr/>
        </p:nvSpPr>
        <p:spPr bwMode="auto">
          <a:xfrm flipH="1" flipV="1">
            <a:off x="2663825" y="2319338"/>
            <a:ext cx="479425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61" name="Line 22"/>
          <p:cNvSpPr>
            <a:spLocks noChangeShapeType="1"/>
          </p:cNvSpPr>
          <p:nvPr/>
        </p:nvSpPr>
        <p:spPr bwMode="auto">
          <a:xfrm flipH="1">
            <a:off x="2492375" y="2535238"/>
            <a:ext cx="650875" cy="1155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62" name="Rectangle 23"/>
          <p:cNvSpPr>
            <a:spLocks noChangeArrowheads="1"/>
          </p:cNvSpPr>
          <p:nvPr/>
        </p:nvSpPr>
        <p:spPr bwMode="auto">
          <a:xfrm>
            <a:off x="6477000" y="3670300"/>
            <a:ext cx="1222375" cy="238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A41DB6-77FE-4E6E-830B-80D67ED6DC2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24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24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20055D9-24DF-4DB4-A3E2-9A0CEB7E9A1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400" smtClean="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447675" y="280988"/>
            <a:ext cx="8137525" cy="7239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b="1" smtClean="0">
                <a:solidFill>
                  <a:srgbClr val="FF0000"/>
                </a:solidFill>
              </a:rPr>
              <a:t>Monitor: A High-level Language Constructs</a:t>
            </a:r>
          </a:p>
        </p:txBody>
      </p:sp>
      <p:sp>
        <p:nvSpPr>
          <p:cNvPr id="152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1150" y="1203325"/>
            <a:ext cx="8477250" cy="524192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80000"/>
              </a:lnSpc>
            </a:pPr>
            <a:r>
              <a:rPr lang="en-US" altLang="zh-TW" sz="2800" smtClean="0"/>
              <a:t>The representation of a monitor type consists of </a:t>
            </a:r>
          </a:p>
          <a:p>
            <a:pPr marL="685800" lvl="1" indent="-228600" eaLnBrk="1" hangingPunct="1">
              <a:lnSpc>
                <a:spcPct val="80000"/>
              </a:lnSpc>
            </a:pPr>
            <a:r>
              <a:rPr lang="en-US" altLang="zh-TW" sz="2400" smtClean="0"/>
              <a:t>declarations of </a:t>
            </a:r>
            <a:r>
              <a:rPr lang="en-US" altLang="zh-TW" sz="2400" smtClean="0">
                <a:solidFill>
                  <a:srgbClr val="FF0000"/>
                </a:solidFill>
              </a:rPr>
              <a:t>variables</a:t>
            </a:r>
            <a:r>
              <a:rPr lang="en-US" altLang="zh-TW" sz="2400" smtClean="0"/>
              <a:t> whose values define the state of an instance of the type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marL="685800" lvl="1" indent="-228600" eaLnBrk="1" hangingPunct="1">
              <a:lnSpc>
                <a:spcPct val="80000"/>
              </a:lnSpc>
            </a:pPr>
            <a:r>
              <a:rPr lang="en-US" altLang="zh-TW" sz="2400" smtClean="0">
                <a:solidFill>
                  <a:srgbClr val="FF0000"/>
                </a:solidFill>
              </a:rPr>
              <a:t>procedures</a:t>
            </a:r>
            <a:r>
              <a:rPr lang="en-US" altLang="zh-TW" sz="2400" smtClean="0"/>
              <a:t> or </a:t>
            </a:r>
            <a:r>
              <a:rPr lang="en-US" altLang="zh-TW" sz="2400" smtClean="0">
                <a:solidFill>
                  <a:srgbClr val="FF0000"/>
                </a:solidFill>
              </a:rPr>
              <a:t>functions</a:t>
            </a:r>
            <a:r>
              <a:rPr lang="en-US" altLang="zh-TW" sz="2400" smtClean="0"/>
              <a:t> that implement operations on the type.</a:t>
            </a:r>
          </a:p>
          <a:p>
            <a:pPr marL="285750" indent="-28575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A procedure within a monitor can access only variables defined in the monitor and the formal parameters.</a:t>
            </a:r>
          </a:p>
          <a:p>
            <a:pPr marL="285750" indent="-28575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The local variables of a monitor can be used only by the local procedures.</a:t>
            </a:r>
          </a:p>
          <a:p>
            <a:pPr marL="285750" indent="-28575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The monitor construct ensures that </a:t>
            </a:r>
            <a:r>
              <a:rPr lang="en-US" altLang="zh-TW" sz="2800" smtClean="0">
                <a:solidFill>
                  <a:srgbClr val="FF0000"/>
                </a:solidFill>
              </a:rPr>
              <a:t>only one process at a time can be active within the monitor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D561EA-6DCF-4952-9445-3DBDA86F826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34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34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A0A2E5-675C-4952-9B0B-49E5F3E669A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400" smtClean="0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230188"/>
            <a:ext cx="6797675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Monitors</a:t>
            </a:r>
          </a:p>
        </p:txBody>
      </p:sp>
      <p:sp>
        <p:nvSpPr>
          <p:cNvPr id="952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4338" y="836613"/>
            <a:ext cx="8485187" cy="55133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2800" smtClean="0"/>
              <a:t>High-level synchronization construct that allows the safe sharing of an abstract data type among concurrent processes.</a:t>
            </a:r>
            <a:br>
              <a:rPr lang="en-US" altLang="zh-TW" sz="2800" smtClean="0"/>
            </a:br>
            <a:r>
              <a:rPr lang="en-US" altLang="zh-TW" sz="2800" smtClean="0"/>
              <a:t>		</a:t>
            </a:r>
            <a:r>
              <a:rPr lang="en-US" altLang="zh-TW" sz="1800" smtClean="0"/>
              <a:t>	</a:t>
            </a:r>
            <a:r>
              <a:rPr lang="en-US" altLang="zh-TW" sz="1800" b="1" smtClean="0"/>
              <a:t>monitor </a:t>
            </a:r>
            <a:r>
              <a:rPr lang="en-US" altLang="zh-TW" sz="1800" b="1" i="1" smtClean="0"/>
              <a:t>monitor-name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i="1" smtClean="0"/>
              <a:t>			</a:t>
            </a:r>
            <a:r>
              <a:rPr lang="en-US" altLang="zh-TW" sz="1800" b="1" smtClean="0"/>
              <a:t>{</a:t>
            </a:r>
            <a:endParaRPr lang="en-US" altLang="zh-TW" sz="1800" i="1" smtClean="0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/>
              <a:t>				</a:t>
            </a:r>
            <a:r>
              <a:rPr lang="en-US" altLang="zh-TW" sz="1800" smtClean="0">
                <a:solidFill>
                  <a:srgbClr val="FF0000"/>
                </a:solidFill>
              </a:rPr>
              <a:t>shared variable declarations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/>
              <a:t>				</a:t>
            </a:r>
            <a:r>
              <a:rPr lang="en-US" altLang="zh-TW" sz="1800" b="1" smtClean="0"/>
              <a:t>procedure body</a:t>
            </a:r>
            <a:r>
              <a:rPr lang="en-US" altLang="zh-TW" sz="1800" smtClean="0"/>
              <a:t> </a:t>
            </a:r>
            <a:r>
              <a:rPr lang="en-US" altLang="zh-TW" sz="1800" i="1" smtClean="0"/>
              <a:t>P1</a:t>
            </a:r>
            <a:r>
              <a:rPr lang="en-US" altLang="zh-TW" sz="1800" smtClean="0"/>
              <a:t> </a:t>
            </a:r>
            <a:r>
              <a:rPr lang="en-US" altLang="zh-TW" sz="1800" b="1" smtClean="0"/>
              <a:t>(</a:t>
            </a:r>
            <a:r>
              <a:rPr lang="en-US" altLang="zh-TW" sz="1800" b="1" smtClean="0">
                <a:latin typeface="Helvetica" pitchFamily="34" charset="0"/>
              </a:rPr>
              <a:t>…</a:t>
            </a:r>
            <a:r>
              <a:rPr lang="en-US" altLang="zh-TW" sz="1800" b="1" smtClean="0"/>
              <a:t>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/>
              <a:t>					. . 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/>
              <a:t>				}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/>
              <a:t>				</a:t>
            </a:r>
            <a:r>
              <a:rPr lang="en-US" altLang="zh-TW" sz="1800" b="1" smtClean="0"/>
              <a:t>procedure</a:t>
            </a:r>
            <a:r>
              <a:rPr lang="en-US" altLang="zh-TW" sz="1800" smtClean="0"/>
              <a:t> </a:t>
            </a:r>
            <a:r>
              <a:rPr lang="en-US" altLang="zh-TW" sz="1800" b="1" smtClean="0"/>
              <a:t>body</a:t>
            </a:r>
            <a:r>
              <a:rPr lang="en-US" altLang="zh-TW" sz="1800" smtClean="0"/>
              <a:t> </a:t>
            </a:r>
            <a:r>
              <a:rPr lang="en-US" altLang="zh-TW" sz="1800" i="1" smtClean="0"/>
              <a:t>P2 </a:t>
            </a:r>
            <a:r>
              <a:rPr lang="en-US" altLang="zh-TW" sz="1800" b="1" smtClean="0"/>
              <a:t>(</a:t>
            </a:r>
            <a:r>
              <a:rPr lang="en-US" altLang="zh-TW" sz="1800" b="1" smtClean="0">
                <a:latin typeface="Helvetica" pitchFamily="34" charset="0"/>
              </a:rPr>
              <a:t>…</a:t>
            </a:r>
            <a:r>
              <a:rPr lang="en-US" altLang="zh-TW" sz="1800" b="1" smtClean="0"/>
              <a:t>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/>
              <a:t>					. . 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/>
              <a:t>				} 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/>
              <a:t>	</a:t>
            </a:r>
            <a:r>
              <a:rPr lang="en-US" altLang="zh-TW" sz="1800" smtClean="0">
                <a:sym typeface="MT Extra" pitchFamily="18" charset="2"/>
              </a:rPr>
              <a:t>			</a:t>
            </a:r>
            <a:r>
              <a:rPr lang="en-US" altLang="zh-TW" sz="1800" b="1" smtClean="0">
                <a:sym typeface="MT Extra" pitchFamily="18" charset="2"/>
              </a:rPr>
              <a:t>procedure body</a:t>
            </a:r>
            <a:r>
              <a:rPr lang="en-US" altLang="zh-TW" sz="1800" smtClean="0">
                <a:sym typeface="MT Extra" pitchFamily="18" charset="2"/>
              </a:rPr>
              <a:t> </a:t>
            </a:r>
            <a:r>
              <a:rPr lang="en-US" altLang="zh-TW" sz="1800" i="1" smtClean="0">
                <a:sym typeface="MT Extra" pitchFamily="18" charset="2"/>
              </a:rPr>
              <a:t>Pn</a:t>
            </a:r>
            <a:r>
              <a:rPr lang="en-US" altLang="zh-TW" sz="1800" smtClean="0">
                <a:sym typeface="MT Extra" pitchFamily="18" charset="2"/>
              </a:rPr>
              <a:t> </a:t>
            </a:r>
            <a:r>
              <a:rPr lang="en-US" altLang="zh-TW" sz="1800" b="1" smtClean="0">
                <a:sym typeface="MT Extra" pitchFamily="18" charset="2"/>
              </a:rPr>
              <a:t>(</a:t>
            </a:r>
            <a:r>
              <a:rPr lang="en-US" altLang="zh-TW" sz="1800" b="1" smtClean="0">
                <a:latin typeface="Helvetica" pitchFamily="34" charset="0"/>
                <a:sym typeface="MT Extra" pitchFamily="18" charset="2"/>
              </a:rPr>
              <a:t>…</a:t>
            </a:r>
            <a:r>
              <a:rPr lang="en-US" altLang="zh-TW" sz="1800" b="1" smtClean="0">
                <a:sym typeface="MT Extra" pitchFamily="18" charset="2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>
                <a:sym typeface="MT Extra" pitchFamily="18" charset="2"/>
              </a:rPr>
              <a:t>					 . . 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>
                <a:sym typeface="MT Extra" pitchFamily="18" charset="2"/>
              </a:rPr>
              <a:t>				} 			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>
                <a:sym typeface="MT Extra" pitchFamily="18" charset="2"/>
              </a:rPr>
              <a:t>				</a:t>
            </a:r>
            <a:r>
              <a:rPr lang="en-US" altLang="zh-TW" sz="1800" b="1" smtClean="0">
                <a:sym typeface="MT Extra" pitchFamily="18" charset="2"/>
              </a:rPr>
              <a:t>{</a:t>
            </a:r>
            <a:endParaRPr lang="en-US" altLang="zh-TW" sz="1800" smtClean="0">
              <a:sym typeface="MT Extra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>
                <a:sym typeface="MT Extra" pitchFamily="18" charset="2"/>
              </a:rPr>
              <a:t>					</a:t>
            </a:r>
            <a:r>
              <a:rPr lang="en-US" altLang="zh-TW" sz="1800" smtClean="0">
                <a:solidFill>
                  <a:srgbClr val="0000FF"/>
                </a:solidFill>
                <a:sym typeface="MT Extra" pitchFamily="18" charset="2"/>
              </a:rPr>
              <a:t>initialization code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smtClean="0">
                <a:sym typeface="MT Extra" pitchFamily="18" charset="2"/>
              </a:rPr>
              <a:t>				</a:t>
            </a:r>
            <a:r>
              <a:rPr lang="en-US" altLang="zh-TW" sz="1800" b="1" smtClean="0">
                <a:sym typeface="MT Extra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</a:pPr>
            <a:r>
              <a:rPr lang="en-US" altLang="zh-TW" sz="1800" b="1" smtClean="0">
                <a:sym typeface="MT Extra" pitchFamily="18" charset="2"/>
              </a:rPr>
              <a:t>			}</a:t>
            </a:r>
            <a:endParaRPr lang="en-US" altLang="zh-TW" sz="1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52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52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52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52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B7B587-C680-4EB2-9186-F6BAD3BE3A3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45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45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0997828-6FB3-4C96-B3F1-8853C4B4599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400" smtClean="0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415925"/>
            <a:ext cx="8185150" cy="658813"/>
          </a:xfrm>
        </p:spPr>
        <p:txBody>
          <a:bodyPr/>
          <a:lstStyle/>
          <a:p>
            <a:pPr eaLnBrk="1" hangingPunct="1"/>
            <a:r>
              <a:rPr lang="en-US" altLang="zh-TW" smtClean="0"/>
              <a:t>Monitors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FF0000"/>
                </a:solidFill>
              </a:rPr>
              <a:t>condition variables</a:t>
            </a:r>
          </a:p>
        </p:txBody>
      </p:sp>
      <p:sp>
        <p:nvSpPr>
          <p:cNvPr id="962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4188" y="974725"/>
            <a:ext cx="8293100" cy="49926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3030538" algn="ctr"/>
              </a:tabLst>
            </a:pPr>
            <a:r>
              <a:rPr lang="en-US" altLang="zh-TW" sz="2800" smtClean="0"/>
              <a:t>To allow a process to </a:t>
            </a:r>
            <a:r>
              <a:rPr lang="en-US" altLang="zh-TW" sz="2800" smtClean="0">
                <a:solidFill>
                  <a:srgbClr val="FF0000"/>
                </a:solidFill>
              </a:rPr>
              <a:t>wait</a:t>
            </a:r>
            <a:r>
              <a:rPr lang="en-US" altLang="zh-TW" sz="2800" smtClean="0"/>
              <a:t> </a:t>
            </a:r>
            <a:r>
              <a:rPr lang="en-US" altLang="zh-TW" sz="2800" b="1" smtClean="0">
                <a:solidFill>
                  <a:srgbClr val="FF0000"/>
                </a:solidFill>
              </a:rPr>
              <a:t>within</a:t>
            </a:r>
            <a:r>
              <a:rPr lang="en-US" altLang="zh-TW" sz="2800" smtClean="0"/>
              <a:t> the monitor, a </a:t>
            </a:r>
            <a:r>
              <a:rPr lang="en-US" altLang="zh-TW" sz="2800" b="1" smtClean="0"/>
              <a:t>condition</a:t>
            </a:r>
            <a:r>
              <a:rPr lang="en-US" altLang="zh-TW" sz="2800" smtClean="0"/>
              <a:t> variable must be declared, as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3030538" algn="ctr"/>
              </a:tabLst>
            </a:pPr>
            <a:r>
              <a:rPr lang="en-US" altLang="zh-TW" sz="2800" smtClean="0"/>
              <a:t>	</a:t>
            </a:r>
            <a:r>
              <a:rPr lang="en-US" altLang="zh-TW" sz="2800" smtClean="0">
                <a:solidFill>
                  <a:srgbClr val="FF0000"/>
                </a:solidFill>
              </a:rPr>
              <a:t>	</a:t>
            </a:r>
            <a:r>
              <a:rPr lang="en-US" altLang="zh-TW" sz="2800" b="1" smtClean="0">
                <a:solidFill>
                  <a:srgbClr val="FF0000"/>
                </a:solidFill>
              </a:rPr>
              <a:t>condition x, y;</a:t>
            </a:r>
          </a:p>
          <a:p>
            <a:pPr eaLnBrk="1" hangingPunct="1">
              <a:lnSpc>
                <a:spcPct val="90000"/>
              </a:lnSpc>
              <a:tabLst>
                <a:tab pos="3030538" algn="ctr"/>
              </a:tabLst>
            </a:pPr>
            <a:r>
              <a:rPr lang="en-US" altLang="zh-TW" sz="2800" smtClean="0"/>
              <a:t>Condition variable can only be used with the operations </a:t>
            </a:r>
            <a:r>
              <a:rPr lang="en-US" altLang="zh-TW" sz="2800" b="1" smtClean="0"/>
              <a:t>wait</a:t>
            </a:r>
            <a:r>
              <a:rPr lang="en-US" altLang="zh-TW" sz="2800" smtClean="0"/>
              <a:t> and </a:t>
            </a:r>
            <a:r>
              <a:rPr lang="en-US" altLang="zh-TW" sz="2800" b="1" smtClean="0"/>
              <a:t>signal</a:t>
            </a:r>
            <a:r>
              <a:rPr lang="en-US" altLang="zh-TW" sz="2800" smtClean="0"/>
              <a:t>.</a:t>
            </a:r>
          </a:p>
          <a:p>
            <a:pPr lvl="1" eaLnBrk="1" hangingPunct="1">
              <a:lnSpc>
                <a:spcPct val="90000"/>
              </a:lnSpc>
              <a:tabLst>
                <a:tab pos="3030538" algn="ctr"/>
              </a:tabLst>
            </a:pPr>
            <a:r>
              <a:rPr lang="en-US" altLang="zh-TW" sz="2400" smtClean="0"/>
              <a:t>The operation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3030538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b="1" smtClean="0"/>
              <a:t>x.wait();</a:t>
            </a:r>
            <a:r>
              <a:rPr lang="en-US" altLang="zh-TW" sz="2400" b="1" smtClean="0">
                <a:solidFill>
                  <a:srgbClr val="FF0000"/>
                </a:solidFill>
              </a:rPr>
              <a:t/>
            </a:r>
            <a:br>
              <a:rPr lang="en-US" altLang="zh-TW" sz="2400" b="1" smtClean="0">
                <a:solidFill>
                  <a:srgbClr val="FF0000"/>
                </a:solidFill>
              </a:rPr>
            </a:br>
            <a:r>
              <a:rPr lang="en-US" altLang="zh-TW" sz="2400" smtClean="0">
                <a:solidFill>
                  <a:srgbClr val="FF0000"/>
                </a:solidFill>
              </a:rPr>
              <a:t>means that the process invoking this operation is suspended until another process invokes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3030538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b="1" smtClean="0">
                <a:solidFill>
                  <a:srgbClr val="0000FF"/>
                </a:solidFill>
              </a:rPr>
              <a:t>x.signal();</a:t>
            </a:r>
          </a:p>
          <a:p>
            <a:pPr lvl="1" eaLnBrk="1" hangingPunct="1">
              <a:lnSpc>
                <a:spcPct val="90000"/>
              </a:lnSpc>
              <a:tabLst>
                <a:tab pos="3030538" algn="ctr"/>
              </a:tabLst>
            </a:pPr>
            <a:r>
              <a:rPr lang="en-US" altLang="zh-TW" sz="2400" smtClean="0"/>
              <a:t>The </a:t>
            </a:r>
            <a:r>
              <a:rPr lang="en-US" altLang="zh-TW" sz="2400" b="1" smtClean="0"/>
              <a:t>x.signal</a:t>
            </a:r>
            <a:r>
              <a:rPr lang="en-US" altLang="zh-TW" sz="2400" smtClean="0"/>
              <a:t> operation </a:t>
            </a:r>
            <a:r>
              <a:rPr lang="en-US" altLang="zh-TW" sz="2400" smtClean="0">
                <a:solidFill>
                  <a:srgbClr val="0000FF"/>
                </a:solidFill>
              </a:rPr>
              <a:t>resumes exactly one suspended process.</a:t>
            </a:r>
            <a:r>
              <a:rPr lang="en-US" altLang="zh-TW" sz="2400" smtClean="0"/>
              <a:t>  If no process is suspended, then the </a:t>
            </a:r>
            <a:r>
              <a:rPr lang="en-US" altLang="zh-TW" sz="2400" b="1" smtClean="0"/>
              <a:t>signal</a:t>
            </a:r>
            <a:r>
              <a:rPr lang="en-US" altLang="zh-TW" sz="2400" smtClean="0"/>
              <a:t> operation has no effect.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ACB566-F8BC-4DEE-9EBE-A60A08A254A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553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554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A13755-3CE2-4945-B1CD-F1D2DA81327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400" smtClean="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379413"/>
            <a:ext cx="81280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Schematic View of a Monitor</a:t>
            </a:r>
          </a:p>
        </p:txBody>
      </p:sp>
      <p:pic>
        <p:nvPicPr>
          <p:cNvPr id="6554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" t="508" r="8325" b="508"/>
          <a:stretch>
            <a:fillRect/>
          </a:stretch>
        </p:blipFill>
        <p:spPr bwMode="auto">
          <a:xfrm>
            <a:off x="1247775" y="1069975"/>
            <a:ext cx="5922963" cy="49530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031FE6-C2B2-48F4-85CD-C4505ABE990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656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656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7DF248-28B2-4A3D-8499-B453540217D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400" smtClean="0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398463"/>
            <a:ext cx="8310563" cy="620712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Monitor With Condition Variables (1)</a:t>
            </a:r>
          </a:p>
        </p:txBody>
      </p:sp>
      <p:pic>
        <p:nvPicPr>
          <p:cNvPr id="6656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" t="6474" r="383" b="5995"/>
          <a:stretch>
            <a:fillRect/>
          </a:stretch>
        </p:blipFill>
        <p:spPr bwMode="auto">
          <a:xfrm>
            <a:off x="906463" y="1182688"/>
            <a:ext cx="6543675" cy="46355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迴轉箭號 1">
            <a:hlinkClick r:id="rId5" action="ppaction://hlinksldjump"/>
          </p:cNvPr>
          <p:cNvSpPr/>
          <p:nvPr/>
        </p:nvSpPr>
        <p:spPr bwMode="auto">
          <a:xfrm>
            <a:off x="5937250" y="3194050"/>
            <a:ext cx="330200" cy="306388"/>
          </a:xfrm>
          <a:prstGeom prst="utur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743C00-2BD2-4391-86ED-9F95E538562A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75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75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588030-5E79-45E5-9B11-4E79FEE2E42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TW" sz="1400" smtClean="0"/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285750"/>
            <a:ext cx="8350250" cy="714375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FF0000"/>
                </a:solidFill>
              </a:rPr>
              <a:t>Monitor With Condition Variables (2)</a:t>
            </a:r>
          </a:p>
        </p:txBody>
      </p:sp>
      <p:sp>
        <p:nvSpPr>
          <p:cNvPr id="972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3675" y="987425"/>
            <a:ext cx="8710613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tabLst>
                <a:tab pos="519113" algn="l"/>
                <a:tab pos="966788" algn="l"/>
              </a:tabLst>
            </a:pPr>
            <a:r>
              <a:rPr lang="en-US" altLang="zh-TW" sz="2800" smtClean="0"/>
              <a:t>Suppose Q executes </a:t>
            </a:r>
            <a:r>
              <a:rPr lang="en-US" altLang="zh-TW" sz="2800" i="1" smtClean="0"/>
              <a:t>x.wait</a:t>
            </a:r>
            <a:r>
              <a:rPr lang="en-US" altLang="zh-TW" sz="2800" smtClean="0"/>
              <a:t> and then P executes </a:t>
            </a:r>
            <a:r>
              <a:rPr lang="en-US" altLang="zh-TW" sz="2800" i="1" smtClean="0"/>
              <a:t>x.signal</a:t>
            </a:r>
            <a:r>
              <a:rPr lang="en-US" altLang="zh-TW" sz="2800" smtClean="0"/>
              <a:t>. </a:t>
            </a:r>
            <a:endParaRPr lang="en-US" altLang="zh-TW" sz="2800" b="1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519113" algn="l"/>
                <a:tab pos="966788" algn="l"/>
              </a:tabLst>
            </a:pPr>
            <a:r>
              <a:rPr lang="en-US" altLang="zh-TW" sz="2800" b="1" smtClean="0">
                <a:solidFill>
                  <a:srgbClr val="000000"/>
                </a:solidFill>
              </a:rPr>
              <a:t>Both P and Q are in the monitor, one must wait</a:t>
            </a:r>
            <a:r>
              <a:rPr lang="en-US" altLang="zh-TW" sz="2800" smtClean="0"/>
              <a:t>.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519113" algn="l"/>
                <a:tab pos="966788" algn="l"/>
              </a:tabLst>
            </a:pPr>
            <a:r>
              <a:rPr lang="en-US" altLang="zh-TW" sz="2800" smtClean="0">
                <a:solidFill>
                  <a:srgbClr val="FF0000"/>
                </a:solidFill>
              </a:rPr>
              <a:t>Two possibilities for the implementation</a:t>
            </a:r>
            <a:r>
              <a:rPr lang="en-US" altLang="zh-TW" sz="2800" smtClean="0"/>
              <a:t>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519113" algn="l"/>
                <a:tab pos="966788" algn="l"/>
              </a:tabLst>
            </a:pPr>
            <a:r>
              <a:rPr lang="en-US" altLang="zh-TW" smtClean="0"/>
              <a:t>(a) </a:t>
            </a:r>
            <a:r>
              <a:rPr lang="en-US" altLang="zh-TW" smtClean="0">
                <a:solidFill>
                  <a:srgbClr val="0000FF"/>
                </a:solidFill>
              </a:rPr>
              <a:t>P either waits Q leaves, or waits another condition 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</a:pPr>
            <a:r>
              <a:rPr lang="en-US" altLang="zh-TW" smtClean="0"/>
              <a:t>(b) </a:t>
            </a:r>
            <a:r>
              <a:rPr lang="en-US" altLang="zh-TW" b="1" smtClean="0">
                <a:solidFill>
                  <a:srgbClr val="FF0000"/>
                </a:solidFill>
              </a:rPr>
              <a:t>Q either waits P leaves, or waits another condition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519113" algn="l"/>
                <a:tab pos="966788" algn="l"/>
              </a:tabLst>
            </a:pPr>
            <a:r>
              <a:rPr lang="en-US" altLang="zh-TW" sz="2800" smtClean="0"/>
              <a:t>Possibility (b) seems more reasonable</a:t>
            </a: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2736850" y="3911600"/>
            <a:ext cx="2405063" cy="460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signal and wait</a:t>
            </a:r>
            <a:endParaRPr lang="zh-TW" altLang="en-US" sz="240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>
            <a:spLocks noChangeArrowheads="1"/>
          </p:cNvSpPr>
          <p:nvPr/>
        </p:nvSpPr>
        <p:spPr bwMode="auto">
          <a:xfrm>
            <a:off x="2889250" y="4964113"/>
            <a:ext cx="3251200" cy="4603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signal and continue</a:t>
            </a: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67593" name="動作按鈕: 起點 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004175" y="3590925"/>
            <a:ext cx="358775" cy="320675"/>
          </a:xfrm>
          <a:prstGeom prst="actionButtonBeginning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EAD372-0B0A-4395-AA3A-E17C1B319C1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86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86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34D7CD-6AAA-4A84-B7FB-E555B7B0BE1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TW" sz="1400" smtClean="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285750"/>
            <a:ext cx="8350250" cy="714375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FF0000"/>
                </a:solidFill>
              </a:rPr>
              <a:t>Monitor With Condition Variables (3)</a:t>
            </a:r>
          </a:p>
        </p:txBody>
      </p:sp>
      <p:sp>
        <p:nvSpPr>
          <p:cNvPr id="311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3675" y="1154113"/>
            <a:ext cx="8710613" cy="54562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519113" algn="l"/>
                <a:tab pos="966788" algn="l"/>
              </a:tabLst>
            </a:pPr>
            <a:r>
              <a:rPr lang="en-US" altLang="zh-TW" sz="3100" smtClean="0"/>
              <a:t>However, if Q waits, the </a:t>
            </a:r>
            <a:r>
              <a:rPr lang="en-US" altLang="zh-TW" sz="3100" smtClean="0">
                <a:solidFill>
                  <a:srgbClr val="FF0000"/>
                </a:solidFill>
              </a:rPr>
              <a:t>logical condition for which Q is waiting may no longer hold</a:t>
            </a:r>
            <a:r>
              <a:rPr lang="en-US" altLang="zh-TW" sz="3100" smtClean="0"/>
              <a:t> by the time Q is resumed.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519113" algn="l"/>
                <a:tab pos="966788" algn="l"/>
              </a:tabLst>
            </a:pPr>
            <a:r>
              <a:rPr lang="en-US" altLang="zh-TW" sz="3100" smtClean="0"/>
              <a:t>Concurrent Pascal (using a compromise)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tabLst>
                <a:tab pos="519113" algn="l"/>
                <a:tab pos="966788" algn="l"/>
              </a:tabLst>
            </a:pPr>
            <a:r>
              <a:rPr lang="en-US" altLang="zh-TW" sz="3100" smtClean="0"/>
              <a:t>When P executes </a:t>
            </a:r>
            <a:r>
              <a:rPr lang="en-US" altLang="zh-TW" sz="3100" i="1" smtClean="0"/>
              <a:t>x.signal</a:t>
            </a:r>
            <a:r>
              <a:rPr lang="en-US" altLang="zh-TW" sz="3100" smtClean="0"/>
              <a:t>, it leaves immediately, and Q is resumed immediately.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</a:pPr>
            <a:r>
              <a:rPr lang="en-US" altLang="zh-TW" sz="3100" smtClean="0">
                <a:latin typeface="Wingdings" pitchFamily="2" charset="2"/>
              </a:rPr>
              <a:t>L</a:t>
            </a:r>
            <a:r>
              <a:rPr lang="en-US" altLang="zh-TW" sz="3100" smtClean="0"/>
              <a:t>: less powerful (a process cannot signal more than one process)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6F2A7B-DBA0-4E09-B4CD-6FDB6A8EBDBA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696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696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7A3AF2-4373-49AE-BEB7-FB1965484C0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zh-TW" sz="1400" smtClean="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285750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Dining Philosophers Example</a:t>
            </a:r>
          </a:p>
        </p:txBody>
      </p:sp>
      <p:sp>
        <p:nvSpPr>
          <p:cNvPr id="154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73100" y="1003300"/>
            <a:ext cx="8054975" cy="534670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zh-TW" altLang="en-US" sz="2800" b="1" dirty="0" smtClean="0"/>
              <a:t>	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monitor </a:t>
            </a:r>
            <a:r>
              <a:rPr lang="en-US" altLang="zh-TW" sz="2800" b="1" dirty="0" err="1" smtClean="0">
                <a:solidFill>
                  <a:srgbClr val="FF0000"/>
                </a:solidFill>
              </a:rPr>
              <a:t>dp</a:t>
            </a:r>
            <a:r>
              <a:rPr lang="en-US" altLang="zh-TW" sz="2400" b="1" dirty="0" smtClean="0"/>
              <a:t> 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{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</a:t>
            </a:r>
            <a:r>
              <a:rPr lang="en-US" altLang="zh-TW" sz="2400" b="1" dirty="0" err="1" smtClean="0"/>
              <a:t>enum</a:t>
            </a:r>
            <a:r>
              <a:rPr lang="en-US" altLang="zh-TW" sz="2400" b="1" dirty="0" smtClean="0"/>
              <a:t> {</a:t>
            </a:r>
            <a:r>
              <a:rPr lang="en-US" altLang="zh-TW" sz="2400" b="1" dirty="0" smtClean="0">
                <a:solidFill>
                  <a:srgbClr val="009900"/>
                </a:solidFill>
              </a:rPr>
              <a:t>thinking</a:t>
            </a:r>
            <a:r>
              <a:rPr lang="en-US" altLang="zh-TW" sz="2400" b="1" dirty="0" smtClean="0"/>
              <a:t>, </a:t>
            </a:r>
            <a:r>
              <a:rPr lang="en-US" altLang="zh-TW" sz="2400" b="1" dirty="0" smtClean="0">
                <a:solidFill>
                  <a:schemeClr val="tx2"/>
                </a:solidFill>
              </a:rPr>
              <a:t>hungry</a:t>
            </a:r>
            <a:r>
              <a:rPr lang="en-US" altLang="zh-TW" sz="2400" b="1" dirty="0" smtClean="0"/>
              <a:t>, </a:t>
            </a:r>
            <a:r>
              <a:rPr lang="en-US" altLang="zh-TW" sz="2400" b="1" dirty="0" smtClean="0">
                <a:solidFill>
                  <a:srgbClr val="000000"/>
                </a:solidFill>
              </a:rPr>
              <a:t>eating</a:t>
            </a:r>
            <a:r>
              <a:rPr lang="en-US" altLang="zh-TW" sz="2400" b="1" dirty="0" smtClean="0"/>
              <a:t>} 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state[5]</a:t>
            </a:r>
            <a:r>
              <a:rPr lang="en-US" altLang="zh-TW" sz="2400" b="1" dirty="0" smtClean="0"/>
              <a:t>;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</a:t>
            </a:r>
            <a:r>
              <a:rPr lang="en-US" altLang="zh-TW" sz="2400" b="1" dirty="0" smtClean="0">
                <a:solidFill>
                  <a:srgbClr val="000000"/>
                </a:solidFill>
              </a:rPr>
              <a:t>	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condition self[5];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void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pickup(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2400" b="1" i="1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)</a:t>
            </a:r>
            <a:r>
              <a:rPr lang="en-US" altLang="zh-TW" sz="2400" b="1" dirty="0" smtClean="0"/>
              <a:t> 		// following slides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void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putdown(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2400" b="1" i="1" dirty="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)</a:t>
            </a:r>
            <a:r>
              <a:rPr lang="en-US" altLang="zh-TW" sz="2400" b="1" dirty="0" smtClean="0"/>
              <a:t> 	// following slides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void </a:t>
            </a:r>
            <a:r>
              <a:rPr lang="en-US" altLang="zh-TW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test(</a:t>
            </a:r>
            <a:r>
              <a:rPr lang="en-US" altLang="zh-TW" sz="2400" b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en-US" altLang="zh-TW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i)</a:t>
            </a:r>
            <a:r>
              <a:rPr lang="en-US" altLang="zh-TW" sz="2400" b="1" dirty="0" smtClean="0"/>
              <a:t> 		// following slides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void </a:t>
            </a:r>
            <a:r>
              <a:rPr lang="en-US" altLang="zh-TW" sz="2400" b="1" dirty="0" err="1" smtClean="0"/>
              <a:t>init</a:t>
            </a:r>
            <a:r>
              <a:rPr lang="en-US" altLang="zh-TW" sz="2400" b="1" dirty="0" smtClean="0"/>
              <a:t>() {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	for (</a:t>
            </a:r>
            <a:r>
              <a:rPr lang="en-US" altLang="zh-TW" sz="2400" b="1" dirty="0" err="1" smtClean="0"/>
              <a:t>int</a:t>
            </a:r>
            <a:r>
              <a:rPr lang="en-US" altLang="zh-TW" sz="2400" b="1" dirty="0" smtClean="0"/>
              <a:t> </a:t>
            </a:r>
            <a:r>
              <a:rPr lang="en-US" altLang="zh-TW" sz="2400" b="1" i="1" dirty="0" smtClean="0">
                <a:latin typeface="Times New Roman" pitchFamily="18" charset="0"/>
              </a:rPr>
              <a:t>i</a:t>
            </a:r>
            <a:r>
              <a:rPr lang="en-US" altLang="zh-TW" sz="2400" b="1" dirty="0" smtClean="0"/>
              <a:t> = 0; </a:t>
            </a:r>
            <a:r>
              <a:rPr lang="en-US" altLang="zh-TW" sz="2400" b="1" i="1" dirty="0" smtClean="0">
                <a:latin typeface="Times New Roman" pitchFamily="18" charset="0"/>
              </a:rPr>
              <a:t>i</a:t>
            </a:r>
            <a:r>
              <a:rPr lang="en-US" altLang="zh-TW" sz="2400" b="1" dirty="0" smtClean="0"/>
              <a:t> &lt; 5; </a:t>
            </a:r>
            <a:r>
              <a:rPr lang="en-US" altLang="zh-TW" sz="2400" b="1" i="1" dirty="0" smtClean="0">
                <a:latin typeface="Times New Roman" pitchFamily="18" charset="0"/>
              </a:rPr>
              <a:t>i</a:t>
            </a:r>
            <a:r>
              <a:rPr lang="en-US" altLang="zh-TW" sz="2400" b="1" dirty="0" smtClean="0"/>
              <a:t>++)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400" b="1" dirty="0" smtClean="0"/>
              <a:t>				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state[</a:t>
            </a:r>
            <a:r>
              <a:rPr lang="en-US" altLang="zh-TW" sz="2400" b="1" i="1" dirty="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]</a:t>
            </a:r>
            <a:r>
              <a:rPr lang="en-US" altLang="zh-TW" sz="2400" b="1" dirty="0" smtClean="0"/>
              <a:t> = </a:t>
            </a:r>
            <a:r>
              <a:rPr lang="en-US" altLang="zh-TW" sz="2400" b="1" dirty="0" smtClean="0">
                <a:solidFill>
                  <a:srgbClr val="009900"/>
                </a:solidFill>
              </a:rPr>
              <a:t>thinking</a:t>
            </a:r>
            <a:r>
              <a:rPr lang="en-US" altLang="zh-TW" sz="2400" b="1" dirty="0" smtClean="0"/>
              <a:t>;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800" b="1" dirty="0" smtClean="0"/>
              <a:t>		}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519113" algn="l"/>
                <a:tab pos="966788" algn="l"/>
              </a:tabLst>
              <a:defRPr/>
            </a:pPr>
            <a:r>
              <a:rPr lang="en-US" altLang="zh-TW" sz="2800" b="1" dirty="0" smtClean="0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0F3A1F-888C-4B1B-86F5-FFE0CEED200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06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06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570CFB3-3927-4809-9A07-0E03E39D450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zh-TW" sz="1400" smtClean="0"/>
          </a:p>
        </p:txBody>
      </p:sp>
      <p:sp>
        <p:nvSpPr>
          <p:cNvPr id="157700" name="Rectangle 1028"/>
          <p:cNvSpPr>
            <a:spLocks noChangeArrowheads="1"/>
          </p:cNvSpPr>
          <p:nvPr/>
        </p:nvSpPr>
        <p:spPr bwMode="auto">
          <a:xfrm>
            <a:off x="514350" y="247650"/>
            <a:ext cx="8493125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000" b="1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	</a:t>
            </a:r>
            <a:r>
              <a:rPr lang="en-US" altLang="zh-TW" sz="2800" b="1"/>
              <a:t>void pickup(int </a:t>
            </a:r>
            <a:r>
              <a:rPr lang="en-US" altLang="zh-TW" sz="2400" b="1" i="1">
                <a:latin typeface="Times New Roman" pitchFamily="18" charset="0"/>
              </a:rPr>
              <a:t>i</a:t>
            </a:r>
            <a:r>
              <a:rPr lang="en-US" altLang="zh-TW" sz="2800" b="1"/>
              <a:t>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state[</a:t>
            </a:r>
            <a:r>
              <a:rPr lang="en-US" altLang="zh-TW" sz="2800" b="1" i="1">
                <a:latin typeface="Times New Roman" pitchFamily="18" charset="0"/>
              </a:rPr>
              <a:t>i</a:t>
            </a:r>
            <a:r>
              <a:rPr lang="en-US" altLang="zh-TW" sz="2800" b="1"/>
              <a:t>] = </a:t>
            </a:r>
            <a:r>
              <a:rPr lang="en-US" altLang="zh-TW" sz="2800" b="1">
                <a:solidFill>
                  <a:schemeClr val="tx2"/>
                </a:solidFill>
              </a:rPr>
              <a:t>hungry</a:t>
            </a:r>
            <a:r>
              <a:rPr lang="en-US" altLang="zh-TW" sz="2800" b="1"/>
              <a:t>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</a:t>
            </a:r>
            <a:r>
              <a:rPr lang="en-US" altLang="zh-TW" sz="2800" b="1">
                <a:solidFill>
                  <a:srgbClr val="FF0000"/>
                </a:solidFill>
              </a:rPr>
              <a:t>	test[</a:t>
            </a:r>
            <a:r>
              <a:rPr lang="en-US" altLang="zh-TW" sz="2800" b="1" i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b="1">
                <a:solidFill>
                  <a:srgbClr val="FF0000"/>
                </a:solidFill>
              </a:rPr>
              <a:t>]</a:t>
            </a:r>
            <a:r>
              <a:rPr lang="en-US" altLang="zh-TW" sz="2800" b="1"/>
              <a:t>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if (state[</a:t>
            </a:r>
            <a:r>
              <a:rPr lang="en-US" altLang="zh-TW" sz="2400" b="1" i="1">
                <a:latin typeface="Times New Roman" pitchFamily="18" charset="0"/>
              </a:rPr>
              <a:t>i</a:t>
            </a:r>
            <a:r>
              <a:rPr lang="en-US" altLang="zh-TW" sz="2800" b="1"/>
              <a:t>] != </a:t>
            </a:r>
            <a:r>
              <a:rPr lang="en-US" altLang="zh-TW" sz="2800" b="1">
                <a:solidFill>
                  <a:srgbClr val="000000"/>
                </a:solidFill>
              </a:rPr>
              <a:t>eating</a:t>
            </a:r>
            <a:r>
              <a:rPr lang="en-US" altLang="zh-TW" sz="2800" b="1"/>
              <a:t>)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	</a:t>
            </a:r>
            <a:r>
              <a:rPr lang="en-US" altLang="zh-TW" sz="2800" b="1">
                <a:solidFill>
                  <a:srgbClr val="FF0000"/>
                </a:solidFill>
              </a:rPr>
              <a:t>self[</a:t>
            </a:r>
            <a:r>
              <a:rPr lang="en-US" altLang="zh-TW" sz="2800" b="1" i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b="1">
                <a:solidFill>
                  <a:srgbClr val="FF0000"/>
                </a:solidFill>
              </a:rPr>
              <a:t>].wait();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}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endParaRPr lang="en-US" altLang="zh-TW" sz="2800" b="1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void putdown(int i)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state[</a:t>
            </a:r>
            <a:r>
              <a:rPr lang="en-US" altLang="zh-TW" sz="2800" b="1" i="1">
                <a:latin typeface="Times New Roman" pitchFamily="18" charset="0"/>
              </a:rPr>
              <a:t>i</a:t>
            </a:r>
            <a:r>
              <a:rPr lang="en-US" altLang="zh-TW" sz="2800" b="1"/>
              <a:t>] = </a:t>
            </a:r>
            <a:r>
              <a:rPr lang="en-US" altLang="zh-TW" sz="2800" b="1">
                <a:solidFill>
                  <a:srgbClr val="009900"/>
                </a:solidFill>
              </a:rPr>
              <a:t>thinking</a:t>
            </a:r>
            <a:r>
              <a:rPr lang="en-US" altLang="zh-TW" sz="2800" b="1"/>
              <a:t>; /*</a:t>
            </a:r>
            <a:r>
              <a:rPr lang="en-US" altLang="zh-TW" sz="2400" b="1"/>
              <a:t>allow neighbors to eat</a:t>
            </a:r>
            <a:endParaRPr lang="en-US" altLang="zh-TW" sz="2800" b="1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// test left and right neighbors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</a:t>
            </a:r>
            <a:r>
              <a:rPr lang="en-US" altLang="zh-TW" sz="2800" b="1">
                <a:solidFill>
                  <a:srgbClr val="FF0000"/>
                </a:solidFill>
              </a:rPr>
              <a:t>	test((</a:t>
            </a:r>
            <a:r>
              <a:rPr lang="en-US" altLang="zh-TW" sz="2800" b="1" i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b="1">
                <a:solidFill>
                  <a:srgbClr val="FF0000"/>
                </a:solidFill>
              </a:rPr>
              <a:t>+4) % 5);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		test((</a:t>
            </a:r>
            <a:r>
              <a:rPr lang="en-US" altLang="zh-TW" sz="2400" b="1" i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b="1">
                <a:solidFill>
                  <a:srgbClr val="FF0000"/>
                </a:solidFill>
              </a:rPr>
              <a:t>+1) % 5);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}</a:t>
            </a:r>
          </a:p>
        </p:txBody>
      </p:sp>
      <p:sp>
        <p:nvSpPr>
          <p:cNvPr id="70662" name="Text Box 1029"/>
          <p:cNvSpPr txBox="1">
            <a:spLocks noChangeArrowheads="1"/>
          </p:cNvSpPr>
          <p:nvPr/>
        </p:nvSpPr>
        <p:spPr bwMode="auto">
          <a:xfrm>
            <a:off x="4813300" y="192088"/>
            <a:ext cx="1841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zh-TW" altLang="en-US" sz="2000" b="1">
              <a:solidFill>
                <a:srgbClr val="FFCC00"/>
              </a:solidFill>
              <a:latin typeface="Times New Roman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TW" altLang="en-US" sz="2000" b="1">
              <a:solidFill>
                <a:srgbClr val="FFCC00"/>
              </a:solidFill>
              <a:latin typeface="Times New Roman" pitchFamily="18" charset="0"/>
            </a:endParaRPr>
          </a:p>
        </p:txBody>
      </p:sp>
      <p:sp>
        <p:nvSpPr>
          <p:cNvPr id="157702" name="Text Box 1030"/>
          <p:cNvSpPr txBox="1">
            <a:spLocks noChangeArrowheads="1"/>
          </p:cNvSpPr>
          <p:nvPr/>
        </p:nvSpPr>
        <p:spPr bwMode="auto">
          <a:xfrm>
            <a:off x="6173788" y="1190625"/>
            <a:ext cx="17637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b="1">
                <a:latin typeface="Times New Roman" pitchFamily="18" charset="0"/>
              </a:rPr>
              <a:t>try to eat</a:t>
            </a:r>
          </a:p>
        </p:txBody>
      </p:sp>
      <p:sp>
        <p:nvSpPr>
          <p:cNvPr id="157703" name="Line 1031"/>
          <p:cNvSpPr>
            <a:spLocks noChangeShapeType="1"/>
          </p:cNvSpPr>
          <p:nvPr/>
        </p:nvSpPr>
        <p:spPr bwMode="auto">
          <a:xfrm flipH="1">
            <a:off x="3406775" y="1528763"/>
            <a:ext cx="28003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7704" name="Text Box 1032"/>
          <p:cNvSpPr txBox="1">
            <a:spLocks noChangeArrowheads="1"/>
          </p:cNvSpPr>
          <p:nvPr/>
        </p:nvSpPr>
        <p:spPr bwMode="auto">
          <a:xfrm>
            <a:off x="5280025" y="4284663"/>
            <a:ext cx="3513138" cy="173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400" b="1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400" b="1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latin typeface="Times New Roman" pitchFamily="18" charset="0"/>
              </a:rPr>
              <a:t>left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latin typeface="Times New Roman" pitchFamily="18" charset="0"/>
              </a:rPr>
              <a:t>right</a:t>
            </a:r>
          </a:p>
        </p:txBody>
      </p:sp>
      <p:sp>
        <p:nvSpPr>
          <p:cNvPr id="157705" name="Line 1033"/>
          <p:cNvSpPr>
            <a:spLocks noChangeShapeType="1"/>
          </p:cNvSpPr>
          <p:nvPr/>
        </p:nvSpPr>
        <p:spPr bwMode="auto">
          <a:xfrm flipH="1">
            <a:off x="4379913" y="5324475"/>
            <a:ext cx="2387600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7706" name="Line 1034"/>
          <p:cNvSpPr>
            <a:spLocks noChangeShapeType="1"/>
          </p:cNvSpPr>
          <p:nvPr/>
        </p:nvSpPr>
        <p:spPr bwMode="auto">
          <a:xfrm flipH="1">
            <a:off x="4400550" y="5791200"/>
            <a:ext cx="2314575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7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7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7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7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7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7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7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7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77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77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/>
      <p:bldP spid="157703" grpId="0" animBg="1"/>
      <p:bldP spid="157704" grpId="0"/>
      <p:bldP spid="157705" grpId="0" animBg="1"/>
      <p:bldP spid="15770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8FCE93-FF81-4479-8C66-F60890FEF35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16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16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3499C2-9588-41F6-B0A0-FEC7C5D68B4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kumimoji="0" lang="en-US" altLang="zh-TW" sz="1400" smtClean="0"/>
          </a:p>
        </p:txBody>
      </p:sp>
      <p:sp>
        <p:nvSpPr>
          <p:cNvPr id="158724" name="Rectangle 1028"/>
          <p:cNvSpPr>
            <a:spLocks noChangeArrowheads="1"/>
          </p:cNvSpPr>
          <p:nvPr/>
        </p:nvSpPr>
        <p:spPr bwMode="auto">
          <a:xfrm>
            <a:off x="252413" y="777875"/>
            <a:ext cx="7502525" cy="549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	</a:t>
            </a:r>
            <a:r>
              <a:rPr lang="en-US" altLang="zh-TW" sz="2800" b="1"/>
              <a:t>void test(int</a:t>
            </a:r>
            <a:r>
              <a:rPr lang="en-US" altLang="zh-TW" sz="2800" b="1" i="1">
                <a:latin typeface="Times New Roman" pitchFamily="18" charset="0"/>
              </a:rPr>
              <a:t> i</a:t>
            </a:r>
            <a:r>
              <a:rPr lang="en-US" altLang="zh-TW" sz="2800" b="1"/>
              <a:t>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if ( (state[(</a:t>
            </a:r>
            <a:r>
              <a:rPr lang="en-US" altLang="zh-TW" sz="2400" b="1" i="1">
                <a:latin typeface="Times New Roman" pitchFamily="18" charset="0"/>
              </a:rPr>
              <a:t>i</a:t>
            </a:r>
            <a:r>
              <a:rPr lang="en-US" altLang="zh-TW" sz="2800" b="1">
                <a:latin typeface="Times New Roman" pitchFamily="18" charset="0"/>
              </a:rPr>
              <a:t> </a:t>
            </a:r>
            <a:r>
              <a:rPr lang="en-US" altLang="zh-TW" sz="2800" b="1"/>
              <a:t>+ 4) % 5] != </a:t>
            </a:r>
            <a:r>
              <a:rPr lang="en-US" altLang="zh-TW" sz="2800" b="1">
                <a:solidFill>
                  <a:srgbClr val="000000"/>
                </a:solidFill>
              </a:rPr>
              <a:t>eating</a:t>
            </a:r>
            <a:r>
              <a:rPr lang="en-US" altLang="zh-TW" sz="2800" b="1"/>
              <a:t>)    		    &amp;&amp;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    (state[</a:t>
            </a:r>
            <a:r>
              <a:rPr lang="en-US" altLang="zh-TW" sz="2400" b="1" i="1">
                <a:latin typeface="Times New Roman" pitchFamily="18" charset="0"/>
              </a:rPr>
              <a:t>i</a:t>
            </a:r>
            <a:r>
              <a:rPr lang="en-US" altLang="zh-TW" sz="2800" b="1"/>
              <a:t>] == </a:t>
            </a:r>
            <a:r>
              <a:rPr lang="en-US" altLang="zh-TW" sz="2800" b="1">
                <a:solidFill>
                  <a:schemeClr val="tx2"/>
                </a:solidFill>
              </a:rPr>
              <a:t>hungry</a:t>
            </a:r>
            <a:r>
              <a:rPr lang="en-US" altLang="zh-TW" sz="2800" b="1"/>
              <a:t>) &amp;&amp;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    (state[(</a:t>
            </a:r>
            <a:r>
              <a:rPr lang="en-US" altLang="zh-TW" sz="2400" b="1" i="1">
                <a:latin typeface="Times New Roman" pitchFamily="18" charset="0"/>
              </a:rPr>
              <a:t>i</a:t>
            </a:r>
            <a:r>
              <a:rPr lang="en-US" altLang="zh-TW" sz="2800" b="1"/>
              <a:t> + 1) % 5] != </a:t>
            </a:r>
            <a:r>
              <a:rPr lang="en-US" altLang="zh-TW" sz="2800" b="1">
                <a:solidFill>
                  <a:srgbClr val="000000"/>
                </a:solidFill>
              </a:rPr>
              <a:t>eating</a:t>
            </a:r>
            <a:r>
              <a:rPr lang="en-US" altLang="zh-TW" sz="2800" b="1"/>
              <a:t>)) {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	state[</a:t>
            </a:r>
            <a:r>
              <a:rPr lang="en-US" altLang="zh-TW" sz="2400" b="1" i="1">
                <a:latin typeface="Times New Roman" pitchFamily="18" charset="0"/>
              </a:rPr>
              <a:t>i</a:t>
            </a:r>
            <a:r>
              <a:rPr lang="en-US" altLang="zh-TW" sz="2800" b="1"/>
              <a:t>] = </a:t>
            </a:r>
            <a:r>
              <a:rPr lang="en-US" altLang="zh-TW" sz="2800" b="1">
                <a:solidFill>
                  <a:srgbClr val="000000"/>
                </a:solidFill>
              </a:rPr>
              <a:t>eating</a:t>
            </a:r>
            <a:r>
              <a:rPr lang="en-US" altLang="zh-TW" sz="2800" b="1"/>
              <a:t>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	</a:t>
            </a:r>
            <a:r>
              <a:rPr lang="en-US" altLang="zh-TW" sz="2800" b="1">
                <a:solidFill>
                  <a:srgbClr val="FF0000"/>
                </a:solidFill>
              </a:rPr>
              <a:t>self[</a:t>
            </a:r>
            <a:r>
              <a:rPr lang="en-US" altLang="zh-TW" sz="2400" b="1" i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800" b="1">
                <a:solidFill>
                  <a:srgbClr val="FF0000"/>
                </a:solidFill>
              </a:rPr>
              <a:t>].signal();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	}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800" b="1"/>
              <a:t>	}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</a:rPr>
              <a:t>void init() {</a:t>
            </a:r>
            <a:r>
              <a:rPr lang="en-US" altLang="zh-TW" sz="2000" b="1">
                <a:latin typeface="Times New Roman" pitchFamily="18" charset="0"/>
              </a:rPr>
              <a:t> </a:t>
            </a:r>
            <a:r>
              <a:rPr lang="en-US" altLang="zh-TW" sz="2400" b="1">
                <a:latin typeface="Times New Roman" pitchFamily="18" charset="0"/>
              </a:rPr>
              <a:t>/* initialization */</a:t>
            </a:r>
            <a:r>
              <a:rPr lang="en-US" altLang="zh-TW" sz="2000" b="1">
                <a:latin typeface="Times New Roman" pitchFamily="18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</a:rPr>
              <a:t>	for (int </a:t>
            </a:r>
            <a:r>
              <a:rPr lang="en-US" altLang="zh-TW" sz="2800" b="1" i="1">
                <a:latin typeface="Times New Roman" pitchFamily="18" charset="0"/>
              </a:rPr>
              <a:t>i</a:t>
            </a:r>
            <a:r>
              <a:rPr lang="en-US" altLang="zh-TW" sz="2800" b="1">
                <a:latin typeface="Times New Roman" pitchFamily="18" charset="0"/>
              </a:rPr>
              <a:t> = 0, </a:t>
            </a:r>
            <a:r>
              <a:rPr lang="en-US" altLang="zh-TW" sz="2800" b="1" i="1">
                <a:latin typeface="Times New Roman" pitchFamily="18" charset="0"/>
              </a:rPr>
              <a:t>i</a:t>
            </a:r>
            <a:r>
              <a:rPr lang="en-US" altLang="zh-TW" sz="2800" b="1">
                <a:latin typeface="Times New Roman" pitchFamily="18" charset="0"/>
              </a:rPr>
              <a:t> &lt; 5; </a:t>
            </a:r>
            <a:r>
              <a:rPr lang="en-US" altLang="zh-TW" sz="2800" b="1" i="1">
                <a:latin typeface="Times New Roman" pitchFamily="18" charset="0"/>
              </a:rPr>
              <a:t>i</a:t>
            </a:r>
            <a:r>
              <a:rPr lang="en-US" altLang="zh-TW" sz="2800" b="1">
                <a:latin typeface="Times New Roman" pitchFamily="18" charset="0"/>
              </a:rPr>
              <a:t>++) </a:t>
            </a:r>
          </a:p>
          <a:p>
            <a:pPr>
              <a:lnSpc>
                <a:spcPct val="5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</a:rPr>
              <a:t>		state[</a:t>
            </a:r>
            <a:r>
              <a:rPr lang="en-US" altLang="zh-TW" sz="2800" b="1" i="1">
                <a:latin typeface="Times New Roman" pitchFamily="18" charset="0"/>
              </a:rPr>
              <a:t>i</a:t>
            </a:r>
            <a:r>
              <a:rPr lang="en-US" altLang="zh-TW" sz="2800" b="1">
                <a:latin typeface="Times New Roman" pitchFamily="18" charset="0"/>
              </a:rPr>
              <a:t>] = </a:t>
            </a:r>
            <a:r>
              <a:rPr lang="en-US" altLang="zh-TW" sz="2800" b="1">
                <a:solidFill>
                  <a:srgbClr val="009900"/>
                </a:solidFill>
                <a:latin typeface="Times New Roman" pitchFamily="18" charset="0"/>
              </a:rPr>
              <a:t>thinking</a:t>
            </a:r>
            <a:r>
              <a:rPr lang="en-US" altLang="zh-TW" b="1">
                <a:latin typeface="Times New Roman" pitchFamily="18" charset="0"/>
              </a:rPr>
              <a:t>;</a:t>
            </a:r>
            <a:r>
              <a:rPr lang="en-US" altLang="zh-TW" sz="2400" b="1">
                <a:latin typeface="Times New Roman" pitchFamily="18" charset="0"/>
              </a:rPr>
              <a:t> }}</a:t>
            </a:r>
          </a:p>
        </p:txBody>
      </p:sp>
      <p:sp>
        <p:nvSpPr>
          <p:cNvPr id="158725" name="Text Box 1029"/>
          <p:cNvSpPr txBox="1">
            <a:spLocks noChangeArrowheads="1"/>
          </p:cNvSpPr>
          <p:nvPr/>
        </p:nvSpPr>
        <p:spPr bwMode="auto">
          <a:xfrm>
            <a:off x="4933950" y="295275"/>
            <a:ext cx="217805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latin typeface="Times New Roman" pitchFamily="18" charset="0"/>
              </a:rPr>
              <a:t>try to let P</a:t>
            </a:r>
            <a:r>
              <a:rPr lang="en-US" altLang="zh-TW" sz="2400" b="1" i="1" baseline="-2500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i="1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400" b="1">
                <a:latin typeface="Times New Roman" pitchFamily="18" charset="0"/>
              </a:rPr>
              <a:t>eat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latin typeface="Times New Roman" pitchFamily="18" charset="0"/>
              </a:rPr>
              <a:t>(if it is hungry)</a:t>
            </a:r>
          </a:p>
        </p:txBody>
      </p:sp>
      <p:sp>
        <p:nvSpPr>
          <p:cNvPr id="71687" name="Line 1030"/>
          <p:cNvSpPr>
            <a:spLocks noChangeShapeType="1"/>
          </p:cNvSpPr>
          <p:nvPr/>
        </p:nvSpPr>
        <p:spPr bwMode="auto">
          <a:xfrm flipH="1">
            <a:off x="3613150" y="833438"/>
            <a:ext cx="14097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8727" name="Text Box 1031"/>
          <p:cNvSpPr txBox="1">
            <a:spLocks noChangeArrowheads="1"/>
          </p:cNvSpPr>
          <p:nvPr/>
        </p:nvSpPr>
        <p:spPr bwMode="auto">
          <a:xfrm>
            <a:off x="5384800" y="4079875"/>
            <a:ext cx="3262313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r>
              <a:rPr lang="en-US" altLang="zh-TW" sz="2400" b="1">
                <a:latin typeface="Times New Roman" pitchFamily="18" charset="0"/>
              </a:rPr>
              <a:t>if P</a:t>
            </a:r>
            <a:r>
              <a:rPr lang="en-US" altLang="zh-TW" sz="2400" b="1" i="1" baseline="-2500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i="1">
                <a:latin typeface="Times New Roman" pitchFamily="18" charset="0"/>
              </a:rPr>
              <a:t> </a:t>
            </a:r>
            <a:r>
              <a:rPr lang="en-US" altLang="zh-TW" sz="2400" b="1">
                <a:latin typeface="Times New Roman" pitchFamily="18" charset="0"/>
              </a:rPr>
              <a:t> is suspended,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latin typeface="Times New Roman" pitchFamily="18" charset="0"/>
              </a:rPr>
              <a:t>   resume it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Char char="l"/>
            </a:pPr>
            <a:r>
              <a:rPr lang="en-US" altLang="zh-TW" sz="2400" b="1">
                <a:latin typeface="Times New Roman" pitchFamily="18" charset="0"/>
              </a:rPr>
              <a:t>if P</a:t>
            </a:r>
            <a:r>
              <a:rPr lang="en-US" altLang="zh-TW" sz="2400" b="1" i="1" baseline="-2500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="1" i="1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400" b="1">
                <a:latin typeface="Times New Roman" pitchFamily="18" charset="0"/>
              </a:rPr>
              <a:t> is not suspended,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latin typeface="Times New Roman" pitchFamily="18" charset="0"/>
              </a:rPr>
              <a:t>  no effect</a:t>
            </a:r>
          </a:p>
        </p:txBody>
      </p:sp>
      <p:sp>
        <p:nvSpPr>
          <p:cNvPr id="71689" name="Line 1032"/>
          <p:cNvSpPr>
            <a:spLocks noChangeShapeType="1"/>
          </p:cNvSpPr>
          <p:nvPr/>
        </p:nvSpPr>
        <p:spPr bwMode="auto">
          <a:xfrm flipH="1" flipV="1">
            <a:off x="4711700" y="3805238"/>
            <a:ext cx="819150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8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8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8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8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5" grpId="0"/>
      <p:bldP spid="15872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526E69-1434-4BEE-BABD-A7623DF3275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27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27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DECA29-96A0-4D03-B2A7-A3F6B4DA83F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kumimoji="0" lang="en-US" altLang="zh-TW" sz="1400" smtClean="0"/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3908425" y="3829050"/>
            <a:ext cx="46005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eating</a:t>
            </a:r>
            <a:r>
              <a:rPr lang="en-US" altLang="zh-TW" sz="2000" b="1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000" b="1">
              <a:solidFill>
                <a:srgbClr val="FF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000" b="1">
              <a:solidFill>
                <a:srgbClr val="FF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putdown(1)</a:t>
            </a:r>
            <a:r>
              <a:rPr lang="en-US" altLang="zh-TW" sz="1800" b="1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itchFamily="18" charset="0"/>
              </a:rPr>
              <a:t>	test (0) 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itchFamily="18" charset="0"/>
              </a:rPr>
              <a:t>	test (2) 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itchFamily="18" charset="0"/>
              </a:rPr>
              <a:t>	    if P</a:t>
            </a:r>
            <a:r>
              <a:rPr lang="en-US" altLang="zh-TW" sz="1800" b="1" baseline="-25000">
                <a:latin typeface="Times New Roman" pitchFamily="18" charset="0"/>
              </a:rPr>
              <a:t>3</a:t>
            </a:r>
            <a:r>
              <a:rPr lang="en-US" altLang="zh-TW" sz="1800" b="1">
                <a:latin typeface="Times New Roman" pitchFamily="18" charset="0"/>
              </a:rPr>
              <a:t> is not eating  </a:t>
            </a:r>
            <a:r>
              <a:rPr lang="en-US" altLang="zh-TW" sz="1800" b="1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TW" sz="1800" b="1">
                <a:latin typeface="Times New Roman" pitchFamily="18" charset="0"/>
              </a:rPr>
              <a:t> self[2].signal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itchFamily="18" charset="0"/>
              </a:rPr>
              <a:t>	    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1177925" y="4248150"/>
            <a:ext cx="1111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thinking</a:t>
            </a:r>
          </a:p>
        </p:txBody>
      </p:sp>
      <p:grpSp>
        <p:nvGrpSpPr>
          <p:cNvPr id="72711" name="Group 5"/>
          <p:cNvGrpSpPr>
            <a:grpSpLocks/>
          </p:cNvGrpSpPr>
          <p:nvPr/>
        </p:nvGrpSpPr>
        <p:grpSpPr bwMode="auto">
          <a:xfrm>
            <a:off x="982663" y="838200"/>
            <a:ext cx="3544887" cy="3221038"/>
            <a:chOff x="2755" y="1826"/>
            <a:chExt cx="2233" cy="2029"/>
          </a:xfrm>
        </p:grpSpPr>
        <p:sp>
          <p:nvSpPr>
            <p:cNvPr id="72722" name="Oval 6"/>
            <p:cNvSpPr>
              <a:spLocks noChangeArrowheads="1"/>
            </p:cNvSpPr>
            <p:nvPr/>
          </p:nvSpPr>
          <p:spPr bwMode="auto">
            <a:xfrm>
              <a:off x="3118" y="2231"/>
              <a:ext cx="1468" cy="142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55596D"/>
                      </a:gs>
                      <a:gs pos="100000">
                        <a:schemeClr val="bg2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23" name="Oval 7"/>
            <p:cNvSpPr>
              <a:spLocks noChangeArrowheads="1"/>
            </p:cNvSpPr>
            <p:nvPr/>
          </p:nvSpPr>
          <p:spPr bwMode="auto">
            <a:xfrm>
              <a:off x="3685" y="1826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24" name="Oval 8"/>
            <p:cNvSpPr>
              <a:spLocks noChangeArrowheads="1"/>
            </p:cNvSpPr>
            <p:nvPr/>
          </p:nvSpPr>
          <p:spPr bwMode="auto">
            <a:xfrm>
              <a:off x="2755" y="2549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25" name="Oval 9"/>
            <p:cNvSpPr>
              <a:spLocks noChangeArrowheads="1"/>
            </p:cNvSpPr>
            <p:nvPr/>
          </p:nvSpPr>
          <p:spPr bwMode="auto">
            <a:xfrm>
              <a:off x="3040" y="3539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26" name="Oval 10"/>
            <p:cNvSpPr>
              <a:spLocks noChangeArrowheads="1"/>
            </p:cNvSpPr>
            <p:nvPr/>
          </p:nvSpPr>
          <p:spPr bwMode="auto">
            <a:xfrm>
              <a:off x="4279" y="3527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27" name="Oval 11"/>
            <p:cNvSpPr>
              <a:spLocks noChangeArrowheads="1"/>
            </p:cNvSpPr>
            <p:nvPr/>
          </p:nvSpPr>
          <p:spPr bwMode="auto">
            <a:xfrm>
              <a:off x="4645" y="2516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28" name="Line 12"/>
            <p:cNvSpPr>
              <a:spLocks noChangeShapeType="1"/>
            </p:cNvSpPr>
            <p:nvPr/>
          </p:nvSpPr>
          <p:spPr bwMode="auto">
            <a:xfrm>
              <a:off x="3482" y="2478"/>
              <a:ext cx="137" cy="1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29" name="Line 13"/>
            <p:cNvSpPr>
              <a:spLocks noChangeShapeType="1"/>
            </p:cNvSpPr>
            <p:nvPr/>
          </p:nvSpPr>
          <p:spPr bwMode="auto">
            <a:xfrm flipH="1">
              <a:off x="4033" y="2514"/>
              <a:ext cx="169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30" name="Line 14"/>
            <p:cNvSpPr>
              <a:spLocks noChangeShapeType="1"/>
            </p:cNvSpPr>
            <p:nvPr/>
          </p:nvSpPr>
          <p:spPr bwMode="auto">
            <a:xfrm>
              <a:off x="4157" y="3072"/>
              <a:ext cx="254" cy="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31" name="Line 15"/>
            <p:cNvSpPr>
              <a:spLocks noChangeShapeType="1"/>
            </p:cNvSpPr>
            <p:nvPr/>
          </p:nvSpPr>
          <p:spPr bwMode="auto">
            <a:xfrm>
              <a:off x="3825" y="3270"/>
              <a:ext cx="0" cy="2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32" name="Line 16"/>
            <p:cNvSpPr>
              <a:spLocks noChangeShapeType="1"/>
            </p:cNvSpPr>
            <p:nvPr/>
          </p:nvSpPr>
          <p:spPr bwMode="auto">
            <a:xfrm flipV="1">
              <a:off x="3257" y="3047"/>
              <a:ext cx="218" cy="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33" name="Oval 17"/>
            <p:cNvSpPr>
              <a:spLocks noChangeArrowheads="1"/>
            </p:cNvSpPr>
            <p:nvPr/>
          </p:nvSpPr>
          <p:spPr bwMode="auto">
            <a:xfrm>
              <a:off x="3748" y="2330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06575"/>
                      </a:gs>
                      <a:gs pos="100000">
                        <a:schemeClr val="folHlink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34" name="Oval 18"/>
            <p:cNvSpPr>
              <a:spLocks noChangeArrowheads="1"/>
            </p:cNvSpPr>
            <p:nvPr/>
          </p:nvSpPr>
          <p:spPr bwMode="auto">
            <a:xfrm>
              <a:off x="4222" y="2705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06575"/>
                      </a:gs>
                      <a:gs pos="100000">
                        <a:schemeClr val="folHlink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35" name="Oval 19"/>
            <p:cNvSpPr>
              <a:spLocks noChangeArrowheads="1"/>
            </p:cNvSpPr>
            <p:nvPr/>
          </p:nvSpPr>
          <p:spPr bwMode="auto">
            <a:xfrm>
              <a:off x="4030" y="3224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06575"/>
                      </a:gs>
                      <a:gs pos="100000">
                        <a:schemeClr val="folHlink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36" name="Oval 20"/>
            <p:cNvSpPr>
              <a:spLocks noChangeArrowheads="1"/>
            </p:cNvSpPr>
            <p:nvPr/>
          </p:nvSpPr>
          <p:spPr bwMode="auto">
            <a:xfrm>
              <a:off x="3433" y="3212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06575"/>
                      </a:gs>
                      <a:gs pos="100000">
                        <a:schemeClr val="folHlink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37" name="Oval 21"/>
            <p:cNvSpPr>
              <a:spLocks noChangeArrowheads="1"/>
            </p:cNvSpPr>
            <p:nvPr/>
          </p:nvSpPr>
          <p:spPr bwMode="auto">
            <a:xfrm>
              <a:off x="3241" y="2687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06575"/>
                      </a:gs>
                      <a:gs pos="100000">
                        <a:schemeClr val="folHlink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2738" name="Text Box 22"/>
            <p:cNvSpPr txBox="1">
              <a:spLocks noChangeArrowheads="1"/>
            </p:cNvSpPr>
            <p:nvPr/>
          </p:nvSpPr>
          <p:spPr bwMode="auto">
            <a:xfrm>
              <a:off x="3126" y="3561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Times New Roman" pitchFamily="18" charset="0"/>
                </a:rPr>
                <a:t>P</a:t>
              </a:r>
              <a:r>
                <a:rPr lang="en-US" altLang="zh-TW" sz="2000" b="1" baseline="-25000">
                  <a:latin typeface="Times New Roman" pitchFamily="18" charset="0"/>
                </a:rPr>
                <a:t>0</a:t>
              </a:r>
              <a:endParaRPr lang="en-US" altLang="zh-TW" sz="2000" b="1">
                <a:latin typeface="Times New Roman" pitchFamily="18" charset="0"/>
              </a:endParaRPr>
            </a:p>
          </p:txBody>
        </p:sp>
        <p:sp>
          <p:nvSpPr>
            <p:cNvPr id="72739" name="Text Box 23"/>
            <p:cNvSpPr txBox="1">
              <a:spLocks noChangeArrowheads="1"/>
            </p:cNvSpPr>
            <p:nvPr/>
          </p:nvSpPr>
          <p:spPr bwMode="auto">
            <a:xfrm>
              <a:off x="4322" y="3553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Times New Roman" pitchFamily="18" charset="0"/>
                </a:rPr>
                <a:t>P</a:t>
              </a:r>
              <a:r>
                <a:rPr lang="en-US" altLang="zh-TW" sz="2000" b="1" baseline="-25000">
                  <a:latin typeface="Times New Roman" pitchFamily="18" charset="0"/>
                </a:rPr>
                <a:t>1</a:t>
              </a:r>
              <a:endParaRPr lang="en-US" altLang="zh-TW" sz="2000" b="1">
                <a:latin typeface="Times New Roman" pitchFamily="18" charset="0"/>
              </a:endParaRPr>
            </a:p>
          </p:txBody>
        </p:sp>
        <p:sp>
          <p:nvSpPr>
            <p:cNvPr id="72740" name="Text Box 24"/>
            <p:cNvSpPr txBox="1">
              <a:spLocks noChangeArrowheads="1"/>
            </p:cNvSpPr>
            <p:nvPr/>
          </p:nvSpPr>
          <p:spPr bwMode="auto">
            <a:xfrm>
              <a:off x="4690" y="2537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Times New Roman" pitchFamily="18" charset="0"/>
                </a:rPr>
                <a:t>P</a:t>
              </a:r>
              <a:r>
                <a:rPr lang="en-US" altLang="zh-TW" sz="2000" b="1" baseline="-25000">
                  <a:latin typeface="Times New Roman" pitchFamily="18" charset="0"/>
                </a:rPr>
                <a:t>2</a:t>
              </a:r>
              <a:endParaRPr lang="en-US" altLang="zh-TW" sz="2000" b="1">
                <a:latin typeface="Times New Roman" pitchFamily="18" charset="0"/>
              </a:endParaRPr>
            </a:p>
          </p:txBody>
        </p:sp>
        <p:sp>
          <p:nvSpPr>
            <p:cNvPr id="72741" name="Text Box 25"/>
            <p:cNvSpPr txBox="1">
              <a:spLocks noChangeArrowheads="1"/>
            </p:cNvSpPr>
            <p:nvPr/>
          </p:nvSpPr>
          <p:spPr bwMode="auto">
            <a:xfrm>
              <a:off x="3738" y="1849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Times New Roman" pitchFamily="18" charset="0"/>
                </a:rPr>
                <a:t>P</a:t>
              </a:r>
              <a:r>
                <a:rPr lang="en-US" altLang="zh-TW" sz="2000" b="1" baseline="-25000">
                  <a:latin typeface="Times New Roman" pitchFamily="18" charset="0"/>
                </a:rPr>
                <a:t>3</a:t>
              </a:r>
              <a:endParaRPr lang="en-US" altLang="zh-TW" sz="2000" b="1">
                <a:latin typeface="Times New Roman" pitchFamily="18" charset="0"/>
              </a:endParaRPr>
            </a:p>
          </p:txBody>
        </p:sp>
        <p:sp>
          <p:nvSpPr>
            <p:cNvPr id="72742" name="Text Box 26"/>
            <p:cNvSpPr txBox="1">
              <a:spLocks noChangeArrowheads="1"/>
            </p:cNvSpPr>
            <p:nvPr/>
          </p:nvSpPr>
          <p:spPr bwMode="auto">
            <a:xfrm>
              <a:off x="2806" y="2561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Times New Roman" pitchFamily="18" charset="0"/>
                </a:rPr>
                <a:t>P</a:t>
              </a:r>
              <a:r>
                <a:rPr lang="en-US" altLang="zh-TW" sz="2000" b="1" baseline="-25000">
                  <a:latin typeface="Times New Roman" pitchFamily="18" charset="0"/>
                </a:rPr>
                <a:t>4</a:t>
              </a:r>
              <a:endParaRPr lang="en-US" altLang="zh-TW" sz="2000" b="1">
                <a:latin typeface="Times New Roman" pitchFamily="18" charset="0"/>
              </a:endParaRPr>
            </a:p>
          </p:txBody>
        </p:sp>
        <p:sp>
          <p:nvSpPr>
            <p:cNvPr id="72743" name="Text Box 27"/>
            <p:cNvSpPr txBox="1">
              <a:spLocks noChangeArrowheads="1"/>
            </p:cNvSpPr>
            <p:nvPr/>
          </p:nvSpPr>
          <p:spPr bwMode="auto">
            <a:xfrm>
              <a:off x="3486" y="2906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20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72744" name="Text Box 28"/>
            <p:cNvSpPr txBox="1">
              <a:spLocks noChangeArrowheads="1"/>
            </p:cNvSpPr>
            <p:nvPr/>
          </p:nvSpPr>
          <p:spPr bwMode="auto">
            <a:xfrm>
              <a:off x="3726" y="302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20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2745" name="Text Box 29"/>
            <p:cNvSpPr txBox="1">
              <a:spLocks noChangeArrowheads="1"/>
            </p:cNvSpPr>
            <p:nvPr/>
          </p:nvSpPr>
          <p:spPr bwMode="auto">
            <a:xfrm>
              <a:off x="3974" y="28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20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72746" name="Text Box 30"/>
            <p:cNvSpPr txBox="1">
              <a:spLocks noChangeArrowheads="1"/>
            </p:cNvSpPr>
            <p:nvPr/>
          </p:nvSpPr>
          <p:spPr bwMode="auto">
            <a:xfrm>
              <a:off x="3886" y="261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20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72747" name="Text Box 31"/>
            <p:cNvSpPr txBox="1">
              <a:spLocks noChangeArrowheads="1"/>
            </p:cNvSpPr>
            <p:nvPr/>
          </p:nvSpPr>
          <p:spPr bwMode="auto">
            <a:xfrm>
              <a:off x="3558" y="259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2000" b="1">
                  <a:latin typeface="Times New Roman" pitchFamily="18" charset="0"/>
                </a:rPr>
                <a:t>4</a:t>
              </a:r>
            </a:p>
          </p:txBody>
        </p:sp>
      </p:grpSp>
      <p:sp>
        <p:nvSpPr>
          <p:cNvPr id="159776" name="Text Box 32"/>
          <p:cNvSpPr txBox="1">
            <a:spLocks noChangeArrowheads="1"/>
          </p:cNvSpPr>
          <p:nvPr/>
        </p:nvSpPr>
        <p:spPr bwMode="auto">
          <a:xfrm>
            <a:off x="4651375" y="2133600"/>
            <a:ext cx="14573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hungry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self[2].wait;</a:t>
            </a:r>
          </a:p>
        </p:txBody>
      </p:sp>
      <p:grpSp>
        <p:nvGrpSpPr>
          <p:cNvPr id="159777" name="Group 33"/>
          <p:cNvGrpSpPr>
            <a:grpSpLocks/>
          </p:cNvGrpSpPr>
          <p:nvPr/>
        </p:nvGrpSpPr>
        <p:grpSpPr bwMode="auto">
          <a:xfrm>
            <a:off x="6083300" y="2662238"/>
            <a:ext cx="2333625" cy="3092450"/>
            <a:chOff x="4152" y="1068"/>
            <a:chExt cx="874" cy="2338"/>
          </a:xfrm>
        </p:grpSpPr>
        <p:sp>
          <p:nvSpPr>
            <p:cNvPr id="72720" name="Arc 34"/>
            <p:cNvSpPr>
              <a:spLocks/>
            </p:cNvSpPr>
            <p:nvPr/>
          </p:nvSpPr>
          <p:spPr bwMode="auto">
            <a:xfrm flipV="1">
              <a:off x="4152" y="2160"/>
              <a:ext cx="874" cy="1246"/>
            </a:xfrm>
            <a:custGeom>
              <a:avLst/>
              <a:gdLst>
                <a:gd name="T0" fmla="*/ 0 w 21565"/>
                <a:gd name="T1" fmla="*/ 0 h 21549"/>
                <a:gd name="T2" fmla="*/ 0 w 21565"/>
                <a:gd name="T3" fmla="*/ 0 h 21549"/>
                <a:gd name="T4" fmla="*/ 0 w 21565"/>
                <a:gd name="T5" fmla="*/ 0 h 215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65" h="21549" fill="none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</a:path>
                <a:path w="21565" h="21549" stroke="0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  <a:lnTo>
                    <a:pt x="0" y="21549"/>
                  </a:lnTo>
                  <a:lnTo>
                    <a:pt x="1483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21" name="Arc 35"/>
            <p:cNvSpPr>
              <a:spLocks/>
            </p:cNvSpPr>
            <p:nvPr/>
          </p:nvSpPr>
          <p:spPr bwMode="auto">
            <a:xfrm>
              <a:off x="4152" y="1068"/>
              <a:ext cx="874" cy="1246"/>
            </a:xfrm>
            <a:custGeom>
              <a:avLst/>
              <a:gdLst>
                <a:gd name="T0" fmla="*/ 0 w 21565"/>
                <a:gd name="T1" fmla="*/ 0 h 21549"/>
                <a:gd name="T2" fmla="*/ 0 w 21565"/>
                <a:gd name="T3" fmla="*/ 0 h 21549"/>
                <a:gd name="T4" fmla="*/ 0 w 21565"/>
                <a:gd name="T5" fmla="*/ 0 h 215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65" h="21549" fill="none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</a:path>
                <a:path w="21565" h="21549" stroke="0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  <a:lnTo>
                    <a:pt x="0" y="21549"/>
                  </a:lnTo>
                  <a:lnTo>
                    <a:pt x="1483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59780" name="Arc 36"/>
          <p:cNvSpPr>
            <a:spLocks/>
          </p:cNvSpPr>
          <p:nvPr/>
        </p:nvSpPr>
        <p:spPr bwMode="auto">
          <a:xfrm flipH="1" flipV="1">
            <a:off x="2238375" y="4464050"/>
            <a:ext cx="2471738" cy="968375"/>
          </a:xfrm>
          <a:custGeom>
            <a:avLst/>
            <a:gdLst>
              <a:gd name="T0" fmla="*/ 0 w 22703"/>
              <a:gd name="T1" fmla="*/ 2147483647 h 25123"/>
              <a:gd name="T2" fmla="*/ 2147483647 w 22703"/>
              <a:gd name="T3" fmla="*/ 2147483647 h 25123"/>
              <a:gd name="T4" fmla="*/ 2147483647 w 22703"/>
              <a:gd name="T5" fmla="*/ 2147483647 h 251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703" h="25123" fill="none" extrusionOk="0">
                <a:moveTo>
                  <a:pt x="0" y="28"/>
                </a:moveTo>
                <a:cubicBezTo>
                  <a:pt x="367" y="9"/>
                  <a:pt x="735" y="-1"/>
                  <a:pt x="1103" y="0"/>
                </a:cubicBezTo>
                <a:cubicBezTo>
                  <a:pt x="13032" y="0"/>
                  <a:pt x="22703" y="9670"/>
                  <a:pt x="22703" y="21600"/>
                </a:cubicBezTo>
                <a:cubicBezTo>
                  <a:pt x="22703" y="22780"/>
                  <a:pt x="22606" y="23958"/>
                  <a:pt x="22413" y="25122"/>
                </a:cubicBezTo>
              </a:path>
              <a:path w="22703" h="25123" stroke="0" extrusionOk="0">
                <a:moveTo>
                  <a:pt x="0" y="28"/>
                </a:moveTo>
                <a:cubicBezTo>
                  <a:pt x="367" y="9"/>
                  <a:pt x="735" y="-1"/>
                  <a:pt x="1103" y="0"/>
                </a:cubicBezTo>
                <a:cubicBezTo>
                  <a:pt x="13032" y="0"/>
                  <a:pt x="22703" y="9670"/>
                  <a:pt x="22703" y="21600"/>
                </a:cubicBezTo>
                <a:cubicBezTo>
                  <a:pt x="22703" y="22780"/>
                  <a:pt x="22606" y="23958"/>
                  <a:pt x="22413" y="25122"/>
                </a:cubicBezTo>
                <a:lnTo>
                  <a:pt x="1103" y="21600"/>
                </a:lnTo>
                <a:lnTo>
                  <a:pt x="0" y="2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15" name="Text Box 38"/>
          <p:cNvSpPr txBox="1">
            <a:spLocks noChangeArrowheads="1"/>
          </p:cNvSpPr>
          <p:nvPr/>
        </p:nvSpPr>
        <p:spPr bwMode="auto">
          <a:xfrm>
            <a:off x="619125" y="258763"/>
            <a:ext cx="325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4000"/>
              <a:t>An illustration</a:t>
            </a:r>
          </a:p>
        </p:txBody>
      </p:sp>
      <p:sp>
        <p:nvSpPr>
          <p:cNvPr id="72716" name="Text Box 39"/>
          <p:cNvSpPr txBox="1">
            <a:spLocks noChangeArrowheads="1"/>
          </p:cNvSpPr>
          <p:nvPr/>
        </p:nvSpPr>
        <p:spPr bwMode="auto">
          <a:xfrm>
            <a:off x="3921125" y="3384550"/>
            <a:ext cx="4111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</a:t>
            </a:r>
            <a:endParaRPr lang="en-US" altLang="zh-TW" sz="20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2717" name="Text Box 41"/>
          <p:cNvSpPr txBox="1">
            <a:spLocks noChangeArrowheads="1"/>
          </p:cNvSpPr>
          <p:nvPr/>
        </p:nvSpPr>
        <p:spPr bwMode="auto">
          <a:xfrm>
            <a:off x="1984375" y="3959225"/>
            <a:ext cx="4111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sym typeface="Wingdings" pitchFamily="2" charset="2"/>
              </a:rPr>
              <a:t></a:t>
            </a:r>
            <a:endParaRPr lang="en-US" altLang="zh-TW" sz="2000" b="1">
              <a:solidFill>
                <a:srgbClr val="000000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159786" name="Text Box 42"/>
          <p:cNvSpPr txBox="1">
            <a:spLocks noChangeArrowheads="1"/>
          </p:cNvSpPr>
          <p:nvPr/>
        </p:nvSpPr>
        <p:spPr bwMode="auto">
          <a:xfrm>
            <a:off x="3028950" y="828675"/>
            <a:ext cx="1111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thinking</a:t>
            </a:r>
          </a:p>
        </p:txBody>
      </p:sp>
      <p:sp>
        <p:nvSpPr>
          <p:cNvPr id="72719" name="Text Box 45"/>
          <p:cNvSpPr txBox="1">
            <a:spLocks noChangeArrowheads="1"/>
          </p:cNvSpPr>
          <p:nvPr/>
        </p:nvSpPr>
        <p:spPr bwMode="auto">
          <a:xfrm>
            <a:off x="4679950" y="1792288"/>
            <a:ext cx="4111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</a:t>
            </a:r>
            <a:endParaRPr lang="en-US" altLang="zh-TW" sz="2000" b="1">
              <a:solidFill>
                <a:srgbClr val="000000"/>
              </a:solidFill>
              <a:latin typeface="Times New Roman" pitchFamily="18" charset="0"/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/>
      <p:bldP spid="159748" grpId="0"/>
      <p:bldP spid="159776" grpId="0"/>
      <p:bldP spid="159780" grpId="0" animBg="1"/>
      <p:bldP spid="15978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E06900-EEF4-4F4B-AA3D-C728BE222BE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37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37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B4905E-52CE-4D70-87D0-C58A81A352D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TW" sz="1400" smtClean="0"/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0"/>
            <a:ext cx="8007350" cy="993775"/>
          </a:xfrm>
        </p:spPr>
        <p:txBody>
          <a:bodyPr/>
          <a:lstStyle/>
          <a:p>
            <a:pPr algn="ctr" eaLnBrk="1" hangingPunct="1"/>
            <a:r>
              <a:rPr lang="en-US" altLang="zh-TW" sz="3100" smtClean="0">
                <a:solidFill>
                  <a:srgbClr val="0000FF"/>
                </a:solidFill>
              </a:rPr>
              <a:t>Monitor Implementation </a:t>
            </a:r>
            <a:br>
              <a:rPr lang="en-US" altLang="zh-TW" sz="3100" smtClean="0">
                <a:solidFill>
                  <a:srgbClr val="0000FF"/>
                </a:solidFill>
              </a:rPr>
            </a:br>
            <a:r>
              <a:rPr lang="en-US" altLang="zh-TW" sz="3100" smtClean="0">
                <a:solidFill>
                  <a:srgbClr val="0000FF"/>
                </a:solidFill>
              </a:rPr>
              <a:t>Using Semaphores (1)</a:t>
            </a:r>
          </a:p>
        </p:txBody>
      </p:sp>
      <p:sp>
        <p:nvSpPr>
          <p:cNvPr id="993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0988" y="982663"/>
            <a:ext cx="8374062" cy="5626100"/>
          </a:xfrm>
        </p:spPr>
        <p:txBody>
          <a:bodyPr/>
          <a:lstStyle/>
          <a:p>
            <a:pPr eaLnBrk="1" hangingPunct="1"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sz="2800" dirty="0" smtClean="0"/>
              <a:t>Variables 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sz="2800" dirty="0" smtClean="0"/>
              <a:t>	</a:t>
            </a:r>
            <a:r>
              <a:rPr lang="en-US" altLang="zh-TW" sz="2800" b="1" dirty="0" smtClean="0"/>
              <a:t>semaphore mutex;  // (initially  = 1)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sz="2800" b="1" dirty="0" smtClean="0"/>
              <a:t>	semaphore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next</a:t>
            </a:r>
            <a:r>
              <a:rPr lang="en-US" altLang="zh-TW" sz="2800" b="1" dirty="0" smtClean="0"/>
              <a:t>;     // (initially  = 0)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sz="2800" b="1" dirty="0" smtClean="0"/>
              <a:t>	</a:t>
            </a:r>
            <a:r>
              <a:rPr lang="en-US" altLang="zh-TW" sz="2800" b="1" dirty="0" err="1" smtClean="0"/>
              <a:t>int</a:t>
            </a:r>
            <a:r>
              <a:rPr lang="en-US" altLang="zh-TW" sz="2800" b="1" dirty="0" smtClean="0"/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next-count</a:t>
            </a:r>
            <a:r>
              <a:rPr lang="en-US" altLang="zh-TW" sz="2800" b="1" dirty="0" smtClean="0"/>
              <a:t> = 0;</a:t>
            </a:r>
          </a:p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sz="2800" dirty="0" smtClean="0"/>
              <a:t>Each external procedure </a:t>
            </a:r>
            <a:r>
              <a:rPr lang="en-US" altLang="zh-TW" sz="2800" b="1" i="1" dirty="0" smtClean="0"/>
              <a:t>F</a:t>
            </a:r>
            <a:r>
              <a:rPr lang="en-US" altLang="zh-TW" sz="2800" dirty="0" smtClean="0"/>
              <a:t> will be replaced by</a:t>
            </a:r>
          </a:p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  <a:defRPr/>
            </a:pPr>
            <a:endParaRPr lang="en-US" altLang="zh-TW" sz="2800" dirty="0" smtClean="0"/>
          </a:p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  <a:defRPr/>
            </a:pPr>
            <a:endParaRPr lang="en-US" altLang="zh-TW" dirty="0" smtClean="0"/>
          </a:p>
          <a:p>
            <a:pPr eaLnBrk="1" hangingPunct="1">
              <a:spcBef>
                <a:spcPct val="15000"/>
              </a:spcBef>
              <a:buFont typeface="Wingdings" pitchFamily="2" charset="2"/>
              <a:buNone/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dirty="0" smtClean="0"/>
              <a:t>		</a:t>
            </a:r>
            <a:r>
              <a:rPr lang="en-US" altLang="zh-TW" sz="2800" dirty="0" smtClean="0"/>
              <a:t>	</a:t>
            </a:r>
            <a:endParaRPr lang="en-US" altLang="zh-TW" sz="2400" b="1" dirty="0" smtClean="0"/>
          </a:p>
          <a:p>
            <a:pPr eaLnBrk="1" hangingPunct="1">
              <a:spcBef>
                <a:spcPct val="15000"/>
              </a:spcBef>
              <a:tabLst>
                <a:tab pos="1890713" algn="l"/>
                <a:tab pos="2338388" algn="l"/>
                <a:tab pos="2511425" algn="l"/>
              </a:tabLst>
              <a:defRPr/>
            </a:pPr>
            <a:endParaRPr lang="en-US" altLang="zh-TW" sz="2800" dirty="0" smtClean="0"/>
          </a:p>
          <a:p>
            <a:pPr eaLnBrk="1" hangingPunct="1">
              <a:spcBef>
                <a:spcPct val="15000"/>
              </a:spcBef>
              <a:buFont typeface="Arial" pitchFamily="34" charset="0"/>
              <a:buChar char="•"/>
              <a:tabLst>
                <a:tab pos="1890713" algn="l"/>
                <a:tab pos="2338388" algn="l"/>
                <a:tab pos="2511425" algn="l"/>
              </a:tabLst>
              <a:defRPr/>
            </a:pP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Mutual exclusion within a monitor is ensured.</a:t>
            </a:r>
            <a:endParaRPr lang="en-US" altLang="zh-TW" sz="280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3222625" y="3843338"/>
            <a:ext cx="4183063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wait(mutex);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Book Antiqua" pitchFamily="18" charset="0"/>
              </a:rPr>
              <a:t>	body of </a:t>
            </a:r>
            <a:r>
              <a:rPr lang="en-US" altLang="zh-TW" sz="2000" b="1" i="1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en-US" altLang="zh-TW" sz="2000" b="1">
                <a:solidFill>
                  <a:schemeClr val="tx2"/>
                </a:solidFill>
                <a:latin typeface="Book Antiqua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itchFamily="18" charset="0"/>
              </a:rPr>
              <a:t>if next-count&gt;0 	then signal(next)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itchFamily="18" charset="0"/>
              </a:rPr>
              <a:t>		else signal(mutex);</a:t>
            </a:r>
          </a:p>
        </p:txBody>
      </p:sp>
      <p:sp>
        <p:nvSpPr>
          <p:cNvPr id="99343" name="Rectangle 15"/>
          <p:cNvSpPr>
            <a:spLocks noChangeArrowheads="1"/>
          </p:cNvSpPr>
          <p:nvPr/>
        </p:nvSpPr>
        <p:spPr bwMode="auto">
          <a:xfrm>
            <a:off x="3046413" y="3821113"/>
            <a:ext cx="4381500" cy="1790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CECE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9344" name="Text Box 16"/>
          <p:cNvSpPr txBox="1">
            <a:spLocks noChangeArrowheads="1"/>
          </p:cNvSpPr>
          <p:nvPr/>
        </p:nvSpPr>
        <p:spPr bwMode="auto">
          <a:xfrm>
            <a:off x="268288" y="4392613"/>
            <a:ext cx="1228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Times New Roman" pitchFamily="18" charset="0"/>
              </a:rPr>
              <a:t>body of </a:t>
            </a:r>
            <a:r>
              <a:rPr lang="en-US" altLang="zh-TW" sz="2000" b="1" i="1">
                <a:solidFill>
                  <a:schemeClr val="tx2"/>
                </a:solidFill>
                <a:latin typeface="Times New Roman" pitchFamily="18" charset="0"/>
              </a:rPr>
              <a:t>F</a:t>
            </a:r>
            <a:endParaRPr lang="en-US" altLang="zh-TW" sz="2000" b="1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99345" name="AutoShape 17"/>
          <p:cNvSpPr>
            <a:spLocks noChangeArrowheads="1"/>
          </p:cNvSpPr>
          <p:nvPr/>
        </p:nvSpPr>
        <p:spPr bwMode="auto">
          <a:xfrm>
            <a:off x="1865313" y="4506913"/>
            <a:ext cx="1047750" cy="171450"/>
          </a:xfrm>
          <a:prstGeom prst="rightArrow">
            <a:avLst>
              <a:gd name="adj1" fmla="val 50000"/>
              <a:gd name="adj2" fmla="val 152778"/>
            </a:avLst>
          </a:prstGeom>
          <a:solidFill>
            <a:srgbClr val="ECECE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9346" name="Text Box 18"/>
          <p:cNvSpPr txBox="1">
            <a:spLocks noChangeArrowheads="1"/>
          </p:cNvSpPr>
          <p:nvPr/>
        </p:nvSpPr>
        <p:spPr bwMode="auto">
          <a:xfrm>
            <a:off x="1811338" y="3954463"/>
            <a:ext cx="11414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compiler</a:t>
            </a:r>
          </a:p>
        </p:txBody>
      </p:sp>
      <p:sp>
        <p:nvSpPr>
          <p:cNvPr id="99347" name="Line 19"/>
          <p:cNvSpPr>
            <a:spLocks noChangeShapeType="1"/>
          </p:cNvSpPr>
          <p:nvPr/>
        </p:nvSpPr>
        <p:spPr bwMode="auto">
          <a:xfrm flipH="1">
            <a:off x="6724650" y="3843338"/>
            <a:ext cx="912813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48" name="Line 20"/>
          <p:cNvSpPr>
            <a:spLocks noChangeShapeType="1"/>
          </p:cNvSpPr>
          <p:nvPr/>
        </p:nvSpPr>
        <p:spPr bwMode="auto">
          <a:xfrm flipH="1" flipV="1">
            <a:off x="7104063" y="5345113"/>
            <a:ext cx="454025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49" name="Rectangle 21"/>
          <p:cNvSpPr>
            <a:spLocks noChangeArrowheads="1"/>
          </p:cNvSpPr>
          <p:nvPr/>
        </p:nvSpPr>
        <p:spPr bwMode="auto">
          <a:xfrm>
            <a:off x="3916363" y="4184650"/>
            <a:ext cx="1943100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7558088" y="3303588"/>
            <a:ext cx="13620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1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wakeup a 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suspended process</a:t>
            </a:r>
            <a:endParaRPr lang="zh-TW" altLang="en-US" sz="20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99351" name="Text Box 23"/>
          <p:cNvSpPr txBox="1">
            <a:spLocks noChangeArrowheads="1"/>
          </p:cNvSpPr>
          <p:nvPr/>
        </p:nvSpPr>
        <p:spPr bwMode="auto">
          <a:xfrm>
            <a:off x="7445375" y="5207000"/>
            <a:ext cx="169862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allow others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to enter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the monitor</a:t>
            </a:r>
            <a:endParaRPr lang="zh-TW" altLang="en-US" sz="20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73745" name="向右箭號 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5346700" y="3462338"/>
            <a:ext cx="315913" cy="230187"/>
          </a:xfrm>
          <a:prstGeom prst="rightArrow">
            <a:avLst>
              <a:gd name="adj1" fmla="val 50000"/>
              <a:gd name="adj2" fmla="val 4985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42" grpId="0"/>
      <p:bldP spid="99343" grpId="0" animBg="1"/>
      <p:bldP spid="99344" grpId="0"/>
      <p:bldP spid="99345" grpId="0" animBg="1"/>
      <p:bldP spid="99346" grpId="0"/>
      <p:bldP spid="99347" grpId="0" animBg="1"/>
      <p:bldP spid="99348" grpId="0" animBg="1"/>
      <p:bldP spid="99349" grpId="0" animBg="1"/>
      <p:bldP spid="99350" grpId="0"/>
      <p:bldP spid="9935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6571D0-B069-4152-B968-A54BBD5BACBE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47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47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47482F-11AF-45B0-A581-779A108FEA7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kumimoji="0" lang="en-US" altLang="zh-TW" sz="1400" smtClean="0"/>
          </a:p>
        </p:txBody>
      </p:sp>
      <p:sp>
        <p:nvSpPr>
          <p:cNvPr id="100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8625" y="1085850"/>
            <a:ext cx="8443913" cy="54562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5000"/>
              </a:spcBef>
              <a:tabLst>
                <a:tab pos="1833563" algn="l"/>
                <a:tab pos="2222500" algn="l"/>
              </a:tabLst>
            </a:pPr>
            <a:r>
              <a:rPr lang="en-US" altLang="zh-TW" sz="2800" smtClean="0"/>
              <a:t>For each condition variable </a:t>
            </a:r>
            <a:r>
              <a:rPr lang="en-US" altLang="zh-TW" sz="2800" b="1" i="1" smtClean="0"/>
              <a:t>x</a:t>
            </a:r>
            <a:r>
              <a:rPr lang="en-US" altLang="zh-TW" sz="2800" smtClean="0"/>
              <a:t>, we  have: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800" smtClean="0"/>
              <a:t>	</a:t>
            </a:r>
            <a:r>
              <a:rPr lang="en-US" altLang="zh-TW" sz="2800" b="1" smtClean="0"/>
              <a:t>semaphore x-sem; // (initially  = 0)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800" b="1" smtClean="0"/>
              <a:t>	int x-count = 0;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tabLst>
                <a:tab pos="1833563" algn="l"/>
                <a:tab pos="2222500" algn="l"/>
              </a:tabLst>
            </a:pPr>
            <a:r>
              <a:rPr lang="en-US" altLang="zh-TW" sz="2800" smtClean="0"/>
              <a:t>The operation </a:t>
            </a:r>
            <a:r>
              <a:rPr lang="en-US" altLang="zh-TW" sz="2800" b="1" smtClean="0">
                <a:solidFill>
                  <a:srgbClr val="FF0000"/>
                </a:solidFill>
              </a:rPr>
              <a:t>x.wait</a:t>
            </a:r>
            <a:r>
              <a:rPr lang="en-US" altLang="zh-TW" sz="2800" b="1" smtClean="0"/>
              <a:t> </a:t>
            </a:r>
            <a:r>
              <a:rPr lang="en-US" altLang="zh-TW" sz="2800" smtClean="0"/>
              <a:t>can be implemented as: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800" smtClean="0"/>
              <a:t>	</a:t>
            </a:r>
            <a:r>
              <a:rPr lang="en-US" altLang="zh-TW" sz="2800" smtClean="0">
                <a:solidFill>
                  <a:srgbClr val="FF0000"/>
                </a:solidFill>
              </a:rPr>
              <a:t>	</a:t>
            </a:r>
            <a:r>
              <a:rPr lang="en-US" altLang="zh-TW" sz="2400" b="1" smtClean="0">
                <a:solidFill>
                  <a:srgbClr val="0000FF"/>
                </a:solidFill>
              </a:rPr>
              <a:t>x-count++;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400" b="1" smtClean="0">
                <a:solidFill>
                  <a:srgbClr val="0000FF"/>
                </a:solidFill>
              </a:rPr>
              <a:t>		if (next-count &gt; 0)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400" b="1" smtClean="0">
                <a:solidFill>
                  <a:srgbClr val="0000FF"/>
                </a:solidFill>
              </a:rPr>
              <a:t>			signal(next);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400" b="1" smtClean="0">
                <a:solidFill>
                  <a:srgbClr val="0000FF"/>
                </a:solidFill>
              </a:rPr>
              <a:t>		else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400" b="1" smtClean="0">
                <a:solidFill>
                  <a:srgbClr val="0000FF"/>
                </a:solidFill>
              </a:rPr>
              <a:t>			signal(mutex);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400" b="1" smtClean="0">
                <a:solidFill>
                  <a:srgbClr val="0000FF"/>
                </a:solidFill>
              </a:rPr>
              <a:t>		wait(x-sem);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833563" algn="l"/>
                <a:tab pos="2222500" algn="l"/>
              </a:tabLst>
            </a:pPr>
            <a:r>
              <a:rPr lang="en-US" altLang="zh-TW" sz="2400" b="1" smtClean="0">
                <a:solidFill>
                  <a:srgbClr val="0000FF"/>
                </a:solidFill>
              </a:rPr>
              <a:t>		x-count--;</a:t>
            </a:r>
            <a:endParaRPr lang="en-US" altLang="zh-TW" sz="1800" b="1" smtClean="0">
              <a:solidFill>
                <a:srgbClr val="0000FF"/>
              </a:solidFill>
            </a:endParaRP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title"/>
          </p:nvPr>
        </p:nvSpPr>
        <p:spPr>
          <a:xfrm>
            <a:off x="609600" y="188913"/>
            <a:ext cx="7772400" cy="963612"/>
          </a:xfrm>
          <a:noFill/>
        </p:spPr>
        <p:txBody>
          <a:bodyPr/>
          <a:lstStyle/>
          <a:p>
            <a:pPr algn="ctr" eaLnBrk="1" hangingPunct="1"/>
            <a:r>
              <a:rPr lang="en-US" altLang="zh-TW" sz="3200" smtClean="0">
                <a:solidFill>
                  <a:srgbClr val="0000FF"/>
                </a:solidFill>
              </a:rPr>
              <a:t>Monitor Implementation </a:t>
            </a:r>
            <a:br>
              <a:rPr lang="en-US" altLang="zh-TW" sz="3200" smtClean="0">
                <a:solidFill>
                  <a:srgbClr val="0000FF"/>
                </a:solidFill>
              </a:rPr>
            </a:br>
            <a:r>
              <a:rPr lang="en-US" altLang="zh-TW" sz="3200" smtClean="0">
                <a:solidFill>
                  <a:srgbClr val="0000FF"/>
                </a:solidFill>
              </a:rPr>
              <a:t>Using Semaphores 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E6E704-4651-44AA-B98F-ED07721FE1F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57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57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6C3263B-F081-4D02-9E4D-C259B301B64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kumimoji="0" lang="en-US" altLang="zh-TW" sz="1400" smtClean="0"/>
          </a:p>
        </p:txBody>
      </p:sp>
      <p:sp>
        <p:nvSpPr>
          <p:cNvPr id="7578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100013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z="3200" smtClean="0">
                <a:solidFill>
                  <a:srgbClr val="0000FF"/>
                </a:solidFill>
              </a:rPr>
              <a:t>Monitor Implementation </a:t>
            </a:r>
            <a:br>
              <a:rPr lang="en-US" altLang="zh-TW" sz="3200" smtClean="0">
                <a:solidFill>
                  <a:srgbClr val="0000FF"/>
                </a:solidFill>
              </a:rPr>
            </a:br>
            <a:r>
              <a:rPr lang="en-US" altLang="zh-TW" sz="3200" smtClean="0">
                <a:solidFill>
                  <a:srgbClr val="0000FF"/>
                </a:solidFill>
              </a:rPr>
              <a:t>Using Semaphores (3)</a:t>
            </a:r>
          </a:p>
        </p:txBody>
      </p:sp>
      <p:sp>
        <p:nvSpPr>
          <p:cNvPr id="10137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249363"/>
            <a:ext cx="8242300" cy="48815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dirty="0" smtClean="0"/>
              <a:t>The operation </a:t>
            </a:r>
            <a:r>
              <a:rPr lang="en-US" altLang="zh-TW" sz="2800" b="1" dirty="0" err="1" smtClean="0"/>
              <a:t>x.signal</a:t>
            </a:r>
            <a:r>
              <a:rPr lang="en-US" altLang="zh-TW" sz="2800" dirty="0" smtClean="0"/>
              <a:t> can be implemented as:</a:t>
            </a:r>
            <a:br>
              <a:rPr lang="en-US" altLang="zh-TW" sz="2800" dirty="0" smtClean="0"/>
            </a:br>
            <a:endParaRPr lang="en-US" altLang="zh-TW" sz="2800" dirty="0" smtClean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dirty="0" smtClean="0"/>
              <a:t>	</a:t>
            </a:r>
            <a:r>
              <a:rPr lang="en-US" altLang="zh-TW" sz="2800" dirty="0" smtClean="0">
                <a:solidFill>
                  <a:srgbClr val="FF0000"/>
                </a:solidFill>
              </a:rPr>
              <a:t>	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if (x-count &gt; 0) {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			next-count++;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			signal(x-</a:t>
            </a:r>
            <a:r>
              <a:rPr lang="en-US" altLang="zh-TW" sz="2800" b="1" dirty="0" err="1" smtClean="0">
                <a:solidFill>
                  <a:srgbClr val="FF0000"/>
                </a:solidFill>
              </a:rPr>
              <a:t>sem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			wait(next);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			next-count--;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		}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tabLst>
                <a:tab pos="1371600" algn="l"/>
                <a:tab pos="1717675" algn="l"/>
                <a:tab pos="2338388" algn="l"/>
              </a:tabLst>
              <a:defRPr/>
            </a:pPr>
            <a:endParaRPr lang="en-US" altLang="zh-TW" sz="2400" b="1" dirty="0" smtClean="0">
              <a:solidFill>
                <a:srgbClr val="9933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000" b="1" dirty="0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 signaling process must WAIT until the resumed process either leaves or waits.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tabLst>
                <a:tab pos="1371600" algn="l"/>
                <a:tab pos="1717675" algn="l"/>
                <a:tab pos="2338388" algn="l"/>
              </a:tabLst>
              <a:defRPr/>
            </a:pPr>
            <a:r>
              <a:rPr lang="en-US" altLang="zh-TW" sz="2000" b="1" dirty="0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NEXT: the signaling processes may suspend themselves.</a:t>
            </a:r>
            <a:endParaRPr lang="en-US" altLang="zh-TW" sz="2400" dirty="0" smtClean="0"/>
          </a:p>
        </p:txBody>
      </p:sp>
      <p:sp>
        <p:nvSpPr>
          <p:cNvPr id="101381" name="Text Box 1029"/>
          <p:cNvSpPr txBox="1">
            <a:spLocks noChangeArrowheads="1"/>
          </p:cNvSpPr>
          <p:nvPr/>
        </p:nvSpPr>
        <p:spPr bwMode="auto">
          <a:xfrm>
            <a:off x="5070475" y="3108325"/>
            <a:ext cx="3787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no effect, if no process is waiting</a:t>
            </a:r>
            <a:endParaRPr lang="zh-TW" altLang="en-US" sz="20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01382" name="Text Box 1030"/>
          <p:cNvSpPr txBox="1">
            <a:spLocks noChangeArrowheads="1"/>
          </p:cNvSpPr>
          <p:nvPr/>
        </p:nvSpPr>
        <p:spPr bwMode="auto">
          <a:xfrm>
            <a:off x="4975225" y="3506788"/>
            <a:ext cx="3132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Times New Roman" pitchFamily="18" charset="0"/>
              </a:rPr>
              <a:t>wakeup a waiting process</a:t>
            </a:r>
            <a:endParaRPr lang="zh-TW" altLang="en-US" sz="2000" b="1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75785" name="動作按鈕: 終點 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140575" y="2036763"/>
            <a:ext cx="441325" cy="407987"/>
          </a:xfrm>
          <a:prstGeom prst="actionButtonEnd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436CCC-9459-4F21-93EE-EFA1CE5F122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68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68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BD53569-0149-4684-A4B9-5ADC2259574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kumimoji="0" lang="en-US" altLang="zh-TW" sz="1400" smtClean="0"/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>
          <a:xfrm>
            <a:off x="388938" y="204788"/>
            <a:ext cx="8388350" cy="617537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Resuming Processes within a Monitor (1)</a:t>
            </a:r>
          </a:p>
        </p:txBody>
      </p:sp>
      <p:sp>
        <p:nvSpPr>
          <p:cNvPr id="1024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3200" y="852488"/>
            <a:ext cx="8689975" cy="58245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b="1" dirty="0" smtClean="0">
                <a:solidFill>
                  <a:srgbClr val="0000FF"/>
                </a:solidFill>
              </a:rPr>
              <a:t>Process-resumption order: </a:t>
            </a:r>
            <a:r>
              <a:rPr lang="en-US" altLang="zh-TW" sz="2800" dirty="0" smtClean="0">
                <a:solidFill>
                  <a:srgbClr val="000000"/>
                </a:solidFill>
              </a:rPr>
              <a:t>Which of the suspended processes should be resumed next?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altLang="zh-TW" dirty="0" smtClean="0"/>
              <a:t>FIFO</a:t>
            </a:r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altLang="zh-TW" dirty="0"/>
              <a:t>C</a:t>
            </a:r>
            <a:r>
              <a:rPr lang="en-US" altLang="zh-TW" dirty="0" smtClean="0"/>
              <a:t>onditional-wait construct: </a:t>
            </a:r>
            <a:r>
              <a:rPr lang="en-US" altLang="zh-TW" b="1" dirty="0" err="1" smtClean="0"/>
              <a:t>x.wait</a:t>
            </a:r>
            <a:r>
              <a:rPr lang="en-US" altLang="zh-TW" b="1" dirty="0" smtClean="0"/>
              <a:t>(</a:t>
            </a:r>
            <a:r>
              <a:rPr lang="en-US" altLang="zh-TW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 when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x.signal</a:t>
            </a:r>
            <a:r>
              <a:rPr lang="en-US" altLang="zh-TW" b="1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is executed, process with smallest associated priority number is resumed next.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lang="en-US" altLang="zh-TW" b="1" dirty="0"/>
              <a:t>c</a:t>
            </a:r>
            <a:r>
              <a:rPr lang="en-US" altLang="zh-TW" dirty="0"/>
              <a:t> </a:t>
            </a:r>
            <a:r>
              <a:rPr lang="en-US" altLang="zh-TW" dirty="0">
                <a:latin typeface="Helvetica"/>
              </a:rPr>
              <a:t>–</a:t>
            </a:r>
            <a:r>
              <a:rPr lang="en-US" altLang="zh-TW" dirty="0"/>
              <a:t> integer expression evaluated when the </a:t>
            </a:r>
            <a:r>
              <a:rPr lang="en-US" altLang="zh-TW" b="1" dirty="0"/>
              <a:t>wait</a:t>
            </a:r>
            <a:r>
              <a:rPr lang="en-US" altLang="zh-TW" dirty="0"/>
              <a:t> operation is executed.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lang="en-US" altLang="zh-TW" dirty="0"/>
              <a:t>value of </a:t>
            </a:r>
            <a:r>
              <a:rPr lang="en-US" altLang="zh-TW" b="1" dirty="0"/>
              <a:t>c</a:t>
            </a:r>
            <a:r>
              <a:rPr lang="en-US" altLang="zh-TW" dirty="0"/>
              <a:t> (a </a:t>
            </a:r>
            <a:r>
              <a:rPr lang="en-US" altLang="zh-TW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priority number</a:t>
            </a:r>
            <a:r>
              <a:rPr lang="en-US" altLang="zh-TW" dirty="0"/>
              <a:t>) stored with the name of the process that is suspended.</a:t>
            </a:r>
            <a:endParaRPr lang="en-US" altLang="zh-TW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endParaRPr lang="en-US" altLang="zh-TW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C7D112-F299-4C19-88AF-BD0CFF2E612E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78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78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314127-6888-46B4-8A16-FB108EA3AC7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kumimoji="0" lang="en-US" altLang="zh-TW" sz="1400" smtClean="0"/>
          </a:p>
        </p:txBody>
      </p:sp>
      <p:sp>
        <p:nvSpPr>
          <p:cNvPr id="1024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3200" y="852488"/>
            <a:ext cx="8689975" cy="5824537"/>
          </a:xfrm>
        </p:spPr>
        <p:txBody>
          <a:bodyPr/>
          <a:lstStyle/>
          <a:p>
            <a:pPr eaLnBrk="1" hangingPunct="1"/>
            <a:r>
              <a:rPr lang="en-US" altLang="zh-TW" b="1" dirty="0" smtClean="0"/>
              <a:t>Example</a:t>
            </a:r>
            <a:r>
              <a:rPr lang="en-US" altLang="zh-TW" dirty="0" smtClean="0"/>
              <a:t>: </a:t>
            </a:r>
            <a:r>
              <a:rPr lang="en-US" altLang="zh-TW" dirty="0" err="1" smtClean="0">
                <a:solidFill>
                  <a:srgbClr val="00B050"/>
                </a:solidFill>
              </a:rPr>
              <a:t>ResourceAllocator</a:t>
            </a:r>
            <a:r>
              <a:rPr lang="en-US" altLang="zh-TW" dirty="0" smtClean="0"/>
              <a:t> Monitor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</a:rPr>
              <a:t>monitor Resource Allocator</a:t>
            </a:r>
            <a:r>
              <a:rPr lang="en-US" altLang="zh-TW" sz="1600" dirty="0" smtClean="0">
                <a:solidFill>
                  <a:srgbClr val="0000FF"/>
                </a:solidFill>
              </a:rPr>
              <a:t> 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{	</a:t>
            </a:r>
            <a:r>
              <a:rPr lang="en-US" altLang="zh-TW" sz="1600" dirty="0" err="1" smtClean="0">
                <a:solidFill>
                  <a:srgbClr val="0000FF"/>
                </a:solidFill>
              </a:rPr>
              <a:t>boolean</a:t>
            </a:r>
            <a:r>
              <a:rPr lang="en-US" altLang="zh-TW" sz="1600" dirty="0" smtClean="0">
                <a:solidFill>
                  <a:srgbClr val="0000FF"/>
                </a:solidFill>
              </a:rPr>
              <a:t> busy;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condition x;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void </a:t>
            </a:r>
            <a:r>
              <a:rPr lang="en-US" altLang="zh-TW" sz="1600" dirty="0" smtClean="0">
                <a:solidFill>
                  <a:srgbClr val="FF0000"/>
                </a:solidFill>
              </a:rPr>
              <a:t>acquire</a:t>
            </a:r>
            <a:r>
              <a:rPr lang="en-US" altLang="zh-TW" sz="1600" dirty="0" smtClean="0">
                <a:solidFill>
                  <a:srgbClr val="0000FF"/>
                </a:solidFill>
              </a:rPr>
              <a:t> (</a:t>
            </a:r>
            <a:r>
              <a:rPr lang="en-US" altLang="zh-TW" sz="1600" dirty="0" err="1" smtClean="0">
                <a:solidFill>
                  <a:srgbClr val="0000FF"/>
                </a:solidFill>
              </a:rPr>
              <a:t>int</a:t>
            </a:r>
            <a:r>
              <a:rPr lang="en-US" altLang="zh-TW" sz="1600" dirty="0" smtClean="0">
                <a:solidFill>
                  <a:srgbClr val="0000FF"/>
                </a:solidFill>
              </a:rPr>
              <a:t> </a:t>
            </a:r>
            <a:r>
              <a:rPr lang="en-US" altLang="zh-TW" sz="1600" i="1" dirty="0" smtClean="0">
                <a:solidFill>
                  <a:srgbClr val="0000FF"/>
                </a:solidFill>
                <a:latin typeface="Times New Roman" pitchFamily="18" charset="0"/>
              </a:rPr>
              <a:t>time</a:t>
            </a:r>
            <a:r>
              <a:rPr lang="en-US" altLang="zh-TW" sz="1600" dirty="0" smtClean="0">
                <a:solidFill>
                  <a:srgbClr val="0000FF"/>
                </a:solidFill>
              </a:rPr>
              <a:t>) {	/* </a:t>
            </a:r>
            <a:r>
              <a:rPr lang="en-US" altLang="zh-TW" sz="1600" i="1" dirty="0" smtClean="0">
                <a:solidFill>
                  <a:srgbClr val="0000FF"/>
                </a:solidFill>
                <a:latin typeface="Times New Roman" pitchFamily="18" charset="0"/>
              </a:rPr>
              <a:t>time</a:t>
            </a:r>
            <a:r>
              <a:rPr lang="en-US" altLang="zh-TW" sz="1600" dirty="0" smtClean="0">
                <a:solidFill>
                  <a:srgbClr val="0000FF"/>
                </a:solidFill>
              </a:rPr>
              <a:t>: the maximum time it plans to use */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	if (busy)		</a:t>
            </a:r>
            <a:r>
              <a:rPr lang="en-US" altLang="zh-TW" sz="1600" dirty="0" err="1" smtClean="0">
                <a:solidFill>
                  <a:srgbClr val="0000FF"/>
                </a:solidFill>
              </a:rPr>
              <a:t>x.wait</a:t>
            </a:r>
            <a:r>
              <a:rPr lang="en-US" altLang="zh-TW" sz="1600" dirty="0" smtClean="0">
                <a:solidFill>
                  <a:srgbClr val="0000FF"/>
                </a:solidFill>
              </a:rPr>
              <a:t>(</a:t>
            </a:r>
            <a:r>
              <a:rPr lang="en-US" altLang="zh-TW" sz="1600" i="1" dirty="0" smtClean="0">
                <a:solidFill>
                  <a:srgbClr val="0000FF"/>
                </a:solidFill>
                <a:latin typeface="Times New Roman" pitchFamily="18" charset="0"/>
              </a:rPr>
              <a:t>time</a:t>
            </a:r>
            <a:r>
              <a:rPr lang="en-US" altLang="zh-TW" sz="1600" dirty="0" smtClean="0">
                <a:solidFill>
                  <a:srgbClr val="0000FF"/>
                </a:solidFill>
              </a:rPr>
              <a:t>); 	busy = TRUE;}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void </a:t>
            </a:r>
            <a:r>
              <a:rPr lang="en-US" altLang="zh-TW" sz="1600" dirty="0" smtClean="0">
                <a:solidFill>
                  <a:srgbClr val="FF0000"/>
                </a:solidFill>
              </a:rPr>
              <a:t>release</a:t>
            </a:r>
            <a:r>
              <a:rPr lang="en-US" altLang="zh-TW" sz="1600" dirty="0" smtClean="0">
                <a:solidFill>
                  <a:srgbClr val="0000FF"/>
                </a:solidFill>
              </a:rPr>
              <a:t> () {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	busy = FALSE;	</a:t>
            </a:r>
            <a:r>
              <a:rPr lang="en-US" altLang="zh-TW" sz="1600" dirty="0" err="1" smtClean="0">
                <a:solidFill>
                  <a:srgbClr val="0000FF"/>
                </a:solidFill>
              </a:rPr>
              <a:t>x.signal</a:t>
            </a:r>
            <a:r>
              <a:rPr lang="en-US" altLang="zh-TW" sz="1600" dirty="0" smtClean="0">
                <a:solidFill>
                  <a:srgbClr val="0000FF"/>
                </a:solidFill>
              </a:rPr>
              <a:t>();} 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</a:t>
            </a:r>
            <a:r>
              <a:rPr lang="en-US" altLang="zh-TW" sz="1600" dirty="0" err="1" smtClean="0">
                <a:solidFill>
                  <a:srgbClr val="0000FF"/>
                </a:solidFill>
              </a:rPr>
              <a:t>initialization_code</a:t>
            </a:r>
            <a:r>
              <a:rPr lang="en-US" altLang="zh-TW" sz="1600" dirty="0" smtClean="0">
                <a:solidFill>
                  <a:srgbClr val="0000FF"/>
                </a:solidFill>
              </a:rPr>
              <a:t>() {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TW" sz="1600" dirty="0" smtClean="0">
                <a:solidFill>
                  <a:srgbClr val="0000FF"/>
                </a:solidFill>
              </a:rPr>
              <a:t>			 busy = FALSE;   }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sz="2800" dirty="0" smtClean="0">
                <a:solidFill>
                  <a:srgbClr val="0000FF"/>
                </a:solidFill>
              </a:rPr>
              <a:t>Acquire-release access 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Char char="u"/>
            </a:pPr>
            <a:r>
              <a:rPr lang="en-US" altLang="zh-TW" sz="2400" dirty="0" err="1" smtClean="0">
                <a:solidFill>
                  <a:srgbClr val="0000FF"/>
                </a:solidFill>
              </a:rPr>
              <a:t>R.acquire</a:t>
            </a:r>
            <a:r>
              <a:rPr lang="en-US" altLang="zh-TW" sz="2400" dirty="0" smtClean="0">
                <a:solidFill>
                  <a:srgbClr val="0000FF"/>
                </a:solidFill>
              </a:rPr>
              <a:t>(t);  … access the resource; …  	</a:t>
            </a:r>
            <a:r>
              <a:rPr lang="en-US" altLang="zh-TW" sz="2400" dirty="0" err="1" smtClean="0">
                <a:solidFill>
                  <a:srgbClr val="0000FF"/>
                </a:solidFill>
              </a:rPr>
              <a:t>R.release</a:t>
            </a:r>
            <a:r>
              <a:rPr lang="en-US" altLang="zh-TW" sz="2400" dirty="0" smtClean="0">
                <a:solidFill>
                  <a:srgbClr val="0000FF"/>
                </a:solidFill>
              </a:rPr>
              <a:t>(t)</a:t>
            </a:r>
          </a:p>
          <a:p>
            <a:pPr eaLnBrk="1" hangingPunct="1">
              <a:spcBef>
                <a:spcPct val="15000"/>
              </a:spcBef>
              <a:buFont typeface="Wingdings" pitchFamily="2" charset="2"/>
              <a:buChar char="u"/>
            </a:pPr>
            <a:r>
              <a:rPr lang="en-US" altLang="zh-TW" sz="2400" dirty="0" smtClean="0">
                <a:solidFill>
                  <a:srgbClr val="FF0000"/>
                </a:solidFill>
              </a:rPr>
              <a:t>Unfortunately, the monitor concept cannot guarantee that the access sequence will be observed, e.g.</a:t>
            </a:r>
          </a:p>
          <a:p>
            <a:pPr lvl="1" eaLnBrk="1" hangingPunct="1">
              <a:spcBef>
                <a:spcPct val="15000"/>
              </a:spcBef>
              <a:buFont typeface="Wingdings" pitchFamily="2" charset="2"/>
              <a:buChar char="ü"/>
            </a:pPr>
            <a:r>
              <a:rPr lang="en-US" altLang="zh-TW" sz="2000" dirty="0" smtClean="0">
                <a:solidFill>
                  <a:srgbClr val="FF0000"/>
                </a:solidFill>
              </a:rPr>
              <a:t>Without gaining permission, never release, release a resource that it never requested, … 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77830" name="Rectangle 2"/>
          <p:cNvSpPr txBox="1">
            <a:spLocks noChangeArrowheads="1"/>
          </p:cNvSpPr>
          <p:nvPr/>
        </p:nvSpPr>
        <p:spPr bwMode="auto">
          <a:xfrm>
            <a:off x="388938" y="204788"/>
            <a:ext cx="8388350" cy="61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chemeClr val="tx2"/>
                </a:solidFill>
              </a:rPr>
              <a:t>Resuming Processes within a Monitor (2)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583113" y="3473450"/>
            <a:ext cx="4845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Scheduling is done according to the built-in monitor-scheduling.</a:t>
            </a:r>
            <a:endParaRPr lang="zh-TW" altLang="en-US" sz="2000">
              <a:solidFill>
                <a:srgbClr val="00B050"/>
              </a:solidFill>
              <a:latin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2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2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4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4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63F763A-19AF-4EEC-ABF2-5C82580BFC4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88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88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74314FC-55CD-48CA-8A16-C0FFB45FC87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kumimoji="0" lang="en-US" altLang="zh-TW" sz="1400" smtClean="0"/>
          </a:p>
        </p:txBody>
      </p:sp>
      <p:sp>
        <p:nvSpPr>
          <p:cNvPr id="3072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17488" y="565150"/>
            <a:ext cx="8689975" cy="56403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 smtClean="0"/>
              <a:t>Previously, we have to worry about the correct use of </a:t>
            </a:r>
            <a:r>
              <a:rPr lang="en-US" altLang="zh-TW" sz="2400" dirty="0" smtClean="0">
                <a:solidFill>
                  <a:srgbClr val="FF0000"/>
                </a:solidFill>
              </a:rPr>
              <a:t>semaphores</a:t>
            </a:r>
            <a:r>
              <a:rPr lang="en-US" altLang="zh-TW" sz="2400" dirty="0" smtClean="0"/>
              <a:t>. Now, we have to worry about the correct use of </a:t>
            </a:r>
            <a:r>
              <a:rPr lang="en-US" altLang="zh-TW" sz="2400" dirty="0" smtClean="0">
                <a:solidFill>
                  <a:srgbClr val="FF0000"/>
                </a:solidFill>
              </a:rPr>
              <a:t>Monitors</a:t>
            </a:r>
            <a:r>
              <a:rPr lang="en-US" altLang="zh-TW" sz="2400" dirty="0" smtClean="0"/>
              <a:t>, with which </a:t>
            </a:r>
            <a:r>
              <a:rPr lang="en-US" altLang="zh-TW" sz="2400" dirty="0" smtClean="0">
                <a:solidFill>
                  <a:srgbClr val="0000FF"/>
                </a:solidFill>
              </a:rPr>
              <a:t>the compiler can no longer assist us</a:t>
            </a:r>
            <a:r>
              <a:rPr lang="en-US" altLang="zh-TW" sz="2400" dirty="0" smtClean="0"/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sz="2400" dirty="0" smtClean="0"/>
              <a:t>Check two conditions to establish correctness: </a:t>
            </a:r>
          </a:p>
          <a:p>
            <a:pPr lvl="1" eaLnBrk="1" hangingPunct="1">
              <a:spcBef>
                <a:spcPct val="50000"/>
              </a:spcBef>
              <a:defRPr/>
            </a:pPr>
            <a:endParaRPr lang="en-US" altLang="zh-TW" sz="2400" dirty="0" smtClean="0">
              <a:solidFill>
                <a:srgbClr val="0000FF"/>
              </a:solidFill>
            </a:endParaRPr>
          </a:p>
          <a:p>
            <a:pPr marL="914400" lvl="1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000" dirty="0" smtClean="0">
                <a:solidFill>
                  <a:srgbClr val="0000FF"/>
                </a:solidFill>
              </a:rPr>
              <a:t>User processes must always make their calls on the monitor in a </a:t>
            </a:r>
            <a:r>
              <a:rPr lang="en-US" altLang="zh-TW" sz="2000" dirty="0" smtClean="0">
                <a:solidFill>
                  <a:srgbClr val="FF0000"/>
                </a:solidFill>
              </a:rPr>
              <a:t>correct</a:t>
            </a:r>
            <a:r>
              <a:rPr lang="en-US" altLang="zh-TW" sz="2000" dirty="0" smtClean="0">
                <a:solidFill>
                  <a:srgbClr val="0000FF"/>
                </a:solidFill>
              </a:rPr>
              <a:t> sequence.</a:t>
            </a:r>
          </a:p>
          <a:p>
            <a:pPr marL="914400" lvl="1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zh-TW" sz="2000" dirty="0" smtClean="0">
                <a:solidFill>
                  <a:schemeClr val="tx2"/>
                </a:solidFill>
              </a:rPr>
              <a:t>Must ensure that an uncooperative process does not ignore the mutual-exclusion gateway provided by the monitor and try to access the shared resource directly, without using the access protocols.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altLang="zh-TW" sz="2000" dirty="0" smtClean="0">
                <a:solidFill>
                  <a:schemeClr val="tx2"/>
                </a:solidFill>
              </a:rPr>
              <a:t>The inspection may be possible for a </a:t>
            </a:r>
            <a:r>
              <a:rPr lang="en-US" altLang="zh-TW" sz="2000" dirty="0" smtClean="0">
                <a:solidFill>
                  <a:srgbClr val="0000FF"/>
                </a:solidFill>
              </a:rPr>
              <a:t>small system</a:t>
            </a:r>
            <a:r>
              <a:rPr lang="en-US" altLang="zh-TW" sz="2000" dirty="0" smtClean="0">
                <a:solidFill>
                  <a:schemeClr val="tx2"/>
                </a:solidFill>
              </a:rPr>
              <a:t>, it needs other solutions. (Chapter 14)</a:t>
            </a:r>
            <a:endParaRPr lang="en-US" altLang="zh-TW" sz="2400" dirty="0" smtClean="0">
              <a:solidFill>
                <a:schemeClr val="tx2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Languages have incorporated the idea of the monitor: concurrent Pascal, Mesa, C#, Java,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</a:rPr>
              <a:t>…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ct val="50000"/>
              </a:spcBef>
              <a:defRPr/>
            </a:pPr>
            <a:endParaRPr lang="en-US" altLang="zh-TW" sz="2400" dirty="0" smtClean="0">
              <a:solidFill>
                <a:schemeClr val="tx2"/>
              </a:solidFill>
            </a:endParaRPr>
          </a:p>
        </p:txBody>
      </p:sp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2201863" y="3498850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>
              <a:solidFill>
                <a:srgbClr val="FF0000"/>
              </a:solidFill>
            </a:endParaRP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619125" y="2247900"/>
            <a:ext cx="8005846" cy="70788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7030A0"/>
                </a:solidFill>
              </a:rPr>
              <a:t>Resource-access operations within the </a:t>
            </a:r>
            <a:r>
              <a:rPr lang="en-US" altLang="zh-TW" sz="2000" dirty="0" err="1">
                <a:solidFill>
                  <a:srgbClr val="7030A0"/>
                </a:solidFill>
              </a:rPr>
              <a:t>ResourceAllocator</a:t>
            </a:r>
            <a:r>
              <a:rPr lang="en-US" altLang="zh-TW" sz="2000" dirty="0">
                <a:solidFill>
                  <a:srgbClr val="7030A0"/>
                </a:solidFill>
              </a:rPr>
              <a:t> Monitor.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FF0000"/>
                </a:solidFill>
              </a:rPr>
              <a:t>The scheduling is done by the built-in monitor scheduling algorithms</a:t>
            </a:r>
            <a:r>
              <a:rPr lang="en-US" altLang="zh-TW" sz="2000" dirty="0">
                <a:solidFill>
                  <a:srgbClr val="7030A0"/>
                </a:solidFill>
              </a:rPr>
              <a:t>.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78856" name="Rectangle 2"/>
          <p:cNvSpPr txBox="1">
            <a:spLocks noChangeArrowheads="1"/>
          </p:cNvSpPr>
          <p:nvPr/>
        </p:nvSpPr>
        <p:spPr bwMode="auto">
          <a:xfrm>
            <a:off x="388938" y="34925"/>
            <a:ext cx="8388350" cy="6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chemeClr val="tx2"/>
                </a:solidFill>
              </a:rPr>
              <a:t>Resuming Processes within a Monitor (3)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/>
      <p:bldP spid="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1229057-0EF2-4034-AF7D-9D47383C3A0E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798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798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AF436E7-9A93-410E-B33E-5DCE4B6AF25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kumimoji="0" lang="en-US" altLang="zh-TW" sz="1400" smtClean="0"/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Synchronization Examples</a:t>
            </a:r>
          </a:p>
        </p:txBody>
      </p:sp>
      <p:sp>
        <p:nvSpPr>
          <p:cNvPr id="7987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Solaris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Windows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Linux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Pthreads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787954A-F364-432C-A92C-CFCE5131623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08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09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1432C9-61CC-44BC-A250-41F54C27460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kumimoji="0" lang="en-US" altLang="zh-TW" sz="1400" smtClean="0"/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>
          <a:xfrm>
            <a:off x="477838" y="3968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zh-TW" smtClean="0"/>
              <a:t>Solaris Synchronization (1)</a:t>
            </a:r>
          </a:p>
        </p:txBody>
      </p:sp>
      <p:sp>
        <p:nvSpPr>
          <p:cNvPr id="276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0700" y="1135063"/>
            <a:ext cx="8164513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dirty="0" smtClean="0"/>
              <a:t>Implements a variety of locks to support multitasking, multithreading (including real-time threads), and multiprocessing.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dirty="0" smtClean="0"/>
              <a:t>Uses </a:t>
            </a:r>
            <a:r>
              <a:rPr lang="en-US" altLang="zh-TW" b="1" dirty="0" smtClean="0">
                <a:solidFill>
                  <a:srgbClr val="FF0000"/>
                </a:solidFill>
              </a:rPr>
              <a:t>adaptive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mutexes</a:t>
            </a:r>
            <a:r>
              <a:rPr lang="en-US" altLang="zh-TW" dirty="0" smtClean="0"/>
              <a:t> for efficiency when protecting data from </a:t>
            </a:r>
            <a:r>
              <a:rPr lang="en-US" altLang="zh-TW" dirty="0" smtClean="0">
                <a:solidFill>
                  <a:srgbClr val="000000"/>
                </a:solidFill>
              </a:rPr>
              <a:t>short code</a:t>
            </a:r>
            <a:r>
              <a:rPr lang="en-US" altLang="zh-TW" dirty="0" smtClean="0"/>
              <a:t> segments.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dirty="0" smtClean="0"/>
              <a:t>Uses </a:t>
            </a:r>
            <a:r>
              <a:rPr lang="en-US" altLang="zh-TW" b="1" dirty="0" smtClean="0">
                <a:solidFill>
                  <a:srgbClr val="FF0000"/>
                </a:solidFill>
              </a:rPr>
              <a:t>condition variables</a:t>
            </a:r>
            <a:r>
              <a:rPr lang="en-US" altLang="zh-TW" dirty="0" smtClean="0"/>
              <a:t> and </a:t>
            </a:r>
            <a:r>
              <a:rPr lang="en-US" altLang="zh-TW" b="1" dirty="0" smtClean="0">
                <a:solidFill>
                  <a:srgbClr val="FF0000"/>
                </a:solidFill>
              </a:rPr>
              <a:t>readers-writers</a:t>
            </a:r>
            <a:r>
              <a:rPr lang="en-US" altLang="zh-TW" dirty="0" smtClean="0"/>
              <a:t> locks when </a:t>
            </a:r>
            <a:r>
              <a:rPr lang="en-US" altLang="zh-TW" dirty="0" smtClean="0">
                <a:solidFill>
                  <a:srgbClr val="000000"/>
                </a:solidFill>
              </a:rPr>
              <a:t>longer sections</a:t>
            </a:r>
            <a:r>
              <a:rPr lang="en-US" altLang="zh-TW" dirty="0" smtClean="0"/>
              <a:t> of code need access to data.</a:t>
            </a:r>
          </a:p>
        </p:txBody>
      </p:sp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6296025" y="3643313"/>
            <a:ext cx="2260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Spinlock if running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block otherwise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519988" y="3473450"/>
            <a:ext cx="16231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on </a:t>
            </a:r>
            <a:r>
              <a:rPr lang="en-US" altLang="zh-TW" sz="1600" dirty="0" smtClean="0">
                <a:solidFill>
                  <a:srgbClr val="FF0000"/>
                </a:solidFill>
              </a:rPr>
              <a:t>another core</a:t>
            </a:r>
            <a:endParaRPr lang="en-US" altLang="zh-TW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0F936E-7A64-4628-BF53-E2F3139BE423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19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19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305307-D91C-4B1B-8C76-5182D6BA76C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kumimoji="0" lang="en-US" altLang="zh-TW" sz="1400" smtClean="0"/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3713" y="152400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zh-TW" smtClean="0"/>
              <a:t>Solaris Synchronization (2)</a:t>
            </a:r>
          </a:p>
        </p:txBody>
      </p:sp>
      <p:sp>
        <p:nvSpPr>
          <p:cNvPr id="286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2763" y="819150"/>
            <a:ext cx="8164512" cy="53355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Uses </a:t>
            </a:r>
            <a:r>
              <a:rPr lang="en-US" altLang="zh-TW" b="1" dirty="0" smtClean="0">
                <a:solidFill>
                  <a:srgbClr val="FF0000"/>
                </a:solidFill>
              </a:rPr>
              <a:t>turnstiles</a:t>
            </a:r>
            <a:r>
              <a:rPr lang="en-US" altLang="zh-TW" dirty="0" smtClean="0"/>
              <a:t> to order the list of threads waiting to acquire either an adaptive mutex or reader-writer lock.</a:t>
            </a:r>
          </a:p>
          <a:p>
            <a:pPr lvl="1" eaLnBrk="1" hangingPunct="1">
              <a:defRPr/>
            </a:pPr>
            <a:r>
              <a:rPr lang="en-US" altLang="zh-TW" dirty="0" smtClean="0"/>
              <a:t>A turnstile is a </a:t>
            </a:r>
            <a:r>
              <a:rPr lang="en-US" altLang="zh-TW" dirty="0" smtClean="0">
                <a:solidFill>
                  <a:srgbClr val="0000FF"/>
                </a:solidFill>
              </a:rPr>
              <a:t>queue structure</a:t>
            </a:r>
            <a:r>
              <a:rPr lang="en-US" altLang="zh-TW" dirty="0" smtClean="0"/>
              <a:t> containing threads blocked on a lock.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dirty="0" smtClean="0"/>
              <a:t>To prevent a </a:t>
            </a:r>
            <a:r>
              <a:rPr lang="en-US" altLang="zh-TW" dirty="0" smtClean="0">
                <a:solidFill>
                  <a:srgbClr val="0000FF"/>
                </a:solidFill>
              </a:rPr>
              <a:t>priority inversion</a:t>
            </a:r>
            <a:r>
              <a:rPr lang="en-US" altLang="zh-TW" dirty="0" smtClean="0"/>
              <a:t>, turnstiles are organized according to a </a:t>
            </a:r>
            <a:r>
              <a:rPr lang="en-US" altLang="zh-TW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priority-inheritance protocol</a:t>
            </a:r>
            <a:endParaRPr lang="en-US" altLang="zh-TW" dirty="0" smtClean="0"/>
          </a:p>
          <a:p>
            <a:pPr lvl="1" eaLnBrk="1" hangingPunct="1"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Temporarily inherit the priority of the high-priority thread (blocked on this lock)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085A9F-BE1B-40CF-901A-0789FDE4741D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29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29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9E96DA-C45D-47E3-8DB5-767373FF70B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kumimoji="0" lang="en-US" altLang="zh-TW" sz="1400" smtClean="0"/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3538"/>
            <a:ext cx="8145463" cy="779462"/>
          </a:xfrm>
        </p:spPr>
        <p:txBody>
          <a:bodyPr/>
          <a:lstStyle/>
          <a:p>
            <a:pPr eaLnBrk="1" hangingPunct="1"/>
            <a:r>
              <a:rPr lang="en-US" altLang="zh-TW" smtClean="0"/>
              <a:t>Windows Synchronization (1)</a:t>
            </a:r>
          </a:p>
        </p:txBody>
      </p:sp>
      <p:sp>
        <p:nvSpPr>
          <p:cNvPr id="278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3050" y="1457325"/>
            <a:ext cx="8367713" cy="45513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Uses </a:t>
            </a:r>
            <a:r>
              <a:rPr lang="en-US" altLang="zh-TW" sz="2800" dirty="0" smtClean="0">
                <a:solidFill>
                  <a:srgbClr val="0000FF"/>
                </a:solidFill>
              </a:rPr>
              <a:t>interrupt</a:t>
            </a:r>
            <a:r>
              <a:rPr lang="en-US" altLang="zh-TW" sz="2800" dirty="0" smtClean="0"/>
              <a:t> masks to protect access to global resources on </a:t>
            </a:r>
            <a:r>
              <a:rPr lang="en-US" altLang="zh-TW" sz="2800" dirty="0" smtClean="0">
                <a:solidFill>
                  <a:srgbClr val="0000FF"/>
                </a:solidFill>
              </a:rPr>
              <a:t>uniprocessor</a:t>
            </a:r>
            <a:r>
              <a:rPr lang="en-US" altLang="zh-TW" sz="2800" dirty="0" smtClean="0"/>
              <a:t> systems.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Uses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spinlocks</a:t>
            </a:r>
            <a:r>
              <a:rPr lang="en-US" altLang="zh-TW" sz="2800" dirty="0" smtClean="0"/>
              <a:t> on multiprocessor systems.</a:t>
            </a:r>
            <a:br>
              <a:rPr lang="en-US" altLang="zh-TW" sz="2800" dirty="0" smtClean="0"/>
            </a:b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(The kernel ensures that a thread will never be preempted while holding a spinlock.)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Provides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dispatcher objects</a:t>
            </a:r>
            <a:r>
              <a:rPr lang="en-US" altLang="zh-TW" sz="2800" dirty="0" smtClean="0"/>
              <a:t> which may act as with </a:t>
            </a:r>
            <a:r>
              <a:rPr lang="en-US" altLang="zh-TW" sz="2800" b="1" dirty="0" err="1" smtClean="0">
                <a:solidFill>
                  <a:schemeClr val="tx2"/>
                </a:solidFill>
              </a:rPr>
              <a:t>mutexes</a:t>
            </a:r>
            <a:r>
              <a:rPr lang="en-US" altLang="zh-TW" sz="2800" dirty="0" smtClean="0"/>
              <a:t> and </a:t>
            </a:r>
            <a:r>
              <a:rPr lang="en-US" altLang="zh-TW" sz="2800" b="1" dirty="0" smtClean="0">
                <a:solidFill>
                  <a:schemeClr val="tx2"/>
                </a:solidFill>
              </a:rPr>
              <a:t>semaphores</a:t>
            </a:r>
            <a:r>
              <a:rPr lang="en-US" altLang="zh-TW" sz="2800" dirty="0" smtClean="0"/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Dispatcher objects may also provide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events</a:t>
            </a:r>
            <a:r>
              <a:rPr lang="en-US" altLang="zh-TW" sz="2400" dirty="0" smtClean="0"/>
              <a:t>. An event acts much like a </a:t>
            </a:r>
            <a:r>
              <a:rPr lang="en-US" altLang="zh-TW" sz="2400" dirty="0" smtClean="0">
                <a:solidFill>
                  <a:srgbClr val="009900"/>
                </a:solidFill>
              </a:rPr>
              <a:t>condition variable</a:t>
            </a:r>
            <a:r>
              <a:rPr lang="en-US" altLang="zh-TW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AE01B7-E8D6-4205-983F-4C24AB691C5D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39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39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2A7DDB-43F8-4A93-81CA-0762B702FC1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kumimoji="0" lang="en-US" altLang="zh-TW" sz="1400" smtClean="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339138" cy="896938"/>
          </a:xfrm>
        </p:spPr>
        <p:txBody>
          <a:bodyPr/>
          <a:lstStyle/>
          <a:p>
            <a:pPr eaLnBrk="1" hangingPunct="1"/>
            <a:r>
              <a:rPr lang="en-US" altLang="zh-TW" smtClean="0"/>
              <a:t>Windows Synchronization (2)</a:t>
            </a:r>
          </a:p>
        </p:txBody>
      </p:sp>
      <p:sp>
        <p:nvSpPr>
          <p:cNvPr id="288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3050" y="1330325"/>
            <a:ext cx="8621713" cy="5110163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rgbClr val="009900"/>
                </a:solidFill>
              </a:rPr>
              <a:t>Dispatcher </a:t>
            </a:r>
            <a:r>
              <a:rPr lang="en-US" altLang="zh-TW" sz="2800" dirty="0" smtClean="0">
                <a:solidFill>
                  <a:srgbClr val="FF0000"/>
                </a:solidFill>
              </a:rPr>
              <a:t>objects</a:t>
            </a:r>
            <a:r>
              <a:rPr lang="en-US" altLang="zh-TW" sz="2800" dirty="0" smtClean="0"/>
              <a:t>, signaled or </a:t>
            </a:r>
            <a:r>
              <a:rPr lang="en-US" altLang="zh-TW" sz="2800" dirty="0" err="1" smtClean="0"/>
              <a:t>nonsignaled</a:t>
            </a:r>
            <a:endParaRPr lang="en-US" altLang="zh-TW" sz="2800" dirty="0" smtClean="0"/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signaled state: an </a:t>
            </a:r>
            <a:r>
              <a:rPr lang="en-US" altLang="zh-TW" sz="2400" dirty="0" smtClean="0">
                <a:solidFill>
                  <a:srgbClr val="FF0000"/>
                </a:solidFill>
              </a:rPr>
              <a:t>object</a:t>
            </a:r>
            <a:r>
              <a:rPr lang="en-US" altLang="zh-TW" sz="2400" dirty="0" smtClean="0">
                <a:solidFill>
                  <a:srgbClr val="0000FF"/>
                </a:solidFill>
              </a:rPr>
              <a:t> is </a:t>
            </a:r>
            <a:r>
              <a:rPr lang="en-US" altLang="zh-TW" sz="2400" dirty="0" smtClean="0">
                <a:solidFill>
                  <a:srgbClr val="FF0000"/>
                </a:solidFill>
              </a:rPr>
              <a:t>available</a:t>
            </a:r>
            <a:r>
              <a:rPr lang="en-US" altLang="zh-TW" sz="2400" dirty="0" smtClean="0">
                <a:solidFill>
                  <a:srgbClr val="0000FF"/>
                </a:solidFill>
              </a:rPr>
              <a:t> and a </a:t>
            </a:r>
            <a:r>
              <a:rPr lang="en-US" altLang="zh-TW" sz="2400" dirty="0" smtClean="0">
                <a:solidFill>
                  <a:srgbClr val="7030A0"/>
                </a:solidFill>
              </a:rPr>
              <a:t>thread</a:t>
            </a:r>
            <a:r>
              <a:rPr lang="en-US" altLang="zh-TW" sz="2400" dirty="0" smtClean="0">
                <a:solidFill>
                  <a:srgbClr val="0000FF"/>
                </a:solidFill>
              </a:rPr>
              <a:t> will not block when acquiring the object. 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dirty="0" err="1" smtClean="0">
                <a:solidFill>
                  <a:srgbClr val="0000FF"/>
                </a:solidFill>
              </a:rPr>
              <a:t>nonsignaled</a:t>
            </a:r>
            <a:r>
              <a:rPr lang="en-US" altLang="zh-TW" sz="2400" dirty="0" smtClean="0">
                <a:solidFill>
                  <a:srgbClr val="0000FF"/>
                </a:solidFill>
              </a:rPr>
              <a:t> state: an object is NOT available and a thread WILL block when acquiring the object.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0000FF"/>
                </a:solidFill>
              </a:rPr>
              <a:t>When the state for the object moves to signaled, the kernel checks and calls (if exists) one thread or possibly more threads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dirty="0" err="1" smtClean="0">
                <a:solidFill>
                  <a:srgbClr val="FF0000"/>
                </a:solidFill>
              </a:rPr>
              <a:t>mutex</a:t>
            </a:r>
            <a:r>
              <a:rPr lang="en-US" altLang="zh-TW" sz="2400" dirty="0" smtClean="0">
                <a:solidFill>
                  <a:srgbClr val="FF0000"/>
                </a:solidFill>
              </a:rPr>
              <a:t>: one thread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event: all threads</a:t>
            </a:r>
          </a:p>
        </p:txBody>
      </p:sp>
      <p:pic>
        <p:nvPicPr>
          <p:cNvPr id="288772" name="Picture 4" descr="fg6_21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4849813"/>
            <a:ext cx="4176713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464F4F-5F5E-4321-B690-340FC8954C4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39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39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2A7DDB-43F8-4A93-81CA-0762B702FC1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kumimoji="0" lang="en-US" altLang="zh-TW" sz="1400" smtClean="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339138" cy="64042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Windows Synchronization (3)</a:t>
            </a:r>
          </a:p>
        </p:txBody>
      </p:sp>
      <p:sp>
        <p:nvSpPr>
          <p:cNvPr id="288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3050" y="893853"/>
            <a:ext cx="8621713" cy="5546636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6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critical-section object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a </a:t>
            </a:r>
            <a:r>
              <a:rPr lang="en-US" altLang="zh-TW" sz="2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user-mode </a:t>
            </a:r>
            <a:r>
              <a:rPr lang="en-US" altLang="zh-TW" sz="2600" dirty="0" err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can often be </a:t>
            </a: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acquired and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released </a:t>
            </a:r>
            <a:r>
              <a:rPr lang="en-US" altLang="zh-TW" sz="26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without kernel intervention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6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6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multiprocessor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system, </a:t>
            </a: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6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critical-section </a:t>
            </a:r>
            <a:r>
              <a:rPr lang="en-US" altLang="zh-TW" sz="26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object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first uses a </a:t>
            </a:r>
            <a:r>
              <a:rPr lang="en-US" altLang="zh-TW" sz="2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spinlock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while waiting for the other thread </a:t>
            </a: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release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object. </a:t>
            </a:r>
            <a:endParaRPr lang="en-US" altLang="zh-TW" sz="26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If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</a:t>
            </a:r>
            <a:r>
              <a:rPr lang="en-US" altLang="zh-TW" sz="2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spins too long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the acquiring thread will then </a:t>
            </a:r>
            <a:r>
              <a:rPr lang="en-US" altLang="zh-TW" sz="2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allocate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6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kernel</a:t>
            </a:r>
            <a:r>
              <a:rPr lang="en-US" altLang="zh-TW" sz="26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6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6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and yield its CPU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6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600" dirty="0" smtClean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Critical-section </a:t>
            </a:r>
            <a:r>
              <a:rPr lang="en-US" altLang="zh-TW" sz="26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objects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 particularly </a:t>
            </a:r>
            <a:r>
              <a:rPr lang="en-US" altLang="zh-TW" sz="26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efficient</a:t>
            </a: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because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6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kernel </a:t>
            </a:r>
            <a:r>
              <a:rPr lang="en-US" altLang="zh-TW" sz="26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6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is allocated only when there is contention for </a:t>
            </a:r>
            <a:r>
              <a:rPr lang="en-US" altLang="zh-TW" sz="26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object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6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6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</a:t>
            </a:r>
            <a:r>
              <a:rPr lang="en-US" altLang="zh-TW" sz="26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practice, there is very little contention, so the savings are significant.</a:t>
            </a:r>
            <a:endParaRPr lang="en-US" altLang="zh-TW" sz="26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219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F2BACA-E842-4A94-996D-E56FDC86D76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49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49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1D2163-DD51-4C17-969D-0F35168228A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kumimoji="0" lang="en-US" altLang="zh-TW" sz="1400" smtClean="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400050"/>
            <a:ext cx="7772400" cy="74295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Linux Synchronization</a:t>
            </a:r>
          </a:p>
        </p:txBody>
      </p:sp>
      <p:sp>
        <p:nvSpPr>
          <p:cNvPr id="272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2113" y="1174750"/>
            <a:ext cx="8218487" cy="4845050"/>
          </a:xfrm>
        </p:spPr>
        <p:txBody>
          <a:bodyPr/>
          <a:lstStyle/>
          <a:p>
            <a:pPr eaLnBrk="1" hangingPunct="1"/>
            <a:r>
              <a:rPr lang="en-US" altLang="zh-TW" smtClean="0"/>
              <a:t>Linux (2.6 and after):</a:t>
            </a: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</a:rPr>
              <a:t>fully preemptive</a:t>
            </a:r>
            <a:r>
              <a:rPr lang="en-US" altLang="zh-TW" sz="2400" smtClean="0"/>
              <a:t>: preempt when running in the kernel</a:t>
            </a:r>
          </a:p>
          <a:p>
            <a:pPr lvl="1" eaLnBrk="1" hangingPunct="1"/>
            <a:r>
              <a:rPr lang="en-US" altLang="zh-TW" sz="2400" smtClean="0"/>
              <a:t>provides </a:t>
            </a:r>
            <a:r>
              <a:rPr lang="en-US" altLang="zh-TW" sz="2400" smtClean="0">
                <a:solidFill>
                  <a:srgbClr val="FF0000"/>
                </a:solidFill>
              </a:rPr>
              <a:t>spin locks</a:t>
            </a:r>
            <a:r>
              <a:rPr lang="en-US" altLang="zh-TW" sz="2400" smtClean="0"/>
              <a:t>, </a:t>
            </a:r>
            <a:r>
              <a:rPr lang="en-US" altLang="zh-TW" sz="2400" smtClean="0">
                <a:solidFill>
                  <a:srgbClr val="FF0000"/>
                </a:solidFill>
              </a:rPr>
              <a:t>semaphores</a:t>
            </a:r>
            <a:r>
              <a:rPr lang="en-US" altLang="zh-TW" sz="2400" smtClean="0"/>
              <a:t>, </a:t>
            </a:r>
            <a:r>
              <a:rPr lang="en-US" altLang="zh-TW" sz="2400" smtClean="0">
                <a:solidFill>
                  <a:srgbClr val="0000FF"/>
                </a:solidFill>
              </a:rPr>
              <a:t>reader-writer locks</a:t>
            </a:r>
            <a:endParaRPr lang="en-US" altLang="zh-TW" sz="2400" smtClean="0"/>
          </a:p>
          <a:p>
            <a:pPr lvl="1" eaLnBrk="1" hangingPunct="1"/>
            <a:r>
              <a:rPr lang="en-US" altLang="zh-TW" sz="2400" smtClean="0">
                <a:solidFill>
                  <a:srgbClr val="0000FF"/>
                </a:solidFill>
              </a:rPr>
              <a:t>SMP: spin locks for short duration</a:t>
            </a:r>
          </a:p>
          <a:p>
            <a:pPr lvl="1" eaLnBrk="1" hangingPunct="1"/>
            <a:r>
              <a:rPr lang="en-US" altLang="zh-TW" sz="2400" smtClean="0">
                <a:solidFill>
                  <a:srgbClr val="0000FF"/>
                </a:solidFill>
              </a:rPr>
              <a:t>Single processor:</a:t>
            </a:r>
            <a:r>
              <a:rPr lang="en-US" altLang="zh-TW" sz="2400" smtClean="0">
                <a:solidFill>
                  <a:srgbClr val="FF0000"/>
                </a:solidFill>
              </a:rPr>
              <a:t> </a:t>
            </a:r>
            <a:r>
              <a:rPr lang="en-US" altLang="zh-TW" sz="2400" smtClean="0">
                <a:solidFill>
                  <a:srgbClr val="0000FF"/>
                </a:solidFill>
              </a:rPr>
              <a:t>replaced by enabling and disabling kernel preemption</a:t>
            </a: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</a:rPr>
              <a:t>preempt_count </a:t>
            </a:r>
            <a:r>
              <a:rPr lang="en-US" altLang="zh-TW" sz="2400" smtClean="0"/>
              <a:t>(# of locks held): &gt;0, not safe to preempt the kernel; =0 can be interrupts</a:t>
            </a:r>
          </a:p>
        </p:txBody>
      </p:sp>
      <p:pic>
        <p:nvPicPr>
          <p:cNvPr id="84999" name="Picture 4" descr="fgin-6_1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4838700"/>
            <a:ext cx="5470525" cy="123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版面配置區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937686-18D1-4573-AC5C-3BE3309AC97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6019" name="頁尾版面配置區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6020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B74787-62F1-4A5E-A1FC-5C16BC1DA1B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kumimoji="0" lang="en-US" altLang="zh-TW" sz="1400" smtClean="0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366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Pthreads Synchronization</a:t>
            </a:r>
          </a:p>
        </p:txBody>
      </p:sp>
      <p:sp>
        <p:nvSpPr>
          <p:cNvPr id="8602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492125" y="1690688"/>
            <a:ext cx="8131175" cy="473075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Pthreads API is OS-independent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provides mutex locks, condition variables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non-portable extensions: read-write locks, spin 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779F7A-87B6-4B5F-90A5-7E8D3CBEDC9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806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806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6E77631-A6BA-4806-B246-ADA1E9E06BB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kumimoji="0" lang="en-US" altLang="zh-TW" sz="1400" smtClean="0"/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Alternative Approaches</a:t>
            </a:r>
            <a:endParaRPr lang="en-US" altLang="zh-TW" dirty="0" smtClean="0"/>
          </a:p>
        </p:txBody>
      </p:sp>
      <p:sp>
        <p:nvSpPr>
          <p:cNvPr id="8807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619125" y="1754188"/>
            <a:ext cx="7602538" cy="4514850"/>
          </a:xfrm>
        </p:spPr>
        <p:txBody>
          <a:bodyPr/>
          <a:lstStyle/>
          <a:p>
            <a:pPr eaLnBrk="1" hangingPunct="1"/>
            <a:r>
              <a:rPr lang="en-US" altLang="zh-TW" smtClean="0"/>
              <a:t>Transactional Memory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>
                <a:latin typeface="Adobe Gothic Std B" pitchFamily="34" charset="-128"/>
                <a:ea typeface="Adobe Gothic Std B" pitchFamily="34" charset="-128"/>
              </a:rPr>
              <a:t>OpenMP</a:t>
            </a:r>
            <a:r>
              <a:rPr lang="en-US" altLang="zh-TW" smtClean="0"/>
              <a:t/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>
                <a:latin typeface="Adobe Gothic Std B" pitchFamily="34" charset="-128"/>
                <a:ea typeface="Adobe Gothic Std B" pitchFamily="34" charset="-128"/>
              </a:rPr>
              <a:t>Functional Programming Languages</a:t>
            </a:r>
          </a:p>
        </p:txBody>
      </p:sp>
      <p:sp>
        <p:nvSpPr>
          <p:cNvPr id="7" name="矩形 6"/>
          <p:cNvSpPr/>
          <p:nvPr/>
        </p:nvSpPr>
        <p:spPr>
          <a:xfrm>
            <a:off x="267128" y="5100500"/>
            <a:ext cx="8876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As the number </a:t>
            </a:r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of processing cores increases, it becomes increasingly difficult to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design multithreaded </a:t>
            </a:r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applications that are free from race conditions and deadlocks.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1B9F91-5DF6-4374-97E5-0368A9FA459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113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114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F25B628-C416-4A03-956D-F2373B74DC7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kumimoji="0" lang="en-US" altLang="zh-TW" sz="1400" smtClean="0"/>
          </a:p>
        </p:txBody>
      </p:sp>
      <p:sp>
        <p:nvSpPr>
          <p:cNvPr id="911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zh-TW" sz="4800" smtClean="0">
                <a:solidFill>
                  <a:srgbClr val="0000FF"/>
                </a:solidFill>
              </a:rPr>
              <a:t>Transactional Memory (1)</a:t>
            </a:r>
          </a:p>
        </p:txBody>
      </p:sp>
      <p:sp>
        <p:nvSpPr>
          <p:cNvPr id="2990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30188" y="800100"/>
            <a:ext cx="8674100" cy="53498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Using synchronization mechanisms such as </a:t>
            </a:r>
            <a:r>
              <a:rPr lang="en-US" altLang="zh-TW" sz="2800" dirty="0" smtClean="0">
                <a:solidFill>
                  <a:srgbClr val="FF0000"/>
                </a:solidFill>
              </a:rPr>
              <a:t>locks</a:t>
            </a:r>
            <a:r>
              <a:rPr lang="en-US" altLang="zh-TW" sz="2800" dirty="0" smtClean="0"/>
              <a:t> and </a:t>
            </a:r>
            <a:r>
              <a:rPr lang="en-US" altLang="zh-TW" sz="2800" dirty="0" smtClean="0">
                <a:solidFill>
                  <a:srgbClr val="FF0000"/>
                </a:solidFill>
              </a:rPr>
              <a:t>semaphores</a:t>
            </a:r>
            <a:r>
              <a:rPr lang="en-US" altLang="zh-TW" sz="2800" dirty="0" smtClean="0"/>
              <a:t> involves many potential problems, such as </a:t>
            </a:r>
            <a:r>
              <a:rPr lang="en-US" altLang="zh-TW" sz="2800" dirty="0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deadlocks</a:t>
            </a:r>
            <a:r>
              <a:rPr lang="en-US" altLang="zh-TW" sz="2800" dirty="0" smtClean="0"/>
              <a:t> and </a:t>
            </a:r>
            <a:r>
              <a:rPr lang="en-US" altLang="zh-TW" sz="2800" dirty="0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scalability</a:t>
            </a:r>
            <a:r>
              <a:rPr lang="en-US" altLang="zh-TW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en-US" altLang="zh-TW" sz="2800" dirty="0" smtClean="0"/>
              <a:t> (locking does not scale well)</a:t>
            </a:r>
          </a:p>
          <a:p>
            <a:pPr eaLnBrk="1" hangingPunct="1">
              <a:defRPr/>
            </a:pPr>
            <a:r>
              <a:rPr lang="en-US" altLang="zh-TW" sz="2800" dirty="0" smtClean="0"/>
              <a:t>Provides an </a:t>
            </a:r>
            <a:r>
              <a:rPr lang="en-US" altLang="zh-TW" sz="2800" dirty="0" smtClean="0">
                <a:solidFill>
                  <a:srgbClr val="FF0000"/>
                </a:solidFill>
              </a:rPr>
              <a:t>alternative strategy</a:t>
            </a:r>
            <a:r>
              <a:rPr lang="en-US" altLang="zh-TW" sz="2800" dirty="0" smtClean="0"/>
              <a:t> for developing thread-safe concurrent applications.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TM is </a:t>
            </a:r>
            <a:r>
              <a:rPr lang="en-US" altLang="zh-TW" sz="2800" dirty="0" smtClean="0">
                <a:solidFill>
                  <a:srgbClr val="0000FF"/>
                </a:solidFill>
              </a:rPr>
              <a:t>a sequence of memory read-write operations</a:t>
            </a:r>
            <a:r>
              <a:rPr lang="en-US" altLang="zh-TW" sz="2800" dirty="0" smtClean="0"/>
              <a:t> that are </a:t>
            </a:r>
            <a:r>
              <a:rPr lang="en-US" altLang="zh-TW" sz="2800" dirty="0" smtClean="0">
                <a:solidFill>
                  <a:srgbClr val="FF0000"/>
                </a:solidFill>
              </a:rPr>
              <a:t>atomic</a:t>
            </a:r>
            <a:r>
              <a:rPr lang="en-US" altLang="zh-TW" sz="2800" dirty="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err="1" smtClean="0"/>
              <a:t>Adv</a:t>
            </a:r>
            <a:r>
              <a:rPr lang="en-US" altLang="zh-TW" sz="2800" dirty="0" smtClean="0"/>
              <a:t>: The </a:t>
            </a:r>
            <a:r>
              <a:rPr lang="en-US" altLang="zh-TW" sz="2800" dirty="0" smtClean="0">
                <a:solidFill>
                  <a:srgbClr val="0000FF"/>
                </a:solidFill>
              </a:rPr>
              <a:t>TM system </a:t>
            </a:r>
            <a:r>
              <a:rPr lang="en-US" altLang="zh-TW" sz="2800" dirty="0" smtClean="0"/>
              <a:t>-</a:t>
            </a:r>
            <a:r>
              <a:rPr lang="en-US" altLang="zh-TW" sz="2800" dirty="0" smtClean="0">
                <a:solidFill>
                  <a:srgbClr val="FF0000"/>
                </a:solidFill>
              </a:rPr>
              <a:t>not the developer</a:t>
            </a:r>
            <a:r>
              <a:rPr lang="en-US" altLang="zh-TW" sz="2800" dirty="0" smtClean="0"/>
              <a:t>- is responsible for guaranteeing atomically.</a:t>
            </a:r>
          </a:p>
          <a:p>
            <a:pPr eaLnBrk="1" hangingPunct="1">
              <a:defRPr/>
            </a:pP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8109CD-27CF-434C-AB3A-1DEBE46F9127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2163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216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C04ACB-5F8A-42C0-8BCA-ADAB1580EBE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kumimoji="0" lang="en-US" altLang="zh-TW" sz="1400" smtClean="0"/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zh-TW" sz="4800" smtClean="0">
                <a:solidFill>
                  <a:srgbClr val="0000FF"/>
                </a:solidFill>
              </a:rPr>
              <a:t>Transactional Memory (2)</a:t>
            </a:r>
          </a:p>
        </p:txBody>
      </p:sp>
      <p:sp>
        <p:nvSpPr>
          <p:cNvPr id="309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61938" y="1169988"/>
            <a:ext cx="8013700" cy="5181600"/>
          </a:xfrm>
        </p:spPr>
        <p:txBody>
          <a:bodyPr/>
          <a:lstStyle/>
          <a:p>
            <a:pPr eaLnBrk="1" hangingPunct="1"/>
            <a:r>
              <a:rPr lang="en-US" altLang="zh-TW" sz="2800" dirty="0" smtClean="0">
                <a:solidFill>
                  <a:srgbClr val="FF0000"/>
                </a:solidFill>
              </a:rPr>
              <a:t>software TM</a:t>
            </a:r>
            <a:r>
              <a:rPr lang="en-US" altLang="zh-TW" sz="2800" dirty="0" smtClean="0"/>
              <a:t> vs. </a:t>
            </a:r>
            <a:r>
              <a:rPr lang="en-US" altLang="zh-TW" sz="2800" dirty="0" smtClean="0">
                <a:solidFill>
                  <a:srgbClr val="0000FF"/>
                </a:solidFill>
              </a:rPr>
              <a:t>hardware TM</a:t>
            </a:r>
            <a:r>
              <a:rPr lang="en-US" altLang="zh-TW" sz="2800" dirty="0" smtClean="0"/>
              <a:t>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STM</a:t>
            </a:r>
            <a:r>
              <a:rPr lang="en-US" altLang="zh-TW" sz="2400" dirty="0" smtClean="0"/>
              <a:t>: works by inserting </a:t>
            </a:r>
            <a:r>
              <a:rPr lang="en-US" altLang="zh-TW" sz="2400" dirty="0" smtClean="0">
                <a:solidFill>
                  <a:srgbClr val="FF0000"/>
                </a:solidFill>
              </a:rPr>
              <a:t>instrumentation code </a:t>
            </a:r>
            <a:r>
              <a:rPr lang="en-US" altLang="zh-TW" sz="2400" dirty="0" smtClean="0"/>
              <a:t>inside transaction blocks.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>
                <a:solidFill>
                  <a:srgbClr val="9933FF"/>
                </a:solidFill>
              </a:rPr>
              <a:t>Compiler</a:t>
            </a:r>
            <a:r>
              <a:rPr lang="en-US" altLang="zh-TW" sz="2400" dirty="0" smtClean="0"/>
              <a:t>: </a:t>
            </a:r>
            <a:r>
              <a:rPr lang="en-US" altLang="zh-TW" sz="2400" dirty="0" smtClean="0">
                <a:solidFill>
                  <a:srgbClr val="00B050"/>
                </a:solidFill>
              </a:rPr>
              <a:t>insert</a:t>
            </a:r>
            <a:r>
              <a:rPr lang="en-US" altLang="zh-TW" sz="2400" dirty="0" smtClean="0"/>
              <a:t> codes and </a:t>
            </a:r>
            <a:r>
              <a:rPr lang="en-US" altLang="zh-TW" sz="2400" dirty="0" smtClean="0">
                <a:solidFill>
                  <a:srgbClr val="00B050"/>
                </a:solidFill>
              </a:rPr>
              <a:t>manages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7030A0"/>
                </a:solidFill>
              </a:rPr>
              <a:t>where statements may run concurrently</a:t>
            </a:r>
            <a:r>
              <a:rPr lang="en-US" altLang="zh-TW" sz="2400" dirty="0" smtClean="0"/>
              <a:t>, and </a:t>
            </a:r>
            <a:r>
              <a:rPr lang="en-US" altLang="zh-TW" sz="2400" dirty="0" smtClean="0">
                <a:solidFill>
                  <a:srgbClr val="FF9900"/>
                </a:solidFill>
              </a:rPr>
              <a:t>where specific low-level locking is required</a:t>
            </a:r>
            <a:r>
              <a:rPr lang="en-US" altLang="zh-TW" sz="2400" dirty="0" smtClean="0"/>
              <a:t>.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>
                <a:solidFill>
                  <a:srgbClr val="0000FF"/>
                </a:solidFill>
              </a:rPr>
              <a:t>HTM</a:t>
            </a:r>
            <a:r>
              <a:rPr lang="en-US" altLang="zh-TW" sz="2400" dirty="0" smtClean="0"/>
              <a:t>: uses </a:t>
            </a:r>
            <a:r>
              <a:rPr lang="en-US" altLang="zh-TW" sz="2400" dirty="0" smtClean="0">
                <a:solidFill>
                  <a:srgbClr val="0000FF"/>
                </a:solidFill>
              </a:rPr>
              <a:t>hardware cache hierarchies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0000FF"/>
                </a:solidFill>
              </a:rPr>
              <a:t>cache coherency protocol</a:t>
            </a:r>
            <a:r>
              <a:rPr lang="en-US" altLang="zh-TW" sz="2400" dirty="0" smtClean="0"/>
              <a:t> to </a:t>
            </a:r>
            <a:r>
              <a:rPr lang="en-US" altLang="zh-TW" sz="2400" dirty="0" smtClean="0">
                <a:solidFill>
                  <a:srgbClr val="00B050"/>
                </a:solidFill>
              </a:rPr>
              <a:t>manage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00B050"/>
                </a:solidFill>
              </a:rPr>
              <a:t>resolve conflicts </a:t>
            </a:r>
            <a:r>
              <a:rPr lang="en-US" altLang="zh-TW" sz="2400" dirty="0" smtClean="0"/>
              <a:t>involving shared data residing in separate processors</a:t>
            </a:r>
            <a:r>
              <a:rPr lang="en-US" altLang="zh-TW" sz="2400" dirty="0" smtClean="0">
                <a:latin typeface="Times New Roman" pitchFamily="18" charset="0"/>
              </a:rPr>
              <a:t>’</a:t>
            </a:r>
            <a:r>
              <a:rPr lang="en-US" altLang="zh-TW" sz="2400" dirty="0" smtClean="0"/>
              <a:t> caches. </a:t>
            </a:r>
            <a:r>
              <a:rPr lang="en-US" altLang="zh-TW" sz="2400" dirty="0" smtClean="0">
                <a:solidFill>
                  <a:srgbClr val="9933FF"/>
                </a:solidFill>
              </a:rPr>
              <a:t>No special code instrumentation</a:t>
            </a:r>
            <a:r>
              <a:rPr lang="en-US" altLang="zh-TW" sz="2400" dirty="0" smtClean="0"/>
              <a:t>.</a:t>
            </a:r>
          </a:p>
          <a:p>
            <a:pPr eaLnBrk="1" hangingPunct="1"/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07975" y="635000"/>
            <a:ext cx="8507413" cy="5826125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TW" sz="2400" dirty="0" err="1" smtClean="0">
                <a:latin typeface="Adobe Gothic Std B" pitchFamily="34" charset="-128"/>
                <a:ea typeface="Adobe Gothic Std B" pitchFamily="34" charset="-128"/>
              </a:rPr>
              <a:t>OpenMP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provides the compiler directive </a:t>
            </a:r>
            <a:r>
              <a:rPr lang="en-US" altLang="zh-TW" sz="2400" dirty="0" smtClean="0">
                <a:solidFill>
                  <a:srgbClr val="0000FF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#pragma </a:t>
            </a:r>
            <a:r>
              <a:rPr lang="en-US" altLang="zh-TW" sz="2400" dirty="0" err="1" smtClean="0">
                <a:solidFill>
                  <a:srgbClr val="0000FF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omp</a:t>
            </a:r>
            <a:r>
              <a:rPr lang="en-US" altLang="zh-TW" sz="2400" dirty="0" smtClean="0">
                <a:solidFill>
                  <a:srgbClr val="0000FF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critica</a:t>
            </a:r>
            <a:r>
              <a:rPr lang="en-US" altLang="zh-TW" sz="2400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l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, in which only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 one thread may be active at a time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for ensuring that threads do not generate race conditions.</a:t>
            </a:r>
          </a:p>
          <a:p>
            <a:pPr>
              <a:lnSpc>
                <a:spcPct val="80000"/>
              </a:lnSpc>
              <a:buFont typeface="Monotype Sorts"/>
              <a:buNone/>
            </a:pPr>
            <a:r>
              <a:rPr lang="en-US" altLang="zh-TW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</a:p>
          <a:p>
            <a:pPr>
              <a:lnSpc>
                <a:spcPct val="80000"/>
              </a:lnSpc>
              <a:buFont typeface="Monotype Sorts"/>
              <a:buNone/>
            </a:pPr>
            <a:endParaRPr lang="en-US" altLang="zh-TW" b="1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/>
              <a:buNone/>
            </a:pPr>
            <a:endParaRPr lang="en-US" altLang="zh-TW" b="1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/>
              <a:buNone/>
            </a:pPr>
            <a:endParaRPr lang="en-US" altLang="zh-TW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Font typeface="Wingdings" pitchFamily="2" charset="2"/>
              <a:buChar char="n"/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The critical-section compiler directive behaves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much like a binary semaphore or </a:t>
            </a:r>
            <a:r>
              <a:rPr lang="en-US" altLang="zh-TW" sz="24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lock,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ensuring that only one thread at a time is active in the critical section.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Char char="n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Disadvantages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: (1)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application developers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must still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identify possible race conditions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and adequately protect shared data using the compiler directive.</a:t>
            </a:r>
          </a:p>
          <a:p>
            <a:pPr marL="400050" lvl="1" indent="0"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(2)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deadlock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is still possible when two or more critical sections are identified.</a:t>
            </a:r>
          </a:p>
          <a:p>
            <a:pPr>
              <a:lnSpc>
                <a:spcPct val="80000"/>
              </a:lnSpc>
              <a:buFont typeface="Monotype Sorts"/>
              <a:buNone/>
            </a:pP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427038" y="95250"/>
            <a:ext cx="79168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OpenMP</a:t>
            </a:r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2179638"/>
            <a:ext cx="36830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288" y="1517650"/>
            <a:ext cx="3762375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B9854D-791E-4B7C-86D0-EA79EDFE58E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523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524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4FA1487-2C3B-4881-97CC-A89F2E6E65E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kumimoji="0" lang="en-US" altLang="zh-TW" sz="1400" smtClean="0"/>
          </a:p>
        </p:txBody>
      </p:sp>
      <p:sp>
        <p:nvSpPr>
          <p:cNvPr id="2" name="矩形 1"/>
          <p:cNvSpPr/>
          <p:nvPr/>
        </p:nvSpPr>
        <p:spPr bwMode="auto">
          <a:xfrm>
            <a:off x="5197189" y="2065106"/>
            <a:ext cx="3278474" cy="4572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538" y="725488"/>
            <a:ext cx="8629650" cy="5942012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zh-TW" sz="2800" smtClean="0"/>
              <a:t>Procedural (Imperative) languages are used for implementing algorithms that are </a:t>
            </a:r>
            <a:r>
              <a:rPr lang="en-US" altLang="zh-TW" sz="2800" smtClean="0">
                <a:solidFill>
                  <a:srgbClr val="0000FF"/>
                </a:solidFill>
              </a:rPr>
              <a:t>state-based (variables and other data structures)</a:t>
            </a:r>
            <a:r>
              <a:rPr lang="en-US" altLang="zh-TW" sz="2800" smtClean="0"/>
              <a:t>.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zh-TW" sz="2800" smtClean="0">
                <a:solidFill>
                  <a:srgbClr val="FF0000"/>
                </a:solidFill>
              </a:rPr>
              <a:t>program state is mutable, as variables may be assigned different values over time.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zh-TW" sz="2800" smtClean="0">
                <a:solidFill>
                  <a:srgbClr val="0000FF"/>
                </a:solidFill>
              </a:rPr>
              <a:t>Functional programming languages </a:t>
            </a:r>
            <a:r>
              <a:rPr lang="en-US" altLang="zh-TW" sz="2800" smtClean="0"/>
              <a:t>offer a different paradigm than procedural languages in that they </a:t>
            </a:r>
            <a:r>
              <a:rPr lang="en-US" altLang="zh-TW" sz="2800" smtClean="0">
                <a:solidFill>
                  <a:srgbClr val="FF0000"/>
                </a:solidFill>
              </a:rPr>
              <a:t>do not maintain state</a:t>
            </a:r>
            <a:r>
              <a:rPr lang="en-US" altLang="zh-TW" sz="2800" smtClean="0"/>
              <a:t>. </a:t>
            </a:r>
          </a:p>
          <a:p>
            <a:pPr lvl="1">
              <a:spcBef>
                <a:spcPct val="0"/>
              </a:spcBef>
              <a:spcAft>
                <a:spcPts val="600"/>
              </a:spcAft>
            </a:pPr>
            <a:r>
              <a:rPr lang="en-US" altLang="zh-TW" sz="2400" smtClean="0"/>
              <a:t>That is, once a variable has been defined and assigned a value, its value is </a:t>
            </a:r>
            <a:r>
              <a:rPr lang="en-US" altLang="zh-TW" sz="2400" smtClean="0">
                <a:solidFill>
                  <a:srgbClr val="FF0000"/>
                </a:solidFill>
              </a:rPr>
              <a:t>immutable</a:t>
            </a:r>
            <a:r>
              <a:rPr lang="en-US" altLang="zh-TW" sz="2400" smtClean="0"/>
              <a:t>—it cannot change. They need not be concerned with issues such as race conditions and deadlocks.</a:t>
            </a:r>
          </a:p>
        </p:txBody>
      </p:sp>
      <p:sp>
        <p:nvSpPr>
          <p:cNvPr id="96259" name="Rectangle 2"/>
          <p:cNvSpPr>
            <a:spLocks noChangeArrowheads="1"/>
          </p:cNvSpPr>
          <p:nvPr/>
        </p:nvSpPr>
        <p:spPr bwMode="auto">
          <a:xfrm>
            <a:off x="244475" y="0"/>
            <a:ext cx="82137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Functional Programming Languages</a:t>
            </a:r>
          </a:p>
        </p:txBody>
      </p:sp>
      <p:sp>
        <p:nvSpPr>
          <p:cNvPr id="9626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425FD31-FC6D-49FE-BC61-12EF208BCA45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626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626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08E5F5C-4837-4765-8FEF-65A931412AE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538" y="725488"/>
            <a:ext cx="8629650" cy="5942012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altLang="zh-TW" sz="2800" dirty="0" smtClean="0">
                <a:solidFill>
                  <a:srgbClr val="0000FF"/>
                </a:solidFill>
              </a:rPr>
              <a:t>Essentially, most of the problems addressed in this chapter are nonexistent in </a:t>
            </a:r>
            <a:r>
              <a:rPr lang="en-US" altLang="zh-TW" sz="2800" dirty="0" smtClean="0">
                <a:solidFill>
                  <a:srgbClr val="FF0000"/>
                </a:solidFill>
              </a:rPr>
              <a:t>functional languages</a:t>
            </a:r>
            <a:r>
              <a:rPr lang="en-US" altLang="zh-TW" sz="2800" dirty="0" smtClean="0">
                <a:solidFill>
                  <a:srgbClr val="0000FF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altLang="zh-TW" sz="2800" dirty="0" smtClean="0"/>
              <a:t>Functional languages, such as 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Erlang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/>
              <a:t>and </a:t>
            </a:r>
            <a:r>
              <a:rPr lang="en-US" altLang="zh-TW" sz="2800" dirty="0" smtClean="0">
                <a:solidFill>
                  <a:srgbClr val="FF0000"/>
                </a:solidFill>
              </a:rPr>
              <a:t>Scala</a:t>
            </a:r>
            <a:r>
              <a:rPr lang="en-US" altLang="zh-TW" sz="2800" dirty="0" smtClean="0"/>
              <a:t> has gained significant attention because of its support for </a:t>
            </a:r>
            <a:r>
              <a:rPr lang="en-US" altLang="zh-TW" sz="2800" dirty="0" smtClean="0">
                <a:solidFill>
                  <a:srgbClr val="FF0000"/>
                </a:solidFill>
              </a:rPr>
              <a:t>concurrency</a:t>
            </a:r>
            <a:r>
              <a:rPr lang="en-US" altLang="zh-TW" sz="2800" dirty="0" smtClean="0"/>
              <a:t> and the </a:t>
            </a:r>
            <a:r>
              <a:rPr lang="en-US" altLang="zh-TW" sz="2800" dirty="0" smtClean="0">
                <a:solidFill>
                  <a:srgbClr val="FF0000"/>
                </a:solidFill>
              </a:rPr>
              <a:t>ease</a:t>
            </a:r>
            <a:r>
              <a:rPr lang="en-US" altLang="zh-TW" sz="2800" dirty="0" smtClean="0"/>
              <a:t> with which it can be used to develop applications that run on parallel systems.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altLang="zh-TW" sz="2800" dirty="0" smtClean="0">
                <a:solidFill>
                  <a:srgbClr val="FF0000"/>
                </a:solidFill>
              </a:rPr>
              <a:t>Scala</a:t>
            </a:r>
            <a:r>
              <a:rPr lang="en-US" altLang="zh-TW" sz="2800" dirty="0" smtClean="0"/>
              <a:t> is also </a:t>
            </a:r>
            <a:r>
              <a:rPr lang="en-US" altLang="zh-TW" sz="2800" dirty="0" smtClean="0">
                <a:solidFill>
                  <a:srgbClr val="FF0000"/>
                </a:solidFill>
              </a:rPr>
              <a:t>object-oriented</a:t>
            </a:r>
            <a:r>
              <a:rPr lang="en-US" altLang="zh-TW" sz="2800" dirty="0" smtClean="0"/>
              <a:t>. In fact, much of the syntax of Scala is similar to the popular object-oriented languages Java and C#.</a:t>
            </a:r>
          </a:p>
          <a:p>
            <a:pPr>
              <a:lnSpc>
                <a:spcPct val="80000"/>
              </a:lnSpc>
              <a:buFont typeface="Monotype Sorts"/>
              <a:buNone/>
            </a:pPr>
            <a:endParaRPr lang="en-US" altLang="zh-TW" b="1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/>
              <a:buNone/>
            </a:pPr>
            <a:r>
              <a:rPr lang="en-US" altLang="zh-TW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7283" name="Rectangle 2"/>
          <p:cNvSpPr>
            <a:spLocks noChangeArrowheads="1"/>
          </p:cNvSpPr>
          <p:nvPr/>
        </p:nvSpPr>
        <p:spPr bwMode="auto">
          <a:xfrm>
            <a:off x="244475" y="0"/>
            <a:ext cx="82137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Functional Programming Languages</a:t>
            </a:r>
          </a:p>
        </p:txBody>
      </p:sp>
      <p:sp>
        <p:nvSpPr>
          <p:cNvPr id="9728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CAFAA1-1A8E-49C6-A2AB-54B3170F2D7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728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728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180EF7-1073-4297-B6E4-C91C6F1F400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D207CD8-1D72-41DD-92D7-7DBDAB3B8B3B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83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83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AE3D07-8752-42C4-A22C-D769246A7C5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kumimoji="0" lang="en-US" altLang="zh-TW" sz="1400" smtClean="0"/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0" y="285750"/>
            <a:ext cx="8108950" cy="1328738"/>
          </a:xfrm>
        </p:spPr>
        <p:txBody>
          <a:bodyPr/>
          <a:lstStyle/>
          <a:p>
            <a:pPr eaLnBrk="1" hangingPunct="1"/>
            <a:r>
              <a:rPr lang="en-US" altLang="zh-TW" smtClean="0"/>
              <a:t>Serializability  and Concurrency-control Algorithms</a:t>
            </a:r>
          </a:p>
        </p:txBody>
      </p:sp>
      <p:sp>
        <p:nvSpPr>
          <p:cNvPr id="162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4188" y="2055813"/>
            <a:ext cx="8258175" cy="3816350"/>
          </a:xfrm>
        </p:spPr>
        <p:txBody>
          <a:bodyPr/>
          <a:lstStyle/>
          <a:p>
            <a:pPr eaLnBrk="1" hangingPunct="1">
              <a:spcBef>
                <a:spcPct val="80000"/>
              </a:spcBef>
              <a:defRPr/>
            </a:pPr>
            <a:r>
              <a:rPr lang="en-US" altLang="zh-TW" smtClean="0">
                <a:solidFill>
                  <a:srgbClr val="0000FF"/>
                </a:solidFill>
              </a:rPr>
              <a:t>Serializability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smtClean="0">
                <a:solidFill>
                  <a:srgbClr val="FF0000"/>
                </a:solidFill>
              </a:rPr>
              <a:t>Locking protocol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altLang="zh-TW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</a:t>
            </a:r>
          </a:p>
          <a:p>
            <a:pPr eaLnBrk="1" hangingPunct="1">
              <a:defRPr/>
            </a:pPr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E978BF-D554-41E9-AB64-EE76A3786EE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909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909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91E469A-EA34-49C3-9761-078757C51D3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kumimoji="0" lang="en-US" altLang="zh-TW" sz="1400" smtClean="0"/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zh-TW" smtClean="0"/>
              <a:t>System Model</a:t>
            </a:r>
          </a:p>
        </p:txBody>
      </p:sp>
      <p:sp>
        <p:nvSpPr>
          <p:cNvPr id="301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544513" y="777875"/>
            <a:ext cx="8128000" cy="5243513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atomically executed</a:t>
            </a:r>
            <a:r>
              <a:rPr lang="en-US" altLang="zh-TW" smtClean="0"/>
              <a:t>: operations happen as a single logical unit of work, in its entirely, or not at all.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If two critical sections are instead executed concurrently, the result is </a:t>
            </a:r>
            <a:r>
              <a:rPr lang="en-US" altLang="zh-TW" smtClean="0">
                <a:solidFill>
                  <a:srgbClr val="0000FF"/>
                </a:solidFill>
              </a:rPr>
              <a:t>equivalent to their sequential execution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FF0000"/>
                </a:solidFill>
              </a:rPr>
              <a:t>in some unknown order</a:t>
            </a:r>
            <a:r>
              <a:rPr lang="en-US" altLang="zh-TW" smtClean="0"/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Using database-systems techniques in operating systems.</a:t>
            </a:r>
            <a:endParaRPr lang="en-US" altLang="zh-TW" sz="2800" smtClean="0"/>
          </a:p>
        </p:txBody>
      </p:sp>
    </p:spTree>
    <p:extLst>
      <p:ext uri="{BB962C8B-B14F-4D97-AF65-F5344CB8AC3E}">
        <p14:creationId xmlns:p14="http://schemas.microsoft.com/office/powerpoint/2010/main" val="17998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868BFA-2E9B-44DC-BC71-11785E321BE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011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011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6B398D-6F94-4881-9E78-1AE2E0D1CDA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kumimoji="0" lang="en-US" altLang="zh-TW" sz="1400" smtClean="0"/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8126413" cy="668338"/>
          </a:xfrm>
        </p:spPr>
        <p:txBody>
          <a:bodyPr/>
          <a:lstStyle/>
          <a:p>
            <a:pPr eaLnBrk="1" hangingPunct="1"/>
            <a:r>
              <a:rPr lang="en-US" altLang="zh-TW" sz="4800" smtClean="0"/>
              <a:t>Transactions</a:t>
            </a:r>
          </a:p>
        </p:txBody>
      </p:sp>
      <p:sp>
        <p:nvSpPr>
          <p:cNvPr id="303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84150" y="860425"/>
            <a:ext cx="8666163" cy="5184775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3366FF"/>
                </a:solidFill>
              </a:rPr>
              <a:t>Transaction </a:t>
            </a:r>
            <a:r>
              <a:rPr lang="en-US" altLang="zh-TW" smtClean="0"/>
              <a:t>- collection of instructions or operations that performs single logical function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mtClean="0"/>
              <a:t>Transaction is a series of </a:t>
            </a:r>
            <a:r>
              <a:rPr lang="en-US" altLang="zh-TW" smtClean="0">
                <a:solidFill>
                  <a:srgbClr val="0000FF"/>
                </a:solidFill>
              </a:rPr>
              <a:t>read</a:t>
            </a:r>
            <a:r>
              <a:rPr lang="en-US" altLang="zh-TW" smtClean="0"/>
              <a:t> and </a:t>
            </a:r>
            <a:r>
              <a:rPr lang="en-US" altLang="zh-TW" smtClean="0">
                <a:solidFill>
                  <a:srgbClr val="0000FF"/>
                </a:solidFill>
              </a:rPr>
              <a:t>write</a:t>
            </a:r>
            <a:r>
              <a:rPr lang="en-US" altLang="zh-TW" smtClean="0"/>
              <a:t> operations.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mtClean="0"/>
              <a:t>Terminated by 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commit</a:t>
            </a:r>
            <a:r>
              <a:rPr lang="en-US" altLang="zh-TW" smtClean="0"/>
              <a:t>  (transaction successful) or 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abort</a:t>
            </a:r>
            <a:r>
              <a:rPr lang="en-US" altLang="zh-TW" smtClean="0"/>
              <a:t> (transaction failed) operation.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mtClean="0"/>
              <a:t>Aborted transaction must be </a:t>
            </a:r>
            <a:r>
              <a:rPr lang="en-US" altLang="zh-TW" smtClean="0">
                <a:solidFill>
                  <a:srgbClr val="FF0000"/>
                </a:solidFill>
              </a:rPr>
              <a:t>rolled back</a:t>
            </a:r>
            <a:r>
              <a:rPr lang="en-US" altLang="zh-TW" smtClean="0">
                <a:solidFill>
                  <a:srgbClr val="3366FF"/>
                </a:solidFill>
              </a:rPr>
              <a:t> </a:t>
            </a:r>
            <a:r>
              <a:rPr lang="en-US" altLang="zh-TW" smtClean="0"/>
              <a:t>to undo any changes it performed.</a:t>
            </a:r>
          </a:p>
        </p:txBody>
      </p:sp>
    </p:spTree>
    <p:extLst>
      <p:ext uri="{BB962C8B-B14F-4D97-AF65-F5344CB8AC3E}">
        <p14:creationId xmlns:p14="http://schemas.microsoft.com/office/powerpoint/2010/main" val="154700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E47CFA4-8715-4AA7-85A4-EC5111D7EC8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318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318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E909B1-DA9E-412A-8C04-B42A7A08C10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kumimoji="0" lang="en-US" altLang="zh-TW" sz="1400" smtClean="0"/>
          </a:p>
        </p:txBody>
      </p:sp>
      <p:sp>
        <p:nvSpPr>
          <p:cNvPr id="931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772400" cy="817563"/>
          </a:xfrm>
        </p:spPr>
        <p:txBody>
          <a:bodyPr/>
          <a:lstStyle/>
          <a:p>
            <a:pPr eaLnBrk="1" hangingPunct="1"/>
            <a:r>
              <a:rPr lang="en-US" altLang="zh-TW" smtClean="0"/>
              <a:t>Types of Storage Media</a:t>
            </a:r>
          </a:p>
        </p:txBody>
      </p:sp>
      <p:sp>
        <p:nvSpPr>
          <p:cNvPr id="292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449263" y="1187450"/>
            <a:ext cx="8415337" cy="5173663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Volatile storage </a:t>
            </a:r>
            <a:r>
              <a:rPr lang="en-US" altLang="zh-TW" smtClean="0">
                <a:latin typeface="Times New Roman" pitchFamily="18" charset="0"/>
              </a:rPr>
              <a:t>–</a:t>
            </a:r>
            <a:r>
              <a:rPr lang="en-US" altLang="zh-TW" smtClean="0"/>
              <a:t> information stored here does not survive system crashes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Nonvolatile storage </a:t>
            </a:r>
            <a:r>
              <a:rPr lang="en-US" altLang="zh-TW" smtClean="0">
                <a:latin typeface="Times New Roman" pitchFamily="18" charset="0"/>
              </a:rPr>
              <a:t>–</a:t>
            </a:r>
            <a:r>
              <a:rPr lang="en-US" altLang="zh-TW" smtClean="0"/>
              <a:t> Information usually survives crashes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Stable storage</a:t>
            </a:r>
            <a:r>
              <a:rPr lang="en-US" altLang="zh-TW" smtClean="0"/>
              <a:t> </a:t>
            </a:r>
            <a:r>
              <a:rPr lang="en-US" altLang="zh-TW" smtClean="0">
                <a:latin typeface="Times New Roman" pitchFamily="18" charset="0"/>
              </a:rPr>
              <a:t>–</a:t>
            </a:r>
            <a:r>
              <a:rPr lang="en-US" altLang="zh-TW" smtClean="0"/>
              <a:t> Information never lost</a:t>
            </a:r>
          </a:p>
          <a:p>
            <a:pPr lvl="1" eaLnBrk="1" hangingPunct="1"/>
            <a:r>
              <a:rPr lang="en-US" altLang="zh-TW" smtClean="0"/>
              <a:t>Not actually possible, so approximated via replication or RAID to devices with independent failure modes</a:t>
            </a:r>
          </a:p>
        </p:txBody>
      </p:sp>
    </p:spTree>
    <p:extLst>
      <p:ext uri="{BB962C8B-B14F-4D97-AF65-F5344CB8AC3E}">
        <p14:creationId xmlns:p14="http://schemas.microsoft.com/office/powerpoint/2010/main" val="237292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BC56D7-4828-4960-B4DB-83204F7B9BF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421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421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9F4D3D4-EADD-4F8A-A7FB-192B9B7367B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kumimoji="0" lang="en-US" altLang="zh-TW" sz="1400" smtClean="0"/>
          </a:p>
        </p:txBody>
      </p:sp>
      <p:sp>
        <p:nvSpPr>
          <p:cNvPr id="942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69863"/>
            <a:ext cx="7772400" cy="744537"/>
          </a:xfrm>
        </p:spPr>
        <p:txBody>
          <a:bodyPr/>
          <a:lstStyle/>
          <a:p>
            <a:pPr eaLnBrk="1" hangingPunct="1"/>
            <a:r>
              <a:rPr lang="en-US" altLang="zh-TW" smtClean="0"/>
              <a:t>Log-Based Recovery</a:t>
            </a:r>
          </a:p>
        </p:txBody>
      </p:sp>
      <p:sp>
        <p:nvSpPr>
          <p:cNvPr id="294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322263" y="955675"/>
            <a:ext cx="8694737" cy="5749925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Record to </a:t>
            </a:r>
            <a:r>
              <a:rPr lang="en-US" altLang="zh-TW" sz="2800" smtClean="0">
                <a:solidFill>
                  <a:srgbClr val="0000FF"/>
                </a:solidFill>
              </a:rPr>
              <a:t>stable storage</a:t>
            </a:r>
            <a:r>
              <a:rPr lang="en-US" altLang="zh-TW" sz="2800" smtClean="0"/>
              <a:t> information about all modifications by a transaction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Most common is </a:t>
            </a:r>
            <a:r>
              <a:rPr lang="en-US" altLang="zh-TW" sz="2800" smtClean="0">
                <a:solidFill>
                  <a:srgbClr val="FF0000"/>
                </a:solidFill>
              </a:rPr>
              <a:t>write-ahead logging</a:t>
            </a:r>
          </a:p>
          <a:p>
            <a:pPr lvl="1" eaLnBrk="1" hangingPunct="1"/>
            <a:r>
              <a:rPr lang="en-US" altLang="zh-TW" sz="2400" smtClean="0"/>
              <a:t>Log on stable storage, each log record describes single transaction write operation, including transaction name, data item name, old value, new value.</a:t>
            </a:r>
          </a:p>
          <a:p>
            <a:pPr lvl="1" eaLnBrk="1" hangingPunct="1"/>
            <a:r>
              <a:rPr lang="en-US" altLang="zh-TW" sz="2400" smtClean="0">
                <a:solidFill>
                  <a:srgbClr val="0000FF"/>
                </a:solidFill>
              </a:rPr>
              <a:t>&lt;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rgbClr val="0000FF"/>
                </a:solidFill>
              </a:rPr>
              <a:t> starts&gt;</a:t>
            </a:r>
            <a:r>
              <a:rPr lang="en-US" altLang="zh-TW" sz="2400" smtClean="0"/>
              <a:t> written to log when transaction </a:t>
            </a:r>
            <a:r>
              <a:rPr lang="en-US" altLang="zh-TW" sz="2400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rgbClr val="0000FF"/>
                </a:solidFill>
              </a:rPr>
              <a:t> starts</a:t>
            </a:r>
          </a:p>
          <a:p>
            <a:pPr lvl="1" eaLnBrk="1" hangingPunct="1"/>
            <a:r>
              <a:rPr lang="en-US" altLang="zh-TW" sz="2400" smtClean="0"/>
              <a:t>&lt;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baseline="-25000" smtClean="0">
                <a:solidFill>
                  <a:srgbClr val="FF0000"/>
                </a:solidFill>
              </a:rPr>
              <a:t> </a:t>
            </a:r>
            <a:r>
              <a:rPr lang="en-US" altLang="zh-TW" sz="2400" smtClean="0">
                <a:solidFill>
                  <a:srgbClr val="FF0000"/>
                </a:solidFill>
              </a:rPr>
              <a:t>commits</a:t>
            </a:r>
            <a:r>
              <a:rPr lang="en-US" altLang="zh-TW" sz="2400" smtClean="0"/>
              <a:t>&gt; written when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rgbClr val="FF0000"/>
                </a:solidFill>
              </a:rPr>
              <a:t> commits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</a:rPr>
              <a:t>Log entry must reach stable storage before operation on data occurs</a:t>
            </a:r>
          </a:p>
        </p:txBody>
      </p:sp>
    </p:spTree>
    <p:extLst>
      <p:ext uri="{BB962C8B-B14F-4D97-AF65-F5344CB8AC3E}">
        <p14:creationId xmlns:p14="http://schemas.microsoft.com/office/powerpoint/2010/main" val="255493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版面配置區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E1BA09-064A-4EBE-8B6B-848D5ACCAA9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99331" name="頁尾版面配置區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99332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E51C1C-0256-43F9-99F0-118D92966AF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kumimoji="0" lang="en-US" altLang="zh-TW" sz="1400" smtClean="0"/>
          </a:p>
        </p:txBody>
      </p:sp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6775"/>
          </a:xfrm>
        </p:spPr>
        <p:txBody>
          <a:bodyPr/>
          <a:lstStyle/>
          <a:p>
            <a:pPr eaLnBrk="1" hangingPunct="1"/>
            <a:r>
              <a:rPr lang="en-US" altLang="zh-TW" smtClean="0"/>
              <a:t>Serializability (1)</a:t>
            </a:r>
            <a:endParaRPr lang="zh-TW" altLang="en-US" smtClean="0"/>
          </a:p>
        </p:txBody>
      </p:sp>
      <p:sp>
        <p:nvSpPr>
          <p:cNvPr id="165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95313" y="1179513"/>
            <a:ext cx="3941762" cy="4857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serial schedule</a:t>
            </a:r>
            <a:r>
              <a:rPr lang="en-US" altLang="zh-TW" dirty="0" smtClean="0"/>
              <a:t>: A schedule where each transaction is executed </a:t>
            </a:r>
            <a:r>
              <a:rPr lang="en-US" altLang="zh-TW" dirty="0" smtClean="0">
                <a:solidFill>
                  <a:srgbClr val="0000FF"/>
                </a:solidFill>
              </a:rPr>
              <a:t>atomically</a:t>
            </a:r>
            <a:r>
              <a:rPr lang="en-US" altLang="zh-TW" dirty="0" smtClean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	</a:t>
            </a:r>
            <a:r>
              <a:rPr lang="en-US" altLang="zh-TW" sz="2400" dirty="0" smtClean="0">
                <a:latin typeface="Times New Roman" pitchFamily="18" charset="0"/>
              </a:rPr>
              <a:t>	Schedule 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TW" altLang="en-US" sz="2400" dirty="0" smtClean="0"/>
              <a:t>		</a:t>
            </a:r>
            <a:r>
              <a:rPr lang="en-US" altLang="zh-TW" sz="2400" dirty="0" smtClean="0"/>
              <a:t>T</a:t>
            </a:r>
            <a:r>
              <a:rPr lang="en-US" altLang="zh-TW" sz="2400" baseline="-25000" dirty="0" smtClean="0"/>
              <a:t>0</a:t>
            </a:r>
            <a:r>
              <a:rPr lang="en-US" altLang="zh-TW" sz="2400" dirty="0" smtClean="0"/>
              <a:t>	T</a:t>
            </a:r>
            <a:r>
              <a:rPr lang="en-US" altLang="zh-TW" sz="2400" baseline="-25000" dirty="0" smtClean="0"/>
              <a:t>1</a:t>
            </a: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read(A)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write(A)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read(B)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write(B)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		read(A)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		write(A)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		read(B)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1800" dirty="0" smtClean="0"/>
              <a:t>			write(B)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1800" dirty="0" smtClean="0"/>
          </a:p>
        </p:txBody>
      </p:sp>
      <p:sp>
        <p:nvSpPr>
          <p:cNvPr id="165892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389438" y="1141413"/>
            <a:ext cx="4370387" cy="48609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nonserial schedule</a:t>
            </a:r>
            <a:r>
              <a:rPr lang="en-US" altLang="zh-TW" sz="2400" smtClean="0">
                <a:solidFill>
                  <a:srgbClr val="FF0000"/>
                </a:solidFill>
              </a:rPr>
              <a:t>: </a:t>
            </a:r>
            <a:r>
              <a:rPr lang="en-US" altLang="zh-TW" sz="2400" smtClean="0"/>
              <a:t>allow two transactions to </a:t>
            </a:r>
            <a:r>
              <a:rPr lang="en-US" altLang="zh-TW" sz="2400" smtClean="0">
                <a:solidFill>
                  <a:srgbClr val="0000FF"/>
                </a:solidFill>
              </a:rPr>
              <a:t>overlap</a:t>
            </a:r>
            <a:r>
              <a:rPr lang="en-US" altLang="zh-TW" sz="2400" smtClean="0"/>
              <a:t> their execution.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latin typeface="Times New Roman" pitchFamily="18" charset="0"/>
              </a:rPr>
              <a:t>			Schedule B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TW" altLang="en-US" sz="2400" smtClean="0"/>
              <a:t>		</a:t>
            </a:r>
            <a:r>
              <a:rPr lang="zh-TW" altLang="en-US" sz="2000" smtClean="0"/>
              <a:t>	</a:t>
            </a:r>
            <a:r>
              <a:rPr lang="en-US" altLang="zh-TW" sz="2000" smtClean="0"/>
              <a:t>T</a:t>
            </a:r>
            <a:r>
              <a:rPr lang="en-US" altLang="zh-TW" sz="2000" baseline="-25000" smtClean="0"/>
              <a:t>0</a:t>
            </a:r>
            <a:r>
              <a:rPr lang="en-US" altLang="zh-TW" sz="2000" smtClean="0"/>
              <a:t>	T</a:t>
            </a:r>
            <a:r>
              <a:rPr lang="en-US" altLang="zh-TW" sz="2000" baseline="-25000" smtClean="0"/>
              <a:t>1</a:t>
            </a:r>
            <a:endParaRPr lang="en-US" altLang="zh-TW" sz="200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/>
              <a:t>		</a:t>
            </a:r>
            <a:r>
              <a:rPr lang="en-US" altLang="zh-TW" sz="1800" smtClean="0">
                <a:solidFill>
                  <a:srgbClr val="0000FF"/>
                </a:solidFill>
              </a:rPr>
              <a:t>read(A)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>
                <a:solidFill>
                  <a:srgbClr val="0000FF"/>
                </a:solidFill>
              </a:rPr>
              <a:t>		write(A)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/>
              <a:t>			</a:t>
            </a:r>
            <a:r>
              <a:rPr lang="en-US" altLang="zh-TW" sz="1800" smtClean="0">
                <a:solidFill>
                  <a:srgbClr val="009900"/>
                </a:solidFill>
              </a:rPr>
              <a:t>	</a:t>
            </a:r>
            <a:r>
              <a:rPr lang="en-US" altLang="zh-TW" sz="1800" smtClean="0">
                <a:solidFill>
                  <a:srgbClr val="0000FF"/>
                </a:solidFill>
              </a:rPr>
              <a:t>read(A)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>
                <a:solidFill>
                  <a:srgbClr val="0000FF"/>
                </a:solidFill>
              </a:rPr>
              <a:t>				write(A)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/>
              <a:t>	</a:t>
            </a:r>
            <a:r>
              <a:rPr lang="en-US" altLang="zh-TW" sz="1800" smtClean="0">
                <a:solidFill>
                  <a:srgbClr val="009900"/>
                </a:solidFill>
              </a:rPr>
              <a:t>	read(B)</a:t>
            </a:r>
            <a:r>
              <a:rPr lang="en-US" altLang="zh-TW" sz="1800" smtClean="0"/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/>
              <a:t>	</a:t>
            </a:r>
            <a:r>
              <a:rPr lang="en-US" altLang="zh-TW" sz="1800" smtClean="0">
                <a:solidFill>
                  <a:srgbClr val="009900"/>
                </a:solidFill>
              </a:rPr>
              <a:t>	write(B)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/>
              <a:t>				</a:t>
            </a:r>
            <a:r>
              <a:rPr lang="en-US" altLang="zh-TW" sz="1800" smtClean="0">
                <a:solidFill>
                  <a:srgbClr val="009900"/>
                </a:solidFill>
              </a:rPr>
              <a:t>read(B)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1800" smtClean="0">
                <a:solidFill>
                  <a:srgbClr val="009900"/>
                </a:solidFill>
              </a:rPr>
              <a:t>				write(B)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TW" sz="1800" smtClean="0">
              <a:solidFill>
                <a:srgbClr val="009900"/>
              </a:solidFill>
            </a:endParaRPr>
          </a:p>
          <a:p>
            <a:pPr eaLnBrk="1" hangingPunct="1">
              <a:defRPr/>
            </a:pPr>
            <a:endParaRPr lang="zh-TW" altLang="en-US" sz="2400" smtClean="0"/>
          </a:p>
        </p:txBody>
      </p:sp>
      <p:sp>
        <p:nvSpPr>
          <p:cNvPr id="99336" name="Line 5"/>
          <p:cNvSpPr>
            <a:spLocks noChangeShapeType="1"/>
          </p:cNvSpPr>
          <p:nvPr/>
        </p:nvSpPr>
        <p:spPr bwMode="auto">
          <a:xfrm>
            <a:off x="2203450" y="3370263"/>
            <a:ext cx="0" cy="279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37" name="Line 6"/>
          <p:cNvSpPr>
            <a:spLocks noChangeShapeType="1"/>
          </p:cNvSpPr>
          <p:nvPr/>
        </p:nvSpPr>
        <p:spPr bwMode="auto">
          <a:xfrm flipV="1">
            <a:off x="801688" y="3662363"/>
            <a:ext cx="2855912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38" name="Line 7"/>
          <p:cNvSpPr>
            <a:spLocks noChangeShapeType="1"/>
          </p:cNvSpPr>
          <p:nvPr/>
        </p:nvSpPr>
        <p:spPr bwMode="auto">
          <a:xfrm>
            <a:off x="5397500" y="3221038"/>
            <a:ext cx="2798763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9339" name="Line 8"/>
          <p:cNvSpPr>
            <a:spLocks noChangeShapeType="1"/>
          </p:cNvSpPr>
          <p:nvPr/>
        </p:nvSpPr>
        <p:spPr bwMode="auto">
          <a:xfrm>
            <a:off x="6910388" y="2719388"/>
            <a:ext cx="1587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5297488" y="4548188"/>
            <a:ext cx="958850" cy="638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7112000" y="3894138"/>
            <a:ext cx="942975" cy="625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65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5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5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5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5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5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5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5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5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5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5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5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5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5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5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658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58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7" grpId="0" animBg="1"/>
      <p:bldP spid="165898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D8078F1-2D8E-454C-BF9F-38AB484BF06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03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03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1BF901-C07A-4A89-8FFF-E70D1DC7A53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kumimoji="0" lang="en-US" altLang="zh-TW" sz="1400" smtClean="0"/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title"/>
          </p:nvPr>
        </p:nvSpPr>
        <p:spPr>
          <a:xfrm>
            <a:off x="312738" y="341313"/>
            <a:ext cx="8108950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Serializability (2)</a:t>
            </a:r>
          </a:p>
        </p:txBody>
      </p:sp>
      <p:sp>
        <p:nvSpPr>
          <p:cNvPr id="163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2088" y="1068388"/>
            <a:ext cx="8734425" cy="5521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400" i="1" smtClean="0"/>
              <a:t>O</a:t>
            </a:r>
            <a:r>
              <a:rPr lang="en-US" altLang="zh-TW" sz="2400" i="1" baseline="-25000" smtClean="0"/>
              <a:t>i</a:t>
            </a:r>
            <a:r>
              <a:rPr lang="en-US" altLang="zh-TW" sz="2400" baseline="-25000" smtClean="0"/>
              <a:t>  </a:t>
            </a:r>
            <a:r>
              <a:rPr lang="en-US" altLang="zh-TW" sz="2400" smtClean="0"/>
              <a:t>and </a:t>
            </a:r>
            <a:r>
              <a:rPr lang="en-US" altLang="zh-TW" sz="2400" i="1" smtClean="0"/>
              <a:t>O</a:t>
            </a:r>
            <a:r>
              <a:rPr lang="en-US" altLang="zh-TW" sz="2400" i="1" baseline="-25000" smtClean="0"/>
              <a:t>j  </a:t>
            </a:r>
            <a:r>
              <a:rPr lang="en-US" altLang="zh-TW" sz="2400" b="1" smtClean="0">
                <a:solidFill>
                  <a:srgbClr val="FF0000"/>
                </a:solidFill>
              </a:rPr>
              <a:t>conflict</a:t>
            </a:r>
            <a:r>
              <a:rPr lang="en-US" altLang="zh-TW" sz="2400" smtClean="0"/>
              <a:t> if they access the same data item and at least </a:t>
            </a:r>
            <a:r>
              <a:rPr lang="en-US" altLang="zh-TW" sz="2400" smtClean="0">
                <a:solidFill>
                  <a:srgbClr val="FF0000"/>
                </a:solidFill>
              </a:rPr>
              <a:t>one of them is a</a:t>
            </a:r>
            <a:r>
              <a:rPr lang="en-US" altLang="zh-TW" sz="2400" smtClean="0"/>
              <a:t> </a:t>
            </a:r>
            <a:r>
              <a:rPr lang="en-US" altLang="zh-TW" sz="2400" b="1" smtClean="0">
                <a:solidFill>
                  <a:srgbClr val="FF0000"/>
                </a:solidFill>
                <a:latin typeface="Times New Roman" pitchFamily="18" charset="0"/>
              </a:rPr>
              <a:t>write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/>
              <a:t>Conflict serializable: </a:t>
            </a:r>
            <a:r>
              <a:rPr lang="en-US" altLang="zh-TW" sz="2400" smtClean="0">
                <a:solidFill>
                  <a:srgbClr val="FF0000"/>
                </a:solidFill>
              </a:rPr>
              <a:t>A schedule S can be transformed into a serial schedule S</a:t>
            </a:r>
            <a:r>
              <a:rPr lang="en-US" altLang="zh-TW" sz="2400" smtClean="0">
                <a:solidFill>
                  <a:srgbClr val="FF0000"/>
                </a:solidFill>
                <a:sym typeface="Symbol" pitchFamily="18" charset="2"/>
              </a:rPr>
              <a:t> by a series of swaps of </a:t>
            </a:r>
            <a:r>
              <a:rPr lang="en-US" altLang="zh-TW" sz="2400" smtClean="0">
                <a:solidFill>
                  <a:srgbClr val="000000"/>
                </a:solidFill>
                <a:sym typeface="Symbol" pitchFamily="18" charset="2"/>
              </a:rPr>
              <a:t>nonconflicting operations</a:t>
            </a:r>
            <a:r>
              <a:rPr lang="en-US" altLang="zh-TW" sz="2400" smtClean="0">
                <a:sym typeface="Symbol" pitchFamily="18" charset="2"/>
              </a:rPr>
              <a:t>.</a:t>
            </a:r>
            <a:endParaRPr lang="en-US" altLang="zh-TW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/>
              <a:t>Schedule B </a:t>
            </a:r>
            <a:r>
              <a:rPr lang="en-US" altLang="zh-TW" sz="2400" smtClean="0">
                <a:sym typeface="Symbol" pitchFamily="18" charset="2"/>
              </a:rPr>
              <a:t> Schedule 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ym typeface="Symbol" pitchFamily="18" charset="2"/>
              </a:rPr>
              <a:t>	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	 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r(A)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w(A)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1 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r(B)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0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w(B)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0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 r(B)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0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w(B)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0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r(A)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TW" sz="24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w(A)</a:t>
            </a:r>
            <a:r>
              <a:rPr lang="en-US" altLang="zh-TW" sz="24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1</a:t>
            </a:r>
            <a:endParaRPr lang="en-US" altLang="zh-TW" sz="2400" i="1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smtClean="0"/>
              <a:t>	Swap the read(B) of </a:t>
            </a:r>
            <a:r>
              <a:rPr lang="en-US" altLang="zh-TW" sz="2000" i="1" smtClean="0"/>
              <a:t>T</a:t>
            </a:r>
            <a:r>
              <a:rPr lang="en-US" altLang="zh-TW" sz="2000" i="1" baseline="-25000" smtClean="0"/>
              <a:t>0</a:t>
            </a:r>
            <a:r>
              <a:rPr lang="en-US" altLang="zh-TW" sz="2000" smtClean="0"/>
              <a:t> with the write(A) of</a:t>
            </a:r>
            <a:r>
              <a:rPr lang="en-US" altLang="zh-TW" sz="2000" i="1" smtClean="0"/>
              <a:t> T</a:t>
            </a:r>
            <a:r>
              <a:rPr lang="en-US" altLang="zh-TW" sz="2000" i="1" baseline="-25000" smtClean="0"/>
              <a:t>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i="1" baseline="-25000" smtClean="0"/>
              <a:t>	</a:t>
            </a:r>
            <a:r>
              <a:rPr lang="en-US" altLang="zh-TW" sz="2000" smtClean="0"/>
              <a:t>Swap the read(B) of </a:t>
            </a:r>
            <a:r>
              <a:rPr lang="en-US" altLang="zh-TW" sz="2000" i="1" smtClean="0"/>
              <a:t>T</a:t>
            </a:r>
            <a:r>
              <a:rPr lang="en-US" altLang="zh-TW" sz="2000" i="1" baseline="-25000" smtClean="0"/>
              <a:t>0</a:t>
            </a:r>
            <a:r>
              <a:rPr lang="en-US" altLang="zh-TW" sz="2000" smtClean="0"/>
              <a:t> with the read(A) of</a:t>
            </a:r>
            <a:r>
              <a:rPr lang="en-US" altLang="zh-TW" sz="2000" i="1" smtClean="0"/>
              <a:t> T</a:t>
            </a:r>
            <a:r>
              <a:rPr lang="en-US" altLang="zh-TW" sz="2000" i="1" baseline="-25000" smtClean="0"/>
              <a:t>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smtClean="0"/>
              <a:t>	Swap the write(B) of </a:t>
            </a:r>
            <a:r>
              <a:rPr lang="en-US" altLang="zh-TW" sz="2000" i="1" smtClean="0"/>
              <a:t>T</a:t>
            </a:r>
            <a:r>
              <a:rPr lang="en-US" altLang="zh-TW" sz="2000" i="1" baseline="-25000" smtClean="0"/>
              <a:t>0</a:t>
            </a:r>
            <a:r>
              <a:rPr lang="en-US" altLang="zh-TW" sz="2000" smtClean="0"/>
              <a:t> with the write(A) of</a:t>
            </a:r>
            <a:r>
              <a:rPr lang="en-US" altLang="zh-TW" sz="2000" i="1" smtClean="0"/>
              <a:t> T</a:t>
            </a:r>
            <a:r>
              <a:rPr lang="en-US" altLang="zh-TW" sz="2000" i="1" baseline="-25000" smtClean="0"/>
              <a:t>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smtClean="0"/>
              <a:t>	Swap the write(B) of </a:t>
            </a:r>
            <a:r>
              <a:rPr lang="en-US" altLang="zh-TW" sz="2000" i="1" smtClean="0"/>
              <a:t>T</a:t>
            </a:r>
            <a:r>
              <a:rPr lang="en-US" altLang="zh-TW" sz="2000" i="1" baseline="-25000" smtClean="0"/>
              <a:t>0</a:t>
            </a:r>
            <a:r>
              <a:rPr lang="en-US" altLang="zh-TW" sz="2000" smtClean="0"/>
              <a:t> with the read(A) of</a:t>
            </a:r>
            <a:r>
              <a:rPr lang="en-US" altLang="zh-TW" sz="2000" i="1" smtClean="0"/>
              <a:t> T</a:t>
            </a:r>
            <a:r>
              <a:rPr lang="en-US" altLang="zh-TW" sz="2000" i="1" baseline="-25000" smtClean="0"/>
              <a:t>1</a:t>
            </a:r>
            <a:endParaRPr lang="en-US" altLang="zh-TW" sz="2000" smtClean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>
                <a:solidFill>
                  <a:srgbClr val="FF0000"/>
                </a:solidFill>
              </a:rPr>
              <a:t>Schedule B will produce the same final state as well some serial schedule.</a:t>
            </a: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A44912-5255-4090-8CB8-355E3EF2292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13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13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74E2F6D-53C0-4659-A029-2877CC0813C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kumimoji="0" lang="en-US" altLang="zh-TW" sz="1400" smtClean="0"/>
          </a:p>
        </p:txBody>
      </p:sp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285750"/>
            <a:ext cx="7772400" cy="844550"/>
          </a:xfrm>
        </p:spPr>
        <p:txBody>
          <a:bodyPr/>
          <a:lstStyle/>
          <a:p>
            <a:pPr eaLnBrk="1" hangingPunct="1"/>
            <a:r>
              <a:rPr lang="en-US" altLang="zh-TW" smtClean="0"/>
              <a:t>Locking Protocol (1)</a:t>
            </a:r>
          </a:p>
        </p:txBody>
      </p:sp>
      <p:sp>
        <p:nvSpPr>
          <p:cNvPr id="166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4500" y="1250950"/>
            <a:ext cx="8331200" cy="5067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smtClean="0"/>
              <a:t>One way to ensure serializability is to associate with each data item a lock, and require that each transaction follow a </a:t>
            </a:r>
            <a:r>
              <a:rPr lang="en-US" altLang="zh-TW" sz="2400" b="1" smtClean="0">
                <a:solidFill>
                  <a:srgbClr val="FF0000"/>
                </a:solidFill>
              </a:rPr>
              <a:t>locking protocol</a:t>
            </a:r>
            <a:r>
              <a:rPr lang="en-US" altLang="zh-TW" sz="2400" smtClean="0"/>
              <a:t> that </a:t>
            </a:r>
            <a:r>
              <a:rPr lang="en-US" altLang="zh-TW" sz="2400" b="1" smtClean="0">
                <a:solidFill>
                  <a:srgbClr val="FF0000"/>
                </a:solidFill>
              </a:rPr>
              <a:t>governs</a:t>
            </a:r>
            <a:r>
              <a:rPr lang="en-US" altLang="zh-TW" sz="2400" smtClean="0">
                <a:solidFill>
                  <a:srgbClr val="FF0000"/>
                </a:solidFill>
              </a:rPr>
              <a:t> how locks are acquired and released.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Two lock modes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solidFill>
                  <a:srgbClr val="FF0000"/>
                </a:solidFill>
              </a:rPr>
              <a:t>Shared</a:t>
            </a:r>
            <a:r>
              <a:rPr lang="en-US" altLang="zh-TW" sz="2000" smtClean="0"/>
              <a:t>: allows read but not write</a:t>
            </a:r>
            <a:endParaRPr lang="en-US" altLang="zh-TW" sz="20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solidFill>
                  <a:srgbClr val="FF0000"/>
                </a:solidFill>
              </a:rPr>
              <a:t>Exclusive</a:t>
            </a:r>
            <a:r>
              <a:rPr lang="en-US" altLang="zh-TW" sz="2000" smtClean="0"/>
              <a:t>: allows both read and write</a:t>
            </a:r>
            <a:endParaRPr lang="en-US" altLang="zh-TW" sz="20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b="1" smtClean="0">
                <a:solidFill>
                  <a:srgbClr val="FF0000"/>
                </a:solidFill>
              </a:rPr>
              <a:t>Two-phase locking protocol</a:t>
            </a:r>
            <a:r>
              <a:rPr lang="en-US" altLang="zh-TW" sz="2400" smtClean="0"/>
              <a:t>: requires that each transaction issue lock and unlock in two phases: </a:t>
            </a:r>
            <a:r>
              <a:rPr lang="en-US" altLang="zh-TW" sz="2400" smtClean="0">
                <a:solidFill>
                  <a:srgbClr val="FF0000"/>
                </a:solidFill>
              </a:rPr>
              <a:t>growing</a:t>
            </a:r>
            <a:r>
              <a:rPr lang="en-US" altLang="zh-TW" sz="2400" smtClean="0"/>
              <a:t> and </a:t>
            </a:r>
            <a:r>
              <a:rPr lang="en-US" altLang="zh-TW" sz="2400" smtClean="0">
                <a:solidFill>
                  <a:srgbClr val="FF0000"/>
                </a:solidFill>
              </a:rPr>
              <a:t>shrinking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The </a:t>
            </a:r>
            <a:r>
              <a:rPr lang="en-US" altLang="zh-TW" sz="2400" b="1" smtClean="0">
                <a:solidFill>
                  <a:srgbClr val="FF0000"/>
                </a:solidFill>
              </a:rPr>
              <a:t>order</a:t>
            </a:r>
            <a:r>
              <a:rPr lang="en-US" altLang="zh-TW" sz="2400" smtClean="0"/>
              <a:t> between every pair of conflicting transactions is </a:t>
            </a:r>
            <a:r>
              <a:rPr lang="en-US" altLang="zh-TW" sz="2400" b="1" smtClean="0">
                <a:solidFill>
                  <a:srgbClr val="FF0000"/>
                </a:solidFill>
              </a:rPr>
              <a:t>determined at execution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5FC07F0-5CAB-4F20-B3E7-FC4163B9CAAC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24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24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3DD095-CBC0-43A1-B7EE-28013846B75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kumimoji="0" lang="en-US" altLang="zh-TW" sz="1400" smtClean="0"/>
          </a:p>
        </p:txBody>
      </p:sp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306388"/>
            <a:ext cx="7772400" cy="6572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Locking Protocol (2)</a:t>
            </a:r>
          </a:p>
        </p:txBody>
      </p:sp>
      <p:sp>
        <p:nvSpPr>
          <p:cNvPr id="167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935038"/>
            <a:ext cx="8331200" cy="52530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growing phase</a:t>
            </a:r>
            <a:r>
              <a:rPr lang="en-US" altLang="zh-TW" sz="2800" smtClean="0"/>
              <a:t>: may obtain lock, but can not release any lock. 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b="1" smtClean="0">
                <a:solidFill>
                  <a:srgbClr val="FF0000"/>
                </a:solidFill>
              </a:rPr>
              <a:t>shrinking phase</a:t>
            </a:r>
            <a:r>
              <a:rPr lang="en-US" altLang="zh-TW" sz="2800" smtClean="0"/>
              <a:t>: may release lock, but can not obtain any lock.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Initially, a transaction is in the growing phase. The transaction acquires locks as needed. </a:t>
            </a:r>
            <a:r>
              <a:rPr lang="en-US" altLang="zh-TW" sz="2800" smtClean="0">
                <a:solidFill>
                  <a:srgbClr val="FF0000"/>
                </a:solidFill>
              </a:rPr>
              <a:t>Once the transaction releases a lock, it enters the shrinking phase, and no more lock requests can be issued.</a:t>
            </a:r>
            <a:r>
              <a:rPr lang="en-US" altLang="zh-TW" sz="2800" smtClean="0"/>
              <a:t>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The two-phase locking protocol ensures conflict serializability. </a:t>
            </a:r>
            <a:r>
              <a:rPr lang="en-US" altLang="zh-TW" sz="2800" smtClean="0">
                <a:solidFill>
                  <a:srgbClr val="FF0000"/>
                </a:solidFill>
              </a:rPr>
              <a:t>It does not, however, ensure freedom from </a:t>
            </a:r>
            <a:r>
              <a:rPr lang="en-US" altLang="zh-TW" sz="2800" b="1" smtClean="0">
                <a:solidFill>
                  <a:srgbClr val="000000"/>
                </a:solidFill>
              </a:rPr>
              <a:t>deadlock</a:t>
            </a:r>
            <a:r>
              <a:rPr lang="en-US" altLang="zh-TW" sz="2800" smtClean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ED5C2BB-52BC-4949-AA4E-94D79D16901D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34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34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88948A-A8F9-4316-876C-DCFBDF1175F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kumimoji="0" lang="en-US" altLang="zh-TW" sz="1400" smtClean="0"/>
          </a:p>
        </p:txBody>
      </p:sp>
      <p:sp>
        <p:nvSpPr>
          <p:cNvPr id="10342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98475" y="360363"/>
            <a:ext cx="7940675" cy="676275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Timestamp-based Protocols</a:t>
            </a:r>
            <a:r>
              <a:rPr lang="en-US" altLang="zh-TW" smtClean="0"/>
              <a:t> (1)</a:t>
            </a:r>
          </a:p>
        </p:txBody>
      </p:sp>
      <p:sp>
        <p:nvSpPr>
          <p:cNvPr id="168963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7038" y="989013"/>
            <a:ext cx="8475662" cy="5359400"/>
          </a:xfrm>
        </p:spPr>
        <p:txBody>
          <a:bodyPr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Select</a:t>
            </a:r>
            <a:r>
              <a:rPr lang="en-US" altLang="zh-TW" sz="2800" smtClean="0"/>
              <a:t> the order among transactions </a:t>
            </a:r>
            <a:r>
              <a:rPr lang="en-US" altLang="zh-TW" sz="2800" smtClean="0">
                <a:solidFill>
                  <a:srgbClr val="FF0000"/>
                </a:solidFill>
              </a:rPr>
              <a:t>in advance</a:t>
            </a:r>
            <a:endParaRPr lang="en-US" altLang="zh-TW" sz="280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Timestamps could be</a:t>
            </a:r>
          </a:p>
          <a:p>
            <a:pPr lvl="1" eaLnBrk="1" hangingPunct="1"/>
            <a:r>
              <a:rPr lang="en-US" altLang="zh-TW" sz="2400" smtClean="0"/>
              <a:t>System clock</a:t>
            </a:r>
          </a:p>
          <a:p>
            <a:pPr lvl="1" eaLnBrk="1" hangingPunct="1"/>
            <a:r>
              <a:rPr lang="en-US" altLang="zh-TW" sz="2400" smtClean="0"/>
              <a:t>Logical counter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Implementation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z="2400" b="1" smtClean="0">
                <a:solidFill>
                  <a:srgbClr val="FF0000"/>
                </a:solidFill>
              </a:rPr>
              <a:t>W-timestamp(</a:t>
            </a:r>
            <a:r>
              <a:rPr lang="en-US" altLang="zh-TW" sz="2400" b="1" i="1" smtClean="0">
                <a:solidFill>
                  <a:srgbClr val="FF0000"/>
                </a:solidFill>
              </a:rPr>
              <a:t>Q</a:t>
            </a:r>
            <a:r>
              <a:rPr lang="en-US" altLang="zh-TW" sz="2400" b="1" smtClean="0">
                <a:solidFill>
                  <a:srgbClr val="FF0000"/>
                </a:solidFill>
              </a:rPr>
              <a:t>)</a:t>
            </a:r>
            <a:r>
              <a:rPr lang="en-US" altLang="zh-TW" sz="2400" smtClean="0"/>
              <a:t>: denotes the largest timestamp of any transaction that executed </a:t>
            </a:r>
            <a:r>
              <a:rPr lang="en-US" altLang="zh-TW" sz="2400" smtClean="0">
                <a:latin typeface="Times New Roman" pitchFamily="18" charset="0"/>
              </a:rPr>
              <a:t>write(</a:t>
            </a:r>
            <a:r>
              <a:rPr lang="en-US" altLang="zh-TW" sz="2400" i="1" smtClean="0">
                <a:latin typeface="Times New Roman" pitchFamily="18" charset="0"/>
              </a:rPr>
              <a:t>Q</a:t>
            </a:r>
            <a:r>
              <a:rPr lang="en-US" altLang="zh-TW" sz="2400" smtClean="0">
                <a:latin typeface="Times New Roman" pitchFamily="18" charset="0"/>
              </a:rPr>
              <a:t>)</a:t>
            </a:r>
            <a:r>
              <a:rPr lang="en-US" altLang="zh-TW" sz="2400" smtClean="0"/>
              <a:t> successfully.</a:t>
            </a:r>
            <a:endParaRPr lang="en-US" altLang="zh-TW" sz="2400" b="1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z="2400" b="1" smtClean="0">
                <a:solidFill>
                  <a:srgbClr val="FF0000"/>
                </a:solidFill>
              </a:rPr>
              <a:t>R-timestamp(</a:t>
            </a:r>
            <a:r>
              <a:rPr lang="en-US" altLang="zh-TW" sz="2400" b="1" i="1" smtClean="0">
                <a:solidFill>
                  <a:srgbClr val="FF0000"/>
                </a:solidFill>
              </a:rPr>
              <a:t>Q</a:t>
            </a:r>
            <a:r>
              <a:rPr lang="en-US" altLang="zh-TW" sz="2400" b="1" smtClean="0">
                <a:solidFill>
                  <a:srgbClr val="FF0000"/>
                </a:solidFill>
              </a:rPr>
              <a:t>)</a:t>
            </a:r>
            <a:r>
              <a:rPr lang="en-US" altLang="zh-TW" sz="2400" smtClean="0"/>
              <a:t>: denotes the largest timestamp of any transaction that executed </a:t>
            </a:r>
            <a:r>
              <a:rPr lang="en-US" altLang="zh-TW" sz="2400" smtClean="0">
                <a:latin typeface="Times New Roman" pitchFamily="18" charset="0"/>
              </a:rPr>
              <a:t>read(</a:t>
            </a:r>
            <a:r>
              <a:rPr lang="en-US" altLang="zh-TW" sz="2400" i="1" smtClean="0">
                <a:latin typeface="Times New Roman" pitchFamily="18" charset="0"/>
              </a:rPr>
              <a:t>Q</a:t>
            </a:r>
            <a:r>
              <a:rPr lang="en-US" altLang="zh-TW" sz="2400" smtClean="0">
                <a:latin typeface="Times New Roman" pitchFamily="18" charset="0"/>
              </a:rPr>
              <a:t>)</a:t>
            </a:r>
            <a:r>
              <a:rPr lang="en-US" altLang="zh-TW" sz="2400" smtClean="0"/>
              <a:t> successfully.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smtClean="0"/>
              <a:t>	</a:t>
            </a:r>
            <a:r>
              <a:rPr lang="en-US" altLang="zh-TW" sz="2400" smtClean="0">
                <a:solidFill>
                  <a:srgbClr val="0000FF"/>
                </a:solidFill>
              </a:rPr>
              <a:t>These timestamps are updated whenever a new read(Q) or write(Q) instruction is executed.</a:t>
            </a:r>
          </a:p>
          <a:p>
            <a:pPr lvl="1" eaLnBrk="1" hangingPunct="1"/>
            <a:endParaRPr lang="en-US" altLang="zh-TW" sz="2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F59EFC-BA9B-4CF4-93A8-47A925CB6E17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44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44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A81E41-2C5A-4FDF-B65F-E03314E3925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kumimoji="0" lang="en-US" altLang="zh-TW" sz="1400" smtClean="0"/>
          </a:p>
        </p:txBody>
      </p:sp>
      <p:sp>
        <p:nvSpPr>
          <p:cNvPr id="1044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360363"/>
            <a:ext cx="7940675" cy="67627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Timestamp-based Protocols (2)</a:t>
            </a:r>
          </a:p>
        </p:txBody>
      </p:sp>
      <p:sp>
        <p:nvSpPr>
          <p:cNvPr id="169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7038" y="1177925"/>
            <a:ext cx="8424862" cy="52720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FF0000"/>
                </a:solidFill>
              </a:rPr>
              <a:t>Timestamp-based protocols</a:t>
            </a:r>
          </a:p>
          <a:p>
            <a:pPr lvl="1" eaLnBrk="1" hangingPunct="1">
              <a:defRPr/>
            </a:pPr>
            <a:r>
              <a:rPr lang="en-US" altLang="zh-TW" smtClean="0">
                <a:latin typeface="Times New Roman" pitchFamily="18" charset="0"/>
              </a:rPr>
              <a:t>Suppose </a:t>
            </a:r>
            <a:r>
              <a:rPr lang="en-US" altLang="zh-TW" i="1" smtClean="0">
                <a:latin typeface="Times New Roman" pitchFamily="18" charset="0"/>
              </a:rPr>
              <a:t>T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</a:rPr>
              <a:t> issues </a:t>
            </a:r>
            <a:r>
              <a:rPr lang="en-US" altLang="zh-TW" b="1" smtClean="0">
                <a:solidFill>
                  <a:srgbClr val="FF0000"/>
                </a:solidFill>
                <a:latin typeface="Times New Roman" pitchFamily="18" charset="0"/>
              </a:rPr>
              <a:t>read(</a:t>
            </a:r>
            <a:r>
              <a:rPr lang="en-US" altLang="zh-TW" b="1" i="1" smtClean="0">
                <a:solidFill>
                  <a:srgbClr val="FF0000"/>
                </a:solidFill>
                <a:latin typeface="Times New Roman" pitchFamily="18" charset="0"/>
              </a:rPr>
              <a:t>Q</a:t>
            </a:r>
            <a:r>
              <a:rPr lang="en-US" altLang="zh-TW" b="1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TW" smtClean="0">
                <a:latin typeface="Times New Roman" pitchFamily="18" charset="0"/>
              </a:rPr>
              <a:t>:</a:t>
            </a:r>
          </a:p>
          <a:p>
            <a:pPr lvl="2" eaLnBrk="1" hangingPunct="1">
              <a:defRPr/>
            </a:pPr>
            <a:r>
              <a:rPr lang="en-US" altLang="zh-TW" sz="2800" smtClean="0">
                <a:latin typeface="Times New Roman" pitchFamily="18" charset="0"/>
              </a:rPr>
              <a:t>If 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TS(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800" b="1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 &lt; W-timestamp(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Q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[read a value of </a:t>
            </a:r>
            <a:r>
              <a:rPr lang="en-US" altLang="zh-TW" sz="28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Q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that was already overwritten</a:t>
            </a:r>
            <a:r>
              <a:rPr lang="en-US" altLang="zh-TW" sz="2800" smtClean="0">
                <a:latin typeface="Times New Roman" pitchFamily="18" charset="0"/>
              </a:rPr>
              <a:t>] read(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) is rejected, and </a:t>
            </a:r>
            <a:r>
              <a:rPr lang="en-US" altLang="zh-TW" sz="2800" i="1" smtClean="0">
                <a:latin typeface="Times New Roman" pitchFamily="18" charset="0"/>
              </a:rPr>
              <a:t>T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is </a:t>
            </a:r>
            <a:r>
              <a:rPr lang="en-US" altLang="zh-TW" sz="2800" b="1" smtClean="0">
                <a:solidFill>
                  <a:srgbClr val="FF0000"/>
                </a:solidFill>
                <a:latin typeface="Times New Roman" pitchFamily="18" charset="0"/>
              </a:rPr>
              <a:t>rolled back</a:t>
            </a:r>
            <a:r>
              <a:rPr lang="en-US" altLang="zh-TW" sz="2800" smtClean="0">
                <a:latin typeface="Times New Roman" pitchFamily="18" charset="0"/>
              </a:rPr>
              <a:t>.</a:t>
            </a:r>
          </a:p>
          <a:p>
            <a:pPr lvl="2" eaLnBrk="1" hangingPunct="1">
              <a:spcBef>
                <a:spcPct val="60000"/>
              </a:spcBef>
              <a:defRPr/>
            </a:pPr>
            <a:r>
              <a:rPr lang="en-US" altLang="zh-TW" sz="2800" smtClean="0">
                <a:latin typeface="Times New Roman" pitchFamily="18" charset="0"/>
              </a:rPr>
              <a:t>If 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TS(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800" b="1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 &gt; W-timestamp(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Q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</a:t>
            </a:r>
            <a:r>
              <a:rPr lang="en-US" altLang="zh-TW" sz="2800" smtClean="0">
                <a:latin typeface="Times New Roman" pitchFamily="18" charset="0"/>
              </a:rPr>
              <a:t>, read(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) is executed, and </a:t>
            </a:r>
            <a:r>
              <a:rPr lang="en-US" altLang="zh-TW" sz="2800" smtClean="0">
                <a:solidFill>
                  <a:schemeClr val="tx2"/>
                </a:solidFill>
                <a:latin typeface="Times New Roman" pitchFamily="18" charset="0"/>
              </a:rPr>
              <a:t>R-timestamp(</a:t>
            </a:r>
            <a:r>
              <a:rPr lang="en-US" altLang="zh-TW" sz="2800" i="1" smtClean="0">
                <a:solidFill>
                  <a:schemeClr val="tx2"/>
                </a:solidFill>
                <a:latin typeface="Times New Roman" pitchFamily="18" charset="0"/>
              </a:rPr>
              <a:t>Q</a:t>
            </a:r>
            <a:r>
              <a:rPr lang="en-US" altLang="zh-TW" sz="2800" smtClean="0">
                <a:solidFill>
                  <a:schemeClr val="tx2"/>
                </a:solidFill>
                <a:latin typeface="Times New Roman" pitchFamily="18" charset="0"/>
              </a:rPr>
              <a:t>) is set</a:t>
            </a:r>
            <a:r>
              <a:rPr lang="en-US" altLang="zh-TW" sz="2800" smtClean="0">
                <a:latin typeface="Times New Roman" pitchFamily="18" charset="0"/>
              </a:rPr>
              <a:t> to the 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maximum</a:t>
            </a:r>
            <a:r>
              <a:rPr lang="en-US" altLang="zh-TW" sz="2800" smtClean="0">
                <a:latin typeface="Times New Roman" pitchFamily="18" charset="0"/>
              </a:rPr>
              <a:t> of  R-timestamp(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) and TS(</a:t>
            </a:r>
            <a:r>
              <a:rPr lang="en-US" altLang="zh-TW" sz="2800" i="1" smtClean="0">
                <a:latin typeface="Times New Roman" pitchFamily="18" charset="0"/>
              </a:rPr>
              <a:t>T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9D13BF3-36EA-4BBA-BD9D-A6A7FCE6AD70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54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54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BA5A9D0-6254-4327-B778-7D7E9B18BB5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kumimoji="0" lang="en-US" altLang="zh-TW" sz="1400" smtClean="0"/>
          </a:p>
        </p:txBody>
      </p:sp>
      <p:sp>
        <p:nvSpPr>
          <p:cNvPr id="1054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360363"/>
            <a:ext cx="7940675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Timestamp-based Protocols (2)</a:t>
            </a:r>
          </a:p>
        </p:txBody>
      </p:sp>
      <p:sp>
        <p:nvSpPr>
          <p:cNvPr id="305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7038" y="1177925"/>
            <a:ext cx="8424862" cy="5272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mtClean="0">
                <a:solidFill>
                  <a:srgbClr val="FF0000"/>
                </a:solidFill>
              </a:rPr>
              <a:t>Timestamp-based protocols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>
                <a:latin typeface="Times New Roman" pitchFamily="18" charset="0"/>
              </a:rPr>
              <a:t>Suppose </a:t>
            </a:r>
            <a:r>
              <a:rPr lang="en-US" altLang="zh-TW" i="1" smtClean="0">
                <a:latin typeface="Times New Roman" pitchFamily="18" charset="0"/>
              </a:rPr>
              <a:t>T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</a:rPr>
              <a:t> issues </a:t>
            </a:r>
            <a:r>
              <a:rPr lang="en-US" altLang="zh-TW" b="1" smtClean="0">
                <a:solidFill>
                  <a:srgbClr val="FF0000"/>
                </a:solidFill>
                <a:latin typeface="Times New Roman" pitchFamily="18" charset="0"/>
              </a:rPr>
              <a:t>write(</a:t>
            </a:r>
            <a:r>
              <a:rPr lang="en-US" altLang="zh-TW" b="1" i="1" smtClean="0">
                <a:solidFill>
                  <a:srgbClr val="FF0000"/>
                </a:solidFill>
                <a:latin typeface="Times New Roman" pitchFamily="18" charset="0"/>
              </a:rPr>
              <a:t>Q</a:t>
            </a:r>
            <a:r>
              <a:rPr lang="en-US" altLang="zh-TW" b="1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TW" smtClean="0">
                <a:latin typeface="Times New Roman" pitchFamily="18" charset="0"/>
              </a:rPr>
              <a:t>:</a:t>
            </a:r>
          </a:p>
          <a:p>
            <a:pPr lvl="2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latin typeface="Times New Roman" pitchFamily="18" charset="0"/>
              </a:rPr>
              <a:t>If 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TS(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800" b="1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 &lt; R-timestamp(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Q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[the value of </a:t>
            </a:r>
            <a:r>
              <a:rPr lang="en-US" altLang="zh-TW" sz="28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Q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that is producing was needed previously and </a:t>
            </a:r>
            <a:r>
              <a:rPr lang="en-US" altLang="zh-TW" sz="2800" i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</a:t>
            </a:r>
            <a:r>
              <a:rPr lang="en-US" altLang="zh-TW" sz="2800" i="1" baseline="-250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assumed that this value would never be produced</a:t>
            </a:r>
            <a:r>
              <a:rPr lang="en-US" altLang="zh-TW" sz="2800" smtClean="0">
                <a:latin typeface="Times New Roman" pitchFamily="18" charset="0"/>
              </a:rPr>
              <a:t>] write(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) is rejected, and </a:t>
            </a:r>
            <a:r>
              <a:rPr lang="en-US" altLang="zh-TW" sz="2800" i="1" smtClean="0">
                <a:latin typeface="Times New Roman" pitchFamily="18" charset="0"/>
              </a:rPr>
              <a:t>T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is rolled back.</a:t>
            </a:r>
          </a:p>
          <a:p>
            <a:pPr lvl="2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latin typeface="Times New Roman" pitchFamily="18" charset="0"/>
              </a:rPr>
              <a:t>If 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TS(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800" b="1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 &lt; W-timestamp(</a:t>
            </a:r>
            <a:r>
              <a:rPr lang="en-US" altLang="zh-TW" sz="2800" b="1" i="1" smtClean="0">
                <a:solidFill>
                  <a:srgbClr val="0000FF"/>
                </a:solidFill>
                <a:latin typeface="Times New Roman" pitchFamily="18" charset="0"/>
              </a:rPr>
              <a:t>Q</a:t>
            </a:r>
            <a:r>
              <a:rPr lang="en-US" altLang="zh-TW" sz="2800" b="1" smtClean="0">
                <a:solidFill>
                  <a:srgbClr val="0000FF"/>
                </a:solidFill>
                <a:latin typeface="Times New Roman" pitchFamily="18" charset="0"/>
              </a:rPr>
              <a:t>)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[is attempting to write an obsolete value</a:t>
            </a:r>
            <a:r>
              <a:rPr lang="en-US" altLang="zh-TW" sz="2800" smtClean="0">
                <a:latin typeface="Times New Roman" pitchFamily="18" charset="0"/>
              </a:rPr>
              <a:t>] write(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) is rejected, and </a:t>
            </a:r>
            <a:r>
              <a:rPr lang="en-US" altLang="zh-TW" sz="2800" i="1" smtClean="0">
                <a:latin typeface="Times New Roman" pitchFamily="18" charset="0"/>
              </a:rPr>
              <a:t>T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is rolled back.</a:t>
            </a:r>
          </a:p>
          <a:p>
            <a:pPr lvl="2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latin typeface="Times New Roman" pitchFamily="18" charset="0"/>
              </a:rPr>
              <a:t>Otherwise, write(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) is executed.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z="32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D235C5-126A-4907-91F4-907305C4E15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64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65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DD7A25-E512-44C3-ABA9-0F2C9047B41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kumimoji="0" lang="en-US" altLang="zh-TW" sz="1400" smtClean="0"/>
          </a:p>
        </p:txBody>
      </p:sp>
      <p:sp>
        <p:nvSpPr>
          <p:cNvPr id="1065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107950"/>
            <a:ext cx="7940675" cy="787400"/>
          </a:xfrm>
        </p:spPr>
        <p:txBody>
          <a:bodyPr/>
          <a:lstStyle/>
          <a:p>
            <a:pPr eaLnBrk="1" hangingPunct="1"/>
            <a:r>
              <a:rPr lang="en-US" altLang="zh-TW" smtClean="0"/>
              <a:t>Timestamp-based Protocols (3)</a:t>
            </a:r>
          </a:p>
        </p:txBody>
      </p:sp>
      <p:sp>
        <p:nvSpPr>
          <p:cNvPr id="1710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839788"/>
            <a:ext cx="8523288" cy="55324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A transaction that is </a:t>
            </a:r>
            <a:r>
              <a:rPr lang="en-US" altLang="zh-TW" sz="24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rolled back</a:t>
            </a:r>
            <a:r>
              <a:rPr lang="en-US" altLang="zh-TW" sz="2400" dirty="0" smtClean="0"/>
              <a:t> by the </a:t>
            </a:r>
            <a:r>
              <a:rPr lang="en-US" altLang="zh-TW" sz="2400" dirty="0" smtClean="0">
                <a:solidFill>
                  <a:srgbClr val="FF0000"/>
                </a:solidFill>
              </a:rPr>
              <a:t>concurrency-control scheme</a:t>
            </a:r>
            <a:r>
              <a:rPr lang="en-US" altLang="zh-TW" sz="2400" dirty="0" smtClean="0"/>
              <a:t> as a results of the issuing of either a read or write is 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assigned a </a:t>
            </a:r>
            <a:r>
              <a:rPr lang="en-US" altLang="zh-TW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new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timestamp and is restarted</a:t>
            </a:r>
            <a:r>
              <a:rPr lang="en-US" altLang="zh-TW" sz="2400" dirty="0" smtClean="0"/>
              <a:t>.</a:t>
            </a:r>
            <a:endParaRPr lang="en-US" altLang="zh-TW" sz="20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T</a:t>
            </a:r>
            <a:r>
              <a:rPr lang="en-US" altLang="zh-TW" sz="2400" baseline="-25000" dirty="0" smtClean="0"/>
              <a:t>2</a:t>
            </a:r>
            <a:r>
              <a:rPr lang="en-US" altLang="zh-TW" sz="2400" dirty="0" smtClean="0"/>
              <a:t>		T</a:t>
            </a:r>
            <a:r>
              <a:rPr lang="en-US" altLang="zh-TW" sz="2400" baseline="-25000" dirty="0" smtClean="0"/>
              <a:t>3</a:t>
            </a: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read(B) </a:t>
            </a:r>
            <a:r>
              <a:rPr lang="en-US" altLang="zh-TW" sz="1400" dirty="0" smtClean="0">
                <a:solidFill>
                  <a:srgbClr val="0000FF"/>
                </a:solidFill>
              </a:rPr>
              <a:t>10:00</a:t>
            </a:r>
            <a:r>
              <a:rPr lang="en-US" altLang="zh-TW" sz="2000" dirty="0" smtClean="0"/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		read(B)	 </a:t>
            </a:r>
            <a:r>
              <a:rPr lang="en-US" altLang="zh-TW" sz="1400" dirty="0" smtClean="0">
                <a:solidFill>
                  <a:srgbClr val="0000FF"/>
                </a:solidFill>
              </a:rPr>
              <a:t>10:01</a:t>
            </a:r>
            <a:endParaRPr lang="en-US" altLang="zh-TW" sz="20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		write(B)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read(A)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		read(A)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		write(A)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dirty="0" smtClean="0"/>
              <a:t>   TS(T</a:t>
            </a:r>
            <a:r>
              <a:rPr lang="en-US" altLang="zh-TW" sz="2400" baseline="-25000" dirty="0" smtClean="0"/>
              <a:t>2</a:t>
            </a:r>
            <a:r>
              <a:rPr lang="en-US" altLang="zh-TW" sz="2400" dirty="0" smtClean="0"/>
              <a:t>) &lt; TS(T</a:t>
            </a:r>
            <a:r>
              <a:rPr lang="en-US" altLang="zh-TW" sz="2400" baseline="-25000" dirty="0" smtClean="0"/>
              <a:t>3</a:t>
            </a:r>
            <a:r>
              <a:rPr lang="en-US" altLang="zh-TW" sz="2400" dirty="0" smtClean="0"/>
              <a:t>)</a:t>
            </a: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The timestamp-ordering protocol ensures conflict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serializability</a:t>
            </a:r>
            <a:r>
              <a:rPr lang="en-US" altLang="zh-TW" sz="2400" dirty="0" smtClean="0">
                <a:solidFill>
                  <a:srgbClr val="FF0000"/>
                </a:solidFill>
              </a:rPr>
              <a:t>.</a:t>
            </a:r>
            <a:r>
              <a:rPr lang="en-US" altLang="zh-TW" sz="2400" dirty="0" smtClean="0"/>
              <a:t> The protocol ensures </a:t>
            </a:r>
            <a:r>
              <a:rPr lang="en-US" altLang="zh-TW" sz="2400" dirty="0" smtClean="0">
                <a:solidFill>
                  <a:srgbClr val="FF0000"/>
                </a:solidFill>
              </a:rPr>
              <a:t>freedom from deadlock</a:t>
            </a:r>
            <a:r>
              <a:rPr lang="en-US" altLang="zh-TW" sz="2400" dirty="0" smtClean="0"/>
              <a:t> because no transaction ever waits.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3484563" y="4256088"/>
            <a:ext cx="5395912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Assume a transaction is assigned a timestamp</a:t>
            </a:r>
          </a:p>
          <a:p>
            <a:pPr>
              <a:defRPr/>
            </a:pPr>
            <a:r>
              <a:rPr lang="en-US" altLang="zh-TW" sz="2000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immediately before its first operation.</a:t>
            </a:r>
            <a:endParaRPr lang="zh-TW" altLang="en-US" sz="2000" dirty="0">
              <a:solidFill>
                <a:srgbClr val="99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5" y="298450"/>
            <a:ext cx="7772400" cy="439738"/>
          </a:xfrm>
        </p:spPr>
        <p:txBody>
          <a:bodyPr/>
          <a:lstStyle/>
          <a:p>
            <a:r>
              <a:rPr lang="en-US" altLang="zh-TW" sz="2800" smtClean="0"/>
              <a:t>Example, Use of the Timestamp-based Protocol</a:t>
            </a:r>
          </a:p>
        </p:txBody>
      </p:sp>
      <p:sp>
        <p:nvSpPr>
          <p:cNvPr id="916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571500" y="885825"/>
            <a:ext cx="8191500" cy="5105400"/>
          </a:xfrm>
        </p:spPr>
        <p:txBody>
          <a:bodyPr/>
          <a:lstStyle/>
          <a:p>
            <a:pPr>
              <a:defRPr/>
            </a:pPr>
            <a:r>
              <a:rPr lang="en-US" altLang="zh-TW" sz="2400" dirty="0"/>
              <a:t>A partial schedule for several data items for transactions </a:t>
            </a:r>
            <a:r>
              <a:rPr lang="en-US" altLang="zh-TW" sz="2400" dirty="0" smtClean="0"/>
              <a:t>with timestamps </a:t>
            </a:r>
            <a:r>
              <a:rPr lang="en-US" altLang="zh-TW" sz="2400" dirty="0"/>
              <a:t>1, 2, 3, 4, 5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TW" dirty="0"/>
              <a:t>		</a:t>
            </a:r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>
            <a:off x="1905000" y="20574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25" name="Line 5"/>
          <p:cNvSpPr>
            <a:spLocks noChangeShapeType="1"/>
          </p:cNvSpPr>
          <p:nvPr/>
        </p:nvSpPr>
        <p:spPr bwMode="auto">
          <a:xfrm>
            <a:off x="3048000" y="20574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26" name="Line 6"/>
          <p:cNvSpPr>
            <a:spLocks noChangeShapeType="1"/>
          </p:cNvSpPr>
          <p:nvPr/>
        </p:nvSpPr>
        <p:spPr bwMode="auto">
          <a:xfrm>
            <a:off x="4152900" y="207645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27" name="Line 7"/>
          <p:cNvSpPr>
            <a:spLocks noChangeShapeType="1"/>
          </p:cNvSpPr>
          <p:nvPr/>
        </p:nvSpPr>
        <p:spPr bwMode="auto">
          <a:xfrm>
            <a:off x="5276850" y="207645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28" name="Line 8"/>
          <p:cNvSpPr>
            <a:spLocks noChangeShapeType="1"/>
          </p:cNvSpPr>
          <p:nvPr/>
        </p:nvSpPr>
        <p:spPr bwMode="auto">
          <a:xfrm>
            <a:off x="6362700" y="20955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29" name="Line 9"/>
          <p:cNvSpPr>
            <a:spLocks noChangeShapeType="1"/>
          </p:cNvSpPr>
          <p:nvPr/>
        </p:nvSpPr>
        <p:spPr bwMode="auto">
          <a:xfrm>
            <a:off x="7391400" y="20955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30" name="Line 10"/>
          <p:cNvSpPr>
            <a:spLocks noChangeShapeType="1"/>
          </p:cNvSpPr>
          <p:nvPr/>
        </p:nvSpPr>
        <p:spPr bwMode="auto">
          <a:xfrm>
            <a:off x="1905000" y="24384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2136775" y="1992313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/>
              <a:t>T</a:t>
            </a:r>
            <a:r>
              <a:rPr lang="en-US" altLang="zh-TW" sz="2000" baseline="-25000"/>
              <a:t>1</a:t>
            </a:r>
            <a:r>
              <a:rPr lang="en-US" altLang="zh-TW" sz="2400"/>
              <a:t>=1</a:t>
            </a:r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3243263" y="1992313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/>
              <a:t>T</a:t>
            </a:r>
            <a:r>
              <a:rPr lang="en-US" altLang="zh-TW" sz="2000" baseline="-25000"/>
              <a:t>2</a:t>
            </a:r>
            <a:r>
              <a:rPr lang="en-US" altLang="zh-TW" sz="2400"/>
              <a:t>=2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4348163" y="1992313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/>
              <a:t>T</a:t>
            </a:r>
            <a:r>
              <a:rPr lang="en-US" altLang="zh-TW" sz="2000" baseline="-25000"/>
              <a:t>3</a:t>
            </a:r>
            <a:r>
              <a:rPr lang="en-US" altLang="zh-TW" sz="2400"/>
              <a:t>=3</a:t>
            </a: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5487988" y="1992313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/>
              <a:t>T</a:t>
            </a:r>
            <a:r>
              <a:rPr lang="en-US" altLang="zh-TW" sz="2000" baseline="-25000"/>
              <a:t>4</a:t>
            </a:r>
            <a:r>
              <a:rPr lang="en-US" altLang="zh-TW" sz="2400"/>
              <a:t>=4</a:t>
            </a:r>
          </a:p>
        </p:txBody>
      </p:sp>
      <p:sp>
        <p:nvSpPr>
          <p:cNvPr id="107535" name="Text Box 15"/>
          <p:cNvSpPr txBox="1">
            <a:spLocks noChangeArrowheads="1"/>
          </p:cNvSpPr>
          <p:nvPr/>
        </p:nvSpPr>
        <p:spPr bwMode="auto">
          <a:xfrm>
            <a:off x="6527800" y="1992313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/>
              <a:t>T</a:t>
            </a:r>
            <a:r>
              <a:rPr lang="en-US" altLang="zh-TW" sz="2000" baseline="-25000"/>
              <a:t>5</a:t>
            </a:r>
            <a:r>
              <a:rPr lang="en-US" altLang="zh-TW" sz="2400"/>
              <a:t>=5</a:t>
            </a:r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3197225" y="2530475"/>
            <a:ext cx="911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read(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RTS(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)=2</a:t>
            </a:r>
          </a:p>
        </p:txBody>
      </p:sp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6384925" y="2447925"/>
            <a:ext cx="9683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read(</a:t>
            </a:r>
            <a:r>
              <a:rPr lang="en-US" altLang="zh-TW" sz="1400" i="1">
                <a:latin typeface="Times New Roman" pitchFamily="18" charset="0"/>
              </a:rPr>
              <a:t>X</a:t>
            </a:r>
            <a:r>
              <a:rPr lang="en-US" altLang="zh-TW" sz="1400">
                <a:latin typeface="Times New Roman" pitchFamily="18" charset="0"/>
              </a:rPr>
              <a:t>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RTS(</a:t>
            </a:r>
            <a:r>
              <a:rPr lang="en-US" altLang="zh-TW" sz="1400" i="1">
                <a:latin typeface="Times New Roman" pitchFamily="18" charset="0"/>
              </a:rPr>
              <a:t>X</a:t>
            </a:r>
            <a:r>
              <a:rPr lang="en-US" altLang="zh-TW" sz="1400">
                <a:latin typeface="Times New Roman" pitchFamily="18" charset="0"/>
              </a:rPr>
              <a:t>)=5 </a:t>
            </a:r>
          </a:p>
        </p:txBody>
      </p:sp>
      <p:sp>
        <p:nvSpPr>
          <p:cNvPr id="107538" name="Text Box 18"/>
          <p:cNvSpPr txBox="1">
            <a:spLocks noChangeArrowheads="1"/>
          </p:cNvSpPr>
          <p:nvPr/>
        </p:nvSpPr>
        <p:spPr bwMode="auto">
          <a:xfrm>
            <a:off x="2011363" y="2806700"/>
            <a:ext cx="9144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read(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RTS(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)=2</a:t>
            </a:r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4108450" y="2965450"/>
            <a:ext cx="1016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write(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WTS(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)=3 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4124325" y="3494088"/>
            <a:ext cx="11541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write(</a:t>
            </a:r>
            <a:r>
              <a:rPr lang="en-US" altLang="zh-TW" sz="1400" i="1">
                <a:latin typeface="Times New Roman" pitchFamily="18" charset="0"/>
              </a:rPr>
              <a:t>Z</a:t>
            </a:r>
            <a:r>
              <a:rPr lang="en-US" altLang="zh-TW" sz="1400">
                <a:latin typeface="Times New Roman" pitchFamily="18" charset="0"/>
              </a:rPr>
              <a:t>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WTS(</a:t>
            </a:r>
            <a:r>
              <a:rPr lang="en-US" altLang="zh-TW" sz="1400" i="1">
                <a:latin typeface="Times New Roman" pitchFamily="18" charset="0"/>
              </a:rPr>
              <a:t>Z</a:t>
            </a:r>
            <a:r>
              <a:rPr lang="en-US" altLang="zh-TW" sz="1400">
                <a:latin typeface="Times New Roman" pitchFamily="18" charset="0"/>
              </a:rPr>
              <a:t>)=3</a:t>
            </a:r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6362700" y="3779838"/>
            <a:ext cx="9588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read(</a:t>
            </a:r>
            <a:r>
              <a:rPr lang="en-US" altLang="zh-TW" sz="1400" i="1">
                <a:latin typeface="Times New Roman" pitchFamily="18" charset="0"/>
              </a:rPr>
              <a:t>Z</a:t>
            </a:r>
            <a:r>
              <a:rPr lang="en-US" altLang="zh-TW" sz="1400">
                <a:latin typeface="Times New Roman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RTS(</a:t>
            </a:r>
            <a:r>
              <a:rPr lang="en-US" altLang="zh-TW" sz="1400" i="1">
                <a:latin typeface="Times New Roman" pitchFamily="18" charset="0"/>
              </a:rPr>
              <a:t>Z</a:t>
            </a:r>
            <a:r>
              <a:rPr lang="en-US" altLang="zh-TW" sz="1400">
                <a:latin typeface="Times New Roman" pitchFamily="18" charset="0"/>
              </a:rPr>
              <a:t>)=5 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3055938" y="4019550"/>
            <a:ext cx="1096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read(</a:t>
            </a:r>
            <a:r>
              <a:rPr lang="en-US" altLang="zh-TW" sz="1400" i="1">
                <a:solidFill>
                  <a:schemeClr val="tx2"/>
                </a:solidFill>
                <a:latin typeface="Times New Roman" pitchFamily="18" charset="0"/>
              </a:rPr>
              <a:t>Z or Y</a:t>
            </a:r>
            <a:r>
              <a:rPr lang="en-US" altLang="zh-TW" sz="1400">
                <a:latin typeface="Times New Roman" pitchFamily="18" charset="0"/>
              </a:rPr>
              <a:t>) </a:t>
            </a:r>
          </a:p>
        </p:txBody>
      </p:sp>
      <p:sp>
        <p:nvSpPr>
          <p:cNvPr id="107543" name="Text Box 23"/>
          <p:cNvSpPr txBox="1">
            <a:spLocks noChangeArrowheads="1"/>
          </p:cNvSpPr>
          <p:nvPr/>
        </p:nvSpPr>
        <p:spPr bwMode="auto">
          <a:xfrm>
            <a:off x="3105150" y="4235450"/>
            <a:ext cx="7747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itchFamily="18" charset="0"/>
              </a:rPr>
              <a:t>abort  </a:t>
            </a:r>
          </a:p>
        </p:txBody>
      </p:sp>
      <p:sp>
        <p:nvSpPr>
          <p:cNvPr id="107544" name="Text Box 24"/>
          <p:cNvSpPr txBox="1">
            <a:spLocks noChangeArrowheads="1"/>
          </p:cNvSpPr>
          <p:nvPr/>
        </p:nvSpPr>
        <p:spPr bwMode="auto">
          <a:xfrm>
            <a:off x="1920875" y="4349750"/>
            <a:ext cx="7604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read(</a:t>
            </a:r>
            <a:r>
              <a:rPr lang="en-US" altLang="zh-TW" sz="1400" i="1">
                <a:latin typeface="Times New Roman" pitchFamily="18" charset="0"/>
              </a:rPr>
              <a:t>X</a:t>
            </a:r>
            <a:r>
              <a:rPr lang="en-US" altLang="zh-TW" sz="1400">
                <a:latin typeface="Times New Roman" pitchFamily="18" charset="0"/>
              </a:rPr>
              <a:t>) </a:t>
            </a:r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4252913" y="4562475"/>
            <a:ext cx="809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write(</a:t>
            </a:r>
            <a:r>
              <a:rPr lang="en-US" altLang="zh-TW" sz="1400" i="1">
                <a:latin typeface="Times New Roman" pitchFamily="18" charset="0"/>
              </a:rPr>
              <a:t>Z</a:t>
            </a:r>
            <a:r>
              <a:rPr lang="en-US" altLang="zh-TW" sz="1400">
                <a:latin typeface="Times New Roman" pitchFamily="18" charset="0"/>
              </a:rPr>
              <a:t>) 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4292600" y="4760913"/>
            <a:ext cx="7747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Times New Roman" pitchFamily="18" charset="0"/>
              </a:rPr>
              <a:t>abort  </a:t>
            </a:r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6381750" y="4913313"/>
            <a:ext cx="809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write(</a:t>
            </a:r>
            <a:r>
              <a:rPr lang="en-US" altLang="zh-TW" sz="1400" i="1">
                <a:latin typeface="Times New Roman" pitchFamily="18" charset="0"/>
              </a:rPr>
              <a:t>Y</a:t>
            </a:r>
            <a:r>
              <a:rPr lang="en-US" altLang="zh-TW" sz="1400">
                <a:latin typeface="Times New Roman" pitchFamily="18" charset="0"/>
              </a:rPr>
              <a:t>) 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6381750" y="5237163"/>
            <a:ext cx="854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imes New Roman" pitchFamily="18" charset="0"/>
              </a:rPr>
              <a:t>write(</a:t>
            </a:r>
            <a:r>
              <a:rPr lang="en-US" altLang="zh-TW" sz="1400" i="1">
                <a:latin typeface="Times New Roman" pitchFamily="18" charset="0"/>
              </a:rPr>
              <a:t>Z</a:t>
            </a:r>
            <a:r>
              <a:rPr lang="en-US" altLang="zh-TW" sz="1400">
                <a:latin typeface="Times New Roman" pitchFamily="18" charset="0"/>
              </a:rPr>
              <a:t>)  </a:t>
            </a:r>
          </a:p>
        </p:txBody>
      </p:sp>
      <p:sp>
        <p:nvSpPr>
          <p:cNvPr id="107549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35084F-A5BC-4DC0-B432-A66D06E640A9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7550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7551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937CA30-A981-48CF-A059-B3A46CC7463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4508D2-5288-4C64-A5D3-8B91B1466543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85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85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158509F-1C43-4EE4-9CAD-2BD54BCCDF7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kumimoji="0" lang="en-US" altLang="zh-TW" sz="1400" smtClean="0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76200"/>
            <a:ext cx="8321675" cy="7874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Testing Serializability of a Schedule</a:t>
            </a:r>
          </a:p>
        </p:txBody>
      </p:sp>
      <p:sp>
        <p:nvSpPr>
          <p:cNvPr id="174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8938" y="839788"/>
            <a:ext cx="8393112" cy="5380037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>
                <a:latin typeface="Times New Roman" pitchFamily="18" charset="0"/>
              </a:rPr>
              <a:t>Input</a:t>
            </a:r>
            <a:r>
              <a:rPr lang="en-US" altLang="zh-TW" sz="2800" smtClean="0">
                <a:latin typeface="Times New Roman" pitchFamily="18" charset="0"/>
              </a:rPr>
              <a:t>: A Schedule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S</a:t>
            </a:r>
            <a:r>
              <a:rPr lang="en-US" altLang="zh-TW" sz="2800" smtClean="0">
                <a:latin typeface="Times New Roman" pitchFamily="18" charset="0"/>
              </a:rPr>
              <a:t> for a set of transactions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TW" sz="2800" i="1" baseline="-25000" smtClean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, …, T</a:t>
            </a:r>
            <a:r>
              <a:rPr lang="en-US" altLang="zh-TW" sz="2800" i="1" baseline="-25000" smtClean="0">
                <a:solidFill>
                  <a:srgbClr val="0000FF"/>
                </a:solidFill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.</a:t>
            </a:r>
            <a:endParaRPr lang="en-US" altLang="zh-TW" sz="2800" b="1" smtClean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>
                <a:latin typeface="Times New Roman" pitchFamily="18" charset="0"/>
              </a:rPr>
              <a:t>Output</a:t>
            </a:r>
            <a:r>
              <a:rPr lang="en-US" altLang="zh-TW" sz="2800" smtClean="0">
                <a:latin typeface="Times New Roman" pitchFamily="18" charset="0"/>
              </a:rPr>
              <a:t>: A determination 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whether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 is serializable</a:t>
            </a:r>
            <a:r>
              <a:rPr lang="en-US" altLang="zh-TW" sz="2800" smtClean="0">
                <a:latin typeface="Times New Roman" pitchFamily="18" charset="0"/>
              </a:rPr>
              <a:t>, and if so, a serial schedule equivalent to </a:t>
            </a:r>
            <a:r>
              <a:rPr lang="en-US" altLang="zh-TW" sz="2800" i="1" smtClean="0">
                <a:latin typeface="Times New Roman" pitchFamily="18" charset="0"/>
              </a:rPr>
              <a:t>S</a:t>
            </a:r>
            <a:r>
              <a:rPr lang="en-US" altLang="zh-TW" sz="2800" smtClean="0">
                <a:latin typeface="Times New Roman" pitchFamily="18" charset="0"/>
              </a:rPr>
              <a:t>.</a:t>
            </a:r>
            <a:r>
              <a:rPr lang="en-US" altLang="zh-TW" smtClean="0"/>
              <a:t> </a:t>
            </a:r>
            <a:endParaRPr lang="en-US" altLang="zh-TW" sz="2800" smtClean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Method</a:t>
            </a:r>
            <a:r>
              <a:rPr lang="en-US" altLang="zh-TW" smtClean="0"/>
              <a:t>: </a:t>
            </a:r>
            <a:r>
              <a:rPr lang="en-US" altLang="zh-TW" sz="2400" smtClean="0"/>
              <a:t>Let S be s schedule of actions </a:t>
            </a:r>
            <a:r>
              <a:rPr lang="en-US" altLang="zh-TW" sz="2400" i="1" smtClean="0">
                <a:latin typeface="Times New Roman" pitchFamily="18" charset="0"/>
              </a:rPr>
              <a:t>a</a:t>
            </a:r>
            <a:r>
              <a:rPr lang="en-US" altLang="zh-TW" sz="2400" i="1" baseline="-25000" smtClean="0">
                <a:latin typeface="Times New Roman" pitchFamily="18" charset="0"/>
              </a:rPr>
              <a:t>1</a:t>
            </a:r>
            <a:r>
              <a:rPr lang="en-US" altLang="zh-TW" sz="2400" i="1" smtClean="0">
                <a:latin typeface="Times New Roman" pitchFamily="18" charset="0"/>
              </a:rPr>
              <a:t>, …, a</a:t>
            </a:r>
            <a:r>
              <a:rPr lang="en-US" altLang="zh-TW" sz="2400" i="1" baseline="-25000" smtClean="0">
                <a:latin typeface="Times New Roman" pitchFamily="18" charset="0"/>
              </a:rPr>
              <a:t>n</a:t>
            </a:r>
            <a:r>
              <a:rPr lang="en-US" altLang="zh-TW" sz="2400" smtClean="0"/>
              <a:t>. Create a digraph (</a:t>
            </a:r>
            <a:r>
              <a:rPr lang="en-US" altLang="zh-TW" sz="2400" i="1" smtClean="0">
                <a:latin typeface="Times New Roman" pitchFamily="18" charset="0"/>
              </a:rPr>
              <a:t>precedence</a:t>
            </a:r>
            <a:r>
              <a:rPr lang="en-US" altLang="zh-TW" sz="2400" smtClean="0"/>
              <a:t> graph) </a:t>
            </a:r>
            <a:r>
              <a:rPr lang="en-US" altLang="zh-TW" sz="2400" i="1" smtClean="0">
                <a:latin typeface="Times New Roman" pitchFamily="18" charset="0"/>
              </a:rPr>
              <a:t>G</a:t>
            </a:r>
            <a:r>
              <a:rPr lang="en-US" altLang="zh-TW" sz="2400" smtClean="0"/>
              <a:t>, whose nodes correspond to the transactions.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</a:rPr>
              <a:t>	</a:t>
            </a:r>
            <a:r>
              <a:rPr lang="en-US" altLang="zh-TW" sz="2400" i="1" smtClean="0"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latin typeface="Times New Roman" pitchFamily="18" charset="0"/>
              </a:rPr>
              <a:t>j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 T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TW" sz="2400" baseline="-2500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if </a:t>
            </a:r>
            <a:r>
              <a:rPr lang="en-US" altLang="zh-TW" sz="2400" i="1" smtClean="0">
                <a:latin typeface="Times New Roman" pitchFamily="18" charset="0"/>
              </a:rPr>
              <a:t>a</a:t>
            </a:r>
            <a:r>
              <a:rPr lang="en-US" altLang="zh-TW" sz="2400" i="1" baseline="-25000" smtClean="0">
                <a:latin typeface="Times New Roman" pitchFamily="18" charset="0"/>
              </a:rPr>
              <a:t>i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TW" sz="2400" i="1" smtClean="0"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latin typeface="Times New Roman" pitchFamily="18" charset="0"/>
              </a:rPr>
              <a:t>j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: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UNLOCK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 a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m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and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 is the next action following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of the form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i="1" smtClean="0">
                <a:latin typeface="Times New Roman" pitchFamily="18" charset="0"/>
              </a:rPr>
              <a:t>T</a:t>
            </a:r>
            <a:r>
              <a:rPr lang="en-US" altLang="zh-TW" sz="2400" i="1" baseline="-25000" smtClean="0">
                <a:latin typeface="Times New Roman" pitchFamily="18" charset="0"/>
              </a:rPr>
              <a:t>s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: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LOCK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 a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m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.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	If G has a cycle, then S is not serializable.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	If G has no cycle, then find a linear order  by topological sorting.</a:t>
            </a:r>
            <a:endParaRPr lang="en-US" altLang="zh-TW" sz="2400" b="1" smtClean="0">
              <a:latin typeface="Times New Roman" pitchFamily="18" charset="0"/>
              <a:sym typeface="Symbol" pitchFamily="18" charset="2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Theorem</a:t>
            </a:r>
            <a:r>
              <a:rPr lang="en-US" altLang="zh-TW" sz="2400" smtClean="0">
                <a:solidFill>
                  <a:srgbClr val="FF0000"/>
                </a:solidFill>
                <a:sym typeface="Symbol" pitchFamily="18" charset="2"/>
              </a:rPr>
              <a:t>. The above algorithm correctly determines if a schedule is serializable.</a:t>
            </a:r>
            <a:r>
              <a:rPr lang="en-US" altLang="zh-TW" sz="2400" i="1" smtClean="0">
                <a:sym typeface="Symbol" pitchFamily="18" charset="2"/>
              </a:rPr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i="1" baseline="-2500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D0BECB-3A4F-4E10-9EFB-94138DA11F54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095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095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1399A9-9633-4C2C-B2F6-0EE495E4003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kumimoji="0" lang="en-US" altLang="zh-TW" sz="1400" smtClean="0"/>
          </a:p>
        </p:txBody>
      </p:sp>
      <p:sp>
        <p:nvSpPr>
          <p:cNvPr id="109573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458788"/>
            <a:ext cx="8321675" cy="9779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Two-phase Locking guarantees Serializability</a:t>
            </a:r>
          </a:p>
        </p:txBody>
      </p:sp>
      <p:sp>
        <p:nvSpPr>
          <p:cNvPr id="10957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5588" y="1617663"/>
            <a:ext cx="8393112" cy="4351337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smtClean="0">
                <a:latin typeface="Times New Roman" pitchFamily="18" charset="0"/>
              </a:rPr>
              <a:t>Theorem</a:t>
            </a:r>
            <a:r>
              <a:rPr lang="en-US" altLang="zh-TW" sz="2800" smtClean="0">
                <a:latin typeface="Times New Roman" pitchFamily="18" charset="0"/>
              </a:rPr>
              <a:t>: 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If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 is any schedule of two-phase locking, then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 is serializable</a:t>
            </a:r>
            <a:r>
              <a:rPr lang="en-US" altLang="zh-TW" sz="2800" smtClean="0">
                <a:latin typeface="Times New Roman" pitchFamily="18" charset="0"/>
              </a:rPr>
              <a:t>. </a:t>
            </a:r>
            <a:endParaRPr lang="en-US" altLang="zh-TW" sz="2800" b="1" smtClean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b="1" smtClean="0">
                <a:latin typeface="Times New Roman" pitchFamily="18" charset="0"/>
              </a:rPr>
              <a:t>Proof</a:t>
            </a:r>
            <a:r>
              <a:rPr lang="en-US" altLang="zh-TW" sz="2800" smtClean="0">
                <a:latin typeface="Times New Roman" pitchFamily="18" charset="0"/>
              </a:rPr>
              <a:t>: </a:t>
            </a:r>
            <a:r>
              <a:rPr lang="en-US" altLang="zh-TW" sz="2600" smtClean="0">
                <a:latin typeface="Times New Roman" pitchFamily="18" charset="0"/>
              </a:rPr>
              <a:t>Suppose not, by the above theorem, the precedence graph </a:t>
            </a:r>
            <a:r>
              <a:rPr lang="en-US" altLang="zh-TW" sz="2600" i="1" smtClean="0">
                <a:latin typeface="Times New Roman" pitchFamily="18" charset="0"/>
              </a:rPr>
              <a:t>G</a:t>
            </a:r>
            <a:r>
              <a:rPr lang="en-US" altLang="zh-TW" sz="2600" smtClean="0">
                <a:latin typeface="Times New Roman" pitchFamily="18" charset="0"/>
              </a:rPr>
              <a:t> for </a:t>
            </a:r>
            <a:r>
              <a:rPr lang="en-US" altLang="zh-TW" sz="2600" i="1" smtClean="0">
                <a:latin typeface="Times New Roman" pitchFamily="18" charset="0"/>
              </a:rPr>
              <a:t>S</a:t>
            </a:r>
            <a:r>
              <a:rPr lang="en-US" altLang="zh-TW" sz="2600" smtClean="0">
                <a:latin typeface="Times New Roman" pitchFamily="18" charset="0"/>
              </a:rPr>
              <a:t> has a cycle,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,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2</a:t>
            </a:r>
            <a:r>
              <a:rPr lang="en-US" altLang="zh-TW" sz="2600" smtClean="0">
                <a:latin typeface="Times New Roman" pitchFamily="18" charset="0"/>
              </a:rPr>
              <a:t>, …,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p</a:t>
            </a:r>
            <a:r>
              <a:rPr lang="en-US" altLang="zh-TW" sz="2600" i="1" smtClean="0">
                <a:latin typeface="Times New Roman" pitchFamily="18" charset="0"/>
              </a:rPr>
              <a:t>, 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.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smtClean="0">
                <a:latin typeface="Times New Roman" pitchFamily="18" charset="0"/>
              </a:rPr>
              <a:t>	Then some lock by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2</a:t>
            </a:r>
            <a:r>
              <a:rPr lang="en-US" altLang="zh-TW" sz="2600" smtClean="0">
                <a:latin typeface="Times New Roman" pitchFamily="18" charset="0"/>
              </a:rPr>
              <a:t> following an unlock by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; some lock by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3</a:t>
            </a:r>
            <a:r>
              <a:rPr lang="en-US" altLang="zh-TW" sz="2600" smtClean="0">
                <a:latin typeface="Times New Roman" pitchFamily="18" charset="0"/>
              </a:rPr>
              <a:t> following an unlock by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2</a:t>
            </a:r>
            <a:r>
              <a:rPr lang="en-US" altLang="zh-TW" sz="2600" smtClean="0">
                <a:latin typeface="Times New Roman" pitchFamily="18" charset="0"/>
              </a:rPr>
              <a:t>, and so on.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smtClean="0">
                <a:latin typeface="Times New Roman" pitchFamily="18" charset="0"/>
              </a:rPr>
              <a:t>	Finally, some lock by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 following an unlock by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p</a:t>
            </a:r>
            <a:r>
              <a:rPr lang="en-US" altLang="zh-TW" sz="2600" smtClean="0">
                <a:latin typeface="Times New Roman" pitchFamily="18" charset="0"/>
              </a:rPr>
              <a:t>. Therefore, a lock of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 follows an unlock of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, contradicting the assumption that </a:t>
            </a:r>
            <a:r>
              <a:rPr lang="en-US" altLang="zh-TW" sz="2600" i="1" smtClean="0">
                <a:latin typeface="Times New Roman" pitchFamily="18" charset="0"/>
              </a:rPr>
              <a:t>T</a:t>
            </a:r>
            <a:r>
              <a:rPr lang="en-US" altLang="zh-TW" sz="2600" i="1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 is a two-phase.    #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54772C-276E-4EF6-86F1-9C1B3083845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05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05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7CBC2F-0BA7-4862-8A0A-408332698C2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kumimoji="0" lang="en-US" altLang="zh-TW" sz="1400" smtClean="0"/>
          </a:p>
        </p:txBody>
      </p:sp>
      <p:sp>
        <p:nvSpPr>
          <p:cNvPr id="110597" name="Rectangle 2"/>
          <p:cNvSpPr>
            <a:spLocks noGrp="1" noChangeArrowheads="1"/>
          </p:cNvSpPr>
          <p:nvPr>
            <p:ph type="title"/>
          </p:nvPr>
        </p:nvSpPr>
        <p:spPr>
          <a:xfrm>
            <a:off x="477838" y="323850"/>
            <a:ext cx="7772400" cy="769938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Critical Regions (1)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6263" y="1085850"/>
            <a:ext cx="8181975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3148013" algn="ctr"/>
              </a:tabLst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High-level</a:t>
            </a:r>
            <a:r>
              <a:rPr lang="en-US" altLang="zh-TW" sz="2800" dirty="0" smtClean="0"/>
              <a:t> synchronization construct</a:t>
            </a:r>
          </a:p>
          <a:p>
            <a:pPr eaLnBrk="1" hangingPunct="1">
              <a:lnSpc>
                <a:spcPct val="90000"/>
              </a:lnSpc>
              <a:tabLst>
                <a:tab pos="3148013" algn="ctr"/>
              </a:tabLst>
              <a:defRPr/>
            </a:pPr>
            <a:r>
              <a:rPr lang="en-US" altLang="zh-TW" sz="2800" dirty="0" smtClean="0"/>
              <a:t>A shared variable </a:t>
            </a:r>
            <a:r>
              <a:rPr lang="en-US" altLang="zh-TW" sz="2800" b="1" i="1" dirty="0" smtClean="0"/>
              <a:t>v</a:t>
            </a:r>
            <a:r>
              <a:rPr lang="en-US" altLang="zh-TW" sz="2800" dirty="0" smtClean="0"/>
              <a:t> of type </a:t>
            </a:r>
            <a:r>
              <a:rPr lang="en-US" altLang="zh-TW" sz="2800" b="1" i="1" dirty="0" smtClean="0"/>
              <a:t>T</a:t>
            </a:r>
            <a:r>
              <a:rPr lang="en-US" altLang="zh-TW" sz="2800" dirty="0" smtClean="0"/>
              <a:t>, is declared as: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3148013" algn="ctr"/>
              </a:tabLst>
              <a:defRPr/>
            </a:pPr>
            <a:r>
              <a:rPr lang="en-US" altLang="zh-TW" sz="2800" i="1" dirty="0" smtClean="0"/>
              <a:t>		</a:t>
            </a:r>
            <a:r>
              <a:rPr lang="en-US" altLang="zh-TW" sz="2800" b="1" dirty="0" smtClean="0"/>
              <a:t>v:</a:t>
            </a:r>
            <a:r>
              <a:rPr lang="en-US" altLang="zh-TW" sz="2800" dirty="0" smtClean="0"/>
              <a:t> </a:t>
            </a:r>
            <a:r>
              <a:rPr lang="en-US" altLang="zh-TW" sz="2800" b="1" dirty="0" smtClean="0"/>
              <a:t>shared</a:t>
            </a:r>
            <a:r>
              <a:rPr lang="en-US" altLang="zh-TW" sz="2800" dirty="0" smtClean="0"/>
              <a:t> </a:t>
            </a:r>
            <a:r>
              <a:rPr lang="en-US" altLang="zh-TW" sz="2800" b="1" dirty="0" smtClean="0"/>
              <a:t>T</a:t>
            </a:r>
          </a:p>
          <a:p>
            <a:pPr eaLnBrk="1" hangingPunct="1">
              <a:lnSpc>
                <a:spcPct val="90000"/>
              </a:lnSpc>
              <a:tabLst>
                <a:tab pos="3148013" algn="ctr"/>
              </a:tabLst>
              <a:defRPr/>
            </a:pPr>
            <a:r>
              <a:rPr lang="en-US" altLang="zh-TW" sz="2800" dirty="0" smtClean="0"/>
              <a:t>Variable </a:t>
            </a:r>
            <a:r>
              <a:rPr lang="en-US" altLang="zh-TW" sz="2800" b="1" i="1" dirty="0" smtClean="0"/>
              <a:t>v</a:t>
            </a:r>
            <a:r>
              <a:rPr lang="en-US" altLang="zh-TW" sz="2800" dirty="0" smtClean="0"/>
              <a:t> accessed only inside statement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3148013" algn="ctr"/>
              </a:tabLst>
              <a:defRPr/>
            </a:pPr>
            <a:r>
              <a:rPr lang="en-US" altLang="zh-TW" sz="2800" dirty="0" smtClean="0"/>
              <a:t>	</a:t>
            </a:r>
            <a:r>
              <a:rPr lang="en-US" altLang="zh-TW" sz="2800" dirty="0" smtClean="0">
                <a:solidFill>
                  <a:srgbClr val="FF0000"/>
                </a:solidFill>
              </a:rPr>
              <a:t>	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region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when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do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zh-TW" sz="2800" dirty="0" smtClean="0">
                <a:solidFill>
                  <a:srgbClr val="FF0000"/>
                </a:solidFill>
              </a:rPr>
              <a:t/>
            </a:r>
            <a:br>
              <a:rPr lang="en-US" altLang="zh-TW" sz="2800" dirty="0" smtClean="0">
                <a:solidFill>
                  <a:srgbClr val="FF0000"/>
                </a:solidFill>
              </a:rPr>
            </a:br>
            <a:r>
              <a:rPr lang="en-US" altLang="zh-TW" sz="2800" dirty="0" smtClean="0"/>
              <a:t>where </a:t>
            </a:r>
            <a:r>
              <a:rPr lang="en-US" altLang="zh-TW" sz="2800" b="1" i="1" dirty="0" smtClean="0"/>
              <a:t>B</a:t>
            </a:r>
            <a:r>
              <a:rPr lang="en-US" altLang="zh-TW" sz="2800" dirty="0" smtClean="0"/>
              <a:t> is a </a:t>
            </a:r>
            <a:r>
              <a:rPr lang="en-US" altLang="zh-TW" sz="2800" dirty="0" err="1" smtClean="0"/>
              <a:t>boolean</a:t>
            </a:r>
            <a:r>
              <a:rPr lang="en-US" altLang="zh-TW" sz="2800" dirty="0" smtClean="0"/>
              <a:t> expression.</a:t>
            </a:r>
            <a:br>
              <a:rPr lang="en-US" altLang="zh-TW" sz="2800" dirty="0" smtClean="0"/>
            </a:br>
            <a:endParaRPr lang="en-US" altLang="zh-TW" sz="2800" dirty="0" smtClean="0"/>
          </a:p>
          <a:p>
            <a:pPr eaLnBrk="1" hangingPunct="1">
              <a:lnSpc>
                <a:spcPct val="90000"/>
              </a:lnSpc>
              <a:tabLst>
                <a:tab pos="3148013" algn="ctr"/>
              </a:tabLst>
              <a:defRPr/>
            </a:pPr>
            <a:r>
              <a:rPr lang="en-US" altLang="zh-TW" sz="2800" dirty="0" smtClean="0"/>
              <a:t>When statement </a:t>
            </a:r>
            <a:r>
              <a:rPr lang="en-US" altLang="zh-TW" sz="2800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zh-TW" sz="2800" dirty="0" smtClean="0"/>
              <a:t> is being executed, no other process can access variable </a:t>
            </a:r>
            <a:r>
              <a:rPr lang="en-US" altLang="zh-TW" sz="2800" b="1" i="1" dirty="0" smtClean="0"/>
              <a:t>v</a:t>
            </a:r>
            <a:r>
              <a:rPr lang="en-US" altLang="zh-TW" sz="2800" dirty="0" smtClean="0"/>
              <a:t>.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3148013" algn="ctr"/>
              </a:tabLst>
              <a:defRPr/>
            </a:pPr>
            <a:r>
              <a:rPr lang="en-US" altLang="zh-TW" sz="2800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zh-TW" sz="2800" dirty="0" smtClean="0"/>
              <a:t> is executed only when </a:t>
            </a:r>
            <a:r>
              <a:rPr lang="en-US" altLang="zh-TW" sz="2800" b="1" dirty="0" smtClean="0"/>
              <a:t>B</a:t>
            </a:r>
            <a:r>
              <a:rPr lang="en-US" altLang="zh-TW" sz="2800" dirty="0" smtClean="0"/>
              <a:t> is true.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3148013" algn="ctr"/>
              </a:tabLst>
              <a:defRPr/>
            </a:pP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7A63E3-E7F4-45E2-83D8-18CDCAF52DC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16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16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1B7EA7-1B86-443D-B13B-F0919D36FA4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kumimoji="0" lang="en-US" altLang="zh-TW" sz="1400" smtClean="0"/>
          </a:p>
        </p:txBody>
      </p:sp>
      <p:sp>
        <p:nvSpPr>
          <p:cNvPr id="111621" name="Rectangle 2"/>
          <p:cNvSpPr>
            <a:spLocks noGrp="1" noChangeArrowheads="1"/>
          </p:cNvSpPr>
          <p:nvPr>
            <p:ph type="title"/>
          </p:nvPr>
        </p:nvSpPr>
        <p:spPr>
          <a:xfrm>
            <a:off x="573088" y="527050"/>
            <a:ext cx="7772400" cy="639763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solidFill>
                  <a:srgbClr val="FF0000"/>
                </a:solidFill>
              </a:rPr>
              <a:t>Critical Regions (2)</a:t>
            </a:r>
          </a:p>
        </p:txBody>
      </p:sp>
      <p:sp>
        <p:nvSpPr>
          <p:cNvPr id="76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2288" y="1265238"/>
            <a:ext cx="8053387" cy="4562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/>
              <a:t>Regions referring to the same shared variable exclude each other in time.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p"/>
              <a:defRPr/>
            </a:pPr>
            <a:r>
              <a:rPr lang="en-US" altLang="zh-TW" sz="2800" smtClean="0"/>
              <a:t>When a process tries to execute the region statement, the Boolean expression </a:t>
            </a:r>
            <a:r>
              <a:rPr lang="en-US" altLang="zh-TW" sz="2800" i="1" smtClean="0"/>
              <a:t>B</a:t>
            </a:r>
            <a:r>
              <a:rPr lang="en-US" altLang="zh-TW" sz="2800" smtClean="0"/>
              <a:t> is evaluated. 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  <a:defRPr/>
            </a:pPr>
            <a:r>
              <a:rPr lang="en-US" altLang="zh-TW" sz="2800" smtClean="0">
                <a:solidFill>
                  <a:srgbClr val="FF0000"/>
                </a:solidFill>
              </a:rPr>
              <a:t>If </a:t>
            </a:r>
            <a:r>
              <a:rPr lang="en-US" altLang="zh-TW" sz="2800" i="1" smtClean="0">
                <a:solidFill>
                  <a:srgbClr val="FF0000"/>
                </a:solidFill>
              </a:rPr>
              <a:t>B</a:t>
            </a:r>
            <a:r>
              <a:rPr lang="en-US" altLang="zh-TW" sz="2800" smtClean="0">
                <a:solidFill>
                  <a:srgbClr val="FF0000"/>
                </a:solidFill>
              </a:rPr>
              <a:t> is true, statement </a:t>
            </a:r>
            <a:r>
              <a:rPr lang="en-US" altLang="zh-TW" sz="2800" b="1" i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zh-TW" sz="2800" smtClean="0">
                <a:solidFill>
                  <a:srgbClr val="FF0000"/>
                </a:solidFill>
              </a:rPr>
              <a:t> is executed</a:t>
            </a:r>
            <a:r>
              <a:rPr lang="en-US" altLang="zh-TW" sz="2800" smtClean="0"/>
              <a:t>. 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  <a:defRPr/>
            </a:pPr>
            <a:r>
              <a:rPr lang="en-US" altLang="zh-TW" sz="2800" smtClean="0"/>
              <a:t>If it is false, the process is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delayed</a:t>
            </a:r>
            <a:r>
              <a:rPr lang="en-US" altLang="zh-TW" sz="2800" smtClean="0"/>
              <a:t> until </a:t>
            </a:r>
            <a:r>
              <a:rPr lang="en-US" altLang="zh-TW" sz="2800" i="1" smtClean="0"/>
              <a:t>B</a:t>
            </a:r>
            <a:r>
              <a:rPr lang="en-US" altLang="zh-TW" sz="2800" smtClean="0"/>
              <a:t> becomes true and no other process is in the region associated with </a:t>
            </a:r>
            <a:r>
              <a:rPr lang="en-US" altLang="zh-TW" sz="2800" i="1" smtClean="0"/>
              <a:t>v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BCA482-23B4-4749-9469-8505A5D52082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26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26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B9A26B-C12C-4359-ACFF-D60D3704AF5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kumimoji="0" lang="en-US" altLang="zh-TW" sz="1400" smtClean="0"/>
          </a:p>
        </p:txBody>
      </p:sp>
      <p:sp>
        <p:nvSpPr>
          <p:cNvPr id="112645" name="Rectangle 2"/>
          <p:cNvSpPr>
            <a:spLocks noChangeArrowheads="1"/>
          </p:cNvSpPr>
          <p:nvPr/>
        </p:nvSpPr>
        <p:spPr bwMode="auto">
          <a:xfrm>
            <a:off x="954088" y="1096963"/>
            <a:ext cx="5476875" cy="1563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646" name="Rectangle 3"/>
          <p:cNvSpPr>
            <a:spLocks noChangeArrowheads="1"/>
          </p:cNvSpPr>
          <p:nvPr/>
        </p:nvSpPr>
        <p:spPr bwMode="auto">
          <a:xfrm>
            <a:off x="4597400" y="3468688"/>
            <a:ext cx="3822700" cy="204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647" name="Rectangle 4"/>
          <p:cNvSpPr>
            <a:spLocks noChangeArrowheads="1"/>
          </p:cNvSpPr>
          <p:nvPr/>
        </p:nvSpPr>
        <p:spPr bwMode="auto">
          <a:xfrm>
            <a:off x="530225" y="3449638"/>
            <a:ext cx="3656013" cy="20970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648" name="Rectangle 5"/>
          <p:cNvSpPr>
            <a:spLocks noChangeArrowheads="1"/>
          </p:cNvSpPr>
          <p:nvPr/>
        </p:nvSpPr>
        <p:spPr bwMode="auto">
          <a:xfrm>
            <a:off x="587375" y="3625850"/>
            <a:ext cx="366871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region </a:t>
            </a:r>
            <a:r>
              <a:rPr lang="en-US" altLang="zh-TW" sz="2000" b="1">
                <a:solidFill>
                  <a:srgbClr val="009900"/>
                </a:solidFill>
                <a:latin typeface="Times New Roman" pitchFamily="18" charset="0"/>
              </a:rPr>
              <a:t>buffer</a:t>
            </a:r>
            <a:r>
              <a:rPr lang="en-US" altLang="zh-TW" sz="2000" b="1">
                <a:latin typeface="Times New Roman" pitchFamily="18" charset="0"/>
              </a:rPr>
              <a:t> when (count &lt; </a:t>
            </a:r>
            <a:r>
              <a:rPr lang="en-US" altLang="zh-TW" sz="2000" b="1" i="1">
                <a:latin typeface="Times New Roman" pitchFamily="18" charset="0"/>
              </a:rPr>
              <a:t>n</a:t>
            </a:r>
            <a:r>
              <a:rPr lang="en-US" altLang="zh-TW" sz="2000" b="1">
                <a:latin typeface="Times New Roman" pitchFamily="18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        pool[in] := nextp;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        in := (in+1) % </a:t>
            </a:r>
            <a:r>
              <a:rPr lang="en-US" altLang="zh-TW" sz="2000" b="1" i="1">
                <a:latin typeface="Times New Roman" pitchFamily="18" charset="0"/>
              </a:rPr>
              <a:t>n</a:t>
            </a:r>
            <a:r>
              <a:rPr lang="en-US" altLang="zh-TW" sz="2000" b="1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        count ++; }</a:t>
            </a:r>
          </a:p>
        </p:txBody>
      </p:sp>
      <p:sp>
        <p:nvSpPr>
          <p:cNvPr id="112649" name="Rectangle 6"/>
          <p:cNvSpPr>
            <a:spLocks noChangeArrowheads="1"/>
          </p:cNvSpPr>
          <p:nvPr/>
        </p:nvSpPr>
        <p:spPr bwMode="auto">
          <a:xfrm>
            <a:off x="4662488" y="3659188"/>
            <a:ext cx="365442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region </a:t>
            </a:r>
            <a:r>
              <a:rPr lang="en-US" altLang="zh-TW" sz="2000" b="1">
                <a:solidFill>
                  <a:srgbClr val="009900"/>
                </a:solidFill>
                <a:latin typeface="Times New Roman" pitchFamily="18" charset="0"/>
              </a:rPr>
              <a:t>buffer</a:t>
            </a:r>
            <a:r>
              <a:rPr lang="en-US" altLang="zh-TW" sz="2000" b="1">
                <a:latin typeface="Times New Roman" pitchFamily="18" charset="0"/>
              </a:rPr>
              <a:t> when (count &gt; 0) {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		nextc := pool[out];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     out := (out +1) % </a:t>
            </a:r>
            <a:r>
              <a:rPr lang="en-US" altLang="zh-TW" sz="2000" b="1" i="1">
                <a:latin typeface="Times New Roman" pitchFamily="18" charset="0"/>
              </a:rPr>
              <a:t>n</a:t>
            </a:r>
            <a:r>
              <a:rPr lang="en-US" altLang="zh-TW" sz="2000" b="1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         count := count --; }</a:t>
            </a:r>
          </a:p>
        </p:txBody>
      </p:sp>
      <p:sp>
        <p:nvSpPr>
          <p:cNvPr id="112650" name="Rectangle 7"/>
          <p:cNvSpPr>
            <a:spLocks noChangeArrowheads="1"/>
          </p:cNvSpPr>
          <p:nvPr/>
        </p:nvSpPr>
        <p:spPr bwMode="auto">
          <a:xfrm>
            <a:off x="1009650" y="1160463"/>
            <a:ext cx="49117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000"/>
              <a:t>Shared data:</a:t>
            </a:r>
            <a:br>
              <a:rPr lang="en-US" altLang="zh-TW" sz="2000"/>
            </a:br>
            <a:r>
              <a:rPr lang="en-US" altLang="zh-TW" sz="2000"/>
              <a:t>		</a:t>
            </a:r>
            <a:r>
              <a:rPr lang="en-US" altLang="zh-TW" sz="2000" b="1"/>
              <a:t>struct </a:t>
            </a:r>
            <a:r>
              <a:rPr lang="en-US" altLang="zh-TW" sz="2000" b="1">
                <a:solidFill>
                  <a:srgbClr val="009900"/>
                </a:solidFill>
              </a:rPr>
              <a:t>buffer</a:t>
            </a:r>
            <a:r>
              <a:rPr lang="en-US" altLang="zh-TW" sz="2000" b="1"/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1"/>
              <a:t>			int pool[</a:t>
            </a:r>
            <a:r>
              <a:rPr lang="en-US" altLang="zh-TW" sz="2000" b="1" i="1">
                <a:latin typeface="Times New Roman" pitchFamily="18" charset="0"/>
              </a:rPr>
              <a:t>n</a:t>
            </a:r>
            <a:r>
              <a:rPr lang="en-US" altLang="zh-TW" sz="2000" b="1"/>
              <a:t>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1"/>
              <a:t>			int </a:t>
            </a:r>
            <a:r>
              <a:rPr lang="en-US" altLang="zh-TW" sz="2000" b="1">
                <a:solidFill>
                  <a:srgbClr val="FF0000"/>
                </a:solidFill>
              </a:rPr>
              <a:t>count, in, out</a:t>
            </a:r>
            <a:r>
              <a:rPr lang="en-US" altLang="zh-TW" sz="2000" b="1"/>
              <a:t>;	}</a:t>
            </a:r>
          </a:p>
        </p:txBody>
      </p:sp>
      <p:sp>
        <p:nvSpPr>
          <p:cNvPr id="112651" name="Rectangle 8"/>
          <p:cNvSpPr>
            <a:spLocks noChangeArrowheads="1"/>
          </p:cNvSpPr>
          <p:nvPr/>
        </p:nvSpPr>
        <p:spPr bwMode="auto">
          <a:xfrm>
            <a:off x="5767388" y="2900363"/>
            <a:ext cx="1662112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rgbClr val="FF0000"/>
                </a:solidFill>
                <a:latin typeface="Times New Roman" pitchFamily="18" charset="0"/>
              </a:rPr>
              <a:t>consumer</a:t>
            </a:r>
          </a:p>
        </p:txBody>
      </p:sp>
      <p:sp>
        <p:nvSpPr>
          <p:cNvPr id="112652" name="Rectangle 9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1950" y="381000"/>
            <a:ext cx="8534400" cy="5524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4000" smtClean="0"/>
              <a:t>Example </a:t>
            </a:r>
            <a:r>
              <a:rPr lang="en-US" altLang="zh-TW" sz="4000" smtClean="0">
                <a:latin typeface="Helvetica" pitchFamily="34" charset="0"/>
              </a:rPr>
              <a:t>–</a:t>
            </a:r>
            <a:r>
              <a:rPr lang="en-US" altLang="zh-TW" sz="4000" smtClean="0"/>
              <a:t> Bounded Buffer</a:t>
            </a:r>
          </a:p>
        </p:txBody>
      </p:sp>
      <p:sp>
        <p:nvSpPr>
          <p:cNvPr id="112653" name="Text Box 10"/>
          <p:cNvSpPr txBox="1">
            <a:spLocks noChangeArrowheads="1"/>
          </p:cNvSpPr>
          <p:nvPr/>
        </p:nvSpPr>
        <p:spPr bwMode="auto">
          <a:xfrm>
            <a:off x="1755775" y="2844800"/>
            <a:ext cx="15859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rgbClr val="FF0000"/>
                </a:solidFill>
                <a:latin typeface="Times New Roman" pitchFamily="18" charset="0"/>
              </a:rPr>
              <a:t>producer</a:t>
            </a:r>
          </a:p>
        </p:txBody>
      </p:sp>
      <p:sp>
        <p:nvSpPr>
          <p:cNvPr id="112654" name="Text Box 11"/>
          <p:cNvSpPr txBox="1">
            <a:spLocks noChangeArrowheads="1"/>
          </p:cNvSpPr>
          <p:nvPr/>
        </p:nvSpPr>
        <p:spPr bwMode="auto">
          <a:xfrm>
            <a:off x="6589713" y="1295400"/>
            <a:ext cx="2268537" cy="110013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Initially,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	count=0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	in=out=0</a:t>
            </a:r>
          </a:p>
        </p:txBody>
      </p:sp>
      <p:sp>
        <p:nvSpPr>
          <p:cNvPr id="112655" name="Line 12"/>
          <p:cNvSpPr>
            <a:spLocks noChangeShapeType="1"/>
          </p:cNvSpPr>
          <p:nvPr/>
        </p:nvSpPr>
        <p:spPr bwMode="auto">
          <a:xfrm flipH="1">
            <a:off x="6019800" y="1828800"/>
            <a:ext cx="114300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DD6BBF4-1C73-4262-A6D8-4883B50D6AFF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36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36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5A9C4F-1F1C-4260-ADF0-F795F4E208D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kumimoji="0" lang="en-US" altLang="zh-TW" sz="1400" smtClean="0"/>
          </a:p>
        </p:txBody>
      </p:sp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>
          <a:xfrm>
            <a:off x="280988" y="487363"/>
            <a:ext cx="8612187" cy="546100"/>
          </a:xfrm>
        </p:spPr>
        <p:txBody>
          <a:bodyPr/>
          <a:lstStyle/>
          <a:p>
            <a:pPr eaLnBrk="1" hangingPunct="1"/>
            <a:r>
              <a:rPr lang="en-US" altLang="zh-TW" sz="3800" smtClean="0">
                <a:solidFill>
                  <a:srgbClr val="000000"/>
                </a:solidFill>
              </a:rPr>
              <a:t>Implementation region </a:t>
            </a:r>
            <a:r>
              <a:rPr lang="en-US" altLang="zh-TW" sz="3800" b="1" i="1" smtClean="0">
                <a:solidFill>
                  <a:srgbClr val="000000"/>
                </a:solidFill>
              </a:rPr>
              <a:t>x</a:t>
            </a:r>
            <a:r>
              <a:rPr lang="en-US" altLang="zh-TW" sz="3800" smtClean="0">
                <a:solidFill>
                  <a:srgbClr val="000000"/>
                </a:solidFill>
              </a:rPr>
              <a:t> when </a:t>
            </a:r>
            <a:r>
              <a:rPr lang="en-US" altLang="zh-TW" sz="3800" b="1" i="1" smtClean="0">
                <a:solidFill>
                  <a:srgbClr val="000000"/>
                </a:solidFill>
              </a:rPr>
              <a:t>B</a:t>
            </a:r>
            <a:r>
              <a:rPr lang="en-US" altLang="zh-TW" sz="3800" smtClean="0">
                <a:solidFill>
                  <a:srgbClr val="000000"/>
                </a:solidFill>
              </a:rPr>
              <a:t> do </a:t>
            </a:r>
            <a:r>
              <a:rPr lang="en-US" altLang="zh-TW" sz="3800" b="1" i="1" smtClean="0">
                <a:solidFill>
                  <a:srgbClr val="000000"/>
                </a:solidFill>
              </a:rPr>
              <a:t>S</a:t>
            </a:r>
            <a:endParaRPr lang="en-US" altLang="zh-TW" sz="3800" smtClean="0">
              <a:solidFill>
                <a:srgbClr val="000000"/>
              </a:solidFill>
            </a:endParaRPr>
          </a:p>
        </p:txBody>
      </p:sp>
      <p:sp>
        <p:nvSpPr>
          <p:cNvPr id="79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5913" y="1158875"/>
            <a:ext cx="8556625" cy="53276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3375025" algn="ctr"/>
              </a:tabLst>
            </a:pPr>
            <a:r>
              <a:rPr lang="en-US" altLang="zh-TW" sz="2800" smtClean="0"/>
              <a:t>Associate with the shared variable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, the following variables: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3375025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b="1" smtClean="0"/>
              <a:t>semaphore </a:t>
            </a:r>
            <a:r>
              <a:rPr lang="en-US" altLang="zh-TW" sz="2800" b="1" smtClean="0">
                <a:solidFill>
                  <a:srgbClr val="FF0000"/>
                </a:solidFill>
              </a:rPr>
              <a:t>mutex</a:t>
            </a:r>
            <a:r>
              <a:rPr lang="en-US" altLang="zh-TW" sz="2800" b="1" smtClean="0"/>
              <a:t>, </a:t>
            </a:r>
            <a:r>
              <a:rPr lang="en-US" altLang="zh-TW" sz="2800" b="1" smtClean="0">
                <a:solidFill>
                  <a:srgbClr val="0000FF"/>
                </a:solidFill>
              </a:rPr>
              <a:t>first-delay</a:t>
            </a:r>
            <a:r>
              <a:rPr lang="en-US" altLang="zh-TW" sz="2800" b="1" smtClean="0"/>
              <a:t>, </a:t>
            </a:r>
            <a:r>
              <a:rPr lang="en-US" altLang="zh-TW" sz="2800" b="1" smtClean="0">
                <a:solidFill>
                  <a:srgbClr val="0000FF"/>
                </a:solidFill>
              </a:rPr>
              <a:t>second-delay</a:t>
            </a:r>
            <a:r>
              <a:rPr lang="en-US" altLang="zh-TW" sz="2800" b="1" smtClean="0"/>
              <a:t>;</a:t>
            </a:r>
            <a:br>
              <a:rPr lang="en-US" altLang="zh-TW" sz="2800" b="1" smtClean="0"/>
            </a:br>
            <a:r>
              <a:rPr lang="en-US" altLang="zh-TW" sz="2800" b="1" smtClean="0"/>
              <a:t>              int first-count, second-count;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3375025" algn="ctr"/>
              </a:tabLst>
            </a:pPr>
            <a:r>
              <a:rPr lang="en-US" altLang="zh-TW" sz="2800" smtClean="0"/>
              <a:t>Mutually exclusive access to the critical section is provided by </a:t>
            </a:r>
            <a:r>
              <a:rPr lang="en-US" altLang="zh-TW" sz="2800" b="1" smtClean="0">
                <a:solidFill>
                  <a:srgbClr val="FF0000"/>
                </a:solidFill>
              </a:rPr>
              <a:t>mutex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3375025" algn="ctr"/>
              </a:tabLst>
            </a:pPr>
            <a:r>
              <a:rPr lang="en-US" altLang="zh-TW" sz="2800" smtClean="0"/>
              <a:t>If a process cannot enter the critical section because the Boolean expression </a:t>
            </a:r>
            <a:r>
              <a:rPr lang="en-US" altLang="zh-TW" sz="2800" b="1" smtClean="0"/>
              <a:t>B</a:t>
            </a:r>
            <a:r>
              <a:rPr lang="en-US" altLang="zh-TW" sz="2800" smtClean="0"/>
              <a:t> is false, </a:t>
            </a:r>
          </a:p>
          <a:p>
            <a:pPr lvl="1" eaLnBrk="1" hangingPunct="1">
              <a:lnSpc>
                <a:spcPct val="90000"/>
              </a:lnSpc>
              <a:tabLst>
                <a:tab pos="3375025" algn="ctr"/>
              </a:tabLst>
            </a:pPr>
            <a:r>
              <a:rPr lang="en-US" altLang="zh-TW" sz="2400" smtClean="0"/>
              <a:t>it initially </a:t>
            </a:r>
            <a:r>
              <a:rPr lang="en-US" altLang="zh-TW" sz="2400" b="1" smtClean="0">
                <a:solidFill>
                  <a:srgbClr val="FF0000"/>
                </a:solidFill>
              </a:rPr>
              <a:t>waits</a:t>
            </a:r>
            <a:r>
              <a:rPr lang="en-US" altLang="zh-TW" sz="2400" smtClean="0"/>
              <a:t> on the </a:t>
            </a:r>
            <a:r>
              <a:rPr lang="en-US" altLang="zh-TW" sz="2400" b="1" smtClean="0"/>
              <a:t>first-delay </a:t>
            </a:r>
            <a:r>
              <a:rPr lang="en-US" altLang="zh-TW" sz="2400" smtClean="0"/>
              <a:t>semaphore; </a:t>
            </a:r>
          </a:p>
          <a:p>
            <a:pPr lvl="1" eaLnBrk="1" hangingPunct="1">
              <a:lnSpc>
                <a:spcPct val="90000"/>
              </a:lnSpc>
              <a:tabLst>
                <a:tab pos="3375025" algn="ctr"/>
              </a:tabLst>
            </a:pPr>
            <a:r>
              <a:rPr lang="en-US" altLang="zh-TW" sz="2400" b="1" smtClean="0">
                <a:solidFill>
                  <a:srgbClr val="FF0000"/>
                </a:solidFill>
              </a:rPr>
              <a:t>moved</a:t>
            </a:r>
            <a:r>
              <a:rPr lang="en-US" altLang="zh-TW" sz="2400" smtClean="0"/>
              <a:t> to the </a:t>
            </a:r>
            <a:r>
              <a:rPr lang="en-US" altLang="zh-TW" sz="2400" b="1" smtClean="0"/>
              <a:t>second-delay </a:t>
            </a:r>
            <a:r>
              <a:rPr lang="en-US" altLang="zh-TW" sz="2400" smtClean="0"/>
              <a:t>semaphore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3375025" algn="ctr"/>
              </a:tabLst>
            </a:pPr>
            <a:r>
              <a:rPr lang="en-US" altLang="zh-TW" sz="2800" smtClean="0"/>
              <a:t>	before it is allowed to </a:t>
            </a:r>
            <a:r>
              <a:rPr lang="en-US" altLang="zh-TW" sz="2800" smtClean="0">
                <a:solidFill>
                  <a:srgbClr val="0000FF"/>
                </a:solidFill>
              </a:rPr>
              <a:t>reevaluate </a:t>
            </a:r>
            <a:r>
              <a:rPr lang="en-US" altLang="zh-TW" sz="2800" i="1" smtClean="0">
                <a:solidFill>
                  <a:srgbClr val="0000FF"/>
                </a:solidFill>
              </a:rPr>
              <a:t>B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1975A24-31DD-443B-84D4-044C31FAA6D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46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46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31CAFCF-BA3A-4F87-9701-13B49EE3F21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kumimoji="0" lang="en-US" altLang="zh-TW" sz="1400" smtClean="0"/>
          </a:p>
        </p:txBody>
      </p:sp>
      <p:sp>
        <p:nvSpPr>
          <p:cNvPr id="114693" name="Rectangle 2"/>
          <p:cNvSpPr>
            <a:spLocks noGrp="1" noChangeArrowheads="1"/>
          </p:cNvSpPr>
          <p:nvPr>
            <p:ph type="title"/>
          </p:nvPr>
        </p:nvSpPr>
        <p:spPr>
          <a:xfrm>
            <a:off x="554038" y="398463"/>
            <a:ext cx="7772400" cy="806450"/>
          </a:xfrm>
        </p:spPr>
        <p:txBody>
          <a:bodyPr/>
          <a:lstStyle/>
          <a:p>
            <a:pPr eaLnBrk="1" hangingPunct="1"/>
            <a:r>
              <a:rPr lang="en-US" altLang="zh-TW" smtClean="0"/>
              <a:t>Implementation</a:t>
            </a:r>
          </a:p>
        </p:txBody>
      </p:sp>
      <p:sp>
        <p:nvSpPr>
          <p:cNvPr id="1146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2763" y="1182688"/>
            <a:ext cx="8256587" cy="4748212"/>
          </a:xfrm>
        </p:spPr>
        <p:txBody>
          <a:bodyPr/>
          <a:lstStyle/>
          <a:p>
            <a:pPr eaLnBrk="1" hangingPunct="1"/>
            <a:r>
              <a:rPr lang="en-US" altLang="zh-TW" smtClean="0"/>
              <a:t>Keep track of the number of processes waiting on </a:t>
            </a:r>
            <a:r>
              <a:rPr lang="en-US" altLang="zh-TW" b="1" smtClean="0">
                <a:solidFill>
                  <a:srgbClr val="0000FF"/>
                </a:solidFill>
              </a:rPr>
              <a:t>first-delay</a:t>
            </a:r>
            <a:r>
              <a:rPr lang="en-US" altLang="zh-TW" smtClean="0"/>
              <a:t> and </a:t>
            </a:r>
            <a:r>
              <a:rPr lang="en-US" altLang="zh-TW" b="1" smtClean="0">
                <a:solidFill>
                  <a:srgbClr val="FF0000"/>
                </a:solidFill>
              </a:rPr>
              <a:t>second-delay</a:t>
            </a:r>
            <a:r>
              <a:rPr lang="en-US" altLang="zh-TW" smtClean="0"/>
              <a:t>, with </a:t>
            </a:r>
            <a:r>
              <a:rPr lang="en-US" altLang="zh-TW" b="1" smtClean="0">
                <a:solidFill>
                  <a:srgbClr val="0000FF"/>
                </a:solidFill>
              </a:rPr>
              <a:t>first-count</a:t>
            </a:r>
            <a:r>
              <a:rPr lang="en-US" altLang="zh-TW" smtClean="0"/>
              <a:t> and </a:t>
            </a:r>
            <a:r>
              <a:rPr lang="en-US" altLang="zh-TW" b="1" smtClean="0">
                <a:solidFill>
                  <a:srgbClr val="FF0000"/>
                </a:solidFill>
              </a:rPr>
              <a:t>second-count</a:t>
            </a:r>
            <a:r>
              <a:rPr lang="en-US" altLang="zh-TW" smtClean="0"/>
              <a:t> respectively.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The algorithm assumes a FIFO ordering in the queuing of processes for a semaphore.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For an arbitrary queuing discipline, a more complicated implementation is required.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版面配置區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C695AA5-9488-450F-8C43-C0477CC5D7F7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5715" name="頁尾版面配置區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5716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41BA24-57A2-417C-A6B5-2AFACF6BF62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kumimoji="0" lang="en-US" altLang="zh-TW" sz="1400" smtClean="0"/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dirty="0" smtClean="0"/>
              <a:t>Implementation of the Conditional-region construct</a:t>
            </a:r>
            <a:endParaRPr lang="zh-TW" altLang="en-US" sz="3200" dirty="0" smtClean="0"/>
          </a:p>
        </p:txBody>
      </p:sp>
      <p:sp>
        <p:nvSpPr>
          <p:cNvPr id="161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352425" y="1662113"/>
            <a:ext cx="4238625" cy="46942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9900"/>
                </a:solidFill>
              </a:rPr>
              <a:t>wait(mutex);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/>
              <a:t>while(!</a:t>
            </a:r>
            <a:r>
              <a:rPr lang="en-US" altLang="zh-TW" sz="2400" b="1" smtClean="0"/>
              <a:t>B</a:t>
            </a:r>
            <a:r>
              <a:rPr lang="en-US" altLang="zh-TW" sz="2400" smtClean="0"/>
              <a:t>)	</a:t>
            </a:r>
            <a:r>
              <a:rPr lang="en-US" altLang="zh-TW" sz="2400" smtClean="0">
                <a:solidFill>
                  <a:srgbClr val="0000FF"/>
                </a:solidFill>
              </a:rPr>
              <a:t>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first_count++;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if(second-count &gt; 0)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	</a:t>
            </a:r>
            <a:r>
              <a:rPr lang="en-US" altLang="zh-TW" sz="2400" b="1" smtClean="0">
                <a:solidFill>
                  <a:srgbClr val="0000FF"/>
                </a:solidFill>
              </a:rPr>
              <a:t>signal</a:t>
            </a:r>
            <a:r>
              <a:rPr lang="en-US" altLang="zh-TW" sz="2400" smtClean="0">
                <a:solidFill>
                  <a:srgbClr val="0000FF"/>
                </a:solidFill>
              </a:rPr>
              <a:t>(second_delay);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else	</a:t>
            </a:r>
            <a:r>
              <a:rPr lang="en-US" altLang="zh-TW" sz="2400" smtClean="0">
                <a:solidFill>
                  <a:srgbClr val="009900"/>
                </a:solidFill>
              </a:rPr>
              <a:t>signal(mutex);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</a:t>
            </a:r>
            <a:r>
              <a:rPr lang="en-US" altLang="zh-TW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</a:t>
            </a:r>
            <a:r>
              <a:rPr lang="en-US" altLang="zh-TW" sz="2400" smtClean="0">
                <a:solidFill>
                  <a:srgbClr val="0000FF"/>
                </a:solidFill>
              </a:rPr>
              <a:t>(first_delay);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first_count--;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second_count++;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TW" sz="2400" smtClean="0">
              <a:solidFill>
                <a:srgbClr val="000000"/>
              </a:solidFill>
            </a:endParaRPr>
          </a:p>
        </p:txBody>
      </p:sp>
      <p:sp>
        <p:nvSpPr>
          <p:cNvPr id="16179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689475" y="1681163"/>
            <a:ext cx="4164013" cy="4711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smtClean="0"/>
              <a:t>	</a:t>
            </a:r>
            <a:r>
              <a:rPr lang="en-US" altLang="zh-TW" sz="2400" smtClean="0">
                <a:solidFill>
                  <a:srgbClr val="0000FF"/>
                </a:solidFill>
              </a:rPr>
              <a:t>if(first-count &gt; 0)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	</a:t>
            </a:r>
            <a:r>
              <a:rPr lang="en-US" altLang="zh-TW" sz="2400" b="1" smtClean="0">
                <a:solidFill>
                  <a:srgbClr val="0000FF"/>
                </a:solidFill>
              </a:rPr>
              <a:t>signal</a:t>
            </a:r>
            <a:r>
              <a:rPr lang="en-US" altLang="zh-TW" sz="2400" smtClean="0">
                <a:solidFill>
                  <a:srgbClr val="0000FF"/>
                </a:solidFill>
              </a:rPr>
              <a:t>(first_delay);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else	signal(second_delay);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</a:t>
            </a:r>
            <a:r>
              <a:rPr lang="en-US" altLang="zh-TW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</a:t>
            </a:r>
            <a:r>
              <a:rPr lang="en-US" altLang="zh-TW" sz="2400" smtClean="0">
                <a:solidFill>
                  <a:srgbClr val="0000FF"/>
                </a:solidFill>
              </a:rPr>
              <a:t>(second_delay);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	second_count--;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0000FF"/>
                </a:solidFill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zh-TW" sz="2400" smtClean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FF0000"/>
                </a:solidFill>
              </a:rPr>
              <a:t>if(first-count &gt; 0)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FF0000"/>
                </a:solidFill>
              </a:rPr>
              <a:t>	</a:t>
            </a:r>
            <a:r>
              <a:rPr lang="en-US" altLang="zh-TW" sz="2400" b="1" smtClean="0">
                <a:solidFill>
                  <a:srgbClr val="0000FF"/>
                </a:solidFill>
              </a:rPr>
              <a:t>signal</a:t>
            </a:r>
            <a:r>
              <a:rPr lang="en-US" altLang="zh-TW" sz="2400" smtClean="0">
                <a:solidFill>
                  <a:srgbClr val="0000FF"/>
                </a:solidFill>
              </a:rPr>
              <a:t>(first_delay);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FF0000"/>
                </a:solidFill>
              </a:rPr>
              <a:t>else if (second-count &gt; 0)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FF0000"/>
                </a:solidFill>
              </a:rPr>
              <a:t>	</a:t>
            </a:r>
            <a:r>
              <a:rPr lang="en-US" altLang="zh-TW" sz="2400" b="1" smtClean="0">
                <a:solidFill>
                  <a:srgbClr val="0000FF"/>
                </a:solidFill>
              </a:rPr>
              <a:t>signal</a:t>
            </a:r>
            <a:r>
              <a:rPr lang="en-US" altLang="zh-TW" sz="2400" smtClean="0">
                <a:solidFill>
                  <a:srgbClr val="0000FF"/>
                </a:solidFill>
              </a:rPr>
              <a:t>(second_delay);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smtClean="0">
                <a:solidFill>
                  <a:srgbClr val="FF0000"/>
                </a:solidFill>
              </a:rPr>
              <a:t>else </a:t>
            </a:r>
            <a:r>
              <a:rPr lang="en-US" altLang="zh-TW" sz="2400" smtClean="0">
                <a:solidFill>
                  <a:srgbClr val="009900"/>
                </a:solidFill>
              </a:rPr>
              <a:t>signal(mutex);</a:t>
            </a:r>
          </a:p>
        </p:txBody>
      </p:sp>
      <p:sp>
        <p:nvSpPr>
          <p:cNvPr id="115720" name="Line 5"/>
          <p:cNvSpPr>
            <a:spLocks noChangeShapeType="1"/>
          </p:cNvSpPr>
          <p:nvPr/>
        </p:nvSpPr>
        <p:spPr bwMode="auto">
          <a:xfrm flipV="1">
            <a:off x="4338638" y="3101975"/>
            <a:ext cx="727075" cy="5016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15721" name="Line 6"/>
          <p:cNvSpPr>
            <a:spLocks noChangeShapeType="1"/>
          </p:cNvSpPr>
          <p:nvPr/>
        </p:nvSpPr>
        <p:spPr bwMode="auto">
          <a:xfrm flipH="1" flipV="1">
            <a:off x="3227388" y="4589463"/>
            <a:ext cx="1855787" cy="5286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15722" name="Text Box 7"/>
          <p:cNvSpPr txBox="1">
            <a:spLocks noChangeArrowheads="1"/>
          </p:cNvSpPr>
          <p:nvPr/>
        </p:nvSpPr>
        <p:spPr bwMode="auto">
          <a:xfrm>
            <a:off x="46038" y="1296988"/>
            <a:ext cx="2151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  <a:sym typeface="Wingdings 3" pitchFamily="18" charset="2"/>
              </a:rPr>
              <a:t>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New: </a:t>
            </a:r>
            <a:r>
              <a:rPr lang="en-US" altLang="zh-TW" sz="1600">
                <a:solidFill>
                  <a:srgbClr val="666699"/>
                </a:solidFill>
                <a:latin typeface="Comic Sans MS" pitchFamily="66" charset="0"/>
                <a:ea typeface="MS UI Gothic" pitchFamily="34" charset="-128"/>
              </a:rPr>
              <a:t>P1, P2,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P3</a:t>
            </a:r>
            <a:r>
              <a:rPr lang="en-US" altLang="zh-TW" sz="1600">
                <a:solidFill>
                  <a:srgbClr val="666699"/>
                </a:solidFill>
                <a:latin typeface="Comic Sans MS" pitchFamily="66" charset="0"/>
                <a:ea typeface="MS UI Gothic" pitchFamily="34" charset="-128"/>
              </a:rPr>
              <a:t>,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latin typeface="Comic Sans MS" pitchFamily="66" charset="0"/>
                <a:ea typeface="MS UI Gothic" pitchFamily="34" charset="-128"/>
              </a:rPr>
              <a:t>P4</a:t>
            </a:r>
            <a:endParaRPr lang="en-US" altLang="zh-TW" sz="1600">
              <a:solidFill>
                <a:srgbClr val="000000"/>
              </a:solidFill>
              <a:latin typeface="Comic Sans MS" pitchFamily="66" charset="0"/>
              <a:ea typeface="MS UI Gothic" pitchFamily="34" charset="-128"/>
            </a:endParaRPr>
          </a:p>
        </p:txBody>
      </p:sp>
      <p:sp>
        <p:nvSpPr>
          <p:cNvPr id="115723" name="Text Box 8"/>
          <p:cNvSpPr txBox="1">
            <a:spLocks noChangeArrowheads="1"/>
          </p:cNvSpPr>
          <p:nvPr/>
        </p:nvSpPr>
        <p:spPr bwMode="auto">
          <a:xfrm>
            <a:off x="88900" y="4192588"/>
            <a:ext cx="642938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9900"/>
                </a:solidFill>
                <a:sym typeface="Wingdings 3" pitchFamily="18" charset="2"/>
              </a:rPr>
              <a:t></a:t>
            </a:r>
            <a:r>
              <a:rPr lang="en-US" altLang="zh-TW" sz="1600">
                <a:solidFill>
                  <a:srgbClr val="009900"/>
                </a:solidFill>
              </a:rPr>
              <a:t>1</a:t>
            </a:r>
            <a:r>
              <a:rPr lang="en-US" altLang="zh-TW" sz="1600" baseline="30000">
                <a:solidFill>
                  <a:srgbClr val="009900"/>
                </a:solidFill>
              </a:rPr>
              <a:t>st</a:t>
            </a:r>
            <a:r>
              <a:rPr lang="en-US" altLang="zh-TW" sz="1600">
                <a:solidFill>
                  <a:srgbClr val="000000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666699"/>
                </a:solidFill>
              </a:rPr>
              <a:t>P1,</a:t>
            </a:r>
            <a:r>
              <a:rPr lang="en-US" altLang="zh-TW" sz="1400"/>
              <a:t>P2</a:t>
            </a:r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15724" name="Text Box 9"/>
          <p:cNvSpPr txBox="1">
            <a:spLocks noChangeArrowheads="1"/>
          </p:cNvSpPr>
          <p:nvPr/>
        </p:nvSpPr>
        <p:spPr bwMode="auto">
          <a:xfrm>
            <a:off x="8174038" y="292576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sym typeface="Wingdings 3" pitchFamily="18" charset="2"/>
              </a:rPr>
              <a:t></a:t>
            </a:r>
            <a:r>
              <a:rPr lang="en-US" altLang="zh-TW" sz="1600">
                <a:solidFill>
                  <a:srgbClr val="0000FF"/>
                </a:solidFill>
              </a:rPr>
              <a:t>2</a:t>
            </a:r>
            <a:r>
              <a:rPr lang="en-US" altLang="zh-TW" sz="1600" baseline="30000">
                <a:solidFill>
                  <a:srgbClr val="0000FF"/>
                </a:solidFill>
              </a:rPr>
              <a:t>nd</a:t>
            </a:r>
            <a:r>
              <a:rPr lang="en-US" altLang="zh-TW" sz="1600">
                <a:solidFill>
                  <a:srgbClr val="000000"/>
                </a:solidFill>
              </a:rPr>
              <a:t>:P1</a:t>
            </a:r>
          </a:p>
        </p:txBody>
      </p:sp>
      <p:sp>
        <p:nvSpPr>
          <p:cNvPr id="115725" name="Text Box 10"/>
          <p:cNvSpPr txBox="1">
            <a:spLocks noChangeArrowheads="1"/>
          </p:cNvSpPr>
          <p:nvPr/>
        </p:nvSpPr>
        <p:spPr bwMode="auto">
          <a:xfrm>
            <a:off x="7726363" y="4043363"/>
            <a:ext cx="1414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sym typeface="Wingdings 3" pitchFamily="18" charset="2"/>
              </a:rPr>
              <a:t></a:t>
            </a:r>
            <a:r>
              <a:rPr lang="en-US" altLang="zh-TW" sz="2400"/>
              <a:t> </a:t>
            </a:r>
            <a:r>
              <a:rPr lang="en-US" altLang="zh-TW" sz="1600">
                <a:solidFill>
                  <a:srgbClr val="FF0000"/>
                </a:solidFill>
              </a:rPr>
              <a:t>Success:</a:t>
            </a:r>
            <a:r>
              <a:rPr lang="en-US" altLang="zh-TW" sz="1400">
                <a:solidFill>
                  <a:srgbClr val="FF0000"/>
                </a:solidFill>
              </a:rPr>
              <a:t>P3</a:t>
            </a:r>
          </a:p>
        </p:txBody>
      </p:sp>
      <p:sp>
        <p:nvSpPr>
          <p:cNvPr id="115726" name="Text Box 11"/>
          <p:cNvSpPr txBox="1">
            <a:spLocks noChangeArrowheads="1"/>
          </p:cNvSpPr>
          <p:nvPr/>
        </p:nvSpPr>
        <p:spPr bwMode="auto">
          <a:xfrm>
            <a:off x="3867150" y="906463"/>
            <a:ext cx="696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00"/>
                </a:solidFill>
              </a:rPr>
              <a:t>1st:</a:t>
            </a:r>
          </a:p>
        </p:txBody>
      </p:sp>
      <p:sp>
        <p:nvSpPr>
          <p:cNvPr id="115727" name="Text Box 12"/>
          <p:cNvSpPr txBox="1">
            <a:spLocks noChangeArrowheads="1"/>
          </p:cNvSpPr>
          <p:nvPr/>
        </p:nvSpPr>
        <p:spPr bwMode="auto">
          <a:xfrm>
            <a:off x="3871913" y="1228725"/>
            <a:ext cx="80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2nd</a:t>
            </a:r>
            <a:r>
              <a:rPr lang="en-US" altLang="zh-TW" sz="2400">
                <a:solidFill>
                  <a:srgbClr val="000000"/>
                </a:solidFill>
              </a:rPr>
              <a:t>: </a:t>
            </a:r>
          </a:p>
        </p:txBody>
      </p:sp>
      <p:sp>
        <p:nvSpPr>
          <p:cNvPr id="161805" name="Text Box 13"/>
          <p:cNvSpPr txBox="1">
            <a:spLocks noChangeArrowheads="1"/>
          </p:cNvSpPr>
          <p:nvPr/>
        </p:nvSpPr>
        <p:spPr bwMode="auto">
          <a:xfrm>
            <a:off x="4464050" y="927100"/>
            <a:ext cx="519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00"/>
                </a:solidFill>
              </a:rPr>
              <a:t>P1</a:t>
            </a: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61806" name="Text Box 14"/>
          <p:cNvSpPr txBox="1">
            <a:spLocks noChangeArrowheads="1"/>
          </p:cNvSpPr>
          <p:nvPr/>
        </p:nvSpPr>
        <p:spPr bwMode="auto">
          <a:xfrm>
            <a:off x="4900613" y="922338"/>
            <a:ext cx="519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00"/>
                </a:solidFill>
              </a:rPr>
              <a:t>P2</a:t>
            </a:r>
          </a:p>
        </p:txBody>
      </p:sp>
      <p:sp>
        <p:nvSpPr>
          <p:cNvPr id="161807" name="Text Box 15"/>
          <p:cNvSpPr txBox="1">
            <a:spLocks noChangeArrowheads="1"/>
          </p:cNvSpPr>
          <p:nvPr/>
        </p:nvSpPr>
        <p:spPr bwMode="auto">
          <a:xfrm>
            <a:off x="4127500" y="1570038"/>
            <a:ext cx="89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S: P3</a:t>
            </a:r>
          </a:p>
        </p:txBody>
      </p:sp>
      <p:sp>
        <p:nvSpPr>
          <p:cNvPr id="115731" name="Text Box 16"/>
          <p:cNvSpPr txBox="1">
            <a:spLocks noChangeArrowheads="1"/>
          </p:cNvSpPr>
          <p:nvPr/>
        </p:nvSpPr>
        <p:spPr bwMode="auto">
          <a:xfrm>
            <a:off x="5359400" y="889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38 -0.10417 L -0.00538 0.05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81 -0.10162 L -0.01077 0.05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1204 " pathEditMode="relative" ptsTypes="AA">
                                      <p:cBhvr>
                                        <p:cTn id="20" dur="2000" fill="hold"/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69 -0.01505 " pathEditMode="relative" ptsTypes="AA">
                                      <p:cBhvr>
                                        <p:cTn id="28" dur="2000" fill="hold"/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5" grpId="0"/>
      <p:bldP spid="161805" grpId="1"/>
      <p:bldP spid="161805" grpId="2"/>
      <p:bldP spid="161806" grpId="0"/>
      <p:bldP spid="161806" grpId="1"/>
      <p:bldP spid="161806" grpId="2"/>
      <p:bldP spid="161807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722D46C-B572-4FB9-A25D-2DAF7370DB16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67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67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D3AE35-0E76-45D1-A000-E2A3C270028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kumimoji="0" lang="en-US" altLang="zh-TW" sz="1400" smtClean="0"/>
          </a:p>
        </p:txBody>
      </p:sp>
      <p:sp>
        <p:nvSpPr>
          <p:cNvPr id="1167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smtClean="0"/>
              <a:t>Implementation of the Conditional-region construct</a:t>
            </a:r>
            <a:endParaRPr lang="zh-TW" altLang="en-US" sz="3200" smtClean="0"/>
          </a:p>
        </p:txBody>
      </p:sp>
      <p:sp>
        <p:nvSpPr>
          <p:cNvPr id="282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95313" y="1512888"/>
            <a:ext cx="8183562" cy="4916487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800" smtClean="0"/>
              <a:t>How to check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rgbClr val="0000FF"/>
                </a:solidFill>
              </a:rPr>
              <a:t>Copy all of them in Q1 to Q2.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rgbClr val="009900"/>
                </a:solidFill>
              </a:rPr>
              <a:t>Check Q2 one by one</a:t>
            </a:r>
            <a:r>
              <a:rPr lang="en-US" altLang="zh-TW" sz="2400" smtClean="0"/>
              <a:t>.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smtClean="0"/>
              <a:t>Otherwise </a:t>
            </a:r>
            <a:r>
              <a:rPr lang="en-US" altLang="zh-TW" sz="2400" smtClean="0">
                <a:solidFill>
                  <a:srgbClr val="009900"/>
                </a:solidFill>
              </a:rPr>
              <a:t>let the new comer in.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800" smtClean="0"/>
              <a:t>When to check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rgbClr val="FF0000"/>
                </a:solidFill>
              </a:rPr>
              <a:t>Someone leaves the CS.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rgbClr val="009900"/>
                </a:solidFill>
              </a:rPr>
              <a:t>The new comer checks B but fails, and Q2 is not empty.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800" smtClean="0"/>
              <a:t>Why needs two queues? Fairness?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smtClean="0"/>
              <a:t>Check B if in Q2.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smtClean="0"/>
              <a:t>Move to Q2 if someone left the CS.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zh-TW" sz="2800" smtClean="0"/>
          </a:p>
        </p:txBody>
      </p:sp>
      <p:sp>
        <p:nvSpPr>
          <p:cNvPr id="116743" name="Text Box 4"/>
          <p:cNvSpPr txBox="1">
            <a:spLocks noChangeArrowheads="1"/>
          </p:cNvSpPr>
          <p:nvPr/>
        </p:nvSpPr>
        <p:spPr bwMode="auto">
          <a:xfrm>
            <a:off x="6781800" y="1014413"/>
            <a:ext cx="1509713" cy="36512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P1, P2,</a:t>
            </a:r>
            <a:r>
              <a:rPr lang="en-US" altLang="zh-TW" sz="1600">
                <a:solidFill>
                  <a:srgbClr val="666699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P3</a:t>
            </a:r>
            <a:r>
              <a:rPr lang="en-US" altLang="zh-TW" sz="1600">
                <a:solidFill>
                  <a:srgbClr val="666699"/>
                </a:solidFill>
                <a:latin typeface="Comic Sans MS" pitchFamily="66" charset="0"/>
                <a:ea typeface="MS UI Gothic" pitchFamily="34" charset="-128"/>
              </a:rPr>
              <a:t>,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P4</a:t>
            </a:r>
            <a:endParaRPr lang="en-US" altLang="zh-TW" sz="1600">
              <a:solidFill>
                <a:srgbClr val="FF0000"/>
              </a:solidFill>
              <a:latin typeface="Comic Sans MS" pitchFamily="66" charset="0"/>
              <a:ea typeface="MS UI Gothic" pitchFamily="34" charset="-128"/>
            </a:endParaRPr>
          </a:p>
        </p:txBody>
      </p:sp>
      <p:sp>
        <p:nvSpPr>
          <p:cNvPr id="282629" name="Text Box 5"/>
          <p:cNvSpPr txBox="1">
            <a:spLocks noChangeArrowheads="1"/>
          </p:cNvSpPr>
          <p:nvPr/>
        </p:nvSpPr>
        <p:spPr bwMode="auto">
          <a:xfrm>
            <a:off x="6897688" y="1835150"/>
            <a:ext cx="1147762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Q1: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P1, P2</a:t>
            </a:r>
          </a:p>
        </p:txBody>
      </p:sp>
      <p:sp>
        <p:nvSpPr>
          <p:cNvPr id="282630" name="Text Box 6"/>
          <p:cNvSpPr txBox="1">
            <a:spLocks noChangeArrowheads="1"/>
          </p:cNvSpPr>
          <p:nvPr/>
        </p:nvSpPr>
        <p:spPr bwMode="auto">
          <a:xfrm>
            <a:off x="6905625" y="2398713"/>
            <a:ext cx="1289050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  <a:latin typeface="Comic Sans MS" pitchFamily="66" charset="0"/>
                <a:ea typeface="MS UI Gothic" pitchFamily="34" charset="-128"/>
              </a:rPr>
              <a:t>Q2: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00FF"/>
                </a:solidFill>
                <a:latin typeface="Comic Sans MS" pitchFamily="66" charset="0"/>
                <a:ea typeface="MS UI Gothic" pitchFamily="34" charset="-128"/>
              </a:rPr>
              <a:t>P1, P2</a:t>
            </a:r>
          </a:p>
        </p:txBody>
      </p:sp>
      <p:sp>
        <p:nvSpPr>
          <p:cNvPr id="282631" name="Text Box 7"/>
          <p:cNvSpPr txBox="1">
            <a:spLocks noChangeArrowheads="1"/>
          </p:cNvSpPr>
          <p:nvPr/>
        </p:nvSpPr>
        <p:spPr bwMode="auto">
          <a:xfrm>
            <a:off x="6886575" y="2830513"/>
            <a:ext cx="817563" cy="365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P3</a:t>
            </a:r>
          </a:p>
        </p:txBody>
      </p:sp>
      <p:sp>
        <p:nvSpPr>
          <p:cNvPr id="282632" name="Text Box 8"/>
          <p:cNvSpPr txBox="1">
            <a:spLocks noChangeArrowheads="1"/>
          </p:cNvSpPr>
          <p:nvPr/>
        </p:nvSpPr>
        <p:spPr bwMode="auto">
          <a:xfrm>
            <a:off x="6850063" y="3381375"/>
            <a:ext cx="1193800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</a:rPr>
              <a:t>Q1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P1, P2</a:t>
            </a:r>
          </a:p>
        </p:txBody>
      </p:sp>
      <p:sp>
        <p:nvSpPr>
          <p:cNvPr id="282633" name="Text Box 9"/>
          <p:cNvSpPr txBox="1">
            <a:spLocks noChangeArrowheads="1"/>
          </p:cNvSpPr>
          <p:nvPr/>
        </p:nvSpPr>
        <p:spPr bwMode="auto">
          <a:xfrm>
            <a:off x="6810375" y="4567238"/>
            <a:ext cx="1539875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</a:rPr>
              <a:t>Q1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P1, P2, 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" dur="20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9" grpId="0" animBg="1"/>
      <p:bldP spid="282630" grpId="0" animBg="1"/>
      <p:bldP spid="282630" grpId="1" animBg="1"/>
      <p:bldP spid="282631" grpId="0" animBg="1"/>
      <p:bldP spid="282632" grpId="0" animBg="1"/>
      <p:bldP spid="282633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262C28-2ACE-4E6F-B320-9B8F1FA77D08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1177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1177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C57DC1-8467-4F20-961D-AC343A7460A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kumimoji="0" lang="en-US" altLang="zh-TW" sz="1400" smtClean="0"/>
          </a:p>
        </p:txBody>
      </p:sp>
      <p:sp>
        <p:nvSpPr>
          <p:cNvPr id="1177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smtClean="0"/>
              <a:t>Implementation of the Conditional-region construct (2)</a:t>
            </a:r>
            <a:endParaRPr lang="zh-TW" altLang="en-US" sz="3200" smtClean="0"/>
          </a:p>
        </p:txBody>
      </p:sp>
      <p:sp>
        <p:nvSpPr>
          <p:cNvPr id="2846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95313" y="1512888"/>
            <a:ext cx="8183562" cy="4916487"/>
          </a:xfrm>
        </p:spPr>
        <p:txBody>
          <a:bodyPr/>
          <a:lstStyle/>
          <a:p>
            <a:pPr marL="609600" indent="-609600" eaLnBrk="1" hangingPunct="1"/>
            <a:r>
              <a:rPr lang="en-US" altLang="zh-TW" smtClean="0"/>
              <a:t>How to check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zh-TW" smtClean="0">
                <a:solidFill>
                  <a:srgbClr val="0000FF"/>
                </a:solidFill>
              </a:rPr>
              <a:t>Copy all of them in Q1 to Q2.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zh-TW" smtClean="0">
                <a:solidFill>
                  <a:srgbClr val="009900"/>
                </a:solidFill>
              </a:rPr>
              <a:t>Check Q2 one by one</a:t>
            </a:r>
            <a:r>
              <a:rPr lang="en-US" altLang="zh-TW" smtClean="0"/>
              <a:t>.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zh-TW" smtClean="0"/>
              <a:t>Otherwise </a:t>
            </a:r>
            <a:r>
              <a:rPr lang="en-US" altLang="zh-TW" smtClean="0">
                <a:solidFill>
                  <a:srgbClr val="009900"/>
                </a:solidFill>
              </a:rPr>
              <a:t>let the new comer in.</a:t>
            </a:r>
          </a:p>
          <a:p>
            <a:pPr marL="609600" indent="-609600" eaLnBrk="1" hangingPunct="1"/>
            <a:r>
              <a:rPr lang="en-US" altLang="zh-TW" smtClean="0"/>
              <a:t>When to check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zh-TW" smtClean="0">
                <a:solidFill>
                  <a:srgbClr val="FF0000"/>
                </a:solidFill>
              </a:rPr>
              <a:t>Someone leaves the CS.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zh-TW" smtClean="0">
                <a:solidFill>
                  <a:srgbClr val="009900"/>
                </a:solidFill>
              </a:rPr>
              <a:t>The new comer checks B but fails, and Q2 is not empty.</a:t>
            </a:r>
            <a:endParaRPr lang="en-US" altLang="zh-TW" smtClean="0"/>
          </a:p>
        </p:txBody>
      </p:sp>
      <p:sp>
        <p:nvSpPr>
          <p:cNvPr id="117767" name="Text Box 4"/>
          <p:cNvSpPr txBox="1">
            <a:spLocks noChangeArrowheads="1"/>
          </p:cNvSpPr>
          <p:nvPr/>
        </p:nvSpPr>
        <p:spPr bwMode="auto">
          <a:xfrm>
            <a:off x="6781800" y="1014413"/>
            <a:ext cx="1509713" cy="36512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P1, P2,</a:t>
            </a:r>
            <a:r>
              <a:rPr lang="en-US" altLang="zh-TW" sz="1600">
                <a:solidFill>
                  <a:srgbClr val="666699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P3</a:t>
            </a:r>
            <a:r>
              <a:rPr lang="en-US" altLang="zh-TW" sz="1600">
                <a:solidFill>
                  <a:srgbClr val="666699"/>
                </a:solidFill>
                <a:latin typeface="Comic Sans MS" pitchFamily="66" charset="0"/>
                <a:ea typeface="MS UI Gothic" pitchFamily="34" charset="-128"/>
              </a:rPr>
              <a:t>,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P4</a:t>
            </a:r>
            <a:endParaRPr lang="en-US" altLang="zh-TW" sz="1600">
              <a:solidFill>
                <a:srgbClr val="FF0000"/>
              </a:solidFill>
              <a:latin typeface="Comic Sans MS" pitchFamily="66" charset="0"/>
              <a:ea typeface="MS UI Gothic" pitchFamily="34" charset="-128"/>
            </a:endParaRPr>
          </a:p>
        </p:txBody>
      </p:sp>
      <p:sp>
        <p:nvSpPr>
          <p:cNvPr id="284677" name="Text Box 5"/>
          <p:cNvSpPr txBox="1">
            <a:spLocks noChangeArrowheads="1"/>
          </p:cNvSpPr>
          <p:nvPr/>
        </p:nvSpPr>
        <p:spPr bwMode="auto">
          <a:xfrm>
            <a:off x="6897688" y="1835150"/>
            <a:ext cx="1147762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Q1: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P1, P2</a:t>
            </a:r>
          </a:p>
        </p:txBody>
      </p:sp>
      <p:sp>
        <p:nvSpPr>
          <p:cNvPr id="284678" name="Text Box 6"/>
          <p:cNvSpPr txBox="1">
            <a:spLocks noChangeArrowheads="1"/>
          </p:cNvSpPr>
          <p:nvPr/>
        </p:nvSpPr>
        <p:spPr bwMode="auto">
          <a:xfrm>
            <a:off x="6905625" y="2398713"/>
            <a:ext cx="922338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  <a:latin typeface="Comic Sans MS" pitchFamily="66" charset="0"/>
                <a:ea typeface="MS UI Gothic" pitchFamily="34" charset="-128"/>
              </a:rPr>
              <a:t>Q2: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00FF"/>
                </a:solidFill>
                <a:latin typeface="Comic Sans MS" pitchFamily="66" charset="0"/>
                <a:ea typeface="MS UI Gothic" pitchFamily="34" charset="-128"/>
              </a:rPr>
              <a:t>P1</a:t>
            </a:r>
            <a:endParaRPr lang="en-US" altLang="zh-TW" sz="1600">
              <a:solidFill>
                <a:srgbClr val="FF0000"/>
              </a:solidFill>
              <a:latin typeface="Comic Sans MS" pitchFamily="66" charset="0"/>
              <a:ea typeface="MS UI Gothic" pitchFamily="34" charset="-128"/>
            </a:endParaRPr>
          </a:p>
        </p:txBody>
      </p:sp>
      <p:sp>
        <p:nvSpPr>
          <p:cNvPr id="284679" name="Text Box 7"/>
          <p:cNvSpPr txBox="1">
            <a:spLocks noChangeArrowheads="1"/>
          </p:cNvSpPr>
          <p:nvPr/>
        </p:nvSpPr>
        <p:spPr bwMode="auto">
          <a:xfrm>
            <a:off x="6886575" y="2830513"/>
            <a:ext cx="581025" cy="365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P3</a:t>
            </a:r>
          </a:p>
        </p:txBody>
      </p:sp>
      <p:sp>
        <p:nvSpPr>
          <p:cNvPr id="284680" name="Text Box 8"/>
          <p:cNvSpPr txBox="1">
            <a:spLocks noChangeArrowheads="1"/>
          </p:cNvSpPr>
          <p:nvPr/>
        </p:nvSpPr>
        <p:spPr bwMode="auto">
          <a:xfrm>
            <a:off x="6850063" y="3381375"/>
            <a:ext cx="847725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</a:rPr>
              <a:t>Q1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P1</a:t>
            </a:r>
          </a:p>
        </p:txBody>
      </p:sp>
      <p:sp>
        <p:nvSpPr>
          <p:cNvPr id="284681" name="Text Box 9"/>
          <p:cNvSpPr txBox="1">
            <a:spLocks noChangeArrowheads="1"/>
          </p:cNvSpPr>
          <p:nvPr/>
        </p:nvSpPr>
        <p:spPr bwMode="auto">
          <a:xfrm>
            <a:off x="6827838" y="4273550"/>
            <a:ext cx="879475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</a:rPr>
              <a:t>Q1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:</a:t>
            </a: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P4</a:t>
            </a:r>
          </a:p>
        </p:txBody>
      </p:sp>
      <p:sp>
        <p:nvSpPr>
          <p:cNvPr id="284682" name="Text Box 10"/>
          <p:cNvSpPr txBox="1">
            <a:spLocks noChangeArrowheads="1"/>
          </p:cNvSpPr>
          <p:nvPr/>
        </p:nvSpPr>
        <p:spPr bwMode="auto">
          <a:xfrm>
            <a:off x="7535863" y="2835275"/>
            <a:ext cx="573087" cy="365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P2</a:t>
            </a:r>
          </a:p>
        </p:txBody>
      </p:sp>
      <p:sp>
        <p:nvSpPr>
          <p:cNvPr id="284683" name="Text Box 11"/>
          <p:cNvSpPr txBox="1">
            <a:spLocks noChangeArrowheads="1"/>
          </p:cNvSpPr>
          <p:nvPr/>
        </p:nvSpPr>
        <p:spPr bwMode="auto">
          <a:xfrm>
            <a:off x="7915275" y="2406650"/>
            <a:ext cx="573088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Comic Sans MS" pitchFamily="66" charset="0"/>
                <a:ea typeface="MS UI Gothic" pitchFamily="34" charset="-128"/>
              </a:rPr>
              <a:t>P2</a:t>
            </a:r>
          </a:p>
        </p:txBody>
      </p:sp>
      <p:sp>
        <p:nvSpPr>
          <p:cNvPr id="284684" name="Text Box 12"/>
          <p:cNvSpPr txBox="1">
            <a:spLocks noChangeArrowheads="1"/>
          </p:cNvSpPr>
          <p:nvPr/>
        </p:nvSpPr>
        <p:spPr bwMode="auto">
          <a:xfrm>
            <a:off x="6835775" y="3833813"/>
            <a:ext cx="847725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 </a:t>
            </a:r>
            <a:r>
              <a:rPr lang="en-US" altLang="zh-TW" sz="1600">
                <a:solidFill>
                  <a:srgbClr val="0000FF"/>
                </a:solidFill>
                <a:latin typeface="Comic Sans MS" pitchFamily="66" charset="0"/>
              </a:rPr>
              <a:t>Q1</a:t>
            </a:r>
            <a:r>
              <a:rPr lang="en-US" altLang="zh-TW" sz="1600">
                <a:solidFill>
                  <a:srgbClr val="0000FF"/>
                </a:solidFill>
                <a:latin typeface="Comic Sans MS" pitchFamily="66" charset="0"/>
                <a:ea typeface="MS UI Gothic" pitchFamily="34" charset="-128"/>
              </a:rPr>
              <a:t>: P1</a:t>
            </a:r>
          </a:p>
        </p:txBody>
      </p:sp>
      <p:sp>
        <p:nvSpPr>
          <p:cNvPr id="284685" name="Text Box 13"/>
          <p:cNvSpPr txBox="1">
            <a:spLocks noChangeArrowheads="1"/>
          </p:cNvSpPr>
          <p:nvPr/>
        </p:nvSpPr>
        <p:spPr bwMode="auto">
          <a:xfrm>
            <a:off x="7777163" y="4275138"/>
            <a:ext cx="573087" cy="36512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9900"/>
                </a:solidFill>
                <a:latin typeface="Comic Sans MS" pitchFamily="66" charset="0"/>
                <a:ea typeface="MS UI Gothic" pitchFamily="34" charset="-128"/>
              </a:rPr>
              <a:t> P1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" dur="20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2000" fill="hold"/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9" dur="2000" fill="hold"/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7" grpId="0" animBg="1"/>
      <p:bldP spid="284678" grpId="0" animBg="1"/>
      <p:bldP spid="284678" grpId="1" animBg="1"/>
      <p:bldP spid="284679" grpId="0" animBg="1"/>
      <p:bldP spid="284680" grpId="0" animBg="1"/>
      <p:bldP spid="284681" grpId="0" animBg="1"/>
      <p:bldP spid="284682" grpId="0" animBg="1"/>
      <p:bldP spid="284683" grpId="0" animBg="1"/>
      <p:bldP spid="284683" grpId="1" animBg="1"/>
      <p:bldP spid="284683" grpId="2" animBg="1"/>
      <p:bldP spid="284684" grpId="0" animBg="1"/>
      <p:bldP spid="284684" grpId="1" animBg="1"/>
      <p:bldP spid="28468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2A860E-1574-4755-AF18-5F8329B8DA61}" type="datetime1">
              <a:rPr kumimoji="0" lang="zh-TW" altLang="en-US" sz="1400" smtClean="0"/>
              <a:t>2018/4/12</a:t>
            </a:fld>
            <a:endParaRPr kumimoji="0" lang="en-US" altLang="zh-TW" sz="1400" smtClean="0"/>
          </a:p>
        </p:txBody>
      </p:sp>
      <p:sp>
        <p:nvSpPr>
          <p:cNvPr id="839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os5 2018</a:t>
            </a:r>
            <a:endParaRPr kumimoji="0" lang="en-US" altLang="zh-TW" sz="1400" smtClean="0"/>
          </a:p>
        </p:txBody>
      </p:sp>
      <p:sp>
        <p:nvSpPr>
          <p:cNvPr id="839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2A7DDB-43F8-4A93-81CA-0762B702FC1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kumimoji="0" lang="en-US" altLang="zh-TW" sz="1400" smtClean="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>
          <a:xfrm>
            <a:off x="527407" y="0"/>
            <a:ext cx="8339138" cy="896938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Windows Synchronization (2)</a:t>
            </a:r>
          </a:p>
        </p:txBody>
      </p:sp>
      <p:sp>
        <p:nvSpPr>
          <p:cNvPr id="288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39486" y="832207"/>
            <a:ext cx="5161979" cy="547471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#include &lt;</a:t>
            </a:r>
            <a:r>
              <a:rPr lang="en-US" altLang="zh-TW" sz="1800" dirty="0" err="1">
                <a:solidFill>
                  <a:srgbClr val="000000"/>
                </a:solidFill>
              </a:rPr>
              <a:t>windows.h</a:t>
            </a:r>
            <a:r>
              <a:rPr lang="en-US" altLang="zh-TW" sz="1800" dirty="0">
                <a:solidFill>
                  <a:srgbClr val="000000"/>
                </a:solidFill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HANDLE </a:t>
            </a:r>
            <a:r>
              <a:rPr lang="en-US" altLang="zh-TW" sz="1800" dirty="0" err="1">
                <a:solidFill>
                  <a:srgbClr val="000000"/>
                </a:solidFill>
              </a:rPr>
              <a:t>Mutex</a:t>
            </a:r>
            <a:r>
              <a:rPr lang="en-US" altLang="zh-TW" sz="1800" dirty="0">
                <a:solidFill>
                  <a:srgbClr val="000000"/>
                </a:solidFill>
              </a:rPr>
              <a:t>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 err="1">
                <a:solidFill>
                  <a:srgbClr val="000000"/>
                </a:solidFill>
              </a:rPr>
              <a:t>Mutex</a:t>
            </a:r>
            <a:r>
              <a:rPr lang="en-US" altLang="zh-TW" sz="1800" dirty="0">
                <a:solidFill>
                  <a:srgbClr val="000000"/>
                </a:solidFill>
              </a:rPr>
              <a:t> = </a:t>
            </a:r>
            <a:r>
              <a:rPr lang="en-US" altLang="zh-TW" sz="1800" dirty="0" err="1">
                <a:solidFill>
                  <a:srgbClr val="FF0000"/>
                </a:solidFill>
              </a:rPr>
              <a:t>CreateMutex</a:t>
            </a:r>
            <a:r>
              <a:rPr lang="en-US" altLang="zh-TW" sz="1800" dirty="0">
                <a:solidFill>
                  <a:srgbClr val="000000"/>
                </a:solidFill>
              </a:rPr>
              <a:t>(NULL, FALSE, NULL</a:t>
            </a:r>
            <a:r>
              <a:rPr lang="en-US" altLang="zh-TW" sz="1800" dirty="0" smtClean="0">
                <a:solidFill>
                  <a:srgbClr val="000000"/>
                </a:solidFill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#include &lt;</a:t>
            </a:r>
            <a:r>
              <a:rPr lang="en-US" altLang="zh-TW" sz="1800" dirty="0" err="1">
                <a:solidFill>
                  <a:srgbClr val="000000"/>
                </a:solidFill>
              </a:rPr>
              <a:t>stdlib.h</a:t>
            </a:r>
            <a:r>
              <a:rPr lang="en-US" altLang="zh-TW" sz="1800" dirty="0">
                <a:solidFill>
                  <a:srgbClr val="000000"/>
                </a:solidFill>
              </a:rPr>
              <a:t>&gt; </a:t>
            </a:r>
            <a:r>
              <a:rPr lang="en-US" altLang="zh-TW" sz="1800" dirty="0" smtClean="0">
                <a:solidFill>
                  <a:srgbClr val="000000"/>
                </a:solidFill>
              </a:rPr>
              <a:t>/*required </a:t>
            </a:r>
            <a:r>
              <a:rPr lang="en-US" altLang="zh-TW" sz="1800" dirty="0">
                <a:solidFill>
                  <a:srgbClr val="000000"/>
                </a:solidFill>
              </a:rPr>
              <a:t>for rand() */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#include "</a:t>
            </a:r>
            <a:r>
              <a:rPr lang="en-US" altLang="zh-TW" sz="1800" dirty="0" err="1">
                <a:solidFill>
                  <a:srgbClr val="000000"/>
                </a:solidFill>
              </a:rPr>
              <a:t>buffer.h</a:t>
            </a:r>
            <a:r>
              <a:rPr lang="en-US" altLang="zh-TW" sz="1800" dirty="0">
                <a:solidFill>
                  <a:srgbClr val="000000"/>
                </a:solidFill>
              </a:rPr>
              <a:t>"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void *</a:t>
            </a:r>
            <a:r>
              <a:rPr lang="en-US" altLang="zh-TW" sz="1800" dirty="0">
                <a:solidFill>
                  <a:srgbClr val="0000FF"/>
                </a:solidFill>
              </a:rPr>
              <a:t>producer(void</a:t>
            </a:r>
            <a:r>
              <a:rPr lang="en-US" altLang="zh-TW" sz="1800" dirty="0">
                <a:solidFill>
                  <a:srgbClr val="000000"/>
                </a:solidFill>
              </a:rPr>
              <a:t> *</a:t>
            </a:r>
            <a:r>
              <a:rPr lang="en-US" altLang="zh-TW" sz="1800" dirty="0" err="1">
                <a:solidFill>
                  <a:srgbClr val="000000"/>
                </a:solidFill>
              </a:rPr>
              <a:t>param</a:t>
            </a:r>
            <a:r>
              <a:rPr lang="en-US" altLang="zh-TW" sz="1800" dirty="0">
                <a:solidFill>
                  <a:srgbClr val="000000"/>
                </a:solidFill>
              </a:rPr>
              <a:t>) {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buffer item </a:t>
            </a:r>
            <a:r>
              <a:rPr lang="en-US" altLang="zh-TW" sz="1800" dirty="0" err="1">
                <a:solidFill>
                  <a:srgbClr val="000000"/>
                </a:solidFill>
              </a:rPr>
              <a:t>item</a:t>
            </a:r>
            <a:r>
              <a:rPr lang="en-US" altLang="zh-TW" sz="1800" dirty="0">
                <a:solidFill>
                  <a:srgbClr val="000000"/>
                </a:solidFill>
              </a:rPr>
              <a:t>;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while (true) {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/* sleep for a random period of time */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sleep(...);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/* generate a random number */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item = rand();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if (insert item(item))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 err="1">
                <a:solidFill>
                  <a:srgbClr val="000000"/>
                </a:solidFill>
              </a:rPr>
              <a:t>fprintf</a:t>
            </a:r>
            <a:r>
              <a:rPr lang="en-US" altLang="zh-TW" sz="1800" dirty="0">
                <a:solidFill>
                  <a:srgbClr val="000000"/>
                </a:solidFill>
              </a:rPr>
              <a:t>("report error condition");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else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 err="1">
                <a:solidFill>
                  <a:srgbClr val="000000"/>
                </a:solidFill>
              </a:rPr>
              <a:t>printf</a:t>
            </a:r>
            <a:r>
              <a:rPr lang="en-US" altLang="zh-TW" sz="1800" dirty="0">
                <a:solidFill>
                  <a:srgbClr val="000000"/>
                </a:solidFill>
              </a:rPr>
              <a:t>("producer produced %d\</a:t>
            </a:r>
            <a:r>
              <a:rPr lang="en-US" altLang="zh-TW" sz="1800" dirty="0" err="1">
                <a:solidFill>
                  <a:srgbClr val="000000"/>
                </a:solidFill>
              </a:rPr>
              <a:t>n",item</a:t>
            </a:r>
            <a:r>
              <a:rPr lang="en-US" altLang="zh-TW" sz="1800" dirty="0">
                <a:solidFill>
                  <a:srgbClr val="000000"/>
                </a:solidFill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dirty="0">
                <a:solidFill>
                  <a:srgbClr val="000000"/>
                </a:solidFill>
              </a:rPr>
              <a:t>}</a:t>
            </a:r>
            <a:endParaRPr lang="en-US" altLang="zh-TW" sz="1800" dirty="0" smtClean="0">
              <a:solidFill>
                <a:srgbClr val="000000"/>
              </a:solidFill>
            </a:endParaRPr>
          </a:p>
        </p:txBody>
      </p:sp>
      <p:sp>
        <p:nvSpPr>
          <p:cNvPr id="8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685016" y="2157573"/>
            <a:ext cx="4921322" cy="4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void *</a:t>
            </a:r>
            <a:r>
              <a:rPr lang="en-US" altLang="zh-TW" sz="1800" kern="0" dirty="0">
                <a:solidFill>
                  <a:srgbClr val="0000FF"/>
                </a:solidFill>
              </a:rPr>
              <a:t>consumer</a:t>
            </a:r>
            <a:r>
              <a:rPr lang="en-US" altLang="zh-TW" sz="1800" kern="0" dirty="0">
                <a:solidFill>
                  <a:srgbClr val="000000"/>
                </a:solidFill>
              </a:rPr>
              <a:t>(void *</a:t>
            </a:r>
            <a:r>
              <a:rPr lang="en-US" altLang="zh-TW" sz="1800" kern="0" dirty="0" err="1">
                <a:solidFill>
                  <a:srgbClr val="000000"/>
                </a:solidFill>
              </a:rPr>
              <a:t>param</a:t>
            </a:r>
            <a:r>
              <a:rPr lang="en-US" altLang="zh-TW" sz="1800" kern="0" dirty="0">
                <a:solidFill>
                  <a:srgbClr val="000000"/>
                </a:solidFill>
              </a:rPr>
              <a:t>) {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buffer item </a:t>
            </a:r>
            <a:r>
              <a:rPr lang="en-US" altLang="zh-TW" sz="1800" kern="0" dirty="0" err="1">
                <a:solidFill>
                  <a:srgbClr val="000000"/>
                </a:solidFill>
              </a:rPr>
              <a:t>item</a:t>
            </a:r>
            <a:r>
              <a:rPr lang="en-US" altLang="zh-TW" sz="1800" kern="0" dirty="0">
                <a:solidFill>
                  <a:srgbClr val="000000"/>
                </a:solidFill>
              </a:rPr>
              <a:t>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while (true) {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/* sleep for a random period of time */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sleep(...);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if (remove item(&amp;item))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 err="1">
                <a:solidFill>
                  <a:srgbClr val="000000"/>
                </a:solidFill>
              </a:rPr>
              <a:t>fprintf</a:t>
            </a:r>
            <a:r>
              <a:rPr lang="en-US" altLang="zh-TW" sz="1800" kern="0" dirty="0">
                <a:solidFill>
                  <a:srgbClr val="000000"/>
                </a:solidFill>
              </a:rPr>
              <a:t>("report error condition");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else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 err="1">
                <a:solidFill>
                  <a:srgbClr val="000000"/>
                </a:solidFill>
              </a:rPr>
              <a:t>printf</a:t>
            </a:r>
            <a:r>
              <a:rPr lang="en-US" altLang="zh-TW" sz="1800" kern="0" dirty="0">
                <a:solidFill>
                  <a:srgbClr val="000000"/>
                </a:solidFill>
              </a:rPr>
              <a:t>("consumer consumed %d\</a:t>
            </a:r>
            <a:r>
              <a:rPr lang="en-US" altLang="zh-TW" sz="1800" kern="0" dirty="0" err="1">
                <a:solidFill>
                  <a:srgbClr val="000000"/>
                </a:solidFill>
              </a:rPr>
              <a:t>n",item</a:t>
            </a:r>
            <a:r>
              <a:rPr lang="en-US" altLang="zh-TW" sz="1800" kern="0" dirty="0">
                <a:solidFill>
                  <a:srgbClr val="000000"/>
                </a:solidFill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zh-TW" sz="1800" kern="0" dirty="0">
                <a:solidFill>
                  <a:srgbClr val="000000"/>
                </a:solidFill>
              </a:rPr>
              <a:t>}</a:t>
            </a:r>
            <a:endParaRPr lang="en-US" altLang="zh-TW" sz="1800" kern="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9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7350</TotalTime>
  <Words>5325</Words>
  <Application>Microsoft Office PowerPoint</Application>
  <PresentationFormat>如螢幕大小 (4:3)</PresentationFormat>
  <Paragraphs>1593</Paragraphs>
  <Slides>113</Slides>
  <Notes>113</Notes>
  <HiddenSlides>0</HiddenSlides>
  <MMClips>0</MMClips>
  <ScaleCrop>false</ScaleCrop>
  <HeadingPairs>
    <vt:vector size="6" baseType="variant">
      <vt:variant>
        <vt:lpstr>使用字型</vt:lpstr>
      </vt:variant>
      <vt:variant>
        <vt:i4>20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113</vt:i4>
      </vt:variant>
    </vt:vector>
  </HeadingPairs>
  <TitlesOfParts>
    <vt:vector size="135" baseType="lpstr">
      <vt:lpstr>Adobe Gothic Std B</vt:lpstr>
      <vt:lpstr>Arial Unicode MS</vt:lpstr>
      <vt:lpstr>Monotype Sorts</vt:lpstr>
      <vt:lpstr>MS PGothic</vt:lpstr>
      <vt:lpstr>MS UI Gothic</vt:lpstr>
      <vt:lpstr>MT Extra</vt:lpstr>
      <vt:lpstr>新細明體</vt:lpstr>
      <vt:lpstr>Arial</vt:lpstr>
      <vt:lpstr>Book Antiqua</vt:lpstr>
      <vt:lpstr>Century Gothic</vt:lpstr>
      <vt:lpstr>Comic Sans MS</vt:lpstr>
      <vt:lpstr>Courier New</vt:lpstr>
      <vt:lpstr>Helvetica</vt:lpstr>
      <vt:lpstr>Symbol</vt:lpstr>
      <vt:lpstr>Tahoma</vt:lpstr>
      <vt:lpstr>Times New Roman</vt:lpstr>
      <vt:lpstr>Webdings</vt:lpstr>
      <vt:lpstr>Wingdings</vt:lpstr>
      <vt:lpstr>Wingdings 2</vt:lpstr>
      <vt:lpstr>Wingdings 3</vt:lpstr>
      <vt:lpstr>Blueprint</vt:lpstr>
      <vt:lpstr>自訂設計</vt:lpstr>
      <vt:lpstr>Chapter 5  Process Synchronization Part I: Basics</vt:lpstr>
      <vt:lpstr>Outline</vt:lpstr>
      <vt:lpstr>Background</vt:lpstr>
      <vt:lpstr>Bounded-Buffer (1) </vt:lpstr>
      <vt:lpstr>Bounded-Buffer (2) </vt:lpstr>
      <vt:lpstr>Bounded-Buffer (3) </vt:lpstr>
      <vt:lpstr>Bounded Buffer (4)</vt:lpstr>
      <vt:lpstr>Bounded Buffer (5)</vt:lpstr>
      <vt:lpstr>Bounded Buffer (6)</vt:lpstr>
      <vt:lpstr>Race Condition</vt:lpstr>
      <vt:lpstr>Race Condition</vt:lpstr>
      <vt:lpstr>The Critical-Section Problem</vt:lpstr>
      <vt:lpstr>Solution to Critical-Section Problem (1)</vt:lpstr>
      <vt:lpstr>Solution to Critical-Section Problem (2)</vt:lpstr>
      <vt:lpstr>Initial Attempts to Solve Problem</vt:lpstr>
      <vt:lpstr>Algorithm 1</vt:lpstr>
      <vt:lpstr>Algorithm 2 (1)</vt:lpstr>
      <vt:lpstr>Algorithm 2 (2)</vt:lpstr>
      <vt:lpstr>Algorithm 3: A correct solution</vt:lpstr>
      <vt:lpstr>Algorithm 3 (2)</vt:lpstr>
      <vt:lpstr>Bakery Algorithm  Critical section for n processes</vt:lpstr>
      <vt:lpstr>Bakery Algorithm (2)</vt:lpstr>
      <vt:lpstr>Bakery Algorithm (3)</vt:lpstr>
      <vt:lpstr>Bakery Algorithm (4)</vt:lpstr>
      <vt:lpstr>Synchronization Hardware (1)</vt:lpstr>
      <vt:lpstr>Synchronization Hardware (2)</vt:lpstr>
      <vt:lpstr>Mutual Exclusion with Test-and-Set</vt:lpstr>
      <vt:lpstr>Bounded-waiting with Test-and-Set</vt:lpstr>
      <vt:lpstr>Synchronization Hardware </vt:lpstr>
      <vt:lpstr>Mutual Exclusion with Swap</vt:lpstr>
      <vt:lpstr>Semaphores</vt:lpstr>
      <vt:lpstr>Critical Section of n Processes</vt:lpstr>
      <vt:lpstr>PowerPoint 簡報</vt:lpstr>
      <vt:lpstr> Semaphore Implementation(1)</vt:lpstr>
      <vt:lpstr> Semaphore Implementation(2)</vt:lpstr>
      <vt:lpstr>Semaphore Implementation (3)</vt:lpstr>
      <vt:lpstr>Semaphore Implementation (4)</vt:lpstr>
      <vt:lpstr>Semaphore Implementation (5)</vt:lpstr>
      <vt:lpstr>Semaphore as a General Synchronization Tool</vt:lpstr>
      <vt:lpstr>Deadlocks and Starvation</vt:lpstr>
      <vt:lpstr>Priority Inversion</vt:lpstr>
      <vt:lpstr>Two Types of Semaphores</vt:lpstr>
      <vt:lpstr>Implementing S as a Binary Semaphore</vt:lpstr>
      <vt:lpstr>Implementing S</vt:lpstr>
      <vt:lpstr>Process Synchronization PART II</vt:lpstr>
      <vt:lpstr>Outline</vt:lpstr>
      <vt:lpstr>Classical Problems of Synchronization</vt:lpstr>
      <vt:lpstr>Bounded-Buffer Problem</vt:lpstr>
      <vt:lpstr>PowerPoint 簡報</vt:lpstr>
      <vt:lpstr>Readers-Writers Problem (1)</vt:lpstr>
      <vt:lpstr>Readers-Writers Problem (2)</vt:lpstr>
      <vt:lpstr>Readers-Writers Problem (3)</vt:lpstr>
      <vt:lpstr>PowerPoint 簡報</vt:lpstr>
      <vt:lpstr>Dining-Philosophers Problem (1)</vt:lpstr>
      <vt:lpstr>Dining-Philosophers Problem(2) </vt:lpstr>
      <vt:lpstr>Dining-Philosophers Problem (3)</vt:lpstr>
      <vt:lpstr>Incorrect use</vt:lpstr>
      <vt:lpstr>Monitor: A High-level Language Constructs</vt:lpstr>
      <vt:lpstr>Monitors</vt:lpstr>
      <vt:lpstr>Monitors – condition variables</vt:lpstr>
      <vt:lpstr>Schematic View of a Monitor</vt:lpstr>
      <vt:lpstr>Monitor With Condition Variables (1)</vt:lpstr>
      <vt:lpstr>Monitor With Condition Variables (2)</vt:lpstr>
      <vt:lpstr>Monitor With Condition Variables (3)</vt:lpstr>
      <vt:lpstr>Dining Philosophers Example</vt:lpstr>
      <vt:lpstr>PowerPoint 簡報</vt:lpstr>
      <vt:lpstr>PowerPoint 簡報</vt:lpstr>
      <vt:lpstr>PowerPoint 簡報</vt:lpstr>
      <vt:lpstr>Monitor Implementation  Using Semaphores (1)</vt:lpstr>
      <vt:lpstr>Monitor Implementation  Using Semaphores (2)</vt:lpstr>
      <vt:lpstr>Monitor Implementation  Using Semaphores (3)</vt:lpstr>
      <vt:lpstr>Resuming Processes within a Monitor (1)</vt:lpstr>
      <vt:lpstr>PowerPoint 簡報</vt:lpstr>
      <vt:lpstr>PowerPoint 簡報</vt:lpstr>
      <vt:lpstr>Synchronization Examples</vt:lpstr>
      <vt:lpstr>Solaris Synchronization (1)</vt:lpstr>
      <vt:lpstr>Solaris Synchronization (2)</vt:lpstr>
      <vt:lpstr>Windows Synchronization (1)</vt:lpstr>
      <vt:lpstr>Windows Synchronization (2)</vt:lpstr>
      <vt:lpstr>Windows Synchronization (3)</vt:lpstr>
      <vt:lpstr>Linux Synchronization</vt:lpstr>
      <vt:lpstr>Pthreads Synchronization</vt:lpstr>
      <vt:lpstr>Alternative Approaches</vt:lpstr>
      <vt:lpstr>Transactional Memory (1)</vt:lpstr>
      <vt:lpstr>Transactional Memory (2)</vt:lpstr>
      <vt:lpstr>PowerPoint 簡報</vt:lpstr>
      <vt:lpstr>PowerPoint 簡報</vt:lpstr>
      <vt:lpstr>PowerPoint 簡報</vt:lpstr>
      <vt:lpstr>Serializability  and Concurrency-control Algorithms</vt:lpstr>
      <vt:lpstr>System Model</vt:lpstr>
      <vt:lpstr>Transactions</vt:lpstr>
      <vt:lpstr>Types of Storage Media</vt:lpstr>
      <vt:lpstr>Log-Based Recovery</vt:lpstr>
      <vt:lpstr>Serializability (1)</vt:lpstr>
      <vt:lpstr>Serializability (2)</vt:lpstr>
      <vt:lpstr>Locking Protocol (1)</vt:lpstr>
      <vt:lpstr>Locking Protocol (2)</vt:lpstr>
      <vt:lpstr>Timestamp-based Protocols (1)</vt:lpstr>
      <vt:lpstr>Timestamp-based Protocols (2)</vt:lpstr>
      <vt:lpstr>Timestamp-based Protocols (2)</vt:lpstr>
      <vt:lpstr>Timestamp-based Protocols (3)</vt:lpstr>
      <vt:lpstr>Example, Use of the Timestamp-based Protocol</vt:lpstr>
      <vt:lpstr>Testing Serializability of a Schedule</vt:lpstr>
      <vt:lpstr>Two-phase Locking guarantees Serializability</vt:lpstr>
      <vt:lpstr>Critical Regions (1)</vt:lpstr>
      <vt:lpstr>Critical Regions (2)</vt:lpstr>
      <vt:lpstr>PowerPoint 簡報</vt:lpstr>
      <vt:lpstr>Implementation region x when B do S</vt:lpstr>
      <vt:lpstr>Implementation</vt:lpstr>
      <vt:lpstr>Implementation of the Conditional-region construct</vt:lpstr>
      <vt:lpstr>Implementation of the Conditional-region construct</vt:lpstr>
      <vt:lpstr>Implementation of the Conditional-region construct (2)</vt:lpstr>
      <vt:lpstr>Windows Synchronization (2)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 Process Synchronization</dc:title>
  <dc:creator>Jia-Shung WANG</dc:creator>
  <cp:lastModifiedBy>JS</cp:lastModifiedBy>
  <cp:revision>365</cp:revision>
  <cp:lastPrinted>2016-10-24T05:43:11Z</cp:lastPrinted>
  <dcterms:created xsi:type="dcterms:W3CDTF">1999-07-23T13:31:00Z</dcterms:created>
  <dcterms:modified xsi:type="dcterms:W3CDTF">2018-04-12T01:54:11Z</dcterms:modified>
</cp:coreProperties>
</file>