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256" r:id="rId2"/>
    <p:sldId id="257" r:id="rId3"/>
    <p:sldId id="258" r:id="rId4"/>
    <p:sldId id="261" r:id="rId5"/>
    <p:sldId id="263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82" r:id="rId14"/>
    <p:sldId id="283" r:id="rId15"/>
    <p:sldId id="284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8" r:id="rId24"/>
    <p:sldId id="279" r:id="rId25"/>
    <p:sldId id="280" r:id="rId26"/>
    <p:sldId id="281" r:id="rId27"/>
    <p:sldId id="260" r:id="rId28"/>
    <p:sldId id="338" r:id="rId29"/>
    <p:sldId id="339" r:id="rId30"/>
    <p:sldId id="340" r:id="rId31"/>
    <p:sldId id="341" r:id="rId32"/>
    <p:sldId id="342" r:id="rId33"/>
    <p:sldId id="343" r:id="rId34"/>
    <p:sldId id="344" r:id="rId35"/>
    <p:sldId id="345" r:id="rId36"/>
    <p:sldId id="346" r:id="rId37"/>
    <p:sldId id="347" r:id="rId38"/>
    <p:sldId id="348" r:id="rId39"/>
    <p:sldId id="349" r:id="rId40"/>
    <p:sldId id="350" r:id="rId41"/>
    <p:sldId id="351" r:id="rId42"/>
    <p:sldId id="352" r:id="rId43"/>
    <p:sldId id="353" r:id="rId44"/>
    <p:sldId id="354" r:id="rId45"/>
    <p:sldId id="355" r:id="rId46"/>
    <p:sldId id="356" r:id="rId47"/>
    <p:sldId id="357" r:id="rId48"/>
    <p:sldId id="35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29" autoAdjust="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-920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notesMaster" Target="notesMasters/notesMaster1.xml"/><Relationship Id="rId51" Type="http://schemas.openxmlformats.org/officeDocument/2006/relationships/handoutMaster" Target="handoutMasters/handoutMaster1.xml"/><Relationship Id="rId52" Type="http://schemas.openxmlformats.org/officeDocument/2006/relationships/printerSettings" Target="printerSettings/printerSettings1.bin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Relationship Id="rId2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4" Type="http://schemas.openxmlformats.org/officeDocument/2006/relationships/image" Target="../media/image23.wmf"/><Relationship Id="rId1" Type="http://schemas.openxmlformats.org/officeDocument/2006/relationships/image" Target="../media/image20.wmf"/><Relationship Id="rId2" Type="http://schemas.openxmlformats.org/officeDocument/2006/relationships/image" Target="../media/image2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4" Type="http://schemas.openxmlformats.org/officeDocument/2006/relationships/image" Target="../media/image27.wmf"/><Relationship Id="rId5" Type="http://schemas.openxmlformats.org/officeDocument/2006/relationships/image" Target="../media/image28.wmf"/><Relationship Id="rId6" Type="http://schemas.openxmlformats.org/officeDocument/2006/relationships/image" Target="../media/image29.wmf"/><Relationship Id="rId7" Type="http://schemas.openxmlformats.org/officeDocument/2006/relationships/image" Target="../media/image30.wmf"/><Relationship Id="rId8" Type="http://schemas.openxmlformats.org/officeDocument/2006/relationships/image" Target="../media/image31.wmf"/><Relationship Id="rId9" Type="http://schemas.openxmlformats.org/officeDocument/2006/relationships/image" Target="../media/image32.wmf"/><Relationship Id="rId10" Type="http://schemas.openxmlformats.org/officeDocument/2006/relationships/image" Target="../media/image33.wmf"/><Relationship Id="rId11" Type="http://schemas.openxmlformats.org/officeDocument/2006/relationships/image" Target="../media/image34.wmf"/><Relationship Id="rId1" Type="http://schemas.openxmlformats.org/officeDocument/2006/relationships/image" Target="../media/image24.wmf"/><Relationship Id="rId2" Type="http://schemas.openxmlformats.org/officeDocument/2006/relationships/image" Target="../media/image2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4" Type="http://schemas.openxmlformats.org/officeDocument/2006/relationships/image" Target="../media/image38.wmf"/><Relationship Id="rId1" Type="http://schemas.openxmlformats.org/officeDocument/2006/relationships/image" Target="../media/image35.wmf"/><Relationship Id="rId2" Type="http://schemas.openxmlformats.org/officeDocument/2006/relationships/image" Target="../media/image3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E22B1-A489-724B-AADE-928039389399}" type="datetimeFigureOut">
              <a:rPr lang="en-US" smtClean="0"/>
              <a:t>10/27/16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04B55-90AA-4E48-9675-DA460DBCD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456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4CD06-6360-1344-8231-A755EBC9259C}" type="datetimeFigureOut">
              <a:rPr lang="en-US" smtClean="0"/>
              <a:t>10/27/16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5370C-E253-5B4A-BEBB-54530F2F6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660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fld id="{1006C0A4-6AC2-AF48-B31B-84080F1C9476}" type="slidenum">
              <a:rPr lang="en-CA" altLang="zh-TW" sz="1300"/>
              <a:pPr eaLnBrk="1" hangingPunct="1"/>
              <a:t>4</a:t>
            </a:fld>
            <a:endParaRPr lang="en-CA" altLang="zh-TW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fld id="{33939494-9FB1-D349-A000-ECE3A16FF0DE}" type="slidenum">
              <a:rPr lang="en-CA" altLang="zh-TW" sz="1300"/>
              <a:pPr eaLnBrk="1" hangingPunct="1"/>
              <a:t>6</a:t>
            </a:fld>
            <a:endParaRPr lang="en-CA" altLang="zh-TW" sz="130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1363" cy="3414713"/>
          </a:xfrm>
          <a:ln w="12700" cap="flat">
            <a:solidFill>
              <a:schemeClr val="tx1"/>
            </a:solidFill>
          </a:ln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lIns="93683" tIns="48403" rIns="93683" bIns="48403"/>
          <a:lstStyle/>
          <a:p>
            <a:pPr eaLnBrk="1" hangingPunct="1">
              <a:spcBef>
                <a:spcPct val="0"/>
              </a:spcBef>
            </a:pPr>
            <a:endParaRPr lang="en-US" sz="230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 smtClean="0"/>
              <a:t>http://</a:t>
            </a:r>
            <a:r>
              <a:rPr kumimoji="1" lang="en-US" altLang="zh-TW" dirty="0" err="1" smtClean="0"/>
              <a:t>www.webpages.uidaho.edu</a:t>
            </a:r>
            <a:r>
              <a:rPr kumimoji="1" lang="en-US" altLang="zh-TW" dirty="0" smtClean="0"/>
              <a:t>/</a:t>
            </a:r>
            <a:r>
              <a:rPr kumimoji="1" lang="en-US" altLang="zh-TW" dirty="0" err="1" smtClean="0"/>
              <a:t>veg_measure</a:t>
            </a:r>
            <a:r>
              <a:rPr kumimoji="1" lang="en-US" altLang="zh-TW" dirty="0" smtClean="0"/>
              <a:t>/Modules/Lessons/Module%202(Sampling)/2_3_Accuracy_and_bias.htm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95370C-E253-5B4A-BEBB-54530F2F672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248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fld id="{3F0C6379-1145-BC4D-A7BA-219FDE06C650}" type="slidenum">
              <a:rPr lang="en-CA" altLang="zh-TW" sz="1300"/>
              <a:pPr eaLnBrk="1" hangingPunct="1"/>
              <a:t>48</a:t>
            </a:fld>
            <a:endParaRPr lang="en-CA" altLang="zh-TW" sz="130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1363" cy="3414713"/>
          </a:xfrm>
          <a:ln w="12700" cap="flat">
            <a:solidFill>
              <a:schemeClr val="tx1"/>
            </a:solidFill>
          </a:ln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lIns="93683" tIns="48403" rIns="93683" bIns="48403"/>
          <a:lstStyle/>
          <a:p>
            <a:pPr eaLnBrk="1" hangingPunct="1">
              <a:spcBef>
                <a:spcPct val="0"/>
              </a:spcBef>
            </a:pPr>
            <a:endParaRPr lang="en-US" sz="2300">
              <a:latin typeface="Times New Roman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096C3-D431-B640-8E06-C764B561EFF0}" type="datetime1">
              <a:rPr lang="en-US" smtClean="0"/>
              <a:t>10/27/16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26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F2A3-DDF1-8A43-9438-CEDB45737B0D}" type="datetime1">
              <a:rPr lang="en-US" smtClean="0"/>
              <a:t>10/27/16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61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C87D3-C516-1D46-AF15-FF7C5AB91090}" type="datetime1">
              <a:rPr lang="en-US" smtClean="0"/>
              <a:t>10/27/16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19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056C8-3CBB-134C-92F2-EEF14138988E}" type="datetime1">
              <a:rPr lang="en-US" smtClean="0"/>
              <a:t>10/27/16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9085-5C84-304B-A604-D383C411A81E}" type="datetime1">
              <a:rPr lang="en-US" smtClean="0"/>
              <a:t>10/27/16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2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EF518-1D25-EE43-8A7E-96097F56A74B}" type="datetime1">
              <a:rPr lang="en-US" smtClean="0"/>
              <a:t>10/27/16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71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6380-5F2B-F940-8C5C-E73F755AAB35}" type="datetime1">
              <a:rPr lang="en-US" smtClean="0"/>
              <a:t>10/27/16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08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3C4EF-3883-F74D-882A-BD0ED0A46B24}" type="datetime1">
              <a:rPr lang="en-US" smtClean="0"/>
              <a:t>10/27/16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65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D93E7-2475-E845-AEA9-5A0AB6A8E62A}" type="datetime1">
              <a:rPr lang="en-US" smtClean="0"/>
              <a:t>10/27/16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1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C446-F4B7-0E4C-96DC-FDD6F47AB62E}" type="datetime1">
              <a:rPr lang="en-US" smtClean="0"/>
              <a:t>10/27/16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16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950CC-8AA7-4243-A1D1-C4A42410C61C}" type="datetime1">
              <a:rPr lang="en-US" smtClean="0"/>
              <a:t>10/27/16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78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7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3132"/>
            <a:ext cx="8229600" cy="5013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59F6-B31F-914F-9D11-0CE96A02EA33}" type="datetime1">
              <a:rPr lang="en-US" smtClean="0"/>
              <a:t>10/27/16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yorku.ca/mack/CourseNotes.ppt" TargetMode="External"/><Relationship Id="rId3" Type="http://schemas.openxmlformats.org/officeDocument/2006/relationships/hyperlink" Target="http://hci.stanford.edu/courses/cs147/2012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adford.edu/~dsnuffer/" TargetMode="External"/><Relationship Id="rId4" Type="http://schemas.openxmlformats.org/officeDocument/2006/relationships/hyperlink" Target="http://www.stat.ufl.edu/~aa/sta6126/" TargetMode="External"/><Relationship Id="rId5" Type="http://schemas.openxmlformats.org/officeDocument/2006/relationships/hyperlink" Target="http://web.cs.dal.ca/~hawkey/4163/experimental_evaluation_stats.ppt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ducation.med.imperial.ac.uk/ext/intercalate11-12/statistics.ppt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stat.sc.edu/~west/javahtml/Histogram.html" TargetMode="External"/><Relationship Id="rId3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Standard_deviation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en.wikipedia.org/wiki/Variance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6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7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4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6" Type="http://schemas.openxmlformats.org/officeDocument/2006/relationships/image" Target="../media/image9.w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4" Type="http://schemas.openxmlformats.org/officeDocument/2006/relationships/image" Target="../media/image10.e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4" Type="http://schemas.openxmlformats.org/officeDocument/2006/relationships/image" Target="../media/image11.w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4" Type="http://schemas.openxmlformats.org/officeDocument/2006/relationships/image" Target="../media/image12.w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4" Type="http://schemas.openxmlformats.org/officeDocument/2006/relationships/image" Target="../media/image17.wmf"/><Relationship Id="rId5" Type="http://schemas.openxmlformats.org/officeDocument/2006/relationships/image" Target="../media/image18.png"/><Relationship Id="rId6" Type="http://schemas.openxmlformats.org/officeDocument/2006/relationships/hyperlink" Target="http://en.wikipedia.org/wiki/Pearson_product-moment_correlation_coefficient" TargetMode="External"/><Relationship Id="rId7" Type="http://schemas.openxmlformats.org/officeDocument/2006/relationships/image" Target="../media/image19.png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4" Type="http://schemas.openxmlformats.org/officeDocument/2006/relationships/image" Target="../media/image20.wmf"/><Relationship Id="rId5" Type="http://schemas.openxmlformats.org/officeDocument/2006/relationships/oleObject" Target="../embeddings/oleObject10.bin"/><Relationship Id="rId6" Type="http://schemas.openxmlformats.org/officeDocument/2006/relationships/image" Target="../media/image21.wmf"/><Relationship Id="rId7" Type="http://schemas.openxmlformats.org/officeDocument/2006/relationships/oleObject" Target="../embeddings/oleObject11.bin"/><Relationship Id="rId8" Type="http://schemas.openxmlformats.org/officeDocument/2006/relationships/image" Target="../media/image22.wmf"/><Relationship Id="rId9" Type="http://schemas.openxmlformats.org/officeDocument/2006/relationships/oleObject" Target="../embeddings/oleObject12.bin"/><Relationship Id="rId10" Type="http://schemas.openxmlformats.org/officeDocument/2006/relationships/image" Target="../media/image23.w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.bin"/><Relationship Id="rId20" Type="http://schemas.openxmlformats.org/officeDocument/2006/relationships/image" Target="../media/image32.wmf"/><Relationship Id="rId21" Type="http://schemas.openxmlformats.org/officeDocument/2006/relationships/oleObject" Target="../embeddings/oleObject22.bin"/><Relationship Id="rId22" Type="http://schemas.openxmlformats.org/officeDocument/2006/relationships/image" Target="../media/image33.wmf"/><Relationship Id="rId23" Type="http://schemas.openxmlformats.org/officeDocument/2006/relationships/oleObject" Target="../embeddings/oleObject23.bin"/><Relationship Id="rId24" Type="http://schemas.openxmlformats.org/officeDocument/2006/relationships/image" Target="../media/image34.wmf"/><Relationship Id="rId10" Type="http://schemas.openxmlformats.org/officeDocument/2006/relationships/image" Target="../media/image27.wmf"/><Relationship Id="rId11" Type="http://schemas.openxmlformats.org/officeDocument/2006/relationships/oleObject" Target="../embeddings/oleObject17.bin"/><Relationship Id="rId12" Type="http://schemas.openxmlformats.org/officeDocument/2006/relationships/image" Target="../media/image28.wmf"/><Relationship Id="rId13" Type="http://schemas.openxmlformats.org/officeDocument/2006/relationships/oleObject" Target="../embeddings/oleObject18.bin"/><Relationship Id="rId14" Type="http://schemas.openxmlformats.org/officeDocument/2006/relationships/image" Target="../media/image29.wmf"/><Relationship Id="rId15" Type="http://schemas.openxmlformats.org/officeDocument/2006/relationships/oleObject" Target="../embeddings/oleObject19.bin"/><Relationship Id="rId16" Type="http://schemas.openxmlformats.org/officeDocument/2006/relationships/image" Target="../media/image30.wmf"/><Relationship Id="rId17" Type="http://schemas.openxmlformats.org/officeDocument/2006/relationships/oleObject" Target="../embeddings/oleObject20.bin"/><Relationship Id="rId18" Type="http://schemas.openxmlformats.org/officeDocument/2006/relationships/image" Target="../media/image31.wmf"/><Relationship Id="rId19" Type="http://schemas.openxmlformats.org/officeDocument/2006/relationships/oleObject" Target="../embeddings/oleObject21.bin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24.wmf"/><Relationship Id="rId5" Type="http://schemas.openxmlformats.org/officeDocument/2006/relationships/oleObject" Target="../embeddings/oleObject14.bin"/><Relationship Id="rId6" Type="http://schemas.openxmlformats.org/officeDocument/2006/relationships/image" Target="../media/image25.wmf"/><Relationship Id="rId7" Type="http://schemas.openxmlformats.org/officeDocument/2006/relationships/oleObject" Target="../embeddings/oleObject15.bin"/><Relationship Id="rId8" Type="http://schemas.openxmlformats.org/officeDocument/2006/relationships/image" Target="../media/image26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4" Type="http://schemas.openxmlformats.org/officeDocument/2006/relationships/image" Target="../media/image35.wmf"/><Relationship Id="rId5" Type="http://schemas.openxmlformats.org/officeDocument/2006/relationships/oleObject" Target="../embeddings/oleObject25.bin"/><Relationship Id="rId6" Type="http://schemas.openxmlformats.org/officeDocument/2006/relationships/image" Target="../media/image36.wmf"/><Relationship Id="rId7" Type="http://schemas.openxmlformats.org/officeDocument/2006/relationships/oleObject" Target="../embeddings/oleObject26.bin"/><Relationship Id="rId8" Type="http://schemas.openxmlformats.org/officeDocument/2006/relationships/image" Target="../media/image37.wmf"/><Relationship Id="rId9" Type="http://schemas.openxmlformats.org/officeDocument/2006/relationships/oleObject" Target="../embeddings/oleObject27.bin"/><Relationship Id="rId10" Type="http://schemas.openxmlformats.org/officeDocument/2006/relationships/image" Target="../media/image38.wmf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28031"/>
            <a:ext cx="9144000" cy="3086431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Optima"/>
                <a:cs typeface="Optima"/>
              </a:rPr>
              <a:t>ISA5577 Applied Quantitative Methods for Human-Computer Interaction</a:t>
            </a:r>
            <a:r>
              <a:rPr lang="en-US" dirty="0">
                <a:latin typeface="Optima"/>
                <a:cs typeface="Optima"/>
              </a:rPr>
              <a:t/>
            </a:r>
            <a:br>
              <a:rPr lang="en-US" dirty="0">
                <a:latin typeface="Optima"/>
                <a:cs typeface="Optima"/>
              </a:rPr>
            </a:br>
            <a:r>
              <a:rPr lang="zh-TW" altLang="en-US" dirty="0" smtClean="0">
                <a:latin typeface="微軟正黑體"/>
                <a:ea typeface="微軟正黑體"/>
                <a:cs typeface="微軟正黑體"/>
              </a:rPr>
              <a:t>人機互動量化研究方法</a:t>
            </a:r>
            <a:r>
              <a:rPr lang="en-US" dirty="0" smtClean="0">
                <a:latin typeface="微軟正黑體"/>
                <a:ea typeface="微軟正黑體"/>
                <a:cs typeface="微軟正黑體"/>
              </a:rPr>
              <a:t/>
            </a:r>
            <a:br>
              <a:rPr lang="en-US" dirty="0" smtClean="0">
                <a:latin typeface="微軟正黑體"/>
                <a:ea typeface="微軟正黑體"/>
                <a:cs typeface="微軟正黑體"/>
              </a:rPr>
            </a:br>
            <a:r>
              <a:rPr lang="en-US" dirty="0" smtClean="0">
                <a:latin typeface="Optima"/>
                <a:cs typeface="Optima"/>
              </a:rPr>
              <a:t/>
            </a:r>
            <a:br>
              <a:rPr lang="en-US" dirty="0" smtClean="0">
                <a:latin typeface="Optima"/>
                <a:cs typeface="Optima"/>
              </a:rPr>
            </a:br>
            <a:r>
              <a:rPr lang="en-US" smtClean="0">
                <a:latin typeface="Optima"/>
                <a:cs typeface="Optima"/>
              </a:rPr>
              <a:t/>
            </a:r>
            <a:br>
              <a:rPr lang="en-US" smtClean="0">
                <a:latin typeface="Optima"/>
                <a:cs typeface="Optima"/>
              </a:rPr>
            </a:br>
            <a:r>
              <a:rPr lang="en-US" sz="3200" smtClean="0">
                <a:latin typeface="Optima"/>
                <a:cs typeface="Optima"/>
              </a:rPr>
              <a:t>October 27, 2016</a:t>
            </a:r>
            <a:endParaRPr lang="en-US" sz="3200" dirty="0">
              <a:latin typeface="Optima"/>
              <a:cs typeface="Optim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6263" y="5522893"/>
            <a:ext cx="6809548" cy="970056"/>
          </a:xfrm>
        </p:spPr>
        <p:txBody>
          <a:bodyPr>
            <a:noAutofit/>
          </a:bodyPr>
          <a:lstStyle/>
          <a:p>
            <a:r>
              <a:rPr lang="en-US" sz="2700" dirty="0" err="1" smtClean="0"/>
              <a:t>Hao-Chuan</a:t>
            </a:r>
            <a:r>
              <a:rPr lang="en-US" sz="2700" dirty="0" smtClean="0"/>
              <a:t> Wang</a:t>
            </a:r>
            <a:endParaRPr lang="en-US" sz="2700" dirty="0" smtClean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133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Today’s Agenda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TW" dirty="0" smtClean="0"/>
              <a:t>Statistics basics and JMP</a:t>
            </a:r>
          </a:p>
          <a:p>
            <a:r>
              <a:rPr kumimoji="1" lang="en-US" altLang="zh-TW" dirty="0" smtClean="0"/>
              <a:t>Basic ideas of statistical analysis</a:t>
            </a:r>
          </a:p>
          <a:p>
            <a:r>
              <a:rPr kumimoji="1" lang="en-US" altLang="zh-TW" dirty="0" smtClean="0"/>
              <a:t>Multivariate analysis (correlations)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</a:t>
            </a:fld>
            <a:endParaRPr lang="en-US"/>
          </a:p>
        </p:txBody>
      </p:sp>
      <p:sp>
        <p:nvSpPr>
          <p:cNvPr id="5" name="文字方塊 4"/>
          <p:cNvSpPr txBox="1"/>
          <p:nvPr/>
        </p:nvSpPr>
        <p:spPr>
          <a:xfrm>
            <a:off x="1144951" y="5098482"/>
            <a:ext cx="74815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 smtClean="0"/>
              <a:t>Sources: Scott </a:t>
            </a:r>
            <a:r>
              <a:rPr kumimoji="1" lang="en-US" altLang="zh-TW" dirty="0" err="1" smtClean="0"/>
              <a:t>MacKenize</a:t>
            </a:r>
            <a:r>
              <a:rPr kumimoji="1" lang="en-US" altLang="zh-TW" dirty="0"/>
              <a:t> </a:t>
            </a:r>
            <a:r>
              <a:rPr kumimoji="1" lang="en-US" altLang="zh-TW" dirty="0" smtClean="0">
                <a:hlinkClick r:id="rId2"/>
              </a:rPr>
              <a:t>http://www.yorku.ca/mack/CourseNotes.ppt</a:t>
            </a:r>
            <a:r>
              <a:rPr kumimoji="1" lang="en-US" altLang="zh-TW" dirty="0" smtClean="0"/>
              <a:t> </a:t>
            </a:r>
          </a:p>
          <a:p>
            <a:r>
              <a:rPr kumimoji="1" lang="en-US" altLang="zh-TW" dirty="0"/>
              <a:t>	</a:t>
            </a:r>
            <a:r>
              <a:rPr kumimoji="1" lang="en-US" altLang="zh-TW" dirty="0" smtClean="0"/>
              <a:t>	Scott </a:t>
            </a:r>
            <a:r>
              <a:rPr kumimoji="1" lang="en-US" altLang="zh-TW" dirty="0" err="1" smtClean="0"/>
              <a:t>Klemmer</a:t>
            </a:r>
            <a:r>
              <a:rPr kumimoji="1" lang="en-US" altLang="zh-TW" dirty="0" smtClean="0"/>
              <a:t>. </a:t>
            </a:r>
            <a:r>
              <a:rPr kumimoji="1" lang="en-US" altLang="zh-TW" dirty="0"/>
              <a:t>CS147 </a:t>
            </a:r>
            <a:r>
              <a:rPr kumimoji="1" lang="en-US" altLang="zh-TW" dirty="0">
                <a:hlinkClick r:id="rId3"/>
              </a:rPr>
              <a:t>http://hci.stanford.edu/courses/cs147/2012</a:t>
            </a:r>
            <a:r>
              <a:rPr kumimoji="1" lang="en-US" altLang="zh-TW" dirty="0" smtClean="0">
                <a:hlinkClick r:id="rId3"/>
              </a:rPr>
              <a:t>/</a:t>
            </a:r>
            <a:r>
              <a:rPr kumimoji="1" lang="en-US" altLang="zh-TW" dirty="0" smtClean="0"/>
              <a:t> 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82021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88933" y="2407025"/>
            <a:ext cx="7333801" cy="2056775"/>
          </a:xfrm>
        </p:spPr>
        <p:txBody>
          <a:bodyPr>
            <a:normAutofit/>
          </a:bodyPr>
          <a:lstStyle/>
          <a:p>
            <a:r>
              <a:rPr kumimoji="1" lang="en-US" altLang="zh-TW" dirty="0" smtClean="0"/>
              <a:t>(Very) Basic Statistics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3</a:t>
            </a:fld>
            <a:endParaRPr lang="en-US"/>
          </a:p>
        </p:txBody>
      </p:sp>
      <p:sp>
        <p:nvSpPr>
          <p:cNvPr id="3" name="文字方塊 2"/>
          <p:cNvSpPr txBox="1"/>
          <p:nvPr/>
        </p:nvSpPr>
        <p:spPr>
          <a:xfrm>
            <a:off x="1284664" y="5006432"/>
            <a:ext cx="70318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hlinkClick r:id="rId2"/>
              </a:rPr>
              <a:t>https</a:t>
            </a:r>
            <a:r>
              <a:rPr lang="en-US" altLang="zh-TW" dirty="0">
                <a:hlinkClick r:id="rId2"/>
              </a:rPr>
              <a:t>://education.med.imperial.ac.uk/ext/intercalate11-12/</a:t>
            </a:r>
            <a:r>
              <a:rPr lang="en-US" altLang="zh-TW" b="1" dirty="0" smtClean="0">
                <a:hlinkClick r:id="rId2"/>
              </a:rPr>
              <a:t>statistics</a:t>
            </a:r>
            <a:r>
              <a:rPr lang="en-US" altLang="zh-TW" dirty="0" smtClean="0">
                <a:hlinkClick r:id="rId2"/>
              </a:rPr>
              <a:t>.</a:t>
            </a:r>
            <a:r>
              <a:rPr lang="en-US" altLang="zh-TW" b="1" dirty="0" smtClean="0">
                <a:hlinkClick r:id="rId2"/>
              </a:rPr>
              <a:t>ppt</a:t>
            </a:r>
            <a:r>
              <a:rPr lang="en-US" altLang="zh-TW" b="1" dirty="0" smtClean="0"/>
              <a:t> </a:t>
            </a:r>
          </a:p>
          <a:p>
            <a:r>
              <a:rPr kumimoji="1" lang="en-US" altLang="zh-TW" dirty="0">
                <a:hlinkClick r:id="rId3"/>
              </a:rPr>
              <a:t>http://www.radford.edu/~dsnuffer</a:t>
            </a:r>
            <a:r>
              <a:rPr kumimoji="1" lang="en-US" altLang="zh-TW" dirty="0" smtClean="0">
                <a:hlinkClick r:id="rId3"/>
              </a:rPr>
              <a:t>/</a:t>
            </a:r>
            <a:r>
              <a:rPr kumimoji="1" lang="en-US" altLang="zh-TW" dirty="0" smtClean="0"/>
              <a:t> </a:t>
            </a:r>
          </a:p>
          <a:p>
            <a:r>
              <a:rPr kumimoji="1" lang="en-US" altLang="zh-TW" dirty="0">
                <a:hlinkClick r:id="rId4"/>
              </a:rPr>
              <a:t>http://www.stat.ufl.edu/~aa/sta6126</a:t>
            </a:r>
            <a:r>
              <a:rPr kumimoji="1" lang="en-US" altLang="zh-TW" dirty="0" smtClean="0">
                <a:hlinkClick r:id="rId4"/>
              </a:rPr>
              <a:t>/</a:t>
            </a:r>
            <a:r>
              <a:rPr kumimoji="1" lang="en-US" altLang="zh-TW" dirty="0" smtClean="0"/>
              <a:t> </a:t>
            </a:r>
          </a:p>
          <a:p>
            <a:r>
              <a:rPr kumimoji="1" lang="en-US" altLang="zh-TW" dirty="0">
                <a:hlinkClick r:id="rId5"/>
              </a:rPr>
              <a:t>http://web.cs.dal.ca/~hawkey/4163/</a:t>
            </a:r>
            <a:r>
              <a:rPr kumimoji="1" lang="en-US" altLang="zh-TW" dirty="0" smtClean="0">
                <a:hlinkClick r:id="rId5"/>
              </a:rPr>
              <a:t>experimental_evaluation_stats.ppt</a:t>
            </a:r>
            <a:r>
              <a:rPr kumimoji="1" lang="en-US" altLang="zh-TW" dirty="0" smtClean="0"/>
              <a:t> </a:t>
            </a:r>
            <a:endParaRPr kumimoji="1"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1181299" y="4659316"/>
            <a:ext cx="978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 smtClean="0"/>
              <a:t>Sources: 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18331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fld id="{F786D766-8B20-0F47-B474-85CF5A03A2E1}" type="slidenum">
              <a:rPr lang="en-CA" altLang="zh-TW" sz="2600">
                <a:latin typeface="Arial" charset="0"/>
              </a:rPr>
              <a:pPr eaLnBrk="1" hangingPunct="1"/>
              <a:t>4</a:t>
            </a:fld>
            <a:endParaRPr lang="en-CA" altLang="zh-TW" sz="2600">
              <a:latin typeface="Arial" charset="0"/>
            </a:endParaRPr>
          </a:p>
        </p:txBody>
      </p:sp>
      <p:sp>
        <p:nvSpPr>
          <p:cNvPr id="17410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>
                <a:latin typeface="Arial" charset="0"/>
              </a:rPr>
              <a:t>As an HCI researcher, you need to know</a:t>
            </a:r>
          </a:p>
        </p:txBody>
      </p:sp>
      <p:sp>
        <p:nvSpPr>
          <p:cNvPr id="1741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600" dirty="0" smtClean="0">
                <a:latin typeface="Arial" charset="0"/>
              </a:rPr>
              <a:t>Controlled experiments can provide clear convincing result on specific issues</a:t>
            </a:r>
          </a:p>
          <a:p>
            <a:pPr eaLnBrk="1" hangingPunct="1"/>
            <a:r>
              <a:rPr lang="en-US" sz="2600" dirty="0" smtClean="0">
                <a:latin typeface="Arial" charset="0"/>
              </a:rPr>
              <a:t>Creating testable </a:t>
            </a:r>
            <a:r>
              <a:rPr lang="en-US" sz="2600" b="1" dirty="0" smtClean="0">
                <a:latin typeface="Arial" charset="0"/>
              </a:rPr>
              <a:t>hypotheses</a:t>
            </a:r>
            <a:r>
              <a:rPr lang="en-US" sz="2600" dirty="0" smtClean="0">
                <a:latin typeface="Arial" charset="0"/>
              </a:rPr>
              <a:t> (“directional research questions”) are critical to good experimental design</a:t>
            </a:r>
          </a:p>
          <a:p>
            <a:pPr eaLnBrk="1" hangingPunct="1"/>
            <a:r>
              <a:rPr lang="en-US" sz="2600" dirty="0" smtClean="0">
                <a:latin typeface="Arial" charset="0"/>
              </a:rPr>
              <a:t>Experimental design requires a great deal of planning</a:t>
            </a:r>
          </a:p>
          <a:p>
            <a:pPr eaLnBrk="1" hangingPunct="1"/>
            <a:r>
              <a:rPr lang="en-US" sz="2600" dirty="0" smtClean="0">
                <a:latin typeface="Arial" charset="0"/>
              </a:rPr>
              <a:t>Statistics inform us about</a:t>
            </a:r>
          </a:p>
          <a:p>
            <a:pPr lvl="1" eaLnBrk="1" hangingPunct="1"/>
            <a:r>
              <a:rPr lang="en-US" sz="2500" dirty="0" smtClean="0">
                <a:latin typeface="Arial" charset="0"/>
              </a:rPr>
              <a:t>mathematical </a:t>
            </a:r>
            <a:r>
              <a:rPr lang="en-US" sz="2500" dirty="0">
                <a:latin typeface="Arial" charset="0"/>
              </a:rPr>
              <a:t>attributes about our data sets</a:t>
            </a:r>
          </a:p>
          <a:p>
            <a:pPr lvl="1" eaLnBrk="1" hangingPunct="1"/>
            <a:r>
              <a:rPr lang="en-US" sz="2500" dirty="0" smtClean="0">
                <a:latin typeface="Arial" charset="0"/>
              </a:rPr>
              <a:t>the </a:t>
            </a:r>
            <a:r>
              <a:rPr lang="en-US" sz="2500" dirty="0">
                <a:latin typeface="Arial" charset="0"/>
              </a:rPr>
              <a:t>probability that our claims are correct</a:t>
            </a:r>
          </a:p>
        </p:txBody>
      </p:sp>
    </p:spTree>
    <p:extLst>
      <p:ext uri="{BB962C8B-B14F-4D97-AF65-F5344CB8AC3E}">
        <p14:creationId xmlns:p14="http://schemas.microsoft.com/office/powerpoint/2010/main" val="29696371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What is Statistics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 smtClean="0"/>
              <a:t>Statistics: The science of collecting, describing and interpreting data</a:t>
            </a:r>
          </a:p>
          <a:p>
            <a:pPr lvl="1"/>
            <a:r>
              <a:rPr kumimoji="1" lang="en-US" altLang="zh-TW" dirty="0" smtClean="0"/>
              <a:t>Typically considered as a branch of mathematics</a:t>
            </a:r>
          </a:p>
          <a:p>
            <a:pPr lvl="1"/>
            <a:r>
              <a:rPr kumimoji="1" lang="en-US" altLang="zh-TW" dirty="0" smtClean="0"/>
              <a:t>A way to describe a set of data and make inferences about a population</a:t>
            </a:r>
          </a:p>
          <a:p>
            <a:pPr marL="57150" indent="0">
              <a:buNone/>
            </a:pPr>
            <a:endParaRPr kumimoji="1" lang="en-US" altLang="zh-TW" dirty="0" smtClean="0">
              <a:latin typeface="Calibri"/>
              <a:cs typeface="Calibri"/>
            </a:endParaRPr>
          </a:p>
          <a:p>
            <a:pPr marL="0" indent="0">
              <a:buFontTx/>
              <a:buNone/>
            </a:pPr>
            <a:r>
              <a:rPr lang="en-US" altLang="zh-TW" dirty="0">
                <a:latin typeface="Calibri"/>
                <a:cs typeface="Calibri"/>
              </a:rPr>
              <a:t>Two areas of statistics:</a:t>
            </a:r>
          </a:p>
          <a:p>
            <a:pPr marL="0" indent="0">
              <a:buFontTx/>
              <a:buNone/>
            </a:pPr>
            <a:r>
              <a:rPr lang="en-US" altLang="zh-TW" b="1" dirty="0">
                <a:solidFill>
                  <a:schemeClr val="hlink"/>
                </a:solidFill>
                <a:latin typeface="Calibri"/>
                <a:cs typeface="Calibri"/>
              </a:rPr>
              <a:t>Descriptive Statistics</a:t>
            </a:r>
            <a:r>
              <a:rPr lang="en-US" altLang="zh-TW" dirty="0">
                <a:latin typeface="Calibri"/>
                <a:cs typeface="Calibri"/>
              </a:rPr>
              <a:t>: collection, presentation, and description of sample data.</a:t>
            </a:r>
          </a:p>
          <a:p>
            <a:pPr marL="0" indent="0">
              <a:buFontTx/>
              <a:buNone/>
            </a:pPr>
            <a:r>
              <a:rPr lang="en-US" altLang="zh-TW" b="1" dirty="0">
                <a:solidFill>
                  <a:schemeClr val="hlink"/>
                </a:solidFill>
                <a:latin typeface="Calibri"/>
                <a:cs typeface="Calibri"/>
              </a:rPr>
              <a:t>Inferential Statistics</a:t>
            </a:r>
            <a:r>
              <a:rPr lang="en-US" altLang="zh-TW" dirty="0">
                <a:latin typeface="Calibri"/>
                <a:cs typeface="Calibri"/>
              </a:rPr>
              <a:t>: making decisions and drawing conclusions about populations.</a:t>
            </a:r>
          </a:p>
          <a:p>
            <a:pPr marL="57150" indent="0">
              <a:buNone/>
            </a:pPr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207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fld id="{DF389557-2222-6D48-84DA-244A19FDB838}" type="slidenum">
              <a:rPr lang="en-CA" altLang="zh-TW" sz="2600">
                <a:latin typeface="Arial" charset="0"/>
              </a:rPr>
              <a:pPr eaLnBrk="1" hangingPunct="1"/>
              <a:t>6</a:t>
            </a:fld>
            <a:endParaRPr lang="en-CA" altLang="zh-TW" sz="2600">
              <a:latin typeface="Arial" charset="0"/>
            </a:endParaRP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dirty="0">
                <a:latin typeface="Calibri"/>
                <a:cs typeface="Calibri"/>
              </a:rPr>
              <a:t>Statistical Analysis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13934"/>
            <a:ext cx="8229600" cy="5013218"/>
          </a:xfrm>
          <a:noFill/>
        </p:spPr>
        <p:txBody>
          <a:bodyPr lIns="92075" tIns="46038" rIns="92075" bIns="46038">
            <a:noAutofit/>
          </a:bodyPr>
          <a:lstStyle/>
          <a:p>
            <a:pPr eaLnBrk="1" hangingPunct="1"/>
            <a:r>
              <a:rPr lang="en-US" sz="2600" dirty="0">
                <a:latin typeface="Calibri"/>
                <a:cs typeface="Calibri"/>
              </a:rPr>
              <a:t>What is </a:t>
            </a:r>
            <a:r>
              <a:rPr lang="en-US" sz="2600" b="1" dirty="0">
                <a:latin typeface="Calibri"/>
                <a:cs typeface="Calibri"/>
              </a:rPr>
              <a:t>a</a:t>
            </a:r>
            <a:r>
              <a:rPr lang="en-US" sz="2600" dirty="0">
                <a:latin typeface="Calibri"/>
                <a:cs typeface="Calibri"/>
              </a:rPr>
              <a:t> statistic?</a:t>
            </a:r>
          </a:p>
          <a:p>
            <a:pPr lvl="1" eaLnBrk="1" hangingPunct="1"/>
            <a:r>
              <a:rPr lang="en-US" dirty="0">
                <a:latin typeface="Calibri"/>
                <a:cs typeface="Calibri"/>
              </a:rPr>
              <a:t>a number that describes a </a:t>
            </a:r>
            <a:r>
              <a:rPr lang="en-US" b="1" dirty="0">
                <a:latin typeface="Calibri"/>
                <a:cs typeface="Calibri"/>
              </a:rPr>
              <a:t>sample</a:t>
            </a:r>
          </a:p>
          <a:p>
            <a:pPr lvl="1" eaLnBrk="1" hangingPunct="1"/>
            <a:r>
              <a:rPr lang="en-US" b="1" dirty="0">
                <a:latin typeface="Calibri"/>
                <a:cs typeface="Calibri"/>
              </a:rPr>
              <a:t>sample</a:t>
            </a:r>
            <a:r>
              <a:rPr lang="en-US" dirty="0">
                <a:latin typeface="Calibri"/>
                <a:cs typeface="Calibri"/>
              </a:rPr>
              <a:t> is a subset (hopefully representative) of the </a:t>
            </a:r>
            <a:r>
              <a:rPr lang="en-US" b="1" dirty="0">
                <a:latin typeface="Calibri"/>
                <a:cs typeface="Calibri"/>
              </a:rPr>
              <a:t>population</a:t>
            </a:r>
            <a:r>
              <a:rPr lang="en-US" dirty="0">
                <a:latin typeface="Calibri"/>
                <a:cs typeface="Calibri"/>
              </a:rPr>
              <a:t> we are interested in understanding</a:t>
            </a:r>
          </a:p>
          <a:p>
            <a:pPr lvl="1" eaLnBrk="1" hangingPunct="1"/>
            <a:endParaRPr lang="en-US" dirty="0">
              <a:latin typeface="Calibri"/>
              <a:cs typeface="Calibri"/>
            </a:endParaRPr>
          </a:p>
          <a:p>
            <a:pPr eaLnBrk="1" hangingPunct="1"/>
            <a:r>
              <a:rPr lang="en-US" sz="2600" dirty="0">
                <a:latin typeface="Calibri"/>
                <a:cs typeface="Calibri"/>
              </a:rPr>
              <a:t>Statistics are calculations that tell us</a:t>
            </a:r>
          </a:p>
          <a:p>
            <a:pPr lvl="1" eaLnBrk="1" hangingPunct="1"/>
            <a:r>
              <a:rPr lang="en-US" dirty="0">
                <a:latin typeface="Calibri"/>
                <a:cs typeface="Calibri"/>
              </a:rPr>
              <a:t>mathematical attributes about our data sets (sample)</a:t>
            </a:r>
          </a:p>
          <a:p>
            <a:pPr lvl="2" eaLnBrk="1" hangingPunct="1"/>
            <a:r>
              <a:rPr lang="en-US" sz="2600" dirty="0">
                <a:latin typeface="Calibri"/>
                <a:cs typeface="Calibri"/>
              </a:rPr>
              <a:t>mean, amount of variance, </a:t>
            </a:r>
            <a:r>
              <a:rPr lang="en-US" sz="2600" dirty="0" smtClean="0">
                <a:latin typeface="Calibri"/>
                <a:cs typeface="Calibri"/>
              </a:rPr>
              <a:t>...</a:t>
            </a:r>
            <a:endParaRPr lang="en-US" sz="2600" dirty="0">
              <a:latin typeface="Calibri"/>
              <a:cs typeface="Calibri"/>
            </a:endParaRPr>
          </a:p>
          <a:p>
            <a:pPr lvl="1" eaLnBrk="1" hangingPunct="1"/>
            <a:r>
              <a:rPr lang="en-US" dirty="0">
                <a:latin typeface="Calibri"/>
                <a:cs typeface="Calibri"/>
              </a:rPr>
              <a:t>how data sets relate to each other</a:t>
            </a:r>
          </a:p>
          <a:p>
            <a:pPr lvl="2" eaLnBrk="1" hangingPunct="1"/>
            <a:r>
              <a:rPr lang="en-US" sz="2600" dirty="0">
                <a:latin typeface="Calibri"/>
                <a:cs typeface="Calibri"/>
              </a:rPr>
              <a:t>whether we are “sampling” from the same or different populations</a:t>
            </a:r>
            <a:br>
              <a:rPr lang="en-US" sz="2600" dirty="0">
                <a:latin typeface="Calibri"/>
                <a:cs typeface="Calibri"/>
              </a:rPr>
            </a:br>
            <a:endParaRPr lang="en-US" sz="2600" dirty="0">
              <a:latin typeface="Calibri"/>
              <a:cs typeface="Calibri"/>
            </a:endParaRPr>
          </a:p>
          <a:p>
            <a:pPr lvl="1" eaLnBrk="1" hangingPunct="1"/>
            <a:r>
              <a:rPr lang="en-US" dirty="0">
                <a:latin typeface="Calibri"/>
                <a:cs typeface="Calibri"/>
              </a:rPr>
              <a:t>the probability that our claims are correct</a:t>
            </a:r>
          </a:p>
          <a:p>
            <a:pPr lvl="2" eaLnBrk="1" hangingPunct="1"/>
            <a:r>
              <a:rPr lang="en-US" sz="2600" dirty="0">
                <a:latin typeface="Calibri"/>
                <a:cs typeface="Calibri"/>
              </a:rPr>
              <a:t>“statistical significance”</a:t>
            </a:r>
          </a:p>
        </p:txBody>
      </p:sp>
    </p:spTree>
    <p:extLst>
      <p:ext uri="{BB962C8B-B14F-4D97-AF65-F5344CB8AC3E}">
        <p14:creationId xmlns:p14="http://schemas.microsoft.com/office/powerpoint/2010/main" val="233180775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77042"/>
            <a:ext cx="7772400" cy="5638800"/>
          </a:xfrm>
          <a:noFill/>
          <a:ln/>
        </p:spPr>
        <p:txBody>
          <a:bodyPr/>
          <a:lstStyle/>
          <a:p>
            <a:pPr marL="228600" indent="-228600">
              <a:buFontTx/>
              <a:buNone/>
            </a:pPr>
            <a:r>
              <a:rPr lang="en-US" altLang="zh-TW" sz="2400" i="1" dirty="0">
                <a:solidFill>
                  <a:srgbClr val="0000CC"/>
                </a:solidFill>
              </a:rPr>
              <a:t>Example</a:t>
            </a:r>
            <a:r>
              <a:rPr lang="en-US" altLang="zh-TW" sz="2400" dirty="0"/>
              <a:t>: A recent study examined the math and verbal SAT scores of high school seniors across the country.  Which of the following statements are descriptive in nature and which are inferential.</a:t>
            </a:r>
            <a:endParaRPr lang="en-US" altLang="zh-TW" dirty="0"/>
          </a:p>
          <a:p>
            <a:pPr marL="228600" indent="-228600"/>
            <a:r>
              <a:rPr lang="en-US" altLang="zh-TW" sz="2400" dirty="0"/>
              <a:t>The mean math SAT score was 492.</a:t>
            </a:r>
          </a:p>
          <a:p>
            <a:pPr marL="228600" indent="-228600"/>
            <a:r>
              <a:rPr lang="en-US" altLang="zh-TW" sz="2400" dirty="0"/>
              <a:t>The mean verbal SAT score was 475.</a:t>
            </a:r>
          </a:p>
          <a:p>
            <a:pPr marL="228600" indent="-228600"/>
            <a:r>
              <a:rPr lang="en-US" altLang="zh-TW" sz="2400" dirty="0"/>
              <a:t>Students in the Northeast scored higher in math but lower in verbal.</a:t>
            </a:r>
          </a:p>
          <a:p>
            <a:pPr marL="228600" indent="-228600"/>
            <a:r>
              <a:rPr lang="en-US" altLang="zh-TW" sz="2400" dirty="0"/>
              <a:t>80% of all students taking the exam were headed for college.</a:t>
            </a:r>
          </a:p>
          <a:p>
            <a:pPr marL="228600" indent="-228600"/>
            <a:r>
              <a:rPr lang="en-US" altLang="zh-TW" sz="2400" dirty="0"/>
              <a:t>32% of the students scored above 610 on the verbal SAT.</a:t>
            </a:r>
          </a:p>
          <a:p>
            <a:pPr marL="228600" indent="-228600"/>
            <a:r>
              <a:rPr lang="en-US" altLang="zh-TW" sz="2400" dirty="0"/>
              <a:t>The math SAT scores are higher than they were 10 years ago.</a:t>
            </a:r>
          </a:p>
        </p:txBody>
      </p:sp>
    </p:spTree>
    <p:extLst>
      <p:ext uri="{BB962C8B-B14F-4D97-AF65-F5344CB8AC3E}">
        <p14:creationId xmlns:p14="http://schemas.microsoft.com/office/powerpoint/2010/main" val="22112732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l"/>
            <a:r>
              <a:rPr lang="en-US" altLang="zh-TW" dirty="0" smtClean="0"/>
              <a:t>Some Basic </a:t>
            </a:r>
            <a:r>
              <a:rPr lang="en-US" altLang="zh-TW" dirty="0"/>
              <a:t>Terms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TW" b="1" dirty="0">
                <a:solidFill>
                  <a:schemeClr val="hlink"/>
                </a:solidFill>
                <a:latin typeface="Calibri"/>
                <a:cs typeface="Calibri"/>
              </a:rPr>
              <a:t>Population</a:t>
            </a:r>
            <a:r>
              <a:rPr lang="en-US" altLang="zh-TW" dirty="0">
                <a:latin typeface="Calibri"/>
                <a:cs typeface="Calibri"/>
              </a:rPr>
              <a:t>: A collection, or set, of individuals or objects or events whose properties are to be analyzed.</a:t>
            </a:r>
          </a:p>
          <a:p>
            <a:pPr marL="0" indent="0">
              <a:buFontTx/>
              <a:buNone/>
            </a:pPr>
            <a:r>
              <a:rPr lang="en-US" altLang="zh-TW" dirty="0">
                <a:latin typeface="Calibri"/>
                <a:cs typeface="Calibri"/>
              </a:rPr>
              <a:t>Two kinds of populations: </a:t>
            </a:r>
            <a:r>
              <a:rPr lang="en-US" altLang="zh-TW" i="1" dirty="0">
                <a:solidFill>
                  <a:srgbClr val="0000CC"/>
                </a:solidFill>
                <a:latin typeface="Calibri"/>
                <a:cs typeface="Calibri"/>
              </a:rPr>
              <a:t>finite</a:t>
            </a:r>
            <a:r>
              <a:rPr lang="en-US" altLang="zh-TW" dirty="0">
                <a:latin typeface="Calibri"/>
                <a:cs typeface="Calibri"/>
              </a:rPr>
              <a:t> or </a:t>
            </a:r>
            <a:r>
              <a:rPr lang="en-US" altLang="zh-TW" i="1" dirty="0">
                <a:solidFill>
                  <a:srgbClr val="0000CC"/>
                </a:solidFill>
                <a:latin typeface="Calibri"/>
                <a:cs typeface="Calibri"/>
              </a:rPr>
              <a:t>infinite</a:t>
            </a:r>
            <a:r>
              <a:rPr lang="en-US" altLang="zh-TW" dirty="0" smtClean="0">
                <a:latin typeface="Calibri"/>
                <a:cs typeface="Calibri"/>
              </a:rPr>
              <a:t>.</a:t>
            </a:r>
            <a:endParaRPr lang="en-US" altLang="zh-TW" dirty="0">
              <a:latin typeface="Calibri"/>
              <a:cs typeface="Calibri"/>
            </a:endParaRPr>
          </a:p>
          <a:p>
            <a:pPr marL="0" indent="0">
              <a:buFontTx/>
              <a:buNone/>
            </a:pPr>
            <a:r>
              <a:rPr lang="en-US" altLang="zh-TW" b="1" dirty="0">
                <a:solidFill>
                  <a:schemeClr val="hlink"/>
                </a:solidFill>
                <a:latin typeface="Calibri"/>
                <a:cs typeface="Calibri"/>
              </a:rPr>
              <a:t>Sample</a:t>
            </a:r>
            <a:r>
              <a:rPr lang="en-US" altLang="zh-TW" dirty="0">
                <a:latin typeface="Calibri"/>
                <a:cs typeface="Calibri"/>
              </a:rPr>
              <a:t>: A subset of the population</a:t>
            </a:r>
            <a:r>
              <a:rPr lang="en-US" altLang="zh-TW" dirty="0" smtClean="0">
                <a:latin typeface="Calibri"/>
                <a:cs typeface="Calibri"/>
              </a:rPr>
              <a:t>.</a:t>
            </a:r>
          </a:p>
          <a:p>
            <a:pPr marL="0" indent="0">
              <a:buFontTx/>
              <a:buNone/>
            </a:pPr>
            <a:r>
              <a:rPr lang="en-US" altLang="zh-TW" b="1" dirty="0">
                <a:solidFill>
                  <a:schemeClr val="hlink"/>
                </a:solidFill>
              </a:rPr>
              <a:t>Variable</a:t>
            </a:r>
            <a:r>
              <a:rPr lang="en-US" altLang="zh-TW" dirty="0"/>
              <a:t>: A characteristic about each individual element of a population or sample.</a:t>
            </a:r>
          </a:p>
          <a:p>
            <a:pPr marL="0" indent="0">
              <a:buFontTx/>
              <a:buNone/>
            </a:pPr>
            <a:r>
              <a:rPr lang="en-US" altLang="zh-TW" b="1" dirty="0" smtClean="0">
                <a:solidFill>
                  <a:schemeClr val="hlink"/>
                </a:solidFill>
              </a:rPr>
              <a:t>Statistic</a:t>
            </a:r>
            <a:r>
              <a:rPr lang="en-US" altLang="zh-TW" dirty="0"/>
              <a:t>: A numerical value summarizing the sample data.</a:t>
            </a:r>
          </a:p>
          <a:p>
            <a:pPr marL="0" indent="0">
              <a:buFontTx/>
              <a:buNone/>
            </a:pPr>
            <a:endParaRPr lang="en-US" altLang="zh-TW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58040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381000"/>
            <a:ext cx="7772400" cy="5715000"/>
          </a:xfrm>
          <a:noFill/>
          <a:ln/>
        </p:spPr>
        <p:txBody>
          <a:bodyPr>
            <a:noAutofit/>
          </a:bodyPr>
          <a:lstStyle/>
          <a:p>
            <a:pPr marL="0" indent="0">
              <a:buFontTx/>
              <a:buNone/>
            </a:pPr>
            <a:r>
              <a:rPr lang="en-US" altLang="zh-TW" sz="2200" i="1" dirty="0">
                <a:solidFill>
                  <a:srgbClr val="0000CC"/>
                </a:solidFill>
              </a:rPr>
              <a:t>Example</a:t>
            </a:r>
            <a:r>
              <a:rPr lang="en-US" altLang="zh-TW" sz="2200" dirty="0"/>
              <a:t>: A college dean is interested in learning about the average age of faculty.  Identify the basic terms in this situation.</a:t>
            </a:r>
          </a:p>
          <a:p>
            <a:pPr marL="0" indent="0">
              <a:buFontTx/>
              <a:buNone/>
            </a:pPr>
            <a:endParaRPr lang="en-US" altLang="zh-TW" sz="2200" dirty="0"/>
          </a:p>
          <a:p>
            <a:pPr marL="0" indent="0">
              <a:buFontTx/>
              <a:buNone/>
            </a:pPr>
            <a:r>
              <a:rPr lang="en-US" altLang="zh-TW" sz="2200" dirty="0"/>
              <a:t>The </a:t>
            </a:r>
            <a:r>
              <a:rPr lang="en-US" altLang="zh-TW" sz="2200" i="1" dirty="0">
                <a:solidFill>
                  <a:srgbClr val="0000CC"/>
                </a:solidFill>
              </a:rPr>
              <a:t>population</a:t>
            </a:r>
            <a:r>
              <a:rPr lang="en-US" altLang="zh-TW" sz="2200" dirty="0"/>
              <a:t> is the age of all faculty members at the college.</a:t>
            </a:r>
          </a:p>
          <a:p>
            <a:pPr marL="0" indent="0">
              <a:buFontTx/>
              <a:buNone/>
            </a:pPr>
            <a:r>
              <a:rPr lang="en-US" altLang="zh-TW" sz="2200" dirty="0"/>
              <a:t>A </a:t>
            </a:r>
            <a:r>
              <a:rPr lang="en-US" altLang="zh-TW" sz="2200" i="1" dirty="0">
                <a:solidFill>
                  <a:srgbClr val="0000CC"/>
                </a:solidFill>
              </a:rPr>
              <a:t>sample</a:t>
            </a:r>
            <a:r>
              <a:rPr lang="en-US" altLang="zh-TW" sz="2200" dirty="0"/>
              <a:t> is any subset of that population.  For example, we might select 10 faculty members and determine their age.</a:t>
            </a:r>
          </a:p>
          <a:p>
            <a:pPr marL="0" indent="0">
              <a:buFontTx/>
              <a:buNone/>
            </a:pPr>
            <a:r>
              <a:rPr lang="en-US" altLang="zh-TW" sz="2200" dirty="0"/>
              <a:t>The </a:t>
            </a:r>
            <a:r>
              <a:rPr lang="en-US" altLang="zh-TW" sz="2200" i="1" dirty="0">
                <a:solidFill>
                  <a:srgbClr val="0000CC"/>
                </a:solidFill>
              </a:rPr>
              <a:t>variable</a:t>
            </a:r>
            <a:r>
              <a:rPr lang="en-US" altLang="zh-TW" sz="2200" dirty="0"/>
              <a:t> is the </a:t>
            </a:r>
            <a:r>
              <a:rPr lang="en-US" altLang="zh-TW" sz="2200" dirty="0" smtClean="0"/>
              <a:t>“age</a:t>
            </a:r>
            <a:r>
              <a:rPr lang="en-US" altLang="zh-TW" sz="2200" dirty="0" smtClean="0">
                <a:latin typeface="Arial"/>
              </a:rPr>
              <a:t>” </a:t>
            </a:r>
            <a:r>
              <a:rPr lang="en-US" altLang="zh-TW" sz="2200" dirty="0" smtClean="0"/>
              <a:t>of </a:t>
            </a:r>
            <a:r>
              <a:rPr lang="en-US" altLang="zh-TW" sz="2200" dirty="0"/>
              <a:t>each faculty member.</a:t>
            </a:r>
          </a:p>
          <a:p>
            <a:pPr marL="0" indent="0">
              <a:buFontTx/>
              <a:buNone/>
            </a:pPr>
            <a:r>
              <a:rPr lang="en-US" altLang="zh-TW" sz="2200" dirty="0" smtClean="0"/>
              <a:t>The </a:t>
            </a:r>
            <a:r>
              <a:rPr lang="en-US" altLang="zh-TW" sz="2200" i="1" dirty="0">
                <a:solidFill>
                  <a:srgbClr val="0000CC"/>
                </a:solidFill>
              </a:rPr>
              <a:t>statistic</a:t>
            </a:r>
            <a:r>
              <a:rPr lang="en-US" altLang="zh-TW" sz="2200" dirty="0"/>
              <a:t> is the </a:t>
            </a:r>
            <a:r>
              <a:rPr lang="en-US" altLang="zh-TW" sz="2200" dirty="0" smtClean="0"/>
              <a:t>“average</a:t>
            </a:r>
            <a:r>
              <a:rPr lang="en-US" altLang="zh-TW" sz="2200" dirty="0" smtClean="0">
                <a:latin typeface="Arial"/>
              </a:rPr>
              <a:t>” </a:t>
            </a:r>
            <a:r>
              <a:rPr lang="en-US" altLang="zh-TW" sz="2200" dirty="0" smtClean="0"/>
              <a:t>age </a:t>
            </a:r>
            <a:r>
              <a:rPr lang="en-US" altLang="zh-TW" sz="2200" dirty="0"/>
              <a:t>for all faculty in the sample.</a:t>
            </a:r>
          </a:p>
          <a:p>
            <a:pPr marL="0" indent="0">
              <a:buFontTx/>
              <a:buNone/>
            </a:pPr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42871373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9600" y="381000"/>
            <a:ext cx="7848600" cy="5715000"/>
          </a:xfrm>
          <a:noFill/>
          <a:ln/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TW" sz="2800" dirty="0">
                <a:latin typeface="Calibri"/>
                <a:cs typeface="Calibri"/>
              </a:rPr>
              <a:t>Two kinds of variables:</a:t>
            </a:r>
          </a:p>
          <a:p>
            <a:pPr marL="0" indent="0">
              <a:buFontTx/>
              <a:buNone/>
            </a:pPr>
            <a:r>
              <a:rPr lang="en-US" altLang="zh-TW" sz="2800" b="1" dirty="0" smtClean="0">
                <a:solidFill>
                  <a:schemeClr val="hlink"/>
                </a:solidFill>
                <a:latin typeface="Calibri"/>
                <a:cs typeface="Calibri"/>
              </a:rPr>
              <a:t>Qualitative, or </a:t>
            </a:r>
            <a:r>
              <a:rPr lang="en-US" altLang="zh-TW" sz="2800" b="1" dirty="0">
                <a:solidFill>
                  <a:schemeClr val="hlink"/>
                </a:solidFill>
                <a:latin typeface="Calibri"/>
                <a:cs typeface="Calibri"/>
              </a:rPr>
              <a:t>Categorical, Variable</a:t>
            </a:r>
            <a:r>
              <a:rPr lang="en-US" altLang="zh-TW" sz="2800" dirty="0">
                <a:latin typeface="Calibri"/>
                <a:cs typeface="Calibri"/>
              </a:rPr>
              <a:t>: A variable that categorizes or describes an element of a population.</a:t>
            </a:r>
          </a:p>
          <a:p>
            <a:pPr marL="0" indent="0">
              <a:buFontTx/>
              <a:buNone/>
            </a:pPr>
            <a:r>
              <a:rPr lang="en-US" altLang="zh-TW" sz="2400" i="1" dirty="0">
                <a:solidFill>
                  <a:schemeClr val="tx2"/>
                </a:solidFill>
                <a:latin typeface="Calibri"/>
                <a:cs typeface="Calibri"/>
              </a:rPr>
              <a:t>Note</a:t>
            </a:r>
            <a:r>
              <a:rPr lang="en-US" altLang="zh-TW" sz="2400" dirty="0">
                <a:latin typeface="Calibri"/>
                <a:cs typeface="Calibri"/>
              </a:rPr>
              <a:t>: Arithmetic operations, such as addition and averaging, are </a:t>
            </a:r>
            <a:r>
              <a:rPr lang="en-US" altLang="zh-TW" sz="2400" i="1" dirty="0">
                <a:solidFill>
                  <a:srgbClr val="0000CC"/>
                </a:solidFill>
                <a:latin typeface="Calibri"/>
                <a:cs typeface="Calibri"/>
              </a:rPr>
              <a:t>not</a:t>
            </a:r>
            <a:r>
              <a:rPr lang="en-US" altLang="zh-TW" sz="2400" dirty="0">
                <a:latin typeface="Calibri"/>
                <a:cs typeface="Calibri"/>
              </a:rPr>
              <a:t> meaningful for data resulting from a qualitative variable</a:t>
            </a:r>
            <a:r>
              <a:rPr lang="en-US" altLang="zh-TW" sz="2400" dirty="0" smtClean="0">
                <a:latin typeface="Calibri"/>
                <a:cs typeface="Calibri"/>
              </a:rPr>
              <a:t>.</a:t>
            </a:r>
          </a:p>
          <a:p>
            <a:pPr marL="0" indent="0">
              <a:buFontTx/>
              <a:buNone/>
            </a:pPr>
            <a:endParaRPr lang="en-US" altLang="zh-TW" sz="2400" dirty="0">
              <a:latin typeface="Calibri"/>
              <a:cs typeface="Calibri"/>
            </a:endParaRPr>
          </a:p>
          <a:p>
            <a:pPr marL="0" indent="0">
              <a:buFontTx/>
              <a:buNone/>
            </a:pPr>
            <a:r>
              <a:rPr lang="en-US" altLang="zh-TW" sz="2800" b="1" dirty="0">
                <a:solidFill>
                  <a:schemeClr val="hlink"/>
                </a:solidFill>
                <a:latin typeface="Calibri"/>
                <a:cs typeface="Calibri"/>
              </a:rPr>
              <a:t>Quantitative, or Numerical, Variable</a:t>
            </a:r>
            <a:r>
              <a:rPr lang="en-US" altLang="zh-TW" sz="2800" dirty="0">
                <a:latin typeface="Calibri"/>
                <a:cs typeface="Calibri"/>
              </a:rPr>
              <a:t>: A variable that quantifies an element of a population.</a:t>
            </a:r>
          </a:p>
          <a:p>
            <a:pPr marL="0" indent="0">
              <a:buFontTx/>
              <a:buNone/>
            </a:pPr>
            <a:r>
              <a:rPr lang="en-US" altLang="zh-TW" sz="2400" i="1" dirty="0">
                <a:solidFill>
                  <a:schemeClr val="tx2"/>
                </a:solidFill>
                <a:latin typeface="Calibri"/>
                <a:cs typeface="Calibri"/>
              </a:rPr>
              <a:t>Note</a:t>
            </a:r>
            <a:r>
              <a:rPr lang="en-US" altLang="zh-TW" sz="2400" dirty="0">
                <a:latin typeface="Calibri"/>
                <a:cs typeface="Calibri"/>
              </a:rPr>
              <a:t>: Arithmetic operations such as addition and averaging, are meaningful for data resulting from a quantitative variable.</a:t>
            </a:r>
          </a:p>
        </p:txBody>
      </p:sp>
    </p:spTree>
    <p:extLst>
      <p:ext uri="{BB962C8B-B14F-4D97-AF65-F5344CB8AC3E}">
        <p14:creationId xmlns:p14="http://schemas.microsoft.com/office/powerpoint/2010/main" val="25914372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304800"/>
            <a:ext cx="7772400" cy="5791200"/>
          </a:xfrm>
          <a:noFill/>
          <a:ln/>
        </p:spPr>
        <p:txBody>
          <a:bodyPr>
            <a:normAutofit fontScale="92500"/>
          </a:bodyPr>
          <a:lstStyle/>
          <a:p>
            <a:pPr marL="287338" indent="-287338">
              <a:buFontTx/>
              <a:buNone/>
            </a:pPr>
            <a:r>
              <a:rPr lang="en-US" altLang="zh-TW" sz="2400" i="1" dirty="0">
                <a:solidFill>
                  <a:srgbClr val="0000CC"/>
                </a:solidFill>
              </a:rPr>
              <a:t>Example</a:t>
            </a:r>
            <a:r>
              <a:rPr lang="en-US" altLang="zh-TW" sz="2400" dirty="0"/>
              <a:t>: Identify each of the following examples as </a:t>
            </a:r>
            <a:r>
              <a:rPr lang="en-US" altLang="zh-TW" sz="2400" dirty="0" smtClean="0"/>
              <a:t>categorical (</a:t>
            </a:r>
            <a:r>
              <a:rPr lang="en-US" altLang="zh-TW" sz="2400" dirty="0"/>
              <a:t>qualitative) or numerical (quantitative) variables.</a:t>
            </a:r>
          </a:p>
          <a:p>
            <a:pPr marL="287338" indent="-287338">
              <a:buFontTx/>
              <a:buNone/>
            </a:pPr>
            <a:endParaRPr lang="en-US" altLang="zh-TW" sz="2400" dirty="0"/>
          </a:p>
          <a:p>
            <a:pPr marL="287338" indent="-287338">
              <a:buFontTx/>
              <a:buNone/>
            </a:pPr>
            <a:r>
              <a:rPr lang="en-US" altLang="zh-TW" sz="2400" dirty="0"/>
              <a:t>1. The residence hall for each student in a statistics class. </a:t>
            </a:r>
            <a:r>
              <a:rPr lang="en-US" altLang="zh-TW" sz="2400" dirty="0" smtClean="0"/>
              <a:t>(Categorical)</a:t>
            </a:r>
            <a:endParaRPr lang="en-US" altLang="zh-TW" sz="2400" dirty="0"/>
          </a:p>
          <a:p>
            <a:pPr marL="287338" indent="-287338">
              <a:buFontTx/>
              <a:buNone/>
            </a:pPr>
            <a:r>
              <a:rPr lang="en-US" altLang="zh-TW" sz="2400" dirty="0"/>
              <a:t>2. The amount of gasoline pumped by the next 10 customers at the local </a:t>
            </a:r>
            <a:r>
              <a:rPr lang="en-US" altLang="zh-TW" sz="2400" dirty="0" smtClean="0"/>
              <a:t>gas station.  </a:t>
            </a:r>
            <a:r>
              <a:rPr lang="en-US" altLang="zh-TW" sz="2400" dirty="0"/>
              <a:t>(Numerical)</a:t>
            </a:r>
          </a:p>
          <a:p>
            <a:pPr marL="287338" indent="-287338">
              <a:buFontTx/>
              <a:buNone/>
            </a:pPr>
            <a:r>
              <a:rPr lang="en-US" altLang="zh-TW" sz="2400" dirty="0"/>
              <a:t>3. The amount of radon in the basement of each of 25 homes in a new development.  (Numerical)</a:t>
            </a:r>
          </a:p>
          <a:p>
            <a:pPr marL="287338" indent="-287338">
              <a:buFontTx/>
              <a:buNone/>
            </a:pPr>
            <a:r>
              <a:rPr lang="en-US" altLang="zh-TW" sz="2400" dirty="0"/>
              <a:t>4. The color of the baseball cap worn by each of 20 students.  </a:t>
            </a:r>
            <a:r>
              <a:rPr lang="en-US" altLang="zh-TW" sz="2400" dirty="0" smtClean="0"/>
              <a:t>(Categorical)</a:t>
            </a:r>
            <a:endParaRPr lang="en-US" altLang="zh-TW" sz="2400" dirty="0"/>
          </a:p>
          <a:p>
            <a:pPr marL="287338" indent="-287338">
              <a:buFontTx/>
              <a:buNone/>
            </a:pPr>
            <a:r>
              <a:rPr lang="en-US" altLang="zh-TW" sz="2400" dirty="0"/>
              <a:t>5. The length of time to complete a mathematics homework assignment.  (Numerical)</a:t>
            </a:r>
          </a:p>
          <a:p>
            <a:pPr marL="287338" indent="-287338">
              <a:buFontTx/>
              <a:buNone/>
            </a:pPr>
            <a:r>
              <a:rPr lang="en-US" altLang="zh-TW" sz="2400" dirty="0"/>
              <a:t>6. The state in which each truck is registered when stopped and inspected at a weigh station.  </a:t>
            </a:r>
            <a:r>
              <a:rPr lang="en-US" altLang="zh-TW" sz="2400" dirty="0" smtClean="0"/>
              <a:t>(Categorical)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1051962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57200"/>
            <a:ext cx="7772400" cy="5943600"/>
          </a:xfrm>
          <a:noFill/>
          <a:ln/>
        </p:spPr>
        <p:txBody>
          <a:bodyPr/>
          <a:lstStyle/>
          <a:p>
            <a:pPr marL="0" indent="0" defTabSz="919163">
              <a:buFontTx/>
              <a:buNone/>
            </a:pPr>
            <a:r>
              <a:rPr lang="en-US" altLang="zh-TW" sz="2400"/>
              <a:t>Qualitative and quantitative variables may be further subdivided:</a:t>
            </a:r>
          </a:p>
          <a:p>
            <a:pPr marL="0" indent="0" defTabSz="919163">
              <a:buFontTx/>
              <a:buNone/>
            </a:pPr>
            <a:endParaRPr lang="en-US" altLang="zh-TW" sz="2400"/>
          </a:p>
          <a:p>
            <a:pPr marL="0" indent="0" defTabSz="919163">
              <a:buFontTx/>
              <a:buNone/>
            </a:pPr>
            <a:r>
              <a:rPr lang="en-US" altLang="zh-TW" sz="2400"/>
              <a:t>					Nominal</a:t>
            </a:r>
          </a:p>
          <a:p>
            <a:pPr marL="0" indent="0" defTabSz="919163">
              <a:buFontTx/>
              <a:buNone/>
            </a:pPr>
            <a:r>
              <a:rPr lang="en-US" altLang="zh-TW" sz="2400"/>
              <a:t>		Qualitative		</a:t>
            </a:r>
          </a:p>
          <a:p>
            <a:pPr marL="0" indent="0" defTabSz="919163">
              <a:buFontTx/>
              <a:buNone/>
            </a:pPr>
            <a:r>
              <a:rPr lang="en-US" altLang="zh-TW" sz="2400"/>
              <a:t>					Ordinal</a:t>
            </a:r>
          </a:p>
          <a:p>
            <a:pPr marL="0" indent="0" defTabSz="919163">
              <a:buFontTx/>
              <a:buNone/>
            </a:pPr>
            <a:r>
              <a:rPr lang="en-US" altLang="zh-TW" sz="2400"/>
              <a:t>Variable</a:t>
            </a:r>
          </a:p>
          <a:p>
            <a:pPr marL="0" indent="0" defTabSz="919163">
              <a:buFontTx/>
              <a:buNone/>
            </a:pPr>
            <a:r>
              <a:rPr lang="en-US" altLang="zh-TW" sz="2400"/>
              <a:t>					Discrete</a:t>
            </a:r>
          </a:p>
          <a:p>
            <a:pPr marL="0" indent="0" defTabSz="919163">
              <a:buFontTx/>
              <a:buNone/>
            </a:pPr>
            <a:r>
              <a:rPr lang="en-US" altLang="zh-TW" sz="2400"/>
              <a:t>		Quantitative</a:t>
            </a:r>
          </a:p>
          <a:p>
            <a:pPr marL="0" indent="0" defTabSz="919163">
              <a:buFontTx/>
              <a:buNone/>
            </a:pPr>
            <a:r>
              <a:rPr lang="en-US" altLang="zh-TW" sz="2400"/>
              <a:t>					Continuous</a:t>
            </a:r>
          </a:p>
          <a:p>
            <a:pPr marL="0" indent="0" defTabSz="919163">
              <a:buFontTx/>
              <a:buNone/>
            </a:pPr>
            <a:endParaRPr lang="zh-TW" altLang="en-US" sz="2400"/>
          </a:p>
        </p:txBody>
      </p:sp>
      <p:sp>
        <p:nvSpPr>
          <p:cNvPr id="12291" name="Line 3"/>
          <p:cNvSpPr>
            <a:spLocks noChangeShapeType="1"/>
          </p:cNvSpPr>
          <p:nvPr/>
        </p:nvSpPr>
        <p:spPr bwMode="auto">
          <a:xfrm flipV="1">
            <a:off x="1905000" y="2362200"/>
            <a:ext cx="609600" cy="9144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>
            <a:off x="1905000" y="3276600"/>
            <a:ext cx="609600" cy="8382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 flipV="1">
            <a:off x="4038600" y="1905000"/>
            <a:ext cx="1219200" cy="4572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>
            <a:off x="4038600" y="2362200"/>
            <a:ext cx="1219200" cy="3810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V="1">
            <a:off x="4191000" y="3657600"/>
            <a:ext cx="1066800" cy="4572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296" name="Line 8"/>
          <p:cNvSpPr>
            <a:spLocks noChangeShapeType="1"/>
          </p:cNvSpPr>
          <p:nvPr/>
        </p:nvSpPr>
        <p:spPr bwMode="auto">
          <a:xfrm>
            <a:off x="4191000" y="4114800"/>
            <a:ext cx="1066800" cy="3810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923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800" dirty="0" smtClean="0"/>
              <a:t>Measures </a:t>
            </a:r>
            <a:r>
              <a:rPr lang="en-US" altLang="zh-TW" sz="3800" dirty="0"/>
              <a:t>of Central Tendency</a:t>
            </a:r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10600" cy="1219200"/>
          </a:xfrm>
        </p:spPr>
        <p:txBody>
          <a:bodyPr/>
          <a:lstStyle/>
          <a:p>
            <a:r>
              <a:rPr lang="en-US" altLang="zh-TW">
                <a:latin typeface="Calibri"/>
                <a:cs typeface="Calibri"/>
              </a:rPr>
              <a:t>Numerical values used to locate the middle of a set of data, or where the data is clustered</a:t>
            </a:r>
          </a:p>
        </p:txBody>
      </p:sp>
      <p:sp>
        <p:nvSpPr>
          <p:cNvPr id="72710" name="Rectangle 6"/>
          <p:cNvSpPr>
            <a:spLocks noChangeArrowheads="1"/>
          </p:cNvSpPr>
          <p:nvPr/>
        </p:nvSpPr>
        <p:spPr bwMode="auto">
          <a:xfrm>
            <a:off x="228600" y="3124200"/>
            <a:ext cx="86106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82575" indent="-282575">
              <a:spcBef>
                <a:spcPct val="20000"/>
              </a:spcBef>
              <a:buFontTx/>
              <a:buChar char="•"/>
            </a:pPr>
            <a:r>
              <a:rPr lang="en-US" altLang="zh-TW" sz="3200" b="0">
                <a:latin typeface="Calibri"/>
                <a:cs typeface="Calibri"/>
              </a:rPr>
              <a:t>The term </a:t>
            </a:r>
            <a:r>
              <a:rPr lang="en-US" altLang="zh-TW" sz="3200" b="0" i="1">
                <a:solidFill>
                  <a:srgbClr val="CC0000"/>
                </a:solidFill>
                <a:latin typeface="Calibri"/>
                <a:cs typeface="Calibri"/>
              </a:rPr>
              <a:t>average</a:t>
            </a:r>
            <a:r>
              <a:rPr lang="en-US" altLang="zh-TW" sz="3200" b="0">
                <a:latin typeface="Calibri"/>
                <a:cs typeface="Calibri"/>
              </a:rPr>
              <a:t> is often associated with all measures of central tendency</a:t>
            </a:r>
          </a:p>
        </p:txBody>
      </p:sp>
    </p:spTree>
    <p:extLst>
      <p:ext uri="{BB962C8B-B14F-4D97-AF65-F5344CB8AC3E}">
        <p14:creationId xmlns:p14="http://schemas.microsoft.com/office/powerpoint/2010/main" val="27905042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9" grpId="0" build="p" autoUpdateAnimBg="0" advAuto="0"/>
      <p:bldP spid="7271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62" name="Rectangle 34"/>
          <p:cNvSpPr>
            <a:spLocks noChangeArrowheads="1"/>
          </p:cNvSpPr>
          <p:nvPr/>
        </p:nvSpPr>
        <p:spPr bwMode="auto">
          <a:xfrm>
            <a:off x="5505450" y="2279650"/>
            <a:ext cx="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zh-TW" altLang="en-US"/>
          </a:p>
        </p:txBody>
      </p:sp>
      <p:sp>
        <p:nvSpPr>
          <p:cNvPr id="737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Mean</a:t>
            </a:r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228600" y="1066800"/>
            <a:ext cx="8872538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5000"/>
              </a:lnSpc>
              <a:spcBef>
                <a:spcPct val="40000"/>
              </a:spcBef>
            </a:pPr>
            <a:r>
              <a:rPr lang="en-US" altLang="zh-TW" sz="2400" u="sng" dirty="0">
                <a:solidFill>
                  <a:srgbClr val="666699"/>
                </a:solidFill>
                <a:latin typeface="Calibri"/>
                <a:cs typeface="Calibri"/>
              </a:rPr>
              <a:t>Mean</a:t>
            </a:r>
            <a:r>
              <a:rPr lang="en-US" altLang="zh-TW" sz="2400" dirty="0">
                <a:solidFill>
                  <a:srgbClr val="666699"/>
                </a:solidFill>
                <a:latin typeface="Calibri"/>
                <a:cs typeface="Calibri"/>
              </a:rPr>
              <a:t>:  </a:t>
            </a:r>
            <a:r>
              <a:rPr lang="en-US" altLang="zh-TW" sz="2400" b="0" dirty="0">
                <a:latin typeface="Calibri"/>
                <a:cs typeface="Calibri"/>
              </a:rPr>
              <a:t>The type of average with which you are probably most familiar.  The mean is the sum of all the values divided by the total number of values, </a:t>
            </a:r>
            <a:r>
              <a:rPr lang="en-US" altLang="zh-TW" sz="2400" b="0" i="1" dirty="0">
                <a:latin typeface="Calibri"/>
                <a:cs typeface="Calibri"/>
              </a:rPr>
              <a:t>n</a:t>
            </a:r>
            <a:r>
              <a:rPr lang="en-US" altLang="zh-TW" sz="2400" b="0" dirty="0">
                <a:latin typeface="Calibri"/>
                <a:cs typeface="Calibri"/>
              </a:rPr>
              <a:t>:</a:t>
            </a:r>
          </a:p>
        </p:txBody>
      </p:sp>
      <p:grpSp>
        <p:nvGrpSpPr>
          <p:cNvPr id="73772" name="Group 44"/>
          <p:cNvGrpSpPr>
            <a:grpSpLocks/>
          </p:cNvGrpSpPr>
          <p:nvPr/>
        </p:nvGrpSpPr>
        <p:grpSpPr bwMode="auto">
          <a:xfrm>
            <a:off x="228600" y="3521075"/>
            <a:ext cx="8523288" cy="2968625"/>
            <a:chOff x="144" y="2218"/>
            <a:chExt cx="5369" cy="1870"/>
          </a:xfrm>
        </p:grpSpPr>
        <p:sp>
          <p:nvSpPr>
            <p:cNvPr id="73764" name="Rectangle 36"/>
            <p:cNvSpPr>
              <a:spLocks noChangeArrowheads="1"/>
            </p:cNvSpPr>
            <p:nvPr/>
          </p:nvSpPr>
          <p:spPr bwMode="auto">
            <a:xfrm>
              <a:off x="144" y="2218"/>
              <a:ext cx="5040" cy="7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marL="282575" indent="-282575">
                <a:spcBef>
                  <a:spcPct val="25000"/>
                </a:spcBef>
                <a:buSzPct val="50000"/>
                <a:buFont typeface="Wingdings" charset="0"/>
                <a:buChar char="n"/>
              </a:pPr>
              <a:endParaRPr lang="en-US" altLang="zh-TW" sz="2200" b="0" dirty="0">
                <a:latin typeface="Calibri"/>
                <a:cs typeface="Calibri"/>
              </a:endParaRPr>
            </a:p>
            <a:p>
              <a:pPr marL="282575" indent="-282575">
                <a:spcBef>
                  <a:spcPct val="25000"/>
                </a:spcBef>
                <a:buSzPct val="50000"/>
                <a:buFont typeface="Wingdings" charset="0"/>
                <a:buChar char="n"/>
              </a:pPr>
              <a:r>
                <a:rPr lang="en-US" altLang="zh-TW" sz="2200" b="0" dirty="0">
                  <a:latin typeface="Calibri"/>
                  <a:cs typeface="Calibri"/>
                </a:rPr>
                <a:t>The population mean, </a:t>
              </a:r>
              <a:r>
                <a:rPr lang="en-US" altLang="zh-TW" sz="2600" b="0" dirty="0">
                  <a:latin typeface="Calibri"/>
                  <a:cs typeface="Calibri"/>
                  <a:sym typeface="Symbol" charset="0"/>
                </a:rPr>
                <a:t></a:t>
              </a:r>
              <a:r>
                <a:rPr lang="en-US" altLang="zh-TW" sz="2200" b="0" dirty="0">
                  <a:latin typeface="Calibri"/>
                  <a:cs typeface="Calibri"/>
                </a:rPr>
                <a:t>, (lowercase </a:t>
              </a:r>
              <a:r>
                <a:rPr lang="en-US" altLang="zh-TW" sz="2200" b="0" i="1" dirty="0">
                  <a:latin typeface="Calibri"/>
                  <a:cs typeface="Calibri"/>
                </a:rPr>
                <a:t>mu</a:t>
              </a:r>
              <a:r>
                <a:rPr lang="en-US" altLang="zh-TW" sz="2200" b="0" dirty="0">
                  <a:latin typeface="Calibri"/>
                  <a:cs typeface="Calibri"/>
                </a:rPr>
                <a:t>, Greek alphabet), is the mean of all </a:t>
              </a:r>
              <a:r>
                <a:rPr lang="en-US" altLang="zh-TW" sz="2200" b="0" i="1" dirty="0">
                  <a:latin typeface="Calibri"/>
                  <a:cs typeface="Calibri"/>
                </a:rPr>
                <a:t>x</a:t>
              </a:r>
              <a:r>
                <a:rPr lang="en-US" altLang="zh-TW" sz="2200" b="0" dirty="0">
                  <a:latin typeface="Calibri"/>
                  <a:cs typeface="Calibri"/>
                </a:rPr>
                <a:t> values for the entire population</a:t>
              </a:r>
            </a:p>
          </p:txBody>
        </p:sp>
        <p:sp>
          <p:nvSpPr>
            <p:cNvPr id="73765" name="Rectangle 37"/>
            <p:cNvSpPr>
              <a:spLocks noChangeArrowheads="1"/>
            </p:cNvSpPr>
            <p:nvPr/>
          </p:nvSpPr>
          <p:spPr bwMode="auto">
            <a:xfrm>
              <a:off x="144" y="2256"/>
              <a:ext cx="50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marL="277813" indent="-277813">
                <a:spcBef>
                  <a:spcPct val="50000"/>
                </a:spcBef>
              </a:pPr>
              <a:r>
                <a:rPr lang="en-US" altLang="zh-TW" b="0" i="1">
                  <a:solidFill>
                    <a:srgbClr val="CC0000"/>
                  </a:solidFill>
                  <a:latin typeface="Calibri"/>
                  <a:cs typeface="Calibri"/>
                </a:rPr>
                <a:t>Notes</a:t>
              </a:r>
              <a:r>
                <a:rPr lang="en-US" altLang="zh-TW" b="0">
                  <a:solidFill>
                    <a:srgbClr val="CC0000"/>
                  </a:solidFill>
                  <a:latin typeface="Calibri"/>
                  <a:cs typeface="Calibri"/>
                </a:rPr>
                <a:t>:</a:t>
              </a:r>
              <a:endParaRPr lang="en-US" altLang="zh-TW" b="0">
                <a:latin typeface="Calibri"/>
                <a:cs typeface="Calibri"/>
              </a:endParaRPr>
            </a:p>
          </p:txBody>
        </p:sp>
        <p:sp>
          <p:nvSpPr>
            <p:cNvPr id="73766" name="Rectangle 38"/>
            <p:cNvSpPr>
              <a:spLocks noChangeArrowheads="1"/>
            </p:cNvSpPr>
            <p:nvPr/>
          </p:nvSpPr>
          <p:spPr bwMode="auto">
            <a:xfrm>
              <a:off x="144" y="2875"/>
              <a:ext cx="5369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marL="282575" indent="-282575">
                <a:spcBef>
                  <a:spcPct val="25000"/>
                </a:spcBef>
                <a:buSzPct val="50000"/>
                <a:buFont typeface="Wingdings" charset="0"/>
                <a:buChar char="n"/>
              </a:pPr>
              <a:endParaRPr lang="en-US" altLang="zh-TW" sz="2200" b="0">
                <a:latin typeface="Calibri"/>
                <a:cs typeface="Calibri"/>
              </a:endParaRPr>
            </a:p>
            <a:p>
              <a:pPr marL="282575" indent="-282575">
                <a:spcBef>
                  <a:spcPct val="25000"/>
                </a:spcBef>
                <a:buSzPct val="50000"/>
                <a:buFont typeface="Wingdings" charset="0"/>
                <a:buChar char="n"/>
              </a:pPr>
              <a:r>
                <a:rPr lang="en-US" altLang="zh-TW" sz="2200" b="0">
                  <a:latin typeface="Calibri"/>
                  <a:cs typeface="Calibri"/>
                </a:rPr>
                <a:t>We usually cannot measure </a:t>
              </a:r>
              <a:r>
                <a:rPr lang="en-US" altLang="zh-TW" sz="2600" b="0">
                  <a:latin typeface="Calibri"/>
                  <a:cs typeface="Calibri"/>
                  <a:sym typeface="Symbol" charset="0"/>
                </a:rPr>
                <a:t></a:t>
              </a:r>
              <a:r>
                <a:rPr lang="en-US" altLang="zh-TW" sz="2200" b="0">
                  <a:latin typeface="Calibri"/>
                  <a:cs typeface="Calibri"/>
                </a:rPr>
                <a:t> but would like to estimate its value</a:t>
              </a:r>
            </a:p>
          </p:txBody>
        </p:sp>
        <p:sp>
          <p:nvSpPr>
            <p:cNvPr id="73767" name="Rectangle 39"/>
            <p:cNvSpPr>
              <a:spLocks noChangeArrowheads="1"/>
            </p:cNvSpPr>
            <p:nvPr/>
          </p:nvSpPr>
          <p:spPr bwMode="auto">
            <a:xfrm>
              <a:off x="144" y="3336"/>
              <a:ext cx="5040" cy="7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marL="282575" indent="-282575">
                <a:spcBef>
                  <a:spcPct val="25000"/>
                </a:spcBef>
                <a:buSzPct val="50000"/>
                <a:buFont typeface="Wingdings" charset="0"/>
                <a:buChar char="n"/>
              </a:pPr>
              <a:endParaRPr lang="en-US" altLang="zh-TW" sz="2200" b="0">
                <a:latin typeface="Calibri"/>
                <a:cs typeface="Calibri"/>
              </a:endParaRPr>
            </a:p>
            <a:p>
              <a:pPr marL="282575" indent="-282575">
                <a:spcBef>
                  <a:spcPct val="25000"/>
                </a:spcBef>
                <a:buSzPct val="50000"/>
                <a:buFont typeface="Wingdings" charset="0"/>
                <a:buChar char="n"/>
              </a:pPr>
              <a:r>
                <a:rPr lang="en-US" altLang="zh-TW" sz="2200" b="0">
                  <a:latin typeface="Calibri"/>
                  <a:cs typeface="Calibri"/>
                </a:rPr>
                <a:t>A physical representation: the mean is the value that balances the weights on the number line</a:t>
              </a:r>
            </a:p>
          </p:txBody>
        </p:sp>
      </p:grpSp>
      <p:grpSp>
        <p:nvGrpSpPr>
          <p:cNvPr id="73774" name="Group 46"/>
          <p:cNvGrpSpPr>
            <a:grpSpLocks/>
          </p:cNvGrpSpPr>
          <p:nvPr/>
        </p:nvGrpSpPr>
        <p:grpSpPr bwMode="auto">
          <a:xfrm>
            <a:off x="2267630" y="2322513"/>
            <a:ext cx="4954587" cy="958850"/>
            <a:chOff x="1343" y="1296"/>
            <a:chExt cx="3121" cy="604"/>
          </a:xfrm>
        </p:grpSpPr>
        <p:sp>
          <p:nvSpPr>
            <p:cNvPr id="73735" name="Line 7"/>
            <p:cNvSpPr>
              <a:spLocks noChangeShapeType="1"/>
            </p:cNvSpPr>
            <p:nvPr/>
          </p:nvSpPr>
          <p:spPr bwMode="auto">
            <a:xfrm>
              <a:off x="1349" y="1534"/>
              <a:ext cx="11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3736" name="Line 8"/>
            <p:cNvSpPr>
              <a:spLocks noChangeShapeType="1"/>
            </p:cNvSpPr>
            <p:nvPr/>
          </p:nvSpPr>
          <p:spPr bwMode="auto">
            <a:xfrm>
              <a:off x="1702" y="1590"/>
              <a:ext cx="14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3737" name="Line 9"/>
            <p:cNvSpPr>
              <a:spLocks noChangeShapeType="1"/>
            </p:cNvSpPr>
            <p:nvPr/>
          </p:nvSpPr>
          <p:spPr bwMode="auto">
            <a:xfrm>
              <a:off x="2599" y="1590"/>
              <a:ext cx="14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3738" name="Rectangle 10"/>
            <p:cNvSpPr>
              <a:spLocks noChangeArrowheads="1"/>
            </p:cNvSpPr>
            <p:nvPr/>
          </p:nvSpPr>
          <p:spPr bwMode="auto">
            <a:xfrm>
              <a:off x="1343" y="1463"/>
              <a:ext cx="103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2900" b="0" i="1">
                  <a:solidFill>
                    <a:srgbClr val="000000"/>
                  </a:solidFill>
                  <a:latin typeface="Times New Roman" charset="0"/>
                </a:rPr>
                <a:t>x</a:t>
              </a:r>
              <a:endParaRPr lang="en-US" altLang="zh-TW"/>
            </a:p>
          </p:txBody>
        </p:sp>
        <p:sp>
          <p:nvSpPr>
            <p:cNvPr id="73739" name="Rectangle 11"/>
            <p:cNvSpPr>
              <a:spLocks noChangeArrowheads="1"/>
            </p:cNvSpPr>
            <p:nvPr/>
          </p:nvSpPr>
          <p:spPr bwMode="auto">
            <a:xfrm>
              <a:off x="1714" y="1622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2900" b="0" i="1">
                  <a:solidFill>
                    <a:srgbClr val="000000"/>
                  </a:solidFill>
                  <a:latin typeface="Times New Roman" charset="0"/>
                </a:rPr>
                <a:t>n</a:t>
              </a:r>
              <a:endParaRPr lang="en-US" altLang="zh-TW"/>
            </a:p>
          </p:txBody>
        </p:sp>
        <p:sp>
          <p:nvSpPr>
            <p:cNvPr id="73740" name="Rectangle 12"/>
            <p:cNvSpPr>
              <a:spLocks noChangeArrowheads="1"/>
            </p:cNvSpPr>
            <p:nvPr/>
          </p:nvSpPr>
          <p:spPr bwMode="auto">
            <a:xfrm>
              <a:off x="2180" y="1463"/>
              <a:ext cx="103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2900" b="0" i="1">
                  <a:solidFill>
                    <a:srgbClr val="000000"/>
                  </a:solidFill>
                  <a:latin typeface="Times New Roman" charset="0"/>
                </a:rPr>
                <a:t>x</a:t>
              </a:r>
              <a:endParaRPr lang="en-US" altLang="zh-TW"/>
            </a:p>
          </p:txBody>
        </p:sp>
        <p:sp>
          <p:nvSpPr>
            <p:cNvPr id="73741" name="Rectangle 13"/>
            <p:cNvSpPr>
              <a:spLocks noChangeArrowheads="1"/>
            </p:cNvSpPr>
            <p:nvPr/>
          </p:nvSpPr>
          <p:spPr bwMode="auto">
            <a:xfrm>
              <a:off x="2611" y="1622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2900" b="0" i="1">
                  <a:solidFill>
                    <a:srgbClr val="000000"/>
                  </a:solidFill>
                  <a:latin typeface="Times New Roman" charset="0"/>
                </a:rPr>
                <a:t>n</a:t>
              </a:r>
              <a:endParaRPr lang="en-US" altLang="zh-TW"/>
            </a:p>
          </p:txBody>
        </p:sp>
        <p:sp>
          <p:nvSpPr>
            <p:cNvPr id="73742" name="Rectangle 14"/>
            <p:cNvSpPr>
              <a:spLocks noChangeArrowheads="1"/>
            </p:cNvSpPr>
            <p:nvPr/>
          </p:nvSpPr>
          <p:spPr bwMode="auto">
            <a:xfrm>
              <a:off x="2877" y="1463"/>
              <a:ext cx="103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2900" b="0" i="1">
                  <a:solidFill>
                    <a:srgbClr val="000000"/>
                  </a:solidFill>
                  <a:latin typeface="Times New Roman" charset="0"/>
                </a:rPr>
                <a:t>x</a:t>
              </a:r>
              <a:endParaRPr lang="en-US" altLang="zh-TW"/>
            </a:p>
          </p:txBody>
        </p:sp>
        <p:sp>
          <p:nvSpPr>
            <p:cNvPr id="73743" name="Rectangle 15"/>
            <p:cNvSpPr>
              <a:spLocks noChangeArrowheads="1"/>
            </p:cNvSpPr>
            <p:nvPr/>
          </p:nvSpPr>
          <p:spPr bwMode="auto">
            <a:xfrm>
              <a:off x="3283" y="1463"/>
              <a:ext cx="103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2900" b="0" i="1">
                  <a:solidFill>
                    <a:srgbClr val="000000"/>
                  </a:solidFill>
                  <a:latin typeface="Times New Roman" charset="0"/>
                </a:rPr>
                <a:t>x</a:t>
              </a:r>
              <a:endParaRPr lang="en-US" altLang="zh-TW"/>
            </a:p>
          </p:txBody>
        </p:sp>
        <p:sp>
          <p:nvSpPr>
            <p:cNvPr id="73744" name="Rectangle 16"/>
            <p:cNvSpPr>
              <a:spLocks noChangeArrowheads="1"/>
            </p:cNvSpPr>
            <p:nvPr/>
          </p:nvSpPr>
          <p:spPr bwMode="auto">
            <a:xfrm>
              <a:off x="4184" y="1463"/>
              <a:ext cx="103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2900" b="0" i="1">
                  <a:solidFill>
                    <a:srgbClr val="000000"/>
                  </a:solidFill>
                  <a:latin typeface="Times New Roman" charset="0"/>
                </a:rPr>
                <a:t>x</a:t>
              </a:r>
              <a:endParaRPr lang="en-US" altLang="zh-TW"/>
            </a:p>
          </p:txBody>
        </p:sp>
        <p:sp>
          <p:nvSpPr>
            <p:cNvPr id="73745" name="Rectangle 17"/>
            <p:cNvSpPr>
              <a:spLocks noChangeArrowheads="1"/>
            </p:cNvSpPr>
            <p:nvPr/>
          </p:nvSpPr>
          <p:spPr bwMode="auto">
            <a:xfrm>
              <a:off x="2282" y="1606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700" b="0" i="1" dirty="0" err="1">
                  <a:solidFill>
                    <a:srgbClr val="000000"/>
                  </a:solidFill>
                  <a:latin typeface="Times New Roman" charset="0"/>
                </a:rPr>
                <a:t>i</a:t>
              </a:r>
              <a:endParaRPr lang="en-US" altLang="zh-TW" dirty="0"/>
            </a:p>
          </p:txBody>
        </p:sp>
        <p:sp>
          <p:nvSpPr>
            <p:cNvPr id="73748" name="Rectangle 20"/>
            <p:cNvSpPr>
              <a:spLocks noChangeArrowheads="1"/>
            </p:cNvSpPr>
            <p:nvPr/>
          </p:nvSpPr>
          <p:spPr bwMode="auto">
            <a:xfrm>
              <a:off x="4290" y="1606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700" b="0" i="1">
                  <a:solidFill>
                    <a:srgbClr val="000000"/>
                  </a:solidFill>
                  <a:latin typeface="Times New Roman" charset="0"/>
                </a:rPr>
                <a:t>n</a:t>
              </a:r>
              <a:endParaRPr lang="en-US" altLang="zh-TW"/>
            </a:p>
          </p:txBody>
        </p:sp>
        <p:sp>
          <p:nvSpPr>
            <p:cNvPr id="73749" name="Rectangle 21"/>
            <p:cNvSpPr>
              <a:spLocks noChangeArrowheads="1"/>
            </p:cNvSpPr>
            <p:nvPr/>
          </p:nvSpPr>
          <p:spPr bwMode="auto">
            <a:xfrm>
              <a:off x="1509" y="1436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2900" b="0">
                  <a:solidFill>
                    <a:srgbClr val="000000"/>
                  </a:solidFill>
                  <a:latin typeface="Symbol" charset="0"/>
                </a:rPr>
                <a:t>=</a:t>
              </a:r>
              <a:endParaRPr lang="en-US" altLang="zh-TW"/>
            </a:p>
          </p:txBody>
        </p:sp>
        <p:sp>
          <p:nvSpPr>
            <p:cNvPr id="73750" name="Rectangle 22"/>
            <p:cNvSpPr>
              <a:spLocks noChangeArrowheads="1"/>
            </p:cNvSpPr>
            <p:nvPr/>
          </p:nvSpPr>
          <p:spPr bwMode="auto">
            <a:xfrm>
              <a:off x="2406" y="1436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2900" b="0">
                  <a:solidFill>
                    <a:srgbClr val="000000"/>
                  </a:solidFill>
                  <a:latin typeface="Symbol" charset="0"/>
                </a:rPr>
                <a:t>=</a:t>
              </a:r>
              <a:endParaRPr lang="en-US" altLang="zh-TW"/>
            </a:p>
          </p:txBody>
        </p:sp>
        <p:sp>
          <p:nvSpPr>
            <p:cNvPr id="73751" name="Rectangle 23"/>
            <p:cNvSpPr>
              <a:spLocks noChangeArrowheads="1"/>
            </p:cNvSpPr>
            <p:nvPr/>
          </p:nvSpPr>
          <p:spPr bwMode="auto">
            <a:xfrm>
              <a:off x="3098" y="1436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2900" b="0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TW"/>
            </a:p>
          </p:txBody>
        </p:sp>
        <p:sp>
          <p:nvSpPr>
            <p:cNvPr id="73752" name="Rectangle 24"/>
            <p:cNvSpPr>
              <a:spLocks noChangeArrowheads="1"/>
            </p:cNvSpPr>
            <p:nvPr/>
          </p:nvSpPr>
          <p:spPr bwMode="auto">
            <a:xfrm>
              <a:off x="3998" y="1436"/>
              <a:ext cx="12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2900" b="0">
                  <a:solidFill>
                    <a:srgbClr val="000000"/>
                  </a:solidFill>
                  <a:latin typeface="Symbol" charset="0"/>
                </a:rPr>
                <a:t>+</a:t>
              </a:r>
              <a:endParaRPr lang="en-US" altLang="zh-TW"/>
            </a:p>
          </p:txBody>
        </p:sp>
        <p:sp>
          <p:nvSpPr>
            <p:cNvPr id="73754" name="Rectangle 26"/>
            <p:cNvSpPr>
              <a:spLocks noChangeArrowheads="1"/>
            </p:cNvSpPr>
            <p:nvPr/>
          </p:nvSpPr>
          <p:spPr bwMode="auto">
            <a:xfrm>
              <a:off x="1883" y="1353"/>
              <a:ext cx="245" cy="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4300" b="0">
                  <a:solidFill>
                    <a:srgbClr val="000000"/>
                  </a:solidFill>
                  <a:latin typeface="Symbol" charset="0"/>
                </a:rPr>
                <a:t>å</a:t>
              </a:r>
              <a:endParaRPr lang="en-US" altLang="zh-TW"/>
            </a:p>
          </p:txBody>
        </p:sp>
        <p:sp>
          <p:nvSpPr>
            <p:cNvPr id="73755" name="Rectangle 27"/>
            <p:cNvSpPr>
              <a:spLocks noChangeArrowheads="1"/>
            </p:cNvSpPr>
            <p:nvPr/>
          </p:nvSpPr>
          <p:spPr bwMode="auto">
            <a:xfrm>
              <a:off x="1718" y="1296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2900" b="0">
                  <a:solidFill>
                    <a:srgbClr val="000000"/>
                  </a:solidFill>
                  <a:latin typeface="Times New Roman" charset="0"/>
                </a:rPr>
                <a:t>1</a:t>
              </a:r>
              <a:endParaRPr lang="en-US" altLang="zh-TW"/>
            </a:p>
          </p:txBody>
        </p:sp>
        <p:sp>
          <p:nvSpPr>
            <p:cNvPr id="73756" name="Rectangle 28"/>
            <p:cNvSpPr>
              <a:spLocks noChangeArrowheads="1"/>
            </p:cNvSpPr>
            <p:nvPr/>
          </p:nvSpPr>
          <p:spPr bwMode="auto">
            <a:xfrm>
              <a:off x="2615" y="1296"/>
              <a:ext cx="116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2900" b="0">
                  <a:solidFill>
                    <a:srgbClr val="000000"/>
                  </a:solidFill>
                  <a:latin typeface="Times New Roman" charset="0"/>
                </a:rPr>
                <a:t>1</a:t>
              </a:r>
              <a:endParaRPr lang="en-US" altLang="zh-TW"/>
            </a:p>
          </p:txBody>
        </p:sp>
        <p:sp>
          <p:nvSpPr>
            <p:cNvPr id="73757" name="Rectangle 29"/>
            <p:cNvSpPr>
              <a:spLocks noChangeArrowheads="1"/>
            </p:cNvSpPr>
            <p:nvPr/>
          </p:nvSpPr>
          <p:spPr bwMode="auto">
            <a:xfrm>
              <a:off x="2975" y="1606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700" b="0">
                  <a:solidFill>
                    <a:srgbClr val="000000"/>
                  </a:solidFill>
                  <a:latin typeface="Times New Roman" charset="0"/>
                </a:rPr>
                <a:t>1</a:t>
              </a:r>
              <a:endParaRPr lang="en-US" altLang="zh-TW"/>
            </a:p>
          </p:txBody>
        </p:sp>
        <p:sp>
          <p:nvSpPr>
            <p:cNvPr id="73758" name="Rectangle 30"/>
            <p:cNvSpPr>
              <a:spLocks noChangeArrowheads="1"/>
            </p:cNvSpPr>
            <p:nvPr/>
          </p:nvSpPr>
          <p:spPr bwMode="auto">
            <a:xfrm>
              <a:off x="3389" y="1606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700" b="0">
                  <a:solidFill>
                    <a:srgbClr val="000000"/>
                  </a:solidFill>
                  <a:latin typeface="Times New Roman" charset="0"/>
                </a:rPr>
                <a:t>2</a:t>
              </a:r>
              <a:endParaRPr lang="en-US" altLang="zh-TW"/>
            </a:p>
          </p:txBody>
        </p:sp>
        <p:sp>
          <p:nvSpPr>
            <p:cNvPr id="73760" name="Rectangle 32"/>
            <p:cNvSpPr>
              <a:spLocks noChangeArrowheads="1"/>
            </p:cNvSpPr>
            <p:nvPr/>
          </p:nvSpPr>
          <p:spPr bwMode="auto">
            <a:xfrm>
              <a:off x="2778" y="1463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2900" b="0">
                  <a:solidFill>
                    <a:srgbClr val="000000"/>
                  </a:solidFill>
                  <a:latin typeface="Times New Roman" charset="0"/>
                </a:rPr>
                <a:t>(</a:t>
              </a:r>
              <a:endParaRPr lang="en-US" altLang="zh-TW"/>
            </a:p>
          </p:txBody>
        </p:sp>
        <p:sp>
          <p:nvSpPr>
            <p:cNvPr id="73761" name="Rectangle 33"/>
            <p:cNvSpPr>
              <a:spLocks noChangeArrowheads="1"/>
            </p:cNvSpPr>
            <p:nvPr/>
          </p:nvSpPr>
          <p:spPr bwMode="auto">
            <a:xfrm>
              <a:off x="4387" y="1463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2900" b="0">
                  <a:solidFill>
                    <a:srgbClr val="000000"/>
                  </a:solidFill>
                  <a:latin typeface="Times New Roman" charset="0"/>
                </a:rPr>
                <a:t>)</a:t>
              </a:r>
              <a:endParaRPr lang="en-US" altLang="zh-TW"/>
            </a:p>
          </p:txBody>
        </p:sp>
        <p:sp>
          <p:nvSpPr>
            <p:cNvPr id="73773" name="Rectangle 45"/>
            <p:cNvSpPr>
              <a:spLocks noChangeArrowheads="1"/>
            </p:cNvSpPr>
            <p:nvPr/>
          </p:nvSpPr>
          <p:spPr bwMode="auto">
            <a:xfrm>
              <a:off x="3468" y="1436"/>
              <a:ext cx="475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2900" b="0">
                  <a:solidFill>
                    <a:srgbClr val="000000"/>
                  </a:solidFill>
                  <a:latin typeface="Symbol" charset="0"/>
                </a:rPr>
                <a:t>+ . . .</a:t>
              </a:r>
              <a:endParaRPr lang="en-US" altLang="zh-TW"/>
            </a:p>
          </p:txBody>
        </p:sp>
      </p:grpSp>
    </p:spTree>
    <p:extLst>
      <p:ext uri="{BB962C8B-B14F-4D97-AF65-F5344CB8AC3E}">
        <p14:creationId xmlns:p14="http://schemas.microsoft.com/office/powerpoint/2010/main" val="29594932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Example</a:t>
            </a:r>
          </a:p>
        </p:txBody>
      </p:sp>
      <p:sp>
        <p:nvSpPr>
          <p:cNvPr id="74759" name="Rectangle 7"/>
          <p:cNvSpPr>
            <a:spLocks noChangeArrowheads="1"/>
          </p:cNvSpPr>
          <p:nvPr/>
        </p:nvSpPr>
        <p:spPr bwMode="auto">
          <a:xfrm>
            <a:off x="228600" y="1143000"/>
            <a:ext cx="8810625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1313" indent="-341313">
              <a:spcBef>
                <a:spcPct val="20000"/>
              </a:spcBef>
              <a:buFont typeface="Wingdings" charset="0"/>
              <a:buChar char="ü"/>
              <a:tabLst>
                <a:tab pos="1716088" algn="l"/>
              </a:tabLst>
            </a:pPr>
            <a:r>
              <a:rPr lang="en-US" altLang="zh-TW" dirty="0" smtClean="0">
                <a:latin typeface="Calibri"/>
                <a:cs typeface="Calibri"/>
              </a:rPr>
              <a:t>Example: </a:t>
            </a:r>
            <a:r>
              <a:rPr lang="en-US" altLang="zh-TW" b="0" dirty="0" smtClean="0">
                <a:latin typeface="Calibri"/>
                <a:cs typeface="Calibri"/>
              </a:rPr>
              <a:t>The </a:t>
            </a:r>
            <a:r>
              <a:rPr lang="en-US" altLang="zh-TW" b="0" dirty="0">
                <a:latin typeface="Calibri"/>
                <a:cs typeface="Calibri"/>
              </a:rPr>
              <a:t>following data represents the number of accidents 	in each of the last  8 years at a dangerous intersection.  </a:t>
            </a:r>
            <a:r>
              <a:rPr lang="en-US" altLang="zh-TW" b="0" dirty="0" smtClean="0">
                <a:latin typeface="Calibri"/>
                <a:cs typeface="Calibri"/>
              </a:rPr>
              <a:t>Find </a:t>
            </a:r>
            <a:r>
              <a:rPr lang="en-US" altLang="zh-TW" b="0" dirty="0">
                <a:latin typeface="Calibri"/>
                <a:cs typeface="Calibri"/>
              </a:rPr>
              <a:t>the mean number of accidents: 8, 9, 3, 5, 2, 6, 4, 5:</a:t>
            </a:r>
          </a:p>
          <a:p>
            <a:pPr marL="341313" indent="-341313">
              <a:spcBef>
                <a:spcPct val="20000"/>
              </a:spcBef>
              <a:buFont typeface="Wingdings" charset="0"/>
              <a:buChar char="ü"/>
              <a:tabLst>
                <a:tab pos="1716088" algn="l"/>
              </a:tabLst>
            </a:pPr>
            <a:endParaRPr lang="zh-TW" altLang="en-US" b="0" dirty="0">
              <a:latin typeface="Calibri"/>
              <a:cs typeface="Calibri"/>
            </a:endParaRPr>
          </a:p>
        </p:txBody>
      </p:sp>
      <p:grpSp>
        <p:nvGrpSpPr>
          <p:cNvPr id="74830" name="Group 78"/>
          <p:cNvGrpSpPr>
            <a:grpSpLocks/>
          </p:cNvGrpSpPr>
          <p:nvPr/>
        </p:nvGrpSpPr>
        <p:grpSpPr bwMode="auto">
          <a:xfrm>
            <a:off x="228600" y="2609850"/>
            <a:ext cx="7278688" cy="904875"/>
            <a:chOff x="144" y="1644"/>
            <a:chExt cx="4585" cy="570"/>
          </a:xfrm>
        </p:grpSpPr>
        <p:grpSp>
          <p:nvGrpSpPr>
            <p:cNvPr id="74827" name="Group 75"/>
            <p:cNvGrpSpPr>
              <a:grpSpLocks/>
            </p:cNvGrpSpPr>
            <p:nvPr/>
          </p:nvGrpSpPr>
          <p:grpSpPr bwMode="auto">
            <a:xfrm>
              <a:off x="1262" y="1644"/>
              <a:ext cx="3467" cy="570"/>
              <a:chOff x="1262" y="1644"/>
              <a:chExt cx="3467" cy="570"/>
            </a:xfrm>
          </p:grpSpPr>
          <p:sp>
            <p:nvSpPr>
              <p:cNvPr id="74773" name="Line 21"/>
              <p:cNvSpPr>
                <a:spLocks noChangeShapeType="1"/>
              </p:cNvSpPr>
              <p:nvPr/>
            </p:nvSpPr>
            <p:spPr bwMode="auto">
              <a:xfrm>
                <a:off x="1262" y="1845"/>
                <a:ext cx="105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>
                  <a:latin typeface="Calibri"/>
                  <a:cs typeface="Calibri"/>
                </a:endParaRPr>
              </a:p>
            </p:txBody>
          </p:sp>
          <p:sp>
            <p:nvSpPr>
              <p:cNvPr id="74774" name="Line 22"/>
              <p:cNvSpPr>
                <a:spLocks noChangeShapeType="1"/>
              </p:cNvSpPr>
              <p:nvPr/>
            </p:nvSpPr>
            <p:spPr bwMode="auto">
              <a:xfrm>
                <a:off x="1609" y="1921"/>
                <a:ext cx="121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>
                  <a:latin typeface="Calibri"/>
                  <a:cs typeface="Calibri"/>
                </a:endParaRPr>
              </a:p>
            </p:txBody>
          </p:sp>
          <p:sp>
            <p:nvSpPr>
              <p:cNvPr id="74775" name="Rectangle 23"/>
              <p:cNvSpPr>
                <a:spLocks noChangeArrowheads="1"/>
              </p:cNvSpPr>
              <p:nvPr/>
            </p:nvSpPr>
            <p:spPr bwMode="auto">
              <a:xfrm>
                <a:off x="1269" y="1802"/>
                <a:ext cx="11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 i="1">
                    <a:solidFill>
                      <a:srgbClr val="000000"/>
                    </a:solidFill>
                    <a:latin typeface="Calibri"/>
                    <a:cs typeface="Calibri"/>
                  </a:rPr>
                  <a:t>x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76" name="Rectangle 24"/>
              <p:cNvSpPr>
                <a:spLocks noChangeArrowheads="1"/>
              </p:cNvSpPr>
              <p:nvPr/>
            </p:nvSpPr>
            <p:spPr bwMode="auto">
              <a:xfrm>
                <a:off x="1427" y="1777"/>
                <a:ext cx="109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=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77" name="Rectangle 25"/>
              <p:cNvSpPr>
                <a:spLocks noChangeArrowheads="1"/>
              </p:cNvSpPr>
              <p:nvPr/>
            </p:nvSpPr>
            <p:spPr bwMode="auto">
              <a:xfrm>
                <a:off x="1982" y="1777"/>
                <a:ext cx="109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+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78" name="Rectangle 26"/>
              <p:cNvSpPr>
                <a:spLocks noChangeArrowheads="1"/>
              </p:cNvSpPr>
              <p:nvPr/>
            </p:nvSpPr>
            <p:spPr bwMode="auto">
              <a:xfrm>
                <a:off x="2294" y="1777"/>
                <a:ext cx="109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+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79" name="Rectangle 27"/>
              <p:cNvSpPr>
                <a:spLocks noChangeArrowheads="1"/>
              </p:cNvSpPr>
              <p:nvPr/>
            </p:nvSpPr>
            <p:spPr bwMode="auto">
              <a:xfrm>
                <a:off x="2593" y="1777"/>
                <a:ext cx="109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+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80" name="Rectangle 28"/>
              <p:cNvSpPr>
                <a:spLocks noChangeArrowheads="1"/>
              </p:cNvSpPr>
              <p:nvPr/>
            </p:nvSpPr>
            <p:spPr bwMode="auto">
              <a:xfrm>
                <a:off x="2885" y="1777"/>
                <a:ext cx="109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+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81" name="Rectangle 29"/>
              <p:cNvSpPr>
                <a:spLocks noChangeArrowheads="1"/>
              </p:cNvSpPr>
              <p:nvPr/>
            </p:nvSpPr>
            <p:spPr bwMode="auto">
              <a:xfrm>
                <a:off x="3197" y="1777"/>
                <a:ext cx="109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+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82" name="Rectangle 30"/>
              <p:cNvSpPr>
                <a:spLocks noChangeArrowheads="1"/>
              </p:cNvSpPr>
              <p:nvPr/>
            </p:nvSpPr>
            <p:spPr bwMode="auto">
              <a:xfrm>
                <a:off x="3503" y="1777"/>
                <a:ext cx="109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+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83" name="Rectangle 31"/>
              <p:cNvSpPr>
                <a:spLocks noChangeArrowheads="1"/>
              </p:cNvSpPr>
              <p:nvPr/>
            </p:nvSpPr>
            <p:spPr bwMode="auto">
              <a:xfrm>
                <a:off x="3816" y="1777"/>
                <a:ext cx="109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+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84" name="Rectangle 32"/>
              <p:cNvSpPr>
                <a:spLocks noChangeArrowheads="1"/>
              </p:cNvSpPr>
              <p:nvPr/>
            </p:nvSpPr>
            <p:spPr bwMode="auto">
              <a:xfrm>
                <a:off x="4201" y="1777"/>
                <a:ext cx="109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=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85" name="Rectangle 33"/>
              <p:cNvSpPr>
                <a:spLocks noChangeArrowheads="1"/>
              </p:cNvSpPr>
              <p:nvPr/>
            </p:nvSpPr>
            <p:spPr bwMode="auto">
              <a:xfrm>
                <a:off x="1617" y="1644"/>
                <a:ext cx="111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1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86" name="Rectangle 34"/>
              <p:cNvSpPr>
                <a:spLocks noChangeArrowheads="1"/>
              </p:cNvSpPr>
              <p:nvPr/>
            </p:nvSpPr>
            <p:spPr bwMode="auto">
              <a:xfrm>
                <a:off x="1614" y="1952"/>
                <a:ext cx="111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8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87" name="Rectangle 35"/>
              <p:cNvSpPr>
                <a:spLocks noChangeArrowheads="1"/>
              </p:cNvSpPr>
              <p:nvPr/>
            </p:nvSpPr>
            <p:spPr bwMode="auto">
              <a:xfrm>
                <a:off x="1837" y="1802"/>
                <a:ext cx="111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8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88" name="Rectangle 36"/>
              <p:cNvSpPr>
                <a:spLocks noChangeArrowheads="1"/>
              </p:cNvSpPr>
              <p:nvPr/>
            </p:nvSpPr>
            <p:spPr bwMode="auto">
              <a:xfrm>
                <a:off x="2143" y="1802"/>
                <a:ext cx="111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9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89" name="Rectangle 37"/>
              <p:cNvSpPr>
                <a:spLocks noChangeArrowheads="1"/>
              </p:cNvSpPr>
              <p:nvPr/>
            </p:nvSpPr>
            <p:spPr bwMode="auto">
              <a:xfrm>
                <a:off x="2456" y="1802"/>
                <a:ext cx="111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3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90" name="Rectangle 38"/>
              <p:cNvSpPr>
                <a:spLocks noChangeArrowheads="1"/>
              </p:cNvSpPr>
              <p:nvPr/>
            </p:nvSpPr>
            <p:spPr bwMode="auto">
              <a:xfrm>
                <a:off x="2747" y="1802"/>
                <a:ext cx="111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5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91" name="Rectangle 39"/>
              <p:cNvSpPr>
                <a:spLocks noChangeArrowheads="1"/>
              </p:cNvSpPr>
              <p:nvPr/>
            </p:nvSpPr>
            <p:spPr bwMode="auto">
              <a:xfrm>
                <a:off x="3046" y="1802"/>
                <a:ext cx="111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2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92" name="Rectangle 40"/>
              <p:cNvSpPr>
                <a:spLocks noChangeArrowheads="1"/>
              </p:cNvSpPr>
              <p:nvPr/>
            </p:nvSpPr>
            <p:spPr bwMode="auto">
              <a:xfrm>
                <a:off x="3359" y="1802"/>
                <a:ext cx="111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6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93" name="Rectangle 41"/>
              <p:cNvSpPr>
                <a:spLocks noChangeArrowheads="1"/>
              </p:cNvSpPr>
              <p:nvPr/>
            </p:nvSpPr>
            <p:spPr bwMode="auto">
              <a:xfrm>
                <a:off x="3664" y="1802"/>
                <a:ext cx="113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4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94" name="Rectangle 42"/>
              <p:cNvSpPr>
                <a:spLocks noChangeArrowheads="1"/>
              </p:cNvSpPr>
              <p:nvPr/>
            </p:nvSpPr>
            <p:spPr bwMode="auto">
              <a:xfrm>
                <a:off x="3970" y="1802"/>
                <a:ext cx="111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5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95" name="Rectangle 43"/>
              <p:cNvSpPr>
                <a:spLocks noChangeArrowheads="1"/>
              </p:cNvSpPr>
              <p:nvPr/>
            </p:nvSpPr>
            <p:spPr bwMode="auto">
              <a:xfrm>
                <a:off x="4369" y="1802"/>
                <a:ext cx="111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5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96" name="Rectangle 44"/>
              <p:cNvSpPr>
                <a:spLocks noChangeArrowheads="1"/>
              </p:cNvSpPr>
              <p:nvPr/>
            </p:nvSpPr>
            <p:spPr bwMode="auto">
              <a:xfrm>
                <a:off x="4508" y="1802"/>
                <a:ext cx="221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25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97" name="Rectangle 45"/>
              <p:cNvSpPr>
                <a:spLocks noChangeArrowheads="1"/>
              </p:cNvSpPr>
              <p:nvPr/>
            </p:nvSpPr>
            <p:spPr bwMode="auto">
              <a:xfrm>
                <a:off x="1764" y="1802"/>
                <a:ext cx="6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(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98" name="Rectangle 46"/>
              <p:cNvSpPr>
                <a:spLocks noChangeArrowheads="1"/>
              </p:cNvSpPr>
              <p:nvPr/>
            </p:nvSpPr>
            <p:spPr bwMode="auto">
              <a:xfrm>
                <a:off x="4071" y="1802"/>
                <a:ext cx="66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)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799" name="Rectangle 47"/>
              <p:cNvSpPr>
                <a:spLocks noChangeArrowheads="1"/>
              </p:cNvSpPr>
              <p:nvPr/>
            </p:nvSpPr>
            <p:spPr bwMode="auto">
              <a:xfrm>
                <a:off x="4463" y="1802"/>
                <a:ext cx="55" cy="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700" b="0">
                    <a:solidFill>
                      <a:srgbClr val="000000"/>
                    </a:solidFill>
                    <a:latin typeface="Calibri"/>
                    <a:cs typeface="Calibri"/>
                  </a:rPr>
                  <a:t>.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</p:grpSp>
        <p:sp>
          <p:nvSpPr>
            <p:cNvPr id="74762" name="Rectangle 10"/>
            <p:cNvSpPr>
              <a:spLocks noChangeArrowheads="1"/>
            </p:cNvSpPr>
            <p:nvPr/>
          </p:nvSpPr>
          <p:spPr bwMode="auto">
            <a:xfrm>
              <a:off x="144" y="1770"/>
              <a:ext cx="64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>
                  <a:solidFill>
                    <a:srgbClr val="CC0000"/>
                  </a:solidFill>
                  <a:latin typeface="Calibri"/>
                  <a:cs typeface="Calibri"/>
                </a:rPr>
                <a:t>Solution:</a:t>
              </a:r>
              <a:endParaRPr lang="en-US" altLang="zh-TW" b="0">
                <a:latin typeface="Calibri"/>
                <a:cs typeface="Calibri"/>
              </a:endParaRPr>
            </a:p>
          </p:txBody>
        </p:sp>
      </p:grpSp>
      <p:sp>
        <p:nvSpPr>
          <p:cNvPr id="74763" name="Rectangle 11"/>
          <p:cNvSpPr>
            <a:spLocks noChangeArrowheads="1"/>
          </p:cNvSpPr>
          <p:nvPr/>
        </p:nvSpPr>
        <p:spPr bwMode="auto">
          <a:xfrm>
            <a:off x="228600" y="3959225"/>
            <a:ext cx="6019800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400050" indent="-400050">
              <a:spcBef>
                <a:spcPct val="25000"/>
              </a:spcBef>
              <a:buSzPct val="75000"/>
              <a:buFont typeface="Wingdings" charset="0"/>
              <a:buChar char="è"/>
            </a:pPr>
            <a:r>
              <a:rPr lang="en-US" altLang="zh-TW" b="0">
                <a:latin typeface="Calibri"/>
                <a:cs typeface="Calibri"/>
              </a:rPr>
              <a:t>In the data above, change 6 to 26:</a:t>
            </a:r>
          </a:p>
        </p:txBody>
      </p:sp>
      <p:sp>
        <p:nvSpPr>
          <p:cNvPr id="74764" name="Rectangle 12"/>
          <p:cNvSpPr>
            <a:spLocks noChangeArrowheads="1"/>
          </p:cNvSpPr>
          <p:nvPr/>
        </p:nvSpPr>
        <p:spPr bwMode="auto">
          <a:xfrm>
            <a:off x="228600" y="6115050"/>
            <a:ext cx="7848600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458788" indent="-458788">
              <a:spcBef>
                <a:spcPct val="25000"/>
              </a:spcBef>
              <a:buSzPct val="75000"/>
              <a:buFont typeface="Wingdings" charset="0"/>
              <a:buNone/>
            </a:pPr>
            <a:r>
              <a:rPr lang="en-US" altLang="zh-TW" b="0" i="1">
                <a:solidFill>
                  <a:srgbClr val="CC0000"/>
                </a:solidFill>
                <a:latin typeface="Calibri"/>
                <a:cs typeface="Calibri"/>
              </a:rPr>
              <a:t>Note:  </a:t>
            </a:r>
            <a:r>
              <a:rPr lang="en-US" altLang="zh-TW" b="0">
                <a:latin typeface="Calibri"/>
                <a:cs typeface="Calibri"/>
              </a:rPr>
              <a:t>The mean can be greatly influenced by outliers</a:t>
            </a:r>
          </a:p>
        </p:txBody>
      </p:sp>
      <p:grpSp>
        <p:nvGrpSpPr>
          <p:cNvPr id="74829" name="Group 77"/>
          <p:cNvGrpSpPr>
            <a:grpSpLocks/>
          </p:cNvGrpSpPr>
          <p:nvPr/>
        </p:nvGrpSpPr>
        <p:grpSpPr bwMode="auto">
          <a:xfrm>
            <a:off x="228600" y="4494213"/>
            <a:ext cx="7253288" cy="868362"/>
            <a:chOff x="144" y="2831"/>
            <a:chExt cx="4569" cy="547"/>
          </a:xfrm>
        </p:grpSpPr>
        <p:grpSp>
          <p:nvGrpSpPr>
            <p:cNvPr id="74828" name="Group 76"/>
            <p:cNvGrpSpPr>
              <a:grpSpLocks/>
            </p:cNvGrpSpPr>
            <p:nvPr/>
          </p:nvGrpSpPr>
          <p:grpSpPr bwMode="auto">
            <a:xfrm>
              <a:off x="1261" y="2831"/>
              <a:ext cx="3452" cy="547"/>
              <a:chOff x="1261" y="2831"/>
              <a:chExt cx="3452" cy="547"/>
            </a:xfrm>
          </p:grpSpPr>
          <p:sp>
            <p:nvSpPr>
              <p:cNvPr id="74800" name="Line 48"/>
              <p:cNvSpPr>
                <a:spLocks noChangeShapeType="1"/>
              </p:cNvSpPr>
              <p:nvPr/>
            </p:nvSpPr>
            <p:spPr bwMode="auto">
              <a:xfrm>
                <a:off x="1261" y="3019"/>
                <a:ext cx="100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>
                  <a:latin typeface="Calibri"/>
                  <a:cs typeface="Calibri"/>
                </a:endParaRPr>
              </a:p>
            </p:txBody>
          </p:sp>
          <p:sp>
            <p:nvSpPr>
              <p:cNvPr id="74801" name="Line 49"/>
              <p:cNvSpPr>
                <a:spLocks noChangeShapeType="1"/>
              </p:cNvSpPr>
              <p:nvPr/>
            </p:nvSpPr>
            <p:spPr bwMode="auto">
              <a:xfrm>
                <a:off x="1593" y="3097"/>
                <a:ext cx="116" cy="1"/>
              </a:xfrm>
              <a:prstGeom prst="line">
                <a:avLst/>
              </a:prstGeom>
              <a:noFill/>
              <a:ln w="142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>
                  <a:latin typeface="Calibri"/>
                  <a:cs typeface="Calibri"/>
                </a:endParaRPr>
              </a:p>
            </p:txBody>
          </p:sp>
          <p:sp>
            <p:nvSpPr>
              <p:cNvPr id="74802" name="Rectangle 50"/>
              <p:cNvSpPr>
                <a:spLocks noChangeArrowheads="1"/>
              </p:cNvSpPr>
              <p:nvPr/>
            </p:nvSpPr>
            <p:spPr bwMode="auto">
              <a:xfrm>
                <a:off x="1267" y="2982"/>
                <a:ext cx="11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 i="1">
                    <a:solidFill>
                      <a:srgbClr val="000000"/>
                    </a:solidFill>
                    <a:latin typeface="Calibri"/>
                    <a:cs typeface="Calibri"/>
                  </a:rPr>
                  <a:t>x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03" name="Rectangle 51"/>
              <p:cNvSpPr>
                <a:spLocks noChangeArrowheads="1"/>
              </p:cNvSpPr>
              <p:nvPr/>
            </p:nvSpPr>
            <p:spPr bwMode="auto">
              <a:xfrm>
                <a:off x="1419" y="2958"/>
                <a:ext cx="10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=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04" name="Rectangle 52"/>
              <p:cNvSpPr>
                <a:spLocks noChangeArrowheads="1"/>
              </p:cNvSpPr>
              <p:nvPr/>
            </p:nvSpPr>
            <p:spPr bwMode="auto">
              <a:xfrm>
                <a:off x="1951" y="2958"/>
                <a:ext cx="10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+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05" name="Rectangle 53"/>
              <p:cNvSpPr>
                <a:spLocks noChangeArrowheads="1"/>
              </p:cNvSpPr>
              <p:nvPr/>
            </p:nvSpPr>
            <p:spPr bwMode="auto">
              <a:xfrm>
                <a:off x="2251" y="2958"/>
                <a:ext cx="10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+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06" name="Rectangle 54"/>
              <p:cNvSpPr>
                <a:spLocks noChangeArrowheads="1"/>
              </p:cNvSpPr>
              <p:nvPr/>
            </p:nvSpPr>
            <p:spPr bwMode="auto">
              <a:xfrm>
                <a:off x="2537" y="2958"/>
                <a:ext cx="10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+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07" name="Rectangle 55"/>
              <p:cNvSpPr>
                <a:spLocks noChangeArrowheads="1"/>
              </p:cNvSpPr>
              <p:nvPr/>
            </p:nvSpPr>
            <p:spPr bwMode="auto">
              <a:xfrm>
                <a:off x="2817" y="2958"/>
                <a:ext cx="10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+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08" name="Rectangle 56"/>
              <p:cNvSpPr>
                <a:spLocks noChangeArrowheads="1"/>
              </p:cNvSpPr>
              <p:nvPr/>
            </p:nvSpPr>
            <p:spPr bwMode="auto">
              <a:xfrm>
                <a:off x="3116" y="2958"/>
                <a:ext cx="10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+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09" name="Rectangle 57"/>
              <p:cNvSpPr>
                <a:spLocks noChangeArrowheads="1"/>
              </p:cNvSpPr>
              <p:nvPr/>
            </p:nvSpPr>
            <p:spPr bwMode="auto">
              <a:xfrm>
                <a:off x="3516" y="2958"/>
                <a:ext cx="10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+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10" name="Rectangle 58"/>
              <p:cNvSpPr>
                <a:spLocks noChangeArrowheads="1"/>
              </p:cNvSpPr>
              <p:nvPr/>
            </p:nvSpPr>
            <p:spPr bwMode="auto">
              <a:xfrm>
                <a:off x="3816" y="2958"/>
                <a:ext cx="10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+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11" name="Rectangle 59"/>
              <p:cNvSpPr>
                <a:spLocks noChangeArrowheads="1"/>
              </p:cNvSpPr>
              <p:nvPr/>
            </p:nvSpPr>
            <p:spPr bwMode="auto">
              <a:xfrm>
                <a:off x="4185" y="2958"/>
                <a:ext cx="10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=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12" name="Rectangle 60"/>
              <p:cNvSpPr>
                <a:spLocks noChangeArrowheads="1"/>
              </p:cNvSpPr>
              <p:nvPr/>
            </p:nvSpPr>
            <p:spPr bwMode="auto">
              <a:xfrm>
                <a:off x="1601" y="2831"/>
                <a:ext cx="10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1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13" name="Rectangle 61"/>
              <p:cNvSpPr>
                <a:spLocks noChangeArrowheads="1"/>
              </p:cNvSpPr>
              <p:nvPr/>
            </p:nvSpPr>
            <p:spPr bwMode="auto">
              <a:xfrm>
                <a:off x="1598" y="3126"/>
                <a:ext cx="10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8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14" name="Rectangle 62"/>
              <p:cNvSpPr>
                <a:spLocks noChangeArrowheads="1"/>
              </p:cNvSpPr>
              <p:nvPr/>
            </p:nvSpPr>
            <p:spPr bwMode="auto">
              <a:xfrm>
                <a:off x="1812" y="2982"/>
                <a:ext cx="10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8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15" name="Rectangle 63"/>
              <p:cNvSpPr>
                <a:spLocks noChangeArrowheads="1"/>
              </p:cNvSpPr>
              <p:nvPr/>
            </p:nvSpPr>
            <p:spPr bwMode="auto">
              <a:xfrm>
                <a:off x="2105" y="2982"/>
                <a:ext cx="10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9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16" name="Rectangle 64"/>
              <p:cNvSpPr>
                <a:spLocks noChangeArrowheads="1"/>
              </p:cNvSpPr>
              <p:nvPr/>
            </p:nvSpPr>
            <p:spPr bwMode="auto">
              <a:xfrm>
                <a:off x="2405" y="2982"/>
                <a:ext cx="10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3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17" name="Rectangle 65"/>
              <p:cNvSpPr>
                <a:spLocks noChangeArrowheads="1"/>
              </p:cNvSpPr>
              <p:nvPr/>
            </p:nvSpPr>
            <p:spPr bwMode="auto">
              <a:xfrm>
                <a:off x="2685" y="2982"/>
                <a:ext cx="10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5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18" name="Rectangle 66"/>
              <p:cNvSpPr>
                <a:spLocks noChangeArrowheads="1"/>
              </p:cNvSpPr>
              <p:nvPr/>
            </p:nvSpPr>
            <p:spPr bwMode="auto">
              <a:xfrm>
                <a:off x="2971" y="2982"/>
                <a:ext cx="10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2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19" name="Rectangle 67"/>
              <p:cNvSpPr>
                <a:spLocks noChangeArrowheads="1"/>
              </p:cNvSpPr>
              <p:nvPr/>
            </p:nvSpPr>
            <p:spPr bwMode="auto">
              <a:xfrm>
                <a:off x="3271" y="2982"/>
                <a:ext cx="21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26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20" name="Rectangle 68"/>
              <p:cNvSpPr>
                <a:spLocks noChangeArrowheads="1"/>
              </p:cNvSpPr>
              <p:nvPr/>
            </p:nvSpPr>
            <p:spPr bwMode="auto">
              <a:xfrm>
                <a:off x="3671" y="2982"/>
                <a:ext cx="10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4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21" name="Rectangle 69"/>
              <p:cNvSpPr>
                <a:spLocks noChangeArrowheads="1"/>
              </p:cNvSpPr>
              <p:nvPr/>
            </p:nvSpPr>
            <p:spPr bwMode="auto">
              <a:xfrm>
                <a:off x="3964" y="2982"/>
                <a:ext cx="10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5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22" name="Rectangle 70"/>
              <p:cNvSpPr>
                <a:spLocks noChangeArrowheads="1"/>
              </p:cNvSpPr>
              <p:nvPr/>
            </p:nvSpPr>
            <p:spPr bwMode="auto">
              <a:xfrm>
                <a:off x="4353" y="2982"/>
                <a:ext cx="10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7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23" name="Rectangle 71"/>
              <p:cNvSpPr>
                <a:spLocks noChangeArrowheads="1"/>
              </p:cNvSpPr>
              <p:nvPr/>
            </p:nvSpPr>
            <p:spPr bwMode="auto">
              <a:xfrm>
                <a:off x="4500" y="2982"/>
                <a:ext cx="21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75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24" name="Rectangle 72"/>
              <p:cNvSpPr>
                <a:spLocks noChangeArrowheads="1"/>
              </p:cNvSpPr>
              <p:nvPr/>
            </p:nvSpPr>
            <p:spPr bwMode="auto">
              <a:xfrm>
                <a:off x="1742" y="2982"/>
                <a:ext cx="6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(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25" name="Rectangle 73"/>
              <p:cNvSpPr>
                <a:spLocks noChangeArrowheads="1"/>
              </p:cNvSpPr>
              <p:nvPr/>
            </p:nvSpPr>
            <p:spPr bwMode="auto">
              <a:xfrm>
                <a:off x="4061" y="2982"/>
                <a:ext cx="6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)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  <p:sp>
            <p:nvSpPr>
              <p:cNvPr id="74826" name="Rectangle 74"/>
              <p:cNvSpPr>
                <a:spLocks noChangeArrowheads="1"/>
              </p:cNvSpPr>
              <p:nvPr/>
            </p:nvSpPr>
            <p:spPr bwMode="auto">
              <a:xfrm>
                <a:off x="4457" y="2982"/>
                <a:ext cx="5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2600" b="0">
                    <a:solidFill>
                      <a:srgbClr val="000000"/>
                    </a:solidFill>
                    <a:latin typeface="Calibri"/>
                    <a:cs typeface="Calibri"/>
                  </a:rPr>
                  <a:t>.</a:t>
                </a:r>
                <a:endParaRPr lang="en-US" altLang="zh-TW">
                  <a:latin typeface="Calibri"/>
                  <a:cs typeface="Calibri"/>
                </a:endParaRPr>
              </a:p>
            </p:txBody>
          </p:sp>
        </p:grpSp>
        <p:sp>
          <p:nvSpPr>
            <p:cNvPr id="74770" name="Rectangle 18"/>
            <p:cNvSpPr>
              <a:spLocks noChangeArrowheads="1"/>
            </p:cNvSpPr>
            <p:nvPr/>
          </p:nvSpPr>
          <p:spPr bwMode="auto">
            <a:xfrm>
              <a:off x="144" y="2946"/>
              <a:ext cx="64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>
                  <a:solidFill>
                    <a:srgbClr val="CC0000"/>
                  </a:solidFill>
                  <a:latin typeface="Calibri"/>
                  <a:cs typeface="Calibri"/>
                </a:rPr>
                <a:t>Solution:</a:t>
              </a:r>
              <a:endParaRPr lang="en-US" altLang="zh-TW" b="0">
                <a:latin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03017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9" grpId="0" autoUpdateAnimBg="0"/>
      <p:bldP spid="74763" grpId="0" autoUpdateAnimBg="0"/>
      <p:bldP spid="7476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l"/>
            <a:r>
              <a:rPr lang="en-US" altLang="zh-TW" dirty="0" smtClean="0"/>
              <a:t>Measure </a:t>
            </a:r>
            <a:r>
              <a:rPr lang="en-US" altLang="zh-TW" dirty="0"/>
              <a:t>and Variability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TW" dirty="0"/>
              <a:t>No matter what the response variable: there will always be </a:t>
            </a:r>
            <a:r>
              <a:rPr lang="en-US" altLang="zh-TW" b="1" dirty="0">
                <a:solidFill>
                  <a:schemeClr val="hlink"/>
                </a:solidFill>
              </a:rPr>
              <a:t>variability</a:t>
            </a:r>
            <a:r>
              <a:rPr lang="en-US" altLang="zh-TW" dirty="0"/>
              <a:t> in the data.</a:t>
            </a:r>
          </a:p>
          <a:p>
            <a:r>
              <a:rPr lang="en-US" altLang="zh-TW" dirty="0"/>
              <a:t>One of the primary objectives of statistics: measuring and characterizing variability.</a:t>
            </a:r>
          </a:p>
          <a:p>
            <a:r>
              <a:rPr lang="en-US" altLang="zh-TW" dirty="0"/>
              <a:t>Controlling (or reducing) variability in a manufacturing process: statistical process control.</a:t>
            </a:r>
          </a:p>
        </p:txBody>
      </p:sp>
    </p:spTree>
    <p:extLst>
      <p:ext uri="{BB962C8B-B14F-4D97-AF65-F5344CB8AC3E}">
        <p14:creationId xmlns:p14="http://schemas.microsoft.com/office/powerpoint/2010/main" val="19359480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Histogram and Distributions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Histograms are based on frequencies of occurrence of a variable of interest</a:t>
            </a:r>
          </a:p>
          <a:p>
            <a:pPr lvl="1"/>
            <a:r>
              <a:rPr kumimoji="1" lang="en-US" altLang="zh-TW" dirty="0">
                <a:hlinkClick r:id="rId2"/>
              </a:rPr>
              <a:t>http://www.stat.sc.edu/~west/javahtml/</a:t>
            </a:r>
            <a:r>
              <a:rPr kumimoji="1" lang="en-US" altLang="zh-TW" dirty="0" smtClean="0">
                <a:hlinkClick r:id="rId2"/>
              </a:rPr>
              <a:t>Histogram.html</a:t>
            </a:r>
            <a:r>
              <a:rPr kumimoji="1" lang="en-US" altLang="zh-TW" dirty="0" smtClean="0"/>
              <a:t> </a:t>
            </a:r>
          </a:p>
          <a:p>
            <a:r>
              <a:rPr kumimoji="1" lang="en-US" altLang="zh-TW" dirty="0" smtClean="0"/>
              <a:t>Histograms show the </a:t>
            </a:r>
            <a:r>
              <a:rPr kumimoji="1" lang="en-US" altLang="zh-TW" b="1" dirty="0" smtClean="0"/>
              <a:t>distribution</a:t>
            </a:r>
            <a:r>
              <a:rPr kumimoji="1" lang="en-US" altLang="zh-TW" dirty="0" smtClean="0"/>
              <a:t> of variables</a:t>
            </a:r>
          </a:p>
          <a:p>
            <a:r>
              <a:rPr kumimoji="1" lang="en-US" altLang="zh-TW" dirty="0" smtClean="0"/>
              <a:t>The </a:t>
            </a:r>
            <a:r>
              <a:rPr kumimoji="1" lang="en-US" altLang="zh-TW" i="1" dirty="0" smtClean="0"/>
              <a:t>normal</a:t>
            </a:r>
            <a:r>
              <a:rPr kumimoji="1" lang="en-US" altLang="zh-TW" dirty="0" smtClean="0"/>
              <a:t> distribution is what is called a bell curve (or Gaussian distribution)</a:t>
            </a:r>
          </a:p>
          <a:p>
            <a:r>
              <a:rPr kumimoji="1" lang="en-US" altLang="zh-TW" dirty="0" smtClean="0"/>
              <a:t>Many psychological </a:t>
            </a:r>
            <a:br>
              <a:rPr kumimoji="1" lang="en-US" altLang="zh-TW" dirty="0" smtClean="0"/>
            </a:br>
            <a:r>
              <a:rPr kumimoji="1" lang="en-US" altLang="zh-TW" dirty="0" smtClean="0"/>
              <a:t>variables are distributed </a:t>
            </a:r>
            <a:br>
              <a:rPr kumimoji="1" lang="en-US" altLang="zh-TW" dirty="0" smtClean="0"/>
            </a:br>
            <a:r>
              <a:rPr kumimoji="1" lang="en-US" altLang="zh-TW" dirty="0" smtClean="0"/>
              <a:t>approximately normally. 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17</a:t>
            </a:fld>
            <a:endParaRPr 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990" y="4421794"/>
            <a:ext cx="3815626" cy="240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9009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Spread of a Distribution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Range- is a measure of spread of distribution = </a:t>
            </a:r>
            <a:br>
              <a:rPr kumimoji="1" lang="en-US" altLang="zh-TW" dirty="0" smtClean="0"/>
            </a:br>
            <a:r>
              <a:rPr kumimoji="1" lang="en-US" altLang="zh-TW" dirty="0" smtClean="0"/>
              <a:t>highest value – lowest value</a:t>
            </a:r>
          </a:p>
          <a:p>
            <a:pPr lvl="1"/>
            <a:r>
              <a:rPr kumimoji="1" lang="en-US" altLang="zh-TW" dirty="0" smtClean="0"/>
              <a:t>Sensitive to outlier values (single high or low values)</a:t>
            </a:r>
          </a:p>
          <a:p>
            <a:r>
              <a:rPr kumimoji="1" lang="en-US" altLang="zh-TW" dirty="0" smtClean="0"/>
              <a:t>Variance </a:t>
            </a:r>
          </a:p>
          <a:p>
            <a:pPr marL="0" indent="0">
              <a:buNone/>
            </a:pPr>
            <a:r>
              <a:rPr kumimoji="1" lang="en-US" altLang="zh-TW" sz="2400" dirty="0" smtClean="0"/>
              <a:t> </a:t>
            </a:r>
            <a:r>
              <a:rPr kumimoji="1" lang="en-US" altLang="zh-TW" sz="2400" dirty="0" smtClean="0">
                <a:hlinkClick r:id="rId2"/>
              </a:rPr>
              <a:t>http</a:t>
            </a:r>
            <a:r>
              <a:rPr kumimoji="1" lang="en-US" altLang="zh-TW" sz="2400" dirty="0">
                <a:hlinkClick r:id="rId2"/>
              </a:rPr>
              <a:t>://en.wikipedia.org/wiki/</a:t>
            </a:r>
            <a:r>
              <a:rPr kumimoji="1" lang="en-US" altLang="zh-TW" sz="2400" dirty="0" smtClean="0">
                <a:hlinkClick r:id="rId2"/>
              </a:rPr>
              <a:t>Variance</a:t>
            </a:r>
            <a:r>
              <a:rPr kumimoji="1" lang="en-US" altLang="zh-TW" sz="2400" dirty="0" smtClean="0"/>
              <a:t> </a:t>
            </a:r>
            <a:endParaRPr kumimoji="1" lang="en-US" altLang="zh-TW" sz="2400" dirty="0"/>
          </a:p>
          <a:p>
            <a:endParaRPr kumimoji="1" lang="en-US" altLang="zh-TW" dirty="0" smtClean="0"/>
          </a:p>
          <a:p>
            <a:r>
              <a:rPr kumimoji="1" lang="en-US" altLang="zh-TW" dirty="0" smtClean="0"/>
              <a:t>Standard deviation- </a:t>
            </a:r>
            <a:r>
              <a:rPr kumimoji="1" lang="en-US" altLang="zh-TW" dirty="0" err="1" smtClean="0"/>
              <a:t>sqrt</a:t>
            </a:r>
            <a:r>
              <a:rPr kumimoji="1" lang="en-US" altLang="zh-TW" dirty="0" smtClean="0"/>
              <a:t>(</a:t>
            </a:r>
            <a:r>
              <a:rPr kumimoji="1" lang="en-US" altLang="zh-TW" dirty="0" err="1" smtClean="0"/>
              <a:t>Var</a:t>
            </a:r>
            <a:r>
              <a:rPr kumimoji="1" lang="en-US" altLang="zh-TW" dirty="0" smtClean="0"/>
              <a:t>)</a:t>
            </a:r>
          </a:p>
          <a:p>
            <a:pPr marL="0" indent="0">
              <a:buNone/>
            </a:pPr>
            <a:r>
              <a:rPr kumimoji="1" lang="en-US" altLang="zh-TW" sz="2500" dirty="0">
                <a:hlinkClick r:id="rId3"/>
              </a:rPr>
              <a:t>http://en.wikipedia.org/wiki/</a:t>
            </a:r>
            <a:r>
              <a:rPr kumimoji="1" lang="en-US" altLang="zh-TW" sz="2500" dirty="0" smtClean="0">
                <a:hlinkClick r:id="rId3"/>
              </a:rPr>
              <a:t>Standard_deviation</a:t>
            </a:r>
            <a:r>
              <a:rPr kumimoji="1" lang="en-US" altLang="zh-TW" sz="2500" dirty="0" smtClean="0"/>
              <a:t> </a:t>
            </a:r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18</a:t>
            </a:fld>
            <a:endParaRPr 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0900" y="3191326"/>
            <a:ext cx="2755900" cy="6985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0212" y="5573840"/>
            <a:ext cx="47752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3264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Variance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kumimoji="1" lang="en-US" altLang="zh-TW" dirty="0" smtClean="0"/>
          </a:p>
          <a:p>
            <a:endParaRPr kumimoji="1" lang="en-US" altLang="zh-TW" dirty="0"/>
          </a:p>
          <a:p>
            <a:endParaRPr kumimoji="1" lang="en-US" altLang="zh-TW" dirty="0" smtClean="0"/>
          </a:p>
          <a:p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 smtClean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 smtClean="0"/>
          </a:p>
          <a:p>
            <a:r>
              <a:rPr kumimoji="1" lang="en-US" altLang="zh-TW" dirty="0" smtClean="0"/>
              <a:t>Accuracy- distance between the goal and the outcome</a:t>
            </a:r>
          </a:p>
          <a:p>
            <a:r>
              <a:rPr kumimoji="1" lang="en-US" altLang="zh-TW" dirty="0" smtClean="0"/>
              <a:t>Precision – tightness of grouping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19</a:t>
            </a:fld>
            <a:endParaRPr 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1045908"/>
            <a:ext cx="5758057" cy="403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403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Histogram</a:t>
            </a:r>
          </a:p>
        </p:txBody>
      </p:sp>
      <p:sp>
        <p:nvSpPr>
          <p:cNvPr id="62469" name="Rectangle 5"/>
          <p:cNvSpPr>
            <a:spLocks noChangeArrowheads="1"/>
          </p:cNvSpPr>
          <p:nvPr/>
        </p:nvSpPr>
        <p:spPr bwMode="auto">
          <a:xfrm>
            <a:off x="228600" y="1143000"/>
            <a:ext cx="86106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5000"/>
              </a:lnSpc>
              <a:spcBef>
                <a:spcPct val="40000"/>
              </a:spcBef>
            </a:pPr>
            <a:r>
              <a:rPr lang="en-US" altLang="zh-TW" sz="2200" b="0" dirty="0" smtClean="0">
                <a:latin typeface="Calibri"/>
                <a:cs typeface="Calibri"/>
              </a:rPr>
              <a:t>Histogram: A </a:t>
            </a:r>
            <a:r>
              <a:rPr lang="en-US" altLang="zh-TW" sz="2200" b="0" dirty="0">
                <a:latin typeface="Calibri"/>
                <a:cs typeface="Calibri"/>
              </a:rPr>
              <a:t>bar graph representing a frequency distribution of a quantitative variable.  A histogram is made up of the following components:</a:t>
            </a:r>
          </a:p>
        </p:txBody>
      </p:sp>
      <p:sp>
        <p:nvSpPr>
          <p:cNvPr id="62470" name="Rectangle 6"/>
          <p:cNvSpPr>
            <a:spLocks noChangeArrowheads="1"/>
          </p:cNvSpPr>
          <p:nvPr/>
        </p:nvSpPr>
        <p:spPr bwMode="auto">
          <a:xfrm>
            <a:off x="228600" y="2438400"/>
            <a:ext cx="86106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1313" indent="-341313">
              <a:lnSpc>
                <a:spcPct val="95000"/>
              </a:lnSpc>
              <a:spcBef>
                <a:spcPct val="50000"/>
              </a:spcBef>
            </a:pPr>
            <a:r>
              <a:rPr lang="en-US" altLang="zh-TW" sz="2200" b="0" dirty="0">
                <a:latin typeface="Calibri"/>
                <a:cs typeface="Calibri"/>
              </a:rPr>
              <a:t>1.	A title, which identifies the population of interest</a:t>
            </a:r>
          </a:p>
          <a:p>
            <a:pPr marL="341313" indent="-341313">
              <a:lnSpc>
                <a:spcPct val="95000"/>
              </a:lnSpc>
              <a:spcBef>
                <a:spcPct val="50000"/>
              </a:spcBef>
            </a:pPr>
            <a:r>
              <a:rPr lang="en-US" altLang="zh-TW" sz="2200" b="0" dirty="0">
                <a:latin typeface="Calibri"/>
                <a:cs typeface="Calibri"/>
              </a:rPr>
              <a:t>2.	A vertical scale, which identifies the frequencies in the various classes</a:t>
            </a:r>
          </a:p>
          <a:p>
            <a:pPr marL="341313" indent="-341313">
              <a:lnSpc>
                <a:spcPct val="95000"/>
              </a:lnSpc>
              <a:spcBef>
                <a:spcPct val="50000"/>
              </a:spcBef>
            </a:pPr>
            <a:r>
              <a:rPr lang="en-US" altLang="zh-TW" sz="2200" b="0" dirty="0">
                <a:latin typeface="Calibri"/>
                <a:cs typeface="Calibri"/>
              </a:rPr>
              <a:t>3.	A horizontal scale, which identifies the variable </a:t>
            </a:r>
            <a:r>
              <a:rPr lang="en-US" altLang="zh-TW" sz="2200" b="0" i="1" dirty="0">
                <a:latin typeface="Calibri"/>
                <a:cs typeface="Calibri"/>
              </a:rPr>
              <a:t>x</a:t>
            </a:r>
            <a:r>
              <a:rPr lang="en-US" altLang="zh-TW" sz="2200" b="0" dirty="0">
                <a:latin typeface="Calibri"/>
                <a:cs typeface="Calibri"/>
              </a:rPr>
              <a:t>.  Values for the class boundaries or class midpoints may be labeled along the </a:t>
            </a:r>
            <a:r>
              <a:rPr lang="en-US" altLang="zh-TW" sz="2200" b="0" i="1" dirty="0">
                <a:latin typeface="Calibri"/>
                <a:cs typeface="Calibri"/>
              </a:rPr>
              <a:t>x</a:t>
            </a:r>
            <a:r>
              <a:rPr lang="en-US" altLang="zh-TW" sz="2200" b="0" dirty="0">
                <a:latin typeface="Calibri"/>
                <a:cs typeface="Calibri"/>
              </a:rPr>
              <a:t>-axis.  Use whichever method of labeling the axis best presents the variable.</a:t>
            </a:r>
          </a:p>
        </p:txBody>
      </p:sp>
    </p:spTree>
    <p:extLst>
      <p:ext uri="{BB962C8B-B14F-4D97-AF65-F5344CB8AC3E}">
        <p14:creationId xmlns:p14="http://schemas.microsoft.com/office/powerpoint/2010/main" val="24526883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14600" y="2667000"/>
            <a:ext cx="5791200" cy="3429000"/>
          </a:xfrm>
          <a:noFill/>
          <a:ln/>
        </p:spPr>
        <p:txBody>
          <a:bodyPr lIns="92075" tIns="46038" rIns="92075" bIns="46038"/>
          <a:lstStyle/>
          <a:p>
            <a:pPr marL="0" indent="0">
              <a:buFontTx/>
              <a:buNone/>
              <a:tabLst>
                <a:tab pos="2619375" algn="r"/>
                <a:tab pos="4397375" algn="r"/>
              </a:tabLst>
            </a:pPr>
            <a:r>
              <a:rPr lang="en-US" altLang="zh-TW" sz="2000" dirty="0"/>
              <a:t>     </a:t>
            </a:r>
            <a:r>
              <a:rPr lang="en-US" altLang="zh-TW" sz="2000" dirty="0">
                <a:solidFill>
                  <a:srgbClr val="666699"/>
                </a:solidFill>
              </a:rPr>
              <a:t> </a:t>
            </a:r>
            <a:r>
              <a:rPr lang="en-US" altLang="zh-TW" sz="2000" dirty="0"/>
              <a:t>Age                Frequency         Class Midpoint</a:t>
            </a:r>
          </a:p>
          <a:p>
            <a:pPr marL="0" indent="0">
              <a:lnSpc>
                <a:spcPct val="75000"/>
              </a:lnSpc>
              <a:spcBef>
                <a:spcPct val="0"/>
              </a:spcBef>
              <a:buFontTx/>
              <a:buNone/>
              <a:tabLst>
                <a:tab pos="2619375" algn="r"/>
                <a:tab pos="4397375" algn="r"/>
              </a:tabLst>
            </a:pPr>
            <a:r>
              <a:rPr lang="en-US" altLang="zh-TW" sz="2000" dirty="0"/>
              <a:t>------------------------------------------------------------</a:t>
            </a:r>
          </a:p>
          <a:p>
            <a:pPr marL="0" indent="0">
              <a:buFontTx/>
              <a:buNone/>
              <a:tabLst>
                <a:tab pos="2619375" algn="r"/>
                <a:tab pos="4397375" algn="r"/>
              </a:tabLst>
            </a:pPr>
            <a:r>
              <a:rPr lang="en-US" altLang="zh-TW" sz="2000" dirty="0"/>
              <a:t>20 up to 30	34	25</a:t>
            </a:r>
          </a:p>
          <a:p>
            <a:pPr marL="0" indent="0">
              <a:buFontTx/>
              <a:buNone/>
              <a:tabLst>
                <a:tab pos="2619375" algn="r"/>
                <a:tab pos="4397375" algn="r"/>
              </a:tabLst>
            </a:pPr>
            <a:r>
              <a:rPr lang="en-US" altLang="zh-TW" sz="2000" dirty="0"/>
              <a:t>30 up to 40	58	35</a:t>
            </a:r>
          </a:p>
          <a:p>
            <a:pPr marL="0" indent="0">
              <a:buFontTx/>
              <a:buNone/>
              <a:tabLst>
                <a:tab pos="2619375" algn="r"/>
                <a:tab pos="4397375" algn="r"/>
              </a:tabLst>
            </a:pPr>
            <a:r>
              <a:rPr lang="en-US" altLang="zh-TW" sz="2000" dirty="0"/>
              <a:t>40 up to 50	76	45</a:t>
            </a:r>
          </a:p>
          <a:p>
            <a:pPr marL="0" indent="0">
              <a:buFontTx/>
              <a:buNone/>
              <a:tabLst>
                <a:tab pos="2619375" algn="r"/>
                <a:tab pos="4397375" algn="r"/>
              </a:tabLst>
            </a:pPr>
            <a:r>
              <a:rPr lang="en-US" altLang="zh-TW" sz="2000" dirty="0"/>
              <a:t>50 up to 60	187	55</a:t>
            </a:r>
          </a:p>
          <a:p>
            <a:pPr marL="0" indent="0">
              <a:buFontTx/>
              <a:buNone/>
              <a:tabLst>
                <a:tab pos="2619375" algn="r"/>
                <a:tab pos="4397375" algn="r"/>
              </a:tabLst>
            </a:pPr>
            <a:r>
              <a:rPr lang="en-US" altLang="zh-TW" sz="2000" dirty="0"/>
              <a:t>60 up to 70	254	65</a:t>
            </a:r>
          </a:p>
          <a:p>
            <a:pPr marL="0" indent="0">
              <a:buFontTx/>
              <a:buNone/>
              <a:tabLst>
                <a:tab pos="2619375" algn="r"/>
                <a:tab pos="4397375" algn="r"/>
              </a:tabLst>
            </a:pPr>
            <a:r>
              <a:rPr lang="en-US" altLang="zh-TW" sz="2000" dirty="0"/>
              <a:t>70 up to 80	241	75</a:t>
            </a:r>
          </a:p>
          <a:p>
            <a:pPr marL="0" indent="0">
              <a:buFontTx/>
              <a:buNone/>
              <a:tabLst>
                <a:tab pos="2619375" algn="r"/>
                <a:tab pos="4397375" algn="r"/>
              </a:tabLst>
            </a:pPr>
            <a:r>
              <a:rPr lang="en-US" altLang="zh-TW" sz="2000" dirty="0"/>
              <a:t>80 up to 90	147	85</a:t>
            </a:r>
            <a:endParaRPr lang="en-US" altLang="zh-TW" sz="2400" dirty="0"/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auto">
          <a:xfrm>
            <a:off x="228600" y="1143000"/>
            <a:ext cx="8763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1313" indent="-341313">
              <a:spcBef>
                <a:spcPct val="20000"/>
              </a:spcBef>
              <a:buFont typeface="Wingdings" charset="0"/>
              <a:buChar char="ü"/>
            </a:pPr>
            <a:r>
              <a:rPr lang="en-US" altLang="zh-TW" sz="2200" dirty="0" smtClean="0">
                <a:latin typeface="Calibri"/>
                <a:cs typeface="Calibri"/>
              </a:rPr>
              <a:t>Example: </a:t>
            </a:r>
            <a:r>
              <a:rPr lang="en-US" altLang="zh-TW" sz="2200" b="0" dirty="0" smtClean="0">
                <a:latin typeface="Calibri"/>
                <a:cs typeface="Calibri"/>
              </a:rPr>
              <a:t>A </a:t>
            </a:r>
            <a:r>
              <a:rPr lang="en-US" altLang="zh-TW" sz="2200" b="0" dirty="0">
                <a:latin typeface="Calibri"/>
                <a:cs typeface="Calibri"/>
              </a:rPr>
              <a:t>recent survey of </a:t>
            </a:r>
            <a:r>
              <a:rPr lang="en-US" altLang="zh-TW" sz="2200" dirty="0">
                <a:latin typeface="Calibri"/>
                <a:cs typeface="Calibri"/>
              </a:rPr>
              <a:t>Roman Catholic </a:t>
            </a:r>
            <a:r>
              <a:rPr lang="en-US" altLang="zh-TW" sz="2200" dirty="0" smtClean="0">
                <a:latin typeface="Calibri"/>
                <a:cs typeface="Calibri"/>
              </a:rPr>
              <a:t>staff </a:t>
            </a:r>
            <a:r>
              <a:rPr lang="en-US" altLang="zh-TW" sz="2200" b="0" dirty="0" smtClean="0">
                <a:latin typeface="Calibri"/>
                <a:cs typeface="Calibri"/>
              </a:rPr>
              <a:t>summarized their </a:t>
            </a:r>
            <a:r>
              <a:rPr lang="en-US" altLang="zh-TW" sz="2200" b="0" dirty="0">
                <a:latin typeface="Calibri"/>
                <a:cs typeface="Calibri"/>
              </a:rPr>
              <a:t>ages in the table below. Construct a histogram for </a:t>
            </a:r>
            <a:r>
              <a:rPr lang="en-US" altLang="zh-TW" sz="2200" b="0" dirty="0" smtClean="0">
                <a:latin typeface="Calibri"/>
                <a:cs typeface="Calibri"/>
              </a:rPr>
              <a:t>this </a:t>
            </a:r>
            <a:r>
              <a:rPr lang="en-US" altLang="zh-TW" sz="2200" b="0" dirty="0">
                <a:latin typeface="Calibri"/>
                <a:cs typeface="Calibri"/>
              </a:rPr>
              <a:t>age data: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TW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9680218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607" name="Group 71"/>
          <p:cNvGrpSpPr>
            <a:grpSpLocks/>
          </p:cNvGrpSpPr>
          <p:nvPr/>
        </p:nvGrpSpPr>
        <p:grpSpPr bwMode="auto">
          <a:xfrm>
            <a:off x="457200" y="1316038"/>
            <a:ext cx="7848600" cy="5116512"/>
            <a:chOff x="288" y="829"/>
            <a:chExt cx="4944" cy="3223"/>
          </a:xfrm>
        </p:grpSpPr>
        <p:grpSp>
          <p:nvGrpSpPr>
            <p:cNvPr id="65605" name="Group 69"/>
            <p:cNvGrpSpPr>
              <a:grpSpLocks/>
            </p:cNvGrpSpPr>
            <p:nvPr/>
          </p:nvGrpSpPr>
          <p:grpSpPr bwMode="auto">
            <a:xfrm>
              <a:off x="288" y="1271"/>
              <a:ext cx="4944" cy="2781"/>
              <a:chOff x="288" y="1079"/>
              <a:chExt cx="4944" cy="2781"/>
            </a:xfrm>
          </p:grpSpPr>
          <p:sp>
            <p:nvSpPr>
              <p:cNvPr id="65545" name="Rectangle 9"/>
              <p:cNvSpPr>
                <a:spLocks noChangeArrowheads="1"/>
              </p:cNvSpPr>
              <p:nvPr/>
            </p:nvSpPr>
            <p:spPr bwMode="auto">
              <a:xfrm>
                <a:off x="4870" y="34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1600" b="0">
                    <a:solidFill>
                      <a:srgbClr val="000000"/>
                    </a:solidFill>
                  </a:rPr>
                  <a:t>8</a:t>
                </a:r>
                <a:endParaRPr lang="en-US" altLang="zh-TW" sz="2000"/>
              </a:p>
            </p:txBody>
          </p:sp>
          <p:sp>
            <p:nvSpPr>
              <p:cNvPr id="65546" name="Rectangle 10"/>
              <p:cNvSpPr>
                <a:spLocks noChangeArrowheads="1"/>
              </p:cNvSpPr>
              <p:nvPr/>
            </p:nvSpPr>
            <p:spPr bwMode="auto">
              <a:xfrm>
                <a:off x="4932" y="34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1600" b="0">
                    <a:solidFill>
                      <a:srgbClr val="000000"/>
                    </a:solidFill>
                  </a:rPr>
                  <a:t>5</a:t>
                </a:r>
                <a:endParaRPr lang="en-US" altLang="zh-TW" sz="2000"/>
              </a:p>
            </p:txBody>
          </p:sp>
          <p:sp>
            <p:nvSpPr>
              <p:cNvPr id="65547" name="Rectangle 11"/>
              <p:cNvSpPr>
                <a:spLocks noChangeArrowheads="1"/>
              </p:cNvSpPr>
              <p:nvPr/>
            </p:nvSpPr>
            <p:spPr bwMode="auto">
              <a:xfrm>
                <a:off x="4340" y="34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1600" b="0">
                    <a:solidFill>
                      <a:srgbClr val="000000"/>
                    </a:solidFill>
                  </a:rPr>
                  <a:t>7</a:t>
                </a:r>
                <a:endParaRPr lang="en-US" altLang="zh-TW" sz="2000"/>
              </a:p>
            </p:txBody>
          </p:sp>
          <p:sp>
            <p:nvSpPr>
              <p:cNvPr id="65548" name="Rectangle 12"/>
              <p:cNvSpPr>
                <a:spLocks noChangeArrowheads="1"/>
              </p:cNvSpPr>
              <p:nvPr/>
            </p:nvSpPr>
            <p:spPr bwMode="auto">
              <a:xfrm>
                <a:off x="4401" y="34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1600" b="0">
                    <a:solidFill>
                      <a:srgbClr val="000000"/>
                    </a:solidFill>
                  </a:rPr>
                  <a:t>5</a:t>
                </a:r>
                <a:endParaRPr lang="en-US" altLang="zh-TW" sz="2000"/>
              </a:p>
            </p:txBody>
          </p:sp>
          <p:sp>
            <p:nvSpPr>
              <p:cNvPr id="65549" name="Rectangle 13"/>
              <p:cNvSpPr>
                <a:spLocks noChangeArrowheads="1"/>
              </p:cNvSpPr>
              <p:nvPr/>
            </p:nvSpPr>
            <p:spPr bwMode="auto">
              <a:xfrm>
                <a:off x="3797" y="34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1600" b="0">
                    <a:solidFill>
                      <a:srgbClr val="000000"/>
                    </a:solidFill>
                  </a:rPr>
                  <a:t>6</a:t>
                </a:r>
                <a:endParaRPr lang="en-US" altLang="zh-TW" sz="2000"/>
              </a:p>
            </p:txBody>
          </p:sp>
          <p:sp>
            <p:nvSpPr>
              <p:cNvPr id="65550" name="Rectangle 14"/>
              <p:cNvSpPr>
                <a:spLocks noChangeArrowheads="1"/>
              </p:cNvSpPr>
              <p:nvPr/>
            </p:nvSpPr>
            <p:spPr bwMode="auto">
              <a:xfrm>
                <a:off x="3858" y="34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1600" b="0">
                    <a:solidFill>
                      <a:srgbClr val="000000"/>
                    </a:solidFill>
                  </a:rPr>
                  <a:t>5</a:t>
                </a:r>
                <a:endParaRPr lang="en-US" altLang="zh-TW" sz="2000"/>
              </a:p>
            </p:txBody>
          </p:sp>
          <p:sp>
            <p:nvSpPr>
              <p:cNvPr id="65551" name="Rectangle 15"/>
              <p:cNvSpPr>
                <a:spLocks noChangeArrowheads="1"/>
              </p:cNvSpPr>
              <p:nvPr/>
            </p:nvSpPr>
            <p:spPr bwMode="auto">
              <a:xfrm>
                <a:off x="3266" y="34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1600" b="0">
                    <a:solidFill>
                      <a:srgbClr val="000000"/>
                    </a:solidFill>
                  </a:rPr>
                  <a:t>5</a:t>
                </a:r>
                <a:endParaRPr lang="en-US" altLang="zh-TW" sz="2000"/>
              </a:p>
            </p:txBody>
          </p:sp>
          <p:sp>
            <p:nvSpPr>
              <p:cNvPr id="65552" name="Rectangle 16"/>
              <p:cNvSpPr>
                <a:spLocks noChangeArrowheads="1"/>
              </p:cNvSpPr>
              <p:nvPr/>
            </p:nvSpPr>
            <p:spPr bwMode="auto">
              <a:xfrm>
                <a:off x="3329" y="34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1600" b="0">
                    <a:solidFill>
                      <a:srgbClr val="000000"/>
                    </a:solidFill>
                  </a:rPr>
                  <a:t>5</a:t>
                </a:r>
                <a:endParaRPr lang="en-US" altLang="zh-TW" sz="2000"/>
              </a:p>
            </p:txBody>
          </p:sp>
          <p:sp>
            <p:nvSpPr>
              <p:cNvPr id="65553" name="Rectangle 17"/>
              <p:cNvSpPr>
                <a:spLocks noChangeArrowheads="1"/>
              </p:cNvSpPr>
              <p:nvPr/>
            </p:nvSpPr>
            <p:spPr bwMode="auto">
              <a:xfrm>
                <a:off x="2724" y="34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1600" b="0">
                    <a:solidFill>
                      <a:srgbClr val="000000"/>
                    </a:solidFill>
                  </a:rPr>
                  <a:t>4</a:t>
                </a:r>
                <a:endParaRPr lang="en-US" altLang="zh-TW" sz="2000"/>
              </a:p>
            </p:txBody>
          </p:sp>
          <p:sp>
            <p:nvSpPr>
              <p:cNvPr id="65554" name="Rectangle 18"/>
              <p:cNvSpPr>
                <a:spLocks noChangeArrowheads="1"/>
              </p:cNvSpPr>
              <p:nvPr/>
            </p:nvSpPr>
            <p:spPr bwMode="auto">
              <a:xfrm>
                <a:off x="2786" y="34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1600" b="0">
                    <a:solidFill>
                      <a:srgbClr val="000000"/>
                    </a:solidFill>
                  </a:rPr>
                  <a:t>5</a:t>
                </a:r>
                <a:endParaRPr lang="en-US" altLang="zh-TW" sz="2000"/>
              </a:p>
            </p:txBody>
          </p:sp>
          <p:sp>
            <p:nvSpPr>
              <p:cNvPr id="65555" name="Rectangle 19"/>
              <p:cNvSpPr>
                <a:spLocks noChangeArrowheads="1"/>
              </p:cNvSpPr>
              <p:nvPr/>
            </p:nvSpPr>
            <p:spPr bwMode="auto">
              <a:xfrm>
                <a:off x="2182" y="34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1600" b="0">
                    <a:solidFill>
                      <a:srgbClr val="000000"/>
                    </a:solidFill>
                  </a:rPr>
                  <a:t>3</a:t>
                </a:r>
                <a:endParaRPr lang="en-US" altLang="zh-TW" sz="2000"/>
              </a:p>
            </p:txBody>
          </p:sp>
          <p:sp>
            <p:nvSpPr>
              <p:cNvPr id="65556" name="Rectangle 20"/>
              <p:cNvSpPr>
                <a:spLocks noChangeArrowheads="1"/>
              </p:cNvSpPr>
              <p:nvPr/>
            </p:nvSpPr>
            <p:spPr bwMode="auto">
              <a:xfrm>
                <a:off x="2243" y="34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1600" b="0">
                    <a:solidFill>
                      <a:srgbClr val="000000"/>
                    </a:solidFill>
                  </a:rPr>
                  <a:t>5</a:t>
                </a:r>
                <a:endParaRPr lang="en-US" altLang="zh-TW" sz="2000"/>
              </a:p>
            </p:txBody>
          </p:sp>
          <p:sp>
            <p:nvSpPr>
              <p:cNvPr id="65557" name="Rectangle 21"/>
              <p:cNvSpPr>
                <a:spLocks noChangeArrowheads="1"/>
              </p:cNvSpPr>
              <p:nvPr/>
            </p:nvSpPr>
            <p:spPr bwMode="auto">
              <a:xfrm>
                <a:off x="1651" y="34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1600" b="0">
                    <a:solidFill>
                      <a:srgbClr val="000000"/>
                    </a:solidFill>
                  </a:rPr>
                  <a:t>2</a:t>
                </a:r>
                <a:endParaRPr lang="en-US" altLang="zh-TW" sz="2000"/>
              </a:p>
            </p:txBody>
          </p:sp>
          <p:sp>
            <p:nvSpPr>
              <p:cNvPr id="65558" name="Rectangle 22"/>
              <p:cNvSpPr>
                <a:spLocks noChangeArrowheads="1"/>
              </p:cNvSpPr>
              <p:nvPr/>
            </p:nvSpPr>
            <p:spPr bwMode="auto">
              <a:xfrm>
                <a:off x="1713" y="3445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1600" b="0">
                    <a:solidFill>
                      <a:srgbClr val="000000"/>
                    </a:solidFill>
                  </a:rPr>
                  <a:t>5</a:t>
                </a:r>
                <a:endParaRPr lang="en-US" altLang="zh-TW" sz="2000"/>
              </a:p>
            </p:txBody>
          </p:sp>
          <p:sp>
            <p:nvSpPr>
              <p:cNvPr id="65559" name="Line 23"/>
              <p:cNvSpPr>
                <a:spLocks noChangeShapeType="1"/>
              </p:cNvSpPr>
              <p:nvPr/>
            </p:nvSpPr>
            <p:spPr bwMode="auto">
              <a:xfrm>
                <a:off x="4937" y="3344"/>
                <a:ext cx="1" cy="82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60" name="Line 24"/>
              <p:cNvSpPr>
                <a:spLocks noChangeShapeType="1"/>
              </p:cNvSpPr>
              <p:nvPr/>
            </p:nvSpPr>
            <p:spPr bwMode="auto">
              <a:xfrm>
                <a:off x="4401" y="3344"/>
                <a:ext cx="1" cy="82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61" name="Line 25"/>
              <p:cNvSpPr>
                <a:spLocks noChangeShapeType="1"/>
              </p:cNvSpPr>
              <p:nvPr/>
            </p:nvSpPr>
            <p:spPr bwMode="auto">
              <a:xfrm>
                <a:off x="3871" y="3344"/>
                <a:ext cx="2" cy="82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62" name="Line 26"/>
              <p:cNvSpPr>
                <a:spLocks noChangeShapeType="1"/>
              </p:cNvSpPr>
              <p:nvPr/>
            </p:nvSpPr>
            <p:spPr bwMode="auto">
              <a:xfrm>
                <a:off x="3322" y="3344"/>
                <a:ext cx="1" cy="82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63" name="Line 27"/>
              <p:cNvSpPr>
                <a:spLocks noChangeShapeType="1"/>
              </p:cNvSpPr>
              <p:nvPr/>
            </p:nvSpPr>
            <p:spPr bwMode="auto">
              <a:xfrm>
                <a:off x="2786" y="3344"/>
                <a:ext cx="1" cy="82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64" name="Line 28"/>
              <p:cNvSpPr>
                <a:spLocks noChangeShapeType="1"/>
              </p:cNvSpPr>
              <p:nvPr/>
            </p:nvSpPr>
            <p:spPr bwMode="auto">
              <a:xfrm>
                <a:off x="2248" y="3344"/>
                <a:ext cx="1" cy="82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65" name="Line 29"/>
              <p:cNvSpPr>
                <a:spLocks noChangeShapeType="1"/>
              </p:cNvSpPr>
              <p:nvPr/>
            </p:nvSpPr>
            <p:spPr bwMode="auto">
              <a:xfrm>
                <a:off x="1713" y="3344"/>
                <a:ext cx="1" cy="82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66" name="Rectangle 30"/>
              <p:cNvSpPr>
                <a:spLocks noChangeArrowheads="1"/>
              </p:cNvSpPr>
              <p:nvPr/>
            </p:nvSpPr>
            <p:spPr bwMode="auto">
              <a:xfrm>
                <a:off x="1061" y="1522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1600" b="0">
                    <a:solidFill>
                      <a:srgbClr val="000000"/>
                    </a:solidFill>
                  </a:rPr>
                  <a:t>2</a:t>
                </a:r>
                <a:endParaRPr lang="en-US" altLang="zh-TW" sz="2000"/>
              </a:p>
            </p:txBody>
          </p:sp>
          <p:sp>
            <p:nvSpPr>
              <p:cNvPr id="65567" name="Rectangle 31"/>
              <p:cNvSpPr>
                <a:spLocks noChangeArrowheads="1"/>
              </p:cNvSpPr>
              <p:nvPr/>
            </p:nvSpPr>
            <p:spPr bwMode="auto">
              <a:xfrm>
                <a:off x="1123" y="1522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1600" b="0">
                    <a:solidFill>
                      <a:srgbClr val="000000"/>
                    </a:solidFill>
                  </a:rPr>
                  <a:t>0</a:t>
                </a:r>
                <a:endParaRPr lang="en-US" altLang="zh-TW" sz="2000"/>
              </a:p>
            </p:txBody>
          </p:sp>
          <p:sp>
            <p:nvSpPr>
              <p:cNvPr id="65568" name="Rectangle 32"/>
              <p:cNvSpPr>
                <a:spLocks noChangeArrowheads="1"/>
              </p:cNvSpPr>
              <p:nvPr/>
            </p:nvSpPr>
            <p:spPr bwMode="auto">
              <a:xfrm>
                <a:off x="1185" y="1522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1600" b="0">
                    <a:solidFill>
                      <a:srgbClr val="000000"/>
                    </a:solidFill>
                  </a:rPr>
                  <a:t>0</a:t>
                </a:r>
                <a:endParaRPr lang="en-US" altLang="zh-TW" sz="2000"/>
              </a:p>
            </p:txBody>
          </p:sp>
          <p:sp>
            <p:nvSpPr>
              <p:cNvPr id="65569" name="Rectangle 33"/>
              <p:cNvSpPr>
                <a:spLocks noChangeArrowheads="1"/>
              </p:cNvSpPr>
              <p:nvPr/>
            </p:nvSpPr>
            <p:spPr bwMode="auto">
              <a:xfrm>
                <a:off x="1061" y="2357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1600" b="0">
                    <a:solidFill>
                      <a:srgbClr val="000000"/>
                    </a:solidFill>
                  </a:rPr>
                  <a:t>1</a:t>
                </a:r>
                <a:endParaRPr lang="en-US" altLang="zh-TW" sz="2000"/>
              </a:p>
            </p:txBody>
          </p:sp>
          <p:sp>
            <p:nvSpPr>
              <p:cNvPr id="65570" name="Rectangle 34"/>
              <p:cNvSpPr>
                <a:spLocks noChangeArrowheads="1"/>
              </p:cNvSpPr>
              <p:nvPr/>
            </p:nvSpPr>
            <p:spPr bwMode="auto">
              <a:xfrm>
                <a:off x="1123" y="2357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1600" b="0">
                    <a:solidFill>
                      <a:srgbClr val="000000"/>
                    </a:solidFill>
                  </a:rPr>
                  <a:t>0</a:t>
                </a:r>
                <a:endParaRPr lang="en-US" altLang="zh-TW" sz="2000"/>
              </a:p>
            </p:txBody>
          </p:sp>
          <p:sp>
            <p:nvSpPr>
              <p:cNvPr id="65571" name="Rectangle 35"/>
              <p:cNvSpPr>
                <a:spLocks noChangeArrowheads="1"/>
              </p:cNvSpPr>
              <p:nvPr/>
            </p:nvSpPr>
            <p:spPr bwMode="auto">
              <a:xfrm>
                <a:off x="1185" y="2357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1600" b="0">
                    <a:solidFill>
                      <a:srgbClr val="000000"/>
                    </a:solidFill>
                  </a:rPr>
                  <a:t>0</a:t>
                </a:r>
                <a:endParaRPr lang="en-US" altLang="zh-TW" sz="2000"/>
              </a:p>
            </p:txBody>
          </p:sp>
          <p:sp>
            <p:nvSpPr>
              <p:cNvPr id="65572" name="Rectangle 36"/>
              <p:cNvSpPr>
                <a:spLocks noChangeArrowheads="1"/>
              </p:cNvSpPr>
              <p:nvPr/>
            </p:nvSpPr>
            <p:spPr bwMode="auto">
              <a:xfrm>
                <a:off x="1185" y="3192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TW" sz="1600" b="0">
                    <a:solidFill>
                      <a:srgbClr val="000000"/>
                    </a:solidFill>
                  </a:rPr>
                  <a:t>0</a:t>
                </a:r>
                <a:endParaRPr lang="en-US" altLang="zh-TW" sz="2000"/>
              </a:p>
            </p:txBody>
          </p:sp>
          <p:sp>
            <p:nvSpPr>
              <p:cNvPr id="65573" name="Line 37"/>
              <p:cNvSpPr>
                <a:spLocks noChangeShapeType="1"/>
              </p:cNvSpPr>
              <p:nvPr/>
            </p:nvSpPr>
            <p:spPr bwMode="auto">
              <a:xfrm flipH="1">
                <a:off x="1287" y="1589"/>
                <a:ext cx="9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74" name="Line 38"/>
              <p:cNvSpPr>
                <a:spLocks noChangeShapeType="1"/>
              </p:cNvSpPr>
              <p:nvPr/>
            </p:nvSpPr>
            <p:spPr bwMode="auto">
              <a:xfrm flipH="1">
                <a:off x="1287" y="2431"/>
                <a:ext cx="9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75" name="Line 39"/>
              <p:cNvSpPr>
                <a:spLocks noChangeShapeType="1"/>
              </p:cNvSpPr>
              <p:nvPr/>
            </p:nvSpPr>
            <p:spPr bwMode="auto">
              <a:xfrm flipH="1">
                <a:off x="1287" y="3266"/>
                <a:ext cx="9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79" name="Line 43"/>
              <p:cNvSpPr>
                <a:spLocks noChangeShapeType="1"/>
              </p:cNvSpPr>
              <p:nvPr/>
            </p:nvSpPr>
            <p:spPr bwMode="auto">
              <a:xfrm>
                <a:off x="1376" y="3330"/>
                <a:ext cx="385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89" name="Line 53"/>
              <p:cNvSpPr>
                <a:spLocks noChangeShapeType="1"/>
              </p:cNvSpPr>
              <p:nvPr/>
            </p:nvSpPr>
            <p:spPr bwMode="auto">
              <a:xfrm flipV="1">
                <a:off x="1380" y="1079"/>
                <a:ext cx="1" cy="225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90" name="Freeform 54"/>
              <p:cNvSpPr>
                <a:spLocks/>
              </p:cNvSpPr>
              <p:nvPr/>
            </p:nvSpPr>
            <p:spPr bwMode="auto">
              <a:xfrm>
                <a:off x="4672" y="2043"/>
                <a:ext cx="531" cy="1223"/>
              </a:xfrm>
              <a:custGeom>
                <a:avLst/>
                <a:gdLst>
                  <a:gd name="T0" fmla="*/ 0 w 444"/>
                  <a:gd name="T1" fmla="*/ 1223 h 1223"/>
                  <a:gd name="T2" fmla="*/ 444 w 444"/>
                  <a:gd name="T3" fmla="*/ 1223 h 1223"/>
                  <a:gd name="T4" fmla="*/ 444 w 444"/>
                  <a:gd name="T5" fmla="*/ 0 h 1223"/>
                  <a:gd name="T6" fmla="*/ 0 w 444"/>
                  <a:gd name="T7" fmla="*/ 0 h 1223"/>
                  <a:gd name="T8" fmla="*/ 0 w 444"/>
                  <a:gd name="T9" fmla="*/ 1223 h 1223"/>
                  <a:gd name="T10" fmla="*/ 0 w 444"/>
                  <a:gd name="T11" fmla="*/ 1223 h 1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4" h="1223">
                    <a:moveTo>
                      <a:pt x="0" y="1223"/>
                    </a:moveTo>
                    <a:lnTo>
                      <a:pt x="444" y="1223"/>
                    </a:lnTo>
                    <a:lnTo>
                      <a:pt x="444" y="0"/>
                    </a:lnTo>
                    <a:lnTo>
                      <a:pt x="0" y="0"/>
                    </a:lnTo>
                    <a:lnTo>
                      <a:pt x="0" y="1223"/>
                    </a:lnTo>
                    <a:lnTo>
                      <a:pt x="0" y="1223"/>
                    </a:lnTo>
                  </a:path>
                </a:pathLst>
              </a:custGeom>
              <a:solidFill>
                <a:srgbClr val="CCCCFF"/>
              </a:solidFill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91" name="Freeform 55"/>
              <p:cNvSpPr>
                <a:spLocks/>
              </p:cNvSpPr>
              <p:nvPr/>
            </p:nvSpPr>
            <p:spPr bwMode="auto">
              <a:xfrm>
                <a:off x="4130" y="1267"/>
                <a:ext cx="542" cy="1999"/>
              </a:xfrm>
              <a:custGeom>
                <a:avLst/>
                <a:gdLst>
                  <a:gd name="T0" fmla="*/ 0 w 454"/>
                  <a:gd name="T1" fmla="*/ 1999 h 1999"/>
                  <a:gd name="T2" fmla="*/ 454 w 454"/>
                  <a:gd name="T3" fmla="*/ 1999 h 1999"/>
                  <a:gd name="T4" fmla="*/ 454 w 454"/>
                  <a:gd name="T5" fmla="*/ 0 h 1999"/>
                  <a:gd name="T6" fmla="*/ 0 w 454"/>
                  <a:gd name="T7" fmla="*/ 0 h 1999"/>
                  <a:gd name="T8" fmla="*/ 0 w 454"/>
                  <a:gd name="T9" fmla="*/ 1999 h 1999"/>
                  <a:gd name="T10" fmla="*/ 0 w 454"/>
                  <a:gd name="T11" fmla="*/ 1999 h 19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4" h="1999">
                    <a:moveTo>
                      <a:pt x="0" y="1999"/>
                    </a:moveTo>
                    <a:lnTo>
                      <a:pt x="454" y="1999"/>
                    </a:lnTo>
                    <a:lnTo>
                      <a:pt x="454" y="0"/>
                    </a:lnTo>
                    <a:lnTo>
                      <a:pt x="0" y="0"/>
                    </a:lnTo>
                    <a:lnTo>
                      <a:pt x="0" y="1999"/>
                    </a:lnTo>
                    <a:lnTo>
                      <a:pt x="0" y="1999"/>
                    </a:lnTo>
                  </a:path>
                </a:pathLst>
              </a:custGeom>
              <a:solidFill>
                <a:srgbClr val="CCCCFF"/>
              </a:solidFill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92" name="Freeform 56"/>
              <p:cNvSpPr>
                <a:spLocks/>
              </p:cNvSpPr>
              <p:nvPr/>
            </p:nvSpPr>
            <p:spPr bwMode="auto">
              <a:xfrm>
                <a:off x="3600" y="1149"/>
                <a:ext cx="530" cy="2117"/>
              </a:xfrm>
              <a:custGeom>
                <a:avLst/>
                <a:gdLst>
                  <a:gd name="T0" fmla="*/ 0 w 443"/>
                  <a:gd name="T1" fmla="*/ 2117 h 2117"/>
                  <a:gd name="T2" fmla="*/ 443 w 443"/>
                  <a:gd name="T3" fmla="*/ 2117 h 2117"/>
                  <a:gd name="T4" fmla="*/ 443 w 443"/>
                  <a:gd name="T5" fmla="*/ 0 h 2117"/>
                  <a:gd name="T6" fmla="*/ 0 w 443"/>
                  <a:gd name="T7" fmla="*/ 0 h 2117"/>
                  <a:gd name="T8" fmla="*/ 0 w 443"/>
                  <a:gd name="T9" fmla="*/ 2117 h 2117"/>
                  <a:gd name="T10" fmla="*/ 0 w 443"/>
                  <a:gd name="T11" fmla="*/ 2117 h 2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3" h="2117">
                    <a:moveTo>
                      <a:pt x="0" y="2117"/>
                    </a:moveTo>
                    <a:lnTo>
                      <a:pt x="443" y="2117"/>
                    </a:lnTo>
                    <a:lnTo>
                      <a:pt x="443" y="0"/>
                    </a:lnTo>
                    <a:lnTo>
                      <a:pt x="0" y="0"/>
                    </a:lnTo>
                    <a:lnTo>
                      <a:pt x="0" y="2117"/>
                    </a:lnTo>
                    <a:lnTo>
                      <a:pt x="0" y="2117"/>
                    </a:lnTo>
                  </a:path>
                </a:pathLst>
              </a:custGeom>
              <a:solidFill>
                <a:srgbClr val="CCCCFF"/>
              </a:solidFill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93" name="Freeform 57"/>
              <p:cNvSpPr>
                <a:spLocks/>
              </p:cNvSpPr>
              <p:nvPr/>
            </p:nvSpPr>
            <p:spPr bwMode="auto">
              <a:xfrm>
                <a:off x="3057" y="1714"/>
                <a:ext cx="543" cy="1552"/>
              </a:xfrm>
              <a:custGeom>
                <a:avLst/>
                <a:gdLst>
                  <a:gd name="T0" fmla="*/ 0 w 454"/>
                  <a:gd name="T1" fmla="*/ 1552 h 1552"/>
                  <a:gd name="T2" fmla="*/ 454 w 454"/>
                  <a:gd name="T3" fmla="*/ 1552 h 1552"/>
                  <a:gd name="T4" fmla="*/ 454 w 454"/>
                  <a:gd name="T5" fmla="*/ 0 h 1552"/>
                  <a:gd name="T6" fmla="*/ 0 w 454"/>
                  <a:gd name="T7" fmla="*/ 0 h 1552"/>
                  <a:gd name="T8" fmla="*/ 0 w 454"/>
                  <a:gd name="T9" fmla="*/ 1552 h 1552"/>
                  <a:gd name="T10" fmla="*/ 0 w 454"/>
                  <a:gd name="T11" fmla="*/ 1552 h 15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4" h="1552">
                    <a:moveTo>
                      <a:pt x="0" y="1552"/>
                    </a:moveTo>
                    <a:lnTo>
                      <a:pt x="454" y="1552"/>
                    </a:lnTo>
                    <a:lnTo>
                      <a:pt x="454" y="0"/>
                    </a:lnTo>
                    <a:lnTo>
                      <a:pt x="0" y="0"/>
                    </a:lnTo>
                    <a:lnTo>
                      <a:pt x="0" y="1552"/>
                    </a:lnTo>
                    <a:lnTo>
                      <a:pt x="0" y="1552"/>
                    </a:lnTo>
                  </a:path>
                </a:pathLst>
              </a:custGeom>
              <a:solidFill>
                <a:srgbClr val="CCCCFF"/>
              </a:solidFill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94" name="Freeform 58"/>
              <p:cNvSpPr>
                <a:spLocks/>
              </p:cNvSpPr>
              <p:nvPr/>
            </p:nvSpPr>
            <p:spPr bwMode="auto">
              <a:xfrm>
                <a:off x="2526" y="2631"/>
                <a:ext cx="531" cy="635"/>
              </a:xfrm>
              <a:custGeom>
                <a:avLst/>
                <a:gdLst>
                  <a:gd name="T0" fmla="*/ 0 w 444"/>
                  <a:gd name="T1" fmla="*/ 635 h 635"/>
                  <a:gd name="T2" fmla="*/ 444 w 444"/>
                  <a:gd name="T3" fmla="*/ 635 h 635"/>
                  <a:gd name="T4" fmla="*/ 444 w 444"/>
                  <a:gd name="T5" fmla="*/ 0 h 635"/>
                  <a:gd name="T6" fmla="*/ 0 w 444"/>
                  <a:gd name="T7" fmla="*/ 0 h 635"/>
                  <a:gd name="T8" fmla="*/ 0 w 444"/>
                  <a:gd name="T9" fmla="*/ 635 h 635"/>
                  <a:gd name="T10" fmla="*/ 0 w 444"/>
                  <a:gd name="T11" fmla="*/ 635 h 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4" h="635">
                    <a:moveTo>
                      <a:pt x="0" y="635"/>
                    </a:moveTo>
                    <a:lnTo>
                      <a:pt x="444" y="635"/>
                    </a:lnTo>
                    <a:lnTo>
                      <a:pt x="444" y="0"/>
                    </a:lnTo>
                    <a:lnTo>
                      <a:pt x="0" y="0"/>
                    </a:lnTo>
                    <a:lnTo>
                      <a:pt x="0" y="635"/>
                    </a:lnTo>
                    <a:lnTo>
                      <a:pt x="0" y="635"/>
                    </a:lnTo>
                  </a:path>
                </a:pathLst>
              </a:custGeom>
              <a:solidFill>
                <a:srgbClr val="CCCCFF"/>
              </a:solidFill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95" name="Freeform 59"/>
              <p:cNvSpPr>
                <a:spLocks/>
              </p:cNvSpPr>
              <p:nvPr/>
            </p:nvSpPr>
            <p:spPr bwMode="auto">
              <a:xfrm>
                <a:off x="1985" y="2784"/>
                <a:ext cx="541" cy="482"/>
              </a:xfrm>
              <a:custGeom>
                <a:avLst/>
                <a:gdLst>
                  <a:gd name="T0" fmla="*/ 0 w 453"/>
                  <a:gd name="T1" fmla="*/ 482 h 482"/>
                  <a:gd name="T2" fmla="*/ 453 w 453"/>
                  <a:gd name="T3" fmla="*/ 482 h 482"/>
                  <a:gd name="T4" fmla="*/ 453 w 453"/>
                  <a:gd name="T5" fmla="*/ 0 h 482"/>
                  <a:gd name="T6" fmla="*/ 0 w 453"/>
                  <a:gd name="T7" fmla="*/ 0 h 482"/>
                  <a:gd name="T8" fmla="*/ 0 w 453"/>
                  <a:gd name="T9" fmla="*/ 482 h 482"/>
                  <a:gd name="T10" fmla="*/ 0 w 453"/>
                  <a:gd name="T11" fmla="*/ 482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3" h="482">
                    <a:moveTo>
                      <a:pt x="0" y="482"/>
                    </a:moveTo>
                    <a:lnTo>
                      <a:pt x="453" y="482"/>
                    </a:lnTo>
                    <a:lnTo>
                      <a:pt x="453" y="0"/>
                    </a:lnTo>
                    <a:lnTo>
                      <a:pt x="0" y="0"/>
                    </a:lnTo>
                    <a:lnTo>
                      <a:pt x="0" y="482"/>
                    </a:lnTo>
                    <a:lnTo>
                      <a:pt x="0" y="482"/>
                    </a:lnTo>
                  </a:path>
                </a:pathLst>
              </a:custGeom>
              <a:solidFill>
                <a:srgbClr val="CCCCFF"/>
              </a:solidFill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96" name="Freeform 60"/>
              <p:cNvSpPr>
                <a:spLocks/>
              </p:cNvSpPr>
              <p:nvPr/>
            </p:nvSpPr>
            <p:spPr bwMode="auto">
              <a:xfrm>
                <a:off x="1454" y="2984"/>
                <a:ext cx="531" cy="282"/>
              </a:xfrm>
              <a:custGeom>
                <a:avLst/>
                <a:gdLst>
                  <a:gd name="T0" fmla="*/ 0 w 444"/>
                  <a:gd name="T1" fmla="*/ 282 h 282"/>
                  <a:gd name="T2" fmla="*/ 444 w 444"/>
                  <a:gd name="T3" fmla="*/ 282 h 282"/>
                  <a:gd name="T4" fmla="*/ 444 w 444"/>
                  <a:gd name="T5" fmla="*/ 0 h 282"/>
                  <a:gd name="T6" fmla="*/ 0 w 444"/>
                  <a:gd name="T7" fmla="*/ 0 h 282"/>
                  <a:gd name="T8" fmla="*/ 0 w 444"/>
                  <a:gd name="T9" fmla="*/ 282 h 282"/>
                  <a:gd name="T10" fmla="*/ 0 w 444"/>
                  <a:gd name="T11" fmla="*/ 28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4" h="282">
                    <a:moveTo>
                      <a:pt x="0" y="282"/>
                    </a:moveTo>
                    <a:lnTo>
                      <a:pt x="444" y="282"/>
                    </a:lnTo>
                    <a:lnTo>
                      <a:pt x="444" y="0"/>
                    </a:lnTo>
                    <a:lnTo>
                      <a:pt x="0" y="0"/>
                    </a:lnTo>
                    <a:lnTo>
                      <a:pt x="0" y="282"/>
                    </a:lnTo>
                    <a:lnTo>
                      <a:pt x="0" y="282"/>
                    </a:lnTo>
                  </a:path>
                </a:pathLst>
              </a:custGeom>
              <a:solidFill>
                <a:srgbClr val="CCCCFF"/>
              </a:solidFill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65598" name="Text Box 62"/>
              <p:cNvSpPr txBox="1">
                <a:spLocks noChangeArrowheads="1"/>
              </p:cNvSpPr>
              <p:nvPr/>
            </p:nvSpPr>
            <p:spPr bwMode="auto">
              <a:xfrm>
                <a:off x="288" y="2130"/>
                <a:ext cx="69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TW" sz="1600">
                    <a:latin typeface="Times New Roman" charset="0"/>
                  </a:rPr>
                  <a:t>Frequency</a:t>
                </a:r>
                <a:endParaRPr lang="en-US" altLang="zh-TW" sz="1400"/>
              </a:p>
            </p:txBody>
          </p:sp>
          <p:sp>
            <p:nvSpPr>
              <p:cNvPr id="65599" name="Text Box 63"/>
              <p:cNvSpPr txBox="1">
                <a:spLocks noChangeArrowheads="1"/>
              </p:cNvSpPr>
              <p:nvPr/>
            </p:nvSpPr>
            <p:spPr bwMode="auto">
              <a:xfrm>
                <a:off x="1392" y="3648"/>
                <a:ext cx="384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TW" sz="1600">
                    <a:latin typeface="Times New Roman" charset="0"/>
                  </a:rPr>
                  <a:t>Age</a:t>
                </a:r>
                <a:endParaRPr lang="en-US" altLang="zh-TW" sz="1400"/>
              </a:p>
            </p:txBody>
          </p:sp>
        </p:grpSp>
        <p:sp>
          <p:nvSpPr>
            <p:cNvPr id="65606" name="Rectangle 70"/>
            <p:cNvSpPr>
              <a:spLocks noChangeArrowheads="1"/>
            </p:cNvSpPr>
            <p:nvPr/>
          </p:nvSpPr>
          <p:spPr bwMode="auto">
            <a:xfrm>
              <a:off x="1376" y="829"/>
              <a:ext cx="382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TW" sz="2000" i="1" dirty="0">
                  <a:solidFill>
                    <a:srgbClr val="666699"/>
                  </a:solidFill>
                  <a:latin typeface="Times New Roman" charset="0"/>
                </a:rPr>
                <a:t>Roman Catholic </a:t>
              </a:r>
              <a:r>
                <a:rPr lang="en-US" altLang="zh-TW" sz="2000" i="1" dirty="0" smtClean="0">
                  <a:solidFill>
                    <a:srgbClr val="666699"/>
                  </a:solidFill>
                  <a:latin typeface="Times New Roman" charset="0"/>
                </a:rPr>
                <a:t>Staff</a:t>
              </a:r>
              <a:endParaRPr lang="en-US" altLang="zh-TW" sz="2000" i="1" dirty="0">
                <a:solidFill>
                  <a:srgbClr val="666699"/>
                </a:solidFill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75228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ChangeArrowheads="1"/>
          </p:cNvSpPr>
          <p:nvPr/>
        </p:nvSpPr>
        <p:spPr bwMode="auto">
          <a:xfrm>
            <a:off x="304800" y="1247775"/>
            <a:ext cx="83820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458788" indent="-458788">
              <a:spcBef>
                <a:spcPct val="25000"/>
              </a:spcBef>
              <a:buSzPct val="75000"/>
              <a:buFont typeface="Wingdings" charset="0"/>
              <a:buChar char="è"/>
            </a:pPr>
            <a:r>
              <a:rPr lang="en-US" altLang="zh-TW" sz="2600" b="0">
                <a:latin typeface="Calibri"/>
                <a:cs typeface="Calibri"/>
              </a:rPr>
              <a:t>The </a:t>
            </a:r>
            <a:r>
              <a:rPr lang="en-US" altLang="zh-TW" sz="2600" b="0" i="1">
                <a:solidFill>
                  <a:srgbClr val="CC0000"/>
                </a:solidFill>
                <a:latin typeface="Calibri"/>
                <a:cs typeface="Calibri"/>
              </a:rPr>
              <a:t>mode</a:t>
            </a:r>
            <a:r>
              <a:rPr lang="en-US" altLang="zh-TW" sz="2600" b="0">
                <a:latin typeface="Calibri"/>
                <a:cs typeface="Calibri"/>
              </a:rPr>
              <a:t> is the value that occurs with greatest frequency (discussed in Section 2.3)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TW"/>
              <a:t>Important Reminders</a:t>
            </a:r>
            <a:endParaRPr lang="en-US" altLang="zh-TW" sz="3800"/>
          </a:p>
        </p:txBody>
      </p:sp>
      <p:sp>
        <p:nvSpPr>
          <p:cNvPr id="67591" name="Rectangle 7"/>
          <p:cNvSpPr>
            <a:spLocks noChangeArrowheads="1"/>
          </p:cNvSpPr>
          <p:nvPr/>
        </p:nvSpPr>
        <p:spPr bwMode="auto">
          <a:xfrm>
            <a:off x="304800" y="2133600"/>
            <a:ext cx="8382000" cy="98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458788" indent="-458788">
              <a:spcBef>
                <a:spcPct val="25000"/>
              </a:spcBef>
              <a:buSzPct val="75000"/>
              <a:buFont typeface="Wingdings" charset="0"/>
              <a:buChar char="è"/>
            </a:pPr>
            <a:endParaRPr lang="en-US" altLang="zh-TW" sz="2600" b="0">
              <a:latin typeface="Calibri"/>
              <a:cs typeface="Calibri"/>
            </a:endParaRPr>
          </a:p>
          <a:p>
            <a:pPr marL="458788" indent="-458788">
              <a:spcBef>
                <a:spcPct val="25000"/>
              </a:spcBef>
              <a:buSzPct val="75000"/>
              <a:buFont typeface="Wingdings" charset="0"/>
              <a:buChar char="è"/>
            </a:pPr>
            <a:r>
              <a:rPr lang="en-US" altLang="zh-TW" sz="2600" b="0">
                <a:latin typeface="Calibri"/>
                <a:cs typeface="Calibri"/>
              </a:rPr>
              <a:t>The</a:t>
            </a:r>
            <a:r>
              <a:rPr lang="en-US" altLang="zh-TW" sz="2600" i="1">
                <a:solidFill>
                  <a:srgbClr val="666699"/>
                </a:solidFill>
                <a:latin typeface="Calibri"/>
                <a:cs typeface="Calibri"/>
              </a:rPr>
              <a:t> </a:t>
            </a:r>
            <a:r>
              <a:rPr lang="en-US" altLang="zh-TW" sz="2600" b="0" i="1">
                <a:solidFill>
                  <a:srgbClr val="CC0000"/>
                </a:solidFill>
                <a:latin typeface="Calibri"/>
                <a:cs typeface="Calibri"/>
              </a:rPr>
              <a:t>modal class</a:t>
            </a:r>
            <a:r>
              <a:rPr lang="en-US" altLang="zh-TW" sz="2600" b="0">
                <a:latin typeface="Calibri"/>
                <a:cs typeface="Calibri"/>
              </a:rPr>
              <a:t> is the class with the greatest frequency</a:t>
            </a:r>
          </a:p>
        </p:txBody>
      </p:sp>
      <p:sp>
        <p:nvSpPr>
          <p:cNvPr id="67592" name="Rectangle 8"/>
          <p:cNvSpPr>
            <a:spLocks noChangeArrowheads="1"/>
          </p:cNvSpPr>
          <p:nvPr/>
        </p:nvSpPr>
        <p:spPr bwMode="auto">
          <a:xfrm>
            <a:off x="304800" y="3124200"/>
            <a:ext cx="8382000" cy="1382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458788" indent="-458788">
              <a:spcBef>
                <a:spcPct val="25000"/>
              </a:spcBef>
              <a:buSzPct val="75000"/>
              <a:buFont typeface="Wingdings" charset="0"/>
              <a:buChar char="è"/>
            </a:pPr>
            <a:endParaRPr lang="en-US" altLang="zh-TW" sz="2600" b="0" dirty="0">
              <a:latin typeface="Calibri"/>
              <a:cs typeface="Calibri"/>
            </a:endParaRPr>
          </a:p>
          <a:p>
            <a:pPr marL="458788" indent="-458788">
              <a:spcBef>
                <a:spcPct val="25000"/>
              </a:spcBef>
              <a:buSzPct val="75000"/>
              <a:buFont typeface="Wingdings" charset="0"/>
              <a:buChar char="è"/>
            </a:pPr>
            <a:r>
              <a:rPr lang="en-US" altLang="zh-TW" sz="2600" b="0" dirty="0">
                <a:latin typeface="Calibri"/>
                <a:cs typeface="Calibri"/>
              </a:rPr>
              <a:t>A </a:t>
            </a:r>
            <a:r>
              <a:rPr lang="en-US" altLang="zh-TW" sz="2600" b="0" i="1" dirty="0">
                <a:solidFill>
                  <a:srgbClr val="CC0000"/>
                </a:solidFill>
                <a:latin typeface="Calibri"/>
                <a:cs typeface="Calibri"/>
              </a:rPr>
              <a:t>bimodal distribution</a:t>
            </a:r>
            <a:r>
              <a:rPr lang="en-US" altLang="zh-TW" sz="2600" b="0" dirty="0">
                <a:latin typeface="Calibri"/>
                <a:cs typeface="Calibri"/>
              </a:rPr>
              <a:t> has two high-frequency classes separated by classes with lower frequencies</a:t>
            </a:r>
          </a:p>
        </p:txBody>
      </p:sp>
      <p:sp>
        <p:nvSpPr>
          <p:cNvPr id="67593" name="Rectangle 9"/>
          <p:cNvSpPr>
            <a:spLocks noChangeArrowheads="1"/>
          </p:cNvSpPr>
          <p:nvPr/>
        </p:nvSpPr>
        <p:spPr bwMode="auto">
          <a:xfrm>
            <a:off x="304800" y="4468813"/>
            <a:ext cx="8382000" cy="177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458788" indent="-458788">
              <a:spcBef>
                <a:spcPct val="25000"/>
              </a:spcBef>
              <a:buSzPct val="75000"/>
              <a:buFont typeface="Wingdings" charset="0"/>
              <a:buChar char="è"/>
            </a:pPr>
            <a:endParaRPr lang="en-US" altLang="zh-TW" sz="2600" b="0" dirty="0">
              <a:latin typeface="Calibri"/>
              <a:cs typeface="Calibri"/>
            </a:endParaRPr>
          </a:p>
          <a:p>
            <a:pPr marL="458788" indent="-458788">
              <a:spcBef>
                <a:spcPct val="25000"/>
              </a:spcBef>
              <a:buSzPct val="75000"/>
              <a:buFont typeface="Wingdings" charset="0"/>
              <a:buChar char="è"/>
            </a:pPr>
            <a:r>
              <a:rPr lang="en-US" altLang="zh-TW" sz="2600" b="0" dirty="0">
                <a:latin typeface="Calibri"/>
                <a:cs typeface="Calibri"/>
              </a:rPr>
              <a:t>Graphical representations of data should include a descriptive, meaningful title and proper identification of the vertical and horizontal scales</a:t>
            </a:r>
          </a:p>
        </p:txBody>
      </p:sp>
    </p:spTree>
    <p:extLst>
      <p:ext uri="{BB962C8B-B14F-4D97-AF65-F5344CB8AC3E}">
        <p14:creationId xmlns:p14="http://schemas.microsoft.com/office/powerpoint/2010/main" val="6732660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Cumulative Frequency Distribution</a:t>
            </a:r>
          </a:p>
        </p:txBody>
      </p:sp>
      <p:sp>
        <p:nvSpPr>
          <p:cNvPr id="68613" name="Rectangle 5"/>
          <p:cNvSpPr>
            <a:spLocks noChangeArrowheads="1"/>
          </p:cNvSpPr>
          <p:nvPr/>
        </p:nvSpPr>
        <p:spPr bwMode="auto">
          <a:xfrm>
            <a:off x="228600" y="1143000"/>
            <a:ext cx="8610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95000"/>
              </a:lnSpc>
              <a:spcBef>
                <a:spcPct val="40000"/>
              </a:spcBef>
            </a:pPr>
            <a:r>
              <a:rPr lang="en-US" altLang="zh-TW" sz="2800" u="sng" dirty="0">
                <a:solidFill>
                  <a:srgbClr val="666699"/>
                </a:solidFill>
                <a:latin typeface="Calibri"/>
                <a:cs typeface="Calibri"/>
              </a:rPr>
              <a:t>Cumulative Frequency Distribution</a:t>
            </a:r>
            <a:r>
              <a:rPr lang="en-US" altLang="zh-TW" sz="2800" dirty="0">
                <a:solidFill>
                  <a:srgbClr val="666699"/>
                </a:solidFill>
                <a:latin typeface="Calibri"/>
                <a:cs typeface="Calibri"/>
              </a:rPr>
              <a:t>:  </a:t>
            </a:r>
            <a:r>
              <a:rPr lang="en-US" altLang="zh-TW" sz="3200" b="0" dirty="0">
                <a:latin typeface="Calibri"/>
                <a:cs typeface="Calibri"/>
              </a:rPr>
              <a:t>A frequency distribution that pairs cumulative frequencies with values of the variable</a:t>
            </a:r>
          </a:p>
        </p:txBody>
      </p:sp>
      <p:sp>
        <p:nvSpPr>
          <p:cNvPr id="68614" name="Rectangle 6"/>
          <p:cNvSpPr>
            <a:spLocks noChangeArrowheads="1"/>
          </p:cNvSpPr>
          <p:nvPr/>
        </p:nvSpPr>
        <p:spPr bwMode="auto">
          <a:xfrm>
            <a:off x="228600" y="3048000"/>
            <a:ext cx="8610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1313" indent="-341313">
              <a:lnSpc>
                <a:spcPct val="95000"/>
              </a:lnSpc>
              <a:spcBef>
                <a:spcPct val="40000"/>
              </a:spcBef>
              <a:buFontTx/>
              <a:buChar char="•"/>
            </a:pPr>
            <a:r>
              <a:rPr lang="en-US" altLang="zh-TW" sz="2800" b="0">
                <a:latin typeface="Calibri"/>
                <a:cs typeface="Calibri"/>
              </a:rPr>
              <a:t>The </a:t>
            </a:r>
            <a:r>
              <a:rPr lang="en-US" altLang="zh-TW" sz="2800" b="0" i="1">
                <a:solidFill>
                  <a:srgbClr val="CC0000"/>
                </a:solidFill>
                <a:latin typeface="Calibri"/>
                <a:cs typeface="Calibri"/>
              </a:rPr>
              <a:t>cumulative frequency</a:t>
            </a:r>
            <a:r>
              <a:rPr lang="en-US" altLang="zh-TW" sz="2800" b="0">
                <a:latin typeface="Calibri"/>
                <a:cs typeface="Calibri"/>
              </a:rPr>
              <a:t> for any given class is the sum of the frequency for that class and the frequencies of all classes of smaller values</a:t>
            </a:r>
          </a:p>
        </p:txBody>
      </p:sp>
      <p:sp>
        <p:nvSpPr>
          <p:cNvPr id="68615" name="Rectangle 7"/>
          <p:cNvSpPr>
            <a:spLocks noChangeArrowheads="1"/>
          </p:cNvSpPr>
          <p:nvPr/>
        </p:nvSpPr>
        <p:spPr bwMode="auto">
          <a:xfrm>
            <a:off x="228600" y="4800600"/>
            <a:ext cx="8610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1313" indent="-341313">
              <a:lnSpc>
                <a:spcPct val="95000"/>
              </a:lnSpc>
              <a:spcBef>
                <a:spcPct val="40000"/>
              </a:spcBef>
              <a:buFontTx/>
              <a:buChar char="•"/>
            </a:pPr>
            <a:r>
              <a:rPr lang="en-US" altLang="zh-TW" sz="2800" b="0">
                <a:latin typeface="Calibri"/>
                <a:cs typeface="Calibri"/>
              </a:rPr>
              <a:t>The </a:t>
            </a:r>
            <a:r>
              <a:rPr lang="en-US" altLang="zh-TW" sz="2800" b="0" i="1">
                <a:solidFill>
                  <a:srgbClr val="CC0000"/>
                </a:solidFill>
                <a:latin typeface="Calibri"/>
                <a:cs typeface="Calibri"/>
              </a:rPr>
              <a:t>cumulative relative frequency</a:t>
            </a:r>
            <a:r>
              <a:rPr lang="en-US" altLang="zh-TW" sz="2800" b="0">
                <a:latin typeface="Calibri"/>
                <a:cs typeface="Calibri"/>
              </a:rPr>
              <a:t> for any given class is the sum of the relative frequency for that class and the relative frequencies of all classes of smaller values</a:t>
            </a:r>
          </a:p>
        </p:txBody>
      </p:sp>
    </p:spTree>
    <p:extLst>
      <p:ext uri="{BB962C8B-B14F-4D97-AF65-F5344CB8AC3E}">
        <p14:creationId xmlns:p14="http://schemas.microsoft.com/office/powerpoint/2010/main" val="1675304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38200" y="2362200"/>
            <a:ext cx="7772400" cy="3810000"/>
          </a:xfrm>
          <a:noFill/>
          <a:ln/>
        </p:spPr>
        <p:txBody>
          <a:bodyPr lIns="92075" tIns="46038" rIns="92075" bIns="46038">
            <a:normAutofit lnSpcReduction="10000"/>
          </a:bodyPr>
          <a:lstStyle/>
          <a:p>
            <a:pPr marL="0" indent="0">
              <a:lnSpc>
                <a:spcPct val="110000"/>
              </a:lnSpc>
              <a:buFontTx/>
              <a:buNone/>
              <a:tabLst>
                <a:tab pos="1311275" algn="l"/>
                <a:tab pos="1941513" algn="r"/>
                <a:tab pos="2570163" algn="l"/>
                <a:tab pos="3375025" algn="r"/>
                <a:tab pos="4060825" algn="l"/>
                <a:tab pos="4745038" algn="r"/>
                <a:tab pos="5607050" algn="l"/>
                <a:tab pos="6573838" algn="r"/>
              </a:tabLst>
            </a:pPr>
            <a:r>
              <a:rPr lang="en-US" altLang="zh-TW" sz="2000"/>
              <a:t> </a:t>
            </a:r>
            <a:r>
              <a:rPr lang="en-US" altLang="zh-TW" sz="2000">
                <a:solidFill>
                  <a:srgbClr val="666699"/>
                </a:solidFill>
              </a:rPr>
              <a:t>    </a:t>
            </a:r>
            <a:r>
              <a:rPr lang="en-US" altLang="zh-TW" sz="2000"/>
              <a:t>Class			  Relative        Cumulative	  Cumulative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Tx/>
              <a:buNone/>
              <a:tabLst>
                <a:tab pos="1311275" algn="l"/>
                <a:tab pos="1941513" algn="r"/>
                <a:tab pos="2570163" algn="l"/>
                <a:tab pos="3375025" algn="r"/>
                <a:tab pos="4060825" algn="l"/>
                <a:tab pos="4745038" algn="r"/>
                <a:tab pos="5607050" algn="l"/>
                <a:tab pos="6573838" algn="r"/>
              </a:tabLst>
            </a:pPr>
            <a:r>
              <a:rPr lang="en-US" altLang="zh-TW" sz="2000"/>
              <a:t>Boundaries	Frequency	 Frequency	 Frequency	Rel. Frequency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Tx/>
              <a:buNone/>
              <a:tabLst>
                <a:tab pos="1311275" algn="l"/>
                <a:tab pos="1941513" algn="r"/>
                <a:tab pos="2570163" algn="l"/>
                <a:tab pos="3375025" algn="r"/>
                <a:tab pos="4060825" algn="l"/>
                <a:tab pos="4745038" algn="r"/>
                <a:tab pos="5607050" algn="l"/>
                <a:tab pos="6573838" algn="r"/>
              </a:tabLst>
            </a:pPr>
            <a:r>
              <a:rPr lang="en-US" altLang="zh-TW" sz="2000"/>
              <a:t>-------------------------------------------------------------------------------------</a:t>
            </a:r>
          </a:p>
          <a:p>
            <a:pPr marL="0" indent="0">
              <a:lnSpc>
                <a:spcPct val="110000"/>
              </a:lnSpc>
              <a:buFontTx/>
              <a:buNone/>
              <a:tabLst>
                <a:tab pos="1311275" algn="l"/>
                <a:tab pos="1941513" algn="r"/>
                <a:tab pos="2570163" algn="l"/>
                <a:tab pos="3375025" algn="r"/>
                <a:tab pos="4060825" algn="l"/>
                <a:tab pos="4745038" algn="r"/>
                <a:tab pos="5607050" algn="l"/>
                <a:tab pos="6573838" algn="r"/>
              </a:tabLst>
            </a:pPr>
            <a:r>
              <a:rPr lang="en-US" altLang="zh-TW" sz="2000"/>
              <a:t>0 up to 4		4		0.08		4		0.08</a:t>
            </a:r>
          </a:p>
          <a:p>
            <a:pPr marL="0" indent="0">
              <a:lnSpc>
                <a:spcPct val="110000"/>
              </a:lnSpc>
              <a:buFontTx/>
              <a:buNone/>
              <a:tabLst>
                <a:tab pos="1311275" algn="l"/>
                <a:tab pos="1941513" algn="r"/>
                <a:tab pos="2570163" algn="l"/>
                <a:tab pos="3375025" algn="r"/>
                <a:tab pos="4060825" algn="l"/>
                <a:tab pos="4745038" algn="r"/>
                <a:tab pos="5607050" algn="l"/>
                <a:tab pos="6573838" algn="r"/>
              </a:tabLst>
            </a:pPr>
            <a:r>
              <a:rPr lang="en-US" altLang="zh-TW" sz="2000"/>
              <a:t>4 up to 8		8		0.16		12		0.24</a:t>
            </a:r>
          </a:p>
          <a:p>
            <a:pPr marL="0" indent="0">
              <a:lnSpc>
                <a:spcPct val="110000"/>
              </a:lnSpc>
              <a:buFontTx/>
              <a:buNone/>
              <a:tabLst>
                <a:tab pos="1311275" algn="l"/>
                <a:tab pos="1941513" algn="r"/>
                <a:tab pos="2570163" algn="l"/>
                <a:tab pos="3375025" algn="r"/>
                <a:tab pos="4060825" algn="l"/>
                <a:tab pos="4745038" algn="r"/>
                <a:tab pos="5607050" algn="l"/>
                <a:tab pos="6573838" algn="r"/>
              </a:tabLst>
            </a:pPr>
            <a:r>
              <a:rPr lang="en-US" altLang="zh-TW" sz="2000"/>
              <a:t>8 up to 12		8		0.16		20		0.40</a:t>
            </a:r>
          </a:p>
          <a:p>
            <a:pPr marL="0" indent="0">
              <a:lnSpc>
                <a:spcPct val="110000"/>
              </a:lnSpc>
              <a:buFontTx/>
              <a:buNone/>
              <a:tabLst>
                <a:tab pos="1311275" algn="l"/>
                <a:tab pos="1941513" algn="r"/>
                <a:tab pos="2570163" algn="l"/>
                <a:tab pos="3375025" algn="r"/>
                <a:tab pos="4060825" algn="l"/>
                <a:tab pos="4745038" algn="r"/>
                <a:tab pos="5607050" algn="l"/>
                <a:tab pos="6573838" algn="r"/>
              </a:tabLst>
            </a:pPr>
            <a:r>
              <a:rPr lang="en-US" altLang="zh-TW" sz="2000"/>
              <a:t>12 up to 16		20		0.40		40		0.80</a:t>
            </a:r>
          </a:p>
          <a:p>
            <a:pPr marL="0" indent="0">
              <a:lnSpc>
                <a:spcPct val="110000"/>
              </a:lnSpc>
              <a:buFontTx/>
              <a:buNone/>
              <a:tabLst>
                <a:tab pos="1311275" algn="l"/>
                <a:tab pos="1941513" algn="r"/>
                <a:tab pos="2570163" algn="l"/>
                <a:tab pos="3375025" algn="r"/>
                <a:tab pos="4060825" algn="l"/>
                <a:tab pos="4745038" algn="r"/>
                <a:tab pos="5607050" algn="l"/>
                <a:tab pos="6573838" algn="r"/>
              </a:tabLst>
            </a:pPr>
            <a:r>
              <a:rPr lang="en-US" altLang="zh-TW" sz="2000"/>
              <a:t>16 up to 20		6		0.12		46		0.92</a:t>
            </a:r>
          </a:p>
          <a:p>
            <a:pPr marL="0" indent="0">
              <a:lnSpc>
                <a:spcPct val="110000"/>
              </a:lnSpc>
              <a:buFontTx/>
              <a:buNone/>
              <a:tabLst>
                <a:tab pos="1311275" algn="l"/>
                <a:tab pos="1941513" algn="r"/>
                <a:tab pos="2570163" algn="l"/>
                <a:tab pos="3375025" algn="r"/>
                <a:tab pos="4060825" algn="l"/>
                <a:tab pos="4745038" algn="r"/>
                <a:tab pos="5607050" algn="l"/>
                <a:tab pos="6573838" algn="r"/>
              </a:tabLst>
            </a:pPr>
            <a:r>
              <a:rPr lang="en-US" altLang="zh-TW" sz="2000"/>
              <a:t>20 up to 24		3		0.06		49		0.98</a:t>
            </a:r>
          </a:p>
          <a:p>
            <a:pPr marL="0" indent="0">
              <a:lnSpc>
                <a:spcPct val="110000"/>
              </a:lnSpc>
              <a:buFontTx/>
              <a:buNone/>
              <a:tabLst>
                <a:tab pos="1311275" algn="l"/>
                <a:tab pos="1941513" algn="r"/>
                <a:tab pos="2570163" algn="l"/>
                <a:tab pos="3375025" algn="r"/>
                <a:tab pos="4060825" algn="l"/>
                <a:tab pos="4745038" algn="r"/>
                <a:tab pos="5607050" algn="l"/>
                <a:tab pos="6573838" algn="r"/>
              </a:tabLst>
            </a:pPr>
            <a:r>
              <a:rPr lang="en-US" altLang="zh-TW" sz="2000"/>
              <a:t>24 up to 28		1		0.02		50		1.00</a:t>
            </a:r>
          </a:p>
          <a:p>
            <a:pPr marL="0" indent="0">
              <a:lnSpc>
                <a:spcPct val="110000"/>
              </a:lnSpc>
              <a:buFontTx/>
              <a:buNone/>
              <a:tabLst>
                <a:tab pos="1311275" algn="l"/>
                <a:tab pos="1941513" algn="r"/>
                <a:tab pos="2570163" algn="l"/>
                <a:tab pos="3375025" algn="r"/>
                <a:tab pos="4060825" algn="l"/>
                <a:tab pos="4745038" algn="r"/>
                <a:tab pos="5607050" algn="l"/>
                <a:tab pos="6573838" algn="r"/>
              </a:tabLst>
            </a:pPr>
            <a:endParaRPr lang="zh-TW" altLang="en-US" sz="2000"/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228600" y="1143000"/>
            <a:ext cx="8763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1313" indent="-341313">
              <a:spcBef>
                <a:spcPct val="20000"/>
              </a:spcBef>
              <a:buFont typeface="Wingdings" charset="0"/>
              <a:buChar char="ü"/>
            </a:pPr>
            <a:r>
              <a:rPr lang="en-US" altLang="zh-TW" dirty="0">
                <a:latin typeface="Ca\"/>
                <a:cs typeface="Ca\"/>
              </a:rPr>
              <a:t>Example:	</a:t>
            </a:r>
            <a:r>
              <a:rPr lang="en-US" altLang="zh-TW" b="0" dirty="0">
                <a:latin typeface="Ca\"/>
                <a:cs typeface="Ca\"/>
              </a:rPr>
              <a:t>A computer science aptitude test was given to 50 	</a:t>
            </a:r>
            <a:r>
              <a:rPr lang="en-US" altLang="zh-TW" b="0" dirty="0" smtClean="0">
                <a:latin typeface="Ca\"/>
                <a:cs typeface="Ca\"/>
              </a:rPr>
              <a:t>students</a:t>
            </a:r>
            <a:r>
              <a:rPr lang="en-US" altLang="zh-TW" b="0" dirty="0">
                <a:latin typeface="Ca\"/>
                <a:cs typeface="Ca\"/>
              </a:rPr>
              <a:t>.  The table below summarizes the data:</a:t>
            </a:r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TW"/>
              <a:t>Example</a:t>
            </a:r>
            <a:endParaRPr lang="en-US" altLang="zh-TW" sz="4000"/>
          </a:p>
        </p:txBody>
      </p:sp>
    </p:spTree>
    <p:extLst>
      <p:ext uri="{BB962C8B-B14F-4D97-AF65-F5344CB8AC3E}">
        <p14:creationId xmlns:p14="http://schemas.microsoft.com/office/powerpoint/2010/main" val="13289574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zh-TW" dirty="0"/>
              <a:t>Example</a:t>
            </a:r>
            <a:endParaRPr lang="en-US" altLang="zh-TW" sz="4000" dirty="0"/>
          </a:p>
        </p:txBody>
      </p:sp>
      <p:sp>
        <p:nvSpPr>
          <p:cNvPr id="71685" name="Rectangle 5"/>
          <p:cNvSpPr>
            <a:spLocks noChangeArrowheads="1"/>
          </p:cNvSpPr>
          <p:nvPr/>
        </p:nvSpPr>
        <p:spPr bwMode="auto">
          <a:xfrm>
            <a:off x="228600" y="1143000"/>
            <a:ext cx="8763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1313" indent="-341313">
              <a:spcBef>
                <a:spcPct val="20000"/>
              </a:spcBef>
              <a:buFont typeface="Wingdings" charset="0"/>
              <a:buChar char="ü"/>
            </a:pPr>
            <a:r>
              <a:rPr lang="en-US" altLang="zh-TW" dirty="0">
                <a:latin typeface="Calibri"/>
                <a:cs typeface="Calibri"/>
              </a:rPr>
              <a:t>Example:	</a:t>
            </a:r>
            <a:r>
              <a:rPr lang="en-US" altLang="zh-TW" b="0" dirty="0">
                <a:latin typeface="Calibri"/>
                <a:cs typeface="Calibri"/>
              </a:rPr>
              <a:t>The graph </a:t>
            </a:r>
            <a:r>
              <a:rPr lang="en-US" altLang="zh-TW" b="0" dirty="0" smtClean="0">
                <a:latin typeface="Calibri"/>
                <a:cs typeface="Calibri"/>
              </a:rPr>
              <a:t>shows th</a:t>
            </a:r>
            <a:r>
              <a:rPr lang="en-US" altLang="zh-TW" dirty="0" smtClean="0">
                <a:latin typeface="Calibri"/>
                <a:cs typeface="Calibri"/>
              </a:rPr>
              <a:t>e </a:t>
            </a:r>
            <a:r>
              <a:rPr lang="en-US" altLang="zh-TW" b="0" dirty="0" smtClean="0">
                <a:latin typeface="Calibri"/>
                <a:cs typeface="Calibri"/>
              </a:rPr>
              <a:t>cumulative </a:t>
            </a:r>
            <a:r>
              <a:rPr lang="en-US" altLang="zh-TW" b="0" dirty="0">
                <a:latin typeface="Calibri"/>
                <a:cs typeface="Calibri"/>
              </a:rPr>
              <a:t>relative </a:t>
            </a:r>
            <a:r>
              <a:rPr lang="en-US" altLang="zh-TW" b="0" dirty="0" smtClean="0">
                <a:latin typeface="Calibri"/>
                <a:cs typeface="Calibri"/>
              </a:rPr>
              <a:t>frequencies </a:t>
            </a:r>
            <a:r>
              <a:rPr lang="en-US" altLang="zh-TW" b="0" dirty="0">
                <a:latin typeface="Calibri"/>
                <a:cs typeface="Calibri"/>
              </a:rPr>
              <a:t>for the computer science aptitude data:</a:t>
            </a:r>
          </a:p>
        </p:txBody>
      </p:sp>
      <p:grpSp>
        <p:nvGrpSpPr>
          <p:cNvPr id="71746" name="Group 66"/>
          <p:cNvGrpSpPr>
            <a:grpSpLocks/>
          </p:cNvGrpSpPr>
          <p:nvPr/>
        </p:nvGrpSpPr>
        <p:grpSpPr bwMode="auto">
          <a:xfrm>
            <a:off x="77788" y="2209800"/>
            <a:ext cx="7999412" cy="4381500"/>
            <a:chOff x="49" y="1444"/>
            <a:chExt cx="5039" cy="2760"/>
          </a:xfrm>
        </p:grpSpPr>
        <p:sp>
          <p:nvSpPr>
            <p:cNvPr id="71728" name="Rectangle 48"/>
            <p:cNvSpPr>
              <a:spLocks noChangeArrowheads="1"/>
            </p:cNvSpPr>
            <p:nvPr/>
          </p:nvSpPr>
          <p:spPr bwMode="auto">
            <a:xfrm>
              <a:off x="49" y="2421"/>
              <a:ext cx="832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TW" sz="1400">
                  <a:solidFill>
                    <a:srgbClr val="000000"/>
                  </a:solidFill>
                  <a:latin typeface="Times New Roman" charset="0"/>
                </a:rPr>
                <a:t>Cumulative Relative Frequency</a:t>
              </a:r>
              <a:endParaRPr lang="en-US" altLang="zh-TW" sz="1400">
                <a:latin typeface="Times New Roman" charset="0"/>
              </a:endParaRPr>
            </a:p>
          </p:txBody>
        </p:sp>
        <p:sp>
          <p:nvSpPr>
            <p:cNvPr id="71688" name="Rectangle 8"/>
            <p:cNvSpPr>
              <a:spLocks noChangeArrowheads="1"/>
            </p:cNvSpPr>
            <p:nvPr/>
          </p:nvSpPr>
          <p:spPr bwMode="auto">
            <a:xfrm>
              <a:off x="1610" y="3813"/>
              <a:ext cx="3" cy="3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1689" name="Rectangle 9"/>
            <p:cNvSpPr>
              <a:spLocks noChangeArrowheads="1"/>
            </p:cNvSpPr>
            <p:nvPr/>
          </p:nvSpPr>
          <p:spPr bwMode="auto">
            <a:xfrm>
              <a:off x="2099" y="3813"/>
              <a:ext cx="3" cy="3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1690" name="Rectangle 10"/>
            <p:cNvSpPr>
              <a:spLocks noChangeArrowheads="1"/>
            </p:cNvSpPr>
            <p:nvPr/>
          </p:nvSpPr>
          <p:spPr bwMode="auto">
            <a:xfrm>
              <a:off x="2589" y="3813"/>
              <a:ext cx="3" cy="3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1691" name="Rectangle 11"/>
            <p:cNvSpPr>
              <a:spLocks noChangeArrowheads="1"/>
            </p:cNvSpPr>
            <p:nvPr/>
          </p:nvSpPr>
          <p:spPr bwMode="auto">
            <a:xfrm>
              <a:off x="3078" y="3813"/>
              <a:ext cx="3" cy="3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1692" name="Rectangle 12"/>
            <p:cNvSpPr>
              <a:spLocks noChangeArrowheads="1"/>
            </p:cNvSpPr>
            <p:nvPr/>
          </p:nvSpPr>
          <p:spPr bwMode="auto">
            <a:xfrm>
              <a:off x="3567" y="3813"/>
              <a:ext cx="4" cy="3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1693" name="Rectangle 13"/>
            <p:cNvSpPr>
              <a:spLocks noChangeArrowheads="1"/>
            </p:cNvSpPr>
            <p:nvPr/>
          </p:nvSpPr>
          <p:spPr bwMode="auto">
            <a:xfrm>
              <a:off x="4056" y="3813"/>
              <a:ext cx="4" cy="3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1694" name="Rectangle 14"/>
            <p:cNvSpPr>
              <a:spLocks noChangeArrowheads="1"/>
            </p:cNvSpPr>
            <p:nvPr/>
          </p:nvSpPr>
          <p:spPr bwMode="auto">
            <a:xfrm>
              <a:off x="4546" y="3813"/>
              <a:ext cx="4" cy="3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1695" name="Rectangle 15"/>
            <p:cNvSpPr>
              <a:spLocks noChangeArrowheads="1"/>
            </p:cNvSpPr>
            <p:nvPr/>
          </p:nvSpPr>
          <p:spPr bwMode="auto">
            <a:xfrm>
              <a:off x="5036" y="3813"/>
              <a:ext cx="3" cy="38"/>
            </a:xfrm>
            <a:prstGeom prst="rect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1696" name="Rectangle 16"/>
            <p:cNvSpPr>
              <a:spLocks noChangeArrowheads="1"/>
            </p:cNvSpPr>
            <p:nvPr/>
          </p:nvSpPr>
          <p:spPr bwMode="auto">
            <a:xfrm>
              <a:off x="1586" y="3879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200" b="0">
                  <a:solidFill>
                    <a:srgbClr val="000000"/>
                  </a:solidFill>
                </a:rPr>
                <a:t>0</a:t>
              </a:r>
              <a:endParaRPr lang="en-US" altLang="zh-TW" sz="1200"/>
            </a:p>
          </p:txBody>
        </p:sp>
        <p:sp>
          <p:nvSpPr>
            <p:cNvPr id="71697" name="Rectangle 17"/>
            <p:cNvSpPr>
              <a:spLocks noChangeArrowheads="1"/>
            </p:cNvSpPr>
            <p:nvPr/>
          </p:nvSpPr>
          <p:spPr bwMode="auto">
            <a:xfrm>
              <a:off x="2075" y="3879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200" b="0">
                  <a:solidFill>
                    <a:srgbClr val="000000"/>
                  </a:solidFill>
                </a:rPr>
                <a:t>4</a:t>
              </a:r>
              <a:endParaRPr lang="en-US" altLang="zh-TW" sz="1200"/>
            </a:p>
          </p:txBody>
        </p:sp>
        <p:sp>
          <p:nvSpPr>
            <p:cNvPr id="71698" name="Rectangle 18"/>
            <p:cNvSpPr>
              <a:spLocks noChangeArrowheads="1"/>
            </p:cNvSpPr>
            <p:nvPr/>
          </p:nvSpPr>
          <p:spPr bwMode="auto">
            <a:xfrm>
              <a:off x="2568" y="3879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200" b="0">
                  <a:solidFill>
                    <a:srgbClr val="000000"/>
                  </a:solidFill>
                </a:rPr>
                <a:t>8</a:t>
              </a:r>
              <a:endParaRPr lang="en-US" altLang="zh-TW" sz="1200"/>
            </a:p>
          </p:txBody>
        </p:sp>
        <p:sp>
          <p:nvSpPr>
            <p:cNvPr id="71699" name="Rectangle 19"/>
            <p:cNvSpPr>
              <a:spLocks noChangeArrowheads="1"/>
            </p:cNvSpPr>
            <p:nvPr/>
          </p:nvSpPr>
          <p:spPr bwMode="auto">
            <a:xfrm>
              <a:off x="3026" y="3879"/>
              <a:ext cx="10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200" b="0">
                  <a:solidFill>
                    <a:srgbClr val="000000"/>
                  </a:solidFill>
                </a:rPr>
                <a:t>12</a:t>
              </a:r>
              <a:endParaRPr lang="en-US" altLang="zh-TW" sz="1200"/>
            </a:p>
          </p:txBody>
        </p:sp>
        <p:sp>
          <p:nvSpPr>
            <p:cNvPr id="71700" name="Rectangle 20"/>
            <p:cNvSpPr>
              <a:spLocks noChangeArrowheads="1"/>
            </p:cNvSpPr>
            <p:nvPr/>
          </p:nvSpPr>
          <p:spPr bwMode="auto">
            <a:xfrm>
              <a:off x="3508" y="3879"/>
              <a:ext cx="10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200" b="0">
                  <a:solidFill>
                    <a:srgbClr val="000000"/>
                  </a:solidFill>
                </a:rPr>
                <a:t>16</a:t>
              </a:r>
              <a:endParaRPr lang="en-US" altLang="zh-TW" sz="1200"/>
            </a:p>
          </p:txBody>
        </p:sp>
        <p:sp>
          <p:nvSpPr>
            <p:cNvPr id="71701" name="Rectangle 21"/>
            <p:cNvSpPr>
              <a:spLocks noChangeArrowheads="1"/>
            </p:cNvSpPr>
            <p:nvPr/>
          </p:nvSpPr>
          <p:spPr bwMode="auto">
            <a:xfrm>
              <a:off x="4001" y="3879"/>
              <a:ext cx="10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200" b="0">
                  <a:solidFill>
                    <a:srgbClr val="000000"/>
                  </a:solidFill>
                </a:rPr>
                <a:t>20</a:t>
              </a:r>
              <a:endParaRPr lang="en-US" altLang="zh-TW" sz="1200"/>
            </a:p>
          </p:txBody>
        </p:sp>
        <p:sp>
          <p:nvSpPr>
            <p:cNvPr id="71702" name="Rectangle 22"/>
            <p:cNvSpPr>
              <a:spLocks noChangeArrowheads="1"/>
            </p:cNvSpPr>
            <p:nvPr/>
          </p:nvSpPr>
          <p:spPr bwMode="auto">
            <a:xfrm>
              <a:off x="4506" y="3879"/>
              <a:ext cx="10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200" b="0">
                  <a:solidFill>
                    <a:srgbClr val="000000"/>
                  </a:solidFill>
                </a:rPr>
                <a:t>24</a:t>
              </a:r>
              <a:endParaRPr lang="en-US" altLang="zh-TW" sz="1200"/>
            </a:p>
          </p:txBody>
        </p:sp>
        <p:sp>
          <p:nvSpPr>
            <p:cNvPr id="71703" name="Rectangle 23"/>
            <p:cNvSpPr>
              <a:spLocks noChangeArrowheads="1"/>
            </p:cNvSpPr>
            <p:nvPr/>
          </p:nvSpPr>
          <p:spPr bwMode="auto">
            <a:xfrm>
              <a:off x="4982" y="3879"/>
              <a:ext cx="10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TW" sz="1200" b="0">
                  <a:solidFill>
                    <a:srgbClr val="000000"/>
                  </a:solidFill>
                </a:rPr>
                <a:t>28</a:t>
              </a:r>
              <a:endParaRPr lang="en-US" altLang="zh-TW" sz="1200"/>
            </a:p>
          </p:txBody>
        </p:sp>
        <p:grpSp>
          <p:nvGrpSpPr>
            <p:cNvPr id="71742" name="Group 62"/>
            <p:cNvGrpSpPr>
              <a:grpSpLocks/>
            </p:cNvGrpSpPr>
            <p:nvPr/>
          </p:nvGrpSpPr>
          <p:grpSpPr bwMode="auto">
            <a:xfrm>
              <a:off x="1125" y="1674"/>
              <a:ext cx="47" cy="1974"/>
              <a:chOff x="1121" y="1461"/>
              <a:chExt cx="50" cy="1974"/>
            </a:xfrm>
          </p:grpSpPr>
          <p:sp>
            <p:nvSpPr>
              <p:cNvPr id="71706" name="Rectangle 26"/>
              <p:cNvSpPr>
                <a:spLocks noChangeArrowheads="1"/>
              </p:cNvSpPr>
              <p:nvPr/>
            </p:nvSpPr>
            <p:spPr bwMode="auto">
              <a:xfrm>
                <a:off x="1121" y="3433"/>
                <a:ext cx="50" cy="2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707" name="Rectangle 27"/>
              <p:cNvSpPr>
                <a:spLocks noChangeArrowheads="1"/>
              </p:cNvSpPr>
              <p:nvPr/>
            </p:nvSpPr>
            <p:spPr bwMode="auto">
              <a:xfrm>
                <a:off x="1121" y="3236"/>
                <a:ext cx="50" cy="3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708" name="Rectangle 28"/>
              <p:cNvSpPr>
                <a:spLocks noChangeArrowheads="1"/>
              </p:cNvSpPr>
              <p:nvPr/>
            </p:nvSpPr>
            <p:spPr bwMode="auto">
              <a:xfrm>
                <a:off x="1121" y="3038"/>
                <a:ext cx="50" cy="3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709" name="Rectangle 29"/>
              <p:cNvSpPr>
                <a:spLocks noChangeArrowheads="1"/>
              </p:cNvSpPr>
              <p:nvPr/>
            </p:nvSpPr>
            <p:spPr bwMode="auto">
              <a:xfrm>
                <a:off x="1121" y="2841"/>
                <a:ext cx="50" cy="2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710" name="Rectangle 30"/>
              <p:cNvSpPr>
                <a:spLocks noChangeArrowheads="1"/>
              </p:cNvSpPr>
              <p:nvPr/>
            </p:nvSpPr>
            <p:spPr bwMode="auto">
              <a:xfrm>
                <a:off x="1121" y="2644"/>
                <a:ext cx="50" cy="3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711" name="Rectangle 31"/>
              <p:cNvSpPr>
                <a:spLocks noChangeArrowheads="1"/>
              </p:cNvSpPr>
              <p:nvPr/>
            </p:nvSpPr>
            <p:spPr bwMode="auto">
              <a:xfrm>
                <a:off x="1121" y="2447"/>
                <a:ext cx="50" cy="2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712" name="Rectangle 32"/>
              <p:cNvSpPr>
                <a:spLocks noChangeArrowheads="1"/>
              </p:cNvSpPr>
              <p:nvPr/>
            </p:nvSpPr>
            <p:spPr bwMode="auto">
              <a:xfrm>
                <a:off x="1121" y="2250"/>
                <a:ext cx="50" cy="3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713" name="Rectangle 33"/>
              <p:cNvSpPr>
                <a:spLocks noChangeArrowheads="1"/>
              </p:cNvSpPr>
              <p:nvPr/>
            </p:nvSpPr>
            <p:spPr bwMode="auto">
              <a:xfrm>
                <a:off x="1121" y="2053"/>
                <a:ext cx="50" cy="2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714" name="Rectangle 34"/>
              <p:cNvSpPr>
                <a:spLocks noChangeArrowheads="1"/>
              </p:cNvSpPr>
              <p:nvPr/>
            </p:nvSpPr>
            <p:spPr bwMode="auto">
              <a:xfrm>
                <a:off x="1121" y="1855"/>
                <a:ext cx="50" cy="2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715" name="Rectangle 35"/>
              <p:cNvSpPr>
                <a:spLocks noChangeArrowheads="1"/>
              </p:cNvSpPr>
              <p:nvPr/>
            </p:nvSpPr>
            <p:spPr bwMode="auto">
              <a:xfrm>
                <a:off x="1121" y="1658"/>
                <a:ext cx="50" cy="3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1716" name="Rectangle 36"/>
              <p:cNvSpPr>
                <a:spLocks noChangeArrowheads="1"/>
              </p:cNvSpPr>
              <p:nvPr/>
            </p:nvSpPr>
            <p:spPr bwMode="auto">
              <a:xfrm>
                <a:off x="1121" y="1461"/>
                <a:ext cx="50" cy="2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sp>
          <p:nvSpPr>
            <p:cNvPr id="71717" name="Rectangle 37"/>
            <p:cNvSpPr>
              <a:spLocks noChangeArrowheads="1"/>
            </p:cNvSpPr>
            <p:nvPr/>
          </p:nvSpPr>
          <p:spPr bwMode="auto">
            <a:xfrm>
              <a:off x="958" y="3591"/>
              <a:ext cx="13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altLang="zh-TW" sz="1200" b="0">
                  <a:solidFill>
                    <a:srgbClr val="000000"/>
                  </a:solidFill>
                </a:rPr>
                <a:t>0.0</a:t>
              </a:r>
              <a:endParaRPr lang="en-US" altLang="zh-TW" sz="1200"/>
            </a:p>
          </p:txBody>
        </p:sp>
        <p:sp>
          <p:nvSpPr>
            <p:cNvPr id="71718" name="Rectangle 38"/>
            <p:cNvSpPr>
              <a:spLocks noChangeArrowheads="1"/>
            </p:cNvSpPr>
            <p:nvPr/>
          </p:nvSpPr>
          <p:spPr bwMode="auto">
            <a:xfrm>
              <a:off x="958" y="3394"/>
              <a:ext cx="13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altLang="zh-TW" sz="1200" b="0">
                  <a:solidFill>
                    <a:srgbClr val="000000"/>
                  </a:solidFill>
                </a:rPr>
                <a:t>0.1</a:t>
              </a:r>
              <a:endParaRPr lang="en-US" altLang="zh-TW" sz="1200"/>
            </a:p>
          </p:txBody>
        </p:sp>
        <p:sp>
          <p:nvSpPr>
            <p:cNvPr id="71719" name="Rectangle 39"/>
            <p:cNvSpPr>
              <a:spLocks noChangeArrowheads="1"/>
            </p:cNvSpPr>
            <p:nvPr/>
          </p:nvSpPr>
          <p:spPr bwMode="auto">
            <a:xfrm>
              <a:off x="958" y="3197"/>
              <a:ext cx="13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altLang="zh-TW" sz="1200" b="0">
                  <a:solidFill>
                    <a:srgbClr val="000000"/>
                  </a:solidFill>
                </a:rPr>
                <a:t>0.2</a:t>
              </a:r>
              <a:endParaRPr lang="en-US" altLang="zh-TW" sz="1200"/>
            </a:p>
          </p:txBody>
        </p:sp>
        <p:sp>
          <p:nvSpPr>
            <p:cNvPr id="71720" name="Rectangle 40"/>
            <p:cNvSpPr>
              <a:spLocks noChangeArrowheads="1"/>
            </p:cNvSpPr>
            <p:nvPr/>
          </p:nvSpPr>
          <p:spPr bwMode="auto">
            <a:xfrm>
              <a:off x="958" y="2999"/>
              <a:ext cx="13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altLang="zh-TW" sz="1200" b="0">
                  <a:solidFill>
                    <a:srgbClr val="000000"/>
                  </a:solidFill>
                </a:rPr>
                <a:t>0.3</a:t>
              </a:r>
              <a:endParaRPr lang="en-US" altLang="zh-TW" sz="1200"/>
            </a:p>
          </p:txBody>
        </p:sp>
        <p:sp>
          <p:nvSpPr>
            <p:cNvPr id="71721" name="Rectangle 41"/>
            <p:cNvSpPr>
              <a:spLocks noChangeArrowheads="1"/>
            </p:cNvSpPr>
            <p:nvPr/>
          </p:nvSpPr>
          <p:spPr bwMode="auto">
            <a:xfrm>
              <a:off x="958" y="2802"/>
              <a:ext cx="13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altLang="zh-TW" sz="1200" b="0">
                  <a:solidFill>
                    <a:srgbClr val="000000"/>
                  </a:solidFill>
                </a:rPr>
                <a:t>0.4</a:t>
              </a:r>
              <a:endParaRPr lang="en-US" altLang="zh-TW" sz="1200"/>
            </a:p>
          </p:txBody>
        </p:sp>
        <p:sp>
          <p:nvSpPr>
            <p:cNvPr id="71722" name="Rectangle 42"/>
            <p:cNvSpPr>
              <a:spLocks noChangeArrowheads="1"/>
            </p:cNvSpPr>
            <p:nvPr/>
          </p:nvSpPr>
          <p:spPr bwMode="auto">
            <a:xfrm>
              <a:off x="958" y="2605"/>
              <a:ext cx="13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altLang="zh-TW" sz="1200" b="0">
                  <a:solidFill>
                    <a:srgbClr val="000000"/>
                  </a:solidFill>
                </a:rPr>
                <a:t>0.5</a:t>
              </a:r>
              <a:endParaRPr lang="en-US" altLang="zh-TW" sz="1200"/>
            </a:p>
          </p:txBody>
        </p:sp>
        <p:sp>
          <p:nvSpPr>
            <p:cNvPr id="71723" name="Rectangle 43"/>
            <p:cNvSpPr>
              <a:spLocks noChangeArrowheads="1"/>
            </p:cNvSpPr>
            <p:nvPr/>
          </p:nvSpPr>
          <p:spPr bwMode="auto">
            <a:xfrm>
              <a:off x="958" y="2409"/>
              <a:ext cx="13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altLang="zh-TW" sz="1200" b="0">
                  <a:solidFill>
                    <a:srgbClr val="000000"/>
                  </a:solidFill>
                </a:rPr>
                <a:t>0.6</a:t>
              </a:r>
              <a:endParaRPr lang="en-US" altLang="zh-TW" sz="1200"/>
            </a:p>
          </p:txBody>
        </p:sp>
        <p:sp>
          <p:nvSpPr>
            <p:cNvPr id="71724" name="Rectangle 44"/>
            <p:cNvSpPr>
              <a:spLocks noChangeArrowheads="1"/>
            </p:cNvSpPr>
            <p:nvPr/>
          </p:nvSpPr>
          <p:spPr bwMode="auto">
            <a:xfrm>
              <a:off x="958" y="2211"/>
              <a:ext cx="13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altLang="zh-TW" sz="1200" b="0">
                  <a:solidFill>
                    <a:srgbClr val="000000"/>
                  </a:solidFill>
                </a:rPr>
                <a:t>0.7</a:t>
              </a:r>
              <a:endParaRPr lang="en-US" altLang="zh-TW" sz="1200"/>
            </a:p>
          </p:txBody>
        </p:sp>
        <p:sp>
          <p:nvSpPr>
            <p:cNvPr id="71725" name="Rectangle 45"/>
            <p:cNvSpPr>
              <a:spLocks noChangeArrowheads="1"/>
            </p:cNvSpPr>
            <p:nvPr/>
          </p:nvSpPr>
          <p:spPr bwMode="auto">
            <a:xfrm>
              <a:off x="958" y="2013"/>
              <a:ext cx="13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altLang="zh-TW" sz="1200" b="0">
                  <a:solidFill>
                    <a:srgbClr val="000000"/>
                  </a:solidFill>
                </a:rPr>
                <a:t>0.8</a:t>
              </a:r>
              <a:endParaRPr lang="en-US" altLang="zh-TW" sz="1200"/>
            </a:p>
          </p:txBody>
        </p:sp>
        <p:sp>
          <p:nvSpPr>
            <p:cNvPr id="71726" name="Rectangle 46"/>
            <p:cNvSpPr>
              <a:spLocks noChangeArrowheads="1"/>
            </p:cNvSpPr>
            <p:nvPr/>
          </p:nvSpPr>
          <p:spPr bwMode="auto">
            <a:xfrm>
              <a:off x="958" y="1817"/>
              <a:ext cx="13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altLang="zh-TW" sz="1200" b="0">
                  <a:solidFill>
                    <a:srgbClr val="000000"/>
                  </a:solidFill>
                </a:rPr>
                <a:t>0.9</a:t>
              </a:r>
              <a:endParaRPr lang="en-US" altLang="zh-TW" sz="1200"/>
            </a:p>
          </p:txBody>
        </p:sp>
        <p:sp>
          <p:nvSpPr>
            <p:cNvPr id="71727" name="Rectangle 47"/>
            <p:cNvSpPr>
              <a:spLocks noChangeArrowheads="1"/>
            </p:cNvSpPr>
            <p:nvPr/>
          </p:nvSpPr>
          <p:spPr bwMode="auto">
            <a:xfrm>
              <a:off x="958" y="1619"/>
              <a:ext cx="13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altLang="zh-TW" sz="1200" b="0">
                  <a:solidFill>
                    <a:srgbClr val="000000"/>
                  </a:solidFill>
                </a:rPr>
                <a:t>1.0</a:t>
              </a:r>
              <a:endParaRPr lang="en-US" altLang="zh-TW" sz="1200"/>
            </a:p>
          </p:txBody>
        </p:sp>
        <p:sp>
          <p:nvSpPr>
            <p:cNvPr id="71729" name="Freeform 49"/>
            <p:cNvSpPr>
              <a:spLocks/>
            </p:cNvSpPr>
            <p:nvPr/>
          </p:nvSpPr>
          <p:spPr bwMode="auto">
            <a:xfrm>
              <a:off x="1611" y="1674"/>
              <a:ext cx="3426" cy="1972"/>
            </a:xfrm>
            <a:custGeom>
              <a:avLst/>
              <a:gdLst>
                <a:gd name="T0" fmla="*/ 0 w 3391"/>
                <a:gd name="T1" fmla="*/ 2562 h 2562"/>
                <a:gd name="T2" fmla="*/ 484 w 3391"/>
                <a:gd name="T3" fmla="*/ 2357 h 2562"/>
                <a:gd name="T4" fmla="*/ 969 w 3391"/>
                <a:gd name="T5" fmla="*/ 1947 h 2562"/>
                <a:gd name="T6" fmla="*/ 1453 w 3391"/>
                <a:gd name="T7" fmla="*/ 1538 h 2562"/>
                <a:gd name="T8" fmla="*/ 1937 w 3391"/>
                <a:gd name="T9" fmla="*/ 512 h 2562"/>
                <a:gd name="T10" fmla="*/ 2421 w 3391"/>
                <a:gd name="T11" fmla="*/ 204 h 2562"/>
                <a:gd name="T12" fmla="*/ 2907 w 3391"/>
                <a:gd name="T13" fmla="*/ 51 h 2562"/>
                <a:gd name="T14" fmla="*/ 3391 w 3391"/>
                <a:gd name="T15" fmla="*/ 0 h 2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91" h="2562">
                  <a:moveTo>
                    <a:pt x="0" y="2562"/>
                  </a:moveTo>
                  <a:lnTo>
                    <a:pt x="484" y="2357"/>
                  </a:lnTo>
                  <a:lnTo>
                    <a:pt x="969" y="1947"/>
                  </a:lnTo>
                  <a:lnTo>
                    <a:pt x="1453" y="1538"/>
                  </a:lnTo>
                  <a:lnTo>
                    <a:pt x="1937" y="512"/>
                  </a:lnTo>
                  <a:lnTo>
                    <a:pt x="2421" y="204"/>
                  </a:lnTo>
                  <a:lnTo>
                    <a:pt x="2907" y="51"/>
                  </a:lnTo>
                  <a:lnTo>
                    <a:pt x="3391" y="0"/>
                  </a:lnTo>
                </a:path>
              </a:pathLst>
            </a:custGeom>
            <a:noFill/>
            <a:ln w="19050" cmpd="sng">
              <a:solidFill>
                <a:srgbClr val="CC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1730" name="Oval 50"/>
            <p:cNvSpPr>
              <a:spLocks noChangeArrowheads="1"/>
            </p:cNvSpPr>
            <p:nvPr/>
          </p:nvSpPr>
          <p:spPr bwMode="auto">
            <a:xfrm>
              <a:off x="1578" y="3613"/>
              <a:ext cx="66" cy="66"/>
            </a:xfrm>
            <a:prstGeom prst="ellipse">
              <a:avLst/>
            </a:prstGeom>
            <a:solidFill>
              <a:srgbClr val="666699"/>
            </a:solidFill>
            <a:ln w="4763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1731" name="Oval 51"/>
            <p:cNvSpPr>
              <a:spLocks noChangeArrowheads="1"/>
            </p:cNvSpPr>
            <p:nvPr/>
          </p:nvSpPr>
          <p:spPr bwMode="auto">
            <a:xfrm>
              <a:off x="2067" y="3456"/>
              <a:ext cx="66" cy="66"/>
            </a:xfrm>
            <a:prstGeom prst="ellipse">
              <a:avLst/>
            </a:prstGeom>
            <a:solidFill>
              <a:srgbClr val="666699"/>
            </a:solidFill>
            <a:ln w="4763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1732" name="Oval 52"/>
            <p:cNvSpPr>
              <a:spLocks noChangeArrowheads="1"/>
            </p:cNvSpPr>
            <p:nvPr/>
          </p:nvSpPr>
          <p:spPr bwMode="auto">
            <a:xfrm>
              <a:off x="2556" y="3140"/>
              <a:ext cx="68" cy="66"/>
            </a:xfrm>
            <a:prstGeom prst="ellipse">
              <a:avLst/>
            </a:prstGeom>
            <a:solidFill>
              <a:srgbClr val="666699"/>
            </a:solidFill>
            <a:ln w="4763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1733" name="Oval 53"/>
            <p:cNvSpPr>
              <a:spLocks noChangeArrowheads="1"/>
            </p:cNvSpPr>
            <p:nvPr/>
          </p:nvSpPr>
          <p:spPr bwMode="auto">
            <a:xfrm>
              <a:off x="3047" y="2824"/>
              <a:ext cx="66" cy="66"/>
            </a:xfrm>
            <a:prstGeom prst="ellipse">
              <a:avLst/>
            </a:prstGeom>
            <a:solidFill>
              <a:srgbClr val="666699"/>
            </a:solidFill>
            <a:ln w="4763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1734" name="Oval 54"/>
            <p:cNvSpPr>
              <a:spLocks noChangeArrowheads="1"/>
            </p:cNvSpPr>
            <p:nvPr/>
          </p:nvSpPr>
          <p:spPr bwMode="auto">
            <a:xfrm>
              <a:off x="3536" y="2034"/>
              <a:ext cx="66" cy="68"/>
            </a:xfrm>
            <a:prstGeom prst="ellipse">
              <a:avLst/>
            </a:prstGeom>
            <a:solidFill>
              <a:srgbClr val="666699"/>
            </a:solidFill>
            <a:ln w="4763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1735" name="Oval 55"/>
            <p:cNvSpPr>
              <a:spLocks noChangeArrowheads="1"/>
            </p:cNvSpPr>
            <p:nvPr/>
          </p:nvSpPr>
          <p:spPr bwMode="auto">
            <a:xfrm>
              <a:off x="4025" y="1798"/>
              <a:ext cx="66" cy="66"/>
            </a:xfrm>
            <a:prstGeom prst="ellipse">
              <a:avLst/>
            </a:prstGeom>
            <a:solidFill>
              <a:srgbClr val="666699"/>
            </a:solidFill>
            <a:ln w="4763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1736" name="Oval 56"/>
            <p:cNvSpPr>
              <a:spLocks noChangeArrowheads="1"/>
            </p:cNvSpPr>
            <p:nvPr/>
          </p:nvSpPr>
          <p:spPr bwMode="auto">
            <a:xfrm>
              <a:off x="4515" y="1680"/>
              <a:ext cx="66" cy="66"/>
            </a:xfrm>
            <a:prstGeom prst="ellipse">
              <a:avLst/>
            </a:prstGeom>
            <a:solidFill>
              <a:srgbClr val="666699"/>
            </a:solidFill>
            <a:ln w="4763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1737" name="Oval 57"/>
            <p:cNvSpPr>
              <a:spLocks noChangeArrowheads="1"/>
            </p:cNvSpPr>
            <p:nvPr/>
          </p:nvSpPr>
          <p:spPr bwMode="auto">
            <a:xfrm>
              <a:off x="5004" y="1641"/>
              <a:ext cx="66" cy="66"/>
            </a:xfrm>
            <a:prstGeom prst="ellipse">
              <a:avLst/>
            </a:prstGeom>
            <a:solidFill>
              <a:srgbClr val="666699"/>
            </a:solidFill>
            <a:ln w="4763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1738" name="Freeform 58"/>
            <p:cNvSpPr>
              <a:spLocks/>
            </p:cNvSpPr>
            <p:nvPr/>
          </p:nvSpPr>
          <p:spPr bwMode="auto">
            <a:xfrm>
              <a:off x="1178" y="1675"/>
              <a:ext cx="3863" cy="2135"/>
            </a:xfrm>
            <a:custGeom>
              <a:avLst/>
              <a:gdLst>
                <a:gd name="T0" fmla="*/ 0 w 3936"/>
                <a:gd name="T1" fmla="*/ 0 h 2784"/>
                <a:gd name="T2" fmla="*/ 0 w 3936"/>
                <a:gd name="T3" fmla="*/ 2784 h 2784"/>
                <a:gd name="T4" fmla="*/ 3936 w 3936"/>
                <a:gd name="T5" fmla="*/ 2784 h 2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36" h="2784">
                  <a:moveTo>
                    <a:pt x="0" y="0"/>
                  </a:moveTo>
                  <a:lnTo>
                    <a:pt x="0" y="2784"/>
                  </a:lnTo>
                  <a:lnTo>
                    <a:pt x="3936" y="278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71740" name="Rectangle 60"/>
            <p:cNvSpPr>
              <a:spLocks noChangeArrowheads="1"/>
            </p:cNvSpPr>
            <p:nvPr/>
          </p:nvSpPr>
          <p:spPr bwMode="auto">
            <a:xfrm>
              <a:off x="2737" y="4070"/>
              <a:ext cx="83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TW" sz="1400">
                  <a:solidFill>
                    <a:srgbClr val="000000"/>
                  </a:solidFill>
                  <a:latin typeface="Times New Roman" charset="0"/>
                </a:rPr>
                <a:t>Test Score</a:t>
              </a:r>
              <a:endParaRPr lang="en-US" altLang="zh-TW" sz="1400">
                <a:latin typeface="Times New Roman" charset="0"/>
              </a:endParaRPr>
            </a:p>
          </p:txBody>
        </p:sp>
        <p:sp>
          <p:nvSpPr>
            <p:cNvPr id="71745" name="Rectangle 65"/>
            <p:cNvSpPr>
              <a:spLocks noChangeArrowheads="1"/>
            </p:cNvSpPr>
            <p:nvPr/>
          </p:nvSpPr>
          <p:spPr bwMode="auto">
            <a:xfrm>
              <a:off x="1506" y="1444"/>
              <a:ext cx="329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TW" sz="1800" i="1">
                  <a:solidFill>
                    <a:srgbClr val="666699"/>
                  </a:solidFill>
                  <a:latin typeface="Times New Roman" charset="0"/>
                </a:rPr>
                <a:t>Computer Science Aptitude Test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32889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88933" y="2407025"/>
            <a:ext cx="7333801" cy="2056775"/>
          </a:xfrm>
        </p:spPr>
        <p:txBody>
          <a:bodyPr>
            <a:normAutofit/>
          </a:bodyPr>
          <a:lstStyle/>
          <a:p>
            <a:r>
              <a:rPr kumimoji="1" lang="en-US" altLang="zh-TW" dirty="0" smtClean="0"/>
              <a:t>Multivariate Analysis (Correlation)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313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0187" y="1432836"/>
            <a:ext cx="8913813" cy="4722813"/>
          </a:xfrm>
          <a:prstGeom prst="rect">
            <a:avLst/>
          </a:prstGeom>
          <a:noFill/>
          <a:ln/>
        </p:spPr>
      </p:pic>
    </p:spTree>
    <p:extLst>
      <p:ext uri="{BB962C8B-B14F-4D97-AF65-F5344CB8AC3E}">
        <p14:creationId xmlns:p14="http://schemas.microsoft.com/office/powerpoint/2010/main" val="40591964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l"/>
            <a:r>
              <a:rPr lang="en-US" altLang="zh-TW" dirty="0" smtClean="0"/>
              <a:t>Bivariate </a:t>
            </a:r>
            <a:r>
              <a:rPr lang="en-US" altLang="zh-TW" dirty="0"/>
              <a:t>Data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b="1" dirty="0">
                <a:solidFill>
                  <a:schemeClr val="hlink"/>
                </a:solidFill>
                <a:latin typeface="Calibri"/>
                <a:cs typeface="Calibri"/>
              </a:rPr>
              <a:t>Bivariate Data</a:t>
            </a:r>
            <a:r>
              <a:rPr lang="en-US" altLang="zh-TW" sz="2400" dirty="0">
                <a:latin typeface="Calibri"/>
                <a:cs typeface="Calibri"/>
              </a:rPr>
              <a:t>: Consists of the values of two different response variables that are obtained from the same population of interest.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endParaRPr lang="en-US" altLang="zh-TW" sz="2400" dirty="0">
              <a:latin typeface="Calibri"/>
              <a:cs typeface="Calibri"/>
            </a:endParaRPr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dirty="0">
                <a:latin typeface="Calibri"/>
                <a:cs typeface="Calibri"/>
              </a:rPr>
              <a:t>Three combinations of variable types: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dirty="0">
                <a:latin typeface="Calibri"/>
                <a:cs typeface="Calibri"/>
              </a:rPr>
              <a:t>1.	Both variables are qualitative (attribute).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dirty="0">
                <a:latin typeface="Calibri"/>
                <a:cs typeface="Calibri"/>
              </a:rPr>
              <a:t>2.	One variable is qualitative (attribute) and the other is 		quantitative (numerical).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dirty="0">
                <a:latin typeface="Calibri"/>
                <a:cs typeface="Calibri"/>
              </a:rPr>
              <a:t>3.	Both variables are quantitative (both numerical).</a:t>
            </a:r>
          </a:p>
        </p:txBody>
      </p:sp>
    </p:spTree>
    <p:extLst>
      <p:ext uri="{BB962C8B-B14F-4D97-AF65-F5344CB8AC3E}">
        <p14:creationId xmlns:p14="http://schemas.microsoft.com/office/powerpoint/2010/main" val="16628099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TW" sz="2400" b="1">
                <a:solidFill>
                  <a:schemeClr val="hlink"/>
                </a:solidFill>
              </a:rPr>
              <a:t>Two Qualitative Variables</a:t>
            </a:r>
            <a:r>
              <a:rPr lang="en-US" altLang="zh-TW" sz="2400"/>
              <a:t>: </a:t>
            </a:r>
          </a:p>
          <a:p>
            <a:pPr marL="0" indent="0">
              <a:buFontTx/>
              <a:buNone/>
            </a:pPr>
            <a:r>
              <a:rPr lang="en-US" altLang="zh-TW" sz="2400"/>
              <a:t>When bivariate data results from two qualitative (attribute or categorical) variables, the data is often arranged on a </a:t>
            </a:r>
            <a:r>
              <a:rPr lang="en-US" altLang="zh-TW" sz="2400" i="1">
                <a:solidFill>
                  <a:schemeClr val="tx2"/>
                </a:solidFill>
              </a:rPr>
              <a:t>cross</a:t>
            </a:r>
            <a:r>
              <a:rPr lang="en-US" altLang="zh-TW" sz="2400"/>
              <a:t>-</a:t>
            </a:r>
            <a:r>
              <a:rPr lang="en-US" altLang="zh-TW" sz="2400" i="1">
                <a:solidFill>
                  <a:schemeClr val="tx2"/>
                </a:solidFill>
              </a:rPr>
              <a:t>tabulation</a:t>
            </a:r>
            <a:r>
              <a:rPr lang="en-US" altLang="zh-TW" sz="2400"/>
              <a:t> or </a:t>
            </a:r>
            <a:r>
              <a:rPr lang="en-US" altLang="zh-TW" sz="2400" i="1">
                <a:solidFill>
                  <a:schemeClr val="tx2"/>
                </a:solidFill>
              </a:rPr>
              <a:t>contingency table</a:t>
            </a:r>
            <a:r>
              <a:rPr lang="en-US" altLang="zh-TW" sz="2400"/>
              <a:t>.</a:t>
            </a:r>
          </a:p>
          <a:p>
            <a:pPr marL="0" indent="0">
              <a:buFontTx/>
              <a:buNone/>
            </a:pPr>
            <a:endParaRPr lang="en-US" altLang="zh-TW" sz="2400"/>
          </a:p>
          <a:p>
            <a:pPr marL="0" indent="0">
              <a:buFontTx/>
              <a:buNone/>
            </a:pPr>
            <a:r>
              <a:rPr lang="en-US" altLang="zh-TW" sz="2400" i="1">
                <a:solidFill>
                  <a:schemeClr val="tx2"/>
                </a:solidFill>
              </a:rPr>
              <a:t>Example</a:t>
            </a:r>
            <a:r>
              <a:rPr lang="en-US" altLang="zh-TW" sz="2400"/>
              <a:t>: A survey was conducted to investigate the relationship between preferences for television, radio, or newspaper for national news, and gender.  The results are given in the table below.</a:t>
            </a:r>
          </a:p>
          <a:p>
            <a:pPr marL="0" indent="0">
              <a:buFontTx/>
              <a:buNone/>
            </a:pPr>
            <a:endParaRPr lang="en-US" altLang="zh-TW" sz="2400"/>
          </a:p>
        </p:txBody>
      </p:sp>
      <p:graphicFrame>
        <p:nvGraphicFramePr>
          <p:cNvPr id="6147" name="Object 3"/>
          <p:cNvGraphicFramePr>
            <a:graphicFrameLocks/>
          </p:cNvGraphicFramePr>
          <p:nvPr/>
        </p:nvGraphicFramePr>
        <p:xfrm>
          <a:off x="2092325" y="4217988"/>
          <a:ext cx="4940300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1" name="工作表" r:id="rId3" imgW="4949640" imgH="1155600" progId="Excel.Sheet.8">
                  <p:embed/>
                </p:oleObj>
              </mc:Choice>
              <mc:Fallback>
                <p:oleObj name="工作表" r:id="rId3" imgW="4949640" imgH="1155600" progId="Excel.Shee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325" y="4217988"/>
                        <a:ext cx="4940300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56212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TW" sz="2400"/>
              <a:t>This table may be extended to display the </a:t>
            </a:r>
            <a:r>
              <a:rPr lang="en-US" altLang="zh-TW" sz="2400" i="1">
                <a:solidFill>
                  <a:schemeClr val="tx2"/>
                </a:solidFill>
              </a:rPr>
              <a:t>marginal totals</a:t>
            </a:r>
            <a:r>
              <a:rPr lang="en-US" altLang="zh-TW" sz="2400"/>
              <a:t> (or </a:t>
            </a:r>
            <a:r>
              <a:rPr lang="en-US" altLang="zh-TW" sz="2400" i="1">
                <a:solidFill>
                  <a:schemeClr val="tx2"/>
                </a:solidFill>
              </a:rPr>
              <a:t>marginals</a:t>
            </a:r>
            <a:r>
              <a:rPr lang="en-US" altLang="zh-TW" sz="2400"/>
              <a:t>).  The total of the marginal totals is the </a:t>
            </a:r>
            <a:r>
              <a:rPr lang="en-US" altLang="zh-TW" sz="2400" i="1">
                <a:solidFill>
                  <a:schemeClr val="tx2"/>
                </a:solidFill>
              </a:rPr>
              <a:t>grand total</a:t>
            </a:r>
            <a:r>
              <a:rPr lang="en-US" altLang="zh-TW" sz="2400"/>
              <a:t>.</a:t>
            </a:r>
          </a:p>
          <a:p>
            <a:pPr marL="0" indent="0">
              <a:buFontTx/>
              <a:buNone/>
            </a:pPr>
            <a:endParaRPr lang="en-US" altLang="zh-TW" sz="2400"/>
          </a:p>
          <a:p>
            <a:pPr marL="0" indent="0">
              <a:buFontTx/>
              <a:buNone/>
            </a:pPr>
            <a:endParaRPr lang="en-US" altLang="zh-TW" sz="2400"/>
          </a:p>
          <a:p>
            <a:pPr marL="0" indent="0">
              <a:buFontTx/>
              <a:buNone/>
            </a:pPr>
            <a:endParaRPr lang="en-US" altLang="zh-TW" sz="2400"/>
          </a:p>
          <a:p>
            <a:pPr marL="0" indent="0">
              <a:buFontTx/>
              <a:buNone/>
            </a:pPr>
            <a:endParaRPr lang="en-US" altLang="zh-TW" sz="2400"/>
          </a:p>
          <a:p>
            <a:pPr marL="0" indent="0">
              <a:buFontTx/>
              <a:buNone/>
            </a:pPr>
            <a:endParaRPr lang="en-US" altLang="zh-TW" sz="2400"/>
          </a:p>
          <a:p>
            <a:pPr marL="0" indent="0">
              <a:buFontTx/>
              <a:buNone/>
            </a:pPr>
            <a:endParaRPr lang="en-US" altLang="zh-TW" sz="2400"/>
          </a:p>
          <a:p>
            <a:pPr marL="0" indent="0">
              <a:buFontTx/>
              <a:buNone/>
            </a:pPr>
            <a:endParaRPr lang="en-US" altLang="zh-TW" sz="2400"/>
          </a:p>
          <a:p>
            <a:pPr marL="0" indent="0">
              <a:buFontTx/>
              <a:buNone/>
            </a:pPr>
            <a:r>
              <a:rPr lang="en-US" altLang="zh-TW" sz="2400"/>
              <a:t>Contingency tables often show percentages (relative frequencies).  These percentages are based on the entire sample or on the subsample (row or column) classifications.</a:t>
            </a:r>
          </a:p>
          <a:p>
            <a:pPr marL="0" indent="0">
              <a:buFontTx/>
              <a:buNone/>
            </a:pPr>
            <a:endParaRPr lang="en-US" altLang="zh-TW" sz="2400"/>
          </a:p>
          <a:p>
            <a:pPr marL="0" indent="0">
              <a:buFontTx/>
              <a:buNone/>
            </a:pPr>
            <a:endParaRPr lang="en-US" altLang="zh-TW" sz="2400"/>
          </a:p>
          <a:p>
            <a:pPr marL="0" indent="0">
              <a:buFontTx/>
              <a:buNone/>
            </a:pPr>
            <a:endParaRPr lang="en-US" altLang="zh-TW" sz="2400"/>
          </a:p>
        </p:txBody>
      </p:sp>
      <p:graphicFrame>
        <p:nvGraphicFramePr>
          <p:cNvPr id="7171" name="Object 3"/>
          <p:cNvGraphicFramePr>
            <a:graphicFrameLocks/>
          </p:cNvGraphicFramePr>
          <p:nvPr/>
        </p:nvGraphicFramePr>
        <p:xfrm>
          <a:off x="1241425" y="1412875"/>
          <a:ext cx="6643688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4" name="工作表" r:id="rId3" imgW="6653160" imgH="1736640" progId="Excel.Sheet.8">
                  <p:embed/>
                </p:oleObj>
              </mc:Choice>
              <mc:Fallback>
                <p:oleObj name="工作表" r:id="rId3" imgW="6653160" imgH="1736640" progId="Excel.Shee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425" y="1412875"/>
                        <a:ext cx="6643688" cy="172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848538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TW" sz="2400" b="1">
                <a:solidFill>
                  <a:schemeClr val="tx2"/>
                </a:solidFill>
              </a:rPr>
              <a:t>Percentages based on the grand total (entire sample)</a:t>
            </a:r>
            <a:r>
              <a:rPr lang="en-US" altLang="zh-TW" sz="2400"/>
              <a:t>:</a:t>
            </a:r>
          </a:p>
          <a:p>
            <a:pPr marL="0" indent="0">
              <a:buFontTx/>
              <a:buNone/>
            </a:pPr>
            <a:r>
              <a:rPr lang="en-US" altLang="zh-TW" sz="2400"/>
              <a:t>The previous contingency table may be converted to percentages of the grand total by dividing each frequency by the grand total and multiplying by 100.</a:t>
            </a:r>
          </a:p>
          <a:p>
            <a:pPr marL="0" indent="0">
              <a:buFontTx/>
              <a:buNone/>
            </a:pPr>
            <a:endParaRPr lang="en-US" altLang="zh-TW" sz="2400"/>
          </a:p>
          <a:p>
            <a:pPr marL="0" indent="0">
              <a:buFontTx/>
              <a:buNone/>
            </a:pPr>
            <a:r>
              <a:rPr lang="en-US" altLang="zh-TW" sz="2400"/>
              <a:t>For example, 175 becomes 13.3%</a:t>
            </a:r>
          </a:p>
          <a:p>
            <a:pPr marL="0" indent="0">
              <a:buFontTx/>
              <a:buNone/>
            </a:pPr>
            <a:endParaRPr lang="en-US" altLang="zh-TW" sz="2400"/>
          </a:p>
          <a:p>
            <a:pPr marL="0" indent="0">
              <a:buFontTx/>
              <a:buNone/>
            </a:pPr>
            <a:endParaRPr lang="zh-TW" altLang="en-US" sz="2400"/>
          </a:p>
        </p:txBody>
      </p:sp>
      <p:graphicFrame>
        <p:nvGraphicFramePr>
          <p:cNvPr id="8195" name="Object 3"/>
          <p:cNvGraphicFramePr>
            <a:graphicFrameLocks/>
          </p:cNvGraphicFramePr>
          <p:nvPr/>
        </p:nvGraphicFramePr>
        <p:xfrm>
          <a:off x="1241425" y="4186238"/>
          <a:ext cx="6643688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7" name="Worksheet" r:id="rId3" imgW="6653160" imgH="1523880" progId="Excel.Sheet.5">
                  <p:embed/>
                </p:oleObj>
              </mc:Choice>
              <mc:Fallback>
                <p:oleObj name="Worksheet" r:id="rId3" imgW="6653160" imgH="1523880" progId="Excel.Sheet.5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425" y="4186238"/>
                        <a:ext cx="6643688" cy="151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/>
          <p:cNvGraphicFramePr>
            <a:graphicFrameLocks/>
          </p:cNvGraphicFramePr>
          <p:nvPr/>
        </p:nvGraphicFramePr>
        <p:xfrm>
          <a:off x="758825" y="2995613"/>
          <a:ext cx="239077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8" name="方程式" r:id="rId5" imgW="2400120" imgH="787320" progId="Equation.3">
                  <p:embed/>
                </p:oleObj>
              </mc:Choice>
              <mc:Fallback>
                <p:oleObj name="方程式" r:id="rId5" imgW="2400120" imgH="78732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2995613"/>
                        <a:ext cx="239077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0449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/>
          <p:cNvGraphicFramePr>
            <a:graphicFrameLocks noGrp="1"/>
          </p:cNvGraphicFramePr>
          <p:nvPr>
            <p:ph type="body" idx="1"/>
            <p:extLst>
              <p:ext uri="{D42A27DB-BD31-4B8C-83A1-F6EECF244321}">
                <p14:modId xmlns:p14="http://schemas.microsoft.com/office/powerpoint/2010/main" val="771056851"/>
              </p:ext>
            </p:extLst>
          </p:nvPr>
        </p:nvGraphicFramePr>
        <p:xfrm>
          <a:off x="0" y="1506538"/>
          <a:ext cx="9142413" cy="499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2" name="圖表" r:id="rId3" imgW="4699000" imgH="2565400" progId="Excel.Chart.8">
                  <p:embed followColorScheme="full"/>
                </p:oleObj>
              </mc:Choice>
              <mc:Fallback>
                <p:oleObj name="圖表" r:id="rId3" imgW="4699000" imgH="2565400" progId="Excel.Chart.8">
                  <p:embed followColorScheme="full"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06538"/>
                        <a:ext cx="9142413" cy="499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  <a:ext uri="{FAA26D3D-D897-4be2-8F04-BA451C77F1D7}">
                          <ma14:placeholderFlag xmlns:ma14="http://schemas.microsoft.com/office/mac/drawingml/2011/main" val="1"/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762000" y="381000"/>
            <a:ext cx="7696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/>
              <a:t>These same statistics (numerical values describing sample results) can be shown in a (side-by-side) bar graph.</a:t>
            </a:r>
          </a:p>
        </p:txBody>
      </p:sp>
    </p:spTree>
    <p:extLst>
      <p:ext uri="{BB962C8B-B14F-4D97-AF65-F5344CB8AC3E}">
        <p14:creationId xmlns:p14="http://schemas.microsoft.com/office/powerpoint/2010/main" val="31540502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TW" sz="2400" b="1" dirty="0">
                <a:solidFill>
                  <a:schemeClr val="tx2"/>
                </a:solidFill>
              </a:rPr>
              <a:t>Percentages based on row (column) totals</a:t>
            </a:r>
            <a:r>
              <a:rPr lang="en-US" altLang="zh-TW" sz="2400" dirty="0"/>
              <a:t>:</a:t>
            </a:r>
          </a:p>
          <a:p>
            <a:pPr marL="0" indent="0">
              <a:buFontTx/>
              <a:buNone/>
            </a:pPr>
            <a:r>
              <a:rPr lang="en-US" altLang="zh-TW" sz="2400" dirty="0"/>
              <a:t>The entries in a contingency table may also be expressed as percentages of the row (column) totals by dividing each row (column) entry by that </a:t>
            </a:r>
            <a:r>
              <a:rPr lang="en-US" altLang="zh-TW" sz="2400" dirty="0" smtClean="0"/>
              <a:t>row</a:t>
            </a:r>
            <a:r>
              <a:rPr lang="en-US" altLang="zh-TW" sz="2400" dirty="0" smtClean="0">
                <a:latin typeface="Arial"/>
              </a:rPr>
              <a:t>’</a:t>
            </a:r>
            <a:r>
              <a:rPr lang="en-US" altLang="zh-TW" sz="2400" dirty="0" smtClean="0"/>
              <a:t>s </a:t>
            </a:r>
            <a:r>
              <a:rPr lang="en-US" altLang="zh-TW" sz="2400" dirty="0"/>
              <a:t>(</a:t>
            </a:r>
            <a:r>
              <a:rPr lang="en-US" altLang="zh-TW" sz="2400" dirty="0" smtClean="0"/>
              <a:t>column</a:t>
            </a:r>
            <a:r>
              <a:rPr lang="en-US" altLang="zh-TW" sz="2400" dirty="0" smtClean="0">
                <a:latin typeface="Arial"/>
              </a:rPr>
              <a:t>’</a:t>
            </a:r>
            <a:r>
              <a:rPr lang="en-US" altLang="zh-TW" sz="2400" dirty="0" smtClean="0"/>
              <a:t>s</a:t>
            </a:r>
            <a:r>
              <a:rPr lang="en-US" altLang="zh-TW" sz="2400" dirty="0"/>
              <a:t>) total and multiplying by 100.  The entries in the contingency table below are expressed as percentages of the column totals.</a:t>
            </a:r>
          </a:p>
          <a:p>
            <a:pPr marL="0" indent="0">
              <a:buFontTx/>
              <a:buNone/>
            </a:pPr>
            <a:endParaRPr lang="en-US" altLang="zh-TW" sz="2400" dirty="0"/>
          </a:p>
          <a:p>
            <a:pPr marL="0" indent="0">
              <a:buFontTx/>
              <a:buNone/>
            </a:pPr>
            <a:endParaRPr lang="en-US" altLang="zh-TW" sz="2400" dirty="0"/>
          </a:p>
          <a:p>
            <a:pPr marL="0" indent="0">
              <a:buFontTx/>
              <a:buNone/>
            </a:pPr>
            <a:endParaRPr lang="en-US" altLang="zh-TW" sz="2400" dirty="0"/>
          </a:p>
          <a:p>
            <a:pPr marL="0" indent="0">
              <a:buFontTx/>
              <a:buNone/>
            </a:pPr>
            <a:endParaRPr lang="en-US" altLang="zh-TW" sz="2400" dirty="0"/>
          </a:p>
          <a:p>
            <a:pPr marL="0" indent="0">
              <a:buFontTx/>
              <a:buNone/>
            </a:pPr>
            <a:endParaRPr lang="en-US" altLang="zh-TW" sz="2400" dirty="0"/>
          </a:p>
          <a:p>
            <a:pPr marL="0" indent="0">
              <a:buFontTx/>
              <a:buNone/>
            </a:pPr>
            <a:endParaRPr lang="en-US" altLang="zh-TW" sz="2400" dirty="0"/>
          </a:p>
          <a:p>
            <a:pPr marL="0" indent="0">
              <a:buFontTx/>
              <a:buNone/>
            </a:pPr>
            <a:r>
              <a:rPr lang="en-US" altLang="zh-TW" sz="2400" dirty="0"/>
              <a:t>These statistics may also be displayed in a side-by-side bar graph.</a:t>
            </a:r>
          </a:p>
          <a:p>
            <a:pPr marL="0" indent="0">
              <a:buFontTx/>
              <a:buNone/>
            </a:pPr>
            <a:endParaRPr lang="zh-TW" altLang="en-US" sz="2400" dirty="0"/>
          </a:p>
        </p:txBody>
      </p:sp>
      <p:graphicFrame>
        <p:nvGraphicFramePr>
          <p:cNvPr id="10243" name="Object 3"/>
          <p:cNvGraphicFramePr>
            <a:graphicFrameLocks/>
          </p:cNvGraphicFramePr>
          <p:nvPr/>
        </p:nvGraphicFramePr>
        <p:xfrm>
          <a:off x="1241425" y="2976563"/>
          <a:ext cx="6643688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5" name="工作表" r:id="rId3" imgW="6653160" imgH="1523880" progId="Excel.Sheet.8">
                  <p:embed/>
                </p:oleObj>
              </mc:Choice>
              <mc:Fallback>
                <p:oleObj name="工作表" r:id="rId3" imgW="6653160" imgH="1523880" progId="Excel.Shee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425" y="2976563"/>
                        <a:ext cx="6643688" cy="151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04920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b="1" dirty="0">
                <a:solidFill>
                  <a:schemeClr val="hlink"/>
                </a:solidFill>
              </a:rPr>
              <a:t>Two Quantitative Variables</a:t>
            </a:r>
            <a:r>
              <a:rPr lang="en-US" altLang="zh-TW" sz="2400" dirty="0"/>
              <a:t>:</a:t>
            </a:r>
          </a:p>
          <a:p>
            <a:pPr marL="0" indent="0">
              <a:buNone/>
              <a:tabLst>
                <a:tab pos="341313" algn="l"/>
              </a:tabLst>
            </a:pPr>
            <a:r>
              <a:rPr lang="en-US" altLang="zh-TW" sz="2400" dirty="0" smtClean="0"/>
              <a:t>Expressed </a:t>
            </a:r>
            <a:r>
              <a:rPr lang="en-US" altLang="zh-TW" sz="2400" dirty="0"/>
              <a:t>as </a:t>
            </a:r>
            <a:r>
              <a:rPr lang="en-US" altLang="zh-TW" sz="2400" i="1" dirty="0">
                <a:solidFill>
                  <a:schemeClr val="tx2"/>
                </a:solidFill>
              </a:rPr>
              <a:t>ordered pairs</a:t>
            </a:r>
            <a:r>
              <a:rPr lang="en-US" altLang="zh-TW" sz="2400" dirty="0"/>
              <a:t>: (</a:t>
            </a:r>
            <a:r>
              <a:rPr lang="en-US" altLang="zh-TW" sz="2400" i="1" dirty="0"/>
              <a:t>x</a:t>
            </a:r>
            <a:r>
              <a:rPr lang="en-US" altLang="zh-TW" sz="2400" dirty="0"/>
              <a:t>, </a:t>
            </a:r>
            <a:r>
              <a:rPr lang="en-US" altLang="zh-TW" sz="2400" i="1" dirty="0"/>
              <a:t>y</a:t>
            </a:r>
            <a:r>
              <a:rPr lang="en-US" altLang="zh-TW" sz="2400" dirty="0"/>
              <a:t>)</a:t>
            </a:r>
          </a:p>
          <a:p>
            <a:pPr marL="0" indent="0">
              <a:buNone/>
              <a:tabLst>
                <a:tab pos="341313" algn="l"/>
              </a:tabLst>
            </a:pPr>
            <a:endParaRPr lang="en-US" altLang="zh-TW" sz="2400" dirty="0"/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b="1" dirty="0">
                <a:solidFill>
                  <a:schemeClr val="hlink"/>
                </a:solidFill>
              </a:rPr>
              <a:t>Scatter Diagram</a:t>
            </a:r>
            <a:r>
              <a:rPr lang="en-US" altLang="zh-TW" sz="2400" dirty="0"/>
              <a:t>: A plot of all the ordered pairs of bivariate data on a coordinate axis system.  The input variable </a:t>
            </a:r>
            <a:r>
              <a:rPr lang="en-US" altLang="zh-TW" sz="2400" i="1" dirty="0"/>
              <a:t>x</a:t>
            </a:r>
            <a:r>
              <a:rPr lang="en-US" altLang="zh-TW" sz="2400" dirty="0"/>
              <a:t> is plotted on the horizontal axis, and the output variable </a:t>
            </a:r>
            <a:r>
              <a:rPr lang="en-US" altLang="zh-TW" sz="2400" i="1" dirty="0"/>
              <a:t>y</a:t>
            </a:r>
            <a:r>
              <a:rPr lang="en-US" altLang="zh-TW" sz="2400" dirty="0"/>
              <a:t> is plotted on the vertical axis.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3516930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TW" sz="2400" i="1" dirty="0">
                <a:solidFill>
                  <a:schemeClr val="tx2"/>
                </a:solidFill>
              </a:rPr>
              <a:t>Example</a:t>
            </a:r>
            <a:r>
              <a:rPr lang="en-US" altLang="zh-TW" sz="2400" dirty="0"/>
              <a:t>: In a study involving </a:t>
            </a:r>
            <a:r>
              <a:rPr lang="en-US" altLang="zh-TW" sz="2400" dirty="0" smtClean="0"/>
              <a:t>children</a:t>
            </a:r>
            <a:r>
              <a:rPr lang="en-US" altLang="zh-TW" sz="2400" dirty="0" smtClean="0">
                <a:latin typeface="Arial"/>
              </a:rPr>
              <a:t>’</a:t>
            </a:r>
            <a:r>
              <a:rPr lang="en-US" altLang="zh-TW" sz="2400" dirty="0" smtClean="0"/>
              <a:t>s </a:t>
            </a:r>
            <a:r>
              <a:rPr lang="en-US" altLang="zh-TW" sz="2400" dirty="0"/>
              <a:t>fear related to being hospitalized, the age and the score each child made on the Child Medical Fear Scale (CMFS) are given in the table below.</a:t>
            </a:r>
          </a:p>
          <a:p>
            <a:pPr marL="0" indent="0">
              <a:buFontTx/>
              <a:buNone/>
            </a:pPr>
            <a:endParaRPr lang="en-US" altLang="zh-TW" sz="2400" dirty="0"/>
          </a:p>
          <a:p>
            <a:pPr marL="0" indent="0">
              <a:buFontTx/>
              <a:buNone/>
            </a:pPr>
            <a:endParaRPr lang="en-US" altLang="zh-TW" sz="2400" dirty="0"/>
          </a:p>
          <a:p>
            <a:pPr marL="0" indent="0">
              <a:buFontTx/>
              <a:buNone/>
            </a:pPr>
            <a:endParaRPr lang="en-US" altLang="zh-TW" sz="2400" dirty="0"/>
          </a:p>
          <a:p>
            <a:pPr marL="0" indent="0">
              <a:buFontTx/>
              <a:buNone/>
            </a:pPr>
            <a:endParaRPr lang="en-US" altLang="zh-TW" sz="2400" dirty="0"/>
          </a:p>
          <a:p>
            <a:pPr marL="0" indent="0">
              <a:buFontTx/>
              <a:buNone/>
            </a:pPr>
            <a:endParaRPr lang="en-US" altLang="zh-TW" sz="2400" dirty="0"/>
          </a:p>
          <a:p>
            <a:pPr marL="0" indent="0">
              <a:buFontTx/>
              <a:buNone/>
            </a:pPr>
            <a:endParaRPr lang="en-US" altLang="zh-TW" sz="2400" dirty="0"/>
          </a:p>
          <a:p>
            <a:pPr marL="0" indent="0">
              <a:buFontTx/>
              <a:buNone/>
            </a:pPr>
            <a:endParaRPr lang="en-US" altLang="zh-TW" sz="2400" dirty="0"/>
          </a:p>
          <a:p>
            <a:pPr marL="0" indent="0">
              <a:buFontTx/>
              <a:buNone/>
            </a:pPr>
            <a:r>
              <a:rPr lang="en-US" altLang="zh-TW" sz="2400" dirty="0"/>
              <a:t>Construct a scatter diagram for this data.</a:t>
            </a:r>
          </a:p>
        </p:txBody>
      </p:sp>
      <p:graphicFrame>
        <p:nvGraphicFramePr>
          <p:cNvPr id="16387" name="Object 3"/>
          <p:cNvGraphicFramePr>
            <a:graphicFrameLocks/>
          </p:cNvGraphicFramePr>
          <p:nvPr/>
        </p:nvGraphicFramePr>
        <p:xfrm>
          <a:off x="573088" y="2170113"/>
          <a:ext cx="7980362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0" name="工作表" r:id="rId3" imgW="7989840" imgH="2050920" progId="Excel.Sheet.8">
                  <p:embed/>
                </p:oleObj>
              </mc:Choice>
              <mc:Fallback>
                <p:oleObj name="工作表" r:id="rId3" imgW="7989840" imgH="2050920" progId="Excel.Shee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8" y="2170113"/>
                        <a:ext cx="7980362" cy="204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80098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Grp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438" y="762000"/>
            <a:ext cx="9123362" cy="6096000"/>
          </a:xfrm>
          <a:noFill/>
          <a:ln/>
        </p:spPr>
      </p:pic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914400" y="228600"/>
            <a:ext cx="7467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zh-TW" b="1">
                <a:solidFill>
                  <a:schemeClr val="tx2"/>
                </a:solidFill>
              </a:rPr>
              <a:t>Scatter diagram</a:t>
            </a:r>
            <a:r>
              <a:rPr lang="en-US" altLang="zh-TW"/>
              <a:t>: </a:t>
            </a:r>
          </a:p>
          <a:p>
            <a:r>
              <a:rPr lang="en-US" altLang="zh-TW"/>
              <a:t>age = input variable, CMFS = output variable</a:t>
            </a:r>
          </a:p>
        </p:txBody>
      </p:sp>
    </p:spTree>
    <p:extLst>
      <p:ext uri="{BB962C8B-B14F-4D97-AF65-F5344CB8AC3E}">
        <p14:creationId xmlns:p14="http://schemas.microsoft.com/office/powerpoint/2010/main" val="39579445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l"/>
            <a:r>
              <a:rPr lang="en-US" altLang="zh-TW" dirty="0" smtClean="0"/>
              <a:t>Linear </a:t>
            </a:r>
            <a:r>
              <a:rPr lang="en-US" altLang="zh-TW" dirty="0"/>
              <a:t>Correlation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77200" cy="4191000"/>
          </a:xfrm>
          <a:noFill/>
          <a:ln/>
        </p:spPr>
        <p:txBody>
          <a:bodyPr/>
          <a:lstStyle/>
          <a:p>
            <a:r>
              <a:rPr lang="en-US" altLang="zh-TW" sz="2800"/>
              <a:t>Measure the strength of a </a:t>
            </a:r>
            <a:r>
              <a:rPr lang="en-US" altLang="zh-TW" sz="2800" i="1">
                <a:solidFill>
                  <a:schemeClr val="tx2"/>
                </a:solidFill>
              </a:rPr>
              <a:t>linear</a:t>
            </a:r>
            <a:r>
              <a:rPr lang="en-US" altLang="zh-TW" sz="2800"/>
              <a:t> relationship between two variables.</a:t>
            </a:r>
          </a:p>
          <a:p>
            <a:r>
              <a:rPr lang="en-US" altLang="zh-TW" sz="2800"/>
              <a:t>As </a:t>
            </a:r>
            <a:r>
              <a:rPr lang="en-US" altLang="zh-TW" sz="2800" i="1"/>
              <a:t>x</a:t>
            </a:r>
            <a:r>
              <a:rPr lang="en-US" altLang="zh-TW" sz="2800"/>
              <a:t> increases, no definite shift in </a:t>
            </a:r>
            <a:r>
              <a:rPr lang="en-US" altLang="zh-TW" sz="2800" i="1"/>
              <a:t>y</a:t>
            </a:r>
            <a:r>
              <a:rPr lang="en-US" altLang="zh-TW" sz="2800"/>
              <a:t>: </a:t>
            </a:r>
            <a:r>
              <a:rPr lang="en-US" altLang="zh-TW" sz="2800" b="1">
                <a:solidFill>
                  <a:schemeClr val="hlink"/>
                </a:solidFill>
              </a:rPr>
              <a:t>no correlation</a:t>
            </a:r>
            <a:r>
              <a:rPr lang="en-US" altLang="zh-TW" sz="2800"/>
              <a:t>.</a:t>
            </a:r>
          </a:p>
          <a:p>
            <a:r>
              <a:rPr lang="en-US" altLang="zh-TW" sz="2800"/>
              <a:t>As </a:t>
            </a:r>
            <a:r>
              <a:rPr lang="en-US" altLang="zh-TW" sz="2800" i="1"/>
              <a:t>x</a:t>
            </a:r>
            <a:r>
              <a:rPr lang="en-US" altLang="zh-TW" sz="2800"/>
              <a:t> increase, a definite shift in </a:t>
            </a:r>
            <a:r>
              <a:rPr lang="en-US" altLang="zh-TW" sz="2800" i="1"/>
              <a:t>y</a:t>
            </a:r>
            <a:r>
              <a:rPr lang="en-US" altLang="zh-TW" sz="2800"/>
              <a:t>: correlation.</a:t>
            </a:r>
          </a:p>
          <a:p>
            <a:r>
              <a:rPr lang="en-US" altLang="zh-TW" sz="2800"/>
              <a:t>Positive correlation: </a:t>
            </a:r>
            <a:r>
              <a:rPr lang="en-US" altLang="zh-TW" sz="2800" i="1"/>
              <a:t>x</a:t>
            </a:r>
            <a:r>
              <a:rPr lang="en-US" altLang="zh-TW" sz="2800"/>
              <a:t> increases, </a:t>
            </a:r>
            <a:r>
              <a:rPr lang="en-US" altLang="zh-TW" sz="2800" i="1"/>
              <a:t>y</a:t>
            </a:r>
            <a:r>
              <a:rPr lang="en-US" altLang="zh-TW" sz="2800"/>
              <a:t> increases.</a:t>
            </a:r>
          </a:p>
          <a:p>
            <a:r>
              <a:rPr lang="en-US" altLang="zh-TW" sz="2800"/>
              <a:t>Negative correlation: </a:t>
            </a:r>
            <a:r>
              <a:rPr lang="en-US" altLang="zh-TW" sz="2800" i="1"/>
              <a:t>x</a:t>
            </a:r>
            <a:r>
              <a:rPr lang="en-US" altLang="zh-TW" sz="2800"/>
              <a:t> increases, </a:t>
            </a:r>
            <a:r>
              <a:rPr lang="en-US" altLang="zh-TW" sz="2800" i="1"/>
              <a:t>y</a:t>
            </a:r>
            <a:r>
              <a:rPr lang="en-US" altLang="zh-TW" sz="2800"/>
              <a:t> decreases.</a:t>
            </a:r>
          </a:p>
          <a:p>
            <a:r>
              <a:rPr lang="en-US" altLang="zh-TW" sz="2800"/>
              <a:t>If the ordered pairs follow a straight-line path: </a:t>
            </a:r>
            <a:r>
              <a:rPr lang="en-US" altLang="zh-TW" sz="2800" b="1">
                <a:solidFill>
                  <a:schemeClr val="hlink"/>
                </a:solidFill>
              </a:rPr>
              <a:t>linear correlation</a:t>
            </a:r>
            <a:r>
              <a:rPr lang="en-US" altLang="zh-TW" sz="28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51255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Grp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2413" cy="6856413"/>
          </a:xfrm>
          <a:noFill/>
          <a:ln/>
        </p:spPr>
      </p:pic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762000" y="228600"/>
            <a:ext cx="7620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zh-TW" i="1">
                <a:solidFill>
                  <a:schemeClr val="tx2"/>
                </a:solidFill>
              </a:rPr>
              <a:t>Example</a:t>
            </a:r>
            <a:r>
              <a:rPr lang="en-US" altLang="zh-TW"/>
              <a:t>: no correlation.  </a:t>
            </a:r>
          </a:p>
          <a:p>
            <a:r>
              <a:rPr lang="en-US" altLang="zh-TW"/>
              <a:t>As </a:t>
            </a:r>
            <a:r>
              <a:rPr lang="en-US" altLang="zh-TW" i="1"/>
              <a:t>x</a:t>
            </a:r>
            <a:r>
              <a:rPr lang="en-US" altLang="zh-TW"/>
              <a:t> increases, there is no definite shift in </a:t>
            </a:r>
            <a:r>
              <a:rPr lang="en-US" altLang="zh-TW" i="1"/>
              <a:t>y</a:t>
            </a:r>
            <a:r>
              <a:rPr lang="en-US" altLang="zh-TW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73910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195263"/>
            <a:ext cx="8799513" cy="666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altLang="zh-TW" sz="2400" i="1">
                <a:solidFill>
                  <a:schemeClr val="tx2"/>
                </a:solidFill>
              </a:rPr>
              <a:t>Example</a:t>
            </a:r>
            <a:r>
              <a:rPr lang="en-US" altLang="zh-TW" sz="2400"/>
              <a:t>: positive correlation.</a:t>
            </a:r>
          </a:p>
          <a:p>
            <a:pPr>
              <a:buFontTx/>
              <a:buNone/>
            </a:pPr>
            <a:r>
              <a:rPr lang="en-US" altLang="zh-TW" sz="2400"/>
              <a:t>As </a:t>
            </a:r>
            <a:r>
              <a:rPr lang="en-US" altLang="zh-TW" sz="2400" i="1"/>
              <a:t>x</a:t>
            </a:r>
            <a:r>
              <a:rPr lang="en-US" altLang="zh-TW" sz="2400"/>
              <a:t> increases, </a:t>
            </a:r>
            <a:r>
              <a:rPr lang="en-US" altLang="zh-TW" sz="2400" i="1"/>
              <a:t>y</a:t>
            </a:r>
            <a:r>
              <a:rPr lang="en-US" altLang="zh-TW" sz="2400"/>
              <a:t> also increases.</a:t>
            </a:r>
          </a:p>
        </p:txBody>
      </p:sp>
    </p:spTree>
    <p:extLst>
      <p:ext uri="{BB962C8B-B14F-4D97-AF65-F5344CB8AC3E}">
        <p14:creationId xmlns:p14="http://schemas.microsoft.com/office/powerpoint/2010/main" val="2981702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2113"/>
            <a:ext cx="9142413" cy="646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altLang="zh-TW" sz="2400" i="1">
                <a:solidFill>
                  <a:schemeClr val="tx2"/>
                </a:solidFill>
              </a:rPr>
              <a:t>Example</a:t>
            </a:r>
            <a:r>
              <a:rPr lang="en-US" altLang="zh-TW" sz="2400"/>
              <a:t>: negative correlation.</a:t>
            </a:r>
          </a:p>
          <a:p>
            <a:pPr>
              <a:buFontTx/>
              <a:buNone/>
            </a:pPr>
            <a:r>
              <a:rPr lang="en-US" altLang="zh-TW" sz="2400"/>
              <a:t>As </a:t>
            </a:r>
            <a:r>
              <a:rPr lang="en-US" altLang="zh-TW" sz="2400" i="1"/>
              <a:t>x</a:t>
            </a:r>
            <a:r>
              <a:rPr lang="en-US" altLang="zh-TW" sz="2400"/>
              <a:t> increases, </a:t>
            </a:r>
            <a:r>
              <a:rPr lang="en-US" altLang="zh-TW" sz="2400" i="1"/>
              <a:t>y</a:t>
            </a:r>
            <a:r>
              <a:rPr lang="en-US" altLang="zh-TW" sz="2400"/>
              <a:t> decreases.</a:t>
            </a:r>
          </a:p>
          <a:p>
            <a:pPr>
              <a:buFontTx/>
              <a:buNone/>
            </a:pPr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8776713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i="1" dirty="0">
                <a:solidFill>
                  <a:schemeClr val="tx2"/>
                </a:solidFill>
              </a:rPr>
              <a:t>Note</a:t>
            </a:r>
            <a:r>
              <a:rPr lang="en-US" altLang="zh-TW" sz="2400" dirty="0"/>
              <a:t>: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dirty="0"/>
              <a:t>1.	Perfect positive correlation: all the points lie along a line 	with positive slope.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dirty="0"/>
              <a:t>2.	Perfect negative correlation: all the points lie along a line 	with negative slope.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dirty="0"/>
              <a:t>3.	If the points lie along a horizontal or vertical line: no 		correlation.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dirty="0"/>
              <a:t>4.	If the points exhibit some other </a:t>
            </a:r>
            <a:r>
              <a:rPr lang="en-US" altLang="zh-TW" sz="2400" i="1" dirty="0">
                <a:solidFill>
                  <a:schemeClr val="tx2"/>
                </a:solidFill>
              </a:rPr>
              <a:t>nonlinear</a:t>
            </a:r>
            <a:r>
              <a:rPr lang="en-US" altLang="zh-TW" sz="2400" dirty="0"/>
              <a:t> pattern: no linear </a:t>
            </a:r>
            <a:r>
              <a:rPr lang="en-US" altLang="zh-TW" sz="2400" dirty="0" smtClean="0"/>
              <a:t>relationship</a:t>
            </a:r>
            <a:r>
              <a:rPr lang="en-US" altLang="zh-TW" sz="2400" dirty="0"/>
              <a:t>, no correlation.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dirty="0"/>
              <a:t>5.	Need some way to </a:t>
            </a:r>
            <a:r>
              <a:rPr lang="en-US" altLang="zh-TW" sz="2400" i="1" dirty="0">
                <a:solidFill>
                  <a:schemeClr val="tx2"/>
                </a:solidFill>
              </a:rPr>
              <a:t>measure</a:t>
            </a:r>
            <a:r>
              <a:rPr lang="en-US" altLang="zh-TW" sz="2400" dirty="0"/>
              <a:t> correlation.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994845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b="1" dirty="0">
                <a:solidFill>
                  <a:schemeClr val="hlink"/>
                </a:solidFill>
              </a:rPr>
              <a:t>Coefficient of linear correlation</a:t>
            </a:r>
            <a:r>
              <a:rPr lang="en-US" altLang="zh-TW" sz="2400" dirty="0"/>
              <a:t>: </a:t>
            </a:r>
            <a:r>
              <a:rPr lang="en-US" altLang="zh-TW" sz="2400" i="1" dirty="0"/>
              <a:t>r</a:t>
            </a:r>
            <a:r>
              <a:rPr lang="en-US" altLang="zh-TW" sz="2400" dirty="0"/>
              <a:t>, measures the strength of the linear relationship between two variables.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endParaRPr lang="en-US" altLang="zh-TW" sz="2400" dirty="0"/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b="1" dirty="0" smtClean="0">
                <a:solidFill>
                  <a:schemeClr val="hlink"/>
                </a:solidFill>
              </a:rPr>
              <a:t>Pearson</a:t>
            </a:r>
            <a:r>
              <a:rPr lang="en-US" altLang="zh-TW" sz="2400" b="1" dirty="0" smtClean="0">
                <a:solidFill>
                  <a:schemeClr val="hlink"/>
                </a:solidFill>
                <a:latin typeface="Arial"/>
              </a:rPr>
              <a:t>’</a:t>
            </a:r>
            <a:r>
              <a:rPr lang="en-US" altLang="zh-TW" sz="2400" b="1" dirty="0" smtClean="0">
                <a:solidFill>
                  <a:schemeClr val="hlink"/>
                </a:solidFill>
              </a:rPr>
              <a:t>s </a:t>
            </a:r>
            <a:r>
              <a:rPr lang="en-US" altLang="zh-TW" sz="2400" b="1" dirty="0">
                <a:solidFill>
                  <a:schemeClr val="hlink"/>
                </a:solidFill>
              </a:rPr>
              <a:t>product moment formula</a:t>
            </a:r>
            <a:r>
              <a:rPr lang="en-US" altLang="zh-TW" sz="2400" dirty="0"/>
              <a:t>: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endParaRPr lang="en-US" altLang="zh-TW" sz="2400" dirty="0"/>
          </a:p>
          <a:p>
            <a:pPr marL="0" indent="0">
              <a:buFontTx/>
              <a:buNone/>
              <a:tabLst>
                <a:tab pos="341313" algn="l"/>
              </a:tabLst>
            </a:pPr>
            <a:endParaRPr lang="en-US" altLang="zh-TW" sz="2400" dirty="0"/>
          </a:p>
          <a:p>
            <a:pPr marL="0" indent="0">
              <a:buFontTx/>
              <a:buNone/>
              <a:tabLst>
                <a:tab pos="341313" algn="l"/>
              </a:tabLst>
            </a:pPr>
            <a:endParaRPr lang="en-US" altLang="zh-TW" sz="2400" dirty="0"/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i="1" dirty="0">
                <a:solidFill>
                  <a:schemeClr val="tx2"/>
                </a:solidFill>
              </a:rPr>
              <a:t>Note</a:t>
            </a:r>
            <a:r>
              <a:rPr lang="en-US" altLang="zh-TW" sz="2400" dirty="0"/>
              <a:t>: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dirty="0"/>
              <a:t>1.	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dirty="0"/>
              <a:t>2.	</a:t>
            </a:r>
            <a:r>
              <a:rPr lang="en-US" altLang="zh-TW" sz="2400" i="1" dirty="0"/>
              <a:t>r</a:t>
            </a:r>
            <a:r>
              <a:rPr lang="en-US" altLang="zh-TW" sz="2400" dirty="0"/>
              <a:t> = +1: perfect positive correlation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dirty="0"/>
              <a:t>3.	</a:t>
            </a:r>
            <a:r>
              <a:rPr lang="en-US" altLang="zh-TW" sz="2400" i="1" dirty="0"/>
              <a:t>r</a:t>
            </a:r>
            <a:r>
              <a:rPr lang="en-US" altLang="zh-TW" sz="2400" dirty="0"/>
              <a:t> = -1 : perfect negative correlation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endParaRPr lang="en-US" altLang="zh-TW" sz="2400" dirty="0"/>
          </a:p>
          <a:p>
            <a:pPr marL="0" indent="0">
              <a:buFontTx/>
              <a:buNone/>
              <a:tabLst>
                <a:tab pos="341313" algn="l"/>
              </a:tabLst>
            </a:pPr>
            <a:endParaRPr lang="zh-TW" altLang="en-US" sz="2400" dirty="0"/>
          </a:p>
        </p:txBody>
      </p:sp>
      <p:graphicFrame>
        <p:nvGraphicFramePr>
          <p:cNvPr id="23555" name="Object 3"/>
          <p:cNvGraphicFramePr>
            <a:graphicFrameLocks/>
          </p:cNvGraphicFramePr>
          <p:nvPr/>
        </p:nvGraphicFramePr>
        <p:xfrm>
          <a:off x="1138238" y="3759200"/>
          <a:ext cx="140017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4" name="Equation" r:id="rId3" imgW="1409400" imgH="253800" progId="Equation.3">
                  <p:embed/>
                </p:oleObj>
              </mc:Choice>
              <mc:Fallback>
                <p:oleObj name="Equation" r:id="rId3" imgW="1409400" imgH="2538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238" y="3759200"/>
                        <a:ext cx="1400175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圖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8413" y="2084449"/>
            <a:ext cx="4076700" cy="749300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379555" y="5518518"/>
            <a:ext cx="7662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hlinkClick r:id="rId6"/>
              </a:rPr>
              <a:t>http://en.wikipedia.org/wiki/Pearson_product-</a:t>
            </a:r>
            <a:r>
              <a:rPr kumimoji="1" lang="en-US" altLang="zh-TW" dirty="0" smtClean="0">
                <a:hlinkClick r:id="rId6"/>
              </a:rPr>
              <a:t>moment_correlation_coefficient</a:t>
            </a:r>
            <a:r>
              <a:rPr kumimoji="1" lang="en-US" altLang="zh-TW" dirty="0" smtClean="0"/>
              <a:t> </a:t>
            </a:r>
            <a:endParaRPr kumimoji="1"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8413" y="3098800"/>
            <a:ext cx="37846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8846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altLang="zh-TW" sz="2400" b="1">
                <a:solidFill>
                  <a:schemeClr val="hlink"/>
                </a:solidFill>
              </a:rPr>
              <a:t>Alternate formula for </a:t>
            </a:r>
            <a:r>
              <a:rPr lang="en-US" altLang="zh-TW" sz="2400" b="1" i="1">
                <a:solidFill>
                  <a:schemeClr val="hlink"/>
                </a:solidFill>
              </a:rPr>
              <a:t>r</a:t>
            </a:r>
            <a:r>
              <a:rPr lang="en-US" altLang="zh-TW" sz="2400"/>
              <a:t>:</a:t>
            </a:r>
          </a:p>
          <a:p>
            <a:pPr>
              <a:buFontTx/>
              <a:buNone/>
            </a:pPr>
            <a:endParaRPr lang="zh-TW" altLang="en-US" sz="2400"/>
          </a:p>
        </p:txBody>
      </p:sp>
      <p:graphicFrame>
        <p:nvGraphicFramePr>
          <p:cNvPr id="24579" name="Object 3"/>
          <p:cNvGraphicFramePr>
            <a:graphicFrameLocks/>
          </p:cNvGraphicFramePr>
          <p:nvPr/>
        </p:nvGraphicFramePr>
        <p:xfrm>
          <a:off x="838200" y="1017588"/>
          <a:ext cx="214947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7" name="Equation" r:id="rId3" imgW="2158920" imgH="799920" progId="Equation.3">
                  <p:embed/>
                </p:oleObj>
              </mc:Choice>
              <mc:Fallback>
                <p:oleObj name="Equation" r:id="rId3" imgW="2158920" imgH="79992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017588"/>
                        <a:ext cx="214947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4"/>
          <p:cNvGraphicFramePr>
            <a:graphicFrameLocks/>
          </p:cNvGraphicFramePr>
          <p:nvPr/>
        </p:nvGraphicFramePr>
        <p:xfrm>
          <a:off x="811213" y="2170113"/>
          <a:ext cx="3521075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8" name="Equation" r:id="rId5" imgW="3530520" imgH="1320480" progId="Equation.3">
                  <p:embed/>
                </p:oleObj>
              </mc:Choice>
              <mc:Fallback>
                <p:oleObj name="Equation" r:id="rId5" imgW="3530520" imgH="13204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3" y="2170113"/>
                        <a:ext cx="3521075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5"/>
          <p:cNvGraphicFramePr>
            <a:graphicFrameLocks/>
          </p:cNvGraphicFramePr>
          <p:nvPr/>
        </p:nvGraphicFramePr>
        <p:xfrm>
          <a:off x="806450" y="3741738"/>
          <a:ext cx="352425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9" name="Equation" r:id="rId7" imgW="3543120" imgH="1320480" progId="Equation.3">
                  <p:embed/>
                </p:oleObj>
              </mc:Choice>
              <mc:Fallback>
                <p:oleObj name="Equation" r:id="rId7" imgW="3543120" imgH="13204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450" y="3741738"/>
                        <a:ext cx="3524250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6"/>
          <p:cNvGraphicFramePr>
            <a:graphicFrameLocks/>
          </p:cNvGraphicFramePr>
          <p:nvPr/>
        </p:nvGraphicFramePr>
        <p:xfrm>
          <a:off x="820738" y="5316538"/>
          <a:ext cx="3779837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0" name="方程式" r:id="rId9" imgW="3809880" imgH="1244520" progId="Equation.3">
                  <p:embed/>
                </p:oleObj>
              </mc:Choice>
              <mc:Fallback>
                <p:oleObj name="方程式" r:id="rId9" imgW="3809880" imgH="124452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738" y="5316538"/>
                        <a:ext cx="3779837" cy="1216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49359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TW" sz="2400" i="1">
                <a:solidFill>
                  <a:schemeClr val="tx2"/>
                </a:solidFill>
              </a:rPr>
              <a:t>Example</a:t>
            </a:r>
            <a:r>
              <a:rPr lang="en-US" altLang="zh-TW" sz="2400"/>
              <a:t>: The table below presents the weight (in thousands of pounds) </a:t>
            </a:r>
            <a:r>
              <a:rPr lang="en-US" altLang="zh-TW" sz="2400" i="1"/>
              <a:t>x</a:t>
            </a:r>
            <a:r>
              <a:rPr lang="en-US" altLang="zh-TW" sz="2400"/>
              <a:t> and the gasoline mileage (miles per gallon) </a:t>
            </a:r>
            <a:r>
              <a:rPr lang="en-US" altLang="zh-TW" sz="2400" i="1"/>
              <a:t>y</a:t>
            </a:r>
            <a:r>
              <a:rPr lang="en-US" altLang="zh-TW" sz="2400"/>
              <a:t> for ten different automobiles.  Find the linear correlation coefficient.</a:t>
            </a:r>
          </a:p>
          <a:p>
            <a:pPr marL="0" indent="0">
              <a:buFontTx/>
              <a:buNone/>
            </a:pPr>
            <a:endParaRPr lang="zh-TW" altLang="en-US" sz="2400"/>
          </a:p>
        </p:txBody>
      </p:sp>
      <p:graphicFrame>
        <p:nvGraphicFramePr>
          <p:cNvPr id="25603" name="Object 3"/>
          <p:cNvGraphicFramePr>
            <a:graphicFrameLocks/>
          </p:cNvGraphicFramePr>
          <p:nvPr/>
        </p:nvGraphicFramePr>
        <p:xfrm>
          <a:off x="835025" y="2266950"/>
          <a:ext cx="7454900" cy="408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6" name="Worksheet" r:id="rId3" imgW="7464240" imgH="4095720" progId="Excel.Sheet.5">
                  <p:embed/>
                </p:oleObj>
              </mc:Choice>
              <mc:Fallback>
                <p:oleObj name="Worksheet" r:id="rId3" imgW="7464240" imgH="4095720" progId="Excel.Sheet.5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25" y="2266950"/>
                        <a:ext cx="7454900" cy="408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4"/>
          <p:cNvGraphicFramePr>
            <a:graphicFrameLocks/>
          </p:cNvGraphicFramePr>
          <p:nvPr/>
        </p:nvGraphicFramePr>
        <p:xfrm>
          <a:off x="2774950" y="1981200"/>
          <a:ext cx="193675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7" name="Equation" r:id="rId5" imgW="203040" imgH="190440" progId="Equation.3">
                  <p:embed/>
                </p:oleObj>
              </mc:Choice>
              <mc:Fallback>
                <p:oleObj name="Equation" r:id="rId5" imgW="203040" imgH="1904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1981200"/>
                        <a:ext cx="193675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/>
          </p:cNvGraphicFramePr>
          <p:nvPr/>
        </p:nvGraphicFramePr>
        <p:xfrm>
          <a:off x="4049713" y="1946275"/>
          <a:ext cx="193675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8" name="Equation" r:id="rId7" imgW="203040" imgH="266400" progId="Equation.3">
                  <p:embed/>
                </p:oleObj>
              </mc:Choice>
              <mc:Fallback>
                <p:oleObj name="Equation" r:id="rId7" imgW="203040" imgH="2664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9713" y="1946275"/>
                        <a:ext cx="193675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/>
          </p:cNvGraphicFramePr>
          <p:nvPr/>
        </p:nvGraphicFramePr>
        <p:xfrm>
          <a:off x="5305425" y="1804988"/>
          <a:ext cx="30797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9" name="Equation" r:id="rId9" imgW="317160" imgH="355320" progId="Equation.3">
                  <p:embed/>
                </p:oleObj>
              </mc:Choice>
              <mc:Fallback>
                <p:oleObj name="Equation" r:id="rId9" imgW="317160" imgH="35532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5425" y="1804988"/>
                        <a:ext cx="30797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7"/>
          <p:cNvGraphicFramePr>
            <a:graphicFrameLocks/>
          </p:cNvGraphicFramePr>
          <p:nvPr/>
        </p:nvGraphicFramePr>
        <p:xfrm>
          <a:off x="6572250" y="1798638"/>
          <a:ext cx="3206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80" name="Equation" r:id="rId11" imgW="330120" imgH="431640" progId="Equation.3">
                  <p:embed/>
                </p:oleObj>
              </mc:Choice>
              <mc:Fallback>
                <p:oleObj name="Equation" r:id="rId11" imgW="330120" imgH="4316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1798638"/>
                        <a:ext cx="3206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/>
          </p:cNvGraphicFramePr>
          <p:nvPr/>
        </p:nvGraphicFramePr>
        <p:xfrm>
          <a:off x="7889875" y="1963738"/>
          <a:ext cx="320675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81" name="Equation" r:id="rId13" imgW="330120" imgH="266400" progId="Equation.3">
                  <p:embed/>
                </p:oleObj>
              </mc:Choice>
              <mc:Fallback>
                <p:oleObj name="Equation" r:id="rId13" imgW="330120" imgH="2664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9875" y="1963738"/>
                        <a:ext cx="320675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/>
          </p:cNvGraphicFramePr>
          <p:nvPr/>
        </p:nvGraphicFramePr>
        <p:xfrm>
          <a:off x="2330450" y="6394450"/>
          <a:ext cx="5492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82" name="Equation" r:id="rId15" imgW="558720" imgH="456840" progId="Equation.3">
                  <p:embed/>
                </p:oleObj>
              </mc:Choice>
              <mc:Fallback>
                <p:oleObj name="Equation" r:id="rId15" imgW="558720" imgH="4568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450" y="6394450"/>
                        <a:ext cx="5492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/>
          </p:cNvGraphicFramePr>
          <p:nvPr/>
        </p:nvGraphicFramePr>
        <p:xfrm>
          <a:off x="3689350" y="6392863"/>
          <a:ext cx="5619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83" name="Equation" r:id="rId17" imgW="571320" imgH="456840" progId="Equation.3">
                  <p:embed/>
                </p:oleObj>
              </mc:Choice>
              <mc:Fallback>
                <p:oleObj name="Equation" r:id="rId17" imgW="571320" imgH="4568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350" y="6392863"/>
                        <a:ext cx="5619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1" name="Object 11"/>
          <p:cNvGraphicFramePr>
            <a:graphicFrameLocks/>
          </p:cNvGraphicFramePr>
          <p:nvPr/>
        </p:nvGraphicFramePr>
        <p:xfrm>
          <a:off x="4841875" y="6375400"/>
          <a:ext cx="7016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84" name="Equation" r:id="rId19" imgW="711000" imgH="482400" progId="Equation.3">
                  <p:embed/>
                </p:oleObj>
              </mc:Choice>
              <mc:Fallback>
                <p:oleObj name="Equation" r:id="rId19" imgW="711000" imgH="4824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75" y="6375400"/>
                        <a:ext cx="7016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" name="Object 12"/>
          <p:cNvGraphicFramePr>
            <a:graphicFrameLocks/>
          </p:cNvGraphicFramePr>
          <p:nvPr/>
        </p:nvGraphicFramePr>
        <p:xfrm>
          <a:off x="6165850" y="6357938"/>
          <a:ext cx="7143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85" name="Equation" r:id="rId21" imgW="723600" imgH="482400" progId="Equation.3">
                  <p:embed/>
                </p:oleObj>
              </mc:Choice>
              <mc:Fallback>
                <p:oleObj name="Equation" r:id="rId21" imgW="723600" imgH="4824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5850" y="6357938"/>
                        <a:ext cx="71437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3" name="Object 13"/>
          <p:cNvGraphicFramePr>
            <a:graphicFrameLocks/>
          </p:cNvGraphicFramePr>
          <p:nvPr/>
        </p:nvGraphicFramePr>
        <p:xfrm>
          <a:off x="7473950" y="6392863"/>
          <a:ext cx="6889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86" name="方程式" r:id="rId23" imgW="698400" imgH="456840" progId="Equation.3">
                  <p:embed/>
                </p:oleObj>
              </mc:Choice>
              <mc:Fallback>
                <p:oleObj name="方程式" r:id="rId23" imgW="698400" imgH="4568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50" y="6392863"/>
                        <a:ext cx="6889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31969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altLang="zh-TW" sz="2400"/>
              <a:t>To complete the calculation for </a:t>
            </a:r>
            <a:r>
              <a:rPr lang="en-US" altLang="zh-TW" sz="2400" i="1"/>
              <a:t>r</a:t>
            </a:r>
            <a:r>
              <a:rPr lang="en-US" altLang="zh-TW" sz="2400"/>
              <a:t>:</a:t>
            </a:r>
          </a:p>
          <a:p>
            <a:pPr>
              <a:buFontTx/>
              <a:buNone/>
            </a:pPr>
            <a:endParaRPr lang="zh-TW" altLang="en-US" sz="2400"/>
          </a:p>
        </p:txBody>
      </p:sp>
      <p:graphicFrame>
        <p:nvGraphicFramePr>
          <p:cNvPr id="26627" name="Object 3"/>
          <p:cNvGraphicFramePr>
            <a:graphicFrameLocks/>
          </p:cNvGraphicFramePr>
          <p:nvPr/>
        </p:nvGraphicFramePr>
        <p:xfrm>
          <a:off x="777875" y="852488"/>
          <a:ext cx="606425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1" name="Equation" r:id="rId3" imgW="6083280" imgH="901440" progId="Equation.3">
                  <p:embed/>
                </p:oleObj>
              </mc:Choice>
              <mc:Fallback>
                <p:oleObj name="Equation" r:id="rId3" imgW="6083280" imgH="9014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875" y="852488"/>
                        <a:ext cx="6064250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4"/>
          <p:cNvGraphicFramePr>
            <a:graphicFrameLocks/>
          </p:cNvGraphicFramePr>
          <p:nvPr/>
        </p:nvGraphicFramePr>
        <p:xfrm>
          <a:off x="760413" y="2046288"/>
          <a:ext cx="6167437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2" name="Equation" r:id="rId5" imgW="6197400" imgH="901440" progId="Equation.3">
                  <p:embed/>
                </p:oleObj>
              </mc:Choice>
              <mc:Fallback>
                <p:oleObj name="Equation" r:id="rId5" imgW="6197400" imgH="9014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3" y="2046288"/>
                        <a:ext cx="6167437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5"/>
          <p:cNvGraphicFramePr>
            <a:graphicFrameLocks/>
          </p:cNvGraphicFramePr>
          <p:nvPr/>
        </p:nvGraphicFramePr>
        <p:xfrm>
          <a:off x="760413" y="3343275"/>
          <a:ext cx="709295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3" name="Equation" r:id="rId7" imgW="7137360" imgH="799920" progId="Equation.3">
                  <p:embed/>
                </p:oleObj>
              </mc:Choice>
              <mc:Fallback>
                <p:oleObj name="Equation" r:id="rId7" imgW="7137360" imgH="79992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3" y="3343275"/>
                        <a:ext cx="709295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/>
          <p:cNvGraphicFramePr>
            <a:graphicFrameLocks/>
          </p:cNvGraphicFramePr>
          <p:nvPr/>
        </p:nvGraphicFramePr>
        <p:xfrm>
          <a:off x="836613" y="4551363"/>
          <a:ext cx="54546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4" name="方程式" r:id="rId9" imgW="5473440" imgH="799920" progId="Equation.3">
                  <p:embed/>
                </p:oleObj>
              </mc:Choice>
              <mc:Fallback>
                <p:oleObj name="方程式" r:id="rId9" imgW="5473440" imgH="79992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3" y="4551363"/>
                        <a:ext cx="54546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3832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772400" cy="5867400"/>
          </a:xfrm>
          <a:noFill/>
          <a:ln/>
        </p:spPr>
        <p:txBody>
          <a:bodyPr/>
          <a:lstStyle/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i="1" dirty="0">
                <a:solidFill>
                  <a:schemeClr val="tx2"/>
                </a:solidFill>
              </a:rPr>
              <a:t>Note</a:t>
            </a:r>
            <a:r>
              <a:rPr lang="en-US" altLang="zh-TW" sz="2400" dirty="0"/>
              <a:t>:</a:t>
            </a:r>
          </a:p>
          <a:p>
            <a:pPr marL="457200" indent="-457200">
              <a:buFontTx/>
              <a:buAutoNum type="arabicPeriod"/>
              <a:tabLst>
                <a:tab pos="341313" algn="l"/>
              </a:tabLst>
            </a:pPr>
            <a:r>
              <a:rPr lang="en-US" altLang="zh-TW" sz="2400" i="1" dirty="0" smtClean="0"/>
              <a:t>r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close to 0: little or no linear correlation.</a:t>
            </a:r>
          </a:p>
          <a:p>
            <a:pPr marL="457200" indent="-457200">
              <a:buFontTx/>
              <a:buAutoNum type="arabicPeriod"/>
              <a:tabLst>
                <a:tab pos="341313" algn="l"/>
              </a:tabLst>
            </a:pPr>
            <a:r>
              <a:rPr lang="en-US" altLang="zh-TW" sz="2400" dirty="0" smtClean="0"/>
              <a:t>2As </a:t>
            </a:r>
            <a:r>
              <a:rPr lang="en-US" altLang="zh-TW" sz="2400" dirty="0"/>
              <a:t>the magnitude of </a:t>
            </a:r>
            <a:r>
              <a:rPr lang="en-US" altLang="zh-TW" sz="2400" i="1" dirty="0"/>
              <a:t>r</a:t>
            </a:r>
            <a:r>
              <a:rPr lang="en-US" altLang="zh-TW" sz="2400" dirty="0"/>
              <a:t> increases, towards -1 or +1, there is </a:t>
            </a:r>
            <a:r>
              <a:rPr lang="en-US" altLang="zh-TW" sz="2400" dirty="0" smtClean="0"/>
              <a:t>an </a:t>
            </a:r>
            <a:r>
              <a:rPr lang="en-US" altLang="zh-TW" sz="2400" dirty="0"/>
              <a:t>increasingly stronger linear correlation between the two </a:t>
            </a:r>
            <a:r>
              <a:rPr lang="en-US" altLang="zh-TW" sz="2400" dirty="0" smtClean="0"/>
              <a:t>variables</a:t>
            </a:r>
            <a:r>
              <a:rPr lang="en-US" altLang="zh-TW" sz="2400" dirty="0"/>
              <a:t>.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dirty="0" smtClean="0"/>
              <a:t>3.</a:t>
            </a:r>
            <a:r>
              <a:rPr lang="en-US" altLang="zh-TW" sz="2400" dirty="0"/>
              <a:t>	Method of estimating </a:t>
            </a:r>
            <a:r>
              <a:rPr lang="en-US" altLang="zh-TW" sz="2400" i="1" dirty="0"/>
              <a:t>r</a:t>
            </a:r>
            <a:r>
              <a:rPr lang="en-US" altLang="zh-TW" sz="2400" dirty="0"/>
              <a:t> based on the scatter diagram.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dirty="0"/>
              <a:t>	Window should be approximately square.</a:t>
            </a:r>
          </a:p>
          <a:p>
            <a:pPr marL="0" indent="0">
              <a:buFontTx/>
              <a:buNone/>
              <a:tabLst>
                <a:tab pos="341313" algn="l"/>
              </a:tabLst>
            </a:pPr>
            <a:r>
              <a:rPr lang="en-US" altLang="zh-TW" sz="2400" dirty="0"/>
              <a:t>	Useful for checking calculations.</a:t>
            </a:r>
          </a:p>
        </p:txBody>
      </p:sp>
    </p:spTree>
    <p:extLst>
      <p:ext uri="{BB962C8B-B14F-4D97-AF65-F5344CB8AC3E}">
        <p14:creationId xmlns:p14="http://schemas.microsoft.com/office/powerpoint/2010/main" val="6744416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157844"/>
            <a:ext cx="8229600" cy="703512"/>
          </a:xfrm>
          <a:noFill/>
        </p:spPr>
        <p:txBody>
          <a:bodyPr lIns="92075" tIns="46038" rIns="92075" bIns="46038" anchor="ctr">
            <a:normAutofit/>
          </a:bodyPr>
          <a:lstStyle/>
          <a:p>
            <a:pPr eaLnBrk="1" hangingPunct="1"/>
            <a:r>
              <a:rPr lang="en-US" sz="3200" dirty="0" smtClean="0">
                <a:latin typeface="Arial" charset="0"/>
              </a:rPr>
              <a:t>Interpreting Correlations</a:t>
            </a:r>
            <a:endParaRPr lang="en-US" sz="3200" dirty="0">
              <a:latin typeface="Arial" charset="0"/>
            </a:endParaRPr>
          </a:p>
        </p:txBody>
      </p:sp>
      <p:sp>
        <p:nvSpPr>
          <p:cNvPr id="5222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861356"/>
            <a:ext cx="8229600" cy="5996644"/>
          </a:xfrm>
          <a:noFill/>
        </p:spPr>
        <p:txBody>
          <a:bodyPr lIns="92075" tIns="46038" rIns="92075" bIns="46038"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600" dirty="0">
                <a:latin typeface="Calibri"/>
                <a:cs typeface="Calibri"/>
              </a:rPr>
              <a:t>Measures the extent to which two concepts are related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latin typeface="Calibri"/>
                <a:cs typeface="Calibri"/>
              </a:rPr>
              <a:t>+</a:t>
            </a:r>
            <a:r>
              <a:rPr lang="en-US" dirty="0">
                <a:latin typeface="Calibri"/>
                <a:cs typeface="Calibri"/>
              </a:rPr>
              <a:t>1: positively correlated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Calibri"/>
                <a:cs typeface="Calibri"/>
              </a:rPr>
              <a:t>  0: no correlation (no relation)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Calibri"/>
                <a:cs typeface="Calibri"/>
              </a:rPr>
              <a:t>–1: negatively correlated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dirty="0">
                <a:latin typeface="Calibri"/>
                <a:cs typeface="Calibri"/>
              </a:rPr>
              <a:t>Dangers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latin typeface="Calibri"/>
                <a:cs typeface="Calibri"/>
              </a:rPr>
              <a:t>attributing causality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600" dirty="0">
                <a:latin typeface="Calibri"/>
                <a:cs typeface="Calibri"/>
              </a:rPr>
              <a:t>a correlation does not imply cause and effect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600" dirty="0">
                <a:latin typeface="Calibri"/>
                <a:cs typeface="Calibri"/>
              </a:rPr>
              <a:t>cause may be due to a third “hidden” variable related to both </a:t>
            </a:r>
            <a:r>
              <a:rPr lang="en-US" sz="2600">
                <a:latin typeface="Calibri"/>
                <a:cs typeface="Calibri"/>
              </a:rPr>
              <a:t>other </a:t>
            </a:r>
            <a:r>
              <a:rPr lang="en-US" sz="2600" smtClean="0">
                <a:latin typeface="Calibri"/>
                <a:cs typeface="Calibri"/>
              </a:rPr>
              <a:t>variables.</a:t>
            </a:r>
            <a:endParaRPr lang="en-US" sz="2600" dirty="0">
              <a:latin typeface="Calibri"/>
              <a:cs typeface="Calibri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dirty="0" smtClean="0">
                <a:latin typeface="Calibri"/>
                <a:cs typeface="Calibri"/>
              </a:rPr>
              <a:t>drawing </a:t>
            </a:r>
            <a:r>
              <a:rPr lang="en-US" dirty="0">
                <a:latin typeface="Calibri"/>
                <a:cs typeface="Calibri"/>
              </a:rPr>
              <a:t>strong conclusion from small numbers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600" dirty="0">
                <a:latin typeface="Calibri"/>
                <a:cs typeface="Calibri"/>
              </a:rPr>
              <a:t>unreliable with small groups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600" dirty="0">
                <a:latin typeface="Calibri"/>
                <a:cs typeface="Calibri"/>
              </a:rPr>
              <a:t>be wary of accepting anything more than the direction of correlation unless you have at least 40 </a:t>
            </a:r>
            <a:r>
              <a:rPr lang="en-US" sz="2600" dirty="0" smtClean="0">
                <a:latin typeface="Calibri"/>
                <a:cs typeface="Calibri"/>
              </a:rPr>
              <a:t>subjects.</a:t>
            </a:r>
            <a:endParaRPr lang="en-US" sz="2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322536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9745</TotalTime>
  <Words>2236</Words>
  <Application>Microsoft Macintosh PowerPoint</Application>
  <PresentationFormat>如螢幕大小 (4:3)</PresentationFormat>
  <Paragraphs>407</Paragraphs>
  <Slides>48</Slides>
  <Notes>4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伺服器</vt:lpstr>
      </vt:variant>
      <vt:variant>
        <vt:i4>5</vt:i4>
      </vt:variant>
      <vt:variant>
        <vt:lpstr>投影片標題</vt:lpstr>
      </vt:variant>
      <vt:variant>
        <vt:i4>48</vt:i4>
      </vt:variant>
    </vt:vector>
  </HeadingPairs>
  <TitlesOfParts>
    <vt:vector size="54" baseType="lpstr">
      <vt:lpstr>Office Theme</vt:lpstr>
      <vt:lpstr>工作表</vt:lpstr>
      <vt:lpstr>Worksheet</vt:lpstr>
      <vt:lpstr>方程式</vt:lpstr>
      <vt:lpstr>圖表</vt:lpstr>
      <vt:lpstr>Equation</vt:lpstr>
      <vt:lpstr>ISA5577 Applied Quantitative Methods for Human-Computer Interaction 人機互動量化研究方法   October 27, 2016</vt:lpstr>
      <vt:lpstr>Today’s Agenda</vt:lpstr>
      <vt:lpstr>(Very) Basic Statistics</vt:lpstr>
      <vt:lpstr>As an HCI researcher, you need to know</vt:lpstr>
      <vt:lpstr>What is Statistics</vt:lpstr>
      <vt:lpstr>Statistical Analysis</vt:lpstr>
      <vt:lpstr>PowerPoint 簡報</vt:lpstr>
      <vt:lpstr>Some Basic Terms</vt:lpstr>
      <vt:lpstr>PowerPoint 簡報</vt:lpstr>
      <vt:lpstr>PowerPoint 簡報</vt:lpstr>
      <vt:lpstr>PowerPoint 簡報</vt:lpstr>
      <vt:lpstr>PowerPoint 簡報</vt:lpstr>
      <vt:lpstr>Measures of Central Tendency</vt:lpstr>
      <vt:lpstr>Mean</vt:lpstr>
      <vt:lpstr>Example</vt:lpstr>
      <vt:lpstr>Measure and Variability</vt:lpstr>
      <vt:lpstr>Histogram and Distributions</vt:lpstr>
      <vt:lpstr>Spread of a Distribution</vt:lpstr>
      <vt:lpstr>Variance</vt:lpstr>
      <vt:lpstr>Histogram</vt:lpstr>
      <vt:lpstr>Example</vt:lpstr>
      <vt:lpstr>PowerPoint 簡報</vt:lpstr>
      <vt:lpstr>Important Reminders</vt:lpstr>
      <vt:lpstr>Cumulative Frequency Distribution</vt:lpstr>
      <vt:lpstr>Example</vt:lpstr>
      <vt:lpstr>Example</vt:lpstr>
      <vt:lpstr>Multivariate Analysis (Correlation)</vt:lpstr>
      <vt:lpstr>PowerPoint 簡報</vt:lpstr>
      <vt:lpstr>Bivariate Data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Linear Correlation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Interpreting Correlations</vt:lpstr>
    </vt:vector>
  </TitlesOfParts>
  <Company>Cornell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5441 Social Computing TA</dc:title>
  <dc:creator>Hao-Chuan Wang</dc:creator>
  <cp:lastModifiedBy>HC WANG</cp:lastModifiedBy>
  <cp:revision>515</cp:revision>
  <dcterms:created xsi:type="dcterms:W3CDTF">2012-02-07T03:56:58Z</dcterms:created>
  <dcterms:modified xsi:type="dcterms:W3CDTF">2016-10-27T05:34:56Z</dcterms:modified>
</cp:coreProperties>
</file>