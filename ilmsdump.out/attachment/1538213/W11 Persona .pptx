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4" r:id="rId4"/>
    <p:sldId id="259" r:id="rId5"/>
    <p:sldId id="265" r:id="rId6"/>
    <p:sldId id="266" r:id="rId7"/>
    <p:sldId id="273" r:id="rId8"/>
    <p:sldId id="267" r:id="rId9"/>
    <p:sldId id="274" r:id="rId10"/>
    <p:sldId id="268" r:id="rId11"/>
    <p:sldId id="269" r:id="rId12"/>
    <p:sldId id="260" r:id="rId13"/>
    <p:sldId id="262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63" r:id="rId22"/>
    <p:sldId id="272" r:id="rId23"/>
    <p:sldId id="270" r:id="rId24"/>
    <p:sldId id="271" r:id="rId25"/>
    <p:sldId id="25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050" autoAdjust="0"/>
  </p:normalViewPr>
  <p:slideViewPr>
    <p:cSldViewPr>
      <p:cViewPr varScale="1">
        <p:scale>
          <a:sx n="109" d="100"/>
          <a:sy n="109" d="100"/>
        </p:scale>
        <p:origin x="163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A0E8F8-F2AD-428A-8E29-F9747038528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322D8D1-AD54-42C5-B639-08048BCE7D66}">
      <dgm:prSet phldrT="[文字]" custT="1"/>
      <dgm:spPr/>
      <dgm:t>
        <a:bodyPr/>
        <a:lstStyle/>
        <a:p>
          <a:r>
            <a:rPr lang="en-US" altLang="zh-TW" sz="1800" dirty="0" smtClean="0"/>
            <a:t>Planning &amp; feasibility</a:t>
          </a:r>
          <a:endParaRPr lang="zh-TW" altLang="en-US" sz="1800" dirty="0"/>
        </a:p>
      </dgm:t>
    </dgm:pt>
    <dgm:pt modelId="{27B2C17B-C7B5-4974-8485-883BF0F704EE}" type="parTrans" cxnId="{966C960C-A060-4C09-B10F-5DB53D9C5127}">
      <dgm:prSet/>
      <dgm:spPr/>
      <dgm:t>
        <a:bodyPr/>
        <a:lstStyle/>
        <a:p>
          <a:endParaRPr lang="zh-TW" altLang="en-US" sz="1800"/>
        </a:p>
      </dgm:t>
    </dgm:pt>
    <dgm:pt modelId="{A26AA024-E26C-48E4-BFA0-BB39632CB547}" type="sibTrans" cxnId="{966C960C-A060-4C09-B10F-5DB53D9C5127}">
      <dgm:prSet custT="1"/>
      <dgm:spPr/>
      <dgm:t>
        <a:bodyPr/>
        <a:lstStyle/>
        <a:p>
          <a:endParaRPr lang="zh-TW" altLang="en-US" sz="1800"/>
        </a:p>
      </dgm:t>
    </dgm:pt>
    <dgm:pt modelId="{22F9F333-35A5-443A-AD5B-450A465595EC}">
      <dgm:prSet phldrT="[文字]" custT="1"/>
      <dgm:spPr/>
      <dgm:t>
        <a:bodyPr/>
        <a:lstStyle/>
        <a:p>
          <a:r>
            <a:rPr lang="en-US" altLang="zh-TW" sz="1800" dirty="0" smtClean="0"/>
            <a:t>requirements</a:t>
          </a:r>
          <a:endParaRPr lang="zh-TW" altLang="en-US" sz="1800" dirty="0"/>
        </a:p>
      </dgm:t>
    </dgm:pt>
    <dgm:pt modelId="{98EB6642-C910-4676-93D3-3AEB8DADD968}" type="parTrans" cxnId="{9AE18BDF-7B24-4D65-9CE2-EB585E206710}">
      <dgm:prSet/>
      <dgm:spPr/>
      <dgm:t>
        <a:bodyPr/>
        <a:lstStyle/>
        <a:p>
          <a:endParaRPr lang="zh-TW" altLang="en-US" sz="1800"/>
        </a:p>
      </dgm:t>
    </dgm:pt>
    <dgm:pt modelId="{DFD151AE-7E9B-49E8-9CA6-345B396DCA5D}" type="sibTrans" cxnId="{9AE18BDF-7B24-4D65-9CE2-EB585E206710}">
      <dgm:prSet custT="1"/>
      <dgm:spPr/>
      <dgm:t>
        <a:bodyPr/>
        <a:lstStyle/>
        <a:p>
          <a:endParaRPr lang="zh-TW" altLang="en-US" sz="1800"/>
        </a:p>
      </dgm:t>
    </dgm:pt>
    <dgm:pt modelId="{FCD54A14-51C0-4C34-A26A-E7EA8FDA0B87}">
      <dgm:prSet phldrT="[文字]" custT="1"/>
      <dgm:spPr/>
      <dgm:t>
        <a:bodyPr/>
        <a:lstStyle/>
        <a:p>
          <a:r>
            <a:rPr lang="en-US" altLang="zh-TW" sz="1800" smtClean="0"/>
            <a:t>design</a:t>
          </a:r>
          <a:endParaRPr lang="zh-TW" altLang="en-US" sz="1800"/>
        </a:p>
      </dgm:t>
    </dgm:pt>
    <dgm:pt modelId="{A07DA4A3-AE04-4665-A73A-DED0BA6BA5CB}" type="parTrans" cxnId="{CAC1BE63-6C6F-4E09-8B2A-24C91ECA9F2E}">
      <dgm:prSet/>
      <dgm:spPr/>
      <dgm:t>
        <a:bodyPr/>
        <a:lstStyle/>
        <a:p>
          <a:endParaRPr lang="zh-TW" altLang="en-US" sz="1800"/>
        </a:p>
      </dgm:t>
    </dgm:pt>
    <dgm:pt modelId="{41EFC6EB-EEDC-4CCB-B4C4-51AF36DEB3DD}" type="sibTrans" cxnId="{CAC1BE63-6C6F-4E09-8B2A-24C91ECA9F2E}">
      <dgm:prSet custT="1"/>
      <dgm:spPr/>
      <dgm:t>
        <a:bodyPr/>
        <a:lstStyle/>
        <a:p>
          <a:endParaRPr lang="zh-TW" altLang="en-US" sz="1800"/>
        </a:p>
      </dgm:t>
    </dgm:pt>
    <dgm:pt modelId="{8BB164DC-4380-49DE-90F1-2910F8D0368E}">
      <dgm:prSet custT="1"/>
      <dgm:spPr/>
      <dgm:t>
        <a:bodyPr/>
        <a:lstStyle/>
        <a:p>
          <a:r>
            <a:rPr lang="en-US" altLang="zh-TW" sz="1800" dirty="0" smtClean="0"/>
            <a:t>implementation</a:t>
          </a:r>
          <a:endParaRPr lang="zh-TW" altLang="en-US" sz="1800" dirty="0"/>
        </a:p>
      </dgm:t>
    </dgm:pt>
    <dgm:pt modelId="{54225893-95EB-4B99-8B5A-FB2A3774A0B0}" type="parTrans" cxnId="{168F7EA2-B932-4812-85D7-2EA01701ABB7}">
      <dgm:prSet/>
      <dgm:spPr/>
      <dgm:t>
        <a:bodyPr/>
        <a:lstStyle/>
        <a:p>
          <a:endParaRPr lang="zh-TW" altLang="en-US" sz="1800"/>
        </a:p>
      </dgm:t>
    </dgm:pt>
    <dgm:pt modelId="{4D4452A3-1BC6-4B62-AC11-4849671E9B87}" type="sibTrans" cxnId="{168F7EA2-B932-4812-85D7-2EA01701ABB7}">
      <dgm:prSet custT="1"/>
      <dgm:spPr/>
      <dgm:t>
        <a:bodyPr/>
        <a:lstStyle/>
        <a:p>
          <a:endParaRPr lang="zh-TW" altLang="en-US" sz="1800"/>
        </a:p>
      </dgm:t>
    </dgm:pt>
    <dgm:pt modelId="{93DE1865-E461-42B0-AEBC-E3E4F068A9C0}">
      <dgm:prSet custT="1"/>
      <dgm:spPr/>
      <dgm:t>
        <a:bodyPr/>
        <a:lstStyle/>
        <a:p>
          <a:r>
            <a:rPr lang="en-US" altLang="zh-TW" sz="1800" dirty="0" smtClean="0"/>
            <a:t>Test &amp; measure</a:t>
          </a:r>
          <a:endParaRPr lang="zh-TW" altLang="en-US" sz="1800" dirty="0"/>
        </a:p>
      </dgm:t>
    </dgm:pt>
    <dgm:pt modelId="{491CE657-F0FA-4341-8796-2F1213789749}" type="parTrans" cxnId="{C0792FC4-D027-4CD2-96C6-E9EE2ADFDB1D}">
      <dgm:prSet/>
      <dgm:spPr/>
      <dgm:t>
        <a:bodyPr/>
        <a:lstStyle/>
        <a:p>
          <a:endParaRPr lang="zh-TW" altLang="en-US" sz="1800"/>
        </a:p>
      </dgm:t>
    </dgm:pt>
    <dgm:pt modelId="{2FE41DC4-033B-4977-A2BA-D602E13D504C}" type="sibTrans" cxnId="{C0792FC4-D027-4CD2-96C6-E9EE2ADFDB1D}">
      <dgm:prSet custT="1"/>
      <dgm:spPr/>
      <dgm:t>
        <a:bodyPr/>
        <a:lstStyle/>
        <a:p>
          <a:endParaRPr lang="zh-TW" altLang="en-US" sz="1800"/>
        </a:p>
      </dgm:t>
    </dgm:pt>
    <dgm:pt modelId="{FAB97B91-FF3E-4B30-8B54-9C512040113B}">
      <dgm:prSet custT="1"/>
      <dgm:spPr/>
      <dgm:t>
        <a:bodyPr/>
        <a:lstStyle/>
        <a:p>
          <a:r>
            <a:rPr lang="en-US" altLang="zh-TW" sz="1800" dirty="0" smtClean="0"/>
            <a:t>Post release</a:t>
          </a:r>
          <a:endParaRPr lang="zh-TW" altLang="en-US" sz="1800" dirty="0"/>
        </a:p>
      </dgm:t>
    </dgm:pt>
    <dgm:pt modelId="{479AB3BD-6493-4929-B98E-3CB3F5BD0248}" type="parTrans" cxnId="{0B904105-7E38-4902-82C1-249B1AA4913D}">
      <dgm:prSet/>
      <dgm:spPr/>
      <dgm:t>
        <a:bodyPr/>
        <a:lstStyle/>
        <a:p>
          <a:endParaRPr lang="zh-TW" altLang="en-US" sz="1800"/>
        </a:p>
      </dgm:t>
    </dgm:pt>
    <dgm:pt modelId="{B7AA07DF-6FB8-43B7-8428-AC62513245A7}" type="sibTrans" cxnId="{0B904105-7E38-4902-82C1-249B1AA4913D}">
      <dgm:prSet/>
      <dgm:spPr/>
      <dgm:t>
        <a:bodyPr/>
        <a:lstStyle/>
        <a:p>
          <a:endParaRPr lang="zh-TW" altLang="en-US" sz="1800"/>
        </a:p>
      </dgm:t>
    </dgm:pt>
    <dgm:pt modelId="{AA08C685-C511-4342-8346-566BAC7E87DA}" type="pres">
      <dgm:prSet presAssocID="{28A0E8F8-F2AD-428A-8E29-F9747038528B}" presName="Name0" presStyleCnt="0">
        <dgm:presLayoutVars>
          <dgm:dir/>
          <dgm:resizeHandles val="exact"/>
        </dgm:presLayoutVars>
      </dgm:prSet>
      <dgm:spPr/>
    </dgm:pt>
    <dgm:pt modelId="{515F1F8D-D42A-4853-8865-DCD2EB52A6BA}" type="pres">
      <dgm:prSet presAssocID="{0322D8D1-AD54-42C5-B639-08048BCE7D66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7741A72-7F46-4C2B-B3B4-E3E418268B7A}" type="pres">
      <dgm:prSet presAssocID="{A26AA024-E26C-48E4-BFA0-BB39632CB547}" presName="sibTrans" presStyleLbl="sibTrans2D1" presStyleIdx="0" presStyleCnt="5"/>
      <dgm:spPr/>
      <dgm:t>
        <a:bodyPr/>
        <a:lstStyle/>
        <a:p>
          <a:endParaRPr lang="zh-TW" altLang="en-US"/>
        </a:p>
      </dgm:t>
    </dgm:pt>
    <dgm:pt modelId="{93B236D7-B070-4F7B-BC13-AFB342117B27}" type="pres">
      <dgm:prSet presAssocID="{A26AA024-E26C-48E4-BFA0-BB39632CB547}" presName="connectorText" presStyleLbl="sibTrans2D1" presStyleIdx="0" presStyleCnt="5"/>
      <dgm:spPr/>
      <dgm:t>
        <a:bodyPr/>
        <a:lstStyle/>
        <a:p>
          <a:endParaRPr lang="zh-TW" altLang="en-US"/>
        </a:p>
      </dgm:t>
    </dgm:pt>
    <dgm:pt modelId="{E1CFEC14-06CC-4982-AC11-8412FF6CDE0E}" type="pres">
      <dgm:prSet presAssocID="{22F9F333-35A5-443A-AD5B-450A465595EC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5247C09-91EE-4767-B01B-DEBE93F41CC4}" type="pres">
      <dgm:prSet presAssocID="{DFD151AE-7E9B-49E8-9CA6-345B396DCA5D}" presName="sibTrans" presStyleLbl="sibTrans2D1" presStyleIdx="1" presStyleCnt="5"/>
      <dgm:spPr/>
      <dgm:t>
        <a:bodyPr/>
        <a:lstStyle/>
        <a:p>
          <a:endParaRPr lang="zh-TW" altLang="en-US"/>
        </a:p>
      </dgm:t>
    </dgm:pt>
    <dgm:pt modelId="{015EE300-12FE-437D-8685-1D63D7E2E602}" type="pres">
      <dgm:prSet presAssocID="{DFD151AE-7E9B-49E8-9CA6-345B396DCA5D}" presName="connectorText" presStyleLbl="sibTrans2D1" presStyleIdx="1" presStyleCnt="5"/>
      <dgm:spPr/>
      <dgm:t>
        <a:bodyPr/>
        <a:lstStyle/>
        <a:p>
          <a:endParaRPr lang="zh-TW" altLang="en-US"/>
        </a:p>
      </dgm:t>
    </dgm:pt>
    <dgm:pt modelId="{174FD17C-ADE3-41F3-B5A5-130C6011B84B}" type="pres">
      <dgm:prSet presAssocID="{FCD54A14-51C0-4C34-A26A-E7EA8FDA0B87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B328F40-1120-4C46-899A-7791EA7DFD15}" type="pres">
      <dgm:prSet presAssocID="{41EFC6EB-EEDC-4CCB-B4C4-51AF36DEB3DD}" presName="sibTrans" presStyleLbl="sibTrans2D1" presStyleIdx="2" presStyleCnt="5"/>
      <dgm:spPr/>
      <dgm:t>
        <a:bodyPr/>
        <a:lstStyle/>
        <a:p>
          <a:endParaRPr lang="zh-TW" altLang="en-US"/>
        </a:p>
      </dgm:t>
    </dgm:pt>
    <dgm:pt modelId="{821870DD-E101-4434-A778-31FBA0DA686C}" type="pres">
      <dgm:prSet presAssocID="{41EFC6EB-EEDC-4CCB-B4C4-51AF36DEB3DD}" presName="connectorText" presStyleLbl="sibTrans2D1" presStyleIdx="2" presStyleCnt="5"/>
      <dgm:spPr/>
      <dgm:t>
        <a:bodyPr/>
        <a:lstStyle/>
        <a:p>
          <a:endParaRPr lang="zh-TW" altLang="en-US"/>
        </a:p>
      </dgm:t>
    </dgm:pt>
    <dgm:pt modelId="{75FEE3B7-F311-4570-BCCA-7B9AF65F6FC3}" type="pres">
      <dgm:prSet presAssocID="{8BB164DC-4380-49DE-90F1-2910F8D0368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75F1292-B995-4300-AD96-13E718ACFFD1}" type="pres">
      <dgm:prSet presAssocID="{4D4452A3-1BC6-4B62-AC11-4849671E9B87}" presName="sibTrans" presStyleLbl="sibTrans2D1" presStyleIdx="3" presStyleCnt="5"/>
      <dgm:spPr/>
      <dgm:t>
        <a:bodyPr/>
        <a:lstStyle/>
        <a:p>
          <a:endParaRPr lang="zh-TW" altLang="en-US"/>
        </a:p>
      </dgm:t>
    </dgm:pt>
    <dgm:pt modelId="{C8CDF42B-C013-49F1-B8B5-E811442BB95C}" type="pres">
      <dgm:prSet presAssocID="{4D4452A3-1BC6-4B62-AC11-4849671E9B87}" presName="connectorText" presStyleLbl="sibTrans2D1" presStyleIdx="3" presStyleCnt="5"/>
      <dgm:spPr/>
      <dgm:t>
        <a:bodyPr/>
        <a:lstStyle/>
        <a:p>
          <a:endParaRPr lang="zh-TW" altLang="en-US"/>
        </a:p>
      </dgm:t>
    </dgm:pt>
    <dgm:pt modelId="{8018407E-EDF6-4997-A635-0E45810609DD}" type="pres">
      <dgm:prSet presAssocID="{93DE1865-E461-42B0-AEBC-E3E4F068A9C0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3638A03-C53F-49D5-907F-0E144BE444A6}" type="pres">
      <dgm:prSet presAssocID="{2FE41DC4-033B-4977-A2BA-D602E13D504C}" presName="sibTrans" presStyleLbl="sibTrans2D1" presStyleIdx="4" presStyleCnt="5"/>
      <dgm:spPr/>
      <dgm:t>
        <a:bodyPr/>
        <a:lstStyle/>
        <a:p>
          <a:endParaRPr lang="zh-TW" altLang="en-US"/>
        </a:p>
      </dgm:t>
    </dgm:pt>
    <dgm:pt modelId="{2FD07A5D-5A32-4F9C-A032-9863E32F5741}" type="pres">
      <dgm:prSet presAssocID="{2FE41DC4-033B-4977-A2BA-D602E13D504C}" presName="connectorText" presStyleLbl="sibTrans2D1" presStyleIdx="4" presStyleCnt="5"/>
      <dgm:spPr/>
      <dgm:t>
        <a:bodyPr/>
        <a:lstStyle/>
        <a:p>
          <a:endParaRPr lang="zh-TW" altLang="en-US"/>
        </a:p>
      </dgm:t>
    </dgm:pt>
    <dgm:pt modelId="{DCF0AA1C-6372-441E-AD82-8086C336CE68}" type="pres">
      <dgm:prSet presAssocID="{FAB97B91-FF3E-4B30-8B54-9C512040113B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9AE18BDF-7B24-4D65-9CE2-EB585E206710}" srcId="{28A0E8F8-F2AD-428A-8E29-F9747038528B}" destId="{22F9F333-35A5-443A-AD5B-450A465595EC}" srcOrd="1" destOrd="0" parTransId="{98EB6642-C910-4676-93D3-3AEB8DADD968}" sibTransId="{DFD151AE-7E9B-49E8-9CA6-345B396DCA5D}"/>
    <dgm:cxn modelId="{47E10DD2-ACA2-42D7-ACC8-3B1ED9726D42}" type="presOf" srcId="{FCD54A14-51C0-4C34-A26A-E7EA8FDA0B87}" destId="{174FD17C-ADE3-41F3-B5A5-130C6011B84B}" srcOrd="0" destOrd="0" presId="urn:microsoft.com/office/officeart/2005/8/layout/process1"/>
    <dgm:cxn modelId="{E39B24C3-644F-4727-87F0-0567806102AF}" type="presOf" srcId="{2FE41DC4-033B-4977-A2BA-D602E13D504C}" destId="{A3638A03-C53F-49D5-907F-0E144BE444A6}" srcOrd="0" destOrd="0" presId="urn:microsoft.com/office/officeart/2005/8/layout/process1"/>
    <dgm:cxn modelId="{FC44F3D5-8A96-4973-96BD-C6847F5702F0}" type="presOf" srcId="{FAB97B91-FF3E-4B30-8B54-9C512040113B}" destId="{DCF0AA1C-6372-441E-AD82-8086C336CE68}" srcOrd="0" destOrd="0" presId="urn:microsoft.com/office/officeart/2005/8/layout/process1"/>
    <dgm:cxn modelId="{168F7EA2-B932-4812-85D7-2EA01701ABB7}" srcId="{28A0E8F8-F2AD-428A-8E29-F9747038528B}" destId="{8BB164DC-4380-49DE-90F1-2910F8D0368E}" srcOrd="3" destOrd="0" parTransId="{54225893-95EB-4B99-8B5A-FB2A3774A0B0}" sibTransId="{4D4452A3-1BC6-4B62-AC11-4849671E9B87}"/>
    <dgm:cxn modelId="{E453C2D4-B841-4542-B1AB-90E396C8DF22}" type="presOf" srcId="{8BB164DC-4380-49DE-90F1-2910F8D0368E}" destId="{75FEE3B7-F311-4570-BCCA-7B9AF65F6FC3}" srcOrd="0" destOrd="0" presId="urn:microsoft.com/office/officeart/2005/8/layout/process1"/>
    <dgm:cxn modelId="{D7E316DE-19F8-4CE3-9808-44DE47F45B81}" type="presOf" srcId="{DFD151AE-7E9B-49E8-9CA6-345B396DCA5D}" destId="{05247C09-91EE-4767-B01B-DEBE93F41CC4}" srcOrd="0" destOrd="0" presId="urn:microsoft.com/office/officeart/2005/8/layout/process1"/>
    <dgm:cxn modelId="{B4D31B3E-7993-4B43-96FC-CF79E48D1987}" type="presOf" srcId="{0322D8D1-AD54-42C5-B639-08048BCE7D66}" destId="{515F1F8D-D42A-4853-8865-DCD2EB52A6BA}" srcOrd="0" destOrd="0" presId="urn:microsoft.com/office/officeart/2005/8/layout/process1"/>
    <dgm:cxn modelId="{24B660C8-8815-4607-A2CB-DC5254FA694F}" type="presOf" srcId="{4D4452A3-1BC6-4B62-AC11-4849671E9B87}" destId="{C8CDF42B-C013-49F1-B8B5-E811442BB95C}" srcOrd="1" destOrd="0" presId="urn:microsoft.com/office/officeart/2005/8/layout/process1"/>
    <dgm:cxn modelId="{966C960C-A060-4C09-B10F-5DB53D9C5127}" srcId="{28A0E8F8-F2AD-428A-8E29-F9747038528B}" destId="{0322D8D1-AD54-42C5-B639-08048BCE7D66}" srcOrd="0" destOrd="0" parTransId="{27B2C17B-C7B5-4974-8485-883BF0F704EE}" sibTransId="{A26AA024-E26C-48E4-BFA0-BB39632CB547}"/>
    <dgm:cxn modelId="{0B904105-7E38-4902-82C1-249B1AA4913D}" srcId="{28A0E8F8-F2AD-428A-8E29-F9747038528B}" destId="{FAB97B91-FF3E-4B30-8B54-9C512040113B}" srcOrd="5" destOrd="0" parTransId="{479AB3BD-6493-4929-B98E-3CB3F5BD0248}" sibTransId="{B7AA07DF-6FB8-43B7-8428-AC62513245A7}"/>
    <dgm:cxn modelId="{14D66DE5-5F4F-4737-A6C3-EC9602F04C23}" type="presOf" srcId="{4D4452A3-1BC6-4B62-AC11-4849671E9B87}" destId="{075F1292-B995-4300-AD96-13E718ACFFD1}" srcOrd="0" destOrd="0" presId="urn:microsoft.com/office/officeart/2005/8/layout/process1"/>
    <dgm:cxn modelId="{43DCE4DA-5CC6-4D90-9EE7-828FC1899CAD}" type="presOf" srcId="{2FE41DC4-033B-4977-A2BA-D602E13D504C}" destId="{2FD07A5D-5A32-4F9C-A032-9863E32F5741}" srcOrd="1" destOrd="0" presId="urn:microsoft.com/office/officeart/2005/8/layout/process1"/>
    <dgm:cxn modelId="{88CE630A-2D7A-4B20-B7C7-BBB288FEF81E}" type="presOf" srcId="{A26AA024-E26C-48E4-BFA0-BB39632CB547}" destId="{27741A72-7F46-4C2B-B3B4-E3E418268B7A}" srcOrd="0" destOrd="0" presId="urn:microsoft.com/office/officeart/2005/8/layout/process1"/>
    <dgm:cxn modelId="{1653E112-D106-43E5-88E7-448BEF9E45EB}" type="presOf" srcId="{41EFC6EB-EEDC-4CCB-B4C4-51AF36DEB3DD}" destId="{821870DD-E101-4434-A778-31FBA0DA686C}" srcOrd="1" destOrd="0" presId="urn:microsoft.com/office/officeart/2005/8/layout/process1"/>
    <dgm:cxn modelId="{F51432C8-181B-421A-9DBF-1E619F92716B}" type="presOf" srcId="{41EFC6EB-EEDC-4CCB-B4C4-51AF36DEB3DD}" destId="{5B328F40-1120-4C46-899A-7791EA7DFD15}" srcOrd="0" destOrd="0" presId="urn:microsoft.com/office/officeart/2005/8/layout/process1"/>
    <dgm:cxn modelId="{F1C2FA03-CF64-4FCF-9A78-B1B9442BC42C}" type="presOf" srcId="{93DE1865-E461-42B0-AEBC-E3E4F068A9C0}" destId="{8018407E-EDF6-4997-A635-0E45810609DD}" srcOrd="0" destOrd="0" presId="urn:microsoft.com/office/officeart/2005/8/layout/process1"/>
    <dgm:cxn modelId="{6349A82F-43F9-4E4F-B990-B6B504004377}" type="presOf" srcId="{DFD151AE-7E9B-49E8-9CA6-345B396DCA5D}" destId="{015EE300-12FE-437D-8685-1D63D7E2E602}" srcOrd="1" destOrd="0" presId="urn:microsoft.com/office/officeart/2005/8/layout/process1"/>
    <dgm:cxn modelId="{A6B4B45E-B693-4A18-8444-A21177BEA3DC}" type="presOf" srcId="{A26AA024-E26C-48E4-BFA0-BB39632CB547}" destId="{93B236D7-B070-4F7B-BC13-AFB342117B27}" srcOrd="1" destOrd="0" presId="urn:microsoft.com/office/officeart/2005/8/layout/process1"/>
    <dgm:cxn modelId="{B9C9EC14-3871-46D2-845C-8AF4BAE20092}" type="presOf" srcId="{28A0E8F8-F2AD-428A-8E29-F9747038528B}" destId="{AA08C685-C511-4342-8346-566BAC7E87DA}" srcOrd="0" destOrd="0" presId="urn:microsoft.com/office/officeart/2005/8/layout/process1"/>
    <dgm:cxn modelId="{CAC1BE63-6C6F-4E09-8B2A-24C91ECA9F2E}" srcId="{28A0E8F8-F2AD-428A-8E29-F9747038528B}" destId="{FCD54A14-51C0-4C34-A26A-E7EA8FDA0B87}" srcOrd="2" destOrd="0" parTransId="{A07DA4A3-AE04-4665-A73A-DED0BA6BA5CB}" sibTransId="{41EFC6EB-EEDC-4CCB-B4C4-51AF36DEB3DD}"/>
    <dgm:cxn modelId="{941191EF-0A8E-4479-8E35-B11AEC0220DE}" type="presOf" srcId="{22F9F333-35A5-443A-AD5B-450A465595EC}" destId="{E1CFEC14-06CC-4982-AC11-8412FF6CDE0E}" srcOrd="0" destOrd="0" presId="urn:microsoft.com/office/officeart/2005/8/layout/process1"/>
    <dgm:cxn modelId="{C0792FC4-D027-4CD2-96C6-E9EE2ADFDB1D}" srcId="{28A0E8F8-F2AD-428A-8E29-F9747038528B}" destId="{93DE1865-E461-42B0-AEBC-E3E4F068A9C0}" srcOrd="4" destOrd="0" parTransId="{491CE657-F0FA-4341-8796-2F1213789749}" sibTransId="{2FE41DC4-033B-4977-A2BA-D602E13D504C}"/>
    <dgm:cxn modelId="{7468D5B7-64A6-46FD-BFDC-27E704058548}" type="presParOf" srcId="{AA08C685-C511-4342-8346-566BAC7E87DA}" destId="{515F1F8D-D42A-4853-8865-DCD2EB52A6BA}" srcOrd="0" destOrd="0" presId="urn:microsoft.com/office/officeart/2005/8/layout/process1"/>
    <dgm:cxn modelId="{0957AE3E-18B7-4450-9D39-0153CC31D49C}" type="presParOf" srcId="{AA08C685-C511-4342-8346-566BAC7E87DA}" destId="{27741A72-7F46-4C2B-B3B4-E3E418268B7A}" srcOrd="1" destOrd="0" presId="urn:microsoft.com/office/officeart/2005/8/layout/process1"/>
    <dgm:cxn modelId="{9E059543-964B-4FF8-8017-96FE75E9A9CC}" type="presParOf" srcId="{27741A72-7F46-4C2B-B3B4-E3E418268B7A}" destId="{93B236D7-B070-4F7B-BC13-AFB342117B27}" srcOrd="0" destOrd="0" presId="urn:microsoft.com/office/officeart/2005/8/layout/process1"/>
    <dgm:cxn modelId="{A1754534-D072-48C8-8425-D7DB0DEE8F33}" type="presParOf" srcId="{AA08C685-C511-4342-8346-566BAC7E87DA}" destId="{E1CFEC14-06CC-4982-AC11-8412FF6CDE0E}" srcOrd="2" destOrd="0" presId="urn:microsoft.com/office/officeart/2005/8/layout/process1"/>
    <dgm:cxn modelId="{6ED0A7F8-303F-47F4-92D3-B9DBB264A1F2}" type="presParOf" srcId="{AA08C685-C511-4342-8346-566BAC7E87DA}" destId="{05247C09-91EE-4767-B01B-DEBE93F41CC4}" srcOrd="3" destOrd="0" presId="urn:microsoft.com/office/officeart/2005/8/layout/process1"/>
    <dgm:cxn modelId="{F66A9B33-2D04-430C-844F-F82DA78B41F7}" type="presParOf" srcId="{05247C09-91EE-4767-B01B-DEBE93F41CC4}" destId="{015EE300-12FE-437D-8685-1D63D7E2E602}" srcOrd="0" destOrd="0" presId="urn:microsoft.com/office/officeart/2005/8/layout/process1"/>
    <dgm:cxn modelId="{F4B47198-5F5E-43C7-88AB-338A04A5061C}" type="presParOf" srcId="{AA08C685-C511-4342-8346-566BAC7E87DA}" destId="{174FD17C-ADE3-41F3-B5A5-130C6011B84B}" srcOrd="4" destOrd="0" presId="urn:microsoft.com/office/officeart/2005/8/layout/process1"/>
    <dgm:cxn modelId="{C19AD611-35EB-46CB-A54D-247514C6A530}" type="presParOf" srcId="{AA08C685-C511-4342-8346-566BAC7E87DA}" destId="{5B328F40-1120-4C46-899A-7791EA7DFD15}" srcOrd="5" destOrd="0" presId="urn:microsoft.com/office/officeart/2005/8/layout/process1"/>
    <dgm:cxn modelId="{4820D560-5F52-4BE0-A9A5-12CE73646456}" type="presParOf" srcId="{5B328F40-1120-4C46-899A-7791EA7DFD15}" destId="{821870DD-E101-4434-A778-31FBA0DA686C}" srcOrd="0" destOrd="0" presId="urn:microsoft.com/office/officeart/2005/8/layout/process1"/>
    <dgm:cxn modelId="{D16BED21-AFC6-47B6-845F-1EEBE012F96E}" type="presParOf" srcId="{AA08C685-C511-4342-8346-566BAC7E87DA}" destId="{75FEE3B7-F311-4570-BCCA-7B9AF65F6FC3}" srcOrd="6" destOrd="0" presId="urn:microsoft.com/office/officeart/2005/8/layout/process1"/>
    <dgm:cxn modelId="{9A040C09-D01B-4539-95E0-6E3393BAFADF}" type="presParOf" srcId="{AA08C685-C511-4342-8346-566BAC7E87DA}" destId="{075F1292-B995-4300-AD96-13E718ACFFD1}" srcOrd="7" destOrd="0" presId="urn:microsoft.com/office/officeart/2005/8/layout/process1"/>
    <dgm:cxn modelId="{6CA6A15D-EC9E-4479-B3A1-401B6320FD05}" type="presParOf" srcId="{075F1292-B995-4300-AD96-13E718ACFFD1}" destId="{C8CDF42B-C013-49F1-B8B5-E811442BB95C}" srcOrd="0" destOrd="0" presId="urn:microsoft.com/office/officeart/2005/8/layout/process1"/>
    <dgm:cxn modelId="{449AEA1A-F723-4BC6-822A-FE6AB341EE4E}" type="presParOf" srcId="{AA08C685-C511-4342-8346-566BAC7E87DA}" destId="{8018407E-EDF6-4997-A635-0E45810609DD}" srcOrd="8" destOrd="0" presId="urn:microsoft.com/office/officeart/2005/8/layout/process1"/>
    <dgm:cxn modelId="{09A9B0F6-CC7F-4B9B-B446-86157AFCB2B1}" type="presParOf" srcId="{AA08C685-C511-4342-8346-566BAC7E87DA}" destId="{A3638A03-C53F-49D5-907F-0E144BE444A6}" srcOrd="9" destOrd="0" presId="urn:microsoft.com/office/officeart/2005/8/layout/process1"/>
    <dgm:cxn modelId="{A5B5E480-A728-492C-A88A-C7188D098EA5}" type="presParOf" srcId="{A3638A03-C53F-49D5-907F-0E144BE444A6}" destId="{2FD07A5D-5A32-4F9C-A032-9863E32F5741}" srcOrd="0" destOrd="0" presId="urn:microsoft.com/office/officeart/2005/8/layout/process1"/>
    <dgm:cxn modelId="{892D9711-5C08-4901-8BDE-A4730138150E}" type="presParOf" srcId="{AA08C685-C511-4342-8346-566BAC7E87DA}" destId="{DCF0AA1C-6372-441E-AD82-8086C336CE6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F1F8D-D42A-4853-8865-DCD2EB52A6BA}">
      <dsp:nvSpPr>
        <dsp:cNvPr id="0" name=""/>
        <dsp:cNvSpPr/>
      </dsp:nvSpPr>
      <dsp:spPr>
        <a:xfrm>
          <a:off x="4412" y="1721578"/>
          <a:ext cx="1128458" cy="6770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Planning &amp; feasibility</a:t>
          </a:r>
          <a:endParaRPr lang="zh-TW" altLang="en-US" sz="1800" kern="1200" dirty="0"/>
        </a:p>
      </dsp:txBody>
      <dsp:txXfrm>
        <a:off x="24243" y="1741409"/>
        <a:ext cx="1088796" cy="637413"/>
      </dsp:txXfrm>
    </dsp:sp>
    <dsp:sp modelId="{27741A72-7F46-4C2B-B3B4-E3E418268B7A}">
      <dsp:nvSpPr>
        <dsp:cNvPr id="0" name=""/>
        <dsp:cNvSpPr/>
      </dsp:nvSpPr>
      <dsp:spPr>
        <a:xfrm>
          <a:off x="1245717" y="1920187"/>
          <a:ext cx="239233" cy="279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800" kern="1200"/>
        </a:p>
      </dsp:txBody>
      <dsp:txXfrm>
        <a:off x="1245717" y="1976158"/>
        <a:ext cx="167463" cy="167915"/>
      </dsp:txXfrm>
    </dsp:sp>
    <dsp:sp modelId="{E1CFEC14-06CC-4982-AC11-8412FF6CDE0E}">
      <dsp:nvSpPr>
        <dsp:cNvPr id="0" name=""/>
        <dsp:cNvSpPr/>
      </dsp:nvSpPr>
      <dsp:spPr>
        <a:xfrm>
          <a:off x="1584254" y="1721578"/>
          <a:ext cx="1128458" cy="6770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requirements</a:t>
          </a:r>
          <a:endParaRPr lang="zh-TW" altLang="en-US" sz="1800" kern="1200" dirty="0"/>
        </a:p>
      </dsp:txBody>
      <dsp:txXfrm>
        <a:off x="1604085" y="1741409"/>
        <a:ext cx="1088796" cy="637413"/>
      </dsp:txXfrm>
    </dsp:sp>
    <dsp:sp modelId="{05247C09-91EE-4767-B01B-DEBE93F41CC4}">
      <dsp:nvSpPr>
        <dsp:cNvPr id="0" name=""/>
        <dsp:cNvSpPr/>
      </dsp:nvSpPr>
      <dsp:spPr>
        <a:xfrm>
          <a:off x="2825559" y="1920187"/>
          <a:ext cx="239233" cy="279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800" kern="1200"/>
        </a:p>
      </dsp:txBody>
      <dsp:txXfrm>
        <a:off x="2825559" y="1976158"/>
        <a:ext cx="167463" cy="167915"/>
      </dsp:txXfrm>
    </dsp:sp>
    <dsp:sp modelId="{174FD17C-ADE3-41F3-B5A5-130C6011B84B}">
      <dsp:nvSpPr>
        <dsp:cNvPr id="0" name=""/>
        <dsp:cNvSpPr/>
      </dsp:nvSpPr>
      <dsp:spPr>
        <a:xfrm>
          <a:off x="3164097" y="1721578"/>
          <a:ext cx="1128458" cy="6770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smtClean="0"/>
            <a:t>design</a:t>
          </a:r>
          <a:endParaRPr lang="zh-TW" altLang="en-US" sz="1800" kern="1200"/>
        </a:p>
      </dsp:txBody>
      <dsp:txXfrm>
        <a:off x="3183928" y="1741409"/>
        <a:ext cx="1088796" cy="637413"/>
      </dsp:txXfrm>
    </dsp:sp>
    <dsp:sp modelId="{5B328F40-1120-4C46-899A-7791EA7DFD15}">
      <dsp:nvSpPr>
        <dsp:cNvPr id="0" name=""/>
        <dsp:cNvSpPr/>
      </dsp:nvSpPr>
      <dsp:spPr>
        <a:xfrm>
          <a:off x="4405402" y="1920187"/>
          <a:ext cx="239233" cy="279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800" kern="1200"/>
        </a:p>
      </dsp:txBody>
      <dsp:txXfrm>
        <a:off x="4405402" y="1976158"/>
        <a:ext cx="167463" cy="167915"/>
      </dsp:txXfrm>
    </dsp:sp>
    <dsp:sp modelId="{75FEE3B7-F311-4570-BCCA-7B9AF65F6FC3}">
      <dsp:nvSpPr>
        <dsp:cNvPr id="0" name=""/>
        <dsp:cNvSpPr/>
      </dsp:nvSpPr>
      <dsp:spPr>
        <a:xfrm>
          <a:off x="4743939" y="1721578"/>
          <a:ext cx="1128458" cy="6770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implementation</a:t>
          </a:r>
          <a:endParaRPr lang="zh-TW" altLang="en-US" sz="1800" kern="1200" dirty="0"/>
        </a:p>
      </dsp:txBody>
      <dsp:txXfrm>
        <a:off x="4763770" y="1741409"/>
        <a:ext cx="1088796" cy="637413"/>
      </dsp:txXfrm>
    </dsp:sp>
    <dsp:sp modelId="{075F1292-B995-4300-AD96-13E718ACFFD1}">
      <dsp:nvSpPr>
        <dsp:cNvPr id="0" name=""/>
        <dsp:cNvSpPr/>
      </dsp:nvSpPr>
      <dsp:spPr>
        <a:xfrm>
          <a:off x="5985244" y="1920187"/>
          <a:ext cx="239233" cy="279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800" kern="1200"/>
        </a:p>
      </dsp:txBody>
      <dsp:txXfrm>
        <a:off x="5985244" y="1976158"/>
        <a:ext cx="167463" cy="167915"/>
      </dsp:txXfrm>
    </dsp:sp>
    <dsp:sp modelId="{8018407E-EDF6-4997-A635-0E45810609DD}">
      <dsp:nvSpPr>
        <dsp:cNvPr id="0" name=""/>
        <dsp:cNvSpPr/>
      </dsp:nvSpPr>
      <dsp:spPr>
        <a:xfrm>
          <a:off x="6323782" y="1721578"/>
          <a:ext cx="1128458" cy="6770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Test &amp; measure</a:t>
          </a:r>
          <a:endParaRPr lang="zh-TW" altLang="en-US" sz="1800" kern="1200" dirty="0"/>
        </a:p>
      </dsp:txBody>
      <dsp:txXfrm>
        <a:off x="6343613" y="1741409"/>
        <a:ext cx="1088796" cy="637413"/>
      </dsp:txXfrm>
    </dsp:sp>
    <dsp:sp modelId="{A3638A03-C53F-49D5-907F-0E144BE444A6}">
      <dsp:nvSpPr>
        <dsp:cNvPr id="0" name=""/>
        <dsp:cNvSpPr/>
      </dsp:nvSpPr>
      <dsp:spPr>
        <a:xfrm>
          <a:off x="7565087" y="1920187"/>
          <a:ext cx="239233" cy="279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800" kern="1200"/>
        </a:p>
      </dsp:txBody>
      <dsp:txXfrm>
        <a:off x="7565087" y="1976158"/>
        <a:ext cx="167463" cy="167915"/>
      </dsp:txXfrm>
    </dsp:sp>
    <dsp:sp modelId="{DCF0AA1C-6372-441E-AD82-8086C336CE68}">
      <dsp:nvSpPr>
        <dsp:cNvPr id="0" name=""/>
        <dsp:cNvSpPr/>
      </dsp:nvSpPr>
      <dsp:spPr>
        <a:xfrm>
          <a:off x="7903624" y="1721578"/>
          <a:ext cx="1128458" cy="6770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Post release</a:t>
          </a:r>
          <a:endParaRPr lang="zh-TW" altLang="en-US" sz="1800" kern="1200" dirty="0"/>
        </a:p>
      </dsp:txBody>
      <dsp:txXfrm>
        <a:off x="7923455" y="1741409"/>
        <a:ext cx="1088796" cy="637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80385-62CE-49E5-B0CA-6512A95E4D3F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34CB3-166F-4948-88A3-A591CA49CA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778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34CB3-166F-4948-88A3-A591CA49CA29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8912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34CB3-166F-4948-88A3-A591CA49CA29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809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http://www.questionablemethods.com/2011/11/thumbnail-personas-make-users-real.html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34CB3-166F-4948-88A3-A591CA49CA29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232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圓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圓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圓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9/13/2018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圓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pPr algn="r" eaLnBrk="1" latinLnBrk="0" hangingPunct="1"/>
              <a:t>9/13/2018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2.bp.blogspot.com/-6ZxrdGSQcr4/TrNbnUy72VI/AAAAAAAAQc8/ECegh05-NhM/s1600/DS7_9049.JPG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-3HIwwnl-qTE/TrLhNWwkUsI/AAAAAAAAQcY/GvDStjGoVQk/s1600/Screen+Shot+2011-11-03+at+11.32.01+AM.p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1.bp.blogspot.com/-6VsY86PVLr8/TrLhN-GJkSI/AAAAAAAAQcg/aZHwrYXp3-U/s1600/Screen+Shot+2011-11-03+at+11.32.22+AM.p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://4.bp.blogspot.com/-7Sv9c9mPtXo/TrLhOb3lObI/AAAAAAAAQck/_Fpqv5OiK2g/s1600/Screen+Shot+2011-11-03+at+11.32.37+AM.png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Overview of the persona lifecycle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W 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2541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http://images.books24x7.com/bookimages/id_17837/fig65_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548680"/>
            <a:ext cx="7690561" cy="597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870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Persona Lifecycle Graphi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24744"/>
            <a:ext cx="7388820" cy="547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76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Persona family planning</a:t>
            </a:r>
          </a:p>
          <a:p>
            <a:r>
              <a:rPr lang="en-US" altLang="zh-TW" dirty="0"/>
              <a:t>Persona </a:t>
            </a:r>
            <a:r>
              <a:rPr lang="en-US" altLang="zh-TW" dirty="0" smtClean="0"/>
              <a:t>conception and gestation</a:t>
            </a:r>
          </a:p>
          <a:p>
            <a:r>
              <a:rPr lang="en-US" altLang="zh-TW" dirty="0"/>
              <a:t>Persona </a:t>
            </a:r>
            <a:r>
              <a:rPr lang="en-US" altLang="zh-TW" dirty="0" smtClean="0"/>
              <a:t>birth and maturation</a:t>
            </a:r>
          </a:p>
          <a:p>
            <a:r>
              <a:rPr lang="en-US" altLang="zh-TW" dirty="0"/>
              <a:t>Persona </a:t>
            </a:r>
            <a:r>
              <a:rPr lang="en-US" altLang="zh-TW" dirty="0" smtClean="0"/>
              <a:t>adulthood</a:t>
            </a:r>
          </a:p>
          <a:p>
            <a:r>
              <a:rPr lang="en-US" altLang="zh-TW" dirty="0"/>
              <a:t>Persona </a:t>
            </a:r>
            <a:r>
              <a:rPr lang="en-US" altLang="zh-TW" dirty="0" smtClean="0"/>
              <a:t>lifetime achievement, reuse, and retirement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329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Phase 1: persona family </a:t>
            </a:r>
            <a:r>
              <a:rPr lang="en-US" altLang="zh-TW" b="1" dirty="0"/>
              <a:t>p</a:t>
            </a:r>
            <a:r>
              <a:rPr lang="en-US" altLang="zh-TW" b="1" dirty="0" smtClean="0"/>
              <a:t>lanning</a:t>
            </a:r>
            <a:r>
              <a:rPr lang="en-US" altLang="zh-TW" b="1" dirty="0"/>
              <a:t/>
            </a:r>
            <a:br>
              <a:rPr lang="en-US" altLang="zh-TW" b="1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Persona </a:t>
            </a:r>
            <a:r>
              <a:rPr lang="en-US" altLang="zh-TW" dirty="0"/>
              <a:t>development begins with family planning; this is the research phase that precedes the actual creation of the personas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Focus: </a:t>
            </a:r>
          </a:p>
          <a:p>
            <a:pPr lvl="1"/>
            <a:r>
              <a:rPr lang="en-US" altLang="zh-TW" dirty="0" smtClean="0"/>
              <a:t>Creating a core team </a:t>
            </a:r>
            <a:r>
              <a:rPr lang="zh-TW" altLang="en-US" dirty="0" smtClean="0"/>
              <a:t>組成團隊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Researching your organization to evaluate the problems and needs of your company or product – these needs that the persona effort will address</a:t>
            </a:r>
            <a:r>
              <a:rPr lang="zh-TW" altLang="en-US" dirty="0" smtClean="0"/>
              <a:t> 了解公司問題與需求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User research and identification of data sources that will provide the raw materials for your persona.</a:t>
            </a:r>
            <a:r>
              <a:rPr lang="zh-TW" altLang="en-US" dirty="0" smtClean="0"/>
              <a:t> 使用者研究與資料蒐集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6813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Phase 2: persona conception </a:t>
            </a:r>
            <a:r>
              <a:rPr lang="en-US" altLang="zh-TW" b="1" dirty="0"/>
              <a:t>&amp; </a:t>
            </a:r>
            <a:r>
              <a:rPr lang="en-US" altLang="zh-TW" b="1" dirty="0" smtClean="0"/>
              <a:t>Gestation</a:t>
            </a:r>
            <a:r>
              <a:rPr lang="zh-TW" altLang="en-US" b="1" dirty="0" smtClean="0"/>
              <a:t> </a:t>
            </a:r>
            <a:r>
              <a:rPr lang="zh-TW" altLang="en-US" sz="2200" b="1" dirty="0" smtClean="0"/>
              <a:t>孕育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team extracts useful information out of disparate data sources and uses this information to build personas. </a:t>
            </a:r>
            <a:endParaRPr lang="en-US" altLang="zh-TW" dirty="0" smtClean="0"/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turn </a:t>
            </a:r>
            <a:r>
              <a:rPr lang="en-US" altLang="zh-TW" b="1" dirty="0">
                <a:solidFill>
                  <a:srgbClr val="FF0000"/>
                </a:solidFill>
              </a:rPr>
              <a:t>data into </a:t>
            </a:r>
            <a:r>
              <a:rPr lang="en-US" altLang="zh-TW" b="1" dirty="0" smtClean="0">
                <a:solidFill>
                  <a:srgbClr val="FF0000"/>
                </a:solidFill>
              </a:rPr>
              <a:t>information</a:t>
            </a:r>
            <a:endParaRPr lang="en-US" altLang="zh-TW" dirty="0"/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turn information </a:t>
            </a:r>
            <a:r>
              <a:rPr lang="en-US" altLang="zh-TW" b="1" dirty="0">
                <a:solidFill>
                  <a:srgbClr val="FF0000"/>
                </a:solidFill>
              </a:rPr>
              <a:t>into personas.</a:t>
            </a:r>
          </a:p>
          <a:p>
            <a:r>
              <a:rPr lang="en-US" altLang="zh-TW" dirty="0" smtClean="0"/>
              <a:t>Decide</a:t>
            </a:r>
            <a:r>
              <a:rPr lang="zh-TW" altLang="en-US" dirty="0" smtClean="0"/>
              <a:t> </a:t>
            </a:r>
            <a:r>
              <a:rPr lang="en-US" altLang="zh-TW" dirty="0" smtClean="0"/>
              <a:t>---</a:t>
            </a:r>
          </a:p>
          <a:p>
            <a:pPr lvl="1"/>
            <a:r>
              <a:rPr lang="en-US" altLang="zh-TW" dirty="0" smtClean="0"/>
              <a:t>How many personas you will need </a:t>
            </a:r>
            <a:r>
              <a:rPr lang="zh-TW" altLang="en-US" dirty="0" smtClean="0"/>
              <a:t>要多少</a:t>
            </a:r>
            <a:r>
              <a:rPr lang="en-US" altLang="zh-TW" dirty="0" smtClean="0"/>
              <a:t>persona</a:t>
            </a:r>
          </a:p>
          <a:p>
            <a:pPr lvl="1"/>
            <a:r>
              <a:rPr lang="en-US" altLang="zh-TW" dirty="0" smtClean="0"/>
              <a:t>Which descriptive elements you should include in persona documents</a:t>
            </a:r>
            <a:r>
              <a:rPr lang="zh-TW" altLang="en-US" dirty="0" smtClean="0"/>
              <a:t> 需要哪些描述性資料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How to prioritize and validate your persona</a:t>
            </a:r>
            <a:r>
              <a:rPr lang="zh-TW" altLang="en-US" dirty="0" smtClean="0"/>
              <a:t> 排序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How to decide when your persona are complete </a:t>
            </a:r>
            <a:r>
              <a:rPr lang="zh-TW" altLang="en-US" dirty="0" smtClean="0"/>
              <a:t>如何確定何時完成，可以介紹給</a:t>
            </a:r>
            <a:r>
              <a:rPr lang="en-US" altLang="zh-TW" dirty="0" smtClean="0"/>
              <a:t>product team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929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476672"/>
            <a:ext cx="7772400" cy="5543128"/>
          </a:xfrm>
        </p:spPr>
        <p:txBody>
          <a:bodyPr/>
          <a:lstStyle/>
          <a:p>
            <a:r>
              <a:rPr lang="en-US" altLang="zh-TW" dirty="0" smtClean="0"/>
              <a:t>Filter data and organize information – information that help understand user roles, user goals, and user segments.</a:t>
            </a:r>
          </a:p>
          <a:p>
            <a:r>
              <a:rPr lang="en-US" altLang="zh-TW" dirty="0" smtClean="0"/>
              <a:t>Complete persona </a:t>
            </a:r>
            <a:r>
              <a:rPr lang="zh-TW" altLang="en-US" dirty="0" smtClean="0"/>
              <a:t>完整的</a:t>
            </a:r>
            <a:r>
              <a:rPr lang="en-US" altLang="zh-TW" dirty="0" smtClean="0"/>
              <a:t>persona</a:t>
            </a:r>
            <a:r>
              <a:rPr lang="zh-TW" altLang="en-US" dirty="0" smtClean="0"/>
              <a:t>包含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Facts</a:t>
            </a:r>
          </a:p>
          <a:p>
            <a:pPr lvl="1"/>
            <a:r>
              <a:rPr lang="en-US" altLang="zh-TW" dirty="0" smtClean="0"/>
              <a:t>Narrative</a:t>
            </a:r>
          </a:p>
          <a:p>
            <a:pPr lvl="1"/>
            <a:r>
              <a:rPr lang="en-US" altLang="zh-TW" dirty="0" smtClean="0"/>
              <a:t>Storytelling elements</a:t>
            </a:r>
          </a:p>
          <a:p>
            <a:r>
              <a:rPr lang="en-US" altLang="zh-TW" dirty="0" smtClean="0"/>
              <a:t>Design relevant information &amp; extraneous information (e.g. a persona’s e-mail, favorite car or book)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Phase 3: persona birth </a:t>
            </a:r>
            <a:r>
              <a:rPr lang="en-US" altLang="zh-TW" b="1" dirty="0"/>
              <a:t>and Maturation</a:t>
            </a:r>
            <a:br>
              <a:rPr lang="en-US" altLang="zh-TW" b="1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You </a:t>
            </a:r>
            <a:r>
              <a:rPr lang="en-US" altLang="zh-TW" dirty="0"/>
              <a:t>and your core team will send your personas into your organization to interact with other </a:t>
            </a:r>
            <a:r>
              <a:rPr lang="en-US" altLang="zh-TW" dirty="0" smtClean="0"/>
              <a:t>people.</a:t>
            </a:r>
          </a:p>
          <a:p>
            <a:r>
              <a:rPr lang="en-US" altLang="zh-TW" dirty="0" smtClean="0"/>
              <a:t>Throughout </a:t>
            </a:r>
            <a:r>
              <a:rPr lang="en-US" altLang="zh-TW" dirty="0"/>
              <a:t>the remainder of the development cycle, your personas will </a:t>
            </a:r>
            <a:r>
              <a:rPr lang="en-US" altLang="zh-TW" dirty="0">
                <a:solidFill>
                  <a:srgbClr val="FF0000"/>
                </a:solidFill>
              </a:rPr>
              <a:t>continue to develop in the minds </a:t>
            </a:r>
            <a:r>
              <a:rPr lang="en-US" altLang="zh-TW" dirty="0"/>
              <a:t>of your product team</a:t>
            </a:r>
            <a:r>
              <a:rPr lang="en-US" altLang="zh-TW" dirty="0" smtClean="0"/>
              <a:t>.</a:t>
            </a:r>
          </a:p>
          <a:p>
            <a:pPr lvl="1"/>
            <a:r>
              <a:rPr lang="zh-TW" altLang="en-US" dirty="0" smtClean="0"/>
              <a:t>討論創造</a:t>
            </a:r>
            <a:r>
              <a:rPr lang="en-US" altLang="zh-TW" dirty="0" smtClean="0"/>
              <a:t>persona</a:t>
            </a:r>
            <a:r>
              <a:rPr lang="zh-TW" altLang="en-US" dirty="0" smtClean="0"/>
              <a:t>過程、如何有效使用</a:t>
            </a:r>
            <a:r>
              <a:rPr lang="en-US" altLang="zh-TW" dirty="0" smtClean="0"/>
              <a:t>persona</a:t>
            </a:r>
          </a:p>
          <a:p>
            <a:r>
              <a:rPr lang="zh-TW" altLang="en-US" dirty="0" smtClean="0"/>
              <a:t>要做的事包含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Create a persona campaign </a:t>
            </a:r>
          </a:p>
          <a:p>
            <a:pPr lvl="1"/>
            <a:r>
              <a:rPr lang="en-US" altLang="zh-TW" dirty="0" smtClean="0"/>
              <a:t>Introduce it to the product team</a:t>
            </a:r>
          </a:p>
          <a:p>
            <a:pPr lvl="1"/>
            <a:r>
              <a:rPr lang="en-US" altLang="zh-TW" dirty="0" smtClean="0"/>
              <a:t>Ensure the personas are understood and likely to be used</a:t>
            </a:r>
          </a:p>
          <a:p>
            <a:pPr lvl="1"/>
            <a:r>
              <a:rPr lang="en-US" altLang="zh-TW" dirty="0" smtClean="0"/>
              <a:t>Manage the minor changes to the personal descriptions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7669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 smtClean="0"/>
              <a:t>利用一些方法來介紹</a:t>
            </a:r>
            <a:r>
              <a:rPr lang="en-US" altLang="zh-TW" dirty="0" smtClean="0"/>
              <a:t>persona</a:t>
            </a:r>
            <a:r>
              <a:rPr lang="zh-TW" altLang="en-US" dirty="0" smtClean="0"/>
              <a:t>給設計團隊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Web sites, poster, illustrations, electronic documents, diagrams, live actors, videos.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Phase 4: Persona adulthood</a:t>
            </a:r>
            <a:r>
              <a:rPr lang="en-US" altLang="zh-TW" b="1" dirty="0"/>
              <a:t/>
            </a:r>
            <a:br>
              <a:rPr lang="en-US" altLang="zh-TW" b="1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During </a:t>
            </a:r>
            <a:r>
              <a:rPr lang="en-US" altLang="zh-TW" dirty="0"/>
              <a:t>Adulthood, personas are "</a:t>
            </a:r>
            <a:r>
              <a:rPr lang="en-US" altLang="zh-TW" dirty="0">
                <a:solidFill>
                  <a:srgbClr val="FF0000"/>
                </a:solidFill>
              </a:rPr>
              <a:t>all grown up</a:t>
            </a:r>
            <a:r>
              <a:rPr lang="en-US" altLang="zh-TW" dirty="0"/>
              <a:t>" and they have a job to do. The organization will ‘know’ the personas; </a:t>
            </a:r>
            <a:endParaRPr lang="en-US" altLang="zh-TW" dirty="0" smtClean="0"/>
          </a:p>
          <a:p>
            <a:r>
              <a:rPr lang="en-US" altLang="zh-TW" dirty="0" smtClean="0"/>
              <a:t>It’s </a:t>
            </a:r>
            <a:r>
              <a:rPr lang="en-US" altLang="zh-TW" dirty="0"/>
              <a:t>time to help everyone use the personas to inform the design and development of the product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Persona can be used to </a:t>
            </a:r>
          </a:p>
          <a:p>
            <a:pPr lvl="1"/>
            <a:r>
              <a:rPr lang="en-US" altLang="zh-TW" dirty="0" smtClean="0"/>
              <a:t>Help you plan, design, evaluate, and release your products</a:t>
            </a:r>
          </a:p>
          <a:p>
            <a:pPr lvl="1"/>
            <a:r>
              <a:rPr lang="en-US" altLang="zh-TW" dirty="0" smtClean="0"/>
              <a:t>Inform marketing, advertising, and sales strategy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876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/>
          <p:cNvSpPr/>
          <p:nvPr/>
        </p:nvSpPr>
        <p:spPr>
          <a:xfrm>
            <a:off x="1187624" y="4509120"/>
            <a:ext cx="1440160" cy="216024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圓角矩形 3"/>
          <p:cNvSpPr/>
          <p:nvPr/>
        </p:nvSpPr>
        <p:spPr>
          <a:xfrm>
            <a:off x="2915816" y="4293096"/>
            <a:ext cx="5400600" cy="216024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Phase 5: persona lifetime </a:t>
            </a:r>
            <a:r>
              <a:rPr lang="en-US" altLang="zh-TW" b="1" dirty="0"/>
              <a:t>Achievement, Reuse &amp; </a:t>
            </a:r>
            <a:r>
              <a:rPr lang="en-US" altLang="zh-TW" b="1" dirty="0" smtClean="0"/>
              <a:t>Retirement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11560" y="1700808"/>
            <a:ext cx="7772400" cy="4572000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 smtClean="0"/>
              <a:t>At </a:t>
            </a:r>
            <a:r>
              <a:rPr lang="en-US" altLang="zh-TW" dirty="0"/>
              <a:t>the end of the project, it’s important to measure the success of the persona effort and create a plan to </a:t>
            </a:r>
            <a:r>
              <a:rPr lang="en-US" altLang="zh-TW" dirty="0">
                <a:solidFill>
                  <a:srgbClr val="FF0000"/>
                </a:solidFill>
              </a:rPr>
              <a:t>reuse or retire the personas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No matter how you create them, </a:t>
            </a:r>
            <a:r>
              <a:rPr lang="en-US" altLang="zh-TW" dirty="0" smtClean="0"/>
              <a:t>personas </a:t>
            </a:r>
            <a:r>
              <a:rPr lang="en-US" altLang="zh-TW" dirty="0"/>
              <a:t>will make your </a:t>
            </a:r>
            <a:r>
              <a:rPr lang="en-US" altLang="zh-TW" dirty="0">
                <a:solidFill>
                  <a:srgbClr val="FF0000"/>
                </a:solidFill>
              </a:rPr>
              <a:t>customer data usable to the people </a:t>
            </a:r>
            <a:r>
              <a:rPr lang="en-US" altLang="zh-TW" dirty="0"/>
              <a:t>designing your website, product, or service experience. </a:t>
            </a:r>
            <a:endParaRPr lang="en-US" altLang="zh-TW" dirty="0" smtClean="0"/>
          </a:p>
          <a:p>
            <a:r>
              <a:rPr lang="en-US" altLang="zh-TW" dirty="0" smtClean="0"/>
              <a:t>Well-crafted </a:t>
            </a:r>
            <a:r>
              <a:rPr lang="en-US" altLang="zh-TW" dirty="0"/>
              <a:t>personas:</a:t>
            </a:r>
          </a:p>
          <a:p>
            <a:pPr lvl="1"/>
            <a:r>
              <a:rPr lang="zh-TW" altLang="en-US" dirty="0" smtClean="0"/>
              <a:t>形成對顧客</a:t>
            </a:r>
            <a:r>
              <a:rPr lang="en-US" altLang="zh-TW" dirty="0" smtClean="0"/>
              <a:t>/</a:t>
            </a:r>
            <a:r>
              <a:rPr lang="zh-TW" altLang="en-US" dirty="0" smtClean="0"/>
              <a:t>使用者概念的共識</a:t>
            </a:r>
            <a:r>
              <a:rPr lang="en-US" altLang="zh-TW" dirty="0" smtClean="0"/>
              <a:t>Create </a:t>
            </a:r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rich, shared understanding</a:t>
            </a:r>
            <a:r>
              <a:rPr lang="en-US" altLang="zh-TW" dirty="0"/>
              <a:t> of what you mean when you say ‘our </a:t>
            </a:r>
            <a:r>
              <a:rPr lang="en-US" altLang="zh-TW" dirty="0">
                <a:solidFill>
                  <a:srgbClr val="FF0000"/>
                </a:solidFill>
              </a:rPr>
              <a:t>customers’ or ‘our users</a:t>
            </a:r>
            <a:r>
              <a:rPr lang="en-US" altLang="zh-TW" dirty="0" smtClean="0"/>
              <a:t>’,</a:t>
            </a:r>
            <a:r>
              <a:rPr lang="zh-TW" altLang="en-US" dirty="0" smtClean="0"/>
              <a:t> </a:t>
            </a:r>
            <a:endParaRPr lang="en-US" altLang="zh-TW" dirty="0"/>
          </a:p>
          <a:p>
            <a:pPr lvl="1"/>
            <a:r>
              <a:rPr lang="zh-TW" altLang="en-US" dirty="0" smtClean="0"/>
              <a:t>專注在顧客目標，從資料中擷取精華，有共同溝通的語彙 ，使大家能消化及組織資料，同時記住顧客相關訊息 </a:t>
            </a:r>
            <a:r>
              <a:rPr lang="en-US" altLang="zh-TW" dirty="0" smtClean="0"/>
              <a:t>Encourage </a:t>
            </a:r>
            <a:r>
              <a:rPr lang="en-US" altLang="zh-TW" dirty="0"/>
              <a:t>the entire organization to </a:t>
            </a:r>
            <a:r>
              <a:rPr lang="en-US" altLang="zh-TW" dirty="0">
                <a:solidFill>
                  <a:srgbClr val="FF0000"/>
                </a:solidFill>
              </a:rPr>
              <a:t>focus on your customers’ goals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Extract more value from data</a:t>
            </a:r>
            <a:r>
              <a:rPr lang="en-US" altLang="zh-TW" dirty="0"/>
              <a:t> you’ve already collected for other purposes, Create a </a:t>
            </a:r>
            <a:r>
              <a:rPr lang="en-US" altLang="zh-TW" dirty="0">
                <a:solidFill>
                  <a:srgbClr val="FF0000"/>
                </a:solidFill>
              </a:rPr>
              <a:t>shared vocabulary </a:t>
            </a:r>
            <a:r>
              <a:rPr lang="en-US" altLang="zh-TW" dirty="0"/>
              <a:t>between multiple departments in your organization and enable everyone to </a:t>
            </a:r>
            <a:r>
              <a:rPr lang="en-US" altLang="zh-TW" dirty="0">
                <a:solidFill>
                  <a:srgbClr val="FF0000"/>
                </a:solidFill>
              </a:rPr>
              <a:t>organize data, consume complexity, and recall facts related to your customers</a:t>
            </a:r>
            <a:r>
              <a:rPr lang="en-US" altLang="zh-TW" dirty="0"/>
              <a:t>,</a:t>
            </a:r>
          </a:p>
          <a:p>
            <a:pPr lvl="1"/>
            <a:r>
              <a:rPr lang="zh-TW" altLang="en-US" dirty="0" smtClean="0"/>
              <a:t>利用所蒐集的資料 </a:t>
            </a:r>
            <a:r>
              <a:rPr lang="en-US" altLang="zh-TW" dirty="0" smtClean="0"/>
              <a:t>(</a:t>
            </a:r>
            <a:r>
              <a:rPr lang="zh-TW" altLang="en-US" dirty="0" smtClean="0"/>
              <a:t>創建</a:t>
            </a:r>
            <a:r>
              <a:rPr lang="en-US" altLang="zh-TW" dirty="0" smtClean="0"/>
              <a:t>persona</a:t>
            </a:r>
            <a:r>
              <a:rPr lang="zh-TW" altLang="en-US" dirty="0" smtClean="0"/>
              <a:t>用</a:t>
            </a:r>
            <a:r>
              <a:rPr lang="en-US" altLang="zh-TW" dirty="0" smtClean="0"/>
              <a:t>data)</a:t>
            </a:r>
            <a:r>
              <a:rPr lang="zh-TW" altLang="en-US" dirty="0" smtClean="0"/>
              <a:t>作為形成決定的依據  </a:t>
            </a:r>
            <a:r>
              <a:rPr lang="en-US" altLang="zh-TW" dirty="0" smtClean="0"/>
              <a:t>Personas Enable yourself and other stakeholders to</a:t>
            </a:r>
            <a:r>
              <a:rPr lang="en-US" altLang="zh-TW" dirty="0" smtClean="0">
                <a:solidFill>
                  <a:srgbClr val="FF0000"/>
                </a:solidFill>
              </a:rPr>
              <a:t> make informed decisions about design alternatives-decisions that are supported by the data </a:t>
            </a:r>
            <a:r>
              <a:rPr lang="en-US" altLang="zh-TW" dirty="0" smtClean="0"/>
              <a:t>used to create the personas</a:t>
            </a:r>
            <a:r>
              <a:rPr lang="en-US" altLang="zh-TW" dirty="0"/>
              <a:t>, 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在所蒐集的資料找出不足處，做為日後改善依據 </a:t>
            </a:r>
            <a:r>
              <a:rPr lang="en-US" altLang="zh-TW" dirty="0" smtClean="0">
                <a:solidFill>
                  <a:srgbClr val="FF0000"/>
                </a:solidFill>
              </a:rPr>
              <a:t>Identify </a:t>
            </a:r>
            <a:r>
              <a:rPr lang="en-US" altLang="zh-TW" dirty="0">
                <a:solidFill>
                  <a:srgbClr val="FF0000"/>
                </a:solidFill>
              </a:rPr>
              <a:t>‘holes</a:t>
            </a:r>
            <a:r>
              <a:rPr lang="en-US" altLang="zh-TW" dirty="0"/>
              <a:t>’ in your existing data (and understanding of your customers) and establish a framework for future data collection, </a:t>
            </a:r>
          </a:p>
          <a:p>
            <a:pPr lvl="1"/>
            <a:r>
              <a:rPr lang="zh-TW" altLang="en-US" dirty="0" smtClean="0"/>
              <a:t>除去個團隊互動時的政治化 </a:t>
            </a:r>
            <a:r>
              <a:rPr lang="en-US" altLang="zh-TW" dirty="0" smtClean="0"/>
              <a:t>Depoliticize </a:t>
            </a:r>
            <a:r>
              <a:rPr lang="en-US" altLang="zh-TW" dirty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interactions between various teams </a:t>
            </a:r>
            <a:r>
              <a:rPr lang="en-US" altLang="zh-TW" dirty="0"/>
              <a:t>in your organization.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4862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701824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The persona lifecycle is designed to enhance, not replace, your existing processes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1916832"/>
            <a:ext cx="7772400" cy="4102968"/>
          </a:xfrm>
        </p:spPr>
        <p:txBody>
          <a:bodyPr/>
          <a:lstStyle/>
          <a:p>
            <a:r>
              <a:rPr lang="en-US" altLang="zh-TW" dirty="0" smtClean="0"/>
              <a:t>Persona </a:t>
            </a:r>
            <a:r>
              <a:rPr lang="zh-TW" altLang="en-US" dirty="0" smtClean="0"/>
              <a:t>的建置要在</a:t>
            </a:r>
            <a:r>
              <a:rPr lang="en-US" altLang="zh-TW" dirty="0" smtClean="0"/>
              <a:t>waterfall model </a:t>
            </a:r>
            <a:r>
              <a:rPr lang="zh-TW" altLang="en-US" dirty="0" smtClean="0"/>
              <a:t>之前，即在</a:t>
            </a:r>
            <a:r>
              <a:rPr lang="en-US" altLang="zh-TW" dirty="0" smtClean="0"/>
              <a:t>system requirement</a:t>
            </a:r>
            <a:r>
              <a:rPr lang="zh-TW" altLang="en-US" dirty="0" smtClean="0"/>
              <a:t>形成之前</a:t>
            </a:r>
            <a:endParaRPr lang="en-US" altLang="zh-TW" dirty="0" smtClean="0"/>
          </a:p>
          <a:p>
            <a:r>
              <a:rPr lang="en-US" altLang="zh-TW" dirty="0" smtClean="0"/>
              <a:t>Discount usability + persona, play a major role in </a:t>
            </a:r>
            <a:r>
              <a:rPr lang="zh-TW" altLang="en-US" dirty="0" smtClean="0"/>
              <a:t>引導</a:t>
            </a:r>
            <a:r>
              <a:rPr lang="en-US" altLang="zh-TW" dirty="0" smtClean="0"/>
              <a:t>UCD</a:t>
            </a:r>
            <a:r>
              <a:rPr lang="zh-TW" altLang="en-US" dirty="0" smtClean="0"/>
              <a:t>發展 </a:t>
            </a:r>
            <a:r>
              <a:rPr lang="en-US" altLang="zh-TW" dirty="0" smtClean="0"/>
              <a:t>---- figure 2.3 waterfall model + persona lifecycle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9431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figure 2.4: UCD tools and methods grouped by product lifecycle phases</a:t>
            </a:r>
            <a:endParaRPr lang="zh-TW" altLang="en-US" dirty="0"/>
          </a:p>
        </p:txBody>
      </p:sp>
      <p:graphicFrame>
        <p:nvGraphicFramePr>
          <p:cNvPr id="5" name="資料庫圖表 4"/>
          <p:cNvGraphicFramePr/>
          <p:nvPr/>
        </p:nvGraphicFramePr>
        <p:xfrm>
          <a:off x="107504" y="1340768"/>
          <a:ext cx="9036496" cy="4120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2697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655712"/>
            <a:ext cx="3009528" cy="4572000"/>
          </a:xfrm>
        </p:spPr>
        <p:txBody>
          <a:bodyPr/>
          <a:lstStyle/>
          <a:p>
            <a:pPr lvl="0">
              <a:buNone/>
            </a:pPr>
            <a:r>
              <a:rPr lang="en-US" altLang="zh-TW" sz="2800" dirty="0" smtClean="0"/>
              <a:t>Planning &amp; feasibility</a:t>
            </a:r>
            <a:endParaRPr lang="zh-TW" altLang="en-US" sz="2800" dirty="0" smtClean="0"/>
          </a:p>
          <a:p>
            <a:r>
              <a:rPr lang="en-US" altLang="zh-TW" dirty="0" smtClean="0"/>
              <a:t>Stakeholder meeting</a:t>
            </a:r>
          </a:p>
          <a:p>
            <a:r>
              <a:rPr lang="en-US" altLang="zh-TW" dirty="0" smtClean="0"/>
              <a:t>Analyze content</a:t>
            </a:r>
          </a:p>
          <a:p>
            <a:r>
              <a:rPr lang="en-US" altLang="zh-TW" dirty="0" smtClean="0"/>
              <a:t>ISO 13407</a:t>
            </a:r>
          </a:p>
          <a:p>
            <a:r>
              <a:rPr lang="en-US" altLang="zh-TW" dirty="0" smtClean="0"/>
              <a:t>Planning</a:t>
            </a:r>
          </a:p>
          <a:p>
            <a:r>
              <a:rPr lang="en-US" altLang="zh-TW" dirty="0" smtClean="0"/>
              <a:t>Competitor analysis</a:t>
            </a: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427984" y="43452"/>
            <a:ext cx="3744416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2800" dirty="0" smtClean="0"/>
              <a:t>Requirements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User surveys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Interviews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Contextual inquiry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User observation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Context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Focus group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Brainstorming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Evaluating existing systems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Card sorting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Affinity diagramming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Scenarios of use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Task analysis 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Requirements meeting</a:t>
            </a:r>
            <a:endParaRPr lang="zh-TW" altLang="en-US" sz="2600" dirty="0" smtClean="0"/>
          </a:p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endParaRPr lang="zh-TW" altLang="en-US" sz="26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655712"/>
            <a:ext cx="3009528" cy="4572000"/>
          </a:xfrm>
        </p:spPr>
        <p:txBody>
          <a:bodyPr>
            <a:normAutofit lnSpcReduction="10000"/>
          </a:bodyPr>
          <a:lstStyle/>
          <a:p>
            <a:pPr lvl="0">
              <a:buNone/>
            </a:pPr>
            <a:r>
              <a:rPr lang="en-US" altLang="zh-TW" sz="2800" dirty="0" smtClean="0"/>
              <a:t>Design</a:t>
            </a:r>
          </a:p>
          <a:p>
            <a:r>
              <a:rPr lang="en-US" altLang="zh-TW" dirty="0" smtClean="0"/>
              <a:t>Design guidelines</a:t>
            </a:r>
          </a:p>
          <a:p>
            <a:r>
              <a:rPr lang="en-US" altLang="zh-TW" dirty="0" smtClean="0"/>
              <a:t>Paper prototyping</a:t>
            </a:r>
          </a:p>
          <a:p>
            <a:r>
              <a:rPr lang="en-US" altLang="zh-TW" dirty="0" smtClean="0"/>
              <a:t>Heuristic evaluation</a:t>
            </a:r>
          </a:p>
          <a:p>
            <a:r>
              <a:rPr lang="en-US" altLang="zh-TW" dirty="0" smtClean="0"/>
              <a:t>Parallel design</a:t>
            </a:r>
          </a:p>
          <a:p>
            <a:r>
              <a:rPr lang="en-US" altLang="zh-TW" dirty="0" smtClean="0"/>
              <a:t>Storyboarding</a:t>
            </a:r>
          </a:p>
          <a:p>
            <a:r>
              <a:rPr lang="en-US" altLang="zh-TW" dirty="0" smtClean="0"/>
              <a:t>Evaluate prototype</a:t>
            </a:r>
          </a:p>
          <a:p>
            <a:r>
              <a:rPr lang="en-US" altLang="zh-TW" dirty="0" smtClean="0"/>
              <a:t>Wizard of Oz</a:t>
            </a:r>
          </a:p>
          <a:p>
            <a:r>
              <a:rPr lang="en-US" altLang="zh-TW" dirty="0" smtClean="0"/>
              <a:t>Interface design patterns</a:t>
            </a: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427984" y="700534"/>
            <a:ext cx="3744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2800" dirty="0" smtClean="0"/>
              <a:t>Implementation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Style guides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Rapid prototyping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655712"/>
            <a:ext cx="3009528" cy="4572000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altLang="zh-TW" sz="2800" dirty="0" smtClean="0"/>
              <a:t>Test &amp; measure</a:t>
            </a:r>
          </a:p>
          <a:p>
            <a:r>
              <a:rPr lang="en-US" altLang="zh-TW" dirty="0" smtClean="0"/>
              <a:t>Diagnostic evaluation</a:t>
            </a:r>
          </a:p>
          <a:p>
            <a:r>
              <a:rPr lang="en-US" altLang="zh-TW" dirty="0" smtClean="0"/>
              <a:t>Performance testing</a:t>
            </a:r>
          </a:p>
          <a:p>
            <a:r>
              <a:rPr lang="en-US" altLang="zh-TW" dirty="0" smtClean="0"/>
              <a:t>Subjective evaluation</a:t>
            </a:r>
          </a:p>
          <a:p>
            <a:r>
              <a:rPr lang="en-US" altLang="zh-TW" dirty="0" smtClean="0"/>
              <a:t>Heuristic evaluation</a:t>
            </a:r>
          </a:p>
          <a:p>
            <a:r>
              <a:rPr lang="en-US" altLang="zh-TW" dirty="0" smtClean="0"/>
              <a:t>Critical incidence technique</a:t>
            </a:r>
          </a:p>
          <a:p>
            <a:r>
              <a:rPr lang="en-US" altLang="zh-TW" dirty="0" smtClean="0"/>
              <a:t>pleasure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427984" y="700534"/>
            <a:ext cx="374441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2800" dirty="0" smtClean="0"/>
              <a:t>Post release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Post release testing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Subjective assessment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User survey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Remote evaluation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971600" y="1772816"/>
            <a:ext cx="2016224" cy="432048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Story from the field</a:t>
            </a:r>
            <a:br>
              <a:rPr lang="en-US" altLang="zh-TW" dirty="0" smtClean="0"/>
            </a:br>
            <a:r>
              <a:rPr lang="en-US" altLang="zh-TW" sz="2700" dirty="0" smtClean="0"/>
              <a:t>persona for e-business server products </a:t>
            </a:r>
            <a:br>
              <a:rPr lang="en-US" altLang="zh-TW" sz="2700" dirty="0" smtClean="0"/>
            </a:br>
            <a:r>
              <a:rPr lang="zh-TW" altLang="en-US" sz="2700" dirty="0" smtClean="0"/>
              <a:t>電子商務</a:t>
            </a:r>
            <a:r>
              <a:rPr lang="en-US" altLang="zh-TW" sz="2700" dirty="0" smtClean="0"/>
              <a:t>server</a:t>
            </a:r>
            <a:r>
              <a:rPr lang="zh-TW" altLang="en-US" sz="2700" dirty="0" smtClean="0"/>
              <a:t>實例</a:t>
            </a:r>
            <a:endParaRPr lang="zh-TW" altLang="en-US" sz="27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43608" y="1700808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Family planning</a:t>
            </a:r>
          </a:p>
          <a:p>
            <a:pPr lvl="1"/>
            <a:r>
              <a:rPr lang="zh-TW" altLang="en-US" dirty="0" smtClean="0"/>
              <a:t>創建組 </a:t>
            </a:r>
            <a:r>
              <a:rPr lang="en-US" altLang="zh-TW" dirty="0" smtClean="0"/>
              <a:t>Design usability team</a:t>
            </a:r>
            <a:r>
              <a:rPr lang="zh-TW" altLang="en-US" dirty="0" smtClean="0"/>
              <a:t> </a:t>
            </a:r>
            <a:r>
              <a:rPr lang="en-US" altLang="zh-TW" dirty="0" smtClean="0"/>
              <a:t>--  create, deliver, maintain, and insure its use by product team</a:t>
            </a:r>
          </a:p>
          <a:p>
            <a:pPr lvl="1"/>
            <a:r>
              <a:rPr lang="en-US" altLang="zh-TW" dirty="0" smtClean="0"/>
              <a:t>Stakeholders – program managers, feature developers, product marketers, user interface designers, technical writers, high-level product team managers</a:t>
            </a:r>
          </a:p>
          <a:p>
            <a:r>
              <a:rPr lang="en-US" altLang="zh-TW" dirty="0" smtClean="0"/>
              <a:t>Identify user type </a:t>
            </a:r>
            <a:r>
              <a:rPr lang="zh-TW" altLang="en-US" dirty="0" smtClean="0"/>
              <a:t>  </a:t>
            </a:r>
            <a:r>
              <a:rPr lang="en-US" altLang="zh-TW" dirty="0" smtClean="0"/>
              <a:t>–</a:t>
            </a:r>
            <a:r>
              <a:rPr lang="zh-TW" altLang="en-US" dirty="0" smtClean="0"/>
              <a:t>  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從公司資料庫中</a:t>
            </a:r>
            <a:r>
              <a:rPr lang="en-US" altLang="zh-TW" dirty="0" smtClean="0"/>
              <a:t>data</a:t>
            </a:r>
            <a:r>
              <a:rPr lang="zh-TW" altLang="en-US" dirty="0" smtClean="0"/>
              <a:t>，進行</a:t>
            </a:r>
            <a:r>
              <a:rPr lang="en-US" altLang="zh-TW" dirty="0" smtClean="0"/>
              <a:t>meta-analysis</a:t>
            </a:r>
          </a:p>
          <a:p>
            <a:pPr lvl="1"/>
            <a:r>
              <a:rPr lang="zh-TW" altLang="en-US" dirty="0" smtClean="0"/>
              <a:t>訂出三種</a:t>
            </a:r>
            <a:r>
              <a:rPr lang="en-US" altLang="zh-TW" dirty="0" smtClean="0"/>
              <a:t>user types:</a:t>
            </a:r>
            <a:r>
              <a:rPr lang="zh-TW" altLang="en-US" dirty="0" smtClean="0"/>
              <a:t> </a:t>
            </a:r>
            <a:r>
              <a:rPr lang="en-US" altLang="zh-TW" dirty="0" smtClean="0"/>
              <a:t>system</a:t>
            </a:r>
            <a:r>
              <a:rPr lang="zh-TW" altLang="en-US" dirty="0" smtClean="0"/>
              <a:t> </a:t>
            </a:r>
            <a:r>
              <a:rPr lang="en-US" altLang="zh-TW" dirty="0" smtClean="0"/>
              <a:t>administrator,</a:t>
            </a:r>
            <a:r>
              <a:rPr lang="zh-TW" altLang="en-US" dirty="0" smtClean="0"/>
              <a:t> </a:t>
            </a:r>
            <a:r>
              <a:rPr lang="en-US" altLang="zh-TW" dirty="0" smtClean="0"/>
              <a:t>developer,</a:t>
            </a:r>
            <a:r>
              <a:rPr lang="zh-TW" altLang="en-US" dirty="0" smtClean="0"/>
              <a:t> </a:t>
            </a:r>
            <a:r>
              <a:rPr lang="en-US" altLang="zh-TW" dirty="0" smtClean="0"/>
              <a:t>information</a:t>
            </a:r>
            <a:r>
              <a:rPr lang="zh-TW" altLang="en-US" dirty="0" smtClean="0"/>
              <a:t> </a:t>
            </a:r>
            <a:r>
              <a:rPr lang="en-US" altLang="zh-TW" dirty="0" smtClean="0"/>
              <a:t>worker</a:t>
            </a:r>
            <a:r>
              <a:rPr lang="zh-TW" altLang="en-US" dirty="0" smtClean="0"/>
              <a:t> </a:t>
            </a:r>
            <a:r>
              <a:rPr lang="en-US" altLang="zh-TW" dirty="0" smtClean="0"/>
              <a:t>(business</a:t>
            </a:r>
            <a:r>
              <a:rPr lang="zh-TW" altLang="en-US" dirty="0" smtClean="0"/>
              <a:t> </a:t>
            </a:r>
            <a:r>
              <a:rPr lang="en-US" altLang="zh-TW" dirty="0" smtClean="0"/>
              <a:t>end</a:t>
            </a:r>
            <a:r>
              <a:rPr lang="zh-TW" altLang="en-US" dirty="0" smtClean="0"/>
              <a:t> </a:t>
            </a:r>
            <a:r>
              <a:rPr lang="en-US" altLang="zh-TW" dirty="0" smtClean="0"/>
              <a:t>user)</a:t>
            </a:r>
            <a:r>
              <a:rPr lang="zh-TW" altLang="en-US" dirty="0" smtClean="0"/>
              <a:t> 系統管理者、開發者、資訊工作者</a:t>
            </a:r>
            <a:r>
              <a:rPr lang="en-US" altLang="zh-TW" dirty="0" smtClean="0"/>
              <a:t>(</a:t>
            </a:r>
            <a:r>
              <a:rPr lang="zh-TW" altLang="en-US" dirty="0" smtClean="0"/>
              <a:t>使用者</a:t>
            </a:r>
            <a:r>
              <a:rPr lang="en-US" altLang="zh-TW" dirty="0" smtClean="0"/>
              <a:t>)  </a:t>
            </a:r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899592" y="3212976"/>
            <a:ext cx="3312368" cy="432048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48072" y="1447800"/>
            <a:ext cx="7772400" cy="4572000"/>
          </a:xfrm>
        </p:spPr>
        <p:txBody>
          <a:bodyPr/>
          <a:lstStyle/>
          <a:p>
            <a:r>
              <a:rPr lang="zh-TW" altLang="en-US" dirty="0" smtClean="0"/>
              <a:t>建立</a:t>
            </a:r>
            <a:r>
              <a:rPr lang="en-US" altLang="zh-TW" dirty="0" smtClean="0"/>
              <a:t>task &amp; skill sets	</a:t>
            </a:r>
          </a:p>
          <a:p>
            <a:pPr lvl="1"/>
            <a:r>
              <a:rPr lang="zh-TW" altLang="en-US" dirty="0" smtClean="0"/>
              <a:t>應用</a:t>
            </a:r>
            <a:r>
              <a:rPr lang="en-US" altLang="zh-TW" dirty="0" smtClean="0"/>
              <a:t>Context</a:t>
            </a:r>
            <a:r>
              <a:rPr lang="zh-TW" altLang="en-US" dirty="0" smtClean="0"/>
              <a:t> </a:t>
            </a:r>
            <a:r>
              <a:rPr lang="en-US" altLang="zh-TW" dirty="0" smtClean="0"/>
              <a:t>inquiry</a:t>
            </a:r>
            <a:r>
              <a:rPr lang="zh-TW" altLang="en-US" dirty="0" smtClean="0"/>
              <a:t>方法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Conduct field research at multiple e-business companies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Conception and gestation</a:t>
            </a:r>
          </a:p>
          <a:p>
            <a:r>
              <a:rPr lang="en-US" altLang="zh-TW" dirty="0" smtClean="0"/>
              <a:t>Affinity grouping of the data --- outline the goals, responsibilities, tasks, skills, and tools per user</a:t>
            </a:r>
          </a:p>
          <a:p>
            <a:r>
              <a:rPr lang="zh-TW" altLang="en-US" dirty="0" smtClean="0"/>
              <a:t>紀錄 </a:t>
            </a:r>
            <a:r>
              <a:rPr lang="en-US" altLang="zh-TW" dirty="0" smtClean="0"/>
              <a:t>key attributes of personas</a:t>
            </a:r>
          </a:p>
          <a:p>
            <a:r>
              <a:rPr lang="zh-TW" altLang="en-US" dirty="0" smtClean="0"/>
              <a:t>確認</a:t>
            </a:r>
            <a:r>
              <a:rPr lang="en-US" altLang="zh-TW" dirty="0" smtClean="0"/>
              <a:t>persona</a:t>
            </a:r>
            <a:r>
              <a:rPr lang="zh-TW" altLang="en-US" dirty="0" smtClean="0"/>
              <a:t>真實性 </a:t>
            </a:r>
            <a:r>
              <a:rPr lang="en-US" altLang="zh-TW" dirty="0" smtClean="0"/>
              <a:t>(</a:t>
            </a:r>
            <a:r>
              <a:rPr lang="zh-TW" altLang="en-US" dirty="0" smtClean="0"/>
              <a:t>與</a:t>
            </a:r>
            <a:r>
              <a:rPr lang="en-US" altLang="zh-TW" dirty="0" smtClean="0"/>
              <a:t>stakeholder, subject matter experts, users)</a:t>
            </a:r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圓角矩形 5"/>
          <p:cNvSpPr/>
          <p:nvPr/>
        </p:nvSpPr>
        <p:spPr>
          <a:xfrm>
            <a:off x="395536" y="2924944"/>
            <a:ext cx="3096344" cy="432048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 4"/>
          <p:cNvSpPr/>
          <p:nvPr/>
        </p:nvSpPr>
        <p:spPr>
          <a:xfrm>
            <a:off x="395536" y="332656"/>
            <a:ext cx="2664296" cy="432048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11560" y="332656"/>
            <a:ext cx="8208912" cy="62373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/>
              <a:t>Birth and maturation</a:t>
            </a:r>
          </a:p>
          <a:p>
            <a:r>
              <a:rPr lang="en-US" altLang="zh-TW" sz="2400" dirty="0" smtClean="0"/>
              <a:t>A  “name your persona” contest</a:t>
            </a:r>
            <a:r>
              <a:rPr lang="zh-TW" altLang="en-US" sz="2400" dirty="0" smtClean="0"/>
              <a:t>讓產品製作團隊能</a:t>
            </a:r>
            <a:r>
              <a:rPr lang="en-US" altLang="zh-TW" sz="2400" dirty="0" smtClean="0"/>
              <a:t>buy-in</a:t>
            </a:r>
          </a:p>
          <a:p>
            <a:pPr lvl="1"/>
            <a:r>
              <a:rPr lang="en-US" altLang="zh-TW" dirty="0" smtClean="0"/>
              <a:t>Sense of closeness and ownership</a:t>
            </a:r>
          </a:p>
          <a:p>
            <a:r>
              <a:rPr lang="en-US" altLang="zh-TW" sz="2400" dirty="0" smtClean="0"/>
              <a:t>Life-size silhouettes (</a:t>
            </a:r>
            <a:r>
              <a:rPr lang="zh-TW" altLang="en-US" sz="2400" dirty="0" smtClean="0"/>
              <a:t>放置人形牌</a:t>
            </a:r>
            <a:r>
              <a:rPr lang="en-US" altLang="zh-TW" sz="2400" dirty="0" smtClean="0"/>
              <a:t>) + picture of real users</a:t>
            </a:r>
          </a:p>
          <a:p>
            <a:r>
              <a:rPr lang="zh-TW" altLang="en-US" sz="2400" dirty="0" smtClean="0"/>
              <a:t>利用方法去 </a:t>
            </a:r>
            <a:r>
              <a:rPr lang="en-US" altLang="zh-TW" sz="2400" dirty="0" smtClean="0"/>
              <a:t>raise awareness and keep the product team interested</a:t>
            </a:r>
          </a:p>
          <a:p>
            <a:endParaRPr lang="en-US" altLang="zh-TW" sz="2400" dirty="0" smtClean="0"/>
          </a:p>
          <a:p>
            <a:pPr>
              <a:buNone/>
            </a:pPr>
            <a:r>
              <a:rPr lang="en-US" altLang="zh-TW" sz="2400" dirty="0" smtClean="0"/>
              <a:t>Adulthood</a:t>
            </a:r>
            <a:r>
              <a:rPr lang="zh-TW" altLang="en-US" sz="2400" dirty="0" smtClean="0"/>
              <a:t>   開始使用</a:t>
            </a:r>
            <a:endParaRPr lang="en-US" altLang="zh-TW" sz="2400" dirty="0" smtClean="0"/>
          </a:p>
          <a:p>
            <a:r>
              <a:rPr lang="en-US" altLang="zh-TW" sz="2400" dirty="0" smtClean="0">
                <a:solidFill>
                  <a:srgbClr val="FF0000"/>
                </a:solidFill>
              </a:rPr>
              <a:t>Marketing</a:t>
            </a:r>
            <a:r>
              <a:rPr lang="zh-TW" altLang="en-US" sz="2400" dirty="0" smtClean="0">
                <a:solidFill>
                  <a:srgbClr val="FF0000"/>
                </a:solidFill>
              </a:rPr>
              <a:t>部門 </a:t>
            </a:r>
            <a:endParaRPr lang="en-US" altLang="zh-TW" sz="2400" dirty="0" smtClean="0"/>
          </a:p>
          <a:p>
            <a:pPr lvl="1"/>
            <a:r>
              <a:rPr lang="zh-TW" altLang="en-US" sz="2200" dirty="0" smtClean="0"/>
              <a:t>開始使用 </a:t>
            </a:r>
            <a:r>
              <a:rPr lang="en-US" altLang="zh-TW" sz="2200" dirty="0" smtClean="0"/>
              <a:t>(marketing requirements documents and vision statements)</a:t>
            </a:r>
          </a:p>
          <a:p>
            <a:r>
              <a:rPr lang="en-US" altLang="zh-TW" sz="2400" dirty="0" smtClean="0">
                <a:solidFill>
                  <a:srgbClr val="FF0000"/>
                </a:solidFill>
              </a:rPr>
              <a:t>Product team</a:t>
            </a:r>
            <a:r>
              <a:rPr lang="zh-TW" altLang="en-US" sz="2400" dirty="0" smtClean="0">
                <a:solidFill>
                  <a:srgbClr val="FF0000"/>
                </a:solidFill>
              </a:rPr>
              <a:t>部門</a:t>
            </a:r>
            <a:r>
              <a:rPr lang="en-US" altLang="zh-TW" sz="2400" dirty="0" smtClean="0"/>
              <a:t> </a:t>
            </a:r>
          </a:p>
          <a:p>
            <a:pPr lvl="1"/>
            <a:r>
              <a:rPr lang="zh-TW" altLang="en-US" dirty="0" smtClean="0"/>
              <a:t>用在 </a:t>
            </a:r>
            <a:r>
              <a:rPr lang="en-US" altLang="zh-TW" dirty="0" smtClean="0"/>
              <a:t>requirement documents, functional specifications</a:t>
            </a:r>
          </a:p>
          <a:p>
            <a:pPr lvl="1"/>
            <a:r>
              <a:rPr lang="en-US" altLang="zh-TW" dirty="0" smtClean="0"/>
              <a:t>Brainstorming, sketching, prototyping, and design recommendations</a:t>
            </a:r>
          </a:p>
          <a:p>
            <a:pPr lvl="1"/>
            <a:r>
              <a:rPr lang="zh-TW" altLang="en-US" dirty="0" smtClean="0"/>
              <a:t>將</a:t>
            </a:r>
            <a:r>
              <a:rPr lang="en-US" altLang="zh-TW" dirty="0" smtClean="0"/>
              <a:t>persona attribute</a:t>
            </a:r>
            <a:r>
              <a:rPr lang="zh-TW" altLang="en-US" dirty="0" smtClean="0"/>
              <a:t>用在</a:t>
            </a:r>
            <a:r>
              <a:rPr lang="en-US" altLang="zh-TW" dirty="0" smtClean="0"/>
              <a:t>scenario, tasks, pain points</a:t>
            </a:r>
          </a:p>
          <a:p>
            <a:endParaRPr lang="en-US" altLang="zh-TW" sz="2400" dirty="0" smtClean="0"/>
          </a:p>
          <a:p>
            <a:endParaRPr lang="en-US" altLang="zh-TW" sz="2400" dirty="0" smtClean="0"/>
          </a:p>
          <a:p>
            <a:endParaRPr lang="zh-TW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755576" y="2780928"/>
            <a:ext cx="4680520" cy="432048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Conduct</a:t>
            </a:r>
            <a:r>
              <a:rPr lang="zh-TW" altLang="en-US" dirty="0" smtClean="0"/>
              <a:t> </a:t>
            </a:r>
            <a:r>
              <a:rPr lang="en-US" altLang="zh-TW" dirty="0" smtClean="0"/>
              <a:t>persona-centric</a:t>
            </a:r>
            <a:r>
              <a:rPr lang="zh-TW" altLang="en-US" dirty="0" smtClean="0"/>
              <a:t> </a:t>
            </a:r>
            <a:r>
              <a:rPr lang="en-US" altLang="zh-TW" dirty="0" smtClean="0"/>
              <a:t>usability</a:t>
            </a:r>
            <a:r>
              <a:rPr lang="zh-TW" altLang="en-US" dirty="0" smtClean="0"/>
              <a:t> </a:t>
            </a:r>
            <a:r>
              <a:rPr lang="en-US" altLang="zh-TW" dirty="0" smtClean="0"/>
              <a:t>baseline</a:t>
            </a:r>
            <a:r>
              <a:rPr lang="zh-TW" altLang="en-US" dirty="0" smtClean="0"/>
              <a:t> </a:t>
            </a:r>
            <a:r>
              <a:rPr lang="en-US" altLang="zh-TW" dirty="0" smtClean="0"/>
              <a:t>studies</a:t>
            </a:r>
            <a:r>
              <a:rPr lang="zh-TW" altLang="en-US" dirty="0" smtClean="0"/>
              <a:t> </a:t>
            </a:r>
            <a:r>
              <a:rPr lang="en-US" altLang="zh-TW" dirty="0" smtClean="0"/>
              <a:t>(on</a:t>
            </a:r>
            <a:r>
              <a:rPr lang="zh-TW" altLang="en-US" dirty="0" smtClean="0"/>
              <a:t> </a:t>
            </a:r>
            <a:r>
              <a:rPr lang="en-US" altLang="zh-TW" dirty="0" smtClean="0"/>
              <a:t>key</a:t>
            </a:r>
            <a:r>
              <a:rPr lang="zh-TW" altLang="en-US" dirty="0" smtClean="0"/>
              <a:t> </a:t>
            </a:r>
            <a:r>
              <a:rPr lang="en-US" altLang="zh-TW" dirty="0" smtClean="0"/>
              <a:t>tasks)</a:t>
            </a:r>
          </a:p>
          <a:p>
            <a:r>
              <a:rPr lang="zh-TW" altLang="en-US" dirty="0" smtClean="0"/>
              <a:t>在招募受測者時，使用</a:t>
            </a:r>
            <a:r>
              <a:rPr lang="en-US" altLang="zh-TW" dirty="0" smtClean="0"/>
              <a:t>persona </a:t>
            </a:r>
            <a:r>
              <a:rPr lang="zh-TW" altLang="en-US" dirty="0" smtClean="0"/>
              <a:t>特性來 </a:t>
            </a:r>
            <a:r>
              <a:rPr lang="en-US" altLang="zh-TW" dirty="0" smtClean="0"/>
              <a:t>recruit</a:t>
            </a:r>
            <a:r>
              <a:rPr lang="zh-TW" altLang="en-US" dirty="0" smtClean="0"/>
              <a:t> </a:t>
            </a:r>
            <a:r>
              <a:rPr lang="en-US" altLang="zh-TW" dirty="0" smtClean="0"/>
              <a:t>the</a:t>
            </a:r>
            <a:r>
              <a:rPr lang="zh-TW" altLang="en-US" dirty="0" smtClean="0"/>
              <a:t> </a:t>
            </a:r>
            <a:r>
              <a:rPr lang="en-US" altLang="zh-TW" dirty="0" smtClean="0"/>
              <a:t>appropriate</a:t>
            </a:r>
            <a:r>
              <a:rPr lang="zh-TW" altLang="en-US" dirty="0" smtClean="0"/>
              <a:t> </a:t>
            </a:r>
            <a:r>
              <a:rPr lang="en-US" altLang="zh-TW" dirty="0" smtClean="0"/>
              <a:t>participants</a:t>
            </a:r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Lifetime achievement and retirement</a:t>
            </a:r>
          </a:p>
          <a:p>
            <a:r>
              <a:rPr lang="en-US" altLang="zh-TW" dirty="0" smtClean="0"/>
              <a:t>Increase the product teams’ awareness of the target audience and its goals, skills, and top tasks.</a:t>
            </a:r>
          </a:p>
          <a:p>
            <a:r>
              <a:rPr lang="zh-TW" altLang="en-US" dirty="0" smtClean="0"/>
              <a:t>在管理階層、</a:t>
            </a:r>
            <a:r>
              <a:rPr lang="en-US" altLang="zh-TW" dirty="0" smtClean="0"/>
              <a:t>meeting</a:t>
            </a:r>
            <a:r>
              <a:rPr lang="zh-TW" altLang="en-US" dirty="0" smtClean="0"/>
              <a:t>、</a:t>
            </a:r>
            <a:r>
              <a:rPr lang="en-US" altLang="zh-TW" dirty="0" smtClean="0"/>
              <a:t> email</a:t>
            </a:r>
            <a:r>
              <a:rPr lang="zh-TW" altLang="en-US" dirty="0" smtClean="0"/>
              <a:t>中不斷被提到</a:t>
            </a:r>
            <a:endParaRPr lang="en-US" altLang="zh-TW" dirty="0" smtClean="0"/>
          </a:p>
          <a:p>
            <a:r>
              <a:rPr lang="zh-TW" altLang="en-US" dirty="0" smtClean="0"/>
              <a:t>用來點出最重要的工作任務及痛點  </a:t>
            </a:r>
            <a:r>
              <a:rPr lang="en-US" altLang="zh-TW" dirty="0" smtClean="0"/>
              <a:t>highlight the most important tasks and pain points they experience performing those tasks with our product.</a:t>
            </a:r>
          </a:p>
          <a:p>
            <a:r>
              <a:rPr lang="zh-TW" altLang="en-US" dirty="0" smtClean="0"/>
              <a:t>汰換</a:t>
            </a:r>
            <a:r>
              <a:rPr lang="en-US" altLang="zh-TW" dirty="0" smtClean="0"/>
              <a:t>persona</a:t>
            </a:r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Putting it all together: the persona lifecycle in action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121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67544" y="657200"/>
            <a:ext cx="7772400" cy="4572000"/>
          </a:xfrm>
        </p:spPr>
        <p:txBody>
          <a:bodyPr/>
          <a:lstStyle/>
          <a:p>
            <a:r>
              <a:rPr lang="en-US" altLang="zh-TW" dirty="0"/>
              <a:t>Taking each role in turn, turn the attribute descriptions into a believable person(a). On a large size index </a:t>
            </a:r>
            <a:r>
              <a:rPr lang="en-US" altLang="zh-TW" dirty="0" smtClean="0"/>
              <a:t>card</a:t>
            </a:r>
          </a:p>
          <a:p>
            <a:endParaRPr lang="en-US" altLang="zh-TW" dirty="0" smtClean="0"/>
          </a:p>
          <a:p>
            <a:pPr lvl="1"/>
            <a:r>
              <a:rPr lang="en-US" altLang="zh-TW" dirty="0"/>
              <a:t>Give the persona a name and age. </a:t>
            </a:r>
          </a:p>
          <a:p>
            <a:pPr lvl="1"/>
            <a:r>
              <a:rPr lang="en-US" altLang="zh-TW" dirty="0"/>
              <a:t>It often helps to give them a two to five word tag-line (Abby the AOL Mom, Nicolas the Knowledge Worker, Ichiro the IT Pro). </a:t>
            </a:r>
          </a:p>
          <a:p>
            <a:pPr lvl="1"/>
            <a:r>
              <a:rPr lang="en-US" altLang="zh-TW" dirty="0"/>
              <a:t>Say what they do in life. Are they a student, a business person, retired?</a:t>
            </a:r>
          </a:p>
          <a:p>
            <a:pPr lvl="1"/>
            <a:r>
              <a:rPr lang="en-US" altLang="zh-TW" dirty="0"/>
              <a:t>What is their level of comfort with technology? How experienced are they in the topics your product will address?  </a:t>
            </a:r>
          </a:p>
          <a:p>
            <a:endParaRPr lang="zh-TW" altLang="en-US" dirty="0"/>
          </a:p>
        </p:txBody>
      </p:sp>
      <p:pic>
        <p:nvPicPr>
          <p:cNvPr id="5122" name="Picture 2" descr="http://2.bp.blogspot.com/-6ZxrdGSQcr4/TrNbnUy72VI/AAAAAAAAQc8/ECegh05-NhM/s320/DS7_9049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995267"/>
            <a:ext cx="2933360" cy="184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229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Persona success stories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Universal Orlando sketched out personas, each with a different set of motivators and travel needs. Online ticket purchases, a key metric for the resort, are up almost 80 percent year to date. </a:t>
            </a:r>
            <a:r>
              <a:rPr lang="en-US" altLang="zh-TW" i="1" dirty="0"/>
              <a:t>"It's beyond demographic, beyond male/female, young/old. It gets into the psychology of how humans make decisions and how they get comfortable making decisions.” </a:t>
            </a:r>
            <a:br>
              <a:rPr lang="en-US" altLang="zh-TW" i="1" dirty="0"/>
            </a:br>
            <a:endParaRPr lang="zh-TW" altLang="en-US" dirty="0"/>
          </a:p>
        </p:txBody>
      </p:sp>
      <p:pic>
        <p:nvPicPr>
          <p:cNvPr id="3075" name="Picture 3" descr="http://3.bp.blogspot.com/-3HIwwnl-qTE/TrLhNWwkUsI/AAAAAAAAQcY/GvDStjGoVQk/s1600/Screen+Shot+2011-11-03+at+11.32.01+AM.pn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921" y="4725144"/>
            <a:ext cx="2110730" cy="157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107504" y="6228020"/>
            <a:ext cx="92170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http://www.questionablemethods.com/2011/11/thumbnail-personas-make-users-real.html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3946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Home Depot uncovered two very different customers who might have identical demographic profiles: the do-it-yourselfer who wants to pick out all the cabinets and appliances and the customer who wants a kitchen designer to do it all. 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/>
              <a:t>Staples’ online revenue went from $3 billion to $4.9 billion within two years after a major site redesign that included the development of seven personas and a decision to design primarily for the two most important ones.</a:t>
            </a:r>
            <a:endParaRPr lang="zh-TW" altLang="en-US" dirty="0"/>
          </a:p>
        </p:txBody>
      </p:sp>
      <p:pic>
        <p:nvPicPr>
          <p:cNvPr id="4099" name="Picture 3" descr="http://1.bp.blogspot.com/-6VsY86PVLr8/TrLhN-GJkSI/AAAAAAAAQcg/aZHwrYXp3-U/s1600/Screen+Shot+2011-11-03+at+11.32.22+AM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733" y="188640"/>
            <a:ext cx="2110730" cy="144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http://4.bp.blogspot.com/-7Sv9c9mPtXo/TrLhOb3lObI/AAAAAAAAQck/_Fpqv5OiK2g/s1600/Screen+Shot+2011-11-03+at+11.32.37+AM.pn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5517232"/>
            <a:ext cx="1409700" cy="97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85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Ten Steps to Personas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http://www.hceye.org/HCInsight-Nielsen.htm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57376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fault Theme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1086</TotalTime>
  <Words>1354</Words>
  <Application>Microsoft Office PowerPoint</Application>
  <PresentationFormat>如螢幕大小 (4:3)</PresentationFormat>
  <Paragraphs>165</Paragraphs>
  <Slides>25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微軟正黑體</vt:lpstr>
      <vt:lpstr>新細明體</vt:lpstr>
      <vt:lpstr>Calibri</vt:lpstr>
      <vt:lpstr>Franklin Gothic Book</vt:lpstr>
      <vt:lpstr>Perpetua</vt:lpstr>
      <vt:lpstr>Wingdings 2</vt:lpstr>
      <vt:lpstr>Default Theme</vt:lpstr>
      <vt:lpstr>W 10</vt:lpstr>
      <vt:lpstr>PowerPoint 簡報</vt:lpstr>
      <vt:lpstr>PowerPoint 簡報</vt:lpstr>
      <vt:lpstr>PowerPoint 簡報</vt:lpstr>
      <vt:lpstr>Phase 1: persona family planning </vt:lpstr>
      <vt:lpstr>Phase 2: persona conception &amp; Gestation 孕育</vt:lpstr>
      <vt:lpstr>PowerPoint 簡報</vt:lpstr>
      <vt:lpstr>Phase 3: persona birth and Maturation </vt:lpstr>
      <vt:lpstr>PowerPoint 簡報</vt:lpstr>
      <vt:lpstr>Phase 4: Persona adulthood </vt:lpstr>
      <vt:lpstr>Phase 5: persona lifetime Achievement, Reuse &amp; Retirement</vt:lpstr>
      <vt:lpstr>The persona lifecycle is designed to enhance, not replace, your existing processes</vt:lpstr>
      <vt:lpstr>figure 2.4: UCD tools and methods grouped by product lifecycle phases</vt:lpstr>
      <vt:lpstr>PowerPoint 簡報</vt:lpstr>
      <vt:lpstr>PowerPoint 簡報</vt:lpstr>
      <vt:lpstr>PowerPoint 簡報</vt:lpstr>
      <vt:lpstr>Story from the field persona for e-business server products  電子商務server實例</vt:lpstr>
      <vt:lpstr>PowerPoint 簡報</vt:lpstr>
      <vt:lpstr>PowerPoint 簡報</vt:lpstr>
      <vt:lpstr>PowerPoint 簡報</vt:lpstr>
      <vt:lpstr>Putting it all together: the persona lifecycle in action </vt:lpstr>
      <vt:lpstr>PowerPoint 簡報</vt:lpstr>
      <vt:lpstr>Persona success stories</vt:lpstr>
      <vt:lpstr>PowerPoint 簡報</vt:lpstr>
      <vt:lpstr>Ten Steps to Personas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Hsu1</dc:creator>
  <cp:lastModifiedBy>User</cp:lastModifiedBy>
  <cp:revision>121</cp:revision>
  <dcterms:created xsi:type="dcterms:W3CDTF">2013-11-18T07:25:48Z</dcterms:created>
  <dcterms:modified xsi:type="dcterms:W3CDTF">2018-09-13T07:53:29Z</dcterms:modified>
</cp:coreProperties>
</file>