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  <p:sldMasterId id="2147483653" r:id="rId2"/>
    <p:sldMasterId id="2147484075" r:id="rId3"/>
  </p:sldMasterIdLst>
  <p:notesMasterIdLst>
    <p:notesMasterId r:id="rId22"/>
  </p:notesMasterIdLst>
  <p:handoutMasterIdLst>
    <p:handoutMasterId r:id="rId23"/>
  </p:handoutMasterIdLst>
  <p:sldIdLst>
    <p:sldId id="344" r:id="rId4"/>
    <p:sldId id="474" r:id="rId5"/>
    <p:sldId id="475" r:id="rId6"/>
    <p:sldId id="476" r:id="rId7"/>
    <p:sldId id="473" r:id="rId8"/>
    <p:sldId id="430" r:id="rId9"/>
    <p:sldId id="446" r:id="rId10"/>
    <p:sldId id="431" r:id="rId11"/>
    <p:sldId id="447" r:id="rId12"/>
    <p:sldId id="435" r:id="rId13"/>
    <p:sldId id="448" r:id="rId14"/>
    <p:sldId id="449" r:id="rId15"/>
    <p:sldId id="450" r:id="rId16"/>
    <p:sldId id="451" r:id="rId17"/>
    <p:sldId id="452" r:id="rId18"/>
    <p:sldId id="453" r:id="rId19"/>
    <p:sldId id="455" r:id="rId20"/>
    <p:sldId id="454" r:id="rId21"/>
  </p:sldIdLst>
  <p:sldSz cx="9144000" cy="6858000" type="screen4x3"/>
  <p:notesSz cx="6807200" cy="99393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009900"/>
    <a:srgbClr val="FF0000"/>
    <a:srgbClr val="FF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89113" autoAdjust="0"/>
  </p:normalViewPr>
  <p:slideViewPr>
    <p:cSldViewPr snapToGrid="0">
      <p:cViewPr varScale="1">
        <p:scale>
          <a:sx n="60" d="100"/>
          <a:sy n="60" d="100"/>
        </p:scale>
        <p:origin x="105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245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Helvetica" pitchFamily="34" charset="0"/>
              </a:defRPr>
            </a:lvl1pPr>
          </a:lstStyle>
          <a:p>
            <a:pPr>
              <a:defRPr/>
            </a:pPr>
            <a:fld id="{090B73B1-7B3A-49FA-86C4-A1CFC1AE3FB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635590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038" y="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887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1225"/>
            <a:ext cx="4991100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116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038" y="9442450"/>
            <a:ext cx="2951162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6612" tIns="48305" rIns="96612" bIns="48305" numCol="1" anchor="b" anchorCtr="0" compatLnSpc="1">
            <a:prstTxWarp prst="textNoShape">
              <a:avLst/>
            </a:prstTxWarp>
          </a:bodyPr>
          <a:lstStyle>
            <a:lvl1pPr algn="r" defTabSz="966358" eaLnBrk="0" hangingPunct="0">
              <a:defRPr kumimoji="0" sz="1300">
                <a:latin typeface="Times New Roman" pitchFamily="18" charset="0"/>
              </a:defRPr>
            </a:lvl1pPr>
          </a:lstStyle>
          <a:p>
            <a:pPr>
              <a:defRPr/>
            </a:pPr>
            <a:fld id="{8049E8FD-7810-43E2-A450-862787F32CD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031736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9652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BF09876-E4A4-4B15-B3B8-811C39578C9F}" type="slidenum">
              <a:rPr kumimoji="0" lang="zh-TW" altLang="en-US" sz="1300" smtClean="0"/>
              <a:pPr>
                <a:spcBef>
                  <a:spcPct val="0"/>
                </a:spcBef>
              </a:pPr>
              <a:t>1</a:t>
            </a:fld>
            <a:endParaRPr kumimoji="0" lang="en-US" altLang="zh-TW" sz="1300" dirty="0" smtClean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2546210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334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433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4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99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3842" indent="-286093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4372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2120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9869" indent="-228874" defTabSz="931391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7618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5366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33115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90863" indent="-228874" defTabSz="931391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D8E2D1C9-5C2E-4EB2-A5C6-C67E0EF19900}" type="slidenum">
              <a:rPr lang="en-US" altLang="en-US">
                <a:solidFill>
                  <a:srgbClr val="000000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000000"/>
              </a:solidFill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84409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AD79FCA-2A4F-4C3D-B719-16F021990A49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6</a:t>
            </a:fld>
            <a:endParaRPr lang="en-US" altLang="zh-TW" sz="1000" dirty="0" smtClean="0">
              <a:solidFill>
                <a:srgbClr val="000000"/>
              </a:solidFill>
            </a:endParaRPr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91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2AD79FCA-2A4F-4C3D-B719-16F021990A49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zh-TW" sz="1000" dirty="0" smtClean="0">
              <a:solidFill>
                <a:srgbClr val="000000"/>
              </a:solidFill>
            </a:endParaRPr>
          </a:p>
        </p:txBody>
      </p:sp>
      <p:sp>
        <p:nvSpPr>
          <p:cNvPr id="248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625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2F3657E-54E6-423C-A198-4C16F0A284A1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zh-TW" sz="1000" dirty="0" smtClean="0">
              <a:solidFill>
                <a:srgbClr val="000000"/>
              </a:solidFill>
            </a:endParaRPr>
          </a:p>
        </p:txBody>
      </p:sp>
      <p:sp>
        <p:nvSpPr>
          <p:cNvPr id="249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440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82F3657E-54E6-423C-A198-4C16F0A284A1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49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62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10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119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11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193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12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8503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13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62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14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011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15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91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16</a:t>
            </a:fld>
            <a:endParaRPr lang="en-US" altLang="zh-TW" sz="1000" dirty="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70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17</a:t>
            </a:fld>
            <a:endParaRPr lang="en-US" altLang="zh-TW" sz="1000" dirty="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4905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  <a:lvl2pPr marL="742950" indent="-28575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2pPr>
            <a:lvl3pPr marL="1143000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3pPr>
            <a:lvl4pPr marL="16017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4pPr>
            <a:lvl5pPr marL="2058988" indent="-228600" defTabSz="760413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5pPr>
            <a:lvl6pPr marL="25161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6pPr>
            <a:lvl7pPr marL="29733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7pPr>
            <a:lvl8pPr marL="34305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8pPr>
            <a:lvl9pPr marL="3887788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</a:pPr>
            <a:fld id="{6FDA3677-48FC-4E96-A035-0D690F968E43}" type="slidenum">
              <a:rPr lang="en-US" altLang="zh-TW" sz="1000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18</a:t>
            </a:fld>
            <a:endParaRPr lang="en-US" altLang="zh-TW" sz="1000" smtClean="0">
              <a:solidFill>
                <a:srgbClr val="000000"/>
              </a:solidFill>
            </a:endParaRPr>
          </a:p>
        </p:txBody>
      </p:sp>
      <p:sp>
        <p:nvSpPr>
          <p:cNvPr id="251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4722813"/>
            <a:ext cx="5443538" cy="4470400"/>
          </a:xfrm>
          <a:noFill/>
        </p:spPr>
        <p:txBody>
          <a:bodyPr lIns="92538" tIns="46269" rIns="92538" bIns="46269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006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29091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12909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709C9-BC67-4647-B478-4519D9FD4383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5A5C3-A4D8-430C-85C3-468A06DE008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6816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507DB-5AD5-4D0A-97D9-C3748F9D7748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1068F-A8DB-4715-80D4-E261661B5ED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485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CE9E2-988A-4C2E-AD3C-344D6057873E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FC183A-7273-4513-AC62-9D03DF5BAF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8430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0FC72-9C3C-4C1E-99C9-0A41BEE98101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A813C3-3514-4567-849A-EC2F31E6577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251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BE245-BE4F-4954-8809-6B8FD7C5BEDF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8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9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DC75E-2BE5-4997-BB06-CDF4A9545F7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7255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1C916-D273-42B3-AFA9-4AAE7CBD8E09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4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CD9420-08DB-4FFB-A9E9-9EEC82B581F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406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33E2E-E715-4166-9AD7-79BEAD8C2980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3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B05357-5CFB-47AA-A75D-89FADAB704C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599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DFB10-2A1B-4DD3-837B-63E817B6045E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604B7-DDE4-4CEF-8E47-30BF9CF8263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66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A0A4D-079B-431B-B513-D6B18B2F44D9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BAB18-78D8-4432-9A69-437FD9AF849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4597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92151-EDF7-4596-8017-A3E51D9A384D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31B253-BE8C-4884-BCC8-741F435C438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555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D3956D-0F4A-4337-B778-46424EBCEE1B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67D4F-547A-4747-8A6C-FE0231881A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9965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DF01A6-BE4A-45A1-9B22-1EA798D36DB1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6092F1-8900-4DB3-AD39-5868D966214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4736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C2FA7-C4BF-4E49-A11D-6A8CE1172BA2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5B0B8B-EA74-4D76-BEE9-4DE6236BA8A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2842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8E764-1C1C-4761-9BCF-0ADEB1CFFB56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34D109-BC50-42AD-BB9F-9623354B548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7397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5616F-E875-4546-8842-B8C4C7A76A3F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CC50B-9882-4326-9BEC-FA99B6FBDC1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4814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0471E-694B-4678-87B6-3240EF88ACB2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7F8DC-16DA-456B-B0BE-5FA530BF7D0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6315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AD61C-363B-4117-8986-250BF5F1EE69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C4046-026E-4C02-9261-8B9D1065ACC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3463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9A4635-4BEC-4E92-B077-3F1E2792B367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CFF7F0-89B7-4928-AD2A-C90A95E0A94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35027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98FC6F-20E7-4CCC-82FF-43E519D3C521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1A10C-9E3E-461C-9A73-6FBC7EAC3A9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21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1B2C9-D6CE-4857-80EC-28408FA72F9E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EC81C-67BF-48AE-9CD0-61D81F872FD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7891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1502B-CCDD-44C9-B331-62670A5B17E8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75439-DC48-4727-B60F-413E1363F53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96026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A245D-63AF-4C87-877B-879C47BCAAB8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74233-EC90-43B7-B6E3-AC44DE00BB1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72373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defRPr/>
                </a:pPr>
                <a:endParaRPr lang="zh-TW" altLang="en-US" smtClean="0">
                  <a:solidFill>
                    <a:srgbClr val="40458C"/>
                  </a:solidFill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</p:grpSp>
      </p:grpSp>
      <p:sp>
        <p:nvSpPr>
          <p:cNvPr id="47171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4717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C975F-C8FF-4CBF-9260-9FA2BD6C25D7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14FB90-72F7-452A-A42C-9B041603906E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1951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D3F381-C001-48F1-9201-AC515BA2506F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427ABB-9588-4A8A-BAE3-80FB5C243D45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9252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3C0A21-F364-4A06-B94D-DD2CEA597AE3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0E0E74-2EB1-49AE-9117-21237CA90CFD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3062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5F5F3-27AE-4E8E-8C7F-31C90EBACB4F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2A5847-0881-4DAC-9BB9-225673249221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5954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D0726-A716-4D6C-8165-FD285BA9F9B3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8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9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7CAC4E-CD27-4C03-B3B1-406BC6926B77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9105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846BD-C040-47F5-986B-B441180DE52F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4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2E8095-7DB8-4244-AEAA-06ACE536263A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8595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4BDDB-F802-48CF-B986-E70901369AD3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3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4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A06A11-BFBA-4583-A829-801CD4060B6C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422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70317-09E1-4D48-A0CA-2CCB0E4981B9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A75E48-60B7-4485-BD74-EB895198C4D3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9307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C3C41-7C26-4D15-B13B-F1A119ACC186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7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821D51-E502-4986-8DA3-95D7612F4E05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2350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C8822-28DD-4767-A453-50CFA4501AFE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A25D47-AA19-4E14-9960-CA67C3A270E1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3856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08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15FED-1FFA-4284-A6BC-544A309D5A1C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5" name="Rectangle 109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6" name="Rectangle 109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8B52F4-6C2B-456E-969D-074E4D0885D7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9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1029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1051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/>
            </a:p>
          </p:txBody>
        </p:sp>
        <p:sp>
          <p:nvSpPr>
            <p:cNvPr id="1034" name="Line 1082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1083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1084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1085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1086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108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088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28065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fld id="{A768B373-23A3-4CF7-9678-5F7273F7C9F6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128066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128067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A2FBB981-2FBF-49A8-A240-1FA66F7ED70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4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81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400">
                <a:latin typeface="Times New Roman" pitchFamily="18" charset="0"/>
              </a:defRPr>
            </a:lvl1pPr>
          </a:lstStyle>
          <a:p>
            <a:pPr>
              <a:defRPr/>
            </a:pPr>
            <a:fld id="{DF539A18-E395-4738-8977-16B5FD2CC037}" type="datetime1">
              <a:rPr lang="zh-TW" altLang="en-US" smtClean="0"/>
              <a:t>2018/5/17</a:t>
            </a:fld>
            <a:endParaRPr lang="en-US" altLang="zh-TW"/>
          </a:p>
        </p:txBody>
      </p:sp>
      <p:sp>
        <p:nvSpPr>
          <p:cNvPr id="2816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kumimoji="0" sz="14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pt-BR" altLang="zh-TW" smtClean="0"/>
              <a:t>OS 7-9 Selected Exercises 2018</a:t>
            </a:r>
            <a:endParaRPr lang="en-US" altLang="zh-TW"/>
          </a:p>
        </p:txBody>
      </p:sp>
      <p:sp>
        <p:nvSpPr>
          <p:cNvPr id="2816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400">
                <a:latin typeface="Times New Roman" pitchFamily="18" charset="0"/>
              </a:defRPr>
            </a:lvl1pPr>
          </a:lstStyle>
          <a:p>
            <a:pPr>
              <a:defRPr/>
            </a:pPr>
            <a:fld id="{F2643DFA-C4E9-4A05-B3EB-552E67D762B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  <p:sldLayoutId id="2147484064" r:id="rId2"/>
    <p:sldLayoutId id="2147484065" r:id="rId3"/>
    <p:sldLayoutId id="2147484066" r:id="rId4"/>
    <p:sldLayoutId id="2147484067" r:id="rId5"/>
    <p:sldLayoutId id="2147484068" r:id="rId6"/>
    <p:sldLayoutId id="2147484069" r:id="rId7"/>
    <p:sldLayoutId id="2147484070" r:id="rId8"/>
    <p:sldLayoutId id="2147484071" r:id="rId9"/>
    <p:sldLayoutId id="2147484072" r:id="rId10"/>
    <p:sldLayoutId id="214748407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1029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71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72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73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74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75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76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77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78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79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0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1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2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3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4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5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6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7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8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89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90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91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</p:grpSp>
          <p:grpSp>
            <p:nvGrpSpPr>
              <p:cNvPr id="1040" name="Group 1051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42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43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44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45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46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47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48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49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0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1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2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3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4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5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6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7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8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59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0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1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2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3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4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5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6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7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8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  <p:sp>
              <p:nvSpPr>
                <p:cNvPr id="1069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>
                    <a:solidFill>
                      <a:srgbClr val="40458C"/>
                    </a:solidFill>
                  </a:endParaRPr>
                </a:p>
              </p:txBody>
            </p:sp>
          </p:grpSp>
        </p:grpSp>
        <p:sp>
          <p:nvSpPr>
            <p:cNvPr id="1033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>
                <a:defRPr/>
              </a:pPr>
              <a:endParaRPr lang="zh-TW" altLang="en-US" smtClean="0">
                <a:solidFill>
                  <a:srgbClr val="40458C"/>
                </a:solidFill>
              </a:endParaRPr>
            </a:p>
          </p:txBody>
        </p:sp>
        <p:sp>
          <p:nvSpPr>
            <p:cNvPr id="1034" name="Line 1082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>
                <a:solidFill>
                  <a:srgbClr val="40458C"/>
                </a:solidFill>
              </a:endParaRPr>
            </a:p>
          </p:txBody>
        </p:sp>
        <p:grpSp>
          <p:nvGrpSpPr>
            <p:cNvPr id="1035" name="Group 1083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1084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  <p:sp>
            <p:nvSpPr>
              <p:cNvPr id="1037" name="Line 1085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  <p:sp>
            <p:nvSpPr>
              <p:cNvPr id="1038" name="Arc 1086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>
                  <a:solidFill>
                    <a:srgbClr val="40458C"/>
                  </a:solidFill>
                </a:endParaRPr>
              </a:p>
            </p:txBody>
          </p:sp>
        </p:grpSp>
      </p:grpSp>
      <p:sp>
        <p:nvSpPr>
          <p:cNvPr id="1027" name="Rectangle 108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088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6145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ea typeface="新細明體" pitchFamily="18" charset="-120"/>
              </a:defRPr>
            </a:lvl1pPr>
          </a:lstStyle>
          <a:p>
            <a:pPr>
              <a:defRPr/>
            </a:pPr>
            <a:fld id="{5F35F152-1F7F-4D6C-91D6-358B1EFF5436}" type="datetime1">
              <a:rPr lang="zh-TW" altLang="en-US" smtClean="0">
                <a:solidFill>
                  <a:srgbClr val="40458C"/>
                </a:solidFill>
              </a:rPr>
              <a:t>2018/5/17</a:t>
            </a:fld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46146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  <p:sp>
        <p:nvSpPr>
          <p:cNvPr id="46147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ED414075-B617-41A9-B72E-B5F5EF2F1686}" type="slidenum">
              <a:rPr lang="en-US" altLang="zh-TW">
                <a:solidFill>
                  <a:srgbClr val="40458C"/>
                </a:solidFill>
              </a:rPr>
              <a:pPr/>
              <a:t>‹#›</a:t>
            </a:fld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30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7" r:id="rId2"/>
    <p:sldLayoutId id="2147484078" r:id="rId3"/>
    <p:sldLayoutId id="2147484079" r:id="rId4"/>
    <p:sldLayoutId id="2147484080" r:id="rId5"/>
    <p:sldLayoutId id="2147484081" r:id="rId6"/>
    <p:sldLayoutId id="2147484082" r:id="rId7"/>
    <p:sldLayoutId id="2147484083" r:id="rId8"/>
    <p:sldLayoutId id="2147484084" r:id="rId9"/>
    <p:sldLayoutId id="2147484085" r:id="rId10"/>
    <p:sldLayoutId id="2147484086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7F5E063-5C36-4A7E-93C9-EBB6E40E7EE3}" type="datetime1">
              <a:rPr kumimoji="0" lang="zh-TW" altLang="en-US" sz="1400" smtClean="0"/>
              <a:t>2018/5/17</a:t>
            </a:fld>
            <a:endParaRPr kumimoji="0" lang="en-US" altLang="zh-TW" sz="1400" dirty="0" smtClean="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/>
              <a:t>OS 7-9 Selected Exercises 2018</a:t>
            </a:r>
            <a:endParaRPr kumimoji="0" lang="en-US" altLang="zh-TW" sz="1400" dirty="0" smtClean="0"/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62AC97-676D-4117-AC90-5E3BC20F464E}" type="slidenum">
              <a:rPr kumimoji="0" lang="zh-TW" altLang="en-US" sz="1400" smtClean="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 dirty="0" smtClean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594884"/>
            <a:ext cx="7162800" cy="2151616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z="4800" dirty="0" smtClean="0"/>
              <a:t/>
            </a:r>
            <a:br>
              <a:rPr lang="en-US" altLang="zh-TW" sz="4800" dirty="0" smtClean="0"/>
            </a:br>
            <a:r>
              <a:rPr lang="en-US" altLang="zh-TW" sz="4800" dirty="0"/>
              <a:t/>
            </a:r>
            <a:br>
              <a:rPr lang="en-US" altLang="zh-TW" sz="4800" dirty="0"/>
            </a:br>
            <a:r>
              <a:rPr lang="en-US" altLang="zh-TW" sz="4800" dirty="0" smtClean="0"/>
              <a:t>Chapters </a:t>
            </a:r>
            <a:r>
              <a:rPr lang="en-US" altLang="zh-TW" sz="4800" dirty="0" smtClean="0"/>
              <a:t>7-9</a:t>
            </a:r>
            <a:br>
              <a:rPr lang="en-US" altLang="zh-TW" sz="4800" dirty="0" smtClean="0"/>
            </a:br>
            <a:r>
              <a:rPr lang="en-US" altLang="zh-TW" sz="4800" dirty="0" smtClean="0"/>
              <a:t>    Selected </a:t>
            </a:r>
            <a:r>
              <a:rPr lang="en-US" altLang="zh-TW" sz="4800" dirty="0"/>
              <a:t>Exercises</a:t>
            </a:r>
            <a:br>
              <a:rPr lang="en-US" altLang="zh-TW" sz="4800" dirty="0"/>
            </a:br>
            <a:r>
              <a:rPr lang="en-US" altLang="zh-TW" sz="4800" dirty="0" smtClean="0"/>
              <a:t/>
            </a:r>
            <a:br>
              <a:rPr lang="en-US" altLang="zh-TW" sz="4800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altLang="zh-TW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Compare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circular-wait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scheme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with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deadlock-avoidance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schemes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with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respect to the following issues: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Runtime overheads</a:t>
            </a: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System throughput</a:t>
            </a:r>
            <a:endParaRPr lang="en-US" altLang="zh-TW" sz="20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deadlock-avoidance scheme tends to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increase the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runtime overheads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due to the cost of keep track of the current resource allocation.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However, a deadlock-avoidance scheme allows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more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concurrent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use of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resources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than schemes that statically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prevent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the formation of deadlock.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that sense, a deadlock-avoidance scheme could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increase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system throughput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FB25C3F-E009-4986-B23B-67B8FF908606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7.15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05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a system consisting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four resources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the same type that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shared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by three processes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each of which needs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at most two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resources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Show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the system is deadlock-free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a system consisting of </a:t>
            </a:r>
            <a:r>
              <a:rPr lang="en-US" altLang="zh-TW" sz="2400" i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resources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of the same type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being shared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by </a:t>
            </a:r>
            <a:r>
              <a:rPr lang="en-US" altLang="zh-TW" sz="2400" i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processes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Resources can be requested and released by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processes only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one at a time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Show that the system is deadlock free if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following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two conditions hold: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maximum need of each process is between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and m resources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sum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all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maximum needs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is less than </a:t>
            </a:r>
            <a:r>
              <a:rPr lang="en-US" altLang="zh-TW" sz="2400" i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 + n</a:t>
            </a:r>
            <a:endParaRPr lang="en-US" altLang="zh-TW" sz="2000" i="1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2DED8666-514C-4837-AB4B-031A6C83A168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7.17, 7.18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85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4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BF60B42E-3838-4B93-B60A-AAD29635FFB4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7.18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10" name="Content Placeholder 2" descr="Rectangle: Click to edit Master text styles&#10;Second level&#10;Third level&#10;Fourth level&#10;Fifth level"/>
          <p:cNvSpPr txBox="1">
            <a:spLocks/>
          </p:cNvSpPr>
          <p:nvPr/>
        </p:nvSpPr>
        <p:spPr bwMode="auto">
          <a:xfrm>
            <a:off x="102742" y="2301410"/>
            <a:ext cx="8938516" cy="4038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en-US" altLang="zh-TW" sz="2400" kern="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Proof</a:t>
            </a:r>
            <a:r>
              <a:rPr lang="en-US" altLang="zh-TW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: </a:t>
            </a:r>
            <a:r>
              <a:rPr lang="en-US" altLang="zh-TW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</a:t>
            </a:r>
            <a:r>
              <a:rPr lang="en-US" altLang="zh-TW" sz="2400" kern="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Need</a:t>
            </a:r>
            <a:r>
              <a:rPr lang="en-US" altLang="zh-TW" sz="2400" i="1" kern="0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i</a:t>
            </a:r>
            <a:r>
              <a:rPr lang="en-US" altLang="zh-TW" sz="24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</a:t>
            </a:r>
            <a:r>
              <a:rPr lang="en-US" altLang="zh-TW" sz="2400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= Max</a:t>
            </a:r>
            <a:r>
              <a:rPr lang="en-US" altLang="zh-TW" sz="2400" i="1" kern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i</a:t>
            </a:r>
            <a:r>
              <a:rPr lang="en-US" altLang="zh-TW" sz="2400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− </a:t>
            </a:r>
            <a:r>
              <a:rPr lang="en-US" altLang="zh-TW" sz="2400" kern="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Allocation</a:t>
            </a:r>
            <a:r>
              <a:rPr lang="en-US" altLang="zh-TW" sz="2400" i="1" kern="0" baseline="-25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i</a:t>
            </a:r>
            <a:r>
              <a:rPr lang="en-US" altLang="zh-TW" sz="2400" i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. </a:t>
            </a:r>
            <a:r>
              <a:rPr lang="en-US" altLang="zh-TW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If </a:t>
            </a:r>
            <a:r>
              <a:rPr lang="en-US" altLang="zh-TW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there exists a deadlock </a:t>
            </a:r>
            <a:r>
              <a:rPr lang="en-US" altLang="zh-TW" sz="24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state</a:t>
            </a:r>
          </a:p>
          <a:p>
            <a:pPr eaLnBrk="1" hangingPunct="1">
              <a:spcBef>
                <a:spcPct val="60000"/>
              </a:spcBef>
            </a:pPr>
            <a:endParaRPr lang="en-US" altLang="zh-TW" sz="2400" i="1" kern="0" dirty="0">
              <a:solidFill>
                <a:srgbClr val="000000"/>
              </a:solidFill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60000"/>
              </a:spcBef>
            </a:pPr>
            <a:endParaRPr lang="en-US" altLang="zh-TW" sz="2400" i="1" kern="0" dirty="0" smtClean="0">
              <a:solidFill>
                <a:srgbClr val="000000"/>
              </a:solidFill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60000"/>
              </a:spcBef>
            </a:pPr>
            <a:endParaRPr lang="en-US" altLang="zh-TW" sz="2400" i="1" kern="0" dirty="0">
              <a:solidFill>
                <a:srgbClr val="000000"/>
              </a:solidFill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z="2600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This implies that there exists a process </a:t>
            </a:r>
            <a:r>
              <a:rPr lang="en-US" altLang="zh-TW" sz="2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P</a:t>
            </a:r>
            <a:r>
              <a:rPr lang="en-US" altLang="zh-TW" sz="2600" b="1" i="1" kern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i</a:t>
            </a:r>
            <a:r>
              <a:rPr lang="en-US" altLang="zh-TW" sz="2600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such that </a:t>
            </a:r>
            <a:r>
              <a:rPr lang="en-US" altLang="zh-TW" sz="2600" kern="0" dirty="0" err="1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Need</a:t>
            </a:r>
            <a:r>
              <a:rPr lang="en-US" altLang="zh-TW" sz="2600" i="1" kern="0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i</a:t>
            </a:r>
            <a:r>
              <a:rPr lang="en-US" altLang="zh-TW" sz="2600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= 0. </a:t>
            </a:r>
            <a:r>
              <a:rPr lang="en-US" altLang="zh-TW" sz="26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Since Max</a:t>
            </a:r>
            <a:r>
              <a:rPr lang="en-US" altLang="zh-TW" sz="2600" i="1" kern="0" baseline="-25000" dirty="0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i</a:t>
            </a:r>
            <a:r>
              <a:rPr lang="en-US" altLang="zh-TW" sz="26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</a:t>
            </a:r>
            <a:r>
              <a:rPr lang="en-US" altLang="zh-TW" sz="2600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≥ 1 it follows that </a:t>
            </a:r>
            <a:r>
              <a:rPr lang="en-US" altLang="zh-TW" sz="2600" b="1" i="1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P</a:t>
            </a:r>
            <a:r>
              <a:rPr lang="en-US" altLang="zh-TW" sz="2600" b="1" i="1" kern="0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i</a:t>
            </a:r>
            <a:r>
              <a:rPr lang="en-US" altLang="zh-TW" sz="26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 </a:t>
            </a:r>
            <a:r>
              <a:rPr lang="en-US" altLang="zh-TW" sz="2600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has at least one resource that it can </a:t>
            </a:r>
            <a:r>
              <a:rPr lang="en-US" altLang="zh-TW" sz="2600" kern="0" dirty="0" smtClean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release. Hence </a:t>
            </a:r>
            <a:r>
              <a:rPr lang="en-US" altLang="zh-TW" sz="2600" kern="0" dirty="0">
                <a:solidFill>
                  <a:srgbClr val="0000FF"/>
                </a:solidFill>
                <a:latin typeface="Times New Roman" panose="02020603050405020304" pitchFamily="18" charset="0"/>
                <a:ea typeface="Adobe Gothic Std B" pitchFamily="34" charset="-128"/>
                <a:cs typeface="Times New Roman" panose="02020603050405020304" pitchFamily="18" charset="0"/>
              </a:rPr>
              <a:t>the system cannot be in a deadlock state.</a:t>
            </a:r>
            <a:endParaRPr lang="en-US" altLang="zh-TW" sz="2600" kern="0" dirty="0" smtClean="0">
              <a:solidFill>
                <a:srgbClr val="0000FF"/>
              </a:solidFill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15" y="3461808"/>
            <a:ext cx="7361673" cy="84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55" y="2744766"/>
            <a:ext cx="3842534" cy="531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837" y="4368300"/>
            <a:ext cx="2684499" cy="445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15" y="831560"/>
            <a:ext cx="3986374" cy="1113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791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198438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</a:t>
            </a:r>
            <a:r>
              <a:rPr lang="en-US" altLang="en-US" dirty="0" smtClean="0"/>
              <a:t>Page Table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692150"/>
            <a:ext cx="8569325" cy="5761038"/>
          </a:xfrm>
        </p:spPr>
        <p:txBody>
          <a:bodyPr/>
          <a:lstStyle/>
          <a:p>
            <a:r>
              <a:rPr lang="en-US" altLang="en-US" sz="2400" dirty="0" smtClean="0"/>
              <a:t>One </a:t>
            </a:r>
            <a:r>
              <a:rPr lang="en-US" altLang="en-US" sz="2400" dirty="0"/>
              <a:t>entry per physical </a:t>
            </a:r>
            <a:r>
              <a:rPr lang="en-US" altLang="en-US" sz="2400" dirty="0" smtClean="0"/>
              <a:t>frame; </a:t>
            </a:r>
            <a:r>
              <a:rPr lang="en-US" altLang="en-US" sz="2400" dirty="0"/>
              <a:t>single page table in the entire </a:t>
            </a:r>
            <a:r>
              <a:rPr lang="en-US" altLang="en-US" sz="2400" dirty="0" smtClean="0"/>
              <a:t>system</a:t>
            </a:r>
            <a:r>
              <a:rPr lang="en-US" altLang="en-US" sz="2400" dirty="0"/>
              <a:t>, the amount of memory used by the inverted page table has reduced </a:t>
            </a:r>
            <a:r>
              <a:rPr lang="en-US" altLang="en-US" sz="2400" dirty="0" smtClean="0"/>
              <a:t>considerably.</a:t>
            </a:r>
          </a:p>
          <a:p>
            <a:pPr lvl="1"/>
            <a:r>
              <a:rPr lang="en-US" altLang="en-US" sz="2000" dirty="0"/>
              <a:t>logical address space: </a:t>
            </a:r>
            <a:r>
              <a:rPr lang="en-US" altLang="en-US" sz="2000" dirty="0" smtClean="0"/>
              <a:t>32-bit, page </a:t>
            </a:r>
            <a:r>
              <a:rPr lang="en-US" altLang="en-US" sz="2000" dirty="0"/>
              <a:t>size: </a:t>
            </a:r>
            <a:r>
              <a:rPr lang="en-US" altLang="en-US" sz="2000" dirty="0" smtClean="0"/>
              <a:t>4KB </a:t>
            </a:r>
            <a:r>
              <a:rPr lang="en-US" altLang="en-US" sz="2000" dirty="0"/>
              <a:t>(</a:t>
            </a:r>
            <a:r>
              <a:rPr lang="en-US" altLang="en-US" sz="2000" dirty="0" smtClean="0"/>
              <a:t>2</a:t>
            </a:r>
            <a:r>
              <a:rPr lang="en-US" altLang="en-US" sz="2000" baseline="30000" dirty="0" smtClean="0"/>
              <a:t>12</a:t>
            </a:r>
            <a:r>
              <a:rPr lang="en-US" altLang="en-US" sz="2000" dirty="0" smtClean="0"/>
              <a:t>), page </a:t>
            </a:r>
            <a:r>
              <a:rPr lang="en-US" altLang="en-US" sz="2000" dirty="0"/>
              <a:t>table entry size: </a:t>
            </a:r>
            <a:r>
              <a:rPr lang="en-US" altLang="en-US" sz="2000" dirty="0" smtClean="0"/>
              <a:t>4 bytes, </a:t>
            </a:r>
            <a:r>
              <a:rPr lang="en-US" altLang="en-US" sz="2000" dirty="0" smtClean="0">
                <a:solidFill>
                  <a:srgbClr val="FF0000"/>
                </a:solidFill>
              </a:rPr>
              <a:t>physical memory: 2GB </a:t>
            </a:r>
            <a:r>
              <a:rPr lang="en-US" altLang="en-US" sz="2000" dirty="0"/>
              <a:t>(</a:t>
            </a:r>
            <a:r>
              <a:rPr lang="en-US" altLang="en-US" sz="2000" dirty="0" smtClean="0"/>
              <a:t>2</a:t>
            </a:r>
            <a:r>
              <a:rPr lang="en-US" altLang="en-US" sz="2000" baseline="30000" dirty="0" smtClean="0"/>
              <a:t>31</a:t>
            </a:r>
            <a:r>
              <a:rPr lang="en-US" altLang="en-US" sz="2000" dirty="0" smtClean="0"/>
              <a:t>)</a:t>
            </a:r>
          </a:p>
          <a:p>
            <a:pPr lvl="1"/>
            <a:r>
              <a:rPr lang="en-US" altLang="en-US" sz="2000" dirty="0" smtClean="0"/>
              <a:t># of </a:t>
            </a:r>
            <a:r>
              <a:rPr lang="en-US" altLang="en-US" sz="2000" dirty="0"/>
              <a:t>entries in the page table = </a:t>
            </a:r>
            <a:r>
              <a:rPr lang="en-US" altLang="en-US" sz="2000" dirty="0" smtClean="0"/>
              <a:t># of </a:t>
            </a:r>
            <a:r>
              <a:rPr lang="en-US" altLang="en-US" sz="2000" dirty="0"/>
              <a:t>physical pages = </a:t>
            </a:r>
            <a:r>
              <a:rPr lang="en-US" altLang="en-US" sz="2000" dirty="0" smtClean="0"/>
              <a:t>(</a:t>
            </a:r>
            <a:r>
              <a:rPr lang="en-US" altLang="en-US" sz="2000" dirty="0"/>
              <a:t>2</a:t>
            </a:r>
            <a:r>
              <a:rPr lang="en-US" altLang="en-US" sz="2000" baseline="30000" dirty="0"/>
              <a:t>31</a:t>
            </a:r>
            <a:r>
              <a:rPr lang="en-US" altLang="en-US" sz="2000" dirty="0" smtClean="0"/>
              <a:t>)/(</a:t>
            </a:r>
            <a:r>
              <a:rPr lang="en-US" altLang="en-US" sz="2000" dirty="0"/>
              <a:t>2</a:t>
            </a:r>
            <a:r>
              <a:rPr lang="en-US" altLang="en-US" sz="2000" baseline="30000" dirty="0"/>
              <a:t>12</a:t>
            </a:r>
            <a:r>
              <a:rPr lang="en-US" altLang="en-US" sz="2000" dirty="0" smtClean="0"/>
              <a:t>) </a:t>
            </a:r>
            <a:r>
              <a:rPr lang="en-US" altLang="en-US" sz="2000" dirty="0"/>
              <a:t>= </a:t>
            </a:r>
            <a:r>
              <a:rPr lang="en-US" altLang="en-US" sz="2000" dirty="0" smtClean="0"/>
              <a:t>2</a:t>
            </a:r>
            <a:r>
              <a:rPr lang="en-US" altLang="en-US" sz="2000" baseline="30000" dirty="0" smtClean="0"/>
              <a:t>19 </a:t>
            </a:r>
            <a:r>
              <a:rPr lang="en-US" altLang="en-US" sz="2000" dirty="0" smtClean="0"/>
              <a:t>frames </a:t>
            </a:r>
            <a:endParaRPr lang="en-US" altLang="en-US" sz="2000" dirty="0"/>
          </a:p>
          <a:p>
            <a:pPr lvl="1"/>
            <a:r>
              <a:rPr lang="en-US" altLang="en-US" sz="2000" dirty="0" smtClean="0"/>
              <a:t>If one </a:t>
            </a:r>
            <a:r>
              <a:rPr lang="en-US" altLang="en-US" sz="2000" dirty="0"/>
              <a:t>byte process </a:t>
            </a:r>
            <a:r>
              <a:rPr lang="en-US" altLang="en-US" sz="2000" dirty="0" smtClean="0"/>
              <a:t>identifiers, size </a:t>
            </a:r>
            <a:r>
              <a:rPr lang="en-US" altLang="en-US" sz="2000" dirty="0"/>
              <a:t>of each page table entry </a:t>
            </a:r>
            <a:r>
              <a:rPr lang="en-US" altLang="en-US" sz="2000" dirty="0" smtClean="0"/>
              <a:t>= 8 </a:t>
            </a:r>
            <a:r>
              <a:rPr lang="en-US" altLang="en-US" sz="2000" dirty="0"/>
              <a:t>bits (PID</a:t>
            </a:r>
            <a:r>
              <a:rPr lang="en-US" altLang="en-US" sz="2000" dirty="0" smtClean="0"/>
              <a:t>) + 20 bits </a:t>
            </a:r>
            <a:r>
              <a:rPr lang="en-US" altLang="en-US" sz="2000" dirty="0"/>
              <a:t>(virtual page number</a:t>
            </a:r>
            <a:r>
              <a:rPr lang="en-US" altLang="en-US" sz="2000" dirty="0" smtClean="0"/>
              <a:t>) + 4 bits </a:t>
            </a:r>
            <a:r>
              <a:rPr lang="en-US" altLang="en-US" sz="2000" dirty="0"/>
              <a:t>(access information) = 32 </a:t>
            </a:r>
            <a:r>
              <a:rPr lang="en-US" altLang="en-US" sz="2000" dirty="0" smtClean="0"/>
              <a:t>bits (4B).</a:t>
            </a:r>
            <a:endParaRPr lang="en-US" altLang="en-US" sz="2000" dirty="0"/>
          </a:p>
          <a:p>
            <a:pPr lvl="1"/>
            <a:r>
              <a:rPr lang="en-US" altLang="en-US" sz="2000" dirty="0" smtClean="0"/>
              <a:t>Size </a:t>
            </a:r>
            <a:r>
              <a:rPr lang="en-US" altLang="en-US" sz="2000" dirty="0"/>
              <a:t>of the page table = </a:t>
            </a:r>
            <a:r>
              <a:rPr lang="en-US" altLang="en-US" sz="2000" dirty="0" smtClean="0"/>
              <a:t>(</a:t>
            </a:r>
            <a:r>
              <a:rPr lang="en-US" altLang="en-US" sz="2000" dirty="0"/>
              <a:t>2</a:t>
            </a:r>
            <a:r>
              <a:rPr lang="en-US" altLang="en-US" sz="2000" baseline="30000" dirty="0"/>
              <a:t>19</a:t>
            </a:r>
            <a:r>
              <a:rPr lang="en-US" altLang="en-US" sz="2000" dirty="0" smtClean="0"/>
              <a:t>)*</a:t>
            </a:r>
            <a:r>
              <a:rPr lang="en-US" altLang="en-US" sz="2000" dirty="0"/>
              <a:t>4 </a:t>
            </a:r>
            <a:r>
              <a:rPr lang="en-US" altLang="en-US" sz="2000" dirty="0" smtClean="0"/>
              <a:t>B= </a:t>
            </a:r>
            <a:r>
              <a:rPr lang="en-US" altLang="en-US" sz="2000" dirty="0">
                <a:solidFill>
                  <a:srgbClr val="FF0000"/>
                </a:solidFill>
              </a:rPr>
              <a:t>2MB for the entire system</a:t>
            </a:r>
            <a:r>
              <a:rPr lang="en-US" altLang="en-US" sz="2000" dirty="0"/>
              <a:t>.</a:t>
            </a:r>
            <a:endParaRPr lang="en-US" altLang="en-US" sz="2000" dirty="0" smtClean="0"/>
          </a:p>
          <a:p>
            <a:r>
              <a:rPr lang="en-US" altLang="en-US" sz="2400" dirty="0" smtClean="0"/>
              <a:t>However, the search time </a:t>
            </a:r>
            <a:r>
              <a:rPr lang="en-US" altLang="en-US" sz="2400" dirty="0"/>
              <a:t>may be significantly </a:t>
            </a:r>
            <a:r>
              <a:rPr lang="en-US" altLang="en-US" sz="2400" dirty="0" smtClean="0"/>
              <a:t>higher</a:t>
            </a:r>
          </a:p>
          <a:p>
            <a:pPr lvl="1"/>
            <a:r>
              <a:rPr lang="en-US" altLang="en-US" sz="2000" dirty="0" smtClean="0"/>
              <a:t>Using hashed </a:t>
            </a:r>
            <a:r>
              <a:rPr lang="en-US" altLang="en-US" sz="2000" dirty="0"/>
              <a:t>page </a:t>
            </a:r>
            <a:r>
              <a:rPr lang="en-US" altLang="en-US" sz="2000" dirty="0" smtClean="0"/>
              <a:t>table</a:t>
            </a:r>
          </a:p>
          <a:p>
            <a:r>
              <a:rPr lang="en-US" altLang="en-US" sz="2400" dirty="0"/>
              <a:t>shared </a:t>
            </a:r>
            <a:r>
              <a:rPr lang="en-US" altLang="en-US" sz="2400" dirty="0" smtClean="0"/>
              <a:t>page problem: no </a:t>
            </a:r>
            <a:r>
              <a:rPr lang="en-US" altLang="en-US" sz="2400" dirty="0"/>
              <a:t>longer can map the same </a:t>
            </a:r>
            <a:r>
              <a:rPr lang="en-US" altLang="en-US" sz="2400" dirty="0" smtClean="0"/>
              <a:t>frame </a:t>
            </a:r>
            <a:r>
              <a:rPr lang="en-US" altLang="en-US" sz="2400" dirty="0"/>
              <a:t>to multiple virtual page numbers </a:t>
            </a:r>
            <a:r>
              <a:rPr lang="en-US" altLang="en-US" sz="2400" dirty="0" smtClean="0"/>
              <a:t>for </a:t>
            </a:r>
            <a:r>
              <a:rPr lang="en-US" altLang="en-US" sz="2400" dirty="0"/>
              <a:t>different </a:t>
            </a:r>
            <a:r>
              <a:rPr lang="en-US" altLang="en-US" sz="2400" dirty="0" smtClean="0"/>
              <a:t>processes because one </a:t>
            </a:r>
            <a:r>
              <a:rPr lang="en-US" altLang="en-US" sz="2400" dirty="0"/>
              <a:t>entry per physical </a:t>
            </a:r>
            <a:r>
              <a:rPr lang="en-US" altLang="en-US" sz="2400" dirty="0" smtClean="0"/>
              <a:t>frame.</a:t>
            </a:r>
          </a:p>
          <a:p>
            <a:pPr marL="0" indent="0">
              <a:buNone/>
            </a:pPr>
            <a:endParaRPr lang="en-US" altLang="en-US" sz="2400" dirty="0"/>
          </a:p>
        </p:txBody>
      </p:sp>
      <p:sp>
        <p:nvSpPr>
          <p:cNvPr id="6451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60796C2-5A53-4334-A0CD-885BEC6B45CC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6451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F6DB37-9E65-4892-8D87-69D0D4DE61E4}" type="slidenum">
              <a:rPr kumimoji="0" lang="en-US" altLang="zh-TW" sz="140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>
              <a:solidFill>
                <a:srgbClr val="40458C"/>
              </a:solidFill>
            </a:endParaRPr>
          </a:p>
        </p:txBody>
      </p:sp>
      <p:sp>
        <p:nvSpPr>
          <p:cNvPr id="2" name="頁尾版面配置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zh-TW" smtClean="0">
                <a:solidFill>
                  <a:srgbClr val="40458C"/>
                </a:solidFill>
              </a:rPr>
              <a:t>OS 7-9 Selected Exercises 2018</a:t>
            </a:r>
            <a:endParaRPr lang="en-US" altLang="zh-TW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02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31B0B7E-A959-4A1A-A3CF-2C917694F143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Let the average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process size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</a:t>
            </a:r>
            <a:r>
              <a:rPr lang="en-US" altLang="zh-TW" sz="2400" i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i="1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bytes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page size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 </a:t>
            </a:r>
            <a:r>
              <a:rPr lang="en-US" altLang="zh-TW" sz="2400" i="1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bytes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And, assume that each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page entry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requires </a:t>
            </a:r>
            <a:r>
              <a:rPr lang="en-US" altLang="zh-TW" sz="2400" i="1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e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bytes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The approximate number of pages needed per process is then </a:t>
            </a:r>
            <a:r>
              <a:rPr lang="en-US" altLang="zh-TW" sz="2400" i="1" dirty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s/p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occupying </a:t>
            </a:r>
            <a:r>
              <a:rPr lang="en-US" altLang="zh-TW" sz="2400" i="1" dirty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se/p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bytes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page table space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wasted memory in the last page of the process due to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internal fragmentation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</a:t>
            </a:r>
            <a:r>
              <a:rPr lang="en-US" altLang="zh-TW" sz="2400" i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/2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  <a:defRPr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total overhead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due to the page table and the internal fragmentation loss is given by the sum of these two terms: overhead = </a:t>
            </a:r>
            <a:r>
              <a:rPr lang="en-US" altLang="zh-TW" sz="2400" i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se/p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+ 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/2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  <a:defRPr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18788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7717D87-0613-4DA6-A364-B70CE2F40F77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18789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1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31B0B7E-A959-4A1A-A3CF-2C917694F143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572" name="Content Placeholder 2" descr="Rectangle: Click to edit Master text styles&#10;Second level&#10;Third level&#10;Fourth level&#10;Fifth level"/>
              <p:cNvSpPr>
                <a:spLocks noGrp="1"/>
              </p:cNvSpPr>
              <p:nvPr>
                <p:ph idx="4294967295"/>
              </p:nvPr>
            </p:nvSpPr>
            <p:spPr>
              <a:xfrm>
                <a:off x="103188" y="854075"/>
                <a:ext cx="8937625" cy="5486400"/>
              </a:xfrm>
            </p:spPr>
            <p:txBody>
              <a:bodyPr/>
              <a:lstStyle/>
              <a:p>
                <a:pPr marL="457200" indent="-457200" eaLnBrk="1" hangingPunct="1">
                  <a:spcBef>
                    <a:spcPct val="60000"/>
                  </a:spcBef>
                  <a:buFont typeface="+mj-lt"/>
                  <a:buAutoNum type="arabicPeriod" startAt="3"/>
                  <a:defRPr/>
                </a:pPr>
                <a:r>
                  <a:rPr lang="en-US" altLang="zh-TW" sz="2400" dirty="0" smtClean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The </a:t>
                </a:r>
                <a:r>
                  <a:rPr lang="en-US" altLang="zh-TW" sz="2400" dirty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page table size is large 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when the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page size is small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. The </a:t>
                </a:r>
                <a:r>
                  <a:rPr lang="en-US" altLang="zh-TW" sz="2400" dirty="0">
                    <a:solidFill>
                      <a:srgbClr val="009900"/>
                    </a:solidFill>
                    <a:latin typeface="Adobe Gothic Std B" pitchFamily="34" charset="-128"/>
                    <a:ea typeface="Adobe Gothic Std B" pitchFamily="34" charset="-128"/>
                  </a:rPr>
                  <a:t>internal fragmentation is large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 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when the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page size is large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. </a:t>
                </a:r>
                <a:r>
                  <a:rPr lang="en-US" altLang="zh-TW" sz="2400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dobe Gothic Std B" pitchFamily="34" charset="-128"/>
                    <a:ea typeface="Adobe Gothic Std B" pitchFamily="34" charset="-128"/>
                  </a:rPr>
                  <a:t>The optimum must lie somewhere in between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. </a:t>
                </a:r>
                <a:endParaRPr lang="en-US" altLang="zh-TW" sz="2400" dirty="0" smtClean="0">
                  <a:solidFill>
                    <a:srgbClr val="000000"/>
                  </a:solidFill>
                  <a:latin typeface="Adobe Gothic Std B" pitchFamily="34" charset="-128"/>
                  <a:ea typeface="Adobe Gothic Std B" pitchFamily="34" charset="-128"/>
                </a:endParaRPr>
              </a:p>
              <a:p>
                <a:pPr marL="457200" indent="-457200" eaLnBrk="1" hangingPunct="1">
                  <a:spcBef>
                    <a:spcPct val="60000"/>
                  </a:spcBef>
                  <a:buFont typeface="+mj-lt"/>
                  <a:buAutoNum type="arabicPeriod" startAt="3"/>
                  <a:defRPr/>
                </a:pPr>
                <a:r>
                  <a:rPr lang="en-US" altLang="zh-TW" sz="2400" dirty="0" smtClean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Derive 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a formula that gives the optimum page size (considering only memory wasted in fragmentation and page table size). 	</a:t>
                </a:r>
                <a:r>
                  <a:rPr lang="en-US" altLang="zh-TW" sz="2400" i="1" dirty="0" smtClean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se/p </a:t>
                </a:r>
                <a:r>
                  <a:rPr lang="en-US" altLang="zh-TW" sz="2400" i="1" dirty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+ p/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2</a:t>
                </a:r>
                <a:endParaRPr lang="en-US" altLang="zh-TW" sz="2400" dirty="0" smtClean="0">
                  <a:solidFill>
                    <a:srgbClr val="FF0000"/>
                  </a:solidFill>
                  <a:latin typeface="Adobe Gothic Std B" pitchFamily="34" charset="-128"/>
                  <a:ea typeface="Adobe Gothic Std B" pitchFamily="34" charset="-128"/>
                </a:endParaRPr>
              </a:p>
              <a:p>
                <a:pPr marL="400050" lvl="1" indent="0" eaLnBrk="1" hangingPunct="1">
                  <a:spcBef>
                    <a:spcPct val="60000"/>
                  </a:spcBef>
                  <a:buNone/>
                  <a:defRPr/>
                </a:pPr>
                <a:r>
                  <a:rPr lang="en-US" altLang="zh-TW" sz="2400" dirty="0" smtClean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By taking the 1</a:t>
                </a:r>
                <a:r>
                  <a:rPr lang="en-US" altLang="zh-TW" sz="2400" baseline="30000" dirty="0" smtClean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st</a:t>
                </a:r>
                <a:r>
                  <a:rPr lang="en-US" altLang="zh-TW" sz="2400" dirty="0" smtClean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 derivation w.r.t </a:t>
                </a:r>
                <a:r>
                  <a:rPr lang="en-US" altLang="zh-TW" sz="2400" i="1" dirty="0" smtClean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p</a:t>
                </a:r>
                <a:r>
                  <a:rPr lang="en-US" altLang="zh-TW" sz="2400" dirty="0" smtClean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 and equating it to 0</a:t>
                </a:r>
                <a:r>
                  <a:rPr lang="en-US" altLang="zh-TW" sz="2400" dirty="0" smtClean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, </a:t>
                </a:r>
              </a:p>
              <a:p>
                <a:pPr marL="400050" lvl="1" indent="0" eaLnBrk="1" hangingPunct="1">
                  <a:spcBef>
                    <a:spcPts val="600"/>
                  </a:spcBef>
                  <a:buNone/>
                  <a:defRPr/>
                </a:pPr>
                <a:r>
                  <a:rPr lang="en-US" altLang="zh-TW" sz="2400" dirty="0" smtClean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We have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-</a:t>
                </a:r>
                <a:r>
                  <a:rPr lang="en-US" altLang="zh-TW" sz="2400" i="1" dirty="0" smtClean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se/p</a:t>
                </a:r>
                <a:r>
                  <a:rPr lang="en-US" altLang="zh-TW" sz="2400" baseline="30000" dirty="0" smtClean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2</a:t>
                </a:r>
                <a:r>
                  <a:rPr lang="en-US" altLang="zh-TW" sz="2400" i="1" dirty="0" smtClean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 </a:t>
                </a:r>
                <a:r>
                  <a:rPr lang="en-US" altLang="zh-TW" sz="2400" i="1" dirty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+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½ = 0</a:t>
                </a:r>
                <a:r>
                  <a:rPr lang="en-US" altLang="zh-TW" sz="2400" dirty="0" smtClean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.</a:t>
                </a:r>
              </a:p>
              <a:p>
                <a:pPr marL="0" indent="0" algn="ctr" eaLnBrk="1" hangingPunct="1">
                  <a:spcBef>
                    <a:spcPct val="60000"/>
                  </a:spcBef>
                  <a:buNone/>
                  <a:defRPr/>
                </a:pPr>
                <a:r>
                  <a:rPr lang="en-US" altLang="zh-TW" sz="2400" dirty="0" smtClean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The 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result is: </a:t>
                </a:r>
                <a:r>
                  <a:rPr lang="en-US" altLang="zh-TW" sz="2400" i="1" dirty="0" smtClean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p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Adobe Gothic Std B" pitchFamily="34" charset="-128"/>
                    <a:ea typeface="Adobe Gothic Std B" pitchFamily="34" charset="-128"/>
                  </a:rPr>
                  <a:t>=</a:t>
                </a:r>
                <a:r>
                  <a:rPr lang="zh-TW" altLang="zh-TW" sz="2400" dirty="0" smtClean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𝑠𝑒</m:t>
                        </m:r>
                      </m:e>
                    </m:rad>
                  </m:oMath>
                </a14:m>
                <a:r>
                  <a:rPr lang="en-US" altLang="zh-TW" sz="2400" dirty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.</a:t>
                </a:r>
              </a:p>
              <a:p>
                <a:pPr marL="457200" indent="-457200" eaLnBrk="1" hangingPunct="1">
                  <a:spcBef>
                    <a:spcPct val="60000"/>
                  </a:spcBef>
                  <a:buFont typeface="+mj-lt"/>
                  <a:buAutoNum type="arabicPeriod" startAt="5"/>
                  <a:defRPr/>
                </a:pPr>
                <a:r>
                  <a:rPr lang="en-US" altLang="zh-TW" sz="2400" dirty="0" smtClean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For </a:t>
                </a:r>
                <a:r>
                  <a:rPr lang="en-US" altLang="zh-TW" sz="2400" i="1" dirty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s</a:t>
                </a:r>
                <a:r>
                  <a:rPr lang="en-US" altLang="zh-TW" sz="2400" dirty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 = 1MB and </a:t>
                </a:r>
                <a:r>
                  <a:rPr lang="en-US" altLang="zh-TW" sz="2400" i="1" dirty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e</a:t>
                </a:r>
                <a:r>
                  <a:rPr lang="en-US" altLang="zh-TW" sz="2400" dirty="0">
                    <a:solidFill>
                      <a:srgbClr val="0000FF"/>
                    </a:solidFill>
                    <a:latin typeface="Adobe Gothic Std B" pitchFamily="34" charset="-128"/>
                    <a:ea typeface="Adobe Gothic Std B" pitchFamily="34" charset="-128"/>
                  </a:rPr>
                  <a:t> = 8 bytes</a:t>
                </a:r>
                <a:r>
                  <a:rPr lang="en-US" altLang="zh-TW" sz="2400" dirty="0">
                    <a:solidFill>
                      <a:srgbClr val="000000"/>
                    </a:solidFill>
                    <a:latin typeface="Adobe Gothic Std B" pitchFamily="34" charset="-128"/>
                    <a:ea typeface="Adobe Gothic Std B" pitchFamily="34" charset="-128"/>
                  </a:rPr>
                  <a:t> per page table entry, the optimum page size is 4 KB.</a:t>
                </a:r>
              </a:p>
              <a:p>
                <a:pPr marL="457200" indent="-457200" eaLnBrk="1" hangingPunct="1">
                  <a:spcBef>
                    <a:spcPct val="60000"/>
                  </a:spcBef>
                  <a:buFont typeface="+mj-lt"/>
                  <a:buAutoNum type="arabicPeriod" startAt="3"/>
                  <a:defRPr/>
                </a:pPr>
                <a:endParaRPr lang="en-US" altLang="zh-TW" sz="2000" dirty="0">
                  <a:solidFill>
                    <a:srgbClr val="3366FF"/>
                  </a:solidFill>
                  <a:latin typeface="Adobe Gothic Std B" pitchFamily="34" charset="-128"/>
                  <a:ea typeface="Adobe Gothic Std B" pitchFamily="34" charset="-128"/>
                </a:endParaRPr>
              </a:p>
            </p:txBody>
          </p:sp>
        </mc:Choice>
        <mc:Fallback xmlns="">
          <p:sp>
            <p:nvSpPr>
              <p:cNvPr id="109572" name="Content Placeholder 2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103188" y="854075"/>
                <a:ext cx="8937625" cy="5486400"/>
              </a:xfrm>
              <a:blipFill rotWithShape="1">
                <a:blip r:embed="rId4"/>
                <a:stretch>
                  <a:fillRect l="-1364" t="-1889" r="-16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788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233A3A1-EDD8-4894-9FF5-7CEE2D01D316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18789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>
                <a:solidFill>
                  <a:srgbClr val="7030A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6912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5C15F2F-8E9F-4C14-8794-FEB447B20182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defRPr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Most systems allow programs to allocate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more memory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to its address space during execution. Data allocated in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heap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segments of programs are an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example.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What is required to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support dynamic memory allocation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 the following schemes:</a:t>
            </a:r>
          </a:p>
          <a:p>
            <a:pPr marL="800100" lvl="2" indent="0" eaLnBrk="1" hangingPunct="1">
              <a:spcBef>
                <a:spcPts val="0"/>
              </a:spcBef>
              <a:buNone/>
              <a:defRPr/>
            </a:pP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contiguous-memory allocation</a:t>
            </a:r>
          </a:p>
          <a:p>
            <a:pPr marL="800100" lvl="2" indent="0" eaLnBrk="1" hangingPunct="1">
              <a:spcBef>
                <a:spcPts val="0"/>
              </a:spcBef>
              <a:buNone/>
              <a:defRPr/>
            </a:pP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pure segmentation</a:t>
            </a:r>
          </a:p>
          <a:p>
            <a:pPr marL="800100" lvl="2" indent="0" eaLnBrk="1" hangingPunct="1">
              <a:spcBef>
                <a:spcPts val="0"/>
              </a:spcBef>
              <a:buNone/>
              <a:defRPr/>
            </a:pP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c. pure 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paging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  <a:defRPr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contiguous-memory allocation: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might require relocation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 of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entire program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since there is not enough space for the program to grow its allocated memory </a:t>
            </a:r>
            <a:r>
              <a:rPr lang="en-US" altLang="zh-TW" sz="24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space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  <a:defRPr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pure segmentation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might also require relocation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of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segment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 that needs to be extended since there is not enough space for the segment to grow its allocated memory space</a:t>
            </a:r>
            <a:r>
              <a:rPr lang="en-US" altLang="zh-TW" sz="24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lphaLcPeriod"/>
              <a:defRPr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19812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5A8EE7E-E8FA-4A6C-B9C9-A5E80D5FE9D1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1981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8.12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5C15F2F-8E9F-4C14-8794-FEB447B20182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buFont typeface="+mj-lt"/>
              <a:buAutoNum type="alphaLcPeriod" startAt="3"/>
              <a:defRPr/>
            </a:pPr>
            <a:r>
              <a:rPr lang="en-US" altLang="zh-TW" sz="28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pure paging</a:t>
            </a:r>
            <a:r>
              <a:rPr lang="en-US" altLang="zh-TW" sz="28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</a:t>
            </a:r>
            <a:r>
              <a:rPr lang="en-US" altLang="zh-TW" sz="28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incremental allocation of new pages is possible in this scheme </a:t>
            </a:r>
            <a:r>
              <a:rPr lang="en-US" altLang="zh-TW" sz="28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without requiring relocation </a:t>
            </a:r>
            <a:r>
              <a:rPr lang="en-US" altLang="zh-TW" sz="28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of the </a:t>
            </a:r>
            <a:r>
              <a:rPr lang="en-US" altLang="zh-TW" sz="2800" dirty="0" err="1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program</a:t>
            </a:r>
            <a:r>
              <a:rPr lang="en-US" altLang="zh-TW" sz="2800" dirty="0" err="1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  <a:sym typeface="Symbol"/>
              </a:rPr>
              <a:t></a:t>
            </a:r>
            <a:r>
              <a:rPr lang="en-US" altLang="zh-TW" sz="2800" dirty="0" err="1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s</a:t>
            </a:r>
            <a:r>
              <a:rPr lang="en-US" altLang="zh-TW" sz="28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8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address space.</a:t>
            </a:r>
            <a:endParaRPr lang="en-US" altLang="zh-TW" sz="2400" dirty="0" smtClean="0">
              <a:solidFill>
                <a:srgbClr val="7030A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lphaLcPeriod" startAt="3"/>
              <a:defRPr/>
            </a:pPr>
            <a:endParaRPr lang="en-US" altLang="zh-TW" sz="20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19812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9F8220D-4E08-452A-890D-4EA14E5301DB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19813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8.12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48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Why are segmentation and paging sometimes combined into one scheme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Paged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segmentation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handles the case of having very long segments that require a lot of time for allocation. By paging the segments, we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reduce wasted memory due to external fragmentation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as well as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simplify the allocation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Segmented paging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is helpful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when the page table becomes very large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r>
              <a:rPr lang="en-US" altLang="zh-TW" sz="2400" dirty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A large contiguous section of the page table that is unused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can be </a:t>
            </a:r>
            <a:r>
              <a:rPr lang="en-US" altLang="zh-TW" sz="2400" dirty="0">
                <a:solidFill>
                  <a:srgbClr val="009900"/>
                </a:solidFill>
                <a:latin typeface="Adobe Gothic Std B" pitchFamily="34" charset="-128"/>
                <a:ea typeface="Adobe Gothic Std B" pitchFamily="34" charset="-128"/>
              </a:rPr>
              <a:t>collapsed into a single-segment table entry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with a page-table address of zero. </a:t>
            </a: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F69E53C-6689-40FC-9D6D-571C9543EACF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8.26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854075"/>
            <a:ext cx="8937625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Compare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segmented paging scheme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with the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hashed page tables scheme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handling large address spaces. Under what circumstances is one scheme preferable to the other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When a program occupies only a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small portion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 of its large virtual address space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, a hashed page table might be preferred due to its smaller size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Disadvantage: the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problem that arises due to conflicts in mapping multiple pages onto the same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entry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 smtClean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 startAt="2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Such overheads are minimal in the segmented paging scheme where each page table entry maintains information regarding only one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page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BA5B39-A3C5-4003-92B0-D8D6F7522E33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3" y="304800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8.31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5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664029"/>
            <a:ext cx="9127898" cy="5676446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a system that uses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pure demand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paging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process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first starts execution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how would you characterize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page fault rate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working set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a process is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loaded into memory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how would you characterize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page fault rate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Assume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process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changes its locality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size of the new working set is too large to be stored into available free memory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Identify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some options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system designers could choose from to handle this situation?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lphaLcParenR"/>
            </a:pP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Quite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high as needed pages are not yet loaded into memory.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lphaLcParenR"/>
            </a:pP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Quite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low as all necessary pages are loaded into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memory.</a:t>
            </a:r>
            <a:endParaRPr lang="en-US" altLang="zh-TW" sz="24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lphaLcParenR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(1) Ignore it; (2) get more physical memory; (3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) reclaim pages more aggressively due to the high page fault rate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A25C6AD-023B-438F-8285-6630048F5882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2" y="141514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9.16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54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664029"/>
            <a:ext cx="9127898" cy="5676446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Assume we have a demand-paged memory. The page table is held in registers. It takes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8 milliseconds to service a page fault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if an empty page is available or the replaced page is not modified, and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20 milliseconds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if the replaced page is modified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Memory access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time is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100 nanoseconds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Assume that the page to be replaced is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modified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70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%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time. What is the maximum acceptable page-fault rate for an effective access time of no more than 200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ns? </a:t>
            </a:r>
            <a:endParaRPr lang="en-US" altLang="zh-TW" sz="2400" dirty="0" smtClean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0" indent="0" eaLnBrk="1" hangingPunct="1">
              <a:spcBef>
                <a:spcPct val="60000"/>
              </a:spcBef>
              <a:buNone/>
            </a:pP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200 ns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=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(1 − 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)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×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100 ns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+ (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0.3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)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× 8 </a:t>
            </a:r>
            <a:r>
              <a:rPr lang="en-US" altLang="zh-TW" sz="2400" dirty="0" err="1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ms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+ (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0.7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)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× 20 </a:t>
            </a:r>
            <a:r>
              <a:rPr lang="en-US" altLang="zh-TW" sz="2400" dirty="0" err="1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ms</a:t>
            </a:r>
            <a:endParaRPr lang="en-US" altLang="zh-TW" sz="24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0" indent="0" algn="ctr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0.1 = −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0.1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+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2400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+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14000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endParaRPr lang="en-US" altLang="zh-TW" sz="24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0" indent="0" algn="ctr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0.1 ≃ 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16,400</a:t>
            </a:r>
            <a:r>
              <a:rPr lang="en-US" altLang="zh-TW" sz="2400" i="1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endParaRPr lang="en-US" altLang="zh-TW" sz="24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0" indent="0" algn="ctr" eaLnBrk="1" hangingPunct="1">
              <a:spcBef>
                <a:spcPct val="60000"/>
              </a:spcBef>
              <a:buNone/>
            </a:pPr>
            <a:r>
              <a:rPr lang="en-US" altLang="zh-TW" sz="2400" i="1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dirty="0" smtClean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3366FF"/>
                </a:solidFill>
                <a:latin typeface="Adobe Gothic Std B" pitchFamily="34" charset="-128"/>
                <a:ea typeface="Adobe Gothic Std B" pitchFamily="34" charset="-128"/>
              </a:rPr>
              <a:t>≃ 0.000006</a:t>
            </a: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2FBC34B-888F-48B7-977E-2213FBE6AB69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2" y="141514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9.19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7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664029"/>
            <a:ext cx="9127898" cy="5676446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VAX/VMS system uses a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FIFO replacement algorithm for resident pages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a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free-frame pool of recently used pages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Assume that the free-frame pool is managed using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least recently used replacement policy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Answer the following questions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</a:t>
            </a:r>
          </a:p>
          <a:p>
            <a:pPr marL="457200" indent="-457200" algn="just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If a page fault occurs and if the page does not exist in the free-frame pool, how is free space generated for the newly requested page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400050" lvl="1" indent="0" algn="just" eaLnBrk="1" hangingPunct="1">
              <a:spcBef>
                <a:spcPts val="600"/>
              </a:spcBef>
              <a:buNone/>
            </a:pPr>
            <a:r>
              <a:rPr lang="en-US" altLang="zh-TW" sz="24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One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of the pages in the free-frame pool is evicted to </a:t>
            </a:r>
            <a:r>
              <a:rPr lang="en-US" altLang="zh-TW" sz="24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disk (LRU),</a:t>
            </a:r>
          </a:p>
          <a:p>
            <a:pPr marL="400050" lvl="1" indent="0" algn="just" eaLnBrk="1" hangingPunct="1">
              <a:spcBef>
                <a:spcPts val="600"/>
              </a:spcBef>
              <a:buNone/>
            </a:pPr>
            <a:r>
              <a:rPr lang="en-US" altLang="zh-TW" sz="24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creating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space for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one of the resident pages </a:t>
            </a:r>
            <a:r>
              <a:rPr lang="en-US" altLang="zh-TW" sz="24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to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be moved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(FIFO) </a:t>
            </a:r>
            <a:r>
              <a:rPr lang="en-US" altLang="zh-TW" sz="24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to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the free-frame pool. </a:t>
            </a:r>
            <a:endParaRPr lang="en-US" altLang="zh-TW" sz="2400" dirty="0" smtClean="0">
              <a:solidFill>
                <a:srgbClr val="7030A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algn="just" eaLnBrk="1" hangingPunct="1">
              <a:spcBef>
                <a:spcPts val="600"/>
              </a:spcBef>
              <a:buNone/>
            </a:pPr>
            <a:r>
              <a:rPr lang="en-US" altLang="zh-TW" sz="2400" dirty="0" smtClean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The</a:t>
            </a:r>
            <a:r>
              <a:rPr lang="en-US" altLang="zh-TW" sz="2400" dirty="0" smtClean="0">
                <a:solidFill>
                  <a:srgbClr val="00206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accessed page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is then moved to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the resident set</a:t>
            </a:r>
            <a:r>
              <a:rPr lang="en-US" altLang="zh-TW" sz="2400" dirty="0">
                <a:solidFill>
                  <a:srgbClr val="00206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857250" lvl="1" indent="-457200" algn="just" eaLnBrk="1" hangingPunct="1">
              <a:spcBef>
                <a:spcPts val="600"/>
              </a:spcBef>
              <a:buFont typeface="+mj-lt"/>
              <a:buAutoNum type="alphaLcPeriod"/>
            </a:pPr>
            <a:endParaRPr lang="en-US" altLang="zh-TW" sz="24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443E657-B2C1-4882-88F5-B822FB4D9305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2" y="141514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9.26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77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664029"/>
            <a:ext cx="9127898" cy="5676446"/>
          </a:xfrm>
        </p:spPr>
        <p:txBody>
          <a:bodyPr/>
          <a:lstStyle/>
          <a:p>
            <a:pPr marL="457200" indent="-457200" algn="just" eaLnBrk="1" hangingPunct="1">
              <a:spcBef>
                <a:spcPts val="600"/>
              </a:spcBef>
              <a:buFont typeface="+mj-lt"/>
              <a:buAutoNum type="alphaLcPeriod" startAt="2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If a page fault occurs and if the page exists in the free-frame pool, how is the resident page set and the free-frame pool managed to make space for the requested page? </a:t>
            </a:r>
            <a:endParaRPr lang="en-US" altLang="zh-TW" sz="2400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It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is moved into the set of resident pages, while one of the resident pages is moved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(FIFO) to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the free-frame pool.</a:t>
            </a:r>
          </a:p>
          <a:p>
            <a:pPr marL="457200" indent="-457200" algn="just" eaLnBrk="1" hangingPunct="1">
              <a:spcBef>
                <a:spcPts val="1200"/>
              </a:spcBef>
              <a:buFont typeface="+mj-lt"/>
              <a:buAutoNum type="alphaLcPeriod" startAt="3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What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does the system degenerate to if the number of resident pages is set to one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0" indent="0" algn="just" eaLnBrk="1" hangingPunct="1">
              <a:spcBef>
                <a:spcPts val="1200"/>
              </a:spcBef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system degenerates into the page replacement algorithm used in the free-frame pool, which is typically managed in a LRU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fashion.</a:t>
            </a:r>
            <a:endParaRPr lang="en-US" altLang="zh-TW" sz="2400" dirty="0">
              <a:solidFill>
                <a:srgbClr val="FF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algn="just" eaLnBrk="1" hangingPunct="1">
              <a:spcBef>
                <a:spcPts val="1200"/>
              </a:spcBef>
              <a:buFont typeface="+mj-lt"/>
              <a:buAutoNum type="alphaLcPeriod" startAt="4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What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does the system degenerate to if the number of pages in the free-frame pool is zero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marL="0" indent="0" algn="just" eaLnBrk="1" hangingPunct="1">
              <a:spcBef>
                <a:spcPts val="600"/>
              </a:spcBef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system degenerates into a FIFO page-replacement algorithm.</a:t>
            </a: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7A5FF01-6A4F-47F6-9E4A-BA451BEF05DF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2" y="141514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9.26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0479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664029"/>
            <a:ext cx="9127898" cy="5676446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a demand-paging system with the following time-measured utilizations: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CPU utilization 20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%, paging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disk 97.7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%, other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I/O devices 5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%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For each of the following, say whether it will (or is likely to) improve CPU utilization. Explain your answers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Install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 faster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CPU.</a:t>
            </a:r>
            <a:endParaRPr lang="en-US" altLang="zh-TW" sz="24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Install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 bigger paging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disk.</a:t>
            </a:r>
            <a:endParaRPr lang="en-US" altLang="zh-TW" sz="24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Increase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degree of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multiprogramming.</a:t>
            </a:r>
            <a:endParaRPr lang="en-US" altLang="zh-TW" sz="24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Decrease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degree of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multiprogramming.</a:t>
            </a:r>
            <a:endParaRPr lang="en-US" altLang="zh-TW" sz="24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Install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more main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memory.</a:t>
            </a: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Likely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improve CPU utilization as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more pages can remain resident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not require paging to or from the disks.</a:t>
            </a:r>
            <a:endParaRPr lang="en-US" altLang="zh-TW" sz="20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25C2E4-BA03-4FB2-9A87-040BC63A39F8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2" y="141514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9.27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10378" y="2610339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80730" y="3072004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03445" y="3529481"/>
            <a:ext cx="612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76995" y="3912713"/>
            <a:ext cx="7328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Yes</a:t>
            </a:r>
            <a:endParaRPr lang="zh-TW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071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664029"/>
            <a:ext cx="9127898" cy="5676446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buFont typeface="+mj-lt"/>
              <a:buAutoNum type="alphaLcPeriod" startAt="6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Install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 faster hard disk or multiple controllers with multiple hard disks.</a:t>
            </a:r>
            <a:endParaRPr lang="en-US" altLang="zh-TW" sz="2400" dirty="0" smtClean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Also an improvement, for as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disk bottleneck is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removed,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CPU will get more data more quickly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 startAt="6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Add </a:t>
            </a:r>
            <a:r>
              <a:rPr lang="en-US" altLang="zh-TW" sz="2400" dirty="0" err="1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prepaging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to the page fetch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algorithms.</a:t>
            </a:r>
            <a:endParaRPr lang="en-US" altLang="zh-TW" sz="24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Again,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CPU will get more data faster, so it will be more in use.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This is only the case if the paging action is amenable to prefetching (i.e., some of the access is sequential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).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eriod" startAt="6"/>
            </a:pP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Increase the page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size.</a:t>
            </a:r>
            <a:endParaRPr lang="en-US" altLang="zh-TW" sz="24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Increasing the page size will result in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fewer page faults if data is being accessed sequentially. </a:t>
            </a:r>
            <a:endParaRPr lang="en-US" altLang="zh-TW" sz="2400" dirty="0" smtClean="0">
              <a:solidFill>
                <a:srgbClr val="FF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If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data access is more or less random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more paging action could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follow (more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data is transferred per page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fault).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This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change is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likely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to decrease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utilization then.</a:t>
            </a:r>
            <a:endParaRPr lang="en-US" altLang="zh-TW" sz="2000" dirty="0">
              <a:solidFill>
                <a:srgbClr val="FF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69C76C3-537F-4951-8CB4-C9651FEF5FBD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2" y="141514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9.27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22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B53A650-D13B-4EF8-9F0D-B22CF1941A38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3188" y="664029"/>
            <a:ext cx="9127898" cy="5676446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the parameter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Δ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used to define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working-set window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 the working-set model. What is the effect of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setting Δ to a small value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 the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page fault frequency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the number of active (non-suspended) processes currently executing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in the system? What is the effect when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Δ is set to a very high value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Δ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is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 small value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then the set of resident pages for a process might be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underestimated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this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could result in a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large number of page faults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Δ is a large value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then a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process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  <a:sym typeface="Symbol"/>
              </a:rPr>
              <a:t>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resident set is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overestimated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this might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prevent many processes from being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scheduled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However, once a process is scheduled, it is </a:t>
            </a:r>
            <a:r>
              <a:rPr lang="en-US" altLang="zh-TW" sz="2400" dirty="0">
                <a:solidFill>
                  <a:srgbClr val="7030A0"/>
                </a:solidFill>
                <a:latin typeface="Adobe Gothic Std B" pitchFamily="34" charset="-128"/>
                <a:ea typeface="Adobe Gothic Std B" pitchFamily="34" charset="-128"/>
              </a:rPr>
              <a:t>unlikely to generate page faults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since its resident set has been overestimated.</a:t>
            </a:r>
            <a:endParaRPr lang="en-US" altLang="zh-TW" sz="2400" dirty="0" smtClean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0" indent="0" eaLnBrk="1" hangingPunct="1">
              <a:spcBef>
                <a:spcPct val="60000"/>
              </a:spcBef>
              <a:buNone/>
            </a:pPr>
            <a:endParaRPr lang="en-US" altLang="zh-TW" sz="2400" dirty="0">
              <a:solidFill>
                <a:srgbClr val="3366FF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21860" name="日期版面配置區 1"/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72AEA64-5DC1-4BD9-BB58-37F98CFD04E0}" type="datetime1">
              <a:rPr kumimoji="0" lang="zh-TW" altLang="en-US" sz="1400" smtClean="0">
                <a:solidFill>
                  <a:srgbClr val="40458C"/>
                </a:solidFill>
              </a:rPr>
              <a:t>2018/5/17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21861" name="頁尾版面配置區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95000"/>
              <a:buFont typeface="Wingdings" pitchFamily="2" charset="2"/>
              <a:buChar char="w"/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SzPct val="6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zh-TW" sz="1400" smtClean="0">
                <a:solidFill>
                  <a:srgbClr val="40458C"/>
                </a:solidFill>
              </a:rPr>
              <a:t>OS 7-9 Selected Exercises 2018</a:t>
            </a:r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2262" y="141514"/>
            <a:ext cx="85169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lang="en-US" altLang="zh-TW" sz="4000" b="1" kern="0" dirty="0" smtClean="0">
                <a:solidFill>
                  <a:srgbClr val="7030A0"/>
                </a:solidFill>
              </a:rPr>
              <a:t>EX </a:t>
            </a:r>
            <a:r>
              <a:rPr lang="en-US" altLang="zh-TW" sz="4000" b="1" kern="0" dirty="0" smtClean="0">
                <a:solidFill>
                  <a:srgbClr val="7030A0"/>
                </a:solidFill>
              </a:rPr>
              <a:t>9.34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96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8124</TotalTime>
  <Words>1940</Words>
  <Application>Microsoft Office PowerPoint</Application>
  <PresentationFormat>如螢幕大小 (4:3)</PresentationFormat>
  <Paragraphs>182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18</vt:i4>
      </vt:variant>
    </vt:vector>
  </HeadingPairs>
  <TitlesOfParts>
    <vt:vector size="31" baseType="lpstr">
      <vt:lpstr>Adobe Gothic Std B</vt:lpstr>
      <vt:lpstr>MS PGothic</vt:lpstr>
      <vt:lpstr>新細明體</vt:lpstr>
      <vt:lpstr>Arial</vt:lpstr>
      <vt:lpstr>Cambria Math</vt:lpstr>
      <vt:lpstr>Helvetica</vt:lpstr>
      <vt:lpstr>Symbol</vt:lpstr>
      <vt:lpstr>Tahoma</vt:lpstr>
      <vt:lpstr>Times New Roman</vt:lpstr>
      <vt:lpstr>Wingdings</vt:lpstr>
      <vt:lpstr>Blueprint</vt:lpstr>
      <vt:lpstr>自訂設計</vt:lpstr>
      <vt:lpstr>1_Blueprint</vt:lpstr>
      <vt:lpstr>  Chapters 7-9     Selected Exercises   </vt:lpstr>
      <vt:lpstr>PowerPoint 簡報</vt:lpstr>
      <vt:lpstr>PowerPoint 簡報</vt:lpstr>
      <vt:lpstr>PowerPoint 簡報</vt:lpstr>
      <vt:lpstr>Inverted Page Table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Lucent Technologies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 Process Synchronization</dc:title>
  <dc:creator>Jia-Shung WANG</dc:creator>
  <cp:lastModifiedBy>JS</cp:lastModifiedBy>
  <cp:revision>432</cp:revision>
  <cp:lastPrinted>2015-12-29T03:54:41Z</cp:lastPrinted>
  <dcterms:created xsi:type="dcterms:W3CDTF">1999-07-23T13:31:00Z</dcterms:created>
  <dcterms:modified xsi:type="dcterms:W3CDTF">2018-05-17T02:42:06Z</dcterms:modified>
</cp:coreProperties>
</file>