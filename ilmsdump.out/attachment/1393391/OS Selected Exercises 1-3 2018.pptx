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350" r:id="rId2"/>
    <p:sldId id="605" r:id="rId3"/>
    <p:sldId id="602" r:id="rId4"/>
    <p:sldId id="570" r:id="rId5"/>
    <p:sldId id="606" r:id="rId6"/>
    <p:sldId id="607" r:id="rId7"/>
    <p:sldId id="608" r:id="rId8"/>
    <p:sldId id="601" r:id="rId9"/>
    <p:sldId id="571" r:id="rId10"/>
    <p:sldId id="572" r:id="rId11"/>
    <p:sldId id="603" r:id="rId12"/>
    <p:sldId id="604" r:id="rId13"/>
    <p:sldId id="609" r:id="rId14"/>
    <p:sldId id="573" r:id="rId15"/>
    <p:sldId id="599" r:id="rId16"/>
  </p:sldIdLst>
  <p:sldSz cx="9144000" cy="6858000" type="letter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6600"/>
    <a:srgbClr val="3333FF"/>
    <a:srgbClr val="000000"/>
    <a:srgbClr val="FF0066"/>
    <a:srgbClr val="336633"/>
    <a:srgbClr val="97EE26"/>
    <a:srgbClr val="FFCC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8" autoAdjust="0"/>
    <p:restoredTop sz="9474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F4CE75B1-576F-41C4-A47A-7803721111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0B764333-182F-40DA-A372-E6D98395A22C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44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D3B452B-A64E-4781-B673-4CE6FC5280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890" tIns="45946" rIns="91890" bIns="459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CC0A0255-6235-4EB3-9428-4384871AF125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  <p:sp>
        <p:nvSpPr>
          <p:cNvPr id="11060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50888"/>
            <a:ext cx="4946650" cy="37099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4268763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22B4330-F1A8-444A-95EC-BE573D296ED9}" type="slidenum">
              <a:rPr lang="en-US" altLang="zh-TW" sz="1000" smtClean="0">
                <a:latin typeface="Times New Roman" pitchFamily="18" charset="0"/>
              </a:rPr>
              <a:pPr eaLnBrk="1" hangingPunct="1"/>
              <a:t>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0888"/>
            <a:ext cx="4946650" cy="3709987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1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64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26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38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258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203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7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410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8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394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9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15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10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089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11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70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7632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905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43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15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61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C6988-09BE-488A-85C8-AE295662F972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6BE43-4710-4DD2-8A84-0C1B4B0FB0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445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BE816B-D04B-444F-9EC3-1C194185011C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F9AE2-0500-4043-9241-F71EAC378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6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CC38C-1671-45EE-9C06-328277D2640F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CDDF-04DD-40DA-93EB-F415F6823A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05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4B833-3A91-41B4-AA38-0DBBB9E60BA5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83953-96A2-4505-B746-0F9B617922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183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66AD7-88E7-4915-BF5C-1BEB5F166DAD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344D0-946A-48C1-B198-0417235728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B241F-07A0-48AC-A288-9858B4A3F188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0870C-3E22-4023-9317-1A07BD69F7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9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43ADB-C153-4C62-9F77-407A148755E2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707C6-4AF2-4255-9FDB-1EE42DA6F7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275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5522C-BFAC-41F9-B4A5-BFA490CC4506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CD012-A440-43AE-BF29-9D85F2FC2D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973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7451F-7113-42A1-B1E3-EA6ADFBEBA40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81F14-34B3-4516-B5AB-5CEB21DC14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326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73DD2-8CD3-49A2-8F47-9EC696A63F96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3D97D-C7CD-4B29-9EBF-0126ACFF9C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387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3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2D0DA-F394-450B-9AF8-DFE09A57952C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65CC4-0FBD-4354-B5CD-7E1571EACF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8980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9B51CE30-E4E5-4F62-B252-2B604F2293B4}" type="datetime1">
              <a:rPr lang="zh-TW" altLang="en-US" smtClean="0"/>
              <a:t>2018/3/12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Summary 1-3 2018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7E3D13E6-06DD-48F4-BADA-58CF1F7462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BCBF32C-F8FA-4BC8-BD1B-8FA2ED31A888}" type="slidenum">
              <a:rPr kumimoji="0" lang="en-US" altLang="zh-TW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60400" y="2149475"/>
            <a:ext cx="7905750" cy="304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Chapters 1-3</a:t>
            </a:r>
          </a:p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Selected Exercises</a:t>
            </a:r>
            <a:endParaRPr lang="en-US" altLang="zh-TW" sz="4000" b="1" dirty="0">
              <a:latin typeface="Book Antiqua" pitchFamily="18" charset="0"/>
            </a:endParaRPr>
          </a:p>
          <a:p>
            <a:pPr algn="ctr"/>
            <a:r>
              <a:rPr lang="en-US" altLang="zh-TW" sz="4000" b="1" dirty="0">
                <a:latin typeface="Book Antiqua" pitchFamily="18" charset="0"/>
              </a:rPr>
              <a:t> </a:t>
            </a:r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2800" b="1" dirty="0">
              <a:latin typeface="Book Antiqua" pitchFamily="18" charset="0"/>
            </a:endParaRPr>
          </a:p>
        </p:txBody>
      </p:sp>
      <p:sp>
        <p:nvSpPr>
          <p:cNvPr id="5427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9385175-697D-49F9-851F-4EC98CD9EA2E}" type="datetime1">
              <a:rPr kumimoji="0" lang="zh-TW" altLang="en-US" sz="1400" smtClean="0"/>
              <a:t>2018/3/12</a:t>
            </a:fld>
            <a:endParaRPr kumimoji="0" lang="en-US" altLang="zh-TW" sz="1400" smtClean="0"/>
          </a:p>
        </p:txBody>
      </p:sp>
      <p:sp>
        <p:nvSpPr>
          <p:cNvPr id="5427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Summary 1-3 2018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1203325"/>
            <a:ext cx="8634412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of the following instructions should be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privileged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Set value of timer.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Read the clock.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Clear memory.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d. Issue a trap instruction.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e. Turn off interrupts.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f. Modify entries in device-status table.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g. Switch from user to kernel mode.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h. Access I/O device.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D329FC4-09C7-40C1-9967-CAB89C0B5DC5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1.6*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向右箭號 1"/>
          <p:cNvSpPr/>
          <p:nvPr/>
        </p:nvSpPr>
        <p:spPr bwMode="auto">
          <a:xfrm>
            <a:off x="424742" y="1857493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8" name="向右箭號 7"/>
          <p:cNvSpPr/>
          <p:nvPr/>
        </p:nvSpPr>
        <p:spPr bwMode="auto">
          <a:xfrm>
            <a:off x="454841" y="2790729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向右箭號 8"/>
          <p:cNvSpPr/>
          <p:nvPr/>
        </p:nvSpPr>
        <p:spPr bwMode="auto">
          <a:xfrm>
            <a:off x="456365" y="3777048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向右箭號 9"/>
          <p:cNvSpPr/>
          <p:nvPr/>
        </p:nvSpPr>
        <p:spPr bwMode="auto">
          <a:xfrm>
            <a:off x="468163" y="4311305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1" name="向右箭號 10"/>
          <p:cNvSpPr/>
          <p:nvPr/>
        </p:nvSpPr>
        <p:spPr bwMode="auto">
          <a:xfrm>
            <a:off x="468163" y="5307897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899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Describe the differences between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symmetric and asymmetric multiprocessing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What are three advantages and one disadvantage of multiprocessor systems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Symmetric multiprocessing treats all processors as equals, and I/O can be processed on any CPU. Asymmetric multiprocessing has one master CPU and the remainder CPUs are slaves.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master distributes tasks among the slaves,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I/O is usually done by the master only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Multiprocessors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save money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by not duplicating power supplies, housings, and peripherals. They can execute programs more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quickly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can have increased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reliability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They are also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more complex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both hardware and software than uniprocessor systems.</a:t>
            </a:r>
            <a:endParaRPr lang="en-US" altLang="zh-TW" sz="2400" dirty="0" smtClean="0">
              <a:solidFill>
                <a:srgbClr val="CC66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47C0544-7812-42DC-BBDD-04535B83657F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1.15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8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Many SMP systems have different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levels of caches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; one level is local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each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processing core, and another level is shared among all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processing cores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Why are caching systems designed this way?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different levels are based on access speed as well as size. </a:t>
            </a:r>
            <a:r>
              <a:rPr lang="en-US" altLang="zh-TW" sz="24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In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general, the closer the cache is to the CPU, the faster the access. 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Therefore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smaller and faster caches are placed local to each CPU, and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shared caches that are larger, yet slower, are shared among several different processors. </a:t>
            </a:r>
            <a:endParaRPr lang="en-US" altLang="zh-TW" sz="2400" dirty="0" smtClean="0">
              <a:solidFill>
                <a:srgbClr val="CC66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EA32788-95AF-4FC8-9437-3F690E978565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1.22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520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are the advantages and disadvantages of using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same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call interface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manipulating both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files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devices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?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user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program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codes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can be written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access devices and files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 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same manner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device driver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code, which can be written to support a well-defined API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it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might be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difficult to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capture the functionality of certain devices within the context of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file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access API, thereby either resulting in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or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performance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01CA8FB-2DCB-47A3-ADF4-D6AE82E5B8F2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09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sometimes difficult 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achieve a layered approach if two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components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OS are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dependent on each other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Identify a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scenario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it is unclear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how to layer two system components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 tight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coupling of their functionalities.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virtual memory subsystem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storage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subsystem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tightly-coupled due to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files to be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mapped into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space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an executing process.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VMS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uses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storage system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to provide the backing store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for pages that do not currently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reside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memory.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updates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file 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 sometimes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buffered in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physical memory before it is flushed to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disk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A8C9516-8A74-4D49-A75E-EDD252191C71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37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is the main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microkernel approach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design? How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 user programs and system services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interact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microkernel architecture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 What are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using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microkernel approach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Benefits: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a)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adding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new service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does not require modifying the kernel, (b)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easier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port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new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architectures,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c) it is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more secure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more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operations are done in user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mode,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(d)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simpler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 design and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typically results in a more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reliable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communication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mechanisms, e.g. messaging</a:t>
            </a:r>
          </a:p>
          <a:p>
            <a:pPr marL="457200" indent="-457200" eaLnBrk="1" hangingPunct="1">
              <a:spcBef>
                <a:spcPts val="18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overheads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associated with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communication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frequent use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the operating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messaging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functions.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BFD1F4A-79CE-4EE7-B69A-2F4D3E16C179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2.10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00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are the advantages and disadvantages of using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same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call interface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manipulating both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files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devices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user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program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codes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can be written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access devices and files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 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same manner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device driver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code, which can be written to support a well-defined API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it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might be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difficult to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capture the functionality of certain devices within the context of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file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access API, thereby either resulting in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or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loss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performance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A781DD3-174E-45E1-891B-81F46AD5745C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41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sometimes difficult 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achieve a layered approach if two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components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OS are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dependent on each other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Identify a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scenario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it is unclear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how to layer two system components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 tight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coupling of their functionalities.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virtual memory subsystem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storage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subsystem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tightly-coupled due to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</a:t>
            </a: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files to be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mapped into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space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an executing process.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VMS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typically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uses the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storage system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to provide the backing store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for pages that do not currently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reside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memory.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updates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file 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 sometimes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buffered in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physical memory before it is flushed to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disk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BC31D32-A454-49F7-914C-8F47F0FF4749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2.20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92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is the main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microkernel approach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system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design? How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 user programs and system services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interact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microkernel architecture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 What are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disadvantages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using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microkernel approach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Benefits: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a)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adding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new service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does not require modifying the kernel, (b)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easier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port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new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architectures, (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c) it is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more secure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more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operations are done in user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mode,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(d)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simpler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 design and functionality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typically results in a more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reliable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communication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mechanisms, e.g. messaging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overheads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associated with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inter-process communication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frequent use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the operating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messaging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functions.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E75DF5A-0B77-4298-A090-D5DDE56707F6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2.21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82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 are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iOS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Android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similar? How are they different?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Similarities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are based on existing kernels (Linux and Mac OS X).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have architecture that uses software stacks.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provide frameworks for developers.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Differences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iOS is closed-source, and Android is open-source.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iOS applications are developed in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Objective-C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, Android in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Java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•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Android uses a virtual machine, and iOS executes code natively.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01664B7-872C-4587-87B0-CFF2691DABF0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2.23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1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a process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creates a new process using the fork()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operation,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which of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the following states is shared between the parent process and the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child process?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Stack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Heap</a:t>
            </a:r>
          </a:p>
          <a:p>
            <a:pPr marL="400050" lvl="1" indent="0" eaLnBrk="1" hangingPunct="1"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Shared memory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segments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Only the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shared memory segments are shared between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parent process and the newly forked child process.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Copies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of the stack and the heap are made for the newly created process. 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9F5FDD-B1EA-4A19-A74A-7FF3D3F1A2E8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3.5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the RPC mechanism. Describe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undesirable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circumstances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arise from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not enforcing either the "at most once" or "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exactly once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" semantics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Describe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uses for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mechanism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had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neither of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these guarantees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single invocation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remote procedure might lead to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multiple occurrences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(such as withdrawals) 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server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a system to support either of these semantics generally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requires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server maintain some form of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client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state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0FD6333-DB55-4420-9C05-533B90718435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3.9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56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the RPC mechanism. Describe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undesirable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circumstances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arise from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not enforcing either the "at most once" or "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exactly once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" semantics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Describe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uses for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mechanism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had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neither of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these guarantees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possible that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single invocation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of the remote procedure might lead to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multiple occurrences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(such as withdrawals) 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server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a system to support either of these semantics generally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requires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server maintain some form of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client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state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3C7ECF7-8700-4104-B719-1DC5C60E8B1C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3.16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30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2060"/>
                </a:solidFill>
                <a:latin typeface="Adobe Gothic Std B" pitchFamily="34" charset="-128"/>
                <a:ea typeface="Adobe Gothic Std B" pitchFamily="34" charset="-128"/>
              </a:rPr>
              <a:t>Explain why system calls are needed to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set up shared memory between two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processes.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Does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sharing memory between multiple threads of the same process also require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system calls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to be set up? </a:t>
            </a:r>
            <a:endParaRPr lang="en-US" altLang="zh-TW" sz="2400" dirty="0" smtClean="0">
              <a:solidFill>
                <a:srgbClr val="00B05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Because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each process has its own address space, it needs to involve the kernel </a:t>
            </a:r>
            <a:r>
              <a:rPr lang="en-US" altLang="zh-TW" sz="24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when dealing </a:t>
            </a:r>
            <a:r>
              <a:rPr lang="en-US" altLang="zh-TW" sz="24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with other processes’ address space. </a:t>
            </a:r>
            <a:endParaRPr lang="en-US" altLang="zh-TW" sz="2400" dirty="0" smtClean="0">
              <a:solidFill>
                <a:srgbClr val="3333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Threads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do not need to use a system call to share memory because, by definition,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share their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address space with other threads (of the same process, of course).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C28DF7C-3D12-4BC2-BC16-B30B8365AEB5}" type="datetime1">
              <a:rPr kumimoji="0" lang="zh-TW" altLang="en-US" sz="1400" smtClean="0">
                <a:solidFill>
                  <a:srgbClr val="40458C"/>
                </a:solidFill>
              </a:rPr>
              <a:t>2018/3/12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Summary 1-3 2018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Shared Memory 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26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1400</TotalTime>
  <Pages>36</Pages>
  <Words>1447</Words>
  <Application>Microsoft Office PowerPoint</Application>
  <PresentationFormat>Letter 紙張 (8.5x11 英吋)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Adobe Gothic Std B</vt:lpstr>
      <vt:lpstr>新細明體</vt:lpstr>
      <vt:lpstr>Arial</vt:lpstr>
      <vt:lpstr>Book Antiqua</vt:lpstr>
      <vt:lpstr>Tahoma</vt:lpstr>
      <vt:lpstr>Times New Roman</vt:lpstr>
      <vt:lpstr>Wingdings</vt:lpstr>
      <vt:lpstr>Blueprint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Jia-Shung WANG</dc:creator>
  <cp:lastModifiedBy>JS</cp:lastModifiedBy>
  <cp:revision>337</cp:revision>
  <cp:lastPrinted>2011-09-13T06:16:46Z</cp:lastPrinted>
  <dcterms:created xsi:type="dcterms:W3CDTF">1996-10-19T01:28:28Z</dcterms:created>
  <dcterms:modified xsi:type="dcterms:W3CDTF">2018-03-12T05:43:40Z</dcterms:modified>
</cp:coreProperties>
</file>