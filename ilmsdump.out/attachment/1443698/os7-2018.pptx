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55"/>
  </p:notesMasterIdLst>
  <p:handoutMasterIdLst>
    <p:handoutMasterId r:id="rId56"/>
  </p:handoutMasterIdLst>
  <p:sldIdLst>
    <p:sldId id="310" r:id="rId2"/>
    <p:sldId id="264" r:id="rId3"/>
    <p:sldId id="328" r:id="rId4"/>
    <p:sldId id="265" r:id="rId5"/>
    <p:sldId id="266" r:id="rId6"/>
    <p:sldId id="267" r:id="rId7"/>
    <p:sldId id="327" r:id="rId8"/>
    <p:sldId id="268" r:id="rId9"/>
    <p:sldId id="326" r:id="rId10"/>
    <p:sldId id="269" r:id="rId11"/>
    <p:sldId id="270" r:id="rId12"/>
    <p:sldId id="271" r:id="rId13"/>
    <p:sldId id="256" r:id="rId14"/>
    <p:sldId id="272" r:id="rId15"/>
    <p:sldId id="329" r:id="rId16"/>
    <p:sldId id="330" r:id="rId17"/>
    <p:sldId id="273" r:id="rId18"/>
    <p:sldId id="274" r:id="rId19"/>
    <p:sldId id="275" r:id="rId20"/>
    <p:sldId id="311" r:id="rId21"/>
    <p:sldId id="276" r:id="rId22"/>
    <p:sldId id="312" r:id="rId23"/>
    <p:sldId id="277" r:id="rId24"/>
    <p:sldId id="278" r:id="rId25"/>
    <p:sldId id="325" r:id="rId26"/>
    <p:sldId id="313" r:id="rId27"/>
    <p:sldId id="279" r:id="rId28"/>
    <p:sldId id="314" r:id="rId29"/>
    <p:sldId id="320" r:id="rId30"/>
    <p:sldId id="280" r:id="rId31"/>
    <p:sldId id="260" r:id="rId32"/>
    <p:sldId id="261" r:id="rId33"/>
    <p:sldId id="281" r:id="rId34"/>
    <p:sldId id="282" r:id="rId35"/>
    <p:sldId id="283" r:id="rId36"/>
    <p:sldId id="284" r:id="rId37"/>
    <p:sldId id="285" r:id="rId38"/>
    <p:sldId id="287" r:id="rId39"/>
    <p:sldId id="315" r:id="rId40"/>
    <p:sldId id="288" r:id="rId41"/>
    <p:sldId id="289" r:id="rId42"/>
    <p:sldId id="262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317" r:id="rId51"/>
    <p:sldId id="318" r:id="rId52"/>
    <p:sldId id="298" r:id="rId53"/>
    <p:sldId id="316" r:id="rId54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80"/>
    </p:cViewPr>
  </p:sorterViewPr>
  <p:notesViewPr>
    <p:cSldViewPr snapToGrid="0">
      <p:cViewPr varScale="1">
        <p:scale>
          <a:sx n="99" d="100"/>
          <a:sy n="99" d="100"/>
        </p:scale>
        <p:origin x="-2520" y="-10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B4A301C8-F792-4893-B8BF-826E734F460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7404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3" y="4721743"/>
            <a:ext cx="4991735" cy="447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fld id="{32CCC522-97FE-4A2E-80DA-5AEC1EDAE41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6756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577B82E-7981-4397-93CD-2566B2A224DB}" type="slidenum">
              <a:rPr lang="zh-TW" altLang="en-US" sz="1300"/>
              <a:pPr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1526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7E0904B-79EF-44CE-AD14-C765059117AA}" type="slidenum">
              <a:rPr lang="zh-TW" altLang="en-US" sz="1300"/>
              <a:pPr>
                <a:spcBef>
                  <a:spcPct val="0"/>
                </a:spcBef>
              </a:pPr>
              <a:t>2</a:t>
            </a:fld>
            <a:endParaRPr lang="en-US" altLang="zh-TW" sz="13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3901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A5CCB1F-2DB0-4E45-9A95-90062BCF6BF8}" type="slidenum">
              <a:rPr lang="zh-TW" altLang="en-US" sz="1300"/>
              <a:pPr>
                <a:spcBef>
                  <a:spcPct val="0"/>
                </a:spcBef>
              </a:pPr>
              <a:t>3</a:t>
            </a:fld>
            <a:endParaRPr lang="en-US" altLang="zh-TW" sz="13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7529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F102903-6D78-4A62-9413-066C7582D063}" type="slidenum">
              <a:rPr lang="zh-TW" altLang="en-US" sz="1300"/>
              <a:pPr>
                <a:spcBef>
                  <a:spcPct val="0"/>
                </a:spcBef>
              </a:pPr>
              <a:t>4</a:t>
            </a:fld>
            <a:endParaRPr lang="en-US" altLang="zh-TW" sz="13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0906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BD70570-6512-40D9-AE9B-EECEB913622B}" type="slidenum">
              <a:rPr lang="zh-TW" altLang="en-US" sz="1300"/>
              <a:pPr>
                <a:spcBef>
                  <a:spcPct val="0"/>
                </a:spcBef>
              </a:pPr>
              <a:t>5</a:t>
            </a:fld>
            <a:endParaRPr lang="en-US" altLang="zh-TW" sz="13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60456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579BEB1-B5AA-4AB6-B9B9-8F5085AD8CF2}" type="slidenum">
              <a:rPr lang="zh-TW" altLang="en-US" sz="1300"/>
              <a:pPr>
                <a:spcBef>
                  <a:spcPct val="0"/>
                </a:spcBef>
              </a:pPr>
              <a:t>6</a:t>
            </a:fld>
            <a:endParaRPr lang="en-US" altLang="zh-TW" sz="13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60300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3234AB8-68AF-467A-BE42-140A4FB49506}" type="slidenum">
              <a:rPr lang="zh-TW" altLang="en-US" sz="1300"/>
              <a:pPr>
                <a:spcBef>
                  <a:spcPct val="0"/>
                </a:spcBef>
              </a:pPr>
              <a:t>7</a:t>
            </a:fld>
            <a:endParaRPr lang="en-US" altLang="zh-TW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095304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1A2FF7F-E0A2-4C3B-A740-C2912282E3BA}" type="slidenum">
              <a:rPr lang="zh-TW" altLang="en-US" sz="1300"/>
              <a:pPr>
                <a:spcBef>
                  <a:spcPct val="0"/>
                </a:spcBef>
              </a:pPr>
              <a:t>8</a:t>
            </a:fld>
            <a:endParaRPr lang="en-US" altLang="zh-TW" sz="13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61516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343CA3F-0C95-4686-A9FD-42E26E989371}" type="slidenum">
              <a:rPr lang="zh-TW" altLang="en-US" sz="1300"/>
              <a:pPr>
                <a:spcBef>
                  <a:spcPct val="0"/>
                </a:spcBef>
              </a:pPr>
              <a:t>9</a:t>
            </a:fld>
            <a:endParaRPr lang="en-US" altLang="zh-TW" sz="13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71397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FFF0449-F29F-40B4-A5F8-EB9505D2CF3C}" type="slidenum">
              <a:rPr lang="zh-TW" altLang="en-US" sz="1300"/>
              <a:pPr>
                <a:spcBef>
                  <a:spcPct val="0"/>
                </a:spcBef>
              </a:pPr>
              <a:t>10</a:t>
            </a:fld>
            <a:endParaRPr lang="en-US" altLang="zh-TW" sz="13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68368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C20AC5B-B88B-4E1F-BB80-A2B61E386BD2}" type="slidenum">
              <a:rPr lang="zh-TW" altLang="en-US" sz="1300"/>
              <a:pPr>
                <a:spcBef>
                  <a:spcPct val="0"/>
                </a:spcBef>
              </a:pPr>
              <a:t>11</a:t>
            </a:fld>
            <a:endParaRPr lang="en-US" altLang="zh-TW" sz="13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93144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32AD4B0-A25E-4C10-8311-710655704004}" type="slidenum">
              <a:rPr lang="zh-TW" altLang="en-US" sz="1300"/>
              <a:pPr>
                <a:spcBef>
                  <a:spcPct val="0"/>
                </a:spcBef>
              </a:pPr>
              <a:t>12</a:t>
            </a:fld>
            <a:endParaRPr lang="en-US" altLang="zh-TW" sz="13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589545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3448AE7-9D32-459B-80C5-B5B55EF03762}" type="slidenum">
              <a:rPr lang="zh-TW" altLang="en-US" sz="1300"/>
              <a:pPr>
                <a:spcBef>
                  <a:spcPct val="0"/>
                </a:spcBef>
              </a:pPr>
              <a:t>13</a:t>
            </a:fld>
            <a:endParaRPr lang="en-US" altLang="zh-TW" sz="13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413410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A08BC38-5A1D-4457-AA3E-7A72921AF62C}" type="slidenum">
              <a:rPr lang="zh-TW" altLang="en-US" sz="1300"/>
              <a:pPr>
                <a:spcBef>
                  <a:spcPct val="0"/>
                </a:spcBef>
              </a:pPr>
              <a:t>14</a:t>
            </a:fld>
            <a:endParaRPr lang="en-US" altLang="zh-TW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71878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87C35B49-7A5A-4BF0-A5D0-72EE0BDED3F5}" type="slidenum">
              <a:rPr kumimoji="0" lang="en-US" altLang="en-US" sz="1300">
                <a:latin typeface="Times New Roman" pitchFamily="18" charset="0"/>
                <a:ea typeface="MS PGothic" pitchFamily="34" charset="-128"/>
              </a:rPr>
              <a:pPr/>
              <a:t>15</a:t>
            </a:fld>
            <a:endParaRPr kumimoji="0" lang="en-US" altLang="en-US" sz="13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7458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3842" indent="-286093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4372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2120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9869" indent="-228874" defTabSz="940928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7618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5366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33115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90863" indent="-228874" defTabSz="94092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fld id="{00B39B74-0D7A-4C9F-A875-B981ED5C48DE}" type="slidenum">
              <a:rPr kumimoji="0" lang="en-US" altLang="en-US" sz="1300">
                <a:latin typeface="Times New Roman" pitchFamily="18" charset="0"/>
                <a:ea typeface="MS PGothic" pitchFamily="34" charset="-128"/>
              </a:rPr>
              <a:pPr/>
              <a:t>16</a:t>
            </a:fld>
            <a:endParaRPr kumimoji="0" lang="en-US" altLang="en-US" sz="130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45270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2164704-2A88-476F-A635-8B8236918BE7}" type="slidenum">
              <a:rPr lang="zh-TW" altLang="en-US" sz="1300"/>
              <a:pPr>
                <a:spcBef>
                  <a:spcPct val="0"/>
                </a:spcBef>
              </a:pPr>
              <a:t>17</a:t>
            </a:fld>
            <a:endParaRPr lang="en-US" altLang="zh-TW" sz="13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31721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43DCCE5-AB6C-406E-91BF-89042BBBB380}" type="slidenum">
              <a:rPr lang="zh-TW" altLang="en-US" sz="1300"/>
              <a:pPr>
                <a:spcBef>
                  <a:spcPct val="0"/>
                </a:spcBef>
              </a:pPr>
              <a:t>18</a:t>
            </a:fld>
            <a:endParaRPr lang="en-US" altLang="zh-TW" sz="13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36498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5BDEFF8-2698-4D75-B0B4-FF504CDE9CA0}" type="slidenum">
              <a:rPr lang="zh-TW" altLang="en-US" sz="1300"/>
              <a:pPr>
                <a:spcBef>
                  <a:spcPct val="0"/>
                </a:spcBef>
              </a:pPr>
              <a:t>19</a:t>
            </a:fld>
            <a:endParaRPr lang="en-US" altLang="zh-TW" sz="13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370794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C003BEE-2A86-4BEF-946D-BC50D79F48C3}" type="slidenum">
              <a:rPr lang="zh-TW" altLang="en-US" sz="1300"/>
              <a:pPr>
                <a:spcBef>
                  <a:spcPct val="0"/>
                </a:spcBef>
              </a:pPr>
              <a:t>20</a:t>
            </a:fld>
            <a:endParaRPr lang="en-US" altLang="zh-TW" sz="13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19768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8D79400-E28C-41A1-A41F-B0427FA152B9}" type="slidenum">
              <a:rPr lang="zh-TW" altLang="en-US" sz="1300"/>
              <a:pPr>
                <a:spcBef>
                  <a:spcPct val="0"/>
                </a:spcBef>
              </a:pPr>
              <a:t>21</a:t>
            </a:fld>
            <a:endParaRPr lang="en-US" altLang="zh-TW" sz="13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62067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46B9590-CDF8-4B13-B369-BF01B3021116}" type="slidenum">
              <a:rPr lang="zh-TW" altLang="en-US" sz="1300"/>
              <a:pPr>
                <a:spcBef>
                  <a:spcPct val="0"/>
                </a:spcBef>
              </a:pPr>
              <a:t>22</a:t>
            </a:fld>
            <a:endParaRPr lang="en-US" altLang="zh-TW" sz="13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565089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78A557A-B518-49F6-BD60-066E9FFD648E}" type="slidenum">
              <a:rPr lang="zh-TW" altLang="en-US" sz="1300"/>
              <a:pPr>
                <a:spcBef>
                  <a:spcPct val="0"/>
                </a:spcBef>
              </a:pPr>
              <a:t>23</a:t>
            </a:fld>
            <a:endParaRPr lang="en-US" altLang="zh-TW" sz="13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939557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2F5F6F9-BFF2-4001-ACDB-8A9E66D0BCF2}" type="slidenum">
              <a:rPr lang="zh-TW" altLang="en-US" sz="1300"/>
              <a:pPr>
                <a:spcBef>
                  <a:spcPct val="0"/>
                </a:spcBef>
              </a:pPr>
              <a:t>24</a:t>
            </a:fld>
            <a:endParaRPr lang="en-US" altLang="zh-TW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53102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E258179-5A78-40AE-B428-2A4B34AFEA8A}" type="slidenum">
              <a:rPr lang="zh-TW" altLang="en-US" sz="1300"/>
              <a:pPr>
                <a:spcBef>
                  <a:spcPct val="0"/>
                </a:spcBef>
              </a:pPr>
              <a:t>25</a:t>
            </a:fld>
            <a:endParaRPr lang="en-US" altLang="zh-TW" sz="13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28870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C0FB3B-9C0F-4D5C-8894-08F86D8FED86}" type="slidenum">
              <a:rPr lang="zh-TW" altLang="en-US" sz="1300"/>
              <a:pPr>
                <a:spcBef>
                  <a:spcPct val="0"/>
                </a:spcBef>
              </a:pPr>
              <a:t>26</a:t>
            </a:fld>
            <a:endParaRPr lang="en-US" altLang="zh-TW" sz="13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3748774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6E3F463-2CDE-4DE5-A458-7726E8987C5D}" type="slidenum">
              <a:rPr lang="zh-TW" altLang="en-US" sz="1300"/>
              <a:pPr>
                <a:spcBef>
                  <a:spcPct val="0"/>
                </a:spcBef>
              </a:pPr>
              <a:t>27</a:t>
            </a:fld>
            <a:endParaRPr lang="en-US" altLang="zh-TW" sz="13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964603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F679009-2E05-4975-8FC4-552838AD0CB2}" type="slidenum">
              <a:rPr lang="zh-TW" altLang="en-US" sz="1300"/>
              <a:pPr>
                <a:spcBef>
                  <a:spcPct val="0"/>
                </a:spcBef>
              </a:pPr>
              <a:t>28</a:t>
            </a:fld>
            <a:endParaRPr lang="en-US" altLang="zh-TW" sz="13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731938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D0FE501-A741-4251-9396-53F5FDD998A6}" type="slidenum">
              <a:rPr lang="zh-TW" altLang="en-US" sz="1300"/>
              <a:pPr>
                <a:spcBef>
                  <a:spcPct val="0"/>
                </a:spcBef>
              </a:pPr>
              <a:t>29</a:t>
            </a:fld>
            <a:endParaRPr lang="en-US" altLang="zh-TW" sz="13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711942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5C1D59A-565D-48E5-BDA4-20CAE2EE9D25}" type="slidenum">
              <a:rPr lang="zh-TW" altLang="en-US" sz="1300"/>
              <a:pPr>
                <a:spcBef>
                  <a:spcPct val="0"/>
                </a:spcBef>
              </a:pPr>
              <a:t>30</a:t>
            </a:fld>
            <a:endParaRPr lang="en-US" altLang="zh-TW" sz="13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51637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4FE40E3-3202-43A4-8BDA-04E7756E295F}" type="slidenum">
              <a:rPr lang="zh-TW" altLang="en-US" sz="1300"/>
              <a:pPr>
                <a:spcBef>
                  <a:spcPct val="0"/>
                </a:spcBef>
              </a:pPr>
              <a:t>31</a:t>
            </a:fld>
            <a:endParaRPr lang="en-US" altLang="zh-TW" sz="13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273908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37CD6B9-F5F8-4356-84E4-52A2F26A8EE8}" type="slidenum">
              <a:rPr lang="zh-TW" altLang="en-US" sz="1300"/>
              <a:pPr>
                <a:spcBef>
                  <a:spcPct val="0"/>
                </a:spcBef>
              </a:pPr>
              <a:t>32</a:t>
            </a:fld>
            <a:endParaRPr lang="en-US" altLang="zh-TW" sz="13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50226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B3C58B2-7B0A-44BE-95B2-97E66BAE295B}" type="slidenum">
              <a:rPr lang="zh-TW" altLang="en-US" sz="1300"/>
              <a:pPr>
                <a:spcBef>
                  <a:spcPct val="0"/>
                </a:spcBef>
              </a:pPr>
              <a:t>33</a:t>
            </a:fld>
            <a:endParaRPr lang="en-US" altLang="zh-TW" sz="13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3920267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9ADF8995-7FB1-4EAF-8268-2EB79198E0F1}" type="slidenum">
              <a:rPr lang="zh-TW" altLang="en-US" sz="1300"/>
              <a:pPr>
                <a:spcBef>
                  <a:spcPct val="0"/>
                </a:spcBef>
              </a:pPr>
              <a:t>34</a:t>
            </a:fld>
            <a:endParaRPr lang="en-US" altLang="zh-TW" sz="13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33740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6AFE99B-BFDD-49BE-8570-BA08EE98A8F1}" type="slidenum">
              <a:rPr lang="zh-TW" altLang="en-US" sz="1300"/>
              <a:pPr>
                <a:spcBef>
                  <a:spcPct val="0"/>
                </a:spcBef>
              </a:pPr>
              <a:t>35</a:t>
            </a:fld>
            <a:endParaRPr lang="en-US" altLang="zh-TW" sz="13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0174673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0216960-1A5A-45B4-B2D8-F45DE66D636A}" type="slidenum">
              <a:rPr lang="zh-TW" altLang="en-US" sz="1300"/>
              <a:pPr>
                <a:spcBef>
                  <a:spcPct val="0"/>
                </a:spcBef>
              </a:pPr>
              <a:t>36</a:t>
            </a:fld>
            <a:endParaRPr lang="en-US" altLang="zh-TW" sz="13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1397228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EADBA57-0AC0-4E47-B7B6-604FB2EF4AF8}" type="slidenum">
              <a:rPr lang="zh-TW" altLang="en-US" sz="1300"/>
              <a:pPr>
                <a:spcBef>
                  <a:spcPct val="0"/>
                </a:spcBef>
              </a:pPr>
              <a:t>37</a:t>
            </a:fld>
            <a:endParaRPr lang="en-US" altLang="zh-TW" sz="13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198717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74B991B-FE8C-4306-937E-EE2782DDB609}" type="slidenum">
              <a:rPr lang="zh-TW" altLang="en-US" sz="1300"/>
              <a:pPr>
                <a:spcBef>
                  <a:spcPct val="0"/>
                </a:spcBef>
              </a:pPr>
              <a:t>38</a:t>
            </a:fld>
            <a:endParaRPr lang="en-US" altLang="zh-TW" sz="13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974492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50F1810-FABC-4924-AF9E-CB9D5A0B8CC2}" type="slidenum">
              <a:rPr lang="zh-TW" altLang="en-US" sz="1300"/>
              <a:pPr>
                <a:spcBef>
                  <a:spcPct val="0"/>
                </a:spcBef>
              </a:pPr>
              <a:t>39</a:t>
            </a:fld>
            <a:endParaRPr lang="en-US" altLang="zh-TW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5370915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2D4EB65-5BA4-4607-BD17-53E857CFA715}" type="slidenum">
              <a:rPr lang="zh-TW" altLang="en-US" sz="1300"/>
              <a:pPr>
                <a:spcBef>
                  <a:spcPct val="0"/>
                </a:spcBef>
              </a:pPr>
              <a:t>40</a:t>
            </a:fld>
            <a:endParaRPr lang="en-US" altLang="zh-TW" sz="13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50885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F175299-0ECF-452E-8180-9FCC57E7B405}" type="slidenum">
              <a:rPr lang="zh-TW" altLang="en-US" sz="1300"/>
              <a:pPr>
                <a:spcBef>
                  <a:spcPct val="0"/>
                </a:spcBef>
              </a:pPr>
              <a:t>41</a:t>
            </a:fld>
            <a:endParaRPr lang="en-US" altLang="zh-TW" sz="13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62975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B152910-993B-4DED-98F9-AC3083B5EE99}" type="slidenum">
              <a:rPr lang="zh-TW" altLang="en-US" sz="1300"/>
              <a:pPr>
                <a:spcBef>
                  <a:spcPct val="0"/>
                </a:spcBef>
              </a:pPr>
              <a:t>42</a:t>
            </a:fld>
            <a:endParaRPr lang="en-US" altLang="zh-TW" sz="13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647701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FE35FD6-7B0E-467B-98B5-C9F546E966CE}" type="slidenum">
              <a:rPr lang="zh-TW" altLang="en-US" sz="1300"/>
              <a:pPr>
                <a:spcBef>
                  <a:spcPct val="0"/>
                </a:spcBef>
              </a:pPr>
              <a:t>43</a:t>
            </a:fld>
            <a:endParaRPr lang="en-US" altLang="zh-TW" sz="13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439384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4ACFC08-6DF1-4CE6-A4DA-6E1752163C46}" type="slidenum">
              <a:rPr lang="zh-TW" altLang="en-US" sz="1300"/>
              <a:pPr>
                <a:spcBef>
                  <a:spcPct val="0"/>
                </a:spcBef>
              </a:pPr>
              <a:t>44</a:t>
            </a:fld>
            <a:endParaRPr lang="en-US" altLang="zh-TW" sz="13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6122660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262A979-674E-457E-8133-0E10763C5ED0}" type="slidenum">
              <a:rPr lang="zh-TW" altLang="en-US" sz="1300"/>
              <a:pPr>
                <a:spcBef>
                  <a:spcPct val="0"/>
                </a:spcBef>
              </a:pPr>
              <a:t>45</a:t>
            </a:fld>
            <a:endParaRPr lang="en-US" altLang="zh-TW" sz="13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271675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E76F533-F1BD-47E6-A74A-582308DF2C11}" type="slidenum">
              <a:rPr lang="zh-TW" altLang="en-US" sz="1300"/>
              <a:pPr>
                <a:spcBef>
                  <a:spcPct val="0"/>
                </a:spcBef>
              </a:pPr>
              <a:t>46</a:t>
            </a:fld>
            <a:endParaRPr lang="en-US" altLang="zh-TW" sz="13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306048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A9A072C-6AEE-4330-B297-266C1E5AFB3A}" type="slidenum">
              <a:rPr lang="zh-TW" altLang="en-US" sz="1300"/>
              <a:pPr>
                <a:spcBef>
                  <a:spcPct val="0"/>
                </a:spcBef>
              </a:pPr>
              <a:t>47</a:t>
            </a:fld>
            <a:endParaRPr lang="en-US" altLang="zh-TW" sz="13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129417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E7AF8CB-8387-42DF-97C3-5D1D5F4347F6}" type="slidenum">
              <a:rPr lang="zh-TW" altLang="en-US" sz="1300"/>
              <a:pPr>
                <a:spcBef>
                  <a:spcPct val="0"/>
                </a:spcBef>
              </a:pPr>
              <a:t>48</a:t>
            </a:fld>
            <a:endParaRPr lang="en-US" altLang="zh-TW" sz="13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987929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93D7411-2550-4FD0-9B11-F45C5EF76D3A}" type="slidenum">
              <a:rPr lang="zh-TW" altLang="en-US" sz="1300"/>
              <a:pPr>
                <a:spcBef>
                  <a:spcPct val="0"/>
                </a:spcBef>
              </a:pPr>
              <a:t>49</a:t>
            </a:fld>
            <a:endParaRPr lang="en-US" altLang="zh-TW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103933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C7D2F83-0F1A-4692-BEDF-23490E3DC8B9}" type="slidenum">
              <a:rPr lang="zh-TW" altLang="en-US" sz="1300"/>
              <a:pPr>
                <a:spcBef>
                  <a:spcPct val="0"/>
                </a:spcBef>
              </a:pPr>
              <a:t>50</a:t>
            </a:fld>
            <a:endParaRPr lang="en-US" altLang="zh-TW" sz="13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3121961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3EEED71-ED1D-4380-BC37-C8954789CC1F}" type="slidenum">
              <a:rPr lang="zh-TW" altLang="en-US" sz="1300"/>
              <a:pPr>
                <a:spcBef>
                  <a:spcPct val="0"/>
                </a:spcBef>
              </a:pPr>
              <a:t>51</a:t>
            </a:fld>
            <a:endParaRPr lang="en-US" altLang="zh-TW" sz="13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4067451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E3D773F-D615-47F0-ACC2-47C1E427D0E0}" type="slidenum">
              <a:rPr lang="zh-TW" altLang="en-US" sz="1300"/>
              <a:pPr>
                <a:spcBef>
                  <a:spcPct val="0"/>
                </a:spcBef>
              </a:pPr>
              <a:t>52</a:t>
            </a:fld>
            <a:endParaRPr lang="en-US" altLang="zh-TW" sz="13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9177395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3842" indent="-286093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4372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2120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9869" indent="-228874" defTabSz="96635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7618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5366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33115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90863" indent="-228874" defTabSz="96635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8FBCFD0-7EDF-45B6-84C8-7C2A7B8CBF11}" type="slidenum">
              <a:rPr lang="zh-TW" altLang="en-US" sz="1300"/>
              <a:pPr>
                <a:spcBef>
                  <a:spcPct val="0"/>
                </a:spcBef>
              </a:pPr>
              <a:t>53</a:t>
            </a:fld>
            <a:endParaRPr lang="en-US" altLang="zh-TW" sz="13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00887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9222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9222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45600E-C01C-4F47-97FB-80FE01A11F97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2E5B2-513F-4DF5-A8C5-EBF1918392C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910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EBE10-9B69-4BBC-86C7-D49A911AB7BD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6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438CD-8B6A-4A48-B857-777357D2539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96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4E9FB-7D48-4EFB-BE0D-CC3F6E1AF2C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6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13A91-804F-4E9A-9A42-EE78A6A77AA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390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15420-E92A-48FA-A786-AC2B9CD39678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7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5B0F4-7CD9-423A-B843-77B348CE776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481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130ED-7BE0-4BC3-A008-FFDC9FD18F8D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8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9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A0C07-2CBD-4BF3-B325-D6FD8D79097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5458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FF82D-092F-45C5-8383-C79A9AD2B8A6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4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5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70734-E623-4B20-9258-B5BA7F8AB3B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767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F3B55-B21C-4CEA-BC19-A205B971CEC5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3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4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95B9C-CF57-4025-AB9A-2D7789C0307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432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306C2-6E44-4EB2-B74E-280ADBEF4763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7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82B8E-85FF-499D-988B-8045A4BBA0E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604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2511-6CFE-4F4A-9B27-02CC7BCA6E44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6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7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A7425-2F1B-4047-A315-7EAD2074A3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233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75EEC-86E7-40C5-9B9C-3267751C66DA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6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2FB383-34BE-428E-8A1D-338CB8A92B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341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313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78875-95B8-47CB-B7AB-F484A6F7FE49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5" name="Rectangle 313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6" name="Rectangle 313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258CF-9D13-424D-A05C-461C4C6905F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698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074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075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3076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3077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3078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3079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3080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3081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3082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3083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3084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3085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3086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3087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3088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3089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3090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3091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3092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3093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3094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3095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3096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3097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3098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3099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3100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3101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102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03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104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105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106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107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108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109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110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111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3112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3113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3114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3115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3116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3117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3118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3119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3120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3121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3122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3123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3124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3125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3126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3127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3128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3129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3130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3131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3132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3133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3134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313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136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91201" name="Rectangle 313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/>
            </a:lvl1pPr>
          </a:lstStyle>
          <a:p>
            <a:pPr>
              <a:defRPr/>
            </a:pPr>
            <a:fld id="{20ECE23A-4095-407C-83B6-24AA40CEEE04}" type="datetime1">
              <a:rPr lang="zh-TW" altLang="en-US" smtClean="0"/>
              <a:t>2018/4/12</a:t>
            </a:fld>
            <a:endParaRPr lang="en-US" altLang="zh-TW"/>
          </a:p>
        </p:txBody>
      </p:sp>
      <p:sp>
        <p:nvSpPr>
          <p:cNvPr id="91202" name="Rectangle 313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/>
            </a:lvl1pPr>
          </a:lstStyle>
          <a:p>
            <a:pPr>
              <a:defRPr/>
            </a:pPr>
            <a:r>
              <a:rPr lang="en-US" altLang="zh-TW" smtClean="0"/>
              <a:t>os7-2018</a:t>
            </a:r>
            <a:endParaRPr lang="en-US" altLang="zh-TW"/>
          </a:p>
        </p:txBody>
      </p:sp>
      <p:sp>
        <p:nvSpPr>
          <p:cNvPr id="91203" name="Rectangle 313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50B0C7B8-9BCC-4117-A639-AEE984635E1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562F9C-A72C-460B-8F9D-8A10B2D678D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724827-20E4-41C9-B1E0-392EFBBF2E9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smtClean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3500"/>
            <a:ext cx="7237413" cy="13858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Chapter 7 </a:t>
            </a:r>
            <a:br>
              <a:rPr lang="en-US" altLang="zh-TW" sz="4800" smtClean="0"/>
            </a:br>
            <a:r>
              <a:rPr lang="en-US" altLang="zh-TW" sz="4800" smtClean="0"/>
              <a:t>Deadlocks</a:t>
            </a:r>
            <a:endParaRPr lang="en-US" altLang="zh-TW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A652C97-A6B0-48FB-B09C-B428CCF780E0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58DC86-0339-472E-9D99-F1243EC3E23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6438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38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950913"/>
            <a:ext cx="8145463" cy="4899025"/>
          </a:xfrm>
        </p:spPr>
        <p:txBody>
          <a:bodyPr/>
          <a:lstStyle/>
          <a:p>
            <a:pPr eaLnBrk="1" hangingPunct="1"/>
            <a:r>
              <a:rPr lang="en-US" altLang="zh-TW" smtClean="0"/>
              <a:t>System Model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Deadlock Characterization</a:t>
            </a:r>
          </a:p>
          <a:p>
            <a:pPr eaLnBrk="1" hangingPunct="1"/>
            <a:r>
              <a:rPr lang="en-US" altLang="zh-TW" smtClean="0"/>
              <a:t>Methods for Handling Deadlocks</a:t>
            </a:r>
          </a:p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Prevention</a:t>
            </a:r>
          </a:p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Avoidance</a:t>
            </a:r>
          </a:p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Detection</a:t>
            </a:r>
            <a:r>
              <a:rPr lang="en-US" altLang="zh-TW" smtClean="0"/>
              <a:t> 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Recovery</a:t>
            </a:r>
            <a:r>
              <a:rPr lang="en-US" altLang="zh-TW" smtClean="0"/>
              <a:t> from Deadlock </a:t>
            </a:r>
          </a:p>
          <a:p>
            <a:pPr eaLnBrk="1" hangingPunct="1"/>
            <a:r>
              <a:rPr lang="en-US" altLang="zh-TW" smtClean="0"/>
              <a:t>Combined Approach to Deadlock Handling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54D2D9-98EB-4B6F-B1DB-4DBA114CA1DC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2B2F8CA-55AD-4AEA-9740-A8E5C90936D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6438"/>
          </a:xfrm>
        </p:spPr>
        <p:txBody>
          <a:bodyPr/>
          <a:lstStyle/>
          <a:p>
            <a:pPr eaLnBrk="1" hangingPunct="1"/>
            <a:r>
              <a:rPr lang="en-US" altLang="zh-TW" smtClean="0"/>
              <a:t>Objectives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950913"/>
            <a:ext cx="8145463" cy="4899025"/>
          </a:xfrm>
        </p:spPr>
        <p:txBody>
          <a:bodyPr/>
          <a:lstStyle/>
          <a:p>
            <a:pPr eaLnBrk="1" hangingPunct="1">
              <a:spcBef>
                <a:spcPts val="2400"/>
              </a:spcBef>
            </a:pPr>
            <a:r>
              <a:rPr lang="en-US" altLang="zh-TW" smtClean="0"/>
              <a:t>To develop a description of deadlocks, which prevent sets of concurrent processes from completing their tasks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zh-TW" smtClean="0"/>
              <a:t>To present a number of different methods for </a:t>
            </a:r>
            <a:r>
              <a:rPr lang="en-US" altLang="zh-TW" smtClean="0">
                <a:solidFill>
                  <a:srgbClr val="FF0000"/>
                </a:solidFill>
              </a:rPr>
              <a:t>preventing or avoiding deadlocks </a:t>
            </a:r>
            <a:r>
              <a:rPr lang="en-US" altLang="zh-TW" smtClean="0"/>
              <a:t>in a computer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94A4E5-EA54-426A-8A2C-2F1A5BF4AFE1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F95A2E-3588-4B21-A1AC-3CF364D6DD5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smtClean="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379413"/>
            <a:ext cx="7772400" cy="512762"/>
          </a:xfrm>
        </p:spPr>
        <p:txBody>
          <a:bodyPr/>
          <a:lstStyle/>
          <a:p>
            <a:pPr eaLnBrk="1" hangingPunct="1"/>
            <a:r>
              <a:rPr lang="en-US" altLang="zh-TW" smtClean="0"/>
              <a:t>The Deadlock Problem</a:t>
            </a:r>
          </a:p>
        </p:txBody>
      </p:sp>
      <p:sp>
        <p:nvSpPr>
          <p:cNvPr id="39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0675" y="769938"/>
            <a:ext cx="8585200" cy="52133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 set of blocked processes each </a:t>
            </a:r>
            <a:r>
              <a:rPr lang="en-US" altLang="zh-TW" sz="2800" smtClean="0">
                <a:solidFill>
                  <a:srgbClr val="FF0000"/>
                </a:solidFill>
              </a:rPr>
              <a:t>holding a resource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FF0000"/>
                </a:solidFill>
              </a:rPr>
              <a:t>waiting to acquire a resource</a:t>
            </a:r>
            <a:r>
              <a:rPr lang="en-US" altLang="zh-TW" sz="2800" smtClean="0"/>
              <a:t> held by another process in the set.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/>
              <a:t>Example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System has 2 tape drives.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P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 and 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 each hold one tape drive and each needs another one.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/>
              <a:t>Example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semaphores </a:t>
            </a:r>
            <a:r>
              <a:rPr lang="en-US" altLang="zh-TW" sz="2400" i="1" smtClean="0"/>
              <a:t>A</a:t>
            </a:r>
            <a:r>
              <a:rPr lang="en-US" altLang="zh-TW" sz="2400" smtClean="0"/>
              <a:t> and</a:t>
            </a:r>
            <a:r>
              <a:rPr lang="en-US" altLang="zh-TW" sz="2400" i="1" smtClean="0"/>
              <a:t> B</a:t>
            </a:r>
            <a:r>
              <a:rPr lang="en-US" altLang="zh-TW" sz="2400" smtClean="0"/>
              <a:t>, initialized to 1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    </a:t>
            </a:r>
            <a:r>
              <a:rPr lang="en-US" altLang="zh-TW" sz="1800" i="1" smtClean="0"/>
              <a:t>P</a:t>
            </a:r>
            <a:r>
              <a:rPr lang="en-US" altLang="zh-TW" sz="1800" baseline="-25000" smtClean="0"/>
              <a:t>0</a:t>
            </a:r>
            <a:r>
              <a:rPr lang="en-US" altLang="zh-TW" sz="1800" smtClean="0"/>
              <a:t>		               </a:t>
            </a:r>
            <a:r>
              <a:rPr lang="en-US" altLang="zh-TW" sz="1800" i="1" smtClean="0"/>
              <a:t>P</a:t>
            </a:r>
            <a:r>
              <a:rPr lang="en-US" altLang="zh-TW" sz="1800" baseline="-25000" smtClean="0"/>
              <a:t>1</a:t>
            </a:r>
            <a:endParaRPr lang="en-US" altLang="zh-TW" sz="1800" smtClean="0">
              <a:solidFill>
                <a:srgbClr val="FF0000"/>
              </a:solidFill>
            </a:endParaRP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i="1" smtClean="0">
                <a:solidFill>
                  <a:srgbClr val="FF0000"/>
                </a:solidFill>
              </a:rPr>
              <a:t>wait </a:t>
            </a:r>
            <a:r>
              <a:rPr lang="en-US" altLang="zh-TW" sz="1800" smtClean="0">
                <a:solidFill>
                  <a:srgbClr val="FF0000"/>
                </a:solidFill>
              </a:rPr>
              <a:t>(</a:t>
            </a:r>
            <a:r>
              <a:rPr lang="en-US" altLang="zh-TW" sz="1800" i="1" smtClean="0">
                <a:solidFill>
                  <a:srgbClr val="FF0000"/>
                </a:solidFill>
              </a:rPr>
              <a:t>A</a:t>
            </a:r>
            <a:r>
              <a:rPr lang="en-US" altLang="zh-TW" sz="1800" smtClean="0">
                <a:solidFill>
                  <a:srgbClr val="FF0000"/>
                </a:solidFill>
              </a:rPr>
              <a:t>);</a:t>
            </a:r>
            <a:r>
              <a:rPr lang="en-US" altLang="zh-TW" sz="1800" i="1" smtClean="0"/>
              <a:t>	</a:t>
            </a:r>
            <a:r>
              <a:rPr lang="en-US" altLang="zh-TW" sz="1800" i="1" smtClean="0">
                <a:solidFill>
                  <a:srgbClr val="FF0000"/>
                </a:solidFill>
              </a:rPr>
              <a:t>		wait</a:t>
            </a:r>
            <a:r>
              <a:rPr lang="en-US" altLang="zh-TW" sz="1800" smtClean="0">
                <a:solidFill>
                  <a:srgbClr val="FF0000"/>
                </a:solidFill>
              </a:rPr>
              <a:t>(</a:t>
            </a:r>
            <a:r>
              <a:rPr lang="en-US" altLang="zh-TW" sz="1800" i="1" smtClean="0">
                <a:solidFill>
                  <a:srgbClr val="FF0000"/>
                </a:solidFill>
              </a:rPr>
              <a:t>B</a:t>
            </a:r>
            <a:r>
              <a:rPr lang="en-US" altLang="zh-TW" sz="1800" smtClean="0">
                <a:solidFill>
                  <a:srgbClr val="FF0000"/>
                </a:solidFill>
              </a:rPr>
              <a:t>)</a:t>
            </a:r>
            <a:r>
              <a:rPr lang="en-US" altLang="zh-TW" sz="1800" i="1" smtClean="0">
                <a:solidFill>
                  <a:srgbClr val="FF0000"/>
                </a:solidFill>
              </a:rPr>
              <a:t>;</a:t>
            </a:r>
          </a:p>
          <a:p>
            <a:pPr lvl="4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i="1" smtClean="0">
                <a:solidFill>
                  <a:srgbClr val="0000FF"/>
                </a:solidFill>
              </a:rPr>
              <a:t>signal </a:t>
            </a:r>
            <a:r>
              <a:rPr lang="en-US" altLang="zh-TW" sz="1800" smtClean="0">
                <a:solidFill>
                  <a:srgbClr val="0000FF"/>
                </a:solidFill>
              </a:rPr>
              <a:t>(</a:t>
            </a:r>
            <a:r>
              <a:rPr lang="en-US" altLang="zh-TW" sz="1800" i="1" smtClean="0">
                <a:solidFill>
                  <a:srgbClr val="0000FF"/>
                </a:solidFill>
              </a:rPr>
              <a:t>B</a:t>
            </a:r>
            <a:r>
              <a:rPr lang="en-US" altLang="zh-TW" sz="1800" smtClean="0">
                <a:solidFill>
                  <a:srgbClr val="0000FF"/>
                </a:solidFill>
              </a:rPr>
              <a:t>);</a:t>
            </a:r>
            <a:r>
              <a:rPr lang="en-US" altLang="zh-TW" sz="1800" i="1" smtClean="0"/>
              <a:t> 		</a:t>
            </a:r>
            <a:r>
              <a:rPr lang="en-US" altLang="zh-TW" sz="1800" i="1" smtClean="0">
                <a:solidFill>
                  <a:srgbClr val="0000FF"/>
                </a:solidFill>
              </a:rPr>
              <a:t>signal </a:t>
            </a:r>
            <a:r>
              <a:rPr lang="en-US" altLang="zh-TW" sz="1800" smtClean="0">
                <a:solidFill>
                  <a:srgbClr val="0000FF"/>
                </a:solidFill>
              </a:rPr>
              <a:t>(</a:t>
            </a:r>
            <a:r>
              <a:rPr lang="en-US" altLang="zh-TW" sz="1800" i="1" smtClean="0">
                <a:solidFill>
                  <a:srgbClr val="0000FF"/>
                </a:solidFill>
              </a:rPr>
              <a:t>A</a:t>
            </a:r>
            <a:r>
              <a:rPr lang="en-US" altLang="zh-TW" sz="1800" smtClean="0">
                <a:solidFill>
                  <a:srgbClr val="0000FF"/>
                </a:solidFill>
              </a:rPr>
              <a:t>);</a:t>
            </a:r>
            <a:endParaRPr lang="en-US" altLang="zh-TW" sz="1800" i="1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C963DC-8199-4776-972A-712C956EDF7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71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71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DCD104-6C86-4157-BB5E-DCB861737E4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287338"/>
            <a:ext cx="7772400" cy="461962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Bridge Crossing Example</a:t>
            </a:r>
            <a:endParaRPr lang="en-US" altLang="zh-TW" smtClean="0"/>
          </a:p>
        </p:txBody>
      </p:sp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25475" y="2254250"/>
            <a:ext cx="8074025" cy="3803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Traffic only in one direction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Each section of a bridge can be viewed as a resource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If a deadlock occurs, it can be resolved if one car backs up </a:t>
            </a:r>
            <a:r>
              <a:rPr lang="en-US" altLang="zh-TW" sz="2800" smtClean="0">
                <a:solidFill>
                  <a:srgbClr val="FF0000"/>
                </a:solidFill>
              </a:rPr>
              <a:t>(preempt resources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FF0000"/>
                </a:solidFill>
              </a:rPr>
              <a:t>rollback</a:t>
            </a:r>
            <a:r>
              <a:rPr lang="en-US" altLang="zh-TW" sz="2800" smtClean="0"/>
              <a:t>)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Several</a:t>
            </a:r>
            <a:r>
              <a:rPr lang="en-US" altLang="zh-TW" sz="2800" smtClean="0"/>
              <a:t> cars may have to be backed up if a deadlock occurs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Starvation</a:t>
            </a:r>
            <a:r>
              <a:rPr lang="en-US" altLang="zh-TW" sz="2800" smtClean="0"/>
              <a:t> is possible</a:t>
            </a:r>
          </a:p>
        </p:txBody>
      </p:sp>
      <p:grpSp>
        <p:nvGrpSpPr>
          <p:cNvPr id="7175" name="Group 35"/>
          <p:cNvGrpSpPr>
            <a:grpSpLocks/>
          </p:cNvGrpSpPr>
          <p:nvPr/>
        </p:nvGrpSpPr>
        <p:grpSpPr bwMode="auto">
          <a:xfrm>
            <a:off x="823913" y="760413"/>
            <a:ext cx="6276975" cy="1371600"/>
            <a:chOff x="798" y="1008"/>
            <a:chExt cx="3954" cy="864"/>
          </a:xfrm>
        </p:grpSpPr>
        <p:grpSp>
          <p:nvGrpSpPr>
            <p:cNvPr id="7176" name="Group 11"/>
            <p:cNvGrpSpPr>
              <a:grpSpLocks/>
            </p:cNvGrpSpPr>
            <p:nvPr/>
          </p:nvGrpSpPr>
          <p:grpSpPr bwMode="auto">
            <a:xfrm>
              <a:off x="816" y="1008"/>
              <a:ext cx="3936" cy="240"/>
              <a:chOff x="672" y="1008"/>
              <a:chExt cx="3936" cy="240"/>
            </a:xfrm>
          </p:grpSpPr>
          <p:sp>
            <p:nvSpPr>
              <p:cNvPr id="7200" name="Line 6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201" name="Line 7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202" name="Line 8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203" name="Line 9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204" name="Line 10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177" name="Group 12"/>
            <p:cNvGrpSpPr>
              <a:grpSpLocks/>
            </p:cNvGrpSpPr>
            <p:nvPr/>
          </p:nvGrpSpPr>
          <p:grpSpPr bwMode="auto">
            <a:xfrm flipV="1">
              <a:off x="816" y="1632"/>
              <a:ext cx="3936" cy="240"/>
              <a:chOff x="672" y="1008"/>
              <a:chExt cx="3936" cy="240"/>
            </a:xfrm>
          </p:grpSpPr>
          <p:sp>
            <p:nvSpPr>
              <p:cNvPr id="7195" name="Line 13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196" name="Line 14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197" name="Line 15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198" name="Line 16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199" name="Line 17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178" name="Group 22"/>
            <p:cNvGrpSpPr>
              <a:grpSpLocks/>
            </p:cNvGrpSpPr>
            <p:nvPr/>
          </p:nvGrpSpPr>
          <p:grpSpPr bwMode="auto">
            <a:xfrm>
              <a:off x="1512" y="1614"/>
              <a:ext cx="288" cy="162"/>
              <a:chOff x="1056" y="1614"/>
              <a:chExt cx="288" cy="162"/>
            </a:xfrm>
          </p:grpSpPr>
          <p:sp>
            <p:nvSpPr>
              <p:cNvPr id="7193" name="Rectangle 18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7194" name="Rectangle 19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sp>
          <p:nvSpPr>
            <p:cNvPr id="7179" name="Line 20"/>
            <p:cNvSpPr>
              <a:spLocks noChangeShapeType="1"/>
            </p:cNvSpPr>
            <p:nvPr/>
          </p:nvSpPr>
          <p:spPr bwMode="auto">
            <a:xfrm>
              <a:off x="798" y="1428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80" name="Line 21"/>
            <p:cNvSpPr>
              <a:spLocks noChangeShapeType="1"/>
            </p:cNvSpPr>
            <p:nvPr/>
          </p:nvSpPr>
          <p:spPr bwMode="auto">
            <a:xfrm>
              <a:off x="3444" y="1422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181" name="Group 23"/>
            <p:cNvGrpSpPr>
              <a:grpSpLocks/>
            </p:cNvGrpSpPr>
            <p:nvPr/>
          </p:nvGrpSpPr>
          <p:grpSpPr bwMode="auto">
            <a:xfrm>
              <a:off x="2382" y="1344"/>
              <a:ext cx="288" cy="162"/>
              <a:chOff x="1056" y="1614"/>
              <a:chExt cx="288" cy="162"/>
            </a:xfrm>
          </p:grpSpPr>
          <p:sp>
            <p:nvSpPr>
              <p:cNvPr id="7191" name="Rectangle 24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7192" name="Rectangle 25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7182" name="Group 26"/>
            <p:cNvGrpSpPr>
              <a:grpSpLocks/>
            </p:cNvGrpSpPr>
            <p:nvPr/>
          </p:nvGrpSpPr>
          <p:grpSpPr bwMode="auto">
            <a:xfrm flipH="1">
              <a:off x="2838" y="1344"/>
              <a:ext cx="288" cy="162"/>
              <a:chOff x="1056" y="1614"/>
              <a:chExt cx="288" cy="162"/>
            </a:xfrm>
          </p:grpSpPr>
          <p:sp>
            <p:nvSpPr>
              <p:cNvPr id="7189" name="Rectangle 27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7190" name="Rectangle 28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7183" name="Group 29"/>
            <p:cNvGrpSpPr>
              <a:grpSpLocks/>
            </p:cNvGrpSpPr>
            <p:nvPr/>
          </p:nvGrpSpPr>
          <p:grpSpPr bwMode="auto">
            <a:xfrm flipH="1">
              <a:off x="3822" y="1140"/>
              <a:ext cx="288" cy="162"/>
              <a:chOff x="1056" y="1614"/>
              <a:chExt cx="288" cy="162"/>
            </a:xfrm>
          </p:grpSpPr>
          <p:sp>
            <p:nvSpPr>
              <p:cNvPr id="7187" name="Rectangle 30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7188" name="Rectangle 31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  <p:grpSp>
          <p:nvGrpSpPr>
            <p:cNvPr id="7184" name="Group 32"/>
            <p:cNvGrpSpPr>
              <a:grpSpLocks/>
            </p:cNvGrpSpPr>
            <p:nvPr/>
          </p:nvGrpSpPr>
          <p:grpSpPr bwMode="auto">
            <a:xfrm flipH="1">
              <a:off x="4248" y="1140"/>
              <a:ext cx="288" cy="162"/>
              <a:chOff x="1056" y="1614"/>
              <a:chExt cx="288" cy="162"/>
            </a:xfrm>
          </p:grpSpPr>
          <p:sp>
            <p:nvSpPr>
              <p:cNvPr id="7185" name="Rectangle 33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7186" name="Rectangle 34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D44873-9476-4DC2-A17F-CCDC5CAAE0A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980CE0-3066-4E5A-BC96-FA09B4F6557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TW" smtClean="0"/>
              <a:t>System Model</a:t>
            </a:r>
          </a:p>
        </p:txBody>
      </p:sp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3238" y="1327150"/>
            <a:ext cx="8220075" cy="5000625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Resource types </a:t>
            </a:r>
            <a:r>
              <a:rPr lang="en-US" altLang="zh-TW" i="1" smtClean="0">
                <a:latin typeface="Times New Roman" pitchFamily="18" charset="0"/>
              </a:rPr>
              <a:t>R</a:t>
            </a:r>
            <a:r>
              <a:rPr lang="en-US" altLang="zh-TW" baseline="-25000" smtClean="0">
                <a:latin typeface="Times New Roman" pitchFamily="18" charset="0"/>
              </a:rPr>
              <a:t>1</a:t>
            </a:r>
            <a:r>
              <a:rPr lang="en-US" altLang="zh-TW" smtClean="0">
                <a:latin typeface="Times New Roman" pitchFamily="18" charset="0"/>
              </a:rPr>
              <a:t>, </a:t>
            </a:r>
            <a:r>
              <a:rPr lang="en-US" altLang="zh-TW" i="1" smtClean="0">
                <a:latin typeface="Times New Roman" pitchFamily="18" charset="0"/>
              </a:rPr>
              <a:t>R</a:t>
            </a:r>
            <a:r>
              <a:rPr lang="en-US" altLang="zh-TW" baseline="-25000" smtClean="0">
                <a:latin typeface="Times New Roman" pitchFamily="18" charset="0"/>
              </a:rPr>
              <a:t>2</a:t>
            </a:r>
            <a:r>
              <a:rPr lang="en-US" altLang="zh-TW" smtClean="0">
                <a:latin typeface="Times New Roman" pitchFamily="18" charset="0"/>
              </a:rPr>
              <a:t>, . . ., </a:t>
            </a:r>
            <a:r>
              <a:rPr lang="en-US" altLang="zh-TW" i="1" smtClean="0">
                <a:latin typeface="Times New Roman" pitchFamily="18" charset="0"/>
              </a:rPr>
              <a:t>R</a:t>
            </a:r>
            <a:r>
              <a:rPr lang="en-US" altLang="zh-TW" i="1" baseline="-25000" smtClean="0">
                <a:latin typeface="Times New Roman" pitchFamily="18" charset="0"/>
              </a:rPr>
              <a:t>m</a:t>
            </a:r>
          </a:p>
          <a:p>
            <a:pPr lvl="2"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i="1" smtClean="0"/>
              <a:t>CPU cycles, memory space, I/O devices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Each resource type </a:t>
            </a:r>
            <a:r>
              <a:rPr lang="en-US" altLang="zh-TW" i="1" smtClean="0">
                <a:latin typeface="Times New Roman" pitchFamily="18" charset="0"/>
              </a:rPr>
              <a:t>R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smtClean="0"/>
              <a:t> has </a:t>
            </a:r>
            <a:r>
              <a:rPr lang="en-US" altLang="zh-TW" i="1" smtClean="0">
                <a:latin typeface="Times New Roman" pitchFamily="18" charset="0"/>
              </a:rPr>
              <a:t>W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smtClean="0"/>
              <a:t> instances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Each process utilizes a resource as follows:</a:t>
            </a:r>
            <a:endParaRPr lang="en-US" altLang="zh-TW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request 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use 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release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69E45F-5C83-4835-B914-5E7F82BF364B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C9D009-F4CC-46A4-8AFA-EC3CD9A72EF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09538"/>
            <a:ext cx="8504238" cy="1095375"/>
          </a:xfrm>
        </p:spPr>
        <p:txBody>
          <a:bodyPr/>
          <a:lstStyle/>
          <a:p>
            <a:pPr eaLnBrk="1" hangingPunct="1"/>
            <a:r>
              <a:rPr lang="en-US" altLang="zh-TW" sz="3200" b="1" dirty="0" smtClean="0"/>
              <a:t>Multithreaded </a:t>
            </a:r>
            <a:r>
              <a:rPr lang="en-US" altLang="zh-TW" sz="3200" b="1" dirty="0" err="1" smtClean="0"/>
              <a:t>Pthread</a:t>
            </a:r>
            <a:r>
              <a:rPr lang="en-US" altLang="zh-TW" sz="3200" b="1" dirty="0" smtClean="0"/>
              <a:t> using </a:t>
            </a:r>
            <a:r>
              <a:rPr lang="en-US" altLang="zh-TW" sz="3200" b="1" i="1" dirty="0" err="1" smtClean="0">
                <a:latin typeface="Times New Roman" pitchFamily="18" charset="0"/>
              </a:rPr>
              <a:t>mutex</a:t>
            </a:r>
            <a:r>
              <a:rPr lang="en-US" altLang="zh-TW" sz="3200" b="1" dirty="0" smtClean="0"/>
              <a:t> Locks</a:t>
            </a:r>
            <a:br>
              <a:rPr lang="en-US" altLang="zh-TW" sz="3200" b="1" dirty="0" smtClean="0"/>
            </a:br>
            <a:r>
              <a:rPr lang="en-US" altLang="zh-TW" sz="2800" dirty="0" smtClean="0">
                <a:solidFill>
                  <a:srgbClr val="000000"/>
                </a:solidFill>
              </a:rPr>
              <a:t>An example: </a:t>
            </a:r>
            <a:r>
              <a:rPr lang="en-US" altLang="zh-TW" sz="2800" dirty="0" smtClean="0">
                <a:solidFill>
                  <a:srgbClr val="FF0000"/>
                </a:solidFill>
              </a:rPr>
              <a:t>P313-314</a:t>
            </a:r>
          </a:p>
        </p:txBody>
      </p:sp>
      <p:sp>
        <p:nvSpPr>
          <p:cNvPr id="92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39700" y="1162050"/>
            <a:ext cx="4419600" cy="52133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800" smtClean="0">
                <a:solidFill>
                  <a:srgbClr val="0000FF"/>
                </a:solidFill>
              </a:rPr>
              <a:t>thread_one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smtClean="0"/>
              <a:t>Void *do_work_one(Void *param)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smtClean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smtClean="0"/>
              <a:t>	</a:t>
            </a:r>
            <a:r>
              <a:rPr lang="en-US" altLang="zh-TW" sz="1800" smtClean="0"/>
              <a:t>pthread_mutex_</a:t>
            </a:r>
            <a:r>
              <a:rPr lang="en-US" altLang="zh-TW" sz="1800" smtClean="0">
                <a:solidFill>
                  <a:srgbClr val="FF0000"/>
                </a:solidFill>
              </a:rPr>
              <a:t>lock</a:t>
            </a:r>
            <a:r>
              <a:rPr lang="en-US" altLang="zh-TW" sz="1800" smtClean="0"/>
              <a:t>(&amp;</a:t>
            </a:r>
            <a:r>
              <a:rPr lang="en-US" altLang="zh-TW" sz="1800" smtClean="0">
                <a:solidFill>
                  <a:srgbClr val="FF0000"/>
                </a:solidFill>
              </a:rPr>
              <a:t>first</a:t>
            </a:r>
            <a:r>
              <a:rPr lang="en-US" altLang="zh-TW" sz="1800" smtClean="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pthread_mutex_</a:t>
            </a:r>
            <a:r>
              <a:rPr lang="en-US" altLang="zh-TW" sz="1800" smtClean="0">
                <a:solidFill>
                  <a:srgbClr val="FF0000"/>
                </a:solidFill>
              </a:rPr>
              <a:t>lock</a:t>
            </a:r>
            <a:r>
              <a:rPr lang="en-US" altLang="zh-TW" sz="1800" smtClean="0"/>
              <a:t>(&amp;</a:t>
            </a:r>
            <a:r>
              <a:rPr lang="en-US" altLang="zh-TW" sz="1800" smtClean="0">
                <a:solidFill>
                  <a:srgbClr val="FF0000"/>
                </a:solidFill>
              </a:rPr>
              <a:t>second</a:t>
            </a:r>
            <a:r>
              <a:rPr lang="en-US" altLang="zh-TW" sz="1800" smtClean="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/**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* Do some work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pthread_mutex_</a:t>
            </a:r>
            <a:r>
              <a:rPr lang="en-US" altLang="zh-TW" sz="1800" smtClean="0">
                <a:solidFill>
                  <a:srgbClr val="FF0000"/>
                </a:solidFill>
              </a:rPr>
              <a:t>unlock</a:t>
            </a:r>
            <a:r>
              <a:rPr lang="en-US" altLang="zh-TW" sz="1800" smtClean="0"/>
              <a:t>(&amp;</a:t>
            </a:r>
            <a:r>
              <a:rPr lang="en-US" altLang="zh-TW" sz="1800" smtClean="0">
                <a:solidFill>
                  <a:srgbClr val="FF0000"/>
                </a:solidFill>
              </a:rPr>
              <a:t>second</a:t>
            </a:r>
            <a:r>
              <a:rPr lang="en-US" altLang="zh-TW" sz="1800" smtClean="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pthread_mutex_</a:t>
            </a:r>
            <a:r>
              <a:rPr lang="en-US" altLang="zh-TW" sz="1800" smtClean="0">
                <a:solidFill>
                  <a:srgbClr val="FF0000"/>
                </a:solidFill>
              </a:rPr>
              <a:t>unlock</a:t>
            </a:r>
            <a:r>
              <a:rPr lang="en-US" altLang="zh-TW" sz="1800" smtClean="0"/>
              <a:t>(&amp;</a:t>
            </a:r>
            <a:r>
              <a:rPr lang="en-US" altLang="zh-TW" sz="1800" smtClean="0">
                <a:solidFill>
                  <a:srgbClr val="FF0000"/>
                </a:solidFill>
              </a:rPr>
              <a:t>first</a:t>
            </a:r>
            <a:r>
              <a:rPr lang="en-US" altLang="zh-TW" sz="1800" smtClean="0"/>
              <a:t>_mutex);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pthread_exit(0);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smtClean="0"/>
              <a:t>	</a:t>
            </a:r>
          </a:p>
        </p:txBody>
      </p:sp>
      <p:sp>
        <p:nvSpPr>
          <p:cNvPr id="9223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629150" y="1144588"/>
            <a:ext cx="4419600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800">
                <a:solidFill>
                  <a:srgbClr val="0000FF"/>
                </a:solidFill>
              </a:rPr>
              <a:t>thread_two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/>
              <a:t>Void *do_work_one(Void *param)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/>
              <a:t>	</a:t>
            </a:r>
            <a:r>
              <a:rPr lang="en-US" altLang="zh-TW" sz="1800"/>
              <a:t>pthread_mutex_</a:t>
            </a:r>
            <a:r>
              <a:rPr lang="en-US" altLang="zh-TW" sz="1800">
                <a:solidFill>
                  <a:srgbClr val="FF0000"/>
                </a:solidFill>
              </a:rPr>
              <a:t>lock</a:t>
            </a:r>
            <a:r>
              <a:rPr lang="en-US" altLang="zh-TW" sz="1800"/>
              <a:t>(&amp;</a:t>
            </a:r>
            <a:r>
              <a:rPr lang="en-US" altLang="zh-TW" sz="1800">
                <a:solidFill>
                  <a:srgbClr val="FF0000"/>
                </a:solidFill>
              </a:rPr>
              <a:t>second</a:t>
            </a:r>
            <a:r>
              <a:rPr lang="en-US" altLang="zh-TW" sz="180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pthread_mutex_</a:t>
            </a:r>
            <a:r>
              <a:rPr lang="en-US" altLang="zh-TW" sz="1800">
                <a:solidFill>
                  <a:srgbClr val="FF0000"/>
                </a:solidFill>
              </a:rPr>
              <a:t>lock</a:t>
            </a:r>
            <a:r>
              <a:rPr lang="en-US" altLang="zh-TW" sz="1800"/>
              <a:t>(&amp;</a:t>
            </a:r>
            <a:r>
              <a:rPr lang="en-US" altLang="zh-TW" sz="1800">
                <a:solidFill>
                  <a:srgbClr val="FF0000"/>
                </a:solidFill>
              </a:rPr>
              <a:t>first</a:t>
            </a:r>
            <a:r>
              <a:rPr lang="en-US" altLang="zh-TW" sz="180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/**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* Do some work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pthread_mutex_</a:t>
            </a:r>
            <a:r>
              <a:rPr lang="en-US" altLang="zh-TW" sz="1800">
                <a:solidFill>
                  <a:srgbClr val="FF0000"/>
                </a:solidFill>
              </a:rPr>
              <a:t>unlock</a:t>
            </a:r>
            <a:r>
              <a:rPr lang="en-US" altLang="zh-TW" sz="1800"/>
              <a:t>(&amp;</a:t>
            </a:r>
            <a:r>
              <a:rPr lang="en-US" altLang="zh-TW" sz="1800">
                <a:solidFill>
                  <a:srgbClr val="FF0000"/>
                </a:solidFill>
              </a:rPr>
              <a:t>first</a:t>
            </a:r>
            <a:r>
              <a:rPr lang="en-US" altLang="zh-TW" sz="1800"/>
              <a:t>_mutex);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pthread_mutex_</a:t>
            </a:r>
            <a:r>
              <a:rPr lang="en-US" altLang="zh-TW" sz="1800">
                <a:solidFill>
                  <a:srgbClr val="FF0000"/>
                </a:solidFill>
              </a:rPr>
              <a:t>unlock</a:t>
            </a:r>
            <a:r>
              <a:rPr lang="en-US" altLang="zh-TW" sz="1800"/>
              <a:t>(&amp;</a:t>
            </a:r>
            <a:r>
              <a:rPr lang="en-US" altLang="zh-TW" sz="1800">
                <a:solidFill>
                  <a:srgbClr val="FF0000"/>
                </a:solidFill>
              </a:rPr>
              <a:t>second</a:t>
            </a:r>
            <a:r>
              <a:rPr lang="en-US" altLang="zh-TW" sz="1800"/>
              <a:t>_mutex);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	pthread_exit(0);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/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C8795E2-B992-4D4D-8B1C-0AC4205B76C9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F7032C7-0675-4BB7-A558-7990B9DF047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smtClean="0"/>
          </a:p>
        </p:txBody>
      </p:sp>
      <p:sp>
        <p:nvSpPr>
          <p:cNvPr id="1024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79425" y="230188"/>
            <a:ext cx="7772400" cy="733425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Characterization</a:t>
            </a:r>
          </a:p>
        </p:txBody>
      </p:sp>
      <p:sp>
        <p:nvSpPr>
          <p:cNvPr id="4301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41300" y="966788"/>
            <a:ext cx="8659813" cy="54673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Mutual exclusion</a:t>
            </a:r>
            <a:r>
              <a:rPr lang="en-US" altLang="zh-TW" sz="2400" b="1" smtClean="0"/>
              <a:t>:</a:t>
            </a:r>
            <a:r>
              <a:rPr lang="en-US" altLang="zh-TW" sz="2400" smtClean="0"/>
              <a:t>  only one process at a time can use a resource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Hold and wait</a:t>
            </a:r>
            <a:r>
              <a:rPr lang="en-US" altLang="zh-TW" sz="2400" b="1" smtClean="0"/>
              <a:t>:</a:t>
            </a:r>
            <a:r>
              <a:rPr lang="en-US" altLang="zh-TW" sz="2400" smtClean="0"/>
              <a:t>  a process holding at least one resource is waiting to acquire additional resources held by other processes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No preemption</a:t>
            </a:r>
            <a:r>
              <a:rPr lang="en-US" altLang="zh-TW" sz="2400" b="1" smtClean="0"/>
              <a:t>:</a:t>
            </a:r>
            <a:r>
              <a:rPr lang="en-US" altLang="zh-TW" sz="2400" smtClean="0"/>
              <a:t>  a resource can be released only voluntarily by the process holding it, after that process has completed its task.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Circular wait</a:t>
            </a:r>
            <a:r>
              <a:rPr lang="en-US" altLang="zh-TW" sz="2400" b="1" smtClean="0"/>
              <a:t>:</a:t>
            </a:r>
            <a:r>
              <a:rPr lang="en-US" altLang="zh-TW" sz="2200" smtClean="0"/>
              <a:t> there exists a set </a:t>
            </a:r>
            <a:r>
              <a:rPr lang="en-US" altLang="zh-TW" sz="2200" smtClean="0">
                <a:latin typeface="Times New Roman" pitchFamily="18" charset="0"/>
              </a:rPr>
              <a:t>{</a:t>
            </a:r>
            <a:r>
              <a:rPr lang="en-US" altLang="zh-TW" sz="2200" i="1" smtClean="0">
                <a:latin typeface="Times New Roman" pitchFamily="18" charset="0"/>
              </a:rPr>
              <a:t>P</a:t>
            </a:r>
            <a:r>
              <a:rPr lang="en-US" altLang="zh-TW" sz="2200" baseline="-25000" smtClean="0">
                <a:latin typeface="Times New Roman" pitchFamily="18" charset="0"/>
              </a:rPr>
              <a:t>0</a:t>
            </a:r>
            <a:r>
              <a:rPr lang="en-US" altLang="zh-TW" sz="2200" smtClean="0">
                <a:latin typeface="Times New Roman" pitchFamily="18" charset="0"/>
              </a:rPr>
              <a:t>, </a:t>
            </a:r>
            <a:r>
              <a:rPr lang="en-US" altLang="zh-TW" sz="2200" i="1" smtClean="0">
                <a:latin typeface="Times New Roman" pitchFamily="18" charset="0"/>
              </a:rPr>
              <a:t>P</a:t>
            </a:r>
            <a:r>
              <a:rPr lang="en-US" altLang="zh-TW" sz="2200" baseline="-25000" smtClean="0">
                <a:latin typeface="Times New Roman" pitchFamily="18" charset="0"/>
              </a:rPr>
              <a:t>1</a:t>
            </a:r>
            <a:r>
              <a:rPr lang="en-US" altLang="zh-TW" sz="2200" smtClean="0">
                <a:latin typeface="Times New Roman" pitchFamily="18" charset="0"/>
              </a:rPr>
              <a:t>, …, </a:t>
            </a:r>
            <a:r>
              <a:rPr lang="en-US" altLang="zh-TW" sz="2200" i="1" smtClean="0">
                <a:latin typeface="Times New Roman" pitchFamily="18" charset="0"/>
              </a:rPr>
              <a:t>P</a:t>
            </a:r>
            <a:r>
              <a:rPr lang="en-US" altLang="zh-TW" sz="2200" i="1" baseline="-25000" smtClean="0">
                <a:latin typeface="Times New Roman" pitchFamily="18" charset="0"/>
              </a:rPr>
              <a:t>n</a:t>
            </a:r>
            <a:r>
              <a:rPr lang="en-US" altLang="zh-TW" sz="2200" smtClean="0"/>
              <a:t>} of waiting processes such that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0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1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2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...</a:t>
            </a:r>
            <a:r>
              <a:rPr lang="en-US" altLang="zh-TW" sz="2400" baseline="-250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n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0</a:t>
            </a:r>
            <a:endParaRPr lang="en-US" altLang="zh-TW" sz="2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SzTx/>
              <a:buFontTx/>
              <a:buChar char="o"/>
            </a:pPr>
            <a:r>
              <a:rPr lang="en-US" altLang="zh-TW" sz="2400" smtClean="0">
                <a:solidFill>
                  <a:srgbClr val="0000FF"/>
                </a:solidFill>
              </a:rPr>
              <a:t>When deadlock occurs, all four conditions hold</a:t>
            </a:r>
          </a:p>
          <a:p>
            <a:pPr eaLnBrk="1" hangingPunct="1">
              <a:lnSpc>
                <a:spcPct val="80000"/>
              </a:lnSpc>
              <a:buSzTx/>
              <a:buFontTx/>
              <a:buChar char="o"/>
            </a:pPr>
            <a:r>
              <a:rPr lang="en-US" altLang="zh-TW" sz="2400" smtClean="0">
                <a:solidFill>
                  <a:srgbClr val="FF0000"/>
                </a:solidFill>
              </a:rPr>
              <a:t>Not sufficient conditions</a:t>
            </a:r>
          </a:p>
          <a:p>
            <a:pPr eaLnBrk="1" hangingPunct="1">
              <a:lnSpc>
                <a:spcPct val="80000"/>
              </a:lnSpc>
              <a:buSzTx/>
              <a:buFontTx/>
              <a:buChar char="o"/>
            </a:pPr>
            <a:r>
              <a:rPr lang="en-US" altLang="zh-TW" sz="2400" smtClean="0"/>
              <a:t>Not completely independently (4 implies 2)</a:t>
            </a:r>
            <a:endParaRPr lang="zh-TW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D6BE9E-4625-4DF3-9AFB-DB57D55F9D9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12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12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9B092C-BB1C-4C72-9911-1CD4B6DFD7C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230188"/>
            <a:ext cx="7772400" cy="733425"/>
          </a:xfrm>
        </p:spPr>
        <p:txBody>
          <a:bodyPr/>
          <a:lstStyle/>
          <a:p>
            <a:pPr eaLnBrk="1" hangingPunct="1"/>
            <a:r>
              <a:rPr lang="en-US" altLang="zh-TW" sz="4800" b="1" smtClean="0">
                <a:solidFill>
                  <a:srgbClr val="FF0000"/>
                </a:solidFill>
              </a:rPr>
              <a:t>Circular wait</a:t>
            </a:r>
          </a:p>
        </p:txBody>
      </p:sp>
      <p:pic>
        <p:nvPicPr>
          <p:cNvPr id="11270" name="Picture 4" descr="fg7_09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985838"/>
            <a:ext cx="6249987" cy="504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D2636B-61A5-464C-93DB-3F05C6AC2160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E9D41F3-436A-427B-AF9A-0A5D4D772DE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277813"/>
            <a:ext cx="7772400" cy="681037"/>
          </a:xfrm>
        </p:spPr>
        <p:txBody>
          <a:bodyPr/>
          <a:lstStyle/>
          <a:p>
            <a:pPr eaLnBrk="1" hangingPunct="1"/>
            <a:r>
              <a:rPr lang="en-US" altLang="zh-TW" smtClean="0"/>
              <a:t>Resource-Allocation Graph (1)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90550" y="1389063"/>
            <a:ext cx="8056563" cy="4324350"/>
          </a:xfrm>
        </p:spPr>
        <p:txBody>
          <a:bodyPr/>
          <a:lstStyle/>
          <a:p>
            <a:pPr eaLnBrk="1" hangingPunct="1"/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V</a:t>
            </a:r>
            <a:r>
              <a:rPr lang="en-US" altLang="zh-TW" smtClean="0"/>
              <a:t> is partitioned into two types:</a:t>
            </a:r>
            <a:endParaRPr lang="en-US" altLang="zh-TW" smtClean="0">
              <a:latin typeface="Times New Roman" pitchFamily="18" charset="0"/>
            </a:endParaRPr>
          </a:p>
          <a:p>
            <a:pPr lvl="1" eaLnBrk="1" hangingPunct="1"/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mtClean="0">
                <a:latin typeface="Times New Roman" pitchFamily="18" charset="0"/>
              </a:rPr>
              <a:t> = {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baseline="-25000" smtClean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TW" smtClean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baseline="-25000" smtClean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TW" smtClean="0">
                <a:solidFill>
                  <a:srgbClr val="0000FF"/>
                </a:solidFill>
                <a:latin typeface="Times New Roman" pitchFamily="18" charset="0"/>
              </a:rPr>
              <a:t>, …, 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i="1" baseline="-25000" smtClean="0">
                <a:solidFill>
                  <a:srgbClr val="0000FF"/>
                </a:solidFill>
                <a:latin typeface="Times New Roman" pitchFamily="18" charset="0"/>
              </a:rPr>
              <a:t>n</a:t>
            </a:r>
            <a:r>
              <a:rPr lang="en-US" altLang="zh-TW" smtClean="0">
                <a:latin typeface="Times New Roman" pitchFamily="18" charset="0"/>
              </a:rPr>
              <a:t>}</a:t>
            </a:r>
            <a:r>
              <a:rPr lang="en-US" altLang="zh-TW" smtClean="0"/>
              <a:t>, the set consisting of all the processes in the system</a:t>
            </a:r>
            <a:endParaRPr lang="en-US" altLang="zh-TW" smtClean="0">
              <a:latin typeface="Times New Roman" pitchFamily="18" charset="0"/>
            </a:endParaRPr>
          </a:p>
          <a:p>
            <a:pPr lvl="1" eaLnBrk="1" hangingPunct="1"/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</a:rPr>
              <a:t> = {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baseline="-2500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TW" smtClean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baseline="-2500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TW" smtClean="0">
                <a:solidFill>
                  <a:srgbClr val="FF0000"/>
                </a:solidFill>
                <a:latin typeface="Times New Roman" pitchFamily="18" charset="0"/>
              </a:rPr>
              <a:t>, …,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i="1" baseline="-25000" smtClean="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TW" smtClean="0">
                <a:latin typeface="Times New Roman" pitchFamily="18" charset="0"/>
              </a:rPr>
              <a:t>}</a:t>
            </a:r>
            <a:r>
              <a:rPr lang="en-US" altLang="zh-TW" smtClean="0"/>
              <a:t>, the set consisting of all resource types in the system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chemeClr val="tx2"/>
                </a:solidFill>
              </a:rPr>
              <a:t>request</a:t>
            </a:r>
            <a:r>
              <a:rPr lang="en-US" altLang="zh-TW" smtClean="0"/>
              <a:t> edge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directed edge 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baseline="-2500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TW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TW" i="1" baseline="-25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j</a:t>
            </a:r>
            <a:endParaRPr lang="en-US" altLang="zh-TW" i="1" smtClean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00"/>
                </a:solidFill>
                <a:sym typeface="Symbol" pitchFamily="18" charset="2"/>
              </a:rPr>
              <a:t>assignment</a:t>
            </a:r>
            <a:r>
              <a:rPr lang="en-US" altLang="zh-TW" smtClean="0">
                <a:sym typeface="Symbol" pitchFamily="18" charset="2"/>
              </a:rPr>
              <a:t> edge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directed edge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i="1" baseline="-2500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TW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i</a:t>
            </a:r>
            <a:endParaRPr lang="en-US" altLang="zh-TW" smtClean="0">
              <a:solidFill>
                <a:srgbClr val="0000FF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590550" y="869950"/>
            <a:ext cx="6746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800">
                <a:latin typeface="Helvetica" pitchFamily="34" charset="0"/>
              </a:rPr>
              <a:t>A set of vertices </a:t>
            </a:r>
            <a:r>
              <a:rPr kumimoji="0" lang="en-US" altLang="zh-TW" sz="2800" i="1">
                <a:solidFill>
                  <a:srgbClr val="0000FF"/>
                </a:solidFill>
                <a:latin typeface="Times New Roman" pitchFamily="18" charset="0"/>
              </a:rPr>
              <a:t>V</a:t>
            </a:r>
            <a:r>
              <a:rPr kumimoji="0" lang="en-US" altLang="zh-TW" sz="2800">
                <a:latin typeface="Helvetica" pitchFamily="34" charset="0"/>
              </a:rPr>
              <a:t> and a set of edges </a:t>
            </a:r>
            <a:r>
              <a:rPr kumimoji="0" lang="en-US" altLang="zh-TW" sz="2800" i="1">
                <a:solidFill>
                  <a:srgbClr val="FF0000"/>
                </a:solidFill>
                <a:latin typeface="Times New Roman" pitchFamily="18" charset="0"/>
              </a:rPr>
              <a:t>E</a:t>
            </a:r>
            <a:endParaRPr kumimoji="0" lang="en-US" altLang="zh-TW" sz="2800">
              <a:solidFill>
                <a:srgbClr val="FF0000"/>
              </a:solidFill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A0D964-637D-4685-97A9-096A84235581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E5387F-579B-46DB-B1EC-70D6896B928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554038" y="231775"/>
            <a:ext cx="7772400" cy="652463"/>
          </a:xfrm>
        </p:spPr>
        <p:txBody>
          <a:bodyPr/>
          <a:lstStyle/>
          <a:p>
            <a:pPr eaLnBrk="1" hangingPunct="1"/>
            <a:r>
              <a:rPr lang="en-US" altLang="zh-TW" smtClean="0"/>
              <a:t>Resource-Allocation Graph (2)</a:t>
            </a:r>
          </a:p>
        </p:txBody>
      </p:sp>
      <p:sp>
        <p:nvSpPr>
          <p:cNvPr id="1331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4988" y="855663"/>
            <a:ext cx="7905750" cy="5141912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</a:t>
            </a:r>
          </a:p>
          <a:p>
            <a:pPr eaLnBrk="1" hangingPunct="1"/>
            <a:r>
              <a:rPr lang="en-US" altLang="zh-TW" smtClean="0"/>
              <a:t>Resource Type with 4 instances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mtClean="0"/>
          </a:p>
          <a:p>
            <a:pPr eaLnBrk="1" hangingPunct="1"/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TW" smtClean="0"/>
              <a:t>requests instance of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i="1" baseline="-2500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endParaRPr lang="en-US" altLang="zh-TW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/>
            <a:endParaRPr lang="en-US" altLang="zh-TW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mtClean="0"/>
          </a:p>
          <a:p>
            <a:pPr eaLnBrk="1" hangingPunct="1"/>
            <a:r>
              <a:rPr lang="en-US" altLang="zh-TW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i="1" baseline="-25000" smtClean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lang="en-US" altLang="zh-TW" smtClean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TW" smtClean="0"/>
              <a:t>is holding an instance of </a:t>
            </a:r>
            <a:r>
              <a:rPr lang="en-US" altLang="zh-TW" i="1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i="1" baseline="-25000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endParaRPr lang="en-US" altLang="zh-TW" i="1" smtClean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3319" name="Oval 4"/>
          <p:cNvSpPr>
            <a:spLocks noChangeArrowheads="1"/>
          </p:cNvSpPr>
          <p:nvPr/>
        </p:nvSpPr>
        <p:spPr bwMode="auto">
          <a:xfrm>
            <a:off x="2947988" y="855663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3320" name="Oval 5"/>
          <p:cNvSpPr>
            <a:spLocks noChangeArrowheads="1"/>
          </p:cNvSpPr>
          <p:nvPr/>
        </p:nvSpPr>
        <p:spPr bwMode="auto">
          <a:xfrm>
            <a:off x="3321050" y="5376863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latin typeface="Helvetica" pitchFamily="34" charset="0"/>
              </a:rPr>
              <a:t>P</a:t>
            </a:r>
            <a:r>
              <a:rPr kumimoji="0" lang="en-US" altLang="zh-TW" sz="1800" i="1" baseline="-25000">
                <a:latin typeface="Helvetica" pitchFamily="34" charset="0"/>
              </a:rPr>
              <a:t>i</a:t>
            </a:r>
            <a:endParaRPr kumimoji="0" lang="en-US" altLang="zh-TW" sz="1800">
              <a:latin typeface="Helvetica" pitchFamily="34" charset="0"/>
            </a:endParaRPr>
          </a:p>
        </p:txBody>
      </p:sp>
      <p:sp>
        <p:nvSpPr>
          <p:cNvPr id="13321" name="Oval 6"/>
          <p:cNvSpPr>
            <a:spLocks noChangeArrowheads="1"/>
          </p:cNvSpPr>
          <p:nvPr/>
        </p:nvSpPr>
        <p:spPr bwMode="auto">
          <a:xfrm>
            <a:off x="3209925" y="362585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latin typeface="Helvetica" pitchFamily="34" charset="0"/>
              </a:rPr>
              <a:t>P</a:t>
            </a:r>
            <a:r>
              <a:rPr kumimoji="0" lang="en-US" altLang="zh-TW" sz="1800" i="1" baseline="-25000">
                <a:latin typeface="Helvetica" pitchFamily="34" charset="0"/>
              </a:rPr>
              <a:t>i</a:t>
            </a:r>
            <a:endParaRPr kumimoji="0" lang="en-US" altLang="zh-TW" sz="1800" i="1">
              <a:latin typeface="Helvetica" pitchFamily="34" charset="0"/>
            </a:endParaRPr>
          </a:p>
        </p:txBody>
      </p:sp>
      <p:grpSp>
        <p:nvGrpSpPr>
          <p:cNvPr id="13322" name="Group 12"/>
          <p:cNvGrpSpPr>
            <a:grpSpLocks/>
          </p:cNvGrpSpPr>
          <p:nvPr/>
        </p:nvGrpSpPr>
        <p:grpSpPr bwMode="auto">
          <a:xfrm>
            <a:off x="3970338" y="2135188"/>
            <a:ext cx="438150" cy="419100"/>
            <a:chOff x="2666" y="1966"/>
            <a:chExt cx="276" cy="264"/>
          </a:xfrm>
        </p:grpSpPr>
        <p:sp>
          <p:nvSpPr>
            <p:cNvPr id="13339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40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41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42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43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grpSp>
        <p:nvGrpSpPr>
          <p:cNvPr id="13323" name="Group 13"/>
          <p:cNvGrpSpPr>
            <a:grpSpLocks/>
          </p:cNvGrpSpPr>
          <p:nvPr/>
        </p:nvGrpSpPr>
        <p:grpSpPr bwMode="auto">
          <a:xfrm>
            <a:off x="4602163" y="3687763"/>
            <a:ext cx="438150" cy="419100"/>
            <a:chOff x="2666" y="1966"/>
            <a:chExt cx="276" cy="264"/>
          </a:xfrm>
        </p:grpSpPr>
        <p:sp>
          <p:nvSpPr>
            <p:cNvPr id="13334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5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6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7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8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sp>
        <p:nvSpPr>
          <p:cNvPr id="13324" name="Line 19"/>
          <p:cNvSpPr>
            <a:spLocks noChangeShapeType="1"/>
          </p:cNvSpPr>
          <p:nvPr/>
        </p:nvSpPr>
        <p:spPr bwMode="auto">
          <a:xfrm>
            <a:off x="4032250" y="3890963"/>
            <a:ext cx="3048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25" name="Text Box 20"/>
          <p:cNvSpPr txBox="1">
            <a:spLocks noChangeArrowheads="1"/>
          </p:cNvSpPr>
          <p:nvPr/>
        </p:nvSpPr>
        <p:spPr bwMode="auto">
          <a:xfrm>
            <a:off x="4662488" y="4154488"/>
            <a:ext cx="3381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 i="1">
                <a:latin typeface="Helvetica" pitchFamily="34" charset="0"/>
              </a:rPr>
              <a:t>R</a:t>
            </a:r>
            <a:r>
              <a:rPr kumimoji="0" lang="en-US" altLang="zh-TW" sz="1400" i="1" baseline="-25000">
                <a:latin typeface="Helvetica" pitchFamily="34" charset="0"/>
              </a:rPr>
              <a:t>j</a:t>
            </a:r>
            <a:endParaRPr kumimoji="0" lang="en-US" altLang="zh-TW" sz="1400" i="1">
              <a:latin typeface="Helvetica" pitchFamily="34" charset="0"/>
            </a:endParaRPr>
          </a:p>
        </p:txBody>
      </p:sp>
      <p:grpSp>
        <p:nvGrpSpPr>
          <p:cNvPr id="13326" name="Group 21"/>
          <p:cNvGrpSpPr>
            <a:grpSpLocks/>
          </p:cNvGrpSpPr>
          <p:nvPr/>
        </p:nvGrpSpPr>
        <p:grpSpPr bwMode="auto">
          <a:xfrm>
            <a:off x="4487863" y="5256213"/>
            <a:ext cx="438150" cy="419100"/>
            <a:chOff x="2666" y="1966"/>
            <a:chExt cx="276" cy="264"/>
          </a:xfrm>
        </p:grpSpPr>
        <p:sp>
          <p:nvSpPr>
            <p:cNvPr id="13329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0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1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2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33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</p:grpSp>
      <p:sp>
        <p:nvSpPr>
          <p:cNvPr id="13327" name="Line 27"/>
          <p:cNvSpPr>
            <a:spLocks noChangeShapeType="1"/>
          </p:cNvSpPr>
          <p:nvPr/>
        </p:nvSpPr>
        <p:spPr bwMode="auto">
          <a:xfrm flipH="1">
            <a:off x="3921125" y="5511800"/>
            <a:ext cx="476250" cy="104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28" name="Text Box 28"/>
          <p:cNvSpPr txBox="1">
            <a:spLocks noChangeArrowheads="1"/>
          </p:cNvSpPr>
          <p:nvPr/>
        </p:nvSpPr>
        <p:spPr bwMode="auto">
          <a:xfrm>
            <a:off x="5006975" y="5345113"/>
            <a:ext cx="3381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 i="1">
                <a:latin typeface="Helvetica" pitchFamily="34" charset="0"/>
              </a:rPr>
              <a:t>R</a:t>
            </a:r>
            <a:r>
              <a:rPr kumimoji="0" lang="en-US" altLang="zh-TW" sz="1400" i="1" baseline="-25000">
                <a:latin typeface="Helvetica" pitchFamily="34" charset="0"/>
              </a:rPr>
              <a:t>j</a:t>
            </a:r>
            <a:endParaRPr kumimoji="0" lang="en-US" altLang="zh-TW" sz="1400" i="1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459CFF-CA90-4EA1-8E5F-4AA22564155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DEB619-860A-47A3-B2B1-75E57C6D10D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527050" y="127000"/>
            <a:ext cx="8612188" cy="684213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Example of a Resource Allocation Graph</a:t>
            </a: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4" t="871" r="23206" b="1060"/>
          <a:stretch>
            <a:fillRect/>
          </a:stretch>
        </p:blipFill>
        <p:spPr bwMode="auto">
          <a:xfrm>
            <a:off x="2452688" y="1174750"/>
            <a:ext cx="4857750" cy="48641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635000" y="2255838"/>
            <a:ext cx="2274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876300" y="2182813"/>
            <a:ext cx="2201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request edge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671513" y="3711575"/>
            <a:ext cx="2484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assignment edge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3D7264-CABB-4549-B4A8-C4CD87FF534E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536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536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BADFB2-0A65-48ED-B71A-AC8AB7FF943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119063"/>
            <a:ext cx="8347075" cy="998537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Resource Allocation Graph With A </a:t>
            </a:r>
            <a:r>
              <a:rPr lang="en-US" altLang="zh-TW" sz="3600" smtClean="0">
                <a:solidFill>
                  <a:srgbClr val="FF0000"/>
                </a:solidFill>
              </a:rPr>
              <a:t>Deadlock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221413" y="2849563"/>
            <a:ext cx="24209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400" b="1">
                <a:latin typeface="Times New Roman" pitchFamily="18" charset="0"/>
              </a:rPr>
              <a:t>(</a:t>
            </a:r>
            <a:r>
              <a:rPr lang="en-US" altLang="zh-TW" sz="2400" b="1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400" b="1" baseline="-2500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TW" sz="2400" b="1">
                <a:solidFill>
                  <a:srgbClr val="0000FF"/>
                </a:solidFill>
                <a:latin typeface="Times New Roman" pitchFamily="18" charset="0"/>
              </a:rPr>
              <a:t>, P</a:t>
            </a:r>
            <a:r>
              <a:rPr lang="en-US" altLang="zh-TW" sz="2400" b="1" baseline="-2500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TW" sz="2400" b="1">
                <a:solidFill>
                  <a:srgbClr val="0000FF"/>
                </a:solidFill>
                <a:latin typeface="Times New Roman" pitchFamily="18" charset="0"/>
              </a:rPr>
              <a:t>, P</a:t>
            </a:r>
            <a:r>
              <a:rPr lang="en-US" altLang="zh-TW" sz="2400" b="1" baseline="-2500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lang="en-US" altLang="zh-TW" sz="2400" b="1">
                <a:latin typeface="Times New Roman" pitchFamily="18" charset="0"/>
              </a:rPr>
              <a:t>) is in deadlock state</a:t>
            </a:r>
            <a:endParaRPr lang="zh-TW" altLang="en-US" sz="2400" b="1">
              <a:latin typeface="Times New Roman" pitchFamily="18" charset="0"/>
            </a:endParaRPr>
          </a:p>
        </p:txBody>
      </p:sp>
      <p:grpSp>
        <p:nvGrpSpPr>
          <p:cNvPr id="15367" name="群組 1"/>
          <p:cNvGrpSpPr>
            <a:grpSpLocks/>
          </p:cNvGrpSpPr>
          <p:nvPr/>
        </p:nvGrpSpPr>
        <p:grpSpPr bwMode="auto">
          <a:xfrm>
            <a:off x="1497013" y="1077913"/>
            <a:ext cx="4618037" cy="4916487"/>
            <a:chOff x="1497013" y="1460500"/>
            <a:chExt cx="4618037" cy="4916488"/>
          </a:xfrm>
        </p:grpSpPr>
        <p:pic>
          <p:nvPicPr>
            <p:cNvPr id="15368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73" t="919" r="23195" b="1358"/>
            <a:stretch>
              <a:fillRect/>
            </a:stretch>
          </p:blipFill>
          <p:spPr bwMode="auto">
            <a:xfrm>
              <a:off x="1497013" y="1460500"/>
              <a:ext cx="4618037" cy="4916488"/>
            </a:xfrm>
            <a:prstGeom prst="rect">
              <a:avLst/>
            </a:prstGeom>
            <a:noFill/>
            <a:ln w="57150" cmpd="thickThin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369" name="Line 7"/>
            <p:cNvSpPr>
              <a:spLocks noChangeShapeType="1"/>
            </p:cNvSpPr>
            <p:nvPr/>
          </p:nvSpPr>
          <p:spPr bwMode="auto">
            <a:xfrm flipV="1">
              <a:off x="1930400" y="2466975"/>
              <a:ext cx="550863" cy="812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5370" name="Line 8"/>
            <p:cNvSpPr>
              <a:spLocks noChangeShapeType="1"/>
            </p:cNvSpPr>
            <p:nvPr/>
          </p:nvSpPr>
          <p:spPr bwMode="auto">
            <a:xfrm>
              <a:off x="2859088" y="2192338"/>
              <a:ext cx="654050" cy="9572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5371" name="Line 9"/>
            <p:cNvSpPr>
              <a:spLocks noChangeShapeType="1"/>
            </p:cNvSpPr>
            <p:nvPr/>
          </p:nvSpPr>
          <p:spPr bwMode="auto">
            <a:xfrm flipV="1">
              <a:off x="3744913" y="2074863"/>
              <a:ext cx="798512" cy="9874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5372" name="Line 10"/>
            <p:cNvSpPr>
              <a:spLocks noChangeShapeType="1"/>
            </p:cNvSpPr>
            <p:nvPr/>
          </p:nvSpPr>
          <p:spPr bwMode="auto">
            <a:xfrm>
              <a:off x="4789488" y="2395538"/>
              <a:ext cx="755650" cy="8842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5373" name="Line 11"/>
            <p:cNvSpPr>
              <a:spLocks noChangeShapeType="1"/>
            </p:cNvSpPr>
            <p:nvPr/>
          </p:nvSpPr>
          <p:spPr bwMode="auto">
            <a:xfrm flipH="1">
              <a:off x="3381375" y="3395663"/>
              <a:ext cx="1989138" cy="14081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5374" name="Line 12"/>
            <p:cNvSpPr>
              <a:spLocks noChangeShapeType="1"/>
            </p:cNvSpPr>
            <p:nvPr/>
          </p:nvSpPr>
          <p:spPr bwMode="auto">
            <a:xfrm flipH="1" flipV="1">
              <a:off x="2017713" y="3482975"/>
              <a:ext cx="827087" cy="1016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B089A8-6863-4B0B-8EDB-D2D1131E793C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638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638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4C33026-93BB-4FE4-9195-672AFA19BD94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66675"/>
            <a:ext cx="7840663" cy="885825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Resource Allocation Graph With </a:t>
            </a:r>
            <a:r>
              <a:rPr lang="en-US" altLang="zh-TW" sz="3200" smtClean="0">
                <a:solidFill>
                  <a:srgbClr val="FF0000"/>
                </a:solidFill>
              </a:rPr>
              <a:t>A Cycle But No Deadlock</a:t>
            </a:r>
          </a:p>
        </p:txBody>
      </p:sp>
      <p:grpSp>
        <p:nvGrpSpPr>
          <p:cNvPr id="16390" name="群組 1"/>
          <p:cNvGrpSpPr>
            <a:grpSpLocks/>
          </p:cNvGrpSpPr>
          <p:nvPr/>
        </p:nvGrpSpPr>
        <p:grpSpPr bwMode="auto">
          <a:xfrm>
            <a:off x="1971675" y="1042988"/>
            <a:ext cx="5403850" cy="5135562"/>
            <a:chOff x="2071688" y="1355725"/>
            <a:chExt cx="5403850" cy="5135563"/>
          </a:xfrm>
        </p:grpSpPr>
        <p:pic>
          <p:nvPicPr>
            <p:cNvPr id="16391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93" t="700" r="19093" b="700"/>
            <a:stretch>
              <a:fillRect/>
            </a:stretch>
          </p:blipFill>
          <p:spPr bwMode="auto">
            <a:xfrm>
              <a:off x="2071688" y="1355725"/>
              <a:ext cx="5403850" cy="5135563"/>
            </a:xfrm>
            <a:prstGeom prst="rect">
              <a:avLst/>
            </a:prstGeom>
            <a:noFill/>
            <a:ln w="57150" cmpd="thickThin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2" name="Freeform 5"/>
            <p:cNvSpPr>
              <a:spLocks/>
            </p:cNvSpPr>
            <p:nvPr/>
          </p:nvSpPr>
          <p:spPr bwMode="auto">
            <a:xfrm>
              <a:off x="3308350" y="3348038"/>
              <a:ext cx="1341438" cy="1125537"/>
            </a:xfrm>
            <a:custGeom>
              <a:avLst/>
              <a:gdLst>
                <a:gd name="T0" fmla="*/ 0 w 504"/>
                <a:gd name="T1" fmla="*/ 2147483647 h 486"/>
                <a:gd name="T2" fmla="*/ 2147483647 w 504"/>
                <a:gd name="T3" fmla="*/ 2147483647 h 486"/>
                <a:gd name="T4" fmla="*/ 2147483647 w 504"/>
                <a:gd name="T5" fmla="*/ 0 h 486"/>
                <a:gd name="T6" fmla="*/ 2147483647 w 504"/>
                <a:gd name="T7" fmla="*/ 2147483647 h 486"/>
                <a:gd name="T8" fmla="*/ 2147483647 w 504"/>
                <a:gd name="T9" fmla="*/ 2147483647 h 486"/>
                <a:gd name="T10" fmla="*/ 2147483647 w 504"/>
                <a:gd name="T11" fmla="*/ 2147483647 h 486"/>
                <a:gd name="T12" fmla="*/ 2147483647 w 504"/>
                <a:gd name="T13" fmla="*/ 2147483647 h 486"/>
                <a:gd name="T14" fmla="*/ 2147483647 w 504"/>
                <a:gd name="T15" fmla="*/ 2147483647 h 486"/>
                <a:gd name="T16" fmla="*/ 2147483647 w 504"/>
                <a:gd name="T17" fmla="*/ 2147483647 h 486"/>
                <a:gd name="T18" fmla="*/ 2147483647 w 504"/>
                <a:gd name="T19" fmla="*/ 2147483647 h 486"/>
                <a:gd name="T20" fmla="*/ 2147483647 w 504"/>
                <a:gd name="T21" fmla="*/ 2147483647 h 486"/>
                <a:gd name="T22" fmla="*/ 2147483647 w 504"/>
                <a:gd name="T23" fmla="*/ 2147483647 h 486"/>
                <a:gd name="T24" fmla="*/ 2147483647 w 504"/>
                <a:gd name="T25" fmla="*/ 2147483647 h 486"/>
                <a:gd name="T26" fmla="*/ 2147483647 w 504"/>
                <a:gd name="T27" fmla="*/ 2147483647 h 486"/>
                <a:gd name="T28" fmla="*/ 2147483647 w 504"/>
                <a:gd name="T29" fmla="*/ 2147483647 h 4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4" h="486">
                  <a:moveTo>
                    <a:pt x="0" y="84"/>
                  </a:moveTo>
                  <a:cubicBezTo>
                    <a:pt x="26" y="67"/>
                    <a:pt x="46" y="41"/>
                    <a:pt x="72" y="24"/>
                  </a:cubicBezTo>
                  <a:cubicBezTo>
                    <a:pt x="88" y="13"/>
                    <a:pt x="159" y="2"/>
                    <a:pt x="168" y="0"/>
                  </a:cubicBezTo>
                  <a:cubicBezTo>
                    <a:pt x="189" y="2"/>
                    <a:pt x="296" y="7"/>
                    <a:pt x="336" y="24"/>
                  </a:cubicBezTo>
                  <a:cubicBezTo>
                    <a:pt x="499" y="94"/>
                    <a:pt x="256" y="9"/>
                    <a:pt x="408" y="60"/>
                  </a:cubicBezTo>
                  <a:cubicBezTo>
                    <a:pt x="416" y="72"/>
                    <a:pt x="422" y="86"/>
                    <a:pt x="432" y="96"/>
                  </a:cubicBezTo>
                  <a:cubicBezTo>
                    <a:pt x="442" y="106"/>
                    <a:pt x="460" y="108"/>
                    <a:pt x="468" y="120"/>
                  </a:cubicBezTo>
                  <a:cubicBezTo>
                    <a:pt x="477" y="134"/>
                    <a:pt x="475" y="152"/>
                    <a:pt x="480" y="168"/>
                  </a:cubicBezTo>
                  <a:cubicBezTo>
                    <a:pt x="487" y="192"/>
                    <a:pt x="504" y="240"/>
                    <a:pt x="504" y="240"/>
                  </a:cubicBezTo>
                  <a:cubicBezTo>
                    <a:pt x="492" y="276"/>
                    <a:pt x="489" y="328"/>
                    <a:pt x="468" y="360"/>
                  </a:cubicBezTo>
                  <a:cubicBezTo>
                    <a:pt x="459" y="374"/>
                    <a:pt x="443" y="383"/>
                    <a:pt x="432" y="396"/>
                  </a:cubicBezTo>
                  <a:cubicBezTo>
                    <a:pt x="369" y="471"/>
                    <a:pt x="364" y="463"/>
                    <a:pt x="264" y="480"/>
                  </a:cubicBezTo>
                  <a:cubicBezTo>
                    <a:pt x="216" y="475"/>
                    <a:pt x="158" y="486"/>
                    <a:pt x="120" y="456"/>
                  </a:cubicBezTo>
                  <a:cubicBezTo>
                    <a:pt x="96" y="436"/>
                    <a:pt x="82" y="406"/>
                    <a:pt x="60" y="384"/>
                  </a:cubicBezTo>
                  <a:cubicBezTo>
                    <a:pt x="30" y="293"/>
                    <a:pt x="36" y="337"/>
                    <a:pt x="36" y="252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393" name="Oval 8"/>
            <p:cNvSpPr>
              <a:spLocks noChangeArrowheads="1"/>
            </p:cNvSpPr>
            <p:nvPr/>
          </p:nvSpPr>
          <p:spPr bwMode="auto">
            <a:xfrm>
              <a:off x="4397375" y="5573713"/>
              <a:ext cx="276225" cy="14446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6394" name="Line 9"/>
            <p:cNvSpPr>
              <a:spLocks noChangeShapeType="1"/>
            </p:cNvSpPr>
            <p:nvPr/>
          </p:nvSpPr>
          <p:spPr bwMode="auto">
            <a:xfrm flipH="1">
              <a:off x="4775200" y="3497263"/>
              <a:ext cx="2293938" cy="20478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6395" name="Line 10"/>
            <p:cNvSpPr>
              <a:spLocks noChangeShapeType="1"/>
            </p:cNvSpPr>
            <p:nvPr/>
          </p:nvSpPr>
          <p:spPr bwMode="auto">
            <a:xfrm>
              <a:off x="5616575" y="5703888"/>
              <a:ext cx="261938" cy="3635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16396" name="Line 11"/>
            <p:cNvSpPr>
              <a:spLocks noChangeShapeType="1"/>
            </p:cNvSpPr>
            <p:nvPr/>
          </p:nvSpPr>
          <p:spPr bwMode="auto">
            <a:xfrm flipH="1">
              <a:off x="5630863" y="5718175"/>
              <a:ext cx="219075" cy="2762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9588" y="195263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Deadlock Example</a:t>
            </a:r>
          </a:p>
        </p:txBody>
      </p:sp>
      <p:sp>
        <p:nvSpPr>
          <p:cNvPr id="1741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1163" y="636588"/>
            <a:ext cx="8434387" cy="5754687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 thread one runs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void *do_work_one(void *param)</a:t>
            </a:r>
            <a:b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4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</a:t>
            </a:r>
            <a:endParaRPr lang="en-US" altLang="en-US" sz="1800" b="1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 * Do some work */</a:t>
            </a:r>
            <a:b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pthread_mutex_unlock(&amp;second_mutex);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pthread_mutex_unlock(&amp;first_mutex);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pthread_exit(0);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/* thread two runs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void *do_work_two(void *param)</a:t>
            </a:r>
            <a:b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4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 </a:t>
            </a:r>
            <a:endParaRPr lang="en-US" altLang="en-US" sz="1800" b="1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/** * Do some work */</a:t>
            </a:r>
            <a:b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pthread_mutex_unlock(&amp;first_mutex);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pthread_mutex_unlock(&amp;second_mutex);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pthread_exit(0);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1741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91AF489-4B35-4181-B1FC-8EC7EEDD5DB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741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74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A5DC287-9FF1-4EEE-A654-C7CEE31639C6}" type="slidenum">
              <a:rPr kumimoji="0" lang="zh-TW" altLang="en-US" sz="1400" smtClean="0"/>
              <a:pPr eaLnBrk="1" hangingPunct="1"/>
              <a:t>15</a:t>
            </a:fld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163513"/>
            <a:ext cx="8672513" cy="688975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Deadlock Example with Lock Ordering</a:t>
            </a:r>
          </a:p>
        </p:txBody>
      </p:sp>
      <p:sp>
        <p:nvSpPr>
          <p:cNvPr id="1843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0525" y="884238"/>
            <a:ext cx="8432800" cy="43656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void transaction(Account from, Account to, double amount)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2000" b="1" dirty="0" err="1" smtClean="0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lock1, lock2;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lock1 = </a:t>
            </a:r>
            <a:r>
              <a:rPr lang="en-US" altLang="en-US" sz="2000" b="1" dirty="0" err="1" smtClean="0">
                <a:latin typeface="Courier New" pitchFamily="49" charset="0"/>
                <a:cs typeface="Courier New" pitchFamily="49" charset="0"/>
              </a:rPr>
              <a:t>get_lock</a:t>
            </a: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(from);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lock2 = </a:t>
            </a:r>
            <a:r>
              <a:rPr lang="en-US" altLang="en-US" sz="2000" b="1" dirty="0" err="1" smtClean="0">
                <a:latin typeface="Courier New" pitchFamily="49" charset="0"/>
                <a:cs typeface="Courier New" pitchFamily="49" charset="0"/>
              </a:rPr>
              <a:t>get_lock</a:t>
            </a: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(to);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acquire(lock1);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   acquire(lock2);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      withdraw(from, amount);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      deposit(to, amount);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   release(lock2);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   release(lock1);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 smtClean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5403850" y="1422400"/>
            <a:ext cx="3616325" cy="520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800" dirty="0">
                <a:solidFill>
                  <a:srgbClr val="0000FF"/>
                </a:solidFill>
                <a:latin typeface="Helvetica" pitchFamily="34" charset="0"/>
                <a:ea typeface="MS PGothic" pitchFamily="34" charset="-128"/>
              </a:rPr>
              <a:t>Transactions 1 and 2 execute concurrently.  </a:t>
            </a:r>
            <a:endParaRPr kumimoji="0" lang="en-US" altLang="en-US" sz="2800" dirty="0" smtClean="0">
              <a:solidFill>
                <a:srgbClr val="0000FF"/>
              </a:solidFill>
              <a:latin typeface="Helvetica" pitchFamily="34" charset="0"/>
              <a:ea typeface="MS PGothic" pitchFamily="34" charset="-128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800" dirty="0" smtClean="0">
                <a:solidFill>
                  <a:srgbClr val="0000FF"/>
                </a:solidFill>
                <a:latin typeface="Helvetica" pitchFamily="34" charset="0"/>
                <a:ea typeface="MS PGothic" pitchFamily="34" charset="-128"/>
              </a:rPr>
              <a:t>Transaction  </a:t>
            </a:r>
            <a:r>
              <a:rPr kumimoji="0" lang="en-US" altLang="en-US" sz="2800" dirty="0">
                <a:solidFill>
                  <a:srgbClr val="0000FF"/>
                </a:solidFill>
                <a:latin typeface="Helvetica" pitchFamily="34" charset="0"/>
                <a:ea typeface="MS PGothic" pitchFamily="34" charset="-128"/>
              </a:rPr>
              <a:t>1 transfers $25 from account A to account B, and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800" dirty="0">
                <a:solidFill>
                  <a:srgbClr val="7030A0"/>
                </a:solidFill>
                <a:latin typeface="Helvetica" pitchFamily="34" charset="0"/>
                <a:ea typeface="MS PGothic" pitchFamily="34" charset="-128"/>
              </a:rPr>
              <a:t>Transaction 2 transfers $50 from account B to account A</a:t>
            </a:r>
            <a:endParaRPr kumimoji="0" lang="en-US" altLang="zh-TW" sz="2800" dirty="0">
              <a:solidFill>
                <a:srgbClr val="7030A0"/>
              </a:solidFill>
              <a:latin typeface="Verdana" pitchFamily="34" charset="0"/>
              <a:ea typeface="MS PGothic" pitchFamily="34" charset="-128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dirty="0">
                <a:latin typeface="Helvetica" pitchFamily="34" charset="0"/>
                <a:ea typeface="MS PGothic" pitchFamily="34" charset="-128"/>
              </a:rPr>
              <a:t>    </a:t>
            </a:r>
          </a:p>
        </p:txBody>
      </p:sp>
      <p:sp>
        <p:nvSpPr>
          <p:cNvPr id="18437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3F31370-A15A-4A65-8E01-96ADBF8508BB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8438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843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E1F5368-4144-4776-8DF9-62A90F93B4D5}" type="slidenum">
              <a:rPr kumimoji="0" lang="zh-TW" altLang="en-US" sz="1400" smtClean="0"/>
              <a:pPr eaLnBrk="1" hangingPunct="1"/>
              <a:t>16</a:t>
            </a:fld>
            <a:endParaRPr kumimoji="0" lang="en-US" altLang="zh-TW" sz="1400" smtClean="0"/>
          </a:p>
        </p:txBody>
      </p:sp>
      <p:sp>
        <p:nvSpPr>
          <p:cNvPr id="2" name="矩形 1"/>
          <p:cNvSpPr/>
          <p:nvPr/>
        </p:nvSpPr>
        <p:spPr>
          <a:xfrm>
            <a:off x="6205234" y="4029028"/>
            <a:ext cx="30257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transaction(checking account, savings account, 25)</a:t>
            </a:r>
            <a:endParaRPr lang="zh-TW" altLang="en-US" sz="1600" dirty="0">
              <a:solidFill>
                <a:srgbClr val="FF0000"/>
              </a:solidFill>
              <a:latin typeface="Adobe Gothic Std B" pitchFamily="34" charset="-128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74749" y="5732826"/>
            <a:ext cx="30257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transaction(savings  account, </a:t>
            </a:r>
            <a:r>
              <a:rPr lang="en-US" altLang="zh-TW" sz="16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checking account</a:t>
            </a:r>
            <a:r>
              <a:rPr lang="en-US" altLang="zh-TW" sz="16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16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50)</a:t>
            </a:r>
            <a:endParaRPr lang="zh-TW" altLang="en-US" sz="1600" dirty="0">
              <a:solidFill>
                <a:srgbClr val="FF0000"/>
              </a:solidFill>
              <a:latin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A70220-7B3C-4B8F-884E-945F5F7EEE49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2487E74-5CC4-4D5A-856F-33A919B2903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554038" y="379413"/>
            <a:ext cx="7772400" cy="474662"/>
          </a:xfrm>
        </p:spPr>
        <p:txBody>
          <a:bodyPr/>
          <a:lstStyle/>
          <a:p>
            <a:pPr eaLnBrk="1" hangingPunct="1"/>
            <a:r>
              <a:rPr lang="en-US" altLang="zh-TW" smtClean="0"/>
              <a:t>Basic Facts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0850" y="801688"/>
            <a:ext cx="8275638" cy="5103812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If graph contains no cycles </a:t>
            </a:r>
            <a:r>
              <a:rPr lang="en-US" altLang="zh-TW" sz="2800" b="1" dirty="0" smtClean="0">
                <a:solidFill>
                  <a:srgbClr val="FF0000"/>
                </a:solidFill>
                <a:sym typeface="Symbol" pitchFamily="18" charset="2"/>
              </a:rPr>
              <a:t> no deadlock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dirty="0" smtClean="0">
                <a:sym typeface="Symbol" pitchFamily="18" charset="2"/>
              </a:rPr>
              <a:t>If graph contains a cycle 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>
                <a:sym typeface="Symbol" pitchFamily="18" charset="2"/>
              </a:rPr>
              <a:t>if only one instance per resource type, then deadlock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>
                <a:sym typeface="Symbol" pitchFamily="18" charset="2"/>
              </a:rPr>
              <a:t>if several instances per resource type, possibility of deadlock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In general, </a:t>
            </a:r>
            <a:r>
              <a:rPr lang="en-US" altLang="zh-TW" sz="2800" b="1" dirty="0" smtClean="0">
                <a:solidFill>
                  <a:srgbClr val="FF0000"/>
                </a:solidFill>
                <a:sym typeface="Symbol" pitchFamily="18" charset="2"/>
              </a:rPr>
              <a:t>deadlock 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 cycle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</a:t>
            </a:r>
            <a:r>
              <a:rPr lang="en-US" altLang="zh-TW" sz="2000" dirty="0" smtClean="0">
                <a:solidFill>
                  <a:schemeClr val="tx2"/>
                </a:solidFill>
              </a:rPr>
              <a:t>	cycle </a:t>
            </a:r>
            <a:r>
              <a:rPr lang="en-US" altLang="zh-TW" sz="2000" dirty="0" smtClean="0">
                <a:solidFill>
                  <a:schemeClr val="tx2"/>
                </a:solidFill>
                <a:sym typeface="Symbol" pitchFamily="18" charset="2"/>
              </a:rPr>
              <a:t></a:t>
            </a:r>
            <a:r>
              <a:rPr lang="en-US" altLang="zh-TW" sz="2000" dirty="0" smtClean="0">
                <a:solidFill>
                  <a:schemeClr val="tx2"/>
                </a:solidFill>
              </a:rPr>
              <a:t>  </a:t>
            </a:r>
            <a:r>
              <a:rPr lang="en-US" altLang="zh-TW" sz="2000" b="1" dirty="0" smtClean="0">
                <a:solidFill>
                  <a:schemeClr val="tx2"/>
                </a:solidFill>
              </a:rPr>
              <a:t>may</a:t>
            </a:r>
            <a:r>
              <a:rPr lang="en-US" altLang="zh-TW" sz="2000" dirty="0" smtClean="0">
                <a:solidFill>
                  <a:schemeClr val="tx2"/>
                </a:solidFill>
              </a:rPr>
              <a:t> deadlock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/>
              <a:t>		</a:t>
            </a:r>
            <a:r>
              <a:rPr lang="en-US" altLang="zh-TW" sz="2000" b="1" dirty="0" smtClean="0">
                <a:solidFill>
                  <a:srgbClr val="000000"/>
                </a:solidFill>
              </a:rPr>
              <a:t>	no cycle </a:t>
            </a:r>
            <a:r>
              <a:rPr lang="en-US" altLang="zh-TW" sz="2000" b="1" dirty="0" smtClean="0">
                <a:solidFill>
                  <a:srgbClr val="000000"/>
                </a:solidFill>
                <a:sym typeface="Symbol" pitchFamily="18" charset="2"/>
              </a:rPr>
              <a:t> no deadlock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000" dirty="0" smtClean="0">
                <a:sym typeface="Symbol" pitchFamily="18" charset="2"/>
              </a:rPr>
              <a:t>		</a:t>
            </a:r>
            <a:r>
              <a:rPr lang="en-US" altLang="zh-TW" sz="2000" b="1" dirty="0" smtClean="0">
                <a:solidFill>
                  <a:schemeClr val="tx2"/>
                </a:solidFill>
                <a:sym typeface="Symbol" pitchFamily="18" charset="2"/>
              </a:rPr>
              <a:t>	no deadlock  may have cycle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cycle + each resource in the cycle has only an instance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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deadlock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05EB2E-F352-4359-81F3-08642D9CAC3B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158EAD-16DE-465E-BE0D-574717453CF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smtClean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94675" cy="617538"/>
          </a:xfrm>
        </p:spPr>
        <p:txBody>
          <a:bodyPr/>
          <a:lstStyle/>
          <a:p>
            <a:pPr eaLnBrk="1" hangingPunct="1"/>
            <a:r>
              <a:rPr lang="en-US" altLang="zh-TW" smtClean="0"/>
              <a:t>Methods for Handling Deadlocks</a:t>
            </a:r>
          </a:p>
        </p:txBody>
      </p:sp>
      <p:sp>
        <p:nvSpPr>
          <p:cNvPr id="49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3525" y="839788"/>
            <a:ext cx="8645525" cy="53673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Ensure that the system will </a:t>
            </a:r>
            <a:r>
              <a:rPr lang="en-US" altLang="zh-TW" b="1" i="1" dirty="0" smtClean="0">
                <a:solidFill>
                  <a:srgbClr val="FF0000"/>
                </a:solidFill>
              </a:rPr>
              <a:t>never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enter</a:t>
            </a:r>
            <a:r>
              <a:rPr lang="en-US" altLang="zh-TW" sz="2800" dirty="0" smtClean="0"/>
              <a:t> 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deadlock state</a:t>
            </a:r>
            <a:endParaRPr lang="en-US" altLang="zh-TW" sz="2800" b="1" dirty="0" smtClean="0"/>
          </a:p>
          <a:p>
            <a:pPr lvl="1" eaLnBrk="1" hangingPunct="1">
              <a:defRPr/>
            </a:pPr>
            <a:r>
              <a:rPr lang="en-US" altLang="zh-TW" sz="2400" b="1" dirty="0" smtClean="0">
                <a:latin typeface="Comic Sans MS" pitchFamily="66" charset="0"/>
              </a:rPr>
              <a:t>deadlock </a:t>
            </a:r>
            <a:r>
              <a:rPr lang="en-US" altLang="zh-TW" sz="2400" b="1" dirty="0" smtClean="0">
                <a:solidFill>
                  <a:srgbClr val="FF0000"/>
                </a:solidFill>
                <a:latin typeface="Comic Sans MS" pitchFamily="66" charset="0"/>
              </a:rPr>
              <a:t>prevention</a:t>
            </a:r>
          </a:p>
          <a:p>
            <a:pPr lvl="1" eaLnBrk="1" hangingPunct="1">
              <a:defRPr/>
            </a:pPr>
            <a:r>
              <a:rPr lang="en-US" altLang="zh-TW" sz="2400" b="1" dirty="0" smtClean="0">
                <a:latin typeface="Comic Sans MS" pitchFamily="66" charset="0"/>
              </a:rPr>
              <a:t>deadlock </a:t>
            </a:r>
            <a:r>
              <a:rPr lang="en-US" altLang="zh-TW" sz="2400" b="1" dirty="0" smtClean="0">
                <a:solidFill>
                  <a:srgbClr val="FF0000"/>
                </a:solidFill>
                <a:latin typeface="Comic Sans MS" pitchFamily="66" charset="0"/>
              </a:rPr>
              <a:t>avoidance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Allow the system to enter a deadlock state and then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recover</a:t>
            </a:r>
            <a:endParaRPr lang="en-US" altLang="zh-TW" sz="2800" b="1" dirty="0" smtClean="0"/>
          </a:p>
          <a:p>
            <a:pPr lvl="1" eaLnBrk="1" hangingPunct="1">
              <a:defRPr/>
            </a:pPr>
            <a:r>
              <a:rPr lang="en-US" altLang="zh-TW" sz="2400" b="1" dirty="0" smtClean="0">
                <a:latin typeface="Comic Sans MS" pitchFamily="66" charset="0"/>
              </a:rPr>
              <a:t>deadlock </a:t>
            </a:r>
            <a:r>
              <a:rPr lang="en-US" altLang="zh-TW" sz="2400" b="1" dirty="0" smtClean="0">
                <a:solidFill>
                  <a:srgbClr val="FF0000"/>
                </a:solidFill>
                <a:latin typeface="Comic Sans MS" pitchFamily="66" charset="0"/>
              </a:rPr>
              <a:t>detection</a:t>
            </a:r>
          </a:p>
          <a:p>
            <a:pPr lvl="1" eaLnBrk="1" hangingPunct="1">
              <a:defRPr/>
            </a:pPr>
            <a:r>
              <a:rPr lang="en-US" altLang="zh-TW" sz="2400" b="1" dirty="0" smtClean="0">
                <a:latin typeface="Comic Sans MS" pitchFamily="66" charset="0"/>
              </a:rPr>
              <a:t>deadlock </a:t>
            </a:r>
            <a:r>
              <a:rPr lang="en-US" altLang="zh-TW" sz="2400" b="1" dirty="0" smtClean="0">
                <a:solidFill>
                  <a:srgbClr val="FF0000"/>
                </a:solidFill>
                <a:latin typeface="Comic Sans MS" pitchFamily="66" charset="0"/>
              </a:rPr>
              <a:t>recovery</a:t>
            </a:r>
            <a:endParaRPr lang="en-US" altLang="zh-TW" sz="2400" b="1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Ignore the problem and pretend that deadlocks never occur in the system</a:t>
            </a:r>
            <a:r>
              <a:rPr lang="en-US" altLang="zh-TW" sz="2800" dirty="0" smtClean="0"/>
              <a:t>; </a:t>
            </a:r>
            <a:r>
              <a:rPr lang="en-US" altLang="zh-TW" sz="2400" dirty="0" smtClean="0"/>
              <a:t>used by most operating systems, including UNIX.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29BEFC-1C24-43AB-9722-DA9B40B19847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9BF4A3-9B3A-4B7F-91F2-408CCA00015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792163" y="21590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Prevention</a:t>
            </a:r>
            <a:r>
              <a:rPr lang="en-US" altLang="zh-TW" smtClean="0"/>
              <a:t> (1)</a:t>
            </a:r>
          </a:p>
        </p:txBody>
      </p:sp>
      <p:sp>
        <p:nvSpPr>
          <p:cNvPr id="50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6400" y="1697038"/>
            <a:ext cx="8337550" cy="445135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 dirty="0" smtClean="0"/>
              <a:t>A set of methods for</a:t>
            </a:r>
            <a:r>
              <a:rPr lang="en-US" altLang="zh-TW" sz="2800" dirty="0" smtClean="0">
                <a:solidFill>
                  <a:srgbClr val="FFCC00"/>
                </a:solidFill>
              </a:rPr>
              <a:t> </a:t>
            </a:r>
            <a:r>
              <a:rPr lang="en-US" altLang="zh-TW" sz="2800" dirty="0" smtClean="0"/>
              <a:t>ensuring that </a:t>
            </a:r>
            <a:r>
              <a:rPr lang="en-US" altLang="zh-TW" sz="2800" dirty="0" smtClean="0">
                <a:solidFill>
                  <a:srgbClr val="FF0000"/>
                </a:solidFill>
              </a:rPr>
              <a:t>at least one of the four necessary conditions cannot hold</a:t>
            </a:r>
            <a:r>
              <a:rPr lang="en-US" altLang="zh-TW" sz="2800" dirty="0" smtClean="0"/>
              <a:t>. 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 dirty="0" smtClean="0"/>
              <a:t>These methods prevent deadlocks by </a:t>
            </a:r>
            <a:r>
              <a:rPr lang="en-US" altLang="zh-TW" sz="2800" dirty="0" smtClean="0">
                <a:solidFill>
                  <a:srgbClr val="FF0000"/>
                </a:solidFill>
              </a:rPr>
              <a:t>constraining how requests for resources are made</a:t>
            </a:r>
            <a:r>
              <a:rPr lang="en-US" altLang="zh-TW" sz="2800" dirty="0" smtClean="0"/>
              <a:t>.</a:t>
            </a:r>
            <a:endParaRPr lang="en-US" altLang="zh-TW" b="1" dirty="0" smtClean="0"/>
          </a:p>
          <a:p>
            <a:pPr marL="609600" indent="-609600" eaLnBrk="1" hangingPunct="1">
              <a:spcBef>
                <a:spcPct val="60000"/>
              </a:spcBef>
            </a:pPr>
            <a:r>
              <a:rPr lang="en-US" altLang="zh-TW" sz="2800" b="1" dirty="0" smtClean="0"/>
              <a:t>Mutual Exclusion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latin typeface="Helvetica" pitchFamily="34" charset="0"/>
              </a:rPr>
              <a:t>–</a:t>
            </a:r>
            <a:r>
              <a:rPr lang="en-US" altLang="zh-TW" sz="2800" dirty="0" smtClean="0"/>
              <a:t> must hold for non-sharable resources 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dirty="0" smtClean="0">
                <a:sym typeface="Wingdings" pitchFamily="2" charset="2"/>
              </a:rPr>
              <a:t> </a:t>
            </a:r>
            <a:r>
              <a:rPr lang="en-US" altLang="zh-TW" dirty="0" smtClean="0">
                <a:solidFill>
                  <a:srgbClr val="FF0000"/>
                </a:solidFill>
              </a:rPr>
              <a:t>Some resources are intrinsically non-sharable</a:t>
            </a:r>
            <a:endParaRPr lang="en-US" altLang="zh-TW" sz="2400" dirty="0" smtClean="0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27063" y="750888"/>
            <a:ext cx="6902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800" b="1" dirty="0">
                <a:solidFill>
                  <a:srgbClr val="000000"/>
                </a:solidFill>
                <a:latin typeface="Comic Sans MS" pitchFamily="66" charset="0"/>
              </a:rPr>
              <a:t>Check for all possibilities &amp; </a:t>
            </a:r>
            <a:r>
              <a:rPr kumimoji="0" lang="en-US" altLang="zh-TW" sz="2800" b="1" dirty="0">
                <a:solidFill>
                  <a:srgbClr val="000000"/>
                </a:solidFill>
                <a:latin typeface="Helvetica" pitchFamily="34" charset="0"/>
              </a:rPr>
              <a:t>Restrain the ways request can be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FC0EC2-135E-4DE0-A7FE-8458C19D9BCE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1933BE-7B51-4BC0-A111-8E660065DB0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 smtClean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301625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Prevention (2)</a:t>
            </a:r>
          </a:p>
        </p:txBody>
      </p:sp>
      <p:sp>
        <p:nvSpPr>
          <p:cNvPr id="94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050925"/>
            <a:ext cx="8235950" cy="51228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b="1" smtClean="0"/>
              <a:t>Hold and Wait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must guarantee that whenever a process requests a resource, </a:t>
            </a:r>
            <a:r>
              <a:rPr lang="en-US" altLang="zh-TW" smtClean="0">
                <a:solidFill>
                  <a:srgbClr val="FF0000"/>
                </a:solidFill>
              </a:rPr>
              <a:t>it does not hold any other resources</a:t>
            </a:r>
            <a:r>
              <a:rPr lang="en-US" altLang="zh-TW" smtClean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Require process to request and be </a:t>
            </a:r>
            <a:r>
              <a:rPr lang="en-US" altLang="zh-TW" smtClean="0">
                <a:solidFill>
                  <a:srgbClr val="FF0000"/>
                </a:solidFill>
              </a:rPr>
              <a:t>allocated all</a:t>
            </a:r>
            <a:r>
              <a:rPr lang="en-US" altLang="zh-TW" smtClean="0"/>
              <a:t> its resources before it begins execution, </a:t>
            </a:r>
            <a:r>
              <a:rPr lang="en-US" altLang="zh-TW" sz="3200" smtClean="0">
                <a:solidFill>
                  <a:schemeClr val="tx2"/>
                </a:solidFill>
              </a:rPr>
              <a:t>or</a:t>
            </a:r>
            <a:r>
              <a:rPr lang="en-US" altLang="zh-TW" smtClean="0"/>
              <a:t> allow process to request resources </a:t>
            </a:r>
            <a:r>
              <a:rPr lang="en-US" altLang="zh-TW" smtClean="0">
                <a:solidFill>
                  <a:srgbClr val="FF0000"/>
                </a:solidFill>
              </a:rPr>
              <a:t>only when the process has none</a:t>
            </a:r>
            <a:r>
              <a:rPr lang="en-US" altLang="zh-TW" smtClean="0"/>
              <a:t>.</a:t>
            </a:r>
            <a:endParaRPr lang="en-US" altLang="zh-TW" sz="3200" smtClean="0">
              <a:latin typeface="Wingdings" pitchFamily="2" charset="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3200" smtClean="0">
                <a:latin typeface="Wingdings" pitchFamily="2" charset="2"/>
              </a:rPr>
              <a:t>L</a:t>
            </a:r>
            <a:r>
              <a:rPr lang="en-US" altLang="zh-TW" sz="3200" smtClean="0">
                <a:solidFill>
                  <a:srgbClr val="FF0000"/>
                </a:solidFill>
              </a:rPr>
              <a:t>Low resource utilization; starvation possible</a:t>
            </a:r>
            <a:endParaRPr lang="en-US" altLang="zh-TW" sz="32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0F0996-A7E6-4147-891E-C9085747A3D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505327-A73D-445E-A489-FD94D033D08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 smtClean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236538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Prevention (3)</a:t>
            </a:r>
          </a:p>
        </p:txBody>
      </p:sp>
      <p:sp>
        <p:nvSpPr>
          <p:cNvPr id="51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850900"/>
            <a:ext cx="8462963" cy="5216525"/>
          </a:xfrm>
        </p:spPr>
        <p:txBody>
          <a:bodyPr/>
          <a:lstStyle/>
          <a:p>
            <a:pPr marL="609600" indent="-609600" eaLnBrk="1" hangingPunct="1"/>
            <a:r>
              <a:rPr lang="en-US" altLang="zh-TW" b="1" smtClean="0"/>
              <a:t>No Preemption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endParaRPr lang="en-US" altLang="zh-TW" sz="3600" smtClean="0"/>
          </a:p>
          <a:p>
            <a:pPr marL="990600" lvl="1" indent="-533400" eaLnBrk="1" hangingPunct="1">
              <a:buFont typeface="Wingdings" pitchFamily="2" charset="2"/>
              <a:buChar char="ü"/>
            </a:pPr>
            <a:r>
              <a:rPr lang="en-US" altLang="zh-TW" sz="3200" smtClean="0"/>
              <a:t>I</a:t>
            </a:r>
            <a:r>
              <a:rPr lang="en-US" altLang="zh-TW" smtClean="0"/>
              <a:t>f a process </a:t>
            </a:r>
            <a:r>
              <a:rPr lang="en-US" altLang="zh-TW" b="1" smtClean="0">
                <a:solidFill>
                  <a:schemeClr val="tx2"/>
                </a:solidFill>
              </a:rPr>
              <a:t>must wait</a:t>
            </a:r>
            <a:r>
              <a:rPr lang="en-US" altLang="zh-TW" smtClean="0"/>
              <a:t> then </a:t>
            </a:r>
            <a:r>
              <a:rPr lang="en-US" altLang="zh-TW" smtClean="0">
                <a:solidFill>
                  <a:srgbClr val="FF0000"/>
                </a:solidFill>
              </a:rPr>
              <a:t>all resources currently being held are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preempted</a:t>
            </a:r>
            <a:r>
              <a:rPr lang="en-US" altLang="zh-TW" smtClean="0"/>
              <a:t>.</a:t>
            </a:r>
            <a:endParaRPr lang="en-US" altLang="zh-TW" sz="3200" smtClean="0"/>
          </a:p>
          <a:p>
            <a:pPr marL="990600" lvl="1" indent="-533400" eaLnBrk="1" hangingPunct="1">
              <a:spcBef>
                <a:spcPct val="60000"/>
              </a:spcBef>
            </a:pPr>
            <a:r>
              <a:rPr lang="en-US" altLang="zh-TW" sz="3200" smtClean="0"/>
              <a:t>Process will be </a:t>
            </a:r>
            <a:r>
              <a:rPr lang="en-US" altLang="zh-TW" sz="3200" smtClean="0">
                <a:solidFill>
                  <a:srgbClr val="FF0000"/>
                </a:solidFill>
              </a:rPr>
              <a:t>restarted</a:t>
            </a:r>
            <a:r>
              <a:rPr lang="en-US" altLang="zh-TW" sz="3200" smtClean="0"/>
              <a:t> only when it can </a:t>
            </a:r>
            <a:r>
              <a:rPr lang="en-US" altLang="zh-TW" sz="3200" smtClean="0">
                <a:solidFill>
                  <a:srgbClr val="FF0000"/>
                </a:solidFill>
              </a:rPr>
              <a:t>regain its old resources</a:t>
            </a:r>
            <a:r>
              <a:rPr lang="en-US" altLang="zh-TW" sz="3200" smtClean="0"/>
              <a:t>, as well as the </a:t>
            </a:r>
            <a:r>
              <a:rPr lang="en-US" altLang="zh-TW" sz="3200" smtClean="0">
                <a:solidFill>
                  <a:srgbClr val="FF0000"/>
                </a:solidFill>
              </a:rPr>
              <a:t>new ones</a:t>
            </a:r>
            <a:r>
              <a:rPr lang="en-US" altLang="zh-TW" sz="3200" smtClean="0"/>
              <a:t> that it is requesting.</a:t>
            </a:r>
          </a:p>
          <a:p>
            <a:pPr marL="990600" lvl="1" indent="-533400" eaLnBrk="1" hangingPunct="1">
              <a:spcBef>
                <a:spcPct val="60000"/>
              </a:spcBef>
            </a:pPr>
            <a:r>
              <a:rPr lang="en-US" altLang="zh-TW" sz="3200" smtClean="0"/>
              <a:t>Only apply to resources whose state can be </a:t>
            </a:r>
            <a:r>
              <a:rPr lang="en-US" altLang="zh-TW" sz="3200" smtClean="0">
                <a:solidFill>
                  <a:srgbClr val="FF0000"/>
                </a:solidFill>
              </a:rPr>
              <a:t>easily saved/restored</a:t>
            </a:r>
            <a:r>
              <a:rPr lang="en-US" altLang="zh-TW" sz="3200" smtClean="0"/>
              <a:t> (such as CPU, registers, memory)</a:t>
            </a:r>
            <a:endParaRPr lang="zh-TW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065CAF-A13E-428A-B9AB-890757E87C37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F88CAF6-B09E-4900-8283-E86F6652901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 smtClean="0"/>
          </a:p>
        </p:txBody>
      </p:sp>
      <p:sp>
        <p:nvSpPr>
          <p:cNvPr id="2458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79425" y="454025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Prevention (4)</a:t>
            </a:r>
          </a:p>
        </p:txBody>
      </p:sp>
      <p:sp>
        <p:nvSpPr>
          <p:cNvPr id="95235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0050" y="1008063"/>
            <a:ext cx="8347075" cy="5405437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zh-TW" sz="2400" b="1" dirty="0" smtClean="0"/>
              <a:t>Circular Wait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latin typeface="Helvetica" pitchFamily="34" charset="0"/>
              </a:rPr>
              <a:t>–</a:t>
            </a:r>
            <a:r>
              <a:rPr lang="en-US" altLang="zh-TW" sz="2400" dirty="0" smtClean="0"/>
              <a:t> </a:t>
            </a:r>
            <a:endParaRPr lang="en-US" altLang="zh-TW" sz="2800" dirty="0" smtClean="0"/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000" dirty="0" smtClean="0"/>
              <a:t>impose a </a:t>
            </a:r>
            <a:r>
              <a:rPr lang="en-US" altLang="zh-TW" sz="2000" dirty="0" smtClean="0">
                <a:solidFill>
                  <a:srgbClr val="FF0000"/>
                </a:solidFill>
              </a:rPr>
              <a:t>total ordering</a:t>
            </a:r>
            <a:r>
              <a:rPr lang="en-US" altLang="zh-TW" sz="2000" dirty="0" smtClean="0"/>
              <a:t> of all resource types, and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000" dirty="0" smtClean="0"/>
              <a:t>require that each process requests resources </a:t>
            </a:r>
            <a:r>
              <a:rPr lang="en-US" altLang="zh-TW" sz="2000" dirty="0" smtClean="0">
                <a:solidFill>
                  <a:srgbClr val="FF0000"/>
                </a:solidFill>
              </a:rPr>
              <a:t>in an increasing order</a:t>
            </a:r>
            <a:r>
              <a:rPr lang="en-US" altLang="zh-TW" sz="2000" dirty="0" smtClean="0"/>
              <a:t> of enumeration. 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/>
              <a:t>	when request </a:t>
            </a:r>
            <a:r>
              <a:rPr lang="en-US" altLang="zh-TW" sz="2000" i="1" dirty="0" err="1" smtClean="0">
                <a:latin typeface="Times New Roman" pitchFamily="18" charset="0"/>
              </a:rPr>
              <a:t>R</a:t>
            </a:r>
            <a:r>
              <a:rPr lang="en-US" altLang="zh-TW" sz="2000" i="1" baseline="-25000" dirty="0" err="1" smtClean="0">
                <a:latin typeface="Times New Roman" pitchFamily="18" charset="0"/>
              </a:rPr>
              <a:t>k</a:t>
            </a:r>
            <a:r>
              <a:rPr lang="en-US" altLang="zh-TW" sz="2000" dirty="0" smtClean="0">
                <a:latin typeface="Times New Roman" pitchFamily="18" charset="0"/>
              </a:rPr>
              <a:t>,</a:t>
            </a:r>
            <a:r>
              <a:rPr lang="en-US" altLang="zh-TW" sz="2000" dirty="0" smtClean="0"/>
              <a:t> should release all </a:t>
            </a:r>
            <a:r>
              <a:rPr lang="en-US" altLang="zh-TW" sz="2000" i="1" dirty="0" err="1" smtClean="0">
                <a:latin typeface="Times New Roman" pitchFamily="18" charset="0"/>
              </a:rPr>
              <a:t>R</a:t>
            </a:r>
            <a:r>
              <a:rPr lang="en-US" altLang="zh-TW" sz="2000" i="1" baseline="-25000" dirty="0" err="1" smtClean="0">
                <a:latin typeface="Times New Roman" pitchFamily="18" charset="0"/>
              </a:rPr>
              <a:t>i</a:t>
            </a:r>
            <a:r>
              <a:rPr lang="en-US" altLang="zh-TW" sz="2000" dirty="0" smtClean="0">
                <a:latin typeface="Times New Roman" pitchFamily="18" charset="0"/>
              </a:rPr>
              <a:t>, </a:t>
            </a:r>
            <a:r>
              <a:rPr lang="en-US" altLang="zh-TW" sz="2000" i="1" dirty="0" err="1" smtClean="0">
                <a:latin typeface="Times New Roman" pitchFamily="18" charset="0"/>
              </a:rPr>
              <a:t>i</a:t>
            </a:r>
            <a:r>
              <a:rPr lang="en-US" altLang="zh-TW" sz="2000" i="1" dirty="0" smtClean="0">
                <a:latin typeface="Times New Roman" pitchFamily="18" charset="0"/>
              </a:rPr>
              <a:t> </a:t>
            </a:r>
            <a:r>
              <a:rPr lang="en-US" altLang="zh-TW" sz="2000" dirty="0" smtClean="0">
                <a:latin typeface="Times New Roman" pitchFamily="18" charset="0"/>
                <a:sym typeface="Symbol" pitchFamily="18" charset="2"/>
              </a:rPr>
              <a:t> </a:t>
            </a:r>
            <a:r>
              <a:rPr lang="en-US" altLang="zh-TW" sz="2000" i="1" dirty="0" smtClean="0">
                <a:latin typeface="Times New Roman" pitchFamily="18" charset="0"/>
              </a:rPr>
              <a:t>k</a:t>
            </a:r>
            <a:r>
              <a:rPr lang="en-US" altLang="zh-TW" sz="2000" i="1" dirty="0" smtClean="0"/>
              <a:t>.</a:t>
            </a:r>
            <a:endParaRPr lang="en-US" altLang="zh-TW" sz="2000" baseline="-25000" dirty="0" smtClean="0">
              <a:solidFill>
                <a:srgbClr val="FF0000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00"/>
                </a:solidFill>
              </a:rPr>
              <a:t>Correctness</a:t>
            </a:r>
            <a:r>
              <a:rPr lang="en-US" altLang="zh-TW" sz="2400" dirty="0" smtClean="0"/>
              <a:t> (proof by </a:t>
            </a:r>
            <a:r>
              <a:rPr lang="en-US" altLang="zh-TW" sz="2400" dirty="0" smtClean="0">
                <a:solidFill>
                  <a:srgbClr val="FF0000"/>
                </a:solidFill>
              </a:rPr>
              <a:t>contradiction</a:t>
            </a:r>
            <a:r>
              <a:rPr lang="en-US" altLang="zh-TW" sz="2400" dirty="0" smtClean="0"/>
              <a:t>)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zh-TW" sz="2400" dirty="0" smtClean="0"/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 smtClean="0"/>
              <a:t>	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 smtClean="0"/>
              <a:t>	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     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      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 =</a:t>
            </a:r>
            <a:r>
              <a:rPr lang="en-US" altLang="zh-TW" sz="1800" dirty="0" smtClean="0"/>
              <a:t> </a:t>
            </a:r>
            <a:r>
              <a:rPr lang="en-US" altLang="zh-TW" sz="1800" i="1" dirty="0" smtClean="0"/>
              <a:t>r</a:t>
            </a:r>
            <a:r>
              <a:rPr lang="en-US" altLang="zh-TW" sz="1800" baseline="-25000" dirty="0" smtClean="0"/>
              <a:t>1</a:t>
            </a:r>
            <a:r>
              <a:rPr lang="en-US" altLang="zh-TW" sz="1800" dirty="0" smtClean="0"/>
              <a:t> &lt; </a:t>
            </a:r>
            <a:r>
              <a:rPr lang="en-US" altLang="zh-TW" sz="1800" i="1" dirty="0" smtClean="0"/>
              <a:t>r</a:t>
            </a:r>
            <a:r>
              <a:rPr lang="en-US" altLang="zh-TW" sz="1800" i="1" baseline="-25000" dirty="0" smtClean="0"/>
              <a:t>2</a:t>
            </a:r>
            <a:r>
              <a:rPr lang="en-US" altLang="zh-TW" sz="1800" baseline="-25000" dirty="0" smtClean="0"/>
              <a:t>  </a:t>
            </a:r>
            <a:r>
              <a:rPr lang="en-US" altLang="zh-TW" sz="1800" dirty="0" smtClean="0"/>
              <a:t>=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en-US" altLang="zh-TW" sz="1800" dirty="0" smtClean="0"/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 smtClean="0"/>
              <a:t>	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 =</a:t>
            </a:r>
            <a:r>
              <a:rPr lang="en-US" altLang="zh-TW" sz="1800" dirty="0" smtClean="0"/>
              <a:t> </a:t>
            </a:r>
            <a:r>
              <a:rPr lang="en-US" altLang="zh-TW" sz="1800" i="1" dirty="0" smtClean="0"/>
              <a:t>r</a:t>
            </a:r>
            <a:r>
              <a:rPr lang="en-US" altLang="zh-TW" sz="1800" i="1" baseline="-25000" dirty="0" smtClean="0"/>
              <a:t>2</a:t>
            </a:r>
            <a:r>
              <a:rPr lang="en-US" altLang="zh-TW" sz="1800" dirty="0" smtClean="0"/>
              <a:t> &lt; </a:t>
            </a:r>
            <a:r>
              <a:rPr lang="en-US" altLang="zh-TW" sz="1800" i="1" dirty="0" smtClean="0"/>
              <a:t>r</a:t>
            </a:r>
            <a:r>
              <a:rPr lang="en-US" altLang="zh-TW" sz="1800" i="1" baseline="-25000" dirty="0" smtClean="0"/>
              <a:t>3</a:t>
            </a:r>
            <a:r>
              <a:rPr lang="en-US" altLang="zh-TW" sz="1800" baseline="-25000" dirty="0" smtClean="0"/>
              <a:t>  </a:t>
            </a:r>
            <a:r>
              <a:rPr lang="en-US" altLang="zh-TW" sz="1800" dirty="0" smtClean="0"/>
              <a:t>=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3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en-US" altLang="zh-TW" sz="1800" dirty="0" smtClean="0"/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 smtClean="0"/>
              <a:t>		...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dirty="0" smtClean="0"/>
              <a:t>	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 =</a:t>
            </a:r>
            <a:r>
              <a:rPr lang="en-US" altLang="zh-TW" sz="1800" dirty="0" smtClean="0"/>
              <a:t> </a:t>
            </a:r>
            <a:r>
              <a:rPr lang="en-US" altLang="zh-TW" sz="1800" i="1" dirty="0" smtClean="0"/>
              <a:t>r</a:t>
            </a:r>
            <a:r>
              <a:rPr lang="en-US" altLang="zh-TW" sz="1800" i="1" baseline="-25000" dirty="0" smtClean="0"/>
              <a:t>0</a:t>
            </a:r>
            <a:r>
              <a:rPr lang="en-US" altLang="zh-TW" sz="1800" baseline="-25000" dirty="0" smtClean="0"/>
              <a:t>  </a:t>
            </a:r>
            <a:r>
              <a:rPr lang="en-US" altLang="zh-TW" sz="1800" dirty="0" smtClean="0"/>
              <a:t>&lt; </a:t>
            </a:r>
            <a:r>
              <a:rPr lang="en-US" altLang="zh-TW" sz="1800" i="1" dirty="0" smtClean="0"/>
              <a:t>r</a:t>
            </a:r>
            <a:r>
              <a:rPr lang="en-US" altLang="zh-TW" sz="1800" i="1" baseline="-25000" dirty="0" smtClean="0"/>
              <a:t>1</a:t>
            </a:r>
            <a:r>
              <a:rPr lang="en-US" altLang="zh-TW" sz="1800" baseline="-25000" dirty="0" smtClean="0"/>
              <a:t>  </a:t>
            </a:r>
            <a:r>
              <a:rPr lang="en-US" altLang="zh-TW" sz="1800" dirty="0" smtClean="0"/>
              <a:t>=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F(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000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en-US" altLang="zh-TW" sz="1800" dirty="0" smtClean="0"/>
          </a:p>
          <a:p>
            <a:pPr marL="1295400" lvl="2" indent="-381000" eaLnBrk="1" hangingPunct="1">
              <a:lnSpc>
                <a:spcPct val="90000"/>
              </a:lnSpc>
              <a:buFont typeface="Wingdings" pitchFamily="2" charset="2"/>
              <a:buNone/>
            </a:pPr>
            <a:endParaRPr lang="zh-TW" altLang="en-US" sz="1800" dirty="0" smtClean="0"/>
          </a:p>
        </p:txBody>
      </p:sp>
      <p:grpSp>
        <p:nvGrpSpPr>
          <p:cNvPr id="95236" name="Group 2052"/>
          <p:cNvGrpSpPr>
            <a:grpSpLocks/>
          </p:cNvGrpSpPr>
          <p:nvPr/>
        </p:nvGrpSpPr>
        <p:grpSpPr bwMode="auto">
          <a:xfrm>
            <a:off x="1319213" y="3524250"/>
            <a:ext cx="4859337" cy="781050"/>
            <a:chOff x="1260" y="2678"/>
            <a:chExt cx="3061" cy="492"/>
          </a:xfrm>
        </p:grpSpPr>
        <p:sp>
          <p:nvSpPr>
            <p:cNvPr id="24592" name="Rectangle 2053"/>
            <p:cNvSpPr>
              <a:spLocks noChangeArrowheads="1"/>
            </p:cNvSpPr>
            <p:nvPr/>
          </p:nvSpPr>
          <p:spPr bwMode="auto">
            <a:xfrm>
              <a:off x="1260" y="2843"/>
              <a:ext cx="30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800" b="1" i="1">
                  <a:latin typeface="Times New Roman" pitchFamily="18" charset="0"/>
                </a:rPr>
                <a:t>P</a:t>
              </a:r>
              <a:r>
                <a:rPr lang="en-US" altLang="zh-TW" sz="2800" b="1" baseline="-25000">
                  <a:latin typeface="Times New Roman" pitchFamily="18" charset="0"/>
                </a:rPr>
                <a:t>0</a:t>
              </a:r>
              <a:r>
                <a:rPr lang="en-US" altLang="zh-TW" sz="2800" b="1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  <a:sym typeface="Symbol" pitchFamily="18" charset="2"/>
                </a:rPr>
                <a:t> </a:t>
              </a:r>
              <a:r>
                <a:rPr lang="en-US" altLang="zh-TW" sz="2800" b="1" i="1">
                  <a:latin typeface="Times New Roman" pitchFamily="18" charset="0"/>
                </a:rPr>
                <a:t>P</a:t>
              </a:r>
              <a:r>
                <a:rPr lang="en-US" altLang="zh-TW" sz="2800" b="1" baseline="-25000">
                  <a:latin typeface="Times New Roman" pitchFamily="18" charset="0"/>
                </a:rPr>
                <a:t>1</a:t>
              </a:r>
              <a:r>
                <a:rPr lang="en-US" altLang="zh-TW" sz="2800" b="1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  <a:sym typeface="Symbol" pitchFamily="18" charset="2"/>
                </a:rPr>
                <a:t> </a:t>
              </a:r>
              <a:r>
                <a:rPr lang="en-US" altLang="zh-TW" sz="2800" b="1" i="1">
                  <a:latin typeface="Times New Roman" pitchFamily="18" charset="0"/>
                </a:rPr>
                <a:t>P</a:t>
              </a:r>
              <a:r>
                <a:rPr lang="en-US" altLang="zh-TW" sz="2800" b="1" baseline="-25000">
                  <a:latin typeface="Times New Roman" pitchFamily="18" charset="0"/>
                </a:rPr>
                <a:t>2</a:t>
              </a:r>
              <a:r>
                <a:rPr lang="en-US" altLang="zh-TW" sz="2800" b="1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  <a:sym typeface="Symbol" pitchFamily="18" charset="2"/>
                </a:rPr>
                <a:t> ...</a:t>
              </a:r>
              <a:r>
                <a:rPr lang="en-US" altLang="zh-TW" sz="2800" b="1" baseline="-25000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  <a:sym typeface="Symbol" pitchFamily="18" charset="2"/>
                </a:rPr>
                <a:t> </a:t>
              </a:r>
              <a:r>
                <a:rPr lang="en-US" altLang="zh-TW" sz="2800" b="1" i="1">
                  <a:latin typeface="Times New Roman" pitchFamily="18" charset="0"/>
                </a:rPr>
                <a:t>P</a:t>
              </a:r>
              <a:r>
                <a:rPr lang="en-US" altLang="zh-TW" sz="2800" b="1" i="1" baseline="-25000">
                  <a:latin typeface="Times New Roman" pitchFamily="18" charset="0"/>
                </a:rPr>
                <a:t>n</a:t>
              </a:r>
              <a:r>
                <a:rPr lang="en-US" altLang="zh-TW" sz="2800" b="1">
                  <a:latin typeface="Times New Roman" pitchFamily="18" charset="0"/>
                </a:rPr>
                <a:t> </a:t>
              </a:r>
              <a:r>
                <a:rPr lang="en-US" altLang="zh-TW" sz="2800" b="1">
                  <a:latin typeface="Times New Roman" pitchFamily="18" charset="0"/>
                  <a:sym typeface="Symbol" pitchFamily="18" charset="2"/>
                </a:rPr>
                <a:t> </a:t>
              </a:r>
              <a:r>
                <a:rPr lang="en-US" altLang="zh-TW" sz="2800" b="1" i="1">
                  <a:latin typeface="Times New Roman" pitchFamily="18" charset="0"/>
                </a:rPr>
                <a:t>P</a:t>
              </a:r>
              <a:r>
                <a:rPr lang="en-US" altLang="zh-TW" sz="28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4593" name="Text Box 2054"/>
            <p:cNvSpPr txBox="1">
              <a:spLocks noChangeArrowheads="1"/>
            </p:cNvSpPr>
            <p:nvPr/>
          </p:nvSpPr>
          <p:spPr bwMode="auto">
            <a:xfrm>
              <a:off x="1574" y="271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 i="1">
                  <a:latin typeface="Times New Roman" pitchFamily="18" charset="0"/>
                </a:rPr>
                <a:t>R</a:t>
              </a:r>
              <a:r>
                <a:rPr lang="en-US" altLang="zh-TW" sz="2400" b="1" i="1" baseline="-25000">
                  <a:latin typeface="Times New Roman" pitchFamily="18" charset="0"/>
                </a:rPr>
                <a:t>1</a:t>
              </a:r>
              <a:endParaRPr lang="en-US" altLang="zh-TW" sz="2400" b="1" i="1">
                <a:latin typeface="Times New Roman" pitchFamily="18" charset="0"/>
              </a:endParaRPr>
            </a:p>
          </p:txBody>
        </p:sp>
        <p:sp>
          <p:nvSpPr>
            <p:cNvPr id="24594" name="Text Box 2055"/>
            <p:cNvSpPr txBox="1">
              <a:spLocks noChangeArrowheads="1"/>
            </p:cNvSpPr>
            <p:nvPr/>
          </p:nvSpPr>
          <p:spPr bwMode="auto">
            <a:xfrm>
              <a:off x="2150" y="271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 i="1">
                  <a:latin typeface="Times New Roman" pitchFamily="18" charset="0"/>
                </a:rPr>
                <a:t>R</a:t>
              </a:r>
              <a:r>
                <a:rPr lang="en-US" altLang="zh-TW" sz="2400" b="1" i="1" baseline="-25000">
                  <a:latin typeface="Times New Roman" pitchFamily="18" charset="0"/>
                </a:rPr>
                <a:t>2</a:t>
              </a:r>
              <a:endParaRPr lang="en-US" altLang="zh-TW" sz="2400" b="1" i="1">
                <a:latin typeface="Times New Roman" pitchFamily="18" charset="0"/>
              </a:endParaRPr>
            </a:p>
          </p:txBody>
        </p:sp>
        <p:sp>
          <p:nvSpPr>
            <p:cNvPr id="24595" name="Text Box 2056"/>
            <p:cNvSpPr txBox="1">
              <a:spLocks noChangeArrowheads="1"/>
            </p:cNvSpPr>
            <p:nvPr/>
          </p:nvSpPr>
          <p:spPr bwMode="auto">
            <a:xfrm>
              <a:off x="3782" y="267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b="1" i="1">
                  <a:latin typeface="Times New Roman" pitchFamily="18" charset="0"/>
                </a:rPr>
                <a:t>R</a:t>
              </a:r>
              <a:r>
                <a:rPr lang="en-US" altLang="zh-TW" sz="2400" b="1" i="1" baseline="-25000">
                  <a:latin typeface="Times New Roman" pitchFamily="18" charset="0"/>
                </a:rPr>
                <a:t>0</a:t>
              </a:r>
              <a:endParaRPr lang="en-US" altLang="zh-TW" sz="2400" b="1" i="1">
                <a:latin typeface="Times New Roman" pitchFamily="18" charset="0"/>
              </a:endParaRPr>
            </a:p>
          </p:txBody>
        </p:sp>
      </p:grpSp>
      <p:sp>
        <p:nvSpPr>
          <p:cNvPr id="95241" name="AutoShape 2057"/>
          <p:cNvSpPr>
            <a:spLocks/>
          </p:cNvSpPr>
          <p:nvPr/>
        </p:nvSpPr>
        <p:spPr bwMode="auto">
          <a:xfrm>
            <a:off x="4465638" y="4506913"/>
            <a:ext cx="323850" cy="1533525"/>
          </a:xfrm>
          <a:prstGeom prst="rightBrace">
            <a:avLst>
              <a:gd name="adj1" fmla="val 3946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4585" name="Text Box 2058"/>
          <p:cNvSpPr txBox="1">
            <a:spLocks noChangeArrowheads="1"/>
          </p:cNvSpPr>
          <p:nvPr/>
        </p:nvSpPr>
        <p:spPr bwMode="auto">
          <a:xfrm>
            <a:off x="6848475" y="4851400"/>
            <a:ext cx="182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5243" name="Text Box 2059"/>
          <p:cNvSpPr txBox="1">
            <a:spLocks noChangeArrowheads="1"/>
          </p:cNvSpPr>
          <p:nvPr/>
        </p:nvSpPr>
        <p:spPr bwMode="auto">
          <a:xfrm>
            <a:off x="5149850" y="4854575"/>
            <a:ext cx="1843088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 i="1" dirty="0">
                <a:solidFill>
                  <a:schemeClr val="tx2"/>
                </a:solidFill>
                <a:latin typeface="Times New Roman" pitchFamily="18" charset="0"/>
              </a:rPr>
              <a:t>r</a:t>
            </a:r>
            <a:r>
              <a:rPr lang="en-US" altLang="zh-TW" sz="2800" b="1" baseline="-25000" dirty="0">
                <a:solidFill>
                  <a:schemeClr val="tx2"/>
                </a:solidFill>
                <a:latin typeface="Times New Roman" pitchFamily="18" charset="0"/>
              </a:rPr>
              <a:t>1</a:t>
            </a:r>
            <a:r>
              <a:rPr lang="en-US" altLang="zh-TW" sz="2800" b="1" i="1" dirty="0">
                <a:solidFill>
                  <a:schemeClr val="tx2"/>
                </a:solidFill>
                <a:latin typeface="Times New Roman" pitchFamily="18" charset="0"/>
              </a:rPr>
              <a:t>&lt; r</a:t>
            </a:r>
            <a:r>
              <a:rPr lang="en-US" altLang="zh-TW" sz="2800" b="1" i="1" baseline="-25000" dirty="0">
                <a:solidFill>
                  <a:schemeClr val="tx2"/>
                </a:solidFill>
                <a:latin typeface="Times New Roman" pitchFamily="18" charset="0"/>
              </a:rPr>
              <a:t>0</a:t>
            </a:r>
            <a:r>
              <a:rPr lang="en-US" altLang="zh-TW" sz="2800" b="1" i="1" dirty="0">
                <a:solidFill>
                  <a:schemeClr val="tx2"/>
                </a:solidFill>
                <a:latin typeface="Times New Roman" pitchFamily="18" charset="0"/>
              </a:rPr>
              <a:t>&lt; r</a:t>
            </a:r>
            <a:r>
              <a:rPr lang="en-US" altLang="zh-TW" sz="2800" b="1" baseline="-25000" dirty="0">
                <a:solidFill>
                  <a:schemeClr val="tx2"/>
                </a:solidFill>
                <a:latin typeface="Times New Roman" pitchFamily="18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TW" altLang="en-US" sz="2800" b="1" baseline="-250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      </a:t>
            </a:r>
            <a:endParaRPr lang="zh-TW" altLang="en-US" sz="2800" b="1" baseline="-250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95245" name="Text Box 2061"/>
          <p:cNvSpPr txBox="1">
            <a:spLocks noChangeArrowheads="1"/>
          </p:cNvSpPr>
          <p:nvPr/>
        </p:nvSpPr>
        <p:spPr bwMode="auto">
          <a:xfrm>
            <a:off x="7064375" y="1371600"/>
            <a:ext cx="160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F: R </a:t>
            </a:r>
            <a:r>
              <a:rPr lang="en-US" altLang="zh-TW" sz="2400">
                <a:solidFill>
                  <a:srgbClr val="FF0000"/>
                </a:solidFill>
                <a:sym typeface="Symbol" pitchFamily="18" charset="2"/>
              </a:rPr>
              <a:t> N</a:t>
            </a:r>
          </a:p>
        </p:txBody>
      </p:sp>
      <p:sp>
        <p:nvSpPr>
          <p:cNvPr id="95246" name="Text Box 2062"/>
          <p:cNvSpPr txBox="1">
            <a:spLocks noChangeArrowheads="1"/>
          </p:cNvSpPr>
          <p:nvPr/>
        </p:nvSpPr>
        <p:spPr bwMode="auto">
          <a:xfrm>
            <a:off x="6426200" y="4173538"/>
            <a:ext cx="250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</a:rPr>
              <a:t>F(</a:t>
            </a:r>
            <a:r>
              <a:rPr lang="en-US" altLang="zh-TW" sz="2400" i="1" dirty="0" err="1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dirty="0">
                <a:solidFill>
                  <a:srgbClr val="FF0000"/>
                </a:solidFill>
              </a:rPr>
              <a:t>)&lt; F(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i+1</a:t>
            </a:r>
            <a:r>
              <a:rPr lang="en-US" altLang="zh-TW" sz="2400" dirty="0">
                <a:solidFill>
                  <a:srgbClr val="FF0000"/>
                </a:solidFill>
              </a:rPr>
              <a:t>), </a:t>
            </a: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</a:t>
            </a:r>
            <a:r>
              <a:rPr lang="en-US" altLang="zh-TW" sz="2400" i="1" dirty="0" err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</a:t>
            </a:r>
            <a:endParaRPr lang="en-US" altLang="zh-TW" sz="2400" i="1" dirty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95247" name="Text Box 2063"/>
          <p:cNvSpPr txBox="1">
            <a:spLocks noChangeArrowheads="1"/>
          </p:cNvSpPr>
          <p:nvPr/>
        </p:nvSpPr>
        <p:spPr bwMode="auto">
          <a:xfrm>
            <a:off x="6392863" y="3714750"/>
            <a:ext cx="228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i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i+1 </a:t>
            </a:r>
            <a:r>
              <a:rPr lang="en-US" altLang="zh-TW" sz="2400" i="1" dirty="0">
                <a:solidFill>
                  <a:srgbClr val="FF0000"/>
                </a:solidFill>
                <a:sym typeface="Symbol" pitchFamily="18" charset="2"/>
              </a:rPr>
              <a:t>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i+1</a:t>
            </a:r>
            <a:endParaRPr lang="zh-TW" altLang="en-US" sz="2400" i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5248" name="Text Box 2064"/>
          <p:cNvSpPr txBox="1">
            <a:spLocks noChangeArrowheads="1"/>
          </p:cNvSpPr>
          <p:nvPr/>
        </p:nvSpPr>
        <p:spPr bwMode="auto">
          <a:xfrm>
            <a:off x="6405563" y="337502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i-1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dirty="0" err="1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TW" sz="2400" i="1" baseline="-25000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i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400" i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dirty="0">
                <a:solidFill>
                  <a:srgbClr val="FF0000"/>
                </a:solidFill>
                <a:latin typeface="Times New Roman" pitchFamily="18" charset="0"/>
              </a:rPr>
              <a:t>i</a:t>
            </a:r>
            <a:endParaRPr lang="zh-TW" altLang="en-US" sz="2400" i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5255" name="Rectangle 2071"/>
          <p:cNvSpPr>
            <a:spLocks noChangeArrowheads="1"/>
          </p:cNvSpPr>
          <p:nvPr/>
        </p:nvSpPr>
        <p:spPr bwMode="auto">
          <a:xfrm>
            <a:off x="1890071" y="3617912"/>
            <a:ext cx="1243012" cy="72707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5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5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  <p:bldP spid="95241" grpId="0" animBg="1"/>
      <p:bldP spid="95243" grpId="0"/>
      <p:bldP spid="95245" grpId="0"/>
      <p:bldP spid="95246" grpId="0"/>
      <p:bldP spid="95247" grpId="0"/>
      <p:bldP spid="95248" grpId="0"/>
      <p:bldP spid="9525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556AFC-32E7-4368-97C5-F5D19E42323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340327-704A-45AB-BA8A-DDCF080C750F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3" y="30480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Avoidance</a:t>
            </a:r>
          </a:p>
        </p:txBody>
      </p:sp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6225" y="1673225"/>
            <a:ext cx="8601075" cy="4906963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smtClean="0"/>
              <a:t>Simplest and most useful model requires that each process declare the </a:t>
            </a:r>
            <a:r>
              <a:rPr lang="en-US" altLang="zh-TW" sz="2800" b="1" smtClean="0">
                <a:solidFill>
                  <a:srgbClr val="FF0000"/>
                </a:solidFill>
              </a:rPr>
              <a:t>maximum number of resources</a:t>
            </a:r>
            <a:r>
              <a:rPr lang="en-US" altLang="zh-TW" sz="2800" smtClean="0"/>
              <a:t> of each type that it may need.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smtClean="0"/>
              <a:t>The deadlock-avoidance algorithm </a:t>
            </a:r>
            <a:r>
              <a:rPr lang="en-US" altLang="zh-TW" sz="2800" smtClean="0">
                <a:solidFill>
                  <a:srgbClr val="FF0000"/>
                </a:solidFill>
              </a:rPr>
              <a:t>dynamically examines the resource-allocation state</a:t>
            </a:r>
            <a:r>
              <a:rPr lang="en-US" altLang="zh-TW" sz="2800" smtClean="0"/>
              <a:t> to ensure that there can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never be a circular-wait condition</a:t>
            </a:r>
            <a:r>
              <a:rPr lang="en-US" altLang="zh-TW" sz="280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smtClean="0"/>
              <a:t>Resource-allocation </a:t>
            </a:r>
            <a:r>
              <a:rPr lang="en-US" altLang="zh-TW" sz="2400" b="1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state</a:t>
            </a:r>
            <a:r>
              <a:rPr lang="en-US" altLang="zh-TW" sz="2400" smtClean="0"/>
              <a:t> is defined by # of 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available</a:t>
            </a:r>
            <a:r>
              <a:rPr lang="en-US" altLang="zh-TW" sz="2400" smtClean="0"/>
              <a:t> and 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allocated</a:t>
            </a:r>
            <a:r>
              <a:rPr lang="en-US" altLang="zh-TW" sz="2400" smtClean="0"/>
              <a:t> resources, and the 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maximum demands</a:t>
            </a:r>
            <a:r>
              <a:rPr lang="en-US" altLang="zh-TW" sz="2400" smtClean="0"/>
              <a:t> of the processes.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334963" y="839788"/>
            <a:ext cx="84534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 b="1">
                <a:solidFill>
                  <a:srgbClr val="000000"/>
                </a:solidFill>
                <a:latin typeface="Comic Sans MS" pitchFamily="66" charset="0"/>
              </a:rPr>
              <a:t>Check for the given cases &amp; </a:t>
            </a:r>
            <a:r>
              <a:rPr kumimoji="0" lang="en-US" altLang="zh-TW" sz="2400" b="1">
                <a:solidFill>
                  <a:srgbClr val="000000"/>
                </a:solidFill>
                <a:latin typeface="Helvetica" pitchFamily="34" charset="0"/>
              </a:rPr>
              <a:t>requires that the system has some additional </a:t>
            </a:r>
            <a:r>
              <a:rPr kumimoji="0" lang="en-US" altLang="zh-TW" sz="2400" b="1" i="1">
                <a:solidFill>
                  <a:srgbClr val="FF0000"/>
                </a:solidFill>
                <a:latin typeface="Helvetica" pitchFamily="34" charset="0"/>
              </a:rPr>
              <a:t>a</a:t>
            </a:r>
            <a:r>
              <a:rPr kumimoji="0" lang="en-US" altLang="zh-TW" sz="2400" b="1" i="1">
                <a:solidFill>
                  <a:srgbClr val="000000"/>
                </a:solidFill>
                <a:latin typeface="Helvetica" pitchFamily="34" charset="0"/>
              </a:rPr>
              <a:t> </a:t>
            </a:r>
            <a:r>
              <a:rPr kumimoji="0" lang="en-US" altLang="zh-TW" sz="2400" b="1" i="1">
                <a:solidFill>
                  <a:srgbClr val="FF0000"/>
                </a:solidFill>
                <a:latin typeface="Helvetica" pitchFamily="34" charset="0"/>
              </a:rPr>
              <a:t>priori </a:t>
            </a:r>
            <a:r>
              <a:rPr kumimoji="0" lang="en-US" altLang="zh-TW" sz="2400" b="1">
                <a:solidFill>
                  <a:srgbClr val="FF0000"/>
                </a:solidFill>
                <a:latin typeface="Helvetica" pitchFamily="34" charset="0"/>
              </a:rPr>
              <a:t>information</a:t>
            </a:r>
            <a:r>
              <a:rPr kumimoji="0" lang="en-US" altLang="zh-TW" sz="2400" b="1">
                <a:solidFill>
                  <a:srgbClr val="000000"/>
                </a:solidFill>
                <a:latin typeface="Helvetica" pitchFamily="34" charset="0"/>
              </a:rPr>
              <a:t> available.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B5F2E5-8E02-4B43-B279-B561E81D47E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3A2250-5996-4AC3-BA40-EEA5C618114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 smtClean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323850"/>
            <a:ext cx="7772400" cy="695325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rgbClr val="FF0000"/>
                </a:solidFill>
              </a:rPr>
              <a:t>Safe State</a:t>
            </a:r>
            <a:r>
              <a:rPr lang="en-US" altLang="zh-TW" smtClean="0"/>
              <a:t> (1)</a:t>
            </a:r>
            <a:endParaRPr lang="zh-TW" altLang="en-US" smtClean="0"/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5138" y="996950"/>
            <a:ext cx="8434387" cy="5437188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When a process requests an available resource, system must decide if immediate </a:t>
            </a:r>
            <a:r>
              <a:rPr lang="en-US" altLang="zh-TW" sz="2800" dirty="0" smtClean="0">
                <a:solidFill>
                  <a:srgbClr val="0000FF"/>
                </a:solidFill>
              </a:rPr>
              <a:t>allocation</a:t>
            </a:r>
            <a:r>
              <a:rPr lang="en-US" altLang="zh-TW" sz="2800" dirty="0" smtClean="0"/>
              <a:t> leaves the system in 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safe state.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System is in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safe state</a:t>
            </a:r>
            <a:r>
              <a:rPr lang="en-US" altLang="zh-TW" sz="2800" dirty="0" smtClean="0"/>
              <a:t> if there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exists a safe sequence</a:t>
            </a:r>
            <a:r>
              <a:rPr lang="en-US" altLang="zh-TW" sz="2800" dirty="0" smtClean="0"/>
              <a:t> of all processes. 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Sequence </a:t>
            </a:r>
            <a:r>
              <a:rPr lang="en-US" altLang="zh-TW" sz="2800" dirty="0" smtClean="0">
                <a:latin typeface="Times New Roman" pitchFamily="18" charset="0"/>
              </a:rPr>
              <a:t>&lt;</a:t>
            </a:r>
            <a:r>
              <a:rPr lang="en-US" altLang="zh-TW" sz="2800" i="1" dirty="0" smtClean="0">
                <a:latin typeface="Times New Roman" pitchFamily="18" charset="0"/>
              </a:rPr>
              <a:t>P</a:t>
            </a:r>
            <a:r>
              <a:rPr lang="en-US" altLang="zh-TW" sz="2800" baseline="-25000" dirty="0" smtClean="0">
                <a:latin typeface="Times New Roman" pitchFamily="18" charset="0"/>
              </a:rPr>
              <a:t>1</a:t>
            </a:r>
            <a:r>
              <a:rPr lang="en-US" altLang="zh-TW" sz="2800" dirty="0" smtClean="0">
                <a:latin typeface="Times New Roman" pitchFamily="18" charset="0"/>
              </a:rPr>
              <a:t>, </a:t>
            </a:r>
            <a:r>
              <a:rPr lang="en-US" altLang="zh-TW" sz="2800" i="1" dirty="0" smtClean="0">
                <a:latin typeface="Times New Roman" pitchFamily="18" charset="0"/>
              </a:rPr>
              <a:t>P</a:t>
            </a:r>
            <a:r>
              <a:rPr lang="en-US" altLang="zh-TW" sz="2800" baseline="-25000" dirty="0" smtClean="0">
                <a:latin typeface="Times New Roman" pitchFamily="18" charset="0"/>
              </a:rPr>
              <a:t>2</a:t>
            </a:r>
            <a:r>
              <a:rPr lang="en-US" altLang="zh-TW" sz="2800" dirty="0" smtClean="0">
                <a:latin typeface="Times New Roman" pitchFamily="18" charset="0"/>
              </a:rPr>
              <a:t>, …, </a:t>
            </a:r>
            <a:r>
              <a:rPr lang="en-US" altLang="zh-TW" sz="2800" i="1" dirty="0" err="1" smtClean="0">
                <a:latin typeface="Times New Roman" pitchFamily="18" charset="0"/>
              </a:rPr>
              <a:t>P</a:t>
            </a:r>
            <a:r>
              <a:rPr lang="en-US" altLang="zh-TW" sz="2800" i="1" baseline="-25000" dirty="0" err="1" smtClean="0">
                <a:latin typeface="Times New Roman" pitchFamily="18" charset="0"/>
              </a:rPr>
              <a:t>n</a:t>
            </a:r>
            <a:r>
              <a:rPr lang="en-US" altLang="zh-TW" sz="2800" dirty="0" smtClean="0">
                <a:latin typeface="Times New Roman" pitchFamily="18" charset="0"/>
              </a:rPr>
              <a:t>&gt;</a:t>
            </a:r>
            <a:r>
              <a:rPr lang="en-US" altLang="zh-TW" sz="2800" dirty="0" smtClean="0"/>
              <a:t> is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safe</a:t>
            </a:r>
            <a:r>
              <a:rPr lang="en-US" altLang="zh-TW" sz="2800" dirty="0" smtClean="0"/>
              <a:t> if for each</a:t>
            </a:r>
            <a:r>
              <a:rPr lang="en-US" altLang="zh-TW" sz="2800" i="1" dirty="0" smtClean="0"/>
              <a:t> </a:t>
            </a:r>
            <a:r>
              <a:rPr lang="en-US" altLang="zh-TW" sz="2800" i="1" dirty="0" smtClean="0">
                <a:latin typeface="Times New Roman" pitchFamily="18" charset="0"/>
              </a:rPr>
              <a:t>P</a:t>
            </a:r>
            <a:r>
              <a:rPr lang="en-US" altLang="zh-TW" sz="2800" i="1" baseline="-25000" dirty="0" smtClean="0">
                <a:latin typeface="Times New Roman" pitchFamily="18" charset="0"/>
              </a:rPr>
              <a:t>i</a:t>
            </a:r>
            <a:r>
              <a:rPr lang="en-US" altLang="zh-TW" sz="2800" dirty="0" smtClean="0"/>
              <a:t>, the resources that </a:t>
            </a:r>
            <a:r>
              <a:rPr lang="en-US" altLang="zh-TW" sz="2800" i="1" dirty="0" smtClean="0">
                <a:latin typeface="Times New Roman" pitchFamily="18" charset="0"/>
              </a:rPr>
              <a:t>P</a:t>
            </a:r>
            <a:r>
              <a:rPr lang="en-US" altLang="zh-TW" sz="2800" i="1" baseline="-25000" dirty="0" smtClean="0">
                <a:latin typeface="Times New Roman" pitchFamily="18" charset="0"/>
              </a:rPr>
              <a:t>i</a:t>
            </a:r>
            <a:r>
              <a:rPr lang="en-US" altLang="zh-TW" sz="2800" baseline="-25000" dirty="0" smtClean="0">
                <a:latin typeface="Times New Roman" pitchFamily="18" charset="0"/>
              </a:rPr>
              <a:t> </a:t>
            </a:r>
            <a:r>
              <a:rPr lang="en-US" altLang="zh-TW" sz="2800" baseline="-25000" dirty="0" smtClean="0"/>
              <a:t> </a:t>
            </a:r>
            <a:r>
              <a:rPr lang="en-US" altLang="zh-TW" sz="2800" dirty="0" smtClean="0"/>
              <a:t>can still request, can be </a:t>
            </a:r>
            <a:r>
              <a:rPr lang="en-US" altLang="zh-TW" sz="2800" dirty="0" smtClean="0">
                <a:solidFill>
                  <a:srgbClr val="FF0000"/>
                </a:solidFill>
              </a:rPr>
              <a:t>satisfied</a:t>
            </a:r>
            <a:r>
              <a:rPr lang="en-US" altLang="zh-TW" sz="2800" dirty="0" smtClean="0"/>
              <a:t> by currently available resources + resources held by all the </a:t>
            </a:r>
            <a:r>
              <a:rPr lang="en-US" altLang="zh-TW" sz="2800" i="1" dirty="0" err="1" smtClean="0">
                <a:latin typeface="Times New Roman" pitchFamily="18" charset="0"/>
              </a:rPr>
              <a:t>P</a:t>
            </a:r>
            <a:r>
              <a:rPr lang="en-US" altLang="zh-TW" sz="2800" i="1" baseline="-25000" dirty="0" err="1" smtClean="0">
                <a:latin typeface="Times New Roman" pitchFamily="18" charset="0"/>
              </a:rPr>
              <a:t>j</a:t>
            </a:r>
            <a:r>
              <a:rPr lang="en-US" altLang="zh-TW" sz="2800" dirty="0" smtClean="0">
                <a:latin typeface="Times New Roman" pitchFamily="18" charset="0"/>
              </a:rPr>
              <a:t>,</a:t>
            </a:r>
            <a:r>
              <a:rPr lang="en-US" altLang="zh-TW" sz="2800" dirty="0" smtClean="0"/>
              <a:t> with </a:t>
            </a:r>
            <a:r>
              <a:rPr lang="en-US" altLang="zh-TW" sz="2800" i="1" dirty="0" smtClean="0">
                <a:latin typeface="Times New Roman" pitchFamily="18" charset="0"/>
              </a:rPr>
              <a:t>j &lt; 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8C0A08-C6ED-4BB2-A352-8C757BB15EC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C225E3-3369-455F-9BDC-BCBFF027A98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323850"/>
            <a:ext cx="7772400" cy="695325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rgbClr val="FF0000"/>
                </a:solidFill>
              </a:rPr>
              <a:t>Safe State</a:t>
            </a:r>
            <a:r>
              <a:rPr lang="en-US" altLang="zh-TW" smtClean="0"/>
              <a:t> (2)</a:t>
            </a:r>
            <a:endParaRPr lang="zh-TW" altLang="en-US" smtClean="0"/>
          </a:p>
        </p:txBody>
      </p:sp>
      <p:sp>
        <p:nvSpPr>
          <p:cNvPr id="163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2913" y="865188"/>
            <a:ext cx="8434387" cy="5715000"/>
          </a:xfrm>
        </p:spPr>
        <p:txBody>
          <a:bodyPr/>
          <a:lstStyle/>
          <a:p>
            <a:pPr marL="609600" indent="-609600" eaLnBrk="1" hangingPunct="1">
              <a:spcBef>
                <a:spcPct val="60000"/>
              </a:spcBef>
            </a:pPr>
            <a:r>
              <a:rPr lang="en-US" altLang="zh-TW" sz="2400" smtClean="0">
                <a:latin typeface="Times New Roman" pitchFamily="18" charset="0"/>
              </a:rPr>
              <a:t>Formally, there is a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safe sequence</a:t>
            </a:r>
            <a:r>
              <a:rPr lang="en-US" altLang="zh-TW" sz="2400" i="1" smtClean="0">
                <a:solidFill>
                  <a:srgbClr val="FFCC00"/>
                </a:solidFill>
                <a:latin typeface="Times New Roman" pitchFamily="18" charset="0"/>
              </a:rPr>
              <a:t> </a:t>
            </a:r>
          </a:p>
          <a:p>
            <a:pPr marL="990600" lvl="1" indent="-533400"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000" i="1" smtClean="0">
                <a:latin typeface="Times New Roman" pitchFamily="18" charset="0"/>
              </a:rPr>
              <a:t>&lt;P</a:t>
            </a:r>
            <a:r>
              <a:rPr lang="en-US" altLang="zh-TW" sz="2000" i="1" baseline="-25000" smtClean="0">
                <a:latin typeface="Times New Roman" pitchFamily="18" charset="0"/>
              </a:rPr>
              <a:t>1</a:t>
            </a:r>
            <a:r>
              <a:rPr lang="en-US" altLang="zh-TW" sz="2000" i="1" smtClean="0">
                <a:latin typeface="Times New Roman" pitchFamily="18" charset="0"/>
              </a:rPr>
              <a:t>, P</a:t>
            </a:r>
            <a:r>
              <a:rPr lang="en-US" altLang="zh-TW" sz="2000" i="1" baseline="-25000" smtClean="0">
                <a:latin typeface="Times New Roman" pitchFamily="18" charset="0"/>
              </a:rPr>
              <a:t>2</a:t>
            </a:r>
            <a:r>
              <a:rPr lang="en-US" altLang="zh-TW" sz="2000" i="1" smtClean="0">
                <a:latin typeface="Times New Roman" pitchFamily="18" charset="0"/>
              </a:rPr>
              <a:t>, ..., P</a:t>
            </a:r>
            <a:r>
              <a:rPr lang="en-US" altLang="zh-TW" sz="2000" i="1" baseline="-25000" smtClean="0">
                <a:latin typeface="Times New Roman" pitchFamily="18" charset="0"/>
              </a:rPr>
              <a:t>n</a:t>
            </a:r>
            <a:r>
              <a:rPr lang="en-US" altLang="zh-TW" sz="2000" smtClean="0">
                <a:latin typeface="Times New Roman" pitchFamily="18" charset="0"/>
              </a:rPr>
              <a:t>&gt; such that for all </a:t>
            </a:r>
            <a:r>
              <a:rPr lang="en-US" altLang="zh-TW" sz="2000" i="1" smtClean="0">
                <a:latin typeface="Times New Roman" pitchFamily="18" charset="0"/>
              </a:rPr>
              <a:t>i</a:t>
            </a:r>
            <a:r>
              <a:rPr lang="en-US" altLang="zh-TW" sz="2000" smtClean="0">
                <a:latin typeface="Times New Roman" pitchFamily="18" charset="0"/>
              </a:rPr>
              <a:t> =1, 2, ..., </a:t>
            </a:r>
            <a:r>
              <a:rPr lang="en-US" altLang="zh-TW" sz="2000" i="1" smtClean="0">
                <a:latin typeface="Times New Roman" pitchFamily="18" charset="0"/>
              </a:rPr>
              <a:t>n,</a:t>
            </a:r>
          </a:p>
          <a:p>
            <a:pPr marL="990600" lvl="1" indent="-533400"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</a:rPr>
              <a:t>Available + 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</a:t>
            </a:r>
            <a:r>
              <a:rPr lang="en-US" altLang="zh-TW" sz="2000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TW" sz="2000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000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TW" sz="2000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TW" sz="2000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Allocated</a:t>
            </a:r>
            <a:r>
              <a:rPr lang="en-US" altLang="zh-TW" sz="2000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k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)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TW" sz="2000" i="1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 MaxNeed</a:t>
            </a:r>
            <a:r>
              <a:rPr lang="en-US" altLang="zh-TW" sz="2000" i="1" baseline="-25000" smtClean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i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000" i="1" baseline="-25000" smtClean="0">
              <a:solidFill>
                <a:srgbClr val="0000FF"/>
              </a:solidFill>
              <a:latin typeface="Times New Roman" pitchFamily="18" charset="0"/>
              <a:sym typeface="Symbol" pitchFamily="18" charset="2"/>
            </a:endParaRPr>
          </a:p>
          <a:p>
            <a:pPr marL="609600" indent="-609600" eaLnBrk="1" hangingPunct="1"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If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resource needs are not immediately available, then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can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</a:rPr>
              <a:t>wait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until all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j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j &lt; 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have finished.</a:t>
            </a:r>
          </a:p>
          <a:p>
            <a:pPr marL="609600" indent="-609600" eaLnBrk="1" hangingPunct="1"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When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j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(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j &lt; 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is finished,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can obtain needed resources, execute, return allocated resources, and terminate. </a:t>
            </a:r>
          </a:p>
          <a:p>
            <a:pPr marL="609600" indent="-609600" eaLnBrk="1" hangingPunct="1"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When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terminates, </a:t>
            </a:r>
            <a:r>
              <a:rPr lang="en-US" altLang="zh-TW" sz="2400" i="1" smtClean="0">
                <a:solidFill>
                  <a:schemeClr val="tx2"/>
                </a:solidFill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solidFill>
                  <a:schemeClr val="tx2"/>
                </a:solidFill>
                <a:latin typeface="Times New Roman" pitchFamily="18" charset="0"/>
              </a:rPr>
              <a:t>i+</a:t>
            </a:r>
            <a:r>
              <a:rPr lang="en-US" altLang="zh-TW" sz="2400" baseline="-25000" smtClean="0">
                <a:solidFill>
                  <a:schemeClr val="tx2"/>
                </a:solidFill>
                <a:latin typeface="Times New Roman" pitchFamily="18" charset="0"/>
              </a:rPr>
              <a:t>1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</a:rPr>
              <a:t> can obtain its needed resources, and so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E9B279-DBC8-4FCA-A519-2FE092C95AAD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7738DAF-9232-40E9-BB71-B3ADB876F54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323850"/>
            <a:ext cx="7772400" cy="695325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rgbClr val="FF0000"/>
                </a:solidFill>
              </a:rPr>
              <a:t>Safe State</a:t>
            </a:r>
            <a:r>
              <a:rPr lang="en-US" altLang="zh-TW" smtClean="0"/>
              <a:t> (3)</a:t>
            </a:r>
            <a:endParaRPr lang="zh-TW" altLang="en-US" smtClean="0"/>
          </a:p>
        </p:txBody>
      </p:sp>
      <p:sp>
        <p:nvSpPr>
          <p:cNvPr id="962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3075" y="965200"/>
            <a:ext cx="8364538" cy="5040313"/>
          </a:xfrm>
        </p:spPr>
        <p:txBody>
          <a:bodyPr/>
          <a:lstStyle/>
          <a:p>
            <a:pPr marL="609600" indent="-609600" eaLnBrk="1" hangingPunct="1"/>
            <a:r>
              <a:rPr lang="en-US" altLang="zh-TW" b="1" smtClean="0">
                <a:solidFill>
                  <a:srgbClr val="FF0000"/>
                </a:solidFill>
              </a:rPr>
              <a:t>unsafe State</a:t>
            </a:r>
          </a:p>
          <a:p>
            <a:pPr marL="990600" lvl="1" indent="-533400" eaLnBrk="1" hangingPunct="1"/>
            <a:r>
              <a:rPr lang="en-US" altLang="zh-TW" smtClean="0">
                <a:solidFill>
                  <a:srgbClr val="FF0000"/>
                </a:solidFill>
              </a:rPr>
              <a:t>no safe sequence exists</a:t>
            </a:r>
          </a:p>
          <a:p>
            <a:pPr marL="990600" lvl="1" indent="-533400" eaLnBrk="1" hangingPunct="1"/>
            <a:r>
              <a:rPr lang="en-US" altLang="zh-TW" smtClean="0"/>
              <a:t>may lead to a deadlock (not must)</a:t>
            </a:r>
          </a:p>
        </p:txBody>
      </p:sp>
      <p:pic>
        <p:nvPicPr>
          <p:cNvPr id="2867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8" t="1381" r="10387" b="829"/>
          <a:stretch>
            <a:fillRect/>
          </a:stretch>
        </p:blipFill>
        <p:spPr bwMode="auto">
          <a:xfrm>
            <a:off x="2546350" y="2649538"/>
            <a:ext cx="4525963" cy="34290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921518-1054-4426-BC82-457498C85C2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F74044-99A7-4B73-8A12-8F786CCBE03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30250"/>
          </a:xfrm>
        </p:spPr>
        <p:txBody>
          <a:bodyPr/>
          <a:lstStyle/>
          <a:p>
            <a:pPr eaLnBrk="1" hangingPunct="1"/>
            <a:r>
              <a:rPr lang="en-US" altLang="zh-TW" smtClean="0"/>
              <a:t>Basic Facts</a:t>
            </a:r>
          </a:p>
        </p:txBody>
      </p:sp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044575"/>
            <a:ext cx="7958137" cy="4562475"/>
          </a:xfrm>
        </p:spPr>
        <p:txBody>
          <a:bodyPr/>
          <a:lstStyle/>
          <a:p>
            <a:pPr eaLnBrk="1" hangingPunct="1"/>
            <a:r>
              <a:rPr lang="en-US" altLang="zh-TW" smtClean="0"/>
              <a:t>If a system is </a:t>
            </a:r>
            <a:r>
              <a:rPr lang="en-US" altLang="zh-TW" smtClean="0">
                <a:solidFill>
                  <a:srgbClr val="FF0000"/>
                </a:solidFill>
              </a:rPr>
              <a:t>in safe state </a:t>
            </a:r>
            <a:r>
              <a:rPr lang="en-US" altLang="zh-TW" smtClean="0">
                <a:solidFill>
                  <a:srgbClr val="FF0000"/>
                </a:solidFill>
                <a:sym typeface="Symbol" pitchFamily="18" charset="2"/>
              </a:rPr>
              <a:t> no deadlocks</a:t>
            </a:r>
            <a:r>
              <a:rPr lang="en-US" altLang="zh-TW" smtClean="0">
                <a:sym typeface="Symbol" pitchFamily="18" charset="2"/>
              </a:rPr>
              <a:t/>
            </a:r>
            <a:br>
              <a:rPr lang="en-US" altLang="zh-TW" smtClean="0">
                <a:sym typeface="Symbol" pitchFamily="18" charset="2"/>
              </a:rPr>
            </a:br>
            <a:endParaRPr lang="en-US" altLang="zh-TW" smtClean="0">
              <a:sym typeface="Symbol" pitchFamily="18" charset="2"/>
            </a:endParaRPr>
          </a:p>
          <a:p>
            <a:pPr eaLnBrk="1" hangingPunct="1"/>
            <a:r>
              <a:rPr lang="en-US" altLang="zh-TW" smtClean="0">
                <a:sym typeface="Symbol" pitchFamily="18" charset="2"/>
              </a:rPr>
              <a:t>If a system is </a:t>
            </a:r>
            <a:r>
              <a:rPr lang="en-US" altLang="zh-TW" smtClean="0">
                <a:solidFill>
                  <a:srgbClr val="FF0000"/>
                </a:solidFill>
                <a:sym typeface="Symbol" pitchFamily="18" charset="2"/>
              </a:rPr>
              <a:t>in unsafe state  </a:t>
            </a:r>
            <a:r>
              <a:rPr lang="en-US" altLang="zh-TW" smtClean="0">
                <a:solidFill>
                  <a:schemeClr val="tx2"/>
                </a:solidFill>
                <a:sym typeface="Symbol" pitchFamily="18" charset="2"/>
              </a:rPr>
              <a:t>possibility</a:t>
            </a:r>
            <a:r>
              <a:rPr lang="en-US" altLang="zh-TW" smtClean="0">
                <a:solidFill>
                  <a:srgbClr val="FF0000"/>
                </a:solidFill>
                <a:sym typeface="Symbol" pitchFamily="18" charset="2"/>
              </a:rPr>
              <a:t> of deadlock</a:t>
            </a:r>
            <a:r>
              <a:rPr lang="en-US" altLang="zh-TW" smtClean="0">
                <a:sym typeface="Symbol" pitchFamily="18" charset="2"/>
              </a:rPr>
              <a:t/>
            </a:r>
            <a:br>
              <a:rPr lang="en-US" altLang="zh-TW" smtClean="0">
                <a:sym typeface="Symbol" pitchFamily="18" charset="2"/>
              </a:rPr>
            </a:br>
            <a:endParaRPr lang="en-US" altLang="zh-TW" b="1" smtClean="0">
              <a:solidFill>
                <a:srgbClr val="000000"/>
              </a:solidFill>
              <a:sym typeface="Symbol" pitchFamily="18" charset="2"/>
            </a:endParaRPr>
          </a:p>
          <a:p>
            <a:pPr eaLnBrk="1" hangingPunct="1"/>
            <a:r>
              <a:rPr lang="en-US" altLang="zh-TW" b="1" smtClean="0">
                <a:solidFill>
                  <a:srgbClr val="000000"/>
                </a:solidFill>
                <a:sym typeface="Symbol" pitchFamily="18" charset="2"/>
              </a:rPr>
              <a:t>Avoidance</a:t>
            </a:r>
            <a:r>
              <a:rPr lang="en-US" altLang="zh-TW" smtClean="0">
                <a:sym typeface="Symbol" pitchFamily="18" charset="2"/>
              </a:rPr>
              <a:t>  </a:t>
            </a:r>
            <a:r>
              <a:rPr lang="en-US" altLang="zh-TW" b="1" smtClean="0">
                <a:solidFill>
                  <a:srgbClr val="FF0000"/>
                </a:solidFill>
                <a:sym typeface="Symbol" pitchFamily="18" charset="2"/>
              </a:rPr>
              <a:t>ensure that a system will never enter an unsafe state</a:t>
            </a:r>
            <a:r>
              <a:rPr lang="en-US" altLang="zh-TW" smtClean="0"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E7F468-C73D-48DC-A6CC-F236756E0234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072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072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754108-D75F-4C79-81FD-0979CD88E73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 smtClean="0"/>
          </a:p>
        </p:txBody>
      </p:sp>
      <p:sp>
        <p:nvSpPr>
          <p:cNvPr id="307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52488"/>
          </a:xfrm>
        </p:spPr>
        <p:txBody>
          <a:bodyPr/>
          <a:lstStyle/>
          <a:p>
            <a:pPr eaLnBrk="1" hangingPunct="1"/>
            <a:r>
              <a:rPr lang="en-US" altLang="zh-TW" smtClean="0"/>
              <a:t>An Example </a:t>
            </a:r>
          </a:p>
        </p:txBody>
      </p:sp>
      <p:sp>
        <p:nvSpPr>
          <p:cNvPr id="30726" name="Rectangle 1028"/>
          <p:cNvSpPr>
            <a:spLocks noChangeArrowheads="1"/>
          </p:cNvSpPr>
          <p:nvPr/>
        </p:nvSpPr>
        <p:spPr bwMode="auto">
          <a:xfrm>
            <a:off x="179388" y="1168400"/>
            <a:ext cx="7781925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2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>
                <a:latin typeface="Times New Roman" pitchFamily="18" charset="0"/>
              </a:rPr>
              <a:t>12 tape drivers in total</a:t>
            </a:r>
          </a:p>
          <a:p>
            <a:pPr lvl="2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000000"/>
                </a:solidFill>
                <a:latin typeface="Times New Roman" pitchFamily="18" charset="0"/>
              </a:rPr>
              <a:t>	</a:t>
            </a:r>
            <a:r>
              <a:rPr lang="en-US" altLang="zh-TW" sz="2800" b="1" u="sng">
                <a:solidFill>
                  <a:srgbClr val="000000"/>
                </a:solidFill>
                <a:latin typeface="Times New Roman" pitchFamily="18" charset="0"/>
              </a:rPr>
              <a:t>maximum needs</a:t>
            </a:r>
            <a:r>
              <a:rPr lang="en-US" altLang="zh-TW" sz="2800" b="1">
                <a:latin typeface="Times New Roman" pitchFamily="18" charset="0"/>
              </a:rPr>
              <a:t>	</a:t>
            </a:r>
            <a:r>
              <a:rPr lang="en-US" altLang="zh-TW" sz="2800" b="1" u="sng">
                <a:solidFill>
                  <a:schemeClr val="tx2"/>
                </a:solidFill>
                <a:latin typeface="Times New Roman" pitchFamily="18" charset="0"/>
              </a:rPr>
              <a:t>holds</a:t>
            </a:r>
            <a:r>
              <a:rPr lang="en-US" altLang="zh-TW" sz="2800" b="1">
                <a:latin typeface="Times New Roman" pitchFamily="18" charset="0"/>
              </a:rPr>
              <a:t>  </a:t>
            </a:r>
            <a:r>
              <a:rPr lang="en-US" altLang="zh-TW" sz="2800" b="1" u="sng">
                <a:solidFill>
                  <a:srgbClr val="FF0000"/>
                </a:solidFill>
                <a:latin typeface="Times New Roman" pitchFamily="18" charset="0"/>
              </a:rPr>
              <a:t>Available</a:t>
            </a:r>
            <a:endParaRPr lang="en-US" altLang="zh-TW" sz="2800" b="1">
              <a:solidFill>
                <a:srgbClr val="FF0000"/>
              </a:solidFill>
              <a:latin typeface="Times New Roman" pitchFamily="18" charset="0"/>
            </a:endParaRPr>
          </a:p>
          <a:p>
            <a:pPr lvl="2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 i="1">
                <a:latin typeface="Times New Roman" pitchFamily="18" charset="0"/>
              </a:rPr>
              <a:t>    P</a:t>
            </a:r>
            <a:r>
              <a:rPr lang="en-US" altLang="zh-TW" sz="2800" b="1" baseline="-25000">
                <a:latin typeface="Times New Roman" pitchFamily="18" charset="0"/>
              </a:rPr>
              <a:t>0</a:t>
            </a:r>
            <a:r>
              <a:rPr lang="en-US" altLang="zh-TW" sz="2800" b="1">
                <a:latin typeface="Times New Roman" pitchFamily="18" charset="0"/>
              </a:rPr>
              <a:t>		10	  	   </a:t>
            </a: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5</a:t>
            </a:r>
            <a:r>
              <a:rPr lang="en-US" altLang="zh-TW" sz="2800" b="1">
                <a:latin typeface="Times New Roman" pitchFamily="18" charset="0"/>
              </a:rPr>
              <a:t>             </a:t>
            </a: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3</a:t>
            </a:r>
          </a:p>
          <a:p>
            <a:pPr lvl="2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 i="1">
                <a:latin typeface="Times New Roman" pitchFamily="18" charset="0"/>
              </a:rPr>
              <a:t>    P</a:t>
            </a:r>
            <a:r>
              <a:rPr lang="en-US" altLang="zh-TW" sz="2800" b="1" baseline="-25000">
                <a:latin typeface="Times New Roman" pitchFamily="18" charset="0"/>
              </a:rPr>
              <a:t>1</a:t>
            </a:r>
            <a:r>
              <a:rPr lang="en-US" altLang="zh-TW" sz="2800" b="1">
                <a:latin typeface="Times New Roman" pitchFamily="18" charset="0"/>
              </a:rPr>
              <a:t>		 4	  	   </a:t>
            </a: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2</a:t>
            </a:r>
          </a:p>
          <a:p>
            <a:pPr lvl="2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800" b="1" i="1">
                <a:latin typeface="Times New Roman" pitchFamily="18" charset="0"/>
              </a:rPr>
              <a:t>    P</a:t>
            </a:r>
            <a:r>
              <a:rPr lang="en-US" altLang="zh-TW" sz="2800" b="1" baseline="-25000">
                <a:latin typeface="Times New Roman" pitchFamily="18" charset="0"/>
              </a:rPr>
              <a:t>2</a:t>
            </a:r>
            <a:r>
              <a:rPr lang="en-US" altLang="zh-TW" sz="2800" b="1">
                <a:latin typeface="Times New Roman" pitchFamily="18" charset="0"/>
              </a:rPr>
              <a:t>		 9	  	   </a:t>
            </a:r>
            <a:r>
              <a:rPr lang="en-US" altLang="zh-TW" sz="2800" b="1">
                <a:solidFill>
                  <a:srgbClr val="0000FF"/>
                </a:solidFill>
                <a:latin typeface="Times New Roman" pitchFamily="18" charset="0"/>
              </a:rPr>
              <a:t>2</a:t>
            </a:r>
            <a:endParaRPr lang="zh-TW" altLang="en-US" sz="2800" b="1" i="1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30727" name="Text Box 1029"/>
          <p:cNvSpPr txBox="1">
            <a:spLocks noChangeArrowheads="1"/>
          </p:cNvSpPr>
          <p:nvPr/>
        </p:nvSpPr>
        <p:spPr bwMode="auto">
          <a:xfrm>
            <a:off x="523875" y="4365625"/>
            <a:ext cx="649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z="2800" b="1">
                <a:latin typeface="Times New Roman" pitchFamily="18" charset="0"/>
              </a:rPr>
              <a:t> A safe sequence: (</a:t>
            </a:r>
            <a:r>
              <a:rPr lang="en-US" altLang="zh-TW" sz="2800" b="1" i="1">
                <a:latin typeface="Times New Roman" pitchFamily="18" charset="0"/>
              </a:rPr>
              <a:t>P</a:t>
            </a:r>
            <a:r>
              <a:rPr lang="en-US" altLang="zh-TW" sz="2800" b="1" baseline="-25000">
                <a:latin typeface="Times New Roman" pitchFamily="18" charset="0"/>
              </a:rPr>
              <a:t>1</a:t>
            </a:r>
            <a:r>
              <a:rPr lang="en-US" altLang="zh-TW" sz="2800" b="1">
                <a:latin typeface="Times New Roman" pitchFamily="18" charset="0"/>
              </a:rPr>
              <a:t>, </a:t>
            </a:r>
            <a:r>
              <a:rPr lang="en-US" altLang="zh-TW" sz="2800" b="1" i="1">
                <a:latin typeface="Times New Roman" pitchFamily="18" charset="0"/>
              </a:rPr>
              <a:t>P</a:t>
            </a:r>
            <a:r>
              <a:rPr lang="en-US" altLang="zh-TW" sz="2800" b="1" baseline="-25000">
                <a:latin typeface="Times New Roman" pitchFamily="18" charset="0"/>
              </a:rPr>
              <a:t>0</a:t>
            </a:r>
            <a:r>
              <a:rPr lang="en-US" altLang="zh-TW" sz="2800" b="1">
                <a:latin typeface="Times New Roman" pitchFamily="18" charset="0"/>
              </a:rPr>
              <a:t>, </a:t>
            </a:r>
            <a:r>
              <a:rPr lang="en-US" altLang="zh-TW" sz="2800" b="1" i="1">
                <a:latin typeface="Times New Roman" pitchFamily="18" charset="0"/>
              </a:rPr>
              <a:t>P</a:t>
            </a:r>
            <a:r>
              <a:rPr lang="en-US" altLang="zh-TW" sz="2800" b="1" baseline="-25000">
                <a:latin typeface="Times New Roman" pitchFamily="18" charset="0"/>
              </a:rPr>
              <a:t>2</a:t>
            </a:r>
            <a:r>
              <a:rPr lang="en-US" altLang="zh-TW" sz="2800" b="1">
                <a:latin typeface="Times New Roman" pitchFamily="18" charset="0"/>
              </a:rPr>
              <a:t>)</a:t>
            </a:r>
            <a:endParaRPr lang="en-US" altLang="zh-TW" sz="2400"/>
          </a:p>
        </p:txBody>
      </p:sp>
      <p:sp>
        <p:nvSpPr>
          <p:cNvPr id="30728" name="Text Box 1030"/>
          <p:cNvSpPr txBox="1">
            <a:spLocks noChangeArrowheads="1"/>
          </p:cNvSpPr>
          <p:nvPr/>
        </p:nvSpPr>
        <p:spPr bwMode="auto">
          <a:xfrm>
            <a:off x="523875" y="4992688"/>
            <a:ext cx="8396288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en-US" altLang="zh-TW" sz="2800">
                <a:solidFill>
                  <a:srgbClr val="0000FF"/>
                </a:solidFill>
                <a:latin typeface="Times New Roman" pitchFamily="18" charset="0"/>
              </a:rPr>
              <a:t>If one more is allocated to </a:t>
            </a:r>
            <a:r>
              <a:rPr lang="en-US" altLang="zh-TW" sz="2800" i="1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TW" sz="2800">
                <a:solidFill>
                  <a:srgbClr val="0000FF"/>
                </a:solidFill>
                <a:latin typeface="Times New Roman" pitchFamily="18" charset="0"/>
              </a:rPr>
              <a:t>,</a:t>
            </a:r>
          </a:p>
          <a:p>
            <a:pPr lvl="1" eaLnBrk="1" hangingPunct="1">
              <a:buClrTx/>
              <a:buSzTx/>
              <a:buFontTx/>
              <a:buNone/>
            </a:pPr>
            <a:r>
              <a:rPr lang="en-US" altLang="zh-TW">
                <a:solidFill>
                  <a:srgbClr val="0000FF"/>
                </a:solidFill>
                <a:latin typeface="Comic Sans MS" pitchFamily="66" charset="0"/>
                <a:sym typeface="Symbol" pitchFamily="18" charset="2"/>
              </a:rPr>
              <a:t>		 </a:t>
            </a:r>
            <a:r>
              <a:rPr lang="en-US" altLang="zh-TW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TW">
                <a:solidFill>
                  <a:srgbClr val="0000FF"/>
                </a:solidFill>
                <a:latin typeface="Times New Roman" pitchFamily="18" charset="0"/>
              </a:rPr>
              <a:t> unsafe </a:t>
            </a:r>
            <a:r>
              <a:rPr lang="en-US" altLang="zh-TW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 may (not must) deadlock</a:t>
            </a:r>
            <a:endParaRPr lang="zh-TW" altLang="en-US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97287" name="Text Box 1031"/>
          <p:cNvSpPr txBox="1">
            <a:spLocks noChangeArrowheads="1"/>
          </p:cNvSpPr>
          <p:nvPr/>
        </p:nvSpPr>
        <p:spPr bwMode="auto">
          <a:xfrm>
            <a:off x="5024438" y="3759200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7288" name="Text Box 1032"/>
          <p:cNvSpPr txBox="1">
            <a:spLocks noChangeArrowheads="1"/>
          </p:cNvSpPr>
          <p:nvPr/>
        </p:nvSpPr>
        <p:spPr bwMode="auto">
          <a:xfrm>
            <a:off x="6389688" y="2486025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7" grpId="0"/>
      <p:bldP spid="972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45198F-AF03-414E-9893-1C30528E6732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7229D3-47BA-4D43-B300-42F7BE200C3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54075"/>
          </a:xfrm>
        </p:spPr>
        <p:txBody>
          <a:bodyPr/>
          <a:lstStyle/>
          <a:p>
            <a:pPr eaLnBrk="1" hangingPunct="1"/>
            <a:r>
              <a:rPr lang="en-US" altLang="zh-TW" smtClean="0"/>
              <a:t>Avoidance algorithms</a:t>
            </a:r>
          </a:p>
        </p:txBody>
      </p:sp>
      <p:sp>
        <p:nvSpPr>
          <p:cNvPr id="152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7088" y="1439863"/>
            <a:ext cx="7673975" cy="472122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Single instance</a:t>
            </a:r>
            <a:r>
              <a:rPr lang="en-US" altLang="zh-TW" smtClean="0"/>
              <a:t> of a resource type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3200" smtClean="0"/>
              <a:t>Use a </a:t>
            </a:r>
            <a:r>
              <a:rPr lang="en-US" altLang="zh-TW" sz="3200" smtClean="0">
                <a:solidFill>
                  <a:srgbClr val="0000FF"/>
                </a:solidFill>
              </a:rPr>
              <a:t>resource-allocation graph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Multiple instances</a:t>
            </a:r>
            <a:r>
              <a:rPr lang="en-US" altLang="zh-TW" smtClean="0"/>
              <a:t> of a resource type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3200" smtClean="0">
                <a:solidFill>
                  <a:srgbClr val="0000FF"/>
                </a:solidFill>
              </a:rPr>
              <a:t>Use the banker</a:t>
            </a:r>
            <a:r>
              <a:rPr lang="en-US" altLang="zh-TW" sz="3200" smtClean="0">
                <a:solidFill>
                  <a:srgbClr val="0000FF"/>
                </a:solidFill>
                <a:latin typeface="Helvetica" pitchFamily="34" charset="0"/>
              </a:rPr>
              <a:t>’</a:t>
            </a:r>
            <a:r>
              <a:rPr lang="en-US" altLang="zh-TW" sz="3200" smtClean="0">
                <a:solidFill>
                  <a:srgbClr val="0000FF"/>
                </a:solidFill>
              </a:rPr>
              <a:t>s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A6A72A-BE99-4D4E-AF2A-82BE444A7660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C694973-408C-4426-AB2E-729198D1F879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322263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solidFill>
                  <a:srgbClr val="FF0000"/>
                </a:solidFill>
              </a:rPr>
              <a:t>Resource-Allocation Graph Algorithm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7813" y="1139825"/>
            <a:ext cx="8518525" cy="51419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/>
              <a:t>Use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a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variant of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resource-allocation graph</a:t>
            </a:r>
            <a:endParaRPr lang="en-US" altLang="zh-TW" sz="2800" b="1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b="1" smtClean="0">
                <a:solidFill>
                  <a:srgbClr val="FF0000"/>
                </a:solidFill>
              </a:rPr>
              <a:t>claim edge</a:t>
            </a:r>
            <a:r>
              <a:rPr lang="en-US" altLang="zh-TW" sz="2400" smtClean="0"/>
              <a:t>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smtClean="0">
                <a:sym typeface="Symbol" pitchFamily="18" charset="2"/>
              </a:rPr>
              <a:t> indicated that process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  <a:sym typeface="Symbol" pitchFamily="18" charset="2"/>
              </a:rPr>
              <a:t>may</a:t>
            </a:r>
            <a:r>
              <a:rPr lang="en-US" altLang="zh-TW" sz="2400" smtClean="0">
                <a:sym typeface="Symbol" pitchFamily="18" charset="2"/>
              </a:rPr>
              <a:t> request resource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R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sz="2400" smtClean="0">
                <a:sym typeface="Symbol" pitchFamily="18" charset="2"/>
              </a:rPr>
              <a:t>; represented by a dashed line.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smtClean="0">
                <a:sym typeface="Symbol" pitchFamily="18" charset="2"/>
              </a:rPr>
              <a:t>Claim edge converts to 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request edge</a:t>
            </a:r>
            <a:r>
              <a:rPr lang="en-US" altLang="zh-TW" sz="2400" smtClean="0">
                <a:sym typeface="Symbol" pitchFamily="18" charset="2"/>
              </a:rPr>
              <a:t> when a process requests a resource.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smtClean="0">
                <a:sym typeface="Symbol" pitchFamily="18" charset="2"/>
              </a:rPr>
              <a:t>When a resource is released by a process, </a:t>
            </a:r>
            <a:r>
              <a:rPr lang="en-US" altLang="zh-TW" sz="2400" b="1" smtClean="0">
                <a:solidFill>
                  <a:srgbClr val="FF0000"/>
                </a:solidFill>
                <a:sym typeface="Symbol" pitchFamily="18" charset="2"/>
              </a:rPr>
              <a:t>assignment edge</a:t>
            </a:r>
            <a:r>
              <a:rPr lang="en-US" altLang="zh-TW" sz="2400" smtClean="0">
                <a:sym typeface="Symbol" pitchFamily="18" charset="2"/>
              </a:rPr>
              <a:t> reconverts to a claim edge.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sym typeface="Symbol" pitchFamily="18" charset="2"/>
              </a:rPr>
              <a:t>Resources </a:t>
            </a:r>
            <a:r>
              <a:rPr lang="en-US" altLang="zh-TW" sz="2800" smtClean="0">
                <a:solidFill>
                  <a:srgbClr val="FF0000"/>
                </a:solidFill>
                <a:sym typeface="Symbol" pitchFamily="18" charset="2"/>
              </a:rPr>
              <a:t>must be claimed </a:t>
            </a:r>
            <a:r>
              <a:rPr lang="en-US" altLang="zh-TW" sz="2800" i="1" smtClean="0">
                <a:solidFill>
                  <a:srgbClr val="FF0000"/>
                </a:solidFill>
                <a:sym typeface="Symbol" pitchFamily="18" charset="2"/>
              </a:rPr>
              <a:t>a priori</a:t>
            </a:r>
            <a:r>
              <a:rPr lang="en-US" altLang="zh-TW" sz="2800" smtClean="0">
                <a:sym typeface="Symbol" pitchFamily="18" charset="2"/>
              </a:rPr>
              <a:t> in the system. </a:t>
            </a:r>
            <a:r>
              <a:rPr lang="en-US" altLang="zh-TW" sz="2800" smtClean="0">
                <a:solidFill>
                  <a:srgbClr val="FF0000"/>
                </a:solidFill>
                <a:sym typeface="Symbol" pitchFamily="18" charset="2"/>
              </a:rPr>
              <a:t>G</a:t>
            </a:r>
            <a:r>
              <a:rPr lang="en-US" altLang="zh-TW" sz="2800" smtClean="0">
                <a:solidFill>
                  <a:srgbClr val="FF0000"/>
                </a:solidFill>
              </a:rPr>
              <a:t>rant a request</a:t>
            </a:r>
            <a:r>
              <a:rPr lang="en-US" altLang="zh-TW" sz="2800" smtClean="0"/>
              <a:t> only if </a:t>
            </a:r>
            <a:r>
              <a:rPr lang="en-US" altLang="zh-TW" sz="2800" smtClean="0">
                <a:solidFill>
                  <a:srgbClr val="FF0000"/>
                </a:solidFill>
              </a:rPr>
              <a:t>no cycle created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sym typeface="Symbol" pitchFamily="18" charset="2"/>
              </a:rPr>
              <a:t>Check for safety using a </a:t>
            </a:r>
            <a:r>
              <a:rPr lang="en-US" altLang="zh-TW" sz="2800" smtClean="0">
                <a:solidFill>
                  <a:srgbClr val="FF0000"/>
                </a:solidFill>
                <a:sym typeface="Symbol" pitchFamily="18" charset="2"/>
              </a:rPr>
              <a:t>cycle-detection algorithm</a:t>
            </a:r>
            <a:r>
              <a:rPr lang="en-US" altLang="zh-TW" sz="2800" smtClean="0">
                <a:sym typeface="Symbol" pitchFamily="18" charset="2"/>
              </a:rPr>
              <a:t>, O(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zh-TW" sz="2800" baseline="30000" smtClean="0">
                <a:sym typeface="Symbol" pitchFamily="18" charset="2"/>
              </a:rPr>
              <a:t>2</a:t>
            </a:r>
            <a:r>
              <a:rPr lang="en-US" altLang="zh-TW" sz="2800" smtClean="0">
                <a:sym typeface="Symbol" pitchFamily="18" charset="2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AF506A-EEAA-4BB5-B421-D6EF4C289781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379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379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6E739B-C75E-4959-BD63-46DF64B1F66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87350" y="285750"/>
            <a:ext cx="8224838" cy="1071563"/>
          </a:xfrm>
        </p:spPr>
        <p:txBody>
          <a:bodyPr/>
          <a:lstStyle/>
          <a:p>
            <a:pPr eaLnBrk="1" hangingPunct="1"/>
            <a:r>
              <a:rPr lang="en-US" altLang="zh-TW" sz="3600" b="1" smtClean="0">
                <a:solidFill>
                  <a:srgbClr val="FF0000"/>
                </a:solidFill>
              </a:rPr>
              <a:t>Resource-Allocation Graph</a:t>
            </a:r>
            <a:r>
              <a:rPr lang="en-US" altLang="zh-TW" sz="3600" smtClean="0"/>
              <a:t> for Deadlock Avoidance</a:t>
            </a:r>
          </a:p>
        </p:txBody>
      </p:sp>
      <p:pic>
        <p:nvPicPr>
          <p:cNvPr id="3379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6532" r="15155" b="7086"/>
          <a:stretch>
            <a:fillRect/>
          </a:stretch>
        </p:blipFill>
        <p:spPr bwMode="auto">
          <a:xfrm>
            <a:off x="1725613" y="1381125"/>
            <a:ext cx="5656262" cy="46974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9" name="Text Box 6"/>
          <p:cNvSpPr txBox="1">
            <a:spLocks noChangeArrowheads="1"/>
          </p:cNvSpPr>
          <p:nvPr/>
        </p:nvSpPr>
        <p:spPr bwMode="auto">
          <a:xfrm>
            <a:off x="1074738" y="4665663"/>
            <a:ext cx="2030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claim edge</a:t>
            </a:r>
            <a:r>
              <a:rPr lang="en-US" altLang="zh-TW" sz="2400"/>
              <a:t> </a:t>
            </a:r>
            <a:endParaRPr lang="zh-TW" altLang="en-US" sz="2400"/>
          </a:p>
        </p:txBody>
      </p:sp>
      <p:sp>
        <p:nvSpPr>
          <p:cNvPr id="33800" name="Text Box 9"/>
          <p:cNvSpPr txBox="1">
            <a:spLocks noChangeArrowheads="1"/>
          </p:cNvSpPr>
          <p:nvPr/>
        </p:nvSpPr>
        <p:spPr bwMode="auto">
          <a:xfrm>
            <a:off x="393700" y="2298700"/>
            <a:ext cx="2900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assignment edge</a:t>
            </a:r>
          </a:p>
        </p:txBody>
      </p:sp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965825" y="2516188"/>
            <a:ext cx="233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request edge</a:t>
            </a:r>
          </a:p>
        </p:txBody>
      </p:sp>
      <p:sp>
        <p:nvSpPr>
          <p:cNvPr id="33802" name="Text Box 11"/>
          <p:cNvSpPr txBox="1">
            <a:spLocks noChangeArrowheads="1"/>
          </p:cNvSpPr>
          <p:nvPr/>
        </p:nvSpPr>
        <p:spPr bwMode="auto">
          <a:xfrm>
            <a:off x="6030913" y="4687888"/>
            <a:ext cx="2030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400" b="1">
                <a:solidFill>
                  <a:srgbClr val="FF0000"/>
                </a:solidFill>
              </a:rPr>
              <a:t>claim edge</a:t>
            </a:r>
            <a:r>
              <a:rPr lang="en-US" altLang="zh-TW" sz="2400"/>
              <a:t> </a:t>
            </a: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E13441E-C16D-4EC4-A573-F135392A692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48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48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A7BCD4-3BC8-4737-A914-6BA1D22CB61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352425"/>
            <a:ext cx="8243888" cy="1017588"/>
          </a:xfrm>
        </p:spPr>
        <p:txBody>
          <a:bodyPr/>
          <a:lstStyle/>
          <a:p>
            <a:pPr eaLnBrk="1" hangingPunct="1"/>
            <a:r>
              <a:rPr lang="en-US" altLang="zh-TW" sz="3800" smtClean="0"/>
              <a:t>Unsafe State In Resource-Allocation Graph</a:t>
            </a:r>
          </a:p>
        </p:txBody>
      </p:sp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3" t="6873" r="15479" b="6873"/>
          <a:stretch>
            <a:fillRect/>
          </a:stretch>
        </p:blipFill>
        <p:spPr bwMode="auto">
          <a:xfrm>
            <a:off x="1946275" y="1116013"/>
            <a:ext cx="6338888" cy="480536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3" name="Oval 6"/>
          <p:cNvSpPr>
            <a:spLocks noChangeArrowheads="1"/>
          </p:cNvSpPr>
          <p:nvPr/>
        </p:nvSpPr>
        <p:spPr bwMode="auto">
          <a:xfrm>
            <a:off x="4845050" y="5378450"/>
            <a:ext cx="566738" cy="53657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4816475" y="5421313"/>
            <a:ext cx="609600" cy="508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V="1">
            <a:off x="5440363" y="3956050"/>
            <a:ext cx="2032000" cy="16827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4772025" y="995363"/>
            <a:ext cx="639763" cy="5794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>
            <a:off x="2566988" y="1343025"/>
            <a:ext cx="2219325" cy="17129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2593975" y="3989388"/>
            <a:ext cx="2092325" cy="1600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animBg="1"/>
      <p:bldP spid="35848" grpId="0" animBg="1"/>
      <p:bldP spid="35849" grpId="0" animBg="1"/>
      <p:bldP spid="35850" grpId="0" animBg="1"/>
      <p:bldP spid="3585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795FDC1-BB1E-40C7-9712-9BD69966AF2D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8141B9-B277-43F9-800E-0CBDD55361DD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 smtClean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57250"/>
          </a:xfrm>
        </p:spPr>
        <p:txBody>
          <a:bodyPr/>
          <a:lstStyle/>
          <a:p>
            <a:pPr eaLnBrk="1" hangingPunct="1"/>
            <a:r>
              <a:rPr lang="en-US" altLang="zh-TW" smtClean="0"/>
              <a:t>Banker</a:t>
            </a:r>
            <a:r>
              <a:rPr lang="en-US" altLang="zh-TW" smtClean="0">
                <a:latin typeface="Helvetica" pitchFamily="34" charset="0"/>
              </a:rPr>
              <a:t>’</a:t>
            </a:r>
            <a:r>
              <a:rPr lang="en-US" altLang="zh-TW" smtClean="0"/>
              <a:t>s Algorithm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5300" y="1212850"/>
            <a:ext cx="8239125" cy="4581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Multiple instances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zh-TW" sz="2800" dirty="0" smtClean="0"/>
          </a:p>
          <a:p>
            <a:pPr eaLnBrk="1" hangingPunct="1">
              <a:defRPr/>
            </a:pPr>
            <a:r>
              <a:rPr lang="en-US" altLang="zh-TW" sz="2800" dirty="0" smtClean="0"/>
              <a:t>Each process must a </a:t>
            </a:r>
            <a:r>
              <a:rPr lang="en-US" altLang="zh-TW" sz="2800" dirty="0" smtClean="0">
                <a:solidFill>
                  <a:srgbClr val="FF0000"/>
                </a:solidFill>
              </a:rPr>
              <a:t>priori claim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maximum use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endParaRPr lang="en-US" altLang="zh-TW" sz="2800" dirty="0" smtClean="0"/>
          </a:p>
          <a:p>
            <a:pPr eaLnBrk="1" hangingPunct="1">
              <a:defRPr/>
            </a:pPr>
            <a:r>
              <a:rPr lang="en-US" altLang="zh-TW" sz="2800" dirty="0" smtClean="0"/>
              <a:t>When a process requests a resource it may have to wait  </a:t>
            </a:r>
            <a:br>
              <a:rPr lang="en-US" altLang="zh-TW" sz="2800" dirty="0" smtClean="0"/>
            </a:b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When a process gets all its resources it must return them in a finite amount of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280DD2-6126-49AA-8A6A-F58996361B1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C329E0-4874-4368-B47F-E53BC99EFB1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8543925" cy="682625"/>
          </a:xfrm>
        </p:spPr>
        <p:txBody>
          <a:bodyPr/>
          <a:lstStyle/>
          <a:p>
            <a:pPr eaLnBrk="1" hangingPunct="1"/>
            <a:r>
              <a:rPr lang="en-US" altLang="zh-TW" sz="3500" smtClean="0"/>
              <a:t>Data Structures for the Banker</a:t>
            </a:r>
            <a:r>
              <a:rPr lang="en-US" altLang="zh-TW" sz="3500" smtClean="0">
                <a:latin typeface="Helvetica" pitchFamily="34" charset="0"/>
              </a:rPr>
              <a:t>’</a:t>
            </a:r>
            <a:r>
              <a:rPr lang="en-US" altLang="zh-TW" sz="3500" smtClean="0"/>
              <a:t>s Algorithm</a:t>
            </a:r>
            <a:r>
              <a:rPr lang="en-US" altLang="zh-TW" sz="4000" smtClean="0"/>
              <a:t> 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6375" y="1420813"/>
            <a:ext cx="8667750" cy="518477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 b="1" smtClean="0">
                <a:solidFill>
                  <a:srgbClr val="FF0000"/>
                </a:solidFill>
                <a:latin typeface="Times New Roman" pitchFamily="18" charset="0"/>
              </a:rPr>
              <a:t>Available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:</a:t>
            </a:r>
            <a:r>
              <a:rPr lang="en-US" altLang="zh-TW" sz="2800" smtClean="0">
                <a:latin typeface="Times New Roman" pitchFamily="18" charset="0"/>
              </a:rPr>
              <a:t>  vector of length </a:t>
            </a:r>
            <a:r>
              <a:rPr lang="en-US" altLang="zh-TW" sz="2800" i="1" smtClean="0">
                <a:latin typeface="Times New Roman" pitchFamily="18" charset="0"/>
              </a:rPr>
              <a:t>m</a:t>
            </a:r>
            <a:r>
              <a:rPr lang="en-US" altLang="zh-TW" sz="2800" smtClean="0">
                <a:latin typeface="Times New Roman" pitchFamily="18" charset="0"/>
              </a:rPr>
              <a:t>. If available [</a:t>
            </a:r>
            <a:r>
              <a:rPr lang="en-US" altLang="zh-TW" sz="2800" i="1" smtClean="0">
                <a:latin typeface="Times New Roman" pitchFamily="18" charset="0"/>
              </a:rPr>
              <a:t>j</a:t>
            </a:r>
            <a:r>
              <a:rPr lang="en-US" altLang="zh-TW" sz="2800" smtClean="0">
                <a:latin typeface="Times New Roman" pitchFamily="18" charset="0"/>
              </a:rPr>
              <a:t>] =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, there are</a:t>
            </a:r>
            <a:r>
              <a:rPr lang="en-US" altLang="zh-TW" sz="2800" i="1" smtClean="0">
                <a:latin typeface="Times New Roman" pitchFamily="18" charset="0"/>
              </a:rPr>
              <a:t> k</a:t>
            </a:r>
            <a:r>
              <a:rPr lang="en-US" altLang="zh-TW" sz="2800" smtClean="0">
                <a:latin typeface="Times New Roman" pitchFamily="18" charset="0"/>
              </a:rPr>
              <a:t> instances of resource type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baseline="-25000" smtClean="0">
                <a:latin typeface="Times New Roman" pitchFamily="18" charset="0"/>
              </a:rPr>
              <a:t> </a:t>
            </a:r>
            <a:r>
              <a:rPr lang="en-US" altLang="zh-TW" sz="2800" smtClean="0">
                <a:latin typeface="Times New Roman" pitchFamily="18" charset="0"/>
              </a:rPr>
              <a:t>available.</a:t>
            </a:r>
            <a:endParaRPr lang="en-US" altLang="zh-TW" sz="2800" b="1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sz="2800" b="1" smtClean="0">
                <a:solidFill>
                  <a:srgbClr val="FF0000"/>
                </a:solidFill>
                <a:latin typeface="Times New Roman" pitchFamily="18" charset="0"/>
              </a:rPr>
              <a:t>Max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:</a:t>
            </a:r>
            <a:r>
              <a:rPr lang="en-US" altLang="zh-TW" sz="2800" i="1" smtClean="0">
                <a:latin typeface="Times New Roman" pitchFamily="18" charset="0"/>
              </a:rPr>
              <a:t> n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i="1" smtClean="0">
                <a:latin typeface="Times New Roman" pitchFamily="18" charset="0"/>
              </a:rPr>
              <a:t> m</a:t>
            </a:r>
            <a:r>
              <a:rPr lang="en-US" altLang="zh-TW" sz="2800" smtClean="0">
                <a:latin typeface="Times New Roman" pitchFamily="18" charset="0"/>
              </a:rPr>
              <a:t> matrix.  If </a:t>
            </a:r>
            <a:r>
              <a:rPr lang="en-US" altLang="zh-TW" sz="2800" i="1" smtClean="0">
                <a:latin typeface="Times New Roman" pitchFamily="18" charset="0"/>
              </a:rPr>
              <a:t>Max 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i,j</a:t>
            </a:r>
            <a:r>
              <a:rPr lang="en-US" altLang="zh-TW" sz="2800" smtClean="0">
                <a:latin typeface="Times New Roman" pitchFamily="18" charset="0"/>
              </a:rPr>
              <a:t>] =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, then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i="1" smtClean="0">
                <a:latin typeface="Times New Roman" pitchFamily="18" charset="0"/>
              </a:rPr>
              <a:t> 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may request at most</a:t>
            </a:r>
            <a:r>
              <a:rPr lang="en-US" altLang="zh-TW" sz="2800" i="1" smtClean="0">
                <a:latin typeface="Times New Roman" pitchFamily="18" charset="0"/>
              </a:rPr>
              <a:t> k </a:t>
            </a:r>
            <a:r>
              <a:rPr lang="en-US" altLang="zh-TW" sz="2800" smtClean="0">
                <a:latin typeface="Times New Roman" pitchFamily="18" charset="0"/>
              </a:rPr>
              <a:t>instances of resource type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smtClean="0">
                <a:latin typeface="Times New Roman" pitchFamily="18" charset="0"/>
              </a:rPr>
              <a:t>.</a:t>
            </a:r>
            <a:endParaRPr lang="en-US" altLang="zh-TW" sz="2800" b="1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sz="2800" b="1" smtClean="0">
                <a:solidFill>
                  <a:srgbClr val="FF0000"/>
                </a:solidFill>
                <a:latin typeface="Times New Roman" pitchFamily="18" charset="0"/>
              </a:rPr>
              <a:t>Allocation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: </a:t>
            </a:r>
            <a:r>
              <a:rPr lang="en-US" altLang="zh-TW" sz="2800" i="1" smtClean="0">
                <a:latin typeface="Times New Roman" pitchFamily="18" charset="0"/>
              </a:rPr>
              <a:t> n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i="1" smtClean="0">
                <a:latin typeface="Times New Roman" pitchFamily="18" charset="0"/>
              </a:rPr>
              <a:t> m</a:t>
            </a:r>
            <a:r>
              <a:rPr lang="en-US" altLang="zh-TW" sz="2800" smtClean="0">
                <a:latin typeface="Times New Roman" pitchFamily="18" charset="0"/>
              </a:rPr>
              <a:t> matrix.  If Allocation[</a:t>
            </a:r>
            <a:r>
              <a:rPr lang="en-US" altLang="zh-TW" sz="2800" i="1" smtClean="0">
                <a:latin typeface="Times New Roman" pitchFamily="18" charset="0"/>
              </a:rPr>
              <a:t>i,j</a:t>
            </a:r>
            <a:r>
              <a:rPr lang="en-US" altLang="zh-TW" sz="2800" smtClean="0">
                <a:latin typeface="Times New Roman" pitchFamily="18" charset="0"/>
              </a:rPr>
              <a:t>] =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 then</a:t>
            </a:r>
            <a:r>
              <a:rPr lang="en-US" altLang="zh-TW" sz="2800" i="1" smtClean="0">
                <a:latin typeface="Times New Roman" pitchFamily="18" charset="0"/>
              </a:rPr>
              <a:t> 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is currently allocated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 instances of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j.</a:t>
            </a:r>
            <a:endParaRPr lang="en-US" altLang="zh-TW" sz="2800" b="1" baseline="-25000" smtClean="0">
              <a:solidFill>
                <a:srgbClr val="FF0000"/>
              </a:solidFill>
              <a:latin typeface="Times New Roman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zh-TW" sz="2800" b="1" smtClean="0">
                <a:solidFill>
                  <a:srgbClr val="FF0000"/>
                </a:solidFill>
                <a:latin typeface="Times New Roman" pitchFamily="18" charset="0"/>
              </a:rPr>
              <a:t>Need</a:t>
            </a:r>
            <a:r>
              <a:rPr lang="en-US" altLang="zh-TW" sz="2800" i="1" smtClean="0">
                <a:latin typeface="Times New Roman" pitchFamily="18" charset="0"/>
              </a:rPr>
              <a:t>:  n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i="1" smtClean="0">
                <a:latin typeface="Times New Roman" pitchFamily="18" charset="0"/>
              </a:rPr>
              <a:t> m</a:t>
            </a:r>
            <a:r>
              <a:rPr lang="en-US" altLang="zh-TW" sz="2800" smtClean="0">
                <a:latin typeface="Times New Roman" pitchFamily="18" charset="0"/>
              </a:rPr>
              <a:t> matrix. If Need[</a:t>
            </a:r>
            <a:r>
              <a:rPr lang="en-US" altLang="zh-TW" sz="2800" i="1" smtClean="0">
                <a:latin typeface="Times New Roman" pitchFamily="18" charset="0"/>
              </a:rPr>
              <a:t>i,j</a:t>
            </a:r>
            <a:r>
              <a:rPr lang="en-US" altLang="zh-TW" sz="2800" smtClean="0">
                <a:latin typeface="Times New Roman" pitchFamily="18" charset="0"/>
              </a:rPr>
              <a:t>] =</a:t>
            </a:r>
            <a:r>
              <a:rPr lang="en-US" altLang="zh-TW" sz="2800" i="1" smtClean="0">
                <a:latin typeface="Times New Roman" pitchFamily="18" charset="0"/>
              </a:rPr>
              <a:t> k</a:t>
            </a:r>
            <a:r>
              <a:rPr lang="en-US" altLang="zh-TW" sz="2800" smtClean="0">
                <a:latin typeface="Times New Roman" pitchFamily="18" charset="0"/>
              </a:rPr>
              <a:t>, then</a:t>
            </a:r>
            <a:r>
              <a:rPr lang="en-US" altLang="zh-TW" sz="2800" i="1" smtClean="0">
                <a:latin typeface="Times New Roman" pitchFamily="18" charset="0"/>
              </a:rPr>
              <a:t> 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may need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 more instances of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baseline="-25000" smtClean="0">
                <a:latin typeface="Times New Roman" pitchFamily="18" charset="0"/>
              </a:rPr>
              <a:t> </a:t>
            </a:r>
            <a:r>
              <a:rPr lang="en-US" altLang="zh-TW" sz="2800" smtClean="0">
                <a:latin typeface="Times New Roman" pitchFamily="18" charset="0"/>
              </a:rPr>
              <a:t>to complete its task.</a:t>
            </a:r>
            <a:r>
              <a:rPr lang="en-US" altLang="zh-TW" sz="3600" smtClean="0">
                <a:latin typeface="Times New Roman" pitchFamily="18" charset="0"/>
              </a:rPr>
              <a:t/>
            </a:r>
            <a:br>
              <a:rPr lang="en-US" altLang="zh-TW" sz="3600" smtClean="0">
                <a:latin typeface="Times New Roman" pitchFamily="18" charset="0"/>
              </a:rPr>
            </a:br>
            <a:r>
              <a:rPr lang="en-US" altLang="zh-TW" smtClean="0">
                <a:latin typeface="Times New Roman" pitchFamily="18" charset="0"/>
              </a:rPr>
              <a:t>Need[</a:t>
            </a:r>
            <a:r>
              <a:rPr lang="en-US" altLang="zh-TW" i="1" smtClean="0">
                <a:latin typeface="Times New Roman" pitchFamily="18" charset="0"/>
              </a:rPr>
              <a:t>i,j</a:t>
            </a:r>
            <a:r>
              <a:rPr lang="en-US" altLang="zh-TW" smtClean="0">
                <a:latin typeface="Times New Roman" pitchFamily="18" charset="0"/>
              </a:rPr>
              <a:t>] = Max[</a:t>
            </a:r>
            <a:r>
              <a:rPr lang="en-US" altLang="zh-TW" i="1" smtClean="0">
                <a:latin typeface="Times New Roman" pitchFamily="18" charset="0"/>
              </a:rPr>
              <a:t>i,j</a:t>
            </a:r>
            <a:r>
              <a:rPr lang="en-US" altLang="zh-TW" smtClean="0">
                <a:latin typeface="Times New Roman" pitchFamily="18" charset="0"/>
              </a:rPr>
              <a:t>] – Allocation[</a:t>
            </a:r>
            <a:r>
              <a:rPr lang="en-US" altLang="zh-TW" i="1" smtClean="0">
                <a:latin typeface="Times New Roman" pitchFamily="18" charset="0"/>
              </a:rPr>
              <a:t>i,j</a:t>
            </a:r>
            <a:r>
              <a:rPr lang="en-US" altLang="zh-TW" smtClean="0">
                <a:latin typeface="Times New Roman" pitchFamily="18" charset="0"/>
              </a:rPr>
              <a:t>] </a:t>
            </a:r>
          </a:p>
        </p:txBody>
      </p:sp>
      <p:sp>
        <p:nvSpPr>
          <p:cNvPr id="36871" name="Text Box 4"/>
          <p:cNvSpPr txBox="1">
            <a:spLocks noChangeArrowheads="1"/>
          </p:cNvSpPr>
          <p:nvPr/>
        </p:nvSpPr>
        <p:spPr bwMode="auto">
          <a:xfrm>
            <a:off x="241300" y="927100"/>
            <a:ext cx="6350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200">
                <a:latin typeface="Helvetica" pitchFamily="34" charset="0"/>
              </a:rPr>
              <a:t> </a:t>
            </a:r>
            <a:r>
              <a:rPr kumimoji="0" lang="en-US" altLang="zh-TW" sz="2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kumimoji="0" lang="en-US" altLang="zh-TW" sz="2200">
                <a:latin typeface="Helvetica" pitchFamily="34" charset="0"/>
              </a:rPr>
              <a:t> = # of processes, and </a:t>
            </a:r>
            <a:r>
              <a:rPr kumimoji="0" lang="en-US" altLang="zh-TW" sz="2200" i="1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kumimoji="0" lang="en-US" altLang="zh-TW" sz="2200" i="1">
                <a:latin typeface="Helvetica" pitchFamily="34" charset="0"/>
              </a:rPr>
              <a:t> </a:t>
            </a:r>
            <a:r>
              <a:rPr kumimoji="0" lang="en-US" altLang="zh-TW" sz="2200">
                <a:latin typeface="Helvetica" pitchFamily="34" charset="0"/>
              </a:rPr>
              <a:t>= # of resources types</a:t>
            </a:r>
            <a:r>
              <a:rPr kumimoji="0" lang="en-US" altLang="zh-TW" sz="2000">
                <a:latin typeface="Helvetica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1A5E19-AAE8-4CF2-A1DC-14F37EC20E12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D0F0DF3-9CF6-40EB-8749-8F0EC887882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176213"/>
            <a:ext cx="7772400" cy="582612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Safety Algorithm: </a:t>
            </a:r>
            <a:r>
              <a:rPr lang="en-US" altLang="zh-TW" sz="4000" smtClean="0">
                <a:sym typeface="Symbol" pitchFamily="18" charset="2"/>
              </a:rPr>
              <a:t>O(</a:t>
            </a:r>
            <a:r>
              <a:rPr lang="en-US" altLang="zh-TW" sz="4000" i="1" smtClean="0">
                <a:latin typeface="Times New Roman" pitchFamily="18" charset="0"/>
                <a:sym typeface="Symbol" pitchFamily="18" charset="2"/>
              </a:rPr>
              <a:t>mn</a:t>
            </a:r>
            <a:r>
              <a:rPr lang="en-US" altLang="zh-TW" sz="4000" baseline="30000" smtClean="0">
                <a:sym typeface="Symbol" pitchFamily="18" charset="2"/>
              </a:rPr>
              <a:t>2</a:t>
            </a:r>
            <a:r>
              <a:rPr lang="en-US" altLang="zh-TW" sz="4000" smtClean="0">
                <a:sym typeface="Symbol" pitchFamily="18" charset="2"/>
              </a:rPr>
              <a:t>)</a:t>
            </a:r>
          </a:p>
        </p:txBody>
      </p:sp>
      <p:sp>
        <p:nvSpPr>
          <p:cNvPr id="58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4975" y="717550"/>
            <a:ext cx="8278813" cy="5514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TW" altLang="en-US" sz="2800" smtClean="0"/>
              <a:t>1.</a:t>
            </a:r>
            <a:r>
              <a:rPr lang="zh-TW" altLang="en-US" sz="2800" i="1" smtClean="0">
                <a:latin typeface="Times New Roman" pitchFamily="18" charset="0"/>
              </a:rPr>
              <a:t>	</a:t>
            </a:r>
            <a:r>
              <a:rPr lang="en-US" altLang="zh-TW" sz="2800" i="1" smtClean="0">
                <a:latin typeface="Times New Roman" pitchFamily="18" charset="0"/>
              </a:rPr>
              <a:t>Let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Work</a:t>
            </a:r>
            <a:r>
              <a:rPr lang="en-US" altLang="zh-TW" sz="2800" i="1" smtClean="0">
                <a:latin typeface="Times New Roman" pitchFamily="18" charset="0"/>
              </a:rPr>
              <a:t> and Finish be vectors of length m and n, respectively.  Initialize:</a:t>
            </a:r>
            <a:endParaRPr lang="en-US" altLang="zh-TW" sz="3600" i="1" smtClean="0">
              <a:latin typeface="Times New Roman" pitchFamily="18" charset="0"/>
            </a:endParaRP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solidFill>
                  <a:srgbClr val="0000FF"/>
                </a:solidFill>
                <a:latin typeface="Times New Roman" pitchFamily="18" charset="0"/>
              </a:rPr>
              <a:t>Work</a:t>
            </a:r>
            <a:r>
              <a:rPr lang="en-US" altLang="zh-TW" sz="2400" i="1" smtClean="0">
                <a:latin typeface="Times New Roman" pitchFamily="18" charset="0"/>
              </a:rPr>
              <a:t> =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Available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</a:rPr>
              <a:t>Finish </a:t>
            </a:r>
            <a:r>
              <a:rPr lang="en-US" altLang="zh-TW" sz="2400" smtClean="0">
                <a:latin typeface="Times New Roman" pitchFamily="18" charset="0"/>
              </a:rPr>
              <a:t>[</a:t>
            </a:r>
            <a:r>
              <a:rPr lang="en-US" altLang="zh-TW" sz="2400" i="1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]</a:t>
            </a:r>
            <a:r>
              <a:rPr lang="en-US" altLang="zh-TW" sz="2400" i="1" smtClean="0">
                <a:latin typeface="Times New Roman" pitchFamily="18" charset="0"/>
              </a:rPr>
              <a:t> = false for i = 1,2,3, …, 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i="1" smtClean="0">
                <a:latin typeface="Times New Roman" pitchFamily="18" charset="0"/>
              </a:rPr>
              <a:t>2.	Find an i such that both: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</a:rPr>
              <a:t>		</a:t>
            </a:r>
            <a:r>
              <a:rPr lang="en-US" altLang="zh-TW" sz="2400" smtClean="0">
                <a:latin typeface="Times New Roman" pitchFamily="18" charset="0"/>
              </a:rPr>
              <a:t>(a)</a:t>
            </a:r>
            <a:r>
              <a:rPr lang="en-US" altLang="zh-TW" sz="2400" i="1" smtClean="0">
                <a:latin typeface="Times New Roman" pitchFamily="18" charset="0"/>
              </a:rPr>
              <a:t> Finish </a:t>
            </a:r>
            <a:r>
              <a:rPr lang="en-US" altLang="zh-TW" sz="2400" smtClean="0">
                <a:latin typeface="Times New Roman" pitchFamily="18" charset="0"/>
              </a:rPr>
              <a:t>[</a:t>
            </a:r>
            <a:r>
              <a:rPr lang="en-US" altLang="zh-TW" sz="2400" i="1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]</a:t>
            </a:r>
            <a:r>
              <a:rPr lang="en-US" altLang="zh-TW" sz="2400" i="1" smtClean="0">
                <a:latin typeface="Times New Roman" pitchFamily="18" charset="0"/>
              </a:rPr>
              <a:t> = false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i="1" smtClean="0">
                <a:latin typeface="Times New Roman" pitchFamily="18" charset="0"/>
              </a:rPr>
              <a:t>		</a:t>
            </a:r>
            <a:r>
              <a:rPr lang="en-US" altLang="zh-TW" sz="2400" smtClean="0">
                <a:latin typeface="Times New Roman" pitchFamily="18" charset="0"/>
              </a:rPr>
              <a:t>(b)</a:t>
            </a:r>
            <a:r>
              <a:rPr lang="en-US" altLang="zh-TW" sz="2400" i="1" smtClean="0">
                <a:latin typeface="Times New Roman" pitchFamily="18" charset="0"/>
              </a:rPr>
              <a:t>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Need</a:t>
            </a:r>
            <a:r>
              <a:rPr lang="en-US" altLang="zh-TW" sz="2400" i="1" baseline="-25000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Work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	If no such i exists, go to step 4.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i="1" smtClean="0">
                <a:latin typeface="Times New Roman" pitchFamily="18" charset="0"/>
              </a:rPr>
              <a:t>3.	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Work</a:t>
            </a:r>
            <a:r>
              <a:rPr lang="en-US" altLang="zh-TW" sz="2800" i="1" smtClean="0">
                <a:latin typeface="Times New Roman" pitchFamily="18" charset="0"/>
              </a:rPr>
              <a:t> =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Work</a:t>
            </a:r>
            <a:r>
              <a:rPr lang="en-US" altLang="zh-TW" sz="2800" i="1" smtClean="0">
                <a:latin typeface="Times New Roman" pitchFamily="18" charset="0"/>
              </a:rPr>
              <a:t> + </a:t>
            </a:r>
            <a:r>
              <a:rPr lang="en-US" altLang="zh-TW" sz="2800" i="1" smtClean="0">
                <a:solidFill>
                  <a:schemeClr val="tx2"/>
                </a:solidFill>
                <a:latin typeface="Times New Roman" pitchFamily="18" charset="0"/>
              </a:rPr>
              <a:t>Allocation</a:t>
            </a:r>
            <a:r>
              <a:rPr lang="en-US" altLang="zh-TW" sz="2800" i="1" baseline="-2500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TW" sz="2800" i="1" smtClean="0">
                <a:latin typeface="Times New Roman" pitchFamily="18" charset="0"/>
              </a:rPr>
              <a:t/>
            </a:r>
            <a:br>
              <a:rPr lang="en-US" altLang="zh-TW" sz="2800" i="1" smtClean="0">
                <a:latin typeface="Times New Roman" pitchFamily="18" charset="0"/>
              </a:rPr>
            </a:br>
            <a:r>
              <a:rPr lang="en-US" altLang="zh-TW" sz="2800" i="1" smtClean="0">
                <a:latin typeface="Times New Roman" pitchFamily="18" charset="0"/>
              </a:rPr>
              <a:t>	Finish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]</a:t>
            </a:r>
            <a:r>
              <a:rPr lang="en-US" altLang="zh-TW" sz="2800" i="1" smtClean="0">
                <a:latin typeface="Times New Roman" pitchFamily="18" charset="0"/>
              </a:rPr>
              <a:t> = true</a:t>
            </a:r>
            <a:br>
              <a:rPr lang="en-US" altLang="zh-TW" sz="2800" i="1" smtClean="0">
                <a:latin typeface="Times New Roman" pitchFamily="18" charset="0"/>
              </a:rPr>
            </a:br>
            <a:r>
              <a:rPr lang="en-US" altLang="zh-TW" sz="2800" i="1" smtClean="0">
                <a:latin typeface="Times New Roman" pitchFamily="18" charset="0"/>
              </a:rPr>
              <a:t>	go to step 2.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i="1" smtClean="0">
                <a:latin typeface="Times New Roman" pitchFamily="18" charset="0"/>
              </a:rPr>
              <a:t>4.	If Finish 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]</a:t>
            </a:r>
            <a:r>
              <a:rPr lang="en-US" altLang="zh-TW" sz="2800" i="1" smtClean="0">
                <a:latin typeface="Times New Roman" pitchFamily="18" charset="0"/>
              </a:rPr>
              <a:t> == true for all i, then the system is in a safe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023E53-5333-4751-B32D-10C5E0EF4AAC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F12588-BD1A-4B07-B286-64517AEAAF9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165100" y="61913"/>
            <a:ext cx="8843963" cy="65405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Resource-Request Algorithm for Process </a:t>
            </a:r>
            <a:r>
              <a:rPr lang="en-US" altLang="zh-TW" sz="3600" i="1" smtClean="0">
                <a:latin typeface="Times New Roman" pitchFamily="18" charset="0"/>
              </a:rPr>
              <a:t>P</a:t>
            </a:r>
            <a:r>
              <a:rPr lang="en-US" altLang="zh-TW" sz="3600" i="1" baseline="-25000" smtClean="0">
                <a:latin typeface="Times New Roman" pitchFamily="18" charset="0"/>
              </a:rPr>
              <a:t>i</a:t>
            </a:r>
            <a:endParaRPr lang="en-US" altLang="zh-TW" sz="3600" smtClean="0">
              <a:latin typeface="Times New Roman" pitchFamily="18" charset="0"/>
            </a:endParaRPr>
          </a:p>
        </p:txBody>
      </p:sp>
      <p:sp>
        <p:nvSpPr>
          <p:cNvPr id="59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6863" y="722313"/>
            <a:ext cx="8596312" cy="55340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i="1" smtClean="0">
                <a:latin typeface="Times New Roman" pitchFamily="18" charset="0"/>
              </a:rPr>
              <a:t>Request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= request vector for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. 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>
                <a:latin typeface="Times New Roman" pitchFamily="18" charset="0"/>
              </a:rPr>
              <a:t>If </a:t>
            </a:r>
            <a:r>
              <a:rPr lang="en-US" altLang="zh-TW" sz="2800" i="1" smtClean="0">
                <a:latin typeface="Times New Roman" pitchFamily="18" charset="0"/>
              </a:rPr>
              <a:t>Request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baseline="-25000" smtClean="0">
                <a:latin typeface="Times New Roman" pitchFamily="18" charset="0"/>
              </a:rPr>
              <a:t> 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j</a:t>
            </a:r>
            <a:r>
              <a:rPr lang="en-US" altLang="zh-TW" sz="2800" smtClean="0">
                <a:latin typeface="Times New Roman" pitchFamily="18" charset="0"/>
              </a:rPr>
              <a:t>] =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>
                <a:latin typeface="Times New Roman" pitchFamily="18" charset="0"/>
              </a:rPr>
              <a:t> then process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wants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itchFamily="18" charset="0"/>
              </a:rPr>
              <a:t>k</a:t>
            </a:r>
            <a:r>
              <a:rPr lang="en-US" altLang="zh-TW" sz="2800" smtClean="0">
                <a:solidFill>
                  <a:srgbClr val="FF0000"/>
                </a:solidFill>
                <a:latin typeface="Times New Roman" pitchFamily="18" charset="0"/>
              </a:rPr>
              <a:t> instances</a:t>
            </a:r>
            <a:r>
              <a:rPr lang="en-US" altLang="zh-TW" sz="2800" smtClean="0">
                <a:latin typeface="Times New Roman" pitchFamily="18" charset="0"/>
              </a:rPr>
              <a:t> of resource type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baseline="-25000" smtClean="0">
                <a:latin typeface="Times New Roman" pitchFamily="18" charset="0"/>
              </a:rPr>
              <a:t>.</a:t>
            </a:r>
            <a:endParaRPr lang="en-US" altLang="zh-TW" sz="2400" i="1" baseline="-25000" smtClean="0">
              <a:latin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i="1" smtClean="0">
                <a:latin typeface="Times New Roman" pitchFamily="18" charset="0"/>
              </a:rPr>
              <a:t>If Request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Need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go to step 2.  Otherwise, raise error condition, since process has exceeded its maximum claim.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If </a:t>
            </a:r>
            <a:r>
              <a:rPr lang="en-US" altLang="zh-TW" sz="2400" i="1" smtClean="0">
                <a:latin typeface="Times New Roman" pitchFamily="18" charset="0"/>
              </a:rPr>
              <a:t>Request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i="1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Available, go to step 3.  Otherwise P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 must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wait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, since resources are not available.</a:t>
            </a:r>
            <a:endParaRPr lang="en-US" altLang="zh-TW" sz="2400" i="1" smtClean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Pretend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to allocate requested resources to P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by modifying the state as follows:</a:t>
            </a:r>
          </a:p>
          <a:p>
            <a:pPr marL="1714500" lvl="3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800" i="1" smtClean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	Available = Available - Request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;</a:t>
            </a:r>
          </a:p>
          <a:p>
            <a:pPr marL="1714500" lvl="3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		Allocation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 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= Allocation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+ Request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;</a:t>
            </a:r>
          </a:p>
          <a:p>
            <a:pPr marL="1714500" lvl="3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		Need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= Need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– Request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i.</a:t>
            </a:r>
            <a:endParaRPr lang="en-US" altLang="zh-TW" sz="1800" b="1" i="1" baseline="-25000" smtClean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SzPct val="125000"/>
              <a:buFontTx/>
              <a:buChar char="•"/>
            </a:pP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If safe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 the resources are allocated to P</a:t>
            </a:r>
            <a:r>
              <a:rPr lang="en-US" altLang="zh-TW" sz="24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. </a:t>
            </a:r>
            <a:endParaRPr lang="en-US" altLang="zh-TW" sz="2400" b="1" i="1" smtClean="0">
              <a:solidFill>
                <a:srgbClr val="FF0000"/>
              </a:solidFill>
              <a:latin typeface="Times New Roman" pitchFamily="18" charset="0"/>
              <a:sym typeface="Symbol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SzPct val="125000"/>
              <a:buFontTx/>
              <a:buChar char="•"/>
            </a:pPr>
            <a:r>
              <a:rPr lang="en-US" altLang="zh-TW" sz="2400" b="1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If unsafe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 P</a:t>
            </a:r>
            <a:r>
              <a:rPr lang="en-US" altLang="zh-TW" sz="2400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 must wait, and the old resource-allocation state is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restored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.</a:t>
            </a:r>
            <a:endParaRPr lang="en-US" altLang="zh-TW" sz="2400" baseline="-25000" smtClean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824839-01CC-45FE-B238-34F4B3DA824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85A1A7-010D-4AB1-838E-3E722024CFF0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347663" y="247650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of Banker</a:t>
            </a:r>
            <a:r>
              <a:rPr lang="en-US" altLang="zh-TW" smtClean="0">
                <a:latin typeface="Helvetica" pitchFamily="34" charset="0"/>
              </a:rPr>
              <a:t>’</a:t>
            </a:r>
            <a:r>
              <a:rPr lang="en-US" altLang="zh-TW" smtClean="0"/>
              <a:t>s Algorithm</a:t>
            </a:r>
          </a:p>
        </p:txBody>
      </p:sp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839788"/>
            <a:ext cx="8855075" cy="5646737"/>
          </a:xfrm>
        </p:spPr>
        <p:txBody>
          <a:bodyPr/>
          <a:lstStyle/>
          <a:p>
            <a:pPr eaLnBrk="1" hangingPunct="1"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zh-TW" altLang="en-US" sz="2800" smtClean="0"/>
              <a:t>5 </a:t>
            </a:r>
            <a:r>
              <a:rPr lang="en-US" altLang="zh-TW" sz="2800" smtClean="0"/>
              <a:t>processes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0</a:t>
            </a:r>
            <a:r>
              <a:rPr lang="en-US" altLang="zh-TW" sz="2800" baseline="-25000" smtClean="0"/>
              <a:t> </a:t>
            </a:r>
            <a:r>
              <a:rPr lang="en-US" altLang="zh-TW" sz="2800" smtClean="0"/>
              <a:t>through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4</a:t>
            </a:r>
            <a:r>
              <a:rPr lang="en-US" altLang="zh-TW" sz="2800" smtClean="0"/>
              <a:t>; 3 resource types </a:t>
            </a:r>
            <a:r>
              <a:rPr lang="en-US" altLang="zh-TW" sz="2800" b="1" smtClean="0">
                <a:solidFill>
                  <a:srgbClr val="FF0000"/>
                </a:solidFill>
              </a:rPr>
              <a:t>A</a:t>
            </a:r>
            <a:r>
              <a:rPr lang="en-US" altLang="zh-TW" sz="2800" smtClean="0"/>
              <a:t> </a:t>
            </a:r>
            <a:br>
              <a:rPr lang="en-US" altLang="zh-TW" sz="2800" smtClean="0"/>
            </a:br>
            <a:r>
              <a:rPr lang="en-US" altLang="zh-TW" sz="2800" smtClean="0"/>
              <a:t>(10 instances), </a:t>
            </a:r>
            <a:r>
              <a:rPr lang="en-US" altLang="zh-TW" sz="2800" b="1" smtClean="0">
                <a:solidFill>
                  <a:srgbClr val="FF0000"/>
                </a:solidFill>
              </a:rPr>
              <a:t>B</a:t>
            </a:r>
            <a:r>
              <a:rPr lang="en-US" altLang="zh-TW" sz="2800" smtClean="0"/>
              <a:t>(5 instances), and </a:t>
            </a:r>
            <a:r>
              <a:rPr lang="en-US" altLang="zh-TW" sz="2800" b="1" smtClean="0">
                <a:solidFill>
                  <a:srgbClr val="FF0000"/>
                </a:solidFill>
              </a:rPr>
              <a:t>C</a:t>
            </a:r>
            <a:r>
              <a:rPr lang="en-US" altLang="zh-TW" sz="2800" smtClean="0"/>
              <a:t>(7 instances).</a:t>
            </a:r>
          </a:p>
          <a:p>
            <a:pPr eaLnBrk="1" hangingPunct="1"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Snapshot at time </a:t>
            </a:r>
            <a:r>
              <a:rPr lang="en-US" altLang="zh-TW" sz="2800" i="1" smtClean="0"/>
              <a:t>T</a:t>
            </a:r>
            <a:r>
              <a:rPr lang="en-US" altLang="zh-TW" sz="2800" baseline="-25000" smtClean="0"/>
              <a:t>0</a:t>
            </a:r>
            <a:r>
              <a:rPr lang="en-US" altLang="zh-TW" sz="2800" smtClean="0"/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      </a:t>
            </a:r>
            <a:r>
              <a:rPr lang="en-US" altLang="zh-TW" sz="2800" u="sng" smtClean="0"/>
              <a:t>Allocation</a:t>
            </a:r>
            <a:r>
              <a:rPr lang="en-US" altLang="zh-TW" sz="2800" smtClean="0"/>
              <a:t>    </a:t>
            </a:r>
            <a:r>
              <a:rPr lang="en-US" altLang="zh-TW" sz="2800" u="sng" smtClean="0"/>
              <a:t>Max </a:t>
            </a:r>
            <a:r>
              <a:rPr lang="en-US" altLang="zh-TW" sz="2800" smtClean="0"/>
              <a:t>   </a:t>
            </a:r>
            <a:r>
              <a:rPr lang="en-US" altLang="zh-TW" sz="2800" u="sng" smtClean="0"/>
              <a:t>Available	        Need</a:t>
            </a:r>
            <a:endParaRPr lang="en-US" altLang="zh-TW" sz="2800" smtClean="0"/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	 ABC        ABC     ABC (</a:t>
            </a:r>
            <a:r>
              <a:rPr lang="en-US" altLang="zh-TW" sz="2800" smtClean="0">
                <a:solidFill>
                  <a:srgbClr val="0000FF"/>
                </a:solidFill>
              </a:rPr>
              <a:t>3 3 2</a:t>
            </a:r>
            <a:r>
              <a:rPr lang="en-US" altLang="zh-TW" sz="2800" smtClean="0"/>
              <a:t>)	 ABC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P0      0 1 0       7 5 3           		 7 4 3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P1      2 0 0       3 2 2			 </a:t>
            </a:r>
            <a:r>
              <a:rPr lang="en-US" altLang="zh-TW" sz="2800" smtClean="0">
                <a:solidFill>
                  <a:srgbClr val="FF0000"/>
                </a:solidFill>
              </a:rPr>
              <a:t>1 2 2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P2      3 0 2       9 0 2			 6 0 0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P3      2 1 1       2 2 2	  		 0 1 1</a:t>
            </a:r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	P4      0 0 2       4 3 3			 4 3 1	</a:t>
            </a:r>
          </a:p>
          <a:p>
            <a:pPr eaLnBrk="1" hangingPunct="1"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zh-TW" sz="2800" smtClean="0"/>
              <a:t>&lt;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en-US" altLang="zh-TW" sz="2800" smtClean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lang="en-US" altLang="zh-TW" sz="2800" smtClean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  <a:latin typeface="Times New Roman" pitchFamily="18" charset="0"/>
              </a:rPr>
              <a:t>4</a:t>
            </a:r>
            <a:r>
              <a:rPr lang="en-US" altLang="zh-TW" sz="2800" smtClean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TW" sz="2800" smtClean="0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altLang="zh-TW" sz="2800" smtClean="0"/>
              <a:t>&gt; satisfies safety criteria </a:t>
            </a:r>
            <a:endParaRPr lang="en-US" altLang="zh-TW" sz="2800" baseline="-25000" smtClean="0"/>
          </a:p>
          <a:p>
            <a:pPr eaLnBrk="1" hangingPunct="1">
              <a:buFont typeface="Wingding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endParaRPr lang="en-US" altLang="zh-TW" sz="2800" smtClean="0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4479925" y="4868863"/>
            <a:ext cx="874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5 3 2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4500563" y="5383213"/>
            <a:ext cx="874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7 4 3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4452938" y="4300538"/>
            <a:ext cx="874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7 4 5</a:t>
            </a: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4351338" y="3359150"/>
            <a:ext cx="104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10 4 </a:t>
            </a:r>
            <a:r>
              <a:rPr lang="en-US" altLang="zh-TW" sz="2400">
                <a:solidFill>
                  <a:srgbClr val="FF0000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/>
      <p:bldP spid="60421" grpId="0"/>
      <p:bldP spid="60422" grpId="0"/>
      <p:bldP spid="604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E344F4-E8A0-46B8-AE5E-1BA8C70A3F2A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984C1A-3E83-4EDD-BFAF-EC8EAD30171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 smtClean="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285750"/>
            <a:ext cx="77724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</a:t>
            </a:r>
            <a:r>
              <a:rPr lang="en-US" altLang="zh-TW" i="1" smtClean="0"/>
              <a:t>P</a:t>
            </a:r>
            <a:r>
              <a:rPr lang="en-US" altLang="zh-TW" baseline="-25000" smtClean="0"/>
              <a:t>1</a:t>
            </a:r>
            <a:r>
              <a:rPr lang="en-US" altLang="zh-TW" smtClean="0"/>
              <a:t> Request </a:t>
            </a:r>
            <a:r>
              <a:rPr lang="en-US" altLang="zh-TW" smtClean="0">
                <a:solidFill>
                  <a:srgbClr val="FF0000"/>
                </a:solidFill>
              </a:rPr>
              <a:t>(1,0,2)</a:t>
            </a:r>
          </a:p>
        </p:txBody>
      </p:sp>
      <p:sp>
        <p:nvSpPr>
          <p:cNvPr id="62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2575" y="1038225"/>
            <a:ext cx="8582025" cy="55705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400" smtClean="0"/>
              <a:t>Check that </a:t>
            </a:r>
            <a:r>
              <a:rPr lang="en-US" altLang="zh-TW" sz="2400" smtClean="0">
                <a:solidFill>
                  <a:srgbClr val="FF0000"/>
                </a:solidFill>
              </a:rPr>
              <a:t>Request </a:t>
            </a:r>
            <a:r>
              <a:rPr lang="en-US" altLang="zh-TW" sz="2400" smtClean="0">
                <a:solidFill>
                  <a:srgbClr val="FF0000"/>
                </a:solidFill>
                <a:sym typeface="Symbol" pitchFamily="18" charset="2"/>
              </a:rPr>
              <a:t> Available</a:t>
            </a:r>
            <a:r>
              <a:rPr lang="en-US" altLang="zh-TW" sz="2400" smtClean="0">
                <a:sym typeface="Symbol" pitchFamily="18" charset="2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400" smtClean="0">
                <a:sym typeface="Symbol" pitchFamily="18" charset="2"/>
              </a:rPr>
              <a:t>(that is, (1,0,2)  </a:t>
            </a:r>
            <a:r>
              <a:rPr lang="en-US" altLang="zh-TW" sz="2400" smtClean="0">
                <a:solidFill>
                  <a:srgbClr val="FF0000"/>
                </a:solidFill>
                <a:sym typeface="Symbol" pitchFamily="18" charset="2"/>
              </a:rPr>
              <a:t>(3,3,2)</a:t>
            </a:r>
            <a:r>
              <a:rPr lang="en-US" altLang="zh-TW" sz="2400" smtClean="0">
                <a:sym typeface="Symbol" pitchFamily="18" charset="2"/>
              </a:rPr>
              <a:t>  True)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i="1" smtClean="0"/>
              <a:t>			</a:t>
            </a:r>
            <a:r>
              <a:rPr lang="en-US" altLang="zh-TW" sz="2800" u="sng" smtClean="0"/>
              <a:t>Allocation</a:t>
            </a:r>
            <a:r>
              <a:rPr lang="en-US" altLang="zh-TW" sz="2800" smtClean="0"/>
              <a:t>	</a:t>
            </a:r>
            <a:r>
              <a:rPr lang="en-US" altLang="zh-TW" sz="2800" u="sng" smtClean="0"/>
              <a:t>Need</a:t>
            </a:r>
            <a:r>
              <a:rPr lang="en-US" altLang="zh-TW" sz="2800" smtClean="0"/>
              <a:t>	   </a:t>
            </a:r>
            <a:r>
              <a:rPr lang="en-US" altLang="zh-TW" sz="2800" u="sng" smtClean="0"/>
              <a:t>Available</a:t>
            </a:r>
            <a:r>
              <a:rPr lang="en-US" altLang="zh-TW" sz="2800" smtClean="0"/>
              <a:t>     </a:t>
            </a:r>
            <a:r>
              <a:rPr lang="en-US" altLang="zh-TW" sz="2800" u="sng" smtClean="0"/>
              <a:t>Max</a:t>
            </a:r>
            <a:endParaRPr lang="en-US" altLang="zh-TW" sz="16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i="1" smtClean="0"/>
              <a:t>			A B C	A B C	 </a:t>
            </a:r>
            <a:r>
              <a:rPr lang="en-US" altLang="zh-TW" sz="2800" smtClean="0">
                <a:sym typeface="Symbol" pitchFamily="18" charset="2"/>
              </a:rPr>
              <a:t>3,3,2</a:t>
            </a:r>
            <a:r>
              <a:rPr lang="en-US" altLang="zh-TW" sz="2800" i="1" smtClean="0"/>
              <a:t> 		  </a:t>
            </a: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baseline="-25000" smtClean="0"/>
              <a:t>0</a:t>
            </a:r>
            <a:r>
              <a:rPr lang="en-US" altLang="zh-TW" sz="2800" smtClean="0"/>
              <a:t>	0 1 0 	7 4 3 		</a:t>
            </a:r>
            <a:r>
              <a:rPr lang="en-US" altLang="zh-TW" sz="2800" smtClean="0">
                <a:solidFill>
                  <a:srgbClr val="FF0000"/>
                </a:solidFill>
              </a:rPr>
              <a:t>	</a:t>
            </a:r>
            <a:r>
              <a:rPr lang="en-US" altLang="zh-TW" sz="2800" smtClean="0">
                <a:solidFill>
                  <a:schemeClr val="tx2"/>
                </a:solidFill>
              </a:rPr>
              <a:t>7 5 3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>
                <a:solidFill>
                  <a:srgbClr val="0000FF"/>
                </a:solidFill>
              </a:rPr>
              <a:t>P</a:t>
            </a:r>
            <a:r>
              <a:rPr lang="en-US" altLang="zh-TW" sz="2800" baseline="-25000" smtClean="0">
                <a:solidFill>
                  <a:srgbClr val="0000FF"/>
                </a:solidFill>
              </a:rPr>
              <a:t>1</a:t>
            </a:r>
            <a:r>
              <a:rPr lang="en-US" altLang="zh-TW" sz="2800" smtClean="0">
                <a:solidFill>
                  <a:srgbClr val="0000FF"/>
                </a:solidFill>
              </a:rPr>
              <a:t>	2 0 0	1 2 2</a:t>
            </a:r>
            <a:r>
              <a:rPr lang="en-US" altLang="zh-TW" sz="2800" smtClean="0"/>
              <a:t> 			3 2 2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baseline="-25000" smtClean="0"/>
              <a:t>2</a:t>
            </a:r>
            <a:r>
              <a:rPr lang="en-US" altLang="zh-TW" sz="2800" smtClean="0"/>
              <a:t>	3 0 </a:t>
            </a:r>
            <a:r>
              <a:rPr lang="en-US" altLang="zh-TW" sz="2800" smtClean="0">
                <a:solidFill>
                  <a:srgbClr val="0000FF"/>
                </a:solidFill>
              </a:rPr>
              <a:t>2</a:t>
            </a:r>
            <a:r>
              <a:rPr lang="en-US" altLang="zh-TW" sz="2800" smtClean="0"/>
              <a:t> 	6 0 0 			</a:t>
            </a:r>
            <a:r>
              <a:rPr lang="en-US" altLang="zh-TW" sz="2800" smtClean="0">
                <a:solidFill>
                  <a:schemeClr val="tx2"/>
                </a:solidFill>
              </a:rPr>
              <a:t>9 0 2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baseline="-25000" smtClean="0"/>
              <a:t>3</a:t>
            </a:r>
            <a:r>
              <a:rPr lang="en-US" altLang="zh-TW" sz="2800" smtClean="0"/>
              <a:t>	2 1 1 	0 1 1			</a:t>
            </a:r>
            <a:r>
              <a:rPr lang="en-US" altLang="zh-TW" sz="2800" smtClean="0">
                <a:solidFill>
                  <a:schemeClr val="tx2"/>
                </a:solidFill>
              </a:rPr>
              <a:t>2 2 2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	</a:t>
            </a:r>
            <a:r>
              <a:rPr lang="en-US" altLang="zh-TW" sz="2800" i="1" smtClean="0"/>
              <a:t>P</a:t>
            </a:r>
            <a:r>
              <a:rPr lang="en-US" altLang="zh-TW" sz="2800" baseline="-25000" smtClean="0"/>
              <a:t>4</a:t>
            </a:r>
            <a:r>
              <a:rPr lang="en-US" altLang="zh-TW" sz="2800" smtClean="0"/>
              <a:t>	0 0 2 	4 3 1</a:t>
            </a:r>
            <a:r>
              <a:rPr lang="en-US" altLang="zh-TW" smtClean="0"/>
              <a:t> 			</a:t>
            </a:r>
            <a:r>
              <a:rPr lang="en-US" altLang="zh-TW" sz="2800" smtClean="0">
                <a:solidFill>
                  <a:schemeClr val="tx2"/>
                </a:solidFill>
              </a:rPr>
              <a:t>4 3 3</a:t>
            </a:r>
            <a:endParaRPr lang="en-US" altLang="zh-TW" sz="24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400" smtClean="0"/>
              <a:t>Executing safety algorithm shows that sequence </a:t>
            </a:r>
            <a:r>
              <a:rPr lang="en-US" altLang="zh-TW" sz="2400" smtClean="0">
                <a:latin typeface="Times New Roman" pitchFamily="18" charset="0"/>
              </a:rPr>
              <a:t>&lt;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1</a:t>
            </a:r>
            <a:r>
              <a:rPr lang="en-US" altLang="zh-TW" sz="2400" smtClean="0">
                <a:latin typeface="Times New Roman" pitchFamily="18" charset="0"/>
              </a:rPr>
              <a:t>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3</a:t>
            </a:r>
            <a:r>
              <a:rPr lang="en-US" altLang="zh-TW" sz="2400" smtClean="0">
                <a:latin typeface="Times New Roman" pitchFamily="18" charset="0"/>
              </a:rPr>
              <a:t>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4</a:t>
            </a:r>
            <a:r>
              <a:rPr lang="en-US" altLang="zh-TW" sz="2400" smtClean="0">
                <a:latin typeface="Times New Roman" pitchFamily="18" charset="0"/>
              </a:rPr>
              <a:t>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0</a:t>
            </a:r>
            <a:r>
              <a:rPr lang="en-US" altLang="zh-TW" sz="2400" smtClean="0">
                <a:latin typeface="Times New Roman" pitchFamily="18" charset="0"/>
              </a:rPr>
              <a:t>, </a:t>
            </a: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2</a:t>
            </a:r>
            <a:r>
              <a:rPr lang="en-US" altLang="zh-TW" sz="2400" smtClean="0"/>
              <a:t>&gt; satisfies safety requirement. 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400" smtClean="0">
                <a:solidFill>
                  <a:srgbClr val="FF0000"/>
                </a:solidFill>
              </a:rPr>
              <a:t>Can request for (3,3,0) by </a:t>
            </a:r>
            <a:r>
              <a:rPr lang="en-US" altLang="zh-TW" sz="24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TW" sz="2400" smtClean="0">
                <a:solidFill>
                  <a:srgbClr val="FF0000"/>
                </a:solidFill>
              </a:rPr>
              <a:t> be granted?</a:t>
            </a:r>
            <a:endParaRPr lang="zh-TW" altLang="en-US" sz="2400" smtClean="0">
              <a:solidFill>
                <a:srgbClr val="FF0000"/>
              </a:solidFill>
            </a:endParaRPr>
          </a:p>
        </p:txBody>
      </p:sp>
      <p:sp>
        <p:nvSpPr>
          <p:cNvPr id="40967" name="Text Box 4"/>
          <p:cNvSpPr txBox="1">
            <a:spLocks noChangeArrowheads="1"/>
          </p:cNvSpPr>
          <p:nvPr/>
        </p:nvSpPr>
        <p:spPr bwMode="auto">
          <a:xfrm>
            <a:off x="5035550" y="32972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320925" y="3149600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3 0 2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3663950" y="315118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0 2 0</a:t>
            </a: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4951413" y="230663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2 3 0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/>
      <p:bldP spid="62471" grpId="0"/>
      <p:bldP spid="624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A4922B-4F4A-4CE5-A963-6C8DF5F2D7D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279A1B-4D23-4670-9CFB-C390A3F4540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 smtClean="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285750"/>
            <a:ext cx="77724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</a:t>
            </a:r>
            <a:r>
              <a:rPr lang="en-US" altLang="zh-TW" i="1" smtClean="0">
                <a:solidFill>
                  <a:srgbClr val="0000FF"/>
                </a:solidFill>
              </a:rPr>
              <a:t>P</a:t>
            </a:r>
            <a:r>
              <a:rPr lang="en-US" altLang="zh-TW" baseline="-25000" smtClean="0">
                <a:solidFill>
                  <a:srgbClr val="0000FF"/>
                </a:solidFill>
              </a:rPr>
              <a:t>0</a:t>
            </a:r>
            <a:r>
              <a:rPr lang="en-US" altLang="zh-TW" smtClean="0">
                <a:solidFill>
                  <a:srgbClr val="0000FF"/>
                </a:solidFill>
              </a:rPr>
              <a:t> Request (0,2,0)</a:t>
            </a:r>
          </a:p>
        </p:txBody>
      </p:sp>
      <p:sp>
        <p:nvSpPr>
          <p:cNvPr id="983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2575" y="1038225"/>
            <a:ext cx="8582025" cy="55705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After </a:t>
            </a:r>
            <a:r>
              <a:rPr lang="en-US" altLang="zh-TW" sz="2800" i="1" smtClean="0"/>
              <a:t>P</a:t>
            </a:r>
            <a:r>
              <a:rPr lang="en-US" altLang="zh-TW" sz="2800" baseline="-25000" smtClean="0"/>
              <a:t>1</a:t>
            </a:r>
            <a:r>
              <a:rPr lang="en-US" altLang="zh-TW" sz="2800" smtClean="0"/>
              <a:t> Request </a:t>
            </a:r>
            <a:r>
              <a:rPr lang="en-US" altLang="zh-TW" sz="2800" smtClean="0">
                <a:solidFill>
                  <a:srgbClr val="FF0000"/>
                </a:solidFill>
              </a:rPr>
              <a:t>(1,0,2)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     </a:t>
            </a:r>
            <a:r>
              <a:rPr lang="en-US" altLang="zh-TW" sz="2800" u="sng" smtClean="0"/>
              <a:t>Allocation</a:t>
            </a:r>
            <a:r>
              <a:rPr lang="en-US" altLang="zh-TW" sz="2800" smtClean="0"/>
              <a:t>      </a:t>
            </a:r>
            <a:r>
              <a:rPr lang="en-US" altLang="zh-TW" sz="2800" u="sng" smtClean="0"/>
              <a:t>Max</a:t>
            </a:r>
            <a:r>
              <a:rPr lang="en-US" altLang="zh-TW" sz="2800" smtClean="0"/>
              <a:t>    </a:t>
            </a:r>
            <a:r>
              <a:rPr lang="en-US" altLang="zh-TW" sz="2800" u="sng" smtClean="0"/>
              <a:t>Available</a:t>
            </a:r>
            <a:r>
              <a:rPr lang="en-US" altLang="zh-TW" sz="2800" smtClean="0"/>
              <a:t>	</a:t>
            </a:r>
            <a:r>
              <a:rPr lang="en-US" altLang="zh-TW" sz="2800" u="sng" smtClean="0"/>
              <a:t>Need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          ABC         ABC      	 		 ABC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</a:t>
            </a:r>
            <a:r>
              <a:rPr lang="en-US" altLang="zh-TW" sz="2800" smtClean="0">
                <a:solidFill>
                  <a:srgbClr val="0000FF"/>
                </a:solidFill>
              </a:rPr>
              <a:t>P0      		             7 4 3 			 7 </a:t>
            </a:r>
            <a:r>
              <a:rPr lang="en-US" altLang="zh-TW" sz="2800" smtClean="0"/>
              <a:t>3</a:t>
            </a:r>
            <a:r>
              <a:rPr lang="en-US" altLang="zh-TW" sz="2800" smtClean="0">
                <a:solidFill>
                  <a:srgbClr val="0000FF"/>
                </a:solidFill>
              </a:rPr>
              <a:t> 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P1      3 0 2       3 2 2			 0 2 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P2      3 0 2       9 0 2			 6 0 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P3      2 1 1       2 2 2			 0 1 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/>
              <a:t>	P4      0 0 2       4 3 3			 4 3 1</a:t>
            </a:r>
          </a:p>
          <a:p>
            <a:pPr eaLnBrk="1" hangingPunct="1">
              <a:lnSpc>
                <a:spcPct val="90000"/>
              </a:lnSpc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>
                <a:solidFill>
                  <a:srgbClr val="FF0000"/>
                </a:solidFill>
              </a:rPr>
              <a:t>no safe sequence </a:t>
            </a:r>
            <a:r>
              <a:rPr lang="en-US" altLang="zh-TW" sz="2800" smtClean="0">
                <a:solidFill>
                  <a:srgbClr val="FF0000"/>
                </a:solidFill>
                <a:sym typeface="Symbol" pitchFamily="18" charset="2"/>
              </a:rPr>
              <a:t></a:t>
            </a:r>
            <a:r>
              <a:rPr lang="en-US" altLang="zh-TW" sz="2800" smtClean="0">
                <a:solidFill>
                  <a:srgbClr val="FF0000"/>
                </a:solidFill>
              </a:rPr>
              <a:t> unsafe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zh-TW" sz="2800" smtClean="0">
                <a:sym typeface="Symbol" pitchFamily="18" charset="2"/>
              </a:rPr>
              <a:t>	</a:t>
            </a:r>
            <a:r>
              <a:rPr lang="en-US" altLang="zh-TW" sz="2800" smtClean="0"/>
              <a:t>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0</a:t>
            </a:r>
            <a:r>
              <a:rPr lang="en-US" altLang="zh-TW" sz="2800" smtClean="0"/>
              <a:t> must wait and the old state is restored.</a:t>
            </a:r>
            <a:endParaRPr lang="zh-TW" altLang="en-US" sz="2800" smtClean="0"/>
          </a:p>
        </p:txBody>
      </p:sp>
      <p:sp>
        <p:nvSpPr>
          <p:cNvPr id="98312" name="Text Box 8"/>
          <p:cNvSpPr txBox="1">
            <a:spLocks noChangeArrowheads="1"/>
          </p:cNvSpPr>
          <p:nvPr/>
        </p:nvSpPr>
        <p:spPr bwMode="auto">
          <a:xfrm>
            <a:off x="4667250" y="1997075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2 3 0</a:t>
            </a:r>
            <a:endParaRPr lang="zh-TW" altLang="en-US" sz="2800">
              <a:solidFill>
                <a:srgbClr val="FF0000"/>
              </a:solidFill>
            </a:endParaRPr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4670425" y="2003425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2 1 0</a:t>
            </a:r>
            <a:endParaRPr lang="zh-TW" altLang="en-US" sz="2800">
              <a:solidFill>
                <a:srgbClr val="FF0000"/>
              </a:solidFill>
            </a:endParaRP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1698625" y="2400300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0 1 0</a:t>
            </a:r>
            <a:endParaRPr lang="zh-TW" altLang="en-US" sz="2800">
              <a:solidFill>
                <a:srgbClr val="FF0000"/>
              </a:solidFill>
            </a:endParaRPr>
          </a:p>
        </p:txBody>
      </p:sp>
      <p:sp>
        <p:nvSpPr>
          <p:cNvPr id="98315" name="Text Box 11"/>
          <p:cNvSpPr txBox="1">
            <a:spLocks noChangeArrowheads="1"/>
          </p:cNvSpPr>
          <p:nvPr/>
        </p:nvSpPr>
        <p:spPr bwMode="auto">
          <a:xfrm>
            <a:off x="1697038" y="2420938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0 3 0</a:t>
            </a:r>
            <a:endParaRPr lang="zh-TW" altLang="en-US" sz="2800">
              <a:solidFill>
                <a:srgbClr val="FF0000"/>
              </a:solidFill>
            </a:endParaRPr>
          </a:p>
        </p:txBody>
      </p:sp>
      <p:sp>
        <p:nvSpPr>
          <p:cNvPr id="98316" name="Text Box 12"/>
          <p:cNvSpPr txBox="1">
            <a:spLocks noChangeArrowheads="1"/>
          </p:cNvSpPr>
          <p:nvPr/>
        </p:nvSpPr>
        <p:spPr bwMode="auto">
          <a:xfrm>
            <a:off x="6791325" y="2413000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>
                <a:solidFill>
                  <a:srgbClr val="FF0000"/>
                </a:solidFill>
              </a:rPr>
              <a:t>7 1 3</a:t>
            </a:r>
            <a:endParaRPr lang="zh-TW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2" grpId="0"/>
      <p:bldP spid="98312" grpId="1"/>
      <p:bldP spid="98313" grpId="0"/>
      <p:bldP spid="98314" grpId="0"/>
      <p:bldP spid="98315" grpId="0"/>
      <p:bldP spid="983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41F4D6-9D55-491F-9DB1-B9C75C4E796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95FADB8-176F-48F7-A4D6-FE6012A4F488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8" y="395288"/>
            <a:ext cx="7874000" cy="754062"/>
          </a:xfrm>
        </p:spPr>
        <p:txBody>
          <a:bodyPr/>
          <a:lstStyle/>
          <a:p>
            <a:pPr eaLnBrk="1" hangingPunct="1"/>
            <a:r>
              <a:rPr lang="en-US" altLang="zh-TW" smtClean="0"/>
              <a:t>Deadlock </a:t>
            </a:r>
            <a:r>
              <a:rPr lang="en-US" altLang="zh-TW" smtClean="0">
                <a:solidFill>
                  <a:srgbClr val="FF0000"/>
                </a:solidFill>
              </a:rPr>
              <a:t>Detection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01613" y="1112838"/>
            <a:ext cx="8461375" cy="4937125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Allow system to enter deadlock state</a:t>
            </a:r>
          </a:p>
          <a:p>
            <a:pPr lvl="1" eaLnBrk="1" hangingPunct="1"/>
            <a:r>
              <a:rPr lang="en-US" altLang="zh-TW" sz="2400" smtClean="0"/>
              <a:t>Detect whether deadlocks occur</a:t>
            </a:r>
          </a:p>
          <a:p>
            <a:pPr lvl="1" eaLnBrk="1" hangingPunct="1"/>
            <a:r>
              <a:rPr lang="en-US" altLang="zh-TW" sz="2400" smtClean="0"/>
              <a:t>if so, </a:t>
            </a:r>
            <a:r>
              <a:rPr lang="en-US" altLang="zh-TW" sz="2400" smtClean="0">
                <a:solidFill>
                  <a:srgbClr val="FF0000"/>
                </a:solidFill>
              </a:rPr>
              <a:t>recover</a:t>
            </a:r>
            <a:r>
              <a:rPr lang="en-US" altLang="zh-TW" sz="2400" smtClean="0"/>
              <a:t> from the deadlock 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Detection algorithms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Recovery scheme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Disadvantages of detection/recovery scheme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run-time costs</a:t>
            </a:r>
            <a:r>
              <a:rPr lang="en-US" altLang="zh-TW" sz="2400" smtClean="0"/>
              <a:t> of maintaining necessary information and the detection algorithm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potential losses</a:t>
            </a:r>
            <a:r>
              <a:rPr lang="en-US" altLang="zh-TW" sz="2400" smtClean="0"/>
              <a:t> inherent in recovery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9AB5A6-EE02-4286-AA9A-69F48033ECB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6D838F7-CEEB-4C36-867A-9DC550BD697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 smtClean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42888"/>
            <a:ext cx="8350250" cy="790575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solidFill>
                  <a:srgbClr val="0000FF"/>
                </a:solidFill>
              </a:rPr>
              <a:t>Single Instance</a:t>
            </a:r>
            <a:r>
              <a:rPr lang="en-US" altLang="zh-TW" sz="3600" smtClean="0"/>
              <a:t> of Each Resource Type</a:t>
            </a:r>
          </a:p>
        </p:txBody>
      </p:sp>
      <p:sp>
        <p:nvSpPr>
          <p:cNvPr id="64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1475" y="1127125"/>
            <a:ext cx="8332788" cy="4787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Maintain </a:t>
            </a:r>
            <a:r>
              <a:rPr lang="en-US" altLang="zh-TW" b="1" smtClean="0">
                <a:solidFill>
                  <a:srgbClr val="FF0000"/>
                </a:solidFill>
              </a:rPr>
              <a:t>wait-for graph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Nodes are processes</a:t>
            </a:r>
            <a:endParaRPr lang="en-US" altLang="zh-TW" smtClean="0">
              <a:latin typeface="Times New Roman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i="1" baseline="-25000" smtClean="0">
                <a:latin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</a:rPr>
              <a:t> </a:t>
            </a:r>
            <a:r>
              <a:rPr lang="en-US" altLang="zh-TW" smtClean="0"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j </a:t>
            </a:r>
            <a:r>
              <a:rPr lang="en-US" altLang="zh-TW" smtClean="0">
                <a:latin typeface="Times New Roman" pitchFamily="18" charset="0"/>
                <a:sym typeface="Symbol" pitchFamily="18" charset="2"/>
              </a:rPr>
              <a:t>if 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mtClean="0">
                <a:latin typeface="Times New Roman" pitchFamily="18" charset="0"/>
                <a:sym typeface="Symbol" pitchFamily="18" charset="2"/>
              </a:rPr>
              <a:t>is waiting for</a:t>
            </a:r>
            <a:r>
              <a:rPr lang="en-US" altLang="zh-TW" i="1" smtClean="0">
                <a:latin typeface="Times New Roman" pitchFamily="18" charset="0"/>
                <a:sym typeface="Symbol" pitchFamily="18" charset="2"/>
              </a:rPr>
              <a:t> P</a:t>
            </a:r>
            <a:r>
              <a:rPr lang="en-US" altLang="zh-TW" i="1" baseline="-25000" smtClean="0">
                <a:latin typeface="Times New Roman" pitchFamily="18" charset="0"/>
                <a:sym typeface="Symbol" pitchFamily="18" charset="2"/>
              </a:rPr>
              <a:t>j</a:t>
            </a:r>
            <a:r>
              <a:rPr lang="en-US" altLang="zh-TW" i="1" smtClean="0">
                <a:sym typeface="Symbol" pitchFamily="18" charset="2"/>
              </a:rPr>
              <a:t/>
            </a:r>
            <a:br>
              <a:rPr lang="en-US" altLang="zh-TW" i="1" smtClean="0">
                <a:sym typeface="Symbol" pitchFamily="18" charset="2"/>
              </a:rPr>
            </a:br>
            <a:endParaRPr lang="en-US" altLang="zh-TW" i="1" smtClean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</a:rPr>
              <a:t>Periodically</a:t>
            </a:r>
            <a:r>
              <a:rPr lang="en-US" altLang="zh-TW" smtClean="0"/>
              <a:t> invoke an algorithm that </a:t>
            </a:r>
            <a:r>
              <a:rPr lang="en-US" altLang="zh-TW" smtClean="0">
                <a:solidFill>
                  <a:srgbClr val="FF0000"/>
                </a:solidFill>
              </a:rPr>
              <a:t>searches for a cycle</a:t>
            </a:r>
            <a:r>
              <a:rPr lang="en-US" altLang="zh-TW" smtClean="0"/>
              <a:t> in the graph.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>
              <a:lnSpc>
                <a:spcPct val="90000"/>
              </a:lnSpc>
            </a:pPr>
            <a:r>
              <a:rPr lang="en-US" altLang="zh-TW" smtClean="0"/>
              <a:t>An algorithm to detect a cycle in a graph requires an order of</a:t>
            </a:r>
            <a:r>
              <a:rPr lang="en-US" altLang="zh-TW" i="1" smtClean="0"/>
              <a:t> </a:t>
            </a:r>
            <a:r>
              <a:rPr lang="en-US" altLang="zh-TW" i="1" smtClean="0">
                <a:latin typeface="Times New Roman" pitchFamily="18" charset="0"/>
              </a:rPr>
              <a:t>n</a:t>
            </a:r>
            <a:r>
              <a:rPr lang="en-US" altLang="zh-TW" baseline="30000" smtClean="0">
                <a:latin typeface="Times New Roman" pitchFamily="18" charset="0"/>
              </a:rPr>
              <a:t>2</a:t>
            </a:r>
            <a:r>
              <a:rPr lang="en-US" altLang="zh-TW" smtClean="0"/>
              <a:t> operations, where </a:t>
            </a:r>
            <a:r>
              <a:rPr lang="en-US" altLang="zh-TW" i="1" smtClean="0">
                <a:latin typeface="Times New Roman" pitchFamily="18" charset="0"/>
              </a:rPr>
              <a:t>n</a:t>
            </a:r>
            <a:r>
              <a:rPr lang="en-US" altLang="zh-TW" smtClean="0"/>
              <a:t> is the number of vertices in the graph.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533B06-CFA5-4660-938A-184C1A340D6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505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506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9289FC-B665-43CE-9336-CF1B5CC572CB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 smtClean="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550863" y="241300"/>
            <a:ext cx="7956550" cy="1165225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Resource-Allocation Graph and Wait-for Graph</a:t>
            </a: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1039813" y="5649913"/>
            <a:ext cx="292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itchFamily="34" charset="0"/>
              </a:rPr>
              <a:t>Resource-Allocation Graph</a:t>
            </a:r>
          </a:p>
        </p:txBody>
      </p:sp>
      <p:sp>
        <p:nvSpPr>
          <p:cNvPr id="45063" name="Text Box 6"/>
          <p:cNvSpPr txBox="1">
            <a:spLocks noChangeArrowheads="1"/>
          </p:cNvSpPr>
          <p:nvPr/>
        </p:nvSpPr>
        <p:spPr bwMode="auto">
          <a:xfrm>
            <a:off x="4187825" y="5667375"/>
            <a:ext cx="314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solidFill>
                  <a:srgbClr val="FF0000"/>
                </a:solidFill>
                <a:latin typeface="Helvetica" pitchFamily="34" charset="0"/>
              </a:rPr>
              <a:t>Corresponding wait-for graph</a:t>
            </a:r>
          </a:p>
        </p:txBody>
      </p:sp>
      <p:pic>
        <p:nvPicPr>
          <p:cNvPr id="4506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" t="9808" r="458" b="9842"/>
          <a:stretch>
            <a:fillRect/>
          </a:stretch>
        </p:blipFill>
        <p:spPr bwMode="auto">
          <a:xfrm>
            <a:off x="952500" y="1631950"/>
            <a:ext cx="5826125" cy="378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92F8BD-E06A-4680-B666-B977AAAAE073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03C1C5-C6DC-4CDC-B1A4-993198E3F98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 smtClean="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" y="354013"/>
            <a:ext cx="8386763" cy="695325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solidFill>
                  <a:srgbClr val="0000FF"/>
                </a:solidFill>
              </a:rPr>
              <a:t>Several Instances</a:t>
            </a:r>
            <a:r>
              <a:rPr lang="en-US" altLang="zh-TW" sz="3600" smtClean="0"/>
              <a:t> of a Resource Type</a:t>
            </a: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6238" y="1176338"/>
            <a:ext cx="835660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Available</a:t>
            </a:r>
            <a:r>
              <a:rPr lang="en-US" altLang="zh-TW" sz="2800" smtClean="0"/>
              <a:t>:  A vector of length </a:t>
            </a:r>
            <a:r>
              <a:rPr lang="en-US" altLang="zh-TW" sz="2800" i="1" smtClean="0">
                <a:latin typeface="Times New Roman" pitchFamily="18" charset="0"/>
              </a:rPr>
              <a:t>m</a:t>
            </a:r>
            <a:r>
              <a:rPr lang="en-US" altLang="zh-TW" sz="2800" smtClean="0"/>
              <a:t> indicates the number of available resources of each type.</a:t>
            </a:r>
            <a:br>
              <a:rPr lang="en-US" altLang="zh-TW" sz="2800" smtClean="0"/>
            </a:b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Allocation</a:t>
            </a:r>
            <a:r>
              <a:rPr lang="en-US" altLang="zh-TW" sz="2800" smtClean="0"/>
              <a:t>: An </a:t>
            </a:r>
            <a:r>
              <a:rPr lang="en-US" altLang="zh-TW" sz="2800" i="1" smtClean="0">
                <a:latin typeface="Times New Roman" pitchFamily="18" charset="0"/>
              </a:rPr>
              <a:t>n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i="1" smtClean="0">
                <a:latin typeface="Times New Roman" pitchFamily="18" charset="0"/>
              </a:rPr>
              <a:t> m</a:t>
            </a:r>
            <a:r>
              <a:rPr lang="en-US" altLang="zh-TW" sz="2800" smtClean="0"/>
              <a:t> matrix defines the number of resources of each type currently allocated to each process.</a:t>
            </a:r>
            <a:br>
              <a:rPr lang="en-US" altLang="zh-TW" sz="2800" smtClean="0"/>
            </a:b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Request</a:t>
            </a:r>
            <a:r>
              <a:rPr lang="en-US" altLang="zh-TW" sz="2800" smtClean="0"/>
              <a:t>: An </a:t>
            </a:r>
            <a:r>
              <a:rPr lang="en-US" altLang="zh-TW" sz="2800" i="1" smtClean="0">
                <a:latin typeface="Times New Roman" pitchFamily="18" charset="0"/>
              </a:rPr>
              <a:t>n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sz="2800" i="1" smtClean="0">
                <a:latin typeface="Times New Roman" pitchFamily="18" charset="0"/>
              </a:rPr>
              <a:t> m</a:t>
            </a:r>
            <a:r>
              <a:rPr lang="en-US" altLang="zh-TW" sz="2800" smtClean="0"/>
              <a:t> matrix indicates the </a:t>
            </a:r>
            <a:r>
              <a:rPr lang="en-US" altLang="zh-TW" sz="2800" smtClean="0">
                <a:solidFill>
                  <a:srgbClr val="0000FF"/>
                </a:solidFill>
              </a:rPr>
              <a:t>current request  of each process</a:t>
            </a:r>
            <a:r>
              <a:rPr lang="en-US" altLang="zh-TW" sz="2800" smtClean="0"/>
              <a:t>.  If </a:t>
            </a:r>
            <a:r>
              <a:rPr lang="en-US" altLang="zh-TW" sz="2800" i="1" smtClean="0">
                <a:latin typeface="Times New Roman" pitchFamily="18" charset="0"/>
              </a:rPr>
              <a:t>Request</a:t>
            </a:r>
            <a:r>
              <a:rPr lang="en-US" altLang="zh-TW" sz="2800" i="1" smtClean="0"/>
              <a:t> 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i,j</a:t>
            </a:r>
            <a:r>
              <a:rPr lang="en-US" altLang="zh-TW" sz="2800" smtClean="0">
                <a:latin typeface="Times New Roman" pitchFamily="18" charset="0"/>
              </a:rPr>
              <a:t>]</a:t>
            </a:r>
            <a:r>
              <a:rPr lang="en-US" altLang="zh-TW" sz="2800" i="1" smtClean="0">
                <a:latin typeface="Times New Roman" pitchFamily="18" charset="0"/>
              </a:rPr>
              <a:t> = k</a:t>
            </a:r>
            <a:r>
              <a:rPr lang="en-US" altLang="zh-TW" sz="2800" smtClean="0"/>
              <a:t>, then process</a:t>
            </a:r>
            <a:r>
              <a:rPr lang="en-US" altLang="zh-TW" sz="2800" i="1" smtClean="0"/>
              <a:t>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 </a:t>
            </a:r>
            <a:r>
              <a:rPr lang="en-US" altLang="zh-TW" sz="2800" smtClean="0"/>
              <a:t>is requesting</a:t>
            </a:r>
            <a:r>
              <a:rPr lang="en-US" altLang="zh-TW" sz="2800" i="1" smtClean="0"/>
              <a:t> </a:t>
            </a:r>
            <a:r>
              <a:rPr lang="en-US" altLang="zh-TW" sz="2800" i="1" smtClean="0">
                <a:latin typeface="Times New Roman" pitchFamily="18" charset="0"/>
              </a:rPr>
              <a:t>k</a:t>
            </a:r>
            <a:r>
              <a:rPr lang="en-US" altLang="zh-TW" sz="2800" smtClean="0"/>
              <a:t> more instances of resource type </a:t>
            </a:r>
            <a:r>
              <a:rPr lang="en-US" altLang="zh-TW" sz="2800" i="1" smtClean="0">
                <a:latin typeface="Times New Roman" pitchFamily="18" charset="0"/>
              </a:rPr>
              <a:t>R</a:t>
            </a:r>
            <a:r>
              <a:rPr lang="en-US" altLang="zh-TW" sz="2800" i="1" baseline="-25000" smtClean="0">
                <a:latin typeface="Times New Roman" pitchFamily="18" charset="0"/>
              </a:rPr>
              <a:t>j</a:t>
            </a:r>
            <a:r>
              <a:rPr lang="en-US" altLang="zh-TW" sz="2800" i="1" smtClean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11789B-E64A-4F50-9EAC-D4CCD1EAEEBC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DE5676-043E-45BB-8452-A26CB724BCE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 smtClean="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79438"/>
          </a:xfrm>
        </p:spPr>
        <p:txBody>
          <a:bodyPr/>
          <a:lstStyle/>
          <a:p>
            <a:pPr eaLnBrk="1" hangingPunct="1"/>
            <a:r>
              <a:rPr lang="en-US" altLang="zh-TW" smtClean="0"/>
              <a:t>Detection Algorithm (1)</a:t>
            </a:r>
          </a:p>
        </p:txBody>
      </p:sp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5600" y="871538"/>
            <a:ext cx="8331200" cy="474821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 smtClean="0"/>
              <a:t>Let </a:t>
            </a:r>
            <a:r>
              <a:rPr lang="en-US" altLang="zh-TW" sz="2800" i="1" smtClean="0">
                <a:latin typeface="Times New Roman" pitchFamily="18" charset="0"/>
              </a:rPr>
              <a:t>Work</a:t>
            </a:r>
            <a:r>
              <a:rPr lang="en-US" altLang="zh-TW" sz="2800" smtClean="0"/>
              <a:t> and </a:t>
            </a:r>
            <a:r>
              <a:rPr lang="en-US" altLang="zh-TW" sz="2800" i="1" smtClean="0">
                <a:latin typeface="Times New Roman" pitchFamily="18" charset="0"/>
              </a:rPr>
              <a:t>Finish</a:t>
            </a:r>
            <a:r>
              <a:rPr lang="en-US" altLang="zh-TW" sz="2800" smtClean="0"/>
              <a:t> be vectors of length </a:t>
            </a:r>
            <a:r>
              <a:rPr lang="en-US" altLang="zh-TW" sz="2800" i="1" smtClean="0">
                <a:latin typeface="Times New Roman" pitchFamily="18" charset="0"/>
              </a:rPr>
              <a:t>m</a:t>
            </a:r>
            <a:r>
              <a:rPr lang="en-US" altLang="zh-TW" sz="2800" smtClean="0"/>
              <a:t> and </a:t>
            </a:r>
            <a:r>
              <a:rPr lang="en-US" altLang="zh-TW" sz="2800" i="1" smtClean="0">
                <a:latin typeface="Times New Roman" pitchFamily="18" charset="0"/>
              </a:rPr>
              <a:t>n</a:t>
            </a:r>
            <a:r>
              <a:rPr lang="en-US" altLang="zh-TW" sz="2800" smtClean="0"/>
              <a:t>, respectively. Initialize: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</a:rPr>
              <a:t>(a)</a:t>
            </a:r>
            <a:r>
              <a:rPr lang="en-US" altLang="zh-TW" sz="2400" smtClean="0"/>
              <a:t> </a:t>
            </a:r>
            <a:r>
              <a:rPr lang="en-US" altLang="zh-TW" sz="2400" i="1" smtClean="0">
                <a:latin typeface="Times New Roman" pitchFamily="18" charset="0"/>
              </a:rPr>
              <a:t>Work</a:t>
            </a:r>
            <a:r>
              <a:rPr lang="en-US" altLang="zh-TW" sz="2400" smtClean="0">
                <a:latin typeface="Times New Roman" pitchFamily="18" charset="0"/>
              </a:rPr>
              <a:t> = </a:t>
            </a:r>
            <a:r>
              <a:rPr lang="en-US" altLang="zh-TW" sz="2400" i="1" smtClean="0">
                <a:latin typeface="Times New Roman" pitchFamily="18" charset="0"/>
              </a:rPr>
              <a:t>Available</a:t>
            </a:r>
            <a:endParaRPr lang="en-US" altLang="zh-TW" sz="2400" smtClean="0">
              <a:latin typeface="Times New Roman" pitchFamily="18" charset="0"/>
            </a:endParaRP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Times New Roman" pitchFamily="18" charset="0"/>
              </a:rPr>
              <a:t>(b)	For </a:t>
            </a:r>
            <a:r>
              <a:rPr lang="en-US" altLang="zh-TW" sz="2400" i="1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 = 1,2, …,</a:t>
            </a:r>
            <a:r>
              <a:rPr lang="en-US" altLang="zh-TW" sz="2400" i="1" smtClean="0">
                <a:latin typeface="Times New Roman" pitchFamily="18" charset="0"/>
              </a:rPr>
              <a:t> n</a:t>
            </a:r>
            <a:r>
              <a:rPr lang="en-US" altLang="zh-TW" sz="2400" smtClean="0">
                <a:latin typeface="Times New Roman" pitchFamily="18" charset="0"/>
              </a:rPr>
              <a:t>, if </a:t>
            </a:r>
            <a:r>
              <a:rPr lang="en-US" altLang="zh-TW" sz="2400" i="1" smtClean="0">
                <a:latin typeface="Times New Roman" pitchFamily="18" charset="0"/>
              </a:rPr>
              <a:t>Allocation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 0, then </a:t>
            </a:r>
            <a:br>
              <a:rPr lang="en-US" altLang="zh-TW" sz="2400" smtClean="0">
                <a:latin typeface="Times New Roman" pitchFamily="18" charset="0"/>
                <a:sym typeface="Symbol" pitchFamily="18" charset="2"/>
              </a:rPr>
            </a:b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Finish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] = false; otherwise,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Finish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] =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true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.</a:t>
            </a:r>
          </a:p>
          <a:p>
            <a:pPr marL="609600" indent="-609600" eaLnBrk="1" hangingPunct="1"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en-US" altLang="zh-TW" sz="2800" smtClean="0"/>
              <a:t>Find an index </a:t>
            </a:r>
            <a:r>
              <a:rPr lang="en-US" altLang="zh-TW" sz="2800" i="1" smtClean="0">
                <a:latin typeface="Times New Roman" pitchFamily="18" charset="0"/>
              </a:rPr>
              <a:t>i </a:t>
            </a:r>
            <a:r>
              <a:rPr lang="en-US" altLang="zh-TW" sz="2800" smtClean="0"/>
              <a:t>such that both: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/>
              <a:t>(a)	</a:t>
            </a:r>
            <a:r>
              <a:rPr lang="en-US" altLang="zh-TW" sz="2400" i="1" smtClean="0">
                <a:latin typeface="Times New Roman" pitchFamily="18" charset="0"/>
              </a:rPr>
              <a:t>Finish</a:t>
            </a:r>
            <a:r>
              <a:rPr lang="en-US" altLang="zh-TW" sz="2400" smtClean="0">
                <a:latin typeface="Times New Roman" pitchFamily="18" charset="0"/>
              </a:rPr>
              <a:t>[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] == </a:t>
            </a:r>
            <a:r>
              <a:rPr lang="en-US" altLang="zh-TW" sz="2400" i="1" smtClean="0">
                <a:latin typeface="Times New Roman" pitchFamily="18" charset="0"/>
              </a:rPr>
              <a:t>false</a:t>
            </a:r>
            <a:endParaRPr lang="en-US" altLang="zh-TW" sz="2400" smtClean="0">
              <a:latin typeface="Times New Roman" pitchFamily="18" charset="0"/>
            </a:endParaRP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/>
              <a:t>(b)	</a:t>
            </a:r>
            <a:r>
              <a:rPr lang="en-US" altLang="zh-TW" sz="2400" i="1" smtClean="0">
                <a:latin typeface="Times New Roman" pitchFamily="18" charset="0"/>
              </a:rPr>
              <a:t>Request</a:t>
            </a:r>
            <a:r>
              <a:rPr lang="en-US" altLang="zh-TW" sz="2400" i="1" baseline="-25000" smtClean="0">
                <a:latin typeface="Times New Roman" pitchFamily="18" charset="0"/>
              </a:rPr>
              <a:t>i</a:t>
            </a:r>
            <a:r>
              <a:rPr lang="en-US" altLang="zh-TW" sz="2400" smtClean="0">
                <a:latin typeface="Times New Roman" pitchFamily="18" charset="0"/>
              </a:rPr>
              <a:t> 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Work</a:t>
            </a:r>
            <a:r>
              <a:rPr lang="en-US" altLang="zh-TW" sz="2400" i="1" smtClean="0">
                <a:sym typeface="Symbol" pitchFamily="18" charset="2"/>
              </a:rPr>
              <a:t/>
            </a:r>
            <a:br>
              <a:rPr lang="en-US" altLang="zh-TW" sz="2400" i="1" smtClean="0">
                <a:sym typeface="Symbol" pitchFamily="18" charset="2"/>
              </a:rPr>
            </a:br>
            <a:endParaRPr lang="en-US" altLang="zh-TW" sz="2400" smtClean="0">
              <a:sym typeface="Symbol" pitchFamily="18" charset="2"/>
            </a:endParaRP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>
                <a:sym typeface="Symbol" pitchFamily="18" charset="2"/>
              </a:rPr>
              <a:t>If no such </a:t>
            </a:r>
            <a:r>
              <a:rPr lang="en-US" altLang="zh-TW" sz="24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40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400" smtClean="0">
                <a:sym typeface="Symbol" pitchFamily="18" charset="2"/>
              </a:rPr>
              <a:t>exists, go to step 4.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E50C4E-5CCF-4ABE-BD06-E9C5E9C5DDAE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B88CF0-4EA8-49B8-BF4B-13B61A8E137C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 smtClean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44475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Detection Algorithm (2)</a:t>
            </a:r>
          </a:p>
        </p:txBody>
      </p:sp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98450" y="977900"/>
            <a:ext cx="8462963" cy="35036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TW" altLang="en-US" sz="2800" smtClean="0"/>
              <a:t>3.</a:t>
            </a:r>
            <a:r>
              <a:rPr lang="zh-TW" altLang="en-US" sz="2800" smtClean="0">
                <a:latin typeface="Times New Roman" pitchFamily="18" charset="0"/>
              </a:rPr>
              <a:t>	</a:t>
            </a:r>
            <a:r>
              <a:rPr lang="en-US" altLang="zh-TW" sz="2800" i="1" smtClean="0">
                <a:latin typeface="Times New Roman" pitchFamily="18" charset="0"/>
              </a:rPr>
              <a:t>Work</a:t>
            </a:r>
            <a:r>
              <a:rPr lang="en-US" altLang="zh-TW" sz="2800" smtClean="0">
                <a:latin typeface="Times New Roman" pitchFamily="18" charset="0"/>
              </a:rPr>
              <a:t> = </a:t>
            </a:r>
            <a:r>
              <a:rPr lang="en-US" altLang="zh-TW" sz="2800" i="1" smtClean="0">
                <a:latin typeface="Times New Roman" pitchFamily="18" charset="0"/>
              </a:rPr>
              <a:t>Work</a:t>
            </a:r>
            <a:r>
              <a:rPr lang="en-US" altLang="zh-TW" sz="2800" smtClean="0">
                <a:latin typeface="Times New Roman" pitchFamily="18" charset="0"/>
              </a:rPr>
              <a:t> + </a:t>
            </a:r>
            <a:r>
              <a:rPr lang="en-US" altLang="zh-TW" sz="2800" i="1" smtClean="0">
                <a:latin typeface="Times New Roman" pitchFamily="18" charset="0"/>
              </a:rPr>
              <a:t>Allocation</a:t>
            </a:r>
            <a:r>
              <a:rPr lang="en-US" altLang="zh-TW" sz="2800" i="1" baseline="-25000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/>
            </a:r>
            <a:br>
              <a:rPr lang="en-US" altLang="zh-TW" sz="2800" smtClean="0">
                <a:latin typeface="Times New Roman" pitchFamily="18" charset="0"/>
              </a:rPr>
            </a:br>
            <a:r>
              <a:rPr lang="en-US" altLang="zh-TW" sz="2800" i="1" smtClean="0">
                <a:latin typeface="Times New Roman" pitchFamily="18" charset="0"/>
              </a:rPr>
              <a:t>Finish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] = </a:t>
            </a:r>
            <a:r>
              <a:rPr lang="en-US" altLang="zh-TW" sz="2800" i="1" smtClean="0">
                <a:latin typeface="Times New Roman" pitchFamily="18" charset="0"/>
              </a:rPr>
              <a:t>true</a:t>
            </a:r>
            <a:r>
              <a:rPr lang="en-US" altLang="zh-TW" sz="2800" smtClean="0">
                <a:latin typeface="Times New Roman" pitchFamily="18" charset="0"/>
              </a:rPr>
              <a:t/>
            </a:r>
            <a:br>
              <a:rPr lang="en-US" altLang="zh-TW" sz="2800" smtClean="0">
                <a:latin typeface="Times New Roman" pitchFamily="18" charset="0"/>
              </a:rPr>
            </a:br>
            <a:r>
              <a:rPr lang="en-US" altLang="zh-TW" sz="2800" smtClean="0"/>
              <a:t>go to step 2.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smtClean="0"/>
              <a:t>4.	If </a:t>
            </a:r>
            <a:r>
              <a:rPr lang="en-US" altLang="zh-TW" sz="2800" i="1" smtClean="0">
                <a:latin typeface="Times New Roman" pitchFamily="18" charset="0"/>
              </a:rPr>
              <a:t>Finish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]</a:t>
            </a:r>
            <a:r>
              <a:rPr lang="en-US" altLang="zh-TW" sz="2800" smtClean="0"/>
              <a:t> == false, for some 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, 1 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   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altLang="zh-TW" sz="2800" smtClean="0">
                <a:sym typeface="Symbol" pitchFamily="18" charset="2"/>
              </a:rPr>
              <a:t>, then the system is in deadlock state. Moreover, if 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Finish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[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]</a:t>
            </a:r>
            <a:r>
              <a:rPr lang="en-US" altLang="zh-TW" sz="2800" smtClean="0">
                <a:sym typeface="Symbol" pitchFamily="18" charset="2"/>
              </a:rPr>
              <a:t> == </a:t>
            </a:r>
            <a:r>
              <a:rPr lang="en-US" altLang="zh-TW" sz="2800" i="1" smtClean="0">
                <a:sym typeface="Symbol" pitchFamily="18" charset="2"/>
              </a:rPr>
              <a:t>false</a:t>
            </a:r>
            <a:r>
              <a:rPr lang="en-US" altLang="zh-TW" sz="2800" smtClean="0">
                <a:sym typeface="Symbol" pitchFamily="18" charset="2"/>
              </a:rPr>
              <a:t>, then </a:t>
            </a:r>
            <a:r>
              <a:rPr lang="en-US" altLang="zh-TW" sz="2800" i="1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2800" i="1" baseline="-25000" smtClean="0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280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2800" smtClean="0">
                <a:sym typeface="Symbol" pitchFamily="18" charset="2"/>
              </a:rPr>
              <a:t>is deadlocked.</a:t>
            </a:r>
            <a:endParaRPr lang="en-US" altLang="zh-TW" sz="2800" smtClean="0"/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663575" y="4367213"/>
            <a:ext cx="7694613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>
                <a:solidFill>
                  <a:srgbClr val="FF0000"/>
                </a:solidFill>
                <a:latin typeface="Helvetica" pitchFamily="34" charset="0"/>
                <a:sym typeface="Symbol" pitchFamily="18" charset="2"/>
              </a:rPr>
              <a:t>Algorithm requires an order of O</a:t>
            </a:r>
            <a:r>
              <a:rPr kumimoji="0" lang="en-US" altLang="zh-TW" i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(m </a:t>
            </a:r>
            <a:r>
              <a:rPr lang="en-US" altLang="zh-TW" sz="28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kumimoji="0" lang="en-US" altLang="zh-TW" i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n</a:t>
            </a:r>
            <a:r>
              <a:rPr kumimoji="0" lang="en-US" altLang="zh-TW" i="1" baseline="300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kumimoji="0" lang="en-US" altLang="zh-TW">
                <a:solidFill>
                  <a:srgbClr val="FF0000"/>
                </a:solidFill>
                <a:latin typeface="Helvetica" pitchFamily="34" charset="0"/>
                <a:sym typeface="Symbol" pitchFamily="18" charset="2"/>
              </a:rPr>
              <a:t>) operations to detect whether the system is in deadlocked state.</a:t>
            </a:r>
            <a:r>
              <a:rPr kumimoji="0" lang="en-US" altLang="zh-TW" sz="2000">
                <a:solidFill>
                  <a:srgbClr val="FF0000"/>
                </a:solidFill>
                <a:latin typeface="Helvetica" pitchFamily="34" charset="0"/>
                <a:sym typeface="Symbol" pitchFamily="18" charset="2"/>
              </a:rPr>
              <a:t> </a:t>
            </a:r>
            <a:endParaRPr kumimoji="0" lang="zh-TW" altLang="en-US" sz="2000">
              <a:solidFill>
                <a:srgbClr val="FF0000"/>
              </a:solidFill>
              <a:latin typeface="Helvetica" pitchFamily="34" charset="0"/>
              <a:sym typeface="Symbol" pitchFamily="18" charset="2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5078293" y="1380594"/>
            <a:ext cx="3650102" cy="923330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Assume </a:t>
            </a:r>
            <a:r>
              <a:rPr lang="en-US" altLang="zh-TW" sz="1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TW" sz="1800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TW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require no more </a:t>
            </a:r>
          </a:p>
          <a:p>
            <a:pPr>
              <a:defRPr/>
            </a:pPr>
            <a:r>
              <a:rPr lang="en-US" altLang="zh-TW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resources. If incorrect, a deadlock</a:t>
            </a:r>
          </a:p>
          <a:p>
            <a:pPr>
              <a:defRPr/>
            </a:pPr>
            <a:r>
              <a:rPr lang="en-US" altLang="zh-TW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occur later.</a:t>
            </a:r>
            <a:endParaRPr lang="zh-TW" altLang="en-US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直線單箭頭接點 4"/>
          <p:cNvCxnSpPr>
            <a:cxnSpLocks noChangeShapeType="1"/>
          </p:cNvCxnSpPr>
          <p:nvPr/>
        </p:nvCxnSpPr>
        <p:spPr bwMode="auto">
          <a:xfrm flipH="1" flipV="1">
            <a:off x="4714875" y="1381125"/>
            <a:ext cx="363538" cy="252413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77B88B-C218-4B52-BB8F-874DAE9C2670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A3121A-1CB8-4208-A724-D334064EC787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 smtClean="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36195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Example of Detection Algorithm</a:t>
            </a:r>
          </a:p>
        </p:txBody>
      </p:sp>
      <p:sp>
        <p:nvSpPr>
          <p:cNvPr id="686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1475" y="1195388"/>
            <a:ext cx="8569325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0"/>
              </a:spcBef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600" i="1" smtClean="0">
                <a:latin typeface="Times New Roman" pitchFamily="18" charset="0"/>
              </a:rPr>
              <a:t>P</a:t>
            </a:r>
            <a:r>
              <a:rPr lang="en-US" altLang="zh-TW" sz="2600" baseline="-25000" smtClean="0">
                <a:latin typeface="Times New Roman" pitchFamily="18" charset="0"/>
              </a:rPr>
              <a:t>0</a:t>
            </a:r>
            <a:r>
              <a:rPr lang="en-US" altLang="zh-TW" sz="2600" smtClean="0">
                <a:latin typeface="Times New Roman" pitchFamily="18" charset="0"/>
              </a:rPr>
              <a:t>, </a:t>
            </a:r>
            <a:r>
              <a:rPr lang="en-US" altLang="zh-TW" sz="2600" i="1" smtClean="0">
                <a:latin typeface="Times New Roman" pitchFamily="18" charset="0"/>
              </a:rPr>
              <a:t>P</a:t>
            </a:r>
            <a:r>
              <a:rPr lang="en-US" altLang="zh-TW" sz="2600" baseline="-25000" smtClean="0">
                <a:latin typeface="Times New Roman" pitchFamily="18" charset="0"/>
              </a:rPr>
              <a:t>1</a:t>
            </a:r>
            <a:r>
              <a:rPr lang="en-US" altLang="zh-TW" sz="2600" smtClean="0">
                <a:latin typeface="Times New Roman" pitchFamily="18" charset="0"/>
              </a:rPr>
              <a:t>, </a:t>
            </a:r>
            <a:r>
              <a:rPr lang="en-US" altLang="zh-TW" sz="2600" i="1" smtClean="0">
                <a:latin typeface="Times New Roman" pitchFamily="18" charset="0"/>
              </a:rPr>
              <a:t>P</a:t>
            </a:r>
            <a:r>
              <a:rPr lang="en-US" altLang="zh-TW" sz="2600" baseline="-25000" smtClean="0">
                <a:latin typeface="Times New Roman" pitchFamily="18" charset="0"/>
              </a:rPr>
              <a:t>2</a:t>
            </a:r>
            <a:r>
              <a:rPr lang="en-US" altLang="zh-TW" sz="2600" smtClean="0">
                <a:latin typeface="Times New Roman" pitchFamily="18" charset="0"/>
              </a:rPr>
              <a:t>, </a:t>
            </a:r>
            <a:r>
              <a:rPr lang="en-US" altLang="zh-TW" sz="2600" i="1" smtClean="0">
                <a:latin typeface="Times New Roman" pitchFamily="18" charset="0"/>
              </a:rPr>
              <a:t>P</a:t>
            </a:r>
            <a:r>
              <a:rPr lang="en-US" altLang="zh-TW" sz="2600" baseline="-25000" smtClean="0">
                <a:latin typeface="Times New Roman" pitchFamily="18" charset="0"/>
              </a:rPr>
              <a:t>3</a:t>
            </a:r>
            <a:r>
              <a:rPr lang="en-US" altLang="zh-TW" sz="2600" smtClean="0">
                <a:latin typeface="Times New Roman" pitchFamily="18" charset="0"/>
              </a:rPr>
              <a:t>, </a:t>
            </a:r>
            <a:r>
              <a:rPr lang="en-US" altLang="zh-TW" sz="2600" i="1" smtClean="0">
                <a:latin typeface="Times New Roman" pitchFamily="18" charset="0"/>
              </a:rPr>
              <a:t>P</a:t>
            </a:r>
            <a:r>
              <a:rPr lang="en-US" altLang="zh-TW" sz="2600" baseline="-25000" smtClean="0">
                <a:latin typeface="Times New Roman" pitchFamily="18" charset="0"/>
              </a:rPr>
              <a:t>4</a:t>
            </a:r>
            <a:r>
              <a:rPr lang="en-US" altLang="zh-TW" sz="2600" smtClean="0">
                <a:latin typeface="Times New Roman" pitchFamily="18" charset="0"/>
              </a:rPr>
              <a:t>, 	</a:t>
            </a:r>
            <a:r>
              <a:rPr lang="en-US" altLang="zh-TW" sz="2600" smtClean="0"/>
              <a:t/>
            </a:r>
            <a:br>
              <a:rPr lang="en-US" altLang="zh-TW" sz="2600" smtClean="0"/>
            </a:br>
            <a:r>
              <a:rPr lang="en-US" altLang="zh-TW" sz="2600" smtClean="0"/>
              <a:t>A(</a:t>
            </a:r>
            <a:r>
              <a:rPr lang="en-US" altLang="zh-TW" sz="2600" smtClean="0">
                <a:solidFill>
                  <a:srgbClr val="FF0000"/>
                </a:solidFill>
              </a:rPr>
              <a:t>7</a:t>
            </a:r>
            <a:r>
              <a:rPr lang="en-US" altLang="zh-TW" sz="2600" smtClean="0"/>
              <a:t> instances), </a:t>
            </a:r>
            <a:r>
              <a:rPr lang="en-US" altLang="zh-TW" sz="2600" i="1" smtClean="0"/>
              <a:t>B </a:t>
            </a:r>
            <a:r>
              <a:rPr lang="en-US" altLang="zh-TW" sz="2600" smtClean="0"/>
              <a:t>(</a:t>
            </a:r>
            <a:r>
              <a:rPr lang="en-US" altLang="zh-TW" sz="2600" smtClean="0">
                <a:solidFill>
                  <a:srgbClr val="FF0000"/>
                </a:solidFill>
              </a:rPr>
              <a:t>2</a:t>
            </a:r>
            <a:r>
              <a:rPr lang="en-US" altLang="zh-TW" sz="2600" smtClean="0"/>
              <a:t> instances), and </a:t>
            </a:r>
            <a:r>
              <a:rPr lang="en-US" altLang="zh-TW" sz="2600" i="1" smtClean="0"/>
              <a:t>C</a:t>
            </a:r>
            <a:r>
              <a:rPr lang="en-US" altLang="zh-TW" sz="2600" smtClean="0"/>
              <a:t> (</a:t>
            </a:r>
            <a:r>
              <a:rPr lang="en-US" altLang="zh-TW" sz="2600" smtClean="0">
                <a:solidFill>
                  <a:srgbClr val="FF0000"/>
                </a:solidFill>
              </a:rPr>
              <a:t>6</a:t>
            </a:r>
            <a:r>
              <a:rPr lang="en-US" altLang="zh-TW" sz="2600" smtClean="0"/>
              <a:t> instances)</a:t>
            </a:r>
          </a:p>
          <a:p>
            <a:pPr eaLnBrk="1" hangingPunct="1">
              <a:lnSpc>
                <a:spcPct val="90000"/>
              </a:lnSpc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800" smtClean="0"/>
              <a:t>Snapshot at time </a:t>
            </a:r>
            <a:r>
              <a:rPr lang="en-US" altLang="zh-TW" sz="2800" i="1" smtClean="0">
                <a:latin typeface="Times New Roman" pitchFamily="18" charset="0"/>
              </a:rPr>
              <a:t>T</a:t>
            </a:r>
            <a:r>
              <a:rPr lang="en-US" altLang="zh-TW" sz="2800" baseline="-25000" smtClean="0">
                <a:latin typeface="Times New Roman" pitchFamily="18" charset="0"/>
              </a:rPr>
              <a:t>0</a:t>
            </a:r>
            <a:r>
              <a:rPr lang="en-US" altLang="zh-TW" sz="2800" smtClean="0"/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800" smtClean="0"/>
              <a:t>		</a:t>
            </a:r>
            <a:r>
              <a:rPr lang="en-US" altLang="zh-TW" sz="2400" smtClean="0"/>
              <a:t>	</a:t>
            </a:r>
            <a:r>
              <a:rPr lang="en-US" altLang="zh-TW" sz="2400" u="sng" smtClean="0"/>
              <a:t>Allocation	</a:t>
            </a:r>
            <a:r>
              <a:rPr lang="en-US" altLang="zh-TW" sz="2400" smtClean="0"/>
              <a:t> </a:t>
            </a:r>
            <a:r>
              <a:rPr lang="en-US" altLang="zh-TW" sz="2400" u="sng" smtClean="0"/>
              <a:t>Request</a:t>
            </a:r>
            <a:r>
              <a:rPr lang="en-US" altLang="zh-TW" sz="2400" smtClean="0"/>
              <a:t>	</a:t>
            </a:r>
            <a:r>
              <a:rPr lang="en-US" altLang="zh-TW" sz="2400" u="sng" smtClean="0"/>
              <a:t>Available</a:t>
            </a:r>
            <a:endParaRPr lang="en-US" altLang="zh-TW" sz="24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	</a:t>
            </a:r>
            <a:r>
              <a:rPr lang="en-US" altLang="zh-TW" sz="2400" i="1" smtClean="0"/>
              <a:t>A B C 	A B C 	 </a:t>
            </a:r>
            <a:r>
              <a:rPr lang="en-US" altLang="zh-TW" sz="2400" smtClean="0">
                <a:solidFill>
                  <a:srgbClr val="FF0000"/>
                </a:solidFill>
              </a:rPr>
              <a:t>0 0 0</a:t>
            </a:r>
            <a:endParaRPr lang="en-US" altLang="zh-TW" sz="2400" i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>
                <a:solidFill>
                  <a:srgbClr val="0000FF"/>
                </a:solidFill>
              </a:rPr>
              <a:t>P</a:t>
            </a:r>
            <a:r>
              <a:rPr lang="en-US" altLang="zh-TW" sz="2400" baseline="-25000" smtClean="0">
                <a:solidFill>
                  <a:srgbClr val="0000FF"/>
                </a:solidFill>
              </a:rPr>
              <a:t>0</a:t>
            </a:r>
            <a:r>
              <a:rPr lang="en-US" altLang="zh-TW" sz="2400" smtClean="0">
                <a:solidFill>
                  <a:srgbClr val="0000FF"/>
                </a:solidFill>
              </a:rPr>
              <a:t>	0 1 0 	0 0 0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	2 0 0 	2 0 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	3 0 3	0 0 0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3</a:t>
            </a:r>
            <a:r>
              <a:rPr lang="en-US" altLang="zh-TW" sz="2400" smtClean="0"/>
              <a:t>	2 1 1 	1 0 0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4</a:t>
            </a:r>
            <a:r>
              <a:rPr lang="en-US" altLang="zh-TW" sz="2400" smtClean="0"/>
              <a:t>	0 0 2 	0 0 2</a:t>
            </a:r>
          </a:p>
          <a:p>
            <a:pPr eaLnBrk="1" hangingPunct="1">
              <a:lnSpc>
                <a:spcPct val="90000"/>
              </a:lnSpc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zh-TW" sz="2800" smtClean="0"/>
              <a:t>Sequence </a:t>
            </a:r>
            <a:r>
              <a:rPr lang="en-US" altLang="zh-TW" sz="2800" smtClean="0">
                <a:latin typeface="Times New Roman" pitchFamily="18" charset="0"/>
              </a:rPr>
              <a:t>&lt;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0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2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3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1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baseline="-25000" smtClean="0">
                <a:latin typeface="Times New Roman" pitchFamily="18" charset="0"/>
              </a:rPr>
              <a:t>4</a:t>
            </a:r>
            <a:r>
              <a:rPr lang="en-US" altLang="zh-TW" sz="2800" smtClean="0"/>
              <a:t>&gt; will result in </a:t>
            </a:r>
            <a:r>
              <a:rPr lang="en-US" altLang="zh-TW" sz="2800" i="1" smtClean="0">
                <a:latin typeface="Times New Roman" pitchFamily="18" charset="0"/>
              </a:rPr>
              <a:t>Finish</a:t>
            </a:r>
            <a:r>
              <a:rPr lang="en-US" altLang="zh-TW" sz="2800" smtClean="0">
                <a:latin typeface="Times New Roman" pitchFamily="18" charset="0"/>
              </a:rPr>
              <a:t>[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]</a:t>
            </a:r>
            <a:r>
              <a:rPr lang="en-US" altLang="zh-TW" sz="2800" smtClean="0"/>
              <a:t> = true for all </a:t>
            </a:r>
            <a:r>
              <a:rPr lang="en-US" altLang="zh-TW" sz="2800" i="1" smtClean="0">
                <a:latin typeface="Times New Roman" pitchFamily="18" charset="0"/>
              </a:rPr>
              <a:t>i</a:t>
            </a:r>
            <a:r>
              <a:rPr lang="en-US" altLang="zh-TW" sz="2800" smtClean="0">
                <a:latin typeface="Times New Roman" pitchFamily="18" charset="0"/>
              </a:rPr>
              <a:t>.</a:t>
            </a:r>
            <a:r>
              <a:rPr lang="en-US" altLang="zh-TW" sz="280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zh-TW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35A9A3-40D9-4C66-9EA6-CDCB0F25C59E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A438B6-3821-4E2F-A644-325A1546ADD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 smtClean="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07950"/>
            <a:ext cx="7772400" cy="731838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(</a:t>
            </a:r>
            <a:r>
              <a:rPr lang="en-US" altLang="zh-TW" sz="3600" smtClean="0"/>
              <a:t>Cont</a:t>
            </a:r>
            <a:r>
              <a:rPr lang="en-US" altLang="zh-TW" sz="3600" smtClean="0">
                <a:latin typeface="Helvetica" pitchFamily="34" charset="0"/>
              </a:rPr>
              <a:t>’</a:t>
            </a:r>
            <a:r>
              <a:rPr lang="en-US" altLang="zh-TW" sz="3600" smtClean="0"/>
              <a:t>d</a:t>
            </a:r>
            <a:r>
              <a:rPr lang="en-US" altLang="zh-TW" smtClean="0"/>
              <a:t>)</a:t>
            </a: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5438" y="833438"/>
            <a:ext cx="8499475" cy="54213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800350" algn="l"/>
                <a:tab pos="3708400" algn="ctr"/>
              </a:tabLst>
            </a:pPr>
            <a:r>
              <a:rPr lang="en-US" altLang="zh-TW" sz="2400" i="1" smtClean="0"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latin typeface="Times New Roman" pitchFamily="18" charset="0"/>
              </a:rPr>
              <a:t>2</a:t>
            </a:r>
            <a:r>
              <a:rPr lang="en-US" altLang="zh-TW" sz="2400" smtClean="0"/>
              <a:t> requests an additional instance of type</a:t>
            </a:r>
            <a:r>
              <a:rPr lang="en-US" altLang="zh-TW" sz="2400" i="1" smtClean="0"/>
              <a:t> C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rgbClr val="FF0000"/>
                </a:solidFill>
              </a:rPr>
              <a:t>(0 0 1)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800" smtClean="0"/>
              <a:t>		 </a:t>
            </a:r>
            <a:r>
              <a:rPr lang="en-US" altLang="zh-TW" sz="2400" u="sng" smtClean="0"/>
              <a:t>Allocation	</a:t>
            </a:r>
            <a:r>
              <a:rPr lang="en-US" altLang="zh-TW" sz="2400" smtClean="0"/>
              <a:t> </a:t>
            </a:r>
            <a:r>
              <a:rPr lang="en-US" altLang="zh-TW" sz="2400" u="sng" smtClean="0"/>
              <a:t>Request</a:t>
            </a:r>
            <a:r>
              <a:rPr lang="en-US" altLang="zh-TW" sz="2400" smtClean="0"/>
              <a:t>	</a:t>
            </a:r>
            <a:r>
              <a:rPr lang="en-US" altLang="zh-TW" sz="2400" u="sng" smtClean="0"/>
              <a:t>Available</a:t>
            </a:r>
            <a:endParaRPr lang="en-US" altLang="zh-TW" sz="24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			</a:t>
            </a:r>
            <a:r>
              <a:rPr lang="en-US" altLang="zh-TW" sz="2400" i="1" smtClean="0"/>
              <a:t>A B C 	A B C 	 	  </a:t>
            </a:r>
            <a:r>
              <a:rPr lang="en-US" altLang="zh-TW" sz="2400" smtClean="0">
                <a:solidFill>
                  <a:srgbClr val="FF0000"/>
                </a:solidFill>
              </a:rPr>
              <a:t>0 0 0</a:t>
            </a:r>
            <a:endParaRPr lang="en-US" altLang="zh-TW" sz="2400" i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>
                <a:solidFill>
                  <a:srgbClr val="0000FF"/>
                </a:solidFill>
              </a:rPr>
              <a:t>P</a:t>
            </a:r>
            <a:r>
              <a:rPr lang="en-US" altLang="zh-TW" sz="2400" baseline="-25000" smtClean="0">
                <a:solidFill>
                  <a:srgbClr val="0000FF"/>
                </a:solidFill>
              </a:rPr>
              <a:t>0</a:t>
            </a:r>
            <a:r>
              <a:rPr lang="en-US" altLang="zh-TW" sz="2400" smtClean="0">
                <a:solidFill>
                  <a:srgbClr val="0000FF"/>
                </a:solidFill>
              </a:rPr>
              <a:t>	0 1 0 	0 0 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>
                <a:solidFill>
                  <a:srgbClr val="0000FF"/>
                </a:solidFill>
              </a:rPr>
              <a:t>	            </a:t>
            </a:r>
            <a:r>
              <a:rPr lang="en-US" altLang="zh-TW" sz="2400" smtClean="0"/>
              <a:t>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	2 0 0 	2 0 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	3 0 3	0 0 </a:t>
            </a:r>
            <a:r>
              <a:rPr lang="en-US" altLang="zh-TW" sz="2400" smtClean="0">
                <a:solidFill>
                  <a:srgbClr val="FF0000"/>
                </a:solidFill>
              </a:rPr>
              <a:t>1</a:t>
            </a:r>
            <a:r>
              <a:rPr lang="en-US" altLang="zh-TW" sz="240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3</a:t>
            </a:r>
            <a:r>
              <a:rPr lang="en-US" altLang="zh-TW" sz="2400" smtClean="0"/>
              <a:t>	2 1 1 	1 0 0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		</a:t>
            </a:r>
            <a:r>
              <a:rPr lang="en-US" altLang="zh-TW" sz="2400" i="1" smtClean="0"/>
              <a:t>P</a:t>
            </a:r>
            <a:r>
              <a:rPr lang="en-US" altLang="zh-TW" sz="2400" baseline="-25000" smtClean="0"/>
              <a:t>4</a:t>
            </a:r>
            <a:r>
              <a:rPr lang="en-US" altLang="zh-TW" sz="2400" smtClean="0"/>
              <a:t>	0 0 2 	0 0 2</a:t>
            </a:r>
          </a:p>
          <a:p>
            <a:pPr eaLnBrk="1" hangingPunct="1">
              <a:lnSpc>
                <a:spcPct val="90000"/>
              </a:lnSpc>
              <a:tabLst>
                <a:tab pos="2800350" algn="l"/>
                <a:tab pos="3708400" algn="ctr"/>
              </a:tabLst>
            </a:pPr>
            <a:r>
              <a:rPr lang="en-US" altLang="zh-TW" sz="2800" smtClean="0"/>
              <a:t>State of system</a:t>
            </a:r>
          </a:p>
          <a:p>
            <a:pPr lvl="1" eaLnBrk="1" hangingPunct="1">
              <a:lnSpc>
                <a:spcPct val="90000"/>
              </a:lnSpc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Can reclaim resources </a:t>
            </a:r>
            <a:r>
              <a:rPr lang="en-US" altLang="zh-TW" sz="2400" smtClean="0">
                <a:solidFill>
                  <a:srgbClr val="0000FF"/>
                </a:solidFill>
              </a:rPr>
              <a:t>held by process </a:t>
            </a:r>
            <a:r>
              <a:rPr lang="en-US" altLang="zh-TW" sz="2400" i="1" smtClean="0">
                <a:solidFill>
                  <a:srgbClr val="0000FF"/>
                </a:solidFill>
                <a:latin typeface="Times New Roman" pitchFamily="18" charset="0"/>
              </a:rPr>
              <a:t>P</a:t>
            </a:r>
            <a:r>
              <a:rPr lang="en-US" altLang="zh-TW" sz="2400" baseline="-25000" smtClean="0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en-US" altLang="zh-TW" sz="2400" smtClean="0"/>
              <a:t>, </a:t>
            </a:r>
          </a:p>
          <a:p>
            <a:pPr lvl="1" eaLnBrk="1" hangingPunct="1">
              <a:lnSpc>
                <a:spcPct val="90000"/>
              </a:lnSpc>
              <a:tabLst>
                <a:tab pos="2800350" algn="l"/>
                <a:tab pos="3708400" algn="ctr"/>
              </a:tabLst>
            </a:pPr>
            <a:r>
              <a:rPr lang="en-US" altLang="zh-TW" sz="2400" smtClean="0"/>
              <a:t>but insufficient resources to fulfill other processes</a:t>
            </a:r>
            <a:r>
              <a:rPr lang="en-US" altLang="zh-TW" sz="2400" smtClean="0">
                <a:latin typeface="Helvetica" pitchFamily="34" charset="0"/>
              </a:rPr>
              <a:t>’</a:t>
            </a:r>
            <a:r>
              <a:rPr lang="en-US" altLang="zh-TW" sz="2400" smtClean="0"/>
              <a:t> requests.</a:t>
            </a:r>
          </a:p>
          <a:p>
            <a:pPr lvl="2" eaLnBrk="1" hangingPunct="1">
              <a:lnSpc>
                <a:spcPct val="90000"/>
              </a:lnSpc>
              <a:tabLst>
                <a:tab pos="2800350" algn="l"/>
                <a:tab pos="3708400" algn="ctr"/>
              </a:tabLst>
            </a:pPr>
            <a:r>
              <a:rPr lang="en-US" altLang="zh-TW" sz="2000" smtClean="0">
                <a:solidFill>
                  <a:srgbClr val="FF0000"/>
                </a:solidFill>
              </a:rPr>
              <a:t>Deadlock exists, consisting of processes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baseline="-2500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en-US" altLang="zh-TW" sz="2000" baseline="-2500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baseline="-2500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TW" sz="2000" smtClean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baseline="-25000" smtClean="0">
                <a:solidFill>
                  <a:srgbClr val="FF0000"/>
                </a:solidFill>
                <a:latin typeface="Times New Roman" pitchFamily="18" charset="0"/>
              </a:rPr>
              <a:t>3</a:t>
            </a:r>
            <a:r>
              <a:rPr lang="en-US" altLang="zh-TW" sz="2000" smtClean="0">
                <a:solidFill>
                  <a:srgbClr val="FF0000"/>
                </a:solidFill>
              </a:rPr>
              <a:t>, and </a:t>
            </a:r>
            <a:r>
              <a:rPr lang="en-US" altLang="zh-TW" sz="2000" i="1" smtClean="0">
                <a:solidFill>
                  <a:srgbClr val="FF0000"/>
                </a:solidFill>
                <a:latin typeface="Times New Roman" pitchFamily="18" charset="0"/>
              </a:rPr>
              <a:t>P</a:t>
            </a:r>
            <a:r>
              <a:rPr lang="en-US" altLang="zh-TW" sz="2000" baseline="-25000" smtClean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TW" sz="2000" smtClean="0"/>
              <a:t>.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6972300" y="2108200"/>
            <a:ext cx="87471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>
                <a:solidFill>
                  <a:srgbClr val="FF0000"/>
                </a:solidFill>
              </a:rPr>
              <a:t>0 1 0</a:t>
            </a: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8CA5F6-323E-4562-98D6-D27885F77F58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D0E98EB-532D-491D-AAA6-810547CABB65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 smtClean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13" y="95250"/>
            <a:ext cx="7772400" cy="909638"/>
          </a:xfrm>
        </p:spPr>
        <p:txBody>
          <a:bodyPr/>
          <a:lstStyle/>
          <a:p>
            <a:pPr eaLnBrk="1" hangingPunct="1"/>
            <a:r>
              <a:rPr lang="en-US" altLang="zh-TW" smtClean="0"/>
              <a:t>Detection-Algorithm Usage</a:t>
            </a:r>
          </a:p>
        </p:txBody>
      </p:sp>
      <p:sp>
        <p:nvSpPr>
          <p:cNvPr id="70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87363" y="1223963"/>
            <a:ext cx="8126412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</a:rPr>
              <a:t>When</a:t>
            </a:r>
            <a:r>
              <a:rPr lang="en-US" altLang="zh-TW" sz="2800" smtClean="0"/>
              <a:t>, and </a:t>
            </a:r>
            <a:r>
              <a:rPr lang="en-US" altLang="zh-TW" sz="2800" smtClean="0">
                <a:solidFill>
                  <a:srgbClr val="FF0000"/>
                </a:solidFill>
              </a:rPr>
              <a:t>how often</a:t>
            </a:r>
            <a:r>
              <a:rPr lang="en-US" altLang="zh-TW" sz="2800" smtClean="0"/>
              <a:t>, to invoke depends on:</a:t>
            </a:r>
            <a:endParaRPr lang="en-US" altLang="zh-TW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How often a deadlock is likely to occur?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How many processes will need to be rolled back?</a:t>
            </a:r>
            <a:endParaRPr lang="en-US" altLang="zh-TW" sz="32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smtClean="0"/>
              <a:t>one for each disjoint cycle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If the detection algorithm is invoked arbitrarily, there may be many cycles in the resource graph and so we </a:t>
            </a:r>
            <a:r>
              <a:rPr lang="en-US" altLang="zh-TW" sz="2800" smtClean="0">
                <a:solidFill>
                  <a:srgbClr val="FF0000"/>
                </a:solidFill>
              </a:rPr>
              <a:t>would not be able to tell which of the many deadlocked processes </a:t>
            </a:r>
            <a:r>
              <a:rPr lang="en-US" altLang="zh-TW" sz="2800" smtClean="0">
                <a:solidFill>
                  <a:srgbClr val="FF0000"/>
                </a:solidFill>
                <a:latin typeface="Helvetica" pitchFamily="34" charset="0"/>
              </a:rPr>
              <a:t>“</a:t>
            </a:r>
            <a:r>
              <a:rPr lang="en-US" altLang="zh-TW" sz="2800" smtClean="0">
                <a:solidFill>
                  <a:srgbClr val="FF0000"/>
                </a:solidFill>
              </a:rPr>
              <a:t>caused</a:t>
            </a:r>
            <a:r>
              <a:rPr lang="en-US" altLang="zh-TW" sz="2800" smtClean="0">
                <a:solidFill>
                  <a:srgbClr val="FF0000"/>
                </a:solidFill>
                <a:latin typeface="Helvetica" pitchFamily="34" charset="0"/>
              </a:rPr>
              <a:t>”</a:t>
            </a:r>
            <a:r>
              <a:rPr lang="en-US" altLang="zh-TW" sz="2800" smtClean="0">
                <a:solidFill>
                  <a:srgbClr val="FF0000"/>
                </a:solidFill>
              </a:rPr>
              <a:t> the deadlock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9660B3-4E1C-47F9-8521-4392E2305E66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359324-D3A9-4E37-98D5-053D32FF5301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 smtClean="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75" y="90488"/>
            <a:ext cx="8351838" cy="1054100"/>
          </a:xfrm>
        </p:spPr>
        <p:txBody>
          <a:bodyPr/>
          <a:lstStyle/>
          <a:p>
            <a:pPr eaLnBrk="1" hangingPunct="1"/>
            <a:r>
              <a:rPr lang="zh-TW" altLang="en-US" sz="4100" smtClean="0"/>
              <a:t/>
            </a:r>
            <a:br>
              <a:rPr lang="zh-TW" altLang="en-US" sz="4100" smtClean="0"/>
            </a:br>
            <a:r>
              <a:rPr lang="en-US" altLang="zh-TW" sz="3800" smtClean="0">
                <a:solidFill>
                  <a:srgbClr val="FF0000"/>
                </a:solidFill>
              </a:rPr>
              <a:t>Recovery</a:t>
            </a:r>
            <a:r>
              <a:rPr lang="en-US" altLang="zh-TW" sz="3800" smtClean="0"/>
              <a:t> from Deadlock:  Process Termination</a:t>
            </a:r>
          </a:p>
        </p:txBody>
      </p:sp>
      <p:sp>
        <p:nvSpPr>
          <p:cNvPr id="71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154113"/>
            <a:ext cx="8351838" cy="4843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</a:rPr>
              <a:t>Abort all</a:t>
            </a:r>
            <a:r>
              <a:rPr lang="en-US" altLang="zh-TW" sz="2800" smtClean="0"/>
              <a:t> deadlocked processes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Abort one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00"/>
                </a:solidFill>
              </a:rPr>
              <a:t>process at a time</a:t>
            </a:r>
            <a:r>
              <a:rPr lang="en-US" altLang="zh-TW" sz="2800" smtClean="0"/>
              <a:t> until the deadlock cycle is eliminated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smtClean="0"/>
              <a:t>In which order should we choose to abort?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Priority of the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How long process has computed, and how much longer to completion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Resources the process has used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Resources process needs to complete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How many processes will need to be terminated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Is process interactive or batch?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B08520-8602-4098-A33C-62603FAE78F5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0CC5CA-DB91-4AB5-A483-F7A70525B336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 smtClean="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565150" y="280988"/>
            <a:ext cx="8020050" cy="1036637"/>
          </a:xfrm>
        </p:spPr>
        <p:txBody>
          <a:bodyPr/>
          <a:lstStyle/>
          <a:p>
            <a:pPr eaLnBrk="1" hangingPunct="1"/>
            <a:r>
              <a:rPr lang="en-US" altLang="zh-TW" sz="3900" smtClean="0"/>
              <a:t>Recovery from Deadlock: </a:t>
            </a:r>
            <a:r>
              <a:rPr lang="en-US" altLang="zh-TW" sz="3900" smtClean="0">
                <a:solidFill>
                  <a:srgbClr val="FF0000"/>
                </a:solidFill>
              </a:rPr>
              <a:t>Resource Preemption</a:t>
            </a:r>
            <a:r>
              <a:rPr lang="en-US" altLang="zh-TW" sz="3900" smtClean="0"/>
              <a:t> (1)</a:t>
            </a:r>
          </a:p>
        </p:txBody>
      </p:sp>
      <p:sp>
        <p:nvSpPr>
          <p:cNvPr id="100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9575" y="1393825"/>
            <a:ext cx="8220075" cy="49815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00"/>
                </a:solidFill>
                <a:latin typeface="Comic Sans MS" pitchFamily="66" charset="0"/>
              </a:rPr>
              <a:t>Resource preemption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mtClean="0"/>
              <a:t>successively preempt some resources and give them to other processes until the deadlock cycle is broken.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Three issues should be considered</a:t>
            </a:r>
            <a:endParaRPr lang="en-US" altLang="zh-TW" smtClean="0">
              <a:solidFill>
                <a:srgbClr val="FF0000"/>
              </a:solidFill>
            </a:endParaRP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mtClean="0">
                <a:solidFill>
                  <a:srgbClr val="FF0000"/>
                </a:solidFill>
              </a:rPr>
              <a:t>selecting a victim</a:t>
            </a:r>
          </a:p>
          <a:p>
            <a:pPr marL="1371600" lvl="2" indent="-457200" eaLnBrk="1" hangingPunct="1">
              <a:lnSpc>
                <a:spcPct val="90000"/>
              </a:lnSpc>
              <a:buSzTx/>
              <a:buFont typeface="Wingdings" pitchFamily="2" charset="2"/>
              <a:buNone/>
            </a:pPr>
            <a:r>
              <a:rPr lang="en-US" altLang="zh-TW" smtClean="0"/>
              <a:t> </a:t>
            </a:r>
            <a:r>
              <a:rPr lang="en-US" altLang="zh-TW" sz="2800" smtClean="0"/>
              <a:t>How to minimize the cost?</a:t>
            </a:r>
            <a:endParaRPr lang="en-US" altLang="zh-TW" sz="3200" smtClean="0"/>
          </a:p>
          <a:p>
            <a:pPr marL="1752600" lvl="3" indent="-381000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altLang="zh-TW" sz="2400" smtClean="0"/>
              <a:t>what types and how many resources are held</a:t>
            </a:r>
          </a:p>
          <a:p>
            <a:pPr marL="1752600" lvl="3" indent="-381000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altLang="zh-TW" sz="2400" smtClean="0"/>
              <a:t>how much time has run</a:t>
            </a:r>
          </a:p>
          <a:p>
            <a:pPr marL="1752600" lvl="3" indent="-381000" eaLnBrk="1" hangingPunct="1">
              <a:lnSpc>
                <a:spcPct val="90000"/>
              </a:lnSpc>
              <a:buSzTx/>
              <a:buFont typeface="Wingdings" pitchFamily="2" charset="2"/>
              <a:buChar char="ü"/>
            </a:pPr>
            <a:r>
              <a:rPr lang="en-US" altLang="zh-TW" sz="2400" smtClean="0"/>
              <a:t>how much time to end,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7EF43E-3A40-4D9A-9B9D-4AA69B52EACD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1FE2F9-5384-4BB0-8922-3D20900739CA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 smtClean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565150" y="280988"/>
            <a:ext cx="8020050" cy="1036637"/>
          </a:xfrm>
        </p:spPr>
        <p:txBody>
          <a:bodyPr/>
          <a:lstStyle/>
          <a:p>
            <a:pPr eaLnBrk="1" hangingPunct="1"/>
            <a:r>
              <a:rPr lang="en-US" altLang="zh-TW" sz="3900" smtClean="0"/>
              <a:t>Recovery from Deadlock: Resource Preemption (3)</a:t>
            </a:r>
          </a:p>
        </p:txBody>
      </p:sp>
      <p:sp>
        <p:nvSpPr>
          <p:cNvPr id="1013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9413" y="1211263"/>
            <a:ext cx="8443912" cy="4935537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 startAt="2"/>
              <a:defRPr/>
            </a:pPr>
            <a:r>
              <a:rPr lang="en-US" altLang="zh-TW" sz="3200" dirty="0" smtClean="0">
                <a:solidFill>
                  <a:srgbClr val="FF0000"/>
                </a:solidFill>
              </a:rPr>
              <a:t>rollback</a:t>
            </a:r>
          </a:p>
          <a:p>
            <a:pPr marL="1371600" lvl="2" indent="-457200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 rollback a process to a safe state, and 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	  restart it (some resources are released)</a:t>
            </a:r>
          </a:p>
          <a:p>
            <a:pPr marL="1371600" lvl="2" indent="-457200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 Two implementations</a:t>
            </a:r>
          </a:p>
          <a:p>
            <a:pPr marL="1752600" lvl="3" indent="-381000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totally rollback: simple but expensive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1752600" lvl="3" indent="-381000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as far as necessary</a:t>
            </a:r>
            <a:r>
              <a:rPr lang="en-US" altLang="zh-TW" dirty="0" smtClean="0"/>
              <a:t> </a:t>
            </a:r>
          </a:p>
          <a:p>
            <a:pPr marL="1752600" lvl="3" indent="-3810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	(OS should maintain </a:t>
            </a:r>
            <a:r>
              <a:rPr lang="en-US" altLang="zh-TW" dirty="0" smtClean="0">
                <a:latin typeface="Times New Roman"/>
              </a:rPr>
              <a:t>“</a:t>
            </a:r>
            <a:r>
              <a:rPr lang="en-US" altLang="zh-TW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checkpoints</a:t>
            </a:r>
            <a:r>
              <a:rPr lang="en-US" altLang="zh-TW" dirty="0" smtClean="0">
                <a:latin typeface="Times New Roman"/>
              </a:rPr>
              <a:t>”</a:t>
            </a:r>
            <a:r>
              <a:rPr lang="en-US" altLang="zh-TW" dirty="0" smtClean="0"/>
              <a:t>)</a:t>
            </a:r>
          </a:p>
          <a:p>
            <a:pPr marL="1371600" lvl="2" indent="-457200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checkpoint</a:t>
            </a:r>
            <a:r>
              <a:rPr lang="en-US" altLang="zh-TW" dirty="0" smtClean="0"/>
              <a:t>: a recording of the state of a 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	  process to allow rollback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rabicPeriod" startAt="3"/>
              <a:defRPr/>
            </a:pPr>
            <a:r>
              <a:rPr lang="en-US" altLang="zh-TW" sz="3200" dirty="0" smtClean="0">
                <a:solidFill>
                  <a:srgbClr val="FF0000"/>
                </a:solidFill>
              </a:rPr>
              <a:t>starvation</a:t>
            </a:r>
          </a:p>
          <a:p>
            <a:pPr marL="1371600" lvl="2" indent="-457200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 not always select the same process for 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	 preemption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1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8C06F9-28E2-4653-8571-80944107F8C1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F5F005-DBEA-406A-9D79-471C8F3657D3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 smtClean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5" y="257175"/>
            <a:ext cx="7927975" cy="103505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FF0000"/>
                </a:solidFill>
              </a:rPr>
              <a:t>Combined Approach</a:t>
            </a:r>
            <a:r>
              <a:rPr lang="en-US" altLang="zh-TW" sz="4000" smtClean="0"/>
              <a:t> to Deadlock Handling</a:t>
            </a: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52425" y="1308100"/>
            <a:ext cx="8407400" cy="5178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Combine the three basic approaches</a:t>
            </a:r>
            <a:endParaRPr lang="en-US" altLang="zh-TW" sz="28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prevention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avoidance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FF0000"/>
                </a:solidFill>
              </a:rPr>
              <a:t>detection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 smtClean="0"/>
              <a:t>   	allowing the use of the optimal approach for each of resources in the system.</a:t>
            </a:r>
            <a:br>
              <a:rPr lang="en-US" altLang="zh-TW" sz="2800" dirty="0" smtClean="0"/>
            </a:b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dirty="0" smtClean="0">
                <a:solidFill>
                  <a:srgbClr val="FF0000"/>
                </a:solidFill>
              </a:rPr>
              <a:t>Partition resources into hierarchically ordered classes</a:t>
            </a:r>
            <a:endParaRPr lang="en-US" altLang="zh-TW" sz="2800" dirty="0" smtClean="0"/>
          </a:p>
          <a:p>
            <a:pPr eaLnBrk="1" hangingPunct="1"/>
            <a:r>
              <a:rPr lang="en-US" altLang="zh-TW" sz="2800" dirty="0" smtClean="0"/>
              <a:t>Use most appropriate technique for handling deadlocks within each class</a:t>
            </a:r>
          </a:p>
        </p:txBody>
      </p:sp>
      <p:sp>
        <p:nvSpPr>
          <p:cNvPr id="2" name="矩形 1"/>
          <p:cNvSpPr/>
          <p:nvPr/>
        </p:nvSpPr>
        <p:spPr>
          <a:xfrm>
            <a:off x="2969231" y="1832512"/>
            <a:ext cx="6277511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TW" dirty="0" smtClean="0"/>
              <a:t>M</a:t>
            </a:r>
            <a:r>
              <a:rPr lang="en-US" altLang="zh-TW" dirty="0"/>
              <a:t>. J. Bach, The Design of the UNIX Operating System, </a:t>
            </a:r>
            <a:r>
              <a:rPr lang="en-US" altLang="zh-TW" dirty="0" smtClean="0"/>
              <a:t>Prentice Hall (1987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27E320-5868-4229-861F-B2182D146924}" type="datetime1">
              <a:rPr kumimoji="0" lang="zh-TW" altLang="en-US" sz="1400" smtClean="0"/>
              <a:t>2018/4/12</a:t>
            </a:fld>
            <a:endParaRPr kumimoji="0" lang="en-US" altLang="zh-TW" sz="140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os7-2018</a:t>
            </a:r>
            <a:endParaRPr kumimoji="0" lang="en-US" altLang="zh-TW" sz="1400"/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271BA4-D68B-48B4-BC83-230F24FBCFC2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263525" y="95250"/>
            <a:ext cx="7796213" cy="714375"/>
          </a:xfrm>
        </p:spPr>
        <p:txBody>
          <a:bodyPr/>
          <a:lstStyle/>
          <a:p>
            <a:pPr eaLnBrk="1" hangingPunct="1"/>
            <a:r>
              <a:rPr lang="en-US" altLang="zh-TW" sz="3800" smtClean="0"/>
              <a:t>Example of a Combined Approach</a:t>
            </a:r>
          </a:p>
        </p:txBody>
      </p:sp>
      <p:sp>
        <p:nvSpPr>
          <p:cNvPr id="993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3513" y="838200"/>
            <a:ext cx="8413750" cy="5295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/>
              <a:t>Resources are partitioned into four classes (in order)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1. </a:t>
            </a:r>
            <a:r>
              <a:rPr lang="en-US" altLang="zh-TW" b="1" dirty="0" smtClean="0">
                <a:solidFill>
                  <a:srgbClr val="FF0000"/>
                </a:solidFill>
              </a:rPr>
              <a:t>internal resource</a:t>
            </a:r>
            <a:r>
              <a:rPr lang="en-US" altLang="zh-TW" dirty="0" smtClean="0"/>
              <a:t>: resources </a:t>
            </a:r>
            <a:r>
              <a:rPr lang="en-US" altLang="zh-TW" b="1" dirty="0" smtClean="0">
                <a:solidFill>
                  <a:srgbClr val="000000"/>
                </a:solidFill>
              </a:rPr>
              <a:t>used by OS</a:t>
            </a:r>
            <a:r>
              <a:rPr lang="en-US" altLang="zh-TW" dirty="0" smtClean="0"/>
              <a:t> (e.g., PCB)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resource-ordering</a:t>
            </a:r>
            <a:r>
              <a:rPr lang="en-US" altLang="zh-TW" dirty="0" smtClean="0"/>
              <a:t> (avoid running-time choices between pending requests)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2. </a:t>
            </a:r>
            <a:r>
              <a:rPr lang="en-US" altLang="zh-TW" b="1" dirty="0" smtClean="0">
                <a:solidFill>
                  <a:srgbClr val="FF0000"/>
                </a:solidFill>
              </a:rPr>
              <a:t>central memory</a:t>
            </a:r>
            <a:r>
              <a:rPr lang="en-US" altLang="zh-TW" dirty="0" smtClean="0"/>
              <a:t>: memory used by user jobs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prevention through preemption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TW" altLang="en-US" dirty="0" smtClean="0"/>
              <a:t>3. </a:t>
            </a:r>
            <a:r>
              <a:rPr lang="en-US" altLang="zh-TW" b="1" dirty="0" smtClean="0">
                <a:solidFill>
                  <a:srgbClr val="FF0000"/>
                </a:solidFill>
              </a:rPr>
              <a:t>job resource</a:t>
            </a:r>
            <a:r>
              <a:rPr lang="en-US" altLang="zh-TW" dirty="0" smtClean="0"/>
              <a:t>: files, tape drivers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avoidance</a:t>
            </a:r>
            <a:r>
              <a:rPr lang="en-US" altLang="zh-TW" dirty="0" smtClean="0"/>
              <a:t> (claim maximum request first)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 smtClean="0"/>
              <a:t>4. </a:t>
            </a:r>
            <a:r>
              <a:rPr lang="en-US" altLang="zh-TW" b="1" dirty="0" smtClean="0">
                <a:solidFill>
                  <a:srgbClr val="FF0000"/>
                </a:solidFill>
              </a:rPr>
              <a:t>swappable space</a:t>
            </a:r>
            <a:r>
              <a:rPr lang="en-US" altLang="zh-TW" dirty="0" smtClean="0"/>
              <a:t>: space on backing store</a:t>
            </a:r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pre-allocation</a:t>
            </a:r>
            <a:r>
              <a:rPr lang="en-US" altLang="zh-TW" dirty="0" smtClean="0"/>
              <a:t> (prevention from hold-and-wait)</a:t>
            </a:r>
          </a:p>
        </p:txBody>
      </p:sp>
      <p:sp>
        <p:nvSpPr>
          <p:cNvPr id="2" name="矩形 1"/>
          <p:cNvSpPr/>
          <p:nvPr/>
        </p:nvSpPr>
        <p:spPr>
          <a:xfrm>
            <a:off x="4370699" y="1313360"/>
            <a:ext cx="4572000" cy="1200329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r>
              <a:rPr lang="en-US" altLang="zh-TW" dirty="0" smtClean="0"/>
              <a:t>Ordinary users </a:t>
            </a:r>
            <a:r>
              <a:rPr lang="en-US" altLang="zh-TW" dirty="0"/>
              <a:t>cannot create a process that would occupy the last remaining slot in </a:t>
            </a:r>
            <a:r>
              <a:rPr lang="en-US" altLang="zh-TW" dirty="0" smtClean="0"/>
              <a:t>PCB.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3802</TotalTime>
  <Words>2477</Words>
  <Application>Microsoft Office PowerPoint</Application>
  <PresentationFormat>如螢幕大小 (4:3)</PresentationFormat>
  <Paragraphs>659</Paragraphs>
  <Slides>53</Slides>
  <Notes>53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6" baseType="lpstr">
      <vt:lpstr>Adobe Gothic Std B</vt:lpstr>
      <vt:lpstr>Monotype Sorts</vt:lpstr>
      <vt:lpstr>MS PGothic</vt:lpstr>
      <vt:lpstr>新細明體</vt:lpstr>
      <vt:lpstr>Comic Sans MS</vt:lpstr>
      <vt:lpstr>Courier New</vt:lpstr>
      <vt:lpstr>Helvetica</vt:lpstr>
      <vt:lpstr>Symbol</vt:lpstr>
      <vt:lpstr>Tahoma</vt:lpstr>
      <vt:lpstr>Times New Roman</vt:lpstr>
      <vt:lpstr>Verdana</vt:lpstr>
      <vt:lpstr>Wingdings</vt:lpstr>
      <vt:lpstr>Blueprint</vt:lpstr>
      <vt:lpstr>Chapter 7  Deadlocks</vt:lpstr>
      <vt:lpstr>Outline</vt:lpstr>
      <vt:lpstr>Objectives</vt:lpstr>
      <vt:lpstr>The Deadlock Problem</vt:lpstr>
      <vt:lpstr>Bridge Crossing Example</vt:lpstr>
      <vt:lpstr>System Model</vt:lpstr>
      <vt:lpstr>Multithreaded Pthread using mutex Locks An example: P313-314</vt:lpstr>
      <vt:lpstr>Deadlock Characterization</vt:lpstr>
      <vt:lpstr>Circular wait</vt:lpstr>
      <vt:lpstr>Resource-Allocation Graph (1)</vt:lpstr>
      <vt:lpstr>Resource-Allocation Graph (2)</vt:lpstr>
      <vt:lpstr>Example of a Resource Allocation Graph</vt:lpstr>
      <vt:lpstr>Resource Allocation Graph With A Deadlock</vt:lpstr>
      <vt:lpstr>Resource Allocation Graph With A Cycle But No Deadlock</vt:lpstr>
      <vt:lpstr>Deadlock Example</vt:lpstr>
      <vt:lpstr>Deadlock Example with Lock Ordering</vt:lpstr>
      <vt:lpstr>Basic Facts</vt:lpstr>
      <vt:lpstr>Methods for Handling Deadlocks</vt:lpstr>
      <vt:lpstr>Deadlock Prevention (1)</vt:lpstr>
      <vt:lpstr>Deadlock Prevention (2)</vt:lpstr>
      <vt:lpstr>Deadlock Prevention (3)</vt:lpstr>
      <vt:lpstr>Deadlock Prevention (4)</vt:lpstr>
      <vt:lpstr>Deadlock Avoidance</vt:lpstr>
      <vt:lpstr>Safe State (1)</vt:lpstr>
      <vt:lpstr>Safe State (2)</vt:lpstr>
      <vt:lpstr>Safe State (3)</vt:lpstr>
      <vt:lpstr>Basic Facts</vt:lpstr>
      <vt:lpstr>An Example </vt:lpstr>
      <vt:lpstr>Avoidance algorithms</vt:lpstr>
      <vt:lpstr>Resource-Allocation Graph Algorithm</vt:lpstr>
      <vt:lpstr>Resource-Allocation Graph for Deadlock Avoidance</vt:lpstr>
      <vt:lpstr>Unsafe State In Resource-Allocation Graph</vt:lpstr>
      <vt:lpstr>Banker’s Algorithm</vt:lpstr>
      <vt:lpstr>Data Structures for the Banker’s Algorithm </vt:lpstr>
      <vt:lpstr>Safety Algorithm: O(mn2)</vt:lpstr>
      <vt:lpstr>Resource-Request Algorithm for Process Pi</vt:lpstr>
      <vt:lpstr>Example of Banker’s Algorithm</vt:lpstr>
      <vt:lpstr>Example P1 Request (1,0,2)</vt:lpstr>
      <vt:lpstr>Example P0 Request (0,2,0)</vt:lpstr>
      <vt:lpstr>Deadlock Detection</vt:lpstr>
      <vt:lpstr>Single Instance of Each Resource Type</vt:lpstr>
      <vt:lpstr>Resource-Allocation Graph and Wait-for Graph</vt:lpstr>
      <vt:lpstr>Several Instances of a Resource Type</vt:lpstr>
      <vt:lpstr>Detection Algorithm (1)</vt:lpstr>
      <vt:lpstr>Detection Algorithm (2)</vt:lpstr>
      <vt:lpstr>Example of Detection Algorithm</vt:lpstr>
      <vt:lpstr>Example (Cont’d)</vt:lpstr>
      <vt:lpstr>Detection-Algorithm Usage</vt:lpstr>
      <vt:lpstr> Recovery from Deadlock:  Process Termination</vt:lpstr>
      <vt:lpstr>Recovery from Deadlock: Resource Preemption (1)</vt:lpstr>
      <vt:lpstr>Recovery from Deadlock: Resource Preemption (3)</vt:lpstr>
      <vt:lpstr>Combined Approach to Deadlock Handling</vt:lpstr>
      <vt:lpstr>Example of a Combined Approach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Jia-Shung WANG</dc:creator>
  <cp:lastModifiedBy>JS</cp:lastModifiedBy>
  <cp:revision>240</cp:revision>
  <cp:lastPrinted>2018-04-12T01:57:49Z</cp:lastPrinted>
  <dcterms:created xsi:type="dcterms:W3CDTF">1999-07-28T12:46:11Z</dcterms:created>
  <dcterms:modified xsi:type="dcterms:W3CDTF">2018-04-12T02:24:39Z</dcterms:modified>
</cp:coreProperties>
</file>