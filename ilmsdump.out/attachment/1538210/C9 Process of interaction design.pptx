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notesMasterIdLst>
    <p:notesMasterId r:id="rId27"/>
  </p:notesMasterIdLst>
  <p:handoutMasterIdLst>
    <p:handoutMasterId r:id="rId28"/>
  </p:handoutMasterIdLst>
  <p:sldIdLst>
    <p:sldId id="316" r:id="rId2"/>
    <p:sldId id="258" r:id="rId3"/>
    <p:sldId id="259" r:id="rId4"/>
    <p:sldId id="308" r:id="rId5"/>
    <p:sldId id="287" r:id="rId6"/>
    <p:sldId id="288" r:id="rId7"/>
    <p:sldId id="289" r:id="rId8"/>
    <p:sldId id="261" r:id="rId9"/>
    <p:sldId id="290" r:id="rId10"/>
    <p:sldId id="291" r:id="rId11"/>
    <p:sldId id="295" r:id="rId12"/>
    <p:sldId id="306" r:id="rId13"/>
    <p:sldId id="296" r:id="rId14"/>
    <p:sldId id="297" r:id="rId15"/>
    <p:sldId id="298" r:id="rId16"/>
    <p:sldId id="310" r:id="rId17"/>
    <p:sldId id="311" r:id="rId18"/>
    <p:sldId id="262" r:id="rId19"/>
    <p:sldId id="263" r:id="rId20"/>
    <p:sldId id="266" r:id="rId21"/>
    <p:sldId id="265" r:id="rId22"/>
    <p:sldId id="267" r:id="rId23"/>
    <p:sldId id="270" r:id="rId24"/>
    <p:sldId id="314" r:id="rId25"/>
    <p:sldId id="315" r:id="rId26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265" autoAdjust="0"/>
  </p:normalViewPr>
  <p:slideViewPr>
    <p:cSldViewPr>
      <p:cViewPr varScale="1">
        <p:scale>
          <a:sx n="106" d="100"/>
          <a:sy n="106" d="100"/>
        </p:scale>
        <p:origin x="1722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8A8AF5-35C0-47C3-97B9-F37FA028A9E0}" type="datetimeFigureOut">
              <a:rPr lang="zh-TW" altLang="en-US" smtClean="0"/>
              <a:t>2018/9/13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7E2916-CD51-4EC1-AE4F-CA1B4F461EF7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77400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13E4797-E715-4E98-95D3-F823E0DEA5FD}" type="datetimeFigureOut">
              <a:rPr lang="zh-TW" altLang="en-US" smtClean="0"/>
              <a:pPr/>
              <a:t>2018/9/13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FC7E8F-6CD2-4E2D-8C97-C44EEDC7FB31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354602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D3AB86F-AC4C-4D7D-9E03-5FBC65D1F9E9}" type="slidenum">
              <a:rPr lang="en-GB"/>
              <a:pPr/>
              <a:t>2</a:t>
            </a:fld>
            <a:endParaRPr lang="en-GB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BAAF97D-1F68-4469-8773-5966DBC5EC3B}" type="slidenum">
              <a:rPr lang="en-GB"/>
              <a:pPr/>
              <a:t>3</a:t>
            </a:fld>
            <a:endParaRPr lang="en-GB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416</a:t>
            </a:r>
            <a:endParaRPr lang="zh-TW" altLang="en-US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320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FC7E8F-6CD2-4E2D-8C97-C44EEDC7FB31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altLang="zh-TW" dirty="0" smtClean="0"/>
              <a:t>418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FC7E8F-6CD2-4E2D-8C97-C44EEDC7FB31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98C5552-681F-4A3C-A01A-592C0E2396EC}" type="slidenum">
              <a:rPr lang="en-GB"/>
              <a:pPr/>
              <a:t>8</a:t>
            </a:fld>
            <a:endParaRPr lang="en-GB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FC7E8F-6CD2-4E2D-8C97-C44EEDC7FB31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FDFE4A6-E074-482B-B354-DCBD7D260B4E}" type="slidenum">
              <a:rPr lang="en-GB"/>
              <a:pPr/>
              <a:t>11</a:t>
            </a:fld>
            <a:endParaRPr lang="en-GB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FDFE4A6-E074-482B-B354-DCBD7D260B4E}" type="slidenum">
              <a:rPr lang="en-GB"/>
              <a:pPr/>
              <a:t>12</a:t>
            </a:fld>
            <a:endParaRPr lang="en-GB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4EB8C033-856E-4DFD-A21F-476EF16E6305}" type="slidenum">
              <a:rPr lang="en-GB"/>
              <a:pPr/>
              <a:t>17</a:t>
            </a:fld>
            <a:endParaRPr lang="en-GB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506C7BCC-013F-4C9A-B7F8-223328813914}" type="slidenum">
              <a:rPr lang="en-GB"/>
              <a:pPr/>
              <a:t>18</a:t>
            </a:fld>
            <a:endParaRPr lang="en-GB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E4508D4-9B98-4B64-9CB0-3E636E63ACDC}" type="slidenum">
              <a:rPr lang="en-GB"/>
              <a:pPr/>
              <a:t>19</a:t>
            </a:fld>
            <a:endParaRPr lang="en-GB"/>
          </a:p>
        </p:txBody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TW" dirty="0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FC7E8F-6CD2-4E2D-8C97-C44EEDC7FB31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8EE0EE8-70A6-436D-9F37-E9990812CCA3}" type="slidenum">
              <a:rPr lang="en-GB"/>
              <a:pPr/>
              <a:t>21</a:t>
            </a:fld>
            <a:endParaRPr lang="en-GB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7FC7E8F-6CD2-4E2D-8C97-C44EEDC7FB31}" type="slidenum">
              <a:rPr lang="zh-TW" altLang="en-US" smtClean="0"/>
              <a:pPr/>
              <a:t>25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直線接點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標題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25" name="副標題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TW" altLang="en-US" smtClean="0"/>
              <a:t>按一下以編輯母片副標題樣式</a:t>
            </a:r>
            <a:endParaRPr kumimoji="0" lang="en-US"/>
          </a:p>
        </p:txBody>
      </p:sp>
      <p:sp>
        <p:nvSpPr>
          <p:cNvPr id="31" name="日期版面配置區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CBB81F82-4F63-446D-B3D2-79432E5DC6C2}" type="datetime1">
              <a:rPr lang="zh-TW" altLang="en-US" smtClean="0"/>
              <a:t>2018/9/13</a:t>
            </a:fld>
            <a:endParaRPr lang="zh-TW" altLang="en-US"/>
          </a:p>
        </p:txBody>
      </p:sp>
      <p:sp>
        <p:nvSpPr>
          <p:cNvPr id="18" name="頁尾版面配置區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zh-TW" altLang="en-US"/>
          </a:p>
        </p:txBody>
      </p:sp>
      <p:sp>
        <p:nvSpPr>
          <p:cNvPr id="29" name="投影片編號版面配置區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CC7AD0B3-31E6-4ADF-A443-48097A60ADE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  <a:extLst/>
          </a:lstStyle>
          <a:p>
            <a:r>
              <a:rPr kumimoji="0" lang="zh-TW" altLang="en-US" dirty="0" smtClean="0"/>
              <a:t>按一下以編輯母片標題樣式</a:t>
            </a:r>
            <a:endParaRPr kumimoji="0" 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B2A987-D357-4961-83AD-EDDF0E0CD23E}" type="datetime1">
              <a:rPr lang="zh-TW" altLang="en-US" smtClean="0"/>
              <a:t>2018/9/13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AD0B3-31E6-4ADF-A443-48097A60ADE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05828BBF-861C-4E68-B948-E7C4C4486EC6}" type="datetime1">
              <a:rPr lang="zh-TW" altLang="en-US" smtClean="0"/>
              <a:t>2018/9/13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/>
          <a:p>
            <a:fld id="{CC7AD0B3-31E6-4ADF-A443-48097A60ADE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A6F1D-6CD6-4340-BEAA-836132E08E29}" type="datetime1">
              <a:rPr lang="zh-TW" altLang="en-US" smtClean="0"/>
              <a:t>2018/9/13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AD0B3-31E6-4ADF-A443-48097A60ADE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內容版面配置區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DC3F68-BC46-431C-B6C8-37ECEA57CAAC}" type="datetime1">
              <a:rPr lang="zh-TW" altLang="en-US" smtClean="0"/>
              <a:t>2018/9/13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AD0B3-31E6-4ADF-A443-48097A60ADE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78E661-512F-4AD5-A912-FD7BFA84BD36}" type="datetime1">
              <a:rPr lang="zh-TW" altLang="en-US" smtClean="0"/>
              <a:t>2018/9/13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AD0B3-31E6-4ADF-A443-48097A60ADE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BAE8CC18-8343-48BF-BCC3-E9038CBF752C}" type="datetime1">
              <a:rPr lang="zh-TW" altLang="en-US" smtClean="0"/>
              <a:t>2018/9/13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AD0B3-31E6-4ADF-A443-48097A60ADE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6D94F5-92CA-473C-8F61-31C24174A152}" type="datetime1">
              <a:rPr lang="zh-TW" altLang="en-US" smtClean="0"/>
              <a:t>2018/9/13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AD0B3-31E6-4ADF-A443-48097A60ADE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zh-TW" altLang="en-US" smtClean="0"/>
              <a:t>按一下以編輯母片標題樣式</a:t>
            </a:r>
            <a:endParaRPr kumimoji="0" lang="en-US" dirty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3D3BE1-F931-4F29-B143-E57E91943AFA}" type="datetime1">
              <a:rPr lang="zh-TW" altLang="en-US" smtClean="0"/>
              <a:t>2018/9/13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AD0B3-31E6-4ADF-A443-48097A60ADE2}" type="slidenum">
              <a:rPr lang="zh-TW" altLang="en-US" smtClean="0"/>
              <a:pPr/>
              <a:t>‹#›</a:t>
            </a:fld>
            <a:endParaRPr lang="zh-TW" altLang="en-US"/>
          </a:p>
        </p:txBody>
      </p:sp>
      <p:sp>
        <p:nvSpPr>
          <p:cNvPr id="10" name="圖片版面配置區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zh-TW" altLang="en-US" smtClean="0"/>
              <a:t>按一下圖示以新增圖片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F7C631-E347-471D-B07E-A7204FCD1EE6}" type="datetime1">
              <a:rPr lang="zh-TW" altLang="en-US" smtClean="0"/>
              <a:t>2018/9/13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AD0B3-31E6-4ADF-A443-48097A60ADE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zh-TW" altLang="en-US" smtClean="0"/>
              <a:t>按一下以編輯母片文字樣式</a:t>
            </a:r>
          </a:p>
          <a:p>
            <a:pPr lvl="1" eaLnBrk="1" latinLnBrk="0" hangingPunct="1"/>
            <a:r>
              <a:rPr lang="zh-TW" altLang="en-US" smtClean="0"/>
              <a:t>第二層</a:t>
            </a:r>
          </a:p>
          <a:p>
            <a:pPr lvl="2" eaLnBrk="1" latinLnBrk="0" hangingPunct="1"/>
            <a:r>
              <a:rPr lang="zh-TW" altLang="en-US" smtClean="0"/>
              <a:t>第三層</a:t>
            </a:r>
          </a:p>
          <a:p>
            <a:pPr lvl="3" eaLnBrk="1" latinLnBrk="0" hangingPunct="1"/>
            <a:r>
              <a:rPr lang="zh-TW" altLang="en-US" smtClean="0"/>
              <a:t>第四層</a:t>
            </a:r>
          </a:p>
          <a:p>
            <a:pPr lvl="4" eaLnBrk="1" latinLnBrk="0" hangingPunct="1"/>
            <a:r>
              <a:rPr lang="zh-TW" altLang="en-US" smtClean="0"/>
              <a:t>第五層</a:t>
            </a:r>
            <a:endParaRPr kumimoji="0" 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/>
          <a:p>
            <a:fld id="{07B81D9D-A95E-43BD-A437-C981A77947F4}" type="datetime1">
              <a:rPr lang="zh-TW" altLang="en-US" smtClean="0"/>
              <a:t>2018/9/13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CC7AD0B3-31E6-4ADF-A443-48097A60ADE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標題版面配置區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/>
          <a:p>
            <a:r>
              <a:rPr kumimoji="0" lang="zh-TW" altLang="en-US" smtClean="0"/>
              <a:t>按一下以編輯母片標題樣式</a:t>
            </a:r>
            <a:endParaRPr kumimoji="0" lang="en-US"/>
          </a:p>
        </p:txBody>
      </p:sp>
      <p:sp>
        <p:nvSpPr>
          <p:cNvPr id="31" name="文字版面配置區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TW" altLang="en-US" smtClean="0"/>
              <a:t>按一下以編輯母片文字樣式</a:t>
            </a:r>
          </a:p>
          <a:p>
            <a:pPr lvl="1" eaLnBrk="1" latinLnBrk="0" hangingPunct="1"/>
            <a:r>
              <a:rPr kumimoji="0" lang="zh-TW" altLang="en-US" smtClean="0"/>
              <a:t>第二層</a:t>
            </a:r>
          </a:p>
          <a:p>
            <a:pPr lvl="2" eaLnBrk="1" latinLnBrk="0" hangingPunct="1"/>
            <a:r>
              <a:rPr kumimoji="0" lang="zh-TW" altLang="en-US" smtClean="0"/>
              <a:t>第三層</a:t>
            </a:r>
          </a:p>
          <a:p>
            <a:pPr lvl="3" eaLnBrk="1" latinLnBrk="0" hangingPunct="1"/>
            <a:r>
              <a:rPr kumimoji="0" lang="zh-TW" altLang="en-US" smtClean="0"/>
              <a:t>第四層</a:t>
            </a:r>
          </a:p>
          <a:p>
            <a:pPr lvl="4" eaLnBrk="1" latinLnBrk="0" hangingPunct="1"/>
            <a:r>
              <a:rPr kumimoji="0" lang="zh-TW" altLang="en-US" smtClean="0"/>
              <a:t>第五層</a:t>
            </a:r>
            <a:endParaRPr kumimoji="0" lang="en-US"/>
          </a:p>
        </p:txBody>
      </p:sp>
      <p:sp>
        <p:nvSpPr>
          <p:cNvPr id="27" name="日期版面配置區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BEAEA18A-720A-4A1B-A8D6-A2C837EF2CFA}" type="datetime1">
              <a:rPr lang="zh-TW" altLang="en-US" smtClean="0"/>
              <a:t>2018/9/13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zh-TW" altLang="en-US"/>
          </a:p>
        </p:txBody>
      </p:sp>
      <p:sp>
        <p:nvSpPr>
          <p:cNvPr id="16" name="投影片編號版面配置區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CC7AD0B3-31E6-4ADF-A443-48097A60ADE2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hyperlink" Target="http://en.wikipedia.org/wiki/File:Agile_Software_Development_methodology.jpg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TW" smtClean="0">
                <a:ea typeface="新細明體" pitchFamily="18" charset="-120"/>
              </a:rPr>
              <a:t> </a:t>
            </a:r>
            <a:r>
              <a:rPr lang="en-US" altLang="zh-TW" dirty="0" smtClean="0">
                <a:ea typeface="新細明體" pitchFamily="18" charset="-120"/>
              </a:rPr>
              <a:t/>
            </a:r>
            <a:br>
              <a:rPr lang="en-US" altLang="zh-TW" dirty="0" smtClean="0">
                <a:ea typeface="新細明體" pitchFamily="18" charset="-120"/>
              </a:rPr>
            </a:br>
            <a:r>
              <a:rPr lang="en-US" altLang="zh-TW" dirty="0" smtClean="0">
                <a:ea typeface="新細明體" pitchFamily="18" charset="-120"/>
              </a:rPr>
              <a:t>C9 The Process of Interaction Design</a:t>
            </a:r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AD0B3-31E6-4ADF-A443-48097A60ADE2}" type="slidenum">
              <a:rPr lang="zh-TW" altLang="en-US" smtClean="0"/>
              <a:pPr/>
              <a:t>1</a:t>
            </a:fld>
            <a:endParaRPr lang="zh-TW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ChangeArrowheads="1"/>
          </p:cNvSpPr>
          <p:nvPr/>
        </p:nvSpPr>
        <p:spPr bwMode="auto">
          <a:xfrm>
            <a:off x="703385" y="6248400"/>
            <a:ext cx="189913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147" name="Rectangle 3"/>
          <p:cNvSpPr>
            <a:spLocks noChangeArrowheads="1"/>
          </p:cNvSpPr>
          <p:nvPr/>
        </p:nvSpPr>
        <p:spPr bwMode="auto">
          <a:xfrm>
            <a:off x="3165231" y="6248400"/>
            <a:ext cx="281353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148" name="Rectangle 4"/>
          <p:cNvSpPr>
            <a:spLocks noChangeArrowheads="1"/>
          </p:cNvSpPr>
          <p:nvPr/>
        </p:nvSpPr>
        <p:spPr bwMode="auto">
          <a:xfrm>
            <a:off x="703385" y="6248400"/>
            <a:ext cx="189913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149" name="Rectangle 5"/>
          <p:cNvSpPr>
            <a:spLocks noChangeArrowheads="1"/>
          </p:cNvSpPr>
          <p:nvPr/>
        </p:nvSpPr>
        <p:spPr bwMode="auto">
          <a:xfrm>
            <a:off x="3165231" y="6248400"/>
            <a:ext cx="281353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6150" name="Rectangle 6"/>
          <p:cNvSpPr>
            <a:spLocks noGrp="1" noChangeArrowheads="1"/>
          </p:cNvSpPr>
          <p:nvPr>
            <p:ph type="title"/>
          </p:nvPr>
        </p:nvSpPr>
        <p:spPr>
          <a:xfrm>
            <a:off x="1071539" y="314325"/>
            <a:ext cx="4766554" cy="1447800"/>
          </a:xfrm>
          <a:noFill/>
          <a:ln/>
        </p:spPr>
        <p:txBody>
          <a:bodyPr wrap="square" lIns="90488" tIns="44450" rIns="90488" bIns="44450">
            <a:spAutoFit/>
          </a:bodyPr>
          <a:lstStyle/>
          <a:p>
            <a:r>
              <a:rPr lang="en-US" altLang="zh-TW" sz="4400" dirty="0">
                <a:ea typeface="新細明體" pitchFamily="18" charset="-120"/>
              </a:rPr>
              <a:t>Overview</a:t>
            </a:r>
            <a:r>
              <a:rPr lang="en-GB" sz="4400" i="1" dirty="0"/>
              <a:t> </a:t>
            </a:r>
            <a:br>
              <a:rPr lang="en-GB" sz="4400" i="1" dirty="0"/>
            </a:br>
            <a:endParaRPr lang="en-US" altLang="zh-TW" sz="4400" i="1" dirty="0">
              <a:ea typeface="新細明體" pitchFamily="18" charset="-120"/>
            </a:endParaRPr>
          </a:p>
        </p:txBody>
      </p:sp>
      <p:sp>
        <p:nvSpPr>
          <p:cNvPr id="6151" name="Rectangle 7"/>
          <p:cNvSpPr>
            <a:spLocks noGrp="1" noChangeArrowheads="1"/>
          </p:cNvSpPr>
          <p:nvPr>
            <p:ph idx="1"/>
          </p:nvPr>
        </p:nvSpPr>
        <p:spPr>
          <a:xfrm>
            <a:off x="827584" y="1268760"/>
            <a:ext cx="6963508" cy="4876800"/>
          </a:xfrm>
          <a:noFill/>
          <a:ln/>
        </p:spPr>
        <p:txBody>
          <a:bodyPr lIns="90488" tIns="44450" rIns="90488" bIns="44450"/>
          <a:lstStyle/>
          <a:p>
            <a:endParaRPr lang="zh-TW" altLang="en-US" sz="2800" dirty="0">
              <a:solidFill>
                <a:srgbClr val="000000"/>
              </a:solidFill>
              <a:ea typeface="新細明體" pitchFamily="18" charset="-120"/>
            </a:endParaRPr>
          </a:p>
          <a:p>
            <a:endParaRPr lang="zh-TW" altLang="en-US" sz="2800" dirty="0">
              <a:ea typeface="新細明體" pitchFamily="18" charset="-120"/>
            </a:endParaRPr>
          </a:p>
        </p:txBody>
      </p:sp>
      <p:sp>
        <p:nvSpPr>
          <p:cNvPr id="6153" name="Text Box 9"/>
          <p:cNvSpPr txBox="1">
            <a:spLocks noChangeArrowheads="1"/>
          </p:cNvSpPr>
          <p:nvPr/>
        </p:nvSpPr>
        <p:spPr bwMode="auto">
          <a:xfrm>
            <a:off x="1462455" y="1355725"/>
            <a:ext cx="18473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GB" sz="1600"/>
          </a:p>
        </p:txBody>
      </p:sp>
      <p:sp>
        <p:nvSpPr>
          <p:cNvPr id="6154" name="Rectangle 10"/>
          <p:cNvSpPr>
            <a:spLocks noChangeArrowheads="1"/>
          </p:cNvSpPr>
          <p:nvPr/>
        </p:nvSpPr>
        <p:spPr bwMode="auto">
          <a:xfrm>
            <a:off x="827584" y="1484784"/>
            <a:ext cx="7666892" cy="4876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>
              <a:spcBef>
                <a:spcPts val="300"/>
              </a:spcBef>
              <a:spcAft>
                <a:spcPts val="600"/>
              </a:spcAft>
              <a:buFontTx/>
              <a:buChar char="•"/>
            </a:pPr>
            <a:r>
              <a:rPr lang="en-US" altLang="zh-TW" sz="2400" b="0" dirty="0">
                <a:latin typeface="Verdana" pitchFamily="34" charset="0"/>
                <a:ea typeface="新細明體" pitchFamily="18" charset="-120"/>
              </a:rPr>
              <a:t>What </a:t>
            </a:r>
            <a:r>
              <a:rPr lang="en-US" altLang="zh-TW" sz="2400" b="0" dirty="0" smtClean="0">
                <a:latin typeface="Verdana" pitchFamily="34" charset="0"/>
                <a:ea typeface="新細明體" pitchFamily="18" charset="-120"/>
              </a:rPr>
              <a:t>doing interaction design involves?</a:t>
            </a:r>
          </a:p>
          <a:p>
            <a:pPr marL="457200" lvl="2">
              <a:spcBef>
                <a:spcPts val="300"/>
              </a:spcBef>
              <a:spcAft>
                <a:spcPts val="600"/>
              </a:spcAft>
              <a:buFontTx/>
              <a:buChar char="•"/>
            </a:pPr>
            <a:r>
              <a:rPr lang="en-US" altLang="zh-TW" dirty="0" smtClean="0">
                <a:latin typeface="Verdana" pitchFamily="34" charset="0"/>
                <a:ea typeface="新細明體" pitchFamily="18" charset="-120"/>
              </a:rPr>
              <a:t>Four basic activities, three key characteristics </a:t>
            </a:r>
          </a:p>
          <a:p>
            <a:pPr>
              <a:spcBef>
                <a:spcPts val="300"/>
              </a:spcBef>
              <a:spcAft>
                <a:spcPts val="600"/>
              </a:spcAft>
              <a:buFontTx/>
              <a:buChar char="•"/>
            </a:pPr>
            <a:r>
              <a:rPr lang="en-US" altLang="zh-TW" sz="2400" dirty="0" smtClean="0">
                <a:latin typeface="Verdana" pitchFamily="34" charset="0"/>
                <a:ea typeface="新細明體" pitchFamily="18" charset="-120"/>
              </a:rPr>
              <a:t>Advantage of involving users</a:t>
            </a:r>
            <a:endParaRPr lang="en-US" altLang="zh-TW" sz="2400" b="0" dirty="0">
              <a:latin typeface="Verdana" pitchFamily="34" charset="0"/>
              <a:ea typeface="新細明體" pitchFamily="18" charset="-120"/>
            </a:endParaRPr>
          </a:p>
          <a:p>
            <a:pPr lvl="1">
              <a:lnSpc>
                <a:spcPct val="120000"/>
              </a:lnSpc>
              <a:buFontTx/>
              <a:buChar char="—"/>
            </a:pPr>
            <a:r>
              <a:rPr lang="en-US" altLang="zh-TW" b="0" dirty="0" smtClean="0">
                <a:latin typeface="Verdana" pitchFamily="34" charset="0"/>
                <a:ea typeface="新細明體" pitchFamily="18" charset="-120"/>
              </a:rPr>
              <a:t>Who </a:t>
            </a:r>
            <a:r>
              <a:rPr lang="en-US" altLang="zh-TW" b="0" dirty="0">
                <a:latin typeface="Verdana" pitchFamily="34" charset="0"/>
                <a:ea typeface="新細明體" pitchFamily="18" charset="-120"/>
              </a:rPr>
              <a:t>are the users</a:t>
            </a:r>
            <a:r>
              <a:rPr lang="en-US" altLang="zh-TW" b="0" dirty="0" smtClean="0">
                <a:latin typeface="Verdana" pitchFamily="34" charset="0"/>
                <a:ea typeface="新細明體" pitchFamily="18" charset="-120"/>
              </a:rPr>
              <a:t>? What </a:t>
            </a:r>
            <a:r>
              <a:rPr lang="en-US" altLang="zh-TW" b="0" dirty="0">
                <a:latin typeface="Verdana" pitchFamily="34" charset="0"/>
                <a:ea typeface="新細明體" pitchFamily="18" charset="-120"/>
              </a:rPr>
              <a:t>are ‘needs</a:t>
            </a:r>
            <a:r>
              <a:rPr lang="en-US" altLang="zh-TW" b="0" dirty="0" smtClean="0">
                <a:latin typeface="Verdana" pitchFamily="34" charset="0"/>
                <a:ea typeface="新細明體" pitchFamily="18" charset="-120"/>
              </a:rPr>
              <a:t>’? Where </a:t>
            </a:r>
            <a:r>
              <a:rPr lang="en-US" altLang="zh-TW" b="0" dirty="0">
                <a:latin typeface="Verdana" pitchFamily="34" charset="0"/>
                <a:ea typeface="新細明體" pitchFamily="18" charset="-120"/>
              </a:rPr>
              <a:t>do alternatives come </a:t>
            </a:r>
            <a:r>
              <a:rPr lang="en-US" altLang="zh-TW" b="0" dirty="0" smtClean="0">
                <a:latin typeface="Verdana" pitchFamily="34" charset="0"/>
                <a:ea typeface="新細明體" pitchFamily="18" charset="-120"/>
              </a:rPr>
              <a:t>from? How </a:t>
            </a:r>
            <a:r>
              <a:rPr lang="en-US" altLang="zh-TW" b="0" dirty="0">
                <a:latin typeface="Verdana" pitchFamily="34" charset="0"/>
                <a:ea typeface="新細明體" pitchFamily="18" charset="-120"/>
              </a:rPr>
              <a:t>do you choose among alternatives?</a:t>
            </a:r>
          </a:p>
          <a:p>
            <a:pPr lvl="1">
              <a:lnSpc>
                <a:spcPct val="120000"/>
              </a:lnSpc>
              <a:buFontTx/>
              <a:buChar char="—"/>
            </a:pPr>
            <a:endParaRPr lang="en-US" altLang="zh-TW" sz="800" b="0" dirty="0">
              <a:latin typeface="Verdana" pitchFamily="34" charset="0"/>
              <a:ea typeface="新細明體" pitchFamily="18" charset="-120"/>
            </a:endParaRPr>
          </a:p>
          <a:p>
            <a:pPr>
              <a:lnSpc>
                <a:spcPct val="120000"/>
              </a:lnSpc>
              <a:buFontTx/>
              <a:buChar char="•"/>
            </a:pPr>
            <a:r>
              <a:rPr lang="en-US" altLang="zh-TW" sz="2400" dirty="0" smtClean="0">
                <a:latin typeface="Verdana" pitchFamily="34" charset="0"/>
                <a:ea typeface="新細明體" pitchFamily="18" charset="-120"/>
              </a:rPr>
              <a:t>Principle of UC approach.</a:t>
            </a:r>
            <a:endParaRPr lang="en-US" altLang="zh-TW" sz="2400" b="0" dirty="0" smtClean="0">
              <a:latin typeface="Verdana" pitchFamily="34" charset="0"/>
              <a:ea typeface="新細明體" pitchFamily="18" charset="-120"/>
            </a:endParaRPr>
          </a:p>
          <a:p>
            <a:pPr>
              <a:lnSpc>
                <a:spcPct val="120000"/>
              </a:lnSpc>
              <a:buFontTx/>
              <a:buChar char="•"/>
            </a:pPr>
            <a:r>
              <a:rPr lang="en-US" altLang="zh-TW" sz="2400" b="0" dirty="0" smtClean="0">
                <a:latin typeface="Verdana" pitchFamily="34" charset="0"/>
                <a:ea typeface="新細明體" pitchFamily="18" charset="-120"/>
              </a:rPr>
              <a:t>Lifecycle </a:t>
            </a:r>
            <a:r>
              <a:rPr lang="en-US" altLang="zh-TW" sz="2400" b="0" dirty="0">
                <a:latin typeface="Verdana" pitchFamily="34" charset="0"/>
                <a:ea typeface="新細明體" pitchFamily="18" charset="-120"/>
              </a:rPr>
              <a:t>models </a:t>
            </a:r>
            <a:r>
              <a:rPr lang="en-US" altLang="zh-TW" sz="2400" b="0" dirty="0" smtClean="0">
                <a:latin typeface="Verdana" pitchFamily="34" charset="0"/>
                <a:ea typeface="新細明體" pitchFamily="18" charset="-120"/>
              </a:rPr>
              <a:t>of interaction design</a:t>
            </a:r>
            <a:endParaRPr lang="en-US" altLang="zh-TW" sz="2400" b="0" dirty="0">
              <a:latin typeface="Verdana" pitchFamily="34" charset="0"/>
              <a:ea typeface="新細明體" pitchFamily="18" charset="-120"/>
            </a:endParaRPr>
          </a:p>
          <a:p>
            <a:pPr>
              <a:lnSpc>
                <a:spcPct val="120000"/>
              </a:lnSpc>
              <a:buFontTx/>
              <a:buChar char="•"/>
            </a:pPr>
            <a:r>
              <a:rPr lang="en-US" altLang="zh-TW" sz="2400" b="0" dirty="0" smtClean="0">
                <a:latin typeface="Verdana" pitchFamily="34" charset="0"/>
                <a:ea typeface="新細明體" pitchFamily="18" charset="-120"/>
              </a:rPr>
              <a:t>Questions about ID process.</a:t>
            </a:r>
            <a:endParaRPr lang="en-US" altLang="zh-TW" sz="2400" dirty="0" smtClean="0">
              <a:latin typeface="Verdana" pitchFamily="34" charset="0"/>
              <a:ea typeface="新細明體" pitchFamily="18" charset="-120"/>
            </a:endParaRPr>
          </a:p>
          <a:p>
            <a:pPr>
              <a:lnSpc>
                <a:spcPct val="120000"/>
              </a:lnSpc>
              <a:buFontTx/>
              <a:buChar char="•"/>
            </a:pPr>
            <a:r>
              <a:rPr lang="en-US" altLang="zh-TW" sz="2400" b="0" dirty="0" smtClean="0">
                <a:latin typeface="Verdana" pitchFamily="34" charset="0"/>
                <a:ea typeface="新細明體" pitchFamily="18" charset="-120"/>
              </a:rPr>
              <a:t>How ID can be integrated into the wider product development lifecycle.</a:t>
            </a:r>
            <a:endParaRPr lang="en-US" altLang="zh-TW" sz="2400" b="0" dirty="0">
              <a:latin typeface="Verdana" pitchFamily="34" charset="0"/>
              <a:ea typeface="新細明體" pitchFamily="18" charset="-120"/>
            </a:endParaRPr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AD0B3-31E6-4ADF-A443-48097A60ADE2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6" name="Rectangle 2"/>
          <p:cNvSpPr>
            <a:spLocks noChangeArrowheads="1"/>
          </p:cNvSpPr>
          <p:nvPr/>
        </p:nvSpPr>
        <p:spPr bwMode="auto">
          <a:xfrm>
            <a:off x="703385" y="6248400"/>
            <a:ext cx="189913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8787" name="Rectangle 3"/>
          <p:cNvSpPr>
            <a:spLocks noChangeArrowheads="1"/>
          </p:cNvSpPr>
          <p:nvPr/>
        </p:nvSpPr>
        <p:spPr bwMode="auto">
          <a:xfrm>
            <a:off x="3165231" y="6248400"/>
            <a:ext cx="281353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8788" name="Rectangle 4"/>
          <p:cNvSpPr>
            <a:spLocks noChangeArrowheads="1"/>
          </p:cNvSpPr>
          <p:nvPr/>
        </p:nvSpPr>
        <p:spPr bwMode="auto">
          <a:xfrm>
            <a:off x="703385" y="6248400"/>
            <a:ext cx="189913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8789" name="Rectangle 5"/>
          <p:cNvSpPr>
            <a:spLocks noChangeArrowheads="1"/>
          </p:cNvSpPr>
          <p:nvPr/>
        </p:nvSpPr>
        <p:spPr bwMode="auto">
          <a:xfrm>
            <a:off x="3165231" y="6248400"/>
            <a:ext cx="281353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18790" name="Rectangle 6"/>
          <p:cNvSpPr>
            <a:spLocks noGrp="1" noChangeArrowheads="1"/>
          </p:cNvSpPr>
          <p:nvPr>
            <p:ph type="title"/>
          </p:nvPr>
        </p:nvSpPr>
        <p:spPr>
          <a:xfrm>
            <a:off x="211015" y="376238"/>
            <a:ext cx="8651631" cy="768350"/>
          </a:xfrm>
          <a:noFill/>
          <a:ln/>
        </p:spPr>
        <p:txBody>
          <a:bodyPr lIns="90488" tIns="44450" rIns="90488" bIns="44450">
            <a:spAutoFit/>
          </a:bodyPr>
          <a:lstStyle/>
          <a:p>
            <a:r>
              <a:rPr lang="en-US" altLang="zh-TW" sz="4400" dirty="0">
                <a:ea typeface="新細明體" pitchFamily="18" charset="-120"/>
              </a:rPr>
              <a:t>What is Interaction Design?</a:t>
            </a:r>
            <a:r>
              <a:rPr lang="en-GB" sz="4400" i="1" dirty="0"/>
              <a:t> </a:t>
            </a:r>
            <a:endParaRPr lang="en-US" altLang="zh-TW" sz="4400" i="1" dirty="0">
              <a:ea typeface="新細明體" pitchFamily="18" charset="-120"/>
            </a:endParaRPr>
          </a:p>
        </p:txBody>
      </p:sp>
      <p:sp>
        <p:nvSpPr>
          <p:cNvPr id="118791" name="Rectangle 7"/>
          <p:cNvSpPr>
            <a:spLocks noGrp="1" noChangeArrowheads="1"/>
          </p:cNvSpPr>
          <p:nvPr>
            <p:ph idx="1"/>
          </p:nvPr>
        </p:nvSpPr>
        <p:spPr>
          <a:xfrm>
            <a:off x="844061" y="990600"/>
            <a:ext cx="6963508" cy="4876800"/>
          </a:xfrm>
          <a:noFill/>
          <a:ln/>
        </p:spPr>
        <p:txBody>
          <a:bodyPr lIns="90488" tIns="44450" rIns="90488" bIns="44450"/>
          <a:lstStyle/>
          <a:p>
            <a:endParaRPr lang="zh-TW" altLang="en-US" dirty="0">
              <a:solidFill>
                <a:srgbClr val="000000"/>
              </a:solidFill>
              <a:ea typeface="新細明體" pitchFamily="18" charset="-120"/>
            </a:endParaRPr>
          </a:p>
          <a:p>
            <a:endParaRPr lang="zh-TW" altLang="en-US" dirty="0">
              <a:ea typeface="新細明體" pitchFamily="18" charset="-120"/>
            </a:endParaRPr>
          </a:p>
        </p:txBody>
      </p:sp>
      <p:sp>
        <p:nvSpPr>
          <p:cNvPr id="118792" name="Text Box 8"/>
          <p:cNvSpPr txBox="1">
            <a:spLocks noChangeArrowheads="1"/>
          </p:cNvSpPr>
          <p:nvPr/>
        </p:nvSpPr>
        <p:spPr bwMode="auto">
          <a:xfrm>
            <a:off x="1462454" y="1355725"/>
            <a:ext cx="184731" cy="33855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endParaRPr lang="en-GB" sz="1600"/>
          </a:p>
        </p:txBody>
      </p:sp>
      <p:sp>
        <p:nvSpPr>
          <p:cNvPr id="118793" name="Rectangle 9"/>
          <p:cNvSpPr>
            <a:spLocks noChangeArrowheads="1"/>
          </p:cNvSpPr>
          <p:nvPr/>
        </p:nvSpPr>
        <p:spPr bwMode="auto">
          <a:xfrm>
            <a:off x="562708" y="1524000"/>
            <a:ext cx="7948246" cy="43434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>
              <a:spcBef>
                <a:spcPts val="300"/>
              </a:spcBef>
              <a:buFontTx/>
              <a:buChar char="•"/>
            </a:pPr>
            <a:r>
              <a:rPr lang="en-GB" sz="2400" b="0" dirty="0">
                <a:latin typeface="Verdana" pitchFamily="34" charset="0"/>
              </a:rPr>
              <a:t> It is a process:</a:t>
            </a:r>
          </a:p>
          <a:p>
            <a:pPr lvl="1">
              <a:spcBef>
                <a:spcPts val="300"/>
              </a:spcBef>
              <a:buFontTx/>
              <a:buChar char="—"/>
            </a:pPr>
            <a:r>
              <a:rPr lang="en-GB" sz="2400" b="0" dirty="0">
                <a:latin typeface="Verdana" pitchFamily="34" charset="0"/>
              </a:rPr>
              <a:t> a goal-directed problem solving activity informed by intended use, target domain, materials, cost, and feasibility</a:t>
            </a:r>
          </a:p>
          <a:p>
            <a:pPr lvl="1">
              <a:spcBef>
                <a:spcPts val="300"/>
              </a:spcBef>
              <a:buFontTx/>
              <a:buChar char="—"/>
            </a:pPr>
            <a:r>
              <a:rPr lang="en-GB" sz="2400" b="0" dirty="0">
                <a:latin typeface="Verdana" pitchFamily="34" charset="0"/>
              </a:rPr>
              <a:t> a creative activity</a:t>
            </a:r>
          </a:p>
          <a:p>
            <a:pPr lvl="1">
              <a:spcBef>
                <a:spcPts val="300"/>
              </a:spcBef>
              <a:buFontTx/>
              <a:buChar char="—"/>
            </a:pPr>
            <a:r>
              <a:rPr lang="en-GB" sz="2400" b="0" dirty="0">
                <a:latin typeface="Verdana" pitchFamily="34" charset="0"/>
              </a:rPr>
              <a:t> a decision-making activity to balance </a:t>
            </a:r>
            <a:r>
              <a:rPr lang="en-GB" sz="2400" b="0" dirty="0">
                <a:solidFill>
                  <a:srgbClr val="FF0000"/>
                </a:solidFill>
                <a:latin typeface="Verdana" pitchFamily="34" charset="0"/>
              </a:rPr>
              <a:t>trade-offs</a:t>
            </a:r>
            <a:endParaRPr lang="en-GB" sz="2400" dirty="0">
              <a:solidFill>
                <a:srgbClr val="FF0000"/>
              </a:solidFill>
              <a:latin typeface="Verdana" pitchFamily="34" charset="0"/>
            </a:endParaRPr>
          </a:p>
          <a:p>
            <a:pPr>
              <a:spcBef>
                <a:spcPts val="300"/>
              </a:spcBef>
              <a:buFontTx/>
              <a:buChar char="•"/>
            </a:pPr>
            <a:endParaRPr lang="en-GB" sz="2400" b="0" dirty="0">
              <a:latin typeface="Verdana" pitchFamily="34" charset="0"/>
            </a:endParaRPr>
          </a:p>
          <a:p>
            <a:pPr>
              <a:spcBef>
                <a:spcPts val="300"/>
              </a:spcBef>
              <a:buFontTx/>
              <a:buChar char="•"/>
            </a:pPr>
            <a:r>
              <a:rPr lang="en-GB" sz="2400" b="0" dirty="0">
                <a:latin typeface="Verdana" pitchFamily="34" charset="0"/>
              </a:rPr>
              <a:t> It is a representation:</a:t>
            </a:r>
            <a:endParaRPr lang="en-GB" sz="2400" b="0" i="1" dirty="0">
              <a:latin typeface="Verdana" pitchFamily="34" charset="0"/>
            </a:endParaRPr>
          </a:p>
          <a:p>
            <a:pPr lvl="1">
              <a:spcBef>
                <a:spcPts val="300"/>
              </a:spcBef>
              <a:buFontTx/>
              <a:buChar char="—"/>
            </a:pPr>
            <a:r>
              <a:rPr lang="en-GB" sz="2400" b="0" dirty="0">
                <a:latin typeface="Verdana" pitchFamily="34" charset="0"/>
              </a:rPr>
              <a:t> a plan for development</a:t>
            </a:r>
          </a:p>
          <a:p>
            <a:pPr lvl="1">
              <a:spcBef>
                <a:spcPts val="300"/>
              </a:spcBef>
              <a:buFontTx/>
              <a:buChar char="—"/>
            </a:pPr>
            <a:r>
              <a:rPr lang="en-GB" sz="2400" b="0" dirty="0">
                <a:latin typeface="Verdana" pitchFamily="34" charset="0"/>
              </a:rPr>
              <a:t> a set of alternatives and successive elaborations</a:t>
            </a:r>
          </a:p>
          <a:p>
            <a:pPr algn="ctr"/>
            <a:endParaRPr lang="en-US" altLang="zh-TW" sz="2400" b="0" dirty="0">
              <a:latin typeface="Verdana" pitchFamily="34" charset="0"/>
              <a:ea typeface="新細明體" pitchFamily="18" charset="-120"/>
            </a:endParaRPr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AD0B3-31E6-4ADF-A443-48097A60ADE2}" type="slidenum">
              <a:rPr lang="zh-TW" altLang="en-US" smtClean="0"/>
              <a:pPr/>
              <a:t>3</a:t>
            </a:fld>
            <a:endParaRPr lang="zh-TW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412776"/>
            <a:ext cx="7239000" cy="5042960"/>
          </a:xfrm>
        </p:spPr>
        <p:txBody>
          <a:bodyPr/>
          <a:lstStyle/>
          <a:p>
            <a:r>
              <a:rPr lang="en-US" altLang="zh-TW" dirty="0" smtClean="0"/>
              <a:t>Three activities of design: understanding the requirement, producing a design, evaluating the design.</a:t>
            </a:r>
          </a:p>
          <a:p>
            <a:r>
              <a:rPr lang="en-US" altLang="zh-TW" dirty="0" smtClean="0"/>
              <a:t>ID: focus on user and their goals</a:t>
            </a:r>
          </a:p>
          <a:p>
            <a:r>
              <a:rPr lang="en-US" altLang="zh-TW" dirty="0" smtClean="0"/>
              <a:t>Design involves:</a:t>
            </a:r>
          </a:p>
          <a:p>
            <a:pPr lvl="1"/>
            <a:r>
              <a:rPr lang="en-US" altLang="zh-TW" dirty="0" smtClean="0"/>
              <a:t>Work on requirements</a:t>
            </a:r>
          </a:p>
          <a:p>
            <a:pPr lvl="1"/>
            <a:r>
              <a:rPr lang="en-US" altLang="zh-TW" dirty="0" smtClean="0"/>
              <a:t>Designing a solution</a:t>
            </a:r>
          </a:p>
          <a:p>
            <a:pPr lvl="1"/>
            <a:r>
              <a:rPr lang="en-US" altLang="zh-TW" dirty="0" smtClean="0"/>
              <a:t>Producing an interactive version of the solution</a:t>
            </a:r>
          </a:p>
          <a:p>
            <a:pPr lvl="1"/>
            <a:r>
              <a:rPr lang="en-US" altLang="zh-TW" dirty="0" smtClean="0"/>
              <a:t>Evaluating it</a:t>
            </a:r>
          </a:p>
          <a:p>
            <a:r>
              <a:rPr lang="en-US" altLang="zh-TW" dirty="0" smtClean="0"/>
              <a:t>BOX9.1  4 approaches to ID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457200" y="-134928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1" i="0" u="none" strike="noStrike" kern="1200" cap="all" spc="0" normalizeH="0" baseline="0" noProof="0" dirty="0" smtClean="0">
                <a:ln w="500">
                  <a:solidFill>
                    <a:schemeClr val="tx2">
                      <a:shade val="20000"/>
                      <a:satMod val="120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  <a:uLnTx/>
                <a:uFillTx/>
                <a:latin typeface="+mj-lt"/>
                <a:ea typeface="+mj-ea"/>
                <a:cs typeface="+mj-cs"/>
              </a:rPr>
              <a:t>9.2 </a:t>
            </a:r>
            <a:r>
              <a:rPr kumimoji="0" lang="zh-TW" altLang="en-US" sz="2800" b="1" i="0" u="none" strike="noStrike" kern="1200" cap="all" spc="0" normalizeH="0" baseline="0" noProof="0" dirty="0" smtClean="0">
                <a:ln w="500">
                  <a:solidFill>
                    <a:schemeClr val="tx2">
                      <a:shade val="20000"/>
                      <a:satMod val="120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kumimoji="0" lang="en-US" altLang="zh-TW" sz="2800" b="1" i="0" u="none" strike="noStrike" kern="1200" cap="all" spc="0" normalizeH="0" baseline="0" noProof="0" dirty="0" smtClean="0">
                <a:ln w="500">
                  <a:solidFill>
                    <a:schemeClr val="tx2">
                      <a:shade val="20000"/>
                      <a:satMod val="120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  <a:uLnTx/>
                <a:uFillTx/>
                <a:latin typeface="+mj-lt"/>
                <a:ea typeface="+mj-ea"/>
                <a:cs typeface="+mj-cs"/>
              </a:rPr>
              <a:t>what is involved in ID?</a:t>
            </a:r>
            <a:endParaRPr kumimoji="0" lang="zh-TW" altLang="en-US" sz="2800" b="1" i="0" u="none" strike="noStrike" kern="1200" cap="all" spc="0" normalizeH="0" baseline="0" noProof="0" dirty="0">
              <a:ln w="500">
                <a:solidFill>
                  <a:schemeClr val="tx2">
                    <a:shade val="20000"/>
                    <a:satMod val="120000"/>
                  </a:schemeClr>
                </a:solidFill>
              </a:ln>
              <a:gradFill>
                <a:gsLst>
                  <a:gs pos="0">
                    <a:schemeClr val="accent4">
                      <a:tint val="13000"/>
                    </a:schemeClr>
                  </a:gs>
                  <a:gs pos="10000">
                    <a:schemeClr val="accent4">
                      <a:tint val="20000"/>
                    </a:schemeClr>
                  </a:gs>
                  <a:gs pos="49000">
                    <a:schemeClr val="accent4">
                      <a:tint val="70000"/>
                    </a:schemeClr>
                  </a:gs>
                  <a:gs pos="50000">
                    <a:schemeClr val="accent4">
                      <a:tint val="97000"/>
                    </a:schemeClr>
                  </a:gs>
                  <a:gs pos="100000">
                    <a:schemeClr val="accent4">
                      <a:tint val="20000"/>
                    </a:schemeClr>
                  </a:gs>
                </a:gsLst>
                <a:lin ang="5400000" scaled="1"/>
              </a:gra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AD0B3-31E6-4ADF-A443-48097A60ADE2}" type="slidenum">
              <a:rPr lang="zh-TW" altLang="en-US" smtClean="0"/>
              <a:pPr/>
              <a:t>4</a:t>
            </a:fld>
            <a:endParaRPr lang="zh-TW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078956"/>
            <a:ext cx="7758138" cy="5950444"/>
          </a:xfrm>
        </p:spPr>
        <p:txBody>
          <a:bodyPr>
            <a:normAutofit lnSpcReduction="10000"/>
          </a:bodyPr>
          <a:lstStyle/>
          <a:p>
            <a:r>
              <a:rPr lang="zh-TW" altLang="en-US" dirty="0" smtClean="0"/>
              <a:t>過去 </a:t>
            </a:r>
            <a:r>
              <a:rPr lang="en-US" altLang="zh-TW" dirty="0" smtClean="0"/>
              <a:t>proxy users – designers role play as users to elicit their requirements. </a:t>
            </a:r>
          </a:p>
          <a:p>
            <a:pPr lvl="1"/>
            <a:r>
              <a:rPr lang="zh-TW" altLang="en-US" dirty="0" smtClean="0"/>
              <a:t>由</a:t>
            </a:r>
            <a:r>
              <a:rPr lang="en-US" altLang="zh-TW" dirty="0" smtClean="0"/>
              <a:t>high-level managers</a:t>
            </a:r>
            <a:r>
              <a:rPr lang="zh-TW" altLang="en-US" dirty="0" smtClean="0"/>
              <a:t>來決定</a:t>
            </a:r>
            <a:r>
              <a:rPr lang="en-US" altLang="zh-TW" dirty="0" smtClean="0"/>
              <a:t>user</a:t>
            </a:r>
            <a:r>
              <a:rPr lang="zh-TW" altLang="en-US" dirty="0" smtClean="0"/>
              <a:t>的需求 </a:t>
            </a:r>
            <a:r>
              <a:rPr lang="en-US" altLang="zh-TW" dirty="0" smtClean="0"/>
              <a:t>(e.g. E-learn</a:t>
            </a:r>
            <a:r>
              <a:rPr lang="zh-TW" altLang="en-US" dirty="0" smtClean="0"/>
              <a:t>系統訪談。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E.g. Bank system: users need to key in the buyer name and code.</a:t>
            </a:r>
          </a:p>
          <a:p>
            <a:r>
              <a:rPr lang="en-US" altLang="zh-TW" dirty="0" smtClean="0"/>
              <a:t>Involve users</a:t>
            </a:r>
            <a:r>
              <a:rPr lang="zh-TW" altLang="en-US" dirty="0" smtClean="0"/>
              <a:t> 的重要性</a:t>
            </a:r>
            <a:r>
              <a:rPr lang="en-US" altLang="zh-TW" dirty="0" smtClean="0"/>
              <a:t>:</a:t>
            </a:r>
          </a:p>
          <a:p>
            <a:pPr lvl="1"/>
            <a:r>
              <a:rPr lang="en-US" altLang="zh-TW" dirty="0" smtClean="0"/>
              <a:t>Better understand user’s goals</a:t>
            </a:r>
          </a:p>
          <a:p>
            <a:pPr lvl="1"/>
            <a:r>
              <a:rPr lang="en-US" altLang="zh-TW" dirty="0" smtClean="0"/>
              <a:t>Produce more usable product</a:t>
            </a:r>
          </a:p>
          <a:p>
            <a:pPr lvl="1"/>
            <a:r>
              <a:rPr lang="en-US" altLang="zh-TW" dirty="0" smtClean="0"/>
              <a:t>Expectation management</a:t>
            </a:r>
            <a:r>
              <a:rPr lang="zh-TW" altLang="en-US" dirty="0" smtClean="0"/>
              <a:t> 確認產品符合使用者預期</a:t>
            </a:r>
            <a:endParaRPr lang="en-US" altLang="zh-TW" dirty="0" smtClean="0"/>
          </a:p>
          <a:p>
            <a:pPr lvl="2"/>
            <a:r>
              <a:rPr lang="en-US" altLang="zh-TW" dirty="0" smtClean="0"/>
              <a:t>Can see product’s capabilities</a:t>
            </a:r>
            <a:r>
              <a:rPr lang="zh-TW" altLang="en-US" dirty="0" smtClean="0"/>
              <a:t> </a:t>
            </a:r>
            <a:r>
              <a:rPr lang="en-US" altLang="zh-TW" dirty="0" smtClean="0"/>
              <a:t>(E-learn</a:t>
            </a:r>
            <a:r>
              <a:rPr lang="zh-TW" altLang="en-US" dirty="0" smtClean="0"/>
              <a:t>系統提供哪些功能</a:t>
            </a:r>
            <a:r>
              <a:rPr lang="en-US" altLang="zh-TW" dirty="0" smtClean="0"/>
              <a:t>)</a:t>
            </a:r>
          </a:p>
          <a:p>
            <a:pPr lvl="2"/>
            <a:r>
              <a:rPr lang="en-US" altLang="zh-TW" dirty="0" smtClean="0"/>
              <a:t>How it will affect their jobs and lives (</a:t>
            </a:r>
            <a:r>
              <a:rPr lang="zh-TW" altLang="en-US" dirty="0" smtClean="0"/>
              <a:t>不需面對面授課</a:t>
            </a:r>
            <a:r>
              <a:rPr lang="en-US" altLang="zh-TW" dirty="0" smtClean="0"/>
              <a:t>)</a:t>
            </a:r>
          </a:p>
          <a:p>
            <a:pPr lvl="2"/>
            <a:r>
              <a:rPr lang="en-US" altLang="zh-TW" dirty="0" smtClean="0"/>
              <a:t>What they can expect to do with the product</a:t>
            </a:r>
            <a:r>
              <a:rPr lang="zh-TW" altLang="en-US" dirty="0" smtClean="0"/>
              <a:t> </a:t>
            </a:r>
            <a:r>
              <a:rPr lang="en-US" altLang="zh-TW" dirty="0" smtClean="0"/>
              <a:t>(</a:t>
            </a:r>
            <a:r>
              <a:rPr lang="zh-TW" altLang="en-US" dirty="0" smtClean="0"/>
              <a:t>操作方式</a:t>
            </a:r>
            <a:r>
              <a:rPr lang="en-US" altLang="zh-TW" dirty="0" smtClean="0"/>
              <a:t>)</a:t>
            </a:r>
          </a:p>
          <a:p>
            <a:pPr lvl="1"/>
            <a:r>
              <a:rPr lang="en-US" altLang="zh-TW" dirty="0" smtClean="0"/>
              <a:t>Feel a sense of ownership (</a:t>
            </a:r>
            <a:r>
              <a:rPr lang="zh-TW" altLang="en-US" dirty="0" smtClean="0"/>
              <a:t>覺得自己有所貢獻，癩痢頭兒子</a:t>
            </a:r>
            <a:r>
              <a:rPr lang="en-US" altLang="zh-TW" dirty="0" smtClean="0"/>
              <a:t>)</a:t>
            </a:r>
          </a:p>
          <a:p>
            <a:pPr lvl="1"/>
            <a:endParaRPr lang="en-US" altLang="zh-TW" dirty="0" smtClean="0"/>
          </a:p>
          <a:p>
            <a:endParaRPr lang="en-US" altLang="zh-TW" dirty="0" smtClean="0"/>
          </a:p>
          <a:p>
            <a:pPr>
              <a:buNone/>
            </a:pPr>
            <a:endParaRPr lang="en-US" altLang="zh-TW" dirty="0" smtClean="0"/>
          </a:p>
          <a:p>
            <a:pPr>
              <a:buNone/>
            </a:pPr>
            <a:endParaRPr lang="en-US" altLang="zh-TW" dirty="0" smtClean="0"/>
          </a:p>
          <a:p>
            <a:pPr>
              <a:buNone/>
            </a:pPr>
            <a:endParaRPr lang="zh-TW" altLang="en-US" dirty="0"/>
          </a:p>
        </p:txBody>
      </p:sp>
      <p:sp>
        <p:nvSpPr>
          <p:cNvPr id="5" name="標題 1"/>
          <p:cNvSpPr txBox="1">
            <a:spLocks/>
          </p:cNvSpPr>
          <p:nvPr/>
        </p:nvSpPr>
        <p:spPr>
          <a:xfrm>
            <a:off x="457200" y="-315416"/>
            <a:ext cx="7787208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2800" b="1" i="0" u="none" strike="noStrike" kern="1200" cap="all" spc="0" normalizeH="0" baseline="0" noProof="0" dirty="0" smtClean="0">
                <a:ln w="500">
                  <a:solidFill>
                    <a:schemeClr val="tx2">
                      <a:shade val="20000"/>
                      <a:satMod val="120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  <a:uLnTx/>
                <a:uFillTx/>
                <a:latin typeface="+mj-lt"/>
                <a:ea typeface="+mj-ea"/>
                <a:cs typeface="+mj-cs"/>
              </a:rPr>
              <a:t>9.2.1 The importance of involving users</a:t>
            </a:r>
            <a:endParaRPr kumimoji="0" lang="zh-TW" altLang="en-US" sz="2800" b="1" i="0" u="none" strike="noStrike" kern="1200" cap="all" spc="0" normalizeH="0" baseline="0" noProof="0" dirty="0">
              <a:ln w="500">
                <a:solidFill>
                  <a:schemeClr val="tx2">
                    <a:shade val="20000"/>
                    <a:satMod val="120000"/>
                  </a:schemeClr>
                </a:solidFill>
              </a:ln>
              <a:gradFill>
                <a:gsLst>
                  <a:gs pos="0">
                    <a:schemeClr val="accent4">
                      <a:tint val="13000"/>
                    </a:schemeClr>
                  </a:gs>
                  <a:gs pos="10000">
                    <a:schemeClr val="accent4">
                      <a:tint val="20000"/>
                    </a:schemeClr>
                  </a:gs>
                  <a:gs pos="49000">
                    <a:schemeClr val="accent4">
                      <a:tint val="70000"/>
                    </a:schemeClr>
                  </a:gs>
                  <a:gs pos="50000">
                    <a:schemeClr val="accent4">
                      <a:tint val="97000"/>
                    </a:schemeClr>
                  </a:gs>
                  <a:gs pos="100000">
                    <a:schemeClr val="accent4">
                      <a:tint val="20000"/>
                    </a:schemeClr>
                  </a:gs>
                </a:gsLst>
                <a:lin ang="5400000" scaled="1"/>
              </a:gra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AD0B3-31E6-4ADF-A443-48097A60ADE2}" type="slidenum">
              <a:rPr lang="zh-TW" altLang="en-US" smtClean="0"/>
              <a:pPr/>
              <a:t>5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0" y="-714404"/>
            <a:ext cx="9144000" cy="1143000"/>
          </a:xfrm>
        </p:spPr>
        <p:txBody>
          <a:bodyPr>
            <a:normAutofit/>
          </a:bodyPr>
          <a:lstStyle/>
          <a:p>
            <a:r>
              <a:rPr lang="en-US" altLang="zh-TW" sz="2800" dirty="0" smtClean="0"/>
              <a:t>9.2.2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Degrees of user involvement </a:t>
            </a:r>
            <a:r>
              <a:rPr lang="zh-TW" altLang="en-US" sz="2800" dirty="0" smtClean="0"/>
              <a:t>參與方式與程度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642918"/>
            <a:ext cx="7859216" cy="6000768"/>
          </a:xfrm>
        </p:spPr>
        <p:txBody>
          <a:bodyPr>
            <a:noAutofit/>
          </a:bodyPr>
          <a:lstStyle/>
          <a:p>
            <a:r>
              <a:rPr lang="zh-TW" altLang="en-US" sz="2000" dirty="0" smtClean="0"/>
              <a:t>使用者派代表全程參與設計團隊 </a:t>
            </a:r>
            <a:r>
              <a:rPr lang="en-US" altLang="zh-TW" sz="2000" dirty="0" smtClean="0"/>
              <a:t>(Full-time)</a:t>
            </a:r>
          </a:p>
          <a:p>
            <a:pPr lvl="1"/>
            <a:r>
              <a:rPr lang="en-US" altLang="zh-TW" sz="2000" dirty="0" smtClean="0"/>
              <a:t>consistent input</a:t>
            </a:r>
          </a:p>
          <a:p>
            <a:pPr lvl="1"/>
            <a:r>
              <a:rPr lang="en-US" altLang="zh-TW" sz="2000" dirty="0" smtClean="0"/>
              <a:t>Very familiar with the system</a:t>
            </a:r>
          </a:p>
          <a:p>
            <a:pPr lvl="1"/>
            <a:r>
              <a:rPr lang="en-US" altLang="zh-TW" sz="2000" dirty="0" smtClean="0"/>
              <a:t>Lost touch with the user groups</a:t>
            </a:r>
          </a:p>
          <a:p>
            <a:r>
              <a:rPr lang="zh-TW" altLang="en-US" sz="2000" dirty="0" smtClean="0"/>
              <a:t>使用者代表為 </a:t>
            </a:r>
            <a:r>
              <a:rPr lang="en-US" altLang="zh-TW" sz="2000" dirty="0" smtClean="0"/>
              <a:t>Part-time</a:t>
            </a:r>
            <a:r>
              <a:rPr lang="zh-TW" altLang="en-US" sz="2000" dirty="0" smtClean="0"/>
              <a:t>性質</a:t>
            </a:r>
            <a:endParaRPr lang="en-US" altLang="zh-TW" sz="2000" dirty="0" smtClean="0"/>
          </a:p>
          <a:p>
            <a:pPr lvl="1"/>
            <a:r>
              <a:rPr lang="en-US" altLang="zh-TW" sz="2000" dirty="0" smtClean="0"/>
              <a:t>Consistent input</a:t>
            </a:r>
          </a:p>
          <a:p>
            <a:pPr lvl="1"/>
            <a:r>
              <a:rPr lang="en-US" altLang="zh-TW" sz="2000" dirty="0" smtClean="0"/>
              <a:t>Remaining in touch with other users</a:t>
            </a:r>
          </a:p>
          <a:p>
            <a:pPr lvl="1"/>
            <a:r>
              <a:rPr lang="zh-TW" altLang="en-US" sz="2000" dirty="0" smtClean="0"/>
              <a:t>兩邊出力 </a:t>
            </a:r>
            <a:r>
              <a:rPr lang="en-US" altLang="zh-TW" sz="2000" dirty="0" smtClean="0"/>
              <a:t>(unfamiliar materials)</a:t>
            </a:r>
          </a:p>
          <a:p>
            <a:r>
              <a:rPr lang="zh-TW" altLang="en-US" sz="2000" dirty="0" smtClean="0"/>
              <a:t>數百千個</a:t>
            </a:r>
            <a:r>
              <a:rPr lang="en-US" altLang="zh-TW" sz="2000" dirty="0" smtClean="0"/>
              <a:t>USER</a:t>
            </a:r>
          </a:p>
          <a:p>
            <a:pPr lvl="1"/>
            <a:r>
              <a:rPr lang="en-US" altLang="zh-TW" sz="2000" dirty="0" smtClean="0"/>
              <a:t>Representative from each group</a:t>
            </a:r>
          </a:p>
          <a:p>
            <a:pPr lvl="1"/>
            <a:r>
              <a:rPr lang="en-US" altLang="zh-TW" sz="2000" dirty="0" smtClean="0"/>
              <a:t>Other users involved through design workshops, evaluation sessions, data gathering activities…</a:t>
            </a:r>
          </a:p>
          <a:p>
            <a:r>
              <a:rPr lang="en-US" altLang="zh-TW" sz="2000" dirty="0" smtClean="0"/>
              <a:t>If the end-user groups are identifiable, it’s easier to involve users. </a:t>
            </a:r>
            <a:r>
              <a:rPr lang="en-US" altLang="zh-TW" sz="2000" dirty="0" smtClean="0">
                <a:solidFill>
                  <a:srgbClr val="00B0F0"/>
                </a:solidFill>
              </a:rPr>
              <a:t>(case study: paper prototype, software prototype)</a:t>
            </a:r>
          </a:p>
          <a:p>
            <a:r>
              <a:rPr lang="en-US" altLang="zh-TW" sz="2000" dirty="0" smtClean="0"/>
              <a:t>When design for open-market, you won’t able to find a co-opt user. (see BOX9.4)</a:t>
            </a:r>
            <a:endParaRPr lang="en-US" altLang="zh-TW" sz="2000" dirty="0" smtClean="0">
              <a:solidFill>
                <a:schemeClr val="tx2">
                  <a:lumMod val="60000"/>
                  <a:lumOff val="40000"/>
                </a:schemeClr>
              </a:solidFill>
            </a:endParaRPr>
          </a:p>
          <a:p>
            <a:pPr lvl="1"/>
            <a:endParaRPr lang="zh-TW" altLang="en-US" sz="20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AD0B3-31E6-4ADF-A443-48097A60ADE2}" type="slidenum">
              <a:rPr lang="zh-TW" altLang="en-US" smtClean="0"/>
              <a:pPr/>
              <a:t>6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85728"/>
            <a:ext cx="7239000" cy="6170008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altLang="zh-TW" dirty="0" smtClean="0"/>
              <a:t>BOX9.4</a:t>
            </a:r>
          </a:p>
          <a:p>
            <a:pPr>
              <a:buNone/>
            </a:pPr>
            <a:r>
              <a:rPr lang="zh-TW" altLang="en-US" dirty="0" smtClean="0"/>
              <a:t>產品上市後的</a:t>
            </a:r>
            <a:r>
              <a:rPr lang="en-US" altLang="zh-TW" dirty="0" smtClean="0"/>
              <a:t>user involvement:</a:t>
            </a:r>
            <a:r>
              <a:rPr lang="zh-TW" altLang="en-US" dirty="0" smtClean="0"/>
              <a:t> 客服回報，系統自動回報</a:t>
            </a:r>
            <a:endParaRPr lang="en-US" altLang="zh-TW" dirty="0" smtClean="0"/>
          </a:p>
          <a:p>
            <a:pPr>
              <a:buNone/>
            </a:pPr>
            <a:r>
              <a:rPr lang="en-US" altLang="zh-TW" dirty="0" smtClean="0"/>
              <a:t>How </a:t>
            </a:r>
            <a:r>
              <a:rPr lang="en-US" altLang="zh-TW" sz="2800" dirty="0" smtClean="0"/>
              <a:t>Microsoft involve users</a:t>
            </a:r>
          </a:p>
          <a:p>
            <a:pPr lvl="1"/>
            <a:r>
              <a:rPr lang="en-US" altLang="zh-TW" dirty="0" smtClean="0"/>
              <a:t>Activity-based planning</a:t>
            </a:r>
            <a:r>
              <a:rPr lang="zh-TW" altLang="en-US" dirty="0" smtClean="0"/>
              <a:t>，研究</a:t>
            </a:r>
            <a:r>
              <a:rPr lang="en-US" altLang="zh-TW" dirty="0" smtClean="0"/>
              <a:t>USER</a:t>
            </a:r>
            <a:r>
              <a:rPr lang="zh-TW" altLang="en-US" dirty="0" smtClean="0"/>
              <a:t>如何進行某項活動，用此資料來做為系統功能的選擇依據</a:t>
            </a:r>
            <a:endParaRPr lang="en-US" altLang="zh-TW" dirty="0" smtClean="0"/>
          </a:p>
          <a:p>
            <a:pPr lvl="1"/>
            <a:r>
              <a:rPr lang="en-US" altLang="zh-TW" dirty="0" smtClean="0"/>
              <a:t>Each activity can be broken down into sub-activities. </a:t>
            </a:r>
          </a:p>
          <a:p>
            <a:pPr lvl="1"/>
            <a:r>
              <a:rPr lang="zh-TW" altLang="en-US" dirty="0" smtClean="0"/>
              <a:t>需求的功能被記錄，並與</a:t>
            </a:r>
            <a:r>
              <a:rPr lang="en-US" altLang="zh-TW" dirty="0" smtClean="0"/>
              <a:t>activity</a:t>
            </a:r>
            <a:r>
              <a:rPr lang="zh-TW" altLang="en-US" dirty="0" smtClean="0"/>
              <a:t>配對</a:t>
            </a:r>
            <a:endParaRPr lang="en-US" altLang="zh-TW" dirty="0" smtClean="0"/>
          </a:p>
          <a:p>
            <a:r>
              <a:rPr lang="en-US" altLang="zh-TW" dirty="0" smtClean="0"/>
              <a:t>Contextual inquiry (</a:t>
            </a:r>
            <a:r>
              <a:rPr lang="zh-TW" altLang="en-US" dirty="0" smtClean="0"/>
              <a:t>費時</a:t>
            </a:r>
            <a:r>
              <a:rPr lang="en-US" altLang="zh-TW" dirty="0" smtClean="0"/>
              <a:t>)</a:t>
            </a:r>
          </a:p>
          <a:p>
            <a:r>
              <a:rPr lang="en-US" altLang="zh-TW" dirty="0" smtClean="0"/>
              <a:t>Usability tests in lab (10 users)</a:t>
            </a:r>
          </a:p>
          <a:p>
            <a:r>
              <a:rPr lang="en-US" altLang="zh-TW" dirty="0" smtClean="0"/>
              <a:t>Internal test</a:t>
            </a:r>
          </a:p>
          <a:p>
            <a:r>
              <a:rPr lang="en-US" altLang="zh-TW" dirty="0" smtClean="0"/>
              <a:t>Customer support call (yahoo </a:t>
            </a:r>
            <a:r>
              <a:rPr lang="zh-TW" altLang="en-US" dirty="0" smtClean="0"/>
              <a:t>一年花費於此</a:t>
            </a:r>
            <a:r>
              <a:rPr lang="en-US" altLang="zh-TW" dirty="0" smtClean="0"/>
              <a:t>??)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AD0B3-31E6-4ADF-A443-48097A60ADE2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Rectangle 2"/>
          <p:cNvSpPr>
            <a:spLocks noChangeArrowheads="1"/>
          </p:cNvSpPr>
          <p:nvPr/>
        </p:nvSpPr>
        <p:spPr bwMode="auto">
          <a:xfrm>
            <a:off x="703385" y="6248400"/>
            <a:ext cx="189913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58723" name="Rectangle 3"/>
          <p:cNvSpPr>
            <a:spLocks noChangeArrowheads="1"/>
          </p:cNvSpPr>
          <p:nvPr/>
        </p:nvSpPr>
        <p:spPr bwMode="auto">
          <a:xfrm>
            <a:off x="3165231" y="6248400"/>
            <a:ext cx="281353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58724" name="Rectangle 4"/>
          <p:cNvSpPr>
            <a:spLocks noChangeArrowheads="1"/>
          </p:cNvSpPr>
          <p:nvPr/>
        </p:nvSpPr>
        <p:spPr bwMode="auto">
          <a:xfrm>
            <a:off x="703385" y="6248400"/>
            <a:ext cx="189913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58725" name="Rectangle 5"/>
          <p:cNvSpPr>
            <a:spLocks noChangeArrowheads="1"/>
          </p:cNvSpPr>
          <p:nvPr/>
        </p:nvSpPr>
        <p:spPr bwMode="auto">
          <a:xfrm>
            <a:off x="3165231" y="6248400"/>
            <a:ext cx="281353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58726" name="Rectangle 6"/>
          <p:cNvSpPr>
            <a:spLocks noGrp="1" noChangeArrowheads="1"/>
          </p:cNvSpPr>
          <p:nvPr>
            <p:ph type="title"/>
          </p:nvPr>
        </p:nvSpPr>
        <p:spPr>
          <a:xfrm>
            <a:off x="285720" y="142852"/>
            <a:ext cx="8454925" cy="520655"/>
          </a:xfrm>
          <a:noFill/>
          <a:ln/>
        </p:spPr>
        <p:txBody>
          <a:bodyPr wrap="square" lIns="90488" tIns="44450" rIns="90488" bIns="44450">
            <a:spAutoFit/>
          </a:bodyPr>
          <a:lstStyle/>
          <a:p>
            <a:r>
              <a:rPr lang="en-US" altLang="zh-TW" sz="2800" dirty="0" smtClean="0">
                <a:ea typeface="新細明體" pitchFamily="18" charset="-120"/>
              </a:rPr>
              <a:t>9.2.3 what is a user centered approach?</a:t>
            </a:r>
            <a:endParaRPr lang="en-US" altLang="zh-TW" sz="2800" i="1" dirty="0">
              <a:ea typeface="新細明體" pitchFamily="18" charset="-120"/>
            </a:endParaRPr>
          </a:p>
        </p:txBody>
      </p:sp>
      <p:sp>
        <p:nvSpPr>
          <p:cNvPr id="158727" name="Rectangle 7"/>
          <p:cNvSpPr>
            <a:spLocks noGrp="1" noChangeArrowheads="1"/>
          </p:cNvSpPr>
          <p:nvPr>
            <p:ph idx="1"/>
          </p:nvPr>
        </p:nvSpPr>
        <p:spPr>
          <a:xfrm>
            <a:off x="844061" y="914400"/>
            <a:ext cx="6963508" cy="4876800"/>
          </a:xfrm>
          <a:noFill/>
          <a:ln/>
        </p:spPr>
        <p:txBody>
          <a:bodyPr lIns="90488" tIns="44450" rIns="90488" bIns="44450"/>
          <a:lstStyle/>
          <a:p>
            <a:endParaRPr lang="zh-TW" altLang="en-US" dirty="0">
              <a:solidFill>
                <a:srgbClr val="000000"/>
              </a:solidFill>
              <a:ea typeface="新細明體" pitchFamily="18" charset="-120"/>
            </a:endParaRPr>
          </a:p>
          <a:p>
            <a:endParaRPr lang="zh-TW" altLang="en-US" dirty="0">
              <a:ea typeface="新細明體" pitchFamily="18" charset="-120"/>
            </a:endParaRPr>
          </a:p>
        </p:txBody>
      </p:sp>
      <p:sp>
        <p:nvSpPr>
          <p:cNvPr id="158728" name="Rectangle 8"/>
          <p:cNvSpPr>
            <a:spLocks noChangeArrowheads="1"/>
          </p:cNvSpPr>
          <p:nvPr/>
        </p:nvSpPr>
        <p:spPr bwMode="auto">
          <a:xfrm>
            <a:off x="323528" y="1196752"/>
            <a:ext cx="7920880" cy="471013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>
              <a:spcBef>
                <a:spcPts val="600"/>
              </a:spcBef>
            </a:pPr>
            <a:r>
              <a:rPr lang="en-GB" sz="2400" b="0" dirty="0">
                <a:latin typeface="Verdana" pitchFamily="34" charset="0"/>
              </a:rPr>
              <a:t>Three key </a:t>
            </a:r>
            <a:r>
              <a:rPr lang="en-GB" sz="2400" b="0" dirty="0" smtClean="0">
                <a:latin typeface="Verdana" pitchFamily="34" charset="0"/>
              </a:rPr>
              <a:t>characteristics</a:t>
            </a:r>
            <a:r>
              <a:rPr lang="en-US" sz="2400" dirty="0" smtClean="0">
                <a:latin typeface="Verdana" pitchFamily="34" charset="0"/>
              </a:rPr>
              <a:t> </a:t>
            </a:r>
            <a:r>
              <a:rPr lang="en-US" sz="2400" dirty="0" smtClean="0">
                <a:solidFill>
                  <a:srgbClr val="C00000"/>
                </a:solidFill>
                <a:latin typeface="Verdana" pitchFamily="34" charset="0"/>
              </a:rPr>
              <a:t>(UC approach </a:t>
            </a:r>
            <a:r>
              <a:rPr lang="zh-TW" altLang="en-US" sz="2400" dirty="0" smtClean="0">
                <a:solidFill>
                  <a:srgbClr val="C00000"/>
                </a:solidFill>
                <a:latin typeface="Verdana" pitchFamily="34" charset="0"/>
              </a:rPr>
              <a:t>基礎</a:t>
            </a:r>
            <a:r>
              <a:rPr lang="en-US" altLang="zh-TW" sz="2400" dirty="0" smtClean="0">
                <a:solidFill>
                  <a:srgbClr val="C00000"/>
                </a:solidFill>
                <a:latin typeface="Verdana" pitchFamily="34" charset="0"/>
              </a:rPr>
              <a:t>)</a:t>
            </a:r>
            <a:endParaRPr lang="en-GB" sz="2400" b="0" dirty="0" smtClean="0">
              <a:solidFill>
                <a:srgbClr val="C00000"/>
              </a:solidFill>
              <a:latin typeface="Verdana" pitchFamily="34" charset="0"/>
            </a:endParaRPr>
          </a:p>
          <a:p>
            <a:pPr marL="514350" indent="-514350">
              <a:spcBef>
                <a:spcPts val="600"/>
              </a:spcBef>
            </a:pPr>
            <a:r>
              <a:rPr lang="en-GB" sz="2400" b="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Verdana" pitchFamily="34" charset="0"/>
              </a:rPr>
              <a:t>1. Early focus on users and tasks</a:t>
            </a:r>
          </a:p>
          <a:p>
            <a:pPr marL="971550" lvl="1" indent="-514350">
              <a:spcBef>
                <a:spcPts val="600"/>
              </a:spcBef>
              <a:buFont typeface="Arial" pitchFamily="34" charset="0"/>
              <a:buChar char="•"/>
            </a:pPr>
            <a:r>
              <a:rPr lang="zh-TW" altLang="en-US" sz="2000" b="0" dirty="0" smtClean="0">
                <a:latin typeface="Verdana" pitchFamily="34" charset="0"/>
              </a:rPr>
              <a:t>分析了解</a:t>
            </a:r>
            <a:r>
              <a:rPr lang="en-US" altLang="zh-TW" sz="2000" b="0" dirty="0" smtClean="0">
                <a:latin typeface="Verdana" pitchFamily="34" charset="0"/>
              </a:rPr>
              <a:t>USER</a:t>
            </a:r>
            <a:r>
              <a:rPr lang="zh-TW" altLang="en-US" sz="2000" b="0" dirty="0" smtClean="0">
                <a:latin typeface="Verdana" pitchFamily="34" charset="0"/>
              </a:rPr>
              <a:t>特性 </a:t>
            </a:r>
            <a:r>
              <a:rPr lang="en-US" altLang="zh-TW" sz="2000" b="0" dirty="0" smtClean="0">
                <a:latin typeface="Verdana" pitchFamily="34" charset="0"/>
              </a:rPr>
              <a:t>(cognitive, behavioral, attitudinal)</a:t>
            </a:r>
            <a:r>
              <a:rPr lang="zh-TW" altLang="en-US" sz="2000" b="0" dirty="0" smtClean="0">
                <a:latin typeface="Verdana" pitchFamily="34" charset="0"/>
              </a:rPr>
              <a:t>。</a:t>
            </a:r>
            <a:endParaRPr lang="en-US" altLang="zh-TW" sz="2000" b="0" dirty="0" smtClean="0">
              <a:solidFill>
                <a:srgbClr val="0070C0"/>
              </a:solidFill>
              <a:latin typeface="Verdana" pitchFamily="34" charset="0"/>
            </a:endParaRPr>
          </a:p>
          <a:p>
            <a:pPr marL="971550" lvl="1" indent="-514350">
              <a:spcBef>
                <a:spcPts val="600"/>
              </a:spcBef>
              <a:buFont typeface="Arial" pitchFamily="34" charset="0"/>
              <a:buChar char="•"/>
            </a:pPr>
            <a:r>
              <a:rPr lang="zh-TW" altLang="en-US" sz="2000" dirty="0" smtClean="0">
                <a:latin typeface="Verdana" pitchFamily="34" charset="0"/>
              </a:rPr>
              <a:t>了解其日常工作</a:t>
            </a:r>
            <a:r>
              <a:rPr lang="en-US" altLang="zh-TW" sz="2000" dirty="0" smtClean="0">
                <a:latin typeface="Verdana" pitchFamily="34" charset="0"/>
              </a:rPr>
              <a:t>tasks (</a:t>
            </a:r>
            <a:r>
              <a:rPr lang="zh-TW" altLang="en-US" sz="2000" dirty="0" smtClean="0">
                <a:latin typeface="Verdana" pitchFamily="34" charset="0"/>
              </a:rPr>
              <a:t>如何操作手術系統</a:t>
            </a:r>
            <a:r>
              <a:rPr lang="en-US" altLang="zh-TW" sz="2000" dirty="0" smtClean="0">
                <a:latin typeface="Verdana" pitchFamily="34" charset="0"/>
              </a:rPr>
              <a:t>)</a:t>
            </a:r>
            <a:r>
              <a:rPr lang="zh-TW" altLang="en-US" sz="2000" dirty="0" smtClean="0">
                <a:solidFill>
                  <a:srgbClr val="0070C0"/>
                </a:solidFill>
                <a:latin typeface="Verdana" pitchFamily="34" charset="0"/>
              </a:rPr>
              <a:t>進行</a:t>
            </a:r>
            <a:r>
              <a:rPr lang="en-US" altLang="zh-TW" sz="2000" dirty="0" smtClean="0">
                <a:solidFill>
                  <a:srgbClr val="0070C0"/>
                </a:solidFill>
                <a:latin typeface="Verdana" pitchFamily="34" charset="0"/>
              </a:rPr>
              <a:t>Field study</a:t>
            </a:r>
            <a:r>
              <a:rPr lang="zh-TW" altLang="en-US" sz="2000" dirty="0" smtClean="0">
                <a:solidFill>
                  <a:srgbClr val="0070C0"/>
                </a:solidFill>
                <a:latin typeface="Verdana" pitchFamily="34" charset="0"/>
              </a:rPr>
              <a:t>來蒐集資料</a:t>
            </a:r>
            <a:endParaRPr lang="en-US" altLang="zh-TW" sz="2000" dirty="0" smtClean="0">
              <a:latin typeface="Verdana" pitchFamily="34" charset="0"/>
            </a:endParaRPr>
          </a:p>
          <a:p>
            <a:pPr marL="971550" lvl="1" indent="-514350">
              <a:spcBef>
                <a:spcPts val="600"/>
              </a:spcBef>
              <a:buFont typeface="Arial" pitchFamily="34" charset="0"/>
              <a:buChar char="•"/>
            </a:pPr>
            <a:r>
              <a:rPr lang="zh-TW" altLang="en-US" sz="2000" b="0" dirty="0" smtClean="0">
                <a:latin typeface="Verdana" pitchFamily="34" charset="0"/>
              </a:rPr>
              <a:t>請他們一起設計</a:t>
            </a:r>
            <a:endParaRPr lang="en-GB" sz="2000" b="0" dirty="0" smtClean="0">
              <a:latin typeface="Verdana" pitchFamily="34" charset="0"/>
            </a:endParaRPr>
          </a:p>
          <a:p>
            <a:pPr marL="514350" indent="-514350">
              <a:spcBef>
                <a:spcPts val="600"/>
              </a:spcBef>
            </a:pPr>
            <a:r>
              <a:rPr lang="en-GB" sz="2400" b="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Verdana" pitchFamily="34" charset="0"/>
              </a:rPr>
              <a:t>2. Empirical measurement</a:t>
            </a:r>
            <a:r>
              <a:rPr lang="zh-TW" altLang="en-US" sz="2400" b="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Verdana" pitchFamily="34" charset="0"/>
              </a:rPr>
              <a:t> 使用性測試</a:t>
            </a:r>
            <a:endParaRPr lang="en-GB" sz="2400" b="0" dirty="0" smtClean="0">
              <a:solidFill>
                <a:schemeClr val="accent1">
                  <a:lumMod val="60000"/>
                  <a:lumOff val="40000"/>
                </a:schemeClr>
              </a:solidFill>
              <a:latin typeface="Verdana" pitchFamily="34" charset="0"/>
            </a:endParaRPr>
          </a:p>
          <a:p>
            <a:pPr marL="514350" indent="-514350">
              <a:spcBef>
                <a:spcPts val="600"/>
              </a:spcBef>
            </a:pPr>
            <a:r>
              <a:rPr lang="zh-TW" altLang="en-US" sz="2400" dirty="0" smtClean="0">
                <a:latin typeface="Verdana" pitchFamily="34" charset="0"/>
              </a:rPr>
              <a:t>觀察記錄使用者反應 </a:t>
            </a:r>
            <a:r>
              <a:rPr lang="en-US" altLang="zh-TW" sz="2400" dirty="0" smtClean="0">
                <a:latin typeface="Verdana" pitchFamily="34" charset="0"/>
              </a:rPr>
              <a:t>(</a:t>
            </a:r>
            <a:r>
              <a:rPr lang="zh-TW" altLang="en-US" sz="2400" dirty="0" smtClean="0">
                <a:latin typeface="Verdana" pitchFamily="34" charset="0"/>
              </a:rPr>
              <a:t>提供</a:t>
            </a:r>
            <a:r>
              <a:rPr lang="en-US" altLang="zh-TW" sz="2400" dirty="0" smtClean="0">
                <a:latin typeface="Verdana" pitchFamily="34" charset="0"/>
              </a:rPr>
              <a:t>simulation and prototype </a:t>
            </a:r>
            <a:r>
              <a:rPr lang="zh-TW" altLang="en-US" sz="2400" dirty="0" smtClean="0">
                <a:latin typeface="Verdana" pitchFamily="34" charset="0"/>
              </a:rPr>
              <a:t>進行測試</a:t>
            </a:r>
            <a:r>
              <a:rPr lang="en-US" altLang="zh-TW" sz="2400" dirty="0" smtClean="0">
                <a:latin typeface="Verdana" pitchFamily="34" charset="0"/>
              </a:rPr>
              <a:t>)</a:t>
            </a:r>
            <a:endParaRPr lang="en-GB" sz="2400" dirty="0" smtClean="0">
              <a:latin typeface="Verdana" pitchFamily="34" charset="0"/>
            </a:endParaRPr>
          </a:p>
          <a:p>
            <a:pPr marL="514350" indent="-514350">
              <a:spcBef>
                <a:spcPts val="600"/>
              </a:spcBef>
            </a:pPr>
            <a:r>
              <a:rPr lang="en-GB" sz="24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Verdana" pitchFamily="34" charset="0"/>
              </a:rPr>
              <a:t>3. Iterative design</a:t>
            </a:r>
            <a:r>
              <a:rPr lang="zh-TW" altLang="en-US" sz="24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Verdana" pitchFamily="34" charset="0"/>
              </a:rPr>
              <a:t> 循環式設計</a:t>
            </a:r>
            <a:endParaRPr lang="en-GB" sz="2400" dirty="0" smtClean="0">
              <a:solidFill>
                <a:schemeClr val="accent1">
                  <a:lumMod val="60000"/>
                  <a:lumOff val="40000"/>
                </a:schemeClr>
              </a:solidFill>
              <a:latin typeface="Verdana" pitchFamily="34" charset="0"/>
            </a:endParaRPr>
          </a:p>
          <a:p>
            <a:pPr marL="514350" indent="-514350">
              <a:spcBef>
                <a:spcPts val="600"/>
              </a:spcBef>
            </a:pPr>
            <a:r>
              <a:rPr lang="zh-TW" altLang="en-US" sz="2400" dirty="0" smtClean="0">
                <a:latin typeface="Verdana" pitchFamily="34" charset="0"/>
              </a:rPr>
              <a:t>不斷根據回饋來修改</a:t>
            </a:r>
            <a:r>
              <a:rPr lang="zh-TW" altLang="en-US" sz="2400" b="0" dirty="0" smtClean="0">
                <a:latin typeface="Verdana" pitchFamily="34" charset="0"/>
              </a:rPr>
              <a:t>設計 </a:t>
            </a:r>
            <a:r>
              <a:rPr lang="en-US" sz="2400" b="0" dirty="0" smtClean="0">
                <a:latin typeface="Verdana" pitchFamily="34" charset="0"/>
              </a:rPr>
              <a:t>Design-test-measure-redesign</a:t>
            </a:r>
            <a:endParaRPr lang="en-GB" sz="2400" b="0" dirty="0">
              <a:latin typeface="Verdana" pitchFamily="34" charset="0"/>
            </a:endParaRPr>
          </a:p>
          <a:p>
            <a:pPr>
              <a:spcBef>
                <a:spcPts val="600"/>
              </a:spcBef>
            </a:pPr>
            <a:endParaRPr lang="en-GB" sz="2400" b="0" dirty="0">
              <a:latin typeface="Verdana" pitchFamily="34" charset="0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AD0B3-31E6-4ADF-A443-48097A60ADE2}" type="slidenum">
              <a:rPr lang="zh-TW" altLang="en-US" smtClean="0"/>
              <a:pPr/>
              <a:t>8</a:t>
            </a:fld>
            <a:endParaRPr lang="zh-TW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14282" y="-357214"/>
            <a:ext cx="8286808" cy="1143000"/>
          </a:xfrm>
        </p:spPr>
        <p:txBody>
          <a:bodyPr>
            <a:normAutofit/>
          </a:bodyPr>
          <a:lstStyle/>
          <a:p>
            <a:r>
              <a:rPr lang="en-GB" sz="2800" b="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Verdana" pitchFamily="34" charset="0"/>
              </a:rPr>
              <a:t>Early focus on users and tasks</a:t>
            </a:r>
            <a:r>
              <a:rPr lang="zh-TW" altLang="en-US" sz="2800" b="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Verdana" pitchFamily="34" charset="0"/>
              </a:rPr>
              <a:t>，</a:t>
            </a:r>
            <a:r>
              <a:rPr lang="en-US" altLang="zh-TW" sz="2800" b="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Verdana" pitchFamily="34" charset="0"/>
              </a:rPr>
              <a:t>how?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142984"/>
            <a:ext cx="7472386" cy="5241314"/>
          </a:xfrm>
        </p:spPr>
        <p:txBody>
          <a:bodyPr>
            <a:normAutofit/>
          </a:bodyPr>
          <a:lstStyle/>
          <a:p>
            <a:r>
              <a:rPr lang="zh-TW" altLang="en-US" dirty="0" smtClean="0">
                <a:solidFill>
                  <a:schemeClr val="accent1">
                    <a:lumMod val="75000"/>
                  </a:schemeClr>
                </a:solidFill>
              </a:rPr>
              <a:t>我們如何用這個新科技 </a:t>
            </a:r>
            <a:r>
              <a:rPr lang="en-US" altLang="zh-TW" dirty="0" smtClean="0">
                <a:solidFill>
                  <a:schemeClr val="accent1">
                    <a:lumMod val="75000"/>
                  </a:schemeClr>
                </a:solidFill>
              </a:rPr>
              <a:t>vs. </a:t>
            </a:r>
            <a:r>
              <a:rPr lang="zh-TW" altLang="en-US" dirty="0" smtClean="0">
                <a:solidFill>
                  <a:schemeClr val="accent1">
                    <a:lumMod val="75000"/>
                  </a:schemeClr>
                </a:solidFill>
              </a:rPr>
              <a:t>那項科技能更佳的支援使用者目標 </a:t>
            </a:r>
            <a:r>
              <a:rPr lang="en-US" altLang="zh-TW" dirty="0" smtClean="0">
                <a:solidFill>
                  <a:srgbClr val="00B0F0"/>
                </a:solidFill>
              </a:rPr>
              <a:t>(</a:t>
            </a:r>
            <a:r>
              <a:rPr lang="zh-TW" altLang="en-US" dirty="0" smtClean="0">
                <a:solidFill>
                  <a:srgbClr val="00B0F0"/>
                </a:solidFill>
              </a:rPr>
              <a:t>兩句話的差異在哪</a:t>
            </a:r>
            <a:r>
              <a:rPr lang="en-US" altLang="zh-TW" dirty="0" smtClean="0">
                <a:solidFill>
                  <a:srgbClr val="00B0F0"/>
                </a:solidFill>
              </a:rPr>
              <a:t>)?</a:t>
            </a:r>
          </a:p>
          <a:p>
            <a:pPr lvl="1">
              <a:buNone/>
            </a:pPr>
            <a:endParaRPr lang="en-US" altLang="zh-TW" dirty="0" smtClean="0">
              <a:solidFill>
                <a:srgbClr val="00B0F0"/>
              </a:solidFill>
            </a:endParaRPr>
          </a:p>
          <a:p>
            <a:pPr marL="228600" lvl="1">
              <a:buNone/>
            </a:pPr>
            <a:r>
              <a:rPr lang="en-US" altLang="zh-TW" sz="2400" dirty="0" smtClean="0">
                <a:solidFill>
                  <a:schemeClr val="tx1"/>
                </a:solidFill>
              </a:rPr>
              <a:t>1.</a:t>
            </a:r>
            <a:r>
              <a:rPr lang="zh-TW" altLang="en-US" sz="2400" dirty="0" smtClean="0">
                <a:solidFill>
                  <a:schemeClr val="tx1"/>
                </a:solidFill>
              </a:rPr>
              <a:t> </a:t>
            </a:r>
            <a:r>
              <a:rPr lang="en-US" altLang="zh-TW" sz="2400" dirty="0" smtClean="0">
                <a:solidFill>
                  <a:schemeClr val="tx1"/>
                </a:solidFill>
              </a:rPr>
              <a:t>Users’ tasks and goals are the driving force behind the development</a:t>
            </a:r>
            <a:r>
              <a:rPr lang="en-US" altLang="zh-TW" sz="2400" dirty="0" smtClean="0"/>
              <a:t>.</a:t>
            </a:r>
          </a:p>
          <a:p>
            <a:pPr lvl="1"/>
            <a:endParaRPr lang="en-US" altLang="zh-TW" sz="800" dirty="0" smtClean="0"/>
          </a:p>
          <a:p>
            <a:pPr>
              <a:buNone/>
            </a:pPr>
            <a:r>
              <a:rPr lang="en-US" altLang="zh-TW" sz="2400" dirty="0" smtClean="0"/>
              <a:t>2.</a:t>
            </a:r>
            <a:r>
              <a:rPr lang="zh-TW" altLang="en-US" sz="2400" dirty="0" smtClean="0"/>
              <a:t> </a:t>
            </a:r>
            <a:r>
              <a:rPr lang="en-US" altLang="zh-TW" sz="2400" dirty="0" smtClean="0"/>
              <a:t>User’s behavior and context of use are studied and the system is designed to support them.</a:t>
            </a:r>
          </a:p>
          <a:p>
            <a:pPr lvl="1"/>
            <a:r>
              <a:rPr lang="zh-TW" altLang="en-US" dirty="0" smtClean="0"/>
              <a:t>使用者如何進行某項活動</a:t>
            </a:r>
            <a:endParaRPr lang="en-US" altLang="zh-TW" dirty="0" smtClean="0"/>
          </a:p>
          <a:p>
            <a:pPr lvl="1"/>
            <a:r>
              <a:rPr lang="zh-TW" altLang="en-US" dirty="0" smtClean="0"/>
              <a:t>進行的順序，偏好，使用意圖</a:t>
            </a:r>
            <a:endParaRPr lang="en-US" altLang="zh-TW" dirty="0" smtClean="0"/>
          </a:p>
          <a:p>
            <a:pPr>
              <a:buNone/>
            </a:pPr>
            <a:r>
              <a:rPr lang="en-US" altLang="zh-TW" sz="2400" dirty="0" smtClean="0"/>
              <a:t>3.</a:t>
            </a:r>
            <a:r>
              <a:rPr lang="zh-TW" altLang="en-US" sz="2400" dirty="0" smtClean="0"/>
              <a:t> </a:t>
            </a:r>
            <a:r>
              <a:rPr lang="en-US" altLang="zh-TW" sz="2400" dirty="0" smtClean="0"/>
              <a:t>Users’ characteristics are captured and designed for</a:t>
            </a:r>
          </a:p>
          <a:p>
            <a:endParaRPr lang="en-US" altLang="zh-TW" dirty="0" smtClean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AD0B3-31E6-4ADF-A443-48097A60ADE2}" type="slidenum">
              <a:rPr lang="zh-TW" altLang="en-US" smtClean="0"/>
              <a:pPr/>
              <a:t>9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428604"/>
            <a:ext cx="7239000" cy="3143272"/>
          </a:xfrm>
        </p:spPr>
        <p:txBody>
          <a:bodyPr/>
          <a:lstStyle/>
          <a:p>
            <a:pPr>
              <a:buNone/>
            </a:pPr>
            <a:r>
              <a:rPr lang="en-US" altLang="zh-TW" dirty="0" smtClean="0"/>
              <a:t>4.</a:t>
            </a:r>
            <a:r>
              <a:rPr lang="zh-TW" altLang="en-US" dirty="0" smtClean="0"/>
              <a:t> </a:t>
            </a:r>
            <a:r>
              <a:rPr lang="en-US" altLang="zh-TW" dirty="0" smtClean="0"/>
              <a:t>Users are consulted throughout development from </a:t>
            </a:r>
            <a:r>
              <a:rPr lang="en-US" altLang="zh-TW" dirty="0" smtClean="0">
                <a:solidFill>
                  <a:srgbClr val="C00000"/>
                </a:solidFill>
              </a:rPr>
              <a:t>earliest phases to the latest </a:t>
            </a:r>
            <a:r>
              <a:rPr lang="en-US" altLang="zh-TW" dirty="0" smtClean="0"/>
              <a:t>and their  input is seriously taken into account.</a:t>
            </a:r>
          </a:p>
          <a:p>
            <a:endParaRPr lang="en-US" altLang="zh-TW" dirty="0" smtClean="0"/>
          </a:p>
          <a:p>
            <a:pPr>
              <a:buNone/>
            </a:pPr>
            <a:r>
              <a:rPr lang="en-US" altLang="zh-TW" dirty="0" smtClean="0"/>
              <a:t>5.</a:t>
            </a:r>
            <a:r>
              <a:rPr lang="zh-TW" altLang="en-US" dirty="0" smtClean="0"/>
              <a:t> </a:t>
            </a:r>
            <a:r>
              <a:rPr lang="en-US" altLang="zh-TW" dirty="0" smtClean="0"/>
              <a:t>All design decisions are taken within the </a:t>
            </a:r>
            <a:r>
              <a:rPr lang="en-US" altLang="zh-TW" dirty="0" smtClean="0">
                <a:solidFill>
                  <a:srgbClr val="0033CC"/>
                </a:solidFill>
              </a:rPr>
              <a:t>context</a:t>
            </a:r>
            <a:r>
              <a:rPr lang="en-US" altLang="zh-TW" dirty="0" smtClean="0"/>
              <a:t> of the </a:t>
            </a:r>
            <a:r>
              <a:rPr lang="en-US" altLang="zh-TW" dirty="0" smtClean="0">
                <a:solidFill>
                  <a:srgbClr val="C00000"/>
                </a:solidFill>
              </a:rPr>
              <a:t>users, their work, and their environment</a:t>
            </a:r>
            <a:r>
              <a:rPr lang="en-US" altLang="zh-TW" dirty="0" smtClean="0"/>
              <a:t>. </a:t>
            </a:r>
            <a:endParaRPr lang="zh-TW" altLang="en-US" dirty="0" smtClean="0"/>
          </a:p>
          <a:p>
            <a:endParaRPr lang="zh-TW" altLang="en-US" dirty="0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AD0B3-31E6-4ADF-A443-48097A60ADE2}" type="slidenum">
              <a:rPr lang="zh-TW" altLang="en-US" smtClean="0"/>
              <a:pPr/>
              <a:t>10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ChangeArrowheads="1"/>
          </p:cNvSpPr>
          <p:nvPr/>
        </p:nvSpPr>
        <p:spPr bwMode="auto">
          <a:xfrm>
            <a:off x="703385" y="6248400"/>
            <a:ext cx="189913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56675" name="Rectangle 3"/>
          <p:cNvSpPr>
            <a:spLocks noChangeArrowheads="1"/>
          </p:cNvSpPr>
          <p:nvPr/>
        </p:nvSpPr>
        <p:spPr bwMode="auto">
          <a:xfrm>
            <a:off x="3165231" y="6248400"/>
            <a:ext cx="281353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56676" name="Rectangle 4"/>
          <p:cNvSpPr>
            <a:spLocks noChangeArrowheads="1"/>
          </p:cNvSpPr>
          <p:nvPr/>
        </p:nvSpPr>
        <p:spPr bwMode="auto">
          <a:xfrm>
            <a:off x="703385" y="6248400"/>
            <a:ext cx="189913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56677" name="Rectangle 5"/>
          <p:cNvSpPr>
            <a:spLocks noChangeArrowheads="1"/>
          </p:cNvSpPr>
          <p:nvPr/>
        </p:nvSpPr>
        <p:spPr bwMode="auto">
          <a:xfrm>
            <a:off x="3165231" y="6248400"/>
            <a:ext cx="281353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56678" name="Rectangle 6"/>
          <p:cNvSpPr>
            <a:spLocks noGrp="1" noChangeArrowheads="1"/>
          </p:cNvSpPr>
          <p:nvPr>
            <p:ph type="title"/>
          </p:nvPr>
        </p:nvSpPr>
        <p:spPr>
          <a:xfrm>
            <a:off x="714348" y="350838"/>
            <a:ext cx="8368574" cy="766877"/>
          </a:xfrm>
          <a:noFill/>
          <a:ln/>
        </p:spPr>
        <p:txBody>
          <a:bodyPr wrap="none" lIns="90488" tIns="44450" rIns="90488" bIns="44450">
            <a:spAutoFit/>
          </a:bodyPr>
          <a:lstStyle/>
          <a:p>
            <a:r>
              <a:rPr lang="en-US" altLang="zh-TW" sz="4400" dirty="0" smtClean="0">
                <a:ea typeface="新細明體" pitchFamily="18" charset="-120"/>
              </a:rPr>
              <a:t>9.2.4</a:t>
            </a:r>
            <a:r>
              <a:rPr lang="zh-TW" altLang="en-US" sz="4400" dirty="0" smtClean="0">
                <a:ea typeface="新細明體" pitchFamily="18" charset="-120"/>
              </a:rPr>
              <a:t> </a:t>
            </a:r>
            <a:r>
              <a:rPr lang="en-US" altLang="zh-TW" sz="4400" dirty="0" smtClean="0">
                <a:ea typeface="新細明體" pitchFamily="18" charset="-120"/>
              </a:rPr>
              <a:t>Four </a:t>
            </a:r>
            <a:r>
              <a:rPr lang="en-US" altLang="zh-TW" sz="4400" dirty="0">
                <a:ea typeface="新細明體" pitchFamily="18" charset="-120"/>
              </a:rPr>
              <a:t>basic </a:t>
            </a:r>
            <a:r>
              <a:rPr lang="en-US" altLang="zh-TW" sz="4400" dirty="0" smtClean="0">
                <a:ea typeface="新細明體" pitchFamily="18" charset="-120"/>
              </a:rPr>
              <a:t>activities</a:t>
            </a:r>
            <a:r>
              <a:rPr lang="zh-TW" altLang="en-US" sz="4400" dirty="0" smtClean="0">
                <a:ea typeface="新細明體" pitchFamily="18" charset="-120"/>
              </a:rPr>
              <a:t> </a:t>
            </a:r>
            <a:r>
              <a:rPr lang="en-US" altLang="zh-TW" sz="1400" dirty="0" smtClean="0">
                <a:ea typeface="新細明體" pitchFamily="18" charset="-120"/>
              </a:rPr>
              <a:t>416</a:t>
            </a:r>
            <a:r>
              <a:rPr lang="en-US" altLang="zh-TW" sz="1400" i="1" dirty="0" smtClean="0">
                <a:ea typeface="新細明體" pitchFamily="18" charset="-120"/>
              </a:rPr>
              <a:t> </a:t>
            </a:r>
            <a:endParaRPr lang="en-US" altLang="zh-TW" sz="1400" i="1" dirty="0">
              <a:ea typeface="新細明體" pitchFamily="18" charset="-120"/>
            </a:endParaRPr>
          </a:p>
        </p:txBody>
      </p:sp>
      <p:sp>
        <p:nvSpPr>
          <p:cNvPr id="156679" name="Rectangle 7"/>
          <p:cNvSpPr>
            <a:spLocks noGrp="1" noChangeArrowheads="1"/>
          </p:cNvSpPr>
          <p:nvPr>
            <p:ph idx="1"/>
          </p:nvPr>
        </p:nvSpPr>
        <p:spPr>
          <a:xfrm>
            <a:off x="844061" y="914400"/>
            <a:ext cx="6963508" cy="4876800"/>
          </a:xfrm>
          <a:noFill/>
          <a:ln/>
        </p:spPr>
        <p:txBody>
          <a:bodyPr lIns="90488" tIns="44450" rIns="90488" bIns="44450"/>
          <a:lstStyle/>
          <a:p>
            <a:endParaRPr lang="zh-TW" altLang="en-US">
              <a:solidFill>
                <a:srgbClr val="000000"/>
              </a:solidFill>
              <a:ea typeface="新細明體" pitchFamily="18" charset="-120"/>
            </a:endParaRPr>
          </a:p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156680" name="Rectangle 8"/>
          <p:cNvSpPr>
            <a:spLocks noChangeArrowheads="1"/>
          </p:cNvSpPr>
          <p:nvPr/>
        </p:nvSpPr>
        <p:spPr bwMode="auto">
          <a:xfrm>
            <a:off x="467544" y="1371600"/>
            <a:ext cx="7848872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457200" indent="-457200">
              <a:spcBef>
                <a:spcPts val="600"/>
              </a:spcBef>
            </a:pPr>
            <a:r>
              <a:rPr lang="en-GB" sz="2800" b="0" dirty="0" smtClean="0">
                <a:latin typeface="Verdana" pitchFamily="34" charset="0"/>
              </a:rPr>
              <a:t>Four basic </a:t>
            </a:r>
            <a:r>
              <a:rPr lang="en-GB" sz="2800" b="0" dirty="0">
                <a:latin typeface="Verdana" pitchFamily="34" charset="0"/>
              </a:rPr>
              <a:t>activities in Interaction Design</a:t>
            </a:r>
            <a:r>
              <a:rPr lang="en-GB" sz="2800" b="0" dirty="0" smtClean="0">
                <a:latin typeface="Verdana" pitchFamily="34" charset="0"/>
              </a:rPr>
              <a:t>:</a:t>
            </a:r>
          </a:p>
          <a:p>
            <a:pPr marL="457200" indent="-457200">
              <a:spcBef>
                <a:spcPts val="600"/>
              </a:spcBef>
            </a:pPr>
            <a:endParaRPr lang="en-GB" sz="2800" b="0" dirty="0">
              <a:latin typeface="Verdana" pitchFamily="34" charset="0"/>
            </a:endParaRPr>
          </a:p>
          <a:p>
            <a:pPr marL="457200" indent="-457200">
              <a:spcBef>
                <a:spcPts val="600"/>
              </a:spcBef>
            </a:pPr>
            <a:endParaRPr lang="en-GB" sz="800" b="0" dirty="0">
              <a:latin typeface="Verdana" pitchFamily="34" charset="0"/>
            </a:endParaRPr>
          </a:p>
          <a:p>
            <a:pPr marL="914400" lvl="1" indent="-457200">
              <a:spcBef>
                <a:spcPts val="600"/>
              </a:spcBef>
              <a:buFontTx/>
              <a:buAutoNum type="arabicPeriod"/>
            </a:pPr>
            <a:r>
              <a:rPr lang="en-US" altLang="zh-TW" sz="2800" b="0" dirty="0" smtClean="0">
                <a:latin typeface="Verdana" pitchFamily="34" charset="0"/>
              </a:rPr>
              <a:t>E</a:t>
            </a:r>
            <a:r>
              <a:rPr lang="en-GB" sz="2800" b="0" dirty="0" err="1" smtClean="0">
                <a:latin typeface="Verdana" pitchFamily="34" charset="0"/>
              </a:rPr>
              <a:t>stablishing</a:t>
            </a:r>
            <a:r>
              <a:rPr lang="en-GB" sz="2800" b="0" dirty="0" smtClean="0">
                <a:latin typeface="Verdana" pitchFamily="34" charset="0"/>
              </a:rPr>
              <a:t> </a:t>
            </a:r>
            <a:r>
              <a:rPr lang="en-GB" sz="2800" b="0" dirty="0">
                <a:latin typeface="Verdana" pitchFamily="34" charset="0"/>
              </a:rPr>
              <a:t>requirements</a:t>
            </a:r>
          </a:p>
          <a:p>
            <a:pPr marL="914400" lvl="1" indent="-457200">
              <a:spcBef>
                <a:spcPts val="600"/>
              </a:spcBef>
              <a:buFontTx/>
              <a:buAutoNum type="arabicPeriod"/>
            </a:pPr>
            <a:endParaRPr lang="en-GB" sz="800" b="0" dirty="0">
              <a:latin typeface="Verdana" pitchFamily="34" charset="0"/>
            </a:endParaRPr>
          </a:p>
          <a:p>
            <a:pPr marL="914400" lvl="1" indent="-457200">
              <a:spcBef>
                <a:spcPts val="600"/>
              </a:spcBef>
            </a:pPr>
            <a:r>
              <a:rPr lang="en-GB" sz="2800" b="0" dirty="0">
                <a:latin typeface="Verdana" pitchFamily="34" charset="0"/>
              </a:rPr>
              <a:t>2. </a:t>
            </a:r>
            <a:r>
              <a:rPr lang="en-US" altLang="zh-TW" sz="2800" dirty="0" smtClean="0">
                <a:latin typeface="Verdana" pitchFamily="34" charset="0"/>
              </a:rPr>
              <a:t>Designing </a:t>
            </a:r>
            <a:r>
              <a:rPr lang="en-GB" altLang="zh-TW" sz="2800" dirty="0" smtClean="0">
                <a:latin typeface="Verdana" pitchFamily="34" charset="0"/>
              </a:rPr>
              <a:t>alternatives</a:t>
            </a:r>
            <a:endParaRPr lang="en-GB" sz="2800" b="0" dirty="0">
              <a:latin typeface="Verdana" pitchFamily="34" charset="0"/>
            </a:endParaRPr>
          </a:p>
          <a:p>
            <a:pPr marL="914400" lvl="1" indent="-457200">
              <a:spcBef>
                <a:spcPts val="600"/>
              </a:spcBef>
            </a:pPr>
            <a:endParaRPr lang="en-GB" sz="800" b="0" dirty="0">
              <a:latin typeface="Verdana" pitchFamily="34" charset="0"/>
            </a:endParaRPr>
          </a:p>
          <a:p>
            <a:pPr marL="914400" lvl="1" indent="-457200">
              <a:spcBef>
                <a:spcPts val="600"/>
              </a:spcBef>
            </a:pPr>
            <a:r>
              <a:rPr lang="en-GB" sz="2800" b="0" dirty="0">
                <a:latin typeface="Verdana" pitchFamily="34" charset="0"/>
              </a:rPr>
              <a:t>3. </a:t>
            </a:r>
            <a:r>
              <a:rPr lang="en-GB" sz="2800" b="0" smtClean="0">
                <a:latin typeface="Verdana" pitchFamily="34" charset="0"/>
              </a:rPr>
              <a:t>Prototyping </a:t>
            </a:r>
            <a:endParaRPr lang="en-GB" sz="800" b="0" dirty="0">
              <a:latin typeface="Verdana" pitchFamily="34" charset="0"/>
            </a:endParaRPr>
          </a:p>
          <a:p>
            <a:pPr marL="914400" lvl="1" indent="-457200">
              <a:spcBef>
                <a:spcPts val="600"/>
              </a:spcBef>
            </a:pPr>
            <a:r>
              <a:rPr lang="en-GB" sz="2800" b="0" dirty="0">
                <a:latin typeface="Verdana" pitchFamily="34" charset="0"/>
              </a:rPr>
              <a:t>4. </a:t>
            </a:r>
            <a:r>
              <a:rPr lang="en-GB" sz="2800" b="0" dirty="0" smtClean="0">
                <a:latin typeface="Verdana" pitchFamily="34" charset="0"/>
              </a:rPr>
              <a:t>Evaluating</a:t>
            </a:r>
            <a:endParaRPr lang="en-GB" sz="2800" b="0" dirty="0">
              <a:latin typeface="Verdana" pitchFamily="34" charset="0"/>
            </a:endParaRPr>
          </a:p>
          <a:p>
            <a:pPr marL="457200" indent="-457200">
              <a:spcBef>
                <a:spcPts val="600"/>
              </a:spcBef>
            </a:pPr>
            <a:endParaRPr lang="en-GB" sz="2800" b="0" dirty="0">
              <a:latin typeface="Verdana" pitchFamily="34" charset="0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AD0B3-31E6-4ADF-A443-48097A60ADE2}" type="slidenum">
              <a:rPr lang="zh-TW" altLang="en-US" smtClean="0"/>
              <a:pPr/>
              <a:t>11</a:t>
            </a:fld>
            <a:endParaRPr lang="zh-TW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Rectangle 2"/>
          <p:cNvSpPr>
            <a:spLocks noChangeArrowheads="1"/>
          </p:cNvSpPr>
          <p:nvPr/>
        </p:nvSpPr>
        <p:spPr bwMode="auto">
          <a:xfrm>
            <a:off x="703385" y="6248400"/>
            <a:ext cx="189913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56675" name="Rectangle 3"/>
          <p:cNvSpPr>
            <a:spLocks noChangeArrowheads="1"/>
          </p:cNvSpPr>
          <p:nvPr/>
        </p:nvSpPr>
        <p:spPr bwMode="auto">
          <a:xfrm>
            <a:off x="3165231" y="6248400"/>
            <a:ext cx="281353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56676" name="Rectangle 4"/>
          <p:cNvSpPr>
            <a:spLocks noChangeArrowheads="1"/>
          </p:cNvSpPr>
          <p:nvPr/>
        </p:nvSpPr>
        <p:spPr bwMode="auto">
          <a:xfrm>
            <a:off x="703385" y="6248400"/>
            <a:ext cx="189913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56677" name="Rectangle 5"/>
          <p:cNvSpPr>
            <a:spLocks noChangeArrowheads="1"/>
          </p:cNvSpPr>
          <p:nvPr/>
        </p:nvSpPr>
        <p:spPr bwMode="auto">
          <a:xfrm>
            <a:off x="3165231" y="6248400"/>
            <a:ext cx="281353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56678" name="Rectangle 6"/>
          <p:cNvSpPr>
            <a:spLocks noGrp="1" noChangeArrowheads="1"/>
          </p:cNvSpPr>
          <p:nvPr>
            <p:ph type="title"/>
          </p:nvPr>
        </p:nvSpPr>
        <p:spPr>
          <a:xfrm>
            <a:off x="714348" y="350838"/>
            <a:ext cx="8368574" cy="766877"/>
          </a:xfrm>
          <a:noFill/>
          <a:ln/>
        </p:spPr>
        <p:txBody>
          <a:bodyPr wrap="none" lIns="90488" tIns="44450" rIns="90488" bIns="44450">
            <a:spAutoFit/>
          </a:bodyPr>
          <a:lstStyle/>
          <a:p>
            <a:r>
              <a:rPr lang="en-US" altLang="zh-TW" sz="4400" dirty="0" smtClean="0">
                <a:ea typeface="新細明體" pitchFamily="18" charset="-120"/>
              </a:rPr>
              <a:t>9.2.4</a:t>
            </a:r>
            <a:r>
              <a:rPr lang="zh-TW" altLang="en-US" sz="4400" dirty="0" smtClean="0">
                <a:ea typeface="新細明體" pitchFamily="18" charset="-120"/>
              </a:rPr>
              <a:t> </a:t>
            </a:r>
            <a:r>
              <a:rPr lang="en-US" altLang="zh-TW" sz="4400" dirty="0" smtClean="0">
                <a:ea typeface="新細明體" pitchFamily="18" charset="-120"/>
              </a:rPr>
              <a:t>Four </a:t>
            </a:r>
            <a:r>
              <a:rPr lang="en-US" altLang="zh-TW" sz="4400" dirty="0">
                <a:ea typeface="新細明體" pitchFamily="18" charset="-120"/>
              </a:rPr>
              <a:t>basic </a:t>
            </a:r>
            <a:r>
              <a:rPr lang="en-US" altLang="zh-TW" sz="4400" dirty="0" smtClean="0">
                <a:ea typeface="新細明體" pitchFamily="18" charset="-120"/>
              </a:rPr>
              <a:t>activities</a:t>
            </a:r>
            <a:r>
              <a:rPr lang="zh-TW" altLang="en-US" sz="4400" dirty="0" smtClean="0">
                <a:ea typeface="新細明體" pitchFamily="18" charset="-120"/>
              </a:rPr>
              <a:t> </a:t>
            </a:r>
            <a:r>
              <a:rPr lang="en-US" altLang="zh-TW" sz="1400" dirty="0" smtClean="0">
                <a:ea typeface="新細明體" pitchFamily="18" charset="-120"/>
              </a:rPr>
              <a:t>416</a:t>
            </a:r>
            <a:r>
              <a:rPr lang="en-US" altLang="zh-TW" sz="1400" i="1" dirty="0" smtClean="0">
                <a:ea typeface="新細明體" pitchFamily="18" charset="-120"/>
              </a:rPr>
              <a:t> </a:t>
            </a:r>
            <a:endParaRPr lang="en-US" altLang="zh-TW" sz="1400" i="1" dirty="0">
              <a:ea typeface="新細明體" pitchFamily="18" charset="-120"/>
            </a:endParaRPr>
          </a:p>
        </p:txBody>
      </p:sp>
      <p:sp>
        <p:nvSpPr>
          <p:cNvPr id="156679" name="Rectangle 7"/>
          <p:cNvSpPr>
            <a:spLocks noGrp="1" noChangeArrowheads="1"/>
          </p:cNvSpPr>
          <p:nvPr>
            <p:ph idx="1"/>
          </p:nvPr>
        </p:nvSpPr>
        <p:spPr>
          <a:xfrm>
            <a:off x="844061" y="914400"/>
            <a:ext cx="6963508" cy="4876800"/>
          </a:xfrm>
          <a:noFill/>
          <a:ln/>
        </p:spPr>
        <p:txBody>
          <a:bodyPr lIns="90488" tIns="44450" rIns="90488" bIns="44450"/>
          <a:lstStyle/>
          <a:p>
            <a:endParaRPr lang="zh-TW" altLang="en-US" dirty="0">
              <a:solidFill>
                <a:srgbClr val="000000"/>
              </a:solidFill>
              <a:ea typeface="新細明體" pitchFamily="18" charset="-120"/>
            </a:endParaRPr>
          </a:p>
          <a:p>
            <a:endParaRPr lang="zh-TW" altLang="en-US" dirty="0">
              <a:ea typeface="新細明體" pitchFamily="18" charset="-120"/>
            </a:endParaRPr>
          </a:p>
        </p:txBody>
      </p:sp>
      <p:sp>
        <p:nvSpPr>
          <p:cNvPr id="156680" name="Rectangle 8"/>
          <p:cNvSpPr>
            <a:spLocks noChangeArrowheads="1"/>
          </p:cNvSpPr>
          <p:nvPr/>
        </p:nvSpPr>
        <p:spPr bwMode="auto">
          <a:xfrm>
            <a:off x="844062" y="1371600"/>
            <a:ext cx="7772400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457200" indent="-457200">
              <a:spcBef>
                <a:spcPts val="600"/>
              </a:spcBef>
            </a:pPr>
            <a:endParaRPr lang="en-GB" sz="800" b="0" dirty="0">
              <a:latin typeface="Verdana" pitchFamily="34" charset="0"/>
            </a:endParaRPr>
          </a:p>
          <a:p>
            <a:pPr marL="914400" lvl="1" indent="-457200">
              <a:spcBef>
                <a:spcPts val="600"/>
              </a:spcBef>
              <a:buFontTx/>
              <a:buAutoNum type="arabicPeriod"/>
            </a:pPr>
            <a:r>
              <a:rPr lang="en-US" altLang="zh-TW" sz="2800" b="0" dirty="0" smtClean="0">
                <a:latin typeface="Verdana" pitchFamily="34" charset="0"/>
              </a:rPr>
              <a:t>E</a:t>
            </a:r>
            <a:r>
              <a:rPr lang="en-GB" sz="2800" b="0" dirty="0" err="1" smtClean="0">
                <a:latin typeface="Verdana" pitchFamily="34" charset="0"/>
              </a:rPr>
              <a:t>stablishing</a:t>
            </a:r>
            <a:r>
              <a:rPr lang="en-GB" sz="2800" b="0" dirty="0" smtClean="0">
                <a:latin typeface="Verdana" pitchFamily="34" charset="0"/>
              </a:rPr>
              <a:t> requirements</a:t>
            </a:r>
            <a:endParaRPr lang="en-GB" sz="2800" dirty="0">
              <a:latin typeface="Verdana" pitchFamily="34" charset="0"/>
            </a:endParaRPr>
          </a:p>
          <a:p>
            <a:endParaRPr lang="en-US" altLang="zh-TW" sz="3200" dirty="0" smtClean="0">
              <a:solidFill>
                <a:schemeClr val="accent1">
                  <a:lumMod val="60000"/>
                  <a:lumOff val="40000"/>
                </a:schemeClr>
              </a:solidFill>
            </a:endParaRPr>
          </a:p>
          <a:p>
            <a:r>
              <a:rPr lang="en-US" altLang="zh-TW" sz="3200" dirty="0" smtClean="0"/>
              <a:t>We must know </a:t>
            </a:r>
          </a:p>
          <a:p>
            <a:pPr marL="514350" indent="-514350">
              <a:buAutoNum type="arabicPeriod"/>
            </a:pPr>
            <a:r>
              <a:rPr lang="en-US" altLang="zh-TW" sz="3200" dirty="0" smtClean="0"/>
              <a:t>Who our target users are.</a:t>
            </a:r>
          </a:p>
          <a:p>
            <a:pPr marL="514350" indent="-514350">
              <a:buAutoNum type="arabicPeriod"/>
            </a:pPr>
            <a:r>
              <a:rPr lang="en-US" altLang="zh-TW" sz="3200" dirty="0" smtClean="0"/>
              <a:t>What kinds of support the product could provide.</a:t>
            </a:r>
          </a:p>
          <a:p>
            <a:pPr marL="914400" lvl="1" indent="-457200">
              <a:spcBef>
                <a:spcPts val="600"/>
              </a:spcBef>
              <a:buFontTx/>
              <a:buAutoNum type="arabicPeriod"/>
            </a:pPr>
            <a:endParaRPr lang="en-GB" sz="2800" b="0" dirty="0" smtClean="0">
              <a:latin typeface="Verdana" pitchFamily="34" charset="0"/>
            </a:endParaRPr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AD0B3-31E6-4ADF-A443-48097A60ADE2}" type="slidenum">
              <a:rPr lang="zh-TW" altLang="en-US" smtClean="0"/>
              <a:pPr/>
              <a:t>12</a:t>
            </a:fld>
            <a:endParaRPr lang="zh-TW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ChangeArrowheads="1"/>
          </p:cNvSpPr>
          <p:nvPr/>
        </p:nvSpPr>
        <p:spPr bwMode="auto">
          <a:xfrm>
            <a:off x="467544" y="476672"/>
            <a:ext cx="7772400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914400" lvl="1" indent="-457200">
              <a:spcBef>
                <a:spcPts val="600"/>
              </a:spcBef>
              <a:buFontTx/>
              <a:buAutoNum type="arabicPeriod"/>
            </a:pPr>
            <a:endParaRPr lang="en-GB" sz="800" b="0" dirty="0">
              <a:latin typeface="Verdana" pitchFamily="34" charset="0"/>
            </a:endParaRPr>
          </a:p>
          <a:p>
            <a:pPr marL="914400" lvl="1" indent="-457200">
              <a:spcBef>
                <a:spcPts val="600"/>
              </a:spcBef>
            </a:pPr>
            <a:r>
              <a:rPr lang="en-GB" sz="2800" b="0" dirty="0">
                <a:latin typeface="Verdana" pitchFamily="34" charset="0"/>
              </a:rPr>
              <a:t>2. </a:t>
            </a:r>
            <a:r>
              <a:rPr lang="en-US" altLang="zh-TW" sz="2800" b="0" dirty="0" smtClean="0">
                <a:latin typeface="Verdana" pitchFamily="34" charset="0"/>
              </a:rPr>
              <a:t>Designing </a:t>
            </a:r>
            <a:r>
              <a:rPr lang="en-GB" sz="2800" b="0" dirty="0" smtClean="0">
                <a:latin typeface="Verdana" pitchFamily="34" charset="0"/>
              </a:rPr>
              <a:t>alternatives</a:t>
            </a:r>
          </a:p>
          <a:p>
            <a:pPr marL="914400" lvl="1" indent="-457200">
              <a:spcBef>
                <a:spcPts val="600"/>
              </a:spcBef>
            </a:pPr>
            <a:endParaRPr lang="en-GB" sz="2800" dirty="0" smtClean="0">
              <a:latin typeface="Verdana" pitchFamily="34" charset="0"/>
            </a:endParaRPr>
          </a:p>
          <a:p>
            <a:r>
              <a:rPr lang="en-US" altLang="zh-TW" sz="2400" dirty="0" smtClean="0"/>
              <a:t>Core activity of designing: suggest ideas for meeting the requirement.</a:t>
            </a:r>
          </a:p>
          <a:p>
            <a:r>
              <a:rPr lang="zh-TW" altLang="en-US" sz="2400" dirty="0" smtClean="0"/>
              <a:t>兩步驟</a:t>
            </a:r>
            <a:endParaRPr lang="en-US" altLang="zh-TW" sz="2400" dirty="0" smtClean="0"/>
          </a:p>
          <a:p>
            <a:pPr marL="514350" indent="-514350">
              <a:buFont typeface="+mj-lt"/>
              <a:buAutoNum type="arabicPeriod"/>
            </a:pPr>
            <a:r>
              <a:rPr lang="en-US" altLang="zh-TW" sz="2400" dirty="0" smtClean="0"/>
              <a:t>Conceptual design</a:t>
            </a:r>
            <a:r>
              <a:rPr lang="zh-TW" altLang="en-US" sz="2400" dirty="0" smtClean="0"/>
              <a:t> 描述</a:t>
            </a:r>
            <a:r>
              <a:rPr lang="en-US" altLang="zh-TW" sz="2400" dirty="0" smtClean="0"/>
              <a:t>what people can do with a product, what concepts are needed to understand how to interact with it.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zh-TW" sz="2400" dirty="0" smtClean="0"/>
              <a:t>Physical design</a:t>
            </a:r>
            <a:r>
              <a:rPr lang="zh-TW" altLang="en-US" sz="2400" dirty="0" smtClean="0"/>
              <a:t> 外觀細節</a:t>
            </a:r>
            <a:endParaRPr lang="en-US" altLang="zh-TW" sz="2400" dirty="0" smtClean="0"/>
          </a:p>
          <a:p>
            <a:r>
              <a:rPr lang="en-US" altLang="zh-TW" sz="2400" dirty="0" smtClean="0"/>
              <a:t> (C2, 6, 11)</a:t>
            </a:r>
          </a:p>
          <a:p>
            <a:r>
              <a:rPr lang="en-US" altLang="zh-TW" sz="2400" dirty="0" smtClean="0">
                <a:solidFill>
                  <a:schemeClr val="bg1"/>
                </a:solidFill>
              </a:rPr>
              <a:t>The best way to get a good idea, is to get lots of ideas. </a:t>
            </a:r>
          </a:p>
          <a:p>
            <a:pPr marL="914400" lvl="1" indent="-457200">
              <a:spcBef>
                <a:spcPts val="600"/>
              </a:spcBef>
            </a:pPr>
            <a:endParaRPr lang="en-GB" sz="2800" b="0" dirty="0">
              <a:latin typeface="Verdana" pitchFamily="34" charset="0"/>
            </a:endParaRPr>
          </a:p>
          <a:p>
            <a:pPr marL="914400" lvl="1" indent="-457200">
              <a:spcBef>
                <a:spcPts val="600"/>
              </a:spcBef>
            </a:pPr>
            <a:endParaRPr lang="en-GB" sz="800" b="0" dirty="0">
              <a:latin typeface="Verdana" pitchFamily="34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AD0B3-31E6-4ADF-A443-48097A60ADE2}" type="slidenum">
              <a:rPr lang="zh-TW" altLang="en-US" smtClean="0"/>
              <a:pPr/>
              <a:t>13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ChangeArrowheads="1"/>
          </p:cNvSpPr>
          <p:nvPr/>
        </p:nvSpPr>
        <p:spPr bwMode="auto">
          <a:xfrm>
            <a:off x="539552" y="692696"/>
            <a:ext cx="7772400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914400" lvl="1" indent="-457200">
              <a:spcBef>
                <a:spcPts val="600"/>
              </a:spcBef>
            </a:pPr>
            <a:endParaRPr lang="en-GB" sz="800" b="0" dirty="0">
              <a:solidFill>
                <a:schemeClr val="bg1">
                  <a:lumMod val="85000"/>
                </a:schemeClr>
              </a:solidFill>
              <a:latin typeface="Verdana" pitchFamily="34" charset="0"/>
            </a:endParaRPr>
          </a:p>
          <a:p>
            <a:pPr marL="914400" lvl="1" indent="-457200">
              <a:spcBef>
                <a:spcPts val="600"/>
              </a:spcBef>
            </a:pPr>
            <a:r>
              <a:rPr lang="en-GB" sz="2800" b="0" dirty="0">
                <a:latin typeface="Verdana" pitchFamily="34" charset="0"/>
              </a:rPr>
              <a:t>3. </a:t>
            </a:r>
            <a:r>
              <a:rPr lang="en-GB" sz="2800" b="0" dirty="0" smtClean="0">
                <a:latin typeface="Verdana" pitchFamily="34" charset="0"/>
              </a:rPr>
              <a:t>Prototyping</a:t>
            </a:r>
          </a:p>
          <a:p>
            <a:pPr marL="914400" lvl="1" indent="-457200">
              <a:spcBef>
                <a:spcPts val="600"/>
              </a:spcBef>
            </a:pPr>
            <a:endParaRPr lang="en-GB" sz="2800" dirty="0" smtClean="0">
              <a:latin typeface="Verdana" pitchFamily="34" charset="0"/>
            </a:endParaRPr>
          </a:p>
          <a:p>
            <a:r>
              <a:rPr lang="en-US" altLang="zh-TW" sz="3200" dirty="0" smtClean="0"/>
              <a:t>Possible forms:</a:t>
            </a:r>
          </a:p>
          <a:p>
            <a:pPr marL="514350" indent="-514350">
              <a:buAutoNum type="arabicPeriod"/>
            </a:pPr>
            <a:r>
              <a:rPr lang="en-US" altLang="zh-TW" sz="3200" dirty="0" smtClean="0"/>
              <a:t>Series of sketches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&amp;</a:t>
            </a:r>
            <a:r>
              <a:rPr lang="zh-TW" altLang="en-US" sz="3200" dirty="0" smtClean="0"/>
              <a:t> </a:t>
            </a:r>
            <a:r>
              <a:rPr lang="en-US" altLang="zh-TW" sz="3200" dirty="0" smtClean="0"/>
              <a:t>diagrams</a:t>
            </a:r>
          </a:p>
          <a:p>
            <a:pPr marL="514350" indent="-514350">
              <a:buAutoNum type="arabicPeriod"/>
            </a:pPr>
            <a:r>
              <a:rPr lang="en-US" altLang="zh-TW" sz="3200" dirty="0" smtClean="0"/>
              <a:t>Paper prototypes</a:t>
            </a:r>
          </a:p>
          <a:p>
            <a:pPr marL="514350" indent="-514350">
              <a:buAutoNum type="arabicPeriod"/>
            </a:pPr>
            <a:r>
              <a:rPr lang="en-US" altLang="zh-TW" sz="3200" dirty="0" smtClean="0"/>
              <a:t>A piece of software</a:t>
            </a:r>
          </a:p>
          <a:p>
            <a:pPr marL="514350" indent="-514350"/>
            <a:r>
              <a:rPr lang="en-US" altLang="zh-TW" sz="3200" dirty="0" smtClean="0"/>
              <a:t>(C11)</a:t>
            </a:r>
          </a:p>
          <a:p>
            <a:pPr marL="914400" lvl="1" indent="-457200">
              <a:spcBef>
                <a:spcPts val="600"/>
              </a:spcBef>
            </a:pPr>
            <a:endParaRPr lang="en-GB" sz="2800" b="0" dirty="0">
              <a:latin typeface="Verdana" pitchFamily="34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AD0B3-31E6-4ADF-A443-48097A60ADE2}" type="slidenum">
              <a:rPr lang="zh-TW" altLang="en-US" smtClean="0"/>
              <a:pPr/>
              <a:t>14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8"/>
          <p:cNvSpPr>
            <a:spLocks noChangeArrowheads="1"/>
          </p:cNvSpPr>
          <p:nvPr/>
        </p:nvSpPr>
        <p:spPr bwMode="auto">
          <a:xfrm>
            <a:off x="683568" y="764704"/>
            <a:ext cx="7772400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 marL="914400" lvl="1" indent="-457200">
              <a:spcBef>
                <a:spcPts val="600"/>
              </a:spcBef>
            </a:pPr>
            <a:endParaRPr lang="en-GB" sz="800" b="0" dirty="0">
              <a:solidFill>
                <a:schemeClr val="bg1">
                  <a:lumMod val="85000"/>
                </a:schemeClr>
              </a:solidFill>
              <a:latin typeface="Verdana" pitchFamily="34" charset="0"/>
            </a:endParaRPr>
          </a:p>
          <a:p>
            <a:pPr marL="914400" lvl="1" indent="-457200">
              <a:spcBef>
                <a:spcPts val="600"/>
              </a:spcBef>
            </a:pPr>
            <a:r>
              <a:rPr lang="en-GB" sz="2800" b="0" dirty="0">
                <a:latin typeface="Verdana" pitchFamily="34" charset="0"/>
              </a:rPr>
              <a:t>4. </a:t>
            </a:r>
            <a:r>
              <a:rPr lang="en-GB" sz="2800" b="0" dirty="0" smtClean="0">
                <a:latin typeface="Verdana" pitchFamily="34" charset="0"/>
              </a:rPr>
              <a:t>Evaluating</a:t>
            </a:r>
          </a:p>
          <a:p>
            <a:pPr marL="914400" lvl="1" indent="-457200">
              <a:spcBef>
                <a:spcPts val="600"/>
              </a:spcBef>
            </a:pPr>
            <a:endParaRPr lang="en-GB" sz="2800" b="0" dirty="0" smtClean="0">
              <a:latin typeface="Verdana" pitchFamily="34" charset="0"/>
            </a:endParaRPr>
          </a:p>
          <a:p>
            <a:pPr marL="514350" indent="-514350"/>
            <a:r>
              <a:rPr lang="zh-TW" altLang="en-US" sz="3200" dirty="0" smtClean="0"/>
              <a:t>確認使用性與接受度 </a:t>
            </a:r>
            <a:r>
              <a:rPr lang="en-US" altLang="zh-TW" sz="3200" dirty="0" smtClean="0"/>
              <a:t>(based on some </a:t>
            </a:r>
            <a:r>
              <a:rPr lang="en-US" altLang="zh-TW" sz="3200" dirty="0" err="1" smtClean="0"/>
              <a:t>cariterias</a:t>
            </a:r>
            <a:r>
              <a:rPr lang="en-US" altLang="zh-TW" sz="3200" dirty="0" smtClean="0"/>
              <a:t>)</a:t>
            </a:r>
          </a:p>
          <a:p>
            <a:pPr marL="514350" indent="-514350"/>
            <a:r>
              <a:rPr lang="zh-TW" altLang="en-US" sz="3200" dirty="0" smtClean="0"/>
              <a:t>評估結果作為改進的依據</a:t>
            </a:r>
            <a:endParaRPr lang="en-US" altLang="zh-TW" sz="3200" dirty="0" smtClean="0"/>
          </a:p>
          <a:p>
            <a:pPr marL="514350" indent="-514350"/>
            <a:endParaRPr lang="en-US" altLang="zh-TW" sz="3200" dirty="0" smtClean="0"/>
          </a:p>
          <a:p>
            <a:pPr marL="514350" indent="-514350"/>
            <a:r>
              <a:rPr lang="en-US" altLang="zh-TW" sz="3200" dirty="0" smtClean="0"/>
              <a:t>(C12-15)</a:t>
            </a:r>
          </a:p>
          <a:p>
            <a:pPr marL="914400" lvl="1" indent="-457200">
              <a:spcBef>
                <a:spcPts val="600"/>
              </a:spcBef>
            </a:pPr>
            <a:endParaRPr lang="en-GB" sz="2800" b="0" dirty="0">
              <a:latin typeface="Verdana" pitchFamily="34" charset="0"/>
            </a:endParaRPr>
          </a:p>
          <a:p>
            <a:pPr marL="457200" indent="-457200">
              <a:spcBef>
                <a:spcPts val="600"/>
              </a:spcBef>
            </a:pPr>
            <a:endParaRPr lang="en-GB" sz="2800" b="0" dirty="0">
              <a:latin typeface="Verdana" pitchFamily="34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AD0B3-31E6-4ADF-A443-48097A60ADE2}" type="slidenum">
              <a:rPr lang="zh-TW" altLang="en-US" smtClean="0"/>
              <a:pPr/>
              <a:t>15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7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751032"/>
            <a:ext cx="7239000" cy="4846320"/>
          </a:xfrm>
        </p:spPr>
        <p:txBody>
          <a:bodyPr/>
          <a:lstStyle/>
          <a:p>
            <a:pPr eaLnBrk="0" hangingPunct="0">
              <a:spcBef>
                <a:spcPts val="300"/>
              </a:spcBef>
              <a:spcAft>
                <a:spcPts val="300"/>
              </a:spcAft>
            </a:pPr>
            <a:r>
              <a:rPr lang="en-GB" altLang="zh-TW" sz="2400" dirty="0" smtClean="0"/>
              <a:t>Lifecycle models is --</a:t>
            </a:r>
          </a:p>
          <a:p>
            <a:pPr lvl="1" eaLnBrk="0" hangingPunct="0">
              <a:spcBef>
                <a:spcPts val="300"/>
              </a:spcBef>
              <a:spcAft>
                <a:spcPts val="300"/>
              </a:spcAft>
            </a:pPr>
            <a:r>
              <a:rPr lang="en-GB" sz="2100" dirty="0" smtClean="0"/>
              <a:t>A model that captures a set of activities and how they are related.</a:t>
            </a:r>
            <a:endParaRPr lang="en-GB" sz="2100" dirty="0"/>
          </a:p>
          <a:p>
            <a:pPr eaLnBrk="0" hangingPunct="0">
              <a:spcBef>
                <a:spcPts val="300"/>
              </a:spcBef>
              <a:spcAft>
                <a:spcPts val="300"/>
              </a:spcAft>
            </a:pPr>
            <a:r>
              <a:rPr lang="en-GB" sz="2400" dirty="0"/>
              <a:t>Lifecycle models are:</a:t>
            </a:r>
          </a:p>
          <a:p>
            <a:pPr lvl="1" eaLnBrk="0" hangingPunct="0">
              <a:spcBef>
                <a:spcPts val="300"/>
              </a:spcBef>
              <a:spcAft>
                <a:spcPts val="300"/>
              </a:spcAft>
              <a:buFontTx/>
              <a:buChar char="—"/>
            </a:pPr>
            <a:r>
              <a:rPr lang="en-GB" sz="2000" dirty="0"/>
              <a:t>management tools</a:t>
            </a:r>
          </a:p>
          <a:p>
            <a:pPr lvl="1" eaLnBrk="0" hangingPunct="0">
              <a:spcBef>
                <a:spcPts val="300"/>
              </a:spcBef>
              <a:spcAft>
                <a:spcPts val="300"/>
              </a:spcAft>
              <a:buFontTx/>
              <a:buChar char="—"/>
            </a:pPr>
            <a:r>
              <a:rPr lang="en-GB" sz="2000" dirty="0"/>
              <a:t>simplified versions of </a:t>
            </a:r>
            <a:r>
              <a:rPr lang="en-GB" sz="2000" dirty="0" smtClean="0"/>
              <a:t>reality</a:t>
            </a:r>
          </a:p>
          <a:p>
            <a:pPr lvl="1" eaLnBrk="0" hangingPunct="0">
              <a:spcBef>
                <a:spcPts val="300"/>
              </a:spcBef>
              <a:spcAft>
                <a:spcPts val="300"/>
              </a:spcAft>
              <a:buFontTx/>
              <a:buChar char="—"/>
            </a:pPr>
            <a:endParaRPr lang="en-GB" sz="2000" dirty="0"/>
          </a:p>
          <a:p>
            <a:pPr lvl="1" eaLnBrk="0" hangingPunct="0">
              <a:spcBef>
                <a:spcPts val="300"/>
              </a:spcBef>
              <a:spcAft>
                <a:spcPts val="300"/>
              </a:spcAft>
              <a:buFontTx/>
              <a:buChar char="—"/>
            </a:pPr>
            <a:endParaRPr lang="en-GB" sz="2400" dirty="0"/>
          </a:p>
        </p:txBody>
      </p:sp>
      <p:sp>
        <p:nvSpPr>
          <p:cNvPr id="5" name="標題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</p:spPr>
        <p:txBody>
          <a:bodyPr>
            <a:normAutofit fontScale="90000"/>
          </a:bodyPr>
          <a:lstStyle/>
          <a:p>
            <a:r>
              <a:rPr lang="en-US" altLang="zh-TW" dirty="0" smtClean="0"/>
              <a:t>9.2.5 A simple lifecycle model for ID</a:t>
            </a:r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AD0B3-31E6-4ADF-A443-48097A60ADE2}" type="slidenum">
              <a:rPr lang="zh-TW" altLang="en-US" smtClean="0"/>
              <a:pPr/>
              <a:t>16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250" name="Rectangle 2"/>
          <p:cNvSpPr>
            <a:spLocks noChangeArrowheads="1"/>
          </p:cNvSpPr>
          <p:nvPr/>
        </p:nvSpPr>
        <p:spPr bwMode="auto">
          <a:xfrm>
            <a:off x="703385" y="6248400"/>
            <a:ext cx="189913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1251" name="Rectangle 3"/>
          <p:cNvSpPr>
            <a:spLocks noChangeArrowheads="1"/>
          </p:cNvSpPr>
          <p:nvPr/>
        </p:nvSpPr>
        <p:spPr bwMode="auto">
          <a:xfrm>
            <a:off x="3165231" y="6248400"/>
            <a:ext cx="281353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1252" name="Rectangle 4"/>
          <p:cNvSpPr>
            <a:spLocks noChangeArrowheads="1"/>
          </p:cNvSpPr>
          <p:nvPr/>
        </p:nvSpPr>
        <p:spPr bwMode="auto">
          <a:xfrm>
            <a:off x="703385" y="6248400"/>
            <a:ext cx="189913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1254" name="Rectangle 6"/>
          <p:cNvSpPr>
            <a:spLocks noGrp="1" noChangeArrowheads="1"/>
          </p:cNvSpPr>
          <p:nvPr>
            <p:ph type="title"/>
          </p:nvPr>
        </p:nvSpPr>
        <p:spPr>
          <a:xfrm>
            <a:off x="281354" y="332656"/>
            <a:ext cx="8510954" cy="582211"/>
          </a:xfrm>
          <a:noFill/>
          <a:ln/>
        </p:spPr>
        <p:txBody>
          <a:bodyPr lIns="90488" tIns="44450" rIns="90488" bIns="44450">
            <a:spAutoFit/>
          </a:bodyPr>
          <a:lstStyle/>
          <a:p>
            <a:r>
              <a:rPr lang="en-US" altLang="zh-TW" sz="3200" dirty="0">
                <a:ea typeface="新細明體" pitchFamily="18" charset="-120"/>
              </a:rPr>
              <a:t>A simple interaction design model</a:t>
            </a:r>
            <a:endParaRPr lang="en-US" altLang="zh-TW" sz="3200" i="1" dirty="0">
              <a:ea typeface="新細明體" pitchFamily="18" charset="-120"/>
            </a:endParaRPr>
          </a:p>
        </p:txBody>
      </p:sp>
      <p:grpSp>
        <p:nvGrpSpPr>
          <p:cNvPr id="2" name="群組 33"/>
          <p:cNvGrpSpPr/>
          <p:nvPr/>
        </p:nvGrpSpPr>
        <p:grpSpPr>
          <a:xfrm>
            <a:off x="1043608" y="1639942"/>
            <a:ext cx="6906466" cy="4453354"/>
            <a:chOff x="1617785" y="1447800"/>
            <a:chExt cx="6906466" cy="4453354"/>
          </a:xfrm>
        </p:grpSpPr>
        <p:sp>
          <p:nvSpPr>
            <p:cNvPr id="181286" name="Arc 38"/>
            <p:cNvSpPr>
              <a:spLocks/>
            </p:cNvSpPr>
            <p:nvPr/>
          </p:nvSpPr>
          <p:spPr bwMode="auto">
            <a:xfrm>
              <a:off x="5275385" y="2286000"/>
              <a:ext cx="1266092" cy="137160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81278" name="Oval 30"/>
            <p:cNvSpPr>
              <a:spLocks noChangeArrowheads="1"/>
            </p:cNvSpPr>
            <p:nvPr/>
          </p:nvSpPr>
          <p:spPr bwMode="auto">
            <a:xfrm>
              <a:off x="3657600" y="1676400"/>
              <a:ext cx="1688123" cy="1143000"/>
            </a:xfrm>
            <a:prstGeom prst="ellipse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81280" name="Oval 32"/>
            <p:cNvSpPr>
              <a:spLocks noChangeArrowheads="1"/>
            </p:cNvSpPr>
            <p:nvPr/>
          </p:nvSpPr>
          <p:spPr bwMode="auto">
            <a:xfrm>
              <a:off x="1617785" y="3124200"/>
              <a:ext cx="1688123" cy="1143000"/>
            </a:xfrm>
            <a:prstGeom prst="ellipse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81281" name="Oval 33"/>
            <p:cNvSpPr>
              <a:spLocks noChangeArrowheads="1"/>
            </p:cNvSpPr>
            <p:nvPr/>
          </p:nvSpPr>
          <p:spPr bwMode="auto">
            <a:xfrm>
              <a:off x="5697415" y="3505200"/>
              <a:ext cx="1688123" cy="1143000"/>
            </a:xfrm>
            <a:prstGeom prst="ellipse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81263" name="Text Box 15"/>
            <p:cNvSpPr txBox="1">
              <a:spLocks noChangeArrowheads="1"/>
            </p:cNvSpPr>
            <p:nvPr/>
          </p:nvSpPr>
          <p:spPr bwMode="auto">
            <a:xfrm>
              <a:off x="6119446" y="3886200"/>
              <a:ext cx="898281" cy="336550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1600" b="0"/>
                <a:t>Evaluate</a:t>
              </a:r>
            </a:p>
          </p:txBody>
        </p:sp>
        <p:sp>
          <p:nvSpPr>
            <p:cNvPr id="181264" name="Text Box 16"/>
            <p:cNvSpPr txBox="1">
              <a:spLocks noChangeArrowheads="1"/>
            </p:cNvSpPr>
            <p:nvPr/>
          </p:nvSpPr>
          <p:spPr bwMode="auto">
            <a:xfrm>
              <a:off x="1835696" y="3356992"/>
              <a:ext cx="1284326" cy="58477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1600" b="0" dirty="0" smtClean="0"/>
                <a:t>Designing </a:t>
              </a:r>
            </a:p>
            <a:p>
              <a:r>
                <a:rPr lang="en-GB" sz="1600" dirty="0" smtClean="0"/>
                <a:t>alternatives</a:t>
              </a:r>
              <a:endParaRPr lang="en-GB" b="0" dirty="0"/>
            </a:p>
          </p:txBody>
        </p:sp>
        <p:sp>
          <p:nvSpPr>
            <p:cNvPr id="181265" name="Text Box 17"/>
            <p:cNvSpPr txBox="1">
              <a:spLocks noChangeArrowheads="1"/>
            </p:cNvSpPr>
            <p:nvPr/>
          </p:nvSpPr>
          <p:spPr bwMode="auto">
            <a:xfrm>
              <a:off x="3838705" y="1828800"/>
              <a:ext cx="1414169" cy="584775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ctr"/>
              <a:r>
                <a:rPr lang="en-GB" sz="1600" b="0" dirty="0" smtClean="0"/>
                <a:t>Establish </a:t>
              </a:r>
              <a:endParaRPr lang="en-GB" sz="1600" b="0" dirty="0"/>
            </a:p>
            <a:p>
              <a:pPr algn="ctr"/>
              <a:r>
                <a:rPr lang="en-GB" sz="1600" b="0" dirty="0"/>
                <a:t>requirements</a:t>
              </a:r>
              <a:endParaRPr lang="en-GB" b="0" dirty="0"/>
            </a:p>
          </p:txBody>
        </p:sp>
        <p:sp>
          <p:nvSpPr>
            <p:cNvPr id="181282" name="Oval 34"/>
            <p:cNvSpPr>
              <a:spLocks noChangeArrowheads="1"/>
            </p:cNvSpPr>
            <p:nvPr/>
          </p:nvSpPr>
          <p:spPr bwMode="auto">
            <a:xfrm>
              <a:off x="3798277" y="4343400"/>
              <a:ext cx="1688123" cy="1143000"/>
            </a:xfrm>
            <a:prstGeom prst="ellipse">
              <a:avLst/>
            </a:prstGeom>
            <a:solidFill>
              <a:schemeClr val="folHlink"/>
            </a:solidFill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81283" name="Text Box 35"/>
            <p:cNvSpPr txBox="1">
              <a:spLocks noChangeArrowheads="1"/>
            </p:cNvSpPr>
            <p:nvPr/>
          </p:nvSpPr>
          <p:spPr bwMode="auto">
            <a:xfrm>
              <a:off x="4067944" y="4746630"/>
              <a:ext cx="1252266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1600" b="0" dirty="0" smtClean="0"/>
                <a:t>prototyping</a:t>
              </a:r>
              <a:endParaRPr lang="en-GB" sz="1600" b="0" dirty="0"/>
            </a:p>
          </p:txBody>
        </p:sp>
        <p:sp>
          <p:nvSpPr>
            <p:cNvPr id="181284" name="Arc 36"/>
            <p:cNvSpPr>
              <a:spLocks/>
            </p:cNvSpPr>
            <p:nvPr/>
          </p:nvSpPr>
          <p:spPr bwMode="auto">
            <a:xfrm flipH="1">
              <a:off x="2250831" y="2286000"/>
              <a:ext cx="1406769" cy="83820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81285" name="Arc 37"/>
            <p:cNvSpPr>
              <a:spLocks/>
            </p:cNvSpPr>
            <p:nvPr/>
          </p:nvSpPr>
          <p:spPr bwMode="auto">
            <a:xfrm flipV="1">
              <a:off x="2813538" y="2438400"/>
              <a:ext cx="914400" cy="76200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81288" name="Arc 40"/>
            <p:cNvSpPr>
              <a:spLocks/>
            </p:cNvSpPr>
            <p:nvPr/>
          </p:nvSpPr>
          <p:spPr bwMode="auto">
            <a:xfrm flipH="1" flipV="1">
              <a:off x="2461846" y="4267200"/>
              <a:ext cx="1406769" cy="91440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81290" name="Arc 42"/>
            <p:cNvSpPr>
              <a:spLocks/>
            </p:cNvSpPr>
            <p:nvPr/>
          </p:nvSpPr>
          <p:spPr bwMode="auto">
            <a:xfrm>
              <a:off x="2813538" y="4191000"/>
              <a:ext cx="1055077" cy="534988"/>
            </a:xfrm>
            <a:custGeom>
              <a:avLst/>
              <a:gdLst>
                <a:gd name="G0" fmla="+- 806 0 0"/>
                <a:gd name="G1" fmla="+- 21600 0 0"/>
                <a:gd name="G2" fmla="+- 21600 0 0"/>
                <a:gd name="T0" fmla="*/ 0 w 22406"/>
                <a:gd name="T1" fmla="*/ 15 h 21600"/>
                <a:gd name="T2" fmla="*/ 22406 w 22406"/>
                <a:gd name="T3" fmla="*/ 21600 h 21600"/>
                <a:gd name="T4" fmla="*/ 806 w 22406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2406" h="21600" fill="none" extrusionOk="0">
                  <a:moveTo>
                    <a:pt x="0" y="15"/>
                  </a:moveTo>
                  <a:cubicBezTo>
                    <a:pt x="268" y="5"/>
                    <a:pt x="537" y="-1"/>
                    <a:pt x="806" y="0"/>
                  </a:cubicBezTo>
                  <a:cubicBezTo>
                    <a:pt x="12735" y="0"/>
                    <a:pt x="22406" y="9670"/>
                    <a:pt x="22406" y="21600"/>
                  </a:cubicBezTo>
                </a:path>
                <a:path w="22406" h="21600" stroke="0" extrusionOk="0">
                  <a:moveTo>
                    <a:pt x="0" y="15"/>
                  </a:moveTo>
                  <a:cubicBezTo>
                    <a:pt x="268" y="5"/>
                    <a:pt x="537" y="-1"/>
                    <a:pt x="806" y="0"/>
                  </a:cubicBezTo>
                  <a:cubicBezTo>
                    <a:pt x="12735" y="0"/>
                    <a:pt x="22406" y="9670"/>
                    <a:pt x="22406" y="21600"/>
                  </a:cubicBezTo>
                  <a:lnTo>
                    <a:pt x="806" y="21600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81291" name="Arc 43"/>
            <p:cNvSpPr>
              <a:spLocks/>
            </p:cNvSpPr>
            <p:nvPr/>
          </p:nvSpPr>
          <p:spPr bwMode="auto">
            <a:xfrm flipV="1">
              <a:off x="5486400" y="4648200"/>
              <a:ext cx="703385" cy="45720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81293" name="Arc 45"/>
            <p:cNvSpPr>
              <a:spLocks/>
            </p:cNvSpPr>
            <p:nvPr/>
          </p:nvSpPr>
          <p:spPr bwMode="auto">
            <a:xfrm>
              <a:off x="7385538" y="4114800"/>
              <a:ext cx="844062" cy="137160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81296" name="Line 48"/>
            <p:cNvSpPr>
              <a:spLocks noChangeShapeType="1"/>
            </p:cNvSpPr>
            <p:nvPr/>
          </p:nvSpPr>
          <p:spPr bwMode="auto">
            <a:xfrm>
              <a:off x="8229600" y="5410200"/>
              <a:ext cx="0" cy="152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81297" name="Line 49"/>
            <p:cNvSpPr>
              <a:spLocks noChangeShapeType="1"/>
            </p:cNvSpPr>
            <p:nvPr/>
          </p:nvSpPr>
          <p:spPr bwMode="auto">
            <a:xfrm flipH="1">
              <a:off x="2883877" y="4191000"/>
              <a:ext cx="703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81298" name="Line 50"/>
            <p:cNvSpPr>
              <a:spLocks noChangeShapeType="1"/>
            </p:cNvSpPr>
            <p:nvPr/>
          </p:nvSpPr>
          <p:spPr bwMode="auto">
            <a:xfrm>
              <a:off x="3727938" y="5181600"/>
              <a:ext cx="140677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81299" name="Line 51"/>
            <p:cNvSpPr>
              <a:spLocks noChangeShapeType="1"/>
            </p:cNvSpPr>
            <p:nvPr/>
          </p:nvSpPr>
          <p:spPr bwMode="auto">
            <a:xfrm>
              <a:off x="2250831" y="3048000"/>
              <a:ext cx="0" cy="76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81304" name="Text Box 56"/>
            <p:cNvSpPr txBox="1">
              <a:spLocks noChangeArrowheads="1"/>
            </p:cNvSpPr>
            <p:nvPr/>
          </p:nvSpPr>
          <p:spPr bwMode="auto">
            <a:xfrm>
              <a:off x="7244862" y="5562600"/>
              <a:ext cx="1279389" cy="338554"/>
            </a:xfrm>
            <a:prstGeom prst="rect">
              <a:avLst/>
            </a:prstGeom>
            <a:noFill/>
            <a:ln w="12700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r>
                <a:rPr lang="en-GB" sz="1600" b="0"/>
                <a:t>Final product</a:t>
              </a:r>
            </a:p>
          </p:txBody>
        </p:sp>
        <p:sp>
          <p:nvSpPr>
            <p:cNvPr id="181305" name="Line 57"/>
            <p:cNvSpPr>
              <a:spLocks noChangeShapeType="1"/>
            </p:cNvSpPr>
            <p:nvPr/>
          </p:nvSpPr>
          <p:spPr bwMode="auto">
            <a:xfrm flipV="1">
              <a:off x="3727938" y="2438400"/>
              <a:ext cx="0" cy="152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81306" name="Line 58"/>
            <p:cNvSpPr>
              <a:spLocks noChangeShapeType="1"/>
            </p:cNvSpPr>
            <p:nvPr/>
          </p:nvSpPr>
          <p:spPr bwMode="auto">
            <a:xfrm flipH="1" flipV="1">
              <a:off x="3305908" y="3657600"/>
              <a:ext cx="2391508" cy="3048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81307" name="Line 59"/>
            <p:cNvSpPr>
              <a:spLocks noChangeShapeType="1"/>
            </p:cNvSpPr>
            <p:nvPr/>
          </p:nvSpPr>
          <p:spPr bwMode="auto">
            <a:xfrm flipV="1">
              <a:off x="6189785" y="4572000"/>
              <a:ext cx="0" cy="1524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81308" name="Arc 60"/>
            <p:cNvSpPr>
              <a:spLocks/>
            </p:cNvSpPr>
            <p:nvPr/>
          </p:nvSpPr>
          <p:spPr bwMode="auto">
            <a:xfrm>
              <a:off x="3868615" y="1447800"/>
              <a:ext cx="633046" cy="228600"/>
            </a:xfrm>
            <a:custGeom>
              <a:avLst/>
              <a:gdLst>
                <a:gd name="G0" fmla="+- 0 0 0"/>
                <a:gd name="G1" fmla="+- 21600 0 0"/>
                <a:gd name="G2" fmla="+- 21600 0 0"/>
                <a:gd name="T0" fmla="*/ 0 w 21600"/>
                <a:gd name="T1" fmla="*/ 0 h 21600"/>
                <a:gd name="T2" fmla="*/ 21600 w 21600"/>
                <a:gd name="T3" fmla="*/ 21600 h 21600"/>
                <a:gd name="T4" fmla="*/ 0 w 21600"/>
                <a:gd name="T5" fmla="*/ 21600 h 2160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close/>
                </a:path>
              </a:pathLst>
            </a:custGeom>
            <a:noFill/>
            <a:ln w="12700">
              <a:solidFill>
                <a:schemeClr val="tx1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81309" name="Line 61"/>
            <p:cNvSpPr>
              <a:spLocks noChangeShapeType="1"/>
            </p:cNvSpPr>
            <p:nvPr/>
          </p:nvSpPr>
          <p:spPr bwMode="auto">
            <a:xfrm>
              <a:off x="4501662" y="1600200"/>
              <a:ext cx="70338" cy="7620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  <p:sp>
          <p:nvSpPr>
            <p:cNvPr id="181310" name="Line 62"/>
            <p:cNvSpPr>
              <a:spLocks noChangeShapeType="1"/>
            </p:cNvSpPr>
            <p:nvPr/>
          </p:nvSpPr>
          <p:spPr bwMode="auto">
            <a:xfrm flipH="1" flipV="1">
              <a:off x="5345723" y="2286000"/>
              <a:ext cx="7033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ffectLst/>
          </p:spPr>
          <p:txBody>
            <a:bodyPr wrap="none" anchor="ctr"/>
            <a:lstStyle/>
            <a:p>
              <a:endParaRPr lang="zh-TW" altLang="en-US"/>
            </a:p>
          </p:txBody>
        </p:sp>
      </p:grpSp>
      <p:sp>
        <p:nvSpPr>
          <p:cNvPr id="181311" name="Text Box 63"/>
          <p:cNvSpPr txBox="1">
            <a:spLocks noChangeArrowheads="1"/>
          </p:cNvSpPr>
          <p:nvPr/>
        </p:nvSpPr>
        <p:spPr bwMode="auto">
          <a:xfrm>
            <a:off x="179512" y="1124744"/>
            <a:ext cx="4429611" cy="369332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>
            <a:spAutoFit/>
          </a:bodyPr>
          <a:lstStyle/>
          <a:p>
            <a:r>
              <a:rPr lang="en-US" altLang="zh-TW" b="0" dirty="0">
                <a:ea typeface="新細明體" pitchFamily="18" charset="-120"/>
              </a:rPr>
              <a:t>Exemplifies a user-centered design approach</a:t>
            </a:r>
            <a:r>
              <a:rPr lang="en-US" altLang="zh-TW" dirty="0">
                <a:ea typeface="新細明體" pitchFamily="18" charset="-120"/>
              </a:rPr>
              <a:t> </a:t>
            </a:r>
          </a:p>
        </p:txBody>
      </p:sp>
      <p:sp>
        <p:nvSpPr>
          <p:cNvPr id="35" name="Text Box 63"/>
          <p:cNvSpPr txBox="1">
            <a:spLocks noChangeArrowheads="1"/>
          </p:cNvSpPr>
          <p:nvPr/>
        </p:nvSpPr>
        <p:spPr bwMode="auto">
          <a:xfrm>
            <a:off x="251520" y="6021288"/>
            <a:ext cx="5400600" cy="646331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square">
            <a:spAutoFit/>
          </a:bodyPr>
          <a:lstStyle/>
          <a:p>
            <a:r>
              <a:rPr lang="zh-TW" altLang="en-US" dirty="0" smtClean="0">
                <a:ea typeface="新細明體" pitchFamily="18" charset="-120"/>
              </a:rPr>
              <a:t>視資源</a:t>
            </a:r>
            <a:r>
              <a:rPr lang="en-US" altLang="zh-TW" dirty="0" smtClean="0">
                <a:ea typeface="新細明體" pitchFamily="18" charset="-120"/>
              </a:rPr>
              <a:t>(time…)</a:t>
            </a:r>
            <a:r>
              <a:rPr lang="zh-TW" altLang="en-US" dirty="0" smtClean="0">
                <a:ea typeface="新細明體" pitchFamily="18" charset="-120"/>
              </a:rPr>
              <a:t>多寡決定何時進入</a:t>
            </a:r>
            <a:r>
              <a:rPr lang="en-US" altLang="zh-TW" dirty="0" smtClean="0">
                <a:ea typeface="新細明體" pitchFamily="18" charset="-120"/>
              </a:rPr>
              <a:t>final product</a:t>
            </a:r>
          </a:p>
          <a:p>
            <a:r>
              <a:rPr lang="zh-TW" altLang="en-US" dirty="0" smtClean="0">
                <a:ea typeface="新細明體" pitchFamily="18" charset="-120"/>
              </a:rPr>
              <a:t>需要</a:t>
            </a:r>
            <a:r>
              <a:rPr lang="en-US" altLang="zh-TW" dirty="0" smtClean="0">
                <a:ea typeface="新細明體" pitchFamily="18" charset="-120"/>
              </a:rPr>
              <a:t>meet user experience &amp; usability</a:t>
            </a:r>
            <a:r>
              <a:rPr lang="zh-TW" altLang="en-US" dirty="0" smtClean="0">
                <a:ea typeface="新細明體" pitchFamily="18" charset="-120"/>
              </a:rPr>
              <a:t> </a:t>
            </a:r>
            <a:r>
              <a:rPr lang="en-US" altLang="zh-TW" dirty="0" smtClean="0">
                <a:ea typeface="新細明體" pitchFamily="18" charset="-120"/>
              </a:rPr>
              <a:t>criteria</a:t>
            </a:r>
            <a:endParaRPr lang="en-US" altLang="zh-TW" dirty="0">
              <a:ea typeface="新細明體" pitchFamily="18" charset="-120"/>
            </a:endParaRPr>
          </a:p>
        </p:txBody>
      </p:sp>
      <p:sp>
        <p:nvSpPr>
          <p:cNvPr id="36" name="投影片編號版面配置區 3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AD0B3-31E6-4ADF-A443-48097A60ADE2}" type="slidenum">
              <a:rPr lang="zh-TW" altLang="en-US" smtClean="0"/>
              <a:pPr/>
              <a:t>17</a:t>
            </a:fld>
            <a:endParaRPr lang="zh-TW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Rectangle 2"/>
          <p:cNvSpPr>
            <a:spLocks noChangeArrowheads="1"/>
          </p:cNvSpPr>
          <p:nvPr/>
        </p:nvSpPr>
        <p:spPr bwMode="auto">
          <a:xfrm>
            <a:off x="703385" y="6248400"/>
            <a:ext cx="189913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2819" name="Rectangle 3"/>
          <p:cNvSpPr>
            <a:spLocks noChangeArrowheads="1"/>
          </p:cNvSpPr>
          <p:nvPr/>
        </p:nvSpPr>
        <p:spPr bwMode="auto">
          <a:xfrm>
            <a:off x="3165231" y="6248400"/>
            <a:ext cx="281353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2820" name="Rectangle 4"/>
          <p:cNvSpPr>
            <a:spLocks noChangeArrowheads="1"/>
          </p:cNvSpPr>
          <p:nvPr/>
        </p:nvSpPr>
        <p:spPr bwMode="auto">
          <a:xfrm>
            <a:off x="703385" y="6248400"/>
            <a:ext cx="189913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2821" name="Rectangle 5"/>
          <p:cNvSpPr>
            <a:spLocks noChangeArrowheads="1"/>
          </p:cNvSpPr>
          <p:nvPr/>
        </p:nvSpPr>
        <p:spPr bwMode="auto">
          <a:xfrm>
            <a:off x="3165231" y="6248400"/>
            <a:ext cx="281353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62822" name="Rectangle 6"/>
          <p:cNvSpPr>
            <a:spLocks noGrp="1" noChangeArrowheads="1"/>
          </p:cNvSpPr>
          <p:nvPr>
            <p:ph type="title"/>
          </p:nvPr>
        </p:nvSpPr>
        <p:spPr>
          <a:xfrm>
            <a:off x="211015" y="350838"/>
            <a:ext cx="8651631" cy="768350"/>
          </a:xfrm>
          <a:noFill/>
          <a:ln/>
        </p:spPr>
        <p:txBody>
          <a:bodyPr lIns="90488" tIns="44450" rIns="90488" bIns="44450">
            <a:spAutoFit/>
          </a:bodyPr>
          <a:lstStyle/>
          <a:p>
            <a:r>
              <a:rPr lang="en-GB" sz="4400" dirty="0" smtClean="0"/>
              <a:t>9.3 Some </a:t>
            </a:r>
            <a:r>
              <a:rPr lang="en-GB" sz="4400" dirty="0"/>
              <a:t>practical issues</a:t>
            </a:r>
            <a:endParaRPr lang="en-US" altLang="zh-TW" sz="4400" i="1" dirty="0">
              <a:ea typeface="新細明體" pitchFamily="18" charset="-120"/>
            </a:endParaRPr>
          </a:p>
        </p:txBody>
      </p:sp>
      <p:sp>
        <p:nvSpPr>
          <p:cNvPr id="162823" name="Rectangle 7"/>
          <p:cNvSpPr>
            <a:spLocks noGrp="1" noChangeArrowheads="1"/>
          </p:cNvSpPr>
          <p:nvPr>
            <p:ph idx="1"/>
          </p:nvPr>
        </p:nvSpPr>
        <p:spPr>
          <a:xfrm>
            <a:off x="914400" y="1066800"/>
            <a:ext cx="6963508" cy="4876800"/>
          </a:xfrm>
          <a:noFill/>
          <a:ln/>
        </p:spPr>
        <p:txBody>
          <a:bodyPr lIns="90488" tIns="44450" rIns="90488" bIns="44450"/>
          <a:lstStyle/>
          <a:p>
            <a:endParaRPr lang="zh-TW" altLang="en-US">
              <a:solidFill>
                <a:srgbClr val="000000"/>
              </a:solidFill>
              <a:ea typeface="新細明體" pitchFamily="18" charset="-120"/>
            </a:endParaRPr>
          </a:p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162824" name="Rectangle 8"/>
          <p:cNvSpPr>
            <a:spLocks noChangeArrowheads="1"/>
          </p:cNvSpPr>
          <p:nvPr/>
        </p:nvSpPr>
        <p:spPr bwMode="auto">
          <a:xfrm>
            <a:off x="384865" y="1219200"/>
            <a:ext cx="8651631" cy="41910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>
              <a:spcAft>
                <a:spcPts val="600"/>
              </a:spcAft>
            </a:pPr>
            <a:endParaRPr lang="en-GB" sz="2800" b="0" dirty="0">
              <a:latin typeface="Verdana" pitchFamily="34" charset="0"/>
            </a:endParaRPr>
          </a:p>
          <a:p>
            <a:pPr>
              <a:spcAft>
                <a:spcPts val="600"/>
              </a:spcAft>
              <a:buFontTx/>
              <a:buChar char="•"/>
            </a:pPr>
            <a:r>
              <a:rPr lang="en-GB" sz="2800" b="0" dirty="0">
                <a:latin typeface="Verdana" pitchFamily="34" charset="0"/>
              </a:rPr>
              <a:t>Who are the users?</a:t>
            </a:r>
          </a:p>
          <a:p>
            <a:pPr>
              <a:spcBef>
                <a:spcPts val="300"/>
              </a:spcBef>
              <a:spcAft>
                <a:spcPts val="300"/>
              </a:spcAft>
              <a:buFontTx/>
              <a:buChar char="•"/>
            </a:pPr>
            <a:r>
              <a:rPr lang="en-GB" sz="2800" b="0" dirty="0" smtClean="0">
                <a:latin typeface="Verdana" pitchFamily="34" charset="0"/>
              </a:rPr>
              <a:t>What </a:t>
            </a:r>
            <a:r>
              <a:rPr lang="en-US" altLang="zh-TW" sz="2800" b="0" dirty="0" smtClean="0">
                <a:latin typeface="Verdana" pitchFamily="34" charset="0"/>
              </a:rPr>
              <a:t>do</a:t>
            </a:r>
            <a:r>
              <a:rPr lang="zh-TW" altLang="en-US" sz="2800" b="0" dirty="0" smtClean="0">
                <a:latin typeface="Verdana" pitchFamily="34" charset="0"/>
              </a:rPr>
              <a:t> </a:t>
            </a:r>
            <a:r>
              <a:rPr lang="en-US" altLang="zh-TW" sz="2800" b="0" dirty="0" smtClean="0">
                <a:latin typeface="Verdana" pitchFamily="34" charset="0"/>
              </a:rPr>
              <a:t>we</a:t>
            </a:r>
            <a:r>
              <a:rPr lang="zh-TW" altLang="en-US" sz="2800" b="0" dirty="0" smtClean="0">
                <a:latin typeface="Verdana" pitchFamily="34" charset="0"/>
              </a:rPr>
              <a:t> </a:t>
            </a:r>
            <a:r>
              <a:rPr lang="en-US" altLang="zh-TW" sz="2800" dirty="0" smtClean="0">
                <a:latin typeface="Verdana" pitchFamily="34" charset="0"/>
              </a:rPr>
              <a:t>mean</a:t>
            </a:r>
            <a:r>
              <a:rPr lang="zh-TW" altLang="en-US" sz="2800" dirty="0" smtClean="0">
                <a:latin typeface="Verdana" pitchFamily="34" charset="0"/>
              </a:rPr>
              <a:t> </a:t>
            </a:r>
            <a:r>
              <a:rPr lang="en-US" altLang="zh-TW" sz="2800" dirty="0" smtClean="0">
                <a:latin typeface="Verdana" pitchFamily="34" charset="0"/>
              </a:rPr>
              <a:t>by</a:t>
            </a:r>
            <a:r>
              <a:rPr lang="zh-TW" altLang="en-US" sz="2800" dirty="0" smtClean="0">
                <a:latin typeface="Verdana" pitchFamily="34" charset="0"/>
              </a:rPr>
              <a:t> </a:t>
            </a:r>
            <a:r>
              <a:rPr lang="en-GB" sz="2800" b="0" dirty="0" smtClean="0">
                <a:latin typeface="Verdana" pitchFamily="34" charset="0"/>
              </a:rPr>
              <a:t>needs?</a:t>
            </a:r>
            <a:endParaRPr lang="en-GB" sz="2800" b="0" dirty="0">
              <a:latin typeface="Verdana" pitchFamily="34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  <a:buFontTx/>
              <a:buChar char="•"/>
            </a:pPr>
            <a:r>
              <a:rPr lang="en-US" altLang="zh-TW" sz="2800" b="0" dirty="0" smtClean="0">
                <a:latin typeface="Verdana" pitchFamily="34" charset="0"/>
                <a:ea typeface="新細明體" pitchFamily="18" charset="-120"/>
              </a:rPr>
              <a:t>Where </a:t>
            </a:r>
            <a:r>
              <a:rPr lang="en-US" altLang="zh-TW" sz="2800" b="0" dirty="0">
                <a:latin typeface="Verdana" pitchFamily="34" charset="0"/>
                <a:ea typeface="新細明體" pitchFamily="18" charset="-120"/>
              </a:rPr>
              <a:t>do </a:t>
            </a:r>
            <a:r>
              <a:rPr lang="en-US" altLang="zh-TW" sz="2800" b="0" dirty="0" smtClean="0">
                <a:latin typeface="Verdana" pitchFamily="34" charset="0"/>
                <a:ea typeface="新細明體" pitchFamily="18" charset="-120"/>
              </a:rPr>
              <a:t>you</a:t>
            </a:r>
            <a:r>
              <a:rPr lang="zh-TW" altLang="en-US" sz="2800" b="0" dirty="0" smtClean="0">
                <a:latin typeface="Verdana" pitchFamily="34" charset="0"/>
                <a:ea typeface="新細明體" pitchFamily="18" charset="-120"/>
              </a:rPr>
              <a:t> </a:t>
            </a:r>
            <a:r>
              <a:rPr lang="en-US" altLang="zh-TW" sz="2800" dirty="0" smtClean="0">
                <a:latin typeface="Verdana" pitchFamily="34" charset="0"/>
                <a:ea typeface="新細明體" pitchFamily="18" charset="-120"/>
              </a:rPr>
              <a:t>g</a:t>
            </a:r>
            <a:r>
              <a:rPr lang="en-US" altLang="zh-TW" sz="2800" b="0" dirty="0" smtClean="0">
                <a:latin typeface="Verdana" pitchFamily="34" charset="0"/>
                <a:ea typeface="新細明體" pitchFamily="18" charset="-120"/>
              </a:rPr>
              <a:t>enerate</a:t>
            </a:r>
            <a:r>
              <a:rPr lang="zh-TW" altLang="en-US" sz="2800" b="0" dirty="0" smtClean="0">
                <a:latin typeface="Verdana" pitchFamily="34" charset="0"/>
                <a:ea typeface="新細明體" pitchFamily="18" charset="-120"/>
              </a:rPr>
              <a:t> </a:t>
            </a:r>
            <a:r>
              <a:rPr lang="en-US" altLang="zh-TW" sz="2800" b="0" dirty="0" smtClean="0">
                <a:latin typeface="Verdana" pitchFamily="34" charset="0"/>
                <a:ea typeface="新細明體" pitchFamily="18" charset="-120"/>
              </a:rPr>
              <a:t>alternatives</a:t>
            </a:r>
            <a:r>
              <a:rPr lang="zh-TW" altLang="en-US" sz="2800" b="0" dirty="0" smtClean="0">
                <a:latin typeface="Verdana" pitchFamily="34" charset="0"/>
                <a:ea typeface="新細明體" pitchFamily="18" charset="-120"/>
              </a:rPr>
              <a:t> </a:t>
            </a:r>
            <a:r>
              <a:rPr lang="en-US" altLang="zh-TW" sz="2800" b="0" dirty="0" smtClean="0">
                <a:latin typeface="Verdana" pitchFamily="34" charset="0"/>
                <a:ea typeface="新細明體" pitchFamily="18" charset="-120"/>
              </a:rPr>
              <a:t>design?</a:t>
            </a:r>
            <a:endParaRPr lang="en-US" altLang="zh-TW" sz="2800" b="0" dirty="0">
              <a:latin typeface="Verdana" pitchFamily="34" charset="0"/>
              <a:ea typeface="新細明體" pitchFamily="18" charset="-120"/>
            </a:endParaRPr>
          </a:p>
          <a:p>
            <a:pPr>
              <a:spcBef>
                <a:spcPts val="300"/>
              </a:spcBef>
              <a:spcAft>
                <a:spcPts val="300"/>
              </a:spcAft>
              <a:buFontTx/>
              <a:buChar char="•"/>
            </a:pPr>
            <a:r>
              <a:rPr lang="en-US" altLang="zh-TW" sz="2800" b="0" dirty="0" smtClean="0">
                <a:latin typeface="Verdana" pitchFamily="34" charset="0"/>
                <a:ea typeface="新細明體" pitchFamily="18" charset="-120"/>
              </a:rPr>
              <a:t>How </a:t>
            </a:r>
            <a:r>
              <a:rPr lang="en-US" altLang="zh-TW" sz="2800" b="0" dirty="0">
                <a:latin typeface="Verdana" pitchFamily="34" charset="0"/>
                <a:ea typeface="新細明體" pitchFamily="18" charset="-120"/>
              </a:rPr>
              <a:t>do you choose among alternatives</a:t>
            </a:r>
            <a:r>
              <a:rPr lang="en-US" altLang="zh-TW" sz="2800" b="0" dirty="0" smtClean="0">
                <a:latin typeface="Verdana" pitchFamily="34" charset="0"/>
                <a:ea typeface="新細明體" pitchFamily="18" charset="-120"/>
              </a:rPr>
              <a:t>?</a:t>
            </a:r>
          </a:p>
          <a:p>
            <a:pPr>
              <a:spcBef>
                <a:spcPts val="300"/>
              </a:spcBef>
              <a:spcAft>
                <a:spcPts val="300"/>
              </a:spcAft>
              <a:buFontTx/>
              <a:buChar char="•"/>
            </a:pPr>
            <a:r>
              <a:rPr lang="en-US" altLang="zh-TW" sz="2800" dirty="0" smtClean="0">
                <a:latin typeface="Verdana" pitchFamily="34" charset="0"/>
                <a:ea typeface="新細明體" pitchFamily="18" charset="-120"/>
              </a:rPr>
              <a:t>How</a:t>
            </a:r>
            <a:r>
              <a:rPr lang="zh-TW" altLang="en-US" sz="2800" dirty="0" smtClean="0">
                <a:latin typeface="Verdana" pitchFamily="34" charset="0"/>
                <a:ea typeface="新細明體" pitchFamily="18" charset="-120"/>
              </a:rPr>
              <a:t> </a:t>
            </a:r>
            <a:r>
              <a:rPr lang="en-US" altLang="zh-TW" sz="2800" dirty="0" smtClean="0">
                <a:latin typeface="Verdana" pitchFamily="34" charset="0"/>
                <a:ea typeface="新細明體" pitchFamily="18" charset="-120"/>
              </a:rPr>
              <a:t>do</a:t>
            </a:r>
            <a:r>
              <a:rPr lang="zh-TW" altLang="en-US" sz="2800" dirty="0" smtClean="0">
                <a:latin typeface="Verdana" pitchFamily="34" charset="0"/>
                <a:ea typeface="新細明體" pitchFamily="18" charset="-120"/>
              </a:rPr>
              <a:t> </a:t>
            </a:r>
            <a:r>
              <a:rPr lang="en-US" altLang="zh-TW" sz="2800" dirty="0" smtClean="0">
                <a:latin typeface="Verdana" pitchFamily="34" charset="0"/>
                <a:ea typeface="新細明體" pitchFamily="18" charset="-120"/>
              </a:rPr>
              <a:t>you</a:t>
            </a:r>
            <a:r>
              <a:rPr lang="zh-TW" altLang="en-US" sz="2800" dirty="0" smtClean="0">
                <a:latin typeface="Verdana" pitchFamily="34" charset="0"/>
                <a:ea typeface="新細明體" pitchFamily="18" charset="-120"/>
              </a:rPr>
              <a:t> </a:t>
            </a:r>
            <a:r>
              <a:rPr lang="en-US" altLang="zh-TW" sz="2800" dirty="0" smtClean="0">
                <a:latin typeface="Verdana" pitchFamily="34" charset="0"/>
                <a:ea typeface="新細明體" pitchFamily="18" charset="-120"/>
              </a:rPr>
              <a:t>integrate</a:t>
            </a:r>
            <a:r>
              <a:rPr lang="zh-TW" altLang="en-US" sz="2800" dirty="0" smtClean="0">
                <a:latin typeface="Verdana" pitchFamily="34" charset="0"/>
                <a:ea typeface="新細明體" pitchFamily="18" charset="-120"/>
              </a:rPr>
              <a:t> </a:t>
            </a:r>
            <a:r>
              <a:rPr lang="en-US" altLang="zh-TW" sz="2800" dirty="0" smtClean="0">
                <a:latin typeface="Verdana" pitchFamily="34" charset="0"/>
                <a:ea typeface="新細明體" pitchFamily="18" charset="-120"/>
              </a:rPr>
              <a:t>interaction</a:t>
            </a:r>
            <a:r>
              <a:rPr lang="zh-TW" altLang="en-US" sz="2800" dirty="0" smtClean="0">
                <a:latin typeface="Verdana" pitchFamily="34" charset="0"/>
                <a:ea typeface="新細明體" pitchFamily="18" charset="-120"/>
              </a:rPr>
              <a:t> </a:t>
            </a:r>
            <a:r>
              <a:rPr lang="en-US" altLang="zh-TW" sz="2800" dirty="0" smtClean="0">
                <a:latin typeface="Verdana" pitchFamily="34" charset="0"/>
                <a:ea typeface="新細明體" pitchFamily="18" charset="-120"/>
              </a:rPr>
              <a:t>design?</a:t>
            </a:r>
            <a:r>
              <a:rPr lang="zh-TW" altLang="en-US" sz="2800" dirty="0" smtClean="0">
                <a:latin typeface="Verdana" pitchFamily="34" charset="0"/>
                <a:ea typeface="新細明體" pitchFamily="18" charset="-120"/>
              </a:rPr>
              <a:t> </a:t>
            </a:r>
            <a:r>
              <a:rPr lang="en-US" altLang="zh-TW" sz="2800" dirty="0" smtClean="0">
                <a:latin typeface="Verdana" pitchFamily="34" charset="0"/>
                <a:ea typeface="新細明體" pitchFamily="18" charset="-120"/>
              </a:rPr>
              <a:t>activities</a:t>
            </a:r>
            <a:r>
              <a:rPr lang="zh-TW" altLang="en-US" sz="2800" dirty="0" smtClean="0">
                <a:latin typeface="Verdana" pitchFamily="34" charset="0"/>
                <a:ea typeface="新細明體" pitchFamily="18" charset="-120"/>
              </a:rPr>
              <a:t> </a:t>
            </a:r>
            <a:r>
              <a:rPr lang="en-US" altLang="zh-TW" sz="2800" dirty="0" smtClean="0">
                <a:latin typeface="Verdana" pitchFamily="34" charset="0"/>
                <a:ea typeface="新細明體" pitchFamily="18" charset="-120"/>
              </a:rPr>
              <a:t>with</a:t>
            </a:r>
            <a:r>
              <a:rPr lang="zh-TW" altLang="en-US" sz="2800" dirty="0" smtClean="0">
                <a:latin typeface="Verdana" pitchFamily="34" charset="0"/>
                <a:ea typeface="新細明體" pitchFamily="18" charset="-120"/>
              </a:rPr>
              <a:t> </a:t>
            </a:r>
            <a:r>
              <a:rPr lang="en-US" altLang="zh-TW" sz="2800" dirty="0" smtClean="0">
                <a:latin typeface="Verdana" pitchFamily="34" charset="0"/>
                <a:ea typeface="新細明體" pitchFamily="18" charset="-120"/>
              </a:rPr>
              <a:t>other</a:t>
            </a:r>
            <a:r>
              <a:rPr lang="zh-TW" altLang="en-US" sz="2800" dirty="0" smtClean="0">
                <a:latin typeface="Verdana" pitchFamily="34" charset="0"/>
                <a:ea typeface="新細明體" pitchFamily="18" charset="-120"/>
              </a:rPr>
              <a:t> </a:t>
            </a:r>
            <a:r>
              <a:rPr lang="en-US" altLang="zh-TW" sz="2800" dirty="0" smtClean="0">
                <a:latin typeface="Verdana" pitchFamily="34" charset="0"/>
                <a:ea typeface="新細明體" pitchFamily="18" charset="-120"/>
              </a:rPr>
              <a:t>lifecycle</a:t>
            </a:r>
            <a:r>
              <a:rPr lang="zh-TW" altLang="en-US" sz="2800" dirty="0" smtClean="0">
                <a:latin typeface="Verdana" pitchFamily="34" charset="0"/>
                <a:ea typeface="新細明體" pitchFamily="18" charset="-120"/>
              </a:rPr>
              <a:t> </a:t>
            </a:r>
            <a:r>
              <a:rPr lang="en-US" altLang="zh-TW" sz="2800" dirty="0" smtClean="0">
                <a:latin typeface="Verdana" pitchFamily="34" charset="0"/>
                <a:ea typeface="新細明體" pitchFamily="18" charset="-120"/>
              </a:rPr>
              <a:t>models?</a:t>
            </a:r>
            <a:endParaRPr lang="en-US" altLang="zh-TW" sz="2800" b="0" dirty="0">
              <a:latin typeface="Verdana" pitchFamily="34" charset="0"/>
              <a:ea typeface="新細明體" pitchFamily="18" charset="-120"/>
            </a:endParaRP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AD0B3-31E6-4ADF-A443-48097A60ADE2}" type="slidenum">
              <a:rPr lang="zh-TW" altLang="en-US" smtClean="0"/>
              <a:pPr/>
              <a:t>18</a:t>
            </a:fld>
            <a:endParaRPr lang="zh-TW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98" name="Rectangle 2"/>
          <p:cNvSpPr>
            <a:spLocks noChangeArrowheads="1"/>
          </p:cNvSpPr>
          <p:nvPr/>
        </p:nvSpPr>
        <p:spPr bwMode="auto">
          <a:xfrm>
            <a:off x="703385" y="6248400"/>
            <a:ext cx="189913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3299" name="Rectangle 3"/>
          <p:cNvSpPr>
            <a:spLocks noChangeArrowheads="1"/>
          </p:cNvSpPr>
          <p:nvPr/>
        </p:nvSpPr>
        <p:spPr bwMode="auto">
          <a:xfrm>
            <a:off x="3165231" y="6248400"/>
            <a:ext cx="281353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3300" name="Rectangle 4"/>
          <p:cNvSpPr>
            <a:spLocks noChangeArrowheads="1"/>
          </p:cNvSpPr>
          <p:nvPr/>
        </p:nvSpPr>
        <p:spPr bwMode="auto">
          <a:xfrm>
            <a:off x="703385" y="6248400"/>
            <a:ext cx="189913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3301" name="Rectangle 5"/>
          <p:cNvSpPr>
            <a:spLocks noChangeArrowheads="1"/>
          </p:cNvSpPr>
          <p:nvPr/>
        </p:nvSpPr>
        <p:spPr bwMode="auto">
          <a:xfrm>
            <a:off x="3165231" y="6248400"/>
            <a:ext cx="281353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83302" name="Rectangle 6"/>
          <p:cNvSpPr>
            <a:spLocks noGrp="1" noChangeArrowheads="1"/>
          </p:cNvSpPr>
          <p:nvPr>
            <p:ph type="title"/>
          </p:nvPr>
        </p:nvSpPr>
        <p:spPr>
          <a:xfrm>
            <a:off x="191966" y="350838"/>
            <a:ext cx="7504299" cy="520655"/>
          </a:xfrm>
          <a:noFill/>
          <a:ln/>
        </p:spPr>
        <p:txBody>
          <a:bodyPr wrap="none" lIns="90488" tIns="44450" rIns="90488" bIns="44450">
            <a:spAutoFit/>
          </a:bodyPr>
          <a:lstStyle/>
          <a:p>
            <a:r>
              <a:rPr lang="en-US" altLang="zh-TW" sz="2800" dirty="0" smtClean="0"/>
              <a:t>9.3.1</a:t>
            </a:r>
            <a:r>
              <a:rPr lang="zh-TW" altLang="en-US" sz="2800" dirty="0" smtClean="0"/>
              <a:t> </a:t>
            </a:r>
            <a:r>
              <a:rPr lang="en-GB" sz="2800" dirty="0" smtClean="0"/>
              <a:t>Who </a:t>
            </a:r>
            <a:r>
              <a:rPr lang="en-GB" sz="2800" dirty="0"/>
              <a:t>are the users/stakeholders?</a:t>
            </a:r>
            <a:endParaRPr lang="en-US" altLang="zh-TW" sz="2800" i="1" dirty="0">
              <a:ea typeface="新細明體" pitchFamily="18" charset="-120"/>
            </a:endParaRPr>
          </a:p>
        </p:txBody>
      </p:sp>
      <p:sp>
        <p:nvSpPr>
          <p:cNvPr id="183303" name="Rectangle 7"/>
          <p:cNvSpPr>
            <a:spLocks noGrp="1" noChangeArrowheads="1"/>
          </p:cNvSpPr>
          <p:nvPr>
            <p:ph idx="1"/>
          </p:nvPr>
        </p:nvSpPr>
        <p:spPr>
          <a:xfrm>
            <a:off x="914400" y="1066800"/>
            <a:ext cx="6963508" cy="4876800"/>
          </a:xfrm>
          <a:noFill/>
          <a:ln/>
        </p:spPr>
        <p:txBody>
          <a:bodyPr lIns="90488" tIns="44450" rIns="90488" bIns="44450"/>
          <a:lstStyle/>
          <a:p>
            <a:endParaRPr lang="zh-TW" altLang="en-US" dirty="0">
              <a:solidFill>
                <a:srgbClr val="000000"/>
              </a:solidFill>
              <a:ea typeface="新細明體" pitchFamily="18" charset="-120"/>
            </a:endParaRPr>
          </a:p>
          <a:p>
            <a:endParaRPr lang="zh-TW" altLang="en-US" dirty="0">
              <a:ea typeface="新細明體" pitchFamily="18" charset="-120"/>
            </a:endParaRPr>
          </a:p>
        </p:txBody>
      </p:sp>
      <p:sp>
        <p:nvSpPr>
          <p:cNvPr id="183304" name="Rectangle 8"/>
          <p:cNvSpPr>
            <a:spLocks noChangeArrowheads="1"/>
          </p:cNvSpPr>
          <p:nvPr/>
        </p:nvSpPr>
        <p:spPr bwMode="auto">
          <a:xfrm>
            <a:off x="562708" y="1371600"/>
            <a:ext cx="7609692" cy="41148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>
              <a:spcAft>
                <a:spcPts val="600"/>
              </a:spcAft>
              <a:buFontTx/>
              <a:buChar char="•"/>
            </a:pPr>
            <a:r>
              <a:rPr lang="en-GB" altLang="zh-TW" sz="2400" dirty="0" smtClean="0">
                <a:latin typeface="Verdana" pitchFamily="34" charset="0"/>
              </a:rPr>
              <a:t> Not as obvious as you think:</a:t>
            </a:r>
            <a:r>
              <a:rPr lang="zh-TW" altLang="en-US" sz="2400" dirty="0" smtClean="0">
                <a:latin typeface="Verdana" pitchFamily="34" charset="0"/>
              </a:rPr>
              <a:t> </a:t>
            </a:r>
            <a:r>
              <a:rPr lang="en-US" altLang="zh-TW" sz="2400" dirty="0" smtClean="0">
                <a:latin typeface="Verdana" pitchFamily="34" charset="0"/>
              </a:rPr>
              <a:t>those who</a:t>
            </a:r>
            <a:endParaRPr lang="en-GB" altLang="zh-TW" sz="2400" dirty="0" smtClean="0">
              <a:latin typeface="Verdana" pitchFamily="34" charset="0"/>
            </a:endParaRPr>
          </a:p>
          <a:p>
            <a:pPr lvl="1">
              <a:spcBef>
                <a:spcPts val="300"/>
              </a:spcBef>
              <a:spcAft>
                <a:spcPts val="300"/>
              </a:spcAft>
              <a:buFontTx/>
              <a:buChar char="—"/>
            </a:pPr>
            <a:endParaRPr lang="en-GB" b="0" dirty="0" smtClean="0">
              <a:latin typeface="Verdana" pitchFamily="34" charset="0"/>
            </a:endParaRPr>
          </a:p>
          <a:p>
            <a:pPr lvl="1">
              <a:spcBef>
                <a:spcPts val="300"/>
              </a:spcBef>
              <a:spcAft>
                <a:spcPts val="300"/>
              </a:spcAft>
              <a:buFontTx/>
              <a:buChar char="—"/>
            </a:pPr>
            <a:endParaRPr lang="en-GB" dirty="0" smtClean="0">
              <a:latin typeface="Verdana" pitchFamily="34" charset="0"/>
            </a:endParaRPr>
          </a:p>
          <a:p>
            <a:pPr lvl="1">
              <a:spcBef>
                <a:spcPts val="300"/>
              </a:spcBef>
              <a:spcAft>
                <a:spcPts val="300"/>
              </a:spcAft>
              <a:buFontTx/>
              <a:buChar char="—"/>
            </a:pPr>
            <a:endParaRPr lang="en-GB" b="0" dirty="0" smtClean="0">
              <a:latin typeface="Verdana" pitchFamily="34" charset="0"/>
            </a:endParaRPr>
          </a:p>
          <a:p>
            <a:pPr lvl="1">
              <a:spcBef>
                <a:spcPts val="300"/>
              </a:spcBef>
              <a:spcAft>
                <a:spcPts val="300"/>
              </a:spcAft>
              <a:buFontTx/>
              <a:buChar char="—"/>
            </a:pPr>
            <a:endParaRPr lang="en-GB" dirty="0" smtClean="0">
              <a:latin typeface="Verdana" pitchFamily="34" charset="0"/>
            </a:endParaRPr>
          </a:p>
          <a:p>
            <a:pPr lvl="1">
              <a:spcBef>
                <a:spcPts val="300"/>
              </a:spcBef>
              <a:spcAft>
                <a:spcPts val="300"/>
              </a:spcAft>
              <a:buFontTx/>
              <a:buChar char="—"/>
            </a:pPr>
            <a:endParaRPr lang="en-GB" b="0" dirty="0">
              <a:latin typeface="Verdana" pitchFamily="34" charset="0"/>
            </a:endParaRPr>
          </a:p>
          <a:p>
            <a:pPr>
              <a:spcBef>
                <a:spcPts val="300"/>
              </a:spcBef>
              <a:spcAft>
                <a:spcPts val="300"/>
              </a:spcAft>
              <a:buFontTx/>
              <a:buChar char="•"/>
            </a:pPr>
            <a:r>
              <a:rPr lang="en-GB" sz="2400" b="0" dirty="0">
                <a:latin typeface="Verdana" pitchFamily="34" charset="0"/>
              </a:rPr>
              <a:t>Three categories of user (Eason, 1987):  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buFontTx/>
              <a:buChar char="—"/>
            </a:pPr>
            <a:r>
              <a:rPr lang="en-GB" sz="2000" b="0" dirty="0">
                <a:latin typeface="Verdana" pitchFamily="34" charset="0"/>
              </a:rPr>
              <a:t> </a:t>
            </a:r>
            <a:r>
              <a:rPr lang="en-GB" sz="2000" b="0" dirty="0">
                <a:solidFill>
                  <a:schemeClr val="accent2"/>
                </a:solidFill>
                <a:latin typeface="Verdana" pitchFamily="34" charset="0"/>
              </a:rPr>
              <a:t>primary</a:t>
            </a:r>
            <a:r>
              <a:rPr lang="en-GB" sz="2000" b="0" dirty="0">
                <a:latin typeface="Verdana" pitchFamily="34" charset="0"/>
              </a:rPr>
              <a:t>: frequent hands-on</a:t>
            </a:r>
          </a:p>
          <a:p>
            <a:pPr lvl="1">
              <a:spcBef>
                <a:spcPts val="300"/>
              </a:spcBef>
              <a:spcAft>
                <a:spcPts val="300"/>
              </a:spcAft>
              <a:buFontTx/>
              <a:buChar char="—"/>
            </a:pPr>
            <a:r>
              <a:rPr lang="en-GB" sz="2000" b="0" dirty="0">
                <a:latin typeface="Verdana" pitchFamily="34" charset="0"/>
              </a:rPr>
              <a:t> </a:t>
            </a:r>
            <a:r>
              <a:rPr lang="en-GB" sz="2000" b="0" dirty="0">
                <a:solidFill>
                  <a:schemeClr val="accent2"/>
                </a:solidFill>
                <a:latin typeface="Verdana" pitchFamily="34" charset="0"/>
              </a:rPr>
              <a:t>secondary</a:t>
            </a:r>
            <a:r>
              <a:rPr lang="en-GB" sz="2000" b="0" dirty="0">
                <a:latin typeface="Verdana" pitchFamily="34" charset="0"/>
              </a:rPr>
              <a:t>: occasional or via someone </a:t>
            </a:r>
            <a:r>
              <a:rPr lang="en-GB" sz="2000" b="0" dirty="0" smtClean="0">
                <a:latin typeface="Verdana" pitchFamily="34" charset="0"/>
              </a:rPr>
              <a:t>else</a:t>
            </a:r>
            <a:r>
              <a:rPr lang="zh-TW" altLang="en-US" sz="2000" b="0" dirty="0" smtClean="0">
                <a:latin typeface="Verdana" pitchFamily="34" charset="0"/>
              </a:rPr>
              <a:t> </a:t>
            </a:r>
            <a:r>
              <a:rPr lang="en-US" altLang="zh-TW" sz="2000" b="0" dirty="0" smtClean="0">
                <a:latin typeface="Verdana" pitchFamily="34" charset="0"/>
              </a:rPr>
              <a:t>(</a:t>
            </a:r>
            <a:r>
              <a:rPr lang="zh-TW" altLang="en-US" sz="2000" b="0" dirty="0" smtClean="0">
                <a:latin typeface="Verdana" pitchFamily="34" charset="0"/>
              </a:rPr>
              <a:t>代班人員</a:t>
            </a:r>
            <a:r>
              <a:rPr lang="en-US" altLang="zh-TW" sz="2000" b="0" dirty="0" smtClean="0">
                <a:latin typeface="Verdana" pitchFamily="34" charset="0"/>
              </a:rPr>
              <a:t>)</a:t>
            </a:r>
            <a:endParaRPr lang="en-GB" sz="2000" b="0" dirty="0">
              <a:latin typeface="Verdana" pitchFamily="34" charset="0"/>
            </a:endParaRPr>
          </a:p>
          <a:p>
            <a:pPr lvl="1">
              <a:spcBef>
                <a:spcPts val="300"/>
              </a:spcBef>
              <a:spcAft>
                <a:spcPts val="300"/>
              </a:spcAft>
              <a:buFontTx/>
              <a:buChar char="—"/>
            </a:pPr>
            <a:r>
              <a:rPr lang="en-GB" sz="2000" b="0" dirty="0">
                <a:latin typeface="Verdana" pitchFamily="34" charset="0"/>
              </a:rPr>
              <a:t> </a:t>
            </a:r>
            <a:r>
              <a:rPr lang="en-GB" sz="2000" b="0" dirty="0" smtClean="0">
                <a:solidFill>
                  <a:schemeClr val="accent2"/>
                </a:solidFill>
                <a:latin typeface="Verdana" pitchFamily="34" charset="0"/>
              </a:rPr>
              <a:t>tertiary</a:t>
            </a:r>
            <a:r>
              <a:rPr lang="zh-TW" altLang="en-US" sz="2000" b="0" dirty="0" smtClean="0">
                <a:solidFill>
                  <a:schemeClr val="accent2"/>
                </a:solidFill>
                <a:latin typeface="Verdana" pitchFamily="34" charset="0"/>
              </a:rPr>
              <a:t> </a:t>
            </a:r>
            <a:r>
              <a:rPr lang="en-US" altLang="zh-TW" sz="2000" b="0" dirty="0" smtClean="0">
                <a:solidFill>
                  <a:schemeClr val="accent2"/>
                </a:solidFill>
                <a:latin typeface="Verdana" pitchFamily="34" charset="0"/>
              </a:rPr>
              <a:t>(3</a:t>
            </a:r>
            <a:r>
              <a:rPr lang="en-US" altLang="zh-TW" sz="2000" b="0" baseline="30000" dirty="0" smtClean="0">
                <a:solidFill>
                  <a:schemeClr val="accent2"/>
                </a:solidFill>
                <a:latin typeface="Verdana" pitchFamily="34" charset="0"/>
              </a:rPr>
              <a:t>rd</a:t>
            </a:r>
            <a:r>
              <a:rPr lang="en-US" altLang="zh-TW" sz="2000" b="0" dirty="0" smtClean="0">
                <a:solidFill>
                  <a:schemeClr val="accent2"/>
                </a:solidFill>
                <a:latin typeface="Verdana" pitchFamily="34" charset="0"/>
              </a:rPr>
              <a:t>)</a:t>
            </a:r>
            <a:r>
              <a:rPr lang="en-GB" sz="2000" b="0" dirty="0" smtClean="0">
                <a:latin typeface="Verdana" pitchFamily="34" charset="0"/>
              </a:rPr>
              <a:t>: </a:t>
            </a:r>
            <a:r>
              <a:rPr lang="en-GB" sz="2000" b="0" dirty="0">
                <a:latin typeface="Verdana" pitchFamily="34" charset="0"/>
              </a:rPr>
              <a:t>affected by its introduction, or will influence its purchase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endParaRPr lang="zh-TW" altLang="en-US" sz="2400" b="0" dirty="0">
              <a:latin typeface="Verdana" pitchFamily="34" charset="0"/>
              <a:ea typeface="新細明體" pitchFamily="18" charset="-120"/>
            </a:endParaRPr>
          </a:p>
        </p:txBody>
      </p:sp>
      <p:sp>
        <p:nvSpPr>
          <p:cNvPr id="12" name="投影片編號版面配置區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AD0B3-31E6-4ADF-A443-48097A60ADE2}" type="slidenum">
              <a:rPr lang="zh-TW" altLang="en-US" smtClean="0"/>
              <a:pPr/>
              <a:t>19</a:t>
            </a:fld>
            <a:endParaRPr lang="zh-TW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7876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164288" y="257217"/>
            <a:ext cx="1979744" cy="118897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</p:pic>
      <p:sp>
        <p:nvSpPr>
          <p:cNvPr id="207874" name="Rectangle 2"/>
          <p:cNvSpPr>
            <a:spLocks noGrp="1" noChangeArrowheads="1"/>
          </p:cNvSpPr>
          <p:nvPr>
            <p:ph type="title"/>
          </p:nvPr>
        </p:nvSpPr>
        <p:spPr>
          <a:xfrm>
            <a:off x="251520" y="-387424"/>
            <a:ext cx="7772400" cy="1143000"/>
          </a:xfrm>
        </p:spPr>
        <p:txBody>
          <a:bodyPr>
            <a:normAutofit/>
          </a:bodyPr>
          <a:lstStyle/>
          <a:p>
            <a:r>
              <a:rPr lang="en-US" altLang="zh-TW" sz="3200" dirty="0" smtClean="0"/>
              <a:t>9.3.2</a:t>
            </a:r>
            <a:r>
              <a:rPr lang="zh-TW" altLang="en-US" sz="3200" dirty="0" smtClean="0"/>
              <a:t> </a:t>
            </a:r>
            <a:r>
              <a:rPr lang="en-GB" sz="3200" dirty="0" smtClean="0"/>
              <a:t>What do we mean by </a:t>
            </a:r>
            <a:r>
              <a:rPr lang="en-GB" sz="3200" dirty="0"/>
              <a:t>‘needs’?</a:t>
            </a:r>
            <a:endParaRPr lang="en-GB" sz="3200" i="1" dirty="0"/>
          </a:p>
        </p:txBody>
      </p:sp>
      <p:sp>
        <p:nvSpPr>
          <p:cNvPr id="207875" name="Rectangle 3"/>
          <p:cNvSpPr>
            <a:spLocks noGrp="1" noChangeArrowheads="1"/>
          </p:cNvSpPr>
          <p:nvPr>
            <p:ph idx="1"/>
          </p:nvPr>
        </p:nvSpPr>
        <p:spPr>
          <a:xfrm>
            <a:off x="251520" y="908720"/>
            <a:ext cx="8424936" cy="5282888"/>
          </a:xfrm>
        </p:spPr>
        <p:txBody>
          <a:bodyPr>
            <a:noAutofit/>
          </a:bodyPr>
          <a:lstStyle/>
          <a:p>
            <a:pPr eaLnBrk="0" hangingPunct="0"/>
            <a:r>
              <a:rPr lang="en-GB" sz="2200" dirty="0" smtClean="0">
                <a:latin typeface="Verdana" pitchFamily="34" charset="0"/>
              </a:rPr>
              <a:t>Users </a:t>
            </a:r>
            <a:r>
              <a:rPr lang="en-GB" sz="2200" dirty="0">
                <a:latin typeface="Verdana" pitchFamily="34" charset="0"/>
              </a:rPr>
              <a:t>rarely know what is </a:t>
            </a:r>
            <a:r>
              <a:rPr lang="en-GB" sz="2200" dirty="0" smtClean="0">
                <a:latin typeface="Verdana" pitchFamily="34" charset="0"/>
              </a:rPr>
              <a:t>possible</a:t>
            </a:r>
            <a:r>
              <a:rPr lang="zh-TW" altLang="en-US" sz="2200" dirty="0" smtClean="0">
                <a:latin typeface="Verdana" pitchFamily="34" charset="0"/>
              </a:rPr>
              <a:t> </a:t>
            </a:r>
            <a:endParaRPr lang="en-US" altLang="zh-TW" sz="2200" dirty="0" smtClean="0">
              <a:latin typeface="Verdana" pitchFamily="34" charset="0"/>
            </a:endParaRPr>
          </a:p>
          <a:p>
            <a:pPr eaLnBrk="0" hangingPunct="0"/>
            <a:r>
              <a:rPr lang="en-GB" sz="2200" dirty="0" smtClean="0">
                <a:latin typeface="Verdana" pitchFamily="34" charset="0"/>
              </a:rPr>
              <a:t>Users </a:t>
            </a:r>
            <a:r>
              <a:rPr lang="en-GB" sz="2200" dirty="0">
                <a:solidFill>
                  <a:srgbClr val="C00000"/>
                </a:solidFill>
                <a:latin typeface="Verdana" pitchFamily="34" charset="0"/>
              </a:rPr>
              <a:t>can’t  tell you what they ‘need’ </a:t>
            </a:r>
            <a:r>
              <a:rPr lang="en-GB" sz="2200" dirty="0">
                <a:latin typeface="Verdana" pitchFamily="34" charset="0"/>
              </a:rPr>
              <a:t>to help them achieve their goals </a:t>
            </a:r>
          </a:p>
          <a:p>
            <a:pPr eaLnBrk="0" hangingPunct="0"/>
            <a:r>
              <a:rPr lang="en-GB" sz="2200" dirty="0">
                <a:solidFill>
                  <a:srgbClr val="C00000"/>
                </a:solidFill>
                <a:latin typeface="Verdana" pitchFamily="34" charset="0"/>
              </a:rPr>
              <a:t>Instead, </a:t>
            </a:r>
            <a:r>
              <a:rPr lang="en-GB" sz="2200" dirty="0" smtClean="0">
                <a:solidFill>
                  <a:srgbClr val="C00000"/>
                </a:solidFill>
                <a:latin typeface="Verdana" pitchFamily="34" charset="0"/>
              </a:rPr>
              <a:t>we approach it by: </a:t>
            </a:r>
            <a:r>
              <a:rPr lang="en-GB" sz="2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rPr>
              <a:t>Understanding the characteristics / capabilities</a:t>
            </a:r>
          </a:p>
          <a:p>
            <a:pPr lvl="1" eaLnBrk="0" hangingPunct="0">
              <a:spcBef>
                <a:spcPts val="600"/>
              </a:spcBef>
            </a:pPr>
            <a:r>
              <a:rPr lang="en-GB" sz="2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rPr>
              <a:t>What they try to achieve &amp; how they achieve it currently</a:t>
            </a:r>
          </a:p>
          <a:p>
            <a:pPr lvl="1" eaLnBrk="0" hangingPunct="0">
              <a:spcBef>
                <a:spcPts val="600"/>
              </a:spcBef>
            </a:pPr>
            <a:r>
              <a:rPr lang="zh-TW" altLang="en-US" sz="2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rPr>
              <a:t>是否需要更高效率及</a:t>
            </a:r>
            <a:r>
              <a:rPr lang="en-US" altLang="zh-TW" sz="2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rPr>
              <a:t>user experience</a:t>
            </a:r>
            <a:r>
              <a:rPr lang="zh-TW" altLang="en-US" sz="2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rPr>
              <a:t> </a:t>
            </a:r>
            <a:r>
              <a:rPr lang="en-US" altLang="zh-TW" sz="2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rPr>
              <a:t>to achieve their goals</a:t>
            </a:r>
            <a:endParaRPr lang="en-GB" sz="2200" dirty="0">
              <a:solidFill>
                <a:schemeClr val="tx1">
                  <a:lumMod val="75000"/>
                  <a:lumOff val="25000"/>
                </a:schemeClr>
              </a:solidFill>
              <a:latin typeface="Verdana" pitchFamily="34" charset="0"/>
            </a:endParaRPr>
          </a:p>
          <a:p>
            <a:pPr eaLnBrk="0" hangingPunct="0"/>
            <a:r>
              <a:rPr lang="en-GB" sz="2200" dirty="0" smtClean="0">
                <a:latin typeface="Verdana" pitchFamily="34" charset="0"/>
              </a:rPr>
              <a:t>Envisioned </a:t>
            </a:r>
            <a:r>
              <a:rPr lang="en-GB" sz="2200" dirty="0">
                <a:latin typeface="Verdana" pitchFamily="34" charset="0"/>
              </a:rPr>
              <a:t>tasks:</a:t>
            </a:r>
          </a:p>
          <a:p>
            <a:pPr lvl="1" eaLnBrk="0" hangingPunct="0">
              <a:spcBef>
                <a:spcPts val="600"/>
              </a:spcBef>
            </a:pPr>
            <a:r>
              <a:rPr lang="en-GB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rPr>
              <a:t>can be rooted in existing behaviour</a:t>
            </a:r>
          </a:p>
          <a:p>
            <a:pPr lvl="1" eaLnBrk="0" hangingPunct="0">
              <a:spcBef>
                <a:spcPts val="600"/>
              </a:spcBef>
            </a:pPr>
            <a:r>
              <a:rPr lang="en-GB" sz="2200" dirty="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rPr>
              <a:t>can be described as future </a:t>
            </a:r>
            <a:r>
              <a:rPr lang="en-GB" sz="2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Verdana" pitchFamily="34" charset="0"/>
              </a:rPr>
              <a:t>scenarios</a:t>
            </a:r>
            <a:endParaRPr lang="en-GB" sz="2200" dirty="0">
              <a:solidFill>
                <a:schemeClr val="tx1">
                  <a:lumMod val="75000"/>
                  <a:lumOff val="25000"/>
                </a:schemeClr>
              </a:solidFill>
              <a:latin typeface="Verdana" pitchFamily="34" charset="0"/>
            </a:endParaRPr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AD0B3-31E6-4ADF-A443-48097A60ADE2}" type="slidenum">
              <a:rPr lang="zh-TW" altLang="en-US" smtClean="0"/>
              <a:pPr/>
              <a:t>20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010" name="Rectangle 2"/>
          <p:cNvSpPr>
            <a:spLocks noChangeArrowheads="1"/>
          </p:cNvSpPr>
          <p:nvPr/>
        </p:nvSpPr>
        <p:spPr bwMode="auto">
          <a:xfrm>
            <a:off x="703385" y="6248400"/>
            <a:ext cx="189913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1011" name="Rectangle 3"/>
          <p:cNvSpPr>
            <a:spLocks noChangeArrowheads="1"/>
          </p:cNvSpPr>
          <p:nvPr/>
        </p:nvSpPr>
        <p:spPr bwMode="auto">
          <a:xfrm>
            <a:off x="3165231" y="6248400"/>
            <a:ext cx="281353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1012" name="Rectangle 4"/>
          <p:cNvSpPr>
            <a:spLocks noChangeArrowheads="1"/>
          </p:cNvSpPr>
          <p:nvPr/>
        </p:nvSpPr>
        <p:spPr bwMode="auto">
          <a:xfrm>
            <a:off x="703385" y="6248400"/>
            <a:ext cx="189913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1013" name="Rectangle 5"/>
          <p:cNvSpPr>
            <a:spLocks noChangeArrowheads="1"/>
          </p:cNvSpPr>
          <p:nvPr/>
        </p:nvSpPr>
        <p:spPr bwMode="auto">
          <a:xfrm>
            <a:off x="3165231" y="6248400"/>
            <a:ext cx="2813538" cy="457200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endParaRPr lang="zh-TW" altLang="en-US"/>
          </a:p>
        </p:txBody>
      </p:sp>
      <p:sp>
        <p:nvSpPr>
          <p:cNvPr id="171014" name="Rectangle 6"/>
          <p:cNvSpPr>
            <a:spLocks noGrp="1" noChangeArrowheads="1"/>
          </p:cNvSpPr>
          <p:nvPr>
            <p:ph type="title"/>
          </p:nvPr>
        </p:nvSpPr>
        <p:spPr>
          <a:xfrm>
            <a:off x="172915" y="350838"/>
            <a:ext cx="6468760" cy="520655"/>
          </a:xfrm>
          <a:noFill/>
          <a:ln/>
        </p:spPr>
        <p:txBody>
          <a:bodyPr wrap="none" lIns="90488" tIns="44450" rIns="90488" bIns="44450">
            <a:spAutoFit/>
          </a:bodyPr>
          <a:lstStyle/>
          <a:p>
            <a:r>
              <a:rPr lang="en-GB" sz="2800" dirty="0"/>
              <a:t>What are the users’ capabilities? </a:t>
            </a:r>
            <a:endParaRPr lang="en-US" altLang="zh-TW" sz="2800" i="1" dirty="0">
              <a:ea typeface="新細明體" pitchFamily="18" charset="-120"/>
            </a:endParaRPr>
          </a:p>
        </p:txBody>
      </p:sp>
      <p:sp>
        <p:nvSpPr>
          <p:cNvPr id="171015" name="Rectangle 7"/>
          <p:cNvSpPr>
            <a:spLocks noGrp="1" noChangeArrowheads="1"/>
          </p:cNvSpPr>
          <p:nvPr>
            <p:ph idx="1"/>
          </p:nvPr>
        </p:nvSpPr>
        <p:spPr>
          <a:xfrm>
            <a:off x="914400" y="1066800"/>
            <a:ext cx="6963508" cy="4876800"/>
          </a:xfrm>
          <a:noFill/>
          <a:ln/>
        </p:spPr>
        <p:txBody>
          <a:bodyPr lIns="90488" tIns="44450" rIns="90488" bIns="44450"/>
          <a:lstStyle/>
          <a:p>
            <a:endParaRPr lang="zh-TW" altLang="en-US">
              <a:solidFill>
                <a:srgbClr val="000000"/>
              </a:solidFill>
              <a:ea typeface="新細明體" pitchFamily="18" charset="-120"/>
            </a:endParaRPr>
          </a:p>
          <a:p>
            <a:endParaRPr lang="zh-TW" altLang="en-US">
              <a:ea typeface="新細明體" pitchFamily="18" charset="-120"/>
            </a:endParaRPr>
          </a:p>
        </p:txBody>
      </p:sp>
      <p:sp>
        <p:nvSpPr>
          <p:cNvPr id="171016" name="Rectangle 8"/>
          <p:cNvSpPr>
            <a:spLocks noChangeArrowheads="1"/>
          </p:cNvSpPr>
          <p:nvPr/>
        </p:nvSpPr>
        <p:spPr bwMode="auto">
          <a:xfrm>
            <a:off x="395536" y="1052736"/>
            <a:ext cx="7877908" cy="4586064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  <a:effectLst/>
        </p:spPr>
        <p:txBody>
          <a:bodyPr lIns="90488" tIns="44450" rIns="90488" bIns="44450"/>
          <a:lstStyle/>
          <a:p>
            <a:pPr>
              <a:spcAft>
                <a:spcPts val="600"/>
              </a:spcAft>
            </a:pPr>
            <a:r>
              <a:rPr lang="en-GB" sz="2400" b="0" dirty="0">
                <a:latin typeface="Verdana" pitchFamily="34" charset="0"/>
              </a:rPr>
              <a:t>Humans vary in many dimensions:</a:t>
            </a:r>
            <a:r>
              <a:rPr lang="en-GB" b="0" dirty="0">
                <a:latin typeface="Verdana" pitchFamily="34" charset="0"/>
              </a:rPr>
              <a:t> </a:t>
            </a:r>
          </a:p>
          <a:p>
            <a:pPr lvl="1">
              <a:spcAft>
                <a:spcPts val="600"/>
              </a:spcAft>
              <a:buFontTx/>
              <a:buChar char="—"/>
            </a:pPr>
            <a:r>
              <a:rPr lang="en-GB" sz="2000" b="0" dirty="0">
                <a:latin typeface="Verdana" pitchFamily="34" charset="0"/>
              </a:rPr>
              <a:t> </a:t>
            </a:r>
            <a:r>
              <a:rPr lang="en-GB" sz="2000" b="0" dirty="0">
                <a:solidFill>
                  <a:schemeClr val="accent1">
                    <a:lumMod val="75000"/>
                  </a:schemeClr>
                </a:solidFill>
                <a:latin typeface="Verdana" pitchFamily="34" charset="0"/>
              </a:rPr>
              <a:t>size of hands </a:t>
            </a:r>
            <a:r>
              <a:rPr lang="en-GB" sz="2000" b="0" dirty="0">
                <a:latin typeface="Verdana" pitchFamily="34" charset="0"/>
              </a:rPr>
              <a:t>may affect the size and positioning of input buttons </a:t>
            </a:r>
          </a:p>
          <a:p>
            <a:pPr lvl="1">
              <a:spcAft>
                <a:spcPts val="600"/>
              </a:spcAft>
              <a:buFontTx/>
              <a:buChar char="—"/>
            </a:pPr>
            <a:r>
              <a:rPr lang="en-GB" sz="2000" b="0" dirty="0">
                <a:latin typeface="Verdana" pitchFamily="34" charset="0"/>
              </a:rPr>
              <a:t> </a:t>
            </a:r>
            <a:r>
              <a:rPr lang="en-GB" sz="2000" b="0" dirty="0">
                <a:solidFill>
                  <a:schemeClr val="accent1">
                    <a:lumMod val="75000"/>
                  </a:schemeClr>
                </a:solidFill>
                <a:latin typeface="Verdana" pitchFamily="34" charset="0"/>
              </a:rPr>
              <a:t>motor abilities </a:t>
            </a:r>
            <a:r>
              <a:rPr lang="en-GB" sz="2000" b="0" dirty="0">
                <a:latin typeface="Verdana" pitchFamily="34" charset="0"/>
              </a:rPr>
              <a:t>may affect the suitability of certain input and output devices </a:t>
            </a:r>
          </a:p>
          <a:p>
            <a:pPr lvl="1">
              <a:spcAft>
                <a:spcPts val="600"/>
              </a:spcAft>
              <a:buFontTx/>
              <a:buChar char="—"/>
            </a:pPr>
            <a:r>
              <a:rPr lang="en-GB" sz="2000" b="0" dirty="0">
                <a:latin typeface="Verdana" pitchFamily="34" charset="0"/>
              </a:rPr>
              <a:t> </a:t>
            </a:r>
            <a:r>
              <a:rPr lang="en-GB" sz="2000" b="0" dirty="0">
                <a:solidFill>
                  <a:schemeClr val="accent1">
                    <a:lumMod val="75000"/>
                  </a:schemeClr>
                </a:solidFill>
                <a:latin typeface="Verdana" pitchFamily="34" charset="0"/>
              </a:rPr>
              <a:t>height</a:t>
            </a:r>
            <a:r>
              <a:rPr lang="en-GB" sz="2000" b="0" dirty="0">
                <a:latin typeface="Verdana" pitchFamily="34" charset="0"/>
              </a:rPr>
              <a:t> if designing a physical </a:t>
            </a:r>
            <a:r>
              <a:rPr lang="en-GB" sz="2000" b="0" dirty="0" smtClean="0">
                <a:latin typeface="Verdana" pitchFamily="34" charset="0"/>
              </a:rPr>
              <a:t>kiosk</a:t>
            </a:r>
            <a:r>
              <a:rPr lang="zh-TW" altLang="en-US" sz="2000" dirty="0" smtClean="0"/>
              <a:t>公共電話亭</a:t>
            </a:r>
            <a:endParaRPr lang="en-GB" sz="2000" b="0" dirty="0">
              <a:latin typeface="Verdana" pitchFamily="34" charset="0"/>
            </a:endParaRPr>
          </a:p>
          <a:p>
            <a:pPr lvl="1">
              <a:spcAft>
                <a:spcPts val="600"/>
              </a:spcAft>
              <a:buFontTx/>
              <a:buChar char="—"/>
            </a:pPr>
            <a:r>
              <a:rPr lang="en-GB" sz="2000" b="0" dirty="0">
                <a:latin typeface="Verdana" pitchFamily="34" charset="0"/>
              </a:rPr>
              <a:t> </a:t>
            </a:r>
            <a:r>
              <a:rPr lang="en-GB" sz="2000" b="0" dirty="0">
                <a:solidFill>
                  <a:schemeClr val="accent1">
                    <a:lumMod val="75000"/>
                  </a:schemeClr>
                </a:solidFill>
                <a:latin typeface="Verdana" pitchFamily="34" charset="0"/>
              </a:rPr>
              <a:t>strength</a:t>
            </a:r>
            <a:r>
              <a:rPr lang="en-GB" sz="2000" b="0" dirty="0">
                <a:latin typeface="Verdana" pitchFamily="34" charset="0"/>
              </a:rPr>
              <a:t> - a child’s toy requires little strength to operate, but greater strength to change batteries</a:t>
            </a:r>
          </a:p>
          <a:p>
            <a:pPr lvl="1">
              <a:spcAft>
                <a:spcPts val="600"/>
              </a:spcAft>
              <a:buFontTx/>
              <a:buChar char="—"/>
            </a:pPr>
            <a:r>
              <a:rPr lang="en-GB" sz="2000" b="0" dirty="0">
                <a:latin typeface="Verdana" pitchFamily="34" charset="0"/>
              </a:rPr>
              <a:t> </a:t>
            </a:r>
            <a:r>
              <a:rPr lang="en-GB" sz="2000" b="0" dirty="0" smtClean="0">
                <a:solidFill>
                  <a:schemeClr val="accent1">
                    <a:lumMod val="75000"/>
                  </a:schemeClr>
                </a:solidFill>
                <a:latin typeface="Verdana" pitchFamily="34" charset="0"/>
              </a:rPr>
              <a:t>disabilities</a:t>
            </a:r>
            <a:r>
              <a:rPr lang="zh-TW" altLang="en-US" sz="2000" b="0" dirty="0" smtClean="0">
                <a:latin typeface="Verdana" pitchFamily="34" charset="0"/>
              </a:rPr>
              <a:t> </a:t>
            </a:r>
            <a:r>
              <a:rPr lang="en-GB" sz="2000" b="0" dirty="0" smtClean="0">
                <a:latin typeface="Verdana" pitchFamily="34" charset="0"/>
              </a:rPr>
              <a:t>(</a:t>
            </a:r>
            <a:r>
              <a:rPr lang="en-GB" sz="2000" b="0" dirty="0">
                <a:latin typeface="Verdana" pitchFamily="34" charset="0"/>
              </a:rPr>
              <a:t>e.g. sight, hearing, dexterity</a:t>
            </a:r>
            <a:r>
              <a:rPr lang="en-GB" sz="2000" b="0" dirty="0" smtClean="0">
                <a:latin typeface="Verdana" pitchFamily="34" charset="0"/>
              </a:rPr>
              <a:t>)</a:t>
            </a:r>
          </a:p>
        </p:txBody>
      </p:sp>
      <p:sp>
        <p:nvSpPr>
          <p:cNvPr id="13" name="投影片編號版面配置區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AD0B3-31E6-4ADF-A443-48097A60ADE2}" type="slidenum">
              <a:rPr lang="zh-TW" altLang="en-US" smtClean="0"/>
              <a:pPr/>
              <a:t>21</a:t>
            </a:fld>
            <a:endParaRPr lang="zh-TW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8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-18256"/>
            <a:ext cx="7239000" cy="1143000"/>
          </a:xfrm>
        </p:spPr>
        <p:txBody>
          <a:bodyPr>
            <a:normAutofit/>
          </a:bodyPr>
          <a:lstStyle/>
          <a:p>
            <a:r>
              <a:rPr lang="en-GB" sz="3600" dirty="0" smtClean="0"/>
              <a:t>9.3.3 How do you generate alternative designs?</a:t>
            </a:r>
            <a:endParaRPr lang="en-GB" sz="3600" i="1" dirty="0"/>
          </a:p>
        </p:txBody>
      </p:sp>
      <p:sp>
        <p:nvSpPr>
          <p:cNvPr id="208899" name="Rectangle 3"/>
          <p:cNvSpPr>
            <a:spLocks noGrp="1" noChangeArrowheads="1"/>
          </p:cNvSpPr>
          <p:nvPr>
            <p:ph idx="1"/>
          </p:nvPr>
        </p:nvSpPr>
        <p:spPr>
          <a:xfrm>
            <a:off x="71406" y="1268760"/>
            <a:ext cx="8286808" cy="4114800"/>
          </a:xfrm>
        </p:spPr>
        <p:txBody>
          <a:bodyPr>
            <a:noAutofit/>
          </a:bodyPr>
          <a:lstStyle/>
          <a:p>
            <a:pPr eaLnBrk="0" hangingPunct="0">
              <a:spcBef>
                <a:spcPct val="0"/>
              </a:spcBef>
              <a:spcAft>
                <a:spcPts val="600"/>
              </a:spcAft>
            </a:pPr>
            <a:r>
              <a:rPr lang="en-GB" sz="2400" dirty="0"/>
              <a:t>Humans stick to what they know </a:t>
            </a:r>
            <a:r>
              <a:rPr lang="en-GB" sz="2400" dirty="0" smtClean="0"/>
              <a:t>works </a:t>
            </a:r>
            <a:r>
              <a:rPr lang="zh-TW" altLang="en-US" sz="2400" dirty="0" smtClean="0"/>
              <a:t>安於現狀</a:t>
            </a:r>
            <a:endParaRPr lang="en-GB" sz="2400" dirty="0"/>
          </a:p>
          <a:p>
            <a:pPr eaLnBrk="0" hangingPunct="0">
              <a:spcBef>
                <a:spcPct val="0"/>
              </a:spcBef>
              <a:spcAft>
                <a:spcPts val="600"/>
              </a:spcAft>
            </a:pPr>
            <a:r>
              <a:rPr lang="en-GB" sz="2400" dirty="0"/>
              <a:t>But considering alternatives is important to ‘break out of the box’</a:t>
            </a:r>
          </a:p>
          <a:p>
            <a:pPr eaLnBrk="0" hangingPunct="0">
              <a:spcBef>
                <a:spcPct val="0"/>
              </a:spcBef>
              <a:spcAft>
                <a:spcPts val="600"/>
              </a:spcAft>
            </a:pPr>
            <a:r>
              <a:rPr lang="en-GB" sz="2400" dirty="0"/>
              <a:t>Designers are </a:t>
            </a:r>
            <a:r>
              <a:rPr lang="en-GB" sz="2400" dirty="0">
                <a:solidFill>
                  <a:srgbClr val="C00000"/>
                </a:solidFill>
              </a:rPr>
              <a:t>trained to consider alternatives</a:t>
            </a:r>
            <a:r>
              <a:rPr lang="en-GB" sz="2400" dirty="0"/>
              <a:t>, software people generally are </a:t>
            </a:r>
            <a:r>
              <a:rPr lang="en-GB" sz="2400" dirty="0" smtClean="0"/>
              <a:t>not.</a:t>
            </a:r>
            <a:endParaRPr lang="en-GB" sz="2400" dirty="0"/>
          </a:p>
          <a:p>
            <a:pPr eaLnBrk="0" hangingPunct="0">
              <a:spcBef>
                <a:spcPct val="0"/>
              </a:spcBef>
              <a:spcAft>
                <a:spcPts val="600"/>
              </a:spcAft>
            </a:pPr>
            <a:r>
              <a:rPr lang="en-GB" sz="2400" dirty="0"/>
              <a:t>How do you generate alternatives?</a:t>
            </a:r>
          </a:p>
          <a:p>
            <a:pPr lvl="1" eaLnBrk="0" hangingPunct="0">
              <a:spcBef>
                <a:spcPct val="0"/>
              </a:spcBef>
              <a:spcAft>
                <a:spcPts val="600"/>
              </a:spcAft>
              <a:buFontTx/>
              <a:buChar char="—"/>
            </a:pPr>
            <a:r>
              <a:rPr lang="en-GB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‘Flair and </a:t>
            </a:r>
            <a:r>
              <a:rPr lang="en-GB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creativity</a:t>
            </a:r>
            <a:r>
              <a:rPr lang="zh-TW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敏感度與創意</a:t>
            </a:r>
            <a:r>
              <a:rPr lang="en-GB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’: </a:t>
            </a:r>
            <a:r>
              <a:rPr lang="en-GB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research and synthesis </a:t>
            </a:r>
            <a:endParaRPr lang="en-GB" sz="2400" dirty="0" smtClean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 eaLnBrk="0" hangingPunct="0">
              <a:spcBef>
                <a:spcPct val="0"/>
              </a:spcBef>
              <a:spcAft>
                <a:spcPts val="600"/>
              </a:spcAft>
              <a:buFontTx/>
              <a:buChar char="—"/>
            </a:pPr>
            <a:r>
              <a:rPr lang="en-GB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Innovation – cross-fertilization of ideas from different</a:t>
            </a:r>
            <a:r>
              <a:rPr lang="zh-TW" altLang="en-US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觀點、人、應用領域</a:t>
            </a:r>
            <a:endParaRPr lang="en-GB" sz="2400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lvl="1" eaLnBrk="0" hangingPunct="0">
              <a:spcBef>
                <a:spcPct val="0"/>
              </a:spcBef>
              <a:spcAft>
                <a:spcPts val="600"/>
              </a:spcAft>
              <a:buFontTx/>
              <a:buChar char="—"/>
            </a:pPr>
            <a:r>
              <a:rPr lang="en-GB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Seek inspiration: look at similar products or look at very different </a:t>
            </a:r>
            <a:r>
              <a:rPr lang="en-GB" sz="2400" dirty="0" smtClean="0">
                <a:solidFill>
                  <a:schemeClr val="tx1">
                    <a:lumMod val="75000"/>
                    <a:lumOff val="25000"/>
                  </a:schemeClr>
                </a:solidFill>
              </a:rPr>
              <a:t>products</a:t>
            </a:r>
            <a:endParaRPr lang="en-US" sz="2400" b="1" dirty="0" smtClean="0"/>
          </a:p>
          <a:p>
            <a:pPr lvl="1" eaLnBrk="0" hangingPunct="0">
              <a:spcBef>
                <a:spcPct val="0"/>
              </a:spcBef>
              <a:spcAft>
                <a:spcPts val="600"/>
              </a:spcAft>
              <a:buFontTx/>
              <a:buChar char="—"/>
            </a:pPr>
            <a:endParaRPr lang="en-GB" sz="2400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AD0B3-31E6-4ADF-A443-48097A60ADE2}" type="slidenum">
              <a:rPr lang="zh-TW" altLang="en-US" smtClean="0"/>
              <a:pPr/>
              <a:t>22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922" name="Rectangle 2"/>
          <p:cNvSpPr>
            <a:spLocks noGrp="1" noChangeArrowheads="1"/>
          </p:cNvSpPr>
          <p:nvPr>
            <p:ph type="title"/>
          </p:nvPr>
        </p:nvSpPr>
        <p:spPr>
          <a:xfrm>
            <a:off x="285720" y="-357214"/>
            <a:ext cx="8678768" cy="1143000"/>
          </a:xfrm>
        </p:spPr>
        <p:txBody>
          <a:bodyPr>
            <a:normAutofit/>
          </a:bodyPr>
          <a:lstStyle/>
          <a:p>
            <a:r>
              <a:rPr lang="en-GB" altLang="zh-TW" sz="2800" dirty="0" smtClean="0"/>
              <a:t>9.3.4 </a:t>
            </a:r>
            <a:r>
              <a:rPr lang="en-GB" sz="2800" dirty="0" smtClean="0"/>
              <a:t>How </a:t>
            </a:r>
            <a:r>
              <a:rPr lang="en-GB" sz="2800" dirty="0"/>
              <a:t>do you choose </a:t>
            </a:r>
            <a:r>
              <a:rPr lang="en-GB" sz="2800" dirty="0" smtClean="0"/>
              <a:t>among</a:t>
            </a:r>
            <a:r>
              <a:rPr lang="zh-TW" altLang="en-US" sz="2800" dirty="0" smtClean="0"/>
              <a:t> </a:t>
            </a:r>
            <a:r>
              <a:rPr lang="en-GB" sz="2800" dirty="0" smtClean="0"/>
              <a:t>alternatives</a:t>
            </a:r>
            <a:r>
              <a:rPr lang="en-GB" sz="2800" dirty="0"/>
              <a:t>?</a:t>
            </a:r>
            <a:endParaRPr lang="en-GB" sz="2800" i="1" dirty="0"/>
          </a:p>
        </p:txBody>
      </p:sp>
      <p:sp>
        <p:nvSpPr>
          <p:cNvPr id="209923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214422"/>
            <a:ext cx="7787208" cy="5241314"/>
          </a:xfrm>
        </p:spPr>
        <p:txBody>
          <a:bodyPr>
            <a:normAutofit/>
          </a:bodyPr>
          <a:lstStyle/>
          <a:p>
            <a:pPr eaLnBrk="0" hangingPunct="0">
              <a:spcBef>
                <a:spcPct val="0"/>
              </a:spcBef>
              <a:spcAft>
                <a:spcPts val="600"/>
              </a:spcAft>
            </a:pPr>
            <a:r>
              <a:rPr lang="en-GB" sz="2400" dirty="0"/>
              <a:t>Evaluation with users or with peers, e.g. prototypes</a:t>
            </a:r>
          </a:p>
          <a:p>
            <a:pPr eaLnBrk="0" hangingPunct="0">
              <a:spcBef>
                <a:spcPct val="0"/>
              </a:spcBef>
              <a:spcAft>
                <a:spcPts val="600"/>
              </a:spcAft>
            </a:pPr>
            <a:r>
              <a:rPr lang="en-GB" sz="2400" dirty="0"/>
              <a:t>Technical feasibility: some not possible</a:t>
            </a:r>
          </a:p>
          <a:p>
            <a:pPr eaLnBrk="0" hangingPunct="0">
              <a:spcBef>
                <a:spcPct val="0"/>
              </a:spcBef>
              <a:spcAft>
                <a:spcPts val="600"/>
              </a:spcAft>
            </a:pPr>
            <a:r>
              <a:rPr lang="en-GB" sz="2400" dirty="0"/>
              <a:t>Quality </a:t>
            </a:r>
            <a:r>
              <a:rPr lang="en-GB" sz="2400" dirty="0" smtClean="0"/>
              <a:t>thresholds</a:t>
            </a:r>
            <a:r>
              <a:rPr lang="zh-TW" altLang="en-US" sz="2400" dirty="0" smtClean="0"/>
              <a:t>門檻 </a:t>
            </a:r>
            <a:r>
              <a:rPr lang="en-GB" sz="2400" dirty="0" smtClean="0">
                <a:solidFill>
                  <a:schemeClr val="tx2">
                    <a:lumMod val="60000"/>
                    <a:lumOff val="40000"/>
                  </a:schemeClr>
                </a:solidFill>
              </a:rPr>
              <a:t>: </a:t>
            </a:r>
            <a:r>
              <a:rPr lang="en-GB" sz="2400" dirty="0">
                <a:solidFill>
                  <a:srgbClr val="C00000"/>
                </a:solidFill>
              </a:rPr>
              <a:t>Usability goals lead to usability criteria </a:t>
            </a:r>
            <a:r>
              <a:rPr lang="en-GB" sz="2400" dirty="0">
                <a:solidFill>
                  <a:schemeClr val="accent2">
                    <a:lumMod val="75000"/>
                  </a:schemeClr>
                </a:solidFill>
              </a:rPr>
              <a:t>set early on and check </a:t>
            </a:r>
            <a:r>
              <a:rPr lang="en-GB" sz="2400" dirty="0" smtClean="0">
                <a:solidFill>
                  <a:schemeClr val="accent2">
                    <a:lumMod val="75000"/>
                  </a:schemeClr>
                </a:solidFill>
              </a:rPr>
              <a:t>regularly</a:t>
            </a:r>
          </a:p>
          <a:p>
            <a:pPr lvl="2" eaLnBrk="0" hangingPunct="0">
              <a:spcBef>
                <a:spcPct val="0"/>
              </a:spcBef>
              <a:spcAft>
                <a:spcPts val="600"/>
              </a:spcAft>
              <a:buFontTx/>
              <a:buChar char="—"/>
            </a:pPr>
            <a:r>
              <a:rPr lang="en-US" altLang="zh-TW" sz="2400" dirty="0" smtClean="0">
                <a:solidFill>
                  <a:srgbClr val="0033CC"/>
                </a:solidFill>
              </a:rPr>
              <a:t>S</a:t>
            </a:r>
            <a:r>
              <a:rPr lang="en-GB" sz="2400" dirty="0" err="1" smtClean="0">
                <a:solidFill>
                  <a:srgbClr val="0033CC"/>
                </a:solidFill>
              </a:rPr>
              <a:t>afety</a:t>
            </a:r>
            <a:r>
              <a:rPr lang="en-GB" sz="2400" dirty="0" smtClean="0"/>
              <a:t>: how safe?</a:t>
            </a:r>
          </a:p>
          <a:p>
            <a:pPr lvl="2" eaLnBrk="0" hangingPunct="0">
              <a:spcBef>
                <a:spcPct val="0"/>
              </a:spcBef>
              <a:spcAft>
                <a:spcPts val="600"/>
              </a:spcAft>
              <a:buFontTx/>
              <a:buChar char="—"/>
            </a:pPr>
            <a:r>
              <a:rPr lang="en-US" altLang="zh-TW" sz="2400" dirty="0" smtClean="0">
                <a:solidFill>
                  <a:srgbClr val="0033CC"/>
                </a:solidFill>
              </a:rPr>
              <a:t>U</a:t>
            </a:r>
            <a:r>
              <a:rPr lang="en-GB" sz="2400" dirty="0" err="1" smtClean="0">
                <a:solidFill>
                  <a:srgbClr val="0033CC"/>
                </a:solidFill>
              </a:rPr>
              <a:t>tility</a:t>
            </a:r>
            <a:r>
              <a:rPr lang="en-GB" sz="2400" dirty="0" smtClean="0"/>
              <a:t>: which functions are superfluous</a:t>
            </a:r>
            <a:r>
              <a:rPr lang="zh-TW" altLang="en-US" sz="2400" dirty="0" smtClean="0"/>
              <a:t>多餘的</a:t>
            </a:r>
            <a:r>
              <a:rPr lang="en-GB" sz="2400" dirty="0" smtClean="0"/>
              <a:t>? </a:t>
            </a:r>
          </a:p>
          <a:p>
            <a:pPr lvl="2" eaLnBrk="0" hangingPunct="0">
              <a:spcBef>
                <a:spcPts val="600"/>
              </a:spcBef>
              <a:buFontTx/>
              <a:buChar char="—"/>
            </a:pPr>
            <a:r>
              <a:rPr lang="en-US" altLang="zh-TW" sz="2400" dirty="0" smtClean="0">
                <a:solidFill>
                  <a:srgbClr val="0033CC"/>
                </a:solidFill>
              </a:rPr>
              <a:t>E</a:t>
            </a:r>
            <a:r>
              <a:rPr lang="en-GB" sz="2400" dirty="0" err="1" smtClean="0">
                <a:solidFill>
                  <a:srgbClr val="0033CC"/>
                </a:solidFill>
              </a:rPr>
              <a:t>ffectiveness</a:t>
            </a:r>
            <a:r>
              <a:rPr lang="en-GB" sz="2400" dirty="0" smtClean="0"/>
              <a:t>: appropriate support? task coverage, information available</a:t>
            </a:r>
          </a:p>
          <a:p>
            <a:pPr lvl="2" eaLnBrk="0" hangingPunct="0">
              <a:spcBef>
                <a:spcPts val="600"/>
              </a:spcBef>
              <a:buFontTx/>
              <a:buChar char="—"/>
            </a:pPr>
            <a:r>
              <a:rPr lang="en-US" altLang="zh-TW" sz="2400" dirty="0" smtClean="0">
                <a:solidFill>
                  <a:srgbClr val="0033CC"/>
                </a:solidFill>
              </a:rPr>
              <a:t>E</a:t>
            </a:r>
            <a:r>
              <a:rPr lang="en-GB" sz="2400" dirty="0" err="1" smtClean="0">
                <a:solidFill>
                  <a:srgbClr val="0033CC"/>
                </a:solidFill>
              </a:rPr>
              <a:t>fficiency</a:t>
            </a:r>
            <a:r>
              <a:rPr lang="en-GB" sz="2400" dirty="0" smtClean="0"/>
              <a:t>: performance measurements</a:t>
            </a:r>
          </a:p>
          <a:p>
            <a:pPr lvl="2" eaLnBrk="0" hangingPunct="0">
              <a:spcBef>
                <a:spcPts val="600"/>
              </a:spcBef>
              <a:buFontTx/>
              <a:buChar char="—"/>
            </a:pPr>
            <a:endParaRPr lang="en-GB" sz="800" dirty="0" smtClean="0"/>
          </a:p>
          <a:p>
            <a:pPr eaLnBrk="0" hangingPunct="0">
              <a:spcBef>
                <a:spcPct val="0"/>
              </a:spcBef>
              <a:spcAft>
                <a:spcPts val="600"/>
              </a:spcAft>
            </a:pPr>
            <a:r>
              <a:rPr lang="en-US" sz="2400" dirty="0" smtClean="0"/>
              <a:t>Usability engineering</a:t>
            </a:r>
          </a:p>
          <a:p>
            <a:pPr lvl="1" eaLnBrk="0" hangingPunct="0">
              <a:spcBef>
                <a:spcPct val="0"/>
              </a:spcBef>
              <a:spcAft>
                <a:spcPts val="600"/>
              </a:spcAft>
            </a:pPr>
            <a:r>
              <a:rPr lang="zh-TW" altLang="en-US" sz="2100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詳述產品可量化測量標準，列出使用性明細表，並進行測試</a:t>
            </a:r>
            <a:endParaRPr lang="en-GB" sz="21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AD0B3-31E6-4ADF-A443-48097A60ADE2}" type="slidenum">
              <a:rPr lang="zh-TW" altLang="en-US" smtClean="0"/>
              <a:pPr/>
              <a:t>23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44624"/>
            <a:ext cx="7859216" cy="1143000"/>
          </a:xfrm>
        </p:spPr>
        <p:txBody>
          <a:bodyPr>
            <a:noAutofit/>
          </a:bodyPr>
          <a:lstStyle/>
          <a:p>
            <a:r>
              <a:rPr lang="en-US" altLang="zh-TW" sz="2800" dirty="0" smtClean="0"/>
              <a:t>9.3.5</a:t>
            </a:r>
            <a:r>
              <a:rPr lang="zh-TW" altLang="en-US" sz="2800" dirty="0" smtClean="0"/>
              <a:t> </a:t>
            </a:r>
            <a:r>
              <a:rPr lang="en-US" altLang="zh-TW" sz="2800" dirty="0" smtClean="0"/>
              <a:t>How do you integrate ID activities with other lifecycle models?</a:t>
            </a:r>
            <a:endParaRPr lang="zh-TW" altLang="en-US" sz="2800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95536" y="1412776"/>
            <a:ext cx="7715200" cy="5328592"/>
          </a:xfrm>
        </p:spPr>
        <p:txBody>
          <a:bodyPr>
            <a:normAutofit fontScale="92500" lnSpcReduction="20000"/>
          </a:bodyPr>
          <a:lstStyle/>
          <a:p>
            <a:r>
              <a:rPr lang="en-US" altLang="zh-TW" dirty="0" smtClean="0"/>
              <a:t>There are several models </a:t>
            </a:r>
            <a:r>
              <a:rPr lang="en-US" altLang="zh-TW" dirty="0" err="1" smtClean="0"/>
              <a:t>assoicate</a:t>
            </a:r>
            <a:r>
              <a:rPr lang="en-US" altLang="zh-TW" dirty="0" smtClean="0"/>
              <a:t> with other disciplines (Software engineering…)</a:t>
            </a:r>
          </a:p>
          <a:p>
            <a:r>
              <a:rPr lang="en-US" altLang="zh-TW" dirty="0" smtClean="0"/>
              <a:t>How to integrate UCD and software engineering</a:t>
            </a:r>
          </a:p>
          <a:p>
            <a:r>
              <a:rPr lang="en-US" altLang="zh-TW" dirty="0" smtClean="0"/>
              <a:t>Agile software development</a:t>
            </a:r>
          </a:p>
          <a:p>
            <a:pPr lvl="1"/>
            <a:r>
              <a:rPr lang="en-US" altLang="zh-TW" dirty="0" err="1" smtClean="0"/>
              <a:t>eXtreme</a:t>
            </a:r>
            <a:r>
              <a:rPr lang="en-US" altLang="zh-TW" dirty="0" smtClean="0"/>
              <a:t> programming, crystal, scrum, ASD, DSDM  </a:t>
            </a:r>
          </a:p>
          <a:p>
            <a:pPr lvl="1"/>
            <a:r>
              <a:rPr lang="en-US" altLang="zh-TW" dirty="0" smtClean="0"/>
              <a:t>They all stress </a:t>
            </a:r>
          </a:p>
          <a:p>
            <a:pPr lvl="2"/>
            <a:r>
              <a:rPr lang="en-US" altLang="zh-TW" dirty="0" smtClean="0"/>
              <a:t>Iteration, early and repeated user feedback, Handle emergent requirements, Balance b/t flexibility and structure, Collaboration, face-to-face communication, Streamlined</a:t>
            </a:r>
            <a:r>
              <a:rPr lang="zh-TW" altLang="en-US" dirty="0" smtClean="0"/>
              <a:t>有效率</a:t>
            </a:r>
            <a:r>
              <a:rPr lang="en-US" altLang="zh-TW" dirty="0" smtClean="0"/>
              <a:t> process to avoid unnecessary activities, Practice over process</a:t>
            </a:r>
          </a:p>
          <a:p>
            <a:pPr eaLnBrk="0" hangingPunct="0">
              <a:lnSpc>
                <a:spcPct val="110000"/>
              </a:lnSpc>
              <a:spcBef>
                <a:spcPts val="300"/>
              </a:spcBef>
              <a:spcAft>
                <a:spcPts val="300"/>
              </a:spcAft>
            </a:pPr>
            <a:r>
              <a:rPr lang="en-GB" altLang="zh-TW" sz="2800" dirty="0" smtClean="0">
                <a:ea typeface="新細明體" pitchFamily="18" charset="-120"/>
              </a:rPr>
              <a:t>Agile software development promising</a:t>
            </a:r>
          </a:p>
          <a:p>
            <a:pPr lvl="1">
              <a:lnSpc>
                <a:spcPct val="110000"/>
              </a:lnSpc>
            </a:pPr>
            <a:r>
              <a:rPr lang="en-GB" altLang="zh-TW" sz="2400" dirty="0" smtClean="0">
                <a:ea typeface="新細明體" pitchFamily="18" charset="-120"/>
              </a:rPr>
              <a:t>have development and design running in separate tracks (see fig. 9.7) </a:t>
            </a:r>
            <a:r>
              <a:rPr lang="en-US" altLang="zh-TW" sz="2400" dirty="0" smtClean="0">
                <a:ea typeface="新細明體" pitchFamily="18" charset="-120"/>
              </a:rPr>
              <a:t>D</a:t>
            </a:r>
            <a:r>
              <a:rPr lang="en-GB" altLang="zh-TW" sz="2400" dirty="0" err="1" smtClean="0">
                <a:solidFill>
                  <a:srgbClr val="C00000"/>
                </a:solidFill>
                <a:ea typeface="新細明體" pitchFamily="18" charset="-120"/>
              </a:rPr>
              <a:t>evelopers</a:t>
            </a:r>
            <a:r>
              <a:rPr lang="en-GB" altLang="zh-TW" sz="2400" dirty="0" smtClean="0">
                <a:solidFill>
                  <a:srgbClr val="C00000"/>
                </a:solidFill>
                <a:ea typeface="新細明體" pitchFamily="18" charset="-120"/>
              </a:rPr>
              <a:t> and </a:t>
            </a:r>
            <a:r>
              <a:rPr lang="en-GB" altLang="zh-TW" sz="2400" dirty="0" err="1" smtClean="0">
                <a:solidFill>
                  <a:srgbClr val="C00000"/>
                </a:solidFill>
                <a:ea typeface="新細明體" pitchFamily="18" charset="-120"/>
              </a:rPr>
              <a:t>IDers</a:t>
            </a:r>
            <a:r>
              <a:rPr lang="en-GB" altLang="zh-TW" sz="2400" dirty="0" smtClean="0">
                <a:solidFill>
                  <a:srgbClr val="C00000"/>
                </a:solidFill>
                <a:ea typeface="新細明體" pitchFamily="18" charset="-120"/>
              </a:rPr>
              <a:t> </a:t>
            </a:r>
            <a:r>
              <a:rPr lang="zh-TW" altLang="en-US" sz="2400" dirty="0" smtClean="0">
                <a:solidFill>
                  <a:srgbClr val="C00000"/>
                </a:solidFill>
                <a:ea typeface="新細明體" pitchFamily="18" charset="-120"/>
              </a:rPr>
              <a:t>密切合作</a:t>
            </a:r>
            <a:endParaRPr lang="en-GB" altLang="zh-TW" sz="2400" dirty="0" smtClean="0">
              <a:solidFill>
                <a:srgbClr val="C00000"/>
              </a:solidFill>
              <a:ea typeface="新細明體" pitchFamily="18" charset="-120"/>
            </a:endParaRPr>
          </a:p>
          <a:p>
            <a:pPr lvl="1">
              <a:lnSpc>
                <a:spcPct val="110000"/>
              </a:lnSpc>
            </a:pPr>
            <a:r>
              <a:rPr lang="en-GB" altLang="zh-TW" sz="2400" dirty="0" smtClean="0">
                <a:ea typeface="新細明體" pitchFamily="18" charset="-120"/>
              </a:rPr>
              <a:t>maintain a coherent vision of the interface architecture </a:t>
            </a:r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AD0B3-31E6-4ADF-A443-48097A60ADE2}" type="slidenum">
              <a:rPr lang="zh-TW" altLang="en-US" smtClean="0"/>
              <a:pPr/>
              <a:t>24</a:t>
            </a:fld>
            <a:endParaRPr lang="zh-TW" alt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142" name="Picture 6" descr="http://www.infoq.com/resource/articles/cohn-chapter8/en/resources/fig8.2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15616" y="3735907"/>
            <a:ext cx="5986636" cy="2933453"/>
          </a:xfrm>
          <a:prstGeom prst="rect">
            <a:avLst/>
          </a:prstGeom>
          <a:noFill/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323528" y="-315416"/>
            <a:ext cx="7859216" cy="1143000"/>
          </a:xfrm>
        </p:spPr>
        <p:txBody>
          <a:bodyPr>
            <a:normAutofit/>
          </a:bodyPr>
          <a:lstStyle/>
          <a:p>
            <a:r>
              <a:rPr lang="en-US" altLang="zh-TW" sz="3200" dirty="0" smtClean="0">
                <a:solidFill>
                  <a:srgbClr val="0070C0"/>
                </a:solidFill>
              </a:rPr>
              <a:t>WIKI: agile software development</a:t>
            </a:r>
            <a:endParaRPr lang="zh-TW" altLang="en-US" sz="3200" dirty="0">
              <a:solidFill>
                <a:srgbClr val="0070C0"/>
              </a:solidFill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179512" y="1052736"/>
            <a:ext cx="7992888" cy="2880320"/>
          </a:xfrm>
        </p:spPr>
        <p:txBody>
          <a:bodyPr>
            <a:noAutofit/>
          </a:bodyPr>
          <a:lstStyle/>
          <a:p>
            <a:r>
              <a:rPr lang="en-US" altLang="zh-TW" sz="2200" b="1" dirty="0" smtClean="0"/>
              <a:t>Agile software development</a:t>
            </a:r>
            <a:r>
              <a:rPr lang="en-US" altLang="zh-TW" sz="2200" dirty="0" smtClean="0"/>
              <a:t> is a group of </a:t>
            </a:r>
            <a:r>
              <a:rPr lang="en-US" altLang="zh-TW" sz="2200" dirty="0" smtClean="0">
                <a:solidFill>
                  <a:srgbClr val="C00000"/>
                </a:solidFill>
              </a:rPr>
              <a:t>software development methodologies </a:t>
            </a:r>
            <a:r>
              <a:rPr lang="en-US" altLang="zh-TW" sz="2200" dirty="0" smtClean="0"/>
              <a:t>based on iterative and incremental development, where </a:t>
            </a:r>
            <a:r>
              <a:rPr lang="en-US" altLang="zh-TW" sz="2200" dirty="0" smtClean="0">
                <a:solidFill>
                  <a:srgbClr val="C00000"/>
                </a:solidFill>
              </a:rPr>
              <a:t>requirements and solutions evolve </a:t>
            </a:r>
            <a:r>
              <a:rPr lang="en-US" altLang="zh-TW" sz="2200" dirty="0" smtClean="0"/>
              <a:t>through collaboration between self-organizing, cross-functional </a:t>
            </a:r>
            <a:r>
              <a:rPr lang="en-US" altLang="zh-TW" sz="2200" dirty="0" smtClean="0">
                <a:solidFill>
                  <a:srgbClr val="C00000"/>
                </a:solidFill>
              </a:rPr>
              <a:t>teams. </a:t>
            </a:r>
          </a:p>
          <a:p>
            <a:r>
              <a:rPr lang="en-US" altLang="zh-TW" sz="2200" dirty="0" smtClean="0"/>
              <a:t>It promotes adaptive planning, evolutionary development and delivery; time boxed iterative approach and encourages </a:t>
            </a:r>
            <a:r>
              <a:rPr lang="en-US" altLang="zh-TW" sz="2200" dirty="0" smtClean="0">
                <a:solidFill>
                  <a:srgbClr val="C00000"/>
                </a:solidFill>
              </a:rPr>
              <a:t>rapid and flexible response to change</a:t>
            </a:r>
            <a:r>
              <a:rPr lang="en-US" altLang="zh-TW" sz="2200" dirty="0" smtClean="0"/>
              <a:t>. </a:t>
            </a:r>
          </a:p>
        </p:txBody>
      </p:sp>
      <p:pic>
        <p:nvPicPr>
          <p:cNvPr id="91140" name="Picture 4" descr="http://bits.wikimedia.org/skins-1.17/common/images/magnify-clip.png">
            <a:hlinkClick r:id="rId4" tooltip="Enlarge"/>
          </p:cNvPr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0" y="0"/>
            <a:ext cx="142875" cy="104775"/>
          </a:xfrm>
          <a:prstGeom prst="rect">
            <a:avLst/>
          </a:prstGeom>
          <a:noFill/>
        </p:spPr>
      </p:pic>
      <p:sp>
        <p:nvSpPr>
          <p:cNvPr id="91143" name="Rectangle 7"/>
          <p:cNvSpPr>
            <a:spLocks noChangeArrowheads="1"/>
          </p:cNvSpPr>
          <p:nvPr/>
        </p:nvSpPr>
        <p:spPr bwMode="auto">
          <a:xfrm>
            <a:off x="965745" y="6505599"/>
            <a:ext cx="7062639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1" lang="zh-TW" altLang="zh-TW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ea typeface="新細明體" pitchFamily="18" charset="-120"/>
              </a:rPr>
              <a:t>UED and development can occur in parallel tracks. (Adapted courtesy of Lynn Miller.)</a:t>
            </a:r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7AD0B3-31E6-4ADF-A443-48097A60ADE2}" type="slidenum">
              <a:rPr lang="zh-TW" altLang="en-US" smtClean="0"/>
              <a:pPr/>
              <a:t>25</a:t>
            </a:fld>
            <a:endParaRPr lang="zh-TW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華麗">
  <a:themeElements>
    <a:clrScheme name="華麗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華麗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華麗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676</TotalTime>
  <Words>1633</Words>
  <Application>Microsoft Office PowerPoint</Application>
  <PresentationFormat>如螢幕大小 (4:3)</PresentationFormat>
  <Paragraphs>257</Paragraphs>
  <Slides>25</Slides>
  <Notes>14</Notes>
  <HiddenSlides>0</HiddenSlides>
  <MMClips>0</MMClips>
  <ScaleCrop>false</ScaleCrop>
  <HeadingPairs>
    <vt:vector size="6" baseType="variant">
      <vt:variant>
        <vt:lpstr>使用字型</vt:lpstr>
      </vt:variant>
      <vt:variant>
        <vt:i4>8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25</vt:i4>
      </vt:variant>
    </vt:vector>
  </HeadingPairs>
  <TitlesOfParts>
    <vt:vector size="34" baseType="lpstr">
      <vt:lpstr>微軟正黑體</vt:lpstr>
      <vt:lpstr>新細明體</vt:lpstr>
      <vt:lpstr>Arial</vt:lpstr>
      <vt:lpstr>Calibri</vt:lpstr>
      <vt:lpstr>Trebuchet MS</vt:lpstr>
      <vt:lpstr>Verdana</vt:lpstr>
      <vt:lpstr>Wingdings</vt:lpstr>
      <vt:lpstr>Wingdings 2</vt:lpstr>
      <vt:lpstr>華麗</vt:lpstr>
      <vt:lpstr>  C9 The Process of Interaction Design</vt:lpstr>
      <vt:lpstr>Overview  </vt:lpstr>
      <vt:lpstr>What is Interaction Design? </vt:lpstr>
      <vt:lpstr>PowerPoint 簡報</vt:lpstr>
      <vt:lpstr>PowerPoint 簡報</vt:lpstr>
      <vt:lpstr>9.2.2 Degrees of user involvement 參與方式與程度</vt:lpstr>
      <vt:lpstr>PowerPoint 簡報</vt:lpstr>
      <vt:lpstr>9.2.3 what is a user centered approach?</vt:lpstr>
      <vt:lpstr>Early focus on users and tasks，how?</vt:lpstr>
      <vt:lpstr>PowerPoint 簡報</vt:lpstr>
      <vt:lpstr>9.2.4 Four basic activities 416 </vt:lpstr>
      <vt:lpstr>9.2.4 Four basic activities 416 </vt:lpstr>
      <vt:lpstr>PowerPoint 簡報</vt:lpstr>
      <vt:lpstr>PowerPoint 簡報</vt:lpstr>
      <vt:lpstr>PowerPoint 簡報</vt:lpstr>
      <vt:lpstr>9.2.5 A simple lifecycle model for ID</vt:lpstr>
      <vt:lpstr>A simple interaction design model</vt:lpstr>
      <vt:lpstr>9.3 Some practical issues</vt:lpstr>
      <vt:lpstr>9.3.1 Who are the users/stakeholders?</vt:lpstr>
      <vt:lpstr>9.3.2 What do we mean by ‘needs’?</vt:lpstr>
      <vt:lpstr>What are the users’ capabilities? </vt:lpstr>
      <vt:lpstr>9.3.3 How do you generate alternative designs?</vt:lpstr>
      <vt:lpstr>9.3.4 How do you choose among alternatives?</vt:lpstr>
      <vt:lpstr>9.3.5 How do you integrate ID activities with other lifecycle models?</vt:lpstr>
      <vt:lpstr>WIKI: agile software development</vt:lpstr>
    </vt:vector>
  </TitlesOfParts>
  <Company>mychat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W3  C9The Process of Interaction Design</dc:title>
  <dc:creator>SuperXP</dc:creator>
  <cp:lastModifiedBy>User</cp:lastModifiedBy>
  <cp:revision>273</cp:revision>
  <dcterms:created xsi:type="dcterms:W3CDTF">2009-10-01T01:02:23Z</dcterms:created>
  <dcterms:modified xsi:type="dcterms:W3CDTF">2018-09-13T07:50:38Z</dcterms:modified>
</cp:coreProperties>
</file>