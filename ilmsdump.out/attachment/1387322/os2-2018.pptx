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Lst>
  <p:notesMasterIdLst>
    <p:notesMasterId r:id="rId73"/>
  </p:notesMasterIdLst>
  <p:handoutMasterIdLst>
    <p:handoutMasterId r:id="rId74"/>
  </p:handoutMasterIdLst>
  <p:sldIdLst>
    <p:sldId id="334" r:id="rId2"/>
    <p:sldId id="256" r:id="rId3"/>
    <p:sldId id="339" r:id="rId4"/>
    <p:sldId id="295" r:id="rId5"/>
    <p:sldId id="419" r:id="rId6"/>
    <p:sldId id="341" r:id="rId7"/>
    <p:sldId id="296" r:id="rId8"/>
    <p:sldId id="342" r:id="rId9"/>
    <p:sldId id="343" r:id="rId10"/>
    <p:sldId id="401" r:id="rId11"/>
    <p:sldId id="420" r:id="rId12"/>
    <p:sldId id="297" r:id="rId13"/>
    <p:sldId id="421" r:id="rId14"/>
    <p:sldId id="402" r:id="rId15"/>
    <p:sldId id="424" r:id="rId16"/>
    <p:sldId id="423" r:id="rId17"/>
    <p:sldId id="398" r:id="rId18"/>
    <p:sldId id="353" r:id="rId19"/>
    <p:sldId id="425" r:id="rId20"/>
    <p:sldId id="426" r:id="rId21"/>
    <p:sldId id="427" r:id="rId22"/>
    <p:sldId id="428" r:id="rId23"/>
    <p:sldId id="359" r:id="rId24"/>
    <p:sldId id="429" r:id="rId25"/>
    <p:sldId id="360" r:id="rId26"/>
    <p:sldId id="363" r:id="rId27"/>
    <p:sldId id="417" r:id="rId28"/>
    <p:sldId id="361" r:id="rId29"/>
    <p:sldId id="403" r:id="rId30"/>
    <p:sldId id="415" r:id="rId31"/>
    <p:sldId id="433" r:id="rId32"/>
    <p:sldId id="432" r:id="rId33"/>
    <p:sldId id="434" r:id="rId34"/>
    <p:sldId id="431" r:id="rId35"/>
    <p:sldId id="307" r:id="rId36"/>
    <p:sldId id="368" r:id="rId37"/>
    <p:sldId id="435" r:id="rId38"/>
    <p:sldId id="370" r:id="rId39"/>
    <p:sldId id="371" r:id="rId40"/>
    <p:sldId id="436" r:id="rId41"/>
    <p:sldId id="396" r:id="rId42"/>
    <p:sldId id="437" r:id="rId43"/>
    <p:sldId id="438" r:id="rId44"/>
    <p:sldId id="439" r:id="rId45"/>
    <p:sldId id="440" r:id="rId46"/>
    <p:sldId id="443" r:id="rId47"/>
    <p:sldId id="379" r:id="rId48"/>
    <p:sldId id="411" r:id="rId49"/>
    <p:sldId id="380" r:id="rId50"/>
    <p:sldId id="412" r:id="rId51"/>
    <p:sldId id="405" r:id="rId52"/>
    <p:sldId id="404" r:id="rId53"/>
    <p:sldId id="382" r:id="rId54"/>
    <p:sldId id="384" r:id="rId55"/>
    <p:sldId id="385" r:id="rId56"/>
    <p:sldId id="387" r:id="rId57"/>
    <p:sldId id="388" r:id="rId58"/>
    <p:sldId id="389" r:id="rId59"/>
    <p:sldId id="390" r:id="rId60"/>
    <p:sldId id="392" r:id="rId61"/>
    <p:sldId id="393" r:id="rId62"/>
    <p:sldId id="444" r:id="rId63"/>
    <p:sldId id="445" r:id="rId64"/>
    <p:sldId id="446" r:id="rId65"/>
    <p:sldId id="447" r:id="rId66"/>
    <p:sldId id="448" r:id="rId67"/>
    <p:sldId id="449" r:id="rId68"/>
    <p:sldId id="450" r:id="rId69"/>
    <p:sldId id="451" r:id="rId70"/>
    <p:sldId id="452" r:id="rId71"/>
    <p:sldId id="453" r:id="rId72"/>
  </p:sldIdLst>
  <p:sldSz cx="9144000" cy="6858000" type="screen4x3"/>
  <p:notesSz cx="6807200" cy="9939338"/>
  <p:defaultTextStyle>
    <a:defPPr>
      <a:defRPr lang="en-US"/>
    </a:defPPr>
    <a:lvl1pPr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1pPr>
    <a:lvl2pPr marL="4572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2pPr>
    <a:lvl3pPr marL="9144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3pPr>
    <a:lvl4pPr marL="13716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4pPr>
    <a:lvl5pPr marL="18288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5pPr>
    <a:lvl6pPr marL="2286000" algn="l" defTabSz="914400" rtl="0" eaLnBrk="1" latinLnBrk="0" hangingPunct="1">
      <a:defRPr kumimoji="1" sz="2400" kern="1200">
        <a:solidFill>
          <a:schemeClr val="tx1"/>
        </a:solidFill>
        <a:latin typeface="Tahoma" pitchFamily="34" charset="0"/>
        <a:ea typeface="新細明體" pitchFamily="18" charset="-120"/>
        <a:cs typeface="+mn-cs"/>
      </a:defRPr>
    </a:lvl6pPr>
    <a:lvl7pPr marL="2743200" algn="l" defTabSz="914400" rtl="0" eaLnBrk="1" latinLnBrk="0" hangingPunct="1">
      <a:defRPr kumimoji="1" sz="2400" kern="1200">
        <a:solidFill>
          <a:schemeClr val="tx1"/>
        </a:solidFill>
        <a:latin typeface="Tahoma" pitchFamily="34" charset="0"/>
        <a:ea typeface="新細明體" pitchFamily="18" charset="-120"/>
        <a:cs typeface="+mn-cs"/>
      </a:defRPr>
    </a:lvl7pPr>
    <a:lvl8pPr marL="3200400" algn="l" defTabSz="914400" rtl="0" eaLnBrk="1" latinLnBrk="0" hangingPunct="1">
      <a:defRPr kumimoji="1" sz="2400" kern="1200">
        <a:solidFill>
          <a:schemeClr val="tx1"/>
        </a:solidFill>
        <a:latin typeface="Tahoma" pitchFamily="34" charset="0"/>
        <a:ea typeface="新細明體" pitchFamily="18" charset="-120"/>
        <a:cs typeface="+mn-cs"/>
      </a:defRPr>
    </a:lvl8pPr>
    <a:lvl9pPr marL="3657600" algn="l" defTabSz="914400" rtl="0" eaLnBrk="1" latinLnBrk="0" hangingPunct="1">
      <a:defRPr kumimoji="1" sz="2400" kern="1200">
        <a:solidFill>
          <a:schemeClr val="tx1"/>
        </a:solidFill>
        <a:latin typeface="Tahoma" pitchFamily="34"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72F05"/>
    <a:srgbClr val="D60093"/>
    <a:srgbClr val="000000"/>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63" autoAdjust="0"/>
  </p:normalViewPr>
  <p:slideViewPr>
    <p:cSldViewPr snapToGrid="0">
      <p:cViewPr varScale="1">
        <p:scale>
          <a:sx n="63" d="100"/>
          <a:sy n="63" d="100"/>
        </p:scale>
        <p:origin x="976"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68"/>
    </p:cViewPr>
  </p:sorterViewPr>
  <p:notesViewPr>
    <p:cSldViewPr snapToGrid="0">
      <p:cViewPr varScale="1">
        <p:scale>
          <a:sx n="71" d="100"/>
          <a:sy n="71" d="100"/>
        </p:scale>
        <p:origin x="-2314" y="-91"/>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66426" cy="4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4997" tIns="47499" rIns="94997" bIns="47499" numCol="1" anchor="ctr" anchorCtr="0" compatLnSpc="1">
            <a:prstTxWarp prst="textNoShape">
              <a:avLst/>
            </a:prstTxWarp>
          </a:bodyPr>
          <a:lstStyle>
            <a:lvl1pPr defTabSz="948875" eaLnBrk="0" hangingPunct="0">
              <a:defRPr kumimoji="0" sz="1300">
                <a:latin typeface="Helvetica" pitchFamily="34" charset="0"/>
              </a:defRPr>
            </a:lvl1pPr>
          </a:lstStyle>
          <a:p>
            <a:pPr>
              <a:defRPr/>
            </a:pPr>
            <a:endParaRPr lang="en-US" altLang="zh-TW"/>
          </a:p>
        </p:txBody>
      </p:sp>
      <p:sp>
        <p:nvSpPr>
          <p:cNvPr id="65539" name="Rectangle 3"/>
          <p:cNvSpPr>
            <a:spLocks noGrp="1" noChangeArrowheads="1"/>
          </p:cNvSpPr>
          <p:nvPr>
            <p:ph type="dt" sz="quarter" idx="1"/>
          </p:nvPr>
        </p:nvSpPr>
        <p:spPr bwMode="auto">
          <a:xfrm>
            <a:off x="3858262" y="0"/>
            <a:ext cx="2968015" cy="4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4997" tIns="47499" rIns="94997" bIns="47499" numCol="1" anchor="ctr" anchorCtr="0" compatLnSpc="1">
            <a:prstTxWarp prst="textNoShape">
              <a:avLst/>
            </a:prstTxWarp>
          </a:bodyPr>
          <a:lstStyle>
            <a:lvl1pPr algn="r" defTabSz="948875" eaLnBrk="0" hangingPunct="0">
              <a:defRPr kumimoji="0" sz="1300">
                <a:latin typeface="Helvetica" pitchFamily="34" charset="0"/>
              </a:defRPr>
            </a:lvl1pPr>
          </a:lstStyle>
          <a:p>
            <a:pPr>
              <a:defRPr/>
            </a:pPr>
            <a:endParaRPr lang="en-US" altLang="zh-TW"/>
          </a:p>
        </p:txBody>
      </p:sp>
      <p:sp>
        <p:nvSpPr>
          <p:cNvPr id="65540" name="Rectangle 4"/>
          <p:cNvSpPr>
            <a:spLocks noGrp="1" noChangeArrowheads="1"/>
          </p:cNvSpPr>
          <p:nvPr>
            <p:ph type="ftr" sz="quarter" idx="2"/>
          </p:nvPr>
        </p:nvSpPr>
        <p:spPr bwMode="auto">
          <a:xfrm>
            <a:off x="0" y="9465734"/>
            <a:ext cx="2966426" cy="48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4997" tIns="47499" rIns="94997" bIns="47499" numCol="1" anchor="b" anchorCtr="0" compatLnSpc="1">
            <a:prstTxWarp prst="textNoShape">
              <a:avLst/>
            </a:prstTxWarp>
          </a:bodyPr>
          <a:lstStyle>
            <a:lvl1pPr defTabSz="948875" eaLnBrk="0" hangingPunct="0">
              <a:defRPr kumimoji="0" sz="1300">
                <a:latin typeface="Helvetica" pitchFamily="34" charset="0"/>
              </a:defRPr>
            </a:lvl1pPr>
          </a:lstStyle>
          <a:p>
            <a:pPr>
              <a:defRPr/>
            </a:pPr>
            <a:endParaRPr lang="en-US" altLang="zh-TW"/>
          </a:p>
        </p:txBody>
      </p:sp>
      <p:sp>
        <p:nvSpPr>
          <p:cNvPr id="65541" name="Rectangle 5"/>
          <p:cNvSpPr>
            <a:spLocks noGrp="1" noChangeArrowheads="1"/>
          </p:cNvSpPr>
          <p:nvPr>
            <p:ph type="sldNum" sz="quarter" idx="3"/>
          </p:nvPr>
        </p:nvSpPr>
        <p:spPr bwMode="auto">
          <a:xfrm>
            <a:off x="3858262" y="9465734"/>
            <a:ext cx="2968015" cy="48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4997" tIns="47499" rIns="94997" bIns="47499" numCol="1" anchor="b" anchorCtr="0" compatLnSpc="1">
            <a:prstTxWarp prst="textNoShape">
              <a:avLst/>
            </a:prstTxWarp>
          </a:bodyPr>
          <a:lstStyle>
            <a:lvl1pPr algn="r" defTabSz="948875" eaLnBrk="0" hangingPunct="0">
              <a:defRPr kumimoji="0" sz="1300">
                <a:latin typeface="Helvetica" pitchFamily="34" charset="0"/>
              </a:defRPr>
            </a:lvl1pPr>
          </a:lstStyle>
          <a:p>
            <a:pPr>
              <a:defRPr/>
            </a:pPr>
            <a:fld id="{B1A0C030-1CAE-45EE-9EAC-4DC7C4CDC8EE}" type="slidenum">
              <a:rPr lang="zh-TW" altLang="en-US"/>
              <a:pPr>
                <a:defRPr/>
              </a:pPr>
              <a:t>‹#›</a:t>
            </a:fld>
            <a:endParaRPr lang="en-US" altLang="zh-TW"/>
          </a:p>
        </p:txBody>
      </p:sp>
    </p:spTree>
    <p:extLst>
      <p:ext uri="{BB962C8B-B14F-4D97-AF65-F5344CB8AC3E}">
        <p14:creationId xmlns:p14="http://schemas.microsoft.com/office/powerpoint/2010/main" val="42242426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2948939" cy="49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6602" tIns="48302" rIns="96602" bIns="48302" numCol="1" anchor="ctr" anchorCtr="0" compatLnSpc="1">
            <a:prstTxWarp prst="textNoShape">
              <a:avLst/>
            </a:prstTxWarp>
          </a:bodyPr>
          <a:lstStyle>
            <a:lvl1pPr defTabSz="966358" eaLnBrk="0" hangingPunct="0">
              <a:defRPr kumimoji="0" sz="1300">
                <a:latin typeface="Times New Roman" pitchFamily="18" charset="0"/>
              </a:defRPr>
            </a:lvl1pPr>
          </a:lstStyle>
          <a:p>
            <a:pPr>
              <a:defRPr/>
            </a:pPr>
            <a:endParaRPr lang="en-US" altLang="zh-TW"/>
          </a:p>
        </p:txBody>
      </p:sp>
      <p:sp>
        <p:nvSpPr>
          <p:cNvPr id="6147" name="Rectangle 3"/>
          <p:cNvSpPr>
            <a:spLocks noGrp="1" noChangeArrowheads="1"/>
          </p:cNvSpPr>
          <p:nvPr>
            <p:ph type="dt" idx="1"/>
          </p:nvPr>
        </p:nvSpPr>
        <p:spPr bwMode="auto">
          <a:xfrm>
            <a:off x="3858262" y="0"/>
            <a:ext cx="2948938" cy="49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6602" tIns="48302" rIns="96602" bIns="48302" numCol="1" anchor="ctr" anchorCtr="0" compatLnSpc="1">
            <a:prstTxWarp prst="textNoShape">
              <a:avLst/>
            </a:prstTxWarp>
          </a:bodyPr>
          <a:lstStyle>
            <a:lvl1pPr algn="r" defTabSz="966358" eaLnBrk="0" hangingPunct="0">
              <a:defRPr kumimoji="0" sz="1300">
                <a:latin typeface="Times New Roman" pitchFamily="18" charset="0"/>
              </a:defRPr>
            </a:lvl1pPr>
          </a:lstStyle>
          <a:p>
            <a:pPr>
              <a:defRPr/>
            </a:pPr>
            <a:endParaRPr lang="en-US" altLang="zh-TW"/>
          </a:p>
        </p:txBody>
      </p:sp>
      <p:sp>
        <p:nvSpPr>
          <p:cNvPr id="56324" name="Rectangle 4"/>
          <p:cNvSpPr>
            <a:spLocks noGrp="1" noRot="1" noChangeAspect="1" noChangeArrowheads="1" noTextEdit="1"/>
          </p:cNvSpPr>
          <p:nvPr>
            <p:ph type="sldImg" idx="2"/>
          </p:nvPr>
        </p:nvSpPr>
        <p:spPr bwMode="auto">
          <a:xfrm>
            <a:off x="920750" y="746125"/>
            <a:ext cx="496887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07733" y="4721743"/>
            <a:ext cx="4991735" cy="447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6602" tIns="48302" rIns="96602" bIns="48302" numCol="1" anchor="ctr" anchorCtr="0" compatLnSpc="1">
            <a:prstTxWarp prst="textNoShape">
              <a:avLst/>
            </a:prstTxWarp>
          </a:bodyPr>
          <a:lstStyle/>
          <a:p>
            <a:pPr lvl="0"/>
            <a:r>
              <a:rPr lang="en-US" altLang="zh-TW" noProof="0" smtClean="0"/>
              <a:t>Click to edit Master text styles</a:t>
            </a:r>
          </a:p>
          <a:p>
            <a:pPr lvl="1"/>
            <a:r>
              <a:rPr lang="en-US" altLang="zh-TW" noProof="0" smtClean="0"/>
              <a:t>Second level</a:t>
            </a:r>
          </a:p>
          <a:p>
            <a:pPr lvl="2"/>
            <a:r>
              <a:rPr lang="en-US" altLang="zh-TW" noProof="0" smtClean="0"/>
              <a:t>Third level</a:t>
            </a:r>
          </a:p>
          <a:p>
            <a:pPr lvl="3"/>
            <a:r>
              <a:rPr lang="en-US" altLang="zh-TW" noProof="0" smtClean="0"/>
              <a:t>Fourth level</a:t>
            </a:r>
          </a:p>
          <a:p>
            <a:pPr lvl="4"/>
            <a:r>
              <a:rPr lang="en-US" altLang="zh-TW" noProof="0" smtClean="0"/>
              <a:t>Fifth level</a:t>
            </a:r>
          </a:p>
        </p:txBody>
      </p:sp>
      <p:sp>
        <p:nvSpPr>
          <p:cNvPr id="6150" name="Rectangle 6"/>
          <p:cNvSpPr>
            <a:spLocks noGrp="1" noChangeArrowheads="1"/>
          </p:cNvSpPr>
          <p:nvPr>
            <p:ph type="ftr" sz="quarter" idx="4"/>
          </p:nvPr>
        </p:nvSpPr>
        <p:spPr bwMode="auto">
          <a:xfrm>
            <a:off x="1" y="9441895"/>
            <a:ext cx="2948939"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6602" tIns="48302" rIns="96602" bIns="48302" numCol="1" anchor="b" anchorCtr="0" compatLnSpc="1">
            <a:prstTxWarp prst="textNoShape">
              <a:avLst/>
            </a:prstTxWarp>
          </a:bodyPr>
          <a:lstStyle>
            <a:lvl1pPr defTabSz="966358" eaLnBrk="0" hangingPunct="0">
              <a:defRPr kumimoji="0" sz="1300">
                <a:latin typeface="Times New Roman" pitchFamily="18" charset="0"/>
              </a:defRPr>
            </a:lvl1pPr>
          </a:lstStyle>
          <a:p>
            <a:pPr>
              <a:defRPr/>
            </a:pPr>
            <a:endParaRPr lang="en-US" altLang="zh-TW"/>
          </a:p>
        </p:txBody>
      </p:sp>
      <p:sp>
        <p:nvSpPr>
          <p:cNvPr id="6151" name="Rectangle 7"/>
          <p:cNvSpPr>
            <a:spLocks noGrp="1" noChangeArrowheads="1"/>
          </p:cNvSpPr>
          <p:nvPr>
            <p:ph type="sldNum" sz="quarter" idx="5"/>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6602" tIns="48302" rIns="96602" bIns="48302" numCol="1" anchor="b" anchorCtr="0" compatLnSpc="1">
            <a:prstTxWarp prst="textNoShape">
              <a:avLst/>
            </a:prstTxWarp>
          </a:bodyPr>
          <a:lstStyle>
            <a:lvl1pPr algn="r" defTabSz="966358" eaLnBrk="0" hangingPunct="0">
              <a:defRPr kumimoji="0" sz="1300">
                <a:latin typeface="Times New Roman" pitchFamily="18" charset="0"/>
              </a:defRPr>
            </a:lvl1pPr>
          </a:lstStyle>
          <a:p>
            <a:pPr>
              <a:defRPr/>
            </a:pPr>
            <a:fld id="{F08969A4-6CC0-4F65-81A8-8B5360E1C507}" type="slidenum">
              <a:rPr lang="zh-TW" altLang="en-US"/>
              <a:pPr>
                <a:defRPr/>
              </a:pPr>
              <a:t>‹#›</a:t>
            </a:fld>
            <a:endParaRPr lang="en-US" altLang="zh-TW"/>
          </a:p>
        </p:txBody>
      </p:sp>
    </p:spTree>
    <p:extLst>
      <p:ext uri="{BB962C8B-B14F-4D97-AF65-F5344CB8AC3E}">
        <p14:creationId xmlns:p14="http://schemas.microsoft.com/office/powerpoint/2010/main" val="3870587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5E2B6E85-E0E1-4240-AA90-F3C22A95DB99}" type="slidenum">
              <a:rPr lang="zh-TW" altLang="en-US" sz="1300"/>
              <a:pPr>
                <a:spcBef>
                  <a:spcPct val="0"/>
                </a:spcBef>
              </a:pPr>
              <a:t>1</a:t>
            </a:fld>
            <a:endParaRPr lang="en-US" altLang="zh-TW" sz="13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987806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04F7EEC-F3E1-4637-82D6-E9015CB8E5FA}" type="slidenum">
              <a:rPr lang="zh-TW" altLang="en-US" sz="1300"/>
              <a:pPr>
                <a:spcBef>
                  <a:spcPct val="0"/>
                </a:spcBef>
              </a:pPr>
              <a:t>2</a:t>
            </a:fld>
            <a:endParaRPr lang="en-US" altLang="zh-TW" sz="13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0001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89E651FD-C39F-4A91-A219-7B65A519CB9A}" type="slidenum">
              <a:rPr lang="zh-TW" altLang="en-US" sz="1300"/>
              <a:pPr>
                <a:spcBef>
                  <a:spcPct val="0"/>
                </a:spcBef>
              </a:pPr>
              <a:t>3</a:t>
            </a:fld>
            <a:endParaRPr lang="en-US" altLang="zh-TW" sz="13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987252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7C7A00-23B9-4065-AE53-1BD2074DDF74}" type="slidenum">
              <a:rPr lang="zh-TW" altLang="en-US" sz="1300"/>
              <a:pPr>
                <a:spcBef>
                  <a:spcPct val="0"/>
                </a:spcBef>
              </a:pPr>
              <a:t>4</a:t>
            </a:fld>
            <a:endParaRPr lang="en-US" altLang="zh-TW" sz="13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4098989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751E72E-176A-40AB-B61D-1213839834B0}" type="slidenum">
              <a:rPr lang="zh-TW" altLang="en-US" sz="1300"/>
              <a:pPr>
                <a:spcBef>
                  <a:spcPct val="0"/>
                </a:spcBef>
              </a:pPr>
              <a:t>5</a:t>
            </a:fld>
            <a:endParaRPr lang="en-US" altLang="zh-TW" sz="13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677835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E2D5FE2-3E82-4188-A8E6-F2FD51C45900}" type="slidenum">
              <a:rPr lang="zh-TW" altLang="en-US" sz="1300"/>
              <a:pPr>
                <a:spcBef>
                  <a:spcPct val="0"/>
                </a:spcBef>
              </a:pPr>
              <a:t>6</a:t>
            </a:fld>
            <a:endParaRPr lang="en-US" altLang="zh-TW" sz="13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918201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849F1A48-9D83-4330-AE33-1A27A8579A39}" type="slidenum">
              <a:rPr lang="zh-TW" altLang="en-US" sz="1300"/>
              <a:pPr>
                <a:spcBef>
                  <a:spcPct val="0"/>
                </a:spcBef>
              </a:pPr>
              <a:t>7</a:t>
            </a:fld>
            <a:endParaRPr lang="en-US" altLang="zh-TW" sz="13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48857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D867007-59D4-45D2-93BB-39EDA7854763}" type="slidenum">
              <a:rPr lang="zh-TW" altLang="en-US" sz="1300"/>
              <a:pPr>
                <a:spcBef>
                  <a:spcPct val="0"/>
                </a:spcBef>
              </a:pPr>
              <a:t>8</a:t>
            </a:fld>
            <a:endParaRPr lang="en-US" altLang="zh-TW" sz="13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17207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8AC8E76-985B-454E-9CB1-7A1D3C1980DE}" type="slidenum">
              <a:rPr lang="zh-TW" altLang="en-US" sz="1300"/>
              <a:pPr>
                <a:spcBef>
                  <a:spcPct val="0"/>
                </a:spcBef>
              </a:pPr>
              <a:t>9</a:t>
            </a:fld>
            <a:endParaRPr lang="en-US" altLang="zh-TW" sz="13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516883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6E440424-336C-4082-B633-7D58AF32C2BE}" type="slidenum">
              <a:rPr kumimoji="0" lang="zh-TW" altLang="en-US" sz="1300"/>
              <a:pPr algn="r">
                <a:spcBef>
                  <a:spcPct val="0"/>
                </a:spcBef>
              </a:pPr>
              <a:t>10</a:t>
            </a:fld>
            <a:endParaRPr kumimoji="0" lang="en-US" altLang="zh-TW" sz="13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207880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202E76E4-3A55-4D11-9E7E-FBBCC98C296A}" type="slidenum">
              <a:rPr kumimoji="0" lang="zh-TW" altLang="en-US" sz="1300"/>
              <a:pPr algn="r">
                <a:spcBef>
                  <a:spcPct val="0"/>
                </a:spcBef>
              </a:pPr>
              <a:t>11</a:t>
            </a:fld>
            <a:endParaRPr kumimoji="0" lang="en-US" altLang="zh-TW" sz="13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778887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4B6AF4D8-9E9F-445D-BBE9-6CB9B419A6DD}" type="slidenum">
              <a:rPr lang="zh-TW" altLang="en-US" sz="1300"/>
              <a:pPr>
                <a:spcBef>
                  <a:spcPct val="0"/>
                </a:spcBef>
              </a:pPr>
              <a:t>12</a:t>
            </a:fld>
            <a:endParaRPr lang="en-US" altLang="zh-TW" sz="13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473084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67603F0-3C49-4D4F-ABEE-90934594F098}" type="slidenum">
              <a:rPr lang="zh-TW" altLang="en-US" sz="1300"/>
              <a:pPr>
                <a:spcBef>
                  <a:spcPct val="0"/>
                </a:spcBef>
              </a:pPr>
              <a:t>13</a:t>
            </a:fld>
            <a:endParaRPr lang="en-US" altLang="zh-TW" sz="13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443781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0E2EA118-B5AB-4B9C-A583-7D1C9D9EF34D}" type="slidenum">
              <a:rPr kumimoji="0" lang="zh-TW" altLang="en-US" sz="1300"/>
              <a:pPr algn="r">
                <a:spcBef>
                  <a:spcPct val="0"/>
                </a:spcBef>
              </a:pPr>
              <a:t>14</a:t>
            </a:fld>
            <a:endParaRPr kumimoji="0" lang="en-US" altLang="zh-TW" sz="13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70600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529DC9F-F993-4789-A0B9-6222E05EAF9F}" type="slidenum">
              <a:rPr lang="zh-TW" altLang="en-US" sz="1300"/>
              <a:pPr>
                <a:spcBef>
                  <a:spcPct val="0"/>
                </a:spcBef>
              </a:pPr>
              <a:t>15</a:t>
            </a:fld>
            <a:endParaRPr lang="en-US" altLang="zh-TW" sz="13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100355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0E2EA118-B5AB-4B9C-A583-7D1C9D9EF34D}" type="slidenum">
              <a:rPr kumimoji="0" lang="zh-TW" altLang="en-US" sz="1300"/>
              <a:pPr algn="r">
                <a:spcBef>
                  <a:spcPct val="0"/>
                </a:spcBef>
              </a:pPr>
              <a:t>16</a:t>
            </a:fld>
            <a:endParaRPr kumimoji="0" lang="en-US" altLang="zh-TW" sz="13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759199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F6E91A0-149E-4BAA-8FAD-CBA2172C13FB}" type="slidenum">
              <a:rPr lang="zh-TW" altLang="en-US" sz="1300"/>
              <a:pPr>
                <a:spcBef>
                  <a:spcPct val="0"/>
                </a:spcBef>
              </a:pPr>
              <a:t>17</a:t>
            </a:fld>
            <a:endParaRPr lang="en-US" altLang="zh-TW" sz="13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56073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51E86931-E500-4C95-A236-275B9BEBDAA0}" type="slidenum">
              <a:rPr lang="zh-TW" altLang="en-US" sz="1300"/>
              <a:pPr>
                <a:spcBef>
                  <a:spcPct val="0"/>
                </a:spcBef>
              </a:pPr>
              <a:t>18</a:t>
            </a:fld>
            <a:endParaRPr lang="en-US" altLang="zh-TW" sz="13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19593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51E86931-E500-4C95-A236-275B9BEBDAA0}" type="slidenum">
              <a:rPr lang="zh-TW" altLang="en-US" sz="1300"/>
              <a:pPr>
                <a:spcBef>
                  <a:spcPct val="0"/>
                </a:spcBef>
              </a:pPr>
              <a:t>19</a:t>
            </a:fld>
            <a:endParaRPr lang="en-US" altLang="zh-TW" sz="13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531037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034">
              <a:defRPr>
                <a:solidFill>
                  <a:schemeClr val="tx1"/>
                </a:solidFill>
                <a:latin typeface="Verdana" pitchFamily="34" charset="0"/>
                <a:ea typeface="MS PGothic" pitchFamily="34" charset="-128"/>
              </a:defRPr>
            </a:lvl1pPr>
            <a:lvl2pPr marL="743842" indent="-286093" defTabSz="925034">
              <a:defRPr>
                <a:solidFill>
                  <a:schemeClr val="tx1"/>
                </a:solidFill>
                <a:latin typeface="Verdana" pitchFamily="34" charset="0"/>
                <a:ea typeface="MS PGothic" pitchFamily="34" charset="-128"/>
              </a:defRPr>
            </a:lvl2pPr>
            <a:lvl3pPr marL="1144372" indent="-228874" defTabSz="925034">
              <a:defRPr>
                <a:solidFill>
                  <a:schemeClr val="tx1"/>
                </a:solidFill>
                <a:latin typeface="Verdana" pitchFamily="34" charset="0"/>
                <a:ea typeface="MS PGothic" pitchFamily="34" charset="-128"/>
              </a:defRPr>
            </a:lvl3pPr>
            <a:lvl4pPr marL="1602120" indent="-228874" defTabSz="925034">
              <a:defRPr>
                <a:solidFill>
                  <a:schemeClr val="tx1"/>
                </a:solidFill>
                <a:latin typeface="Verdana" pitchFamily="34" charset="0"/>
                <a:ea typeface="MS PGothic" pitchFamily="34" charset="-128"/>
              </a:defRPr>
            </a:lvl4pPr>
            <a:lvl5pPr marL="2059869" indent="-228874" defTabSz="925034">
              <a:defRPr>
                <a:solidFill>
                  <a:schemeClr val="tx1"/>
                </a:solidFill>
                <a:latin typeface="Verdana" pitchFamily="34" charset="0"/>
                <a:ea typeface="MS PGothic" pitchFamily="34" charset="-128"/>
              </a:defRPr>
            </a:lvl5pPr>
            <a:lvl6pPr marL="2517618" indent="-228874" defTabSz="925034" eaLnBrk="0" fontAlgn="base" hangingPunct="0">
              <a:spcBef>
                <a:spcPct val="0"/>
              </a:spcBef>
              <a:spcAft>
                <a:spcPct val="0"/>
              </a:spcAft>
              <a:defRPr>
                <a:solidFill>
                  <a:schemeClr val="tx1"/>
                </a:solidFill>
                <a:latin typeface="Verdana" pitchFamily="34" charset="0"/>
                <a:ea typeface="MS PGothic" pitchFamily="34" charset="-128"/>
              </a:defRPr>
            </a:lvl6pPr>
            <a:lvl7pPr marL="2975366" indent="-228874" defTabSz="925034" eaLnBrk="0" fontAlgn="base" hangingPunct="0">
              <a:spcBef>
                <a:spcPct val="0"/>
              </a:spcBef>
              <a:spcAft>
                <a:spcPct val="0"/>
              </a:spcAft>
              <a:defRPr>
                <a:solidFill>
                  <a:schemeClr val="tx1"/>
                </a:solidFill>
                <a:latin typeface="Verdana" pitchFamily="34" charset="0"/>
                <a:ea typeface="MS PGothic" pitchFamily="34" charset="-128"/>
              </a:defRPr>
            </a:lvl7pPr>
            <a:lvl8pPr marL="3433115" indent="-228874" defTabSz="925034" eaLnBrk="0" fontAlgn="base" hangingPunct="0">
              <a:spcBef>
                <a:spcPct val="0"/>
              </a:spcBef>
              <a:spcAft>
                <a:spcPct val="0"/>
              </a:spcAft>
              <a:defRPr>
                <a:solidFill>
                  <a:schemeClr val="tx1"/>
                </a:solidFill>
                <a:latin typeface="Verdana" pitchFamily="34" charset="0"/>
                <a:ea typeface="MS PGothic" pitchFamily="34" charset="-128"/>
              </a:defRPr>
            </a:lvl8pPr>
            <a:lvl9pPr marL="3890863" indent="-228874" defTabSz="925034" eaLnBrk="0" fontAlgn="base" hangingPunct="0">
              <a:spcBef>
                <a:spcPct val="0"/>
              </a:spcBef>
              <a:spcAft>
                <a:spcPct val="0"/>
              </a:spcAft>
              <a:defRPr>
                <a:solidFill>
                  <a:schemeClr val="tx1"/>
                </a:solidFill>
                <a:latin typeface="Verdana" pitchFamily="34" charset="0"/>
                <a:ea typeface="MS PGothic" pitchFamily="34" charset="-128"/>
              </a:defRPr>
            </a:lvl9pPr>
          </a:lstStyle>
          <a:p>
            <a:fld id="{15AAA8A1-0A47-473E-B2AB-7E6AA2072F94}" type="slidenum">
              <a:rPr lang="en-US" altLang="zh-TW">
                <a:latin typeface="Times New Roman" pitchFamily="18" charset="0"/>
              </a:rPr>
              <a:pPr/>
              <a:t>20</a:t>
            </a:fld>
            <a:endParaRPr lang="en-US" altLang="zh-TW">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zh-TW" smtClean="0">
              <a:latin typeface="Times New Roman" pitchFamily="18" charset="0"/>
            </a:endParaRPr>
          </a:p>
        </p:txBody>
      </p:sp>
    </p:spTree>
    <p:extLst>
      <p:ext uri="{BB962C8B-B14F-4D97-AF65-F5344CB8AC3E}">
        <p14:creationId xmlns:p14="http://schemas.microsoft.com/office/powerpoint/2010/main" val="1050779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EB681C-5777-4721-903F-4A833003EB82}" type="slidenum">
              <a:rPr lang="zh-TW" altLang="en-US" sz="1300"/>
              <a:pPr>
                <a:spcBef>
                  <a:spcPct val="0"/>
                </a:spcBef>
              </a:pPr>
              <a:t>23</a:t>
            </a:fld>
            <a:endParaRPr lang="en-US" altLang="zh-TW" sz="13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84591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EB681C-5777-4721-903F-4A833003EB82}" type="slidenum">
              <a:rPr lang="zh-TW" altLang="en-US" sz="1300"/>
              <a:pPr>
                <a:spcBef>
                  <a:spcPct val="0"/>
                </a:spcBef>
              </a:pPr>
              <a:t>24</a:t>
            </a:fld>
            <a:endParaRPr lang="en-US" altLang="zh-TW" sz="13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747195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A6DF13EB-CC53-4477-A136-C07597F1A614}" type="slidenum">
              <a:rPr lang="zh-TW" altLang="en-US" sz="1300"/>
              <a:pPr>
                <a:spcBef>
                  <a:spcPct val="0"/>
                </a:spcBef>
              </a:pPr>
              <a:t>25</a:t>
            </a:fld>
            <a:endParaRPr lang="en-US" altLang="zh-TW" sz="13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6004727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2F2763DC-ADBF-4BC9-A7A6-FF7D4F6C16B0}" type="slidenum">
              <a:rPr lang="zh-TW" altLang="en-US" sz="1300"/>
              <a:pPr>
                <a:spcBef>
                  <a:spcPct val="0"/>
                </a:spcBef>
              </a:pPr>
              <a:t>26</a:t>
            </a:fld>
            <a:endParaRPr lang="en-US" altLang="zh-TW" sz="13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6037605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293D5E2A-D381-4F84-98FA-6337D91EF0E4}" type="slidenum">
              <a:rPr lang="zh-TW" altLang="en-US" sz="1300"/>
              <a:pPr>
                <a:spcBef>
                  <a:spcPct val="0"/>
                </a:spcBef>
              </a:pPr>
              <a:t>27</a:t>
            </a:fld>
            <a:endParaRPr lang="en-US" altLang="zh-TW" sz="13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4154212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5419403-95EB-46C5-B9C8-6A2C3B29D2EC}" type="slidenum">
              <a:rPr lang="zh-TW" altLang="en-US" sz="1300"/>
              <a:pPr>
                <a:spcBef>
                  <a:spcPct val="0"/>
                </a:spcBef>
              </a:pPr>
              <a:t>28</a:t>
            </a:fld>
            <a:endParaRPr lang="en-US" altLang="zh-TW" sz="13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754244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C6FEF37F-AA1F-4152-9E27-AB409B6160DE}" type="slidenum">
              <a:rPr kumimoji="0" lang="zh-TW" altLang="en-US" sz="1300"/>
              <a:pPr algn="r">
                <a:spcBef>
                  <a:spcPct val="0"/>
                </a:spcBef>
              </a:pPr>
              <a:t>29</a:t>
            </a:fld>
            <a:endParaRPr kumimoji="0" lang="en-US" altLang="zh-TW" sz="13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75655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30</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9935383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31</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784789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32</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1975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33</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89299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5B347E76-513B-42FF-8B1C-84F9E4081BDC}" type="slidenum">
              <a:rPr lang="zh-TW" altLang="en-US" sz="1300"/>
              <a:pPr>
                <a:spcBef>
                  <a:spcPct val="0"/>
                </a:spcBef>
              </a:pPr>
              <a:t>34</a:t>
            </a:fld>
            <a:endParaRPr lang="en-US" altLang="zh-TW" sz="13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76218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FD366C08-33D7-4728-BCF3-26D733519254}" type="slidenum">
              <a:rPr lang="zh-TW" altLang="en-US" sz="1300"/>
              <a:pPr>
                <a:spcBef>
                  <a:spcPct val="0"/>
                </a:spcBef>
              </a:pPr>
              <a:t>35</a:t>
            </a:fld>
            <a:endParaRPr lang="en-US" altLang="zh-TW" sz="13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944539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A144411-F3F6-4AB5-9AF4-6B047F763753}" type="slidenum">
              <a:rPr lang="zh-TW" altLang="en-US" sz="1300"/>
              <a:pPr>
                <a:spcBef>
                  <a:spcPct val="0"/>
                </a:spcBef>
              </a:pPr>
              <a:t>36</a:t>
            </a:fld>
            <a:endParaRPr lang="en-US" altLang="zh-TW" sz="13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0959445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A144411-F3F6-4AB5-9AF4-6B047F763753}" type="slidenum">
              <a:rPr lang="zh-TW" altLang="en-US" sz="1300"/>
              <a:pPr>
                <a:spcBef>
                  <a:spcPct val="0"/>
                </a:spcBef>
              </a:pPr>
              <a:t>37</a:t>
            </a:fld>
            <a:endParaRPr lang="en-US" altLang="zh-TW" sz="13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7030095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CD79D2-4E54-4DC8-8E71-C0412F37C2AD}" type="slidenum">
              <a:rPr lang="zh-TW" altLang="en-US" sz="1300"/>
              <a:pPr>
                <a:spcBef>
                  <a:spcPct val="0"/>
                </a:spcBef>
              </a:pPr>
              <a:t>38</a:t>
            </a:fld>
            <a:endParaRPr lang="en-US" altLang="zh-TW" sz="13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7861788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666C149-0F30-4EE1-877B-D15352AC2B5A}" type="slidenum">
              <a:rPr lang="zh-TW" altLang="en-US" sz="1300"/>
              <a:pPr>
                <a:spcBef>
                  <a:spcPct val="0"/>
                </a:spcBef>
              </a:pPr>
              <a:t>39</a:t>
            </a:fld>
            <a:endParaRPr lang="en-US" altLang="zh-TW" sz="13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044999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CD79D2-4E54-4DC8-8E71-C0412F37C2AD}" type="slidenum">
              <a:rPr lang="zh-TW" altLang="en-US" sz="1300"/>
              <a:pPr>
                <a:spcBef>
                  <a:spcPct val="0"/>
                </a:spcBef>
              </a:pPr>
              <a:t>40</a:t>
            </a:fld>
            <a:endParaRPr lang="en-US" altLang="zh-TW" sz="13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4217429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4165A364-E30A-498A-95ED-4A052EEAA337}" type="slidenum">
              <a:rPr lang="zh-TW" altLang="en-US" sz="1300"/>
              <a:pPr>
                <a:spcBef>
                  <a:spcPct val="0"/>
                </a:spcBef>
              </a:pPr>
              <a:t>41</a:t>
            </a:fld>
            <a:endParaRPr lang="en-US" altLang="zh-TW" sz="13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1639246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CD79D2-4E54-4DC8-8E71-C0412F37C2AD}" type="slidenum">
              <a:rPr lang="zh-TW" altLang="en-US" sz="1300"/>
              <a:pPr>
                <a:spcBef>
                  <a:spcPct val="0"/>
                </a:spcBef>
              </a:pPr>
              <a:t>42</a:t>
            </a:fld>
            <a:endParaRPr lang="en-US" altLang="zh-TW" sz="13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9371154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CD79D2-4E54-4DC8-8E71-C0412F37C2AD}" type="slidenum">
              <a:rPr lang="zh-TW" altLang="en-US" sz="1300"/>
              <a:pPr>
                <a:spcBef>
                  <a:spcPct val="0"/>
                </a:spcBef>
              </a:pPr>
              <a:t>43</a:t>
            </a:fld>
            <a:endParaRPr lang="en-US" altLang="zh-TW" sz="13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1503623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BCD79D2-4E54-4DC8-8E71-C0412F37C2AD}" type="slidenum">
              <a:rPr lang="zh-TW" altLang="en-US" sz="1300"/>
              <a:pPr>
                <a:spcBef>
                  <a:spcPct val="0"/>
                </a:spcBef>
              </a:pPr>
              <a:t>44</a:t>
            </a:fld>
            <a:endParaRPr lang="en-US" altLang="zh-TW" sz="13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525784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920750" y="747713"/>
            <a:ext cx="4968875" cy="3725862"/>
          </a:xfrm>
          <a:ln/>
        </p:spPr>
      </p:sp>
      <p:sp>
        <p:nvSpPr>
          <p:cNvPr id="81923" name="Rectangle 3"/>
          <p:cNvSpPr>
            <a:spLocks noGrp="1" noChangeArrowheads="1"/>
          </p:cNvSpPr>
          <p:nvPr>
            <p:ph type="body" idx="1"/>
          </p:nvPr>
        </p:nvSpPr>
        <p:spPr>
          <a:xfrm>
            <a:off x="907733" y="4721743"/>
            <a:ext cx="4991735" cy="4470636"/>
          </a:xfrm>
          <a:noFill/>
        </p:spPr>
        <p:txBody>
          <a:bodyPr lIns="92371" tIns="46184" rIns="92371" bIns="46184"/>
          <a:lstStyle/>
          <a:p>
            <a:endParaRPr lang="zh-TW" altLang="en-US" smtClean="0"/>
          </a:p>
        </p:txBody>
      </p:sp>
    </p:spTree>
    <p:extLst>
      <p:ext uri="{BB962C8B-B14F-4D97-AF65-F5344CB8AC3E}">
        <p14:creationId xmlns:p14="http://schemas.microsoft.com/office/powerpoint/2010/main" val="30532216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77D5DBE8-C32B-4A6D-AA7B-0A159FFCCDD6}" type="slidenum">
              <a:rPr kumimoji="0" lang="zh-TW" altLang="en-US" sz="1300"/>
              <a:pPr algn="r">
                <a:spcBef>
                  <a:spcPct val="0"/>
                </a:spcBef>
              </a:pPr>
              <a:t>46</a:t>
            </a:fld>
            <a:endParaRPr kumimoji="0" lang="en-US" altLang="zh-TW" sz="13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9647729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F1D00F1-108D-4C72-BC31-504E80F96697}" type="slidenum">
              <a:rPr lang="zh-TW" altLang="en-US" sz="1300"/>
              <a:pPr>
                <a:spcBef>
                  <a:spcPct val="0"/>
                </a:spcBef>
              </a:pPr>
              <a:t>47</a:t>
            </a:fld>
            <a:endParaRPr lang="en-US" altLang="zh-TW" sz="13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1946352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EE6A34A-C77D-4615-959C-AD14DCD8A553}" type="slidenum">
              <a:rPr lang="zh-TW" altLang="en-US" sz="1300"/>
              <a:pPr>
                <a:spcBef>
                  <a:spcPct val="0"/>
                </a:spcBef>
              </a:pPr>
              <a:t>48</a:t>
            </a:fld>
            <a:endParaRPr lang="en-US" altLang="zh-TW" sz="13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20049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D947B6FB-9F7D-49A2-864C-414495248E11}" type="slidenum">
              <a:rPr lang="zh-TW" altLang="en-US" sz="1300"/>
              <a:pPr>
                <a:spcBef>
                  <a:spcPct val="0"/>
                </a:spcBef>
              </a:pPr>
              <a:t>49</a:t>
            </a:fld>
            <a:endParaRPr lang="en-US" altLang="zh-TW" sz="13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4988878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43B6BC3E-433A-4AAB-873F-FC2774AD932B}" type="slidenum">
              <a:rPr kumimoji="0" lang="zh-TW" altLang="en-US" sz="1300"/>
              <a:pPr algn="r">
                <a:spcBef>
                  <a:spcPct val="0"/>
                </a:spcBef>
              </a:pPr>
              <a:t>50</a:t>
            </a:fld>
            <a:endParaRPr kumimoji="0" lang="en-US" altLang="zh-TW" sz="13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2751929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58262" y="9441895"/>
            <a:ext cx="2948938" cy="497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02" tIns="48302" rIns="96602" bIns="48302" anchor="b"/>
          <a:lstStyle>
            <a:lvl1pPr defTabSz="965200" eaLnBrk="0" hangingPunct="0">
              <a:spcBef>
                <a:spcPct val="30000"/>
              </a:spcBef>
              <a:defRPr sz="1200">
                <a:solidFill>
                  <a:schemeClr val="tx1"/>
                </a:solidFill>
                <a:latin typeface="Times New Roman" pitchFamily="18" charset="0"/>
              </a:defRPr>
            </a:lvl1pPr>
            <a:lvl2pPr marL="742950" indent="-285750" defTabSz="965200" eaLnBrk="0" hangingPunct="0">
              <a:spcBef>
                <a:spcPct val="30000"/>
              </a:spcBef>
              <a:defRPr sz="1200">
                <a:solidFill>
                  <a:schemeClr val="tx1"/>
                </a:solidFill>
                <a:latin typeface="Times New Roman" pitchFamily="18" charset="0"/>
              </a:defRPr>
            </a:lvl2pPr>
            <a:lvl3pPr marL="1143000" indent="-228600" defTabSz="965200" eaLnBrk="0" hangingPunct="0">
              <a:spcBef>
                <a:spcPct val="30000"/>
              </a:spcBef>
              <a:defRPr sz="1200">
                <a:solidFill>
                  <a:schemeClr val="tx1"/>
                </a:solidFill>
                <a:latin typeface="Times New Roman" pitchFamily="18" charset="0"/>
              </a:defRPr>
            </a:lvl3pPr>
            <a:lvl4pPr marL="1600200" indent="-228600" defTabSz="965200" eaLnBrk="0" hangingPunct="0">
              <a:spcBef>
                <a:spcPct val="30000"/>
              </a:spcBef>
              <a:defRPr sz="1200">
                <a:solidFill>
                  <a:schemeClr val="tx1"/>
                </a:solidFill>
                <a:latin typeface="Times New Roman" pitchFamily="18" charset="0"/>
              </a:defRPr>
            </a:lvl4pPr>
            <a:lvl5pPr marL="2057400" indent="-228600" defTabSz="965200" eaLnBrk="0" hangingPunct="0">
              <a:spcBef>
                <a:spcPct val="30000"/>
              </a:spcBef>
              <a:defRPr sz="1200">
                <a:solidFill>
                  <a:schemeClr val="tx1"/>
                </a:solidFill>
                <a:latin typeface="Times New Roman" pitchFamily="18" charset="0"/>
              </a:defRPr>
            </a:lvl5pPr>
            <a:lvl6pPr marL="2514600" indent="-228600" defTabSz="965200" eaLnBrk="0" fontAlgn="base" hangingPunct="0">
              <a:spcBef>
                <a:spcPct val="30000"/>
              </a:spcBef>
              <a:spcAft>
                <a:spcPct val="0"/>
              </a:spcAft>
              <a:defRPr sz="1200">
                <a:solidFill>
                  <a:schemeClr val="tx1"/>
                </a:solidFill>
                <a:latin typeface="Times New Roman" pitchFamily="18" charset="0"/>
              </a:defRPr>
            </a:lvl6pPr>
            <a:lvl7pPr marL="2971800" indent="-228600" defTabSz="965200" eaLnBrk="0" fontAlgn="base" hangingPunct="0">
              <a:spcBef>
                <a:spcPct val="30000"/>
              </a:spcBef>
              <a:spcAft>
                <a:spcPct val="0"/>
              </a:spcAft>
              <a:defRPr sz="1200">
                <a:solidFill>
                  <a:schemeClr val="tx1"/>
                </a:solidFill>
                <a:latin typeface="Times New Roman" pitchFamily="18" charset="0"/>
              </a:defRPr>
            </a:lvl7pPr>
            <a:lvl8pPr marL="3429000" indent="-228600" defTabSz="965200" eaLnBrk="0" fontAlgn="base" hangingPunct="0">
              <a:spcBef>
                <a:spcPct val="30000"/>
              </a:spcBef>
              <a:spcAft>
                <a:spcPct val="0"/>
              </a:spcAft>
              <a:defRPr sz="1200">
                <a:solidFill>
                  <a:schemeClr val="tx1"/>
                </a:solidFill>
                <a:latin typeface="Times New Roman" pitchFamily="18" charset="0"/>
              </a:defRPr>
            </a:lvl8pPr>
            <a:lvl9pPr marL="3886200" indent="-228600" defTabSz="965200" eaLnBrk="0" fontAlgn="base" hangingPunct="0">
              <a:spcBef>
                <a:spcPct val="30000"/>
              </a:spcBef>
              <a:spcAft>
                <a:spcPct val="0"/>
              </a:spcAft>
              <a:defRPr sz="1200">
                <a:solidFill>
                  <a:schemeClr val="tx1"/>
                </a:solidFill>
                <a:latin typeface="Times New Roman" pitchFamily="18" charset="0"/>
              </a:defRPr>
            </a:lvl9pPr>
          </a:lstStyle>
          <a:p>
            <a:pPr algn="r">
              <a:spcBef>
                <a:spcPct val="0"/>
              </a:spcBef>
            </a:pPr>
            <a:fld id="{E876E346-0A3F-4042-8EAE-076071A299EF}" type="slidenum">
              <a:rPr kumimoji="0" lang="zh-TW" altLang="en-US" sz="1300"/>
              <a:pPr algn="r">
                <a:spcBef>
                  <a:spcPct val="0"/>
                </a:spcBef>
              </a:pPr>
              <a:t>51</a:t>
            </a:fld>
            <a:endParaRPr kumimoji="0" lang="en-US" altLang="zh-TW" sz="13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9487726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920750" y="747713"/>
            <a:ext cx="4968875" cy="3725862"/>
          </a:xfrm>
          <a:ln/>
        </p:spPr>
      </p:sp>
      <p:sp>
        <p:nvSpPr>
          <p:cNvPr id="98307" name="Rectangle 3"/>
          <p:cNvSpPr>
            <a:spLocks noGrp="1" noChangeArrowheads="1"/>
          </p:cNvSpPr>
          <p:nvPr>
            <p:ph type="body" idx="1"/>
          </p:nvPr>
        </p:nvSpPr>
        <p:spPr>
          <a:xfrm>
            <a:off x="907733" y="4721743"/>
            <a:ext cx="4991735" cy="4470636"/>
          </a:xfrm>
          <a:noFill/>
        </p:spPr>
        <p:txBody>
          <a:bodyPr lIns="92371" tIns="46184" rIns="92371" bIns="46184"/>
          <a:lstStyle/>
          <a:p>
            <a:endParaRPr lang="zh-TW" altLang="en-US" smtClean="0"/>
          </a:p>
        </p:txBody>
      </p:sp>
    </p:spTree>
    <p:extLst>
      <p:ext uri="{BB962C8B-B14F-4D97-AF65-F5344CB8AC3E}">
        <p14:creationId xmlns:p14="http://schemas.microsoft.com/office/powerpoint/2010/main" val="38140031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231E6C6-085A-445B-A093-174FF1BE1464}" type="slidenum">
              <a:rPr lang="zh-TW" altLang="en-US" sz="1300"/>
              <a:pPr>
                <a:spcBef>
                  <a:spcPct val="0"/>
                </a:spcBef>
              </a:pPr>
              <a:t>53</a:t>
            </a:fld>
            <a:endParaRPr lang="en-US" altLang="zh-TW" sz="13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3605678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CCAA3B-82CF-4564-AB5B-C52BAE576B84}" type="slidenum">
              <a:rPr lang="zh-TW" altLang="en-US" sz="1300"/>
              <a:pPr>
                <a:spcBef>
                  <a:spcPct val="0"/>
                </a:spcBef>
              </a:pPr>
              <a:t>54</a:t>
            </a:fld>
            <a:endParaRPr lang="en-US" altLang="zh-TW" sz="13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6828078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3CE50C9-822E-42DD-834C-01F30B5B1803}" type="slidenum">
              <a:rPr lang="zh-TW" altLang="en-US" sz="1300"/>
              <a:pPr>
                <a:spcBef>
                  <a:spcPct val="0"/>
                </a:spcBef>
              </a:pPr>
              <a:t>55</a:t>
            </a:fld>
            <a:endParaRPr lang="en-US" altLang="zh-TW" sz="13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136447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E33D4D18-DC7E-4A71-8F5B-041849165D50}" type="slidenum">
              <a:rPr lang="zh-TW" altLang="en-US" sz="1300"/>
              <a:pPr>
                <a:spcBef>
                  <a:spcPct val="0"/>
                </a:spcBef>
              </a:pPr>
              <a:t>56</a:t>
            </a:fld>
            <a:endParaRPr lang="en-US" altLang="zh-TW" sz="13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7133898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EBF2DDAE-385A-45EB-B195-D3BC008FFD3A}" type="slidenum">
              <a:rPr lang="zh-TW" altLang="en-US" sz="1300"/>
              <a:pPr>
                <a:spcBef>
                  <a:spcPct val="0"/>
                </a:spcBef>
              </a:pPr>
              <a:t>57</a:t>
            </a:fld>
            <a:endParaRPr lang="en-US" altLang="zh-TW" sz="13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615715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2B73A10A-0502-4EC4-A4F5-58D65D96909C}" type="slidenum">
              <a:rPr lang="zh-TW" altLang="en-US" sz="1300"/>
              <a:pPr>
                <a:spcBef>
                  <a:spcPct val="0"/>
                </a:spcBef>
              </a:pPr>
              <a:t>58</a:t>
            </a:fld>
            <a:endParaRPr lang="en-US" altLang="zh-TW" sz="13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5919915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CDB27B0-C9F0-4FAB-BB46-1BC7139A73B7}" type="slidenum">
              <a:rPr lang="zh-TW" altLang="en-US" sz="1300"/>
              <a:pPr>
                <a:spcBef>
                  <a:spcPct val="0"/>
                </a:spcBef>
              </a:pPr>
              <a:t>59</a:t>
            </a:fld>
            <a:endParaRPr lang="en-US" altLang="zh-TW" sz="13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0188666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FEF034-CDD5-4A3F-A5F6-CBEB4071CAE9}" type="slidenum">
              <a:rPr lang="zh-TW" altLang="en-US" sz="1300"/>
              <a:pPr>
                <a:spcBef>
                  <a:spcPct val="0"/>
                </a:spcBef>
              </a:pPr>
              <a:t>60</a:t>
            </a:fld>
            <a:endParaRPr lang="en-US" altLang="zh-TW" sz="13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6259018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1B5FA29-AC0E-4F4F-B288-0BD8C77FE1D5}" type="slidenum">
              <a:rPr lang="zh-TW" altLang="en-US" sz="1300"/>
              <a:pPr>
                <a:spcBef>
                  <a:spcPct val="0"/>
                </a:spcBef>
              </a:pPr>
              <a:t>61</a:t>
            </a:fld>
            <a:endParaRPr lang="en-US" altLang="zh-TW" sz="13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8379344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1B5FA29-AC0E-4F4F-B288-0BD8C77FE1D5}" type="slidenum">
              <a:rPr lang="zh-TW" altLang="en-US" sz="1300"/>
              <a:pPr>
                <a:spcBef>
                  <a:spcPct val="0"/>
                </a:spcBef>
              </a:pPr>
              <a:t>62</a:t>
            </a:fld>
            <a:endParaRPr lang="en-US" altLang="zh-TW" sz="13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4449979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1B5FA29-AC0E-4F4F-B288-0BD8C77FE1D5}" type="slidenum">
              <a:rPr lang="zh-TW" altLang="en-US" sz="1300"/>
              <a:pPr>
                <a:spcBef>
                  <a:spcPct val="0"/>
                </a:spcBef>
              </a:pPr>
              <a:t>63</a:t>
            </a:fld>
            <a:endParaRPr lang="en-US" altLang="zh-TW" sz="13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2349892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67603F0-3C49-4D4F-ABEE-90934594F098}" type="slidenum">
              <a:rPr lang="zh-TW" altLang="en-US" sz="1300"/>
              <a:pPr>
                <a:spcBef>
                  <a:spcPct val="0"/>
                </a:spcBef>
              </a:pPr>
              <a:t>64</a:t>
            </a:fld>
            <a:endParaRPr lang="en-US" altLang="zh-TW" sz="13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4573647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D49CB8D-2306-4342-AFBE-BFE0D2A813AD}" type="slidenum">
              <a:rPr lang="zh-TW" altLang="en-US" sz="1300"/>
              <a:pPr>
                <a:spcBef>
                  <a:spcPct val="0"/>
                </a:spcBef>
              </a:pPr>
              <a:t>65</a:t>
            </a:fld>
            <a:endParaRPr lang="en-US" altLang="zh-TW" sz="13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9592181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66</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3115320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920750" y="747713"/>
            <a:ext cx="4968875" cy="3725862"/>
          </a:xfrm>
          <a:ln/>
        </p:spPr>
      </p:sp>
      <p:sp>
        <p:nvSpPr>
          <p:cNvPr id="81923" name="Rectangle 3"/>
          <p:cNvSpPr>
            <a:spLocks noGrp="1" noChangeArrowheads="1"/>
          </p:cNvSpPr>
          <p:nvPr>
            <p:ph type="body" idx="1"/>
          </p:nvPr>
        </p:nvSpPr>
        <p:spPr>
          <a:xfrm>
            <a:off x="907733" y="4721743"/>
            <a:ext cx="4991735" cy="4470636"/>
          </a:xfrm>
          <a:noFill/>
        </p:spPr>
        <p:txBody>
          <a:bodyPr lIns="92371" tIns="46184" rIns="92371" bIns="46184"/>
          <a:lstStyle/>
          <a:p>
            <a:endParaRPr lang="zh-TW" altLang="en-US" dirty="0" smtClean="0"/>
          </a:p>
        </p:txBody>
      </p:sp>
    </p:spTree>
    <p:extLst>
      <p:ext uri="{BB962C8B-B14F-4D97-AF65-F5344CB8AC3E}">
        <p14:creationId xmlns:p14="http://schemas.microsoft.com/office/powerpoint/2010/main" val="331012504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68</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0064527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69</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18357263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70</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22315584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358" eaLnBrk="0" hangingPunct="0">
              <a:spcBef>
                <a:spcPct val="30000"/>
              </a:spcBef>
              <a:defRPr sz="1200">
                <a:solidFill>
                  <a:schemeClr val="tx1"/>
                </a:solidFill>
                <a:latin typeface="Times New Roman" pitchFamily="18" charset="0"/>
              </a:defRPr>
            </a:lvl1pPr>
            <a:lvl2pPr marL="743842" indent="-286093" defTabSz="966358" eaLnBrk="0" hangingPunct="0">
              <a:spcBef>
                <a:spcPct val="30000"/>
              </a:spcBef>
              <a:defRPr sz="1200">
                <a:solidFill>
                  <a:schemeClr val="tx1"/>
                </a:solidFill>
                <a:latin typeface="Times New Roman" pitchFamily="18" charset="0"/>
              </a:defRPr>
            </a:lvl2pPr>
            <a:lvl3pPr marL="1144372" indent="-228874" defTabSz="966358" eaLnBrk="0" hangingPunct="0">
              <a:spcBef>
                <a:spcPct val="30000"/>
              </a:spcBef>
              <a:defRPr sz="1200">
                <a:solidFill>
                  <a:schemeClr val="tx1"/>
                </a:solidFill>
                <a:latin typeface="Times New Roman" pitchFamily="18" charset="0"/>
              </a:defRPr>
            </a:lvl3pPr>
            <a:lvl4pPr marL="1602120" indent="-228874" defTabSz="966358" eaLnBrk="0" hangingPunct="0">
              <a:spcBef>
                <a:spcPct val="30000"/>
              </a:spcBef>
              <a:defRPr sz="1200">
                <a:solidFill>
                  <a:schemeClr val="tx1"/>
                </a:solidFill>
                <a:latin typeface="Times New Roman" pitchFamily="18" charset="0"/>
              </a:defRPr>
            </a:lvl4pPr>
            <a:lvl5pPr marL="2059869" indent="-228874" defTabSz="966358" eaLnBrk="0" hangingPunct="0">
              <a:spcBef>
                <a:spcPct val="30000"/>
              </a:spcBef>
              <a:defRPr sz="1200">
                <a:solidFill>
                  <a:schemeClr val="tx1"/>
                </a:solidFill>
                <a:latin typeface="Times New Roman" pitchFamily="18" charset="0"/>
              </a:defRPr>
            </a:lvl5pPr>
            <a:lvl6pPr marL="2517618" indent="-228874" defTabSz="966358" eaLnBrk="0" fontAlgn="base" hangingPunct="0">
              <a:spcBef>
                <a:spcPct val="30000"/>
              </a:spcBef>
              <a:spcAft>
                <a:spcPct val="0"/>
              </a:spcAft>
              <a:defRPr sz="1200">
                <a:solidFill>
                  <a:schemeClr val="tx1"/>
                </a:solidFill>
                <a:latin typeface="Times New Roman" pitchFamily="18" charset="0"/>
              </a:defRPr>
            </a:lvl6pPr>
            <a:lvl7pPr marL="2975366" indent="-228874" defTabSz="966358" eaLnBrk="0" fontAlgn="base" hangingPunct="0">
              <a:spcBef>
                <a:spcPct val="30000"/>
              </a:spcBef>
              <a:spcAft>
                <a:spcPct val="0"/>
              </a:spcAft>
              <a:defRPr sz="1200">
                <a:solidFill>
                  <a:schemeClr val="tx1"/>
                </a:solidFill>
                <a:latin typeface="Times New Roman" pitchFamily="18" charset="0"/>
              </a:defRPr>
            </a:lvl7pPr>
            <a:lvl8pPr marL="3433115" indent="-228874" defTabSz="966358" eaLnBrk="0" fontAlgn="base" hangingPunct="0">
              <a:spcBef>
                <a:spcPct val="30000"/>
              </a:spcBef>
              <a:spcAft>
                <a:spcPct val="0"/>
              </a:spcAft>
              <a:defRPr sz="1200">
                <a:solidFill>
                  <a:schemeClr val="tx1"/>
                </a:solidFill>
                <a:latin typeface="Times New Roman" pitchFamily="18" charset="0"/>
              </a:defRPr>
            </a:lvl8pPr>
            <a:lvl9pPr marL="3890863" indent="-228874" defTabSz="966358"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8212D59-F843-44B3-9B7E-F79BE2DA6A68}" type="slidenum">
              <a:rPr lang="zh-TW" altLang="en-US" sz="1300"/>
              <a:pPr>
                <a:spcBef>
                  <a:spcPct val="0"/>
                </a:spcBef>
              </a:pPr>
              <a:t>71</a:t>
            </a:fld>
            <a:endParaRPr lang="en-US" altLang="zh-TW" sz="13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p>
        </p:txBody>
      </p:sp>
    </p:spTree>
    <p:extLst>
      <p:ext uri="{BB962C8B-B14F-4D97-AF65-F5344CB8AC3E}">
        <p14:creationId xmlns:p14="http://schemas.microsoft.com/office/powerpoint/2010/main" val="3748277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defRPr/>
                </a:pPr>
                <a:endParaRPr lang="zh-TW" altLang="en-US" smtClean="0"/>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 name="Arc 62"/>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 name="Arc 66"/>
              <p:cNvSpPr>
                <a:spLocks/>
              </p:cNvSpPr>
              <p:nvPr/>
            </p:nvSpPr>
            <p:spPr bwMode="ltGray">
              <a:xfrm rot="5400000">
                <a:off x="5097" y="3347"/>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grpSp>
      </p:grpSp>
      <p:sp>
        <p:nvSpPr>
          <p:cNvPr id="124995" name="Rectangle 67"/>
          <p:cNvSpPr>
            <a:spLocks noGrp="1" noChangeArrowheads="1"/>
          </p:cNvSpPr>
          <p:nvPr>
            <p:ph type="ctrTitle"/>
          </p:nvPr>
        </p:nvSpPr>
        <p:spPr>
          <a:xfrm>
            <a:off x="990600" y="1752600"/>
            <a:ext cx="7772400" cy="1143000"/>
          </a:xfrm>
        </p:spPr>
        <p:txBody>
          <a:bodyPr/>
          <a:lstStyle>
            <a:lvl1pPr>
              <a:defRPr/>
            </a:lvl1pPr>
          </a:lstStyle>
          <a:p>
            <a:r>
              <a:rPr lang="zh-TW" altLang="en-US"/>
              <a:t>按一下以編輯母片標題樣式</a:t>
            </a:r>
          </a:p>
        </p:txBody>
      </p:sp>
      <p:sp>
        <p:nvSpPr>
          <p:cNvPr id="124996"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zh-TW" altLang="en-US"/>
              <a:t>按一下以編輯母片副標題樣式</a:t>
            </a:r>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kumimoji="0" sz="1400" smtClean="0"/>
            </a:lvl1pPr>
          </a:lstStyle>
          <a:p>
            <a:pPr>
              <a:defRPr/>
            </a:pPr>
            <a:fld id="{0C2BE87C-1A2C-4CD5-AE3C-4F6A3B133362}" type="datetime1">
              <a:rPr lang="zh-TW" altLang="en-US" smtClean="0"/>
              <a:t>2018/3/5</a:t>
            </a:fld>
            <a:endParaRPr lang="en-US" altLang="zh-TW"/>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kumimoji="0" sz="1400" smtClean="0"/>
            </a:lvl1pPr>
          </a:lstStyle>
          <a:p>
            <a:pPr>
              <a:defRPr/>
            </a:pPr>
            <a:r>
              <a:rPr lang="en-US" altLang="zh-TW" smtClean="0"/>
              <a:t>OS2-2018</a:t>
            </a:r>
            <a:endParaRPr lang="en-US" altLang="zh-TW"/>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kumimoji="0" sz="1400"/>
            </a:lvl1pPr>
          </a:lstStyle>
          <a:p>
            <a:pPr>
              <a:defRPr/>
            </a:pPr>
            <a:fld id="{94D82128-800D-498F-BE66-1721091D132A}" type="slidenum">
              <a:rPr lang="zh-TW" altLang="en-US"/>
              <a:pPr>
                <a:defRPr/>
              </a:pPr>
              <a:t>‹#›</a:t>
            </a:fld>
            <a:endParaRPr lang="en-US" altLang="zh-TW"/>
          </a:p>
        </p:txBody>
      </p:sp>
    </p:spTree>
    <p:extLst>
      <p:ext uri="{BB962C8B-B14F-4D97-AF65-F5344CB8AC3E}">
        <p14:creationId xmlns:p14="http://schemas.microsoft.com/office/powerpoint/2010/main" val="2161152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421293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301423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912183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34933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960109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82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57475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28876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2203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0350" y="304800"/>
            <a:ext cx="2000250" cy="57150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09600" y="304800"/>
            <a:ext cx="5848350" cy="57150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4541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0" y="0"/>
            <a:ext cx="9144000" cy="6858000"/>
            <a:chOff x="0" y="0"/>
            <a:chExt cx="5760" cy="4320"/>
          </a:xfrm>
        </p:grpSpPr>
        <p:grpSp>
          <p:nvGrpSpPr>
            <p:cNvPr id="1029" name="Group 1027"/>
            <p:cNvGrpSpPr>
              <a:grpSpLocks/>
            </p:cNvGrpSpPr>
            <p:nvPr/>
          </p:nvGrpSpPr>
          <p:grpSpPr bwMode="auto">
            <a:xfrm>
              <a:off x="0" y="0"/>
              <a:ext cx="5760" cy="4320"/>
              <a:chOff x="0" y="0"/>
              <a:chExt cx="5760" cy="4320"/>
            </a:xfrm>
          </p:grpSpPr>
          <p:grpSp>
            <p:nvGrpSpPr>
              <p:cNvPr id="1036" name="Group 1028"/>
              <p:cNvGrpSpPr>
                <a:grpSpLocks/>
              </p:cNvGrpSpPr>
              <p:nvPr/>
            </p:nvGrpSpPr>
            <p:grpSpPr bwMode="auto">
              <a:xfrm>
                <a:off x="0" y="192"/>
                <a:ext cx="5760" cy="4032"/>
                <a:chOff x="0" y="192"/>
                <a:chExt cx="5760" cy="4032"/>
              </a:xfrm>
            </p:grpSpPr>
            <p:sp>
              <p:nvSpPr>
                <p:cNvPr id="1067" name="Line 1029"/>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8" name="Line 1030"/>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9" name="Line 1031"/>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0" name="Line 1032"/>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1" name="Line 1033"/>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2" name="Line 1034"/>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3" name="Line 1035"/>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4" name="Line 1036"/>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5" name="Line 1037"/>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6" name="Line 1038"/>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7" name="Line 1039"/>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8" name="Line 1040"/>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79" name="Line 1041"/>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0" name="Line 1042"/>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1" name="Line 1043"/>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2" name="Line 1044"/>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3" name="Line 1045"/>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4" name="Line 1046"/>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5" name="Line 1047"/>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6" name="Line 1048"/>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7" name="Line 1049"/>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88" name="Line 1050"/>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grpSp>
            <p:nvGrpSpPr>
              <p:cNvPr id="1037" name="Group 1051"/>
              <p:cNvGrpSpPr>
                <a:grpSpLocks/>
              </p:cNvGrpSpPr>
              <p:nvPr/>
            </p:nvGrpSpPr>
            <p:grpSpPr bwMode="auto">
              <a:xfrm>
                <a:off x="192" y="0"/>
                <a:ext cx="5376" cy="4320"/>
                <a:chOff x="192" y="0"/>
                <a:chExt cx="5376" cy="4320"/>
              </a:xfrm>
            </p:grpSpPr>
            <p:sp>
              <p:nvSpPr>
                <p:cNvPr id="1038"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39"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0"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1"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2"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3"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4"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5"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6"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7"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8"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49"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0"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1"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2"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3"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4"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5"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6"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7"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8"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59"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0"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1"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2"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3"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4"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5"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66"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grpSp>
        <p:sp>
          <p:nvSpPr>
            <p:cNvPr id="1030" name="Rectangle 1081" descr="60%"/>
            <p:cNvSpPr>
              <a:spLocks noChangeArrowheads="1"/>
            </p:cNvSpPr>
            <p:nvPr/>
          </p:nvSpPr>
          <p:spPr bwMode="ltGray">
            <a:xfrm>
              <a:off x="2112" y="0"/>
              <a:ext cx="3648" cy="96"/>
            </a:xfrm>
            <a:prstGeom prst="rect">
              <a:avLst/>
            </a:prstGeom>
            <a:pattFill prst="pct60">
              <a:fgClr>
                <a:schemeClr val="folHlink"/>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defRPr/>
              </a:pPr>
              <a:endParaRPr lang="zh-TW" altLang="en-US" smtClean="0"/>
            </a:p>
          </p:txBody>
        </p:sp>
        <p:sp>
          <p:nvSpPr>
            <p:cNvPr id="1031" name="Line 1082"/>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nvGrpSpPr>
            <p:cNvPr id="1032" name="Group 1083"/>
            <p:cNvGrpSpPr>
              <a:grpSpLocks/>
            </p:cNvGrpSpPr>
            <p:nvPr/>
          </p:nvGrpSpPr>
          <p:grpSpPr bwMode="auto">
            <a:xfrm>
              <a:off x="261" y="892"/>
              <a:ext cx="1124" cy="1464"/>
              <a:chOff x="96" y="916"/>
              <a:chExt cx="2208" cy="2876"/>
            </a:xfrm>
          </p:grpSpPr>
          <p:sp>
            <p:nvSpPr>
              <p:cNvPr id="1033" name="Line 1084"/>
              <p:cNvSpPr>
                <a:spLocks noChangeShapeType="1"/>
              </p:cNvSpPr>
              <p:nvPr/>
            </p:nvSpPr>
            <p:spPr bwMode="ltGray">
              <a:xfrm flipH="1">
                <a:off x="96" y="1038"/>
                <a:ext cx="22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34" name="Line 1085"/>
              <p:cNvSpPr>
                <a:spLocks noChangeShapeType="1"/>
              </p:cNvSpPr>
              <p:nvPr/>
            </p:nvSpPr>
            <p:spPr bwMode="ltGray">
              <a:xfrm>
                <a:off x="336" y="920"/>
                <a:ext cx="0" cy="287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035" name="Arc 1086"/>
              <p:cNvSpPr>
                <a:spLocks/>
              </p:cNvSpPr>
              <p:nvPr/>
            </p:nvSpPr>
            <p:spPr bwMode="ltGray">
              <a:xfrm flipH="1">
                <a:off x="218" y="916"/>
                <a:ext cx="238" cy="240"/>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grpSp>
      </p:grpSp>
      <p:sp>
        <p:nvSpPr>
          <p:cNvPr id="1027" name="Rectangle 1087"/>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1028" name="Rectangle 1088"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Tree>
  </p:cSld>
  <p:clrMap bg1="lt1" tx1="dk1" bg2="lt2" tx2="dk2" accent1="accent1" accent2="accent2" accent3="accent3" accent4="accent4" accent5="accent5" accent6="accent6" hlink="hlink" folHlink="folHlink"/>
  <p:sldLayoutIdLst>
    <p:sldLayoutId id="2147483771"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emf"/></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1.gif"/></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9.emf"/><Relationship Id="rId5" Type="http://schemas.openxmlformats.org/officeDocument/2006/relationships/package" Target="../embeddings/Microsoft_Excel____1.xlsx"/><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84AD4BA-6E52-4DA2-ACF6-CFCE03D84C61}" type="datetime1">
              <a:rPr kumimoji="0" lang="zh-TW" altLang="en-US" sz="1400" smtClean="0"/>
              <a:t>2018/3/5</a:t>
            </a:fld>
            <a:endParaRPr kumimoji="0" lang="en-US" altLang="zh-TW" sz="1400"/>
          </a:p>
        </p:txBody>
      </p:sp>
      <p:sp>
        <p:nvSpPr>
          <p:cNvPr id="3075" name="頁尾版面配置區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eaLnBrk="1" hangingPunct="1">
              <a:spcBef>
                <a:spcPct val="0"/>
              </a:spcBef>
              <a:buClrTx/>
              <a:buSzTx/>
              <a:buFontTx/>
              <a:buNone/>
            </a:pPr>
            <a:r>
              <a:rPr kumimoji="0" lang="en-US" altLang="zh-TW" sz="1400" dirty="0" smtClean="0"/>
              <a:t>OS2-2018</a:t>
            </a:r>
            <a:endParaRPr kumimoji="0" lang="en-US" altLang="zh-TW" sz="1400" dirty="0"/>
          </a:p>
        </p:txBody>
      </p:sp>
      <p:sp>
        <p:nvSpPr>
          <p:cNvPr id="3076"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626FD278-FDB1-472B-BF8A-EFB7C29B1454}" type="slidenum">
              <a:rPr kumimoji="0" lang="zh-TW" altLang="en-US" sz="1400"/>
              <a:pPr algn="r" eaLnBrk="1" hangingPunct="1">
                <a:spcBef>
                  <a:spcPct val="0"/>
                </a:spcBef>
                <a:buClrTx/>
                <a:buSzTx/>
                <a:buFontTx/>
                <a:buNone/>
              </a:pPr>
              <a:t>1</a:t>
            </a:fld>
            <a:endParaRPr kumimoji="0" lang="en-US" altLang="zh-TW" sz="1400"/>
          </a:p>
        </p:txBody>
      </p:sp>
      <p:sp>
        <p:nvSpPr>
          <p:cNvPr id="3077" name="Rectangle 2"/>
          <p:cNvSpPr>
            <a:spLocks noGrp="1" noChangeArrowheads="1"/>
          </p:cNvSpPr>
          <p:nvPr>
            <p:ph type="title"/>
          </p:nvPr>
        </p:nvSpPr>
        <p:spPr>
          <a:xfrm>
            <a:off x="846138" y="1558925"/>
            <a:ext cx="7570787" cy="3054350"/>
          </a:xfrm>
          <a:noFill/>
        </p:spPr>
        <p:txBody>
          <a:bodyPr lIns="90488" tIns="44450" rIns="90488" bIns="44450" anchor="ctr"/>
          <a:lstStyle/>
          <a:p>
            <a:pPr algn="ctr" eaLnBrk="1" hangingPunct="1"/>
            <a:r>
              <a:rPr lang="en-US" altLang="zh-TW" b="1" smtClean="0">
                <a:solidFill>
                  <a:srgbClr val="000000"/>
                </a:solidFill>
              </a:rPr>
              <a:t>Chapter 2</a:t>
            </a:r>
            <a:br>
              <a:rPr lang="en-US" altLang="zh-TW" b="1" smtClean="0">
                <a:solidFill>
                  <a:srgbClr val="000000"/>
                </a:solidFill>
              </a:rPr>
            </a:br>
            <a:r>
              <a:rPr lang="en-US" altLang="zh-TW" b="1" smtClean="0">
                <a:solidFill>
                  <a:srgbClr val="000000"/>
                </a:solidFill>
              </a:rPr>
              <a:t/>
            </a:r>
            <a:br>
              <a:rPr lang="en-US" altLang="zh-TW" b="1" smtClean="0">
                <a:solidFill>
                  <a:srgbClr val="000000"/>
                </a:solidFill>
              </a:rPr>
            </a:br>
            <a:r>
              <a:rPr lang="en-US" altLang="zh-TW" b="1" smtClean="0">
                <a:solidFill>
                  <a:srgbClr val="000000"/>
                </a:solidFill>
              </a:rPr>
              <a:t> Operating-System Structures</a:t>
            </a:r>
          </a:p>
        </p:txBody>
      </p:sp>
      <p:sp>
        <p:nvSpPr>
          <p:cNvPr id="3078" name="Rectangle 3" descr="Rectangle: Click to edit Master text styles&#10;Second level&#10;Third level&#10;Fourth level&#10;Fifth level"/>
          <p:cNvSpPr>
            <a:spLocks noGrp="1" noChangeArrowheads="1"/>
          </p:cNvSpPr>
          <p:nvPr>
            <p:ph type="body" idx="1"/>
          </p:nvPr>
        </p:nvSpPr>
        <p:spPr>
          <a:xfrm>
            <a:off x="1162050" y="1905000"/>
            <a:ext cx="7391400" cy="3946525"/>
          </a:xfrm>
          <a:noFill/>
        </p:spPr>
        <p:txBody>
          <a:bodyPr lIns="90488" tIns="44450" rIns="90488" bIns="44450"/>
          <a:lstStyle/>
          <a:p>
            <a:pPr eaLnBrk="1" hangingPunct="1">
              <a:buFont typeface="Wingdings" pitchFamily="2" charset="2"/>
              <a:buNone/>
            </a:pPr>
            <a:endParaRPr lang="zh-TW" altLang="en-US" sz="4000" smtClean="0"/>
          </a:p>
          <a:p>
            <a:pPr eaLnBrk="1" hangingPunct="1">
              <a:buFont typeface="Wingdings" pitchFamily="2" charset="2"/>
              <a:buNone/>
            </a:pPr>
            <a:endParaRPr lang="zh-TW" altLang="en-US" sz="400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AD94941-1194-47E4-8A10-0A75EC73907F}" type="datetime1">
              <a:rPr kumimoji="0" lang="zh-TW" altLang="en-US" sz="1400" smtClean="0"/>
              <a:t>2018/3/5</a:t>
            </a:fld>
            <a:endParaRPr kumimoji="0" lang="en-US" altLang="zh-TW" sz="1400"/>
          </a:p>
        </p:txBody>
      </p:sp>
      <p:sp>
        <p:nvSpPr>
          <p:cNvPr id="4099" name="頁尾版面配置區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eaLnBrk="1" hangingPunct="1">
              <a:spcBef>
                <a:spcPct val="0"/>
              </a:spcBef>
              <a:buClrTx/>
              <a:buSzTx/>
              <a:buFontTx/>
              <a:buNone/>
            </a:pPr>
            <a:r>
              <a:rPr kumimoji="0" lang="en-US" altLang="zh-TW" sz="1400" smtClean="0"/>
              <a:t>OS2-2018</a:t>
            </a:r>
            <a:endParaRPr kumimoji="0" lang="en-US" altLang="zh-TW" sz="1400" dirty="0"/>
          </a:p>
        </p:txBody>
      </p:sp>
      <p:sp>
        <p:nvSpPr>
          <p:cNvPr id="4100"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25E7FD3B-D189-4818-B4E1-F43060209FCF}" type="slidenum">
              <a:rPr kumimoji="0" lang="zh-TW" altLang="en-US" sz="1400"/>
              <a:pPr algn="r" eaLnBrk="1" hangingPunct="1">
                <a:spcBef>
                  <a:spcPct val="0"/>
                </a:spcBef>
                <a:buClrTx/>
                <a:buSzTx/>
                <a:buFontTx/>
                <a:buNone/>
              </a:pPr>
              <a:t>2</a:t>
            </a:fld>
            <a:endParaRPr kumimoji="0" lang="en-US" altLang="zh-TW" sz="1400"/>
          </a:p>
        </p:txBody>
      </p:sp>
      <p:sp>
        <p:nvSpPr>
          <p:cNvPr id="4101" name="Rectangle 2"/>
          <p:cNvSpPr>
            <a:spLocks noGrp="1" noChangeArrowheads="1"/>
          </p:cNvSpPr>
          <p:nvPr>
            <p:ph type="title"/>
          </p:nvPr>
        </p:nvSpPr>
        <p:spPr>
          <a:xfrm>
            <a:off x="363538" y="392113"/>
            <a:ext cx="8201025" cy="773112"/>
          </a:xfrm>
        </p:spPr>
        <p:txBody>
          <a:bodyPr/>
          <a:lstStyle/>
          <a:p>
            <a:pPr eaLnBrk="1" hangingPunct="1"/>
            <a:r>
              <a:rPr lang="en-US" altLang="zh-TW" smtClean="0"/>
              <a:t>Outlines</a:t>
            </a:r>
          </a:p>
        </p:txBody>
      </p:sp>
      <p:sp>
        <p:nvSpPr>
          <p:cNvPr id="4102" name="Rectangle 3" descr="Rectangle: Click to edit Master text styles&#10;Second level&#10;Third level&#10;Fourth level&#10;Fifth level"/>
          <p:cNvSpPr>
            <a:spLocks noGrp="1" noChangeArrowheads="1"/>
          </p:cNvSpPr>
          <p:nvPr>
            <p:ph type="body" idx="1"/>
          </p:nvPr>
        </p:nvSpPr>
        <p:spPr>
          <a:xfrm>
            <a:off x="407988" y="1157288"/>
            <a:ext cx="8323262" cy="5402262"/>
          </a:xfrm>
        </p:spPr>
        <p:txBody>
          <a:bodyPr/>
          <a:lstStyle/>
          <a:p>
            <a:pPr eaLnBrk="1" hangingPunct="1">
              <a:spcBef>
                <a:spcPts val="1200"/>
              </a:spcBef>
              <a:spcAft>
                <a:spcPts val="600"/>
              </a:spcAft>
              <a:buSzTx/>
              <a:buFont typeface="Wingdings" pitchFamily="2" charset="2"/>
              <a:buChar char="p"/>
            </a:pPr>
            <a:r>
              <a:rPr lang="en-US" altLang="zh-TW" sz="2800" dirty="0" smtClean="0">
                <a:solidFill>
                  <a:srgbClr val="0000FF"/>
                </a:solidFill>
              </a:rPr>
              <a:t>Operating </a:t>
            </a:r>
            <a:r>
              <a:rPr lang="en-US" altLang="zh-TW" sz="2800" dirty="0">
                <a:solidFill>
                  <a:srgbClr val="0000FF"/>
                </a:solidFill>
              </a:rPr>
              <a:t>System Services</a:t>
            </a:r>
          </a:p>
          <a:p>
            <a:pPr eaLnBrk="1" hangingPunct="1">
              <a:spcBef>
                <a:spcPts val="1200"/>
              </a:spcBef>
              <a:spcAft>
                <a:spcPts val="600"/>
              </a:spcAft>
              <a:buSzTx/>
              <a:buFont typeface="Wingdings" pitchFamily="2" charset="2"/>
              <a:buChar char="p"/>
            </a:pPr>
            <a:r>
              <a:rPr lang="en-US" altLang="zh-TW" sz="2800" dirty="0" smtClean="0">
                <a:solidFill>
                  <a:srgbClr val="0000FF"/>
                </a:solidFill>
              </a:rPr>
              <a:t>User Operating System Interface</a:t>
            </a:r>
          </a:p>
          <a:p>
            <a:pPr eaLnBrk="1" hangingPunct="1">
              <a:spcBef>
                <a:spcPts val="1200"/>
              </a:spcBef>
              <a:spcAft>
                <a:spcPts val="600"/>
              </a:spcAft>
              <a:buSzTx/>
              <a:buFont typeface="Wingdings" pitchFamily="2" charset="2"/>
              <a:buChar char="p"/>
            </a:pPr>
            <a:r>
              <a:rPr lang="en-US" altLang="zh-TW" sz="2800" dirty="0" smtClean="0">
                <a:solidFill>
                  <a:srgbClr val="0000FF"/>
                </a:solidFill>
              </a:rPr>
              <a:t>System Calls</a:t>
            </a:r>
          </a:p>
          <a:p>
            <a:pPr eaLnBrk="1" hangingPunct="1">
              <a:spcBef>
                <a:spcPts val="1200"/>
              </a:spcBef>
              <a:spcAft>
                <a:spcPts val="600"/>
              </a:spcAft>
              <a:buSzTx/>
              <a:buFont typeface="Wingdings" pitchFamily="2" charset="2"/>
              <a:buChar char="p"/>
            </a:pPr>
            <a:r>
              <a:rPr lang="en-US" altLang="zh-TW" sz="2800" dirty="0" smtClean="0">
                <a:solidFill>
                  <a:srgbClr val="0000FF"/>
                </a:solidFill>
              </a:rPr>
              <a:t>System Programs</a:t>
            </a:r>
          </a:p>
          <a:p>
            <a:pPr eaLnBrk="1" hangingPunct="1">
              <a:spcBef>
                <a:spcPts val="1200"/>
              </a:spcBef>
              <a:spcAft>
                <a:spcPts val="600"/>
              </a:spcAft>
              <a:buSzTx/>
              <a:buFont typeface="Wingdings" pitchFamily="2" charset="2"/>
              <a:buChar char="p"/>
            </a:pPr>
            <a:r>
              <a:rPr lang="en-US" altLang="zh-TW" sz="2800" dirty="0" smtClean="0">
                <a:solidFill>
                  <a:srgbClr val="0000FF"/>
                </a:solidFill>
              </a:rPr>
              <a:t>Operating System Design and Implementation</a:t>
            </a:r>
          </a:p>
          <a:p>
            <a:pPr eaLnBrk="1" hangingPunct="1">
              <a:spcBef>
                <a:spcPts val="1200"/>
              </a:spcBef>
              <a:spcAft>
                <a:spcPts val="600"/>
              </a:spcAft>
              <a:buSzTx/>
              <a:buFont typeface="Wingdings" pitchFamily="2" charset="2"/>
              <a:buChar char="p"/>
            </a:pPr>
            <a:r>
              <a:rPr lang="en-US" altLang="zh-TW" sz="2800" dirty="0" smtClean="0">
                <a:solidFill>
                  <a:srgbClr val="0000FF"/>
                </a:solidFill>
              </a:rPr>
              <a:t>Operating System Structure</a:t>
            </a:r>
          </a:p>
          <a:p>
            <a:pPr eaLnBrk="1" hangingPunct="1">
              <a:spcBef>
                <a:spcPts val="1200"/>
              </a:spcBef>
              <a:spcAft>
                <a:spcPts val="600"/>
              </a:spcAft>
              <a:buSzTx/>
              <a:buFont typeface="Wingdings" pitchFamily="2" charset="2"/>
              <a:buChar char="p"/>
            </a:pPr>
            <a:r>
              <a:rPr lang="en-US" altLang="zh-TW" sz="2800" dirty="0" smtClean="0">
                <a:solidFill>
                  <a:srgbClr val="7030A0"/>
                </a:solidFill>
              </a:rPr>
              <a:t>Virtual Machines</a:t>
            </a:r>
          </a:p>
          <a:p>
            <a:pPr eaLnBrk="1" hangingPunct="1">
              <a:spcBef>
                <a:spcPts val="1200"/>
              </a:spcBef>
              <a:spcAft>
                <a:spcPts val="600"/>
              </a:spcAft>
              <a:buSzTx/>
              <a:buFont typeface="Wingdings" pitchFamily="2" charset="2"/>
              <a:buChar char="p"/>
            </a:pPr>
            <a:r>
              <a:rPr lang="en-US" altLang="zh-TW" sz="2800" dirty="0" smtClean="0">
                <a:solidFill>
                  <a:srgbClr val="7030A0"/>
                </a:solidFill>
              </a:rPr>
              <a:t>Hardware Protection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04CCE6E9-2C50-4F03-A493-419F5393FE3F}" type="datetime1">
              <a:rPr kumimoji="0" lang="zh-TW" altLang="en-US" sz="1400" smtClean="0"/>
              <a:t>2018/3/5</a:t>
            </a:fld>
            <a:endParaRPr kumimoji="0" lang="en-US" altLang="zh-TW" sz="1400"/>
          </a:p>
        </p:txBody>
      </p:sp>
      <p:sp>
        <p:nvSpPr>
          <p:cNvPr id="5123" name="頁尾版面配置區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eaLnBrk="1" hangingPunct="1">
              <a:spcBef>
                <a:spcPct val="0"/>
              </a:spcBef>
              <a:buClrTx/>
              <a:buSzTx/>
              <a:buFontTx/>
              <a:buNone/>
            </a:pPr>
            <a:r>
              <a:rPr kumimoji="0" lang="en-US" altLang="zh-TW" sz="1400" smtClean="0"/>
              <a:t>OS2-2018</a:t>
            </a:r>
            <a:endParaRPr kumimoji="0" lang="en-US" altLang="zh-TW" sz="1400"/>
          </a:p>
        </p:txBody>
      </p:sp>
      <p:sp>
        <p:nvSpPr>
          <p:cNvPr id="5124"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E40E76E3-61EA-464A-B887-2AB30B54D14B}" type="slidenum">
              <a:rPr kumimoji="0" lang="zh-TW" altLang="en-US" sz="1400"/>
              <a:pPr algn="r" eaLnBrk="1" hangingPunct="1">
                <a:spcBef>
                  <a:spcPct val="0"/>
                </a:spcBef>
                <a:buClrTx/>
                <a:buSzTx/>
                <a:buFontTx/>
                <a:buNone/>
              </a:pPr>
              <a:t>3</a:t>
            </a:fld>
            <a:endParaRPr kumimoji="0" lang="en-US" altLang="zh-TW" sz="1400"/>
          </a:p>
        </p:txBody>
      </p:sp>
      <p:sp>
        <p:nvSpPr>
          <p:cNvPr id="5125" name="Rectangle 2"/>
          <p:cNvSpPr>
            <a:spLocks noGrp="1" noChangeArrowheads="1"/>
          </p:cNvSpPr>
          <p:nvPr>
            <p:ph type="title"/>
          </p:nvPr>
        </p:nvSpPr>
        <p:spPr>
          <a:xfrm>
            <a:off x="363538" y="392113"/>
            <a:ext cx="8201025" cy="773112"/>
          </a:xfrm>
        </p:spPr>
        <p:txBody>
          <a:bodyPr/>
          <a:lstStyle/>
          <a:p>
            <a:pPr eaLnBrk="1" hangingPunct="1"/>
            <a:r>
              <a:rPr lang="en-US" altLang="zh-TW" b="1" smtClean="0"/>
              <a:t>Objectives</a:t>
            </a:r>
            <a:endParaRPr lang="en-US" altLang="zh-TW" smtClean="0"/>
          </a:p>
        </p:txBody>
      </p:sp>
      <p:sp>
        <p:nvSpPr>
          <p:cNvPr id="180227" name="Rectangle 3" descr="Rectangle: Click to edit Master text styles&#10;Second level&#10;Third level&#10;Fourth level&#10;Fifth level"/>
          <p:cNvSpPr>
            <a:spLocks noGrp="1" noChangeArrowheads="1"/>
          </p:cNvSpPr>
          <p:nvPr>
            <p:ph type="body" idx="1"/>
          </p:nvPr>
        </p:nvSpPr>
        <p:spPr>
          <a:xfrm>
            <a:off x="403225" y="1371600"/>
            <a:ext cx="8140700" cy="5186363"/>
          </a:xfrm>
        </p:spPr>
        <p:txBody>
          <a:bodyPr/>
          <a:lstStyle/>
          <a:p>
            <a:pPr eaLnBrk="1" hangingPunct="1">
              <a:lnSpc>
                <a:spcPct val="80000"/>
              </a:lnSpc>
              <a:defRPr/>
            </a:pPr>
            <a:r>
              <a:rPr lang="en-US" altLang="zh-TW" dirty="0" smtClean="0"/>
              <a:t>To describe the </a:t>
            </a:r>
            <a:r>
              <a:rPr lang="en-US" altLang="zh-TW" dirty="0" smtClean="0">
                <a:solidFill>
                  <a:srgbClr val="D60093"/>
                </a:solidFill>
              </a:rPr>
              <a:t>services</a:t>
            </a:r>
            <a:r>
              <a:rPr lang="en-US" altLang="zh-TW" dirty="0" smtClean="0"/>
              <a:t> an operating system provides to users, processes, and other systems</a:t>
            </a:r>
          </a:p>
          <a:p>
            <a:pPr eaLnBrk="1" hangingPunct="1">
              <a:lnSpc>
                <a:spcPct val="80000"/>
              </a:lnSpc>
              <a:buFont typeface="Wingdings" pitchFamily="2" charset="2"/>
              <a:buNone/>
              <a:defRPr/>
            </a:pPr>
            <a:endParaRPr lang="en-US" altLang="zh-TW" dirty="0" smtClean="0"/>
          </a:p>
          <a:p>
            <a:pPr eaLnBrk="1" hangingPunct="1">
              <a:lnSpc>
                <a:spcPct val="80000"/>
              </a:lnSpc>
              <a:defRPr/>
            </a:pPr>
            <a:r>
              <a:rPr lang="en-US" altLang="zh-TW" dirty="0" smtClean="0"/>
              <a:t>To discuss the various ways of </a:t>
            </a:r>
            <a:r>
              <a:rPr lang="en-US" altLang="zh-TW" dirty="0" smtClean="0">
                <a:solidFill>
                  <a:srgbClr val="D60093"/>
                </a:solidFill>
              </a:rPr>
              <a:t>structuring</a:t>
            </a:r>
            <a:r>
              <a:rPr lang="en-US" altLang="zh-TW" dirty="0" smtClean="0"/>
              <a:t> an operating system</a:t>
            </a:r>
          </a:p>
          <a:p>
            <a:pPr eaLnBrk="1" hangingPunct="1">
              <a:lnSpc>
                <a:spcPct val="80000"/>
              </a:lnSpc>
              <a:defRPr/>
            </a:pPr>
            <a:endParaRPr lang="en-US" altLang="zh-TW" dirty="0" smtClean="0"/>
          </a:p>
          <a:p>
            <a:pPr eaLnBrk="1" hangingPunct="1">
              <a:lnSpc>
                <a:spcPct val="80000"/>
              </a:lnSpc>
              <a:defRPr/>
            </a:pPr>
            <a:r>
              <a:rPr lang="en-US" altLang="zh-TW" dirty="0" smtClean="0">
                <a:solidFill>
                  <a:schemeClr val="accent4">
                    <a:lumMod val="40000"/>
                    <a:lumOff val="60000"/>
                  </a:schemeClr>
                </a:solidFill>
              </a:rPr>
              <a:t>To explain how operating systems are installed and customized and how they boot (OS0-2016)</a:t>
            </a:r>
            <a:endParaRPr lang="en-US" altLang="zh-TW" sz="3600" dirty="0" smtClean="0">
              <a:solidFill>
                <a:schemeClr val="accent4">
                  <a:lumMod val="40000"/>
                  <a:lumOff val="6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 calcmode="lin" valueType="num">
                                      <p:cBhvr additive="base">
                                        <p:cTn id="7" dur="500" fill="hold"/>
                                        <p:tgtEl>
                                          <p:spTgt spid="180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0227">
                                            <p:txEl>
                                              <p:pRg st="2" end="2"/>
                                            </p:txEl>
                                          </p:spTgt>
                                        </p:tgtEl>
                                        <p:attrNameLst>
                                          <p:attrName>style.visibility</p:attrName>
                                        </p:attrNameLst>
                                      </p:cBhvr>
                                      <p:to>
                                        <p:strVal val="visible"/>
                                      </p:to>
                                    </p:set>
                                    <p:anim calcmode="lin" valueType="num">
                                      <p:cBhvr additive="base">
                                        <p:cTn id="13" dur="5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0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0227">
                                            <p:txEl>
                                              <p:pRg st="4" end="4"/>
                                            </p:txEl>
                                          </p:spTgt>
                                        </p:tgtEl>
                                        <p:attrNameLst>
                                          <p:attrName>style.visibility</p:attrName>
                                        </p:attrNameLst>
                                      </p:cBhvr>
                                      <p:to>
                                        <p:strVal val="visible"/>
                                      </p:to>
                                    </p:set>
                                    <p:anim calcmode="lin" valueType="num">
                                      <p:cBhvr additive="base">
                                        <p:cTn id="19" dur="500" fill="hold"/>
                                        <p:tgtEl>
                                          <p:spTgt spid="18022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02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E0BA922F-F98F-4D81-9B0E-FA4064B68743}" type="datetime1">
              <a:rPr kumimoji="0" lang="zh-TW" altLang="en-US" sz="1400" smtClean="0"/>
              <a:t>2018/3/5</a:t>
            </a:fld>
            <a:endParaRPr kumimoji="0" lang="en-US" altLang="zh-TW" sz="1400"/>
          </a:p>
        </p:txBody>
      </p:sp>
      <p:sp>
        <p:nvSpPr>
          <p:cNvPr id="61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B2E092F8-9217-4E7F-A781-ECD9B8BAEED4}" type="slidenum">
              <a:rPr kumimoji="0" lang="zh-TW" altLang="en-US" sz="1400"/>
              <a:pPr algn="r" eaLnBrk="1" hangingPunct="1">
                <a:spcBef>
                  <a:spcPct val="0"/>
                </a:spcBef>
                <a:buClrTx/>
                <a:buSzTx/>
                <a:buFontTx/>
                <a:buNone/>
              </a:pPr>
              <a:t>4</a:t>
            </a:fld>
            <a:endParaRPr kumimoji="0" lang="en-US" altLang="zh-TW" sz="1400"/>
          </a:p>
        </p:txBody>
      </p:sp>
      <p:sp>
        <p:nvSpPr>
          <p:cNvPr id="6148" name="Rectangle 1026"/>
          <p:cNvSpPr>
            <a:spLocks noGrp="1" noChangeArrowheads="1"/>
          </p:cNvSpPr>
          <p:nvPr>
            <p:ph type="title"/>
          </p:nvPr>
        </p:nvSpPr>
        <p:spPr>
          <a:xfrm>
            <a:off x="647700" y="268288"/>
            <a:ext cx="7772400" cy="750887"/>
          </a:xfrm>
        </p:spPr>
        <p:txBody>
          <a:bodyPr/>
          <a:lstStyle/>
          <a:p>
            <a:pPr eaLnBrk="1" hangingPunct="1"/>
            <a:r>
              <a:rPr lang="en-US" altLang="zh-TW" smtClean="0"/>
              <a:t>Operating System Services (1)</a:t>
            </a:r>
          </a:p>
        </p:txBody>
      </p:sp>
      <p:pic>
        <p:nvPicPr>
          <p:cNvPr id="6149" name="Picture 4"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213" y="1222375"/>
            <a:ext cx="8728075"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571C46A-029F-4FEA-B722-3CF0E8B0CAFB}" type="datetime1">
              <a:rPr kumimoji="0" lang="zh-TW" altLang="en-US" sz="1400" smtClean="0"/>
              <a:t>2018/3/5</a:t>
            </a:fld>
            <a:endParaRPr kumimoji="0" lang="en-US" altLang="zh-TW" sz="1400"/>
          </a:p>
        </p:txBody>
      </p:sp>
      <p:sp>
        <p:nvSpPr>
          <p:cNvPr id="7171"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64A4E204-98A1-4FF4-93A3-38BF37E8F5BF}" type="slidenum">
              <a:rPr kumimoji="0" lang="zh-TW" altLang="en-US" sz="1400"/>
              <a:pPr algn="r" eaLnBrk="1" hangingPunct="1">
                <a:spcBef>
                  <a:spcPct val="0"/>
                </a:spcBef>
                <a:buClrTx/>
                <a:buSzTx/>
                <a:buFontTx/>
                <a:buNone/>
              </a:pPr>
              <a:t>5</a:t>
            </a:fld>
            <a:endParaRPr kumimoji="0" lang="en-US" altLang="zh-TW" sz="1400"/>
          </a:p>
        </p:txBody>
      </p:sp>
      <p:sp>
        <p:nvSpPr>
          <p:cNvPr id="7172" name="Rectangle 1026"/>
          <p:cNvSpPr>
            <a:spLocks noGrp="1" noChangeArrowheads="1"/>
          </p:cNvSpPr>
          <p:nvPr>
            <p:ph type="title"/>
          </p:nvPr>
        </p:nvSpPr>
        <p:spPr>
          <a:xfrm>
            <a:off x="647700" y="268288"/>
            <a:ext cx="7772400" cy="750887"/>
          </a:xfrm>
        </p:spPr>
        <p:txBody>
          <a:bodyPr/>
          <a:lstStyle/>
          <a:p>
            <a:pPr eaLnBrk="1" hangingPunct="1"/>
            <a:r>
              <a:rPr lang="en-US" altLang="zh-TW" smtClean="0"/>
              <a:t>Operating System Services (2)</a:t>
            </a:r>
          </a:p>
        </p:txBody>
      </p:sp>
      <p:sp>
        <p:nvSpPr>
          <p:cNvPr id="80899" name="Rectangle 1027" descr="Rectangle: Click to edit Master text styles&#10;Second level&#10;Third level&#10;Fourth level&#10;Fifth level"/>
          <p:cNvSpPr>
            <a:spLocks noGrp="1" noChangeArrowheads="1"/>
          </p:cNvSpPr>
          <p:nvPr>
            <p:ph type="body" idx="1"/>
          </p:nvPr>
        </p:nvSpPr>
        <p:spPr>
          <a:xfrm>
            <a:off x="563563" y="1093788"/>
            <a:ext cx="8367712" cy="5764212"/>
          </a:xfrm>
        </p:spPr>
        <p:txBody>
          <a:bodyPr/>
          <a:lstStyle/>
          <a:p>
            <a:pPr eaLnBrk="1" hangingPunct="1">
              <a:lnSpc>
                <a:spcPct val="80000"/>
              </a:lnSpc>
            </a:pPr>
            <a:r>
              <a:rPr lang="en-US" altLang="zh-TW" sz="2400" dirty="0" smtClean="0">
                <a:solidFill>
                  <a:srgbClr val="D60093"/>
                </a:solidFill>
              </a:rPr>
              <a:t>User interface</a:t>
            </a:r>
            <a:r>
              <a:rPr lang="en-US" altLang="zh-TW" sz="2400" dirty="0" smtClean="0"/>
              <a:t> - Almost all operating systems have a user interface (UI)</a:t>
            </a:r>
          </a:p>
          <a:p>
            <a:pPr lvl="1" eaLnBrk="1" hangingPunct="1">
              <a:lnSpc>
                <a:spcPct val="80000"/>
              </a:lnSpc>
            </a:pPr>
            <a:r>
              <a:rPr lang="en-US" altLang="zh-TW" sz="2400" dirty="0" smtClean="0"/>
              <a:t>Varies between </a:t>
            </a:r>
            <a:r>
              <a:rPr lang="en-US" altLang="zh-TW" sz="2400" dirty="0" smtClean="0">
                <a:solidFill>
                  <a:srgbClr val="0000FF"/>
                </a:solidFill>
              </a:rPr>
              <a:t>Command-Line (CLI), Graphics User Interface (GUI), Batch</a:t>
            </a:r>
          </a:p>
          <a:p>
            <a:pPr eaLnBrk="1" hangingPunct="1">
              <a:lnSpc>
                <a:spcPct val="80000"/>
              </a:lnSpc>
              <a:spcBef>
                <a:spcPct val="50000"/>
              </a:spcBef>
            </a:pPr>
            <a:r>
              <a:rPr lang="en-US" altLang="zh-TW" sz="2400" dirty="0" smtClean="0">
                <a:solidFill>
                  <a:srgbClr val="D60093"/>
                </a:solidFill>
              </a:rPr>
              <a:t>Program execution</a:t>
            </a:r>
            <a:r>
              <a:rPr lang="en-US" altLang="zh-TW" sz="2400" dirty="0" smtClean="0"/>
              <a:t> </a:t>
            </a:r>
            <a:r>
              <a:rPr lang="en-US" altLang="zh-TW" sz="2400" dirty="0" smtClean="0">
                <a:latin typeface="Helvetica" pitchFamily="34" charset="0"/>
              </a:rPr>
              <a:t>–</a:t>
            </a:r>
            <a:r>
              <a:rPr lang="en-US" altLang="zh-TW" sz="2400" dirty="0" smtClean="0"/>
              <a:t> system capability to load a program into memory and to run it, end execution, either normally or abnormally (indicating error).</a:t>
            </a:r>
          </a:p>
          <a:p>
            <a:pPr eaLnBrk="1" hangingPunct="1">
              <a:lnSpc>
                <a:spcPct val="80000"/>
              </a:lnSpc>
              <a:spcBef>
                <a:spcPct val="50000"/>
              </a:spcBef>
            </a:pPr>
            <a:r>
              <a:rPr lang="en-US" altLang="zh-TW" sz="2400" dirty="0" smtClean="0">
                <a:solidFill>
                  <a:srgbClr val="D60093"/>
                </a:solidFill>
              </a:rPr>
              <a:t>I/O operations</a:t>
            </a:r>
            <a:r>
              <a:rPr lang="en-US" altLang="zh-TW" sz="2400" dirty="0" smtClean="0"/>
              <a:t> </a:t>
            </a:r>
            <a:r>
              <a:rPr lang="en-US" altLang="zh-TW" sz="2400" dirty="0" smtClean="0">
                <a:latin typeface="Helvetica" pitchFamily="34" charset="0"/>
              </a:rPr>
              <a:t>–</a:t>
            </a:r>
            <a:r>
              <a:rPr lang="en-US" altLang="zh-TW" sz="2400" dirty="0" smtClean="0"/>
              <a:t>  since </a:t>
            </a:r>
            <a:r>
              <a:rPr lang="en-US" altLang="zh-TW" sz="2400" dirty="0" smtClean="0">
                <a:solidFill>
                  <a:srgbClr val="0000FF"/>
                </a:solidFill>
              </a:rPr>
              <a:t>user programs cannot execute I/O operations directly</a:t>
            </a:r>
            <a:r>
              <a:rPr lang="en-US" altLang="zh-TW" sz="2400" dirty="0" smtClean="0"/>
              <a:t>, the operating system must provide some means to perform I/O.</a:t>
            </a:r>
          </a:p>
          <a:p>
            <a:pPr eaLnBrk="1" hangingPunct="1">
              <a:lnSpc>
                <a:spcPct val="80000"/>
              </a:lnSpc>
              <a:spcBef>
                <a:spcPct val="50000"/>
              </a:spcBef>
            </a:pPr>
            <a:r>
              <a:rPr lang="en-US" altLang="zh-TW" sz="2400" dirty="0" smtClean="0">
                <a:solidFill>
                  <a:srgbClr val="D60093"/>
                </a:solidFill>
              </a:rPr>
              <a:t>File-system manipulation</a:t>
            </a:r>
            <a:r>
              <a:rPr lang="en-US" altLang="zh-TW" sz="2400" dirty="0" smtClean="0"/>
              <a:t> </a:t>
            </a:r>
            <a:r>
              <a:rPr lang="en-US" altLang="zh-TW" sz="2400" dirty="0" smtClean="0">
                <a:latin typeface="Helvetica" pitchFamily="34" charset="0"/>
              </a:rPr>
              <a:t>–</a:t>
            </a:r>
            <a:r>
              <a:rPr lang="en-US" altLang="zh-TW" sz="2400" dirty="0" smtClean="0"/>
              <a:t>programs need to read and write files and directories, create and delete them, search them, list file Information, permission management.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anim calcmode="lin" valueType="num">
                                      <p:cBhvr additive="base">
                                        <p:cTn id="7"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0899">
                                            <p:txEl>
                                              <p:pRg st="3" end="3"/>
                                            </p:txEl>
                                          </p:spTgt>
                                        </p:tgtEl>
                                        <p:attrNameLst>
                                          <p:attrName>style.visibility</p:attrName>
                                        </p:attrNameLst>
                                      </p:cBhvr>
                                      <p:to>
                                        <p:strVal val="visible"/>
                                      </p:to>
                                    </p:set>
                                    <p:anim calcmode="lin" valueType="num">
                                      <p:cBhvr additive="base">
                                        <p:cTn id="13" dur="500" fill="hold"/>
                                        <p:tgtEl>
                                          <p:spTgt spid="8089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0899">
                                            <p:txEl>
                                              <p:pRg st="4" end="4"/>
                                            </p:txEl>
                                          </p:spTgt>
                                        </p:tgtEl>
                                        <p:attrNameLst>
                                          <p:attrName>style.visibility</p:attrName>
                                        </p:attrNameLst>
                                      </p:cBhvr>
                                      <p:to>
                                        <p:strVal val="visible"/>
                                      </p:to>
                                    </p:set>
                                    <p:anim calcmode="lin" valueType="num">
                                      <p:cBhvr additive="base">
                                        <p:cTn id="19" dur="500" fill="hold"/>
                                        <p:tgtEl>
                                          <p:spTgt spid="8089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8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E7DD5EDF-1D15-453D-88D4-7F0F20A62460}" type="datetime1">
              <a:rPr kumimoji="0" lang="zh-TW" altLang="en-US" sz="1400" smtClean="0"/>
              <a:t>2018/3/5</a:t>
            </a:fld>
            <a:endParaRPr kumimoji="0" lang="en-US" altLang="zh-TW" sz="1400"/>
          </a:p>
        </p:txBody>
      </p:sp>
      <p:sp>
        <p:nvSpPr>
          <p:cNvPr id="819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4334747F-4247-441E-A735-6BAE4683D1EC}" type="slidenum">
              <a:rPr kumimoji="0" lang="zh-TW" altLang="en-US" sz="1400"/>
              <a:pPr algn="r" eaLnBrk="1" hangingPunct="1">
                <a:spcBef>
                  <a:spcPct val="0"/>
                </a:spcBef>
                <a:buClrTx/>
                <a:buSzTx/>
                <a:buFontTx/>
                <a:buNone/>
              </a:pPr>
              <a:t>6</a:t>
            </a:fld>
            <a:endParaRPr kumimoji="0" lang="en-US" altLang="zh-TW" sz="1400"/>
          </a:p>
        </p:txBody>
      </p:sp>
      <p:sp>
        <p:nvSpPr>
          <p:cNvPr id="8196" name="Rectangle 2"/>
          <p:cNvSpPr>
            <a:spLocks noGrp="1" noChangeArrowheads="1"/>
          </p:cNvSpPr>
          <p:nvPr>
            <p:ph type="title"/>
          </p:nvPr>
        </p:nvSpPr>
        <p:spPr>
          <a:xfrm>
            <a:off x="647700" y="268288"/>
            <a:ext cx="7772400" cy="750887"/>
          </a:xfrm>
        </p:spPr>
        <p:txBody>
          <a:bodyPr/>
          <a:lstStyle/>
          <a:p>
            <a:pPr eaLnBrk="1" hangingPunct="1"/>
            <a:r>
              <a:rPr lang="en-US" altLang="zh-TW" smtClean="0"/>
              <a:t>Operating System Services (3)</a:t>
            </a:r>
          </a:p>
        </p:txBody>
      </p:sp>
      <p:sp>
        <p:nvSpPr>
          <p:cNvPr id="184323" name="Rectangle 3" descr="Rectangle: Click to edit Master text styles&#10;Second level&#10;Third level&#10;Fourth level&#10;Fifth level"/>
          <p:cNvSpPr>
            <a:spLocks noGrp="1" noChangeArrowheads="1"/>
          </p:cNvSpPr>
          <p:nvPr>
            <p:ph type="body" idx="1"/>
          </p:nvPr>
        </p:nvSpPr>
        <p:spPr>
          <a:xfrm>
            <a:off x="563563" y="1093788"/>
            <a:ext cx="8302625" cy="5346700"/>
          </a:xfrm>
        </p:spPr>
        <p:txBody>
          <a:bodyPr/>
          <a:lstStyle/>
          <a:p>
            <a:pPr eaLnBrk="1" hangingPunct="1">
              <a:lnSpc>
                <a:spcPct val="80000"/>
              </a:lnSpc>
              <a:spcBef>
                <a:spcPct val="50000"/>
              </a:spcBef>
              <a:defRPr/>
            </a:pPr>
            <a:r>
              <a:rPr lang="en-US" altLang="zh-TW" sz="2800" smtClean="0">
                <a:solidFill>
                  <a:srgbClr val="D60093"/>
                </a:solidFill>
              </a:rPr>
              <a:t>Communications</a:t>
            </a:r>
            <a:r>
              <a:rPr lang="en-US" altLang="zh-TW" sz="2800" smtClean="0"/>
              <a:t> </a:t>
            </a:r>
            <a:r>
              <a:rPr lang="en-US" altLang="zh-TW" sz="2800" smtClean="0">
                <a:latin typeface="Helvetica" pitchFamily="34" charset="0"/>
              </a:rPr>
              <a:t>–</a:t>
            </a:r>
            <a:r>
              <a:rPr lang="en-US" altLang="zh-TW" sz="2800" smtClean="0"/>
              <a:t> exchange of information between processes executing either on the same computer or on different systems tied together by a network.  Communications via </a:t>
            </a:r>
            <a:r>
              <a:rPr lang="en-US" altLang="zh-TW" sz="2800" smtClean="0">
                <a:solidFill>
                  <a:srgbClr val="C72F05"/>
                </a:solidFill>
                <a:effectLst>
                  <a:outerShdw blurRad="38100" dist="38100" dir="2700000" algn="tl">
                    <a:srgbClr val="C0C0C0"/>
                  </a:outerShdw>
                </a:effectLst>
              </a:rPr>
              <a:t>shared memory</a:t>
            </a:r>
            <a:r>
              <a:rPr lang="en-US" altLang="zh-TW" sz="2800" smtClean="0"/>
              <a:t> or </a:t>
            </a:r>
            <a:r>
              <a:rPr lang="en-US" altLang="zh-TW" sz="2800" smtClean="0">
                <a:solidFill>
                  <a:srgbClr val="C72F05"/>
                </a:solidFill>
                <a:effectLst>
                  <a:outerShdw blurRad="38100" dist="38100" dir="2700000" algn="tl">
                    <a:srgbClr val="C0C0C0"/>
                  </a:outerShdw>
                </a:effectLst>
              </a:rPr>
              <a:t>message passing</a:t>
            </a:r>
            <a:r>
              <a:rPr lang="en-US" altLang="zh-TW" sz="2800" smtClean="0"/>
              <a:t>.</a:t>
            </a:r>
          </a:p>
          <a:p>
            <a:pPr eaLnBrk="1" hangingPunct="1">
              <a:lnSpc>
                <a:spcPct val="80000"/>
              </a:lnSpc>
              <a:spcBef>
                <a:spcPct val="50000"/>
              </a:spcBef>
              <a:defRPr/>
            </a:pPr>
            <a:r>
              <a:rPr lang="en-US" altLang="zh-TW" sz="2800" smtClean="0">
                <a:solidFill>
                  <a:srgbClr val="D60093"/>
                </a:solidFill>
              </a:rPr>
              <a:t>Error detection</a:t>
            </a:r>
            <a:r>
              <a:rPr lang="en-US" altLang="zh-TW" sz="2800" smtClean="0"/>
              <a:t> </a:t>
            </a:r>
            <a:r>
              <a:rPr lang="en-US" altLang="zh-TW" sz="2800" smtClean="0">
                <a:latin typeface="Helvetica" pitchFamily="34" charset="0"/>
              </a:rPr>
              <a:t>–</a:t>
            </a:r>
            <a:r>
              <a:rPr lang="en-US" altLang="zh-TW" sz="2800" smtClean="0"/>
              <a:t> </a:t>
            </a:r>
            <a:r>
              <a:rPr lang="en-US" altLang="zh-TW" sz="2400" smtClean="0"/>
              <a:t>OS needs to be constantly aware of possible errors</a:t>
            </a:r>
          </a:p>
          <a:p>
            <a:pPr lvl="1" eaLnBrk="1" hangingPunct="1">
              <a:lnSpc>
                <a:spcPct val="80000"/>
              </a:lnSpc>
              <a:defRPr/>
            </a:pPr>
            <a:r>
              <a:rPr lang="en-US" altLang="zh-TW" sz="2400" smtClean="0"/>
              <a:t>May occur in the CPU and memory hardware, in I/O devices, in user program</a:t>
            </a:r>
          </a:p>
          <a:p>
            <a:pPr lvl="1" eaLnBrk="1" hangingPunct="1">
              <a:lnSpc>
                <a:spcPct val="80000"/>
              </a:lnSpc>
              <a:defRPr/>
            </a:pPr>
            <a:r>
              <a:rPr lang="en-US" altLang="zh-TW" sz="2400" smtClean="0"/>
              <a:t>For each type of error, OS should take the appropriate action to ensure </a:t>
            </a:r>
            <a:r>
              <a:rPr lang="en-US" altLang="zh-TW" sz="2400" smtClean="0">
                <a:solidFill>
                  <a:srgbClr val="0000FF"/>
                </a:solidFill>
              </a:rPr>
              <a:t>correct and consistent computing</a:t>
            </a:r>
          </a:p>
          <a:p>
            <a:pPr lvl="1" eaLnBrk="1" hangingPunct="1">
              <a:lnSpc>
                <a:spcPct val="80000"/>
              </a:lnSpc>
              <a:defRPr/>
            </a:pPr>
            <a:r>
              <a:rPr lang="en-US" altLang="zh-TW" sz="2400" smtClean="0">
                <a:solidFill>
                  <a:srgbClr val="0000FF"/>
                </a:solidFill>
              </a:rPr>
              <a:t>Debugging</a:t>
            </a:r>
            <a:r>
              <a:rPr lang="en-US" altLang="zh-TW" sz="2400" smtClean="0"/>
              <a:t> facilities can greatly enhance the user</a:t>
            </a:r>
            <a:r>
              <a:rPr lang="en-US" altLang="zh-TW" sz="2400" smtClean="0">
                <a:latin typeface="Times New Roman" pitchFamily="18" charset="0"/>
              </a:rPr>
              <a:t>’</a:t>
            </a:r>
            <a:r>
              <a:rPr lang="en-US" altLang="zh-TW" sz="2400" smtClean="0"/>
              <a:t>s and programmer</a:t>
            </a:r>
            <a:r>
              <a:rPr lang="en-US" altLang="zh-TW" sz="2400" smtClean="0">
                <a:latin typeface="Times New Roman" pitchFamily="18" charset="0"/>
              </a:rPr>
              <a:t>’</a:t>
            </a:r>
            <a:r>
              <a:rPr lang="en-US" altLang="zh-TW" sz="2400" smtClean="0"/>
              <a:t>s abilities to efficiently use the system</a:t>
            </a:r>
            <a:endParaRPr lang="en-US" altLang="zh-TW"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23">
                                            <p:txEl>
                                              <p:pRg st="1" end="1"/>
                                            </p:txEl>
                                          </p:spTgt>
                                        </p:tgtEl>
                                        <p:attrNameLst>
                                          <p:attrName>style.visibility</p:attrName>
                                        </p:attrNameLst>
                                      </p:cBhvr>
                                      <p:to>
                                        <p:strVal val="visible"/>
                                      </p:to>
                                    </p:set>
                                    <p:anim calcmode="lin" valueType="num">
                                      <p:cBhvr additive="base">
                                        <p:cTn id="7" dur="500" fill="hold"/>
                                        <p:tgtEl>
                                          <p:spTgt spid="1843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2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23">
                                            <p:txEl>
                                              <p:pRg st="2" end="2"/>
                                            </p:txEl>
                                          </p:spTgt>
                                        </p:tgtEl>
                                        <p:attrNameLst>
                                          <p:attrName>style.visibility</p:attrName>
                                        </p:attrNameLst>
                                      </p:cBhvr>
                                      <p:to>
                                        <p:strVal val="visible"/>
                                      </p:to>
                                    </p:set>
                                    <p:anim calcmode="lin" valueType="num">
                                      <p:cBhvr additive="base">
                                        <p:cTn id="11" dur="500" fill="hold"/>
                                        <p:tgtEl>
                                          <p:spTgt spid="18432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2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4323">
                                            <p:txEl>
                                              <p:pRg st="3" end="3"/>
                                            </p:txEl>
                                          </p:spTgt>
                                        </p:tgtEl>
                                        <p:attrNameLst>
                                          <p:attrName>style.visibility</p:attrName>
                                        </p:attrNameLst>
                                      </p:cBhvr>
                                      <p:to>
                                        <p:strVal val="visible"/>
                                      </p:to>
                                    </p:set>
                                    <p:anim calcmode="lin" valueType="num">
                                      <p:cBhvr additive="base">
                                        <p:cTn id="15" dur="500" fill="hold"/>
                                        <p:tgtEl>
                                          <p:spTgt spid="18432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32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323">
                                            <p:txEl>
                                              <p:pRg st="4" end="4"/>
                                            </p:txEl>
                                          </p:spTgt>
                                        </p:tgtEl>
                                        <p:attrNameLst>
                                          <p:attrName>style.visibility</p:attrName>
                                        </p:attrNameLst>
                                      </p:cBhvr>
                                      <p:to>
                                        <p:strVal val="visible"/>
                                      </p:to>
                                    </p:set>
                                    <p:anim calcmode="lin" valueType="num">
                                      <p:cBhvr additive="base">
                                        <p:cTn id="19" dur="500" fill="hold"/>
                                        <p:tgtEl>
                                          <p:spTgt spid="18432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F594072E-7FDD-4883-977E-13C13305CB71}" type="datetime1">
              <a:rPr kumimoji="0" lang="zh-TW" altLang="en-US" sz="1400" smtClean="0"/>
              <a:t>2018/3/5</a:t>
            </a:fld>
            <a:endParaRPr kumimoji="0" lang="en-US" altLang="zh-TW" sz="1400"/>
          </a:p>
        </p:txBody>
      </p:sp>
      <p:sp>
        <p:nvSpPr>
          <p:cNvPr id="92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943A18A5-8F38-451F-9FC3-2369BDD11BBD}" type="slidenum">
              <a:rPr kumimoji="0" lang="zh-TW" altLang="en-US" sz="1400"/>
              <a:pPr algn="r" eaLnBrk="1" hangingPunct="1">
                <a:spcBef>
                  <a:spcPct val="0"/>
                </a:spcBef>
                <a:buClrTx/>
                <a:buSzTx/>
                <a:buFontTx/>
                <a:buNone/>
              </a:pPr>
              <a:t>7</a:t>
            </a:fld>
            <a:endParaRPr kumimoji="0" lang="en-US" altLang="zh-TW" sz="1400"/>
          </a:p>
        </p:txBody>
      </p:sp>
      <p:sp>
        <p:nvSpPr>
          <p:cNvPr id="9220" name="Rectangle 2"/>
          <p:cNvSpPr>
            <a:spLocks noGrp="1" noChangeArrowheads="1"/>
          </p:cNvSpPr>
          <p:nvPr>
            <p:ph type="title"/>
          </p:nvPr>
        </p:nvSpPr>
        <p:spPr>
          <a:xfrm>
            <a:off x="258763" y="304800"/>
            <a:ext cx="8885237" cy="593725"/>
          </a:xfrm>
        </p:spPr>
        <p:txBody>
          <a:bodyPr/>
          <a:lstStyle/>
          <a:p>
            <a:pPr eaLnBrk="1" hangingPunct="1"/>
            <a:r>
              <a:rPr lang="en-US" altLang="zh-TW" sz="4000" smtClean="0"/>
              <a:t>Additional Operating System Functions</a:t>
            </a:r>
          </a:p>
        </p:txBody>
      </p:sp>
      <p:sp>
        <p:nvSpPr>
          <p:cNvPr id="81923" name="Rectangle 3" descr="Rectangle: Click to edit Master text styles&#10;Second level&#10;Third level&#10;Fourth level&#10;Fifth level"/>
          <p:cNvSpPr>
            <a:spLocks noGrp="1" noChangeArrowheads="1"/>
          </p:cNvSpPr>
          <p:nvPr>
            <p:ph type="body" idx="1"/>
          </p:nvPr>
        </p:nvSpPr>
        <p:spPr>
          <a:xfrm>
            <a:off x="225425" y="952500"/>
            <a:ext cx="8534400" cy="5411788"/>
          </a:xfrm>
        </p:spPr>
        <p:txBody>
          <a:bodyPr/>
          <a:lstStyle/>
          <a:p>
            <a:pPr marL="609600" indent="-609600" eaLnBrk="1" hangingPunct="1">
              <a:lnSpc>
                <a:spcPct val="90000"/>
              </a:lnSpc>
              <a:defRPr/>
            </a:pPr>
            <a:r>
              <a:rPr lang="en-US" altLang="zh-TW" sz="2800" smtClean="0">
                <a:solidFill>
                  <a:schemeClr val="tx2"/>
                </a:solidFill>
              </a:rPr>
              <a:t>Another set of OS functions exists for </a:t>
            </a:r>
            <a:r>
              <a:rPr lang="en-US" altLang="zh-TW" sz="2800" smtClean="0">
                <a:solidFill>
                  <a:schemeClr val="tx2"/>
                </a:solidFill>
                <a:effectLst>
                  <a:outerShdw blurRad="38100" dist="38100" dir="2700000" algn="tl">
                    <a:srgbClr val="C0C0C0"/>
                  </a:outerShdw>
                </a:effectLst>
              </a:rPr>
              <a:t>ensuring the</a:t>
            </a:r>
            <a:r>
              <a:rPr lang="en-US" altLang="zh-TW" sz="2800" b="1" smtClean="0">
                <a:solidFill>
                  <a:srgbClr val="C72F05"/>
                </a:solidFill>
                <a:effectLst>
                  <a:outerShdw blurRad="38100" dist="38100" dir="2700000" algn="tl">
                    <a:srgbClr val="C0C0C0"/>
                  </a:outerShdw>
                </a:effectLst>
              </a:rPr>
              <a:t> efficient</a:t>
            </a:r>
            <a:r>
              <a:rPr lang="en-US" altLang="zh-TW" sz="2800" smtClean="0">
                <a:solidFill>
                  <a:schemeClr val="tx2"/>
                </a:solidFill>
              </a:rPr>
              <a:t> operation of the </a:t>
            </a:r>
            <a:r>
              <a:rPr lang="en-US" altLang="zh-TW" sz="2800" b="1" smtClean="0">
                <a:solidFill>
                  <a:srgbClr val="C72F05"/>
                </a:solidFill>
              </a:rPr>
              <a:t>system itself</a:t>
            </a:r>
            <a:r>
              <a:rPr lang="en-US" altLang="zh-TW" sz="2800" smtClean="0">
                <a:solidFill>
                  <a:schemeClr val="tx2"/>
                </a:solidFill>
              </a:rPr>
              <a:t> via resource sharing</a:t>
            </a:r>
          </a:p>
          <a:p>
            <a:pPr marL="990600" lvl="1" indent="-533400" eaLnBrk="1" hangingPunct="1">
              <a:lnSpc>
                <a:spcPct val="90000"/>
              </a:lnSpc>
              <a:buFont typeface="Wingdings" pitchFamily="2" charset="2"/>
              <a:buChar char="l"/>
              <a:defRPr/>
            </a:pPr>
            <a:r>
              <a:rPr lang="en-US" altLang="zh-TW" sz="2600" b="1" smtClean="0">
                <a:solidFill>
                  <a:srgbClr val="C72F05"/>
                </a:solidFill>
              </a:rPr>
              <a:t>Resource allocation</a:t>
            </a:r>
            <a:r>
              <a:rPr lang="en-US" altLang="zh-TW" sz="2400" smtClean="0"/>
              <a:t> </a:t>
            </a:r>
            <a:r>
              <a:rPr lang="en-US" altLang="zh-TW" sz="2400" smtClean="0">
                <a:latin typeface="Helvetica" pitchFamily="34" charset="0"/>
              </a:rPr>
              <a:t>–</a:t>
            </a:r>
            <a:r>
              <a:rPr lang="en-US" altLang="zh-TW" sz="2400" smtClean="0"/>
              <a:t> When multiple users or multiple jobs running concurrently, resources must be allocated to each of them</a:t>
            </a:r>
          </a:p>
          <a:p>
            <a:pPr marL="990600" lvl="1" indent="-533400" eaLnBrk="1" hangingPunct="1">
              <a:lnSpc>
                <a:spcPct val="90000"/>
              </a:lnSpc>
              <a:buFont typeface="Wingdings" pitchFamily="2" charset="2"/>
              <a:buChar char="l"/>
              <a:defRPr/>
            </a:pPr>
            <a:r>
              <a:rPr lang="en-US" altLang="zh-TW" sz="2400" b="1" smtClean="0">
                <a:solidFill>
                  <a:srgbClr val="C72F05"/>
                </a:solidFill>
              </a:rPr>
              <a:t>Accounting</a:t>
            </a:r>
            <a:r>
              <a:rPr lang="en-US" altLang="zh-TW" sz="2400" smtClean="0"/>
              <a:t> </a:t>
            </a:r>
            <a:r>
              <a:rPr lang="en-US" altLang="zh-TW" sz="2400" smtClean="0">
                <a:latin typeface="Helvetica" pitchFamily="34" charset="0"/>
              </a:rPr>
              <a:t>–</a:t>
            </a:r>
            <a:r>
              <a:rPr lang="en-US" altLang="zh-TW" sz="2400" smtClean="0"/>
              <a:t> keep track of and record which users use how much and what kinds of computer resources for account billing or for accumulating usage statistics.</a:t>
            </a:r>
          </a:p>
          <a:p>
            <a:pPr marL="990600" lvl="1" indent="-533400" eaLnBrk="1" hangingPunct="1">
              <a:lnSpc>
                <a:spcPct val="90000"/>
              </a:lnSpc>
              <a:buFont typeface="Wingdings" pitchFamily="2" charset="2"/>
              <a:buChar char="l"/>
              <a:defRPr/>
            </a:pPr>
            <a:r>
              <a:rPr lang="en-US" altLang="zh-TW" sz="2400" b="1" smtClean="0">
                <a:solidFill>
                  <a:srgbClr val="C72F05"/>
                </a:solidFill>
              </a:rPr>
              <a:t>Protection </a:t>
            </a:r>
            <a:r>
              <a:rPr lang="en-US" altLang="zh-TW" sz="2400" smtClean="0"/>
              <a:t>and</a:t>
            </a:r>
            <a:r>
              <a:rPr lang="en-US" altLang="zh-TW" sz="2400" b="1" smtClean="0">
                <a:solidFill>
                  <a:srgbClr val="C72F05"/>
                </a:solidFill>
              </a:rPr>
              <a:t> Security </a:t>
            </a:r>
          </a:p>
          <a:p>
            <a:pPr marL="1371600" lvl="2" indent="-457200" eaLnBrk="1" hangingPunct="1">
              <a:lnSpc>
                <a:spcPct val="90000"/>
              </a:lnSpc>
              <a:buSzPct val="150000"/>
              <a:buFont typeface="Wingdings" pitchFamily="2" charset="2"/>
              <a:buChar char="§"/>
              <a:defRPr/>
            </a:pPr>
            <a:r>
              <a:rPr lang="en-US" altLang="zh-TW" sz="2000" b="1" smtClean="0">
                <a:solidFill>
                  <a:srgbClr val="C72F05"/>
                </a:solidFill>
              </a:rPr>
              <a:t>Protection</a:t>
            </a:r>
            <a:r>
              <a:rPr lang="en-US" altLang="zh-TW" sz="2000" smtClean="0"/>
              <a:t> </a:t>
            </a:r>
            <a:r>
              <a:rPr lang="en-US" altLang="zh-TW" sz="2000" smtClean="0">
                <a:latin typeface="Helvetica" pitchFamily="34" charset="0"/>
              </a:rPr>
              <a:t>–</a:t>
            </a:r>
            <a:r>
              <a:rPr lang="en-US" altLang="zh-TW" sz="2000" smtClean="0"/>
              <a:t> ensuring that all access to system resources is controlled.</a:t>
            </a:r>
          </a:p>
          <a:p>
            <a:pPr marL="1371600" lvl="2" indent="-457200" eaLnBrk="1" hangingPunct="1">
              <a:lnSpc>
                <a:spcPct val="90000"/>
              </a:lnSpc>
              <a:buSzPct val="150000"/>
              <a:buFont typeface="Wingdings" pitchFamily="2" charset="2"/>
              <a:buChar char="§"/>
              <a:defRPr/>
            </a:pPr>
            <a:r>
              <a:rPr lang="en-US" altLang="zh-TW" sz="1800" b="1" smtClean="0">
                <a:solidFill>
                  <a:srgbClr val="C72F05"/>
                </a:solidFill>
              </a:rPr>
              <a:t>Security</a:t>
            </a:r>
            <a:r>
              <a:rPr lang="en-US" altLang="zh-TW" sz="1800" b="1" smtClean="0"/>
              <a:t> </a:t>
            </a:r>
            <a:r>
              <a:rPr lang="en-US" altLang="zh-TW" sz="1800" smtClean="0"/>
              <a:t>of the system from outsiders requires user </a:t>
            </a:r>
            <a:r>
              <a:rPr lang="en-US" altLang="zh-TW" sz="1800" smtClean="0">
                <a:solidFill>
                  <a:srgbClr val="0000FF"/>
                </a:solidFill>
              </a:rPr>
              <a:t>authentication</a:t>
            </a:r>
            <a:r>
              <a:rPr lang="en-US" altLang="zh-TW" sz="1800" smtClean="0"/>
              <a:t>, extends to defending external I/O devices from invalid access attempts</a:t>
            </a:r>
            <a:endParaRPr lang="zh-TW" altLang="en-US" sz="20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23">
                                            <p:txEl>
                                              <p:pRg st="1" end="1"/>
                                            </p:txEl>
                                          </p:spTgt>
                                        </p:tgtEl>
                                        <p:attrNameLst>
                                          <p:attrName>style.visibility</p:attrName>
                                        </p:attrNameLst>
                                      </p:cBhvr>
                                      <p:to>
                                        <p:strVal val="visible"/>
                                      </p:to>
                                    </p:set>
                                    <p:anim calcmode="lin" valueType="num">
                                      <p:cBhvr additive="base">
                                        <p:cTn id="7" dur="5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23">
                                            <p:txEl>
                                              <p:pRg st="2" end="2"/>
                                            </p:txEl>
                                          </p:spTgt>
                                        </p:tgtEl>
                                        <p:attrNameLst>
                                          <p:attrName>style.visibility</p:attrName>
                                        </p:attrNameLst>
                                      </p:cBhvr>
                                      <p:to>
                                        <p:strVal val="visible"/>
                                      </p:to>
                                    </p:set>
                                    <p:anim calcmode="lin" valueType="num">
                                      <p:cBhvr additive="base">
                                        <p:cTn id="13"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23">
                                            <p:txEl>
                                              <p:pRg st="3" end="3"/>
                                            </p:txEl>
                                          </p:spTgt>
                                        </p:tgtEl>
                                        <p:attrNameLst>
                                          <p:attrName>style.visibility</p:attrName>
                                        </p:attrNameLst>
                                      </p:cBhvr>
                                      <p:to>
                                        <p:strVal val="visible"/>
                                      </p:to>
                                    </p:set>
                                    <p:anim calcmode="lin" valueType="num">
                                      <p:cBhvr additive="base">
                                        <p:cTn id="19"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23">
                                            <p:txEl>
                                              <p:pRg st="4" end="4"/>
                                            </p:txEl>
                                          </p:spTgt>
                                        </p:tgtEl>
                                        <p:attrNameLst>
                                          <p:attrName>style.visibility</p:attrName>
                                        </p:attrNameLst>
                                      </p:cBhvr>
                                      <p:to>
                                        <p:strVal val="visible"/>
                                      </p:to>
                                    </p:set>
                                    <p:anim calcmode="lin" valueType="num">
                                      <p:cBhvr additive="base">
                                        <p:cTn id="25" dur="500" fill="hold"/>
                                        <p:tgtEl>
                                          <p:spTgt spid="819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1923">
                                            <p:txEl>
                                              <p:pRg st="5" end="5"/>
                                            </p:txEl>
                                          </p:spTgt>
                                        </p:tgtEl>
                                        <p:attrNameLst>
                                          <p:attrName>style.visibility</p:attrName>
                                        </p:attrNameLst>
                                      </p:cBhvr>
                                      <p:to>
                                        <p:strVal val="visible"/>
                                      </p:to>
                                    </p:set>
                                    <p:anim calcmode="lin" valueType="num">
                                      <p:cBhvr additive="base">
                                        <p:cTn id="29" dur="5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19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E4F96C0-F508-48A0-A228-A6B55609772B}" type="datetime1">
              <a:rPr kumimoji="0" lang="zh-TW" altLang="en-US" sz="1400" smtClean="0"/>
              <a:t>2018/3/5</a:t>
            </a:fld>
            <a:endParaRPr kumimoji="0" lang="en-US" altLang="zh-TW" sz="1400"/>
          </a:p>
        </p:txBody>
      </p:sp>
      <p:sp>
        <p:nvSpPr>
          <p:cNvPr id="10243"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C537531D-4797-4622-8730-10B2F431C4C4}" type="slidenum">
              <a:rPr kumimoji="0" lang="zh-TW" altLang="en-US" sz="1400"/>
              <a:pPr algn="r" eaLnBrk="1" hangingPunct="1">
                <a:spcBef>
                  <a:spcPct val="0"/>
                </a:spcBef>
                <a:buClrTx/>
                <a:buSzTx/>
                <a:buFontTx/>
                <a:buNone/>
              </a:pPr>
              <a:t>8</a:t>
            </a:fld>
            <a:endParaRPr kumimoji="0" lang="en-US" altLang="zh-TW" sz="1400"/>
          </a:p>
        </p:txBody>
      </p:sp>
      <p:sp>
        <p:nvSpPr>
          <p:cNvPr id="10244" name="Rectangle 2"/>
          <p:cNvSpPr>
            <a:spLocks noGrp="1" noChangeArrowheads="1"/>
          </p:cNvSpPr>
          <p:nvPr>
            <p:ph type="title"/>
          </p:nvPr>
        </p:nvSpPr>
        <p:spPr>
          <a:xfrm>
            <a:off x="352425" y="269875"/>
            <a:ext cx="8577263" cy="823913"/>
          </a:xfrm>
        </p:spPr>
        <p:txBody>
          <a:bodyPr/>
          <a:lstStyle/>
          <a:p>
            <a:pPr eaLnBrk="1" hangingPunct="1"/>
            <a:r>
              <a:rPr lang="en-US" altLang="zh-TW" sz="3600" b="1" smtClean="0"/>
              <a:t>User OS Interface – CLI (1)</a:t>
            </a:r>
          </a:p>
        </p:txBody>
      </p:sp>
      <p:sp>
        <p:nvSpPr>
          <p:cNvPr id="10245" name="Rectangle 3" descr="Rectangle: Click to edit Master text styles&#10;Second level&#10;Third level&#10;Fourth level&#10;Fifth level"/>
          <p:cNvSpPr>
            <a:spLocks noGrp="1" noChangeArrowheads="1"/>
          </p:cNvSpPr>
          <p:nvPr>
            <p:ph type="body" idx="1"/>
          </p:nvPr>
        </p:nvSpPr>
        <p:spPr>
          <a:xfrm>
            <a:off x="320675" y="1135063"/>
            <a:ext cx="8302625" cy="5205412"/>
          </a:xfrm>
        </p:spPr>
        <p:txBody>
          <a:bodyPr/>
          <a:lstStyle/>
          <a:p>
            <a:pPr eaLnBrk="1" hangingPunct="1">
              <a:buFont typeface="Wingdings" pitchFamily="2" charset="2"/>
              <a:buNone/>
            </a:pPr>
            <a:r>
              <a:rPr lang="en-US" altLang="zh-TW" sz="2800" smtClean="0"/>
              <a:t>CLI allows </a:t>
            </a:r>
            <a:r>
              <a:rPr lang="en-US" altLang="zh-TW" sz="2800" smtClean="0">
                <a:solidFill>
                  <a:srgbClr val="D60093"/>
                </a:solidFill>
              </a:rPr>
              <a:t>direct command</a:t>
            </a:r>
            <a:r>
              <a:rPr lang="en-US" altLang="zh-TW" sz="2800" smtClean="0"/>
              <a:t> entry</a:t>
            </a:r>
          </a:p>
          <a:p>
            <a:pPr eaLnBrk="1" hangingPunct="1">
              <a:spcBef>
                <a:spcPct val="60000"/>
              </a:spcBef>
            </a:pPr>
            <a:r>
              <a:rPr lang="en-US" altLang="zh-TW" sz="2800" smtClean="0"/>
              <a:t>Sometimes implemented in </a:t>
            </a:r>
            <a:r>
              <a:rPr lang="en-US" altLang="zh-TW" sz="2800" smtClean="0">
                <a:solidFill>
                  <a:srgbClr val="D60093"/>
                </a:solidFill>
              </a:rPr>
              <a:t>kernel</a:t>
            </a:r>
            <a:r>
              <a:rPr lang="en-US" altLang="zh-TW" sz="2800" smtClean="0"/>
              <a:t>, sometimes by </a:t>
            </a:r>
            <a:r>
              <a:rPr lang="en-US" altLang="zh-TW" sz="2800" smtClean="0">
                <a:solidFill>
                  <a:srgbClr val="D60093"/>
                </a:solidFill>
              </a:rPr>
              <a:t>systems program</a:t>
            </a:r>
          </a:p>
          <a:p>
            <a:pPr eaLnBrk="1" hangingPunct="1">
              <a:spcBef>
                <a:spcPct val="60000"/>
              </a:spcBef>
            </a:pPr>
            <a:r>
              <a:rPr lang="en-US" altLang="zh-TW" sz="2800" smtClean="0"/>
              <a:t>Sometimes multiple flavors implemented </a:t>
            </a:r>
            <a:r>
              <a:rPr lang="en-US" altLang="zh-TW" sz="2800" smtClean="0">
                <a:latin typeface="Times New Roman" pitchFamily="18" charset="0"/>
              </a:rPr>
              <a:t>–</a:t>
            </a:r>
            <a:r>
              <a:rPr lang="en-US" altLang="zh-TW" sz="2800" smtClean="0"/>
              <a:t> </a:t>
            </a:r>
            <a:r>
              <a:rPr lang="en-US" altLang="zh-TW" sz="2800" b="1" smtClean="0">
                <a:solidFill>
                  <a:srgbClr val="D60093"/>
                </a:solidFill>
              </a:rPr>
              <a:t>shells</a:t>
            </a:r>
          </a:p>
          <a:p>
            <a:pPr eaLnBrk="1" hangingPunct="1">
              <a:spcBef>
                <a:spcPct val="60000"/>
              </a:spcBef>
            </a:pPr>
            <a:r>
              <a:rPr lang="en-US" altLang="zh-TW" sz="2800" smtClean="0"/>
              <a:t>Fetches a command from user and executes it</a:t>
            </a:r>
          </a:p>
          <a:p>
            <a:pPr lvl="1" eaLnBrk="1" hangingPunct="1">
              <a:buFontTx/>
              <a:buChar char="•"/>
            </a:pPr>
            <a:r>
              <a:rPr lang="en-US" altLang="zh-TW" sz="2400" smtClean="0"/>
              <a:t>Sometimes commands built-in, </a:t>
            </a:r>
          </a:p>
          <a:p>
            <a:pPr lvl="1" eaLnBrk="1" hangingPunct="1">
              <a:buFontTx/>
              <a:buChar char="•"/>
            </a:pPr>
            <a:r>
              <a:rPr lang="en-US" altLang="zh-TW" sz="2400" smtClean="0"/>
              <a:t>sometimes just names of programs</a:t>
            </a:r>
          </a:p>
          <a:p>
            <a:pPr lvl="2" eaLnBrk="1" hangingPunct="1">
              <a:buFont typeface="Wingdings" pitchFamily="2" charset="2"/>
              <a:buNone/>
            </a:pPr>
            <a:r>
              <a:rPr lang="en-US" altLang="zh-TW" sz="2000" smtClean="0"/>
              <a:t>- </a:t>
            </a:r>
            <a:r>
              <a:rPr lang="en-US" altLang="zh-TW" sz="2000" smtClean="0">
                <a:solidFill>
                  <a:srgbClr val="0000FF"/>
                </a:solidFill>
              </a:rPr>
              <a:t>adding new features doesn</a:t>
            </a:r>
            <a:r>
              <a:rPr lang="en-US" altLang="zh-TW" sz="2000" smtClean="0">
                <a:solidFill>
                  <a:srgbClr val="0000FF"/>
                </a:solidFill>
                <a:latin typeface="Times New Roman" pitchFamily="18" charset="0"/>
              </a:rPr>
              <a:t>’</a:t>
            </a:r>
            <a:r>
              <a:rPr lang="en-US" altLang="zh-TW" sz="2000" smtClean="0">
                <a:solidFill>
                  <a:srgbClr val="0000FF"/>
                </a:solidFill>
              </a:rPr>
              <a:t>t require shell modification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143A538-0303-4973-8713-4A84FB244B16}" type="datetime1">
              <a:rPr kumimoji="0" lang="zh-TW" altLang="en-US" sz="1400" smtClean="0"/>
              <a:t>2018/3/5</a:t>
            </a:fld>
            <a:endParaRPr kumimoji="0" lang="en-US" altLang="zh-TW" sz="1400"/>
          </a:p>
        </p:txBody>
      </p:sp>
      <p:sp>
        <p:nvSpPr>
          <p:cNvPr id="1126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FCB63B91-2AA0-466D-9E14-3A066AA11412}" type="slidenum">
              <a:rPr kumimoji="0" lang="zh-TW" altLang="en-US" sz="1400"/>
              <a:pPr algn="r" eaLnBrk="1" hangingPunct="1">
                <a:spcBef>
                  <a:spcPct val="0"/>
                </a:spcBef>
                <a:buClrTx/>
                <a:buSzTx/>
                <a:buFontTx/>
                <a:buNone/>
              </a:pPr>
              <a:t>9</a:t>
            </a:fld>
            <a:endParaRPr kumimoji="0" lang="en-US" altLang="zh-TW" sz="1400"/>
          </a:p>
        </p:txBody>
      </p:sp>
      <p:sp>
        <p:nvSpPr>
          <p:cNvPr id="11268" name="Rectangle 2"/>
          <p:cNvSpPr>
            <a:spLocks noGrp="1" noChangeArrowheads="1"/>
          </p:cNvSpPr>
          <p:nvPr>
            <p:ph type="title"/>
          </p:nvPr>
        </p:nvSpPr>
        <p:spPr>
          <a:xfrm>
            <a:off x="347663" y="268288"/>
            <a:ext cx="8461375" cy="750887"/>
          </a:xfrm>
        </p:spPr>
        <p:txBody>
          <a:bodyPr/>
          <a:lstStyle/>
          <a:p>
            <a:pPr eaLnBrk="1" hangingPunct="1"/>
            <a:r>
              <a:rPr lang="en-US" altLang="zh-TW" sz="3600" b="1" smtClean="0"/>
              <a:t>User OS Interface – GUI (2)</a:t>
            </a:r>
            <a:endParaRPr lang="en-US" altLang="zh-TW" sz="3600" smtClean="0"/>
          </a:p>
        </p:txBody>
      </p:sp>
      <p:sp>
        <p:nvSpPr>
          <p:cNvPr id="188419" name="Rectangle 3" descr="Rectangle: Click to edit Master text styles&#10;Second level&#10;Third level&#10;Fourth level&#10;Fifth level"/>
          <p:cNvSpPr>
            <a:spLocks noGrp="1" noChangeArrowheads="1"/>
          </p:cNvSpPr>
          <p:nvPr>
            <p:ph type="body" idx="1"/>
          </p:nvPr>
        </p:nvSpPr>
        <p:spPr>
          <a:xfrm>
            <a:off x="563563" y="1093788"/>
            <a:ext cx="8308975" cy="5516562"/>
          </a:xfrm>
        </p:spPr>
        <p:txBody>
          <a:bodyPr/>
          <a:lstStyle/>
          <a:p>
            <a:pPr eaLnBrk="1" hangingPunct="1"/>
            <a:r>
              <a:rPr lang="en-US" altLang="zh-TW" smtClean="0"/>
              <a:t>User-friendly </a:t>
            </a:r>
            <a:r>
              <a:rPr lang="en-US" altLang="zh-TW" b="1" smtClean="0"/>
              <a:t>desktop </a:t>
            </a:r>
            <a:r>
              <a:rPr lang="en-US" altLang="zh-TW" smtClean="0"/>
              <a:t>metaphor interface</a:t>
            </a:r>
          </a:p>
          <a:p>
            <a:pPr lvl="1" eaLnBrk="1" hangingPunct="1"/>
            <a:r>
              <a:rPr lang="en-US" altLang="zh-TW" smtClean="0"/>
              <a:t>Usually mouse, keyboard, and monitor</a:t>
            </a:r>
          </a:p>
          <a:p>
            <a:pPr lvl="1" eaLnBrk="1" hangingPunct="1">
              <a:spcBef>
                <a:spcPts val="1200"/>
              </a:spcBef>
              <a:spcAft>
                <a:spcPts val="600"/>
              </a:spcAft>
            </a:pPr>
            <a:r>
              <a:rPr lang="en-US" altLang="zh-TW" b="1" smtClean="0">
                <a:solidFill>
                  <a:srgbClr val="0000FF"/>
                </a:solidFill>
              </a:rPr>
              <a:t>Icons</a:t>
            </a:r>
            <a:r>
              <a:rPr lang="en-US" altLang="zh-TW" b="1" smtClean="0"/>
              <a:t> </a:t>
            </a:r>
            <a:r>
              <a:rPr lang="en-US" altLang="zh-TW" smtClean="0"/>
              <a:t>represent files, programs, actions, etc</a:t>
            </a:r>
          </a:p>
          <a:p>
            <a:pPr lvl="1" eaLnBrk="1" hangingPunct="1">
              <a:spcBef>
                <a:spcPts val="1200"/>
              </a:spcBef>
              <a:spcAft>
                <a:spcPts val="600"/>
              </a:spcAft>
            </a:pPr>
            <a:r>
              <a:rPr lang="en-US" altLang="zh-TW" smtClean="0"/>
              <a:t>Various mouse buttons over objects in the interface cause various actions (provide information, options, execute function, open directory (known as a </a:t>
            </a:r>
            <a:r>
              <a:rPr lang="en-US" altLang="zh-TW" b="1" smtClean="0"/>
              <a:t>folder</a:t>
            </a:r>
            <a:r>
              <a:rPr lang="en-US" altLang="zh-TW" smtClean="0"/>
              <a:t>)</a:t>
            </a:r>
          </a:p>
          <a:p>
            <a:pPr lvl="1" eaLnBrk="1" hangingPunct="1">
              <a:spcBef>
                <a:spcPts val="1200"/>
              </a:spcBef>
              <a:spcAft>
                <a:spcPts val="600"/>
              </a:spcAft>
            </a:pPr>
            <a:r>
              <a:rPr lang="en-US" altLang="zh-TW" smtClean="0"/>
              <a:t>Invented at </a:t>
            </a:r>
            <a:r>
              <a:rPr lang="en-US" altLang="zh-TW" smtClean="0">
                <a:solidFill>
                  <a:srgbClr val="C72F05"/>
                </a:solidFill>
              </a:rPr>
              <a:t>Xerox PARC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anim calcmode="lin" valueType="num">
                                      <p:cBhvr additive="base">
                                        <p:cTn id="7" dur="500" fill="hold"/>
                                        <p:tgtEl>
                                          <p:spTgt spid="1884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8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8419">
                                            <p:txEl>
                                              <p:pRg st="2" end="2"/>
                                            </p:txEl>
                                          </p:spTgt>
                                        </p:tgtEl>
                                        <p:attrNameLst>
                                          <p:attrName>style.visibility</p:attrName>
                                        </p:attrNameLst>
                                      </p:cBhvr>
                                      <p:to>
                                        <p:strVal val="visible"/>
                                      </p:to>
                                    </p:set>
                                    <p:anim calcmode="lin" valueType="num">
                                      <p:cBhvr additive="base">
                                        <p:cTn id="13" dur="500" fill="hold"/>
                                        <p:tgtEl>
                                          <p:spTgt spid="18841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8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8419">
                                            <p:txEl>
                                              <p:pRg st="3" end="3"/>
                                            </p:txEl>
                                          </p:spTgt>
                                        </p:tgtEl>
                                        <p:attrNameLst>
                                          <p:attrName>style.visibility</p:attrName>
                                        </p:attrNameLst>
                                      </p:cBhvr>
                                      <p:to>
                                        <p:strVal val="visible"/>
                                      </p:to>
                                    </p:set>
                                    <p:anim calcmode="lin" valueType="num">
                                      <p:cBhvr additive="base">
                                        <p:cTn id="19" dur="500" fill="hold"/>
                                        <p:tgtEl>
                                          <p:spTgt spid="18841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8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88419">
                                            <p:txEl>
                                              <p:pRg st="4" end="4"/>
                                            </p:txEl>
                                          </p:spTgt>
                                        </p:tgtEl>
                                        <p:attrNameLst>
                                          <p:attrName>style.visibility</p:attrName>
                                        </p:attrNameLst>
                                      </p:cBhvr>
                                      <p:to>
                                        <p:strVal val="visible"/>
                                      </p:to>
                                    </p:set>
                                    <p:anim calcmode="lin" valueType="num">
                                      <p:cBhvr additive="base">
                                        <p:cTn id="25" dur="500" fill="hold"/>
                                        <p:tgtEl>
                                          <p:spTgt spid="18841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84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54685CB-EFBD-4133-826D-59370AB16FC1}" type="datetime1">
              <a:rPr kumimoji="0" lang="zh-TW" altLang="en-US" sz="1400"/>
              <a:pPr eaLnBrk="1" hangingPunct="1">
                <a:spcBef>
                  <a:spcPct val="0"/>
                </a:spcBef>
                <a:buClrTx/>
                <a:buSzTx/>
                <a:buFontTx/>
                <a:buNone/>
              </a:pPr>
              <a:t>2018/3/5</a:t>
            </a:fld>
            <a:endParaRPr kumimoji="0" lang="en-US" altLang="zh-TW" sz="1400"/>
          </a:p>
        </p:txBody>
      </p:sp>
      <p:sp>
        <p:nvSpPr>
          <p:cNvPr id="12291"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01896CA6-628B-4922-A118-097BB6AB3D67}" type="slidenum">
              <a:rPr kumimoji="0" lang="zh-TW" altLang="en-US" sz="1400"/>
              <a:pPr algn="r" eaLnBrk="1" hangingPunct="1">
                <a:spcBef>
                  <a:spcPct val="0"/>
                </a:spcBef>
                <a:buClrTx/>
                <a:buSzTx/>
                <a:buFontTx/>
                <a:buNone/>
              </a:pPr>
              <a:t>10</a:t>
            </a:fld>
            <a:endParaRPr kumimoji="0" lang="en-US" altLang="zh-TW" sz="1400"/>
          </a:p>
        </p:txBody>
      </p:sp>
      <p:sp>
        <p:nvSpPr>
          <p:cNvPr id="12292" name="Rectangle 2"/>
          <p:cNvSpPr>
            <a:spLocks noGrp="1" noChangeArrowheads="1"/>
          </p:cNvSpPr>
          <p:nvPr>
            <p:ph type="title" idx="4294967295"/>
          </p:nvPr>
        </p:nvSpPr>
        <p:spPr>
          <a:xfrm>
            <a:off x="347663" y="268288"/>
            <a:ext cx="8461375" cy="750887"/>
          </a:xfrm>
        </p:spPr>
        <p:txBody>
          <a:bodyPr/>
          <a:lstStyle/>
          <a:p>
            <a:pPr eaLnBrk="1" hangingPunct="1"/>
            <a:r>
              <a:rPr lang="en-US" altLang="zh-TW" sz="3600" b="1" smtClean="0"/>
              <a:t>User OS Interface – GUI (3)</a:t>
            </a:r>
            <a:endParaRPr lang="en-US" altLang="zh-TW" sz="3600" smtClean="0"/>
          </a:p>
        </p:txBody>
      </p:sp>
      <p:sp>
        <p:nvSpPr>
          <p:cNvPr id="188419" name="Rectangle 3" descr="Rectangle: Click to edit Master text styles&#10;Second level&#10;Third level&#10;Fourth level&#10;Fifth level"/>
          <p:cNvSpPr>
            <a:spLocks noGrp="1" noChangeArrowheads="1"/>
          </p:cNvSpPr>
          <p:nvPr>
            <p:ph type="body" idx="4294967295"/>
          </p:nvPr>
        </p:nvSpPr>
        <p:spPr>
          <a:xfrm>
            <a:off x="563563" y="1093788"/>
            <a:ext cx="8308975" cy="5516562"/>
          </a:xfrm>
        </p:spPr>
        <p:txBody>
          <a:bodyPr/>
          <a:lstStyle/>
          <a:p>
            <a:pPr eaLnBrk="1" hangingPunct="1"/>
            <a:r>
              <a:rPr lang="en-US" altLang="zh-TW" dirty="0" smtClean="0"/>
              <a:t>Many systems now </a:t>
            </a:r>
            <a:r>
              <a:rPr lang="en-US" altLang="zh-TW" dirty="0" smtClean="0">
                <a:solidFill>
                  <a:srgbClr val="0000FF"/>
                </a:solidFill>
              </a:rPr>
              <a:t>include both CLI and GUI</a:t>
            </a:r>
            <a:r>
              <a:rPr lang="en-US" altLang="zh-TW" dirty="0" smtClean="0"/>
              <a:t> interfaces</a:t>
            </a:r>
          </a:p>
          <a:p>
            <a:pPr lvl="1" eaLnBrk="1" hangingPunct="1">
              <a:spcBef>
                <a:spcPct val="60000"/>
              </a:spcBef>
            </a:pPr>
            <a:r>
              <a:rPr lang="en-US" altLang="zh-TW" sz="2400" dirty="0" smtClean="0"/>
              <a:t>Microsoft Windows is GUI with CLI </a:t>
            </a:r>
            <a:r>
              <a:rPr lang="en-US" altLang="zh-TW" sz="2400" dirty="0" smtClean="0">
                <a:latin typeface="Times New Roman" pitchFamily="18" charset="0"/>
              </a:rPr>
              <a:t>“</a:t>
            </a:r>
            <a:r>
              <a:rPr lang="en-US" altLang="zh-TW" sz="2400" dirty="0" smtClean="0"/>
              <a:t>command</a:t>
            </a:r>
            <a:r>
              <a:rPr lang="en-US" altLang="zh-TW" sz="2400" dirty="0" smtClean="0">
                <a:latin typeface="Times New Roman" pitchFamily="18" charset="0"/>
              </a:rPr>
              <a:t>”</a:t>
            </a:r>
            <a:r>
              <a:rPr lang="en-US" altLang="zh-TW" sz="2400" dirty="0" smtClean="0"/>
              <a:t> shell</a:t>
            </a:r>
          </a:p>
          <a:p>
            <a:pPr lvl="1" eaLnBrk="1" hangingPunct="1">
              <a:spcBef>
                <a:spcPct val="60000"/>
              </a:spcBef>
            </a:pPr>
            <a:r>
              <a:rPr lang="en-US" altLang="zh-TW" sz="2400" dirty="0" smtClean="0"/>
              <a:t>Apple Mac OS X as </a:t>
            </a:r>
            <a:r>
              <a:rPr lang="en-US" altLang="zh-TW" sz="2400" dirty="0" smtClean="0">
                <a:latin typeface="Times New Roman" pitchFamily="18" charset="0"/>
              </a:rPr>
              <a:t>“</a:t>
            </a:r>
            <a:r>
              <a:rPr lang="en-US" altLang="zh-TW" sz="2400" dirty="0" smtClean="0"/>
              <a:t>Aqua</a:t>
            </a:r>
            <a:r>
              <a:rPr lang="en-US" altLang="zh-TW" sz="2400" dirty="0" smtClean="0">
                <a:latin typeface="Times New Roman" pitchFamily="18" charset="0"/>
              </a:rPr>
              <a:t>”</a:t>
            </a:r>
            <a:r>
              <a:rPr lang="en-US" altLang="zh-TW" sz="2400" dirty="0" smtClean="0"/>
              <a:t> GUI interface with UNIX kernel underneath and shells available. </a:t>
            </a:r>
            <a:endParaRPr lang="en-US" altLang="zh-TW" sz="2400" dirty="0" smtClean="0">
              <a:solidFill>
                <a:srgbClr val="C72F05"/>
              </a:solidFill>
            </a:endParaRPr>
          </a:p>
          <a:p>
            <a:pPr lvl="1" eaLnBrk="1" hangingPunct="1">
              <a:spcBef>
                <a:spcPct val="60000"/>
              </a:spcBef>
            </a:pPr>
            <a:r>
              <a:rPr lang="en-US" altLang="zh-TW" sz="2400" dirty="0" smtClean="0"/>
              <a:t>Unix and Linux have CLI with optional GUI interfaces CDE, LDE, GNOME (</a:t>
            </a:r>
            <a:r>
              <a:rPr lang="en-US" altLang="zh-TW" sz="2400" dirty="0" smtClean="0">
                <a:solidFill>
                  <a:srgbClr val="0000FF"/>
                </a:solidFill>
              </a:rPr>
              <a:t>GNU</a:t>
            </a:r>
            <a:r>
              <a:rPr lang="en-US" altLang="zh-TW" sz="2400" dirty="0" smtClean="0"/>
              <a:t> Network Object Model Environment)</a:t>
            </a:r>
          </a:p>
          <a:p>
            <a:pPr eaLnBrk="1" hangingPunct="1">
              <a:spcBef>
                <a:spcPct val="60000"/>
              </a:spcBef>
            </a:pPr>
            <a:r>
              <a:rPr lang="en-US" altLang="zh-TW" dirty="0" smtClean="0">
                <a:solidFill>
                  <a:srgbClr val="6600CC"/>
                </a:solidFill>
              </a:rPr>
              <a:t>Touch Panel, Multi-finger, Voice and Gesture </a:t>
            </a:r>
            <a:r>
              <a:rPr lang="en-US" altLang="zh-TW" dirty="0">
                <a:solidFill>
                  <a:srgbClr val="6600CC"/>
                </a:solidFill>
              </a:rPr>
              <a:t>controls, Force </a:t>
            </a:r>
            <a:r>
              <a:rPr lang="en-US" altLang="zh-TW" dirty="0" smtClean="0">
                <a:solidFill>
                  <a:srgbClr val="6600CC"/>
                </a:solidFill>
              </a:rPr>
              <a:t>Touch, …</a:t>
            </a:r>
          </a:p>
          <a:p>
            <a:pPr marL="0" indent="0" eaLnBrk="1" hangingPunct="1">
              <a:spcBef>
                <a:spcPct val="60000"/>
              </a:spcBef>
              <a:buNone/>
            </a:pPr>
            <a:endParaRPr lang="en-US" altLang="zh-TW" sz="4000" dirty="0" smtClean="0">
              <a:solidFill>
                <a:srgbClr val="6600CC"/>
              </a:solidFill>
            </a:endParaRPr>
          </a:p>
        </p:txBody>
      </p:sp>
      <p:pic>
        <p:nvPicPr>
          <p:cNvPr id="1229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4521" y="0"/>
            <a:ext cx="1479479" cy="1957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 calcmode="lin" valueType="num">
                                      <p:cBhvr additive="base">
                                        <p:cTn id="7" dur="500" fill="hold"/>
                                        <p:tgtEl>
                                          <p:spTgt spid="188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8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8419">
                                            <p:txEl>
                                              <p:pRg st="1" end="1"/>
                                            </p:txEl>
                                          </p:spTgt>
                                        </p:tgtEl>
                                        <p:attrNameLst>
                                          <p:attrName>style.visibility</p:attrName>
                                        </p:attrNameLst>
                                      </p:cBhvr>
                                      <p:to>
                                        <p:strVal val="visible"/>
                                      </p:to>
                                    </p:set>
                                    <p:anim calcmode="lin" valueType="num">
                                      <p:cBhvr additive="base">
                                        <p:cTn id="13" dur="500" fill="hold"/>
                                        <p:tgtEl>
                                          <p:spTgt spid="1884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8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8419">
                                            <p:txEl>
                                              <p:pRg st="2" end="2"/>
                                            </p:txEl>
                                          </p:spTgt>
                                        </p:tgtEl>
                                        <p:attrNameLst>
                                          <p:attrName>style.visibility</p:attrName>
                                        </p:attrNameLst>
                                      </p:cBhvr>
                                      <p:to>
                                        <p:strVal val="visible"/>
                                      </p:to>
                                    </p:set>
                                    <p:anim calcmode="lin" valueType="num">
                                      <p:cBhvr additive="base">
                                        <p:cTn id="19" dur="500" fill="hold"/>
                                        <p:tgtEl>
                                          <p:spTgt spid="1884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8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88419">
                                            <p:txEl>
                                              <p:pRg st="3" end="3"/>
                                            </p:txEl>
                                          </p:spTgt>
                                        </p:tgtEl>
                                        <p:attrNameLst>
                                          <p:attrName>style.visibility</p:attrName>
                                        </p:attrNameLst>
                                      </p:cBhvr>
                                      <p:to>
                                        <p:strVal val="visible"/>
                                      </p:to>
                                    </p:set>
                                    <p:anim calcmode="lin" valueType="num">
                                      <p:cBhvr additive="base">
                                        <p:cTn id="25" dur="500" fill="hold"/>
                                        <p:tgtEl>
                                          <p:spTgt spid="1884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8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294"/>
                                        </p:tgtEl>
                                        <p:attrNameLst>
                                          <p:attrName>style.visibility</p:attrName>
                                        </p:attrNameLst>
                                      </p:cBhvr>
                                      <p:to>
                                        <p:strVal val="visible"/>
                                      </p:to>
                                    </p:set>
                                    <p:anim calcmode="lin" valueType="num">
                                      <p:cBhvr additive="base">
                                        <p:cTn id="31" dur="500" fill="hold"/>
                                        <p:tgtEl>
                                          <p:spTgt spid="12294"/>
                                        </p:tgtEl>
                                        <p:attrNameLst>
                                          <p:attrName>ppt_x</p:attrName>
                                        </p:attrNameLst>
                                      </p:cBhvr>
                                      <p:tavLst>
                                        <p:tav tm="0">
                                          <p:val>
                                            <p:strVal val="#ppt_x"/>
                                          </p:val>
                                        </p:tav>
                                        <p:tav tm="100000">
                                          <p:val>
                                            <p:strVal val="#ppt_x"/>
                                          </p:val>
                                        </p:tav>
                                      </p:tavLst>
                                    </p:anim>
                                    <p:anim calcmode="lin" valueType="num">
                                      <p:cBhvr additive="base">
                                        <p:cTn id="32" dur="500" fill="hold"/>
                                        <p:tgtEl>
                                          <p:spTgt spid="1229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84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9A22C88-32D8-47BF-BB4C-D74601B94ECD}" type="datetime1">
              <a:rPr kumimoji="0" lang="zh-TW" altLang="en-US" sz="1400"/>
              <a:pPr eaLnBrk="1" hangingPunct="1">
                <a:spcBef>
                  <a:spcPct val="0"/>
                </a:spcBef>
                <a:buClrTx/>
                <a:buSzTx/>
                <a:buFontTx/>
                <a:buNone/>
              </a:pPr>
              <a:t>2018/3/5</a:t>
            </a:fld>
            <a:endParaRPr kumimoji="0" lang="en-US" altLang="zh-TW" sz="1400"/>
          </a:p>
        </p:txBody>
      </p:sp>
      <p:sp>
        <p:nvSpPr>
          <p:cNvPr id="13315"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7898BA1-3BD8-4E9C-8410-7454E99068F7}" type="slidenum">
              <a:rPr kumimoji="0" lang="zh-TW" altLang="en-US" sz="1400"/>
              <a:pPr algn="r" eaLnBrk="1" hangingPunct="1">
                <a:spcBef>
                  <a:spcPct val="0"/>
                </a:spcBef>
                <a:buClrTx/>
                <a:buSzTx/>
                <a:buFontTx/>
                <a:buNone/>
              </a:pPr>
              <a:t>11</a:t>
            </a:fld>
            <a:endParaRPr kumimoji="0" lang="en-US" altLang="zh-TW" sz="1400"/>
          </a:p>
        </p:txBody>
      </p:sp>
      <p:sp>
        <p:nvSpPr>
          <p:cNvPr id="13316" name="Rectangle 2"/>
          <p:cNvSpPr>
            <a:spLocks noGrp="1" noChangeArrowheads="1"/>
          </p:cNvSpPr>
          <p:nvPr>
            <p:ph type="title" idx="4294967295"/>
          </p:nvPr>
        </p:nvSpPr>
        <p:spPr>
          <a:xfrm>
            <a:off x="347663" y="268288"/>
            <a:ext cx="8461375" cy="750887"/>
          </a:xfrm>
        </p:spPr>
        <p:txBody>
          <a:bodyPr/>
          <a:lstStyle/>
          <a:p>
            <a:pPr eaLnBrk="1" hangingPunct="1"/>
            <a:r>
              <a:rPr lang="en-US" altLang="zh-TW" sz="3600" b="1" dirty="0" smtClean="0"/>
              <a:t>Touchscreen and Voice</a:t>
            </a:r>
            <a:endParaRPr lang="en-US" altLang="zh-TW" sz="3600" dirty="0" smtClean="0"/>
          </a:p>
        </p:txBody>
      </p:sp>
      <p:sp>
        <p:nvSpPr>
          <p:cNvPr id="188419" name="Rectangle 3" descr="Rectangle: Click to edit Master text styles&#10;Second level&#10;Third level&#10;Fourth level&#10;Fifth level"/>
          <p:cNvSpPr>
            <a:spLocks noGrp="1" noChangeArrowheads="1"/>
          </p:cNvSpPr>
          <p:nvPr>
            <p:ph type="body" idx="4294967295"/>
          </p:nvPr>
        </p:nvSpPr>
        <p:spPr>
          <a:xfrm>
            <a:off x="563563" y="1093788"/>
            <a:ext cx="8308975" cy="5516562"/>
          </a:xfrm>
        </p:spPr>
        <p:txBody>
          <a:bodyPr/>
          <a:lstStyle/>
          <a:p>
            <a:pPr eaLnBrk="1" hangingPunct="1"/>
            <a:r>
              <a:rPr lang="en-US" altLang="zh-TW" dirty="0" smtClean="0">
                <a:latin typeface="Adobe Gothic Std B" pitchFamily="34" charset="-128"/>
                <a:ea typeface="Adobe Gothic Std B" pitchFamily="34" charset="-128"/>
              </a:rPr>
              <a:t>Touch screen devices require new interfaces</a:t>
            </a:r>
          </a:p>
          <a:p>
            <a:pPr lvl="1" eaLnBrk="1" hangingPunct="1">
              <a:spcBef>
                <a:spcPts val="1200"/>
              </a:spcBef>
            </a:pPr>
            <a:r>
              <a:rPr lang="en-US" altLang="zh-TW" dirty="0" smtClean="0">
                <a:latin typeface="Adobe Gothic Std B" pitchFamily="34" charset="-128"/>
                <a:ea typeface="Adobe Gothic Std B" pitchFamily="34" charset="-128"/>
              </a:rPr>
              <a:t>Mouse not possible or not desired</a:t>
            </a:r>
          </a:p>
          <a:p>
            <a:pPr lvl="1" eaLnBrk="1" hangingPunct="1">
              <a:spcBef>
                <a:spcPts val="1200"/>
              </a:spcBef>
            </a:pPr>
            <a:r>
              <a:rPr lang="en-US" altLang="zh-TW" dirty="0" smtClean="0">
                <a:latin typeface="Adobe Gothic Std B" pitchFamily="34" charset="-128"/>
                <a:ea typeface="Adobe Gothic Std B" pitchFamily="34" charset="-128"/>
              </a:rPr>
              <a:t>Actions and selection based on </a:t>
            </a:r>
            <a:r>
              <a:rPr lang="en-US" altLang="zh-TW" dirty="0" smtClean="0">
                <a:solidFill>
                  <a:srgbClr val="D60093"/>
                </a:solidFill>
                <a:latin typeface="Adobe Gothic Std B" pitchFamily="34" charset="-128"/>
                <a:ea typeface="Adobe Gothic Std B" pitchFamily="34" charset="-128"/>
              </a:rPr>
              <a:t>gestures</a:t>
            </a:r>
          </a:p>
          <a:p>
            <a:pPr lvl="1" eaLnBrk="1" hangingPunct="1">
              <a:spcBef>
                <a:spcPts val="1200"/>
              </a:spcBef>
            </a:pPr>
            <a:r>
              <a:rPr lang="en-US" altLang="zh-TW" dirty="0" smtClean="0">
                <a:latin typeface="Adobe Gothic Std B" pitchFamily="34" charset="-128"/>
                <a:ea typeface="Adobe Gothic Std B" pitchFamily="34" charset="-128"/>
              </a:rPr>
              <a:t>Virtual keyboard for text entry</a:t>
            </a:r>
          </a:p>
          <a:p>
            <a:pPr lvl="1" eaLnBrk="1" hangingPunct="1">
              <a:spcBef>
                <a:spcPts val="1200"/>
              </a:spcBef>
            </a:pPr>
            <a:r>
              <a:rPr lang="en-US" altLang="zh-TW" dirty="0">
                <a:latin typeface="Adobe Gothic Std B" pitchFamily="34" charset="-128"/>
                <a:ea typeface="Adobe Gothic Std B" pitchFamily="34" charset="-128"/>
              </a:rPr>
              <a:t>Force touch:  </a:t>
            </a:r>
            <a:r>
              <a:rPr lang="en-US" altLang="zh-TW" dirty="0" smtClean="0">
                <a:latin typeface="Adobe Gothic Std B" pitchFamily="34" charset="-128"/>
                <a:ea typeface="Adobe Gothic Std B" pitchFamily="34" charset="-128"/>
              </a:rPr>
              <a:t>pressure </a:t>
            </a:r>
            <a:r>
              <a:rPr lang="en-US" altLang="zh-TW" dirty="0">
                <a:latin typeface="Adobe Gothic Std B" pitchFamily="34" charset="-128"/>
                <a:ea typeface="Adobe Gothic Std B" pitchFamily="34" charset="-128"/>
              </a:rPr>
              <a:t>sensitive multi-touch</a:t>
            </a:r>
            <a:endParaRPr lang="en-US" altLang="zh-TW" dirty="0" smtClean="0">
              <a:latin typeface="Adobe Gothic Std B" pitchFamily="34" charset="-128"/>
              <a:ea typeface="Adobe Gothic Std B" pitchFamily="34" charset="-128"/>
            </a:endParaRPr>
          </a:p>
          <a:p>
            <a:pPr eaLnBrk="1" hangingPunct="1">
              <a:spcBef>
                <a:spcPts val="1200"/>
              </a:spcBef>
            </a:pPr>
            <a:r>
              <a:rPr lang="en-US" altLang="zh-TW" dirty="0" smtClean="0">
                <a:latin typeface="Adobe Gothic Std B" pitchFamily="34" charset="-128"/>
                <a:ea typeface="Adobe Gothic Std B" pitchFamily="34" charset="-128"/>
              </a:rPr>
              <a:t>Voice secretary </a:t>
            </a:r>
          </a:p>
          <a:p>
            <a:pPr lvl="1" eaLnBrk="1" hangingPunct="1">
              <a:spcBef>
                <a:spcPts val="1200"/>
              </a:spcBef>
            </a:pPr>
            <a:r>
              <a:rPr lang="en-US" altLang="zh-TW" dirty="0" smtClean="0">
                <a:latin typeface="Adobe Gothic Std B" pitchFamily="34" charset="-128"/>
                <a:ea typeface="Adobe Gothic Std B" pitchFamily="34" charset="-128"/>
              </a:rPr>
              <a:t>Apple Siri, Microsoft Cortana, Google Now, Amazon Alexa, Facebook 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anim calcmode="lin" valueType="num">
                                      <p:cBhvr additive="base">
                                        <p:cTn id="7" dur="500" fill="hold"/>
                                        <p:tgtEl>
                                          <p:spTgt spid="1884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8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8419">
                                            <p:txEl>
                                              <p:pRg st="2" end="2"/>
                                            </p:txEl>
                                          </p:spTgt>
                                        </p:tgtEl>
                                        <p:attrNameLst>
                                          <p:attrName>style.visibility</p:attrName>
                                        </p:attrNameLst>
                                      </p:cBhvr>
                                      <p:to>
                                        <p:strVal val="visible"/>
                                      </p:to>
                                    </p:set>
                                    <p:anim calcmode="lin" valueType="num">
                                      <p:cBhvr additive="base">
                                        <p:cTn id="13" dur="500" fill="hold"/>
                                        <p:tgtEl>
                                          <p:spTgt spid="18841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8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8419">
                                            <p:txEl>
                                              <p:pRg st="3" end="3"/>
                                            </p:txEl>
                                          </p:spTgt>
                                        </p:tgtEl>
                                        <p:attrNameLst>
                                          <p:attrName>style.visibility</p:attrName>
                                        </p:attrNameLst>
                                      </p:cBhvr>
                                      <p:to>
                                        <p:strVal val="visible"/>
                                      </p:to>
                                    </p:set>
                                    <p:anim calcmode="lin" valueType="num">
                                      <p:cBhvr additive="base">
                                        <p:cTn id="19" dur="500" fill="hold"/>
                                        <p:tgtEl>
                                          <p:spTgt spid="18841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8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8419">
                                            <p:txEl>
                                              <p:pRg st="4" end="4"/>
                                            </p:txEl>
                                          </p:spTgt>
                                        </p:tgtEl>
                                        <p:attrNameLst>
                                          <p:attrName>style.visibility</p:attrName>
                                        </p:attrNameLst>
                                      </p:cBhvr>
                                      <p:to>
                                        <p:strVal val="visible"/>
                                      </p:to>
                                    </p:set>
                                    <p:anim calcmode="lin" valueType="num">
                                      <p:cBhvr additive="base">
                                        <p:cTn id="25" dur="500" fill="hold"/>
                                        <p:tgtEl>
                                          <p:spTgt spid="18841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84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88419">
                                            <p:txEl>
                                              <p:pRg st="5" end="5"/>
                                            </p:txEl>
                                          </p:spTgt>
                                        </p:tgtEl>
                                        <p:attrNameLst>
                                          <p:attrName>style.visibility</p:attrName>
                                        </p:attrNameLst>
                                      </p:cBhvr>
                                      <p:to>
                                        <p:strVal val="visible"/>
                                      </p:to>
                                    </p:set>
                                    <p:anim calcmode="lin" valueType="num">
                                      <p:cBhvr additive="base">
                                        <p:cTn id="31" dur="500" fill="hold"/>
                                        <p:tgtEl>
                                          <p:spTgt spid="18841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84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8419">
                                            <p:txEl>
                                              <p:pRg st="6" end="6"/>
                                            </p:txEl>
                                          </p:spTgt>
                                        </p:tgtEl>
                                        <p:attrNameLst>
                                          <p:attrName>style.visibility</p:attrName>
                                        </p:attrNameLst>
                                      </p:cBhvr>
                                      <p:to>
                                        <p:strVal val="visible"/>
                                      </p:to>
                                    </p:set>
                                    <p:anim calcmode="lin" valueType="num">
                                      <p:cBhvr additive="base">
                                        <p:cTn id="37" dur="500" fill="hold"/>
                                        <p:tgtEl>
                                          <p:spTgt spid="18841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84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CAB1B66-685E-4748-BFC0-F88A476CCC6C}" type="datetime1">
              <a:rPr kumimoji="0" lang="zh-TW" altLang="en-US" sz="1400" smtClean="0"/>
              <a:t>2018/3/5</a:t>
            </a:fld>
            <a:endParaRPr kumimoji="0" lang="en-US" altLang="zh-TW" sz="1400"/>
          </a:p>
        </p:txBody>
      </p:sp>
      <p:sp>
        <p:nvSpPr>
          <p:cNvPr id="1433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CFC71C20-9ECE-4353-AB32-729C46932290}" type="slidenum">
              <a:rPr kumimoji="0" lang="zh-TW" altLang="en-US" sz="1400"/>
              <a:pPr algn="r" eaLnBrk="1" hangingPunct="1">
                <a:spcBef>
                  <a:spcPct val="0"/>
                </a:spcBef>
                <a:buClrTx/>
                <a:buSzTx/>
                <a:buFontTx/>
                <a:buNone/>
              </a:pPr>
              <a:t>12</a:t>
            </a:fld>
            <a:endParaRPr kumimoji="0" lang="en-US" altLang="zh-TW" sz="1400"/>
          </a:p>
        </p:txBody>
      </p:sp>
      <p:sp>
        <p:nvSpPr>
          <p:cNvPr id="14340" name="Rectangle 2"/>
          <p:cNvSpPr>
            <a:spLocks noGrp="1" noChangeArrowheads="1"/>
          </p:cNvSpPr>
          <p:nvPr>
            <p:ph type="title"/>
          </p:nvPr>
        </p:nvSpPr>
        <p:spPr>
          <a:xfrm>
            <a:off x="590550" y="304800"/>
            <a:ext cx="7772400" cy="671513"/>
          </a:xfrm>
        </p:spPr>
        <p:txBody>
          <a:bodyPr/>
          <a:lstStyle/>
          <a:p>
            <a:pPr eaLnBrk="1" hangingPunct="1"/>
            <a:r>
              <a:rPr lang="en-US" altLang="zh-TW" sz="4000" dirty="0" smtClean="0"/>
              <a:t>System Calls</a:t>
            </a:r>
          </a:p>
        </p:txBody>
      </p:sp>
      <p:sp>
        <p:nvSpPr>
          <p:cNvPr id="82947" name="Rectangle 3" descr="Rectangle: Click to edit Master text styles&#10;Second level&#10;Third level&#10;Fourth level&#10;Fifth level"/>
          <p:cNvSpPr>
            <a:spLocks noGrp="1" noChangeArrowheads="1"/>
          </p:cNvSpPr>
          <p:nvPr>
            <p:ph type="body" idx="1"/>
          </p:nvPr>
        </p:nvSpPr>
        <p:spPr>
          <a:xfrm>
            <a:off x="570751" y="986319"/>
            <a:ext cx="8261350" cy="5280828"/>
          </a:xfrm>
        </p:spPr>
        <p:txBody>
          <a:bodyPr/>
          <a:lstStyle/>
          <a:p>
            <a:pPr eaLnBrk="1" hangingPunct="1">
              <a:lnSpc>
                <a:spcPct val="90000"/>
              </a:lnSpc>
              <a:spcBef>
                <a:spcPct val="60000"/>
              </a:spcBef>
            </a:pPr>
            <a:r>
              <a:rPr lang="en-US" altLang="zh-TW" dirty="0" smtClean="0"/>
              <a:t>System calls provide the </a:t>
            </a:r>
            <a:r>
              <a:rPr lang="en-US" altLang="zh-TW" dirty="0" smtClean="0">
                <a:solidFill>
                  <a:srgbClr val="0000FF"/>
                </a:solidFill>
              </a:rPr>
              <a:t>interface between a running</a:t>
            </a:r>
            <a:r>
              <a:rPr lang="en-US" altLang="zh-TW" sz="2800" dirty="0" smtClean="0">
                <a:solidFill>
                  <a:srgbClr val="0000FF"/>
                </a:solidFill>
              </a:rPr>
              <a:t> </a:t>
            </a:r>
            <a:r>
              <a:rPr lang="en-US" altLang="zh-TW" dirty="0" smtClean="0">
                <a:solidFill>
                  <a:srgbClr val="0000FF"/>
                </a:solidFill>
              </a:rPr>
              <a:t>program and the operating system</a:t>
            </a:r>
            <a:endParaRPr lang="en-US" altLang="zh-TW" dirty="0" smtClean="0"/>
          </a:p>
          <a:p>
            <a:pPr lvl="1" eaLnBrk="1" hangingPunct="1">
              <a:lnSpc>
                <a:spcPct val="90000"/>
              </a:lnSpc>
              <a:spcBef>
                <a:spcPts val="1200"/>
              </a:spcBef>
            </a:pPr>
            <a:r>
              <a:rPr lang="en-US" altLang="zh-TW" dirty="0" smtClean="0"/>
              <a:t>Available as assembly-language instructions initially</a:t>
            </a:r>
          </a:p>
          <a:p>
            <a:pPr lvl="1" eaLnBrk="1" hangingPunct="1">
              <a:lnSpc>
                <a:spcPct val="90000"/>
              </a:lnSpc>
              <a:spcBef>
                <a:spcPts val="1200"/>
              </a:spcBef>
            </a:pPr>
            <a:r>
              <a:rPr lang="en-US" altLang="zh-TW" dirty="0" smtClean="0"/>
              <a:t>Languages defined to replace assembly language for systems programming allow system calls to be made directly (e.g., C, </a:t>
            </a:r>
            <a:r>
              <a:rPr lang="en-US" altLang="zh-TW" dirty="0" smtClean="0">
                <a:solidFill>
                  <a:srgbClr val="D60093"/>
                </a:solidFill>
              </a:rPr>
              <a:t>C++</a:t>
            </a:r>
            <a:r>
              <a:rPr lang="en-US" altLang="zh-TW" dirty="0" smtClean="0"/>
              <a:t>)</a:t>
            </a:r>
          </a:p>
          <a:p>
            <a:pPr lvl="1" eaLnBrk="1" hangingPunct="1">
              <a:lnSpc>
                <a:spcPct val="90000"/>
              </a:lnSpc>
              <a:spcBef>
                <a:spcPts val="1200"/>
              </a:spcBef>
            </a:pPr>
            <a:r>
              <a:rPr lang="en-US" altLang="zh-TW" dirty="0" smtClean="0"/>
              <a:t>Mostly accessed by programs via a high-level </a:t>
            </a:r>
            <a:r>
              <a:rPr lang="en-US" altLang="zh-TW" dirty="0" smtClean="0">
                <a:solidFill>
                  <a:srgbClr val="0000FF"/>
                </a:solidFill>
              </a:rPr>
              <a:t>Application Programming Interface (API) </a:t>
            </a:r>
            <a:r>
              <a:rPr lang="en-US" altLang="zh-TW" dirty="0" smtClean="0"/>
              <a:t>rather than direct system call use.</a:t>
            </a:r>
          </a:p>
          <a:p>
            <a:pPr lvl="1" eaLnBrk="1" hangingPunct="1">
              <a:lnSpc>
                <a:spcPct val="90000"/>
              </a:lnSpc>
              <a:spcBef>
                <a:spcPts val="1200"/>
              </a:spcBef>
            </a:pPr>
            <a:r>
              <a:rPr lang="en-US" altLang="zh-TW" dirty="0" smtClean="0">
                <a:solidFill>
                  <a:srgbClr val="0000FF"/>
                </a:solidFill>
              </a:rPr>
              <a:t>Win32 , POSIX, Java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82947">
                                            <p:txEl>
                                              <p:pRg st="1" end="1"/>
                                            </p:txEl>
                                          </p:spTgt>
                                        </p:tgtEl>
                                        <p:attrNameLst>
                                          <p:attrName>style.visibility</p:attrName>
                                        </p:attrNameLst>
                                      </p:cBhvr>
                                      <p:to>
                                        <p:strVal val="visible"/>
                                      </p:to>
                                    </p:set>
                                    <p:anim calcmode="lin" valueType="num">
                                      <p:cBhvr additive="base">
                                        <p:cTn id="7" dur="500" fill="hold"/>
                                        <p:tgtEl>
                                          <p:spTgt spid="829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2947">
                                            <p:txEl>
                                              <p:pRg st="2" end="2"/>
                                            </p:txEl>
                                          </p:spTgt>
                                        </p:tgtEl>
                                        <p:attrNameLst>
                                          <p:attrName>style.visibility</p:attrName>
                                        </p:attrNameLst>
                                      </p:cBhvr>
                                      <p:to>
                                        <p:strVal val="visible"/>
                                      </p:to>
                                    </p:set>
                                    <p:anim calcmode="lin" valueType="num">
                                      <p:cBhvr additive="base">
                                        <p:cTn id="13" dur="500" fill="hold"/>
                                        <p:tgtEl>
                                          <p:spTgt spid="829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29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2947">
                                            <p:txEl>
                                              <p:pRg st="3" end="3"/>
                                            </p:txEl>
                                          </p:spTgt>
                                        </p:tgtEl>
                                        <p:attrNameLst>
                                          <p:attrName>style.visibility</p:attrName>
                                        </p:attrNameLst>
                                      </p:cBhvr>
                                      <p:to>
                                        <p:strVal val="visible"/>
                                      </p:to>
                                    </p:set>
                                    <p:anim calcmode="lin" valueType="num">
                                      <p:cBhvr additive="base">
                                        <p:cTn id="19" dur="500" fill="hold"/>
                                        <p:tgtEl>
                                          <p:spTgt spid="829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29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2947">
                                            <p:txEl>
                                              <p:pRg st="4" end="4"/>
                                            </p:txEl>
                                          </p:spTgt>
                                        </p:tgtEl>
                                        <p:attrNameLst>
                                          <p:attrName>style.visibility</p:attrName>
                                        </p:attrNameLst>
                                      </p:cBhvr>
                                      <p:to>
                                        <p:strVal val="visible"/>
                                      </p:to>
                                    </p:set>
                                    <p:anim calcmode="lin" valueType="num">
                                      <p:cBhvr additive="base">
                                        <p:cTn id="25" dur="500" fill="hold"/>
                                        <p:tgtEl>
                                          <p:spTgt spid="8294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29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DEBEDFB6-2F58-40AA-95F2-5452400B165A}" type="datetime1">
              <a:rPr kumimoji="0" lang="zh-TW" altLang="en-US" sz="1400" smtClean="0"/>
              <a:t>2018/3/5</a:t>
            </a:fld>
            <a:endParaRPr kumimoji="0" lang="en-US" altLang="zh-TW" sz="1400"/>
          </a:p>
        </p:txBody>
      </p:sp>
      <p:sp>
        <p:nvSpPr>
          <p:cNvPr id="1843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5F79B66-6A7E-4FD2-B074-3165229D5D70}" type="slidenum">
              <a:rPr kumimoji="0" lang="zh-TW" altLang="en-US" sz="1400"/>
              <a:pPr algn="r" eaLnBrk="1" hangingPunct="1">
                <a:spcBef>
                  <a:spcPct val="0"/>
                </a:spcBef>
                <a:buClrTx/>
                <a:buSzTx/>
                <a:buFontTx/>
                <a:buNone/>
              </a:pPr>
              <a:t>13</a:t>
            </a:fld>
            <a:endParaRPr kumimoji="0" lang="en-US" altLang="zh-TW" sz="1400"/>
          </a:p>
        </p:txBody>
      </p:sp>
      <p:sp>
        <p:nvSpPr>
          <p:cNvPr id="18436" name="Rectangle 2"/>
          <p:cNvSpPr>
            <a:spLocks noGrp="1" noChangeArrowheads="1"/>
          </p:cNvSpPr>
          <p:nvPr>
            <p:ph type="title"/>
          </p:nvPr>
        </p:nvSpPr>
        <p:spPr>
          <a:xfrm>
            <a:off x="609600" y="304800"/>
            <a:ext cx="7772400" cy="631825"/>
          </a:xfrm>
        </p:spPr>
        <p:txBody>
          <a:bodyPr/>
          <a:lstStyle/>
          <a:p>
            <a:pPr eaLnBrk="1" hangingPunct="1"/>
            <a:r>
              <a:rPr lang="en-US" altLang="zh-TW" dirty="0" smtClean="0"/>
              <a:t>An Example of System Calls</a:t>
            </a:r>
          </a:p>
        </p:txBody>
      </p:sp>
      <p:sp>
        <p:nvSpPr>
          <p:cNvPr id="18437" name="Rectangle 3" descr="Rectangle: Click to edit Master text styles&#10;Second level&#10;Third level&#10;Fourth level&#10;Fifth level"/>
          <p:cNvSpPr>
            <a:spLocks noGrp="1" noChangeArrowheads="1"/>
          </p:cNvSpPr>
          <p:nvPr>
            <p:ph type="body" idx="1"/>
          </p:nvPr>
        </p:nvSpPr>
        <p:spPr>
          <a:xfrm>
            <a:off x="192088" y="1068512"/>
            <a:ext cx="8924925" cy="4921126"/>
          </a:xfrm>
        </p:spPr>
        <p:txBody>
          <a:bodyPr/>
          <a:lstStyle/>
          <a:p>
            <a:pPr eaLnBrk="1" hangingPunct="1">
              <a:lnSpc>
                <a:spcPct val="90000"/>
              </a:lnSpc>
            </a:pPr>
            <a:r>
              <a:rPr lang="en-US" altLang="zh-TW" sz="2800" dirty="0" smtClean="0">
                <a:latin typeface="Adobe Gothic Std B" pitchFamily="34" charset="-128"/>
                <a:ea typeface="Adobe Gothic Std B" pitchFamily="34" charset="-128"/>
              </a:rPr>
              <a:t>Copy the contents of one file to another file</a:t>
            </a:r>
            <a:endParaRPr lang="en-US" altLang="zh-TW" sz="2000" dirty="0" smtClean="0">
              <a:latin typeface="Adobe Gothic Std B" pitchFamily="34" charset="-128"/>
              <a:ea typeface="Adobe Gothic Std B" pitchFamily="34" charset="-128"/>
            </a:endParaRPr>
          </a:p>
          <a:p>
            <a:pPr marL="0" indent="0" eaLnBrk="1" hangingPunct="1">
              <a:lnSpc>
                <a:spcPct val="90000"/>
              </a:lnSpc>
              <a:buNone/>
            </a:pPr>
            <a:r>
              <a:rPr lang="en-US" altLang="zh-TW" sz="2000" dirty="0" smtClean="0"/>
              <a:t/>
            </a:r>
            <a:br>
              <a:rPr lang="en-US" altLang="zh-TW" sz="2000" dirty="0" smtClean="0"/>
            </a:br>
            <a:r>
              <a:rPr lang="en-US" altLang="zh-TW" sz="2000" dirty="0" smtClean="0"/>
              <a:t/>
            </a:r>
            <a:br>
              <a:rPr lang="en-US" altLang="zh-TW" sz="2000" dirty="0" smtClean="0"/>
            </a:br>
            <a:r>
              <a:rPr lang="en-US" altLang="zh-TW" sz="2000" dirty="0" smtClean="0"/>
              <a:t/>
            </a:r>
            <a:br>
              <a:rPr lang="en-US" altLang="zh-TW" sz="2000" dirty="0" smtClean="0"/>
            </a:b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marL="0" indent="0" eaLnBrk="1" hangingPunct="1">
              <a:lnSpc>
                <a:spcPct val="90000"/>
              </a:lnSpc>
              <a:buNone/>
            </a:pPr>
            <a:endParaRPr lang="zh-TW" altLang="en-US" sz="1800" dirty="0" smtClean="0"/>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341" y="1438382"/>
            <a:ext cx="7135483" cy="482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19446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64BDDDE-3B89-4F84-9A85-E9498439CC78}" type="datetime1">
              <a:rPr kumimoji="0" lang="zh-TW" altLang="en-US" sz="1400"/>
              <a:pPr eaLnBrk="1" hangingPunct="1">
                <a:spcBef>
                  <a:spcPct val="0"/>
                </a:spcBef>
                <a:buClrTx/>
                <a:buSzTx/>
                <a:buFontTx/>
                <a:buNone/>
              </a:pPr>
              <a:t>2018/3/5</a:t>
            </a:fld>
            <a:endParaRPr kumimoji="0" lang="en-US" altLang="zh-TW" sz="1400"/>
          </a:p>
        </p:txBody>
      </p:sp>
      <p:sp>
        <p:nvSpPr>
          <p:cNvPr id="15363"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7E3A20F-801A-4FF8-9B1D-AC86560A3CB0}" type="slidenum">
              <a:rPr kumimoji="0" lang="zh-TW" altLang="en-US" sz="1400"/>
              <a:pPr algn="r" eaLnBrk="1" hangingPunct="1">
                <a:spcBef>
                  <a:spcPct val="0"/>
                </a:spcBef>
                <a:buClrTx/>
                <a:buSzTx/>
                <a:buFontTx/>
                <a:buNone/>
              </a:pPr>
              <a:t>14</a:t>
            </a:fld>
            <a:endParaRPr kumimoji="0" lang="en-US" altLang="zh-TW" sz="1400"/>
          </a:p>
        </p:txBody>
      </p:sp>
      <p:sp>
        <p:nvSpPr>
          <p:cNvPr id="15364" name="Rectangle 2"/>
          <p:cNvSpPr>
            <a:spLocks noGrp="1" noChangeArrowheads="1"/>
          </p:cNvSpPr>
          <p:nvPr>
            <p:ph type="title" idx="4294967295"/>
          </p:nvPr>
        </p:nvSpPr>
        <p:spPr>
          <a:xfrm>
            <a:off x="493713" y="187325"/>
            <a:ext cx="7772400" cy="671513"/>
          </a:xfrm>
        </p:spPr>
        <p:txBody>
          <a:bodyPr/>
          <a:lstStyle/>
          <a:p>
            <a:pPr eaLnBrk="1" hangingPunct="1"/>
            <a:r>
              <a:rPr lang="en-US" altLang="zh-TW" sz="4000" dirty="0" smtClean="0"/>
              <a:t>System Call Implementation</a:t>
            </a:r>
          </a:p>
        </p:txBody>
      </p:sp>
      <p:sp>
        <p:nvSpPr>
          <p:cNvPr id="82947" name="Rectangle 3" descr="Rectangle: Click to edit Master text styles&#10;Second level&#10;Third level&#10;Fourth level&#10;Fifth level"/>
          <p:cNvSpPr>
            <a:spLocks noGrp="1" noChangeArrowheads="1"/>
          </p:cNvSpPr>
          <p:nvPr>
            <p:ph type="body" idx="4294967295"/>
          </p:nvPr>
        </p:nvSpPr>
        <p:spPr>
          <a:xfrm>
            <a:off x="431800" y="945221"/>
            <a:ext cx="8261350" cy="5554003"/>
          </a:xfrm>
        </p:spPr>
        <p:txBody>
          <a:bodyPr/>
          <a:lstStyle/>
          <a:p>
            <a:pPr eaLnBrk="1" hangingPunct="1">
              <a:lnSpc>
                <a:spcPct val="90000"/>
              </a:lnSpc>
            </a:pPr>
            <a:r>
              <a:rPr lang="en-US" altLang="zh-TW" sz="2800" dirty="0" smtClean="0">
                <a:solidFill>
                  <a:srgbClr val="000000"/>
                </a:solidFill>
                <a:latin typeface="Adobe Gothic Std B" pitchFamily="34" charset="-128"/>
                <a:ea typeface="Adobe Gothic Std B" pitchFamily="34" charset="-128"/>
              </a:rPr>
              <a:t>Typically, a number associated with each system call</a:t>
            </a:r>
          </a:p>
          <a:p>
            <a:pPr lvl="1" eaLnBrk="1" hangingPunct="1">
              <a:lnSpc>
                <a:spcPct val="90000"/>
              </a:lnSpc>
            </a:pPr>
            <a:r>
              <a:rPr lang="en-US" altLang="zh-TW" sz="2400" dirty="0" smtClean="0">
                <a:solidFill>
                  <a:srgbClr val="000000"/>
                </a:solidFill>
                <a:latin typeface="Adobe Gothic Std B" pitchFamily="34" charset="-128"/>
                <a:ea typeface="Adobe Gothic Std B" pitchFamily="34" charset="-128"/>
              </a:rPr>
              <a:t>System-call interface </a:t>
            </a:r>
            <a:r>
              <a:rPr lang="en-US" altLang="zh-TW" sz="2400" dirty="0" smtClean="0">
                <a:solidFill>
                  <a:srgbClr val="FF0000"/>
                </a:solidFill>
                <a:latin typeface="Adobe Gothic Std B" pitchFamily="34" charset="-128"/>
                <a:ea typeface="Adobe Gothic Std B" pitchFamily="34" charset="-128"/>
              </a:rPr>
              <a:t>maintains a table </a:t>
            </a:r>
            <a:r>
              <a:rPr lang="en-US" altLang="zh-TW" sz="2400" dirty="0" smtClean="0">
                <a:solidFill>
                  <a:srgbClr val="000000"/>
                </a:solidFill>
                <a:latin typeface="Adobe Gothic Std B" pitchFamily="34" charset="-128"/>
                <a:ea typeface="Adobe Gothic Std B" pitchFamily="34" charset="-128"/>
              </a:rPr>
              <a:t>indexed according to these numbers</a:t>
            </a:r>
          </a:p>
          <a:p>
            <a:pPr eaLnBrk="1" hangingPunct="1">
              <a:lnSpc>
                <a:spcPct val="90000"/>
              </a:lnSpc>
              <a:spcBef>
                <a:spcPts val="1200"/>
              </a:spcBef>
            </a:pPr>
            <a:r>
              <a:rPr lang="en-US" altLang="zh-TW" sz="2800" dirty="0" smtClean="0">
                <a:latin typeface="Adobe Gothic Std B" pitchFamily="34" charset="-128"/>
                <a:ea typeface="Adobe Gothic Std B" pitchFamily="34" charset="-128"/>
              </a:rPr>
              <a:t>The interface </a:t>
            </a:r>
            <a:r>
              <a:rPr lang="en-US" altLang="zh-TW" sz="2800" dirty="0" smtClean="0">
                <a:solidFill>
                  <a:srgbClr val="0000FF"/>
                </a:solidFill>
                <a:latin typeface="Adobe Gothic Std B" pitchFamily="34" charset="-128"/>
                <a:ea typeface="Adobe Gothic Std B" pitchFamily="34" charset="-128"/>
              </a:rPr>
              <a:t>invokes  the intended system call</a:t>
            </a:r>
            <a:r>
              <a:rPr lang="en-US" altLang="zh-TW" sz="2800" dirty="0" smtClean="0">
                <a:latin typeface="Adobe Gothic Std B" pitchFamily="34" charset="-128"/>
                <a:ea typeface="Adobe Gothic Std B" pitchFamily="34" charset="-128"/>
              </a:rPr>
              <a:t> and returns status and any return values</a:t>
            </a:r>
          </a:p>
          <a:p>
            <a:pPr eaLnBrk="1" hangingPunct="1">
              <a:lnSpc>
                <a:spcPct val="90000"/>
              </a:lnSpc>
              <a:spcBef>
                <a:spcPts val="1200"/>
              </a:spcBef>
            </a:pPr>
            <a:r>
              <a:rPr lang="en-US" altLang="zh-TW" sz="2800" dirty="0" smtClean="0">
                <a:latin typeface="Adobe Gothic Std B" pitchFamily="34" charset="-128"/>
                <a:ea typeface="Adobe Gothic Std B" pitchFamily="34" charset="-128"/>
              </a:rPr>
              <a:t>The caller need know nothing about how the system call is implemented</a:t>
            </a:r>
          </a:p>
          <a:p>
            <a:pPr lvl="1" eaLnBrk="1" hangingPunct="1">
              <a:lnSpc>
                <a:spcPct val="90000"/>
              </a:lnSpc>
              <a:spcBef>
                <a:spcPts val="1200"/>
              </a:spcBef>
            </a:pPr>
            <a:r>
              <a:rPr lang="en-US" altLang="zh-TW" dirty="0" smtClean="0">
                <a:latin typeface="Adobe Gothic Std B" pitchFamily="34" charset="-128"/>
                <a:ea typeface="Adobe Gothic Std B" pitchFamily="34" charset="-128"/>
              </a:rPr>
              <a:t>Most details of  OS interface hidden from programmer by API </a:t>
            </a:r>
          </a:p>
          <a:p>
            <a:pPr lvl="1" eaLnBrk="1" hangingPunct="1">
              <a:lnSpc>
                <a:spcPct val="90000"/>
              </a:lnSpc>
              <a:spcBef>
                <a:spcPts val="1200"/>
              </a:spcBef>
            </a:pPr>
            <a:r>
              <a:rPr lang="en-US" altLang="zh-TW" dirty="0" smtClean="0">
                <a:solidFill>
                  <a:srgbClr val="FF0000"/>
                </a:solidFill>
                <a:latin typeface="Adobe Gothic Std B" pitchFamily="34" charset="-128"/>
                <a:ea typeface="Adobe Gothic Std B" pitchFamily="34" charset="-128"/>
              </a:rPr>
              <a:t>Managed by run-time support library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500" fill="hold"/>
                                        <p:tgtEl>
                                          <p:spTgt spid="82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947">
                                            <p:txEl>
                                              <p:pRg st="1" end="1"/>
                                            </p:txEl>
                                          </p:spTgt>
                                        </p:tgtEl>
                                        <p:attrNameLst>
                                          <p:attrName>style.visibility</p:attrName>
                                        </p:attrNameLst>
                                      </p:cBhvr>
                                      <p:to>
                                        <p:strVal val="visible"/>
                                      </p:to>
                                    </p:set>
                                    <p:anim calcmode="lin" valueType="num">
                                      <p:cBhvr additive="base">
                                        <p:cTn id="11" dur="500" fill="hold"/>
                                        <p:tgtEl>
                                          <p:spTgt spid="829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29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2947">
                                            <p:txEl>
                                              <p:pRg st="2" end="2"/>
                                            </p:txEl>
                                          </p:spTgt>
                                        </p:tgtEl>
                                        <p:attrNameLst>
                                          <p:attrName>style.visibility</p:attrName>
                                        </p:attrNameLst>
                                      </p:cBhvr>
                                      <p:to>
                                        <p:strVal val="visible"/>
                                      </p:to>
                                    </p:set>
                                    <p:anim calcmode="lin" valueType="num">
                                      <p:cBhvr additive="base">
                                        <p:cTn id="17" dur="500" fill="hold"/>
                                        <p:tgtEl>
                                          <p:spTgt spid="829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29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2947">
                                            <p:txEl>
                                              <p:pRg st="3" end="3"/>
                                            </p:txEl>
                                          </p:spTgt>
                                        </p:tgtEl>
                                        <p:attrNameLst>
                                          <p:attrName>style.visibility</p:attrName>
                                        </p:attrNameLst>
                                      </p:cBhvr>
                                      <p:to>
                                        <p:strVal val="visible"/>
                                      </p:to>
                                    </p:set>
                                    <p:anim calcmode="lin" valueType="num">
                                      <p:cBhvr additive="base">
                                        <p:cTn id="23" dur="500" fill="hold"/>
                                        <p:tgtEl>
                                          <p:spTgt spid="8294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29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82947">
                                            <p:txEl>
                                              <p:pRg st="4" end="4"/>
                                            </p:txEl>
                                          </p:spTgt>
                                        </p:tgtEl>
                                        <p:attrNameLst>
                                          <p:attrName>style.visibility</p:attrName>
                                        </p:attrNameLst>
                                      </p:cBhvr>
                                      <p:to>
                                        <p:strVal val="visible"/>
                                      </p:to>
                                    </p:set>
                                    <p:anim calcmode="lin" valueType="num">
                                      <p:cBhvr additive="base">
                                        <p:cTn id="29" dur="500" fill="hold"/>
                                        <p:tgtEl>
                                          <p:spTgt spid="8294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29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2947">
                                            <p:txEl>
                                              <p:pRg st="5" end="5"/>
                                            </p:txEl>
                                          </p:spTgt>
                                        </p:tgtEl>
                                        <p:attrNameLst>
                                          <p:attrName>style.visibility</p:attrName>
                                        </p:attrNameLst>
                                      </p:cBhvr>
                                      <p:to>
                                        <p:strVal val="visible"/>
                                      </p:to>
                                    </p:set>
                                    <p:anim calcmode="lin" valueType="num">
                                      <p:cBhvr additive="base">
                                        <p:cTn id="35" dur="500" fill="hold"/>
                                        <p:tgtEl>
                                          <p:spTgt spid="8294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294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FB4AB13F-8FCB-4157-B689-DF552A0E7DE0}" type="datetime1">
              <a:rPr kumimoji="0" lang="zh-TW" altLang="en-US" sz="1400" smtClean="0"/>
              <a:t>2018/3/5</a:t>
            </a:fld>
            <a:endParaRPr kumimoji="0" lang="en-US" altLang="zh-TW" sz="1400"/>
          </a:p>
        </p:txBody>
      </p:sp>
      <p:sp>
        <p:nvSpPr>
          <p:cNvPr id="20483"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041ED8D5-3F57-4A6D-8D6B-3939B0581EA3}" type="slidenum">
              <a:rPr kumimoji="0" lang="zh-TW" altLang="en-US" sz="1400"/>
              <a:pPr algn="r" eaLnBrk="1" hangingPunct="1">
                <a:spcBef>
                  <a:spcPct val="0"/>
                </a:spcBef>
                <a:buClrTx/>
                <a:buSzTx/>
                <a:buFontTx/>
                <a:buNone/>
              </a:pPr>
              <a:t>15</a:t>
            </a:fld>
            <a:endParaRPr kumimoji="0" lang="en-US" altLang="zh-TW" sz="1400"/>
          </a:p>
        </p:txBody>
      </p:sp>
      <p:sp>
        <p:nvSpPr>
          <p:cNvPr id="20484" name="Rectangle 2"/>
          <p:cNvSpPr>
            <a:spLocks noGrp="1" noChangeArrowheads="1"/>
          </p:cNvSpPr>
          <p:nvPr>
            <p:ph type="title"/>
          </p:nvPr>
        </p:nvSpPr>
        <p:spPr>
          <a:xfrm>
            <a:off x="623888" y="169863"/>
            <a:ext cx="7772400" cy="815975"/>
          </a:xfrm>
        </p:spPr>
        <p:txBody>
          <a:bodyPr/>
          <a:lstStyle/>
          <a:p>
            <a:pPr eaLnBrk="1" hangingPunct="1"/>
            <a:r>
              <a:rPr lang="en-US" altLang="zh-TW" sz="3600" smtClean="0"/>
              <a:t>API </a:t>
            </a:r>
            <a:r>
              <a:rPr lang="en-US" altLang="zh-TW" sz="3600" smtClean="0">
                <a:latin typeface="Helvetica" pitchFamily="34" charset="0"/>
              </a:rPr>
              <a:t>–</a:t>
            </a:r>
            <a:r>
              <a:rPr lang="en-US" altLang="zh-TW" sz="3600" smtClean="0"/>
              <a:t> System Call </a:t>
            </a:r>
            <a:r>
              <a:rPr lang="en-US" altLang="zh-TW" sz="3600" smtClean="0">
                <a:latin typeface="Helvetica" pitchFamily="34" charset="0"/>
              </a:rPr>
              <a:t>–</a:t>
            </a:r>
            <a:r>
              <a:rPr lang="en-US" altLang="zh-TW" sz="3600" smtClean="0"/>
              <a:t> OS Relationship</a:t>
            </a:r>
          </a:p>
        </p:txBody>
      </p:sp>
      <p:pic>
        <p:nvPicPr>
          <p:cNvPr id="20485" name="Picture 3"/>
          <p:cNvPicPr>
            <a:picLocks noChangeAspect="1" noChangeArrowheads="1"/>
          </p:cNvPicPr>
          <p:nvPr/>
        </p:nvPicPr>
        <p:blipFill>
          <a:blip r:embed="rId4">
            <a:extLst>
              <a:ext uri="{28A0092B-C50C-407E-A947-70E740481C1C}">
                <a14:useLocalDpi xmlns:a14="http://schemas.microsoft.com/office/drawing/2010/main" val="0"/>
              </a:ext>
            </a:extLst>
          </a:blip>
          <a:srcRect l="775" t="9819" r="969" b="10077"/>
          <a:stretch>
            <a:fillRect/>
          </a:stretch>
        </p:blipFill>
        <p:spPr bwMode="auto">
          <a:xfrm>
            <a:off x="833438" y="1077913"/>
            <a:ext cx="7485062" cy="4576762"/>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02135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64BDDDE-3B89-4F84-9A85-E9498439CC78}" type="datetime1">
              <a:rPr kumimoji="0" lang="zh-TW" altLang="en-US" sz="1400"/>
              <a:pPr eaLnBrk="1" hangingPunct="1">
                <a:spcBef>
                  <a:spcPct val="0"/>
                </a:spcBef>
                <a:buClrTx/>
                <a:buSzTx/>
                <a:buFontTx/>
                <a:buNone/>
              </a:pPr>
              <a:t>2018/3/5</a:t>
            </a:fld>
            <a:endParaRPr kumimoji="0" lang="en-US" altLang="zh-TW" sz="1400"/>
          </a:p>
        </p:txBody>
      </p:sp>
      <p:sp>
        <p:nvSpPr>
          <p:cNvPr id="15363"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7E3A20F-801A-4FF8-9B1D-AC86560A3CB0}" type="slidenum">
              <a:rPr kumimoji="0" lang="zh-TW" altLang="en-US" sz="1400"/>
              <a:pPr algn="r" eaLnBrk="1" hangingPunct="1">
                <a:spcBef>
                  <a:spcPct val="0"/>
                </a:spcBef>
                <a:buClrTx/>
                <a:buSzTx/>
                <a:buFontTx/>
                <a:buNone/>
              </a:pPr>
              <a:t>16</a:t>
            </a:fld>
            <a:endParaRPr kumimoji="0" lang="en-US" altLang="zh-TW" sz="1400"/>
          </a:p>
        </p:txBody>
      </p:sp>
      <p:sp>
        <p:nvSpPr>
          <p:cNvPr id="15364" name="Rectangle 2"/>
          <p:cNvSpPr>
            <a:spLocks noGrp="1" noChangeArrowheads="1"/>
          </p:cNvSpPr>
          <p:nvPr>
            <p:ph type="title" idx="4294967295"/>
          </p:nvPr>
        </p:nvSpPr>
        <p:spPr>
          <a:xfrm>
            <a:off x="493713" y="187325"/>
            <a:ext cx="7772400" cy="671513"/>
          </a:xfrm>
        </p:spPr>
        <p:txBody>
          <a:bodyPr/>
          <a:lstStyle/>
          <a:p>
            <a:pPr eaLnBrk="1" hangingPunct="1"/>
            <a:r>
              <a:rPr lang="en-US" altLang="zh-TW" sz="4000" dirty="0" smtClean="0"/>
              <a:t>System Calls – Parameter Passing</a:t>
            </a:r>
          </a:p>
        </p:txBody>
      </p:sp>
      <p:sp>
        <p:nvSpPr>
          <p:cNvPr id="82947" name="Rectangle 3" descr="Rectangle: Click to edit Master text styles&#10;Second level&#10;Third level&#10;Fourth level&#10;Fifth level"/>
          <p:cNvSpPr>
            <a:spLocks noGrp="1" noChangeArrowheads="1"/>
          </p:cNvSpPr>
          <p:nvPr>
            <p:ph type="body" idx="4294967295"/>
          </p:nvPr>
        </p:nvSpPr>
        <p:spPr>
          <a:xfrm>
            <a:off x="431800" y="1017142"/>
            <a:ext cx="8261350" cy="5482083"/>
          </a:xfrm>
        </p:spPr>
        <p:txBody>
          <a:bodyPr/>
          <a:lstStyle/>
          <a:p>
            <a:pPr eaLnBrk="1" hangingPunct="1">
              <a:lnSpc>
                <a:spcPct val="90000"/>
              </a:lnSpc>
            </a:pPr>
            <a:r>
              <a:rPr lang="en-US" altLang="zh-TW" dirty="0" smtClean="0">
                <a:solidFill>
                  <a:srgbClr val="C72F05"/>
                </a:solidFill>
              </a:rPr>
              <a:t>Three general methods</a:t>
            </a:r>
            <a:r>
              <a:rPr lang="en-US" altLang="zh-TW" dirty="0" smtClean="0"/>
              <a:t> are used to </a:t>
            </a:r>
            <a:r>
              <a:rPr lang="en-US" altLang="zh-TW" dirty="0" smtClean="0">
                <a:solidFill>
                  <a:srgbClr val="D60093"/>
                </a:solidFill>
              </a:rPr>
              <a:t>pass parameters</a:t>
            </a:r>
            <a:r>
              <a:rPr lang="en-US" altLang="zh-TW" dirty="0" smtClean="0"/>
              <a:t> between a running program and the operating system.</a:t>
            </a:r>
          </a:p>
          <a:p>
            <a:pPr lvl="1" eaLnBrk="1" hangingPunct="1">
              <a:lnSpc>
                <a:spcPct val="90000"/>
              </a:lnSpc>
              <a:spcBef>
                <a:spcPts val="1200"/>
              </a:spcBef>
            </a:pPr>
            <a:r>
              <a:rPr lang="en-US" altLang="zh-TW" dirty="0" smtClean="0"/>
              <a:t>Pass parameters in </a:t>
            </a:r>
            <a:r>
              <a:rPr lang="en-US" altLang="zh-TW" dirty="0" smtClean="0">
                <a:solidFill>
                  <a:srgbClr val="FF0000"/>
                </a:solidFill>
              </a:rPr>
              <a:t>registers</a:t>
            </a:r>
          </a:p>
          <a:p>
            <a:pPr lvl="1" eaLnBrk="1" hangingPunct="1">
              <a:lnSpc>
                <a:spcPct val="90000"/>
              </a:lnSpc>
              <a:spcBef>
                <a:spcPts val="1200"/>
              </a:spcBef>
            </a:pPr>
            <a:r>
              <a:rPr lang="en-US" altLang="zh-TW" dirty="0" smtClean="0"/>
              <a:t>Store the parameters in a </a:t>
            </a:r>
            <a:r>
              <a:rPr lang="en-US" altLang="zh-TW" dirty="0" smtClean="0">
                <a:solidFill>
                  <a:srgbClr val="FF0000"/>
                </a:solidFill>
              </a:rPr>
              <a:t>block</a:t>
            </a:r>
            <a:r>
              <a:rPr lang="en-US" altLang="zh-TW" dirty="0" smtClean="0">
                <a:solidFill>
                  <a:srgbClr val="0000FF"/>
                </a:solidFill>
              </a:rPr>
              <a:t>, or </a:t>
            </a:r>
            <a:r>
              <a:rPr lang="en-US" altLang="zh-TW" dirty="0" smtClean="0">
                <a:solidFill>
                  <a:srgbClr val="FF0000"/>
                </a:solidFill>
              </a:rPr>
              <a:t>table</a:t>
            </a:r>
            <a:r>
              <a:rPr lang="en-US" altLang="zh-TW" dirty="0" smtClean="0">
                <a:solidFill>
                  <a:srgbClr val="0000FF"/>
                </a:solidFill>
              </a:rPr>
              <a:t> in memory</a:t>
            </a:r>
            <a:r>
              <a:rPr lang="en-US" altLang="zh-TW" dirty="0" smtClean="0"/>
              <a:t>, and the table address is passed as a parameter in a register</a:t>
            </a:r>
            <a:endParaRPr lang="en-US" altLang="zh-TW" i="1" dirty="0" smtClean="0"/>
          </a:p>
          <a:p>
            <a:pPr lvl="1" eaLnBrk="1" hangingPunct="1">
              <a:lnSpc>
                <a:spcPct val="90000"/>
              </a:lnSpc>
              <a:spcBef>
                <a:spcPts val="1200"/>
              </a:spcBef>
            </a:pPr>
            <a:r>
              <a:rPr lang="en-US" altLang="zh-TW" dirty="0" smtClean="0"/>
              <a:t>Push (store) the parameters onto the </a:t>
            </a:r>
            <a:r>
              <a:rPr lang="en-US" altLang="zh-TW" dirty="0" smtClean="0">
                <a:solidFill>
                  <a:srgbClr val="C72F05"/>
                </a:solidFill>
              </a:rPr>
              <a:t>stack</a:t>
            </a:r>
            <a:r>
              <a:rPr lang="en-US" altLang="zh-TW" dirty="0" smtClean="0"/>
              <a:t> by the program, and pop off the stack by operating system</a:t>
            </a:r>
          </a:p>
          <a:p>
            <a:pPr lvl="1" eaLnBrk="1" hangingPunct="1">
              <a:lnSpc>
                <a:spcPct val="90000"/>
              </a:lnSpc>
              <a:spcBef>
                <a:spcPts val="1200"/>
              </a:spcBef>
            </a:pPr>
            <a:r>
              <a:rPr lang="en-US" altLang="zh-TW" dirty="0" smtClean="0">
                <a:solidFill>
                  <a:srgbClr val="0000FF"/>
                </a:solidFill>
              </a:rPr>
              <a:t>Block and stack methods do not limit the number or length of parameters being passed</a:t>
            </a:r>
          </a:p>
        </p:txBody>
      </p:sp>
    </p:spTree>
    <p:extLst>
      <p:ext uri="{BB962C8B-B14F-4D97-AF65-F5344CB8AC3E}">
        <p14:creationId xmlns:p14="http://schemas.microsoft.com/office/powerpoint/2010/main" val="1641263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29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9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9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6C4F37C0-1BFC-4159-AAF7-254F6E3CE52D}" type="datetime1">
              <a:rPr kumimoji="0" lang="zh-TW" altLang="en-US" sz="1400" smtClean="0"/>
              <a:t>2018/3/5</a:t>
            </a:fld>
            <a:endParaRPr kumimoji="0" lang="en-US" altLang="zh-TW" sz="1400"/>
          </a:p>
        </p:txBody>
      </p:sp>
      <p:sp>
        <p:nvSpPr>
          <p:cNvPr id="16387"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91DF5572-3136-478E-BAC8-0414735F41EC}" type="slidenum">
              <a:rPr kumimoji="0" lang="zh-TW" altLang="en-US" sz="1400"/>
              <a:pPr algn="r" eaLnBrk="1" hangingPunct="1">
                <a:spcBef>
                  <a:spcPct val="0"/>
                </a:spcBef>
                <a:buClrTx/>
                <a:buSzTx/>
                <a:buFontTx/>
                <a:buNone/>
              </a:pPr>
              <a:t>17</a:t>
            </a:fld>
            <a:endParaRPr kumimoji="0" lang="en-US" altLang="zh-TW" sz="1400"/>
          </a:p>
        </p:txBody>
      </p:sp>
      <p:sp>
        <p:nvSpPr>
          <p:cNvPr id="16388" name="Rectangle 2"/>
          <p:cNvSpPr>
            <a:spLocks noGrp="1" noChangeArrowheads="1"/>
          </p:cNvSpPr>
          <p:nvPr>
            <p:ph type="title"/>
          </p:nvPr>
        </p:nvSpPr>
        <p:spPr/>
        <p:txBody>
          <a:bodyPr/>
          <a:lstStyle/>
          <a:p>
            <a:pPr eaLnBrk="1" hangingPunct="1"/>
            <a:r>
              <a:rPr lang="en-US" altLang="zh-TW" smtClean="0"/>
              <a:t>Parameter Passing via Table</a:t>
            </a:r>
          </a:p>
        </p:txBody>
      </p:sp>
      <p:pic>
        <p:nvPicPr>
          <p:cNvPr id="16389" name="Picture 3"/>
          <p:cNvPicPr>
            <a:picLocks noChangeAspect="1" noChangeArrowheads="1"/>
          </p:cNvPicPr>
          <p:nvPr/>
        </p:nvPicPr>
        <p:blipFill>
          <a:blip r:embed="rId4">
            <a:extLst>
              <a:ext uri="{28A0092B-C50C-407E-A947-70E740481C1C}">
                <a14:useLocalDpi xmlns:a14="http://schemas.microsoft.com/office/drawing/2010/main" val="0"/>
              </a:ext>
            </a:extLst>
          </a:blip>
          <a:srcRect l="401" t="15260" r="603" b="15529"/>
          <a:stretch>
            <a:fillRect/>
          </a:stretch>
        </p:blipFill>
        <p:spPr bwMode="auto">
          <a:xfrm>
            <a:off x="1379538" y="2276475"/>
            <a:ext cx="6261100" cy="3282950"/>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D622E937-E468-4431-BC40-14BD6A3C2264}" type="datetime1">
              <a:rPr kumimoji="0" lang="zh-TW" altLang="en-US" sz="1400" smtClean="0"/>
              <a:t>2018/3/5</a:t>
            </a:fld>
            <a:endParaRPr kumimoji="0" lang="en-US" altLang="zh-TW" sz="1400"/>
          </a:p>
        </p:txBody>
      </p:sp>
      <p:sp>
        <p:nvSpPr>
          <p:cNvPr id="2150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1D26609-987E-43D4-BB3C-8E5BFD56F042}" type="slidenum">
              <a:rPr kumimoji="0" lang="zh-TW" altLang="en-US" sz="1400"/>
              <a:pPr algn="r" eaLnBrk="1" hangingPunct="1">
                <a:spcBef>
                  <a:spcPct val="0"/>
                </a:spcBef>
                <a:buClrTx/>
                <a:buSzTx/>
                <a:buFontTx/>
                <a:buNone/>
              </a:pPr>
              <a:t>18</a:t>
            </a:fld>
            <a:endParaRPr kumimoji="0" lang="en-US" altLang="zh-TW" sz="1400"/>
          </a:p>
        </p:txBody>
      </p:sp>
      <p:sp>
        <p:nvSpPr>
          <p:cNvPr id="21508" name="Rectangle 2"/>
          <p:cNvSpPr>
            <a:spLocks noGrp="1" noChangeArrowheads="1"/>
          </p:cNvSpPr>
          <p:nvPr>
            <p:ph type="title"/>
          </p:nvPr>
        </p:nvSpPr>
        <p:spPr/>
        <p:txBody>
          <a:bodyPr/>
          <a:lstStyle/>
          <a:p>
            <a:pPr eaLnBrk="1" hangingPunct="1"/>
            <a:r>
              <a:rPr lang="en-US" altLang="zh-TW" dirty="0" smtClean="0"/>
              <a:t>Types of System Calls</a:t>
            </a:r>
          </a:p>
        </p:txBody>
      </p:sp>
      <p:sp>
        <p:nvSpPr>
          <p:cNvPr id="21509" name="Rectangle 3" descr="Rectangle: Click to edit Master text styles&#10;Second level&#10;Third level&#10;Fourth level&#10;Fifth level"/>
          <p:cNvSpPr>
            <a:spLocks noGrp="1" noChangeArrowheads="1"/>
          </p:cNvSpPr>
          <p:nvPr>
            <p:ph type="body" idx="1"/>
          </p:nvPr>
        </p:nvSpPr>
        <p:spPr>
          <a:xfrm>
            <a:off x="585627" y="1623317"/>
            <a:ext cx="8024973" cy="4396483"/>
          </a:xfrm>
        </p:spPr>
        <p:txBody>
          <a:bodyPr/>
          <a:lstStyle/>
          <a:p>
            <a:pPr eaLnBrk="1" hangingPunct="1">
              <a:spcBef>
                <a:spcPct val="60000"/>
              </a:spcBef>
            </a:pPr>
            <a:r>
              <a:rPr lang="en-US" altLang="zh-TW" dirty="0" smtClean="0"/>
              <a:t>Process control</a:t>
            </a:r>
          </a:p>
          <a:p>
            <a:pPr eaLnBrk="1" hangingPunct="1">
              <a:spcBef>
                <a:spcPct val="60000"/>
              </a:spcBef>
            </a:pPr>
            <a:r>
              <a:rPr lang="en-US" altLang="zh-TW" dirty="0" smtClean="0"/>
              <a:t>File management</a:t>
            </a:r>
          </a:p>
          <a:p>
            <a:pPr eaLnBrk="1" hangingPunct="1">
              <a:spcBef>
                <a:spcPct val="60000"/>
              </a:spcBef>
            </a:pPr>
            <a:r>
              <a:rPr lang="en-US" altLang="zh-TW" dirty="0" smtClean="0"/>
              <a:t>Device management</a:t>
            </a:r>
          </a:p>
          <a:p>
            <a:pPr eaLnBrk="1" hangingPunct="1">
              <a:spcBef>
                <a:spcPct val="60000"/>
              </a:spcBef>
            </a:pPr>
            <a:r>
              <a:rPr lang="en-US" altLang="zh-TW" dirty="0" smtClean="0"/>
              <a:t>Information maintenance</a:t>
            </a:r>
          </a:p>
          <a:p>
            <a:pPr eaLnBrk="1" hangingPunct="1">
              <a:spcBef>
                <a:spcPct val="60000"/>
              </a:spcBef>
            </a:pPr>
            <a:r>
              <a:rPr lang="en-US" altLang="zh-TW" dirty="0" smtClean="0"/>
              <a:t>Communications</a:t>
            </a:r>
          </a:p>
          <a:p>
            <a:pPr eaLnBrk="1" hangingPunct="1">
              <a:spcBef>
                <a:spcPct val="60000"/>
              </a:spcBef>
            </a:pPr>
            <a:r>
              <a:rPr lang="en-US" altLang="zh-TW" dirty="0" smtClean="0"/>
              <a:t>Protection</a:t>
            </a:r>
          </a:p>
          <a:p>
            <a:pPr eaLnBrk="1" hangingPunct="1">
              <a:buFont typeface="Wingdings" pitchFamily="2" charset="2"/>
              <a:buNone/>
            </a:pPr>
            <a:endParaRPr lang="zh-TW" altLang="en-US" dirty="0"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251027C-95DC-4B79-8FD0-B136412ECF7E}" type="datetime1">
              <a:rPr kumimoji="0" lang="zh-TW" altLang="en-US" sz="1400" smtClean="0"/>
              <a:t>2018/3/5</a:t>
            </a:fld>
            <a:endParaRPr kumimoji="0" lang="en-US" altLang="zh-TW" sz="1400"/>
          </a:p>
        </p:txBody>
      </p:sp>
      <p:sp>
        <p:nvSpPr>
          <p:cNvPr id="2150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1D26609-987E-43D4-BB3C-8E5BFD56F042}" type="slidenum">
              <a:rPr kumimoji="0" lang="zh-TW" altLang="en-US" sz="1400"/>
              <a:pPr algn="r" eaLnBrk="1" hangingPunct="1">
                <a:spcBef>
                  <a:spcPct val="0"/>
                </a:spcBef>
                <a:buClrTx/>
                <a:buSzTx/>
                <a:buFontTx/>
                <a:buNone/>
              </a:pPr>
              <a:t>19</a:t>
            </a:fld>
            <a:endParaRPr kumimoji="0" lang="en-US" altLang="zh-TW" sz="1400"/>
          </a:p>
        </p:txBody>
      </p:sp>
      <p:sp>
        <p:nvSpPr>
          <p:cNvPr id="21508" name="Rectangle 2"/>
          <p:cNvSpPr>
            <a:spLocks noGrp="1" noChangeArrowheads="1"/>
          </p:cNvSpPr>
          <p:nvPr>
            <p:ph type="title"/>
          </p:nvPr>
        </p:nvSpPr>
        <p:spPr>
          <a:xfrm>
            <a:off x="82193" y="267127"/>
            <a:ext cx="8887145" cy="749157"/>
          </a:xfrm>
        </p:spPr>
        <p:txBody>
          <a:bodyPr/>
          <a:lstStyle/>
          <a:p>
            <a:pPr eaLnBrk="1" hangingPunct="1"/>
            <a:r>
              <a:rPr lang="en-US" altLang="zh-TW" sz="3600" dirty="0" smtClean="0"/>
              <a:t>Examples: Windows and Unix System Calls</a:t>
            </a:r>
          </a:p>
        </p:txBody>
      </p:sp>
      <p:pic>
        <p:nvPicPr>
          <p:cNvPr id="7" name="Picture 6" descr="OS8-p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1124" y="997417"/>
            <a:ext cx="6163110" cy="549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0443312"/>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84150"/>
            <a:ext cx="8229600" cy="576263"/>
          </a:xfrm>
        </p:spPr>
        <p:txBody>
          <a:bodyPr/>
          <a:lstStyle/>
          <a:p>
            <a:pPr eaLnBrk="1" hangingPunct="1"/>
            <a:r>
              <a:rPr lang="en-US" altLang="zh-TW" sz="4000" dirty="0" smtClean="0"/>
              <a:t>Standard C Library Example</a:t>
            </a:r>
          </a:p>
        </p:txBody>
      </p:sp>
      <p:sp>
        <p:nvSpPr>
          <p:cNvPr id="27651" name="Rectangle 3"/>
          <p:cNvSpPr>
            <a:spLocks noGrp="1" noChangeArrowheads="1"/>
          </p:cNvSpPr>
          <p:nvPr>
            <p:ph type="body" idx="1"/>
          </p:nvPr>
        </p:nvSpPr>
        <p:spPr>
          <a:xfrm>
            <a:off x="523982" y="801384"/>
            <a:ext cx="7886593" cy="5450191"/>
          </a:xfrm>
        </p:spPr>
        <p:txBody>
          <a:bodyPr/>
          <a:lstStyle/>
          <a:p>
            <a:pPr>
              <a:buFont typeface="Wingdings" panose="05000000000000000000" pitchFamily="2" charset="2"/>
              <a:buChar char="n"/>
            </a:pPr>
            <a:r>
              <a:rPr lang="en-US" altLang="zh-TW" sz="2800" dirty="0" smtClean="0">
                <a:latin typeface="Adobe Gothic Std B" pitchFamily="34" charset="-128"/>
                <a:ea typeface="Adobe Gothic Std B" pitchFamily="34" charset="-128"/>
              </a:rPr>
              <a:t>C program invoking </a:t>
            </a:r>
            <a:r>
              <a:rPr lang="en-US" altLang="zh-TW" sz="2800" dirty="0" err="1" smtClean="0">
                <a:solidFill>
                  <a:srgbClr val="0000FF"/>
                </a:solidFill>
                <a:latin typeface="Adobe Gothic Std B" pitchFamily="34" charset="-128"/>
                <a:ea typeface="Adobe Gothic Std B" pitchFamily="34" charset="-128"/>
              </a:rPr>
              <a:t>printf</a:t>
            </a:r>
            <a:r>
              <a:rPr lang="en-US" altLang="zh-TW" sz="2800" dirty="0" smtClean="0">
                <a:solidFill>
                  <a:srgbClr val="0000FF"/>
                </a:solidFill>
                <a:latin typeface="Adobe Gothic Std B" pitchFamily="34" charset="-128"/>
                <a:ea typeface="Adobe Gothic Std B" pitchFamily="34" charset="-128"/>
              </a:rPr>
              <a:t>() library</a:t>
            </a:r>
            <a:r>
              <a:rPr lang="en-US" altLang="zh-TW" sz="2800" dirty="0" smtClean="0">
                <a:latin typeface="Adobe Gothic Std B" pitchFamily="34" charset="-128"/>
                <a:ea typeface="Adobe Gothic Std B" pitchFamily="34" charset="-128"/>
              </a:rPr>
              <a:t> call, which calls </a:t>
            </a:r>
            <a:r>
              <a:rPr lang="en-US" altLang="zh-TW" sz="2800" dirty="0" smtClean="0">
                <a:solidFill>
                  <a:srgbClr val="D60093"/>
                </a:solidFill>
                <a:latin typeface="Adobe Gothic Std B" pitchFamily="34" charset="-128"/>
                <a:ea typeface="Adobe Gothic Std B" pitchFamily="34" charset="-128"/>
              </a:rPr>
              <a:t>write() system</a:t>
            </a:r>
            <a:r>
              <a:rPr lang="en-US" altLang="zh-TW" sz="2800" dirty="0" smtClean="0">
                <a:latin typeface="Adobe Gothic Std B" pitchFamily="34" charset="-128"/>
                <a:ea typeface="Adobe Gothic Std B" pitchFamily="34" charset="-128"/>
              </a:rPr>
              <a:t> call</a:t>
            </a:r>
          </a:p>
        </p:txBody>
      </p:sp>
      <p:pic>
        <p:nvPicPr>
          <p:cNvPr id="27652" name="Picture 1" descr="Screen Shot 2012-12-01 at 1.12.03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7503" y="1695235"/>
            <a:ext cx="4641521" cy="4692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4"/>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6"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4"/>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20</a:t>
            </a:fld>
            <a:endParaRPr kumimoji="0" lang="en-US" altLang="zh-TW" sz="1400"/>
          </a:p>
        </p:txBody>
      </p:sp>
    </p:spTree>
    <p:extLst>
      <p:ext uri="{BB962C8B-B14F-4D97-AF65-F5344CB8AC3E}">
        <p14:creationId xmlns:p14="http://schemas.microsoft.com/office/powerpoint/2010/main" val="30540169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141288"/>
            <a:ext cx="8229600" cy="576262"/>
          </a:xfrm>
        </p:spPr>
        <p:txBody>
          <a:bodyPr/>
          <a:lstStyle/>
          <a:p>
            <a:r>
              <a:rPr lang="en-US" altLang="zh-TW" sz="4000" dirty="0" smtClean="0"/>
              <a:t>Example: MS-DOS</a:t>
            </a:r>
          </a:p>
        </p:txBody>
      </p:sp>
      <p:sp>
        <p:nvSpPr>
          <p:cNvPr id="28675" name="Content Placeholder 2"/>
          <p:cNvSpPr>
            <a:spLocks noGrp="1"/>
          </p:cNvSpPr>
          <p:nvPr>
            <p:ph idx="1"/>
          </p:nvPr>
        </p:nvSpPr>
        <p:spPr>
          <a:xfrm>
            <a:off x="236306" y="863030"/>
            <a:ext cx="4278544" cy="5815172"/>
          </a:xfrm>
        </p:spPr>
        <p:txBody>
          <a:bodyPr/>
          <a:lstStyle/>
          <a:p>
            <a:pPr>
              <a:spcBef>
                <a:spcPts val="1200"/>
              </a:spcBef>
              <a:buFont typeface="Wingdings" panose="05000000000000000000" pitchFamily="2" charset="2"/>
              <a:buChar char="n"/>
            </a:pPr>
            <a:r>
              <a:rPr lang="en-US" altLang="zh-TW" sz="2400" dirty="0" smtClean="0">
                <a:solidFill>
                  <a:srgbClr val="FF0000"/>
                </a:solidFill>
                <a:latin typeface="Adobe Gothic Std B" pitchFamily="34" charset="-128"/>
                <a:ea typeface="Adobe Gothic Std B" pitchFamily="34" charset="-128"/>
              </a:rPr>
              <a:t>Single-tasking</a:t>
            </a:r>
          </a:p>
          <a:p>
            <a:pPr>
              <a:spcBef>
                <a:spcPts val="1200"/>
              </a:spcBef>
              <a:buFont typeface="Wingdings" panose="05000000000000000000" pitchFamily="2" charset="2"/>
              <a:buChar char="n"/>
            </a:pPr>
            <a:r>
              <a:rPr lang="en-US" altLang="zh-TW" sz="2400" dirty="0" smtClean="0">
                <a:latin typeface="Adobe Gothic Std B" pitchFamily="34" charset="-128"/>
                <a:ea typeface="Adobe Gothic Std B" pitchFamily="34" charset="-128"/>
              </a:rPr>
              <a:t>Shell invoked when system booted</a:t>
            </a:r>
          </a:p>
          <a:p>
            <a:pPr>
              <a:spcBef>
                <a:spcPts val="1200"/>
              </a:spcBef>
              <a:buFont typeface="Wingdings" panose="05000000000000000000" pitchFamily="2" charset="2"/>
              <a:buChar char="n"/>
            </a:pPr>
            <a:r>
              <a:rPr lang="en-US" altLang="zh-TW" sz="2400" dirty="0" smtClean="0">
                <a:latin typeface="Adobe Gothic Std B" pitchFamily="34" charset="-128"/>
                <a:ea typeface="Adobe Gothic Std B" pitchFamily="34" charset="-128"/>
              </a:rPr>
              <a:t>Simple method to run program</a:t>
            </a:r>
          </a:p>
          <a:p>
            <a:pPr lvl="1">
              <a:spcBef>
                <a:spcPts val="1200"/>
              </a:spcBef>
            </a:pPr>
            <a:r>
              <a:rPr lang="en-US" altLang="zh-TW" sz="2000" dirty="0" smtClean="0">
                <a:solidFill>
                  <a:srgbClr val="FF0000"/>
                </a:solidFill>
                <a:latin typeface="Adobe Gothic Std B" pitchFamily="34" charset="-128"/>
                <a:ea typeface="Adobe Gothic Std B" pitchFamily="34" charset="-128"/>
              </a:rPr>
              <a:t>No process created</a:t>
            </a:r>
          </a:p>
          <a:p>
            <a:pPr>
              <a:spcBef>
                <a:spcPts val="1200"/>
              </a:spcBef>
              <a:buFont typeface="Wingdings" panose="05000000000000000000" pitchFamily="2" charset="2"/>
              <a:buChar char="n"/>
            </a:pPr>
            <a:r>
              <a:rPr lang="en-US" altLang="zh-TW" sz="2400" dirty="0" smtClean="0">
                <a:latin typeface="Adobe Gothic Std B" pitchFamily="34" charset="-128"/>
                <a:ea typeface="Adobe Gothic Std B" pitchFamily="34" charset="-128"/>
              </a:rPr>
              <a:t>Single memory space</a:t>
            </a:r>
          </a:p>
          <a:p>
            <a:pPr>
              <a:spcBef>
                <a:spcPts val="1200"/>
              </a:spcBef>
              <a:buFont typeface="Wingdings" panose="05000000000000000000" pitchFamily="2" charset="2"/>
              <a:buChar char="n"/>
            </a:pPr>
            <a:r>
              <a:rPr lang="en-US" altLang="zh-TW" sz="2400" dirty="0" smtClean="0">
                <a:solidFill>
                  <a:srgbClr val="0000FF"/>
                </a:solidFill>
                <a:latin typeface="Adobe Gothic Std B" pitchFamily="34" charset="-128"/>
                <a:ea typeface="Adobe Gothic Std B" pitchFamily="34" charset="-128"/>
              </a:rPr>
              <a:t>Loads program into memory, overwriting all but the kernel</a:t>
            </a:r>
          </a:p>
          <a:p>
            <a:pPr>
              <a:spcBef>
                <a:spcPts val="1200"/>
              </a:spcBef>
              <a:buFont typeface="Wingdings" panose="05000000000000000000" pitchFamily="2" charset="2"/>
              <a:buChar char="n"/>
            </a:pPr>
            <a:r>
              <a:rPr lang="en-US" altLang="zh-TW" sz="2400" dirty="0" smtClean="0">
                <a:latin typeface="Adobe Gothic Std B" pitchFamily="34" charset="-128"/>
                <a:ea typeface="Adobe Gothic Std B" pitchFamily="34" charset="-128"/>
              </a:rPr>
              <a:t>Program exit -&gt; shell reloaded</a:t>
            </a:r>
            <a:endParaRPr lang="en-US" altLang="zh-TW" sz="2800" dirty="0" smtClean="0">
              <a:latin typeface="Adobe Gothic Std B" pitchFamily="34" charset="-128"/>
              <a:ea typeface="Adobe Gothic Std B" pitchFamily="34" charset="-128"/>
            </a:endParaRPr>
          </a:p>
        </p:txBody>
      </p:sp>
      <p:pic>
        <p:nvPicPr>
          <p:cNvPr id="28676" name="Picture 9"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0881" y="1712412"/>
            <a:ext cx="4127500" cy="349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5"/>
          <p:cNvSpPr>
            <a:spLocks noChangeArrowheads="1"/>
          </p:cNvSpPr>
          <p:nvPr/>
        </p:nvSpPr>
        <p:spPr bwMode="auto">
          <a:xfrm>
            <a:off x="4435795" y="5239695"/>
            <a:ext cx="5029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3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3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3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3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3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34" charset="0"/>
                <a:ea typeface="MS PGothic" pitchFamily="34" charset="-128"/>
              </a:defRPr>
            </a:lvl9pPr>
          </a:lstStyle>
          <a:p>
            <a:pPr>
              <a:spcBef>
                <a:spcPct val="50000"/>
              </a:spcBef>
              <a:buFont typeface="Monotype Sorts" pitchFamily="-84" charset="2"/>
              <a:buNone/>
            </a:pPr>
            <a:r>
              <a:rPr lang="en-US" altLang="zh-TW" sz="2000" dirty="0"/>
              <a:t> </a:t>
            </a:r>
            <a:r>
              <a:rPr lang="en-US" altLang="zh-TW" sz="2000" dirty="0" smtClean="0"/>
              <a:t> system </a:t>
            </a:r>
            <a:r>
              <a:rPr lang="en-US" altLang="zh-TW" sz="2000" dirty="0"/>
              <a:t>startup          running a program</a:t>
            </a:r>
          </a:p>
          <a:p>
            <a:pPr>
              <a:spcBef>
                <a:spcPct val="50000"/>
              </a:spcBef>
              <a:buFont typeface="Monotype Sorts" pitchFamily="-84" charset="2"/>
              <a:buNone/>
            </a:pPr>
            <a:endParaRPr lang="en-US" altLang="zh-TW" dirty="0"/>
          </a:p>
        </p:txBody>
      </p:sp>
      <p:sp>
        <p:nvSpPr>
          <p:cNvPr id="6"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7"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21</a:t>
            </a:fld>
            <a:endParaRPr kumimoji="0" lang="en-US" altLang="zh-TW" sz="1400"/>
          </a:p>
        </p:txBody>
      </p:sp>
    </p:spTree>
    <p:extLst>
      <p:ext uri="{BB962C8B-B14F-4D97-AF65-F5344CB8AC3E}">
        <p14:creationId xmlns:p14="http://schemas.microsoft.com/office/powerpoint/2010/main" val="194851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141288"/>
            <a:ext cx="8229600" cy="576262"/>
          </a:xfrm>
        </p:spPr>
        <p:txBody>
          <a:bodyPr/>
          <a:lstStyle/>
          <a:p>
            <a:r>
              <a:rPr lang="en-US" altLang="zh-TW" sz="4000" dirty="0" smtClean="0"/>
              <a:t>Example: FreeBSD</a:t>
            </a:r>
          </a:p>
        </p:txBody>
      </p:sp>
      <p:sp>
        <p:nvSpPr>
          <p:cNvPr id="29699" name="Content Placeholder 2"/>
          <p:cNvSpPr>
            <a:spLocks noGrp="1"/>
          </p:cNvSpPr>
          <p:nvPr>
            <p:ph idx="1"/>
          </p:nvPr>
        </p:nvSpPr>
        <p:spPr>
          <a:xfrm>
            <a:off x="215757" y="791110"/>
            <a:ext cx="5794625" cy="6066889"/>
          </a:xfrm>
        </p:spPr>
        <p:txBody>
          <a:bodyPr/>
          <a:lstStyle/>
          <a:p>
            <a:pPr>
              <a:spcBef>
                <a:spcPts val="1200"/>
              </a:spcBef>
            </a:pPr>
            <a:r>
              <a:rPr lang="en-US" altLang="zh-TW" sz="2400" dirty="0" smtClean="0">
                <a:latin typeface="Adobe Gothic Std B" pitchFamily="34" charset="-128"/>
                <a:ea typeface="Adobe Gothic Std B" pitchFamily="34" charset="-128"/>
              </a:rPr>
              <a:t>Unix variant</a:t>
            </a:r>
          </a:p>
          <a:p>
            <a:pPr>
              <a:spcBef>
                <a:spcPts val="1200"/>
              </a:spcBef>
            </a:pPr>
            <a:r>
              <a:rPr lang="en-US" altLang="zh-TW" sz="2400" dirty="0" smtClean="0">
                <a:solidFill>
                  <a:srgbClr val="0000FF"/>
                </a:solidFill>
                <a:latin typeface="Adobe Gothic Std B" pitchFamily="34" charset="-128"/>
                <a:ea typeface="Adobe Gothic Std B" pitchFamily="34" charset="-128"/>
              </a:rPr>
              <a:t>Multitasking</a:t>
            </a:r>
          </a:p>
          <a:p>
            <a:pPr>
              <a:spcBef>
                <a:spcPts val="1200"/>
              </a:spcBef>
            </a:pPr>
            <a:r>
              <a:rPr lang="en-US" altLang="zh-TW" sz="2400" dirty="0" smtClean="0">
                <a:latin typeface="Adobe Gothic Std B" pitchFamily="34" charset="-128"/>
                <a:ea typeface="Adobe Gothic Std B" pitchFamily="34" charset="-128"/>
              </a:rPr>
              <a:t>User login -&gt; invoke </a:t>
            </a:r>
            <a:r>
              <a:rPr lang="en-US" altLang="zh-TW" sz="2400" dirty="0" smtClean="0">
                <a:solidFill>
                  <a:srgbClr val="FF0000"/>
                </a:solidFill>
                <a:latin typeface="Adobe Gothic Std B" pitchFamily="34" charset="-128"/>
                <a:ea typeface="Adobe Gothic Std B" pitchFamily="34" charset="-128"/>
              </a:rPr>
              <a:t>user</a:t>
            </a:r>
            <a:r>
              <a:rPr lang="ja-JP" altLang="en-US" sz="2400" dirty="0">
                <a:solidFill>
                  <a:srgbClr val="FF0000"/>
                </a:solidFill>
                <a:latin typeface="Adobe Gothic Std B" pitchFamily="34" charset="-128"/>
                <a:ea typeface="Adobe Gothic Std B" pitchFamily="34" charset="-128"/>
                <a:sym typeface="Symbol"/>
              </a:rPr>
              <a:t></a:t>
            </a:r>
            <a:r>
              <a:rPr lang="en-US" altLang="ja-JP" sz="2400" dirty="0" smtClean="0">
                <a:solidFill>
                  <a:srgbClr val="FF0000"/>
                </a:solidFill>
                <a:latin typeface="Adobe Gothic Std B" pitchFamily="34" charset="-128"/>
                <a:ea typeface="Adobe Gothic Std B" pitchFamily="34" charset="-128"/>
              </a:rPr>
              <a:t>s choice of shell</a:t>
            </a:r>
          </a:p>
          <a:p>
            <a:pPr>
              <a:spcBef>
                <a:spcPts val="1200"/>
              </a:spcBef>
            </a:pPr>
            <a:r>
              <a:rPr lang="en-US" altLang="zh-TW" sz="2400" dirty="0" smtClean="0">
                <a:latin typeface="Adobe Gothic Std B" pitchFamily="34" charset="-128"/>
                <a:ea typeface="Adobe Gothic Std B" pitchFamily="34" charset="-128"/>
              </a:rPr>
              <a:t>Shell executes </a:t>
            </a:r>
            <a:r>
              <a:rPr lang="en-US" altLang="zh-TW" sz="2400" dirty="0" smtClean="0">
                <a:solidFill>
                  <a:srgbClr val="FF0000"/>
                </a:solidFill>
                <a:latin typeface="Adobe Gothic Std B" pitchFamily="34" charset="-128"/>
                <a:ea typeface="Adobe Gothic Std B" pitchFamily="34" charset="-128"/>
              </a:rPr>
              <a:t>fork() </a:t>
            </a:r>
            <a:r>
              <a:rPr lang="en-US" altLang="zh-TW" sz="2400" dirty="0" smtClean="0">
                <a:latin typeface="Adobe Gothic Std B" pitchFamily="34" charset="-128"/>
                <a:ea typeface="Adobe Gothic Std B" pitchFamily="34" charset="-128"/>
              </a:rPr>
              <a:t>system call to create process</a:t>
            </a:r>
          </a:p>
          <a:p>
            <a:pPr lvl="1">
              <a:spcBef>
                <a:spcPts val="1200"/>
              </a:spcBef>
            </a:pPr>
            <a:r>
              <a:rPr lang="en-US" altLang="zh-TW" sz="2000" dirty="0" smtClean="0">
                <a:latin typeface="Adobe Gothic Std B" pitchFamily="34" charset="-128"/>
                <a:ea typeface="Adobe Gothic Std B" pitchFamily="34" charset="-128"/>
              </a:rPr>
              <a:t>Executes </a:t>
            </a:r>
            <a:r>
              <a:rPr lang="en-US" altLang="zh-TW" sz="2000" dirty="0" smtClean="0">
                <a:solidFill>
                  <a:srgbClr val="FF0000"/>
                </a:solidFill>
                <a:latin typeface="Adobe Gothic Std B" pitchFamily="34" charset="-128"/>
                <a:ea typeface="Adobe Gothic Std B" pitchFamily="34" charset="-128"/>
              </a:rPr>
              <a:t>exec() </a:t>
            </a:r>
            <a:r>
              <a:rPr lang="en-US" altLang="zh-TW" sz="2000" dirty="0" smtClean="0">
                <a:latin typeface="Adobe Gothic Std B" pitchFamily="34" charset="-128"/>
                <a:ea typeface="Adobe Gothic Std B" pitchFamily="34" charset="-128"/>
              </a:rPr>
              <a:t>to load program into process</a:t>
            </a:r>
          </a:p>
          <a:p>
            <a:pPr lvl="1">
              <a:spcBef>
                <a:spcPts val="1200"/>
              </a:spcBef>
            </a:pPr>
            <a:r>
              <a:rPr lang="en-US" altLang="zh-TW" sz="2000" dirty="0" smtClean="0">
                <a:latin typeface="Adobe Gothic Std B" pitchFamily="34" charset="-128"/>
                <a:ea typeface="Adobe Gothic Std B" pitchFamily="34" charset="-128"/>
              </a:rPr>
              <a:t>Shell waits for process to terminate or continues with user commands</a:t>
            </a:r>
          </a:p>
          <a:p>
            <a:pPr>
              <a:spcBef>
                <a:spcPts val="1200"/>
              </a:spcBef>
            </a:pPr>
            <a:r>
              <a:rPr lang="en-US" altLang="zh-TW" sz="2400" dirty="0" smtClean="0">
                <a:latin typeface="Adobe Gothic Std B" pitchFamily="34" charset="-128"/>
                <a:ea typeface="Adobe Gothic Std B" pitchFamily="34" charset="-128"/>
              </a:rPr>
              <a:t>Process exits with:</a:t>
            </a:r>
          </a:p>
          <a:p>
            <a:pPr lvl="1">
              <a:spcBef>
                <a:spcPts val="1200"/>
              </a:spcBef>
            </a:pPr>
            <a:r>
              <a:rPr lang="en-US" altLang="zh-TW" sz="2000" dirty="0" smtClean="0">
                <a:latin typeface="Adobe Gothic Std B" pitchFamily="34" charset="-128"/>
                <a:ea typeface="Adobe Gothic Std B" pitchFamily="34" charset="-128"/>
              </a:rPr>
              <a:t> code = 0 – no error </a:t>
            </a:r>
          </a:p>
          <a:p>
            <a:pPr lvl="1">
              <a:spcBef>
                <a:spcPts val="1200"/>
              </a:spcBef>
            </a:pPr>
            <a:r>
              <a:rPr lang="en-US" altLang="zh-TW" sz="2000" dirty="0" smtClean="0">
                <a:latin typeface="Adobe Gothic Std B" pitchFamily="34" charset="-128"/>
                <a:ea typeface="Adobe Gothic Std B" pitchFamily="34" charset="-128"/>
              </a:rPr>
              <a:t> code &gt; 0 – error code</a:t>
            </a:r>
          </a:p>
          <a:p>
            <a:endParaRPr lang="en-US" altLang="zh-TW" dirty="0" smtClean="0"/>
          </a:p>
        </p:txBody>
      </p:sp>
      <p:pic>
        <p:nvPicPr>
          <p:cNvPr id="29700" name="Picture 3"/>
          <p:cNvPicPr>
            <a:picLocks noChangeAspect="1" noChangeArrowheads="1"/>
          </p:cNvPicPr>
          <p:nvPr/>
        </p:nvPicPr>
        <p:blipFill>
          <a:blip r:embed="rId2">
            <a:extLst>
              <a:ext uri="{28A0092B-C50C-407E-A947-70E740481C1C}">
                <a14:useLocalDpi xmlns:a14="http://schemas.microsoft.com/office/drawing/2010/main" val="0"/>
              </a:ext>
            </a:extLst>
          </a:blip>
          <a:srcRect l="31691" t="500" r="31691" b="500"/>
          <a:stretch>
            <a:fillRect/>
          </a:stretch>
        </p:blipFill>
        <p:spPr bwMode="auto">
          <a:xfrm>
            <a:off x="6146800" y="1163638"/>
            <a:ext cx="2305050" cy="4676775"/>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5"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6"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22</a:t>
            </a:fld>
            <a:endParaRPr kumimoji="0" lang="en-US" altLang="zh-TW" sz="1400"/>
          </a:p>
        </p:txBody>
      </p:sp>
    </p:spTree>
    <p:extLst>
      <p:ext uri="{BB962C8B-B14F-4D97-AF65-F5344CB8AC3E}">
        <p14:creationId xmlns:p14="http://schemas.microsoft.com/office/powerpoint/2010/main" val="315420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69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CD1883F-BA1C-4952-99BF-71B6B79CA698}" type="datetime1">
              <a:rPr kumimoji="0" lang="zh-TW" altLang="en-US" sz="1400" smtClean="0"/>
              <a:t>2018/3/5</a:t>
            </a:fld>
            <a:endParaRPr kumimoji="0" lang="en-US" altLang="zh-TW" sz="1400"/>
          </a:p>
        </p:txBody>
      </p:sp>
      <p:sp>
        <p:nvSpPr>
          <p:cNvPr id="2355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B017E161-D7D5-4443-ACEA-B0BCA9A6A188}" type="slidenum">
              <a:rPr kumimoji="0" lang="zh-TW" altLang="en-US" sz="1400"/>
              <a:pPr algn="r" eaLnBrk="1" hangingPunct="1">
                <a:spcBef>
                  <a:spcPct val="0"/>
                </a:spcBef>
                <a:buClrTx/>
                <a:buSzTx/>
                <a:buFontTx/>
                <a:buNone/>
              </a:pPr>
              <a:t>23</a:t>
            </a:fld>
            <a:endParaRPr kumimoji="0" lang="en-US" altLang="zh-TW" sz="1400"/>
          </a:p>
        </p:txBody>
      </p:sp>
      <p:sp>
        <p:nvSpPr>
          <p:cNvPr id="23556" name="Rectangle 2"/>
          <p:cNvSpPr>
            <a:spLocks noGrp="1" noChangeArrowheads="1"/>
          </p:cNvSpPr>
          <p:nvPr>
            <p:ph type="title"/>
          </p:nvPr>
        </p:nvSpPr>
        <p:spPr>
          <a:xfrm>
            <a:off x="609600" y="304800"/>
            <a:ext cx="7772400" cy="712788"/>
          </a:xfrm>
        </p:spPr>
        <p:txBody>
          <a:bodyPr/>
          <a:lstStyle/>
          <a:p>
            <a:pPr eaLnBrk="1" hangingPunct="1"/>
            <a:r>
              <a:rPr lang="en-US" altLang="zh-TW" sz="4000" dirty="0" smtClean="0"/>
              <a:t>Status information</a:t>
            </a:r>
          </a:p>
        </p:txBody>
      </p:sp>
      <p:sp>
        <p:nvSpPr>
          <p:cNvPr id="23557" name="Rectangle 3" descr="Rectangle: Click to edit Master text styles&#10;Second level&#10;Third level&#10;Fourth level&#10;Fifth level"/>
          <p:cNvSpPr>
            <a:spLocks noGrp="1" noChangeArrowheads="1"/>
          </p:cNvSpPr>
          <p:nvPr>
            <p:ph type="body" idx="1"/>
          </p:nvPr>
        </p:nvSpPr>
        <p:spPr>
          <a:xfrm>
            <a:off x="174323" y="1099335"/>
            <a:ext cx="8566150" cy="5417532"/>
          </a:xfrm>
          <a:noFill/>
        </p:spPr>
        <p:txBody>
          <a:bodyPr/>
          <a:lstStyle/>
          <a:p>
            <a:pPr lvl="1" eaLnBrk="1" hangingPunct="1"/>
            <a:r>
              <a:rPr lang="en-US" altLang="zh-TW" sz="3000" dirty="0" smtClean="0"/>
              <a:t>Some ask the system for info - </a:t>
            </a:r>
            <a:r>
              <a:rPr lang="en-US" altLang="zh-TW" sz="3000" dirty="0" smtClean="0">
                <a:solidFill>
                  <a:srgbClr val="0000FF"/>
                </a:solidFill>
              </a:rPr>
              <a:t>date, time, amount of available memory, disk space, number of users</a:t>
            </a:r>
          </a:p>
          <a:p>
            <a:pPr lvl="1" eaLnBrk="1" hangingPunct="1"/>
            <a:r>
              <a:rPr lang="en-US" altLang="zh-TW" sz="3000" dirty="0" smtClean="0"/>
              <a:t>Others provide detailed performance, </a:t>
            </a:r>
            <a:r>
              <a:rPr lang="en-US" altLang="zh-TW" sz="3000" dirty="0" smtClean="0">
                <a:solidFill>
                  <a:srgbClr val="C72F05"/>
                </a:solidFill>
              </a:rPr>
              <a:t>logging</a:t>
            </a:r>
            <a:r>
              <a:rPr lang="en-US" altLang="zh-TW" sz="3000" dirty="0" smtClean="0"/>
              <a:t>, and </a:t>
            </a:r>
            <a:r>
              <a:rPr lang="en-US" altLang="zh-TW" sz="3000" dirty="0" smtClean="0">
                <a:solidFill>
                  <a:srgbClr val="C72F05"/>
                </a:solidFill>
              </a:rPr>
              <a:t>debugging</a:t>
            </a:r>
            <a:r>
              <a:rPr lang="en-US" altLang="zh-TW" sz="3000" dirty="0" smtClean="0"/>
              <a:t> information</a:t>
            </a:r>
          </a:p>
          <a:p>
            <a:pPr lvl="1" eaLnBrk="1" hangingPunct="1"/>
            <a:r>
              <a:rPr lang="en-US" altLang="zh-TW" sz="3000" dirty="0" smtClean="0"/>
              <a:t>Typically, these programs format and print the output to the terminal or other output devices</a:t>
            </a:r>
          </a:p>
          <a:p>
            <a:pPr lvl="1" eaLnBrk="1" hangingPunct="1"/>
            <a:r>
              <a:rPr lang="en-US" altLang="zh-TW" sz="3000" dirty="0" smtClean="0"/>
              <a:t>Some systems implement  a </a:t>
            </a:r>
            <a:r>
              <a:rPr lang="en-US" altLang="zh-TW" sz="3000" b="1" dirty="0" smtClean="0">
                <a:solidFill>
                  <a:srgbClr val="C72F05"/>
                </a:solidFill>
              </a:rPr>
              <a:t>registry</a:t>
            </a:r>
            <a:r>
              <a:rPr lang="en-US" altLang="zh-TW" sz="3000" dirty="0" smtClean="0"/>
              <a:t> - used to store and retrieve configuration information</a:t>
            </a:r>
          </a:p>
          <a:p>
            <a:pPr eaLnBrk="1" hangingPunct="1">
              <a:buFont typeface="Wingdings" pitchFamily="2" charset="2"/>
              <a:buNone/>
            </a:pPr>
            <a:endParaRPr lang="en-US" altLang="zh-TW"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55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DFD12754-AA14-448D-A0BC-81768BE9FEAD}" type="datetime1">
              <a:rPr kumimoji="0" lang="zh-TW" altLang="en-US" sz="1400" smtClean="0"/>
              <a:t>2018/3/5</a:t>
            </a:fld>
            <a:endParaRPr kumimoji="0" lang="en-US" altLang="zh-TW" sz="1400"/>
          </a:p>
        </p:txBody>
      </p:sp>
      <p:sp>
        <p:nvSpPr>
          <p:cNvPr id="2355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B017E161-D7D5-4443-ACEA-B0BCA9A6A188}" type="slidenum">
              <a:rPr kumimoji="0" lang="zh-TW" altLang="en-US" sz="1400"/>
              <a:pPr algn="r" eaLnBrk="1" hangingPunct="1">
                <a:spcBef>
                  <a:spcPct val="0"/>
                </a:spcBef>
                <a:buClrTx/>
                <a:buSzTx/>
                <a:buFontTx/>
                <a:buNone/>
              </a:pPr>
              <a:t>24</a:t>
            </a:fld>
            <a:endParaRPr kumimoji="0" lang="en-US" altLang="zh-TW" sz="1400"/>
          </a:p>
        </p:txBody>
      </p:sp>
      <p:sp>
        <p:nvSpPr>
          <p:cNvPr id="23556" name="Rectangle 2"/>
          <p:cNvSpPr>
            <a:spLocks noGrp="1" noChangeArrowheads="1"/>
          </p:cNvSpPr>
          <p:nvPr>
            <p:ph type="title"/>
          </p:nvPr>
        </p:nvSpPr>
        <p:spPr>
          <a:xfrm>
            <a:off x="609600" y="304800"/>
            <a:ext cx="7772400" cy="712788"/>
          </a:xfrm>
        </p:spPr>
        <p:txBody>
          <a:bodyPr/>
          <a:lstStyle/>
          <a:p>
            <a:pPr eaLnBrk="1" hangingPunct="1"/>
            <a:r>
              <a:rPr lang="en-US" altLang="zh-TW" sz="4000" dirty="0"/>
              <a:t>Background Services</a:t>
            </a:r>
          </a:p>
        </p:txBody>
      </p:sp>
      <p:sp>
        <p:nvSpPr>
          <p:cNvPr id="23557" name="Rectangle 3" descr="Rectangle: Click to edit Master text styles&#10;Second level&#10;Third level&#10;Fourth level&#10;Fifth level"/>
          <p:cNvSpPr>
            <a:spLocks noGrp="1" noChangeArrowheads="1"/>
          </p:cNvSpPr>
          <p:nvPr>
            <p:ph type="body" idx="1"/>
          </p:nvPr>
        </p:nvSpPr>
        <p:spPr>
          <a:xfrm>
            <a:off x="174323" y="1099335"/>
            <a:ext cx="8566150" cy="5417532"/>
          </a:xfrm>
          <a:noFill/>
        </p:spPr>
        <p:txBody>
          <a:bodyPr/>
          <a:lstStyle/>
          <a:p>
            <a:pPr lvl="1" eaLnBrk="1" hangingPunct="1"/>
            <a:r>
              <a:rPr lang="en-US" altLang="zh-TW" sz="3000" dirty="0"/>
              <a:t>Launch at boot time</a:t>
            </a:r>
          </a:p>
          <a:p>
            <a:pPr lvl="2" eaLnBrk="1" hangingPunct="1"/>
            <a:r>
              <a:rPr lang="en-US" altLang="zh-TW" sz="2600" dirty="0"/>
              <a:t>Some for system startup, then terminate</a:t>
            </a:r>
          </a:p>
          <a:p>
            <a:pPr lvl="2" eaLnBrk="1" hangingPunct="1"/>
            <a:r>
              <a:rPr lang="en-US" altLang="zh-TW" sz="2600" dirty="0"/>
              <a:t>Some from system boot to shutdown</a:t>
            </a:r>
          </a:p>
          <a:p>
            <a:pPr lvl="1" eaLnBrk="1" hangingPunct="1">
              <a:spcBef>
                <a:spcPts val="1800"/>
              </a:spcBef>
            </a:pPr>
            <a:r>
              <a:rPr lang="en-US" altLang="zh-TW" sz="3000" dirty="0"/>
              <a:t>Provide facilities like </a:t>
            </a:r>
            <a:r>
              <a:rPr lang="en-US" altLang="zh-TW" sz="3000" dirty="0">
                <a:solidFill>
                  <a:srgbClr val="0000FF"/>
                </a:solidFill>
              </a:rPr>
              <a:t>disk checking</a:t>
            </a:r>
            <a:r>
              <a:rPr lang="en-US" altLang="zh-TW" sz="3000" dirty="0"/>
              <a:t>, </a:t>
            </a:r>
            <a:r>
              <a:rPr lang="en-US" altLang="zh-TW" sz="3000" dirty="0">
                <a:solidFill>
                  <a:srgbClr val="0000FF"/>
                </a:solidFill>
              </a:rPr>
              <a:t>process scheduling</a:t>
            </a:r>
            <a:r>
              <a:rPr lang="en-US" altLang="zh-TW" sz="3000" dirty="0"/>
              <a:t>, </a:t>
            </a:r>
            <a:r>
              <a:rPr lang="en-US" altLang="zh-TW" sz="3000" dirty="0">
                <a:solidFill>
                  <a:srgbClr val="0000FF"/>
                </a:solidFill>
              </a:rPr>
              <a:t>error logging</a:t>
            </a:r>
            <a:r>
              <a:rPr lang="en-US" altLang="zh-TW" sz="3000" dirty="0"/>
              <a:t>, </a:t>
            </a:r>
            <a:r>
              <a:rPr lang="en-US" altLang="zh-TW" sz="3000" dirty="0">
                <a:solidFill>
                  <a:srgbClr val="0000FF"/>
                </a:solidFill>
              </a:rPr>
              <a:t>printing</a:t>
            </a:r>
          </a:p>
          <a:p>
            <a:pPr lvl="1" eaLnBrk="1" hangingPunct="1">
              <a:spcBef>
                <a:spcPts val="1800"/>
              </a:spcBef>
            </a:pPr>
            <a:r>
              <a:rPr lang="en-US" altLang="zh-TW" sz="3000" dirty="0"/>
              <a:t>Run in </a:t>
            </a:r>
            <a:r>
              <a:rPr lang="en-US" altLang="zh-TW" sz="3000" dirty="0">
                <a:solidFill>
                  <a:srgbClr val="0000FF"/>
                </a:solidFill>
              </a:rPr>
              <a:t>user context </a:t>
            </a:r>
            <a:r>
              <a:rPr lang="en-US" altLang="zh-TW" sz="3000" dirty="0"/>
              <a:t>not kernel context</a:t>
            </a:r>
          </a:p>
          <a:p>
            <a:pPr lvl="1" eaLnBrk="1" hangingPunct="1">
              <a:spcBef>
                <a:spcPts val="1800"/>
              </a:spcBef>
            </a:pPr>
            <a:r>
              <a:rPr lang="en-US" altLang="zh-TW" sz="3000" dirty="0"/>
              <a:t>Known as </a:t>
            </a:r>
            <a:r>
              <a:rPr lang="en-US" altLang="zh-TW" sz="3000" dirty="0">
                <a:solidFill>
                  <a:srgbClr val="0000FF"/>
                </a:solidFill>
              </a:rPr>
              <a:t>services</a:t>
            </a:r>
            <a:r>
              <a:rPr lang="en-US" altLang="zh-TW" sz="3000" dirty="0"/>
              <a:t>, </a:t>
            </a:r>
            <a:r>
              <a:rPr lang="en-US" altLang="zh-TW" sz="3000" dirty="0">
                <a:solidFill>
                  <a:srgbClr val="0000FF"/>
                </a:solidFill>
              </a:rPr>
              <a:t>subsystems</a:t>
            </a:r>
            <a:r>
              <a:rPr lang="en-US" altLang="zh-TW" sz="3000" dirty="0"/>
              <a:t>, </a:t>
            </a:r>
            <a:r>
              <a:rPr lang="en-US" altLang="zh-TW" sz="3000" dirty="0">
                <a:solidFill>
                  <a:srgbClr val="0000FF"/>
                </a:solidFill>
              </a:rPr>
              <a:t>daemons </a:t>
            </a:r>
          </a:p>
          <a:p>
            <a:pPr eaLnBrk="1" hangingPunct="1">
              <a:spcBef>
                <a:spcPts val="1800"/>
              </a:spcBef>
              <a:buFont typeface="Wingdings" pitchFamily="2" charset="2"/>
              <a:buNone/>
            </a:pPr>
            <a:endParaRPr lang="en-US" altLang="zh-TW" sz="2800" dirty="0" smtClean="0"/>
          </a:p>
        </p:txBody>
      </p:sp>
    </p:spTree>
    <p:extLst>
      <p:ext uri="{BB962C8B-B14F-4D97-AF65-F5344CB8AC3E}">
        <p14:creationId xmlns:p14="http://schemas.microsoft.com/office/powerpoint/2010/main" val="46562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0AFD534F-F802-4EDF-A8F0-87A7D83A05D3}" type="datetime1">
              <a:rPr kumimoji="0" lang="zh-TW" altLang="en-US" sz="1400" smtClean="0"/>
              <a:t>2018/3/5</a:t>
            </a:fld>
            <a:endParaRPr kumimoji="0" lang="en-US" altLang="zh-TW" sz="1400"/>
          </a:p>
        </p:txBody>
      </p:sp>
      <p:sp>
        <p:nvSpPr>
          <p:cNvPr id="2457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0387B08D-CFDD-4E1A-B4D7-BD3CA205BAC1}" type="slidenum">
              <a:rPr kumimoji="0" lang="zh-TW" altLang="en-US" sz="1400"/>
              <a:pPr algn="r" eaLnBrk="1" hangingPunct="1">
                <a:spcBef>
                  <a:spcPct val="0"/>
                </a:spcBef>
                <a:buClrTx/>
                <a:buSzTx/>
                <a:buFontTx/>
                <a:buNone/>
              </a:pPr>
              <a:t>25</a:t>
            </a:fld>
            <a:endParaRPr kumimoji="0" lang="en-US" altLang="zh-TW" sz="1400"/>
          </a:p>
        </p:txBody>
      </p:sp>
      <p:sp>
        <p:nvSpPr>
          <p:cNvPr id="24580" name="Rectangle 2"/>
          <p:cNvSpPr>
            <a:spLocks noGrp="1" noChangeArrowheads="1"/>
          </p:cNvSpPr>
          <p:nvPr>
            <p:ph type="title"/>
          </p:nvPr>
        </p:nvSpPr>
        <p:spPr>
          <a:xfrm>
            <a:off x="609600" y="304800"/>
            <a:ext cx="7772400" cy="523875"/>
          </a:xfrm>
        </p:spPr>
        <p:txBody>
          <a:bodyPr/>
          <a:lstStyle/>
          <a:p>
            <a:pPr eaLnBrk="1" hangingPunct="1"/>
            <a:r>
              <a:rPr lang="en-US" altLang="zh-TW" sz="4000" dirty="0" smtClean="0"/>
              <a:t>System Programs</a:t>
            </a:r>
          </a:p>
        </p:txBody>
      </p:sp>
      <p:sp>
        <p:nvSpPr>
          <p:cNvPr id="24581" name="Rectangle 3" descr="Rectangle: Click to edit Master text styles&#10;Second level&#10;Third level&#10;Fourth level&#10;Fifth level"/>
          <p:cNvSpPr>
            <a:spLocks noGrp="1" noChangeArrowheads="1"/>
          </p:cNvSpPr>
          <p:nvPr>
            <p:ph type="body" idx="1"/>
          </p:nvPr>
        </p:nvSpPr>
        <p:spPr>
          <a:xfrm>
            <a:off x="300038" y="1016000"/>
            <a:ext cx="8618537" cy="5554663"/>
          </a:xfrm>
        </p:spPr>
        <p:txBody>
          <a:bodyPr/>
          <a:lstStyle/>
          <a:p>
            <a:pPr eaLnBrk="1" hangingPunct="1">
              <a:lnSpc>
                <a:spcPct val="90000"/>
              </a:lnSpc>
            </a:pPr>
            <a:r>
              <a:rPr lang="en-US" altLang="zh-TW" sz="2800" dirty="0" smtClean="0"/>
              <a:t>File modification</a:t>
            </a:r>
          </a:p>
          <a:p>
            <a:pPr lvl="1" eaLnBrk="1" hangingPunct="1">
              <a:lnSpc>
                <a:spcPct val="90000"/>
              </a:lnSpc>
            </a:pPr>
            <a:r>
              <a:rPr lang="en-US" altLang="zh-TW" sz="2400" dirty="0" smtClean="0"/>
              <a:t>Text editors to create and modify files</a:t>
            </a:r>
          </a:p>
          <a:p>
            <a:pPr lvl="1" eaLnBrk="1" hangingPunct="1">
              <a:lnSpc>
                <a:spcPct val="90000"/>
              </a:lnSpc>
            </a:pPr>
            <a:r>
              <a:rPr lang="en-US" altLang="zh-TW" sz="2400" dirty="0" smtClean="0"/>
              <a:t>Special commands to </a:t>
            </a:r>
            <a:r>
              <a:rPr lang="en-US" altLang="zh-TW" sz="2400" b="1" dirty="0" smtClean="0">
                <a:solidFill>
                  <a:srgbClr val="C72F05"/>
                </a:solidFill>
              </a:rPr>
              <a:t>search</a:t>
            </a:r>
            <a:r>
              <a:rPr lang="en-US" altLang="zh-TW" sz="2400" dirty="0" smtClean="0"/>
              <a:t> contents of files or perform transformations of the text</a:t>
            </a:r>
          </a:p>
          <a:p>
            <a:pPr eaLnBrk="1" hangingPunct="1">
              <a:lnSpc>
                <a:spcPct val="90000"/>
              </a:lnSpc>
              <a:spcBef>
                <a:spcPct val="60000"/>
              </a:spcBef>
            </a:pPr>
            <a:r>
              <a:rPr lang="en-US" altLang="zh-TW" sz="2800" dirty="0" smtClean="0"/>
              <a:t>Programming-language support - Compilers, assemblers, debuggers and interpreters sometimes provided</a:t>
            </a:r>
          </a:p>
          <a:p>
            <a:pPr eaLnBrk="1" hangingPunct="1">
              <a:lnSpc>
                <a:spcPct val="90000"/>
              </a:lnSpc>
              <a:spcBef>
                <a:spcPct val="60000"/>
              </a:spcBef>
            </a:pPr>
            <a:r>
              <a:rPr lang="en-US" altLang="zh-TW" sz="2800" dirty="0" smtClean="0"/>
              <a:t>Program </a:t>
            </a:r>
            <a:r>
              <a:rPr lang="en-US" altLang="zh-TW" sz="2800" dirty="0" smtClean="0">
                <a:solidFill>
                  <a:srgbClr val="C72F05"/>
                </a:solidFill>
              </a:rPr>
              <a:t>loading</a:t>
            </a:r>
            <a:r>
              <a:rPr lang="en-US" altLang="zh-TW" sz="2800" dirty="0" smtClean="0"/>
              <a:t> and execution- </a:t>
            </a:r>
            <a:r>
              <a:rPr lang="en-US" altLang="zh-TW" sz="2800" b="1" dirty="0" smtClean="0">
                <a:solidFill>
                  <a:srgbClr val="C72F05"/>
                </a:solidFill>
              </a:rPr>
              <a:t>Absolute loaders</a:t>
            </a:r>
            <a:r>
              <a:rPr lang="en-US" altLang="zh-TW" sz="2800" dirty="0" smtClean="0"/>
              <a:t>, </a:t>
            </a:r>
            <a:r>
              <a:rPr lang="en-US" altLang="zh-TW" sz="2800" b="1" dirty="0" smtClean="0">
                <a:solidFill>
                  <a:srgbClr val="C72F05"/>
                </a:solidFill>
              </a:rPr>
              <a:t>relocatable loaders</a:t>
            </a:r>
            <a:r>
              <a:rPr lang="en-US" altLang="zh-TW" sz="2800" dirty="0" smtClean="0"/>
              <a:t>, </a:t>
            </a:r>
            <a:r>
              <a:rPr lang="en-US" altLang="zh-TW" sz="2800" b="1" dirty="0" smtClean="0">
                <a:solidFill>
                  <a:srgbClr val="C72F05"/>
                </a:solidFill>
              </a:rPr>
              <a:t>linkage editors</a:t>
            </a:r>
            <a:r>
              <a:rPr lang="en-US" altLang="zh-TW" sz="2800" dirty="0" smtClean="0"/>
              <a:t>, and </a:t>
            </a:r>
            <a:r>
              <a:rPr lang="en-US" altLang="zh-TW" sz="2800" b="1" dirty="0" smtClean="0">
                <a:solidFill>
                  <a:srgbClr val="C72F05"/>
                </a:solidFill>
              </a:rPr>
              <a:t>overlay-loaders</a:t>
            </a:r>
            <a:r>
              <a:rPr lang="en-US" altLang="zh-TW" sz="2800" dirty="0" smtClean="0"/>
              <a:t>, debugging systems for higher-level and machine language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6C8E764-9192-423F-BA52-F3D44828638E}" type="datetime1">
              <a:rPr kumimoji="0" lang="zh-TW" altLang="en-US" sz="1400" smtClean="0"/>
              <a:t>2018/3/5</a:t>
            </a:fld>
            <a:endParaRPr kumimoji="0" lang="en-US" altLang="zh-TW" sz="1400"/>
          </a:p>
        </p:txBody>
      </p:sp>
      <p:sp>
        <p:nvSpPr>
          <p:cNvPr id="25603"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B62800EF-011F-4AAB-886C-87D206AEEDAB}" type="slidenum">
              <a:rPr kumimoji="0" lang="zh-TW" altLang="en-US" sz="1400"/>
              <a:pPr algn="r" eaLnBrk="1" hangingPunct="1">
                <a:spcBef>
                  <a:spcPct val="0"/>
                </a:spcBef>
                <a:buClrTx/>
                <a:buSzTx/>
                <a:buFontTx/>
                <a:buNone/>
              </a:pPr>
              <a:t>26</a:t>
            </a:fld>
            <a:endParaRPr kumimoji="0" lang="en-US" altLang="zh-TW" sz="1400"/>
          </a:p>
        </p:txBody>
      </p:sp>
      <p:sp>
        <p:nvSpPr>
          <p:cNvPr id="25604" name="Rectangle 2"/>
          <p:cNvSpPr>
            <a:spLocks noGrp="1" noChangeArrowheads="1"/>
          </p:cNvSpPr>
          <p:nvPr>
            <p:ph type="title"/>
          </p:nvPr>
        </p:nvSpPr>
        <p:spPr>
          <a:xfrm>
            <a:off x="596900" y="520700"/>
            <a:ext cx="7772400" cy="523875"/>
          </a:xfrm>
        </p:spPr>
        <p:txBody>
          <a:bodyPr/>
          <a:lstStyle/>
          <a:p>
            <a:pPr eaLnBrk="1" hangingPunct="1"/>
            <a:r>
              <a:rPr lang="en-US" altLang="zh-TW" sz="4000" dirty="0" smtClean="0"/>
              <a:t>System Programs</a:t>
            </a:r>
          </a:p>
        </p:txBody>
      </p:sp>
      <p:sp>
        <p:nvSpPr>
          <p:cNvPr id="25605" name="Rectangle 3" descr="Rectangle: Click to edit Master text styles&#10;Second level&#10;Third level&#10;Fourth level&#10;Fifth level"/>
          <p:cNvSpPr>
            <a:spLocks noGrp="1" noChangeArrowheads="1"/>
          </p:cNvSpPr>
          <p:nvPr>
            <p:ph type="body" idx="1"/>
          </p:nvPr>
        </p:nvSpPr>
        <p:spPr>
          <a:xfrm>
            <a:off x="300038" y="1339850"/>
            <a:ext cx="8618537" cy="5230813"/>
          </a:xfrm>
        </p:spPr>
        <p:txBody>
          <a:bodyPr/>
          <a:lstStyle/>
          <a:p>
            <a:pPr eaLnBrk="1" hangingPunct="1">
              <a:lnSpc>
                <a:spcPct val="90000"/>
              </a:lnSpc>
            </a:pPr>
            <a:r>
              <a:rPr lang="en-US" altLang="zh-TW" b="1" dirty="0" smtClean="0">
                <a:solidFill>
                  <a:srgbClr val="C72F05"/>
                </a:solidFill>
              </a:rPr>
              <a:t>Communications</a:t>
            </a:r>
            <a:r>
              <a:rPr lang="en-US" altLang="zh-TW" dirty="0" smtClean="0"/>
              <a:t> - Provide the mechanism for creating </a:t>
            </a:r>
            <a:r>
              <a:rPr lang="en-US" altLang="zh-TW" dirty="0" smtClean="0">
                <a:solidFill>
                  <a:srgbClr val="0000FF"/>
                </a:solidFill>
              </a:rPr>
              <a:t>virtual connections </a:t>
            </a:r>
            <a:r>
              <a:rPr lang="en-US" altLang="zh-TW" dirty="0" smtClean="0"/>
              <a:t>among </a:t>
            </a:r>
            <a:r>
              <a:rPr lang="en-US" altLang="zh-TW" dirty="0" smtClean="0">
                <a:solidFill>
                  <a:srgbClr val="D60093"/>
                </a:solidFill>
              </a:rPr>
              <a:t>processes</a:t>
            </a:r>
            <a:r>
              <a:rPr lang="en-US" altLang="zh-TW" dirty="0" smtClean="0"/>
              <a:t>, </a:t>
            </a:r>
            <a:r>
              <a:rPr lang="en-US" altLang="zh-TW" dirty="0" smtClean="0">
                <a:solidFill>
                  <a:srgbClr val="D60093"/>
                </a:solidFill>
              </a:rPr>
              <a:t>users</a:t>
            </a:r>
            <a:r>
              <a:rPr lang="en-US" altLang="zh-TW" dirty="0" smtClean="0"/>
              <a:t>, and </a:t>
            </a:r>
            <a:r>
              <a:rPr lang="en-US" altLang="zh-TW" dirty="0" smtClean="0">
                <a:solidFill>
                  <a:srgbClr val="D60093"/>
                </a:solidFill>
              </a:rPr>
              <a:t>computer systems</a:t>
            </a:r>
          </a:p>
          <a:p>
            <a:pPr lvl="1" eaLnBrk="1" hangingPunct="1">
              <a:lnSpc>
                <a:spcPct val="90000"/>
              </a:lnSpc>
              <a:spcBef>
                <a:spcPct val="50000"/>
              </a:spcBef>
            </a:pPr>
            <a:r>
              <a:rPr lang="en-US" altLang="zh-TW" dirty="0" smtClean="0"/>
              <a:t>Allow users to send messages to one another</a:t>
            </a:r>
            <a:r>
              <a:rPr lang="en-US" altLang="zh-TW" dirty="0" smtClean="0">
                <a:latin typeface="Helvetica" pitchFamily="34" charset="0"/>
              </a:rPr>
              <a:t>’</a:t>
            </a:r>
            <a:r>
              <a:rPr lang="en-US" altLang="zh-TW" dirty="0" smtClean="0"/>
              <a:t>s screens, browse web pages, send electronic-mail messages, log in remotely, transfer files from one machine to another</a:t>
            </a:r>
            <a:endParaRPr lang="zh-TW" altLang="en-US"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6E5CEC5D-38EE-4FEA-9A5A-ED276F1B99AB}" type="datetime1">
              <a:rPr kumimoji="0" lang="zh-TW" altLang="en-US" sz="1400" smtClean="0"/>
              <a:t>2018/3/5</a:t>
            </a:fld>
            <a:endParaRPr kumimoji="0" lang="en-US" altLang="zh-TW" sz="1400"/>
          </a:p>
        </p:txBody>
      </p:sp>
      <p:sp>
        <p:nvSpPr>
          <p:cNvPr id="26627"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0C02CC78-482D-4072-938C-4AE994B00BC0}" type="slidenum">
              <a:rPr kumimoji="0" lang="zh-TW" altLang="en-US" sz="1400"/>
              <a:pPr algn="r" eaLnBrk="1" hangingPunct="1">
                <a:spcBef>
                  <a:spcPct val="0"/>
                </a:spcBef>
                <a:buClrTx/>
                <a:buSzTx/>
                <a:buFontTx/>
                <a:buNone/>
              </a:pPr>
              <a:t>27</a:t>
            </a:fld>
            <a:endParaRPr kumimoji="0" lang="en-US" altLang="zh-TW" sz="1400"/>
          </a:p>
        </p:txBody>
      </p:sp>
      <p:sp>
        <p:nvSpPr>
          <p:cNvPr id="26628" name="Rectangle 2"/>
          <p:cNvSpPr>
            <a:spLocks noGrp="1" noChangeArrowheads="1"/>
          </p:cNvSpPr>
          <p:nvPr>
            <p:ph type="title"/>
          </p:nvPr>
        </p:nvSpPr>
        <p:spPr>
          <a:xfrm>
            <a:off x="587375" y="0"/>
            <a:ext cx="7772400" cy="1143000"/>
          </a:xfrm>
        </p:spPr>
        <p:txBody>
          <a:bodyPr/>
          <a:lstStyle/>
          <a:p>
            <a:pPr eaLnBrk="1" hangingPunct="1"/>
            <a:r>
              <a:rPr lang="en-US" altLang="zh-TW" smtClean="0"/>
              <a:t>Communication Models</a:t>
            </a:r>
            <a:endParaRPr lang="en-US" altLang="zh-TW" sz="3600" smtClean="0"/>
          </a:p>
        </p:txBody>
      </p:sp>
      <p:sp>
        <p:nvSpPr>
          <p:cNvPr id="26629" name="Text Box 3"/>
          <p:cNvSpPr txBox="1">
            <a:spLocks noChangeArrowheads="1"/>
          </p:cNvSpPr>
          <p:nvPr/>
        </p:nvSpPr>
        <p:spPr bwMode="auto">
          <a:xfrm>
            <a:off x="1743075" y="5572125"/>
            <a:ext cx="149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a:spcBef>
                <a:spcPct val="50000"/>
              </a:spcBef>
              <a:buClrTx/>
              <a:buSzTx/>
              <a:buFontTx/>
              <a:buNone/>
            </a:pPr>
            <a:r>
              <a:rPr kumimoji="0" lang="en-US" altLang="zh-TW" sz="1800">
                <a:latin typeface="Helvetica" pitchFamily="34" charset="0"/>
              </a:rPr>
              <a:t>Msg Passing</a:t>
            </a:r>
          </a:p>
        </p:txBody>
      </p:sp>
      <p:sp>
        <p:nvSpPr>
          <p:cNvPr id="26630" name="Text Box 4"/>
          <p:cNvSpPr txBox="1">
            <a:spLocks noChangeArrowheads="1"/>
          </p:cNvSpPr>
          <p:nvPr/>
        </p:nvSpPr>
        <p:spPr bwMode="auto">
          <a:xfrm>
            <a:off x="4799013" y="5572125"/>
            <a:ext cx="18049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a:spcBef>
                <a:spcPct val="50000"/>
              </a:spcBef>
              <a:buClrTx/>
              <a:buSzTx/>
              <a:buFontTx/>
              <a:buNone/>
            </a:pPr>
            <a:r>
              <a:rPr kumimoji="0" lang="en-US" altLang="zh-TW" sz="1800">
                <a:latin typeface="Helvetica" pitchFamily="34" charset="0"/>
              </a:rPr>
              <a:t>Shared Memory</a:t>
            </a:r>
          </a:p>
        </p:txBody>
      </p:sp>
      <p:sp>
        <p:nvSpPr>
          <p:cNvPr id="26631" name="Rectangle 5"/>
          <p:cNvSpPr>
            <a:spLocks noChangeArrowheads="1"/>
          </p:cNvSpPr>
          <p:nvPr/>
        </p:nvSpPr>
        <p:spPr bwMode="auto">
          <a:xfrm>
            <a:off x="847725" y="974725"/>
            <a:ext cx="721836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spcBef>
                <a:spcPct val="0"/>
              </a:spcBef>
              <a:buClrTx/>
              <a:buSzTx/>
              <a:buFontTx/>
              <a:buNone/>
            </a:pPr>
            <a:r>
              <a:rPr kumimoji="0" lang="en-US" altLang="zh-TW" sz="2400">
                <a:latin typeface="Times New Roman" pitchFamily="18" charset="0"/>
              </a:rPr>
              <a:t>Communication may take place using either </a:t>
            </a:r>
            <a:r>
              <a:rPr kumimoji="0" lang="en-US" altLang="zh-TW" sz="2400">
                <a:solidFill>
                  <a:srgbClr val="C72F05"/>
                </a:solidFill>
                <a:latin typeface="Times New Roman" pitchFamily="18" charset="0"/>
              </a:rPr>
              <a:t>message passing</a:t>
            </a:r>
            <a:r>
              <a:rPr kumimoji="0" lang="en-US" altLang="zh-TW" sz="2400">
                <a:latin typeface="Times New Roman" pitchFamily="18" charset="0"/>
              </a:rPr>
              <a:t> or </a:t>
            </a:r>
            <a:r>
              <a:rPr kumimoji="0" lang="en-US" altLang="zh-TW" sz="2400">
                <a:solidFill>
                  <a:srgbClr val="C72F05"/>
                </a:solidFill>
                <a:latin typeface="Times New Roman" pitchFamily="18" charset="0"/>
              </a:rPr>
              <a:t>shared memory</a:t>
            </a:r>
            <a:r>
              <a:rPr kumimoji="0" lang="en-US" altLang="zh-TW" sz="2400">
                <a:latin typeface="Times New Roman" pitchFamily="18" charset="0"/>
              </a:rPr>
              <a:t>.</a:t>
            </a:r>
          </a:p>
        </p:txBody>
      </p:sp>
      <p:pic>
        <p:nvPicPr>
          <p:cNvPr id="26632" name="Picture 6"/>
          <p:cNvPicPr>
            <a:picLocks noChangeAspect="1" noChangeArrowheads="1"/>
          </p:cNvPicPr>
          <p:nvPr/>
        </p:nvPicPr>
        <p:blipFill>
          <a:blip r:embed="rId4">
            <a:extLst>
              <a:ext uri="{28A0092B-C50C-407E-A947-70E740481C1C}">
                <a14:useLocalDpi xmlns:a14="http://schemas.microsoft.com/office/drawing/2010/main" val="0"/>
              </a:ext>
            </a:extLst>
          </a:blip>
          <a:srcRect l="1248" t="7372" r="1248" b="13397"/>
          <a:stretch>
            <a:fillRect/>
          </a:stretch>
        </p:blipFill>
        <p:spPr bwMode="auto">
          <a:xfrm>
            <a:off x="1420813" y="1912938"/>
            <a:ext cx="5702300" cy="3476625"/>
          </a:xfrm>
          <a:prstGeom prst="rect">
            <a:avLst/>
          </a:prstGeom>
          <a:noFill/>
          <a:ln w="76200" cmpd="tri">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13CEAD1-96B6-4DBE-8BCA-DE56AE6A54BF}" type="datetime1">
              <a:rPr kumimoji="0" lang="zh-TW" altLang="en-US" sz="1400" smtClean="0"/>
              <a:t>2018/3/5</a:t>
            </a:fld>
            <a:endParaRPr kumimoji="0" lang="en-US" altLang="zh-TW" sz="1400"/>
          </a:p>
        </p:txBody>
      </p:sp>
      <p:sp>
        <p:nvSpPr>
          <p:cNvPr id="2969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CC297634-FDCA-46B9-BE5B-DCE850C42905}" type="slidenum">
              <a:rPr kumimoji="0" lang="zh-TW" altLang="en-US" sz="1400"/>
              <a:pPr algn="r" eaLnBrk="1" hangingPunct="1">
                <a:spcBef>
                  <a:spcPct val="0"/>
                </a:spcBef>
                <a:buClrTx/>
                <a:buSzTx/>
                <a:buFontTx/>
                <a:buNone/>
              </a:pPr>
              <a:t>28</a:t>
            </a:fld>
            <a:endParaRPr kumimoji="0" lang="en-US" altLang="zh-TW" sz="1400"/>
          </a:p>
        </p:txBody>
      </p:sp>
      <p:sp>
        <p:nvSpPr>
          <p:cNvPr id="29700" name="Rectangle 2"/>
          <p:cNvSpPr>
            <a:spLocks noGrp="1" noChangeArrowheads="1"/>
          </p:cNvSpPr>
          <p:nvPr>
            <p:ph type="title"/>
          </p:nvPr>
        </p:nvSpPr>
        <p:spPr>
          <a:xfrm>
            <a:off x="609600" y="304800"/>
            <a:ext cx="7772400" cy="794535"/>
          </a:xfrm>
        </p:spPr>
        <p:txBody>
          <a:bodyPr/>
          <a:lstStyle/>
          <a:p>
            <a:pPr eaLnBrk="1" hangingPunct="1"/>
            <a:r>
              <a:rPr lang="en-US" altLang="zh-TW" sz="4000" b="1" dirty="0" smtClean="0">
                <a:solidFill>
                  <a:schemeClr val="tx1"/>
                </a:solidFill>
                <a:latin typeface="Adobe Gothic Std B" pitchFamily="34" charset="-128"/>
                <a:ea typeface="Adobe Gothic Std B" pitchFamily="34" charset="-128"/>
              </a:rPr>
              <a:t>Design</a:t>
            </a:r>
            <a:endParaRPr lang="en-US" altLang="zh-TW" sz="4000" dirty="0" smtClean="0">
              <a:solidFill>
                <a:schemeClr val="tx1"/>
              </a:solidFill>
              <a:latin typeface="Adobe Gothic Std B" pitchFamily="34" charset="-128"/>
              <a:ea typeface="Adobe Gothic Std B" pitchFamily="34" charset="-128"/>
            </a:endParaRPr>
          </a:p>
        </p:txBody>
      </p:sp>
      <p:sp>
        <p:nvSpPr>
          <p:cNvPr id="231427" name="Rectangle 3" descr="Rectangle: Click to edit Master text styles&#10;Second level&#10;Third level&#10;Fourth level&#10;Fifth level"/>
          <p:cNvSpPr>
            <a:spLocks noGrp="1" noChangeArrowheads="1"/>
          </p:cNvSpPr>
          <p:nvPr>
            <p:ph type="body" idx="1"/>
          </p:nvPr>
        </p:nvSpPr>
        <p:spPr>
          <a:xfrm>
            <a:off x="217666" y="1426914"/>
            <a:ext cx="8632825" cy="4532097"/>
          </a:xfrm>
        </p:spPr>
        <p:txBody>
          <a:bodyPr/>
          <a:lstStyle/>
          <a:p>
            <a:pPr eaLnBrk="1" hangingPunct="1">
              <a:spcBef>
                <a:spcPct val="75000"/>
              </a:spcBef>
            </a:pPr>
            <a:r>
              <a:rPr lang="en-US" altLang="zh-TW" sz="2800" dirty="0" smtClean="0"/>
              <a:t>Design and Implementation of OS </a:t>
            </a:r>
            <a:r>
              <a:rPr lang="en-US" altLang="zh-TW" sz="2800" dirty="0" smtClean="0">
                <a:solidFill>
                  <a:srgbClr val="0000FF"/>
                </a:solidFill>
              </a:rPr>
              <a:t>not </a:t>
            </a:r>
            <a:r>
              <a:rPr lang="en-US" altLang="zh-TW" sz="2800" dirty="0" smtClean="0">
                <a:solidFill>
                  <a:srgbClr val="0000FF"/>
                </a:solidFill>
                <a:latin typeface="Helvetica" pitchFamily="34" charset="0"/>
              </a:rPr>
              <a:t>“</a:t>
            </a:r>
            <a:r>
              <a:rPr lang="en-US" altLang="zh-TW" sz="2800" dirty="0" smtClean="0">
                <a:solidFill>
                  <a:srgbClr val="0000FF"/>
                </a:solidFill>
              </a:rPr>
              <a:t>solvable</a:t>
            </a:r>
            <a:r>
              <a:rPr lang="en-US" altLang="zh-TW" sz="2800" dirty="0" smtClean="0">
                <a:latin typeface="Helvetica" pitchFamily="34" charset="0"/>
              </a:rPr>
              <a:t>”</a:t>
            </a:r>
            <a:r>
              <a:rPr lang="en-US" altLang="zh-TW" sz="2800" dirty="0" smtClean="0"/>
              <a:t>, but some approaches have proven successful</a:t>
            </a:r>
          </a:p>
          <a:p>
            <a:pPr eaLnBrk="1" hangingPunct="1">
              <a:spcBef>
                <a:spcPct val="75000"/>
              </a:spcBef>
            </a:pPr>
            <a:r>
              <a:rPr lang="en-US" altLang="zh-TW" sz="2800" dirty="0" smtClean="0"/>
              <a:t>Internal structure of different Operating Systems  can vary widely</a:t>
            </a:r>
          </a:p>
          <a:p>
            <a:pPr eaLnBrk="1" hangingPunct="1">
              <a:spcBef>
                <a:spcPct val="75000"/>
              </a:spcBef>
            </a:pPr>
            <a:r>
              <a:rPr lang="en-US" altLang="zh-TW" sz="2800" dirty="0" smtClean="0"/>
              <a:t>Start by defining </a:t>
            </a:r>
            <a:r>
              <a:rPr lang="en-US" altLang="zh-TW" sz="2800" b="1" dirty="0" smtClean="0">
                <a:solidFill>
                  <a:srgbClr val="C72F05"/>
                </a:solidFill>
              </a:rPr>
              <a:t>goals</a:t>
            </a:r>
            <a:r>
              <a:rPr lang="en-US" altLang="zh-TW" sz="2800" dirty="0" smtClean="0"/>
              <a:t> and </a:t>
            </a:r>
            <a:r>
              <a:rPr lang="en-US" altLang="zh-TW" sz="2800" b="1" dirty="0" smtClean="0">
                <a:solidFill>
                  <a:srgbClr val="C72F05"/>
                </a:solidFill>
              </a:rPr>
              <a:t>specifications</a:t>
            </a:r>
            <a:r>
              <a:rPr lang="en-US" altLang="zh-TW" sz="2800" dirty="0" smtClean="0"/>
              <a:t> </a:t>
            </a:r>
          </a:p>
          <a:p>
            <a:pPr eaLnBrk="1" hangingPunct="1">
              <a:spcBef>
                <a:spcPct val="75000"/>
              </a:spcBef>
            </a:pPr>
            <a:r>
              <a:rPr lang="en-US" altLang="zh-TW" sz="2800" dirty="0" smtClean="0"/>
              <a:t>Affected by choice of hardware, type of system</a:t>
            </a:r>
            <a:endParaRPr lang="en-US" altLang="zh-TW" dirty="0" smtClean="0">
              <a:solidFill>
                <a:srgbClr val="C72F05"/>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1427">
                                            <p:txEl>
                                              <p:pRg st="2" end="2"/>
                                            </p:txEl>
                                          </p:spTgt>
                                        </p:tgtEl>
                                        <p:attrNameLst>
                                          <p:attrName>style.visibility</p:attrName>
                                        </p:attrNameLst>
                                      </p:cBhvr>
                                      <p:to>
                                        <p:strVal val="visible"/>
                                      </p:to>
                                    </p:set>
                                    <p:anim calcmode="lin" valueType="num">
                                      <p:cBhvr additive="base">
                                        <p:cTn id="7" dur="500" fill="hold"/>
                                        <p:tgtEl>
                                          <p:spTgt spid="23142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14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1427">
                                            <p:txEl>
                                              <p:pRg st="3" end="3"/>
                                            </p:txEl>
                                          </p:spTgt>
                                        </p:tgtEl>
                                        <p:attrNameLst>
                                          <p:attrName>style.visibility</p:attrName>
                                        </p:attrNameLst>
                                      </p:cBhvr>
                                      <p:to>
                                        <p:strVal val="visible"/>
                                      </p:to>
                                    </p:set>
                                    <p:anim calcmode="lin" valueType="num">
                                      <p:cBhvr additive="base">
                                        <p:cTn id="13" dur="500" fill="hold"/>
                                        <p:tgtEl>
                                          <p:spTgt spid="23142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14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FBD36C87-1E49-446B-9BC6-A3DEF952A475}" type="datetime1">
              <a:rPr kumimoji="0" lang="zh-TW" altLang="en-US" sz="1400"/>
              <a:pPr eaLnBrk="1" hangingPunct="1">
                <a:spcBef>
                  <a:spcPct val="0"/>
                </a:spcBef>
                <a:buClrTx/>
                <a:buSzTx/>
                <a:buFontTx/>
                <a:buNone/>
              </a:pPr>
              <a:t>2018/3/5</a:t>
            </a:fld>
            <a:endParaRPr kumimoji="0" lang="en-US" altLang="zh-TW" sz="1400"/>
          </a:p>
        </p:txBody>
      </p:sp>
      <p:sp>
        <p:nvSpPr>
          <p:cNvPr id="30723"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65255BC1-9B8A-41ED-A724-5D4DF675C1C1}" type="slidenum">
              <a:rPr kumimoji="0" lang="zh-TW" altLang="en-US" sz="1400"/>
              <a:pPr algn="r" eaLnBrk="1" hangingPunct="1">
                <a:spcBef>
                  <a:spcPct val="0"/>
                </a:spcBef>
                <a:buClrTx/>
                <a:buSzTx/>
                <a:buFontTx/>
                <a:buNone/>
              </a:pPr>
              <a:t>29</a:t>
            </a:fld>
            <a:endParaRPr kumimoji="0" lang="en-US" altLang="zh-TW" sz="1400"/>
          </a:p>
        </p:txBody>
      </p:sp>
      <p:sp>
        <p:nvSpPr>
          <p:cNvPr id="30724" name="Rectangle 2"/>
          <p:cNvSpPr>
            <a:spLocks noGrp="1" noChangeArrowheads="1"/>
          </p:cNvSpPr>
          <p:nvPr>
            <p:ph type="title" idx="4294967295"/>
          </p:nvPr>
        </p:nvSpPr>
        <p:spPr>
          <a:xfrm>
            <a:off x="609600" y="304800"/>
            <a:ext cx="7772400" cy="702067"/>
          </a:xfrm>
        </p:spPr>
        <p:txBody>
          <a:bodyPr/>
          <a:lstStyle/>
          <a:p>
            <a:pPr eaLnBrk="1" hangingPunct="1"/>
            <a:r>
              <a:rPr lang="en-US" altLang="zh-TW" sz="4000" b="1" dirty="0" smtClean="0">
                <a:solidFill>
                  <a:schemeClr val="tx1"/>
                </a:solidFill>
                <a:latin typeface="Adobe Gothic Std B" pitchFamily="34" charset="-128"/>
                <a:ea typeface="Adobe Gothic Std B" pitchFamily="34" charset="-128"/>
              </a:rPr>
              <a:t>Design</a:t>
            </a:r>
            <a:endParaRPr lang="en-US" altLang="zh-TW" sz="4000" b="1" dirty="0">
              <a:solidFill>
                <a:schemeClr val="tx1"/>
              </a:solidFill>
              <a:latin typeface="Adobe Gothic Std B" pitchFamily="34" charset="-128"/>
              <a:ea typeface="Adobe Gothic Std B" pitchFamily="34" charset="-128"/>
            </a:endParaRPr>
          </a:p>
        </p:txBody>
      </p:sp>
      <p:sp>
        <p:nvSpPr>
          <p:cNvPr id="231427" name="Rectangle 3" descr="Rectangle: Click to edit Master text styles&#10;Second level&#10;Third level&#10;Fourth level&#10;Fifth level"/>
          <p:cNvSpPr>
            <a:spLocks noGrp="1" noChangeArrowheads="1"/>
          </p:cNvSpPr>
          <p:nvPr>
            <p:ph type="body" idx="4294967295"/>
          </p:nvPr>
        </p:nvSpPr>
        <p:spPr>
          <a:xfrm>
            <a:off x="176569" y="1347324"/>
            <a:ext cx="8632825" cy="4729162"/>
          </a:xfrm>
        </p:spPr>
        <p:txBody>
          <a:bodyPr/>
          <a:lstStyle/>
          <a:p>
            <a:pPr eaLnBrk="1" hangingPunct="1"/>
            <a:r>
              <a:rPr lang="en-US" altLang="zh-TW" sz="2800" dirty="0" smtClean="0">
                <a:solidFill>
                  <a:srgbClr val="D60093"/>
                </a:solidFill>
              </a:rPr>
              <a:t>User goals and System goals</a:t>
            </a:r>
          </a:p>
          <a:p>
            <a:pPr lvl="1" eaLnBrk="1" hangingPunct="1">
              <a:spcBef>
                <a:spcPct val="60000"/>
              </a:spcBef>
            </a:pPr>
            <a:r>
              <a:rPr lang="en-US" altLang="zh-TW" dirty="0" smtClean="0">
                <a:solidFill>
                  <a:srgbClr val="FF0000"/>
                </a:solidFill>
              </a:rPr>
              <a:t>User</a:t>
            </a:r>
            <a:r>
              <a:rPr lang="en-US" altLang="zh-TW" dirty="0" smtClean="0"/>
              <a:t> goals </a:t>
            </a:r>
            <a:r>
              <a:rPr lang="en-US" altLang="zh-TW" dirty="0" smtClean="0">
                <a:latin typeface="Helvetica" pitchFamily="34" charset="0"/>
              </a:rPr>
              <a:t>–</a:t>
            </a:r>
            <a:r>
              <a:rPr lang="en-US" altLang="zh-TW" dirty="0" smtClean="0"/>
              <a:t> operating system should be </a:t>
            </a:r>
            <a:r>
              <a:rPr lang="en-US" altLang="zh-TW" dirty="0" smtClean="0">
                <a:solidFill>
                  <a:srgbClr val="0000FF"/>
                </a:solidFill>
              </a:rPr>
              <a:t>convenient to use, easy to learn, reliable, safe, and fast</a:t>
            </a:r>
          </a:p>
          <a:p>
            <a:pPr lvl="1" eaLnBrk="1" hangingPunct="1">
              <a:spcBef>
                <a:spcPct val="60000"/>
              </a:spcBef>
            </a:pPr>
            <a:r>
              <a:rPr lang="en-US" altLang="zh-TW" dirty="0" smtClean="0">
                <a:solidFill>
                  <a:srgbClr val="FF0000"/>
                </a:solidFill>
              </a:rPr>
              <a:t>System</a:t>
            </a:r>
            <a:r>
              <a:rPr lang="en-US" altLang="zh-TW" dirty="0" smtClean="0"/>
              <a:t> goals </a:t>
            </a:r>
            <a:r>
              <a:rPr lang="en-US" altLang="zh-TW" dirty="0" smtClean="0">
                <a:latin typeface="Helvetica" pitchFamily="34" charset="0"/>
              </a:rPr>
              <a:t>–</a:t>
            </a:r>
            <a:r>
              <a:rPr lang="en-US" altLang="zh-TW" dirty="0" smtClean="0"/>
              <a:t> operating system should be </a:t>
            </a:r>
            <a:r>
              <a:rPr lang="en-US" altLang="zh-TW" sz="3200" b="1" dirty="0" smtClean="0">
                <a:solidFill>
                  <a:srgbClr val="000000"/>
                </a:solidFill>
              </a:rPr>
              <a:t>easy to design, implement, and maintain</a:t>
            </a:r>
            <a:r>
              <a:rPr lang="en-US" altLang="zh-TW" dirty="0" smtClean="0"/>
              <a:t>, as well as</a:t>
            </a:r>
            <a:r>
              <a:rPr lang="en-US" altLang="zh-TW" sz="3200" dirty="0" smtClean="0"/>
              <a:t> </a:t>
            </a:r>
            <a:r>
              <a:rPr lang="en-US" altLang="zh-TW" sz="3200" dirty="0" smtClean="0">
                <a:solidFill>
                  <a:srgbClr val="C72F05"/>
                </a:solidFill>
              </a:rPr>
              <a:t>flexible</a:t>
            </a:r>
            <a:r>
              <a:rPr lang="en-US" altLang="zh-TW" sz="3200" dirty="0" smtClean="0"/>
              <a:t>, </a:t>
            </a:r>
            <a:r>
              <a:rPr lang="en-US" altLang="zh-TW" sz="3200" dirty="0" smtClean="0">
                <a:solidFill>
                  <a:srgbClr val="C72F05"/>
                </a:solidFill>
              </a:rPr>
              <a:t>reliable</a:t>
            </a:r>
            <a:r>
              <a:rPr lang="en-US" altLang="zh-TW" sz="3200" dirty="0" smtClean="0"/>
              <a:t>, </a:t>
            </a:r>
            <a:r>
              <a:rPr lang="en-US" altLang="zh-TW" sz="3200" dirty="0" smtClean="0">
                <a:solidFill>
                  <a:srgbClr val="C72F05"/>
                </a:solidFill>
              </a:rPr>
              <a:t>error-free</a:t>
            </a:r>
            <a:r>
              <a:rPr lang="en-US" altLang="zh-TW" sz="3200" dirty="0" smtClean="0"/>
              <a:t>, and </a:t>
            </a:r>
            <a:r>
              <a:rPr lang="en-US" altLang="zh-TW" sz="3200" dirty="0" smtClean="0">
                <a:solidFill>
                  <a:srgbClr val="C72F05"/>
                </a:solidFill>
              </a:rPr>
              <a:t>efficient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1427">
                                            <p:txEl>
                                              <p:pRg st="1" end="1"/>
                                            </p:txEl>
                                          </p:spTgt>
                                        </p:tgtEl>
                                        <p:attrNameLst>
                                          <p:attrName>style.visibility</p:attrName>
                                        </p:attrNameLst>
                                      </p:cBhvr>
                                      <p:to>
                                        <p:strVal val="visible"/>
                                      </p:to>
                                    </p:set>
                                    <p:anim calcmode="lin" valueType="num">
                                      <p:cBhvr additive="base">
                                        <p:cTn id="13" dur="500" fill="hold"/>
                                        <p:tgtEl>
                                          <p:spTgt spid="2314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14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1427">
                                            <p:txEl>
                                              <p:pRg st="2" end="2"/>
                                            </p:txEl>
                                          </p:spTgt>
                                        </p:tgtEl>
                                        <p:attrNameLst>
                                          <p:attrName>style.visibility</p:attrName>
                                        </p:attrNameLst>
                                      </p:cBhvr>
                                      <p:to>
                                        <p:strVal val="visible"/>
                                      </p:to>
                                    </p:set>
                                    <p:anim calcmode="lin" valueType="num">
                                      <p:cBhvr additive="base">
                                        <p:cTn id="19" dur="500" fill="hold"/>
                                        <p:tgtEl>
                                          <p:spTgt spid="2314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14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A2C0917-7DDF-4D9B-ABB0-B2E94ADBC23C}"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30</a:t>
            </a:fld>
            <a:endParaRPr kumimoji="0" lang="en-US" altLang="zh-TW" sz="1400"/>
          </a:p>
        </p:txBody>
      </p:sp>
      <p:sp>
        <p:nvSpPr>
          <p:cNvPr id="54274" name="Rectangle 2"/>
          <p:cNvSpPr>
            <a:spLocks noGrp="1" noChangeArrowheads="1"/>
          </p:cNvSpPr>
          <p:nvPr>
            <p:ph type="title"/>
          </p:nvPr>
        </p:nvSpPr>
        <p:spPr>
          <a:xfrm>
            <a:off x="384228" y="164387"/>
            <a:ext cx="7772400" cy="745090"/>
          </a:xfrm>
        </p:spPr>
        <p:txBody>
          <a:bodyPr/>
          <a:lstStyle/>
          <a:p>
            <a:pPr eaLnBrk="1" hangingPunct="1">
              <a:defRPr/>
            </a:pPr>
            <a:r>
              <a:rPr lang="en-US" altLang="zh-TW" sz="4000" b="1" dirty="0">
                <a:solidFill>
                  <a:schemeClr val="tx1"/>
                </a:solidFill>
                <a:latin typeface="Adobe Gothic Std B" pitchFamily="34" charset="-128"/>
                <a:ea typeface="Adobe Gothic Std B" pitchFamily="34" charset="-128"/>
              </a:rPr>
              <a:t>Mechanisms and Policies</a:t>
            </a:r>
          </a:p>
        </p:txBody>
      </p:sp>
      <p:sp>
        <p:nvSpPr>
          <p:cNvPr id="31749" name="Rectangle 3" descr="Rectangle: Click to edit Master text styles&#10;Second level&#10;Third level&#10;Fourth level&#10;Fifth level"/>
          <p:cNvSpPr>
            <a:spLocks noGrp="1" noChangeArrowheads="1"/>
          </p:cNvSpPr>
          <p:nvPr>
            <p:ph type="body" idx="1"/>
          </p:nvPr>
        </p:nvSpPr>
        <p:spPr>
          <a:xfrm>
            <a:off x="349320" y="1027417"/>
            <a:ext cx="8414535" cy="5311738"/>
          </a:xfrm>
        </p:spPr>
        <p:txBody>
          <a:bodyPr/>
          <a:lstStyle/>
          <a:p>
            <a:pPr eaLnBrk="1" hangingPunct="1">
              <a:lnSpc>
                <a:spcPct val="90000"/>
              </a:lnSpc>
              <a:spcBef>
                <a:spcPct val="60000"/>
              </a:spcBef>
              <a:buFont typeface="Wingdings" panose="05000000000000000000" pitchFamily="2" charset="2"/>
              <a:buChar char="n"/>
            </a:pPr>
            <a:r>
              <a:rPr lang="en-US" altLang="zh-TW" sz="2800" b="1" dirty="0" smtClean="0">
                <a:solidFill>
                  <a:srgbClr val="C72F05"/>
                </a:solidFill>
              </a:rPr>
              <a:t>Mechanism</a:t>
            </a:r>
            <a:r>
              <a:rPr lang="en-US" altLang="zh-TW" sz="2800" dirty="0" smtClean="0"/>
              <a:t>: determine </a:t>
            </a:r>
            <a:r>
              <a:rPr lang="en-US" altLang="zh-TW" sz="2800" u="sng" dirty="0" smtClean="0">
                <a:solidFill>
                  <a:srgbClr val="0000FF"/>
                </a:solidFill>
              </a:rPr>
              <a:t>how to do</a:t>
            </a:r>
            <a:r>
              <a:rPr lang="en-US" altLang="zh-TW" sz="2800" dirty="0" smtClean="0">
                <a:solidFill>
                  <a:srgbClr val="0000FF"/>
                </a:solidFill>
              </a:rPr>
              <a:t> </a:t>
            </a:r>
            <a:r>
              <a:rPr lang="en-US" altLang="zh-TW" sz="2800" u="sng" dirty="0" smtClean="0">
                <a:solidFill>
                  <a:srgbClr val="0000FF"/>
                </a:solidFill>
              </a:rPr>
              <a:t>something</a:t>
            </a:r>
            <a:r>
              <a:rPr lang="en-US" altLang="zh-TW" sz="2800" dirty="0" smtClean="0"/>
              <a:t>, e.g., </a:t>
            </a:r>
            <a:r>
              <a:rPr lang="en-US" altLang="zh-TW" sz="2400" dirty="0" smtClean="0"/>
              <a:t>protect CPU using timer</a:t>
            </a:r>
            <a:r>
              <a:rPr lang="en-US" altLang="zh-TW" sz="2800" dirty="0" smtClean="0"/>
              <a:t>.</a:t>
            </a:r>
            <a:endParaRPr lang="en-US" altLang="zh-TW" sz="2800" b="1" dirty="0" smtClean="0">
              <a:solidFill>
                <a:srgbClr val="C72F05"/>
              </a:solidFill>
            </a:endParaRPr>
          </a:p>
          <a:p>
            <a:pPr eaLnBrk="1" hangingPunct="1">
              <a:lnSpc>
                <a:spcPct val="90000"/>
              </a:lnSpc>
              <a:spcBef>
                <a:spcPct val="60000"/>
              </a:spcBef>
              <a:buFont typeface="Wingdings" panose="05000000000000000000" pitchFamily="2" charset="2"/>
              <a:buChar char="n"/>
            </a:pPr>
            <a:r>
              <a:rPr lang="en-US" altLang="zh-TW" sz="2800" b="1" dirty="0" smtClean="0">
                <a:solidFill>
                  <a:srgbClr val="C72F05"/>
                </a:solidFill>
              </a:rPr>
              <a:t>Policy</a:t>
            </a:r>
            <a:r>
              <a:rPr lang="en-US" altLang="zh-TW" sz="2800" dirty="0" smtClean="0"/>
              <a:t>: decide </a:t>
            </a:r>
            <a:r>
              <a:rPr lang="en-US" altLang="zh-TW" sz="2800" u="sng" dirty="0" smtClean="0">
                <a:solidFill>
                  <a:srgbClr val="0000FF"/>
                </a:solidFill>
              </a:rPr>
              <a:t>what will be done</a:t>
            </a:r>
            <a:r>
              <a:rPr lang="en-US" altLang="zh-TW" sz="2800" dirty="0" smtClean="0"/>
              <a:t>, e.g., </a:t>
            </a:r>
            <a:r>
              <a:rPr lang="en-US" altLang="zh-TW" sz="2400" dirty="0" smtClean="0"/>
              <a:t>CPU should be protected or not?</a:t>
            </a:r>
            <a:r>
              <a:rPr lang="en-US" altLang="zh-TW" sz="2800" dirty="0" smtClean="0"/>
              <a:t>  </a:t>
            </a:r>
          </a:p>
          <a:p>
            <a:pPr eaLnBrk="1" hangingPunct="1">
              <a:lnSpc>
                <a:spcPct val="90000"/>
              </a:lnSpc>
              <a:spcBef>
                <a:spcPct val="60000"/>
              </a:spcBef>
              <a:buFont typeface="Wingdings" panose="05000000000000000000" pitchFamily="2" charset="2"/>
              <a:buChar char="n"/>
            </a:pPr>
            <a:r>
              <a:rPr lang="en-US" altLang="zh-TW" sz="2800" dirty="0" smtClean="0"/>
              <a:t>The </a:t>
            </a:r>
            <a:r>
              <a:rPr lang="en-US" altLang="zh-TW" sz="2800" dirty="0" smtClean="0">
                <a:solidFill>
                  <a:srgbClr val="0000FF"/>
                </a:solidFill>
              </a:rPr>
              <a:t>separation of policy from mechanism </a:t>
            </a:r>
            <a:r>
              <a:rPr lang="en-US" altLang="zh-TW" sz="2800" dirty="0" smtClean="0"/>
              <a:t>is a very important principle, it allows maximum flexibility if policy decisions are to be changed later.</a:t>
            </a:r>
          </a:p>
          <a:p>
            <a:pPr eaLnBrk="1" hangingPunct="1">
              <a:lnSpc>
                <a:spcPct val="90000"/>
              </a:lnSpc>
              <a:spcBef>
                <a:spcPct val="60000"/>
              </a:spcBef>
              <a:buFont typeface="Wingdings" panose="05000000000000000000" pitchFamily="2" charset="2"/>
              <a:buChar char="n"/>
            </a:pPr>
            <a:r>
              <a:rPr lang="en-US" altLang="zh-TW" sz="2800" dirty="0"/>
              <a:t>Specifying and designing an OS is highly creative task of </a:t>
            </a:r>
            <a:r>
              <a:rPr lang="en-US" altLang="zh-TW" sz="2800" dirty="0">
                <a:solidFill>
                  <a:srgbClr val="0000FF"/>
                </a:solidFill>
              </a:rPr>
              <a:t>software engineering</a:t>
            </a:r>
          </a:p>
          <a:p>
            <a:pPr eaLnBrk="1" hangingPunct="1">
              <a:lnSpc>
                <a:spcPct val="90000"/>
              </a:lnSpc>
              <a:spcBef>
                <a:spcPct val="60000"/>
              </a:spcBef>
            </a:pPr>
            <a:endParaRPr lang="en-US" altLang="zh-TW"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1E1C729-5149-433F-9EB0-B1E5DEBE2057}"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31</a:t>
            </a:fld>
            <a:endParaRPr kumimoji="0" lang="en-US" altLang="zh-TW" sz="1400"/>
          </a:p>
        </p:txBody>
      </p:sp>
      <p:sp>
        <p:nvSpPr>
          <p:cNvPr id="54274" name="Rectangle 2"/>
          <p:cNvSpPr>
            <a:spLocks noGrp="1" noChangeArrowheads="1"/>
          </p:cNvSpPr>
          <p:nvPr>
            <p:ph type="title"/>
          </p:nvPr>
        </p:nvSpPr>
        <p:spPr>
          <a:xfrm>
            <a:off x="384228" y="164387"/>
            <a:ext cx="7772400" cy="745090"/>
          </a:xfrm>
        </p:spPr>
        <p:txBody>
          <a:bodyPr/>
          <a:lstStyle/>
          <a:p>
            <a:pPr eaLnBrk="1" hangingPunct="1">
              <a:defRPr/>
            </a:pPr>
            <a:r>
              <a:rPr lang="en-US" altLang="zh-TW" sz="4000" b="1" dirty="0">
                <a:solidFill>
                  <a:schemeClr val="tx1"/>
                </a:solidFill>
                <a:latin typeface="Adobe Gothic Std B" pitchFamily="34" charset="-128"/>
                <a:ea typeface="Adobe Gothic Std B" pitchFamily="34" charset="-128"/>
              </a:rPr>
              <a:t>Operating System Structure</a:t>
            </a:r>
          </a:p>
        </p:txBody>
      </p:sp>
      <p:sp>
        <p:nvSpPr>
          <p:cNvPr id="31749" name="Rectangle 3" descr="Rectangle: Click to edit Master text styles&#10;Second level&#10;Third level&#10;Fourth level&#10;Fifth level"/>
          <p:cNvSpPr>
            <a:spLocks noGrp="1" noChangeArrowheads="1"/>
          </p:cNvSpPr>
          <p:nvPr>
            <p:ph type="body" idx="1"/>
          </p:nvPr>
        </p:nvSpPr>
        <p:spPr>
          <a:xfrm>
            <a:off x="328771" y="934949"/>
            <a:ext cx="8414535" cy="5311738"/>
          </a:xfrm>
        </p:spPr>
        <p:txBody>
          <a:bodyPr/>
          <a:lstStyle/>
          <a:p>
            <a:pPr>
              <a:spcBef>
                <a:spcPts val="1200"/>
              </a:spcBef>
            </a:pPr>
            <a:r>
              <a:rPr lang="en-US" altLang="zh-TW" dirty="0" smtClean="0">
                <a:latin typeface="Adobe Gothic Std B" pitchFamily="34" charset="-128"/>
                <a:ea typeface="Adobe Gothic Std B" pitchFamily="34" charset="-128"/>
              </a:rPr>
              <a:t>General-purpose </a:t>
            </a:r>
            <a:r>
              <a:rPr lang="en-US" altLang="zh-TW" dirty="0">
                <a:latin typeface="Adobe Gothic Std B" pitchFamily="34" charset="-128"/>
                <a:ea typeface="Adobe Gothic Std B" pitchFamily="34" charset="-128"/>
              </a:rPr>
              <a:t>OS is very large program</a:t>
            </a:r>
          </a:p>
          <a:p>
            <a:pPr>
              <a:spcBef>
                <a:spcPts val="1200"/>
              </a:spcBef>
            </a:pPr>
            <a:r>
              <a:rPr lang="en-US" altLang="zh-TW" dirty="0">
                <a:latin typeface="Adobe Gothic Std B" pitchFamily="34" charset="-128"/>
                <a:ea typeface="Adobe Gothic Std B" pitchFamily="34" charset="-128"/>
              </a:rPr>
              <a:t>Various ways to structure ones</a:t>
            </a:r>
          </a:p>
          <a:p>
            <a:pPr lvl="1">
              <a:spcBef>
                <a:spcPts val="1200"/>
              </a:spcBef>
            </a:pPr>
            <a:r>
              <a:rPr lang="en-US" altLang="zh-TW" dirty="0">
                <a:latin typeface="Adobe Gothic Std B" pitchFamily="34" charset="-128"/>
                <a:ea typeface="Adobe Gothic Std B" pitchFamily="34" charset="-128"/>
              </a:rPr>
              <a:t>Simple structure – </a:t>
            </a:r>
            <a:r>
              <a:rPr lang="en-US" altLang="zh-TW" dirty="0">
                <a:solidFill>
                  <a:srgbClr val="FF0000"/>
                </a:solidFill>
                <a:latin typeface="Adobe Gothic Std B" pitchFamily="34" charset="-128"/>
                <a:ea typeface="Adobe Gothic Std B" pitchFamily="34" charset="-128"/>
              </a:rPr>
              <a:t>MS-DOS</a:t>
            </a:r>
          </a:p>
          <a:p>
            <a:pPr lvl="1">
              <a:spcBef>
                <a:spcPts val="1200"/>
              </a:spcBef>
            </a:pPr>
            <a:r>
              <a:rPr lang="en-US" altLang="zh-TW" dirty="0">
                <a:latin typeface="Adobe Gothic Std B" pitchFamily="34" charset="-128"/>
                <a:ea typeface="Adobe Gothic Std B" pitchFamily="34" charset="-128"/>
              </a:rPr>
              <a:t>More complex </a:t>
            </a:r>
            <a:r>
              <a:rPr lang="zh-TW" altLang="en-US" dirty="0">
                <a:latin typeface="Adobe Gothic Std B" pitchFamily="34" charset="-128"/>
                <a:ea typeface="Adobe Gothic Std B" pitchFamily="34" charset="-128"/>
              </a:rPr>
              <a:t> </a:t>
            </a:r>
            <a:r>
              <a:rPr lang="en-US" altLang="zh-TW" dirty="0" smtClean="0">
                <a:latin typeface="Adobe Gothic Std B" pitchFamily="34" charset="-128"/>
                <a:ea typeface="Adobe Gothic Std B" pitchFamily="34" charset="-128"/>
              </a:rPr>
              <a:t>- </a:t>
            </a:r>
            <a:r>
              <a:rPr lang="en-US" altLang="zh-TW" dirty="0">
                <a:solidFill>
                  <a:srgbClr val="FF0000"/>
                </a:solidFill>
                <a:latin typeface="Adobe Gothic Std B" pitchFamily="34" charset="-128"/>
                <a:ea typeface="Adobe Gothic Std B" pitchFamily="34" charset="-128"/>
              </a:rPr>
              <a:t>UNIX</a:t>
            </a:r>
          </a:p>
          <a:p>
            <a:pPr lvl="1">
              <a:spcBef>
                <a:spcPts val="1200"/>
              </a:spcBef>
            </a:pPr>
            <a:r>
              <a:rPr lang="en-US" altLang="zh-TW" dirty="0">
                <a:solidFill>
                  <a:srgbClr val="0000FF"/>
                </a:solidFill>
                <a:latin typeface="Adobe Gothic Std B" pitchFamily="34" charset="-128"/>
                <a:ea typeface="Adobe Gothic Std B" pitchFamily="34" charset="-128"/>
              </a:rPr>
              <a:t>Layered</a:t>
            </a:r>
            <a:r>
              <a:rPr lang="en-US" altLang="zh-TW" dirty="0">
                <a:latin typeface="Adobe Gothic Std B" pitchFamily="34" charset="-128"/>
                <a:ea typeface="Adobe Gothic Std B" pitchFamily="34" charset="-128"/>
              </a:rPr>
              <a:t> </a:t>
            </a:r>
            <a:r>
              <a:rPr lang="en-US" altLang="zh-TW" dirty="0" smtClean="0">
                <a:latin typeface="Adobe Gothic Std B" pitchFamily="34" charset="-128"/>
                <a:ea typeface="Adobe Gothic Std B" pitchFamily="34" charset="-128"/>
              </a:rPr>
              <a:t>- </a:t>
            </a:r>
            <a:r>
              <a:rPr lang="en-US" altLang="zh-TW" dirty="0">
                <a:latin typeface="Adobe Gothic Std B" pitchFamily="34" charset="-128"/>
                <a:ea typeface="Adobe Gothic Std B" pitchFamily="34" charset="-128"/>
              </a:rPr>
              <a:t>an </a:t>
            </a:r>
            <a:r>
              <a:rPr lang="en-US" altLang="zh-TW" dirty="0" smtClean="0">
                <a:latin typeface="Adobe Gothic Std B" pitchFamily="34" charset="-128"/>
                <a:ea typeface="Adobe Gothic Std B" pitchFamily="34" charset="-128"/>
              </a:rPr>
              <a:t>abstraction</a:t>
            </a:r>
            <a:endParaRPr lang="en-US" altLang="zh-TW" dirty="0">
              <a:latin typeface="Adobe Gothic Std B" pitchFamily="34" charset="-128"/>
              <a:ea typeface="Adobe Gothic Std B" pitchFamily="34" charset="-128"/>
            </a:endParaRPr>
          </a:p>
          <a:p>
            <a:pPr lvl="1">
              <a:spcBef>
                <a:spcPts val="1200"/>
              </a:spcBef>
            </a:pPr>
            <a:r>
              <a:rPr lang="en-US" altLang="zh-TW" dirty="0">
                <a:latin typeface="Adobe Gothic Std B" pitchFamily="34" charset="-128"/>
                <a:ea typeface="Adobe Gothic Std B" pitchFamily="34" charset="-128"/>
              </a:rPr>
              <a:t>Microkernel </a:t>
            </a:r>
            <a:r>
              <a:rPr lang="en-US" altLang="zh-TW" dirty="0" smtClean="0">
                <a:latin typeface="Adobe Gothic Std B" pitchFamily="34" charset="-128"/>
                <a:ea typeface="Adobe Gothic Std B" pitchFamily="34" charset="-128"/>
              </a:rPr>
              <a:t>- </a:t>
            </a:r>
            <a:r>
              <a:rPr lang="en-US" altLang="zh-TW" dirty="0" smtClean="0">
                <a:solidFill>
                  <a:srgbClr val="FF0000"/>
                </a:solidFill>
                <a:latin typeface="Adobe Gothic Std B" pitchFamily="34" charset="-128"/>
                <a:ea typeface="Adobe Gothic Std B" pitchFamily="34" charset="-128"/>
              </a:rPr>
              <a:t>Mach</a:t>
            </a:r>
            <a:endParaRPr lang="en-US" altLang="zh-TW" dirty="0">
              <a:solidFill>
                <a:srgbClr val="FF0000"/>
              </a:solidFill>
              <a:latin typeface="Adobe Gothic Std B" pitchFamily="34" charset="-128"/>
              <a:ea typeface="Adobe Gothic Std B" pitchFamily="34" charset="-128"/>
            </a:endParaRPr>
          </a:p>
          <a:p>
            <a:pPr eaLnBrk="1" hangingPunct="1">
              <a:lnSpc>
                <a:spcPct val="90000"/>
              </a:lnSpc>
              <a:spcBef>
                <a:spcPct val="60000"/>
              </a:spcBef>
            </a:pPr>
            <a:endParaRPr lang="en-US" altLang="zh-TW" dirty="0" smtClean="0"/>
          </a:p>
        </p:txBody>
      </p:sp>
    </p:spTree>
    <p:extLst>
      <p:ext uri="{BB962C8B-B14F-4D97-AF65-F5344CB8AC3E}">
        <p14:creationId xmlns:p14="http://schemas.microsoft.com/office/powerpoint/2010/main" val="41585925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19485DB-7ED4-494F-BFE3-F2E65558690E}"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32</a:t>
            </a:fld>
            <a:endParaRPr kumimoji="0" lang="en-US" altLang="zh-TW" sz="1400"/>
          </a:p>
        </p:txBody>
      </p:sp>
      <p:sp>
        <p:nvSpPr>
          <p:cNvPr id="54274" name="Rectangle 2"/>
          <p:cNvSpPr>
            <a:spLocks noGrp="1" noChangeArrowheads="1"/>
          </p:cNvSpPr>
          <p:nvPr>
            <p:ph type="title"/>
          </p:nvPr>
        </p:nvSpPr>
        <p:spPr>
          <a:xfrm>
            <a:off x="384228" y="164387"/>
            <a:ext cx="7772400" cy="745090"/>
          </a:xfrm>
        </p:spPr>
        <p:txBody>
          <a:bodyPr/>
          <a:lstStyle/>
          <a:p>
            <a:pPr eaLnBrk="1" hangingPunct="1">
              <a:defRPr/>
            </a:pPr>
            <a:r>
              <a:rPr lang="en-US" altLang="zh-TW" sz="3600" b="1" dirty="0">
                <a:solidFill>
                  <a:schemeClr val="tx1"/>
                </a:solidFill>
                <a:latin typeface="Adobe Gothic Std B" pitchFamily="34" charset="-128"/>
                <a:ea typeface="Adobe Gothic Std B" pitchFamily="34" charset="-128"/>
              </a:rPr>
              <a:t>Simple Structure  -- MS-DOS</a:t>
            </a:r>
            <a:endParaRPr lang="en-US" altLang="zh-TW" sz="4000" b="1" dirty="0">
              <a:solidFill>
                <a:schemeClr val="tx1"/>
              </a:solidFill>
              <a:latin typeface="Adobe Gothic Std B" pitchFamily="34" charset="-128"/>
              <a:ea typeface="Adobe Gothic Std B" pitchFamily="34" charset="-128"/>
            </a:endParaRPr>
          </a:p>
        </p:txBody>
      </p:sp>
      <p:sp>
        <p:nvSpPr>
          <p:cNvPr id="31749" name="Rectangle 3" descr="Rectangle: Click to edit Master text styles&#10;Second level&#10;Third level&#10;Fourth level&#10;Fifth level"/>
          <p:cNvSpPr>
            <a:spLocks noGrp="1" noChangeArrowheads="1"/>
          </p:cNvSpPr>
          <p:nvPr>
            <p:ph type="body" idx="1"/>
          </p:nvPr>
        </p:nvSpPr>
        <p:spPr>
          <a:xfrm>
            <a:off x="328772" y="1345915"/>
            <a:ext cx="4254138" cy="4900772"/>
          </a:xfrm>
        </p:spPr>
        <p:txBody>
          <a:bodyPr/>
          <a:lstStyle/>
          <a:p>
            <a:pPr eaLnBrk="1" hangingPunct="1">
              <a:lnSpc>
                <a:spcPct val="90000"/>
              </a:lnSpc>
              <a:spcBef>
                <a:spcPct val="60000"/>
              </a:spcBef>
              <a:buFont typeface="Wingdings" panose="05000000000000000000" pitchFamily="2" charset="2"/>
              <a:buChar char="n"/>
            </a:pPr>
            <a:r>
              <a:rPr lang="en-US" altLang="zh-TW" sz="2400" dirty="0">
                <a:latin typeface="Adobe Gothic Std B" pitchFamily="34" charset="-128"/>
                <a:ea typeface="Adobe Gothic Std B" pitchFamily="34" charset="-128"/>
              </a:rPr>
              <a:t>MS-DOS – written to provide the most functionality in the </a:t>
            </a:r>
            <a:r>
              <a:rPr lang="en-US" altLang="zh-TW" sz="2400" dirty="0">
                <a:solidFill>
                  <a:srgbClr val="FF0000"/>
                </a:solidFill>
                <a:latin typeface="Adobe Gothic Std B" pitchFamily="34" charset="-128"/>
                <a:ea typeface="Adobe Gothic Std B" pitchFamily="34" charset="-128"/>
              </a:rPr>
              <a:t>least space</a:t>
            </a:r>
          </a:p>
          <a:p>
            <a:pPr lvl="1" eaLnBrk="1" hangingPunct="1">
              <a:lnSpc>
                <a:spcPct val="90000"/>
              </a:lnSpc>
              <a:spcBef>
                <a:spcPct val="60000"/>
              </a:spcBef>
            </a:pPr>
            <a:r>
              <a:rPr lang="en-US" altLang="zh-TW" sz="2400" dirty="0">
                <a:latin typeface="Adobe Gothic Std B" pitchFamily="34" charset="-128"/>
                <a:ea typeface="Adobe Gothic Std B" pitchFamily="34" charset="-128"/>
              </a:rPr>
              <a:t>Not divided into modules</a:t>
            </a:r>
          </a:p>
          <a:p>
            <a:pPr lvl="1" eaLnBrk="1" hangingPunct="1">
              <a:lnSpc>
                <a:spcPct val="90000"/>
              </a:lnSpc>
              <a:spcBef>
                <a:spcPct val="60000"/>
              </a:spcBef>
            </a:pPr>
            <a:r>
              <a:rPr lang="en-US" altLang="zh-TW" sz="2400" dirty="0">
                <a:latin typeface="Adobe Gothic Std B" pitchFamily="34" charset="-128"/>
                <a:ea typeface="Adobe Gothic Std B" pitchFamily="34" charset="-128"/>
              </a:rPr>
              <a:t>Although MS-DOS has some structure, </a:t>
            </a:r>
            <a:r>
              <a:rPr lang="en-US" altLang="zh-TW" sz="2400" dirty="0">
                <a:solidFill>
                  <a:srgbClr val="FF0000"/>
                </a:solidFill>
                <a:latin typeface="Adobe Gothic Std B" pitchFamily="34" charset="-128"/>
                <a:ea typeface="Adobe Gothic Std B" pitchFamily="34" charset="-128"/>
              </a:rPr>
              <a:t>its interfaces and levels of functionality are not well </a:t>
            </a:r>
            <a:r>
              <a:rPr lang="en-US" altLang="zh-TW" sz="2400" dirty="0" smtClean="0">
                <a:solidFill>
                  <a:srgbClr val="FF0000"/>
                </a:solidFill>
                <a:latin typeface="Adobe Gothic Std B" pitchFamily="34" charset="-128"/>
                <a:ea typeface="Adobe Gothic Std B" pitchFamily="34" charset="-128"/>
              </a:rPr>
              <a:t>separated</a:t>
            </a:r>
            <a:endParaRPr lang="en-US" altLang="zh-TW" sz="2400" dirty="0">
              <a:solidFill>
                <a:srgbClr val="FF0000"/>
              </a:solidFill>
              <a:latin typeface="Adobe Gothic Std B" pitchFamily="34" charset="-128"/>
              <a:ea typeface="Adobe Gothic Std B" pitchFamily="34" charset="-128"/>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910" y="1732036"/>
            <a:ext cx="4474758" cy="317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7293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015374DF-E781-42D9-BC07-6808A041A94C}"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33</a:t>
            </a:fld>
            <a:endParaRPr kumimoji="0" lang="en-US" altLang="zh-TW" sz="1400"/>
          </a:p>
        </p:txBody>
      </p:sp>
      <p:sp>
        <p:nvSpPr>
          <p:cNvPr id="54274" name="Rectangle 2"/>
          <p:cNvSpPr>
            <a:spLocks noGrp="1" noChangeArrowheads="1"/>
          </p:cNvSpPr>
          <p:nvPr>
            <p:ph type="title"/>
          </p:nvPr>
        </p:nvSpPr>
        <p:spPr>
          <a:xfrm>
            <a:off x="384228" y="164387"/>
            <a:ext cx="7772400" cy="745090"/>
          </a:xfrm>
        </p:spPr>
        <p:txBody>
          <a:bodyPr/>
          <a:lstStyle/>
          <a:p>
            <a:pPr eaLnBrk="1" hangingPunct="1">
              <a:defRPr/>
            </a:pPr>
            <a:r>
              <a:rPr lang="en-US" altLang="zh-TW" sz="3600" b="1" dirty="0">
                <a:solidFill>
                  <a:schemeClr val="tx1"/>
                </a:solidFill>
                <a:latin typeface="Adobe Gothic Std B" pitchFamily="34" charset="-128"/>
                <a:ea typeface="Adobe Gothic Std B" pitchFamily="34" charset="-128"/>
              </a:rPr>
              <a:t>Non Simple Structure  -- UNIX</a:t>
            </a:r>
            <a:endParaRPr lang="en-US" altLang="zh-TW" sz="4000" b="1" dirty="0">
              <a:solidFill>
                <a:schemeClr val="tx1"/>
              </a:solidFill>
              <a:latin typeface="Adobe Gothic Std B" pitchFamily="34" charset="-128"/>
              <a:ea typeface="Adobe Gothic Std B" pitchFamily="34" charset="-128"/>
            </a:endParaRPr>
          </a:p>
        </p:txBody>
      </p:sp>
      <p:sp>
        <p:nvSpPr>
          <p:cNvPr id="31749" name="Rectangle 3" descr="Rectangle: Click to edit Master text styles&#10;Second level&#10;Third level&#10;Fourth level&#10;Fifth level"/>
          <p:cNvSpPr>
            <a:spLocks noGrp="1" noChangeArrowheads="1"/>
          </p:cNvSpPr>
          <p:nvPr>
            <p:ph type="body" idx="1"/>
          </p:nvPr>
        </p:nvSpPr>
        <p:spPr>
          <a:xfrm>
            <a:off x="328771" y="1140431"/>
            <a:ext cx="8250149" cy="5106256"/>
          </a:xfrm>
        </p:spPr>
        <p:txBody>
          <a:bodyPr/>
          <a:lstStyle/>
          <a:p>
            <a:pPr eaLnBrk="1" hangingPunct="1">
              <a:lnSpc>
                <a:spcPct val="90000"/>
              </a:lnSpc>
              <a:spcBef>
                <a:spcPct val="60000"/>
              </a:spcBef>
              <a:buFont typeface="Wingdings" panose="05000000000000000000" pitchFamily="2" charset="2"/>
              <a:buChar char="p"/>
            </a:pPr>
            <a:r>
              <a:rPr lang="en-US" altLang="zh-TW" sz="2800" dirty="0" smtClean="0">
                <a:latin typeface="Adobe Gothic Std B" pitchFamily="34" charset="-128"/>
                <a:ea typeface="Adobe Gothic Std B" pitchFamily="34" charset="-128"/>
              </a:rPr>
              <a:t>Limited </a:t>
            </a:r>
            <a:r>
              <a:rPr lang="en-US" altLang="zh-TW" sz="2800" dirty="0">
                <a:latin typeface="Adobe Gothic Std B" pitchFamily="34" charset="-128"/>
                <a:ea typeface="Adobe Gothic Std B" pitchFamily="34" charset="-128"/>
              </a:rPr>
              <a:t>by hardware functionality, the original UNIX operating system had </a:t>
            </a:r>
            <a:r>
              <a:rPr lang="en-US" altLang="zh-TW" sz="2800" dirty="0">
                <a:solidFill>
                  <a:srgbClr val="0000FF"/>
                </a:solidFill>
                <a:latin typeface="Adobe Gothic Std B" pitchFamily="34" charset="-128"/>
                <a:ea typeface="Adobe Gothic Std B" pitchFamily="34" charset="-128"/>
              </a:rPr>
              <a:t>limited structuring</a:t>
            </a:r>
            <a:r>
              <a:rPr lang="en-US" altLang="zh-TW" sz="2800" dirty="0">
                <a:latin typeface="Adobe Gothic Std B" pitchFamily="34" charset="-128"/>
                <a:ea typeface="Adobe Gothic Std B" pitchFamily="34" charset="-128"/>
              </a:rPr>
              <a:t>.  The UNIX OS consists of two separable parts</a:t>
            </a:r>
          </a:p>
          <a:p>
            <a:pPr lvl="1" eaLnBrk="1" hangingPunct="1">
              <a:lnSpc>
                <a:spcPct val="90000"/>
              </a:lnSpc>
              <a:spcBef>
                <a:spcPct val="60000"/>
              </a:spcBef>
            </a:pPr>
            <a:r>
              <a:rPr lang="en-US" altLang="zh-TW" dirty="0">
                <a:solidFill>
                  <a:srgbClr val="0000FF"/>
                </a:solidFill>
                <a:latin typeface="Adobe Gothic Std B" pitchFamily="34" charset="-128"/>
                <a:ea typeface="Adobe Gothic Std B" pitchFamily="34" charset="-128"/>
              </a:rPr>
              <a:t>Systems programs</a:t>
            </a:r>
          </a:p>
          <a:p>
            <a:pPr lvl="1" eaLnBrk="1" hangingPunct="1">
              <a:lnSpc>
                <a:spcPct val="90000"/>
              </a:lnSpc>
              <a:spcBef>
                <a:spcPct val="60000"/>
              </a:spcBef>
            </a:pPr>
            <a:r>
              <a:rPr lang="en-US" altLang="zh-TW" dirty="0">
                <a:latin typeface="Adobe Gothic Std B" pitchFamily="34" charset="-128"/>
                <a:ea typeface="Adobe Gothic Std B" pitchFamily="34" charset="-128"/>
              </a:rPr>
              <a:t>The </a:t>
            </a:r>
            <a:r>
              <a:rPr lang="en-US" altLang="zh-TW" dirty="0">
                <a:solidFill>
                  <a:srgbClr val="0000FF"/>
                </a:solidFill>
                <a:latin typeface="Adobe Gothic Std B" pitchFamily="34" charset="-128"/>
                <a:ea typeface="Adobe Gothic Std B" pitchFamily="34" charset="-128"/>
              </a:rPr>
              <a:t>kernel</a:t>
            </a:r>
          </a:p>
          <a:p>
            <a:pPr lvl="1" eaLnBrk="1" hangingPunct="1">
              <a:lnSpc>
                <a:spcPct val="90000"/>
              </a:lnSpc>
              <a:spcBef>
                <a:spcPct val="60000"/>
              </a:spcBef>
              <a:buFont typeface="Wingdings" panose="05000000000000000000" pitchFamily="2" charset="2"/>
              <a:buChar char="ü"/>
            </a:pPr>
            <a:r>
              <a:rPr lang="en-US" altLang="zh-TW" sz="2400" dirty="0">
                <a:latin typeface="Adobe Gothic Std B" pitchFamily="34" charset="-128"/>
                <a:ea typeface="Adobe Gothic Std B" pitchFamily="34" charset="-128"/>
              </a:rPr>
              <a:t>Consists of everything below the </a:t>
            </a:r>
            <a:r>
              <a:rPr lang="en-US" altLang="zh-TW" sz="2400" dirty="0">
                <a:solidFill>
                  <a:srgbClr val="0000FF"/>
                </a:solidFill>
                <a:latin typeface="Adobe Gothic Std B" pitchFamily="34" charset="-128"/>
                <a:ea typeface="Adobe Gothic Std B" pitchFamily="34" charset="-128"/>
              </a:rPr>
              <a:t>system-call interface</a:t>
            </a:r>
            <a:r>
              <a:rPr lang="en-US" altLang="zh-TW" sz="2400" dirty="0">
                <a:latin typeface="Adobe Gothic Std B" pitchFamily="34" charset="-128"/>
                <a:ea typeface="Adobe Gothic Std B" pitchFamily="34" charset="-128"/>
              </a:rPr>
              <a:t> and above the physical hardware</a:t>
            </a:r>
          </a:p>
          <a:p>
            <a:pPr lvl="1" eaLnBrk="1" hangingPunct="1">
              <a:lnSpc>
                <a:spcPct val="90000"/>
              </a:lnSpc>
              <a:spcBef>
                <a:spcPct val="60000"/>
              </a:spcBef>
              <a:buFont typeface="Wingdings" panose="05000000000000000000" pitchFamily="2" charset="2"/>
              <a:buChar char="ü"/>
            </a:pPr>
            <a:r>
              <a:rPr lang="en-US" altLang="zh-TW" sz="2400" dirty="0">
                <a:latin typeface="Adobe Gothic Std B" pitchFamily="34" charset="-128"/>
                <a:ea typeface="Adobe Gothic Std B" pitchFamily="34" charset="-128"/>
              </a:rPr>
              <a:t>Provides the file system, CPU scheduling, memory management, and other operating-system functions; a large number of functions for one </a:t>
            </a:r>
            <a:r>
              <a:rPr lang="en-US" altLang="zh-TW" sz="2400" dirty="0" smtClean="0">
                <a:latin typeface="Adobe Gothic Std B" pitchFamily="34" charset="-128"/>
                <a:ea typeface="Adobe Gothic Std B" pitchFamily="34" charset="-128"/>
              </a:rPr>
              <a:t>level</a:t>
            </a:r>
            <a:endParaRPr lang="en-US" altLang="zh-TW" sz="2400" dirty="0">
              <a:solidFill>
                <a:srgbClr val="FF0000"/>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4370023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59FE1F99-3CA6-49E2-9778-CD9764FD511F}" type="datetime1">
              <a:rPr kumimoji="0" lang="zh-TW" altLang="en-US" sz="1400" smtClean="0"/>
              <a:t>2018/3/5</a:t>
            </a:fld>
            <a:endParaRPr kumimoji="0" lang="en-US" altLang="zh-TW" sz="1400"/>
          </a:p>
        </p:txBody>
      </p:sp>
      <p:sp>
        <p:nvSpPr>
          <p:cNvPr id="28675"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473C878-2D2C-4416-8EB1-C00FF7882C37}" type="slidenum">
              <a:rPr kumimoji="0" lang="zh-TW" altLang="en-US" sz="1400"/>
              <a:pPr algn="r" eaLnBrk="1" hangingPunct="1">
                <a:spcBef>
                  <a:spcPct val="0"/>
                </a:spcBef>
                <a:buClrTx/>
                <a:buSzTx/>
                <a:buFontTx/>
                <a:buNone/>
              </a:pPr>
              <a:t>34</a:t>
            </a:fld>
            <a:endParaRPr kumimoji="0" lang="en-US" altLang="zh-TW" sz="1400"/>
          </a:p>
        </p:txBody>
      </p:sp>
      <p:sp>
        <p:nvSpPr>
          <p:cNvPr id="28676" name="Rectangle 2"/>
          <p:cNvSpPr>
            <a:spLocks noGrp="1" noChangeArrowheads="1"/>
          </p:cNvSpPr>
          <p:nvPr>
            <p:ph type="title"/>
          </p:nvPr>
        </p:nvSpPr>
        <p:spPr>
          <a:xfrm>
            <a:off x="609600" y="304800"/>
            <a:ext cx="7772400" cy="482600"/>
          </a:xfrm>
        </p:spPr>
        <p:txBody>
          <a:bodyPr/>
          <a:lstStyle/>
          <a:p>
            <a:pPr eaLnBrk="1" hangingPunct="1"/>
            <a:r>
              <a:rPr lang="en-US" altLang="zh-TW" smtClean="0"/>
              <a:t>UNIX System Structure</a:t>
            </a:r>
          </a:p>
        </p:txBody>
      </p:sp>
      <p:pic>
        <p:nvPicPr>
          <p:cNvPr id="28677" name="Picture 3"/>
          <p:cNvPicPr>
            <a:picLocks noChangeAspect="1" noChangeArrowheads="1"/>
          </p:cNvPicPr>
          <p:nvPr/>
        </p:nvPicPr>
        <p:blipFill>
          <a:blip r:embed="rId4">
            <a:extLst>
              <a:ext uri="{28A0092B-C50C-407E-A947-70E740481C1C}">
                <a14:useLocalDpi xmlns:a14="http://schemas.microsoft.com/office/drawing/2010/main" val="0"/>
              </a:ext>
            </a:extLst>
          </a:blip>
          <a:srcRect l="380" t="10139" r="380" b="10139"/>
          <a:stretch>
            <a:fillRect/>
          </a:stretch>
        </p:blipFill>
        <p:spPr bwMode="auto">
          <a:xfrm>
            <a:off x="525463" y="836613"/>
            <a:ext cx="7974012" cy="4803775"/>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7724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61D1C99-AED3-4A17-AA23-A9D142151E33}" type="datetime1">
              <a:rPr kumimoji="0" lang="zh-TW" altLang="en-US" sz="1400" smtClean="0"/>
              <a:t>2018/3/5</a:t>
            </a:fld>
            <a:endParaRPr kumimoji="0" lang="en-US" altLang="zh-TW" sz="1400"/>
          </a:p>
        </p:txBody>
      </p:sp>
      <p:sp>
        <p:nvSpPr>
          <p:cNvPr id="32771"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B49CD1E7-E1F8-4E00-A13A-85C0A4351BF0}" type="slidenum">
              <a:rPr kumimoji="0" lang="zh-TW" altLang="en-US" sz="1400"/>
              <a:pPr algn="r" eaLnBrk="1" hangingPunct="1">
                <a:spcBef>
                  <a:spcPct val="0"/>
                </a:spcBef>
                <a:buClrTx/>
                <a:buSzTx/>
                <a:buFontTx/>
                <a:buNone/>
              </a:pPr>
              <a:t>35</a:t>
            </a:fld>
            <a:endParaRPr kumimoji="0" lang="en-US" altLang="zh-TW" sz="1400"/>
          </a:p>
        </p:txBody>
      </p:sp>
      <p:sp>
        <p:nvSpPr>
          <p:cNvPr id="32772" name="Rectangle 2"/>
          <p:cNvSpPr>
            <a:spLocks noGrp="1" noChangeArrowheads="1"/>
          </p:cNvSpPr>
          <p:nvPr>
            <p:ph type="title"/>
          </p:nvPr>
        </p:nvSpPr>
        <p:spPr>
          <a:xfrm>
            <a:off x="609600" y="304800"/>
            <a:ext cx="7772400" cy="695325"/>
          </a:xfrm>
        </p:spPr>
        <p:txBody>
          <a:bodyPr/>
          <a:lstStyle/>
          <a:p>
            <a:pPr eaLnBrk="1" hangingPunct="1"/>
            <a:r>
              <a:rPr lang="en-US" altLang="zh-TW" sz="4000" b="1" dirty="0">
                <a:solidFill>
                  <a:schemeClr val="tx1"/>
                </a:solidFill>
                <a:latin typeface="Adobe Gothic Std B" pitchFamily="34" charset="-128"/>
                <a:ea typeface="Adobe Gothic Std B" pitchFamily="34" charset="-128"/>
              </a:rPr>
              <a:t>Layered Approach</a:t>
            </a:r>
          </a:p>
        </p:txBody>
      </p:sp>
      <p:sp>
        <p:nvSpPr>
          <p:cNvPr id="93187" name="Rectangle 3" descr="Rectangle: Click to edit Master text styles&#10;Second level&#10;Third level&#10;Fourth level&#10;Fifth level"/>
          <p:cNvSpPr>
            <a:spLocks noGrp="1" noChangeArrowheads="1"/>
          </p:cNvSpPr>
          <p:nvPr>
            <p:ph type="body" idx="1"/>
          </p:nvPr>
        </p:nvSpPr>
        <p:spPr>
          <a:xfrm>
            <a:off x="409575" y="1627189"/>
            <a:ext cx="8412163" cy="5175249"/>
          </a:xfrm>
        </p:spPr>
        <p:txBody>
          <a:bodyPr/>
          <a:lstStyle/>
          <a:p>
            <a:pPr eaLnBrk="1" hangingPunct="1">
              <a:lnSpc>
                <a:spcPct val="90000"/>
              </a:lnSpc>
              <a:spcBef>
                <a:spcPct val="50000"/>
              </a:spcBef>
              <a:defRPr/>
            </a:pPr>
            <a:r>
              <a:rPr lang="en-US" altLang="zh-TW" sz="2400" dirty="0" smtClean="0"/>
              <a:t>The operating system is divided into a number of layers (levels), each built on top of lower layers.  The bottom layer (layer 0), is the hardware; the highest (layer N) is the user interface.</a:t>
            </a:r>
          </a:p>
          <a:p>
            <a:pPr eaLnBrk="1" hangingPunct="1">
              <a:lnSpc>
                <a:spcPct val="90000"/>
              </a:lnSpc>
              <a:spcBef>
                <a:spcPct val="50000"/>
              </a:spcBef>
              <a:defRPr/>
            </a:pPr>
            <a:r>
              <a:rPr lang="en-US" altLang="zh-TW" sz="2400" dirty="0" smtClean="0"/>
              <a:t>With </a:t>
            </a:r>
            <a:r>
              <a:rPr lang="en-US" altLang="zh-TW" sz="2400" dirty="0" smtClean="0">
                <a:solidFill>
                  <a:srgbClr val="C72F05"/>
                </a:solidFill>
                <a:effectLst>
                  <a:outerShdw blurRad="38100" dist="38100" dir="2700000" algn="tl">
                    <a:srgbClr val="C0C0C0"/>
                  </a:outerShdw>
                </a:effectLst>
              </a:rPr>
              <a:t>modularity</a:t>
            </a:r>
            <a:r>
              <a:rPr lang="en-US" altLang="zh-TW" sz="2400" dirty="0" smtClean="0"/>
              <a:t>, layers are selected such that each uses functions (operations) and services of only lower-level layers.</a:t>
            </a:r>
            <a:endParaRPr lang="en-US" altLang="zh-TW" sz="2400" dirty="0" smtClean="0">
              <a:sym typeface="Webdings" pitchFamily="18" charset="2"/>
            </a:endParaRPr>
          </a:p>
          <a:p>
            <a:pPr eaLnBrk="1" hangingPunct="1">
              <a:lnSpc>
                <a:spcPct val="90000"/>
              </a:lnSpc>
              <a:spcBef>
                <a:spcPct val="50000"/>
              </a:spcBef>
              <a:defRPr/>
            </a:pPr>
            <a:r>
              <a:rPr lang="en-US" altLang="zh-TW" sz="2400" dirty="0" smtClean="0"/>
              <a:t>If an error is found during the debugging of a particular layer, the error must be on that layer, because the layers below it are already debugged.</a:t>
            </a:r>
            <a:endParaRPr lang="en-US" altLang="zh-TW" sz="2400" b="1" dirty="0" smtClean="0">
              <a:solidFill>
                <a:srgbClr val="C72F05"/>
              </a:solidFill>
            </a:endParaRPr>
          </a:p>
          <a:p>
            <a:pPr eaLnBrk="1" hangingPunct="1">
              <a:lnSpc>
                <a:spcPct val="90000"/>
              </a:lnSpc>
              <a:spcBef>
                <a:spcPct val="50000"/>
              </a:spcBef>
              <a:defRPr/>
            </a:pPr>
            <a:r>
              <a:rPr lang="en-US" altLang="zh-TW" sz="2400" b="1" dirty="0" smtClean="0">
                <a:solidFill>
                  <a:srgbClr val="C72F05"/>
                </a:solidFill>
              </a:rPr>
              <a:t>Problems: definition of the layers, less efficient</a:t>
            </a:r>
            <a:endParaRPr lang="en-US" altLang="zh-TW" sz="2800" b="1" dirty="0" smtClean="0">
              <a:solidFill>
                <a:srgbClr val="C72F05"/>
              </a:solidFill>
            </a:endParaRPr>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2718" y="0"/>
            <a:ext cx="1716699" cy="17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anim calcmode="lin" valueType="num">
                                      <p:cBhvr additive="base">
                                        <p:cTn id="7"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3187">
                                            <p:txEl>
                                              <p:pRg st="2" end="2"/>
                                            </p:txEl>
                                          </p:spTgt>
                                        </p:tgtEl>
                                        <p:attrNameLst>
                                          <p:attrName>style.visibility</p:attrName>
                                        </p:attrNameLst>
                                      </p:cBhvr>
                                      <p:to>
                                        <p:strVal val="visible"/>
                                      </p:to>
                                    </p:set>
                                    <p:anim calcmode="lin" valueType="num">
                                      <p:cBhvr additive="base">
                                        <p:cTn id="13"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3187">
                                            <p:txEl>
                                              <p:pRg st="3" end="3"/>
                                            </p:txEl>
                                          </p:spTgt>
                                        </p:tgtEl>
                                        <p:attrNameLst>
                                          <p:attrName>style.visibility</p:attrName>
                                        </p:attrNameLst>
                                      </p:cBhvr>
                                      <p:to>
                                        <p:strVal val="visible"/>
                                      </p:to>
                                    </p:set>
                                    <p:anim calcmode="lin" valueType="num">
                                      <p:cBhvr additive="base">
                                        <p:cTn id="19"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DDF849E-1963-42AD-B6B7-4172FF4AC92E}" type="datetime1">
              <a:rPr kumimoji="0" lang="zh-TW" altLang="en-US" sz="1400" smtClean="0"/>
              <a:t>2018/3/5</a:t>
            </a:fld>
            <a:endParaRPr kumimoji="0" lang="en-US" altLang="zh-TW" sz="1400"/>
          </a:p>
        </p:txBody>
      </p:sp>
      <p:sp>
        <p:nvSpPr>
          <p:cNvPr id="3379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3E57ACD0-66DF-48FD-BA6F-4971C116614E}" type="slidenum">
              <a:rPr kumimoji="0" lang="zh-TW" altLang="en-US" sz="1400"/>
              <a:pPr algn="r" eaLnBrk="1" hangingPunct="1">
                <a:spcBef>
                  <a:spcPct val="0"/>
                </a:spcBef>
                <a:buClrTx/>
                <a:buSzTx/>
                <a:buFontTx/>
                <a:buNone/>
              </a:pPr>
              <a:t>36</a:t>
            </a:fld>
            <a:endParaRPr kumimoji="0" lang="en-US" altLang="zh-TW" sz="1400"/>
          </a:p>
        </p:txBody>
      </p:sp>
      <p:sp>
        <p:nvSpPr>
          <p:cNvPr id="33796" name="Rectangle 2"/>
          <p:cNvSpPr>
            <a:spLocks noGrp="1" noChangeArrowheads="1"/>
          </p:cNvSpPr>
          <p:nvPr>
            <p:ph type="title"/>
          </p:nvPr>
        </p:nvSpPr>
        <p:spPr>
          <a:xfrm>
            <a:off x="579438" y="139700"/>
            <a:ext cx="7772400" cy="766763"/>
          </a:xfrm>
        </p:spPr>
        <p:txBody>
          <a:bodyPr/>
          <a:lstStyle/>
          <a:p>
            <a:pPr eaLnBrk="1" hangingPunct="1"/>
            <a:r>
              <a:rPr lang="en-US" altLang="zh-TW" sz="4000" b="1" dirty="0">
                <a:solidFill>
                  <a:schemeClr val="tx1"/>
                </a:solidFill>
                <a:latin typeface="Adobe Gothic Std B" pitchFamily="34" charset="-128"/>
                <a:ea typeface="Adobe Gothic Std B" pitchFamily="34" charset="-128"/>
              </a:rPr>
              <a:t>Microkernel System Structure </a:t>
            </a:r>
          </a:p>
        </p:txBody>
      </p:sp>
      <p:sp>
        <p:nvSpPr>
          <p:cNvPr id="245763" name="Rectangle 3" descr="Rectangle: Click to edit Master text styles&#10;Second level&#10;Third level&#10;Fourth level&#10;Fifth level"/>
          <p:cNvSpPr>
            <a:spLocks noGrp="1" noChangeArrowheads="1"/>
          </p:cNvSpPr>
          <p:nvPr>
            <p:ph type="body" idx="1"/>
          </p:nvPr>
        </p:nvSpPr>
        <p:spPr>
          <a:xfrm>
            <a:off x="255588" y="812800"/>
            <a:ext cx="8672512" cy="5311775"/>
          </a:xfrm>
        </p:spPr>
        <p:txBody>
          <a:bodyPr/>
          <a:lstStyle/>
          <a:p>
            <a:pPr eaLnBrk="1" hangingPunct="1">
              <a:spcBef>
                <a:spcPct val="60000"/>
              </a:spcBef>
            </a:pPr>
            <a:r>
              <a:rPr lang="en-US" altLang="zh-TW" sz="2800" dirty="0" smtClean="0">
                <a:solidFill>
                  <a:srgbClr val="C72F05"/>
                </a:solidFill>
              </a:rPr>
              <a:t>Moves as much from the </a:t>
            </a:r>
            <a:r>
              <a:rPr lang="en-US" altLang="zh-TW" b="1" dirty="0" smtClean="0">
                <a:solidFill>
                  <a:srgbClr val="C72F05"/>
                </a:solidFill>
              </a:rPr>
              <a:t>kernel</a:t>
            </a:r>
            <a:r>
              <a:rPr lang="en-US" altLang="zh-TW" sz="2800" dirty="0" smtClean="0">
                <a:solidFill>
                  <a:srgbClr val="C72F05"/>
                </a:solidFill>
              </a:rPr>
              <a:t> into </a:t>
            </a:r>
            <a:r>
              <a:rPr lang="en-US" altLang="zh-TW" b="1" dirty="0" smtClean="0">
                <a:solidFill>
                  <a:srgbClr val="C72F05"/>
                </a:solidFill>
              </a:rPr>
              <a:t>user</a:t>
            </a:r>
            <a:r>
              <a:rPr lang="en-US" altLang="zh-TW" sz="2800" dirty="0" smtClean="0">
                <a:solidFill>
                  <a:srgbClr val="C72F05"/>
                </a:solidFill>
              </a:rPr>
              <a:t> space</a:t>
            </a:r>
          </a:p>
          <a:p>
            <a:pPr eaLnBrk="1" hangingPunct="1">
              <a:spcBef>
                <a:spcPct val="60000"/>
              </a:spcBef>
            </a:pPr>
            <a:r>
              <a:rPr lang="en-US" altLang="zh-TW" sz="2800" dirty="0" smtClean="0"/>
              <a:t>Communication takes place between user modules using message passing</a:t>
            </a:r>
          </a:p>
          <a:p>
            <a:pPr eaLnBrk="1" hangingPunct="1">
              <a:spcBef>
                <a:spcPct val="60000"/>
              </a:spcBef>
            </a:pPr>
            <a:r>
              <a:rPr lang="en-US" altLang="zh-TW" sz="2800" dirty="0" smtClean="0">
                <a:solidFill>
                  <a:srgbClr val="C72F05"/>
                </a:solidFill>
              </a:rPr>
              <a:t>Benefits</a:t>
            </a:r>
            <a:endParaRPr lang="en-US" altLang="zh-TW" sz="2800" dirty="0" smtClean="0"/>
          </a:p>
          <a:p>
            <a:pPr lvl="1" eaLnBrk="1" hangingPunct="1">
              <a:spcBef>
                <a:spcPct val="10000"/>
              </a:spcBef>
            </a:pPr>
            <a:r>
              <a:rPr lang="en-US" altLang="zh-TW" sz="2400" dirty="0" smtClean="0"/>
              <a:t>Easier to extend a microkernel</a:t>
            </a:r>
          </a:p>
          <a:p>
            <a:pPr lvl="1" eaLnBrk="1" hangingPunct="1">
              <a:spcBef>
                <a:spcPct val="10000"/>
              </a:spcBef>
            </a:pPr>
            <a:r>
              <a:rPr lang="en-US" altLang="zh-TW" sz="2400" dirty="0" smtClean="0"/>
              <a:t>Easier to port the operating system to new architectures</a:t>
            </a:r>
          </a:p>
          <a:p>
            <a:pPr lvl="1" eaLnBrk="1" hangingPunct="1">
              <a:spcBef>
                <a:spcPct val="10000"/>
              </a:spcBef>
            </a:pPr>
            <a:r>
              <a:rPr lang="en-US" altLang="zh-TW" sz="2400" dirty="0" smtClean="0"/>
              <a:t>More reliable (less code is running in kernel mode)</a:t>
            </a:r>
          </a:p>
          <a:p>
            <a:pPr lvl="1" eaLnBrk="1" hangingPunct="1">
              <a:spcBef>
                <a:spcPct val="10000"/>
              </a:spcBef>
            </a:pPr>
            <a:r>
              <a:rPr lang="en-US" altLang="zh-TW" sz="2400" dirty="0" smtClean="0"/>
              <a:t>More secure</a:t>
            </a:r>
          </a:p>
          <a:p>
            <a:pPr eaLnBrk="1" hangingPunct="1">
              <a:spcBef>
                <a:spcPct val="10000"/>
              </a:spcBef>
            </a:pPr>
            <a:r>
              <a:rPr lang="en-US" altLang="zh-TW" sz="2800" dirty="0" smtClean="0">
                <a:solidFill>
                  <a:srgbClr val="C72F05"/>
                </a:solidFill>
              </a:rPr>
              <a:t>Detriments</a:t>
            </a:r>
            <a:endParaRPr lang="en-US" altLang="zh-TW" sz="2800" dirty="0" smtClean="0"/>
          </a:p>
          <a:p>
            <a:pPr lvl="1" eaLnBrk="1" hangingPunct="1">
              <a:spcBef>
                <a:spcPct val="10000"/>
              </a:spcBef>
            </a:pPr>
            <a:r>
              <a:rPr lang="en-US" altLang="zh-TW" sz="2400" dirty="0" smtClean="0">
                <a:solidFill>
                  <a:srgbClr val="0000FF"/>
                </a:solidFill>
              </a:rPr>
              <a:t>Performance overhead</a:t>
            </a:r>
            <a:r>
              <a:rPr lang="en-US" altLang="zh-TW" sz="2400" dirty="0" smtClean="0"/>
              <a:t> of user space to kernel space communication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763">
                                            <p:txEl>
                                              <p:pRg st="1" end="1"/>
                                            </p:txEl>
                                          </p:spTgt>
                                        </p:tgtEl>
                                        <p:attrNameLst>
                                          <p:attrName>style.visibility</p:attrName>
                                        </p:attrNameLst>
                                      </p:cBhvr>
                                      <p:to>
                                        <p:strVal val="visible"/>
                                      </p:to>
                                    </p:set>
                                    <p:anim calcmode="lin" valueType="num">
                                      <p:cBhvr additive="base">
                                        <p:cTn id="7" dur="500" fill="hold"/>
                                        <p:tgtEl>
                                          <p:spTgt spid="2457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5763">
                                            <p:txEl>
                                              <p:pRg st="2" end="2"/>
                                            </p:txEl>
                                          </p:spTgt>
                                        </p:tgtEl>
                                        <p:attrNameLst>
                                          <p:attrName>style.visibility</p:attrName>
                                        </p:attrNameLst>
                                      </p:cBhvr>
                                      <p:to>
                                        <p:strVal val="visible"/>
                                      </p:to>
                                    </p:set>
                                    <p:anim calcmode="lin" valueType="num">
                                      <p:cBhvr additive="base">
                                        <p:cTn id="13" dur="500" fill="hold"/>
                                        <p:tgtEl>
                                          <p:spTgt spid="2457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45763">
                                            <p:txEl>
                                              <p:pRg st="3" end="3"/>
                                            </p:txEl>
                                          </p:spTgt>
                                        </p:tgtEl>
                                        <p:attrNameLst>
                                          <p:attrName>style.visibility</p:attrName>
                                        </p:attrNameLst>
                                      </p:cBhvr>
                                      <p:to>
                                        <p:strVal val="visible"/>
                                      </p:to>
                                    </p:set>
                                    <p:anim calcmode="lin" valueType="num">
                                      <p:cBhvr additive="base">
                                        <p:cTn id="19" dur="500" fill="hold"/>
                                        <p:tgtEl>
                                          <p:spTgt spid="2457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45763">
                                            <p:txEl>
                                              <p:pRg st="4" end="4"/>
                                            </p:txEl>
                                          </p:spTgt>
                                        </p:tgtEl>
                                        <p:attrNameLst>
                                          <p:attrName>style.visibility</p:attrName>
                                        </p:attrNameLst>
                                      </p:cBhvr>
                                      <p:to>
                                        <p:strVal val="visible"/>
                                      </p:to>
                                    </p:set>
                                    <p:anim calcmode="lin" valueType="num">
                                      <p:cBhvr additive="base">
                                        <p:cTn id="25" dur="500" fill="hold"/>
                                        <p:tgtEl>
                                          <p:spTgt spid="2457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45763">
                                            <p:txEl>
                                              <p:pRg st="5" end="5"/>
                                            </p:txEl>
                                          </p:spTgt>
                                        </p:tgtEl>
                                        <p:attrNameLst>
                                          <p:attrName>style.visibility</p:attrName>
                                        </p:attrNameLst>
                                      </p:cBhvr>
                                      <p:to>
                                        <p:strVal val="visible"/>
                                      </p:to>
                                    </p:set>
                                    <p:anim calcmode="lin" valueType="num">
                                      <p:cBhvr additive="base">
                                        <p:cTn id="31" dur="500" fill="hold"/>
                                        <p:tgtEl>
                                          <p:spTgt spid="2457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45763">
                                            <p:txEl>
                                              <p:pRg st="6" end="6"/>
                                            </p:txEl>
                                          </p:spTgt>
                                        </p:tgtEl>
                                        <p:attrNameLst>
                                          <p:attrName>style.visibility</p:attrName>
                                        </p:attrNameLst>
                                      </p:cBhvr>
                                      <p:to>
                                        <p:strVal val="visible"/>
                                      </p:to>
                                    </p:set>
                                    <p:anim calcmode="lin" valueType="num">
                                      <p:cBhvr additive="base">
                                        <p:cTn id="37" dur="500" fill="hold"/>
                                        <p:tgtEl>
                                          <p:spTgt spid="24576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57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45763">
                                            <p:txEl>
                                              <p:pRg st="7" end="7"/>
                                            </p:txEl>
                                          </p:spTgt>
                                        </p:tgtEl>
                                        <p:attrNameLst>
                                          <p:attrName>style.visibility</p:attrName>
                                        </p:attrNameLst>
                                      </p:cBhvr>
                                      <p:to>
                                        <p:strVal val="visible"/>
                                      </p:to>
                                    </p:set>
                                    <p:anim calcmode="lin" valueType="num">
                                      <p:cBhvr additive="base">
                                        <p:cTn id="43" dur="500" fill="hold"/>
                                        <p:tgtEl>
                                          <p:spTgt spid="24576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57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245763">
                                            <p:txEl>
                                              <p:pRg st="8" end="8"/>
                                            </p:txEl>
                                          </p:spTgt>
                                        </p:tgtEl>
                                        <p:attrNameLst>
                                          <p:attrName>style.visibility</p:attrName>
                                        </p:attrNameLst>
                                      </p:cBhvr>
                                      <p:to>
                                        <p:strVal val="visible"/>
                                      </p:to>
                                    </p:set>
                                    <p:anim calcmode="lin" valueType="num">
                                      <p:cBhvr additive="base">
                                        <p:cTn id="49" dur="500" fill="hold"/>
                                        <p:tgtEl>
                                          <p:spTgt spid="24576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57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99AB75F-3255-448C-980E-004B28466B03}" type="datetime1">
              <a:rPr kumimoji="0" lang="zh-TW" altLang="en-US" sz="1400" smtClean="0"/>
              <a:t>2018/3/5</a:t>
            </a:fld>
            <a:endParaRPr kumimoji="0" lang="en-US" altLang="zh-TW" sz="1400"/>
          </a:p>
        </p:txBody>
      </p:sp>
      <p:sp>
        <p:nvSpPr>
          <p:cNvPr id="3379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3E57ACD0-66DF-48FD-BA6F-4971C116614E}" type="slidenum">
              <a:rPr kumimoji="0" lang="zh-TW" altLang="en-US" sz="1400"/>
              <a:pPr algn="r" eaLnBrk="1" hangingPunct="1">
                <a:spcBef>
                  <a:spcPct val="0"/>
                </a:spcBef>
                <a:buClrTx/>
                <a:buSzTx/>
                <a:buFontTx/>
                <a:buNone/>
              </a:pPr>
              <a:t>37</a:t>
            </a:fld>
            <a:endParaRPr kumimoji="0" lang="en-US" altLang="zh-TW" sz="1400" dirty="0"/>
          </a:p>
        </p:txBody>
      </p:sp>
      <p:sp>
        <p:nvSpPr>
          <p:cNvPr id="33796" name="Rectangle 2"/>
          <p:cNvSpPr>
            <a:spLocks noGrp="1" noChangeArrowheads="1"/>
          </p:cNvSpPr>
          <p:nvPr>
            <p:ph type="title"/>
          </p:nvPr>
        </p:nvSpPr>
        <p:spPr>
          <a:xfrm>
            <a:off x="579438" y="139700"/>
            <a:ext cx="7772400" cy="766763"/>
          </a:xfrm>
        </p:spPr>
        <p:txBody>
          <a:bodyPr/>
          <a:lstStyle/>
          <a:p>
            <a:pPr eaLnBrk="1" hangingPunct="1"/>
            <a:r>
              <a:rPr lang="en-US" altLang="zh-TW" sz="4000" b="1" dirty="0">
                <a:solidFill>
                  <a:schemeClr val="tx1"/>
                </a:solidFill>
                <a:latin typeface="Adobe Gothic Std B" pitchFamily="34" charset="-128"/>
                <a:ea typeface="Adobe Gothic Std B" pitchFamily="34" charset="-128"/>
              </a:rPr>
              <a:t>Microkernel System Structure </a:t>
            </a:r>
          </a:p>
        </p:txBody>
      </p:sp>
      <p:pic>
        <p:nvPicPr>
          <p:cNvPr id="7" name="Picture 2" descr="2_14.pd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061" y="1179959"/>
            <a:ext cx="8624069" cy="417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upload.wikimedia.org/wikipedia/en/thumb/4/41/NT_3.1_layers.png/600px-NT_3.1_layer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870" y="866649"/>
            <a:ext cx="7908335" cy="496907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643865" y="5847959"/>
            <a:ext cx="7027524" cy="830997"/>
          </a:xfrm>
          <a:prstGeom prst="rect">
            <a:avLst/>
          </a:prstGeom>
        </p:spPr>
        <p:txBody>
          <a:bodyPr wrap="square">
            <a:spAutoFit/>
          </a:bodyPr>
          <a:lstStyle/>
          <a:p>
            <a:r>
              <a:rPr lang="en-US" altLang="zh-TW" dirty="0" smtClean="0">
                <a:solidFill>
                  <a:srgbClr val="FF0000"/>
                </a:solidFill>
              </a:rPr>
              <a:t>The performance of the original version was low </a:t>
            </a:r>
            <a:r>
              <a:rPr lang="en-US" altLang="zh-TW" dirty="0">
                <a:solidFill>
                  <a:srgbClr val="FF0000"/>
                </a:solidFill>
              </a:rPr>
              <a:t>compared with that of Windows 95 (monolithic).</a:t>
            </a:r>
            <a:endParaRPr lang="zh-TW" altLang="en-US" dirty="0">
              <a:solidFill>
                <a:srgbClr val="FF0000"/>
              </a:solidFill>
            </a:endParaRPr>
          </a:p>
        </p:txBody>
      </p:sp>
    </p:spTree>
    <p:extLst>
      <p:ext uri="{BB962C8B-B14F-4D97-AF65-F5344CB8AC3E}">
        <p14:creationId xmlns:p14="http://schemas.microsoft.com/office/powerpoint/2010/main" val="394928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6E9935E-3CD4-4633-9AE2-1E4CB0E48361}" type="datetime1">
              <a:rPr kumimoji="0" lang="zh-TW" altLang="en-US" sz="1400" smtClean="0"/>
              <a:t>2018/3/5</a:t>
            </a:fld>
            <a:endParaRPr kumimoji="0" lang="en-US" altLang="zh-TW" sz="1400"/>
          </a:p>
        </p:txBody>
      </p:sp>
      <p:sp>
        <p:nvSpPr>
          <p:cNvPr id="348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9C89AFE-31C8-44AD-ADE9-2FFFD6D9A77C}" type="slidenum">
              <a:rPr kumimoji="0" lang="zh-TW" altLang="en-US" sz="1400"/>
              <a:pPr algn="r" eaLnBrk="1" hangingPunct="1">
                <a:spcBef>
                  <a:spcPct val="0"/>
                </a:spcBef>
                <a:buClrTx/>
                <a:buSzTx/>
                <a:buFontTx/>
                <a:buNone/>
              </a:pPr>
              <a:t>38</a:t>
            </a:fld>
            <a:endParaRPr kumimoji="0" lang="en-US" altLang="zh-TW" sz="1400"/>
          </a:p>
        </p:txBody>
      </p:sp>
      <p:sp>
        <p:nvSpPr>
          <p:cNvPr id="34820" name="Rectangle 2"/>
          <p:cNvSpPr>
            <a:spLocks noGrp="1" noChangeArrowheads="1"/>
          </p:cNvSpPr>
          <p:nvPr>
            <p:ph type="title"/>
          </p:nvPr>
        </p:nvSpPr>
        <p:spPr>
          <a:xfrm>
            <a:off x="609600" y="304800"/>
            <a:ext cx="7772400" cy="847725"/>
          </a:xfrm>
        </p:spPr>
        <p:txBody>
          <a:bodyPr/>
          <a:lstStyle/>
          <a:p>
            <a:pPr eaLnBrk="1" hangingPunct="1"/>
            <a:r>
              <a:rPr lang="en-US" altLang="zh-TW" sz="4000" b="1" dirty="0">
                <a:solidFill>
                  <a:schemeClr val="tx1"/>
                </a:solidFill>
                <a:latin typeface="Adobe Gothic Std B" pitchFamily="34" charset="-128"/>
                <a:ea typeface="Adobe Gothic Std B" pitchFamily="34" charset="-128"/>
              </a:rPr>
              <a:t>Modules</a:t>
            </a:r>
          </a:p>
        </p:txBody>
      </p:sp>
      <p:sp>
        <p:nvSpPr>
          <p:cNvPr id="249859" name="Rectangle 3" descr="Rectangle: Click to edit Master text styles&#10;Second level&#10;Third level&#10;Fourth level&#10;Fifth level"/>
          <p:cNvSpPr>
            <a:spLocks noGrp="1" noChangeArrowheads="1"/>
          </p:cNvSpPr>
          <p:nvPr>
            <p:ph type="body" idx="1"/>
          </p:nvPr>
        </p:nvSpPr>
        <p:spPr>
          <a:xfrm>
            <a:off x="461963" y="1354138"/>
            <a:ext cx="8337550" cy="5243512"/>
          </a:xfrm>
        </p:spPr>
        <p:txBody>
          <a:bodyPr/>
          <a:lstStyle/>
          <a:p>
            <a:pPr eaLnBrk="1" hangingPunct="1"/>
            <a:r>
              <a:rPr lang="en-US" altLang="zh-TW" b="1" dirty="0" smtClean="0">
                <a:solidFill>
                  <a:schemeClr val="tx2"/>
                </a:solidFill>
              </a:rPr>
              <a:t>Most modern operating systems implement kernel modules</a:t>
            </a:r>
          </a:p>
          <a:p>
            <a:pPr lvl="1" eaLnBrk="1" hangingPunct="1"/>
            <a:r>
              <a:rPr lang="en-US" altLang="zh-TW" dirty="0" smtClean="0"/>
              <a:t>Uses object-oriented approach</a:t>
            </a:r>
          </a:p>
          <a:p>
            <a:pPr lvl="1" eaLnBrk="1" hangingPunct="1"/>
            <a:r>
              <a:rPr lang="en-US" altLang="zh-TW" dirty="0" smtClean="0"/>
              <a:t>Each core component is </a:t>
            </a:r>
            <a:r>
              <a:rPr lang="en-US" altLang="zh-TW" dirty="0" smtClean="0">
                <a:solidFill>
                  <a:srgbClr val="000000"/>
                </a:solidFill>
              </a:rPr>
              <a:t>separate</a:t>
            </a:r>
          </a:p>
          <a:p>
            <a:pPr lvl="1" eaLnBrk="1" hangingPunct="1"/>
            <a:r>
              <a:rPr lang="en-US" altLang="zh-TW" dirty="0" smtClean="0"/>
              <a:t>Each talks to the others over </a:t>
            </a:r>
            <a:r>
              <a:rPr lang="en-US" altLang="zh-TW" dirty="0" smtClean="0">
                <a:solidFill>
                  <a:srgbClr val="000000"/>
                </a:solidFill>
              </a:rPr>
              <a:t>known</a:t>
            </a:r>
            <a:r>
              <a:rPr lang="en-US" altLang="zh-TW" dirty="0" smtClean="0"/>
              <a:t> </a:t>
            </a:r>
            <a:r>
              <a:rPr lang="en-US" altLang="zh-TW" dirty="0" smtClean="0">
                <a:solidFill>
                  <a:srgbClr val="000000"/>
                </a:solidFill>
              </a:rPr>
              <a:t>interfaces</a:t>
            </a:r>
          </a:p>
          <a:p>
            <a:pPr lvl="1" eaLnBrk="1" hangingPunct="1"/>
            <a:r>
              <a:rPr lang="en-US" altLang="zh-TW" dirty="0" smtClean="0"/>
              <a:t>Each is </a:t>
            </a:r>
            <a:r>
              <a:rPr lang="en-US" altLang="zh-TW" b="1" dirty="0" smtClean="0">
                <a:solidFill>
                  <a:srgbClr val="C72F05"/>
                </a:solidFill>
              </a:rPr>
              <a:t>loadable</a:t>
            </a:r>
            <a:r>
              <a:rPr lang="en-US" altLang="zh-TW" dirty="0" smtClean="0"/>
              <a:t> as needed within the kernel</a:t>
            </a:r>
          </a:p>
          <a:p>
            <a:pPr eaLnBrk="1" hangingPunct="1">
              <a:spcBef>
                <a:spcPts val="1200"/>
              </a:spcBef>
            </a:pPr>
            <a:r>
              <a:rPr lang="en-US" altLang="zh-TW" dirty="0" smtClean="0"/>
              <a:t>Overall, similar to layers but with more flexible</a:t>
            </a:r>
          </a:p>
          <a:p>
            <a:pPr lvl="1" eaLnBrk="1" hangingPunct="1">
              <a:spcBef>
                <a:spcPts val="1200"/>
              </a:spcBef>
            </a:pPr>
            <a:r>
              <a:rPr lang="en-US" altLang="zh-TW" dirty="0"/>
              <a:t>Linux, Solaris, </a:t>
            </a:r>
            <a:r>
              <a:rPr lang="en-US" altLang="zh-TW" dirty="0" err="1" smtClean="0"/>
              <a:t>etc</a:t>
            </a:r>
            <a:endParaRPr lang="en-US" altLang="zh-TW"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9859">
                                            <p:txEl>
                                              <p:pRg st="1" end="1"/>
                                            </p:txEl>
                                          </p:spTgt>
                                        </p:tgtEl>
                                        <p:attrNameLst>
                                          <p:attrName>style.visibility</p:attrName>
                                        </p:attrNameLst>
                                      </p:cBhvr>
                                      <p:to>
                                        <p:strVal val="visible"/>
                                      </p:to>
                                    </p:set>
                                    <p:anim calcmode="lin" valueType="num">
                                      <p:cBhvr additive="base">
                                        <p:cTn id="7" dur="500" fill="hold"/>
                                        <p:tgtEl>
                                          <p:spTgt spid="2498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8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9859">
                                            <p:txEl>
                                              <p:pRg st="2" end="2"/>
                                            </p:txEl>
                                          </p:spTgt>
                                        </p:tgtEl>
                                        <p:attrNameLst>
                                          <p:attrName>style.visibility</p:attrName>
                                        </p:attrNameLst>
                                      </p:cBhvr>
                                      <p:to>
                                        <p:strVal val="visible"/>
                                      </p:to>
                                    </p:set>
                                    <p:anim calcmode="lin" valueType="num">
                                      <p:cBhvr additive="base">
                                        <p:cTn id="13" dur="500" fill="hold"/>
                                        <p:tgtEl>
                                          <p:spTgt spid="2498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98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49859">
                                            <p:txEl>
                                              <p:pRg st="3" end="3"/>
                                            </p:txEl>
                                          </p:spTgt>
                                        </p:tgtEl>
                                        <p:attrNameLst>
                                          <p:attrName>style.visibility</p:attrName>
                                        </p:attrNameLst>
                                      </p:cBhvr>
                                      <p:to>
                                        <p:strVal val="visible"/>
                                      </p:to>
                                    </p:set>
                                    <p:anim calcmode="lin" valueType="num">
                                      <p:cBhvr additive="base">
                                        <p:cTn id="19" dur="500" fill="hold"/>
                                        <p:tgtEl>
                                          <p:spTgt spid="2498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98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49859">
                                            <p:txEl>
                                              <p:pRg st="4" end="4"/>
                                            </p:txEl>
                                          </p:spTgt>
                                        </p:tgtEl>
                                        <p:attrNameLst>
                                          <p:attrName>style.visibility</p:attrName>
                                        </p:attrNameLst>
                                      </p:cBhvr>
                                      <p:to>
                                        <p:strVal val="visible"/>
                                      </p:to>
                                    </p:set>
                                    <p:anim calcmode="lin" valueType="num">
                                      <p:cBhvr additive="base">
                                        <p:cTn id="25" dur="500" fill="hold"/>
                                        <p:tgtEl>
                                          <p:spTgt spid="2498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98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49859">
                                            <p:txEl>
                                              <p:pRg st="5" end="5"/>
                                            </p:txEl>
                                          </p:spTgt>
                                        </p:tgtEl>
                                        <p:attrNameLst>
                                          <p:attrName>style.visibility</p:attrName>
                                        </p:attrNameLst>
                                      </p:cBhvr>
                                      <p:to>
                                        <p:strVal val="visible"/>
                                      </p:to>
                                    </p:set>
                                    <p:anim calcmode="lin" valueType="num">
                                      <p:cBhvr additive="base">
                                        <p:cTn id="31" dur="500" fill="hold"/>
                                        <p:tgtEl>
                                          <p:spTgt spid="2498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98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49859">
                                            <p:txEl>
                                              <p:pRg st="6" end="6"/>
                                            </p:txEl>
                                          </p:spTgt>
                                        </p:tgtEl>
                                        <p:attrNameLst>
                                          <p:attrName>style.visibility</p:attrName>
                                        </p:attrNameLst>
                                      </p:cBhvr>
                                      <p:to>
                                        <p:strVal val="visible"/>
                                      </p:to>
                                    </p:set>
                                    <p:anim calcmode="lin" valueType="num">
                                      <p:cBhvr additive="base">
                                        <p:cTn id="37" dur="500" fill="hold"/>
                                        <p:tgtEl>
                                          <p:spTgt spid="2498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98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5BD7DC0E-799A-464D-8F3F-E9D33CC56754}" type="datetime1">
              <a:rPr kumimoji="0" lang="zh-TW" altLang="en-US" sz="1400" smtClean="0"/>
              <a:t>2018/3/5</a:t>
            </a:fld>
            <a:endParaRPr kumimoji="0" lang="en-US" altLang="zh-TW" sz="1400"/>
          </a:p>
        </p:txBody>
      </p:sp>
      <p:sp>
        <p:nvSpPr>
          <p:cNvPr id="35843"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12A499F6-3B56-4CE1-ACB3-2FEB484C19D7}" type="slidenum">
              <a:rPr kumimoji="0" lang="zh-TW" altLang="en-US" sz="1400"/>
              <a:pPr algn="r" eaLnBrk="1" hangingPunct="1">
                <a:spcBef>
                  <a:spcPct val="0"/>
                </a:spcBef>
                <a:buClrTx/>
                <a:buSzTx/>
                <a:buFontTx/>
                <a:buNone/>
              </a:pPr>
              <a:t>39</a:t>
            </a:fld>
            <a:endParaRPr kumimoji="0" lang="en-US" altLang="zh-TW" sz="1400"/>
          </a:p>
        </p:txBody>
      </p:sp>
      <p:sp>
        <p:nvSpPr>
          <p:cNvPr id="35844" name="Rectangle 2"/>
          <p:cNvSpPr>
            <a:spLocks noGrp="1" noChangeArrowheads="1"/>
          </p:cNvSpPr>
          <p:nvPr>
            <p:ph type="title"/>
          </p:nvPr>
        </p:nvSpPr>
        <p:spPr>
          <a:xfrm>
            <a:off x="549275" y="214313"/>
            <a:ext cx="7772400" cy="931862"/>
          </a:xfrm>
        </p:spPr>
        <p:txBody>
          <a:bodyPr/>
          <a:lstStyle/>
          <a:p>
            <a:pPr eaLnBrk="1" hangingPunct="1"/>
            <a:r>
              <a:rPr lang="en-US" altLang="zh-TW" sz="4000" b="1" dirty="0">
                <a:solidFill>
                  <a:schemeClr val="tx1"/>
                </a:solidFill>
                <a:latin typeface="Adobe Gothic Std B" pitchFamily="34" charset="-128"/>
                <a:ea typeface="Adobe Gothic Std B" pitchFamily="34" charset="-128"/>
              </a:rPr>
              <a:t>Solaris Modular Approach</a:t>
            </a:r>
          </a:p>
        </p:txBody>
      </p:sp>
      <p:pic>
        <p:nvPicPr>
          <p:cNvPr id="35845" name="Picture 3"/>
          <p:cNvPicPr>
            <a:picLocks noChangeAspect="1" noChangeArrowheads="1"/>
          </p:cNvPicPr>
          <p:nvPr/>
        </p:nvPicPr>
        <p:blipFill>
          <a:blip r:embed="rId4">
            <a:extLst>
              <a:ext uri="{28A0092B-C50C-407E-A947-70E740481C1C}">
                <a14:useLocalDpi xmlns:a14="http://schemas.microsoft.com/office/drawing/2010/main" val="0"/>
              </a:ext>
            </a:extLst>
          </a:blip>
          <a:srcRect l="528" t="18747" r="351" b="19215"/>
          <a:stretch>
            <a:fillRect/>
          </a:stretch>
        </p:blipFill>
        <p:spPr bwMode="auto">
          <a:xfrm>
            <a:off x="285750" y="1150938"/>
            <a:ext cx="8361363" cy="4370387"/>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FD427E3-7D85-4931-B3F6-EA6D8302D1CD}" type="datetime1">
              <a:rPr kumimoji="0" lang="zh-TW" altLang="en-US" sz="1400" smtClean="0"/>
              <a:t>2018/3/5</a:t>
            </a:fld>
            <a:endParaRPr kumimoji="0" lang="en-US" altLang="zh-TW" sz="1400"/>
          </a:p>
        </p:txBody>
      </p:sp>
      <p:sp>
        <p:nvSpPr>
          <p:cNvPr id="348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9C89AFE-31C8-44AD-ADE9-2FFFD6D9A77C}" type="slidenum">
              <a:rPr kumimoji="0" lang="zh-TW" altLang="en-US" sz="1400"/>
              <a:pPr algn="r" eaLnBrk="1" hangingPunct="1">
                <a:spcBef>
                  <a:spcPct val="0"/>
                </a:spcBef>
                <a:buClrTx/>
                <a:buSzTx/>
                <a:buFontTx/>
                <a:buNone/>
              </a:pPr>
              <a:t>40</a:t>
            </a:fld>
            <a:endParaRPr kumimoji="0" lang="en-US" altLang="zh-TW" sz="1400"/>
          </a:p>
        </p:txBody>
      </p:sp>
      <p:sp>
        <p:nvSpPr>
          <p:cNvPr id="34820" name="Rectangle 2"/>
          <p:cNvSpPr>
            <a:spLocks noGrp="1" noChangeArrowheads="1"/>
          </p:cNvSpPr>
          <p:nvPr>
            <p:ph type="title"/>
          </p:nvPr>
        </p:nvSpPr>
        <p:spPr>
          <a:xfrm>
            <a:off x="609600" y="304800"/>
            <a:ext cx="7772400" cy="847725"/>
          </a:xfrm>
        </p:spPr>
        <p:txBody>
          <a:bodyPr/>
          <a:lstStyle/>
          <a:p>
            <a:pPr eaLnBrk="1" hangingPunct="1"/>
            <a:r>
              <a:rPr lang="en-US" altLang="zh-TW" sz="4000" b="1" dirty="0">
                <a:solidFill>
                  <a:schemeClr val="tx1"/>
                </a:solidFill>
                <a:latin typeface="Adobe Gothic Std B" pitchFamily="34" charset="-128"/>
                <a:ea typeface="Adobe Gothic Std B" pitchFamily="34" charset="-128"/>
              </a:rPr>
              <a:t>Hybrid Systems</a:t>
            </a:r>
          </a:p>
        </p:txBody>
      </p:sp>
      <p:sp>
        <p:nvSpPr>
          <p:cNvPr id="249859" name="Rectangle 3" descr="Rectangle: Click to edit Master text styles&#10;Second level&#10;Third level&#10;Fourth level&#10;Fifth level"/>
          <p:cNvSpPr>
            <a:spLocks noGrp="1" noChangeArrowheads="1"/>
          </p:cNvSpPr>
          <p:nvPr>
            <p:ph type="body" idx="1"/>
          </p:nvPr>
        </p:nvSpPr>
        <p:spPr>
          <a:xfrm>
            <a:off x="461963" y="1078787"/>
            <a:ext cx="8337550" cy="5518863"/>
          </a:xfrm>
        </p:spPr>
        <p:txBody>
          <a:bodyPr/>
          <a:lstStyle/>
          <a:p>
            <a:pPr eaLnBrk="1" hangingPunct="1">
              <a:spcBef>
                <a:spcPts val="1200"/>
              </a:spcBef>
            </a:pPr>
            <a:r>
              <a:rPr lang="en-US" altLang="zh-TW" sz="2800" b="1" dirty="0" smtClean="0"/>
              <a:t>Not </a:t>
            </a:r>
            <a:r>
              <a:rPr lang="en-US" altLang="zh-TW" sz="2800" b="1" dirty="0"/>
              <a:t>one pure model</a:t>
            </a:r>
          </a:p>
          <a:p>
            <a:pPr lvl="1" eaLnBrk="1" hangingPunct="1">
              <a:spcBef>
                <a:spcPts val="1200"/>
              </a:spcBef>
            </a:pPr>
            <a:r>
              <a:rPr lang="en-US" altLang="zh-TW" sz="2400" b="1" dirty="0"/>
              <a:t>Hybrid </a:t>
            </a:r>
            <a:r>
              <a:rPr lang="en-US" altLang="zh-TW" sz="2400" b="1" dirty="0">
                <a:solidFill>
                  <a:srgbClr val="0000FF"/>
                </a:solidFill>
              </a:rPr>
              <a:t>combines multiple approaches </a:t>
            </a:r>
            <a:r>
              <a:rPr lang="en-US" altLang="zh-TW" sz="2400" b="1" dirty="0"/>
              <a:t>to address </a:t>
            </a:r>
            <a:r>
              <a:rPr lang="en-US" altLang="zh-TW" sz="2400" b="1" dirty="0">
                <a:solidFill>
                  <a:srgbClr val="FF0000"/>
                </a:solidFill>
              </a:rPr>
              <a:t>performance</a:t>
            </a:r>
            <a:r>
              <a:rPr lang="en-US" altLang="zh-TW" sz="2400" b="1" dirty="0"/>
              <a:t>, </a:t>
            </a:r>
            <a:r>
              <a:rPr lang="en-US" altLang="zh-TW" sz="2400" b="1" dirty="0">
                <a:solidFill>
                  <a:srgbClr val="FF0000"/>
                </a:solidFill>
              </a:rPr>
              <a:t>security</a:t>
            </a:r>
            <a:r>
              <a:rPr lang="en-US" altLang="zh-TW" sz="2400" b="1" dirty="0"/>
              <a:t>, </a:t>
            </a:r>
            <a:r>
              <a:rPr lang="en-US" altLang="zh-TW" sz="2400" b="1" dirty="0">
                <a:solidFill>
                  <a:srgbClr val="FF0000"/>
                </a:solidFill>
              </a:rPr>
              <a:t>usability</a:t>
            </a:r>
            <a:r>
              <a:rPr lang="en-US" altLang="zh-TW" sz="2400" b="1" dirty="0"/>
              <a:t> needs</a:t>
            </a:r>
          </a:p>
          <a:p>
            <a:pPr lvl="1" eaLnBrk="1" hangingPunct="1">
              <a:spcBef>
                <a:spcPts val="1200"/>
              </a:spcBef>
            </a:pPr>
            <a:r>
              <a:rPr lang="en-US" altLang="zh-TW" sz="2400" b="1" dirty="0">
                <a:solidFill>
                  <a:srgbClr val="FF0000"/>
                </a:solidFill>
              </a:rPr>
              <a:t>Linux</a:t>
            </a:r>
            <a:r>
              <a:rPr lang="en-US" altLang="zh-TW" sz="2400" b="1" dirty="0"/>
              <a:t> and Solaris kernels </a:t>
            </a:r>
            <a:r>
              <a:rPr lang="en-US" altLang="zh-TW" sz="2400" b="1" dirty="0">
                <a:solidFill>
                  <a:srgbClr val="FF0000"/>
                </a:solidFill>
              </a:rPr>
              <a:t>in kernel address space</a:t>
            </a:r>
            <a:r>
              <a:rPr lang="en-US" altLang="zh-TW" sz="2400" b="1" dirty="0"/>
              <a:t>, so monolithic, </a:t>
            </a:r>
            <a:r>
              <a:rPr lang="en-US" altLang="zh-TW" sz="2400" b="1" dirty="0">
                <a:solidFill>
                  <a:srgbClr val="FF0000"/>
                </a:solidFill>
              </a:rPr>
              <a:t>plus modular for dynamic loading of functionality</a:t>
            </a:r>
          </a:p>
          <a:p>
            <a:pPr lvl="1" eaLnBrk="1" hangingPunct="1">
              <a:spcBef>
                <a:spcPts val="1200"/>
              </a:spcBef>
            </a:pPr>
            <a:r>
              <a:rPr lang="en-US" altLang="zh-TW" sz="2400" b="1" dirty="0"/>
              <a:t>Windows mostly monolithic, plus microkernel for different subsystem personalities</a:t>
            </a:r>
          </a:p>
          <a:p>
            <a:pPr eaLnBrk="1" hangingPunct="1">
              <a:spcBef>
                <a:spcPts val="1200"/>
              </a:spcBef>
            </a:pPr>
            <a:r>
              <a:rPr lang="en-US" altLang="zh-TW" sz="2800" b="1" dirty="0"/>
              <a:t>Apple Mac OS X </a:t>
            </a:r>
            <a:r>
              <a:rPr lang="en-US" altLang="zh-TW" sz="2800" b="1" dirty="0">
                <a:solidFill>
                  <a:srgbClr val="FF0000"/>
                </a:solidFill>
              </a:rPr>
              <a:t>hybrid, layered</a:t>
            </a:r>
            <a:r>
              <a:rPr lang="en-US" altLang="zh-TW" sz="2800" b="1" dirty="0"/>
              <a:t>, </a:t>
            </a:r>
            <a:r>
              <a:rPr lang="en-US" altLang="zh-TW" sz="2800" b="1" dirty="0">
                <a:solidFill>
                  <a:srgbClr val="0000FF"/>
                </a:solidFill>
              </a:rPr>
              <a:t>Aqua UI </a:t>
            </a:r>
            <a:r>
              <a:rPr lang="en-US" altLang="zh-TW" sz="2800" b="1" dirty="0" smtClean="0"/>
              <a:t>+ </a:t>
            </a:r>
            <a:r>
              <a:rPr lang="en-US" altLang="zh-TW" sz="2800" b="1" dirty="0" smtClean="0">
                <a:solidFill>
                  <a:srgbClr val="0000FF"/>
                </a:solidFill>
              </a:rPr>
              <a:t>Cocoa</a:t>
            </a:r>
            <a:r>
              <a:rPr lang="en-US" altLang="zh-TW" sz="2800" b="1" dirty="0" smtClean="0"/>
              <a:t> </a:t>
            </a:r>
            <a:r>
              <a:rPr lang="en-US" altLang="zh-TW" sz="2800" b="1" dirty="0"/>
              <a:t>programming </a:t>
            </a:r>
            <a:r>
              <a:rPr lang="en-US" altLang="zh-TW" sz="2800" b="1" dirty="0" smtClean="0"/>
              <a:t>environment</a:t>
            </a:r>
            <a:endParaRPr lang="en-US" altLang="zh-TW" sz="2800" b="1" dirty="0"/>
          </a:p>
        </p:txBody>
      </p:sp>
    </p:spTree>
    <p:extLst>
      <p:ext uri="{BB962C8B-B14F-4D97-AF65-F5344CB8AC3E}">
        <p14:creationId xmlns:p14="http://schemas.microsoft.com/office/powerpoint/2010/main" val="62905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9859">
                                            <p:txEl>
                                              <p:pRg st="2" end="2"/>
                                            </p:txEl>
                                          </p:spTgt>
                                        </p:tgtEl>
                                        <p:attrNameLst>
                                          <p:attrName>style.visibility</p:attrName>
                                        </p:attrNameLst>
                                      </p:cBhvr>
                                      <p:to>
                                        <p:strVal val="visible"/>
                                      </p:to>
                                    </p:set>
                                    <p:anim calcmode="lin" valueType="num">
                                      <p:cBhvr additive="base">
                                        <p:cTn id="7" dur="500" fill="hold"/>
                                        <p:tgtEl>
                                          <p:spTgt spid="2498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8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98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9859">
                                            <p:txEl>
                                              <p:pRg st="4" end="4"/>
                                            </p:txEl>
                                          </p:spTgt>
                                        </p:tgtEl>
                                        <p:attrNameLst>
                                          <p:attrName>style.visibility</p:attrName>
                                        </p:attrNameLst>
                                      </p:cBhvr>
                                      <p:to>
                                        <p:strVal val="visible"/>
                                      </p:to>
                                    </p:set>
                                    <p:anim calcmode="lin" valueType="num">
                                      <p:cBhvr additive="base">
                                        <p:cTn id="17" dur="500" fill="hold"/>
                                        <p:tgtEl>
                                          <p:spTgt spid="249859">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98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542E0C8-B836-486B-BB6E-D822F516CED4}" type="datetime1">
              <a:rPr kumimoji="0" lang="zh-TW" altLang="en-US" sz="1400" smtClean="0"/>
              <a:t>2018/3/5</a:t>
            </a:fld>
            <a:endParaRPr kumimoji="0" lang="en-US" altLang="zh-TW" sz="1400"/>
          </a:p>
        </p:txBody>
      </p:sp>
      <p:sp>
        <p:nvSpPr>
          <p:cNvPr id="36867"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D33232CC-7338-4DA9-9B52-0A22BFF3636C}" type="slidenum">
              <a:rPr kumimoji="0" lang="zh-TW" altLang="en-US" sz="1400"/>
              <a:pPr algn="r" eaLnBrk="1" hangingPunct="1">
                <a:spcBef>
                  <a:spcPct val="0"/>
                </a:spcBef>
                <a:buClrTx/>
                <a:buSzTx/>
                <a:buFontTx/>
                <a:buNone/>
              </a:pPr>
              <a:t>41</a:t>
            </a:fld>
            <a:endParaRPr kumimoji="0" lang="en-US" altLang="zh-TW" sz="1400"/>
          </a:p>
        </p:txBody>
      </p:sp>
      <p:sp>
        <p:nvSpPr>
          <p:cNvPr id="36868" name="Rectangle 2"/>
          <p:cNvSpPr>
            <a:spLocks noGrp="1" noChangeArrowheads="1"/>
          </p:cNvSpPr>
          <p:nvPr>
            <p:ph type="title"/>
          </p:nvPr>
        </p:nvSpPr>
        <p:spPr>
          <a:xfrm>
            <a:off x="152312" y="273978"/>
            <a:ext cx="8763856" cy="784260"/>
          </a:xfrm>
        </p:spPr>
        <p:txBody>
          <a:bodyPr/>
          <a:lstStyle/>
          <a:p>
            <a:pPr eaLnBrk="1" hangingPunct="1"/>
            <a:r>
              <a:rPr lang="en-US" altLang="zh-TW" sz="4000" b="1" dirty="0">
                <a:solidFill>
                  <a:schemeClr val="tx1"/>
                </a:solidFill>
                <a:latin typeface="Adobe Gothic Std B" pitchFamily="34" charset="-128"/>
                <a:ea typeface="Adobe Gothic Std B" pitchFamily="34" charset="-128"/>
              </a:rPr>
              <a:t>Mac OS X </a:t>
            </a:r>
            <a:r>
              <a:rPr lang="en-US" altLang="zh-TW" sz="4000" b="1" dirty="0" smtClean="0">
                <a:solidFill>
                  <a:schemeClr val="tx1"/>
                </a:solidFill>
                <a:latin typeface="Adobe Gothic Std B" pitchFamily="34" charset="-128"/>
                <a:ea typeface="Adobe Gothic Std B" pitchFamily="34" charset="-128"/>
              </a:rPr>
              <a:t>Structure, </a:t>
            </a:r>
            <a:r>
              <a:rPr lang="en-US" altLang="zh-TW" sz="3600" b="1" dirty="0" smtClean="0">
                <a:solidFill>
                  <a:schemeClr val="tx1"/>
                </a:solidFill>
                <a:latin typeface="Adobe Gothic Std B" pitchFamily="34" charset="-128"/>
                <a:ea typeface="Adobe Gothic Std B" pitchFamily="34" charset="-128"/>
              </a:rPr>
              <a:t>hybrid structured</a:t>
            </a:r>
            <a:endParaRPr lang="en-US" altLang="zh-TW" sz="3600" b="1" dirty="0">
              <a:solidFill>
                <a:schemeClr val="tx1"/>
              </a:solidFill>
              <a:latin typeface="Adobe Gothic Std B" pitchFamily="34" charset="-128"/>
              <a:ea typeface="Adobe Gothic Std B" pitchFamily="34" charset="-128"/>
            </a:endParaRPr>
          </a:p>
        </p:txBody>
      </p:sp>
      <p:pic>
        <p:nvPicPr>
          <p:cNvPr id="36869" name="Picture 3"/>
          <p:cNvPicPr>
            <a:picLocks noChangeAspect="1" noChangeArrowheads="1"/>
          </p:cNvPicPr>
          <p:nvPr/>
        </p:nvPicPr>
        <p:blipFill>
          <a:blip r:embed="rId4">
            <a:extLst>
              <a:ext uri="{28A0092B-C50C-407E-A947-70E740481C1C}">
                <a14:useLocalDpi xmlns:a14="http://schemas.microsoft.com/office/drawing/2010/main" val="0"/>
              </a:ext>
            </a:extLst>
          </a:blip>
          <a:srcRect l="520" t="10417" r="781" b="10417"/>
          <a:stretch>
            <a:fillRect/>
          </a:stretch>
        </p:blipFill>
        <p:spPr bwMode="auto">
          <a:xfrm>
            <a:off x="785813" y="1333500"/>
            <a:ext cx="7286625" cy="4383088"/>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
        <p:nvSpPr>
          <p:cNvPr id="32775" name="Text Box 4"/>
          <p:cNvSpPr txBox="1">
            <a:spLocks noChangeArrowheads="1"/>
          </p:cNvSpPr>
          <p:nvPr/>
        </p:nvSpPr>
        <p:spPr bwMode="auto">
          <a:xfrm>
            <a:off x="6446838" y="4986338"/>
            <a:ext cx="15763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lang="en-US" altLang="zh-TW" sz="1400">
                <a:solidFill>
                  <a:srgbClr val="C72F05"/>
                </a:solidFill>
              </a:rPr>
              <a:t>MM, RPCs, IPC, </a:t>
            </a:r>
          </a:p>
          <a:p>
            <a:pPr eaLnBrk="1" hangingPunct="1">
              <a:spcBef>
                <a:spcPct val="0"/>
              </a:spcBef>
              <a:buClrTx/>
              <a:buSzTx/>
              <a:buFontTx/>
              <a:buNone/>
            </a:pPr>
            <a:r>
              <a:rPr lang="en-US" altLang="zh-TW" sz="1400">
                <a:solidFill>
                  <a:srgbClr val="C72F05"/>
                </a:solidFill>
              </a:rPr>
              <a:t>thread scheduling</a:t>
            </a:r>
          </a:p>
          <a:p>
            <a:pPr eaLnBrk="1" hangingPunct="1">
              <a:spcBef>
                <a:spcPct val="0"/>
              </a:spcBef>
              <a:buClrTx/>
              <a:buSzTx/>
              <a:buFontTx/>
              <a:buNone/>
            </a:pPr>
            <a:r>
              <a:rPr lang="en-US" altLang="zh-TW" sz="1400">
                <a:solidFill>
                  <a:srgbClr val="C72F05"/>
                </a:solidFill>
              </a:rPr>
              <a:t>Message passing</a:t>
            </a:r>
          </a:p>
        </p:txBody>
      </p:sp>
      <p:sp>
        <p:nvSpPr>
          <p:cNvPr id="32776" name="Text Box 5"/>
          <p:cNvSpPr txBox="1">
            <a:spLocks noChangeArrowheads="1"/>
          </p:cNvSpPr>
          <p:nvPr/>
        </p:nvSpPr>
        <p:spPr bwMode="auto">
          <a:xfrm>
            <a:off x="5160963" y="4078288"/>
            <a:ext cx="18589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lang="en-US" altLang="zh-TW" sz="1400">
                <a:solidFill>
                  <a:srgbClr val="0000FF"/>
                </a:solidFill>
              </a:rPr>
              <a:t>BSD CLI, networking,</a:t>
            </a:r>
          </a:p>
          <a:p>
            <a:pPr eaLnBrk="1" hangingPunct="1">
              <a:spcBef>
                <a:spcPct val="0"/>
              </a:spcBef>
              <a:buClrTx/>
              <a:buSzTx/>
              <a:buFontTx/>
              <a:buNone/>
            </a:pPr>
            <a:r>
              <a:rPr lang="en-US" altLang="zh-TW" sz="1400">
                <a:solidFill>
                  <a:srgbClr val="0000FF"/>
                </a:solidFill>
              </a:rPr>
              <a:t>file systems, </a:t>
            </a:r>
          </a:p>
          <a:p>
            <a:pPr eaLnBrk="1" hangingPunct="1">
              <a:spcBef>
                <a:spcPct val="0"/>
              </a:spcBef>
              <a:buClrTx/>
              <a:buSzTx/>
              <a:buFontTx/>
              <a:buNone/>
            </a:pPr>
            <a:r>
              <a:rPr lang="en-US" altLang="zh-TW" sz="1400">
                <a:solidFill>
                  <a:srgbClr val="0000FF"/>
                </a:solidFill>
              </a:rPr>
              <a:t>POSIX APIs</a:t>
            </a:r>
          </a:p>
        </p:txBody>
      </p:sp>
      <p:sp>
        <p:nvSpPr>
          <p:cNvPr id="32777" name="Text Box 6"/>
          <p:cNvSpPr txBox="1">
            <a:spLocks noChangeArrowheads="1"/>
          </p:cNvSpPr>
          <p:nvPr/>
        </p:nvSpPr>
        <p:spPr bwMode="auto">
          <a:xfrm>
            <a:off x="885825" y="3249613"/>
            <a:ext cx="28606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lang="en-US" altLang="zh-TW" sz="1400">
                <a:solidFill>
                  <a:srgbClr val="D60093"/>
                </a:solidFill>
              </a:rPr>
              <a:t>I/O kit for device drivers</a:t>
            </a:r>
          </a:p>
          <a:p>
            <a:pPr eaLnBrk="1" hangingPunct="1">
              <a:spcBef>
                <a:spcPct val="0"/>
              </a:spcBef>
              <a:buClrTx/>
              <a:buSzTx/>
              <a:buFontTx/>
              <a:buNone/>
            </a:pPr>
            <a:r>
              <a:rPr lang="en-US" altLang="zh-TW" sz="1600" b="1">
                <a:solidFill>
                  <a:srgbClr val="D60093"/>
                </a:solidFill>
              </a:rPr>
              <a:t>Dynamically</a:t>
            </a:r>
            <a:r>
              <a:rPr lang="en-US" altLang="zh-TW" sz="1400">
                <a:solidFill>
                  <a:srgbClr val="D60093"/>
                </a:solidFill>
              </a:rPr>
              <a:t> loadable modules</a:t>
            </a:r>
          </a:p>
        </p:txBody>
      </p:sp>
      <p:sp>
        <p:nvSpPr>
          <p:cNvPr id="36873" name="Line 7"/>
          <p:cNvSpPr>
            <a:spLocks noChangeShapeType="1"/>
          </p:cNvSpPr>
          <p:nvPr/>
        </p:nvSpPr>
        <p:spPr bwMode="auto">
          <a:xfrm>
            <a:off x="4121468" y="3031332"/>
            <a:ext cx="0" cy="1535113"/>
          </a:xfrm>
          <a:prstGeom prst="line">
            <a:avLst/>
          </a:prstGeom>
          <a:noFill/>
          <a:ln w="5715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36874" name="Line 10"/>
          <p:cNvSpPr>
            <a:spLocks noChangeShapeType="1"/>
          </p:cNvSpPr>
          <p:nvPr/>
        </p:nvSpPr>
        <p:spPr bwMode="auto">
          <a:xfrm>
            <a:off x="7345363" y="3031332"/>
            <a:ext cx="0" cy="1535112"/>
          </a:xfrm>
          <a:prstGeom prst="line">
            <a:avLst/>
          </a:prstGeom>
          <a:noFill/>
          <a:ln w="57150">
            <a:solidFill>
              <a:srgbClr val="C72F05"/>
            </a:solidFill>
            <a:round/>
            <a:headEnd/>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
        <p:nvSpPr>
          <p:cNvPr id="11" name="矩形 10"/>
          <p:cNvSpPr/>
          <p:nvPr/>
        </p:nvSpPr>
        <p:spPr>
          <a:xfrm>
            <a:off x="455400" y="5756832"/>
            <a:ext cx="8157680" cy="707886"/>
          </a:xfrm>
          <a:prstGeom prst="rect">
            <a:avLst/>
          </a:prstGeom>
        </p:spPr>
        <p:txBody>
          <a:bodyPr wrap="square">
            <a:spAutoFit/>
          </a:bodyPr>
          <a:lstStyle/>
          <a:p>
            <a:r>
              <a:rPr lang="en-US" altLang="zh-TW" sz="2000" b="1" dirty="0" smtClean="0"/>
              <a:t>Mach </a:t>
            </a:r>
            <a:r>
              <a:rPr lang="en-US" altLang="zh-TW" sz="2000" b="1" dirty="0"/>
              <a:t>microkernel </a:t>
            </a:r>
            <a:r>
              <a:rPr lang="en-US" altLang="zh-TW" sz="2000" b="1" dirty="0" smtClean="0"/>
              <a:t>+ BSD </a:t>
            </a:r>
            <a:r>
              <a:rPr lang="en-US" altLang="zh-TW" sz="2000" b="1" dirty="0"/>
              <a:t>Unix </a:t>
            </a:r>
            <a:r>
              <a:rPr lang="en-US" altLang="zh-TW" sz="2000" b="1" dirty="0" smtClean="0"/>
              <a:t>parts + I/O </a:t>
            </a:r>
            <a:r>
              <a:rPr lang="en-US" altLang="zh-TW" sz="2000" b="1" dirty="0"/>
              <a:t>kit </a:t>
            </a:r>
            <a:r>
              <a:rPr lang="en-US" altLang="zh-TW" sz="2000" b="1" dirty="0" smtClean="0"/>
              <a:t>+ dynamically </a:t>
            </a:r>
            <a:r>
              <a:rPr lang="en-US" altLang="zh-TW" sz="2000" b="1" dirty="0"/>
              <a:t>loadable modules (called kernel extensions)</a:t>
            </a:r>
            <a:endParaRPr lang="zh-TW"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777"/>
                                        </p:tgtEl>
                                        <p:attrNameLst>
                                          <p:attrName>style.visibility</p:attrName>
                                        </p:attrNameLst>
                                      </p:cBhvr>
                                      <p:to>
                                        <p:strVal val="visible"/>
                                      </p:to>
                                    </p:set>
                                    <p:animEffect transition="in" filter="fade">
                                      <p:cBhvr>
                                        <p:cTn id="7" dur="1000"/>
                                        <p:tgtEl>
                                          <p:spTgt spid="32777"/>
                                        </p:tgtEl>
                                      </p:cBhvr>
                                    </p:animEffect>
                                    <p:anim calcmode="lin" valueType="num">
                                      <p:cBhvr>
                                        <p:cTn id="8" dur="1000" fill="hold"/>
                                        <p:tgtEl>
                                          <p:spTgt spid="32777"/>
                                        </p:tgtEl>
                                        <p:attrNameLst>
                                          <p:attrName>ppt_x</p:attrName>
                                        </p:attrNameLst>
                                      </p:cBhvr>
                                      <p:tavLst>
                                        <p:tav tm="0">
                                          <p:val>
                                            <p:strVal val="#ppt_x"/>
                                          </p:val>
                                        </p:tav>
                                        <p:tav tm="100000">
                                          <p:val>
                                            <p:strVal val="#ppt_x"/>
                                          </p:val>
                                        </p:tav>
                                      </p:tavLst>
                                    </p:anim>
                                    <p:anim calcmode="lin" valueType="num">
                                      <p:cBhvr>
                                        <p:cTn id="9" dur="1000" fill="hold"/>
                                        <p:tgtEl>
                                          <p:spTgt spid="3277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776"/>
                                        </p:tgtEl>
                                        <p:attrNameLst>
                                          <p:attrName>style.visibility</p:attrName>
                                        </p:attrNameLst>
                                      </p:cBhvr>
                                      <p:to>
                                        <p:strVal val="visible"/>
                                      </p:to>
                                    </p:set>
                                    <p:animEffect transition="in" filter="fade">
                                      <p:cBhvr>
                                        <p:cTn id="14" dur="1000"/>
                                        <p:tgtEl>
                                          <p:spTgt spid="32776"/>
                                        </p:tgtEl>
                                      </p:cBhvr>
                                    </p:animEffect>
                                    <p:anim calcmode="lin" valueType="num">
                                      <p:cBhvr>
                                        <p:cTn id="15" dur="1000" fill="hold"/>
                                        <p:tgtEl>
                                          <p:spTgt spid="32776"/>
                                        </p:tgtEl>
                                        <p:attrNameLst>
                                          <p:attrName>ppt_x</p:attrName>
                                        </p:attrNameLst>
                                      </p:cBhvr>
                                      <p:tavLst>
                                        <p:tav tm="0">
                                          <p:val>
                                            <p:strVal val="#ppt_x"/>
                                          </p:val>
                                        </p:tav>
                                        <p:tav tm="100000">
                                          <p:val>
                                            <p:strVal val="#ppt_x"/>
                                          </p:val>
                                        </p:tav>
                                      </p:tavLst>
                                    </p:anim>
                                    <p:anim calcmode="lin" valueType="num">
                                      <p:cBhvr>
                                        <p:cTn id="16" dur="1000" fill="hold"/>
                                        <p:tgtEl>
                                          <p:spTgt spid="3277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775"/>
                                        </p:tgtEl>
                                        <p:attrNameLst>
                                          <p:attrName>style.visibility</p:attrName>
                                        </p:attrNameLst>
                                      </p:cBhvr>
                                      <p:to>
                                        <p:strVal val="visible"/>
                                      </p:to>
                                    </p:set>
                                    <p:animEffect transition="in" filter="fade">
                                      <p:cBhvr>
                                        <p:cTn id="21" dur="1000"/>
                                        <p:tgtEl>
                                          <p:spTgt spid="32775"/>
                                        </p:tgtEl>
                                      </p:cBhvr>
                                    </p:animEffect>
                                    <p:anim calcmode="lin" valueType="num">
                                      <p:cBhvr>
                                        <p:cTn id="22" dur="1000" fill="hold"/>
                                        <p:tgtEl>
                                          <p:spTgt spid="32775"/>
                                        </p:tgtEl>
                                        <p:attrNameLst>
                                          <p:attrName>ppt_x</p:attrName>
                                        </p:attrNameLst>
                                      </p:cBhvr>
                                      <p:tavLst>
                                        <p:tav tm="0">
                                          <p:val>
                                            <p:strVal val="#ppt_x"/>
                                          </p:val>
                                        </p:tav>
                                        <p:tav tm="100000">
                                          <p:val>
                                            <p:strVal val="#ppt_x"/>
                                          </p:val>
                                        </p:tav>
                                      </p:tavLst>
                                    </p:anim>
                                    <p:anim calcmode="lin" valueType="num">
                                      <p:cBhvr>
                                        <p:cTn id="23" dur="1000" fill="hold"/>
                                        <p:tgtEl>
                                          <p:spTgt spid="327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p:bldP spid="32776" grpId="0"/>
      <p:bldP spid="3277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FCD5208-D9E9-4D58-B6A1-0A9086F1927A}" type="datetime1">
              <a:rPr kumimoji="0" lang="zh-TW" altLang="en-US" sz="1400" smtClean="0"/>
              <a:t>2018/3/5</a:t>
            </a:fld>
            <a:endParaRPr kumimoji="0" lang="en-US" altLang="zh-TW" sz="1400"/>
          </a:p>
        </p:txBody>
      </p:sp>
      <p:sp>
        <p:nvSpPr>
          <p:cNvPr id="348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9C89AFE-31C8-44AD-ADE9-2FFFD6D9A77C}" type="slidenum">
              <a:rPr kumimoji="0" lang="zh-TW" altLang="en-US" sz="1400"/>
              <a:pPr algn="r" eaLnBrk="1" hangingPunct="1">
                <a:spcBef>
                  <a:spcPct val="0"/>
                </a:spcBef>
                <a:buClrTx/>
                <a:buSzTx/>
                <a:buFontTx/>
                <a:buNone/>
              </a:pPr>
              <a:t>42</a:t>
            </a:fld>
            <a:endParaRPr kumimoji="0" lang="en-US" altLang="zh-TW" sz="1400"/>
          </a:p>
        </p:txBody>
      </p:sp>
      <p:sp>
        <p:nvSpPr>
          <p:cNvPr id="34820" name="Rectangle 2"/>
          <p:cNvSpPr>
            <a:spLocks noGrp="1" noChangeArrowheads="1"/>
          </p:cNvSpPr>
          <p:nvPr>
            <p:ph type="title"/>
          </p:nvPr>
        </p:nvSpPr>
        <p:spPr>
          <a:xfrm>
            <a:off x="609600" y="304800"/>
            <a:ext cx="7772400" cy="847725"/>
          </a:xfrm>
        </p:spPr>
        <p:txBody>
          <a:bodyPr/>
          <a:lstStyle/>
          <a:p>
            <a:pPr eaLnBrk="1" hangingPunct="1"/>
            <a:r>
              <a:rPr lang="en-US" altLang="zh-TW" sz="4000" b="1" dirty="0" smtClean="0">
                <a:solidFill>
                  <a:schemeClr val="tx1"/>
                </a:solidFill>
                <a:latin typeface="Adobe Gothic Std B" pitchFamily="34" charset="-128"/>
                <a:ea typeface="Adobe Gothic Std B" pitchFamily="34" charset="-128"/>
              </a:rPr>
              <a:t>iOS</a:t>
            </a:r>
            <a:endParaRPr lang="en-US" altLang="zh-TW" sz="4000" b="1" dirty="0">
              <a:solidFill>
                <a:schemeClr val="tx1"/>
              </a:solidFill>
              <a:latin typeface="Adobe Gothic Std B" pitchFamily="34" charset="-128"/>
              <a:ea typeface="Adobe Gothic Std B" pitchFamily="34" charset="-128"/>
            </a:endParaRPr>
          </a:p>
        </p:txBody>
      </p:sp>
      <p:sp>
        <p:nvSpPr>
          <p:cNvPr id="249859" name="Rectangle 3" descr="Rectangle: Click to edit Master text styles&#10;Second level&#10;Third level&#10;Fourth level&#10;Fifth level"/>
          <p:cNvSpPr>
            <a:spLocks noGrp="1" noChangeArrowheads="1"/>
          </p:cNvSpPr>
          <p:nvPr>
            <p:ph type="body" idx="1"/>
          </p:nvPr>
        </p:nvSpPr>
        <p:spPr>
          <a:xfrm>
            <a:off x="205483" y="1078787"/>
            <a:ext cx="8594030" cy="5518863"/>
          </a:xfrm>
        </p:spPr>
        <p:txBody>
          <a:bodyPr/>
          <a:lstStyle/>
          <a:p>
            <a:pPr eaLnBrk="1" hangingPunct="1">
              <a:spcBef>
                <a:spcPts val="1200"/>
              </a:spcBef>
            </a:pPr>
            <a:r>
              <a:rPr lang="en-US" altLang="zh-TW" sz="2800" b="1" dirty="0"/>
              <a:t>Apple mobile OS for iPhone, iPad</a:t>
            </a:r>
          </a:p>
          <a:p>
            <a:pPr lvl="1" eaLnBrk="1" hangingPunct="1">
              <a:spcBef>
                <a:spcPts val="1200"/>
              </a:spcBef>
            </a:pPr>
            <a:r>
              <a:rPr lang="en-US" altLang="zh-TW" sz="2400" b="1" dirty="0">
                <a:solidFill>
                  <a:srgbClr val="0000FF"/>
                </a:solidFill>
              </a:rPr>
              <a:t>Structured on Mac OS X, added functionality</a:t>
            </a:r>
          </a:p>
          <a:p>
            <a:pPr lvl="1" eaLnBrk="1" hangingPunct="1">
              <a:spcBef>
                <a:spcPts val="1200"/>
              </a:spcBef>
            </a:pPr>
            <a:r>
              <a:rPr lang="en-US" altLang="zh-TW" sz="2400" b="1" dirty="0"/>
              <a:t>Does not run OS X applications </a:t>
            </a:r>
            <a:r>
              <a:rPr lang="en-US" altLang="zh-TW" sz="2400" b="1" dirty="0" smtClean="0"/>
              <a:t>natively (directly)</a:t>
            </a:r>
            <a:endParaRPr lang="en-US" altLang="zh-TW" sz="2400" b="1" dirty="0"/>
          </a:p>
          <a:p>
            <a:pPr lvl="2" eaLnBrk="1" hangingPunct="1">
              <a:spcBef>
                <a:spcPts val="1200"/>
              </a:spcBef>
            </a:pPr>
            <a:r>
              <a:rPr lang="en-US" altLang="zh-TW" sz="2000" b="1" dirty="0"/>
              <a:t>Also runs on different CPU architecture (ARM vs. Intel)</a:t>
            </a:r>
          </a:p>
          <a:p>
            <a:pPr lvl="1" eaLnBrk="1" hangingPunct="1">
              <a:spcBef>
                <a:spcPts val="1200"/>
              </a:spcBef>
            </a:pPr>
            <a:r>
              <a:rPr lang="en-US" altLang="zh-TW" sz="2400" b="1" dirty="0">
                <a:solidFill>
                  <a:srgbClr val="0000FF"/>
                </a:solidFill>
              </a:rPr>
              <a:t>Cocoa Touch </a:t>
            </a:r>
            <a:r>
              <a:rPr lang="en-US" altLang="zh-TW" sz="2400" b="1" dirty="0"/>
              <a:t>Objective-C API for developing apps</a:t>
            </a:r>
          </a:p>
          <a:p>
            <a:pPr lvl="1" eaLnBrk="1" hangingPunct="1">
              <a:spcBef>
                <a:spcPts val="1200"/>
              </a:spcBef>
            </a:pPr>
            <a:r>
              <a:rPr lang="en-US" altLang="zh-TW" sz="2400" b="1" dirty="0">
                <a:solidFill>
                  <a:srgbClr val="0000FF"/>
                </a:solidFill>
              </a:rPr>
              <a:t>Media services </a:t>
            </a:r>
            <a:r>
              <a:rPr lang="en-US" altLang="zh-TW" sz="2400" b="1" dirty="0"/>
              <a:t>layer for graphics, audio, video</a:t>
            </a:r>
          </a:p>
          <a:p>
            <a:pPr lvl="1" eaLnBrk="1" hangingPunct="1">
              <a:spcBef>
                <a:spcPts val="1200"/>
              </a:spcBef>
            </a:pPr>
            <a:r>
              <a:rPr lang="en-US" altLang="zh-TW" sz="2400" b="1" dirty="0">
                <a:solidFill>
                  <a:srgbClr val="0000FF"/>
                </a:solidFill>
              </a:rPr>
              <a:t>Core services </a:t>
            </a:r>
            <a:r>
              <a:rPr lang="en-US" altLang="zh-TW" sz="2400" b="1" dirty="0"/>
              <a:t>provides cloud computing, databases</a:t>
            </a:r>
          </a:p>
          <a:p>
            <a:pPr lvl="1" eaLnBrk="1" hangingPunct="1">
              <a:spcBef>
                <a:spcPts val="1200"/>
              </a:spcBef>
            </a:pPr>
            <a:r>
              <a:rPr lang="en-US" altLang="zh-TW" sz="2400" b="1" dirty="0"/>
              <a:t>Core operating system, based on </a:t>
            </a:r>
            <a:r>
              <a:rPr lang="en-US" altLang="zh-TW" sz="2400" b="1" dirty="0">
                <a:solidFill>
                  <a:srgbClr val="0000FF"/>
                </a:solidFill>
              </a:rPr>
              <a:t>Mac OS X kernel</a:t>
            </a:r>
          </a:p>
        </p:txBody>
      </p:sp>
    </p:spTree>
    <p:extLst>
      <p:ext uri="{BB962C8B-B14F-4D97-AF65-F5344CB8AC3E}">
        <p14:creationId xmlns:p14="http://schemas.microsoft.com/office/powerpoint/2010/main" val="1477998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85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985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985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98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8F5D49C-53E3-4F46-AC9C-C6FF1765457B}" type="datetime1">
              <a:rPr kumimoji="0" lang="zh-TW" altLang="en-US" sz="1400" smtClean="0"/>
              <a:t>2018/3/5</a:t>
            </a:fld>
            <a:endParaRPr kumimoji="0" lang="en-US" altLang="zh-TW" sz="1400"/>
          </a:p>
        </p:txBody>
      </p:sp>
      <p:sp>
        <p:nvSpPr>
          <p:cNvPr id="348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9C89AFE-31C8-44AD-ADE9-2FFFD6D9A77C}" type="slidenum">
              <a:rPr kumimoji="0" lang="zh-TW" altLang="en-US" sz="1400"/>
              <a:pPr algn="r" eaLnBrk="1" hangingPunct="1">
                <a:spcBef>
                  <a:spcPct val="0"/>
                </a:spcBef>
                <a:buClrTx/>
                <a:buSzTx/>
                <a:buFontTx/>
                <a:buNone/>
              </a:pPr>
              <a:t>43</a:t>
            </a:fld>
            <a:endParaRPr kumimoji="0" lang="en-US" altLang="zh-TW" sz="1400"/>
          </a:p>
        </p:txBody>
      </p:sp>
      <p:sp>
        <p:nvSpPr>
          <p:cNvPr id="34820" name="Rectangle 2"/>
          <p:cNvSpPr>
            <a:spLocks noGrp="1" noChangeArrowheads="1"/>
          </p:cNvSpPr>
          <p:nvPr>
            <p:ph type="title"/>
          </p:nvPr>
        </p:nvSpPr>
        <p:spPr>
          <a:xfrm>
            <a:off x="609600" y="-143838"/>
            <a:ext cx="7772400" cy="914401"/>
          </a:xfrm>
        </p:spPr>
        <p:txBody>
          <a:bodyPr/>
          <a:lstStyle/>
          <a:p>
            <a:pPr eaLnBrk="1" hangingPunct="1"/>
            <a:r>
              <a:rPr lang="en-US" altLang="zh-TW" sz="4000" b="1" dirty="0">
                <a:solidFill>
                  <a:schemeClr val="tx1"/>
                </a:solidFill>
                <a:latin typeface="Adobe Gothic Std B" pitchFamily="34" charset="-128"/>
                <a:ea typeface="Adobe Gothic Std B" pitchFamily="34" charset="-128"/>
              </a:rPr>
              <a:t>Android</a:t>
            </a:r>
          </a:p>
        </p:txBody>
      </p:sp>
      <p:sp>
        <p:nvSpPr>
          <p:cNvPr id="249859" name="Rectangle 3" descr="Rectangle: Click to edit Master text styles&#10;Second level&#10;Third level&#10;Fourth level&#10;Fifth level"/>
          <p:cNvSpPr>
            <a:spLocks noGrp="1" noChangeArrowheads="1"/>
          </p:cNvSpPr>
          <p:nvPr>
            <p:ph type="body" idx="1"/>
          </p:nvPr>
        </p:nvSpPr>
        <p:spPr>
          <a:xfrm>
            <a:off x="256480" y="667821"/>
            <a:ext cx="8507376" cy="5815172"/>
          </a:xfrm>
        </p:spPr>
        <p:txBody>
          <a:bodyPr/>
          <a:lstStyle/>
          <a:p>
            <a:pPr eaLnBrk="1" hangingPunct="1">
              <a:spcBef>
                <a:spcPts val="600"/>
              </a:spcBef>
            </a:pPr>
            <a:r>
              <a:rPr lang="en-US" altLang="zh-TW" sz="2800" b="1" dirty="0">
                <a:solidFill>
                  <a:srgbClr val="0000FF"/>
                </a:solidFill>
              </a:rPr>
              <a:t>Open </a:t>
            </a:r>
            <a:r>
              <a:rPr lang="en-US" altLang="zh-TW" sz="2800" b="1" dirty="0" smtClean="0">
                <a:solidFill>
                  <a:srgbClr val="0000FF"/>
                </a:solidFill>
              </a:rPr>
              <a:t>Source</a:t>
            </a:r>
            <a:r>
              <a:rPr lang="en-US" altLang="zh-TW" sz="2800" b="1" dirty="0" smtClean="0"/>
              <a:t>: Developed </a:t>
            </a:r>
            <a:r>
              <a:rPr lang="en-US" altLang="zh-TW" sz="2800" b="1" dirty="0"/>
              <a:t>by Open Handset Alliance (mostly Google)</a:t>
            </a:r>
          </a:p>
          <a:p>
            <a:pPr eaLnBrk="1" hangingPunct="1">
              <a:spcBef>
                <a:spcPts val="600"/>
              </a:spcBef>
            </a:pPr>
            <a:r>
              <a:rPr lang="en-US" altLang="zh-TW" sz="2800" b="1" dirty="0" smtClean="0"/>
              <a:t>Similar </a:t>
            </a:r>
            <a:r>
              <a:rPr lang="en-US" altLang="zh-TW" sz="2800" b="1" dirty="0"/>
              <a:t>stack to IOS</a:t>
            </a:r>
          </a:p>
          <a:p>
            <a:pPr eaLnBrk="1" hangingPunct="1">
              <a:spcBef>
                <a:spcPts val="600"/>
              </a:spcBef>
            </a:pPr>
            <a:r>
              <a:rPr lang="en-US" altLang="zh-TW" sz="2800" b="1" dirty="0"/>
              <a:t>Based on </a:t>
            </a:r>
            <a:r>
              <a:rPr lang="en-US" altLang="zh-TW" sz="2800" b="1" dirty="0">
                <a:solidFill>
                  <a:srgbClr val="0000FF"/>
                </a:solidFill>
              </a:rPr>
              <a:t>Linux kernel </a:t>
            </a:r>
            <a:r>
              <a:rPr lang="en-US" altLang="zh-TW" sz="2800" b="1" dirty="0"/>
              <a:t>but modified</a:t>
            </a:r>
          </a:p>
          <a:p>
            <a:pPr lvl="1" eaLnBrk="1" hangingPunct="1">
              <a:spcBef>
                <a:spcPts val="600"/>
              </a:spcBef>
            </a:pPr>
            <a:r>
              <a:rPr lang="en-US" altLang="zh-TW" sz="2400" b="1" dirty="0"/>
              <a:t>Provides process, memory, device-driver management</a:t>
            </a:r>
          </a:p>
          <a:p>
            <a:pPr lvl="1" eaLnBrk="1" hangingPunct="1">
              <a:spcBef>
                <a:spcPts val="600"/>
              </a:spcBef>
            </a:pPr>
            <a:r>
              <a:rPr lang="en-US" altLang="zh-TW" sz="2400" b="1" dirty="0"/>
              <a:t>Adds power management </a:t>
            </a:r>
          </a:p>
          <a:p>
            <a:pPr eaLnBrk="1" hangingPunct="1">
              <a:spcBef>
                <a:spcPts val="600"/>
              </a:spcBef>
            </a:pPr>
            <a:r>
              <a:rPr lang="en-US" altLang="zh-TW" sz="2800" b="1" dirty="0"/>
              <a:t>Runtime environment includes core set of libraries and </a:t>
            </a:r>
            <a:r>
              <a:rPr lang="en-US" altLang="zh-TW" sz="2800" b="1" dirty="0" err="1">
                <a:solidFill>
                  <a:srgbClr val="0000FF"/>
                </a:solidFill>
              </a:rPr>
              <a:t>Dalvik</a:t>
            </a:r>
            <a:r>
              <a:rPr lang="en-US" altLang="zh-TW" sz="2800" b="1" dirty="0">
                <a:solidFill>
                  <a:srgbClr val="0000FF"/>
                </a:solidFill>
              </a:rPr>
              <a:t> virtual machine</a:t>
            </a:r>
          </a:p>
          <a:p>
            <a:pPr lvl="1" eaLnBrk="1" hangingPunct="1">
              <a:spcBef>
                <a:spcPts val="600"/>
              </a:spcBef>
            </a:pPr>
            <a:r>
              <a:rPr lang="en-US" altLang="zh-TW" sz="2400" b="1" dirty="0"/>
              <a:t>Apps developed in </a:t>
            </a:r>
            <a:r>
              <a:rPr lang="en-US" altLang="zh-TW" sz="2400" b="1" dirty="0" smtClean="0"/>
              <a:t>Java, running </a:t>
            </a:r>
            <a:r>
              <a:rPr lang="en-US" altLang="zh-TW" sz="2400" b="1" dirty="0"/>
              <a:t>in </a:t>
            </a:r>
            <a:r>
              <a:rPr lang="en-US" altLang="zh-TW" sz="2400" b="1" dirty="0" err="1">
                <a:solidFill>
                  <a:srgbClr val="0000FF"/>
                </a:solidFill>
              </a:rPr>
              <a:t>Dalvik</a:t>
            </a:r>
            <a:r>
              <a:rPr lang="en-US" altLang="zh-TW" sz="2400" b="1" dirty="0">
                <a:solidFill>
                  <a:srgbClr val="0000FF"/>
                </a:solidFill>
              </a:rPr>
              <a:t> VM</a:t>
            </a:r>
          </a:p>
          <a:p>
            <a:pPr eaLnBrk="1" hangingPunct="1">
              <a:spcBef>
                <a:spcPts val="600"/>
              </a:spcBef>
            </a:pPr>
            <a:r>
              <a:rPr lang="en-US" altLang="zh-TW" sz="2800" b="1" dirty="0" smtClean="0"/>
              <a:t>Libraries: web </a:t>
            </a:r>
            <a:r>
              <a:rPr lang="en-US" altLang="zh-TW" sz="2800" b="1" dirty="0"/>
              <a:t>browser (</a:t>
            </a:r>
            <a:r>
              <a:rPr lang="en-US" altLang="zh-TW" sz="2800" b="1" dirty="0" err="1">
                <a:solidFill>
                  <a:srgbClr val="0000FF"/>
                </a:solidFill>
              </a:rPr>
              <a:t>webkit</a:t>
            </a:r>
            <a:r>
              <a:rPr lang="en-US" altLang="zh-TW" sz="2800" b="1" dirty="0"/>
              <a:t>), database (</a:t>
            </a:r>
            <a:r>
              <a:rPr lang="en-US" altLang="zh-TW" sz="2800" b="1" dirty="0">
                <a:solidFill>
                  <a:srgbClr val="0000FF"/>
                </a:solidFill>
              </a:rPr>
              <a:t>SQLite</a:t>
            </a:r>
            <a:r>
              <a:rPr lang="en-US" altLang="zh-TW" sz="2800" b="1" dirty="0"/>
              <a:t>), multimedia, smaller </a:t>
            </a:r>
            <a:r>
              <a:rPr lang="en-US" altLang="zh-TW" sz="2800" b="1" dirty="0" err="1">
                <a:solidFill>
                  <a:srgbClr val="FF0000"/>
                </a:solidFill>
              </a:rPr>
              <a:t>libc</a:t>
            </a:r>
            <a:endParaRPr lang="en-US" altLang="zh-TW" sz="2800" b="1" dirty="0">
              <a:solidFill>
                <a:srgbClr val="FF0000"/>
              </a:solidFill>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0" y="0"/>
            <a:ext cx="3143250"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786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8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98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985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985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BC88119-39C4-4196-B429-2797E5A44726}" type="datetime1">
              <a:rPr kumimoji="0" lang="zh-TW" altLang="en-US" sz="1400" smtClean="0"/>
              <a:t>2018/3/5</a:t>
            </a:fld>
            <a:endParaRPr kumimoji="0" lang="en-US" altLang="zh-TW" sz="1400"/>
          </a:p>
        </p:txBody>
      </p:sp>
      <p:sp>
        <p:nvSpPr>
          <p:cNvPr id="3481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9C89AFE-31C8-44AD-ADE9-2FFFD6D9A77C}" type="slidenum">
              <a:rPr kumimoji="0" lang="zh-TW" altLang="en-US" sz="1400"/>
              <a:pPr algn="r" eaLnBrk="1" hangingPunct="1">
                <a:spcBef>
                  <a:spcPct val="0"/>
                </a:spcBef>
                <a:buClrTx/>
                <a:buSzTx/>
                <a:buFontTx/>
                <a:buNone/>
              </a:pPr>
              <a:t>44</a:t>
            </a:fld>
            <a:endParaRPr kumimoji="0" lang="en-US" altLang="zh-TW" sz="1400"/>
          </a:p>
        </p:txBody>
      </p:sp>
      <p:sp>
        <p:nvSpPr>
          <p:cNvPr id="34820" name="Rectangle 2"/>
          <p:cNvSpPr>
            <a:spLocks noGrp="1" noChangeArrowheads="1"/>
          </p:cNvSpPr>
          <p:nvPr>
            <p:ph type="title"/>
          </p:nvPr>
        </p:nvSpPr>
        <p:spPr>
          <a:xfrm>
            <a:off x="329933" y="0"/>
            <a:ext cx="7772400" cy="914401"/>
          </a:xfrm>
        </p:spPr>
        <p:txBody>
          <a:bodyPr/>
          <a:lstStyle/>
          <a:p>
            <a:pPr eaLnBrk="1" hangingPunct="1"/>
            <a:r>
              <a:rPr lang="en-US" altLang="zh-TW" sz="4000" b="1" dirty="0" smtClean="0">
                <a:solidFill>
                  <a:schemeClr val="tx1"/>
                </a:solidFill>
                <a:latin typeface="Adobe Gothic Std B" pitchFamily="34" charset="-128"/>
                <a:ea typeface="Adobe Gothic Std B" pitchFamily="34" charset="-128"/>
              </a:rPr>
              <a:t>Android Architecture</a:t>
            </a:r>
            <a:endParaRPr lang="en-US" altLang="zh-TW" sz="4000" b="1" dirty="0">
              <a:solidFill>
                <a:schemeClr val="tx1"/>
              </a:solidFill>
              <a:latin typeface="Adobe Gothic Std B" pitchFamily="34" charset="-128"/>
              <a:ea typeface="Adobe Gothic Std B" pitchFamily="34" charset="-128"/>
            </a:endParaRPr>
          </a:p>
        </p:txBody>
      </p:sp>
      <p:pic>
        <p:nvPicPr>
          <p:cNvPr id="7" name="Content Placeholder 2" descr="2_18.pdf"/>
          <p:cNvPicPr>
            <a:picLocks noChangeAspect="1"/>
          </p:cNvPicPr>
          <p:nvPr/>
        </p:nvPicPr>
        <p:blipFill>
          <a:blip r:embed="rId4" cstate="print">
            <a:extLst>
              <a:ext uri="{28A0092B-C50C-407E-A947-70E740481C1C}">
                <a14:useLocalDpi xmlns:a14="http://schemas.microsoft.com/office/drawing/2010/main" val="0"/>
              </a:ext>
            </a:extLst>
          </a:blip>
          <a:srcRect t="15273" b="15273"/>
          <a:stretch>
            <a:fillRect/>
          </a:stretch>
        </p:blipFill>
        <p:spPr bwMode="auto">
          <a:xfrm>
            <a:off x="329933" y="790682"/>
            <a:ext cx="8451180" cy="465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8027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623888" y="211138"/>
            <a:ext cx="7772400" cy="598487"/>
          </a:xfrm>
        </p:spPr>
        <p:txBody>
          <a:bodyPr/>
          <a:lstStyle/>
          <a:p>
            <a:pPr eaLnBrk="1" hangingPunct="1"/>
            <a:r>
              <a:rPr lang="en-US" altLang="zh-TW" sz="4000" smtClean="0"/>
              <a:t>Operating-System Debugging</a:t>
            </a:r>
          </a:p>
        </p:txBody>
      </p:sp>
      <p:sp>
        <p:nvSpPr>
          <p:cNvPr id="27651" name="Content Placeholder 2" descr="Rectangle: Click to edit Master text styles&#10;Second level&#10;Third level&#10;Fourth level&#10;Fifth level"/>
          <p:cNvSpPr>
            <a:spLocks noGrp="1"/>
          </p:cNvSpPr>
          <p:nvPr>
            <p:ph idx="4294967295"/>
          </p:nvPr>
        </p:nvSpPr>
        <p:spPr>
          <a:xfrm>
            <a:off x="282575" y="786437"/>
            <a:ext cx="8515350" cy="5027613"/>
          </a:xfrm>
        </p:spPr>
        <p:txBody>
          <a:bodyPr/>
          <a:lstStyle/>
          <a:p>
            <a:pPr>
              <a:spcBef>
                <a:spcPts val="1200"/>
              </a:spcBef>
            </a:pPr>
            <a:r>
              <a:rPr lang="en-US" altLang="zh-TW" sz="2400" dirty="0" smtClean="0"/>
              <a:t>OS generates </a:t>
            </a:r>
            <a:r>
              <a:rPr lang="en-US" altLang="zh-TW" sz="2400" dirty="0" smtClean="0">
                <a:solidFill>
                  <a:srgbClr val="3366FF"/>
                </a:solidFill>
              </a:rPr>
              <a:t>log files </a:t>
            </a:r>
            <a:r>
              <a:rPr lang="en-US" altLang="zh-TW" sz="2400" dirty="0" smtClean="0">
                <a:solidFill>
                  <a:srgbClr val="000000"/>
                </a:solidFill>
              </a:rPr>
              <a:t>containing error information</a:t>
            </a:r>
          </a:p>
          <a:p>
            <a:pPr>
              <a:spcBef>
                <a:spcPts val="1200"/>
              </a:spcBef>
            </a:pPr>
            <a:r>
              <a:rPr lang="en-US" altLang="zh-TW" sz="2400" dirty="0" smtClean="0">
                <a:solidFill>
                  <a:srgbClr val="000000"/>
                </a:solidFill>
              </a:rPr>
              <a:t>Failure of an application can generate </a:t>
            </a:r>
            <a:r>
              <a:rPr lang="en-US" altLang="zh-TW" sz="2400" dirty="0" smtClean="0">
                <a:solidFill>
                  <a:srgbClr val="3366FF"/>
                </a:solidFill>
              </a:rPr>
              <a:t>core dump </a:t>
            </a:r>
            <a:r>
              <a:rPr lang="en-US" altLang="zh-TW" sz="2400" dirty="0" smtClean="0">
                <a:solidFill>
                  <a:srgbClr val="000000"/>
                </a:solidFill>
              </a:rPr>
              <a:t>file capturing memory of the process</a:t>
            </a:r>
          </a:p>
          <a:p>
            <a:pPr>
              <a:spcBef>
                <a:spcPts val="1200"/>
              </a:spcBef>
            </a:pPr>
            <a:r>
              <a:rPr lang="en-US" altLang="zh-TW" sz="2400" dirty="0" smtClean="0">
                <a:solidFill>
                  <a:srgbClr val="000000"/>
                </a:solidFill>
              </a:rPr>
              <a:t>Operating system failure can generate </a:t>
            </a:r>
            <a:r>
              <a:rPr lang="en-US" altLang="zh-TW" sz="2400" dirty="0" smtClean="0">
                <a:solidFill>
                  <a:srgbClr val="3366FF"/>
                </a:solidFill>
              </a:rPr>
              <a:t>crash dump </a:t>
            </a:r>
            <a:r>
              <a:rPr lang="en-US" altLang="zh-TW" sz="2400" dirty="0" smtClean="0">
                <a:solidFill>
                  <a:srgbClr val="000000"/>
                </a:solidFill>
              </a:rPr>
              <a:t>file containing kernel memory</a:t>
            </a:r>
          </a:p>
          <a:p>
            <a:pPr>
              <a:spcBef>
                <a:spcPts val="1200"/>
              </a:spcBef>
            </a:pPr>
            <a:r>
              <a:rPr lang="en-US" altLang="zh-TW" sz="2400" dirty="0">
                <a:solidFill>
                  <a:srgbClr val="000000"/>
                </a:solidFill>
              </a:rPr>
              <a:t>Beyond crashes, </a:t>
            </a:r>
            <a:r>
              <a:rPr lang="en-US" altLang="zh-TW" sz="2400" dirty="0">
                <a:solidFill>
                  <a:srgbClr val="0000FF"/>
                </a:solidFill>
              </a:rPr>
              <a:t>performance tuning</a:t>
            </a:r>
            <a:r>
              <a:rPr lang="en-US" altLang="zh-TW" sz="2400" dirty="0">
                <a:solidFill>
                  <a:srgbClr val="000000"/>
                </a:solidFill>
              </a:rPr>
              <a:t> can optimize system performance</a:t>
            </a:r>
          </a:p>
          <a:p>
            <a:pPr lvl="1">
              <a:spcBef>
                <a:spcPts val="1200"/>
              </a:spcBef>
            </a:pPr>
            <a:r>
              <a:rPr lang="en-US" altLang="zh-TW" sz="2000" dirty="0">
                <a:solidFill>
                  <a:srgbClr val="000000"/>
                </a:solidFill>
              </a:rPr>
              <a:t>Sometimes using </a:t>
            </a:r>
            <a:r>
              <a:rPr lang="en-US" altLang="zh-TW" sz="2000" dirty="0">
                <a:solidFill>
                  <a:srgbClr val="0000FF"/>
                </a:solidFill>
              </a:rPr>
              <a:t>trace listings of activities</a:t>
            </a:r>
            <a:r>
              <a:rPr lang="en-US" altLang="zh-TW" sz="2000" dirty="0">
                <a:solidFill>
                  <a:srgbClr val="000000"/>
                </a:solidFill>
              </a:rPr>
              <a:t>, recorded for analysis</a:t>
            </a:r>
          </a:p>
          <a:p>
            <a:pPr lvl="1">
              <a:spcBef>
                <a:spcPts val="1200"/>
              </a:spcBef>
            </a:pPr>
            <a:r>
              <a:rPr lang="en-US" altLang="zh-TW" sz="2000" dirty="0">
                <a:solidFill>
                  <a:srgbClr val="0000FF"/>
                </a:solidFill>
              </a:rPr>
              <a:t>Profiling</a:t>
            </a:r>
            <a:r>
              <a:rPr lang="en-US" altLang="zh-TW" sz="2000" dirty="0">
                <a:solidFill>
                  <a:srgbClr val="000000"/>
                </a:solidFill>
              </a:rPr>
              <a:t> is periodic sampling of instruction pointer to look for statistical trends</a:t>
            </a:r>
          </a:p>
          <a:p>
            <a:pPr>
              <a:spcBef>
                <a:spcPct val="60000"/>
              </a:spcBef>
              <a:buFont typeface="Wingdings" panose="05000000000000000000" pitchFamily="2" charset="2"/>
              <a:buChar char="p"/>
            </a:pPr>
            <a:r>
              <a:rPr lang="en-US" altLang="zh-TW" sz="2000" b="1" dirty="0" smtClean="0">
                <a:solidFill>
                  <a:srgbClr val="C72F05"/>
                </a:solidFill>
              </a:rPr>
              <a:t>Kernighan’s Law</a:t>
            </a:r>
            <a:r>
              <a:rPr lang="en-US" altLang="zh-TW" sz="2000" dirty="0" smtClean="0">
                <a:solidFill>
                  <a:srgbClr val="000000"/>
                </a:solidFill>
              </a:rPr>
              <a:t>: </a:t>
            </a:r>
            <a:r>
              <a:rPr lang="en-US" altLang="zh-TW" sz="2000" dirty="0" smtClean="0">
                <a:solidFill>
                  <a:srgbClr val="0000FF"/>
                </a:solidFill>
              </a:rPr>
              <a:t>Debugging is twice as hard as writing the code in the first place. Therefore, if you write the code as cleverly as possible, you are, by definition, not smart enough to debug it.</a:t>
            </a:r>
          </a:p>
        </p:txBody>
      </p:sp>
      <p:sp>
        <p:nvSpPr>
          <p:cNvPr id="4"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5"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45</a:t>
            </a:fld>
            <a:endParaRPr kumimoji="0" lang="en-US" altLang="zh-TW" sz="1400"/>
          </a:p>
        </p:txBody>
      </p:sp>
    </p:spTree>
    <p:extLst>
      <p:ext uri="{BB962C8B-B14F-4D97-AF65-F5344CB8AC3E}">
        <p14:creationId xmlns:p14="http://schemas.microsoft.com/office/powerpoint/2010/main" val="115492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51">
                                            <p:txEl>
                                              <p:pRg st="6" end="6"/>
                                            </p:txEl>
                                          </p:spTgt>
                                        </p:tgtEl>
                                        <p:attrNameLst>
                                          <p:attrName>style.visibility</p:attrName>
                                        </p:attrNameLst>
                                      </p:cBhvr>
                                      <p:to>
                                        <p:strVal val="visible"/>
                                      </p:to>
                                    </p:set>
                                    <p:anim calcmode="lin" valueType="num">
                                      <p:cBhvr additive="base">
                                        <p:cTn id="19" dur="500" fill="hold"/>
                                        <p:tgtEl>
                                          <p:spTgt spid="2765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B0765C44-747F-4CC7-B984-40A32EAFD5B2}" type="datetime1">
              <a:rPr kumimoji="0" lang="zh-TW" altLang="en-US" sz="1400"/>
              <a:pPr eaLnBrk="1" hangingPunct="1">
                <a:spcBef>
                  <a:spcPct val="0"/>
                </a:spcBef>
                <a:buClrTx/>
                <a:buSzTx/>
                <a:buFontTx/>
                <a:buNone/>
              </a:pPr>
              <a:t>2018/3/5</a:t>
            </a:fld>
            <a:endParaRPr kumimoji="0" lang="en-US" altLang="zh-TW" sz="1400"/>
          </a:p>
        </p:txBody>
      </p:sp>
      <p:sp>
        <p:nvSpPr>
          <p:cNvPr id="43011"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D50385D-6BE9-43B1-B7D8-2E3B0E1F48F1}" type="slidenum">
              <a:rPr kumimoji="0" lang="zh-TW" altLang="en-US" sz="1400"/>
              <a:pPr algn="r" eaLnBrk="1" hangingPunct="1">
                <a:spcBef>
                  <a:spcPct val="0"/>
                </a:spcBef>
                <a:buClrTx/>
                <a:buSzTx/>
                <a:buFontTx/>
                <a:buNone/>
              </a:pPr>
              <a:t>46</a:t>
            </a:fld>
            <a:endParaRPr kumimoji="0" lang="en-US" altLang="zh-TW" sz="1400"/>
          </a:p>
        </p:txBody>
      </p:sp>
      <p:sp>
        <p:nvSpPr>
          <p:cNvPr id="43012" name="Rectangle 2"/>
          <p:cNvSpPr>
            <a:spLocks noGrp="1" noChangeArrowheads="1"/>
          </p:cNvSpPr>
          <p:nvPr>
            <p:ph type="title" idx="4294967295"/>
          </p:nvPr>
        </p:nvSpPr>
        <p:spPr>
          <a:xfrm>
            <a:off x="255270" y="-110806"/>
            <a:ext cx="8591550" cy="685800"/>
          </a:xfrm>
        </p:spPr>
        <p:txBody>
          <a:bodyPr/>
          <a:lstStyle/>
          <a:p>
            <a:pPr algn="ctr" eaLnBrk="1" hangingPunct="1"/>
            <a:r>
              <a:rPr lang="en-US" altLang="zh-TW" sz="4000" dirty="0" smtClean="0"/>
              <a:t>Simulation </a:t>
            </a:r>
            <a:r>
              <a:rPr lang="en-US" altLang="zh-TW" sz="4000" dirty="0"/>
              <a:t>and </a:t>
            </a:r>
            <a:r>
              <a:rPr lang="en-US" altLang="zh-TW" sz="4000" dirty="0" smtClean="0"/>
              <a:t>Virtualization</a:t>
            </a:r>
            <a:r>
              <a:rPr lang="en-US" altLang="zh-TW" sz="4100" dirty="0" smtClean="0"/>
              <a:t> </a:t>
            </a:r>
          </a:p>
        </p:txBody>
      </p:sp>
      <p:sp>
        <p:nvSpPr>
          <p:cNvPr id="272387" name="Rectangle 3" descr="Rectangle: Click to edit Master text styles&#10;Second level&#10;Third level&#10;Fourth level&#10;Fifth level"/>
          <p:cNvSpPr>
            <a:spLocks noGrp="1" noChangeArrowheads="1"/>
          </p:cNvSpPr>
          <p:nvPr>
            <p:ph type="body" idx="4294967295"/>
          </p:nvPr>
        </p:nvSpPr>
        <p:spPr>
          <a:xfrm>
            <a:off x="255270" y="430848"/>
            <a:ext cx="8516937" cy="5581333"/>
          </a:xfrm>
        </p:spPr>
        <p:txBody>
          <a:bodyPr/>
          <a:lstStyle/>
          <a:p>
            <a:pPr eaLnBrk="1" hangingPunct="1">
              <a:spcBef>
                <a:spcPts val="600"/>
              </a:spcBef>
            </a:pPr>
            <a:r>
              <a:rPr lang="en-US" altLang="zh-TW" sz="2800" dirty="0" smtClean="0">
                <a:solidFill>
                  <a:srgbClr val="0000FF"/>
                </a:solidFill>
              </a:rPr>
              <a:t>Simulation</a:t>
            </a:r>
            <a:r>
              <a:rPr lang="en-US" altLang="zh-TW" sz="2800" dirty="0" smtClean="0"/>
              <a:t>: the host system has one system architecture and the guest system was complied for a different architecture. </a:t>
            </a:r>
          </a:p>
          <a:p>
            <a:pPr lvl="1" eaLnBrk="1" hangingPunct="1">
              <a:spcBef>
                <a:spcPts val="600"/>
              </a:spcBef>
            </a:pPr>
            <a:r>
              <a:rPr lang="en-US" altLang="zh-TW" sz="2400" dirty="0" smtClean="0"/>
              <a:t>The programs (such as important programs that were compiled for the old system) could be run in an </a:t>
            </a:r>
            <a:r>
              <a:rPr lang="en-US" altLang="zh-TW" sz="2400" dirty="0" smtClean="0">
                <a:solidFill>
                  <a:srgbClr val="C72F05"/>
                </a:solidFill>
              </a:rPr>
              <a:t>emulator</a:t>
            </a:r>
            <a:r>
              <a:rPr lang="en-US" altLang="zh-TW" sz="2400" dirty="0" smtClean="0"/>
              <a:t> that </a:t>
            </a:r>
            <a:r>
              <a:rPr lang="en-US" altLang="zh-TW" sz="2400" dirty="0" smtClean="0">
                <a:solidFill>
                  <a:srgbClr val="6600CC"/>
                </a:solidFill>
              </a:rPr>
              <a:t>translates each of the outdated system’s instructions into the current instruction set</a:t>
            </a:r>
            <a:r>
              <a:rPr lang="en-US" altLang="zh-TW" sz="2400" dirty="0" smtClean="0"/>
              <a:t>. (</a:t>
            </a:r>
            <a:r>
              <a:rPr lang="en-US" altLang="zh-TW" sz="2400" dirty="0" err="1" smtClean="0"/>
              <a:t>disadv</a:t>
            </a:r>
            <a:r>
              <a:rPr lang="en-US" altLang="zh-TW" sz="2400" dirty="0" smtClean="0"/>
              <a:t>.: </a:t>
            </a:r>
            <a:r>
              <a:rPr lang="en-US" altLang="zh-TW" sz="2400" dirty="0" smtClean="0">
                <a:solidFill>
                  <a:srgbClr val="0000FF"/>
                </a:solidFill>
              </a:rPr>
              <a:t>10 times slow usually</a:t>
            </a:r>
            <a:r>
              <a:rPr lang="en-US" altLang="zh-TW" sz="2400" dirty="0" smtClean="0"/>
              <a:t>) </a:t>
            </a:r>
          </a:p>
          <a:p>
            <a:pPr eaLnBrk="1" hangingPunct="1">
              <a:spcBef>
                <a:spcPts val="600"/>
              </a:spcBef>
            </a:pPr>
            <a:r>
              <a:rPr lang="en-US" altLang="zh-TW" dirty="0" smtClean="0"/>
              <a:t>Virtualization</a:t>
            </a:r>
          </a:p>
        </p:txBody>
      </p:sp>
      <p:pic>
        <p:nvPicPr>
          <p:cNvPr id="6" name="Picture 2" descr="C:\Users\kyawzaya\Desktop\FAJH_MontaV_1_Jan2011.gif"/>
          <p:cNvPicPr>
            <a:picLocks noChangeAspect="1" noChangeArrowheads="1"/>
          </p:cNvPicPr>
          <p:nvPr/>
        </p:nvPicPr>
        <p:blipFill>
          <a:blip r:embed="rId4" cstate="print"/>
          <a:srcRect/>
          <a:stretch>
            <a:fillRect/>
          </a:stretch>
        </p:blipFill>
        <p:spPr bwMode="auto">
          <a:xfrm>
            <a:off x="3282911" y="3573781"/>
            <a:ext cx="5736629" cy="3284219"/>
          </a:xfrm>
          <a:prstGeom prst="rect">
            <a:avLst/>
          </a:prstGeom>
          <a:noFill/>
        </p:spPr>
      </p:pic>
    </p:spTree>
    <p:extLst>
      <p:ext uri="{BB962C8B-B14F-4D97-AF65-F5344CB8AC3E}">
        <p14:creationId xmlns:p14="http://schemas.microsoft.com/office/powerpoint/2010/main" val="3665785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 calcmode="lin" valueType="num">
                                      <p:cBhvr additive="base">
                                        <p:cTn id="7"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2387">
                                            <p:txEl>
                                              <p:pRg st="1" end="1"/>
                                            </p:txEl>
                                          </p:spTgt>
                                        </p:tgtEl>
                                        <p:attrNameLst>
                                          <p:attrName>style.visibility</p:attrName>
                                        </p:attrNameLst>
                                      </p:cBhvr>
                                      <p:to>
                                        <p:strVal val="visible"/>
                                      </p:to>
                                    </p:set>
                                    <p:anim calcmode="lin" valueType="num">
                                      <p:cBhvr additive="base">
                                        <p:cTn id="13" dur="500" fill="hold"/>
                                        <p:tgtEl>
                                          <p:spTgt spid="272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2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2387">
                                            <p:txEl>
                                              <p:pRg st="2" end="2"/>
                                            </p:txEl>
                                          </p:spTgt>
                                        </p:tgtEl>
                                        <p:attrNameLst>
                                          <p:attrName>style.visibility</p:attrName>
                                        </p:attrNameLst>
                                      </p:cBhvr>
                                      <p:to>
                                        <p:strVal val="visible"/>
                                      </p:to>
                                    </p:set>
                                    <p:anim calcmode="lin" valueType="num">
                                      <p:cBhvr additive="base">
                                        <p:cTn id="19" dur="500" fill="hold"/>
                                        <p:tgtEl>
                                          <p:spTgt spid="272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2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D1714985-1A2A-4F6A-AA00-E5ADF84775A3}" type="datetime1">
              <a:rPr kumimoji="0" lang="zh-TW" altLang="en-US" sz="1400" smtClean="0"/>
              <a:t>2018/3/5</a:t>
            </a:fld>
            <a:endParaRPr kumimoji="0" lang="en-US" altLang="zh-TW" sz="1400"/>
          </a:p>
        </p:txBody>
      </p:sp>
      <p:sp>
        <p:nvSpPr>
          <p:cNvPr id="37891"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6C752A68-31DE-4E0E-A352-5FD84E8995A1}" type="slidenum">
              <a:rPr kumimoji="0" lang="zh-TW" altLang="en-US" sz="1400"/>
              <a:pPr algn="r" eaLnBrk="1" hangingPunct="1">
                <a:spcBef>
                  <a:spcPct val="0"/>
                </a:spcBef>
                <a:buClrTx/>
                <a:buSzTx/>
                <a:buFontTx/>
                <a:buNone/>
              </a:pPr>
              <a:t>47</a:t>
            </a:fld>
            <a:endParaRPr kumimoji="0" lang="en-US" altLang="zh-TW" sz="1400"/>
          </a:p>
        </p:txBody>
      </p:sp>
      <p:sp>
        <p:nvSpPr>
          <p:cNvPr id="37892" name="Rectangle 2"/>
          <p:cNvSpPr>
            <a:spLocks noGrp="1" noChangeArrowheads="1"/>
          </p:cNvSpPr>
          <p:nvPr>
            <p:ph type="title"/>
          </p:nvPr>
        </p:nvSpPr>
        <p:spPr>
          <a:xfrm>
            <a:off x="628650" y="322263"/>
            <a:ext cx="7772400" cy="695325"/>
          </a:xfrm>
        </p:spPr>
        <p:txBody>
          <a:bodyPr/>
          <a:lstStyle/>
          <a:p>
            <a:pPr eaLnBrk="1" hangingPunct="1"/>
            <a:r>
              <a:rPr lang="en-US" altLang="zh-TW" dirty="0" smtClean="0"/>
              <a:t>Virtual Machines</a:t>
            </a:r>
          </a:p>
        </p:txBody>
      </p:sp>
      <p:sp>
        <p:nvSpPr>
          <p:cNvPr id="268291" name="Rectangle 3" descr="Rectangle: Click to edit Master text styles&#10;Second level&#10;Third level&#10;Fourth level&#10;Fifth level"/>
          <p:cNvSpPr>
            <a:spLocks noGrp="1" noChangeArrowheads="1"/>
          </p:cNvSpPr>
          <p:nvPr>
            <p:ph type="body" idx="1"/>
          </p:nvPr>
        </p:nvSpPr>
        <p:spPr>
          <a:xfrm>
            <a:off x="688975" y="1122363"/>
            <a:ext cx="7958138" cy="5084762"/>
          </a:xfrm>
        </p:spPr>
        <p:txBody>
          <a:bodyPr/>
          <a:lstStyle/>
          <a:p>
            <a:pPr eaLnBrk="1" hangingPunct="1">
              <a:lnSpc>
                <a:spcPct val="90000"/>
              </a:lnSpc>
              <a:defRPr/>
            </a:pPr>
            <a:r>
              <a:rPr lang="en-US" altLang="zh-TW" sz="2800" smtClean="0"/>
              <a:t>A </a:t>
            </a:r>
            <a:r>
              <a:rPr lang="en-US" altLang="zh-TW" sz="2800" smtClean="0">
                <a:solidFill>
                  <a:srgbClr val="0000FF"/>
                </a:solidFill>
                <a:effectLst>
                  <a:outerShdw blurRad="38100" dist="38100" dir="2700000" algn="tl">
                    <a:srgbClr val="C0C0C0"/>
                  </a:outerShdw>
                </a:effectLst>
              </a:rPr>
              <a:t>virtual machine</a:t>
            </a:r>
            <a:r>
              <a:rPr lang="en-US" altLang="zh-TW" sz="2800" smtClean="0"/>
              <a:t> takes the </a:t>
            </a:r>
            <a:r>
              <a:rPr lang="en-US" altLang="zh-TW" sz="2800" smtClean="0">
                <a:solidFill>
                  <a:srgbClr val="C72F05"/>
                </a:solidFill>
              </a:rPr>
              <a:t>layered</a:t>
            </a:r>
            <a:r>
              <a:rPr lang="en-US" altLang="zh-TW" sz="2800" smtClean="0"/>
              <a:t> approach to its logical conclusion  </a:t>
            </a:r>
          </a:p>
          <a:p>
            <a:pPr lvl="1" eaLnBrk="1" hangingPunct="1">
              <a:lnSpc>
                <a:spcPct val="90000"/>
              </a:lnSpc>
              <a:defRPr/>
            </a:pPr>
            <a:r>
              <a:rPr lang="en-US" altLang="zh-TW" sz="2400" b="1" smtClean="0">
                <a:solidFill>
                  <a:srgbClr val="C72F05"/>
                </a:solidFill>
              </a:rPr>
              <a:t>It treats hardware and the operating system kernel as though they were all hardware</a:t>
            </a:r>
          </a:p>
          <a:p>
            <a:pPr eaLnBrk="1" hangingPunct="1">
              <a:lnSpc>
                <a:spcPct val="90000"/>
              </a:lnSpc>
              <a:spcBef>
                <a:spcPct val="80000"/>
              </a:spcBef>
              <a:defRPr/>
            </a:pPr>
            <a:r>
              <a:rPr lang="en-US" altLang="zh-TW" sz="2800" smtClean="0"/>
              <a:t>A virtual machine provides an </a:t>
            </a:r>
            <a:r>
              <a:rPr lang="en-US" altLang="zh-TW" b="1" smtClean="0">
                <a:solidFill>
                  <a:srgbClr val="6600CC"/>
                </a:solidFill>
              </a:rPr>
              <a:t>interface</a:t>
            </a:r>
            <a:r>
              <a:rPr lang="en-US" altLang="zh-TW" sz="2800" smtClean="0"/>
              <a:t> </a:t>
            </a:r>
            <a:r>
              <a:rPr lang="en-US" altLang="zh-TW" sz="2800" i="1" smtClean="0"/>
              <a:t>identical</a:t>
            </a:r>
            <a:r>
              <a:rPr lang="en-US" altLang="zh-TW" sz="2800" smtClean="0"/>
              <a:t> to the underlying bare hardware</a:t>
            </a:r>
          </a:p>
          <a:p>
            <a:pPr eaLnBrk="1" hangingPunct="1">
              <a:lnSpc>
                <a:spcPct val="90000"/>
              </a:lnSpc>
              <a:spcBef>
                <a:spcPct val="80000"/>
              </a:spcBef>
              <a:defRPr/>
            </a:pPr>
            <a:r>
              <a:rPr lang="en-US" altLang="zh-TW" sz="2800" smtClean="0"/>
              <a:t>The operating system </a:t>
            </a:r>
            <a:r>
              <a:rPr lang="en-US" altLang="zh-TW" sz="2800" smtClean="0">
                <a:solidFill>
                  <a:srgbClr val="C72F05"/>
                </a:solidFill>
                <a:effectLst>
                  <a:outerShdw blurRad="38100" dist="38100" dir="2700000" algn="tl">
                    <a:srgbClr val="C0C0C0"/>
                  </a:outerShdw>
                </a:effectLst>
              </a:rPr>
              <a:t>creates the illusion of multiple processes</a:t>
            </a:r>
            <a:r>
              <a:rPr lang="en-US" altLang="zh-TW" sz="2800" smtClean="0"/>
              <a:t>, </a:t>
            </a:r>
            <a:r>
              <a:rPr lang="en-US" altLang="zh-TW" sz="2800" b="1" smtClean="0">
                <a:solidFill>
                  <a:srgbClr val="D60093"/>
                </a:solidFill>
              </a:rPr>
              <a:t>each executing on its own processor with its own (virtual) memory</a:t>
            </a:r>
            <a:r>
              <a:rPr lang="en-US" altLang="zh-TW"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 calcmode="lin" valueType="num">
                                      <p:cBhvr additive="base">
                                        <p:cTn id="7" dur="500" fill="hold"/>
                                        <p:tgtEl>
                                          <p:spTgt spid="268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8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8291">
                                            <p:txEl>
                                              <p:pRg st="1" end="1"/>
                                            </p:txEl>
                                          </p:spTgt>
                                        </p:tgtEl>
                                        <p:attrNameLst>
                                          <p:attrName>style.visibility</p:attrName>
                                        </p:attrNameLst>
                                      </p:cBhvr>
                                      <p:to>
                                        <p:strVal val="visible"/>
                                      </p:to>
                                    </p:set>
                                    <p:anim calcmode="lin" valueType="num">
                                      <p:cBhvr additive="base">
                                        <p:cTn id="13" dur="500" fill="hold"/>
                                        <p:tgtEl>
                                          <p:spTgt spid="268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8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68291">
                                            <p:txEl>
                                              <p:pRg st="2" end="2"/>
                                            </p:txEl>
                                          </p:spTgt>
                                        </p:tgtEl>
                                        <p:attrNameLst>
                                          <p:attrName>style.visibility</p:attrName>
                                        </p:attrNameLst>
                                      </p:cBhvr>
                                      <p:to>
                                        <p:strVal val="visible"/>
                                      </p:to>
                                    </p:set>
                                    <p:anim calcmode="lin" valueType="num">
                                      <p:cBhvr additive="base">
                                        <p:cTn id="19" dur="500" fill="hold"/>
                                        <p:tgtEl>
                                          <p:spTgt spid="2682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8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8291">
                                            <p:txEl>
                                              <p:pRg st="3" end="3"/>
                                            </p:txEl>
                                          </p:spTgt>
                                        </p:tgtEl>
                                        <p:attrNameLst>
                                          <p:attrName>style.visibility</p:attrName>
                                        </p:attrNameLst>
                                      </p:cBhvr>
                                      <p:to>
                                        <p:strVal val="visible"/>
                                      </p:to>
                                    </p:set>
                                    <p:anim calcmode="lin" valueType="num">
                                      <p:cBhvr additive="base">
                                        <p:cTn id="25" dur="500" fill="hold"/>
                                        <p:tgtEl>
                                          <p:spTgt spid="2682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82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FD8A141-2724-461B-8033-10CA5F9A2F69}" type="datetime1">
              <a:rPr kumimoji="0" lang="zh-TW" altLang="en-US" sz="1400" smtClean="0"/>
              <a:t>2018/3/5</a:t>
            </a:fld>
            <a:endParaRPr kumimoji="0" lang="en-US" altLang="zh-TW" sz="1400"/>
          </a:p>
        </p:txBody>
      </p:sp>
      <p:sp>
        <p:nvSpPr>
          <p:cNvPr id="3891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814CB1D-968D-411C-9674-42DECC78B6A3}" type="slidenum">
              <a:rPr kumimoji="0" lang="zh-TW" altLang="en-US" sz="1400"/>
              <a:pPr algn="r" eaLnBrk="1" hangingPunct="1">
                <a:spcBef>
                  <a:spcPct val="0"/>
                </a:spcBef>
                <a:buClrTx/>
                <a:buSzTx/>
                <a:buFontTx/>
                <a:buNone/>
              </a:pPr>
              <a:t>48</a:t>
            </a:fld>
            <a:endParaRPr kumimoji="0" lang="en-US" altLang="zh-TW" sz="1400"/>
          </a:p>
        </p:txBody>
      </p:sp>
      <p:sp>
        <p:nvSpPr>
          <p:cNvPr id="38916" name="Rectangle 2"/>
          <p:cNvSpPr>
            <a:spLocks noGrp="1" noChangeArrowheads="1"/>
          </p:cNvSpPr>
          <p:nvPr>
            <p:ph type="title"/>
          </p:nvPr>
        </p:nvSpPr>
        <p:spPr>
          <a:xfrm>
            <a:off x="609600" y="304800"/>
            <a:ext cx="7772400" cy="640080"/>
          </a:xfrm>
        </p:spPr>
        <p:txBody>
          <a:bodyPr/>
          <a:lstStyle/>
          <a:p>
            <a:pPr eaLnBrk="1" hangingPunct="1"/>
            <a:r>
              <a:rPr lang="en-US" altLang="zh-TW" dirty="0" smtClean="0"/>
              <a:t>Virtual Machines</a:t>
            </a:r>
          </a:p>
        </p:txBody>
      </p:sp>
      <p:sp>
        <p:nvSpPr>
          <p:cNvPr id="38917" name="Text Box 4"/>
          <p:cNvSpPr txBox="1">
            <a:spLocks noChangeArrowheads="1"/>
          </p:cNvSpPr>
          <p:nvPr/>
        </p:nvSpPr>
        <p:spPr bwMode="auto">
          <a:xfrm>
            <a:off x="1951038" y="4573588"/>
            <a:ext cx="221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a:spcBef>
                <a:spcPct val="50000"/>
              </a:spcBef>
              <a:buClrTx/>
              <a:buSzTx/>
              <a:buFontTx/>
              <a:buNone/>
            </a:pPr>
            <a:r>
              <a:rPr kumimoji="0" lang="en-US" altLang="zh-TW" sz="1800">
                <a:latin typeface="Helvetica" pitchFamily="34" charset="0"/>
              </a:rPr>
              <a:t>Non-virtual Machine</a:t>
            </a:r>
          </a:p>
        </p:txBody>
      </p:sp>
      <p:sp>
        <p:nvSpPr>
          <p:cNvPr id="38918" name="Text Box 5"/>
          <p:cNvSpPr txBox="1">
            <a:spLocks noChangeArrowheads="1"/>
          </p:cNvSpPr>
          <p:nvPr/>
        </p:nvSpPr>
        <p:spPr bwMode="auto">
          <a:xfrm>
            <a:off x="5343525" y="4600575"/>
            <a:ext cx="1758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a:spcBef>
                <a:spcPct val="50000"/>
              </a:spcBef>
              <a:buClrTx/>
              <a:buSzTx/>
              <a:buFontTx/>
              <a:buNone/>
            </a:pPr>
            <a:r>
              <a:rPr kumimoji="0" lang="en-US" altLang="zh-TW" sz="1800">
                <a:latin typeface="Helvetica" pitchFamily="34" charset="0"/>
              </a:rPr>
              <a:t>Virtual Machine</a:t>
            </a:r>
          </a:p>
        </p:txBody>
      </p:sp>
      <p:pic>
        <p:nvPicPr>
          <p:cNvPr id="38919" name="Picture 6"/>
          <p:cNvPicPr>
            <a:picLocks noChangeAspect="1" noChangeArrowheads="1"/>
          </p:cNvPicPr>
          <p:nvPr/>
        </p:nvPicPr>
        <p:blipFill>
          <a:blip r:embed="rId4">
            <a:extLst>
              <a:ext uri="{28A0092B-C50C-407E-A947-70E740481C1C}">
                <a14:useLocalDpi xmlns:a14="http://schemas.microsoft.com/office/drawing/2010/main" val="0"/>
              </a:ext>
            </a:extLst>
          </a:blip>
          <a:srcRect l="407" t="5431" r="610" b="5159"/>
          <a:stretch>
            <a:fillRect/>
          </a:stretch>
        </p:blipFill>
        <p:spPr bwMode="auto">
          <a:xfrm>
            <a:off x="914877" y="1105059"/>
            <a:ext cx="7354887" cy="4983162"/>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458038C-54B2-428D-B34A-785714EFFACE}" type="datetime1">
              <a:rPr kumimoji="0" lang="zh-TW" altLang="en-US" sz="1400" smtClean="0"/>
              <a:t>2018/3/5</a:t>
            </a:fld>
            <a:endParaRPr kumimoji="0" lang="en-US" altLang="zh-TW" sz="1400"/>
          </a:p>
        </p:txBody>
      </p:sp>
      <p:sp>
        <p:nvSpPr>
          <p:cNvPr id="3993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C3150116-2A50-463E-B2FE-4AB4D8FC5D56}" type="slidenum">
              <a:rPr kumimoji="0" lang="zh-TW" altLang="en-US" sz="1400"/>
              <a:pPr algn="r" eaLnBrk="1" hangingPunct="1">
                <a:spcBef>
                  <a:spcPct val="0"/>
                </a:spcBef>
                <a:buClrTx/>
                <a:buSzTx/>
                <a:buFontTx/>
                <a:buNone/>
              </a:pPr>
              <a:t>49</a:t>
            </a:fld>
            <a:endParaRPr kumimoji="0" lang="en-US" altLang="zh-TW" sz="1400"/>
          </a:p>
        </p:txBody>
      </p:sp>
      <p:sp>
        <p:nvSpPr>
          <p:cNvPr id="270338" name="Rectangle 2"/>
          <p:cNvSpPr>
            <a:spLocks noGrp="1" noChangeArrowheads="1"/>
          </p:cNvSpPr>
          <p:nvPr>
            <p:ph type="title"/>
          </p:nvPr>
        </p:nvSpPr>
        <p:spPr>
          <a:xfrm>
            <a:off x="576263" y="133350"/>
            <a:ext cx="7772400" cy="1673225"/>
          </a:xfrm>
        </p:spPr>
        <p:txBody>
          <a:bodyPr/>
          <a:lstStyle/>
          <a:p>
            <a:pPr eaLnBrk="1" hangingPunct="1">
              <a:defRPr/>
            </a:pPr>
            <a:r>
              <a:rPr lang="en-US" altLang="zh-TW" sz="4000" dirty="0" smtClean="0"/>
              <a:t>Virtual Machines</a:t>
            </a:r>
            <a:br>
              <a:rPr lang="en-US" altLang="zh-TW" sz="4000" dirty="0" smtClean="0"/>
            </a:br>
            <a:r>
              <a:rPr lang="en-US" altLang="zh-TW" sz="3200" i="1" dirty="0" smtClean="0">
                <a:solidFill>
                  <a:srgbClr val="000000"/>
                </a:solidFill>
                <a:effectLst>
                  <a:outerShdw blurRad="38100" dist="38100" dir="2700000" algn="tl">
                    <a:srgbClr val="C0C0C0"/>
                  </a:outerShdw>
                </a:effectLst>
                <a:latin typeface="Times New Roman" pitchFamily="18" charset="0"/>
              </a:rPr>
              <a:t>CPU scheduling, Virtual memory, </a:t>
            </a:r>
            <a:r>
              <a:rPr lang="en-US" altLang="zh-TW" sz="3200" i="1" dirty="0" smtClean="0">
                <a:solidFill>
                  <a:srgbClr val="C72F05"/>
                </a:solidFill>
                <a:effectLst>
                  <a:outerShdw blurRad="38100" dist="38100" dir="2700000" algn="tl">
                    <a:srgbClr val="C0C0C0"/>
                  </a:outerShdw>
                </a:effectLst>
                <a:latin typeface="Times New Roman" pitchFamily="18" charset="0"/>
              </a:rPr>
              <a:t>Virtual Disk, …</a:t>
            </a:r>
          </a:p>
        </p:txBody>
      </p:sp>
      <p:sp>
        <p:nvSpPr>
          <p:cNvPr id="270339" name="Rectangle 3" descr="Rectangle: Click to edit Master text styles&#10;Second level&#10;Third level&#10;Fourth level&#10;Fifth level"/>
          <p:cNvSpPr>
            <a:spLocks noGrp="1" noChangeArrowheads="1"/>
          </p:cNvSpPr>
          <p:nvPr>
            <p:ph type="body" idx="1"/>
          </p:nvPr>
        </p:nvSpPr>
        <p:spPr>
          <a:xfrm>
            <a:off x="417513" y="1900238"/>
            <a:ext cx="8178800" cy="4559300"/>
          </a:xfrm>
        </p:spPr>
        <p:txBody>
          <a:bodyPr/>
          <a:lstStyle/>
          <a:p>
            <a:pPr eaLnBrk="1" hangingPunct="1">
              <a:defRPr/>
            </a:pPr>
            <a:r>
              <a:rPr lang="en-US" altLang="zh-TW" dirty="0" smtClean="0"/>
              <a:t>The resources of the physical computer are shared to create the virtual machines.</a:t>
            </a:r>
            <a:endParaRPr lang="en-US" altLang="zh-TW" dirty="0" smtClean="0">
              <a:solidFill>
                <a:srgbClr val="C72F05"/>
              </a:solidFill>
              <a:effectLst>
                <a:outerShdw blurRad="38100" dist="38100" dir="2700000" algn="tl">
                  <a:srgbClr val="C0C0C0"/>
                </a:outerShdw>
              </a:effectLst>
            </a:endParaRPr>
          </a:p>
          <a:p>
            <a:pPr lvl="1" eaLnBrk="1" hangingPunct="1">
              <a:spcBef>
                <a:spcPct val="50000"/>
              </a:spcBef>
              <a:defRPr/>
            </a:pPr>
            <a:r>
              <a:rPr lang="en-US" altLang="zh-TW" sz="2400" dirty="0" smtClean="0">
                <a:solidFill>
                  <a:srgbClr val="C72F05"/>
                </a:solidFill>
                <a:effectLst>
                  <a:outerShdw blurRad="38100" dist="38100" dir="2700000" algn="tl">
                    <a:srgbClr val="C0C0C0"/>
                  </a:outerShdw>
                </a:effectLst>
              </a:rPr>
              <a:t>CPU scheduling can create the appearance that users have their own processor</a:t>
            </a:r>
            <a:endParaRPr lang="en-US" altLang="zh-TW" sz="2400" dirty="0" smtClean="0"/>
          </a:p>
          <a:p>
            <a:pPr lvl="1" eaLnBrk="1" hangingPunct="1">
              <a:spcBef>
                <a:spcPct val="50000"/>
              </a:spcBef>
              <a:defRPr/>
            </a:pPr>
            <a:r>
              <a:rPr lang="en-US" altLang="zh-TW" sz="2400" dirty="0" smtClean="0"/>
              <a:t>Spooling and a file system can provide virtual card readers and virtual line printers</a:t>
            </a:r>
          </a:p>
          <a:p>
            <a:pPr lvl="1" eaLnBrk="1" hangingPunct="1">
              <a:spcBef>
                <a:spcPct val="50000"/>
              </a:spcBef>
              <a:defRPr/>
            </a:pPr>
            <a:r>
              <a:rPr lang="en-US" altLang="zh-TW" sz="2400" dirty="0" smtClean="0"/>
              <a:t>A normal user time-sharing terminal serves as the virtual machine operator</a:t>
            </a:r>
            <a:r>
              <a:rPr lang="en-US" altLang="zh-TW" sz="2400" dirty="0" smtClean="0">
                <a:latin typeface="Helvetica" pitchFamily="34" charset="0"/>
              </a:rPr>
              <a:t>’</a:t>
            </a:r>
            <a:r>
              <a:rPr lang="en-US" altLang="zh-TW" sz="2400" dirty="0" smtClean="0"/>
              <a:t>s console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0339">
                                            <p:txEl>
                                              <p:pRg st="1" end="1"/>
                                            </p:txEl>
                                          </p:spTgt>
                                        </p:tgtEl>
                                        <p:attrNameLst>
                                          <p:attrName>style.visibility</p:attrName>
                                        </p:attrNameLst>
                                      </p:cBhvr>
                                      <p:to>
                                        <p:strVal val="visible"/>
                                      </p:to>
                                    </p:set>
                                    <p:anim calcmode="lin" valueType="num">
                                      <p:cBhvr additive="base">
                                        <p:cTn id="7" dur="500" fill="hold"/>
                                        <p:tgtEl>
                                          <p:spTgt spid="2703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0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0339">
                                            <p:txEl>
                                              <p:pRg st="2" end="2"/>
                                            </p:txEl>
                                          </p:spTgt>
                                        </p:tgtEl>
                                        <p:attrNameLst>
                                          <p:attrName>style.visibility</p:attrName>
                                        </p:attrNameLst>
                                      </p:cBhvr>
                                      <p:to>
                                        <p:strVal val="visible"/>
                                      </p:to>
                                    </p:set>
                                    <p:anim calcmode="lin" valueType="num">
                                      <p:cBhvr additive="base">
                                        <p:cTn id="13" dur="500" fill="hold"/>
                                        <p:tgtEl>
                                          <p:spTgt spid="27033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0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0339">
                                            <p:txEl>
                                              <p:pRg st="3" end="3"/>
                                            </p:txEl>
                                          </p:spTgt>
                                        </p:tgtEl>
                                        <p:attrNameLst>
                                          <p:attrName>style.visibility</p:attrName>
                                        </p:attrNameLst>
                                      </p:cBhvr>
                                      <p:to>
                                        <p:strVal val="visible"/>
                                      </p:to>
                                    </p:set>
                                    <p:anim calcmode="lin" valueType="num">
                                      <p:cBhvr additive="base">
                                        <p:cTn id="19" dur="500" fill="hold"/>
                                        <p:tgtEl>
                                          <p:spTgt spid="27033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03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5DE2F7CC-FED5-484E-85E6-8B77E5E69BF6}" type="datetime1">
              <a:rPr kumimoji="0" lang="zh-TW" altLang="en-US" sz="1400"/>
              <a:pPr eaLnBrk="1" hangingPunct="1">
                <a:spcBef>
                  <a:spcPct val="0"/>
                </a:spcBef>
                <a:buClrTx/>
                <a:buSzTx/>
                <a:buFontTx/>
                <a:buNone/>
              </a:pPr>
              <a:t>2018/3/5</a:t>
            </a:fld>
            <a:endParaRPr kumimoji="0" lang="en-US" altLang="zh-TW" sz="1400"/>
          </a:p>
        </p:txBody>
      </p:sp>
      <p:sp>
        <p:nvSpPr>
          <p:cNvPr id="40963"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5537AB1-BBC0-4D06-AEE3-C7C4CF9BEB41}" type="slidenum">
              <a:rPr kumimoji="0" lang="zh-TW" altLang="en-US" sz="1400"/>
              <a:pPr algn="r" eaLnBrk="1" hangingPunct="1">
                <a:spcBef>
                  <a:spcPct val="0"/>
                </a:spcBef>
                <a:buClrTx/>
                <a:buSzTx/>
                <a:buFontTx/>
                <a:buNone/>
              </a:pPr>
              <a:t>50</a:t>
            </a:fld>
            <a:endParaRPr kumimoji="0" lang="en-US" altLang="zh-TW" sz="1400"/>
          </a:p>
        </p:txBody>
      </p:sp>
      <p:sp>
        <p:nvSpPr>
          <p:cNvPr id="40964" name="Rectangle 2"/>
          <p:cNvSpPr>
            <a:spLocks noGrp="1" noChangeArrowheads="1"/>
          </p:cNvSpPr>
          <p:nvPr>
            <p:ph type="title" idx="4294967295"/>
          </p:nvPr>
        </p:nvSpPr>
        <p:spPr>
          <a:xfrm>
            <a:off x="234950" y="298450"/>
            <a:ext cx="8591550" cy="685800"/>
          </a:xfrm>
        </p:spPr>
        <p:txBody>
          <a:bodyPr/>
          <a:lstStyle/>
          <a:p>
            <a:pPr algn="ctr" eaLnBrk="1" hangingPunct="1"/>
            <a:r>
              <a:rPr lang="en-US" altLang="zh-TW" sz="4000" smtClean="0"/>
              <a:t>Hypervisor, Type I and II</a:t>
            </a:r>
            <a:endParaRPr lang="en-US" altLang="zh-TW" sz="4100" smtClean="0"/>
          </a:p>
        </p:txBody>
      </p:sp>
      <p:sp>
        <p:nvSpPr>
          <p:cNvPr id="272387" name="Rectangle 3" descr="Rectangle: Click to edit Master text styles&#10;Second level&#10;Third level&#10;Fourth level&#10;Fifth level"/>
          <p:cNvSpPr>
            <a:spLocks noGrp="1" noChangeArrowheads="1"/>
          </p:cNvSpPr>
          <p:nvPr>
            <p:ph type="body" idx="4294967295"/>
          </p:nvPr>
        </p:nvSpPr>
        <p:spPr>
          <a:xfrm>
            <a:off x="411163" y="1090613"/>
            <a:ext cx="8516937" cy="5334000"/>
          </a:xfrm>
        </p:spPr>
        <p:txBody>
          <a:bodyPr/>
          <a:lstStyle/>
          <a:p>
            <a:pPr eaLnBrk="1" hangingPunct="1">
              <a:spcBef>
                <a:spcPct val="60000"/>
              </a:spcBef>
            </a:pPr>
            <a:r>
              <a:rPr lang="en-US" altLang="zh-TW" sz="2800" dirty="0" smtClean="0">
                <a:solidFill>
                  <a:srgbClr val="0000FF"/>
                </a:solidFill>
              </a:rPr>
              <a:t>Hypervisor (virtual machine manager, VMM)</a:t>
            </a:r>
            <a:r>
              <a:rPr lang="en-US" altLang="zh-TW" sz="2800" dirty="0" smtClean="0"/>
              <a:t>: is one of many hardware virtualization techniques that allow multiple operating systems (</a:t>
            </a:r>
            <a:r>
              <a:rPr lang="en-US" altLang="zh-TW" sz="2800" dirty="0" smtClean="0">
                <a:solidFill>
                  <a:srgbClr val="FF0000"/>
                </a:solidFill>
              </a:rPr>
              <a:t>guests</a:t>
            </a:r>
            <a:r>
              <a:rPr lang="en-US" altLang="zh-TW" sz="2800" dirty="0" smtClean="0"/>
              <a:t>) to run concurrently on a host computer. It was first used in 1965 (IBM 360).</a:t>
            </a:r>
          </a:p>
          <a:p>
            <a:pPr eaLnBrk="1" hangingPunct="1">
              <a:spcBef>
                <a:spcPct val="60000"/>
              </a:spcBef>
            </a:pPr>
            <a:r>
              <a:rPr lang="en-US" altLang="zh-TW" sz="2800" dirty="0" smtClean="0"/>
              <a:t> Classification</a:t>
            </a:r>
          </a:p>
          <a:p>
            <a:pPr lvl="1" eaLnBrk="1" hangingPunct="1">
              <a:spcBef>
                <a:spcPct val="0"/>
              </a:spcBef>
            </a:pPr>
            <a:r>
              <a:rPr lang="en-US" altLang="zh-TW" sz="2400" dirty="0" smtClean="0"/>
              <a:t>Type I: </a:t>
            </a:r>
            <a:r>
              <a:rPr lang="en-US" altLang="zh-TW" sz="2400" dirty="0" smtClean="0">
                <a:solidFill>
                  <a:srgbClr val="FF0000"/>
                </a:solidFill>
              </a:rPr>
              <a:t>run</a:t>
            </a:r>
            <a:r>
              <a:rPr lang="en-US" altLang="zh-TW" sz="2400" dirty="0" smtClean="0"/>
              <a:t> </a:t>
            </a:r>
            <a:r>
              <a:rPr lang="en-US" altLang="zh-TW" sz="2400" dirty="0" smtClean="0">
                <a:solidFill>
                  <a:srgbClr val="FF0000"/>
                </a:solidFill>
              </a:rPr>
              <a:t>directly on the host's hardware </a:t>
            </a:r>
            <a:r>
              <a:rPr lang="en-US" altLang="zh-TW" sz="2400" dirty="0" smtClean="0"/>
              <a:t>to control the hardware and to manage guest operating systems.</a:t>
            </a:r>
          </a:p>
          <a:p>
            <a:pPr lvl="1" eaLnBrk="1" hangingPunct="1">
              <a:spcBef>
                <a:spcPct val="60000"/>
              </a:spcBef>
            </a:pPr>
            <a:r>
              <a:rPr lang="en-US" altLang="zh-TW" sz="2400" dirty="0" smtClean="0"/>
              <a:t>Type II: </a:t>
            </a:r>
            <a:r>
              <a:rPr lang="en-US" altLang="zh-TW" sz="2400" dirty="0" smtClean="0">
                <a:solidFill>
                  <a:srgbClr val="FF0000"/>
                </a:solidFill>
              </a:rPr>
              <a:t>run within a conventional operating system </a:t>
            </a:r>
            <a:r>
              <a:rPr lang="en-US" altLang="zh-TW" sz="2400" dirty="0" smtClean="0"/>
              <a:t>environment. With the hypervisor layer as a distinct second software level, guest operating systems run at the third level above the hardware.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 calcmode="lin" valueType="num">
                                      <p:cBhvr additive="base">
                                        <p:cTn id="7"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2387">
                                            <p:txEl>
                                              <p:pRg st="1" end="1"/>
                                            </p:txEl>
                                          </p:spTgt>
                                        </p:tgtEl>
                                        <p:attrNameLst>
                                          <p:attrName>style.visibility</p:attrName>
                                        </p:attrNameLst>
                                      </p:cBhvr>
                                      <p:to>
                                        <p:strVal val="visible"/>
                                      </p:to>
                                    </p:set>
                                    <p:anim calcmode="lin" valueType="num">
                                      <p:cBhvr additive="base">
                                        <p:cTn id="13" dur="500" fill="hold"/>
                                        <p:tgtEl>
                                          <p:spTgt spid="272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2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2387">
                                            <p:txEl>
                                              <p:pRg st="2" end="2"/>
                                            </p:txEl>
                                          </p:spTgt>
                                        </p:tgtEl>
                                        <p:attrNameLst>
                                          <p:attrName>style.visibility</p:attrName>
                                        </p:attrNameLst>
                                      </p:cBhvr>
                                      <p:to>
                                        <p:strVal val="visible"/>
                                      </p:to>
                                    </p:set>
                                    <p:anim calcmode="lin" valueType="num">
                                      <p:cBhvr additive="base">
                                        <p:cTn id="19" dur="500" fill="hold"/>
                                        <p:tgtEl>
                                          <p:spTgt spid="272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2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72387">
                                            <p:txEl>
                                              <p:pRg st="3" end="3"/>
                                            </p:txEl>
                                          </p:spTgt>
                                        </p:tgtEl>
                                        <p:attrNameLst>
                                          <p:attrName>style.visibility</p:attrName>
                                        </p:attrNameLst>
                                      </p:cBhvr>
                                      <p:to>
                                        <p:strVal val="visible"/>
                                      </p:to>
                                    </p:set>
                                    <p:anim calcmode="lin" valueType="num">
                                      <p:cBhvr additive="base">
                                        <p:cTn id="25" dur="500" fill="hold"/>
                                        <p:tgtEl>
                                          <p:spTgt spid="2723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23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版面配置區 3"/>
          <p:cNvSpPr txBox="1">
            <a:spLocks noGrp="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582949D-DE62-42A9-8ECE-DBC931850224}" type="datetime1">
              <a:rPr kumimoji="0" lang="zh-TW" altLang="en-US" sz="1400"/>
              <a:pPr eaLnBrk="1" hangingPunct="1">
                <a:spcBef>
                  <a:spcPct val="0"/>
                </a:spcBef>
                <a:buClrTx/>
                <a:buSzTx/>
                <a:buFontTx/>
                <a:buNone/>
              </a:pPr>
              <a:t>2018/3/5</a:t>
            </a:fld>
            <a:endParaRPr kumimoji="0" lang="en-US" altLang="zh-TW" sz="1400"/>
          </a:p>
        </p:txBody>
      </p:sp>
      <p:sp>
        <p:nvSpPr>
          <p:cNvPr id="41987" name="投影片編號版面配置區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72D7527-614C-4798-84C3-F4A98B1D0920}" type="slidenum">
              <a:rPr kumimoji="0" lang="zh-TW" altLang="en-US" sz="1400"/>
              <a:pPr algn="r" eaLnBrk="1" hangingPunct="1">
                <a:spcBef>
                  <a:spcPct val="0"/>
                </a:spcBef>
                <a:buClrTx/>
                <a:buSzTx/>
                <a:buFontTx/>
                <a:buNone/>
              </a:pPr>
              <a:t>51</a:t>
            </a:fld>
            <a:endParaRPr kumimoji="0" lang="en-US" altLang="zh-TW" sz="1400"/>
          </a:p>
        </p:txBody>
      </p:sp>
      <p:sp>
        <p:nvSpPr>
          <p:cNvPr id="41988" name="Rectangle 2"/>
          <p:cNvSpPr>
            <a:spLocks noGrp="1" noChangeArrowheads="1"/>
          </p:cNvSpPr>
          <p:nvPr>
            <p:ph type="title" idx="4294967295"/>
          </p:nvPr>
        </p:nvSpPr>
        <p:spPr>
          <a:xfrm>
            <a:off x="242888" y="187325"/>
            <a:ext cx="8591550" cy="814388"/>
          </a:xfrm>
        </p:spPr>
        <p:txBody>
          <a:bodyPr/>
          <a:lstStyle/>
          <a:p>
            <a:pPr algn="ctr" eaLnBrk="1" hangingPunct="1"/>
            <a:r>
              <a:rPr lang="en-US" altLang="zh-TW" sz="3600" smtClean="0"/>
              <a:t>Advantages/Disadvantages of VM</a:t>
            </a:r>
            <a:r>
              <a:rPr lang="en-US" altLang="zh-TW" sz="4100" smtClean="0"/>
              <a:t> </a:t>
            </a:r>
          </a:p>
        </p:txBody>
      </p:sp>
      <p:sp>
        <p:nvSpPr>
          <p:cNvPr id="272387" name="Rectangle 3" descr="Rectangle: Click to edit Master text styles&#10;Second level&#10;Third level&#10;Fourth level&#10;Fifth level"/>
          <p:cNvSpPr>
            <a:spLocks noGrp="1" noChangeArrowheads="1"/>
          </p:cNvSpPr>
          <p:nvPr>
            <p:ph type="body" idx="4294967295"/>
          </p:nvPr>
        </p:nvSpPr>
        <p:spPr>
          <a:xfrm>
            <a:off x="404813" y="1014413"/>
            <a:ext cx="8491537" cy="4937125"/>
          </a:xfrm>
        </p:spPr>
        <p:txBody>
          <a:bodyPr/>
          <a:lstStyle/>
          <a:p>
            <a:pPr eaLnBrk="1" hangingPunct="1">
              <a:lnSpc>
                <a:spcPct val="90000"/>
              </a:lnSpc>
              <a:spcBef>
                <a:spcPct val="60000"/>
              </a:spcBef>
              <a:defRPr/>
            </a:pPr>
            <a:r>
              <a:rPr lang="en-US" altLang="zh-TW" sz="2400" dirty="0" smtClean="0"/>
              <a:t>The virtual-machine concept provides </a:t>
            </a:r>
            <a:r>
              <a:rPr lang="en-US" altLang="zh-TW" sz="2400" dirty="0" smtClean="0">
                <a:solidFill>
                  <a:srgbClr val="C72F05"/>
                </a:solidFill>
                <a:effectLst>
                  <a:outerShdw blurRad="38100" dist="38100" dir="2700000" algn="tl">
                    <a:srgbClr val="C0C0C0"/>
                  </a:outerShdw>
                </a:effectLst>
              </a:rPr>
              <a:t>complete protection</a:t>
            </a:r>
            <a:r>
              <a:rPr lang="en-US" altLang="zh-TW" sz="2400" dirty="0" smtClean="0"/>
              <a:t> of system resources since </a:t>
            </a:r>
            <a:r>
              <a:rPr lang="en-US" altLang="zh-TW" sz="2400" dirty="0" smtClean="0">
                <a:solidFill>
                  <a:srgbClr val="C72F05"/>
                </a:solidFill>
                <a:effectLst>
                  <a:outerShdw blurRad="38100" dist="38100" dir="2700000" algn="tl">
                    <a:srgbClr val="C0C0C0"/>
                  </a:outerShdw>
                </a:effectLst>
              </a:rPr>
              <a:t>each virtual machine is isolated from all other virtual machines</a:t>
            </a:r>
            <a:r>
              <a:rPr lang="en-US" altLang="zh-TW" sz="2400" dirty="0" smtClean="0"/>
              <a:t>.  This isolation, however, permits no direct sharing of resources</a:t>
            </a:r>
          </a:p>
          <a:p>
            <a:pPr eaLnBrk="1" hangingPunct="1">
              <a:lnSpc>
                <a:spcPct val="90000"/>
              </a:lnSpc>
              <a:spcBef>
                <a:spcPct val="60000"/>
              </a:spcBef>
              <a:defRPr/>
            </a:pPr>
            <a:r>
              <a:rPr lang="en-US" altLang="zh-TW" sz="2400" dirty="0" smtClean="0"/>
              <a:t>A virtual-machine system is a perfect vehicle for operating-systems research and development.  </a:t>
            </a:r>
            <a:r>
              <a:rPr lang="en-US" altLang="zh-TW" sz="2400" dirty="0" smtClean="0">
                <a:solidFill>
                  <a:srgbClr val="C72F05"/>
                </a:solidFill>
                <a:effectLst>
                  <a:outerShdw blurRad="38100" dist="38100" dir="2700000" algn="tl">
                    <a:srgbClr val="C0C0C0"/>
                  </a:outerShdw>
                </a:effectLst>
              </a:rPr>
              <a:t>System development is done on the virtual machine</a:t>
            </a:r>
            <a:r>
              <a:rPr lang="en-US" altLang="zh-TW" sz="2400" dirty="0" smtClean="0"/>
              <a:t>, instead of on a physical machine and so does not disrupt normal system operation</a:t>
            </a:r>
          </a:p>
          <a:p>
            <a:pPr eaLnBrk="1" hangingPunct="1">
              <a:lnSpc>
                <a:spcPct val="90000"/>
              </a:lnSpc>
              <a:spcBef>
                <a:spcPct val="60000"/>
              </a:spcBef>
              <a:defRPr/>
            </a:pPr>
            <a:r>
              <a:rPr lang="en-US" altLang="zh-TW" sz="2400" dirty="0" smtClean="0"/>
              <a:t>The virtual machine concept is </a:t>
            </a:r>
            <a:r>
              <a:rPr lang="en-US" altLang="zh-TW" sz="2400" dirty="0" smtClean="0">
                <a:solidFill>
                  <a:srgbClr val="C72F05"/>
                </a:solidFill>
                <a:effectLst>
                  <a:outerShdw blurRad="38100" dist="38100" dir="2700000" algn="tl">
                    <a:srgbClr val="C0C0C0"/>
                  </a:outerShdw>
                </a:effectLst>
              </a:rPr>
              <a:t>difficult to implement</a:t>
            </a:r>
            <a:r>
              <a:rPr lang="en-US" altLang="zh-TW" sz="2400" dirty="0" smtClean="0"/>
              <a:t> due to the effort required to provide an </a:t>
            </a:r>
            <a:r>
              <a:rPr lang="en-US" altLang="zh-TW" sz="2400" i="1" dirty="0" smtClean="0"/>
              <a:t>exact</a:t>
            </a:r>
            <a:r>
              <a:rPr lang="en-US" altLang="zh-TW" sz="2400" dirty="0" smtClean="0"/>
              <a:t> duplicate to the underlying machine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 calcmode="lin" valueType="num">
                                      <p:cBhvr additive="base">
                                        <p:cTn id="7"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2387">
                                            <p:txEl>
                                              <p:pRg st="1" end="1"/>
                                            </p:txEl>
                                          </p:spTgt>
                                        </p:tgtEl>
                                        <p:attrNameLst>
                                          <p:attrName>style.visibility</p:attrName>
                                        </p:attrNameLst>
                                      </p:cBhvr>
                                      <p:to>
                                        <p:strVal val="visible"/>
                                      </p:to>
                                    </p:set>
                                    <p:anim calcmode="lin" valueType="num">
                                      <p:cBhvr additive="base">
                                        <p:cTn id="13" dur="500" fill="hold"/>
                                        <p:tgtEl>
                                          <p:spTgt spid="272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2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2387">
                                            <p:txEl>
                                              <p:pRg st="2" end="2"/>
                                            </p:txEl>
                                          </p:spTgt>
                                        </p:tgtEl>
                                        <p:attrNameLst>
                                          <p:attrName>style.visibility</p:attrName>
                                        </p:attrNameLst>
                                      </p:cBhvr>
                                      <p:to>
                                        <p:strVal val="visible"/>
                                      </p:to>
                                    </p:set>
                                    <p:anim calcmode="lin" valueType="num">
                                      <p:cBhvr additive="base">
                                        <p:cTn id="19" dur="500" fill="hold"/>
                                        <p:tgtEl>
                                          <p:spTgt spid="272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238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idx="4294967295"/>
          </p:nvPr>
        </p:nvSpPr>
        <p:spPr>
          <a:xfrm>
            <a:off x="609600" y="142875"/>
            <a:ext cx="7772400" cy="541338"/>
          </a:xfrm>
        </p:spPr>
        <p:txBody>
          <a:bodyPr/>
          <a:lstStyle/>
          <a:p>
            <a:pPr algn="ctr" eaLnBrk="1" hangingPunct="1"/>
            <a:r>
              <a:rPr lang="en-US" altLang="zh-TW" sz="4000" dirty="0" smtClean="0"/>
              <a:t>Para-virtualization</a:t>
            </a:r>
          </a:p>
        </p:txBody>
      </p:sp>
      <p:sp>
        <p:nvSpPr>
          <p:cNvPr id="131075" name="Content Placeholder 2" descr="Rectangle: Click to edit Master text styles&#10;Second level&#10;Third level&#10;Fourth level&#10;Fifth level"/>
          <p:cNvSpPr>
            <a:spLocks noGrp="1"/>
          </p:cNvSpPr>
          <p:nvPr>
            <p:ph idx="4294967295"/>
          </p:nvPr>
        </p:nvSpPr>
        <p:spPr>
          <a:xfrm>
            <a:off x="193675" y="600075"/>
            <a:ext cx="4856163" cy="5976938"/>
          </a:xfrm>
        </p:spPr>
        <p:txBody>
          <a:bodyPr/>
          <a:lstStyle/>
          <a:p>
            <a:pPr>
              <a:spcBef>
                <a:spcPct val="60000"/>
              </a:spcBef>
            </a:pPr>
            <a:r>
              <a:rPr lang="en-US" altLang="zh-TW" sz="1800" dirty="0" smtClean="0"/>
              <a:t>Presents </a:t>
            </a:r>
            <a:r>
              <a:rPr lang="en-US" altLang="zh-TW" sz="1800" dirty="0" smtClean="0">
                <a:solidFill>
                  <a:srgbClr val="0000FF"/>
                </a:solidFill>
              </a:rPr>
              <a:t>guest</a:t>
            </a:r>
            <a:r>
              <a:rPr lang="en-US" altLang="zh-TW" sz="1800" dirty="0" smtClean="0"/>
              <a:t> with system </a:t>
            </a:r>
            <a:r>
              <a:rPr lang="en-US" altLang="zh-TW" sz="1800" dirty="0" smtClean="0">
                <a:solidFill>
                  <a:srgbClr val="C72F05"/>
                </a:solidFill>
              </a:rPr>
              <a:t>similar but not identical to</a:t>
            </a:r>
            <a:r>
              <a:rPr lang="en-US" altLang="zh-TW" sz="1800" dirty="0" smtClean="0"/>
              <a:t> the guest’s preferred systems. Guest must be modified to run on </a:t>
            </a:r>
            <a:r>
              <a:rPr lang="en-US" altLang="zh-TW" sz="1800" dirty="0" smtClean="0">
                <a:solidFill>
                  <a:srgbClr val="0000FF"/>
                </a:solidFill>
              </a:rPr>
              <a:t>para-virtualized </a:t>
            </a:r>
            <a:r>
              <a:rPr lang="en-US" altLang="zh-TW" sz="1800" dirty="0" smtClean="0"/>
              <a:t>hardware. </a:t>
            </a:r>
          </a:p>
          <a:p>
            <a:pPr>
              <a:spcBef>
                <a:spcPct val="60000"/>
              </a:spcBef>
            </a:pPr>
            <a:r>
              <a:rPr lang="en-US" altLang="zh-TW" sz="1800" b="1" dirty="0" smtClean="0">
                <a:solidFill>
                  <a:srgbClr val="6600CC"/>
                </a:solidFill>
              </a:rPr>
              <a:t>Solaris 10</a:t>
            </a:r>
            <a:r>
              <a:rPr lang="en-US" altLang="zh-TW" sz="1800" dirty="0" smtClean="0"/>
              <a:t>: </a:t>
            </a:r>
            <a:r>
              <a:rPr lang="en-US" altLang="zh-TW" sz="1800" dirty="0" smtClean="0">
                <a:solidFill>
                  <a:srgbClr val="0000FF"/>
                </a:solidFill>
              </a:rPr>
              <a:t>creates a virtual layer between OS and the applications</a:t>
            </a:r>
            <a:r>
              <a:rPr lang="en-US" altLang="zh-TW" sz="1800" dirty="0" smtClean="0"/>
              <a:t>. </a:t>
            </a:r>
          </a:p>
          <a:p>
            <a:pPr>
              <a:spcBef>
                <a:spcPct val="60000"/>
              </a:spcBef>
            </a:pPr>
            <a:r>
              <a:rPr lang="en-US" altLang="zh-TW" sz="1800" dirty="0" smtClean="0"/>
              <a:t>In this system, only one kernel is installed, and the </a:t>
            </a:r>
            <a:r>
              <a:rPr lang="en-US" altLang="zh-TW" sz="1800" dirty="0" smtClean="0">
                <a:solidFill>
                  <a:srgbClr val="FF0000"/>
                </a:solidFill>
              </a:rPr>
              <a:t>hardware is not virtualized</a:t>
            </a:r>
            <a:r>
              <a:rPr lang="en-US" altLang="zh-TW" sz="1800" dirty="0" smtClean="0"/>
              <a:t>, rather, </a:t>
            </a:r>
            <a:r>
              <a:rPr lang="en-US" altLang="zh-TW" sz="1800" dirty="0" smtClean="0">
                <a:solidFill>
                  <a:srgbClr val="FF0000"/>
                </a:solidFill>
              </a:rPr>
              <a:t>OS and its devices are virtualized</a:t>
            </a:r>
            <a:r>
              <a:rPr lang="en-US" altLang="zh-TW" sz="1800" dirty="0" smtClean="0"/>
              <a:t>, providing processes within a </a:t>
            </a:r>
            <a:r>
              <a:rPr lang="en-US" altLang="zh-TW" sz="1800" dirty="0" smtClean="0">
                <a:solidFill>
                  <a:srgbClr val="3366FF"/>
                </a:solidFill>
              </a:rPr>
              <a:t>containers (zones</a:t>
            </a:r>
            <a:r>
              <a:rPr lang="en-US" altLang="zh-TW" sz="1800" dirty="0" smtClean="0"/>
              <a:t>) with the impression that they are the only processes on this system.</a:t>
            </a:r>
          </a:p>
          <a:p>
            <a:pPr>
              <a:spcBef>
                <a:spcPct val="60000"/>
              </a:spcBef>
            </a:pPr>
            <a:r>
              <a:rPr lang="en-US" altLang="zh-TW" sz="1800" dirty="0">
                <a:solidFill>
                  <a:srgbClr val="FF0000"/>
                </a:solidFill>
              </a:rPr>
              <a:t>X</a:t>
            </a:r>
            <a:r>
              <a:rPr lang="en-US" altLang="zh-TW" sz="1800" dirty="0" smtClean="0">
                <a:solidFill>
                  <a:srgbClr val="FF0000"/>
                </a:solidFill>
              </a:rPr>
              <a:t>en </a:t>
            </a:r>
            <a:r>
              <a:rPr lang="en-US" altLang="zh-TW" sz="1800" dirty="0" smtClean="0"/>
              <a:t>(Cambridge 2003): a </a:t>
            </a:r>
            <a:r>
              <a:rPr lang="en-US" altLang="zh-TW" sz="1800" dirty="0"/>
              <a:t>hypervisor using a microkernel </a:t>
            </a:r>
            <a:r>
              <a:rPr lang="en-US" altLang="zh-TW" sz="1800" dirty="0" smtClean="0"/>
              <a:t>design, under Linux runs on x86. Open source -&gt; Citrix.</a:t>
            </a:r>
          </a:p>
          <a:p>
            <a:pPr>
              <a:spcBef>
                <a:spcPct val="60000"/>
              </a:spcBef>
            </a:pPr>
            <a:r>
              <a:rPr lang="en-US" altLang="zh-TW" sz="1800" dirty="0" smtClean="0">
                <a:solidFill>
                  <a:srgbClr val="0000FF"/>
                </a:solidFill>
              </a:rPr>
              <a:t>Hardware-assisted virtualization</a:t>
            </a:r>
            <a:r>
              <a:rPr lang="en-US" altLang="zh-TW" sz="1800" dirty="0" smtClean="0"/>
              <a:t>: offers new instructions to support direct calls by a </a:t>
            </a:r>
            <a:r>
              <a:rPr lang="en-US" altLang="zh-TW" sz="1800" dirty="0" err="1" smtClean="0"/>
              <a:t>paravirtualized</a:t>
            </a:r>
            <a:r>
              <a:rPr lang="en-US" altLang="zh-TW" sz="1800" dirty="0" smtClean="0"/>
              <a:t> guest into the hypervisor by </a:t>
            </a:r>
            <a:r>
              <a:rPr lang="en-US" altLang="zh-TW" sz="1800" dirty="0" err="1" smtClean="0">
                <a:solidFill>
                  <a:srgbClr val="FF0000"/>
                </a:solidFill>
              </a:rPr>
              <a:t>hypercalls</a:t>
            </a:r>
            <a:r>
              <a:rPr lang="en-US" altLang="zh-TW" sz="1800" dirty="0" smtClean="0"/>
              <a:t>. </a:t>
            </a:r>
            <a:endParaRPr lang="en-US" altLang="zh-TW" sz="2000" dirty="0" smtClean="0"/>
          </a:p>
          <a:p>
            <a:endParaRPr lang="zh-TW" altLang="en-US" sz="2000" dirty="0" smtClean="0"/>
          </a:p>
        </p:txBody>
      </p:sp>
      <p:pic>
        <p:nvPicPr>
          <p:cNvPr id="44036"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88" y="1370013"/>
            <a:ext cx="3997325"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4"/>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6"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4"/>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52</a:t>
            </a:fld>
            <a:endParaRPr kumimoji="0" lang="en-US" altLang="zh-TW" sz="1400"/>
          </a:p>
        </p:txBody>
      </p:sp>
      <p:sp>
        <p:nvSpPr>
          <p:cNvPr id="2" name="矩形 1"/>
          <p:cNvSpPr/>
          <p:nvPr/>
        </p:nvSpPr>
        <p:spPr>
          <a:xfrm>
            <a:off x="3082925" y="6115348"/>
            <a:ext cx="5118709" cy="923330"/>
          </a:xfrm>
          <a:prstGeom prst="rect">
            <a:avLst/>
          </a:prstGeom>
        </p:spPr>
        <p:txBody>
          <a:bodyPr wrap="none">
            <a:spAutoFit/>
          </a:bodyPr>
          <a:lstStyle/>
          <a:p>
            <a:r>
              <a:rPr lang="en-US" altLang="zh-TW" sz="1800" dirty="0">
                <a:solidFill>
                  <a:srgbClr val="0000FF"/>
                </a:solidFill>
                <a:latin typeface="+mn-lt"/>
                <a:ea typeface="+mn-ea"/>
              </a:rPr>
              <a:t>Kernel-based Virtual </a:t>
            </a:r>
            <a:r>
              <a:rPr lang="en-US" altLang="zh-TW" sz="1800" dirty="0" smtClean="0">
                <a:solidFill>
                  <a:srgbClr val="0000FF"/>
                </a:solidFill>
                <a:latin typeface="+mn-lt"/>
                <a:ea typeface="+mn-ea"/>
              </a:rPr>
              <a:t>Machine (KVM), Linux 2.6.2</a:t>
            </a:r>
          </a:p>
          <a:p>
            <a:r>
              <a:rPr lang="en-US" altLang="zh-TW" sz="1800" dirty="0" smtClean="0">
                <a:solidFill>
                  <a:srgbClr val="0000FF"/>
                </a:solidFill>
                <a:latin typeface="+mn-lt"/>
                <a:ea typeface="+mn-ea"/>
              </a:rPr>
              <a:t>Intel VT, AMD-V</a:t>
            </a:r>
          </a:p>
          <a:p>
            <a:r>
              <a:rPr lang="en-US" altLang="zh-TW" sz="1800" dirty="0" smtClean="0">
                <a:solidFill>
                  <a:srgbClr val="0000FF"/>
                </a:solidFill>
                <a:latin typeface="+mn-lt"/>
                <a:ea typeface="+mn-ea"/>
              </a:rPr>
              <a:t>Ubuntu, </a:t>
            </a:r>
            <a:r>
              <a:rPr lang="en-US" altLang="zh-TW" sz="1800" dirty="0" err="1" smtClean="0">
                <a:solidFill>
                  <a:srgbClr val="0000FF"/>
                </a:solidFill>
              </a:rPr>
              <a:t>Redhat</a:t>
            </a:r>
            <a:r>
              <a:rPr lang="en-US" altLang="zh-TW" sz="1800" dirty="0" smtClean="0">
                <a:solidFill>
                  <a:srgbClr val="0000FF"/>
                </a:solidFill>
              </a:rPr>
              <a:t>, …</a:t>
            </a:r>
            <a:r>
              <a:rPr lang="en-US" altLang="zh-TW" sz="1800" dirty="0" smtClean="0">
                <a:solidFill>
                  <a:srgbClr val="0000FF"/>
                </a:solidFill>
                <a:latin typeface="+mn-lt"/>
                <a:ea typeface="+mn-ea"/>
              </a:rPr>
              <a:t> </a:t>
            </a:r>
            <a:endParaRPr lang="zh-TW" altLang="en-US" sz="1800" dirty="0">
              <a:solidFill>
                <a:srgbClr val="0000FF"/>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Effect transition="in" filter="blinds(horizontal)">
                                      <p:cBhvr>
                                        <p:cTn id="7" dur="500"/>
                                        <p:tgtEl>
                                          <p:spTgt spid="1310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Effect transition="in" filter="blinds(horizontal)">
                                      <p:cBhvr>
                                        <p:cTn id="12" dur="500"/>
                                        <p:tgtEl>
                                          <p:spTgt spid="1310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31075">
                                            <p:txEl>
                                              <p:pRg st="3" end="3"/>
                                            </p:txEl>
                                          </p:spTgt>
                                        </p:tgtEl>
                                        <p:attrNameLst>
                                          <p:attrName>style.visibility</p:attrName>
                                        </p:attrNameLst>
                                      </p:cBhvr>
                                      <p:to>
                                        <p:strVal val="visible"/>
                                      </p:to>
                                    </p:set>
                                    <p:animEffect transition="in" filter="blinds(horizontal)">
                                      <p:cBhvr>
                                        <p:cTn id="17" dur="500"/>
                                        <p:tgtEl>
                                          <p:spTgt spid="1310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31075">
                                            <p:txEl>
                                              <p:pRg st="4" end="4"/>
                                            </p:txEl>
                                          </p:spTgt>
                                        </p:tgtEl>
                                        <p:attrNameLst>
                                          <p:attrName>style.visibility</p:attrName>
                                        </p:attrNameLst>
                                      </p:cBhvr>
                                      <p:to>
                                        <p:strVal val="visible"/>
                                      </p:to>
                                    </p:set>
                                    <p:animEffect transition="in" filter="blinds(horizontal)">
                                      <p:cBhvr>
                                        <p:cTn id="22" dur="500"/>
                                        <p:tgtEl>
                                          <p:spTgt spid="13107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008917B0-B48C-4A44-87FF-EBC8245496A4}" type="datetime1">
              <a:rPr kumimoji="0" lang="zh-TW" altLang="en-US" sz="1400" smtClean="0"/>
              <a:t>2018/3/5</a:t>
            </a:fld>
            <a:endParaRPr kumimoji="0" lang="en-US" altLang="zh-TW" sz="1400"/>
          </a:p>
        </p:txBody>
      </p:sp>
      <p:sp>
        <p:nvSpPr>
          <p:cNvPr id="46083"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64F7F603-127C-4A39-886D-996D54A4E7C6}" type="slidenum">
              <a:rPr kumimoji="0" lang="zh-TW" altLang="en-US" sz="1400"/>
              <a:pPr algn="r" eaLnBrk="1" hangingPunct="1">
                <a:spcBef>
                  <a:spcPct val="0"/>
                </a:spcBef>
                <a:buClrTx/>
                <a:buSzTx/>
                <a:buFontTx/>
                <a:buNone/>
              </a:pPr>
              <a:t>53</a:t>
            </a:fld>
            <a:endParaRPr kumimoji="0" lang="en-US" altLang="zh-TW" sz="1400"/>
          </a:p>
        </p:txBody>
      </p:sp>
      <p:sp>
        <p:nvSpPr>
          <p:cNvPr id="46084" name="Rectangle 2"/>
          <p:cNvSpPr>
            <a:spLocks noGrp="1" noChangeArrowheads="1"/>
          </p:cNvSpPr>
          <p:nvPr>
            <p:ph type="title"/>
          </p:nvPr>
        </p:nvSpPr>
        <p:spPr>
          <a:xfrm>
            <a:off x="623888" y="117475"/>
            <a:ext cx="7772400" cy="1143000"/>
          </a:xfrm>
        </p:spPr>
        <p:txBody>
          <a:bodyPr/>
          <a:lstStyle/>
          <a:p>
            <a:pPr eaLnBrk="1" hangingPunct="1"/>
            <a:r>
              <a:rPr lang="en-US" altLang="zh-TW" smtClean="0"/>
              <a:t>Java Virtual Machine</a:t>
            </a:r>
          </a:p>
        </p:txBody>
      </p:sp>
      <p:sp>
        <p:nvSpPr>
          <p:cNvPr id="274435" name="Rectangle 3" descr="Rectangle: Click to edit Master text styles&#10;Second level&#10;Third level&#10;Fourth level&#10;Fifth level"/>
          <p:cNvSpPr>
            <a:spLocks noGrp="1" noChangeArrowheads="1"/>
          </p:cNvSpPr>
          <p:nvPr>
            <p:ph type="body" idx="1"/>
          </p:nvPr>
        </p:nvSpPr>
        <p:spPr>
          <a:xfrm>
            <a:off x="733425" y="1301750"/>
            <a:ext cx="7902575" cy="4506913"/>
          </a:xfrm>
        </p:spPr>
        <p:txBody>
          <a:bodyPr/>
          <a:lstStyle/>
          <a:p>
            <a:pPr eaLnBrk="1" hangingPunct="1">
              <a:lnSpc>
                <a:spcPct val="90000"/>
              </a:lnSpc>
              <a:spcBef>
                <a:spcPct val="60000"/>
              </a:spcBef>
              <a:defRPr/>
            </a:pPr>
            <a:r>
              <a:rPr lang="en-US" altLang="zh-TW" sz="2800" dirty="0" smtClean="0"/>
              <a:t>Compiled Java programs are platform-neutral </a:t>
            </a:r>
            <a:r>
              <a:rPr lang="en-US" altLang="zh-TW" sz="2800" dirty="0" err="1" smtClean="0"/>
              <a:t>bytecodes</a:t>
            </a:r>
            <a:r>
              <a:rPr lang="en-US" altLang="zh-TW" sz="2800" dirty="0" smtClean="0"/>
              <a:t> executed by a </a:t>
            </a:r>
            <a:r>
              <a:rPr lang="en-US" altLang="zh-TW" sz="2800" dirty="0" smtClean="0">
                <a:solidFill>
                  <a:srgbClr val="C72F05"/>
                </a:solidFill>
                <a:effectLst>
                  <a:outerShdw blurRad="38100" dist="38100" dir="2700000" algn="tl">
                    <a:srgbClr val="C0C0C0"/>
                  </a:outerShdw>
                </a:effectLst>
              </a:rPr>
              <a:t>Java Virtual Machine</a:t>
            </a:r>
            <a:r>
              <a:rPr lang="en-US" altLang="zh-TW" sz="2800" dirty="0" smtClean="0"/>
              <a:t> (JVM)</a:t>
            </a:r>
          </a:p>
          <a:p>
            <a:pPr eaLnBrk="1" hangingPunct="1">
              <a:lnSpc>
                <a:spcPct val="90000"/>
              </a:lnSpc>
              <a:spcBef>
                <a:spcPct val="60000"/>
              </a:spcBef>
              <a:defRPr/>
            </a:pPr>
            <a:r>
              <a:rPr lang="en-US" altLang="zh-TW" sz="2800" dirty="0" smtClean="0"/>
              <a:t>JVM consists of</a:t>
            </a:r>
          </a:p>
          <a:p>
            <a:pPr eaLnBrk="1" hangingPunct="1">
              <a:lnSpc>
                <a:spcPct val="90000"/>
              </a:lnSpc>
              <a:buFont typeface="Wingdings" pitchFamily="2" charset="2"/>
              <a:buNone/>
              <a:defRPr/>
            </a:pPr>
            <a:r>
              <a:rPr lang="en-US" altLang="zh-TW" sz="2800" dirty="0" smtClean="0"/>
              <a:t>	- class loader</a:t>
            </a:r>
          </a:p>
          <a:p>
            <a:pPr eaLnBrk="1" hangingPunct="1">
              <a:lnSpc>
                <a:spcPct val="90000"/>
              </a:lnSpc>
              <a:buFont typeface="Wingdings" pitchFamily="2" charset="2"/>
              <a:buNone/>
              <a:defRPr/>
            </a:pPr>
            <a:r>
              <a:rPr lang="en-US" altLang="zh-TW" sz="2800" dirty="0" smtClean="0"/>
              <a:t>	- class verifier</a:t>
            </a:r>
          </a:p>
          <a:p>
            <a:pPr eaLnBrk="1" hangingPunct="1">
              <a:lnSpc>
                <a:spcPct val="90000"/>
              </a:lnSpc>
              <a:buFont typeface="Wingdings" pitchFamily="2" charset="2"/>
              <a:buNone/>
              <a:defRPr/>
            </a:pPr>
            <a:r>
              <a:rPr lang="en-US" altLang="zh-TW" sz="2800" dirty="0" smtClean="0"/>
              <a:t>	- runtime interpreter</a:t>
            </a:r>
            <a:endParaRPr lang="en-US" altLang="zh-TW" sz="2800" dirty="0" smtClean="0">
              <a:solidFill>
                <a:srgbClr val="C72F05"/>
              </a:solidFill>
              <a:effectLst>
                <a:outerShdw blurRad="38100" dist="38100" dir="2700000" algn="tl">
                  <a:srgbClr val="C0C0C0"/>
                </a:outerShdw>
              </a:effectLst>
            </a:endParaRPr>
          </a:p>
          <a:p>
            <a:pPr eaLnBrk="1" hangingPunct="1">
              <a:lnSpc>
                <a:spcPct val="90000"/>
              </a:lnSpc>
              <a:spcBef>
                <a:spcPct val="60000"/>
              </a:spcBef>
              <a:defRPr/>
            </a:pPr>
            <a:r>
              <a:rPr lang="en-US" altLang="zh-TW" sz="2800" dirty="0" smtClean="0">
                <a:solidFill>
                  <a:srgbClr val="C72F05"/>
                </a:solidFill>
                <a:effectLst>
                  <a:outerShdw blurRad="38100" dist="38100" dir="2700000" algn="tl">
                    <a:srgbClr val="C0C0C0"/>
                  </a:outerShdw>
                </a:effectLst>
              </a:rPr>
              <a:t>Just-In-Time</a:t>
            </a:r>
            <a:r>
              <a:rPr lang="en-US" altLang="zh-TW" sz="2800" dirty="0" smtClean="0"/>
              <a:t> (JIT) compilers increase performance</a:t>
            </a:r>
          </a:p>
        </p:txBody>
      </p:sp>
      <p:pic>
        <p:nvPicPr>
          <p:cNvPr id="2" name="圖片 1"/>
          <p:cNvPicPr>
            <a:picLocks noChangeAspect="1"/>
          </p:cNvPicPr>
          <p:nvPr/>
        </p:nvPicPr>
        <p:blipFill>
          <a:blip r:embed="rId4"/>
          <a:stretch>
            <a:fillRect/>
          </a:stretch>
        </p:blipFill>
        <p:spPr>
          <a:xfrm>
            <a:off x="4399280" y="2156836"/>
            <a:ext cx="4653560" cy="22126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additive="base">
                                        <p:cTn id="7" dur="500" fill="hold"/>
                                        <p:tgtEl>
                                          <p:spTgt spid="274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4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4435">
                                            <p:txEl>
                                              <p:pRg st="1" end="1"/>
                                            </p:txEl>
                                          </p:spTgt>
                                        </p:tgtEl>
                                        <p:attrNameLst>
                                          <p:attrName>style.visibility</p:attrName>
                                        </p:attrNameLst>
                                      </p:cBhvr>
                                      <p:to>
                                        <p:strVal val="visible"/>
                                      </p:to>
                                    </p:set>
                                    <p:anim calcmode="lin" valueType="num">
                                      <p:cBhvr additive="base">
                                        <p:cTn id="13" dur="500" fill="hold"/>
                                        <p:tgtEl>
                                          <p:spTgt spid="274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4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4435">
                                            <p:txEl>
                                              <p:pRg st="2" end="2"/>
                                            </p:txEl>
                                          </p:spTgt>
                                        </p:tgtEl>
                                        <p:attrNameLst>
                                          <p:attrName>style.visibility</p:attrName>
                                        </p:attrNameLst>
                                      </p:cBhvr>
                                      <p:to>
                                        <p:strVal val="visible"/>
                                      </p:to>
                                    </p:set>
                                    <p:anim calcmode="lin" valueType="num">
                                      <p:cBhvr additive="base">
                                        <p:cTn id="19" dur="500" fill="hold"/>
                                        <p:tgtEl>
                                          <p:spTgt spid="274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4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4435">
                                            <p:txEl>
                                              <p:pRg st="3" end="3"/>
                                            </p:txEl>
                                          </p:spTgt>
                                        </p:tgtEl>
                                        <p:attrNameLst>
                                          <p:attrName>style.visibility</p:attrName>
                                        </p:attrNameLst>
                                      </p:cBhvr>
                                      <p:to>
                                        <p:strVal val="visible"/>
                                      </p:to>
                                    </p:set>
                                    <p:anim calcmode="lin" valueType="num">
                                      <p:cBhvr additive="base">
                                        <p:cTn id="25" dur="500" fill="hold"/>
                                        <p:tgtEl>
                                          <p:spTgt spid="2744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4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4435">
                                            <p:txEl>
                                              <p:pRg st="4" end="4"/>
                                            </p:txEl>
                                          </p:spTgt>
                                        </p:tgtEl>
                                        <p:attrNameLst>
                                          <p:attrName>style.visibility</p:attrName>
                                        </p:attrNameLst>
                                      </p:cBhvr>
                                      <p:to>
                                        <p:strVal val="visible"/>
                                      </p:to>
                                    </p:set>
                                    <p:anim calcmode="lin" valueType="num">
                                      <p:cBhvr additive="base">
                                        <p:cTn id="31" dur="500" fill="hold"/>
                                        <p:tgtEl>
                                          <p:spTgt spid="27443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44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4435">
                                            <p:txEl>
                                              <p:pRg st="5" end="5"/>
                                            </p:txEl>
                                          </p:spTgt>
                                        </p:tgtEl>
                                        <p:attrNameLst>
                                          <p:attrName>style.visibility</p:attrName>
                                        </p:attrNameLst>
                                      </p:cBhvr>
                                      <p:to>
                                        <p:strVal val="visible"/>
                                      </p:to>
                                    </p:set>
                                    <p:anim calcmode="lin" valueType="num">
                                      <p:cBhvr additive="base">
                                        <p:cTn id="37" dur="500" fill="hold"/>
                                        <p:tgtEl>
                                          <p:spTgt spid="27443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44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74435">
                                            <p:txEl>
                                              <p:pRg st="5" end="5"/>
                                            </p:txEl>
                                          </p:spTgt>
                                        </p:tgtEl>
                                        <p:attrNameLst>
                                          <p:attrName>style.visibility</p:attrName>
                                        </p:attrNameLst>
                                      </p:cBhvr>
                                      <p:to>
                                        <p:strVal val="visible"/>
                                      </p:to>
                                    </p:set>
                                    <p:anim calcmode="lin" valueType="num">
                                      <p:cBhvr additive="base">
                                        <p:cTn id="43" dur="500" fill="hold"/>
                                        <p:tgtEl>
                                          <p:spTgt spid="27443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44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BC7A1A5C-6482-4F48-94A5-205BEAD2E546}" type="datetime1">
              <a:rPr kumimoji="0" lang="zh-TW" altLang="en-US" sz="1400" smtClean="0"/>
              <a:t>2018/3/5</a:t>
            </a:fld>
            <a:endParaRPr kumimoji="0" lang="en-US" altLang="zh-TW" sz="1400"/>
          </a:p>
        </p:txBody>
      </p:sp>
      <p:sp>
        <p:nvSpPr>
          <p:cNvPr id="4710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874D133-FFD7-4FCB-BBE7-016A2147ADC9}" type="slidenum">
              <a:rPr kumimoji="0" lang="zh-TW" altLang="en-US" sz="1400"/>
              <a:pPr algn="r" eaLnBrk="1" hangingPunct="1">
                <a:spcBef>
                  <a:spcPct val="0"/>
                </a:spcBef>
                <a:buClrTx/>
                <a:buSzTx/>
                <a:buFontTx/>
                <a:buNone/>
              </a:pPr>
              <a:t>54</a:t>
            </a:fld>
            <a:endParaRPr kumimoji="0" lang="en-US" altLang="zh-TW" sz="1400"/>
          </a:p>
        </p:txBody>
      </p:sp>
      <p:sp>
        <p:nvSpPr>
          <p:cNvPr id="47108" name="Rectangle 2"/>
          <p:cNvSpPr>
            <a:spLocks noGrp="1" noChangeArrowheads="1"/>
          </p:cNvSpPr>
          <p:nvPr>
            <p:ph type="title"/>
          </p:nvPr>
        </p:nvSpPr>
        <p:spPr/>
        <p:txBody>
          <a:bodyPr/>
          <a:lstStyle/>
          <a:p>
            <a:pPr eaLnBrk="1" hangingPunct="1"/>
            <a:r>
              <a:rPr lang="en-US" altLang="zh-TW" smtClean="0"/>
              <a:t>Hardware Protection</a:t>
            </a:r>
          </a:p>
        </p:txBody>
      </p:sp>
      <p:sp>
        <p:nvSpPr>
          <p:cNvPr id="47109" name="Rectangle 3" descr="Rectangle: Click to edit Master text styles&#10;Second level&#10;Third level&#10;Fourth level&#10;Fifth level"/>
          <p:cNvSpPr>
            <a:spLocks noGrp="1" noChangeArrowheads="1"/>
          </p:cNvSpPr>
          <p:nvPr>
            <p:ph type="body" idx="1"/>
          </p:nvPr>
        </p:nvSpPr>
        <p:spPr/>
        <p:txBody>
          <a:bodyPr/>
          <a:lstStyle/>
          <a:p>
            <a:pPr eaLnBrk="1" hangingPunct="1">
              <a:spcBef>
                <a:spcPct val="60000"/>
              </a:spcBef>
            </a:pPr>
            <a:r>
              <a:rPr lang="en-US" altLang="zh-TW" sz="3600" smtClean="0"/>
              <a:t>Dual-Mode Operation</a:t>
            </a:r>
          </a:p>
          <a:p>
            <a:pPr eaLnBrk="1" hangingPunct="1">
              <a:spcBef>
                <a:spcPct val="60000"/>
              </a:spcBef>
            </a:pPr>
            <a:r>
              <a:rPr lang="en-US" altLang="zh-TW" sz="3600" smtClean="0"/>
              <a:t>I/O Protection</a:t>
            </a:r>
          </a:p>
          <a:p>
            <a:pPr eaLnBrk="1" hangingPunct="1">
              <a:spcBef>
                <a:spcPct val="60000"/>
              </a:spcBef>
            </a:pPr>
            <a:r>
              <a:rPr lang="en-US" altLang="zh-TW" sz="3600" smtClean="0"/>
              <a:t>Memory Protection</a:t>
            </a:r>
          </a:p>
          <a:p>
            <a:pPr eaLnBrk="1" hangingPunct="1">
              <a:spcBef>
                <a:spcPct val="60000"/>
              </a:spcBef>
            </a:pPr>
            <a:r>
              <a:rPr lang="en-US" altLang="zh-TW" sz="3600" smtClean="0"/>
              <a:t>CPU Protection</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EFF9E2A-804E-47B2-9C76-8115825DCB87}" type="datetime1">
              <a:rPr kumimoji="0" lang="zh-TW" altLang="en-US" sz="1400" smtClean="0"/>
              <a:t>2018/3/5</a:t>
            </a:fld>
            <a:endParaRPr kumimoji="0" lang="en-US" altLang="zh-TW" sz="1400"/>
          </a:p>
        </p:txBody>
      </p:sp>
      <p:sp>
        <p:nvSpPr>
          <p:cNvPr id="48131"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77DA7011-23F6-405E-BAE7-02AD572ACA04}" type="slidenum">
              <a:rPr kumimoji="0" lang="zh-TW" altLang="en-US" sz="1400"/>
              <a:pPr algn="r" eaLnBrk="1" hangingPunct="1">
                <a:spcBef>
                  <a:spcPct val="0"/>
                </a:spcBef>
                <a:buClrTx/>
                <a:buSzTx/>
                <a:buFontTx/>
                <a:buNone/>
              </a:pPr>
              <a:t>55</a:t>
            </a:fld>
            <a:endParaRPr kumimoji="0" lang="en-US" altLang="zh-TW" sz="1400"/>
          </a:p>
        </p:txBody>
      </p:sp>
      <p:sp>
        <p:nvSpPr>
          <p:cNvPr id="48132" name="Rectangle 2"/>
          <p:cNvSpPr>
            <a:spLocks noGrp="1" noChangeArrowheads="1"/>
          </p:cNvSpPr>
          <p:nvPr>
            <p:ph type="title"/>
          </p:nvPr>
        </p:nvSpPr>
        <p:spPr>
          <a:xfrm>
            <a:off x="609600" y="304800"/>
            <a:ext cx="7772400" cy="684213"/>
          </a:xfrm>
        </p:spPr>
        <p:txBody>
          <a:bodyPr/>
          <a:lstStyle/>
          <a:p>
            <a:pPr eaLnBrk="1" hangingPunct="1"/>
            <a:r>
              <a:rPr lang="en-US" altLang="zh-TW" smtClean="0"/>
              <a:t>Dual-Mode Operation</a:t>
            </a:r>
          </a:p>
        </p:txBody>
      </p:sp>
      <p:sp>
        <p:nvSpPr>
          <p:cNvPr id="280579" name="Rectangle 3" descr="Rectangle: Click to edit Master text styles&#10;Second level&#10;Third level&#10;Fourth level&#10;Fifth level"/>
          <p:cNvSpPr>
            <a:spLocks noGrp="1" noChangeArrowheads="1"/>
          </p:cNvSpPr>
          <p:nvPr>
            <p:ph type="body" idx="1"/>
          </p:nvPr>
        </p:nvSpPr>
        <p:spPr>
          <a:xfrm>
            <a:off x="395288" y="985838"/>
            <a:ext cx="8193087" cy="5260975"/>
          </a:xfrm>
        </p:spPr>
        <p:txBody>
          <a:bodyPr/>
          <a:lstStyle/>
          <a:p>
            <a:pPr eaLnBrk="1" hangingPunct="1">
              <a:lnSpc>
                <a:spcPct val="90000"/>
              </a:lnSpc>
              <a:spcBef>
                <a:spcPct val="60000"/>
              </a:spcBef>
              <a:defRPr/>
            </a:pPr>
            <a:r>
              <a:rPr lang="en-US" altLang="zh-TW" dirty="0" smtClean="0"/>
              <a:t>Sharing system resources requires OS to ensure that an incorrect program cannot cause other programs to execute incorrectly</a:t>
            </a:r>
          </a:p>
          <a:p>
            <a:pPr eaLnBrk="1" hangingPunct="1">
              <a:lnSpc>
                <a:spcPct val="90000"/>
              </a:lnSpc>
              <a:spcBef>
                <a:spcPct val="60000"/>
              </a:spcBef>
              <a:defRPr/>
            </a:pPr>
            <a:r>
              <a:rPr lang="en-US" altLang="zh-TW" dirty="0" smtClean="0"/>
              <a:t>Provide </a:t>
            </a:r>
            <a:r>
              <a:rPr lang="en-US" altLang="zh-TW" dirty="0" smtClean="0">
                <a:solidFill>
                  <a:srgbClr val="F31F47"/>
                </a:solidFill>
              </a:rPr>
              <a:t>hardware support</a:t>
            </a:r>
            <a:r>
              <a:rPr lang="en-US" altLang="zh-TW" dirty="0" smtClean="0"/>
              <a:t> to differentiate between at least two modes of operations</a:t>
            </a:r>
          </a:p>
          <a:p>
            <a:pPr lvl="1" eaLnBrk="1" hangingPunct="1">
              <a:lnSpc>
                <a:spcPct val="90000"/>
              </a:lnSpc>
              <a:buFontTx/>
              <a:buNone/>
              <a:defRPr/>
            </a:pPr>
            <a:r>
              <a:rPr lang="en-US" altLang="zh-TW" dirty="0" smtClean="0"/>
              <a:t>1.	</a:t>
            </a:r>
            <a:r>
              <a:rPr lang="en-US" altLang="zh-TW" dirty="0" smtClean="0">
                <a:solidFill>
                  <a:srgbClr val="0000FF"/>
                </a:solidFill>
                <a:effectLst>
                  <a:outerShdw blurRad="38100" dist="38100" dir="2700000" algn="tl">
                    <a:srgbClr val="C0C0C0"/>
                  </a:outerShdw>
                </a:effectLst>
              </a:rPr>
              <a:t>User mode</a:t>
            </a:r>
            <a:r>
              <a:rPr lang="en-US" altLang="zh-TW" dirty="0" smtClean="0"/>
              <a:t> </a:t>
            </a:r>
            <a:r>
              <a:rPr lang="en-US" altLang="zh-TW" dirty="0" smtClean="0">
                <a:latin typeface="Helvetica" pitchFamily="34" charset="0"/>
              </a:rPr>
              <a:t>–</a:t>
            </a:r>
            <a:r>
              <a:rPr lang="en-US" altLang="zh-TW" dirty="0" smtClean="0"/>
              <a:t> execution done on behalf of a user</a:t>
            </a:r>
          </a:p>
          <a:p>
            <a:pPr lvl="1" eaLnBrk="1" hangingPunct="1">
              <a:lnSpc>
                <a:spcPct val="90000"/>
              </a:lnSpc>
              <a:buFontTx/>
              <a:buNone/>
              <a:defRPr/>
            </a:pPr>
            <a:r>
              <a:rPr lang="en-US" altLang="zh-TW" dirty="0" smtClean="0"/>
              <a:t>2.</a:t>
            </a:r>
            <a:r>
              <a:rPr lang="en-US" altLang="zh-TW" i="1" dirty="0" smtClean="0">
                <a:solidFill>
                  <a:srgbClr val="F31F47"/>
                </a:solidFill>
              </a:rPr>
              <a:t>	</a:t>
            </a:r>
            <a:r>
              <a:rPr lang="en-US" altLang="zh-TW" dirty="0" smtClean="0">
                <a:solidFill>
                  <a:srgbClr val="0000FF"/>
                </a:solidFill>
                <a:effectLst>
                  <a:outerShdw blurRad="38100" dist="38100" dir="2700000" algn="tl">
                    <a:srgbClr val="C0C0C0"/>
                  </a:outerShdw>
                </a:effectLst>
              </a:rPr>
              <a:t>Monitor mode</a:t>
            </a:r>
            <a:r>
              <a:rPr lang="en-US" altLang="zh-TW" dirty="0" smtClean="0"/>
              <a:t> (also </a:t>
            </a:r>
            <a:r>
              <a:rPr lang="en-US" altLang="zh-TW" dirty="0" smtClean="0">
                <a:solidFill>
                  <a:srgbClr val="0000FF"/>
                </a:solidFill>
              </a:rPr>
              <a:t>kernel mode</a:t>
            </a:r>
            <a:r>
              <a:rPr lang="en-US" altLang="zh-TW" dirty="0" smtClean="0"/>
              <a:t> or </a:t>
            </a:r>
            <a:r>
              <a:rPr lang="en-US" altLang="zh-TW" dirty="0" smtClean="0">
                <a:solidFill>
                  <a:srgbClr val="0000FF"/>
                </a:solidFill>
              </a:rPr>
              <a:t>system mode</a:t>
            </a:r>
            <a:r>
              <a:rPr lang="en-US" altLang="zh-TW" dirty="0" smtClean="0"/>
              <a:t>) </a:t>
            </a:r>
            <a:r>
              <a:rPr lang="en-US" altLang="zh-TW" dirty="0" smtClean="0">
                <a:latin typeface="Helvetica" pitchFamily="34" charset="0"/>
              </a:rPr>
              <a:t>–</a:t>
            </a:r>
            <a:r>
              <a:rPr lang="en-US" altLang="zh-TW" dirty="0" smtClean="0"/>
              <a:t> execution done on behalf of operating system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0579">
                                            <p:txEl>
                                              <p:pRg st="0" end="0"/>
                                            </p:txEl>
                                          </p:spTgt>
                                        </p:tgtEl>
                                        <p:attrNameLst>
                                          <p:attrName>style.visibility</p:attrName>
                                        </p:attrNameLst>
                                      </p:cBhvr>
                                      <p:to>
                                        <p:strVal val="visible"/>
                                      </p:to>
                                    </p:set>
                                    <p:anim calcmode="lin" valueType="num">
                                      <p:cBhvr additive="base">
                                        <p:cTn id="7" dur="500" fill="hold"/>
                                        <p:tgtEl>
                                          <p:spTgt spid="280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0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0579">
                                            <p:txEl>
                                              <p:pRg st="1" end="1"/>
                                            </p:txEl>
                                          </p:spTgt>
                                        </p:tgtEl>
                                        <p:attrNameLst>
                                          <p:attrName>style.visibility</p:attrName>
                                        </p:attrNameLst>
                                      </p:cBhvr>
                                      <p:to>
                                        <p:strVal val="visible"/>
                                      </p:to>
                                    </p:set>
                                    <p:anim calcmode="lin" valueType="num">
                                      <p:cBhvr additive="base">
                                        <p:cTn id="13" dur="500" fill="hold"/>
                                        <p:tgtEl>
                                          <p:spTgt spid="280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0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0579">
                                            <p:txEl>
                                              <p:pRg st="2" end="2"/>
                                            </p:txEl>
                                          </p:spTgt>
                                        </p:tgtEl>
                                        <p:attrNameLst>
                                          <p:attrName>style.visibility</p:attrName>
                                        </p:attrNameLst>
                                      </p:cBhvr>
                                      <p:to>
                                        <p:strVal val="visible"/>
                                      </p:to>
                                    </p:set>
                                    <p:anim calcmode="lin" valueType="num">
                                      <p:cBhvr additive="base">
                                        <p:cTn id="19" dur="500" fill="hold"/>
                                        <p:tgtEl>
                                          <p:spTgt spid="280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0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80579">
                                            <p:txEl>
                                              <p:pRg st="3" end="3"/>
                                            </p:txEl>
                                          </p:spTgt>
                                        </p:tgtEl>
                                        <p:attrNameLst>
                                          <p:attrName>style.visibility</p:attrName>
                                        </p:attrNameLst>
                                      </p:cBhvr>
                                      <p:to>
                                        <p:strVal val="visible"/>
                                      </p:to>
                                    </p:set>
                                    <p:anim calcmode="lin" valueType="num">
                                      <p:cBhvr additive="base">
                                        <p:cTn id="25" dur="500" fill="hold"/>
                                        <p:tgtEl>
                                          <p:spTgt spid="2805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057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7452738-F8E2-427E-B864-4551BA28A638}" type="datetime1">
              <a:rPr kumimoji="0" lang="zh-TW" altLang="en-US" sz="1400" smtClean="0"/>
              <a:t>2018/3/5</a:t>
            </a:fld>
            <a:endParaRPr kumimoji="0" lang="en-US" altLang="zh-TW" sz="1400"/>
          </a:p>
        </p:txBody>
      </p:sp>
      <p:sp>
        <p:nvSpPr>
          <p:cNvPr id="4915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9014E1BE-578F-49E9-8354-441DB9150366}" type="slidenum">
              <a:rPr kumimoji="0" lang="zh-TW" altLang="en-US" sz="1400"/>
              <a:pPr algn="r" eaLnBrk="1" hangingPunct="1">
                <a:spcBef>
                  <a:spcPct val="0"/>
                </a:spcBef>
                <a:buClrTx/>
                <a:buSzTx/>
                <a:buFontTx/>
                <a:buNone/>
              </a:pPr>
              <a:t>56</a:t>
            </a:fld>
            <a:endParaRPr kumimoji="0" lang="en-US" altLang="zh-TW" sz="1400"/>
          </a:p>
        </p:txBody>
      </p:sp>
      <p:sp>
        <p:nvSpPr>
          <p:cNvPr id="49156" name="Rectangle 2"/>
          <p:cNvSpPr>
            <a:spLocks noGrp="1" noChangeArrowheads="1"/>
          </p:cNvSpPr>
          <p:nvPr>
            <p:ph type="title"/>
          </p:nvPr>
        </p:nvSpPr>
        <p:spPr>
          <a:xfrm>
            <a:off x="365125" y="125413"/>
            <a:ext cx="7772400" cy="871537"/>
          </a:xfrm>
        </p:spPr>
        <p:txBody>
          <a:bodyPr/>
          <a:lstStyle/>
          <a:p>
            <a:pPr eaLnBrk="1" hangingPunct="1"/>
            <a:r>
              <a:rPr lang="en-US" altLang="zh-TW" b="1" smtClean="0">
                <a:solidFill>
                  <a:srgbClr val="F31F47"/>
                </a:solidFill>
              </a:rPr>
              <a:t>I/O</a:t>
            </a:r>
            <a:r>
              <a:rPr lang="en-US" altLang="zh-TW" smtClean="0"/>
              <a:t> Protection</a:t>
            </a:r>
          </a:p>
        </p:txBody>
      </p:sp>
      <p:sp>
        <p:nvSpPr>
          <p:cNvPr id="284675" name="Rectangle 3" descr="Rectangle: Click to edit Master text styles&#10;Second level&#10;Third level&#10;Fourth level&#10;Fifth level"/>
          <p:cNvSpPr>
            <a:spLocks noGrp="1" noChangeArrowheads="1"/>
          </p:cNvSpPr>
          <p:nvPr>
            <p:ph type="body" idx="1"/>
          </p:nvPr>
        </p:nvSpPr>
        <p:spPr>
          <a:xfrm>
            <a:off x="527050" y="939800"/>
            <a:ext cx="8207375" cy="4927600"/>
          </a:xfrm>
        </p:spPr>
        <p:txBody>
          <a:bodyPr/>
          <a:lstStyle/>
          <a:p>
            <a:pPr eaLnBrk="1" hangingPunct="1">
              <a:defRPr/>
            </a:pPr>
            <a:r>
              <a:rPr lang="en-US" altLang="zh-TW" dirty="0" smtClean="0">
                <a:solidFill>
                  <a:srgbClr val="F31F47"/>
                </a:solidFill>
              </a:rPr>
              <a:t>All I/O instructions are privileged instructions</a:t>
            </a:r>
            <a:endParaRPr lang="en-US" altLang="zh-TW" dirty="0" smtClean="0"/>
          </a:p>
          <a:p>
            <a:pPr marL="0" indent="0" eaLnBrk="1" hangingPunct="1">
              <a:buFont typeface="Wingdings" pitchFamily="2" charset="2"/>
              <a:buNone/>
              <a:defRPr/>
            </a:pPr>
            <a:endParaRPr lang="en-US" altLang="zh-TW" dirty="0" smtClean="0"/>
          </a:p>
          <a:p>
            <a:pPr eaLnBrk="1" hangingPunct="1">
              <a:defRPr/>
            </a:pPr>
            <a:r>
              <a:rPr lang="en-US" altLang="zh-TW" dirty="0" smtClean="0"/>
              <a:t>Must ensure that a user program could never gain control of the computer in monitor mode (</a:t>
            </a:r>
            <a:r>
              <a:rPr lang="en-US" altLang="zh-TW" i="1" dirty="0" smtClean="0">
                <a:latin typeface="Times New Roman" pitchFamily="18" charset="0"/>
              </a:rPr>
              <a:t>i.e.</a:t>
            </a:r>
            <a:r>
              <a:rPr lang="en-US" altLang="zh-TW" dirty="0" smtClean="0"/>
              <a:t>, a user program that, as part of its execution, stores a </a:t>
            </a:r>
            <a:r>
              <a:rPr lang="en-US" altLang="zh-TW" dirty="0" smtClean="0">
                <a:solidFill>
                  <a:schemeClr val="tx2"/>
                </a:solidFill>
                <a:effectLst>
                  <a:outerShdw blurRad="38100" dist="38100" dir="2700000" algn="tl">
                    <a:srgbClr val="C0C0C0"/>
                  </a:outerShdw>
                </a:effectLst>
              </a:rPr>
              <a:t>new address</a:t>
            </a:r>
            <a:r>
              <a:rPr lang="en-US" altLang="zh-TW" dirty="0" smtClean="0"/>
              <a:t> in the interrupt vector) </a:t>
            </a:r>
          </a:p>
        </p:txBody>
      </p:sp>
      <p:sp>
        <p:nvSpPr>
          <p:cNvPr id="284676" name="Text Box 4"/>
          <p:cNvSpPr txBox="1">
            <a:spLocks noChangeArrowheads="1"/>
          </p:cNvSpPr>
          <p:nvPr/>
        </p:nvSpPr>
        <p:spPr bwMode="auto">
          <a:xfrm>
            <a:off x="538163" y="5386388"/>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50000"/>
              </a:spcBef>
              <a:buClrTx/>
              <a:buSzTx/>
              <a:buFontTx/>
              <a:buNone/>
            </a:pPr>
            <a:r>
              <a:rPr lang="en-US" altLang="zh-TW" sz="2400"/>
              <a:t>User code</a:t>
            </a:r>
          </a:p>
        </p:txBody>
      </p:sp>
      <p:sp>
        <p:nvSpPr>
          <p:cNvPr id="284677" name="Rectangle 5"/>
          <p:cNvSpPr>
            <a:spLocks noChangeArrowheads="1"/>
          </p:cNvSpPr>
          <p:nvPr/>
        </p:nvSpPr>
        <p:spPr bwMode="auto">
          <a:xfrm>
            <a:off x="522288" y="5418138"/>
            <a:ext cx="1539875" cy="425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ctr" eaLnBrk="1" hangingPunct="1">
              <a:spcBef>
                <a:spcPct val="0"/>
              </a:spcBef>
              <a:buClrTx/>
              <a:buSzTx/>
              <a:buFontTx/>
              <a:buNone/>
            </a:pPr>
            <a:endParaRPr lang="zh-TW" altLang="en-US" sz="2400">
              <a:solidFill>
                <a:schemeClr val="bg1"/>
              </a:solidFill>
            </a:endParaRPr>
          </a:p>
        </p:txBody>
      </p:sp>
      <p:sp>
        <p:nvSpPr>
          <p:cNvPr id="284678" name="Line 6"/>
          <p:cNvSpPr>
            <a:spLocks noChangeShapeType="1"/>
          </p:cNvSpPr>
          <p:nvPr/>
        </p:nvSpPr>
        <p:spPr bwMode="auto">
          <a:xfrm flipV="1">
            <a:off x="1300163" y="5097463"/>
            <a:ext cx="152400"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anim calcmode="lin" valueType="num">
                                      <p:cBhvr additive="base">
                                        <p:cTn id="7" dur="500" fill="hold"/>
                                        <p:tgtEl>
                                          <p:spTgt spid="284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4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4675">
                                            <p:txEl>
                                              <p:pRg st="2" end="2"/>
                                            </p:txEl>
                                          </p:spTgt>
                                        </p:tgtEl>
                                        <p:attrNameLst>
                                          <p:attrName>style.visibility</p:attrName>
                                        </p:attrNameLst>
                                      </p:cBhvr>
                                      <p:to>
                                        <p:strVal val="visible"/>
                                      </p:to>
                                    </p:set>
                                    <p:anim calcmode="lin" valueType="num">
                                      <p:cBhvr additive="base">
                                        <p:cTn id="13" dur="500" fill="hold"/>
                                        <p:tgtEl>
                                          <p:spTgt spid="2846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4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4677"/>
                                        </p:tgtEl>
                                        <p:attrNameLst>
                                          <p:attrName>style.visibility</p:attrName>
                                        </p:attrNameLst>
                                      </p:cBhvr>
                                      <p:to>
                                        <p:strVal val="visible"/>
                                      </p:to>
                                    </p:set>
                                    <p:anim calcmode="lin" valueType="num">
                                      <p:cBhvr additive="base">
                                        <p:cTn id="19" dur="500" fill="hold"/>
                                        <p:tgtEl>
                                          <p:spTgt spid="284677"/>
                                        </p:tgtEl>
                                        <p:attrNameLst>
                                          <p:attrName>ppt_x</p:attrName>
                                        </p:attrNameLst>
                                      </p:cBhvr>
                                      <p:tavLst>
                                        <p:tav tm="0">
                                          <p:val>
                                            <p:strVal val="#ppt_x"/>
                                          </p:val>
                                        </p:tav>
                                        <p:tav tm="100000">
                                          <p:val>
                                            <p:strVal val="#ppt_x"/>
                                          </p:val>
                                        </p:tav>
                                      </p:tavLst>
                                    </p:anim>
                                    <p:anim calcmode="lin" valueType="num">
                                      <p:cBhvr additive="base">
                                        <p:cTn id="20" dur="500" fill="hold"/>
                                        <p:tgtEl>
                                          <p:spTgt spid="28467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84676">
                                            <p:txEl>
                                              <p:pRg st="0" end="0"/>
                                            </p:txEl>
                                          </p:spTgt>
                                        </p:tgtEl>
                                        <p:attrNameLst>
                                          <p:attrName>style.visibility</p:attrName>
                                        </p:attrNameLst>
                                      </p:cBhvr>
                                      <p:to>
                                        <p:strVal val="visible"/>
                                      </p:to>
                                    </p:set>
                                    <p:anim calcmode="lin" valueType="num">
                                      <p:cBhvr additive="base">
                                        <p:cTn id="23" dur="500" fill="hold"/>
                                        <p:tgtEl>
                                          <p:spTgt spid="284676">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4676">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4678"/>
                                        </p:tgtEl>
                                        <p:attrNameLst>
                                          <p:attrName>style.visibility</p:attrName>
                                        </p:attrNameLst>
                                      </p:cBhvr>
                                      <p:to>
                                        <p:strVal val="visible"/>
                                      </p:to>
                                    </p:set>
                                    <p:anim calcmode="lin" valueType="num">
                                      <p:cBhvr additive="base">
                                        <p:cTn id="27" dur="500" fill="hold"/>
                                        <p:tgtEl>
                                          <p:spTgt spid="284678"/>
                                        </p:tgtEl>
                                        <p:attrNameLst>
                                          <p:attrName>ppt_x</p:attrName>
                                        </p:attrNameLst>
                                      </p:cBhvr>
                                      <p:tavLst>
                                        <p:tav tm="0">
                                          <p:val>
                                            <p:strVal val="#ppt_x"/>
                                          </p:val>
                                        </p:tav>
                                        <p:tav tm="100000">
                                          <p:val>
                                            <p:strVal val="#ppt_x"/>
                                          </p:val>
                                        </p:tav>
                                      </p:tavLst>
                                    </p:anim>
                                    <p:anim calcmode="lin" valueType="num">
                                      <p:cBhvr additive="base">
                                        <p:cTn id="28" dur="500" fill="hold"/>
                                        <p:tgtEl>
                                          <p:spTgt spid="2846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7" grpId="0" animBg="1"/>
      <p:bldP spid="28467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2B694CA-84D1-4C1A-8DE0-E97025A49769}" type="datetime1">
              <a:rPr kumimoji="0" lang="zh-TW" altLang="en-US" sz="1400" smtClean="0"/>
              <a:t>2018/3/5</a:t>
            </a:fld>
            <a:endParaRPr kumimoji="0" lang="en-US" altLang="zh-TW" sz="1400"/>
          </a:p>
        </p:txBody>
      </p:sp>
      <p:sp>
        <p:nvSpPr>
          <p:cNvPr id="50179"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79A86F40-3D07-44C4-9BAE-6218356D6681}" type="slidenum">
              <a:rPr kumimoji="0" lang="zh-TW" altLang="en-US" sz="1400"/>
              <a:pPr algn="r" eaLnBrk="1" hangingPunct="1">
                <a:spcBef>
                  <a:spcPct val="0"/>
                </a:spcBef>
                <a:buClrTx/>
                <a:buSzTx/>
                <a:buFontTx/>
                <a:buNone/>
              </a:pPr>
              <a:t>57</a:t>
            </a:fld>
            <a:endParaRPr kumimoji="0" lang="en-US" altLang="zh-TW" sz="1400"/>
          </a:p>
        </p:txBody>
      </p:sp>
      <p:sp>
        <p:nvSpPr>
          <p:cNvPr id="50180" name="Rectangle 2"/>
          <p:cNvSpPr>
            <a:spLocks noGrp="1" noChangeArrowheads="1"/>
          </p:cNvSpPr>
          <p:nvPr>
            <p:ph type="title"/>
          </p:nvPr>
        </p:nvSpPr>
        <p:spPr>
          <a:xfrm>
            <a:off x="609600" y="304800"/>
            <a:ext cx="7772400" cy="693738"/>
          </a:xfrm>
        </p:spPr>
        <p:txBody>
          <a:bodyPr/>
          <a:lstStyle/>
          <a:p>
            <a:pPr eaLnBrk="1" hangingPunct="1"/>
            <a:r>
              <a:rPr lang="en-US" altLang="zh-TW" sz="3600" smtClean="0"/>
              <a:t>Use of A System Call to Perform I/O</a:t>
            </a:r>
          </a:p>
        </p:txBody>
      </p:sp>
      <p:pic>
        <p:nvPicPr>
          <p:cNvPr id="50181" name="Picture 3"/>
          <p:cNvPicPr>
            <a:picLocks noChangeAspect="1" noChangeArrowheads="1"/>
          </p:cNvPicPr>
          <p:nvPr/>
        </p:nvPicPr>
        <p:blipFill>
          <a:blip r:embed="rId4">
            <a:extLst>
              <a:ext uri="{28A0092B-C50C-407E-A947-70E740481C1C}">
                <a14:useLocalDpi xmlns:a14="http://schemas.microsoft.com/office/drawing/2010/main" val="0"/>
              </a:ext>
            </a:extLst>
          </a:blip>
          <a:srcRect l="17307" t="948" r="17307" b="575"/>
          <a:stretch>
            <a:fillRect/>
          </a:stretch>
        </p:blipFill>
        <p:spPr bwMode="auto">
          <a:xfrm>
            <a:off x="1392238" y="1249363"/>
            <a:ext cx="4913312" cy="46243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53EAB4E-730C-48C2-BE13-5740591670CD}" type="datetime1">
              <a:rPr kumimoji="0" lang="zh-TW" altLang="en-US" sz="1400" smtClean="0"/>
              <a:t>2018/3/5</a:t>
            </a:fld>
            <a:endParaRPr kumimoji="0" lang="en-US" altLang="zh-TW" sz="1400"/>
          </a:p>
        </p:txBody>
      </p:sp>
      <p:sp>
        <p:nvSpPr>
          <p:cNvPr id="51203"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2CC4A66-F8EA-4549-A91A-A99F77EEE77E}" type="slidenum">
              <a:rPr kumimoji="0" lang="zh-TW" altLang="en-US" sz="1400"/>
              <a:pPr algn="r" eaLnBrk="1" hangingPunct="1">
                <a:spcBef>
                  <a:spcPct val="0"/>
                </a:spcBef>
                <a:buClrTx/>
                <a:buSzTx/>
                <a:buFontTx/>
                <a:buNone/>
              </a:pPr>
              <a:t>58</a:t>
            </a:fld>
            <a:endParaRPr kumimoji="0" lang="en-US" altLang="zh-TW" sz="1400"/>
          </a:p>
        </p:txBody>
      </p:sp>
      <p:sp>
        <p:nvSpPr>
          <p:cNvPr id="51204" name="Rectangle 2"/>
          <p:cNvSpPr>
            <a:spLocks noGrp="1" noChangeArrowheads="1"/>
          </p:cNvSpPr>
          <p:nvPr>
            <p:ph type="title"/>
          </p:nvPr>
        </p:nvSpPr>
        <p:spPr>
          <a:xfrm>
            <a:off x="609600" y="304800"/>
            <a:ext cx="7772400" cy="852488"/>
          </a:xfrm>
        </p:spPr>
        <p:txBody>
          <a:bodyPr/>
          <a:lstStyle/>
          <a:p>
            <a:pPr eaLnBrk="1" hangingPunct="1"/>
            <a:r>
              <a:rPr lang="en-US" altLang="zh-TW" smtClean="0"/>
              <a:t>Memory Protection</a:t>
            </a:r>
          </a:p>
        </p:txBody>
      </p:sp>
      <p:sp>
        <p:nvSpPr>
          <p:cNvPr id="288771" name="Rectangle 3" descr="Rectangle: Click to edit Master text styles&#10;Second level&#10;Third level&#10;Fourth level&#10;Fifth level"/>
          <p:cNvSpPr>
            <a:spLocks noGrp="1" noChangeArrowheads="1"/>
          </p:cNvSpPr>
          <p:nvPr>
            <p:ph type="body" idx="1"/>
          </p:nvPr>
        </p:nvSpPr>
        <p:spPr>
          <a:xfrm>
            <a:off x="461963" y="1222375"/>
            <a:ext cx="8250237" cy="5175250"/>
          </a:xfrm>
        </p:spPr>
        <p:txBody>
          <a:bodyPr/>
          <a:lstStyle/>
          <a:p>
            <a:pPr eaLnBrk="1" hangingPunct="1">
              <a:lnSpc>
                <a:spcPct val="90000"/>
              </a:lnSpc>
              <a:spcBef>
                <a:spcPct val="60000"/>
              </a:spcBef>
            </a:pPr>
            <a:r>
              <a:rPr lang="en-US" altLang="zh-TW" sz="2800" smtClean="0"/>
              <a:t>Must provide memory protection at least for the interrupt vector and the interrupt service routines</a:t>
            </a:r>
          </a:p>
          <a:p>
            <a:pPr eaLnBrk="1" hangingPunct="1">
              <a:lnSpc>
                <a:spcPct val="90000"/>
              </a:lnSpc>
              <a:spcBef>
                <a:spcPct val="60000"/>
              </a:spcBef>
            </a:pPr>
            <a:r>
              <a:rPr lang="en-US" altLang="zh-TW" sz="2800" smtClean="0"/>
              <a:t>In order to have memory protection, add </a:t>
            </a:r>
            <a:r>
              <a:rPr lang="en-US" altLang="zh-TW" sz="2800" smtClean="0">
                <a:solidFill>
                  <a:srgbClr val="F31F47"/>
                </a:solidFill>
              </a:rPr>
              <a:t>two registers</a:t>
            </a:r>
            <a:r>
              <a:rPr lang="en-US" altLang="zh-TW" sz="2800" smtClean="0"/>
              <a:t> that determine the range of legal addresses a program may access:</a:t>
            </a:r>
            <a:endParaRPr lang="en-US" altLang="zh-TW" sz="2800" smtClean="0">
              <a:solidFill>
                <a:srgbClr val="F31F47"/>
              </a:solidFill>
            </a:endParaRPr>
          </a:p>
          <a:p>
            <a:pPr lvl="1" eaLnBrk="1" hangingPunct="1">
              <a:lnSpc>
                <a:spcPct val="90000"/>
              </a:lnSpc>
              <a:spcBef>
                <a:spcPct val="60000"/>
              </a:spcBef>
            </a:pPr>
            <a:r>
              <a:rPr lang="en-US" altLang="zh-TW" sz="2400" b="1" smtClean="0">
                <a:solidFill>
                  <a:srgbClr val="F31F47"/>
                </a:solidFill>
              </a:rPr>
              <a:t>Base register</a:t>
            </a:r>
            <a:r>
              <a:rPr lang="en-US" altLang="zh-TW" sz="2400" smtClean="0"/>
              <a:t> </a:t>
            </a:r>
            <a:r>
              <a:rPr lang="en-US" altLang="zh-TW" sz="2400" smtClean="0">
                <a:latin typeface="Helvetica" pitchFamily="34" charset="0"/>
              </a:rPr>
              <a:t>–</a:t>
            </a:r>
            <a:r>
              <a:rPr lang="en-US" altLang="zh-TW" sz="2400" smtClean="0"/>
              <a:t> holds the smallest legal physical memory address</a:t>
            </a:r>
            <a:endParaRPr lang="en-US" altLang="zh-TW" sz="2400" smtClean="0">
              <a:solidFill>
                <a:srgbClr val="F31F47"/>
              </a:solidFill>
            </a:endParaRPr>
          </a:p>
          <a:p>
            <a:pPr lvl="1" eaLnBrk="1" hangingPunct="1">
              <a:lnSpc>
                <a:spcPct val="90000"/>
              </a:lnSpc>
              <a:spcBef>
                <a:spcPct val="60000"/>
              </a:spcBef>
            </a:pPr>
            <a:r>
              <a:rPr lang="en-US" altLang="zh-TW" sz="2400" b="1" smtClean="0">
                <a:solidFill>
                  <a:srgbClr val="F31F47"/>
                </a:solidFill>
              </a:rPr>
              <a:t>Limit register</a:t>
            </a:r>
            <a:r>
              <a:rPr lang="en-US" altLang="zh-TW" sz="2400" smtClean="0"/>
              <a:t> </a:t>
            </a:r>
            <a:r>
              <a:rPr lang="en-US" altLang="zh-TW" sz="2400" smtClean="0">
                <a:latin typeface="Helvetica" pitchFamily="34" charset="0"/>
              </a:rPr>
              <a:t>–</a:t>
            </a:r>
            <a:r>
              <a:rPr lang="en-US" altLang="zh-TW" sz="2400" smtClean="0"/>
              <a:t> contains the size of the range </a:t>
            </a:r>
          </a:p>
          <a:p>
            <a:pPr eaLnBrk="1" hangingPunct="1">
              <a:lnSpc>
                <a:spcPct val="90000"/>
              </a:lnSpc>
              <a:spcBef>
                <a:spcPct val="60000"/>
              </a:spcBef>
            </a:pPr>
            <a:r>
              <a:rPr lang="en-US" altLang="zh-TW" sz="2800" smtClean="0"/>
              <a:t>Memory outside the defined range is protected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anim calcmode="lin" valueType="num">
                                      <p:cBhvr additive="base">
                                        <p:cTn id="7" dur="500" fill="hold"/>
                                        <p:tgtEl>
                                          <p:spTgt spid="288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8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8771">
                                            <p:txEl>
                                              <p:pRg st="1" end="1"/>
                                            </p:txEl>
                                          </p:spTgt>
                                        </p:tgtEl>
                                        <p:attrNameLst>
                                          <p:attrName>style.visibility</p:attrName>
                                        </p:attrNameLst>
                                      </p:cBhvr>
                                      <p:to>
                                        <p:strVal val="visible"/>
                                      </p:to>
                                    </p:set>
                                    <p:anim calcmode="lin" valueType="num">
                                      <p:cBhvr additive="base">
                                        <p:cTn id="13" dur="500" fill="hold"/>
                                        <p:tgtEl>
                                          <p:spTgt spid="2887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8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8771">
                                            <p:txEl>
                                              <p:pRg st="2" end="2"/>
                                            </p:txEl>
                                          </p:spTgt>
                                        </p:tgtEl>
                                        <p:attrNameLst>
                                          <p:attrName>style.visibility</p:attrName>
                                        </p:attrNameLst>
                                      </p:cBhvr>
                                      <p:to>
                                        <p:strVal val="visible"/>
                                      </p:to>
                                    </p:set>
                                    <p:anim calcmode="lin" valueType="num">
                                      <p:cBhvr additive="base">
                                        <p:cTn id="19" dur="500" fill="hold"/>
                                        <p:tgtEl>
                                          <p:spTgt spid="2887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8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88771">
                                            <p:txEl>
                                              <p:pRg st="3" end="3"/>
                                            </p:txEl>
                                          </p:spTgt>
                                        </p:tgtEl>
                                        <p:attrNameLst>
                                          <p:attrName>style.visibility</p:attrName>
                                        </p:attrNameLst>
                                      </p:cBhvr>
                                      <p:to>
                                        <p:strVal val="visible"/>
                                      </p:to>
                                    </p:set>
                                    <p:anim calcmode="lin" valueType="num">
                                      <p:cBhvr additive="base">
                                        <p:cTn id="25" dur="500" fill="hold"/>
                                        <p:tgtEl>
                                          <p:spTgt spid="2887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8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88771">
                                            <p:txEl>
                                              <p:pRg st="4" end="4"/>
                                            </p:txEl>
                                          </p:spTgt>
                                        </p:tgtEl>
                                        <p:attrNameLst>
                                          <p:attrName>style.visibility</p:attrName>
                                        </p:attrNameLst>
                                      </p:cBhvr>
                                      <p:to>
                                        <p:strVal val="visible"/>
                                      </p:to>
                                    </p:set>
                                    <p:anim calcmode="lin" valueType="num">
                                      <p:cBhvr additive="base">
                                        <p:cTn id="31" dur="500" fill="hold"/>
                                        <p:tgtEl>
                                          <p:spTgt spid="2887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87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版面配置區 2"/>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808EF6C-1BD6-4432-8C97-A8CC8AEBFB90}" type="datetime1">
              <a:rPr kumimoji="0" lang="zh-TW" altLang="en-US" sz="1400" smtClean="0"/>
              <a:t>2018/3/5</a:t>
            </a:fld>
            <a:endParaRPr kumimoji="0" lang="en-US" altLang="zh-TW" sz="1400"/>
          </a:p>
        </p:txBody>
      </p:sp>
      <p:sp>
        <p:nvSpPr>
          <p:cNvPr id="52227" name="投影片編號版面配置區 4"/>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763B0F1-D8E5-4A07-8F52-369F37EDCD13}" type="slidenum">
              <a:rPr kumimoji="0" lang="zh-TW" altLang="en-US" sz="1400"/>
              <a:pPr algn="r" eaLnBrk="1" hangingPunct="1">
                <a:spcBef>
                  <a:spcPct val="0"/>
                </a:spcBef>
                <a:buClrTx/>
                <a:buSzTx/>
                <a:buFontTx/>
                <a:buNone/>
              </a:pPr>
              <a:t>59</a:t>
            </a:fld>
            <a:endParaRPr kumimoji="0" lang="en-US" altLang="zh-TW" sz="1400"/>
          </a:p>
        </p:txBody>
      </p:sp>
      <p:sp>
        <p:nvSpPr>
          <p:cNvPr id="52228" name="Rectangle 2"/>
          <p:cNvSpPr>
            <a:spLocks noGrp="1" noChangeArrowheads="1"/>
          </p:cNvSpPr>
          <p:nvPr>
            <p:ph type="title"/>
          </p:nvPr>
        </p:nvSpPr>
        <p:spPr>
          <a:xfrm>
            <a:off x="481213" y="167095"/>
            <a:ext cx="8340725" cy="708025"/>
          </a:xfrm>
        </p:spPr>
        <p:txBody>
          <a:bodyPr/>
          <a:lstStyle/>
          <a:p>
            <a:pPr eaLnBrk="1" hangingPunct="1"/>
            <a:r>
              <a:rPr lang="en-US" altLang="zh-TW" dirty="0"/>
              <a:t>Hardware Address Protection</a:t>
            </a:r>
            <a:endParaRPr lang="en-US" altLang="zh-TW" dirty="0" smtClean="0"/>
          </a:p>
        </p:txBody>
      </p:sp>
      <p:pic>
        <p:nvPicPr>
          <p:cNvPr id="5222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l="14474" t="1021" r="14644" b="1794"/>
          <a:stretch>
            <a:fillRect/>
          </a:stretch>
        </p:blipFill>
        <p:spPr bwMode="auto">
          <a:xfrm>
            <a:off x="2987040" y="875120"/>
            <a:ext cx="2676525" cy="293599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3"/>
          <p:cNvPicPr>
            <a:picLocks noChangeAspect="1" noChangeArrowheads="1"/>
          </p:cNvPicPr>
          <p:nvPr/>
        </p:nvPicPr>
        <p:blipFill>
          <a:blip r:embed="rId5">
            <a:extLst>
              <a:ext uri="{28A0092B-C50C-407E-A947-70E740481C1C}">
                <a14:useLocalDpi xmlns:a14="http://schemas.microsoft.com/office/drawing/2010/main" val="0"/>
              </a:ext>
            </a:extLst>
          </a:blip>
          <a:srcRect l="519" t="23012" r="180" b="23203"/>
          <a:stretch>
            <a:fillRect/>
          </a:stretch>
        </p:blipFill>
        <p:spPr bwMode="auto">
          <a:xfrm>
            <a:off x="1210744" y="3811110"/>
            <a:ext cx="6722512" cy="289449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BA0EA354-75C4-4501-9712-55B019D7CF79}" type="datetime1">
              <a:rPr kumimoji="0" lang="zh-TW" altLang="en-US" sz="1400" smtClean="0"/>
              <a:t>2018/3/5</a:t>
            </a:fld>
            <a:endParaRPr kumimoji="0" lang="en-US" altLang="zh-TW" sz="1400"/>
          </a:p>
        </p:txBody>
      </p:sp>
      <p:sp>
        <p:nvSpPr>
          <p:cNvPr id="5427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9A192340-08DA-4716-A1AF-5E68A1617099}" type="slidenum">
              <a:rPr kumimoji="0" lang="zh-TW" altLang="en-US" sz="1400"/>
              <a:pPr algn="r" eaLnBrk="1" hangingPunct="1">
                <a:spcBef>
                  <a:spcPct val="0"/>
                </a:spcBef>
                <a:buClrTx/>
                <a:buSzTx/>
                <a:buFontTx/>
                <a:buNone/>
              </a:pPr>
              <a:t>60</a:t>
            </a:fld>
            <a:endParaRPr kumimoji="0" lang="en-US" altLang="zh-TW" sz="1400"/>
          </a:p>
        </p:txBody>
      </p:sp>
      <p:sp>
        <p:nvSpPr>
          <p:cNvPr id="54276" name="Rectangle 2"/>
          <p:cNvSpPr>
            <a:spLocks noGrp="1" noChangeArrowheads="1"/>
          </p:cNvSpPr>
          <p:nvPr>
            <p:ph type="title"/>
          </p:nvPr>
        </p:nvSpPr>
        <p:spPr/>
        <p:txBody>
          <a:bodyPr/>
          <a:lstStyle/>
          <a:p>
            <a:pPr eaLnBrk="1" hangingPunct="1"/>
            <a:r>
              <a:rPr lang="en-US" altLang="zh-TW" smtClean="0"/>
              <a:t>Hardware Protection</a:t>
            </a:r>
          </a:p>
        </p:txBody>
      </p:sp>
      <p:sp>
        <p:nvSpPr>
          <p:cNvPr id="54277" name="Rectangle 3" descr="Rectangle: Click to edit Master text styles&#10;Second level&#10;Third level&#10;Fourth level&#10;Fifth level"/>
          <p:cNvSpPr>
            <a:spLocks noGrp="1" noChangeArrowheads="1"/>
          </p:cNvSpPr>
          <p:nvPr>
            <p:ph type="body" idx="1"/>
          </p:nvPr>
        </p:nvSpPr>
        <p:spPr>
          <a:xfrm>
            <a:off x="504825" y="1600200"/>
            <a:ext cx="8178800" cy="4752975"/>
          </a:xfrm>
        </p:spPr>
        <p:txBody>
          <a:bodyPr/>
          <a:lstStyle/>
          <a:p>
            <a:pPr eaLnBrk="1" hangingPunct="1">
              <a:spcBef>
                <a:spcPct val="60000"/>
              </a:spcBef>
            </a:pPr>
            <a:r>
              <a:rPr lang="en-US" altLang="zh-TW" smtClean="0"/>
              <a:t>When executing in monitor mode, the operating system has unrestricted access to both monitor and user</a:t>
            </a:r>
            <a:r>
              <a:rPr lang="en-US" altLang="zh-TW" smtClean="0">
                <a:latin typeface="Helvetica" pitchFamily="34" charset="0"/>
              </a:rPr>
              <a:t>’</a:t>
            </a:r>
            <a:r>
              <a:rPr lang="en-US" altLang="zh-TW" smtClean="0"/>
              <a:t>s memory.</a:t>
            </a:r>
          </a:p>
          <a:p>
            <a:pPr eaLnBrk="1" hangingPunct="1">
              <a:spcBef>
                <a:spcPct val="60000"/>
              </a:spcBef>
            </a:pPr>
            <a:r>
              <a:rPr lang="en-US" altLang="zh-TW" smtClean="0"/>
              <a:t>The </a:t>
            </a:r>
            <a:r>
              <a:rPr lang="en-US" altLang="zh-TW" smtClean="0">
                <a:solidFill>
                  <a:srgbClr val="F31F47"/>
                </a:solidFill>
              </a:rPr>
              <a:t>load</a:t>
            </a:r>
            <a:r>
              <a:rPr lang="en-US" altLang="zh-TW" smtClean="0"/>
              <a:t> instructions for the </a:t>
            </a:r>
            <a:r>
              <a:rPr lang="en-US" altLang="zh-TW" i="1" smtClean="0"/>
              <a:t>base</a:t>
            </a:r>
            <a:r>
              <a:rPr lang="en-US" altLang="zh-TW" smtClean="0"/>
              <a:t> and </a:t>
            </a:r>
            <a:r>
              <a:rPr lang="en-US" altLang="zh-TW" i="1" smtClean="0"/>
              <a:t>limit</a:t>
            </a:r>
            <a:r>
              <a:rPr lang="en-US" altLang="zh-TW" smtClean="0"/>
              <a:t> registers are privileged instructions.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7676DE3-0019-479E-9240-06A852CBC73D}" type="datetime1">
              <a:rPr kumimoji="0" lang="zh-TW" altLang="en-US" sz="1400" smtClean="0"/>
              <a:t>2018/3/5</a:t>
            </a:fld>
            <a:endParaRPr kumimoji="0" lang="en-US" altLang="zh-TW" sz="1400"/>
          </a:p>
        </p:txBody>
      </p:sp>
      <p:sp>
        <p:nvSpPr>
          <p:cNvPr id="5529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FA54AAD1-D21C-4880-BA0C-4EEF2002692C}" type="slidenum">
              <a:rPr kumimoji="0" lang="zh-TW" altLang="en-US" sz="1400"/>
              <a:pPr algn="r" eaLnBrk="1" hangingPunct="1">
                <a:spcBef>
                  <a:spcPct val="0"/>
                </a:spcBef>
                <a:buClrTx/>
                <a:buSzTx/>
                <a:buFontTx/>
                <a:buNone/>
              </a:pPr>
              <a:t>61</a:t>
            </a:fld>
            <a:endParaRPr kumimoji="0" lang="en-US" altLang="zh-TW" sz="1400"/>
          </a:p>
        </p:txBody>
      </p:sp>
      <p:sp>
        <p:nvSpPr>
          <p:cNvPr id="55300" name="Rectangle 2"/>
          <p:cNvSpPr>
            <a:spLocks noGrp="1" noChangeArrowheads="1"/>
          </p:cNvSpPr>
          <p:nvPr>
            <p:ph type="title"/>
          </p:nvPr>
        </p:nvSpPr>
        <p:spPr>
          <a:xfrm>
            <a:off x="609600" y="304800"/>
            <a:ext cx="7772400" cy="893763"/>
          </a:xfrm>
        </p:spPr>
        <p:txBody>
          <a:bodyPr/>
          <a:lstStyle/>
          <a:p>
            <a:pPr eaLnBrk="1" hangingPunct="1"/>
            <a:r>
              <a:rPr lang="en-US" altLang="zh-TW" smtClean="0"/>
              <a:t>CPU Protection</a:t>
            </a:r>
          </a:p>
        </p:txBody>
      </p:sp>
      <p:sp>
        <p:nvSpPr>
          <p:cNvPr id="296963" name="Rectangle 3" descr="Rectangle: Click to edit Master text styles&#10;Second level&#10;Third level&#10;Fourth level&#10;Fifth level"/>
          <p:cNvSpPr>
            <a:spLocks noGrp="1" noChangeArrowheads="1"/>
          </p:cNvSpPr>
          <p:nvPr>
            <p:ph type="body" idx="1"/>
          </p:nvPr>
        </p:nvSpPr>
        <p:spPr>
          <a:xfrm>
            <a:off x="503238" y="1238250"/>
            <a:ext cx="8240712" cy="5146675"/>
          </a:xfrm>
        </p:spPr>
        <p:txBody>
          <a:bodyPr/>
          <a:lstStyle/>
          <a:p>
            <a:pPr eaLnBrk="1" hangingPunct="1">
              <a:spcBef>
                <a:spcPct val="60000"/>
              </a:spcBef>
            </a:pPr>
            <a:r>
              <a:rPr lang="en-US" altLang="zh-TW" sz="2800" b="1" dirty="0" smtClean="0">
                <a:solidFill>
                  <a:srgbClr val="F31F47"/>
                </a:solidFill>
              </a:rPr>
              <a:t>Timer</a:t>
            </a:r>
            <a:r>
              <a:rPr lang="en-US" altLang="zh-TW" sz="2800" dirty="0" smtClean="0"/>
              <a:t> </a:t>
            </a:r>
            <a:r>
              <a:rPr lang="en-US" altLang="zh-TW" sz="2800" dirty="0" smtClean="0">
                <a:latin typeface="Helvetica" pitchFamily="34" charset="0"/>
              </a:rPr>
              <a:t>–</a:t>
            </a:r>
            <a:r>
              <a:rPr lang="en-US" altLang="zh-TW" sz="2800" dirty="0" smtClean="0"/>
              <a:t> interrupts computer after specified period to ensure operating system maintains control</a:t>
            </a:r>
          </a:p>
          <a:p>
            <a:pPr lvl="1" eaLnBrk="1" hangingPunct="1">
              <a:spcBef>
                <a:spcPct val="60000"/>
              </a:spcBef>
            </a:pPr>
            <a:r>
              <a:rPr lang="en-US" altLang="zh-TW" sz="2400" dirty="0" smtClean="0"/>
              <a:t>Timer is decremented every clock tick</a:t>
            </a:r>
          </a:p>
          <a:p>
            <a:pPr lvl="1" eaLnBrk="1" hangingPunct="1">
              <a:spcBef>
                <a:spcPct val="60000"/>
              </a:spcBef>
            </a:pPr>
            <a:r>
              <a:rPr lang="en-US" altLang="zh-TW" sz="2400" dirty="0" smtClean="0"/>
              <a:t>When timer reaches the value 0, an interrupt occurs</a:t>
            </a:r>
          </a:p>
          <a:p>
            <a:pPr eaLnBrk="1" hangingPunct="1">
              <a:spcBef>
                <a:spcPct val="60000"/>
              </a:spcBef>
            </a:pPr>
            <a:r>
              <a:rPr lang="en-US" altLang="zh-TW" sz="2800" dirty="0" smtClean="0"/>
              <a:t>Timer commonly used to implement time sharing</a:t>
            </a:r>
          </a:p>
          <a:p>
            <a:pPr eaLnBrk="1" hangingPunct="1">
              <a:spcBef>
                <a:spcPct val="60000"/>
              </a:spcBef>
            </a:pPr>
            <a:r>
              <a:rPr lang="en-US" altLang="zh-TW" sz="2800" dirty="0" smtClean="0"/>
              <a:t>Timer also used to compute the current time.</a:t>
            </a:r>
            <a:endParaRPr lang="en-US" altLang="zh-TW" sz="2800" dirty="0" smtClean="0">
              <a:solidFill>
                <a:srgbClr val="F31F47"/>
              </a:solidFill>
            </a:endParaRPr>
          </a:p>
          <a:p>
            <a:pPr eaLnBrk="1" hangingPunct="1">
              <a:spcBef>
                <a:spcPct val="60000"/>
              </a:spcBef>
            </a:pPr>
            <a:r>
              <a:rPr lang="en-US" altLang="zh-TW" sz="2800" dirty="0" smtClean="0">
                <a:solidFill>
                  <a:srgbClr val="F31F47"/>
                </a:solidFill>
              </a:rPr>
              <a:t>Load-timer</a:t>
            </a:r>
            <a:r>
              <a:rPr lang="en-US" altLang="zh-TW" sz="2800" dirty="0" smtClean="0"/>
              <a:t> is a privileged instruction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63">
                                            <p:txEl>
                                              <p:pRg st="0" end="0"/>
                                            </p:txEl>
                                          </p:spTgt>
                                        </p:tgtEl>
                                        <p:attrNameLst>
                                          <p:attrName>style.visibility</p:attrName>
                                        </p:attrNameLst>
                                      </p:cBhvr>
                                      <p:to>
                                        <p:strVal val="visible"/>
                                      </p:to>
                                    </p:set>
                                    <p:anim calcmode="lin" valueType="num">
                                      <p:cBhvr additive="base">
                                        <p:cTn id="7" dur="500" fill="hold"/>
                                        <p:tgtEl>
                                          <p:spTgt spid="296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6963">
                                            <p:txEl>
                                              <p:pRg st="1" end="1"/>
                                            </p:txEl>
                                          </p:spTgt>
                                        </p:tgtEl>
                                        <p:attrNameLst>
                                          <p:attrName>style.visibility</p:attrName>
                                        </p:attrNameLst>
                                      </p:cBhvr>
                                      <p:to>
                                        <p:strVal val="visible"/>
                                      </p:to>
                                    </p:set>
                                    <p:anim calcmode="lin" valueType="num">
                                      <p:cBhvr additive="base">
                                        <p:cTn id="13" dur="500" fill="hold"/>
                                        <p:tgtEl>
                                          <p:spTgt spid="2969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96963">
                                            <p:txEl>
                                              <p:pRg st="2" end="2"/>
                                            </p:txEl>
                                          </p:spTgt>
                                        </p:tgtEl>
                                        <p:attrNameLst>
                                          <p:attrName>style.visibility</p:attrName>
                                        </p:attrNameLst>
                                      </p:cBhvr>
                                      <p:to>
                                        <p:strVal val="visible"/>
                                      </p:to>
                                    </p:set>
                                    <p:anim calcmode="lin" valueType="num">
                                      <p:cBhvr additive="base">
                                        <p:cTn id="19" dur="500" fill="hold"/>
                                        <p:tgtEl>
                                          <p:spTgt spid="2969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96963">
                                            <p:txEl>
                                              <p:pRg st="3" end="3"/>
                                            </p:txEl>
                                          </p:spTgt>
                                        </p:tgtEl>
                                        <p:attrNameLst>
                                          <p:attrName>style.visibility</p:attrName>
                                        </p:attrNameLst>
                                      </p:cBhvr>
                                      <p:to>
                                        <p:strVal val="visible"/>
                                      </p:to>
                                    </p:set>
                                    <p:anim calcmode="lin" valueType="num">
                                      <p:cBhvr additive="base">
                                        <p:cTn id="25" dur="500" fill="hold"/>
                                        <p:tgtEl>
                                          <p:spTgt spid="2969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96963">
                                            <p:txEl>
                                              <p:pRg st="4" end="4"/>
                                            </p:txEl>
                                          </p:spTgt>
                                        </p:tgtEl>
                                        <p:attrNameLst>
                                          <p:attrName>style.visibility</p:attrName>
                                        </p:attrNameLst>
                                      </p:cBhvr>
                                      <p:to>
                                        <p:strVal val="visible"/>
                                      </p:to>
                                    </p:set>
                                    <p:anim calcmode="lin" valueType="num">
                                      <p:cBhvr additive="base">
                                        <p:cTn id="31" dur="500" fill="hold"/>
                                        <p:tgtEl>
                                          <p:spTgt spid="29696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6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96963">
                                            <p:txEl>
                                              <p:pRg st="5" end="5"/>
                                            </p:txEl>
                                          </p:spTgt>
                                        </p:tgtEl>
                                        <p:attrNameLst>
                                          <p:attrName>style.visibility</p:attrName>
                                        </p:attrNameLst>
                                      </p:cBhvr>
                                      <p:to>
                                        <p:strVal val="visible"/>
                                      </p:to>
                                    </p:set>
                                    <p:anim calcmode="lin" valueType="num">
                                      <p:cBhvr additive="base">
                                        <p:cTn id="37" dur="500" fill="hold"/>
                                        <p:tgtEl>
                                          <p:spTgt spid="29696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043E9C9-B9A0-4229-A5B0-54F1AA05DAD6}" type="datetime1">
              <a:rPr kumimoji="0" lang="zh-TW" altLang="en-US" sz="1400" smtClean="0"/>
              <a:t>2018/3/5</a:t>
            </a:fld>
            <a:endParaRPr kumimoji="0" lang="en-US" altLang="zh-TW" sz="1400"/>
          </a:p>
        </p:txBody>
      </p:sp>
      <p:sp>
        <p:nvSpPr>
          <p:cNvPr id="5529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FA54AAD1-D21C-4880-BA0C-4EEF2002692C}" type="slidenum">
              <a:rPr kumimoji="0" lang="zh-TW" altLang="en-US" sz="1400"/>
              <a:pPr algn="r" eaLnBrk="1" hangingPunct="1">
                <a:spcBef>
                  <a:spcPct val="0"/>
                </a:spcBef>
                <a:buClrTx/>
                <a:buSzTx/>
                <a:buFontTx/>
                <a:buNone/>
              </a:pPr>
              <a:t>62</a:t>
            </a:fld>
            <a:endParaRPr kumimoji="0" lang="en-US" altLang="zh-TW" sz="1400"/>
          </a:p>
        </p:txBody>
      </p:sp>
      <p:sp>
        <p:nvSpPr>
          <p:cNvPr id="55300" name="Rectangle 2"/>
          <p:cNvSpPr>
            <a:spLocks noGrp="1" noChangeArrowheads="1"/>
          </p:cNvSpPr>
          <p:nvPr>
            <p:ph type="title"/>
          </p:nvPr>
        </p:nvSpPr>
        <p:spPr>
          <a:xfrm>
            <a:off x="243840" y="304800"/>
            <a:ext cx="8676640" cy="893763"/>
          </a:xfrm>
        </p:spPr>
        <p:txBody>
          <a:bodyPr/>
          <a:lstStyle/>
          <a:p>
            <a:pPr eaLnBrk="1" hangingPunct="1"/>
            <a:r>
              <a:rPr lang="en-US" altLang="zh-TW" dirty="0" smtClean="0"/>
              <a:t>Virtualization: VMWare </a:t>
            </a:r>
          </a:p>
        </p:txBody>
      </p:sp>
      <p:pic>
        <p:nvPicPr>
          <p:cNvPr id="6" name="圖片 5"/>
          <p:cNvPicPr>
            <a:picLocks noChangeAspect="1"/>
          </p:cNvPicPr>
          <p:nvPr/>
        </p:nvPicPr>
        <p:blipFill>
          <a:blip r:embed="rId4"/>
          <a:stretch>
            <a:fillRect/>
          </a:stretch>
        </p:blipFill>
        <p:spPr>
          <a:xfrm>
            <a:off x="685800" y="1068087"/>
            <a:ext cx="7644765" cy="5789913"/>
          </a:xfrm>
          <a:prstGeom prst="rect">
            <a:avLst/>
          </a:prstGeom>
        </p:spPr>
      </p:pic>
      <p:sp>
        <p:nvSpPr>
          <p:cNvPr id="2" name="矩形 1"/>
          <p:cNvSpPr/>
          <p:nvPr/>
        </p:nvSpPr>
        <p:spPr>
          <a:xfrm>
            <a:off x="2669780" y="1440488"/>
            <a:ext cx="1247457" cy="400110"/>
          </a:xfrm>
          <a:prstGeom prst="rect">
            <a:avLst/>
          </a:prstGeom>
        </p:spPr>
        <p:txBody>
          <a:bodyPr wrap="none">
            <a:spAutoFit/>
          </a:bodyPr>
          <a:lstStyle/>
          <a:p>
            <a:r>
              <a:rPr lang="en-US" altLang="zh-TW" sz="2000" dirty="0" smtClean="0">
                <a:solidFill>
                  <a:srgbClr val="0000FF"/>
                </a:solidFill>
                <a:latin typeface="Adobe Gothic Std B" panose="020B0800000000000000" pitchFamily="34" charset="-128"/>
                <a:ea typeface="Adobe Gothic Std B" panose="020B0800000000000000" pitchFamily="34" charset="-128"/>
              </a:rPr>
              <a:t>VMWare </a:t>
            </a:r>
            <a:endParaRPr lang="zh-TW" altLang="en-US" dirty="0">
              <a:solidFill>
                <a:srgbClr val="0000FF"/>
              </a:solidFill>
              <a:latin typeface="Adobe Gothic Std B" panose="020B0800000000000000" pitchFamily="34" charset="-128"/>
            </a:endParaRPr>
          </a:p>
        </p:txBody>
      </p:sp>
      <p:sp>
        <p:nvSpPr>
          <p:cNvPr id="7" name="矩形 6"/>
          <p:cNvSpPr/>
          <p:nvPr/>
        </p:nvSpPr>
        <p:spPr>
          <a:xfrm>
            <a:off x="4508182" y="1440488"/>
            <a:ext cx="732893" cy="400110"/>
          </a:xfrm>
          <a:prstGeom prst="rect">
            <a:avLst/>
          </a:prstGeom>
        </p:spPr>
        <p:txBody>
          <a:bodyPr wrap="none">
            <a:spAutoFit/>
          </a:bodyPr>
          <a:lstStyle/>
          <a:p>
            <a:r>
              <a:rPr lang="en-US" altLang="zh-TW" sz="2000" dirty="0" smtClean="0">
                <a:solidFill>
                  <a:srgbClr val="0000FF"/>
                </a:solidFill>
                <a:latin typeface="Adobe Gothic Std B" panose="020B0800000000000000" pitchFamily="34" charset="-128"/>
                <a:ea typeface="Adobe Gothic Std B" panose="020B0800000000000000" pitchFamily="34" charset="-128"/>
              </a:rPr>
              <a:t>KVM</a:t>
            </a:r>
            <a:endParaRPr lang="zh-TW" altLang="en-US" dirty="0">
              <a:solidFill>
                <a:srgbClr val="0000FF"/>
              </a:solidFill>
              <a:latin typeface="Adobe Gothic Std B" panose="020B0800000000000000" pitchFamily="34" charset="-128"/>
            </a:endParaRPr>
          </a:p>
        </p:txBody>
      </p:sp>
      <p:sp>
        <p:nvSpPr>
          <p:cNvPr id="8" name="矩形 7"/>
          <p:cNvSpPr/>
          <p:nvPr/>
        </p:nvSpPr>
        <p:spPr>
          <a:xfrm>
            <a:off x="7706836" y="1198563"/>
            <a:ext cx="638316" cy="400110"/>
          </a:xfrm>
          <a:prstGeom prst="rect">
            <a:avLst/>
          </a:prstGeom>
        </p:spPr>
        <p:txBody>
          <a:bodyPr wrap="none">
            <a:spAutoFit/>
          </a:bodyPr>
          <a:lstStyle/>
          <a:p>
            <a:r>
              <a:rPr lang="en-US" altLang="zh-TW" sz="2000" dirty="0">
                <a:solidFill>
                  <a:srgbClr val="0000FF"/>
                </a:solidFill>
                <a:latin typeface="Adobe Gothic Std B" panose="020B0800000000000000" pitchFamily="34" charset="-128"/>
                <a:ea typeface="Adobe Gothic Std B" panose="020B0800000000000000" pitchFamily="34" charset="-128"/>
              </a:rPr>
              <a:t>X</a:t>
            </a:r>
            <a:r>
              <a:rPr lang="en-US" altLang="zh-TW" sz="2000" dirty="0" smtClean="0">
                <a:solidFill>
                  <a:srgbClr val="0000FF"/>
                </a:solidFill>
                <a:latin typeface="Adobe Gothic Std B" panose="020B0800000000000000" pitchFamily="34" charset="-128"/>
                <a:ea typeface="Adobe Gothic Std B" panose="020B0800000000000000" pitchFamily="34" charset="-128"/>
              </a:rPr>
              <a:t>en</a:t>
            </a:r>
            <a:endParaRPr lang="zh-TW" altLang="en-US" dirty="0">
              <a:solidFill>
                <a:srgbClr val="0000FF"/>
              </a:solidFill>
              <a:latin typeface="Adobe Gothic Std B" panose="020B0800000000000000" pitchFamily="34" charset="-128"/>
            </a:endParaRPr>
          </a:p>
        </p:txBody>
      </p:sp>
    </p:spTree>
    <p:extLst>
      <p:ext uri="{BB962C8B-B14F-4D97-AF65-F5344CB8AC3E}">
        <p14:creationId xmlns:p14="http://schemas.microsoft.com/office/powerpoint/2010/main" val="241279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4"/>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1BE707F1-1BAC-4C9C-8C97-DC8795A58910}" type="datetime1">
              <a:rPr kumimoji="0" lang="zh-TW" altLang="en-US" sz="1400" smtClean="0"/>
              <a:t>2018/3/5</a:t>
            </a:fld>
            <a:endParaRPr kumimoji="0" lang="en-US" altLang="zh-TW" sz="1400"/>
          </a:p>
        </p:txBody>
      </p:sp>
      <p:sp>
        <p:nvSpPr>
          <p:cNvPr id="55299"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4"/>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FA54AAD1-D21C-4880-BA0C-4EEF2002692C}" type="slidenum">
              <a:rPr kumimoji="0" lang="zh-TW" altLang="en-US" sz="1400"/>
              <a:pPr algn="r" eaLnBrk="1" hangingPunct="1">
                <a:spcBef>
                  <a:spcPct val="0"/>
                </a:spcBef>
                <a:buClrTx/>
                <a:buSzTx/>
                <a:buFontTx/>
                <a:buNone/>
              </a:pPr>
              <a:t>63</a:t>
            </a:fld>
            <a:endParaRPr kumimoji="0" lang="en-US" altLang="zh-TW" sz="1400"/>
          </a:p>
        </p:txBody>
      </p:sp>
      <p:sp>
        <p:nvSpPr>
          <p:cNvPr id="55300" name="Rectangle 2"/>
          <p:cNvSpPr>
            <a:spLocks noGrp="1" noChangeArrowheads="1"/>
          </p:cNvSpPr>
          <p:nvPr>
            <p:ph type="title"/>
          </p:nvPr>
        </p:nvSpPr>
        <p:spPr>
          <a:xfrm>
            <a:off x="243840" y="304800"/>
            <a:ext cx="8676640" cy="893763"/>
          </a:xfrm>
        </p:spPr>
        <p:txBody>
          <a:bodyPr/>
          <a:lstStyle/>
          <a:p>
            <a:pPr eaLnBrk="1" hangingPunct="1"/>
            <a:r>
              <a:rPr lang="en-US" altLang="zh-TW" dirty="0"/>
              <a:t>Containers: OS </a:t>
            </a:r>
            <a:r>
              <a:rPr lang="en-US" altLang="zh-TW" dirty="0" smtClean="0"/>
              <a:t>Level Virtualization</a:t>
            </a:r>
          </a:p>
        </p:txBody>
      </p:sp>
      <p:graphicFrame>
        <p:nvGraphicFramePr>
          <p:cNvPr id="5" name="物件 4"/>
          <p:cNvGraphicFramePr>
            <a:graphicFrameLocks noChangeAspect="1"/>
          </p:cNvGraphicFramePr>
          <p:nvPr>
            <p:extLst>
              <p:ext uri="{D42A27DB-BD31-4B8C-83A1-F6EECF244321}">
                <p14:modId xmlns:p14="http://schemas.microsoft.com/office/powerpoint/2010/main" val="4231394003"/>
              </p:ext>
            </p:extLst>
          </p:nvPr>
        </p:nvGraphicFramePr>
        <p:xfrm>
          <a:off x="-23454" y="2111374"/>
          <a:ext cx="9164336" cy="2846706"/>
        </p:xfrm>
        <a:graphic>
          <a:graphicData uri="http://schemas.openxmlformats.org/presentationml/2006/ole">
            <mc:AlternateContent xmlns:mc="http://schemas.openxmlformats.org/markup-compatibility/2006">
              <mc:Choice xmlns:v="urn:schemas-microsoft-com:vml" Requires="v">
                <p:oleObj spid="_x0000_s2069" name="工作表" r:id="rId5" imgW="8483654" imgH="2635239" progId="Excel.Sheet.12">
                  <p:embed/>
                </p:oleObj>
              </mc:Choice>
              <mc:Fallback>
                <p:oleObj name="工作表" r:id="rId5" imgW="8483654" imgH="2635239" progId="Excel.Sheet.12">
                  <p:embed/>
                  <p:pic>
                    <p:nvPicPr>
                      <p:cNvPr id="0" name=""/>
                      <p:cNvPicPr/>
                      <p:nvPr/>
                    </p:nvPicPr>
                    <p:blipFill>
                      <a:blip r:embed="rId6"/>
                      <a:stretch>
                        <a:fillRect/>
                      </a:stretch>
                    </p:blipFill>
                    <p:spPr>
                      <a:xfrm>
                        <a:off x="-23454" y="2111374"/>
                        <a:ext cx="9164336" cy="2846706"/>
                      </a:xfrm>
                      <a:prstGeom prst="rect">
                        <a:avLst/>
                      </a:prstGeom>
                    </p:spPr>
                  </p:pic>
                </p:oleObj>
              </mc:Fallback>
            </mc:AlternateContent>
          </a:graphicData>
        </a:graphic>
      </p:graphicFrame>
    </p:spTree>
    <p:extLst>
      <p:ext uri="{BB962C8B-B14F-4D97-AF65-F5344CB8AC3E}">
        <p14:creationId xmlns:p14="http://schemas.microsoft.com/office/powerpoint/2010/main" val="299588525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B040507-063C-497F-9D02-3D9B6D792A37}" type="datetime1">
              <a:rPr kumimoji="0" lang="zh-TW" altLang="en-US" sz="1400" smtClean="0"/>
              <a:t>2018/3/5</a:t>
            </a:fld>
            <a:endParaRPr kumimoji="0" lang="en-US" altLang="zh-TW" sz="1400"/>
          </a:p>
        </p:txBody>
      </p:sp>
      <p:sp>
        <p:nvSpPr>
          <p:cNvPr id="18435"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85F79B66-6A7E-4FD2-B074-3165229D5D70}" type="slidenum">
              <a:rPr kumimoji="0" lang="zh-TW" altLang="en-US" sz="1400"/>
              <a:pPr algn="r" eaLnBrk="1" hangingPunct="1">
                <a:spcBef>
                  <a:spcPct val="0"/>
                </a:spcBef>
                <a:buClrTx/>
                <a:buSzTx/>
                <a:buFontTx/>
                <a:buNone/>
              </a:pPr>
              <a:t>64</a:t>
            </a:fld>
            <a:endParaRPr kumimoji="0" lang="en-US" altLang="zh-TW" sz="1400"/>
          </a:p>
        </p:txBody>
      </p:sp>
      <p:sp>
        <p:nvSpPr>
          <p:cNvPr id="18436" name="Rectangle 2"/>
          <p:cNvSpPr>
            <a:spLocks noGrp="1" noChangeArrowheads="1"/>
          </p:cNvSpPr>
          <p:nvPr>
            <p:ph type="title"/>
          </p:nvPr>
        </p:nvSpPr>
        <p:spPr>
          <a:xfrm>
            <a:off x="609600" y="304800"/>
            <a:ext cx="7772400" cy="631825"/>
          </a:xfrm>
        </p:spPr>
        <p:txBody>
          <a:bodyPr/>
          <a:lstStyle/>
          <a:p>
            <a:pPr eaLnBrk="1" hangingPunct="1"/>
            <a:r>
              <a:rPr lang="en-US" altLang="zh-TW" smtClean="0"/>
              <a:t>An Example of Standard API</a:t>
            </a:r>
          </a:p>
        </p:txBody>
      </p:sp>
      <p:sp>
        <p:nvSpPr>
          <p:cNvPr id="18437" name="Rectangle 3" descr="Rectangle: Click to edit Master text styles&#10;Second level&#10;Third level&#10;Fourth level&#10;Fifth level"/>
          <p:cNvSpPr>
            <a:spLocks noGrp="1" noChangeArrowheads="1"/>
          </p:cNvSpPr>
          <p:nvPr>
            <p:ph type="body" idx="1"/>
          </p:nvPr>
        </p:nvSpPr>
        <p:spPr>
          <a:xfrm>
            <a:off x="219075" y="1110091"/>
            <a:ext cx="8924925" cy="5146675"/>
          </a:xfrm>
        </p:spPr>
        <p:txBody>
          <a:bodyPr/>
          <a:lstStyle/>
          <a:p>
            <a:pPr eaLnBrk="1" hangingPunct="1">
              <a:lnSpc>
                <a:spcPct val="90000"/>
              </a:lnSpc>
            </a:pPr>
            <a:r>
              <a:rPr lang="en-US" altLang="zh-TW" sz="2000" dirty="0" smtClean="0"/>
              <a:t>Consider the </a:t>
            </a:r>
            <a:r>
              <a:rPr lang="en-US" altLang="zh-TW" sz="2000" dirty="0" err="1" smtClean="0">
                <a:solidFill>
                  <a:srgbClr val="0000FF"/>
                </a:solidFill>
              </a:rPr>
              <a:t>ReadFile</a:t>
            </a:r>
            <a:r>
              <a:rPr lang="en-US" altLang="zh-TW" sz="2000" dirty="0" smtClean="0"/>
              <a:t>() function in the </a:t>
            </a:r>
            <a:r>
              <a:rPr lang="en-US" altLang="zh-TW" sz="2000" dirty="0" smtClean="0">
                <a:solidFill>
                  <a:srgbClr val="0000FF"/>
                </a:solidFill>
              </a:rPr>
              <a:t>Win32</a:t>
            </a:r>
            <a:r>
              <a:rPr lang="en-US" altLang="zh-TW" sz="2000" dirty="0" smtClean="0"/>
              <a:t> API</a:t>
            </a:r>
            <a:r>
              <a:rPr lang="en-US" altLang="zh-TW" sz="2000" dirty="0" smtClean="0">
                <a:latin typeface="Helvetica" pitchFamily="34" charset="0"/>
              </a:rPr>
              <a:t>—</a:t>
            </a:r>
            <a:r>
              <a:rPr lang="en-US" altLang="zh-TW" sz="2000" dirty="0" smtClean="0"/>
              <a:t>a function for reading from a file</a:t>
            </a:r>
            <a:br>
              <a:rPr lang="en-US" altLang="zh-TW" sz="2000" dirty="0" smtClean="0"/>
            </a:br>
            <a:r>
              <a:rPr lang="en-US" altLang="zh-TW" sz="2000" dirty="0" smtClean="0"/>
              <a:t/>
            </a:r>
            <a:br>
              <a:rPr lang="en-US" altLang="zh-TW" sz="2000" dirty="0" smtClean="0"/>
            </a:br>
            <a:r>
              <a:rPr lang="en-US" altLang="zh-TW" sz="2000" dirty="0" smtClean="0"/>
              <a:t/>
            </a:r>
            <a:br>
              <a:rPr lang="en-US" altLang="zh-TW" sz="2000" dirty="0" smtClean="0"/>
            </a:b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pPr>
            <a:endParaRPr lang="en-US" altLang="zh-TW" sz="2000" dirty="0" smtClean="0"/>
          </a:p>
          <a:p>
            <a:pPr eaLnBrk="1" hangingPunct="1">
              <a:lnSpc>
                <a:spcPct val="90000"/>
              </a:lnSpc>
              <a:buFont typeface="Wingdings" pitchFamily="2" charset="2"/>
              <a:buNone/>
            </a:pPr>
            <a:r>
              <a:rPr lang="en-US" altLang="zh-TW" sz="1800" dirty="0" smtClean="0"/>
              <a:t>A description of the parameters passed to </a:t>
            </a:r>
            <a:r>
              <a:rPr lang="en-US" altLang="zh-TW" sz="1800" dirty="0" err="1" smtClean="0"/>
              <a:t>ReadFile</a:t>
            </a:r>
            <a:r>
              <a:rPr lang="en-US" altLang="zh-TW" sz="1800" dirty="0" smtClean="0"/>
              <a:t>()</a:t>
            </a:r>
          </a:p>
          <a:p>
            <a:pPr lvl="1" eaLnBrk="1" hangingPunct="1">
              <a:lnSpc>
                <a:spcPct val="90000"/>
              </a:lnSpc>
            </a:pPr>
            <a:r>
              <a:rPr lang="en-US" altLang="zh-TW" sz="1600" dirty="0" smtClean="0"/>
              <a:t>HANDLE file</a:t>
            </a:r>
            <a:r>
              <a:rPr lang="en-US" altLang="zh-TW" sz="1600" dirty="0" smtClean="0">
                <a:latin typeface="Helvetica" pitchFamily="34" charset="0"/>
              </a:rPr>
              <a:t>—</a:t>
            </a:r>
            <a:r>
              <a:rPr lang="en-US" altLang="zh-TW" sz="1600" dirty="0" smtClean="0"/>
              <a:t>the file to be read</a:t>
            </a:r>
          </a:p>
          <a:p>
            <a:pPr lvl="1" eaLnBrk="1" hangingPunct="1">
              <a:lnSpc>
                <a:spcPct val="90000"/>
              </a:lnSpc>
            </a:pPr>
            <a:r>
              <a:rPr lang="en-US" altLang="zh-TW" sz="1600" dirty="0" smtClean="0"/>
              <a:t>LPVOID buffer</a:t>
            </a:r>
            <a:r>
              <a:rPr lang="en-US" altLang="zh-TW" sz="1600" dirty="0" smtClean="0">
                <a:latin typeface="Helvetica" pitchFamily="34" charset="0"/>
              </a:rPr>
              <a:t>—</a:t>
            </a:r>
            <a:r>
              <a:rPr lang="en-US" altLang="zh-TW" sz="1600" dirty="0" smtClean="0"/>
              <a:t>a buffer where the data will be read into and written from</a:t>
            </a:r>
          </a:p>
          <a:p>
            <a:pPr lvl="1" eaLnBrk="1" hangingPunct="1">
              <a:lnSpc>
                <a:spcPct val="90000"/>
              </a:lnSpc>
            </a:pPr>
            <a:r>
              <a:rPr lang="en-US" altLang="zh-TW" sz="1600" dirty="0" smtClean="0"/>
              <a:t>DWORD </a:t>
            </a:r>
            <a:r>
              <a:rPr lang="en-US" altLang="zh-TW" sz="1600" dirty="0" err="1" smtClean="0"/>
              <a:t>bytesToRead</a:t>
            </a:r>
            <a:r>
              <a:rPr lang="en-US" altLang="zh-TW" sz="1600" dirty="0" smtClean="0">
                <a:latin typeface="Helvetica" pitchFamily="34" charset="0"/>
              </a:rPr>
              <a:t>—</a:t>
            </a:r>
            <a:r>
              <a:rPr lang="en-US" altLang="zh-TW" sz="1600" dirty="0" smtClean="0"/>
              <a:t>the number of bytes to be read into the buffer</a:t>
            </a:r>
          </a:p>
          <a:p>
            <a:pPr lvl="1" eaLnBrk="1" hangingPunct="1">
              <a:lnSpc>
                <a:spcPct val="90000"/>
              </a:lnSpc>
            </a:pPr>
            <a:r>
              <a:rPr lang="en-US" altLang="zh-TW" sz="1600" dirty="0" smtClean="0"/>
              <a:t>LPDWORD </a:t>
            </a:r>
            <a:r>
              <a:rPr lang="en-US" altLang="zh-TW" sz="1600" dirty="0" err="1" smtClean="0"/>
              <a:t>bytesRead</a:t>
            </a:r>
            <a:r>
              <a:rPr lang="en-US" altLang="zh-TW" sz="1600" dirty="0" smtClean="0">
                <a:latin typeface="Helvetica" pitchFamily="34" charset="0"/>
              </a:rPr>
              <a:t>—</a:t>
            </a:r>
            <a:r>
              <a:rPr lang="en-US" altLang="zh-TW" sz="1600" dirty="0" smtClean="0"/>
              <a:t>the number of bytes read during the last read</a:t>
            </a:r>
          </a:p>
          <a:p>
            <a:pPr lvl="1" eaLnBrk="1" hangingPunct="1">
              <a:lnSpc>
                <a:spcPct val="90000"/>
              </a:lnSpc>
            </a:pPr>
            <a:r>
              <a:rPr lang="en-US" altLang="zh-TW" sz="1600" dirty="0" smtClean="0"/>
              <a:t>LPOVERLAPPED </a:t>
            </a:r>
            <a:r>
              <a:rPr lang="en-US" altLang="zh-TW" sz="1600" dirty="0" err="1" smtClean="0"/>
              <a:t>ovl</a:t>
            </a:r>
            <a:r>
              <a:rPr lang="en-US" altLang="zh-TW" sz="1600" dirty="0" smtClean="0">
                <a:latin typeface="Helvetica" pitchFamily="34" charset="0"/>
              </a:rPr>
              <a:t>—</a:t>
            </a:r>
            <a:r>
              <a:rPr lang="en-US" altLang="zh-TW" sz="1600" dirty="0" smtClean="0"/>
              <a:t>indicates if overlapped I/O is being used</a:t>
            </a:r>
          </a:p>
          <a:p>
            <a:pPr eaLnBrk="1" hangingPunct="1">
              <a:lnSpc>
                <a:spcPct val="90000"/>
              </a:lnSpc>
            </a:pPr>
            <a:endParaRPr lang="zh-TW" altLang="en-US" sz="1800" dirty="0" smtClean="0"/>
          </a:p>
        </p:txBody>
      </p:sp>
      <p:pic>
        <p:nvPicPr>
          <p:cNvPr id="18438" name="Picture 4"/>
          <p:cNvPicPr>
            <a:picLocks noChangeAspect="1" noChangeArrowheads="1"/>
          </p:cNvPicPr>
          <p:nvPr/>
        </p:nvPicPr>
        <p:blipFill>
          <a:blip r:embed="rId4">
            <a:extLst>
              <a:ext uri="{28A0092B-C50C-407E-A947-70E740481C1C}">
                <a14:useLocalDpi xmlns:a14="http://schemas.microsoft.com/office/drawing/2010/main" val="0"/>
              </a:ext>
            </a:extLst>
          </a:blip>
          <a:srcRect l="1028" t="29630" r="1028" b="29355"/>
          <a:stretch>
            <a:fillRect/>
          </a:stretch>
        </p:blipFill>
        <p:spPr bwMode="auto">
          <a:xfrm>
            <a:off x="768350" y="1757220"/>
            <a:ext cx="7672388" cy="2328862"/>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9751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324BDA4-A179-44D5-85EC-2FB5D4B15679}" type="datetime1">
              <a:rPr kumimoji="0" lang="zh-TW" altLang="en-US" sz="1400" smtClean="0"/>
              <a:t>2018/3/5</a:t>
            </a:fld>
            <a:endParaRPr kumimoji="0" lang="en-US" altLang="zh-TW" sz="1400"/>
          </a:p>
        </p:txBody>
      </p:sp>
      <p:sp>
        <p:nvSpPr>
          <p:cNvPr id="22531"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A0DAE30E-8087-40BB-8A25-9F76B05C16DF}" type="slidenum">
              <a:rPr kumimoji="0" lang="zh-TW" altLang="en-US" sz="1400"/>
              <a:pPr algn="r" eaLnBrk="1" hangingPunct="1">
                <a:spcBef>
                  <a:spcPct val="0"/>
                </a:spcBef>
                <a:buClrTx/>
                <a:buSzTx/>
                <a:buFontTx/>
                <a:buNone/>
              </a:pPr>
              <a:t>65</a:t>
            </a:fld>
            <a:endParaRPr kumimoji="0" lang="en-US" altLang="zh-TW" sz="1400"/>
          </a:p>
        </p:txBody>
      </p:sp>
      <p:sp>
        <p:nvSpPr>
          <p:cNvPr id="22532" name="Rectangle 2"/>
          <p:cNvSpPr>
            <a:spLocks noGrp="1" noChangeArrowheads="1"/>
          </p:cNvSpPr>
          <p:nvPr>
            <p:ph type="title"/>
          </p:nvPr>
        </p:nvSpPr>
        <p:spPr>
          <a:xfrm>
            <a:off x="600075" y="104775"/>
            <a:ext cx="7772400" cy="695325"/>
          </a:xfrm>
        </p:spPr>
        <p:txBody>
          <a:bodyPr/>
          <a:lstStyle/>
          <a:p>
            <a:pPr eaLnBrk="1" hangingPunct="1"/>
            <a:r>
              <a:rPr lang="en-US" altLang="zh-TW" dirty="0" smtClean="0"/>
              <a:t>System Programs</a:t>
            </a:r>
          </a:p>
        </p:txBody>
      </p:sp>
      <p:sp>
        <p:nvSpPr>
          <p:cNvPr id="22533" name="Rectangle 3" descr="Rectangle: Click to edit Master text styles&#10;Second level&#10;Third level&#10;Fourth level&#10;Fifth level"/>
          <p:cNvSpPr>
            <a:spLocks noGrp="1" noChangeArrowheads="1"/>
          </p:cNvSpPr>
          <p:nvPr>
            <p:ph type="body" idx="1"/>
          </p:nvPr>
        </p:nvSpPr>
        <p:spPr>
          <a:xfrm>
            <a:off x="256855" y="791110"/>
            <a:ext cx="8681662" cy="5496978"/>
          </a:xfrm>
        </p:spPr>
        <p:txBody>
          <a:bodyPr/>
          <a:lstStyle/>
          <a:p>
            <a:pPr eaLnBrk="1" hangingPunct="1">
              <a:lnSpc>
                <a:spcPct val="90000"/>
              </a:lnSpc>
            </a:pPr>
            <a:r>
              <a:rPr lang="en-US" altLang="zh-TW" sz="2800" dirty="0" smtClean="0"/>
              <a:t>System programs provide a convenient environment for program development and execution.  The can be divided into:</a:t>
            </a:r>
          </a:p>
          <a:p>
            <a:pPr lvl="1" eaLnBrk="1" hangingPunct="1">
              <a:lnSpc>
                <a:spcPct val="90000"/>
              </a:lnSpc>
              <a:spcBef>
                <a:spcPts val="1200"/>
              </a:spcBef>
            </a:pPr>
            <a:r>
              <a:rPr lang="en-US" altLang="zh-TW" sz="2000" dirty="0" smtClean="0"/>
              <a:t>File manipulation </a:t>
            </a:r>
          </a:p>
          <a:p>
            <a:pPr lvl="1" eaLnBrk="1" hangingPunct="1">
              <a:lnSpc>
                <a:spcPct val="90000"/>
              </a:lnSpc>
              <a:spcBef>
                <a:spcPts val="1200"/>
              </a:spcBef>
            </a:pPr>
            <a:r>
              <a:rPr lang="en-US" altLang="zh-TW" sz="2000" dirty="0" smtClean="0"/>
              <a:t>Status information stored in a File modification</a:t>
            </a:r>
          </a:p>
          <a:p>
            <a:pPr lvl="1" eaLnBrk="1" hangingPunct="1">
              <a:lnSpc>
                <a:spcPct val="90000"/>
              </a:lnSpc>
              <a:spcBef>
                <a:spcPts val="1200"/>
              </a:spcBef>
            </a:pPr>
            <a:r>
              <a:rPr lang="en-US" altLang="zh-TW" sz="2000" dirty="0" smtClean="0"/>
              <a:t>Programming language support</a:t>
            </a:r>
          </a:p>
          <a:p>
            <a:pPr lvl="1" eaLnBrk="1" hangingPunct="1">
              <a:lnSpc>
                <a:spcPct val="90000"/>
              </a:lnSpc>
              <a:spcBef>
                <a:spcPts val="1200"/>
              </a:spcBef>
            </a:pPr>
            <a:r>
              <a:rPr lang="en-US" altLang="zh-TW" sz="2000" dirty="0" smtClean="0"/>
              <a:t>Program loading and execution</a:t>
            </a:r>
          </a:p>
          <a:p>
            <a:pPr lvl="1" eaLnBrk="1" hangingPunct="1">
              <a:lnSpc>
                <a:spcPct val="90000"/>
              </a:lnSpc>
              <a:spcBef>
                <a:spcPts val="1200"/>
              </a:spcBef>
            </a:pPr>
            <a:r>
              <a:rPr lang="en-US" altLang="zh-TW" sz="2000" dirty="0" smtClean="0"/>
              <a:t>Communications</a:t>
            </a:r>
          </a:p>
          <a:p>
            <a:pPr lvl="1" eaLnBrk="1" hangingPunct="1">
              <a:lnSpc>
                <a:spcPct val="90000"/>
              </a:lnSpc>
              <a:spcBef>
                <a:spcPts val="1200"/>
              </a:spcBef>
            </a:pPr>
            <a:r>
              <a:rPr lang="en-US" altLang="zh-TW" sz="2000" dirty="0" smtClean="0"/>
              <a:t>Background services</a:t>
            </a:r>
          </a:p>
          <a:p>
            <a:pPr lvl="1" eaLnBrk="1" hangingPunct="1">
              <a:lnSpc>
                <a:spcPct val="90000"/>
              </a:lnSpc>
              <a:spcBef>
                <a:spcPts val="1200"/>
              </a:spcBef>
            </a:pPr>
            <a:r>
              <a:rPr lang="en-US" altLang="zh-TW" sz="2000" dirty="0" smtClean="0"/>
              <a:t>Application programs</a:t>
            </a:r>
          </a:p>
          <a:p>
            <a:pPr eaLnBrk="1" hangingPunct="1"/>
            <a:r>
              <a:rPr lang="en-US" altLang="zh-TW" sz="2800" dirty="0" smtClean="0"/>
              <a:t>Most users’ view of the operation system is defined by system programs, not the actual system calls</a:t>
            </a:r>
          </a:p>
        </p:txBody>
      </p:sp>
    </p:spTree>
    <p:extLst>
      <p:ext uri="{BB962C8B-B14F-4D97-AF65-F5344CB8AC3E}">
        <p14:creationId xmlns:p14="http://schemas.microsoft.com/office/powerpoint/2010/main" val="60385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E659D7A-4773-4CDF-A5AC-A98AD8DD2FE5}"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66</a:t>
            </a:fld>
            <a:endParaRPr kumimoji="0" lang="en-US" altLang="zh-TW" sz="1400"/>
          </a:p>
        </p:txBody>
      </p:sp>
      <p:sp>
        <p:nvSpPr>
          <p:cNvPr id="54274" name="Rectangle 2"/>
          <p:cNvSpPr>
            <a:spLocks noGrp="1" noChangeArrowheads="1"/>
          </p:cNvSpPr>
          <p:nvPr>
            <p:ph type="title"/>
          </p:nvPr>
        </p:nvSpPr>
        <p:spPr>
          <a:xfrm>
            <a:off x="384228" y="164387"/>
            <a:ext cx="7772400" cy="745090"/>
          </a:xfrm>
        </p:spPr>
        <p:txBody>
          <a:bodyPr/>
          <a:lstStyle/>
          <a:p>
            <a:pPr eaLnBrk="1" hangingPunct="1">
              <a:defRPr/>
            </a:pPr>
            <a:r>
              <a:rPr lang="en-US" altLang="zh-TW" sz="4000" b="1" dirty="0">
                <a:solidFill>
                  <a:schemeClr val="tx1"/>
                </a:solidFill>
                <a:latin typeface="Adobe Gothic Std B" pitchFamily="34" charset="-128"/>
                <a:ea typeface="Adobe Gothic Std B" pitchFamily="34" charset="-128"/>
              </a:rPr>
              <a:t>Implementation</a:t>
            </a:r>
          </a:p>
        </p:txBody>
      </p:sp>
      <p:sp>
        <p:nvSpPr>
          <p:cNvPr id="31749" name="Rectangle 3" descr="Rectangle: Click to edit Master text styles&#10;Second level&#10;Third level&#10;Fourth level&#10;Fifth level"/>
          <p:cNvSpPr>
            <a:spLocks noGrp="1" noChangeArrowheads="1"/>
          </p:cNvSpPr>
          <p:nvPr>
            <p:ph type="body" idx="1"/>
          </p:nvPr>
        </p:nvSpPr>
        <p:spPr>
          <a:xfrm>
            <a:off x="328771" y="934949"/>
            <a:ext cx="8414535" cy="5311738"/>
          </a:xfrm>
        </p:spPr>
        <p:txBody>
          <a:bodyPr/>
          <a:lstStyle/>
          <a:p>
            <a:pPr eaLnBrk="1" hangingPunct="1">
              <a:lnSpc>
                <a:spcPct val="90000"/>
              </a:lnSpc>
              <a:spcBef>
                <a:spcPct val="60000"/>
              </a:spcBef>
              <a:buFont typeface="Wingdings" panose="05000000000000000000" pitchFamily="2" charset="2"/>
              <a:buChar char="n"/>
            </a:pPr>
            <a:r>
              <a:rPr lang="en-US" altLang="zh-TW" sz="2400" dirty="0" smtClean="0"/>
              <a:t>Many variations</a:t>
            </a:r>
            <a:endParaRPr lang="en-US" altLang="zh-TW" sz="2400" dirty="0"/>
          </a:p>
          <a:p>
            <a:pPr lvl="1" eaLnBrk="1" hangingPunct="1">
              <a:lnSpc>
                <a:spcPct val="90000"/>
              </a:lnSpc>
              <a:spcBef>
                <a:spcPct val="60000"/>
              </a:spcBef>
            </a:pPr>
            <a:r>
              <a:rPr lang="en-US" altLang="zh-TW" sz="2000" dirty="0"/>
              <a:t>Early </a:t>
            </a:r>
            <a:r>
              <a:rPr lang="en-US" altLang="zh-TW" sz="2000" dirty="0" smtClean="0"/>
              <a:t>OS </a:t>
            </a:r>
            <a:r>
              <a:rPr lang="en-US" altLang="zh-TW" sz="2000" dirty="0"/>
              <a:t>in assembly language</a:t>
            </a:r>
          </a:p>
          <a:p>
            <a:pPr lvl="1" eaLnBrk="1" hangingPunct="1">
              <a:lnSpc>
                <a:spcPct val="90000"/>
              </a:lnSpc>
              <a:spcBef>
                <a:spcPct val="60000"/>
              </a:spcBef>
            </a:pPr>
            <a:r>
              <a:rPr lang="en-US" altLang="zh-TW" sz="2000" dirty="0"/>
              <a:t>Then system programming languages like Algol, PL/1</a:t>
            </a:r>
          </a:p>
          <a:p>
            <a:pPr lvl="1" eaLnBrk="1" hangingPunct="1">
              <a:lnSpc>
                <a:spcPct val="90000"/>
              </a:lnSpc>
              <a:spcBef>
                <a:spcPct val="60000"/>
              </a:spcBef>
            </a:pPr>
            <a:r>
              <a:rPr lang="en-US" altLang="zh-TW" sz="2000" dirty="0"/>
              <a:t>Now C, C++</a:t>
            </a:r>
          </a:p>
          <a:p>
            <a:pPr eaLnBrk="1" hangingPunct="1">
              <a:lnSpc>
                <a:spcPct val="90000"/>
              </a:lnSpc>
              <a:spcBef>
                <a:spcPct val="60000"/>
              </a:spcBef>
              <a:buFont typeface="Wingdings" panose="05000000000000000000" pitchFamily="2" charset="2"/>
              <a:buChar char="n"/>
            </a:pPr>
            <a:r>
              <a:rPr lang="en-US" altLang="zh-TW" sz="2400" dirty="0">
                <a:solidFill>
                  <a:srgbClr val="0000FF"/>
                </a:solidFill>
              </a:rPr>
              <a:t>Actually usually a mix of languages</a:t>
            </a:r>
          </a:p>
          <a:p>
            <a:pPr lvl="1" eaLnBrk="1" hangingPunct="1">
              <a:lnSpc>
                <a:spcPct val="90000"/>
              </a:lnSpc>
              <a:spcBef>
                <a:spcPct val="60000"/>
              </a:spcBef>
            </a:pPr>
            <a:r>
              <a:rPr lang="en-US" altLang="zh-TW" sz="2000" dirty="0">
                <a:solidFill>
                  <a:srgbClr val="0000FF"/>
                </a:solidFill>
              </a:rPr>
              <a:t>Lowest levels in assembly</a:t>
            </a:r>
          </a:p>
          <a:p>
            <a:pPr lvl="1" eaLnBrk="1" hangingPunct="1">
              <a:lnSpc>
                <a:spcPct val="90000"/>
              </a:lnSpc>
              <a:spcBef>
                <a:spcPct val="60000"/>
              </a:spcBef>
            </a:pPr>
            <a:r>
              <a:rPr lang="en-US" altLang="zh-TW" sz="2000" dirty="0">
                <a:solidFill>
                  <a:srgbClr val="0000FF"/>
                </a:solidFill>
              </a:rPr>
              <a:t>Main body in C</a:t>
            </a:r>
          </a:p>
          <a:p>
            <a:pPr lvl="1" eaLnBrk="1" hangingPunct="1">
              <a:lnSpc>
                <a:spcPct val="90000"/>
              </a:lnSpc>
              <a:spcBef>
                <a:spcPct val="60000"/>
              </a:spcBef>
            </a:pPr>
            <a:r>
              <a:rPr lang="en-US" altLang="zh-TW" sz="2000" dirty="0">
                <a:solidFill>
                  <a:srgbClr val="0000FF"/>
                </a:solidFill>
              </a:rPr>
              <a:t>Systems programs in C, C++, scripting languages like PERL, Python, shell scripts</a:t>
            </a:r>
          </a:p>
          <a:p>
            <a:pPr eaLnBrk="1" hangingPunct="1">
              <a:lnSpc>
                <a:spcPct val="90000"/>
              </a:lnSpc>
              <a:spcBef>
                <a:spcPct val="60000"/>
              </a:spcBef>
              <a:buFont typeface="Wingdings" panose="05000000000000000000" pitchFamily="2" charset="2"/>
              <a:buChar char="n"/>
            </a:pPr>
            <a:r>
              <a:rPr lang="en-US" altLang="zh-TW" sz="2400" dirty="0"/>
              <a:t>More high-level language easier to </a:t>
            </a:r>
            <a:r>
              <a:rPr lang="en-US" altLang="zh-TW" sz="2400" dirty="0">
                <a:solidFill>
                  <a:srgbClr val="FF0000"/>
                </a:solidFill>
              </a:rPr>
              <a:t>port</a:t>
            </a:r>
            <a:r>
              <a:rPr lang="en-US" altLang="zh-TW" sz="2400" dirty="0"/>
              <a:t> to other hardware</a:t>
            </a:r>
          </a:p>
          <a:p>
            <a:pPr lvl="1" eaLnBrk="1" hangingPunct="1">
              <a:lnSpc>
                <a:spcPct val="90000"/>
              </a:lnSpc>
              <a:spcBef>
                <a:spcPct val="60000"/>
              </a:spcBef>
            </a:pPr>
            <a:r>
              <a:rPr lang="en-US" altLang="zh-TW" sz="2000" dirty="0"/>
              <a:t>But slower</a:t>
            </a:r>
          </a:p>
          <a:p>
            <a:pPr eaLnBrk="1" hangingPunct="1">
              <a:lnSpc>
                <a:spcPct val="90000"/>
              </a:lnSpc>
              <a:spcBef>
                <a:spcPct val="60000"/>
              </a:spcBef>
              <a:buFont typeface="Wingdings" panose="05000000000000000000" pitchFamily="2" charset="2"/>
              <a:buChar char="n"/>
            </a:pPr>
            <a:r>
              <a:rPr lang="en-US" altLang="zh-TW" sz="2400" dirty="0">
                <a:solidFill>
                  <a:srgbClr val="FF0000"/>
                </a:solidFill>
              </a:rPr>
              <a:t>Emulation</a:t>
            </a:r>
            <a:r>
              <a:rPr lang="en-US" altLang="zh-TW" sz="2400" dirty="0">
                <a:solidFill>
                  <a:srgbClr val="0000FF"/>
                </a:solidFill>
              </a:rPr>
              <a:t> can allow an OS to run on non-native </a:t>
            </a:r>
            <a:r>
              <a:rPr lang="en-US" altLang="zh-TW" sz="2400" dirty="0" smtClean="0">
                <a:solidFill>
                  <a:srgbClr val="0000FF"/>
                </a:solidFill>
              </a:rPr>
              <a:t>hardware</a:t>
            </a:r>
            <a:endParaRPr lang="en-US" altLang="zh-TW" sz="2800" dirty="0">
              <a:solidFill>
                <a:srgbClr val="0000FF"/>
              </a:solidFill>
            </a:endParaRPr>
          </a:p>
          <a:p>
            <a:pPr eaLnBrk="1" hangingPunct="1">
              <a:lnSpc>
                <a:spcPct val="90000"/>
              </a:lnSpc>
              <a:spcBef>
                <a:spcPct val="60000"/>
              </a:spcBef>
            </a:pPr>
            <a:endParaRPr lang="en-US" altLang="zh-TW" dirty="0" smtClean="0"/>
          </a:p>
        </p:txBody>
      </p:sp>
    </p:spTree>
    <p:extLst>
      <p:ext uri="{BB962C8B-B14F-4D97-AF65-F5344CB8AC3E}">
        <p14:creationId xmlns:p14="http://schemas.microsoft.com/office/powerpoint/2010/main" val="756039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4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74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74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623888" y="211138"/>
            <a:ext cx="7772400" cy="598487"/>
          </a:xfrm>
        </p:spPr>
        <p:txBody>
          <a:bodyPr/>
          <a:lstStyle/>
          <a:p>
            <a:pPr eaLnBrk="1" hangingPunct="1"/>
            <a:r>
              <a:rPr lang="en-US" altLang="zh-TW" sz="4000" dirty="0" err="1"/>
              <a:t>DTrace</a:t>
            </a:r>
            <a:r>
              <a:rPr lang="en-US" altLang="zh-TW" sz="4000" dirty="0"/>
              <a:t> </a:t>
            </a:r>
            <a:r>
              <a:rPr lang="en-US" altLang="zh-TW" sz="4000" dirty="0" smtClean="0"/>
              <a:t>Tool</a:t>
            </a:r>
          </a:p>
        </p:txBody>
      </p:sp>
      <p:sp>
        <p:nvSpPr>
          <p:cNvPr id="27651" name="Content Placeholder 2" descr="Rectangle: Click to edit Master text styles&#10;Second level&#10;Third level&#10;Fourth level&#10;Fifth level"/>
          <p:cNvSpPr>
            <a:spLocks noGrp="1"/>
          </p:cNvSpPr>
          <p:nvPr>
            <p:ph idx="4294967295"/>
          </p:nvPr>
        </p:nvSpPr>
        <p:spPr>
          <a:xfrm>
            <a:off x="282575" y="930275"/>
            <a:ext cx="4289425" cy="5419154"/>
          </a:xfrm>
        </p:spPr>
        <p:txBody>
          <a:bodyPr/>
          <a:lstStyle/>
          <a:p>
            <a:pPr>
              <a:spcBef>
                <a:spcPct val="60000"/>
              </a:spcBef>
            </a:pPr>
            <a:r>
              <a:rPr lang="en-US" altLang="zh-TW" sz="2400" dirty="0" err="1"/>
              <a:t>DTrace</a:t>
            </a:r>
            <a:r>
              <a:rPr lang="en-US" altLang="zh-TW" sz="2400" dirty="0"/>
              <a:t> tool in Solaris, FreeBSD, Mac OS X allows </a:t>
            </a:r>
            <a:r>
              <a:rPr lang="en-US" altLang="zh-TW" sz="2400" dirty="0">
                <a:solidFill>
                  <a:srgbClr val="0000FF"/>
                </a:solidFill>
              </a:rPr>
              <a:t>live instrumentation </a:t>
            </a:r>
            <a:r>
              <a:rPr lang="en-US" altLang="zh-TW" sz="2400" dirty="0"/>
              <a:t>on production systems</a:t>
            </a:r>
          </a:p>
          <a:p>
            <a:pPr>
              <a:spcBef>
                <a:spcPct val="60000"/>
              </a:spcBef>
            </a:pPr>
            <a:r>
              <a:rPr lang="en-US" altLang="zh-TW" sz="2400" dirty="0">
                <a:solidFill>
                  <a:srgbClr val="0000FF"/>
                </a:solidFill>
              </a:rPr>
              <a:t>Probes</a:t>
            </a:r>
            <a:r>
              <a:rPr lang="en-US" altLang="zh-TW" sz="2400" dirty="0"/>
              <a:t> fire when code is executed within a provider, capturing state data and sending it to consumers of those probes </a:t>
            </a:r>
            <a:endParaRPr lang="en-US" altLang="zh-TW" sz="2400" dirty="0" smtClean="0"/>
          </a:p>
          <a:p>
            <a:pPr>
              <a:spcBef>
                <a:spcPct val="60000"/>
              </a:spcBef>
            </a:pPr>
            <a:r>
              <a:rPr lang="en-US" altLang="zh-TW" sz="2400" dirty="0" smtClean="0"/>
              <a:t>Example </a:t>
            </a:r>
            <a:r>
              <a:rPr lang="en-US" altLang="zh-TW" sz="2400" dirty="0"/>
              <a:t>of following </a:t>
            </a:r>
            <a:r>
              <a:rPr lang="en-US" altLang="zh-TW" sz="2400" dirty="0" err="1"/>
              <a:t>XEventsQueued</a:t>
            </a:r>
            <a:r>
              <a:rPr lang="en-US" altLang="zh-TW" sz="2400" dirty="0"/>
              <a:t> system call move from </a:t>
            </a:r>
            <a:r>
              <a:rPr lang="en-US" altLang="zh-TW" sz="2400" dirty="0" err="1"/>
              <a:t>libc</a:t>
            </a:r>
            <a:r>
              <a:rPr lang="en-US" altLang="zh-TW" sz="2400" dirty="0"/>
              <a:t> library to kernel and back</a:t>
            </a:r>
          </a:p>
        </p:txBody>
      </p:sp>
      <p:sp>
        <p:nvSpPr>
          <p:cNvPr id="4" name="日期版面配置區 3"/>
          <p:cNvSpPr txBox="1">
            <a:spLocks/>
          </p:cNvSpPr>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eaLnBrk="1" hangingPunct="1">
              <a:spcBef>
                <a:spcPct val="0"/>
              </a:spcBef>
              <a:buClrTx/>
              <a:buSzTx/>
              <a:buFontTx/>
              <a:buNone/>
            </a:pPr>
            <a:fld id="{1707689C-1A0B-4B34-B638-93806064C314}" type="datetime1">
              <a:rPr kumimoji="0" lang="zh-TW" altLang="en-US" sz="1400" smtClean="0"/>
              <a:pPr eaLnBrk="1" hangingPunct="1">
                <a:spcBef>
                  <a:spcPct val="0"/>
                </a:spcBef>
                <a:buClrTx/>
                <a:buSzTx/>
                <a:buFontTx/>
                <a:buNone/>
              </a:pPr>
              <a:t>2018/3/5</a:t>
            </a:fld>
            <a:endParaRPr kumimoji="0" lang="en-US" altLang="zh-TW" sz="1400"/>
          </a:p>
        </p:txBody>
      </p:sp>
      <p:sp>
        <p:nvSpPr>
          <p:cNvPr id="5" name="投影片編號版面配置區 5"/>
          <p:cNvSpPr txBox="1">
            <a:spLocks/>
          </p:cNvSpPr>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defPPr>
              <a:defRPr lang="en-US"/>
            </a:defPPr>
            <a:lvl1pPr algn="l" rtl="0" eaLnBrk="0" fontAlgn="base" hangingPunct="0">
              <a:spcBef>
                <a:spcPct val="20000"/>
              </a:spcBef>
              <a:spcAft>
                <a:spcPct val="0"/>
              </a:spcAft>
              <a:buClr>
                <a:schemeClr val="hlink"/>
              </a:buClr>
              <a:buSzPct val="110000"/>
              <a:buFont typeface="Wingdings" pitchFamily="2" charset="2"/>
              <a:buBlip>
                <a:blip r:embed="rId3"/>
              </a:buBlip>
              <a:defRPr kumimoji="1" sz="3200" kern="1200">
                <a:solidFill>
                  <a:schemeClr val="tx1"/>
                </a:solidFill>
                <a:latin typeface="Tahoma" pitchFamily="34" charset="0"/>
                <a:ea typeface="新細明體" pitchFamily="18" charset="-120"/>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kern="1200">
                <a:solidFill>
                  <a:schemeClr val="tx1"/>
                </a:solidFill>
                <a:latin typeface="Tahoma" pitchFamily="34" charset="0"/>
                <a:ea typeface="新細明體" pitchFamily="18" charset="-120"/>
                <a:cs typeface="+mn-cs"/>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kern="1200">
                <a:solidFill>
                  <a:schemeClr val="tx1"/>
                </a:solidFill>
                <a:latin typeface="Tahoma" pitchFamily="34" charset="0"/>
                <a:ea typeface="新細明體" pitchFamily="18" charset="-120"/>
                <a:cs typeface="+mn-cs"/>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kern="1200">
                <a:solidFill>
                  <a:schemeClr val="tx1"/>
                </a:solidFill>
                <a:latin typeface="Tahoma" pitchFamily="34" charset="0"/>
                <a:ea typeface="新細明體" pitchFamily="18" charset="-120"/>
                <a:cs typeface="+mn-cs"/>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5pPr>
            <a:lvl6pPr marL="25146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6pPr>
            <a:lvl7pPr marL="29718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7pPr>
            <a:lvl8pPr marL="34290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8pPr>
            <a:lvl9pPr marL="3886200" indent="-228600" algn="l" defTabSz="914400" rtl="0" eaLnBrk="0" fontAlgn="base" latinLnBrk="0" hangingPunct="0">
              <a:spcBef>
                <a:spcPct val="20000"/>
              </a:spcBef>
              <a:spcAft>
                <a:spcPct val="0"/>
              </a:spcAft>
              <a:buClr>
                <a:schemeClr val="hlink"/>
              </a:buClr>
              <a:buSzPct val="60000"/>
              <a:buFont typeface="Wingdings" pitchFamily="2" charset="2"/>
              <a:buChar char="n"/>
              <a:defRPr kumimoji="1" sz="2000" kern="1200">
                <a:solidFill>
                  <a:schemeClr val="tx1"/>
                </a:solidFill>
                <a:latin typeface="Tahoma" pitchFamily="34" charset="0"/>
                <a:ea typeface="新細明體" pitchFamily="18" charset="-120"/>
                <a:cs typeface="+mn-cs"/>
              </a:defRPr>
            </a:lvl9pPr>
          </a:lstStyle>
          <a:p>
            <a:pPr algn="r" eaLnBrk="1" hangingPunct="1">
              <a:spcBef>
                <a:spcPct val="0"/>
              </a:spcBef>
              <a:buClrTx/>
              <a:buSzTx/>
              <a:buFontTx/>
              <a:buNone/>
            </a:pPr>
            <a:fld id="{81D26609-987E-43D4-BB3C-8E5BFD56F042}" type="slidenum">
              <a:rPr kumimoji="0" lang="zh-TW" altLang="en-US" sz="1400" smtClean="0"/>
              <a:pPr algn="r" eaLnBrk="1" hangingPunct="1">
                <a:spcBef>
                  <a:spcPct val="0"/>
                </a:spcBef>
                <a:buClrTx/>
                <a:buSzTx/>
                <a:buFontTx/>
                <a:buNone/>
              </a:pPr>
              <a:t>67</a:t>
            </a:fld>
            <a:endParaRPr kumimoji="0" lang="en-US" altLang="zh-TW" sz="1400"/>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l="19221" t="1375" r="19221" b="2376"/>
          <a:stretch>
            <a:fillRect/>
          </a:stretch>
        </p:blipFill>
        <p:spPr bwMode="auto">
          <a:xfrm>
            <a:off x="4590819" y="1014413"/>
            <a:ext cx="4294187" cy="5033962"/>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0228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BBA2959F-0374-47A1-9641-EAE4C46F609A}"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68</a:t>
            </a:fld>
            <a:endParaRPr kumimoji="0" lang="en-US" altLang="zh-TW" sz="1400"/>
          </a:p>
        </p:txBody>
      </p:sp>
      <p:sp>
        <p:nvSpPr>
          <p:cNvPr id="54274" name="Rectangle 2"/>
          <p:cNvSpPr>
            <a:spLocks noGrp="1" noChangeArrowheads="1"/>
          </p:cNvSpPr>
          <p:nvPr>
            <p:ph type="title"/>
          </p:nvPr>
        </p:nvSpPr>
        <p:spPr>
          <a:xfrm>
            <a:off x="384228" y="81280"/>
            <a:ext cx="7772400" cy="828197"/>
          </a:xfrm>
        </p:spPr>
        <p:txBody>
          <a:bodyPr/>
          <a:lstStyle/>
          <a:p>
            <a:pPr eaLnBrk="1" hangingPunct="1">
              <a:defRPr/>
            </a:pPr>
            <a:r>
              <a:rPr lang="en-US" altLang="zh-TW" sz="2800" b="1" dirty="0">
                <a:solidFill>
                  <a:schemeClr val="tx1"/>
                </a:solidFill>
                <a:latin typeface="Adobe Gothic Std B" pitchFamily="34" charset="-128"/>
                <a:ea typeface="Adobe Gothic Std B" pitchFamily="34" charset="-128"/>
              </a:rPr>
              <a:t>How does Linux kernel compare to microkernel architectures</a:t>
            </a:r>
            <a:r>
              <a:rPr lang="en-US" altLang="zh-TW" sz="2800" b="1" dirty="0" smtClean="0">
                <a:solidFill>
                  <a:schemeClr val="tx1"/>
                </a:solidFill>
                <a:latin typeface="Adobe Gothic Std B" pitchFamily="34" charset="-128"/>
                <a:ea typeface="Adobe Gothic Std B" pitchFamily="34" charset="-128"/>
              </a:rPr>
              <a:t>?         Rahul </a:t>
            </a:r>
            <a:r>
              <a:rPr lang="en-US" altLang="zh-TW" sz="2800" b="1" dirty="0" err="1">
                <a:solidFill>
                  <a:schemeClr val="tx1"/>
                </a:solidFill>
                <a:latin typeface="Adobe Gothic Std B" pitchFamily="34" charset="-128"/>
                <a:ea typeface="Adobe Gothic Std B" pitchFamily="34" charset="-128"/>
              </a:rPr>
              <a:t>Bhadana</a:t>
            </a:r>
            <a:endParaRPr lang="en-US" altLang="zh-TW" sz="2800" b="1" dirty="0">
              <a:solidFill>
                <a:schemeClr val="tx1"/>
              </a:solidFill>
              <a:latin typeface="Adobe Gothic Std B" pitchFamily="34" charset="-128"/>
              <a:ea typeface="Adobe Gothic Std B" pitchFamily="34" charset="-128"/>
            </a:endParaRPr>
          </a:p>
        </p:txBody>
      </p:sp>
      <p:sp>
        <p:nvSpPr>
          <p:cNvPr id="31749" name="Rectangle 3" descr="Rectangle: Click to edit Master text styles&#10;Second level&#10;Third level&#10;Fourth level&#10;Fifth level"/>
          <p:cNvSpPr>
            <a:spLocks noGrp="1" noChangeArrowheads="1"/>
          </p:cNvSpPr>
          <p:nvPr>
            <p:ph type="body" idx="1"/>
          </p:nvPr>
        </p:nvSpPr>
        <p:spPr>
          <a:xfrm>
            <a:off x="227171" y="711429"/>
            <a:ext cx="8414535" cy="5311738"/>
          </a:xfrm>
        </p:spPr>
        <p:txBody>
          <a:bodyPr/>
          <a:lstStyle/>
          <a:p>
            <a:pPr eaLnBrk="1" hangingPunct="1">
              <a:lnSpc>
                <a:spcPct val="90000"/>
              </a:lnSpc>
              <a:spcBef>
                <a:spcPct val="60000"/>
              </a:spcBef>
            </a:pPr>
            <a:r>
              <a:rPr lang="en-US" altLang="zh-TW" sz="2400" dirty="0"/>
              <a:t>Monolithic kernel is much older than Microkernel. It’s used in </a:t>
            </a:r>
            <a:r>
              <a:rPr lang="en-US" altLang="zh-TW" sz="2400" dirty="0" smtClean="0"/>
              <a:t>Unix. </a:t>
            </a:r>
            <a:r>
              <a:rPr lang="en-US" altLang="zh-TW" sz="2400" dirty="0"/>
              <a:t>while Idea of microkernel appeared at the end of the 1980's</a:t>
            </a:r>
            <a:r>
              <a:rPr lang="en-US" altLang="zh-TW" sz="2400" dirty="0" smtClean="0"/>
              <a:t>.</a:t>
            </a:r>
            <a:endParaRPr lang="en-US" altLang="zh-TW" sz="2400" dirty="0"/>
          </a:p>
          <a:p>
            <a:pPr eaLnBrk="1" hangingPunct="1">
              <a:lnSpc>
                <a:spcPct val="90000"/>
              </a:lnSpc>
              <a:spcBef>
                <a:spcPct val="60000"/>
              </a:spcBef>
            </a:pPr>
            <a:r>
              <a:rPr lang="en-US" altLang="zh-TW" sz="2400" dirty="0"/>
              <a:t>the example of </a:t>
            </a:r>
            <a:r>
              <a:rPr lang="en-US" altLang="zh-TW" sz="2400" dirty="0" err="1"/>
              <a:t>os</a:t>
            </a:r>
            <a:r>
              <a:rPr lang="en-US" altLang="zh-TW" sz="2400" dirty="0"/>
              <a:t> having the Monolithic kernels are </a:t>
            </a:r>
            <a:r>
              <a:rPr lang="en-US" altLang="zh-TW" sz="2400" dirty="0" smtClean="0"/>
              <a:t>UNIX, </a:t>
            </a:r>
            <a:r>
              <a:rPr lang="en-US" altLang="zh-TW" sz="2400" dirty="0"/>
              <a:t>LINUX while the </a:t>
            </a:r>
            <a:r>
              <a:rPr lang="en-US" altLang="zh-TW" sz="2400" dirty="0" err="1"/>
              <a:t>os</a:t>
            </a:r>
            <a:r>
              <a:rPr lang="en-US" altLang="zh-TW" sz="2400" dirty="0"/>
              <a:t> having Microkernel are </a:t>
            </a:r>
            <a:r>
              <a:rPr lang="en-US" altLang="zh-TW" sz="2400" dirty="0" smtClean="0"/>
              <a:t>QNX, L4, HURD, </a:t>
            </a:r>
            <a:r>
              <a:rPr lang="en-US" altLang="zh-TW" sz="2400" dirty="0"/>
              <a:t>initially Mach (not mac </a:t>
            </a:r>
            <a:r>
              <a:rPr lang="en-US" altLang="zh-TW" sz="2400" dirty="0" err="1"/>
              <a:t>os</a:t>
            </a:r>
            <a:r>
              <a:rPr lang="en-US" altLang="zh-TW" sz="2400" dirty="0"/>
              <a:t> x) later it will converted into hybrid </a:t>
            </a:r>
            <a:r>
              <a:rPr lang="en-US" altLang="zh-TW" sz="2400" dirty="0" smtClean="0"/>
              <a:t>kernel, </a:t>
            </a:r>
            <a:r>
              <a:rPr lang="en-US" altLang="zh-TW" sz="2400" dirty="0"/>
              <a:t>even MINIX is not pure kernel because device driver are compiled as part of the </a:t>
            </a:r>
            <a:r>
              <a:rPr lang="en-US" altLang="zh-TW" sz="2400" dirty="0" smtClean="0"/>
              <a:t>kernel.</a:t>
            </a:r>
            <a:endParaRPr lang="en-US" altLang="zh-TW" sz="2400" dirty="0"/>
          </a:p>
          <a:p>
            <a:pPr eaLnBrk="1" hangingPunct="1">
              <a:lnSpc>
                <a:spcPct val="90000"/>
              </a:lnSpc>
              <a:spcBef>
                <a:spcPct val="60000"/>
              </a:spcBef>
            </a:pPr>
            <a:r>
              <a:rPr lang="en-US" altLang="zh-TW" sz="2400" dirty="0">
                <a:solidFill>
                  <a:srgbClr val="0000FF"/>
                </a:solidFill>
              </a:rPr>
              <a:t>Monolithic kernel are faster than </a:t>
            </a:r>
            <a:r>
              <a:rPr lang="en-US" altLang="zh-TW" sz="2400" dirty="0" smtClean="0">
                <a:solidFill>
                  <a:srgbClr val="0000FF"/>
                </a:solidFill>
              </a:rPr>
              <a:t>microkernel</a:t>
            </a:r>
            <a:r>
              <a:rPr lang="en-US" altLang="zh-TW" sz="2400" dirty="0" smtClean="0"/>
              <a:t>. </a:t>
            </a:r>
            <a:r>
              <a:rPr lang="en-US" altLang="zh-TW" sz="2400" dirty="0"/>
              <a:t>while The first microkernel Mach is 50% slower than Monolithic kernel while later version like </a:t>
            </a:r>
            <a:r>
              <a:rPr lang="en-US" altLang="zh-TW" sz="2400" dirty="0">
                <a:solidFill>
                  <a:srgbClr val="0000FF"/>
                </a:solidFill>
              </a:rPr>
              <a:t>L4 only 2% or 4% slower than the Monolithic </a:t>
            </a:r>
            <a:r>
              <a:rPr lang="en-US" altLang="zh-TW" sz="2400" dirty="0" smtClean="0">
                <a:solidFill>
                  <a:srgbClr val="0000FF"/>
                </a:solidFill>
              </a:rPr>
              <a:t>kernel</a:t>
            </a:r>
            <a:r>
              <a:rPr lang="en-US" altLang="zh-TW" sz="2400" dirty="0" smtClean="0"/>
              <a:t>.</a:t>
            </a:r>
            <a:endParaRPr lang="en-US" altLang="zh-TW" sz="2400" dirty="0"/>
          </a:p>
          <a:p>
            <a:pPr eaLnBrk="1" hangingPunct="1">
              <a:lnSpc>
                <a:spcPct val="90000"/>
              </a:lnSpc>
              <a:spcBef>
                <a:spcPct val="60000"/>
              </a:spcBef>
            </a:pPr>
            <a:r>
              <a:rPr lang="en-US" altLang="zh-TW" sz="2400" dirty="0"/>
              <a:t>Monolithic kernel generally are </a:t>
            </a:r>
            <a:r>
              <a:rPr lang="en-US" altLang="zh-TW" sz="2400" dirty="0" smtClean="0"/>
              <a:t>bulky. </a:t>
            </a:r>
            <a:r>
              <a:rPr lang="en-US" altLang="zh-TW" sz="2400" dirty="0"/>
              <a:t>while Pure monolithic kernel has to be small in size even fit in s into processor first level cache (first generation microkernel</a:t>
            </a:r>
            <a:r>
              <a:rPr lang="en-US" altLang="zh-TW" sz="2400" dirty="0" smtClean="0"/>
              <a:t>).</a:t>
            </a:r>
            <a:endParaRPr lang="en-US" altLang="zh-TW" sz="2400" dirty="0"/>
          </a:p>
        </p:txBody>
      </p:sp>
    </p:spTree>
    <p:extLst>
      <p:ext uri="{BB962C8B-B14F-4D97-AF65-F5344CB8AC3E}">
        <p14:creationId xmlns:p14="http://schemas.microsoft.com/office/powerpoint/2010/main" val="31365869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E8BE8580-D608-4CB7-BCE2-A4BEDF30DB77}"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69</a:t>
            </a:fld>
            <a:endParaRPr kumimoji="0" lang="en-US" altLang="zh-TW" sz="1400"/>
          </a:p>
        </p:txBody>
      </p:sp>
      <p:sp>
        <p:nvSpPr>
          <p:cNvPr id="31749" name="Rectangle 3" descr="Rectangle: Click to edit Master text styles&#10;Second level&#10;Third level&#10;Fourth level&#10;Fifth level"/>
          <p:cNvSpPr>
            <a:spLocks noGrp="1" noChangeArrowheads="1"/>
          </p:cNvSpPr>
          <p:nvPr>
            <p:ph type="body" idx="1"/>
          </p:nvPr>
        </p:nvSpPr>
        <p:spPr>
          <a:xfrm>
            <a:off x="328771" y="934949"/>
            <a:ext cx="8414535" cy="5311738"/>
          </a:xfrm>
        </p:spPr>
        <p:txBody>
          <a:bodyPr/>
          <a:lstStyle/>
          <a:p>
            <a:pPr eaLnBrk="1" hangingPunct="1">
              <a:lnSpc>
                <a:spcPct val="90000"/>
              </a:lnSpc>
              <a:spcBef>
                <a:spcPct val="60000"/>
              </a:spcBef>
            </a:pPr>
            <a:r>
              <a:rPr lang="en-US" altLang="zh-TW" sz="2400" dirty="0"/>
              <a:t>I</a:t>
            </a:r>
            <a:r>
              <a:rPr lang="en-US" altLang="zh-TW" sz="2400" dirty="0" smtClean="0"/>
              <a:t>n </a:t>
            </a:r>
            <a:r>
              <a:rPr lang="en-US" altLang="zh-TW" sz="2400" dirty="0"/>
              <a:t>the Monolithic kernel </a:t>
            </a:r>
            <a:r>
              <a:rPr lang="en-US" altLang="zh-TW" sz="2400" dirty="0">
                <a:solidFill>
                  <a:srgbClr val="0000FF"/>
                </a:solidFill>
              </a:rPr>
              <a:t>device driver reside in the kernel </a:t>
            </a:r>
            <a:r>
              <a:rPr lang="en-US" altLang="zh-TW" sz="2400" dirty="0" smtClean="0">
                <a:solidFill>
                  <a:srgbClr val="0000FF"/>
                </a:solidFill>
              </a:rPr>
              <a:t>space</a:t>
            </a:r>
            <a:r>
              <a:rPr lang="en-US" altLang="zh-TW" sz="2400" dirty="0" smtClean="0"/>
              <a:t>. </a:t>
            </a:r>
            <a:r>
              <a:rPr lang="en-US" altLang="zh-TW" sz="2400" dirty="0"/>
              <a:t>while </a:t>
            </a:r>
            <a:r>
              <a:rPr lang="en-US" altLang="zh-TW" sz="2400" dirty="0" smtClean="0"/>
              <a:t>in </a:t>
            </a:r>
            <a:r>
              <a:rPr lang="en-US" altLang="zh-TW" sz="2400" dirty="0"/>
              <a:t>the </a:t>
            </a:r>
            <a:r>
              <a:rPr lang="en-US" altLang="zh-TW" sz="2400" dirty="0">
                <a:solidFill>
                  <a:srgbClr val="FF0000"/>
                </a:solidFill>
              </a:rPr>
              <a:t>Microkernel device driver reside in the user space</a:t>
            </a:r>
            <a:r>
              <a:rPr lang="en-US" altLang="zh-TW" sz="2400" dirty="0"/>
              <a:t>.</a:t>
            </a:r>
          </a:p>
          <a:p>
            <a:pPr eaLnBrk="1" hangingPunct="1">
              <a:lnSpc>
                <a:spcPct val="90000"/>
              </a:lnSpc>
              <a:spcBef>
                <a:spcPct val="60000"/>
              </a:spcBef>
            </a:pPr>
            <a:r>
              <a:rPr lang="en-US" altLang="zh-TW" sz="2400" dirty="0"/>
              <a:t>S</a:t>
            </a:r>
            <a:r>
              <a:rPr lang="en-US" altLang="zh-TW" sz="2400" dirty="0" smtClean="0"/>
              <a:t>ince </a:t>
            </a:r>
            <a:r>
              <a:rPr lang="en-US" altLang="zh-TW" sz="2400" dirty="0"/>
              <a:t>the device driver reside in the kernel space it make monolithic kernel </a:t>
            </a:r>
            <a:r>
              <a:rPr lang="en-US" altLang="zh-TW" sz="2400" dirty="0">
                <a:solidFill>
                  <a:srgbClr val="FF0000"/>
                </a:solidFill>
              </a:rPr>
              <a:t>less secure than </a:t>
            </a:r>
            <a:r>
              <a:rPr lang="en-US" altLang="zh-TW" sz="2400" dirty="0" smtClean="0">
                <a:solidFill>
                  <a:srgbClr val="FF0000"/>
                </a:solidFill>
              </a:rPr>
              <a:t>microkernel</a:t>
            </a:r>
            <a:r>
              <a:rPr lang="en-US" altLang="zh-TW" sz="2400" dirty="0" smtClean="0"/>
              <a:t>. </a:t>
            </a:r>
            <a:r>
              <a:rPr lang="en-US" altLang="zh-TW" sz="2400" dirty="0"/>
              <a:t>(Failure in the driver may lead to crash) while Microkernels are more secure than the monolithic kernel hence used in some military devices.</a:t>
            </a:r>
          </a:p>
          <a:p>
            <a:pPr eaLnBrk="1" hangingPunct="1">
              <a:lnSpc>
                <a:spcPct val="90000"/>
              </a:lnSpc>
              <a:spcBef>
                <a:spcPct val="60000"/>
              </a:spcBef>
            </a:pPr>
            <a:r>
              <a:rPr lang="en-US" altLang="zh-TW" sz="2400" dirty="0" smtClean="0">
                <a:solidFill>
                  <a:srgbClr val="0000FF"/>
                </a:solidFill>
              </a:rPr>
              <a:t>Monolithic </a:t>
            </a:r>
            <a:r>
              <a:rPr lang="en-US" altLang="zh-TW" sz="2400" dirty="0">
                <a:solidFill>
                  <a:srgbClr val="0000FF"/>
                </a:solidFill>
              </a:rPr>
              <a:t>kernels use signals and sockets to ensure IPC</a:t>
            </a:r>
            <a:r>
              <a:rPr lang="en-US" altLang="zh-TW" sz="2400" dirty="0"/>
              <a:t> while </a:t>
            </a:r>
            <a:r>
              <a:rPr lang="en-US" altLang="zh-TW" sz="2400" dirty="0">
                <a:solidFill>
                  <a:srgbClr val="FF0000"/>
                </a:solidFill>
              </a:rPr>
              <a:t>microkernel approach uses message </a:t>
            </a:r>
            <a:r>
              <a:rPr lang="en-US" altLang="zh-TW" sz="2400" dirty="0" smtClean="0">
                <a:solidFill>
                  <a:srgbClr val="FF0000"/>
                </a:solidFill>
              </a:rPr>
              <a:t>queues</a:t>
            </a:r>
            <a:r>
              <a:rPr lang="en-US" altLang="zh-TW" sz="2400" dirty="0" smtClean="0"/>
              <a:t>. </a:t>
            </a:r>
            <a:r>
              <a:rPr lang="en-US" altLang="zh-TW" sz="2400" dirty="0"/>
              <a:t>1 gen of microkernel poorly implemented IPC so were </a:t>
            </a:r>
            <a:r>
              <a:rPr lang="en-US" altLang="zh-TW" sz="2400" dirty="0">
                <a:solidFill>
                  <a:srgbClr val="C72F05"/>
                </a:solidFill>
              </a:rPr>
              <a:t>slow on context switches</a:t>
            </a:r>
            <a:r>
              <a:rPr lang="en-US" altLang="zh-TW" sz="2400" dirty="0"/>
              <a:t>.</a:t>
            </a:r>
          </a:p>
          <a:p>
            <a:pPr eaLnBrk="1" hangingPunct="1">
              <a:lnSpc>
                <a:spcPct val="90000"/>
              </a:lnSpc>
              <a:spcBef>
                <a:spcPct val="60000"/>
              </a:spcBef>
            </a:pPr>
            <a:r>
              <a:rPr lang="en-US" altLang="zh-TW" sz="2400" dirty="0" smtClean="0"/>
              <a:t>adding </a:t>
            </a:r>
            <a:r>
              <a:rPr lang="en-US" altLang="zh-TW" sz="2400" dirty="0"/>
              <a:t>new feature to a monolithic system means recompiling the whole kernel while </a:t>
            </a:r>
            <a:r>
              <a:rPr lang="en-US" altLang="zh-TW" sz="2400" dirty="0" smtClean="0"/>
              <a:t>you </a:t>
            </a:r>
            <a:r>
              <a:rPr lang="en-US" altLang="zh-TW" sz="2400" dirty="0"/>
              <a:t>can add new feature or patches without recompiling.</a:t>
            </a:r>
            <a:endParaRPr lang="en-US" altLang="zh-TW" sz="2400" dirty="0" smtClean="0"/>
          </a:p>
        </p:txBody>
      </p:sp>
      <p:sp>
        <p:nvSpPr>
          <p:cNvPr id="7" name="Rectangle 2"/>
          <p:cNvSpPr>
            <a:spLocks noGrp="1" noChangeArrowheads="1"/>
          </p:cNvSpPr>
          <p:nvPr>
            <p:ph type="title"/>
          </p:nvPr>
        </p:nvSpPr>
        <p:spPr>
          <a:xfrm>
            <a:off x="384228" y="81280"/>
            <a:ext cx="7772400" cy="828197"/>
          </a:xfrm>
        </p:spPr>
        <p:txBody>
          <a:bodyPr/>
          <a:lstStyle/>
          <a:p>
            <a:pPr eaLnBrk="1" hangingPunct="1">
              <a:defRPr/>
            </a:pPr>
            <a:r>
              <a:rPr lang="en-US" altLang="zh-TW" sz="2800" b="1" dirty="0">
                <a:solidFill>
                  <a:schemeClr val="tx1"/>
                </a:solidFill>
                <a:latin typeface="Adobe Gothic Std B" pitchFamily="34" charset="-128"/>
                <a:ea typeface="Adobe Gothic Std B" pitchFamily="34" charset="-128"/>
              </a:rPr>
              <a:t>How does Linux kernel compare to microkernel architectures</a:t>
            </a:r>
            <a:r>
              <a:rPr lang="en-US" altLang="zh-TW" sz="2800" b="1" dirty="0" smtClean="0">
                <a:solidFill>
                  <a:schemeClr val="tx1"/>
                </a:solidFill>
                <a:latin typeface="Adobe Gothic Std B" pitchFamily="34" charset="-128"/>
                <a:ea typeface="Adobe Gothic Std B" pitchFamily="34" charset="-128"/>
              </a:rPr>
              <a:t>?         Rahul </a:t>
            </a:r>
            <a:r>
              <a:rPr lang="en-US" altLang="zh-TW" sz="2800" b="1" dirty="0" err="1">
                <a:solidFill>
                  <a:schemeClr val="tx1"/>
                </a:solidFill>
                <a:latin typeface="Adobe Gothic Std B" pitchFamily="34" charset="-128"/>
                <a:ea typeface="Adobe Gothic Std B" pitchFamily="34" charset="-128"/>
              </a:rPr>
              <a:t>Bhadana</a:t>
            </a:r>
            <a:endParaRPr lang="en-US" altLang="zh-TW" sz="2800" b="1" dirty="0">
              <a:solidFill>
                <a:schemeClr val="tx1"/>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23170253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BB29CC4C-4385-4918-9592-2045405F7846}"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70</a:t>
            </a:fld>
            <a:endParaRPr kumimoji="0" lang="en-US" altLang="zh-TW" sz="1400"/>
          </a:p>
        </p:txBody>
      </p:sp>
      <p:sp>
        <p:nvSpPr>
          <p:cNvPr id="31749" name="Rectangle 3" descr="Rectangle: Click to edit Master text styles&#10;Second level&#10;Third level&#10;Fourth level&#10;Fifth level"/>
          <p:cNvSpPr>
            <a:spLocks noGrp="1" noChangeArrowheads="1"/>
          </p:cNvSpPr>
          <p:nvPr>
            <p:ph type="body" idx="1"/>
          </p:nvPr>
        </p:nvSpPr>
        <p:spPr>
          <a:xfrm>
            <a:off x="328771" y="934949"/>
            <a:ext cx="8414535" cy="5311738"/>
          </a:xfrm>
        </p:spPr>
        <p:txBody>
          <a:bodyPr/>
          <a:lstStyle/>
          <a:p>
            <a:pPr eaLnBrk="1" hangingPunct="1">
              <a:lnSpc>
                <a:spcPct val="90000"/>
              </a:lnSpc>
              <a:spcBef>
                <a:spcPct val="60000"/>
              </a:spcBef>
            </a:pPr>
            <a:r>
              <a:rPr lang="en-US" altLang="zh-TW" sz="2400" dirty="0"/>
              <a:t>The terms monolithic </a:t>
            </a:r>
            <a:r>
              <a:rPr lang="en-US" altLang="zh-TW" sz="2400" dirty="0" smtClean="0"/>
              <a:t>kernel and </a:t>
            </a:r>
            <a:r>
              <a:rPr lang="en-US" altLang="zh-TW" sz="2400" dirty="0"/>
              <a:t>microkernel cannot be seriously compared as they describe different aspects of kernel design (structure vs. size</a:t>
            </a:r>
            <a:r>
              <a:rPr lang="en-US" altLang="zh-TW" sz="2400" dirty="0" smtClean="0"/>
              <a:t>).</a:t>
            </a:r>
            <a:endParaRPr lang="en-US" altLang="zh-TW" sz="2400" dirty="0"/>
          </a:p>
          <a:p>
            <a:pPr eaLnBrk="1" hangingPunct="1">
              <a:lnSpc>
                <a:spcPct val="90000"/>
              </a:lnSpc>
              <a:spcBef>
                <a:spcPct val="60000"/>
              </a:spcBef>
            </a:pPr>
            <a:r>
              <a:rPr lang="en-US" altLang="zh-TW" sz="2400" dirty="0"/>
              <a:t>A typical monolithic kernel was the SunOS-4.x kernel and Linux is still similar, as you manually configure the content of the basic kernel</a:t>
            </a:r>
            <a:r>
              <a:rPr lang="en-US" altLang="zh-TW" sz="2400" dirty="0" smtClean="0"/>
              <a:t>.</a:t>
            </a:r>
            <a:endParaRPr lang="en-US" altLang="zh-TW" sz="2400" dirty="0"/>
          </a:p>
          <a:p>
            <a:pPr eaLnBrk="1" hangingPunct="1">
              <a:lnSpc>
                <a:spcPct val="90000"/>
              </a:lnSpc>
              <a:spcBef>
                <a:spcPct val="60000"/>
              </a:spcBef>
            </a:pPr>
            <a:r>
              <a:rPr lang="en-US" altLang="zh-TW" sz="2400" dirty="0"/>
              <a:t>The </a:t>
            </a:r>
            <a:r>
              <a:rPr lang="en-US" altLang="zh-TW" sz="2400" dirty="0">
                <a:solidFill>
                  <a:srgbClr val="0000FF"/>
                </a:solidFill>
              </a:rPr>
              <a:t>Solaris kernel </a:t>
            </a:r>
            <a:r>
              <a:rPr lang="en-US" altLang="zh-TW" sz="2400" dirty="0"/>
              <a:t>(starting with 2.1 on 1992) </a:t>
            </a:r>
            <a:r>
              <a:rPr lang="en-US" altLang="zh-TW" sz="2400" dirty="0">
                <a:solidFill>
                  <a:srgbClr val="FF0000"/>
                </a:solidFill>
              </a:rPr>
              <a:t>cannot be called monolithic anymore as all drivers are loaded automatically on demand</a:t>
            </a:r>
            <a:r>
              <a:rPr lang="en-US" altLang="zh-TW" sz="2400" dirty="0"/>
              <a:t> and </a:t>
            </a:r>
            <a:r>
              <a:rPr lang="en-US" altLang="zh-TW" sz="2400" dirty="0">
                <a:solidFill>
                  <a:srgbClr val="FF0000"/>
                </a:solidFill>
              </a:rPr>
              <a:t>only a tiny part is loaded during the initial boot</a:t>
            </a:r>
            <a:r>
              <a:rPr lang="en-US" altLang="zh-TW" sz="2400" dirty="0" smtClean="0"/>
              <a:t>.</a:t>
            </a:r>
            <a:endParaRPr lang="en-US" altLang="zh-TW" sz="2400" dirty="0"/>
          </a:p>
          <a:p>
            <a:pPr eaLnBrk="1" hangingPunct="1">
              <a:lnSpc>
                <a:spcPct val="90000"/>
              </a:lnSpc>
              <a:spcBef>
                <a:spcPct val="60000"/>
              </a:spcBef>
            </a:pPr>
            <a:r>
              <a:rPr lang="en-US" altLang="zh-TW" sz="2400" dirty="0"/>
              <a:t>SunOS-4.x and Solaris (SunOS-5.x) and Linux are all single context implementations. Their entire code runs in a single MMU context</a:t>
            </a:r>
            <a:r>
              <a:rPr lang="en-US" altLang="zh-TW" sz="2400" dirty="0" smtClean="0"/>
              <a:t>.</a:t>
            </a:r>
            <a:endParaRPr lang="en-US" altLang="zh-TW" sz="2400" dirty="0"/>
          </a:p>
        </p:txBody>
      </p:sp>
      <p:sp>
        <p:nvSpPr>
          <p:cNvPr id="7" name="Rectangle 2"/>
          <p:cNvSpPr>
            <a:spLocks noGrp="1" noChangeArrowheads="1"/>
          </p:cNvSpPr>
          <p:nvPr>
            <p:ph type="title"/>
          </p:nvPr>
        </p:nvSpPr>
        <p:spPr>
          <a:xfrm>
            <a:off x="384228" y="81280"/>
            <a:ext cx="7772400" cy="828197"/>
          </a:xfrm>
        </p:spPr>
        <p:txBody>
          <a:bodyPr/>
          <a:lstStyle/>
          <a:p>
            <a:pPr eaLnBrk="1" hangingPunct="1">
              <a:defRPr/>
            </a:pPr>
            <a:r>
              <a:rPr lang="en-US" altLang="zh-TW" sz="2800" b="1" dirty="0">
                <a:solidFill>
                  <a:schemeClr val="tx1"/>
                </a:solidFill>
                <a:latin typeface="Adobe Gothic Std B" pitchFamily="34" charset="-128"/>
                <a:ea typeface="Adobe Gothic Std B" pitchFamily="34" charset="-128"/>
              </a:rPr>
              <a:t>How does Linux kernel compare to microkernel architectures? </a:t>
            </a:r>
            <a:r>
              <a:rPr lang="en-US" altLang="zh-TW" sz="2800" b="1" dirty="0" smtClean="0">
                <a:solidFill>
                  <a:schemeClr val="tx1"/>
                </a:solidFill>
                <a:latin typeface="Adobe Gothic Std B" pitchFamily="34" charset="-128"/>
                <a:ea typeface="Adobe Gothic Std B" pitchFamily="34" charset="-128"/>
              </a:rPr>
              <a:t>			</a:t>
            </a:r>
            <a:r>
              <a:rPr lang="en-US" altLang="zh-TW" sz="2800" b="1" dirty="0" err="1">
                <a:solidFill>
                  <a:schemeClr val="tx1"/>
                </a:solidFill>
                <a:latin typeface="Adobe Gothic Std B" pitchFamily="34" charset="-128"/>
                <a:ea typeface="Adobe Gothic Std B" pitchFamily="34" charset="-128"/>
              </a:rPr>
              <a:t>S</a:t>
            </a:r>
            <a:r>
              <a:rPr lang="en-US" altLang="zh-TW" sz="2800" b="1" dirty="0" err="1" smtClean="0">
                <a:solidFill>
                  <a:schemeClr val="tx1"/>
                </a:solidFill>
                <a:latin typeface="Adobe Gothic Std B" pitchFamily="34" charset="-128"/>
                <a:ea typeface="Adobe Gothic Std B" pitchFamily="34" charset="-128"/>
              </a:rPr>
              <a:t>chily</a:t>
            </a:r>
            <a:endParaRPr lang="en-US" altLang="zh-TW" sz="2800" b="1" dirty="0">
              <a:solidFill>
                <a:schemeClr val="tx1"/>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25040840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3"/>
          <p:cNvSpPr>
            <a:spLocks noGrp="1"/>
          </p:cNvSpPr>
          <p:nvPr>
            <p:ph type="dt" sz="quarter" idx="4294967295"/>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6D6BCF5-FCA0-4E6B-B0B5-D5CEEA8E61D5}" type="datetime1">
              <a:rPr kumimoji="0" lang="zh-TW" altLang="en-US" sz="1400" smtClean="0"/>
              <a:t>2018/3/5</a:t>
            </a:fld>
            <a:endParaRPr kumimoji="0" lang="en-US" altLang="zh-TW" sz="1400"/>
          </a:p>
        </p:txBody>
      </p:sp>
      <p:sp>
        <p:nvSpPr>
          <p:cNvPr id="31747" name="投影片編號版面配置區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algn="r" eaLnBrk="1" hangingPunct="1">
              <a:spcBef>
                <a:spcPct val="0"/>
              </a:spcBef>
              <a:buClrTx/>
              <a:buSzTx/>
              <a:buFontTx/>
              <a:buNone/>
            </a:pPr>
            <a:fld id="{570E7A76-A2BC-4E99-AA4B-584FFBE4D776}" type="slidenum">
              <a:rPr kumimoji="0" lang="zh-TW" altLang="en-US" sz="1400"/>
              <a:pPr algn="r" eaLnBrk="1" hangingPunct="1">
                <a:spcBef>
                  <a:spcPct val="0"/>
                </a:spcBef>
                <a:buClrTx/>
                <a:buSzTx/>
                <a:buFontTx/>
                <a:buNone/>
              </a:pPr>
              <a:t>71</a:t>
            </a:fld>
            <a:endParaRPr kumimoji="0" lang="en-US" altLang="zh-TW" sz="1400"/>
          </a:p>
        </p:txBody>
      </p:sp>
      <p:sp>
        <p:nvSpPr>
          <p:cNvPr id="31749" name="Rectangle 3" descr="Rectangle: Click to edit Master text styles&#10;Second level&#10;Third level&#10;Fourth level&#10;Fifth level"/>
          <p:cNvSpPr>
            <a:spLocks noGrp="1" noChangeArrowheads="1"/>
          </p:cNvSpPr>
          <p:nvPr>
            <p:ph type="body" idx="1"/>
          </p:nvPr>
        </p:nvSpPr>
        <p:spPr>
          <a:xfrm>
            <a:off x="328771" y="934949"/>
            <a:ext cx="8414535" cy="5311738"/>
          </a:xfrm>
        </p:spPr>
        <p:txBody>
          <a:bodyPr/>
          <a:lstStyle/>
          <a:p>
            <a:pPr eaLnBrk="1" hangingPunct="1">
              <a:lnSpc>
                <a:spcPct val="90000"/>
              </a:lnSpc>
              <a:spcBef>
                <a:spcPct val="60000"/>
              </a:spcBef>
            </a:pPr>
            <a:r>
              <a:rPr lang="en-US" altLang="zh-TW" sz="2400" dirty="0" smtClean="0">
                <a:solidFill>
                  <a:srgbClr val="FF0000"/>
                </a:solidFill>
              </a:rPr>
              <a:t>Mac </a:t>
            </a:r>
            <a:r>
              <a:rPr lang="en-US" altLang="zh-TW" sz="2400" dirty="0">
                <a:solidFill>
                  <a:srgbClr val="FF0000"/>
                </a:solidFill>
              </a:rPr>
              <a:t>OS X is based on Mach and runs as a multi context implementation </a:t>
            </a:r>
            <a:r>
              <a:rPr lang="en-US" altLang="zh-TW" sz="2400" dirty="0"/>
              <a:t>with several processes separated by MMU contexts. In this concept, </a:t>
            </a:r>
            <a:r>
              <a:rPr lang="en-US" altLang="zh-TW" sz="2400" dirty="0">
                <a:solidFill>
                  <a:srgbClr val="FF0000"/>
                </a:solidFill>
              </a:rPr>
              <a:t>drivers are in separate processes and separate MMU contexts</a:t>
            </a:r>
            <a:r>
              <a:rPr lang="en-US" altLang="zh-TW" sz="2400" dirty="0" smtClean="0"/>
              <a:t>.</a:t>
            </a:r>
            <a:endParaRPr lang="en-US" altLang="zh-TW" sz="2400" dirty="0"/>
          </a:p>
          <a:p>
            <a:pPr eaLnBrk="1" hangingPunct="1">
              <a:lnSpc>
                <a:spcPct val="90000"/>
              </a:lnSpc>
              <a:spcBef>
                <a:spcPct val="60000"/>
              </a:spcBef>
            </a:pPr>
            <a:r>
              <a:rPr lang="en-US" altLang="zh-TW" sz="2400" dirty="0"/>
              <a:t>Many people call Mac OS X a "microkernel system", but it may be that the basic kernel is not smaller than the basic kernel from Solaris</a:t>
            </a:r>
            <a:r>
              <a:rPr lang="en-US" altLang="zh-TW" sz="2400" dirty="0" smtClean="0"/>
              <a:t>.</a:t>
            </a:r>
            <a:endParaRPr lang="en-US" altLang="zh-TW" sz="2400" dirty="0"/>
          </a:p>
          <a:p>
            <a:pPr eaLnBrk="1" hangingPunct="1">
              <a:lnSpc>
                <a:spcPct val="90000"/>
              </a:lnSpc>
              <a:spcBef>
                <a:spcPct val="60000"/>
              </a:spcBef>
            </a:pPr>
            <a:r>
              <a:rPr lang="en-US" altLang="zh-TW" sz="2400" dirty="0"/>
              <a:t>So it seems that it would be better to talk about </a:t>
            </a:r>
            <a:r>
              <a:rPr lang="en-US" altLang="zh-TW" sz="2400" dirty="0">
                <a:solidFill>
                  <a:srgbClr val="FF0000"/>
                </a:solidFill>
              </a:rPr>
              <a:t>single context kernels vs. multi context kernels.</a:t>
            </a:r>
            <a:endParaRPr lang="en-US" altLang="zh-TW" sz="2400" dirty="0" smtClean="0">
              <a:solidFill>
                <a:srgbClr val="FF0000"/>
              </a:solidFill>
            </a:endParaRPr>
          </a:p>
        </p:txBody>
      </p:sp>
      <p:sp>
        <p:nvSpPr>
          <p:cNvPr id="7" name="Rectangle 2"/>
          <p:cNvSpPr>
            <a:spLocks noGrp="1" noChangeArrowheads="1"/>
          </p:cNvSpPr>
          <p:nvPr>
            <p:ph type="title"/>
          </p:nvPr>
        </p:nvSpPr>
        <p:spPr>
          <a:xfrm>
            <a:off x="384228" y="81280"/>
            <a:ext cx="7772400" cy="828197"/>
          </a:xfrm>
        </p:spPr>
        <p:txBody>
          <a:bodyPr/>
          <a:lstStyle/>
          <a:p>
            <a:pPr eaLnBrk="1" hangingPunct="1">
              <a:defRPr/>
            </a:pPr>
            <a:r>
              <a:rPr lang="en-US" altLang="zh-TW" sz="2800" b="1" dirty="0">
                <a:solidFill>
                  <a:schemeClr val="tx1"/>
                </a:solidFill>
                <a:latin typeface="Adobe Gothic Std B" pitchFamily="34" charset="-128"/>
                <a:ea typeface="Adobe Gothic Std B" pitchFamily="34" charset="-128"/>
              </a:rPr>
              <a:t>How does Linux kernel compare to microkernel architectures? </a:t>
            </a:r>
            <a:r>
              <a:rPr lang="en-US" altLang="zh-TW" sz="2800" b="1" dirty="0" smtClean="0">
                <a:solidFill>
                  <a:schemeClr val="tx1"/>
                </a:solidFill>
                <a:latin typeface="Adobe Gothic Std B" pitchFamily="34" charset="-128"/>
                <a:ea typeface="Adobe Gothic Std B" pitchFamily="34" charset="-128"/>
              </a:rPr>
              <a:t>			</a:t>
            </a:r>
            <a:r>
              <a:rPr lang="en-US" altLang="zh-TW" sz="2800" b="1" dirty="0" err="1">
                <a:solidFill>
                  <a:schemeClr val="tx1"/>
                </a:solidFill>
                <a:latin typeface="Adobe Gothic Std B" pitchFamily="34" charset="-128"/>
                <a:ea typeface="Adobe Gothic Std B" pitchFamily="34" charset="-128"/>
              </a:rPr>
              <a:t>S</a:t>
            </a:r>
            <a:r>
              <a:rPr lang="en-US" altLang="zh-TW" sz="2800" b="1" dirty="0" err="1" smtClean="0">
                <a:solidFill>
                  <a:schemeClr val="tx1"/>
                </a:solidFill>
                <a:latin typeface="Adobe Gothic Std B" pitchFamily="34" charset="-128"/>
                <a:ea typeface="Adobe Gothic Std B" pitchFamily="34" charset="-128"/>
              </a:rPr>
              <a:t>chily</a:t>
            </a:r>
            <a:endParaRPr lang="en-US" altLang="zh-TW" sz="2800" b="1" dirty="0">
              <a:solidFill>
                <a:schemeClr val="tx1"/>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4084542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5131</TotalTime>
  <Words>3853</Words>
  <Application>Microsoft Office PowerPoint</Application>
  <PresentationFormat>如螢幕大小 (4:3)</PresentationFormat>
  <Paragraphs>595</Paragraphs>
  <Slides>71</Slides>
  <Notes>69</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1</vt:i4>
      </vt:variant>
      <vt:variant>
        <vt:lpstr>投影片標題</vt:lpstr>
      </vt:variant>
      <vt:variant>
        <vt:i4>71</vt:i4>
      </vt:variant>
    </vt:vector>
  </HeadingPairs>
  <TitlesOfParts>
    <vt:vector size="83" baseType="lpstr">
      <vt:lpstr>Adobe Gothic Std B</vt:lpstr>
      <vt:lpstr>Monotype Sorts</vt:lpstr>
      <vt:lpstr>MS PGothic</vt:lpstr>
      <vt:lpstr>新細明體</vt:lpstr>
      <vt:lpstr>Helvetica</vt:lpstr>
      <vt:lpstr>Symbol</vt:lpstr>
      <vt:lpstr>Tahoma</vt:lpstr>
      <vt:lpstr>Times New Roman</vt:lpstr>
      <vt:lpstr>Webdings</vt:lpstr>
      <vt:lpstr>Wingdings</vt:lpstr>
      <vt:lpstr>Blueprint</vt:lpstr>
      <vt:lpstr>工作表</vt:lpstr>
      <vt:lpstr>Chapter 2   Operating-System Structures</vt:lpstr>
      <vt:lpstr>Outlines</vt:lpstr>
      <vt:lpstr>Objectives</vt:lpstr>
      <vt:lpstr>Operating System Services (1)</vt:lpstr>
      <vt:lpstr>Operating System Services (2)</vt:lpstr>
      <vt:lpstr>Operating System Services (3)</vt:lpstr>
      <vt:lpstr>Additional Operating System Functions</vt:lpstr>
      <vt:lpstr>User OS Interface – CLI (1)</vt:lpstr>
      <vt:lpstr>User OS Interface – GUI (2)</vt:lpstr>
      <vt:lpstr>User OS Interface – GUI (3)</vt:lpstr>
      <vt:lpstr>Touchscreen and Voice</vt:lpstr>
      <vt:lpstr>System Calls</vt:lpstr>
      <vt:lpstr>An Example of System Calls</vt:lpstr>
      <vt:lpstr>System Call Implementation</vt:lpstr>
      <vt:lpstr>API – System Call – OS Relationship</vt:lpstr>
      <vt:lpstr>System Calls – Parameter Passing</vt:lpstr>
      <vt:lpstr>Parameter Passing via Table</vt:lpstr>
      <vt:lpstr>Types of System Calls</vt:lpstr>
      <vt:lpstr>Examples: Windows and Unix System Calls</vt:lpstr>
      <vt:lpstr>Standard C Library Example</vt:lpstr>
      <vt:lpstr>Example: MS-DOS</vt:lpstr>
      <vt:lpstr>Example: FreeBSD</vt:lpstr>
      <vt:lpstr>Status information</vt:lpstr>
      <vt:lpstr>Background Services</vt:lpstr>
      <vt:lpstr>System Programs</vt:lpstr>
      <vt:lpstr>System Programs</vt:lpstr>
      <vt:lpstr>Communication Models</vt:lpstr>
      <vt:lpstr>Design</vt:lpstr>
      <vt:lpstr>Design</vt:lpstr>
      <vt:lpstr>Mechanisms and Policies</vt:lpstr>
      <vt:lpstr>Operating System Structure</vt:lpstr>
      <vt:lpstr>Simple Structure  -- MS-DOS</vt:lpstr>
      <vt:lpstr>Non Simple Structure  -- UNIX</vt:lpstr>
      <vt:lpstr>UNIX System Structure</vt:lpstr>
      <vt:lpstr>Layered Approach</vt:lpstr>
      <vt:lpstr>Microkernel System Structure </vt:lpstr>
      <vt:lpstr>Microkernel System Structure </vt:lpstr>
      <vt:lpstr>Modules</vt:lpstr>
      <vt:lpstr>Solaris Modular Approach</vt:lpstr>
      <vt:lpstr>Hybrid Systems</vt:lpstr>
      <vt:lpstr>Mac OS X Structure, hybrid structured</vt:lpstr>
      <vt:lpstr>iOS</vt:lpstr>
      <vt:lpstr>Android</vt:lpstr>
      <vt:lpstr>Android Architecture</vt:lpstr>
      <vt:lpstr>Operating-System Debugging</vt:lpstr>
      <vt:lpstr>Simulation and Virtualization </vt:lpstr>
      <vt:lpstr>Virtual Machines</vt:lpstr>
      <vt:lpstr>Virtual Machines</vt:lpstr>
      <vt:lpstr>Virtual Machines CPU scheduling, Virtual memory, Virtual Disk, …</vt:lpstr>
      <vt:lpstr>Hypervisor, Type I and II</vt:lpstr>
      <vt:lpstr>Advantages/Disadvantages of VM </vt:lpstr>
      <vt:lpstr>Para-virtualization</vt:lpstr>
      <vt:lpstr>Java Virtual Machine</vt:lpstr>
      <vt:lpstr>Hardware Protection</vt:lpstr>
      <vt:lpstr>Dual-Mode Operation</vt:lpstr>
      <vt:lpstr>I/O Protection</vt:lpstr>
      <vt:lpstr>Use of A System Call to Perform I/O</vt:lpstr>
      <vt:lpstr>Memory Protection</vt:lpstr>
      <vt:lpstr>Hardware Address Protection</vt:lpstr>
      <vt:lpstr>Hardware Protection</vt:lpstr>
      <vt:lpstr>CPU Protection</vt:lpstr>
      <vt:lpstr>Virtualization: VMWare </vt:lpstr>
      <vt:lpstr>Containers: OS Level Virtualization</vt:lpstr>
      <vt:lpstr>An Example of Standard API</vt:lpstr>
      <vt:lpstr>System Programs</vt:lpstr>
      <vt:lpstr>Implementation</vt:lpstr>
      <vt:lpstr>DTrace Tool</vt:lpstr>
      <vt:lpstr>How does Linux kernel compare to microkernel architectures?         Rahul Bhadana</vt:lpstr>
      <vt:lpstr>How does Linux kernel compare to microkernel architectures?         Rahul Bhadana</vt:lpstr>
      <vt:lpstr>How does Linux kernel compare to microkernel architectures?    Schily</vt:lpstr>
      <vt:lpstr>How does Linux kernel compare to microkernel architectures?    Schily</vt:lpstr>
    </vt:vector>
  </TitlesOfParts>
  <Company>Lucent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Operating-System Structures</dc:title>
  <dc:creator>JSWANG</dc:creator>
  <cp:lastModifiedBy>JS</cp:lastModifiedBy>
  <cp:revision>294</cp:revision>
  <cp:lastPrinted>2016-09-19T11:47:37Z</cp:lastPrinted>
  <dcterms:created xsi:type="dcterms:W3CDTF">1999-06-30T20:09:32Z</dcterms:created>
  <dcterms:modified xsi:type="dcterms:W3CDTF">2018-03-05T05:44:46Z</dcterms:modified>
</cp:coreProperties>
</file>