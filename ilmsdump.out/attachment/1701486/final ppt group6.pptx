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3" r:id="rId6"/>
    <p:sldId id="264" r:id="rId7"/>
    <p:sldId id="265" r:id="rId8"/>
    <p:sldId id="266" r:id="rId9"/>
    <p:sldId id="267" r:id="rId10"/>
    <p:sldId id="268" r:id="rId11"/>
    <p:sldId id="271" r:id="rId12"/>
    <p:sldId id="272" r:id="rId13"/>
    <p:sldId id="273" r:id="rId14"/>
    <p:sldId id="274" r:id="rId15"/>
    <p:sldId id="275" r:id="rId16"/>
    <p:sldId id="276" r:id="rId17"/>
    <p:sldId id="277" r:id="rId18"/>
    <p:sldId id="278" r:id="rId19"/>
    <p:sldId id="280" r:id="rId20"/>
    <p:sldId id="279" r:id="rId21"/>
    <p:sldId id="281" r:id="rId22"/>
    <p:sldId id="282" r:id="rId23"/>
    <p:sldId id="284" r:id="rId24"/>
    <p:sldId id="285" r:id="rId25"/>
    <p:sldId id="286" r:id="rId26"/>
    <p:sldId id="287" r:id="rId27"/>
    <p:sldId id="288" r:id="rId28"/>
    <p:sldId id="289" r:id="rId29"/>
    <p:sldId id="290" r:id="rId30"/>
    <p:sldId id="291" r:id="rId31"/>
    <p:sldId id="292" r:id="rId32"/>
    <p:sldId id="293" r:id="rId33"/>
    <p:sldId id="294" r:id="rId34"/>
    <p:sldId id="296" r:id="rId35"/>
    <p:sldId id="295" r:id="rId36"/>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69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19"/>
            <a:ext cx="7772400" cy="1102519"/>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216732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394830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949794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3110382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05979"/>
            <a:ext cx="8229600" cy="85725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3139692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2227426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26094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57204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962460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24602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154781"/>
            <a:ext cx="2057400" cy="329088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54781"/>
            <a:ext cx="6019800" cy="329088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457348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6FCC7FD-3652-4ACB-8AB8-804E96502CFE}" type="datetimeFigureOut">
              <a:rPr lang="zh-TW" altLang="en-US" smtClean="0"/>
              <a:t>2018/12/25</a:t>
            </a:fld>
            <a:endParaRPr lang="zh-TW" altLang="en-US"/>
          </a:p>
        </p:txBody>
      </p:sp>
      <p:sp>
        <p:nvSpPr>
          <p:cNvPr id="5" name="頁尾版面配置區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3EF8D4F4-256A-4014-BECD-E9D527DE6154}" type="slidenum">
              <a:rPr lang="zh-TW" altLang="en-US" smtClean="0"/>
              <a:t>‹#›</a:t>
            </a:fld>
            <a:endParaRPr lang="zh-TW" altLang="en-US"/>
          </a:p>
        </p:txBody>
      </p:sp>
    </p:spTree>
    <p:extLst>
      <p:ext uri="{BB962C8B-B14F-4D97-AF65-F5344CB8AC3E}">
        <p14:creationId xmlns:p14="http://schemas.microsoft.com/office/powerpoint/2010/main" val="3596004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 Id="rId4" Type="http://schemas.microsoft.com/office/2007/relationships/hdphoto" Target="../media/hdphoto4.wdp"/></Relationships>
</file>

<file path=ppt/slides/_rels/slide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7.xml"/><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4" Type="http://schemas.microsoft.com/office/2007/relationships/hdphoto" Target="../media/hdphoto5.wdp"/></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jpeg"/><Relationship Id="rId1" Type="http://schemas.openxmlformats.org/officeDocument/2006/relationships/slideLayout" Target="../slideLayouts/slideLayout7.xml"/><Relationship Id="rId4" Type="http://schemas.microsoft.com/office/2007/relationships/hdphoto" Target="../media/hdphoto6.wdp"/></Relationships>
</file>

<file path=ppt/slides/_rels/slide2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8.png"/><Relationship Id="rId1" Type="http://schemas.openxmlformats.org/officeDocument/2006/relationships/slideLayout" Target="../slideLayouts/slideLayout7.xml"/><Relationship Id="rId4" Type="http://schemas.microsoft.com/office/2007/relationships/hdphoto" Target="../media/hdphoto6.wdp"/></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png"/><Relationship Id="rId1" Type="http://schemas.openxmlformats.org/officeDocument/2006/relationships/slideLayout" Target="../slideLayouts/slideLayout7.xml"/><Relationship Id="rId4" Type="http://schemas.microsoft.com/office/2007/relationships/hdphoto" Target="../media/hdphoto6.wdp"/></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0.jpeg"/><Relationship Id="rId1" Type="http://schemas.openxmlformats.org/officeDocument/2006/relationships/slideLayout" Target="../slideLayouts/slideLayout7.xml"/><Relationship Id="rId4" Type="http://schemas.microsoft.com/office/2007/relationships/hdphoto" Target="../media/hdphoto6.wdp"/></Relationships>
</file>

<file path=ppt/slides/_rels/slide2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jpeg"/><Relationship Id="rId1" Type="http://schemas.openxmlformats.org/officeDocument/2006/relationships/slideLayout" Target="../slideLayouts/slideLayout7.xml"/><Relationship Id="rId4" Type="http://schemas.microsoft.com/office/2007/relationships/hdphoto" Target="../media/hdphoto5.wdp"/></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2.jpeg"/><Relationship Id="rId1" Type="http://schemas.openxmlformats.org/officeDocument/2006/relationships/slideLayout" Target="../slideLayouts/slideLayout7.xml"/><Relationship Id="rId4" Type="http://schemas.microsoft.com/office/2007/relationships/hdphoto" Target="../media/hdphoto5.wdp"/></Relationships>
</file>

<file path=ppt/slides/_rels/slide34.xml.rels><?xml version="1.0" encoding="UTF-8" standalone="yes"?>
<Relationships xmlns="http://schemas.openxmlformats.org/package/2006/relationships"><Relationship Id="rId3" Type="http://schemas.openxmlformats.org/officeDocument/2006/relationships/hyperlink" Target="https://drive.google.com/file/d/1X_mjErffDd12garXR0MrfEHIDsVZlW3P/view?usp=sharing" TargetMode="External"/><Relationship Id="rId7" Type="http://schemas.microsoft.com/office/2007/relationships/hdphoto" Target="../media/hdphoto5.wdp"/><Relationship Id="rId2" Type="http://schemas.openxmlformats.org/officeDocument/2006/relationships/hyperlink" Target="https://drive.google.com/file/d/1kDrkPIFpcc4-u7MkpfZZasgysey9LizN/view?usp=sharing" TargetMode="Externa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hyperlink" Target="https://drive.google.com/file/d/19e7AmIdDuQvNQ-N5gqfS-0FCO0vk7C-O/view?usp=sharing" TargetMode="External"/><Relationship Id="rId4" Type="http://schemas.openxmlformats.org/officeDocument/2006/relationships/hyperlink" Target="https://drive.google.com/file/d/1tNyCusNwDYHS0_UOVY7ZveRPIxR0QdLt/view?usp=sharin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7.xml"/><Relationship Id="rId4" Type="http://schemas.microsoft.com/office/2007/relationships/hdphoto" Target="../media/hdphoto7.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a:extLst>
              <a:ext uri="{BEBA8EAE-BF5A-486C-A8C5-ECC9F3942E4B}">
                <a14:imgProps xmlns:a14="http://schemas.microsoft.com/office/drawing/2010/main">
                  <a14:imgLayer r:embed="rId3">
                    <a14:imgEffect>
                      <a14:artisticPastelsSmooth/>
                    </a14:imgEffect>
                  </a14:imgLayer>
                </a14:imgProps>
              </a:ext>
              <a:ext uri="{28A0092B-C50C-407E-A947-70E740481C1C}">
                <a14:useLocalDpi xmlns:a14="http://schemas.microsoft.com/office/drawing/2010/main" val="0"/>
              </a:ext>
            </a:extLst>
          </a:blip>
          <a:srcRect/>
          <a:stretch>
            <a:fillRect/>
          </a:stretch>
        </p:blipFill>
        <p:spPr bwMode="auto">
          <a:xfrm>
            <a:off x="4003220" y="2720"/>
            <a:ext cx="5140780" cy="5140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a:blip r:embed="rId2">
            <a:extLst>
              <a:ext uri="{BEBA8EAE-BF5A-486C-A8C5-ECC9F3942E4B}">
                <a14:imgProps xmlns:a14="http://schemas.microsoft.com/office/drawing/2010/main">
                  <a14:imgLayer r:embed="rId3">
                    <a14:imgEffect>
                      <a14:artisticPastelsSmooth/>
                    </a14:imgEffect>
                  </a14:imgLayer>
                </a14:imgProps>
              </a:ext>
              <a:ext uri="{28A0092B-C50C-407E-A947-70E740481C1C}">
                <a14:useLocalDpi xmlns:a14="http://schemas.microsoft.com/office/drawing/2010/main" val="0"/>
              </a:ext>
            </a:extLst>
          </a:blip>
          <a:srcRect/>
          <a:stretch>
            <a:fillRect/>
          </a:stretch>
        </p:blipFill>
        <p:spPr bwMode="auto">
          <a:xfrm>
            <a:off x="0" y="0"/>
            <a:ext cx="5140780" cy="5140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2843808" y="0"/>
            <a:ext cx="3672408" cy="51435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矩形 6"/>
          <p:cNvSpPr/>
          <p:nvPr/>
        </p:nvSpPr>
        <p:spPr>
          <a:xfrm>
            <a:off x="3131840" y="339502"/>
            <a:ext cx="3168352" cy="864096"/>
          </a:xfrm>
          <a:prstGeom prst="rect">
            <a:avLst/>
          </a:prstGeom>
          <a:noFill/>
          <a:ln w="508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b="1" dirty="0" smtClean="0">
                <a:solidFill>
                  <a:schemeClr val="bg2">
                    <a:lumMod val="90000"/>
                  </a:schemeClr>
                </a:solidFill>
                <a:ea typeface="微軟正黑體" panose="020B0604030504040204" pitchFamily="34" charset="-120"/>
              </a:rPr>
              <a:t>Enjoy Food, Enjoy Life</a:t>
            </a:r>
            <a:endParaRPr lang="zh-TW" altLang="en-US" sz="2400" b="1" dirty="0" smtClean="0">
              <a:solidFill>
                <a:schemeClr val="bg2">
                  <a:lumMod val="90000"/>
                </a:schemeClr>
              </a:solidFill>
              <a:ea typeface="微軟正黑體" panose="020B0604030504040204" pitchFamily="34" charset="-120"/>
            </a:endParaRPr>
          </a:p>
        </p:txBody>
      </p:sp>
      <p:cxnSp>
        <p:nvCxnSpPr>
          <p:cNvPr id="8" name="直線接點 7"/>
          <p:cNvCxnSpPr/>
          <p:nvPr/>
        </p:nvCxnSpPr>
        <p:spPr>
          <a:xfrm>
            <a:off x="4283968" y="3795886"/>
            <a:ext cx="864096" cy="0"/>
          </a:xfrm>
          <a:prstGeom prst="line">
            <a:avLst/>
          </a:prstGeom>
          <a:ln w="381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3419872" y="3939902"/>
            <a:ext cx="2664296" cy="923330"/>
          </a:xfrm>
          <a:prstGeom prst="rect">
            <a:avLst/>
          </a:prstGeom>
          <a:noFill/>
        </p:spPr>
        <p:txBody>
          <a:bodyPr wrap="square" rtlCol="0">
            <a:spAutoFit/>
          </a:bodyPr>
          <a:lstStyle/>
          <a:p>
            <a:pPr algn="ctr"/>
            <a:r>
              <a:rPr lang="en-US" altLang="zh-TW" b="1" dirty="0">
                <a:solidFill>
                  <a:schemeClr val="bg2">
                    <a:lumMod val="90000"/>
                  </a:schemeClr>
                </a:solidFill>
              </a:rPr>
              <a:t>Never </a:t>
            </a:r>
            <a:r>
              <a:rPr lang="en-US" altLang="zh-TW" b="1" dirty="0" smtClean="0">
                <a:solidFill>
                  <a:schemeClr val="bg2">
                    <a:lumMod val="90000"/>
                  </a:schemeClr>
                </a:solidFill>
              </a:rPr>
              <a:t>wasting too much time on any issue </a:t>
            </a:r>
          </a:p>
          <a:p>
            <a:pPr algn="ctr"/>
            <a:r>
              <a:rPr lang="en-US" altLang="zh-TW" b="1" dirty="0" smtClean="0">
                <a:solidFill>
                  <a:schemeClr val="bg2">
                    <a:lumMod val="90000"/>
                  </a:schemeClr>
                </a:solidFill>
              </a:rPr>
              <a:t>but for enjoying food</a:t>
            </a:r>
            <a:endParaRPr lang="zh-TW" altLang="en-US" b="1" dirty="0">
              <a:solidFill>
                <a:schemeClr val="bg2">
                  <a:lumMod val="90000"/>
                </a:schemeClr>
              </a:solidFill>
            </a:endParaRPr>
          </a:p>
        </p:txBody>
      </p:sp>
      <p:pic>
        <p:nvPicPr>
          <p:cNvPr id="2050"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4">
            <a:duotone>
              <a:schemeClr val="bg2">
                <a:shade val="45000"/>
                <a:satMod val="135000"/>
              </a:schemeClr>
              <a:prstClr val="white"/>
            </a:duotone>
            <a:extLst>
              <a:ext uri="{BEBA8EAE-BF5A-486C-A8C5-ECC9F3942E4B}">
                <a14:imgProps xmlns:a14="http://schemas.microsoft.com/office/drawing/2010/main">
                  <a14:imgLayer r:embed="rId5">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Layer>
                </a14:imgProps>
              </a:ext>
              <a:ext uri="{28A0092B-C50C-407E-A947-70E740481C1C}">
                <a14:useLocalDpi xmlns:a14="http://schemas.microsoft.com/office/drawing/2010/main" val="0"/>
              </a:ext>
            </a:extLst>
          </a:blip>
          <a:srcRect/>
          <a:stretch>
            <a:fillRect/>
          </a:stretch>
        </p:blipFill>
        <p:spPr bwMode="auto">
          <a:xfrm>
            <a:off x="2843808" y="1563638"/>
            <a:ext cx="3672408" cy="1901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3051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artisticMarker/>
                    </a14:imgEffect>
                  </a14:imgLayer>
                </a14:imgProps>
              </a:ext>
              <a:ext uri="{28A0092B-C50C-407E-A947-70E740481C1C}">
                <a14:useLocalDpi xmlns:a14="http://schemas.microsoft.com/office/drawing/2010/main" val="0"/>
              </a:ext>
            </a:extLst>
          </a:blip>
          <a:srcRect l="23914"/>
          <a:stretch/>
        </p:blipFill>
        <p:spPr bwMode="auto">
          <a:xfrm>
            <a:off x="-36512" y="0"/>
            <a:ext cx="3261237"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字方塊 1"/>
          <p:cNvSpPr txBox="1"/>
          <p:nvPr/>
        </p:nvSpPr>
        <p:spPr>
          <a:xfrm>
            <a:off x="4355976" y="195486"/>
            <a:ext cx="3888432" cy="584775"/>
          </a:xfrm>
          <a:prstGeom prst="rect">
            <a:avLst/>
          </a:prstGeom>
          <a:noFill/>
          <a:ln w="38100">
            <a:solidFill>
              <a:schemeClr val="accent1">
                <a:lumMod val="50000"/>
              </a:schemeClr>
            </a:solidFill>
          </a:ln>
        </p:spPr>
        <p:txBody>
          <a:bodyPr wrap="square" rtlCol="0">
            <a:spAutoFit/>
          </a:bodyPr>
          <a:lstStyle/>
          <a:p>
            <a:pPr algn="ctr"/>
            <a:r>
              <a:rPr lang="en-US" altLang="zh-TW" sz="3200" b="1" dirty="0" smtClean="0">
                <a:solidFill>
                  <a:schemeClr val="accent1">
                    <a:lumMod val="50000"/>
                  </a:schemeClr>
                </a:solidFill>
              </a:rPr>
              <a:t>Presentation Outline</a:t>
            </a:r>
            <a:endParaRPr lang="zh-TW" altLang="en-US" sz="3200" b="1" dirty="0">
              <a:solidFill>
                <a:schemeClr val="accent1">
                  <a:lumMod val="50000"/>
                </a:schemeClr>
              </a:solidFill>
            </a:endParaRPr>
          </a:p>
        </p:txBody>
      </p:sp>
      <p:sp>
        <p:nvSpPr>
          <p:cNvPr id="4" name="矩形 3"/>
          <p:cNvSpPr/>
          <p:nvPr/>
        </p:nvSpPr>
        <p:spPr>
          <a:xfrm>
            <a:off x="3223888" y="1014280"/>
            <a:ext cx="5920112" cy="41497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42950" lvl="1" indent="-285750" fontAlgn="base">
              <a:buFont typeface="Arial" panose="020B0604020202020204" pitchFamily="34" charset="0"/>
              <a:buChar char="•"/>
            </a:pPr>
            <a:r>
              <a:rPr lang="en-US" altLang="zh-TW" sz="2000" b="1" dirty="0" smtClean="0"/>
              <a:t>Introduce </a:t>
            </a:r>
            <a:r>
              <a:rPr lang="en-US" altLang="zh-TW" sz="2000" b="1" dirty="0"/>
              <a:t>our </a:t>
            </a:r>
            <a:r>
              <a:rPr lang="en-US" altLang="zh-TW" sz="2000" b="1" dirty="0" smtClean="0"/>
              <a:t>Task</a:t>
            </a:r>
            <a:endParaRPr lang="en-US" altLang="zh-TW" sz="2000" b="1" dirty="0"/>
          </a:p>
          <a:p>
            <a:pPr marL="742950" lvl="1" indent="-285750" fontAlgn="base">
              <a:buFont typeface="Arial" panose="020B0604020202020204" pitchFamily="34" charset="0"/>
              <a:buChar char="•"/>
            </a:pPr>
            <a:r>
              <a:rPr lang="en-US" altLang="zh-TW" sz="2000" b="1" dirty="0"/>
              <a:t>Design process</a:t>
            </a:r>
            <a:br>
              <a:rPr lang="en-US" altLang="zh-TW" sz="2000" b="1" dirty="0"/>
            </a:br>
            <a:r>
              <a:rPr lang="en-US" altLang="zh-TW" sz="2000" b="1" dirty="0"/>
              <a:t>1. Interview</a:t>
            </a:r>
            <a:br>
              <a:rPr lang="en-US" altLang="zh-TW" sz="2000" b="1" dirty="0"/>
            </a:br>
            <a:r>
              <a:rPr lang="en-US" altLang="zh-TW" sz="2000" b="1" dirty="0"/>
              <a:t>2. Affinity diagram</a:t>
            </a:r>
            <a:br>
              <a:rPr lang="en-US" altLang="zh-TW" sz="2000" b="1" dirty="0"/>
            </a:br>
            <a:r>
              <a:rPr lang="en-US" altLang="zh-TW" sz="2000" b="1" dirty="0"/>
              <a:t>3. Persona</a:t>
            </a:r>
            <a:br>
              <a:rPr lang="en-US" altLang="zh-TW" sz="2000" b="1" dirty="0"/>
            </a:br>
            <a:r>
              <a:rPr lang="en-US" altLang="zh-TW" sz="2000" b="1" dirty="0"/>
              <a:t>4. User Analysis and Scenarios</a:t>
            </a:r>
          </a:p>
          <a:p>
            <a:pPr marL="742950" lvl="1" indent="-285750" fontAlgn="base">
              <a:buFont typeface="Arial" panose="020B0604020202020204" pitchFamily="34" charset="0"/>
              <a:buChar char="•"/>
            </a:pPr>
            <a:r>
              <a:rPr lang="en-US" altLang="zh-TW" sz="2000" b="1" dirty="0"/>
              <a:t>Conceptual Design and Product function</a:t>
            </a:r>
          </a:p>
          <a:p>
            <a:pPr marL="742950" lvl="1" indent="-285750" fontAlgn="base">
              <a:buFont typeface="Arial" panose="020B0604020202020204" pitchFamily="34" charset="0"/>
              <a:buChar char="•"/>
            </a:pPr>
            <a:r>
              <a:rPr lang="en-US" altLang="zh-TW" sz="2000" b="1" dirty="0"/>
              <a:t>Storyboard and Storytelling</a:t>
            </a:r>
          </a:p>
          <a:p>
            <a:pPr marL="742950" lvl="1" indent="-285750" fontAlgn="base">
              <a:buFont typeface="Arial" panose="020B0604020202020204" pitchFamily="34" charset="0"/>
              <a:buChar char="•"/>
            </a:pPr>
            <a:r>
              <a:rPr lang="en-US" altLang="zh-TW" sz="2000" b="1" dirty="0"/>
              <a:t>Implementation Prototype </a:t>
            </a:r>
            <a:endParaRPr lang="en-US" altLang="zh-TW" sz="2000" b="1" dirty="0" smtClean="0"/>
          </a:p>
          <a:p>
            <a:pPr marL="742950" lvl="1" indent="-285750" fontAlgn="base">
              <a:buFont typeface="Arial" panose="020B0604020202020204" pitchFamily="34" charset="0"/>
              <a:buChar char="•"/>
            </a:pPr>
            <a:r>
              <a:rPr lang="en-US" altLang="zh-TW" sz="2000" b="1" dirty="0" smtClean="0"/>
              <a:t>User Testing</a:t>
            </a:r>
            <a:endParaRPr lang="en-US" altLang="zh-TW" sz="2000" b="1" dirty="0"/>
          </a:p>
          <a:p>
            <a:pPr marL="742950" lvl="1" indent="-285750">
              <a:buFont typeface="Arial" panose="020B0604020202020204" pitchFamily="34" charset="0"/>
              <a:buChar char="•"/>
            </a:pPr>
            <a:r>
              <a:rPr lang="en-US" altLang="zh-TW" sz="2000" b="1" dirty="0"/>
              <a:t>Video</a:t>
            </a:r>
            <a:r>
              <a:rPr lang="en-US" altLang="zh-TW" dirty="0"/>
              <a:t/>
            </a:r>
            <a:br>
              <a:rPr lang="en-US" altLang="zh-TW" dirty="0"/>
            </a:br>
            <a:endParaRPr lang="zh-TW" altLang="en-US" dirty="0"/>
          </a:p>
        </p:txBody>
      </p:sp>
    </p:spTree>
    <p:extLst>
      <p:ext uri="{BB962C8B-B14F-4D97-AF65-F5344CB8AC3E}">
        <p14:creationId xmlns:p14="http://schemas.microsoft.com/office/powerpoint/2010/main" val="4268128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143500"/>
          </a:xfrm>
          <a:prstGeom prst="rect">
            <a:avLst/>
          </a:prstGeom>
          <a:blipFill dpi="0" rotWithShape="1">
            <a:blip r:embed="rId2">
              <a:alphaModFix amt="40000"/>
            </a:blip>
            <a:srcRect/>
            <a:stretch>
              <a:fillRect t="-2" b="-1192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p:cNvSpPr txBox="1"/>
          <p:nvPr/>
        </p:nvSpPr>
        <p:spPr>
          <a:xfrm>
            <a:off x="0" y="843558"/>
            <a:ext cx="7380312" cy="3724096"/>
          </a:xfrm>
          <a:prstGeom prst="rect">
            <a:avLst/>
          </a:prstGeom>
          <a:solidFill>
            <a:schemeClr val="accent1">
              <a:lumMod val="50000"/>
              <a:alpha val="65000"/>
            </a:schemeClr>
          </a:solidFill>
        </p:spPr>
        <p:txBody>
          <a:bodyPr wrap="square" rtlCol="0">
            <a:spAutoFit/>
          </a:bodyPr>
          <a:lstStyle/>
          <a:p>
            <a:r>
              <a:rPr lang="en-US" altLang="zh-TW" sz="3600" b="1" dirty="0" smtClean="0">
                <a:solidFill>
                  <a:schemeClr val="bg1"/>
                </a:solidFill>
              </a:rPr>
              <a:t>  Introduce </a:t>
            </a:r>
            <a:r>
              <a:rPr lang="en-US" altLang="zh-TW" sz="3600" b="1" dirty="0">
                <a:solidFill>
                  <a:schemeClr val="bg1"/>
                </a:solidFill>
              </a:rPr>
              <a:t>our </a:t>
            </a:r>
            <a:r>
              <a:rPr lang="en-US" altLang="zh-TW" sz="3600" b="1" dirty="0" smtClean="0">
                <a:solidFill>
                  <a:schemeClr val="bg1"/>
                </a:solidFill>
              </a:rPr>
              <a:t>Task</a:t>
            </a:r>
            <a:endParaRPr lang="en-US" altLang="zh-TW" sz="2000" b="1" dirty="0" smtClean="0">
              <a:solidFill>
                <a:schemeClr val="bg1"/>
              </a:solidFill>
            </a:endParaRPr>
          </a:p>
          <a:p>
            <a:r>
              <a:rPr lang="en-US" altLang="zh-TW" sz="2000" b="1" dirty="0">
                <a:solidFill>
                  <a:schemeClr val="bg1"/>
                </a:solidFill>
              </a:rPr>
              <a:t> </a:t>
            </a:r>
            <a:r>
              <a:rPr lang="en-US" altLang="zh-TW" sz="2000" b="1" dirty="0" smtClean="0">
                <a:solidFill>
                  <a:schemeClr val="bg1"/>
                </a:solidFill>
              </a:rPr>
              <a:t>   </a:t>
            </a:r>
            <a:br>
              <a:rPr lang="en-US" altLang="zh-TW" sz="2000" b="1" dirty="0" smtClean="0">
                <a:solidFill>
                  <a:schemeClr val="bg1"/>
                </a:solidFill>
              </a:rPr>
            </a:br>
            <a:r>
              <a:rPr lang="en-US" altLang="zh-TW" sz="2000" b="1" dirty="0" smtClean="0">
                <a:solidFill>
                  <a:schemeClr val="bg1"/>
                </a:solidFill>
              </a:rPr>
              <a:t>    </a:t>
            </a:r>
            <a:r>
              <a:rPr lang="en-US" altLang="zh-TW" sz="2000" b="1" dirty="0">
                <a:solidFill>
                  <a:schemeClr val="bg1"/>
                </a:solidFill>
              </a:rPr>
              <a:t>W</a:t>
            </a:r>
            <a:r>
              <a:rPr lang="en-US" altLang="zh-TW" sz="2000" b="1" dirty="0" smtClean="0">
                <a:solidFill>
                  <a:schemeClr val="bg1"/>
                </a:solidFill>
              </a:rPr>
              <a:t>e may meet some </a:t>
            </a:r>
            <a:r>
              <a:rPr lang="en-US" altLang="zh-TW" sz="2000" b="1" dirty="0" smtClean="0">
                <a:solidFill>
                  <a:schemeClr val="bg1"/>
                </a:solidFill>
              </a:rPr>
              <a:t>p</a:t>
            </a:r>
            <a:r>
              <a:rPr lang="en-US" altLang="zh-TW" sz="2000" b="1" dirty="0" smtClean="0">
                <a:solidFill>
                  <a:schemeClr val="bg1"/>
                </a:solidFill>
              </a:rPr>
              <a:t>roblems </a:t>
            </a:r>
            <a:r>
              <a:rPr lang="en-US" altLang="zh-TW" sz="2000" b="1" dirty="0" smtClean="0">
                <a:solidFill>
                  <a:schemeClr val="bg1"/>
                </a:solidFill>
              </a:rPr>
              <a:t>about </a:t>
            </a:r>
            <a:r>
              <a:rPr lang="en-US" altLang="zh-TW" sz="2000" b="1" dirty="0" smtClean="0">
                <a:solidFill>
                  <a:schemeClr val="bg1"/>
                </a:solidFill>
              </a:rPr>
              <a:t>eating:</a:t>
            </a:r>
            <a:endParaRPr lang="en-US" altLang="zh-TW" sz="2000" b="1" dirty="0">
              <a:solidFill>
                <a:schemeClr val="bg1"/>
              </a:solidFill>
            </a:endParaRPr>
          </a:p>
          <a:p>
            <a:pPr marL="800100" lvl="1" indent="-342900">
              <a:buFont typeface="Arial" panose="020B0604020202020204" pitchFamily="34" charset="0"/>
              <a:buChar char="•"/>
            </a:pPr>
            <a:r>
              <a:rPr lang="en-US" altLang="zh-TW" sz="2000" b="1" dirty="0" smtClean="0">
                <a:solidFill>
                  <a:schemeClr val="bg1"/>
                </a:solidFill>
              </a:rPr>
              <a:t>I don’t know what to eat.</a:t>
            </a:r>
            <a:endParaRPr lang="en-US" altLang="zh-TW" sz="2000" b="1" dirty="0">
              <a:solidFill>
                <a:schemeClr val="bg1"/>
              </a:solidFill>
            </a:endParaRPr>
          </a:p>
          <a:p>
            <a:pPr marL="800100" lvl="1" indent="-342900">
              <a:buFont typeface="Arial" panose="020B0604020202020204" pitchFamily="34" charset="0"/>
              <a:buChar char="•"/>
            </a:pPr>
            <a:r>
              <a:rPr lang="en-US" altLang="zh-TW" sz="2000" b="1" dirty="0" smtClean="0">
                <a:solidFill>
                  <a:schemeClr val="bg1"/>
                </a:solidFill>
              </a:rPr>
              <a:t>There are too many people </a:t>
            </a:r>
            <a:r>
              <a:rPr lang="en-US" altLang="zh-TW" sz="2000" b="1" dirty="0" smtClean="0">
                <a:solidFill>
                  <a:schemeClr val="bg1"/>
                </a:solidFill>
              </a:rPr>
              <a:t>during eating time</a:t>
            </a:r>
            <a:endParaRPr lang="en-US" altLang="zh-TW" sz="2000" b="1" dirty="0">
              <a:solidFill>
                <a:schemeClr val="bg1"/>
              </a:solidFill>
            </a:endParaRPr>
          </a:p>
          <a:p>
            <a:pPr marL="800100" lvl="1" indent="-342900">
              <a:buFont typeface="Arial" panose="020B0604020202020204" pitchFamily="34" charset="0"/>
              <a:buChar char="•"/>
            </a:pPr>
            <a:r>
              <a:rPr lang="en-US" altLang="zh-TW" sz="2000" b="1" dirty="0" smtClean="0">
                <a:solidFill>
                  <a:schemeClr val="bg1"/>
                </a:solidFill>
              </a:rPr>
              <a:t>Some food is really not good to eat.</a:t>
            </a:r>
          </a:p>
          <a:p>
            <a:pPr marL="800100" lvl="1" indent="-342900">
              <a:buFont typeface="Arial" panose="020B0604020202020204" pitchFamily="34" charset="0"/>
              <a:buChar char="•"/>
            </a:pPr>
            <a:r>
              <a:rPr lang="en-US" altLang="zh-TW" sz="2000" b="1" dirty="0" smtClean="0">
                <a:solidFill>
                  <a:schemeClr val="bg1"/>
                </a:solidFill>
              </a:rPr>
              <a:t>… </a:t>
            </a:r>
            <a:endParaRPr lang="en-US" altLang="zh-TW" sz="2000" b="1" dirty="0">
              <a:solidFill>
                <a:schemeClr val="bg1"/>
              </a:solidFill>
            </a:endParaRPr>
          </a:p>
          <a:p>
            <a:endParaRPr lang="en-US" altLang="zh-TW" sz="2000" b="1" dirty="0" smtClean="0">
              <a:solidFill>
                <a:schemeClr val="bg1"/>
              </a:solidFill>
            </a:endParaRPr>
          </a:p>
          <a:p>
            <a:endParaRPr lang="en-US" altLang="zh-TW" sz="2000" b="1" dirty="0">
              <a:solidFill>
                <a:schemeClr val="bg1"/>
              </a:solidFill>
            </a:endParaRPr>
          </a:p>
          <a:p>
            <a:endParaRPr lang="en-US" altLang="zh-TW" sz="2000" b="1" dirty="0" smtClean="0">
              <a:solidFill>
                <a:schemeClr val="bg1"/>
              </a:solidFill>
            </a:endParaRPr>
          </a:p>
          <a:p>
            <a:endParaRPr lang="en-US" altLang="zh-TW" sz="2000" b="1" dirty="0" smtClean="0">
              <a:solidFill>
                <a:schemeClr val="bg1"/>
              </a:solidFill>
            </a:endParaRPr>
          </a:p>
        </p:txBody>
      </p:sp>
      <p:cxnSp>
        <p:nvCxnSpPr>
          <p:cNvPr id="6" name="直線接點 5"/>
          <p:cNvCxnSpPr/>
          <p:nvPr/>
        </p:nvCxnSpPr>
        <p:spPr>
          <a:xfrm>
            <a:off x="323528" y="1491630"/>
            <a:ext cx="662473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lum bright="70000" contrast="-70000"/>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211960" y="2952803"/>
            <a:ext cx="2880320" cy="1491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4634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460851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Interview</a:t>
            </a:r>
            <a:endParaRPr lang="zh-TW" altLang="en-US" sz="3200" b="1" dirty="0">
              <a:solidFill>
                <a:schemeClr val="accent1">
                  <a:lumMod val="50000"/>
                </a:schemeClr>
              </a:solidFill>
            </a:endParaRPr>
          </a:p>
        </p:txBody>
      </p:sp>
      <p:sp>
        <p:nvSpPr>
          <p:cNvPr id="3" name="文字方塊 2"/>
          <p:cNvSpPr txBox="1"/>
          <p:nvPr/>
        </p:nvSpPr>
        <p:spPr>
          <a:xfrm>
            <a:off x="251520" y="1016605"/>
            <a:ext cx="7632848" cy="313932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Contextual inquiry: Please imagine that you are going to eat now. </a:t>
            </a:r>
          </a:p>
          <a:p>
            <a:pPr marL="285750" indent="-285750" fontAlgn="base">
              <a:buFont typeface="Arial" panose="020B0604020202020204" pitchFamily="34" charset="0"/>
              <a:buChar char="•"/>
            </a:pPr>
            <a:r>
              <a:rPr lang="en-US" altLang="zh-TW" dirty="0">
                <a:solidFill>
                  <a:schemeClr val="accent1">
                    <a:lumMod val="50000"/>
                  </a:schemeClr>
                </a:solidFill>
              </a:rPr>
              <a:t>Place: Lab, dorm room</a:t>
            </a:r>
          </a:p>
          <a:p>
            <a:pPr marL="285750" indent="-285750" fontAlgn="base">
              <a:buFont typeface="Arial" panose="020B0604020202020204" pitchFamily="34" charset="0"/>
              <a:buChar char="•"/>
            </a:pPr>
            <a:r>
              <a:rPr lang="en-US" altLang="zh-TW" dirty="0">
                <a:solidFill>
                  <a:schemeClr val="accent1">
                    <a:lumMod val="50000"/>
                  </a:schemeClr>
                </a:solidFill>
              </a:rPr>
              <a:t>People: 7 (4 </a:t>
            </a:r>
            <a:r>
              <a:rPr lang="en-US" altLang="zh-TW" dirty="0" err="1">
                <a:solidFill>
                  <a:schemeClr val="accent1">
                    <a:lumMod val="50000"/>
                  </a:schemeClr>
                </a:solidFill>
              </a:rPr>
              <a:t>Taiwaneses</a:t>
            </a:r>
            <a:r>
              <a:rPr lang="en-US" altLang="zh-TW" dirty="0">
                <a:solidFill>
                  <a:schemeClr val="accent1">
                    <a:lumMod val="50000"/>
                  </a:schemeClr>
                </a:solidFill>
              </a:rPr>
              <a:t>, 3 Foreigners)</a:t>
            </a:r>
          </a:p>
          <a:p>
            <a:pPr lvl="1" fontAlgn="base"/>
            <a:r>
              <a:rPr lang="en-US" altLang="zh-TW" dirty="0">
                <a:solidFill>
                  <a:schemeClr val="accent1">
                    <a:lumMod val="50000"/>
                  </a:schemeClr>
                </a:solidFill>
              </a:rPr>
              <a:t>1 NTHU EE graduated student, Taiwanese</a:t>
            </a:r>
          </a:p>
          <a:p>
            <a:pPr lvl="1" fontAlgn="base"/>
            <a:r>
              <a:rPr lang="en-US" altLang="zh-TW" dirty="0">
                <a:solidFill>
                  <a:schemeClr val="accent1">
                    <a:lumMod val="50000"/>
                  </a:schemeClr>
                </a:solidFill>
              </a:rPr>
              <a:t>1 NTHU EE </a:t>
            </a:r>
            <a:r>
              <a:rPr lang="en-US" altLang="zh-TW" dirty="0" err="1">
                <a:solidFill>
                  <a:schemeClr val="accent1">
                    <a:lumMod val="50000"/>
                  </a:schemeClr>
                </a:solidFill>
              </a:rPr>
              <a:t>undergraduated</a:t>
            </a:r>
            <a:r>
              <a:rPr lang="en-US" altLang="zh-TW" dirty="0">
                <a:solidFill>
                  <a:schemeClr val="accent1">
                    <a:lumMod val="50000"/>
                  </a:schemeClr>
                </a:solidFill>
              </a:rPr>
              <a:t> student, Taiwanese</a:t>
            </a:r>
          </a:p>
          <a:p>
            <a:pPr lvl="1" fontAlgn="base"/>
            <a:r>
              <a:rPr lang="en-US" altLang="zh-TW" dirty="0">
                <a:solidFill>
                  <a:schemeClr val="accent1">
                    <a:lumMod val="50000"/>
                  </a:schemeClr>
                </a:solidFill>
              </a:rPr>
              <a:t>1 Sweden graduated student, Taiwanese</a:t>
            </a:r>
          </a:p>
          <a:p>
            <a:pPr lvl="1" fontAlgn="base"/>
            <a:r>
              <a:rPr lang="en-US" altLang="zh-TW" dirty="0">
                <a:solidFill>
                  <a:schemeClr val="accent1">
                    <a:lumMod val="50000"/>
                  </a:schemeClr>
                </a:solidFill>
              </a:rPr>
              <a:t>1 Computer Engineer, Taiwanese</a:t>
            </a:r>
          </a:p>
          <a:p>
            <a:pPr lvl="1" fontAlgn="base"/>
            <a:r>
              <a:rPr lang="en-US" altLang="zh-TW" dirty="0">
                <a:solidFill>
                  <a:schemeClr val="accent1">
                    <a:lumMod val="50000"/>
                  </a:schemeClr>
                </a:solidFill>
              </a:rPr>
              <a:t>1 NCTU EECS </a:t>
            </a:r>
            <a:r>
              <a:rPr lang="en-US" altLang="zh-TW" dirty="0" err="1">
                <a:solidFill>
                  <a:schemeClr val="accent1">
                    <a:lumMod val="50000"/>
                  </a:schemeClr>
                </a:solidFill>
              </a:rPr>
              <a:t>undergraduated</a:t>
            </a:r>
            <a:r>
              <a:rPr lang="en-US" altLang="zh-TW" dirty="0">
                <a:solidFill>
                  <a:schemeClr val="accent1">
                    <a:lumMod val="50000"/>
                  </a:schemeClr>
                </a:solidFill>
              </a:rPr>
              <a:t> student, India</a:t>
            </a:r>
          </a:p>
          <a:p>
            <a:pPr lvl="1" fontAlgn="base"/>
            <a:r>
              <a:rPr lang="en-US" altLang="zh-TW" dirty="0">
                <a:solidFill>
                  <a:schemeClr val="accent1">
                    <a:lumMod val="50000"/>
                  </a:schemeClr>
                </a:solidFill>
              </a:rPr>
              <a:t>1 NCTU </a:t>
            </a:r>
            <a:r>
              <a:rPr lang="en-US" altLang="zh-TW" dirty="0" err="1">
                <a:solidFill>
                  <a:schemeClr val="accent1">
                    <a:lumMod val="50000"/>
                  </a:schemeClr>
                </a:solidFill>
              </a:rPr>
              <a:t>Chem</a:t>
            </a:r>
            <a:r>
              <a:rPr lang="en-US" altLang="zh-TW" dirty="0">
                <a:solidFill>
                  <a:schemeClr val="accent1">
                    <a:lumMod val="50000"/>
                  </a:schemeClr>
                </a:solidFill>
              </a:rPr>
              <a:t> PHD student, Polish</a:t>
            </a:r>
          </a:p>
          <a:p>
            <a:pPr lvl="1" fontAlgn="base"/>
            <a:r>
              <a:rPr lang="en-US" altLang="zh-TW" dirty="0">
                <a:solidFill>
                  <a:schemeClr val="accent1">
                    <a:lumMod val="50000"/>
                  </a:schemeClr>
                </a:solidFill>
              </a:rPr>
              <a:t>1 NCTU Postdoc researcher, Polish </a:t>
            </a:r>
          </a:p>
          <a:p>
            <a:pPr marL="285750" indent="-285750" fontAlgn="base">
              <a:buFont typeface="Arial" panose="020B0604020202020204" pitchFamily="34" charset="0"/>
              <a:buChar char="•"/>
            </a:pPr>
            <a:r>
              <a:rPr lang="en-US" altLang="zh-TW" dirty="0">
                <a:solidFill>
                  <a:schemeClr val="accent1">
                    <a:lumMod val="50000"/>
                  </a:schemeClr>
                </a:solidFill>
              </a:rPr>
              <a:t>Time: 20 minutes for each person</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4084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460851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Interview</a:t>
            </a:r>
            <a:endParaRPr lang="zh-TW" altLang="en-US" sz="3200" b="1" dirty="0">
              <a:solidFill>
                <a:schemeClr val="accent1">
                  <a:lumMod val="50000"/>
                </a:schemeClr>
              </a:solidFill>
            </a:endParaRPr>
          </a:p>
        </p:txBody>
      </p:sp>
      <p:sp>
        <p:nvSpPr>
          <p:cNvPr id="3" name="文字方塊 2"/>
          <p:cNvSpPr txBox="1"/>
          <p:nvPr/>
        </p:nvSpPr>
        <p:spPr>
          <a:xfrm>
            <a:off x="251520" y="915566"/>
            <a:ext cx="8784976" cy="2862322"/>
          </a:xfrm>
          <a:prstGeom prst="rect">
            <a:avLst/>
          </a:prstGeom>
          <a:noFill/>
        </p:spPr>
        <p:txBody>
          <a:bodyPr wrap="square" rtlCol="0">
            <a:spAutoFit/>
          </a:bodyPr>
          <a:lstStyle/>
          <a:p>
            <a:r>
              <a:rPr lang="en-US" altLang="zh-TW" b="1" dirty="0">
                <a:solidFill>
                  <a:schemeClr val="accent1">
                    <a:lumMod val="50000"/>
                  </a:schemeClr>
                </a:solidFill>
              </a:rPr>
              <a:t>Example Questions</a:t>
            </a:r>
            <a:endParaRPr lang="en-US" altLang="zh-TW" dirty="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rPr>
              <a:t>How often do you eat outside? </a:t>
            </a:r>
            <a:r>
              <a:rPr lang="en-US" altLang="zh-TW" b="1" dirty="0" smtClean="0">
                <a:solidFill>
                  <a:schemeClr val="accent1">
                    <a:lumMod val="50000"/>
                  </a:schemeClr>
                </a:solidFill>
              </a:rPr>
              <a:t>I </a:t>
            </a:r>
            <a:r>
              <a:rPr lang="en-US" altLang="zh-TW" b="1" dirty="0">
                <a:solidFill>
                  <a:schemeClr val="accent1">
                    <a:lumMod val="50000"/>
                  </a:schemeClr>
                </a:solidFill>
              </a:rPr>
              <a:t>eat outside every single day.</a:t>
            </a:r>
          </a:p>
          <a:p>
            <a:pPr marL="285750" indent="-285750" fontAlgn="base">
              <a:buFont typeface="Arial" panose="020B0604020202020204" pitchFamily="34" charset="0"/>
              <a:buChar char="•"/>
            </a:pPr>
            <a:r>
              <a:rPr lang="en-US" altLang="zh-TW" dirty="0">
                <a:solidFill>
                  <a:schemeClr val="accent1">
                    <a:lumMod val="50000"/>
                  </a:schemeClr>
                </a:solidFill>
              </a:rPr>
              <a:t>How long does it take to eat at outside ?  </a:t>
            </a:r>
            <a:r>
              <a:rPr lang="en-US" altLang="zh-TW" dirty="0" smtClean="0">
                <a:solidFill>
                  <a:schemeClr val="accent1">
                    <a:lumMod val="50000"/>
                  </a:schemeClr>
                </a:solidFill>
              </a:rPr>
              <a:t> </a:t>
            </a:r>
            <a:r>
              <a:rPr lang="en-US" altLang="zh-TW" b="1" dirty="0" smtClean="0">
                <a:solidFill>
                  <a:schemeClr val="accent1">
                    <a:lumMod val="50000"/>
                  </a:schemeClr>
                </a:solidFill>
              </a:rPr>
              <a:t>30 </a:t>
            </a:r>
            <a:r>
              <a:rPr lang="en-US" altLang="zh-TW" b="1" dirty="0">
                <a:solidFill>
                  <a:schemeClr val="accent1">
                    <a:lumMod val="50000"/>
                  </a:schemeClr>
                </a:solidFill>
              </a:rPr>
              <a:t>min</a:t>
            </a:r>
          </a:p>
          <a:p>
            <a:pPr marL="285750" indent="-285750" fontAlgn="base">
              <a:buFont typeface="Arial" panose="020B0604020202020204" pitchFamily="34" charset="0"/>
              <a:buChar char="•"/>
            </a:pPr>
            <a:r>
              <a:rPr lang="en-US" altLang="zh-TW" dirty="0">
                <a:solidFill>
                  <a:schemeClr val="accent1">
                    <a:lumMod val="50000"/>
                  </a:schemeClr>
                </a:solidFill>
              </a:rPr>
              <a:t>Will you want to wait for food ? </a:t>
            </a:r>
            <a:r>
              <a:rPr lang="en-US" altLang="zh-TW" dirty="0" smtClean="0">
                <a:solidFill>
                  <a:schemeClr val="accent1">
                    <a:lumMod val="50000"/>
                  </a:schemeClr>
                </a:solidFill>
              </a:rPr>
              <a:t> </a:t>
            </a:r>
            <a:r>
              <a:rPr lang="en-US" altLang="zh-TW" b="1" dirty="0" smtClean="0">
                <a:solidFill>
                  <a:schemeClr val="accent1">
                    <a:lumMod val="50000"/>
                  </a:schemeClr>
                </a:solidFill>
              </a:rPr>
              <a:t>Yes</a:t>
            </a:r>
            <a:r>
              <a:rPr lang="en-US" altLang="zh-TW" b="1" dirty="0">
                <a:solidFill>
                  <a:schemeClr val="accent1">
                    <a:lumMod val="50000"/>
                  </a:schemeClr>
                </a:solidFill>
              </a:rPr>
              <a:t>, 5 min is maximum</a:t>
            </a:r>
          </a:p>
          <a:p>
            <a:pPr marL="285750" indent="-285750" fontAlgn="base">
              <a:buFont typeface="Arial" panose="020B0604020202020204" pitchFamily="34" charset="0"/>
              <a:buChar char="•"/>
            </a:pPr>
            <a:r>
              <a:rPr lang="en-US" altLang="zh-TW" dirty="0">
                <a:solidFill>
                  <a:schemeClr val="accent1">
                    <a:lumMod val="50000"/>
                  </a:schemeClr>
                </a:solidFill>
              </a:rPr>
              <a:t>How do you pay ? </a:t>
            </a:r>
            <a:r>
              <a:rPr lang="en-US" altLang="zh-TW" dirty="0" smtClean="0">
                <a:solidFill>
                  <a:schemeClr val="accent1">
                    <a:lumMod val="50000"/>
                  </a:schemeClr>
                </a:solidFill>
              </a:rPr>
              <a:t>  </a:t>
            </a:r>
            <a:r>
              <a:rPr lang="en-US" altLang="zh-TW" b="1" dirty="0" smtClean="0">
                <a:solidFill>
                  <a:schemeClr val="accent1">
                    <a:lumMod val="50000"/>
                  </a:schemeClr>
                </a:solidFill>
              </a:rPr>
              <a:t>Easy </a:t>
            </a:r>
            <a:r>
              <a:rPr lang="en-US" altLang="zh-TW" b="1" dirty="0">
                <a:solidFill>
                  <a:schemeClr val="accent1">
                    <a:lumMod val="50000"/>
                  </a:schemeClr>
                </a:solidFill>
              </a:rPr>
              <a:t>card -&gt; cash -&gt; credit card</a:t>
            </a:r>
          </a:p>
          <a:p>
            <a:pPr marL="285750" indent="-285750" fontAlgn="base">
              <a:buFont typeface="Arial" panose="020B0604020202020204" pitchFamily="34" charset="0"/>
              <a:buChar char="•"/>
            </a:pPr>
            <a:r>
              <a:rPr lang="en-US" altLang="zh-TW" dirty="0" smtClean="0">
                <a:solidFill>
                  <a:schemeClr val="accent1">
                    <a:lumMod val="50000"/>
                  </a:schemeClr>
                </a:solidFill>
              </a:rPr>
              <a:t>How </a:t>
            </a:r>
            <a:r>
              <a:rPr lang="en-US" altLang="zh-TW" dirty="0">
                <a:solidFill>
                  <a:schemeClr val="accent1">
                    <a:lumMod val="50000"/>
                  </a:schemeClr>
                </a:solidFill>
              </a:rPr>
              <a:t>long does it take to commute for </a:t>
            </a:r>
            <a:r>
              <a:rPr lang="en-US" altLang="zh-TW" dirty="0" smtClean="0">
                <a:solidFill>
                  <a:schemeClr val="accent1">
                    <a:lumMod val="50000"/>
                  </a:schemeClr>
                </a:solidFill>
              </a:rPr>
              <a:t>eating </a:t>
            </a:r>
            <a:r>
              <a:rPr lang="en-US" altLang="zh-TW" dirty="0" smtClean="0">
                <a:solidFill>
                  <a:schemeClr val="accent1">
                    <a:lumMod val="50000"/>
                  </a:schemeClr>
                </a:solidFill>
                <a:latin typeface="+mj-lt"/>
              </a:rPr>
              <a:t>? </a:t>
            </a:r>
            <a:r>
              <a:rPr lang="en-US" altLang="zh-TW" b="1" dirty="0" smtClean="0">
                <a:solidFill>
                  <a:schemeClr val="accent1">
                    <a:lumMod val="50000"/>
                  </a:schemeClr>
                </a:solidFill>
              </a:rPr>
              <a:t>15 </a:t>
            </a:r>
            <a:r>
              <a:rPr lang="en-US" altLang="zh-TW" b="1" dirty="0">
                <a:solidFill>
                  <a:schemeClr val="accent1">
                    <a:lumMod val="50000"/>
                  </a:schemeClr>
                </a:solidFill>
              </a:rPr>
              <a:t>min</a:t>
            </a:r>
          </a:p>
          <a:p>
            <a:pPr marL="285750" indent="-285750" fontAlgn="base">
              <a:buFont typeface="Arial" panose="020B0604020202020204" pitchFamily="34" charset="0"/>
              <a:buChar char="•"/>
            </a:pPr>
            <a:r>
              <a:rPr lang="en-US" altLang="zh-TW" dirty="0">
                <a:solidFill>
                  <a:schemeClr val="accent1">
                    <a:lumMod val="50000"/>
                  </a:schemeClr>
                </a:solidFill>
              </a:rPr>
              <a:t>How do you decide what to eat? </a:t>
            </a:r>
            <a:r>
              <a:rPr lang="en-US" altLang="zh-TW" b="1" dirty="0" smtClean="0">
                <a:solidFill>
                  <a:schemeClr val="accent1">
                    <a:lumMod val="50000"/>
                  </a:schemeClr>
                </a:solidFill>
              </a:rPr>
              <a:t>Service</a:t>
            </a:r>
            <a:r>
              <a:rPr lang="en-US" altLang="zh-TW" b="1" dirty="0">
                <a:solidFill>
                  <a:schemeClr val="accent1">
                    <a:lumMod val="50000"/>
                  </a:schemeClr>
                </a:solidFill>
              </a:rPr>
              <a:t>, Price, good to eat or </a:t>
            </a:r>
            <a:r>
              <a:rPr lang="en-US" altLang="zh-TW" b="1" dirty="0" smtClean="0">
                <a:solidFill>
                  <a:schemeClr val="accent1">
                    <a:lumMod val="50000"/>
                  </a:schemeClr>
                </a:solidFill>
              </a:rPr>
              <a:t>not</a:t>
            </a:r>
          </a:p>
          <a:p>
            <a:pPr marL="285750" indent="-285750" fontAlgn="base">
              <a:buFont typeface="Arial" panose="020B0604020202020204" pitchFamily="34" charset="0"/>
              <a:buChar char="•"/>
            </a:pPr>
            <a:r>
              <a:rPr lang="en-US" altLang="zh-TW" dirty="0">
                <a:solidFill>
                  <a:schemeClr val="accent1">
                    <a:lumMod val="50000"/>
                  </a:schemeClr>
                </a:solidFill>
              </a:rPr>
              <a:t>Do you have experience of being late because of eating ?  </a:t>
            </a:r>
            <a:r>
              <a:rPr lang="en-US" altLang="zh-TW" b="1" dirty="0">
                <a:solidFill>
                  <a:schemeClr val="accent1">
                    <a:lumMod val="50000"/>
                  </a:schemeClr>
                </a:solidFill>
              </a:rPr>
              <a:t>Yes, waiting for meal</a:t>
            </a:r>
            <a:r>
              <a:rPr lang="en-US" altLang="zh-TW" b="1" dirty="0" smtClean="0">
                <a:solidFill>
                  <a:schemeClr val="accent1">
                    <a:lumMod val="50000"/>
                  </a:schemeClr>
                </a:solidFill>
              </a:rPr>
              <a:t>.</a:t>
            </a:r>
          </a:p>
          <a:p>
            <a:pPr marL="285750" indent="-285750" fontAlgn="base">
              <a:buFont typeface="Arial" panose="020B0604020202020204" pitchFamily="34" charset="0"/>
              <a:buChar char="•"/>
            </a:pPr>
            <a:r>
              <a:rPr lang="en-US" altLang="zh-TW" dirty="0" smtClean="0">
                <a:solidFill>
                  <a:schemeClr val="accent1">
                    <a:lumMod val="50000"/>
                  </a:schemeClr>
                </a:solidFill>
              </a:rPr>
              <a:t>Can </a:t>
            </a:r>
            <a:r>
              <a:rPr lang="en-US" altLang="zh-TW" dirty="0">
                <a:solidFill>
                  <a:schemeClr val="accent1">
                    <a:lumMod val="50000"/>
                  </a:schemeClr>
                </a:solidFill>
              </a:rPr>
              <a:t>the empty table, so you don’t have to wait, be an important factor in choosing the place to eat? </a:t>
            </a:r>
            <a:r>
              <a:rPr lang="en-US" altLang="zh-TW" dirty="0" smtClean="0">
                <a:solidFill>
                  <a:schemeClr val="accent1">
                    <a:lumMod val="50000"/>
                  </a:schemeClr>
                </a:solidFill>
              </a:rPr>
              <a:t>   </a:t>
            </a:r>
            <a:r>
              <a:rPr lang="en-US" altLang="zh-TW" b="1" dirty="0" smtClean="0">
                <a:solidFill>
                  <a:schemeClr val="accent1">
                    <a:lumMod val="50000"/>
                  </a:schemeClr>
                </a:solidFill>
              </a:rPr>
              <a:t>Yes</a:t>
            </a:r>
            <a:r>
              <a:rPr lang="en-US" altLang="zh-TW" b="1" dirty="0">
                <a:solidFill>
                  <a:schemeClr val="accent1">
                    <a:lumMod val="50000"/>
                  </a:schemeClr>
                </a:solidFill>
              </a:rPr>
              <a:t>. Actually it is, quite often.</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320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6552728"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Affinity diagram</a:t>
            </a:r>
            <a:endParaRPr lang="zh-TW" altLang="en-US" sz="3200" b="1" dirty="0">
              <a:solidFill>
                <a:schemeClr val="accent1">
                  <a:lumMod val="50000"/>
                </a:schemeClr>
              </a:solidFill>
            </a:endParaRPr>
          </a:p>
        </p:txBody>
      </p:sp>
      <p:cxnSp>
        <p:nvCxnSpPr>
          <p:cNvPr id="4" name="直線接點 3"/>
          <p:cNvCxnSpPr/>
          <p:nvPr/>
        </p:nvCxnSpPr>
        <p:spPr>
          <a:xfrm>
            <a:off x="323528" y="843558"/>
            <a:ext cx="8424936"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4098" name="Picture 2" descr="https://lh5.googleusercontent.com/pTv6QJKUrGuQw_ZHJNX1-EsDPeM7ENHNXMN-TjafLpL2rLGG7VG-ngopUXZJRNPAHgeGfLlJ6oURBcfdCSZ1t_blQ66P-vDagSM1Zm9OPbdaKwkDQn2YmeqxHMueztoqXIfPoAODeu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12694" y="915565"/>
            <a:ext cx="4189225" cy="3168353"/>
          </a:xfrm>
          <a:prstGeom prst="rect">
            <a:avLst/>
          </a:prstGeom>
          <a:noFill/>
          <a:extLst>
            <a:ext uri="{909E8E84-426E-40DD-AFC4-6F175D3DCCD1}">
              <a14:hiddenFill xmlns:a14="http://schemas.microsoft.com/office/drawing/2010/main">
                <a:solidFill>
                  <a:srgbClr val="FFFFFF"/>
                </a:solidFill>
              </a14:hiddenFill>
            </a:ext>
          </a:extLst>
        </p:spPr>
      </p:pic>
      <p:sp>
        <p:nvSpPr>
          <p:cNvPr id="7" name="摺角紙張 6"/>
          <p:cNvSpPr/>
          <p:nvPr/>
        </p:nvSpPr>
        <p:spPr>
          <a:xfrm>
            <a:off x="469360" y="843558"/>
            <a:ext cx="3886616" cy="3384376"/>
          </a:xfrm>
          <a:prstGeom prst="foldedCorner">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altLang="zh-TW" b="1" dirty="0" smtClean="0">
              <a:solidFill>
                <a:schemeClr val="accent1">
                  <a:lumMod val="50000"/>
                </a:schemeClr>
              </a:solidFill>
            </a:endParaRPr>
          </a:p>
          <a:p>
            <a:pPr marL="285750" indent="-285750">
              <a:buFont typeface="Arial" panose="020B0604020202020204" pitchFamily="34" charset="0"/>
              <a:buChar char="•"/>
            </a:pPr>
            <a:endParaRPr lang="en-US" altLang="zh-TW" b="1" dirty="0">
              <a:solidFill>
                <a:schemeClr val="accent1">
                  <a:lumMod val="50000"/>
                </a:schemeClr>
              </a:solidFill>
            </a:endParaRPr>
          </a:p>
          <a:p>
            <a:pPr marL="285750" indent="-285750">
              <a:buFont typeface="Arial" panose="020B0604020202020204" pitchFamily="34" charset="0"/>
              <a:buChar char="•"/>
            </a:pPr>
            <a:endParaRPr lang="en-US" altLang="zh-TW" b="1" dirty="0" smtClean="0">
              <a:solidFill>
                <a:schemeClr val="accent1">
                  <a:lumMod val="50000"/>
                </a:schemeClr>
              </a:solidFill>
            </a:endParaRPr>
          </a:p>
          <a:p>
            <a:pPr marL="285750" indent="-285750">
              <a:buFont typeface="Arial" panose="020B0604020202020204" pitchFamily="34" charset="0"/>
              <a:buChar char="•"/>
            </a:pPr>
            <a:r>
              <a:rPr lang="en-US" altLang="zh-TW" b="1" dirty="0" smtClean="0">
                <a:solidFill>
                  <a:schemeClr val="accent1">
                    <a:lumMod val="50000"/>
                  </a:schemeClr>
                </a:solidFill>
              </a:rPr>
              <a:t>Most </a:t>
            </a:r>
            <a:r>
              <a:rPr lang="en-US" altLang="zh-TW" b="1" dirty="0">
                <a:solidFill>
                  <a:schemeClr val="accent1">
                    <a:lumMod val="50000"/>
                  </a:schemeClr>
                </a:solidFill>
              </a:rPr>
              <a:t>of the time, I'm in a hurry, so waiting factor can decide about choosing the restaurant. I need an option to reserve place and order food</a:t>
            </a:r>
            <a:r>
              <a:rPr lang="en-US" altLang="zh-TW" b="1" dirty="0" smtClean="0">
                <a:solidFill>
                  <a:schemeClr val="accent1">
                    <a:lumMod val="50000"/>
                  </a:schemeClr>
                </a:solidFill>
              </a:rPr>
              <a:t>.</a:t>
            </a:r>
          </a:p>
          <a:p>
            <a:endParaRPr lang="en-US" altLang="zh-TW" b="1" dirty="0">
              <a:solidFill>
                <a:schemeClr val="accent1">
                  <a:lumMod val="50000"/>
                </a:schemeClr>
              </a:solidFill>
            </a:endParaRPr>
          </a:p>
          <a:p>
            <a:pPr marL="285750" indent="-285750">
              <a:buFont typeface="Arial" panose="020B0604020202020204" pitchFamily="34" charset="0"/>
              <a:buChar char="•"/>
            </a:pPr>
            <a:r>
              <a:rPr lang="en-US" altLang="zh-TW" b="1" dirty="0">
                <a:solidFill>
                  <a:schemeClr val="accent1">
                    <a:lumMod val="50000"/>
                  </a:schemeClr>
                </a:solidFill>
              </a:rPr>
              <a:t>Beside waiting time, the most important factors are: quality of food, price and service.</a:t>
            </a:r>
          </a:p>
          <a:p>
            <a:pPr algn="ctr"/>
            <a:endParaRPr lang="zh-TW" altLang="en-US" dirty="0"/>
          </a:p>
        </p:txBody>
      </p:sp>
      <p:pic>
        <p:nvPicPr>
          <p:cNvPr id="9"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4160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lh6.googleusercontent.com/imVyEFMcs3GFr-xbTU0G4HpVJ-rdfjaXSUxCPgOc4zf01Xtxr_QkHxQlPwXb_TB-G_JoKRISmndRv1WMRYaq-UIYiN1Wk7TiGi0iJXXZAzxdhW68Cv_wLZHQdN2SQY6D_u0UD1TyY5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70733"/>
            <a:ext cx="7335216" cy="4465313"/>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1"/>
          <p:cNvSpPr txBox="1"/>
          <p:nvPr/>
        </p:nvSpPr>
        <p:spPr>
          <a:xfrm>
            <a:off x="251520" y="258783"/>
            <a:ext cx="6912768"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Taiwanese Persona</a:t>
            </a:r>
            <a:endParaRPr lang="zh-TW" altLang="en-US"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766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771550"/>
            <a:ext cx="7322380"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字方塊 1"/>
          <p:cNvSpPr txBox="1"/>
          <p:nvPr/>
        </p:nvSpPr>
        <p:spPr>
          <a:xfrm>
            <a:off x="251520" y="258783"/>
            <a:ext cx="6912768"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Taiwanese Persona</a:t>
            </a:r>
            <a:endParaRPr lang="zh-TW" altLang="en-US"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473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lh5.googleusercontent.com/Tmkh_qaorrFz4mTublwVBF7iyLyUrFq-7mUYVTJJgoiDjzFY3mPHi_vpp_z_zsbe_fvn2aF1-6PmQpG3LaBVX5G5iitBsjHUsIVMA69u82Cay-m4DDK4dyKLW_DTZTzgeKr6wQdiDd4"/>
          <p:cNvPicPr>
            <a:picLocks noChangeAspect="1" noChangeArrowheads="1"/>
          </p:cNvPicPr>
          <p:nvPr/>
        </p:nvPicPr>
        <p:blipFill rotWithShape="1">
          <a:blip r:embed="rId2">
            <a:extLst>
              <a:ext uri="{28A0092B-C50C-407E-A947-70E740481C1C}">
                <a14:useLocalDpi xmlns:a14="http://schemas.microsoft.com/office/drawing/2010/main" val="0"/>
              </a:ext>
            </a:extLst>
          </a:blip>
          <a:srcRect l="7847" t="11346" r="51924" b="9117"/>
          <a:stretch/>
        </p:blipFill>
        <p:spPr bwMode="auto">
          <a:xfrm>
            <a:off x="323528" y="915566"/>
            <a:ext cx="7251676" cy="4032448"/>
          </a:xfrm>
          <a:prstGeom prst="rect">
            <a:avLst/>
          </a:prstGeom>
          <a:noFill/>
          <a:extLst>
            <a:ext uri="{909E8E84-426E-40DD-AFC4-6F175D3DCCD1}">
              <a14:hiddenFill xmlns:a14="http://schemas.microsoft.com/office/drawing/2010/main">
                <a:solidFill>
                  <a:srgbClr val="FFFFFF"/>
                </a:solidFill>
              </a14:hiddenFill>
            </a:ext>
          </a:extLst>
        </p:spPr>
      </p:pic>
      <p:sp>
        <p:nvSpPr>
          <p:cNvPr id="2" name="文字方塊 1"/>
          <p:cNvSpPr txBox="1"/>
          <p:nvPr/>
        </p:nvSpPr>
        <p:spPr>
          <a:xfrm>
            <a:off x="251520" y="258783"/>
            <a:ext cx="6912768"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Foreigner Persona</a:t>
            </a:r>
            <a:endParaRPr lang="zh-TW" altLang="en-US"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6811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6336704"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User Analysis</a:t>
            </a:r>
            <a:endParaRPr lang="zh-TW" altLang="en-US" sz="3200" b="1" dirty="0">
              <a:solidFill>
                <a:schemeClr val="accent1">
                  <a:lumMod val="50000"/>
                </a:schemeClr>
              </a:solidFill>
            </a:endParaRPr>
          </a:p>
        </p:txBody>
      </p:sp>
      <p:sp>
        <p:nvSpPr>
          <p:cNvPr id="3" name="文字方塊 2"/>
          <p:cNvSpPr txBox="1"/>
          <p:nvPr/>
        </p:nvSpPr>
        <p:spPr>
          <a:xfrm>
            <a:off x="2267744" y="1038671"/>
            <a:ext cx="6696544" cy="1477328"/>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Definition of user group </a:t>
            </a:r>
          </a:p>
          <a:p>
            <a:pPr lvl="1" fontAlgn="base"/>
            <a:r>
              <a:rPr lang="en-US" altLang="zh-TW" dirty="0" smtClean="0">
                <a:solidFill>
                  <a:schemeClr val="accent1">
                    <a:lumMod val="50000"/>
                  </a:schemeClr>
                </a:solidFill>
              </a:rPr>
              <a:t>The </a:t>
            </a:r>
            <a:r>
              <a:rPr lang="en-US" altLang="zh-TW" dirty="0">
                <a:solidFill>
                  <a:schemeClr val="accent1">
                    <a:lumMod val="50000"/>
                  </a:schemeClr>
                </a:solidFill>
              </a:rPr>
              <a:t>people is troubled with waiting and finding for eating.</a:t>
            </a:r>
          </a:p>
          <a:p>
            <a:pPr lvl="1" fontAlgn="base"/>
            <a:r>
              <a:rPr lang="en-US" altLang="zh-TW" dirty="0">
                <a:solidFill>
                  <a:schemeClr val="accent1">
                    <a:lumMod val="50000"/>
                  </a:schemeClr>
                </a:solidFill>
              </a:rPr>
              <a:t>The people is troubled with quality of restaurant.</a:t>
            </a:r>
          </a:p>
          <a:p>
            <a:pPr lvl="1" fontAlgn="base"/>
            <a:r>
              <a:rPr lang="en-US" altLang="zh-TW" dirty="0">
                <a:solidFill>
                  <a:schemeClr val="accent1">
                    <a:lumMod val="50000"/>
                  </a:schemeClr>
                </a:solidFill>
              </a:rPr>
              <a:t>The people is familiar with high </a:t>
            </a:r>
            <a:r>
              <a:rPr lang="en-US" altLang="zh-TW" dirty="0" smtClean="0">
                <a:solidFill>
                  <a:schemeClr val="accent1">
                    <a:lumMod val="50000"/>
                  </a:schemeClr>
                </a:solidFill>
              </a:rPr>
              <a:t>technology</a:t>
            </a:r>
          </a:p>
          <a:p>
            <a:pPr fontAlgn="base"/>
            <a:endParaRPr lang="en-US" altLang="zh-TW" dirty="0">
              <a:solidFill>
                <a:schemeClr val="bg1"/>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ãgroup iconãçåçæå°çµæ"/>
          <p:cNvPicPr>
            <a:picLocks noChangeAspect="1" noChangeArrowheads="1"/>
          </p:cNvPicPr>
          <p:nvPr/>
        </p:nvPicPr>
        <p:blipFill>
          <a:blip r:embed="rId4" cstate="print">
            <a:biLevel thresh="75000"/>
            <a:extLst>
              <a:ext uri="{28A0092B-C50C-407E-A947-70E740481C1C}">
                <a14:useLocalDpi xmlns:a14="http://schemas.microsoft.com/office/drawing/2010/main" val="0"/>
              </a:ext>
            </a:extLst>
          </a:blip>
          <a:srcRect/>
          <a:stretch>
            <a:fillRect/>
          </a:stretch>
        </p:blipFill>
        <p:spPr bwMode="auto">
          <a:xfrm>
            <a:off x="971600" y="1203598"/>
            <a:ext cx="898486" cy="898486"/>
          </a:xfrm>
          <a:prstGeom prst="rect">
            <a:avLst/>
          </a:prstGeom>
          <a:noFill/>
          <a:extLst>
            <a:ext uri="{909E8E84-426E-40DD-AFC4-6F175D3DCCD1}">
              <a14:hiddenFill xmlns:a14="http://schemas.microsoft.com/office/drawing/2010/main">
                <a:solidFill>
                  <a:srgbClr val="FFFFFF"/>
                </a:solidFill>
              </a14:hiddenFill>
            </a:ext>
          </a:extLst>
        </p:spPr>
      </p:pic>
      <p:pic>
        <p:nvPicPr>
          <p:cNvPr id="11273" name="Picture 9" descr="ç¸éåç"/>
          <p:cNvPicPr>
            <a:picLocks noChangeAspect="1" noChangeArrowheads="1"/>
          </p:cNvPicPr>
          <p:nvPr/>
        </p:nvPicPr>
        <p:blipFill rotWithShape="1">
          <a:blip r:embed="rId5">
            <a:extLst>
              <a:ext uri="{28A0092B-C50C-407E-A947-70E740481C1C}">
                <a14:useLocalDpi xmlns:a14="http://schemas.microsoft.com/office/drawing/2010/main" val="0"/>
              </a:ext>
            </a:extLst>
          </a:blip>
          <a:srcRect l="22337" t="13846" r="21329" b="32995"/>
          <a:stretch/>
        </p:blipFill>
        <p:spPr bwMode="auto">
          <a:xfrm>
            <a:off x="884465" y="2504190"/>
            <a:ext cx="1072755" cy="1152234"/>
          </a:xfrm>
          <a:prstGeom prst="rect">
            <a:avLst/>
          </a:prstGeom>
          <a:noFill/>
          <a:extLst>
            <a:ext uri="{909E8E84-426E-40DD-AFC4-6F175D3DCCD1}">
              <a14:hiddenFill xmlns:a14="http://schemas.microsoft.com/office/drawing/2010/main">
                <a:solidFill>
                  <a:srgbClr val="FFFFFF"/>
                </a:solidFill>
              </a14:hiddenFill>
            </a:ext>
          </a:extLst>
        </p:spPr>
      </p:pic>
      <p:pic>
        <p:nvPicPr>
          <p:cNvPr id="11275" name="Picture 11" descr="ç¸éåç"/>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7440" y="3937750"/>
            <a:ext cx="938256" cy="938256"/>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2267744" y="2523549"/>
            <a:ext cx="4680520" cy="1200329"/>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smtClean="0">
                <a:solidFill>
                  <a:schemeClr val="accent1">
                    <a:lumMod val="50000"/>
                  </a:schemeClr>
                </a:solidFill>
              </a:rPr>
              <a:t>User </a:t>
            </a:r>
            <a:r>
              <a:rPr lang="en-US" altLang="zh-TW" dirty="0">
                <a:solidFill>
                  <a:schemeClr val="accent1">
                    <a:lumMod val="50000"/>
                  </a:schemeClr>
                </a:solidFill>
              </a:rPr>
              <a:t>characteristics</a:t>
            </a:r>
          </a:p>
          <a:p>
            <a:pPr lvl="1" fontAlgn="base"/>
            <a:r>
              <a:rPr lang="en-US" altLang="zh-TW" dirty="0">
                <a:solidFill>
                  <a:schemeClr val="accent1">
                    <a:lumMod val="50000"/>
                  </a:schemeClr>
                </a:solidFill>
              </a:rPr>
              <a:t>Impatient, Pay attention to efficiency</a:t>
            </a:r>
          </a:p>
          <a:p>
            <a:pPr lvl="1" fontAlgn="base"/>
            <a:r>
              <a:rPr lang="en-US" altLang="zh-TW" dirty="0">
                <a:solidFill>
                  <a:schemeClr val="accent1">
                    <a:lumMod val="50000"/>
                  </a:schemeClr>
                </a:solidFill>
              </a:rPr>
              <a:t>Curious, Early adopter</a:t>
            </a:r>
          </a:p>
          <a:p>
            <a:pPr lvl="1" fontAlgn="base"/>
            <a:r>
              <a:rPr lang="en-US" altLang="zh-TW" dirty="0" smtClean="0">
                <a:solidFill>
                  <a:schemeClr val="accent1">
                    <a:lumMod val="50000"/>
                  </a:schemeClr>
                </a:solidFill>
              </a:rPr>
              <a:t>Enjoyment</a:t>
            </a:r>
          </a:p>
        </p:txBody>
      </p:sp>
      <p:sp>
        <p:nvSpPr>
          <p:cNvPr id="8" name="文字方塊 7"/>
          <p:cNvSpPr txBox="1"/>
          <p:nvPr/>
        </p:nvSpPr>
        <p:spPr>
          <a:xfrm>
            <a:off x="2267744" y="4024684"/>
            <a:ext cx="6336704" cy="923330"/>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User</a:t>
            </a:r>
          </a:p>
          <a:p>
            <a:pPr lvl="1" fontAlgn="base"/>
            <a:r>
              <a:rPr lang="en-US" altLang="zh-TW" dirty="0">
                <a:solidFill>
                  <a:schemeClr val="accent1">
                    <a:lumMod val="50000"/>
                  </a:schemeClr>
                </a:solidFill>
              </a:rPr>
              <a:t>Sometimes: </a:t>
            </a:r>
            <a:r>
              <a:rPr lang="zh-TW" altLang="en-US" dirty="0" smtClean="0">
                <a:solidFill>
                  <a:schemeClr val="accent1">
                    <a:lumMod val="50000"/>
                  </a:schemeClr>
                </a:solidFill>
              </a:rPr>
              <a:t> </a:t>
            </a:r>
            <a:r>
              <a:rPr lang="en-US" altLang="zh-TW" dirty="0" smtClean="0">
                <a:solidFill>
                  <a:schemeClr val="accent1">
                    <a:lumMod val="50000"/>
                  </a:schemeClr>
                </a:solidFill>
              </a:rPr>
              <a:t>Normal </a:t>
            </a:r>
            <a:r>
              <a:rPr lang="en-US" altLang="zh-TW" dirty="0">
                <a:solidFill>
                  <a:schemeClr val="accent1">
                    <a:lumMod val="50000"/>
                  </a:schemeClr>
                </a:solidFill>
              </a:rPr>
              <a:t>people, </a:t>
            </a:r>
            <a:r>
              <a:rPr lang="en-US" altLang="zh-TW" dirty="0" smtClean="0">
                <a:solidFill>
                  <a:schemeClr val="accent1">
                    <a:lumMod val="50000"/>
                  </a:schemeClr>
                </a:solidFill>
              </a:rPr>
              <a:t>like </a:t>
            </a:r>
            <a:r>
              <a:rPr lang="en-US" altLang="zh-TW" dirty="0">
                <a:solidFill>
                  <a:schemeClr val="accent1">
                    <a:lumMod val="50000"/>
                  </a:schemeClr>
                </a:solidFill>
              </a:rPr>
              <a:t>office worker and student</a:t>
            </a:r>
          </a:p>
          <a:p>
            <a:pPr lvl="1" fontAlgn="base"/>
            <a:r>
              <a:rPr lang="en-US" altLang="zh-TW" dirty="0">
                <a:solidFill>
                  <a:schemeClr val="accent1">
                    <a:lumMod val="50000"/>
                  </a:schemeClr>
                </a:solidFill>
              </a:rPr>
              <a:t>Always: </a:t>
            </a:r>
            <a:r>
              <a:rPr lang="zh-TW" altLang="en-US" dirty="0" smtClean="0">
                <a:solidFill>
                  <a:schemeClr val="accent1">
                    <a:lumMod val="50000"/>
                  </a:schemeClr>
                </a:solidFill>
              </a:rPr>
              <a:t>        </a:t>
            </a:r>
            <a:r>
              <a:rPr lang="en-US" altLang="zh-TW" dirty="0" smtClean="0">
                <a:solidFill>
                  <a:schemeClr val="accent1">
                    <a:lumMod val="50000"/>
                  </a:schemeClr>
                </a:solidFill>
              </a:rPr>
              <a:t>The </a:t>
            </a:r>
            <a:r>
              <a:rPr lang="en-US" altLang="zh-TW" dirty="0">
                <a:solidFill>
                  <a:schemeClr val="accent1">
                    <a:lumMod val="50000"/>
                  </a:schemeClr>
                </a:solidFill>
              </a:rPr>
              <a:t>people with “User characteristics” </a:t>
            </a:r>
          </a:p>
        </p:txBody>
      </p:sp>
    </p:spTree>
    <p:extLst>
      <p:ext uri="{BB962C8B-B14F-4D97-AF65-F5344CB8AC3E}">
        <p14:creationId xmlns:p14="http://schemas.microsoft.com/office/powerpoint/2010/main" val="1693101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6336704"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User Analysis</a:t>
            </a:r>
            <a:endParaRPr lang="zh-TW" altLang="en-US" sz="3200" b="1" dirty="0">
              <a:solidFill>
                <a:schemeClr val="accent1">
                  <a:lumMod val="50000"/>
                </a:schemeClr>
              </a:solidFill>
            </a:endParaRPr>
          </a:p>
        </p:txBody>
      </p:sp>
      <p:sp>
        <p:nvSpPr>
          <p:cNvPr id="3" name="文字方塊 2"/>
          <p:cNvSpPr txBox="1"/>
          <p:nvPr/>
        </p:nvSpPr>
        <p:spPr>
          <a:xfrm>
            <a:off x="323728" y="1038671"/>
            <a:ext cx="6696544" cy="1477328"/>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Definition of user group </a:t>
            </a:r>
          </a:p>
          <a:p>
            <a:pPr lvl="1" fontAlgn="base"/>
            <a:r>
              <a:rPr lang="en-US" altLang="zh-TW" dirty="0" smtClean="0">
                <a:solidFill>
                  <a:schemeClr val="accent1">
                    <a:lumMod val="50000"/>
                  </a:schemeClr>
                </a:solidFill>
              </a:rPr>
              <a:t>The </a:t>
            </a:r>
            <a:r>
              <a:rPr lang="en-US" altLang="zh-TW" dirty="0">
                <a:solidFill>
                  <a:schemeClr val="accent1">
                    <a:lumMod val="50000"/>
                  </a:schemeClr>
                </a:solidFill>
              </a:rPr>
              <a:t>people is troubled with waiting and finding for eating.</a:t>
            </a:r>
          </a:p>
          <a:p>
            <a:pPr lvl="1" fontAlgn="base"/>
            <a:r>
              <a:rPr lang="en-US" altLang="zh-TW" dirty="0">
                <a:solidFill>
                  <a:schemeClr val="accent1">
                    <a:lumMod val="50000"/>
                  </a:schemeClr>
                </a:solidFill>
              </a:rPr>
              <a:t>The people is troubled with quality of restaurant.</a:t>
            </a:r>
          </a:p>
          <a:p>
            <a:pPr lvl="1" fontAlgn="base"/>
            <a:r>
              <a:rPr lang="en-US" altLang="zh-TW" dirty="0">
                <a:solidFill>
                  <a:schemeClr val="accent1">
                    <a:lumMod val="50000"/>
                  </a:schemeClr>
                </a:solidFill>
              </a:rPr>
              <a:t>The people is familiar with high </a:t>
            </a:r>
            <a:r>
              <a:rPr lang="en-US" altLang="zh-TW" dirty="0" smtClean="0">
                <a:solidFill>
                  <a:schemeClr val="accent1">
                    <a:lumMod val="50000"/>
                  </a:schemeClr>
                </a:solidFill>
              </a:rPr>
              <a:t>technology</a:t>
            </a:r>
          </a:p>
          <a:p>
            <a:pPr fontAlgn="base"/>
            <a:endParaRPr lang="en-US" altLang="zh-TW" dirty="0">
              <a:solidFill>
                <a:schemeClr val="bg1"/>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3347864" y="2595557"/>
            <a:ext cx="5544616" cy="923330"/>
          </a:xfrm>
          <a:prstGeom prst="rect">
            <a:avLst/>
          </a:prstGeom>
          <a:noFill/>
          <a:ln w="22225">
            <a:solidFill>
              <a:schemeClr val="accent1">
                <a:lumMod val="50000"/>
              </a:schemeClr>
            </a:solidFill>
          </a:ln>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Problem of user group</a:t>
            </a:r>
          </a:p>
          <a:p>
            <a:pPr lvl="1" fontAlgn="base"/>
            <a:r>
              <a:rPr lang="en-US" altLang="zh-TW" dirty="0" smtClean="0">
                <a:solidFill>
                  <a:schemeClr val="accent1">
                    <a:lumMod val="50000"/>
                  </a:schemeClr>
                </a:solidFill>
              </a:rPr>
              <a:t>Late, Wasting </a:t>
            </a:r>
            <a:r>
              <a:rPr lang="en-US" altLang="zh-TW" dirty="0">
                <a:solidFill>
                  <a:schemeClr val="accent1">
                    <a:lumMod val="50000"/>
                  </a:schemeClr>
                </a:solidFill>
              </a:rPr>
              <a:t>too much time</a:t>
            </a:r>
          </a:p>
          <a:p>
            <a:pPr lvl="1" fontAlgn="base"/>
            <a:r>
              <a:rPr lang="en-US" altLang="zh-TW" dirty="0">
                <a:solidFill>
                  <a:schemeClr val="accent1">
                    <a:lumMod val="50000"/>
                  </a:schemeClr>
                </a:solidFill>
              </a:rPr>
              <a:t>Eat bad food or meet bad service</a:t>
            </a:r>
            <a:endParaRPr lang="en-US" altLang="zh-TW" dirty="0" smtClean="0">
              <a:solidFill>
                <a:schemeClr val="accent1">
                  <a:lumMod val="50000"/>
                </a:schemeClr>
              </a:solidFill>
            </a:endParaRPr>
          </a:p>
        </p:txBody>
      </p:sp>
      <p:sp>
        <p:nvSpPr>
          <p:cNvPr id="8" name="文字方塊 7"/>
          <p:cNvSpPr txBox="1"/>
          <p:nvPr/>
        </p:nvSpPr>
        <p:spPr>
          <a:xfrm>
            <a:off x="3347864" y="3795886"/>
            <a:ext cx="5544616" cy="923330"/>
          </a:xfrm>
          <a:prstGeom prst="rect">
            <a:avLst/>
          </a:prstGeom>
          <a:noFill/>
          <a:ln w="22225">
            <a:solidFill>
              <a:schemeClr val="accent1">
                <a:lumMod val="50000"/>
              </a:schemeClr>
            </a:solidFill>
          </a:ln>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Main reason</a:t>
            </a:r>
          </a:p>
          <a:p>
            <a:pPr lvl="1" fontAlgn="base"/>
            <a:r>
              <a:rPr lang="en-US" altLang="zh-TW" dirty="0">
                <a:solidFill>
                  <a:schemeClr val="accent1">
                    <a:lumMod val="50000"/>
                  </a:schemeClr>
                </a:solidFill>
              </a:rPr>
              <a:t>Vacancy, traffic, waiting for food</a:t>
            </a:r>
          </a:p>
          <a:p>
            <a:pPr lvl="1" fontAlgn="base"/>
            <a:r>
              <a:rPr lang="en-US" altLang="zh-TW" dirty="0">
                <a:solidFill>
                  <a:schemeClr val="accent1">
                    <a:lumMod val="50000"/>
                  </a:schemeClr>
                </a:solidFill>
              </a:rPr>
              <a:t>The comment on the Internet may not really precise</a:t>
            </a:r>
          </a:p>
        </p:txBody>
      </p:sp>
      <p:cxnSp>
        <p:nvCxnSpPr>
          <p:cNvPr id="9" name="直線單箭頭接點 8"/>
          <p:cNvCxnSpPr>
            <a:endCxn id="7" idx="1"/>
          </p:cNvCxnSpPr>
          <p:nvPr/>
        </p:nvCxnSpPr>
        <p:spPr>
          <a:xfrm>
            <a:off x="2123728" y="3057222"/>
            <a:ext cx="1224136" cy="0"/>
          </a:xfrm>
          <a:prstGeom prst="straightConnector1">
            <a:avLst/>
          </a:prstGeom>
          <a:ln w="22225">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2123728" y="4227934"/>
            <a:ext cx="1224136" cy="0"/>
          </a:xfrm>
          <a:prstGeom prst="straightConnector1">
            <a:avLst/>
          </a:prstGeom>
          <a:ln w="22225">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2123728" y="3057222"/>
            <a:ext cx="0" cy="1170712"/>
          </a:xfrm>
          <a:prstGeom prst="line">
            <a:avLst/>
          </a:prstGeom>
          <a:ln w="222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1115616" y="2283718"/>
            <a:ext cx="0" cy="1358860"/>
          </a:xfrm>
          <a:prstGeom prst="line">
            <a:avLst/>
          </a:prstGeom>
          <a:ln w="222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1115616" y="3642578"/>
            <a:ext cx="1008112" cy="0"/>
          </a:xfrm>
          <a:prstGeom prst="line">
            <a:avLst/>
          </a:prstGeom>
          <a:ln w="222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4823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6336704"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Design process - User Scenarios</a:t>
            </a:r>
            <a:endParaRPr lang="zh-TW" altLang="en-US" sz="3200" b="1" dirty="0">
              <a:solidFill>
                <a:schemeClr val="accent1">
                  <a:lumMod val="50000"/>
                </a:schemeClr>
              </a:solidFill>
            </a:endParaRPr>
          </a:p>
        </p:txBody>
      </p:sp>
      <p:sp>
        <p:nvSpPr>
          <p:cNvPr id="3" name="文字方塊 2"/>
          <p:cNvSpPr txBox="1"/>
          <p:nvPr/>
        </p:nvSpPr>
        <p:spPr>
          <a:xfrm>
            <a:off x="323728" y="1038671"/>
            <a:ext cx="6696544" cy="2031325"/>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smtClean="0">
                <a:solidFill>
                  <a:schemeClr val="accent1">
                    <a:lumMod val="50000"/>
                  </a:schemeClr>
                </a:solidFill>
              </a:rPr>
              <a:t>User</a:t>
            </a:r>
          </a:p>
          <a:p>
            <a:pPr lvl="1" fontAlgn="base"/>
            <a:r>
              <a:rPr lang="en-US" altLang="zh-TW" dirty="0" smtClean="0">
                <a:solidFill>
                  <a:schemeClr val="accent1">
                    <a:lumMod val="50000"/>
                  </a:schemeClr>
                </a:solidFill>
              </a:rPr>
              <a:t>Sometimes</a:t>
            </a:r>
            <a:r>
              <a:rPr lang="en-US" altLang="zh-TW" dirty="0">
                <a:solidFill>
                  <a:schemeClr val="accent1">
                    <a:lumMod val="50000"/>
                  </a:schemeClr>
                </a:solidFill>
              </a:rPr>
              <a:t>: Normal people, like office worker and </a:t>
            </a:r>
            <a:r>
              <a:rPr lang="en-US" altLang="zh-TW" dirty="0" smtClean="0">
                <a:solidFill>
                  <a:schemeClr val="accent1">
                    <a:lumMod val="50000"/>
                  </a:schemeClr>
                </a:solidFill>
              </a:rPr>
              <a:t>student</a:t>
            </a:r>
          </a:p>
          <a:p>
            <a:pPr lvl="1" fontAlgn="base"/>
            <a:r>
              <a:rPr lang="en-US" altLang="zh-TW" dirty="0" smtClean="0">
                <a:solidFill>
                  <a:schemeClr val="accent1">
                    <a:lumMod val="50000"/>
                  </a:schemeClr>
                </a:solidFill>
              </a:rPr>
              <a:t>Always</a:t>
            </a:r>
            <a:r>
              <a:rPr lang="en-US" altLang="zh-TW" dirty="0">
                <a:solidFill>
                  <a:schemeClr val="accent1">
                    <a:lumMod val="50000"/>
                  </a:schemeClr>
                </a:solidFill>
              </a:rPr>
              <a:t>: The people with “User characteristics”</a:t>
            </a:r>
          </a:p>
          <a:p>
            <a:pPr marL="285750" indent="-285750">
              <a:buFont typeface="Arial" panose="020B0604020202020204" pitchFamily="34" charset="0"/>
              <a:buChar char="•"/>
            </a:pPr>
            <a:r>
              <a:rPr lang="en-US" altLang="zh-TW" dirty="0">
                <a:solidFill>
                  <a:schemeClr val="accent1">
                    <a:lumMod val="50000"/>
                  </a:schemeClr>
                </a:solidFill>
              </a:rPr>
              <a:t>Main </a:t>
            </a:r>
            <a:r>
              <a:rPr lang="en-US" altLang="zh-TW" dirty="0" smtClean="0">
                <a:solidFill>
                  <a:schemeClr val="accent1">
                    <a:lumMod val="50000"/>
                  </a:schemeClr>
                </a:solidFill>
              </a:rPr>
              <a:t>reason</a:t>
            </a:r>
          </a:p>
          <a:p>
            <a:pPr lvl="1"/>
            <a:r>
              <a:rPr lang="en-US" altLang="zh-TW" dirty="0" smtClean="0">
                <a:solidFill>
                  <a:schemeClr val="accent1">
                    <a:lumMod val="50000"/>
                  </a:schemeClr>
                </a:solidFill>
              </a:rPr>
              <a:t>Vacancy</a:t>
            </a:r>
            <a:r>
              <a:rPr lang="en-US" altLang="zh-TW" dirty="0">
                <a:solidFill>
                  <a:schemeClr val="accent1">
                    <a:lumMod val="50000"/>
                  </a:schemeClr>
                </a:solidFill>
              </a:rPr>
              <a:t>, traffic, waiting for </a:t>
            </a:r>
            <a:r>
              <a:rPr lang="en-US" altLang="zh-TW" dirty="0" smtClean="0">
                <a:solidFill>
                  <a:schemeClr val="accent1">
                    <a:lumMod val="50000"/>
                  </a:schemeClr>
                </a:solidFill>
              </a:rPr>
              <a:t>food</a:t>
            </a:r>
          </a:p>
          <a:p>
            <a:pPr lvl="1"/>
            <a:r>
              <a:rPr lang="en-US" altLang="zh-TW" dirty="0" smtClean="0">
                <a:solidFill>
                  <a:schemeClr val="accent1">
                    <a:lumMod val="50000"/>
                  </a:schemeClr>
                </a:solidFill>
              </a:rPr>
              <a:t>The </a:t>
            </a:r>
            <a:r>
              <a:rPr lang="en-US" altLang="zh-TW" dirty="0">
                <a:solidFill>
                  <a:schemeClr val="accent1">
                    <a:lumMod val="50000"/>
                  </a:schemeClr>
                </a:solidFill>
              </a:rPr>
              <a:t>comment on the Internet may not really precise</a:t>
            </a:r>
            <a:r>
              <a:rPr lang="en-US" altLang="zh-TW" dirty="0"/>
              <a:t/>
            </a:r>
            <a:br>
              <a:rPr lang="en-US" altLang="zh-TW" dirty="0"/>
            </a:br>
            <a:endParaRPr lang="en-US" altLang="zh-TW" dirty="0">
              <a:solidFill>
                <a:schemeClr val="bg1"/>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p:cNvSpPr txBox="1"/>
          <p:nvPr/>
        </p:nvSpPr>
        <p:spPr>
          <a:xfrm>
            <a:off x="1907704" y="3291830"/>
            <a:ext cx="7128792" cy="1200329"/>
          </a:xfrm>
          <a:prstGeom prst="rect">
            <a:avLst/>
          </a:prstGeom>
          <a:noFill/>
          <a:ln w="22225">
            <a:solidFill>
              <a:schemeClr val="accent1">
                <a:lumMod val="50000"/>
              </a:schemeClr>
            </a:solidFill>
          </a:ln>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Scenarios</a:t>
            </a:r>
          </a:p>
          <a:p>
            <a:pPr lvl="1" fontAlgn="base"/>
            <a:r>
              <a:rPr lang="en-US" altLang="zh-TW" b="1" dirty="0" smtClean="0">
                <a:solidFill>
                  <a:schemeClr val="accent1">
                    <a:lumMod val="50000"/>
                  </a:schemeClr>
                </a:solidFill>
              </a:rPr>
              <a:t>Someone </a:t>
            </a:r>
            <a:r>
              <a:rPr lang="en-US" altLang="zh-TW" b="1" dirty="0">
                <a:solidFill>
                  <a:schemeClr val="accent1">
                    <a:lumMod val="50000"/>
                  </a:schemeClr>
                </a:solidFill>
              </a:rPr>
              <a:t>don’t want to take too much time to eat. (Student)</a:t>
            </a:r>
            <a:br>
              <a:rPr lang="en-US" altLang="zh-TW" b="1" dirty="0">
                <a:solidFill>
                  <a:schemeClr val="accent1">
                    <a:lumMod val="50000"/>
                  </a:schemeClr>
                </a:solidFill>
              </a:rPr>
            </a:br>
            <a:r>
              <a:rPr lang="en-US" altLang="zh-TW" b="1" dirty="0">
                <a:solidFill>
                  <a:schemeClr val="accent1">
                    <a:lumMod val="50000"/>
                  </a:schemeClr>
                </a:solidFill>
              </a:rPr>
              <a:t>Someone can’t late after breakfast, lunch or dinner (Office worker)</a:t>
            </a:r>
            <a:br>
              <a:rPr lang="en-US" altLang="zh-TW" b="1" dirty="0">
                <a:solidFill>
                  <a:schemeClr val="accent1">
                    <a:lumMod val="50000"/>
                  </a:schemeClr>
                </a:solidFill>
              </a:rPr>
            </a:br>
            <a:r>
              <a:rPr lang="en-US" altLang="zh-TW" b="1" dirty="0">
                <a:solidFill>
                  <a:schemeClr val="accent1">
                    <a:lumMod val="50000"/>
                  </a:schemeClr>
                </a:solidFill>
              </a:rPr>
              <a:t>Someone in </a:t>
            </a:r>
            <a:r>
              <a:rPr lang="en-US" altLang="zh-TW" b="1" dirty="0" smtClean="0">
                <a:solidFill>
                  <a:schemeClr val="accent1">
                    <a:lumMod val="50000"/>
                  </a:schemeClr>
                </a:solidFill>
              </a:rPr>
              <a:t>unfamiliar </a:t>
            </a:r>
            <a:r>
              <a:rPr lang="en-US" altLang="zh-TW" b="1" dirty="0">
                <a:solidFill>
                  <a:schemeClr val="accent1">
                    <a:lumMod val="50000"/>
                  </a:schemeClr>
                </a:solidFill>
              </a:rPr>
              <a:t>place finds for eating. (Business trip or Travel)</a:t>
            </a:r>
          </a:p>
        </p:txBody>
      </p:sp>
      <p:cxnSp>
        <p:nvCxnSpPr>
          <p:cNvPr id="13" name="直線單箭頭接點 12"/>
          <p:cNvCxnSpPr>
            <a:endCxn id="8" idx="1"/>
          </p:cNvCxnSpPr>
          <p:nvPr/>
        </p:nvCxnSpPr>
        <p:spPr>
          <a:xfrm>
            <a:off x="971600" y="3891994"/>
            <a:ext cx="936104" cy="1"/>
          </a:xfrm>
          <a:prstGeom prst="straightConnector1">
            <a:avLst/>
          </a:prstGeom>
          <a:ln w="22225">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971600" y="2859782"/>
            <a:ext cx="0" cy="1032212"/>
          </a:xfrm>
          <a:prstGeom prst="line">
            <a:avLst/>
          </a:prstGeom>
          <a:ln w="2222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7643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7560840"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Conceptual Design and Product function</a:t>
            </a:r>
            <a:endParaRPr lang="zh-TW" altLang="en-US" sz="3200" b="1" dirty="0">
              <a:solidFill>
                <a:schemeClr val="accent1">
                  <a:lumMod val="50000"/>
                </a:schemeClr>
              </a:solidFill>
            </a:endParaRPr>
          </a:p>
        </p:txBody>
      </p:sp>
      <p:sp>
        <p:nvSpPr>
          <p:cNvPr id="3" name="文字方塊 2"/>
          <p:cNvSpPr txBox="1"/>
          <p:nvPr/>
        </p:nvSpPr>
        <p:spPr>
          <a:xfrm>
            <a:off x="251520" y="1016605"/>
            <a:ext cx="7632848" cy="2585323"/>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a:solidFill>
                  <a:schemeClr val="accent1">
                    <a:lumMod val="50000"/>
                  </a:schemeClr>
                </a:solidFill>
              </a:rPr>
              <a:t>Someone don’t want to take too much time to </a:t>
            </a:r>
            <a:r>
              <a:rPr lang="en-US" altLang="zh-TW" b="1" dirty="0" smtClean="0">
                <a:solidFill>
                  <a:schemeClr val="accent1">
                    <a:lumMod val="50000"/>
                  </a:schemeClr>
                </a:solidFill>
              </a:rPr>
              <a:t>eat.</a:t>
            </a:r>
          </a:p>
          <a:p>
            <a:pPr fontAlgn="base"/>
            <a:r>
              <a:rPr lang="en-US" altLang="zh-TW" dirty="0">
                <a:solidFill>
                  <a:schemeClr val="accent1">
                    <a:lumMod val="50000"/>
                  </a:schemeClr>
                </a:solidFill>
              </a:rPr>
              <a:t> </a:t>
            </a:r>
            <a:r>
              <a:rPr lang="en-US" altLang="zh-TW" dirty="0" smtClean="0">
                <a:solidFill>
                  <a:schemeClr val="accent1">
                    <a:lumMod val="50000"/>
                  </a:schemeClr>
                </a:solidFill>
              </a:rPr>
              <a:t>    Pain </a:t>
            </a:r>
            <a:r>
              <a:rPr lang="en-US" altLang="zh-TW" dirty="0">
                <a:solidFill>
                  <a:schemeClr val="accent1">
                    <a:lumMod val="50000"/>
                  </a:schemeClr>
                </a:solidFill>
              </a:rPr>
              <a:t>point: wait for vacancy, find restaurant, wait for meal</a:t>
            </a:r>
          </a:p>
          <a:p>
            <a:pPr marL="285750" indent="-285750" fontAlgn="base">
              <a:buFont typeface="Arial" panose="020B0604020202020204" pitchFamily="34" charset="0"/>
              <a:buChar char="•"/>
            </a:pPr>
            <a:endParaRPr lang="en-US" altLang="zh-TW" dirty="0">
              <a:solidFill>
                <a:schemeClr val="accent1">
                  <a:lumMod val="50000"/>
                </a:schemeClr>
              </a:solidFill>
            </a:endParaRPr>
          </a:p>
          <a:p>
            <a:pPr lvl="1" fontAlgn="base"/>
            <a:r>
              <a:rPr lang="en-US" altLang="zh-TW" dirty="0">
                <a:solidFill>
                  <a:schemeClr val="accent1">
                    <a:lumMod val="50000"/>
                  </a:schemeClr>
                </a:solidFill>
              </a:rPr>
              <a:t>1. A map with restaurant location </a:t>
            </a:r>
          </a:p>
          <a:p>
            <a:pPr lvl="1" fontAlgn="base"/>
            <a:r>
              <a:rPr lang="en-US" altLang="zh-TW" dirty="0">
                <a:solidFill>
                  <a:schemeClr val="accent1">
                    <a:lumMod val="50000"/>
                  </a:schemeClr>
                </a:solidFill>
              </a:rPr>
              <a:t>2. Connect with Google Maps</a:t>
            </a:r>
          </a:p>
          <a:p>
            <a:pPr lvl="1" fontAlgn="base"/>
            <a:r>
              <a:rPr lang="en-US" altLang="zh-TW" dirty="0" smtClean="0">
                <a:solidFill>
                  <a:schemeClr val="accent1">
                    <a:lumMod val="50000"/>
                  </a:schemeClr>
                </a:solidFill>
              </a:rPr>
              <a:t>3. </a:t>
            </a:r>
            <a:r>
              <a:rPr lang="en-US" altLang="zh-TW" dirty="0">
                <a:solidFill>
                  <a:schemeClr val="accent1">
                    <a:lumMod val="50000"/>
                  </a:schemeClr>
                </a:solidFill>
              </a:rPr>
              <a:t>Show the vacancy of restaurant </a:t>
            </a:r>
          </a:p>
          <a:p>
            <a:pPr lvl="1" fontAlgn="base"/>
            <a:r>
              <a:rPr lang="en-US" altLang="zh-TW" dirty="0">
                <a:solidFill>
                  <a:schemeClr val="accent1">
                    <a:lumMod val="50000"/>
                  </a:schemeClr>
                </a:solidFill>
              </a:rPr>
              <a:t>4. Booking service</a:t>
            </a:r>
          </a:p>
          <a:p>
            <a:pPr lvl="1" fontAlgn="base"/>
            <a:r>
              <a:rPr lang="en-US" altLang="zh-TW" dirty="0">
                <a:solidFill>
                  <a:schemeClr val="accent1">
                    <a:lumMod val="50000"/>
                  </a:schemeClr>
                </a:solidFill>
              </a:rPr>
              <a:t>5. Ordering Service </a:t>
            </a:r>
          </a:p>
          <a:p>
            <a:pPr lvl="1" fontAlgn="base"/>
            <a:r>
              <a:rPr lang="en-US" altLang="zh-TW" dirty="0">
                <a:solidFill>
                  <a:schemeClr val="accent1">
                    <a:lumMod val="50000"/>
                  </a:schemeClr>
                </a:solidFill>
              </a:rPr>
              <a:t>6. Showing the order of reserving</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https://lh6.googleusercontent.com/JOTgweVuJ09d7m07QrcG91vJRdT2hmjHOG0m3Wlh2ugJKFz7Rz1roVopoABNRlAaUQnScfvzRcf0mpIuSpOqVQ4hfuMcGPt9HBc_QBfMACC9eLhcZ0svJkN_cgROtCdr2IwVdPbhzrk"/>
          <p:cNvPicPr>
            <a:picLocks noChangeAspect="1" noChangeArrowheads="1"/>
          </p:cNvPicPr>
          <p:nvPr/>
        </p:nvPicPr>
        <p:blipFill rotWithShape="1">
          <a:blip r:embed="rId4">
            <a:extLst>
              <a:ext uri="{28A0092B-C50C-407E-A947-70E740481C1C}">
                <a14:useLocalDpi xmlns:a14="http://schemas.microsoft.com/office/drawing/2010/main" val="0"/>
              </a:ext>
            </a:extLst>
          </a:blip>
          <a:srcRect l="33382" r="33236"/>
          <a:stretch/>
        </p:blipFill>
        <p:spPr bwMode="auto">
          <a:xfrm>
            <a:off x="4860032" y="1707654"/>
            <a:ext cx="3640729" cy="3267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7437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7560840"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Conceptual Design and Product function</a:t>
            </a:r>
            <a:endParaRPr lang="zh-TW" altLang="en-US" sz="3200" b="1" dirty="0">
              <a:solidFill>
                <a:schemeClr val="accent1">
                  <a:lumMod val="50000"/>
                </a:schemeClr>
              </a:solidFill>
            </a:endParaRPr>
          </a:p>
        </p:txBody>
      </p:sp>
      <p:sp>
        <p:nvSpPr>
          <p:cNvPr id="3" name="文字方塊 2"/>
          <p:cNvSpPr txBox="1"/>
          <p:nvPr/>
        </p:nvSpPr>
        <p:spPr>
          <a:xfrm>
            <a:off x="251520" y="1016605"/>
            <a:ext cx="7632848" cy="313932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a:solidFill>
                  <a:schemeClr val="accent1">
                    <a:lumMod val="50000"/>
                  </a:schemeClr>
                </a:solidFill>
              </a:rPr>
              <a:t>Someone can’t late after breakfast, lunch or dinner</a:t>
            </a:r>
          </a:p>
          <a:p>
            <a:pPr fontAlgn="base"/>
            <a:r>
              <a:rPr lang="en-US" altLang="zh-TW" dirty="0" smtClean="0">
                <a:solidFill>
                  <a:schemeClr val="accent1">
                    <a:lumMod val="50000"/>
                  </a:schemeClr>
                </a:solidFill>
              </a:rPr>
              <a:t>     Pain </a:t>
            </a:r>
            <a:r>
              <a:rPr lang="en-US" altLang="zh-TW" dirty="0">
                <a:solidFill>
                  <a:schemeClr val="accent1">
                    <a:lumMod val="50000"/>
                  </a:schemeClr>
                </a:solidFill>
              </a:rPr>
              <a:t>point: wait for vacancy, find restaurant, wait for meal</a:t>
            </a:r>
          </a:p>
          <a:p>
            <a:pPr marL="285750" indent="-285750" fontAlgn="base">
              <a:buFont typeface="Arial" panose="020B0604020202020204" pitchFamily="34" charset="0"/>
              <a:buChar char="•"/>
            </a:pPr>
            <a:endParaRPr lang="en-US" altLang="zh-TW" dirty="0">
              <a:solidFill>
                <a:schemeClr val="accent1">
                  <a:lumMod val="50000"/>
                </a:schemeClr>
              </a:solidFill>
            </a:endParaRPr>
          </a:p>
          <a:p>
            <a:pPr lvl="1" fontAlgn="base"/>
            <a:r>
              <a:rPr lang="en-US" altLang="zh-TW" dirty="0" smtClean="0">
                <a:solidFill>
                  <a:schemeClr val="accent1">
                    <a:lumMod val="50000"/>
                  </a:schemeClr>
                </a:solidFill>
              </a:rPr>
              <a:t>1</a:t>
            </a:r>
            <a:r>
              <a:rPr lang="en-US" altLang="zh-TW" dirty="0">
                <a:solidFill>
                  <a:schemeClr val="accent1">
                    <a:lumMod val="50000"/>
                  </a:schemeClr>
                </a:solidFill>
              </a:rPr>
              <a:t>. Same function as previous </a:t>
            </a:r>
          </a:p>
          <a:p>
            <a:pPr lvl="1" fontAlgn="base"/>
            <a:r>
              <a:rPr lang="en-US" altLang="zh-TW" dirty="0">
                <a:solidFill>
                  <a:schemeClr val="accent1">
                    <a:lumMod val="50000"/>
                  </a:schemeClr>
                </a:solidFill>
              </a:rPr>
              <a:t>2. favorite restaurant list</a:t>
            </a:r>
          </a:p>
          <a:p>
            <a:pPr lvl="1" fontAlgn="base"/>
            <a:r>
              <a:rPr lang="en-US" altLang="zh-TW" dirty="0">
                <a:solidFill>
                  <a:schemeClr val="accent1">
                    <a:lumMod val="50000"/>
                  </a:schemeClr>
                </a:solidFill>
              </a:rPr>
              <a:t>3. Predict the time you need to </a:t>
            </a:r>
          </a:p>
          <a:p>
            <a:pPr lvl="1" fontAlgn="base"/>
            <a:r>
              <a:rPr lang="en-US" altLang="zh-TW" dirty="0">
                <a:solidFill>
                  <a:schemeClr val="accent1">
                    <a:lumMod val="50000"/>
                  </a:schemeClr>
                </a:solidFill>
              </a:rPr>
              <a:t>    take in certain restaurant</a:t>
            </a:r>
          </a:p>
          <a:p>
            <a:pPr lvl="1" fontAlgn="base"/>
            <a:r>
              <a:rPr lang="en-US" altLang="zh-TW" dirty="0">
                <a:solidFill>
                  <a:schemeClr val="accent1">
                    <a:lumMod val="50000"/>
                  </a:schemeClr>
                </a:solidFill>
              </a:rPr>
              <a:t>4. the time needed to get there </a:t>
            </a:r>
          </a:p>
          <a:p>
            <a:pPr lvl="1" fontAlgn="base"/>
            <a:r>
              <a:rPr lang="en-US" altLang="zh-TW" dirty="0">
                <a:solidFill>
                  <a:schemeClr val="accent1">
                    <a:lumMod val="50000"/>
                  </a:schemeClr>
                </a:solidFill>
              </a:rPr>
              <a:t>    by walking or driving...</a:t>
            </a:r>
          </a:p>
          <a:p>
            <a:pPr lvl="1" fontAlgn="base"/>
            <a:r>
              <a:rPr lang="en-US" altLang="zh-TW" dirty="0">
                <a:solidFill>
                  <a:schemeClr val="accent1">
                    <a:lumMod val="50000"/>
                  </a:schemeClr>
                </a:solidFill>
              </a:rPr>
              <a:t>5. Combine with 2,3,4 to plan a best path </a:t>
            </a:r>
          </a:p>
          <a:p>
            <a:pPr lvl="1" fontAlgn="base"/>
            <a:r>
              <a:rPr lang="en-US" altLang="zh-TW" dirty="0">
                <a:solidFill>
                  <a:schemeClr val="accent1">
                    <a:lumMod val="50000"/>
                  </a:schemeClr>
                </a:solidFill>
              </a:rPr>
              <a:t>    and restaurant for you </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https://lh5.googleusercontent.com/LUCLpw5Wvh_RH0JsqeviL8aHBkJ7RjvKvpBBBqghehxCUcuy50-3hOkyoRoE2s7LjyoL-8th6CZjgsjDHYCHtm8c6iHvl18gYnf-BZIXPngHJN0Y867pDi993sJfgOWpx49_vJc8Ni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1700918"/>
            <a:ext cx="3672408" cy="3328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621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7560840"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Conceptual Design and Product function</a:t>
            </a:r>
            <a:endParaRPr lang="zh-TW" altLang="en-US" sz="3200" b="1" dirty="0">
              <a:solidFill>
                <a:schemeClr val="accent1">
                  <a:lumMod val="50000"/>
                </a:schemeClr>
              </a:solidFill>
            </a:endParaRPr>
          </a:p>
        </p:txBody>
      </p:sp>
      <p:sp>
        <p:nvSpPr>
          <p:cNvPr id="3" name="文字方塊 2"/>
          <p:cNvSpPr txBox="1"/>
          <p:nvPr/>
        </p:nvSpPr>
        <p:spPr>
          <a:xfrm>
            <a:off x="251520" y="1016605"/>
            <a:ext cx="7632848" cy="2585323"/>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a:solidFill>
                  <a:schemeClr val="accent1">
                    <a:lumMod val="50000"/>
                  </a:schemeClr>
                </a:solidFill>
              </a:rPr>
              <a:t>Someone in </a:t>
            </a:r>
            <a:r>
              <a:rPr lang="en-US" altLang="zh-TW" b="1" dirty="0" smtClean="0">
                <a:solidFill>
                  <a:schemeClr val="accent1">
                    <a:lumMod val="50000"/>
                  </a:schemeClr>
                </a:solidFill>
              </a:rPr>
              <a:t>unfamiliar </a:t>
            </a:r>
            <a:r>
              <a:rPr lang="en-US" altLang="zh-TW" b="1" dirty="0">
                <a:solidFill>
                  <a:schemeClr val="accent1">
                    <a:lumMod val="50000"/>
                  </a:schemeClr>
                </a:solidFill>
              </a:rPr>
              <a:t>place finds for eating.(Business trip or Travel)</a:t>
            </a:r>
          </a:p>
          <a:p>
            <a:pPr fontAlgn="base"/>
            <a:r>
              <a:rPr lang="en-US" altLang="zh-TW" dirty="0" smtClean="0">
                <a:solidFill>
                  <a:schemeClr val="accent1">
                    <a:lumMod val="50000"/>
                  </a:schemeClr>
                </a:solidFill>
              </a:rPr>
              <a:t>     Pain </a:t>
            </a:r>
            <a:r>
              <a:rPr lang="en-US" altLang="zh-TW" dirty="0">
                <a:solidFill>
                  <a:schemeClr val="accent1">
                    <a:lumMod val="50000"/>
                  </a:schemeClr>
                </a:solidFill>
              </a:rPr>
              <a:t>point: wait for vacancy and meal, find restaurant, quality of restaurant</a:t>
            </a:r>
          </a:p>
          <a:p>
            <a:pPr marL="285750" indent="-285750" fontAlgn="base">
              <a:buFont typeface="Arial" panose="020B0604020202020204" pitchFamily="34" charset="0"/>
              <a:buChar char="•"/>
            </a:pPr>
            <a:endParaRPr lang="en-US" altLang="zh-TW" dirty="0">
              <a:solidFill>
                <a:schemeClr val="accent1">
                  <a:lumMod val="50000"/>
                </a:schemeClr>
              </a:solidFill>
            </a:endParaRPr>
          </a:p>
          <a:p>
            <a:pPr lvl="1" fontAlgn="base"/>
            <a:r>
              <a:rPr lang="en-US" altLang="zh-TW" dirty="0">
                <a:solidFill>
                  <a:schemeClr val="accent1">
                    <a:lumMod val="50000"/>
                  </a:schemeClr>
                </a:solidFill>
              </a:rPr>
              <a:t>1. Same function as previous </a:t>
            </a:r>
          </a:p>
          <a:p>
            <a:pPr lvl="1" fontAlgn="base"/>
            <a:r>
              <a:rPr lang="en-US" altLang="zh-TW" dirty="0">
                <a:solidFill>
                  <a:schemeClr val="accent1">
                    <a:lumMod val="50000"/>
                  </a:schemeClr>
                </a:solidFill>
              </a:rPr>
              <a:t>2. Show your friends’ comment, score, </a:t>
            </a:r>
          </a:p>
          <a:p>
            <a:pPr lvl="1" fontAlgn="base"/>
            <a:r>
              <a:rPr lang="en-US" altLang="zh-TW" dirty="0">
                <a:solidFill>
                  <a:schemeClr val="accent1">
                    <a:lumMod val="50000"/>
                  </a:schemeClr>
                </a:solidFill>
              </a:rPr>
              <a:t>    check in and tag</a:t>
            </a:r>
          </a:p>
          <a:p>
            <a:pPr lvl="1" fontAlgn="base"/>
            <a:r>
              <a:rPr lang="en-US" altLang="zh-TW" dirty="0">
                <a:solidFill>
                  <a:schemeClr val="accent1">
                    <a:lumMod val="50000"/>
                  </a:schemeClr>
                </a:solidFill>
              </a:rPr>
              <a:t>3. Make photos directly from our application </a:t>
            </a:r>
          </a:p>
          <a:p>
            <a:pPr lvl="1" fontAlgn="base"/>
            <a:r>
              <a:rPr lang="en-US" altLang="zh-TW" dirty="0">
                <a:solidFill>
                  <a:schemeClr val="accent1">
                    <a:lumMod val="50000"/>
                  </a:schemeClr>
                </a:solidFill>
              </a:rPr>
              <a:t>    and share it on Facebook, IG</a:t>
            </a:r>
          </a:p>
          <a:p>
            <a:pPr lvl="1" fontAlgn="base"/>
            <a:r>
              <a:rPr lang="en-US" altLang="zh-TW" dirty="0">
                <a:solidFill>
                  <a:schemeClr val="accent1">
                    <a:lumMod val="50000"/>
                  </a:schemeClr>
                </a:solidFill>
              </a:rPr>
              <a:t>4. Connect with Google</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https://lh6.googleusercontent.com/nVPnKARCOXyhNE2vKgdOrvx-rjBmz-W0zGTAe68Y84K2OspXo3Y6sNChGaXRd53HvS_J3sO_vZ4f4E4DcikCFqYKzD3P_E26nXsDKt5XwMxVAJHqFHiNRVUiaYPMgtw7Yz8TK4mo-mE"/>
          <p:cNvPicPr>
            <a:picLocks noChangeAspect="1" noChangeArrowheads="1"/>
          </p:cNvPicPr>
          <p:nvPr/>
        </p:nvPicPr>
        <p:blipFill rotWithShape="1">
          <a:blip r:embed="rId4">
            <a:extLst>
              <a:ext uri="{28A0092B-C50C-407E-A947-70E740481C1C}">
                <a14:useLocalDpi xmlns:a14="http://schemas.microsoft.com/office/drawing/2010/main" val="0"/>
              </a:ext>
            </a:extLst>
          </a:blip>
          <a:srcRect l="66744"/>
          <a:stretch/>
        </p:blipFill>
        <p:spPr bwMode="auto">
          <a:xfrm>
            <a:off x="5143751" y="1779662"/>
            <a:ext cx="3424435"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212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1</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pic>
        <p:nvPicPr>
          <p:cNvPr id="17410" name="Picture 2" descr="https://lh6.googleusercontent.com/cQfC_0aAdyYeQ6u6jgj-SsccEYjh4aYdobOEg9zwvcknoB6qEa9-vBs97a3Ltd4QmhE9ZPGlytmbZzWEs62q_dJqgf-0yGwphfBCUqxH6s4l8MA3mskzWIkfh2vobzUjP3sMDsY_1B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665613"/>
            <a:ext cx="8712968" cy="2634329"/>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Before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spTree>
    <p:extLst>
      <p:ext uri="{BB962C8B-B14F-4D97-AF65-F5344CB8AC3E}">
        <p14:creationId xmlns:p14="http://schemas.microsoft.com/office/powerpoint/2010/main" val="42054726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1</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After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pic>
        <p:nvPicPr>
          <p:cNvPr id="18434" name="Picture 2" descr="https://lh5.googleusercontent.com/ytaYziyIcItemP59fyPNJ24DcTTRR1n_DqUp7jfoYW3K8QNF3DzprZAgvnS8kwUCfgMH0JKMyd2a_8S3hL2SIOiAAHSBfY7P9bp-5iUX0xKMora8DhOupGP-JBWLdPtCaYQqvIJSdR4"/>
          <p:cNvPicPr>
            <a:picLocks noChangeAspect="1" noChangeArrowheads="1"/>
          </p:cNvPicPr>
          <p:nvPr/>
        </p:nvPicPr>
        <p:blipFill rotWithShape="1">
          <a:blip r:embed="rId4">
            <a:extLst>
              <a:ext uri="{28A0092B-C50C-407E-A947-70E740481C1C}">
                <a14:useLocalDpi xmlns:a14="http://schemas.microsoft.com/office/drawing/2010/main" val="0"/>
              </a:ext>
            </a:extLst>
          </a:blip>
          <a:srcRect l="33055" r="32958"/>
          <a:stretch/>
        </p:blipFill>
        <p:spPr bwMode="auto">
          <a:xfrm>
            <a:off x="5076056" y="1987146"/>
            <a:ext cx="3440976" cy="30328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lh5.googleusercontent.com/ytaYziyIcItemP59fyPNJ24DcTTRR1n_DqUp7jfoYW3K8QNF3DzprZAgvnS8kwUCfgMH0JKMyd2a_8S3hL2SIOiAAHSBfY7P9bp-5iUX0xKMora8DhOupGP-JBWLdPtCaYQqvIJSdR4"/>
          <p:cNvPicPr>
            <a:picLocks noChangeAspect="1" noChangeArrowheads="1"/>
          </p:cNvPicPr>
          <p:nvPr/>
        </p:nvPicPr>
        <p:blipFill rotWithShape="1">
          <a:blip r:embed="rId4">
            <a:extLst>
              <a:ext uri="{28A0092B-C50C-407E-A947-70E740481C1C}">
                <a14:useLocalDpi xmlns:a14="http://schemas.microsoft.com/office/drawing/2010/main" val="0"/>
              </a:ext>
            </a:extLst>
          </a:blip>
          <a:srcRect r="66607"/>
          <a:stretch/>
        </p:blipFill>
        <p:spPr bwMode="auto">
          <a:xfrm>
            <a:off x="755576" y="1983973"/>
            <a:ext cx="3384376" cy="3036049"/>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1547664"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Situation</a:t>
            </a:r>
            <a:endParaRPr lang="zh-TW" altLang="en-US" b="1" dirty="0">
              <a:solidFill>
                <a:schemeClr val="accent1">
                  <a:lumMod val="50000"/>
                </a:schemeClr>
              </a:solidFill>
            </a:endParaRPr>
          </a:p>
        </p:txBody>
      </p:sp>
      <p:sp>
        <p:nvSpPr>
          <p:cNvPr id="10" name="文字方塊 9"/>
          <p:cNvSpPr txBox="1"/>
          <p:nvPr/>
        </p:nvSpPr>
        <p:spPr>
          <a:xfrm>
            <a:off x="6012160"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System</a:t>
            </a:r>
            <a:endParaRPr lang="zh-TW" altLang="en-US" b="1" dirty="0">
              <a:solidFill>
                <a:schemeClr val="accent1">
                  <a:lumMod val="50000"/>
                </a:schemeClr>
              </a:solidFill>
            </a:endParaRPr>
          </a:p>
        </p:txBody>
      </p:sp>
      <p:pic>
        <p:nvPicPr>
          <p:cNvPr id="11" name="Picture 2" descr="https://lh5.googleusercontent.com/ytaYziyIcItemP59fyPNJ24DcTTRR1n_DqUp7jfoYW3K8QNF3DzprZAgvnS8kwUCfgMH0JKMyd2a_8S3hL2SIOiAAHSBfY7P9bp-5iUX0xKMora8DhOupGP-JBWLdPtCaYQqvIJSdR4"/>
          <p:cNvPicPr>
            <a:picLocks noChangeAspect="1" noChangeArrowheads="1"/>
          </p:cNvPicPr>
          <p:nvPr/>
        </p:nvPicPr>
        <p:blipFill rotWithShape="1">
          <a:blip r:embed="rId4">
            <a:extLst>
              <a:ext uri="{28A0092B-C50C-407E-A947-70E740481C1C}">
                <a14:useLocalDpi xmlns:a14="http://schemas.microsoft.com/office/drawing/2010/main" val="0"/>
              </a:ext>
            </a:extLst>
          </a:blip>
          <a:srcRect l="67070" t="-226" r="-1057" b="226"/>
          <a:stretch/>
        </p:blipFill>
        <p:spPr bwMode="auto">
          <a:xfrm>
            <a:off x="5106450" y="1983973"/>
            <a:ext cx="3440976" cy="3032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8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1</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After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pic>
        <p:nvPicPr>
          <p:cNvPr id="8" name="Picture 2" descr="https://lh5.googleusercontent.com/ytaYziyIcItemP59fyPNJ24DcTTRR1n_DqUp7jfoYW3K8QNF3DzprZAgvnS8kwUCfgMH0JKMyd2a_8S3hL2SIOiAAHSBfY7P9bp-5iUX0xKMora8DhOupGP-JBWLdPtCaYQqvIJSdR4"/>
          <p:cNvPicPr>
            <a:picLocks noChangeAspect="1" noChangeArrowheads="1"/>
          </p:cNvPicPr>
          <p:nvPr/>
        </p:nvPicPr>
        <p:blipFill rotWithShape="1">
          <a:blip r:embed="rId4">
            <a:extLst>
              <a:ext uri="{28A0092B-C50C-407E-A947-70E740481C1C}">
                <a14:useLocalDpi xmlns:a14="http://schemas.microsoft.com/office/drawing/2010/main" val="0"/>
              </a:ext>
            </a:extLst>
          </a:blip>
          <a:srcRect r="66607"/>
          <a:stretch/>
        </p:blipFill>
        <p:spPr bwMode="auto">
          <a:xfrm>
            <a:off x="755576" y="1983973"/>
            <a:ext cx="3384376" cy="3036049"/>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1547664"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Situation</a:t>
            </a:r>
            <a:endParaRPr lang="zh-TW" altLang="en-US" b="1" dirty="0">
              <a:solidFill>
                <a:schemeClr val="accent1">
                  <a:lumMod val="50000"/>
                </a:schemeClr>
              </a:solidFill>
            </a:endParaRPr>
          </a:p>
        </p:txBody>
      </p:sp>
      <p:sp>
        <p:nvSpPr>
          <p:cNvPr id="10" name="文字方塊 9"/>
          <p:cNvSpPr txBox="1"/>
          <p:nvPr/>
        </p:nvSpPr>
        <p:spPr>
          <a:xfrm>
            <a:off x="6012160"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System</a:t>
            </a:r>
            <a:endParaRPr lang="zh-TW" altLang="en-US" b="1" dirty="0">
              <a:solidFill>
                <a:schemeClr val="accent1">
                  <a:lumMod val="50000"/>
                </a:schemeClr>
              </a:solidFill>
            </a:endParaRPr>
          </a:p>
        </p:txBody>
      </p:sp>
      <p:pic>
        <p:nvPicPr>
          <p:cNvPr id="20482" name="Picture 2" descr="https://lh4.googleusercontent.com/-nFuqAJwE7Hgkg-h-PN-VXwMOQOTH_O0aMFPatImAT46qOQRx7J7ybQqk3UqlJQYW-5rJjiZ1v6EvcIBnx1vrOVjSjBbAy2h2afrZwVwXNeqdTVnYEqgavscDaw6YfB6Oy-tj0YB4eo"/>
          <p:cNvPicPr>
            <a:picLocks noChangeAspect="1" noChangeArrowheads="1"/>
          </p:cNvPicPr>
          <p:nvPr/>
        </p:nvPicPr>
        <p:blipFill rotWithShape="1">
          <a:blip r:embed="rId5">
            <a:extLst>
              <a:ext uri="{28A0092B-C50C-407E-A947-70E740481C1C}">
                <a14:useLocalDpi xmlns:a14="http://schemas.microsoft.com/office/drawing/2010/main" val="0"/>
              </a:ext>
            </a:extLst>
          </a:blip>
          <a:srcRect r="66819"/>
          <a:stretch/>
        </p:blipFill>
        <p:spPr bwMode="auto">
          <a:xfrm>
            <a:off x="5213555" y="2001516"/>
            <a:ext cx="3397410" cy="309051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s://lh4.googleusercontent.com/-nFuqAJwE7Hgkg-h-PN-VXwMOQOTH_O0aMFPatImAT46qOQRx7J7ybQqk3UqlJQYW-5rJjiZ1v6EvcIBnx1vrOVjSjBbAy2h2afrZwVwXNeqdTVnYEqgavscDaw6YfB6Oy-tj0YB4eo"/>
          <p:cNvPicPr>
            <a:picLocks noChangeAspect="1" noChangeArrowheads="1"/>
          </p:cNvPicPr>
          <p:nvPr/>
        </p:nvPicPr>
        <p:blipFill rotWithShape="1">
          <a:blip r:embed="rId5">
            <a:extLst>
              <a:ext uri="{28A0092B-C50C-407E-A947-70E740481C1C}">
                <a14:useLocalDpi xmlns:a14="http://schemas.microsoft.com/office/drawing/2010/main" val="0"/>
              </a:ext>
            </a:extLst>
          </a:blip>
          <a:srcRect l="33409" t="-811" r="33409" b="811"/>
          <a:stretch/>
        </p:blipFill>
        <p:spPr bwMode="auto">
          <a:xfrm>
            <a:off x="5213555" y="1947051"/>
            <a:ext cx="3397410" cy="309051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s://lh4.googleusercontent.com/-nFuqAJwE7Hgkg-h-PN-VXwMOQOTH_O0aMFPatImAT46qOQRx7J7ybQqk3UqlJQYW-5rJjiZ1v6EvcIBnx1vrOVjSjBbAy2h2afrZwVwXNeqdTVnYEqgavscDaw6YfB6Oy-tj0YB4eo"/>
          <p:cNvPicPr>
            <a:picLocks noChangeAspect="1" noChangeArrowheads="1"/>
          </p:cNvPicPr>
          <p:nvPr/>
        </p:nvPicPr>
        <p:blipFill rotWithShape="1">
          <a:blip r:embed="rId5">
            <a:extLst>
              <a:ext uri="{28A0092B-C50C-407E-A947-70E740481C1C}">
                <a14:useLocalDpi xmlns:a14="http://schemas.microsoft.com/office/drawing/2010/main" val="0"/>
              </a:ext>
            </a:extLst>
          </a:blip>
          <a:srcRect l="66636" t="452" r="182" b="-452"/>
          <a:stretch/>
        </p:blipFill>
        <p:spPr bwMode="auto">
          <a:xfrm>
            <a:off x="5192300" y="2001516"/>
            <a:ext cx="3397410" cy="309051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s://lh3.googleusercontent.com/7sCtTNmzEPqv57cTdOMpkNNbWmqiKbzP6d4irLMkPPhm5IJL_GB4XItv0NcadwK1USvYQ4mUJpF6XlUAqMMbhBRROet-gZ-gjqptf169UoJquzD5os3BjCRyongxVJjnBsO38IWR9A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2006689"/>
            <a:ext cx="3312368" cy="3000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23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a:t>
            </a:r>
            <a:r>
              <a:rPr lang="en-US" altLang="zh-TW" sz="3200" b="1" dirty="0" smtClean="0">
                <a:solidFill>
                  <a:schemeClr val="accent1">
                    <a:lumMod val="50000"/>
                  </a:schemeClr>
                </a:solidFill>
              </a:rPr>
              <a:t>2</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Before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pic>
        <p:nvPicPr>
          <p:cNvPr id="21506" name="Picture 2" descr="https://lh4.googleusercontent.com/Bl8Z-fM8x5EqfRNxYHXt2BAMyqW9INXpH4TJhV7S1MqFzMMfrz1Lu4sSZD9VUeHQH-t0MDSxIM8NQpZWg9la27tV65zWVHfY71eZM5Qi4El8W9ysKSma80w_2yHkfyc_eiUHbrUvzJ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1700675"/>
            <a:ext cx="8838728" cy="265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0940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a:t>
            </a:r>
            <a:r>
              <a:rPr lang="en-US" altLang="zh-TW" sz="3200" b="1" dirty="0" smtClean="0">
                <a:solidFill>
                  <a:schemeClr val="accent1">
                    <a:lumMod val="50000"/>
                  </a:schemeClr>
                </a:solidFill>
              </a:rPr>
              <a:t>2</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After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sp>
        <p:nvSpPr>
          <p:cNvPr id="3" name="文字方塊 2"/>
          <p:cNvSpPr txBox="1"/>
          <p:nvPr/>
        </p:nvSpPr>
        <p:spPr>
          <a:xfrm>
            <a:off x="1547664"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Situation</a:t>
            </a:r>
            <a:endParaRPr lang="zh-TW" altLang="en-US" b="1" dirty="0">
              <a:solidFill>
                <a:schemeClr val="accent1">
                  <a:lumMod val="50000"/>
                </a:schemeClr>
              </a:solidFill>
            </a:endParaRPr>
          </a:p>
        </p:txBody>
      </p:sp>
      <p:sp>
        <p:nvSpPr>
          <p:cNvPr id="10" name="文字方塊 9"/>
          <p:cNvSpPr txBox="1"/>
          <p:nvPr/>
        </p:nvSpPr>
        <p:spPr>
          <a:xfrm>
            <a:off x="6012160"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System</a:t>
            </a:r>
            <a:endParaRPr lang="zh-TW" altLang="en-US" b="1" dirty="0">
              <a:solidFill>
                <a:schemeClr val="accent1">
                  <a:lumMod val="50000"/>
                </a:schemeClr>
              </a:solidFill>
            </a:endParaRPr>
          </a:p>
        </p:txBody>
      </p:sp>
      <p:pic>
        <p:nvPicPr>
          <p:cNvPr id="11"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66513"/>
          <a:stretch/>
        </p:blipFill>
        <p:spPr bwMode="auto">
          <a:xfrm>
            <a:off x="787016" y="1995686"/>
            <a:ext cx="3321496"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3256" r="33256"/>
          <a:stretch/>
        </p:blipFill>
        <p:spPr bwMode="auto">
          <a:xfrm>
            <a:off x="5251512" y="1995686"/>
            <a:ext cx="3321496"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6762" r="-249"/>
          <a:stretch/>
        </p:blipFill>
        <p:spPr bwMode="auto">
          <a:xfrm>
            <a:off x="787016" y="1995686"/>
            <a:ext cx="3321496"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069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a:t>
            </a:r>
            <a:r>
              <a:rPr lang="en-US" altLang="zh-TW" sz="3200" b="1" dirty="0" smtClean="0">
                <a:solidFill>
                  <a:schemeClr val="accent1">
                    <a:lumMod val="50000"/>
                  </a:schemeClr>
                </a:solidFill>
              </a:rPr>
              <a:t>3</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Before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96" y="1662936"/>
            <a:ext cx="872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45305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856895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Storyboard and Storytelling - Scenarios </a:t>
            </a:r>
            <a:r>
              <a:rPr lang="en-US" altLang="zh-TW" sz="3200" b="1" dirty="0" smtClean="0">
                <a:solidFill>
                  <a:schemeClr val="accent1">
                    <a:lumMod val="50000"/>
                  </a:schemeClr>
                </a:solidFill>
              </a:rPr>
              <a:t>3</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251520" y="1016605"/>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smtClean="0">
                <a:solidFill>
                  <a:schemeClr val="accent1">
                    <a:lumMod val="50000"/>
                  </a:schemeClr>
                </a:solidFill>
              </a:rPr>
              <a:t>After using our system…</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sp>
        <p:nvSpPr>
          <p:cNvPr id="3" name="文字方塊 2"/>
          <p:cNvSpPr txBox="1"/>
          <p:nvPr/>
        </p:nvSpPr>
        <p:spPr>
          <a:xfrm>
            <a:off x="1547664"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Situation</a:t>
            </a:r>
            <a:endParaRPr lang="zh-TW" altLang="en-US" b="1" dirty="0">
              <a:solidFill>
                <a:schemeClr val="accent1">
                  <a:lumMod val="50000"/>
                </a:schemeClr>
              </a:solidFill>
            </a:endParaRPr>
          </a:p>
        </p:txBody>
      </p:sp>
      <p:sp>
        <p:nvSpPr>
          <p:cNvPr id="10" name="文字方塊 9"/>
          <p:cNvSpPr txBox="1"/>
          <p:nvPr/>
        </p:nvSpPr>
        <p:spPr>
          <a:xfrm>
            <a:off x="6012160" y="1554346"/>
            <a:ext cx="1800200" cy="369332"/>
          </a:xfrm>
          <a:prstGeom prst="rect">
            <a:avLst/>
          </a:prstGeom>
          <a:noFill/>
          <a:ln w="19050">
            <a:solidFill>
              <a:schemeClr val="accent1">
                <a:lumMod val="50000"/>
              </a:schemeClr>
            </a:solidFill>
          </a:ln>
        </p:spPr>
        <p:txBody>
          <a:bodyPr wrap="square" rtlCol="0">
            <a:spAutoFit/>
          </a:bodyPr>
          <a:lstStyle/>
          <a:p>
            <a:pPr algn="ctr"/>
            <a:r>
              <a:rPr lang="en-US" altLang="zh-TW" b="1" dirty="0" smtClean="0">
                <a:solidFill>
                  <a:schemeClr val="accent1">
                    <a:lumMod val="50000"/>
                  </a:schemeClr>
                </a:solidFill>
              </a:rPr>
              <a:t>System</a:t>
            </a:r>
            <a:endParaRPr lang="zh-TW" altLang="en-US" b="1" dirty="0">
              <a:solidFill>
                <a:schemeClr val="accent1">
                  <a:lumMod val="50000"/>
                </a:schemeClr>
              </a:solidFill>
            </a:endParaRPr>
          </a:p>
        </p:txBody>
      </p:sp>
      <p:pic>
        <p:nvPicPr>
          <p:cNvPr id="2355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66746"/>
          <a:stretch/>
        </p:blipFill>
        <p:spPr bwMode="auto">
          <a:xfrm>
            <a:off x="755576" y="2063259"/>
            <a:ext cx="3452305" cy="304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3373" t="-1547" r="33373" b="1547"/>
          <a:stretch/>
        </p:blipFill>
        <p:spPr bwMode="auto">
          <a:xfrm>
            <a:off x="5186107" y="2035406"/>
            <a:ext cx="3452305" cy="304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6917" t="-1209" r="-171" b="1209"/>
          <a:stretch/>
        </p:blipFill>
        <p:spPr bwMode="auto">
          <a:xfrm>
            <a:off x="5207831" y="2035406"/>
            <a:ext cx="3452305" cy="304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2063259"/>
            <a:ext cx="3398961" cy="304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362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fade">
                                      <p:cBhvr>
                                        <p:cTn id="12" dur="500"/>
                                        <p:tgtEl>
                                          <p:spTgt spid="2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923330"/>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Basing on the Interviews and  Affinity diagram results, we decided that, to satisfy all the users needs, we need to expand our original idea. The expansion should be done very carefully, so our application remains consistent and coherent.</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24578" name="Picture 2" descr="https://lh6.googleusercontent.com/U3ML29UftsbX5oBlcuhd2-rcq7EfTwPDTTUeeTBH_BKj72YoXQihqNIcl3qNB58jFYRWeOfU0_sQhp9H0t_GvKBfARom4Uk5oC6E0VK0n2Ial3mw2yKmJijD2Yz7UAoed__QokIlJ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2067694"/>
            <a:ext cx="3018589" cy="29523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4767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To achieve this, we created a map of application functions, what helped us establish our idea and identify the key paths.</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6828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oogleusercontent.com/MDB3lgmlg5yn9AEL2fckOezzzmrf7tUuIpUjH-n_RBxM9W9S2xMhY_RBX4yKWzNbcETyg-LaBm3MBm3fKoq0v_AzcK37sQrig2ILThwaUWRKH0QW5XKDj6IThgi7yBzZCT1jX5AwUu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906" y="79447"/>
            <a:ext cx="4813342" cy="5084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1137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369332"/>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We started with adding possibility of ordering and shipping to users home.</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26626" name="Picture 2" descr="https://lh5.googleusercontent.com/8c-UD0ouqmp3CMuTVWwDSugDXePE5OUOfQOi5D2q4zvkeHOvPZ6j-YUcQteKqBMozwXZy6X-blV3FacVN7IGloGIbpKRdXqizypw0F3at17yBBoxAnl3NXN1srCPW4FSHEevgRx20O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4414" y="1707654"/>
            <a:ext cx="4343163" cy="32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3922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Then we added option to pre order food, so it will wait for the user when he will arrive to the restaurant. </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28674" name="Picture 2" descr="https://lh5.googleusercontent.com/NuzHinqd3JoAt-nB-p5LxgdxnfpTzCzIqNGPfsgdrnJdfvXw_1v9L_7fNdwZQ3KDmavXkREYwvZcV2-rmJNVl5DBdU8nN-C6RSWj4Tp_X7z-C5pGzRSe_qOx6srpmOtutFQ1DpSJmD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7894" y="1707654"/>
            <a:ext cx="3600000" cy="360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3937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923330"/>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In the original idea we are already connected with Google Traffic, what should help us predict the time the user needs to get to the certain restaurant. We decided to use it to also show the user the time the deliverer needs to bring the food to his home.</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29698" name="Picture 2" descr="https://lh4.googleusercontent.com/pPnkpLTptpWJZhEb1zshgdA78BG2Y8whXidCqAYONwUinLPP9deSBBLzsNUa1T2JBklUWuluBrZcYxyDM-esltFK7IIu6MYew94IRV-Tq107UvemrMeDXUWJ9DBsYGiViw1B2wzNG0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9681" y="2124864"/>
            <a:ext cx="2944638" cy="288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61259"/>
            <a:ext cx="1456363" cy="753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7973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3416320"/>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Key functions after Interview, Affinity diagram and second “brainstorming</a:t>
            </a:r>
            <a:r>
              <a:rPr lang="en-US" altLang="zh-TW" dirty="0" smtClean="0">
                <a:solidFill>
                  <a:schemeClr val="accent1">
                    <a:lumMod val="50000"/>
                  </a:schemeClr>
                </a:solidFill>
              </a:rPr>
              <a:t>”:</a:t>
            </a:r>
          </a:p>
          <a:p>
            <a:pPr fontAlgn="base"/>
            <a:endParaRPr lang="en-US" altLang="zh-TW" dirty="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rPr>
              <a:t>Client Side:</a:t>
            </a:r>
          </a:p>
          <a:p>
            <a:pPr marL="742950" lvl="1" indent="-285750" fontAlgn="base">
              <a:buFont typeface="Wingdings" panose="05000000000000000000" pitchFamily="2" charset="2"/>
              <a:buChar char="Ø"/>
            </a:pPr>
            <a:r>
              <a:rPr lang="en-US" altLang="zh-TW" dirty="0" smtClean="0">
                <a:solidFill>
                  <a:schemeClr val="accent1">
                    <a:lumMod val="50000"/>
                  </a:schemeClr>
                </a:solidFill>
              </a:rPr>
              <a:t>Finding </a:t>
            </a:r>
            <a:r>
              <a:rPr lang="en-US" altLang="zh-TW" dirty="0">
                <a:solidFill>
                  <a:schemeClr val="accent1">
                    <a:lumMod val="50000"/>
                  </a:schemeClr>
                </a:solidFill>
              </a:rPr>
              <a:t>the restaurant by type of the food/name</a:t>
            </a:r>
          </a:p>
          <a:p>
            <a:pPr marL="742950" lvl="1" indent="-285750" fontAlgn="base">
              <a:buFont typeface="Wingdings" panose="05000000000000000000" pitchFamily="2" charset="2"/>
              <a:buChar char="Ø"/>
            </a:pPr>
            <a:r>
              <a:rPr lang="en-US" altLang="zh-TW" dirty="0">
                <a:solidFill>
                  <a:schemeClr val="accent1">
                    <a:lumMod val="50000"/>
                  </a:schemeClr>
                </a:solidFill>
              </a:rPr>
              <a:t>Showing free chairs and the time the user needs to get to the restaurant</a:t>
            </a:r>
          </a:p>
          <a:p>
            <a:pPr marL="742950" lvl="1" indent="-285750" fontAlgn="base">
              <a:buFont typeface="Wingdings" panose="05000000000000000000" pitchFamily="2" charset="2"/>
              <a:buChar char="Ø"/>
            </a:pPr>
            <a:r>
              <a:rPr lang="en-US" altLang="zh-TW" dirty="0">
                <a:solidFill>
                  <a:schemeClr val="accent1">
                    <a:lumMod val="50000"/>
                  </a:schemeClr>
                </a:solidFill>
              </a:rPr>
              <a:t>“I’m in a hurry” feature that will show closest restaurants with free seats</a:t>
            </a:r>
          </a:p>
          <a:p>
            <a:pPr marL="742950" lvl="1" indent="-285750" fontAlgn="base">
              <a:buFont typeface="Wingdings" panose="05000000000000000000" pitchFamily="2" charset="2"/>
              <a:buChar char="Ø"/>
            </a:pPr>
            <a:r>
              <a:rPr lang="en-US" altLang="zh-TW" dirty="0">
                <a:solidFill>
                  <a:schemeClr val="accent1">
                    <a:lumMod val="50000"/>
                  </a:schemeClr>
                </a:solidFill>
              </a:rPr>
              <a:t>Preview opening hours</a:t>
            </a:r>
          </a:p>
          <a:p>
            <a:pPr marL="742950" lvl="1" indent="-285750" fontAlgn="base">
              <a:buFont typeface="Wingdings" panose="05000000000000000000" pitchFamily="2" charset="2"/>
              <a:buChar char="Ø"/>
            </a:pPr>
            <a:r>
              <a:rPr lang="en-US" altLang="zh-TW" dirty="0">
                <a:solidFill>
                  <a:schemeClr val="accent1">
                    <a:lumMod val="50000"/>
                  </a:schemeClr>
                </a:solidFill>
              </a:rPr>
              <a:t>Reserve seat</a:t>
            </a:r>
          </a:p>
          <a:p>
            <a:pPr marL="742950" lvl="1" indent="-285750" fontAlgn="base">
              <a:buFont typeface="Wingdings" panose="05000000000000000000" pitchFamily="2" charset="2"/>
              <a:buChar char="Ø"/>
            </a:pPr>
            <a:r>
              <a:rPr lang="en-US" altLang="zh-TW" dirty="0" smtClean="0">
                <a:solidFill>
                  <a:schemeClr val="accent1">
                    <a:lumMod val="50000"/>
                  </a:schemeClr>
                </a:solidFill>
              </a:rPr>
              <a:t>Reserve </a:t>
            </a:r>
            <a:r>
              <a:rPr lang="en-US" altLang="zh-TW" dirty="0">
                <a:solidFill>
                  <a:schemeClr val="accent1">
                    <a:lumMod val="50000"/>
                  </a:schemeClr>
                </a:solidFill>
              </a:rPr>
              <a:t>seat and preorder food</a:t>
            </a:r>
          </a:p>
          <a:p>
            <a:pPr marL="742950" lvl="1" indent="-285750" fontAlgn="base">
              <a:buFont typeface="Wingdings" panose="05000000000000000000" pitchFamily="2" charset="2"/>
              <a:buChar char="Ø"/>
            </a:pPr>
            <a:r>
              <a:rPr lang="en-US" altLang="zh-TW" dirty="0">
                <a:solidFill>
                  <a:schemeClr val="accent1">
                    <a:lumMod val="50000"/>
                  </a:schemeClr>
                </a:solidFill>
              </a:rPr>
              <a:t>Order food to home with previewing the time for it to arrive</a:t>
            </a:r>
          </a:p>
          <a:p>
            <a:pPr marL="742950" lvl="1" indent="-285750" fontAlgn="base">
              <a:buFont typeface="Wingdings" panose="05000000000000000000" pitchFamily="2" charset="2"/>
              <a:buChar char="Ø"/>
            </a:pPr>
            <a:r>
              <a:rPr lang="en-US" altLang="zh-TW" dirty="0">
                <a:solidFill>
                  <a:schemeClr val="accent1">
                    <a:lumMod val="50000"/>
                  </a:schemeClr>
                </a:solidFill>
              </a:rPr>
              <a:t>Order the food to the default address/adding new address</a:t>
            </a:r>
          </a:p>
          <a:p>
            <a:pPr marL="742950" lvl="1" indent="-285750" fontAlgn="base">
              <a:buFont typeface="Wingdings" panose="05000000000000000000" pitchFamily="2" charset="2"/>
              <a:buChar char="Ø"/>
            </a:pPr>
            <a:r>
              <a:rPr lang="en-US" altLang="zh-TW" dirty="0">
                <a:solidFill>
                  <a:schemeClr val="accent1">
                    <a:lumMod val="50000"/>
                  </a:schemeClr>
                </a:solidFill>
              </a:rPr>
              <a:t>Order food and pay using credit card/paying on arrival by cash</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8431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2031325"/>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Key functions after Interview, Affinity diagram and second “brainstorming</a:t>
            </a:r>
            <a:r>
              <a:rPr lang="en-US" altLang="zh-TW" dirty="0" smtClean="0">
                <a:solidFill>
                  <a:schemeClr val="accent1">
                    <a:lumMod val="50000"/>
                  </a:schemeClr>
                </a:solidFill>
              </a:rPr>
              <a:t>”:</a:t>
            </a:r>
          </a:p>
          <a:p>
            <a:pPr fontAlgn="base"/>
            <a:endParaRPr lang="en-US" altLang="zh-TW" dirty="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rPr>
              <a:t>Client Side:</a:t>
            </a:r>
          </a:p>
          <a:p>
            <a:pPr marL="742950" lvl="1" indent="-285750" fontAlgn="base">
              <a:buFont typeface="Wingdings" panose="05000000000000000000" pitchFamily="2" charset="2"/>
              <a:buChar char="Ø"/>
            </a:pPr>
            <a:r>
              <a:rPr lang="en-US" altLang="zh-TW" dirty="0" smtClean="0">
                <a:solidFill>
                  <a:schemeClr val="accent1">
                    <a:lumMod val="50000"/>
                  </a:schemeClr>
                </a:solidFill>
              </a:rPr>
              <a:t>Automatically </a:t>
            </a:r>
            <a:r>
              <a:rPr lang="en-US" altLang="zh-TW" dirty="0">
                <a:solidFill>
                  <a:schemeClr val="accent1">
                    <a:lumMod val="50000"/>
                  </a:schemeClr>
                </a:solidFill>
              </a:rPr>
              <a:t>created list of previous meals</a:t>
            </a:r>
          </a:p>
          <a:p>
            <a:pPr marL="742950" lvl="1" indent="-285750" fontAlgn="base">
              <a:buFont typeface="Wingdings" panose="05000000000000000000" pitchFamily="2" charset="2"/>
              <a:buChar char="Ø"/>
            </a:pPr>
            <a:r>
              <a:rPr lang="en-US" altLang="zh-TW" dirty="0">
                <a:solidFill>
                  <a:schemeClr val="accent1">
                    <a:lumMod val="50000"/>
                  </a:schemeClr>
                </a:solidFill>
              </a:rPr>
              <a:t>Creating the list of </a:t>
            </a:r>
            <a:r>
              <a:rPr lang="en-US" altLang="zh-TW" dirty="0" smtClean="0">
                <a:solidFill>
                  <a:schemeClr val="accent1">
                    <a:lumMod val="50000"/>
                  </a:schemeClr>
                </a:solidFill>
              </a:rPr>
              <a:t>favorite </a:t>
            </a:r>
            <a:r>
              <a:rPr lang="en-US" altLang="zh-TW" dirty="0">
                <a:solidFill>
                  <a:schemeClr val="accent1">
                    <a:lumMod val="50000"/>
                  </a:schemeClr>
                </a:solidFill>
              </a:rPr>
              <a:t>restaurants</a:t>
            </a:r>
          </a:p>
          <a:p>
            <a:pPr marL="742950" lvl="1" indent="-285750" fontAlgn="base">
              <a:buFont typeface="Wingdings" panose="05000000000000000000" pitchFamily="2" charset="2"/>
              <a:buChar char="Ø"/>
            </a:pPr>
            <a:r>
              <a:rPr lang="en-US" altLang="zh-TW" dirty="0">
                <a:solidFill>
                  <a:schemeClr val="accent1">
                    <a:lumMod val="50000"/>
                  </a:schemeClr>
                </a:solidFill>
              </a:rPr>
              <a:t>Sharing best meals on Facebook</a:t>
            </a:r>
          </a:p>
          <a:p>
            <a:pPr marL="742950" lvl="1" indent="-285750" fontAlgn="base">
              <a:buFont typeface="Wingdings" panose="05000000000000000000" pitchFamily="2" charset="2"/>
              <a:buChar char="Ø"/>
            </a:pPr>
            <a:r>
              <a:rPr lang="en-US" altLang="zh-TW" dirty="0">
                <a:solidFill>
                  <a:schemeClr val="accent1">
                    <a:lumMod val="50000"/>
                  </a:schemeClr>
                </a:solidFill>
              </a:rPr>
              <a:t>Seeing what meals friends </a:t>
            </a:r>
            <a:r>
              <a:rPr lang="en-US" altLang="zh-TW" dirty="0" smtClean="0">
                <a:solidFill>
                  <a:schemeClr val="accent1">
                    <a:lumMod val="50000"/>
                  </a:schemeClr>
                </a:solidFill>
              </a:rPr>
              <a:t>shared</a:t>
            </a:r>
            <a:endParaRPr lang="en-US" altLang="zh-TW"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0139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Implementation Prototype</a:t>
            </a:r>
            <a:endParaRPr lang="zh-TW" altLang="en-US" sz="3200" b="1" dirty="0">
              <a:solidFill>
                <a:schemeClr val="accent1">
                  <a:lumMod val="50000"/>
                </a:schemeClr>
              </a:solidFill>
            </a:endParaRPr>
          </a:p>
        </p:txBody>
      </p:sp>
      <p:sp>
        <p:nvSpPr>
          <p:cNvPr id="3" name="文字方塊 2"/>
          <p:cNvSpPr txBox="1"/>
          <p:nvPr/>
        </p:nvSpPr>
        <p:spPr>
          <a:xfrm>
            <a:off x="251520" y="1016605"/>
            <a:ext cx="8568952" cy="2308324"/>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Key functions after Interview, Affinity diagram and second “brainstorming</a:t>
            </a:r>
            <a:r>
              <a:rPr lang="en-US" altLang="zh-TW" dirty="0" smtClean="0">
                <a:solidFill>
                  <a:schemeClr val="accent1">
                    <a:lumMod val="50000"/>
                  </a:schemeClr>
                </a:solidFill>
              </a:rPr>
              <a:t>”:</a:t>
            </a:r>
          </a:p>
          <a:p>
            <a:pPr fontAlgn="base"/>
            <a:endParaRPr lang="en-US" altLang="zh-TW" dirty="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rPr>
              <a:t>Restaurant </a:t>
            </a:r>
            <a:r>
              <a:rPr lang="en-US" altLang="zh-TW" dirty="0" smtClean="0">
                <a:solidFill>
                  <a:schemeClr val="accent1">
                    <a:lumMod val="50000"/>
                  </a:schemeClr>
                </a:solidFill>
              </a:rPr>
              <a:t>Side:</a:t>
            </a:r>
          </a:p>
          <a:p>
            <a:pPr marL="742950" lvl="1" indent="-285750" fontAlgn="base">
              <a:buFont typeface="Wingdings" panose="05000000000000000000" pitchFamily="2" charset="2"/>
              <a:buChar char="Ø"/>
            </a:pPr>
            <a:r>
              <a:rPr lang="en-US" altLang="zh-TW" dirty="0">
                <a:solidFill>
                  <a:schemeClr val="accent1">
                    <a:lumMod val="50000"/>
                  </a:schemeClr>
                </a:solidFill>
              </a:rPr>
              <a:t>Displaying opening time</a:t>
            </a:r>
          </a:p>
          <a:p>
            <a:pPr marL="742950" lvl="1" indent="-285750" fontAlgn="base">
              <a:buFont typeface="Wingdings" panose="05000000000000000000" pitchFamily="2" charset="2"/>
              <a:buChar char="Ø"/>
            </a:pPr>
            <a:r>
              <a:rPr lang="en-US" altLang="zh-TW" dirty="0">
                <a:solidFill>
                  <a:schemeClr val="accent1">
                    <a:lumMod val="50000"/>
                  </a:schemeClr>
                </a:solidFill>
              </a:rPr>
              <a:t>Adding tables and seats</a:t>
            </a:r>
          </a:p>
          <a:p>
            <a:pPr marL="742950" lvl="1" indent="-285750" fontAlgn="base">
              <a:buFont typeface="Wingdings" panose="05000000000000000000" pitchFamily="2" charset="2"/>
              <a:buChar char="Ø"/>
            </a:pPr>
            <a:r>
              <a:rPr lang="en-US" altLang="zh-TW" dirty="0">
                <a:solidFill>
                  <a:schemeClr val="accent1">
                    <a:lumMod val="50000"/>
                  </a:schemeClr>
                </a:solidFill>
              </a:rPr>
              <a:t>Marking seats as taken/free with only one click/touch</a:t>
            </a:r>
          </a:p>
          <a:p>
            <a:pPr marL="742950" lvl="1" indent="-285750" fontAlgn="base">
              <a:buFont typeface="Wingdings" panose="05000000000000000000" pitchFamily="2" charset="2"/>
              <a:buChar char="Ø"/>
            </a:pPr>
            <a:r>
              <a:rPr lang="en-US" altLang="zh-TW" dirty="0">
                <a:solidFill>
                  <a:schemeClr val="accent1">
                    <a:lumMod val="50000"/>
                  </a:schemeClr>
                </a:solidFill>
              </a:rPr>
              <a:t>Changing the arrangement of the seats/tables at any time</a:t>
            </a:r>
          </a:p>
          <a:p>
            <a:pPr marL="742950" lvl="1" indent="-285750" fontAlgn="base">
              <a:buFont typeface="Wingdings" panose="05000000000000000000" pitchFamily="2" charset="2"/>
              <a:buChar char="Ø"/>
            </a:pPr>
            <a:r>
              <a:rPr lang="en-US" altLang="zh-TW" dirty="0">
                <a:solidFill>
                  <a:schemeClr val="accent1">
                    <a:lumMod val="50000"/>
                  </a:schemeClr>
                </a:solidFill>
              </a:rPr>
              <a:t>Creating/updating online menu with photos</a:t>
            </a: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0472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5328592"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User </a:t>
            </a:r>
            <a:r>
              <a:rPr lang="en-US" altLang="zh-TW" sz="3200" b="1" dirty="0" smtClean="0">
                <a:solidFill>
                  <a:schemeClr val="accent1">
                    <a:lumMod val="50000"/>
                  </a:schemeClr>
                </a:solidFill>
              </a:rPr>
              <a:t>Testing - </a:t>
            </a:r>
            <a:r>
              <a:rPr lang="en-US" altLang="zh-TW" sz="3200" b="1" dirty="0">
                <a:solidFill>
                  <a:schemeClr val="accent1">
                    <a:lumMod val="50000"/>
                  </a:schemeClr>
                </a:solidFill>
              </a:rPr>
              <a:t>preparation</a:t>
            </a:r>
            <a:endParaRPr lang="zh-TW" altLang="en-US"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30722" name="Picture 2" descr="https://lh5.googleusercontent.com/b1ffG2c_wcFUSnkDwjWhMmv6bVTJGKBQ-OHGu6obqFGtd3xEetZS46nbVVpJVyAxTY1OprbZNaloqmxfuujlTBqGlSei0Yricioe7NS-HVnD5JhEojcJlyoXFWVr2HuYeoOThYb1lh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339770"/>
            <a:ext cx="6678508" cy="3756661"/>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251520" y="915566"/>
            <a:ext cx="7632848" cy="646331"/>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b="1" dirty="0">
                <a:solidFill>
                  <a:schemeClr val="accent1">
                    <a:lumMod val="50000"/>
                  </a:schemeClr>
                </a:solidFill>
              </a:rPr>
              <a:t>Paper  </a:t>
            </a:r>
            <a:r>
              <a:rPr lang="en-US" altLang="zh-TW" b="1" dirty="0" smtClean="0">
                <a:solidFill>
                  <a:schemeClr val="accent1">
                    <a:lumMod val="50000"/>
                  </a:schemeClr>
                </a:solidFill>
              </a:rPr>
              <a:t>Prototype</a:t>
            </a:r>
          </a:p>
          <a:p>
            <a:pPr fontAlgn="base"/>
            <a:r>
              <a:rPr lang="en-US" altLang="zh-TW" dirty="0">
                <a:solidFill>
                  <a:schemeClr val="accent1">
                    <a:lumMod val="50000"/>
                  </a:schemeClr>
                </a:solidFill>
              </a:rPr>
              <a:t> </a:t>
            </a:r>
            <a:r>
              <a:rPr lang="en-US" altLang="zh-TW" dirty="0" smtClean="0">
                <a:solidFill>
                  <a:schemeClr val="accent1">
                    <a:lumMod val="50000"/>
                  </a:schemeClr>
                </a:solidFill>
              </a:rPr>
              <a:t>    </a:t>
            </a:r>
            <a:endParaRPr lang="en-US" altLang="zh-TW" dirty="0">
              <a:solidFill>
                <a:schemeClr val="accent1">
                  <a:lumMod val="50000"/>
                </a:schemeClr>
              </a:solidFill>
            </a:endParaRPr>
          </a:p>
        </p:txBody>
      </p:sp>
      <p:pic>
        <p:nvPicPr>
          <p:cNvPr id="9"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9902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9001000" cy="584775"/>
          </a:xfrm>
          <a:prstGeom prst="rect">
            <a:avLst/>
          </a:prstGeom>
          <a:noFill/>
          <a:ln w="38100">
            <a:noFill/>
          </a:ln>
        </p:spPr>
        <p:txBody>
          <a:bodyPr wrap="square" rtlCol="0">
            <a:spAutoFit/>
          </a:bodyPr>
          <a:lstStyle/>
          <a:p>
            <a:r>
              <a:rPr lang="en-US" altLang="zh-TW" sz="3200" b="1" dirty="0">
                <a:solidFill>
                  <a:schemeClr val="accent1">
                    <a:lumMod val="50000"/>
                  </a:schemeClr>
                </a:solidFill>
              </a:rPr>
              <a:t>User </a:t>
            </a:r>
            <a:r>
              <a:rPr lang="en-US" altLang="zh-TW" sz="3200" b="1" dirty="0" smtClean="0">
                <a:solidFill>
                  <a:schemeClr val="accent1">
                    <a:lumMod val="50000"/>
                  </a:schemeClr>
                </a:solidFill>
              </a:rPr>
              <a:t>Testing </a:t>
            </a:r>
            <a:r>
              <a:rPr lang="en-US" altLang="zh-TW" sz="3200" b="1" dirty="0">
                <a:solidFill>
                  <a:schemeClr val="accent1">
                    <a:lumMod val="50000"/>
                  </a:schemeClr>
                </a:solidFill>
              </a:rPr>
              <a:t>- Knowledge gained after user </a:t>
            </a:r>
            <a:r>
              <a:rPr lang="en-US" altLang="zh-TW" sz="3200" b="1" dirty="0" smtClean="0">
                <a:solidFill>
                  <a:schemeClr val="accent1">
                    <a:lumMod val="50000"/>
                  </a:schemeClr>
                </a:solidFill>
              </a:rPr>
              <a:t>testing</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文字方塊 6"/>
          <p:cNvSpPr txBox="1"/>
          <p:nvPr/>
        </p:nvSpPr>
        <p:spPr>
          <a:xfrm>
            <a:off x="251520" y="915566"/>
            <a:ext cx="7632848" cy="1754326"/>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rPr>
              <a:t>Our app design makes it easy to navigate and understand for the user</a:t>
            </a:r>
          </a:p>
          <a:p>
            <a:pPr marL="285750" indent="-285750" fontAlgn="base">
              <a:buFont typeface="Arial" panose="020B0604020202020204" pitchFamily="34" charset="0"/>
              <a:buChar char="•"/>
            </a:pPr>
            <a:r>
              <a:rPr lang="en-US" altLang="zh-TW" dirty="0">
                <a:solidFill>
                  <a:schemeClr val="accent1">
                    <a:lumMod val="50000"/>
                  </a:schemeClr>
                </a:solidFill>
              </a:rPr>
              <a:t>It was easy for us to recreate key paths for the user to navigate through</a:t>
            </a:r>
          </a:p>
          <a:p>
            <a:pPr marL="285750" indent="-285750" fontAlgn="base">
              <a:buFont typeface="Arial" panose="020B0604020202020204" pitchFamily="34" charset="0"/>
              <a:buChar char="•"/>
            </a:pPr>
            <a:r>
              <a:rPr lang="en-US" altLang="zh-TW" dirty="0">
                <a:solidFill>
                  <a:schemeClr val="accent1">
                    <a:lumMod val="50000"/>
                  </a:schemeClr>
                </a:solidFill>
              </a:rPr>
              <a:t>We should add the possibility of adding default credit card, so the user doesn’t have to fill the field every time</a:t>
            </a:r>
          </a:p>
          <a:p>
            <a:pPr marL="285750" indent="-285750" fontAlgn="base">
              <a:buFont typeface="Arial" panose="020B0604020202020204" pitchFamily="34" charset="0"/>
              <a:buChar char="•"/>
            </a:pPr>
            <a:r>
              <a:rPr lang="en-US" altLang="zh-TW" dirty="0">
                <a:solidFill>
                  <a:schemeClr val="accent1">
                    <a:lumMod val="50000"/>
                  </a:schemeClr>
                </a:solidFill>
              </a:rPr>
              <a:t>We should add the option to pay with default card/entering different credit card number</a:t>
            </a:r>
          </a:p>
        </p:txBody>
      </p:sp>
      <p:pic>
        <p:nvPicPr>
          <p:cNvPr id="34818" name="Picture 2" descr="https://lh3.googleusercontent.com/NX9ysU6p91reXKfb2Be_Vua3YMuCRGb-NWYvt8_0vAuFlS1vvcYoSWe_NrxS659Lhnjb6fWKSgXvcAwKcWkLy-juyxitw39lSzPs89ffro1Gy7uJbSaqyCgLHUOLLBPl8lJW1UX1yg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427734"/>
            <a:ext cx="2588055" cy="25880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9503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258783"/>
            <a:ext cx="9001000" cy="584775"/>
          </a:xfrm>
          <a:prstGeom prst="rect">
            <a:avLst/>
          </a:prstGeom>
          <a:noFill/>
          <a:ln w="38100">
            <a:noFill/>
          </a:ln>
        </p:spPr>
        <p:txBody>
          <a:bodyPr wrap="square" rtlCol="0">
            <a:spAutoFit/>
          </a:bodyPr>
          <a:lstStyle/>
          <a:p>
            <a:r>
              <a:rPr lang="en-US" altLang="zh-TW" sz="3200" b="1" dirty="0" smtClean="0">
                <a:solidFill>
                  <a:schemeClr val="accent1">
                    <a:lumMod val="50000"/>
                  </a:schemeClr>
                </a:solidFill>
              </a:rPr>
              <a:t>Video</a:t>
            </a:r>
            <a:r>
              <a:rPr lang="zh-TW" altLang="en-US" sz="3200" b="1" dirty="0" smtClean="0">
                <a:solidFill>
                  <a:schemeClr val="accent1">
                    <a:lumMod val="50000"/>
                  </a:schemeClr>
                </a:solidFill>
              </a:rPr>
              <a:t> </a:t>
            </a:r>
            <a:r>
              <a:rPr lang="en-US" altLang="zh-TW" sz="3200" b="1" dirty="0" smtClean="0">
                <a:solidFill>
                  <a:schemeClr val="accent1">
                    <a:lumMod val="50000"/>
                  </a:schemeClr>
                </a:solidFill>
              </a:rPr>
              <a:t>links</a:t>
            </a:r>
            <a:endParaRPr lang="en-US" altLang="zh-TW" sz="3200" b="1" dirty="0">
              <a:solidFill>
                <a:schemeClr val="accent1">
                  <a:lumMod val="50000"/>
                </a:schemeClr>
              </a:solidFill>
            </a:endParaRPr>
          </a:p>
        </p:txBody>
      </p:sp>
      <p:cxnSp>
        <p:nvCxnSpPr>
          <p:cNvPr id="4" name="直線接點 3"/>
          <p:cNvCxnSpPr/>
          <p:nvPr/>
        </p:nvCxnSpPr>
        <p:spPr>
          <a:xfrm>
            <a:off x="323528" y="843558"/>
            <a:ext cx="8496944"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文字方塊 6"/>
          <p:cNvSpPr txBox="1"/>
          <p:nvPr/>
        </p:nvSpPr>
        <p:spPr>
          <a:xfrm>
            <a:off x="251520" y="915566"/>
            <a:ext cx="8568952" cy="2585323"/>
          </a:xfrm>
          <a:prstGeom prst="rect">
            <a:avLst/>
          </a:prstGeom>
          <a:noFill/>
        </p:spPr>
        <p:txBody>
          <a:bodyPr wrap="square" rtlCol="0">
            <a:spAutoFit/>
          </a:bodyPr>
          <a:lstStyle/>
          <a:p>
            <a:pPr marL="285750" indent="-285750" fontAlgn="base">
              <a:buFont typeface="Arial" panose="020B0604020202020204" pitchFamily="34" charset="0"/>
              <a:buChar char="•"/>
            </a:pPr>
            <a:r>
              <a:rPr lang="en-US" altLang="zh-TW" dirty="0">
                <a:solidFill>
                  <a:schemeClr val="accent1">
                    <a:lumMod val="50000"/>
                  </a:schemeClr>
                </a:solidFill>
                <a:hlinkClick r:id="rId2"/>
              </a:rPr>
              <a:t>https://</a:t>
            </a:r>
            <a:r>
              <a:rPr lang="en-US" altLang="zh-TW" dirty="0" smtClean="0">
                <a:solidFill>
                  <a:schemeClr val="accent1">
                    <a:lumMod val="50000"/>
                  </a:schemeClr>
                </a:solidFill>
                <a:hlinkClick r:id="rId2"/>
              </a:rPr>
              <a:t>drive.google.com/file/d/1kDrkPIFpcc4-u7MkpfZZasgysey9LizN/view?usp=sharing</a:t>
            </a:r>
            <a:endParaRPr lang="en-US" altLang="zh-TW" dirty="0" smtClean="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hlinkClick r:id="rId3"/>
              </a:rPr>
              <a:t>https://</a:t>
            </a:r>
            <a:r>
              <a:rPr lang="en-US" altLang="zh-TW" dirty="0" smtClean="0">
                <a:solidFill>
                  <a:schemeClr val="accent1">
                    <a:lumMod val="50000"/>
                  </a:schemeClr>
                </a:solidFill>
                <a:hlinkClick r:id="rId3"/>
              </a:rPr>
              <a:t>drive.google.com/file/d/1X_mjErffDd12garXR0MrfEHIDsVZlW3P/view?usp=sharing</a:t>
            </a:r>
            <a:endParaRPr lang="en-US" altLang="zh-TW" dirty="0" smtClean="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hlinkClick r:id="rId4"/>
              </a:rPr>
              <a:t>https://</a:t>
            </a:r>
            <a:r>
              <a:rPr lang="en-US" altLang="zh-TW" dirty="0" smtClean="0">
                <a:solidFill>
                  <a:schemeClr val="accent1">
                    <a:lumMod val="50000"/>
                  </a:schemeClr>
                </a:solidFill>
                <a:hlinkClick r:id="rId4"/>
              </a:rPr>
              <a:t>drive.google.com/file/d/1tNyCusNwDYHS0_UOVY7ZveRPIxR0QdLt/view?usp=sharing</a:t>
            </a:r>
            <a:endParaRPr lang="en-US" altLang="zh-TW" dirty="0" smtClean="0">
              <a:solidFill>
                <a:schemeClr val="accent1">
                  <a:lumMod val="50000"/>
                </a:schemeClr>
              </a:solidFill>
            </a:endParaRPr>
          </a:p>
          <a:p>
            <a:pPr marL="285750" indent="-285750" fontAlgn="base">
              <a:buFont typeface="Arial" panose="020B0604020202020204" pitchFamily="34" charset="0"/>
              <a:buChar char="•"/>
            </a:pPr>
            <a:r>
              <a:rPr lang="en-US" altLang="zh-TW" dirty="0">
                <a:solidFill>
                  <a:schemeClr val="accent1">
                    <a:lumMod val="50000"/>
                  </a:schemeClr>
                </a:solidFill>
                <a:hlinkClick r:id="rId5"/>
              </a:rPr>
              <a:t>https://</a:t>
            </a:r>
            <a:r>
              <a:rPr lang="en-US" altLang="zh-TW" dirty="0" smtClean="0">
                <a:solidFill>
                  <a:schemeClr val="accent1">
                    <a:lumMod val="50000"/>
                  </a:schemeClr>
                </a:solidFill>
                <a:hlinkClick r:id="rId5"/>
              </a:rPr>
              <a:t>drive.google.com/file/d/19e7AmIdDuQvNQ-N5gqfS-0FCO0vk7C-O/view?usp=sharing</a:t>
            </a:r>
            <a:endParaRPr lang="en-US" altLang="zh-TW" dirty="0" smtClean="0">
              <a:solidFill>
                <a:schemeClr val="accent1">
                  <a:lumMod val="50000"/>
                </a:schemeClr>
              </a:solidFill>
            </a:endParaRPr>
          </a:p>
          <a:p>
            <a:pPr marL="285750" indent="-285750" fontAlgn="base">
              <a:buFont typeface="Arial" panose="020B0604020202020204" pitchFamily="34" charset="0"/>
              <a:buChar char="•"/>
            </a:pPr>
            <a:endParaRPr lang="en-US" altLang="zh-TW" dirty="0">
              <a:solidFill>
                <a:schemeClr val="accent1">
                  <a:lumMod val="50000"/>
                </a:schemeClr>
              </a:solidFill>
            </a:endParaRPr>
          </a:p>
        </p:txBody>
      </p:sp>
      <p:pic>
        <p:nvPicPr>
          <p:cNvPr id="8"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6" cstate="print">
            <a:duotone>
              <a:schemeClr val="accent1">
                <a:shade val="45000"/>
                <a:satMod val="135000"/>
              </a:schemeClr>
              <a:prstClr val="white"/>
            </a:duotone>
            <a:extLst>
              <a:ext uri="{BEBA8EAE-BF5A-486C-A8C5-ECC9F3942E4B}">
                <a14:imgProps xmlns:a14="http://schemas.microsoft.com/office/drawing/2010/main">
                  <a14:imgLayer r:embed="rId7">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80312" y="4155926"/>
            <a:ext cx="1800000" cy="93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6750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5143500"/>
          </a:xfrm>
          <a:prstGeom prst="rect">
            <a:avLst/>
          </a:prstGeom>
          <a:blipFill dpi="0" rotWithShape="1">
            <a:blip r:embed="rId2">
              <a:alphaModFix amt="50000"/>
            </a:blip>
            <a:srcRect/>
            <a:stretch>
              <a:fillRect t="-2" b="-1192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p:cNvSpPr txBox="1"/>
          <p:nvPr/>
        </p:nvSpPr>
        <p:spPr>
          <a:xfrm>
            <a:off x="971600" y="843558"/>
            <a:ext cx="7272808" cy="3539430"/>
          </a:xfrm>
          <a:prstGeom prst="rect">
            <a:avLst/>
          </a:prstGeom>
          <a:solidFill>
            <a:schemeClr val="accent1">
              <a:lumMod val="50000"/>
              <a:alpha val="55000"/>
            </a:schemeClr>
          </a:solidFill>
        </p:spPr>
        <p:txBody>
          <a:bodyPr wrap="square" rtlCol="0">
            <a:spAutoFit/>
          </a:bodyPr>
          <a:lstStyle/>
          <a:p>
            <a:pPr algn="ctr"/>
            <a:r>
              <a:rPr lang="en-US" altLang="zh-TW" sz="3600" b="1" dirty="0" smtClean="0">
                <a:solidFill>
                  <a:schemeClr val="bg1"/>
                </a:solidFill>
              </a:rPr>
              <a:t>  </a:t>
            </a:r>
            <a:endParaRPr lang="en-US" altLang="zh-TW" sz="3600" b="1" dirty="0">
              <a:solidFill>
                <a:schemeClr val="bg1"/>
              </a:solidFill>
            </a:endParaRPr>
          </a:p>
          <a:p>
            <a:pPr algn="ctr"/>
            <a:r>
              <a:rPr lang="en-US" altLang="zh-TW" sz="3600" b="1" dirty="0" smtClean="0">
                <a:solidFill>
                  <a:schemeClr val="bg1"/>
                </a:solidFill>
              </a:rPr>
              <a:t>Thanks for your listening</a:t>
            </a:r>
          </a:p>
          <a:p>
            <a:pPr algn="ctr"/>
            <a:endParaRPr lang="en-US" altLang="zh-TW" sz="3600" b="1" dirty="0">
              <a:solidFill>
                <a:schemeClr val="bg1"/>
              </a:solidFill>
            </a:endParaRPr>
          </a:p>
          <a:p>
            <a:pPr algn="ctr"/>
            <a:endParaRPr lang="en-US" altLang="zh-TW" sz="3600" b="1" dirty="0" smtClean="0">
              <a:solidFill>
                <a:schemeClr val="bg1"/>
              </a:solidFill>
            </a:endParaRPr>
          </a:p>
          <a:p>
            <a:pPr algn="ctr"/>
            <a:endParaRPr lang="en-US" altLang="zh-TW" sz="2000" b="1" dirty="0" smtClean="0">
              <a:solidFill>
                <a:schemeClr val="bg1"/>
              </a:solidFill>
            </a:endParaRPr>
          </a:p>
          <a:p>
            <a:r>
              <a:rPr lang="en-US" altLang="zh-TW" sz="2000" b="1" dirty="0">
                <a:solidFill>
                  <a:schemeClr val="bg1"/>
                </a:solidFill>
              </a:rPr>
              <a:t> </a:t>
            </a:r>
            <a:r>
              <a:rPr lang="en-US" altLang="zh-TW" sz="2000" b="1" dirty="0" smtClean="0">
                <a:solidFill>
                  <a:schemeClr val="bg1"/>
                </a:solidFill>
              </a:rPr>
              <a:t>   </a:t>
            </a:r>
            <a:br>
              <a:rPr lang="en-US" altLang="zh-TW" sz="2000" b="1" dirty="0" smtClean="0">
                <a:solidFill>
                  <a:schemeClr val="bg1"/>
                </a:solidFill>
              </a:rPr>
            </a:br>
            <a:endParaRPr lang="en-US" altLang="zh-TW" sz="2000" b="1" dirty="0" smtClean="0">
              <a:solidFill>
                <a:schemeClr val="bg1"/>
              </a:solidFill>
            </a:endParaRPr>
          </a:p>
          <a:p>
            <a:endParaRPr lang="en-US" altLang="zh-TW" sz="2000" b="1" dirty="0">
              <a:solidFill>
                <a:schemeClr val="bg1"/>
              </a:solidFill>
            </a:endParaRPr>
          </a:p>
        </p:txBody>
      </p:sp>
      <p:cxnSp>
        <p:nvCxnSpPr>
          <p:cNvPr id="6" name="直線接點 5"/>
          <p:cNvCxnSpPr/>
          <p:nvPr/>
        </p:nvCxnSpPr>
        <p:spPr>
          <a:xfrm>
            <a:off x="1907704" y="1995686"/>
            <a:ext cx="547260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2" descr="https://scontent-tpe1-1.xx.fbcdn.net/v/t1.15752-9/48409078_2116174615092350_2777370671024439296_n.png?_nc_cat=100&amp;_nc_ht=scontent-tpe1-1.xx&amp;oh=93eb7826672b32f899012a556af7f8e6&amp;oe=5CD8FDEF"/>
          <p:cNvPicPr>
            <a:picLocks noChangeAspect="1" noChangeArrowheads="1"/>
          </p:cNvPicPr>
          <p:nvPr/>
        </p:nvPicPr>
        <p:blipFill>
          <a:blip r:embed="rId3" cstate="print">
            <a:lum bright="70000" contrast="-70000"/>
            <a:extLst>
              <a:ext uri="{BEBA8EAE-BF5A-486C-A8C5-ECC9F3942E4B}">
                <a14:imgProps xmlns:a14="http://schemas.microsoft.com/office/drawing/2010/main">
                  <a14:imgLayer r:embed="rId4">
                    <a14:imgEffect>
                      <a14:backgroundRemoval t="708" b="100000" l="0" r="98168">
                        <a14:foregroundMark x1="25397" y1="36321" x2="25397" y2="36321"/>
                        <a14:foregroundMark x1="29060" y1="22170" x2="29060" y2="22170"/>
                        <a14:foregroundMark x1="37607" y1="11321" x2="37607" y2="11321"/>
                        <a14:foregroundMark x1="46032" y1="9670" x2="46032" y2="9670"/>
                        <a14:foregroundMark x1="54579" y1="16981" x2="54579" y2="16981"/>
                        <a14:foregroundMark x1="56288" y1="20991" x2="56288" y2="20991"/>
                        <a14:foregroundMark x1="58974" y1="26887" x2="58974" y2="26887"/>
                        <a14:foregroundMark x1="60562" y1="39387" x2="60562" y2="39387"/>
                        <a14:foregroundMark x1="28694" y1="74764" x2="28694" y2="74764"/>
                        <a14:foregroundMark x1="38828" y1="73113" x2="38828" y2="73113"/>
                        <a14:foregroundMark x1="47863" y1="74292" x2="47863" y2="74292"/>
                        <a14:foregroundMark x1="63980" y1="66038" x2="63980" y2="66038"/>
                        <a14:foregroundMark x1="67643" y1="75943" x2="67643" y2="75943"/>
                        <a14:foregroundMark x1="76557" y1="74764" x2="76557" y2="74764"/>
                        <a14:foregroundMark x1="88889" y1="70991" x2="88889" y2="70991"/>
                        <a14:backgroundMark x1="41148" y1="70991" x2="41148" y2="70991"/>
                        <a14:backgroundMark x1="50672" y1="70519" x2="50672" y2="70519"/>
                        <a14:backgroundMark x1="55433" y1="19340" x2="55433" y2="19340"/>
                        <a14:backgroundMark x1="71184" y1="70519" x2="71184" y2="70519"/>
                      </a14:backgroundRemoval>
                    </a14:imgEffect>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131840" y="2355726"/>
            <a:ext cx="3168352" cy="1640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62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668</TotalTime>
  <Words>1172</Words>
  <Application>Microsoft Office PowerPoint</Application>
  <PresentationFormat>如螢幕大小 (16:9)</PresentationFormat>
  <Paragraphs>203</Paragraphs>
  <Slides>35</Slides>
  <Notes>0</Notes>
  <HiddenSlides>0</HiddenSlides>
  <MMClips>0</MMClips>
  <ScaleCrop>false</ScaleCrop>
  <HeadingPairs>
    <vt:vector size="4" baseType="variant">
      <vt:variant>
        <vt:lpstr>佈景主題</vt:lpstr>
      </vt:variant>
      <vt:variant>
        <vt:i4>1</vt:i4>
      </vt:variant>
      <vt:variant>
        <vt:lpstr>投影片標題</vt:lpstr>
      </vt:variant>
      <vt:variant>
        <vt:i4>35</vt:i4>
      </vt:variant>
    </vt:vector>
  </HeadingPairs>
  <TitlesOfParts>
    <vt:vector size="36" baseType="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Henry</dc:creator>
  <cp:lastModifiedBy>Henry</cp:lastModifiedBy>
  <cp:revision>33</cp:revision>
  <dcterms:created xsi:type="dcterms:W3CDTF">2018-12-24T12:25:22Z</dcterms:created>
  <dcterms:modified xsi:type="dcterms:W3CDTF">2018-12-25T14:22:02Z</dcterms:modified>
</cp:coreProperties>
</file>