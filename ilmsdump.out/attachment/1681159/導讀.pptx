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58"/>
  </p:notesMasterIdLst>
  <p:sldIdLst>
    <p:sldId id="256" r:id="rId4"/>
    <p:sldId id="261" r:id="rId5"/>
    <p:sldId id="265" r:id="rId6"/>
    <p:sldId id="346" r:id="rId7"/>
    <p:sldId id="347" r:id="rId8"/>
    <p:sldId id="348" r:id="rId9"/>
    <p:sldId id="349" r:id="rId10"/>
    <p:sldId id="350" r:id="rId11"/>
    <p:sldId id="352" r:id="rId12"/>
    <p:sldId id="353" r:id="rId13"/>
    <p:sldId id="300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345" r:id="rId48"/>
    <p:sldId id="303" r:id="rId49"/>
    <p:sldId id="305" r:id="rId50"/>
    <p:sldId id="307" r:id="rId51"/>
    <p:sldId id="308" r:id="rId52"/>
    <p:sldId id="309" r:id="rId53"/>
    <p:sldId id="310" r:id="rId54"/>
    <p:sldId id="311" r:id="rId55"/>
    <p:sldId id="302" r:id="rId56"/>
    <p:sldId id="301" r:id="rId57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2A40D"/>
    <a:srgbClr val="32A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9" autoAdjust="0"/>
    <p:restoredTop sz="94333" autoAdjust="0"/>
  </p:normalViewPr>
  <p:slideViewPr>
    <p:cSldViewPr>
      <p:cViewPr varScale="1">
        <p:scale>
          <a:sx n="91" d="100"/>
          <a:sy n="91" d="100"/>
        </p:scale>
        <p:origin x="858" y="84"/>
      </p:cViewPr>
      <p:guideLst>
        <p:guide orient="horz" pos="13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96B3C-0FAF-46C9-BEC8-2E1C6F904D40}" type="datetimeFigureOut">
              <a:rPr lang="zh-TW" altLang="en-US" smtClean="0"/>
              <a:t>2018/12/12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C0605-67C2-4ED2-84DE-08344B7F061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51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DC0605-67C2-4ED2-84DE-08344B7F061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996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在作業評分任務中，會有學生跟老師兩個不同的，使用者情境組成。</a:t>
            </a:r>
            <a:endParaRPr lang="en-US" altLang="zh-TW" dirty="0" smtClean="0"/>
          </a:p>
          <a:p>
            <a:r>
              <a:rPr lang="zh-TW" altLang="en-US" dirty="0" smtClean="0"/>
              <a:t>或是不同分數的學生，會有不同作業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DC0605-67C2-4ED2-84DE-08344B7F0618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282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DC0605-67C2-4ED2-84DE-08344B7F0618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343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51920" y="1794902"/>
            <a:ext cx="5292080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맑은 고딕" pitchFamily="50" charset="-127"/>
              </a:rPr>
              <a:t>FREE </a:t>
            </a:r>
          </a:p>
          <a:p>
            <a:r>
              <a:rPr lang="en-US" altLang="ko-KR" dirty="0">
                <a:ea typeface="맑은 고딕" pitchFamily="50" charset="-127"/>
              </a:rPr>
              <a:t>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51772" y="2947030"/>
            <a:ext cx="5292080" cy="4888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OF YOUR PRESENTATION HERE</a:t>
            </a:r>
            <a:endParaRPr lang="en-US" altLang="ko-KR" dirty="0"/>
          </a:p>
        </p:txBody>
      </p:sp>
      <p:pic>
        <p:nvPicPr>
          <p:cNvPr id="1026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40" y="657349"/>
            <a:ext cx="1765300" cy="39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7224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14830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3311860" y="737642"/>
            <a:ext cx="2520280" cy="25202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351" y="1139211"/>
            <a:ext cx="819298" cy="181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84" y="938231"/>
            <a:ext cx="1584176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89484" y="938231"/>
            <a:ext cx="792088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35" y="2931790"/>
            <a:ext cx="945499" cy="20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99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399842"/>
            <a:ext cx="9144000" cy="174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4043561" y="2859782"/>
            <a:ext cx="1080120" cy="108012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057" y="3010192"/>
            <a:ext cx="351128" cy="77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8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608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43508" y="92609"/>
            <a:ext cx="8856984" cy="49582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32792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5584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98376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2328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4656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6984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32113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131590"/>
            <a:ext cx="7230270" cy="367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13480" y="1626257"/>
            <a:ext cx="3465217" cy="2562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467544" y="3363838"/>
            <a:ext cx="3024336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759754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08" y="1042230"/>
            <a:ext cx="2869272" cy="347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380312" y="1175233"/>
            <a:ext cx="1008112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643269" y="1261134"/>
            <a:ext cx="1654766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01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860032" y="0"/>
            <a:ext cx="3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4896032" y="1311750"/>
            <a:ext cx="180000" cy="2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4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06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181632"/>
            <a:ext cx="601216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0" y="757696"/>
            <a:ext cx="601216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146470" y="1131590"/>
            <a:ext cx="3059832" cy="40119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877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1510"/>
            <a:ext cx="6444208" cy="432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622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223854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312086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13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44208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444208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986213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986213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39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291830"/>
            <a:ext cx="87484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3867894"/>
            <a:ext cx="87484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7544" y="339502"/>
            <a:ext cx="3312128" cy="2808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95936" y="339502"/>
            <a:ext cx="468052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9593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619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23645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426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3106909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7224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14830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3311860" y="737642"/>
            <a:ext cx="2520280" cy="25202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351" y="1139211"/>
            <a:ext cx="819298" cy="181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480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116108" y="843558"/>
            <a:ext cx="4896544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116108" y="0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116108" y="4948014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6108" y="3049518"/>
            <a:ext cx="489654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16108" y="3625582"/>
            <a:ext cx="489654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55985" y="1156325"/>
            <a:ext cx="816788" cy="181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5224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116108" y="843558"/>
            <a:ext cx="4896544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116108" y="0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116108" y="4948014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6108" y="3049518"/>
            <a:ext cx="489654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16108" y="3625582"/>
            <a:ext cx="489654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55985" y="1156325"/>
            <a:ext cx="816788" cy="181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2" r:id="rId2"/>
    <p:sldLayoutId id="2147483670" r:id="rId3"/>
    <p:sldLayoutId id="2147483652" r:id="rId4"/>
    <p:sldLayoutId id="2147483671" r:id="rId5"/>
    <p:sldLayoutId id="2147483655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4" r:id="rId12"/>
    <p:sldLayoutId id="2147483668" r:id="rId13"/>
    <p:sldLayoutId id="2147483669" r:id="rId14"/>
    <p:sldLayoutId id="2147483673" r:id="rId15"/>
    <p:sldLayoutId id="2147483656" r:id="rId16"/>
    <p:sldLayoutId id="2147483674" r:id="rId17"/>
    <p:sldLayoutId id="2147483675" r:id="rId18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69819" y="1347614"/>
            <a:ext cx="4316429" cy="1080121"/>
          </a:xfrm>
        </p:spPr>
        <p:txBody>
          <a:bodyPr/>
          <a:lstStyle/>
          <a:p>
            <a:pPr algn="ctr"/>
            <a:r>
              <a:rPr lang="en-US" altLang="zh-TW" sz="5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</a:t>
            </a:r>
            <a:r>
              <a:rPr lang="en-US" altLang="ko-KR" sz="5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toryboarding</a:t>
            </a:r>
            <a:endParaRPr lang="en-US" altLang="ko-KR" sz="50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039791" y="3075806"/>
            <a:ext cx="2376487" cy="936104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zh-TW" altLang="en-US" sz="20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音樂所碩一 陳鵬安</a:t>
            </a:r>
            <a:endParaRPr lang="en-US" altLang="zh-TW" sz="20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spcBef>
                <a:spcPts val="0"/>
              </a:spcBef>
              <a:defRPr/>
            </a:pPr>
            <a:r>
              <a:rPr lang="zh-TW" altLang="en-US" sz="2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資應所博一 黃小</a:t>
            </a:r>
            <a:r>
              <a:rPr lang="zh-TW" altLang="en-US" sz="20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卉</a:t>
            </a:r>
            <a:endParaRPr lang="en-US" altLang="zh-TW" sz="20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spcBef>
                <a:spcPts val="0"/>
              </a:spcBef>
              <a:defRPr/>
            </a:pPr>
            <a:r>
              <a:rPr lang="zh-TW" altLang="en-US" sz="2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資應所碩一 袁偉</a:t>
            </a:r>
            <a:r>
              <a:rPr lang="zh-TW" altLang="en-US" sz="20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軒</a:t>
            </a:r>
            <a:endParaRPr lang="en-US" altLang="zh-TW" sz="20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4861023" y="317219"/>
            <a:ext cx="1763688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36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Outline</a:t>
            </a:r>
            <a:endParaRPr lang="en-US" sz="3600" dirty="0">
              <a:latin typeface="微軟正黑體 Light" panose="020B0304030504040204" pitchFamily="34" charset="-120"/>
              <a:ea typeface="微軟正黑體 Light" panose="020B0304030504040204" pitchFamily="34" charset="-120"/>
              <a:cs typeface="Arial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131840" y="1275606"/>
            <a:ext cx="5256584" cy="720000"/>
            <a:chOff x="3131840" y="1491630"/>
            <a:chExt cx="5256584" cy="576064"/>
          </a:xfrm>
        </p:grpSpPr>
        <p:sp>
          <p:nvSpPr>
            <p:cNvPr id="2" name="Rectangle 1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" name="Right Triangle 4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126085" y="2163705"/>
            <a:ext cx="5256584" cy="720000"/>
            <a:chOff x="3131840" y="1491630"/>
            <a:chExt cx="5256584" cy="576064"/>
          </a:xfrm>
        </p:grpSpPr>
        <p:sp>
          <p:nvSpPr>
            <p:cNvPr id="18" name="Rectangle 17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Right Triangle 18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20330" y="3051804"/>
            <a:ext cx="5256584" cy="720000"/>
            <a:chOff x="3131840" y="1491630"/>
            <a:chExt cx="5256584" cy="576064"/>
          </a:xfrm>
        </p:grpSpPr>
        <p:sp>
          <p:nvSpPr>
            <p:cNvPr id="21" name="Rectangle 20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2" name="Right Triangle 21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114575" y="3939902"/>
            <a:ext cx="5256584" cy="720000"/>
            <a:chOff x="3131840" y="1491630"/>
            <a:chExt cx="5256584" cy="576064"/>
          </a:xfrm>
        </p:grpSpPr>
        <p:sp>
          <p:nvSpPr>
            <p:cNvPr id="24" name="Rectangle 23"/>
            <p:cNvSpPr/>
            <p:nvPr/>
          </p:nvSpPr>
          <p:spPr>
            <a:xfrm>
              <a:off x="3131840" y="1491630"/>
              <a:ext cx="5256584" cy="5760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5" name="Right Triangle 24"/>
            <p:cNvSpPr/>
            <p:nvPr/>
          </p:nvSpPr>
          <p:spPr>
            <a:xfrm rot="5400000">
              <a:off x="3203840" y="1419630"/>
              <a:ext cx="576000" cy="7200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3131840" y="1275606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20330" y="2163705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108820" y="3051804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97310" y="3939903"/>
            <a:ext cx="53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3851840" y="1356248"/>
            <a:ext cx="4392568" cy="546224"/>
            <a:chOff x="3851840" y="1356248"/>
            <a:chExt cx="4392568" cy="546224"/>
          </a:xfrm>
        </p:grpSpPr>
        <p:sp>
          <p:nvSpPr>
            <p:cNvPr id="30" name="TextBox 29"/>
            <p:cNvSpPr txBox="1"/>
            <p:nvPr/>
          </p:nvSpPr>
          <p:spPr>
            <a:xfrm>
              <a:off x="3851840" y="1356248"/>
              <a:ext cx="43925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介紹和</a:t>
              </a:r>
              <a:r>
                <a:rPr lang="zh-TW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準備</a:t>
              </a:r>
              <a:r>
                <a:rPr lang="en-US" altLang="zh-TW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(introduction</a:t>
              </a:r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 </a:t>
              </a:r>
              <a:r>
                <a:rPr lang="en-US" altLang="zh-TW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and preparation</a:t>
              </a:r>
              <a:r>
                <a:rPr lang="en-US" altLang="zh-TW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)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陳鵬</a:t>
              </a: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安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851840" y="2250553"/>
            <a:ext cx="4392568" cy="546224"/>
            <a:chOff x="3851840" y="1356248"/>
            <a:chExt cx="4392568" cy="546224"/>
          </a:xfrm>
        </p:grpSpPr>
        <p:sp>
          <p:nvSpPr>
            <p:cNvPr id="37" name="TextBox 36"/>
            <p:cNvSpPr txBox="1"/>
            <p:nvPr/>
          </p:nvSpPr>
          <p:spPr>
            <a:xfrm>
              <a:off x="3851840" y="1356248"/>
              <a:ext cx="43925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製作雛形</a:t>
              </a:r>
              <a:r>
                <a:rPr lang="en-US" altLang="zh-TW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(prototype)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黃小卉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3851840" y="3144858"/>
            <a:ext cx="4392568" cy="546224"/>
            <a:chOff x="3851840" y="1356248"/>
            <a:chExt cx="4392568" cy="546224"/>
          </a:xfrm>
        </p:grpSpPr>
        <p:sp>
          <p:nvSpPr>
            <p:cNvPr id="40" name="TextBox 39"/>
            <p:cNvSpPr txBox="1"/>
            <p:nvPr/>
          </p:nvSpPr>
          <p:spPr>
            <a:xfrm>
              <a:off x="3851840" y="1356248"/>
              <a:ext cx="43925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修改雛形</a:t>
              </a:r>
              <a:r>
                <a:rPr lang="en-US" altLang="zh-TW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(revision)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袁偉軒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851840" y="4039163"/>
            <a:ext cx="4392568" cy="546224"/>
            <a:chOff x="3851840" y="1356248"/>
            <a:chExt cx="4392568" cy="546224"/>
          </a:xfrm>
        </p:grpSpPr>
        <p:sp>
          <p:nvSpPr>
            <p:cNvPr id="43" name="TextBox 42"/>
            <p:cNvSpPr txBox="1"/>
            <p:nvPr/>
          </p:nvSpPr>
          <p:spPr>
            <a:xfrm>
              <a:off x="3851841" y="1356248"/>
              <a:ext cx="43925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活動</a:t>
              </a:r>
              <a:r>
                <a:rPr lang="en-US" altLang="zh-TW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(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Activity</a:t>
              </a:r>
              <a:r>
                <a:rPr lang="en-US" altLang="zh-TW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)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851840" y="1625473"/>
              <a:ext cx="43925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製作故事分</a:t>
              </a:r>
              <a:r>
                <a:rPr lang="zh-TW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鏡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49" y="365723"/>
            <a:ext cx="9144000" cy="576064"/>
          </a:xfrm>
        </p:spPr>
        <p:txBody>
          <a:bodyPr/>
          <a:lstStyle/>
          <a:p>
            <a:r>
              <a:rPr lang="zh-TW" altLang="en-US" dirty="0" smtClean="0"/>
              <a:t>介紹</a:t>
            </a:r>
            <a:r>
              <a:rPr lang="zh-TW" altLang="en-US" dirty="0"/>
              <a:t>和準備</a:t>
            </a:r>
            <a:r>
              <a:rPr lang="en-US" altLang="zh-TW" dirty="0"/>
              <a:t>(introduction</a:t>
            </a:r>
            <a:r>
              <a:rPr lang="zh-TW" altLang="en-US" dirty="0"/>
              <a:t> </a:t>
            </a:r>
            <a:r>
              <a:rPr lang="en-US" altLang="zh-TW" dirty="0"/>
              <a:t>and preparation</a:t>
            </a:r>
            <a:r>
              <a:rPr lang="en-US" altLang="zh-TW" dirty="0" smtClean="0"/>
              <a:t>)</a:t>
            </a:r>
            <a:endParaRPr lang="ko-KR" altLang="en-US" dirty="0"/>
          </a:p>
        </p:txBody>
      </p:sp>
      <p:grpSp>
        <p:nvGrpSpPr>
          <p:cNvPr id="44" name="群組 43"/>
          <p:cNvGrpSpPr/>
          <p:nvPr/>
        </p:nvGrpSpPr>
        <p:grpSpPr>
          <a:xfrm>
            <a:off x="0" y="1275606"/>
            <a:ext cx="9144000" cy="3456384"/>
            <a:chOff x="0" y="1275606"/>
            <a:chExt cx="9144000" cy="3456384"/>
          </a:xfrm>
        </p:grpSpPr>
        <p:sp>
          <p:nvSpPr>
            <p:cNvPr id="6" name="Rectangle 5"/>
            <p:cNvSpPr/>
            <p:nvPr/>
          </p:nvSpPr>
          <p:spPr>
            <a:xfrm>
              <a:off x="0" y="1275606"/>
              <a:ext cx="9144000" cy="345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555475" y="1621032"/>
              <a:ext cx="36000" cy="27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619207" y="1707654"/>
            <a:ext cx="1720545" cy="576064"/>
            <a:chOff x="619207" y="1707654"/>
            <a:chExt cx="1720545" cy="576064"/>
          </a:xfrm>
        </p:grpSpPr>
        <p:sp>
          <p:nvSpPr>
            <p:cNvPr id="7" name="Oval 6"/>
            <p:cNvSpPr/>
            <p:nvPr/>
          </p:nvSpPr>
          <p:spPr>
            <a:xfrm>
              <a:off x="652611" y="1707654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6719" y="1856605"/>
              <a:ext cx="10330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Definition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19207" y="1773236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583489" y="2715766"/>
            <a:ext cx="2044295" cy="576064"/>
            <a:chOff x="583489" y="2715766"/>
            <a:chExt cx="2044295" cy="576064"/>
          </a:xfrm>
        </p:grpSpPr>
        <p:sp>
          <p:nvSpPr>
            <p:cNvPr id="9" name="Oval 8"/>
            <p:cNvSpPr/>
            <p:nvPr/>
          </p:nvSpPr>
          <p:spPr>
            <a:xfrm>
              <a:off x="634752" y="2715766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00683" y="2846052"/>
              <a:ext cx="13271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Key Concept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3489" y="2772965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02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583489" y="3723878"/>
            <a:ext cx="3124415" cy="576064"/>
            <a:chOff x="583489" y="3723878"/>
            <a:chExt cx="3124415" cy="576064"/>
          </a:xfrm>
        </p:grpSpPr>
        <p:sp>
          <p:nvSpPr>
            <p:cNvPr id="10" name="Oval 9"/>
            <p:cNvSpPr/>
            <p:nvPr/>
          </p:nvSpPr>
          <p:spPr>
            <a:xfrm>
              <a:off x="616893" y="372387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00683" y="3871138"/>
              <a:ext cx="24072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Process for storyboarding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3489" y="3781077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03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217690" y="1716037"/>
            <a:ext cx="3669590" cy="576064"/>
            <a:chOff x="5217690" y="1716037"/>
            <a:chExt cx="3669590" cy="576064"/>
          </a:xfrm>
        </p:grpSpPr>
        <p:sp>
          <p:nvSpPr>
            <p:cNvPr id="20" name="Oval 19"/>
            <p:cNvSpPr/>
            <p:nvPr/>
          </p:nvSpPr>
          <p:spPr>
            <a:xfrm>
              <a:off x="5248647" y="1716037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91519" y="1841797"/>
              <a:ext cx="2995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Prepare the room, data, supplies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17690" y="1779662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04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5181972" y="2724149"/>
            <a:ext cx="3345268" cy="576064"/>
            <a:chOff x="5181972" y="2724149"/>
            <a:chExt cx="3345268" cy="576064"/>
          </a:xfrm>
        </p:grpSpPr>
        <p:sp>
          <p:nvSpPr>
            <p:cNvPr id="21" name="Oval 20"/>
            <p:cNvSpPr/>
            <p:nvPr/>
          </p:nvSpPr>
          <p:spPr>
            <a:xfrm>
              <a:off x="5230788" y="2724149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91519" y="2856334"/>
              <a:ext cx="26357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Gather people to storyboard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81972" y="2779391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05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Storyboarding</a:t>
            </a:r>
            <a:endParaRPr lang="ko-KR" altLang="en-US" dirty="0"/>
          </a:p>
        </p:txBody>
      </p:sp>
      <p:graphicFrame>
        <p:nvGraphicFramePr>
          <p:cNvPr id="4" name="Chart 3"/>
          <p:cNvGraphicFramePr/>
          <p:nvPr>
            <p:extLst/>
          </p:nvPr>
        </p:nvGraphicFramePr>
        <p:xfrm>
          <a:off x="2023942" y="1131590"/>
          <a:ext cx="2327920" cy="2333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4" name="Straight Connector 13"/>
          <p:cNvCxnSpPr/>
          <p:nvPr/>
        </p:nvCxnSpPr>
        <p:spPr>
          <a:xfrm flipV="1">
            <a:off x="0" y="1923679"/>
            <a:ext cx="9047332" cy="2592287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923678"/>
            <a:ext cx="50378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TW" dirty="0"/>
              <a:t>Storyboards take the broad view of the vision, </a:t>
            </a:r>
            <a:endParaRPr lang="en-US" altLang="zh-TW" dirty="0" smtClean="0"/>
          </a:p>
          <a:p>
            <a:pPr lvl="0"/>
            <a:r>
              <a:rPr lang="en-US" altLang="zh-TW" dirty="0" smtClean="0"/>
              <a:t>and </a:t>
            </a:r>
            <a:r>
              <a:rPr lang="en-US" altLang="zh-TW" dirty="0"/>
              <a:t>work out in detail how a person accomplish specific tasks in the new design. </a:t>
            </a:r>
          </a:p>
        </p:txBody>
      </p:sp>
      <p:sp>
        <p:nvSpPr>
          <p:cNvPr id="15" name="矩形 14"/>
          <p:cNvSpPr/>
          <p:nvPr/>
        </p:nvSpPr>
        <p:spPr>
          <a:xfrm>
            <a:off x="3851920" y="3897284"/>
            <a:ext cx="48965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TW" dirty="0"/>
              <a:t>Ensure the team does not overlook any intents and steps that are critical to the work. </a:t>
            </a:r>
          </a:p>
        </p:txBody>
      </p:sp>
    </p:spTree>
    <p:extLst>
      <p:ext uri="{BB962C8B-B14F-4D97-AF65-F5344CB8AC3E}">
        <p14:creationId xmlns:p14="http://schemas.microsoft.com/office/powerpoint/2010/main" val="70944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版面配置區 3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3" b="8653"/>
          <a:stretch>
            <a:fillRect/>
          </a:stretch>
        </p:blipFill>
        <p:spPr/>
      </p:pic>
      <p:grpSp>
        <p:nvGrpSpPr>
          <p:cNvPr id="2" name="群組 1"/>
          <p:cNvGrpSpPr/>
          <p:nvPr/>
        </p:nvGrpSpPr>
        <p:grpSpPr>
          <a:xfrm>
            <a:off x="0" y="1924446"/>
            <a:ext cx="3395091" cy="1152128"/>
            <a:chOff x="0" y="1924446"/>
            <a:chExt cx="3395091" cy="1152128"/>
          </a:xfrm>
        </p:grpSpPr>
        <p:sp>
          <p:nvSpPr>
            <p:cNvPr id="5" name="Rectangle 4"/>
            <p:cNvSpPr/>
            <p:nvPr/>
          </p:nvSpPr>
          <p:spPr>
            <a:xfrm>
              <a:off x="0" y="1924446"/>
              <a:ext cx="3395091" cy="115212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 Placeholder 1"/>
            <p:cNvSpPr txBox="1">
              <a:spLocks/>
            </p:cNvSpPr>
            <p:nvPr/>
          </p:nvSpPr>
          <p:spPr>
            <a:xfrm>
              <a:off x="905457" y="2257452"/>
              <a:ext cx="1584176" cy="486116"/>
            </a:xfrm>
            <a:prstGeom prst="rect">
              <a:avLst/>
            </a:prstGeom>
          </p:spPr>
          <p:txBody>
            <a:bodyPr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altLang="zh-TW" sz="2400" dirty="0">
                  <a:solidFill>
                    <a:schemeClr val="bg1"/>
                  </a:solidFill>
                </a:rPr>
                <a:t>Definition</a:t>
              </a:r>
              <a:endParaRPr lang="ko-KR" altLang="en-US" sz="2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0" y="3104577"/>
            <a:ext cx="8388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Like freeze-frame movies of the new work </a:t>
            </a:r>
            <a:r>
              <a:rPr lang="en-US" altLang="zh-TW" dirty="0" smtClean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practice.</a:t>
            </a:r>
            <a:endParaRPr lang="en-US" altLang="zh-TW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Step-by-step </a:t>
            </a:r>
            <a:r>
              <a:rPr lang="en-US" altLang="zh-TW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pictures of how people will </a:t>
            </a:r>
            <a:r>
              <a:rPr lang="en-US" altLang="zh-TW" dirty="0" smtClean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work.</a:t>
            </a:r>
            <a:endParaRPr lang="en-US" altLang="zh-TW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dirty="0" smtClean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dirty="0" smtClean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Include </a:t>
            </a:r>
            <a:r>
              <a:rPr lang="en-US" altLang="zh-TW" dirty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manual steps, rough user interface components, system activity and automation, and even documentation </a:t>
            </a:r>
            <a:r>
              <a:rPr lang="en-US" altLang="zh-TW" dirty="0" smtClean="0">
                <a:solidFill>
                  <a:schemeClr val="bg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use.</a:t>
            </a:r>
            <a:endParaRPr lang="en-US" altLang="zh-TW" dirty="0">
              <a:solidFill>
                <a:schemeClr val="bg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3491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Key concepts</a:t>
            </a:r>
            <a:endParaRPr lang="ko-KR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615894" y="1967733"/>
            <a:ext cx="900000" cy="900000"/>
            <a:chOff x="3563888" y="1923678"/>
            <a:chExt cx="900000" cy="900000"/>
          </a:xfrm>
        </p:grpSpPr>
        <p:sp>
          <p:nvSpPr>
            <p:cNvPr id="4" name="Rectangle 3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Right Triangle 4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 rot="5400000">
            <a:off x="4626684" y="1715733"/>
            <a:ext cx="1152000" cy="1152000"/>
            <a:chOff x="3563888" y="1923678"/>
            <a:chExt cx="900000" cy="900000"/>
          </a:xfrm>
        </p:grpSpPr>
        <p:sp>
          <p:nvSpPr>
            <p:cNvPr id="9" name="Rectangle 8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Right Triangle 9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 rot="10800000">
            <a:off x="4626684" y="2980022"/>
            <a:ext cx="720000" cy="720000"/>
            <a:chOff x="3563888" y="1923678"/>
            <a:chExt cx="900000" cy="900000"/>
          </a:xfrm>
        </p:grpSpPr>
        <p:sp>
          <p:nvSpPr>
            <p:cNvPr id="12" name="Rectangle 11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Right Triangle 12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 rot="16200000">
            <a:off x="3507861" y="2980023"/>
            <a:ext cx="1008033" cy="1008033"/>
            <a:chOff x="3563888" y="1923678"/>
            <a:chExt cx="900000" cy="900000"/>
          </a:xfrm>
        </p:grpSpPr>
        <p:sp>
          <p:nvSpPr>
            <p:cNvPr id="15" name="Rectangle 14"/>
            <p:cNvSpPr/>
            <p:nvPr/>
          </p:nvSpPr>
          <p:spPr>
            <a:xfrm>
              <a:off x="3563888" y="1923678"/>
              <a:ext cx="900000" cy="900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Right Triangle 15"/>
            <p:cNvSpPr/>
            <p:nvPr/>
          </p:nvSpPr>
          <p:spPr>
            <a:xfrm rot="16200000">
              <a:off x="3731757" y="2089433"/>
              <a:ext cx="648000" cy="648000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025097" y="2386248"/>
            <a:ext cx="402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A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3299" y="2346544"/>
            <a:ext cx="402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B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25097" y="3074253"/>
            <a:ext cx="402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C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38332" y="2995981"/>
            <a:ext cx="402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1"/>
                </a:solidFill>
                <a:cs typeface="Arial" pitchFamily="34" charset="0"/>
              </a:rPr>
              <a:t>D</a:t>
            </a:r>
            <a:endParaRPr lang="ko-KR" altLang="en-US" sz="20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1" name="Rectangle 9"/>
          <p:cNvSpPr/>
          <p:nvPr/>
        </p:nvSpPr>
        <p:spPr>
          <a:xfrm>
            <a:off x="3730716" y="2078480"/>
            <a:ext cx="322655" cy="30203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Rectangle 16"/>
          <p:cNvSpPr/>
          <p:nvPr/>
        </p:nvSpPr>
        <p:spPr>
          <a:xfrm rot="2700000">
            <a:off x="3706805" y="3459389"/>
            <a:ext cx="244448" cy="438249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Oval 21"/>
          <p:cNvSpPr>
            <a:spLocks noChangeAspect="1"/>
          </p:cNvSpPr>
          <p:nvPr/>
        </p:nvSpPr>
        <p:spPr>
          <a:xfrm>
            <a:off x="5233491" y="1896998"/>
            <a:ext cx="391466" cy="394735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4" name="Rounded Rectangle 27"/>
          <p:cNvSpPr/>
          <p:nvPr/>
        </p:nvSpPr>
        <p:spPr>
          <a:xfrm>
            <a:off x="4946912" y="3370670"/>
            <a:ext cx="295178" cy="226737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67912" y="2229497"/>
            <a:ext cx="2726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Using drawings instead of text-based use </a:t>
            </a:r>
            <a:r>
              <a:rPr lang="en-US" altLang="zh-TW" sz="12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cases.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40" y="3253205"/>
            <a:ext cx="285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Identify which sequences are relevant to the </a:t>
            </a:r>
            <a:r>
              <a:rPr lang="en-US" altLang="zh-TW" sz="12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vision.</a:t>
            </a: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0152" y="2153233"/>
            <a:ext cx="25394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Start with a low-level vision.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1951" y="3082605"/>
            <a:ext cx="2704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Storyboards are equivalent to future </a:t>
            </a:r>
            <a:r>
              <a:rPr lang="en-US" altLang="zh-TW" sz="12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scenarios.</a:t>
            </a: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5111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dirty="0"/>
              <a:t>Process for storyboarding</a:t>
            </a:r>
            <a:endParaRPr lang="ko-KR" altLang="en-US" dirty="0"/>
          </a:p>
        </p:txBody>
      </p:sp>
      <p:sp>
        <p:nvSpPr>
          <p:cNvPr id="6" name="Freeform 5"/>
          <p:cNvSpPr/>
          <p:nvPr/>
        </p:nvSpPr>
        <p:spPr>
          <a:xfrm>
            <a:off x="4061224" y="1203598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7" name="Freeform 6"/>
          <p:cNvSpPr/>
          <p:nvPr/>
        </p:nvSpPr>
        <p:spPr>
          <a:xfrm rot="2160000">
            <a:off x="5020924" y="1965135"/>
            <a:ext cx="264268" cy="334396"/>
          </a:xfrm>
          <a:custGeom>
            <a:avLst/>
            <a:gdLst>
              <a:gd name="connsiteX0" fmla="*/ 0 w 327092"/>
              <a:gd name="connsiteY0" fmla="*/ 82778 h 413891"/>
              <a:gd name="connsiteX1" fmla="*/ 163546 w 327092"/>
              <a:gd name="connsiteY1" fmla="*/ 82778 h 413891"/>
              <a:gd name="connsiteX2" fmla="*/ 163546 w 327092"/>
              <a:gd name="connsiteY2" fmla="*/ 0 h 413891"/>
              <a:gd name="connsiteX3" fmla="*/ 327092 w 327092"/>
              <a:gd name="connsiteY3" fmla="*/ 206946 h 413891"/>
              <a:gd name="connsiteX4" fmla="*/ 163546 w 327092"/>
              <a:gd name="connsiteY4" fmla="*/ 413891 h 413891"/>
              <a:gd name="connsiteX5" fmla="*/ 163546 w 327092"/>
              <a:gd name="connsiteY5" fmla="*/ 331113 h 413891"/>
              <a:gd name="connsiteX6" fmla="*/ 0 w 327092"/>
              <a:gd name="connsiteY6" fmla="*/ 331113 h 413891"/>
              <a:gd name="connsiteX7" fmla="*/ 0 w 327092"/>
              <a:gd name="connsiteY7" fmla="*/ 82778 h 41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092" h="413891">
                <a:moveTo>
                  <a:pt x="0" y="82778"/>
                </a:moveTo>
                <a:lnTo>
                  <a:pt x="163546" y="82778"/>
                </a:lnTo>
                <a:lnTo>
                  <a:pt x="163546" y="0"/>
                </a:lnTo>
                <a:lnTo>
                  <a:pt x="327092" y="206946"/>
                </a:lnTo>
                <a:lnTo>
                  <a:pt x="163546" y="413891"/>
                </a:lnTo>
                <a:lnTo>
                  <a:pt x="163546" y="331113"/>
                </a:lnTo>
                <a:lnTo>
                  <a:pt x="0" y="331113"/>
                </a:lnTo>
                <a:lnTo>
                  <a:pt x="0" y="827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2778" rIns="98127" bIns="82777" numCol="1" spcCol="1270" anchor="ctr" anchorCtr="0">
            <a:noAutofit/>
          </a:bodyPr>
          <a:lstStyle/>
          <a:p>
            <a:pPr lvl="0" algn="ctr" defTabSz="5334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200" kern="1200"/>
          </a:p>
        </p:txBody>
      </p:sp>
      <p:sp>
        <p:nvSpPr>
          <p:cNvPr id="8" name="Freeform 7"/>
          <p:cNvSpPr/>
          <p:nvPr/>
        </p:nvSpPr>
        <p:spPr>
          <a:xfrm>
            <a:off x="5266192" y="2079058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9" name="Freeform 8"/>
          <p:cNvSpPr/>
          <p:nvPr/>
        </p:nvSpPr>
        <p:spPr>
          <a:xfrm rot="17280000">
            <a:off x="5401642" y="3108411"/>
            <a:ext cx="264268" cy="334397"/>
          </a:xfrm>
          <a:custGeom>
            <a:avLst/>
            <a:gdLst>
              <a:gd name="connsiteX0" fmla="*/ 0 w 327092"/>
              <a:gd name="connsiteY0" fmla="*/ 82778 h 413891"/>
              <a:gd name="connsiteX1" fmla="*/ 163546 w 327092"/>
              <a:gd name="connsiteY1" fmla="*/ 82778 h 413891"/>
              <a:gd name="connsiteX2" fmla="*/ 163546 w 327092"/>
              <a:gd name="connsiteY2" fmla="*/ 0 h 413891"/>
              <a:gd name="connsiteX3" fmla="*/ 327092 w 327092"/>
              <a:gd name="connsiteY3" fmla="*/ 206946 h 413891"/>
              <a:gd name="connsiteX4" fmla="*/ 163546 w 327092"/>
              <a:gd name="connsiteY4" fmla="*/ 413891 h 413891"/>
              <a:gd name="connsiteX5" fmla="*/ 163546 w 327092"/>
              <a:gd name="connsiteY5" fmla="*/ 331113 h 413891"/>
              <a:gd name="connsiteX6" fmla="*/ 0 w 327092"/>
              <a:gd name="connsiteY6" fmla="*/ 331113 h 413891"/>
              <a:gd name="connsiteX7" fmla="*/ 0 w 327092"/>
              <a:gd name="connsiteY7" fmla="*/ 82778 h 41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092" h="413891">
                <a:moveTo>
                  <a:pt x="327092" y="331113"/>
                </a:moveTo>
                <a:lnTo>
                  <a:pt x="163546" y="331113"/>
                </a:lnTo>
                <a:lnTo>
                  <a:pt x="163546" y="413891"/>
                </a:lnTo>
                <a:lnTo>
                  <a:pt x="0" y="206945"/>
                </a:lnTo>
                <a:lnTo>
                  <a:pt x="163546" y="0"/>
                </a:lnTo>
                <a:lnTo>
                  <a:pt x="163546" y="82778"/>
                </a:lnTo>
                <a:lnTo>
                  <a:pt x="327092" y="82778"/>
                </a:lnTo>
                <a:lnTo>
                  <a:pt x="327092" y="3311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27" tIns="82778" rIns="0" bIns="82778" numCol="1" spcCol="1270" anchor="ctr" anchorCtr="0">
            <a:noAutofit/>
          </a:bodyPr>
          <a:lstStyle/>
          <a:p>
            <a:pPr lvl="0" algn="ctr" defTabSz="5334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200" kern="1200"/>
          </a:p>
        </p:txBody>
      </p:sp>
      <p:sp>
        <p:nvSpPr>
          <p:cNvPr id="10" name="Freeform 9"/>
          <p:cNvSpPr/>
          <p:nvPr/>
        </p:nvSpPr>
        <p:spPr>
          <a:xfrm>
            <a:off x="4805935" y="3495584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11" name="Freeform 10"/>
          <p:cNvSpPr/>
          <p:nvPr/>
        </p:nvSpPr>
        <p:spPr>
          <a:xfrm>
            <a:off x="4431970" y="3823786"/>
            <a:ext cx="264269" cy="334397"/>
          </a:xfrm>
          <a:custGeom>
            <a:avLst/>
            <a:gdLst>
              <a:gd name="connsiteX0" fmla="*/ 0 w 327092"/>
              <a:gd name="connsiteY0" fmla="*/ 82778 h 413891"/>
              <a:gd name="connsiteX1" fmla="*/ 163546 w 327092"/>
              <a:gd name="connsiteY1" fmla="*/ 82778 h 413891"/>
              <a:gd name="connsiteX2" fmla="*/ 163546 w 327092"/>
              <a:gd name="connsiteY2" fmla="*/ 0 h 413891"/>
              <a:gd name="connsiteX3" fmla="*/ 327092 w 327092"/>
              <a:gd name="connsiteY3" fmla="*/ 206946 h 413891"/>
              <a:gd name="connsiteX4" fmla="*/ 163546 w 327092"/>
              <a:gd name="connsiteY4" fmla="*/ 413891 h 413891"/>
              <a:gd name="connsiteX5" fmla="*/ 163546 w 327092"/>
              <a:gd name="connsiteY5" fmla="*/ 331113 h 413891"/>
              <a:gd name="connsiteX6" fmla="*/ 0 w 327092"/>
              <a:gd name="connsiteY6" fmla="*/ 331113 h 413891"/>
              <a:gd name="connsiteX7" fmla="*/ 0 w 327092"/>
              <a:gd name="connsiteY7" fmla="*/ 82778 h 41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092" h="413891">
                <a:moveTo>
                  <a:pt x="327092" y="331113"/>
                </a:moveTo>
                <a:lnTo>
                  <a:pt x="163546" y="331113"/>
                </a:lnTo>
                <a:lnTo>
                  <a:pt x="163546" y="413891"/>
                </a:lnTo>
                <a:lnTo>
                  <a:pt x="0" y="206945"/>
                </a:lnTo>
                <a:lnTo>
                  <a:pt x="163546" y="0"/>
                </a:lnTo>
                <a:lnTo>
                  <a:pt x="163546" y="82778"/>
                </a:lnTo>
                <a:lnTo>
                  <a:pt x="327092" y="82778"/>
                </a:lnTo>
                <a:lnTo>
                  <a:pt x="327092" y="3311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28" tIns="82779" rIns="1" bIns="82778" numCol="1" spcCol="1270" anchor="ctr" anchorCtr="0">
            <a:noAutofit/>
          </a:bodyPr>
          <a:lstStyle/>
          <a:p>
            <a:pPr lvl="0" algn="ctr" defTabSz="5334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200" kern="1200"/>
          </a:p>
        </p:txBody>
      </p:sp>
      <p:sp>
        <p:nvSpPr>
          <p:cNvPr id="12" name="Freeform 11"/>
          <p:cNvSpPr/>
          <p:nvPr/>
        </p:nvSpPr>
        <p:spPr>
          <a:xfrm>
            <a:off x="3316512" y="3495584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13" name="Freeform 12"/>
          <p:cNvSpPr/>
          <p:nvPr/>
        </p:nvSpPr>
        <p:spPr>
          <a:xfrm rot="4320000">
            <a:off x="3451962" y="3122637"/>
            <a:ext cx="264269" cy="334397"/>
          </a:xfrm>
          <a:custGeom>
            <a:avLst/>
            <a:gdLst>
              <a:gd name="connsiteX0" fmla="*/ 0 w 327092"/>
              <a:gd name="connsiteY0" fmla="*/ 82778 h 413891"/>
              <a:gd name="connsiteX1" fmla="*/ 163546 w 327092"/>
              <a:gd name="connsiteY1" fmla="*/ 82778 h 413891"/>
              <a:gd name="connsiteX2" fmla="*/ 163546 w 327092"/>
              <a:gd name="connsiteY2" fmla="*/ 0 h 413891"/>
              <a:gd name="connsiteX3" fmla="*/ 327092 w 327092"/>
              <a:gd name="connsiteY3" fmla="*/ 206946 h 413891"/>
              <a:gd name="connsiteX4" fmla="*/ 163546 w 327092"/>
              <a:gd name="connsiteY4" fmla="*/ 413891 h 413891"/>
              <a:gd name="connsiteX5" fmla="*/ 163546 w 327092"/>
              <a:gd name="connsiteY5" fmla="*/ 331113 h 413891"/>
              <a:gd name="connsiteX6" fmla="*/ 0 w 327092"/>
              <a:gd name="connsiteY6" fmla="*/ 331113 h 413891"/>
              <a:gd name="connsiteX7" fmla="*/ 0 w 327092"/>
              <a:gd name="connsiteY7" fmla="*/ 82778 h 41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092" h="413891">
                <a:moveTo>
                  <a:pt x="327092" y="331113"/>
                </a:moveTo>
                <a:lnTo>
                  <a:pt x="163546" y="331113"/>
                </a:lnTo>
                <a:lnTo>
                  <a:pt x="163546" y="413891"/>
                </a:lnTo>
                <a:lnTo>
                  <a:pt x="0" y="206945"/>
                </a:lnTo>
                <a:lnTo>
                  <a:pt x="163546" y="0"/>
                </a:lnTo>
                <a:lnTo>
                  <a:pt x="163546" y="82778"/>
                </a:lnTo>
                <a:lnTo>
                  <a:pt x="327092" y="82778"/>
                </a:lnTo>
                <a:lnTo>
                  <a:pt x="327092" y="33111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8128" tIns="82778" rIns="0" bIns="82778" numCol="1" spcCol="1270" anchor="ctr" anchorCtr="0">
            <a:noAutofit/>
          </a:bodyPr>
          <a:lstStyle/>
          <a:p>
            <a:pPr lvl="0" algn="ctr" defTabSz="5334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200" kern="1200"/>
          </a:p>
        </p:txBody>
      </p:sp>
      <p:sp>
        <p:nvSpPr>
          <p:cNvPr id="14" name="Freeform 13"/>
          <p:cNvSpPr/>
          <p:nvPr/>
        </p:nvSpPr>
        <p:spPr>
          <a:xfrm>
            <a:off x="2856255" y="2079058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15" name="Freeform 14"/>
          <p:cNvSpPr/>
          <p:nvPr/>
        </p:nvSpPr>
        <p:spPr>
          <a:xfrm rot="19440000">
            <a:off x="3815956" y="1973927"/>
            <a:ext cx="264268" cy="334396"/>
          </a:xfrm>
          <a:custGeom>
            <a:avLst/>
            <a:gdLst>
              <a:gd name="connsiteX0" fmla="*/ 0 w 327092"/>
              <a:gd name="connsiteY0" fmla="*/ 82778 h 413891"/>
              <a:gd name="connsiteX1" fmla="*/ 163546 w 327092"/>
              <a:gd name="connsiteY1" fmla="*/ 82778 h 413891"/>
              <a:gd name="connsiteX2" fmla="*/ 163546 w 327092"/>
              <a:gd name="connsiteY2" fmla="*/ 0 h 413891"/>
              <a:gd name="connsiteX3" fmla="*/ 327092 w 327092"/>
              <a:gd name="connsiteY3" fmla="*/ 206946 h 413891"/>
              <a:gd name="connsiteX4" fmla="*/ 163546 w 327092"/>
              <a:gd name="connsiteY4" fmla="*/ 413891 h 413891"/>
              <a:gd name="connsiteX5" fmla="*/ 163546 w 327092"/>
              <a:gd name="connsiteY5" fmla="*/ 331113 h 413891"/>
              <a:gd name="connsiteX6" fmla="*/ 0 w 327092"/>
              <a:gd name="connsiteY6" fmla="*/ 331113 h 413891"/>
              <a:gd name="connsiteX7" fmla="*/ 0 w 327092"/>
              <a:gd name="connsiteY7" fmla="*/ 82778 h 41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092" h="413891">
                <a:moveTo>
                  <a:pt x="0" y="82778"/>
                </a:moveTo>
                <a:lnTo>
                  <a:pt x="163546" y="82778"/>
                </a:lnTo>
                <a:lnTo>
                  <a:pt x="163546" y="0"/>
                </a:lnTo>
                <a:lnTo>
                  <a:pt x="327092" y="206946"/>
                </a:lnTo>
                <a:lnTo>
                  <a:pt x="163546" y="413891"/>
                </a:lnTo>
                <a:lnTo>
                  <a:pt x="163546" y="331113"/>
                </a:lnTo>
                <a:lnTo>
                  <a:pt x="0" y="331113"/>
                </a:lnTo>
                <a:lnTo>
                  <a:pt x="0" y="827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-1" tIns="82777" rIns="98128" bIns="82778" numCol="1" spcCol="1270" anchor="ctr" anchorCtr="0">
            <a:noAutofit/>
          </a:bodyPr>
          <a:lstStyle/>
          <a:p>
            <a:pPr lvl="0" algn="ctr" defTabSz="5334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1200" kern="1200"/>
          </a:p>
        </p:txBody>
      </p:sp>
      <p:sp>
        <p:nvSpPr>
          <p:cNvPr id="17" name="Freeform 16"/>
          <p:cNvSpPr/>
          <p:nvPr/>
        </p:nvSpPr>
        <p:spPr>
          <a:xfrm>
            <a:off x="4061224" y="2444656"/>
            <a:ext cx="990802" cy="990802"/>
          </a:xfrm>
          <a:custGeom>
            <a:avLst/>
            <a:gdLst>
              <a:gd name="connsiteX0" fmla="*/ 0 w 1226343"/>
              <a:gd name="connsiteY0" fmla="*/ 613172 h 1226343"/>
              <a:gd name="connsiteX1" fmla="*/ 613172 w 1226343"/>
              <a:gd name="connsiteY1" fmla="*/ 0 h 1226343"/>
              <a:gd name="connsiteX2" fmla="*/ 1226344 w 1226343"/>
              <a:gd name="connsiteY2" fmla="*/ 613172 h 1226343"/>
              <a:gd name="connsiteX3" fmla="*/ 613172 w 1226343"/>
              <a:gd name="connsiteY3" fmla="*/ 1226344 h 1226343"/>
              <a:gd name="connsiteX4" fmla="*/ 0 w 1226343"/>
              <a:gd name="connsiteY4" fmla="*/ 613172 h 122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6343" h="1226343">
                <a:moveTo>
                  <a:pt x="0" y="613172"/>
                </a:moveTo>
                <a:cubicBezTo>
                  <a:pt x="0" y="274526"/>
                  <a:pt x="274526" y="0"/>
                  <a:pt x="613172" y="0"/>
                </a:cubicBezTo>
                <a:cubicBezTo>
                  <a:pt x="951818" y="0"/>
                  <a:pt x="1226344" y="274526"/>
                  <a:pt x="1226344" y="613172"/>
                </a:cubicBezTo>
                <a:cubicBezTo>
                  <a:pt x="1226344" y="951818"/>
                  <a:pt x="951818" y="1226344"/>
                  <a:pt x="613172" y="1226344"/>
                </a:cubicBezTo>
                <a:cubicBezTo>
                  <a:pt x="274526" y="1226344"/>
                  <a:pt x="0" y="951818"/>
                  <a:pt x="0" y="613172"/>
                </a:cubicBezTo>
                <a:close/>
              </a:path>
            </a:pathLst>
          </a:custGeom>
          <a:solidFill>
            <a:schemeClr val="accent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7694" tIns="217694" rIns="217694" bIns="217694" numCol="1" spcCol="1270" anchor="ctr" anchorCtr="0">
            <a:noAutofit/>
          </a:bodyPr>
          <a:lstStyle/>
          <a:p>
            <a:pPr lvl="0" algn="ctr" defTabSz="1333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3000" kern="1200"/>
          </a:p>
        </p:txBody>
      </p:sp>
      <p:sp>
        <p:nvSpPr>
          <p:cNvPr id="18" name="Rectangle 9"/>
          <p:cNvSpPr/>
          <p:nvPr/>
        </p:nvSpPr>
        <p:spPr>
          <a:xfrm flipH="1">
            <a:off x="3202435" y="2423442"/>
            <a:ext cx="322655" cy="30203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6"/>
          <p:cNvSpPr/>
          <p:nvPr/>
        </p:nvSpPr>
        <p:spPr>
          <a:xfrm rot="18900000" flipH="1">
            <a:off x="5211705" y="3800256"/>
            <a:ext cx="244448" cy="438249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Parallelogram 15"/>
          <p:cNvSpPr/>
          <p:nvPr/>
        </p:nvSpPr>
        <p:spPr>
          <a:xfrm rot="5400000" flipH="1">
            <a:off x="4386727" y="1506995"/>
            <a:ext cx="354753" cy="384007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Round Same Side Corner Rectangle 6"/>
          <p:cNvSpPr>
            <a:spLocks noChangeAspect="1"/>
          </p:cNvSpPr>
          <p:nvPr/>
        </p:nvSpPr>
        <p:spPr>
          <a:xfrm rot="18900000" flipH="1">
            <a:off x="3812676" y="3847539"/>
            <a:ext cx="109444" cy="438775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Oval 21"/>
          <p:cNvSpPr>
            <a:spLocks noChangeAspect="1"/>
          </p:cNvSpPr>
          <p:nvPr/>
        </p:nvSpPr>
        <p:spPr>
          <a:xfrm>
            <a:off x="5594072" y="2370102"/>
            <a:ext cx="405329" cy="40871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292630" y="1423655"/>
            <a:ext cx="2655668" cy="1417356"/>
            <a:chOff x="803640" y="3362835"/>
            <a:chExt cx="2653593" cy="1417356"/>
          </a:xfrm>
        </p:grpSpPr>
        <p:sp>
          <p:nvSpPr>
            <p:cNvPr id="24" name="TextBox 23"/>
            <p:cNvSpPr txBox="1"/>
            <p:nvPr/>
          </p:nvSpPr>
          <p:spPr>
            <a:xfrm>
              <a:off x="803640" y="3579862"/>
              <a:ext cx="265359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Share the storyboard with stakeholders or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members. </a:t>
              </a: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of a larger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team.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Refine the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storyboard.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Go on to the next </a:t>
              </a:r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           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storyboard.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TW" sz="1200" dirty="0"/>
                <a:t>After storyboarding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108803" y="1145056"/>
            <a:ext cx="2975478" cy="1251879"/>
            <a:chOff x="770656" y="3362835"/>
            <a:chExt cx="826464" cy="1190347"/>
          </a:xfrm>
        </p:grpSpPr>
        <p:sp>
          <p:nvSpPr>
            <p:cNvPr id="27" name="TextBox 26"/>
            <p:cNvSpPr txBox="1"/>
            <p:nvPr/>
          </p:nvSpPr>
          <p:spPr>
            <a:xfrm>
              <a:off x="770656" y="3587440"/>
              <a:ext cx="826464" cy="965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Room.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Data.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Supplies.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People</a:t>
              </a: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Review how to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storyboard.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3640" y="3362835"/>
              <a:ext cx="624688" cy="26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TW" sz="1200" b="1" dirty="0">
                  <a:latin typeface="微軟正黑體 Light" panose="020B0304030504040204" pitchFamily="34" charset="-120"/>
                  <a:ea typeface="微軟正黑體 Light" panose="020B0304030504040204" pitchFamily="34" charset="-120"/>
                </a:rPr>
                <a:t>Preparation</a:t>
              </a:r>
              <a:r>
                <a:rPr lang="en-US" altLang="zh-TW" sz="1200" b="1" dirty="0" smtClean="0">
                  <a:latin typeface="微軟正黑體 Light" panose="020B0304030504040204" pitchFamily="34" charset="-120"/>
                  <a:ea typeface="微軟正黑體 Light" panose="020B0304030504040204" pitchFamily="34" charset="-120"/>
                </a:rPr>
                <a:t>:</a:t>
              </a:r>
              <a:endPara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733623" y="3161064"/>
            <a:ext cx="3563439" cy="1811723"/>
            <a:chOff x="673535" y="3362835"/>
            <a:chExt cx="2189762" cy="3429236"/>
          </a:xfrm>
        </p:grpSpPr>
        <p:sp>
          <p:nvSpPr>
            <p:cNvPr id="33" name="TextBox 32"/>
            <p:cNvSpPr txBox="1"/>
            <p:nvPr/>
          </p:nvSpPr>
          <p:spPr>
            <a:xfrm>
              <a:off x="673535" y="3821013"/>
              <a:ext cx="2053583" cy="2971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Create a low-level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vision.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Walk the consolidated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vision.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Collect issues from the affinity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and</a:t>
              </a:r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  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consolidated </a:t>
              </a: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sequence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model.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Create a low-level vision for one task to be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storyboarded.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Identify pluses and minuses for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the</a:t>
              </a:r>
              <a:r>
                <a:rPr lang="zh-TW" altLang="en-US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  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low-level vision.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TW" sz="1200" dirty="0"/>
                <a:t>Refer to vision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37708" y="3541478"/>
            <a:ext cx="2899200" cy="1048024"/>
            <a:chOff x="803640" y="3362835"/>
            <a:chExt cx="2059657" cy="1048024"/>
          </a:xfrm>
        </p:grpSpPr>
        <p:sp>
          <p:nvSpPr>
            <p:cNvPr id="36" name="TextBox 35"/>
            <p:cNvSpPr txBox="1"/>
            <p:nvPr/>
          </p:nvSpPr>
          <p:spPr>
            <a:xfrm>
              <a:off x="803640" y="3579862"/>
              <a:ext cx="20596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Create the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storyboards.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Draw the storyboard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frames.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  <a:p>
              <a:pPr marL="628650" lvl="1" indent="-171450">
                <a:buFont typeface="Arial" panose="020B0604020202020204" pitchFamily="34" charset="0"/>
                <a:buChar char="•"/>
              </a:pPr>
              <a:r>
                <a:rPr lang="en-US" altLang="zh-TW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Check the storyboard against the consolidated </a:t>
              </a:r>
              <a:r>
                <a:rPr lang="en-US" altLang="zh-TW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軟正黑體 Light" panose="020B0304030504040204" pitchFamily="34" charset="-120"/>
                  <a:ea typeface="微軟正黑體 Light" panose="020B0304030504040204" pitchFamily="34" charset="-120"/>
                  <a:cs typeface="Arial" pitchFamily="34" charset="0"/>
                </a:rPr>
                <a:t>sequence.</a:t>
              </a:r>
              <a:endParaRPr lang="en-US" altLang="zh-TW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zh-TW" sz="1200" dirty="0"/>
                <a:t>Start to storyboard</a:t>
              </a:r>
            </a:p>
          </p:txBody>
        </p:sp>
      </p:grpSp>
      <p:sp>
        <p:nvSpPr>
          <p:cNvPr id="38" name="Block Arc 14"/>
          <p:cNvSpPr/>
          <p:nvPr/>
        </p:nvSpPr>
        <p:spPr>
          <a:xfrm rot="16200000">
            <a:off x="4305129" y="2680445"/>
            <a:ext cx="518895" cy="519236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46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54260" y="145737"/>
            <a:ext cx="9252520" cy="576064"/>
          </a:xfrm>
        </p:spPr>
        <p:txBody>
          <a:bodyPr/>
          <a:lstStyle/>
          <a:p>
            <a:r>
              <a:rPr lang="en-US" altLang="zh-TW" dirty="0"/>
              <a:t>Step1: Prepare the room, data, and supplies</a:t>
            </a:r>
            <a:endParaRPr lang="ko-KR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72806" y="2986769"/>
            <a:ext cx="2543009" cy="277915"/>
            <a:chOff x="925943" y="1690403"/>
            <a:chExt cx="5435727" cy="623061"/>
          </a:xfrm>
        </p:grpSpPr>
        <p:sp>
          <p:nvSpPr>
            <p:cNvPr id="5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5636" y="4383061"/>
            <a:ext cx="2580746" cy="297613"/>
            <a:chOff x="925943" y="1690403"/>
            <a:chExt cx="5435727" cy="623061"/>
          </a:xfrm>
        </p:grpSpPr>
        <p:sp>
          <p:nvSpPr>
            <p:cNvPr id="17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35039" y="1570808"/>
            <a:ext cx="2583571" cy="297601"/>
            <a:chOff x="925943" y="1690403"/>
            <a:chExt cx="5435727" cy="623061"/>
          </a:xfrm>
        </p:grpSpPr>
        <p:sp>
          <p:nvSpPr>
            <p:cNvPr id="28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881213" y="1550777"/>
            <a:ext cx="63743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cs typeface="Arial" pitchFamily="34" charset="0"/>
              </a:rPr>
              <a:t>30%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57469" y="2964673"/>
            <a:ext cx="67682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cs typeface="Arial" pitchFamily="34" charset="0"/>
              </a:rPr>
              <a:t>50%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874698" y="4362590"/>
            <a:ext cx="5997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70%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29331" y="1526409"/>
            <a:ext cx="61926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Hang up the consolidated visions and </a:t>
            </a: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sequences.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Flipcharts </a:t>
            </a:r>
            <a:r>
              <a:rPr lang="en-US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and papers (5.5 * 8.5 inches, about half of A4) for </a:t>
            </a: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drawing.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Removable </a:t>
            </a:r>
            <a:r>
              <a:rPr lang="en-US" altLang="zh-TW" sz="12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tape to hang the storyboard frames onto </a:t>
            </a: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flipcharts</a:t>
            </a:r>
            <a:r>
              <a:rPr lang="zh-TW" altLang="en-US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for review.</a:t>
            </a: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915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54260" y="145737"/>
            <a:ext cx="9252520" cy="576064"/>
          </a:xfrm>
        </p:spPr>
        <p:txBody>
          <a:bodyPr/>
          <a:lstStyle/>
          <a:p>
            <a:r>
              <a:rPr lang="en-US" altLang="zh-TW" dirty="0"/>
              <a:t>Step2: Gather people to storyboard</a:t>
            </a:r>
            <a:endParaRPr lang="ko-KR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80298" y="2618419"/>
            <a:ext cx="2543009" cy="277915"/>
            <a:chOff x="925943" y="1690403"/>
            <a:chExt cx="5435727" cy="623061"/>
          </a:xfrm>
        </p:grpSpPr>
        <p:sp>
          <p:nvSpPr>
            <p:cNvPr id="5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5636" y="4383061"/>
            <a:ext cx="2580746" cy="297613"/>
            <a:chOff x="925943" y="1690403"/>
            <a:chExt cx="5435727" cy="623061"/>
          </a:xfrm>
        </p:grpSpPr>
        <p:sp>
          <p:nvSpPr>
            <p:cNvPr id="17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35039" y="1570808"/>
            <a:ext cx="2583571" cy="297601"/>
            <a:chOff x="925943" y="1690403"/>
            <a:chExt cx="5435727" cy="623061"/>
          </a:xfrm>
        </p:grpSpPr>
        <p:sp>
          <p:nvSpPr>
            <p:cNvPr id="28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881213" y="1550777"/>
            <a:ext cx="63743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cs typeface="Arial" pitchFamily="34" charset="0"/>
              </a:rPr>
              <a:t>30%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58949" y="2593456"/>
            <a:ext cx="67682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cs typeface="Arial" pitchFamily="34" charset="0"/>
              </a:rPr>
              <a:t>50%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18938" y="4362590"/>
            <a:ext cx="5997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9</a:t>
            </a:r>
            <a:r>
              <a:rPr lang="en-US" altLang="ko-KR" sz="1600" b="1" dirty="0" smtClean="0">
                <a:solidFill>
                  <a:schemeClr val="accent2"/>
                </a:solidFill>
                <a:cs typeface="Arial" pitchFamily="34" charset="0"/>
              </a:rPr>
              <a:t>0</a:t>
            </a:r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501869" y="1510817"/>
            <a:ext cx="619268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Better to have more people.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If more people, create several storyboards in parallel.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Be sure that one core team member works on every storyboard.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Same people are responsible for the same storyboard.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.</a:t>
            </a: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grpSp>
        <p:nvGrpSpPr>
          <p:cNvPr id="41" name="Group 15"/>
          <p:cNvGrpSpPr/>
          <p:nvPr/>
        </p:nvGrpSpPr>
        <p:grpSpPr>
          <a:xfrm>
            <a:off x="372858" y="3448258"/>
            <a:ext cx="2580746" cy="297613"/>
            <a:chOff x="925943" y="1690403"/>
            <a:chExt cx="5435727" cy="623061"/>
          </a:xfrm>
        </p:grpSpPr>
        <p:sp>
          <p:nvSpPr>
            <p:cNvPr id="42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39"/>
          <p:cNvSpPr txBox="1"/>
          <p:nvPr/>
        </p:nvSpPr>
        <p:spPr>
          <a:xfrm>
            <a:off x="2902161" y="3417075"/>
            <a:ext cx="5997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70%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7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54260" y="145737"/>
            <a:ext cx="9252520" cy="576064"/>
          </a:xfrm>
        </p:spPr>
        <p:txBody>
          <a:bodyPr/>
          <a:lstStyle/>
          <a:p>
            <a:r>
              <a:rPr lang="en-US" altLang="zh-TW" dirty="0"/>
              <a:t>Step3: Choose where to start</a:t>
            </a:r>
            <a:endParaRPr lang="ko-KR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80298" y="2618419"/>
            <a:ext cx="2543009" cy="277915"/>
            <a:chOff x="925943" y="1690403"/>
            <a:chExt cx="5435727" cy="623061"/>
          </a:xfrm>
        </p:grpSpPr>
        <p:sp>
          <p:nvSpPr>
            <p:cNvPr id="5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75636" y="4383061"/>
            <a:ext cx="2580746" cy="297613"/>
            <a:chOff x="925943" y="1690403"/>
            <a:chExt cx="5435727" cy="623061"/>
          </a:xfrm>
        </p:grpSpPr>
        <p:sp>
          <p:nvSpPr>
            <p:cNvPr id="17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35039" y="1570808"/>
            <a:ext cx="2583571" cy="297601"/>
            <a:chOff x="925943" y="1690403"/>
            <a:chExt cx="5435727" cy="623061"/>
          </a:xfrm>
        </p:grpSpPr>
        <p:sp>
          <p:nvSpPr>
            <p:cNvPr id="28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2881213" y="1550777"/>
            <a:ext cx="63743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cs typeface="Arial" pitchFamily="34" charset="0"/>
              </a:rPr>
              <a:t>30%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58949" y="2593456"/>
            <a:ext cx="67682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1"/>
                </a:solidFill>
                <a:cs typeface="Arial" pitchFamily="34" charset="0"/>
              </a:rPr>
              <a:t>50%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918938" y="4362590"/>
            <a:ext cx="5997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9</a:t>
            </a:r>
            <a:r>
              <a:rPr lang="en-US" altLang="ko-KR" sz="1600" b="1" dirty="0" smtClean="0">
                <a:solidFill>
                  <a:schemeClr val="accent2"/>
                </a:solidFill>
                <a:cs typeface="Arial" pitchFamily="34" charset="0"/>
              </a:rPr>
              <a:t>0</a:t>
            </a:r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%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19872" y="1550777"/>
            <a:ext cx="568863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/>
              <a:t>Select the sequences you will storyboard starting with the work that is core to </a:t>
            </a:r>
            <a:r>
              <a:rPr lang="en-US" altLang="zh-TW" sz="1200" dirty="0" smtClean="0"/>
              <a:t>  the system.</a:t>
            </a: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/>
              <a:t>If </a:t>
            </a:r>
            <a:r>
              <a:rPr lang="en-US" altLang="zh-TW" sz="1200" dirty="0"/>
              <a:t>more people, Assign two people in one sequence and ensure two sequences do not have overlapping </a:t>
            </a:r>
            <a:r>
              <a:rPr lang="en-US" altLang="zh-TW" sz="1200" dirty="0" smtClean="0"/>
              <a:t>activities.</a:t>
            </a: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/>
              <a:t>Review </a:t>
            </a:r>
            <a:r>
              <a:rPr lang="en-US" altLang="zh-TW" sz="1200" dirty="0"/>
              <a:t>your consolidated vision to see if there's more detailed </a:t>
            </a:r>
            <a:r>
              <a:rPr lang="en-US" altLang="zh-TW" sz="1200" dirty="0" smtClean="0"/>
              <a:t>data.</a:t>
            </a: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/>
              <a:t>Vision </a:t>
            </a:r>
            <a:r>
              <a:rPr lang="en-US" altLang="zh-TW" sz="1200" dirty="0"/>
              <a:t>alone is not a guide - people may argue about how an activity is </a:t>
            </a:r>
            <a:r>
              <a:rPr lang="en-US" altLang="zh-TW" sz="1200" dirty="0" smtClean="0"/>
              <a:t>            accomplish </a:t>
            </a:r>
            <a:r>
              <a:rPr lang="en-US" altLang="zh-TW" sz="1200" dirty="0"/>
              <a:t>in a complicated or unfamiliar </a:t>
            </a:r>
            <a:r>
              <a:rPr lang="en-US" altLang="zh-TW" sz="1200" dirty="0" smtClean="0"/>
              <a:t>task.</a:t>
            </a:r>
            <a:endParaRPr lang="en-US" altLang="zh-TW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TW" sz="1200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.</a:t>
            </a:r>
            <a:endParaRPr lang="en-US" altLang="zh-TW" sz="12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grpSp>
        <p:nvGrpSpPr>
          <p:cNvPr id="41" name="Group 15"/>
          <p:cNvGrpSpPr/>
          <p:nvPr/>
        </p:nvGrpSpPr>
        <p:grpSpPr>
          <a:xfrm>
            <a:off x="372858" y="3448258"/>
            <a:ext cx="2580746" cy="297613"/>
            <a:chOff x="925943" y="1690403"/>
            <a:chExt cx="5435727" cy="623061"/>
          </a:xfrm>
        </p:grpSpPr>
        <p:sp>
          <p:nvSpPr>
            <p:cNvPr id="42" name="Teardrop 1"/>
            <p:cNvSpPr/>
            <p:nvPr/>
          </p:nvSpPr>
          <p:spPr>
            <a:xfrm rot="18805991">
              <a:off x="922692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Teardrop 1"/>
            <p:cNvSpPr/>
            <p:nvPr/>
          </p:nvSpPr>
          <p:spPr>
            <a:xfrm rot="18805991">
              <a:off x="1458155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5" name="Teardrop 1"/>
            <p:cNvSpPr/>
            <p:nvPr/>
          </p:nvSpPr>
          <p:spPr>
            <a:xfrm rot="18805991">
              <a:off x="1993618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6" name="Teardrop 1"/>
            <p:cNvSpPr/>
            <p:nvPr/>
          </p:nvSpPr>
          <p:spPr>
            <a:xfrm rot="18805991">
              <a:off x="2529081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Teardrop 1"/>
            <p:cNvSpPr/>
            <p:nvPr/>
          </p:nvSpPr>
          <p:spPr>
            <a:xfrm rot="18805991">
              <a:off x="3064544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Teardrop 1"/>
            <p:cNvSpPr/>
            <p:nvPr/>
          </p:nvSpPr>
          <p:spPr>
            <a:xfrm rot="18805991">
              <a:off x="3600007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Teardrop 1"/>
            <p:cNvSpPr/>
            <p:nvPr/>
          </p:nvSpPr>
          <p:spPr>
            <a:xfrm rot="18805991">
              <a:off x="4135470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Teardrop 1"/>
            <p:cNvSpPr/>
            <p:nvPr/>
          </p:nvSpPr>
          <p:spPr>
            <a:xfrm rot="18805991">
              <a:off x="4670933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Teardrop 1"/>
            <p:cNvSpPr/>
            <p:nvPr/>
          </p:nvSpPr>
          <p:spPr>
            <a:xfrm rot="18805991">
              <a:off x="5206396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" name="Teardrop 1"/>
            <p:cNvSpPr/>
            <p:nvPr/>
          </p:nvSpPr>
          <p:spPr>
            <a:xfrm rot="18805991">
              <a:off x="5741859" y="1693654"/>
              <a:ext cx="623061" cy="616560"/>
            </a:xfrm>
            <a:custGeom>
              <a:avLst/>
              <a:gdLst/>
              <a:ahLst/>
              <a:cxnLst/>
              <a:rect l="l" t="t" r="r" b="b"/>
              <a:pathLst>
                <a:path w="1807241" h="1788383">
                  <a:moveTo>
                    <a:pt x="712876" y="1117592"/>
                  </a:moveTo>
                  <a:cubicBezTo>
                    <a:pt x="771173" y="1181828"/>
                    <a:pt x="811089" y="1255910"/>
                    <a:pt x="847925" y="1348018"/>
                  </a:cubicBezTo>
                  <a:cubicBezTo>
                    <a:pt x="814544" y="1418896"/>
                    <a:pt x="753893" y="1474052"/>
                    <a:pt x="679064" y="1498332"/>
                  </a:cubicBezTo>
                  <a:lnTo>
                    <a:pt x="308226" y="1106637"/>
                  </a:lnTo>
                  <a:cubicBezTo>
                    <a:pt x="336560" y="1033247"/>
                    <a:pt x="394949" y="975701"/>
                    <a:pt x="467546" y="946245"/>
                  </a:cubicBezTo>
                  <a:cubicBezTo>
                    <a:pt x="577903" y="998968"/>
                    <a:pt x="654580" y="1053357"/>
                    <a:pt x="712876" y="1117592"/>
                  </a:cubicBezTo>
                  <a:close/>
                  <a:moveTo>
                    <a:pt x="1038527" y="398886"/>
                  </a:moveTo>
                  <a:lnTo>
                    <a:pt x="1405560" y="786562"/>
                  </a:lnTo>
                  <a:cubicBezTo>
                    <a:pt x="1374476" y="799049"/>
                    <a:pt x="1340402" y="804299"/>
                    <a:pt x="1305054" y="803332"/>
                  </a:cubicBezTo>
                  <a:lnTo>
                    <a:pt x="1008167" y="795212"/>
                  </a:lnTo>
                  <a:lnTo>
                    <a:pt x="1016288" y="498325"/>
                  </a:lnTo>
                  <a:cubicBezTo>
                    <a:pt x="1017255" y="462976"/>
                    <a:pt x="1024360" y="429240"/>
                    <a:pt x="1038527" y="398886"/>
                  </a:cubicBezTo>
                  <a:close/>
                  <a:moveTo>
                    <a:pt x="1097925" y="218888"/>
                  </a:moveTo>
                  <a:cubicBezTo>
                    <a:pt x="992582" y="279303"/>
                    <a:pt x="921871" y="392886"/>
                    <a:pt x="921053" y="523256"/>
                  </a:cubicBezTo>
                  <a:lnTo>
                    <a:pt x="919136" y="828763"/>
                  </a:lnTo>
                  <a:lnTo>
                    <a:pt x="830924" y="915875"/>
                  </a:lnTo>
                  <a:lnTo>
                    <a:pt x="525417" y="913958"/>
                  </a:lnTo>
                  <a:cubicBezTo>
                    <a:pt x="403891" y="913196"/>
                    <a:pt x="296188" y="973343"/>
                    <a:pt x="234366" y="1067831"/>
                  </a:cubicBezTo>
                  <a:lnTo>
                    <a:pt x="710285" y="1570519"/>
                  </a:lnTo>
                  <a:cubicBezTo>
                    <a:pt x="811872" y="1510375"/>
                    <a:pt x="878808" y="1399439"/>
                    <a:pt x="879603" y="1272618"/>
                  </a:cubicBezTo>
                  <a:lnTo>
                    <a:pt x="881520" y="967111"/>
                  </a:lnTo>
                  <a:lnTo>
                    <a:pt x="969732" y="879999"/>
                  </a:lnTo>
                  <a:lnTo>
                    <a:pt x="1275239" y="881916"/>
                  </a:lnTo>
                  <a:cubicBezTo>
                    <a:pt x="1400271" y="882701"/>
                    <a:pt x="1510670" y="819011"/>
                    <a:pt x="1573529" y="721242"/>
                  </a:cubicBezTo>
                  <a:close/>
                  <a:moveTo>
                    <a:pt x="1162945" y="27894"/>
                  </a:moveTo>
                  <a:lnTo>
                    <a:pt x="1782798" y="682611"/>
                  </a:lnTo>
                  <a:cubicBezTo>
                    <a:pt x="1816692" y="718411"/>
                    <a:pt x="1815147" y="774907"/>
                    <a:pt x="1779347" y="808801"/>
                  </a:cubicBezTo>
                  <a:cubicBezTo>
                    <a:pt x="1743547" y="842694"/>
                    <a:pt x="1687050" y="841149"/>
                    <a:pt x="1653157" y="805349"/>
                  </a:cubicBezTo>
                  <a:lnTo>
                    <a:pt x="1644015" y="795693"/>
                  </a:lnTo>
                  <a:cubicBezTo>
                    <a:pt x="1561789" y="910282"/>
                    <a:pt x="1426630" y="983636"/>
                    <a:pt x="1274606" y="982683"/>
                  </a:cubicBezTo>
                  <a:lnTo>
                    <a:pt x="980378" y="980836"/>
                  </a:lnTo>
                  <a:lnTo>
                    <a:pt x="980378" y="1270380"/>
                  </a:lnTo>
                  <a:cubicBezTo>
                    <a:pt x="980378" y="1427425"/>
                    <a:pt x="901198" y="1565976"/>
                    <a:pt x="779756" y="1647056"/>
                  </a:cubicBezTo>
                  <a:cubicBezTo>
                    <a:pt x="807405" y="1681913"/>
                    <a:pt x="803595" y="1732594"/>
                    <a:pt x="770486" y="1763941"/>
                  </a:cubicBezTo>
                  <a:cubicBezTo>
                    <a:pt x="734686" y="1797834"/>
                    <a:pt x="678189" y="1796289"/>
                    <a:pt x="644296" y="1760489"/>
                  </a:cubicBezTo>
                  <a:lnTo>
                    <a:pt x="24442" y="1105772"/>
                  </a:lnTo>
                  <a:cubicBezTo>
                    <a:pt x="-9451" y="1069973"/>
                    <a:pt x="-7906" y="1013476"/>
                    <a:pt x="27894" y="979583"/>
                  </a:cubicBezTo>
                  <a:cubicBezTo>
                    <a:pt x="63694" y="945689"/>
                    <a:pt x="120190" y="947235"/>
                    <a:pt x="154084" y="983034"/>
                  </a:cubicBezTo>
                  <a:lnTo>
                    <a:pt x="163237" y="992702"/>
                  </a:lnTo>
                  <a:cubicBezTo>
                    <a:pt x="244774" y="882877"/>
                    <a:pt x="375836" y="813180"/>
                    <a:pt x="523178" y="813180"/>
                  </a:cubicBezTo>
                  <a:lnTo>
                    <a:pt x="818460" y="813180"/>
                  </a:lnTo>
                  <a:lnTo>
                    <a:pt x="820284" y="522622"/>
                  </a:lnTo>
                  <a:cubicBezTo>
                    <a:pt x="821285" y="363119"/>
                    <a:pt x="903845" y="223207"/>
                    <a:pt x="1028952" y="143673"/>
                  </a:cubicBezTo>
                  <a:cubicBezTo>
                    <a:pt x="999689" y="108599"/>
                    <a:pt x="1002953" y="56445"/>
                    <a:pt x="1036755" y="24443"/>
                  </a:cubicBezTo>
                  <a:cubicBezTo>
                    <a:pt x="1072555" y="-9451"/>
                    <a:pt x="1129052" y="-7906"/>
                    <a:pt x="1162945" y="2789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3" name="TextBox 39"/>
          <p:cNvSpPr txBox="1"/>
          <p:nvPr/>
        </p:nvSpPr>
        <p:spPr>
          <a:xfrm>
            <a:off x="2902161" y="3417075"/>
            <a:ext cx="5997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accent2"/>
                </a:solidFill>
                <a:cs typeface="Arial" pitchFamily="34" charset="0"/>
              </a:rPr>
              <a:t>70%</a:t>
            </a:r>
            <a:endParaRPr lang="ko-KR" altLang="en-US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67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49" y="365723"/>
            <a:ext cx="9144000" cy="576064"/>
          </a:xfrm>
        </p:spPr>
        <p:txBody>
          <a:bodyPr/>
          <a:lstStyle/>
          <a:p>
            <a:r>
              <a:rPr lang="zh-TW" altLang="en-US" dirty="0"/>
              <a:t>製作雛形</a:t>
            </a:r>
            <a:r>
              <a:rPr lang="en-US" altLang="zh-TW" dirty="0"/>
              <a:t>(prototype)</a:t>
            </a:r>
            <a:endParaRPr lang="ko-KR" altLang="en-US" dirty="0"/>
          </a:p>
        </p:txBody>
      </p:sp>
      <p:grpSp>
        <p:nvGrpSpPr>
          <p:cNvPr id="44" name="群組 43"/>
          <p:cNvGrpSpPr/>
          <p:nvPr/>
        </p:nvGrpSpPr>
        <p:grpSpPr>
          <a:xfrm>
            <a:off x="0" y="1275606"/>
            <a:ext cx="9144000" cy="3456384"/>
            <a:chOff x="0" y="1275606"/>
            <a:chExt cx="9144000" cy="3456384"/>
          </a:xfrm>
        </p:grpSpPr>
        <p:sp>
          <p:nvSpPr>
            <p:cNvPr id="6" name="Rectangle 5"/>
            <p:cNvSpPr/>
            <p:nvPr/>
          </p:nvSpPr>
          <p:spPr>
            <a:xfrm>
              <a:off x="0" y="1275606"/>
              <a:ext cx="9144000" cy="34563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555475" y="1621032"/>
              <a:ext cx="36000" cy="27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619207" y="1707654"/>
            <a:ext cx="2800665" cy="576064"/>
            <a:chOff x="619207" y="1707654"/>
            <a:chExt cx="2800665" cy="576064"/>
          </a:xfrm>
        </p:grpSpPr>
        <p:sp>
          <p:nvSpPr>
            <p:cNvPr id="7" name="Oval 6"/>
            <p:cNvSpPr/>
            <p:nvPr/>
          </p:nvSpPr>
          <p:spPr>
            <a:xfrm>
              <a:off x="652611" y="1707654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6719" y="1856605"/>
              <a:ext cx="21131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Choose where to start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19207" y="1773236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583489" y="2715766"/>
            <a:ext cx="3124415" cy="576064"/>
            <a:chOff x="583489" y="2715766"/>
            <a:chExt cx="3124415" cy="576064"/>
          </a:xfrm>
        </p:grpSpPr>
        <p:sp>
          <p:nvSpPr>
            <p:cNvPr id="9" name="Oval 8"/>
            <p:cNvSpPr/>
            <p:nvPr/>
          </p:nvSpPr>
          <p:spPr>
            <a:xfrm>
              <a:off x="634752" y="2715766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00683" y="2846052"/>
              <a:ext cx="24072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Review how to storyboard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3489" y="2772965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02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583489" y="3723878"/>
            <a:ext cx="2692367" cy="576064"/>
            <a:chOff x="583489" y="3723878"/>
            <a:chExt cx="2692367" cy="576064"/>
          </a:xfrm>
        </p:grpSpPr>
        <p:sp>
          <p:nvSpPr>
            <p:cNvPr id="10" name="Oval 9"/>
            <p:cNvSpPr/>
            <p:nvPr/>
          </p:nvSpPr>
          <p:spPr>
            <a:xfrm>
              <a:off x="616893" y="372387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00683" y="3871138"/>
              <a:ext cx="1975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Draw the storyboard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3489" y="3781077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03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5217690" y="1716037"/>
            <a:ext cx="3669590" cy="576064"/>
            <a:chOff x="5217690" y="1716037"/>
            <a:chExt cx="3669590" cy="576064"/>
          </a:xfrm>
        </p:grpSpPr>
        <p:sp>
          <p:nvSpPr>
            <p:cNvPr id="20" name="Oval 19"/>
            <p:cNvSpPr/>
            <p:nvPr/>
          </p:nvSpPr>
          <p:spPr>
            <a:xfrm>
              <a:off x="5248647" y="1716037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91519" y="1841797"/>
              <a:ext cx="2995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chemeClr val="bg1"/>
                  </a:solidFill>
                  <a:cs typeface="Arial" pitchFamily="34" charset="0"/>
                </a:rPr>
                <a:t>example: eChalk</a:t>
              </a:r>
              <a:endParaRPr lang="zh-TW" altLang="zh-TW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17690" y="1779662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04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5181972" y="2724149"/>
            <a:ext cx="3345268" cy="576064"/>
            <a:chOff x="5181972" y="2724149"/>
            <a:chExt cx="3345268" cy="576064"/>
          </a:xfrm>
        </p:grpSpPr>
        <p:sp>
          <p:nvSpPr>
            <p:cNvPr id="21" name="Oval 20"/>
            <p:cNvSpPr/>
            <p:nvPr/>
          </p:nvSpPr>
          <p:spPr>
            <a:xfrm>
              <a:off x="5230788" y="2724149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891519" y="2751614"/>
              <a:ext cx="26357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chemeClr val="bg1"/>
                  </a:solidFill>
                  <a:cs typeface="Arial" pitchFamily="34" charset="0"/>
                </a:rPr>
                <a:t>identify pluses and minuses for the low-level vision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181972" y="2779391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05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5167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Choose where to start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824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Choose where to start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12160" y="2340916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 smtClean="0">
                <a:solidFill>
                  <a:srgbClr val="FF0000"/>
                </a:solidFill>
              </a:rPr>
              <a:t>流程</a:t>
            </a:r>
            <a:r>
              <a:rPr lang="zh-TW" altLang="en-US" sz="1200" b="1" dirty="0" smtClean="0"/>
              <a:t>代表</a:t>
            </a:r>
            <a:r>
              <a:rPr lang="zh-TW" altLang="en-US" sz="1200" b="1" dirty="0"/>
              <a:t>了</a:t>
            </a:r>
            <a:r>
              <a:rPr lang="zh-TW" altLang="en-US" sz="1200" b="1" dirty="0" smtClean="0"/>
              <a:t>你項目</a:t>
            </a:r>
            <a:r>
              <a:rPr lang="zh-TW" altLang="en-US" sz="1200" b="1" dirty="0"/>
              <a:t>中的關鍵任務</a:t>
            </a:r>
            <a:r>
              <a:rPr lang="zh-TW" altLang="en-US" sz="1200" b="1" dirty="0" smtClean="0"/>
              <a:t>。</a:t>
            </a:r>
            <a:endParaRPr lang="en-US" altLang="zh-TW" sz="1200" b="1" dirty="0" smtClean="0"/>
          </a:p>
          <a:p>
            <a:r>
              <a:rPr lang="zh-TW" altLang="en-US" sz="1200" b="1" dirty="0" smtClean="0"/>
              <a:t>從</a:t>
            </a:r>
            <a:r>
              <a:rPr lang="zh-TW" altLang="en-US" sz="1200" b="1" dirty="0"/>
              <a:t>系統的核心開始</a:t>
            </a:r>
            <a:r>
              <a:rPr lang="zh-TW" altLang="en-US" sz="1200" b="1" dirty="0" smtClean="0"/>
              <a:t>選擇</a:t>
            </a:r>
            <a:r>
              <a:rPr lang="en-US" altLang="zh-TW" sz="1200" b="1" dirty="0" smtClean="0"/>
              <a:t>storyboard</a:t>
            </a:r>
            <a:r>
              <a:rPr lang="zh-TW" altLang="en-US" sz="1200" b="1" dirty="0" smtClean="0"/>
              <a:t>的</a:t>
            </a:r>
            <a:r>
              <a:rPr lang="zh-TW" altLang="en-US" sz="1200" b="1" dirty="0"/>
              <a:t>流程</a:t>
            </a:r>
            <a:r>
              <a:rPr lang="zh-TW" altLang="en-US" sz="1200" b="1" dirty="0" smtClean="0"/>
              <a:t>。</a:t>
            </a:r>
            <a:endParaRPr lang="zh-CN" altLang="zh-CN" sz="1200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7D62F326-1AA2-4110-BE21-A6007AD8BD67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6" name="图片占位符 5"/>
          <p:cNvPicPr>
            <a:picLocks noGrp="1" noChangeAspect="1"/>
          </p:cNvPicPr>
          <p:nvPr>
            <p:ph type="pic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70" t="26923" r="51626" b="46154"/>
          <a:stretch/>
        </p:blipFill>
        <p:spPr>
          <a:xfrm>
            <a:off x="3131840" y="2044920"/>
            <a:ext cx="2880320" cy="2687070"/>
          </a:xfrm>
        </p:spPr>
      </p:pic>
      <p:pic>
        <p:nvPicPr>
          <p:cNvPr id="10" name="图片 9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21" t="14911" r="40718"/>
          <a:stretch/>
        </p:blipFill>
        <p:spPr bwMode="auto">
          <a:xfrm>
            <a:off x="-15589" y="-17542"/>
            <a:ext cx="3075421" cy="51610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2941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1600" y="2479611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利益相關</a:t>
            </a:r>
            <a:r>
              <a:rPr lang="zh-TW" altLang="en-US" b="1" dirty="0" smtClean="0">
                <a:solidFill>
                  <a:schemeClr val="bg1"/>
                </a:solidFill>
              </a:rPr>
              <a:t>者</a:t>
            </a:r>
            <a:r>
              <a:rPr lang="zh-TW" altLang="en-US" b="1" dirty="0">
                <a:solidFill>
                  <a:schemeClr val="bg1"/>
                </a:solidFill>
              </a:rPr>
              <a:t>、</a:t>
            </a:r>
            <a:r>
              <a:rPr lang="zh-TW" altLang="en-US" b="1" dirty="0" smtClean="0">
                <a:solidFill>
                  <a:schemeClr val="bg1"/>
                </a:solidFill>
              </a:rPr>
              <a:t>團隊</a:t>
            </a:r>
            <a:r>
              <a:rPr lang="zh-TW" altLang="en-US" b="1" dirty="0">
                <a:solidFill>
                  <a:schemeClr val="bg1"/>
                </a:solidFill>
              </a:rPr>
              <a:t>參與</a:t>
            </a:r>
            <a:endParaRPr lang="zh-CN" altLang="zh-CN" dirty="0">
              <a:solidFill>
                <a:schemeClr val="bg1"/>
              </a:solidFill>
            </a:endParaRPr>
          </a:p>
        </p:txBody>
      </p:sp>
      <p:pic>
        <p:nvPicPr>
          <p:cNvPr id="10" name="图片占位符 9"/>
          <p:cNvPicPr>
            <a:picLocks noGrp="1"/>
          </p:cNvPicPr>
          <p:nvPr>
            <p:ph type="pic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95" t="32990" r="24118" b="20435"/>
          <a:stretch/>
        </p:blipFill>
        <p:spPr bwMode="auto">
          <a:xfrm>
            <a:off x="4499993" y="1203598"/>
            <a:ext cx="3744416" cy="27363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748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9247" y="781230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每個步驟分配</a:t>
            </a:r>
            <a:r>
              <a:rPr lang="zh-TW" altLang="en-US" b="1" dirty="0">
                <a:solidFill>
                  <a:srgbClr val="FF0000"/>
                </a:solidFill>
              </a:rPr>
              <a:t>兩個人</a:t>
            </a:r>
            <a:endParaRPr lang="zh-CN" altLang="zh-CN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046623"/>
            <a:ext cx="2767661" cy="394115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71808" y="1150562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哪個團隊解決</a:t>
            </a:r>
            <a:r>
              <a:rPr lang="zh-TW" altLang="en-US" b="1" dirty="0">
                <a:solidFill>
                  <a:srgbClr val="FF0000"/>
                </a:solidFill>
              </a:rPr>
              <a:t>重疊</a:t>
            </a:r>
            <a:r>
              <a:rPr lang="zh-TW" altLang="en-US" b="1" dirty="0">
                <a:solidFill>
                  <a:schemeClr val="bg1"/>
                </a:solidFill>
              </a:rPr>
              <a:t>的部分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046623"/>
            <a:ext cx="2933371" cy="394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0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2551" y="2211710"/>
            <a:ext cx="2930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流程</a:t>
            </a:r>
            <a:r>
              <a:rPr lang="zh-TW" altLang="en-US" b="1" dirty="0" smtClean="0">
                <a:solidFill>
                  <a:schemeClr val="bg1"/>
                </a:solidFill>
              </a:rPr>
              <a:t>很</a:t>
            </a:r>
            <a:r>
              <a:rPr lang="zh-TW" altLang="en-US" b="1" dirty="0">
                <a:solidFill>
                  <a:schemeClr val="bg1"/>
                </a:solidFill>
              </a:rPr>
              <a:t>長，</a:t>
            </a:r>
            <a:r>
              <a:rPr lang="zh-TW" altLang="en-US" b="1" dirty="0" smtClean="0">
                <a:solidFill>
                  <a:schemeClr val="bg1"/>
                </a:solidFill>
              </a:rPr>
              <a:t>就要必需要</a:t>
            </a:r>
            <a:r>
              <a:rPr lang="zh-TW" altLang="en-US" b="1" dirty="0" smtClean="0">
                <a:solidFill>
                  <a:srgbClr val="FF0000"/>
                </a:solidFill>
              </a:rPr>
              <a:t>切割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9" t="19535" r="24659" b="17490"/>
          <a:stretch/>
        </p:blipFill>
        <p:spPr bwMode="auto">
          <a:xfrm>
            <a:off x="4067944" y="699542"/>
            <a:ext cx="4968552" cy="43204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8515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0" y="726609"/>
            <a:ext cx="3672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假如</a:t>
            </a:r>
            <a:r>
              <a:rPr lang="zh-TW" altLang="en-US" b="1" dirty="0" smtClean="0">
                <a:solidFill>
                  <a:schemeClr val="bg1"/>
                </a:solidFill>
              </a:rPr>
              <a:t>你的隊伍有兩個人，</a:t>
            </a:r>
            <a:r>
              <a:rPr lang="zh-TW" altLang="en-US" b="1" dirty="0">
                <a:solidFill>
                  <a:schemeClr val="bg1"/>
                </a:solidFill>
              </a:rPr>
              <a:t>只要從</a:t>
            </a:r>
            <a:r>
              <a:rPr lang="zh-TW" altLang="en-US" b="1" dirty="0" smtClean="0">
                <a:solidFill>
                  <a:schemeClr val="bg1"/>
                </a:solidFill>
              </a:rPr>
              <a:t>核心</a:t>
            </a:r>
            <a:r>
              <a:rPr lang="en-US" altLang="zh-TW" b="1" dirty="0" smtClean="0">
                <a:solidFill>
                  <a:schemeClr val="bg1"/>
                </a:solidFill>
              </a:rPr>
              <a:t>storyboard</a:t>
            </a:r>
            <a:r>
              <a:rPr lang="zh-TW" altLang="en-US" b="1" dirty="0" smtClean="0">
                <a:solidFill>
                  <a:schemeClr val="bg1"/>
                </a:solidFill>
              </a:rPr>
              <a:t>開始</a:t>
            </a:r>
            <a:r>
              <a:rPr lang="zh-TW" altLang="en-US" b="1" dirty="0">
                <a:solidFill>
                  <a:schemeClr val="bg1"/>
                </a:solidFill>
              </a:rPr>
              <a:t>即可。</a:t>
            </a:r>
            <a:endParaRPr lang="zh-CN" altLang="zh-CN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87" t="18510" r="41365" b="18776"/>
          <a:stretch/>
        </p:blipFill>
        <p:spPr bwMode="auto">
          <a:xfrm>
            <a:off x="774612" y="1419622"/>
            <a:ext cx="2626223" cy="35370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5076056" y="726609"/>
            <a:ext cx="3725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檢查你的整合願景，看看它的任務是否與你</a:t>
            </a:r>
            <a:r>
              <a:rPr lang="zh-TW" altLang="en-US" b="1" dirty="0" smtClean="0">
                <a:solidFill>
                  <a:schemeClr val="bg1"/>
                </a:solidFill>
              </a:rPr>
              <a:t>的流程相關。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1917" y="1901322"/>
            <a:ext cx="2573655" cy="257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6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9532" y="1851670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chemeClr val="bg1"/>
                </a:solidFill>
              </a:rPr>
              <a:t>一個實例</a:t>
            </a:r>
            <a:r>
              <a:rPr lang="zh-TW" altLang="en-US" b="1" dirty="0">
                <a:solidFill>
                  <a:schemeClr val="bg1"/>
                </a:solidFill>
              </a:rPr>
              <a:t>去</a:t>
            </a:r>
            <a:r>
              <a:rPr lang="zh-TW" altLang="en-US" b="1" dirty="0" smtClean="0">
                <a:solidFill>
                  <a:schemeClr val="bg1"/>
                </a:solidFill>
              </a:rPr>
              <a:t>引導</a:t>
            </a:r>
            <a:r>
              <a:rPr lang="en-US" altLang="zh-TW" b="1" dirty="0" smtClean="0">
                <a:solidFill>
                  <a:schemeClr val="bg1"/>
                </a:solidFill>
              </a:rPr>
              <a:t>storyboard</a:t>
            </a:r>
          </a:p>
          <a:p>
            <a:r>
              <a:rPr lang="zh-TW" altLang="en-US" b="1" dirty="0" smtClean="0">
                <a:solidFill>
                  <a:schemeClr val="bg1"/>
                </a:solidFill>
              </a:rPr>
              <a:t>也</a:t>
            </a:r>
            <a:r>
              <a:rPr lang="zh-TW" altLang="en-US" b="1" dirty="0">
                <a:solidFill>
                  <a:schemeClr val="bg1"/>
                </a:solidFill>
              </a:rPr>
              <a:t>會</a:t>
            </a:r>
            <a:r>
              <a:rPr lang="zh-TW" altLang="en-US" b="1" dirty="0" smtClean="0">
                <a:solidFill>
                  <a:schemeClr val="bg1"/>
                </a:solidFill>
              </a:rPr>
              <a:t>比</a:t>
            </a:r>
            <a:r>
              <a:rPr lang="zh-TW" altLang="en-US" b="1" dirty="0">
                <a:solidFill>
                  <a:schemeClr val="bg1"/>
                </a:solidFill>
              </a:rPr>
              <a:t>虛構</a:t>
            </a:r>
            <a:r>
              <a:rPr lang="zh-TW" altLang="en-US" b="1" dirty="0" smtClean="0">
                <a:solidFill>
                  <a:schemeClr val="bg1"/>
                </a:solidFill>
              </a:rPr>
              <a:t>的故事快且有效率</a:t>
            </a:r>
            <a:endParaRPr lang="zh-CN" altLang="zh-CN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1" t="17991" r="20964" b="13390"/>
          <a:stretch/>
        </p:blipFill>
        <p:spPr bwMode="auto">
          <a:xfrm>
            <a:off x="3635896" y="771550"/>
            <a:ext cx="5302753" cy="41764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031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5" y="1296319"/>
            <a:ext cx="2808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chemeClr val="bg1"/>
                </a:solidFill>
              </a:rPr>
              <a:t>產生爭論。對於復雜和</a:t>
            </a:r>
            <a:r>
              <a:rPr lang="zh-TW" altLang="en-US" b="1" dirty="0" smtClean="0">
                <a:solidFill>
                  <a:schemeClr val="bg1"/>
                </a:solidFill>
              </a:rPr>
              <a:t>不熟</a:t>
            </a:r>
            <a:r>
              <a:rPr lang="zh-TW" altLang="en-US" b="1" dirty="0">
                <a:solidFill>
                  <a:schemeClr val="bg1"/>
                </a:solidFill>
              </a:rPr>
              <a:t>悉</a:t>
            </a:r>
            <a:r>
              <a:rPr lang="zh-TW" altLang="en-US" b="1" dirty="0" smtClean="0">
                <a:solidFill>
                  <a:schemeClr val="bg1"/>
                </a:solidFill>
              </a:rPr>
              <a:t>的</a:t>
            </a:r>
            <a:r>
              <a:rPr lang="zh-TW" altLang="en-US" b="1" dirty="0">
                <a:solidFill>
                  <a:schemeClr val="bg1"/>
                </a:solidFill>
              </a:rPr>
              <a:t>領域，僅僅是</a:t>
            </a:r>
            <a:r>
              <a:rPr lang="zh-TW" altLang="en-US" b="1" dirty="0">
                <a:solidFill>
                  <a:srgbClr val="FF0000"/>
                </a:solidFill>
              </a:rPr>
              <a:t>視覺</a:t>
            </a:r>
            <a:r>
              <a:rPr lang="zh-TW" altLang="en-US" b="1" dirty="0" smtClean="0">
                <a:solidFill>
                  <a:schemeClr val="bg1"/>
                </a:solidFill>
              </a:rPr>
              <a:t>的呈現是</a:t>
            </a:r>
            <a:r>
              <a:rPr lang="zh-TW" altLang="en-US" b="1" dirty="0">
                <a:solidFill>
                  <a:schemeClr val="bg1"/>
                </a:solidFill>
              </a:rPr>
              <a:t>不夠的。</a:t>
            </a:r>
            <a:endParaRPr lang="zh-CN" altLang="zh-CN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1" t="23901" r="30603" b="12105"/>
          <a:stretch/>
        </p:blipFill>
        <p:spPr bwMode="auto">
          <a:xfrm>
            <a:off x="4355976" y="123478"/>
            <a:ext cx="4032448" cy="49685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745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"/>
          <p:cNvSpPr txBox="1">
            <a:spLocks/>
          </p:cNvSpPr>
          <p:nvPr/>
        </p:nvSpPr>
        <p:spPr>
          <a:xfrm>
            <a:off x="107504" y="173808"/>
            <a:ext cx="4392489" cy="158417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solidFill>
                  <a:schemeClr val="bg1"/>
                </a:solidFill>
              </a:rPr>
              <a:t>Choose where to start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1958" y="1089494"/>
            <a:ext cx="2808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 smtClean="0">
                <a:solidFill>
                  <a:srgbClr val="FF0000"/>
                </a:solidFill>
              </a:rPr>
              <a:t>審查</a:t>
            </a:r>
            <a:r>
              <a:rPr lang="zh-CN" altLang="zh-CN" b="1" dirty="0" smtClean="0">
                <a:solidFill>
                  <a:schemeClr val="bg1"/>
                </a:solidFill>
              </a:rPr>
              <a:t>不同案例和條件的</a:t>
            </a:r>
            <a:r>
              <a:rPr lang="zh-CN" altLang="zh-CN" b="1" dirty="0" smtClean="0">
                <a:solidFill>
                  <a:srgbClr val="FF0000"/>
                </a:solidFill>
              </a:rPr>
              <a:t>願景</a:t>
            </a:r>
            <a:r>
              <a:rPr lang="zh-CN" altLang="zh-CN" b="1" dirty="0">
                <a:solidFill>
                  <a:schemeClr val="bg1"/>
                </a:solidFill>
              </a:rPr>
              <a:t>。你</a:t>
            </a:r>
            <a:r>
              <a:rPr lang="zh-CN" altLang="zh-CN" b="1" dirty="0" smtClean="0">
                <a:solidFill>
                  <a:schemeClr val="bg1"/>
                </a:solidFill>
              </a:rPr>
              <a:t>的</a:t>
            </a:r>
            <a:r>
              <a:rPr lang="zh-CN" altLang="zh-CN" b="1" dirty="0" smtClean="0">
                <a:solidFill>
                  <a:srgbClr val="FF0000"/>
                </a:solidFill>
              </a:rPr>
              <a:t>合併</a:t>
            </a:r>
            <a:r>
              <a:rPr lang="zh-TW" altLang="en-US" b="1" dirty="0" smtClean="0">
                <a:solidFill>
                  <a:srgbClr val="FF0000"/>
                </a:solidFill>
              </a:rPr>
              <a:t>流程</a:t>
            </a:r>
            <a:r>
              <a:rPr lang="zh-CN" altLang="zh-CN" b="1" dirty="0" smtClean="0">
                <a:solidFill>
                  <a:schemeClr val="bg1"/>
                </a:solidFill>
              </a:rPr>
              <a:t>也將有不同的</a:t>
            </a:r>
            <a:r>
              <a:rPr lang="zh-CN" altLang="zh-CN" b="1" dirty="0" smtClean="0">
                <a:solidFill>
                  <a:srgbClr val="FF0000"/>
                </a:solidFill>
              </a:rPr>
              <a:t>分支</a:t>
            </a:r>
            <a:r>
              <a:rPr lang="zh-CN" altLang="zh-CN" b="1" dirty="0">
                <a:solidFill>
                  <a:srgbClr val="FF0000"/>
                </a:solidFill>
              </a:rPr>
              <a:t>和策略</a:t>
            </a:r>
            <a:r>
              <a:rPr lang="zh-CN" altLang="zh-CN" b="1" dirty="0">
                <a:solidFill>
                  <a:schemeClr val="bg1"/>
                </a:solidFill>
              </a:rPr>
              <a:t>。</a:t>
            </a:r>
            <a:endParaRPr lang="zh-CN" altLang="zh-CN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9" t="19536" r="38533" b="47334"/>
          <a:stretch/>
        </p:blipFill>
        <p:spPr bwMode="auto">
          <a:xfrm>
            <a:off x="251520" y="2139702"/>
            <a:ext cx="3949189" cy="28083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4599920" y="579779"/>
            <a:ext cx="43923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 smtClean="0">
                <a:solidFill>
                  <a:schemeClr val="bg1"/>
                </a:solidFill>
              </a:rPr>
              <a:t>業務範圍內的新流程設計將在</a:t>
            </a:r>
            <a:r>
              <a:rPr lang="zh-CN" altLang="zh-CN" b="1" dirty="0" smtClean="0">
                <a:solidFill>
                  <a:srgbClr val="FF0000"/>
                </a:solidFill>
              </a:rPr>
              <a:t>不同的假設背景下講述故事板。列出願景、合併</a:t>
            </a:r>
            <a:r>
              <a:rPr lang="zh-TW" altLang="en-US" b="1" dirty="0" smtClean="0">
                <a:solidFill>
                  <a:srgbClr val="FF0000"/>
                </a:solidFill>
              </a:rPr>
              <a:t>流程</a:t>
            </a:r>
            <a:r>
              <a:rPr lang="zh-CN" altLang="zh-CN" b="1" dirty="0" smtClean="0">
                <a:solidFill>
                  <a:srgbClr val="FF0000"/>
                </a:solidFill>
              </a:rPr>
              <a:t>、任何流程計畫</a:t>
            </a:r>
            <a:r>
              <a:rPr lang="zh-CN" altLang="zh-CN" b="1" dirty="0" smtClean="0">
                <a:solidFill>
                  <a:schemeClr val="bg1"/>
                </a:solidFill>
              </a:rPr>
              <a:t>，最後用</a:t>
            </a:r>
            <a:r>
              <a:rPr lang="en-US" altLang="zh-CN" b="1" dirty="0" smtClean="0">
                <a:solidFill>
                  <a:schemeClr val="bg1"/>
                </a:solidFill>
              </a:rPr>
              <a:t>storyboard</a:t>
            </a:r>
            <a:r>
              <a:rPr lang="zh-CN" altLang="zh-CN" b="1" dirty="0" smtClean="0">
                <a:solidFill>
                  <a:schemeClr val="bg1"/>
                </a:solidFill>
              </a:rPr>
              <a:t>的方式</a:t>
            </a:r>
            <a:r>
              <a:rPr lang="zh-TW" altLang="en-US" b="1" dirty="0" smtClean="0">
                <a:solidFill>
                  <a:schemeClr val="bg1"/>
                </a:solidFill>
              </a:rPr>
              <a:t>總和</a:t>
            </a:r>
            <a:r>
              <a:rPr lang="zh-CN" altLang="zh-CN" b="1" dirty="0" smtClean="0">
                <a:solidFill>
                  <a:schemeClr val="bg1"/>
                </a:solidFill>
              </a:rPr>
              <a:t>。</a:t>
            </a:r>
            <a:endParaRPr lang="zh-CN" altLang="zh-CN" dirty="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5436096" y="1689659"/>
            <a:ext cx="2720018" cy="352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/>
              <a:t>Review how to </a:t>
            </a:r>
            <a:endParaRPr lang="en-US" altLang="zh-CN" b="1" dirty="0" smtClean="0"/>
          </a:p>
          <a:p>
            <a:r>
              <a:rPr lang="en-US" altLang="zh-CN" b="1" dirty="0" smtClean="0"/>
              <a:t>storyboard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06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318147" y="2228093"/>
            <a:ext cx="3008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1.</a:t>
            </a:r>
            <a:r>
              <a:rPr lang="en-US" altLang="ko-KR" sz="1200" b="1" dirty="0" smtClean="0"/>
              <a:t>Storyboard</a:t>
            </a:r>
            <a:r>
              <a:rPr lang="zh-TW" altLang="en-US" sz="1200" b="1" dirty="0" smtClean="0"/>
              <a:t>是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具體圖片和文字</a:t>
            </a:r>
            <a:r>
              <a:rPr lang="zh-TW" altLang="en-US" sz="1200" b="1" dirty="0"/>
              <a:t>、</a:t>
            </a:r>
            <a:endParaRPr lang="en-US" altLang="zh-CN" sz="1200" b="1" dirty="0" smtClean="0"/>
          </a:p>
          <a:p>
            <a:pPr lvl="0"/>
            <a:r>
              <a:rPr lang="zh-CN" altLang="zh-CN" sz="1200" b="1" dirty="0" smtClean="0"/>
              <a:t>整個工作的程式，不僅是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產品的互動</a:t>
            </a:r>
            <a:r>
              <a:rPr lang="zh-TW" altLang="en-US" sz="1200" b="1" dirty="0">
                <a:solidFill>
                  <a:srgbClr val="FF0000"/>
                </a:solidFill>
              </a:rPr>
              <a:t>。</a:t>
            </a:r>
            <a:endParaRPr lang="en-US" altLang="zh-CN" sz="1200" b="1" dirty="0" smtClean="0"/>
          </a:p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pic>
        <p:nvPicPr>
          <p:cNvPr id="33" name="图片 3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03" t="17222" r="31727" b="16217"/>
          <a:stretch/>
        </p:blipFill>
        <p:spPr bwMode="auto">
          <a:xfrm>
            <a:off x="3327078" y="928043"/>
            <a:ext cx="2736304" cy="381642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4266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2. 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手工</a:t>
            </a:r>
            <a:r>
              <a:rPr lang="zh-CN" altLang="zh-CN" sz="1200" b="1" dirty="0" smtClean="0"/>
              <a:t>畫的圖片，讓人確切的知道新的體驗將是怎樣工作的。</a:t>
            </a:r>
            <a:endParaRPr lang="en-US" altLang="zh-CN" sz="1200" b="1" dirty="0" smtClean="0"/>
          </a:p>
          <a:p>
            <a:r>
              <a:rPr lang="zh-CN" altLang="zh-CN" sz="1200" b="1" dirty="0" smtClean="0"/>
              <a:t>包括</a:t>
            </a:r>
            <a:r>
              <a:rPr lang="en-US" altLang="zh-CN" sz="1200" b="1" dirty="0"/>
              <a:t>a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手動步驟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b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與新系統介面的互動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c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系統的自動化過程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d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系統的使用規則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e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與別的系統或產品的關聯</a:t>
            </a:r>
            <a:r>
              <a:rPr lang="zh-TW" altLang="en-US" sz="1200" b="1" dirty="0" smtClean="0"/>
              <a:t>。</a:t>
            </a:r>
            <a:endParaRPr lang="en-US" altLang="zh-CN" sz="1200" b="1" dirty="0" smtClean="0"/>
          </a:p>
          <a:p>
            <a:endParaRPr lang="en-US" altLang="zh-CN" sz="1200" b="1" dirty="0">
              <a:solidFill>
                <a:srgbClr val="FF0000"/>
              </a:solidFill>
            </a:endParaRPr>
          </a:p>
          <a:p>
            <a:endParaRPr lang="zh-CN" altLang="zh-CN" sz="1200" dirty="0">
              <a:solidFill>
                <a:srgbClr val="FF0000"/>
              </a:solidFill>
            </a:endParaRPr>
          </a:p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17" name="图片 1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296" y="1584251"/>
            <a:ext cx="2999266" cy="279034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47715" y="4542025"/>
            <a:ext cx="1042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 smtClean="0"/>
              <a:t>a.</a:t>
            </a:r>
            <a:r>
              <a:rPr kumimoji="1" lang="zh-CN" altLang="en-US" sz="1400" dirty="0" smtClean="0"/>
              <a:t>手動步驟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37603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2. 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手工</a:t>
            </a:r>
            <a:r>
              <a:rPr lang="zh-CN" altLang="zh-CN" sz="1200" b="1" dirty="0" smtClean="0"/>
              <a:t>畫的圖片，讓人確切的知道新的體驗將是怎樣工作的。</a:t>
            </a:r>
            <a:endParaRPr lang="en-US" altLang="zh-CN" sz="1200" b="1" dirty="0" smtClean="0"/>
          </a:p>
          <a:p>
            <a:r>
              <a:rPr lang="zh-CN" altLang="zh-CN" sz="1200" b="1" dirty="0" smtClean="0"/>
              <a:t>它</a:t>
            </a:r>
            <a:r>
              <a:rPr lang="zh-CN" altLang="zh-CN" sz="1200" b="1" dirty="0"/>
              <a:t>包括</a:t>
            </a:r>
            <a:r>
              <a:rPr lang="en-US" altLang="zh-CN" sz="1200" b="1" dirty="0"/>
              <a:t>a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手動步驟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b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與新系統介面的互動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c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系統的自動化過程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d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系統的使用規則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e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與別的系統或產品的關聯</a:t>
            </a:r>
            <a:r>
              <a:rPr lang="zh-TW" altLang="en-US" sz="1200" b="1" dirty="0" smtClean="0"/>
              <a:t>。</a:t>
            </a:r>
            <a:endParaRPr lang="en-US" altLang="zh-CN" sz="1200" b="1" dirty="0" smtClean="0"/>
          </a:p>
          <a:p>
            <a:endParaRPr lang="en-US" altLang="zh-CN" sz="1200" b="1" dirty="0">
              <a:solidFill>
                <a:srgbClr val="FF0000"/>
              </a:solidFill>
            </a:endParaRPr>
          </a:p>
          <a:p>
            <a:endParaRPr lang="zh-CN" altLang="zh-CN" sz="1200" dirty="0">
              <a:solidFill>
                <a:srgbClr val="FF0000"/>
              </a:solidFill>
            </a:endParaRPr>
          </a:p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00868" y="4434196"/>
            <a:ext cx="21276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b</a:t>
            </a:r>
            <a:r>
              <a:rPr lang="en-US" altLang="zh-CN" sz="1400" b="1" dirty="0" smtClean="0"/>
              <a:t>.</a:t>
            </a:r>
            <a:r>
              <a:rPr lang="zh-CN" altLang="zh-CN" sz="1400" b="1" dirty="0" smtClean="0"/>
              <a:t>與新系統介面的互動</a:t>
            </a:r>
            <a:endParaRPr kumimoji="1" lang="zh-CN" altLang="en-US" sz="1400" dirty="0"/>
          </a:p>
        </p:txBody>
      </p:sp>
      <p:pic>
        <p:nvPicPr>
          <p:cNvPr id="19" name="图片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828" y="1813177"/>
            <a:ext cx="3191759" cy="233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89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2. 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手工</a:t>
            </a:r>
            <a:r>
              <a:rPr lang="zh-CN" altLang="zh-CN" sz="1200" b="1" dirty="0" smtClean="0"/>
              <a:t>畫的圖片，讓人確切的知道新的體驗將是怎樣工作的。</a:t>
            </a:r>
            <a:endParaRPr lang="en-US" altLang="zh-CN" sz="1200" b="1" dirty="0" smtClean="0"/>
          </a:p>
          <a:p>
            <a:r>
              <a:rPr lang="zh-CN" altLang="zh-CN" sz="1200" b="1" dirty="0" smtClean="0"/>
              <a:t>它</a:t>
            </a:r>
            <a:r>
              <a:rPr lang="zh-CN" altLang="zh-CN" sz="1200" b="1" dirty="0"/>
              <a:t>包括</a:t>
            </a:r>
            <a:r>
              <a:rPr lang="en-US" altLang="zh-CN" sz="1200" b="1" dirty="0"/>
              <a:t>a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手動步驟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b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與新系統介面的互動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c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系統的自動化過程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d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系統的使用規則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e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與別的系統或產品的關聯</a:t>
            </a:r>
            <a:r>
              <a:rPr lang="zh-TW" altLang="en-US" sz="1200" b="1" dirty="0" smtClean="0"/>
              <a:t>。</a:t>
            </a:r>
            <a:endParaRPr lang="en-US" altLang="zh-CN" sz="1200" b="1" dirty="0" smtClean="0"/>
          </a:p>
          <a:p>
            <a:endParaRPr lang="en-US" altLang="zh-CN" sz="1200" b="1" dirty="0">
              <a:solidFill>
                <a:srgbClr val="FF0000"/>
              </a:solidFill>
            </a:endParaRPr>
          </a:p>
          <a:p>
            <a:endParaRPr lang="zh-CN" altLang="zh-CN" sz="1200" dirty="0">
              <a:solidFill>
                <a:srgbClr val="FF0000"/>
              </a:solidFill>
            </a:endParaRPr>
          </a:p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3073" y="4611725"/>
            <a:ext cx="2193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c</a:t>
            </a:r>
            <a:r>
              <a:rPr lang="en-US" altLang="zh-CN" sz="1400" b="1" dirty="0" smtClean="0"/>
              <a:t>.</a:t>
            </a:r>
            <a:r>
              <a:rPr lang="zh-CN" altLang="zh-CN" sz="1400" b="1" dirty="0" smtClean="0"/>
              <a:t>系統的自動化過程</a:t>
            </a:r>
            <a:endParaRPr kumimoji="1" lang="zh-CN" altLang="en-US" sz="1400" dirty="0"/>
          </a:p>
        </p:txBody>
      </p:sp>
      <p:pic>
        <p:nvPicPr>
          <p:cNvPr id="19" name="图片 18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6" y="1965468"/>
            <a:ext cx="2352450" cy="2659292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3"/>
          <a:stretch>
            <a:fillRect/>
          </a:stretch>
        </p:blipFill>
        <p:spPr>
          <a:xfrm>
            <a:off x="3261522" y="3496314"/>
            <a:ext cx="2454734" cy="1114320"/>
          </a:xfrm>
          <a:prstGeom prst="rect">
            <a:avLst/>
          </a:prstGeom>
        </p:spPr>
      </p:pic>
      <p:pic>
        <p:nvPicPr>
          <p:cNvPr id="22" name="图片 21"/>
          <p:cNvPicPr/>
          <p:nvPr/>
        </p:nvPicPr>
        <p:blipFill>
          <a:blip r:embed="rId4"/>
          <a:stretch>
            <a:fillRect/>
          </a:stretch>
        </p:blipFill>
        <p:spPr>
          <a:xfrm>
            <a:off x="3261522" y="1560804"/>
            <a:ext cx="2451988" cy="1800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27363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2. 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手工</a:t>
            </a:r>
            <a:r>
              <a:rPr lang="zh-CN" altLang="zh-CN" sz="1200" b="1" dirty="0" smtClean="0"/>
              <a:t>畫的圖片，讓人確切的知道新的體驗將是怎樣工作的。</a:t>
            </a:r>
            <a:endParaRPr lang="en-US" altLang="zh-CN" sz="1200" b="1" dirty="0" smtClean="0"/>
          </a:p>
          <a:p>
            <a:r>
              <a:rPr lang="zh-CN" altLang="zh-CN" sz="1200" b="1" dirty="0" smtClean="0"/>
              <a:t>它</a:t>
            </a:r>
            <a:r>
              <a:rPr lang="zh-CN" altLang="zh-CN" sz="1200" b="1" dirty="0"/>
              <a:t>包括</a:t>
            </a:r>
            <a:r>
              <a:rPr lang="en-US" altLang="zh-CN" sz="1200" b="1" dirty="0"/>
              <a:t>a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手動步驟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b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與新系統介面的互動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c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系統的自動化過程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d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系統的使用規則</a:t>
            </a:r>
            <a:r>
              <a:rPr lang="zh-CN" altLang="zh-CN" sz="1200" b="1" dirty="0" smtClean="0"/>
              <a:t>，</a:t>
            </a:r>
            <a:r>
              <a:rPr lang="en-US" altLang="zh-CN" sz="1200" b="1" dirty="0"/>
              <a:t>e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與別的系統或產品的關聯</a:t>
            </a:r>
            <a:r>
              <a:rPr lang="zh-TW" altLang="en-US" sz="1200" b="1" dirty="0" smtClean="0"/>
              <a:t>。</a:t>
            </a:r>
            <a:endParaRPr lang="en-US" altLang="zh-CN" sz="1200" b="1" dirty="0" smtClean="0"/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47664" y="4584442"/>
            <a:ext cx="1663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d</a:t>
            </a:r>
            <a:r>
              <a:rPr lang="en-US" altLang="zh-CN" sz="1400" b="1" dirty="0" smtClean="0"/>
              <a:t>.</a:t>
            </a:r>
            <a:r>
              <a:rPr lang="zh-CN" altLang="zh-CN" sz="1400" b="1" dirty="0" smtClean="0"/>
              <a:t>系統的使用規則</a:t>
            </a:r>
            <a:endParaRPr kumimoji="1" lang="zh-CN" altLang="en-US" sz="1400" dirty="0"/>
          </a:p>
        </p:txBody>
      </p:sp>
      <p:grpSp>
        <p:nvGrpSpPr>
          <p:cNvPr id="5" name="群組 4"/>
          <p:cNvGrpSpPr/>
          <p:nvPr/>
        </p:nvGrpSpPr>
        <p:grpSpPr>
          <a:xfrm>
            <a:off x="3117178" y="555254"/>
            <a:ext cx="3108742" cy="4320751"/>
            <a:chOff x="3661873" y="799736"/>
            <a:chExt cx="2793538" cy="3932254"/>
          </a:xfrm>
        </p:grpSpPr>
        <p:pic>
          <p:nvPicPr>
            <p:cNvPr id="19" name="图片 18"/>
            <p:cNvPicPr/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203" t="17222" r="31727" b="16217"/>
            <a:stretch/>
          </p:blipFill>
          <p:spPr bwMode="auto">
            <a:xfrm>
              <a:off x="3661873" y="799736"/>
              <a:ext cx="2793538" cy="393225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4" name="矩形 3"/>
            <p:cNvSpPr/>
            <p:nvPr/>
          </p:nvSpPr>
          <p:spPr>
            <a:xfrm>
              <a:off x="5058642" y="3020217"/>
              <a:ext cx="593478" cy="3409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4499992" y="1974849"/>
              <a:ext cx="466876" cy="2715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252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520" y="823023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/>
              <a:t>3.Storyboard</a:t>
            </a:r>
            <a:r>
              <a:rPr lang="zh-CN" altLang="zh-CN" sz="1200" b="1" dirty="0" smtClean="0"/>
              <a:t>由使用者資料構成。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有親和力的資料和產品需要的數據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。</a:t>
            </a:r>
            <a:endParaRPr kumimoji="1" lang="zh-CN" altLang="en-US" sz="1200" dirty="0">
              <a:solidFill>
                <a:srgbClr val="FF0000"/>
              </a:solidFill>
            </a:endParaRPr>
          </a:p>
        </p:txBody>
      </p:sp>
      <p:pic>
        <p:nvPicPr>
          <p:cNvPr id="19" name="图片 1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4" t="43180" r="45863" b="32922"/>
          <a:stretch/>
        </p:blipFill>
        <p:spPr bwMode="auto">
          <a:xfrm>
            <a:off x="65792" y="1736328"/>
            <a:ext cx="2936099" cy="267630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右箭头 19"/>
          <p:cNvSpPr/>
          <p:nvPr/>
        </p:nvSpPr>
        <p:spPr>
          <a:xfrm>
            <a:off x="3046093" y="2883979"/>
            <a:ext cx="5715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pic>
        <p:nvPicPr>
          <p:cNvPr id="22" name="图片 21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45" t="30841" r="34265" b="25983"/>
          <a:stretch/>
        </p:blipFill>
        <p:spPr bwMode="auto">
          <a:xfrm>
            <a:off x="3670547" y="1319441"/>
            <a:ext cx="2628992" cy="35100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3021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Review </a:t>
            </a:r>
            <a:r>
              <a:rPr lang="en-US" altLang="zh-CN" sz="2800" dirty="0"/>
              <a:t>how to storyboard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550" y="668925"/>
            <a:ext cx="4824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4. </a:t>
            </a:r>
            <a:r>
              <a:rPr lang="zh-CN" altLang="zh-CN" sz="1200" b="1" dirty="0" smtClean="0"/>
              <a:t>每個</a:t>
            </a:r>
            <a:r>
              <a:rPr lang="en-US" altLang="zh-CN" sz="1200" b="1" dirty="0" smtClean="0"/>
              <a:t>storyboard</a:t>
            </a:r>
            <a:r>
              <a:rPr lang="zh-CN" altLang="zh-CN" sz="1200" b="1" dirty="0" smtClean="0"/>
              <a:t>的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每一</a:t>
            </a:r>
            <a:r>
              <a:rPr lang="zh-TW" altLang="en-US" sz="1200" b="1" dirty="0">
                <a:solidFill>
                  <a:srgbClr val="FF0000"/>
                </a:solidFill>
              </a:rPr>
              <a:t>個</a:t>
            </a:r>
            <a:r>
              <a:rPr lang="en-US" altLang="zh-CN" sz="1200" b="1" dirty="0" smtClean="0">
                <a:solidFill>
                  <a:srgbClr val="FF0000"/>
                </a:solidFill>
              </a:rPr>
              <a:t>frame</a:t>
            </a:r>
            <a:r>
              <a:rPr lang="zh-CN" altLang="zh-CN" sz="1200" b="1" dirty="0" smtClean="0"/>
              <a:t>都</a:t>
            </a:r>
            <a:r>
              <a:rPr lang="zh-CN" altLang="zh-CN" sz="1200" b="1" dirty="0"/>
              <a:t>是故事</a:t>
            </a:r>
            <a:r>
              <a:rPr lang="zh-CN" altLang="zh-CN" sz="1200" b="1" dirty="0" smtClean="0"/>
              <a:t>中的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一個步驟</a:t>
            </a:r>
            <a:r>
              <a:rPr lang="zh-CN" altLang="zh-CN" sz="1200" b="1" dirty="0" smtClean="0"/>
              <a:t>。</a:t>
            </a:r>
            <a:endParaRPr lang="en-US" altLang="zh-CN" sz="1200" b="1" dirty="0" smtClean="0"/>
          </a:p>
          <a:p>
            <a:r>
              <a:rPr lang="zh-CN" altLang="zh-CN" sz="1200" b="1" dirty="0" smtClean="0"/>
              <a:t>這個步驟代表著與系統的每一個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互動</a:t>
            </a:r>
            <a:r>
              <a:rPr lang="zh-CN" altLang="zh-CN" sz="1200" b="1" dirty="0" smtClean="0"/>
              <a:t>；每一個與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別人的互動</a:t>
            </a:r>
            <a:r>
              <a:rPr lang="zh-CN" altLang="zh-CN" sz="1200" b="1" dirty="0" smtClean="0"/>
              <a:t>；每一個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手動的操作</a:t>
            </a:r>
            <a:r>
              <a:rPr lang="en-US" altLang="zh-CN" sz="1200" b="1" dirty="0" smtClean="0"/>
              <a:t>; </a:t>
            </a:r>
            <a:r>
              <a:rPr lang="zh-CN" altLang="zh-CN" sz="1200" b="1" dirty="0" smtClean="0"/>
              <a:t>或者是系統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內部的每一個反應</a:t>
            </a:r>
            <a:r>
              <a:rPr lang="zh-CN" altLang="zh-CN" sz="1200" b="1" dirty="0" smtClean="0"/>
              <a:t>。</a:t>
            </a:r>
            <a:endParaRPr lang="zh-CN" altLang="zh-CN" sz="1200" dirty="0"/>
          </a:p>
        </p:txBody>
      </p:sp>
      <p:sp>
        <p:nvSpPr>
          <p:cNvPr id="20" name="右箭头 19"/>
          <p:cNvSpPr/>
          <p:nvPr/>
        </p:nvSpPr>
        <p:spPr>
          <a:xfrm>
            <a:off x="9829" y="4323415"/>
            <a:ext cx="5715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pic>
        <p:nvPicPr>
          <p:cNvPr id="24" name="图片 2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82" t="30840" r="35807" b="27525"/>
          <a:stretch/>
        </p:blipFill>
        <p:spPr bwMode="auto">
          <a:xfrm>
            <a:off x="827584" y="1485568"/>
            <a:ext cx="4099361" cy="25511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5" name="图片 2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2" t="43916" r="64732" b="40157"/>
          <a:stretch/>
        </p:blipFill>
        <p:spPr bwMode="auto">
          <a:xfrm>
            <a:off x="4302559" y="3892376"/>
            <a:ext cx="1045213" cy="1127646"/>
          </a:xfrm>
          <a:prstGeom prst="rect">
            <a:avLst/>
          </a:prstGeom>
          <a:ln w="38100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9" name="图片 2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16" t="31862" r="45144" b="56395"/>
          <a:stretch/>
        </p:blipFill>
        <p:spPr bwMode="auto">
          <a:xfrm>
            <a:off x="2372032" y="4097228"/>
            <a:ext cx="1121540" cy="831354"/>
          </a:xfrm>
          <a:prstGeom prst="rect">
            <a:avLst/>
          </a:prstGeom>
          <a:ln w="38100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图片 29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2" t="32065" r="55356" b="56600"/>
          <a:stretch/>
        </p:blipFill>
        <p:spPr bwMode="auto">
          <a:xfrm>
            <a:off x="755576" y="4155926"/>
            <a:ext cx="968886" cy="803136"/>
          </a:xfrm>
          <a:prstGeom prst="rect">
            <a:avLst/>
          </a:prstGeom>
          <a:ln w="38100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7305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Describe the order of the </a:t>
            </a:r>
            <a:r>
              <a:rPr lang="en-US" altLang="ko-KR" b="1" dirty="0" smtClean="0"/>
              <a:t>process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19737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/>
              <a:t>Describe the order of the </a:t>
            </a:r>
            <a:r>
              <a:rPr lang="en-US" altLang="ko-KR" sz="2800" dirty="0" smtClean="0"/>
              <a:t>process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520" y="823023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1.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>
                <a:latin typeface="Arial" charset="0"/>
              </a:rPr>
              <a:t>選擇跟我們</a:t>
            </a:r>
            <a:r>
              <a:rPr lang="zh-TW" altLang="en-US" sz="1200" b="1" dirty="0" smtClean="0">
                <a:latin typeface="Arial" charset="0"/>
              </a:rPr>
              <a:t>流程</a:t>
            </a:r>
            <a:r>
              <a:rPr lang="zh-CN" altLang="zh-CN" sz="1200" b="1" dirty="0" smtClean="0">
                <a:solidFill>
                  <a:srgbClr val="FF0000"/>
                </a:solidFill>
                <a:latin typeface="Arial" charset="0"/>
              </a:rPr>
              <a:t>相關</a:t>
            </a:r>
            <a:r>
              <a:rPr lang="zh-CN" altLang="zh-CN" sz="1200" b="1" dirty="0" smtClean="0">
                <a:latin typeface="Arial" charset="0"/>
              </a:rPr>
              <a:t>的</a:t>
            </a:r>
            <a:r>
              <a:rPr lang="zh-CN" altLang="zh-CN" sz="1200" b="1" dirty="0" smtClean="0">
                <a:solidFill>
                  <a:srgbClr val="FF0000"/>
                </a:solidFill>
                <a:latin typeface="Arial" charset="0"/>
              </a:rPr>
              <a:t>數據</a:t>
            </a:r>
            <a:r>
              <a:rPr lang="zh-CN" altLang="zh-CN" sz="1200" b="1" dirty="0" smtClean="0">
                <a:latin typeface="Arial" charset="0"/>
              </a:rPr>
              <a:t>。</a:t>
            </a:r>
            <a:endParaRPr lang="zh-CN" altLang="zh-CN" sz="1200" dirty="0">
              <a:latin typeface="Arial" charset="0"/>
            </a:endParaRPr>
          </a:p>
          <a:p>
            <a:endParaRPr lang="zh-CN" altLang="zh-CN" sz="12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5" name="图片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7" t="52791" r="6209" b="3407"/>
          <a:stretch>
            <a:fillRect/>
          </a:stretch>
        </p:blipFill>
        <p:spPr bwMode="auto">
          <a:xfrm>
            <a:off x="177375" y="1506264"/>
            <a:ext cx="2502195" cy="3204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979307" y="805663"/>
            <a:ext cx="3572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2.</a:t>
            </a:r>
            <a:r>
              <a:rPr lang="zh-CN" altLang="zh-CN" sz="1200" b="1" dirty="0" smtClean="0"/>
              <a:t>創作</a:t>
            </a:r>
            <a:r>
              <a:rPr lang="en-US" altLang="zh-CN" sz="1200" b="1" dirty="0" smtClean="0"/>
              <a:t>storyboard</a:t>
            </a:r>
            <a:r>
              <a:rPr lang="zh-TW" altLang="en-US" sz="1200" b="1" dirty="0" smtClean="0"/>
              <a:t>流程</a:t>
            </a:r>
            <a:r>
              <a:rPr lang="zh-CN" altLang="zh-CN" sz="1200" b="1" dirty="0" smtClean="0"/>
              <a:t>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每一個步驟、活動、需求</a:t>
            </a:r>
            <a:r>
              <a:rPr lang="zh-CN" altLang="zh-CN" sz="1200" b="1" dirty="0" smtClean="0"/>
              <a:t>要得到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願景和技術的支持</a:t>
            </a:r>
            <a:r>
              <a:rPr lang="zh-CN" altLang="en-US" sz="1200" b="1" dirty="0">
                <a:solidFill>
                  <a:srgbClr val="FF0000"/>
                </a:solidFill>
              </a:rPr>
              <a:t>。</a:t>
            </a:r>
            <a:r>
              <a:rPr lang="zh-CN" altLang="zh-CN" sz="1200" dirty="0" smtClean="0">
                <a:solidFill>
                  <a:srgbClr val="FF0000"/>
                </a:solidFill>
              </a:rPr>
              <a:t> </a:t>
            </a:r>
            <a:endParaRPr lang="zh-CN" altLang="zh-CN" sz="1200" dirty="0">
              <a:solidFill>
                <a:srgbClr val="FF0000"/>
              </a:solidFill>
              <a:latin typeface="Arial" charset="0"/>
            </a:endParaRPr>
          </a:p>
          <a:p>
            <a:endParaRPr lang="zh-CN" altLang="zh-CN" sz="1200" dirty="0"/>
          </a:p>
        </p:txBody>
      </p:sp>
      <p:pic>
        <p:nvPicPr>
          <p:cNvPr id="36" name="图片 35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80" t="25962" r="7618" b="21092"/>
          <a:stretch/>
        </p:blipFill>
        <p:spPr bwMode="auto">
          <a:xfrm>
            <a:off x="3057210" y="1623640"/>
            <a:ext cx="3225859" cy="33235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9372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/>
              <a:t>Describe the order of the </a:t>
            </a:r>
            <a:r>
              <a:rPr lang="en-US" altLang="ko-KR" sz="2800" dirty="0" smtClean="0"/>
              <a:t>process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520" y="823023"/>
            <a:ext cx="2525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/>
              <a:t>3.</a:t>
            </a:r>
            <a:r>
              <a:rPr lang="zh-CN" altLang="zh-CN" sz="1200" b="1" dirty="0" smtClean="0"/>
              <a:t>對</a:t>
            </a:r>
            <a:r>
              <a:rPr lang="zh-TW" altLang="en-US" sz="1200" b="1" dirty="0" smtClean="0"/>
              <a:t>每</a:t>
            </a:r>
            <a:r>
              <a:rPr lang="zh-TW" altLang="en-US" sz="1200" b="1" dirty="0"/>
              <a:t>個</a:t>
            </a:r>
            <a:r>
              <a:rPr lang="zh-CN" altLang="zh-CN" sz="1200" b="1" dirty="0" smtClean="0"/>
              <a:t>願景進行不斷的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修</a:t>
            </a:r>
            <a:r>
              <a:rPr lang="zh-TW" altLang="en-US" sz="1200" b="1" dirty="0">
                <a:solidFill>
                  <a:srgbClr val="FF0000"/>
                </a:solidFill>
              </a:rPr>
              <a:t>改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和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更正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。</a:t>
            </a:r>
            <a:endParaRPr lang="zh-CN" altLang="zh-CN" sz="1200" dirty="0">
              <a:solidFill>
                <a:srgbClr val="FF0000"/>
              </a:solidFill>
            </a:endParaRPr>
          </a:p>
          <a:p>
            <a:pPr lvl="0"/>
            <a:endParaRPr lang="zh-CN" altLang="zh-CN" sz="12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55544" y="1720262"/>
            <a:ext cx="2635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4.</a:t>
            </a:r>
            <a:r>
              <a:rPr lang="zh-CN" altLang="zh-CN" sz="1200" b="1" dirty="0" smtClean="0"/>
              <a:t>產生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故事板的每一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個</a:t>
            </a:r>
            <a:r>
              <a:rPr lang="en-US" altLang="zh-TW" sz="1200" b="1" dirty="0" smtClean="0">
                <a:solidFill>
                  <a:srgbClr val="FF0000"/>
                </a:solidFill>
              </a:rPr>
              <a:t>frame</a:t>
            </a:r>
            <a:r>
              <a:rPr lang="zh-CN" altLang="zh-CN" sz="1200" b="1" dirty="0" smtClean="0"/>
              <a:t>。</a:t>
            </a:r>
            <a:endParaRPr lang="en-US" altLang="zh-CN" sz="1200" b="1" dirty="0" smtClean="0"/>
          </a:p>
          <a:p>
            <a:pPr lvl="0"/>
            <a:r>
              <a:rPr lang="zh-CN" altLang="zh-CN" sz="1200" b="1" dirty="0" smtClean="0"/>
              <a:t>確認每一個畫面</a:t>
            </a:r>
            <a:r>
              <a:rPr lang="zh-CN" altLang="zh-CN" sz="1200" b="1" dirty="0"/>
              <a:t>中只有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一</a:t>
            </a:r>
            <a:r>
              <a:rPr lang="zh-CN" altLang="zh-CN" sz="1200" b="1" dirty="0" smtClean="0"/>
              <a:t>個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互動或者步驟</a:t>
            </a:r>
            <a:r>
              <a:rPr lang="zh-CN" altLang="zh-CN" sz="1200" b="1" dirty="0" smtClean="0"/>
              <a:t>。</a:t>
            </a:r>
            <a:endParaRPr lang="zh-CN" altLang="zh-CN" sz="1200" dirty="0"/>
          </a:p>
          <a:p>
            <a:r>
              <a:rPr lang="zh-CN" altLang="zh-CN" sz="1200" b="1" dirty="0" smtClean="0"/>
              <a:t>如圖</a:t>
            </a:r>
            <a:r>
              <a:rPr lang="en-US" altLang="zh-CN" sz="1200" b="1" dirty="0" smtClean="0"/>
              <a:t>12-2 </a:t>
            </a:r>
            <a:r>
              <a:rPr lang="zh-CN" altLang="zh-CN" sz="1200" b="1" dirty="0"/>
              <a:t>就是完成</a:t>
            </a:r>
            <a:r>
              <a:rPr lang="zh-CN" altLang="zh-CN" sz="1200" b="1" dirty="0" smtClean="0"/>
              <a:t>的</a:t>
            </a:r>
            <a:r>
              <a:rPr lang="en-US" altLang="zh-CN" sz="1200" b="1" dirty="0" smtClean="0"/>
              <a:t>storyboard</a:t>
            </a:r>
            <a:r>
              <a:rPr lang="zh-CN" altLang="zh-CN" sz="1200" b="1" dirty="0" smtClean="0"/>
              <a:t>的</a:t>
            </a:r>
            <a:r>
              <a:rPr lang="zh-CN" altLang="zh-CN" sz="1200" b="1" dirty="0"/>
              <a:t>例子。</a:t>
            </a:r>
            <a:endParaRPr lang="zh-CN" altLang="zh-CN" sz="1200" dirty="0"/>
          </a:p>
          <a:p>
            <a:endParaRPr lang="zh-CN" altLang="zh-CN" sz="1200" dirty="0"/>
          </a:p>
        </p:txBody>
      </p:sp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2903664" y="657531"/>
            <a:ext cx="3477865" cy="420267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4248" y="4311192"/>
            <a:ext cx="2039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/>
              <a:t>記</a:t>
            </a:r>
            <a:r>
              <a:rPr lang="zh-CN" altLang="zh-CN" sz="1200" b="1" dirty="0" smtClean="0"/>
              <a:t>著工作中不同類型的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程序、界面、人機互動。</a:t>
            </a:r>
            <a:endParaRPr lang="zh-CN" altLang="zh-CN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234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/>
              <a:t>Describe the order of the </a:t>
            </a:r>
            <a:r>
              <a:rPr lang="en-US" altLang="ko-KR" sz="2800" dirty="0" smtClean="0"/>
              <a:t>process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14402" y="939504"/>
            <a:ext cx="2525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5.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像是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電影</a:t>
            </a:r>
            <a:r>
              <a:rPr lang="zh-CN" altLang="zh-CN" sz="1200" b="1" dirty="0" smtClean="0"/>
              <a:t>一樣，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前進和後退</a:t>
            </a:r>
            <a:r>
              <a:rPr lang="zh-CN" altLang="zh-CN" sz="1200" b="1" dirty="0" smtClean="0"/>
              <a:t>。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不是單一</a:t>
            </a:r>
            <a:r>
              <a:rPr lang="zh-CN" altLang="zh-CN" sz="1200" b="1" dirty="0" smtClean="0"/>
              <a:t>的</a:t>
            </a:r>
            <a:r>
              <a:rPr lang="zh-CN" altLang="zh-CN" sz="1200" b="1" dirty="0"/>
              <a:t>流程。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6.</a:t>
            </a:r>
            <a:r>
              <a:rPr lang="zh-CN" altLang="en-US" sz="1200" b="1" dirty="0" smtClean="0"/>
              <a:t> </a:t>
            </a:r>
            <a:r>
              <a:rPr lang="en-US" altLang="zh-CN" sz="1200" b="1" dirty="0"/>
              <a:t>storyboard</a:t>
            </a:r>
            <a:r>
              <a:rPr lang="zh-CN" altLang="zh-CN" sz="1200" b="1" dirty="0" smtClean="0"/>
              <a:t>必須有足夠的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細節和內容</a:t>
            </a:r>
            <a:r>
              <a:rPr lang="zh-CN" altLang="zh-CN" sz="1200" b="1" dirty="0" smtClean="0"/>
              <a:t>。在這個事情中，你的顧客和雇員能通過看</a:t>
            </a:r>
            <a:r>
              <a:rPr lang="en-US" altLang="zh-CN" sz="1200" b="1" dirty="0" smtClean="0"/>
              <a:t>storyboard</a:t>
            </a:r>
            <a:r>
              <a:rPr lang="zh-CN" altLang="zh-CN" sz="1200" b="1" dirty="0" smtClean="0"/>
              <a:t>知道這個程序是什麼。</a:t>
            </a:r>
            <a:endParaRPr lang="zh-CN" altLang="zh-CN" sz="12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41" y="2148736"/>
            <a:ext cx="850900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096" y="2110636"/>
            <a:ext cx="10160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图片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736" y="2081687"/>
            <a:ext cx="685800" cy="21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04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Draw the storyboard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5496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 smtClean="0"/>
              <a:t>Draw the storyboard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4953" y="847829"/>
            <a:ext cx="4392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/>
              <a:t>注意，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每一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個</a:t>
            </a:r>
            <a:r>
              <a:rPr lang="en-US" altLang="zh-TW" sz="1200" b="1" dirty="0" smtClean="0">
                <a:solidFill>
                  <a:srgbClr val="FF0000"/>
                </a:solidFill>
              </a:rPr>
              <a:t>frame</a:t>
            </a:r>
            <a:r>
              <a:rPr lang="zh-CN" altLang="zh-CN" sz="1200" b="1" dirty="0" smtClean="0"/>
              <a:t>只有</a:t>
            </a:r>
            <a:r>
              <a:rPr lang="zh-CN" altLang="zh-CN" sz="1200" b="1" dirty="0">
                <a:solidFill>
                  <a:srgbClr val="FF0000"/>
                </a:solidFill>
              </a:rPr>
              <a:t>故事</a:t>
            </a:r>
            <a:r>
              <a:rPr lang="zh-CN" altLang="zh-CN" sz="1200" b="1" dirty="0" smtClean="0"/>
              <a:t>中的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一個步驟</a:t>
            </a:r>
            <a:r>
              <a:rPr lang="zh-CN" altLang="en-US" sz="1200" b="1" dirty="0" smtClean="0"/>
              <a:t>，</a:t>
            </a:r>
            <a:r>
              <a:rPr lang="zh-CN" altLang="zh-CN" sz="1200" b="1" dirty="0" smtClean="0"/>
              <a:t>步驟如下：</a:t>
            </a:r>
            <a:endParaRPr lang="en-US" altLang="zh-CN" sz="1200" b="1" dirty="0" smtClean="0"/>
          </a:p>
          <a:p>
            <a:r>
              <a:rPr lang="en-US" altLang="zh-CN" sz="1200" b="1" dirty="0" smtClean="0"/>
              <a:t>1.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繪製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粗略</a:t>
            </a:r>
            <a:r>
              <a:rPr lang="zh-CN" altLang="zh-CN" sz="1200" b="1" dirty="0" smtClean="0"/>
              <a:t>的</a:t>
            </a:r>
            <a:r>
              <a:rPr lang="zh-TW" altLang="en-US" sz="1200" b="1" dirty="0" smtClean="0"/>
              <a:t>使用者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界面</a:t>
            </a:r>
            <a:r>
              <a:rPr lang="zh-CN" altLang="zh-CN" sz="1200" b="1" dirty="0" smtClean="0"/>
              <a:t>，要標上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用法注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解</a:t>
            </a:r>
            <a:r>
              <a:rPr lang="zh-CN" altLang="en-US" sz="1200" b="1" dirty="0" smtClean="0"/>
              <a:t>。</a:t>
            </a:r>
            <a:r>
              <a:rPr lang="zh-CN" altLang="zh-CN" sz="1200" dirty="0" smtClean="0"/>
              <a:t> </a:t>
            </a:r>
            <a:endParaRPr lang="zh-CN" altLang="zh-CN" sz="1200" dirty="0"/>
          </a:p>
          <a:p>
            <a:endParaRPr kumimoji="1" lang="zh-CN" altLang="en-US" dirty="0"/>
          </a:p>
        </p:txBody>
      </p:sp>
      <p:pic>
        <p:nvPicPr>
          <p:cNvPr id="29" name="图片 2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51910" r="28338" b="18530"/>
          <a:stretch/>
        </p:blipFill>
        <p:spPr bwMode="auto">
          <a:xfrm>
            <a:off x="311816" y="1673573"/>
            <a:ext cx="5052272" cy="24072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23813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 smtClean="0"/>
              <a:t>Draw the storyboard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4953" y="847829"/>
            <a:ext cx="4392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2.</a:t>
            </a:r>
            <a:r>
              <a:rPr lang="zh-CN" altLang="zh-CN" sz="1200" b="1" dirty="0" smtClean="0"/>
              <a:t>描述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自動化過程</a:t>
            </a:r>
            <a:r>
              <a:rPr lang="zh-CN" altLang="zh-CN" sz="1200" b="1" dirty="0" smtClean="0"/>
              <a:t>，</a:t>
            </a:r>
            <a:r>
              <a:rPr lang="zh-CN" altLang="zh-CN" sz="1200" b="1" dirty="0"/>
              <a:t>在需要</a:t>
            </a:r>
            <a:r>
              <a:rPr lang="zh-CN" altLang="zh-CN" sz="1200" b="1" dirty="0">
                <a:solidFill>
                  <a:srgbClr val="FF0000"/>
                </a:solidFill>
              </a:rPr>
              <a:t>更清晰</a:t>
            </a:r>
            <a:r>
              <a:rPr lang="zh-CN" altLang="zh-CN" sz="1200" b="1" dirty="0"/>
              <a:t>的</a:t>
            </a:r>
            <a:r>
              <a:rPr lang="zh-CN" altLang="zh-CN" sz="1200" b="1" dirty="0" smtClean="0"/>
              <a:t>地方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具體畫圖</a:t>
            </a:r>
            <a:r>
              <a:rPr lang="zh-CN" altLang="zh-CN" sz="1200" b="1" dirty="0" smtClean="0"/>
              <a:t>。</a:t>
            </a:r>
            <a:endParaRPr lang="zh-CN" altLang="zh-CN" sz="1200" dirty="0"/>
          </a:p>
          <a:p>
            <a:endParaRPr lang="zh-CN" altLang="zh-CN" sz="1200" dirty="0"/>
          </a:p>
          <a:p>
            <a:endParaRPr kumimoji="1" lang="zh-CN" altLang="en-US" dirty="0"/>
          </a:p>
        </p:txBody>
      </p:sp>
      <p:pic>
        <p:nvPicPr>
          <p:cNvPr id="22" name="图片 2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4" t="20971" r="18072" b="34923"/>
          <a:stretch/>
        </p:blipFill>
        <p:spPr bwMode="auto">
          <a:xfrm>
            <a:off x="316975" y="1354300"/>
            <a:ext cx="4434487" cy="29301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809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 smtClean="0"/>
              <a:t>Draw the storyboard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4953" y="847829"/>
            <a:ext cx="43924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3.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使用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草稿文檔</a:t>
            </a:r>
            <a:r>
              <a:rPr lang="zh-CN" altLang="zh-CN" sz="1200" b="1" dirty="0" smtClean="0"/>
              <a:t>。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4.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畫人物的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卡通圖</a:t>
            </a:r>
            <a:r>
              <a:rPr lang="en-US" altLang="zh-CN" sz="1200" b="1" dirty="0" smtClean="0"/>
              <a:t>,</a:t>
            </a:r>
            <a:r>
              <a:rPr lang="zh-CN" altLang="zh-CN" sz="1200" b="1" dirty="0" smtClean="0"/>
              <a:t>這個卡通圖是關於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人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機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互動</a:t>
            </a:r>
            <a:r>
              <a:rPr lang="zh-CN" altLang="zh-CN" sz="1200" b="1" dirty="0" smtClean="0"/>
              <a:t>的步驟。</a:t>
            </a:r>
            <a:endParaRPr lang="zh-CN" altLang="zh-CN" sz="1200" dirty="0"/>
          </a:p>
          <a:p>
            <a:endParaRPr kumimoji="1" lang="zh-CN" altLang="en-US" dirty="0"/>
          </a:p>
        </p:txBody>
      </p:sp>
      <p:pic>
        <p:nvPicPr>
          <p:cNvPr id="22" name="图片 2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58" t="35243" r="19458" b="35909"/>
          <a:stretch/>
        </p:blipFill>
        <p:spPr bwMode="auto">
          <a:xfrm>
            <a:off x="506507" y="1569820"/>
            <a:ext cx="1583055" cy="2463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图片 2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74" t="67348" r="30940" b="7478"/>
          <a:stretch/>
        </p:blipFill>
        <p:spPr bwMode="auto">
          <a:xfrm>
            <a:off x="2408301" y="1984001"/>
            <a:ext cx="2277110" cy="1395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857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 smtClean="0"/>
              <a:t>Draw the storyboard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4953" y="847829"/>
            <a:ext cx="4392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5.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如果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系統</a:t>
            </a:r>
            <a:r>
              <a:rPr lang="zh-CN" altLang="zh-CN" sz="1200" b="1" dirty="0" smtClean="0"/>
              <a:t>是</a:t>
            </a:r>
            <a:r>
              <a:rPr lang="zh-CN" altLang="zh-CN" sz="1200" b="1" dirty="0"/>
              <a:t>描述</a:t>
            </a:r>
            <a:r>
              <a:rPr lang="zh-CN" altLang="zh-CN" sz="1200" b="1" dirty="0" smtClean="0"/>
              <a:t>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運作的步驟</a:t>
            </a:r>
            <a:r>
              <a:rPr lang="zh-CN" altLang="zh-CN" sz="1200" b="1" dirty="0" smtClean="0"/>
              <a:t>，那麼要有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數據</a:t>
            </a:r>
            <a:r>
              <a:rPr lang="zh-CN" altLang="zh-CN" sz="1200" b="1" dirty="0" smtClean="0"/>
              <a:t>支持。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6.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如果</a:t>
            </a:r>
            <a:r>
              <a:rPr lang="zh-TW" altLang="en-US" sz="1200" b="1" dirty="0" smtClean="0"/>
              <a:t>使用者</a:t>
            </a:r>
            <a:r>
              <a:rPr lang="zh-CN" altLang="zh-CN" sz="1200" b="1" dirty="0" smtClean="0"/>
              <a:t>做的是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一系列</a:t>
            </a:r>
            <a:r>
              <a:rPr lang="zh-CN" altLang="zh-CN" sz="1200" b="1" dirty="0">
                <a:solidFill>
                  <a:srgbClr val="FF0000"/>
                </a:solidFill>
              </a:rPr>
              <a:t>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操作</a:t>
            </a:r>
            <a:r>
              <a:rPr lang="zh-CN" altLang="zh-CN" sz="1200" b="1" dirty="0" smtClean="0"/>
              <a:t>。那麼就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一個步驟一個步驟</a:t>
            </a:r>
            <a:r>
              <a:rPr lang="zh-CN" altLang="zh-CN" sz="1200" b="1" dirty="0" smtClean="0"/>
              <a:t>的用草稿圖畫出來。</a:t>
            </a:r>
            <a:endParaRPr lang="zh-CN" altLang="zh-CN" sz="1200" dirty="0"/>
          </a:p>
          <a:p>
            <a:endParaRPr kumimoji="1" lang="zh-CN" altLang="en-US" dirty="0"/>
          </a:p>
        </p:txBody>
      </p:sp>
      <p:pic>
        <p:nvPicPr>
          <p:cNvPr id="22" name="图片 2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5" t="20305" r="13092" b="11077"/>
          <a:stretch/>
        </p:blipFill>
        <p:spPr bwMode="auto">
          <a:xfrm>
            <a:off x="611560" y="1557812"/>
            <a:ext cx="3395345" cy="29248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58881" y="4569996"/>
            <a:ext cx="3899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7.</a:t>
            </a:r>
            <a:r>
              <a:rPr lang="zh-CN" altLang="en-US" sz="1200" b="1" dirty="0" smtClean="0"/>
              <a:t> </a:t>
            </a:r>
            <a:r>
              <a:rPr lang="zh-TW" altLang="en-US" sz="1200" b="1" dirty="0">
                <a:solidFill>
                  <a:srgbClr val="FF0000"/>
                </a:solidFill>
              </a:rPr>
              <a:t>註釋</a:t>
            </a:r>
            <a:r>
              <a:rPr lang="zh-CN" altLang="zh-CN" sz="1200" b="1" dirty="0" smtClean="0"/>
              <a:t>關於用戶操作每個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步驟</a:t>
            </a:r>
            <a:r>
              <a:rPr lang="zh-CN" altLang="zh-CN" sz="1200" b="1" dirty="0" smtClean="0"/>
              <a:t>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名稱</a:t>
            </a:r>
            <a:r>
              <a:rPr lang="zh-CN" altLang="zh-CN" sz="1200" b="1" dirty="0" smtClean="0"/>
              <a:t>。見上圖</a:t>
            </a:r>
            <a:endParaRPr lang="zh-CN" altLang="zh-CN" sz="12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871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ko-KR" sz="2800" dirty="0" smtClean="0"/>
              <a:t>Draw the storyboard</a:t>
            </a:r>
            <a:endParaRPr lang="ko-KR" altLang="en-US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5"/>
            <a:ext cx="36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endParaRPr lang="en-US" altLang="zh-CN" sz="1200" b="1" dirty="0"/>
          </a:p>
          <a:p>
            <a:pPr lvl="0"/>
            <a:endParaRPr lang="zh-CN" altLang="zh-CN" sz="1200" dirty="0"/>
          </a:p>
          <a:p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pluses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and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minuses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for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34953" y="847829"/>
            <a:ext cx="43924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dirty="0" smtClean="0"/>
              <a:t>8.</a:t>
            </a:r>
            <a:r>
              <a:rPr lang="zh-CN" altLang="en-US" sz="1200" b="1" dirty="0" smtClean="0"/>
              <a:t> </a:t>
            </a:r>
            <a:r>
              <a:rPr lang="zh-TW" altLang="en-US" sz="1200" b="1" dirty="0" smtClean="0"/>
              <a:t>寫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注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解</a:t>
            </a:r>
            <a:r>
              <a:rPr lang="zh-CN" altLang="zh-CN" sz="1200" b="1" dirty="0" smtClean="0"/>
              <a:t>的時候，要與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商業規定、使用注釋、限制、硬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體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、軟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體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用法相一致。</a:t>
            </a:r>
            <a:endParaRPr lang="zh-CN" altLang="zh-CN" sz="1200" dirty="0">
              <a:solidFill>
                <a:srgbClr val="FF0000"/>
              </a:solidFill>
            </a:endParaRPr>
          </a:p>
          <a:p>
            <a:pPr lvl="0"/>
            <a:r>
              <a:rPr lang="en-US" altLang="zh-CN" sz="1200" b="1" dirty="0" smtClean="0"/>
              <a:t>9.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要包括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將來發生</a:t>
            </a:r>
            <a:r>
              <a:rPr lang="zh-CN" altLang="zh-CN" sz="1200" b="1" dirty="0" smtClean="0"/>
              <a:t>什麼，假設陳述以及任何圖片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包括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沒放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進去</a:t>
            </a:r>
            <a:r>
              <a:rPr lang="zh-CN" altLang="zh-CN" sz="1200" b="1" dirty="0" smtClean="0"/>
              <a:t>的內容。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10.</a:t>
            </a:r>
            <a:r>
              <a:rPr lang="zh-CN" altLang="en-US" sz="1200" b="1" dirty="0" smtClean="0"/>
              <a:t> </a:t>
            </a:r>
            <a:r>
              <a:rPr lang="zh-CN" altLang="zh-CN" sz="1200" b="1" dirty="0" smtClean="0"/>
              <a:t>保證你正在創建在</a:t>
            </a:r>
            <a:r>
              <a:rPr lang="en-US" altLang="zh-CN" sz="1200" b="1" dirty="0" smtClean="0"/>
              <a:t>storyboard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過程中的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所有的 </a:t>
            </a:r>
            <a:r>
              <a:rPr lang="en-US" altLang="zh-TW" sz="1200" b="1" dirty="0" smtClean="0">
                <a:solidFill>
                  <a:srgbClr val="FF0000"/>
                </a:solidFill>
              </a:rPr>
              <a:t>frame</a:t>
            </a:r>
            <a:r>
              <a:rPr lang="zh-TW" altLang="en-US" sz="1200" b="1" dirty="0" smtClean="0">
                <a:solidFill>
                  <a:srgbClr val="FF0000"/>
                </a:solidFill>
              </a:rPr>
              <a:t> </a:t>
            </a:r>
            <a:r>
              <a:rPr lang="zh-CN" altLang="zh-CN" sz="1200" b="1" dirty="0" smtClean="0"/>
              <a:t>能否讓沒有參加設計的人都能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看</a:t>
            </a:r>
            <a:r>
              <a:rPr lang="zh-CN" altLang="zh-CN" sz="1200" b="1" dirty="0">
                <a:solidFill>
                  <a:srgbClr val="FF0000"/>
                </a:solidFill>
              </a:rPr>
              <a:t>懂</a:t>
            </a:r>
            <a:r>
              <a:rPr lang="zh-CN" altLang="zh-CN" sz="1200" b="1" dirty="0"/>
              <a:t>。</a:t>
            </a:r>
            <a:endParaRPr lang="zh-CN" altLang="zh-CN" sz="1200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484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/>
              <a:t>Example: </a:t>
            </a:r>
            <a:r>
              <a:rPr lang="en-US" altLang="zh-CN" b="1" dirty="0" err="1"/>
              <a:t>eChalk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28134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800" dirty="0" smtClean="0"/>
              <a:t>Example</a:t>
            </a:r>
            <a:r>
              <a:rPr lang="en-US" altLang="zh-CN" sz="2800" dirty="0"/>
              <a:t>: </a:t>
            </a:r>
            <a:r>
              <a:rPr lang="en-US" altLang="zh-CN" sz="2800" dirty="0" err="1"/>
              <a:t>eChalk</a:t>
            </a:r>
            <a:endParaRPr lang="zh-CN" altLang="zh-CN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51520" y="668924"/>
            <a:ext cx="2419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 smtClean="0"/>
              <a:t>他們一共畫了</a:t>
            </a:r>
            <a:r>
              <a:rPr lang="en-US" altLang="zh-CN" sz="1200" b="1" dirty="0" smtClean="0"/>
              <a:t>34</a:t>
            </a:r>
            <a:r>
              <a:rPr lang="zh-CN" altLang="zh-CN" sz="1200" b="1" dirty="0" smtClean="0"/>
              <a:t>張圖片代表一下步驟：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a.</a:t>
            </a:r>
            <a:r>
              <a:rPr lang="zh-CN" altLang="zh-CN" sz="1200" b="1" dirty="0" smtClean="0"/>
              <a:t>創建一個課程日曆表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b.</a:t>
            </a:r>
            <a:r>
              <a:rPr lang="zh-CN" altLang="zh-CN" sz="1200" b="1" dirty="0" smtClean="0"/>
              <a:t>做計劃和接收計劃</a:t>
            </a:r>
            <a:endParaRPr lang="zh-CN" altLang="zh-CN" sz="1200" dirty="0"/>
          </a:p>
          <a:p>
            <a:pPr lvl="0"/>
            <a:r>
              <a:rPr lang="en-US" altLang="zh-CN" sz="1200" b="1" dirty="0"/>
              <a:t>c</a:t>
            </a:r>
            <a:r>
              <a:rPr lang="en-US" altLang="zh-CN" sz="1200" b="1" dirty="0" smtClean="0"/>
              <a:t>.</a:t>
            </a:r>
            <a:r>
              <a:rPr lang="zh-CN" altLang="zh-CN" sz="1200" b="1" dirty="0" smtClean="0"/>
              <a:t>製作課程</a:t>
            </a:r>
            <a:r>
              <a:rPr lang="zh-CN" altLang="zh-CN" sz="1200" b="1" dirty="0"/>
              <a:t>事件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d.</a:t>
            </a:r>
            <a:r>
              <a:rPr lang="zh-CN" altLang="zh-CN" sz="1200" b="1" dirty="0" smtClean="0"/>
              <a:t>做計劃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e.</a:t>
            </a:r>
            <a:r>
              <a:rPr lang="zh-CN" altLang="zh-CN" sz="1200" b="1" dirty="0" smtClean="0"/>
              <a:t>上課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f.</a:t>
            </a:r>
            <a:r>
              <a:rPr lang="zh-TW" altLang="en-US" sz="1200" b="1" dirty="0" smtClean="0"/>
              <a:t>進入班級</a:t>
            </a:r>
            <a:endParaRPr lang="zh-CN" altLang="zh-CN" sz="1200" dirty="0"/>
          </a:p>
          <a:p>
            <a:pPr lvl="0"/>
            <a:r>
              <a:rPr lang="en-US" altLang="zh-CN" sz="1200" b="1" dirty="0" smtClean="0"/>
              <a:t>g.</a:t>
            </a:r>
            <a:r>
              <a:rPr lang="zh-CN" altLang="zh-CN" sz="1200" b="1" dirty="0" smtClean="0"/>
              <a:t>與家長溝通</a:t>
            </a:r>
            <a:endParaRPr lang="zh-CN" altLang="zh-CN" sz="1200" dirty="0"/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pluses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and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minuses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for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4" name="图片 23"/>
          <p:cNvPicPr/>
          <p:nvPr/>
        </p:nvPicPr>
        <p:blipFill>
          <a:blip r:embed="rId2"/>
          <a:stretch>
            <a:fillRect/>
          </a:stretch>
        </p:blipFill>
        <p:spPr>
          <a:xfrm>
            <a:off x="2691971" y="583967"/>
            <a:ext cx="3552236" cy="430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6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400" b="1" dirty="0"/>
              <a:t>Identify pluses and minuses for </a:t>
            </a:r>
            <a:r>
              <a:rPr lang="en-US" altLang="zh-CN" sz="2400" b="1" dirty="0" smtClean="0"/>
              <a:t>the low-level </a:t>
            </a:r>
            <a:r>
              <a:rPr lang="en-US" altLang="zh-CN" sz="2400" b="1" dirty="0"/>
              <a:t>vision</a:t>
            </a:r>
            <a:endParaRPr lang="zh-CN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82228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000" dirty="0" smtClean="0"/>
              <a:t>Identify </a:t>
            </a:r>
            <a:r>
              <a:rPr lang="en-US" altLang="zh-CN" sz="2000" dirty="0"/>
              <a:t>pluses and minuses for </a:t>
            </a:r>
            <a:r>
              <a:rPr lang="en-US" altLang="zh-CN" sz="2000" dirty="0" smtClean="0"/>
              <a:t>the low-level vision</a:t>
            </a:r>
            <a:endParaRPr lang="zh-CN" altLang="zh-CN" sz="2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84731" y="940995"/>
            <a:ext cx="2393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 smtClean="0"/>
              <a:t>製作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低願景圖的優缺點</a:t>
            </a:r>
            <a:r>
              <a:rPr lang="zh-CN" altLang="zh-CN" sz="1200" b="1" dirty="0" smtClean="0"/>
              <a:t>。這樣當你要進行捨棄抉擇的時候，就可以在根據優缺點做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決定</a:t>
            </a:r>
            <a:r>
              <a:rPr lang="zh-CN" altLang="zh-CN" sz="1200" b="1" dirty="0"/>
              <a:t>。</a:t>
            </a:r>
            <a:endParaRPr lang="zh-CN" altLang="zh-CN" sz="1200" dirty="0"/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pluses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and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minuses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for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27584" y="1610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2" name="图片 21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57" t="42923" r="55502" b="18788"/>
          <a:stretch/>
        </p:blipFill>
        <p:spPr bwMode="auto">
          <a:xfrm>
            <a:off x="2831782" y="1393507"/>
            <a:ext cx="3480435" cy="23564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8547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232" y="76647"/>
            <a:ext cx="9144000" cy="576064"/>
          </a:xfrm>
        </p:spPr>
        <p:txBody>
          <a:bodyPr/>
          <a:lstStyle/>
          <a:p>
            <a:pPr algn="l"/>
            <a:r>
              <a:rPr lang="en-US" altLang="zh-CN" sz="2000" dirty="0" smtClean="0"/>
              <a:t>Identify </a:t>
            </a:r>
            <a:r>
              <a:rPr lang="en-US" altLang="zh-CN" sz="2000" dirty="0"/>
              <a:t>pluses and minuses for </a:t>
            </a:r>
            <a:r>
              <a:rPr lang="en-US" altLang="zh-CN" sz="2000" dirty="0" smtClean="0"/>
              <a:t>the low-level vision</a:t>
            </a:r>
            <a:endParaRPr lang="zh-CN" altLang="zh-CN" sz="2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84730" y="651305"/>
            <a:ext cx="5708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b="1" dirty="0" smtClean="0"/>
              <a:t>要記錄你做選擇的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記錄</a:t>
            </a:r>
            <a:r>
              <a:rPr lang="zh-CN" altLang="zh-CN" sz="1200" b="1" dirty="0" smtClean="0"/>
              <a:t>，因為當使用者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不喜歡</a:t>
            </a:r>
            <a:r>
              <a:rPr lang="zh-CN" altLang="zh-CN" sz="1200" b="1" dirty="0" smtClean="0"/>
              <a:t>這個細節的時候，我們就要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淘汰</a:t>
            </a:r>
            <a:r>
              <a:rPr lang="zh-CN" altLang="zh-CN" sz="1200" b="1" dirty="0" smtClean="0"/>
              <a:t>它。我們把這個過程叫做“</a:t>
            </a:r>
            <a:r>
              <a:rPr lang="zh-CN" altLang="zh-CN" sz="1200" b="1" dirty="0" smtClean="0">
                <a:solidFill>
                  <a:srgbClr val="FF0000"/>
                </a:solidFill>
              </a:rPr>
              <a:t>選擇測試案例</a:t>
            </a:r>
            <a:r>
              <a:rPr lang="zh-CN" altLang="zh-CN" sz="1200" b="1" dirty="0" smtClean="0"/>
              <a:t>”。他們能幫助你關注紙板模型測試。所以一定要做記錄。</a:t>
            </a:r>
            <a:endParaRPr lang="zh-CN" altLang="zh-CN" sz="1200" dirty="0"/>
          </a:p>
        </p:txBody>
      </p:sp>
      <p:sp>
        <p:nvSpPr>
          <p:cNvPr id="12" name="Left Arrow 11"/>
          <p:cNvSpPr/>
          <p:nvPr/>
        </p:nvSpPr>
        <p:spPr>
          <a:xfrm rot="20722497">
            <a:off x="6384877" y="721856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 rot="20760000">
            <a:off x="6496564" y="818711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  <a:cs typeface="Arial" pitchFamily="34" charset="0"/>
              </a:rPr>
              <a:t>Review how to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8" name="Left Arrow 17"/>
          <p:cNvSpPr/>
          <p:nvPr/>
        </p:nvSpPr>
        <p:spPr>
          <a:xfrm rot="20722497">
            <a:off x="6384877" y="1590643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 rot="20760000">
            <a:off x="6543511" y="1691898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Describe the order of the process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3" name="Left Arrow 22"/>
          <p:cNvSpPr/>
          <p:nvPr/>
        </p:nvSpPr>
        <p:spPr>
          <a:xfrm rot="20722497">
            <a:off x="6384877" y="24594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 rot="20760000">
            <a:off x="6699120" y="2493719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Draw the storyboard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Left Arrow 27"/>
          <p:cNvSpPr/>
          <p:nvPr/>
        </p:nvSpPr>
        <p:spPr>
          <a:xfrm rot="20722497">
            <a:off x="6384877" y="3328217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 rot="20760000">
            <a:off x="6803665" y="335781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Example</a:t>
            </a:r>
            <a:r>
              <a:rPr lang="en-US" altLang="zh-CN" sz="1200" b="1" dirty="0">
                <a:solidFill>
                  <a:schemeClr val="bg1"/>
                </a:solidFill>
              </a:rPr>
              <a:t>: </a:t>
            </a:r>
            <a:r>
              <a:rPr lang="en-US" altLang="zh-CN" sz="1200" b="1" dirty="0" err="1">
                <a:solidFill>
                  <a:schemeClr val="bg1"/>
                </a:solidFill>
              </a:rPr>
              <a:t>eChalk</a:t>
            </a: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7" name="Left Arrow 27"/>
          <p:cNvSpPr/>
          <p:nvPr/>
        </p:nvSpPr>
        <p:spPr>
          <a:xfrm rot="20722497">
            <a:off x="6405434" y="4265530"/>
            <a:ext cx="2833770" cy="552990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2" name="TextBox 30"/>
          <p:cNvSpPr txBox="1"/>
          <p:nvPr/>
        </p:nvSpPr>
        <p:spPr>
          <a:xfrm rot="20760000">
            <a:off x="6742392" y="4203364"/>
            <a:ext cx="2824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Identify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pluses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and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minuses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for</a:t>
            </a:r>
            <a:r>
              <a:rPr lang="en-US" altLang="zh-CN" sz="1200" b="1" dirty="0" smtClean="0"/>
              <a:t> </a:t>
            </a:r>
            <a:r>
              <a:rPr lang="en-US" altLang="zh-CN" sz="1200" b="1" dirty="0" smtClean="0">
                <a:solidFill>
                  <a:schemeClr val="bg1"/>
                </a:solidFill>
              </a:rPr>
              <a:t>the</a:t>
            </a:r>
          </a:p>
          <a:p>
            <a:r>
              <a:rPr lang="en-US" altLang="zh-CN" sz="1200" b="1" dirty="0" smtClean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low-level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chemeClr val="bg1"/>
                </a:solidFill>
              </a:rPr>
              <a:t>vision</a:t>
            </a:r>
            <a:endParaRPr lang="zh-CN" altLang="zh-CN" sz="1200" b="1" dirty="0">
              <a:solidFill>
                <a:schemeClr val="bg1"/>
              </a:solidFill>
            </a:endParaRPr>
          </a:p>
        </p:txBody>
      </p:sp>
      <p:sp>
        <p:nvSpPr>
          <p:cNvPr id="34" name="Left Arrow 11"/>
          <p:cNvSpPr/>
          <p:nvPr/>
        </p:nvSpPr>
        <p:spPr>
          <a:xfrm rot="20722497">
            <a:off x="6380171" y="-28450"/>
            <a:ext cx="2852959" cy="570029"/>
          </a:xfrm>
          <a:custGeom>
            <a:avLst/>
            <a:gdLst/>
            <a:ahLst/>
            <a:cxnLst/>
            <a:rect l="l" t="t" r="r" b="b"/>
            <a:pathLst>
              <a:path w="4312380" h="894796">
                <a:moveTo>
                  <a:pt x="4312380" y="117603"/>
                </a:moveTo>
                <a:lnTo>
                  <a:pt x="4140261" y="777193"/>
                </a:lnTo>
                <a:lnTo>
                  <a:pt x="497381" y="777193"/>
                </a:lnTo>
                <a:lnTo>
                  <a:pt x="497381" y="894796"/>
                </a:lnTo>
                <a:lnTo>
                  <a:pt x="0" y="447398"/>
                </a:lnTo>
                <a:lnTo>
                  <a:pt x="497381" y="0"/>
                </a:lnTo>
                <a:lnTo>
                  <a:pt x="497381" y="1176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Box 14"/>
          <p:cNvSpPr txBox="1"/>
          <p:nvPr/>
        </p:nvSpPr>
        <p:spPr>
          <a:xfrm rot="20760000">
            <a:off x="6496564" y="84635"/>
            <a:ext cx="28249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chemeClr val="bg1"/>
                </a:solidFill>
                <a:cs typeface="Arial" pitchFamily="34" charset="0"/>
              </a:rPr>
              <a:t>Choose where to start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3403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827584" y="859541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4" name="图片 2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97" t="35726" r="32369" b="21871"/>
          <a:stretch/>
        </p:blipFill>
        <p:spPr bwMode="auto">
          <a:xfrm>
            <a:off x="1710741" y="1068323"/>
            <a:ext cx="3688843" cy="29110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5" name="右箭头 24"/>
          <p:cNvSpPr/>
          <p:nvPr/>
        </p:nvSpPr>
        <p:spPr>
          <a:xfrm>
            <a:off x="9829" y="4323415"/>
            <a:ext cx="5715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80" t="40801" r="46255" b="43458"/>
          <a:stretch/>
        </p:blipFill>
        <p:spPr bwMode="auto">
          <a:xfrm>
            <a:off x="792761" y="3994941"/>
            <a:ext cx="1073912" cy="976862"/>
          </a:xfrm>
          <a:prstGeom prst="rect">
            <a:avLst/>
          </a:prstGeom>
          <a:ln w="28575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0" name="图片 29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46" t="59167" r="32369" b="23220"/>
          <a:stretch/>
        </p:blipFill>
        <p:spPr bwMode="auto">
          <a:xfrm>
            <a:off x="2078105" y="3979343"/>
            <a:ext cx="2426237" cy="1008057"/>
          </a:xfrm>
          <a:prstGeom prst="rect">
            <a:avLst/>
          </a:prstGeom>
          <a:ln w="28575">
            <a:solidFill>
              <a:schemeClr val="accent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直线连接符 5"/>
          <p:cNvCxnSpPr>
            <a:stCxn id="30" idx="0"/>
            <a:endCxn id="30" idx="2"/>
          </p:cNvCxnSpPr>
          <p:nvPr/>
        </p:nvCxnSpPr>
        <p:spPr>
          <a:xfrm>
            <a:off x="3291224" y="3979343"/>
            <a:ext cx="0" cy="100805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85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2400" b="1" dirty="0" smtClean="0"/>
              <a:t>How </a:t>
            </a:r>
            <a:r>
              <a:rPr lang="en-US" altLang="zh-CN" sz="2400" b="1" dirty="0"/>
              <a:t>to choose between 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two </a:t>
            </a:r>
            <a:r>
              <a:rPr lang="en-US" altLang="zh-CN" sz="2400" b="1" dirty="0"/>
              <a:t>ideas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24105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sz="2000" dirty="0"/>
              <a:t>How to choose between </a:t>
            </a:r>
            <a:r>
              <a:rPr lang="en-US" altLang="zh-CN" sz="2000" dirty="0" smtClean="0"/>
              <a:t>two </a:t>
            </a:r>
            <a:r>
              <a:rPr lang="en-US" altLang="zh-CN" sz="2000" dirty="0"/>
              <a:t>ideas</a:t>
            </a:r>
            <a:endParaRPr lang="zh-CN" altLang="zh-CN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-258608" y="1933990"/>
            <a:ext cx="482769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sz="1400" b="1" dirty="0" smtClean="0">
                <a:solidFill>
                  <a:schemeClr val="bg1"/>
                </a:solidFill>
              </a:rPr>
              <a:t>a. </a:t>
            </a:r>
            <a:r>
              <a:rPr lang="zh-TW" altLang="en-US" sz="1400" b="1" dirty="0">
                <a:solidFill>
                  <a:schemeClr val="bg1"/>
                </a:solidFill>
              </a:rPr>
              <a:t>由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用戶來測試。考慮到底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選哪個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？</a:t>
            </a:r>
            <a:endParaRPr lang="en-US" altLang="zh-CN" sz="1400" b="1" dirty="0" smtClean="0">
              <a:solidFill>
                <a:schemeClr val="bg1"/>
              </a:solidFill>
            </a:endParaRPr>
          </a:p>
          <a:p>
            <a:pPr lvl="1"/>
            <a:r>
              <a:rPr lang="en-US" altLang="zh-CN" sz="1400" b="1" dirty="0" smtClean="0">
                <a:solidFill>
                  <a:schemeClr val="bg1"/>
                </a:solidFill>
              </a:rPr>
              <a:t>b. 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一個原則就是選擇最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基礎的功能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。</a:t>
            </a:r>
            <a:endParaRPr lang="zh-CN" altLang="zh-CN" sz="1400" dirty="0">
              <a:solidFill>
                <a:schemeClr val="bg1"/>
              </a:solidFill>
            </a:endParaRPr>
          </a:p>
          <a:p>
            <a:pPr lvl="1"/>
            <a:r>
              <a:rPr lang="en-US" altLang="zh-CN" sz="1400" b="1" dirty="0" smtClean="0">
                <a:solidFill>
                  <a:schemeClr val="bg1"/>
                </a:solidFill>
              </a:rPr>
              <a:t>c.  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如果你讓使用者看到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他們想要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的</a:t>
            </a:r>
            <a:r>
              <a:rPr lang="zh-CN" altLang="zh-CN" sz="1400" b="1" dirty="0">
                <a:solidFill>
                  <a:schemeClr val="bg1"/>
                </a:solidFill>
              </a:rPr>
              <a:t>，你就不用重新修改了。最糟糕的是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，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使用者的反應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是要麼積極或消極。遇到這個情形，你就得根據反應做一個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改進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。</a:t>
            </a:r>
            <a:endParaRPr lang="en-US" altLang="zh-CN" sz="1400" b="1" dirty="0" smtClean="0">
              <a:solidFill>
                <a:schemeClr val="bg1"/>
              </a:solidFill>
            </a:endParaRPr>
          </a:p>
          <a:p>
            <a:pPr lvl="1"/>
            <a:r>
              <a:rPr lang="en-US" altLang="zh-CN" sz="1400" b="1" dirty="0" smtClean="0">
                <a:solidFill>
                  <a:schemeClr val="bg1"/>
                </a:solidFill>
              </a:rPr>
              <a:t>d. 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在領域中，創建你想要測試功能的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測試列表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。最終的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選擇權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是</a:t>
            </a:r>
            <a:r>
              <a:rPr lang="zh-TW" altLang="en-US" sz="1400" b="1" dirty="0" smtClean="0">
                <a:solidFill>
                  <a:srgbClr val="FF0000"/>
                </a:solidFill>
              </a:rPr>
              <a:t>使</a:t>
            </a:r>
            <a:r>
              <a:rPr lang="zh-CN" altLang="zh-CN" sz="1400" b="1" dirty="0" smtClean="0">
                <a:solidFill>
                  <a:srgbClr val="FF0000"/>
                </a:solidFill>
              </a:rPr>
              <a:t>用</a:t>
            </a:r>
            <a:r>
              <a:rPr lang="zh-TW" altLang="en-US" sz="1400" b="1" dirty="0" smtClean="0">
                <a:solidFill>
                  <a:srgbClr val="FF0000"/>
                </a:solidFill>
              </a:rPr>
              <a:t>者</a:t>
            </a:r>
            <a:r>
              <a:rPr lang="zh-CN" altLang="zh-CN" sz="1400" b="1" dirty="0" smtClean="0">
                <a:solidFill>
                  <a:schemeClr val="bg1"/>
                </a:solidFill>
              </a:rPr>
              <a:t>，</a:t>
            </a:r>
            <a:r>
              <a:rPr lang="zh-CN" altLang="zh-CN" sz="1400" b="1" dirty="0">
                <a:solidFill>
                  <a:schemeClr val="bg1"/>
                </a:solidFill>
              </a:rPr>
              <a:t>不是你。</a:t>
            </a:r>
            <a:endParaRPr lang="zh-CN" altLang="zh-CN" sz="1400" dirty="0">
              <a:solidFill>
                <a:schemeClr val="bg1"/>
              </a:solidFill>
            </a:endParaRPr>
          </a:p>
          <a:p>
            <a:pPr lvl="1"/>
            <a:endParaRPr lang="zh-CN" altLang="zh-CN" sz="1200" dirty="0"/>
          </a:p>
          <a:p>
            <a:pPr marL="685800" lvl="1" indent="-228600">
              <a:buAutoNum type="alphaLcPeriod"/>
            </a:pPr>
            <a:endParaRPr lang="zh-CN" altLang="zh-CN" sz="1200" dirty="0">
              <a:solidFill>
                <a:schemeClr val="bg1"/>
              </a:solidFill>
            </a:endParaRPr>
          </a:p>
        </p:txBody>
      </p:sp>
      <p:sp>
        <p:nvSpPr>
          <p:cNvPr id="24" name="Rectangle 16"/>
          <p:cNvSpPr/>
          <p:nvPr/>
        </p:nvSpPr>
        <p:spPr>
          <a:xfrm rot="18900000" flipH="1">
            <a:off x="6020558" y="4340278"/>
            <a:ext cx="190661" cy="341820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ound Same Side Corner Rectangle 6"/>
          <p:cNvSpPr>
            <a:spLocks noChangeAspect="1"/>
          </p:cNvSpPr>
          <p:nvPr/>
        </p:nvSpPr>
        <p:spPr>
          <a:xfrm rot="18900000" flipH="1">
            <a:off x="3488086" y="4353516"/>
            <a:ext cx="85363" cy="342232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5" name="Text Placeholder 1"/>
          <p:cNvSpPr txBox="1">
            <a:spLocks/>
          </p:cNvSpPr>
          <p:nvPr/>
        </p:nvSpPr>
        <p:spPr>
          <a:xfrm>
            <a:off x="148108" y="1176264"/>
            <a:ext cx="4567907" cy="28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sz="1600" b="1" dirty="0" smtClean="0">
                <a:solidFill>
                  <a:schemeClr val="accent1"/>
                </a:solidFill>
                <a:cs typeface="Arial" pitchFamily="34" charset="0"/>
              </a:rPr>
              <a:t>如果當兩個次級願景都很好的時候，怎麼選擇？促使紙模版的發展</a:t>
            </a:r>
            <a:r>
              <a:rPr lang="zh-CN" altLang="en-US" sz="1600" b="1" dirty="0">
                <a:solidFill>
                  <a:schemeClr val="accent1"/>
                </a:solidFill>
                <a:cs typeface="Arial" pitchFamily="34" charset="0"/>
              </a:rPr>
              <a:t>。</a:t>
            </a:r>
            <a:endParaRPr lang="ko-KR" altLang="en-US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36" name="图片 3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26" t="8225" r="5372"/>
          <a:stretch/>
        </p:blipFill>
        <p:spPr bwMode="auto">
          <a:xfrm>
            <a:off x="5055773" y="1053348"/>
            <a:ext cx="1743710" cy="3022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图片 36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44" t="7967" r="5055" b="-244"/>
          <a:stretch/>
        </p:blipFill>
        <p:spPr bwMode="auto">
          <a:xfrm>
            <a:off x="6770252" y="1045728"/>
            <a:ext cx="1784985" cy="30378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19329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149" y="365723"/>
            <a:ext cx="9144000" cy="576064"/>
          </a:xfrm>
        </p:spPr>
        <p:txBody>
          <a:bodyPr/>
          <a:lstStyle/>
          <a:p>
            <a:r>
              <a:rPr lang="zh-TW" altLang="en-US" dirty="0" smtClean="0"/>
              <a:t>雛型修改</a:t>
            </a:r>
            <a:r>
              <a:rPr lang="en-US" altLang="zh-TW" dirty="0" smtClean="0"/>
              <a:t>(Revision)</a:t>
            </a:r>
            <a:endParaRPr lang="ko-KR" alt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1275606"/>
            <a:ext cx="9144000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0" name="Oval 19"/>
          <p:cNvSpPr/>
          <p:nvPr/>
        </p:nvSpPr>
        <p:spPr>
          <a:xfrm>
            <a:off x="5248647" y="1716037"/>
            <a:ext cx="576064" cy="5760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1" name="Oval 20"/>
          <p:cNvSpPr/>
          <p:nvPr/>
        </p:nvSpPr>
        <p:spPr>
          <a:xfrm>
            <a:off x="5230788" y="2724149"/>
            <a:ext cx="576064" cy="5760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891519" y="1841797"/>
            <a:ext cx="2995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  <a:cs typeface="Arial" pitchFamily="34" charset="0"/>
              </a:rPr>
              <a:t>Rework the storyboard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890783" y="2817143"/>
            <a:ext cx="26357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chemeClr val="bg1"/>
                </a:solidFill>
                <a:cs typeface="Arial" pitchFamily="34" charset="0"/>
              </a:rPr>
              <a:t>Go on to the next storyboard</a:t>
            </a:r>
            <a:endParaRPr lang="ko-KR" altLang="en-US" sz="1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55475" y="1621032"/>
            <a:ext cx="36000" cy="27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619207" y="1707654"/>
            <a:ext cx="3279096" cy="672171"/>
            <a:chOff x="619207" y="1707654"/>
            <a:chExt cx="3279096" cy="672171"/>
          </a:xfrm>
        </p:grpSpPr>
        <p:sp>
          <p:nvSpPr>
            <p:cNvPr id="7" name="Oval 6"/>
            <p:cNvSpPr/>
            <p:nvPr/>
          </p:nvSpPr>
          <p:spPr>
            <a:xfrm>
              <a:off x="652611" y="1707654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06719" y="1856605"/>
              <a:ext cx="25915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chemeClr val="bg1"/>
                  </a:solidFill>
                  <a:cs typeface="Arial" pitchFamily="34" charset="0"/>
                </a:rPr>
                <a:t>identify pluses and minuses for the low-level vision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19207" y="1773236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01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32" name="群組 31"/>
          <p:cNvGrpSpPr/>
          <p:nvPr/>
        </p:nvGrpSpPr>
        <p:grpSpPr>
          <a:xfrm>
            <a:off x="583489" y="2715766"/>
            <a:ext cx="3314814" cy="653506"/>
            <a:chOff x="583489" y="2715766"/>
            <a:chExt cx="3314814" cy="653506"/>
          </a:xfrm>
        </p:grpSpPr>
        <p:sp>
          <p:nvSpPr>
            <p:cNvPr id="9" name="Oval 8"/>
            <p:cNvSpPr/>
            <p:nvPr/>
          </p:nvSpPr>
          <p:spPr>
            <a:xfrm>
              <a:off x="634752" y="2715766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300683" y="2846052"/>
              <a:ext cx="25976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Check storyboard against the consolidated sequence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83489" y="2772965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02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583489" y="3723878"/>
            <a:ext cx="3124415" cy="576064"/>
            <a:chOff x="583489" y="3723878"/>
            <a:chExt cx="3124415" cy="576064"/>
          </a:xfrm>
        </p:grpSpPr>
        <p:sp>
          <p:nvSpPr>
            <p:cNvPr id="10" name="Oval 9"/>
            <p:cNvSpPr/>
            <p:nvPr/>
          </p:nvSpPr>
          <p:spPr>
            <a:xfrm>
              <a:off x="616893" y="3723878"/>
              <a:ext cx="576064" cy="5760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00683" y="3871138"/>
              <a:ext cx="240722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cs typeface="Arial" pitchFamily="34" charset="0"/>
                </a:rPr>
                <a:t>Share the storyboard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3489" y="3781077"/>
              <a:ext cx="64287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>
                  <a:solidFill>
                    <a:schemeClr val="accent1"/>
                  </a:solidFill>
                  <a:cs typeface="Arial" pitchFamily="34" charset="0"/>
                </a:rPr>
                <a:t>03</a:t>
              </a:r>
              <a:endParaRPr lang="ko-KR" altLang="en-US" sz="2400" b="1" dirty="0">
                <a:solidFill>
                  <a:schemeClr val="accent1"/>
                </a:solidFill>
                <a:cs typeface="Arial" pitchFamily="34" charset="0"/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217690" y="1779662"/>
            <a:ext cx="64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04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81972" y="2779391"/>
            <a:ext cx="642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accent1"/>
                </a:solidFill>
                <a:cs typeface="Arial" pitchFamily="34" charset="0"/>
              </a:rPr>
              <a:t>05</a:t>
            </a:r>
            <a:endParaRPr lang="ko-KR" altLang="en-US" sz="2400" b="1" dirty="0">
              <a:solidFill>
                <a:schemeClr val="accent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25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000" dirty="0" smtClean="0"/>
              <a:t>Identify </a:t>
            </a:r>
            <a:r>
              <a:rPr lang="en-US" altLang="zh-TW" sz="3000" dirty="0"/>
              <a:t>pluses and minuses for the low-level vision</a:t>
            </a:r>
            <a:endParaRPr lang="ko-KR" alt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Different scenario were run for the same task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23528" y="1563638"/>
            <a:ext cx="5642572" cy="2726588"/>
            <a:chOff x="1521716" y="1275606"/>
            <a:chExt cx="5642572" cy="2726588"/>
          </a:xfrm>
          <a:solidFill>
            <a:schemeClr val="accent1"/>
          </a:solidFill>
        </p:grpSpPr>
        <p:grpSp>
          <p:nvGrpSpPr>
            <p:cNvPr id="6" name="Group 5"/>
            <p:cNvGrpSpPr/>
            <p:nvPr/>
          </p:nvGrpSpPr>
          <p:grpSpPr>
            <a:xfrm>
              <a:off x="1521716" y="1596158"/>
              <a:ext cx="3168352" cy="2406036"/>
              <a:chOff x="1521716" y="1596158"/>
              <a:chExt cx="3168352" cy="2406036"/>
            </a:xfrm>
            <a:grpFill/>
          </p:grpSpPr>
          <p:grpSp>
            <p:nvGrpSpPr>
              <p:cNvPr id="12" name="Group 11"/>
              <p:cNvGrpSpPr/>
              <p:nvPr/>
            </p:nvGrpSpPr>
            <p:grpSpPr>
              <a:xfrm>
                <a:off x="1521716" y="1596158"/>
                <a:ext cx="3168352" cy="2406036"/>
                <a:chOff x="1691680" y="-1532706"/>
                <a:chExt cx="7101775" cy="5393065"/>
              </a:xfrm>
              <a:grpFill/>
            </p:grpSpPr>
            <p:sp>
              <p:nvSpPr>
                <p:cNvPr id="14" name="Donut 13"/>
                <p:cNvSpPr/>
                <p:nvPr/>
              </p:nvSpPr>
              <p:spPr>
                <a:xfrm>
                  <a:off x="1691680" y="-1532706"/>
                  <a:ext cx="4896544" cy="4896544"/>
                </a:xfrm>
                <a:prstGeom prst="donut">
                  <a:avLst>
                    <a:gd name="adj" fmla="val 17523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Right Arrow 14"/>
                <p:cNvSpPr/>
                <p:nvPr/>
              </p:nvSpPr>
              <p:spPr>
                <a:xfrm>
                  <a:off x="4355976" y="2009174"/>
                  <a:ext cx="4437479" cy="1851185"/>
                </a:xfrm>
                <a:prstGeom prst="rightArrow">
                  <a:avLst>
                    <a:gd name="adj1" fmla="val 45464"/>
                    <a:gd name="adj2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3" name="Oval 12"/>
              <p:cNvSpPr/>
              <p:nvPr/>
            </p:nvSpPr>
            <p:spPr>
              <a:xfrm>
                <a:off x="2263185" y="2337627"/>
                <a:ext cx="701581" cy="70158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995936" y="1275606"/>
              <a:ext cx="3168352" cy="2406036"/>
              <a:chOff x="3851920" y="1401130"/>
              <a:chExt cx="3168352" cy="2406036"/>
            </a:xfrm>
            <a:grpFill/>
          </p:grpSpPr>
          <p:grpSp>
            <p:nvGrpSpPr>
              <p:cNvPr id="8" name="Group 7"/>
              <p:cNvGrpSpPr/>
              <p:nvPr/>
            </p:nvGrpSpPr>
            <p:grpSpPr>
              <a:xfrm rot="10800000">
                <a:off x="3851920" y="1401130"/>
                <a:ext cx="3168352" cy="2406036"/>
                <a:chOff x="1691680" y="-1532706"/>
                <a:chExt cx="7101775" cy="5393065"/>
              </a:xfrm>
              <a:grpFill/>
            </p:grpSpPr>
            <p:sp>
              <p:nvSpPr>
                <p:cNvPr id="10" name="Donut 9"/>
                <p:cNvSpPr/>
                <p:nvPr/>
              </p:nvSpPr>
              <p:spPr>
                <a:xfrm>
                  <a:off x="1691680" y="-1532706"/>
                  <a:ext cx="4896544" cy="4896544"/>
                </a:xfrm>
                <a:prstGeom prst="donut">
                  <a:avLst>
                    <a:gd name="adj" fmla="val 17523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Right Arrow 10"/>
                <p:cNvSpPr/>
                <p:nvPr/>
              </p:nvSpPr>
              <p:spPr>
                <a:xfrm>
                  <a:off x="4355976" y="2009174"/>
                  <a:ext cx="4437479" cy="1851185"/>
                </a:xfrm>
                <a:prstGeom prst="rightArrow">
                  <a:avLst>
                    <a:gd name="adj1" fmla="val 45464"/>
                    <a:gd name="adj2" fmla="val 5000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Oval 8"/>
              <p:cNvSpPr/>
              <p:nvPr/>
            </p:nvSpPr>
            <p:spPr>
              <a:xfrm>
                <a:off x="5577220" y="2364114"/>
                <a:ext cx="701581" cy="70158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6" name="Isosceles Triangle 15"/>
          <p:cNvSpPr/>
          <p:nvPr/>
        </p:nvSpPr>
        <p:spPr>
          <a:xfrm>
            <a:off x="2636858" y="2489039"/>
            <a:ext cx="1015912" cy="875786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62767" y="3738786"/>
            <a:ext cx="824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1200" b="1" dirty="0" smtClean="0">
                <a:solidFill>
                  <a:schemeClr val="bg1"/>
                </a:solidFill>
                <a:cs typeface="Arial" pitchFamily="34" charset="0"/>
              </a:rPr>
              <a:t>繳交作業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19758" y="1838077"/>
            <a:ext cx="10032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cs typeface="Arial" pitchFamily="34" charset="0"/>
              </a:rPr>
              <a:t>評分、評語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Rectangle 9"/>
          <p:cNvSpPr/>
          <p:nvPr/>
        </p:nvSpPr>
        <p:spPr>
          <a:xfrm flipH="1">
            <a:off x="1254459" y="2775915"/>
            <a:ext cx="322655" cy="30203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ound Same Side Corner Rectangle 6"/>
          <p:cNvSpPr>
            <a:spLocks noChangeAspect="1"/>
          </p:cNvSpPr>
          <p:nvPr/>
        </p:nvSpPr>
        <p:spPr>
          <a:xfrm rot="18900000" flipH="1">
            <a:off x="4835217" y="2707544"/>
            <a:ext cx="77242" cy="438775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1" name="TextBox 26"/>
          <p:cNvSpPr txBox="1"/>
          <p:nvPr/>
        </p:nvSpPr>
        <p:spPr>
          <a:xfrm>
            <a:off x="2882411" y="2775915"/>
            <a:ext cx="524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 smtClean="0">
                <a:solidFill>
                  <a:schemeClr val="bg1"/>
                </a:solidFill>
                <a:cs typeface="Arial" pitchFamily="34" charset="0"/>
              </a:rPr>
              <a:t>作業分數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667" y="987574"/>
            <a:ext cx="2530282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31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Identify pluses and minuses for the low-level vision</a:t>
            </a:r>
            <a:endParaRPr lang="ko-KR" altLang="en-US" sz="3000" dirty="0">
              <a:latin typeface="微軟正黑體 Light" panose="020B0304030504040204" pitchFamily="34" charset="-120"/>
            </a:endParaRPr>
          </a:p>
        </p:txBody>
      </p:sp>
      <p:sp>
        <p:nvSpPr>
          <p:cNvPr id="14" name="Text Placeholder 18"/>
          <p:cNvSpPr txBox="1">
            <a:spLocks/>
          </p:cNvSpPr>
          <p:nvPr/>
        </p:nvSpPr>
        <p:spPr>
          <a:xfrm>
            <a:off x="-2896" y="4156074"/>
            <a:ext cx="2160240" cy="647924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1200" b="1" dirty="0">
                <a:solidFill>
                  <a:schemeClr val="accent1"/>
                </a:solidFill>
                <a:cs typeface="Arial" pitchFamily="34" charset="0"/>
              </a:rPr>
              <a:t>解釋</a:t>
            </a: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在某個</a:t>
            </a:r>
            <a:r>
              <a:rPr lang="en-US" altLang="zh-TW" sz="1200" b="1" dirty="0" smtClean="0">
                <a:solidFill>
                  <a:schemeClr val="accent1"/>
                </a:solidFill>
                <a:cs typeface="Arial" pitchFamily="34" charset="0"/>
              </a:rPr>
              <a:t>UI</a:t>
            </a: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之下</a:t>
            </a:r>
            <a:endParaRPr lang="en-US" altLang="zh-TW" sz="1200" b="1" dirty="0" smtClean="0">
              <a:solidFill>
                <a:schemeClr val="accent1"/>
              </a:solidFill>
              <a:cs typeface="Arial" pitchFamily="34" charset="0"/>
            </a:endParaRPr>
          </a:p>
          <a:p>
            <a:pPr marL="0" indent="0" algn="ctr">
              <a:buNone/>
            </a:pP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哪些東西會處發哪些事件</a:t>
            </a:r>
            <a:endParaRPr 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1" name="Text Placeholder 18"/>
          <p:cNvSpPr txBox="1">
            <a:spLocks/>
          </p:cNvSpPr>
          <p:nvPr/>
        </p:nvSpPr>
        <p:spPr>
          <a:xfrm>
            <a:off x="2327920" y="4301016"/>
            <a:ext cx="2160240" cy="358966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在每個任務間的過渡期</a:t>
            </a:r>
            <a:endParaRPr lang="en-US" altLang="zh-TW" sz="1200" b="1" dirty="0" smtClean="0">
              <a:solidFill>
                <a:schemeClr val="accent1"/>
              </a:solidFill>
              <a:cs typeface="Arial" pitchFamily="34" charset="0"/>
            </a:endParaRPr>
          </a:p>
          <a:p>
            <a:pPr marL="0" indent="0" algn="ctr">
              <a:buNone/>
            </a:pPr>
            <a:r>
              <a:rPr lang="zh-TW" altLang="en-US" sz="1200" b="1" dirty="0">
                <a:solidFill>
                  <a:schemeClr val="accent1"/>
                </a:solidFill>
                <a:cs typeface="Arial" pitchFamily="34" charset="0"/>
              </a:rPr>
              <a:t>記</a:t>
            </a: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下使用者需求</a:t>
            </a:r>
            <a:endParaRPr lang="en-US" altLang="zh-TW" sz="1200" b="1" dirty="0" smtClean="0">
              <a:solidFill>
                <a:schemeClr val="accent1"/>
              </a:solidFill>
              <a:cs typeface="Arial" pitchFamily="34" charset="0"/>
            </a:endParaRPr>
          </a:p>
          <a:p>
            <a:pPr marL="0" indent="0" algn="ctr">
              <a:buNone/>
            </a:pP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確保這個系統可以順利進</a:t>
            </a:r>
            <a:r>
              <a:rPr lang="zh-TW" altLang="en-US" sz="1200" b="1" dirty="0">
                <a:solidFill>
                  <a:schemeClr val="accent1"/>
                </a:solidFill>
                <a:cs typeface="Arial" pitchFamily="34" charset="0"/>
              </a:rPr>
              <a:t>行</a:t>
            </a:r>
            <a:endParaRPr 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6" name="Text Placeholder 18"/>
          <p:cNvSpPr txBox="1">
            <a:spLocks/>
          </p:cNvSpPr>
          <p:nvPr/>
        </p:nvSpPr>
        <p:spPr>
          <a:xfrm>
            <a:off x="4655195" y="4156074"/>
            <a:ext cx="2161530" cy="62975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使用</a:t>
            </a:r>
            <a:r>
              <a:rPr lang="zh-TW" altLang="en-US" sz="1200" b="1" dirty="0">
                <a:solidFill>
                  <a:schemeClr val="accent1"/>
                </a:solidFill>
                <a:cs typeface="Arial" pitchFamily="34" charset="0"/>
              </a:rPr>
              <a:t>者</a:t>
            </a: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試用後的建議</a:t>
            </a:r>
            <a:endParaRPr lang="en-US" altLang="zh-TW" sz="1200" b="1" dirty="0" smtClean="0">
              <a:solidFill>
                <a:schemeClr val="accent1"/>
              </a:solidFill>
              <a:cs typeface="Arial" pitchFamily="34" charset="0"/>
            </a:endParaRPr>
          </a:p>
          <a:p>
            <a:pPr marL="0" indent="0" algn="ctr">
              <a:buNone/>
            </a:pPr>
            <a:r>
              <a:rPr lang="zh-TW" altLang="en-US" sz="1200" b="1" dirty="0">
                <a:solidFill>
                  <a:schemeClr val="accent1"/>
                </a:solidFill>
                <a:cs typeface="Arial" pitchFamily="34" charset="0"/>
              </a:rPr>
              <a:t>需</a:t>
            </a: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記錄下來用在之後的設計</a:t>
            </a:r>
            <a:endParaRPr lang="en-US" sz="12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1" name="Text Placeholder 18"/>
          <p:cNvSpPr txBox="1">
            <a:spLocks/>
          </p:cNvSpPr>
          <p:nvPr/>
        </p:nvSpPr>
        <p:spPr>
          <a:xfrm>
            <a:off x="6982767" y="4156074"/>
            <a:ext cx="2160885" cy="629755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畫出目前以功能為主的介面</a:t>
            </a:r>
            <a:endParaRPr lang="en-US" altLang="zh-TW" sz="1200" b="1" dirty="0" smtClean="0">
              <a:solidFill>
                <a:schemeClr val="accent1"/>
              </a:solidFill>
              <a:cs typeface="Arial" pitchFamily="34" charset="0"/>
            </a:endParaRPr>
          </a:p>
          <a:p>
            <a:pPr marL="0" indent="0" algn="ctr">
              <a:buNone/>
            </a:pPr>
            <a:r>
              <a:rPr lang="zh-TW" altLang="en-US" sz="1200" b="1" dirty="0" smtClean="0">
                <a:solidFill>
                  <a:schemeClr val="accent1"/>
                </a:solidFill>
                <a:cs typeface="Arial" pitchFamily="34" charset="0"/>
              </a:rPr>
              <a:t>不用太在意</a:t>
            </a:r>
            <a:r>
              <a:rPr lang="zh-TW" altLang="en-US" sz="1200" b="1" dirty="0">
                <a:solidFill>
                  <a:schemeClr val="accent1"/>
                </a:solidFill>
                <a:cs typeface="Arial" pitchFamily="34" charset="0"/>
              </a:rPr>
              <a:t>美觀</a:t>
            </a:r>
            <a:endParaRPr lang="en-US" altLang="zh-TW" sz="1200" b="1" dirty="0" smtClean="0">
              <a:solidFill>
                <a:schemeClr val="accent1"/>
              </a:solidFill>
              <a:cs typeface="Arial" pitchFamily="34" charset="0"/>
            </a:endParaRPr>
          </a:p>
        </p:txBody>
      </p:sp>
      <p:pic>
        <p:nvPicPr>
          <p:cNvPr id="6" name="圖片版面配置區 5"/>
          <p:cNvPicPr>
            <a:picLocks noGrp="1" noChangeAspect="1"/>
          </p:cNvPicPr>
          <p:nvPr>
            <p:ph type="pic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7801"/>
          <a:stretch>
            <a:fillRect/>
          </a:stretch>
        </p:blipFill>
        <p:spPr>
          <a:xfrm>
            <a:off x="0" y="1347639"/>
            <a:ext cx="2160588" cy="2808287"/>
          </a:xfrm>
        </p:spPr>
      </p:pic>
      <p:pic>
        <p:nvPicPr>
          <p:cNvPr id="7" name="圖片版面配置區 6"/>
          <p:cNvPicPr>
            <a:picLocks noGrp="1" noChangeAspect="1"/>
          </p:cNvPicPr>
          <p:nvPr>
            <p:ph type="pic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3" b="7913"/>
          <a:stretch>
            <a:fillRect/>
          </a:stretch>
        </p:blipFill>
        <p:spPr>
          <a:xfrm>
            <a:off x="2327275" y="1347788"/>
            <a:ext cx="2160588" cy="2808287"/>
          </a:xfrm>
        </p:spPr>
      </p:pic>
      <p:pic>
        <p:nvPicPr>
          <p:cNvPr id="9" name="圖片版面配置區 8"/>
          <p:cNvPicPr>
            <a:picLocks noGrp="1" noChangeAspect="1"/>
          </p:cNvPicPr>
          <p:nvPr>
            <p:ph type="pic" idx="1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8" b="8468"/>
          <a:stretch>
            <a:fillRect/>
          </a:stretch>
        </p:blipFill>
        <p:spPr>
          <a:xfrm>
            <a:off x="4656138" y="1347788"/>
            <a:ext cx="2160587" cy="2808287"/>
          </a:xfrm>
        </p:spPr>
      </p:pic>
      <p:pic>
        <p:nvPicPr>
          <p:cNvPr id="10" name="圖片版面配置區 9"/>
          <p:cNvPicPr>
            <a:picLocks noGrp="1" noChangeAspect="1"/>
          </p:cNvPicPr>
          <p:nvPr>
            <p:ph type="pic" idx="1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83" b="9683"/>
          <a:stretch>
            <a:fillRect/>
          </a:stretch>
        </p:blipFill>
        <p:spPr>
          <a:xfrm>
            <a:off x="6983413" y="1347788"/>
            <a:ext cx="2160587" cy="2808287"/>
          </a:xfrm>
        </p:spPr>
      </p:pic>
    </p:spTree>
    <p:extLst>
      <p:ext uri="{BB962C8B-B14F-4D97-AF65-F5344CB8AC3E}">
        <p14:creationId xmlns:p14="http://schemas.microsoft.com/office/powerpoint/2010/main" val="223691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TW" sz="30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Identify pluses and minuses for the low-level vision</a:t>
            </a:r>
            <a:endParaRPr lang="ko-KR" altLang="en-US" sz="3000" dirty="0">
              <a:latin typeface="微軟正黑體 Light" panose="020B0304030504040204" pitchFamily="34" charset="-12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 smtClean="0"/>
              <a:t>Tips about storyboarding process</a:t>
            </a:r>
            <a:endParaRPr lang="en-US" altLang="ko-KR" dirty="0"/>
          </a:p>
        </p:txBody>
      </p:sp>
      <p:grpSp>
        <p:nvGrpSpPr>
          <p:cNvPr id="15" name="Group 14"/>
          <p:cNvGrpSpPr/>
          <p:nvPr/>
        </p:nvGrpSpPr>
        <p:grpSpPr>
          <a:xfrm>
            <a:off x="899592" y="987574"/>
            <a:ext cx="1052368" cy="3696329"/>
            <a:chOff x="4058860" y="987781"/>
            <a:chExt cx="1052368" cy="3696329"/>
          </a:xfrm>
        </p:grpSpPr>
        <p:sp>
          <p:nvSpPr>
            <p:cNvPr id="6" name="Rectangle 8"/>
            <p:cNvSpPr/>
            <p:nvPr/>
          </p:nvSpPr>
          <p:spPr>
            <a:xfrm rot="36931">
              <a:off x="4276045" y="3801165"/>
              <a:ext cx="592195" cy="863021"/>
            </a:xfrm>
            <a:custGeom>
              <a:avLst/>
              <a:gdLst/>
              <a:ahLst/>
              <a:cxnLst/>
              <a:rect l="l" t="t" r="r" b="b"/>
              <a:pathLst>
                <a:path w="1802378" h="1800199">
                  <a:moveTo>
                    <a:pt x="0" y="0"/>
                  </a:moveTo>
                  <a:lnTo>
                    <a:pt x="1802378" y="0"/>
                  </a:lnTo>
                  <a:lnTo>
                    <a:pt x="1802378" y="289727"/>
                  </a:lnTo>
                  <a:lnTo>
                    <a:pt x="1801366" y="289727"/>
                  </a:lnTo>
                  <a:lnTo>
                    <a:pt x="901188" y="1800199"/>
                  </a:lnTo>
                  <a:lnTo>
                    <a:pt x="1012" y="289727"/>
                  </a:lnTo>
                  <a:lnTo>
                    <a:pt x="0" y="289727"/>
                  </a:lnTo>
                  <a:lnTo>
                    <a:pt x="0" y="28803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100000">
                  <a:schemeClr val="accent2">
                    <a:lumMod val="70000"/>
                    <a:lumOff val="3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Rectangle 8"/>
            <p:cNvSpPr/>
            <p:nvPr/>
          </p:nvSpPr>
          <p:spPr>
            <a:xfrm>
              <a:off x="4468857" y="3793500"/>
              <a:ext cx="200342" cy="872829"/>
            </a:xfrm>
            <a:custGeom>
              <a:avLst/>
              <a:gdLst>
                <a:gd name="connsiteX0" fmla="*/ 0 w 1359043"/>
                <a:gd name="connsiteY0" fmla="*/ 0 h 1813992"/>
                <a:gd name="connsiteX1" fmla="*/ 1359043 w 1359043"/>
                <a:gd name="connsiteY1" fmla="*/ 0 h 1813992"/>
                <a:gd name="connsiteX2" fmla="*/ 1359043 w 1359043"/>
                <a:gd name="connsiteY2" fmla="*/ 212596 h 1813992"/>
                <a:gd name="connsiteX3" fmla="*/ 806822 w 1359043"/>
                <a:gd name="connsiteY3" fmla="*/ 1813992 h 1813992"/>
                <a:gd name="connsiteX4" fmla="*/ 1012 w 1359043"/>
                <a:gd name="connsiteY4" fmla="*/ 289727 h 1813992"/>
                <a:gd name="connsiteX5" fmla="*/ 0 w 1359043"/>
                <a:gd name="connsiteY5" fmla="*/ 289727 h 1813992"/>
                <a:gd name="connsiteX6" fmla="*/ 0 w 1359043"/>
                <a:gd name="connsiteY6" fmla="*/ 288030 h 1813992"/>
                <a:gd name="connsiteX7" fmla="*/ 0 w 1359043"/>
                <a:gd name="connsiteY7" fmla="*/ 0 h 1813992"/>
                <a:gd name="connsiteX0" fmla="*/ 0 w 1359043"/>
                <a:gd name="connsiteY0" fmla="*/ 0 h 1820658"/>
                <a:gd name="connsiteX1" fmla="*/ 1359043 w 1359043"/>
                <a:gd name="connsiteY1" fmla="*/ 0 h 1820658"/>
                <a:gd name="connsiteX2" fmla="*/ 1359043 w 1359043"/>
                <a:gd name="connsiteY2" fmla="*/ 212596 h 1820658"/>
                <a:gd name="connsiteX3" fmla="*/ 720119 w 1359043"/>
                <a:gd name="connsiteY3" fmla="*/ 1820658 h 1820658"/>
                <a:gd name="connsiteX4" fmla="*/ 1012 w 1359043"/>
                <a:gd name="connsiteY4" fmla="*/ 289727 h 1820658"/>
                <a:gd name="connsiteX5" fmla="*/ 0 w 1359043"/>
                <a:gd name="connsiteY5" fmla="*/ 289727 h 1820658"/>
                <a:gd name="connsiteX6" fmla="*/ 0 w 1359043"/>
                <a:gd name="connsiteY6" fmla="*/ 288030 h 1820658"/>
                <a:gd name="connsiteX7" fmla="*/ 0 w 1359043"/>
                <a:gd name="connsiteY7" fmla="*/ 0 h 1820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9043" h="1820658">
                  <a:moveTo>
                    <a:pt x="0" y="0"/>
                  </a:moveTo>
                  <a:lnTo>
                    <a:pt x="1359043" y="0"/>
                  </a:lnTo>
                  <a:lnTo>
                    <a:pt x="1359043" y="212596"/>
                  </a:lnTo>
                  <a:lnTo>
                    <a:pt x="720119" y="1820658"/>
                  </a:lnTo>
                  <a:lnTo>
                    <a:pt x="1012" y="289727"/>
                  </a:lnTo>
                  <a:lnTo>
                    <a:pt x="0" y="289727"/>
                  </a:lnTo>
                  <a:lnTo>
                    <a:pt x="0" y="28803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2"/>
            <p:cNvSpPr/>
            <p:nvPr/>
          </p:nvSpPr>
          <p:spPr>
            <a:xfrm>
              <a:off x="4291066" y="1891296"/>
              <a:ext cx="196906" cy="2011393"/>
            </a:xfrm>
            <a:custGeom>
              <a:avLst/>
              <a:gdLst/>
              <a:ahLst/>
              <a:cxnLst/>
              <a:rect l="l" t="t" r="r" b="b"/>
              <a:pathLst>
                <a:path w="196906" h="2011393">
                  <a:moveTo>
                    <a:pt x="0" y="0"/>
                  </a:moveTo>
                  <a:lnTo>
                    <a:pt x="99616" y="0"/>
                  </a:lnTo>
                  <a:lnTo>
                    <a:pt x="196906" y="63491"/>
                  </a:lnTo>
                  <a:lnTo>
                    <a:pt x="196906" y="2011393"/>
                  </a:lnTo>
                  <a:lnTo>
                    <a:pt x="193201" y="2011393"/>
                  </a:lnTo>
                  <a:cubicBezTo>
                    <a:pt x="183184" y="1954476"/>
                    <a:pt x="144512" y="1912472"/>
                    <a:pt x="98453" y="1912472"/>
                  </a:cubicBezTo>
                  <a:cubicBezTo>
                    <a:pt x="52394" y="1912472"/>
                    <a:pt x="13723" y="1954476"/>
                    <a:pt x="3706" y="2011393"/>
                  </a:cubicBezTo>
                  <a:lnTo>
                    <a:pt x="0" y="2011393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2"/>
            <p:cNvSpPr/>
            <p:nvPr/>
          </p:nvSpPr>
          <p:spPr>
            <a:xfrm>
              <a:off x="4486591" y="1953886"/>
              <a:ext cx="196906" cy="1950905"/>
            </a:xfrm>
            <a:custGeom>
              <a:avLst/>
              <a:gdLst/>
              <a:ahLst/>
              <a:cxnLst/>
              <a:rect l="l" t="t" r="r" b="b"/>
              <a:pathLst>
                <a:path w="196906" h="1950905">
                  <a:moveTo>
                    <a:pt x="0" y="0"/>
                  </a:moveTo>
                  <a:lnTo>
                    <a:pt x="101941" y="66527"/>
                  </a:lnTo>
                  <a:lnTo>
                    <a:pt x="196906" y="4552"/>
                  </a:lnTo>
                  <a:lnTo>
                    <a:pt x="196906" y="1950905"/>
                  </a:lnTo>
                  <a:lnTo>
                    <a:pt x="193201" y="1950905"/>
                  </a:lnTo>
                  <a:cubicBezTo>
                    <a:pt x="183184" y="1893988"/>
                    <a:pt x="144512" y="1851984"/>
                    <a:pt x="98453" y="1851984"/>
                  </a:cubicBezTo>
                  <a:cubicBezTo>
                    <a:pt x="52394" y="1851984"/>
                    <a:pt x="13723" y="1893988"/>
                    <a:pt x="3706" y="1950905"/>
                  </a:cubicBezTo>
                  <a:lnTo>
                    <a:pt x="0" y="195090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lumOff val="50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2"/>
            <p:cNvSpPr/>
            <p:nvPr/>
          </p:nvSpPr>
          <p:spPr>
            <a:xfrm>
              <a:off x="4683483" y="1895514"/>
              <a:ext cx="196906" cy="2011393"/>
            </a:xfrm>
            <a:custGeom>
              <a:avLst/>
              <a:gdLst/>
              <a:ahLst/>
              <a:cxnLst/>
              <a:rect l="l" t="t" r="r" b="b"/>
              <a:pathLst>
                <a:path w="196906" h="2011393">
                  <a:moveTo>
                    <a:pt x="96435" y="0"/>
                  </a:moveTo>
                  <a:lnTo>
                    <a:pt x="196906" y="0"/>
                  </a:lnTo>
                  <a:lnTo>
                    <a:pt x="196906" y="2011393"/>
                  </a:lnTo>
                  <a:lnTo>
                    <a:pt x="193201" y="2011393"/>
                  </a:lnTo>
                  <a:cubicBezTo>
                    <a:pt x="183184" y="1954476"/>
                    <a:pt x="144512" y="1912472"/>
                    <a:pt x="98453" y="1912472"/>
                  </a:cubicBezTo>
                  <a:cubicBezTo>
                    <a:pt x="52394" y="1912472"/>
                    <a:pt x="13723" y="1954476"/>
                    <a:pt x="3706" y="2011393"/>
                  </a:cubicBezTo>
                  <a:lnTo>
                    <a:pt x="0" y="2011393"/>
                  </a:lnTo>
                  <a:lnTo>
                    <a:pt x="0" y="629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Isosceles Triangle 10"/>
            <p:cNvSpPr/>
            <p:nvPr/>
          </p:nvSpPr>
          <p:spPr>
            <a:xfrm rot="10800000">
              <a:off x="4468813" y="4423239"/>
              <a:ext cx="196906" cy="260871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9" name="Parallelogram 15"/>
            <p:cNvSpPr/>
            <p:nvPr/>
          </p:nvSpPr>
          <p:spPr>
            <a:xfrm rot="16200000">
              <a:off x="4098945" y="947696"/>
              <a:ext cx="972197" cy="1052368"/>
            </a:xfrm>
            <a:custGeom>
              <a:avLst/>
              <a:gdLst/>
              <a:ahLst/>
              <a:cxnLst/>
              <a:rect l="l" t="t" r="r" b="b"/>
              <a:pathLst>
                <a:path w="2993176" h="3240001">
                  <a:moveTo>
                    <a:pt x="1299907" y="647892"/>
                  </a:moveTo>
                  <a:lnTo>
                    <a:pt x="665509" y="1620000"/>
                  </a:lnTo>
                  <a:lnTo>
                    <a:pt x="1299907" y="2592108"/>
                  </a:lnTo>
                  <a:lnTo>
                    <a:pt x="634398" y="2592108"/>
                  </a:lnTo>
                  <a:lnTo>
                    <a:pt x="0" y="1620000"/>
                  </a:lnTo>
                  <a:lnTo>
                    <a:pt x="634398" y="647892"/>
                  </a:lnTo>
                  <a:close/>
                  <a:moveTo>
                    <a:pt x="2993176" y="1620001"/>
                  </a:moveTo>
                  <a:lnTo>
                    <a:pt x="1913056" y="3240001"/>
                  </a:lnTo>
                  <a:lnTo>
                    <a:pt x="1782206" y="3043749"/>
                  </a:lnTo>
                  <a:lnTo>
                    <a:pt x="1110064" y="3043749"/>
                  </a:lnTo>
                  <a:cubicBezTo>
                    <a:pt x="1089036" y="3096599"/>
                    <a:pt x="1037333" y="3133759"/>
                    <a:pt x="976952" y="3133759"/>
                  </a:cubicBezTo>
                  <a:cubicBezTo>
                    <a:pt x="923853" y="3133759"/>
                    <a:pt x="877466" y="3105022"/>
                    <a:pt x="854540" y="3061058"/>
                  </a:cubicBezTo>
                  <a:lnTo>
                    <a:pt x="302383" y="3169763"/>
                  </a:lnTo>
                  <a:lnTo>
                    <a:pt x="302383" y="2809723"/>
                  </a:lnTo>
                  <a:lnTo>
                    <a:pt x="854540" y="2918427"/>
                  </a:lnTo>
                  <a:cubicBezTo>
                    <a:pt x="877466" y="2874463"/>
                    <a:pt x="923853" y="2845727"/>
                    <a:pt x="976952" y="2845727"/>
                  </a:cubicBezTo>
                  <a:cubicBezTo>
                    <a:pt x="1037333" y="2845727"/>
                    <a:pt x="1089036" y="2882887"/>
                    <a:pt x="1110064" y="2935737"/>
                  </a:cubicBezTo>
                  <a:lnTo>
                    <a:pt x="1710190" y="2935737"/>
                  </a:lnTo>
                  <a:lnTo>
                    <a:pt x="832936" y="1620001"/>
                  </a:lnTo>
                  <a:lnTo>
                    <a:pt x="1913056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" name="群組 3"/>
          <p:cNvGrpSpPr/>
          <p:nvPr/>
        </p:nvGrpSpPr>
        <p:grpSpPr>
          <a:xfrm>
            <a:off x="2051718" y="1997340"/>
            <a:ext cx="5616626" cy="360000"/>
            <a:chOff x="2051719" y="1997340"/>
            <a:chExt cx="3705952" cy="360000"/>
          </a:xfrm>
        </p:grpSpPr>
        <p:sp>
          <p:nvSpPr>
            <p:cNvPr id="20" name="Rectangle 19"/>
            <p:cNvSpPr/>
            <p:nvPr/>
          </p:nvSpPr>
          <p:spPr>
            <a:xfrm>
              <a:off x="2051720" y="1997340"/>
              <a:ext cx="3705951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051719" y="2029239"/>
              <a:ext cx="37059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不需要太在意語言、圖示，只要著重在功能方面，</a:t>
              </a:r>
              <a:r>
                <a:rPr lang="en-US" altLang="zh-TW" sz="1400" b="1" dirty="0" smtClean="0">
                  <a:solidFill>
                    <a:schemeClr val="bg1"/>
                  </a:solidFill>
                  <a:cs typeface="Arial" pitchFamily="34" charset="0"/>
                </a:rPr>
                <a:t>UI</a:t>
              </a:r>
              <a:r>
                <a:rPr lang="zh-TW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日後還會再修改。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5" name="群組 4"/>
          <p:cNvGrpSpPr/>
          <p:nvPr/>
        </p:nvGrpSpPr>
        <p:grpSpPr>
          <a:xfrm>
            <a:off x="2051719" y="2728921"/>
            <a:ext cx="4248474" cy="360000"/>
            <a:chOff x="2051719" y="2728921"/>
            <a:chExt cx="3705952" cy="360000"/>
          </a:xfrm>
        </p:grpSpPr>
        <p:sp>
          <p:nvSpPr>
            <p:cNvPr id="22" name="Rectangle 21"/>
            <p:cNvSpPr/>
            <p:nvPr/>
          </p:nvSpPr>
          <p:spPr>
            <a:xfrm>
              <a:off x="2051720" y="2728921"/>
              <a:ext cx="3705951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051719" y="2739135"/>
              <a:ext cx="37059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如果在畫的時候遇到困難，往回看</a:t>
              </a:r>
              <a:r>
                <a:rPr lang="en-US" altLang="zh-TW" sz="1400" b="1" dirty="0" smtClean="0">
                  <a:solidFill>
                    <a:schemeClr val="bg1"/>
                  </a:solidFill>
                  <a:cs typeface="Arial" pitchFamily="34" charset="0"/>
                </a:rPr>
                <a:t>low-level</a:t>
              </a:r>
              <a:r>
                <a:rPr lang="zh-TW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US" altLang="zh-TW" sz="1400" b="1" dirty="0" smtClean="0">
                  <a:solidFill>
                    <a:schemeClr val="bg1"/>
                  </a:solidFill>
                  <a:cs typeface="Arial" pitchFamily="34" charset="0"/>
                </a:rPr>
                <a:t>vision</a:t>
              </a:r>
              <a:r>
                <a:rPr lang="zh-TW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。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2051718" y="3474044"/>
            <a:ext cx="5976665" cy="575665"/>
            <a:chOff x="2051719" y="3474044"/>
            <a:chExt cx="3705952" cy="575665"/>
          </a:xfrm>
        </p:grpSpPr>
        <p:sp>
          <p:nvSpPr>
            <p:cNvPr id="23" name="Rectangle 22"/>
            <p:cNvSpPr/>
            <p:nvPr/>
          </p:nvSpPr>
          <p:spPr>
            <a:xfrm>
              <a:off x="2051720" y="3474044"/>
              <a:ext cx="3705951" cy="36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051719" y="3526489"/>
              <a:ext cx="37059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過程中你遇到的困難也有可能是使用者日後會遇到的困難，所以必須解決。</a:t>
              </a:r>
              <a:endParaRPr lang="ko-KR" altLang="en-US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326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123478"/>
            <a:ext cx="9144000" cy="576064"/>
          </a:xfrm>
        </p:spPr>
        <p:txBody>
          <a:bodyPr/>
          <a:lstStyle/>
          <a:p>
            <a:r>
              <a:rPr lang="en-US" altLang="ko-KR" sz="2900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Check storyboard against the consolidated sequence</a:t>
            </a:r>
            <a:endParaRPr lang="ko-KR" altLang="en-US" sz="2900" b="1" dirty="0">
              <a:solidFill>
                <a:schemeClr val="tx1"/>
              </a:solidFill>
              <a:latin typeface="微軟正黑體 Light" panose="020B03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75656" y="1959657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最後一</a:t>
            </a:r>
            <a:r>
              <a:rPr lang="zh-TW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次</a:t>
            </a:r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確認你的</a:t>
            </a:r>
            <a:r>
              <a:rPr lang="en-US" altLang="zh-TW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storyboard</a:t>
            </a:r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跟流程是否有可以用一樣的步驟達到一樣使用者的需求</a:t>
            </a:r>
            <a:r>
              <a:rPr lang="en-US" altLang="zh-TW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?</a:t>
            </a:r>
          </a:p>
          <a:p>
            <a:pPr algn="ctr"/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或是也可以增</a:t>
            </a:r>
            <a:r>
              <a:rPr lang="zh-TW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加</a:t>
            </a:r>
            <a:r>
              <a:rPr lang="zh-TW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新的步驟、技術，只要不要破壞這次的工程</a:t>
            </a:r>
            <a:endParaRPr lang="en-US" altLang="zh-TW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cs typeface="Arial" pitchFamily="34" charset="0"/>
            </a:endParaRPr>
          </a:p>
          <a:p>
            <a:pPr algn="ctr"/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9592" y="1059582"/>
            <a:ext cx="745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“</a:t>
            </a:r>
            <a:endParaRPr lang="ko-KR" altLang="en-US" sz="96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10800000">
            <a:off x="7452320" y="1290122"/>
            <a:ext cx="7453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6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“</a:t>
            </a:r>
            <a:endParaRPr lang="ko-KR" altLang="en-US" sz="9600" b="1" dirty="0">
              <a:solidFill>
                <a:schemeClr val="accent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 smtClean="0"/>
              <a:t>Last pass quality check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568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z="3000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Share the storyboard</a:t>
            </a:r>
            <a:endParaRPr lang="ko-KR" altLang="en-US" sz="3000" b="1" dirty="0">
              <a:solidFill>
                <a:schemeClr val="tx1"/>
              </a:solidFill>
              <a:latin typeface="微軟正黑體 Light" panose="020B0304030504040204" pitchFamily="34" charset="-12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60398" y="1296560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Oval 7"/>
          <p:cNvSpPr/>
          <p:nvPr/>
        </p:nvSpPr>
        <p:spPr>
          <a:xfrm>
            <a:off x="5964454" y="30107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Oval 8"/>
          <p:cNvSpPr/>
          <p:nvPr/>
        </p:nvSpPr>
        <p:spPr>
          <a:xfrm>
            <a:off x="5964454" y="2153671"/>
            <a:ext cx="648072" cy="648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Oval 9"/>
          <p:cNvSpPr/>
          <p:nvPr/>
        </p:nvSpPr>
        <p:spPr>
          <a:xfrm>
            <a:off x="5460398" y="3867894"/>
            <a:ext cx="648072" cy="648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1" name="Rectangle 9"/>
          <p:cNvSpPr/>
          <p:nvPr/>
        </p:nvSpPr>
        <p:spPr>
          <a:xfrm>
            <a:off x="6127163" y="2326690"/>
            <a:ext cx="322655" cy="30203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6"/>
          <p:cNvSpPr/>
          <p:nvPr/>
        </p:nvSpPr>
        <p:spPr>
          <a:xfrm rot="2700000">
            <a:off x="6166266" y="3115694"/>
            <a:ext cx="244448" cy="438249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Parallelogram 15"/>
          <p:cNvSpPr/>
          <p:nvPr/>
        </p:nvSpPr>
        <p:spPr>
          <a:xfrm rot="16200000">
            <a:off x="5607057" y="1428593"/>
            <a:ext cx="354753" cy="384007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Round Same Side Corner Rectangle 6"/>
          <p:cNvSpPr>
            <a:spLocks noChangeAspect="1"/>
          </p:cNvSpPr>
          <p:nvPr/>
        </p:nvSpPr>
        <p:spPr>
          <a:xfrm rot="2700000">
            <a:off x="5729712" y="3972543"/>
            <a:ext cx="109444" cy="438775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Oval 14"/>
          <p:cNvSpPr/>
          <p:nvPr/>
        </p:nvSpPr>
        <p:spPr>
          <a:xfrm flipH="1">
            <a:off x="2875339" y="1296560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6" name="Oval 15"/>
          <p:cNvSpPr/>
          <p:nvPr/>
        </p:nvSpPr>
        <p:spPr>
          <a:xfrm flipH="1">
            <a:off x="2371283" y="30107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" name="Oval 16"/>
          <p:cNvSpPr/>
          <p:nvPr/>
        </p:nvSpPr>
        <p:spPr>
          <a:xfrm flipH="1">
            <a:off x="2371283" y="2153671"/>
            <a:ext cx="648072" cy="648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Oval 17"/>
          <p:cNvSpPr/>
          <p:nvPr/>
        </p:nvSpPr>
        <p:spPr>
          <a:xfrm flipH="1">
            <a:off x="2875339" y="3867894"/>
            <a:ext cx="648072" cy="64807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9" name="Rectangle 9"/>
          <p:cNvSpPr/>
          <p:nvPr/>
        </p:nvSpPr>
        <p:spPr>
          <a:xfrm flipH="1">
            <a:off x="2533991" y="2326690"/>
            <a:ext cx="322655" cy="302034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16"/>
          <p:cNvSpPr/>
          <p:nvPr/>
        </p:nvSpPr>
        <p:spPr>
          <a:xfrm rot="18900000" flipH="1">
            <a:off x="2573095" y="3115694"/>
            <a:ext cx="244448" cy="438249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Parallelogram 15"/>
          <p:cNvSpPr/>
          <p:nvPr/>
        </p:nvSpPr>
        <p:spPr>
          <a:xfrm rot="5400000" flipH="1">
            <a:off x="3021999" y="1428593"/>
            <a:ext cx="354753" cy="384007"/>
          </a:xfrm>
          <a:custGeom>
            <a:avLst/>
            <a:gdLst/>
            <a:ahLst/>
            <a:cxnLst/>
            <a:rect l="l" t="t" r="r" b="b"/>
            <a:pathLst>
              <a:path w="2993176" h="3240001">
                <a:moveTo>
                  <a:pt x="1299907" y="647892"/>
                </a:moveTo>
                <a:lnTo>
                  <a:pt x="665509" y="1620000"/>
                </a:lnTo>
                <a:lnTo>
                  <a:pt x="1299907" y="2592108"/>
                </a:lnTo>
                <a:lnTo>
                  <a:pt x="634398" y="2592108"/>
                </a:lnTo>
                <a:lnTo>
                  <a:pt x="0" y="1620000"/>
                </a:lnTo>
                <a:lnTo>
                  <a:pt x="634398" y="647892"/>
                </a:lnTo>
                <a:close/>
                <a:moveTo>
                  <a:pt x="2993176" y="1620001"/>
                </a:moveTo>
                <a:lnTo>
                  <a:pt x="1913056" y="3240001"/>
                </a:lnTo>
                <a:lnTo>
                  <a:pt x="1782206" y="3043749"/>
                </a:lnTo>
                <a:lnTo>
                  <a:pt x="1110064" y="3043749"/>
                </a:lnTo>
                <a:cubicBezTo>
                  <a:pt x="1089036" y="3096599"/>
                  <a:pt x="1037333" y="3133759"/>
                  <a:pt x="976952" y="3133759"/>
                </a:cubicBezTo>
                <a:cubicBezTo>
                  <a:pt x="923853" y="3133759"/>
                  <a:pt x="877466" y="3105022"/>
                  <a:pt x="854540" y="3061058"/>
                </a:cubicBezTo>
                <a:lnTo>
                  <a:pt x="302383" y="3169763"/>
                </a:lnTo>
                <a:lnTo>
                  <a:pt x="302383" y="2809723"/>
                </a:lnTo>
                <a:lnTo>
                  <a:pt x="854540" y="2918427"/>
                </a:lnTo>
                <a:cubicBezTo>
                  <a:pt x="877466" y="2874463"/>
                  <a:pt x="923853" y="2845727"/>
                  <a:pt x="976952" y="2845727"/>
                </a:cubicBezTo>
                <a:cubicBezTo>
                  <a:pt x="1037333" y="2845727"/>
                  <a:pt x="1089036" y="2882887"/>
                  <a:pt x="1110064" y="2935737"/>
                </a:cubicBezTo>
                <a:lnTo>
                  <a:pt x="1710190" y="2935737"/>
                </a:lnTo>
                <a:lnTo>
                  <a:pt x="832936" y="1620001"/>
                </a:lnTo>
                <a:lnTo>
                  <a:pt x="191305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2" name="Round Same Side Corner Rectangle 6"/>
          <p:cNvSpPr>
            <a:spLocks noChangeAspect="1"/>
          </p:cNvSpPr>
          <p:nvPr/>
        </p:nvSpPr>
        <p:spPr>
          <a:xfrm rot="18900000" flipH="1">
            <a:off x="3144653" y="3972543"/>
            <a:ext cx="109444" cy="438775"/>
          </a:xfrm>
          <a:custGeom>
            <a:avLst/>
            <a:gdLst/>
            <a:ahLst/>
            <a:cxnLst/>
            <a:rect l="l" t="t" r="r" b="b"/>
            <a:pathLst>
              <a:path w="1035916" h="4153123">
                <a:moveTo>
                  <a:pt x="277501" y="3759099"/>
                </a:moveTo>
                <a:lnTo>
                  <a:pt x="758408" y="3759099"/>
                </a:lnTo>
                <a:lnTo>
                  <a:pt x="517954" y="4153123"/>
                </a:lnTo>
                <a:close/>
                <a:moveTo>
                  <a:pt x="42612" y="2944898"/>
                </a:moveTo>
                <a:cubicBezTo>
                  <a:pt x="153922" y="2941505"/>
                  <a:pt x="246502" y="2889483"/>
                  <a:pt x="275675" y="2819018"/>
                </a:cubicBezTo>
                <a:cubicBezTo>
                  <a:pt x="304648" y="2892614"/>
                  <a:pt x="403763" y="2945872"/>
                  <a:pt x="521107" y="2945872"/>
                </a:cubicBezTo>
                <a:cubicBezTo>
                  <a:pt x="638453" y="2945872"/>
                  <a:pt x="737567" y="2892613"/>
                  <a:pt x="766540" y="2819017"/>
                </a:cubicBezTo>
                <a:cubicBezTo>
                  <a:pt x="795133" y="2888142"/>
                  <a:pt x="884783" y="2939514"/>
                  <a:pt x="993299" y="2944464"/>
                </a:cubicBezTo>
                <a:lnTo>
                  <a:pt x="776840" y="3657264"/>
                </a:lnTo>
                <a:lnTo>
                  <a:pt x="258940" y="3657264"/>
                </a:lnTo>
                <a:close/>
                <a:moveTo>
                  <a:pt x="809102" y="564558"/>
                </a:moveTo>
                <a:lnTo>
                  <a:pt x="1035914" y="564558"/>
                </a:lnTo>
                <a:lnTo>
                  <a:pt x="1035915" y="2838682"/>
                </a:lnTo>
                <a:cubicBezTo>
                  <a:pt x="1029586" y="2840409"/>
                  <a:pt x="1023074" y="2840731"/>
                  <a:pt x="1016490" y="2840731"/>
                </a:cubicBezTo>
                <a:cubicBezTo>
                  <a:pt x="901952" y="2840731"/>
                  <a:pt x="809102" y="2743612"/>
                  <a:pt x="809101" y="2623810"/>
                </a:cubicBezTo>
                <a:close/>
                <a:moveTo>
                  <a:pt x="310569" y="564558"/>
                </a:moveTo>
                <a:lnTo>
                  <a:pt x="725347" y="564558"/>
                </a:lnTo>
                <a:lnTo>
                  <a:pt x="725347" y="2633342"/>
                </a:lnTo>
                <a:cubicBezTo>
                  <a:pt x="725347" y="2747880"/>
                  <a:pt x="632496" y="2840731"/>
                  <a:pt x="517958" y="2840731"/>
                </a:cubicBezTo>
                <a:cubicBezTo>
                  <a:pt x="403420" y="2840731"/>
                  <a:pt x="310569" y="2747880"/>
                  <a:pt x="310569" y="2633342"/>
                </a:cubicBezTo>
                <a:close/>
                <a:moveTo>
                  <a:pt x="0" y="564557"/>
                </a:moveTo>
                <a:lnTo>
                  <a:pt x="226813" y="564557"/>
                </a:lnTo>
                <a:lnTo>
                  <a:pt x="226813" y="2623810"/>
                </a:lnTo>
                <a:cubicBezTo>
                  <a:pt x="226813" y="2743612"/>
                  <a:pt x="133962" y="2840731"/>
                  <a:pt x="19424" y="2840730"/>
                </a:cubicBezTo>
                <a:cubicBezTo>
                  <a:pt x="12841" y="2840730"/>
                  <a:pt x="6329" y="2840409"/>
                  <a:pt x="0" y="2838682"/>
                </a:cubicBezTo>
                <a:close/>
                <a:moveTo>
                  <a:pt x="71964" y="71964"/>
                </a:moveTo>
                <a:cubicBezTo>
                  <a:pt x="116427" y="27501"/>
                  <a:pt x="177852" y="0"/>
                  <a:pt x="245701" y="0"/>
                </a:cubicBezTo>
                <a:lnTo>
                  <a:pt x="790215" y="0"/>
                </a:lnTo>
                <a:cubicBezTo>
                  <a:pt x="925912" y="0"/>
                  <a:pt x="1035916" y="110004"/>
                  <a:pt x="1035916" y="245701"/>
                </a:cubicBezTo>
                <a:cubicBezTo>
                  <a:pt x="1035916" y="327601"/>
                  <a:pt x="1035915" y="409501"/>
                  <a:pt x="1035915" y="491401"/>
                </a:cubicBezTo>
                <a:lnTo>
                  <a:pt x="0" y="491401"/>
                </a:lnTo>
                <a:lnTo>
                  <a:pt x="0" y="245701"/>
                </a:lnTo>
                <a:cubicBezTo>
                  <a:pt x="0" y="177853"/>
                  <a:pt x="27501" y="116427"/>
                  <a:pt x="71964" y="7196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947421" y="1472725"/>
            <a:ext cx="18890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遺漏或是讓人疑惑的想法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7009" y="2336083"/>
            <a:ext cx="17530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違反使用者習慣的步驟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7544" y="3199441"/>
            <a:ext cx="18524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各自的</a:t>
            </a:r>
            <a:r>
              <a:rPr lang="en-US" altLang="zh-TW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vision</a:t>
            </a:r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是否有矛盾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59632" y="4053569"/>
            <a:ext cx="16157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  <a:cs typeface="Arial" pitchFamily="34" charset="0"/>
              </a:rPr>
              <a:t>是否有能改進的地方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  <a:cs typeface="Arial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7162" y="1472725"/>
            <a:ext cx="9672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技術可行性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12526" y="2344728"/>
            <a:ext cx="1422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是否違反企業流程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12526" y="3199441"/>
            <a:ext cx="1926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是否使企業任務不一致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27162" y="4053569"/>
            <a:ext cx="12745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使用者的接受度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9" name="Freeform 9">
            <a:extLst>
              <a:ext uri="{FF2B5EF4-FFF2-40B4-BE49-F238E27FC236}">
                <a16:creationId xmlns:a16="http://schemas.microsoft.com/office/drawing/2014/main" id="{B26EBCD2-4BC1-4A3D-B36A-8AAF3F123BDA}"/>
              </a:ext>
            </a:extLst>
          </p:cNvPr>
          <p:cNvSpPr>
            <a:spLocks/>
          </p:cNvSpPr>
          <p:nvPr/>
        </p:nvSpPr>
        <p:spPr bwMode="auto">
          <a:xfrm>
            <a:off x="4570917" y="1537088"/>
            <a:ext cx="765102" cy="2729660"/>
          </a:xfrm>
          <a:custGeom>
            <a:avLst/>
            <a:gdLst>
              <a:gd name="T0" fmla="*/ 453 w 768"/>
              <a:gd name="T1" fmla="*/ 45 h 2740"/>
              <a:gd name="T2" fmla="*/ 508 w 768"/>
              <a:gd name="T3" fmla="*/ 200 h 2740"/>
              <a:gd name="T4" fmla="*/ 464 w 768"/>
              <a:gd name="T5" fmla="*/ 287 h 2740"/>
              <a:gd name="T6" fmla="*/ 479 w 768"/>
              <a:gd name="T7" fmla="*/ 389 h 2740"/>
              <a:gd name="T8" fmla="*/ 628 w 768"/>
              <a:gd name="T9" fmla="*/ 445 h 2740"/>
              <a:gd name="T10" fmla="*/ 691 w 768"/>
              <a:gd name="T11" fmla="*/ 583 h 2740"/>
              <a:gd name="T12" fmla="*/ 719 w 768"/>
              <a:gd name="T13" fmla="*/ 858 h 2740"/>
              <a:gd name="T14" fmla="*/ 748 w 768"/>
              <a:gd name="T15" fmla="*/ 1287 h 2740"/>
              <a:gd name="T16" fmla="*/ 768 w 768"/>
              <a:gd name="T17" fmla="*/ 1416 h 2740"/>
              <a:gd name="T18" fmla="*/ 713 w 768"/>
              <a:gd name="T19" fmla="*/ 1478 h 2740"/>
              <a:gd name="T20" fmla="*/ 677 w 768"/>
              <a:gd name="T21" fmla="*/ 1427 h 2740"/>
              <a:gd name="T22" fmla="*/ 691 w 768"/>
              <a:gd name="T23" fmla="*/ 1320 h 2740"/>
              <a:gd name="T24" fmla="*/ 639 w 768"/>
              <a:gd name="T25" fmla="*/ 934 h 2740"/>
              <a:gd name="T26" fmla="*/ 595 w 768"/>
              <a:gd name="T27" fmla="*/ 745 h 2740"/>
              <a:gd name="T28" fmla="*/ 555 w 768"/>
              <a:gd name="T29" fmla="*/ 792 h 2740"/>
              <a:gd name="T30" fmla="*/ 535 w 768"/>
              <a:gd name="T31" fmla="*/ 947 h 2740"/>
              <a:gd name="T32" fmla="*/ 611 w 768"/>
              <a:gd name="T33" fmla="*/ 1125 h 2740"/>
              <a:gd name="T34" fmla="*/ 639 w 768"/>
              <a:gd name="T35" fmla="*/ 1351 h 2740"/>
              <a:gd name="T36" fmla="*/ 617 w 768"/>
              <a:gd name="T37" fmla="*/ 1912 h 2740"/>
              <a:gd name="T38" fmla="*/ 544 w 768"/>
              <a:gd name="T39" fmla="*/ 2387 h 2740"/>
              <a:gd name="T40" fmla="*/ 559 w 768"/>
              <a:gd name="T41" fmla="*/ 2711 h 2740"/>
              <a:gd name="T42" fmla="*/ 455 w 768"/>
              <a:gd name="T43" fmla="*/ 2687 h 2740"/>
              <a:gd name="T44" fmla="*/ 451 w 768"/>
              <a:gd name="T45" fmla="*/ 2523 h 2740"/>
              <a:gd name="T46" fmla="*/ 468 w 768"/>
              <a:gd name="T47" fmla="*/ 2363 h 2740"/>
              <a:gd name="T48" fmla="*/ 448 w 768"/>
              <a:gd name="T49" fmla="*/ 2136 h 2740"/>
              <a:gd name="T50" fmla="*/ 455 w 768"/>
              <a:gd name="T51" fmla="*/ 1894 h 2740"/>
              <a:gd name="T52" fmla="*/ 406 w 768"/>
              <a:gd name="T53" fmla="*/ 1598 h 2740"/>
              <a:gd name="T54" fmla="*/ 351 w 768"/>
              <a:gd name="T55" fmla="*/ 1680 h 2740"/>
              <a:gd name="T56" fmla="*/ 330 w 768"/>
              <a:gd name="T57" fmla="*/ 2018 h 2740"/>
              <a:gd name="T58" fmla="*/ 310 w 768"/>
              <a:gd name="T59" fmla="*/ 2223 h 2740"/>
              <a:gd name="T60" fmla="*/ 308 w 768"/>
              <a:gd name="T61" fmla="*/ 2411 h 2740"/>
              <a:gd name="T62" fmla="*/ 324 w 768"/>
              <a:gd name="T63" fmla="*/ 2647 h 2740"/>
              <a:gd name="T64" fmla="*/ 253 w 768"/>
              <a:gd name="T65" fmla="*/ 2729 h 2740"/>
              <a:gd name="T66" fmla="*/ 217 w 768"/>
              <a:gd name="T67" fmla="*/ 2616 h 2740"/>
              <a:gd name="T68" fmla="*/ 231 w 768"/>
              <a:gd name="T69" fmla="*/ 2376 h 2740"/>
              <a:gd name="T70" fmla="*/ 180 w 768"/>
              <a:gd name="T71" fmla="*/ 2118 h 2740"/>
              <a:gd name="T72" fmla="*/ 168 w 768"/>
              <a:gd name="T73" fmla="*/ 1867 h 2740"/>
              <a:gd name="T74" fmla="*/ 175 w 768"/>
              <a:gd name="T75" fmla="*/ 1607 h 2740"/>
              <a:gd name="T76" fmla="*/ 126 w 768"/>
              <a:gd name="T77" fmla="*/ 1363 h 2740"/>
              <a:gd name="T78" fmla="*/ 166 w 768"/>
              <a:gd name="T79" fmla="*/ 1107 h 2740"/>
              <a:gd name="T80" fmla="*/ 235 w 768"/>
              <a:gd name="T81" fmla="*/ 869 h 2740"/>
              <a:gd name="T82" fmla="*/ 182 w 768"/>
              <a:gd name="T83" fmla="*/ 711 h 2740"/>
              <a:gd name="T84" fmla="*/ 128 w 768"/>
              <a:gd name="T85" fmla="*/ 931 h 2740"/>
              <a:gd name="T86" fmla="*/ 119 w 768"/>
              <a:gd name="T87" fmla="*/ 1111 h 2740"/>
              <a:gd name="T88" fmla="*/ 64 w 768"/>
              <a:gd name="T89" fmla="*/ 1311 h 2740"/>
              <a:gd name="T90" fmla="*/ 100 w 768"/>
              <a:gd name="T91" fmla="*/ 1460 h 2740"/>
              <a:gd name="T92" fmla="*/ 79 w 768"/>
              <a:gd name="T93" fmla="*/ 1481 h 2740"/>
              <a:gd name="T94" fmla="*/ 4 w 768"/>
              <a:gd name="T95" fmla="*/ 1423 h 2740"/>
              <a:gd name="T96" fmla="*/ 22 w 768"/>
              <a:gd name="T97" fmla="*/ 1251 h 2740"/>
              <a:gd name="T98" fmla="*/ 70 w 768"/>
              <a:gd name="T99" fmla="*/ 623 h 2740"/>
              <a:gd name="T100" fmla="*/ 117 w 768"/>
              <a:gd name="T101" fmla="*/ 458 h 2740"/>
              <a:gd name="T102" fmla="*/ 251 w 768"/>
              <a:gd name="T103" fmla="*/ 412 h 2740"/>
              <a:gd name="T104" fmla="*/ 320 w 768"/>
              <a:gd name="T105" fmla="*/ 325 h 2740"/>
              <a:gd name="T106" fmla="*/ 253 w 768"/>
              <a:gd name="T107" fmla="*/ 221 h 2740"/>
              <a:gd name="T108" fmla="*/ 250 w 768"/>
              <a:gd name="T109" fmla="*/ 136 h 2740"/>
              <a:gd name="T110" fmla="*/ 322 w 768"/>
              <a:gd name="T111" fmla="*/ 3 h 2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768" h="2740">
                <a:moveTo>
                  <a:pt x="339" y="0"/>
                </a:moveTo>
                <a:lnTo>
                  <a:pt x="375" y="3"/>
                </a:lnTo>
                <a:lnTo>
                  <a:pt x="406" y="12"/>
                </a:lnTo>
                <a:lnTo>
                  <a:pt x="431" y="27"/>
                </a:lnTo>
                <a:lnTo>
                  <a:pt x="453" y="45"/>
                </a:lnTo>
                <a:lnTo>
                  <a:pt x="471" y="69"/>
                </a:lnTo>
                <a:lnTo>
                  <a:pt x="486" y="94"/>
                </a:lnTo>
                <a:lnTo>
                  <a:pt x="495" y="123"/>
                </a:lnTo>
                <a:lnTo>
                  <a:pt x="495" y="183"/>
                </a:lnTo>
                <a:lnTo>
                  <a:pt x="508" y="200"/>
                </a:lnTo>
                <a:lnTo>
                  <a:pt x="502" y="221"/>
                </a:lnTo>
                <a:lnTo>
                  <a:pt x="495" y="240"/>
                </a:lnTo>
                <a:lnTo>
                  <a:pt x="484" y="256"/>
                </a:lnTo>
                <a:lnTo>
                  <a:pt x="475" y="271"/>
                </a:lnTo>
                <a:lnTo>
                  <a:pt x="464" y="287"/>
                </a:lnTo>
                <a:lnTo>
                  <a:pt x="455" y="303"/>
                </a:lnTo>
                <a:lnTo>
                  <a:pt x="451" y="323"/>
                </a:lnTo>
                <a:lnTo>
                  <a:pt x="450" y="349"/>
                </a:lnTo>
                <a:lnTo>
                  <a:pt x="455" y="380"/>
                </a:lnTo>
                <a:lnTo>
                  <a:pt x="479" y="389"/>
                </a:lnTo>
                <a:lnTo>
                  <a:pt x="508" y="400"/>
                </a:lnTo>
                <a:lnTo>
                  <a:pt x="539" y="409"/>
                </a:lnTo>
                <a:lnTo>
                  <a:pt x="570" y="420"/>
                </a:lnTo>
                <a:lnTo>
                  <a:pt x="600" y="431"/>
                </a:lnTo>
                <a:lnTo>
                  <a:pt x="628" y="445"/>
                </a:lnTo>
                <a:lnTo>
                  <a:pt x="650" y="460"/>
                </a:lnTo>
                <a:lnTo>
                  <a:pt x="668" y="480"/>
                </a:lnTo>
                <a:lnTo>
                  <a:pt x="682" y="511"/>
                </a:lnTo>
                <a:lnTo>
                  <a:pt x="690" y="545"/>
                </a:lnTo>
                <a:lnTo>
                  <a:pt x="691" y="583"/>
                </a:lnTo>
                <a:lnTo>
                  <a:pt x="693" y="623"/>
                </a:lnTo>
                <a:lnTo>
                  <a:pt x="693" y="665"/>
                </a:lnTo>
                <a:lnTo>
                  <a:pt x="699" y="707"/>
                </a:lnTo>
                <a:lnTo>
                  <a:pt x="710" y="781"/>
                </a:lnTo>
                <a:lnTo>
                  <a:pt x="719" y="858"/>
                </a:lnTo>
                <a:lnTo>
                  <a:pt x="728" y="931"/>
                </a:lnTo>
                <a:lnTo>
                  <a:pt x="739" y="1000"/>
                </a:lnTo>
                <a:lnTo>
                  <a:pt x="742" y="1183"/>
                </a:lnTo>
                <a:lnTo>
                  <a:pt x="742" y="1267"/>
                </a:lnTo>
                <a:lnTo>
                  <a:pt x="748" y="1287"/>
                </a:lnTo>
                <a:lnTo>
                  <a:pt x="753" y="1311"/>
                </a:lnTo>
                <a:lnTo>
                  <a:pt x="759" y="1336"/>
                </a:lnTo>
                <a:lnTo>
                  <a:pt x="762" y="1363"/>
                </a:lnTo>
                <a:lnTo>
                  <a:pt x="766" y="1391"/>
                </a:lnTo>
                <a:lnTo>
                  <a:pt x="768" y="1416"/>
                </a:lnTo>
                <a:lnTo>
                  <a:pt x="764" y="1440"/>
                </a:lnTo>
                <a:lnTo>
                  <a:pt x="757" y="1458"/>
                </a:lnTo>
                <a:lnTo>
                  <a:pt x="742" y="1474"/>
                </a:lnTo>
                <a:lnTo>
                  <a:pt x="722" y="1483"/>
                </a:lnTo>
                <a:lnTo>
                  <a:pt x="713" y="1478"/>
                </a:lnTo>
                <a:lnTo>
                  <a:pt x="699" y="1478"/>
                </a:lnTo>
                <a:lnTo>
                  <a:pt x="682" y="1480"/>
                </a:lnTo>
                <a:lnTo>
                  <a:pt x="668" y="1480"/>
                </a:lnTo>
                <a:lnTo>
                  <a:pt x="659" y="1443"/>
                </a:lnTo>
                <a:lnTo>
                  <a:pt x="677" y="1427"/>
                </a:lnTo>
                <a:lnTo>
                  <a:pt x="686" y="1411"/>
                </a:lnTo>
                <a:lnTo>
                  <a:pt x="688" y="1394"/>
                </a:lnTo>
                <a:lnTo>
                  <a:pt x="688" y="1372"/>
                </a:lnTo>
                <a:lnTo>
                  <a:pt x="688" y="1349"/>
                </a:lnTo>
                <a:lnTo>
                  <a:pt x="691" y="1320"/>
                </a:lnTo>
                <a:lnTo>
                  <a:pt x="695" y="1305"/>
                </a:lnTo>
                <a:lnTo>
                  <a:pt x="700" y="1287"/>
                </a:lnTo>
                <a:lnTo>
                  <a:pt x="699" y="1267"/>
                </a:lnTo>
                <a:lnTo>
                  <a:pt x="642" y="1096"/>
                </a:lnTo>
                <a:lnTo>
                  <a:pt x="639" y="934"/>
                </a:lnTo>
                <a:lnTo>
                  <a:pt x="608" y="827"/>
                </a:lnTo>
                <a:lnTo>
                  <a:pt x="604" y="809"/>
                </a:lnTo>
                <a:lnTo>
                  <a:pt x="600" y="789"/>
                </a:lnTo>
                <a:lnTo>
                  <a:pt x="599" y="767"/>
                </a:lnTo>
                <a:lnTo>
                  <a:pt x="595" y="745"/>
                </a:lnTo>
                <a:lnTo>
                  <a:pt x="588" y="727"/>
                </a:lnTo>
                <a:lnTo>
                  <a:pt x="579" y="714"/>
                </a:lnTo>
                <a:lnTo>
                  <a:pt x="573" y="741"/>
                </a:lnTo>
                <a:lnTo>
                  <a:pt x="566" y="767"/>
                </a:lnTo>
                <a:lnTo>
                  <a:pt x="555" y="792"/>
                </a:lnTo>
                <a:lnTo>
                  <a:pt x="544" y="820"/>
                </a:lnTo>
                <a:lnTo>
                  <a:pt x="535" y="849"/>
                </a:lnTo>
                <a:lnTo>
                  <a:pt x="530" y="880"/>
                </a:lnTo>
                <a:lnTo>
                  <a:pt x="530" y="912"/>
                </a:lnTo>
                <a:lnTo>
                  <a:pt x="535" y="947"/>
                </a:lnTo>
                <a:lnTo>
                  <a:pt x="546" y="983"/>
                </a:lnTo>
                <a:lnTo>
                  <a:pt x="560" y="1018"/>
                </a:lnTo>
                <a:lnTo>
                  <a:pt x="577" y="1052"/>
                </a:lnTo>
                <a:lnTo>
                  <a:pt x="595" y="1089"/>
                </a:lnTo>
                <a:lnTo>
                  <a:pt x="611" y="1125"/>
                </a:lnTo>
                <a:lnTo>
                  <a:pt x="626" y="1165"/>
                </a:lnTo>
                <a:lnTo>
                  <a:pt x="637" y="1207"/>
                </a:lnTo>
                <a:lnTo>
                  <a:pt x="644" y="1251"/>
                </a:lnTo>
                <a:lnTo>
                  <a:pt x="646" y="1300"/>
                </a:lnTo>
                <a:lnTo>
                  <a:pt x="639" y="1351"/>
                </a:lnTo>
                <a:lnTo>
                  <a:pt x="582" y="1680"/>
                </a:lnTo>
                <a:lnTo>
                  <a:pt x="590" y="1734"/>
                </a:lnTo>
                <a:lnTo>
                  <a:pt x="599" y="1792"/>
                </a:lnTo>
                <a:lnTo>
                  <a:pt x="608" y="1851"/>
                </a:lnTo>
                <a:lnTo>
                  <a:pt x="617" y="1912"/>
                </a:lnTo>
                <a:lnTo>
                  <a:pt x="617" y="1972"/>
                </a:lnTo>
                <a:lnTo>
                  <a:pt x="611" y="2034"/>
                </a:lnTo>
                <a:lnTo>
                  <a:pt x="559" y="2320"/>
                </a:lnTo>
                <a:lnTo>
                  <a:pt x="551" y="2351"/>
                </a:lnTo>
                <a:lnTo>
                  <a:pt x="544" y="2387"/>
                </a:lnTo>
                <a:lnTo>
                  <a:pt x="537" y="2425"/>
                </a:lnTo>
                <a:lnTo>
                  <a:pt x="535" y="2463"/>
                </a:lnTo>
                <a:lnTo>
                  <a:pt x="539" y="2503"/>
                </a:lnTo>
                <a:lnTo>
                  <a:pt x="582" y="2696"/>
                </a:lnTo>
                <a:lnTo>
                  <a:pt x="559" y="2711"/>
                </a:lnTo>
                <a:lnTo>
                  <a:pt x="533" y="2723"/>
                </a:lnTo>
                <a:lnTo>
                  <a:pt x="504" y="2734"/>
                </a:lnTo>
                <a:lnTo>
                  <a:pt x="471" y="2740"/>
                </a:lnTo>
                <a:lnTo>
                  <a:pt x="460" y="2714"/>
                </a:lnTo>
                <a:lnTo>
                  <a:pt x="455" y="2687"/>
                </a:lnTo>
                <a:lnTo>
                  <a:pt x="453" y="2656"/>
                </a:lnTo>
                <a:lnTo>
                  <a:pt x="455" y="2625"/>
                </a:lnTo>
                <a:lnTo>
                  <a:pt x="457" y="2591"/>
                </a:lnTo>
                <a:lnTo>
                  <a:pt x="455" y="2556"/>
                </a:lnTo>
                <a:lnTo>
                  <a:pt x="451" y="2523"/>
                </a:lnTo>
                <a:lnTo>
                  <a:pt x="448" y="2492"/>
                </a:lnTo>
                <a:lnTo>
                  <a:pt x="450" y="2461"/>
                </a:lnTo>
                <a:lnTo>
                  <a:pt x="455" y="2431"/>
                </a:lnTo>
                <a:lnTo>
                  <a:pt x="460" y="2398"/>
                </a:lnTo>
                <a:lnTo>
                  <a:pt x="468" y="2363"/>
                </a:lnTo>
                <a:lnTo>
                  <a:pt x="471" y="2327"/>
                </a:lnTo>
                <a:lnTo>
                  <a:pt x="471" y="2287"/>
                </a:lnTo>
                <a:lnTo>
                  <a:pt x="468" y="2243"/>
                </a:lnTo>
                <a:lnTo>
                  <a:pt x="457" y="2192"/>
                </a:lnTo>
                <a:lnTo>
                  <a:pt x="448" y="2136"/>
                </a:lnTo>
                <a:lnTo>
                  <a:pt x="439" y="2074"/>
                </a:lnTo>
                <a:lnTo>
                  <a:pt x="437" y="2012"/>
                </a:lnTo>
                <a:lnTo>
                  <a:pt x="442" y="1951"/>
                </a:lnTo>
                <a:lnTo>
                  <a:pt x="448" y="1925"/>
                </a:lnTo>
                <a:lnTo>
                  <a:pt x="455" y="1894"/>
                </a:lnTo>
                <a:lnTo>
                  <a:pt x="457" y="1863"/>
                </a:lnTo>
                <a:lnTo>
                  <a:pt x="455" y="1831"/>
                </a:lnTo>
                <a:lnTo>
                  <a:pt x="439" y="1754"/>
                </a:lnTo>
                <a:lnTo>
                  <a:pt x="422" y="1678"/>
                </a:lnTo>
                <a:lnTo>
                  <a:pt x="406" y="1598"/>
                </a:lnTo>
                <a:lnTo>
                  <a:pt x="395" y="1516"/>
                </a:lnTo>
                <a:lnTo>
                  <a:pt x="388" y="1431"/>
                </a:lnTo>
                <a:lnTo>
                  <a:pt x="382" y="1431"/>
                </a:lnTo>
                <a:lnTo>
                  <a:pt x="382" y="1436"/>
                </a:lnTo>
                <a:lnTo>
                  <a:pt x="351" y="1680"/>
                </a:lnTo>
                <a:lnTo>
                  <a:pt x="319" y="1807"/>
                </a:lnTo>
                <a:lnTo>
                  <a:pt x="313" y="1861"/>
                </a:lnTo>
                <a:lnTo>
                  <a:pt x="317" y="1914"/>
                </a:lnTo>
                <a:lnTo>
                  <a:pt x="322" y="1965"/>
                </a:lnTo>
                <a:lnTo>
                  <a:pt x="330" y="2018"/>
                </a:lnTo>
                <a:lnTo>
                  <a:pt x="331" y="2072"/>
                </a:lnTo>
                <a:lnTo>
                  <a:pt x="328" y="2127"/>
                </a:lnTo>
                <a:lnTo>
                  <a:pt x="322" y="2152"/>
                </a:lnTo>
                <a:lnTo>
                  <a:pt x="317" y="2185"/>
                </a:lnTo>
                <a:lnTo>
                  <a:pt x="310" y="2223"/>
                </a:lnTo>
                <a:lnTo>
                  <a:pt x="304" y="2263"/>
                </a:lnTo>
                <a:lnTo>
                  <a:pt x="300" y="2303"/>
                </a:lnTo>
                <a:lnTo>
                  <a:pt x="299" y="2343"/>
                </a:lnTo>
                <a:lnTo>
                  <a:pt x="300" y="2380"/>
                </a:lnTo>
                <a:lnTo>
                  <a:pt x="308" y="2411"/>
                </a:lnTo>
                <a:lnTo>
                  <a:pt x="339" y="2474"/>
                </a:lnTo>
                <a:lnTo>
                  <a:pt x="328" y="2511"/>
                </a:lnTo>
                <a:lnTo>
                  <a:pt x="320" y="2556"/>
                </a:lnTo>
                <a:lnTo>
                  <a:pt x="320" y="2603"/>
                </a:lnTo>
                <a:lnTo>
                  <a:pt x="324" y="2647"/>
                </a:lnTo>
                <a:lnTo>
                  <a:pt x="324" y="2689"/>
                </a:lnTo>
                <a:lnTo>
                  <a:pt x="319" y="2727"/>
                </a:lnTo>
                <a:lnTo>
                  <a:pt x="299" y="2734"/>
                </a:lnTo>
                <a:lnTo>
                  <a:pt x="275" y="2736"/>
                </a:lnTo>
                <a:lnTo>
                  <a:pt x="253" y="2729"/>
                </a:lnTo>
                <a:lnTo>
                  <a:pt x="231" y="2718"/>
                </a:lnTo>
                <a:lnTo>
                  <a:pt x="213" y="2700"/>
                </a:lnTo>
                <a:lnTo>
                  <a:pt x="202" y="2678"/>
                </a:lnTo>
                <a:lnTo>
                  <a:pt x="199" y="2651"/>
                </a:lnTo>
                <a:lnTo>
                  <a:pt x="217" y="2616"/>
                </a:lnTo>
                <a:lnTo>
                  <a:pt x="230" y="2574"/>
                </a:lnTo>
                <a:lnTo>
                  <a:pt x="235" y="2529"/>
                </a:lnTo>
                <a:lnTo>
                  <a:pt x="239" y="2480"/>
                </a:lnTo>
                <a:lnTo>
                  <a:pt x="237" y="2429"/>
                </a:lnTo>
                <a:lnTo>
                  <a:pt x="231" y="2376"/>
                </a:lnTo>
                <a:lnTo>
                  <a:pt x="222" y="2321"/>
                </a:lnTo>
                <a:lnTo>
                  <a:pt x="213" y="2267"/>
                </a:lnTo>
                <a:lnTo>
                  <a:pt x="202" y="2216"/>
                </a:lnTo>
                <a:lnTo>
                  <a:pt x="191" y="2165"/>
                </a:lnTo>
                <a:lnTo>
                  <a:pt x="180" y="2118"/>
                </a:lnTo>
                <a:lnTo>
                  <a:pt x="171" y="2074"/>
                </a:lnTo>
                <a:lnTo>
                  <a:pt x="162" y="2034"/>
                </a:lnTo>
                <a:lnTo>
                  <a:pt x="157" y="1980"/>
                </a:lnTo>
                <a:lnTo>
                  <a:pt x="160" y="1923"/>
                </a:lnTo>
                <a:lnTo>
                  <a:pt x="168" y="1867"/>
                </a:lnTo>
                <a:lnTo>
                  <a:pt x="179" y="1812"/>
                </a:lnTo>
                <a:lnTo>
                  <a:pt x="186" y="1756"/>
                </a:lnTo>
                <a:lnTo>
                  <a:pt x="190" y="1700"/>
                </a:lnTo>
                <a:lnTo>
                  <a:pt x="182" y="1643"/>
                </a:lnTo>
                <a:lnTo>
                  <a:pt x="175" y="1607"/>
                </a:lnTo>
                <a:lnTo>
                  <a:pt x="166" y="1565"/>
                </a:lnTo>
                <a:lnTo>
                  <a:pt x="155" y="1518"/>
                </a:lnTo>
                <a:lnTo>
                  <a:pt x="144" y="1467"/>
                </a:lnTo>
                <a:lnTo>
                  <a:pt x="133" y="1414"/>
                </a:lnTo>
                <a:lnTo>
                  <a:pt x="126" y="1363"/>
                </a:lnTo>
                <a:lnTo>
                  <a:pt x="122" y="1312"/>
                </a:lnTo>
                <a:lnTo>
                  <a:pt x="122" y="1265"/>
                </a:lnTo>
                <a:lnTo>
                  <a:pt x="128" y="1223"/>
                </a:lnTo>
                <a:lnTo>
                  <a:pt x="144" y="1163"/>
                </a:lnTo>
                <a:lnTo>
                  <a:pt x="166" y="1107"/>
                </a:lnTo>
                <a:lnTo>
                  <a:pt x="190" y="1051"/>
                </a:lnTo>
                <a:lnTo>
                  <a:pt x="213" y="998"/>
                </a:lnTo>
                <a:lnTo>
                  <a:pt x="231" y="943"/>
                </a:lnTo>
                <a:lnTo>
                  <a:pt x="237" y="905"/>
                </a:lnTo>
                <a:lnTo>
                  <a:pt x="235" y="869"/>
                </a:lnTo>
                <a:lnTo>
                  <a:pt x="228" y="832"/>
                </a:lnTo>
                <a:lnTo>
                  <a:pt x="215" y="800"/>
                </a:lnTo>
                <a:lnTo>
                  <a:pt x="202" y="769"/>
                </a:lnTo>
                <a:lnTo>
                  <a:pt x="191" y="740"/>
                </a:lnTo>
                <a:lnTo>
                  <a:pt x="182" y="711"/>
                </a:lnTo>
                <a:lnTo>
                  <a:pt x="179" y="711"/>
                </a:lnTo>
                <a:lnTo>
                  <a:pt x="170" y="769"/>
                </a:lnTo>
                <a:lnTo>
                  <a:pt x="157" y="825"/>
                </a:lnTo>
                <a:lnTo>
                  <a:pt x="140" y="878"/>
                </a:lnTo>
                <a:lnTo>
                  <a:pt x="128" y="931"/>
                </a:lnTo>
                <a:lnTo>
                  <a:pt x="122" y="969"/>
                </a:lnTo>
                <a:lnTo>
                  <a:pt x="122" y="1005"/>
                </a:lnTo>
                <a:lnTo>
                  <a:pt x="124" y="1041"/>
                </a:lnTo>
                <a:lnTo>
                  <a:pt x="124" y="1078"/>
                </a:lnTo>
                <a:lnTo>
                  <a:pt x="119" y="1111"/>
                </a:lnTo>
                <a:lnTo>
                  <a:pt x="110" y="1145"/>
                </a:lnTo>
                <a:lnTo>
                  <a:pt x="95" y="1181"/>
                </a:lnTo>
                <a:lnTo>
                  <a:pt x="82" y="1223"/>
                </a:lnTo>
                <a:lnTo>
                  <a:pt x="71" y="1267"/>
                </a:lnTo>
                <a:lnTo>
                  <a:pt x="64" y="1311"/>
                </a:lnTo>
                <a:lnTo>
                  <a:pt x="62" y="1358"/>
                </a:lnTo>
                <a:lnTo>
                  <a:pt x="71" y="1403"/>
                </a:lnTo>
                <a:lnTo>
                  <a:pt x="108" y="1451"/>
                </a:lnTo>
                <a:lnTo>
                  <a:pt x="104" y="1456"/>
                </a:lnTo>
                <a:lnTo>
                  <a:pt x="100" y="1460"/>
                </a:lnTo>
                <a:lnTo>
                  <a:pt x="100" y="1463"/>
                </a:lnTo>
                <a:lnTo>
                  <a:pt x="100" y="1469"/>
                </a:lnTo>
                <a:lnTo>
                  <a:pt x="99" y="1472"/>
                </a:lnTo>
                <a:lnTo>
                  <a:pt x="99" y="1480"/>
                </a:lnTo>
                <a:lnTo>
                  <a:pt x="79" y="1481"/>
                </a:lnTo>
                <a:lnTo>
                  <a:pt x="62" y="1481"/>
                </a:lnTo>
                <a:lnTo>
                  <a:pt x="48" y="1481"/>
                </a:lnTo>
                <a:lnTo>
                  <a:pt x="31" y="1483"/>
                </a:lnTo>
                <a:lnTo>
                  <a:pt x="13" y="1452"/>
                </a:lnTo>
                <a:lnTo>
                  <a:pt x="4" y="1423"/>
                </a:lnTo>
                <a:lnTo>
                  <a:pt x="0" y="1392"/>
                </a:lnTo>
                <a:lnTo>
                  <a:pt x="2" y="1361"/>
                </a:lnTo>
                <a:lnTo>
                  <a:pt x="8" y="1327"/>
                </a:lnTo>
                <a:lnTo>
                  <a:pt x="15" y="1291"/>
                </a:lnTo>
                <a:lnTo>
                  <a:pt x="22" y="1251"/>
                </a:lnTo>
                <a:lnTo>
                  <a:pt x="22" y="1036"/>
                </a:lnTo>
                <a:lnTo>
                  <a:pt x="62" y="751"/>
                </a:lnTo>
                <a:lnTo>
                  <a:pt x="68" y="709"/>
                </a:lnTo>
                <a:lnTo>
                  <a:pt x="70" y="665"/>
                </a:lnTo>
                <a:lnTo>
                  <a:pt x="70" y="623"/>
                </a:lnTo>
                <a:lnTo>
                  <a:pt x="71" y="581"/>
                </a:lnTo>
                <a:lnTo>
                  <a:pt x="75" y="541"/>
                </a:lnTo>
                <a:lnTo>
                  <a:pt x="84" y="507"/>
                </a:lnTo>
                <a:lnTo>
                  <a:pt x="99" y="476"/>
                </a:lnTo>
                <a:lnTo>
                  <a:pt x="117" y="458"/>
                </a:lnTo>
                <a:lnTo>
                  <a:pt x="139" y="445"/>
                </a:lnTo>
                <a:lnTo>
                  <a:pt x="164" y="436"/>
                </a:lnTo>
                <a:lnTo>
                  <a:pt x="193" y="429"/>
                </a:lnTo>
                <a:lnTo>
                  <a:pt x="222" y="421"/>
                </a:lnTo>
                <a:lnTo>
                  <a:pt x="251" y="412"/>
                </a:lnTo>
                <a:lnTo>
                  <a:pt x="275" y="403"/>
                </a:lnTo>
                <a:lnTo>
                  <a:pt x="297" y="389"/>
                </a:lnTo>
                <a:lnTo>
                  <a:pt x="311" y="371"/>
                </a:lnTo>
                <a:lnTo>
                  <a:pt x="322" y="347"/>
                </a:lnTo>
                <a:lnTo>
                  <a:pt x="320" y="325"/>
                </a:lnTo>
                <a:lnTo>
                  <a:pt x="313" y="303"/>
                </a:lnTo>
                <a:lnTo>
                  <a:pt x="299" y="281"/>
                </a:lnTo>
                <a:lnTo>
                  <a:pt x="282" y="261"/>
                </a:lnTo>
                <a:lnTo>
                  <a:pt x="266" y="241"/>
                </a:lnTo>
                <a:lnTo>
                  <a:pt x="253" y="221"/>
                </a:lnTo>
                <a:lnTo>
                  <a:pt x="248" y="203"/>
                </a:lnTo>
                <a:lnTo>
                  <a:pt x="253" y="191"/>
                </a:lnTo>
                <a:lnTo>
                  <a:pt x="253" y="174"/>
                </a:lnTo>
                <a:lnTo>
                  <a:pt x="250" y="154"/>
                </a:lnTo>
                <a:lnTo>
                  <a:pt x="250" y="136"/>
                </a:lnTo>
                <a:lnTo>
                  <a:pt x="251" y="116"/>
                </a:lnTo>
                <a:lnTo>
                  <a:pt x="262" y="83"/>
                </a:lnTo>
                <a:lnTo>
                  <a:pt x="280" y="54"/>
                </a:lnTo>
                <a:lnTo>
                  <a:pt x="302" y="27"/>
                </a:lnTo>
                <a:lnTo>
                  <a:pt x="322" y="3"/>
                </a:lnTo>
                <a:lnTo>
                  <a:pt x="33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" name="Freeform 18">
            <a:extLst>
              <a:ext uri="{FF2B5EF4-FFF2-40B4-BE49-F238E27FC236}">
                <a16:creationId xmlns:a16="http://schemas.microsoft.com/office/drawing/2014/main" id="{1FC3FE2C-CB12-4331-852B-C80C20FA3985}"/>
              </a:ext>
            </a:extLst>
          </p:cNvPr>
          <p:cNvSpPr>
            <a:spLocks/>
          </p:cNvSpPr>
          <p:nvPr/>
        </p:nvSpPr>
        <p:spPr bwMode="auto">
          <a:xfrm>
            <a:off x="3660906" y="1487193"/>
            <a:ext cx="813539" cy="2829451"/>
          </a:xfrm>
          <a:custGeom>
            <a:avLst/>
            <a:gdLst>
              <a:gd name="T0" fmla="*/ 564 w 862"/>
              <a:gd name="T1" fmla="*/ 78 h 2998"/>
              <a:gd name="T2" fmla="*/ 579 w 862"/>
              <a:gd name="T3" fmla="*/ 156 h 2998"/>
              <a:gd name="T4" fmla="*/ 570 w 862"/>
              <a:gd name="T5" fmla="*/ 282 h 2998"/>
              <a:gd name="T6" fmla="*/ 531 w 862"/>
              <a:gd name="T7" fmla="*/ 420 h 2998"/>
              <a:gd name="T8" fmla="*/ 675 w 862"/>
              <a:gd name="T9" fmla="*/ 489 h 2998"/>
              <a:gd name="T10" fmla="*/ 819 w 862"/>
              <a:gd name="T11" fmla="*/ 589 h 2998"/>
              <a:gd name="T12" fmla="*/ 851 w 862"/>
              <a:gd name="T13" fmla="*/ 876 h 2998"/>
              <a:gd name="T14" fmla="*/ 846 w 862"/>
              <a:gd name="T15" fmla="*/ 1427 h 2998"/>
              <a:gd name="T16" fmla="*/ 817 w 862"/>
              <a:gd name="T17" fmla="*/ 1724 h 2998"/>
              <a:gd name="T18" fmla="*/ 739 w 862"/>
              <a:gd name="T19" fmla="*/ 1745 h 2998"/>
              <a:gd name="T20" fmla="*/ 753 w 862"/>
              <a:gd name="T21" fmla="*/ 1714 h 2998"/>
              <a:gd name="T22" fmla="*/ 750 w 862"/>
              <a:gd name="T23" fmla="*/ 1698 h 2998"/>
              <a:gd name="T24" fmla="*/ 790 w 862"/>
              <a:gd name="T25" fmla="*/ 1658 h 2998"/>
              <a:gd name="T26" fmla="*/ 788 w 862"/>
              <a:gd name="T27" fmla="*/ 1607 h 2998"/>
              <a:gd name="T28" fmla="*/ 742 w 862"/>
              <a:gd name="T29" fmla="*/ 1660 h 2998"/>
              <a:gd name="T30" fmla="*/ 751 w 862"/>
              <a:gd name="T31" fmla="*/ 1380 h 2998"/>
              <a:gd name="T32" fmla="*/ 702 w 862"/>
              <a:gd name="T33" fmla="*/ 1000 h 2998"/>
              <a:gd name="T34" fmla="*/ 684 w 862"/>
              <a:gd name="T35" fmla="*/ 831 h 2998"/>
              <a:gd name="T36" fmla="*/ 642 w 862"/>
              <a:gd name="T37" fmla="*/ 1014 h 2998"/>
              <a:gd name="T38" fmla="*/ 730 w 862"/>
              <a:gd name="T39" fmla="*/ 1656 h 2998"/>
              <a:gd name="T40" fmla="*/ 708 w 862"/>
              <a:gd name="T41" fmla="*/ 1924 h 2998"/>
              <a:gd name="T42" fmla="*/ 753 w 862"/>
              <a:gd name="T43" fmla="*/ 2256 h 2998"/>
              <a:gd name="T44" fmla="*/ 671 w 862"/>
              <a:gd name="T45" fmla="*/ 2687 h 2998"/>
              <a:gd name="T46" fmla="*/ 722 w 862"/>
              <a:gd name="T47" fmla="*/ 2894 h 2998"/>
              <a:gd name="T48" fmla="*/ 568 w 862"/>
              <a:gd name="T49" fmla="*/ 2989 h 2998"/>
              <a:gd name="T50" fmla="*/ 551 w 862"/>
              <a:gd name="T51" fmla="*/ 2773 h 2998"/>
              <a:gd name="T52" fmla="*/ 570 w 862"/>
              <a:gd name="T53" fmla="*/ 2627 h 2998"/>
              <a:gd name="T54" fmla="*/ 539 w 862"/>
              <a:gd name="T55" fmla="*/ 2349 h 2998"/>
              <a:gd name="T56" fmla="*/ 515 w 862"/>
              <a:gd name="T57" fmla="*/ 1994 h 2998"/>
              <a:gd name="T58" fmla="*/ 422 w 862"/>
              <a:gd name="T59" fmla="*/ 1576 h 2998"/>
              <a:gd name="T60" fmla="*/ 386 w 862"/>
              <a:gd name="T61" fmla="*/ 1833 h 2998"/>
              <a:gd name="T62" fmla="*/ 319 w 862"/>
              <a:gd name="T63" fmla="*/ 2120 h 2998"/>
              <a:gd name="T64" fmla="*/ 311 w 862"/>
              <a:gd name="T65" fmla="*/ 2525 h 2998"/>
              <a:gd name="T66" fmla="*/ 339 w 862"/>
              <a:gd name="T67" fmla="*/ 2773 h 2998"/>
              <a:gd name="T68" fmla="*/ 331 w 862"/>
              <a:gd name="T69" fmla="*/ 2984 h 2998"/>
              <a:gd name="T70" fmla="*/ 210 w 862"/>
              <a:gd name="T71" fmla="*/ 2989 h 2998"/>
              <a:gd name="T72" fmla="*/ 195 w 862"/>
              <a:gd name="T73" fmla="*/ 2838 h 2998"/>
              <a:gd name="T74" fmla="*/ 191 w 862"/>
              <a:gd name="T75" fmla="*/ 2504 h 2998"/>
              <a:gd name="T76" fmla="*/ 130 w 862"/>
              <a:gd name="T77" fmla="*/ 2254 h 2998"/>
              <a:gd name="T78" fmla="*/ 171 w 862"/>
              <a:gd name="T79" fmla="*/ 1971 h 2998"/>
              <a:gd name="T80" fmla="*/ 148 w 862"/>
              <a:gd name="T81" fmla="*/ 1718 h 2998"/>
              <a:gd name="T82" fmla="*/ 204 w 862"/>
              <a:gd name="T83" fmla="*/ 1189 h 2998"/>
              <a:gd name="T84" fmla="*/ 195 w 862"/>
              <a:gd name="T85" fmla="*/ 809 h 2998"/>
              <a:gd name="T86" fmla="*/ 168 w 862"/>
              <a:gd name="T87" fmla="*/ 962 h 2998"/>
              <a:gd name="T88" fmla="*/ 144 w 862"/>
              <a:gd name="T89" fmla="*/ 1229 h 2998"/>
              <a:gd name="T90" fmla="*/ 110 w 862"/>
              <a:gd name="T91" fmla="*/ 1402 h 2998"/>
              <a:gd name="T92" fmla="*/ 122 w 862"/>
              <a:gd name="T93" fmla="*/ 1656 h 2998"/>
              <a:gd name="T94" fmla="*/ 82 w 862"/>
              <a:gd name="T95" fmla="*/ 1656 h 2998"/>
              <a:gd name="T96" fmla="*/ 110 w 862"/>
              <a:gd name="T97" fmla="*/ 1704 h 2998"/>
              <a:gd name="T98" fmla="*/ 124 w 862"/>
              <a:gd name="T99" fmla="*/ 1729 h 2998"/>
              <a:gd name="T100" fmla="*/ 95 w 862"/>
              <a:gd name="T101" fmla="*/ 1751 h 2998"/>
              <a:gd name="T102" fmla="*/ 2 w 862"/>
              <a:gd name="T103" fmla="*/ 1640 h 2998"/>
              <a:gd name="T104" fmla="*/ 2 w 862"/>
              <a:gd name="T105" fmla="*/ 1140 h 2998"/>
              <a:gd name="T106" fmla="*/ 11 w 862"/>
              <a:gd name="T107" fmla="*/ 933 h 2998"/>
              <a:gd name="T108" fmla="*/ 22 w 862"/>
              <a:gd name="T109" fmla="*/ 693 h 2998"/>
              <a:gd name="T110" fmla="*/ 99 w 862"/>
              <a:gd name="T111" fmla="*/ 524 h 2998"/>
              <a:gd name="T112" fmla="*/ 288 w 862"/>
              <a:gd name="T113" fmla="*/ 453 h 2998"/>
              <a:gd name="T114" fmla="*/ 339 w 862"/>
              <a:gd name="T115" fmla="*/ 311 h 2998"/>
              <a:gd name="T116" fmla="*/ 299 w 862"/>
              <a:gd name="T117" fmla="*/ 224 h 2998"/>
              <a:gd name="T118" fmla="*/ 313 w 862"/>
              <a:gd name="T119" fmla="*/ 104 h 2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862" h="2998">
                <a:moveTo>
                  <a:pt x="439" y="0"/>
                </a:moveTo>
                <a:lnTo>
                  <a:pt x="522" y="27"/>
                </a:lnTo>
                <a:lnTo>
                  <a:pt x="551" y="73"/>
                </a:lnTo>
                <a:lnTo>
                  <a:pt x="555" y="76"/>
                </a:lnTo>
                <a:lnTo>
                  <a:pt x="560" y="78"/>
                </a:lnTo>
                <a:lnTo>
                  <a:pt x="564" y="78"/>
                </a:lnTo>
                <a:lnTo>
                  <a:pt x="568" y="80"/>
                </a:lnTo>
                <a:lnTo>
                  <a:pt x="570" y="80"/>
                </a:lnTo>
                <a:lnTo>
                  <a:pt x="573" y="84"/>
                </a:lnTo>
                <a:lnTo>
                  <a:pt x="575" y="87"/>
                </a:lnTo>
                <a:lnTo>
                  <a:pt x="579" y="93"/>
                </a:lnTo>
                <a:lnTo>
                  <a:pt x="579" y="156"/>
                </a:lnTo>
                <a:lnTo>
                  <a:pt x="580" y="180"/>
                </a:lnTo>
                <a:lnTo>
                  <a:pt x="584" y="202"/>
                </a:lnTo>
                <a:lnTo>
                  <a:pt x="588" y="222"/>
                </a:lnTo>
                <a:lnTo>
                  <a:pt x="588" y="240"/>
                </a:lnTo>
                <a:lnTo>
                  <a:pt x="580" y="262"/>
                </a:lnTo>
                <a:lnTo>
                  <a:pt x="570" y="282"/>
                </a:lnTo>
                <a:lnTo>
                  <a:pt x="557" y="302"/>
                </a:lnTo>
                <a:lnTo>
                  <a:pt x="544" y="324"/>
                </a:lnTo>
                <a:lnTo>
                  <a:pt x="533" y="344"/>
                </a:lnTo>
                <a:lnTo>
                  <a:pt x="526" y="367"/>
                </a:lnTo>
                <a:lnTo>
                  <a:pt x="524" y="393"/>
                </a:lnTo>
                <a:lnTo>
                  <a:pt x="531" y="420"/>
                </a:lnTo>
                <a:lnTo>
                  <a:pt x="544" y="438"/>
                </a:lnTo>
                <a:lnTo>
                  <a:pt x="562" y="453"/>
                </a:lnTo>
                <a:lnTo>
                  <a:pt x="586" y="464"/>
                </a:lnTo>
                <a:lnTo>
                  <a:pt x="613" y="473"/>
                </a:lnTo>
                <a:lnTo>
                  <a:pt x="644" y="482"/>
                </a:lnTo>
                <a:lnTo>
                  <a:pt x="675" y="489"/>
                </a:lnTo>
                <a:lnTo>
                  <a:pt x="706" y="498"/>
                </a:lnTo>
                <a:lnTo>
                  <a:pt x="737" y="507"/>
                </a:lnTo>
                <a:lnTo>
                  <a:pt x="762" y="520"/>
                </a:lnTo>
                <a:lnTo>
                  <a:pt x="786" y="536"/>
                </a:lnTo>
                <a:lnTo>
                  <a:pt x="802" y="556"/>
                </a:lnTo>
                <a:lnTo>
                  <a:pt x="819" y="589"/>
                </a:lnTo>
                <a:lnTo>
                  <a:pt x="831" y="629"/>
                </a:lnTo>
                <a:lnTo>
                  <a:pt x="840" y="674"/>
                </a:lnTo>
                <a:lnTo>
                  <a:pt x="846" y="722"/>
                </a:lnTo>
                <a:lnTo>
                  <a:pt x="850" y="774"/>
                </a:lnTo>
                <a:lnTo>
                  <a:pt x="851" y="825"/>
                </a:lnTo>
                <a:lnTo>
                  <a:pt x="851" y="876"/>
                </a:lnTo>
                <a:lnTo>
                  <a:pt x="851" y="925"/>
                </a:lnTo>
                <a:lnTo>
                  <a:pt x="851" y="973"/>
                </a:lnTo>
                <a:lnTo>
                  <a:pt x="862" y="1127"/>
                </a:lnTo>
                <a:lnTo>
                  <a:pt x="850" y="1227"/>
                </a:lnTo>
                <a:lnTo>
                  <a:pt x="844" y="1329"/>
                </a:lnTo>
                <a:lnTo>
                  <a:pt x="846" y="1427"/>
                </a:lnTo>
                <a:lnTo>
                  <a:pt x="853" y="1524"/>
                </a:lnTo>
                <a:lnTo>
                  <a:pt x="862" y="1616"/>
                </a:lnTo>
                <a:lnTo>
                  <a:pt x="862" y="1649"/>
                </a:lnTo>
                <a:lnTo>
                  <a:pt x="853" y="1676"/>
                </a:lnTo>
                <a:lnTo>
                  <a:pt x="839" y="1702"/>
                </a:lnTo>
                <a:lnTo>
                  <a:pt x="817" y="1724"/>
                </a:lnTo>
                <a:lnTo>
                  <a:pt x="793" y="1742"/>
                </a:lnTo>
                <a:lnTo>
                  <a:pt x="768" y="1754"/>
                </a:lnTo>
                <a:lnTo>
                  <a:pt x="742" y="1764"/>
                </a:lnTo>
                <a:lnTo>
                  <a:pt x="742" y="1756"/>
                </a:lnTo>
                <a:lnTo>
                  <a:pt x="740" y="1751"/>
                </a:lnTo>
                <a:lnTo>
                  <a:pt x="739" y="1745"/>
                </a:lnTo>
                <a:lnTo>
                  <a:pt x="739" y="1742"/>
                </a:lnTo>
                <a:lnTo>
                  <a:pt x="739" y="1736"/>
                </a:lnTo>
                <a:lnTo>
                  <a:pt x="739" y="1729"/>
                </a:lnTo>
                <a:lnTo>
                  <a:pt x="744" y="1724"/>
                </a:lnTo>
                <a:lnTo>
                  <a:pt x="750" y="1720"/>
                </a:lnTo>
                <a:lnTo>
                  <a:pt x="753" y="1714"/>
                </a:lnTo>
                <a:lnTo>
                  <a:pt x="757" y="1707"/>
                </a:lnTo>
                <a:lnTo>
                  <a:pt x="759" y="1700"/>
                </a:lnTo>
                <a:lnTo>
                  <a:pt x="755" y="1698"/>
                </a:lnTo>
                <a:lnTo>
                  <a:pt x="751" y="1698"/>
                </a:lnTo>
                <a:lnTo>
                  <a:pt x="750" y="1698"/>
                </a:lnTo>
                <a:lnTo>
                  <a:pt x="750" y="1698"/>
                </a:lnTo>
                <a:lnTo>
                  <a:pt x="750" y="1696"/>
                </a:lnTo>
                <a:lnTo>
                  <a:pt x="750" y="1694"/>
                </a:lnTo>
                <a:lnTo>
                  <a:pt x="748" y="1693"/>
                </a:lnTo>
                <a:lnTo>
                  <a:pt x="748" y="1687"/>
                </a:lnTo>
                <a:lnTo>
                  <a:pt x="770" y="1674"/>
                </a:lnTo>
                <a:lnTo>
                  <a:pt x="790" y="1658"/>
                </a:lnTo>
                <a:lnTo>
                  <a:pt x="808" y="1640"/>
                </a:lnTo>
                <a:lnTo>
                  <a:pt x="806" y="1631"/>
                </a:lnTo>
                <a:lnTo>
                  <a:pt x="804" y="1624"/>
                </a:lnTo>
                <a:lnTo>
                  <a:pt x="802" y="1618"/>
                </a:lnTo>
                <a:lnTo>
                  <a:pt x="799" y="1613"/>
                </a:lnTo>
                <a:lnTo>
                  <a:pt x="788" y="1607"/>
                </a:lnTo>
                <a:lnTo>
                  <a:pt x="779" y="1613"/>
                </a:lnTo>
                <a:lnTo>
                  <a:pt x="775" y="1625"/>
                </a:lnTo>
                <a:lnTo>
                  <a:pt x="771" y="1638"/>
                </a:lnTo>
                <a:lnTo>
                  <a:pt x="766" y="1647"/>
                </a:lnTo>
                <a:lnTo>
                  <a:pt x="757" y="1656"/>
                </a:lnTo>
                <a:lnTo>
                  <a:pt x="742" y="1660"/>
                </a:lnTo>
                <a:lnTo>
                  <a:pt x="735" y="1547"/>
                </a:lnTo>
                <a:lnTo>
                  <a:pt x="768" y="1493"/>
                </a:lnTo>
                <a:lnTo>
                  <a:pt x="768" y="1469"/>
                </a:lnTo>
                <a:lnTo>
                  <a:pt x="766" y="1442"/>
                </a:lnTo>
                <a:lnTo>
                  <a:pt x="759" y="1413"/>
                </a:lnTo>
                <a:lnTo>
                  <a:pt x="751" y="1380"/>
                </a:lnTo>
                <a:lnTo>
                  <a:pt x="742" y="1349"/>
                </a:lnTo>
                <a:lnTo>
                  <a:pt x="733" y="1318"/>
                </a:lnTo>
                <a:lnTo>
                  <a:pt x="724" y="1291"/>
                </a:lnTo>
                <a:lnTo>
                  <a:pt x="719" y="1267"/>
                </a:lnTo>
                <a:lnTo>
                  <a:pt x="722" y="1056"/>
                </a:lnTo>
                <a:lnTo>
                  <a:pt x="702" y="1000"/>
                </a:lnTo>
                <a:lnTo>
                  <a:pt x="699" y="974"/>
                </a:lnTo>
                <a:lnTo>
                  <a:pt x="697" y="945"/>
                </a:lnTo>
                <a:lnTo>
                  <a:pt x="695" y="914"/>
                </a:lnTo>
                <a:lnTo>
                  <a:pt x="695" y="884"/>
                </a:lnTo>
                <a:lnTo>
                  <a:pt x="691" y="854"/>
                </a:lnTo>
                <a:lnTo>
                  <a:pt x="684" y="831"/>
                </a:lnTo>
                <a:lnTo>
                  <a:pt x="671" y="813"/>
                </a:lnTo>
                <a:lnTo>
                  <a:pt x="668" y="809"/>
                </a:lnTo>
                <a:lnTo>
                  <a:pt x="668" y="889"/>
                </a:lnTo>
                <a:lnTo>
                  <a:pt x="653" y="927"/>
                </a:lnTo>
                <a:lnTo>
                  <a:pt x="644" y="969"/>
                </a:lnTo>
                <a:lnTo>
                  <a:pt x="642" y="1014"/>
                </a:lnTo>
                <a:lnTo>
                  <a:pt x="642" y="1060"/>
                </a:lnTo>
                <a:lnTo>
                  <a:pt x="648" y="1105"/>
                </a:lnTo>
                <a:lnTo>
                  <a:pt x="655" y="1149"/>
                </a:lnTo>
                <a:lnTo>
                  <a:pt x="662" y="1187"/>
                </a:lnTo>
                <a:lnTo>
                  <a:pt x="728" y="1620"/>
                </a:lnTo>
                <a:lnTo>
                  <a:pt x="730" y="1656"/>
                </a:lnTo>
                <a:lnTo>
                  <a:pt x="728" y="1698"/>
                </a:lnTo>
                <a:lnTo>
                  <a:pt x="722" y="1744"/>
                </a:lnTo>
                <a:lnTo>
                  <a:pt x="717" y="1789"/>
                </a:lnTo>
                <a:lnTo>
                  <a:pt x="710" y="1836"/>
                </a:lnTo>
                <a:lnTo>
                  <a:pt x="708" y="1882"/>
                </a:lnTo>
                <a:lnTo>
                  <a:pt x="708" y="1924"/>
                </a:lnTo>
                <a:lnTo>
                  <a:pt x="713" y="1974"/>
                </a:lnTo>
                <a:lnTo>
                  <a:pt x="722" y="2027"/>
                </a:lnTo>
                <a:lnTo>
                  <a:pt x="733" y="2082"/>
                </a:lnTo>
                <a:lnTo>
                  <a:pt x="744" y="2140"/>
                </a:lnTo>
                <a:lnTo>
                  <a:pt x="751" y="2198"/>
                </a:lnTo>
                <a:lnTo>
                  <a:pt x="753" y="2256"/>
                </a:lnTo>
                <a:lnTo>
                  <a:pt x="748" y="2313"/>
                </a:lnTo>
                <a:lnTo>
                  <a:pt x="731" y="2387"/>
                </a:lnTo>
                <a:lnTo>
                  <a:pt x="715" y="2458"/>
                </a:lnTo>
                <a:lnTo>
                  <a:pt x="699" y="2531"/>
                </a:lnTo>
                <a:lnTo>
                  <a:pt x="684" y="2607"/>
                </a:lnTo>
                <a:lnTo>
                  <a:pt x="671" y="2687"/>
                </a:lnTo>
                <a:lnTo>
                  <a:pt x="670" y="2727"/>
                </a:lnTo>
                <a:lnTo>
                  <a:pt x="675" y="2762"/>
                </a:lnTo>
                <a:lnTo>
                  <a:pt x="684" y="2796"/>
                </a:lnTo>
                <a:lnTo>
                  <a:pt x="697" y="2829"/>
                </a:lnTo>
                <a:lnTo>
                  <a:pt x="710" y="2862"/>
                </a:lnTo>
                <a:lnTo>
                  <a:pt x="722" y="2894"/>
                </a:lnTo>
                <a:lnTo>
                  <a:pt x="731" y="2927"/>
                </a:lnTo>
                <a:lnTo>
                  <a:pt x="735" y="2964"/>
                </a:lnTo>
                <a:lnTo>
                  <a:pt x="699" y="2980"/>
                </a:lnTo>
                <a:lnTo>
                  <a:pt x="659" y="2989"/>
                </a:lnTo>
                <a:lnTo>
                  <a:pt x="615" y="2991"/>
                </a:lnTo>
                <a:lnTo>
                  <a:pt x="568" y="2989"/>
                </a:lnTo>
                <a:lnTo>
                  <a:pt x="559" y="2962"/>
                </a:lnTo>
                <a:lnTo>
                  <a:pt x="551" y="2929"/>
                </a:lnTo>
                <a:lnTo>
                  <a:pt x="548" y="2894"/>
                </a:lnTo>
                <a:lnTo>
                  <a:pt x="551" y="2856"/>
                </a:lnTo>
                <a:lnTo>
                  <a:pt x="555" y="2784"/>
                </a:lnTo>
                <a:lnTo>
                  <a:pt x="551" y="2773"/>
                </a:lnTo>
                <a:lnTo>
                  <a:pt x="546" y="2760"/>
                </a:lnTo>
                <a:lnTo>
                  <a:pt x="542" y="2745"/>
                </a:lnTo>
                <a:lnTo>
                  <a:pt x="542" y="2727"/>
                </a:lnTo>
                <a:lnTo>
                  <a:pt x="551" y="2696"/>
                </a:lnTo>
                <a:lnTo>
                  <a:pt x="560" y="2664"/>
                </a:lnTo>
                <a:lnTo>
                  <a:pt x="570" y="2627"/>
                </a:lnTo>
                <a:lnTo>
                  <a:pt x="575" y="2589"/>
                </a:lnTo>
                <a:lnTo>
                  <a:pt x="577" y="2545"/>
                </a:lnTo>
                <a:lnTo>
                  <a:pt x="571" y="2500"/>
                </a:lnTo>
                <a:lnTo>
                  <a:pt x="560" y="2453"/>
                </a:lnTo>
                <a:lnTo>
                  <a:pt x="550" y="2402"/>
                </a:lnTo>
                <a:lnTo>
                  <a:pt x="539" y="2349"/>
                </a:lnTo>
                <a:lnTo>
                  <a:pt x="535" y="2294"/>
                </a:lnTo>
                <a:lnTo>
                  <a:pt x="539" y="2240"/>
                </a:lnTo>
                <a:lnTo>
                  <a:pt x="559" y="2116"/>
                </a:lnTo>
                <a:lnTo>
                  <a:pt x="548" y="2076"/>
                </a:lnTo>
                <a:lnTo>
                  <a:pt x="531" y="2036"/>
                </a:lnTo>
                <a:lnTo>
                  <a:pt x="515" y="1994"/>
                </a:lnTo>
                <a:lnTo>
                  <a:pt x="502" y="1953"/>
                </a:lnTo>
                <a:lnTo>
                  <a:pt x="491" y="1784"/>
                </a:lnTo>
                <a:lnTo>
                  <a:pt x="439" y="1540"/>
                </a:lnTo>
                <a:lnTo>
                  <a:pt x="431" y="1540"/>
                </a:lnTo>
                <a:lnTo>
                  <a:pt x="426" y="1556"/>
                </a:lnTo>
                <a:lnTo>
                  <a:pt x="422" y="1576"/>
                </a:lnTo>
                <a:lnTo>
                  <a:pt x="422" y="1600"/>
                </a:lnTo>
                <a:lnTo>
                  <a:pt x="406" y="1642"/>
                </a:lnTo>
                <a:lnTo>
                  <a:pt x="397" y="1685"/>
                </a:lnTo>
                <a:lnTo>
                  <a:pt x="391" y="1733"/>
                </a:lnTo>
                <a:lnTo>
                  <a:pt x="390" y="1782"/>
                </a:lnTo>
                <a:lnTo>
                  <a:pt x="386" y="1833"/>
                </a:lnTo>
                <a:lnTo>
                  <a:pt x="382" y="1885"/>
                </a:lnTo>
                <a:lnTo>
                  <a:pt x="375" y="1936"/>
                </a:lnTo>
                <a:lnTo>
                  <a:pt x="362" y="1985"/>
                </a:lnTo>
                <a:lnTo>
                  <a:pt x="346" y="2031"/>
                </a:lnTo>
                <a:lnTo>
                  <a:pt x="330" y="2076"/>
                </a:lnTo>
                <a:lnTo>
                  <a:pt x="319" y="2120"/>
                </a:lnTo>
                <a:lnTo>
                  <a:pt x="339" y="2209"/>
                </a:lnTo>
                <a:lnTo>
                  <a:pt x="339" y="2364"/>
                </a:lnTo>
                <a:lnTo>
                  <a:pt x="331" y="2400"/>
                </a:lnTo>
                <a:lnTo>
                  <a:pt x="322" y="2438"/>
                </a:lnTo>
                <a:lnTo>
                  <a:pt x="315" y="2482"/>
                </a:lnTo>
                <a:lnTo>
                  <a:pt x="311" y="2525"/>
                </a:lnTo>
                <a:lnTo>
                  <a:pt x="315" y="2569"/>
                </a:lnTo>
                <a:lnTo>
                  <a:pt x="319" y="2664"/>
                </a:lnTo>
                <a:lnTo>
                  <a:pt x="348" y="2727"/>
                </a:lnTo>
                <a:lnTo>
                  <a:pt x="348" y="2744"/>
                </a:lnTo>
                <a:lnTo>
                  <a:pt x="344" y="2758"/>
                </a:lnTo>
                <a:lnTo>
                  <a:pt x="339" y="2773"/>
                </a:lnTo>
                <a:lnTo>
                  <a:pt x="335" y="2784"/>
                </a:lnTo>
                <a:lnTo>
                  <a:pt x="331" y="2822"/>
                </a:lnTo>
                <a:lnTo>
                  <a:pt x="333" y="2862"/>
                </a:lnTo>
                <a:lnTo>
                  <a:pt x="335" y="2902"/>
                </a:lnTo>
                <a:lnTo>
                  <a:pt x="337" y="2944"/>
                </a:lnTo>
                <a:lnTo>
                  <a:pt x="331" y="2984"/>
                </a:lnTo>
                <a:lnTo>
                  <a:pt x="322" y="2984"/>
                </a:lnTo>
                <a:lnTo>
                  <a:pt x="304" y="2993"/>
                </a:lnTo>
                <a:lnTo>
                  <a:pt x="280" y="2998"/>
                </a:lnTo>
                <a:lnTo>
                  <a:pt x="257" y="2998"/>
                </a:lnTo>
                <a:lnTo>
                  <a:pt x="233" y="2996"/>
                </a:lnTo>
                <a:lnTo>
                  <a:pt x="210" y="2989"/>
                </a:lnTo>
                <a:lnTo>
                  <a:pt x="190" y="2980"/>
                </a:lnTo>
                <a:lnTo>
                  <a:pt x="173" y="2965"/>
                </a:lnTo>
                <a:lnTo>
                  <a:pt x="162" y="2949"/>
                </a:lnTo>
                <a:lnTo>
                  <a:pt x="159" y="2929"/>
                </a:lnTo>
                <a:lnTo>
                  <a:pt x="179" y="2885"/>
                </a:lnTo>
                <a:lnTo>
                  <a:pt x="195" y="2838"/>
                </a:lnTo>
                <a:lnTo>
                  <a:pt x="206" y="2784"/>
                </a:lnTo>
                <a:lnTo>
                  <a:pt x="211" y="2727"/>
                </a:lnTo>
                <a:lnTo>
                  <a:pt x="213" y="2671"/>
                </a:lnTo>
                <a:lnTo>
                  <a:pt x="210" y="2613"/>
                </a:lnTo>
                <a:lnTo>
                  <a:pt x="202" y="2556"/>
                </a:lnTo>
                <a:lnTo>
                  <a:pt x="191" y="2504"/>
                </a:lnTo>
                <a:lnTo>
                  <a:pt x="179" y="2467"/>
                </a:lnTo>
                <a:lnTo>
                  <a:pt x="166" y="2431"/>
                </a:lnTo>
                <a:lnTo>
                  <a:pt x="153" y="2389"/>
                </a:lnTo>
                <a:lnTo>
                  <a:pt x="140" y="2347"/>
                </a:lnTo>
                <a:lnTo>
                  <a:pt x="133" y="2302"/>
                </a:lnTo>
                <a:lnTo>
                  <a:pt x="130" y="2254"/>
                </a:lnTo>
                <a:lnTo>
                  <a:pt x="135" y="2204"/>
                </a:lnTo>
                <a:lnTo>
                  <a:pt x="142" y="2165"/>
                </a:lnTo>
                <a:lnTo>
                  <a:pt x="151" y="2120"/>
                </a:lnTo>
                <a:lnTo>
                  <a:pt x="159" y="2071"/>
                </a:lnTo>
                <a:lnTo>
                  <a:pt x="166" y="2022"/>
                </a:lnTo>
                <a:lnTo>
                  <a:pt x="171" y="1971"/>
                </a:lnTo>
                <a:lnTo>
                  <a:pt x="171" y="1924"/>
                </a:lnTo>
                <a:lnTo>
                  <a:pt x="168" y="1880"/>
                </a:lnTo>
                <a:lnTo>
                  <a:pt x="162" y="1847"/>
                </a:lnTo>
                <a:lnTo>
                  <a:pt x="157" y="1809"/>
                </a:lnTo>
                <a:lnTo>
                  <a:pt x="151" y="1765"/>
                </a:lnTo>
                <a:lnTo>
                  <a:pt x="148" y="1718"/>
                </a:lnTo>
                <a:lnTo>
                  <a:pt x="144" y="1673"/>
                </a:lnTo>
                <a:lnTo>
                  <a:pt x="142" y="1629"/>
                </a:lnTo>
                <a:lnTo>
                  <a:pt x="144" y="1591"/>
                </a:lnTo>
                <a:lnTo>
                  <a:pt x="148" y="1560"/>
                </a:lnTo>
                <a:lnTo>
                  <a:pt x="195" y="1224"/>
                </a:lnTo>
                <a:lnTo>
                  <a:pt x="204" y="1189"/>
                </a:lnTo>
                <a:lnTo>
                  <a:pt x="213" y="1153"/>
                </a:lnTo>
                <a:lnTo>
                  <a:pt x="222" y="1113"/>
                </a:lnTo>
                <a:lnTo>
                  <a:pt x="226" y="1071"/>
                </a:lnTo>
                <a:lnTo>
                  <a:pt x="222" y="1029"/>
                </a:lnTo>
                <a:lnTo>
                  <a:pt x="199" y="904"/>
                </a:lnTo>
                <a:lnTo>
                  <a:pt x="195" y="809"/>
                </a:lnTo>
                <a:lnTo>
                  <a:pt x="191" y="813"/>
                </a:lnTo>
                <a:lnTo>
                  <a:pt x="180" y="836"/>
                </a:lnTo>
                <a:lnTo>
                  <a:pt x="175" y="865"/>
                </a:lnTo>
                <a:lnTo>
                  <a:pt x="171" y="896"/>
                </a:lnTo>
                <a:lnTo>
                  <a:pt x="171" y="929"/>
                </a:lnTo>
                <a:lnTo>
                  <a:pt x="168" y="962"/>
                </a:lnTo>
                <a:lnTo>
                  <a:pt x="162" y="993"/>
                </a:lnTo>
                <a:lnTo>
                  <a:pt x="139" y="1067"/>
                </a:lnTo>
                <a:lnTo>
                  <a:pt x="135" y="1107"/>
                </a:lnTo>
                <a:lnTo>
                  <a:pt x="135" y="1147"/>
                </a:lnTo>
                <a:lnTo>
                  <a:pt x="140" y="1189"/>
                </a:lnTo>
                <a:lnTo>
                  <a:pt x="144" y="1229"/>
                </a:lnTo>
                <a:lnTo>
                  <a:pt x="144" y="1269"/>
                </a:lnTo>
                <a:lnTo>
                  <a:pt x="139" y="1309"/>
                </a:lnTo>
                <a:lnTo>
                  <a:pt x="135" y="1325"/>
                </a:lnTo>
                <a:lnTo>
                  <a:pt x="128" y="1347"/>
                </a:lnTo>
                <a:lnTo>
                  <a:pt x="119" y="1373"/>
                </a:lnTo>
                <a:lnTo>
                  <a:pt x="110" y="1402"/>
                </a:lnTo>
                <a:lnTo>
                  <a:pt x="102" y="1429"/>
                </a:lnTo>
                <a:lnTo>
                  <a:pt x="99" y="1456"/>
                </a:lnTo>
                <a:lnTo>
                  <a:pt x="97" y="1480"/>
                </a:lnTo>
                <a:lnTo>
                  <a:pt x="99" y="1500"/>
                </a:lnTo>
                <a:lnTo>
                  <a:pt x="128" y="1544"/>
                </a:lnTo>
                <a:lnTo>
                  <a:pt x="122" y="1656"/>
                </a:lnTo>
                <a:lnTo>
                  <a:pt x="108" y="1660"/>
                </a:lnTo>
                <a:lnTo>
                  <a:pt x="99" y="1640"/>
                </a:lnTo>
                <a:lnTo>
                  <a:pt x="91" y="1616"/>
                </a:lnTo>
                <a:lnTo>
                  <a:pt x="68" y="1607"/>
                </a:lnTo>
                <a:lnTo>
                  <a:pt x="62" y="1636"/>
                </a:lnTo>
                <a:lnTo>
                  <a:pt x="82" y="1656"/>
                </a:lnTo>
                <a:lnTo>
                  <a:pt x="104" y="1678"/>
                </a:lnTo>
                <a:lnTo>
                  <a:pt x="119" y="1700"/>
                </a:lnTo>
                <a:lnTo>
                  <a:pt x="115" y="1702"/>
                </a:lnTo>
                <a:lnTo>
                  <a:pt x="111" y="1702"/>
                </a:lnTo>
                <a:lnTo>
                  <a:pt x="110" y="1702"/>
                </a:lnTo>
                <a:lnTo>
                  <a:pt x="110" y="1704"/>
                </a:lnTo>
                <a:lnTo>
                  <a:pt x="110" y="1704"/>
                </a:lnTo>
                <a:lnTo>
                  <a:pt x="110" y="1705"/>
                </a:lnTo>
                <a:lnTo>
                  <a:pt x="108" y="1707"/>
                </a:lnTo>
                <a:lnTo>
                  <a:pt x="108" y="1713"/>
                </a:lnTo>
                <a:lnTo>
                  <a:pt x="119" y="1718"/>
                </a:lnTo>
                <a:lnTo>
                  <a:pt x="124" y="1729"/>
                </a:lnTo>
                <a:lnTo>
                  <a:pt x="128" y="1744"/>
                </a:lnTo>
                <a:lnTo>
                  <a:pt x="124" y="1749"/>
                </a:lnTo>
                <a:lnTo>
                  <a:pt x="122" y="1754"/>
                </a:lnTo>
                <a:lnTo>
                  <a:pt x="119" y="1760"/>
                </a:lnTo>
                <a:lnTo>
                  <a:pt x="115" y="1764"/>
                </a:lnTo>
                <a:lnTo>
                  <a:pt x="95" y="1751"/>
                </a:lnTo>
                <a:lnTo>
                  <a:pt x="75" y="1740"/>
                </a:lnTo>
                <a:lnTo>
                  <a:pt x="57" y="1729"/>
                </a:lnTo>
                <a:lnTo>
                  <a:pt x="39" y="1714"/>
                </a:lnTo>
                <a:lnTo>
                  <a:pt x="24" y="1696"/>
                </a:lnTo>
                <a:lnTo>
                  <a:pt x="11" y="1673"/>
                </a:lnTo>
                <a:lnTo>
                  <a:pt x="2" y="1640"/>
                </a:lnTo>
                <a:lnTo>
                  <a:pt x="2" y="1607"/>
                </a:lnTo>
                <a:lnTo>
                  <a:pt x="6" y="1574"/>
                </a:lnTo>
                <a:lnTo>
                  <a:pt x="11" y="1540"/>
                </a:lnTo>
                <a:lnTo>
                  <a:pt x="17" y="1505"/>
                </a:lnTo>
                <a:lnTo>
                  <a:pt x="19" y="1473"/>
                </a:lnTo>
                <a:lnTo>
                  <a:pt x="2" y="1140"/>
                </a:lnTo>
                <a:lnTo>
                  <a:pt x="0" y="1105"/>
                </a:lnTo>
                <a:lnTo>
                  <a:pt x="2" y="1071"/>
                </a:lnTo>
                <a:lnTo>
                  <a:pt x="8" y="1038"/>
                </a:lnTo>
                <a:lnTo>
                  <a:pt x="13" y="1005"/>
                </a:lnTo>
                <a:lnTo>
                  <a:pt x="15" y="969"/>
                </a:lnTo>
                <a:lnTo>
                  <a:pt x="11" y="933"/>
                </a:lnTo>
                <a:lnTo>
                  <a:pt x="8" y="904"/>
                </a:lnTo>
                <a:lnTo>
                  <a:pt x="6" y="867"/>
                </a:lnTo>
                <a:lnTo>
                  <a:pt x="8" y="825"/>
                </a:lnTo>
                <a:lnTo>
                  <a:pt x="11" y="782"/>
                </a:lnTo>
                <a:lnTo>
                  <a:pt x="17" y="736"/>
                </a:lnTo>
                <a:lnTo>
                  <a:pt x="22" y="693"/>
                </a:lnTo>
                <a:lnTo>
                  <a:pt x="30" y="653"/>
                </a:lnTo>
                <a:lnTo>
                  <a:pt x="39" y="616"/>
                </a:lnTo>
                <a:lnTo>
                  <a:pt x="46" y="587"/>
                </a:lnTo>
                <a:lnTo>
                  <a:pt x="55" y="567"/>
                </a:lnTo>
                <a:lnTo>
                  <a:pt x="75" y="544"/>
                </a:lnTo>
                <a:lnTo>
                  <a:pt x="99" y="524"/>
                </a:lnTo>
                <a:lnTo>
                  <a:pt x="128" y="509"/>
                </a:lnTo>
                <a:lnTo>
                  <a:pt x="159" y="496"/>
                </a:lnTo>
                <a:lnTo>
                  <a:pt x="191" y="485"/>
                </a:lnTo>
                <a:lnTo>
                  <a:pt x="224" y="476"/>
                </a:lnTo>
                <a:lnTo>
                  <a:pt x="257" y="465"/>
                </a:lnTo>
                <a:lnTo>
                  <a:pt x="288" y="453"/>
                </a:lnTo>
                <a:lnTo>
                  <a:pt x="315" y="436"/>
                </a:lnTo>
                <a:lnTo>
                  <a:pt x="339" y="416"/>
                </a:lnTo>
                <a:lnTo>
                  <a:pt x="339" y="391"/>
                </a:lnTo>
                <a:lnTo>
                  <a:pt x="340" y="364"/>
                </a:lnTo>
                <a:lnTo>
                  <a:pt x="340" y="336"/>
                </a:lnTo>
                <a:lnTo>
                  <a:pt x="339" y="311"/>
                </a:lnTo>
                <a:lnTo>
                  <a:pt x="331" y="293"/>
                </a:lnTo>
                <a:lnTo>
                  <a:pt x="322" y="280"/>
                </a:lnTo>
                <a:lnTo>
                  <a:pt x="313" y="269"/>
                </a:lnTo>
                <a:lnTo>
                  <a:pt x="304" y="254"/>
                </a:lnTo>
                <a:lnTo>
                  <a:pt x="299" y="236"/>
                </a:lnTo>
                <a:lnTo>
                  <a:pt x="299" y="224"/>
                </a:lnTo>
                <a:lnTo>
                  <a:pt x="302" y="214"/>
                </a:lnTo>
                <a:lnTo>
                  <a:pt x="306" y="207"/>
                </a:lnTo>
                <a:lnTo>
                  <a:pt x="311" y="200"/>
                </a:lnTo>
                <a:lnTo>
                  <a:pt x="315" y="193"/>
                </a:lnTo>
                <a:lnTo>
                  <a:pt x="302" y="133"/>
                </a:lnTo>
                <a:lnTo>
                  <a:pt x="313" y="104"/>
                </a:lnTo>
                <a:lnTo>
                  <a:pt x="330" y="74"/>
                </a:lnTo>
                <a:lnTo>
                  <a:pt x="353" y="47"/>
                </a:lnTo>
                <a:lnTo>
                  <a:pt x="380" y="25"/>
                </a:lnTo>
                <a:lnTo>
                  <a:pt x="410" y="9"/>
                </a:lnTo>
                <a:lnTo>
                  <a:pt x="4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TW" dirty="0" smtClean="0"/>
              <a:t>When more than 2 people work in parallel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1908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9552" y="229961"/>
            <a:ext cx="3491880" cy="576064"/>
          </a:xfrm>
        </p:spPr>
        <p:txBody>
          <a:bodyPr/>
          <a:lstStyle/>
          <a:p>
            <a:r>
              <a:rPr lang="en-US" altLang="ko-KR" sz="2500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Rework the storyboard</a:t>
            </a:r>
            <a:endParaRPr lang="ko-KR" altLang="en-US" sz="2500" b="1" dirty="0">
              <a:solidFill>
                <a:schemeClr val="tx1"/>
              </a:solidFill>
              <a:latin typeface="微軟正黑體 Light" panose="020B0304030504040204" pitchFamily="34" charset="-12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572000" y="1203598"/>
            <a:ext cx="0" cy="3672408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0" y="4876006"/>
            <a:ext cx="9144000" cy="0"/>
          </a:xfrm>
          <a:prstGeom prst="line">
            <a:avLst/>
          </a:prstGeom>
          <a:ln w="31750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16673" y="229961"/>
            <a:ext cx="4392488" cy="576064"/>
          </a:xfrm>
        </p:spPr>
        <p:txBody>
          <a:bodyPr/>
          <a:lstStyle/>
          <a:p>
            <a:r>
              <a:rPr lang="en-US" altLang="ko-KR" sz="2500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Go on to the next storyboard</a:t>
            </a:r>
            <a:endParaRPr lang="ko-KR" altLang="en-US" sz="2500" b="1" dirty="0">
              <a:solidFill>
                <a:schemeClr val="tx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9" name="Left Arrow 1">
            <a:extLst>
              <a:ext uri="{FF2B5EF4-FFF2-40B4-BE49-F238E27FC236}">
                <a16:creationId xmlns:a16="http://schemas.microsoft.com/office/drawing/2014/main" id="{AD24666F-8C46-4E93-8906-F8CA5451115B}"/>
              </a:ext>
            </a:extLst>
          </p:cNvPr>
          <p:cNvSpPr>
            <a:spLocks noChangeAspect="1"/>
          </p:cNvSpPr>
          <p:nvPr/>
        </p:nvSpPr>
        <p:spPr>
          <a:xfrm>
            <a:off x="1619672" y="1203598"/>
            <a:ext cx="1265056" cy="1231291"/>
          </a:xfrm>
          <a:custGeom>
            <a:avLst/>
            <a:gdLst/>
            <a:ahLst/>
            <a:cxnLst/>
            <a:rect l="l" t="t" r="r" b="b"/>
            <a:pathLst>
              <a:path w="3306630" h="3218379">
                <a:moveTo>
                  <a:pt x="0" y="2085651"/>
                </a:moveTo>
                <a:cubicBezTo>
                  <a:pt x="253919" y="2342528"/>
                  <a:pt x="881542" y="2297196"/>
                  <a:pt x="1388167" y="2271654"/>
                </a:cubicBezTo>
                <a:lnTo>
                  <a:pt x="1417952" y="2988872"/>
                </a:lnTo>
                <a:lnTo>
                  <a:pt x="717647" y="2950294"/>
                </a:lnTo>
                <a:cubicBezTo>
                  <a:pt x="467617" y="2928101"/>
                  <a:pt x="217417" y="2555860"/>
                  <a:pt x="0" y="2085651"/>
                </a:cubicBezTo>
                <a:close/>
                <a:moveTo>
                  <a:pt x="1969797" y="2019847"/>
                </a:moveTo>
                <a:lnTo>
                  <a:pt x="1969797" y="2274913"/>
                </a:lnTo>
                <a:lnTo>
                  <a:pt x="2657809" y="2274913"/>
                </a:lnTo>
                <a:cubicBezTo>
                  <a:pt x="2787205" y="2599270"/>
                  <a:pt x="2968360" y="2923626"/>
                  <a:pt x="2675062" y="2954686"/>
                </a:cubicBezTo>
                <a:lnTo>
                  <a:pt x="1969797" y="2963313"/>
                </a:lnTo>
                <a:lnTo>
                  <a:pt x="1969797" y="3218379"/>
                </a:lnTo>
                <a:lnTo>
                  <a:pt x="1429598" y="2619113"/>
                </a:lnTo>
                <a:close/>
                <a:moveTo>
                  <a:pt x="2961009" y="1275432"/>
                </a:moveTo>
                <a:lnTo>
                  <a:pt x="3277752" y="1901203"/>
                </a:lnTo>
                <a:cubicBezTo>
                  <a:pt x="3383548" y="2128832"/>
                  <a:pt x="3186278" y="2531632"/>
                  <a:pt x="2887773" y="2955026"/>
                </a:cubicBezTo>
                <a:cubicBezTo>
                  <a:pt x="2983276" y="2606687"/>
                  <a:pt x="2630206" y="2085815"/>
                  <a:pt x="2354773" y="1659836"/>
                </a:cubicBezTo>
                <a:close/>
                <a:moveTo>
                  <a:pt x="1019997" y="990789"/>
                </a:moveTo>
                <a:lnTo>
                  <a:pt x="1268877" y="1758248"/>
                </a:lnTo>
                <a:lnTo>
                  <a:pt x="1047983" y="1630715"/>
                </a:lnTo>
                <a:lnTo>
                  <a:pt x="703977" y="2226552"/>
                </a:lnTo>
                <a:cubicBezTo>
                  <a:pt x="358378" y="2176433"/>
                  <a:pt x="-13100" y="2171140"/>
                  <a:pt x="106650" y="1901606"/>
                </a:cubicBezTo>
                <a:lnTo>
                  <a:pt x="451811" y="1286515"/>
                </a:lnTo>
                <a:lnTo>
                  <a:pt x="230918" y="1158982"/>
                </a:lnTo>
                <a:close/>
                <a:moveTo>
                  <a:pt x="2174825" y="119764"/>
                </a:moveTo>
                <a:cubicBezTo>
                  <a:pt x="2220451" y="119103"/>
                  <a:pt x="2264887" y="143875"/>
                  <a:pt x="2308274" y="203493"/>
                </a:cubicBezTo>
                <a:lnTo>
                  <a:pt x="2668377" y="809957"/>
                </a:lnTo>
                <a:lnTo>
                  <a:pt x="2889271" y="682424"/>
                </a:lnTo>
                <a:lnTo>
                  <a:pt x="2640391" y="1449883"/>
                </a:lnTo>
                <a:lnTo>
                  <a:pt x="1851312" y="1281690"/>
                </a:lnTo>
                <a:lnTo>
                  <a:pt x="2072206" y="1154157"/>
                </a:lnTo>
                <a:lnTo>
                  <a:pt x="1728200" y="558321"/>
                </a:lnTo>
                <a:cubicBezTo>
                  <a:pt x="1890352" y="352642"/>
                  <a:pt x="2037947" y="121750"/>
                  <a:pt x="2174825" y="119764"/>
                </a:cubicBezTo>
                <a:close/>
                <a:moveTo>
                  <a:pt x="1831774" y="30"/>
                </a:moveTo>
                <a:cubicBezTo>
                  <a:pt x="1948530" y="539"/>
                  <a:pt x="2073232" y="7407"/>
                  <a:pt x="2202212" y="19111"/>
                </a:cubicBezTo>
                <a:cubicBezTo>
                  <a:pt x="1852790" y="110572"/>
                  <a:pt x="1578238" y="676776"/>
                  <a:pt x="1347045" y="1128297"/>
                </a:cubicBezTo>
                <a:lnTo>
                  <a:pt x="711024" y="795483"/>
                </a:lnTo>
                <a:lnTo>
                  <a:pt x="1094586" y="208291"/>
                </a:lnTo>
                <a:cubicBezTo>
                  <a:pt x="1202761" y="54213"/>
                  <a:pt x="1481508" y="-1496"/>
                  <a:pt x="1831774" y="3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0" y="2787774"/>
            <a:ext cx="4572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設計者間提出的建議再做修改</a:t>
            </a:r>
            <a:endParaRPr lang="en-US" altLang="zh-TW" sz="2000" b="1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沒什麼問題則使用者間不需要再做一次討論</a:t>
            </a:r>
            <a:endParaRPr lang="en-US" altLang="zh-TW" sz="2000" b="1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沒討論仔細，讓更多使用者來測指會更浪費時間</a:t>
            </a:r>
            <a:endParaRPr lang="en-US" altLang="zh-TW" sz="2000" b="1" dirty="0" smtClean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endParaRPr lang="zh-TW" altLang="en-US" dirty="0"/>
          </a:p>
        </p:txBody>
      </p:sp>
      <p:sp>
        <p:nvSpPr>
          <p:cNvPr id="30" name="Oval 35">
            <a:extLst>
              <a:ext uri="{FF2B5EF4-FFF2-40B4-BE49-F238E27FC236}">
                <a16:creationId xmlns:a16="http://schemas.microsoft.com/office/drawing/2014/main" id="{CCF36991-7320-4C8B-8712-E3155FA5CD2D}"/>
              </a:ext>
            </a:extLst>
          </p:cNvPr>
          <p:cNvSpPr/>
          <p:nvPr/>
        </p:nvSpPr>
        <p:spPr>
          <a:xfrm>
            <a:off x="6444208" y="1293781"/>
            <a:ext cx="905015" cy="1141108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4592958" y="2787774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完成一部分</a:t>
            </a:r>
            <a:r>
              <a:rPr lang="en-US" altLang="zh-TW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vision</a:t>
            </a: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的</a:t>
            </a:r>
            <a:r>
              <a:rPr lang="en-US" altLang="zh-TW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storyboard</a:t>
            </a: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就可以往其他</a:t>
            </a:r>
            <a:r>
              <a:rPr lang="en-US" altLang="zh-TW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storyboard</a:t>
            </a: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繼續做</a:t>
            </a:r>
            <a:endParaRPr lang="en-US" altLang="zh-TW" sz="20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每個主要任務都會有一個</a:t>
            </a:r>
            <a:r>
              <a:rPr lang="en-US" altLang="zh-TW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storyboard</a:t>
            </a: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，也都會有自己的分支</a:t>
            </a:r>
            <a:endParaRPr lang="en-US" altLang="zh-TW" sz="20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目標就是要用你設計的</a:t>
            </a:r>
            <a:r>
              <a:rPr lang="zh-TW" altLang="en-US" sz="2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新流</a:t>
            </a: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程</a:t>
            </a:r>
            <a:r>
              <a:rPr lang="zh-TW" altLang="en-US" sz="20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zh-TW" altLang="en-US" sz="20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技術讓使用者在意的工作有更好的成效</a:t>
            </a:r>
            <a:endParaRPr lang="en-US" altLang="zh-TW" sz="20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sz="20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209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FAEA90-371A-4379-AFBB-702E2A8764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TW" altLang="en-US" sz="3000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活動</a:t>
            </a:r>
            <a:r>
              <a:rPr lang="en-US" altLang="zh-TW" sz="3000" b="1" dirty="0">
                <a:solidFill>
                  <a:schemeClr val="tx1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(Activity)</a:t>
            </a:r>
            <a:endParaRPr lang="en-US" altLang="ko-KR" sz="3000" b="1" dirty="0">
              <a:solidFill>
                <a:schemeClr val="tx1"/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20C2B74B-BECB-4535-B502-06DC80D74B06}"/>
              </a:ext>
            </a:extLst>
          </p:cNvPr>
          <p:cNvGrpSpPr/>
          <p:nvPr/>
        </p:nvGrpSpPr>
        <p:grpSpPr>
          <a:xfrm rot="410518">
            <a:off x="7908255" y="59804"/>
            <a:ext cx="1052368" cy="3696329"/>
            <a:chOff x="4058860" y="987781"/>
            <a:chExt cx="1052368" cy="3696329"/>
          </a:xfrm>
        </p:grpSpPr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25302530-3AAA-4B18-B144-C49D138138CE}"/>
                </a:ext>
              </a:extLst>
            </p:cNvPr>
            <p:cNvSpPr/>
            <p:nvPr/>
          </p:nvSpPr>
          <p:spPr>
            <a:xfrm rot="36931">
              <a:off x="4276045" y="3801165"/>
              <a:ext cx="592195" cy="863021"/>
            </a:xfrm>
            <a:custGeom>
              <a:avLst/>
              <a:gdLst/>
              <a:ahLst/>
              <a:cxnLst/>
              <a:rect l="l" t="t" r="r" b="b"/>
              <a:pathLst>
                <a:path w="1802378" h="1800199">
                  <a:moveTo>
                    <a:pt x="0" y="0"/>
                  </a:moveTo>
                  <a:lnTo>
                    <a:pt x="1802378" y="0"/>
                  </a:lnTo>
                  <a:lnTo>
                    <a:pt x="1802378" y="289727"/>
                  </a:lnTo>
                  <a:lnTo>
                    <a:pt x="1801366" y="289727"/>
                  </a:lnTo>
                  <a:lnTo>
                    <a:pt x="901188" y="1800199"/>
                  </a:lnTo>
                  <a:lnTo>
                    <a:pt x="1012" y="289727"/>
                  </a:lnTo>
                  <a:lnTo>
                    <a:pt x="0" y="289727"/>
                  </a:lnTo>
                  <a:lnTo>
                    <a:pt x="0" y="28803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100000">
                  <a:schemeClr val="accent2">
                    <a:lumMod val="70000"/>
                    <a:lumOff val="3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91FA14DC-BAA1-4B27-93F4-512A9C64EF6C}"/>
                </a:ext>
              </a:extLst>
            </p:cNvPr>
            <p:cNvSpPr/>
            <p:nvPr/>
          </p:nvSpPr>
          <p:spPr>
            <a:xfrm>
              <a:off x="4468857" y="3793500"/>
              <a:ext cx="200342" cy="872829"/>
            </a:xfrm>
            <a:custGeom>
              <a:avLst/>
              <a:gdLst>
                <a:gd name="connsiteX0" fmla="*/ 0 w 1359043"/>
                <a:gd name="connsiteY0" fmla="*/ 0 h 1813992"/>
                <a:gd name="connsiteX1" fmla="*/ 1359043 w 1359043"/>
                <a:gd name="connsiteY1" fmla="*/ 0 h 1813992"/>
                <a:gd name="connsiteX2" fmla="*/ 1359043 w 1359043"/>
                <a:gd name="connsiteY2" fmla="*/ 212596 h 1813992"/>
                <a:gd name="connsiteX3" fmla="*/ 806822 w 1359043"/>
                <a:gd name="connsiteY3" fmla="*/ 1813992 h 1813992"/>
                <a:gd name="connsiteX4" fmla="*/ 1012 w 1359043"/>
                <a:gd name="connsiteY4" fmla="*/ 289727 h 1813992"/>
                <a:gd name="connsiteX5" fmla="*/ 0 w 1359043"/>
                <a:gd name="connsiteY5" fmla="*/ 289727 h 1813992"/>
                <a:gd name="connsiteX6" fmla="*/ 0 w 1359043"/>
                <a:gd name="connsiteY6" fmla="*/ 288030 h 1813992"/>
                <a:gd name="connsiteX7" fmla="*/ 0 w 1359043"/>
                <a:gd name="connsiteY7" fmla="*/ 0 h 1813992"/>
                <a:gd name="connsiteX0" fmla="*/ 0 w 1359043"/>
                <a:gd name="connsiteY0" fmla="*/ 0 h 1820658"/>
                <a:gd name="connsiteX1" fmla="*/ 1359043 w 1359043"/>
                <a:gd name="connsiteY1" fmla="*/ 0 h 1820658"/>
                <a:gd name="connsiteX2" fmla="*/ 1359043 w 1359043"/>
                <a:gd name="connsiteY2" fmla="*/ 212596 h 1820658"/>
                <a:gd name="connsiteX3" fmla="*/ 720119 w 1359043"/>
                <a:gd name="connsiteY3" fmla="*/ 1820658 h 1820658"/>
                <a:gd name="connsiteX4" fmla="*/ 1012 w 1359043"/>
                <a:gd name="connsiteY4" fmla="*/ 289727 h 1820658"/>
                <a:gd name="connsiteX5" fmla="*/ 0 w 1359043"/>
                <a:gd name="connsiteY5" fmla="*/ 289727 h 1820658"/>
                <a:gd name="connsiteX6" fmla="*/ 0 w 1359043"/>
                <a:gd name="connsiteY6" fmla="*/ 288030 h 1820658"/>
                <a:gd name="connsiteX7" fmla="*/ 0 w 1359043"/>
                <a:gd name="connsiteY7" fmla="*/ 0 h 1820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9043" h="1820658">
                  <a:moveTo>
                    <a:pt x="0" y="0"/>
                  </a:moveTo>
                  <a:lnTo>
                    <a:pt x="1359043" y="0"/>
                  </a:lnTo>
                  <a:lnTo>
                    <a:pt x="1359043" y="212596"/>
                  </a:lnTo>
                  <a:lnTo>
                    <a:pt x="720119" y="1820658"/>
                  </a:lnTo>
                  <a:lnTo>
                    <a:pt x="1012" y="289727"/>
                  </a:lnTo>
                  <a:lnTo>
                    <a:pt x="0" y="289727"/>
                  </a:lnTo>
                  <a:lnTo>
                    <a:pt x="0" y="28803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50000"/>
                    <a:lumOff val="50000"/>
                  </a:schemeClr>
                </a:gs>
                <a:gs pos="100000">
                  <a:schemeClr val="accent2">
                    <a:lumMod val="50000"/>
                    <a:lumOff val="5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C6C7785C-8982-46D8-BD2D-F0082959A035}"/>
                </a:ext>
              </a:extLst>
            </p:cNvPr>
            <p:cNvSpPr/>
            <p:nvPr/>
          </p:nvSpPr>
          <p:spPr>
            <a:xfrm>
              <a:off x="4291066" y="1891296"/>
              <a:ext cx="196906" cy="2011393"/>
            </a:xfrm>
            <a:custGeom>
              <a:avLst/>
              <a:gdLst/>
              <a:ahLst/>
              <a:cxnLst/>
              <a:rect l="l" t="t" r="r" b="b"/>
              <a:pathLst>
                <a:path w="196906" h="2011393">
                  <a:moveTo>
                    <a:pt x="0" y="0"/>
                  </a:moveTo>
                  <a:lnTo>
                    <a:pt x="99616" y="0"/>
                  </a:lnTo>
                  <a:lnTo>
                    <a:pt x="196906" y="63491"/>
                  </a:lnTo>
                  <a:lnTo>
                    <a:pt x="196906" y="2011393"/>
                  </a:lnTo>
                  <a:lnTo>
                    <a:pt x="193201" y="2011393"/>
                  </a:lnTo>
                  <a:cubicBezTo>
                    <a:pt x="183184" y="1954476"/>
                    <a:pt x="144512" y="1912472"/>
                    <a:pt x="98453" y="1912472"/>
                  </a:cubicBezTo>
                  <a:cubicBezTo>
                    <a:pt x="52394" y="1912472"/>
                    <a:pt x="13723" y="1954476"/>
                    <a:pt x="3706" y="2011393"/>
                  </a:cubicBezTo>
                  <a:lnTo>
                    <a:pt x="0" y="2011393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30000"/>
                    <a:lumOff val="70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0EA746AB-277A-4BA1-9F0A-B7C535C1FB4A}"/>
                </a:ext>
              </a:extLst>
            </p:cNvPr>
            <p:cNvSpPr/>
            <p:nvPr/>
          </p:nvSpPr>
          <p:spPr>
            <a:xfrm>
              <a:off x="4486591" y="1953886"/>
              <a:ext cx="196906" cy="1950905"/>
            </a:xfrm>
            <a:custGeom>
              <a:avLst/>
              <a:gdLst/>
              <a:ahLst/>
              <a:cxnLst/>
              <a:rect l="l" t="t" r="r" b="b"/>
              <a:pathLst>
                <a:path w="196906" h="1950905">
                  <a:moveTo>
                    <a:pt x="0" y="0"/>
                  </a:moveTo>
                  <a:lnTo>
                    <a:pt x="101941" y="66527"/>
                  </a:lnTo>
                  <a:lnTo>
                    <a:pt x="196906" y="4552"/>
                  </a:lnTo>
                  <a:lnTo>
                    <a:pt x="196906" y="1950905"/>
                  </a:lnTo>
                  <a:lnTo>
                    <a:pt x="193201" y="1950905"/>
                  </a:lnTo>
                  <a:cubicBezTo>
                    <a:pt x="183184" y="1893988"/>
                    <a:pt x="144512" y="1851984"/>
                    <a:pt x="98453" y="1851984"/>
                  </a:cubicBezTo>
                  <a:cubicBezTo>
                    <a:pt x="52394" y="1851984"/>
                    <a:pt x="13723" y="1893988"/>
                    <a:pt x="3706" y="1950905"/>
                  </a:cubicBezTo>
                  <a:lnTo>
                    <a:pt x="0" y="195090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0"/>
                    <a:lumOff val="50000"/>
                  </a:schemeClr>
                </a:gs>
                <a:gs pos="100000">
                  <a:schemeClr val="accent1">
                    <a:lumMod val="50000"/>
                    <a:lumOff val="50000"/>
                  </a:schemeClr>
                </a:gs>
              </a:gsLst>
              <a:lin ang="19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8DD3C104-DCA5-4C07-AA7C-5F42944E40F4}"/>
                </a:ext>
              </a:extLst>
            </p:cNvPr>
            <p:cNvSpPr/>
            <p:nvPr/>
          </p:nvSpPr>
          <p:spPr>
            <a:xfrm>
              <a:off x="4683483" y="1895514"/>
              <a:ext cx="196906" cy="2011393"/>
            </a:xfrm>
            <a:custGeom>
              <a:avLst/>
              <a:gdLst/>
              <a:ahLst/>
              <a:cxnLst/>
              <a:rect l="l" t="t" r="r" b="b"/>
              <a:pathLst>
                <a:path w="196906" h="2011393">
                  <a:moveTo>
                    <a:pt x="96435" y="0"/>
                  </a:moveTo>
                  <a:lnTo>
                    <a:pt x="196906" y="0"/>
                  </a:lnTo>
                  <a:lnTo>
                    <a:pt x="196906" y="2011393"/>
                  </a:lnTo>
                  <a:lnTo>
                    <a:pt x="193201" y="2011393"/>
                  </a:lnTo>
                  <a:cubicBezTo>
                    <a:pt x="183184" y="1954476"/>
                    <a:pt x="144512" y="1912472"/>
                    <a:pt x="98453" y="1912472"/>
                  </a:cubicBezTo>
                  <a:cubicBezTo>
                    <a:pt x="52394" y="1912472"/>
                    <a:pt x="13723" y="1954476"/>
                    <a:pt x="3706" y="2011393"/>
                  </a:cubicBezTo>
                  <a:lnTo>
                    <a:pt x="0" y="2011393"/>
                  </a:lnTo>
                  <a:lnTo>
                    <a:pt x="0" y="6293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B6979A23-A285-45E9-95F0-43DC4293EA1E}"/>
                </a:ext>
              </a:extLst>
            </p:cNvPr>
            <p:cNvSpPr/>
            <p:nvPr/>
          </p:nvSpPr>
          <p:spPr>
            <a:xfrm rot="10800000">
              <a:off x="4468813" y="4423239"/>
              <a:ext cx="196906" cy="260871"/>
            </a:xfrm>
            <a:prstGeom prst="triangl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12" name="Parallelogram 15">
              <a:extLst>
                <a:ext uri="{FF2B5EF4-FFF2-40B4-BE49-F238E27FC236}">
                  <a16:creationId xmlns:a16="http://schemas.microsoft.com/office/drawing/2014/main" id="{00FFC3E9-ACCE-438D-B2B5-5AA4625B76F2}"/>
                </a:ext>
              </a:extLst>
            </p:cNvPr>
            <p:cNvSpPr/>
            <p:nvPr/>
          </p:nvSpPr>
          <p:spPr>
            <a:xfrm rot="16200000">
              <a:off x="4098945" y="947696"/>
              <a:ext cx="972197" cy="1052368"/>
            </a:xfrm>
            <a:custGeom>
              <a:avLst/>
              <a:gdLst/>
              <a:ahLst/>
              <a:cxnLst/>
              <a:rect l="l" t="t" r="r" b="b"/>
              <a:pathLst>
                <a:path w="2993176" h="3240001">
                  <a:moveTo>
                    <a:pt x="1299907" y="647892"/>
                  </a:moveTo>
                  <a:lnTo>
                    <a:pt x="665509" y="1620000"/>
                  </a:lnTo>
                  <a:lnTo>
                    <a:pt x="1299907" y="2592108"/>
                  </a:lnTo>
                  <a:lnTo>
                    <a:pt x="634398" y="2592108"/>
                  </a:lnTo>
                  <a:lnTo>
                    <a:pt x="0" y="1620000"/>
                  </a:lnTo>
                  <a:lnTo>
                    <a:pt x="634398" y="647892"/>
                  </a:lnTo>
                  <a:close/>
                  <a:moveTo>
                    <a:pt x="2993176" y="1620001"/>
                  </a:moveTo>
                  <a:lnTo>
                    <a:pt x="1913056" y="3240001"/>
                  </a:lnTo>
                  <a:lnTo>
                    <a:pt x="1782206" y="3043749"/>
                  </a:lnTo>
                  <a:lnTo>
                    <a:pt x="1110064" y="3043749"/>
                  </a:lnTo>
                  <a:cubicBezTo>
                    <a:pt x="1089036" y="3096599"/>
                    <a:pt x="1037333" y="3133759"/>
                    <a:pt x="976952" y="3133759"/>
                  </a:cubicBezTo>
                  <a:cubicBezTo>
                    <a:pt x="923853" y="3133759"/>
                    <a:pt x="877466" y="3105022"/>
                    <a:pt x="854540" y="3061058"/>
                  </a:cubicBezTo>
                  <a:lnTo>
                    <a:pt x="302383" y="3169763"/>
                  </a:lnTo>
                  <a:lnTo>
                    <a:pt x="302383" y="2809723"/>
                  </a:lnTo>
                  <a:lnTo>
                    <a:pt x="854540" y="2918427"/>
                  </a:lnTo>
                  <a:cubicBezTo>
                    <a:pt x="877466" y="2874463"/>
                    <a:pt x="923853" y="2845727"/>
                    <a:pt x="976952" y="2845727"/>
                  </a:cubicBezTo>
                  <a:cubicBezTo>
                    <a:pt x="1037333" y="2845727"/>
                    <a:pt x="1089036" y="2882887"/>
                    <a:pt x="1110064" y="2935737"/>
                  </a:cubicBezTo>
                  <a:lnTo>
                    <a:pt x="1710190" y="2935737"/>
                  </a:lnTo>
                  <a:lnTo>
                    <a:pt x="832936" y="1620001"/>
                  </a:lnTo>
                  <a:lnTo>
                    <a:pt x="1913056" y="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Group 13318">
            <a:extLst>
              <a:ext uri="{FF2B5EF4-FFF2-40B4-BE49-F238E27FC236}">
                <a16:creationId xmlns:a16="http://schemas.microsoft.com/office/drawing/2014/main" id="{3176A925-9561-4C3F-8238-DB986AC67B50}"/>
              </a:ext>
            </a:extLst>
          </p:cNvPr>
          <p:cNvGrpSpPr/>
          <p:nvPr/>
        </p:nvGrpSpPr>
        <p:grpSpPr>
          <a:xfrm rot="19917947">
            <a:off x="1470441" y="1761193"/>
            <a:ext cx="1665869" cy="3558872"/>
            <a:chOff x="1359132" y="345882"/>
            <a:chExt cx="1966239" cy="4200564"/>
          </a:xfrm>
        </p:grpSpPr>
        <p:grpSp>
          <p:nvGrpSpPr>
            <p:cNvPr id="19" name="Group 23">
              <a:extLst>
                <a:ext uri="{FF2B5EF4-FFF2-40B4-BE49-F238E27FC236}">
                  <a16:creationId xmlns:a16="http://schemas.microsoft.com/office/drawing/2014/main" id="{F1830171-F3BF-4D8C-BBE7-DC399D6D1691}"/>
                </a:ext>
              </a:extLst>
            </p:cNvPr>
            <p:cNvGrpSpPr/>
            <p:nvPr/>
          </p:nvGrpSpPr>
          <p:grpSpPr>
            <a:xfrm>
              <a:off x="2073901" y="2186669"/>
              <a:ext cx="501313" cy="2359777"/>
              <a:chOff x="2810055" y="1677194"/>
              <a:chExt cx="535258" cy="2519562"/>
            </a:xfrm>
          </p:grpSpPr>
          <p:sp>
            <p:nvSpPr>
              <p:cNvPr id="32" name="Rectangle 8">
                <a:extLst>
                  <a:ext uri="{FF2B5EF4-FFF2-40B4-BE49-F238E27FC236}">
                    <a16:creationId xmlns:a16="http://schemas.microsoft.com/office/drawing/2014/main" id="{EA6408B1-590A-4B35-99D9-FD571251018D}"/>
                  </a:ext>
                </a:extLst>
              </p:cNvPr>
              <p:cNvSpPr/>
              <p:nvPr/>
            </p:nvSpPr>
            <p:spPr>
              <a:xfrm>
                <a:off x="2810675" y="3399597"/>
                <a:ext cx="534638" cy="779141"/>
              </a:xfrm>
              <a:custGeom>
                <a:avLst/>
                <a:gdLst/>
                <a:ahLst/>
                <a:cxnLst/>
                <a:rect l="l" t="t" r="r" b="b"/>
                <a:pathLst>
                  <a:path w="1802378" h="1800199">
                    <a:moveTo>
                      <a:pt x="0" y="0"/>
                    </a:moveTo>
                    <a:lnTo>
                      <a:pt x="1802378" y="0"/>
                    </a:lnTo>
                    <a:lnTo>
                      <a:pt x="1802378" y="289727"/>
                    </a:lnTo>
                    <a:lnTo>
                      <a:pt x="1801366" y="289727"/>
                    </a:lnTo>
                    <a:lnTo>
                      <a:pt x="901188" y="1800199"/>
                    </a:lnTo>
                    <a:lnTo>
                      <a:pt x="1012" y="289727"/>
                    </a:lnTo>
                    <a:lnTo>
                      <a:pt x="0" y="289727"/>
                    </a:lnTo>
                    <a:lnTo>
                      <a:pt x="0" y="28803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100000">
                    <a:schemeClr val="accent2">
                      <a:lumMod val="70000"/>
                      <a:lumOff val="3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Rectangle 8">
                <a:extLst>
                  <a:ext uri="{FF2B5EF4-FFF2-40B4-BE49-F238E27FC236}">
                    <a16:creationId xmlns:a16="http://schemas.microsoft.com/office/drawing/2014/main" id="{9AD44607-A66D-48A0-9FE2-E296E272740A}"/>
                  </a:ext>
                </a:extLst>
              </p:cNvPr>
              <p:cNvSpPr/>
              <p:nvPr/>
            </p:nvSpPr>
            <p:spPr>
              <a:xfrm>
                <a:off x="2984722" y="3392706"/>
                <a:ext cx="180870" cy="787996"/>
              </a:xfrm>
              <a:custGeom>
                <a:avLst/>
                <a:gdLst>
                  <a:gd name="connsiteX0" fmla="*/ 0 w 1359043"/>
                  <a:gd name="connsiteY0" fmla="*/ 0 h 1813992"/>
                  <a:gd name="connsiteX1" fmla="*/ 1359043 w 1359043"/>
                  <a:gd name="connsiteY1" fmla="*/ 0 h 1813992"/>
                  <a:gd name="connsiteX2" fmla="*/ 1359043 w 1359043"/>
                  <a:gd name="connsiteY2" fmla="*/ 212596 h 1813992"/>
                  <a:gd name="connsiteX3" fmla="*/ 806822 w 1359043"/>
                  <a:gd name="connsiteY3" fmla="*/ 1813992 h 1813992"/>
                  <a:gd name="connsiteX4" fmla="*/ 1012 w 1359043"/>
                  <a:gd name="connsiteY4" fmla="*/ 289727 h 1813992"/>
                  <a:gd name="connsiteX5" fmla="*/ 0 w 1359043"/>
                  <a:gd name="connsiteY5" fmla="*/ 289727 h 1813992"/>
                  <a:gd name="connsiteX6" fmla="*/ 0 w 1359043"/>
                  <a:gd name="connsiteY6" fmla="*/ 288030 h 1813992"/>
                  <a:gd name="connsiteX7" fmla="*/ 0 w 1359043"/>
                  <a:gd name="connsiteY7" fmla="*/ 0 h 1813992"/>
                  <a:gd name="connsiteX0" fmla="*/ 0 w 1359043"/>
                  <a:gd name="connsiteY0" fmla="*/ 0 h 1820658"/>
                  <a:gd name="connsiteX1" fmla="*/ 1359043 w 1359043"/>
                  <a:gd name="connsiteY1" fmla="*/ 0 h 1820658"/>
                  <a:gd name="connsiteX2" fmla="*/ 1359043 w 1359043"/>
                  <a:gd name="connsiteY2" fmla="*/ 212596 h 1820658"/>
                  <a:gd name="connsiteX3" fmla="*/ 720119 w 1359043"/>
                  <a:gd name="connsiteY3" fmla="*/ 1820658 h 1820658"/>
                  <a:gd name="connsiteX4" fmla="*/ 1012 w 1359043"/>
                  <a:gd name="connsiteY4" fmla="*/ 289727 h 1820658"/>
                  <a:gd name="connsiteX5" fmla="*/ 0 w 1359043"/>
                  <a:gd name="connsiteY5" fmla="*/ 289727 h 1820658"/>
                  <a:gd name="connsiteX6" fmla="*/ 0 w 1359043"/>
                  <a:gd name="connsiteY6" fmla="*/ 288030 h 1820658"/>
                  <a:gd name="connsiteX7" fmla="*/ 0 w 1359043"/>
                  <a:gd name="connsiteY7" fmla="*/ 0 h 1820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59043" h="1820658">
                    <a:moveTo>
                      <a:pt x="0" y="0"/>
                    </a:moveTo>
                    <a:lnTo>
                      <a:pt x="1359043" y="0"/>
                    </a:lnTo>
                    <a:lnTo>
                      <a:pt x="1359043" y="212596"/>
                    </a:lnTo>
                    <a:lnTo>
                      <a:pt x="720119" y="1820658"/>
                    </a:lnTo>
                    <a:lnTo>
                      <a:pt x="1012" y="289727"/>
                    </a:lnTo>
                    <a:lnTo>
                      <a:pt x="0" y="289727"/>
                    </a:lnTo>
                    <a:lnTo>
                      <a:pt x="0" y="28803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50000"/>
                      <a:lumOff val="50000"/>
                    </a:schemeClr>
                  </a:gs>
                  <a:gs pos="100000">
                    <a:schemeClr val="accent2">
                      <a:lumMod val="50000"/>
                      <a:lumOff val="5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Rectangle 8">
                <a:extLst>
                  <a:ext uri="{FF2B5EF4-FFF2-40B4-BE49-F238E27FC236}">
                    <a16:creationId xmlns:a16="http://schemas.microsoft.com/office/drawing/2014/main" id="{8281CE4E-D56C-4E49-B3E2-5D78C9EA1732}"/>
                  </a:ext>
                </a:extLst>
              </p:cNvPr>
              <p:cNvSpPr/>
              <p:nvPr/>
            </p:nvSpPr>
            <p:spPr>
              <a:xfrm>
                <a:off x="2810055" y="3399597"/>
                <a:ext cx="264192" cy="763141"/>
              </a:xfrm>
              <a:custGeom>
                <a:avLst/>
                <a:gdLst>
                  <a:gd name="connsiteX0" fmla="*/ 0 w 1345558"/>
                  <a:gd name="connsiteY0" fmla="*/ 0 h 1783227"/>
                  <a:gd name="connsiteX1" fmla="*/ 897414 w 1345558"/>
                  <a:gd name="connsiteY1" fmla="*/ 0 h 1783227"/>
                  <a:gd name="connsiteX2" fmla="*/ 901843 w 1345558"/>
                  <a:gd name="connsiteY2" fmla="*/ 212596 h 1783227"/>
                  <a:gd name="connsiteX3" fmla="*/ 1345558 w 1345558"/>
                  <a:gd name="connsiteY3" fmla="*/ 1783227 h 1783227"/>
                  <a:gd name="connsiteX4" fmla="*/ 1012 w 1345558"/>
                  <a:gd name="connsiteY4" fmla="*/ 289727 h 1783227"/>
                  <a:gd name="connsiteX5" fmla="*/ 0 w 1345558"/>
                  <a:gd name="connsiteY5" fmla="*/ 289727 h 1783227"/>
                  <a:gd name="connsiteX6" fmla="*/ 0 w 1345558"/>
                  <a:gd name="connsiteY6" fmla="*/ 288030 h 1783227"/>
                  <a:gd name="connsiteX7" fmla="*/ 0 w 1345558"/>
                  <a:gd name="connsiteY7" fmla="*/ 0 h 1783227"/>
                  <a:gd name="connsiteX0" fmla="*/ 0 w 1331023"/>
                  <a:gd name="connsiteY0" fmla="*/ 0 h 1763232"/>
                  <a:gd name="connsiteX1" fmla="*/ 897414 w 1331023"/>
                  <a:gd name="connsiteY1" fmla="*/ 0 h 1763232"/>
                  <a:gd name="connsiteX2" fmla="*/ 901843 w 1331023"/>
                  <a:gd name="connsiteY2" fmla="*/ 212596 h 1763232"/>
                  <a:gd name="connsiteX3" fmla="*/ 1331023 w 1331023"/>
                  <a:gd name="connsiteY3" fmla="*/ 1763232 h 1763232"/>
                  <a:gd name="connsiteX4" fmla="*/ 1012 w 1331023"/>
                  <a:gd name="connsiteY4" fmla="*/ 289727 h 1763232"/>
                  <a:gd name="connsiteX5" fmla="*/ 0 w 1331023"/>
                  <a:gd name="connsiteY5" fmla="*/ 289727 h 1763232"/>
                  <a:gd name="connsiteX6" fmla="*/ 0 w 1331023"/>
                  <a:gd name="connsiteY6" fmla="*/ 288030 h 1763232"/>
                  <a:gd name="connsiteX7" fmla="*/ 0 w 1331023"/>
                  <a:gd name="connsiteY7" fmla="*/ 0 h 1763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31023" h="1763232">
                    <a:moveTo>
                      <a:pt x="0" y="0"/>
                    </a:moveTo>
                    <a:lnTo>
                      <a:pt x="897414" y="0"/>
                    </a:lnTo>
                    <a:cubicBezTo>
                      <a:pt x="898890" y="70865"/>
                      <a:pt x="900367" y="141731"/>
                      <a:pt x="901843" y="212596"/>
                    </a:cubicBezTo>
                    <a:lnTo>
                      <a:pt x="1331023" y="1763232"/>
                    </a:lnTo>
                    <a:lnTo>
                      <a:pt x="1012" y="289727"/>
                    </a:lnTo>
                    <a:lnTo>
                      <a:pt x="0" y="289727"/>
                    </a:lnTo>
                    <a:lnTo>
                      <a:pt x="0" y="28803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30000"/>
                      <a:lumOff val="70000"/>
                    </a:schemeClr>
                  </a:gs>
                  <a:gs pos="100000">
                    <a:schemeClr val="accent2">
                      <a:lumMod val="30000"/>
                      <a:lumOff val="7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Rectangle 2">
                <a:extLst>
                  <a:ext uri="{FF2B5EF4-FFF2-40B4-BE49-F238E27FC236}">
                    <a16:creationId xmlns:a16="http://schemas.microsoft.com/office/drawing/2014/main" id="{3E95295E-B3E7-4F6E-8448-4A4089D20A1A}"/>
                  </a:ext>
                </a:extLst>
              </p:cNvPr>
              <p:cNvSpPr/>
              <p:nvPr/>
            </p:nvSpPr>
            <p:spPr>
              <a:xfrm>
                <a:off x="2811292" y="1677194"/>
                <a:ext cx="177768" cy="1815900"/>
              </a:xfrm>
              <a:custGeom>
                <a:avLst/>
                <a:gdLst/>
                <a:ahLst/>
                <a:cxnLst/>
                <a:rect l="l" t="t" r="r" b="b"/>
                <a:pathLst>
                  <a:path w="571061" h="4392488">
                    <a:moveTo>
                      <a:pt x="0" y="0"/>
                    </a:moveTo>
                    <a:lnTo>
                      <a:pt x="571061" y="0"/>
                    </a:lnTo>
                    <a:lnTo>
                      <a:pt x="571061" y="4392488"/>
                    </a:lnTo>
                    <a:lnTo>
                      <a:pt x="560315" y="4392488"/>
                    </a:lnTo>
                    <a:cubicBezTo>
                      <a:pt x="531263" y="4268191"/>
                      <a:pt x="419108" y="4176464"/>
                      <a:pt x="285530" y="4176464"/>
                    </a:cubicBezTo>
                    <a:cubicBezTo>
                      <a:pt x="151952" y="4176464"/>
                      <a:pt x="39798" y="4268191"/>
                      <a:pt x="10747" y="4392488"/>
                    </a:cubicBezTo>
                    <a:lnTo>
                      <a:pt x="0" y="439248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BCDA3D7C-208F-4796-9CD0-D2F312817A95}"/>
                  </a:ext>
                </a:extLst>
              </p:cNvPr>
              <p:cNvSpPr/>
              <p:nvPr/>
            </p:nvSpPr>
            <p:spPr>
              <a:xfrm>
                <a:off x="2987824" y="1677195"/>
                <a:ext cx="177768" cy="1815900"/>
              </a:xfrm>
              <a:custGeom>
                <a:avLst/>
                <a:gdLst/>
                <a:ahLst/>
                <a:cxnLst/>
                <a:rect l="l" t="t" r="r" b="b"/>
                <a:pathLst>
                  <a:path w="571061" h="4392488">
                    <a:moveTo>
                      <a:pt x="0" y="0"/>
                    </a:moveTo>
                    <a:lnTo>
                      <a:pt x="571061" y="0"/>
                    </a:lnTo>
                    <a:lnTo>
                      <a:pt x="571061" y="4392488"/>
                    </a:lnTo>
                    <a:lnTo>
                      <a:pt x="560315" y="4392488"/>
                    </a:lnTo>
                    <a:cubicBezTo>
                      <a:pt x="531263" y="4268191"/>
                      <a:pt x="419108" y="4176464"/>
                      <a:pt x="285530" y="4176464"/>
                    </a:cubicBezTo>
                    <a:cubicBezTo>
                      <a:pt x="151952" y="4176464"/>
                      <a:pt x="39798" y="4268191"/>
                      <a:pt x="10747" y="4392488"/>
                    </a:cubicBezTo>
                    <a:lnTo>
                      <a:pt x="0" y="439248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0"/>
                      <a:lumOff val="50000"/>
                    </a:schemeClr>
                  </a:gs>
                  <a:gs pos="100000">
                    <a:schemeClr val="accent1">
                      <a:lumMod val="50000"/>
                      <a:lumOff val="50000"/>
                    </a:schemeClr>
                  </a:gs>
                </a:gsLst>
                <a:lin ang="198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Rectangle 2">
                <a:extLst>
                  <a:ext uri="{FF2B5EF4-FFF2-40B4-BE49-F238E27FC236}">
                    <a16:creationId xmlns:a16="http://schemas.microsoft.com/office/drawing/2014/main" id="{5990E51F-BEB5-4B24-98F7-94F4F212A2D3}"/>
                  </a:ext>
                </a:extLst>
              </p:cNvPr>
              <p:cNvSpPr/>
              <p:nvPr/>
            </p:nvSpPr>
            <p:spPr>
              <a:xfrm>
                <a:off x="3165590" y="1677196"/>
                <a:ext cx="177768" cy="1815899"/>
              </a:xfrm>
              <a:custGeom>
                <a:avLst/>
                <a:gdLst/>
                <a:ahLst/>
                <a:cxnLst/>
                <a:rect l="l" t="t" r="r" b="b"/>
                <a:pathLst>
                  <a:path w="571061" h="4392488">
                    <a:moveTo>
                      <a:pt x="0" y="0"/>
                    </a:moveTo>
                    <a:lnTo>
                      <a:pt x="571061" y="0"/>
                    </a:lnTo>
                    <a:lnTo>
                      <a:pt x="571061" y="4392488"/>
                    </a:lnTo>
                    <a:lnTo>
                      <a:pt x="560315" y="4392488"/>
                    </a:lnTo>
                    <a:cubicBezTo>
                      <a:pt x="531263" y="4268191"/>
                      <a:pt x="419108" y="4176464"/>
                      <a:pt x="285530" y="4176464"/>
                    </a:cubicBezTo>
                    <a:cubicBezTo>
                      <a:pt x="151952" y="4176464"/>
                      <a:pt x="39798" y="4268191"/>
                      <a:pt x="10747" y="4392488"/>
                    </a:cubicBezTo>
                    <a:lnTo>
                      <a:pt x="0" y="439248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Isosceles Triangle 4">
                <a:extLst>
                  <a:ext uri="{FF2B5EF4-FFF2-40B4-BE49-F238E27FC236}">
                    <a16:creationId xmlns:a16="http://schemas.microsoft.com/office/drawing/2014/main" id="{0764F1D1-C010-460B-9C7C-2FF50681B51A}"/>
                  </a:ext>
                </a:extLst>
              </p:cNvPr>
              <p:cNvSpPr/>
              <p:nvPr/>
            </p:nvSpPr>
            <p:spPr>
              <a:xfrm rot="10800000">
                <a:off x="2987823" y="3961239"/>
                <a:ext cx="177768" cy="235517"/>
              </a:xfrm>
              <a:prstGeom prst="triangl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20" name="Group 26">
              <a:extLst>
                <a:ext uri="{FF2B5EF4-FFF2-40B4-BE49-F238E27FC236}">
                  <a16:creationId xmlns:a16="http://schemas.microsoft.com/office/drawing/2014/main" id="{187C0761-B81E-4279-BA43-015F4789B66D}"/>
                </a:ext>
              </a:extLst>
            </p:cNvPr>
            <p:cNvGrpSpPr/>
            <p:nvPr/>
          </p:nvGrpSpPr>
          <p:grpSpPr>
            <a:xfrm>
              <a:off x="1359132" y="345882"/>
              <a:ext cx="1966239" cy="1811155"/>
              <a:chOff x="1888981" y="1110787"/>
              <a:chExt cx="2254374" cy="2076562"/>
            </a:xfrm>
          </p:grpSpPr>
          <p:sp>
            <p:nvSpPr>
              <p:cNvPr id="21" name="Teardrop 30">
                <a:extLst>
                  <a:ext uri="{FF2B5EF4-FFF2-40B4-BE49-F238E27FC236}">
                    <a16:creationId xmlns:a16="http://schemas.microsoft.com/office/drawing/2014/main" id="{64AC187B-0A2A-489A-A907-3D496D0F402B}"/>
                  </a:ext>
                </a:extLst>
              </p:cNvPr>
              <p:cNvSpPr/>
              <p:nvPr/>
            </p:nvSpPr>
            <p:spPr>
              <a:xfrm rot="8100000">
                <a:off x="2322441" y="1563466"/>
                <a:ext cx="1333455" cy="1333457"/>
              </a:xfrm>
              <a:custGeom>
                <a:avLst/>
                <a:gdLst>
                  <a:gd name="connsiteX0" fmla="*/ 293361 w 2192670"/>
                  <a:gd name="connsiteY0" fmla="*/ 1899310 h 2192671"/>
                  <a:gd name="connsiteX1" fmla="*/ 0 w 2192670"/>
                  <a:gd name="connsiteY1" fmla="*/ 1191074 h 2192671"/>
                  <a:gd name="connsiteX2" fmla="*/ 1001597 w 2192670"/>
                  <a:gd name="connsiteY2" fmla="*/ 189477 h 2192671"/>
                  <a:gd name="connsiteX3" fmla="*/ 1341342 w 2192670"/>
                  <a:gd name="connsiteY3" fmla="*/ 189477 h 2192671"/>
                  <a:gd name="connsiteX4" fmla="*/ 1530818 w 2192670"/>
                  <a:gd name="connsiteY4" fmla="*/ 0 h 2192671"/>
                  <a:gd name="connsiteX5" fmla="*/ 1806586 w 2192670"/>
                  <a:gd name="connsiteY5" fmla="*/ 0 h 2192671"/>
                  <a:gd name="connsiteX6" fmla="*/ 1996062 w 2192670"/>
                  <a:gd name="connsiteY6" fmla="*/ 189477 h 2192671"/>
                  <a:gd name="connsiteX7" fmla="*/ 2003194 w 2192670"/>
                  <a:gd name="connsiteY7" fmla="*/ 189477 h 2192671"/>
                  <a:gd name="connsiteX8" fmla="*/ 2003194 w 2192670"/>
                  <a:gd name="connsiteY8" fmla="*/ 196609 h 2192671"/>
                  <a:gd name="connsiteX9" fmla="*/ 2192670 w 2192670"/>
                  <a:gd name="connsiteY9" fmla="*/ 386085 h 2192671"/>
                  <a:gd name="connsiteX10" fmla="*/ 2192670 w 2192670"/>
                  <a:gd name="connsiteY10" fmla="*/ 661852 h 2192671"/>
                  <a:gd name="connsiteX11" fmla="*/ 2003193 w 2192670"/>
                  <a:gd name="connsiteY11" fmla="*/ 851329 h 2192671"/>
                  <a:gd name="connsiteX12" fmla="*/ 2003194 w 2192670"/>
                  <a:gd name="connsiteY12" fmla="*/ 1191074 h 2192671"/>
                  <a:gd name="connsiteX13" fmla="*/ 1001597 w 2192670"/>
                  <a:gd name="connsiteY13" fmla="*/ 2192671 h 2192671"/>
                  <a:gd name="connsiteX14" fmla="*/ 293361 w 2192670"/>
                  <a:gd name="connsiteY14" fmla="*/ 1899310 h 21926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192670" h="2192671">
                    <a:moveTo>
                      <a:pt x="293361" y="1899310"/>
                    </a:moveTo>
                    <a:cubicBezTo>
                      <a:pt x="112107" y="1718057"/>
                      <a:pt x="0" y="1467657"/>
                      <a:pt x="0" y="1191074"/>
                    </a:cubicBezTo>
                    <a:cubicBezTo>
                      <a:pt x="0" y="637907"/>
                      <a:pt x="448430" y="189477"/>
                      <a:pt x="1001597" y="189477"/>
                    </a:cubicBezTo>
                    <a:lnTo>
                      <a:pt x="1341342" y="189477"/>
                    </a:lnTo>
                    <a:lnTo>
                      <a:pt x="1530818" y="0"/>
                    </a:lnTo>
                    <a:cubicBezTo>
                      <a:pt x="1606970" y="-76151"/>
                      <a:pt x="1730435" y="-76151"/>
                      <a:pt x="1806586" y="0"/>
                    </a:cubicBezTo>
                    <a:lnTo>
                      <a:pt x="1996062" y="189477"/>
                    </a:lnTo>
                    <a:lnTo>
                      <a:pt x="2003194" y="189477"/>
                    </a:lnTo>
                    <a:lnTo>
                      <a:pt x="2003194" y="196609"/>
                    </a:lnTo>
                    <a:lnTo>
                      <a:pt x="2192670" y="386085"/>
                    </a:lnTo>
                    <a:cubicBezTo>
                      <a:pt x="2268822" y="462236"/>
                      <a:pt x="2268822" y="585701"/>
                      <a:pt x="2192670" y="661852"/>
                    </a:cubicBezTo>
                    <a:lnTo>
                      <a:pt x="2003193" y="851329"/>
                    </a:lnTo>
                    <a:cubicBezTo>
                      <a:pt x="2003193" y="964577"/>
                      <a:pt x="2003194" y="1077826"/>
                      <a:pt x="2003194" y="1191074"/>
                    </a:cubicBezTo>
                    <a:cubicBezTo>
                      <a:pt x="2003194" y="1744241"/>
                      <a:pt x="1554764" y="2192671"/>
                      <a:pt x="1001597" y="2192671"/>
                    </a:cubicBezTo>
                    <a:cubicBezTo>
                      <a:pt x="725014" y="2192671"/>
                      <a:pt x="474614" y="2080563"/>
                      <a:pt x="293361" y="1899310"/>
                    </a:cubicBezTo>
                    <a:close/>
                  </a:path>
                </a:pathLst>
              </a:custGeom>
              <a:solidFill>
                <a:schemeClr val="bg1"/>
              </a:solidFill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rapezoid 24">
                <a:extLst>
                  <a:ext uri="{FF2B5EF4-FFF2-40B4-BE49-F238E27FC236}">
                    <a16:creationId xmlns:a16="http://schemas.microsoft.com/office/drawing/2014/main" id="{7651C308-51DD-43ED-AD7A-2E53A4CDDA81}"/>
                  </a:ext>
                </a:extLst>
              </p:cNvPr>
              <p:cNvSpPr/>
              <p:nvPr/>
            </p:nvSpPr>
            <p:spPr>
              <a:xfrm rot="10800000">
                <a:off x="2751763" y="2230194"/>
                <a:ext cx="457200" cy="783671"/>
              </a:xfrm>
              <a:prstGeom prst="trapezoid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Rounded Rectangle 18">
                <a:extLst>
                  <a:ext uri="{FF2B5EF4-FFF2-40B4-BE49-F238E27FC236}">
                    <a16:creationId xmlns:a16="http://schemas.microsoft.com/office/drawing/2014/main" id="{62930416-EBA5-4143-8370-943F45E8700C}"/>
                  </a:ext>
                </a:extLst>
              </p:cNvPr>
              <p:cNvSpPr/>
              <p:nvPr/>
            </p:nvSpPr>
            <p:spPr>
              <a:xfrm rot="2700000">
                <a:off x="3710962" y="1407964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ounded Rectangle 19">
                <a:extLst>
                  <a:ext uri="{FF2B5EF4-FFF2-40B4-BE49-F238E27FC236}">
                    <a16:creationId xmlns:a16="http://schemas.microsoft.com/office/drawing/2014/main" id="{0353A222-C645-4858-A96B-D4B4B9C69293}"/>
                  </a:ext>
                </a:extLst>
              </p:cNvPr>
              <p:cNvSpPr/>
              <p:nvPr/>
            </p:nvSpPr>
            <p:spPr>
              <a:xfrm rot="18900000" flipH="1">
                <a:off x="2156327" y="1407964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ounded Rectangle 20">
                <a:extLst>
                  <a:ext uri="{FF2B5EF4-FFF2-40B4-BE49-F238E27FC236}">
                    <a16:creationId xmlns:a16="http://schemas.microsoft.com/office/drawing/2014/main" id="{AE7A8672-48A3-4738-9AFC-10E91DD06D6B}"/>
                  </a:ext>
                </a:extLst>
              </p:cNvPr>
              <p:cNvSpPr/>
              <p:nvPr/>
            </p:nvSpPr>
            <p:spPr>
              <a:xfrm>
                <a:off x="2935970" y="1110787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ounded Rectangle 21">
                <a:extLst>
                  <a:ext uri="{FF2B5EF4-FFF2-40B4-BE49-F238E27FC236}">
                    <a16:creationId xmlns:a16="http://schemas.microsoft.com/office/drawing/2014/main" id="{971073D8-F5DB-49E0-90B8-CB5EE821BBDF}"/>
                  </a:ext>
                </a:extLst>
              </p:cNvPr>
              <p:cNvSpPr/>
              <p:nvPr/>
            </p:nvSpPr>
            <p:spPr>
              <a:xfrm rot="5400000">
                <a:off x="3933668" y="1996109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ounded Rectangle 22">
                <a:extLst>
                  <a:ext uri="{FF2B5EF4-FFF2-40B4-BE49-F238E27FC236}">
                    <a16:creationId xmlns:a16="http://schemas.microsoft.com/office/drawing/2014/main" id="{84868AB7-B7FC-41AD-8F70-C0362E013604}"/>
                  </a:ext>
                </a:extLst>
              </p:cNvPr>
              <p:cNvSpPr/>
              <p:nvPr/>
            </p:nvSpPr>
            <p:spPr>
              <a:xfrm rot="16200000" flipH="1">
                <a:off x="1978847" y="1919902"/>
                <a:ext cx="119821" cy="299553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ounded Rectangle 25">
                <a:extLst>
                  <a:ext uri="{FF2B5EF4-FFF2-40B4-BE49-F238E27FC236}">
                    <a16:creationId xmlns:a16="http://schemas.microsoft.com/office/drawing/2014/main" id="{D3DAEEE6-E3DD-4070-AFC9-DF5EF5A20C44}"/>
                  </a:ext>
                </a:extLst>
              </p:cNvPr>
              <p:cNvSpPr/>
              <p:nvPr/>
            </p:nvSpPr>
            <p:spPr>
              <a:xfrm>
                <a:off x="2692290" y="3074683"/>
                <a:ext cx="612000" cy="112666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Rounded Rectangle 27">
                <a:extLst>
                  <a:ext uri="{FF2B5EF4-FFF2-40B4-BE49-F238E27FC236}">
                    <a16:creationId xmlns:a16="http://schemas.microsoft.com/office/drawing/2014/main" id="{577B8435-1E8C-4F57-B74D-B56C83326D65}"/>
                  </a:ext>
                </a:extLst>
              </p:cNvPr>
              <p:cNvSpPr/>
              <p:nvPr/>
            </p:nvSpPr>
            <p:spPr>
              <a:xfrm>
                <a:off x="2833284" y="2139702"/>
                <a:ext cx="71867" cy="17966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Rounded Rectangle 28">
                <a:extLst>
                  <a:ext uri="{FF2B5EF4-FFF2-40B4-BE49-F238E27FC236}">
                    <a16:creationId xmlns:a16="http://schemas.microsoft.com/office/drawing/2014/main" id="{B0241759-7E69-42F7-8D33-266DE9417147}"/>
                  </a:ext>
                </a:extLst>
              </p:cNvPr>
              <p:cNvSpPr/>
              <p:nvPr/>
            </p:nvSpPr>
            <p:spPr>
              <a:xfrm>
                <a:off x="2957504" y="2139702"/>
                <a:ext cx="71867" cy="17966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Rounded Rectangle 29">
                <a:extLst>
                  <a:ext uri="{FF2B5EF4-FFF2-40B4-BE49-F238E27FC236}">
                    <a16:creationId xmlns:a16="http://schemas.microsoft.com/office/drawing/2014/main" id="{DD2DBE1F-0326-42C7-B5F3-A1B7E8B47779}"/>
                  </a:ext>
                </a:extLst>
              </p:cNvPr>
              <p:cNvSpPr/>
              <p:nvPr/>
            </p:nvSpPr>
            <p:spPr>
              <a:xfrm>
                <a:off x="3081724" y="2139702"/>
                <a:ext cx="71867" cy="179668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9" name="Freeform 13312">
            <a:extLst>
              <a:ext uri="{FF2B5EF4-FFF2-40B4-BE49-F238E27FC236}">
                <a16:creationId xmlns:a16="http://schemas.microsoft.com/office/drawing/2014/main" id="{36A901D8-68F0-4EDC-8133-6AF6E902A151}"/>
              </a:ext>
            </a:extLst>
          </p:cNvPr>
          <p:cNvSpPr/>
          <p:nvPr/>
        </p:nvSpPr>
        <p:spPr>
          <a:xfrm>
            <a:off x="-14808" y="2937778"/>
            <a:ext cx="3091680" cy="1938501"/>
          </a:xfrm>
          <a:custGeom>
            <a:avLst/>
            <a:gdLst>
              <a:gd name="connsiteX0" fmla="*/ 2514265 w 2896332"/>
              <a:gd name="connsiteY0" fmla="*/ 466772 h 1875813"/>
              <a:gd name="connsiteX1" fmla="*/ 2655476 w 2896332"/>
              <a:gd name="connsiteY1" fmla="*/ 584615 h 1875813"/>
              <a:gd name="connsiteX2" fmla="*/ 2828170 w 2896332"/>
              <a:gd name="connsiteY2" fmla="*/ 1010501 h 1875813"/>
              <a:gd name="connsiteX3" fmla="*/ 2883834 w 2896332"/>
              <a:gd name="connsiteY3" fmla="*/ 1308835 h 1875813"/>
              <a:gd name="connsiteX4" fmla="*/ 2799743 w 2896332"/>
              <a:gd name="connsiteY4" fmla="*/ 1672098 h 1875813"/>
              <a:gd name="connsiteX5" fmla="*/ 2521033 w 2896332"/>
              <a:gd name="connsiteY5" fmla="*/ 1160421 h 1875813"/>
              <a:gd name="connsiteX6" fmla="*/ 2514265 w 2896332"/>
              <a:gd name="connsiteY6" fmla="*/ 466772 h 1875813"/>
              <a:gd name="connsiteX7" fmla="*/ 1898646 w 2896332"/>
              <a:gd name="connsiteY7" fmla="*/ 46 h 1875813"/>
              <a:gd name="connsiteX8" fmla="*/ 1969811 w 2896332"/>
              <a:gd name="connsiteY8" fmla="*/ 83938 h 1875813"/>
              <a:gd name="connsiteX9" fmla="*/ 1970003 w 2896332"/>
              <a:gd name="connsiteY9" fmla="*/ 120627 h 1875813"/>
              <a:gd name="connsiteX10" fmla="*/ 1962950 w 2896332"/>
              <a:gd name="connsiteY10" fmla="*/ 120627 h 1875813"/>
              <a:gd name="connsiteX11" fmla="*/ 1906617 w 2896332"/>
              <a:gd name="connsiteY11" fmla="*/ 176960 h 1875813"/>
              <a:gd name="connsiteX12" fmla="*/ 1962950 w 2896332"/>
              <a:gd name="connsiteY12" fmla="*/ 233293 h 1875813"/>
              <a:gd name="connsiteX13" fmla="*/ 1970591 w 2896332"/>
              <a:gd name="connsiteY13" fmla="*/ 233293 h 1875813"/>
              <a:gd name="connsiteX14" fmla="*/ 1973469 w 2896332"/>
              <a:gd name="connsiteY14" fmla="*/ 784519 h 1875813"/>
              <a:gd name="connsiteX15" fmla="*/ 1866010 w 2896332"/>
              <a:gd name="connsiteY15" fmla="*/ 878218 h 1875813"/>
              <a:gd name="connsiteX16" fmla="*/ 2733769 w 2896332"/>
              <a:gd name="connsiteY16" fmla="*/ 1387129 h 1875813"/>
              <a:gd name="connsiteX17" fmla="*/ 2694623 w 2896332"/>
              <a:gd name="connsiteY17" fmla="*/ 1674208 h 1875813"/>
              <a:gd name="connsiteX18" fmla="*/ 2394496 w 2896332"/>
              <a:gd name="connsiteY18" fmla="*/ 1654634 h 1875813"/>
              <a:gd name="connsiteX19" fmla="*/ 2069239 w 2896332"/>
              <a:gd name="connsiteY19" fmla="*/ 1875813 h 1875813"/>
              <a:gd name="connsiteX20" fmla="*/ 2023060 w 2896332"/>
              <a:gd name="connsiteY20" fmla="*/ 1634793 h 1875813"/>
              <a:gd name="connsiteX21" fmla="*/ 1739085 w 2896332"/>
              <a:gd name="connsiteY21" fmla="*/ 1871397 h 1875813"/>
              <a:gd name="connsiteX22" fmla="*/ 1648664 w 2896332"/>
              <a:gd name="connsiteY22" fmla="*/ 1582137 h 1875813"/>
              <a:gd name="connsiteX23" fmla="*/ 1376671 w 2896332"/>
              <a:gd name="connsiteY23" fmla="*/ 1700306 h 1875813"/>
              <a:gd name="connsiteX24" fmla="*/ 1415819 w 2896332"/>
              <a:gd name="connsiteY24" fmla="*/ 1334933 h 1875813"/>
              <a:gd name="connsiteX25" fmla="*/ 665501 w 2896332"/>
              <a:gd name="connsiteY25" fmla="*/ 1276212 h 1875813"/>
              <a:gd name="connsiteX26" fmla="*/ 0 w 2896332"/>
              <a:gd name="connsiteY26" fmla="*/ 1126148 h 1875813"/>
              <a:gd name="connsiteX27" fmla="*/ 13050 w 2896332"/>
              <a:gd name="connsiteY27" fmla="*/ 284488 h 1875813"/>
              <a:gd name="connsiteX28" fmla="*/ 1898646 w 2896332"/>
              <a:gd name="connsiteY28" fmla="*/ 46 h 1875813"/>
              <a:gd name="connsiteX0" fmla="*/ 2514265 w 2896332"/>
              <a:gd name="connsiteY0" fmla="*/ 466772 h 1875813"/>
              <a:gd name="connsiteX1" fmla="*/ 2655476 w 2896332"/>
              <a:gd name="connsiteY1" fmla="*/ 584615 h 1875813"/>
              <a:gd name="connsiteX2" fmla="*/ 2828170 w 2896332"/>
              <a:gd name="connsiteY2" fmla="*/ 1010501 h 1875813"/>
              <a:gd name="connsiteX3" fmla="*/ 2883834 w 2896332"/>
              <a:gd name="connsiteY3" fmla="*/ 1308835 h 1875813"/>
              <a:gd name="connsiteX4" fmla="*/ 2799743 w 2896332"/>
              <a:gd name="connsiteY4" fmla="*/ 1672098 h 1875813"/>
              <a:gd name="connsiteX5" fmla="*/ 2521033 w 2896332"/>
              <a:gd name="connsiteY5" fmla="*/ 1160421 h 1875813"/>
              <a:gd name="connsiteX6" fmla="*/ 2514265 w 2896332"/>
              <a:gd name="connsiteY6" fmla="*/ 466772 h 1875813"/>
              <a:gd name="connsiteX7" fmla="*/ 1898646 w 2896332"/>
              <a:gd name="connsiteY7" fmla="*/ 46 h 1875813"/>
              <a:gd name="connsiteX8" fmla="*/ 1969811 w 2896332"/>
              <a:gd name="connsiteY8" fmla="*/ 83938 h 1875813"/>
              <a:gd name="connsiteX9" fmla="*/ 1970003 w 2896332"/>
              <a:gd name="connsiteY9" fmla="*/ 120627 h 1875813"/>
              <a:gd name="connsiteX10" fmla="*/ 1962950 w 2896332"/>
              <a:gd name="connsiteY10" fmla="*/ 120627 h 1875813"/>
              <a:gd name="connsiteX11" fmla="*/ 1906617 w 2896332"/>
              <a:gd name="connsiteY11" fmla="*/ 176960 h 1875813"/>
              <a:gd name="connsiteX12" fmla="*/ 1962950 w 2896332"/>
              <a:gd name="connsiteY12" fmla="*/ 233293 h 1875813"/>
              <a:gd name="connsiteX13" fmla="*/ 1970591 w 2896332"/>
              <a:gd name="connsiteY13" fmla="*/ 233293 h 1875813"/>
              <a:gd name="connsiteX14" fmla="*/ 1973469 w 2896332"/>
              <a:gd name="connsiteY14" fmla="*/ 784519 h 1875813"/>
              <a:gd name="connsiteX15" fmla="*/ 1866010 w 2896332"/>
              <a:gd name="connsiteY15" fmla="*/ 878218 h 1875813"/>
              <a:gd name="connsiteX16" fmla="*/ 2733769 w 2896332"/>
              <a:gd name="connsiteY16" fmla="*/ 1387129 h 1875813"/>
              <a:gd name="connsiteX17" fmla="*/ 2694623 w 2896332"/>
              <a:gd name="connsiteY17" fmla="*/ 1674208 h 1875813"/>
              <a:gd name="connsiteX18" fmla="*/ 2394496 w 2896332"/>
              <a:gd name="connsiteY18" fmla="*/ 1654634 h 1875813"/>
              <a:gd name="connsiteX19" fmla="*/ 2069239 w 2896332"/>
              <a:gd name="connsiteY19" fmla="*/ 1875813 h 1875813"/>
              <a:gd name="connsiteX20" fmla="*/ 2023060 w 2896332"/>
              <a:gd name="connsiteY20" fmla="*/ 1634793 h 1875813"/>
              <a:gd name="connsiteX21" fmla="*/ 1739085 w 2896332"/>
              <a:gd name="connsiteY21" fmla="*/ 1871397 h 1875813"/>
              <a:gd name="connsiteX22" fmla="*/ 1648664 w 2896332"/>
              <a:gd name="connsiteY22" fmla="*/ 1582137 h 1875813"/>
              <a:gd name="connsiteX23" fmla="*/ 1376671 w 2896332"/>
              <a:gd name="connsiteY23" fmla="*/ 1700306 h 1875813"/>
              <a:gd name="connsiteX24" fmla="*/ 1415819 w 2896332"/>
              <a:gd name="connsiteY24" fmla="*/ 1334933 h 1875813"/>
              <a:gd name="connsiteX25" fmla="*/ 665501 w 2896332"/>
              <a:gd name="connsiteY25" fmla="*/ 1276212 h 1875813"/>
              <a:gd name="connsiteX26" fmla="*/ 0 w 2896332"/>
              <a:gd name="connsiteY26" fmla="*/ 1126148 h 1875813"/>
              <a:gd name="connsiteX27" fmla="*/ 13050 w 2896332"/>
              <a:gd name="connsiteY27" fmla="*/ 284488 h 1875813"/>
              <a:gd name="connsiteX28" fmla="*/ 1898646 w 2896332"/>
              <a:gd name="connsiteY28" fmla="*/ 46 h 1875813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50 w 2896332"/>
              <a:gd name="connsiteY12" fmla="*/ 233293 h 1871397"/>
              <a:gd name="connsiteX13" fmla="*/ 1970591 w 2896332"/>
              <a:gd name="connsiteY13" fmla="*/ 233293 h 1871397"/>
              <a:gd name="connsiteX14" fmla="*/ 1973469 w 2896332"/>
              <a:gd name="connsiteY14" fmla="*/ 784519 h 1871397"/>
              <a:gd name="connsiteX15" fmla="*/ 1866010 w 2896332"/>
              <a:gd name="connsiteY15" fmla="*/ 878218 h 1871397"/>
              <a:gd name="connsiteX16" fmla="*/ 2733769 w 2896332"/>
              <a:gd name="connsiteY16" fmla="*/ 1387129 h 1871397"/>
              <a:gd name="connsiteX17" fmla="*/ 2694623 w 2896332"/>
              <a:gd name="connsiteY17" fmla="*/ 1674208 h 1871397"/>
              <a:gd name="connsiteX18" fmla="*/ 2394496 w 2896332"/>
              <a:gd name="connsiteY18" fmla="*/ 1654634 h 1871397"/>
              <a:gd name="connsiteX19" fmla="*/ 2023060 w 2896332"/>
              <a:gd name="connsiteY19" fmla="*/ 1634793 h 1871397"/>
              <a:gd name="connsiteX20" fmla="*/ 1739085 w 2896332"/>
              <a:gd name="connsiteY20" fmla="*/ 1871397 h 1871397"/>
              <a:gd name="connsiteX21" fmla="*/ 1648664 w 2896332"/>
              <a:gd name="connsiteY21" fmla="*/ 1582137 h 1871397"/>
              <a:gd name="connsiteX22" fmla="*/ 1376671 w 2896332"/>
              <a:gd name="connsiteY22" fmla="*/ 1700306 h 1871397"/>
              <a:gd name="connsiteX23" fmla="*/ 1415819 w 2896332"/>
              <a:gd name="connsiteY23" fmla="*/ 1334933 h 1871397"/>
              <a:gd name="connsiteX24" fmla="*/ 665501 w 2896332"/>
              <a:gd name="connsiteY24" fmla="*/ 1276212 h 1871397"/>
              <a:gd name="connsiteX25" fmla="*/ 0 w 2896332"/>
              <a:gd name="connsiteY25" fmla="*/ 1126148 h 1871397"/>
              <a:gd name="connsiteX26" fmla="*/ 13050 w 2896332"/>
              <a:gd name="connsiteY26" fmla="*/ 284488 h 1871397"/>
              <a:gd name="connsiteX27" fmla="*/ 1898646 w 2896332"/>
              <a:gd name="connsiteY27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50 w 2896332"/>
              <a:gd name="connsiteY12" fmla="*/ 233293 h 1871397"/>
              <a:gd name="connsiteX13" fmla="*/ 1962971 w 2896332"/>
              <a:gd name="connsiteY13" fmla="*/ 267583 h 1871397"/>
              <a:gd name="connsiteX14" fmla="*/ 1973469 w 2896332"/>
              <a:gd name="connsiteY14" fmla="*/ 784519 h 1871397"/>
              <a:gd name="connsiteX15" fmla="*/ 1866010 w 2896332"/>
              <a:gd name="connsiteY15" fmla="*/ 878218 h 1871397"/>
              <a:gd name="connsiteX16" fmla="*/ 2733769 w 2896332"/>
              <a:gd name="connsiteY16" fmla="*/ 1387129 h 1871397"/>
              <a:gd name="connsiteX17" fmla="*/ 2694623 w 2896332"/>
              <a:gd name="connsiteY17" fmla="*/ 1674208 h 1871397"/>
              <a:gd name="connsiteX18" fmla="*/ 2394496 w 2896332"/>
              <a:gd name="connsiteY18" fmla="*/ 1654634 h 1871397"/>
              <a:gd name="connsiteX19" fmla="*/ 2023060 w 2896332"/>
              <a:gd name="connsiteY19" fmla="*/ 1634793 h 1871397"/>
              <a:gd name="connsiteX20" fmla="*/ 1739085 w 2896332"/>
              <a:gd name="connsiteY20" fmla="*/ 1871397 h 1871397"/>
              <a:gd name="connsiteX21" fmla="*/ 1648664 w 2896332"/>
              <a:gd name="connsiteY21" fmla="*/ 1582137 h 1871397"/>
              <a:gd name="connsiteX22" fmla="*/ 1376671 w 2896332"/>
              <a:gd name="connsiteY22" fmla="*/ 1700306 h 1871397"/>
              <a:gd name="connsiteX23" fmla="*/ 1415819 w 2896332"/>
              <a:gd name="connsiteY23" fmla="*/ 1334933 h 1871397"/>
              <a:gd name="connsiteX24" fmla="*/ 665501 w 2896332"/>
              <a:gd name="connsiteY24" fmla="*/ 1276212 h 1871397"/>
              <a:gd name="connsiteX25" fmla="*/ 0 w 2896332"/>
              <a:gd name="connsiteY25" fmla="*/ 1126148 h 1871397"/>
              <a:gd name="connsiteX26" fmla="*/ 13050 w 2896332"/>
              <a:gd name="connsiteY26" fmla="*/ 284488 h 1871397"/>
              <a:gd name="connsiteX27" fmla="*/ 1898646 w 2896332"/>
              <a:gd name="connsiteY27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71 w 2896332"/>
              <a:gd name="connsiteY12" fmla="*/ 267583 h 1871397"/>
              <a:gd name="connsiteX13" fmla="*/ 1973469 w 2896332"/>
              <a:gd name="connsiteY13" fmla="*/ 784519 h 1871397"/>
              <a:gd name="connsiteX14" fmla="*/ 1866010 w 2896332"/>
              <a:gd name="connsiteY14" fmla="*/ 878218 h 1871397"/>
              <a:gd name="connsiteX15" fmla="*/ 2733769 w 2896332"/>
              <a:gd name="connsiteY15" fmla="*/ 1387129 h 1871397"/>
              <a:gd name="connsiteX16" fmla="*/ 2694623 w 2896332"/>
              <a:gd name="connsiteY16" fmla="*/ 1674208 h 1871397"/>
              <a:gd name="connsiteX17" fmla="*/ 2394496 w 2896332"/>
              <a:gd name="connsiteY17" fmla="*/ 1654634 h 1871397"/>
              <a:gd name="connsiteX18" fmla="*/ 2023060 w 2896332"/>
              <a:gd name="connsiteY18" fmla="*/ 1634793 h 1871397"/>
              <a:gd name="connsiteX19" fmla="*/ 1739085 w 2896332"/>
              <a:gd name="connsiteY19" fmla="*/ 1871397 h 1871397"/>
              <a:gd name="connsiteX20" fmla="*/ 1648664 w 2896332"/>
              <a:gd name="connsiteY20" fmla="*/ 1582137 h 1871397"/>
              <a:gd name="connsiteX21" fmla="*/ 1376671 w 2896332"/>
              <a:gd name="connsiteY21" fmla="*/ 1700306 h 1871397"/>
              <a:gd name="connsiteX22" fmla="*/ 1415819 w 2896332"/>
              <a:gd name="connsiteY22" fmla="*/ 1334933 h 1871397"/>
              <a:gd name="connsiteX23" fmla="*/ 665501 w 2896332"/>
              <a:gd name="connsiteY23" fmla="*/ 1276212 h 1871397"/>
              <a:gd name="connsiteX24" fmla="*/ 0 w 2896332"/>
              <a:gd name="connsiteY24" fmla="*/ 1126148 h 1871397"/>
              <a:gd name="connsiteX25" fmla="*/ 13050 w 2896332"/>
              <a:gd name="connsiteY25" fmla="*/ 284488 h 1871397"/>
              <a:gd name="connsiteX26" fmla="*/ 1898646 w 2896332"/>
              <a:gd name="connsiteY26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62950 w 2896332"/>
              <a:gd name="connsiteY10" fmla="*/ 120627 h 1871397"/>
              <a:gd name="connsiteX11" fmla="*/ 1906617 w 2896332"/>
              <a:gd name="connsiteY11" fmla="*/ 176960 h 1871397"/>
              <a:gd name="connsiteX12" fmla="*/ 1962971 w 2896332"/>
              <a:gd name="connsiteY12" fmla="*/ 267583 h 1871397"/>
              <a:gd name="connsiteX13" fmla="*/ 1973469 w 2896332"/>
              <a:gd name="connsiteY13" fmla="*/ 784519 h 1871397"/>
              <a:gd name="connsiteX14" fmla="*/ 1866010 w 2896332"/>
              <a:gd name="connsiteY14" fmla="*/ 878218 h 1871397"/>
              <a:gd name="connsiteX15" fmla="*/ 2733769 w 2896332"/>
              <a:gd name="connsiteY15" fmla="*/ 1387129 h 1871397"/>
              <a:gd name="connsiteX16" fmla="*/ 2694623 w 2896332"/>
              <a:gd name="connsiteY16" fmla="*/ 1674208 h 1871397"/>
              <a:gd name="connsiteX17" fmla="*/ 2394496 w 2896332"/>
              <a:gd name="connsiteY17" fmla="*/ 1654634 h 1871397"/>
              <a:gd name="connsiteX18" fmla="*/ 2023060 w 2896332"/>
              <a:gd name="connsiteY18" fmla="*/ 1634793 h 1871397"/>
              <a:gd name="connsiteX19" fmla="*/ 1739085 w 2896332"/>
              <a:gd name="connsiteY19" fmla="*/ 1871397 h 1871397"/>
              <a:gd name="connsiteX20" fmla="*/ 1648664 w 2896332"/>
              <a:gd name="connsiteY20" fmla="*/ 1582137 h 1871397"/>
              <a:gd name="connsiteX21" fmla="*/ 1376671 w 2896332"/>
              <a:gd name="connsiteY21" fmla="*/ 1700306 h 1871397"/>
              <a:gd name="connsiteX22" fmla="*/ 1415819 w 2896332"/>
              <a:gd name="connsiteY22" fmla="*/ 1334933 h 1871397"/>
              <a:gd name="connsiteX23" fmla="*/ 665501 w 2896332"/>
              <a:gd name="connsiteY23" fmla="*/ 1276212 h 1871397"/>
              <a:gd name="connsiteX24" fmla="*/ 0 w 2896332"/>
              <a:gd name="connsiteY24" fmla="*/ 1126148 h 1871397"/>
              <a:gd name="connsiteX25" fmla="*/ 13050 w 2896332"/>
              <a:gd name="connsiteY25" fmla="*/ 284488 h 1871397"/>
              <a:gd name="connsiteX26" fmla="*/ 1898646 w 2896332"/>
              <a:gd name="connsiteY26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70003 w 2896332"/>
              <a:gd name="connsiteY9" fmla="*/ 120627 h 1871397"/>
              <a:gd name="connsiteX10" fmla="*/ 1906617 w 2896332"/>
              <a:gd name="connsiteY10" fmla="*/ 176960 h 1871397"/>
              <a:gd name="connsiteX11" fmla="*/ 1962971 w 2896332"/>
              <a:gd name="connsiteY11" fmla="*/ 267583 h 1871397"/>
              <a:gd name="connsiteX12" fmla="*/ 1973469 w 2896332"/>
              <a:gd name="connsiteY12" fmla="*/ 784519 h 1871397"/>
              <a:gd name="connsiteX13" fmla="*/ 1866010 w 2896332"/>
              <a:gd name="connsiteY13" fmla="*/ 878218 h 1871397"/>
              <a:gd name="connsiteX14" fmla="*/ 2733769 w 2896332"/>
              <a:gd name="connsiteY14" fmla="*/ 1387129 h 1871397"/>
              <a:gd name="connsiteX15" fmla="*/ 2694623 w 2896332"/>
              <a:gd name="connsiteY15" fmla="*/ 1674208 h 1871397"/>
              <a:gd name="connsiteX16" fmla="*/ 2394496 w 2896332"/>
              <a:gd name="connsiteY16" fmla="*/ 1654634 h 1871397"/>
              <a:gd name="connsiteX17" fmla="*/ 2023060 w 2896332"/>
              <a:gd name="connsiteY17" fmla="*/ 1634793 h 1871397"/>
              <a:gd name="connsiteX18" fmla="*/ 1739085 w 2896332"/>
              <a:gd name="connsiteY18" fmla="*/ 1871397 h 1871397"/>
              <a:gd name="connsiteX19" fmla="*/ 1648664 w 2896332"/>
              <a:gd name="connsiteY19" fmla="*/ 1582137 h 1871397"/>
              <a:gd name="connsiteX20" fmla="*/ 1376671 w 2896332"/>
              <a:gd name="connsiteY20" fmla="*/ 1700306 h 1871397"/>
              <a:gd name="connsiteX21" fmla="*/ 1415819 w 2896332"/>
              <a:gd name="connsiteY21" fmla="*/ 1334933 h 1871397"/>
              <a:gd name="connsiteX22" fmla="*/ 665501 w 2896332"/>
              <a:gd name="connsiteY22" fmla="*/ 1276212 h 1871397"/>
              <a:gd name="connsiteX23" fmla="*/ 0 w 2896332"/>
              <a:gd name="connsiteY23" fmla="*/ 1126148 h 1871397"/>
              <a:gd name="connsiteX24" fmla="*/ 13050 w 2896332"/>
              <a:gd name="connsiteY24" fmla="*/ 284488 h 1871397"/>
              <a:gd name="connsiteX25" fmla="*/ 1898646 w 2896332"/>
              <a:gd name="connsiteY25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74208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74208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74208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39703 h 1871397"/>
              <a:gd name="connsiteX15" fmla="*/ 2394496 w 2896332"/>
              <a:gd name="connsiteY15" fmla="*/ 1654634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39703 h 1871397"/>
              <a:gd name="connsiteX15" fmla="*/ 2385869 w 2896332"/>
              <a:gd name="connsiteY15" fmla="*/ 1585623 h 1871397"/>
              <a:gd name="connsiteX16" fmla="*/ 2023060 w 2896332"/>
              <a:gd name="connsiteY16" fmla="*/ 1634793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9811 w 2896332"/>
              <a:gd name="connsiteY8" fmla="*/ 83938 h 1871397"/>
              <a:gd name="connsiteX9" fmla="*/ 1906617 w 2896332"/>
              <a:gd name="connsiteY9" fmla="*/ 176960 h 1871397"/>
              <a:gd name="connsiteX10" fmla="*/ 1962971 w 2896332"/>
              <a:gd name="connsiteY10" fmla="*/ 267583 h 1871397"/>
              <a:gd name="connsiteX11" fmla="*/ 1973469 w 2896332"/>
              <a:gd name="connsiteY11" fmla="*/ 784519 h 1871397"/>
              <a:gd name="connsiteX12" fmla="*/ 1866010 w 2896332"/>
              <a:gd name="connsiteY12" fmla="*/ 878218 h 1871397"/>
              <a:gd name="connsiteX13" fmla="*/ 2733769 w 2896332"/>
              <a:gd name="connsiteY13" fmla="*/ 1387129 h 1871397"/>
              <a:gd name="connsiteX14" fmla="*/ 2694623 w 2896332"/>
              <a:gd name="connsiteY14" fmla="*/ 1639703 h 1871397"/>
              <a:gd name="connsiteX15" fmla="*/ 2385869 w 2896332"/>
              <a:gd name="connsiteY15" fmla="*/ 1585623 h 1871397"/>
              <a:gd name="connsiteX16" fmla="*/ 2074819 w 2896332"/>
              <a:gd name="connsiteY16" fmla="*/ 1565782 h 1871397"/>
              <a:gd name="connsiteX17" fmla="*/ 1739085 w 2896332"/>
              <a:gd name="connsiteY17" fmla="*/ 1871397 h 1871397"/>
              <a:gd name="connsiteX18" fmla="*/ 1648664 w 2896332"/>
              <a:gd name="connsiteY18" fmla="*/ 1582137 h 1871397"/>
              <a:gd name="connsiteX19" fmla="*/ 1376671 w 2896332"/>
              <a:gd name="connsiteY19" fmla="*/ 1700306 h 1871397"/>
              <a:gd name="connsiteX20" fmla="*/ 1415819 w 2896332"/>
              <a:gd name="connsiteY20" fmla="*/ 1334933 h 1871397"/>
              <a:gd name="connsiteX21" fmla="*/ 665501 w 2896332"/>
              <a:gd name="connsiteY21" fmla="*/ 1276212 h 1871397"/>
              <a:gd name="connsiteX22" fmla="*/ 0 w 2896332"/>
              <a:gd name="connsiteY22" fmla="*/ 1126148 h 1871397"/>
              <a:gd name="connsiteX23" fmla="*/ 13050 w 2896332"/>
              <a:gd name="connsiteY23" fmla="*/ 284488 h 1871397"/>
              <a:gd name="connsiteX24" fmla="*/ 1898646 w 2896332"/>
              <a:gd name="connsiteY24" fmla="*/ 46 h 1871397"/>
              <a:gd name="connsiteX0" fmla="*/ 2514265 w 2896332"/>
              <a:gd name="connsiteY0" fmla="*/ 468202 h 1872827"/>
              <a:gd name="connsiteX1" fmla="*/ 2655476 w 2896332"/>
              <a:gd name="connsiteY1" fmla="*/ 586045 h 1872827"/>
              <a:gd name="connsiteX2" fmla="*/ 2828170 w 2896332"/>
              <a:gd name="connsiteY2" fmla="*/ 1011931 h 1872827"/>
              <a:gd name="connsiteX3" fmla="*/ 2883834 w 2896332"/>
              <a:gd name="connsiteY3" fmla="*/ 1310265 h 1872827"/>
              <a:gd name="connsiteX4" fmla="*/ 2799743 w 2896332"/>
              <a:gd name="connsiteY4" fmla="*/ 1673528 h 1872827"/>
              <a:gd name="connsiteX5" fmla="*/ 2521033 w 2896332"/>
              <a:gd name="connsiteY5" fmla="*/ 1161851 h 1872827"/>
              <a:gd name="connsiteX6" fmla="*/ 2514265 w 2896332"/>
              <a:gd name="connsiteY6" fmla="*/ 468202 h 1872827"/>
              <a:gd name="connsiteX7" fmla="*/ 1898646 w 2896332"/>
              <a:gd name="connsiteY7" fmla="*/ 1476 h 1872827"/>
              <a:gd name="connsiteX8" fmla="*/ 1906617 w 2896332"/>
              <a:gd name="connsiteY8" fmla="*/ 178390 h 1872827"/>
              <a:gd name="connsiteX9" fmla="*/ 1962971 w 2896332"/>
              <a:gd name="connsiteY9" fmla="*/ 269013 h 1872827"/>
              <a:gd name="connsiteX10" fmla="*/ 1973469 w 2896332"/>
              <a:gd name="connsiteY10" fmla="*/ 785949 h 1872827"/>
              <a:gd name="connsiteX11" fmla="*/ 1866010 w 2896332"/>
              <a:gd name="connsiteY11" fmla="*/ 879648 h 1872827"/>
              <a:gd name="connsiteX12" fmla="*/ 2733769 w 2896332"/>
              <a:gd name="connsiteY12" fmla="*/ 1388559 h 1872827"/>
              <a:gd name="connsiteX13" fmla="*/ 2694623 w 2896332"/>
              <a:gd name="connsiteY13" fmla="*/ 1641133 h 1872827"/>
              <a:gd name="connsiteX14" fmla="*/ 2385869 w 2896332"/>
              <a:gd name="connsiteY14" fmla="*/ 1587053 h 1872827"/>
              <a:gd name="connsiteX15" fmla="*/ 2074819 w 2896332"/>
              <a:gd name="connsiteY15" fmla="*/ 1567212 h 1872827"/>
              <a:gd name="connsiteX16" fmla="*/ 1739085 w 2896332"/>
              <a:gd name="connsiteY16" fmla="*/ 1872827 h 1872827"/>
              <a:gd name="connsiteX17" fmla="*/ 1648664 w 2896332"/>
              <a:gd name="connsiteY17" fmla="*/ 1583567 h 1872827"/>
              <a:gd name="connsiteX18" fmla="*/ 1376671 w 2896332"/>
              <a:gd name="connsiteY18" fmla="*/ 1701736 h 1872827"/>
              <a:gd name="connsiteX19" fmla="*/ 1415819 w 2896332"/>
              <a:gd name="connsiteY19" fmla="*/ 1336363 h 1872827"/>
              <a:gd name="connsiteX20" fmla="*/ 665501 w 2896332"/>
              <a:gd name="connsiteY20" fmla="*/ 1277642 h 1872827"/>
              <a:gd name="connsiteX21" fmla="*/ 0 w 2896332"/>
              <a:gd name="connsiteY21" fmla="*/ 1127578 h 1872827"/>
              <a:gd name="connsiteX22" fmla="*/ 13050 w 2896332"/>
              <a:gd name="connsiteY22" fmla="*/ 285918 h 1872827"/>
              <a:gd name="connsiteX23" fmla="*/ 1898646 w 2896332"/>
              <a:gd name="connsiteY23" fmla="*/ 1476 h 187282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2971 w 2896332"/>
              <a:gd name="connsiteY8" fmla="*/ 267583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62971 w 2896332"/>
              <a:gd name="connsiteY8" fmla="*/ 267583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3469 w 2896332"/>
              <a:gd name="connsiteY9" fmla="*/ 784519 h 1871397"/>
              <a:gd name="connsiteX10" fmla="*/ 1866010 w 2896332"/>
              <a:gd name="connsiteY10" fmla="*/ 878218 h 1871397"/>
              <a:gd name="connsiteX11" fmla="*/ 2733769 w 2896332"/>
              <a:gd name="connsiteY11" fmla="*/ 1387129 h 1871397"/>
              <a:gd name="connsiteX12" fmla="*/ 2694623 w 2896332"/>
              <a:gd name="connsiteY12" fmla="*/ 1639703 h 1871397"/>
              <a:gd name="connsiteX13" fmla="*/ 2385869 w 2896332"/>
              <a:gd name="connsiteY13" fmla="*/ 1585623 h 1871397"/>
              <a:gd name="connsiteX14" fmla="*/ 2074819 w 2896332"/>
              <a:gd name="connsiteY14" fmla="*/ 1565782 h 1871397"/>
              <a:gd name="connsiteX15" fmla="*/ 1739085 w 2896332"/>
              <a:gd name="connsiteY15" fmla="*/ 1871397 h 1871397"/>
              <a:gd name="connsiteX16" fmla="*/ 1648664 w 2896332"/>
              <a:gd name="connsiteY16" fmla="*/ 1582137 h 1871397"/>
              <a:gd name="connsiteX17" fmla="*/ 1376671 w 2896332"/>
              <a:gd name="connsiteY17" fmla="*/ 1700306 h 1871397"/>
              <a:gd name="connsiteX18" fmla="*/ 1415819 w 2896332"/>
              <a:gd name="connsiteY18" fmla="*/ 1334933 h 1871397"/>
              <a:gd name="connsiteX19" fmla="*/ 665501 w 2896332"/>
              <a:gd name="connsiteY19" fmla="*/ 1276212 h 1871397"/>
              <a:gd name="connsiteX20" fmla="*/ 0 w 2896332"/>
              <a:gd name="connsiteY20" fmla="*/ 1126148 h 1871397"/>
              <a:gd name="connsiteX21" fmla="*/ 13050 w 2896332"/>
              <a:gd name="connsiteY21" fmla="*/ 284488 h 1871397"/>
              <a:gd name="connsiteX22" fmla="*/ 1898646 w 2896332"/>
              <a:gd name="connsiteY22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514265 w 2896332"/>
              <a:gd name="connsiteY0" fmla="*/ 466772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514265 w 2896332"/>
              <a:gd name="connsiteY6" fmla="*/ 466772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21033 w 2896332"/>
              <a:gd name="connsiteY5" fmla="*/ 1160421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587909 w 2896332"/>
              <a:gd name="connsiteY5" fmla="*/ 1152990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43048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43048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39923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51069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28186 w 2896332"/>
              <a:gd name="connsiteY0" fmla="*/ 269861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51069 w 2896332"/>
              <a:gd name="connsiteY5" fmla="*/ 1156706 h 1871397"/>
              <a:gd name="connsiteX6" fmla="*/ 2228186 w 2896332"/>
              <a:gd name="connsiteY6" fmla="*/ 269861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09609 w 2896332"/>
              <a:gd name="connsiteY0" fmla="*/ 251285 h 1871397"/>
              <a:gd name="connsiteX1" fmla="*/ 2655476 w 2896332"/>
              <a:gd name="connsiteY1" fmla="*/ 584615 h 1871397"/>
              <a:gd name="connsiteX2" fmla="*/ 2828170 w 2896332"/>
              <a:gd name="connsiteY2" fmla="*/ 1010501 h 1871397"/>
              <a:gd name="connsiteX3" fmla="*/ 2883834 w 2896332"/>
              <a:gd name="connsiteY3" fmla="*/ 1308835 h 1871397"/>
              <a:gd name="connsiteX4" fmla="*/ 2799743 w 2896332"/>
              <a:gd name="connsiteY4" fmla="*/ 1672098 h 1871397"/>
              <a:gd name="connsiteX5" fmla="*/ 2651069 w 2896332"/>
              <a:gd name="connsiteY5" fmla="*/ 1156706 h 1871397"/>
              <a:gd name="connsiteX6" fmla="*/ 2209609 w 2896332"/>
              <a:gd name="connsiteY6" fmla="*/ 251285 h 1871397"/>
              <a:gd name="connsiteX7" fmla="*/ 1898646 w 2896332"/>
              <a:gd name="connsiteY7" fmla="*/ 46 h 1871397"/>
              <a:gd name="connsiteX8" fmla="*/ 1941303 w 2896332"/>
              <a:gd name="connsiteY8" fmla="*/ 293585 h 1871397"/>
              <a:gd name="connsiteX9" fmla="*/ 1974640 w 2896332"/>
              <a:gd name="connsiteY9" fmla="*/ 533402 h 1871397"/>
              <a:gd name="connsiteX10" fmla="*/ 1973469 w 2896332"/>
              <a:gd name="connsiteY10" fmla="*/ 784519 h 1871397"/>
              <a:gd name="connsiteX11" fmla="*/ 1866010 w 2896332"/>
              <a:gd name="connsiteY11" fmla="*/ 878218 h 1871397"/>
              <a:gd name="connsiteX12" fmla="*/ 2733769 w 2896332"/>
              <a:gd name="connsiteY12" fmla="*/ 1387129 h 1871397"/>
              <a:gd name="connsiteX13" fmla="*/ 2694623 w 2896332"/>
              <a:gd name="connsiteY13" fmla="*/ 1639703 h 1871397"/>
              <a:gd name="connsiteX14" fmla="*/ 2385869 w 2896332"/>
              <a:gd name="connsiteY14" fmla="*/ 1585623 h 1871397"/>
              <a:gd name="connsiteX15" fmla="*/ 2074819 w 2896332"/>
              <a:gd name="connsiteY15" fmla="*/ 1565782 h 1871397"/>
              <a:gd name="connsiteX16" fmla="*/ 1739085 w 2896332"/>
              <a:gd name="connsiteY16" fmla="*/ 1871397 h 1871397"/>
              <a:gd name="connsiteX17" fmla="*/ 1648664 w 2896332"/>
              <a:gd name="connsiteY17" fmla="*/ 1582137 h 1871397"/>
              <a:gd name="connsiteX18" fmla="*/ 1376671 w 2896332"/>
              <a:gd name="connsiteY18" fmla="*/ 1700306 h 1871397"/>
              <a:gd name="connsiteX19" fmla="*/ 1415819 w 2896332"/>
              <a:gd name="connsiteY19" fmla="*/ 1334933 h 1871397"/>
              <a:gd name="connsiteX20" fmla="*/ 665501 w 2896332"/>
              <a:gd name="connsiteY20" fmla="*/ 1276212 h 1871397"/>
              <a:gd name="connsiteX21" fmla="*/ 0 w 2896332"/>
              <a:gd name="connsiteY21" fmla="*/ 1126148 h 1871397"/>
              <a:gd name="connsiteX22" fmla="*/ 13050 w 2896332"/>
              <a:gd name="connsiteY22" fmla="*/ 284488 h 1871397"/>
              <a:gd name="connsiteX23" fmla="*/ 1898646 w 2896332"/>
              <a:gd name="connsiteY23" fmla="*/ 46 h 1871397"/>
              <a:gd name="connsiteX0" fmla="*/ 2209609 w 2894163"/>
              <a:gd name="connsiteY0" fmla="*/ 251285 h 1871397"/>
              <a:gd name="connsiteX1" fmla="*/ 2655476 w 2894163"/>
              <a:gd name="connsiteY1" fmla="*/ 584615 h 1871397"/>
              <a:gd name="connsiteX2" fmla="*/ 2828170 w 2894163"/>
              <a:gd name="connsiteY2" fmla="*/ 1010501 h 1871397"/>
              <a:gd name="connsiteX3" fmla="*/ 2883834 w 2894163"/>
              <a:gd name="connsiteY3" fmla="*/ 1308835 h 1871397"/>
              <a:gd name="connsiteX4" fmla="*/ 2792313 w 2894163"/>
              <a:gd name="connsiteY4" fmla="*/ 1690675 h 1871397"/>
              <a:gd name="connsiteX5" fmla="*/ 2651069 w 2894163"/>
              <a:gd name="connsiteY5" fmla="*/ 1156706 h 1871397"/>
              <a:gd name="connsiteX6" fmla="*/ 2209609 w 2894163"/>
              <a:gd name="connsiteY6" fmla="*/ 251285 h 1871397"/>
              <a:gd name="connsiteX7" fmla="*/ 1898646 w 2894163"/>
              <a:gd name="connsiteY7" fmla="*/ 46 h 1871397"/>
              <a:gd name="connsiteX8" fmla="*/ 1941303 w 2894163"/>
              <a:gd name="connsiteY8" fmla="*/ 293585 h 1871397"/>
              <a:gd name="connsiteX9" fmla="*/ 1974640 w 2894163"/>
              <a:gd name="connsiteY9" fmla="*/ 533402 h 1871397"/>
              <a:gd name="connsiteX10" fmla="*/ 1973469 w 2894163"/>
              <a:gd name="connsiteY10" fmla="*/ 784519 h 1871397"/>
              <a:gd name="connsiteX11" fmla="*/ 1866010 w 2894163"/>
              <a:gd name="connsiteY11" fmla="*/ 878218 h 1871397"/>
              <a:gd name="connsiteX12" fmla="*/ 2733769 w 2894163"/>
              <a:gd name="connsiteY12" fmla="*/ 1387129 h 1871397"/>
              <a:gd name="connsiteX13" fmla="*/ 2694623 w 2894163"/>
              <a:gd name="connsiteY13" fmla="*/ 1639703 h 1871397"/>
              <a:gd name="connsiteX14" fmla="*/ 2385869 w 2894163"/>
              <a:gd name="connsiteY14" fmla="*/ 1585623 h 1871397"/>
              <a:gd name="connsiteX15" fmla="*/ 2074819 w 2894163"/>
              <a:gd name="connsiteY15" fmla="*/ 1565782 h 1871397"/>
              <a:gd name="connsiteX16" fmla="*/ 1739085 w 2894163"/>
              <a:gd name="connsiteY16" fmla="*/ 1871397 h 1871397"/>
              <a:gd name="connsiteX17" fmla="*/ 1648664 w 2894163"/>
              <a:gd name="connsiteY17" fmla="*/ 1582137 h 1871397"/>
              <a:gd name="connsiteX18" fmla="*/ 1376671 w 2894163"/>
              <a:gd name="connsiteY18" fmla="*/ 1700306 h 1871397"/>
              <a:gd name="connsiteX19" fmla="*/ 1415819 w 2894163"/>
              <a:gd name="connsiteY19" fmla="*/ 1334933 h 1871397"/>
              <a:gd name="connsiteX20" fmla="*/ 665501 w 2894163"/>
              <a:gd name="connsiteY20" fmla="*/ 1276212 h 1871397"/>
              <a:gd name="connsiteX21" fmla="*/ 0 w 2894163"/>
              <a:gd name="connsiteY21" fmla="*/ 1126148 h 1871397"/>
              <a:gd name="connsiteX22" fmla="*/ 13050 w 2894163"/>
              <a:gd name="connsiteY22" fmla="*/ 284488 h 1871397"/>
              <a:gd name="connsiteX23" fmla="*/ 1898646 w 2894163"/>
              <a:gd name="connsiteY23" fmla="*/ 46 h 1871397"/>
              <a:gd name="connsiteX0" fmla="*/ 2209609 w 2914477"/>
              <a:gd name="connsiteY0" fmla="*/ 251285 h 1871397"/>
              <a:gd name="connsiteX1" fmla="*/ 2655476 w 2914477"/>
              <a:gd name="connsiteY1" fmla="*/ 584615 h 1871397"/>
              <a:gd name="connsiteX2" fmla="*/ 2828170 w 2914477"/>
              <a:gd name="connsiteY2" fmla="*/ 1010501 h 1871397"/>
              <a:gd name="connsiteX3" fmla="*/ 2883834 w 2914477"/>
              <a:gd name="connsiteY3" fmla="*/ 1308835 h 1871397"/>
              <a:gd name="connsiteX4" fmla="*/ 2840612 w 2914477"/>
              <a:gd name="connsiteY4" fmla="*/ 1564355 h 1871397"/>
              <a:gd name="connsiteX5" fmla="*/ 2651069 w 2914477"/>
              <a:gd name="connsiteY5" fmla="*/ 1156706 h 1871397"/>
              <a:gd name="connsiteX6" fmla="*/ 2209609 w 2914477"/>
              <a:gd name="connsiteY6" fmla="*/ 251285 h 1871397"/>
              <a:gd name="connsiteX7" fmla="*/ 1898646 w 2914477"/>
              <a:gd name="connsiteY7" fmla="*/ 46 h 1871397"/>
              <a:gd name="connsiteX8" fmla="*/ 1941303 w 2914477"/>
              <a:gd name="connsiteY8" fmla="*/ 293585 h 1871397"/>
              <a:gd name="connsiteX9" fmla="*/ 1974640 w 2914477"/>
              <a:gd name="connsiteY9" fmla="*/ 533402 h 1871397"/>
              <a:gd name="connsiteX10" fmla="*/ 1973469 w 2914477"/>
              <a:gd name="connsiteY10" fmla="*/ 784519 h 1871397"/>
              <a:gd name="connsiteX11" fmla="*/ 1866010 w 2914477"/>
              <a:gd name="connsiteY11" fmla="*/ 878218 h 1871397"/>
              <a:gd name="connsiteX12" fmla="*/ 2733769 w 2914477"/>
              <a:gd name="connsiteY12" fmla="*/ 1387129 h 1871397"/>
              <a:gd name="connsiteX13" fmla="*/ 2694623 w 2914477"/>
              <a:gd name="connsiteY13" fmla="*/ 1639703 h 1871397"/>
              <a:gd name="connsiteX14" fmla="*/ 2385869 w 2914477"/>
              <a:gd name="connsiteY14" fmla="*/ 1585623 h 1871397"/>
              <a:gd name="connsiteX15" fmla="*/ 2074819 w 2914477"/>
              <a:gd name="connsiteY15" fmla="*/ 1565782 h 1871397"/>
              <a:gd name="connsiteX16" fmla="*/ 1739085 w 2914477"/>
              <a:gd name="connsiteY16" fmla="*/ 1871397 h 1871397"/>
              <a:gd name="connsiteX17" fmla="*/ 1648664 w 2914477"/>
              <a:gd name="connsiteY17" fmla="*/ 1582137 h 1871397"/>
              <a:gd name="connsiteX18" fmla="*/ 1376671 w 2914477"/>
              <a:gd name="connsiteY18" fmla="*/ 1700306 h 1871397"/>
              <a:gd name="connsiteX19" fmla="*/ 1415819 w 2914477"/>
              <a:gd name="connsiteY19" fmla="*/ 1334933 h 1871397"/>
              <a:gd name="connsiteX20" fmla="*/ 665501 w 2914477"/>
              <a:gd name="connsiteY20" fmla="*/ 1276212 h 1871397"/>
              <a:gd name="connsiteX21" fmla="*/ 0 w 2914477"/>
              <a:gd name="connsiteY21" fmla="*/ 1126148 h 1871397"/>
              <a:gd name="connsiteX22" fmla="*/ 13050 w 2914477"/>
              <a:gd name="connsiteY22" fmla="*/ 284488 h 1871397"/>
              <a:gd name="connsiteX23" fmla="*/ 1898646 w 2914477"/>
              <a:gd name="connsiteY23" fmla="*/ 46 h 1871397"/>
              <a:gd name="connsiteX0" fmla="*/ 2209609 w 2914477"/>
              <a:gd name="connsiteY0" fmla="*/ 251285 h 1871397"/>
              <a:gd name="connsiteX1" fmla="*/ 2655476 w 2914477"/>
              <a:gd name="connsiteY1" fmla="*/ 584615 h 1871397"/>
              <a:gd name="connsiteX2" fmla="*/ 2828170 w 2914477"/>
              <a:gd name="connsiteY2" fmla="*/ 1010501 h 1871397"/>
              <a:gd name="connsiteX3" fmla="*/ 2883834 w 2914477"/>
              <a:gd name="connsiteY3" fmla="*/ 1308835 h 1871397"/>
              <a:gd name="connsiteX4" fmla="*/ 2840612 w 2914477"/>
              <a:gd name="connsiteY4" fmla="*/ 1564355 h 1871397"/>
              <a:gd name="connsiteX5" fmla="*/ 2651069 w 2914477"/>
              <a:gd name="connsiteY5" fmla="*/ 1156706 h 1871397"/>
              <a:gd name="connsiteX6" fmla="*/ 2209609 w 2914477"/>
              <a:gd name="connsiteY6" fmla="*/ 251285 h 1871397"/>
              <a:gd name="connsiteX7" fmla="*/ 1898646 w 2914477"/>
              <a:gd name="connsiteY7" fmla="*/ 46 h 1871397"/>
              <a:gd name="connsiteX8" fmla="*/ 1941303 w 2914477"/>
              <a:gd name="connsiteY8" fmla="*/ 293585 h 1871397"/>
              <a:gd name="connsiteX9" fmla="*/ 1974640 w 2914477"/>
              <a:gd name="connsiteY9" fmla="*/ 533402 h 1871397"/>
              <a:gd name="connsiteX10" fmla="*/ 1973469 w 2914477"/>
              <a:gd name="connsiteY10" fmla="*/ 784519 h 1871397"/>
              <a:gd name="connsiteX11" fmla="*/ 1866010 w 2914477"/>
              <a:gd name="connsiteY11" fmla="*/ 878218 h 1871397"/>
              <a:gd name="connsiteX12" fmla="*/ 2733769 w 2914477"/>
              <a:gd name="connsiteY12" fmla="*/ 1387129 h 1871397"/>
              <a:gd name="connsiteX13" fmla="*/ 2694623 w 2914477"/>
              <a:gd name="connsiteY13" fmla="*/ 1639703 h 1871397"/>
              <a:gd name="connsiteX14" fmla="*/ 2385869 w 2914477"/>
              <a:gd name="connsiteY14" fmla="*/ 1585623 h 1871397"/>
              <a:gd name="connsiteX15" fmla="*/ 2074819 w 2914477"/>
              <a:gd name="connsiteY15" fmla="*/ 1565782 h 1871397"/>
              <a:gd name="connsiteX16" fmla="*/ 1739085 w 2914477"/>
              <a:gd name="connsiteY16" fmla="*/ 1871397 h 1871397"/>
              <a:gd name="connsiteX17" fmla="*/ 1648664 w 2914477"/>
              <a:gd name="connsiteY17" fmla="*/ 1582137 h 1871397"/>
              <a:gd name="connsiteX18" fmla="*/ 1376671 w 2914477"/>
              <a:gd name="connsiteY18" fmla="*/ 1700306 h 1871397"/>
              <a:gd name="connsiteX19" fmla="*/ 1415819 w 2914477"/>
              <a:gd name="connsiteY19" fmla="*/ 1334933 h 1871397"/>
              <a:gd name="connsiteX20" fmla="*/ 665501 w 2914477"/>
              <a:gd name="connsiteY20" fmla="*/ 1276212 h 1871397"/>
              <a:gd name="connsiteX21" fmla="*/ 0 w 2914477"/>
              <a:gd name="connsiteY21" fmla="*/ 1126148 h 1871397"/>
              <a:gd name="connsiteX22" fmla="*/ 13050 w 2914477"/>
              <a:gd name="connsiteY22" fmla="*/ 284488 h 1871397"/>
              <a:gd name="connsiteX23" fmla="*/ 1898646 w 2914477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51069 w 2889213"/>
              <a:gd name="connsiteY5" fmla="*/ 1156706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209609 w 2889213"/>
              <a:gd name="connsiteY0" fmla="*/ 251285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209609 w 2889213"/>
              <a:gd name="connsiteY6" fmla="*/ 251285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150164 w 2889213"/>
              <a:gd name="connsiteY0" fmla="*/ 228993 h 1871397"/>
              <a:gd name="connsiteX1" fmla="*/ 2655476 w 2889213"/>
              <a:gd name="connsiteY1" fmla="*/ 584615 h 1871397"/>
              <a:gd name="connsiteX2" fmla="*/ 2828170 w 2889213"/>
              <a:gd name="connsiteY2" fmla="*/ 1010501 h 1871397"/>
              <a:gd name="connsiteX3" fmla="*/ 2883834 w 2889213"/>
              <a:gd name="connsiteY3" fmla="*/ 1308835 h 1871397"/>
              <a:gd name="connsiteX4" fmla="*/ 2840612 w 2889213"/>
              <a:gd name="connsiteY4" fmla="*/ 1564355 h 1871397"/>
              <a:gd name="connsiteX5" fmla="*/ 2632493 w 2889213"/>
              <a:gd name="connsiteY5" fmla="*/ 1175282 h 1871397"/>
              <a:gd name="connsiteX6" fmla="*/ 2150164 w 2889213"/>
              <a:gd name="connsiteY6" fmla="*/ 228993 h 1871397"/>
              <a:gd name="connsiteX7" fmla="*/ 1898646 w 2889213"/>
              <a:gd name="connsiteY7" fmla="*/ 46 h 1871397"/>
              <a:gd name="connsiteX8" fmla="*/ 1941303 w 2889213"/>
              <a:gd name="connsiteY8" fmla="*/ 293585 h 1871397"/>
              <a:gd name="connsiteX9" fmla="*/ 1974640 w 2889213"/>
              <a:gd name="connsiteY9" fmla="*/ 533402 h 1871397"/>
              <a:gd name="connsiteX10" fmla="*/ 1973469 w 2889213"/>
              <a:gd name="connsiteY10" fmla="*/ 784519 h 1871397"/>
              <a:gd name="connsiteX11" fmla="*/ 1866010 w 2889213"/>
              <a:gd name="connsiteY11" fmla="*/ 878218 h 1871397"/>
              <a:gd name="connsiteX12" fmla="*/ 2733769 w 2889213"/>
              <a:gd name="connsiteY12" fmla="*/ 1387129 h 1871397"/>
              <a:gd name="connsiteX13" fmla="*/ 2694623 w 2889213"/>
              <a:gd name="connsiteY13" fmla="*/ 1639703 h 1871397"/>
              <a:gd name="connsiteX14" fmla="*/ 2385869 w 2889213"/>
              <a:gd name="connsiteY14" fmla="*/ 1585623 h 1871397"/>
              <a:gd name="connsiteX15" fmla="*/ 2074819 w 2889213"/>
              <a:gd name="connsiteY15" fmla="*/ 1565782 h 1871397"/>
              <a:gd name="connsiteX16" fmla="*/ 1739085 w 2889213"/>
              <a:gd name="connsiteY16" fmla="*/ 1871397 h 1871397"/>
              <a:gd name="connsiteX17" fmla="*/ 1648664 w 2889213"/>
              <a:gd name="connsiteY17" fmla="*/ 1582137 h 1871397"/>
              <a:gd name="connsiteX18" fmla="*/ 1376671 w 2889213"/>
              <a:gd name="connsiteY18" fmla="*/ 1700306 h 1871397"/>
              <a:gd name="connsiteX19" fmla="*/ 1415819 w 2889213"/>
              <a:gd name="connsiteY19" fmla="*/ 1334933 h 1871397"/>
              <a:gd name="connsiteX20" fmla="*/ 665501 w 2889213"/>
              <a:gd name="connsiteY20" fmla="*/ 1276212 h 1871397"/>
              <a:gd name="connsiteX21" fmla="*/ 0 w 2889213"/>
              <a:gd name="connsiteY21" fmla="*/ 1126148 h 1871397"/>
              <a:gd name="connsiteX22" fmla="*/ 13050 w 2889213"/>
              <a:gd name="connsiteY22" fmla="*/ 284488 h 1871397"/>
              <a:gd name="connsiteX23" fmla="*/ 1898646 w 2889213"/>
              <a:gd name="connsiteY23" fmla="*/ 46 h 1871397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941303 w 2889213"/>
              <a:gd name="connsiteY8" fmla="*/ 178433 h 1756245"/>
              <a:gd name="connsiteX9" fmla="*/ 1974640 w 2889213"/>
              <a:gd name="connsiteY9" fmla="*/ 418250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826128 w 2889213"/>
              <a:gd name="connsiteY8" fmla="*/ 230447 h 1756245"/>
              <a:gd name="connsiteX9" fmla="*/ 1974640 w 2889213"/>
              <a:gd name="connsiteY9" fmla="*/ 418250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826128 w 2889213"/>
              <a:gd name="connsiteY8" fmla="*/ 230447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97081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97081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48782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48782 w 2889213"/>
              <a:gd name="connsiteY23" fmla="*/ 68 h 1756245"/>
              <a:gd name="connsiteX0" fmla="*/ 2150164 w 2889213"/>
              <a:gd name="connsiteY0" fmla="*/ 113841 h 1756245"/>
              <a:gd name="connsiteX1" fmla="*/ 2655476 w 2889213"/>
              <a:gd name="connsiteY1" fmla="*/ 469463 h 1756245"/>
              <a:gd name="connsiteX2" fmla="*/ 2828170 w 2889213"/>
              <a:gd name="connsiteY2" fmla="*/ 895349 h 1756245"/>
              <a:gd name="connsiteX3" fmla="*/ 2883834 w 2889213"/>
              <a:gd name="connsiteY3" fmla="*/ 1193683 h 1756245"/>
              <a:gd name="connsiteX4" fmla="*/ 2840612 w 2889213"/>
              <a:gd name="connsiteY4" fmla="*/ 1449203 h 1756245"/>
              <a:gd name="connsiteX5" fmla="*/ 2632493 w 2889213"/>
              <a:gd name="connsiteY5" fmla="*/ 1060130 h 1756245"/>
              <a:gd name="connsiteX6" fmla="*/ 2150164 w 2889213"/>
              <a:gd name="connsiteY6" fmla="*/ 113841 h 1756245"/>
              <a:gd name="connsiteX7" fmla="*/ 1348782 w 2889213"/>
              <a:gd name="connsiteY7" fmla="*/ 68 h 1756245"/>
              <a:gd name="connsiteX8" fmla="*/ 1729530 w 2889213"/>
              <a:gd name="connsiteY8" fmla="*/ 204440 h 1756245"/>
              <a:gd name="connsiteX9" fmla="*/ 1892904 w 2889213"/>
              <a:gd name="connsiteY9" fmla="*/ 459118 h 1756245"/>
              <a:gd name="connsiteX10" fmla="*/ 1973469 w 2889213"/>
              <a:gd name="connsiteY10" fmla="*/ 669367 h 1756245"/>
              <a:gd name="connsiteX11" fmla="*/ 1866010 w 2889213"/>
              <a:gd name="connsiteY11" fmla="*/ 763066 h 1756245"/>
              <a:gd name="connsiteX12" fmla="*/ 2733769 w 2889213"/>
              <a:gd name="connsiteY12" fmla="*/ 1271977 h 1756245"/>
              <a:gd name="connsiteX13" fmla="*/ 2694623 w 2889213"/>
              <a:gd name="connsiteY13" fmla="*/ 1524551 h 1756245"/>
              <a:gd name="connsiteX14" fmla="*/ 2385869 w 2889213"/>
              <a:gd name="connsiteY14" fmla="*/ 1470471 h 1756245"/>
              <a:gd name="connsiteX15" fmla="*/ 2074819 w 2889213"/>
              <a:gd name="connsiteY15" fmla="*/ 1450630 h 1756245"/>
              <a:gd name="connsiteX16" fmla="*/ 1739085 w 2889213"/>
              <a:gd name="connsiteY16" fmla="*/ 1756245 h 1756245"/>
              <a:gd name="connsiteX17" fmla="*/ 1648664 w 2889213"/>
              <a:gd name="connsiteY17" fmla="*/ 1466985 h 1756245"/>
              <a:gd name="connsiteX18" fmla="*/ 1376671 w 2889213"/>
              <a:gd name="connsiteY18" fmla="*/ 1585154 h 1756245"/>
              <a:gd name="connsiteX19" fmla="*/ 1415819 w 2889213"/>
              <a:gd name="connsiteY19" fmla="*/ 1219781 h 1756245"/>
              <a:gd name="connsiteX20" fmla="*/ 665501 w 2889213"/>
              <a:gd name="connsiteY20" fmla="*/ 1161060 h 1756245"/>
              <a:gd name="connsiteX21" fmla="*/ 0 w 2889213"/>
              <a:gd name="connsiteY21" fmla="*/ 1010996 h 1756245"/>
              <a:gd name="connsiteX22" fmla="*/ 13050 w 2889213"/>
              <a:gd name="connsiteY22" fmla="*/ 169336 h 1756245"/>
              <a:gd name="connsiteX23" fmla="*/ 1348782 w 2889213"/>
              <a:gd name="connsiteY23" fmla="*/ 68 h 1756245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29530 w 2889213"/>
              <a:gd name="connsiteY8" fmla="*/ 204372 h 1756177"/>
              <a:gd name="connsiteX9" fmla="*/ 1892904 w 2889213"/>
              <a:gd name="connsiteY9" fmla="*/ 459050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29530 w 2889213"/>
              <a:gd name="connsiteY8" fmla="*/ 204372 h 1756177"/>
              <a:gd name="connsiteX9" fmla="*/ 1848320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29530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756177"/>
              <a:gd name="connsiteX1" fmla="*/ 2655476 w 2889213"/>
              <a:gd name="connsiteY1" fmla="*/ 469395 h 1756177"/>
              <a:gd name="connsiteX2" fmla="*/ 2828170 w 2889213"/>
              <a:gd name="connsiteY2" fmla="*/ 895281 h 1756177"/>
              <a:gd name="connsiteX3" fmla="*/ 2883834 w 2889213"/>
              <a:gd name="connsiteY3" fmla="*/ 1193615 h 1756177"/>
              <a:gd name="connsiteX4" fmla="*/ 2840612 w 2889213"/>
              <a:gd name="connsiteY4" fmla="*/ 1449135 h 1756177"/>
              <a:gd name="connsiteX5" fmla="*/ 2632493 w 2889213"/>
              <a:gd name="connsiteY5" fmla="*/ 1060062 h 1756177"/>
              <a:gd name="connsiteX6" fmla="*/ 2150164 w 2889213"/>
              <a:gd name="connsiteY6" fmla="*/ 113773 h 1756177"/>
              <a:gd name="connsiteX7" fmla="*/ 1348782 w 2889213"/>
              <a:gd name="connsiteY7" fmla="*/ 0 h 1756177"/>
              <a:gd name="connsiteX8" fmla="*/ 1714668 w 2889213"/>
              <a:gd name="connsiteY8" fmla="*/ 204372 h 1756177"/>
              <a:gd name="connsiteX9" fmla="*/ 1866896 w 2889213"/>
              <a:gd name="connsiteY9" fmla="*/ 462766 h 1756177"/>
              <a:gd name="connsiteX10" fmla="*/ 1973469 w 2889213"/>
              <a:gd name="connsiteY10" fmla="*/ 669299 h 1756177"/>
              <a:gd name="connsiteX11" fmla="*/ 1866010 w 2889213"/>
              <a:gd name="connsiteY11" fmla="*/ 762998 h 1756177"/>
              <a:gd name="connsiteX12" fmla="*/ 2733769 w 2889213"/>
              <a:gd name="connsiteY12" fmla="*/ 1271909 h 1756177"/>
              <a:gd name="connsiteX13" fmla="*/ 2694623 w 2889213"/>
              <a:gd name="connsiteY13" fmla="*/ 1524483 h 1756177"/>
              <a:gd name="connsiteX14" fmla="*/ 2385869 w 2889213"/>
              <a:gd name="connsiteY14" fmla="*/ 1470403 h 1756177"/>
              <a:gd name="connsiteX15" fmla="*/ 2074819 w 2889213"/>
              <a:gd name="connsiteY15" fmla="*/ 1450562 h 1756177"/>
              <a:gd name="connsiteX16" fmla="*/ 1739085 w 2889213"/>
              <a:gd name="connsiteY16" fmla="*/ 1756177 h 1756177"/>
              <a:gd name="connsiteX17" fmla="*/ 1648664 w 2889213"/>
              <a:gd name="connsiteY17" fmla="*/ 1466917 h 1756177"/>
              <a:gd name="connsiteX18" fmla="*/ 1376671 w 2889213"/>
              <a:gd name="connsiteY18" fmla="*/ 1585086 h 1756177"/>
              <a:gd name="connsiteX19" fmla="*/ 1415819 w 2889213"/>
              <a:gd name="connsiteY19" fmla="*/ 1219713 h 1756177"/>
              <a:gd name="connsiteX20" fmla="*/ 665501 w 2889213"/>
              <a:gd name="connsiteY20" fmla="*/ 1160992 h 1756177"/>
              <a:gd name="connsiteX21" fmla="*/ 0 w 2889213"/>
              <a:gd name="connsiteY21" fmla="*/ 1010928 h 1756177"/>
              <a:gd name="connsiteX22" fmla="*/ 13050 w 2889213"/>
              <a:gd name="connsiteY22" fmla="*/ 169268 h 1756177"/>
              <a:gd name="connsiteX23" fmla="*/ 1348782 w 2889213"/>
              <a:gd name="connsiteY23" fmla="*/ 0 h 1756177"/>
              <a:gd name="connsiteX0" fmla="*/ 2150164 w 2889213"/>
              <a:gd name="connsiteY0" fmla="*/ 113773 h 1800430"/>
              <a:gd name="connsiteX1" fmla="*/ 2655476 w 2889213"/>
              <a:gd name="connsiteY1" fmla="*/ 469395 h 1800430"/>
              <a:gd name="connsiteX2" fmla="*/ 2828170 w 2889213"/>
              <a:gd name="connsiteY2" fmla="*/ 895281 h 1800430"/>
              <a:gd name="connsiteX3" fmla="*/ 2883834 w 2889213"/>
              <a:gd name="connsiteY3" fmla="*/ 1193615 h 1800430"/>
              <a:gd name="connsiteX4" fmla="*/ 2840612 w 2889213"/>
              <a:gd name="connsiteY4" fmla="*/ 1449135 h 1800430"/>
              <a:gd name="connsiteX5" fmla="*/ 2632493 w 2889213"/>
              <a:gd name="connsiteY5" fmla="*/ 1060062 h 1800430"/>
              <a:gd name="connsiteX6" fmla="*/ 2150164 w 2889213"/>
              <a:gd name="connsiteY6" fmla="*/ 113773 h 1800430"/>
              <a:gd name="connsiteX7" fmla="*/ 1348782 w 2889213"/>
              <a:gd name="connsiteY7" fmla="*/ 0 h 1800430"/>
              <a:gd name="connsiteX8" fmla="*/ 1714668 w 2889213"/>
              <a:gd name="connsiteY8" fmla="*/ 204372 h 1800430"/>
              <a:gd name="connsiteX9" fmla="*/ 1866896 w 2889213"/>
              <a:gd name="connsiteY9" fmla="*/ 462766 h 1800430"/>
              <a:gd name="connsiteX10" fmla="*/ 1973469 w 2889213"/>
              <a:gd name="connsiteY10" fmla="*/ 669299 h 1800430"/>
              <a:gd name="connsiteX11" fmla="*/ 1866010 w 2889213"/>
              <a:gd name="connsiteY11" fmla="*/ 762998 h 1800430"/>
              <a:gd name="connsiteX12" fmla="*/ 2733769 w 2889213"/>
              <a:gd name="connsiteY12" fmla="*/ 1271909 h 1800430"/>
              <a:gd name="connsiteX13" fmla="*/ 2694623 w 2889213"/>
              <a:gd name="connsiteY13" fmla="*/ 1524483 h 1800430"/>
              <a:gd name="connsiteX14" fmla="*/ 2385869 w 2889213"/>
              <a:gd name="connsiteY14" fmla="*/ 1470403 h 1800430"/>
              <a:gd name="connsiteX15" fmla="*/ 2191986 w 2889213"/>
              <a:gd name="connsiteY15" fmla="*/ 1800407 h 1800430"/>
              <a:gd name="connsiteX16" fmla="*/ 2074819 w 2889213"/>
              <a:gd name="connsiteY16" fmla="*/ 1450562 h 1800430"/>
              <a:gd name="connsiteX17" fmla="*/ 1739085 w 2889213"/>
              <a:gd name="connsiteY17" fmla="*/ 1756177 h 1800430"/>
              <a:gd name="connsiteX18" fmla="*/ 1648664 w 2889213"/>
              <a:gd name="connsiteY18" fmla="*/ 1466917 h 1800430"/>
              <a:gd name="connsiteX19" fmla="*/ 1376671 w 2889213"/>
              <a:gd name="connsiteY19" fmla="*/ 1585086 h 1800430"/>
              <a:gd name="connsiteX20" fmla="*/ 1415819 w 2889213"/>
              <a:gd name="connsiteY20" fmla="*/ 1219713 h 1800430"/>
              <a:gd name="connsiteX21" fmla="*/ 665501 w 2889213"/>
              <a:gd name="connsiteY21" fmla="*/ 1160992 h 1800430"/>
              <a:gd name="connsiteX22" fmla="*/ 0 w 2889213"/>
              <a:gd name="connsiteY22" fmla="*/ 1010928 h 1800430"/>
              <a:gd name="connsiteX23" fmla="*/ 13050 w 2889213"/>
              <a:gd name="connsiteY23" fmla="*/ 169268 h 1800430"/>
              <a:gd name="connsiteX24" fmla="*/ 1348782 w 2889213"/>
              <a:gd name="connsiteY24" fmla="*/ 0 h 1800430"/>
              <a:gd name="connsiteX0" fmla="*/ 2150164 w 2889213"/>
              <a:gd name="connsiteY0" fmla="*/ 113773 h 1800430"/>
              <a:gd name="connsiteX1" fmla="*/ 2655476 w 2889213"/>
              <a:gd name="connsiteY1" fmla="*/ 469395 h 1800430"/>
              <a:gd name="connsiteX2" fmla="*/ 2828170 w 2889213"/>
              <a:gd name="connsiteY2" fmla="*/ 895281 h 1800430"/>
              <a:gd name="connsiteX3" fmla="*/ 2883834 w 2889213"/>
              <a:gd name="connsiteY3" fmla="*/ 1193615 h 1800430"/>
              <a:gd name="connsiteX4" fmla="*/ 2840612 w 2889213"/>
              <a:gd name="connsiteY4" fmla="*/ 1449135 h 1800430"/>
              <a:gd name="connsiteX5" fmla="*/ 2632493 w 2889213"/>
              <a:gd name="connsiteY5" fmla="*/ 1060062 h 1800430"/>
              <a:gd name="connsiteX6" fmla="*/ 2150164 w 2889213"/>
              <a:gd name="connsiteY6" fmla="*/ 113773 h 1800430"/>
              <a:gd name="connsiteX7" fmla="*/ 1348782 w 2889213"/>
              <a:gd name="connsiteY7" fmla="*/ 0 h 1800430"/>
              <a:gd name="connsiteX8" fmla="*/ 1714668 w 2889213"/>
              <a:gd name="connsiteY8" fmla="*/ 204372 h 1800430"/>
              <a:gd name="connsiteX9" fmla="*/ 1866896 w 2889213"/>
              <a:gd name="connsiteY9" fmla="*/ 462766 h 1800430"/>
              <a:gd name="connsiteX10" fmla="*/ 1973469 w 2889213"/>
              <a:gd name="connsiteY10" fmla="*/ 669299 h 1800430"/>
              <a:gd name="connsiteX11" fmla="*/ 1866010 w 2889213"/>
              <a:gd name="connsiteY11" fmla="*/ 762998 h 1800430"/>
              <a:gd name="connsiteX12" fmla="*/ 2733769 w 2889213"/>
              <a:gd name="connsiteY12" fmla="*/ 1271909 h 1800430"/>
              <a:gd name="connsiteX13" fmla="*/ 2694623 w 2889213"/>
              <a:gd name="connsiteY13" fmla="*/ 1524483 h 1800430"/>
              <a:gd name="connsiteX14" fmla="*/ 2385869 w 2889213"/>
              <a:gd name="connsiteY14" fmla="*/ 1470403 h 1800430"/>
              <a:gd name="connsiteX15" fmla="*/ 2191986 w 2889213"/>
              <a:gd name="connsiteY15" fmla="*/ 1800407 h 1800430"/>
              <a:gd name="connsiteX16" fmla="*/ 2074819 w 2889213"/>
              <a:gd name="connsiteY16" fmla="*/ 1450562 h 1800430"/>
              <a:gd name="connsiteX17" fmla="*/ 1739085 w 2889213"/>
              <a:gd name="connsiteY17" fmla="*/ 1756177 h 1800430"/>
              <a:gd name="connsiteX18" fmla="*/ 1648664 w 2889213"/>
              <a:gd name="connsiteY18" fmla="*/ 1466917 h 1800430"/>
              <a:gd name="connsiteX19" fmla="*/ 1376671 w 2889213"/>
              <a:gd name="connsiteY19" fmla="*/ 1585086 h 1800430"/>
              <a:gd name="connsiteX20" fmla="*/ 1415819 w 2889213"/>
              <a:gd name="connsiteY20" fmla="*/ 1219713 h 1800430"/>
              <a:gd name="connsiteX21" fmla="*/ 665501 w 2889213"/>
              <a:gd name="connsiteY21" fmla="*/ 1160992 h 1800430"/>
              <a:gd name="connsiteX22" fmla="*/ 0 w 2889213"/>
              <a:gd name="connsiteY22" fmla="*/ 1010928 h 1800430"/>
              <a:gd name="connsiteX23" fmla="*/ 13050 w 2889213"/>
              <a:gd name="connsiteY23" fmla="*/ 169268 h 1800430"/>
              <a:gd name="connsiteX24" fmla="*/ 1348782 w 2889213"/>
              <a:gd name="connsiteY24" fmla="*/ 0 h 1800430"/>
              <a:gd name="connsiteX0" fmla="*/ 2150164 w 2889213"/>
              <a:gd name="connsiteY0" fmla="*/ 113773 h 1800456"/>
              <a:gd name="connsiteX1" fmla="*/ 2655476 w 2889213"/>
              <a:gd name="connsiteY1" fmla="*/ 469395 h 1800456"/>
              <a:gd name="connsiteX2" fmla="*/ 2828170 w 2889213"/>
              <a:gd name="connsiteY2" fmla="*/ 895281 h 1800456"/>
              <a:gd name="connsiteX3" fmla="*/ 2883834 w 2889213"/>
              <a:gd name="connsiteY3" fmla="*/ 1193615 h 1800456"/>
              <a:gd name="connsiteX4" fmla="*/ 2840612 w 2889213"/>
              <a:gd name="connsiteY4" fmla="*/ 1449135 h 1800456"/>
              <a:gd name="connsiteX5" fmla="*/ 2632493 w 2889213"/>
              <a:gd name="connsiteY5" fmla="*/ 1060062 h 1800456"/>
              <a:gd name="connsiteX6" fmla="*/ 2150164 w 2889213"/>
              <a:gd name="connsiteY6" fmla="*/ 113773 h 1800456"/>
              <a:gd name="connsiteX7" fmla="*/ 1348782 w 2889213"/>
              <a:gd name="connsiteY7" fmla="*/ 0 h 1800456"/>
              <a:gd name="connsiteX8" fmla="*/ 1714668 w 2889213"/>
              <a:gd name="connsiteY8" fmla="*/ 204372 h 1800456"/>
              <a:gd name="connsiteX9" fmla="*/ 1866896 w 2889213"/>
              <a:gd name="connsiteY9" fmla="*/ 462766 h 1800456"/>
              <a:gd name="connsiteX10" fmla="*/ 1973469 w 2889213"/>
              <a:gd name="connsiteY10" fmla="*/ 669299 h 1800456"/>
              <a:gd name="connsiteX11" fmla="*/ 1866010 w 2889213"/>
              <a:gd name="connsiteY11" fmla="*/ 762998 h 1800456"/>
              <a:gd name="connsiteX12" fmla="*/ 2733769 w 2889213"/>
              <a:gd name="connsiteY12" fmla="*/ 1271909 h 1800456"/>
              <a:gd name="connsiteX13" fmla="*/ 2694623 w 2889213"/>
              <a:gd name="connsiteY13" fmla="*/ 1524483 h 1800456"/>
              <a:gd name="connsiteX14" fmla="*/ 2385869 w 2889213"/>
              <a:gd name="connsiteY14" fmla="*/ 1470403 h 1800456"/>
              <a:gd name="connsiteX15" fmla="*/ 2191986 w 2889213"/>
              <a:gd name="connsiteY15" fmla="*/ 1800407 h 1800456"/>
              <a:gd name="connsiteX16" fmla="*/ 2074819 w 2889213"/>
              <a:gd name="connsiteY16" fmla="*/ 1450562 h 1800456"/>
              <a:gd name="connsiteX17" fmla="*/ 1739085 w 2889213"/>
              <a:gd name="connsiteY17" fmla="*/ 1756177 h 1800456"/>
              <a:gd name="connsiteX18" fmla="*/ 1648664 w 2889213"/>
              <a:gd name="connsiteY18" fmla="*/ 1466917 h 1800456"/>
              <a:gd name="connsiteX19" fmla="*/ 1376671 w 2889213"/>
              <a:gd name="connsiteY19" fmla="*/ 1585086 h 1800456"/>
              <a:gd name="connsiteX20" fmla="*/ 1415819 w 2889213"/>
              <a:gd name="connsiteY20" fmla="*/ 1219713 h 1800456"/>
              <a:gd name="connsiteX21" fmla="*/ 665501 w 2889213"/>
              <a:gd name="connsiteY21" fmla="*/ 1160992 h 1800456"/>
              <a:gd name="connsiteX22" fmla="*/ 0 w 2889213"/>
              <a:gd name="connsiteY22" fmla="*/ 1010928 h 1800456"/>
              <a:gd name="connsiteX23" fmla="*/ 13050 w 2889213"/>
              <a:gd name="connsiteY23" fmla="*/ 169268 h 1800456"/>
              <a:gd name="connsiteX24" fmla="*/ 1348782 w 2889213"/>
              <a:gd name="connsiteY24" fmla="*/ 0 h 1800456"/>
              <a:gd name="connsiteX0" fmla="*/ 2150164 w 2889213"/>
              <a:gd name="connsiteY0" fmla="*/ 113773 h 1811599"/>
              <a:gd name="connsiteX1" fmla="*/ 2655476 w 2889213"/>
              <a:gd name="connsiteY1" fmla="*/ 469395 h 1811599"/>
              <a:gd name="connsiteX2" fmla="*/ 2828170 w 2889213"/>
              <a:gd name="connsiteY2" fmla="*/ 895281 h 1811599"/>
              <a:gd name="connsiteX3" fmla="*/ 2883834 w 2889213"/>
              <a:gd name="connsiteY3" fmla="*/ 1193615 h 1811599"/>
              <a:gd name="connsiteX4" fmla="*/ 2840612 w 2889213"/>
              <a:gd name="connsiteY4" fmla="*/ 1449135 h 1811599"/>
              <a:gd name="connsiteX5" fmla="*/ 2632493 w 2889213"/>
              <a:gd name="connsiteY5" fmla="*/ 1060062 h 1811599"/>
              <a:gd name="connsiteX6" fmla="*/ 2150164 w 2889213"/>
              <a:gd name="connsiteY6" fmla="*/ 113773 h 1811599"/>
              <a:gd name="connsiteX7" fmla="*/ 1348782 w 2889213"/>
              <a:gd name="connsiteY7" fmla="*/ 0 h 1811599"/>
              <a:gd name="connsiteX8" fmla="*/ 1714668 w 2889213"/>
              <a:gd name="connsiteY8" fmla="*/ 204372 h 1811599"/>
              <a:gd name="connsiteX9" fmla="*/ 1866896 w 2889213"/>
              <a:gd name="connsiteY9" fmla="*/ 462766 h 1811599"/>
              <a:gd name="connsiteX10" fmla="*/ 1973469 w 2889213"/>
              <a:gd name="connsiteY10" fmla="*/ 669299 h 1811599"/>
              <a:gd name="connsiteX11" fmla="*/ 1866010 w 2889213"/>
              <a:gd name="connsiteY11" fmla="*/ 762998 h 1811599"/>
              <a:gd name="connsiteX12" fmla="*/ 2733769 w 2889213"/>
              <a:gd name="connsiteY12" fmla="*/ 1271909 h 1811599"/>
              <a:gd name="connsiteX13" fmla="*/ 2694623 w 2889213"/>
              <a:gd name="connsiteY13" fmla="*/ 1524483 h 1811599"/>
              <a:gd name="connsiteX14" fmla="*/ 2385869 w 2889213"/>
              <a:gd name="connsiteY14" fmla="*/ 1470403 h 1811599"/>
              <a:gd name="connsiteX15" fmla="*/ 2214278 w 2889213"/>
              <a:gd name="connsiteY15" fmla="*/ 1811553 h 1811599"/>
              <a:gd name="connsiteX16" fmla="*/ 2074819 w 2889213"/>
              <a:gd name="connsiteY16" fmla="*/ 1450562 h 1811599"/>
              <a:gd name="connsiteX17" fmla="*/ 1739085 w 2889213"/>
              <a:gd name="connsiteY17" fmla="*/ 1756177 h 1811599"/>
              <a:gd name="connsiteX18" fmla="*/ 1648664 w 2889213"/>
              <a:gd name="connsiteY18" fmla="*/ 1466917 h 1811599"/>
              <a:gd name="connsiteX19" fmla="*/ 1376671 w 2889213"/>
              <a:gd name="connsiteY19" fmla="*/ 1585086 h 1811599"/>
              <a:gd name="connsiteX20" fmla="*/ 1415819 w 2889213"/>
              <a:gd name="connsiteY20" fmla="*/ 1219713 h 1811599"/>
              <a:gd name="connsiteX21" fmla="*/ 665501 w 2889213"/>
              <a:gd name="connsiteY21" fmla="*/ 1160992 h 1811599"/>
              <a:gd name="connsiteX22" fmla="*/ 0 w 2889213"/>
              <a:gd name="connsiteY22" fmla="*/ 1010928 h 1811599"/>
              <a:gd name="connsiteX23" fmla="*/ 13050 w 2889213"/>
              <a:gd name="connsiteY23" fmla="*/ 169268 h 1811599"/>
              <a:gd name="connsiteX24" fmla="*/ 1348782 w 2889213"/>
              <a:gd name="connsiteY24" fmla="*/ 0 h 1811599"/>
              <a:gd name="connsiteX0" fmla="*/ 2150164 w 2889213"/>
              <a:gd name="connsiteY0" fmla="*/ 113773 h 1811553"/>
              <a:gd name="connsiteX1" fmla="*/ 2655476 w 2889213"/>
              <a:gd name="connsiteY1" fmla="*/ 469395 h 1811553"/>
              <a:gd name="connsiteX2" fmla="*/ 2828170 w 2889213"/>
              <a:gd name="connsiteY2" fmla="*/ 895281 h 1811553"/>
              <a:gd name="connsiteX3" fmla="*/ 2883834 w 2889213"/>
              <a:gd name="connsiteY3" fmla="*/ 1193615 h 1811553"/>
              <a:gd name="connsiteX4" fmla="*/ 2840612 w 2889213"/>
              <a:gd name="connsiteY4" fmla="*/ 1449135 h 1811553"/>
              <a:gd name="connsiteX5" fmla="*/ 2632493 w 2889213"/>
              <a:gd name="connsiteY5" fmla="*/ 1060062 h 1811553"/>
              <a:gd name="connsiteX6" fmla="*/ 2150164 w 2889213"/>
              <a:gd name="connsiteY6" fmla="*/ 113773 h 1811553"/>
              <a:gd name="connsiteX7" fmla="*/ 1348782 w 2889213"/>
              <a:gd name="connsiteY7" fmla="*/ 0 h 1811553"/>
              <a:gd name="connsiteX8" fmla="*/ 1714668 w 2889213"/>
              <a:gd name="connsiteY8" fmla="*/ 204372 h 1811553"/>
              <a:gd name="connsiteX9" fmla="*/ 1866896 w 2889213"/>
              <a:gd name="connsiteY9" fmla="*/ 462766 h 1811553"/>
              <a:gd name="connsiteX10" fmla="*/ 1973469 w 2889213"/>
              <a:gd name="connsiteY10" fmla="*/ 669299 h 1811553"/>
              <a:gd name="connsiteX11" fmla="*/ 1866010 w 2889213"/>
              <a:gd name="connsiteY11" fmla="*/ 762998 h 1811553"/>
              <a:gd name="connsiteX12" fmla="*/ 2733769 w 2889213"/>
              <a:gd name="connsiteY12" fmla="*/ 1271909 h 1811553"/>
              <a:gd name="connsiteX13" fmla="*/ 2694623 w 2889213"/>
              <a:gd name="connsiteY13" fmla="*/ 1524483 h 1811553"/>
              <a:gd name="connsiteX14" fmla="*/ 2385869 w 2889213"/>
              <a:gd name="connsiteY14" fmla="*/ 1470403 h 1811553"/>
              <a:gd name="connsiteX15" fmla="*/ 2214278 w 2889213"/>
              <a:gd name="connsiteY15" fmla="*/ 1811553 h 1811553"/>
              <a:gd name="connsiteX16" fmla="*/ 2074819 w 2889213"/>
              <a:gd name="connsiteY16" fmla="*/ 1450562 h 1811553"/>
              <a:gd name="connsiteX17" fmla="*/ 1739085 w 2889213"/>
              <a:gd name="connsiteY17" fmla="*/ 1756177 h 1811553"/>
              <a:gd name="connsiteX18" fmla="*/ 1648664 w 2889213"/>
              <a:gd name="connsiteY18" fmla="*/ 1466917 h 1811553"/>
              <a:gd name="connsiteX19" fmla="*/ 1376671 w 2889213"/>
              <a:gd name="connsiteY19" fmla="*/ 1585086 h 1811553"/>
              <a:gd name="connsiteX20" fmla="*/ 1415819 w 2889213"/>
              <a:gd name="connsiteY20" fmla="*/ 1219713 h 1811553"/>
              <a:gd name="connsiteX21" fmla="*/ 665501 w 2889213"/>
              <a:gd name="connsiteY21" fmla="*/ 1160992 h 1811553"/>
              <a:gd name="connsiteX22" fmla="*/ 0 w 2889213"/>
              <a:gd name="connsiteY22" fmla="*/ 1010928 h 1811553"/>
              <a:gd name="connsiteX23" fmla="*/ 13050 w 2889213"/>
              <a:gd name="connsiteY23" fmla="*/ 169268 h 1811553"/>
              <a:gd name="connsiteX24" fmla="*/ 1348782 w 2889213"/>
              <a:gd name="connsiteY24" fmla="*/ 0 h 1811553"/>
              <a:gd name="connsiteX0" fmla="*/ 2150164 w 2889213"/>
              <a:gd name="connsiteY0" fmla="*/ 113773 h 1811553"/>
              <a:gd name="connsiteX1" fmla="*/ 2655476 w 2889213"/>
              <a:gd name="connsiteY1" fmla="*/ 469395 h 1811553"/>
              <a:gd name="connsiteX2" fmla="*/ 2828170 w 2889213"/>
              <a:gd name="connsiteY2" fmla="*/ 895281 h 1811553"/>
              <a:gd name="connsiteX3" fmla="*/ 2883834 w 2889213"/>
              <a:gd name="connsiteY3" fmla="*/ 1193615 h 1811553"/>
              <a:gd name="connsiteX4" fmla="*/ 2840612 w 2889213"/>
              <a:gd name="connsiteY4" fmla="*/ 1449135 h 1811553"/>
              <a:gd name="connsiteX5" fmla="*/ 2632493 w 2889213"/>
              <a:gd name="connsiteY5" fmla="*/ 1060062 h 1811553"/>
              <a:gd name="connsiteX6" fmla="*/ 2150164 w 2889213"/>
              <a:gd name="connsiteY6" fmla="*/ 113773 h 1811553"/>
              <a:gd name="connsiteX7" fmla="*/ 1348782 w 2889213"/>
              <a:gd name="connsiteY7" fmla="*/ 0 h 1811553"/>
              <a:gd name="connsiteX8" fmla="*/ 1714668 w 2889213"/>
              <a:gd name="connsiteY8" fmla="*/ 204372 h 1811553"/>
              <a:gd name="connsiteX9" fmla="*/ 1866896 w 2889213"/>
              <a:gd name="connsiteY9" fmla="*/ 462766 h 1811553"/>
              <a:gd name="connsiteX10" fmla="*/ 1973469 w 2889213"/>
              <a:gd name="connsiteY10" fmla="*/ 669299 h 1811553"/>
              <a:gd name="connsiteX11" fmla="*/ 1866010 w 2889213"/>
              <a:gd name="connsiteY11" fmla="*/ 762998 h 1811553"/>
              <a:gd name="connsiteX12" fmla="*/ 2733769 w 2889213"/>
              <a:gd name="connsiteY12" fmla="*/ 1271909 h 1811553"/>
              <a:gd name="connsiteX13" fmla="*/ 2694623 w 2889213"/>
              <a:gd name="connsiteY13" fmla="*/ 1524483 h 1811553"/>
              <a:gd name="connsiteX14" fmla="*/ 2385869 w 2889213"/>
              <a:gd name="connsiteY14" fmla="*/ 1470403 h 1811553"/>
              <a:gd name="connsiteX15" fmla="*/ 2214278 w 2889213"/>
              <a:gd name="connsiteY15" fmla="*/ 1811553 h 1811553"/>
              <a:gd name="connsiteX16" fmla="*/ 2074819 w 2889213"/>
              <a:gd name="connsiteY16" fmla="*/ 1450562 h 1811553"/>
              <a:gd name="connsiteX17" fmla="*/ 1739085 w 2889213"/>
              <a:gd name="connsiteY17" fmla="*/ 1756177 h 1811553"/>
              <a:gd name="connsiteX18" fmla="*/ 1648664 w 2889213"/>
              <a:gd name="connsiteY18" fmla="*/ 1466917 h 1811553"/>
              <a:gd name="connsiteX19" fmla="*/ 1376671 w 2889213"/>
              <a:gd name="connsiteY19" fmla="*/ 1585086 h 1811553"/>
              <a:gd name="connsiteX20" fmla="*/ 1415819 w 2889213"/>
              <a:gd name="connsiteY20" fmla="*/ 1219713 h 1811553"/>
              <a:gd name="connsiteX21" fmla="*/ 665501 w 2889213"/>
              <a:gd name="connsiteY21" fmla="*/ 1160992 h 1811553"/>
              <a:gd name="connsiteX22" fmla="*/ 0 w 2889213"/>
              <a:gd name="connsiteY22" fmla="*/ 1010928 h 1811553"/>
              <a:gd name="connsiteX23" fmla="*/ 13050 w 2889213"/>
              <a:gd name="connsiteY23" fmla="*/ 169268 h 1811553"/>
              <a:gd name="connsiteX24" fmla="*/ 1348782 w 2889213"/>
              <a:gd name="connsiteY24" fmla="*/ 0 h 1811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889213" h="1811553">
                <a:moveTo>
                  <a:pt x="2150164" y="113773"/>
                </a:moveTo>
                <a:lnTo>
                  <a:pt x="2655476" y="469395"/>
                </a:lnTo>
                <a:cubicBezTo>
                  <a:pt x="2724937" y="612627"/>
                  <a:pt x="2790110" y="774578"/>
                  <a:pt x="2828170" y="895281"/>
                </a:cubicBezTo>
                <a:cubicBezTo>
                  <a:pt x="2845006" y="1009922"/>
                  <a:pt x="2872906" y="1094971"/>
                  <a:pt x="2883834" y="1193615"/>
                </a:cubicBezTo>
                <a:cubicBezTo>
                  <a:pt x="2898597" y="1276508"/>
                  <a:pt x="2882583" y="1383685"/>
                  <a:pt x="2840612" y="1449135"/>
                </a:cubicBezTo>
                <a:cubicBezTo>
                  <a:pt x="2801112" y="1388173"/>
                  <a:pt x="2764708" y="1276910"/>
                  <a:pt x="2632493" y="1060062"/>
                </a:cubicBezTo>
                <a:cubicBezTo>
                  <a:pt x="2521003" y="837054"/>
                  <a:pt x="2268591" y="370791"/>
                  <a:pt x="2150164" y="113773"/>
                </a:cubicBezTo>
                <a:close/>
                <a:moveTo>
                  <a:pt x="1348782" y="0"/>
                </a:moveTo>
                <a:cubicBezTo>
                  <a:pt x="1445338" y="154432"/>
                  <a:pt x="1639668" y="165874"/>
                  <a:pt x="1714668" y="204372"/>
                </a:cubicBezTo>
                <a:cubicBezTo>
                  <a:pt x="1723722" y="285320"/>
                  <a:pt x="1831199" y="402612"/>
                  <a:pt x="1866896" y="462766"/>
                </a:cubicBezTo>
                <a:cubicBezTo>
                  <a:pt x="1913125" y="544588"/>
                  <a:pt x="1935949" y="596454"/>
                  <a:pt x="1973469" y="669299"/>
                </a:cubicBezTo>
                <a:cubicBezTo>
                  <a:pt x="1909251" y="682689"/>
                  <a:pt x="1863715" y="712895"/>
                  <a:pt x="1866010" y="762998"/>
                </a:cubicBezTo>
                <a:cubicBezTo>
                  <a:pt x="1884495" y="971782"/>
                  <a:pt x="2517373" y="1008755"/>
                  <a:pt x="2733769" y="1271909"/>
                </a:cubicBezTo>
                <a:cubicBezTo>
                  <a:pt x="2839248" y="1365427"/>
                  <a:pt x="2779441" y="1512521"/>
                  <a:pt x="2694623" y="1524483"/>
                </a:cubicBezTo>
                <a:cubicBezTo>
                  <a:pt x="2575007" y="1522308"/>
                  <a:pt x="2538107" y="1485627"/>
                  <a:pt x="2385869" y="1470403"/>
                </a:cubicBezTo>
                <a:cubicBezTo>
                  <a:pt x="2333676" y="1639614"/>
                  <a:pt x="2280982" y="1755416"/>
                  <a:pt x="2214278" y="1811553"/>
                </a:cubicBezTo>
                <a:cubicBezTo>
                  <a:pt x="2147576" y="1804531"/>
                  <a:pt x="2033271" y="1685187"/>
                  <a:pt x="2074819" y="1450562"/>
                </a:cubicBezTo>
                <a:cubicBezTo>
                  <a:pt x="1992109" y="1541380"/>
                  <a:pt x="1856720" y="1716561"/>
                  <a:pt x="1739085" y="1756177"/>
                </a:cubicBezTo>
                <a:cubicBezTo>
                  <a:pt x="1647742" y="1688758"/>
                  <a:pt x="1625791" y="1561162"/>
                  <a:pt x="1648664" y="1466917"/>
                </a:cubicBezTo>
                <a:cubicBezTo>
                  <a:pt x="1575908" y="1517602"/>
                  <a:pt x="1475987" y="1575732"/>
                  <a:pt x="1376671" y="1585086"/>
                </a:cubicBezTo>
                <a:cubicBezTo>
                  <a:pt x="1265755" y="1421973"/>
                  <a:pt x="1344050" y="1304532"/>
                  <a:pt x="1415819" y="1219713"/>
                </a:cubicBezTo>
                <a:cubicBezTo>
                  <a:pt x="1106992" y="1284958"/>
                  <a:pt x="922130" y="1226237"/>
                  <a:pt x="665501" y="1160992"/>
                </a:cubicBezTo>
                <a:cubicBezTo>
                  <a:pt x="467591" y="1128369"/>
                  <a:pt x="282729" y="1004403"/>
                  <a:pt x="0" y="1010928"/>
                </a:cubicBezTo>
                <a:lnTo>
                  <a:pt x="13050" y="169268"/>
                </a:lnTo>
                <a:cubicBezTo>
                  <a:pt x="722590" y="234513"/>
                  <a:pt x="1132701" y="28762"/>
                  <a:pt x="1348782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0"/>
                  <a:lumOff val="50000"/>
                </a:schemeClr>
              </a:gs>
              <a:gs pos="100000">
                <a:schemeClr val="accent2">
                  <a:lumMod val="50000"/>
                  <a:lumOff val="50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1162559" y="891173"/>
            <a:ext cx="41040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題目</a:t>
            </a:r>
            <a:r>
              <a:rPr lang="en-US" altLang="zh-TW" sz="24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:</a:t>
            </a:r>
            <a:r>
              <a:rPr lang="zh-TW" altLang="en-US" sz="2400" b="1" dirty="0" smtClean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用鬧鐘設定鬧鈴，和隔天起床的情境</a:t>
            </a:r>
            <a:endParaRPr lang="zh-TW" altLang="en-US" sz="24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41" name="Picture 2" descr="ç¸éåç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920" y="1784232"/>
            <a:ext cx="4442811" cy="2874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18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0" y="3561194"/>
            <a:ext cx="9144000" cy="576063"/>
          </a:xfrm>
        </p:spPr>
        <p:txBody>
          <a:bodyPr/>
          <a:lstStyle/>
          <a:p>
            <a:r>
              <a:rPr lang="en-US" altLang="ko-KR" sz="3600" dirty="0"/>
              <a:t>Thank you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1469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ver and End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AE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</TotalTime>
  <Words>2746</Words>
  <Application>Microsoft Office PowerPoint</Application>
  <PresentationFormat>如螢幕大小 (16:9)</PresentationFormat>
  <Paragraphs>479</Paragraphs>
  <Slides>54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54</vt:i4>
      </vt:variant>
    </vt:vector>
  </HeadingPairs>
  <TitlesOfParts>
    <vt:vector size="63" baseType="lpstr">
      <vt:lpstr>Arial Unicode MS</vt:lpstr>
      <vt:lpstr>맑은 고딕</vt:lpstr>
      <vt:lpstr>微軟正黑體 Light</vt:lpstr>
      <vt:lpstr>新細明體</vt:lpstr>
      <vt:lpstr>Arial</vt:lpstr>
      <vt:lpstr>Calibri</vt:lpstr>
      <vt:lpstr>Cover and End Slide Master</vt:lpstr>
      <vt:lpstr>Contents Slide Master</vt:lpstr>
      <vt:lpstr>Section Break Slide Master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X450J</cp:lastModifiedBy>
  <cp:revision>134</cp:revision>
  <dcterms:created xsi:type="dcterms:W3CDTF">2016-12-05T23:26:54Z</dcterms:created>
  <dcterms:modified xsi:type="dcterms:W3CDTF">2018-12-12T02:51:38Z</dcterms:modified>
</cp:coreProperties>
</file>