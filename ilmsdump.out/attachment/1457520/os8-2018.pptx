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76"/>
  </p:notesMasterIdLst>
  <p:handoutMasterIdLst>
    <p:handoutMasterId r:id="rId77"/>
  </p:handoutMasterIdLst>
  <p:sldIdLst>
    <p:sldId id="257" r:id="rId2"/>
    <p:sldId id="296" r:id="rId3"/>
    <p:sldId id="297" r:id="rId4"/>
    <p:sldId id="348" r:id="rId5"/>
    <p:sldId id="33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49" r:id="rId14"/>
    <p:sldId id="305" r:id="rId15"/>
    <p:sldId id="306" r:id="rId16"/>
    <p:sldId id="307" r:id="rId17"/>
    <p:sldId id="347" r:id="rId18"/>
    <p:sldId id="308" r:id="rId19"/>
    <p:sldId id="350" r:id="rId20"/>
    <p:sldId id="357" r:id="rId21"/>
    <p:sldId id="351" r:id="rId22"/>
    <p:sldId id="352" r:id="rId23"/>
    <p:sldId id="356" r:id="rId24"/>
    <p:sldId id="265" r:id="rId25"/>
    <p:sldId id="336" r:id="rId26"/>
    <p:sldId id="266" r:id="rId27"/>
    <p:sldId id="267" r:id="rId28"/>
    <p:sldId id="268" r:id="rId29"/>
    <p:sldId id="309" r:id="rId30"/>
    <p:sldId id="270" r:id="rId31"/>
    <p:sldId id="271" r:id="rId32"/>
    <p:sldId id="310" r:id="rId33"/>
    <p:sldId id="311" r:id="rId34"/>
    <p:sldId id="273" r:id="rId35"/>
    <p:sldId id="274" r:id="rId36"/>
    <p:sldId id="314" r:id="rId37"/>
    <p:sldId id="318" r:id="rId38"/>
    <p:sldId id="315" r:id="rId39"/>
    <p:sldId id="337" r:id="rId40"/>
    <p:sldId id="277" r:id="rId41"/>
    <p:sldId id="316" r:id="rId42"/>
    <p:sldId id="317" r:id="rId43"/>
    <p:sldId id="278" r:id="rId44"/>
    <p:sldId id="338" r:id="rId45"/>
    <p:sldId id="339" r:id="rId46"/>
    <p:sldId id="319" r:id="rId47"/>
    <p:sldId id="320" r:id="rId48"/>
    <p:sldId id="279" r:id="rId49"/>
    <p:sldId id="280" r:id="rId50"/>
    <p:sldId id="322" r:id="rId51"/>
    <p:sldId id="323" r:id="rId52"/>
    <p:sldId id="281" r:id="rId53"/>
    <p:sldId id="282" r:id="rId54"/>
    <p:sldId id="324" r:id="rId55"/>
    <p:sldId id="325" r:id="rId56"/>
    <p:sldId id="326" r:id="rId57"/>
    <p:sldId id="327" r:id="rId58"/>
    <p:sldId id="328" r:id="rId59"/>
    <p:sldId id="330" r:id="rId60"/>
    <p:sldId id="331" r:id="rId61"/>
    <p:sldId id="353" r:id="rId62"/>
    <p:sldId id="354" r:id="rId63"/>
    <p:sldId id="340" r:id="rId64"/>
    <p:sldId id="342" r:id="rId65"/>
    <p:sldId id="346" r:id="rId66"/>
    <p:sldId id="343" r:id="rId67"/>
    <p:sldId id="358" r:id="rId68"/>
    <p:sldId id="359" r:id="rId69"/>
    <p:sldId id="360" r:id="rId70"/>
    <p:sldId id="361" r:id="rId71"/>
    <p:sldId id="362" r:id="rId72"/>
    <p:sldId id="345" r:id="rId73"/>
    <p:sldId id="364" r:id="rId74"/>
    <p:sldId id="363" r:id="rId75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70E"/>
    <a:srgbClr val="0000FF"/>
    <a:srgbClr val="FF0000"/>
    <a:srgbClr val="340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69" autoAdjust="0"/>
  </p:normalViewPr>
  <p:slideViewPr>
    <p:cSldViewPr>
      <p:cViewPr varScale="1">
        <p:scale>
          <a:sx n="63" d="100"/>
          <a:sy n="63" d="100"/>
        </p:scale>
        <p:origin x="97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t" anchorCtr="0" compatLnSpc="1">
            <a:prstTxWarp prst="textNoShape">
              <a:avLst/>
            </a:prstTxWarp>
          </a:bodyPr>
          <a:lstStyle>
            <a:lvl1pPr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t" anchorCtr="0" compatLnSpc="1">
            <a:prstTxWarp prst="textNoShape">
              <a:avLst/>
            </a:prstTxWarp>
          </a:bodyPr>
          <a:lstStyle>
            <a:lvl1pPr algn="r"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b" anchorCtr="0" compatLnSpc="1">
            <a:prstTxWarp prst="textNoShape">
              <a:avLst/>
            </a:prstTxWarp>
          </a:bodyPr>
          <a:lstStyle>
            <a:lvl1pPr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b" anchorCtr="0" compatLnSpc="1">
            <a:prstTxWarp prst="textNoShape">
              <a:avLst/>
            </a:prstTxWarp>
          </a:bodyPr>
          <a:lstStyle>
            <a:lvl1pPr algn="r" defTabSz="912318">
              <a:defRPr sz="1200">
                <a:latin typeface="Times New Roman" panose="02020603050405020304" pitchFamily="18" charset="0"/>
              </a:defRPr>
            </a:lvl1pPr>
          </a:lstStyle>
          <a:p>
            <a:fld id="{46187D84-29F4-466A-A637-51476CCFF99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338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t" anchorCtr="0" compatLnSpc="1">
            <a:prstTxWarp prst="textNoShape">
              <a:avLst/>
            </a:prstTxWarp>
          </a:bodyPr>
          <a:lstStyle>
            <a:lvl1pPr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1" y="0"/>
            <a:ext cx="2950529" cy="49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t" anchorCtr="0" compatLnSpc="1">
            <a:prstTxWarp prst="textNoShape">
              <a:avLst/>
            </a:prstTxWarp>
          </a:bodyPr>
          <a:lstStyle>
            <a:lvl1pPr algn="r"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8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733" y="4721743"/>
            <a:ext cx="4991735" cy="447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b" anchorCtr="0" compatLnSpc="1">
            <a:prstTxWarp prst="textNoShape">
              <a:avLst/>
            </a:prstTxWarp>
          </a:bodyPr>
          <a:lstStyle>
            <a:lvl1pPr defTabSz="913725">
              <a:defRPr sz="12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1" y="9441895"/>
            <a:ext cx="2950529" cy="497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67" tIns="45684" rIns="91367" bIns="45684" numCol="1" anchor="b" anchorCtr="0" compatLnSpc="1">
            <a:prstTxWarp prst="textNoShape">
              <a:avLst/>
            </a:prstTxWarp>
          </a:bodyPr>
          <a:lstStyle>
            <a:lvl1pPr algn="r" defTabSz="912318">
              <a:defRPr sz="1200">
                <a:latin typeface="Times New Roman" panose="02020603050405020304" pitchFamily="18" charset="0"/>
              </a:defRPr>
            </a:lvl1pPr>
          </a:lstStyle>
          <a:p>
            <a:fld id="{87EA5114-2125-41BD-99BE-CE68703FD1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47400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7AB1992-4EFE-49D3-BB2F-95DEDAC419FD}" type="slidenum">
              <a:rPr lang="en-US" altLang="zh-TW"/>
              <a:pPr eaLnBrk="1" hangingPunct="1"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92749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AF5328E-E29F-4B5B-BBAC-FFC9CBC5A268}" type="slidenum">
              <a:rPr lang="en-US" altLang="zh-TW"/>
              <a:pPr eaLnBrk="1" hangingPunct="1"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54710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32CC8A7-7959-417C-8A79-C71B8E3166CF}" type="slidenum">
              <a:rPr lang="en-US" altLang="zh-TW"/>
              <a:pPr eaLnBrk="1" hangingPunct="1">
                <a:spcBef>
                  <a:spcPct val="0"/>
                </a:spcBef>
              </a:pPr>
              <a:t>3</a:t>
            </a:fld>
            <a:endParaRPr lang="en-US" altLang="zh-TW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737076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6B5DB29-D2D0-4ECD-98B8-3E5D86E42A3C}" type="slidenum">
              <a:rPr lang="en-US" altLang="zh-TW"/>
              <a:pPr eaLnBrk="1" hangingPunct="1"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00935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1D07260-A52B-4DBF-B5BF-DDC7E8D90CCC}" type="slidenum">
              <a:rPr lang="en-US" altLang="zh-TW"/>
              <a:pPr eaLnBrk="1" hangingPunct="1">
                <a:spcBef>
                  <a:spcPct val="0"/>
                </a:spcBef>
              </a:pPr>
              <a:t>5</a:t>
            </a:fld>
            <a:endParaRPr lang="en-US" altLang="zh-TW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975162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0607862-5170-4B27-A65A-69D2F7053AD0}" type="slidenum">
              <a:rPr lang="en-US" altLang="zh-TW"/>
              <a:pPr eaLnBrk="1" hangingPunct="1">
                <a:spcBef>
                  <a:spcPct val="0"/>
                </a:spcBef>
              </a:pPr>
              <a:t>6</a:t>
            </a:fld>
            <a:endParaRPr lang="en-US" altLang="zh-TW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99074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9E06132-F0D0-4533-BAF6-145F7D6A8CDA}" type="slidenum">
              <a:rPr lang="en-US" altLang="zh-TW"/>
              <a:pPr eaLnBrk="1" hangingPunct="1">
                <a:spcBef>
                  <a:spcPct val="0"/>
                </a:spcBef>
              </a:pPr>
              <a:t>7</a:t>
            </a:fld>
            <a:endParaRPr lang="en-US" altLang="zh-TW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65515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75941EA-379C-4E66-8B56-FB0F1282DBCC}" type="slidenum">
              <a:rPr lang="en-US" altLang="zh-TW"/>
              <a:pPr eaLnBrk="1" hangingPunct="1">
                <a:spcBef>
                  <a:spcPct val="0"/>
                </a:spcBef>
              </a:pPr>
              <a:t>8</a:t>
            </a:fld>
            <a:endParaRPr lang="en-US" altLang="zh-TW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21712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C079EC4-A252-40A3-8037-9F6F21F3A150}" type="slidenum">
              <a:rPr lang="en-US" altLang="zh-TW"/>
              <a:pPr eaLnBrk="1" hangingPunct="1"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495345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4240B5A-5CDC-4154-9927-9B06DABAFB22}" type="slidenum">
              <a:rPr lang="en-US" altLang="zh-TW"/>
              <a:pPr eaLnBrk="1" hangingPunct="1"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68463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BB5DCBA-9544-4BFC-860C-BF9FF8F6D828}" type="slidenum">
              <a:rPr lang="en-US" altLang="zh-TW"/>
              <a:pPr eaLnBrk="1" hangingPunct="1">
                <a:spcBef>
                  <a:spcPct val="0"/>
                </a:spcBef>
              </a:pPr>
              <a:t>11</a:t>
            </a:fld>
            <a:endParaRPr lang="en-US" altLang="zh-TW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967078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E72BC50-A287-4616-92EC-70B8A5781E49}" type="slidenum">
              <a:rPr lang="en-US" altLang="zh-TW"/>
              <a:pPr eaLnBrk="1" hangingPunct="1">
                <a:spcBef>
                  <a:spcPct val="0"/>
                </a:spcBef>
              </a:pPr>
              <a:t>12</a:t>
            </a:fld>
            <a:endParaRPr lang="en-US" altLang="zh-TW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467858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51DEC7B-ED58-411A-B8DB-B93A9E1BCA47}" type="slidenum">
              <a:rPr lang="en-US" altLang="zh-TW"/>
              <a:pPr eaLnBrk="1" hangingPunct="1"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72519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DC1D8E8-C1BA-430E-9538-97D6C8075C8E}" type="slidenum">
              <a:rPr lang="en-US" altLang="zh-TW"/>
              <a:pPr eaLnBrk="1" hangingPunct="1">
                <a:spcBef>
                  <a:spcPct val="0"/>
                </a:spcBef>
              </a:pPr>
              <a:t>14</a:t>
            </a:fld>
            <a:endParaRPr lang="en-US" altLang="zh-TW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47750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D69B189-1619-4ABC-8677-3888B305F106}" type="slidenum">
              <a:rPr lang="en-US" altLang="zh-TW"/>
              <a:pPr eaLnBrk="1" hangingPunct="1">
                <a:spcBef>
                  <a:spcPct val="0"/>
                </a:spcBef>
              </a:pPr>
              <a:t>15</a:t>
            </a:fld>
            <a:endParaRPr lang="en-US" altLang="zh-TW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291340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D396654-BC58-456E-A2A2-9D266D8388EB}" type="slidenum">
              <a:rPr lang="en-US" altLang="zh-TW"/>
              <a:pPr eaLnBrk="1" hangingPunct="1">
                <a:spcBef>
                  <a:spcPct val="0"/>
                </a:spcBef>
              </a:pPr>
              <a:t>16</a:t>
            </a:fld>
            <a:endParaRPr lang="en-US" altLang="zh-TW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4561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5D98048-8EBF-4F70-BA01-749F7525F7D3}" type="slidenum">
              <a:rPr lang="en-US" altLang="zh-TW"/>
              <a:pPr eaLnBrk="1" hangingPunct="1">
                <a:spcBef>
                  <a:spcPct val="0"/>
                </a:spcBef>
              </a:pPr>
              <a:t>17</a:t>
            </a:fld>
            <a:endParaRPr lang="en-US" altLang="zh-TW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81492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2EC25C4-382F-4F10-B46C-4DEB5F9343F6}" type="slidenum">
              <a:rPr lang="en-US" altLang="zh-TW"/>
              <a:pPr eaLnBrk="1" hangingPunct="1">
                <a:spcBef>
                  <a:spcPct val="0"/>
                </a:spcBef>
              </a:pPr>
              <a:t>18</a:t>
            </a:fld>
            <a:endParaRPr lang="en-US" altLang="zh-TW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4251885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49A0B8C-96FD-487F-8233-4C960F655CFE}" type="slidenum">
              <a:rPr lang="en-US" altLang="zh-TW"/>
              <a:pPr eaLnBrk="1" hangingPunct="1">
                <a:spcBef>
                  <a:spcPct val="0"/>
                </a:spcBef>
              </a:pPr>
              <a:t>24</a:t>
            </a:fld>
            <a:endParaRPr lang="en-US" altLang="zh-TW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223264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66EF2B6-AF3A-47BF-9841-55222CE23F92}" type="slidenum">
              <a:rPr lang="en-US" altLang="zh-TW"/>
              <a:pPr eaLnBrk="1" hangingPunct="1">
                <a:spcBef>
                  <a:spcPct val="0"/>
                </a:spcBef>
              </a:pPr>
              <a:t>25</a:t>
            </a:fld>
            <a:endParaRPr lang="en-US" altLang="zh-TW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525213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7314E9A-9E6D-46C7-A2EB-E71F476060CF}" type="slidenum">
              <a:rPr lang="en-US" altLang="zh-TW"/>
              <a:pPr eaLnBrk="1" hangingPunct="1">
                <a:spcBef>
                  <a:spcPct val="0"/>
                </a:spcBef>
              </a:pPr>
              <a:t>26</a:t>
            </a:fld>
            <a:endParaRPr lang="en-US" altLang="zh-TW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27102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DCBE493-75BF-4E3E-86B1-E228AA6CFA87}" type="slidenum">
              <a:rPr lang="en-US" altLang="zh-TW"/>
              <a:pPr eaLnBrk="1" hangingPunct="1">
                <a:spcBef>
                  <a:spcPct val="0"/>
                </a:spcBef>
              </a:pPr>
              <a:t>27</a:t>
            </a:fld>
            <a:endParaRPr lang="en-US" altLang="zh-TW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04219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04F53C7-6334-425F-9C04-5F459B5A364E}" type="slidenum">
              <a:rPr lang="en-US" altLang="zh-TW"/>
              <a:pPr eaLnBrk="1" hangingPunct="1">
                <a:spcBef>
                  <a:spcPct val="0"/>
                </a:spcBef>
              </a:pPr>
              <a:t>28</a:t>
            </a:fld>
            <a:endParaRPr lang="en-US" altLang="zh-TW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27607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388D51E-7520-4381-9BBA-FFB44CE1909B}" type="slidenum">
              <a:rPr lang="en-US" altLang="zh-TW"/>
              <a:pPr eaLnBrk="1" hangingPunct="1">
                <a:spcBef>
                  <a:spcPct val="0"/>
                </a:spcBef>
              </a:pPr>
              <a:t>29</a:t>
            </a:fld>
            <a:endParaRPr lang="en-US" altLang="zh-TW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10963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8499E64-18E2-4AB0-854C-734E110D2601}" type="slidenum">
              <a:rPr lang="en-US" altLang="zh-TW"/>
              <a:pPr eaLnBrk="1" hangingPunct="1">
                <a:spcBef>
                  <a:spcPct val="0"/>
                </a:spcBef>
              </a:pPr>
              <a:t>30</a:t>
            </a:fld>
            <a:endParaRPr lang="en-US" altLang="zh-TW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12641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6609DB3-9FDE-40D3-B04D-BEBFC22BC2DE}" type="slidenum">
              <a:rPr lang="en-US" altLang="zh-TW"/>
              <a:pPr eaLnBrk="1" hangingPunct="1">
                <a:spcBef>
                  <a:spcPct val="0"/>
                </a:spcBef>
              </a:pPr>
              <a:t>31</a:t>
            </a:fld>
            <a:endParaRPr lang="en-US" altLang="zh-TW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29529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BC842B8-00F3-4D73-9D48-FDDC0AA0FDAA}" type="slidenum">
              <a:rPr lang="en-US" altLang="zh-TW"/>
              <a:pPr eaLnBrk="1" hangingPunct="1">
                <a:spcBef>
                  <a:spcPct val="0"/>
                </a:spcBef>
              </a:pPr>
              <a:t>32</a:t>
            </a:fld>
            <a:endParaRPr lang="en-US" altLang="zh-TW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418657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E05EE8D-05A7-477A-9401-480570E6DD0E}" type="slidenum">
              <a:rPr lang="en-US" altLang="zh-TW"/>
              <a:pPr eaLnBrk="1" hangingPunct="1">
                <a:spcBef>
                  <a:spcPct val="0"/>
                </a:spcBef>
              </a:pPr>
              <a:t>33</a:t>
            </a:fld>
            <a:endParaRPr lang="en-US" altLang="zh-TW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427434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0485780-DD31-458F-909E-832C83456EB5}" type="slidenum">
              <a:rPr lang="en-US" altLang="zh-TW"/>
              <a:pPr eaLnBrk="1" hangingPunct="1">
                <a:spcBef>
                  <a:spcPct val="0"/>
                </a:spcBef>
              </a:pPr>
              <a:t>34</a:t>
            </a:fld>
            <a:endParaRPr lang="en-US" altLang="zh-TW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11430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4DF759B-6545-44AD-97D3-8B9FDED12A3A}" type="slidenum">
              <a:rPr lang="en-US" altLang="zh-TW"/>
              <a:pPr eaLnBrk="1" hangingPunct="1">
                <a:spcBef>
                  <a:spcPct val="0"/>
                </a:spcBef>
              </a:pPr>
              <a:t>35</a:t>
            </a:fld>
            <a:endParaRPr lang="en-US" altLang="zh-TW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01995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023C80C-28D6-4218-A3E3-7120EC614F29}" type="slidenum">
              <a:rPr lang="en-US" altLang="zh-TW"/>
              <a:pPr eaLnBrk="1" hangingPunct="1">
                <a:spcBef>
                  <a:spcPct val="0"/>
                </a:spcBef>
              </a:pPr>
              <a:t>36</a:t>
            </a:fld>
            <a:endParaRPr lang="en-US" altLang="zh-TW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499276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0EF101C-357D-4360-BAD1-6A8E2E6F458D}" type="slidenum">
              <a:rPr lang="en-US" altLang="zh-TW"/>
              <a:pPr eaLnBrk="1" hangingPunct="1">
                <a:spcBef>
                  <a:spcPct val="0"/>
                </a:spcBef>
              </a:pPr>
              <a:t>37</a:t>
            </a:fld>
            <a:endParaRPr lang="en-US" altLang="zh-TW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651019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DC67B0C-A9C7-465C-B1F9-BCDF47F5A189}" type="slidenum">
              <a:rPr lang="en-US" altLang="zh-TW"/>
              <a:pPr eaLnBrk="1" hangingPunct="1">
                <a:spcBef>
                  <a:spcPct val="0"/>
                </a:spcBef>
              </a:pPr>
              <a:t>38</a:t>
            </a:fld>
            <a:endParaRPr lang="en-US" altLang="zh-TW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575239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E66D973-12EB-420B-A2CF-A5D08C31BCA5}" type="slidenum">
              <a:rPr lang="en-US" altLang="zh-TW"/>
              <a:pPr eaLnBrk="1" hangingPunct="1">
                <a:spcBef>
                  <a:spcPct val="0"/>
                </a:spcBef>
              </a:pPr>
              <a:t>39</a:t>
            </a:fld>
            <a:endParaRPr lang="en-US" altLang="zh-TW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124574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84A18F1-0017-4D5D-AD7D-37091CA4A495}" type="slidenum">
              <a:rPr lang="en-US" altLang="zh-TW"/>
              <a:pPr eaLnBrk="1" hangingPunct="1">
                <a:spcBef>
                  <a:spcPct val="0"/>
                </a:spcBef>
              </a:pPr>
              <a:t>40</a:t>
            </a:fld>
            <a:endParaRPr lang="en-US" altLang="zh-TW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833167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C84A8B88-2C78-44B2-AE52-22728C8E5E85}" type="slidenum">
              <a:rPr lang="en-US" altLang="zh-TW"/>
              <a:pPr eaLnBrk="1" hangingPunct="1">
                <a:spcBef>
                  <a:spcPct val="0"/>
                </a:spcBef>
              </a:pPr>
              <a:t>41</a:t>
            </a:fld>
            <a:endParaRPr lang="en-US" altLang="zh-TW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935352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564F840-62E5-4180-9866-D7DEC7BE7C7E}" type="slidenum">
              <a:rPr lang="en-US" altLang="zh-TW"/>
              <a:pPr eaLnBrk="1" hangingPunct="1">
                <a:spcBef>
                  <a:spcPct val="0"/>
                </a:spcBef>
              </a:pPr>
              <a:t>42</a:t>
            </a:fld>
            <a:endParaRPr lang="en-US" altLang="zh-TW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9586571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765647A-0045-42E2-ACD5-904899EE7FAD}" type="slidenum">
              <a:rPr lang="en-US" altLang="zh-TW"/>
              <a:pPr eaLnBrk="1" hangingPunct="1">
                <a:spcBef>
                  <a:spcPct val="0"/>
                </a:spcBef>
              </a:pPr>
              <a:t>43</a:t>
            </a:fld>
            <a:endParaRPr lang="en-US" altLang="zh-TW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22781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6F12964-E3C2-4AA7-B83A-0E9DFD54D7E0}" type="slidenum">
              <a:rPr lang="en-US" altLang="zh-TW"/>
              <a:pPr eaLnBrk="1" hangingPunct="1">
                <a:spcBef>
                  <a:spcPct val="0"/>
                </a:spcBef>
              </a:pPr>
              <a:t>44</a:t>
            </a:fld>
            <a:endParaRPr lang="en-US" altLang="zh-TW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8588016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365A36E6-2233-41CA-8475-24CADD8ACA0E}" type="slidenum">
              <a:rPr lang="en-US" altLang="zh-TW"/>
              <a:pPr eaLnBrk="1" hangingPunct="1">
                <a:spcBef>
                  <a:spcPct val="0"/>
                </a:spcBef>
              </a:pPr>
              <a:t>45</a:t>
            </a:fld>
            <a:endParaRPr lang="en-US" altLang="zh-TW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0058021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F969D61-5EAD-441C-AD69-B7BC9FA88E9D}" type="slidenum">
              <a:rPr lang="en-US" altLang="zh-TW"/>
              <a:pPr eaLnBrk="1" hangingPunct="1">
                <a:spcBef>
                  <a:spcPct val="0"/>
                </a:spcBef>
              </a:pPr>
              <a:t>46</a:t>
            </a:fld>
            <a:endParaRPr lang="en-US" altLang="zh-TW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296883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CA0F22A-B451-46D7-A6E3-B1C80FDFB88E}" type="slidenum">
              <a:rPr lang="en-US" altLang="zh-TW"/>
              <a:pPr eaLnBrk="1" hangingPunct="1">
                <a:spcBef>
                  <a:spcPct val="0"/>
                </a:spcBef>
              </a:pPr>
              <a:t>47</a:t>
            </a:fld>
            <a:endParaRPr lang="en-US" altLang="zh-TW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0386307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03F7BB0-B441-4C3C-A482-74ED347BCA1B}" type="slidenum">
              <a:rPr lang="en-US" altLang="zh-TW"/>
              <a:pPr eaLnBrk="1" hangingPunct="1">
                <a:spcBef>
                  <a:spcPct val="0"/>
                </a:spcBef>
              </a:pPr>
              <a:t>48</a:t>
            </a:fld>
            <a:endParaRPr lang="en-US" altLang="zh-TW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2217856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447C6FE-A99B-4F74-B025-078C88EE4ED8}" type="slidenum">
              <a:rPr lang="en-US" altLang="zh-TW"/>
              <a:pPr eaLnBrk="1" hangingPunct="1">
                <a:spcBef>
                  <a:spcPct val="0"/>
                </a:spcBef>
              </a:pPr>
              <a:t>49</a:t>
            </a:fld>
            <a:endParaRPr lang="en-US" altLang="zh-TW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722988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5AD2B35-045F-44F7-9278-92A7C53B7040}" type="slidenum">
              <a:rPr lang="en-US" altLang="zh-TW"/>
              <a:pPr eaLnBrk="1" hangingPunct="1">
                <a:spcBef>
                  <a:spcPct val="0"/>
                </a:spcBef>
              </a:pPr>
              <a:t>50</a:t>
            </a:fld>
            <a:endParaRPr lang="en-US" altLang="zh-TW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627631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93AAFC6D-972C-4465-9B49-CC1CE3319AA1}" type="slidenum">
              <a:rPr lang="en-US" altLang="zh-TW"/>
              <a:pPr eaLnBrk="1" hangingPunct="1">
                <a:spcBef>
                  <a:spcPct val="0"/>
                </a:spcBef>
              </a:pPr>
              <a:t>51</a:t>
            </a:fld>
            <a:endParaRPr lang="en-US" altLang="zh-TW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176025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61F2947-6595-4390-93CE-9687F4BF373D}" type="slidenum">
              <a:rPr lang="en-US" altLang="zh-TW"/>
              <a:pPr eaLnBrk="1" hangingPunct="1">
                <a:spcBef>
                  <a:spcPct val="0"/>
                </a:spcBef>
              </a:pPr>
              <a:t>52</a:t>
            </a:fld>
            <a:endParaRPr lang="en-US" altLang="zh-TW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674119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77CA8A8-8AC5-4668-979B-D939E71CF1CC}" type="slidenum">
              <a:rPr lang="en-US" altLang="zh-TW"/>
              <a:pPr eaLnBrk="1" hangingPunct="1">
                <a:spcBef>
                  <a:spcPct val="0"/>
                </a:spcBef>
              </a:pPr>
              <a:t>53</a:t>
            </a:fld>
            <a:endParaRPr lang="en-US" altLang="zh-TW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147149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2AC650D-D738-4F0E-A100-FDA716A9C7A2}" type="slidenum">
              <a:rPr lang="en-US" altLang="zh-TW"/>
              <a:pPr eaLnBrk="1" hangingPunct="1">
                <a:spcBef>
                  <a:spcPct val="0"/>
                </a:spcBef>
              </a:pPr>
              <a:t>54</a:t>
            </a:fld>
            <a:endParaRPr lang="en-US" altLang="zh-TW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111929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C0A95D3-CC8D-4551-99D4-58D281C9E9B8}" type="slidenum">
              <a:rPr lang="en-US" altLang="zh-TW"/>
              <a:pPr eaLnBrk="1" hangingPunct="1">
                <a:spcBef>
                  <a:spcPct val="0"/>
                </a:spcBef>
              </a:pPr>
              <a:t>55</a:t>
            </a:fld>
            <a:endParaRPr lang="en-US" altLang="zh-TW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678480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6514826-1925-458C-A193-9F1333FFFCD6}" type="slidenum">
              <a:rPr lang="en-US" altLang="zh-TW"/>
              <a:pPr eaLnBrk="1" hangingPunct="1">
                <a:spcBef>
                  <a:spcPct val="0"/>
                </a:spcBef>
              </a:pPr>
              <a:t>56</a:t>
            </a:fld>
            <a:endParaRPr lang="en-US" altLang="zh-TW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730312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75CFEA5-78A6-47E7-B9C2-43AC9B70C4A8}" type="slidenum">
              <a:rPr lang="en-US" altLang="zh-TW"/>
              <a:pPr eaLnBrk="1" hangingPunct="1">
                <a:spcBef>
                  <a:spcPct val="0"/>
                </a:spcBef>
              </a:pPr>
              <a:t>57</a:t>
            </a:fld>
            <a:endParaRPr lang="en-US" altLang="zh-TW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632598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7D1693B-BB73-4539-81D3-FCB01D0D507E}" type="slidenum">
              <a:rPr lang="en-US" altLang="zh-TW"/>
              <a:pPr eaLnBrk="1" hangingPunct="1">
                <a:spcBef>
                  <a:spcPct val="0"/>
                </a:spcBef>
              </a:pPr>
              <a:t>58</a:t>
            </a:fld>
            <a:endParaRPr lang="en-US" altLang="zh-TW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80132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74930D55-651F-41F9-9020-2BCDECF04DA2}" type="slidenum">
              <a:rPr lang="en-US" altLang="zh-TW"/>
              <a:pPr eaLnBrk="1" hangingPunct="1">
                <a:spcBef>
                  <a:spcPct val="0"/>
                </a:spcBef>
              </a:pPr>
              <a:t>59</a:t>
            </a:fld>
            <a:endParaRPr lang="en-US" altLang="zh-TW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8410929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945D937-EA71-4E43-9230-43BE2EFF6F03}" type="slidenum">
              <a:rPr lang="en-US" altLang="zh-TW"/>
              <a:pPr eaLnBrk="1" hangingPunct="1">
                <a:spcBef>
                  <a:spcPct val="0"/>
                </a:spcBef>
              </a:pPr>
              <a:t>60</a:t>
            </a:fld>
            <a:endParaRPr lang="en-US" altLang="zh-TW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8647478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8E2D1C9-5C2E-4EB2-A5C6-C67E0EF19900}" type="slidenum">
              <a:rPr lang="en-US" altLang="en-US">
                <a:latin typeface="Helvetica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61</a:t>
            </a:fld>
            <a:endParaRPr lang="en-US" altLang="en-US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005101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ADCE3232-EFE9-415A-99C2-A1B39E1011E1}" type="slidenum">
              <a:rPr lang="en-US" altLang="en-US">
                <a:latin typeface="Helvetica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62</a:t>
            </a:fld>
            <a:endParaRPr lang="en-US" altLang="en-US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582765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0927F55-759D-4F63-BAF6-7C12490CC98C}" type="slidenum">
              <a:rPr lang="en-US" altLang="zh-TW"/>
              <a:pPr eaLnBrk="1" hangingPunct="1">
                <a:spcBef>
                  <a:spcPct val="0"/>
                </a:spcBef>
              </a:pPr>
              <a:t>63</a:t>
            </a:fld>
            <a:endParaRPr lang="en-US" altLang="zh-TW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6961352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520BFF9-BF24-447E-A5EC-B840FC56E9A6}" type="slidenum">
              <a:rPr lang="en-US" altLang="zh-TW"/>
              <a:pPr eaLnBrk="1" hangingPunct="1">
                <a:spcBef>
                  <a:spcPct val="0"/>
                </a:spcBef>
              </a:pPr>
              <a:t>64</a:t>
            </a:fld>
            <a:endParaRPr lang="en-US" altLang="zh-TW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443770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863DE93-2CD5-4637-832D-7E3E37010A66}" type="slidenum">
              <a:rPr lang="en-US" altLang="zh-TW"/>
              <a:pPr eaLnBrk="1" hangingPunct="1">
                <a:spcBef>
                  <a:spcPct val="0"/>
                </a:spcBef>
              </a:pPr>
              <a:t>65</a:t>
            </a:fld>
            <a:endParaRPr lang="en-US" altLang="zh-TW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2545659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542D963-659D-420B-943B-C64ABF48C573}" type="slidenum">
              <a:rPr lang="en-US" altLang="zh-TW"/>
              <a:pPr eaLnBrk="1" hangingPunct="1">
                <a:spcBef>
                  <a:spcPct val="0"/>
                </a:spcBef>
              </a:pPr>
              <a:t>66</a:t>
            </a:fld>
            <a:endParaRPr lang="en-US" altLang="zh-TW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9253578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BD7B5334-FC7B-4ECF-A124-5D1AEA392923}" type="slidenum">
              <a:rPr lang="en-US" altLang="zh-TW"/>
              <a:pPr eaLnBrk="1" hangingPunct="1">
                <a:spcBef>
                  <a:spcPct val="0"/>
                </a:spcBef>
              </a:pPr>
              <a:t>67</a:t>
            </a:fld>
            <a:endParaRPr lang="en-US" altLang="zh-TW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8142067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109E5E6-FAF2-4ED0-9A12-84E40E7D0F4E}" type="slidenum">
              <a:rPr lang="en-US" altLang="zh-TW"/>
              <a:pPr eaLnBrk="1" hangingPunct="1">
                <a:spcBef>
                  <a:spcPct val="0"/>
                </a:spcBef>
              </a:pPr>
              <a:t>68</a:t>
            </a:fld>
            <a:endParaRPr lang="en-US" altLang="zh-TW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3501966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9DDAB21-D4FB-48C5-9084-7FFACA58591B}" type="slidenum">
              <a:rPr lang="en-US" altLang="zh-TW"/>
              <a:pPr eaLnBrk="1" hangingPunct="1">
                <a:spcBef>
                  <a:spcPct val="0"/>
                </a:spcBef>
              </a:pPr>
              <a:t>69</a:t>
            </a:fld>
            <a:endParaRPr lang="en-US" altLang="zh-TW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70000386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4317B226-BE1F-41F4-986F-C5E05E3663EB}" type="slidenum">
              <a:rPr lang="en-US" altLang="zh-TW"/>
              <a:pPr eaLnBrk="1" hangingPunct="1">
                <a:spcBef>
                  <a:spcPct val="0"/>
                </a:spcBef>
              </a:pPr>
              <a:t>70</a:t>
            </a:fld>
            <a:endParaRPr lang="en-US" altLang="zh-TW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04233568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E590A381-6F8B-4111-B5BE-94573442FFA5}" type="slidenum">
              <a:rPr lang="en-US" altLang="en-US">
                <a:latin typeface="Helvetica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71</a:t>
            </a:fld>
            <a:endParaRPr lang="en-US" altLang="en-US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557213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596E89C5-5963-4C29-9E41-4AC6B0E6F367}" type="slidenum">
              <a:rPr lang="en-US" altLang="zh-TW"/>
              <a:pPr eaLnBrk="1" hangingPunct="1">
                <a:spcBef>
                  <a:spcPct val="0"/>
                </a:spcBef>
              </a:pPr>
              <a:t>72</a:t>
            </a:fld>
            <a:endParaRPr lang="en-US" altLang="zh-TW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869267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CB5DF09-BF75-4A54-8359-DEA9D541C49C}" type="slidenum">
              <a:rPr lang="en-US" altLang="zh-TW"/>
              <a:pPr eaLnBrk="1" hangingPunct="1">
                <a:spcBef>
                  <a:spcPct val="0"/>
                </a:spcBef>
              </a:pPr>
              <a:t>73</a:t>
            </a:fld>
            <a:endParaRPr lang="en-US" altLang="zh-TW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2830151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1231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1231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6E3C479-5008-44DE-9A8F-610B213082E3}" type="slidenum">
              <a:rPr lang="en-US" altLang="zh-TW"/>
              <a:pPr eaLnBrk="1" hangingPunct="1">
                <a:spcBef>
                  <a:spcPct val="0"/>
                </a:spcBef>
              </a:pPr>
              <a:t>74</a:t>
            </a:fld>
            <a:endParaRPr lang="en-US" altLang="zh-TW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59682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4717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4717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4D2BA-2FD1-4DE4-813B-831573E1B9A5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14FB90-72F7-452A-A42C-9B041603906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253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8419F-785B-46CE-9F00-1450CE4E4781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427ABB-9588-4A8A-BAE3-80FB5C243D4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37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18896-6D79-45FD-B2E1-C5A4803F6184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0E0E74-2EB1-49AE-9117-21237CA90CF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419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CE40D-8073-4E15-BD79-7AE1BB0342CD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A5847-0881-4DAC-9BB9-22567324922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39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B9623-A8E3-4B5B-AB91-FFB17913CFD0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CAC4E-CD27-4C03-B3B1-406BC6926B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781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8E32E-7664-4EB1-9702-7F795FB09026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E8095-7DB8-4244-AEAA-06ACE53626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410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F1A4B-CEF6-49DB-BD68-AFDD50E7DEBC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06A11-BFBA-4583-A829-801CD4060B6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156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48AAB-3463-49E5-B81D-5E682834DF8E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75E48-60B7-4485-BD74-EB895198C4D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825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B9481-FB89-43F3-9DAC-167863949A39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21D51-E502-4986-8DA3-95D7612F4E0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75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AC432-1FA4-4DE8-A505-79918472653F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A25D47-AA19-4E14-9960-CA67C3A270E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4965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67A3E-B6AE-4176-B920-0F0D18B5A7BF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B52F4-6C2B-456E-969D-074E4D0885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2740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6145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fld id="{FAF9A707-52F9-4946-BF55-728F54D534D5}" type="datetime1">
              <a:rPr lang="zh-TW" altLang="en-US" smtClean="0"/>
              <a:t>2018/4/26</a:t>
            </a:fld>
            <a:endParaRPr lang="en-US" altLang="zh-TW"/>
          </a:p>
        </p:txBody>
      </p:sp>
      <p:sp>
        <p:nvSpPr>
          <p:cNvPr id="46146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en-US" altLang="zh-TW" smtClean="0"/>
              <a:t>os8-2018</a:t>
            </a:r>
            <a:endParaRPr lang="en-US" altLang="zh-TW"/>
          </a:p>
        </p:txBody>
      </p:sp>
      <p:sp>
        <p:nvSpPr>
          <p:cNvPr id="46147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ED414075-B617-41A9-B72E-B5F5EF2F168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4.xml"/><Relationship Id="rId4" Type="http://schemas.openxmlformats.org/officeDocument/2006/relationships/slide" Target="slid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5" Type="http://schemas.openxmlformats.org/officeDocument/2006/relationships/slide" Target="slide64.xml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4" Type="http://schemas.openxmlformats.org/officeDocument/2006/relationships/slide" Target="slide5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D97510-CAFC-4B3A-B4B7-4E5B027A387A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D2CF10D-684D-4CB4-A24A-109A2B92A88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746125" y="2533650"/>
            <a:ext cx="7886700" cy="1143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Chapter 8</a:t>
            </a:r>
            <a:br>
              <a:rPr lang="en-US" altLang="zh-TW" smtClean="0"/>
            </a:br>
            <a:r>
              <a:rPr lang="en-US" altLang="zh-TW" smtClean="0"/>
              <a:t>Memory Management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FCA127-8A73-449A-A430-55A30C1B153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88708C7-150C-41CF-83F1-6D021BAC5B8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Outline</a:t>
            </a:r>
          </a:p>
        </p:txBody>
      </p:sp>
      <p:sp>
        <p:nvSpPr>
          <p:cNvPr id="4102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1188" y="981075"/>
            <a:ext cx="8001000" cy="5256213"/>
          </a:xfrm>
        </p:spPr>
        <p:txBody>
          <a:bodyPr/>
          <a:lstStyle/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>
                <a:latin typeface="Helvetica" pitchFamily="34" charset="0"/>
              </a:rPr>
              <a:t>Background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>
                <a:latin typeface="Helvetica" pitchFamily="34" charset="0"/>
              </a:rPr>
              <a:t>Swapping 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>
                <a:latin typeface="Helvetica" pitchFamily="34" charset="0"/>
              </a:rPr>
              <a:t>Contiguous Allocation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>
                <a:solidFill>
                  <a:srgbClr val="0000FF"/>
                </a:solidFill>
                <a:latin typeface="Helvetica" pitchFamily="34" charset="0"/>
              </a:rPr>
              <a:t>Segmentation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>
                <a:solidFill>
                  <a:srgbClr val="0000FF"/>
                </a:solidFill>
                <a:latin typeface="Helvetica" pitchFamily="34" charset="0"/>
              </a:rPr>
              <a:t>Paging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>
                <a:latin typeface="Helvetica" pitchFamily="34" charset="0"/>
              </a:rPr>
              <a:t>Structure of the Page Table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 smtClean="0"/>
              <a:t>Example</a:t>
            </a:r>
            <a:r>
              <a:rPr lang="en-US" altLang="zh-TW" sz="2800" dirty="0"/>
              <a:t>: The Intel 32 and 64-bit Architectures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r>
              <a:rPr lang="en-US" altLang="zh-TW" sz="2800" dirty="0">
                <a:latin typeface="Adobe Gothic Std B" pitchFamily="34" charset="-128"/>
                <a:ea typeface="Adobe Gothic Std B" pitchFamily="34" charset="-128"/>
              </a:rPr>
              <a:t>Example: ARM </a:t>
            </a:r>
            <a:r>
              <a:rPr lang="en-US" altLang="zh-TW" sz="2800" dirty="0" smtClean="0">
                <a:latin typeface="Adobe Gothic Std B" pitchFamily="34" charset="-128"/>
                <a:ea typeface="Adobe Gothic Std B" pitchFamily="34" charset="-128"/>
              </a:rPr>
              <a:t>Architecture</a:t>
            </a:r>
            <a:endParaRPr lang="en-US" altLang="zh-TW" sz="2400" dirty="0" smtClean="0">
              <a:solidFill>
                <a:schemeClr val="tx1">
                  <a:lumMod val="40000"/>
                  <a:lumOff val="60000"/>
                </a:schemeClr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SzPct val="90000"/>
              <a:buFont typeface="Monotype Sorts" pitchFamily="2" charset="2"/>
              <a:buChar char="n"/>
              <a:defRPr/>
            </a:pPr>
            <a:endParaRPr lang="en-US" altLang="zh-TW" sz="2800" dirty="0" smtClean="0">
              <a:latin typeface="Helvetic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85D4265-3713-441D-B6D1-7EE002B4C7D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1BAA11-7885-40E9-9BEE-7E81810A2F0D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958013" cy="4603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Objectives</a:t>
            </a:r>
          </a:p>
        </p:txBody>
      </p:sp>
      <p:sp>
        <p:nvSpPr>
          <p:cNvPr id="512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424863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sz="2800" smtClean="0"/>
              <a:t>To provide a detailed description of various ways of </a:t>
            </a:r>
            <a:r>
              <a:rPr lang="en-US" altLang="zh-TW" sz="2800" smtClean="0">
                <a:solidFill>
                  <a:srgbClr val="0000FF"/>
                </a:solidFill>
              </a:rPr>
              <a:t>organizing memory hardware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sz="2800" smtClean="0"/>
              <a:t>To discuss various memory-management techniques, including </a:t>
            </a:r>
            <a:r>
              <a:rPr lang="en-US" altLang="zh-TW" sz="2800" smtClean="0">
                <a:solidFill>
                  <a:srgbClr val="0000FF"/>
                </a:solidFill>
              </a:rPr>
              <a:t>paging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0000FF"/>
                </a:solidFill>
              </a:rPr>
              <a:t>segmentation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altLang="zh-TW" sz="2800" smtClean="0"/>
              <a:t>To provide a detailed description of the Intel Pentium, which supports both </a:t>
            </a:r>
            <a:r>
              <a:rPr lang="en-US" altLang="zh-TW" sz="2800" smtClean="0">
                <a:solidFill>
                  <a:srgbClr val="0000FF"/>
                </a:solidFill>
              </a:rPr>
              <a:t>pure segmentation </a:t>
            </a:r>
            <a:r>
              <a:rPr lang="en-US" altLang="zh-TW" sz="2800" smtClean="0"/>
              <a:t>and </a:t>
            </a:r>
            <a:r>
              <a:rPr lang="en-US" altLang="zh-TW" sz="2800" smtClean="0">
                <a:solidFill>
                  <a:srgbClr val="0000FF"/>
                </a:solidFill>
              </a:rPr>
              <a:t>segmentation with paging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0C8C2F-14D5-4C28-8C44-8A3E29A212A8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64FEBC-6BE5-452D-B720-EE61BCB59E3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958013" cy="4603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Background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424863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Input queue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collection of processes on the </a:t>
            </a:r>
            <a:r>
              <a:rPr lang="en-US" altLang="zh-TW" sz="2400" b="1" smtClean="0">
                <a:solidFill>
                  <a:srgbClr val="FF0000"/>
                </a:solidFill>
              </a:rPr>
              <a:t>disk</a:t>
            </a:r>
            <a:r>
              <a:rPr lang="en-US" altLang="zh-TW" sz="2400" smtClean="0"/>
              <a:t> that are waiting to be brought into memory to run the program.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/>
              <a:t>User programs go through several steps before being run.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>
                <a:solidFill>
                  <a:srgbClr val="0000FF"/>
                </a:solidFill>
              </a:rPr>
              <a:t>Main memory and registers are only storage CPU can access directly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/>
              <a:t>Register access in one CPU clock (or less); Main memory can take many cycles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b="1" smtClean="0">
                <a:solidFill>
                  <a:srgbClr val="FF0000"/>
                </a:solidFill>
              </a:rPr>
              <a:t>Cache</a:t>
            </a:r>
            <a:r>
              <a:rPr lang="en-US" altLang="zh-TW" sz="2600" b="1" smtClean="0"/>
              <a:t> </a:t>
            </a:r>
            <a:r>
              <a:rPr lang="en-US" altLang="zh-TW" sz="2600" smtClean="0"/>
              <a:t>sits between main memory and CPU registers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>
                <a:solidFill>
                  <a:srgbClr val="FF0000"/>
                </a:solidFill>
              </a:rPr>
              <a:t>Protection</a:t>
            </a:r>
            <a:r>
              <a:rPr lang="en-US" altLang="zh-TW" sz="2600" smtClean="0"/>
              <a:t> of memory required to ensure correct operation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7CA74AC-57E9-45D4-ACD4-17D220E732D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1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1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652325-2DCF-40F9-8C49-B37A7395A3E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6958013" cy="603250"/>
          </a:xfrm>
        </p:spPr>
        <p:txBody>
          <a:bodyPr/>
          <a:lstStyle/>
          <a:p>
            <a:pPr eaLnBrk="1" hangingPunct="1"/>
            <a:r>
              <a:rPr lang="en-US" altLang="zh-TW" smtClean="0"/>
              <a:t>Base and Limit Registers</a:t>
            </a:r>
          </a:p>
        </p:txBody>
      </p:sp>
      <p:sp>
        <p:nvSpPr>
          <p:cNvPr id="717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7351712" cy="4627563"/>
          </a:xfrm>
        </p:spPr>
        <p:txBody>
          <a:bodyPr/>
          <a:lstStyle/>
          <a:p>
            <a:pPr eaLnBrk="1" hangingPunct="1"/>
            <a:r>
              <a:rPr lang="en-US" altLang="zh-TW" smtClean="0"/>
              <a:t>A pair of </a:t>
            </a:r>
            <a:r>
              <a:rPr lang="en-US" altLang="zh-TW" b="1" smtClean="0">
                <a:solidFill>
                  <a:srgbClr val="FF0000"/>
                </a:solidFill>
              </a:rPr>
              <a:t>base</a:t>
            </a:r>
            <a:r>
              <a:rPr lang="en-US" altLang="zh-TW" smtClean="0"/>
              <a:t> and</a:t>
            </a:r>
            <a:r>
              <a:rPr lang="en-US" altLang="zh-TW" b="1" smtClean="0">
                <a:solidFill>
                  <a:srgbClr val="FF0000"/>
                </a:solidFill>
              </a:rPr>
              <a:t> limit</a:t>
            </a:r>
            <a:r>
              <a:rPr lang="en-US" altLang="zh-TW" smtClean="0"/>
              <a:t> registers define the </a:t>
            </a:r>
            <a:r>
              <a:rPr lang="en-US" altLang="zh-TW" smtClean="0">
                <a:solidFill>
                  <a:srgbClr val="FF0000"/>
                </a:solidFill>
              </a:rPr>
              <a:t>logical</a:t>
            </a:r>
            <a:r>
              <a:rPr lang="en-US" altLang="zh-TW" smtClean="0"/>
              <a:t> address space</a:t>
            </a:r>
          </a:p>
        </p:txBody>
      </p:sp>
      <p:pic>
        <p:nvPicPr>
          <p:cNvPr id="717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6" t="906" r="18016" b="1501"/>
          <a:stretch>
            <a:fillRect/>
          </a:stretch>
        </p:blipFill>
        <p:spPr bwMode="auto">
          <a:xfrm>
            <a:off x="2843213" y="2133600"/>
            <a:ext cx="3355975" cy="384016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1E7D41-DF11-403D-9FC4-540558495B4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AABB108-6295-4D03-89E1-51A72D8F90C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/>
          </a:p>
        </p:txBody>
      </p:sp>
      <p:sp>
        <p:nvSpPr>
          <p:cNvPr id="819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34350" cy="752475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Binding of Instructions and Data to Memory</a:t>
            </a:r>
          </a:p>
        </p:txBody>
      </p:sp>
      <p:sp>
        <p:nvSpPr>
          <p:cNvPr id="4915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0" y="1916113"/>
            <a:ext cx="8382000" cy="40481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400" b="1" dirty="0" smtClean="0"/>
              <a:t>Compile time</a:t>
            </a:r>
            <a:r>
              <a:rPr lang="en-US" altLang="zh-TW" sz="2400" dirty="0" smtClean="0"/>
              <a:t>:  If memory location known a priori, </a:t>
            </a:r>
            <a:r>
              <a:rPr lang="en-US" altLang="zh-TW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absolute code</a:t>
            </a:r>
            <a:r>
              <a:rPr lang="en-US" altLang="zh-TW" sz="2400" dirty="0" smtClean="0"/>
              <a:t> can be generated; must recompile code if starting location changes.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b="1" dirty="0" smtClean="0"/>
              <a:t>Load time</a:t>
            </a:r>
            <a:r>
              <a:rPr lang="en-US" altLang="zh-TW" sz="2400" dirty="0" smtClean="0"/>
              <a:t>:  Must generate 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relocatable</a:t>
            </a:r>
            <a:r>
              <a:rPr lang="en-US" altLang="zh-TW" sz="2400" dirty="0" smtClean="0"/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code</a:t>
            </a:r>
            <a:r>
              <a:rPr lang="en-US" altLang="zh-TW" sz="2400" dirty="0" smtClean="0"/>
              <a:t> if memory location is not known at compile time.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b="1" dirty="0" smtClean="0">
                <a:solidFill>
                  <a:srgbClr val="FF0000"/>
                </a:solidFill>
              </a:rPr>
              <a:t>Execution time</a:t>
            </a:r>
            <a:r>
              <a:rPr lang="en-US" altLang="zh-TW" sz="2400" dirty="0" smtClean="0"/>
              <a:t>:  </a:t>
            </a:r>
            <a:r>
              <a:rPr lang="en-US" altLang="zh-TW" sz="2400" dirty="0" smtClean="0">
                <a:solidFill>
                  <a:srgbClr val="FF0000"/>
                </a:solidFill>
              </a:rPr>
              <a:t>Binding delayed until run time</a:t>
            </a:r>
            <a:r>
              <a:rPr lang="en-US" altLang="zh-TW" sz="2400" dirty="0" smtClean="0"/>
              <a:t> if the process can be moved during its execution from one memory segment to another.  Need hardware support for address maps (e.g., </a:t>
            </a:r>
            <a:r>
              <a:rPr lang="en-US" altLang="zh-TW" sz="2400" dirty="0" smtClean="0">
                <a:solidFill>
                  <a:srgbClr val="FF0000"/>
                </a:solidFill>
              </a:rPr>
              <a:t>base</a:t>
            </a:r>
            <a:r>
              <a:rPr lang="en-US" altLang="zh-TW" sz="2400" dirty="0" smtClean="0"/>
              <a:t> and </a:t>
            </a:r>
            <a:r>
              <a:rPr lang="en-US" altLang="zh-TW" sz="2400" dirty="0" smtClean="0">
                <a:solidFill>
                  <a:srgbClr val="FF0000"/>
                </a:solidFill>
              </a:rPr>
              <a:t>limit registers</a:t>
            </a:r>
            <a:r>
              <a:rPr lang="en-US" altLang="zh-TW" sz="2400" dirty="0" smtClean="0"/>
              <a:t>). </a:t>
            </a:r>
          </a:p>
        </p:txBody>
      </p:sp>
      <p:sp>
        <p:nvSpPr>
          <p:cNvPr id="8199" name="Text Box 1028"/>
          <p:cNvSpPr txBox="1">
            <a:spLocks noChangeArrowheads="1"/>
          </p:cNvSpPr>
          <p:nvPr/>
        </p:nvSpPr>
        <p:spPr bwMode="auto">
          <a:xfrm>
            <a:off x="539750" y="981075"/>
            <a:ext cx="8058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400" b="1">
                <a:solidFill>
                  <a:srgbClr val="FF0000"/>
                </a:solidFill>
                <a:latin typeface="Helvetica" panose="020B0604020202020204" pitchFamily="34" charset="0"/>
              </a:rPr>
              <a:t>Address binding</a:t>
            </a:r>
            <a:r>
              <a:rPr kumimoji="0" lang="en-US" altLang="zh-TW" sz="2400">
                <a:latin typeface="Helvetica" panose="020B0604020202020204" pitchFamily="34" charset="0"/>
              </a:rPr>
              <a:t> of instructions and data to memory addresses can happen at three different stages.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696A15-C521-4231-A55F-CBFB3016D226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921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922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177567E-9843-4F30-A916-0C8CF4178A3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/>
          </a:p>
        </p:txBody>
      </p:sp>
      <p:sp>
        <p:nvSpPr>
          <p:cNvPr id="922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39113" cy="60325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Multistep Processing of a User Program </a:t>
            </a:r>
          </a:p>
        </p:txBody>
      </p:sp>
      <p:pic>
        <p:nvPicPr>
          <p:cNvPr id="9222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8" t="2631" r="32141" b="1295"/>
          <a:stretch>
            <a:fillRect/>
          </a:stretch>
        </p:blipFill>
        <p:spPr bwMode="auto">
          <a:xfrm>
            <a:off x="2411413" y="947738"/>
            <a:ext cx="5013325" cy="5429250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迴轉箭號 1">
            <a:hlinkClick r:id="rId5" action="ppaction://hlinksldjump"/>
          </p:cNvPr>
          <p:cNvSpPr/>
          <p:nvPr/>
        </p:nvSpPr>
        <p:spPr bwMode="auto">
          <a:xfrm>
            <a:off x="7704138" y="4941888"/>
            <a:ext cx="323850" cy="358775"/>
          </a:xfrm>
          <a:prstGeom prst="utur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0966857-FCAA-401B-B011-9A1939A360D6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02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02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956F0D-7800-47FE-884D-A129B19AB07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/>
          </a:p>
        </p:txBody>
      </p:sp>
      <p:sp>
        <p:nvSpPr>
          <p:cNvPr id="1024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82000" cy="68580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Logical vs. Physical Address Space</a:t>
            </a:r>
          </a:p>
        </p:txBody>
      </p:sp>
      <p:sp>
        <p:nvSpPr>
          <p:cNvPr id="5120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The concept of a </a:t>
            </a:r>
            <a:r>
              <a:rPr lang="en-US" altLang="zh-TW" sz="2400" smtClean="0">
                <a:solidFill>
                  <a:srgbClr val="FF0000"/>
                </a:solidFill>
              </a:rPr>
              <a:t>logical address space</a:t>
            </a:r>
            <a:r>
              <a:rPr lang="en-US" altLang="zh-TW" sz="2400" smtClean="0"/>
              <a:t> that is bound to a separate physical address space is central to proper memory management.</a:t>
            </a:r>
            <a:endParaRPr lang="en-US" altLang="zh-TW" sz="2400" b="1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b="1" smtClean="0">
                <a:solidFill>
                  <a:schemeClr val="tx2"/>
                </a:solidFill>
              </a:rPr>
              <a:t>Logical address</a:t>
            </a:r>
            <a:r>
              <a:rPr lang="en-US" altLang="zh-TW" sz="2000" smtClean="0"/>
              <a:t> </a:t>
            </a:r>
            <a:r>
              <a:rPr lang="en-US" altLang="zh-TW" sz="2000" smtClean="0">
                <a:latin typeface="Helvetica" panose="020B0604020202020204" pitchFamily="34" charset="0"/>
              </a:rPr>
              <a:t>–</a:t>
            </a:r>
            <a:r>
              <a:rPr lang="en-US" altLang="zh-TW" sz="2000" smtClean="0"/>
              <a:t> generated </a:t>
            </a:r>
            <a:r>
              <a:rPr lang="en-US" altLang="zh-TW" sz="2000" b="1" smtClean="0">
                <a:solidFill>
                  <a:srgbClr val="FF0000"/>
                </a:solidFill>
              </a:rPr>
              <a:t>by the CPU</a:t>
            </a:r>
            <a:r>
              <a:rPr lang="en-US" altLang="zh-TW" sz="2000" smtClean="0"/>
              <a:t>; also referred to as </a:t>
            </a:r>
            <a:r>
              <a:rPr lang="en-US" altLang="zh-TW" sz="2000" smtClean="0">
                <a:solidFill>
                  <a:srgbClr val="FF0000"/>
                </a:solidFill>
              </a:rPr>
              <a:t>virtual address</a:t>
            </a:r>
            <a:r>
              <a:rPr lang="en-US" altLang="zh-TW" sz="2000" smtClean="0"/>
              <a:t>.</a:t>
            </a:r>
            <a:endParaRPr lang="en-US" altLang="zh-TW" sz="2000" b="1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b="1" smtClean="0">
                <a:solidFill>
                  <a:schemeClr val="tx2"/>
                </a:solidFill>
              </a:rPr>
              <a:t>Physical address</a:t>
            </a:r>
            <a:r>
              <a:rPr lang="en-US" altLang="zh-TW" sz="2000" smtClean="0"/>
              <a:t> </a:t>
            </a:r>
            <a:r>
              <a:rPr lang="en-US" altLang="zh-TW" sz="2000" smtClean="0">
                <a:latin typeface="Helvetica" panose="020B0604020202020204" pitchFamily="34" charset="0"/>
              </a:rPr>
              <a:t>–</a:t>
            </a:r>
            <a:r>
              <a:rPr lang="en-US" altLang="zh-TW" sz="2000" smtClean="0"/>
              <a:t> address seen </a:t>
            </a:r>
            <a:r>
              <a:rPr lang="en-US" altLang="zh-TW" sz="2000" b="1" smtClean="0">
                <a:solidFill>
                  <a:srgbClr val="FF0000"/>
                </a:solidFill>
              </a:rPr>
              <a:t>by the</a:t>
            </a:r>
            <a:r>
              <a:rPr lang="en-US" altLang="zh-TW" sz="2000" smtClean="0">
                <a:solidFill>
                  <a:srgbClr val="FF0000"/>
                </a:solidFill>
              </a:rPr>
              <a:t> </a:t>
            </a:r>
            <a:r>
              <a:rPr lang="en-US" altLang="zh-TW" sz="2000" b="1" smtClean="0">
                <a:solidFill>
                  <a:srgbClr val="FF0000"/>
                </a:solidFill>
              </a:rPr>
              <a:t>memory unit</a:t>
            </a:r>
            <a:r>
              <a:rPr lang="en-US" altLang="zh-TW" sz="20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Logical and physical addresses are the same in compile-time and load-time address-binding schemes; </a:t>
            </a:r>
            <a:r>
              <a:rPr lang="en-US" altLang="zh-TW" sz="2400" smtClean="0">
                <a:solidFill>
                  <a:srgbClr val="FF0000"/>
                </a:solidFill>
              </a:rPr>
              <a:t>logical (virtual) and physical addresses differ in execution-time address-binding scheme</a:t>
            </a:r>
            <a:r>
              <a:rPr lang="en-US" altLang="zh-TW" sz="2400" smtClean="0"/>
              <a:t>.</a:t>
            </a:r>
          </a:p>
          <a:p>
            <a:pPr algn="ctr"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TW" sz="2400" smtClean="0"/>
              <a:t>compiler: </a:t>
            </a:r>
            <a:r>
              <a:rPr lang="en-US" altLang="zh-TW" sz="2400" smtClean="0">
                <a:solidFill>
                  <a:srgbClr val="FF0000"/>
                </a:solidFill>
              </a:rPr>
              <a:t>symbol</a:t>
            </a:r>
            <a:r>
              <a:rPr lang="en-US" altLang="zh-TW" sz="2400" smtClean="0"/>
              <a:t> --&gt; </a:t>
            </a:r>
            <a:r>
              <a:rPr lang="en-US" altLang="zh-TW" sz="2400" smtClean="0">
                <a:solidFill>
                  <a:schemeClr val="tx2"/>
                </a:solidFill>
              </a:rPr>
              <a:t>relocatable address</a:t>
            </a:r>
          </a:p>
          <a:p>
            <a:pPr algn="ctr" eaLnBrk="1" hangingPunct="1">
              <a:lnSpc>
                <a:spcPct val="9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TW" sz="2400" smtClean="0"/>
              <a:t>loader: relocatable address -&gt; </a:t>
            </a:r>
            <a:r>
              <a:rPr lang="en-US" altLang="zh-TW" sz="2400" smtClean="0">
                <a:solidFill>
                  <a:srgbClr val="06070E"/>
                </a:solidFill>
              </a:rPr>
              <a:t>absolute address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1A0893-E7E7-4623-AEC3-5160BFFDD9F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12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12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D635E9-F8CE-434A-B7DC-FFA8D6885F4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/>
          </a:p>
        </p:txBody>
      </p:sp>
      <p:sp>
        <p:nvSpPr>
          <p:cNvPr id="1126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Memory-Management Unit (</a:t>
            </a:r>
            <a:r>
              <a:rPr lang="en-US" altLang="zh-TW" sz="3200" smtClean="0"/>
              <a:t>MMU</a:t>
            </a:r>
            <a:r>
              <a:rPr lang="en-US" altLang="zh-TW" sz="4000" smtClean="0"/>
              <a:t>)</a:t>
            </a:r>
          </a:p>
        </p:txBody>
      </p:sp>
      <p:sp>
        <p:nvSpPr>
          <p:cNvPr id="5222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2296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Hardware device that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maps virtual to physical address</a:t>
            </a:r>
            <a:r>
              <a:rPr lang="en-US" altLang="zh-TW" sz="2800" dirty="0" smtClean="0"/>
              <a:t>.</a:t>
            </a:r>
            <a:br>
              <a:rPr lang="en-US" altLang="zh-TW" sz="2800" dirty="0" smtClean="0"/>
            </a:br>
            <a:endParaRPr lang="en-US" altLang="zh-TW" sz="2800" dirty="0" smtClean="0"/>
          </a:p>
          <a:p>
            <a:pPr eaLnBrk="1" hangingPunct="1">
              <a:defRPr/>
            </a:pPr>
            <a:r>
              <a:rPr lang="en-US" altLang="zh-TW" sz="2800" dirty="0" smtClean="0"/>
              <a:t>In MMU scheme, the value in the relocation register is </a:t>
            </a:r>
            <a:r>
              <a:rPr lang="en-US" altLang="zh-TW" sz="2800" dirty="0" smtClean="0">
                <a:solidFill>
                  <a:srgbClr val="FF0000"/>
                </a:solidFill>
              </a:rPr>
              <a:t>added</a:t>
            </a:r>
            <a:r>
              <a:rPr lang="en-US" altLang="zh-TW" sz="2800" dirty="0" smtClean="0"/>
              <a:t> to every address generated by a user process at the time it is sent to memory.</a:t>
            </a:r>
            <a:br>
              <a:rPr lang="en-US" altLang="zh-TW" sz="2800" dirty="0" smtClean="0"/>
            </a:br>
            <a:endParaRPr lang="en-US" altLang="zh-TW" sz="2800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The user program deals with </a:t>
            </a:r>
            <a:r>
              <a:rPr lang="en-US" altLang="zh-TW" sz="2800" dirty="0" smtClean="0">
                <a:solidFill>
                  <a:schemeClr val="tx2"/>
                </a:solidFill>
              </a:rPr>
              <a:t>logical</a:t>
            </a:r>
            <a:r>
              <a:rPr lang="en-US" altLang="zh-TW" sz="2800" dirty="0" smtClean="0">
                <a:solidFill>
                  <a:srgbClr val="FF0000"/>
                </a:solidFill>
              </a:rPr>
              <a:t> addresses; it never sees the </a:t>
            </a:r>
            <a:r>
              <a:rPr lang="en-US" altLang="zh-TW" sz="2800" dirty="0" smtClean="0">
                <a:solidFill>
                  <a:schemeClr val="tx2"/>
                </a:solidFill>
              </a:rPr>
              <a:t>real</a:t>
            </a:r>
            <a:r>
              <a:rPr lang="en-US" altLang="zh-TW" sz="2800" dirty="0" smtClean="0">
                <a:solidFill>
                  <a:srgbClr val="FF0000"/>
                </a:solidFill>
              </a:rPr>
              <a:t> physical addresses</a:t>
            </a:r>
            <a:r>
              <a:rPr lang="en-US" altLang="zh-TW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19F938-DA08-40E1-B582-56233C7E6185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229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229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381328-76CC-47A4-B37E-4FEC6262622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54975" cy="844550"/>
          </a:xfrm>
        </p:spPr>
        <p:txBody>
          <a:bodyPr/>
          <a:lstStyle/>
          <a:p>
            <a:pPr eaLnBrk="1" hangingPunct="1"/>
            <a:r>
              <a:rPr lang="en-US" altLang="zh-TW" sz="3600" smtClean="0"/>
              <a:t>Dynamic Relocation using a Relocation Register</a:t>
            </a:r>
          </a:p>
        </p:txBody>
      </p:sp>
      <p:pic>
        <p:nvPicPr>
          <p:cNvPr id="1229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8" t="4951" r="1523" b="4655"/>
          <a:stretch>
            <a:fillRect/>
          </a:stretch>
        </p:blipFill>
        <p:spPr bwMode="auto">
          <a:xfrm>
            <a:off x="762000" y="1412875"/>
            <a:ext cx="7696200" cy="45815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5CF2400-940C-4485-AD22-C37151C4455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565313-5B56-4D60-94D6-BDF0E04A33B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/>
          </a:p>
        </p:txBody>
      </p:sp>
      <p:sp>
        <p:nvSpPr>
          <p:cNvPr id="1331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algn="ctr" eaLnBrk="1" hangingPunct="1"/>
            <a:r>
              <a:rPr lang="en-US" altLang="zh-TW" sz="4000" smtClean="0">
                <a:solidFill>
                  <a:srgbClr val="0000FF"/>
                </a:solidFill>
              </a:rPr>
              <a:t>Dynamic Loading</a:t>
            </a:r>
          </a:p>
        </p:txBody>
      </p:sp>
      <p:sp>
        <p:nvSpPr>
          <p:cNvPr id="5427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94650" cy="4978400"/>
          </a:xfrm>
        </p:spPr>
        <p:txBody>
          <a:bodyPr/>
          <a:lstStyle/>
          <a:p>
            <a:pPr eaLnBrk="1" hangingPunct="1"/>
            <a:r>
              <a:rPr lang="en-US" altLang="zh-TW" smtClean="0"/>
              <a:t>Routine is not loaded </a:t>
            </a:r>
            <a:r>
              <a:rPr lang="en-US" altLang="zh-TW" smtClean="0">
                <a:solidFill>
                  <a:srgbClr val="FF0000"/>
                </a:solidFill>
              </a:rPr>
              <a:t>until it is called</a:t>
            </a:r>
            <a:r>
              <a:rPr lang="en-US" altLang="zh-TW" smtClean="0"/>
              <a:t>.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Better memory-space utilization; unused routine is never loaded.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Useful when large amounts of code are needed to handle infrequently occurring cases.</a:t>
            </a: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No special support from OS</a:t>
            </a:r>
            <a:r>
              <a:rPr lang="en-US" altLang="zh-TW" smtClean="0"/>
              <a:t> is required implemented through program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21FB5D-404F-4867-BCC0-9A48FC86A6F8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43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43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B8C028-C2A1-450D-A23C-904FCB254DA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387350"/>
          </a:xfrm>
        </p:spPr>
        <p:txBody>
          <a:bodyPr/>
          <a:lstStyle/>
          <a:p>
            <a:pPr algn="ctr" eaLnBrk="1" hangingPunct="1"/>
            <a:r>
              <a:rPr lang="en-US" altLang="zh-TW" sz="4000" smtClean="0">
                <a:solidFill>
                  <a:srgbClr val="0000FF"/>
                </a:solidFill>
              </a:rPr>
              <a:t>Dynamic Linking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507412" cy="5343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 smtClean="0"/>
              <a:t>Linking postponed </a:t>
            </a:r>
            <a:r>
              <a:rPr lang="en-US" altLang="zh-TW" sz="2800" dirty="0" smtClean="0">
                <a:solidFill>
                  <a:srgbClr val="FF0000"/>
                </a:solidFill>
              </a:rPr>
              <a:t>until execution time</a:t>
            </a:r>
            <a:r>
              <a:rPr lang="en-US" altLang="zh-TW" sz="2800" dirty="0" smtClean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 smtClean="0"/>
              <a:t>used with system libraries (language subroutines)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Small piece of code, </a:t>
            </a:r>
            <a:r>
              <a:rPr lang="en-US" altLang="zh-TW" sz="28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stub</a:t>
            </a:r>
            <a:r>
              <a:rPr lang="en-US" altLang="zh-TW" sz="2800" dirty="0" smtClean="0"/>
              <a:t>, used to locate the appropriate memory-resident library routine.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>
                <a:solidFill>
                  <a:srgbClr val="0000FF"/>
                </a:solidFill>
              </a:rPr>
              <a:t>Stub</a:t>
            </a:r>
            <a:r>
              <a:rPr lang="en-US" altLang="zh-TW" sz="2800" dirty="0" smtClean="0"/>
              <a:t> replaces itself with the address of the routine, and executes the routine.</a:t>
            </a:r>
            <a:endParaRPr lang="en-US" altLang="zh-TW" sz="2400" dirty="0" smtClean="0"/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/>
              <a:t>	</a:t>
            </a:r>
            <a:r>
              <a:rPr lang="en-US" altLang="zh-TW" sz="2400" dirty="0" smtClean="0">
                <a:solidFill>
                  <a:srgbClr val="FF0000"/>
                </a:solidFill>
              </a:rPr>
              <a:t>First time a stub is performed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1. Locate or load the routine</a:t>
            </a:r>
          </a:p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2. Replace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itself with address of the routine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>
                <a:solidFill>
                  <a:srgbClr val="FF0000"/>
                </a:solidFill>
              </a:rPr>
              <a:t>OS needed to check</a:t>
            </a:r>
            <a:r>
              <a:rPr lang="en-US" altLang="zh-TW" sz="2800" dirty="0" smtClean="0"/>
              <a:t> if routine is in processes</a:t>
            </a:r>
            <a:r>
              <a:rPr lang="en-US" altLang="zh-TW" sz="2800" dirty="0" smtClean="0">
                <a:latin typeface="Helvetica"/>
              </a:rPr>
              <a:t>’</a:t>
            </a:r>
            <a:r>
              <a:rPr lang="en-US" altLang="zh-TW" sz="2800" dirty="0" smtClean="0"/>
              <a:t> memory address.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Dynamic linking is particularly useful for libraries.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One copy of library code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3708400" y="4941888"/>
            <a:ext cx="4906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solve protection if in another space</a:t>
            </a:r>
          </a:p>
        </p:txBody>
      </p:sp>
      <p:sp>
        <p:nvSpPr>
          <p:cNvPr id="14344" name="向右箭號 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113713" y="1412875"/>
            <a:ext cx="252412" cy="179388"/>
          </a:xfrm>
          <a:prstGeom prst="rightArrow">
            <a:avLst>
              <a:gd name="adj1" fmla="val 50000"/>
              <a:gd name="adj2" fmla="val 5025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4345" name="向右箭號 8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128000" y="5399088"/>
            <a:ext cx="252413" cy="179387"/>
          </a:xfrm>
          <a:prstGeom prst="rightArrow">
            <a:avLst>
              <a:gd name="adj1" fmla="val 50000"/>
              <a:gd name="adj2" fmla="val 5025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87CC59A-2B3B-4039-BC0F-59A7AF053F9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FD3673-65AD-4F80-B8AC-01148B4E40C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387350"/>
          </a:xfrm>
        </p:spPr>
        <p:txBody>
          <a:bodyPr/>
          <a:lstStyle/>
          <a:p>
            <a:pPr algn="ctr" eaLnBrk="1" hangingPunct="1"/>
            <a:r>
              <a:rPr lang="en-US" altLang="zh-TW" sz="4000" smtClean="0">
                <a:solidFill>
                  <a:srgbClr val="0000FF"/>
                </a:solidFill>
              </a:rPr>
              <a:t>Dynamic Linking</a:t>
            </a:r>
          </a:p>
        </p:txBody>
      </p:sp>
      <p:sp>
        <p:nvSpPr>
          <p:cNvPr id="552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507412" cy="53435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Shared libraries:</a:t>
            </a: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</a:pPr>
            <a:r>
              <a:rPr lang="en-US" altLang="zh-TW" sz="2400" smtClean="0"/>
              <a:t>A library may be replaced by a </a:t>
            </a:r>
            <a:r>
              <a:rPr lang="en-US" altLang="zh-TW" sz="2400" smtClean="0">
                <a:solidFill>
                  <a:srgbClr val="FF0000"/>
                </a:solidFill>
              </a:rPr>
              <a:t>new version</a:t>
            </a:r>
            <a:r>
              <a:rPr lang="en-US" altLang="zh-TW" sz="2400" smtClean="0"/>
              <a:t>, and all programs that reference the library will automatically use the new version. </a:t>
            </a: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</a:pPr>
            <a:r>
              <a:rPr lang="en-US" altLang="zh-TW" sz="2400" smtClean="0"/>
              <a:t>Without dynamic linking, all such programs would need to be </a:t>
            </a:r>
            <a:r>
              <a:rPr lang="en-US" altLang="zh-TW" sz="2400" smtClean="0">
                <a:solidFill>
                  <a:srgbClr val="0000FF"/>
                </a:solidFill>
              </a:rPr>
              <a:t>relinked to gain access to the new library</a:t>
            </a:r>
            <a:r>
              <a:rPr lang="en-US" altLang="zh-TW" sz="2400" smtClean="0"/>
              <a:t>. So that programs will not accidentally execute new, incompatible versions of libraries, </a:t>
            </a:r>
            <a:r>
              <a:rPr lang="en-US" altLang="zh-TW" sz="2400" smtClean="0">
                <a:solidFill>
                  <a:srgbClr val="FF0000"/>
                </a:solidFill>
              </a:rPr>
              <a:t>version information is included in both the program and the library</a:t>
            </a:r>
            <a:r>
              <a:rPr lang="en-US" altLang="zh-TW" sz="2400" smtClean="0"/>
              <a:t>.</a:t>
            </a:r>
          </a:p>
          <a:p>
            <a:pPr lvl="1" eaLnBrk="1" hangingPunct="1">
              <a:lnSpc>
                <a:spcPct val="80000"/>
              </a:lnSpc>
              <a:spcBef>
                <a:spcPts val="1200"/>
              </a:spcBef>
            </a:pPr>
            <a:r>
              <a:rPr lang="en-US" altLang="zh-TW" sz="2400" smtClean="0"/>
              <a:t>Programs linked before the new library will continue using the older library.</a:t>
            </a:r>
          </a:p>
          <a:p>
            <a:pPr eaLnBrk="1" hangingPunct="1">
              <a:lnSpc>
                <a:spcPct val="80000"/>
              </a:lnSpc>
              <a:spcBef>
                <a:spcPts val="1200"/>
              </a:spcBef>
            </a:pPr>
            <a:r>
              <a:rPr lang="en-US" altLang="zh-TW" sz="2800" smtClean="0"/>
              <a:t>Unlike dynamic loading, dynamic linking and shared libraries generally require help from the operating system.</a:t>
            </a: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3523AA-1328-4C4A-A5D9-806E4DA6457A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F6E89B-27BE-4B8A-B4F0-5E7F299647A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Overlays</a:t>
            </a:r>
          </a:p>
        </p:txBody>
      </p:sp>
      <p:sp>
        <p:nvSpPr>
          <p:cNvPr id="56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135937" cy="4967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Keep in memory only those instructions and data that are needed at any given time.</a:t>
            </a:r>
            <a:br>
              <a:rPr lang="en-US" altLang="zh-TW" smtClean="0"/>
            </a:br>
            <a:endParaRPr lang="en-US" altLang="zh-TW" smtClean="0"/>
          </a:p>
          <a:p>
            <a:pPr eaLnBrk="1" hangingPunct="1">
              <a:lnSpc>
                <a:spcPct val="90000"/>
              </a:lnSpc>
            </a:pPr>
            <a:r>
              <a:rPr lang="en-US" altLang="zh-TW" smtClean="0"/>
              <a:t>Needed when process is larger than amount of memory allocated to it.</a:t>
            </a:r>
            <a:br>
              <a:rPr lang="en-US" altLang="zh-TW" smtClean="0"/>
            </a:br>
            <a:endParaRPr lang="en-US" altLang="zh-TW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mtClean="0">
                <a:solidFill>
                  <a:srgbClr val="FF0000"/>
                </a:solidFill>
              </a:rPr>
              <a:t>Implemented by user</a:t>
            </a:r>
            <a:r>
              <a:rPr lang="en-US" altLang="zh-TW" smtClean="0"/>
              <a:t>, </a:t>
            </a:r>
            <a:r>
              <a:rPr lang="en-US" altLang="zh-TW" smtClean="0">
                <a:solidFill>
                  <a:srgbClr val="FF0000"/>
                </a:solidFill>
              </a:rPr>
              <a:t>no special support needed from OS</a:t>
            </a:r>
            <a:r>
              <a:rPr lang="en-US" altLang="zh-TW" smtClean="0"/>
              <a:t>, programming design of overlay structure is complex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734397-6C34-48C6-B3D4-40CDEEE34D33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741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741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41C0C8-3F3D-471A-9347-C591EA2F8DC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/>
          </a:p>
        </p:txBody>
      </p:sp>
      <p:sp>
        <p:nvSpPr>
          <p:cNvPr id="1741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39113" cy="820738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Overlays for a Two-Pass Assembler</a:t>
            </a:r>
            <a:endParaRPr lang="en-US" altLang="zh-TW" sz="3200" smtClean="0"/>
          </a:p>
        </p:txBody>
      </p:sp>
      <p:pic>
        <p:nvPicPr>
          <p:cNvPr id="17414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t="5319" r="2449" b="6061"/>
          <a:stretch>
            <a:fillRect/>
          </a:stretch>
        </p:blipFill>
        <p:spPr bwMode="auto">
          <a:xfrm>
            <a:off x="684213" y="1268413"/>
            <a:ext cx="7772400" cy="49307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E87D25-43C1-4BD4-A6BA-09E02228571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5B9875-4EF0-4906-9769-7FD83F1861D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TW" smtClean="0"/>
              <a:t>Swapping (1)</a:t>
            </a:r>
          </a:p>
        </p:txBody>
      </p:sp>
      <p:sp>
        <p:nvSpPr>
          <p:cNvPr id="58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4582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A process can be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swapped</a:t>
            </a:r>
            <a:r>
              <a:rPr lang="en-US" altLang="zh-TW" sz="2800" dirty="0" smtClean="0"/>
              <a:t> temporarily out of memory to a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backing store</a:t>
            </a:r>
            <a:r>
              <a:rPr lang="en-US" altLang="zh-TW" sz="2800" dirty="0" smtClean="0"/>
              <a:t>, and then brought back into memory for continued execution.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Backing store </a:t>
            </a:r>
            <a:r>
              <a:rPr lang="en-US" altLang="zh-TW" sz="2800" dirty="0" smtClean="0">
                <a:latin typeface="Helvetica"/>
              </a:rPr>
              <a:t>–</a:t>
            </a:r>
            <a:r>
              <a:rPr lang="en-US" altLang="zh-TW" sz="2800" dirty="0" smtClean="0"/>
              <a:t> fast disk large enough to accommodate copies of </a:t>
            </a:r>
            <a:r>
              <a:rPr lang="en-US" altLang="zh-TW" sz="2800" dirty="0" smtClean="0">
                <a:solidFill>
                  <a:srgbClr val="FF0000"/>
                </a:solidFill>
              </a:rPr>
              <a:t>all memory images for all users</a:t>
            </a:r>
            <a:r>
              <a:rPr lang="en-US" altLang="zh-TW" sz="2800" dirty="0" smtClean="0"/>
              <a:t>; must provide direct access to these memory images.</a:t>
            </a:r>
            <a:endParaRPr lang="en-US" altLang="zh-TW" sz="2800" b="1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Roll out, roll in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latin typeface="Helvetica"/>
              </a:rPr>
              <a:t>–</a:t>
            </a:r>
            <a:r>
              <a:rPr lang="en-US" altLang="zh-TW" sz="2800" dirty="0" smtClean="0"/>
              <a:t> swapping variant used for priority-based scheduling algorithms; lower-priority process is swapped out so higher-priority process can be loaded and executed.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3EEF0D-8932-4AA6-9358-875F9A2C1FB0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87431B-3B21-4A94-8DA4-59D8C0A9EEF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TW" smtClean="0"/>
              <a:t>Swapping (2)</a:t>
            </a:r>
          </a:p>
        </p:txBody>
      </p:sp>
      <p:sp>
        <p:nvSpPr>
          <p:cNvPr id="182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582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Major part of swap time is transfer time; </a:t>
            </a:r>
            <a:r>
              <a:rPr lang="en-US" altLang="zh-TW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total transfer time is directly proportional to the amount of memory swapped</a:t>
            </a:r>
            <a:r>
              <a:rPr lang="en-US" altLang="zh-TW" dirty="0" smtClean="0"/>
              <a:t>.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dirty="0" smtClean="0"/>
              <a:t>Modified versions of swapping are found on many systems, i.e., UNIX, Linux, and Windows. </a:t>
            </a:r>
            <a:endParaRPr lang="en-US" altLang="zh-TW" sz="2400" dirty="0" smtClean="0"/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System maintains a </a:t>
            </a:r>
            <a:r>
              <a:rPr lang="en-US" altLang="zh-TW" sz="2800" b="1" dirty="0" smtClean="0"/>
              <a:t>ready queue </a:t>
            </a:r>
            <a:r>
              <a:rPr lang="en-US" altLang="zh-TW" sz="2800" dirty="0" smtClean="0"/>
              <a:t>of ready-to-run processes which have memory images on disk.</a:t>
            </a:r>
          </a:p>
          <a:p>
            <a:pPr eaLnBrk="1" hangingPunct="1">
              <a:defRPr/>
            </a:pPr>
            <a:endParaRPr lang="en-US" altLang="zh-TW" sz="2000" dirty="0" smtClean="0"/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4067175" y="4005263"/>
            <a:ext cx="2906713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related to binding methods</a:t>
            </a:r>
          </a:p>
        </p:txBody>
      </p:sp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4716463" y="476250"/>
            <a:ext cx="3883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Context-switch time is fairly high</a:t>
            </a:r>
            <a:endParaRPr lang="zh-TW" altLang="en-US" sz="20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  <p:bldP spid="18227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9E00CA-3C40-485B-B27C-65CC4E612A8B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E5C6A1E-137E-49D2-A16B-224764D58FD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/>
          </a:p>
        </p:txBody>
      </p:sp>
      <p:sp>
        <p:nvSpPr>
          <p:cNvPr id="2048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Schematic View of Swapping</a:t>
            </a:r>
            <a:endParaRPr lang="en-US" altLang="zh-TW" sz="3600" smtClean="0"/>
          </a:p>
        </p:txBody>
      </p:sp>
      <p:pic>
        <p:nvPicPr>
          <p:cNvPr id="20486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3653" r="650" b="3856"/>
          <a:stretch>
            <a:fillRect/>
          </a:stretch>
        </p:blipFill>
        <p:spPr bwMode="auto">
          <a:xfrm>
            <a:off x="900113" y="1341438"/>
            <a:ext cx="7315200" cy="46418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8569325" cy="647700"/>
          </a:xfrm>
        </p:spPr>
        <p:txBody>
          <a:bodyPr/>
          <a:lstStyle/>
          <a:p>
            <a:r>
              <a:rPr lang="en-US" altLang="en-US" sz="3600" smtClean="0"/>
              <a:t>Context Switch Time including Swapping</a:t>
            </a:r>
          </a:p>
        </p:txBody>
      </p:sp>
      <p:sp>
        <p:nvSpPr>
          <p:cNvPr id="1945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395288" y="908050"/>
            <a:ext cx="8497887" cy="5761038"/>
          </a:xfrm>
        </p:spPr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Context switch time can be very high</a:t>
            </a:r>
            <a:endParaRPr lang="en-US" altLang="en-US" sz="2800" smtClean="0"/>
          </a:p>
          <a:p>
            <a:pPr lvl="1"/>
            <a:r>
              <a:rPr lang="en-US" altLang="en-US" smtClean="0"/>
              <a:t>if there is no free memory, the </a:t>
            </a:r>
            <a:r>
              <a:rPr lang="en-US" altLang="en-US" smtClean="0">
                <a:solidFill>
                  <a:srgbClr val="0000FF"/>
                </a:solidFill>
              </a:rPr>
              <a:t>dispatcher swaps out a process</a:t>
            </a:r>
            <a:r>
              <a:rPr lang="en-US" altLang="en-US" smtClean="0"/>
              <a:t> currently in memory and swaps in the desired process. Then reloads registers and transfers control to the selected process.</a:t>
            </a:r>
            <a:endParaRPr lang="en-US" altLang="en-US" sz="2400" smtClean="0"/>
          </a:p>
          <a:p>
            <a:r>
              <a:rPr lang="en-US" altLang="en-US" sz="2800" smtClean="0"/>
              <a:t>100MB process swapping to hard disk with transfer rate of 50MB/sec</a:t>
            </a:r>
          </a:p>
          <a:p>
            <a:pPr lvl="1"/>
            <a:r>
              <a:rPr lang="en-US" altLang="en-US" sz="2400" smtClean="0"/>
              <a:t>Swap out time of 2s</a:t>
            </a:r>
          </a:p>
          <a:p>
            <a:pPr lvl="1"/>
            <a:r>
              <a:rPr lang="en-US" altLang="en-US" sz="2400" smtClean="0"/>
              <a:t>Plus swap in of same sized process</a:t>
            </a:r>
          </a:p>
          <a:p>
            <a:pPr lvl="1"/>
            <a:r>
              <a:rPr lang="en-US" altLang="en-US" sz="2400" smtClean="0"/>
              <a:t>Total context switch swapping component time of 4 seconds</a:t>
            </a:r>
          </a:p>
        </p:txBody>
      </p:sp>
      <p:sp>
        <p:nvSpPr>
          <p:cNvPr id="2150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A74B9FA-009C-4168-832F-D7553A9FA56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150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15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EEAB22-8F28-4030-89B2-1EF66FEAEF9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8569325" cy="647700"/>
          </a:xfrm>
        </p:spPr>
        <p:txBody>
          <a:bodyPr/>
          <a:lstStyle/>
          <a:p>
            <a:r>
              <a:rPr lang="en-US" altLang="en-US" sz="3600" smtClean="0"/>
              <a:t>Context Switch Time including Swapping</a:t>
            </a:r>
          </a:p>
        </p:txBody>
      </p:sp>
      <p:sp>
        <p:nvSpPr>
          <p:cNvPr id="1945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395288" y="908050"/>
            <a:ext cx="8497887" cy="5761038"/>
          </a:xfrm>
        </p:spPr>
        <p:txBody>
          <a:bodyPr/>
          <a:lstStyle/>
          <a:p>
            <a:r>
              <a:rPr lang="en-US" altLang="en-US" sz="2800" smtClean="0"/>
              <a:t>The major part of the swap time is transfer time, which</a:t>
            </a:r>
          </a:p>
          <a:p>
            <a:pPr lvl="1"/>
            <a:r>
              <a:rPr lang="en-US" altLang="en-US" sz="2400" smtClean="0"/>
              <a:t>can be reduced if the size of memory swapped is contracted – </a:t>
            </a:r>
            <a:r>
              <a:rPr lang="en-US" altLang="en-US" sz="2400" smtClean="0">
                <a:solidFill>
                  <a:srgbClr val="0000FF"/>
                </a:solidFill>
              </a:rPr>
              <a:t>by knowing how much memory really being used</a:t>
            </a:r>
          </a:p>
          <a:p>
            <a:pPr lvl="1"/>
            <a:r>
              <a:rPr lang="en-US" altLang="en-US" sz="2400" smtClean="0"/>
              <a:t>System calls to </a:t>
            </a:r>
            <a:r>
              <a:rPr lang="en-US" altLang="en-US" sz="2400" smtClean="0">
                <a:solidFill>
                  <a:srgbClr val="0000FF"/>
                </a:solidFill>
              </a:rPr>
              <a:t>inform the OS of its changing memory needs</a:t>
            </a:r>
            <a:r>
              <a:rPr lang="en-US" altLang="en-US" sz="2400" smtClean="0"/>
              <a:t> via </a:t>
            </a:r>
            <a:r>
              <a:rPr lang="en-US" alt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request_memory() </a:t>
            </a:r>
            <a:r>
              <a:rPr lang="en-US" altLang="en-US" sz="2400" smtClean="0"/>
              <a:t>and </a:t>
            </a:r>
            <a:r>
              <a:rPr lang="en-US" altLang="en-US" sz="2400" smtClean="0">
                <a:latin typeface="Courier New" panose="02070309020205020404" pitchFamily="49" charset="0"/>
                <a:cs typeface="Courier New" panose="02070309020205020404" pitchFamily="49" charset="0"/>
              </a:rPr>
              <a:t>release_memory()</a:t>
            </a:r>
          </a:p>
          <a:p>
            <a:r>
              <a:rPr lang="en-US" altLang="en-US" smtClean="0"/>
              <a:t>Other constraints: if the I/O is asynchronously accessing the user memory for I/O buffers, then the process cannot be swapped</a:t>
            </a:r>
          </a:p>
        </p:txBody>
      </p:sp>
      <p:sp>
        <p:nvSpPr>
          <p:cNvPr id="2253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106AE7-7015-40F9-81D5-1BE09B924DE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253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253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E2F41A7-E046-4BCE-A75D-00DCF102D6B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250825" y="908050"/>
            <a:ext cx="8713788" cy="5834063"/>
          </a:xfrm>
        </p:spPr>
        <p:txBody>
          <a:bodyPr/>
          <a:lstStyle/>
          <a:p>
            <a:pPr lvl="1"/>
            <a:r>
              <a:rPr lang="en-US" altLang="en-US" smtClean="0"/>
              <a:t>Pending I/O – can’t swap out as I/O would occur to wrong process</a:t>
            </a:r>
          </a:p>
          <a:p>
            <a:pPr lvl="1"/>
            <a:r>
              <a:rPr lang="en-US" altLang="en-US" smtClean="0"/>
              <a:t>Or always transfer I/O to kernel space, then to I/O device</a:t>
            </a:r>
          </a:p>
          <a:p>
            <a:pPr lvl="2"/>
            <a:r>
              <a:rPr lang="en-US" altLang="en-US" smtClean="0"/>
              <a:t>Known as </a:t>
            </a:r>
            <a:r>
              <a:rPr lang="en-US" altLang="en-US" b="1" smtClean="0">
                <a:solidFill>
                  <a:srgbClr val="FF0000"/>
                </a:solidFill>
              </a:rPr>
              <a:t>double buffering</a:t>
            </a:r>
            <a:r>
              <a:rPr lang="en-US" altLang="en-US" smtClean="0"/>
              <a:t>, adds overhead</a:t>
            </a:r>
          </a:p>
          <a:p>
            <a:r>
              <a:rPr lang="en-US" altLang="en-US" sz="2800" smtClean="0"/>
              <a:t>Standard swapping not used in modern operating systems</a:t>
            </a:r>
            <a:endParaRPr lang="en-US" altLang="en-US" smtClean="0"/>
          </a:p>
          <a:p>
            <a:pPr lvl="1"/>
            <a:r>
              <a:rPr lang="en-US" altLang="en-US" smtClean="0"/>
              <a:t>swapping is </a:t>
            </a:r>
            <a:r>
              <a:rPr lang="en-US" altLang="en-US" smtClean="0">
                <a:solidFill>
                  <a:srgbClr val="FF0000"/>
                </a:solidFill>
              </a:rPr>
              <a:t>normally disabled </a:t>
            </a:r>
            <a:r>
              <a:rPr lang="en-US" altLang="en-US" smtClean="0"/>
              <a:t>but will start if the amount of </a:t>
            </a:r>
            <a:r>
              <a:rPr lang="en-US" altLang="en-US" smtClean="0">
                <a:solidFill>
                  <a:srgbClr val="FF0000"/>
                </a:solidFill>
              </a:rPr>
              <a:t>free memory </a:t>
            </a:r>
            <a:r>
              <a:rPr lang="en-US" altLang="en-US" smtClean="0"/>
              <a:t>(unused memory available for the OS or processes to use) </a:t>
            </a:r>
            <a:r>
              <a:rPr lang="en-US" altLang="en-US" smtClean="0">
                <a:solidFill>
                  <a:srgbClr val="FF0000"/>
                </a:solidFill>
              </a:rPr>
              <a:t>falls below a threshold amount</a:t>
            </a:r>
            <a:r>
              <a:rPr lang="en-US" altLang="en-US" smtClean="0"/>
              <a:t>.</a:t>
            </a:r>
          </a:p>
          <a:p>
            <a:r>
              <a:rPr lang="en-US" altLang="en-US" sz="2800" smtClean="0"/>
              <a:t>Another variation:  swapping portions of processes</a:t>
            </a:r>
            <a:endParaRPr lang="en-US" altLang="en-US" smtClean="0"/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8569325" cy="647700"/>
          </a:xfrm>
        </p:spPr>
        <p:txBody>
          <a:bodyPr/>
          <a:lstStyle/>
          <a:p>
            <a:r>
              <a:rPr lang="en-US" altLang="en-US" sz="3600" smtClean="0"/>
              <a:t>Context Switch Time including Swapping</a:t>
            </a:r>
          </a:p>
        </p:txBody>
      </p:sp>
      <p:sp>
        <p:nvSpPr>
          <p:cNvPr id="2355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B5559C0-8868-4817-9996-D2207FDDDBC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355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355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01E3AAD-BEDE-482B-8AC4-BF2CC706998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88950" y="166688"/>
            <a:ext cx="8229600" cy="576262"/>
          </a:xfrm>
        </p:spPr>
        <p:txBody>
          <a:bodyPr/>
          <a:lstStyle/>
          <a:p>
            <a:r>
              <a:rPr lang="en-US" altLang="en-US" smtClean="0"/>
              <a:t>Swapping on Mobile Systems</a:t>
            </a:r>
          </a:p>
        </p:txBody>
      </p:sp>
      <p:sp>
        <p:nvSpPr>
          <p:cNvPr id="21507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79388" y="692150"/>
            <a:ext cx="8856662" cy="5905500"/>
          </a:xfrm>
        </p:spPr>
        <p:txBody>
          <a:bodyPr/>
          <a:lstStyle/>
          <a:p>
            <a:r>
              <a:rPr lang="en-US" altLang="en-US" sz="2800" smtClean="0"/>
              <a:t>Mobile systems typically </a:t>
            </a:r>
            <a:r>
              <a:rPr lang="en-US" altLang="en-US" sz="2800" smtClean="0">
                <a:solidFill>
                  <a:srgbClr val="FF0000"/>
                </a:solidFill>
              </a:rPr>
              <a:t>do not support swapping</a:t>
            </a:r>
          </a:p>
          <a:p>
            <a:pPr lvl="1"/>
            <a:r>
              <a:rPr lang="en-US" altLang="en-US" sz="2400" smtClean="0">
                <a:solidFill>
                  <a:srgbClr val="FF0000"/>
                </a:solidFill>
              </a:rPr>
              <a:t>no hard disk</a:t>
            </a:r>
            <a:r>
              <a:rPr lang="en-US" altLang="en-US" sz="2400" smtClean="0"/>
              <a:t>, only flash memory</a:t>
            </a:r>
          </a:p>
          <a:p>
            <a:pPr lvl="1"/>
            <a:r>
              <a:rPr lang="en-US" altLang="en-US" sz="2400" smtClean="0"/>
              <a:t>small amount of space</a:t>
            </a:r>
          </a:p>
          <a:p>
            <a:pPr lvl="1"/>
            <a:r>
              <a:rPr lang="en-US" altLang="en-US" sz="2400" smtClean="0">
                <a:solidFill>
                  <a:srgbClr val="0000FF"/>
                </a:solidFill>
              </a:rPr>
              <a:t>limited number of writes that flash memory can tolerate</a:t>
            </a:r>
          </a:p>
          <a:p>
            <a:pPr lvl="1"/>
            <a:r>
              <a:rPr lang="en-US" altLang="en-US" sz="2400" smtClean="0">
                <a:solidFill>
                  <a:srgbClr val="FF0000"/>
                </a:solidFill>
              </a:rPr>
              <a:t>poor throughput </a:t>
            </a:r>
            <a:r>
              <a:rPr lang="en-US" altLang="en-US" sz="2400" smtClean="0"/>
              <a:t>between main memory and flash memory</a:t>
            </a:r>
          </a:p>
          <a:p>
            <a:pPr>
              <a:spcBef>
                <a:spcPts val="1800"/>
              </a:spcBef>
            </a:pPr>
            <a:r>
              <a:rPr lang="en-US" altLang="en-US" sz="2800" smtClean="0"/>
              <a:t>When free memory falls below a certain threshold,</a:t>
            </a:r>
          </a:p>
          <a:p>
            <a:pPr lvl="1"/>
            <a:r>
              <a:rPr lang="en-US" altLang="en-US" sz="2400" smtClean="0"/>
              <a:t>iOS </a:t>
            </a:r>
            <a:r>
              <a:rPr lang="en-US" altLang="en-US" sz="2400" b="1" i="1" smtClean="0"/>
              <a:t>asks</a:t>
            </a:r>
            <a:r>
              <a:rPr lang="en-US" altLang="en-US" sz="2400" smtClean="0"/>
              <a:t> apps to </a:t>
            </a:r>
            <a:r>
              <a:rPr lang="en-US" altLang="en-US" sz="2400" smtClean="0">
                <a:solidFill>
                  <a:srgbClr val="FF0000"/>
                </a:solidFill>
              </a:rPr>
              <a:t>voluntarily relinquish allocated memory</a:t>
            </a:r>
          </a:p>
          <a:p>
            <a:pPr lvl="1"/>
            <a:r>
              <a:rPr lang="en-US" altLang="en-US" sz="2400" smtClean="0">
                <a:solidFill>
                  <a:srgbClr val="0000FF"/>
                </a:solidFill>
              </a:rPr>
              <a:t>Read-only data (codes) thrown out and reloaded from flash if needed; Data that have been modified are never removed</a:t>
            </a:r>
          </a:p>
          <a:p>
            <a:pPr lvl="1"/>
            <a:r>
              <a:rPr lang="en-US" altLang="en-US" sz="2400" smtClean="0"/>
              <a:t>Any applications that fail to free up sufficient </a:t>
            </a:r>
            <a:r>
              <a:rPr lang="en-US" altLang="en-US" sz="2400" smtClean="0">
                <a:solidFill>
                  <a:srgbClr val="FF0000"/>
                </a:solidFill>
              </a:rPr>
              <a:t>memory may be terminated</a:t>
            </a:r>
            <a:endParaRPr lang="en-US" altLang="en-US" smtClean="0">
              <a:solidFill>
                <a:srgbClr val="FF0000"/>
              </a:solidFill>
            </a:endParaRPr>
          </a:p>
        </p:txBody>
      </p:sp>
      <p:sp>
        <p:nvSpPr>
          <p:cNvPr id="2458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99300C9-668A-48B8-87AB-F5B880C19776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458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458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6BBDD1-63FF-4BAD-A1ED-FB9D59D176D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88950" y="166688"/>
            <a:ext cx="8229600" cy="576262"/>
          </a:xfrm>
        </p:spPr>
        <p:txBody>
          <a:bodyPr/>
          <a:lstStyle/>
          <a:p>
            <a:r>
              <a:rPr lang="en-US" altLang="en-US" smtClean="0"/>
              <a:t>Swapping on Mobile Systems</a:t>
            </a:r>
          </a:p>
        </p:txBody>
      </p:sp>
      <p:sp>
        <p:nvSpPr>
          <p:cNvPr id="21507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79388" y="836613"/>
            <a:ext cx="8856662" cy="5761037"/>
          </a:xfrm>
        </p:spPr>
        <p:txBody>
          <a:bodyPr/>
          <a:lstStyle/>
          <a:p>
            <a:r>
              <a:rPr lang="en-US" altLang="en-US" smtClean="0"/>
              <a:t>Android does not support swapping and adopts a strategy similar to that </a:t>
            </a:r>
            <a:r>
              <a:rPr lang="en-US" altLang="en-US" sz="2800" smtClean="0"/>
              <a:t>used by iOS.</a:t>
            </a:r>
            <a:r>
              <a:rPr lang="en-US" altLang="en-US" sz="2400" smtClean="0"/>
              <a:t> </a:t>
            </a:r>
          </a:p>
          <a:p>
            <a:pPr lvl="1"/>
            <a:r>
              <a:rPr lang="en-US" altLang="en-US" sz="2400" smtClean="0"/>
              <a:t>It may terminate a process if insufficient free memory is available.</a:t>
            </a:r>
          </a:p>
          <a:p>
            <a:pPr lvl="1"/>
            <a:r>
              <a:rPr lang="en-US" altLang="en-US" sz="2400" smtClean="0"/>
              <a:t>However, before terminating a process, Android writes its </a:t>
            </a:r>
            <a:r>
              <a:rPr lang="en-US" altLang="en-US" sz="2400" smtClean="0">
                <a:solidFill>
                  <a:srgbClr val="FF0000"/>
                </a:solidFill>
              </a:rPr>
              <a:t>application state </a:t>
            </a:r>
            <a:r>
              <a:rPr lang="en-US" altLang="en-US" sz="2400" smtClean="0"/>
              <a:t>to flash memory so that it can be quickly restarted.</a:t>
            </a:r>
          </a:p>
          <a:p>
            <a:pPr lvl="1"/>
            <a:r>
              <a:rPr lang="en-US" altLang="en-US" sz="2400" smtClean="0"/>
              <a:t>Because of these restrictions, </a:t>
            </a:r>
            <a:r>
              <a:rPr lang="en-US" altLang="en-US" sz="2400" smtClean="0">
                <a:solidFill>
                  <a:srgbClr val="0000FF"/>
                </a:solidFill>
              </a:rPr>
              <a:t>developers</a:t>
            </a:r>
            <a:r>
              <a:rPr lang="en-US" altLang="en-US" sz="2400" smtClean="0"/>
              <a:t> for mobile systems must carefully allocate and release memory to ensure that their applications do not use too much memory or suffer from memory leaks.</a:t>
            </a:r>
          </a:p>
          <a:p>
            <a:pPr lvl="1"/>
            <a:r>
              <a:rPr lang="en-US" altLang="en-US" sz="2400" smtClean="0"/>
              <a:t>Note that both iOS and Android </a:t>
            </a:r>
            <a:r>
              <a:rPr lang="en-US" altLang="en-US" sz="2400" smtClean="0">
                <a:solidFill>
                  <a:srgbClr val="FF0000"/>
                </a:solidFill>
              </a:rPr>
              <a:t>support paging</a:t>
            </a:r>
            <a:r>
              <a:rPr lang="en-US" altLang="en-US" sz="2400" smtClean="0"/>
              <a:t>, so they do have memory-management abilities.</a:t>
            </a:r>
          </a:p>
        </p:txBody>
      </p:sp>
      <p:sp>
        <p:nvSpPr>
          <p:cNvPr id="25604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D34A9F4-A40D-4D47-9993-EEB8738505E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5605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560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EF2B50-D501-45AE-8316-779D0DEC89F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3B1CF0C-5C6E-4E2E-89BD-C739783E166B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06449B-5880-48FF-B737-ADE6925D59A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01000" cy="609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000" smtClean="0"/>
              <a:t>Contiguous Memory Allocation (1)</a:t>
            </a:r>
          </a:p>
        </p:txBody>
      </p:sp>
      <p:sp>
        <p:nvSpPr>
          <p:cNvPr id="11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486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relocation register  +  limit register</a:t>
            </a:r>
          </a:p>
          <a:p>
            <a:pPr eaLnBrk="1" hangingPunct="1">
              <a:defRPr/>
            </a:pPr>
            <a:r>
              <a:rPr lang="en-US" altLang="zh-TW" smtClean="0"/>
              <a:t>MMU:</a:t>
            </a:r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defRPr/>
            </a:pPr>
            <a:endParaRPr lang="en-US" altLang="zh-TW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smtClean="0"/>
          </a:p>
        </p:txBody>
      </p:sp>
      <p:grpSp>
        <p:nvGrpSpPr>
          <p:cNvPr id="26631" name="Group 39"/>
          <p:cNvGrpSpPr>
            <a:grpSpLocks/>
          </p:cNvGrpSpPr>
          <p:nvPr/>
        </p:nvGrpSpPr>
        <p:grpSpPr bwMode="auto">
          <a:xfrm>
            <a:off x="247650" y="1828800"/>
            <a:ext cx="8967788" cy="3541713"/>
            <a:chOff x="156" y="1300"/>
            <a:chExt cx="5649" cy="2084"/>
          </a:xfrm>
        </p:grpSpPr>
        <p:sp>
          <p:nvSpPr>
            <p:cNvPr id="26632" name="Rectangle 4"/>
            <p:cNvSpPr>
              <a:spLocks noChangeArrowheads="1"/>
            </p:cNvSpPr>
            <p:nvPr/>
          </p:nvSpPr>
          <p:spPr bwMode="auto">
            <a:xfrm>
              <a:off x="4125" y="3170"/>
              <a:ext cx="758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memory</a:t>
              </a:r>
            </a:p>
          </p:txBody>
        </p:sp>
        <p:sp>
          <p:nvSpPr>
            <p:cNvPr id="26633" name="Rectangle 5"/>
            <p:cNvSpPr>
              <a:spLocks noChangeArrowheads="1"/>
            </p:cNvSpPr>
            <p:nvPr/>
          </p:nvSpPr>
          <p:spPr bwMode="auto">
            <a:xfrm>
              <a:off x="2429" y="1411"/>
              <a:ext cx="813" cy="4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6634" name="Rectangle 6"/>
            <p:cNvSpPr>
              <a:spLocks noChangeArrowheads="1"/>
            </p:cNvSpPr>
            <p:nvPr/>
          </p:nvSpPr>
          <p:spPr bwMode="auto">
            <a:xfrm>
              <a:off x="2377" y="1452"/>
              <a:ext cx="922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relocation</a:t>
              </a:r>
            </a:p>
          </p:txBody>
        </p:sp>
        <p:sp>
          <p:nvSpPr>
            <p:cNvPr id="26635" name="Rectangle 7"/>
            <p:cNvSpPr>
              <a:spLocks noChangeArrowheads="1"/>
            </p:cNvSpPr>
            <p:nvPr/>
          </p:nvSpPr>
          <p:spPr bwMode="auto">
            <a:xfrm>
              <a:off x="2548" y="1609"/>
              <a:ext cx="664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register</a:t>
              </a:r>
            </a:p>
          </p:txBody>
        </p:sp>
        <p:sp>
          <p:nvSpPr>
            <p:cNvPr id="26636" name="Oval 8"/>
            <p:cNvSpPr>
              <a:spLocks noChangeArrowheads="1"/>
            </p:cNvSpPr>
            <p:nvPr/>
          </p:nvSpPr>
          <p:spPr bwMode="auto">
            <a:xfrm>
              <a:off x="2636" y="2213"/>
              <a:ext cx="325" cy="27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6637" name="Line 9"/>
            <p:cNvSpPr>
              <a:spLocks noChangeShapeType="1"/>
            </p:cNvSpPr>
            <p:nvPr/>
          </p:nvSpPr>
          <p:spPr bwMode="auto">
            <a:xfrm>
              <a:off x="2726" y="2344"/>
              <a:ext cx="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38" name="Line 10"/>
            <p:cNvSpPr>
              <a:spLocks noChangeShapeType="1"/>
            </p:cNvSpPr>
            <p:nvPr/>
          </p:nvSpPr>
          <p:spPr bwMode="auto">
            <a:xfrm>
              <a:off x="2803" y="2294"/>
              <a:ext cx="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39" name="Rectangle 11"/>
            <p:cNvSpPr>
              <a:spLocks noChangeArrowheads="1"/>
            </p:cNvSpPr>
            <p:nvPr/>
          </p:nvSpPr>
          <p:spPr bwMode="auto">
            <a:xfrm>
              <a:off x="3947" y="1302"/>
              <a:ext cx="998" cy="1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6640" name="Rectangle 12"/>
            <p:cNvSpPr>
              <a:spLocks noChangeArrowheads="1"/>
            </p:cNvSpPr>
            <p:nvPr/>
          </p:nvSpPr>
          <p:spPr bwMode="auto">
            <a:xfrm>
              <a:off x="179" y="2168"/>
              <a:ext cx="443" cy="4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6641" name="Rectangle 13"/>
            <p:cNvSpPr>
              <a:spLocks noChangeArrowheads="1"/>
            </p:cNvSpPr>
            <p:nvPr/>
          </p:nvSpPr>
          <p:spPr bwMode="auto">
            <a:xfrm>
              <a:off x="156" y="2275"/>
              <a:ext cx="492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CPU</a:t>
              </a:r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579" y="2362"/>
              <a:ext cx="9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43" name="Line 15"/>
            <p:cNvSpPr>
              <a:spLocks noChangeShapeType="1"/>
            </p:cNvSpPr>
            <p:nvPr/>
          </p:nvSpPr>
          <p:spPr bwMode="auto">
            <a:xfrm>
              <a:off x="2973" y="2353"/>
              <a:ext cx="9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44" name="Rectangle 16"/>
            <p:cNvSpPr>
              <a:spLocks noChangeArrowheads="1"/>
            </p:cNvSpPr>
            <p:nvPr/>
          </p:nvSpPr>
          <p:spPr bwMode="auto">
            <a:xfrm>
              <a:off x="640" y="2149"/>
              <a:ext cx="674" cy="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logical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address</a:t>
              </a:r>
            </a:p>
          </p:txBody>
        </p:sp>
        <p:sp>
          <p:nvSpPr>
            <p:cNvPr id="26645" name="Rectangle 17"/>
            <p:cNvSpPr>
              <a:spLocks noChangeArrowheads="1"/>
            </p:cNvSpPr>
            <p:nvPr/>
          </p:nvSpPr>
          <p:spPr bwMode="auto">
            <a:xfrm>
              <a:off x="3065" y="2126"/>
              <a:ext cx="727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physical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address</a:t>
              </a:r>
            </a:p>
          </p:txBody>
        </p:sp>
        <p:sp>
          <p:nvSpPr>
            <p:cNvPr id="26646" name="Line 18"/>
            <p:cNvSpPr>
              <a:spLocks noChangeShapeType="1"/>
            </p:cNvSpPr>
            <p:nvPr/>
          </p:nvSpPr>
          <p:spPr bwMode="auto">
            <a:xfrm>
              <a:off x="2803" y="1812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47" name="AutoShape 19"/>
            <p:cNvSpPr>
              <a:spLocks noChangeArrowheads="1"/>
            </p:cNvSpPr>
            <p:nvPr/>
          </p:nvSpPr>
          <p:spPr bwMode="auto">
            <a:xfrm>
              <a:off x="1493" y="2177"/>
              <a:ext cx="451" cy="361"/>
            </a:xfrm>
            <a:prstGeom prst="diamond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6648" name="Line 20"/>
            <p:cNvSpPr>
              <a:spLocks noChangeShapeType="1"/>
            </p:cNvSpPr>
            <p:nvPr/>
          </p:nvSpPr>
          <p:spPr bwMode="auto">
            <a:xfrm>
              <a:off x="1947" y="2362"/>
              <a:ext cx="6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49" name="Rectangle 21"/>
            <p:cNvSpPr>
              <a:spLocks noChangeArrowheads="1"/>
            </p:cNvSpPr>
            <p:nvPr/>
          </p:nvSpPr>
          <p:spPr bwMode="auto">
            <a:xfrm>
              <a:off x="1585" y="2266"/>
              <a:ext cx="251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&lt;</a:t>
              </a:r>
            </a:p>
          </p:txBody>
        </p:sp>
        <p:sp>
          <p:nvSpPr>
            <p:cNvPr id="26650" name="Rectangle 22"/>
            <p:cNvSpPr>
              <a:spLocks noChangeArrowheads="1"/>
            </p:cNvSpPr>
            <p:nvPr/>
          </p:nvSpPr>
          <p:spPr bwMode="auto">
            <a:xfrm>
              <a:off x="1346" y="1400"/>
              <a:ext cx="813" cy="43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grpSp>
          <p:nvGrpSpPr>
            <p:cNvPr id="26651" name="Group 23"/>
            <p:cNvGrpSpPr>
              <a:grpSpLocks/>
            </p:cNvGrpSpPr>
            <p:nvPr/>
          </p:nvGrpSpPr>
          <p:grpSpPr bwMode="auto">
            <a:xfrm>
              <a:off x="1294" y="1422"/>
              <a:ext cx="835" cy="371"/>
              <a:chOff x="1294" y="1644"/>
              <a:chExt cx="835" cy="371"/>
            </a:xfrm>
          </p:grpSpPr>
          <p:sp>
            <p:nvSpPr>
              <p:cNvPr id="26665" name="Rectangle 24"/>
              <p:cNvSpPr>
                <a:spLocks noChangeArrowheads="1"/>
              </p:cNvSpPr>
              <p:nvPr/>
            </p:nvSpPr>
            <p:spPr bwMode="auto">
              <a:xfrm>
                <a:off x="1294" y="1644"/>
                <a:ext cx="708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      limit</a:t>
                </a:r>
              </a:p>
            </p:txBody>
          </p:sp>
          <p:sp>
            <p:nvSpPr>
              <p:cNvPr id="26666" name="Rectangle 25"/>
              <p:cNvSpPr>
                <a:spLocks noChangeArrowheads="1"/>
              </p:cNvSpPr>
              <p:nvPr/>
            </p:nvSpPr>
            <p:spPr bwMode="auto">
              <a:xfrm>
                <a:off x="1465" y="1801"/>
                <a:ext cx="664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register</a:t>
                </a:r>
              </a:p>
            </p:txBody>
          </p:sp>
        </p:grpSp>
        <p:sp>
          <p:nvSpPr>
            <p:cNvPr id="26652" name="Line 26"/>
            <p:cNvSpPr>
              <a:spLocks noChangeShapeType="1"/>
            </p:cNvSpPr>
            <p:nvPr/>
          </p:nvSpPr>
          <p:spPr bwMode="auto">
            <a:xfrm>
              <a:off x="1720" y="1782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53" name="Line 27"/>
            <p:cNvSpPr>
              <a:spLocks noChangeShapeType="1"/>
            </p:cNvSpPr>
            <p:nvPr/>
          </p:nvSpPr>
          <p:spPr bwMode="auto">
            <a:xfrm>
              <a:off x="1726" y="2562"/>
              <a:ext cx="0" cy="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26654" name="Rectangle 28"/>
            <p:cNvSpPr>
              <a:spLocks noChangeArrowheads="1"/>
            </p:cNvSpPr>
            <p:nvPr/>
          </p:nvSpPr>
          <p:spPr bwMode="auto">
            <a:xfrm>
              <a:off x="1927" y="2085"/>
              <a:ext cx="354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yes</a:t>
              </a:r>
            </a:p>
          </p:txBody>
        </p:sp>
        <p:sp>
          <p:nvSpPr>
            <p:cNvPr id="26655" name="Rectangle 29"/>
            <p:cNvSpPr>
              <a:spLocks noChangeArrowheads="1"/>
            </p:cNvSpPr>
            <p:nvPr/>
          </p:nvSpPr>
          <p:spPr bwMode="auto">
            <a:xfrm>
              <a:off x="1717" y="2496"/>
              <a:ext cx="301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no</a:t>
              </a:r>
            </a:p>
          </p:txBody>
        </p:sp>
        <p:sp>
          <p:nvSpPr>
            <p:cNvPr id="26656" name="Rectangle 30"/>
            <p:cNvSpPr>
              <a:spLocks noChangeArrowheads="1"/>
            </p:cNvSpPr>
            <p:nvPr/>
          </p:nvSpPr>
          <p:spPr bwMode="auto">
            <a:xfrm>
              <a:off x="1314" y="2993"/>
              <a:ext cx="1442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trap; address error</a:t>
              </a:r>
            </a:p>
          </p:txBody>
        </p:sp>
        <p:sp>
          <p:nvSpPr>
            <p:cNvPr id="26657" name="Rectangle 31"/>
            <p:cNvSpPr>
              <a:spLocks noChangeArrowheads="1"/>
            </p:cNvSpPr>
            <p:nvPr/>
          </p:nvSpPr>
          <p:spPr bwMode="auto">
            <a:xfrm>
              <a:off x="3945" y="1300"/>
              <a:ext cx="1011" cy="56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OS</a:t>
              </a:r>
            </a:p>
          </p:txBody>
        </p:sp>
        <p:sp>
          <p:nvSpPr>
            <p:cNvPr id="26658" name="Rectangle 32"/>
            <p:cNvSpPr>
              <a:spLocks noChangeArrowheads="1"/>
            </p:cNvSpPr>
            <p:nvPr/>
          </p:nvSpPr>
          <p:spPr bwMode="auto">
            <a:xfrm>
              <a:off x="3945" y="1867"/>
              <a:ext cx="989" cy="866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grpSp>
          <p:nvGrpSpPr>
            <p:cNvPr id="26659" name="Group 33"/>
            <p:cNvGrpSpPr>
              <a:grpSpLocks/>
            </p:cNvGrpSpPr>
            <p:nvPr/>
          </p:nvGrpSpPr>
          <p:grpSpPr bwMode="auto">
            <a:xfrm>
              <a:off x="4883" y="1693"/>
              <a:ext cx="922" cy="371"/>
              <a:chOff x="2473" y="1770"/>
              <a:chExt cx="922" cy="371"/>
            </a:xfrm>
          </p:grpSpPr>
          <p:sp>
            <p:nvSpPr>
              <p:cNvPr id="26663" name="Rectangle 34"/>
              <p:cNvSpPr>
                <a:spLocks noChangeArrowheads="1"/>
              </p:cNvSpPr>
              <p:nvPr/>
            </p:nvSpPr>
            <p:spPr bwMode="auto">
              <a:xfrm>
                <a:off x="2473" y="1770"/>
                <a:ext cx="922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  relocation</a:t>
                </a:r>
              </a:p>
            </p:txBody>
          </p:sp>
          <p:sp>
            <p:nvSpPr>
              <p:cNvPr id="26664" name="Rectangle 35"/>
              <p:cNvSpPr>
                <a:spLocks noChangeArrowheads="1"/>
              </p:cNvSpPr>
              <p:nvPr/>
            </p:nvSpPr>
            <p:spPr bwMode="auto">
              <a:xfrm>
                <a:off x="2644" y="1927"/>
                <a:ext cx="664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register</a:t>
                </a:r>
              </a:p>
            </p:txBody>
          </p:sp>
        </p:grpSp>
        <p:grpSp>
          <p:nvGrpSpPr>
            <p:cNvPr id="26660" name="Group 36"/>
            <p:cNvGrpSpPr>
              <a:grpSpLocks/>
            </p:cNvGrpSpPr>
            <p:nvPr/>
          </p:nvGrpSpPr>
          <p:grpSpPr bwMode="auto">
            <a:xfrm>
              <a:off x="4796" y="2507"/>
              <a:ext cx="835" cy="371"/>
              <a:chOff x="1294" y="1644"/>
              <a:chExt cx="835" cy="371"/>
            </a:xfrm>
          </p:grpSpPr>
          <p:sp>
            <p:nvSpPr>
              <p:cNvPr id="26661" name="Rectangle 37"/>
              <p:cNvSpPr>
                <a:spLocks noChangeArrowheads="1"/>
              </p:cNvSpPr>
              <p:nvPr/>
            </p:nvSpPr>
            <p:spPr bwMode="auto">
              <a:xfrm>
                <a:off x="1294" y="1644"/>
                <a:ext cx="708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      limit</a:t>
                </a:r>
              </a:p>
            </p:txBody>
          </p:sp>
          <p:sp>
            <p:nvSpPr>
              <p:cNvPr id="26662" name="Rectangle 38"/>
              <p:cNvSpPr>
                <a:spLocks noChangeArrowheads="1"/>
              </p:cNvSpPr>
              <p:nvPr/>
            </p:nvSpPr>
            <p:spPr bwMode="auto">
              <a:xfrm>
                <a:off x="1465" y="1801"/>
                <a:ext cx="664" cy="2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register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E864F2-5BAB-44C6-80FB-5990D8A2566D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F7EF34-F00C-42F3-B5BA-B9CCDD68EE6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Contiguous Allocation (2)</a:t>
            </a:r>
          </a:p>
        </p:txBody>
      </p:sp>
      <p:sp>
        <p:nvSpPr>
          <p:cNvPr id="276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8135937" cy="295275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solidFill>
                  <a:srgbClr val="0000FF"/>
                </a:solidFill>
              </a:rPr>
              <a:t>Multiple-partition allocation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000" b="1" smtClean="0">
                <a:solidFill>
                  <a:srgbClr val="FF0000"/>
                </a:solidFill>
              </a:rPr>
              <a:t>Hole</a:t>
            </a:r>
            <a:r>
              <a:rPr lang="en-US" altLang="zh-TW" sz="2000" smtClean="0"/>
              <a:t> </a:t>
            </a:r>
            <a:r>
              <a:rPr lang="en-US" altLang="zh-TW" sz="2000" smtClean="0">
                <a:latin typeface="Helvetica" panose="020B0604020202020204" pitchFamily="34" charset="0"/>
              </a:rPr>
              <a:t>–</a:t>
            </a:r>
            <a:r>
              <a:rPr lang="en-US" altLang="zh-TW" sz="2000" smtClean="0"/>
              <a:t> block of available memory; holes of various size are scattered throughout memory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000" smtClean="0"/>
              <a:t>When a process arrives, it is allocated memory from a hole large enough to accommodate it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000" smtClean="0"/>
              <a:t>Operating system maintains information about:</a:t>
            </a:r>
            <a:br>
              <a:rPr lang="en-US" altLang="zh-TW" sz="2000" smtClean="0"/>
            </a:br>
            <a:r>
              <a:rPr lang="en-US" altLang="zh-TW" sz="2000" smtClean="0"/>
              <a:t>a) </a:t>
            </a:r>
            <a:r>
              <a:rPr lang="en-US" altLang="zh-TW" sz="2000" smtClean="0">
                <a:solidFill>
                  <a:srgbClr val="FF0000"/>
                </a:solidFill>
              </a:rPr>
              <a:t>allocated partitions</a:t>
            </a:r>
            <a:r>
              <a:rPr lang="en-US" altLang="zh-TW" sz="2000" smtClean="0"/>
              <a:t>    b) </a:t>
            </a:r>
            <a:r>
              <a:rPr lang="en-US" altLang="zh-TW" sz="2000" smtClean="0">
                <a:solidFill>
                  <a:srgbClr val="FF0000"/>
                </a:solidFill>
              </a:rPr>
              <a:t>free partitions (hole)</a:t>
            </a:r>
          </a:p>
        </p:txBody>
      </p:sp>
      <p:sp>
        <p:nvSpPr>
          <p:cNvPr id="27655" name="Rectangle 4"/>
          <p:cNvSpPr>
            <a:spLocks noChangeArrowheads="1"/>
          </p:cNvSpPr>
          <p:nvPr/>
        </p:nvSpPr>
        <p:spPr bwMode="auto">
          <a:xfrm>
            <a:off x="11049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56" name="Line 5"/>
          <p:cNvSpPr>
            <a:spLocks noChangeShapeType="1"/>
          </p:cNvSpPr>
          <p:nvPr/>
        </p:nvSpPr>
        <p:spPr bwMode="auto">
          <a:xfrm>
            <a:off x="11049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57" name="Line 6"/>
          <p:cNvSpPr>
            <a:spLocks noChangeShapeType="1"/>
          </p:cNvSpPr>
          <p:nvPr/>
        </p:nvSpPr>
        <p:spPr bwMode="auto">
          <a:xfrm>
            <a:off x="11049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58" name="Line 7"/>
          <p:cNvSpPr>
            <a:spLocks noChangeShapeType="1"/>
          </p:cNvSpPr>
          <p:nvPr/>
        </p:nvSpPr>
        <p:spPr bwMode="auto">
          <a:xfrm>
            <a:off x="11049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59" name="Text Box 8"/>
          <p:cNvSpPr txBox="1">
            <a:spLocks noChangeArrowheads="1"/>
          </p:cNvSpPr>
          <p:nvPr/>
        </p:nvSpPr>
        <p:spPr bwMode="auto">
          <a:xfrm>
            <a:off x="14097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27660" name="Text Box 9"/>
          <p:cNvSpPr txBox="1">
            <a:spLocks noChangeArrowheads="1"/>
          </p:cNvSpPr>
          <p:nvPr/>
        </p:nvSpPr>
        <p:spPr bwMode="auto">
          <a:xfrm>
            <a:off x="11049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27661" name="Text Box 10"/>
          <p:cNvSpPr txBox="1">
            <a:spLocks noChangeArrowheads="1"/>
          </p:cNvSpPr>
          <p:nvPr/>
        </p:nvSpPr>
        <p:spPr bwMode="auto">
          <a:xfrm>
            <a:off x="1104900" y="51943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8</a:t>
            </a:r>
          </a:p>
        </p:txBody>
      </p:sp>
      <p:sp>
        <p:nvSpPr>
          <p:cNvPr id="27662" name="Text Box 11"/>
          <p:cNvSpPr txBox="1">
            <a:spLocks noChangeArrowheads="1"/>
          </p:cNvSpPr>
          <p:nvPr/>
        </p:nvSpPr>
        <p:spPr bwMode="auto">
          <a:xfrm>
            <a:off x="11049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27663" name="Rectangle 12"/>
          <p:cNvSpPr>
            <a:spLocks noChangeArrowheads="1"/>
          </p:cNvSpPr>
          <p:nvPr/>
        </p:nvSpPr>
        <p:spPr bwMode="auto">
          <a:xfrm>
            <a:off x="29337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64" name="Line 13"/>
          <p:cNvSpPr>
            <a:spLocks noChangeShapeType="1"/>
          </p:cNvSpPr>
          <p:nvPr/>
        </p:nvSpPr>
        <p:spPr bwMode="auto">
          <a:xfrm>
            <a:off x="29337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65" name="Line 14"/>
          <p:cNvSpPr>
            <a:spLocks noChangeShapeType="1"/>
          </p:cNvSpPr>
          <p:nvPr/>
        </p:nvSpPr>
        <p:spPr bwMode="auto">
          <a:xfrm>
            <a:off x="29337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66" name="Line 15"/>
          <p:cNvSpPr>
            <a:spLocks noChangeShapeType="1"/>
          </p:cNvSpPr>
          <p:nvPr/>
        </p:nvSpPr>
        <p:spPr bwMode="auto">
          <a:xfrm>
            <a:off x="29337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67" name="Text Box 16"/>
          <p:cNvSpPr txBox="1">
            <a:spLocks noChangeArrowheads="1"/>
          </p:cNvSpPr>
          <p:nvPr/>
        </p:nvSpPr>
        <p:spPr bwMode="auto">
          <a:xfrm>
            <a:off x="32385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27668" name="Text Box 17"/>
          <p:cNvSpPr txBox="1">
            <a:spLocks noChangeArrowheads="1"/>
          </p:cNvSpPr>
          <p:nvPr/>
        </p:nvSpPr>
        <p:spPr bwMode="auto">
          <a:xfrm>
            <a:off x="29337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27669" name="Text Box 18"/>
          <p:cNvSpPr txBox="1">
            <a:spLocks noChangeArrowheads="1"/>
          </p:cNvSpPr>
          <p:nvPr/>
        </p:nvSpPr>
        <p:spPr bwMode="auto">
          <a:xfrm>
            <a:off x="29337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27670" name="Rectangle 19"/>
          <p:cNvSpPr>
            <a:spLocks noChangeArrowheads="1"/>
          </p:cNvSpPr>
          <p:nvPr/>
        </p:nvSpPr>
        <p:spPr bwMode="auto">
          <a:xfrm>
            <a:off x="47625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71" name="Line 20"/>
          <p:cNvSpPr>
            <a:spLocks noChangeShapeType="1"/>
          </p:cNvSpPr>
          <p:nvPr/>
        </p:nvSpPr>
        <p:spPr bwMode="auto">
          <a:xfrm>
            <a:off x="47625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72" name="Line 21"/>
          <p:cNvSpPr>
            <a:spLocks noChangeShapeType="1"/>
          </p:cNvSpPr>
          <p:nvPr/>
        </p:nvSpPr>
        <p:spPr bwMode="auto">
          <a:xfrm>
            <a:off x="47625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73" name="Line 22"/>
          <p:cNvSpPr>
            <a:spLocks noChangeShapeType="1"/>
          </p:cNvSpPr>
          <p:nvPr/>
        </p:nvSpPr>
        <p:spPr bwMode="auto">
          <a:xfrm>
            <a:off x="47625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74" name="Text Box 23"/>
          <p:cNvSpPr txBox="1">
            <a:spLocks noChangeArrowheads="1"/>
          </p:cNvSpPr>
          <p:nvPr/>
        </p:nvSpPr>
        <p:spPr bwMode="auto">
          <a:xfrm>
            <a:off x="50673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27675" name="Text Box 24"/>
          <p:cNvSpPr txBox="1">
            <a:spLocks noChangeArrowheads="1"/>
          </p:cNvSpPr>
          <p:nvPr/>
        </p:nvSpPr>
        <p:spPr bwMode="auto">
          <a:xfrm>
            <a:off x="47625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27676" name="Text Box 25"/>
          <p:cNvSpPr txBox="1">
            <a:spLocks noChangeArrowheads="1"/>
          </p:cNvSpPr>
          <p:nvPr/>
        </p:nvSpPr>
        <p:spPr bwMode="auto">
          <a:xfrm>
            <a:off x="47625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27677" name="Rectangle 26"/>
          <p:cNvSpPr>
            <a:spLocks noChangeArrowheads="1"/>
          </p:cNvSpPr>
          <p:nvPr/>
        </p:nvSpPr>
        <p:spPr bwMode="auto">
          <a:xfrm>
            <a:off x="6591300" y="4067175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78" name="Line 27"/>
          <p:cNvSpPr>
            <a:spLocks noChangeShapeType="1"/>
          </p:cNvSpPr>
          <p:nvPr/>
        </p:nvSpPr>
        <p:spPr bwMode="auto">
          <a:xfrm>
            <a:off x="6591300" y="44307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79" name="Line 28"/>
          <p:cNvSpPr>
            <a:spLocks noChangeShapeType="1"/>
          </p:cNvSpPr>
          <p:nvPr/>
        </p:nvSpPr>
        <p:spPr bwMode="auto">
          <a:xfrm>
            <a:off x="6591300" y="4841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80" name="Line 29"/>
          <p:cNvSpPr>
            <a:spLocks noChangeShapeType="1"/>
          </p:cNvSpPr>
          <p:nvPr/>
        </p:nvSpPr>
        <p:spPr bwMode="auto">
          <a:xfrm>
            <a:off x="6591300" y="57737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81" name="Text Box 30"/>
          <p:cNvSpPr txBox="1">
            <a:spLocks noChangeArrowheads="1"/>
          </p:cNvSpPr>
          <p:nvPr/>
        </p:nvSpPr>
        <p:spPr bwMode="auto">
          <a:xfrm>
            <a:off x="6896100" y="4067175"/>
            <a:ext cx="44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OS</a:t>
            </a:r>
          </a:p>
        </p:txBody>
      </p:sp>
      <p:sp>
        <p:nvSpPr>
          <p:cNvPr id="27682" name="Text Box 31"/>
          <p:cNvSpPr txBox="1">
            <a:spLocks noChangeArrowheads="1"/>
          </p:cNvSpPr>
          <p:nvPr/>
        </p:nvSpPr>
        <p:spPr bwMode="auto">
          <a:xfrm>
            <a:off x="6591300" y="45116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5</a:t>
            </a:r>
          </a:p>
        </p:txBody>
      </p:sp>
      <p:sp>
        <p:nvSpPr>
          <p:cNvPr id="27683" name="Text Box 32"/>
          <p:cNvSpPr txBox="1">
            <a:spLocks noChangeArrowheads="1"/>
          </p:cNvSpPr>
          <p:nvPr/>
        </p:nvSpPr>
        <p:spPr bwMode="auto">
          <a:xfrm>
            <a:off x="65913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9</a:t>
            </a:r>
          </a:p>
        </p:txBody>
      </p:sp>
      <p:sp>
        <p:nvSpPr>
          <p:cNvPr id="27684" name="Text Box 33"/>
          <p:cNvSpPr txBox="1">
            <a:spLocks noChangeArrowheads="1"/>
          </p:cNvSpPr>
          <p:nvPr/>
        </p:nvSpPr>
        <p:spPr bwMode="auto">
          <a:xfrm>
            <a:off x="6591300" y="5791200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2</a:t>
            </a:r>
          </a:p>
        </p:txBody>
      </p:sp>
      <p:sp>
        <p:nvSpPr>
          <p:cNvPr id="27685" name="Rectangle 34"/>
          <p:cNvSpPr>
            <a:spLocks noChangeArrowheads="1"/>
          </p:cNvSpPr>
          <p:nvPr/>
        </p:nvSpPr>
        <p:spPr bwMode="auto">
          <a:xfrm>
            <a:off x="2933700" y="4829175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86" name="Rectangle 35"/>
          <p:cNvSpPr>
            <a:spLocks noChangeArrowheads="1"/>
          </p:cNvSpPr>
          <p:nvPr/>
        </p:nvSpPr>
        <p:spPr bwMode="auto">
          <a:xfrm>
            <a:off x="4762500" y="5210175"/>
            <a:ext cx="1143000" cy="609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87" name="Text Box 36"/>
          <p:cNvSpPr txBox="1">
            <a:spLocks noChangeArrowheads="1"/>
          </p:cNvSpPr>
          <p:nvPr/>
        </p:nvSpPr>
        <p:spPr bwMode="auto">
          <a:xfrm>
            <a:off x="4762500" y="4829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9</a:t>
            </a:r>
          </a:p>
        </p:txBody>
      </p:sp>
      <p:sp>
        <p:nvSpPr>
          <p:cNvPr id="27688" name="Rectangle 37"/>
          <p:cNvSpPr>
            <a:spLocks noChangeArrowheads="1"/>
          </p:cNvSpPr>
          <p:nvPr/>
        </p:nvSpPr>
        <p:spPr bwMode="auto">
          <a:xfrm>
            <a:off x="6591300" y="5514975"/>
            <a:ext cx="11430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89" name="Line 38"/>
          <p:cNvSpPr>
            <a:spLocks noChangeShapeType="1"/>
          </p:cNvSpPr>
          <p:nvPr/>
        </p:nvSpPr>
        <p:spPr bwMode="auto">
          <a:xfrm>
            <a:off x="6591300" y="51657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7690" name="Text Box 39"/>
          <p:cNvSpPr txBox="1">
            <a:spLocks noChangeArrowheads="1"/>
          </p:cNvSpPr>
          <p:nvPr/>
        </p:nvSpPr>
        <p:spPr bwMode="auto">
          <a:xfrm>
            <a:off x="6591300" y="5210175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process 10</a:t>
            </a:r>
          </a:p>
        </p:txBody>
      </p:sp>
      <p:sp>
        <p:nvSpPr>
          <p:cNvPr id="27691" name="AutoShape 40"/>
          <p:cNvSpPr>
            <a:spLocks noChangeArrowheads="1"/>
          </p:cNvSpPr>
          <p:nvPr/>
        </p:nvSpPr>
        <p:spPr bwMode="auto">
          <a:xfrm>
            <a:off x="23241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92" name="AutoShape 41"/>
          <p:cNvSpPr>
            <a:spLocks noChangeArrowheads="1"/>
          </p:cNvSpPr>
          <p:nvPr/>
        </p:nvSpPr>
        <p:spPr bwMode="auto">
          <a:xfrm>
            <a:off x="41529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7693" name="AutoShape 42"/>
          <p:cNvSpPr>
            <a:spLocks noChangeArrowheads="1"/>
          </p:cNvSpPr>
          <p:nvPr/>
        </p:nvSpPr>
        <p:spPr bwMode="auto">
          <a:xfrm>
            <a:off x="5981700" y="52101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5750D8-858D-4CF9-B34C-F4D89D70F2C4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B1F9999-DE39-45F2-AD85-C07AA6C14E8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3" y="228600"/>
            <a:ext cx="7850187" cy="43656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Multiple-Partition Allocation</a:t>
            </a:r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86800" cy="57912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mtClean="0"/>
              <a:t>multiple </a:t>
            </a:r>
            <a:r>
              <a:rPr lang="en-US" altLang="zh-TW" smtClean="0">
                <a:solidFill>
                  <a:srgbClr val="FF0000"/>
                </a:solidFill>
              </a:rPr>
              <a:t>contiguous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0000FF"/>
                </a:solidFill>
              </a:rPr>
              <a:t>variable</a:t>
            </a:r>
            <a:r>
              <a:rPr lang="en-US" altLang="zh-TW" smtClean="0"/>
              <a:t> partition allocation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allocation problem: </a:t>
            </a:r>
            <a:r>
              <a:rPr lang="en-US" altLang="zh-TW" smtClean="0">
                <a:solidFill>
                  <a:srgbClr val="FF0000"/>
                </a:solidFill>
              </a:rPr>
              <a:t>search a hole big enough</a:t>
            </a:r>
            <a:r>
              <a:rPr lang="en-US" altLang="zh-TW" smtClean="0"/>
              <a:t> for a request</a:t>
            </a:r>
          </a:p>
          <a:p>
            <a:pPr lvl="3" eaLnBrk="1" hangingPunct="1"/>
            <a:r>
              <a:rPr lang="en-US" altLang="zh-TW" sz="2800" smtClean="0"/>
              <a:t>first-fit</a:t>
            </a:r>
          </a:p>
          <a:p>
            <a:pPr lvl="3" eaLnBrk="1" hangingPunct="1"/>
            <a:r>
              <a:rPr lang="en-US" altLang="zh-TW" sz="2800" smtClean="0"/>
              <a:t>best-fit </a:t>
            </a:r>
          </a:p>
          <a:p>
            <a:pPr lvl="3" eaLnBrk="1" hangingPunct="1"/>
            <a:r>
              <a:rPr lang="en-US" altLang="zh-TW" sz="2800" smtClean="0"/>
              <a:t>worst-fit</a:t>
            </a:r>
          </a:p>
          <a:p>
            <a:pPr lvl="1" eaLnBrk="1" hangingPunct="1"/>
            <a:r>
              <a:rPr lang="en-US" altLang="zh-TW" smtClean="0"/>
              <a:t>By simulation, </a:t>
            </a:r>
            <a:r>
              <a:rPr lang="en-US" altLang="zh-TW" smtClean="0">
                <a:solidFill>
                  <a:srgbClr val="FF0000"/>
                </a:solidFill>
              </a:rPr>
              <a:t>FF and BF are better than WF</a:t>
            </a:r>
            <a:r>
              <a:rPr lang="en-US" altLang="zh-TW" smtClean="0"/>
              <a:t>.</a:t>
            </a:r>
            <a:endParaRPr lang="en-US" altLang="zh-TW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FF is faster than BF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C9E507D-34D2-447D-9AFE-D9E6B1B67B2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AE7D21-8FD3-4F17-BBCC-6F0A4E1C9DD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6019800" cy="9302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An Scheduling Example</a:t>
            </a: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1709738" y="2033588"/>
            <a:ext cx="1752600" cy="3686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9703" name="Line 4"/>
          <p:cNvSpPr>
            <a:spLocks noChangeShapeType="1"/>
          </p:cNvSpPr>
          <p:nvPr/>
        </p:nvSpPr>
        <p:spPr bwMode="auto">
          <a:xfrm>
            <a:off x="1709738" y="2930525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704" name="Rectangle 5"/>
          <p:cNvSpPr>
            <a:spLocks noChangeArrowheads="1"/>
          </p:cNvSpPr>
          <p:nvPr/>
        </p:nvSpPr>
        <p:spPr bwMode="auto">
          <a:xfrm>
            <a:off x="2079625" y="2290763"/>
            <a:ext cx="6461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OS</a:t>
            </a:r>
          </a:p>
        </p:txBody>
      </p:sp>
      <p:sp>
        <p:nvSpPr>
          <p:cNvPr id="29705" name="Rectangle 6"/>
          <p:cNvSpPr>
            <a:spLocks noChangeArrowheads="1"/>
          </p:cNvSpPr>
          <p:nvPr/>
        </p:nvSpPr>
        <p:spPr bwMode="auto">
          <a:xfrm>
            <a:off x="2030413" y="3916363"/>
            <a:ext cx="9493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2160 K</a:t>
            </a:r>
          </a:p>
        </p:txBody>
      </p:sp>
      <p:sp>
        <p:nvSpPr>
          <p:cNvPr id="29706" name="Rectangle 7"/>
          <p:cNvSpPr>
            <a:spLocks noChangeArrowheads="1"/>
          </p:cNvSpPr>
          <p:nvPr/>
        </p:nvSpPr>
        <p:spPr bwMode="auto">
          <a:xfrm>
            <a:off x="744538" y="1970088"/>
            <a:ext cx="949325" cy="403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     0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400K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endParaRPr lang="en-US" altLang="zh-TW" sz="2000" b="1">
              <a:latin typeface="Book Antiqua" panose="0204060205030503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 K</a:t>
            </a:r>
          </a:p>
        </p:txBody>
      </p:sp>
      <p:sp>
        <p:nvSpPr>
          <p:cNvPr id="29707" name="Rectangle 8"/>
          <p:cNvSpPr>
            <a:spLocks noChangeArrowheads="1"/>
          </p:cNvSpPr>
          <p:nvPr/>
        </p:nvSpPr>
        <p:spPr bwMode="auto">
          <a:xfrm>
            <a:off x="3900488" y="2168525"/>
            <a:ext cx="4202112" cy="3070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9708" name="Rectangle 9"/>
          <p:cNvSpPr>
            <a:spLocks noChangeArrowheads="1"/>
          </p:cNvSpPr>
          <p:nvPr/>
        </p:nvSpPr>
        <p:spPr bwMode="auto">
          <a:xfrm>
            <a:off x="3787775" y="2606675"/>
            <a:ext cx="39512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 process        memory            time  </a:t>
            </a:r>
          </a:p>
        </p:txBody>
      </p:sp>
      <p:sp>
        <p:nvSpPr>
          <p:cNvPr id="29709" name="Rectangle 10"/>
          <p:cNvSpPr>
            <a:spLocks noChangeArrowheads="1"/>
          </p:cNvSpPr>
          <p:nvPr/>
        </p:nvSpPr>
        <p:spPr bwMode="auto">
          <a:xfrm>
            <a:off x="4197350" y="3225800"/>
            <a:ext cx="4575175" cy="18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 	        600K	   10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     	      1000K	     5 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     	        300K	   20                 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 	        700K	     8                 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P5		        500K	   15                </a:t>
            </a:r>
          </a:p>
        </p:txBody>
      </p:sp>
      <p:sp>
        <p:nvSpPr>
          <p:cNvPr id="29710" name="Line 11"/>
          <p:cNvSpPr>
            <a:spLocks noChangeShapeType="1"/>
          </p:cNvSpPr>
          <p:nvPr/>
        </p:nvSpPr>
        <p:spPr bwMode="auto">
          <a:xfrm>
            <a:off x="3919538" y="3062288"/>
            <a:ext cx="41624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711" name="Rectangle 12"/>
          <p:cNvSpPr>
            <a:spLocks noChangeArrowheads="1"/>
          </p:cNvSpPr>
          <p:nvPr/>
        </p:nvSpPr>
        <p:spPr bwMode="auto">
          <a:xfrm>
            <a:off x="5165725" y="1681163"/>
            <a:ext cx="137318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job queue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8B1A85-CA13-430B-B8EE-259792545D81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98C384-DBAD-4B39-983A-70D0B6ED313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30725" name="Rectangle 2"/>
          <p:cNvSpPr>
            <a:spLocks noChangeArrowheads="1"/>
          </p:cNvSpPr>
          <p:nvPr/>
        </p:nvSpPr>
        <p:spPr bwMode="auto">
          <a:xfrm>
            <a:off x="4610100" y="4557713"/>
            <a:ext cx="738188" cy="368300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6" name="Rectangle 3"/>
          <p:cNvSpPr>
            <a:spLocks noChangeArrowheads="1"/>
          </p:cNvSpPr>
          <p:nvPr/>
        </p:nvSpPr>
        <p:spPr bwMode="auto">
          <a:xfrm>
            <a:off x="4616450" y="1900238"/>
            <a:ext cx="741363" cy="2327275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7" name="Rectangle 4"/>
          <p:cNvSpPr>
            <a:spLocks noChangeArrowheads="1"/>
          </p:cNvSpPr>
          <p:nvPr/>
        </p:nvSpPr>
        <p:spPr bwMode="auto">
          <a:xfrm>
            <a:off x="8148638" y="4551363"/>
            <a:ext cx="723900" cy="350837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8" name="Rectangle 5"/>
          <p:cNvSpPr>
            <a:spLocks noChangeArrowheads="1"/>
          </p:cNvSpPr>
          <p:nvPr/>
        </p:nvSpPr>
        <p:spPr bwMode="auto">
          <a:xfrm>
            <a:off x="8137525" y="3094038"/>
            <a:ext cx="741363" cy="1214437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29" name="Rectangle 6"/>
          <p:cNvSpPr>
            <a:spLocks noChangeArrowheads="1"/>
          </p:cNvSpPr>
          <p:nvPr/>
        </p:nvSpPr>
        <p:spPr bwMode="auto">
          <a:xfrm>
            <a:off x="8131175" y="1870075"/>
            <a:ext cx="723900" cy="1127125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0" name="Rectangle 7"/>
          <p:cNvSpPr>
            <a:spLocks noChangeArrowheads="1"/>
          </p:cNvSpPr>
          <p:nvPr/>
        </p:nvSpPr>
        <p:spPr bwMode="auto">
          <a:xfrm>
            <a:off x="989013" y="1906588"/>
            <a:ext cx="758825" cy="2997200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1" name="Rectangle 8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534275" cy="10191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200" b="1" smtClean="0"/>
              <a:t>Memory Allocation and </a:t>
            </a:r>
            <a:br>
              <a:rPr lang="en-US" altLang="zh-TW" sz="3200" b="1" smtClean="0"/>
            </a:br>
            <a:r>
              <a:rPr lang="en-US" altLang="zh-TW" sz="3200" b="1" smtClean="0"/>
              <a:t>Long-term Scheduling (FCFS)</a:t>
            </a:r>
          </a:p>
        </p:txBody>
      </p:sp>
      <p:sp>
        <p:nvSpPr>
          <p:cNvPr id="30732" name="Rectangle 9"/>
          <p:cNvSpPr>
            <a:spLocks noChangeArrowheads="1"/>
          </p:cNvSpPr>
          <p:nvPr/>
        </p:nvSpPr>
        <p:spPr bwMode="auto">
          <a:xfrm>
            <a:off x="993775" y="1881188"/>
            <a:ext cx="758825" cy="3344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3" name="Line 10"/>
          <p:cNvSpPr>
            <a:spLocks noChangeShapeType="1"/>
          </p:cNvSpPr>
          <p:nvPr/>
        </p:nvSpPr>
        <p:spPr bwMode="auto">
          <a:xfrm>
            <a:off x="993775" y="2332038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4" name="Line 11"/>
          <p:cNvSpPr>
            <a:spLocks noChangeShapeType="1"/>
          </p:cNvSpPr>
          <p:nvPr/>
        </p:nvSpPr>
        <p:spPr bwMode="auto">
          <a:xfrm>
            <a:off x="993775" y="3074988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5" name="Line 12"/>
          <p:cNvSpPr>
            <a:spLocks noChangeShapeType="1"/>
          </p:cNvSpPr>
          <p:nvPr/>
        </p:nvSpPr>
        <p:spPr bwMode="auto">
          <a:xfrm>
            <a:off x="993775" y="4532313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6" name="Rectangle 13"/>
          <p:cNvSpPr>
            <a:spLocks noChangeArrowheads="1"/>
          </p:cNvSpPr>
          <p:nvPr/>
        </p:nvSpPr>
        <p:spPr bwMode="auto">
          <a:xfrm>
            <a:off x="993775" y="4895850"/>
            <a:ext cx="758825" cy="33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7" name="Rectangle 14"/>
          <p:cNvSpPr>
            <a:spLocks noChangeArrowheads="1"/>
          </p:cNvSpPr>
          <p:nvPr/>
        </p:nvSpPr>
        <p:spPr bwMode="auto">
          <a:xfrm>
            <a:off x="1082675" y="1936750"/>
            <a:ext cx="582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0738" name="Rectangle 15"/>
          <p:cNvSpPr>
            <a:spLocks noChangeArrowheads="1"/>
          </p:cNvSpPr>
          <p:nvPr/>
        </p:nvSpPr>
        <p:spPr bwMode="auto">
          <a:xfrm>
            <a:off x="1168400" y="25225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0739" name="Rectangle 16"/>
          <p:cNvSpPr>
            <a:spLocks noChangeArrowheads="1"/>
          </p:cNvSpPr>
          <p:nvPr/>
        </p:nvSpPr>
        <p:spPr bwMode="auto">
          <a:xfrm>
            <a:off x="1163638" y="361791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30740" name="Rectangle 17"/>
          <p:cNvSpPr>
            <a:spLocks noChangeArrowheads="1"/>
          </p:cNvSpPr>
          <p:nvPr/>
        </p:nvSpPr>
        <p:spPr bwMode="auto">
          <a:xfrm>
            <a:off x="1144588" y="45847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0741" name="Rectangle 18"/>
          <p:cNvSpPr>
            <a:spLocks noChangeArrowheads="1"/>
          </p:cNvSpPr>
          <p:nvPr/>
        </p:nvSpPr>
        <p:spPr bwMode="auto">
          <a:xfrm>
            <a:off x="406400" y="17621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0742" name="Rectangle 19"/>
          <p:cNvSpPr>
            <a:spLocks noChangeArrowheads="1"/>
          </p:cNvSpPr>
          <p:nvPr/>
        </p:nvSpPr>
        <p:spPr bwMode="auto">
          <a:xfrm>
            <a:off x="287338" y="217170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</a:t>
            </a:r>
          </a:p>
        </p:txBody>
      </p:sp>
      <p:sp>
        <p:nvSpPr>
          <p:cNvPr id="30743" name="Rectangle 20"/>
          <p:cNvSpPr>
            <a:spLocks noChangeArrowheads="1"/>
          </p:cNvSpPr>
          <p:nvPr/>
        </p:nvSpPr>
        <p:spPr bwMode="auto">
          <a:xfrm>
            <a:off x="239713" y="29670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0744" name="Rectangle 21"/>
          <p:cNvSpPr>
            <a:spLocks noChangeArrowheads="1"/>
          </p:cNvSpPr>
          <p:nvPr/>
        </p:nvSpPr>
        <p:spPr bwMode="auto">
          <a:xfrm>
            <a:off x="234950" y="44338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2000</a:t>
            </a:r>
          </a:p>
        </p:txBody>
      </p:sp>
      <p:sp>
        <p:nvSpPr>
          <p:cNvPr id="30745" name="Rectangle 22"/>
          <p:cNvSpPr>
            <a:spLocks noChangeArrowheads="1"/>
          </p:cNvSpPr>
          <p:nvPr/>
        </p:nvSpPr>
        <p:spPr bwMode="auto">
          <a:xfrm>
            <a:off x="230188" y="477202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2300</a:t>
            </a:r>
          </a:p>
        </p:txBody>
      </p:sp>
      <p:sp>
        <p:nvSpPr>
          <p:cNvPr id="30746" name="Rectangle 23"/>
          <p:cNvSpPr>
            <a:spLocks noChangeArrowheads="1"/>
          </p:cNvSpPr>
          <p:nvPr/>
        </p:nvSpPr>
        <p:spPr bwMode="auto">
          <a:xfrm>
            <a:off x="239713" y="50530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</a:t>
            </a:r>
          </a:p>
        </p:txBody>
      </p:sp>
      <p:sp>
        <p:nvSpPr>
          <p:cNvPr id="30747" name="Rectangle 24"/>
          <p:cNvSpPr>
            <a:spLocks noChangeArrowheads="1"/>
          </p:cNvSpPr>
          <p:nvPr/>
        </p:nvSpPr>
        <p:spPr bwMode="auto">
          <a:xfrm>
            <a:off x="4606925" y="1885950"/>
            <a:ext cx="758825" cy="3344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48" name="Line 25"/>
          <p:cNvSpPr>
            <a:spLocks noChangeShapeType="1"/>
          </p:cNvSpPr>
          <p:nvPr/>
        </p:nvSpPr>
        <p:spPr bwMode="auto">
          <a:xfrm>
            <a:off x="4606925" y="2336800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9" name="Line 26"/>
          <p:cNvSpPr>
            <a:spLocks noChangeShapeType="1"/>
          </p:cNvSpPr>
          <p:nvPr/>
        </p:nvSpPr>
        <p:spPr bwMode="auto">
          <a:xfrm>
            <a:off x="4606925" y="3079750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0" name="Line 27"/>
          <p:cNvSpPr>
            <a:spLocks noChangeShapeType="1"/>
          </p:cNvSpPr>
          <p:nvPr/>
        </p:nvSpPr>
        <p:spPr bwMode="auto">
          <a:xfrm>
            <a:off x="4606925" y="4537075"/>
            <a:ext cx="7445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1" name="Rectangle 28"/>
          <p:cNvSpPr>
            <a:spLocks noChangeArrowheads="1"/>
          </p:cNvSpPr>
          <p:nvPr/>
        </p:nvSpPr>
        <p:spPr bwMode="auto">
          <a:xfrm>
            <a:off x="4606925" y="4900613"/>
            <a:ext cx="758825" cy="33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52" name="Rectangle 29"/>
          <p:cNvSpPr>
            <a:spLocks noChangeArrowheads="1"/>
          </p:cNvSpPr>
          <p:nvPr/>
        </p:nvSpPr>
        <p:spPr bwMode="auto">
          <a:xfrm>
            <a:off x="4695825" y="1941513"/>
            <a:ext cx="5826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0753" name="Rectangle 30"/>
          <p:cNvSpPr>
            <a:spLocks noChangeArrowheads="1"/>
          </p:cNvSpPr>
          <p:nvPr/>
        </p:nvSpPr>
        <p:spPr bwMode="auto">
          <a:xfrm>
            <a:off x="4781550" y="25273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0754" name="Rectangle 31"/>
          <p:cNvSpPr>
            <a:spLocks noChangeArrowheads="1"/>
          </p:cNvSpPr>
          <p:nvPr/>
        </p:nvSpPr>
        <p:spPr bwMode="auto">
          <a:xfrm>
            <a:off x="4776788" y="362267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0755" name="Rectangle 32"/>
          <p:cNvSpPr>
            <a:spLocks noChangeArrowheads="1"/>
          </p:cNvSpPr>
          <p:nvPr/>
        </p:nvSpPr>
        <p:spPr bwMode="auto">
          <a:xfrm>
            <a:off x="4757738" y="45894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0756" name="Rectangle 33"/>
          <p:cNvSpPr>
            <a:spLocks noChangeArrowheads="1"/>
          </p:cNvSpPr>
          <p:nvPr/>
        </p:nvSpPr>
        <p:spPr bwMode="auto">
          <a:xfrm>
            <a:off x="4073525" y="17843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0757" name="Rectangle 34"/>
          <p:cNvSpPr>
            <a:spLocks noChangeArrowheads="1"/>
          </p:cNvSpPr>
          <p:nvPr/>
        </p:nvSpPr>
        <p:spPr bwMode="auto">
          <a:xfrm>
            <a:off x="3954463" y="2193925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</a:t>
            </a:r>
          </a:p>
        </p:txBody>
      </p:sp>
      <p:sp>
        <p:nvSpPr>
          <p:cNvPr id="30758" name="Rectangle 35"/>
          <p:cNvSpPr>
            <a:spLocks noChangeArrowheads="1"/>
          </p:cNvSpPr>
          <p:nvPr/>
        </p:nvSpPr>
        <p:spPr bwMode="auto">
          <a:xfrm>
            <a:off x="3906838" y="298926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0759" name="Rectangle 36"/>
          <p:cNvSpPr>
            <a:spLocks noChangeArrowheads="1"/>
          </p:cNvSpPr>
          <p:nvPr/>
        </p:nvSpPr>
        <p:spPr bwMode="auto">
          <a:xfrm>
            <a:off x="3902075" y="44561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2000</a:t>
            </a:r>
          </a:p>
        </p:txBody>
      </p:sp>
      <p:sp>
        <p:nvSpPr>
          <p:cNvPr id="30760" name="Rectangle 37"/>
          <p:cNvSpPr>
            <a:spLocks noChangeArrowheads="1"/>
          </p:cNvSpPr>
          <p:nvPr/>
        </p:nvSpPr>
        <p:spPr bwMode="auto">
          <a:xfrm>
            <a:off x="3897313" y="47942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2300</a:t>
            </a:r>
          </a:p>
        </p:txBody>
      </p:sp>
      <p:sp>
        <p:nvSpPr>
          <p:cNvPr id="30761" name="Rectangle 38"/>
          <p:cNvSpPr>
            <a:spLocks noChangeArrowheads="1"/>
          </p:cNvSpPr>
          <p:nvPr/>
        </p:nvSpPr>
        <p:spPr bwMode="auto">
          <a:xfrm>
            <a:off x="3906838" y="50752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</a:t>
            </a:r>
          </a:p>
        </p:txBody>
      </p:sp>
      <p:sp>
        <p:nvSpPr>
          <p:cNvPr id="30762" name="Rectangle 39"/>
          <p:cNvSpPr>
            <a:spLocks noChangeArrowheads="1"/>
          </p:cNvSpPr>
          <p:nvPr/>
        </p:nvSpPr>
        <p:spPr bwMode="auto">
          <a:xfrm>
            <a:off x="8132763" y="1876425"/>
            <a:ext cx="758825" cy="3344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63" name="Line 40"/>
          <p:cNvSpPr>
            <a:spLocks noChangeShapeType="1"/>
          </p:cNvSpPr>
          <p:nvPr/>
        </p:nvSpPr>
        <p:spPr bwMode="auto">
          <a:xfrm>
            <a:off x="8132763" y="2327275"/>
            <a:ext cx="744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4" name="Line 41"/>
          <p:cNvSpPr>
            <a:spLocks noChangeShapeType="1"/>
          </p:cNvSpPr>
          <p:nvPr/>
        </p:nvSpPr>
        <p:spPr bwMode="auto">
          <a:xfrm>
            <a:off x="8132763" y="3070225"/>
            <a:ext cx="744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5" name="Line 42"/>
          <p:cNvSpPr>
            <a:spLocks noChangeShapeType="1"/>
          </p:cNvSpPr>
          <p:nvPr/>
        </p:nvSpPr>
        <p:spPr bwMode="auto">
          <a:xfrm>
            <a:off x="8132763" y="4527550"/>
            <a:ext cx="7445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6" name="Rectangle 43"/>
          <p:cNvSpPr>
            <a:spLocks noChangeArrowheads="1"/>
          </p:cNvSpPr>
          <p:nvPr/>
        </p:nvSpPr>
        <p:spPr bwMode="auto">
          <a:xfrm>
            <a:off x="8132763" y="4891088"/>
            <a:ext cx="758825" cy="330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67" name="Rectangle 44"/>
          <p:cNvSpPr>
            <a:spLocks noChangeArrowheads="1"/>
          </p:cNvSpPr>
          <p:nvPr/>
        </p:nvSpPr>
        <p:spPr bwMode="auto">
          <a:xfrm>
            <a:off x="8221663" y="1931988"/>
            <a:ext cx="5826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0768" name="Rectangle 45"/>
          <p:cNvSpPr>
            <a:spLocks noChangeArrowheads="1"/>
          </p:cNvSpPr>
          <p:nvPr/>
        </p:nvSpPr>
        <p:spPr bwMode="auto">
          <a:xfrm>
            <a:off x="8307388" y="251777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P5</a:t>
            </a:r>
          </a:p>
        </p:txBody>
      </p:sp>
      <p:sp>
        <p:nvSpPr>
          <p:cNvPr id="30769" name="Rectangle 46"/>
          <p:cNvSpPr>
            <a:spLocks noChangeArrowheads="1"/>
          </p:cNvSpPr>
          <p:nvPr/>
        </p:nvSpPr>
        <p:spPr bwMode="auto">
          <a:xfrm>
            <a:off x="8302625" y="361315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0770" name="Rectangle 47"/>
          <p:cNvSpPr>
            <a:spLocks noChangeArrowheads="1"/>
          </p:cNvSpPr>
          <p:nvPr/>
        </p:nvSpPr>
        <p:spPr bwMode="auto">
          <a:xfrm>
            <a:off x="8283575" y="45799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0771" name="Rectangle 48"/>
          <p:cNvSpPr>
            <a:spLocks noChangeArrowheads="1"/>
          </p:cNvSpPr>
          <p:nvPr/>
        </p:nvSpPr>
        <p:spPr bwMode="auto">
          <a:xfrm>
            <a:off x="7493000" y="17748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0772" name="Rectangle 49"/>
          <p:cNvSpPr>
            <a:spLocks noChangeArrowheads="1"/>
          </p:cNvSpPr>
          <p:nvPr/>
        </p:nvSpPr>
        <p:spPr bwMode="auto">
          <a:xfrm>
            <a:off x="7373938" y="218440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</a:t>
            </a:r>
          </a:p>
        </p:txBody>
      </p:sp>
      <p:sp>
        <p:nvSpPr>
          <p:cNvPr id="30773" name="Rectangle 50"/>
          <p:cNvSpPr>
            <a:spLocks noChangeArrowheads="1"/>
          </p:cNvSpPr>
          <p:nvPr/>
        </p:nvSpPr>
        <p:spPr bwMode="auto">
          <a:xfrm>
            <a:off x="7345363" y="3067050"/>
            <a:ext cx="9382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0774" name="Rectangle 51"/>
          <p:cNvSpPr>
            <a:spLocks noChangeArrowheads="1"/>
          </p:cNvSpPr>
          <p:nvPr/>
        </p:nvSpPr>
        <p:spPr bwMode="auto">
          <a:xfrm>
            <a:off x="7321550" y="44465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2000</a:t>
            </a:r>
          </a:p>
        </p:txBody>
      </p:sp>
      <p:sp>
        <p:nvSpPr>
          <p:cNvPr id="30775" name="Rectangle 52"/>
          <p:cNvSpPr>
            <a:spLocks noChangeArrowheads="1"/>
          </p:cNvSpPr>
          <p:nvPr/>
        </p:nvSpPr>
        <p:spPr bwMode="auto">
          <a:xfrm>
            <a:off x="7316788" y="478472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2300</a:t>
            </a:r>
          </a:p>
        </p:txBody>
      </p:sp>
      <p:sp>
        <p:nvSpPr>
          <p:cNvPr id="30776" name="Rectangle 53"/>
          <p:cNvSpPr>
            <a:spLocks noChangeArrowheads="1"/>
          </p:cNvSpPr>
          <p:nvPr/>
        </p:nvSpPr>
        <p:spPr bwMode="auto">
          <a:xfrm>
            <a:off x="7326313" y="50657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</a:t>
            </a:r>
          </a:p>
        </p:txBody>
      </p:sp>
      <p:sp>
        <p:nvSpPr>
          <p:cNvPr id="30777" name="Rectangle 54"/>
          <p:cNvSpPr>
            <a:spLocks noChangeArrowheads="1"/>
          </p:cNvSpPr>
          <p:nvPr/>
        </p:nvSpPr>
        <p:spPr bwMode="auto">
          <a:xfrm>
            <a:off x="4602163" y="4238625"/>
            <a:ext cx="768350" cy="287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78" name="AutoShape 55"/>
          <p:cNvSpPr>
            <a:spLocks noChangeArrowheads="1"/>
          </p:cNvSpPr>
          <p:nvPr/>
        </p:nvSpPr>
        <p:spPr bwMode="auto">
          <a:xfrm>
            <a:off x="2038350" y="3362325"/>
            <a:ext cx="1751013" cy="549275"/>
          </a:xfrm>
          <a:prstGeom prst="rightArrow">
            <a:avLst>
              <a:gd name="adj1" fmla="val 50000"/>
              <a:gd name="adj2" fmla="val 15940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79" name="Rectangle 56"/>
          <p:cNvSpPr>
            <a:spLocks noChangeArrowheads="1"/>
          </p:cNvSpPr>
          <p:nvPr/>
        </p:nvSpPr>
        <p:spPr bwMode="auto">
          <a:xfrm>
            <a:off x="3883025" y="41513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1700</a:t>
            </a:r>
          </a:p>
        </p:txBody>
      </p:sp>
      <p:sp>
        <p:nvSpPr>
          <p:cNvPr id="30780" name="Rectangle 57"/>
          <p:cNvSpPr>
            <a:spLocks noChangeArrowheads="1"/>
          </p:cNvSpPr>
          <p:nvPr/>
        </p:nvSpPr>
        <p:spPr bwMode="auto">
          <a:xfrm>
            <a:off x="8137525" y="2981325"/>
            <a:ext cx="758825" cy="873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81" name="Rectangle 58"/>
          <p:cNvSpPr>
            <a:spLocks noChangeArrowheads="1"/>
          </p:cNvSpPr>
          <p:nvPr/>
        </p:nvSpPr>
        <p:spPr bwMode="auto">
          <a:xfrm>
            <a:off x="7380288" y="2735263"/>
            <a:ext cx="750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</a:t>
            </a:r>
          </a:p>
        </p:txBody>
      </p:sp>
      <p:sp>
        <p:nvSpPr>
          <p:cNvPr id="30782" name="Rectangle 59"/>
          <p:cNvSpPr>
            <a:spLocks noChangeArrowheads="1"/>
          </p:cNvSpPr>
          <p:nvPr/>
        </p:nvSpPr>
        <p:spPr bwMode="auto">
          <a:xfrm>
            <a:off x="8132763" y="4243388"/>
            <a:ext cx="758825" cy="287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83" name="Rectangle 60"/>
          <p:cNvSpPr>
            <a:spLocks noChangeArrowheads="1"/>
          </p:cNvSpPr>
          <p:nvPr/>
        </p:nvSpPr>
        <p:spPr bwMode="auto">
          <a:xfrm>
            <a:off x="7316788" y="415607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1700</a:t>
            </a:r>
          </a:p>
        </p:txBody>
      </p:sp>
      <p:sp>
        <p:nvSpPr>
          <p:cNvPr id="30784" name="Text Box 61"/>
          <p:cNvSpPr txBox="1">
            <a:spLocks noChangeArrowheads="1"/>
          </p:cNvSpPr>
          <p:nvPr/>
        </p:nvSpPr>
        <p:spPr bwMode="auto">
          <a:xfrm>
            <a:off x="2024063" y="2760663"/>
            <a:ext cx="1684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 terminates</a:t>
            </a:r>
          </a:p>
        </p:txBody>
      </p:sp>
      <p:sp>
        <p:nvSpPr>
          <p:cNvPr id="30785" name="Text Box 62"/>
          <p:cNvSpPr txBox="1">
            <a:spLocks noChangeArrowheads="1"/>
          </p:cNvSpPr>
          <p:nvPr/>
        </p:nvSpPr>
        <p:spPr bwMode="auto">
          <a:xfrm>
            <a:off x="2165350" y="3925888"/>
            <a:ext cx="1360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allocate P4</a:t>
            </a:r>
          </a:p>
        </p:txBody>
      </p:sp>
      <p:sp>
        <p:nvSpPr>
          <p:cNvPr id="30786" name="AutoShape 63"/>
          <p:cNvSpPr>
            <a:spLocks noChangeArrowheads="1"/>
          </p:cNvSpPr>
          <p:nvPr/>
        </p:nvSpPr>
        <p:spPr bwMode="auto">
          <a:xfrm>
            <a:off x="5594350" y="3425825"/>
            <a:ext cx="1751013" cy="549275"/>
          </a:xfrm>
          <a:prstGeom prst="rightArrow">
            <a:avLst>
              <a:gd name="adj1" fmla="val 50000"/>
              <a:gd name="adj2" fmla="val 15940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87" name="Text Box 64"/>
          <p:cNvSpPr txBox="1">
            <a:spLocks noChangeArrowheads="1"/>
          </p:cNvSpPr>
          <p:nvPr/>
        </p:nvSpPr>
        <p:spPr bwMode="auto">
          <a:xfrm>
            <a:off x="5580063" y="2824163"/>
            <a:ext cx="1684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 terminates</a:t>
            </a:r>
          </a:p>
        </p:txBody>
      </p:sp>
      <p:sp>
        <p:nvSpPr>
          <p:cNvPr id="30788" name="Text Box 65"/>
          <p:cNvSpPr txBox="1">
            <a:spLocks noChangeArrowheads="1"/>
          </p:cNvSpPr>
          <p:nvPr/>
        </p:nvSpPr>
        <p:spPr bwMode="auto">
          <a:xfrm>
            <a:off x="5721350" y="3989388"/>
            <a:ext cx="1360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allocate P5</a:t>
            </a:r>
          </a:p>
        </p:txBody>
      </p:sp>
      <p:sp>
        <p:nvSpPr>
          <p:cNvPr id="30789" name="Text Box 66"/>
          <p:cNvSpPr txBox="1">
            <a:spLocks noChangeArrowheads="1"/>
          </p:cNvSpPr>
          <p:nvPr/>
        </p:nvSpPr>
        <p:spPr bwMode="auto">
          <a:xfrm>
            <a:off x="4603750" y="5902325"/>
            <a:ext cx="28543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external fragmentation</a:t>
            </a:r>
          </a:p>
        </p:txBody>
      </p:sp>
      <p:sp>
        <p:nvSpPr>
          <p:cNvPr id="30790" name="Line 67"/>
          <p:cNvSpPr>
            <a:spLocks noChangeShapeType="1"/>
          </p:cNvSpPr>
          <p:nvPr/>
        </p:nvSpPr>
        <p:spPr bwMode="auto">
          <a:xfrm flipH="1" flipV="1">
            <a:off x="5257800" y="5167313"/>
            <a:ext cx="1039813" cy="828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91" name="Line 68"/>
          <p:cNvSpPr>
            <a:spLocks noChangeShapeType="1"/>
          </p:cNvSpPr>
          <p:nvPr/>
        </p:nvSpPr>
        <p:spPr bwMode="auto">
          <a:xfrm flipH="1" flipV="1">
            <a:off x="5434013" y="4410075"/>
            <a:ext cx="881062" cy="1639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72A70C-6965-4F6E-923D-19C8E6A9716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3479F51-D59C-4275-B4D1-F690FC70984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3174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Fragmentation</a:t>
            </a:r>
          </a:p>
        </p:txBody>
      </p:sp>
      <p:sp>
        <p:nvSpPr>
          <p:cNvPr id="60419" name="Rectangle 2051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5344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internal fragmentation</a:t>
            </a:r>
            <a:r>
              <a:rPr lang="en-US" altLang="zh-TW" sz="2800" dirty="0" smtClean="0"/>
              <a:t>: memory is internal to a partition, but is not being used.</a:t>
            </a:r>
            <a:endParaRPr lang="en-US" altLang="zh-TW" sz="2800" dirty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external fragmentation</a:t>
            </a:r>
            <a:r>
              <a:rPr lang="en-US" altLang="zh-TW" sz="2800" dirty="0" smtClean="0"/>
              <a:t>: free memory is enough but not contiguous.</a:t>
            </a:r>
            <a:endParaRPr lang="en-US" altLang="zh-TW" sz="2800" b="1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b="1" dirty="0" smtClean="0">
                <a:solidFill>
                  <a:srgbClr val="FF0000"/>
                </a:solidFill>
              </a:rPr>
              <a:t>Compaction</a:t>
            </a:r>
            <a:r>
              <a:rPr lang="en-US" altLang="zh-TW" sz="2800" dirty="0" smtClean="0"/>
              <a:t>: shuffle the memory contents to make all free memory together 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 solution to external fragmentation problem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Selecting an optimal compaction is difficult.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Swapping</a:t>
            </a:r>
            <a:r>
              <a:rPr lang="en-US" altLang="zh-TW" sz="2400" dirty="0" smtClean="0"/>
              <a:t> can also be combined with compaction  </a:t>
            </a:r>
          </a:p>
          <a:p>
            <a:pPr lvl="2" eaLnBrk="1" hangingPunct="1">
              <a:defRPr/>
            </a:pPr>
            <a:r>
              <a:rPr lang="en-US" altLang="zh-TW" sz="2000" dirty="0" smtClean="0"/>
              <a:t>compact if necessary, and then roll in a process (into a different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399648-5761-4B66-9B10-AD21D768D4B3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09B3579-45F2-4207-BCA1-BB1006F0914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32773" name="Rectangle 2"/>
          <p:cNvSpPr>
            <a:spLocks noChangeArrowheads="1"/>
          </p:cNvSpPr>
          <p:nvPr/>
        </p:nvSpPr>
        <p:spPr bwMode="auto">
          <a:xfrm>
            <a:off x="2463800" y="4632325"/>
            <a:ext cx="1003300" cy="352425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4" name="Rectangle 3"/>
          <p:cNvSpPr>
            <a:spLocks noChangeArrowheads="1"/>
          </p:cNvSpPr>
          <p:nvPr/>
        </p:nvSpPr>
        <p:spPr bwMode="auto">
          <a:xfrm>
            <a:off x="2474913" y="3181350"/>
            <a:ext cx="1039812" cy="1162050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5" name="Rectangle 4"/>
          <p:cNvSpPr>
            <a:spLocks noChangeArrowheads="1"/>
          </p:cNvSpPr>
          <p:nvPr/>
        </p:nvSpPr>
        <p:spPr bwMode="auto">
          <a:xfrm>
            <a:off x="6884988" y="1892300"/>
            <a:ext cx="1090612" cy="2574925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6" name="Rectangle 5"/>
          <p:cNvSpPr>
            <a:spLocks noChangeArrowheads="1"/>
          </p:cNvSpPr>
          <p:nvPr/>
        </p:nvSpPr>
        <p:spPr bwMode="auto">
          <a:xfrm>
            <a:off x="2452688" y="2011363"/>
            <a:ext cx="1057275" cy="1074737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7" name="Rectangle 6"/>
          <p:cNvSpPr>
            <a:spLocks noGrp="1" noChangeArrowheads="1"/>
          </p:cNvSpPr>
          <p:nvPr>
            <p:ph type="title"/>
          </p:nvPr>
        </p:nvSpPr>
        <p:spPr>
          <a:xfrm>
            <a:off x="2506663" y="515938"/>
            <a:ext cx="4154487" cy="701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Compaction</a:t>
            </a:r>
          </a:p>
        </p:txBody>
      </p:sp>
      <p:sp>
        <p:nvSpPr>
          <p:cNvPr id="32778" name="Rectangle 7"/>
          <p:cNvSpPr>
            <a:spLocks noChangeArrowheads="1"/>
          </p:cNvSpPr>
          <p:nvPr/>
        </p:nvSpPr>
        <p:spPr bwMode="auto">
          <a:xfrm>
            <a:off x="6884988" y="1903413"/>
            <a:ext cx="1093787" cy="3340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189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9" name="Line 8"/>
          <p:cNvSpPr>
            <a:spLocks noChangeShapeType="1"/>
          </p:cNvSpPr>
          <p:nvPr/>
        </p:nvSpPr>
        <p:spPr bwMode="auto">
          <a:xfrm>
            <a:off x="6884988" y="2354263"/>
            <a:ext cx="107315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0" name="Line 9"/>
          <p:cNvSpPr>
            <a:spLocks noChangeShapeType="1"/>
          </p:cNvSpPr>
          <p:nvPr/>
        </p:nvSpPr>
        <p:spPr bwMode="auto">
          <a:xfrm>
            <a:off x="6899275" y="2982913"/>
            <a:ext cx="107315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1" name="Line 10"/>
          <p:cNvSpPr>
            <a:spLocks noChangeShapeType="1"/>
          </p:cNvSpPr>
          <p:nvPr/>
        </p:nvSpPr>
        <p:spPr bwMode="auto">
          <a:xfrm>
            <a:off x="6889750" y="4097338"/>
            <a:ext cx="1087438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2" name="Rectangle 11"/>
          <p:cNvSpPr>
            <a:spLocks noChangeArrowheads="1"/>
          </p:cNvSpPr>
          <p:nvPr/>
        </p:nvSpPr>
        <p:spPr bwMode="auto">
          <a:xfrm>
            <a:off x="6884988" y="4475163"/>
            <a:ext cx="1093787" cy="755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83" name="Rectangle 12"/>
          <p:cNvSpPr>
            <a:spLocks noChangeArrowheads="1"/>
          </p:cNvSpPr>
          <p:nvPr/>
        </p:nvSpPr>
        <p:spPr bwMode="auto">
          <a:xfrm>
            <a:off x="6973888" y="1958975"/>
            <a:ext cx="5826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2784" name="Rectangle 13"/>
          <p:cNvSpPr>
            <a:spLocks noChangeArrowheads="1"/>
          </p:cNvSpPr>
          <p:nvPr/>
        </p:nvSpPr>
        <p:spPr bwMode="auto">
          <a:xfrm>
            <a:off x="7069138" y="34544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2785" name="Rectangle 14"/>
          <p:cNvSpPr>
            <a:spLocks noChangeArrowheads="1"/>
          </p:cNvSpPr>
          <p:nvPr/>
        </p:nvSpPr>
        <p:spPr bwMode="auto">
          <a:xfrm>
            <a:off x="7050088" y="412115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2786" name="Rectangle 15"/>
          <p:cNvSpPr>
            <a:spLocks noChangeArrowheads="1"/>
          </p:cNvSpPr>
          <p:nvPr/>
        </p:nvSpPr>
        <p:spPr bwMode="auto">
          <a:xfrm>
            <a:off x="6245225" y="18192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2787" name="Rectangle 16"/>
          <p:cNvSpPr>
            <a:spLocks noChangeArrowheads="1"/>
          </p:cNvSpPr>
          <p:nvPr/>
        </p:nvSpPr>
        <p:spPr bwMode="auto">
          <a:xfrm>
            <a:off x="6126163" y="222885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</a:t>
            </a:r>
          </a:p>
        </p:txBody>
      </p:sp>
      <p:sp>
        <p:nvSpPr>
          <p:cNvPr id="32788" name="Rectangle 17"/>
          <p:cNvSpPr>
            <a:spLocks noChangeArrowheads="1"/>
          </p:cNvSpPr>
          <p:nvPr/>
        </p:nvSpPr>
        <p:spPr bwMode="auto">
          <a:xfrm>
            <a:off x="6121400" y="2938463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</a:t>
            </a:r>
          </a:p>
        </p:txBody>
      </p:sp>
      <p:sp>
        <p:nvSpPr>
          <p:cNvPr id="32789" name="Rectangle 18"/>
          <p:cNvSpPr>
            <a:spLocks noChangeArrowheads="1"/>
          </p:cNvSpPr>
          <p:nvPr/>
        </p:nvSpPr>
        <p:spPr bwMode="auto">
          <a:xfrm>
            <a:off x="6045200" y="44338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1900</a:t>
            </a:r>
          </a:p>
        </p:txBody>
      </p:sp>
      <p:sp>
        <p:nvSpPr>
          <p:cNvPr id="32790" name="Rectangle 19"/>
          <p:cNvSpPr>
            <a:spLocks noChangeArrowheads="1"/>
          </p:cNvSpPr>
          <p:nvPr/>
        </p:nvSpPr>
        <p:spPr bwMode="auto">
          <a:xfrm>
            <a:off x="6108700" y="505142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</a:t>
            </a:r>
          </a:p>
        </p:txBody>
      </p:sp>
      <p:sp>
        <p:nvSpPr>
          <p:cNvPr id="32791" name="Rectangle 20"/>
          <p:cNvSpPr>
            <a:spLocks noChangeArrowheads="1"/>
          </p:cNvSpPr>
          <p:nvPr/>
        </p:nvSpPr>
        <p:spPr bwMode="auto">
          <a:xfrm>
            <a:off x="2455863" y="1984375"/>
            <a:ext cx="1058862" cy="300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189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92" name="Line 21"/>
          <p:cNvSpPr>
            <a:spLocks noChangeShapeType="1"/>
          </p:cNvSpPr>
          <p:nvPr/>
        </p:nvSpPr>
        <p:spPr bwMode="auto">
          <a:xfrm>
            <a:off x="2455863" y="2435225"/>
            <a:ext cx="1038225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93" name="Line 22"/>
          <p:cNvSpPr>
            <a:spLocks noChangeShapeType="1"/>
          </p:cNvSpPr>
          <p:nvPr/>
        </p:nvSpPr>
        <p:spPr bwMode="auto">
          <a:xfrm>
            <a:off x="2455863" y="3178175"/>
            <a:ext cx="1038225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94" name="Line 23"/>
          <p:cNvSpPr>
            <a:spLocks noChangeShapeType="1"/>
          </p:cNvSpPr>
          <p:nvPr/>
        </p:nvSpPr>
        <p:spPr bwMode="auto">
          <a:xfrm>
            <a:off x="2455863" y="4635500"/>
            <a:ext cx="1038225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95" name="Rectangle 24"/>
          <p:cNvSpPr>
            <a:spLocks noChangeArrowheads="1"/>
          </p:cNvSpPr>
          <p:nvPr/>
        </p:nvSpPr>
        <p:spPr bwMode="auto">
          <a:xfrm>
            <a:off x="2455863" y="4999038"/>
            <a:ext cx="1058862" cy="312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96" name="Rectangle 25"/>
          <p:cNvSpPr>
            <a:spLocks noChangeArrowheads="1"/>
          </p:cNvSpPr>
          <p:nvPr/>
        </p:nvSpPr>
        <p:spPr bwMode="auto">
          <a:xfrm>
            <a:off x="2544763" y="2039938"/>
            <a:ext cx="5826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2797" name="Rectangle 26"/>
          <p:cNvSpPr>
            <a:spLocks noChangeArrowheads="1"/>
          </p:cNvSpPr>
          <p:nvPr/>
        </p:nvSpPr>
        <p:spPr bwMode="auto">
          <a:xfrm>
            <a:off x="2630488" y="262572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P5</a:t>
            </a:r>
          </a:p>
        </p:txBody>
      </p:sp>
      <p:sp>
        <p:nvSpPr>
          <p:cNvPr id="32798" name="Rectangle 27"/>
          <p:cNvSpPr>
            <a:spLocks noChangeArrowheads="1"/>
          </p:cNvSpPr>
          <p:nvPr/>
        </p:nvSpPr>
        <p:spPr bwMode="auto">
          <a:xfrm>
            <a:off x="2625725" y="37211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2799" name="Rectangle 28"/>
          <p:cNvSpPr>
            <a:spLocks noChangeArrowheads="1"/>
          </p:cNvSpPr>
          <p:nvPr/>
        </p:nvSpPr>
        <p:spPr bwMode="auto">
          <a:xfrm>
            <a:off x="2606675" y="46878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2800" name="Rectangle 29"/>
          <p:cNvSpPr>
            <a:spLocks noChangeArrowheads="1"/>
          </p:cNvSpPr>
          <p:nvPr/>
        </p:nvSpPr>
        <p:spPr bwMode="auto">
          <a:xfrm>
            <a:off x="1816100" y="19177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2801" name="Rectangle 30"/>
          <p:cNvSpPr>
            <a:spLocks noChangeArrowheads="1"/>
          </p:cNvSpPr>
          <p:nvPr/>
        </p:nvSpPr>
        <p:spPr bwMode="auto">
          <a:xfrm>
            <a:off x="1697038" y="2327275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</a:t>
            </a:r>
          </a:p>
        </p:txBody>
      </p:sp>
      <p:sp>
        <p:nvSpPr>
          <p:cNvPr id="32802" name="Rectangle 31"/>
          <p:cNvSpPr>
            <a:spLocks noChangeArrowheads="1"/>
          </p:cNvSpPr>
          <p:nvPr/>
        </p:nvSpPr>
        <p:spPr bwMode="auto">
          <a:xfrm>
            <a:off x="1631950" y="31226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2803" name="Rectangle 32"/>
          <p:cNvSpPr>
            <a:spLocks noChangeArrowheads="1"/>
          </p:cNvSpPr>
          <p:nvPr/>
        </p:nvSpPr>
        <p:spPr bwMode="auto">
          <a:xfrm>
            <a:off x="1644650" y="458946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2000</a:t>
            </a:r>
          </a:p>
        </p:txBody>
      </p:sp>
      <p:sp>
        <p:nvSpPr>
          <p:cNvPr id="32804" name="Rectangle 33"/>
          <p:cNvSpPr>
            <a:spLocks noChangeArrowheads="1"/>
          </p:cNvSpPr>
          <p:nvPr/>
        </p:nvSpPr>
        <p:spPr bwMode="auto">
          <a:xfrm>
            <a:off x="1639888" y="492760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2300</a:t>
            </a:r>
          </a:p>
        </p:txBody>
      </p:sp>
      <p:sp>
        <p:nvSpPr>
          <p:cNvPr id="32805" name="Rectangle 34"/>
          <p:cNvSpPr>
            <a:spLocks noChangeArrowheads="1"/>
          </p:cNvSpPr>
          <p:nvPr/>
        </p:nvSpPr>
        <p:spPr bwMode="auto">
          <a:xfrm>
            <a:off x="1649413" y="52085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2560</a:t>
            </a:r>
          </a:p>
        </p:txBody>
      </p:sp>
      <p:sp>
        <p:nvSpPr>
          <p:cNvPr id="32806" name="Rectangle 35"/>
          <p:cNvSpPr>
            <a:spLocks noChangeArrowheads="1"/>
          </p:cNvSpPr>
          <p:nvPr/>
        </p:nvSpPr>
        <p:spPr bwMode="auto">
          <a:xfrm>
            <a:off x="6038850" y="398780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1600</a:t>
            </a:r>
          </a:p>
        </p:txBody>
      </p:sp>
      <p:sp>
        <p:nvSpPr>
          <p:cNvPr id="32807" name="AutoShape 36"/>
          <p:cNvSpPr>
            <a:spLocks noChangeArrowheads="1"/>
          </p:cNvSpPr>
          <p:nvPr/>
        </p:nvSpPr>
        <p:spPr bwMode="auto">
          <a:xfrm>
            <a:off x="4359275" y="3357563"/>
            <a:ext cx="1485900" cy="565150"/>
          </a:xfrm>
          <a:prstGeom prst="rightArrow">
            <a:avLst>
              <a:gd name="adj1" fmla="val 50000"/>
              <a:gd name="adj2" fmla="val 13147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808" name="Rectangle 37"/>
          <p:cNvSpPr>
            <a:spLocks noChangeArrowheads="1"/>
          </p:cNvSpPr>
          <p:nvPr/>
        </p:nvSpPr>
        <p:spPr bwMode="auto">
          <a:xfrm>
            <a:off x="2460625" y="3089275"/>
            <a:ext cx="1058863" cy="82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809" name="Rectangle 38"/>
          <p:cNvSpPr>
            <a:spLocks noChangeArrowheads="1"/>
          </p:cNvSpPr>
          <p:nvPr/>
        </p:nvSpPr>
        <p:spPr bwMode="auto">
          <a:xfrm>
            <a:off x="1724025" y="287655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</a:t>
            </a:r>
          </a:p>
        </p:txBody>
      </p:sp>
      <p:sp>
        <p:nvSpPr>
          <p:cNvPr id="32810" name="Rectangle 39"/>
          <p:cNvSpPr>
            <a:spLocks noChangeArrowheads="1"/>
          </p:cNvSpPr>
          <p:nvPr/>
        </p:nvSpPr>
        <p:spPr bwMode="auto">
          <a:xfrm>
            <a:off x="2455863" y="4351338"/>
            <a:ext cx="1058862" cy="2714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811" name="Rectangle 40"/>
          <p:cNvSpPr>
            <a:spLocks noChangeArrowheads="1"/>
          </p:cNvSpPr>
          <p:nvPr/>
        </p:nvSpPr>
        <p:spPr bwMode="auto">
          <a:xfrm>
            <a:off x="1639888" y="42989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1700</a:t>
            </a:r>
          </a:p>
        </p:txBody>
      </p:sp>
      <p:sp>
        <p:nvSpPr>
          <p:cNvPr id="32812" name="Rectangle 41"/>
          <p:cNvSpPr>
            <a:spLocks noChangeArrowheads="1"/>
          </p:cNvSpPr>
          <p:nvPr/>
        </p:nvSpPr>
        <p:spPr bwMode="auto">
          <a:xfrm>
            <a:off x="4406900" y="3968750"/>
            <a:ext cx="11684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Compact</a:t>
            </a:r>
          </a:p>
        </p:txBody>
      </p:sp>
      <p:sp>
        <p:nvSpPr>
          <p:cNvPr id="32813" name="Rectangle 42"/>
          <p:cNvSpPr>
            <a:spLocks noChangeArrowheads="1"/>
          </p:cNvSpPr>
          <p:nvPr/>
        </p:nvSpPr>
        <p:spPr bwMode="auto">
          <a:xfrm>
            <a:off x="7050088" y="254952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P5</a:t>
            </a:r>
          </a:p>
        </p:txBody>
      </p:sp>
      <p:sp>
        <p:nvSpPr>
          <p:cNvPr id="32814" name="Rectangle 43"/>
          <p:cNvSpPr>
            <a:spLocks noChangeArrowheads="1"/>
          </p:cNvSpPr>
          <p:nvPr/>
        </p:nvSpPr>
        <p:spPr bwMode="auto">
          <a:xfrm>
            <a:off x="6959600" y="4687888"/>
            <a:ext cx="758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660K</a:t>
            </a:r>
          </a:p>
        </p:txBody>
      </p:sp>
      <p:sp>
        <p:nvSpPr>
          <p:cNvPr id="32815" name="Rectangle 44"/>
          <p:cNvSpPr>
            <a:spLocks noChangeArrowheads="1"/>
          </p:cNvSpPr>
          <p:nvPr/>
        </p:nvSpPr>
        <p:spPr bwMode="auto">
          <a:xfrm>
            <a:off x="3636963" y="4975225"/>
            <a:ext cx="758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260K</a:t>
            </a:r>
          </a:p>
        </p:txBody>
      </p:sp>
      <p:sp>
        <p:nvSpPr>
          <p:cNvPr id="32816" name="Rectangle 45"/>
          <p:cNvSpPr>
            <a:spLocks noChangeArrowheads="1"/>
          </p:cNvSpPr>
          <p:nvPr/>
        </p:nvSpPr>
        <p:spPr bwMode="auto">
          <a:xfrm>
            <a:off x="3600450" y="4329113"/>
            <a:ext cx="971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300K</a:t>
            </a:r>
          </a:p>
        </p:txBody>
      </p:sp>
      <p:sp>
        <p:nvSpPr>
          <p:cNvPr id="32817" name="Rectangle 46"/>
          <p:cNvSpPr>
            <a:spLocks noChangeArrowheads="1"/>
          </p:cNvSpPr>
          <p:nvPr/>
        </p:nvSpPr>
        <p:spPr bwMode="auto">
          <a:xfrm>
            <a:off x="3629025" y="2849563"/>
            <a:ext cx="758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0382242-681A-4834-8AC2-CEA506DFA53A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ADA5CB-665B-4A97-A1C5-15ACEDADF36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1173163" y="4457700"/>
            <a:ext cx="971550" cy="447675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798" name="Rectangle 3"/>
          <p:cNvSpPr>
            <a:spLocks noChangeArrowheads="1"/>
          </p:cNvSpPr>
          <p:nvPr/>
        </p:nvSpPr>
        <p:spPr bwMode="auto">
          <a:xfrm>
            <a:off x="1179513" y="3652838"/>
            <a:ext cx="954087" cy="411162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799" name="Rectangle 4"/>
          <p:cNvSpPr>
            <a:spLocks noChangeArrowheads="1"/>
          </p:cNvSpPr>
          <p:nvPr/>
        </p:nvSpPr>
        <p:spPr bwMode="auto">
          <a:xfrm>
            <a:off x="7818438" y="2513013"/>
            <a:ext cx="936625" cy="623887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0" name="Rectangle 5"/>
          <p:cNvSpPr>
            <a:spLocks noChangeArrowheads="1"/>
          </p:cNvSpPr>
          <p:nvPr/>
        </p:nvSpPr>
        <p:spPr bwMode="auto">
          <a:xfrm>
            <a:off x="1174750" y="2519363"/>
            <a:ext cx="971550" cy="623887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1" name="Rectangle 6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Comparison of some Different Ways to Compact Memory</a:t>
            </a:r>
          </a:p>
        </p:txBody>
      </p:sp>
      <p:sp>
        <p:nvSpPr>
          <p:cNvPr id="33802" name="Rectangle 7"/>
          <p:cNvSpPr>
            <a:spLocks noChangeArrowheads="1"/>
          </p:cNvSpPr>
          <p:nvPr/>
        </p:nvSpPr>
        <p:spPr bwMode="auto">
          <a:xfrm>
            <a:off x="7799388" y="4368800"/>
            <a:ext cx="976312" cy="830263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3" name="Rectangle 8"/>
          <p:cNvSpPr>
            <a:spLocks noChangeArrowheads="1"/>
          </p:cNvSpPr>
          <p:nvPr/>
        </p:nvSpPr>
        <p:spPr bwMode="auto">
          <a:xfrm>
            <a:off x="5686425" y="2490788"/>
            <a:ext cx="989013" cy="1536700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4" name="Rectangle 9"/>
          <p:cNvSpPr>
            <a:spLocks noChangeArrowheads="1"/>
          </p:cNvSpPr>
          <p:nvPr/>
        </p:nvSpPr>
        <p:spPr bwMode="auto">
          <a:xfrm>
            <a:off x="3440113" y="2490788"/>
            <a:ext cx="971550" cy="1522412"/>
          </a:xfrm>
          <a:prstGeom prst="rect">
            <a:avLst/>
          </a:prstGeom>
          <a:solidFill>
            <a:srgbClr val="E2E2E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5" name="Rectangle 10"/>
          <p:cNvSpPr>
            <a:spLocks noChangeArrowheads="1"/>
          </p:cNvSpPr>
          <p:nvPr/>
        </p:nvSpPr>
        <p:spPr bwMode="auto">
          <a:xfrm>
            <a:off x="1184275" y="2043113"/>
            <a:ext cx="976313" cy="3173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6" name="Line 11"/>
          <p:cNvSpPr>
            <a:spLocks noChangeShapeType="1"/>
          </p:cNvSpPr>
          <p:nvPr/>
        </p:nvSpPr>
        <p:spPr bwMode="auto">
          <a:xfrm>
            <a:off x="1184275" y="2497138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07" name="Line 12"/>
          <p:cNvSpPr>
            <a:spLocks noChangeShapeType="1"/>
          </p:cNvSpPr>
          <p:nvPr/>
        </p:nvSpPr>
        <p:spPr bwMode="auto">
          <a:xfrm>
            <a:off x="1184275" y="2884488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08" name="Rectangle 13"/>
          <p:cNvSpPr>
            <a:spLocks noChangeArrowheads="1"/>
          </p:cNvSpPr>
          <p:nvPr/>
        </p:nvSpPr>
        <p:spPr bwMode="auto">
          <a:xfrm>
            <a:off x="1184275" y="4899025"/>
            <a:ext cx="976313" cy="31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09" name="Rectangle 14"/>
          <p:cNvSpPr>
            <a:spLocks noChangeArrowheads="1"/>
          </p:cNvSpPr>
          <p:nvPr/>
        </p:nvSpPr>
        <p:spPr bwMode="auto">
          <a:xfrm>
            <a:off x="1298575" y="2098675"/>
            <a:ext cx="582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3810" name="Rectangle 15"/>
          <p:cNvSpPr>
            <a:spLocks noChangeArrowheads="1"/>
          </p:cNvSpPr>
          <p:nvPr/>
        </p:nvSpPr>
        <p:spPr bwMode="auto">
          <a:xfrm>
            <a:off x="1409700" y="253047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3811" name="Rectangle 16"/>
          <p:cNvSpPr>
            <a:spLocks noChangeArrowheads="1"/>
          </p:cNvSpPr>
          <p:nvPr/>
        </p:nvSpPr>
        <p:spPr bwMode="auto">
          <a:xfrm>
            <a:off x="1403350" y="45339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3812" name="Rectangle 17"/>
          <p:cNvSpPr>
            <a:spLocks noChangeArrowheads="1"/>
          </p:cNvSpPr>
          <p:nvPr/>
        </p:nvSpPr>
        <p:spPr bwMode="auto">
          <a:xfrm>
            <a:off x="1397000" y="37258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3813" name="Rectangle 18"/>
          <p:cNvSpPr>
            <a:spLocks noChangeArrowheads="1"/>
          </p:cNvSpPr>
          <p:nvPr/>
        </p:nvSpPr>
        <p:spPr bwMode="auto">
          <a:xfrm>
            <a:off x="747713" y="19415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3814" name="Rectangle 19"/>
          <p:cNvSpPr>
            <a:spLocks noChangeArrowheads="1"/>
          </p:cNvSpPr>
          <p:nvPr/>
        </p:nvSpPr>
        <p:spPr bwMode="auto">
          <a:xfrm>
            <a:off x="593725" y="2352675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</a:t>
            </a:r>
          </a:p>
        </p:txBody>
      </p:sp>
      <p:sp>
        <p:nvSpPr>
          <p:cNvPr id="33815" name="Rectangle 20"/>
          <p:cNvSpPr>
            <a:spLocks noChangeArrowheads="1"/>
          </p:cNvSpPr>
          <p:nvPr/>
        </p:nvSpPr>
        <p:spPr bwMode="auto">
          <a:xfrm>
            <a:off x="533400" y="3051175"/>
            <a:ext cx="625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600</a:t>
            </a:r>
          </a:p>
        </p:txBody>
      </p:sp>
      <p:sp>
        <p:nvSpPr>
          <p:cNvPr id="33816" name="Rectangle 21"/>
          <p:cNvSpPr>
            <a:spLocks noChangeArrowheads="1"/>
          </p:cNvSpPr>
          <p:nvPr/>
        </p:nvSpPr>
        <p:spPr bwMode="auto">
          <a:xfrm>
            <a:off x="508000" y="438150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1500</a:t>
            </a:r>
          </a:p>
        </p:txBody>
      </p:sp>
      <p:sp>
        <p:nvSpPr>
          <p:cNvPr id="33817" name="Rectangle 22"/>
          <p:cNvSpPr>
            <a:spLocks noChangeArrowheads="1"/>
          </p:cNvSpPr>
          <p:nvPr/>
        </p:nvSpPr>
        <p:spPr bwMode="auto">
          <a:xfrm>
            <a:off x="501650" y="48212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1900</a:t>
            </a:r>
          </a:p>
        </p:txBody>
      </p:sp>
      <p:sp>
        <p:nvSpPr>
          <p:cNvPr id="33818" name="Rectangle 23"/>
          <p:cNvSpPr>
            <a:spLocks noChangeArrowheads="1"/>
          </p:cNvSpPr>
          <p:nvPr/>
        </p:nvSpPr>
        <p:spPr bwMode="auto">
          <a:xfrm>
            <a:off x="496888" y="504666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2100</a:t>
            </a:r>
          </a:p>
        </p:txBody>
      </p:sp>
      <p:sp>
        <p:nvSpPr>
          <p:cNvPr id="33819" name="Rectangle 24"/>
          <p:cNvSpPr>
            <a:spLocks noChangeArrowheads="1"/>
          </p:cNvSpPr>
          <p:nvPr/>
        </p:nvSpPr>
        <p:spPr bwMode="auto">
          <a:xfrm>
            <a:off x="1177925" y="4048125"/>
            <a:ext cx="976313" cy="3889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20" name="Rectangle 25"/>
          <p:cNvSpPr>
            <a:spLocks noChangeArrowheads="1"/>
          </p:cNvSpPr>
          <p:nvPr/>
        </p:nvSpPr>
        <p:spPr bwMode="auto">
          <a:xfrm>
            <a:off x="484188" y="39608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1200</a:t>
            </a:r>
          </a:p>
        </p:txBody>
      </p:sp>
      <p:sp>
        <p:nvSpPr>
          <p:cNvPr id="33821" name="Line 26"/>
          <p:cNvSpPr>
            <a:spLocks noChangeShapeType="1"/>
          </p:cNvSpPr>
          <p:nvPr/>
        </p:nvSpPr>
        <p:spPr bwMode="auto">
          <a:xfrm>
            <a:off x="1177925" y="3136900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22" name="Line 27"/>
          <p:cNvSpPr>
            <a:spLocks noChangeShapeType="1"/>
          </p:cNvSpPr>
          <p:nvPr/>
        </p:nvSpPr>
        <p:spPr bwMode="auto">
          <a:xfrm>
            <a:off x="1171575" y="3649663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23" name="Rectangle 28"/>
          <p:cNvSpPr>
            <a:spLocks noChangeArrowheads="1"/>
          </p:cNvSpPr>
          <p:nvPr/>
        </p:nvSpPr>
        <p:spPr bwMode="auto">
          <a:xfrm>
            <a:off x="1403350" y="28844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33824" name="Rectangle 29"/>
          <p:cNvSpPr>
            <a:spLocks noChangeArrowheads="1"/>
          </p:cNvSpPr>
          <p:nvPr/>
        </p:nvSpPr>
        <p:spPr bwMode="auto">
          <a:xfrm>
            <a:off x="1177925" y="3143250"/>
            <a:ext cx="976313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25" name="Rectangle 30"/>
          <p:cNvSpPr>
            <a:spLocks noChangeArrowheads="1"/>
          </p:cNvSpPr>
          <p:nvPr/>
        </p:nvSpPr>
        <p:spPr bwMode="auto">
          <a:xfrm>
            <a:off x="587375" y="2735263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500</a:t>
            </a:r>
          </a:p>
        </p:txBody>
      </p:sp>
      <p:sp>
        <p:nvSpPr>
          <p:cNvPr id="33826" name="Rectangle 31"/>
          <p:cNvSpPr>
            <a:spLocks noChangeArrowheads="1"/>
          </p:cNvSpPr>
          <p:nvPr/>
        </p:nvSpPr>
        <p:spPr bwMode="auto">
          <a:xfrm>
            <a:off x="458788" y="35544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3827" name="Rectangle 32"/>
          <p:cNvSpPr>
            <a:spLocks noChangeArrowheads="1"/>
          </p:cNvSpPr>
          <p:nvPr/>
        </p:nvSpPr>
        <p:spPr bwMode="auto">
          <a:xfrm>
            <a:off x="1244600" y="4108450"/>
            <a:ext cx="758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300K</a:t>
            </a:r>
          </a:p>
        </p:txBody>
      </p:sp>
      <p:sp>
        <p:nvSpPr>
          <p:cNvPr id="33828" name="Rectangle 33"/>
          <p:cNvSpPr>
            <a:spLocks noChangeArrowheads="1"/>
          </p:cNvSpPr>
          <p:nvPr/>
        </p:nvSpPr>
        <p:spPr bwMode="auto">
          <a:xfrm>
            <a:off x="1255713" y="4951413"/>
            <a:ext cx="758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200K</a:t>
            </a:r>
          </a:p>
        </p:txBody>
      </p:sp>
      <p:sp>
        <p:nvSpPr>
          <p:cNvPr id="33829" name="Rectangle 34"/>
          <p:cNvSpPr>
            <a:spLocks noChangeArrowheads="1"/>
          </p:cNvSpPr>
          <p:nvPr/>
        </p:nvSpPr>
        <p:spPr bwMode="auto">
          <a:xfrm>
            <a:off x="1249363" y="3267075"/>
            <a:ext cx="758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400K</a:t>
            </a:r>
          </a:p>
        </p:txBody>
      </p:sp>
      <p:sp>
        <p:nvSpPr>
          <p:cNvPr id="33830" name="Rectangle 35"/>
          <p:cNvSpPr>
            <a:spLocks noChangeArrowheads="1"/>
          </p:cNvSpPr>
          <p:nvPr/>
        </p:nvSpPr>
        <p:spPr bwMode="auto">
          <a:xfrm>
            <a:off x="3440113" y="2038350"/>
            <a:ext cx="976312" cy="3173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31" name="Line 36"/>
          <p:cNvSpPr>
            <a:spLocks noChangeShapeType="1"/>
          </p:cNvSpPr>
          <p:nvPr/>
        </p:nvSpPr>
        <p:spPr bwMode="auto">
          <a:xfrm>
            <a:off x="3440113" y="2492375"/>
            <a:ext cx="957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32" name="Line 37"/>
          <p:cNvSpPr>
            <a:spLocks noChangeShapeType="1"/>
          </p:cNvSpPr>
          <p:nvPr/>
        </p:nvSpPr>
        <p:spPr bwMode="auto">
          <a:xfrm>
            <a:off x="3440113" y="2879725"/>
            <a:ext cx="9572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33" name="Rectangle 38"/>
          <p:cNvSpPr>
            <a:spLocks noChangeArrowheads="1"/>
          </p:cNvSpPr>
          <p:nvPr/>
        </p:nvSpPr>
        <p:spPr bwMode="auto">
          <a:xfrm>
            <a:off x="3440113" y="4019550"/>
            <a:ext cx="976312" cy="1192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34" name="Rectangle 39"/>
          <p:cNvSpPr>
            <a:spLocks noChangeArrowheads="1"/>
          </p:cNvSpPr>
          <p:nvPr/>
        </p:nvSpPr>
        <p:spPr bwMode="auto">
          <a:xfrm>
            <a:off x="3554413" y="2093913"/>
            <a:ext cx="5826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3835" name="Rectangle 40"/>
          <p:cNvSpPr>
            <a:spLocks noChangeArrowheads="1"/>
          </p:cNvSpPr>
          <p:nvPr/>
        </p:nvSpPr>
        <p:spPr bwMode="auto">
          <a:xfrm>
            <a:off x="3663950" y="252571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3836" name="Rectangle 41"/>
          <p:cNvSpPr>
            <a:spLocks noChangeArrowheads="1"/>
          </p:cNvSpPr>
          <p:nvPr/>
        </p:nvSpPr>
        <p:spPr bwMode="auto">
          <a:xfrm>
            <a:off x="3659188" y="35687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3837" name="Rectangle 42"/>
          <p:cNvSpPr>
            <a:spLocks noChangeArrowheads="1"/>
          </p:cNvSpPr>
          <p:nvPr/>
        </p:nvSpPr>
        <p:spPr bwMode="auto">
          <a:xfrm>
            <a:off x="3689350" y="321945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3838" name="Rectangle 43"/>
          <p:cNvSpPr>
            <a:spLocks noChangeArrowheads="1"/>
          </p:cNvSpPr>
          <p:nvPr/>
        </p:nvSpPr>
        <p:spPr bwMode="auto">
          <a:xfrm>
            <a:off x="3003550" y="19367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3839" name="Rectangle 44"/>
          <p:cNvSpPr>
            <a:spLocks noChangeArrowheads="1"/>
          </p:cNvSpPr>
          <p:nvPr/>
        </p:nvSpPr>
        <p:spPr bwMode="auto">
          <a:xfrm>
            <a:off x="2849563" y="2347913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</a:t>
            </a:r>
          </a:p>
        </p:txBody>
      </p:sp>
      <p:sp>
        <p:nvSpPr>
          <p:cNvPr id="33840" name="Rectangle 45"/>
          <p:cNvSpPr>
            <a:spLocks noChangeArrowheads="1"/>
          </p:cNvSpPr>
          <p:nvPr/>
        </p:nvSpPr>
        <p:spPr bwMode="auto">
          <a:xfrm>
            <a:off x="2787650" y="3046413"/>
            <a:ext cx="625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600</a:t>
            </a:r>
          </a:p>
        </p:txBody>
      </p:sp>
      <p:sp>
        <p:nvSpPr>
          <p:cNvPr id="33841" name="Rectangle 46"/>
          <p:cNvSpPr>
            <a:spLocks noChangeArrowheads="1"/>
          </p:cNvSpPr>
          <p:nvPr/>
        </p:nvSpPr>
        <p:spPr bwMode="auto">
          <a:xfrm>
            <a:off x="2763838" y="43767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1500</a:t>
            </a:r>
          </a:p>
        </p:txBody>
      </p:sp>
      <p:sp>
        <p:nvSpPr>
          <p:cNvPr id="33842" name="Rectangle 47"/>
          <p:cNvSpPr>
            <a:spLocks noChangeArrowheads="1"/>
          </p:cNvSpPr>
          <p:nvPr/>
        </p:nvSpPr>
        <p:spPr bwMode="auto">
          <a:xfrm>
            <a:off x="2757488" y="481647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1900</a:t>
            </a:r>
          </a:p>
        </p:txBody>
      </p:sp>
      <p:sp>
        <p:nvSpPr>
          <p:cNvPr id="33843" name="Rectangle 48"/>
          <p:cNvSpPr>
            <a:spLocks noChangeArrowheads="1"/>
          </p:cNvSpPr>
          <p:nvPr/>
        </p:nvSpPr>
        <p:spPr bwMode="auto">
          <a:xfrm>
            <a:off x="2751138" y="504190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2100</a:t>
            </a:r>
          </a:p>
        </p:txBody>
      </p:sp>
      <p:sp>
        <p:nvSpPr>
          <p:cNvPr id="33844" name="Rectangle 49"/>
          <p:cNvSpPr>
            <a:spLocks noChangeArrowheads="1"/>
          </p:cNvSpPr>
          <p:nvPr/>
        </p:nvSpPr>
        <p:spPr bwMode="auto">
          <a:xfrm>
            <a:off x="2740025" y="39560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1200</a:t>
            </a:r>
          </a:p>
        </p:txBody>
      </p:sp>
      <p:sp>
        <p:nvSpPr>
          <p:cNvPr id="33845" name="Line 50"/>
          <p:cNvSpPr>
            <a:spLocks noChangeShapeType="1"/>
          </p:cNvSpPr>
          <p:nvPr/>
        </p:nvSpPr>
        <p:spPr bwMode="auto">
          <a:xfrm>
            <a:off x="3433763" y="3132138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46" name="Line 51"/>
          <p:cNvSpPr>
            <a:spLocks noChangeShapeType="1"/>
          </p:cNvSpPr>
          <p:nvPr/>
        </p:nvSpPr>
        <p:spPr bwMode="auto">
          <a:xfrm>
            <a:off x="3463925" y="3530600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47" name="Rectangle 52"/>
          <p:cNvSpPr>
            <a:spLocks noChangeArrowheads="1"/>
          </p:cNvSpPr>
          <p:nvPr/>
        </p:nvSpPr>
        <p:spPr bwMode="auto">
          <a:xfrm>
            <a:off x="3659188" y="2879725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33848" name="Rectangle 53"/>
          <p:cNvSpPr>
            <a:spLocks noChangeArrowheads="1"/>
          </p:cNvSpPr>
          <p:nvPr/>
        </p:nvSpPr>
        <p:spPr bwMode="auto">
          <a:xfrm>
            <a:off x="2843213" y="273050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500</a:t>
            </a:r>
          </a:p>
        </p:txBody>
      </p:sp>
      <p:sp>
        <p:nvSpPr>
          <p:cNvPr id="33849" name="Rectangle 54"/>
          <p:cNvSpPr>
            <a:spLocks noChangeArrowheads="1"/>
          </p:cNvSpPr>
          <p:nvPr/>
        </p:nvSpPr>
        <p:spPr bwMode="auto">
          <a:xfrm>
            <a:off x="2714625" y="35496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3850" name="Rectangle 55"/>
          <p:cNvSpPr>
            <a:spLocks noChangeArrowheads="1"/>
          </p:cNvSpPr>
          <p:nvPr/>
        </p:nvSpPr>
        <p:spPr bwMode="auto">
          <a:xfrm>
            <a:off x="3584575" y="4471988"/>
            <a:ext cx="758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900K</a:t>
            </a:r>
          </a:p>
        </p:txBody>
      </p:sp>
      <p:sp>
        <p:nvSpPr>
          <p:cNvPr id="33851" name="Rectangle 56"/>
          <p:cNvSpPr>
            <a:spLocks noChangeArrowheads="1"/>
          </p:cNvSpPr>
          <p:nvPr/>
        </p:nvSpPr>
        <p:spPr bwMode="auto">
          <a:xfrm>
            <a:off x="5695950" y="2033588"/>
            <a:ext cx="976313" cy="3173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52" name="Line 57"/>
          <p:cNvSpPr>
            <a:spLocks noChangeShapeType="1"/>
          </p:cNvSpPr>
          <p:nvPr/>
        </p:nvSpPr>
        <p:spPr bwMode="auto">
          <a:xfrm>
            <a:off x="5695950" y="2487613"/>
            <a:ext cx="957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53" name="Line 58"/>
          <p:cNvSpPr>
            <a:spLocks noChangeShapeType="1"/>
          </p:cNvSpPr>
          <p:nvPr/>
        </p:nvSpPr>
        <p:spPr bwMode="auto">
          <a:xfrm>
            <a:off x="5695950" y="2874963"/>
            <a:ext cx="957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54" name="Rectangle 59"/>
          <p:cNvSpPr>
            <a:spLocks noChangeArrowheads="1"/>
          </p:cNvSpPr>
          <p:nvPr/>
        </p:nvSpPr>
        <p:spPr bwMode="auto">
          <a:xfrm>
            <a:off x="5695950" y="4014788"/>
            <a:ext cx="976313" cy="1192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55" name="Rectangle 60"/>
          <p:cNvSpPr>
            <a:spLocks noChangeArrowheads="1"/>
          </p:cNvSpPr>
          <p:nvPr/>
        </p:nvSpPr>
        <p:spPr bwMode="auto">
          <a:xfrm>
            <a:off x="5810250" y="2089150"/>
            <a:ext cx="582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3856" name="Rectangle 61"/>
          <p:cNvSpPr>
            <a:spLocks noChangeArrowheads="1"/>
          </p:cNvSpPr>
          <p:nvPr/>
        </p:nvSpPr>
        <p:spPr bwMode="auto">
          <a:xfrm>
            <a:off x="5919788" y="252095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3857" name="Rectangle 62"/>
          <p:cNvSpPr>
            <a:spLocks noChangeArrowheads="1"/>
          </p:cNvSpPr>
          <p:nvPr/>
        </p:nvSpPr>
        <p:spPr bwMode="auto">
          <a:xfrm>
            <a:off x="5913438" y="326231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3858" name="Rectangle 63"/>
          <p:cNvSpPr>
            <a:spLocks noChangeArrowheads="1"/>
          </p:cNvSpPr>
          <p:nvPr/>
        </p:nvSpPr>
        <p:spPr bwMode="auto">
          <a:xfrm>
            <a:off x="5905500" y="36877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3859" name="Rectangle 64"/>
          <p:cNvSpPr>
            <a:spLocks noChangeArrowheads="1"/>
          </p:cNvSpPr>
          <p:nvPr/>
        </p:nvSpPr>
        <p:spPr bwMode="auto">
          <a:xfrm>
            <a:off x="5257800" y="19319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3860" name="Rectangle 65"/>
          <p:cNvSpPr>
            <a:spLocks noChangeArrowheads="1"/>
          </p:cNvSpPr>
          <p:nvPr/>
        </p:nvSpPr>
        <p:spPr bwMode="auto">
          <a:xfrm>
            <a:off x="5105400" y="234315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</a:t>
            </a:r>
          </a:p>
        </p:txBody>
      </p:sp>
      <p:sp>
        <p:nvSpPr>
          <p:cNvPr id="33861" name="Rectangle 66"/>
          <p:cNvSpPr>
            <a:spLocks noChangeArrowheads="1"/>
          </p:cNvSpPr>
          <p:nvPr/>
        </p:nvSpPr>
        <p:spPr bwMode="auto">
          <a:xfrm>
            <a:off x="5043488" y="3041650"/>
            <a:ext cx="625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600</a:t>
            </a:r>
          </a:p>
        </p:txBody>
      </p:sp>
      <p:sp>
        <p:nvSpPr>
          <p:cNvPr id="33862" name="Rectangle 67"/>
          <p:cNvSpPr>
            <a:spLocks noChangeArrowheads="1"/>
          </p:cNvSpPr>
          <p:nvPr/>
        </p:nvSpPr>
        <p:spPr bwMode="auto">
          <a:xfrm>
            <a:off x="5019675" y="437197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1500</a:t>
            </a:r>
          </a:p>
        </p:txBody>
      </p:sp>
      <p:sp>
        <p:nvSpPr>
          <p:cNvPr id="33863" name="Rectangle 68"/>
          <p:cNvSpPr>
            <a:spLocks noChangeArrowheads="1"/>
          </p:cNvSpPr>
          <p:nvPr/>
        </p:nvSpPr>
        <p:spPr bwMode="auto">
          <a:xfrm>
            <a:off x="5013325" y="48117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1900</a:t>
            </a:r>
          </a:p>
        </p:txBody>
      </p:sp>
      <p:sp>
        <p:nvSpPr>
          <p:cNvPr id="33864" name="Rectangle 69"/>
          <p:cNvSpPr>
            <a:spLocks noChangeArrowheads="1"/>
          </p:cNvSpPr>
          <p:nvPr/>
        </p:nvSpPr>
        <p:spPr bwMode="auto">
          <a:xfrm>
            <a:off x="5006975" y="503713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2100</a:t>
            </a:r>
          </a:p>
        </p:txBody>
      </p:sp>
      <p:sp>
        <p:nvSpPr>
          <p:cNvPr id="33865" name="Rectangle 70"/>
          <p:cNvSpPr>
            <a:spLocks noChangeArrowheads="1"/>
          </p:cNvSpPr>
          <p:nvPr/>
        </p:nvSpPr>
        <p:spPr bwMode="auto">
          <a:xfrm>
            <a:off x="4994275" y="39512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1200</a:t>
            </a:r>
          </a:p>
        </p:txBody>
      </p:sp>
      <p:sp>
        <p:nvSpPr>
          <p:cNvPr id="33866" name="Line 71"/>
          <p:cNvSpPr>
            <a:spLocks noChangeShapeType="1"/>
          </p:cNvSpPr>
          <p:nvPr/>
        </p:nvSpPr>
        <p:spPr bwMode="auto">
          <a:xfrm>
            <a:off x="5707063" y="3127375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67" name="Line 72"/>
          <p:cNvSpPr>
            <a:spLocks noChangeShapeType="1"/>
          </p:cNvSpPr>
          <p:nvPr/>
        </p:nvSpPr>
        <p:spPr bwMode="auto">
          <a:xfrm>
            <a:off x="5719763" y="3625850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68" name="Rectangle 73"/>
          <p:cNvSpPr>
            <a:spLocks noChangeArrowheads="1"/>
          </p:cNvSpPr>
          <p:nvPr/>
        </p:nvSpPr>
        <p:spPr bwMode="auto">
          <a:xfrm>
            <a:off x="5913438" y="2874963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33869" name="Rectangle 74"/>
          <p:cNvSpPr>
            <a:spLocks noChangeArrowheads="1"/>
          </p:cNvSpPr>
          <p:nvPr/>
        </p:nvSpPr>
        <p:spPr bwMode="auto">
          <a:xfrm>
            <a:off x="5099050" y="2725738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500</a:t>
            </a:r>
          </a:p>
        </p:txBody>
      </p:sp>
      <p:sp>
        <p:nvSpPr>
          <p:cNvPr id="33870" name="Rectangle 75"/>
          <p:cNvSpPr>
            <a:spLocks noChangeArrowheads="1"/>
          </p:cNvSpPr>
          <p:nvPr/>
        </p:nvSpPr>
        <p:spPr bwMode="auto">
          <a:xfrm>
            <a:off x="4970463" y="3544888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3871" name="Rectangle 76"/>
          <p:cNvSpPr>
            <a:spLocks noChangeArrowheads="1"/>
          </p:cNvSpPr>
          <p:nvPr/>
        </p:nvSpPr>
        <p:spPr bwMode="auto">
          <a:xfrm>
            <a:off x="5840413" y="4467225"/>
            <a:ext cx="758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900K</a:t>
            </a:r>
          </a:p>
        </p:txBody>
      </p:sp>
      <p:sp>
        <p:nvSpPr>
          <p:cNvPr id="33872" name="Rectangle 77"/>
          <p:cNvSpPr>
            <a:spLocks noChangeArrowheads="1"/>
          </p:cNvSpPr>
          <p:nvPr/>
        </p:nvSpPr>
        <p:spPr bwMode="auto">
          <a:xfrm>
            <a:off x="7804150" y="2028825"/>
            <a:ext cx="976313" cy="3173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73" name="Line 78"/>
          <p:cNvSpPr>
            <a:spLocks noChangeShapeType="1"/>
          </p:cNvSpPr>
          <p:nvPr/>
        </p:nvSpPr>
        <p:spPr bwMode="auto">
          <a:xfrm>
            <a:off x="7804150" y="2482850"/>
            <a:ext cx="957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74" name="Line 79"/>
          <p:cNvSpPr>
            <a:spLocks noChangeShapeType="1"/>
          </p:cNvSpPr>
          <p:nvPr/>
        </p:nvSpPr>
        <p:spPr bwMode="auto">
          <a:xfrm>
            <a:off x="7804150" y="2870200"/>
            <a:ext cx="957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75" name="Rectangle 80"/>
          <p:cNvSpPr>
            <a:spLocks noChangeArrowheads="1"/>
          </p:cNvSpPr>
          <p:nvPr/>
        </p:nvSpPr>
        <p:spPr bwMode="auto">
          <a:xfrm>
            <a:off x="7804150" y="3133725"/>
            <a:ext cx="976313" cy="12652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3876" name="Rectangle 81"/>
          <p:cNvSpPr>
            <a:spLocks noChangeArrowheads="1"/>
          </p:cNvSpPr>
          <p:nvPr/>
        </p:nvSpPr>
        <p:spPr bwMode="auto">
          <a:xfrm>
            <a:off x="7918450" y="2084388"/>
            <a:ext cx="5826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OS</a:t>
            </a:r>
          </a:p>
        </p:txBody>
      </p:sp>
      <p:sp>
        <p:nvSpPr>
          <p:cNvPr id="33877" name="Rectangle 82"/>
          <p:cNvSpPr>
            <a:spLocks noChangeArrowheads="1"/>
          </p:cNvSpPr>
          <p:nvPr/>
        </p:nvSpPr>
        <p:spPr bwMode="auto">
          <a:xfrm>
            <a:off x="8026400" y="25161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33878" name="Rectangle 83"/>
          <p:cNvSpPr>
            <a:spLocks noChangeArrowheads="1"/>
          </p:cNvSpPr>
          <p:nvPr/>
        </p:nvSpPr>
        <p:spPr bwMode="auto">
          <a:xfrm>
            <a:off x="8004175" y="449103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P4</a:t>
            </a:r>
          </a:p>
        </p:txBody>
      </p:sp>
      <p:sp>
        <p:nvSpPr>
          <p:cNvPr id="33879" name="Rectangle 84"/>
          <p:cNvSpPr>
            <a:spLocks noChangeArrowheads="1"/>
          </p:cNvSpPr>
          <p:nvPr/>
        </p:nvSpPr>
        <p:spPr bwMode="auto">
          <a:xfrm>
            <a:off x="7997825" y="4916488"/>
            <a:ext cx="4635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P3</a:t>
            </a:r>
          </a:p>
        </p:txBody>
      </p:sp>
      <p:sp>
        <p:nvSpPr>
          <p:cNvPr id="33880" name="Rectangle 85"/>
          <p:cNvSpPr>
            <a:spLocks noChangeArrowheads="1"/>
          </p:cNvSpPr>
          <p:nvPr/>
        </p:nvSpPr>
        <p:spPr bwMode="auto">
          <a:xfrm>
            <a:off x="7366000" y="19272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33881" name="Rectangle 86"/>
          <p:cNvSpPr>
            <a:spLocks noChangeArrowheads="1"/>
          </p:cNvSpPr>
          <p:nvPr/>
        </p:nvSpPr>
        <p:spPr bwMode="auto">
          <a:xfrm>
            <a:off x="7213600" y="2338388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300</a:t>
            </a:r>
          </a:p>
        </p:txBody>
      </p:sp>
      <p:sp>
        <p:nvSpPr>
          <p:cNvPr id="33882" name="Rectangle 87"/>
          <p:cNvSpPr>
            <a:spLocks noChangeArrowheads="1"/>
          </p:cNvSpPr>
          <p:nvPr/>
        </p:nvSpPr>
        <p:spPr bwMode="auto">
          <a:xfrm>
            <a:off x="7151688" y="3036888"/>
            <a:ext cx="625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600</a:t>
            </a:r>
          </a:p>
        </p:txBody>
      </p:sp>
      <p:sp>
        <p:nvSpPr>
          <p:cNvPr id="33883" name="Rectangle 88"/>
          <p:cNvSpPr>
            <a:spLocks noChangeArrowheads="1"/>
          </p:cNvSpPr>
          <p:nvPr/>
        </p:nvSpPr>
        <p:spPr bwMode="auto">
          <a:xfrm>
            <a:off x="7127875" y="4367213"/>
            <a:ext cx="688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1500</a:t>
            </a:r>
          </a:p>
        </p:txBody>
      </p:sp>
      <p:sp>
        <p:nvSpPr>
          <p:cNvPr id="33884" name="Rectangle 89"/>
          <p:cNvSpPr>
            <a:spLocks noChangeArrowheads="1"/>
          </p:cNvSpPr>
          <p:nvPr/>
        </p:nvSpPr>
        <p:spPr bwMode="auto">
          <a:xfrm>
            <a:off x="7121525" y="4806950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1900</a:t>
            </a:r>
          </a:p>
        </p:txBody>
      </p:sp>
      <p:sp>
        <p:nvSpPr>
          <p:cNvPr id="33885" name="Rectangle 90"/>
          <p:cNvSpPr>
            <a:spLocks noChangeArrowheads="1"/>
          </p:cNvSpPr>
          <p:nvPr/>
        </p:nvSpPr>
        <p:spPr bwMode="auto">
          <a:xfrm>
            <a:off x="7115175" y="503237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2100</a:t>
            </a:r>
          </a:p>
        </p:txBody>
      </p:sp>
      <p:sp>
        <p:nvSpPr>
          <p:cNvPr id="33886" name="Rectangle 91"/>
          <p:cNvSpPr>
            <a:spLocks noChangeArrowheads="1"/>
          </p:cNvSpPr>
          <p:nvPr/>
        </p:nvSpPr>
        <p:spPr bwMode="auto">
          <a:xfrm>
            <a:off x="7102475" y="394652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1200</a:t>
            </a:r>
          </a:p>
        </p:txBody>
      </p:sp>
      <p:sp>
        <p:nvSpPr>
          <p:cNvPr id="33887" name="Line 92"/>
          <p:cNvSpPr>
            <a:spLocks noChangeShapeType="1"/>
          </p:cNvSpPr>
          <p:nvPr/>
        </p:nvSpPr>
        <p:spPr bwMode="auto">
          <a:xfrm>
            <a:off x="7815263" y="4854575"/>
            <a:ext cx="958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88" name="Rectangle 93"/>
          <p:cNvSpPr>
            <a:spLocks noChangeArrowheads="1"/>
          </p:cNvSpPr>
          <p:nvPr/>
        </p:nvSpPr>
        <p:spPr bwMode="auto">
          <a:xfrm>
            <a:off x="8021638" y="2870200"/>
            <a:ext cx="4635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33889" name="Rectangle 94"/>
          <p:cNvSpPr>
            <a:spLocks noChangeArrowheads="1"/>
          </p:cNvSpPr>
          <p:nvPr/>
        </p:nvSpPr>
        <p:spPr bwMode="auto">
          <a:xfrm>
            <a:off x="7207250" y="2720975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500</a:t>
            </a:r>
          </a:p>
        </p:txBody>
      </p:sp>
      <p:sp>
        <p:nvSpPr>
          <p:cNvPr id="33890" name="Rectangle 95"/>
          <p:cNvSpPr>
            <a:spLocks noChangeArrowheads="1"/>
          </p:cNvSpPr>
          <p:nvPr/>
        </p:nvSpPr>
        <p:spPr bwMode="auto">
          <a:xfrm>
            <a:off x="7078663" y="3540125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1000</a:t>
            </a:r>
          </a:p>
        </p:txBody>
      </p:sp>
      <p:sp>
        <p:nvSpPr>
          <p:cNvPr id="33891" name="Rectangle 96"/>
          <p:cNvSpPr>
            <a:spLocks noChangeArrowheads="1"/>
          </p:cNvSpPr>
          <p:nvPr/>
        </p:nvSpPr>
        <p:spPr bwMode="auto">
          <a:xfrm>
            <a:off x="7948613" y="3587750"/>
            <a:ext cx="7588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900K</a:t>
            </a:r>
          </a:p>
        </p:txBody>
      </p:sp>
      <p:sp>
        <p:nvSpPr>
          <p:cNvPr id="33892" name="Rectangle 97"/>
          <p:cNvSpPr>
            <a:spLocks noChangeArrowheads="1"/>
          </p:cNvSpPr>
          <p:nvPr/>
        </p:nvSpPr>
        <p:spPr bwMode="auto">
          <a:xfrm>
            <a:off x="300038" y="5446713"/>
            <a:ext cx="83121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original allocation       moved 600K             moved 400K       moved 200K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D9E67E-767C-4D45-9E2C-98EEAC109C3B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5ED8FD-315C-4B54-A930-68FB3EB193C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772400" cy="609600"/>
          </a:xfrm>
        </p:spPr>
        <p:txBody>
          <a:bodyPr/>
          <a:lstStyle/>
          <a:p>
            <a:pPr algn="ctr" eaLnBrk="1" hangingPunct="1"/>
            <a:r>
              <a:rPr lang="en-US" altLang="zh-TW" b="1" smtClean="0">
                <a:solidFill>
                  <a:srgbClr val="FF0000"/>
                </a:solidFill>
              </a:rPr>
              <a:t>Paging</a:t>
            </a:r>
          </a:p>
        </p:txBody>
      </p:sp>
      <p:sp>
        <p:nvSpPr>
          <p:cNvPr id="61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Logical address space of a process can be </a:t>
            </a:r>
            <a:r>
              <a:rPr lang="en-US" altLang="zh-TW" sz="2400" dirty="0" smtClean="0">
                <a:solidFill>
                  <a:srgbClr val="0000FF"/>
                </a:solidFill>
              </a:rPr>
              <a:t>noncontiguous 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Divide </a:t>
            </a:r>
            <a:r>
              <a:rPr lang="en-US" altLang="zh-TW" sz="2400" dirty="0" smtClean="0">
                <a:solidFill>
                  <a:srgbClr val="0000FF"/>
                </a:solidFill>
              </a:rPr>
              <a:t>physical memory</a:t>
            </a:r>
            <a:r>
              <a:rPr lang="en-US" altLang="zh-TW" sz="2400" dirty="0" smtClean="0"/>
              <a:t> into fixed-sized blocks called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frames</a:t>
            </a:r>
            <a:r>
              <a:rPr lang="en-US" altLang="zh-TW" sz="2400" dirty="0" smtClean="0"/>
              <a:t> (size is power of 2, between 512 bytes and 8192 bytes).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Divide </a:t>
            </a:r>
            <a:r>
              <a:rPr lang="en-US" altLang="zh-TW" sz="2400" dirty="0" smtClean="0">
                <a:solidFill>
                  <a:srgbClr val="0000FF"/>
                </a:solidFill>
              </a:rPr>
              <a:t>logical memory</a:t>
            </a:r>
            <a:r>
              <a:rPr lang="en-US" altLang="zh-TW" sz="2400" dirty="0" smtClean="0"/>
              <a:t> into blocks of same size called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pages</a:t>
            </a:r>
            <a:r>
              <a:rPr lang="en-US" altLang="zh-TW" sz="2400" dirty="0" smtClean="0"/>
              <a:t>.</a:t>
            </a:r>
            <a:endParaRPr lang="en-US" altLang="zh-TW" sz="24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Keep track of all free frames</a:t>
            </a:r>
            <a:r>
              <a:rPr lang="en-US" altLang="zh-TW" sz="2400" dirty="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To run a program of size </a:t>
            </a:r>
            <a:r>
              <a:rPr lang="en-US" altLang="zh-TW" sz="2400" i="1" dirty="0" smtClean="0">
                <a:latin typeface="Times New Roman" pitchFamily="18" charset="0"/>
              </a:rPr>
              <a:t>n</a:t>
            </a:r>
            <a:r>
              <a:rPr lang="en-US" altLang="zh-TW" sz="2400" dirty="0" smtClean="0"/>
              <a:t> pages, need to </a:t>
            </a:r>
            <a:r>
              <a:rPr lang="en-US" altLang="zh-TW" sz="2400" dirty="0" smtClean="0">
                <a:solidFill>
                  <a:srgbClr val="FF0000"/>
                </a:solidFill>
              </a:rPr>
              <a:t>find</a:t>
            </a:r>
            <a:r>
              <a:rPr lang="en-US" altLang="zh-TW" sz="2400" dirty="0" smtClean="0"/>
              <a:t> </a:t>
            </a:r>
            <a:r>
              <a:rPr lang="en-US" altLang="zh-TW" sz="2400" i="1" dirty="0" smtClean="0">
                <a:latin typeface="Times New Roman" pitchFamily="18" charset="0"/>
              </a:rPr>
              <a:t>n</a:t>
            </a:r>
            <a:r>
              <a:rPr lang="en-US" altLang="zh-TW" sz="2400" dirty="0" smtClean="0"/>
              <a:t> free frames and load program.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/>
              <a:t>Set up a </a:t>
            </a:r>
            <a:r>
              <a:rPr lang="en-US" altLang="zh-TW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page table</a:t>
            </a:r>
            <a:r>
              <a:rPr lang="en-US" altLang="zh-TW" sz="2400" dirty="0" smtClean="0"/>
              <a:t> to translate logical to physical addresses. </a:t>
            </a:r>
            <a:endParaRPr lang="en-US" altLang="zh-TW" sz="2400" dirty="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chemeClr val="tx2"/>
                </a:solidFill>
              </a:rPr>
              <a:t>Internal fragmentation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9C14BD-93AB-4792-AF20-CA6AC4A026DE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194E94-0BCC-42C9-AF24-A928876A3BF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668338"/>
          </a:xfrm>
        </p:spPr>
        <p:txBody>
          <a:bodyPr/>
          <a:lstStyle/>
          <a:p>
            <a:pPr algn="ctr" eaLnBrk="1" hangingPunct="1"/>
            <a:r>
              <a:rPr lang="en-US" altLang="zh-TW" smtClean="0">
                <a:solidFill>
                  <a:srgbClr val="0000FF"/>
                </a:solidFill>
              </a:rPr>
              <a:t>Address Translation Scheme</a:t>
            </a:r>
          </a:p>
        </p:txBody>
      </p:sp>
      <p:sp>
        <p:nvSpPr>
          <p:cNvPr id="624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458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Address generated by CPU is divided into:</a:t>
            </a:r>
            <a:endParaRPr lang="en-US" altLang="zh-TW" sz="28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Page number</a:t>
            </a:r>
            <a:r>
              <a:rPr lang="en-US" altLang="zh-TW" sz="2400" smtClean="0"/>
              <a:t> (</a:t>
            </a:r>
            <a:r>
              <a:rPr lang="en-US" altLang="zh-TW" sz="2400" smtClean="0">
                <a:solidFill>
                  <a:srgbClr val="FF0000"/>
                </a:solidFill>
              </a:rPr>
              <a:t>p</a:t>
            </a:r>
            <a:r>
              <a:rPr lang="en-US" altLang="zh-TW" sz="2400" smtClean="0"/>
              <a:t>)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used as an index into a page table which contains base address of each page in physical memory.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Page offset</a:t>
            </a:r>
            <a:r>
              <a:rPr lang="en-US" altLang="zh-TW" sz="2400" smtClean="0"/>
              <a:t> (</a:t>
            </a:r>
            <a:r>
              <a:rPr lang="en-US" altLang="zh-TW" sz="2400" smtClean="0">
                <a:solidFill>
                  <a:srgbClr val="FF0000"/>
                </a:solidFill>
              </a:rPr>
              <a:t>d</a:t>
            </a:r>
            <a:r>
              <a:rPr lang="en-US" altLang="zh-TW" sz="2400" smtClean="0"/>
              <a:t>)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combined with base address to define the physical memory address that is sent to the memory unit.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200" smtClean="0"/>
              <a:t>logical address: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smtClean="0"/>
              <a:t>	</a:t>
            </a:r>
            <a:r>
              <a:rPr lang="en-US" altLang="zh-TW" sz="2600" b="1" smtClean="0">
                <a:solidFill>
                  <a:srgbClr val="FF0000"/>
                </a:solidFill>
              </a:rPr>
              <a:t>	page number (p) + page offset (d)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600" smtClean="0">
                <a:latin typeface="Wingdings" panose="05000000000000000000" pitchFamily="2" charset="2"/>
              </a:rPr>
              <a:t>J</a:t>
            </a:r>
            <a:r>
              <a:rPr lang="en-US" altLang="zh-TW" sz="2600" smtClean="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/>
              <a:t>No external fragmentation</a:t>
            </a:r>
            <a:endParaRPr lang="en-US" altLang="zh-TW" sz="2600" b="1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b="1" smtClean="0">
                <a:solidFill>
                  <a:srgbClr val="FF0000"/>
                </a:solidFill>
              </a:rPr>
              <a:t>shared pages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2400" b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234F4C1-EFC0-47F0-8795-3943687E80B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EC9B13-CF10-4C0C-AB16-4C2423E3B97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36869" name="Rectangle 6"/>
          <p:cNvSpPr>
            <a:spLocks noGrp="1" noChangeArrowheads="1"/>
          </p:cNvSpPr>
          <p:nvPr>
            <p:ph type="title"/>
          </p:nvPr>
        </p:nvSpPr>
        <p:spPr>
          <a:xfrm>
            <a:off x="868363" y="228600"/>
            <a:ext cx="7742237" cy="685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Paging model of logical and physical memory</a:t>
            </a:r>
          </a:p>
        </p:txBody>
      </p:sp>
      <p:sp>
        <p:nvSpPr>
          <p:cNvPr id="36870" name="Rectangle 52"/>
          <p:cNvSpPr>
            <a:spLocks noChangeArrowheads="1"/>
          </p:cNvSpPr>
          <p:nvPr/>
        </p:nvSpPr>
        <p:spPr bwMode="auto">
          <a:xfrm>
            <a:off x="3317875" y="1111250"/>
            <a:ext cx="13509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36871" name="Rectangle 53"/>
          <p:cNvSpPr>
            <a:spLocks noChangeArrowheads="1"/>
          </p:cNvSpPr>
          <p:nvPr/>
        </p:nvSpPr>
        <p:spPr bwMode="auto">
          <a:xfrm>
            <a:off x="4852988" y="822325"/>
            <a:ext cx="18161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frame number</a:t>
            </a:r>
          </a:p>
        </p:txBody>
      </p:sp>
      <p:sp>
        <p:nvSpPr>
          <p:cNvPr id="36872" name="Text Box 55"/>
          <p:cNvSpPr txBox="1">
            <a:spLocks noChangeArrowheads="1"/>
          </p:cNvSpPr>
          <p:nvPr/>
        </p:nvSpPr>
        <p:spPr bwMode="auto">
          <a:xfrm>
            <a:off x="482600" y="5005388"/>
            <a:ext cx="813752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2E2E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Example: page size = 1 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		(2,  13)  	----------------&gt; (3*1K + </a:t>
            </a: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13</a:t>
            </a:r>
            <a:r>
              <a:rPr lang="en-US" altLang="zh-TW" sz="2000" b="1">
                <a:latin typeface="Book Antiqua" panose="0204060205030503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			----------------&gt; </a:t>
            </a:r>
            <a:r>
              <a:rPr lang="en-US" altLang="zh-TW" sz="2000" b="1" i="1">
                <a:latin typeface="Book Antiqua" panose="02040602050305030304" pitchFamily="18" charset="0"/>
              </a:rPr>
              <a:t>011</a:t>
            </a:r>
            <a:r>
              <a:rPr lang="en-US" altLang="zh-TW" sz="2000" b="1">
                <a:latin typeface="Book Antiqua" panose="02040602050305030304" pitchFamily="18" charset="0"/>
              </a:rPr>
              <a:t>0000000000 +</a:t>
            </a:r>
            <a:r>
              <a:rPr lang="en-US" altLang="zh-TW" sz="2000" b="1" i="1">
                <a:latin typeface="Book Antiqua" panose="02040602050305030304" pitchFamily="18" charset="0"/>
              </a:rPr>
              <a:t> </a:t>
            </a:r>
            <a:r>
              <a:rPr lang="en-US" altLang="zh-TW" sz="2400" b="1">
                <a:solidFill>
                  <a:srgbClr val="FF0000"/>
                </a:solidFill>
                <a:latin typeface="Book Antiqua" panose="02040602050305030304" pitchFamily="18" charset="0"/>
              </a:rPr>
              <a:t>0000001101</a:t>
            </a:r>
            <a:endParaRPr lang="en-US" altLang="zh-TW" sz="2400" i="1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latin typeface="Book Antiqua" panose="02040602050305030304" pitchFamily="18" charset="0"/>
              </a:rPr>
              <a:t>			----------------&gt; </a:t>
            </a:r>
            <a:r>
              <a:rPr lang="en-US" altLang="zh-TW" sz="2400" b="1" i="1">
                <a:solidFill>
                  <a:schemeClr val="tx2"/>
                </a:solidFill>
                <a:latin typeface="Book Antiqua" panose="02040602050305030304" pitchFamily="18" charset="0"/>
              </a:rPr>
              <a:t>011</a:t>
            </a:r>
            <a:r>
              <a:rPr lang="en-US" altLang="zh-TW" sz="2400" b="1">
                <a:solidFill>
                  <a:srgbClr val="FF0000"/>
                </a:solidFill>
                <a:latin typeface="Book Antiqua" panose="02040602050305030304" pitchFamily="18" charset="0"/>
              </a:rPr>
              <a:t>0000001101</a:t>
            </a:r>
          </a:p>
        </p:txBody>
      </p:sp>
      <p:grpSp>
        <p:nvGrpSpPr>
          <p:cNvPr id="36873" name="Group 60"/>
          <p:cNvGrpSpPr>
            <a:grpSpLocks/>
          </p:cNvGrpSpPr>
          <p:nvPr/>
        </p:nvGrpSpPr>
        <p:grpSpPr bwMode="auto">
          <a:xfrm>
            <a:off x="1255713" y="1354138"/>
            <a:ext cx="6086475" cy="3778250"/>
            <a:chOff x="791" y="853"/>
            <a:chExt cx="3834" cy="2380"/>
          </a:xfrm>
        </p:grpSpPr>
        <p:sp>
          <p:nvSpPr>
            <p:cNvPr id="36874" name="Rectangle 2"/>
            <p:cNvSpPr>
              <a:spLocks noChangeArrowheads="1"/>
            </p:cNvSpPr>
            <p:nvPr/>
          </p:nvSpPr>
          <p:spPr bwMode="auto">
            <a:xfrm>
              <a:off x="1251" y="853"/>
              <a:ext cx="633" cy="1167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5" name="Rectangle 3"/>
            <p:cNvSpPr>
              <a:spLocks noChangeArrowheads="1"/>
            </p:cNvSpPr>
            <p:nvPr/>
          </p:nvSpPr>
          <p:spPr bwMode="auto">
            <a:xfrm>
              <a:off x="3810" y="2956"/>
              <a:ext cx="789" cy="267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6" name="Rectangle 4"/>
            <p:cNvSpPr>
              <a:spLocks noChangeArrowheads="1"/>
            </p:cNvSpPr>
            <p:nvPr/>
          </p:nvSpPr>
          <p:spPr bwMode="auto">
            <a:xfrm>
              <a:off x="3807" y="1753"/>
              <a:ext cx="789" cy="590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7" name="Rectangle 5"/>
            <p:cNvSpPr>
              <a:spLocks noChangeArrowheads="1"/>
            </p:cNvSpPr>
            <p:nvPr/>
          </p:nvSpPr>
          <p:spPr bwMode="auto">
            <a:xfrm>
              <a:off x="3811" y="1201"/>
              <a:ext cx="789" cy="267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8" name="Rectangle 7"/>
            <p:cNvSpPr>
              <a:spLocks noChangeArrowheads="1"/>
            </p:cNvSpPr>
            <p:nvPr/>
          </p:nvSpPr>
          <p:spPr bwMode="auto">
            <a:xfrm>
              <a:off x="3806" y="2057"/>
              <a:ext cx="804" cy="1176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9" name="Rectangle 8"/>
            <p:cNvSpPr>
              <a:spLocks noChangeArrowheads="1"/>
            </p:cNvSpPr>
            <p:nvPr/>
          </p:nvSpPr>
          <p:spPr bwMode="auto">
            <a:xfrm>
              <a:off x="3817" y="874"/>
              <a:ext cx="804" cy="1176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80" name="Rectangle 9"/>
            <p:cNvSpPr>
              <a:spLocks noChangeArrowheads="1"/>
            </p:cNvSpPr>
            <p:nvPr/>
          </p:nvSpPr>
          <p:spPr bwMode="auto">
            <a:xfrm>
              <a:off x="3821" y="1759"/>
              <a:ext cx="804" cy="595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81" name="Rectangle 10"/>
            <p:cNvSpPr>
              <a:spLocks noChangeArrowheads="1"/>
            </p:cNvSpPr>
            <p:nvPr/>
          </p:nvSpPr>
          <p:spPr bwMode="auto">
            <a:xfrm>
              <a:off x="3806" y="2952"/>
              <a:ext cx="804" cy="281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82" name="Rectangle 11"/>
            <p:cNvSpPr>
              <a:spLocks noChangeArrowheads="1"/>
            </p:cNvSpPr>
            <p:nvPr/>
          </p:nvSpPr>
          <p:spPr bwMode="auto">
            <a:xfrm>
              <a:off x="3810" y="1186"/>
              <a:ext cx="804" cy="269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83" name="Rectangle 12"/>
            <p:cNvSpPr>
              <a:spLocks noChangeArrowheads="1"/>
            </p:cNvSpPr>
            <p:nvPr/>
          </p:nvSpPr>
          <p:spPr bwMode="auto">
            <a:xfrm>
              <a:off x="1270" y="855"/>
              <a:ext cx="627" cy="1164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84" name="Line 13"/>
            <p:cNvSpPr>
              <a:spLocks noChangeShapeType="1"/>
            </p:cNvSpPr>
            <p:nvPr/>
          </p:nvSpPr>
          <p:spPr bwMode="auto">
            <a:xfrm>
              <a:off x="1270" y="1149"/>
              <a:ext cx="627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5" name="Line 14"/>
            <p:cNvSpPr>
              <a:spLocks noChangeShapeType="1"/>
            </p:cNvSpPr>
            <p:nvPr/>
          </p:nvSpPr>
          <p:spPr bwMode="auto">
            <a:xfrm>
              <a:off x="1266" y="1433"/>
              <a:ext cx="627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6" name="Line 15"/>
            <p:cNvSpPr>
              <a:spLocks noChangeShapeType="1"/>
            </p:cNvSpPr>
            <p:nvPr/>
          </p:nvSpPr>
          <p:spPr bwMode="auto">
            <a:xfrm>
              <a:off x="1275" y="1729"/>
              <a:ext cx="627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7" name="Rectangle 16"/>
            <p:cNvSpPr>
              <a:spLocks noChangeArrowheads="1"/>
            </p:cNvSpPr>
            <p:nvPr/>
          </p:nvSpPr>
          <p:spPr bwMode="auto">
            <a:xfrm>
              <a:off x="1273" y="888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0</a:t>
              </a:r>
            </a:p>
          </p:txBody>
        </p:sp>
        <p:sp>
          <p:nvSpPr>
            <p:cNvPr id="36888" name="Rectangle 17"/>
            <p:cNvSpPr>
              <a:spLocks noChangeArrowheads="1"/>
            </p:cNvSpPr>
            <p:nvPr/>
          </p:nvSpPr>
          <p:spPr bwMode="auto">
            <a:xfrm>
              <a:off x="1281" y="1172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1</a:t>
              </a:r>
            </a:p>
          </p:txBody>
        </p:sp>
        <p:sp>
          <p:nvSpPr>
            <p:cNvPr id="36889" name="Rectangle 18"/>
            <p:cNvSpPr>
              <a:spLocks noChangeArrowheads="1"/>
            </p:cNvSpPr>
            <p:nvPr/>
          </p:nvSpPr>
          <p:spPr bwMode="auto">
            <a:xfrm>
              <a:off x="1290" y="1456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2</a:t>
              </a:r>
            </a:p>
          </p:txBody>
        </p:sp>
        <p:sp>
          <p:nvSpPr>
            <p:cNvPr id="36890" name="Rectangle 19"/>
            <p:cNvSpPr>
              <a:spLocks noChangeArrowheads="1"/>
            </p:cNvSpPr>
            <p:nvPr/>
          </p:nvSpPr>
          <p:spPr bwMode="auto">
            <a:xfrm>
              <a:off x="1285" y="1763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3</a:t>
              </a:r>
            </a:p>
          </p:txBody>
        </p:sp>
        <p:sp>
          <p:nvSpPr>
            <p:cNvPr id="36891" name="Rectangle 20"/>
            <p:cNvSpPr>
              <a:spLocks noChangeArrowheads="1"/>
            </p:cNvSpPr>
            <p:nvPr/>
          </p:nvSpPr>
          <p:spPr bwMode="auto">
            <a:xfrm>
              <a:off x="791" y="2133"/>
              <a:ext cx="1254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logical memory</a:t>
              </a:r>
            </a:p>
          </p:txBody>
        </p:sp>
        <p:sp>
          <p:nvSpPr>
            <p:cNvPr id="36892" name="Rectangle 21"/>
            <p:cNvSpPr>
              <a:spLocks noChangeArrowheads="1"/>
            </p:cNvSpPr>
            <p:nvPr/>
          </p:nvSpPr>
          <p:spPr bwMode="auto">
            <a:xfrm>
              <a:off x="2485" y="1027"/>
              <a:ext cx="284" cy="866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990B8A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93" name="Line 22"/>
            <p:cNvSpPr>
              <a:spLocks noChangeShapeType="1"/>
            </p:cNvSpPr>
            <p:nvPr/>
          </p:nvSpPr>
          <p:spPr bwMode="auto">
            <a:xfrm>
              <a:off x="2485" y="1230"/>
              <a:ext cx="284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94" name="Line 23"/>
            <p:cNvSpPr>
              <a:spLocks noChangeShapeType="1"/>
            </p:cNvSpPr>
            <p:nvPr/>
          </p:nvSpPr>
          <p:spPr bwMode="auto">
            <a:xfrm>
              <a:off x="2497" y="1460"/>
              <a:ext cx="272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95" name="Line 24"/>
            <p:cNvSpPr>
              <a:spLocks noChangeShapeType="1"/>
            </p:cNvSpPr>
            <p:nvPr/>
          </p:nvSpPr>
          <p:spPr bwMode="auto">
            <a:xfrm>
              <a:off x="2485" y="1679"/>
              <a:ext cx="284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96" name="Rectangle 25"/>
            <p:cNvSpPr>
              <a:spLocks noChangeArrowheads="1"/>
            </p:cNvSpPr>
            <p:nvPr/>
          </p:nvSpPr>
          <p:spPr bwMode="auto">
            <a:xfrm>
              <a:off x="2512" y="1015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36897" name="Rectangle 26"/>
            <p:cNvSpPr>
              <a:spLocks noChangeArrowheads="1"/>
            </p:cNvSpPr>
            <p:nvPr/>
          </p:nvSpPr>
          <p:spPr bwMode="auto">
            <a:xfrm>
              <a:off x="2508" y="1241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4</a:t>
              </a:r>
            </a:p>
          </p:txBody>
        </p:sp>
        <p:sp>
          <p:nvSpPr>
            <p:cNvPr id="36898" name="Rectangle 27"/>
            <p:cNvSpPr>
              <a:spLocks noChangeArrowheads="1"/>
            </p:cNvSpPr>
            <p:nvPr/>
          </p:nvSpPr>
          <p:spPr bwMode="auto">
            <a:xfrm>
              <a:off x="2516" y="1468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3</a:t>
              </a:r>
            </a:p>
          </p:txBody>
        </p:sp>
        <p:sp>
          <p:nvSpPr>
            <p:cNvPr id="36899" name="Rectangle 28"/>
            <p:cNvSpPr>
              <a:spLocks noChangeArrowheads="1"/>
            </p:cNvSpPr>
            <p:nvPr/>
          </p:nvSpPr>
          <p:spPr bwMode="auto">
            <a:xfrm>
              <a:off x="2512" y="1683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7</a:t>
              </a:r>
            </a:p>
          </p:txBody>
        </p:sp>
        <p:sp>
          <p:nvSpPr>
            <p:cNvPr id="36900" name="Rectangle 29"/>
            <p:cNvSpPr>
              <a:spLocks noChangeArrowheads="1"/>
            </p:cNvSpPr>
            <p:nvPr/>
          </p:nvSpPr>
          <p:spPr bwMode="auto">
            <a:xfrm>
              <a:off x="2238" y="1011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</a:t>
              </a:r>
            </a:p>
          </p:txBody>
        </p:sp>
        <p:sp>
          <p:nvSpPr>
            <p:cNvPr id="36901" name="Rectangle 30"/>
            <p:cNvSpPr>
              <a:spLocks noChangeArrowheads="1"/>
            </p:cNvSpPr>
            <p:nvPr/>
          </p:nvSpPr>
          <p:spPr bwMode="auto">
            <a:xfrm>
              <a:off x="2234" y="1237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36902" name="Rectangle 31"/>
            <p:cNvSpPr>
              <a:spLocks noChangeArrowheads="1"/>
            </p:cNvSpPr>
            <p:nvPr/>
          </p:nvSpPr>
          <p:spPr bwMode="auto">
            <a:xfrm>
              <a:off x="2242" y="1464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2</a:t>
              </a:r>
            </a:p>
          </p:txBody>
        </p:sp>
        <p:sp>
          <p:nvSpPr>
            <p:cNvPr id="36903" name="Rectangle 32"/>
            <p:cNvSpPr>
              <a:spLocks noChangeArrowheads="1"/>
            </p:cNvSpPr>
            <p:nvPr/>
          </p:nvSpPr>
          <p:spPr bwMode="auto">
            <a:xfrm>
              <a:off x="2238" y="1679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3</a:t>
              </a:r>
            </a:p>
          </p:txBody>
        </p:sp>
        <p:sp>
          <p:nvSpPr>
            <p:cNvPr id="36904" name="Line 33"/>
            <p:cNvSpPr>
              <a:spLocks noChangeShapeType="1"/>
            </p:cNvSpPr>
            <p:nvPr/>
          </p:nvSpPr>
          <p:spPr bwMode="auto">
            <a:xfrm>
              <a:off x="3814" y="1464"/>
              <a:ext cx="783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5" name="Line 34"/>
            <p:cNvSpPr>
              <a:spLocks noChangeShapeType="1"/>
            </p:cNvSpPr>
            <p:nvPr/>
          </p:nvSpPr>
          <p:spPr bwMode="auto">
            <a:xfrm>
              <a:off x="3810" y="1760"/>
              <a:ext cx="804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6" name="Rectangle 35"/>
            <p:cNvSpPr>
              <a:spLocks noChangeArrowheads="1"/>
            </p:cNvSpPr>
            <p:nvPr/>
          </p:nvSpPr>
          <p:spPr bwMode="auto">
            <a:xfrm>
              <a:off x="3944" y="1205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0</a:t>
              </a:r>
            </a:p>
          </p:txBody>
        </p:sp>
        <p:sp>
          <p:nvSpPr>
            <p:cNvPr id="36907" name="Rectangle 36"/>
            <p:cNvSpPr>
              <a:spLocks noChangeArrowheads="1"/>
            </p:cNvSpPr>
            <p:nvPr/>
          </p:nvSpPr>
          <p:spPr bwMode="auto">
            <a:xfrm>
              <a:off x="3923" y="1785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2</a:t>
              </a:r>
            </a:p>
          </p:txBody>
        </p:sp>
        <p:sp>
          <p:nvSpPr>
            <p:cNvPr id="36908" name="Line 37"/>
            <p:cNvSpPr>
              <a:spLocks noChangeShapeType="1"/>
            </p:cNvSpPr>
            <p:nvPr/>
          </p:nvSpPr>
          <p:spPr bwMode="auto">
            <a:xfrm>
              <a:off x="3810" y="2647"/>
              <a:ext cx="794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09" name="Rectangle 38"/>
            <p:cNvSpPr>
              <a:spLocks noChangeArrowheads="1"/>
            </p:cNvSpPr>
            <p:nvPr/>
          </p:nvSpPr>
          <p:spPr bwMode="auto">
            <a:xfrm>
              <a:off x="3944" y="2975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3</a:t>
              </a:r>
            </a:p>
          </p:txBody>
        </p:sp>
        <p:sp>
          <p:nvSpPr>
            <p:cNvPr id="36910" name="Rectangle 39"/>
            <p:cNvSpPr>
              <a:spLocks noChangeArrowheads="1"/>
            </p:cNvSpPr>
            <p:nvPr/>
          </p:nvSpPr>
          <p:spPr bwMode="auto">
            <a:xfrm>
              <a:off x="3919" y="2099"/>
              <a:ext cx="589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1</a:t>
              </a:r>
            </a:p>
          </p:txBody>
        </p:sp>
        <p:sp>
          <p:nvSpPr>
            <p:cNvPr id="36911" name="Rectangle 40"/>
            <p:cNvSpPr>
              <a:spLocks noChangeArrowheads="1"/>
            </p:cNvSpPr>
            <p:nvPr/>
          </p:nvSpPr>
          <p:spPr bwMode="auto">
            <a:xfrm>
              <a:off x="3535" y="949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</a:t>
              </a:r>
            </a:p>
          </p:txBody>
        </p:sp>
        <p:sp>
          <p:nvSpPr>
            <p:cNvPr id="36912" name="Rectangle 41"/>
            <p:cNvSpPr>
              <a:spLocks noChangeArrowheads="1"/>
            </p:cNvSpPr>
            <p:nvPr/>
          </p:nvSpPr>
          <p:spPr bwMode="auto">
            <a:xfrm>
              <a:off x="3531" y="1210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36913" name="Rectangle 42"/>
            <p:cNvSpPr>
              <a:spLocks noChangeArrowheads="1"/>
            </p:cNvSpPr>
            <p:nvPr/>
          </p:nvSpPr>
          <p:spPr bwMode="auto">
            <a:xfrm>
              <a:off x="3526" y="1518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2</a:t>
              </a:r>
            </a:p>
          </p:txBody>
        </p:sp>
        <p:sp>
          <p:nvSpPr>
            <p:cNvPr id="36914" name="Rectangle 43"/>
            <p:cNvSpPr>
              <a:spLocks noChangeArrowheads="1"/>
            </p:cNvSpPr>
            <p:nvPr/>
          </p:nvSpPr>
          <p:spPr bwMode="auto">
            <a:xfrm>
              <a:off x="3535" y="1790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3</a:t>
              </a:r>
            </a:p>
          </p:txBody>
        </p:sp>
        <p:sp>
          <p:nvSpPr>
            <p:cNvPr id="36915" name="Rectangle 44"/>
            <p:cNvSpPr>
              <a:spLocks noChangeArrowheads="1"/>
            </p:cNvSpPr>
            <p:nvPr/>
          </p:nvSpPr>
          <p:spPr bwMode="auto">
            <a:xfrm>
              <a:off x="3522" y="2086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4</a:t>
              </a:r>
            </a:p>
          </p:txBody>
        </p:sp>
        <p:sp>
          <p:nvSpPr>
            <p:cNvPr id="36916" name="Rectangle 45"/>
            <p:cNvSpPr>
              <a:spLocks noChangeArrowheads="1"/>
            </p:cNvSpPr>
            <p:nvPr/>
          </p:nvSpPr>
          <p:spPr bwMode="auto">
            <a:xfrm>
              <a:off x="3531" y="2393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5</a:t>
              </a:r>
            </a:p>
          </p:txBody>
        </p:sp>
        <p:sp>
          <p:nvSpPr>
            <p:cNvPr id="36917" name="Rectangle 46"/>
            <p:cNvSpPr>
              <a:spLocks noChangeArrowheads="1"/>
            </p:cNvSpPr>
            <p:nvPr/>
          </p:nvSpPr>
          <p:spPr bwMode="auto">
            <a:xfrm>
              <a:off x="3526" y="2689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6</a:t>
              </a:r>
            </a:p>
          </p:txBody>
        </p:sp>
        <p:sp>
          <p:nvSpPr>
            <p:cNvPr id="36918" name="Rectangle 47"/>
            <p:cNvSpPr>
              <a:spLocks noChangeArrowheads="1"/>
            </p:cNvSpPr>
            <p:nvPr/>
          </p:nvSpPr>
          <p:spPr bwMode="auto">
            <a:xfrm>
              <a:off x="3547" y="2985"/>
              <a:ext cx="202" cy="237"/>
            </a:xfrm>
            <a:prstGeom prst="rect">
              <a:avLst/>
            </a:prstGeom>
            <a:noFill/>
            <a:ln w="12700">
              <a:solidFill>
                <a:srgbClr val="0607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7</a:t>
              </a:r>
            </a:p>
          </p:txBody>
        </p:sp>
        <p:sp>
          <p:nvSpPr>
            <p:cNvPr id="36919" name="Line 48"/>
            <p:cNvSpPr>
              <a:spLocks noChangeShapeType="1"/>
            </p:cNvSpPr>
            <p:nvPr/>
          </p:nvSpPr>
          <p:spPr bwMode="auto">
            <a:xfrm>
              <a:off x="2822" y="1136"/>
              <a:ext cx="689" cy="153"/>
            </a:xfrm>
            <a:prstGeom prst="line">
              <a:avLst/>
            </a:prstGeom>
            <a:noFill/>
            <a:ln w="3810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0" name="Line 49"/>
            <p:cNvSpPr>
              <a:spLocks noChangeShapeType="1"/>
            </p:cNvSpPr>
            <p:nvPr/>
          </p:nvSpPr>
          <p:spPr bwMode="auto">
            <a:xfrm>
              <a:off x="2834" y="1367"/>
              <a:ext cx="702" cy="797"/>
            </a:xfrm>
            <a:prstGeom prst="line">
              <a:avLst/>
            </a:prstGeom>
            <a:noFill/>
            <a:ln w="3810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1" name="Line 50"/>
            <p:cNvSpPr>
              <a:spLocks noChangeShapeType="1"/>
            </p:cNvSpPr>
            <p:nvPr/>
          </p:nvSpPr>
          <p:spPr bwMode="auto">
            <a:xfrm>
              <a:off x="2809" y="1609"/>
              <a:ext cx="702" cy="233"/>
            </a:xfrm>
            <a:prstGeom prst="line">
              <a:avLst/>
            </a:prstGeom>
            <a:noFill/>
            <a:ln w="3810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2" name="Line 51"/>
            <p:cNvSpPr>
              <a:spLocks noChangeShapeType="1"/>
            </p:cNvSpPr>
            <p:nvPr/>
          </p:nvSpPr>
          <p:spPr bwMode="auto">
            <a:xfrm>
              <a:off x="2834" y="1827"/>
              <a:ext cx="727" cy="1213"/>
            </a:xfrm>
            <a:prstGeom prst="line">
              <a:avLst/>
            </a:prstGeom>
            <a:noFill/>
            <a:ln w="3810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3" name="Line 54"/>
            <p:cNvSpPr>
              <a:spLocks noChangeShapeType="1"/>
            </p:cNvSpPr>
            <p:nvPr/>
          </p:nvSpPr>
          <p:spPr bwMode="auto">
            <a:xfrm>
              <a:off x="3810" y="2059"/>
              <a:ext cx="794" cy="1"/>
            </a:xfrm>
            <a:prstGeom prst="line">
              <a:avLst/>
            </a:prstGeom>
            <a:noFill/>
            <a:ln w="12700">
              <a:solidFill>
                <a:srgbClr val="06070E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4" name="Line 56"/>
            <p:cNvSpPr>
              <a:spLocks noChangeShapeType="1"/>
            </p:cNvSpPr>
            <p:nvPr/>
          </p:nvSpPr>
          <p:spPr bwMode="auto">
            <a:xfrm>
              <a:off x="1956" y="1022"/>
              <a:ext cx="278" cy="78"/>
            </a:xfrm>
            <a:prstGeom prst="line">
              <a:avLst/>
            </a:prstGeom>
            <a:noFill/>
            <a:ln w="1905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5" name="Line 57"/>
            <p:cNvSpPr>
              <a:spLocks noChangeShapeType="1"/>
            </p:cNvSpPr>
            <p:nvPr/>
          </p:nvSpPr>
          <p:spPr bwMode="auto">
            <a:xfrm>
              <a:off x="1956" y="1311"/>
              <a:ext cx="300" cy="33"/>
            </a:xfrm>
            <a:prstGeom prst="line">
              <a:avLst/>
            </a:prstGeom>
            <a:noFill/>
            <a:ln w="1905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6" name="Line 58"/>
            <p:cNvSpPr>
              <a:spLocks noChangeShapeType="1"/>
            </p:cNvSpPr>
            <p:nvPr/>
          </p:nvSpPr>
          <p:spPr bwMode="auto">
            <a:xfrm>
              <a:off x="1967" y="1589"/>
              <a:ext cx="278" cy="11"/>
            </a:xfrm>
            <a:prstGeom prst="line">
              <a:avLst/>
            </a:prstGeom>
            <a:noFill/>
            <a:ln w="1905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927" name="Line 59"/>
            <p:cNvSpPr>
              <a:spLocks noChangeShapeType="1"/>
            </p:cNvSpPr>
            <p:nvPr/>
          </p:nvSpPr>
          <p:spPr bwMode="auto">
            <a:xfrm flipV="1">
              <a:off x="1978" y="1811"/>
              <a:ext cx="278" cy="122"/>
            </a:xfrm>
            <a:prstGeom prst="line">
              <a:avLst/>
            </a:prstGeom>
            <a:noFill/>
            <a:ln w="19050">
              <a:solidFill>
                <a:srgbClr val="06070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6A4EFB-FB8D-4D45-BCFD-90CE4D81643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87D1A84-A6B8-4584-ADC4-1B8F3913C1D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/>
          </a:p>
        </p:txBody>
      </p:sp>
      <p:grpSp>
        <p:nvGrpSpPr>
          <p:cNvPr id="37893" name="Group 37"/>
          <p:cNvGrpSpPr>
            <a:grpSpLocks/>
          </p:cNvGrpSpPr>
          <p:nvPr/>
        </p:nvGrpSpPr>
        <p:grpSpPr bwMode="auto">
          <a:xfrm>
            <a:off x="407988" y="1828800"/>
            <a:ext cx="8205787" cy="4343400"/>
            <a:chOff x="257" y="971"/>
            <a:chExt cx="5169" cy="2014"/>
          </a:xfrm>
        </p:grpSpPr>
        <p:sp>
          <p:nvSpPr>
            <p:cNvPr id="37895" name="Rectangle 2"/>
            <p:cNvSpPr>
              <a:spLocks noChangeArrowheads="1"/>
            </p:cNvSpPr>
            <p:nvPr/>
          </p:nvSpPr>
          <p:spPr bwMode="auto">
            <a:xfrm>
              <a:off x="2000" y="2300"/>
              <a:ext cx="556" cy="144"/>
            </a:xfrm>
            <a:prstGeom prst="rect">
              <a:avLst/>
            </a:prstGeom>
            <a:solidFill>
              <a:srgbClr val="E6E6E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4335" y="971"/>
              <a:ext cx="1091" cy="18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bg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bg2"/>
                      </a:gs>
                      <a:gs pos="100000">
                        <a:schemeClr val="bg2">
                          <a:gamma/>
                          <a:shade val="46275"/>
                          <a:invGamma/>
                        </a:schemeClr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37897" name="Rectangle 4"/>
            <p:cNvSpPr>
              <a:spLocks noChangeArrowheads="1"/>
            </p:cNvSpPr>
            <p:nvPr/>
          </p:nvSpPr>
          <p:spPr bwMode="auto">
            <a:xfrm>
              <a:off x="4556" y="1684"/>
              <a:ext cx="767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physical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memory</a:t>
              </a:r>
            </a:p>
          </p:txBody>
        </p:sp>
        <p:sp>
          <p:nvSpPr>
            <p:cNvPr id="37898" name="Rectangle 5"/>
            <p:cNvSpPr>
              <a:spLocks noChangeArrowheads="1"/>
            </p:cNvSpPr>
            <p:nvPr/>
          </p:nvSpPr>
          <p:spPr bwMode="auto">
            <a:xfrm>
              <a:off x="264" y="1424"/>
              <a:ext cx="481" cy="48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7899" name="Rectangle 6"/>
            <p:cNvSpPr>
              <a:spLocks noChangeArrowheads="1"/>
            </p:cNvSpPr>
            <p:nvPr/>
          </p:nvSpPr>
          <p:spPr bwMode="auto">
            <a:xfrm>
              <a:off x="257" y="1553"/>
              <a:ext cx="492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CPU</a:t>
              </a:r>
            </a:p>
          </p:txBody>
        </p:sp>
        <p:sp>
          <p:nvSpPr>
            <p:cNvPr id="37900" name="Line 7"/>
            <p:cNvSpPr>
              <a:spLocks noChangeShapeType="1"/>
            </p:cNvSpPr>
            <p:nvPr/>
          </p:nvSpPr>
          <p:spPr bwMode="auto">
            <a:xfrm>
              <a:off x="790" y="1670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01" name="Line 8"/>
            <p:cNvSpPr>
              <a:spLocks noChangeShapeType="1"/>
            </p:cNvSpPr>
            <p:nvPr/>
          </p:nvSpPr>
          <p:spPr bwMode="auto">
            <a:xfrm>
              <a:off x="3538" y="1636"/>
              <a:ext cx="779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02" name="Rectangle 9"/>
            <p:cNvSpPr>
              <a:spLocks noChangeArrowheads="1"/>
            </p:cNvSpPr>
            <p:nvPr/>
          </p:nvSpPr>
          <p:spPr bwMode="auto">
            <a:xfrm>
              <a:off x="806" y="979"/>
              <a:ext cx="674" cy="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logical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address</a:t>
              </a:r>
            </a:p>
          </p:txBody>
        </p:sp>
        <p:sp>
          <p:nvSpPr>
            <p:cNvPr id="37903" name="Rectangle 10"/>
            <p:cNvSpPr>
              <a:spLocks noChangeArrowheads="1"/>
            </p:cNvSpPr>
            <p:nvPr/>
          </p:nvSpPr>
          <p:spPr bwMode="auto">
            <a:xfrm>
              <a:off x="3506" y="1009"/>
              <a:ext cx="72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physical</a:t>
              </a:r>
            </a:p>
            <a:p>
              <a:pPr>
                <a:lnSpc>
                  <a:spcPct val="8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address</a:t>
              </a:r>
            </a:p>
          </p:txBody>
        </p:sp>
        <p:sp>
          <p:nvSpPr>
            <p:cNvPr id="37904" name="Line 11"/>
            <p:cNvSpPr>
              <a:spLocks noChangeShapeType="1"/>
            </p:cNvSpPr>
            <p:nvPr/>
          </p:nvSpPr>
          <p:spPr bwMode="auto">
            <a:xfrm>
              <a:off x="3247" y="1311"/>
              <a:ext cx="0" cy="2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05" name="Rectangle 12"/>
            <p:cNvSpPr>
              <a:spLocks noChangeArrowheads="1"/>
            </p:cNvSpPr>
            <p:nvPr/>
          </p:nvSpPr>
          <p:spPr bwMode="auto">
            <a:xfrm>
              <a:off x="2953" y="1566"/>
              <a:ext cx="561" cy="1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7906" name="Line 13"/>
            <p:cNvSpPr>
              <a:spLocks noChangeShapeType="1"/>
            </p:cNvSpPr>
            <p:nvPr/>
          </p:nvSpPr>
          <p:spPr bwMode="auto">
            <a:xfrm>
              <a:off x="3191" y="1566"/>
              <a:ext cx="0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07" name="Rectangle 14"/>
            <p:cNvSpPr>
              <a:spLocks noChangeArrowheads="1"/>
            </p:cNvSpPr>
            <p:nvPr/>
          </p:nvSpPr>
          <p:spPr bwMode="auto">
            <a:xfrm>
              <a:off x="2927" y="1565"/>
              <a:ext cx="567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</a:t>
              </a:r>
              <a:r>
                <a:rPr lang="en-US" altLang="zh-TW" sz="24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f</a:t>
              </a:r>
              <a:r>
                <a:rPr lang="en-US" altLang="zh-TW" sz="2000" b="1">
                  <a:latin typeface="Book Antiqua" panose="02040602050305030304" pitchFamily="18" charset="0"/>
                </a:rPr>
                <a:t>     d</a:t>
              </a:r>
            </a:p>
          </p:txBody>
        </p:sp>
        <p:sp>
          <p:nvSpPr>
            <p:cNvPr id="37908" name="Rectangle 15"/>
            <p:cNvSpPr>
              <a:spLocks noChangeArrowheads="1"/>
            </p:cNvSpPr>
            <p:nvPr/>
          </p:nvSpPr>
          <p:spPr bwMode="auto">
            <a:xfrm>
              <a:off x="1007" y="1574"/>
              <a:ext cx="562" cy="1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7909" name="Line 16"/>
            <p:cNvSpPr>
              <a:spLocks noChangeShapeType="1"/>
            </p:cNvSpPr>
            <p:nvPr/>
          </p:nvSpPr>
          <p:spPr bwMode="auto">
            <a:xfrm>
              <a:off x="1246" y="1574"/>
              <a:ext cx="0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0" name="Rectangle 17"/>
            <p:cNvSpPr>
              <a:spLocks noChangeArrowheads="1"/>
            </p:cNvSpPr>
            <p:nvPr/>
          </p:nvSpPr>
          <p:spPr bwMode="auto">
            <a:xfrm>
              <a:off x="981" y="1572"/>
              <a:ext cx="550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p    d</a:t>
              </a:r>
            </a:p>
          </p:txBody>
        </p:sp>
        <p:sp>
          <p:nvSpPr>
            <p:cNvPr id="37911" name="Line 18"/>
            <p:cNvSpPr>
              <a:spLocks noChangeShapeType="1"/>
            </p:cNvSpPr>
            <p:nvPr/>
          </p:nvSpPr>
          <p:spPr bwMode="auto">
            <a:xfrm flipV="1">
              <a:off x="1501" y="1416"/>
              <a:ext cx="0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2" name="Line 19"/>
            <p:cNvSpPr>
              <a:spLocks noChangeShapeType="1"/>
            </p:cNvSpPr>
            <p:nvPr/>
          </p:nvSpPr>
          <p:spPr bwMode="auto">
            <a:xfrm flipH="1">
              <a:off x="1493" y="1302"/>
              <a:ext cx="17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3" name="Line 20"/>
            <p:cNvSpPr>
              <a:spLocks noChangeShapeType="1"/>
            </p:cNvSpPr>
            <p:nvPr/>
          </p:nvSpPr>
          <p:spPr bwMode="auto">
            <a:xfrm>
              <a:off x="1501" y="1311"/>
              <a:ext cx="0" cy="2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4" name="Rectangle 21"/>
            <p:cNvSpPr>
              <a:spLocks noChangeArrowheads="1"/>
            </p:cNvSpPr>
            <p:nvPr/>
          </p:nvSpPr>
          <p:spPr bwMode="auto">
            <a:xfrm>
              <a:off x="1991" y="1783"/>
              <a:ext cx="571" cy="12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7915" name="Line 22"/>
            <p:cNvSpPr>
              <a:spLocks noChangeShapeType="1"/>
            </p:cNvSpPr>
            <p:nvPr/>
          </p:nvSpPr>
          <p:spPr bwMode="auto">
            <a:xfrm>
              <a:off x="1991" y="1951"/>
              <a:ext cx="5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6" name="Line 23"/>
            <p:cNvSpPr>
              <a:spLocks noChangeShapeType="1"/>
            </p:cNvSpPr>
            <p:nvPr/>
          </p:nvSpPr>
          <p:spPr bwMode="auto">
            <a:xfrm>
              <a:off x="1988" y="2121"/>
              <a:ext cx="5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7" name="Line 24"/>
            <p:cNvSpPr>
              <a:spLocks noChangeShapeType="1"/>
            </p:cNvSpPr>
            <p:nvPr/>
          </p:nvSpPr>
          <p:spPr bwMode="auto">
            <a:xfrm>
              <a:off x="1994" y="2290"/>
              <a:ext cx="5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8" name="Line 25"/>
            <p:cNvSpPr>
              <a:spLocks noChangeShapeType="1"/>
            </p:cNvSpPr>
            <p:nvPr/>
          </p:nvSpPr>
          <p:spPr bwMode="auto">
            <a:xfrm>
              <a:off x="1991" y="2460"/>
              <a:ext cx="5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19" name="Line 26"/>
            <p:cNvSpPr>
              <a:spLocks noChangeShapeType="1"/>
            </p:cNvSpPr>
            <p:nvPr/>
          </p:nvSpPr>
          <p:spPr bwMode="auto">
            <a:xfrm>
              <a:off x="1988" y="2629"/>
              <a:ext cx="5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0" name="Line 27"/>
            <p:cNvSpPr>
              <a:spLocks noChangeShapeType="1"/>
            </p:cNvSpPr>
            <p:nvPr/>
          </p:nvSpPr>
          <p:spPr bwMode="auto">
            <a:xfrm>
              <a:off x="1994" y="2810"/>
              <a:ext cx="5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1" name="Line 28"/>
            <p:cNvSpPr>
              <a:spLocks noChangeShapeType="1"/>
            </p:cNvSpPr>
            <p:nvPr/>
          </p:nvSpPr>
          <p:spPr bwMode="auto">
            <a:xfrm>
              <a:off x="1109" y="1788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2" name="Line 29"/>
            <p:cNvSpPr>
              <a:spLocks noChangeShapeType="1"/>
            </p:cNvSpPr>
            <p:nvPr/>
          </p:nvSpPr>
          <p:spPr bwMode="auto">
            <a:xfrm>
              <a:off x="1127" y="2373"/>
              <a:ext cx="8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3" name="Line 30"/>
            <p:cNvSpPr>
              <a:spLocks noChangeShapeType="1"/>
            </p:cNvSpPr>
            <p:nvPr/>
          </p:nvSpPr>
          <p:spPr bwMode="auto">
            <a:xfrm>
              <a:off x="2593" y="2395"/>
              <a:ext cx="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4" name="Line 31"/>
            <p:cNvSpPr>
              <a:spLocks noChangeShapeType="1"/>
            </p:cNvSpPr>
            <p:nvPr/>
          </p:nvSpPr>
          <p:spPr bwMode="auto">
            <a:xfrm flipV="1">
              <a:off x="3079" y="1768"/>
              <a:ext cx="0" cy="6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925" name="Rectangle 32"/>
            <p:cNvSpPr>
              <a:spLocks noChangeArrowheads="1"/>
            </p:cNvSpPr>
            <p:nvPr/>
          </p:nvSpPr>
          <p:spPr bwMode="auto">
            <a:xfrm>
              <a:off x="2170" y="2267"/>
              <a:ext cx="176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f</a:t>
              </a:r>
            </a:p>
          </p:txBody>
        </p:sp>
        <p:sp>
          <p:nvSpPr>
            <p:cNvPr id="37926" name="Freeform 33"/>
            <p:cNvSpPr>
              <a:spLocks/>
            </p:cNvSpPr>
            <p:nvPr/>
          </p:nvSpPr>
          <p:spPr bwMode="auto">
            <a:xfrm>
              <a:off x="1875" y="1756"/>
              <a:ext cx="66" cy="554"/>
            </a:xfrm>
            <a:custGeom>
              <a:avLst/>
              <a:gdLst>
                <a:gd name="T0" fmla="*/ 90 w 64"/>
                <a:gd name="T1" fmla="*/ 0 h 460"/>
                <a:gd name="T2" fmla="*/ 48 w 64"/>
                <a:gd name="T3" fmla="*/ 164 h 460"/>
                <a:gd name="T4" fmla="*/ 39 w 64"/>
                <a:gd name="T5" fmla="*/ 417 h 460"/>
                <a:gd name="T6" fmla="*/ 30 w 64"/>
                <a:gd name="T7" fmla="*/ 670 h 460"/>
                <a:gd name="T8" fmla="*/ 30 w 64"/>
                <a:gd name="T9" fmla="*/ 915 h 460"/>
                <a:gd name="T10" fmla="*/ 30 w 64"/>
                <a:gd name="T11" fmla="*/ 1171 h 460"/>
                <a:gd name="T12" fmla="*/ 30 w 64"/>
                <a:gd name="T13" fmla="*/ 1425 h 460"/>
                <a:gd name="T14" fmla="*/ 30 w 64"/>
                <a:gd name="T15" fmla="*/ 1673 h 460"/>
                <a:gd name="T16" fmla="*/ 30 w 64"/>
                <a:gd name="T17" fmla="*/ 1925 h 460"/>
                <a:gd name="T18" fmla="*/ 30 w 64"/>
                <a:gd name="T19" fmla="*/ 2181 h 460"/>
                <a:gd name="T20" fmla="*/ 0 w 64"/>
                <a:gd name="T21" fmla="*/ 2427 h 460"/>
                <a:gd name="T22" fmla="*/ 0 w 64"/>
                <a:gd name="T23" fmla="*/ 2683 h 460"/>
                <a:gd name="T24" fmla="*/ 30 w 64"/>
                <a:gd name="T25" fmla="*/ 2925 h 460"/>
                <a:gd name="T26" fmla="*/ 30 w 64"/>
                <a:gd name="T27" fmla="*/ 3182 h 460"/>
                <a:gd name="T28" fmla="*/ 39 w 64"/>
                <a:gd name="T29" fmla="*/ 3436 h 460"/>
                <a:gd name="T30" fmla="*/ 39 w 64"/>
                <a:gd name="T31" fmla="*/ 3684 h 460"/>
                <a:gd name="T32" fmla="*/ 39 w 64"/>
                <a:gd name="T33" fmla="*/ 3939 h 460"/>
                <a:gd name="T34" fmla="*/ 48 w 64"/>
                <a:gd name="T35" fmla="*/ 4192 h 460"/>
                <a:gd name="T36" fmla="*/ 90 w 64"/>
                <a:gd name="T37" fmla="*/ 4274 h 46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460">
                  <a:moveTo>
                    <a:pt x="63" y="0"/>
                  </a:moveTo>
                  <a:lnTo>
                    <a:pt x="36" y="18"/>
                  </a:lnTo>
                  <a:lnTo>
                    <a:pt x="27" y="45"/>
                  </a:lnTo>
                  <a:lnTo>
                    <a:pt x="18" y="72"/>
                  </a:lnTo>
                  <a:lnTo>
                    <a:pt x="18" y="99"/>
                  </a:lnTo>
                  <a:lnTo>
                    <a:pt x="18" y="126"/>
                  </a:lnTo>
                  <a:lnTo>
                    <a:pt x="18" y="153"/>
                  </a:lnTo>
                  <a:lnTo>
                    <a:pt x="18" y="180"/>
                  </a:lnTo>
                  <a:lnTo>
                    <a:pt x="18" y="207"/>
                  </a:lnTo>
                  <a:lnTo>
                    <a:pt x="18" y="234"/>
                  </a:lnTo>
                  <a:lnTo>
                    <a:pt x="0" y="261"/>
                  </a:lnTo>
                  <a:lnTo>
                    <a:pt x="0" y="288"/>
                  </a:lnTo>
                  <a:lnTo>
                    <a:pt x="18" y="315"/>
                  </a:lnTo>
                  <a:lnTo>
                    <a:pt x="18" y="342"/>
                  </a:lnTo>
                  <a:lnTo>
                    <a:pt x="27" y="369"/>
                  </a:lnTo>
                  <a:lnTo>
                    <a:pt x="27" y="396"/>
                  </a:lnTo>
                  <a:lnTo>
                    <a:pt x="27" y="423"/>
                  </a:lnTo>
                  <a:lnTo>
                    <a:pt x="36" y="450"/>
                  </a:lnTo>
                  <a:lnTo>
                    <a:pt x="63" y="45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927" name="Rectangle 34"/>
            <p:cNvSpPr>
              <a:spLocks noChangeArrowheads="1"/>
            </p:cNvSpPr>
            <p:nvPr/>
          </p:nvSpPr>
          <p:spPr bwMode="auto">
            <a:xfrm>
              <a:off x="1657" y="1922"/>
              <a:ext cx="212" cy="1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</a:t>
              </a:r>
            </a:p>
          </p:txBody>
        </p:sp>
        <p:sp>
          <p:nvSpPr>
            <p:cNvPr id="37928" name="Rectangle 35"/>
            <p:cNvSpPr>
              <a:spLocks noChangeArrowheads="1"/>
            </p:cNvSpPr>
            <p:nvPr/>
          </p:nvSpPr>
          <p:spPr bwMode="auto">
            <a:xfrm>
              <a:off x="1816" y="1491"/>
              <a:ext cx="865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table</a:t>
              </a:r>
            </a:p>
          </p:txBody>
        </p:sp>
      </p:grpSp>
      <p:sp>
        <p:nvSpPr>
          <p:cNvPr id="37894" name="Rectangle 36"/>
          <p:cNvSpPr>
            <a:spLocks noChangeArrowheads="1"/>
          </p:cNvSpPr>
          <p:nvPr/>
        </p:nvSpPr>
        <p:spPr bwMode="auto">
          <a:xfrm>
            <a:off x="457200" y="304800"/>
            <a:ext cx="8566150" cy="1252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3600" b="1">
                <a:solidFill>
                  <a:schemeClr val="tx2"/>
                </a:solidFill>
                <a:latin typeface="Times New Roman" panose="02020603050405020304" pitchFamily="18" charset="0"/>
              </a:rPr>
              <a:t>Paging Hardware for Address Translation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3600" b="1">
                <a:solidFill>
                  <a:schemeClr val="tx2"/>
                </a:solidFill>
                <a:latin typeface="Times New Roman" panose="02020603050405020304" pitchFamily="18" charset="0"/>
              </a:rPr>
              <a:t>(dynamic relocation)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F41DE3-F7EA-4959-81E8-6CF18FEBCAB0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891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891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D97ACCC-C0B5-42EF-8681-1DC19F8BE39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3891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Free Frames</a:t>
            </a:r>
          </a:p>
        </p:txBody>
      </p:sp>
      <p:pic>
        <p:nvPicPr>
          <p:cNvPr id="38918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4521" r="2406" b="4019"/>
          <a:stretch>
            <a:fillRect/>
          </a:stretch>
        </p:blipFill>
        <p:spPr bwMode="auto">
          <a:xfrm>
            <a:off x="762000" y="1371600"/>
            <a:ext cx="7696200" cy="45751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919" name="Text Box 1028"/>
          <p:cNvSpPr txBox="1">
            <a:spLocks noChangeArrowheads="1"/>
          </p:cNvSpPr>
          <p:nvPr/>
        </p:nvSpPr>
        <p:spPr bwMode="auto">
          <a:xfrm>
            <a:off x="990600" y="6019800"/>
            <a:ext cx="188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8920" name="Text Box 1029"/>
          <p:cNvSpPr txBox="1">
            <a:spLocks noChangeArrowheads="1"/>
          </p:cNvSpPr>
          <p:nvPr/>
        </p:nvSpPr>
        <p:spPr bwMode="auto">
          <a:xfrm>
            <a:off x="4724400" y="6019800"/>
            <a:ext cx="1695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After allocation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8DEAC92-688F-48C8-9EBA-76B561454021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D2A7FA-D7BB-41D6-BCB3-EC82EF53478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18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Discussions</a:t>
            </a:r>
          </a:p>
        </p:txBody>
      </p:sp>
      <p:sp>
        <p:nvSpPr>
          <p:cNvPr id="70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8569325" cy="5616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smtClean="0">
                <a:sym typeface="Wingdings" panose="05000000000000000000" pitchFamily="2" charset="2"/>
              </a:rPr>
              <a:t></a:t>
            </a:r>
            <a:r>
              <a:rPr lang="en-US" altLang="zh-TW" sz="2800" smtClean="0"/>
              <a:t>No external fragmentation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 smtClean="0">
                <a:sym typeface="Wingdings" panose="05000000000000000000" pitchFamily="2" charset="2"/>
              </a:rPr>
              <a:t></a:t>
            </a:r>
            <a:r>
              <a:rPr lang="en-US" altLang="zh-TW" sz="2800" smtClean="0"/>
              <a:t>Internal fragmentation: 1/2 page in average</a:t>
            </a:r>
          </a:p>
          <a:p>
            <a:pPr lvl="2" eaLnBrk="1" hangingPunct="1"/>
            <a:r>
              <a:rPr lang="en-US" altLang="zh-TW" smtClean="0">
                <a:solidFill>
                  <a:schemeClr val="tx2"/>
                </a:solidFill>
              </a:rPr>
              <a:t>suggesting a smaller page size in the past</a:t>
            </a:r>
          </a:p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Page sizes have grown over time</a:t>
            </a:r>
            <a:r>
              <a:rPr lang="en-US" altLang="zh-TW" sz="2800" smtClean="0"/>
              <a:t> (2~4 Kbyte today)</a:t>
            </a:r>
            <a:endParaRPr lang="en-US" altLang="zh-TW" smtClean="0"/>
          </a:p>
          <a:p>
            <a:pPr lvl="1" eaLnBrk="1" hangingPunct="1"/>
            <a:r>
              <a:rPr lang="en-US" altLang="zh-TW" smtClean="0"/>
              <a:t>memory, process, data sets have become larger</a:t>
            </a:r>
          </a:p>
          <a:p>
            <a:pPr lvl="1" eaLnBrk="1" hangingPunct="1"/>
            <a:r>
              <a:rPr lang="en-US" altLang="zh-TW" smtClean="0"/>
              <a:t>better I/O performance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page table is smaller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Frame table</a:t>
            </a:r>
            <a:r>
              <a:rPr lang="en-US" altLang="zh-TW" sz="2800" smtClean="0"/>
              <a:t>: an entry for each physical frame</a:t>
            </a:r>
            <a:endParaRPr lang="en-US" altLang="zh-TW" smtClean="0"/>
          </a:p>
          <a:p>
            <a:pPr lvl="2" eaLnBrk="1" hangingPunct="1"/>
            <a:r>
              <a:rPr lang="en-US" altLang="zh-TW" smtClean="0"/>
              <a:t>free or allocated</a:t>
            </a:r>
          </a:p>
          <a:p>
            <a:pPr lvl="2" eaLnBrk="1" hangingPunct="1"/>
            <a:r>
              <a:rPr lang="en-US" altLang="zh-TW" smtClean="0"/>
              <a:t>(if allocated) to which page of which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CF413A6-F01F-40CD-81CC-8DE1D55CE12D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C2F4CFB-9066-49CA-A7C4-B3555B9FE80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TW" smtClean="0"/>
              <a:t>Implementation of Page Table</a:t>
            </a:r>
          </a:p>
        </p:txBody>
      </p:sp>
      <p:sp>
        <p:nvSpPr>
          <p:cNvPr id="665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569325" cy="56896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Page table is </a:t>
            </a:r>
            <a:r>
              <a:rPr lang="en-US" altLang="zh-TW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kept in main memory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Page-table base register 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PTBR</a:t>
            </a:r>
            <a:r>
              <a:rPr lang="en-US" altLang="zh-TW" sz="2200" dirty="0" smtClean="0"/>
              <a:t>) points to the page table.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Page-table length register 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PRLR</a:t>
            </a:r>
            <a:r>
              <a:rPr lang="en-US" altLang="zh-TW" sz="2200" dirty="0" smtClean="0"/>
              <a:t>) indicates size of the page table.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In this scheme every data/instruction access 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requires two memory accesses</a:t>
            </a:r>
            <a:r>
              <a:rPr lang="en-US" altLang="zh-TW" sz="2200" dirty="0" smtClean="0"/>
              <a:t>.  One for the page table and one for the data/instruction.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/>
              <a:t>The two memory access problem can be solved by the use of a 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special fast-lookup hardware cache</a:t>
            </a:r>
            <a:r>
              <a:rPr lang="en-US" altLang="zh-TW" sz="2200" dirty="0" smtClean="0"/>
              <a:t> called </a:t>
            </a:r>
            <a:r>
              <a:rPr lang="en-US" altLang="zh-TW" sz="2200" dirty="0" smtClean="0">
                <a:solidFill>
                  <a:srgbClr val="FF0000"/>
                </a:solidFill>
              </a:rPr>
              <a:t>associative memory</a:t>
            </a:r>
            <a:r>
              <a:rPr lang="en-US" altLang="zh-TW" sz="2200" dirty="0" smtClean="0"/>
              <a:t> or </a:t>
            </a:r>
            <a:r>
              <a:rPr lang="en-US" altLang="zh-TW" sz="2200" dirty="0" smtClean="0">
                <a:solidFill>
                  <a:srgbClr val="FF0000"/>
                </a:solidFill>
              </a:rPr>
              <a:t>translation look-aside buffers</a:t>
            </a:r>
            <a:r>
              <a:rPr lang="en-US" altLang="zh-TW" sz="2200" dirty="0" smtClean="0"/>
              <a:t> (</a:t>
            </a:r>
            <a:r>
              <a:rPr lang="en-US" altLang="zh-TW" sz="2200" b="1" dirty="0" smtClean="0">
                <a:solidFill>
                  <a:srgbClr val="FF0000"/>
                </a:solidFill>
              </a:rPr>
              <a:t>TLBs</a:t>
            </a:r>
            <a:r>
              <a:rPr lang="en-US" altLang="zh-TW" sz="2200" dirty="0" smtClean="0"/>
              <a:t>)</a:t>
            </a:r>
          </a:p>
          <a:p>
            <a:pPr eaLnBrk="1" hangingPunct="1">
              <a:spcBef>
                <a:spcPct val="40000"/>
              </a:spcBef>
              <a:defRPr/>
            </a:pPr>
            <a:r>
              <a:rPr lang="en-US" altLang="zh-TW" sz="2200" dirty="0" smtClean="0">
                <a:solidFill>
                  <a:srgbClr val="340EBE"/>
                </a:solidFill>
              </a:rPr>
              <a:t>Some TLBs store </a:t>
            </a:r>
            <a:r>
              <a:rPr lang="en-US" altLang="zh-TW" sz="2200" b="1" dirty="0" smtClean="0">
                <a:solidFill>
                  <a:srgbClr val="340EBE"/>
                </a:solidFill>
              </a:rPr>
              <a:t>address-space identifiers (ASIDs) </a:t>
            </a:r>
            <a:r>
              <a:rPr lang="en-US" altLang="zh-TW" sz="2200" dirty="0" smtClean="0">
                <a:solidFill>
                  <a:srgbClr val="340EBE"/>
                </a:solidFill>
              </a:rPr>
              <a:t>in each TLB entry </a:t>
            </a:r>
            <a:r>
              <a:rPr lang="en-US" altLang="zh-TW" sz="2200" dirty="0" smtClean="0">
                <a:solidFill>
                  <a:srgbClr val="340EBE"/>
                </a:solidFill>
                <a:latin typeface="Times New Roman"/>
              </a:rPr>
              <a:t>–</a:t>
            </a:r>
            <a:r>
              <a:rPr lang="en-US" altLang="zh-TW" sz="2200" dirty="0" smtClean="0">
                <a:solidFill>
                  <a:srgbClr val="340EBE"/>
                </a:solidFill>
              </a:rPr>
              <a:t> uniquely identifies each process to provide address-space protection for that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xfrm>
            <a:off x="608013" y="6165850"/>
            <a:ext cx="19050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E8C428-8322-408E-ABA2-FD98344E5B1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198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5413" y="6165850"/>
            <a:ext cx="1905000" cy="457200"/>
          </a:xfrm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87E2EDB-C39C-49BE-83A5-8F3C8AB7498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0"/>
            <a:ext cx="8569325" cy="936625"/>
          </a:xfrm>
        </p:spPr>
        <p:txBody>
          <a:bodyPr/>
          <a:lstStyle/>
          <a:p>
            <a:pPr algn="ctr" eaLnBrk="1" hangingPunct="1"/>
            <a:r>
              <a:rPr lang="en-US" altLang="zh-TW" sz="3600" smtClean="0">
                <a:solidFill>
                  <a:srgbClr val="0000FF"/>
                </a:solidFill>
              </a:rPr>
              <a:t>Associative Memory, </a:t>
            </a:r>
            <a:r>
              <a:rPr lang="en-US" altLang="zh-TW" sz="2400" smtClean="0">
                <a:solidFill>
                  <a:srgbClr val="0000FF"/>
                </a:solidFill>
              </a:rPr>
              <a:t>Translation Look-aside Buffer</a:t>
            </a:r>
            <a:r>
              <a:rPr lang="en-US" altLang="zh-TW" sz="3600" smtClean="0">
                <a:solidFill>
                  <a:srgbClr val="0000FF"/>
                </a:solidFill>
              </a:rPr>
              <a:t> </a:t>
            </a:r>
            <a:endParaRPr lang="en-US" altLang="zh-TW" smtClean="0">
              <a:solidFill>
                <a:srgbClr val="0000FF"/>
              </a:solidFill>
            </a:endParaRPr>
          </a:p>
        </p:txBody>
      </p:sp>
      <p:sp>
        <p:nvSpPr>
          <p:cNvPr id="348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497887" cy="52197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Associative memory </a:t>
            </a:r>
            <a:r>
              <a:rPr lang="en-US" altLang="zh-TW" sz="2800" dirty="0" smtClean="0">
                <a:latin typeface="Helvetica" pitchFamily="34" charset="0"/>
              </a:rPr>
              <a:t>–</a:t>
            </a:r>
            <a:r>
              <a:rPr lang="en-US" altLang="zh-TW" sz="2800" dirty="0" smtClean="0"/>
              <a:t> parallel search </a:t>
            </a:r>
          </a:p>
          <a:p>
            <a:pPr eaLnBrk="1" hangingPunct="1">
              <a:defRPr/>
            </a:pPr>
            <a:endParaRPr lang="en-US" altLang="zh-TW" sz="2800" dirty="0" smtClean="0"/>
          </a:p>
          <a:p>
            <a:pPr eaLnBrk="1" hangingPunct="1">
              <a:defRPr/>
            </a:pPr>
            <a:endParaRPr lang="en-US" altLang="zh-TW" sz="2800" dirty="0" smtClean="0"/>
          </a:p>
          <a:p>
            <a:pPr eaLnBrk="1" hangingPunct="1">
              <a:defRPr/>
            </a:pPr>
            <a:endParaRPr lang="en-US" altLang="zh-TW" sz="2800" dirty="0" smtClean="0"/>
          </a:p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altLang="zh-TW" sz="2800" dirty="0" smtClean="0"/>
              <a:t>Address translation (</a:t>
            </a:r>
            <a:r>
              <a:rPr lang="en-US" altLang="zh-TW" sz="2800" i="1" dirty="0" smtClean="0">
                <a:latin typeface="Times New Roman" pitchFamily="18" charset="0"/>
              </a:rPr>
              <a:t>p</a:t>
            </a:r>
            <a:r>
              <a:rPr lang="en-US" altLang="zh-TW" sz="2800" dirty="0" smtClean="0">
                <a:latin typeface="Times New Roman" pitchFamily="18" charset="0"/>
              </a:rPr>
              <a:t>,</a:t>
            </a:r>
            <a:r>
              <a:rPr lang="en-US" altLang="zh-TW" sz="2800" i="1" dirty="0" smtClean="0">
                <a:latin typeface="Times New Roman" pitchFamily="18" charset="0"/>
              </a:rPr>
              <a:t> d</a:t>
            </a:r>
            <a:r>
              <a:rPr lang="en-US" altLang="zh-TW" sz="2800" dirty="0" smtClean="0"/>
              <a:t>)</a:t>
            </a:r>
          </a:p>
          <a:p>
            <a:pPr marL="628650" lvl="1" eaLnBrk="1" hangingPunct="1">
              <a:defRPr/>
            </a:pPr>
            <a:r>
              <a:rPr lang="en-US" altLang="zh-TW" sz="2400" dirty="0" smtClean="0"/>
              <a:t>If </a:t>
            </a:r>
            <a:r>
              <a:rPr lang="en-US" altLang="zh-TW" sz="2400" i="1" dirty="0" smtClean="0">
                <a:latin typeface="Times New Roman" pitchFamily="18" charset="0"/>
              </a:rPr>
              <a:t>p</a:t>
            </a:r>
            <a:r>
              <a:rPr lang="en-US" altLang="zh-TW" sz="2400" dirty="0" smtClean="0"/>
              <a:t> is in associative register, get frame # out</a:t>
            </a:r>
          </a:p>
          <a:p>
            <a:pPr marL="628650" lvl="1" eaLnBrk="1" hangingPunct="1">
              <a:defRPr/>
            </a:pPr>
            <a:r>
              <a:rPr lang="en-US" altLang="zh-TW" sz="2400" dirty="0" smtClean="0"/>
              <a:t>Otherwise get frame # from page table in memory</a:t>
            </a:r>
          </a:p>
          <a:p>
            <a:pPr marL="628650" lvl="1" eaLnBrk="1" hangingPunct="1">
              <a:defRPr/>
            </a:pPr>
            <a:r>
              <a:rPr lang="en-US" altLang="zh-TW" sz="2400" b="1" dirty="0" smtClean="0">
                <a:solidFill>
                  <a:srgbClr val="FF0000"/>
                </a:solidFill>
              </a:rPr>
              <a:t>hit ratio</a:t>
            </a:r>
            <a:r>
              <a:rPr lang="en-US" altLang="zh-TW" sz="2400" dirty="0" smtClean="0"/>
              <a:t>, 16-512 registers have a hit ratio about </a:t>
            </a:r>
            <a:r>
              <a:rPr lang="en-US" altLang="zh-TW" sz="2400" dirty="0" smtClean="0">
                <a:solidFill>
                  <a:schemeClr val="tx2"/>
                </a:solidFill>
              </a:rPr>
              <a:t>80-98%.</a:t>
            </a:r>
          </a:p>
          <a:p>
            <a:pPr marL="228600" eaLnBrk="1" hangingPunct="1">
              <a:defRPr/>
            </a:pPr>
            <a:r>
              <a:rPr lang="en-US" altLang="zh-TW" sz="2400" dirty="0" smtClean="0">
                <a:solidFill>
                  <a:srgbClr val="0000FF"/>
                </a:solidFill>
              </a:rPr>
              <a:t>Address-space identifiers (ASIDs)</a:t>
            </a:r>
            <a:r>
              <a:rPr lang="en-US" altLang="zh-TW" sz="2400" dirty="0" smtClean="0"/>
              <a:t>: uniquely identifies each process for protection. </a:t>
            </a:r>
          </a:p>
          <a:p>
            <a:pPr marL="628650" lvl="1" eaLnBrk="1" hangingPunct="1">
              <a:defRPr/>
            </a:pPr>
            <a:r>
              <a:rPr lang="en-US" altLang="zh-TW" sz="2000" dirty="0" smtClean="0"/>
              <a:t>TLB must </a:t>
            </a:r>
            <a:r>
              <a:rPr lang="en-US" altLang="zh-TW" sz="2000" dirty="0" smtClean="0">
                <a:solidFill>
                  <a:srgbClr val="0000FF"/>
                </a:solidFill>
              </a:rPr>
              <a:t>flushed</a:t>
            </a:r>
            <a:r>
              <a:rPr lang="en-US" altLang="zh-TW" sz="2000" dirty="0" smtClean="0"/>
              <a:t> to ensure </a:t>
            </a:r>
            <a:r>
              <a:rPr lang="en-US" altLang="zh-TW" sz="2000" dirty="0"/>
              <a:t>n</a:t>
            </a:r>
            <a:r>
              <a:rPr lang="en-US" altLang="zh-TW" sz="2000" dirty="0" smtClean="0"/>
              <a:t>ext process does not use the wrong info if does not support separate ASIDs.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2981325" y="1674813"/>
            <a:ext cx="2895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1991" name="Line 5"/>
          <p:cNvSpPr>
            <a:spLocks noChangeShapeType="1"/>
          </p:cNvSpPr>
          <p:nvPr/>
        </p:nvSpPr>
        <p:spPr bwMode="auto">
          <a:xfrm>
            <a:off x="4422775" y="1458913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2" name="Line 6"/>
          <p:cNvSpPr>
            <a:spLocks noChangeShapeType="1"/>
          </p:cNvSpPr>
          <p:nvPr/>
        </p:nvSpPr>
        <p:spPr bwMode="auto">
          <a:xfrm>
            <a:off x="2981325" y="1879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3" name="Line 7"/>
          <p:cNvSpPr>
            <a:spLocks noChangeShapeType="1"/>
          </p:cNvSpPr>
          <p:nvPr/>
        </p:nvSpPr>
        <p:spPr bwMode="auto">
          <a:xfrm>
            <a:off x="2981325" y="2184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4" name="Line 8"/>
          <p:cNvSpPr>
            <a:spLocks noChangeShapeType="1"/>
          </p:cNvSpPr>
          <p:nvPr/>
        </p:nvSpPr>
        <p:spPr bwMode="auto">
          <a:xfrm>
            <a:off x="2981325" y="2565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995" name="Rectangle 9"/>
          <p:cNvSpPr>
            <a:spLocks noChangeArrowheads="1"/>
          </p:cNvSpPr>
          <p:nvPr/>
        </p:nvSpPr>
        <p:spPr bwMode="auto">
          <a:xfrm>
            <a:off x="3152775" y="1366838"/>
            <a:ext cx="1295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Page #</a:t>
            </a:r>
          </a:p>
        </p:txBody>
      </p:sp>
      <p:sp>
        <p:nvSpPr>
          <p:cNvPr id="41996" name="Rectangle 10"/>
          <p:cNvSpPr>
            <a:spLocks noChangeArrowheads="1"/>
          </p:cNvSpPr>
          <p:nvPr/>
        </p:nvSpPr>
        <p:spPr bwMode="auto">
          <a:xfrm>
            <a:off x="4581525" y="1366838"/>
            <a:ext cx="1295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>
                <a:latin typeface="Helvetica" panose="020B0604020202020204" pitchFamily="34" charset="0"/>
              </a:rPr>
              <a:t>Frame #</a:t>
            </a:r>
          </a:p>
        </p:txBody>
      </p:sp>
      <p:sp>
        <p:nvSpPr>
          <p:cNvPr id="4199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A3600C5-0F4B-44E9-81C4-94DB05F704D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BE72946-14DB-4228-BDEA-4244CA11771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/>
          </a:p>
        </p:txBody>
      </p:sp>
      <p:sp>
        <p:nvSpPr>
          <p:cNvPr id="43013" name="Rectangle 2"/>
          <p:cNvSpPr>
            <a:spLocks noChangeArrowheads="1"/>
          </p:cNvSpPr>
          <p:nvPr/>
        </p:nvSpPr>
        <p:spPr bwMode="auto">
          <a:xfrm>
            <a:off x="3863975" y="2609850"/>
            <a:ext cx="581025" cy="265113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14" name="Rectangle 3"/>
          <p:cNvSpPr>
            <a:spLocks noChangeArrowheads="1"/>
          </p:cNvSpPr>
          <p:nvPr/>
        </p:nvSpPr>
        <p:spPr bwMode="auto">
          <a:xfrm>
            <a:off x="3757613" y="4938713"/>
            <a:ext cx="969962" cy="228600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15" name="Rectangle 4"/>
          <p:cNvSpPr>
            <a:spLocks noChangeArrowheads="1"/>
          </p:cNvSpPr>
          <p:nvPr/>
        </p:nvSpPr>
        <p:spPr bwMode="auto">
          <a:xfrm>
            <a:off x="3368675" y="2116138"/>
            <a:ext cx="495300" cy="1182687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16" name="Rectangle 5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7150100" cy="5603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Paging Hardware with TLB</a:t>
            </a:r>
          </a:p>
        </p:txBody>
      </p:sp>
      <p:sp>
        <p:nvSpPr>
          <p:cNvPr id="43017" name="Rectangle 6"/>
          <p:cNvSpPr>
            <a:spLocks noChangeArrowheads="1"/>
          </p:cNvSpPr>
          <p:nvPr/>
        </p:nvSpPr>
        <p:spPr bwMode="auto">
          <a:xfrm>
            <a:off x="7016750" y="1966913"/>
            <a:ext cx="1250950" cy="2790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82F18"/>
                    </a:gs>
                    <a:gs pos="50000">
                      <a:srgbClr val="336633"/>
                    </a:gs>
                    <a:gs pos="100000">
                      <a:srgbClr val="182F18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18" name="Rectangle 7"/>
          <p:cNvSpPr>
            <a:spLocks noChangeArrowheads="1"/>
          </p:cNvSpPr>
          <p:nvPr/>
        </p:nvSpPr>
        <p:spPr bwMode="auto">
          <a:xfrm>
            <a:off x="7085013" y="2951163"/>
            <a:ext cx="11461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physical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memory</a:t>
            </a:r>
          </a:p>
        </p:txBody>
      </p:sp>
      <p:sp>
        <p:nvSpPr>
          <p:cNvPr id="43019" name="Rectangle 8"/>
          <p:cNvSpPr>
            <a:spLocks noChangeArrowheads="1"/>
          </p:cNvSpPr>
          <p:nvPr/>
        </p:nvSpPr>
        <p:spPr bwMode="auto">
          <a:xfrm>
            <a:off x="955675" y="1443038"/>
            <a:ext cx="692150" cy="722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C0025"/>
                    </a:gs>
                    <a:gs pos="50000">
                      <a:srgbClr val="FF0066"/>
                    </a:gs>
                    <a:gs pos="100000">
                      <a:srgbClr val="5C0025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20" name="Rectangle 9"/>
          <p:cNvSpPr>
            <a:spLocks noChangeArrowheads="1"/>
          </p:cNvSpPr>
          <p:nvPr/>
        </p:nvSpPr>
        <p:spPr bwMode="auto">
          <a:xfrm>
            <a:off x="942975" y="1633538"/>
            <a:ext cx="7683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CPU</a:t>
            </a:r>
          </a:p>
        </p:txBody>
      </p:sp>
      <p:sp>
        <p:nvSpPr>
          <p:cNvPr id="43021" name="Line 10"/>
          <p:cNvSpPr>
            <a:spLocks noChangeShapeType="1"/>
          </p:cNvSpPr>
          <p:nvPr/>
        </p:nvSpPr>
        <p:spPr bwMode="auto">
          <a:xfrm>
            <a:off x="1668463" y="1787525"/>
            <a:ext cx="3571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2" name="Line 11"/>
          <p:cNvSpPr>
            <a:spLocks noChangeShapeType="1"/>
          </p:cNvSpPr>
          <p:nvPr/>
        </p:nvSpPr>
        <p:spPr bwMode="auto">
          <a:xfrm flipV="1">
            <a:off x="6408738" y="3424238"/>
            <a:ext cx="5921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3" name="Rectangle 12"/>
          <p:cNvSpPr>
            <a:spLocks noChangeArrowheads="1"/>
          </p:cNvSpPr>
          <p:nvPr/>
        </p:nvSpPr>
        <p:spPr bwMode="auto">
          <a:xfrm>
            <a:off x="1866900" y="879475"/>
            <a:ext cx="10128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logical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address</a:t>
            </a:r>
          </a:p>
        </p:txBody>
      </p:sp>
      <p:sp>
        <p:nvSpPr>
          <p:cNvPr id="43024" name="Rectangle 13"/>
          <p:cNvSpPr>
            <a:spLocks noChangeArrowheads="1"/>
          </p:cNvSpPr>
          <p:nvPr/>
        </p:nvSpPr>
        <p:spPr bwMode="auto">
          <a:xfrm>
            <a:off x="5905500" y="2509838"/>
            <a:ext cx="10683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physical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address</a:t>
            </a:r>
          </a:p>
        </p:txBody>
      </p:sp>
      <p:sp>
        <p:nvSpPr>
          <p:cNvPr id="43025" name="Line 14"/>
          <p:cNvSpPr>
            <a:spLocks noChangeShapeType="1"/>
          </p:cNvSpPr>
          <p:nvPr/>
        </p:nvSpPr>
        <p:spPr bwMode="auto">
          <a:xfrm>
            <a:off x="5922963" y="1273175"/>
            <a:ext cx="0" cy="2024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6" name="Rectangle 15"/>
          <p:cNvSpPr>
            <a:spLocks noChangeArrowheads="1"/>
          </p:cNvSpPr>
          <p:nvPr/>
        </p:nvSpPr>
        <p:spPr bwMode="auto">
          <a:xfrm>
            <a:off x="5416550" y="3286125"/>
            <a:ext cx="965200" cy="290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27" name="Line 16"/>
          <p:cNvSpPr>
            <a:spLocks noChangeShapeType="1"/>
          </p:cNvSpPr>
          <p:nvPr/>
        </p:nvSpPr>
        <p:spPr bwMode="auto">
          <a:xfrm>
            <a:off x="5827713" y="3286125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8" name="Rectangle 17"/>
          <p:cNvSpPr>
            <a:spLocks noChangeArrowheads="1"/>
          </p:cNvSpPr>
          <p:nvPr/>
        </p:nvSpPr>
        <p:spPr bwMode="auto">
          <a:xfrm>
            <a:off x="5372100" y="3284538"/>
            <a:ext cx="9779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f       d</a:t>
            </a:r>
          </a:p>
        </p:txBody>
      </p:sp>
      <p:sp>
        <p:nvSpPr>
          <p:cNvPr id="43029" name="Rectangle 18"/>
          <p:cNvSpPr>
            <a:spLocks noChangeArrowheads="1"/>
          </p:cNvSpPr>
          <p:nvPr/>
        </p:nvSpPr>
        <p:spPr bwMode="auto">
          <a:xfrm>
            <a:off x="2041525" y="1646238"/>
            <a:ext cx="965200" cy="2905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30" name="Line 19"/>
          <p:cNvSpPr>
            <a:spLocks noChangeShapeType="1"/>
          </p:cNvSpPr>
          <p:nvPr/>
        </p:nvSpPr>
        <p:spPr bwMode="auto">
          <a:xfrm>
            <a:off x="2451100" y="1646238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1" name="Rectangle 20"/>
          <p:cNvSpPr>
            <a:spLocks noChangeArrowheads="1"/>
          </p:cNvSpPr>
          <p:nvPr/>
        </p:nvSpPr>
        <p:spPr bwMode="auto">
          <a:xfrm>
            <a:off x="1997075" y="1643063"/>
            <a:ext cx="1035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p       d</a:t>
            </a:r>
          </a:p>
        </p:txBody>
      </p:sp>
      <p:sp>
        <p:nvSpPr>
          <p:cNvPr id="43032" name="Line 21"/>
          <p:cNvSpPr>
            <a:spLocks noChangeShapeType="1"/>
          </p:cNvSpPr>
          <p:nvPr/>
        </p:nvSpPr>
        <p:spPr bwMode="auto">
          <a:xfrm flipV="1">
            <a:off x="2890838" y="1412875"/>
            <a:ext cx="0" cy="238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3" name="Line 22"/>
          <p:cNvSpPr>
            <a:spLocks noChangeShapeType="1"/>
          </p:cNvSpPr>
          <p:nvPr/>
        </p:nvSpPr>
        <p:spPr bwMode="auto">
          <a:xfrm flipH="1">
            <a:off x="2860675" y="1243013"/>
            <a:ext cx="30765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4" name="Line 23"/>
          <p:cNvSpPr>
            <a:spLocks noChangeShapeType="1"/>
          </p:cNvSpPr>
          <p:nvPr/>
        </p:nvSpPr>
        <p:spPr bwMode="auto">
          <a:xfrm>
            <a:off x="2890838" y="1257300"/>
            <a:ext cx="0" cy="3730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5" name="Rectangle 24"/>
          <p:cNvSpPr>
            <a:spLocks noChangeArrowheads="1"/>
          </p:cNvSpPr>
          <p:nvPr/>
        </p:nvSpPr>
        <p:spPr bwMode="auto">
          <a:xfrm>
            <a:off x="3763963" y="4170363"/>
            <a:ext cx="981075" cy="17827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36" name="Line 25"/>
          <p:cNvSpPr>
            <a:spLocks noChangeShapeType="1"/>
          </p:cNvSpPr>
          <p:nvPr/>
        </p:nvSpPr>
        <p:spPr bwMode="auto">
          <a:xfrm>
            <a:off x="3763963" y="4419600"/>
            <a:ext cx="98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7" name="Line 26"/>
          <p:cNvSpPr>
            <a:spLocks noChangeShapeType="1"/>
          </p:cNvSpPr>
          <p:nvPr/>
        </p:nvSpPr>
        <p:spPr bwMode="auto">
          <a:xfrm>
            <a:off x="3759200" y="4672013"/>
            <a:ext cx="9794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8" name="Line 27"/>
          <p:cNvSpPr>
            <a:spLocks noChangeShapeType="1"/>
          </p:cNvSpPr>
          <p:nvPr/>
        </p:nvSpPr>
        <p:spPr bwMode="auto">
          <a:xfrm>
            <a:off x="3768725" y="4922838"/>
            <a:ext cx="98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9" name="Line 28"/>
          <p:cNvSpPr>
            <a:spLocks noChangeShapeType="1"/>
          </p:cNvSpPr>
          <p:nvPr/>
        </p:nvSpPr>
        <p:spPr bwMode="auto">
          <a:xfrm>
            <a:off x="3763963" y="5173663"/>
            <a:ext cx="98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0" name="Line 29"/>
          <p:cNvSpPr>
            <a:spLocks noChangeShapeType="1"/>
          </p:cNvSpPr>
          <p:nvPr/>
        </p:nvSpPr>
        <p:spPr bwMode="auto">
          <a:xfrm>
            <a:off x="3759200" y="5424488"/>
            <a:ext cx="9794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1" name="Line 30"/>
          <p:cNvSpPr>
            <a:spLocks noChangeShapeType="1"/>
          </p:cNvSpPr>
          <p:nvPr/>
        </p:nvSpPr>
        <p:spPr bwMode="auto">
          <a:xfrm>
            <a:off x="3768725" y="5692775"/>
            <a:ext cx="981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2" name="Line 31"/>
          <p:cNvSpPr>
            <a:spLocks noChangeShapeType="1"/>
          </p:cNvSpPr>
          <p:nvPr/>
        </p:nvSpPr>
        <p:spPr bwMode="auto">
          <a:xfrm>
            <a:off x="2247900" y="1978025"/>
            <a:ext cx="0" cy="308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3" name="Line 32"/>
          <p:cNvSpPr>
            <a:spLocks noChangeShapeType="1"/>
          </p:cNvSpPr>
          <p:nvPr/>
        </p:nvSpPr>
        <p:spPr bwMode="auto">
          <a:xfrm>
            <a:off x="2227263" y="5010150"/>
            <a:ext cx="1428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4" name="Line 33"/>
          <p:cNvSpPr>
            <a:spLocks noChangeShapeType="1"/>
          </p:cNvSpPr>
          <p:nvPr/>
        </p:nvSpPr>
        <p:spPr bwMode="auto">
          <a:xfrm>
            <a:off x="4799013" y="5078413"/>
            <a:ext cx="8207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5" name="Line 34"/>
          <p:cNvSpPr>
            <a:spLocks noChangeShapeType="1"/>
          </p:cNvSpPr>
          <p:nvPr/>
        </p:nvSpPr>
        <p:spPr bwMode="auto">
          <a:xfrm flipH="1" flipV="1">
            <a:off x="5634038" y="3708400"/>
            <a:ext cx="0" cy="13843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6" name="Rectangle 35"/>
          <p:cNvSpPr>
            <a:spLocks noChangeArrowheads="1"/>
          </p:cNvSpPr>
          <p:nvPr/>
        </p:nvSpPr>
        <p:spPr bwMode="auto">
          <a:xfrm>
            <a:off x="4071938" y="4889500"/>
            <a:ext cx="2651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</a:t>
            </a:r>
          </a:p>
        </p:txBody>
      </p:sp>
      <p:sp>
        <p:nvSpPr>
          <p:cNvPr id="43047" name="Freeform 36"/>
          <p:cNvSpPr>
            <a:spLocks/>
          </p:cNvSpPr>
          <p:nvPr/>
        </p:nvSpPr>
        <p:spPr bwMode="auto">
          <a:xfrm>
            <a:off x="3563938" y="4132263"/>
            <a:ext cx="114300" cy="819150"/>
          </a:xfrm>
          <a:custGeom>
            <a:avLst/>
            <a:gdLst>
              <a:gd name="T0" fmla="*/ 2147483647 w 64"/>
              <a:gd name="T1" fmla="*/ 0 h 460"/>
              <a:gd name="T2" fmla="*/ 2147483647 w 64"/>
              <a:gd name="T3" fmla="*/ 2147483647 h 460"/>
              <a:gd name="T4" fmla="*/ 2147483647 w 64"/>
              <a:gd name="T5" fmla="*/ 2147483647 h 460"/>
              <a:gd name="T6" fmla="*/ 2147483647 w 64"/>
              <a:gd name="T7" fmla="*/ 2147483647 h 460"/>
              <a:gd name="T8" fmla="*/ 2147483647 w 64"/>
              <a:gd name="T9" fmla="*/ 2147483647 h 460"/>
              <a:gd name="T10" fmla="*/ 2147483647 w 64"/>
              <a:gd name="T11" fmla="*/ 2147483647 h 460"/>
              <a:gd name="T12" fmla="*/ 2147483647 w 64"/>
              <a:gd name="T13" fmla="*/ 2147483647 h 460"/>
              <a:gd name="T14" fmla="*/ 2147483647 w 64"/>
              <a:gd name="T15" fmla="*/ 2147483647 h 460"/>
              <a:gd name="T16" fmla="*/ 2147483647 w 64"/>
              <a:gd name="T17" fmla="*/ 2147483647 h 460"/>
              <a:gd name="T18" fmla="*/ 2147483647 w 64"/>
              <a:gd name="T19" fmla="*/ 2147483647 h 460"/>
              <a:gd name="T20" fmla="*/ 0 w 64"/>
              <a:gd name="T21" fmla="*/ 2147483647 h 460"/>
              <a:gd name="T22" fmla="*/ 0 w 64"/>
              <a:gd name="T23" fmla="*/ 2147483647 h 460"/>
              <a:gd name="T24" fmla="*/ 2147483647 w 64"/>
              <a:gd name="T25" fmla="*/ 2147483647 h 460"/>
              <a:gd name="T26" fmla="*/ 2147483647 w 64"/>
              <a:gd name="T27" fmla="*/ 2147483647 h 460"/>
              <a:gd name="T28" fmla="*/ 2147483647 w 64"/>
              <a:gd name="T29" fmla="*/ 2147483647 h 460"/>
              <a:gd name="T30" fmla="*/ 2147483647 w 64"/>
              <a:gd name="T31" fmla="*/ 2147483647 h 460"/>
              <a:gd name="T32" fmla="*/ 2147483647 w 64"/>
              <a:gd name="T33" fmla="*/ 2147483647 h 460"/>
              <a:gd name="T34" fmla="*/ 2147483647 w 64"/>
              <a:gd name="T35" fmla="*/ 2147483647 h 460"/>
              <a:gd name="T36" fmla="*/ 2147483647 w 64"/>
              <a:gd name="T37" fmla="*/ 2147483647 h 46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4" h="460">
                <a:moveTo>
                  <a:pt x="63" y="0"/>
                </a:moveTo>
                <a:lnTo>
                  <a:pt x="36" y="18"/>
                </a:lnTo>
                <a:lnTo>
                  <a:pt x="27" y="45"/>
                </a:lnTo>
                <a:lnTo>
                  <a:pt x="18" y="72"/>
                </a:lnTo>
                <a:lnTo>
                  <a:pt x="18" y="99"/>
                </a:lnTo>
                <a:lnTo>
                  <a:pt x="18" y="126"/>
                </a:lnTo>
                <a:lnTo>
                  <a:pt x="18" y="153"/>
                </a:lnTo>
                <a:lnTo>
                  <a:pt x="18" y="180"/>
                </a:lnTo>
                <a:lnTo>
                  <a:pt x="18" y="207"/>
                </a:lnTo>
                <a:lnTo>
                  <a:pt x="18" y="234"/>
                </a:lnTo>
                <a:lnTo>
                  <a:pt x="0" y="261"/>
                </a:lnTo>
                <a:lnTo>
                  <a:pt x="0" y="288"/>
                </a:lnTo>
                <a:lnTo>
                  <a:pt x="18" y="315"/>
                </a:lnTo>
                <a:lnTo>
                  <a:pt x="18" y="342"/>
                </a:lnTo>
                <a:lnTo>
                  <a:pt x="27" y="369"/>
                </a:lnTo>
                <a:lnTo>
                  <a:pt x="27" y="396"/>
                </a:lnTo>
                <a:lnTo>
                  <a:pt x="27" y="423"/>
                </a:lnTo>
                <a:lnTo>
                  <a:pt x="36" y="450"/>
                </a:lnTo>
                <a:lnTo>
                  <a:pt x="63" y="459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3048" name="Rectangle 37"/>
          <p:cNvSpPr>
            <a:spLocks noChangeArrowheads="1"/>
          </p:cNvSpPr>
          <p:nvPr/>
        </p:nvSpPr>
        <p:spPr bwMode="auto">
          <a:xfrm>
            <a:off x="3189288" y="4375150"/>
            <a:ext cx="3222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</a:t>
            </a:r>
          </a:p>
        </p:txBody>
      </p:sp>
      <p:sp>
        <p:nvSpPr>
          <p:cNvPr id="43049" name="Rectangle 38"/>
          <p:cNvSpPr>
            <a:spLocks noChangeArrowheads="1"/>
          </p:cNvSpPr>
          <p:nvPr/>
        </p:nvSpPr>
        <p:spPr bwMode="auto">
          <a:xfrm>
            <a:off x="3511550" y="6078538"/>
            <a:ext cx="12874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table</a:t>
            </a:r>
          </a:p>
        </p:txBody>
      </p:sp>
      <p:sp>
        <p:nvSpPr>
          <p:cNvPr id="43050" name="Rectangle 39"/>
          <p:cNvSpPr>
            <a:spLocks noChangeArrowheads="1"/>
          </p:cNvSpPr>
          <p:nvPr/>
        </p:nvSpPr>
        <p:spPr bwMode="auto">
          <a:xfrm>
            <a:off x="3378200" y="2116138"/>
            <a:ext cx="1077913" cy="1220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3051" name="Line 40"/>
          <p:cNvSpPr>
            <a:spLocks noChangeShapeType="1"/>
          </p:cNvSpPr>
          <p:nvPr/>
        </p:nvSpPr>
        <p:spPr bwMode="auto">
          <a:xfrm>
            <a:off x="3378200" y="2365375"/>
            <a:ext cx="10779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2" name="Line 41"/>
          <p:cNvSpPr>
            <a:spLocks noChangeShapeType="1"/>
          </p:cNvSpPr>
          <p:nvPr/>
        </p:nvSpPr>
        <p:spPr bwMode="auto">
          <a:xfrm>
            <a:off x="3373438" y="2616200"/>
            <a:ext cx="1076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3" name="Line 42"/>
          <p:cNvSpPr>
            <a:spLocks noChangeShapeType="1"/>
          </p:cNvSpPr>
          <p:nvPr/>
        </p:nvSpPr>
        <p:spPr bwMode="auto">
          <a:xfrm>
            <a:off x="3384550" y="2868613"/>
            <a:ext cx="1076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4" name="Line 43"/>
          <p:cNvSpPr>
            <a:spLocks noChangeShapeType="1"/>
          </p:cNvSpPr>
          <p:nvPr/>
        </p:nvSpPr>
        <p:spPr bwMode="auto">
          <a:xfrm>
            <a:off x="3378200" y="3103563"/>
            <a:ext cx="10779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5" name="Line 44"/>
          <p:cNvSpPr>
            <a:spLocks noChangeShapeType="1"/>
          </p:cNvSpPr>
          <p:nvPr/>
        </p:nvSpPr>
        <p:spPr bwMode="auto">
          <a:xfrm>
            <a:off x="3868738" y="2116138"/>
            <a:ext cx="0" cy="1220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6" name="Line 45"/>
          <p:cNvSpPr>
            <a:spLocks noChangeShapeType="1"/>
          </p:cNvSpPr>
          <p:nvPr/>
        </p:nvSpPr>
        <p:spPr bwMode="auto">
          <a:xfrm>
            <a:off x="4476750" y="2798763"/>
            <a:ext cx="1014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7" name="Line 46"/>
          <p:cNvSpPr>
            <a:spLocks noChangeShapeType="1"/>
          </p:cNvSpPr>
          <p:nvPr/>
        </p:nvSpPr>
        <p:spPr bwMode="auto">
          <a:xfrm>
            <a:off x="5505450" y="2797175"/>
            <a:ext cx="0" cy="4683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8" name="Line 47"/>
          <p:cNvSpPr>
            <a:spLocks noChangeShapeType="1"/>
          </p:cNvSpPr>
          <p:nvPr/>
        </p:nvSpPr>
        <p:spPr bwMode="auto">
          <a:xfrm>
            <a:off x="2360613" y="1962150"/>
            <a:ext cx="0" cy="725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9" name="Line 48"/>
          <p:cNvSpPr>
            <a:spLocks noChangeShapeType="1"/>
          </p:cNvSpPr>
          <p:nvPr/>
        </p:nvSpPr>
        <p:spPr bwMode="auto">
          <a:xfrm>
            <a:off x="2374900" y="2701925"/>
            <a:ext cx="935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0" name="Rectangle 49"/>
          <p:cNvSpPr>
            <a:spLocks noChangeArrowheads="1"/>
          </p:cNvSpPr>
          <p:nvPr/>
        </p:nvSpPr>
        <p:spPr bwMode="auto">
          <a:xfrm>
            <a:off x="3254375" y="1601788"/>
            <a:ext cx="1463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 frame</a:t>
            </a:r>
          </a:p>
        </p:txBody>
      </p:sp>
      <p:sp>
        <p:nvSpPr>
          <p:cNvPr id="43061" name="Rectangle 50"/>
          <p:cNvSpPr>
            <a:spLocks noChangeArrowheads="1"/>
          </p:cNvSpPr>
          <p:nvPr/>
        </p:nvSpPr>
        <p:spPr bwMode="auto">
          <a:xfrm>
            <a:off x="3333750" y="1825625"/>
            <a:ext cx="1162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no.     no.</a:t>
            </a:r>
          </a:p>
        </p:txBody>
      </p:sp>
      <p:sp>
        <p:nvSpPr>
          <p:cNvPr id="43062" name="Rectangle 51"/>
          <p:cNvSpPr>
            <a:spLocks noChangeArrowheads="1"/>
          </p:cNvSpPr>
          <p:nvPr/>
        </p:nvSpPr>
        <p:spPr bwMode="auto">
          <a:xfrm>
            <a:off x="3621088" y="3467100"/>
            <a:ext cx="773112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400" b="1">
                <a:solidFill>
                  <a:srgbClr val="FF0000"/>
                </a:solidFill>
                <a:latin typeface="Book Antiqua" panose="02040602050305030304" pitchFamily="18" charset="0"/>
              </a:rPr>
              <a:t>TLB</a:t>
            </a:r>
          </a:p>
        </p:txBody>
      </p:sp>
      <p:sp>
        <p:nvSpPr>
          <p:cNvPr id="43063" name="Rectangle 52"/>
          <p:cNvSpPr>
            <a:spLocks noChangeArrowheads="1"/>
          </p:cNvSpPr>
          <p:nvPr/>
        </p:nvSpPr>
        <p:spPr bwMode="auto">
          <a:xfrm>
            <a:off x="2154238" y="5253038"/>
            <a:ext cx="12319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TLB miss</a:t>
            </a:r>
          </a:p>
        </p:txBody>
      </p:sp>
      <p:sp>
        <p:nvSpPr>
          <p:cNvPr id="43064" name="Rectangle 53"/>
          <p:cNvSpPr>
            <a:spLocks noChangeArrowheads="1"/>
          </p:cNvSpPr>
          <p:nvPr/>
        </p:nvSpPr>
        <p:spPr bwMode="auto">
          <a:xfrm>
            <a:off x="4029075" y="2590800"/>
            <a:ext cx="2651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</a:t>
            </a:r>
          </a:p>
        </p:txBody>
      </p:sp>
      <p:sp>
        <p:nvSpPr>
          <p:cNvPr id="43065" name="Line 54"/>
          <p:cNvSpPr>
            <a:spLocks noChangeShapeType="1"/>
          </p:cNvSpPr>
          <p:nvPr/>
        </p:nvSpPr>
        <p:spPr bwMode="auto">
          <a:xfrm>
            <a:off x="2911475" y="2220913"/>
            <a:ext cx="0" cy="10239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6" name="Line 55"/>
          <p:cNvSpPr>
            <a:spLocks noChangeShapeType="1"/>
          </p:cNvSpPr>
          <p:nvPr/>
        </p:nvSpPr>
        <p:spPr bwMode="auto">
          <a:xfrm>
            <a:off x="2898775" y="320675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7" name="Line 56"/>
          <p:cNvSpPr>
            <a:spLocks noChangeShapeType="1"/>
          </p:cNvSpPr>
          <p:nvPr/>
        </p:nvSpPr>
        <p:spPr bwMode="auto">
          <a:xfrm>
            <a:off x="2927350" y="2989263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8" name="Line 57"/>
          <p:cNvSpPr>
            <a:spLocks noChangeShapeType="1"/>
          </p:cNvSpPr>
          <p:nvPr/>
        </p:nvSpPr>
        <p:spPr bwMode="auto">
          <a:xfrm>
            <a:off x="2938463" y="2487613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9" name="Line 58"/>
          <p:cNvSpPr>
            <a:spLocks noChangeShapeType="1"/>
          </p:cNvSpPr>
          <p:nvPr/>
        </p:nvSpPr>
        <p:spPr bwMode="auto">
          <a:xfrm>
            <a:off x="2933700" y="2235200"/>
            <a:ext cx="4762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0" name="Rectangle 59"/>
          <p:cNvSpPr>
            <a:spLocks noChangeArrowheads="1"/>
          </p:cNvSpPr>
          <p:nvPr/>
        </p:nvSpPr>
        <p:spPr bwMode="auto">
          <a:xfrm>
            <a:off x="3448050" y="2516188"/>
            <a:ext cx="3222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</a:t>
            </a:r>
          </a:p>
        </p:txBody>
      </p:sp>
      <p:sp>
        <p:nvSpPr>
          <p:cNvPr id="3" name="矩形 2"/>
          <p:cNvSpPr/>
          <p:nvPr/>
        </p:nvSpPr>
        <p:spPr>
          <a:xfrm>
            <a:off x="4271186" y="2083534"/>
            <a:ext cx="2915735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/>
              <a:t>recently accessed </a:t>
            </a:r>
            <a:r>
              <a:rPr lang="en-US" altLang="zh-TW" sz="2000" dirty="0" smtClean="0"/>
              <a:t>pages</a:t>
            </a:r>
            <a:endParaRPr lang="zh-TW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BEA45B-96DB-4590-A33E-5329A94DD1EE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75CB03-D8D1-40C5-B30A-E3DB286AD44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/>
              <a:t>Effective Access Time</a:t>
            </a:r>
          </a:p>
        </p:txBody>
      </p:sp>
      <p:sp>
        <p:nvSpPr>
          <p:cNvPr id="4403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077200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olidFill>
                  <a:srgbClr val="FF0000"/>
                </a:solidFill>
              </a:rPr>
              <a:t>Associative Lookup</a:t>
            </a:r>
            <a:r>
              <a:rPr lang="en-US" altLang="zh-TW" sz="2800" smtClean="0"/>
              <a:t> = </a:t>
            </a:r>
            <a:r>
              <a:rPr lang="en-US" altLang="zh-TW" b="1" smtClean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r>
              <a:rPr lang="en-US" altLang="zh-TW" sz="2800" smtClean="0">
                <a:sym typeface="Symbol" panose="05050102010706020507" pitchFamily="18" charset="2"/>
              </a:rPr>
              <a:t> time unit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ym typeface="Symbol" panose="05050102010706020507" pitchFamily="18" charset="2"/>
              </a:rPr>
              <a:t>Assume memory cycle time is </a:t>
            </a:r>
            <a:r>
              <a:rPr lang="en-US" altLang="zh-TW" sz="2800" smtClean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TW" sz="2800" smtClean="0">
                <a:sym typeface="Symbol" panose="05050102010706020507" pitchFamily="18" charset="2"/>
              </a:rPr>
              <a:t> microsecond</a:t>
            </a:r>
            <a:endParaRPr lang="en-US" altLang="zh-TW" sz="280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olidFill>
                  <a:srgbClr val="FF0000"/>
                </a:solidFill>
                <a:sym typeface="Symbol" panose="05050102010706020507" pitchFamily="18" charset="2"/>
              </a:rPr>
              <a:t>Hit ratio</a:t>
            </a:r>
            <a:r>
              <a:rPr lang="en-US" altLang="zh-TW" sz="2800" smtClean="0">
                <a:sym typeface="Symbol" panose="05050102010706020507" pitchFamily="18" charset="2"/>
              </a:rPr>
              <a:t> </a:t>
            </a:r>
            <a:r>
              <a:rPr lang="en-US" altLang="zh-TW" sz="2800" smtClean="0">
                <a:latin typeface="Helvetica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TW" sz="2800" smtClean="0">
                <a:sym typeface="Symbol" panose="05050102010706020507" pitchFamily="18" charset="2"/>
              </a:rPr>
              <a:t> percentage of times that a page number is found in the associative registers.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ym typeface="Symbol" panose="05050102010706020507" pitchFamily="18" charset="2"/>
              </a:rPr>
              <a:t>Hit ratio = </a:t>
            </a:r>
            <a:r>
              <a:rPr lang="en-US" altLang="zh-TW" b="1" smtClean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olidFill>
                  <a:srgbClr val="0000FF"/>
                </a:solidFill>
                <a:sym typeface="Symbol" panose="05050102010706020507" pitchFamily="18" charset="2"/>
              </a:rPr>
              <a:t>Effective Access Time</a:t>
            </a:r>
            <a:r>
              <a:rPr lang="en-US" altLang="zh-TW" sz="2800" smtClean="0">
                <a:sym typeface="Symbol" panose="05050102010706020507" pitchFamily="18" charset="2"/>
              </a:rPr>
              <a:t> (EAT)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063750" algn="l"/>
                <a:tab pos="2568575" algn="l"/>
              </a:tabLst>
            </a:pPr>
            <a:r>
              <a:rPr lang="en-US" altLang="zh-TW" sz="2800" smtClean="0"/>
              <a:t>		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063750" algn="l"/>
                <a:tab pos="2568575" algn="l"/>
              </a:tabLst>
            </a:pPr>
            <a:r>
              <a:rPr lang="en-US" altLang="zh-TW" sz="2800" smtClean="0"/>
              <a:t>EAT = </a:t>
            </a:r>
            <a:r>
              <a:rPr lang="en-US" altLang="zh-TW" sz="2800" b="1" smtClean="0">
                <a:solidFill>
                  <a:srgbClr val="FF0000"/>
                </a:solidFill>
              </a:rPr>
              <a:t>(1 + </a:t>
            </a:r>
            <a:r>
              <a:rPr lang="en-US" altLang="zh-TW" sz="2800" b="1" smtClean="0">
                <a:solidFill>
                  <a:srgbClr val="FF0000"/>
                </a:solidFill>
                <a:sym typeface="Symbol" panose="05050102010706020507" pitchFamily="18" charset="2"/>
              </a:rPr>
              <a:t>) </a:t>
            </a:r>
            <a:r>
              <a:rPr lang="en-US" altLang="zh-TW" sz="2800" smtClean="0">
                <a:sym typeface="Symbol" panose="05050102010706020507" pitchFamily="18" charset="2"/>
              </a:rPr>
              <a:t> + (2 + )(1 </a:t>
            </a:r>
            <a:r>
              <a:rPr lang="en-US" altLang="zh-TW" sz="2800" smtClean="0">
                <a:latin typeface="Helvetica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TW" sz="2800" smtClean="0">
                <a:sym typeface="Symbol" panose="05050102010706020507" pitchFamily="18" charset="2"/>
              </a:rPr>
              <a:t> )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063750" algn="l"/>
                <a:tab pos="2568575" algn="l"/>
              </a:tabLst>
            </a:pPr>
            <a:r>
              <a:rPr lang="en-US" altLang="zh-TW" sz="2800" smtClean="0">
                <a:sym typeface="Symbol" panose="05050102010706020507" pitchFamily="18" charset="2"/>
              </a:rPr>
              <a:t>			  = </a:t>
            </a:r>
            <a:r>
              <a:rPr lang="en-US" altLang="zh-TW" sz="2800" b="1" smtClean="0">
                <a:solidFill>
                  <a:srgbClr val="FF0000"/>
                </a:solidFill>
                <a:sym typeface="Symbol" panose="05050102010706020507" pitchFamily="18" charset="2"/>
              </a:rPr>
              <a:t>2 +  </a:t>
            </a:r>
            <a:r>
              <a:rPr lang="en-US" altLang="zh-TW" sz="2800" b="1" smtClean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TW" sz="2800" b="1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3600" b="1" smtClean="0">
                <a:solidFill>
                  <a:schemeClr val="tx2"/>
                </a:solidFill>
                <a:sym typeface="Symbol" panose="05050102010706020507" pitchFamily="18" charset="2"/>
              </a:rPr>
              <a:t>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063750" algn="l"/>
                <a:tab pos="2568575" algn="l"/>
              </a:tabLst>
            </a:pPr>
            <a:r>
              <a:rPr lang="en-US" altLang="zh-TW" sz="280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D482F08-D225-471C-BDE9-1155F4BB054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40FEB2-94EF-4704-8F61-ACB905E884E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Memory Protection</a:t>
            </a:r>
          </a:p>
        </p:txBody>
      </p:sp>
      <p:sp>
        <p:nvSpPr>
          <p:cNvPr id="4506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153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Memory protection implemented by </a:t>
            </a:r>
            <a:r>
              <a:rPr lang="en-US" altLang="zh-TW" smtClean="0">
                <a:solidFill>
                  <a:srgbClr val="0000FF"/>
                </a:solidFill>
              </a:rPr>
              <a:t>associating protection bit</a:t>
            </a:r>
            <a:r>
              <a:rPr lang="en-US" altLang="zh-TW" smtClean="0"/>
              <a:t> with each frame.</a:t>
            </a:r>
            <a:br>
              <a:rPr lang="en-US" altLang="zh-TW" smtClean="0"/>
            </a:br>
            <a:endParaRPr lang="en-US" altLang="zh-TW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00"/>
                </a:solidFill>
              </a:rPr>
              <a:t>Valid-invalid bit</a:t>
            </a:r>
            <a:r>
              <a:rPr lang="en-US" altLang="zh-TW" smtClean="0"/>
              <a:t> attached to each entry in the page table: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Helvetica" panose="020B0604020202020204" pitchFamily="34" charset="0"/>
              </a:rPr>
              <a:t>“</a:t>
            </a:r>
            <a:r>
              <a:rPr lang="en-US" altLang="zh-TW" smtClean="0">
                <a:solidFill>
                  <a:srgbClr val="0000FF"/>
                </a:solidFill>
              </a:rPr>
              <a:t>valid</a:t>
            </a:r>
            <a:r>
              <a:rPr lang="en-US" altLang="zh-TW" smtClean="0">
                <a:latin typeface="Helvetica" panose="020B0604020202020204" pitchFamily="34" charset="0"/>
              </a:rPr>
              <a:t>”</a:t>
            </a:r>
            <a:r>
              <a:rPr lang="en-US" altLang="zh-TW" smtClean="0"/>
              <a:t> indicates that the associated page is </a:t>
            </a:r>
            <a:r>
              <a:rPr lang="en-US" altLang="zh-TW" smtClean="0">
                <a:solidFill>
                  <a:srgbClr val="FF0000"/>
                </a:solidFill>
              </a:rPr>
              <a:t>in the process</a:t>
            </a:r>
            <a:r>
              <a:rPr lang="en-US" altLang="zh-TW" smtClean="0">
                <a:solidFill>
                  <a:srgbClr val="FF0000"/>
                </a:solidFill>
                <a:latin typeface="Helvetica" panose="020B0604020202020204" pitchFamily="34" charset="0"/>
              </a:rPr>
              <a:t>’</a:t>
            </a:r>
            <a:r>
              <a:rPr lang="en-US" altLang="zh-TW" smtClean="0">
                <a:solidFill>
                  <a:srgbClr val="FF0000"/>
                </a:solidFill>
              </a:rPr>
              <a:t> logical address space</a:t>
            </a:r>
            <a:r>
              <a:rPr lang="en-US" altLang="zh-TW" smtClean="0"/>
              <a:t>, and is thus a legal page.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>
                <a:latin typeface="Helvetica" panose="020B0604020202020204" pitchFamily="34" charset="0"/>
              </a:rPr>
              <a:t>“</a:t>
            </a:r>
            <a:r>
              <a:rPr lang="en-US" altLang="zh-TW" smtClean="0">
                <a:solidFill>
                  <a:srgbClr val="0000FF"/>
                </a:solidFill>
              </a:rPr>
              <a:t>invalid</a:t>
            </a:r>
            <a:r>
              <a:rPr lang="en-US" altLang="zh-TW" smtClean="0">
                <a:latin typeface="Helvetica" panose="020B0604020202020204" pitchFamily="34" charset="0"/>
              </a:rPr>
              <a:t>”</a:t>
            </a:r>
            <a:r>
              <a:rPr lang="en-US" altLang="zh-TW" smtClean="0"/>
              <a:t> indicates that the page is not in the process</a:t>
            </a:r>
            <a:r>
              <a:rPr lang="en-US" altLang="zh-TW" smtClean="0">
                <a:latin typeface="Helvetica" panose="020B0604020202020204" pitchFamily="34" charset="0"/>
              </a:rPr>
              <a:t>’</a:t>
            </a:r>
            <a:r>
              <a:rPr lang="en-US" altLang="zh-TW" smtClean="0"/>
              <a:t> logical address space.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541631-AF1D-47F9-B553-761E91101C5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54B252-411E-41E9-875A-653871A1029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/>
          </a:p>
        </p:txBody>
      </p:sp>
      <p:sp>
        <p:nvSpPr>
          <p:cNvPr id="46085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7951788" cy="609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3600" b="1" smtClean="0"/>
              <a:t>An example</a:t>
            </a:r>
          </a:p>
        </p:txBody>
      </p:sp>
      <p:grpSp>
        <p:nvGrpSpPr>
          <p:cNvPr id="46086" name="Group 3"/>
          <p:cNvGrpSpPr>
            <a:grpSpLocks/>
          </p:cNvGrpSpPr>
          <p:nvPr/>
        </p:nvGrpSpPr>
        <p:grpSpPr bwMode="auto">
          <a:xfrm>
            <a:off x="660400" y="1120775"/>
            <a:ext cx="8081963" cy="4894263"/>
            <a:chOff x="826" y="1122"/>
            <a:chExt cx="4700" cy="2746"/>
          </a:xfrm>
        </p:grpSpPr>
        <p:sp>
          <p:nvSpPr>
            <p:cNvPr id="46087" name="Rectangle 4"/>
            <p:cNvSpPr>
              <a:spLocks noChangeArrowheads="1"/>
            </p:cNvSpPr>
            <p:nvPr/>
          </p:nvSpPr>
          <p:spPr bwMode="auto">
            <a:xfrm>
              <a:off x="3533" y="2722"/>
              <a:ext cx="634" cy="678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88" name="Rectangle 5"/>
            <p:cNvSpPr>
              <a:spLocks noChangeArrowheads="1"/>
            </p:cNvSpPr>
            <p:nvPr/>
          </p:nvSpPr>
          <p:spPr bwMode="auto">
            <a:xfrm>
              <a:off x="3533" y="1578"/>
              <a:ext cx="645" cy="689"/>
            </a:xfrm>
            <a:prstGeom prst="rect">
              <a:avLst/>
            </a:prstGeom>
            <a:solidFill>
              <a:srgbClr val="E2E2E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89" name="Rectangle 6"/>
            <p:cNvSpPr>
              <a:spLocks noChangeArrowheads="1"/>
            </p:cNvSpPr>
            <p:nvPr/>
          </p:nvSpPr>
          <p:spPr bwMode="auto">
            <a:xfrm>
              <a:off x="3541" y="2958"/>
              <a:ext cx="638" cy="9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90" name="Rectangle 7"/>
            <p:cNvSpPr>
              <a:spLocks noChangeArrowheads="1"/>
            </p:cNvSpPr>
            <p:nvPr/>
          </p:nvSpPr>
          <p:spPr bwMode="auto">
            <a:xfrm>
              <a:off x="3541" y="2034"/>
              <a:ext cx="638" cy="9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91" name="Rectangle 8"/>
            <p:cNvSpPr>
              <a:spLocks noChangeArrowheads="1"/>
            </p:cNvSpPr>
            <p:nvPr/>
          </p:nvSpPr>
          <p:spPr bwMode="auto">
            <a:xfrm>
              <a:off x="3538" y="2727"/>
              <a:ext cx="638" cy="6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92" name="Rectangle 9"/>
            <p:cNvSpPr>
              <a:spLocks noChangeArrowheads="1"/>
            </p:cNvSpPr>
            <p:nvPr/>
          </p:nvSpPr>
          <p:spPr bwMode="auto">
            <a:xfrm>
              <a:off x="1375" y="1992"/>
              <a:ext cx="638" cy="135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093" name="Line 10"/>
            <p:cNvSpPr>
              <a:spLocks noChangeShapeType="1"/>
            </p:cNvSpPr>
            <p:nvPr/>
          </p:nvSpPr>
          <p:spPr bwMode="auto">
            <a:xfrm>
              <a:off x="1375" y="2222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094" name="Line 11"/>
            <p:cNvSpPr>
              <a:spLocks noChangeShapeType="1"/>
            </p:cNvSpPr>
            <p:nvPr/>
          </p:nvSpPr>
          <p:spPr bwMode="auto">
            <a:xfrm>
              <a:off x="1372" y="2444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095" name="Line 12"/>
            <p:cNvSpPr>
              <a:spLocks noChangeShapeType="1"/>
            </p:cNvSpPr>
            <p:nvPr/>
          </p:nvSpPr>
          <p:spPr bwMode="auto">
            <a:xfrm>
              <a:off x="1378" y="2675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096" name="Rectangle 13"/>
            <p:cNvSpPr>
              <a:spLocks noChangeArrowheads="1"/>
            </p:cNvSpPr>
            <p:nvPr/>
          </p:nvSpPr>
          <p:spPr bwMode="auto">
            <a:xfrm>
              <a:off x="1377" y="2018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0</a:t>
              </a:r>
            </a:p>
          </p:txBody>
        </p:sp>
        <p:sp>
          <p:nvSpPr>
            <p:cNvPr id="46097" name="Rectangle 14"/>
            <p:cNvSpPr>
              <a:spLocks noChangeArrowheads="1"/>
            </p:cNvSpPr>
            <p:nvPr/>
          </p:nvSpPr>
          <p:spPr bwMode="auto">
            <a:xfrm>
              <a:off x="1383" y="2240"/>
              <a:ext cx="53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1</a:t>
              </a:r>
            </a:p>
          </p:txBody>
        </p:sp>
        <p:sp>
          <p:nvSpPr>
            <p:cNvPr id="46098" name="Rectangle 15"/>
            <p:cNvSpPr>
              <a:spLocks noChangeArrowheads="1"/>
            </p:cNvSpPr>
            <p:nvPr/>
          </p:nvSpPr>
          <p:spPr bwMode="auto">
            <a:xfrm>
              <a:off x="1389" y="2462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2</a:t>
              </a:r>
            </a:p>
          </p:txBody>
        </p:sp>
        <p:sp>
          <p:nvSpPr>
            <p:cNvPr id="46099" name="Rectangle 16"/>
            <p:cNvSpPr>
              <a:spLocks noChangeArrowheads="1"/>
            </p:cNvSpPr>
            <p:nvPr/>
          </p:nvSpPr>
          <p:spPr bwMode="auto">
            <a:xfrm>
              <a:off x="1386" y="2702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3</a:t>
              </a:r>
            </a:p>
          </p:txBody>
        </p:sp>
        <p:sp>
          <p:nvSpPr>
            <p:cNvPr id="46100" name="Rectangle 17"/>
            <p:cNvSpPr>
              <a:spLocks noChangeArrowheads="1"/>
            </p:cNvSpPr>
            <p:nvPr/>
          </p:nvSpPr>
          <p:spPr bwMode="auto">
            <a:xfrm>
              <a:off x="826" y="3504"/>
              <a:ext cx="1150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logical memory</a:t>
              </a:r>
            </a:p>
          </p:txBody>
        </p:sp>
        <p:sp>
          <p:nvSpPr>
            <p:cNvPr id="46101" name="Rectangle 18"/>
            <p:cNvSpPr>
              <a:spLocks noChangeArrowheads="1"/>
            </p:cNvSpPr>
            <p:nvPr/>
          </p:nvSpPr>
          <p:spPr bwMode="auto">
            <a:xfrm>
              <a:off x="3537" y="2738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3</a:t>
              </a:r>
            </a:p>
          </p:txBody>
        </p:sp>
        <p:sp>
          <p:nvSpPr>
            <p:cNvPr id="46102" name="Rectangle 19"/>
            <p:cNvSpPr>
              <a:spLocks noChangeArrowheads="1"/>
            </p:cNvSpPr>
            <p:nvPr/>
          </p:nvSpPr>
          <p:spPr bwMode="auto">
            <a:xfrm>
              <a:off x="3534" y="3206"/>
              <a:ext cx="53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5</a:t>
              </a:r>
            </a:p>
          </p:txBody>
        </p:sp>
        <p:sp>
          <p:nvSpPr>
            <p:cNvPr id="46103" name="Rectangle 20"/>
            <p:cNvSpPr>
              <a:spLocks noChangeArrowheads="1"/>
            </p:cNvSpPr>
            <p:nvPr/>
          </p:nvSpPr>
          <p:spPr bwMode="auto">
            <a:xfrm>
              <a:off x="3534" y="2984"/>
              <a:ext cx="53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4</a:t>
              </a:r>
            </a:p>
          </p:txBody>
        </p:sp>
        <p:sp>
          <p:nvSpPr>
            <p:cNvPr id="46104" name="Rectangle 21"/>
            <p:cNvSpPr>
              <a:spLocks noChangeArrowheads="1"/>
            </p:cNvSpPr>
            <p:nvPr/>
          </p:nvSpPr>
          <p:spPr bwMode="auto">
            <a:xfrm>
              <a:off x="3324" y="1160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</a:t>
              </a:r>
            </a:p>
          </p:txBody>
        </p:sp>
        <p:sp>
          <p:nvSpPr>
            <p:cNvPr id="46105" name="Rectangle 22"/>
            <p:cNvSpPr>
              <a:spLocks noChangeArrowheads="1"/>
            </p:cNvSpPr>
            <p:nvPr/>
          </p:nvSpPr>
          <p:spPr bwMode="auto">
            <a:xfrm>
              <a:off x="3321" y="1364"/>
              <a:ext cx="180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</a:t>
              </a:r>
            </a:p>
          </p:txBody>
        </p:sp>
        <p:sp>
          <p:nvSpPr>
            <p:cNvPr id="46106" name="Rectangle 23"/>
            <p:cNvSpPr>
              <a:spLocks noChangeArrowheads="1"/>
            </p:cNvSpPr>
            <p:nvPr/>
          </p:nvSpPr>
          <p:spPr bwMode="auto">
            <a:xfrm>
              <a:off x="3324" y="1616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2</a:t>
              </a:r>
            </a:p>
          </p:txBody>
        </p:sp>
        <p:sp>
          <p:nvSpPr>
            <p:cNvPr id="46107" name="Rectangle 24"/>
            <p:cNvSpPr>
              <a:spLocks noChangeArrowheads="1"/>
            </p:cNvSpPr>
            <p:nvPr/>
          </p:nvSpPr>
          <p:spPr bwMode="auto">
            <a:xfrm>
              <a:off x="3324" y="1817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3</a:t>
              </a:r>
            </a:p>
          </p:txBody>
        </p:sp>
        <p:sp>
          <p:nvSpPr>
            <p:cNvPr id="46108" name="Rectangle 25"/>
            <p:cNvSpPr>
              <a:spLocks noChangeArrowheads="1"/>
            </p:cNvSpPr>
            <p:nvPr/>
          </p:nvSpPr>
          <p:spPr bwMode="auto">
            <a:xfrm>
              <a:off x="3315" y="2048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4</a:t>
              </a:r>
            </a:p>
          </p:txBody>
        </p:sp>
        <p:sp>
          <p:nvSpPr>
            <p:cNvPr id="46109" name="Rectangle 26"/>
            <p:cNvSpPr>
              <a:spLocks noChangeArrowheads="1"/>
            </p:cNvSpPr>
            <p:nvPr/>
          </p:nvSpPr>
          <p:spPr bwMode="auto">
            <a:xfrm>
              <a:off x="3321" y="2288"/>
              <a:ext cx="180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5</a:t>
              </a:r>
            </a:p>
          </p:txBody>
        </p:sp>
        <p:sp>
          <p:nvSpPr>
            <p:cNvPr id="46110" name="Rectangle 27"/>
            <p:cNvSpPr>
              <a:spLocks noChangeArrowheads="1"/>
            </p:cNvSpPr>
            <p:nvPr/>
          </p:nvSpPr>
          <p:spPr bwMode="auto">
            <a:xfrm>
              <a:off x="3318" y="2519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6</a:t>
              </a:r>
            </a:p>
          </p:txBody>
        </p:sp>
        <p:sp>
          <p:nvSpPr>
            <p:cNvPr id="46111" name="Rectangle 28"/>
            <p:cNvSpPr>
              <a:spLocks noChangeArrowheads="1"/>
            </p:cNvSpPr>
            <p:nvPr/>
          </p:nvSpPr>
          <p:spPr bwMode="auto">
            <a:xfrm>
              <a:off x="3327" y="2750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7</a:t>
              </a:r>
            </a:p>
          </p:txBody>
        </p:sp>
        <p:sp>
          <p:nvSpPr>
            <p:cNvPr id="46112" name="Rectangle 29"/>
            <p:cNvSpPr>
              <a:spLocks noChangeArrowheads="1"/>
            </p:cNvSpPr>
            <p:nvPr/>
          </p:nvSpPr>
          <p:spPr bwMode="auto">
            <a:xfrm>
              <a:off x="2200" y="3411"/>
              <a:ext cx="835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page table</a:t>
              </a:r>
            </a:p>
          </p:txBody>
        </p:sp>
        <p:sp>
          <p:nvSpPr>
            <p:cNvPr id="46113" name="Line 30"/>
            <p:cNvSpPr>
              <a:spLocks noChangeShapeType="1"/>
            </p:cNvSpPr>
            <p:nvPr/>
          </p:nvSpPr>
          <p:spPr bwMode="auto">
            <a:xfrm>
              <a:off x="3538" y="2951"/>
              <a:ext cx="63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14" name="Line 31"/>
            <p:cNvSpPr>
              <a:spLocks noChangeShapeType="1"/>
            </p:cNvSpPr>
            <p:nvPr/>
          </p:nvSpPr>
          <p:spPr bwMode="auto">
            <a:xfrm>
              <a:off x="1378" y="2900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15" name="Line 32"/>
            <p:cNvSpPr>
              <a:spLocks noChangeShapeType="1"/>
            </p:cNvSpPr>
            <p:nvPr/>
          </p:nvSpPr>
          <p:spPr bwMode="auto">
            <a:xfrm>
              <a:off x="1375" y="3140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16" name="Rectangle 33"/>
            <p:cNvSpPr>
              <a:spLocks noChangeArrowheads="1"/>
            </p:cNvSpPr>
            <p:nvPr/>
          </p:nvSpPr>
          <p:spPr bwMode="auto">
            <a:xfrm>
              <a:off x="1386" y="2927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4</a:t>
              </a:r>
            </a:p>
          </p:txBody>
        </p:sp>
        <p:sp>
          <p:nvSpPr>
            <p:cNvPr id="46117" name="Rectangle 34"/>
            <p:cNvSpPr>
              <a:spLocks noChangeArrowheads="1"/>
            </p:cNvSpPr>
            <p:nvPr/>
          </p:nvSpPr>
          <p:spPr bwMode="auto">
            <a:xfrm>
              <a:off x="1383" y="3167"/>
              <a:ext cx="53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5</a:t>
              </a:r>
            </a:p>
          </p:txBody>
        </p:sp>
        <p:sp>
          <p:nvSpPr>
            <p:cNvPr id="46118" name="Rectangle 35"/>
            <p:cNvSpPr>
              <a:spLocks noChangeArrowheads="1"/>
            </p:cNvSpPr>
            <p:nvPr/>
          </p:nvSpPr>
          <p:spPr bwMode="auto">
            <a:xfrm>
              <a:off x="3541" y="1122"/>
              <a:ext cx="638" cy="9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119" name="Rectangle 36"/>
            <p:cNvSpPr>
              <a:spLocks noChangeArrowheads="1"/>
            </p:cNvSpPr>
            <p:nvPr/>
          </p:nvSpPr>
          <p:spPr bwMode="auto">
            <a:xfrm>
              <a:off x="3538" y="1575"/>
              <a:ext cx="638" cy="6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46120" name="Rectangle 37"/>
            <p:cNvSpPr>
              <a:spLocks noChangeArrowheads="1"/>
            </p:cNvSpPr>
            <p:nvPr/>
          </p:nvSpPr>
          <p:spPr bwMode="auto">
            <a:xfrm>
              <a:off x="3540" y="1577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0</a:t>
              </a:r>
            </a:p>
          </p:txBody>
        </p:sp>
        <p:sp>
          <p:nvSpPr>
            <p:cNvPr id="46121" name="Rectangle 38"/>
            <p:cNvSpPr>
              <a:spLocks noChangeArrowheads="1"/>
            </p:cNvSpPr>
            <p:nvPr/>
          </p:nvSpPr>
          <p:spPr bwMode="auto">
            <a:xfrm>
              <a:off x="3525" y="2066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2</a:t>
              </a:r>
            </a:p>
          </p:txBody>
        </p:sp>
        <p:sp>
          <p:nvSpPr>
            <p:cNvPr id="46122" name="Line 39"/>
            <p:cNvSpPr>
              <a:spLocks noChangeShapeType="1"/>
            </p:cNvSpPr>
            <p:nvPr/>
          </p:nvSpPr>
          <p:spPr bwMode="auto">
            <a:xfrm>
              <a:off x="3541" y="1334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3" name="Line 40"/>
            <p:cNvSpPr>
              <a:spLocks noChangeShapeType="1"/>
            </p:cNvSpPr>
            <p:nvPr/>
          </p:nvSpPr>
          <p:spPr bwMode="auto">
            <a:xfrm>
              <a:off x="3541" y="1802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4" name="Line 41"/>
            <p:cNvSpPr>
              <a:spLocks noChangeShapeType="1"/>
            </p:cNvSpPr>
            <p:nvPr/>
          </p:nvSpPr>
          <p:spPr bwMode="auto">
            <a:xfrm>
              <a:off x="3541" y="2042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5" name="Rectangle 42"/>
            <p:cNvSpPr>
              <a:spLocks noChangeArrowheads="1"/>
            </p:cNvSpPr>
            <p:nvPr/>
          </p:nvSpPr>
          <p:spPr bwMode="auto">
            <a:xfrm>
              <a:off x="3537" y="1832"/>
              <a:ext cx="537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page 1</a:t>
              </a:r>
            </a:p>
          </p:txBody>
        </p:sp>
        <p:sp>
          <p:nvSpPr>
            <p:cNvPr id="46126" name="Line 43"/>
            <p:cNvSpPr>
              <a:spLocks noChangeShapeType="1"/>
            </p:cNvSpPr>
            <p:nvPr/>
          </p:nvSpPr>
          <p:spPr bwMode="auto">
            <a:xfrm>
              <a:off x="3541" y="2498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7" name="Line 44"/>
            <p:cNvSpPr>
              <a:spLocks noChangeShapeType="1"/>
            </p:cNvSpPr>
            <p:nvPr/>
          </p:nvSpPr>
          <p:spPr bwMode="auto">
            <a:xfrm>
              <a:off x="3541" y="3188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8" name="Line 45"/>
            <p:cNvSpPr>
              <a:spLocks noChangeShapeType="1"/>
            </p:cNvSpPr>
            <p:nvPr/>
          </p:nvSpPr>
          <p:spPr bwMode="auto">
            <a:xfrm>
              <a:off x="3541" y="3644"/>
              <a:ext cx="63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29" name="Rectangle 46"/>
            <p:cNvSpPr>
              <a:spLocks noChangeArrowheads="1"/>
            </p:cNvSpPr>
            <p:nvPr/>
          </p:nvSpPr>
          <p:spPr bwMode="auto">
            <a:xfrm>
              <a:off x="3339" y="2978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8</a:t>
              </a:r>
            </a:p>
          </p:txBody>
        </p:sp>
        <p:sp>
          <p:nvSpPr>
            <p:cNvPr id="46130" name="Rectangle 47"/>
            <p:cNvSpPr>
              <a:spLocks noChangeArrowheads="1"/>
            </p:cNvSpPr>
            <p:nvPr/>
          </p:nvSpPr>
          <p:spPr bwMode="auto">
            <a:xfrm>
              <a:off x="3351" y="3206"/>
              <a:ext cx="179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9</a:t>
              </a:r>
            </a:p>
          </p:txBody>
        </p:sp>
        <p:sp>
          <p:nvSpPr>
            <p:cNvPr id="46131" name="Rectangle 48"/>
            <p:cNvSpPr>
              <a:spLocks noChangeArrowheads="1"/>
            </p:cNvSpPr>
            <p:nvPr/>
          </p:nvSpPr>
          <p:spPr bwMode="auto">
            <a:xfrm>
              <a:off x="3357" y="3656"/>
              <a:ext cx="196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n</a:t>
              </a:r>
            </a:p>
          </p:txBody>
        </p:sp>
        <p:grpSp>
          <p:nvGrpSpPr>
            <p:cNvPr id="46132" name="Group 49"/>
            <p:cNvGrpSpPr>
              <a:grpSpLocks/>
            </p:cNvGrpSpPr>
            <p:nvPr/>
          </p:nvGrpSpPr>
          <p:grpSpPr bwMode="auto">
            <a:xfrm>
              <a:off x="2167" y="1625"/>
              <a:ext cx="956" cy="1781"/>
              <a:chOff x="2523" y="1747"/>
              <a:chExt cx="956" cy="1781"/>
            </a:xfrm>
          </p:grpSpPr>
          <p:sp>
            <p:nvSpPr>
              <p:cNvPr id="46138" name="Rectangle 50"/>
              <p:cNvSpPr>
                <a:spLocks noChangeArrowheads="1"/>
              </p:cNvSpPr>
              <p:nvPr/>
            </p:nvSpPr>
            <p:spPr bwMode="auto">
              <a:xfrm>
                <a:off x="2761" y="1985"/>
                <a:ext cx="718" cy="151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folHlink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76002F"/>
                        </a:gs>
                        <a:gs pos="50000">
                          <a:srgbClr val="FF0066"/>
                        </a:gs>
                        <a:gs pos="100000">
                          <a:srgbClr val="76002F"/>
                        </a:gs>
                      </a:gsLst>
                      <a:lin ang="2700000" scaled="1"/>
                    </a:gra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46139" name="Line 51"/>
              <p:cNvSpPr>
                <a:spLocks noChangeShapeType="1"/>
              </p:cNvSpPr>
              <p:nvPr/>
            </p:nvSpPr>
            <p:spPr bwMode="auto">
              <a:xfrm>
                <a:off x="2761" y="2165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40" name="Line 52"/>
              <p:cNvSpPr>
                <a:spLocks noChangeShapeType="1"/>
              </p:cNvSpPr>
              <p:nvPr/>
            </p:nvSpPr>
            <p:spPr bwMode="auto">
              <a:xfrm>
                <a:off x="2765" y="2369"/>
                <a:ext cx="713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41" name="Line 53"/>
              <p:cNvSpPr>
                <a:spLocks noChangeShapeType="1"/>
              </p:cNvSpPr>
              <p:nvPr/>
            </p:nvSpPr>
            <p:spPr bwMode="auto">
              <a:xfrm>
                <a:off x="2761" y="2562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42" name="Rectangle 54"/>
              <p:cNvSpPr>
                <a:spLocks noChangeArrowheads="1"/>
              </p:cNvSpPr>
              <p:nvPr/>
            </p:nvSpPr>
            <p:spPr bwMode="auto">
              <a:xfrm>
                <a:off x="2787" y="1974"/>
                <a:ext cx="180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2</a:t>
                </a:r>
              </a:p>
            </p:txBody>
          </p:sp>
          <p:sp>
            <p:nvSpPr>
              <p:cNvPr id="46143" name="Rectangle 55"/>
              <p:cNvSpPr>
                <a:spLocks noChangeArrowheads="1"/>
              </p:cNvSpPr>
              <p:nvPr/>
            </p:nvSpPr>
            <p:spPr bwMode="auto">
              <a:xfrm>
                <a:off x="2783" y="2175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3</a:t>
                </a:r>
              </a:p>
            </p:txBody>
          </p:sp>
          <p:sp>
            <p:nvSpPr>
              <p:cNvPr id="46144" name="Rectangle 56"/>
              <p:cNvSpPr>
                <a:spLocks noChangeArrowheads="1"/>
              </p:cNvSpPr>
              <p:nvPr/>
            </p:nvSpPr>
            <p:spPr bwMode="auto">
              <a:xfrm>
                <a:off x="2791" y="2375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4</a:t>
                </a:r>
              </a:p>
            </p:txBody>
          </p:sp>
          <p:sp>
            <p:nvSpPr>
              <p:cNvPr id="46145" name="Rectangle 57"/>
              <p:cNvSpPr>
                <a:spLocks noChangeArrowheads="1"/>
              </p:cNvSpPr>
              <p:nvPr/>
            </p:nvSpPr>
            <p:spPr bwMode="auto">
              <a:xfrm>
                <a:off x="2787" y="2566"/>
                <a:ext cx="180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7</a:t>
                </a:r>
              </a:p>
            </p:txBody>
          </p:sp>
          <p:sp>
            <p:nvSpPr>
              <p:cNvPr id="46146" name="Rectangle 58"/>
              <p:cNvSpPr>
                <a:spLocks noChangeArrowheads="1"/>
              </p:cNvSpPr>
              <p:nvPr/>
            </p:nvSpPr>
            <p:spPr bwMode="auto">
              <a:xfrm>
                <a:off x="2527" y="1971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0</a:t>
                </a:r>
              </a:p>
            </p:txBody>
          </p:sp>
          <p:sp>
            <p:nvSpPr>
              <p:cNvPr id="46147" name="Rectangle 59"/>
              <p:cNvSpPr>
                <a:spLocks noChangeArrowheads="1"/>
              </p:cNvSpPr>
              <p:nvPr/>
            </p:nvSpPr>
            <p:spPr bwMode="auto">
              <a:xfrm>
                <a:off x="2523" y="2171"/>
                <a:ext cx="180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1</a:t>
                </a:r>
              </a:p>
            </p:txBody>
          </p:sp>
          <p:sp>
            <p:nvSpPr>
              <p:cNvPr id="46148" name="Rectangle 60"/>
              <p:cNvSpPr>
                <a:spLocks noChangeArrowheads="1"/>
              </p:cNvSpPr>
              <p:nvPr/>
            </p:nvSpPr>
            <p:spPr bwMode="auto">
              <a:xfrm>
                <a:off x="2532" y="2373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2</a:t>
                </a:r>
              </a:p>
            </p:txBody>
          </p:sp>
          <p:sp>
            <p:nvSpPr>
              <p:cNvPr id="46149" name="Rectangle 61"/>
              <p:cNvSpPr>
                <a:spLocks noChangeArrowheads="1"/>
              </p:cNvSpPr>
              <p:nvPr/>
            </p:nvSpPr>
            <p:spPr bwMode="auto">
              <a:xfrm>
                <a:off x="2527" y="2562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3</a:t>
                </a:r>
              </a:p>
            </p:txBody>
          </p:sp>
          <p:sp>
            <p:nvSpPr>
              <p:cNvPr id="46150" name="Line 62"/>
              <p:cNvSpPr>
                <a:spLocks noChangeShapeType="1"/>
              </p:cNvSpPr>
              <p:nvPr/>
            </p:nvSpPr>
            <p:spPr bwMode="auto">
              <a:xfrm>
                <a:off x="2761" y="2743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51" name="Line 63"/>
              <p:cNvSpPr>
                <a:spLocks noChangeShapeType="1"/>
              </p:cNvSpPr>
              <p:nvPr/>
            </p:nvSpPr>
            <p:spPr bwMode="auto">
              <a:xfrm>
                <a:off x="2761" y="2933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52" name="Line 64"/>
              <p:cNvSpPr>
                <a:spLocks noChangeShapeType="1"/>
              </p:cNvSpPr>
              <p:nvPr/>
            </p:nvSpPr>
            <p:spPr bwMode="auto">
              <a:xfrm>
                <a:off x="2761" y="3123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53" name="Line 65"/>
              <p:cNvSpPr>
                <a:spLocks noChangeShapeType="1"/>
              </p:cNvSpPr>
              <p:nvPr/>
            </p:nvSpPr>
            <p:spPr bwMode="auto">
              <a:xfrm>
                <a:off x="2761" y="3314"/>
                <a:ext cx="718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54" name="Line 66"/>
              <p:cNvSpPr>
                <a:spLocks noChangeShapeType="1"/>
              </p:cNvSpPr>
              <p:nvPr/>
            </p:nvSpPr>
            <p:spPr bwMode="auto">
              <a:xfrm>
                <a:off x="3016" y="1989"/>
                <a:ext cx="1" cy="15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46155" name="Rectangle 67"/>
              <p:cNvSpPr>
                <a:spLocks noChangeArrowheads="1"/>
              </p:cNvSpPr>
              <p:nvPr/>
            </p:nvSpPr>
            <p:spPr bwMode="auto">
              <a:xfrm>
                <a:off x="2527" y="2726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4</a:t>
                </a:r>
              </a:p>
            </p:txBody>
          </p:sp>
          <p:sp>
            <p:nvSpPr>
              <p:cNvPr id="46156" name="Rectangle 68"/>
              <p:cNvSpPr>
                <a:spLocks noChangeArrowheads="1"/>
              </p:cNvSpPr>
              <p:nvPr/>
            </p:nvSpPr>
            <p:spPr bwMode="auto">
              <a:xfrm>
                <a:off x="2523" y="2926"/>
                <a:ext cx="180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5</a:t>
                </a:r>
              </a:p>
            </p:txBody>
          </p:sp>
          <p:sp>
            <p:nvSpPr>
              <p:cNvPr id="46157" name="Rectangle 69"/>
              <p:cNvSpPr>
                <a:spLocks noChangeArrowheads="1"/>
              </p:cNvSpPr>
              <p:nvPr/>
            </p:nvSpPr>
            <p:spPr bwMode="auto">
              <a:xfrm>
                <a:off x="2532" y="3127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6</a:t>
                </a:r>
              </a:p>
            </p:txBody>
          </p:sp>
          <p:sp>
            <p:nvSpPr>
              <p:cNvPr id="46158" name="Rectangle 70"/>
              <p:cNvSpPr>
                <a:spLocks noChangeArrowheads="1"/>
              </p:cNvSpPr>
              <p:nvPr/>
            </p:nvSpPr>
            <p:spPr bwMode="auto">
              <a:xfrm>
                <a:off x="2527" y="3317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7</a:t>
                </a:r>
              </a:p>
            </p:txBody>
          </p:sp>
          <p:sp>
            <p:nvSpPr>
              <p:cNvPr id="46159" name="Rectangle 71"/>
              <p:cNvSpPr>
                <a:spLocks noChangeArrowheads="1"/>
              </p:cNvSpPr>
              <p:nvPr/>
            </p:nvSpPr>
            <p:spPr bwMode="auto">
              <a:xfrm>
                <a:off x="2776" y="2739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8</a:t>
                </a:r>
              </a:p>
            </p:txBody>
          </p:sp>
          <p:sp>
            <p:nvSpPr>
              <p:cNvPr id="46160" name="Rectangle 72"/>
              <p:cNvSpPr>
                <a:spLocks noChangeArrowheads="1"/>
              </p:cNvSpPr>
              <p:nvPr/>
            </p:nvSpPr>
            <p:spPr bwMode="auto">
              <a:xfrm>
                <a:off x="2768" y="2935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9</a:t>
                </a:r>
              </a:p>
            </p:txBody>
          </p:sp>
          <p:sp>
            <p:nvSpPr>
              <p:cNvPr id="46161" name="Rectangle 73"/>
              <p:cNvSpPr>
                <a:spLocks noChangeArrowheads="1"/>
              </p:cNvSpPr>
              <p:nvPr/>
            </p:nvSpPr>
            <p:spPr bwMode="auto">
              <a:xfrm>
                <a:off x="2768" y="3135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0</a:t>
                </a:r>
              </a:p>
            </p:txBody>
          </p:sp>
          <p:sp>
            <p:nvSpPr>
              <p:cNvPr id="46162" name="Rectangle 74"/>
              <p:cNvSpPr>
                <a:spLocks noChangeArrowheads="1"/>
              </p:cNvSpPr>
              <p:nvPr/>
            </p:nvSpPr>
            <p:spPr bwMode="auto">
              <a:xfrm>
                <a:off x="2776" y="3324"/>
                <a:ext cx="179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0</a:t>
                </a:r>
              </a:p>
            </p:txBody>
          </p:sp>
          <p:sp>
            <p:nvSpPr>
              <p:cNvPr id="46163" name="Rectangle 75"/>
              <p:cNvSpPr>
                <a:spLocks noChangeArrowheads="1"/>
              </p:cNvSpPr>
              <p:nvPr/>
            </p:nvSpPr>
            <p:spPr bwMode="auto">
              <a:xfrm>
                <a:off x="3021" y="1971"/>
                <a:ext cx="187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4" name="Rectangle 76"/>
              <p:cNvSpPr>
                <a:spLocks noChangeArrowheads="1"/>
              </p:cNvSpPr>
              <p:nvPr/>
            </p:nvSpPr>
            <p:spPr bwMode="auto">
              <a:xfrm>
                <a:off x="3028" y="2161"/>
                <a:ext cx="188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5" name="Rectangle 77"/>
              <p:cNvSpPr>
                <a:spLocks noChangeArrowheads="1"/>
              </p:cNvSpPr>
              <p:nvPr/>
            </p:nvSpPr>
            <p:spPr bwMode="auto">
              <a:xfrm>
                <a:off x="3028" y="2358"/>
                <a:ext cx="188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6" name="Rectangle 78"/>
              <p:cNvSpPr>
                <a:spLocks noChangeArrowheads="1"/>
              </p:cNvSpPr>
              <p:nvPr/>
            </p:nvSpPr>
            <p:spPr bwMode="auto">
              <a:xfrm>
                <a:off x="3028" y="2556"/>
                <a:ext cx="188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7" name="Rectangle 79"/>
              <p:cNvSpPr>
                <a:spLocks noChangeArrowheads="1"/>
              </p:cNvSpPr>
              <p:nvPr/>
            </p:nvSpPr>
            <p:spPr bwMode="auto">
              <a:xfrm>
                <a:off x="3036" y="2739"/>
                <a:ext cx="187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8" name="Rectangle 80"/>
              <p:cNvSpPr>
                <a:spLocks noChangeArrowheads="1"/>
              </p:cNvSpPr>
              <p:nvPr/>
            </p:nvSpPr>
            <p:spPr bwMode="auto">
              <a:xfrm>
                <a:off x="3043" y="2923"/>
                <a:ext cx="188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v</a:t>
                </a:r>
              </a:p>
            </p:txBody>
          </p:sp>
          <p:sp>
            <p:nvSpPr>
              <p:cNvPr id="46169" name="Rectangle 81"/>
              <p:cNvSpPr>
                <a:spLocks noChangeArrowheads="1"/>
              </p:cNvSpPr>
              <p:nvPr/>
            </p:nvSpPr>
            <p:spPr bwMode="auto">
              <a:xfrm>
                <a:off x="3059" y="3113"/>
                <a:ext cx="154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i</a:t>
                </a:r>
              </a:p>
            </p:txBody>
          </p:sp>
          <p:sp>
            <p:nvSpPr>
              <p:cNvPr id="46170" name="Rectangle 82"/>
              <p:cNvSpPr>
                <a:spLocks noChangeArrowheads="1"/>
              </p:cNvSpPr>
              <p:nvPr/>
            </p:nvSpPr>
            <p:spPr bwMode="auto">
              <a:xfrm>
                <a:off x="3053" y="3317"/>
                <a:ext cx="154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i</a:t>
                </a:r>
              </a:p>
            </p:txBody>
          </p:sp>
          <p:sp>
            <p:nvSpPr>
              <p:cNvPr id="46171" name="Rectangle 83"/>
              <p:cNvSpPr>
                <a:spLocks noChangeArrowheads="1"/>
              </p:cNvSpPr>
              <p:nvPr/>
            </p:nvSpPr>
            <p:spPr bwMode="auto">
              <a:xfrm>
                <a:off x="2646" y="1747"/>
                <a:ext cx="778" cy="2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marL="2857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ClrTx/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TW" sz="2000" b="1">
                    <a:latin typeface="Book Antiqua" panose="02040602050305030304" pitchFamily="18" charset="0"/>
                  </a:rPr>
                  <a:t>frame No.</a:t>
                </a:r>
              </a:p>
            </p:txBody>
          </p:sp>
        </p:grpSp>
        <p:sp>
          <p:nvSpPr>
            <p:cNvPr id="46133" name="Rectangle 84"/>
            <p:cNvSpPr>
              <a:spLocks noChangeArrowheads="1"/>
            </p:cNvSpPr>
            <p:nvPr/>
          </p:nvSpPr>
          <p:spPr bwMode="auto">
            <a:xfrm>
              <a:off x="837" y="1884"/>
              <a:ext cx="514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00000</a:t>
              </a:r>
            </a:p>
          </p:txBody>
        </p:sp>
        <p:sp>
          <p:nvSpPr>
            <p:cNvPr id="46134" name="Rectangle 85"/>
            <p:cNvSpPr>
              <a:spLocks noChangeArrowheads="1"/>
            </p:cNvSpPr>
            <p:nvPr/>
          </p:nvSpPr>
          <p:spPr bwMode="auto">
            <a:xfrm>
              <a:off x="841" y="3036"/>
              <a:ext cx="514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10468</a:t>
              </a:r>
            </a:p>
          </p:txBody>
        </p:sp>
        <p:sp>
          <p:nvSpPr>
            <p:cNvPr id="46135" name="Rectangle 86"/>
            <p:cNvSpPr>
              <a:spLocks noChangeArrowheads="1"/>
            </p:cNvSpPr>
            <p:nvPr/>
          </p:nvSpPr>
          <p:spPr bwMode="auto">
            <a:xfrm>
              <a:off x="847" y="3239"/>
              <a:ext cx="514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solidFill>
                    <a:srgbClr val="FF0000"/>
                  </a:solidFill>
                  <a:latin typeface="Book Antiqua" panose="02040602050305030304" pitchFamily="18" charset="0"/>
                </a:rPr>
                <a:t>12287</a:t>
              </a:r>
            </a:p>
          </p:txBody>
        </p:sp>
        <p:sp>
          <p:nvSpPr>
            <p:cNvPr id="46136" name="Line 87"/>
            <p:cNvSpPr>
              <a:spLocks noChangeShapeType="1"/>
            </p:cNvSpPr>
            <p:nvPr/>
          </p:nvSpPr>
          <p:spPr bwMode="auto">
            <a:xfrm flipH="1" flipV="1">
              <a:off x="4267" y="3333"/>
              <a:ext cx="557" cy="1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137" name="Text Box 88"/>
            <p:cNvSpPr txBox="1">
              <a:spLocks noChangeArrowheads="1"/>
            </p:cNvSpPr>
            <p:nvPr/>
          </p:nvSpPr>
          <p:spPr bwMode="auto">
            <a:xfrm>
              <a:off x="4540" y="3420"/>
              <a:ext cx="986" cy="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2E2E2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06070E"/>
                  </a:solidFill>
                  <a:latin typeface="Times New Roman" panose="02020603050405020304" pitchFamily="18" charset="0"/>
                </a:rPr>
                <a:t>12290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valid but illegal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7C27CBB-46C5-4131-A232-D22817958CC8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FC477D-7182-427E-8EEE-8AAA4350CD9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868363" y="0"/>
            <a:ext cx="7180262" cy="8445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Shared Pages</a:t>
            </a:r>
          </a:p>
        </p:txBody>
      </p:sp>
      <p:sp>
        <p:nvSpPr>
          <p:cNvPr id="161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858838"/>
            <a:ext cx="8588375" cy="58102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TW" sz="2400" dirty="0" smtClean="0"/>
              <a:t>Another advantage of paging is the possibility of</a:t>
            </a:r>
            <a:r>
              <a:rPr lang="en-US" altLang="zh-TW" sz="2400" dirty="0" smtClean="0">
                <a:solidFill>
                  <a:srgbClr val="FFCC00"/>
                </a:solidFill>
              </a:rPr>
              <a:t> </a:t>
            </a:r>
            <a:r>
              <a:rPr lang="en-US" altLang="zh-TW" sz="2400" dirty="0" smtClean="0"/>
              <a:t>sharing common code, which must be </a:t>
            </a:r>
            <a:r>
              <a:rPr lang="en-US" altLang="zh-TW" sz="2800" b="1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reentrant</a:t>
            </a:r>
            <a:r>
              <a:rPr lang="en-US" altLang="zh-TW" sz="2400" i="1" dirty="0" smtClean="0"/>
              <a:t>.</a:t>
            </a:r>
            <a:r>
              <a:rPr lang="en-US" altLang="zh-TW" sz="2400" dirty="0" smtClean="0"/>
              <a:t> </a:t>
            </a:r>
            <a:endParaRPr lang="en-US" altLang="zh-TW" sz="2400" b="1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sz="2400" b="1" dirty="0" smtClean="0">
                <a:solidFill>
                  <a:srgbClr val="FF0000"/>
                </a:solidFill>
              </a:rPr>
              <a:t>reentrant code (pure code)</a:t>
            </a:r>
            <a:r>
              <a:rPr lang="en-US" altLang="zh-TW" sz="2400" dirty="0" smtClean="0"/>
              <a:t>: </a:t>
            </a:r>
            <a:r>
              <a:rPr lang="en-US" altLang="zh-TW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It never change during execution</a:t>
            </a:r>
            <a:r>
              <a:rPr lang="en-US" altLang="zh-TW" sz="2400" dirty="0" smtClean="0"/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sz="24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Only one copy of the shared code needs to be kept in physical memory</a:t>
            </a:r>
            <a:r>
              <a:rPr lang="en-US" altLang="zh-TW" sz="2400" dirty="0" smtClean="0">
                <a:solidFill>
                  <a:srgbClr val="0000FF"/>
                </a:solidFill>
              </a:rPr>
              <a:t>.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Two (several) virtual addresses are mapped to one physical address</a:t>
            </a:r>
            <a:r>
              <a:rPr lang="en-US" altLang="zh-TW" sz="2400" dirty="0" smtClean="0"/>
              <a:t>.</a:t>
            </a:r>
          </a:p>
          <a:p>
            <a:pPr eaLnBrk="1" hangingPunct="1">
              <a:spcBef>
                <a:spcPct val="50000"/>
              </a:spcBef>
              <a:buNone/>
              <a:defRPr/>
            </a:pPr>
            <a:r>
              <a:rPr lang="en-US" altLang="zh-TW" sz="2400" dirty="0" smtClean="0"/>
              <a:t> </a:t>
            </a:r>
            <a:r>
              <a:rPr lang="en-US" altLang="zh-TW" sz="2400" dirty="0" smtClean="0">
                <a:sym typeface="Wingdings" pitchFamily="2" charset="2"/>
              </a:rPr>
              <a:t> </a:t>
            </a:r>
            <a:r>
              <a:rPr lang="en-US" altLang="zh-TW" sz="2800" dirty="0" smtClean="0"/>
              <a:t>system using </a:t>
            </a:r>
            <a:r>
              <a:rPr lang="en-US" altLang="zh-TW" sz="2800" dirty="0" smtClean="0">
                <a:solidFill>
                  <a:srgbClr val="0000FF"/>
                </a:solidFill>
              </a:rPr>
              <a:t>inverted page table</a:t>
            </a:r>
            <a:r>
              <a:rPr lang="en-US" altLang="zh-TW" sz="2800" dirty="0" smtClean="0"/>
              <a:t> is difficult to implement shared pages (memory).</a:t>
            </a:r>
          </a:p>
        </p:txBody>
      </p:sp>
      <p:sp>
        <p:nvSpPr>
          <p:cNvPr id="2" name="矩形 1"/>
          <p:cNvSpPr/>
          <p:nvPr/>
        </p:nvSpPr>
        <p:spPr>
          <a:xfrm>
            <a:off x="1981200" y="5573871"/>
            <a:ext cx="4572000" cy="461665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r>
              <a:rPr lang="en-US" altLang="zh-TW" dirty="0" smtClean="0"/>
              <a:t>One </a:t>
            </a:r>
            <a:r>
              <a:rPr lang="en-US" altLang="zh-TW" dirty="0"/>
              <a:t>entry per physical frame</a:t>
            </a:r>
            <a:endParaRPr lang="zh-TW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A389FBD-213F-4135-AD09-F74CA48F117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67BB62-376D-4A5B-9389-2840BB0206EB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/>
          </a:p>
        </p:txBody>
      </p:sp>
      <p:sp>
        <p:nvSpPr>
          <p:cNvPr id="48133" name="Rectangle 2"/>
          <p:cNvSpPr>
            <a:spLocks noChangeArrowheads="1"/>
          </p:cNvSpPr>
          <p:nvPr/>
        </p:nvSpPr>
        <p:spPr bwMode="auto">
          <a:xfrm>
            <a:off x="6986588" y="4073525"/>
            <a:ext cx="915987" cy="47625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4" name="Rectangle 3"/>
          <p:cNvSpPr>
            <a:spLocks noChangeArrowheads="1"/>
          </p:cNvSpPr>
          <p:nvPr/>
        </p:nvSpPr>
        <p:spPr bwMode="auto">
          <a:xfrm>
            <a:off x="7038975" y="2609850"/>
            <a:ext cx="846138" cy="1006475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5" name="Rectangle 4"/>
          <p:cNvSpPr>
            <a:spLocks noChangeArrowheads="1"/>
          </p:cNvSpPr>
          <p:nvPr/>
        </p:nvSpPr>
        <p:spPr bwMode="auto">
          <a:xfrm>
            <a:off x="3973513" y="2579688"/>
            <a:ext cx="900112" cy="142875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6" name="Rectangle 5"/>
          <p:cNvSpPr>
            <a:spLocks noChangeArrowheads="1"/>
          </p:cNvSpPr>
          <p:nvPr/>
        </p:nvSpPr>
        <p:spPr bwMode="auto">
          <a:xfrm>
            <a:off x="1228725" y="4067175"/>
            <a:ext cx="900113" cy="142875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7" name="Rectangle 6"/>
          <p:cNvSpPr>
            <a:spLocks noChangeArrowheads="1"/>
          </p:cNvSpPr>
          <p:nvPr/>
        </p:nvSpPr>
        <p:spPr bwMode="auto">
          <a:xfrm>
            <a:off x="1235075" y="1181100"/>
            <a:ext cx="900113" cy="1428750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38" name="Rectangle 7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658100" cy="609600"/>
          </a:xfrm>
        </p:spPr>
        <p:txBody>
          <a:bodyPr/>
          <a:lstStyle/>
          <a:p>
            <a:pPr eaLnBrk="1" hangingPunct="1"/>
            <a:r>
              <a:rPr lang="en-US" altLang="zh-TW" sz="3600" b="1" smtClean="0"/>
              <a:t>Shared Pages</a:t>
            </a:r>
          </a:p>
        </p:txBody>
      </p:sp>
      <p:sp>
        <p:nvSpPr>
          <p:cNvPr id="48139" name="Rectangle 8"/>
          <p:cNvSpPr>
            <a:spLocks noChangeArrowheads="1"/>
          </p:cNvSpPr>
          <p:nvPr/>
        </p:nvSpPr>
        <p:spPr bwMode="auto">
          <a:xfrm>
            <a:off x="6992938" y="3603625"/>
            <a:ext cx="911225" cy="1911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00"/>
                    </a:gs>
                    <a:gs pos="50000">
                      <a:srgbClr val="765E00"/>
                    </a:gs>
                    <a:gs pos="100000">
                      <a:srgbClr val="FFCC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849" name="Rectangle 9"/>
          <p:cNvSpPr>
            <a:spLocks noChangeArrowheads="1"/>
          </p:cNvSpPr>
          <p:nvPr/>
        </p:nvSpPr>
        <p:spPr bwMode="auto">
          <a:xfrm>
            <a:off x="6992938" y="4095750"/>
            <a:ext cx="911225" cy="90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163850" name="Rectangle 10"/>
          <p:cNvSpPr>
            <a:spLocks noChangeArrowheads="1"/>
          </p:cNvSpPr>
          <p:nvPr/>
        </p:nvSpPr>
        <p:spPr bwMode="auto">
          <a:xfrm>
            <a:off x="1228725" y="1179513"/>
            <a:ext cx="911225" cy="19097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8142" name="Rectangle 11"/>
          <p:cNvSpPr>
            <a:spLocks noChangeArrowheads="1"/>
          </p:cNvSpPr>
          <p:nvPr/>
        </p:nvSpPr>
        <p:spPr bwMode="auto">
          <a:xfrm>
            <a:off x="1233488" y="1233488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1</a:t>
            </a:r>
          </a:p>
        </p:txBody>
      </p:sp>
      <p:sp>
        <p:nvSpPr>
          <p:cNvPr id="48143" name="Rectangle 12"/>
          <p:cNvSpPr>
            <a:spLocks noChangeArrowheads="1"/>
          </p:cNvSpPr>
          <p:nvPr/>
        </p:nvSpPr>
        <p:spPr bwMode="auto">
          <a:xfrm>
            <a:off x="1244600" y="1698625"/>
            <a:ext cx="781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2</a:t>
            </a:r>
          </a:p>
        </p:txBody>
      </p:sp>
      <p:sp>
        <p:nvSpPr>
          <p:cNvPr id="48144" name="Rectangle 13"/>
          <p:cNvSpPr>
            <a:spLocks noChangeArrowheads="1"/>
          </p:cNvSpPr>
          <p:nvPr/>
        </p:nvSpPr>
        <p:spPr bwMode="auto">
          <a:xfrm>
            <a:off x="1255713" y="2165350"/>
            <a:ext cx="781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3</a:t>
            </a:r>
          </a:p>
        </p:txBody>
      </p:sp>
      <p:sp>
        <p:nvSpPr>
          <p:cNvPr id="48145" name="Rectangle 14"/>
          <p:cNvSpPr>
            <a:spLocks noChangeArrowheads="1"/>
          </p:cNvSpPr>
          <p:nvPr/>
        </p:nvSpPr>
        <p:spPr bwMode="auto">
          <a:xfrm>
            <a:off x="1250950" y="2670175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1</a:t>
            </a:r>
          </a:p>
        </p:txBody>
      </p:sp>
      <p:sp>
        <p:nvSpPr>
          <p:cNvPr id="48146" name="Rectangle 15"/>
          <p:cNvSpPr>
            <a:spLocks noChangeArrowheads="1"/>
          </p:cNvSpPr>
          <p:nvPr/>
        </p:nvSpPr>
        <p:spPr bwMode="auto">
          <a:xfrm>
            <a:off x="2692400" y="1179513"/>
            <a:ext cx="411163" cy="1419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47" name="Line 16"/>
          <p:cNvSpPr>
            <a:spLocks noChangeShapeType="1"/>
          </p:cNvSpPr>
          <p:nvPr/>
        </p:nvSpPr>
        <p:spPr bwMode="auto">
          <a:xfrm>
            <a:off x="2692400" y="1509713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48" name="Line 17"/>
          <p:cNvSpPr>
            <a:spLocks noChangeShapeType="1"/>
          </p:cNvSpPr>
          <p:nvPr/>
        </p:nvSpPr>
        <p:spPr bwMode="auto">
          <a:xfrm>
            <a:off x="2709863" y="1889125"/>
            <a:ext cx="393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49" name="Line 18"/>
          <p:cNvSpPr>
            <a:spLocks noChangeShapeType="1"/>
          </p:cNvSpPr>
          <p:nvPr/>
        </p:nvSpPr>
        <p:spPr bwMode="auto">
          <a:xfrm>
            <a:off x="2692400" y="2246313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50" name="Rectangle 19"/>
          <p:cNvSpPr>
            <a:spLocks noChangeArrowheads="1"/>
          </p:cNvSpPr>
          <p:nvPr/>
        </p:nvSpPr>
        <p:spPr bwMode="auto">
          <a:xfrm>
            <a:off x="2730500" y="11572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151" name="Rectangle 20"/>
          <p:cNvSpPr>
            <a:spLocks noChangeArrowheads="1"/>
          </p:cNvSpPr>
          <p:nvPr/>
        </p:nvSpPr>
        <p:spPr bwMode="auto">
          <a:xfrm>
            <a:off x="2725738" y="15287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48152" name="Rectangle 21"/>
          <p:cNvSpPr>
            <a:spLocks noChangeArrowheads="1"/>
          </p:cNvSpPr>
          <p:nvPr/>
        </p:nvSpPr>
        <p:spPr bwMode="auto">
          <a:xfrm>
            <a:off x="2738438" y="190023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48153" name="Rectangle 22"/>
          <p:cNvSpPr>
            <a:spLocks noChangeArrowheads="1"/>
          </p:cNvSpPr>
          <p:nvPr/>
        </p:nvSpPr>
        <p:spPr bwMode="auto">
          <a:xfrm>
            <a:off x="2730500" y="22542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8154" name="Rectangle 23"/>
          <p:cNvSpPr>
            <a:spLocks noChangeArrowheads="1"/>
          </p:cNvSpPr>
          <p:nvPr/>
        </p:nvSpPr>
        <p:spPr bwMode="auto">
          <a:xfrm>
            <a:off x="2333625" y="115093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48155" name="Rectangle 24"/>
          <p:cNvSpPr>
            <a:spLocks noChangeArrowheads="1"/>
          </p:cNvSpPr>
          <p:nvPr/>
        </p:nvSpPr>
        <p:spPr bwMode="auto">
          <a:xfrm>
            <a:off x="2327275" y="1524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8156" name="Rectangle 25"/>
          <p:cNvSpPr>
            <a:spLocks noChangeArrowheads="1"/>
          </p:cNvSpPr>
          <p:nvPr/>
        </p:nvSpPr>
        <p:spPr bwMode="auto">
          <a:xfrm>
            <a:off x="2338388" y="18938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48157" name="Rectangle 26"/>
          <p:cNvSpPr>
            <a:spLocks noChangeArrowheads="1"/>
          </p:cNvSpPr>
          <p:nvPr/>
        </p:nvSpPr>
        <p:spPr bwMode="auto">
          <a:xfrm>
            <a:off x="2333625" y="22463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158" name="Rectangle 27"/>
          <p:cNvSpPr>
            <a:spLocks noChangeArrowheads="1"/>
          </p:cNvSpPr>
          <p:nvPr/>
        </p:nvSpPr>
        <p:spPr bwMode="auto">
          <a:xfrm>
            <a:off x="2249488" y="2716213"/>
            <a:ext cx="13509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48159" name="Rectangle 28"/>
          <p:cNvSpPr>
            <a:spLocks noChangeArrowheads="1"/>
          </p:cNvSpPr>
          <p:nvPr/>
        </p:nvSpPr>
        <p:spPr bwMode="auto">
          <a:xfrm>
            <a:off x="6999288" y="1670050"/>
            <a:ext cx="911225" cy="1911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63869" name="Rectangle 29"/>
          <p:cNvSpPr>
            <a:spLocks noChangeArrowheads="1"/>
          </p:cNvSpPr>
          <p:nvPr/>
        </p:nvSpPr>
        <p:spPr bwMode="auto">
          <a:xfrm>
            <a:off x="6999288" y="1644650"/>
            <a:ext cx="911225" cy="1943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8161" name="Line 30"/>
          <p:cNvSpPr>
            <a:spLocks noChangeShapeType="1"/>
          </p:cNvSpPr>
          <p:nvPr/>
        </p:nvSpPr>
        <p:spPr bwMode="auto">
          <a:xfrm>
            <a:off x="6999288" y="2152650"/>
            <a:ext cx="911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62" name="Line 31"/>
          <p:cNvSpPr>
            <a:spLocks noChangeShapeType="1"/>
          </p:cNvSpPr>
          <p:nvPr/>
        </p:nvSpPr>
        <p:spPr bwMode="auto">
          <a:xfrm>
            <a:off x="7004050" y="2606675"/>
            <a:ext cx="900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63" name="Line 32"/>
          <p:cNvSpPr>
            <a:spLocks noChangeShapeType="1"/>
          </p:cNvSpPr>
          <p:nvPr/>
        </p:nvSpPr>
        <p:spPr bwMode="auto">
          <a:xfrm>
            <a:off x="6992938" y="4087813"/>
            <a:ext cx="911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64" name="Line 33"/>
          <p:cNvSpPr>
            <a:spLocks noChangeShapeType="1"/>
          </p:cNvSpPr>
          <p:nvPr/>
        </p:nvSpPr>
        <p:spPr bwMode="auto">
          <a:xfrm>
            <a:off x="6986588" y="4552950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65" name="Rectangle 34"/>
          <p:cNvSpPr>
            <a:spLocks noChangeArrowheads="1"/>
          </p:cNvSpPr>
          <p:nvPr/>
        </p:nvSpPr>
        <p:spPr bwMode="auto">
          <a:xfrm>
            <a:off x="6569075" y="126365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0</a:t>
            </a:r>
          </a:p>
        </p:txBody>
      </p:sp>
      <p:sp>
        <p:nvSpPr>
          <p:cNvPr id="48166" name="Rectangle 35"/>
          <p:cNvSpPr>
            <a:spLocks noChangeArrowheads="1"/>
          </p:cNvSpPr>
          <p:nvPr/>
        </p:nvSpPr>
        <p:spPr bwMode="auto">
          <a:xfrm>
            <a:off x="6562725" y="1693863"/>
            <a:ext cx="371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1</a:t>
            </a:r>
          </a:p>
        </p:txBody>
      </p:sp>
      <p:sp>
        <p:nvSpPr>
          <p:cNvPr id="48167" name="Rectangle 36"/>
          <p:cNvSpPr>
            <a:spLocks noChangeArrowheads="1"/>
          </p:cNvSpPr>
          <p:nvPr/>
        </p:nvSpPr>
        <p:spPr bwMode="auto">
          <a:xfrm>
            <a:off x="6556375" y="219710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2</a:t>
            </a:r>
          </a:p>
        </p:txBody>
      </p:sp>
      <p:sp>
        <p:nvSpPr>
          <p:cNvPr id="48168" name="Rectangle 37"/>
          <p:cNvSpPr>
            <a:spLocks noChangeArrowheads="1"/>
          </p:cNvSpPr>
          <p:nvPr/>
        </p:nvSpPr>
        <p:spPr bwMode="auto">
          <a:xfrm>
            <a:off x="6569075" y="2644775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3</a:t>
            </a:r>
          </a:p>
        </p:txBody>
      </p:sp>
      <p:sp>
        <p:nvSpPr>
          <p:cNvPr id="48169" name="Rectangle 38"/>
          <p:cNvSpPr>
            <a:spLocks noChangeArrowheads="1"/>
          </p:cNvSpPr>
          <p:nvPr/>
        </p:nvSpPr>
        <p:spPr bwMode="auto">
          <a:xfrm>
            <a:off x="6573838" y="310515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4</a:t>
            </a:r>
          </a:p>
        </p:txBody>
      </p:sp>
      <p:sp>
        <p:nvSpPr>
          <p:cNvPr id="48170" name="Rectangle 39"/>
          <p:cNvSpPr>
            <a:spLocks noChangeArrowheads="1"/>
          </p:cNvSpPr>
          <p:nvPr/>
        </p:nvSpPr>
        <p:spPr bwMode="auto">
          <a:xfrm>
            <a:off x="6573838" y="364490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5</a:t>
            </a:r>
          </a:p>
        </p:txBody>
      </p:sp>
      <p:sp>
        <p:nvSpPr>
          <p:cNvPr id="48171" name="Rectangle 40"/>
          <p:cNvSpPr>
            <a:spLocks noChangeArrowheads="1"/>
          </p:cNvSpPr>
          <p:nvPr/>
        </p:nvSpPr>
        <p:spPr bwMode="auto">
          <a:xfrm>
            <a:off x="6569075" y="413385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6</a:t>
            </a:r>
          </a:p>
        </p:txBody>
      </p:sp>
      <p:sp>
        <p:nvSpPr>
          <p:cNvPr id="48172" name="Rectangle 41"/>
          <p:cNvSpPr>
            <a:spLocks noChangeArrowheads="1"/>
          </p:cNvSpPr>
          <p:nvPr/>
        </p:nvSpPr>
        <p:spPr bwMode="auto">
          <a:xfrm>
            <a:off x="6599238" y="46164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48173" name="Line 42"/>
          <p:cNvSpPr>
            <a:spLocks noChangeShapeType="1"/>
          </p:cNvSpPr>
          <p:nvPr/>
        </p:nvSpPr>
        <p:spPr bwMode="auto">
          <a:xfrm>
            <a:off x="6991350" y="13541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74" name="Line 43"/>
          <p:cNvSpPr>
            <a:spLocks noChangeShapeType="1"/>
          </p:cNvSpPr>
          <p:nvPr/>
        </p:nvSpPr>
        <p:spPr bwMode="auto">
          <a:xfrm>
            <a:off x="7918450" y="1316038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75" name="Line 44"/>
          <p:cNvSpPr>
            <a:spLocks noChangeShapeType="1"/>
          </p:cNvSpPr>
          <p:nvPr/>
        </p:nvSpPr>
        <p:spPr bwMode="auto">
          <a:xfrm>
            <a:off x="7918450" y="5526088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76" name="Rectangle 45"/>
          <p:cNvSpPr>
            <a:spLocks noChangeArrowheads="1"/>
          </p:cNvSpPr>
          <p:nvPr/>
        </p:nvSpPr>
        <p:spPr bwMode="auto">
          <a:xfrm>
            <a:off x="6573838" y="5067300"/>
            <a:ext cx="371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8</a:t>
            </a:r>
          </a:p>
        </p:txBody>
      </p:sp>
      <p:sp>
        <p:nvSpPr>
          <p:cNvPr id="48177" name="Rectangle 46"/>
          <p:cNvSpPr>
            <a:spLocks noChangeArrowheads="1"/>
          </p:cNvSpPr>
          <p:nvPr/>
        </p:nvSpPr>
        <p:spPr bwMode="auto">
          <a:xfrm>
            <a:off x="6985000" y="1725613"/>
            <a:ext cx="8509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1</a:t>
            </a:r>
          </a:p>
        </p:txBody>
      </p:sp>
      <p:sp>
        <p:nvSpPr>
          <p:cNvPr id="48178" name="Line 47"/>
          <p:cNvSpPr>
            <a:spLocks noChangeShapeType="1"/>
          </p:cNvSpPr>
          <p:nvPr/>
        </p:nvSpPr>
        <p:spPr bwMode="auto">
          <a:xfrm>
            <a:off x="1228725" y="1624013"/>
            <a:ext cx="911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79" name="Line 48"/>
          <p:cNvSpPr>
            <a:spLocks noChangeShapeType="1"/>
          </p:cNvSpPr>
          <p:nvPr/>
        </p:nvSpPr>
        <p:spPr bwMode="auto">
          <a:xfrm>
            <a:off x="1247775" y="2095500"/>
            <a:ext cx="892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80" name="Line 49"/>
          <p:cNvSpPr>
            <a:spLocks noChangeShapeType="1"/>
          </p:cNvSpPr>
          <p:nvPr/>
        </p:nvSpPr>
        <p:spPr bwMode="auto">
          <a:xfrm>
            <a:off x="1228725" y="2606675"/>
            <a:ext cx="911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81" name="Rectangle 50"/>
          <p:cNvSpPr>
            <a:spLocks noChangeArrowheads="1"/>
          </p:cNvSpPr>
          <p:nvPr/>
        </p:nvSpPr>
        <p:spPr bwMode="auto">
          <a:xfrm>
            <a:off x="1036638" y="3086100"/>
            <a:ext cx="1330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P1</a:t>
            </a:r>
          </a:p>
        </p:txBody>
      </p:sp>
      <p:sp>
        <p:nvSpPr>
          <p:cNvPr id="48182" name="Rectangle 51"/>
          <p:cNvSpPr>
            <a:spLocks noChangeArrowheads="1"/>
          </p:cNvSpPr>
          <p:nvPr/>
        </p:nvSpPr>
        <p:spPr bwMode="auto">
          <a:xfrm>
            <a:off x="2498725" y="2981325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for P1</a:t>
            </a:r>
          </a:p>
        </p:txBody>
      </p:sp>
      <p:sp>
        <p:nvSpPr>
          <p:cNvPr id="163892" name="Rectangle 52"/>
          <p:cNvSpPr>
            <a:spLocks noChangeArrowheads="1"/>
          </p:cNvSpPr>
          <p:nvPr/>
        </p:nvSpPr>
        <p:spPr bwMode="auto">
          <a:xfrm>
            <a:off x="1239838" y="4075113"/>
            <a:ext cx="912812" cy="1911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8184" name="Rectangle 53"/>
          <p:cNvSpPr>
            <a:spLocks noChangeArrowheads="1"/>
          </p:cNvSpPr>
          <p:nvPr/>
        </p:nvSpPr>
        <p:spPr bwMode="auto">
          <a:xfrm>
            <a:off x="1244600" y="4129088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1</a:t>
            </a:r>
          </a:p>
        </p:txBody>
      </p:sp>
      <p:sp>
        <p:nvSpPr>
          <p:cNvPr id="48185" name="Rectangle 54"/>
          <p:cNvSpPr>
            <a:spLocks noChangeArrowheads="1"/>
          </p:cNvSpPr>
          <p:nvPr/>
        </p:nvSpPr>
        <p:spPr bwMode="auto">
          <a:xfrm>
            <a:off x="1255713" y="4595813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2</a:t>
            </a:r>
          </a:p>
        </p:txBody>
      </p:sp>
      <p:sp>
        <p:nvSpPr>
          <p:cNvPr id="48186" name="Rectangle 55"/>
          <p:cNvSpPr>
            <a:spLocks noChangeArrowheads="1"/>
          </p:cNvSpPr>
          <p:nvPr/>
        </p:nvSpPr>
        <p:spPr bwMode="auto">
          <a:xfrm>
            <a:off x="1268413" y="5060950"/>
            <a:ext cx="7810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3</a:t>
            </a:r>
          </a:p>
        </p:txBody>
      </p:sp>
      <p:sp>
        <p:nvSpPr>
          <p:cNvPr id="48187" name="Rectangle 56"/>
          <p:cNvSpPr>
            <a:spLocks noChangeArrowheads="1"/>
          </p:cNvSpPr>
          <p:nvPr/>
        </p:nvSpPr>
        <p:spPr bwMode="auto">
          <a:xfrm>
            <a:off x="1263650" y="5565775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2</a:t>
            </a:r>
          </a:p>
        </p:txBody>
      </p:sp>
      <p:sp>
        <p:nvSpPr>
          <p:cNvPr id="48188" name="Rectangle 57"/>
          <p:cNvSpPr>
            <a:spLocks noChangeArrowheads="1"/>
          </p:cNvSpPr>
          <p:nvPr/>
        </p:nvSpPr>
        <p:spPr bwMode="auto">
          <a:xfrm>
            <a:off x="2705100" y="4075113"/>
            <a:ext cx="411163" cy="1419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189" name="Line 58"/>
          <p:cNvSpPr>
            <a:spLocks noChangeShapeType="1"/>
          </p:cNvSpPr>
          <p:nvPr/>
        </p:nvSpPr>
        <p:spPr bwMode="auto">
          <a:xfrm>
            <a:off x="2705100" y="4406900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90" name="Line 59"/>
          <p:cNvSpPr>
            <a:spLocks noChangeShapeType="1"/>
          </p:cNvSpPr>
          <p:nvPr/>
        </p:nvSpPr>
        <p:spPr bwMode="auto">
          <a:xfrm>
            <a:off x="2722563" y="4784725"/>
            <a:ext cx="393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91" name="Line 60"/>
          <p:cNvSpPr>
            <a:spLocks noChangeShapeType="1"/>
          </p:cNvSpPr>
          <p:nvPr/>
        </p:nvSpPr>
        <p:spPr bwMode="auto">
          <a:xfrm>
            <a:off x="2705100" y="5145088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192" name="Rectangle 61"/>
          <p:cNvSpPr>
            <a:spLocks noChangeArrowheads="1"/>
          </p:cNvSpPr>
          <p:nvPr/>
        </p:nvSpPr>
        <p:spPr bwMode="auto">
          <a:xfrm>
            <a:off x="2743200" y="40544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193" name="Rectangle 62"/>
          <p:cNvSpPr>
            <a:spLocks noChangeArrowheads="1"/>
          </p:cNvSpPr>
          <p:nvPr/>
        </p:nvSpPr>
        <p:spPr bwMode="auto">
          <a:xfrm>
            <a:off x="2738438" y="44259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48194" name="Rectangle 63"/>
          <p:cNvSpPr>
            <a:spLocks noChangeArrowheads="1"/>
          </p:cNvSpPr>
          <p:nvPr/>
        </p:nvSpPr>
        <p:spPr bwMode="auto">
          <a:xfrm>
            <a:off x="2751138" y="47974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48195" name="Rectangle 64"/>
          <p:cNvSpPr>
            <a:spLocks noChangeArrowheads="1"/>
          </p:cNvSpPr>
          <p:nvPr/>
        </p:nvSpPr>
        <p:spPr bwMode="auto">
          <a:xfrm>
            <a:off x="2743200" y="51498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48196" name="Rectangle 65"/>
          <p:cNvSpPr>
            <a:spLocks noChangeArrowheads="1"/>
          </p:cNvSpPr>
          <p:nvPr/>
        </p:nvSpPr>
        <p:spPr bwMode="auto">
          <a:xfrm>
            <a:off x="2344738" y="404653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48197" name="Rectangle 66"/>
          <p:cNvSpPr>
            <a:spLocks noChangeArrowheads="1"/>
          </p:cNvSpPr>
          <p:nvPr/>
        </p:nvSpPr>
        <p:spPr bwMode="auto">
          <a:xfrm>
            <a:off x="2338388" y="44196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8198" name="Rectangle 67"/>
          <p:cNvSpPr>
            <a:spLocks noChangeArrowheads="1"/>
          </p:cNvSpPr>
          <p:nvPr/>
        </p:nvSpPr>
        <p:spPr bwMode="auto">
          <a:xfrm>
            <a:off x="2351088" y="47910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48199" name="Rectangle 68"/>
          <p:cNvSpPr>
            <a:spLocks noChangeArrowheads="1"/>
          </p:cNvSpPr>
          <p:nvPr/>
        </p:nvSpPr>
        <p:spPr bwMode="auto">
          <a:xfrm>
            <a:off x="2344738" y="51450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200" name="Rectangle 69"/>
          <p:cNvSpPr>
            <a:spLocks noChangeArrowheads="1"/>
          </p:cNvSpPr>
          <p:nvPr/>
        </p:nvSpPr>
        <p:spPr bwMode="auto">
          <a:xfrm>
            <a:off x="2262188" y="5613400"/>
            <a:ext cx="1350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48201" name="Line 70"/>
          <p:cNvSpPr>
            <a:spLocks noChangeShapeType="1"/>
          </p:cNvSpPr>
          <p:nvPr/>
        </p:nvSpPr>
        <p:spPr bwMode="auto">
          <a:xfrm>
            <a:off x="1239838" y="4519613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02" name="Line 71"/>
          <p:cNvSpPr>
            <a:spLocks noChangeShapeType="1"/>
          </p:cNvSpPr>
          <p:nvPr/>
        </p:nvSpPr>
        <p:spPr bwMode="auto">
          <a:xfrm>
            <a:off x="1257300" y="4994275"/>
            <a:ext cx="895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03" name="Line 72"/>
          <p:cNvSpPr>
            <a:spLocks noChangeShapeType="1"/>
          </p:cNvSpPr>
          <p:nvPr/>
        </p:nvSpPr>
        <p:spPr bwMode="auto">
          <a:xfrm>
            <a:off x="1239838" y="5503863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04" name="Rectangle 73"/>
          <p:cNvSpPr>
            <a:spLocks noChangeArrowheads="1"/>
          </p:cNvSpPr>
          <p:nvPr/>
        </p:nvSpPr>
        <p:spPr bwMode="auto">
          <a:xfrm>
            <a:off x="1049338" y="5983288"/>
            <a:ext cx="13303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P2</a:t>
            </a:r>
          </a:p>
        </p:txBody>
      </p:sp>
      <p:sp>
        <p:nvSpPr>
          <p:cNvPr id="48205" name="Rectangle 74"/>
          <p:cNvSpPr>
            <a:spLocks noChangeArrowheads="1"/>
          </p:cNvSpPr>
          <p:nvPr/>
        </p:nvSpPr>
        <p:spPr bwMode="auto">
          <a:xfrm>
            <a:off x="2511425" y="5876925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for P2</a:t>
            </a:r>
          </a:p>
        </p:txBody>
      </p:sp>
      <p:sp>
        <p:nvSpPr>
          <p:cNvPr id="163915" name="Rectangle 75"/>
          <p:cNvSpPr>
            <a:spLocks noChangeArrowheads="1"/>
          </p:cNvSpPr>
          <p:nvPr/>
        </p:nvSpPr>
        <p:spPr bwMode="auto">
          <a:xfrm>
            <a:off x="3973513" y="2592388"/>
            <a:ext cx="912812" cy="1911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48207" name="Rectangle 76"/>
          <p:cNvSpPr>
            <a:spLocks noChangeArrowheads="1"/>
          </p:cNvSpPr>
          <p:nvPr/>
        </p:nvSpPr>
        <p:spPr bwMode="auto">
          <a:xfrm>
            <a:off x="3979863" y="2646363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1</a:t>
            </a:r>
          </a:p>
        </p:txBody>
      </p:sp>
      <p:sp>
        <p:nvSpPr>
          <p:cNvPr id="48208" name="Rectangle 77"/>
          <p:cNvSpPr>
            <a:spLocks noChangeArrowheads="1"/>
          </p:cNvSpPr>
          <p:nvPr/>
        </p:nvSpPr>
        <p:spPr bwMode="auto">
          <a:xfrm>
            <a:off x="3989388" y="3113088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2</a:t>
            </a:r>
          </a:p>
        </p:txBody>
      </p:sp>
      <p:sp>
        <p:nvSpPr>
          <p:cNvPr id="48209" name="Rectangle 78"/>
          <p:cNvSpPr>
            <a:spLocks noChangeArrowheads="1"/>
          </p:cNvSpPr>
          <p:nvPr/>
        </p:nvSpPr>
        <p:spPr bwMode="auto">
          <a:xfrm>
            <a:off x="4002088" y="3579813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3</a:t>
            </a:r>
          </a:p>
        </p:txBody>
      </p:sp>
      <p:sp>
        <p:nvSpPr>
          <p:cNvPr id="48210" name="Rectangle 79"/>
          <p:cNvSpPr>
            <a:spLocks noChangeArrowheads="1"/>
          </p:cNvSpPr>
          <p:nvPr/>
        </p:nvSpPr>
        <p:spPr bwMode="auto">
          <a:xfrm>
            <a:off x="3997325" y="4083050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3</a:t>
            </a:r>
          </a:p>
        </p:txBody>
      </p:sp>
      <p:sp>
        <p:nvSpPr>
          <p:cNvPr id="48211" name="Rectangle 80"/>
          <p:cNvSpPr>
            <a:spLocks noChangeArrowheads="1"/>
          </p:cNvSpPr>
          <p:nvPr/>
        </p:nvSpPr>
        <p:spPr bwMode="auto">
          <a:xfrm>
            <a:off x="5438775" y="2592388"/>
            <a:ext cx="411163" cy="1420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48212" name="Line 81"/>
          <p:cNvSpPr>
            <a:spLocks noChangeShapeType="1"/>
          </p:cNvSpPr>
          <p:nvPr/>
        </p:nvSpPr>
        <p:spPr bwMode="auto">
          <a:xfrm>
            <a:off x="5438775" y="2924175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13" name="Line 82"/>
          <p:cNvSpPr>
            <a:spLocks noChangeShapeType="1"/>
          </p:cNvSpPr>
          <p:nvPr/>
        </p:nvSpPr>
        <p:spPr bwMode="auto">
          <a:xfrm>
            <a:off x="5456238" y="3302000"/>
            <a:ext cx="393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14" name="Line 83"/>
          <p:cNvSpPr>
            <a:spLocks noChangeShapeType="1"/>
          </p:cNvSpPr>
          <p:nvPr/>
        </p:nvSpPr>
        <p:spPr bwMode="auto">
          <a:xfrm>
            <a:off x="5438775" y="3660775"/>
            <a:ext cx="411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15" name="Rectangle 84"/>
          <p:cNvSpPr>
            <a:spLocks noChangeArrowheads="1"/>
          </p:cNvSpPr>
          <p:nvPr/>
        </p:nvSpPr>
        <p:spPr bwMode="auto">
          <a:xfrm>
            <a:off x="5476875" y="25717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216" name="Rectangle 85"/>
          <p:cNvSpPr>
            <a:spLocks noChangeArrowheads="1"/>
          </p:cNvSpPr>
          <p:nvPr/>
        </p:nvSpPr>
        <p:spPr bwMode="auto">
          <a:xfrm>
            <a:off x="5472113" y="29432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4</a:t>
            </a:r>
          </a:p>
        </p:txBody>
      </p:sp>
      <p:sp>
        <p:nvSpPr>
          <p:cNvPr id="48217" name="Rectangle 86"/>
          <p:cNvSpPr>
            <a:spLocks noChangeArrowheads="1"/>
          </p:cNvSpPr>
          <p:nvPr/>
        </p:nvSpPr>
        <p:spPr bwMode="auto">
          <a:xfrm>
            <a:off x="5484813" y="33147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48218" name="Rectangle 87"/>
          <p:cNvSpPr>
            <a:spLocks noChangeArrowheads="1"/>
          </p:cNvSpPr>
          <p:nvPr/>
        </p:nvSpPr>
        <p:spPr bwMode="auto">
          <a:xfrm>
            <a:off x="5476875" y="36687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48219" name="Rectangle 88"/>
          <p:cNvSpPr>
            <a:spLocks noChangeArrowheads="1"/>
          </p:cNvSpPr>
          <p:nvPr/>
        </p:nvSpPr>
        <p:spPr bwMode="auto">
          <a:xfrm>
            <a:off x="5080000" y="2565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48220" name="Rectangle 89"/>
          <p:cNvSpPr>
            <a:spLocks noChangeArrowheads="1"/>
          </p:cNvSpPr>
          <p:nvPr/>
        </p:nvSpPr>
        <p:spPr bwMode="auto">
          <a:xfrm>
            <a:off x="5072063" y="29368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48221" name="Rectangle 90"/>
          <p:cNvSpPr>
            <a:spLocks noChangeArrowheads="1"/>
          </p:cNvSpPr>
          <p:nvPr/>
        </p:nvSpPr>
        <p:spPr bwMode="auto">
          <a:xfrm>
            <a:off x="5084763" y="33083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48222" name="Rectangle 91"/>
          <p:cNvSpPr>
            <a:spLocks noChangeArrowheads="1"/>
          </p:cNvSpPr>
          <p:nvPr/>
        </p:nvSpPr>
        <p:spPr bwMode="auto">
          <a:xfrm>
            <a:off x="5080000" y="36607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48223" name="Rectangle 92"/>
          <p:cNvSpPr>
            <a:spLocks noChangeArrowheads="1"/>
          </p:cNvSpPr>
          <p:nvPr/>
        </p:nvSpPr>
        <p:spPr bwMode="auto">
          <a:xfrm>
            <a:off x="4995863" y="4130675"/>
            <a:ext cx="1350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</a:t>
            </a:r>
          </a:p>
        </p:txBody>
      </p:sp>
      <p:sp>
        <p:nvSpPr>
          <p:cNvPr id="48224" name="Line 93"/>
          <p:cNvSpPr>
            <a:spLocks noChangeShapeType="1"/>
          </p:cNvSpPr>
          <p:nvPr/>
        </p:nvSpPr>
        <p:spPr bwMode="auto">
          <a:xfrm>
            <a:off x="3973513" y="3038475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25" name="Line 94"/>
          <p:cNvSpPr>
            <a:spLocks noChangeShapeType="1"/>
          </p:cNvSpPr>
          <p:nvPr/>
        </p:nvSpPr>
        <p:spPr bwMode="auto">
          <a:xfrm>
            <a:off x="3990975" y="3509963"/>
            <a:ext cx="895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26" name="Line 95"/>
          <p:cNvSpPr>
            <a:spLocks noChangeShapeType="1"/>
          </p:cNvSpPr>
          <p:nvPr/>
        </p:nvSpPr>
        <p:spPr bwMode="auto">
          <a:xfrm>
            <a:off x="3973513" y="4021138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27" name="Rectangle 96"/>
          <p:cNvSpPr>
            <a:spLocks noChangeArrowheads="1"/>
          </p:cNvSpPr>
          <p:nvPr/>
        </p:nvSpPr>
        <p:spPr bwMode="auto">
          <a:xfrm>
            <a:off x="3783013" y="4498975"/>
            <a:ext cx="1330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P3</a:t>
            </a:r>
          </a:p>
        </p:txBody>
      </p:sp>
      <p:sp>
        <p:nvSpPr>
          <p:cNvPr id="48228" name="Rectangle 97"/>
          <p:cNvSpPr>
            <a:spLocks noChangeArrowheads="1"/>
          </p:cNvSpPr>
          <p:nvPr/>
        </p:nvSpPr>
        <p:spPr bwMode="auto">
          <a:xfrm>
            <a:off x="5245100" y="4395788"/>
            <a:ext cx="8509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for P3</a:t>
            </a:r>
          </a:p>
        </p:txBody>
      </p:sp>
      <p:sp>
        <p:nvSpPr>
          <p:cNvPr id="48229" name="Rectangle 98"/>
          <p:cNvSpPr>
            <a:spLocks noChangeArrowheads="1"/>
          </p:cNvSpPr>
          <p:nvPr/>
        </p:nvSpPr>
        <p:spPr bwMode="auto">
          <a:xfrm>
            <a:off x="7008813" y="2203450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3</a:t>
            </a:r>
          </a:p>
        </p:txBody>
      </p:sp>
      <p:sp>
        <p:nvSpPr>
          <p:cNvPr id="48230" name="Rectangle 99"/>
          <p:cNvSpPr>
            <a:spLocks noChangeArrowheads="1"/>
          </p:cNvSpPr>
          <p:nvPr/>
        </p:nvSpPr>
        <p:spPr bwMode="auto">
          <a:xfrm>
            <a:off x="7002463" y="2681288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1</a:t>
            </a:r>
          </a:p>
        </p:txBody>
      </p:sp>
      <p:sp>
        <p:nvSpPr>
          <p:cNvPr id="48231" name="Line 100"/>
          <p:cNvSpPr>
            <a:spLocks noChangeShapeType="1"/>
          </p:cNvSpPr>
          <p:nvPr/>
        </p:nvSpPr>
        <p:spPr bwMode="auto">
          <a:xfrm>
            <a:off x="7004050" y="3116263"/>
            <a:ext cx="900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32" name="Rectangle 101"/>
          <p:cNvSpPr>
            <a:spLocks noChangeArrowheads="1"/>
          </p:cNvSpPr>
          <p:nvPr/>
        </p:nvSpPr>
        <p:spPr bwMode="auto">
          <a:xfrm>
            <a:off x="7032625" y="3167063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2</a:t>
            </a:r>
          </a:p>
        </p:txBody>
      </p:sp>
      <p:sp>
        <p:nvSpPr>
          <p:cNvPr id="48233" name="Rectangle 102"/>
          <p:cNvSpPr>
            <a:spLocks noChangeArrowheads="1"/>
          </p:cNvSpPr>
          <p:nvPr/>
        </p:nvSpPr>
        <p:spPr bwMode="auto">
          <a:xfrm>
            <a:off x="7008813" y="4125913"/>
            <a:ext cx="7810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ed 3</a:t>
            </a:r>
          </a:p>
        </p:txBody>
      </p:sp>
      <p:sp>
        <p:nvSpPr>
          <p:cNvPr id="48234" name="Rectangle 103"/>
          <p:cNvSpPr>
            <a:spLocks noChangeArrowheads="1"/>
          </p:cNvSpPr>
          <p:nvPr/>
        </p:nvSpPr>
        <p:spPr bwMode="auto">
          <a:xfrm>
            <a:off x="7037388" y="4572000"/>
            <a:ext cx="8509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data 2</a:t>
            </a:r>
          </a:p>
        </p:txBody>
      </p:sp>
      <p:sp>
        <p:nvSpPr>
          <p:cNvPr id="48235" name="Line 104"/>
          <p:cNvSpPr>
            <a:spLocks noChangeShapeType="1"/>
          </p:cNvSpPr>
          <p:nvPr/>
        </p:nvSpPr>
        <p:spPr bwMode="auto">
          <a:xfrm>
            <a:off x="6985000" y="552608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36" name="Freeform 105"/>
          <p:cNvSpPr>
            <a:spLocks/>
          </p:cNvSpPr>
          <p:nvPr/>
        </p:nvSpPr>
        <p:spPr bwMode="auto">
          <a:xfrm>
            <a:off x="857250" y="931863"/>
            <a:ext cx="1497013" cy="1708150"/>
          </a:xfrm>
          <a:custGeom>
            <a:avLst/>
            <a:gdLst>
              <a:gd name="T0" fmla="*/ 2147483647 w 852"/>
              <a:gd name="T1" fmla="*/ 2147483647 h 982"/>
              <a:gd name="T2" fmla="*/ 2147483647 w 852"/>
              <a:gd name="T3" fmla="*/ 2147483647 h 982"/>
              <a:gd name="T4" fmla="*/ 2147483647 w 852"/>
              <a:gd name="T5" fmla="*/ 2147483647 h 982"/>
              <a:gd name="T6" fmla="*/ 2147483647 w 852"/>
              <a:gd name="T7" fmla="*/ 2147483647 h 982"/>
              <a:gd name="T8" fmla="*/ 2147483647 w 852"/>
              <a:gd name="T9" fmla="*/ 2147483647 h 982"/>
              <a:gd name="T10" fmla="*/ 0 w 852"/>
              <a:gd name="T11" fmla="*/ 2147483647 h 982"/>
              <a:gd name="T12" fmla="*/ 2147483647 w 852"/>
              <a:gd name="T13" fmla="*/ 2147483647 h 982"/>
              <a:gd name="T14" fmla="*/ 2147483647 w 852"/>
              <a:gd name="T15" fmla="*/ 2147483647 h 982"/>
              <a:gd name="T16" fmla="*/ 2147483647 w 852"/>
              <a:gd name="T17" fmla="*/ 2147483647 h 982"/>
              <a:gd name="T18" fmla="*/ 2147483647 w 852"/>
              <a:gd name="T19" fmla="*/ 0 h 982"/>
              <a:gd name="T20" fmla="*/ 2147483647 w 852"/>
              <a:gd name="T21" fmla="*/ 2147483647 h 982"/>
              <a:gd name="T22" fmla="*/ 2147483647 w 852"/>
              <a:gd name="T23" fmla="*/ 2147483647 h 982"/>
              <a:gd name="T24" fmla="*/ 2147483647 w 852"/>
              <a:gd name="T25" fmla="*/ 2147483647 h 982"/>
              <a:gd name="T26" fmla="*/ 2147483647 w 852"/>
              <a:gd name="T27" fmla="*/ 2147483647 h 982"/>
              <a:gd name="T28" fmla="*/ 2147483647 w 852"/>
              <a:gd name="T29" fmla="*/ 2147483647 h 982"/>
              <a:gd name="T30" fmla="*/ 2147483647 w 852"/>
              <a:gd name="T31" fmla="*/ 2147483647 h 982"/>
              <a:gd name="T32" fmla="*/ 2147483647 w 852"/>
              <a:gd name="T33" fmla="*/ 2147483647 h 982"/>
              <a:gd name="T34" fmla="*/ 2147483647 w 852"/>
              <a:gd name="T35" fmla="*/ 2147483647 h 982"/>
              <a:gd name="T36" fmla="*/ 2147483647 w 852"/>
              <a:gd name="T37" fmla="*/ 2147483647 h 982"/>
              <a:gd name="T38" fmla="*/ 2147483647 w 852"/>
              <a:gd name="T39" fmla="*/ 2147483647 h 9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52" h="982">
                <a:moveTo>
                  <a:pt x="809" y="955"/>
                </a:moveTo>
                <a:cubicBezTo>
                  <a:pt x="791" y="961"/>
                  <a:pt x="773" y="967"/>
                  <a:pt x="755" y="973"/>
                </a:cubicBezTo>
                <a:cubicBezTo>
                  <a:pt x="746" y="976"/>
                  <a:pt x="727" y="982"/>
                  <a:pt x="727" y="982"/>
                </a:cubicBezTo>
                <a:cubicBezTo>
                  <a:pt x="534" y="954"/>
                  <a:pt x="339" y="958"/>
                  <a:pt x="146" y="927"/>
                </a:cubicBezTo>
                <a:cubicBezTo>
                  <a:pt x="62" y="885"/>
                  <a:pt x="92" y="910"/>
                  <a:pt x="46" y="864"/>
                </a:cubicBezTo>
                <a:cubicBezTo>
                  <a:pt x="23" y="798"/>
                  <a:pt x="11" y="732"/>
                  <a:pt x="0" y="664"/>
                </a:cubicBezTo>
                <a:cubicBezTo>
                  <a:pt x="3" y="525"/>
                  <a:pt x="4" y="385"/>
                  <a:pt x="9" y="246"/>
                </a:cubicBezTo>
                <a:cubicBezTo>
                  <a:pt x="12" y="164"/>
                  <a:pt x="64" y="118"/>
                  <a:pt x="118" y="64"/>
                </a:cubicBezTo>
                <a:cubicBezTo>
                  <a:pt x="144" y="38"/>
                  <a:pt x="191" y="52"/>
                  <a:pt x="227" y="46"/>
                </a:cubicBezTo>
                <a:cubicBezTo>
                  <a:pt x="311" y="32"/>
                  <a:pt x="372" y="9"/>
                  <a:pt x="455" y="0"/>
                </a:cubicBezTo>
                <a:cubicBezTo>
                  <a:pt x="504" y="7"/>
                  <a:pt x="553" y="11"/>
                  <a:pt x="600" y="27"/>
                </a:cubicBezTo>
                <a:cubicBezTo>
                  <a:pt x="633" y="62"/>
                  <a:pt x="610" y="41"/>
                  <a:pt x="673" y="82"/>
                </a:cubicBezTo>
                <a:cubicBezTo>
                  <a:pt x="682" y="88"/>
                  <a:pt x="691" y="94"/>
                  <a:pt x="700" y="100"/>
                </a:cubicBezTo>
                <a:cubicBezTo>
                  <a:pt x="709" y="106"/>
                  <a:pt x="727" y="118"/>
                  <a:pt x="727" y="118"/>
                </a:cubicBezTo>
                <a:cubicBezTo>
                  <a:pt x="730" y="127"/>
                  <a:pt x="731" y="137"/>
                  <a:pt x="736" y="146"/>
                </a:cubicBezTo>
                <a:cubicBezTo>
                  <a:pt x="747" y="165"/>
                  <a:pt x="773" y="200"/>
                  <a:pt x="773" y="200"/>
                </a:cubicBezTo>
                <a:cubicBezTo>
                  <a:pt x="784" y="278"/>
                  <a:pt x="790" y="360"/>
                  <a:pt x="809" y="437"/>
                </a:cubicBezTo>
                <a:cubicBezTo>
                  <a:pt x="816" y="505"/>
                  <a:pt x="827" y="570"/>
                  <a:pt x="836" y="637"/>
                </a:cubicBezTo>
                <a:cubicBezTo>
                  <a:pt x="843" y="779"/>
                  <a:pt x="852" y="784"/>
                  <a:pt x="836" y="900"/>
                </a:cubicBezTo>
                <a:cubicBezTo>
                  <a:pt x="833" y="920"/>
                  <a:pt x="809" y="975"/>
                  <a:pt x="809" y="955"/>
                </a:cubicBezTo>
                <a:close/>
              </a:path>
            </a:pathLst>
          </a:custGeom>
          <a:noFill/>
          <a:ln w="28575" cap="flat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37" name="Freeform 106"/>
          <p:cNvSpPr>
            <a:spLocks/>
          </p:cNvSpPr>
          <p:nvPr/>
        </p:nvSpPr>
        <p:spPr bwMode="auto">
          <a:xfrm>
            <a:off x="915988" y="3770313"/>
            <a:ext cx="1497012" cy="1708150"/>
          </a:xfrm>
          <a:custGeom>
            <a:avLst/>
            <a:gdLst>
              <a:gd name="T0" fmla="*/ 2147483647 w 852"/>
              <a:gd name="T1" fmla="*/ 2147483647 h 982"/>
              <a:gd name="T2" fmla="*/ 2147483647 w 852"/>
              <a:gd name="T3" fmla="*/ 2147483647 h 982"/>
              <a:gd name="T4" fmla="*/ 2147483647 w 852"/>
              <a:gd name="T5" fmla="*/ 2147483647 h 982"/>
              <a:gd name="T6" fmla="*/ 2147483647 w 852"/>
              <a:gd name="T7" fmla="*/ 2147483647 h 982"/>
              <a:gd name="T8" fmla="*/ 2147483647 w 852"/>
              <a:gd name="T9" fmla="*/ 2147483647 h 982"/>
              <a:gd name="T10" fmla="*/ 0 w 852"/>
              <a:gd name="T11" fmla="*/ 2147483647 h 982"/>
              <a:gd name="T12" fmla="*/ 2147483647 w 852"/>
              <a:gd name="T13" fmla="*/ 2147483647 h 982"/>
              <a:gd name="T14" fmla="*/ 2147483647 w 852"/>
              <a:gd name="T15" fmla="*/ 2147483647 h 982"/>
              <a:gd name="T16" fmla="*/ 2147483647 w 852"/>
              <a:gd name="T17" fmla="*/ 2147483647 h 982"/>
              <a:gd name="T18" fmla="*/ 2147483647 w 852"/>
              <a:gd name="T19" fmla="*/ 0 h 982"/>
              <a:gd name="T20" fmla="*/ 2147483647 w 852"/>
              <a:gd name="T21" fmla="*/ 2147483647 h 982"/>
              <a:gd name="T22" fmla="*/ 2147483647 w 852"/>
              <a:gd name="T23" fmla="*/ 2147483647 h 982"/>
              <a:gd name="T24" fmla="*/ 2147483647 w 852"/>
              <a:gd name="T25" fmla="*/ 2147483647 h 982"/>
              <a:gd name="T26" fmla="*/ 2147483647 w 852"/>
              <a:gd name="T27" fmla="*/ 2147483647 h 982"/>
              <a:gd name="T28" fmla="*/ 2147483647 w 852"/>
              <a:gd name="T29" fmla="*/ 2147483647 h 982"/>
              <a:gd name="T30" fmla="*/ 2147483647 w 852"/>
              <a:gd name="T31" fmla="*/ 2147483647 h 982"/>
              <a:gd name="T32" fmla="*/ 2147483647 w 852"/>
              <a:gd name="T33" fmla="*/ 2147483647 h 982"/>
              <a:gd name="T34" fmla="*/ 2147483647 w 852"/>
              <a:gd name="T35" fmla="*/ 2147483647 h 982"/>
              <a:gd name="T36" fmla="*/ 2147483647 w 852"/>
              <a:gd name="T37" fmla="*/ 2147483647 h 982"/>
              <a:gd name="T38" fmla="*/ 2147483647 w 852"/>
              <a:gd name="T39" fmla="*/ 2147483647 h 9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52" h="982">
                <a:moveTo>
                  <a:pt x="809" y="955"/>
                </a:moveTo>
                <a:cubicBezTo>
                  <a:pt x="791" y="961"/>
                  <a:pt x="773" y="967"/>
                  <a:pt x="755" y="973"/>
                </a:cubicBezTo>
                <a:cubicBezTo>
                  <a:pt x="746" y="976"/>
                  <a:pt x="727" y="982"/>
                  <a:pt x="727" y="982"/>
                </a:cubicBezTo>
                <a:cubicBezTo>
                  <a:pt x="534" y="954"/>
                  <a:pt x="339" y="958"/>
                  <a:pt x="146" y="927"/>
                </a:cubicBezTo>
                <a:cubicBezTo>
                  <a:pt x="62" y="885"/>
                  <a:pt x="92" y="910"/>
                  <a:pt x="46" y="864"/>
                </a:cubicBezTo>
                <a:cubicBezTo>
                  <a:pt x="23" y="798"/>
                  <a:pt x="11" y="732"/>
                  <a:pt x="0" y="664"/>
                </a:cubicBezTo>
                <a:cubicBezTo>
                  <a:pt x="3" y="525"/>
                  <a:pt x="4" y="385"/>
                  <a:pt x="9" y="246"/>
                </a:cubicBezTo>
                <a:cubicBezTo>
                  <a:pt x="12" y="164"/>
                  <a:pt x="64" y="118"/>
                  <a:pt x="118" y="64"/>
                </a:cubicBezTo>
                <a:cubicBezTo>
                  <a:pt x="144" y="38"/>
                  <a:pt x="191" y="52"/>
                  <a:pt x="227" y="46"/>
                </a:cubicBezTo>
                <a:cubicBezTo>
                  <a:pt x="311" y="32"/>
                  <a:pt x="372" y="9"/>
                  <a:pt x="455" y="0"/>
                </a:cubicBezTo>
                <a:cubicBezTo>
                  <a:pt x="504" y="7"/>
                  <a:pt x="553" y="11"/>
                  <a:pt x="600" y="27"/>
                </a:cubicBezTo>
                <a:cubicBezTo>
                  <a:pt x="633" y="62"/>
                  <a:pt x="610" y="41"/>
                  <a:pt x="673" y="82"/>
                </a:cubicBezTo>
                <a:cubicBezTo>
                  <a:pt x="682" y="88"/>
                  <a:pt x="691" y="94"/>
                  <a:pt x="700" y="100"/>
                </a:cubicBezTo>
                <a:cubicBezTo>
                  <a:pt x="709" y="106"/>
                  <a:pt x="727" y="118"/>
                  <a:pt x="727" y="118"/>
                </a:cubicBezTo>
                <a:cubicBezTo>
                  <a:pt x="730" y="127"/>
                  <a:pt x="731" y="137"/>
                  <a:pt x="736" y="146"/>
                </a:cubicBezTo>
                <a:cubicBezTo>
                  <a:pt x="747" y="165"/>
                  <a:pt x="773" y="200"/>
                  <a:pt x="773" y="200"/>
                </a:cubicBezTo>
                <a:cubicBezTo>
                  <a:pt x="784" y="278"/>
                  <a:pt x="790" y="360"/>
                  <a:pt x="809" y="437"/>
                </a:cubicBezTo>
                <a:cubicBezTo>
                  <a:pt x="816" y="505"/>
                  <a:pt x="827" y="570"/>
                  <a:pt x="836" y="637"/>
                </a:cubicBezTo>
                <a:cubicBezTo>
                  <a:pt x="843" y="779"/>
                  <a:pt x="852" y="784"/>
                  <a:pt x="836" y="900"/>
                </a:cubicBezTo>
                <a:cubicBezTo>
                  <a:pt x="833" y="920"/>
                  <a:pt x="809" y="975"/>
                  <a:pt x="809" y="955"/>
                </a:cubicBezTo>
                <a:close/>
              </a:path>
            </a:pathLst>
          </a:custGeom>
          <a:noFill/>
          <a:ln w="28575" cap="flat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238" name="Freeform 107"/>
          <p:cNvSpPr>
            <a:spLocks/>
          </p:cNvSpPr>
          <p:nvPr/>
        </p:nvSpPr>
        <p:spPr bwMode="auto">
          <a:xfrm>
            <a:off x="3625850" y="2354263"/>
            <a:ext cx="1498600" cy="1708150"/>
          </a:xfrm>
          <a:custGeom>
            <a:avLst/>
            <a:gdLst>
              <a:gd name="T0" fmla="*/ 2147483647 w 852"/>
              <a:gd name="T1" fmla="*/ 2147483647 h 982"/>
              <a:gd name="T2" fmla="*/ 2147483647 w 852"/>
              <a:gd name="T3" fmla="*/ 2147483647 h 982"/>
              <a:gd name="T4" fmla="*/ 2147483647 w 852"/>
              <a:gd name="T5" fmla="*/ 2147483647 h 982"/>
              <a:gd name="T6" fmla="*/ 2147483647 w 852"/>
              <a:gd name="T7" fmla="*/ 2147483647 h 982"/>
              <a:gd name="T8" fmla="*/ 2147483647 w 852"/>
              <a:gd name="T9" fmla="*/ 2147483647 h 982"/>
              <a:gd name="T10" fmla="*/ 0 w 852"/>
              <a:gd name="T11" fmla="*/ 2147483647 h 982"/>
              <a:gd name="T12" fmla="*/ 2147483647 w 852"/>
              <a:gd name="T13" fmla="*/ 2147483647 h 982"/>
              <a:gd name="T14" fmla="*/ 2147483647 w 852"/>
              <a:gd name="T15" fmla="*/ 2147483647 h 982"/>
              <a:gd name="T16" fmla="*/ 2147483647 w 852"/>
              <a:gd name="T17" fmla="*/ 2147483647 h 982"/>
              <a:gd name="T18" fmla="*/ 2147483647 w 852"/>
              <a:gd name="T19" fmla="*/ 0 h 982"/>
              <a:gd name="T20" fmla="*/ 2147483647 w 852"/>
              <a:gd name="T21" fmla="*/ 2147483647 h 982"/>
              <a:gd name="T22" fmla="*/ 2147483647 w 852"/>
              <a:gd name="T23" fmla="*/ 2147483647 h 982"/>
              <a:gd name="T24" fmla="*/ 2147483647 w 852"/>
              <a:gd name="T25" fmla="*/ 2147483647 h 982"/>
              <a:gd name="T26" fmla="*/ 2147483647 w 852"/>
              <a:gd name="T27" fmla="*/ 2147483647 h 982"/>
              <a:gd name="T28" fmla="*/ 2147483647 w 852"/>
              <a:gd name="T29" fmla="*/ 2147483647 h 982"/>
              <a:gd name="T30" fmla="*/ 2147483647 w 852"/>
              <a:gd name="T31" fmla="*/ 2147483647 h 982"/>
              <a:gd name="T32" fmla="*/ 2147483647 w 852"/>
              <a:gd name="T33" fmla="*/ 2147483647 h 982"/>
              <a:gd name="T34" fmla="*/ 2147483647 w 852"/>
              <a:gd name="T35" fmla="*/ 2147483647 h 982"/>
              <a:gd name="T36" fmla="*/ 2147483647 w 852"/>
              <a:gd name="T37" fmla="*/ 2147483647 h 982"/>
              <a:gd name="T38" fmla="*/ 2147483647 w 852"/>
              <a:gd name="T39" fmla="*/ 2147483647 h 982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52" h="982">
                <a:moveTo>
                  <a:pt x="809" y="955"/>
                </a:moveTo>
                <a:cubicBezTo>
                  <a:pt x="791" y="961"/>
                  <a:pt x="773" y="967"/>
                  <a:pt x="755" y="973"/>
                </a:cubicBezTo>
                <a:cubicBezTo>
                  <a:pt x="746" y="976"/>
                  <a:pt x="727" y="982"/>
                  <a:pt x="727" y="982"/>
                </a:cubicBezTo>
                <a:cubicBezTo>
                  <a:pt x="534" y="954"/>
                  <a:pt x="339" y="958"/>
                  <a:pt x="146" y="927"/>
                </a:cubicBezTo>
                <a:cubicBezTo>
                  <a:pt x="62" y="885"/>
                  <a:pt x="92" y="910"/>
                  <a:pt x="46" y="864"/>
                </a:cubicBezTo>
                <a:cubicBezTo>
                  <a:pt x="23" y="798"/>
                  <a:pt x="11" y="732"/>
                  <a:pt x="0" y="664"/>
                </a:cubicBezTo>
                <a:cubicBezTo>
                  <a:pt x="3" y="525"/>
                  <a:pt x="4" y="385"/>
                  <a:pt x="9" y="246"/>
                </a:cubicBezTo>
                <a:cubicBezTo>
                  <a:pt x="12" y="164"/>
                  <a:pt x="64" y="118"/>
                  <a:pt x="118" y="64"/>
                </a:cubicBezTo>
                <a:cubicBezTo>
                  <a:pt x="144" y="38"/>
                  <a:pt x="191" y="52"/>
                  <a:pt x="227" y="46"/>
                </a:cubicBezTo>
                <a:cubicBezTo>
                  <a:pt x="311" y="32"/>
                  <a:pt x="372" y="9"/>
                  <a:pt x="455" y="0"/>
                </a:cubicBezTo>
                <a:cubicBezTo>
                  <a:pt x="504" y="7"/>
                  <a:pt x="553" y="11"/>
                  <a:pt x="600" y="27"/>
                </a:cubicBezTo>
                <a:cubicBezTo>
                  <a:pt x="633" y="62"/>
                  <a:pt x="610" y="41"/>
                  <a:pt x="673" y="82"/>
                </a:cubicBezTo>
                <a:cubicBezTo>
                  <a:pt x="682" y="88"/>
                  <a:pt x="691" y="94"/>
                  <a:pt x="700" y="100"/>
                </a:cubicBezTo>
                <a:cubicBezTo>
                  <a:pt x="709" y="106"/>
                  <a:pt x="727" y="118"/>
                  <a:pt x="727" y="118"/>
                </a:cubicBezTo>
                <a:cubicBezTo>
                  <a:pt x="730" y="127"/>
                  <a:pt x="731" y="137"/>
                  <a:pt x="736" y="146"/>
                </a:cubicBezTo>
                <a:cubicBezTo>
                  <a:pt x="747" y="165"/>
                  <a:pt x="773" y="200"/>
                  <a:pt x="773" y="200"/>
                </a:cubicBezTo>
                <a:cubicBezTo>
                  <a:pt x="784" y="278"/>
                  <a:pt x="790" y="360"/>
                  <a:pt x="809" y="437"/>
                </a:cubicBezTo>
                <a:cubicBezTo>
                  <a:pt x="816" y="505"/>
                  <a:pt x="827" y="570"/>
                  <a:pt x="836" y="637"/>
                </a:cubicBezTo>
                <a:cubicBezTo>
                  <a:pt x="843" y="779"/>
                  <a:pt x="852" y="784"/>
                  <a:pt x="836" y="900"/>
                </a:cubicBezTo>
                <a:cubicBezTo>
                  <a:pt x="833" y="920"/>
                  <a:pt x="809" y="975"/>
                  <a:pt x="809" y="955"/>
                </a:cubicBezTo>
                <a:close/>
              </a:path>
            </a:pathLst>
          </a:custGeom>
          <a:noFill/>
          <a:ln w="28575" cap="flat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1" name="迴轉箭號 110">
            <a:hlinkClick r:id="rId4" action="ppaction://hlinksldjump"/>
          </p:cNvPr>
          <p:cNvSpPr/>
          <p:nvPr/>
        </p:nvSpPr>
        <p:spPr bwMode="auto">
          <a:xfrm>
            <a:off x="5468938" y="5165725"/>
            <a:ext cx="323850" cy="360363"/>
          </a:xfrm>
          <a:prstGeom prst="utur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78F8FD-6836-4A4E-8219-EA5B40EC69EB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181EA7-F2CC-4E19-80B7-94CBA5F81FC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Page Table Structure</a:t>
            </a:r>
          </a:p>
        </p:txBody>
      </p:sp>
      <p:sp>
        <p:nvSpPr>
          <p:cNvPr id="4915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552" y="1905000"/>
            <a:ext cx="8071048" cy="4114800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Hierarchical Paging</a:t>
            </a:r>
          </a:p>
          <a:p>
            <a:pPr eaLnBrk="1" hangingPunct="1"/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rgbClr val="0000FF"/>
                </a:solidFill>
              </a:rPr>
              <a:t>Hashed Page Tables</a:t>
            </a:r>
          </a:p>
          <a:p>
            <a:pPr eaLnBrk="1" hangingPunct="1"/>
            <a:endParaRPr lang="en-US" altLang="zh-TW" b="1" dirty="0" smtClean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 b="1" dirty="0" smtClean="0">
                <a:solidFill>
                  <a:schemeClr val="tx2"/>
                </a:solidFill>
              </a:rPr>
              <a:t>Inverted Page Tables</a:t>
            </a:r>
          </a:p>
        </p:txBody>
      </p:sp>
      <p:sp>
        <p:nvSpPr>
          <p:cNvPr id="7" name="矩形 6"/>
          <p:cNvSpPr/>
          <p:nvPr/>
        </p:nvSpPr>
        <p:spPr>
          <a:xfrm>
            <a:off x="5004048" y="1905000"/>
            <a:ext cx="4572000" cy="1200329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r>
              <a:rPr lang="en-US" altLang="zh-TW" dirty="0" smtClean="0"/>
              <a:t>Issues: Page tables can not be swapped out to disk, and one page table for one process.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811E109-BA66-4669-A405-9D756F898C2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9DA82D-6005-4A2D-8C88-9E6101D39CA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Hierarchical Page Tables</a:t>
            </a:r>
          </a:p>
        </p:txBody>
      </p:sp>
      <p:sp>
        <p:nvSpPr>
          <p:cNvPr id="5018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Break up the logical address space into </a:t>
            </a:r>
            <a:r>
              <a:rPr lang="en-US" altLang="zh-TW" smtClean="0">
                <a:solidFill>
                  <a:srgbClr val="FF0000"/>
                </a:solidFill>
              </a:rPr>
              <a:t>multiple page tables</a:t>
            </a:r>
            <a:r>
              <a:rPr lang="en-US" altLang="zh-TW" smtClean="0"/>
              <a:t>.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A simple technique is a </a:t>
            </a:r>
            <a:r>
              <a:rPr lang="en-US" altLang="zh-TW" smtClean="0">
                <a:solidFill>
                  <a:srgbClr val="0000FF"/>
                </a:solidFill>
              </a:rPr>
              <a:t>two-level page table</a:t>
            </a:r>
            <a:r>
              <a:rPr lang="en-US" altLang="zh-TW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D2BA70-7EFD-4292-9124-35AE432E5E3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FE7B638-0C53-400A-86D7-40C2F72A8C9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/>
          </a:p>
        </p:txBody>
      </p:sp>
      <p:sp>
        <p:nvSpPr>
          <p:cNvPr id="51205" name="Rectangle 2"/>
          <p:cNvSpPr>
            <a:spLocks noChangeArrowheads="1"/>
          </p:cNvSpPr>
          <p:nvPr/>
        </p:nvSpPr>
        <p:spPr bwMode="auto">
          <a:xfrm>
            <a:off x="3573463" y="3940175"/>
            <a:ext cx="1130300" cy="215900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title"/>
          </p:nvPr>
        </p:nvSpPr>
        <p:spPr>
          <a:xfrm>
            <a:off x="549275" y="228600"/>
            <a:ext cx="7180263" cy="5095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Multilevel Paging</a:t>
            </a:r>
          </a:p>
        </p:txBody>
      </p:sp>
      <p:sp>
        <p:nvSpPr>
          <p:cNvPr id="51207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7988" y="990600"/>
            <a:ext cx="8416925" cy="51466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zh-TW" sz="2800" smtClean="0">
                <a:solidFill>
                  <a:srgbClr val="FF0000"/>
                </a:solidFill>
              </a:rPr>
              <a:t>Two-level paging:</a:t>
            </a:r>
            <a:r>
              <a:rPr lang="en-US" altLang="zh-TW" sz="2800" smtClean="0"/>
              <a:t> the page table itself is also paged.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SPARC: 2-level, Motorola 68030: 3-level</a:t>
            </a: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2465388" y="2093913"/>
            <a:ext cx="29654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number   page offset</a:t>
            </a:r>
          </a:p>
        </p:txBody>
      </p:sp>
      <p:sp>
        <p:nvSpPr>
          <p:cNvPr id="51209" name="Rectangle 6"/>
          <p:cNvSpPr>
            <a:spLocks noChangeArrowheads="1"/>
          </p:cNvSpPr>
          <p:nvPr/>
        </p:nvSpPr>
        <p:spPr bwMode="auto">
          <a:xfrm>
            <a:off x="2825750" y="2601913"/>
            <a:ext cx="2116138" cy="35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10" name="Line 7"/>
          <p:cNvSpPr>
            <a:spLocks noChangeShapeType="1"/>
          </p:cNvSpPr>
          <p:nvPr/>
        </p:nvSpPr>
        <p:spPr bwMode="auto">
          <a:xfrm>
            <a:off x="3405188" y="2601913"/>
            <a:ext cx="0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11" name="Line 8"/>
          <p:cNvSpPr>
            <a:spLocks noChangeShapeType="1"/>
          </p:cNvSpPr>
          <p:nvPr/>
        </p:nvSpPr>
        <p:spPr bwMode="auto">
          <a:xfrm>
            <a:off x="4019550" y="2601913"/>
            <a:ext cx="0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12" name="Rectangle 9"/>
          <p:cNvSpPr>
            <a:spLocks noChangeArrowheads="1"/>
          </p:cNvSpPr>
          <p:nvPr/>
        </p:nvSpPr>
        <p:spPr bwMode="auto">
          <a:xfrm>
            <a:off x="2928938" y="2608263"/>
            <a:ext cx="19812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p1      </a:t>
            </a:r>
            <a:r>
              <a:rPr lang="en-US" altLang="zh-TW" sz="2000" b="1">
                <a:solidFill>
                  <a:schemeClr val="tx2"/>
                </a:solidFill>
                <a:latin typeface="Book Antiqua" panose="02040602050305030304" pitchFamily="18" charset="0"/>
              </a:rPr>
              <a:t>p2</a:t>
            </a:r>
            <a:r>
              <a:rPr lang="en-US" altLang="zh-TW" sz="2000" b="1">
                <a:latin typeface="Book Antiqua" panose="02040602050305030304" pitchFamily="18" charset="0"/>
              </a:rPr>
              <a:t>           d</a:t>
            </a:r>
          </a:p>
        </p:txBody>
      </p:sp>
      <p:sp>
        <p:nvSpPr>
          <p:cNvPr id="51213" name="Rectangle 10"/>
          <p:cNvSpPr>
            <a:spLocks noChangeArrowheads="1"/>
          </p:cNvSpPr>
          <p:nvPr/>
        </p:nvSpPr>
        <p:spPr bwMode="auto">
          <a:xfrm>
            <a:off x="600075" y="2692400"/>
            <a:ext cx="19065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logical address</a:t>
            </a:r>
          </a:p>
        </p:txBody>
      </p:sp>
      <p:sp>
        <p:nvSpPr>
          <p:cNvPr id="51214" name="Rectangle 11"/>
          <p:cNvSpPr>
            <a:spLocks noChangeArrowheads="1"/>
          </p:cNvSpPr>
          <p:nvPr/>
        </p:nvSpPr>
        <p:spPr bwMode="auto">
          <a:xfrm>
            <a:off x="3573463" y="3468688"/>
            <a:ext cx="1130300" cy="458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15" name="Rectangle 12"/>
          <p:cNvSpPr>
            <a:spLocks noChangeArrowheads="1"/>
          </p:cNvSpPr>
          <p:nvPr/>
        </p:nvSpPr>
        <p:spPr bwMode="auto">
          <a:xfrm>
            <a:off x="3573463" y="3468688"/>
            <a:ext cx="1130300" cy="1430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16" name="Rectangle 13"/>
          <p:cNvSpPr>
            <a:spLocks noChangeArrowheads="1"/>
          </p:cNvSpPr>
          <p:nvPr/>
        </p:nvSpPr>
        <p:spPr bwMode="auto">
          <a:xfrm>
            <a:off x="3217863" y="4878388"/>
            <a:ext cx="20637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outer-page table</a:t>
            </a:r>
          </a:p>
        </p:txBody>
      </p:sp>
      <p:sp>
        <p:nvSpPr>
          <p:cNvPr id="51217" name="Line 14"/>
          <p:cNvSpPr>
            <a:spLocks noChangeShapeType="1"/>
          </p:cNvSpPr>
          <p:nvPr/>
        </p:nvSpPr>
        <p:spPr bwMode="auto">
          <a:xfrm>
            <a:off x="3573463" y="3690938"/>
            <a:ext cx="113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51218" name="Group 15"/>
          <p:cNvGrpSpPr>
            <a:grpSpLocks/>
          </p:cNvGrpSpPr>
          <p:nvPr/>
        </p:nvGrpSpPr>
        <p:grpSpPr bwMode="auto">
          <a:xfrm>
            <a:off x="4000500" y="3967163"/>
            <a:ext cx="244475" cy="519112"/>
            <a:chOff x="1020" y="3387"/>
            <a:chExt cx="154" cy="327"/>
          </a:xfrm>
        </p:grpSpPr>
        <p:sp>
          <p:nvSpPr>
            <p:cNvPr id="51241" name="Rectangle 16"/>
            <p:cNvSpPr>
              <a:spLocks noChangeArrowheads="1"/>
            </p:cNvSpPr>
            <p:nvPr/>
          </p:nvSpPr>
          <p:spPr bwMode="auto">
            <a:xfrm>
              <a:off x="1020" y="3387"/>
              <a:ext cx="1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1242" name="Rectangle 17"/>
            <p:cNvSpPr>
              <a:spLocks noChangeArrowheads="1"/>
            </p:cNvSpPr>
            <p:nvPr/>
          </p:nvSpPr>
          <p:spPr bwMode="auto">
            <a:xfrm>
              <a:off x="1020" y="3436"/>
              <a:ext cx="1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1243" name="Rectangle 18"/>
            <p:cNvSpPr>
              <a:spLocks noChangeArrowheads="1"/>
            </p:cNvSpPr>
            <p:nvPr/>
          </p:nvSpPr>
          <p:spPr bwMode="auto">
            <a:xfrm>
              <a:off x="1020" y="3485"/>
              <a:ext cx="1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51219" name="Rectangle 19"/>
          <p:cNvSpPr>
            <a:spLocks noChangeArrowheads="1"/>
          </p:cNvSpPr>
          <p:nvPr/>
        </p:nvSpPr>
        <p:spPr bwMode="auto">
          <a:xfrm>
            <a:off x="5592763" y="3944938"/>
            <a:ext cx="801687" cy="944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20" name="Rectangle 20"/>
          <p:cNvSpPr>
            <a:spLocks noChangeArrowheads="1"/>
          </p:cNvSpPr>
          <p:nvPr/>
        </p:nvSpPr>
        <p:spPr bwMode="auto">
          <a:xfrm>
            <a:off x="5592763" y="3944938"/>
            <a:ext cx="801687" cy="244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5621" name="Rectangle 21"/>
          <p:cNvSpPr>
            <a:spLocks noChangeArrowheads="1"/>
          </p:cNvSpPr>
          <p:nvPr/>
        </p:nvSpPr>
        <p:spPr bwMode="auto">
          <a:xfrm>
            <a:off x="5592763" y="4430713"/>
            <a:ext cx="801687" cy="234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7416800" y="4154488"/>
            <a:ext cx="801688" cy="944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7416800" y="4668838"/>
            <a:ext cx="801688" cy="244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>
            <a:off x="3081338" y="2974975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>
            <a:off x="3079750" y="4105275"/>
            <a:ext cx="460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26" name="Line 26"/>
          <p:cNvSpPr>
            <a:spLocks noChangeShapeType="1"/>
          </p:cNvSpPr>
          <p:nvPr/>
        </p:nvSpPr>
        <p:spPr bwMode="auto">
          <a:xfrm>
            <a:off x="3573463" y="4662488"/>
            <a:ext cx="113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27" name="Line 27"/>
          <p:cNvSpPr>
            <a:spLocks noChangeShapeType="1"/>
          </p:cNvSpPr>
          <p:nvPr/>
        </p:nvSpPr>
        <p:spPr bwMode="auto">
          <a:xfrm>
            <a:off x="7416800" y="4405313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 flipV="1">
            <a:off x="4722813" y="3949700"/>
            <a:ext cx="803275" cy="125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 flipV="1">
            <a:off x="6302375" y="4149725"/>
            <a:ext cx="1038225" cy="165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230" name="Freeform 30"/>
          <p:cNvSpPr>
            <a:spLocks/>
          </p:cNvSpPr>
          <p:nvPr/>
        </p:nvSpPr>
        <p:spPr bwMode="auto">
          <a:xfrm>
            <a:off x="3395663" y="3516313"/>
            <a:ext cx="139700" cy="576262"/>
          </a:xfrm>
          <a:custGeom>
            <a:avLst/>
            <a:gdLst>
              <a:gd name="T0" fmla="*/ 2147483647 w 55"/>
              <a:gd name="T1" fmla="*/ 0 h 397"/>
              <a:gd name="T2" fmla="*/ 2147483647 w 55"/>
              <a:gd name="T3" fmla="*/ 2147483647 h 397"/>
              <a:gd name="T4" fmla="*/ 2147483647 w 55"/>
              <a:gd name="T5" fmla="*/ 2147483647 h 397"/>
              <a:gd name="T6" fmla="*/ 2147483647 w 55"/>
              <a:gd name="T7" fmla="*/ 2147483647 h 397"/>
              <a:gd name="T8" fmla="*/ 2147483647 w 55"/>
              <a:gd name="T9" fmla="*/ 2147483647 h 397"/>
              <a:gd name="T10" fmla="*/ 2147483647 w 55"/>
              <a:gd name="T11" fmla="*/ 2147483647 h 397"/>
              <a:gd name="T12" fmla="*/ 2147483647 w 55"/>
              <a:gd name="T13" fmla="*/ 2147483647 h 397"/>
              <a:gd name="T14" fmla="*/ 0 w 55"/>
              <a:gd name="T15" fmla="*/ 2147483647 h 397"/>
              <a:gd name="T16" fmla="*/ 2147483647 w 55"/>
              <a:gd name="T17" fmla="*/ 2147483647 h 397"/>
              <a:gd name="T18" fmla="*/ 2147483647 w 55"/>
              <a:gd name="T19" fmla="*/ 2147483647 h 397"/>
              <a:gd name="T20" fmla="*/ 2147483647 w 55"/>
              <a:gd name="T21" fmla="*/ 2147483647 h 397"/>
              <a:gd name="T22" fmla="*/ 2147483647 w 55"/>
              <a:gd name="T23" fmla="*/ 2147483647 h 397"/>
              <a:gd name="T24" fmla="*/ 2147483647 w 55"/>
              <a:gd name="T25" fmla="*/ 2147483647 h 397"/>
              <a:gd name="T26" fmla="*/ 2147483647 w 55"/>
              <a:gd name="T27" fmla="*/ 2147483647 h 397"/>
              <a:gd name="T28" fmla="*/ 2147483647 w 55"/>
              <a:gd name="T29" fmla="*/ 2147483647 h 397"/>
              <a:gd name="T30" fmla="*/ 2147483647 w 55"/>
              <a:gd name="T31" fmla="*/ 2147483647 h 39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5" h="397">
                <a:moveTo>
                  <a:pt x="54" y="0"/>
                </a:moveTo>
                <a:lnTo>
                  <a:pt x="45" y="27"/>
                </a:lnTo>
                <a:lnTo>
                  <a:pt x="36" y="54"/>
                </a:lnTo>
                <a:lnTo>
                  <a:pt x="36" y="81"/>
                </a:lnTo>
                <a:lnTo>
                  <a:pt x="36" y="108"/>
                </a:lnTo>
                <a:lnTo>
                  <a:pt x="36" y="144"/>
                </a:lnTo>
                <a:lnTo>
                  <a:pt x="27" y="171"/>
                </a:lnTo>
                <a:lnTo>
                  <a:pt x="0" y="180"/>
                </a:lnTo>
                <a:lnTo>
                  <a:pt x="27" y="207"/>
                </a:lnTo>
                <a:lnTo>
                  <a:pt x="36" y="234"/>
                </a:lnTo>
                <a:lnTo>
                  <a:pt x="45" y="261"/>
                </a:lnTo>
                <a:lnTo>
                  <a:pt x="45" y="288"/>
                </a:lnTo>
                <a:lnTo>
                  <a:pt x="45" y="315"/>
                </a:lnTo>
                <a:lnTo>
                  <a:pt x="45" y="342"/>
                </a:lnTo>
                <a:lnTo>
                  <a:pt x="45" y="369"/>
                </a:lnTo>
                <a:lnTo>
                  <a:pt x="54" y="39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31" name="Rectangle 31"/>
          <p:cNvSpPr>
            <a:spLocks noChangeArrowheads="1"/>
          </p:cNvSpPr>
          <p:nvPr/>
        </p:nvSpPr>
        <p:spPr bwMode="auto">
          <a:xfrm>
            <a:off x="3090863" y="3595688"/>
            <a:ext cx="4492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p1</a:t>
            </a:r>
          </a:p>
        </p:txBody>
      </p:sp>
      <p:sp>
        <p:nvSpPr>
          <p:cNvPr id="51232" name="Freeform 32"/>
          <p:cNvSpPr>
            <a:spLocks/>
          </p:cNvSpPr>
          <p:nvPr/>
        </p:nvSpPr>
        <p:spPr bwMode="auto">
          <a:xfrm>
            <a:off x="5434013" y="4000500"/>
            <a:ext cx="73025" cy="430213"/>
          </a:xfrm>
          <a:custGeom>
            <a:avLst/>
            <a:gdLst>
              <a:gd name="T0" fmla="*/ 2147483647 w 46"/>
              <a:gd name="T1" fmla="*/ 0 h 271"/>
              <a:gd name="T2" fmla="*/ 2147483647 w 46"/>
              <a:gd name="T3" fmla="*/ 2147483647 h 271"/>
              <a:gd name="T4" fmla="*/ 2147483647 w 46"/>
              <a:gd name="T5" fmla="*/ 2147483647 h 271"/>
              <a:gd name="T6" fmla="*/ 2147483647 w 46"/>
              <a:gd name="T7" fmla="*/ 2147483647 h 271"/>
              <a:gd name="T8" fmla="*/ 2147483647 w 46"/>
              <a:gd name="T9" fmla="*/ 2147483647 h 271"/>
              <a:gd name="T10" fmla="*/ 2147483647 w 46"/>
              <a:gd name="T11" fmla="*/ 2147483647 h 271"/>
              <a:gd name="T12" fmla="*/ 2147483647 w 46"/>
              <a:gd name="T13" fmla="*/ 2147483647 h 271"/>
              <a:gd name="T14" fmla="*/ 0 w 46"/>
              <a:gd name="T15" fmla="*/ 2147483647 h 271"/>
              <a:gd name="T16" fmla="*/ 2147483647 w 46"/>
              <a:gd name="T17" fmla="*/ 2147483647 h 271"/>
              <a:gd name="T18" fmla="*/ 2147483647 w 46"/>
              <a:gd name="T19" fmla="*/ 2147483647 h 271"/>
              <a:gd name="T20" fmla="*/ 2147483647 w 46"/>
              <a:gd name="T21" fmla="*/ 2147483647 h 271"/>
              <a:gd name="T22" fmla="*/ 2147483647 w 46"/>
              <a:gd name="T23" fmla="*/ 2147483647 h 271"/>
              <a:gd name="T24" fmla="*/ 2147483647 w 46"/>
              <a:gd name="T25" fmla="*/ 2147483647 h 271"/>
              <a:gd name="T26" fmla="*/ 2147483647 w 46"/>
              <a:gd name="T27" fmla="*/ 2147483647 h 271"/>
              <a:gd name="T28" fmla="*/ 2147483647 w 46"/>
              <a:gd name="T29" fmla="*/ 2147483647 h 271"/>
              <a:gd name="T30" fmla="*/ 2147483647 w 46"/>
              <a:gd name="T31" fmla="*/ 2147483647 h 27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46" h="271">
                <a:moveTo>
                  <a:pt x="45" y="0"/>
                </a:moveTo>
                <a:lnTo>
                  <a:pt x="38" y="18"/>
                </a:lnTo>
                <a:lnTo>
                  <a:pt x="30" y="37"/>
                </a:lnTo>
                <a:lnTo>
                  <a:pt x="30" y="55"/>
                </a:lnTo>
                <a:lnTo>
                  <a:pt x="30" y="74"/>
                </a:lnTo>
                <a:lnTo>
                  <a:pt x="30" y="98"/>
                </a:lnTo>
                <a:lnTo>
                  <a:pt x="23" y="117"/>
                </a:lnTo>
                <a:lnTo>
                  <a:pt x="0" y="123"/>
                </a:lnTo>
                <a:lnTo>
                  <a:pt x="23" y="141"/>
                </a:lnTo>
                <a:lnTo>
                  <a:pt x="30" y="160"/>
                </a:lnTo>
                <a:lnTo>
                  <a:pt x="38" y="178"/>
                </a:lnTo>
                <a:lnTo>
                  <a:pt x="38" y="196"/>
                </a:lnTo>
                <a:lnTo>
                  <a:pt x="38" y="215"/>
                </a:lnTo>
                <a:lnTo>
                  <a:pt x="38" y="233"/>
                </a:lnTo>
                <a:lnTo>
                  <a:pt x="38" y="252"/>
                </a:lnTo>
                <a:lnTo>
                  <a:pt x="45" y="27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33" name="Rectangle 33"/>
          <p:cNvSpPr>
            <a:spLocks noChangeArrowheads="1"/>
          </p:cNvSpPr>
          <p:nvPr/>
        </p:nvSpPr>
        <p:spPr bwMode="auto">
          <a:xfrm>
            <a:off x="5086350" y="4090988"/>
            <a:ext cx="4492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p2</a:t>
            </a:r>
          </a:p>
        </p:txBody>
      </p:sp>
      <p:sp>
        <p:nvSpPr>
          <p:cNvPr id="51234" name="Freeform 34"/>
          <p:cNvSpPr>
            <a:spLocks/>
          </p:cNvSpPr>
          <p:nvPr/>
        </p:nvSpPr>
        <p:spPr bwMode="auto">
          <a:xfrm>
            <a:off x="7272338" y="4224338"/>
            <a:ext cx="73025" cy="430212"/>
          </a:xfrm>
          <a:custGeom>
            <a:avLst/>
            <a:gdLst>
              <a:gd name="T0" fmla="*/ 2147483647 w 46"/>
              <a:gd name="T1" fmla="*/ 0 h 271"/>
              <a:gd name="T2" fmla="*/ 2147483647 w 46"/>
              <a:gd name="T3" fmla="*/ 2147483647 h 271"/>
              <a:gd name="T4" fmla="*/ 2147483647 w 46"/>
              <a:gd name="T5" fmla="*/ 2147483647 h 271"/>
              <a:gd name="T6" fmla="*/ 2147483647 w 46"/>
              <a:gd name="T7" fmla="*/ 2147483647 h 271"/>
              <a:gd name="T8" fmla="*/ 2147483647 w 46"/>
              <a:gd name="T9" fmla="*/ 2147483647 h 271"/>
              <a:gd name="T10" fmla="*/ 2147483647 w 46"/>
              <a:gd name="T11" fmla="*/ 2147483647 h 271"/>
              <a:gd name="T12" fmla="*/ 2147483647 w 46"/>
              <a:gd name="T13" fmla="*/ 2147483647 h 271"/>
              <a:gd name="T14" fmla="*/ 0 w 46"/>
              <a:gd name="T15" fmla="*/ 2147483647 h 271"/>
              <a:gd name="T16" fmla="*/ 2147483647 w 46"/>
              <a:gd name="T17" fmla="*/ 2147483647 h 271"/>
              <a:gd name="T18" fmla="*/ 2147483647 w 46"/>
              <a:gd name="T19" fmla="*/ 2147483647 h 271"/>
              <a:gd name="T20" fmla="*/ 2147483647 w 46"/>
              <a:gd name="T21" fmla="*/ 2147483647 h 271"/>
              <a:gd name="T22" fmla="*/ 2147483647 w 46"/>
              <a:gd name="T23" fmla="*/ 2147483647 h 271"/>
              <a:gd name="T24" fmla="*/ 2147483647 w 46"/>
              <a:gd name="T25" fmla="*/ 2147483647 h 271"/>
              <a:gd name="T26" fmla="*/ 2147483647 w 46"/>
              <a:gd name="T27" fmla="*/ 2147483647 h 271"/>
              <a:gd name="T28" fmla="*/ 2147483647 w 46"/>
              <a:gd name="T29" fmla="*/ 2147483647 h 271"/>
              <a:gd name="T30" fmla="*/ 2147483647 w 46"/>
              <a:gd name="T31" fmla="*/ 2147483647 h 27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46" h="271">
                <a:moveTo>
                  <a:pt x="45" y="0"/>
                </a:moveTo>
                <a:lnTo>
                  <a:pt x="38" y="18"/>
                </a:lnTo>
                <a:lnTo>
                  <a:pt x="30" y="37"/>
                </a:lnTo>
                <a:lnTo>
                  <a:pt x="30" y="55"/>
                </a:lnTo>
                <a:lnTo>
                  <a:pt x="30" y="74"/>
                </a:lnTo>
                <a:lnTo>
                  <a:pt x="30" y="98"/>
                </a:lnTo>
                <a:lnTo>
                  <a:pt x="23" y="117"/>
                </a:lnTo>
                <a:lnTo>
                  <a:pt x="0" y="123"/>
                </a:lnTo>
                <a:lnTo>
                  <a:pt x="23" y="141"/>
                </a:lnTo>
                <a:lnTo>
                  <a:pt x="30" y="160"/>
                </a:lnTo>
                <a:lnTo>
                  <a:pt x="38" y="178"/>
                </a:lnTo>
                <a:lnTo>
                  <a:pt x="38" y="196"/>
                </a:lnTo>
                <a:lnTo>
                  <a:pt x="38" y="215"/>
                </a:lnTo>
                <a:lnTo>
                  <a:pt x="38" y="233"/>
                </a:lnTo>
                <a:lnTo>
                  <a:pt x="38" y="252"/>
                </a:lnTo>
                <a:lnTo>
                  <a:pt x="45" y="27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6924675" y="4314825"/>
            <a:ext cx="3857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d</a:t>
            </a:r>
          </a:p>
        </p:txBody>
      </p:sp>
      <p:sp>
        <p:nvSpPr>
          <p:cNvPr id="51236" name="Rectangle 36"/>
          <p:cNvSpPr>
            <a:spLocks noChangeArrowheads="1"/>
          </p:cNvSpPr>
          <p:nvPr/>
        </p:nvSpPr>
        <p:spPr bwMode="auto">
          <a:xfrm>
            <a:off x="5495925" y="4895850"/>
            <a:ext cx="13731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</a:t>
            </a:r>
            <a:r>
              <a:rPr lang="en-US" altLang="zh-TW" sz="2000" b="1">
                <a:solidFill>
                  <a:schemeClr val="tx2"/>
                </a:solidFill>
                <a:latin typeface="Book Antiqua" panose="02040602050305030304" pitchFamily="18" charset="0"/>
              </a:rPr>
              <a:t>page of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chemeClr val="tx2"/>
                </a:solidFill>
                <a:latin typeface="Book Antiqua" panose="02040602050305030304" pitchFamily="18" charset="0"/>
              </a:rPr>
              <a:t>page table</a:t>
            </a:r>
          </a:p>
        </p:txBody>
      </p:sp>
      <p:sp>
        <p:nvSpPr>
          <p:cNvPr id="51237" name="Rectangle 38"/>
          <p:cNvSpPr>
            <a:spLocks noChangeArrowheads="1"/>
          </p:cNvSpPr>
          <p:nvPr/>
        </p:nvSpPr>
        <p:spPr bwMode="auto">
          <a:xfrm>
            <a:off x="7234238" y="5124450"/>
            <a:ext cx="15414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desired page</a:t>
            </a:r>
          </a:p>
        </p:txBody>
      </p:sp>
      <p:sp>
        <p:nvSpPr>
          <p:cNvPr id="51238" name="Line 39"/>
          <p:cNvSpPr>
            <a:spLocks noChangeShapeType="1"/>
          </p:cNvSpPr>
          <p:nvPr/>
        </p:nvSpPr>
        <p:spPr bwMode="auto">
          <a:xfrm>
            <a:off x="4040188" y="2047875"/>
            <a:ext cx="0" cy="933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endParaRPr lang="zh-TW" altLang="en-US"/>
          </a:p>
        </p:txBody>
      </p:sp>
      <p:sp>
        <p:nvSpPr>
          <p:cNvPr id="51239" name="Rectangle 40"/>
          <p:cNvSpPr>
            <a:spLocks noChangeArrowheads="1"/>
          </p:cNvSpPr>
          <p:nvPr/>
        </p:nvSpPr>
        <p:spPr bwMode="auto">
          <a:xfrm>
            <a:off x="5592763" y="4216400"/>
            <a:ext cx="793750" cy="211138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1240" name="Rectangle 41"/>
          <p:cNvSpPr>
            <a:spLocks noChangeArrowheads="1"/>
          </p:cNvSpPr>
          <p:nvPr/>
        </p:nvSpPr>
        <p:spPr bwMode="auto">
          <a:xfrm>
            <a:off x="7426325" y="4410075"/>
            <a:ext cx="776288" cy="2476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E1213A-CEB5-40A8-B788-4E8E56D0DFE5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22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22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C277F1-FB36-4621-9C6A-DA9F077C0AC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/>
          </a:p>
        </p:txBody>
      </p:sp>
      <p:sp>
        <p:nvSpPr>
          <p:cNvPr id="52229" name="Rectangle 2"/>
          <p:cNvSpPr>
            <a:spLocks noChangeArrowheads="1"/>
          </p:cNvSpPr>
          <p:nvPr/>
        </p:nvSpPr>
        <p:spPr bwMode="auto">
          <a:xfrm>
            <a:off x="4167188" y="1431925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4987925" cy="6159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3600" b="1" smtClean="0"/>
              <a:t>Two-Level Paging</a:t>
            </a: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6530975" y="936625"/>
            <a:ext cx="1131888" cy="49641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32" name="Rectangle 5"/>
          <p:cNvSpPr>
            <a:spLocks noChangeArrowheads="1"/>
          </p:cNvSpPr>
          <p:nvPr/>
        </p:nvSpPr>
        <p:spPr bwMode="auto">
          <a:xfrm>
            <a:off x="6530975" y="2112963"/>
            <a:ext cx="1131888" cy="3635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398838" y="1057275"/>
            <a:ext cx="1825625" cy="4813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50000">
                      <a:schemeClr val="folHlink"/>
                    </a:gs>
                    <a:gs pos="100000">
                      <a:schemeClr val="folHlink">
                        <a:gamma/>
                        <a:shade val="46275"/>
                        <a:invGamma/>
                      </a:schemeClr>
                    </a:gs>
                  </a:gsLst>
                  <a:lin ang="189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122363" y="2173288"/>
            <a:ext cx="1241425" cy="1016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50000">
                      <a:schemeClr val="folHlink"/>
                    </a:gs>
                    <a:gs pos="100000">
                      <a:schemeClr val="folHlink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TW" altLang="en-US"/>
          </a:p>
        </p:txBody>
      </p:sp>
      <p:sp>
        <p:nvSpPr>
          <p:cNvPr id="52235" name="Rectangle 8"/>
          <p:cNvSpPr>
            <a:spLocks noChangeArrowheads="1"/>
          </p:cNvSpPr>
          <p:nvPr/>
        </p:nvSpPr>
        <p:spPr bwMode="auto">
          <a:xfrm>
            <a:off x="730250" y="3516313"/>
            <a:ext cx="20637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Book Antiqua" panose="02040602050305030304" pitchFamily="18" charset="0"/>
              </a:rPr>
              <a:t>outer-page table</a:t>
            </a:r>
          </a:p>
        </p:txBody>
      </p:sp>
      <p:sp>
        <p:nvSpPr>
          <p:cNvPr id="52236" name="Rectangle 9"/>
          <p:cNvSpPr>
            <a:spLocks noChangeArrowheads="1"/>
          </p:cNvSpPr>
          <p:nvPr/>
        </p:nvSpPr>
        <p:spPr bwMode="auto">
          <a:xfrm>
            <a:off x="3087688" y="5972175"/>
            <a:ext cx="25908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page table in memory</a:t>
            </a:r>
          </a:p>
        </p:txBody>
      </p:sp>
      <p:sp>
        <p:nvSpPr>
          <p:cNvPr id="52237" name="Rectangle 10"/>
          <p:cNvSpPr>
            <a:spLocks noChangeArrowheads="1"/>
          </p:cNvSpPr>
          <p:nvPr/>
        </p:nvSpPr>
        <p:spPr bwMode="auto">
          <a:xfrm>
            <a:off x="6537325" y="931863"/>
            <a:ext cx="1120775" cy="776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38" name="Rectangle 11"/>
          <p:cNvSpPr>
            <a:spLocks noChangeArrowheads="1"/>
          </p:cNvSpPr>
          <p:nvPr/>
        </p:nvSpPr>
        <p:spPr bwMode="auto">
          <a:xfrm>
            <a:off x="6683375" y="981075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0</a:t>
            </a:r>
          </a:p>
        </p:txBody>
      </p:sp>
      <p:sp>
        <p:nvSpPr>
          <p:cNvPr id="52239" name="Rectangle 12"/>
          <p:cNvSpPr>
            <a:spLocks noChangeArrowheads="1"/>
          </p:cNvSpPr>
          <p:nvPr/>
        </p:nvSpPr>
        <p:spPr bwMode="auto">
          <a:xfrm>
            <a:off x="6545263" y="2176463"/>
            <a:ext cx="1133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123</a:t>
            </a:r>
          </a:p>
        </p:txBody>
      </p:sp>
      <p:sp>
        <p:nvSpPr>
          <p:cNvPr id="52240" name="Line 13"/>
          <p:cNvSpPr>
            <a:spLocks noChangeShapeType="1"/>
          </p:cNvSpPr>
          <p:nvPr/>
        </p:nvSpPr>
        <p:spPr bwMode="auto">
          <a:xfrm>
            <a:off x="6526213" y="1312863"/>
            <a:ext cx="11318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41" name="Rectangle 14"/>
          <p:cNvSpPr>
            <a:spLocks noChangeArrowheads="1"/>
          </p:cNvSpPr>
          <p:nvPr/>
        </p:nvSpPr>
        <p:spPr bwMode="auto">
          <a:xfrm>
            <a:off x="6696075" y="1347788"/>
            <a:ext cx="879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1</a:t>
            </a:r>
          </a:p>
        </p:txBody>
      </p:sp>
      <p:sp>
        <p:nvSpPr>
          <p:cNvPr id="52242" name="Line 15"/>
          <p:cNvSpPr>
            <a:spLocks noChangeShapeType="1"/>
          </p:cNvSpPr>
          <p:nvPr/>
        </p:nvSpPr>
        <p:spPr bwMode="auto">
          <a:xfrm>
            <a:off x="1104900" y="2549525"/>
            <a:ext cx="1276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43" name="Rectangle 16"/>
          <p:cNvSpPr>
            <a:spLocks noChangeArrowheads="1"/>
          </p:cNvSpPr>
          <p:nvPr/>
        </p:nvSpPr>
        <p:spPr bwMode="auto">
          <a:xfrm>
            <a:off x="3867150" y="1298575"/>
            <a:ext cx="906463" cy="996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65075B"/>
                    </a:gs>
                    <a:gs pos="50000">
                      <a:srgbClr val="990B8A"/>
                    </a:gs>
                    <a:gs pos="100000">
                      <a:srgbClr val="65075B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44" name="Rectangle 17"/>
          <p:cNvSpPr>
            <a:spLocks noChangeArrowheads="1"/>
          </p:cNvSpPr>
          <p:nvPr/>
        </p:nvSpPr>
        <p:spPr bwMode="auto">
          <a:xfrm>
            <a:off x="3867150" y="1298575"/>
            <a:ext cx="906463" cy="258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45" name="Rectangle 18"/>
          <p:cNvSpPr>
            <a:spLocks noChangeArrowheads="1"/>
          </p:cNvSpPr>
          <p:nvPr/>
        </p:nvSpPr>
        <p:spPr bwMode="auto">
          <a:xfrm>
            <a:off x="3871913" y="2033588"/>
            <a:ext cx="906462" cy="257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46" name="Rectangle 19"/>
          <p:cNvSpPr>
            <a:spLocks noChangeArrowheads="1"/>
          </p:cNvSpPr>
          <p:nvPr/>
        </p:nvSpPr>
        <p:spPr bwMode="auto">
          <a:xfrm>
            <a:off x="4057650" y="1296988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516</a:t>
            </a:r>
          </a:p>
        </p:txBody>
      </p:sp>
      <p:sp>
        <p:nvSpPr>
          <p:cNvPr id="52247" name="Rectangle 20"/>
          <p:cNvSpPr>
            <a:spLocks noChangeArrowheads="1"/>
          </p:cNvSpPr>
          <p:nvPr/>
        </p:nvSpPr>
        <p:spPr bwMode="auto">
          <a:xfrm>
            <a:off x="4030663" y="200660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123</a:t>
            </a:r>
          </a:p>
        </p:txBody>
      </p:sp>
      <p:sp>
        <p:nvSpPr>
          <p:cNvPr id="52248" name="Rectangle 21"/>
          <p:cNvSpPr>
            <a:spLocks noChangeArrowheads="1"/>
          </p:cNvSpPr>
          <p:nvPr/>
        </p:nvSpPr>
        <p:spPr bwMode="auto">
          <a:xfrm>
            <a:off x="4167188" y="1527175"/>
            <a:ext cx="26193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49" name="Rectangle 22"/>
          <p:cNvSpPr>
            <a:spLocks noChangeArrowheads="1"/>
          </p:cNvSpPr>
          <p:nvPr/>
        </p:nvSpPr>
        <p:spPr bwMode="auto">
          <a:xfrm>
            <a:off x="4149725" y="1652588"/>
            <a:ext cx="244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50" name="Rectangle 23"/>
          <p:cNvSpPr>
            <a:spLocks noChangeArrowheads="1"/>
          </p:cNvSpPr>
          <p:nvPr/>
        </p:nvSpPr>
        <p:spPr bwMode="auto">
          <a:xfrm>
            <a:off x="3844925" y="2727325"/>
            <a:ext cx="906463" cy="996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65075B"/>
                    </a:gs>
                    <a:gs pos="50000">
                      <a:srgbClr val="990B8A"/>
                    </a:gs>
                    <a:gs pos="100000">
                      <a:srgbClr val="65075B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51" name="Rectangle 24"/>
          <p:cNvSpPr>
            <a:spLocks noChangeArrowheads="1"/>
          </p:cNvSpPr>
          <p:nvPr/>
        </p:nvSpPr>
        <p:spPr bwMode="auto">
          <a:xfrm>
            <a:off x="3844925" y="2727325"/>
            <a:ext cx="906463" cy="257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52" name="Rectangle 25"/>
          <p:cNvSpPr>
            <a:spLocks noChangeArrowheads="1"/>
          </p:cNvSpPr>
          <p:nvPr/>
        </p:nvSpPr>
        <p:spPr bwMode="auto">
          <a:xfrm>
            <a:off x="4010025" y="27241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1</a:t>
            </a:r>
          </a:p>
        </p:txBody>
      </p:sp>
      <p:sp>
        <p:nvSpPr>
          <p:cNvPr id="52253" name="Rectangle 26"/>
          <p:cNvSpPr>
            <a:spLocks noChangeArrowheads="1"/>
          </p:cNvSpPr>
          <p:nvPr/>
        </p:nvSpPr>
        <p:spPr bwMode="auto">
          <a:xfrm>
            <a:off x="4044950" y="2941638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708</a:t>
            </a:r>
          </a:p>
        </p:txBody>
      </p:sp>
      <p:grpSp>
        <p:nvGrpSpPr>
          <p:cNvPr id="52254" name="Group 27"/>
          <p:cNvGrpSpPr>
            <a:grpSpLocks/>
          </p:cNvGrpSpPr>
          <p:nvPr/>
        </p:nvGrpSpPr>
        <p:grpSpPr bwMode="auto">
          <a:xfrm>
            <a:off x="4110038" y="3117850"/>
            <a:ext cx="244475" cy="566738"/>
            <a:chOff x="3375" y="1170"/>
            <a:chExt cx="146" cy="274"/>
          </a:xfrm>
        </p:grpSpPr>
        <p:sp>
          <p:nvSpPr>
            <p:cNvPr id="52311" name="Rectangle 28"/>
            <p:cNvSpPr>
              <a:spLocks noChangeArrowheads="1"/>
            </p:cNvSpPr>
            <p:nvPr/>
          </p:nvSpPr>
          <p:spPr bwMode="auto">
            <a:xfrm>
              <a:off x="3375" y="1170"/>
              <a:ext cx="14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12" name="Rectangle 29"/>
            <p:cNvSpPr>
              <a:spLocks noChangeArrowheads="1"/>
            </p:cNvSpPr>
            <p:nvPr/>
          </p:nvSpPr>
          <p:spPr bwMode="auto">
            <a:xfrm>
              <a:off x="3375" y="1220"/>
              <a:ext cx="14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13" name="Rectangle 30"/>
            <p:cNvSpPr>
              <a:spLocks noChangeArrowheads="1"/>
            </p:cNvSpPr>
            <p:nvPr/>
          </p:nvSpPr>
          <p:spPr bwMode="auto">
            <a:xfrm>
              <a:off x="3375" y="1268"/>
              <a:ext cx="14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52255" name="Rectangle 31"/>
          <p:cNvSpPr>
            <a:spLocks noChangeArrowheads="1"/>
          </p:cNvSpPr>
          <p:nvPr/>
        </p:nvSpPr>
        <p:spPr bwMode="auto">
          <a:xfrm>
            <a:off x="3856038" y="4154488"/>
            <a:ext cx="906462" cy="996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65075B"/>
                    </a:gs>
                    <a:gs pos="50000">
                      <a:srgbClr val="990B8A"/>
                    </a:gs>
                    <a:gs pos="100000">
                      <a:srgbClr val="65075B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56" name="Rectangle 32"/>
          <p:cNvSpPr>
            <a:spLocks noChangeArrowheads="1"/>
          </p:cNvSpPr>
          <p:nvPr/>
        </p:nvSpPr>
        <p:spPr bwMode="auto">
          <a:xfrm>
            <a:off x="3856038" y="4154488"/>
            <a:ext cx="906462" cy="257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57" name="Rectangle 33"/>
          <p:cNvSpPr>
            <a:spLocks noChangeArrowheads="1"/>
          </p:cNvSpPr>
          <p:nvPr/>
        </p:nvSpPr>
        <p:spPr bwMode="auto">
          <a:xfrm>
            <a:off x="3856038" y="4908550"/>
            <a:ext cx="906462" cy="247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58" name="Rectangle 34"/>
          <p:cNvSpPr>
            <a:spLocks noChangeArrowheads="1"/>
          </p:cNvSpPr>
          <p:nvPr/>
        </p:nvSpPr>
        <p:spPr bwMode="auto">
          <a:xfrm>
            <a:off x="4052888" y="4152900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929</a:t>
            </a:r>
          </a:p>
        </p:txBody>
      </p:sp>
      <p:sp>
        <p:nvSpPr>
          <p:cNvPr id="52259" name="Rectangle 35"/>
          <p:cNvSpPr>
            <a:spLocks noChangeArrowheads="1"/>
          </p:cNvSpPr>
          <p:nvPr/>
        </p:nvSpPr>
        <p:spPr bwMode="auto">
          <a:xfrm>
            <a:off x="4021138" y="4891088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900</a:t>
            </a:r>
          </a:p>
        </p:txBody>
      </p:sp>
      <p:sp>
        <p:nvSpPr>
          <p:cNvPr id="52260" name="Rectangle 36"/>
          <p:cNvSpPr>
            <a:spLocks noChangeArrowheads="1"/>
          </p:cNvSpPr>
          <p:nvPr/>
        </p:nvSpPr>
        <p:spPr bwMode="auto">
          <a:xfrm>
            <a:off x="4154488" y="44005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61" name="Rectangle 37"/>
          <p:cNvSpPr>
            <a:spLocks noChangeArrowheads="1"/>
          </p:cNvSpPr>
          <p:nvPr/>
        </p:nvSpPr>
        <p:spPr bwMode="auto">
          <a:xfrm>
            <a:off x="4154488" y="4286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62" name="Rectangle 38"/>
          <p:cNvSpPr>
            <a:spLocks noChangeArrowheads="1"/>
          </p:cNvSpPr>
          <p:nvPr/>
        </p:nvSpPr>
        <p:spPr bwMode="auto">
          <a:xfrm>
            <a:off x="4154488" y="4456113"/>
            <a:ext cx="244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52263" name="Rectangle 39"/>
          <p:cNvSpPr>
            <a:spLocks noChangeArrowheads="1"/>
          </p:cNvSpPr>
          <p:nvPr/>
        </p:nvSpPr>
        <p:spPr bwMode="auto">
          <a:xfrm>
            <a:off x="6537325" y="2892425"/>
            <a:ext cx="1120775" cy="384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64" name="Rectangle 40"/>
          <p:cNvSpPr>
            <a:spLocks noChangeArrowheads="1"/>
          </p:cNvSpPr>
          <p:nvPr/>
        </p:nvSpPr>
        <p:spPr bwMode="auto">
          <a:xfrm>
            <a:off x="6538913" y="2955925"/>
            <a:ext cx="1133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516</a:t>
            </a:r>
          </a:p>
        </p:txBody>
      </p:sp>
      <p:grpSp>
        <p:nvGrpSpPr>
          <p:cNvPr id="52265" name="Group 41"/>
          <p:cNvGrpSpPr>
            <a:grpSpLocks/>
          </p:cNvGrpSpPr>
          <p:nvPr/>
        </p:nvGrpSpPr>
        <p:grpSpPr bwMode="auto">
          <a:xfrm>
            <a:off x="6940550" y="1487488"/>
            <a:ext cx="244475" cy="530225"/>
            <a:chOff x="4933" y="408"/>
            <a:chExt cx="136" cy="316"/>
          </a:xfrm>
        </p:grpSpPr>
        <p:sp>
          <p:nvSpPr>
            <p:cNvPr id="52308" name="Rectangle 42"/>
            <p:cNvSpPr>
              <a:spLocks noChangeArrowheads="1"/>
            </p:cNvSpPr>
            <p:nvPr/>
          </p:nvSpPr>
          <p:spPr bwMode="auto">
            <a:xfrm>
              <a:off x="4933" y="408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9" name="Rectangle 43"/>
            <p:cNvSpPr>
              <a:spLocks noChangeArrowheads="1"/>
            </p:cNvSpPr>
            <p:nvPr/>
          </p:nvSpPr>
          <p:spPr bwMode="auto">
            <a:xfrm>
              <a:off x="4933" y="457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10" name="Rectangle 44"/>
            <p:cNvSpPr>
              <a:spLocks noChangeArrowheads="1"/>
            </p:cNvSpPr>
            <p:nvPr/>
          </p:nvSpPr>
          <p:spPr bwMode="auto">
            <a:xfrm>
              <a:off x="4933" y="507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grpSp>
        <p:nvGrpSpPr>
          <p:cNvPr id="52266" name="Group 45"/>
          <p:cNvGrpSpPr>
            <a:grpSpLocks/>
          </p:cNvGrpSpPr>
          <p:nvPr/>
        </p:nvGrpSpPr>
        <p:grpSpPr bwMode="auto">
          <a:xfrm>
            <a:off x="6938963" y="2236788"/>
            <a:ext cx="244475" cy="528637"/>
            <a:chOff x="4932" y="855"/>
            <a:chExt cx="137" cy="315"/>
          </a:xfrm>
        </p:grpSpPr>
        <p:sp>
          <p:nvSpPr>
            <p:cNvPr id="52305" name="Rectangle 46"/>
            <p:cNvSpPr>
              <a:spLocks noChangeArrowheads="1"/>
            </p:cNvSpPr>
            <p:nvPr/>
          </p:nvSpPr>
          <p:spPr bwMode="auto">
            <a:xfrm>
              <a:off x="4932" y="855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6" name="Rectangle 47"/>
            <p:cNvSpPr>
              <a:spLocks noChangeArrowheads="1"/>
            </p:cNvSpPr>
            <p:nvPr/>
          </p:nvSpPr>
          <p:spPr bwMode="auto">
            <a:xfrm>
              <a:off x="4932" y="904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7" name="Rectangle 48"/>
            <p:cNvSpPr>
              <a:spLocks noChangeArrowheads="1"/>
            </p:cNvSpPr>
            <p:nvPr/>
          </p:nvSpPr>
          <p:spPr bwMode="auto">
            <a:xfrm>
              <a:off x="4932" y="953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52267" name="Rectangle 49"/>
          <p:cNvSpPr>
            <a:spLocks noChangeArrowheads="1"/>
          </p:cNvSpPr>
          <p:nvPr/>
        </p:nvSpPr>
        <p:spPr bwMode="auto">
          <a:xfrm>
            <a:off x="6537325" y="3646488"/>
            <a:ext cx="1120775" cy="34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68" name="Rectangle 50"/>
          <p:cNvSpPr>
            <a:spLocks noChangeArrowheads="1"/>
          </p:cNvSpPr>
          <p:nvPr/>
        </p:nvSpPr>
        <p:spPr bwMode="auto">
          <a:xfrm>
            <a:off x="6538913" y="3709988"/>
            <a:ext cx="1133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708</a:t>
            </a:r>
          </a:p>
        </p:txBody>
      </p:sp>
      <p:sp>
        <p:nvSpPr>
          <p:cNvPr id="52269" name="Rectangle 51"/>
          <p:cNvSpPr>
            <a:spLocks noChangeArrowheads="1"/>
          </p:cNvSpPr>
          <p:nvPr/>
        </p:nvSpPr>
        <p:spPr bwMode="auto">
          <a:xfrm>
            <a:off x="6537325" y="4425950"/>
            <a:ext cx="1120775" cy="3635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70" name="Rectangle 52"/>
          <p:cNvSpPr>
            <a:spLocks noChangeArrowheads="1"/>
          </p:cNvSpPr>
          <p:nvPr/>
        </p:nvSpPr>
        <p:spPr bwMode="auto">
          <a:xfrm>
            <a:off x="6534150" y="4489450"/>
            <a:ext cx="1133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900</a:t>
            </a:r>
          </a:p>
        </p:txBody>
      </p:sp>
      <p:grpSp>
        <p:nvGrpSpPr>
          <p:cNvPr id="52271" name="Group 53"/>
          <p:cNvGrpSpPr>
            <a:grpSpLocks/>
          </p:cNvGrpSpPr>
          <p:nvPr/>
        </p:nvGrpSpPr>
        <p:grpSpPr bwMode="auto">
          <a:xfrm>
            <a:off x="6938963" y="3021013"/>
            <a:ext cx="244475" cy="525462"/>
            <a:chOff x="4932" y="1323"/>
            <a:chExt cx="137" cy="313"/>
          </a:xfrm>
        </p:grpSpPr>
        <p:sp>
          <p:nvSpPr>
            <p:cNvPr id="52302" name="Rectangle 54"/>
            <p:cNvSpPr>
              <a:spLocks noChangeArrowheads="1"/>
            </p:cNvSpPr>
            <p:nvPr/>
          </p:nvSpPr>
          <p:spPr bwMode="auto">
            <a:xfrm>
              <a:off x="4932" y="1323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3" name="Rectangle 55"/>
            <p:cNvSpPr>
              <a:spLocks noChangeArrowheads="1"/>
            </p:cNvSpPr>
            <p:nvPr/>
          </p:nvSpPr>
          <p:spPr bwMode="auto">
            <a:xfrm>
              <a:off x="4932" y="1372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4" name="Rectangle 56"/>
            <p:cNvSpPr>
              <a:spLocks noChangeArrowheads="1"/>
            </p:cNvSpPr>
            <p:nvPr/>
          </p:nvSpPr>
          <p:spPr bwMode="auto">
            <a:xfrm>
              <a:off x="4932" y="1419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grpSp>
        <p:nvGrpSpPr>
          <p:cNvPr id="52272" name="Group 57"/>
          <p:cNvGrpSpPr>
            <a:grpSpLocks/>
          </p:cNvGrpSpPr>
          <p:nvPr/>
        </p:nvGrpSpPr>
        <p:grpSpPr bwMode="auto">
          <a:xfrm>
            <a:off x="6931025" y="3770313"/>
            <a:ext cx="244475" cy="530225"/>
            <a:chOff x="4928" y="1770"/>
            <a:chExt cx="136" cy="316"/>
          </a:xfrm>
        </p:grpSpPr>
        <p:sp>
          <p:nvSpPr>
            <p:cNvPr id="52299" name="Rectangle 58"/>
            <p:cNvSpPr>
              <a:spLocks noChangeArrowheads="1"/>
            </p:cNvSpPr>
            <p:nvPr/>
          </p:nvSpPr>
          <p:spPr bwMode="auto">
            <a:xfrm>
              <a:off x="4928" y="1770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0" name="Rectangle 59"/>
            <p:cNvSpPr>
              <a:spLocks noChangeArrowheads="1"/>
            </p:cNvSpPr>
            <p:nvPr/>
          </p:nvSpPr>
          <p:spPr bwMode="auto">
            <a:xfrm>
              <a:off x="4928" y="1819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301" name="Rectangle 60"/>
            <p:cNvSpPr>
              <a:spLocks noChangeArrowheads="1"/>
            </p:cNvSpPr>
            <p:nvPr/>
          </p:nvSpPr>
          <p:spPr bwMode="auto">
            <a:xfrm>
              <a:off x="4928" y="1869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52273" name="Rectangle 61"/>
          <p:cNvSpPr>
            <a:spLocks noChangeArrowheads="1"/>
          </p:cNvSpPr>
          <p:nvPr/>
        </p:nvSpPr>
        <p:spPr bwMode="auto">
          <a:xfrm>
            <a:off x="6537325" y="5149850"/>
            <a:ext cx="1120775" cy="354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2274" name="Rectangle 62"/>
          <p:cNvSpPr>
            <a:spLocks noChangeArrowheads="1"/>
          </p:cNvSpPr>
          <p:nvPr/>
        </p:nvSpPr>
        <p:spPr bwMode="auto">
          <a:xfrm>
            <a:off x="6551613" y="5213350"/>
            <a:ext cx="1133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page 929</a:t>
            </a:r>
          </a:p>
        </p:txBody>
      </p:sp>
      <p:grpSp>
        <p:nvGrpSpPr>
          <p:cNvPr id="52275" name="Group 63"/>
          <p:cNvGrpSpPr>
            <a:grpSpLocks/>
          </p:cNvGrpSpPr>
          <p:nvPr/>
        </p:nvGrpSpPr>
        <p:grpSpPr bwMode="auto">
          <a:xfrm>
            <a:off x="6950075" y="4524375"/>
            <a:ext cx="244475" cy="530225"/>
            <a:chOff x="4938" y="2220"/>
            <a:chExt cx="137" cy="316"/>
          </a:xfrm>
        </p:grpSpPr>
        <p:sp>
          <p:nvSpPr>
            <p:cNvPr id="52296" name="Rectangle 64"/>
            <p:cNvSpPr>
              <a:spLocks noChangeArrowheads="1"/>
            </p:cNvSpPr>
            <p:nvPr/>
          </p:nvSpPr>
          <p:spPr bwMode="auto">
            <a:xfrm>
              <a:off x="4938" y="2220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297" name="Rectangle 65"/>
            <p:cNvSpPr>
              <a:spLocks noChangeArrowheads="1"/>
            </p:cNvSpPr>
            <p:nvPr/>
          </p:nvSpPr>
          <p:spPr bwMode="auto">
            <a:xfrm>
              <a:off x="4938" y="2269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298" name="Rectangle 66"/>
            <p:cNvSpPr>
              <a:spLocks noChangeArrowheads="1"/>
            </p:cNvSpPr>
            <p:nvPr/>
          </p:nvSpPr>
          <p:spPr bwMode="auto">
            <a:xfrm>
              <a:off x="4938" y="2319"/>
              <a:ext cx="137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grpSp>
        <p:nvGrpSpPr>
          <p:cNvPr id="52276" name="Group 67"/>
          <p:cNvGrpSpPr>
            <a:grpSpLocks/>
          </p:cNvGrpSpPr>
          <p:nvPr/>
        </p:nvGrpSpPr>
        <p:grpSpPr bwMode="auto">
          <a:xfrm>
            <a:off x="6943725" y="5273675"/>
            <a:ext cx="244475" cy="527050"/>
            <a:chOff x="4935" y="2667"/>
            <a:chExt cx="136" cy="315"/>
          </a:xfrm>
        </p:grpSpPr>
        <p:sp>
          <p:nvSpPr>
            <p:cNvPr id="52293" name="Rectangle 68"/>
            <p:cNvSpPr>
              <a:spLocks noChangeArrowheads="1"/>
            </p:cNvSpPr>
            <p:nvPr/>
          </p:nvSpPr>
          <p:spPr bwMode="auto">
            <a:xfrm>
              <a:off x="4935" y="2667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294" name="Rectangle 69"/>
            <p:cNvSpPr>
              <a:spLocks noChangeArrowheads="1"/>
            </p:cNvSpPr>
            <p:nvPr/>
          </p:nvSpPr>
          <p:spPr bwMode="auto">
            <a:xfrm>
              <a:off x="4935" y="2716"/>
              <a:ext cx="136" cy="2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52295" name="Rectangle 70"/>
            <p:cNvSpPr>
              <a:spLocks noChangeArrowheads="1"/>
            </p:cNvSpPr>
            <p:nvPr/>
          </p:nvSpPr>
          <p:spPr bwMode="auto">
            <a:xfrm>
              <a:off x="4935" y="2765"/>
              <a:ext cx="136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52277" name="Line 71"/>
          <p:cNvSpPr>
            <a:spLocks noChangeShapeType="1"/>
          </p:cNvSpPr>
          <p:nvPr/>
        </p:nvSpPr>
        <p:spPr bwMode="auto">
          <a:xfrm>
            <a:off x="4570413" y="3144838"/>
            <a:ext cx="1870075" cy="677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78" name="Line 72"/>
          <p:cNvSpPr>
            <a:spLocks noChangeShapeType="1"/>
          </p:cNvSpPr>
          <p:nvPr/>
        </p:nvSpPr>
        <p:spPr bwMode="auto">
          <a:xfrm flipV="1">
            <a:off x="4810125" y="1560513"/>
            <a:ext cx="1636713" cy="13033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79" name="Line 73"/>
          <p:cNvSpPr>
            <a:spLocks noChangeShapeType="1"/>
          </p:cNvSpPr>
          <p:nvPr/>
        </p:nvSpPr>
        <p:spPr bwMode="auto">
          <a:xfrm>
            <a:off x="4864100" y="2139950"/>
            <a:ext cx="1566863" cy="2238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0" name="Line 74"/>
          <p:cNvSpPr>
            <a:spLocks noChangeShapeType="1"/>
          </p:cNvSpPr>
          <p:nvPr/>
        </p:nvSpPr>
        <p:spPr bwMode="auto">
          <a:xfrm>
            <a:off x="4843463" y="4302125"/>
            <a:ext cx="1617662" cy="1028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1" name="Line 75"/>
          <p:cNvSpPr>
            <a:spLocks noChangeShapeType="1"/>
          </p:cNvSpPr>
          <p:nvPr/>
        </p:nvSpPr>
        <p:spPr bwMode="auto">
          <a:xfrm flipV="1">
            <a:off x="4852988" y="4556125"/>
            <a:ext cx="1576387" cy="5191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2" name="Line 76"/>
          <p:cNvSpPr>
            <a:spLocks noChangeShapeType="1"/>
          </p:cNvSpPr>
          <p:nvPr/>
        </p:nvSpPr>
        <p:spPr bwMode="auto">
          <a:xfrm>
            <a:off x="4821238" y="1416050"/>
            <a:ext cx="1668462" cy="1679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3" name="Line 77"/>
          <p:cNvSpPr>
            <a:spLocks noChangeShapeType="1"/>
          </p:cNvSpPr>
          <p:nvPr/>
        </p:nvSpPr>
        <p:spPr bwMode="auto">
          <a:xfrm flipV="1">
            <a:off x="2057400" y="1409700"/>
            <a:ext cx="1712913" cy="9636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4" name="Line 78"/>
          <p:cNvSpPr>
            <a:spLocks noChangeShapeType="1"/>
          </p:cNvSpPr>
          <p:nvPr/>
        </p:nvSpPr>
        <p:spPr bwMode="auto">
          <a:xfrm>
            <a:off x="2046288" y="2711450"/>
            <a:ext cx="1712912" cy="115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5" name="Line 79"/>
          <p:cNvSpPr>
            <a:spLocks noChangeShapeType="1"/>
          </p:cNvSpPr>
          <p:nvPr/>
        </p:nvSpPr>
        <p:spPr bwMode="auto">
          <a:xfrm>
            <a:off x="2081213" y="3032125"/>
            <a:ext cx="1400175" cy="11414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6" name="Rectangle 80"/>
          <p:cNvSpPr>
            <a:spLocks noChangeArrowheads="1"/>
          </p:cNvSpPr>
          <p:nvPr/>
        </p:nvSpPr>
        <p:spPr bwMode="auto">
          <a:xfrm>
            <a:off x="6270625" y="5946775"/>
            <a:ext cx="22240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in memory</a:t>
            </a:r>
          </a:p>
        </p:txBody>
      </p:sp>
      <p:sp>
        <p:nvSpPr>
          <p:cNvPr id="52287" name="Line 81"/>
          <p:cNvSpPr>
            <a:spLocks noChangeShapeType="1"/>
          </p:cNvSpPr>
          <p:nvPr/>
        </p:nvSpPr>
        <p:spPr bwMode="auto">
          <a:xfrm>
            <a:off x="1098550" y="2895600"/>
            <a:ext cx="1276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2288" name="Text Box 82"/>
          <p:cNvSpPr txBox="1">
            <a:spLocks noChangeArrowheads="1"/>
          </p:cNvSpPr>
          <p:nvPr/>
        </p:nvSpPr>
        <p:spPr bwMode="auto">
          <a:xfrm>
            <a:off x="157163" y="4584700"/>
            <a:ext cx="3230562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Example: (1K page size)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	         (1, 2, 121)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	-&gt;     (708*1K +121)</a:t>
            </a:r>
          </a:p>
        </p:txBody>
      </p:sp>
      <p:sp>
        <p:nvSpPr>
          <p:cNvPr id="52289" name="Text Box 83"/>
          <p:cNvSpPr txBox="1">
            <a:spLocks noChangeArrowheads="1"/>
          </p:cNvSpPr>
          <p:nvPr/>
        </p:nvSpPr>
        <p:spPr bwMode="auto">
          <a:xfrm>
            <a:off x="809625" y="20637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0</a:t>
            </a:r>
          </a:p>
        </p:txBody>
      </p:sp>
      <p:sp>
        <p:nvSpPr>
          <p:cNvPr id="52290" name="Text Box 84"/>
          <p:cNvSpPr txBox="1">
            <a:spLocks noChangeArrowheads="1"/>
          </p:cNvSpPr>
          <p:nvPr/>
        </p:nvSpPr>
        <p:spPr bwMode="auto">
          <a:xfrm>
            <a:off x="827088" y="25400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1</a:t>
            </a:r>
          </a:p>
        </p:txBody>
      </p:sp>
      <p:sp>
        <p:nvSpPr>
          <p:cNvPr id="52291" name="Text Box 85"/>
          <p:cNvSpPr txBox="1">
            <a:spLocks noChangeArrowheads="1"/>
          </p:cNvSpPr>
          <p:nvPr/>
        </p:nvSpPr>
        <p:spPr bwMode="auto">
          <a:xfrm>
            <a:off x="809625" y="294481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52292" name="Rectangle 86"/>
          <p:cNvSpPr>
            <a:spLocks noChangeArrowheads="1"/>
          </p:cNvSpPr>
          <p:nvPr/>
        </p:nvSpPr>
        <p:spPr bwMode="auto">
          <a:xfrm>
            <a:off x="3838575" y="3001963"/>
            <a:ext cx="906463" cy="257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0021852-3ECF-4879-B8AA-3D819CE0AAF5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5F805C1-2DC9-476F-A2A2-6238D51FA3C6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Hashed Page Tables</a:t>
            </a:r>
          </a:p>
        </p:txBody>
      </p:sp>
      <p:sp>
        <p:nvSpPr>
          <p:cNvPr id="532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064500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Common approach for handling address spaces &gt; 32 bits.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</a:t>
            </a:r>
            <a:r>
              <a:rPr lang="en-US" altLang="zh-TW" sz="2800" smtClean="0">
                <a:solidFill>
                  <a:srgbClr val="FF0000"/>
                </a:solidFill>
              </a:rPr>
              <a:t>virtual page number</a:t>
            </a:r>
            <a:r>
              <a:rPr lang="en-US" altLang="zh-TW" sz="2800" smtClean="0"/>
              <a:t> is </a:t>
            </a:r>
            <a:r>
              <a:rPr lang="en-US" altLang="zh-TW" sz="2800" b="1" smtClean="0">
                <a:solidFill>
                  <a:srgbClr val="FF0000"/>
                </a:solidFill>
              </a:rPr>
              <a:t>hashed</a:t>
            </a:r>
            <a:r>
              <a:rPr lang="en-US" altLang="zh-TW" sz="2800" smtClean="0"/>
              <a:t> into a page table. This page table contains a </a:t>
            </a:r>
            <a:r>
              <a:rPr lang="en-US" altLang="zh-TW" sz="2800" b="1" smtClean="0">
                <a:solidFill>
                  <a:srgbClr val="FF0000"/>
                </a:solidFill>
              </a:rPr>
              <a:t>chain</a:t>
            </a:r>
            <a:r>
              <a:rPr lang="en-US" altLang="zh-TW" sz="2800" smtClean="0"/>
              <a:t> of elements hashing to the same location.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Virtual page numbers are compared in this chain </a:t>
            </a:r>
            <a:r>
              <a:rPr lang="en-US" altLang="zh-TW" sz="2800" b="1" smtClean="0">
                <a:solidFill>
                  <a:srgbClr val="FF0000"/>
                </a:solidFill>
              </a:rPr>
              <a:t>searching</a:t>
            </a:r>
            <a:r>
              <a:rPr lang="en-US" altLang="zh-TW" sz="2800" smtClean="0"/>
              <a:t> for a match. If a match is found, the </a:t>
            </a:r>
            <a:r>
              <a:rPr lang="en-US" altLang="zh-TW" sz="2800" smtClean="0">
                <a:solidFill>
                  <a:srgbClr val="FF0000"/>
                </a:solidFill>
              </a:rPr>
              <a:t>corresponding physical frame</a:t>
            </a:r>
            <a:r>
              <a:rPr lang="en-US" altLang="zh-TW" sz="2800" smtClean="0"/>
              <a:t> is extracted.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8A554E-95CC-46DC-AB67-0B6718D09FF0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427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427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29D372-9CD0-4FCE-99F6-E03952FFB22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Hashed Page Table</a:t>
            </a:r>
            <a:endParaRPr lang="en-US" altLang="zh-TW" sz="3600" smtClean="0"/>
          </a:p>
        </p:txBody>
      </p:sp>
      <p:pic>
        <p:nvPicPr>
          <p:cNvPr id="5427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t="14386" r="943" b="14816"/>
          <a:stretch>
            <a:fillRect/>
          </a:stretch>
        </p:blipFill>
        <p:spPr bwMode="auto">
          <a:xfrm>
            <a:off x="685800" y="1447800"/>
            <a:ext cx="8153400" cy="4800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>
            <a:spLocks noChangeArrowheads="1"/>
          </p:cNvSpPr>
          <p:nvPr/>
        </p:nvSpPr>
        <p:spPr bwMode="auto">
          <a:xfrm>
            <a:off x="2987675" y="3933825"/>
            <a:ext cx="3887788" cy="830263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Clustered page table: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Several pages in one entry</a:t>
            </a:r>
            <a:endParaRPr lang="zh-TW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EB8B78-AB65-4F5E-85BF-C799BE2C0663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B90982-4898-4ABC-A068-EED205AB6871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6985000" cy="608013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Inverted Page Table</a:t>
            </a:r>
          </a:p>
        </p:txBody>
      </p:sp>
      <p:sp>
        <p:nvSpPr>
          <p:cNvPr id="27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502650" cy="54864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Each process has a page table, which may consist of </a:t>
            </a:r>
            <a:r>
              <a:rPr lang="en-US" altLang="zh-TW" sz="2800" b="1" smtClean="0">
                <a:solidFill>
                  <a:srgbClr val="FF0000"/>
                </a:solidFill>
              </a:rPr>
              <a:t>millions entries</a:t>
            </a:r>
            <a:r>
              <a:rPr lang="en-US" altLang="zh-TW" sz="2800" smtClean="0"/>
              <a:t>. This may consumes large amounts of physical memory.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Solution</a:t>
            </a:r>
            <a:r>
              <a:rPr lang="en-US" altLang="zh-TW" sz="2800" smtClean="0"/>
              <a:t>: inverted page table</a:t>
            </a:r>
            <a:endParaRPr lang="en-US" altLang="zh-TW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one entry for each frame, storing the virtual address of the page stored in it.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b="1" smtClean="0"/>
              <a:t>	</a:t>
            </a:r>
            <a:r>
              <a:rPr lang="en-US" altLang="zh-TW" b="1" smtClean="0">
                <a:solidFill>
                  <a:srgbClr val="FF0000"/>
                </a:solidFill>
              </a:rPr>
              <a:t>(process-id</a:t>
            </a:r>
            <a:r>
              <a:rPr lang="en-US" altLang="zh-TW" b="1" smtClean="0"/>
              <a:t>, page number)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A virtual address: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/>
              <a:t>	(process-id, page number, offset)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>
                <a:latin typeface="Wingdings" panose="05000000000000000000" pitchFamily="2" charset="2"/>
              </a:rPr>
              <a:t>J</a:t>
            </a:r>
            <a:r>
              <a:rPr lang="en-US" altLang="zh-TW" smtClean="0"/>
              <a:t>: </a:t>
            </a:r>
            <a:r>
              <a:rPr lang="en-US" altLang="zh-TW" smtClean="0">
                <a:solidFill>
                  <a:srgbClr val="FF0000"/>
                </a:solidFill>
              </a:rPr>
              <a:t>only one table is used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>
                <a:latin typeface="Wingdings" panose="05000000000000000000" pitchFamily="2" charset="2"/>
              </a:rPr>
              <a:t>L</a:t>
            </a:r>
            <a:r>
              <a:rPr lang="en-US" altLang="zh-TW" smtClean="0"/>
              <a:t>: </a:t>
            </a:r>
            <a:r>
              <a:rPr lang="en-US" altLang="zh-TW" smtClean="0">
                <a:solidFill>
                  <a:srgbClr val="FF0000"/>
                </a:solidFill>
              </a:rPr>
              <a:t>table searching time is larger</a:t>
            </a:r>
            <a:endParaRPr lang="en-US" altLang="zh-TW" b="1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b="1" smtClean="0">
                <a:solidFill>
                  <a:srgbClr val="FF0000"/>
                </a:solidFill>
              </a:rPr>
              <a:t>Solution</a:t>
            </a:r>
            <a:r>
              <a:rPr lang="en-US" altLang="zh-TW" smtClean="0"/>
              <a:t>: </a:t>
            </a:r>
            <a:r>
              <a:rPr lang="en-US" altLang="zh-TW" smtClean="0">
                <a:solidFill>
                  <a:srgbClr val="0000FF"/>
                </a:solidFill>
              </a:rPr>
              <a:t>hash + associative register (cache)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DA6DE-EB16-406A-9D19-0A9A60392A41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0F551C-CB01-4B45-AABB-C8D8CE7F224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/>
          </a:p>
        </p:txBody>
      </p:sp>
      <p:sp>
        <p:nvSpPr>
          <p:cNvPr id="56325" name="Rectangle 2"/>
          <p:cNvSpPr>
            <a:spLocks noChangeArrowheads="1"/>
          </p:cNvSpPr>
          <p:nvPr/>
        </p:nvSpPr>
        <p:spPr bwMode="auto">
          <a:xfrm>
            <a:off x="5380038" y="2187575"/>
            <a:ext cx="387350" cy="334963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26" name="Rectangle 3"/>
          <p:cNvSpPr>
            <a:spLocks noChangeArrowheads="1"/>
          </p:cNvSpPr>
          <p:nvPr/>
        </p:nvSpPr>
        <p:spPr bwMode="auto">
          <a:xfrm>
            <a:off x="3803650" y="4084638"/>
            <a:ext cx="952500" cy="3175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27" name="Rectangle 4"/>
          <p:cNvSpPr>
            <a:spLocks noChangeArrowheads="1"/>
          </p:cNvSpPr>
          <p:nvPr/>
        </p:nvSpPr>
        <p:spPr bwMode="auto">
          <a:xfrm>
            <a:off x="1781175" y="2222500"/>
            <a:ext cx="952500" cy="3175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28" name="Rectangle 5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32713" cy="773113"/>
          </a:xfrm>
        </p:spPr>
        <p:txBody>
          <a:bodyPr/>
          <a:lstStyle/>
          <a:p>
            <a:pPr eaLnBrk="1" hangingPunct="1"/>
            <a:r>
              <a:rPr lang="en-US" altLang="zh-TW" sz="3600" b="1" smtClean="0"/>
              <a:t>Inverted Page Table</a:t>
            </a:r>
          </a:p>
        </p:txBody>
      </p:sp>
      <p:sp>
        <p:nvSpPr>
          <p:cNvPr id="56329" name="Rectangle 6"/>
          <p:cNvSpPr>
            <a:spLocks noChangeArrowheads="1"/>
          </p:cNvSpPr>
          <p:nvPr/>
        </p:nvSpPr>
        <p:spPr bwMode="auto">
          <a:xfrm>
            <a:off x="6908800" y="896938"/>
            <a:ext cx="1098550" cy="415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1D391D"/>
                    </a:gs>
                    <a:gs pos="50000">
                      <a:srgbClr val="336633"/>
                    </a:gs>
                    <a:gs pos="100000">
                      <a:srgbClr val="1D391D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30" name="Rectangle 7"/>
          <p:cNvSpPr>
            <a:spLocks noChangeArrowheads="1"/>
          </p:cNvSpPr>
          <p:nvPr/>
        </p:nvSpPr>
        <p:spPr bwMode="auto">
          <a:xfrm>
            <a:off x="6894513" y="2782888"/>
            <a:ext cx="114617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physical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memory</a:t>
            </a:r>
          </a:p>
        </p:txBody>
      </p:sp>
      <p:sp>
        <p:nvSpPr>
          <p:cNvPr id="56331" name="Rectangle 8"/>
          <p:cNvSpPr>
            <a:spLocks noChangeArrowheads="1"/>
          </p:cNvSpPr>
          <p:nvPr/>
        </p:nvSpPr>
        <p:spPr bwMode="auto">
          <a:xfrm>
            <a:off x="695325" y="1939925"/>
            <a:ext cx="663575" cy="850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32" name="Rectangle 9"/>
          <p:cNvSpPr>
            <a:spLocks noChangeArrowheads="1"/>
          </p:cNvSpPr>
          <p:nvPr/>
        </p:nvSpPr>
        <p:spPr bwMode="auto">
          <a:xfrm>
            <a:off x="682625" y="2163763"/>
            <a:ext cx="7683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CPU</a:t>
            </a:r>
          </a:p>
        </p:txBody>
      </p:sp>
      <p:sp>
        <p:nvSpPr>
          <p:cNvPr id="56333" name="Line 10"/>
          <p:cNvSpPr>
            <a:spLocks noChangeShapeType="1"/>
          </p:cNvSpPr>
          <p:nvPr/>
        </p:nvSpPr>
        <p:spPr bwMode="auto">
          <a:xfrm>
            <a:off x="1379538" y="2346325"/>
            <a:ext cx="3413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34" name="Line 11"/>
          <p:cNvSpPr>
            <a:spLocks noChangeShapeType="1"/>
          </p:cNvSpPr>
          <p:nvPr/>
        </p:nvSpPr>
        <p:spPr bwMode="auto">
          <a:xfrm>
            <a:off x="6324600" y="2346325"/>
            <a:ext cx="568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35" name="Rectangle 12"/>
          <p:cNvSpPr>
            <a:spLocks noChangeArrowheads="1"/>
          </p:cNvSpPr>
          <p:nvPr/>
        </p:nvSpPr>
        <p:spPr bwMode="auto">
          <a:xfrm>
            <a:off x="1870075" y="1357313"/>
            <a:ext cx="10128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logical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address</a:t>
            </a:r>
          </a:p>
        </p:txBody>
      </p:sp>
      <p:sp>
        <p:nvSpPr>
          <p:cNvPr id="56336" name="Rectangle 13"/>
          <p:cNvSpPr>
            <a:spLocks noChangeArrowheads="1"/>
          </p:cNvSpPr>
          <p:nvPr/>
        </p:nvSpPr>
        <p:spPr bwMode="auto">
          <a:xfrm>
            <a:off x="5845175" y="1292225"/>
            <a:ext cx="1068388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physical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address</a:t>
            </a:r>
          </a:p>
        </p:txBody>
      </p:sp>
      <p:sp>
        <p:nvSpPr>
          <p:cNvPr id="56337" name="Line 14"/>
          <p:cNvSpPr>
            <a:spLocks noChangeShapeType="1"/>
          </p:cNvSpPr>
          <p:nvPr/>
        </p:nvSpPr>
        <p:spPr bwMode="auto">
          <a:xfrm>
            <a:off x="5859463" y="1741488"/>
            <a:ext cx="0" cy="4556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38" name="Rectangle 15"/>
          <p:cNvSpPr>
            <a:spLocks noChangeArrowheads="1"/>
          </p:cNvSpPr>
          <p:nvPr/>
        </p:nvSpPr>
        <p:spPr bwMode="auto">
          <a:xfrm>
            <a:off x="5373688" y="2184400"/>
            <a:ext cx="925512" cy="3413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39" name="Line 16"/>
          <p:cNvSpPr>
            <a:spLocks noChangeShapeType="1"/>
          </p:cNvSpPr>
          <p:nvPr/>
        </p:nvSpPr>
        <p:spPr bwMode="auto">
          <a:xfrm>
            <a:off x="5767388" y="2184400"/>
            <a:ext cx="0" cy="341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0" name="Rectangle 17"/>
          <p:cNvSpPr>
            <a:spLocks noChangeArrowheads="1"/>
          </p:cNvSpPr>
          <p:nvPr/>
        </p:nvSpPr>
        <p:spPr bwMode="auto">
          <a:xfrm>
            <a:off x="5332413" y="2182813"/>
            <a:ext cx="9636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 i       d</a:t>
            </a:r>
          </a:p>
        </p:txBody>
      </p:sp>
      <p:sp>
        <p:nvSpPr>
          <p:cNvPr id="56341" name="Line 18"/>
          <p:cNvSpPr>
            <a:spLocks noChangeShapeType="1"/>
          </p:cNvSpPr>
          <p:nvPr/>
        </p:nvSpPr>
        <p:spPr bwMode="auto">
          <a:xfrm flipV="1">
            <a:off x="2981325" y="1922463"/>
            <a:ext cx="0" cy="280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2" name="Line 19"/>
          <p:cNvSpPr>
            <a:spLocks noChangeShapeType="1"/>
          </p:cNvSpPr>
          <p:nvPr/>
        </p:nvSpPr>
        <p:spPr bwMode="auto">
          <a:xfrm flipH="1">
            <a:off x="2967038" y="1724025"/>
            <a:ext cx="2906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3" name="Line 20"/>
          <p:cNvSpPr>
            <a:spLocks noChangeShapeType="1"/>
          </p:cNvSpPr>
          <p:nvPr/>
        </p:nvSpPr>
        <p:spPr bwMode="auto">
          <a:xfrm>
            <a:off x="2981325" y="1722438"/>
            <a:ext cx="0" cy="436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4" name="Rectangle 21"/>
          <p:cNvSpPr>
            <a:spLocks noChangeArrowheads="1"/>
          </p:cNvSpPr>
          <p:nvPr/>
        </p:nvSpPr>
        <p:spPr bwMode="auto">
          <a:xfrm>
            <a:off x="3789363" y="3211513"/>
            <a:ext cx="939800" cy="20939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65075B"/>
                    </a:gs>
                    <a:gs pos="50000">
                      <a:srgbClr val="990B8A"/>
                    </a:gs>
                    <a:gs pos="100000">
                      <a:srgbClr val="65075B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6345" name="Line 22"/>
          <p:cNvSpPr>
            <a:spLocks noChangeShapeType="1"/>
          </p:cNvSpPr>
          <p:nvPr/>
        </p:nvSpPr>
        <p:spPr bwMode="auto">
          <a:xfrm>
            <a:off x="3789363" y="3503613"/>
            <a:ext cx="93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6" name="Line 23"/>
          <p:cNvSpPr>
            <a:spLocks noChangeShapeType="1"/>
          </p:cNvSpPr>
          <p:nvPr/>
        </p:nvSpPr>
        <p:spPr bwMode="auto">
          <a:xfrm>
            <a:off x="3783013" y="3798888"/>
            <a:ext cx="941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7" name="Line 24"/>
          <p:cNvSpPr>
            <a:spLocks noChangeShapeType="1"/>
          </p:cNvSpPr>
          <p:nvPr/>
        </p:nvSpPr>
        <p:spPr bwMode="auto">
          <a:xfrm>
            <a:off x="3794125" y="4094163"/>
            <a:ext cx="93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8" name="Line 25"/>
          <p:cNvSpPr>
            <a:spLocks noChangeShapeType="1"/>
          </p:cNvSpPr>
          <p:nvPr/>
        </p:nvSpPr>
        <p:spPr bwMode="auto">
          <a:xfrm>
            <a:off x="3789363" y="4391025"/>
            <a:ext cx="93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49" name="Line 26"/>
          <p:cNvSpPr>
            <a:spLocks noChangeShapeType="1"/>
          </p:cNvSpPr>
          <p:nvPr/>
        </p:nvSpPr>
        <p:spPr bwMode="auto">
          <a:xfrm>
            <a:off x="3783013" y="4686300"/>
            <a:ext cx="941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0" name="Line 27"/>
          <p:cNvSpPr>
            <a:spLocks noChangeShapeType="1"/>
          </p:cNvSpPr>
          <p:nvPr/>
        </p:nvSpPr>
        <p:spPr bwMode="auto">
          <a:xfrm>
            <a:off x="3794125" y="4999038"/>
            <a:ext cx="93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1" name="Line 28"/>
          <p:cNvSpPr>
            <a:spLocks noChangeShapeType="1"/>
          </p:cNvSpPr>
          <p:nvPr/>
        </p:nvSpPr>
        <p:spPr bwMode="auto">
          <a:xfrm>
            <a:off x="1981200" y="2570163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2" name="Line 29"/>
          <p:cNvSpPr>
            <a:spLocks noChangeShapeType="1"/>
          </p:cNvSpPr>
          <p:nvPr/>
        </p:nvSpPr>
        <p:spPr bwMode="auto">
          <a:xfrm>
            <a:off x="1993900" y="3259138"/>
            <a:ext cx="17589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3" name="Line 30"/>
          <p:cNvSpPr>
            <a:spLocks noChangeShapeType="1"/>
          </p:cNvSpPr>
          <p:nvPr/>
        </p:nvSpPr>
        <p:spPr bwMode="auto">
          <a:xfrm>
            <a:off x="4799013" y="4233863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4" name="Line 31"/>
          <p:cNvSpPr>
            <a:spLocks noChangeShapeType="1"/>
          </p:cNvSpPr>
          <p:nvPr/>
        </p:nvSpPr>
        <p:spPr bwMode="auto">
          <a:xfrm flipV="1">
            <a:off x="5583238" y="2536825"/>
            <a:ext cx="0" cy="1685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55" name="Rectangle 32"/>
          <p:cNvSpPr>
            <a:spLocks noChangeArrowheads="1"/>
          </p:cNvSpPr>
          <p:nvPr/>
        </p:nvSpPr>
        <p:spPr bwMode="auto">
          <a:xfrm>
            <a:off x="3863975" y="4073525"/>
            <a:ext cx="8651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pid   p</a:t>
            </a:r>
          </a:p>
        </p:txBody>
      </p:sp>
      <p:sp>
        <p:nvSpPr>
          <p:cNvPr id="56356" name="Rectangle 33"/>
          <p:cNvSpPr>
            <a:spLocks noChangeArrowheads="1"/>
          </p:cNvSpPr>
          <p:nvPr/>
        </p:nvSpPr>
        <p:spPr bwMode="auto">
          <a:xfrm>
            <a:off x="4962525" y="3492500"/>
            <a:ext cx="314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 i</a:t>
            </a:r>
          </a:p>
        </p:txBody>
      </p:sp>
      <p:sp>
        <p:nvSpPr>
          <p:cNvPr id="56357" name="Rectangle 34"/>
          <p:cNvSpPr>
            <a:spLocks noChangeArrowheads="1"/>
          </p:cNvSpPr>
          <p:nvPr/>
        </p:nvSpPr>
        <p:spPr bwMode="auto">
          <a:xfrm>
            <a:off x="3281363" y="5416550"/>
            <a:ext cx="22526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inverted page table</a:t>
            </a:r>
          </a:p>
        </p:txBody>
      </p:sp>
      <p:grpSp>
        <p:nvGrpSpPr>
          <p:cNvPr id="56358" name="Group 35"/>
          <p:cNvGrpSpPr>
            <a:grpSpLocks/>
          </p:cNvGrpSpPr>
          <p:nvPr/>
        </p:nvGrpSpPr>
        <p:grpSpPr bwMode="auto">
          <a:xfrm>
            <a:off x="1662113" y="2176463"/>
            <a:ext cx="1649412" cy="363537"/>
            <a:chOff x="1014" y="1682"/>
            <a:chExt cx="934" cy="229"/>
          </a:xfrm>
        </p:grpSpPr>
        <p:sp>
          <p:nvSpPr>
            <p:cNvPr id="56364" name="Rectangle 36"/>
            <p:cNvSpPr>
              <a:spLocks noChangeArrowheads="1"/>
            </p:cNvSpPr>
            <p:nvPr/>
          </p:nvSpPr>
          <p:spPr bwMode="auto">
            <a:xfrm>
              <a:off x="1080" y="1695"/>
              <a:ext cx="835" cy="21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6365" name="Line 37"/>
            <p:cNvSpPr>
              <a:spLocks noChangeShapeType="1"/>
            </p:cNvSpPr>
            <p:nvPr/>
          </p:nvSpPr>
          <p:spPr bwMode="auto">
            <a:xfrm>
              <a:off x="1619" y="1695"/>
              <a:ext cx="0" cy="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6" name="Rectangle 38"/>
            <p:cNvSpPr>
              <a:spLocks noChangeArrowheads="1"/>
            </p:cNvSpPr>
            <p:nvPr/>
          </p:nvSpPr>
          <p:spPr bwMode="auto">
            <a:xfrm>
              <a:off x="1014" y="1682"/>
              <a:ext cx="93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pid    p      d</a:t>
              </a:r>
            </a:p>
          </p:txBody>
        </p:sp>
        <p:sp>
          <p:nvSpPr>
            <p:cNvPr id="56367" name="Line 39"/>
            <p:cNvSpPr>
              <a:spLocks noChangeShapeType="1"/>
            </p:cNvSpPr>
            <p:nvPr/>
          </p:nvSpPr>
          <p:spPr bwMode="auto">
            <a:xfrm>
              <a:off x="1360" y="1694"/>
              <a:ext cx="0" cy="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56359" name="Line 40"/>
          <p:cNvSpPr>
            <a:spLocks noChangeShapeType="1"/>
          </p:cNvSpPr>
          <p:nvPr/>
        </p:nvSpPr>
        <p:spPr bwMode="auto">
          <a:xfrm flipH="1">
            <a:off x="1971675" y="2551113"/>
            <a:ext cx="433388" cy="476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60" name="Line 41"/>
          <p:cNvSpPr>
            <a:spLocks noChangeShapeType="1"/>
          </p:cNvSpPr>
          <p:nvPr/>
        </p:nvSpPr>
        <p:spPr bwMode="auto">
          <a:xfrm>
            <a:off x="3400425" y="3389313"/>
            <a:ext cx="0" cy="836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61" name="Text Box 42"/>
          <p:cNvSpPr txBox="1">
            <a:spLocks noChangeArrowheads="1"/>
          </p:cNvSpPr>
          <p:nvPr/>
        </p:nvSpPr>
        <p:spPr bwMode="auto">
          <a:xfrm>
            <a:off x="2716213" y="4354513"/>
            <a:ext cx="88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search</a:t>
            </a:r>
          </a:p>
        </p:txBody>
      </p:sp>
      <p:sp>
        <p:nvSpPr>
          <p:cNvPr id="56362" name="Freeform 43"/>
          <p:cNvSpPr>
            <a:spLocks/>
          </p:cNvSpPr>
          <p:nvPr/>
        </p:nvSpPr>
        <p:spPr bwMode="auto">
          <a:xfrm>
            <a:off x="4800600" y="3216275"/>
            <a:ext cx="223838" cy="995363"/>
          </a:xfrm>
          <a:custGeom>
            <a:avLst/>
            <a:gdLst>
              <a:gd name="T0" fmla="*/ 0 w 141"/>
              <a:gd name="T1" fmla="*/ 0 h 627"/>
              <a:gd name="T2" fmla="*/ 2147483647 w 141"/>
              <a:gd name="T3" fmla="*/ 2147483647 h 627"/>
              <a:gd name="T4" fmla="*/ 2147483647 w 141"/>
              <a:gd name="T5" fmla="*/ 2147483647 h 627"/>
              <a:gd name="T6" fmla="*/ 2147483647 w 141"/>
              <a:gd name="T7" fmla="*/ 2147483647 h 627"/>
              <a:gd name="T8" fmla="*/ 2147483647 w 141"/>
              <a:gd name="T9" fmla="*/ 2147483647 h 627"/>
              <a:gd name="T10" fmla="*/ 2147483647 w 141"/>
              <a:gd name="T11" fmla="*/ 2147483647 h 627"/>
              <a:gd name="T12" fmla="*/ 2147483647 w 141"/>
              <a:gd name="T13" fmla="*/ 2147483647 h 6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1" h="627">
                <a:moveTo>
                  <a:pt x="0" y="0"/>
                </a:moveTo>
                <a:cubicBezTo>
                  <a:pt x="46" y="15"/>
                  <a:pt x="65" y="21"/>
                  <a:pt x="100" y="54"/>
                </a:cubicBezTo>
                <a:cubicBezTo>
                  <a:pt x="117" y="106"/>
                  <a:pt x="93" y="158"/>
                  <a:pt x="81" y="209"/>
                </a:cubicBezTo>
                <a:cubicBezTo>
                  <a:pt x="89" y="288"/>
                  <a:pt x="72" y="306"/>
                  <a:pt x="136" y="327"/>
                </a:cubicBezTo>
                <a:cubicBezTo>
                  <a:pt x="107" y="413"/>
                  <a:pt x="141" y="522"/>
                  <a:pt x="100" y="590"/>
                </a:cubicBezTo>
                <a:cubicBezTo>
                  <a:pt x="86" y="614"/>
                  <a:pt x="59" y="616"/>
                  <a:pt x="36" y="627"/>
                </a:cubicBezTo>
                <a:lnTo>
                  <a:pt x="63" y="563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6363" name="Line 44"/>
          <p:cNvSpPr>
            <a:spLocks noChangeShapeType="1"/>
          </p:cNvSpPr>
          <p:nvPr/>
        </p:nvSpPr>
        <p:spPr bwMode="auto">
          <a:xfrm>
            <a:off x="4352925" y="4110038"/>
            <a:ext cx="0" cy="274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D03081-1B2B-4943-A50F-97FD94200B6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2F6451-8276-4FAD-841C-19529F34B363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solidFill>
                  <a:srgbClr val="FF0000"/>
                </a:solidFill>
              </a:rPr>
              <a:t>Segmentation</a:t>
            </a:r>
          </a:p>
        </p:txBody>
      </p:sp>
      <p:sp>
        <p:nvSpPr>
          <p:cNvPr id="5735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34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833563" algn="l"/>
              </a:tabLst>
            </a:pPr>
            <a:r>
              <a:rPr lang="en-US" altLang="zh-TW" sz="2800" smtClean="0"/>
              <a:t>Memory-management scheme that supports </a:t>
            </a:r>
            <a:r>
              <a:rPr lang="en-US" altLang="zh-TW" sz="2800" b="1" smtClean="0">
                <a:solidFill>
                  <a:srgbClr val="FF0000"/>
                </a:solidFill>
              </a:rPr>
              <a:t>user view of memory</a:t>
            </a:r>
            <a:r>
              <a:rPr lang="en-US" altLang="zh-TW" sz="2800" smtClean="0"/>
              <a:t>. </a:t>
            </a:r>
          </a:p>
          <a:p>
            <a:pPr eaLnBrk="1" hangingPunct="1">
              <a:lnSpc>
                <a:spcPct val="90000"/>
              </a:lnSpc>
              <a:tabLst>
                <a:tab pos="1833563" algn="l"/>
              </a:tabLst>
            </a:pPr>
            <a:r>
              <a:rPr lang="en-US" altLang="zh-TW" sz="2800" smtClean="0"/>
              <a:t>A program is a collection of segments.  A segment is a logical unit such as: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800" smtClean="0"/>
              <a:t>	</a:t>
            </a:r>
            <a:r>
              <a:rPr lang="en-US" altLang="zh-TW" sz="2000" smtClean="0"/>
              <a:t>	main program,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procedure,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function,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method,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object,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local variables, global variables,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common block,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stack,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3563" algn="l"/>
              </a:tabLst>
            </a:pPr>
            <a:r>
              <a:rPr lang="en-US" altLang="zh-TW" sz="2000" smtClean="0"/>
              <a:t>		symbol table,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4DBDF3-04FD-4CB8-BD2B-B3F86CDF8831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837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83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1940B4-5D5D-4751-850D-F35588471FB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User</a:t>
            </a:r>
            <a:r>
              <a:rPr lang="en-US" altLang="zh-TW" smtClean="0">
                <a:latin typeface="Helvetica" panose="020B0604020202020204" pitchFamily="34" charset="0"/>
              </a:rPr>
              <a:t>’</a:t>
            </a:r>
            <a:r>
              <a:rPr lang="en-US" altLang="zh-TW" smtClean="0"/>
              <a:t>s View of a Program</a:t>
            </a:r>
            <a:endParaRPr lang="en-US" altLang="zh-TW" sz="3600" smtClean="0"/>
          </a:p>
        </p:txBody>
      </p:sp>
      <p:pic>
        <p:nvPicPr>
          <p:cNvPr id="5837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0" t="1469" r="21819" b="1843"/>
          <a:stretch>
            <a:fillRect/>
          </a:stretch>
        </p:blipFill>
        <p:spPr bwMode="auto">
          <a:xfrm>
            <a:off x="1981200" y="1524000"/>
            <a:ext cx="5410200" cy="46482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2F149A-F39E-4BB5-8260-8F8AE9243974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5939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5939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738E23-A077-4CFB-84A7-AABF74E6BA42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TW" smtClean="0"/>
              <a:t>Logical View of Segmentation</a:t>
            </a:r>
          </a:p>
        </p:txBody>
      </p:sp>
      <p:sp>
        <p:nvSpPr>
          <p:cNvPr id="59398" name="Oval 3"/>
          <p:cNvSpPr>
            <a:spLocks noChangeArrowheads="1"/>
          </p:cNvSpPr>
          <p:nvPr/>
        </p:nvSpPr>
        <p:spPr bwMode="auto">
          <a:xfrm>
            <a:off x="1371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59399" name="Rectangle 4"/>
          <p:cNvSpPr>
            <a:spLocks noChangeArrowheads="1"/>
          </p:cNvSpPr>
          <p:nvPr/>
        </p:nvSpPr>
        <p:spPr bwMode="auto">
          <a:xfrm>
            <a:off x="1905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59400" name="Rectangle 5"/>
          <p:cNvSpPr>
            <a:spLocks noChangeArrowheads="1"/>
          </p:cNvSpPr>
          <p:nvPr/>
        </p:nvSpPr>
        <p:spPr bwMode="auto">
          <a:xfrm>
            <a:off x="1752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59401" name="Rectangle 6"/>
          <p:cNvSpPr>
            <a:spLocks noChangeArrowheads="1"/>
          </p:cNvSpPr>
          <p:nvPr/>
        </p:nvSpPr>
        <p:spPr bwMode="auto">
          <a:xfrm>
            <a:off x="3200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59402" name="Rectangle 7"/>
          <p:cNvSpPr>
            <a:spLocks noChangeArrowheads="1"/>
          </p:cNvSpPr>
          <p:nvPr/>
        </p:nvSpPr>
        <p:spPr bwMode="auto">
          <a:xfrm>
            <a:off x="3124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4</a:t>
            </a:r>
          </a:p>
        </p:txBody>
      </p:sp>
      <p:grpSp>
        <p:nvGrpSpPr>
          <p:cNvPr id="59403" name="Group 8"/>
          <p:cNvGrpSpPr>
            <a:grpSpLocks/>
          </p:cNvGrpSpPr>
          <p:nvPr/>
        </p:nvGrpSpPr>
        <p:grpSpPr bwMode="auto"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59406" name="Group 9"/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59417" name="Rectangle 10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59418" name="Line 11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59407" name="Group 12"/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59415" name="Rectangle 13"/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en-US" sz="2400"/>
              </a:p>
            </p:txBody>
          </p:sp>
          <p:sp>
            <p:nvSpPr>
              <p:cNvPr id="59416" name="Line 14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sp>
          <p:nvSpPr>
            <p:cNvPr id="59408" name="Text Box 15"/>
            <p:cNvSpPr txBox="1">
              <a:spLocks noChangeArrowheads="1"/>
            </p:cNvSpPr>
            <p:nvPr/>
          </p:nvSpPr>
          <p:spPr bwMode="auto">
            <a:xfrm>
              <a:off x="4126" y="113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59409" name="Text Box 16"/>
            <p:cNvSpPr txBox="1">
              <a:spLocks noChangeArrowheads="1"/>
            </p:cNvSpPr>
            <p:nvPr/>
          </p:nvSpPr>
          <p:spPr bwMode="auto">
            <a:xfrm>
              <a:off x="4128" y="144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59410" name="Rectangle 17"/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9411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59412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9413" name="Text Box 20"/>
            <p:cNvSpPr txBox="1">
              <a:spLocks noChangeArrowheads="1"/>
            </p:cNvSpPr>
            <p:nvPr/>
          </p:nvSpPr>
          <p:spPr bwMode="auto">
            <a:xfrm>
              <a:off x="4128" y="24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59414" name="Text Box 21"/>
            <p:cNvSpPr txBox="1">
              <a:spLocks noChangeArrowheads="1"/>
            </p:cNvSpPr>
            <p:nvPr/>
          </p:nvSpPr>
          <p:spPr bwMode="auto">
            <a:xfrm>
              <a:off x="4128" y="288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TW" sz="18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9404" name="Text Box 22"/>
          <p:cNvSpPr txBox="1">
            <a:spLocks noChangeArrowheads="1"/>
          </p:cNvSpPr>
          <p:nvPr/>
        </p:nvSpPr>
        <p:spPr bwMode="auto">
          <a:xfrm>
            <a:off x="2022475" y="5256213"/>
            <a:ext cx="1365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user space </a:t>
            </a:r>
          </a:p>
        </p:txBody>
      </p:sp>
      <p:sp>
        <p:nvSpPr>
          <p:cNvPr id="59405" name="Text Box 23"/>
          <p:cNvSpPr txBox="1">
            <a:spLocks noChangeArrowheads="1"/>
          </p:cNvSpPr>
          <p:nvPr/>
        </p:nvSpPr>
        <p:spPr bwMode="auto">
          <a:xfrm>
            <a:off x="4883150" y="5256213"/>
            <a:ext cx="2571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1800">
                <a:latin typeface="Helvetica" panose="020B0604020202020204" pitchFamily="34" charset="0"/>
              </a:rPr>
              <a:t>physical memory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1074D66-16C5-4E46-AF75-BC36840865B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04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04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DDA659-ED74-4CA9-B40E-F2D87FAD0FD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3250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Segmentation Architecture (1)</a:t>
            </a:r>
          </a:p>
        </p:txBody>
      </p:sp>
      <p:sp>
        <p:nvSpPr>
          <p:cNvPr id="6042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56932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830388" algn="l"/>
                <a:tab pos="2857500" algn="ctr"/>
              </a:tabLst>
            </a:pPr>
            <a:r>
              <a:rPr lang="en-US" altLang="zh-TW" sz="2200" smtClean="0"/>
              <a:t>Logical address consists of a two tuple: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0388" algn="l"/>
                <a:tab pos="2857500" algn="ctr"/>
              </a:tabLst>
            </a:pPr>
            <a:r>
              <a:rPr lang="en-US" altLang="zh-TW" sz="2200" smtClean="0"/>
              <a:t>		</a:t>
            </a:r>
            <a:r>
              <a:rPr lang="en-US" altLang="zh-TW" sz="2200" b="1" smtClean="0">
                <a:solidFill>
                  <a:srgbClr val="FF0000"/>
                </a:solidFill>
              </a:rPr>
              <a:t>&lt;segment-number, offset&gt;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1830388" algn="l"/>
                <a:tab pos="2857500" algn="ctr"/>
              </a:tabLst>
            </a:pPr>
            <a:r>
              <a:rPr lang="en-US" altLang="zh-TW" sz="2200" b="1" smtClean="0">
                <a:solidFill>
                  <a:srgbClr val="FF0000"/>
                </a:solidFill>
              </a:rPr>
              <a:t>Segment table</a:t>
            </a:r>
            <a:r>
              <a:rPr lang="en-US" altLang="zh-TW" sz="2200" smtClean="0"/>
              <a:t> </a:t>
            </a:r>
            <a:r>
              <a:rPr lang="en-US" altLang="zh-TW" sz="2200" smtClean="0">
                <a:latin typeface="Helvetica" panose="020B0604020202020204" pitchFamily="34" charset="0"/>
              </a:rPr>
              <a:t>–</a:t>
            </a:r>
            <a:r>
              <a:rPr lang="en-US" altLang="zh-TW" sz="2200" smtClean="0"/>
              <a:t> maps two-dimensional physical addresses; each table entry has:</a:t>
            </a:r>
            <a:endParaRPr lang="en-US" altLang="zh-TW" sz="2200" b="1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tabLst>
                <a:tab pos="1830388" algn="l"/>
                <a:tab pos="2857500" algn="ctr"/>
              </a:tabLst>
            </a:pPr>
            <a:r>
              <a:rPr lang="en-US" altLang="zh-TW" sz="2200" b="1" smtClean="0">
                <a:solidFill>
                  <a:srgbClr val="FF0000"/>
                </a:solidFill>
              </a:rPr>
              <a:t>base</a:t>
            </a:r>
            <a:r>
              <a:rPr lang="en-US" altLang="zh-TW" sz="2200" smtClean="0"/>
              <a:t> </a:t>
            </a:r>
            <a:r>
              <a:rPr lang="en-US" altLang="zh-TW" sz="2200" smtClean="0">
                <a:latin typeface="Helvetica" panose="020B0604020202020204" pitchFamily="34" charset="0"/>
              </a:rPr>
              <a:t>–</a:t>
            </a:r>
            <a:r>
              <a:rPr lang="en-US" altLang="zh-TW" sz="2200" smtClean="0"/>
              <a:t> contains the starting physical address where the segments reside in memory.</a:t>
            </a:r>
          </a:p>
          <a:p>
            <a:pPr lvl="1" eaLnBrk="1" hangingPunct="1">
              <a:lnSpc>
                <a:spcPct val="90000"/>
              </a:lnSpc>
              <a:tabLst>
                <a:tab pos="1830388" algn="l"/>
                <a:tab pos="2857500" algn="ctr"/>
              </a:tabLst>
            </a:pPr>
            <a:r>
              <a:rPr lang="en-US" altLang="zh-TW" sz="2200" b="1" smtClean="0">
                <a:solidFill>
                  <a:srgbClr val="FF0000"/>
                </a:solidFill>
              </a:rPr>
              <a:t>limit</a:t>
            </a:r>
            <a:r>
              <a:rPr lang="en-US" altLang="zh-TW" sz="2200" smtClean="0"/>
              <a:t> </a:t>
            </a:r>
            <a:r>
              <a:rPr lang="en-US" altLang="zh-TW" sz="2200" smtClean="0">
                <a:latin typeface="Helvetica" panose="020B0604020202020204" pitchFamily="34" charset="0"/>
              </a:rPr>
              <a:t>–</a:t>
            </a:r>
            <a:r>
              <a:rPr lang="en-US" altLang="zh-TW" sz="2200" smtClean="0"/>
              <a:t> specifies the length of the segment.</a:t>
            </a:r>
            <a:endParaRPr lang="en-US" altLang="zh-TW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1830388" algn="l"/>
                <a:tab pos="2857500" algn="ctr"/>
              </a:tabLst>
            </a:pPr>
            <a:r>
              <a:rPr lang="en-US" altLang="zh-TW" sz="2200" smtClean="0">
                <a:solidFill>
                  <a:srgbClr val="FF0000"/>
                </a:solidFill>
              </a:rPr>
              <a:t>Segment-table base register</a:t>
            </a:r>
            <a:r>
              <a:rPr lang="en-US" altLang="zh-TW" sz="2200" i="1" smtClean="0"/>
              <a:t> </a:t>
            </a:r>
            <a:r>
              <a:rPr lang="en-US" altLang="zh-TW" sz="2200" smtClean="0"/>
              <a:t>(</a:t>
            </a:r>
            <a:r>
              <a:rPr lang="en-US" altLang="zh-TW" sz="2200" i="1" smtClean="0"/>
              <a:t>STBR</a:t>
            </a:r>
            <a:r>
              <a:rPr lang="en-US" altLang="zh-TW" sz="2200" smtClean="0"/>
              <a:t>) points to the segment table</a:t>
            </a:r>
            <a:r>
              <a:rPr lang="en-US" altLang="zh-TW" sz="2200" smtClean="0">
                <a:latin typeface="Helvetica" panose="020B0604020202020204" pitchFamily="34" charset="0"/>
              </a:rPr>
              <a:t>’</a:t>
            </a:r>
            <a:r>
              <a:rPr lang="en-US" altLang="zh-TW" sz="2200" smtClean="0"/>
              <a:t>s location in memory.</a:t>
            </a:r>
            <a:endParaRPr lang="en-US" altLang="zh-TW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tabLst>
                <a:tab pos="1830388" algn="l"/>
                <a:tab pos="2857500" algn="ctr"/>
              </a:tabLst>
            </a:pPr>
            <a:r>
              <a:rPr lang="en-US" altLang="zh-TW" sz="2200" smtClean="0">
                <a:solidFill>
                  <a:srgbClr val="FF0000"/>
                </a:solidFill>
              </a:rPr>
              <a:t>Segment-table length register</a:t>
            </a:r>
            <a:r>
              <a:rPr lang="en-US" altLang="zh-TW" sz="2200" i="1" smtClean="0"/>
              <a:t> </a:t>
            </a:r>
            <a:r>
              <a:rPr lang="en-US" altLang="zh-TW" sz="2200" smtClean="0"/>
              <a:t>(</a:t>
            </a:r>
            <a:r>
              <a:rPr lang="en-US" altLang="zh-TW" sz="2200" i="1" smtClean="0"/>
              <a:t>STLR</a:t>
            </a:r>
            <a:r>
              <a:rPr lang="en-US" altLang="zh-TW" sz="2200" smtClean="0"/>
              <a:t>) indicates number of segments used by a program;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830388" algn="l"/>
                <a:tab pos="2857500" algn="ctr"/>
              </a:tabLst>
            </a:pPr>
            <a:r>
              <a:rPr lang="en-US" altLang="zh-TW" sz="2200" smtClean="0"/>
              <a:t>	      segment number </a:t>
            </a:r>
            <a:r>
              <a:rPr lang="en-US" altLang="zh-TW" sz="2200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200" smtClean="0">
                <a:solidFill>
                  <a:srgbClr val="FF0000"/>
                </a:solidFill>
              </a:rPr>
              <a:t> is legal if </a:t>
            </a:r>
            <a:r>
              <a:rPr lang="en-US" altLang="zh-TW" sz="2200" i="1" smtClean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TW" sz="2200" smtClean="0">
                <a:solidFill>
                  <a:srgbClr val="FF0000"/>
                </a:solidFill>
              </a:rPr>
              <a:t> &lt; STLR</a:t>
            </a:r>
            <a:r>
              <a:rPr lang="en-US" altLang="zh-TW" sz="22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14A8C2-B6DE-4F5F-80D5-F8B733FDB3BD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DEB055C-5D2B-4414-824F-19DF897B4FB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Segmentation Architecture (2)</a:t>
            </a:r>
          </a:p>
        </p:txBody>
      </p:sp>
      <p:sp>
        <p:nvSpPr>
          <p:cNvPr id="6144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077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Relocation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dynamic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by segment table </a:t>
            </a:r>
            <a:br>
              <a:rPr lang="en-US" altLang="zh-TW" sz="2400" smtClean="0"/>
            </a:br>
            <a:endParaRPr lang="en-US" altLang="zh-TW" sz="2400" b="1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0000"/>
                </a:solidFill>
              </a:rPr>
              <a:t>Sharing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shared segments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same segment number </a:t>
            </a:r>
            <a:br>
              <a:rPr lang="en-US" altLang="zh-TW" sz="2400" smtClean="0"/>
            </a:br>
            <a:endParaRPr lang="en-US" altLang="zh-TW" sz="24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FF0000"/>
                </a:solidFill>
              </a:rPr>
              <a:t>Allocation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first fit/best fit</a:t>
            </a:r>
            <a:endParaRPr lang="en-US" altLang="zh-TW" sz="240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external fragmentation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4D72E4-F3F8-4DDB-B911-1B4CF07A8916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246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246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A9DF11-E79E-45DD-BFAE-9A09D03AB78E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Segmentation Hardware</a:t>
            </a:r>
            <a:endParaRPr lang="en-US" altLang="zh-TW" sz="3600" smtClean="0"/>
          </a:p>
        </p:txBody>
      </p:sp>
      <p:pic>
        <p:nvPicPr>
          <p:cNvPr id="6247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t="5009" r="1572" b="4826"/>
          <a:stretch>
            <a:fillRect/>
          </a:stretch>
        </p:blipFill>
        <p:spPr bwMode="auto">
          <a:xfrm>
            <a:off x="555625" y="1341438"/>
            <a:ext cx="8077200" cy="471487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471" name="動作按鈕: 上一項 1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16938" y="692150"/>
            <a:ext cx="431800" cy="433388"/>
          </a:xfrm>
          <a:prstGeom prst="actionButtonBackPrevious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2B5B70-643A-44FD-B8D3-4DCF282033C8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349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349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8F623A-DAEC-44DC-BAFD-BABDB4497019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mtClean="0"/>
              <a:t>Example of Segmentation</a:t>
            </a:r>
            <a:endParaRPr lang="en-US" altLang="zh-TW" sz="3600" smtClean="0"/>
          </a:p>
        </p:txBody>
      </p:sp>
      <p:pic>
        <p:nvPicPr>
          <p:cNvPr id="6349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t="1547" r="9166" b="1581"/>
          <a:stretch>
            <a:fillRect/>
          </a:stretch>
        </p:blipFill>
        <p:spPr bwMode="auto">
          <a:xfrm>
            <a:off x="755650" y="1052513"/>
            <a:ext cx="7696200" cy="51911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198438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Oracle SPARC Solaris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692150"/>
            <a:ext cx="8569325" cy="5761038"/>
          </a:xfrm>
        </p:spPr>
        <p:txBody>
          <a:bodyPr/>
          <a:lstStyle/>
          <a:p>
            <a:r>
              <a:rPr lang="en-US" altLang="en-US" sz="2400" dirty="0" smtClean="0"/>
              <a:t>Solaris running on the SPARC CPU is a </a:t>
            </a:r>
            <a:r>
              <a:rPr lang="en-US" altLang="en-US" sz="2400" dirty="0" smtClean="0">
                <a:solidFill>
                  <a:srgbClr val="FF0000"/>
                </a:solidFill>
              </a:rPr>
              <a:t>fully 64-bit OS </a:t>
            </a:r>
            <a:r>
              <a:rPr lang="en-US" altLang="en-US" sz="2400" dirty="0" smtClean="0"/>
              <a:t>and as such has to solve the problem of virtual memory without using up all of its physical memory by keeping </a:t>
            </a:r>
            <a:r>
              <a:rPr lang="en-US" altLang="en-US" sz="2400" dirty="0" smtClean="0">
                <a:solidFill>
                  <a:srgbClr val="0000FF"/>
                </a:solidFill>
              </a:rPr>
              <a:t>multiple levels of page tables</a:t>
            </a:r>
            <a:r>
              <a:rPr lang="en-US" altLang="en-US" sz="2400" dirty="0" smtClean="0"/>
              <a:t>.</a:t>
            </a:r>
          </a:p>
          <a:p>
            <a:r>
              <a:rPr lang="en-US" altLang="en-US" sz="2400" dirty="0" smtClean="0">
                <a:solidFill>
                  <a:srgbClr val="FF0000"/>
                </a:solidFill>
              </a:rPr>
              <a:t>Efficiency: using multiple (two) hashed page tables </a:t>
            </a:r>
          </a:p>
          <a:p>
            <a:pPr lvl="1"/>
            <a:r>
              <a:rPr lang="en-US" altLang="en-US" sz="2400" dirty="0" smtClean="0"/>
              <a:t>One </a:t>
            </a:r>
            <a:r>
              <a:rPr lang="en-US" altLang="en-US" sz="2400" dirty="0" smtClean="0">
                <a:solidFill>
                  <a:srgbClr val="FF0000"/>
                </a:solidFill>
              </a:rPr>
              <a:t>kernel</a:t>
            </a:r>
            <a:r>
              <a:rPr lang="en-US" altLang="en-US" sz="2400" dirty="0" smtClean="0"/>
              <a:t> and one for </a:t>
            </a:r>
            <a:r>
              <a:rPr lang="en-US" altLang="en-US" sz="2400" dirty="0" smtClean="0">
                <a:solidFill>
                  <a:srgbClr val="FF0000"/>
                </a:solidFill>
              </a:rPr>
              <a:t>all user </a:t>
            </a:r>
            <a:r>
              <a:rPr lang="en-US" altLang="en-US" sz="2400" dirty="0" smtClean="0"/>
              <a:t>processes</a:t>
            </a:r>
          </a:p>
          <a:p>
            <a:pPr lvl="1"/>
            <a:r>
              <a:rPr lang="en-US" altLang="en-US" sz="2400" dirty="0" smtClean="0"/>
              <a:t>Each maps memory addresses from virtual to physical memory</a:t>
            </a:r>
          </a:p>
          <a:p>
            <a:pPr lvl="1"/>
            <a:r>
              <a:rPr lang="en-US" altLang="en-US" sz="2400" dirty="0" smtClean="0"/>
              <a:t>Each entry represents a </a:t>
            </a:r>
            <a:r>
              <a:rPr lang="en-US" altLang="en-US" sz="2400" dirty="0" smtClean="0">
                <a:solidFill>
                  <a:srgbClr val="FF0000"/>
                </a:solidFill>
              </a:rPr>
              <a:t>contiguous area </a:t>
            </a:r>
            <a:r>
              <a:rPr lang="en-US" altLang="en-US" sz="2400" dirty="0" smtClean="0"/>
              <a:t>of mapped virtual memory,</a:t>
            </a:r>
          </a:p>
          <a:p>
            <a:pPr lvl="2"/>
            <a:r>
              <a:rPr lang="en-US" altLang="en-US" dirty="0" smtClean="0"/>
              <a:t>More efficient than having a separate hash-table entry for each page</a:t>
            </a:r>
          </a:p>
          <a:p>
            <a:pPr lvl="1"/>
            <a:r>
              <a:rPr lang="en-US" altLang="en-US" sz="2400" dirty="0" smtClean="0"/>
              <a:t>Each entry has  base address and  </a:t>
            </a:r>
            <a:r>
              <a:rPr lang="en-US" altLang="en-US" sz="2400" dirty="0" smtClean="0">
                <a:solidFill>
                  <a:srgbClr val="0000FF"/>
                </a:solidFill>
              </a:rPr>
              <a:t>span </a:t>
            </a:r>
            <a:r>
              <a:rPr lang="en-US" altLang="en-US" sz="2400" dirty="0" smtClean="0"/>
              <a:t>(indicating </a:t>
            </a:r>
            <a:r>
              <a:rPr lang="en-US" altLang="en-US" sz="2400" dirty="0" smtClean="0">
                <a:solidFill>
                  <a:srgbClr val="0000FF"/>
                </a:solidFill>
              </a:rPr>
              <a:t>the number of pages</a:t>
            </a:r>
            <a:r>
              <a:rPr lang="en-US" altLang="en-US" sz="2400" dirty="0" smtClean="0"/>
              <a:t> the entry represents)</a:t>
            </a:r>
          </a:p>
          <a:p>
            <a:endParaRPr lang="en-US" altLang="en-US" sz="1200" dirty="0" smtClean="0"/>
          </a:p>
        </p:txBody>
      </p:sp>
      <p:sp>
        <p:nvSpPr>
          <p:cNvPr id="6451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7D7B08-A2B6-479B-9AB6-BB8B085707C0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451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451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F6DB37-9E65-4892-8D87-69D0D4DE61E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98438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Oracle SPARC Solaris</a:t>
            </a:r>
          </a:p>
        </p:txBody>
      </p:sp>
      <p:sp>
        <p:nvSpPr>
          <p:cNvPr id="64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1520" y="692150"/>
            <a:ext cx="8784976" cy="5616575"/>
          </a:xfrm>
        </p:spPr>
        <p:txBody>
          <a:bodyPr/>
          <a:lstStyle/>
          <a:p>
            <a:r>
              <a:rPr lang="en-US" altLang="en-US" sz="2800" dirty="0" smtClean="0"/>
              <a:t>TLB holds </a:t>
            </a:r>
            <a:r>
              <a:rPr lang="en-US" altLang="en-US" sz="2800" dirty="0" smtClean="0">
                <a:solidFill>
                  <a:srgbClr val="FF0000"/>
                </a:solidFill>
              </a:rPr>
              <a:t>translation table entries </a:t>
            </a:r>
            <a:r>
              <a:rPr lang="en-US" altLang="en-US" sz="2800" dirty="0" smtClean="0"/>
              <a:t>(</a:t>
            </a:r>
            <a:r>
              <a:rPr lang="en-US" altLang="en-US" sz="2800" dirty="0" smtClean="0">
                <a:solidFill>
                  <a:srgbClr val="FF0000"/>
                </a:solidFill>
              </a:rPr>
              <a:t>TTEs</a:t>
            </a:r>
            <a:r>
              <a:rPr lang="en-US" altLang="en-US" sz="2800" dirty="0" smtClean="0"/>
              <a:t>) for fast hardware lookups</a:t>
            </a:r>
          </a:p>
          <a:p>
            <a:pPr lvl="1"/>
            <a:r>
              <a:rPr lang="en-US" altLang="en-US" sz="2400" dirty="0" smtClean="0"/>
              <a:t>A cache of TTEs reside in a </a:t>
            </a:r>
            <a:r>
              <a:rPr lang="en-US" altLang="en-US" sz="2400" dirty="0" smtClean="0">
                <a:solidFill>
                  <a:srgbClr val="0000FF"/>
                </a:solidFill>
              </a:rPr>
              <a:t>translation storage buffer (TSB)</a:t>
            </a:r>
          </a:p>
          <a:p>
            <a:pPr lvl="2"/>
            <a:r>
              <a:rPr lang="en-US" altLang="en-US" sz="2000" dirty="0" smtClean="0"/>
              <a:t>Includes an entry per </a:t>
            </a:r>
            <a:r>
              <a:rPr lang="en-US" altLang="en-US" sz="2000" dirty="0" smtClean="0">
                <a:solidFill>
                  <a:srgbClr val="FF0000"/>
                </a:solidFill>
              </a:rPr>
              <a:t>recently accessed page</a:t>
            </a:r>
          </a:p>
          <a:p>
            <a:r>
              <a:rPr lang="en-US" altLang="en-US" sz="2800" dirty="0" smtClean="0"/>
              <a:t>Virtual address reference causes </a:t>
            </a:r>
            <a:r>
              <a:rPr lang="en-US" alt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TLB search</a:t>
            </a:r>
            <a:r>
              <a:rPr lang="en-US" altLang="en-US" sz="2800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 panose="05020102010507070707" pitchFamily="18" charset="2"/>
              </a:rPr>
              <a:t></a:t>
            </a:r>
            <a:r>
              <a:rPr lang="en-US" altLang="en-US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en-US" altLang="en-US" sz="2400" dirty="0" smtClean="0"/>
              <a:t>If miss, </a:t>
            </a:r>
            <a:r>
              <a:rPr lang="en-US" altLang="en-US" sz="2400" dirty="0" smtClean="0">
                <a:solidFill>
                  <a:srgbClr val="FF0000"/>
                </a:solidFill>
              </a:rPr>
              <a:t>hardware walks </a:t>
            </a:r>
            <a:r>
              <a:rPr lang="en-US" altLang="en-US" sz="2400" dirty="0"/>
              <a:t>the</a:t>
            </a:r>
            <a:r>
              <a:rPr lang="en-US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en-US" sz="2400" dirty="0" smtClean="0">
                <a:solidFill>
                  <a:srgbClr val="0000FF"/>
                </a:solidFill>
              </a:rPr>
              <a:t>in-memory TSB</a:t>
            </a:r>
            <a:r>
              <a:rPr lang="en-US" altLang="en-US" sz="2400" baseline="30000" dirty="0" smtClean="0">
                <a:solidFill>
                  <a:schemeClr val="tx2">
                    <a:lumMod val="60000"/>
                    <a:lumOff val="40000"/>
                  </a:schemeClr>
                </a:solidFill>
                <a:sym typeface="Wingdings 2" panose="05020102010507070707" pitchFamily="18" charset="2"/>
              </a:rPr>
              <a:t></a:t>
            </a:r>
            <a:r>
              <a:rPr lang="en-US" altLang="en-US" sz="2400" dirty="0" smtClean="0">
                <a:solidFill>
                  <a:srgbClr val="0000FF"/>
                </a:solidFill>
              </a:rPr>
              <a:t> </a:t>
            </a:r>
            <a:r>
              <a:rPr lang="en-US" altLang="en-US" sz="2400" dirty="0" smtClean="0"/>
              <a:t>looking for the TTE corresponding to the address</a:t>
            </a:r>
          </a:p>
          <a:p>
            <a:pPr lvl="2"/>
            <a:r>
              <a:rPr lang="en-US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 match </a:t>
            </a:r>
            <a:r>
              <a:rPr lang="en-US" altLang="en-US" sz="2000" dirty="0" smtClean="0"/>
              <a:t>found, the CPU </a:t>
            </a:r>
            <a:r>
              <a:rPr lang="en-US" altLang="en-US" sz="2000" dirty="0" smtClean="0">
                <a:solidFill>
                  <a:srgbClr val="0000FF"/>
                </a:solidFill>
              </a:rPr>
              <a:t>copies the TSB entry into the TLB</a:t>
            </a:r>
            <a:r>
              <a:rPr lang="en-US" altLang="en-US" sz="2000" dirty="0" smtClean="0"/>
              <a:t> and translation completes</a:t>
            </a:r>
          </a:p>
          <a:p>
            <a:pPr lvl="2"/>
            <a:r>
              <a:rPr lang="en-US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 no match </a:t>
            </a:r>
            <a:r>
              <a:rPr lang="en-US" altLang="en-US" sz="2000" dirty="0" smtClean="0"/>
              <a:t>found, kernel interrupted to </a:t>
            </a:r>
            <a:r>
              <a:rPr lang="en-US" altLang="en-US" sz="2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search the </a:t>
            </a:r>
            <a:r>
              <a:rPr lang="en-US" altLang="en-US" sz="2000" dirty="0" smtClean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hash table</a:t>
            </a:r>
            <a:r>
              <a:rPr lang="en-US" altLang="en-US" sz="2000" baseline="30000" dirty="0" smtClean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sym typeface="Wingdings 2" panose="05020102010507070707" pitchFamily="18" charset="2"/>
              </a:rPr>
              <a:t></a:t>
            </a:r>
            <a:endParaRPr lang="en-US" altLang="en-US" sz="2000" baseline="30000" dirty="0" smtClean="0">
              <a:solidFill>
                <a:srgbClr val="00B050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lvl="2"/>
            <a:r>
              <a:rPr lang="en-US" altLang="en-US" sz="2200" dirty="0" smtClean="0"/>
              <a:t>The kernel then </a:t>
            </a:r>
            <a:r>
              <a:rPr lang="en-US" altLang="en-US" sz="2200" dirty="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creates a TTE </a:t>
            </a:r>
            <a:r>
              <a:rPr lang="en-US" altLang="en-US" sz="2200" dirty="0" smtClean="0"/>
              <a:t>from the appropriate hash table and </a:t>
            </a:r>
            <a:r>
              <a:rPr lang="en-US" altLang="en-US" sz="2200" dirty="0" smtClean="0">
                <a:solidFill>
                  <a:srgbClr val="0000FF"/>
                </a:solidFill>
              </a:rPr>
              <a:t>stores it in the TSB</a:t>
            </a:r>
            <a:r>
              <a:rPr lang="en-US" altLang="en-US" sz="2200" dirty="0" smtClean="0"/>
              <a:t>, Interrupt handler returns control to the MMU, which completes the address translation. </a:t>
            </a:r>
          </a:p>
          <a:p>
            <a:endParaRPr lang="en-US" altLang="en-US" dirty="0" smtClean="0"/>
          </a:p>
        </p:txBody>
      </p:sp>
      <p:sp>
        <p:nvSpPr>
          <p:cNvPr id="6554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8215A7A-D510-41D3-BCFE-8C9B06D4B40E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554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554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C7D9E2-5FEE-43D5-8FF0-01D950F3D44A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AB1BE6-344A-4CAF-87D2-7240DF6D8EBE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65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65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3BE5B0C-8302-4244-8302-6D003C91120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40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The Intel Pentium:</a:t>
            </a:r>
            <a:r>
              <a:rPr lang="zh-TW" altLang="en-US" sz="4000" smtClean="0"/>
              <a:t> </a:t>
            </a:r>
            <a:r>
              <a:rPr lang="en-US" altLang="zh-TW" sz="4000" smtClean="0"/>
              <a:t>IA-32</a:t>
            </a:r>
          </a:p>
        </p:txBody>
      </p:sp>
      <p:sp>
        <p:nvSpPr>
          <p:cNvPr id="665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713787" cy="5472112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Supports both </a:t>
            </a:r>
            <a:r>
              <a:rPr lang="en-US" altLang="zh-TW" sz="2800" smtClean="0">
                <a:solidFill>
                  <a:srgbClr val="0000FF"/>
                </a:solidFill>
              </a:rPr>
              <a:t>segmentation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FF0000"/>
                </a:solidFill>
              </a:rPr>
              <a:t>segmentation with paging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smtClean="0"/>
              <a:t>CPU generates </a:t>
            </a:r>
            <a:r>
              <a:rPr lang="en-US" altLang="zh-TW" sz="2800" smtClean="0">
                <a:solidFill>
                  <a:srgbClr val="FF0000"/>
                </a:solidFill>
              </a:rPr>
              <a:t>logical address</a:t>
            </a:r>
          </a:p>
          <a:p>
            <a:pPr lvl="1" eaLnBrk="1" hangingPunct="1"/>
            <a:r>
              <a:rPr lang="en-US" altLang="zh-TW" sz="2400" smtClean="0"/>
              <a:t>Given to </a:t>
            </a:r>
            <a:r>
              <a:rPr lang="en-US" altLang="zh-TW" sz="2400" smtClean="0">
                <a:solidFill>
                  <a:srgbClr val="0000FF"/>
                </a:solidFill>
              </a:rPr>
              <a:t>segmentation unit</a:t>
            </a:r>
          </a:p>
          <a:p>
            <a:pPr lvl="2" eaLnBrk="1" hangingPunct="1"/>
            <a:r>
              <a:rPr lang="en-US" altLang="zh-TW" sz="2000" smtClean="0"/>
              <a:t>produces </a:t>
            </a:r>
            <a:r>
              <a:rPr lang="en-US" altLang="zh-TW" sz="2000" smtClean="0">
                <a:solidFill>
                  <a:srgbClr val="00B050"/>
                </a:solidFill>
              </a:rPr>
              <a:t>linear addresses </a:t>
            </a:r>
          </a:p>
          <a:p>
            <a:pPr lvl="1" eaLnBrk="1" hangingPunct="1"/>
            <a:r>
              <a:rPr lang="en-US" altLang="zh-TW" sz="2400" smtClean="0"/>
              <a:t>Linear address given to </a:t>
            </a:r>
            <a:r>
              <a:rPr lang="en-US" altLang="zh-TW" sz="2400" smtClean="0">
                <a:solidFill>
                  <a:srgbClr val="0000FF"/>
                </a:solidFill>
              </a:rPr>
              <a:t>paging unit</a:t>
            </a:r>
          </a:p>
          <a:p>
            <a:pPr lvl="2" eaLnBrk="1" hangingPunct="1"/>
            <a:r>
              <a:rPr lang="en-US" altLang="zh-TW" sz="2000" smtClean="0"/>
              <a:t>generates </a:t>
            </a:r>
            <a:r>
              <a:rPr lang="en-US" altLang="zh-TW" sz="2000" smtClean="0">
                <a:solidFill>
                  <a:srgbClr val="00B050"/>
                </a:solidFill>
              </a:rPr>
              <a:t>physical address</a:t>
            </a:r>
            <a:r>
              <a:rPr lang="en-US" altLang="zh-TW" sz="2000" smtClean="0"/>
              <a:t> in main memory</a:t>
            </a:r>
          </a:p>
          <a:p>
            <a:pPr lvl="2" eaLnBrk="1" hangingPunct="1"/>
            <a:r>
              <a:rPr lang="en-US" altLang="zh-TW" sz="2000" smtClean="0"/>
              <a:t>Segmentation and paging units form equivalent of MMU</a:t>
            </a:r>
          </a:p>
          <a:p>
            <a:pPr eaLnBrk="1" hangingPunct="1"/>
            <a:endParaRPr lang="en-US" altLang="zh-TW" smtClean="0"/>
          </a:p>
        </p:txBody>
      </p:sp>
      <p:pic>
        <p:nvPicPr>
          <p:cNvPr id="6656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t="43227" r="681" b="42947"/>
          <a:stretch>
            <a:fillRect/>
          </a:stretch>
        </p:blipFill>
        <p:spPr bwMode="auto">
          <a:xfrm>
            <a:off x="690563" y="4868863"/>
            <a:ext cx="7894637" cy="82708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4170FD-E06D-4AC0-B148-5D2375F4AD55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758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758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01F652-51BA-41FD-9C7C-5984E300B674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400"/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Intel Pentium Segmentation (1)</a:t>
            </a:r>
          </a:p>
        </p:txBody>
      </p:sp>
      <p:sp>
        <p:nvSpPr>
          <p:cNvPr id="172043" name="Text Box 11"/>
          <p:cNvSpPr txBox="1">
            <a:spLocks noChangeArrowheads="1"/>
          </p:cNvSpPr>
          <p:nvPr/>
        </p:nvSpPr>
        <p:spPr bwMode="auto">
          <a:xfrm>
            <a:off x="539750" y="836613"/>
            <a:ext cx="6183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>
                <a:solidFill>
                  <a:srgbClr val="0000FF"/>
                </a:solidFill>
              </a:rPr>
              <a:t>max # of segments </a:t>
            </a:r>
            <a:r>
              <a:rPr lang="en-US" altLang="zh-TW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per process</a:t>
            </a:r>
            <a:r>
              <a:rPr lang="en-US" altLang="zh-TW" dirty="0">
                <a:solidFill>
                  <a:srgbClr val="0000FF"/>
                </a:solidFill>
              </a:rPr>
              <a:t> = 16K = 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en-US" altLang="zh-TW" baseline="30000" dirty="0">
                <a:solidFill>
                  <a:srgbClr val="FF0000"/>
                </a:solidFill>
              </a:rPr>
              <a:t>14</a:t>
            </a:r>
            <a:endParaRPr lang="en-US" altLang="zh-TW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rgbClr val="0000FF"/>
                </a:solidFill>
              </a:rPr>
              <a:t>size of a segment </a:t>
            </a:r>
            <a:r>
              <a:rPr lang="en-US" altLang="zh-TW" dirty="0">
                <a:solidFill>
                  <a:srgbClr val="0000FF"/>
                </a:solidFill>
                <a:sym typeface="Symbol" pitchFamily="18" charset="2"/>
              </a:rPr>
              <a:t> 4GB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72044" name="Text Box 12"/>
          <p:cNvSpPr txBox="1">
            <a:spLocks noChangeArrowheads="1"/>
          </p:cNvSpPr>
          <p:nvPr/>
        </p:nvSpPr>
        <p:spPr bwMode="auto">
          <a:xfrm>
            <a:off x="539750" y="1628775"/>
            <a:ext cx="80946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Logical-address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2400">
                <a:solidFill>
                  <a:srgbClr val="FF0000"/>
                </a:solidFill>
              </a:rPr>
              <a:t>space</a:t>
            </a:r>
            <a:r>
              <a:rPr lang="en-US" altLang="zh-TW" sz="2400">
                <a:solidFill>
                  <a:srgbClr val="0000FF"/>
                </a:solidFill>
              </a:rPr>
              <a:t> is divided into 2 partitions: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1</a:t>
            </a:r>
            <a:r>
              <a:rPr lang="en-US" altLang="zh-TW" sz="2400" baseline="30000">
                <a:solidFill>
                  <a:srgbClr val="0000FF"/>
                </a:solidFill>
              </a:rPr>
              <a:t>st</a:t>
            </a:r>
            <a:r>
              <a:rPr lang="en-US" altLang="zh-TW" sz="2400">
                <a:solidFill>
                  <a:srgbClr val="0000FF"/>
                </a:solidFill>
              </a:rPr>
              <a:t>: 8K segments (</a:t>
            </a:r>
            <a:r>
              <a:rPr lang="en-US" altLang="zh-TW" sz="2400">
                <a:solidFill>
                  <a:srgbClr val="FF0000"/>
                </a:solidFill>
              </a:rPr>
              <a:t>private</a:t>
            </a:r>
            <a:r>
              <a:rPr lang="en-US" altLang="zh-TW" sz="2400">
                <a:solidFill>
                  <a:srgbClr val="0000FF"/>
                </a:solidFill>
              </a:rPr>
              <a:t>), local descriptor table (LDT)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2</a:t>
            </a:r>
            <a:r>
              <a:rPr lang="en-US" altLang="zh-TW" sz="2400" baseline="30000">
                <a:solidFill>
                  <a:srgbClr val="0000FF"/>
                </a:solidFill>
              </a:rPr>
              <a:t>nd</a:t>
            </a:r>
            <a:r>
              <a:rPr lang="en-US" altLang="zh-TW" sz="2400">
                <a:solidFill>
                  <a:srgbClr val="0000FF"/>
                </a:solidFill>
              </a:rPr>
              <a:t>: </a:t>
            </a:r>
            <a:r>
              <a:rPr lang="en-US" altLang="zh-TW" sz="2400">
                <a:solidFill>
                  <a:srgbClr val="0000FF"/>
                </a:solidFill>
                <a:sym typeface="Symbol" panose="05050102010706020507" pitchFamily="18" charset="2"/>
              </a:rPr>
              <a:t> </a:t>
            </a:r>
            <a:r>
              <a:rPr lang="en-US" altLang="zh-TW" sz="2400">
                <a:solidFill>
                  <a:srgbClr val="0000FF"/>
                </a:solidFill>
              </a:rPr>
              <a:t>8K segments (</a:t>
            </a:r>
            <a:r>
              <a:rPr lang="en-US" altLang="zh-TW" sz="2400">
                <a:solidFill>
                  <a:srgbClr val="FF0000"/>
                </a:solidFill>
              </a:rPr>
              <a:t>shared</a:t>
            </a:r>
            <a:r>
              <a:rPr lang="en-US" altLang="zh-TW" sz="2400">
                <a:solidFill>
                  <a:srgbClr val="0000FF"/>
                </a:solidFill>
              </a:rPr>
              <a:t>), global descriptor table (GDT)</a:t>
            </a:r>
          </a:p>
        </p:txBody>
      </p:sp>
      <p:sp>
        <p:nvSpPr>
          <p:cNvPr id="172045" name="Text Box 13"/>
          <p:cNvSpPr txBox="1">
            <a:spLocks noChangeArrowheads="1"/>
          </p:cNvSpPr>
          <p:nvPr/>
        </p:nvSpPr>
        <p:spPr bwMode="auto">
          <a:xfrm>
            <a:off x="539750" y="2852738"/>
            <a:ext cx="8524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Each entry</a:t>
            </a:r>
            <a:r>
              <a:rPr lang="en-US" altLang="zh-TW" sz="2400">
                <a:solidFill>
                  <a:srgbClr val="0000FF"/>
                </a:solidFill>
              </a:rPr>
              <a:t> in the LDT and GDT consists of an 8-byte </a:t>
            </a:r>
            <a:r>
              <a:rPr lang="en-US" altLang="zh-TW" sz="2400">
                <a:solidFill>
                  <a:srgbClr val="FF0000"/>
                </a:solidFill>
              </a:rPr>
              <a:t>segment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descriptor</a:t>
            </a:r>
            <a:r>
              <a:rPr lang="en-US" altLang="zh-TW" sz="2400">
                <a:solidFill>
                  <a:srgbClr val="0000FF"/>
                </a:solidFill>
              </a:rPr>
              <a:t> including base and limit info</a:t>
            </a:r>
          </a:p>
        </p:txBody>
      </p:sp>
      <p:sp>
        <p:nvSpPr>
          <p:cNvPr id="172046" name="Text Box 14"/>
          <p:cNvSpPr txBox="1">
            <a:spLocks noChangeArrowheads="1"/>
          </p:cNvSpPr>
          <p:nvPr/>
        </p:nvSpPr>
        <p:spPr bwMode="auto">
          <a:xfrm>
            <a:off x="611188" y="3644900"/>
            <a:ext cx="59134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FF0000"/>
                </a:solidFill>
              </a:rPr>
              <a:t>Logical address</a:t>
            </a:r>
            <a:r>
              <a:rPr lang="en-US" altLang="zh-TW" sz="2400">
                <a:solidFill>
                  <a:srgbClr val="0000FF"/>
                </a:solidFill>
              </a:rPr>
              <a:t> is a pair (selector, offset),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selector is a 16-bit:</a:t>
            </a:r>
          </a:p>
        </p:txBody>
      </p:sp>
      <p:grpSp>
        <p:nvGrpSpPr>
          <p:cNvPr id="67594" name="Group 18"/>
          <p:cNvGrpSpPr>
            <a:grpSpLocks/>
          </p:cNvGrpSpPr>
          <p:nvPr/>
        </p:nvGrpSpPr>
        <p:grpSpPr bwMode="auto">
          <a:xfrm>
            <a:off x="2268538" y="4437063"/>
            <a:ext cx="5426075" cy="1135062"/>
            <a:chOff x="1429" y="3339"/>
            <a:chExt cx="3418" cy="715"/>
          </a:xfrm>
        </p:grpSpPr>
        <p:grpSp>
          <p:nvGrpSpPr>
            <p:cNvPr id="67598" name="Group 10"/>
            <p:cNvGrpSpPr>
              <a:grpSpLocks/>
            </p:cNvGrpSpPr>
            <p:nvPr/>
          </p:nvGrpSpPr>
          <p:grpSpPr bwMode="auto">
            <a:xfrm>
              <a:off x="1429" y="3339"/>
              <a:ext cx="2994" cy="318"/>
              <a:chOff x="975" y="799"/>
              <a:chExt cx="2994" cy="318"/>
            </a:xfrm>
          </p:grpSpPr>
          <p:sp>
            <p:nvSpPr>
              <p:cNvPr id="67602" name="Rectangle 4"/>
              <p:cNvSpPr>
                <a:spLocks noChangeArrowheads="1"/>
              </p:cNvSpPr>
              <p:nvPr/>
            </p:nvSpPr>
            <p:spPr bwMode="auto">
              <a:xfrm>
                <a:off x="975" y="799"/>
                <a:ext cx="2994" cy="318"/>
              </a:xfrm>
              <a:prstGeom prst="rect">
                <a:avLst/>
              </a:prstGeom>
              <a:noFill/>
              <a:ln w="2857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00FF"/>
                  </a:solidFill>
                </a:endParaRPr>
              </a:p>
            </p:txBody>
          </p:sp>
          <p:sp>
            <p:nvSpPr>
              <p:cNvPr id="67603" name="Line 5"/>
              <p:cNvSpPr>
                <a:spLocks noChangeShapeType="1"/>
              </p:cNvSpPr>
              <p:nvPr/>
            </p:nvSpPr>
            <p:spPr bwMode="auto">
              <a:xfrm>
                <a:off x="1973" y="799"/>
                <a:ext cx="0" cy="31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7604" name="Line 6"/>
              <p:cNvSpPr>
                <a:spLocks noChangeShapeType="1"/>
              </p:cNvSpPr>
              <p:nvPr/>
            </p:nvSpPr>
            <p:spPr bwMode="auto">
              <a:xfrm>
                <a:off x="2925" y="799"/>
                <a:ext cx="0" cy="31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TW" altLang="en-US"/>
              </a:p>
            </p:txBody>
          </p:sp>
          <p:sp>
            <p:nvSpPr>
              <p:cNvPr id="67605" name="Text Box 7"/>
              <p:cNvSpPr txBox="1">
                <a:spLocks noChangeArrowheads="1"/>
              </p:cNvSpPr>
              <p:nvPr/>
            </p:nvSpPr>
            <p:spPr bwMode="auto">
              <a:xfrm>
                <a:off x="1338" y="799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67606" name="Text Box 8"/>
              <p:cNvSpPr txBox="1">
                <a:spLocks noChangeArrowheads="1"/>
              </p:cNvSpPr>
              <p:nvPr/>
            </p:nvSpPr>
            <p:spPr bwMode="auto">
              <a:xfrm>
                <a:off x="2336" y="830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i="1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67607" name="Text Box 9"/>
              <p:cNvSpPr txBox="1">
                <a:spLocks noChangeArrowheads="1"/>
              </p:cNvSpPr>
              <p:nvPr/>
            </p:nvSpPr>
            <p:spPr bwMode="auto">
              <a:xfrm>
                <a:off x="3334" y="84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i="1"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  <p:sp>
          <p:nvSpPr>
            <p:cNvPr id="67599" name="Text Box 15"/>
            <p:cNvSpPr txBox="1">
              <a:spLocks noChangeArrowheads="1"/>
            </p:cNvSpPr>
            <p:nvPr/>
          </p:nvSpPr>
          <p:spPr bwMode="auto">
            <a:xfrm>
              <a:off x="1701" y="3612"/>
              <a:ext cx="76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13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segment #</a:t>
              </a:r>
            </a:p>
          </p:txBody>
        </p:sp>
        <p:sp>
          <p:nvSpPr>
            <p:cNvPr id="67600" name="Text Box 16"/>
            <p:cNvSpPr txBox="1">
              <a:spLocks noChangeArrowheads="1"/>
            </p:cNvSpPr>
            <p:nvPr/>
          </p:nvSpPr>
          <p:spPr bwMode="auto">
            <a:xfrm>
              <a:off x="2744" y="3612"/>
              <a:ext cx="97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GDT or LDT</a:t>
              </a:r>
            </a:p>
          </p:txBody>
        </p:sp>
        <p:sp>
          <p:nvSpPr>
            <p:cNvPr id="67601" name="Text Box 17"/>
            <p:cNvSpPr txBox="1">
              <a:spLocks noChangeArrowheads="1"/>
            </p:cNvSpPr>
            <p:nvPr/>
          </p:nvSpPr>
          <p:spPr bwMode="auto">
            <a:xfrm>
              <a:off x="3787" y="3612"/>
              <a:ext cx="106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protection info</a:t>
              </a:r>
            </a:p>
          </p:txBody>
        </p:sp>
      </p:grpSp>
      <p:sp>
        <p:nvSpPr>
          <p:cNvPr id="172051" name="Text Box 19"/>
          <p:cNvSpPr txBox="1">
            <a:spLocks noChangeArrowheads="1"/>
          </p:cNvSpPr>
          <p:nvPr/>
        </p:nvSpPr>
        <p:spPr bwMode="auto">
          <a:xfrm>
            <a:off x="250825" y="5581650"/>
            <a:ext cx="87360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6070E"/>
                </a:solidFill>
              </a:rPr>
              <a:t>Pentium CPU has </a:t>
            </a:r>
            <a:r>
              <a:rPr lang="en-US" altLang="zh-TW" sz="1800">
                <a:solidFill>
                  <a:srgbClr val="FF0000"/>
                </a:solidFill>
              </a:rPr>
              <a:t>6 segment registers</a:t>
            </a:r>
            <a:r>
              <a:rPr lang="en-US" altLang="zh-TW" sz="1800">
                <a:solidFill>
                  <a:srgbClr val="06070E"/>
                </a:solidFill>
              </a:rPr>
              <a:t>, allowing 6 segments addressed concurrently.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6070E"/>
                </a:solidFill>
              </a:rPr>
              <a:t>Another </a:t>
            </a:r>
            <a:r>
              <a:rPr lang="en-US" altLang="zh-TW" sz="1800">
                <a:solidFill>
                  <a:srgbClr val="FF0000"/>
                </a:solidFill>
              </a:rPr>
              <a:t>6 8-byte registers</a:t>
            </a:r>
            <a:r>
              <a:rPr lang="en-US" altLang="zh-TW" sz="1800">
                <a:solidFill>
                  <a:srgbClr val="06070E"/>
                </a:solidFill>
              </a:rPr>
              <a:t> to hold the corresponding descriptors from LDT or GDT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7297738" y="4362450"/>
            <a:ext cx="1925637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imes New Roman" panose="02020603050405020304" pitchFamily="18" charset="0"/>
              </a:rPr>
              <a:t>4 modes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imes New Roman" panose="02020603050405020304" pitchFamily="18" charset="0"/>
              </a:rPr>
              <a:t>Linux: user, kernel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  <a:latin typeface="Times New Roman" panose="02020603050405020304" pitchFamily="18" charset="0"/>
              </a:rPr>
              <a:t>2 modes only</a:t>
            </a:r>
          </a:p>
        </p:txBody>
      </p:sp>
      <p:sp>
        <p:nvSpPr>
          <p:cNvPr id="67597" name="動作按鈕: 下一項 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5025" y="3263900"/>
            <a:ext cx="431800" cy="431800"/>
          </a:xfrm>
          <a:prstGeom prst="actionButtonForwardNext">
            <a:avLst/>
          </a:prstGeom>
          <a:solidFill>
            <a:srgbClr val="00B0F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4" grpId="0"/>
      <p:bldP spid="172045" grpId="0"/>
      <p:bldP spid="172046" grpId="0"/>
      <p:bldP spid="17205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ABDCA0-B198-4E6D-8D0A-D7DB2629A857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861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861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745777-957D-43A0-883A-27F489D9E6F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kumimoji="0" lang="en-US" altLang="zh-TW" sz="140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04813"/>
            <a:ext cx="7772400" cy="6762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Intel Pentium Segmentation (2)</a:t>
            </a:r>
          </a:p>
        </p:txBody>
      </p:sp>
      <p:pic>
        <p:nvPicPr>
          <p:cNvPr id="686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9654" r="665" b="10266"/>
          <a:stretch>
            <a:fillRect/>
          </a:stretch>
        </p:blipFill>
        <p:spPr bwMode="auto">
          <a:xfrm>
            <a:off x="1331913" y="1916113"/>
            <a:ext cx="6435725" cy="39179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15" name="Text Box 12"/>
          <p:cNvSpPr txBox="1">
            <a:spLocks noChangeArrowheads="1"/>
          </p:cNvSpPr>
          <p:nvPr/>
        </p:nvSpPr>
        <p:spPr bwMode="auto">
          <a:xfrm>
            <a:off x="4859338" y="1446213"/>
            <a:ext cx="788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Times New Roman" panose="02020603050405020304" pitchFamily="18" charset="0"/>
              </a:rPr>
              <a:t>32-bit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A642E3-031F-4559-9BE7-B19781FF9CC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6963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6963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765549-0BEB-4758-BAF6-9EB88736080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kumimoji="0" lang="en-US" altLang="zh-TW" sz="140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Pentium </a:t>
            </a:r>
            <a:r>
              <a:rPr lang="en-US" altLang="zh-TW" smtClean="0">
                <a:solidFill>
                  <a:srgbClr val="0000FF"/>
                </a:solidFill>
              </a:rPr>
              <a:t>Paging</a:t>
            </a:r>
            <a:r>
              <a:rPr lang="en-US" altLang="zh-TW" smtClean="0"/>
              <a:t> Architecture</a:t>
            </a:r>
          </a:p>
        </p:txBody>
      </p:sp>
      <p:pic>
        <p:nvPicPr>
          <p:cNvPr id="696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6" t="844" r="13206" b="844"/>
          <a:stretch>
            <a:fillRect/>
          </a:stretch>
        </p:blipFill>
        <p:spPr bwMode="auto">
          <a:xfrm>
            <a:off x="1835150" y="1196975"/>
            <a:ext cx="5175250" cy="51847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07950" y="1965325"/>
            <a:ext cx="1549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Page size: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4kB or 4 MB</a:t>
            </a: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2771775" y="4005263"/>
            <a:ext cx="7143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outer</a:t>
            </a: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1692275" y="1484313"/>
            <a:ext cx="598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4kB</a:t>
            </a:r>
          </a:p>
        </p:txBody>
      </p:sp>
      <p:sp>
        <p:nvSpPr>
          <p:cNvPr id="174087" name="Text Box 7"/>
          <p:cNvSpPr txBox="1">
            <a:spLocks noChangeArrowheads="1"/>
          </p:cNvSpPr>
          <p:nvPr/>
        </p:nvSpPr>
        <p:spPr bwMode="auto">
          <a:xfrm>
            <a:off x="1692275" y="5949950"/>
            <a:ext cx="666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</a:rPr>
              <a:t>4MB</a:t>
            </a:r>
          </a:p>
        </p:txBody>
      </p:sp>
      <p:sp>
        <p:nvSpPr>
          <p:cNvPr id="69643" name="矩形 1"/>
          <p:cNvSpPr>
            <a:spLocks noChangeArrowheads="1"/>
          </p:cNvSpPr>
          <p:nvPr/>
        </p:nvSpPr>
        <p:spPr bwMode="auto">
          <a:xfrm>
            <a:off x="3894138" y="1736725"/>
            <a:ext cx="317500" cy="22860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4" grpId="0"/>
      <p:bldP spid="174085" grpId="0"/>
      <p:bldP spid="174086" grpId="0"/>
      <p:bldP spid="17408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EC13233-3BF2-415F-8157-7076C3FF1C61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065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066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65F57B3-C0C3-4EA9-8024-E6AC62680E3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kumimoji="0" lang="en-US" altLang="zh-TW" sz="1400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>
          <a:xfrm>
            <a:off x="579438" y="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Pentium </a:t>
            </a:r>
            <a:r>
              <a:rPr lang="en-US" altLang="zh-TW" smtClean="0">
                <a:solidFill>
                  <a:srgbClr val="0000FF"/>
                </a:solidFill>
              </a:rPr>
              <a:t>Paging</a:t>
            </a:r>
            <a:r>
              <a:rPr lang="en-US" altLang="zh-TW" smtClean="0"/>
              <a:t> Architecture</a:t>
            </a:r>
          </a:p>
        </p:txBody>
      </p:sp>
      <p:sp>
        <p:nvSpPr>
          <p:cNvPr id="11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55588" y="836613"/>
            <a:ext cx="8399462" cy="554513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800" kern="0" dirty="0" smtClean="0"/>
              <a:t>Intel adopted a </a:t>
            </a:r>
            <a:r>
              <a:rPr lang="en-US" altLang="zh-TW" sz="2800" kern="0" dirty="0" smtClean="0">
                <a:solidFill>
                  <a:srgbClr val="0000FF"/>
                </a:solidFill>
              </a:rPr>
              <a:t>page address extension (PAE)</a:t>
            </a:r>
            <a:r>
              <a:rPr lang="en-US" altLang="zh-TW" sz="2800" kern="0" dirty="0" smtClean="0"/>
              <a:t>, which</a:t>
            </a:r>
            <a:r>
              <a:rPr lang="zh-TW" altLang="en-US" sz="2800" kern="0" dirty="0" smtClean="0"/>
              <a:t> </a:t>
            </a:r>
            <a:r>
              <a:rPr lang="en-US" altLang="zh-TW" sz="2800" kern="0" dirty="0" smtClean="0"/>
              <a:t>allows 32-bit processors to access a physical address space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larger than 4 GB</a:t>
            </a:r>
            <a:r>
              <a:rPr lang="en-US" altLang="zh-TW" sz="2800" kern="0" dirty="0" smtClean="0"/>
              <a:t>.</a:t>
            </a:r>
          </a:p>
          <a:p>
            <a:pPr eaLnBrk="1" hangingPunct="1">
              <a:defRPr/>
            </a:pPr>
            <a:r>
              <a:rPr lang="en-US" altLang="zh-TW" sz="2800" kern="0" dirty="0" smtClean="0"/>
              <a:t>Paging went from</a:t>
            </a:r>
            <a:r>
              <a:rPr lang="zh-TW" altLang="en-US" sz="2800" kern="0" dirty="0" smtClean="0"/>
              <a:t> </a:t>
            </a:r>
            <a:r>
              <a:rPr lang="en-US" altLang="zh-TW" sz="2800" kern="0" dirty="0" smtClean="0"/>
              <a:t>a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two-level</a:t>
            </a:r>
            <a:r>
              <a:rPr lang="en-US" altLang="zh-TW" sz="2800" kern="0" dirty="0" smtClean="0"/>
              <a:t> scheme (Page 66) to a </a:t>
            </a:r>
            <a:r>
              <a:rPr lang="en-US" altLang="zh-TW" sz="2800" kern="0" dirty="0" smtClean="0">
                <a:solidFill>
                  <a:srgbClr val="0000FF"/>
                </a:solidFill>
              </a:rPr>
              <a:t>three-level </a:t>
            </a:r>
            <a:r>
              <a:rPr lang="en-US" altLang="zh-TW" sz="2800" kern="0" dirty="0" smtClean="0"/>
              <a:t>scheme, where the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top two bits </a:t>
            </a:r>
            <a:r>
              <a:rPr lang="en-US" altLang="zh-TW" sz="2800" kern="0" dirty="0" smtClean="0"/>
              <a:t>refer to a page directory pointer table.</a:t>
            </a:r>
          </a:p>
        </p:txBody>
      </p:sp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608388"/>
            <a:ext cx="804386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335463" y="4005263"/>
            <a:ext cx="317500" cy="22860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547813" y="4005263"/>
            <a:ext cx="647700" cy="228600"/>
          </a:xfrm>
          <a:prstGeom prst="rect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558088" y="3773488"/>
            <a:ext cx="538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12</a:t>
            </a:r>
            <a:endParaRPr lang="zh-TW" altLang="en-US">
              <a:solidFill>
                <a:srgbClr val="FF0000"/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95936" y="6578570"/>
            <a:ext cx="1864613" cy="40011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sz="2000" dirty="0" smtClean="0"/>
              <a:t>Entry: 4B</a:t>
            </a:r>
            <a:r>
              <a:rPr lang="en-US" altLang="zh-TW" sz="2000" dirty="0" smtClean="0">
                <a:sym typeface="Symbol" panose="05050102010706020507" pitchFamily="18" charset="2"/>
              </a:rPr>
              <a:t></a:t>
            </a:r>
            <a:r>
              <a:rPr lang="en-US" altLang="zh-TW" sz="2000" dirty="0" smtClean="0"/>
              <a:t>8B 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" grpId="0"/>
      <p:bldP spid="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15E12E-406A-44C2-A92B-047397364314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168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168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80DB21-C044-4BB7-98C2-EAC005828FF8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kumimoji="0" lang="en-US" altLang="zh-TW" sz="140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>
          <a:xfrm>
            <a:off x="579438" y="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Pentium </a:t>
            </a:r>
            <a:r>
              <a:rPr lang="en-US" altLang="zh-TW" smtClean="0">
                <a:solidFill>
                  <a:srgbClr val="0000FF"/>
                </a:solidFill>
              </a:rPr>
              <a:t>Paging</a:t>
            </a:r>
            <a:r>
              <a:rPr lang="en-US" altLang="zh-TW" smtClean="0"/>
              <a:t> Architecture</a:t>
            </a:r>
          </a:p>
        </p:txBody>
      </p:sp>
      <p:sp>
        <p:nvSpPr>
          <p:cNvPr id="11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55588" y="836613"/>
            <a:ext cx="8399462" cy="554513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800" kern="0" dirty="0" smtClean="0"/>
              <a:t>PAE also increased the </a:t>
            </a:r>
            <a:r>
              <a:rPr lang="en-US" altLang="zh-TW" sz="2800" kern="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page-directory</a:t>
            </a:r>
            <a:r>
              <a:rPr lang="en-US" altLang="zh-TW" sz="2800" kern="0" dirty="0" smtClean="0"/>
              <a:t> and </a:t>
            </a:r>
            <a:r>
              <a:rPr lang="en-US" altLang="zh-TW" sz="2800" kern="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page-table entries</a:t>
            </a:r>
            <a:r>
              <a:rPr lang="en-US" altLang="zh-TW" sz="2800" kern="0" dirty="0" smtClean="0"/>
              <a:t>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from 32 to 64 bits</a:t>
            </a:r>
            <a:r>
              <a:rPr lang="en-US" altLang="zh-TW" sz="2800" kern="0" dirty="0" smtClean="0"/>
              <a:t> in size, which allowed the base address of page tables and page frames to extend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from 20 to 24 bits</a:t>
            </a:r>
            <a:r>
              <a:rPr lang="en-US" altLang="zh-TW" sz="2800" kern="0" dirty="0" smtClean="0"/>
              <a:t>.</a:t>
            </a:r>
          </a:p>
          <a:p>
            <a:pPr eaLnBrk="1" hangingPunct="1">
              <a:defRPr/>
            </a:pPr>
            <a:r>
              <a:rPr lang="en-US" altLang="zh-TW" sz="2800" kern="0" dirty="0" smtClean="0"/>
              <a:t>Combined with the 12-bit offset, adding PAE support to IA-32 increased the address space to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36 </a:t>
            </a:r>
            <a:r>
              <a:rPr lang="en-US" altLang="zh-TW" sz="2800" kern="0" dirty="0">
                <a:solidFill>
                  <a:srgbClr val="FF0000"/>
                </a:solidFill>
              </a:rPr>
              <a:t>bits, up to 64 GB</a:t>
            </a:r>
            <a:r>
              <a:rPr lang="en-US" altLang="zh-TW" sz="2800" kern="0" dirty="0" smtClean="0"/>
              <a:t>.</a:t>
            </a:r>
          </a:p>
          <a:p>
            <a:pPr eaLnBrk="1" hangingPunct="1">
              <a:defRPr/>
            </a:pPr>
            <a:r>
              <a:rPr lang="en-US" altLang="zh-TW" sz="2800" kern="0" dirty="0" smtClean="0"/>
              <a:t>Both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Linux</a:t>
            </a:r>
            <a:r>
              <a:rPr lang="en-US" altLang="zh-TW" sz="2800" kern="0" dirty="0" smtClean="0"/>
              <a:t> and Intel </a:t>
            </a:r>
            <a:r>
              <a:rPr lang="en-US" altLang="zh-TW" sz="2800" kern="0" dirty="0" smtClean="0">
                <a:solidFill>
                  <a:srgbClr val="FF0000"/>
                </a:solidFill>
              </a:rPr>
              <a:t>Mac OS X </a:t>
            </a:r>
            <a:r>
              <a:rPr lang="en-US" altLang="zh-TW" sz="2800" kern="0" dirty="0" smtClean="0"/>
              <a:t>support PAE.</a:t>
            </a:r>
          </a:p>
          <a:p>
            <a:pPr eaLnBrk="1" hangingPunct="1">
              <a:defRPr/>
            </a:pPr>
            <a:r>
              <a:rPr lang="en-US" altLang="zh-TW" sz="2800" kern="0" dirty="0" smtClean="0"/>
              <a:t>However, 32-bit versions of </a:t>
            </a:r>
            <a:r>
              <a:rPr lang="en-US" altLang="zh-TW" sz="2800" kern="0" dirty="0" smtClean="0">
                <a:solidFill>
                  <a:srgbClr val="0000FF"/>
                </a:solidFill>
              </a:rPr>
              <a:t>Windows</a:t>
            </a:r>
            <a:r>
              <a:rPr lang="en-US" altLang="zh-TW" sz="2800" kern="0" dirty="0" smtClean="0"/>
              <a:t> desktop operating systems still provide support for only 4 GB of physical memory, even if PAE is enabled.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57BDCE3-0FEB-46C6-9159-FF75B0A08BF2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270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270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03F12F2-C193-4C17-BA1D-65008BC59A4F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kumimoji="0" lang="en-US" altLang="zh-TW" sz="1400"/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>
          <a:xfrm>
            <a:off x="579438" y="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x86-64</a:t>
            </a:r>
            <a:endParaRPr lang="en-US" altLang="zh-TW" smtClean="0">
              <a:solidFill>
                <a:srgbClr val="FF0000"/>
              </a:solidFill>
            </a:endParaRPr>
          </a:p>
        </p:txBody>
      </p:sp>
      <p:sp>
        <p:nvSpPr>
          <p:cNvPr id="11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55588" y="836613"/>
            <a:ext cx="8399462" cy="554513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400" kern="0" dirty="0" smtClean="0"/>
              <a:t>IA-64 (</a:t>
            </a:r>
            <a:r>
              <a:rPr lang="en-US" altLang="zh-TW" sz="2400" kern="0" dirty="0" err="1" smtClean="0"/>
              <a:t>lntel’s</a:t>
            </a:r>
            <a:r>
              <a:rPr lang="en-US" altLang="zh-TW" sz="2400" kern="0" dirty="0" smtClean="0"/>
              <a:t> Itanium) architecture, but the architecture was not widely adopted.</a:t>
            </a:r>
          </a:p>
          <a:p>
            <a:pPr eaLnBrk="1" hangingPunct="1">
              <a:defRPr/>
            </a:pPr>
            <a:r>
              <a:rPr lang="en-US" altLang="zh-TW" sz="2400" kern="0" dirty="0" smtClean="0">
                <a:solidFill>
                  <a:srgbClr val="0000FF"/>
                </a:solidFill>
              </a:rPr>
              <a:t>IA-32 instruction set </a:t>
            </a:r>
            <a:r>
              <a:rPr lang="en-US" altLang="zh-TW" sz="2400" kern="0" dirty="0" smtClean="0">
                <a:solidFill>
                  <a:srgbClr val="0000FF"/>
                </a:solidFill>
                <a:sym typeface="Symbol"/>
              </a:rPr>
              <a:t> AMD’s x86-64  Intel 64  x86-64. </a:t>
            </a:r>
            <a:endParaRPr lang="en-US" altLang="zh-TW" sz="2400" kern="0" dirty="0" smtClean="0"/>
          </a:p>
          <a:p>
            <a:pPr lvl="1" eaLnBrk="1" hangingPunct="1">
              <a:defRPr/>
            </a:pPr>
            <a:r>
              <a:rPr lang="en-US" altLang="zh-TW" sz="2400" kern="0" dirty="0" smtClean="0"/>
              <a:t>AMD developed a 64-bit architecture, AMD x86-64, based on </a:t>
            </a:r>
            <a:r>
              <a:rPr lang="en-US" altLang="zh-TW" sz="2400" kern="0" dirty="0" smtClean="0">
                <a:solidFill>
                  <a:srgbClr val="0000FF"/>
                </a:solidFill>
              </a:rPr>
              <a:t>extending the IA-32 instruction set</a:t>
            </a:r>
            <a:r>
              <a:rPr lang="en-US" altLang="zh-TW" sz="2400" kern="0" dirty="0" smtClean="0"/>
              <a:t>. Historically, AMD had often developed chips based on Intel’s architecture, but now the roles were reversed as Intel adopted AMD’s x86-64 architecture.</a:t>
            </a:r>
          </a:p>
          <a:p>
            <a:pPr eaLnBrk="1" hangingPunct="1">
              <a:defRPr/>
            </a:pPr>
            <a:r>
              <a:rPr lang="en-US" altLang="zh-TW" sz="2400" kern="0" dirty="0" smtClean="0"/>
              <a:t>x86-64: 64-bit address space yields 2</a:t>
            </a:r>
            <a:r>
              <a:rPr lang="en-US" altLang="zh-TW" sz="2400" kern="0" baseline="30000" dirty="0" smtClean="0"/>
              <a:t>64</a:t>
            </a:r>
            <a:r>
              <a:rPr lang="en-US" altLang="zh-TW" sz="2400" kern="0" dirty="0" smtClean="0"/>
              <a:t> bytes of addressable memory — a number greater than 16 quintillion (or 16 </a:t>
            </a:r>
            <a:r>
              <a:rPr lang="en-US" altLang="zh-TW" sz="2400" kern="0" dirty="0" err="1" smtClean="0"/>
              <a:t>exabytes</a:t>
            </a:r>
            <a:r>
              <a:rPr lang="en-US" altLang="zh-TW" sz="2400" kern="0" dirty="0" smtClean="0"/>
              <a:t> 10</a:t>
            </a:r>
            <a:r>
              <a:rPr lang="en-US" altLang="zh-TW" sz="2400" kern="0" baseline="30000" dirty="0" smtClean="0"/>
              <a:t>18</a:t>
            </a:r>
            <a:r>
              <a:rPr lang="en-US" altLang="zh-TW" sz="2400" kern="0" dirty="0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79B4B1-6E49-4F2F-A460-15ADBD3E3C1B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373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373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F939A1-C7E8-46EE-A0ED-C3F5A6FA699C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kumimoji="0" lang="en-US" altLang="zh-TW" sz="1400"/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>
          <a:xfrm>
            <a:off x="579438" y="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x86-64</a:t>
            </a:r>
            <a:endParaRPr lang="en-US" altLang="zh-TW" smtClean="0">
              <a:solidFill>
                <a:srgbClr val="FF0000"/>
              </a:solidFill>
            </a:endParaRPr>
          </a:p>
        </p:txBody>
      </p:sp>
      <p:sp>
        <p:nvSpPr>
          <p:cNvPr id="11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55588" y="836613"/>
            <a:ext cx="8399462" cy="5545137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400" kern="0" dirty="0" smtClean="0"/>
              <a:t>In practice far fewer than 64 bits are used for address representation in current designs. </a:t>
            </a:r>
          </a:p>
          <a:p>
            <a:pPr eaLnBrk="1" hangingPunct="1">
              <a:defRPr/>
            </a:pPr>
            <a:r>
              <a:rPr lang="en-US" altLang="zh-TW" sz="2400" kern="0" dirty="0" smtClean="0"/>
              <a:t>The x86-64 architecture currently provides a </a:t>
            </a:r>
            <a:r>
              <a:rPr lang="en-US" altLang="zh-TW" sz="2400" kern="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48-bit virtual address </a:t>
            </a:r>
            <a:r>
              <a:rPr lang="en-US" altLang="zh-TW" sz="2400" kern="0" dirty="0" smtClean="0"/>
              <a:t>with support for </a:t>
            </a:r>
            <a:r>
              <a:rPr lang="en-US" altLang="zh-TW" sz="2400" kern="0" dirty="0" smtClean="0">
                <a:solidFill>
                  <a:srgbClr val="0000FF"/>
                </a:solidFill>
              </a:rPr>
              <a:t>page sizes </a:t>
            </a:r>
            <a:r>
              <a:rPr lang="en-US" altLang="zh-TW" sz="2400" kern="0" dirty="0" smtClean="0"/>
              <a:t>of </a:t>
            </a:r>
            <a:r>
              <a:rPr lang="en-US" altLang="zh-TW" sz="2400" kern="0" dirty="0" smtClean="0">
                <a:solidFill>
                  <a:srgbClr val="0000FF"/>
                </a:solidFill>
              </a:rPr>
              <a:t>4 KB</a:t>
            </a:r>
            <a:r>
              <a:rPr lang="en-US" altLang="zh-TW" sz="2400" kern="0" dirty="0" smtClean="0"/>
              <a:t>, </a:t>
            </a:r>
            <a:r>
              <a:rPr lang="en-US" altLang="zh-TW" sz="2400" kern="0" dirty="0" smtClean="0">
                <a:solidFill>
                  <a:srgbClr val="0000FF"/>
                </a:solidFill>
              </a:rPr>
              <a:t>2 MB</a:t>
            </a:r>
            <a:r>
              <a:rPr lang="en-US" altLang="zh-TW" sz="2400" kern="0" dirty="0" smtClean="0"/>
              <a:t>, or </a:t>
            </a:r>
            <a:r>
              <a:rPr lang="en-US" altLang="zh-TW" sz="2400" kern="0" dirty="0" smtClean="0">
                <a:solidFill>
                  <a:srgbClr val="0000FF"/>
                </a:solidFill>
              </a:rPr>
              <a:t>1 GB </a:t>
            </a:r>
            <a:r>
              <a:rPr lang="en-US" altLang="zh-TW" sz="2400" kern="0" dirty="0" smtClean="0"/>
              <a:t>using </a:t>
            </a:r>
            <a:r>
              <a:rPr lang="en-US" altLang="zh-TW" sz="2400" kern="0" dirty="0" smtClean="0">
                <a:solidFill>
                  <a:srgbClr val="FF0000"/>
                </a:solidFill>
              </a:rPr>
              <a:t>four levels </a:t>
            </a:r>
            <a:r>
              <a:rPr lang="en-US" altLang="zh-TW" sz="2400" kern="0" dirty="0" smtClean="0"/>
              <a:t>of paging hierarchy. </a:t>
            </a:r>
          </a:p>
          <a:p>
            <a:pPr eaLnBrk="1" hangingPunct="1">
              <a:defRPr/>
            </a:pPr>
            <a:r>
              <a:rPr lang="en-US" altLang="zh-TW" sz="2400" kern="0" dirty="0" smtClean="0"/>
              <a:t>Because this addressing scheme can use PAE, virtual addresses are 48 bits in size but support 52-bit physical addresses (4096 terabytes).</a:t>
            </a:r>
          </a:p>
        </p:txBody>
      </p:sp>
      <p:pic>
        <p:nvPicPr>
          <p:cNvPr id="7373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4292600"/>
            <a:ext cx="78771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1825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Example: ARM Architecture</a:t>
            </a:r>
          </a:p>
        </p:txBody>
      </p:sp>
      <p:sp>
        <p:nvSpPr>
          <p:cNvPr id="77827" name="Rectangle 3"/>
          <p:cNvSpPr txBox="1">
            <a:spLocks noChangeArrowheads="1"/>
          </p:cNvSpPr>
          <p:nvPr/>
        </p:nvSpPr>
        <p:spPr bwMode="auto">
          <a:xfrm>
            <a:off x="239713" y="620713"/>
            <a:ext cx="4794250" cy="554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1060450" indent="-407988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Dominant mobile platform chip 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Modern, energy efficient, 32-bit CPU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4 KB 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and </a:t>
            </a:r>
            <a:r>
              <a: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16 KB 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pages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1 MB and 16 MB pages (termed </a:t>
            </a:r>
            <a:r>
              <a:rPr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sections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)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One-level paging for </a:t>
            </a:r>
            <a:r>
              <a:rPr lang="en-US" altLang="en-US" sz="2000" dirty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sections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, two-level for smaller pages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Two levels of TLBs</a:t>
            </a:r>
          </a:p>
          <a:p>
            <a:pPr lvl="1" eaLnBrk="1" hangingPunct="1">
              <a:spcBef>
                <a:spcPts val="6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Outer level has two micro TLBs (one data, one instruction)</a:t>
            </a:r>
          </a:p>
          <a:p>
            <a:pPr lvl="1" eaLnBrk="1" hangingPunct="1">
              <a:spcBef>
                <a:spcPts val="6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Inner is single main TLB</a:t>
            </a:r>
          </a:p>
          <a:p>
            <a:pPr lvl="1" eaLnBrk="1" hangingPunct="1">
              <a:spcBef>
                <a:spcPts val="6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>
              <a:rPr lang="en-US" altLang="en-US" sz="2000" dirty="0">
                <a:solidFill>
                  <a:srgbClr val="06070E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First</a:t>
            </a:r>
            <a:r>
              <a:rPr lang="en-US" altLang="en-US" sz="2000" dirty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outers</a:t>
            </a:r>
            <a:r>
              <a:rPr lang="en-US" altLang="en-US" sz="2000" dirty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000" dirty="0" smtClean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are </a:t>
            </a:r>
            <a:r>
              <a:rPr lang="en-US" altLang="en-US" sz="2000" dirty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checked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,</a:t>
            </a:r>
            <a:r>
              <a:rPr lang="en-US" altLang="en-US" sz="2000" dirty="0">
                <a:solidFill>
                  <a:srgbClr val="06070E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 on miss</a:t>
            </a:r>
            <a:r>
              <a:rPr lang="en-US" altLang="en-US" sz="2000" dirty="0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 main </a:t>
            </a:r>
            <a:r>
              <a:rPr lang="en-US" altLang="en-US" sz="2000" dirty="0" smtClean="0">
                <a:solidFill>
                  <a:srgbClr val="0000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is checked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, and on miss </a:t>
            </a:r>
            <a:r>
              <a:rPr lang="en-US" altLang="en-US" sz="2000" dirty="0">
                <a:solidFill>
                  <a:srgbClr val="00B05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page</a:t>
            </a:r>
            <a:r>
              <a:rPr lang="en-US" altLang="en-US" sz="2000" dirty="0">
                <a:latin typeface="Helvetica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rgbClr val="00B05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table walk performed by CPU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lang="en-US" altLang="en-US" sz="1400" dirty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74756" name="Picture 1" descr="8_26.pd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3073400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9023A5-318C-458C-804A-ED05F5EC8CFF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4758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4759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ADD81F-5674-405A-89AB-75685FE033D0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7753DFF-AB7D-40AC-9666-5C603A6AC658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577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578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A1066E8-9ED9-4FEF-A34D-8DD053B49C4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kumimoji="0" lang="en-US" altLang="zh-TW" sz="1400"/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eaLnBrk="1" hangingPunct="1"/>
            <a:r>
              <a:rPr lang="en-US" altLang="zh-TW" smtClean="0"/>
              <a:t>Three-level Paging in Linux</a:t>
            </a:r>
          </a:p>
        </p:txBody>
      </p:sp>
      <p:pic>
        <p:nvPicPr>
          <p:cNvPr id="7578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" t="13278" r="449" b="13594"/>
          <a:stretch>
            <a:fillRect/>
          </a:stretch>
        </p:blipFill>
        <p:spPr bwMode="auto">
          <a:xfrm>
            <a:off x="827088" y="1412875"/>
            <a:ext cx="6883400" cy="38100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827088" y="5516563"/>
            <a:ext cx="6913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Helvetica" panose="020B0604020202020204" pitchFamily="34" charset="0"/>
              </a:rPr>
              <a:t>32-bit platform: middle directory is 0-bit for 32-bit Pentium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A398CAA-6D71-435A-8765-AE42361F7D7C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680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680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69A350E-F846-441E-B63F-CCF076E91E57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kumimoji="0" lang="en-US" altLang="zh-TW" sz="1400"/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92175"/>
          </a:xfrm>
        </p:spPr>
        <p:txBody>
          <a:bodyPr/>
          <a:lstStyle/>
          <a:p>
            <a:pPr eaLnBrk="1" hangingPunct="1"/>
            <a:r>
              <a:rPr lang="en-US" altLang="zh-TW" smtClean="0"/>
              <a:t>Linear Address in Linux</a:t>
            </a:r>
          </a:p>
        </p:txBody>
      </p:sp>
      <p:pic>
        <p:nvPicPr>
          <p:cNvPr id="7680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42778" r="899" b="42778"/>
          <a:stretch>
            <a:fillRect/>
          </a:stretch>
        </p:blipFill>
        <p:spPr bwMode="auto">
          <a:xfrm>
            <a:off x="755650" y="3789363"/>
            <a:ext cx="6661150" cy="7334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611188" y="2060575"/>
            <a:ext cx="58610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Helvetica" panose="020B0604020202020204" pitchFamily="34" charset="0"/>
              </a:rPr>
              <a:t>Linux is designated for 64-bit or 32-bit platform.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Helvetica" panose="020B0604020202020204" pitchFamily="34" charset="0"/>
              </a:rPr>
              <a:t>3-level paging strategy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latin typeface="Helvetica" panose="020B0604020202020204" pitchFamily="34" charset="0"/>
              </a:rPr>
              <a:t>The linear address is broken into 4 parts: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AFE7814-9327-4FCB-AB3F-F1C320337E4A}" type="datetime1">
              <a:rPr kumimoji="0" lang="zh-TW" altLang="en-US" sz="1400" smtClean="0"/>
              <a:t>2018/4/26</a:t>
            </a:fld>
            <a:endParaRPr kumimoji="0" lang="en-US" altLang="zh-TW" sz="1400" smtClean="0"/>
          </a:p>
        </p:txBody>
      </p:sp>
      <p:sp>
        <p:nvSpPr>
          <p:cNvPr id="778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os8-2018</a:t>
            </a:r>
            <a:endParaRPr kumimoji="0" lang="en-US" altLang="zh-TW" sz="1400" smtClean="0"/>
          </a:p>
        </p:txBody>
      </p:sp>
      <p:sp>
        <p:nvSpPr>
          <p:cNvPr id="778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6B19BE-C683-4E26-ADDA-5C12E47D1E55}" type="slidenum">
              <a:rPr kumimoji="0" lang="en-US" altLang="zh-TW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kumimoji="0" lang="en-US" altLang="zh-TW" sz="140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515225" cy="438150"/>
          </a:xfrm>
        </p:spPr>
        <p:txBody>
          <a:bodyPr/>
          <a:lstStyle/>
          <a:p>
            <a:pPr eaLnBrk="1" hangingPunct="1"/>
            <a:r>
              <a:rPr lang="en-US" altLang="zh-TW" smtClean="0"/>
              <a:t>Protection and Sharing</a:t>
            </a:r>
          </a:p>
        </p:txBody>
      </p:sp>
      <p:sp>
        <p:nvSpPr>
          <p:cNvPr id="727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44475" y="990600"/>
            <a:ext cx="8518525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Easy association of protection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smtClean="0"/>
              <a:t>A segment represents a semantic portion and thus all entries should be used in the same way.</a:t>
            </a:r>
            <a:endParaRPr lang="en-US" altLang="zh-TW" smtClean="0"/>
          </a:p>
          <a:p>
            <a:pPr lvl="2" eaLnBrk="1" hangingPunct="1">
              <a:lnSpc>
                <a:spcPct val="80000"/>
              </a:lnSpc>
            </a:pPr>
            <a:r>
              <a:rPr lang="en-US" altLang="zh-TW" smtClean="0"/>
              <a:t>Instruction section: read-only or execute-only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mtClean="0"/>
              <a:t>put array in a segment: </a:t>
            </a:r>
            <a:r>
              <a:rPr lang="en-US" altLang="zh-TW" smtClean="0">
                <a:solidFill>
                  <a:srgbClr val="FF0000"/>
                </a:solidFill>
              </a:rPr>
              <a:t>MMU automatically check each array index.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Errors can be checked by hardware.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</a:pPr>
            <a:r>
              <a:rPr lang="en-US" altLang="zh-TW" sz="2800" smtClean="0"/>
              <a:t>Easy to share a segment</a:t>
            </a:r>
            <a:endParaRPr lang="en-US" altLang="zh-TW" sz="2800" b="1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b="1" smtClean="0">
                <a:solidFill>
                  <a:srgbClr val="FF0000"/>
                </a:solidFill>
              </a:rPr>
              <a:t>Problem</a:t>
            </a:r>
            <a:r>
              <a:rPr lang="en-US" altLang="zh-TW" sz="2400" smtClean="0"/>
              <a:t>: code segment refer to itself</a:t>
            </a:r>
            <a:endParaRPr lang="en-US" altLang="zh-TW" sz="2400" b="1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TW" sz="2400" b="1" smtClean="0">
                <a:solidFill>
                  <a:srgbClr val="FF0000"/>
                </a:solidFill>
              </a:rPr>
              <a:t>Solution</a:t>
            </a:r>
            <a:endParaRPr lang="en-US" altLang="zh-TW" b="1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TW" smtClean="0"/>
              <a:t>all processes use the same segment number.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mtClean="0"/>
              <a:t>indirect  reference (offset)</a:t>
            </a:r>
          </a:p>
          <a:p>
            <a:pPr eaLnBrk="1" hangingPunct="1">
              <a:lnSpc>
                <a:spcPct val="80000"/>
              </a:lnSpc>
            </a:pPr>
            <a:endParaRPr lang="en-US" altLang="zh-TW" sz="2800" smtClean="0"/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327400" y="4449763"/>
            <a:ext cx="5808663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FF"/>
                </a:solidFill>
              </a:rPr>
              <a:t>e.g.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1800">
                <a:solidFill>
                  <a:srgbClr val="0000FF"/>
                </a:solidFill>
              </a:rPr>
              <a:t>P1 and P2</a:t>
            </a:r>
            <a:r>
              <a:rPr lang="en-US" altLang="zh-TW" sz="2400">
                <a:solidFill>
                  <a:srgbClr val="0000FF"/>
                </a:solidFill>
              </a:rPr>
              <a:t> </a:t>
            </a:r>
            <a:r>
              <a:rPr lang="en-US" altLang="zh-TW" sz="1800">
                <a:solidFill>
                  <a:srgbClr val="0000FF"/>
                </a:solidFill>
              </a:rPr>
              <a:t>share the sqrt, one is S4 and another is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FF"/>
                </a:solidFill>
              </a:rPr>
              <a:t>S17, how should the sqrt refer to itself?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1590</TotalTime>
  <Words>4140</Words>
  <Application>Microsoft Office PowerPoint</Application>
  <PresentationFormat>如螢幕大小 (4:3)</PresentationFormat>
  <Paragraphs>1145</Paragraphs>
  <Slides>74</Slides>
  <Notes>69</Notes>
  <HiddenSlides>3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74</vt:i4>
      </vt:variant>
    </vt:vector>
  </HeadingPairs>
  <TitlesOfParts>
    <vt:vector size="87" baseType="lpstr">
      <vt:lpstr>Adobe Gothic Std B</vt:lpstr>
      <vt:lpstr>Monotype Sorts</vt:lpstr>
      <vt:lpstr>MS PGothic</vt:lpstr>
      <vt:lpstr>新細明體</vt:lpstr>
      <vt:lpstr>Book Antiqua</vt:lpstr>
      <vt:lpstr>Courier New</vt:lpstr>
      <vt:lpstr>Helvetica</vt:lpstr>
      <vt:lpstr>Symbol</vt:lpstr>
      <vt:lpstr>Tahoma</vt:lpstr>
      <vt:lpstr>Times New Roman</vt:lpstr>
      <vt:lpstr>Wingdings</vt:lpstr>
      <vt:lpstr>Wingdings 2</vt:lpstr>
      <vt:lpstr>Blueprint</vt:lpstr>
      <vt:lpstr>Chapter 8 Memory Management</vt:lpstr>
      <vt:lpstr>Outline</vt:lpstr>
      <vt:lpstr>Objectives</vt:lpstr>
      <vt:lpstr>Background</vt:lpstr>
      <vt:lpstr>Base and Limit Registers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Dynamic Relocation using a Relocation Register</vt:lpstr>
      <vt:lpstr>Dynamic Loading</vt:lpstr>
      <vt:lpstr>Dynamic Linking</vt:lpstr>
      <vt:lpstr>Dynamic Linking</vt:lpstr>
      <vt:lpstr>Overlays</vt:lpstr>
      <vt:lpstr>Overlays for a Two-Pass Assembler</vt:lpstr>
      <vt:lpstr>Swapping (1)</vt:lpstr>
      <vt:lpstr>Swapping (2)</vt:lpstr>
      <vt:lpstr>Schematic View of Swapping</vt:lpstr>
      <vt:lpstr>Context Switch Time including Swapping</vt:lpstr>
      <vt:lpstr>Context Switch Time including Swapping</vt:lpstr>
      <vt:lpstr>Context Switch Time including Swapping</vt:lpstr>
      <vt:lpstr>Swapping on Mobile Systems</vt:lpstr>
      <vt:lpstr>Swapping on Mobile Systems</vt:lpstr>
      <vt:lpstr>Contiguous Memory Allocation (1)</vt:lpstr>
      <vt:lpstr>Contiguous Allocation (2)</vt:lpstr>
      <vt:lpstr>Multiple-Partition Allocation</vt:lpstr>
      <vt:lpstr>An Scheduling Example</vt:lpstr>
      <vt:lpstr>Memory Allocation and  Long-term Scheduling (FCFS)</vt:lpstr>
      <vt:lpstr>Fragmentation</vt:lpstr>
      <vt:lpstr>Compaction</vt:lpstr>
      <vt:lpstr>Comparison of some Different Ways to Compact Memory</vt:lpstr>
      <vt:lpstr>Paging</vt:lpstr>
      <vt:lpstr>Address Translation Scheme</vt:lpstr>
      <vt:lpstr>Paging model of logical and physical memory</vt:lpstr>
      <vt:lpstr>PowerPoint 簡報</vt:lpstr>
      <vt:lpstr>Free Frames</vt:lpstr>
      <vt:lpstr>Discussions</vt:lpstr>
      <vt:lpstr>Implementation of Page Table</vt:lpstr>
      <vt:lpstr>Associative Memory, Translation Look-aside Buffer </vt:lpstr>
      <vt:lpstr>Paging Hardware with TLB</vt:lpstr>
      <vt:lpstr>Effective Access Time</vt:lpstr>
      <vt:lpstr>Memory Protection</vt:lpstr>
      <vt:lpstr>PowerPoint 簡報</vt:lpstr>
      <vt:lpstr>Shared Pages</vt:lpstr>
      <vt:lpstr>Shared Pages</vt:lpstr>
      <vt:lpstr>Page Table Structure</vt:lpstr>
      <vt:lpstr>Hierarchical Page Tables</vt:lpstr>
      <vt:lpstr>Multilevel Paging</vt:lpstr>
      <vt:lpstr>Two-Level Paging</vt:lpstr>
      <vt:lpstr>Hashed Page Tables</vt:lpstr>
      <vt:lpstr>Hashed Page Table</vt:lpstr>
      <vt:lpstr>Inverted Page Table</vt:lpstr>
      <vt:lpstr>Inverted Page Table</vt:lpstr>
      <vt:lpstr>Segmentation</vt:lpstr>
      <vt:lpstr>User’s View of a Program</vt:lpstr>
      <vt:lpstr>Logical View of Segmentation</vt:lpstr>
      <vt:lpstr>Segmentation Architecture (1)</vt:lpstr>
      <vt:lpstr>Segmentation Architecture (2)</vt:lpstr>
      <vt:lpstr>Segmentation Hardware</vt:lpstr>
      <vt:lpstr>Example of Segmentation</vt:lpstr>
      <vt:lpstr>Oracle SPARC Solaris</vt:lpstr>
      <vt:lpstr>Oracle SPARC Solaris</vt:lpstr>
      <vt:lpstr>The Intel Pentium: IA-32</vt:lpstr>
      <vt:lpstr>Intel Pentium Segmentation (1)</vt:lpstr>
      <vt:lpstr>Intel Pentium Segmentation (2)</vt:lpstr>
      <vt:lpstr>Pentium Paging Architecture</vt:lpstr>
      <vt:lpstr>Pentium Paging Architecture</vt:lpstr>
      <vt:lpstr>Pentium Paging Architecture</vt:lpstr>
      <vt:lpstr>x86-64</vt:lpstr>
      <vt:lpstr>x86-64</vt:lpstr>
      <vt:lpstr>Example: ARM Architecture</vt:lpstr>
      <vt:lpstr>Three-level Paging in Linux</vt:lpstr>
      <vt:lpstr>Linear Address in Linux</vt:lpstr>
      <vt:lpstr>Protection and Sharing</vt:lpstr>
    </vt:vector>
  </TitlesOfParts>
  <Company>nthu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Memory Management</dc:title>
  <dc:creator>Jia-Shung WANG</dc:creator>
  <cp:lastModifiedBy>JS</cp:lastModifiedBy>
  <cp:revision>150</cp:revision>
  <cp:lastPrinted>2018-04-26T01:41:50Z</cp:lastPrinted>
  <dcterms:created xsi:type="dcterms:W3CDTF">2000-11-27T01:27:16Z</dcterms:created>
  <dcterms:modified xsi:type="dcterms:W3CDTF">2018-04-26T01:42:47Z</dcterms:modified>
</cp:coreProperties>
</file>