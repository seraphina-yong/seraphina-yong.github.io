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xml" ContentType="application/vnd.openxmlformats-officedocument.presentationml.tags+xml"/>
  <Override PartName="/ppt/notesSlides/notesSlide42.xml" ContentType="application/vnd.openxmlformats-officedocument.presentationml.notesSlide+xml"/>
  <Override PartName="/ppt/tags/tag2.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1" r:id="rId1"/>
  </p:sldMasterIdLst>
  <p:notesMasterIdLst>
    <p:notesMasterId r:id="rId48"/>
  </p:notesMasterIdLst>
  <p:handoutMasterIdLst>
    <p:handoutMasterId r:id="rId49"/>
  </p:handoutMasterIdLst>
  <p:sldIdLst>
    <p:sldId id="316" r:id="rId2"/>
    <p:sldId id="264" r:id="rId3"/>
    <p:sldId id="319" r:id="rId4"/>
    <p:sldId id="320" r:id="rId5"/>
    <p:sldId id="265" r:id="rId6"/>
    <p:sldId id="344" r:id="rId7"/>
    <p:sldId id="345" r:id="rId8"/>
    <p:sldId id="343" r:id="rId9"/>
    <p:sldId id="324" r:id="rId10"/>
    <p:sldId id="322" r:id="rId11"/>
    <p:sldId id="323"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318" r:id="rId25"/>
    <p:sldId id="278" r:id="rId26"/>
    <p:sldId id="306" r:id="rId27"/>
    <p:sldId id="325" r:id="rId28"/>
    <p:sldId id="279" r:id="rId29"/>
    <p:sldId id="340" r:id="rId30"/>
    <p:sldId id="326" r:id="rId31"/>
    <p:sldId id="307" r:id="rId32"/>
    <p:sldId id="308" r:id="rId33"/>
    <p:sldId id="309" r:id="rId34"/>
    <p:sldId id="312" r:id="rId35"/>
    <p:sldId id="342" r:id="rId36"/>
    <p:sldId id="331" r:id="rId37"/>
    <p:sldId id="341" r:id="rId38"/>
    <p:sldId id="311" r:id="rId39"/>
    <p:sldId id="281" r:id="rId40"/>
    <p:sldId id="336" r:id="rId41"/>
    <p:sldId id="348" r:id="rId42"/>
    <p:sldId id="338" r:id="rId43"/>
    <p:sldId id="339" r:id="rId44"/>
    <p:sldId id="333" r:id="rId45"/>
    <p:sldId id="346" r:id="rId46"/>
    <p:sldId id="347" r:id="rId47"/>
  </p:sldIdLst>
  <p:sldSz cx="9144000" cy="6858000" type="screen4x3"/>
  <p:notesSz cx="6807200" cy="9939338"/>
  <p:defaultTextStyle>
    <a:defPPr>
      <a:defRPr lang="en-US"/>
    </a:defPPr>
    <a:lvl1pPr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1pPr>
    <a:lvl2pPr marL="457200"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2pPr>
    <a:lvl3pPr marL="914400"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3pPr>
    <a:lvl4pPr marL="1371600"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4pPr>
    <a:lvl5pPr marL="1828800"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5pPr>
    <a:lvl6pPr marL="2286000" algn="l" defTabSz="914400" rtl="0" eaLnBrk="1" latinLnBrk="0" hangingPunct="1">
      <a:defRPr kumimoji="1" sz="2400" kern="1200">
        <a:solidFill>
          <a:schemeClr val="tx1"/>
        </a:solidFill>
        <a:latin typeface="Tahoma" pitchFamily="34" charset="0"/>
        <a:ea typeface="新細明體" pitchFamily="18" charset="-120"/>
        <a:cs typeface="+mn-cs"/>
      </a:defRPr>
    </a:lvl6pPr>
    <a:lvl7pPr marL="2743200" algn="l" defTabSz="914400" rtl="0" eaLnBrk="1" latinLnBrk="0" hangingPunct="1">
      <a:defRPr kumimoji="1" sz="2400" kern="1200">
        <a:solidFill>
          <a:schemeClr val="tx1"/>
        </a:solidFill>
        <a:latin typeface="Tahoma" pitchFamily="34" charset="0"/>
        <a:ea typeface="新細明體" pitchFamily="18" charset="-120"/>
        <a:cs typeface="+mn-cs"/>
      </a:defRPr>
    </a:lvl7pPr>
    <a:lvl8pPr marL="3200400" algn="l" defTabSz="914400" rtl="0" eaLnBrk="1" latinLnBrk="0" hangingPunct="1">
      <a:defRPr kumimoji="1" sz="2400" kern="1200">
        <a:solidFill>
          <a:schemeClr val="tx1"/>
        </a:solidFill>
        <a:latin typeface="Tahoma" pitchFamily="34" charset="0"/>
        <a:ea typeface="新細明體" pitchFamily="18" charset="-120"/>
        <a:cs typeface="+mn-cs"/>
      </a:defRPr>
    </a:lvl8pPr>
    <a:lvl9pPr marL="3657600" algn="l" defTabSz="914400" rtl="0" eaLnBrk="1" latinLnBrk="0" hangingPunct="1">
      <a:defRPr kumimoji="1" sz="2400" kern="1200">
        <a:solidFill>
          <a:schemeClr val="tx1"/>
        </a:solidFill>
        <a:latin typeface="Tahoma" pitchFamily="34" charset="0"/>
        <a:ea typeface="新細明體" pitchFamily="18"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659" autoAdjust="0"/>
  </p:normalViewPr>
  <p:slideViewPr>
    <p:cSldViewPr snapToGrid="0">
      <p:cViewPr varScale="1">
        <p:scale>
          <a:sx n="63" d="100"/>
          <a:sy n="63" d="100"/>
        </p:scale>
        <p:origin x="972"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48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9442" name="Rectangle 2"/>
          <p:cNvSpPr>
            <a:spLocks noGrp="1" noChangeArrowheads="1"/>
          </p:cNvSpPr>
          <p:nvPr>
            <p:ph type="hdr" sz="quarter"/>
          </p:nvPr>
        </p:nvSpPr>
        <p:spPr bwMode="auto">
          <a:xfrm>
            <a:off x="0" y="0"/>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67" tIns="45684" rIns="91367" bIns="45684" numCol="1" anchor="t" anchorCtr="0" compatLnSpc="1">
            <a:prstTxWarp prst="textNoShape">
              <a:avLst/>
            </a:prstTxWarp>
          </a:bodyPr>
          <a:lstStyle>
            <a:lvl1pPr defTabSz="913725" eaLnBrk="0" hangingPunct="0">
              <a:defRPr kumimoji="0" sz="1200">
                <a:latin typeface="Times New Roman" charset="0"/>
                <a:ea typeface="新細明體" charset="-120"/>
              </a:defRPr>
            </a:lvl1pPr>
          </a:lstStyle>
          <a:p>
            <a:pPr>
              <a:defRPr/>
            </a:pPr>
            <a:endParaRPr lang="en-US" altLang="zh-TW"/>
          </a:p>
        </p:txBody>
      </p:sp>
      <p:sp>
        <p:nvSpPr>
          <p:cNvPr id="189443" name="Rectangle 3"/>
          <p:cNvSpPr>
            <a:spLocks noGrp="1" noChangeArrowheads="1"/>
          </p:cNvSpPr>
          <p:nvPr>
            <p:ph type="dt" sz="quarter" idx="1"/>
          </p:nvPr>
        </p:nvSpPr>
        <p:spPr bwMode="auto">
          <a:xfrm>
            <a:off x="3855082" y="0"/>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67" tIns="45684" rIns="91367" bIns="45684" numCol="1" anchor="t" anchorCtr="0" compatLnSpc="1">
            <a:prstTxWarp prst="textNoShape">
              <a:avLst/>
            </a:prstTxWarp>
          </a:bodyPr>
          <a:lstStyle>
            <a:lvl1pPr algn="r" defTabSz="913725" eaLnBrk="0" hangingPunct="0">
              <a:defRPr kumimoji="0" sz="1200">
                <a:latin typeface="Times New Roman" charset="0"/>
                <a:ea typeface="新細明體" charset="-120"/>
              </a:defRPr>
            </a:lvl1pPr>
          </a:lstStyle>
          <a:p>
            <a:pPr>
              <a:defRPr/>
            </a:pPr>
            <a:endParaRPr lang="en-US" altLang="zh-TW"/>
          </a:p>
        </p:txBody>
      </p:sp>
      <p:sp>
        <p:nvSpPr>
          <p:cNvPr id="189444" name="Rectangle 4"/>
          <p:cNvSpPr>
            <a:spLocks noGrp="1" noChangeArrowheads="1"/>
          </p:cNvSpPr>
          <p:nvPr>
            <p:ph type="ftr" sz="quarter" idx="2"/>
          </p:nvPr>
        </p:nvSpPr>
        <p:spPr bwMode="auto">
          <a:xfrm>
            <a:off x="0" y="9440305"/>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67" tIns="45684" rIns="91367" bIns="45684" numCol="1" anchor="b" anchorCtr="0" compatLnSpc="1">
            <a:prstTxWarp prst="textNoShape">
              <a:avLst/>
            </a:prstTxWarp>
          </a:bodyPr>
          <a:lstStyle>
            <a:lvl1pPr defTabSz="913725" eaLnBrk="0" hangingPunct="0">
              <a:defRPr kumimoji="0" sz="1200">
                <a:latin typeface="Times New Roman" charset="0"/>
                <a:ea typeface="新細明體" charset="-120"/>
              </a:defRPr>
            </a:lvl1pPr>
          </a:lstStyle>
          <a:p>
            <a:pPr>
              <a:defRPr/>
            </a:pPr>
            <a:endParaRPr lang="en-US" altLang="zh-TW"/>
          </a:p>
        </p:txBody>
      </p:sp>
      <p:sp>
        <p:nvSpPr>
          <p:cNvPr id="189445" name="Rectangle 5"/>
          <p:cNvSpPr>
            <a:spLocks noGrp="1" noChangeArrowheads="1"/>
          </p:cNvSpPr>
          <p:nvPr>
            <p:ph type="sldNum" sz="quarter" idx="3"/>
          </p:nvPr>
        </p:nvSpPr>
        <p:spPr bwMode="auto">
          <a:xfrm>
            <a:off x="3855082" y="9440305"/>
            <a:ext cx="2950529"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67" tIns="45684" rIns="91367" bIns="45684" numCol="1" anchor="b" anchorCtr="0" compatLnSpc="1">
            <a:prstTxWarp prst="textNoShape">
              <a:avLst/>
            </a:prstTxWarp>
          </a:bodyPr>
          <a:lstStyle>
            <a:lvl1pPr algn="r" defTabSz="913725" eaLnBrk="0" hangingPunct="0">
              <a:defRPr kumimoji="0" sz="1200">
                <a:latin typeface="Times New Roman" charset="0"/>
                <a:ea typeface="新細明體" charset="-120"/>
              </a:defRPr>
            </a:lvl1pPr>
          </a:lstStyle>
          <a:p>
            <a:pPr>
              <a:defRPr/>
            </a:pPr>
            <a:fld id="{DCF27E8D-48D6-401C-A52B-177B67CB3EAB}" type="slidenum">
              <a:rPr lang="zh-TW" altLang="en-US"/>
              <a:pPr>
                <a:defRPr/>
              </a:pPr>
              <a:t>‹#›</a:t>
            </a:fld>
            <a:endParaRPr lang="en-US" altLang="zh-TW"/>
          </a:p>
        </p:txBody>
      </p:sp>
    </p:spTree>
    <p:extLst>
      <p:ext uri="{BB962C8B-B14F-4D97-AF65-F5344CB8AC3E}">
        <p14:creationId xmlns:p14="http://schemas.microsoft.com/office/powerpoint/2010/main" val="11746439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50529" cy="497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438" tIns="48218" rIns="96438" bIns="48218" numCol="1" anchor="ctr" anchorCtr="0" compatLnSpc="1">
            <a:prstTxWarp prst="textNoShape">
              <a:avLst/>
            </a:prstTxWarp>
          </a:bodyPr>
          <a:lstStyle>
            <a:lvl1pPr defTabSz="964576" eaLnBrk="0" hangingPunct="0">
              <a:defRPr kumimoji="0" sz="1300">
                <a:latin typeface="Times New Roman" charset="0"/>
                <a:ea typeface="新細明體" charset="-120"/>
              </a:defRPr>
            </a:lvl1pPr>
          </a:lstStyle>
          <a:p>
            <a:pPr>
              <a:defRPr/>
            </a:pPr>
            <a:endParaRPr lang="en-US" altLang="zh-TW"/>
          </a:p>
        </p:txBody>
      </p:sp>
      <p:sp>
        <p:nvSpPr>
          <p:cNvPr id="6147" name="Rectangle 3"/>
          <p:cNvSpPr>
            <a:spLocks noGrp="1" noChangeArrowheads="1"/>
          </p:cNvSpPr>
          <p:nvPr>
            <p:ph type="dt" idx="1"/>
          </p:nvPr>
        </p:nvSpPr>
        <p:spPr bwMode="auto">
          <a:xfrm>
            <a:off x="3856671" y="0"/>
            <a:ext cx="2950529" cy="497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438" tIns="48218" rIns="96438" bIns="48218" numCol="1" anchor="ctr" anchorCtr="0" compatLnSpc="1">
            <a:prstTxWarp prst="textNoShape">
              <a:avLst/>
            </a:prstTxWarp>
          </a:bodyPr>
          <a:lstStyle>
            <a:lvl1pPr algn="r" defTabSz="964576" eaLnBrk="0" hangingPunct="0">
              <a:defRPr kumimoji="0" sz="1300">
                <a:latin typeface="Times New Roman" charset="0"/>
                <a:ea typeface="新細明體" charset="-120"/>
              </a:defRPr>
            </a:lvl1pPr>
          </a:lstStyle>
          <a:p>
            <a:pPr>
              <a:defRPr/>
            </a:pPr>
            <a:endParaRPr lang="en-US" altLang="zh-TW"/>
          </a:p>
        </p:txBody>
      </p:sp>
      <p:sp>
        <p:nvSpPr>
          <p:cNvPr id="60420" name="Rectangle 4"/>
          <p:cNvSpPr>
            <a:spLocks noGrp="1" noRot="1" noChangeAspect="1" noChangeArrowheads="1" noTextEdit="1"/>
          </p:cNvSpPr>
          <p:nvPr>
            <p:ph type="sldImg" idx="2"/>
          </p:nvPr>
        </p:nvSpPr>
        <p:spPr bwMode="auto">
          <a:xfrm>
            <a:off x="919163" y="746125"/>
            <a:ext cx="4968875" cy="37258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907733" y="4721743"/>
            <a:ext cx="4991735" cy="44722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438" tIns="48218" rIns="96438" bIns="48218" numCol="1" anchor="ctr" anchorCtr="0" compatLnSpc="1">
            <a:prstTxWarp prst="textNoShape">
              <a:avLst/>
            </a:prstTxWarp>
          </a:bodyPr>
          <a:lstStyle/>
          <a:p>
            <a:pPr lvl="0"/>
            <a:r>
              <a:rPr lang="en-US" altLang="zh-TW" noProof="0" smtClean="0"/>
              <a:t>Click to edit Master text styles</a:t>
            </a:r>
          </a:p>
          <a:p>
            <a:pPr lvl="1"/>
            <a:r>
              <a:rPr lang="en-US" altLang="zh-TW" noProof="0" smtClean="0"/>
              <a:t>Second level</a:t>
            </a:r>
          </a:p>
          <a:p>
            <a:pPr lvl="2"/>
            <a:r>
              <a:rPr lang="en-US" altLang="zh-TW" noProof="0" smtClean="0"/>
              <a:t>Third level</a:t>
            </a:r>
          </a:p>
          <a:p>
            <a:pPr lvl="3"/>
            <a:r>
              <a:rPr lang="en-US" altLang="zh-TW" noProof="0" smtClean="0"/>
              <a:t>Fourth level</a:t>
            </a:r>
          </a:p>
          <a:p>
            <a:pPr lvl="4"/>
            <a:r>
              <a:rPr lang="en-US" altLang="zh-TW" noProof="0" smtClean="0"/>
              <a:t>Fifth level</a:t>
            </a:r>
          </a:p>
        </p:txBody>
      </p:sp>
      <p:sp>
        <p:nvSpPr>
          <p:cNvPr id="6150" name="Rectangle 6"/>
          <p:cNvSpPr>
            <a:spLocks noGrp="1" noChangeArrowheads="1"/>
          </p:cNvSpPr>
          <p:nvPr>
            <p:ph type="ftr" sz="quarter" idx="4"/>
          </p:nvPr>
        </p:nvSpPr>
        <p:spPr bwMode="auto">
          <a:xfrm>
            <a:off x="0" y="9441895"/>
            <a:ext cx="2950529" cy="49744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438" tIns="48218" rIns="96438" bIns="48218" numCol="1" anchor="b" anchorCtr="0" compatLnSpc="1">
            <a:prstTxWarp prst="textNoShape">
              <a:avLst/>
            </a:prstTxWarp>
          </a:bodyPr>
          <a:lstStyle>
            <a:lvl1pPr defTabSz="964576" eaLnBrk="0" hangingPunct="0">
              <a:defRPr kumimoji="0" sz="1300">
                <a:latin typeface="Times New Roman" charset="0"/>
                <a:ea typeface="新細明體" charset="-120"/>
              </a:defRPr>
            </a:lvl1pPr>
          </a:lstStyle>
          <a:p>
            <a:pPr>
              <a:defRPr/>
            </a:pPr>
            <a:endParaRPr lang="en-US" altLang="zh-TW"/>
          </a:p>
        </p:txBody>
      </p:sp>
      <p:sp>
        <p:nvSpPr>
          <p:cNvPr id="6151" name="Rectangle 7"/>
          <p:cNvSpPr>
            <a:spLocks noGrp="1" noChangeArrowheads="1"/>
          </p:cNvSpPr>
          <p:nvPr>
            <p:ph type="sldNum" sz="quarter" idx="5"/>
          </p:nvPr>
        </p:nvSpPr>
        <p:spPr bwMode="auto">
          <a:xfrm>
            <a:off x="3856671" y="9441895"/>
            <a:ext cx="2950529" cy="49744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438" tIns="48218" rIns="96438" bIns="48218" numCol="1" anchor="b" anchorCtr="0" compatLnSpc="1">
            <a:prstTxWarp prst="textNoShape">
              <a:avLst/>
            </a:prstTxWarp>
          </a:bodyPr>
          <a:lstStyle>
            <a:lvl1pPr algn="r" defTabSz="964576" eaLnBrk="0" hangingPunct="0">
              <a:defRPr kumimoji="0" sz="1300">
                <a:latin typeface="Times New Roman" charset="0"/>
                <a:ea typeface="新細明體" charset="-120"/>
              </a:defRPr>
            </a:lvl1pPr>
          </a:lstStyle>
          <a:p>
            <a:pPr>
              <a:defRPr/>
            </a:pPr>
            <a:fld id="{08A7455D-3AFA-420F-B62B-77A491263B95}" type="slidenum">
              <a:rPr lang="zh-TW" altLang="en-US"/>
              <a:pPr>
                <a:defRPr/>
              </a:pPr>
              <a:t>‹#›</a:t>
            </a:fld>
            <a:endParaRPr lang="en-US" altLang="zh-TW"/>
          </a:p>
        </p:txBody>
      </p:sp>
    </p:spTree>
    <p:extLst>
      <p:ext uri="{BB962C8B-B14F-4D97-AF65-F5344CB8AC3E}">
        <p14:creationId xmlns:p14="http://schemas.microsoft.com/office/powerpoint/2010/main" val="19233297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846549FC-0103-422B-8535-DE519C3DF4E2}" type="slidenum">
              <a:rPr kumimoji="0" lang="zh-TW" altLang="en-US" sz="1300">
                <a:latin typeface="Times New Roman" pitchFamily="18" charset="0"/>
              </a:rPr>
              <a:pPr/>
              <a:t>1</a:t>
            </a:fld>
            <a:endParaRPr kumimoji="0" lang="en-US" altLang="zh-TW" sz="1300">
              <a:latin typeface="Times New Roman"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40032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06AF7FE6-B775-4EC4-BA36-EA9093AB0073}" type="slidenum">
              <a:rPr kumimoji="0" lang="zh-TW" altLang="en-US" sz="1300">
                <a:latin typeface="Times New Roman" pitchFamily="18" charset="0"/>
              </a:rPr>
              <a:pPr/>
              <a:t>2</a:t>
            </a:fld>
            <a:endParaRPr kumimoji="0" lang="en-US" altLang="zh-TW" sz="1300">
              <a:latin typeface="Times New Roman"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1349707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08F1198A-8F5C-4529-B3EC-C021164FC2F7}" type="slidenum">
              <a:rPr kumimoji="0" lang="zh-TW" altLang="en-US" sz="1300">
                <a:latin typeface="Times New Roman" pitchFamily="18" charset="0"/>
              </a:rPr>
              <a:pPr/>
              <a:t>3</a:t>
            </a:fld>
            <a:endParaRPr kumimoji="0" lang="en-US" altLang="zh-TW" sz="1300">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xfrm>
            <a:off x="680403" y="4721743"/>
            <a:ext cx="5446396" cy="4472225"/>
          </a:xfrm>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2168516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15FAA644-E31A-42EA-8067-032BB4AD373D}" type="slidenum">
              <a:rPr kumimoji="0" lang="zh-TW" altLang="en-US" sz="1300">
                <a:latin typeface="Times New Roman" pitchFamily="18" charset="0"/>
              </a:rPr>
              <a:pPr/>
              <a:t>4</a:t>
            </a:fld>
            <a:endParaRPr kumimoji="0" lang="en-US" altLang="zh-TW" sz="1300">
              <a:latin typeface="Times New Roman"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xfrm>
            <a:off x="680403" y="4721743"/>
            <a:ext cx="5446396" cy="4472225"/>
          </a:xfrm>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6704223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03514AF5-B690-4144-A860-68D7749D0235}" type="slidenum">
              <a:rPr kumimoji="0" lang="zh-TW" altLang="en-US" sz="1300">
                <a:latin typeface="Times New Roman" pitchFamily="18" charset="0"/>
              </a:rPr>
              <a:pPr/>
              <a:t>5</a:t>
            </a:fld>
            <a:endParaRPr kumimoji="0" lang="en-US" altLang="zh-TW" sz="1300">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1965711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03514AF5-B690-4144-A860-68D7749D0235}" type="slidenum">
              <a:rPr kumimoji="0" lang="zh-TW" altLang="en-US" sz="1300">
                <a:latin typeface="Times New Roman" pitchFamily="18" charset="0"/>
              </a:rPr>
              <a:pPr/>
              <a:t>6</a:t>
            </a:fld>
            <a:endParaRPr kumimoji="0" lang="en-US" altLang="zh-TW" sz="1300">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3841122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03514AF5-B690-4144-A860-68D7749D0235}" type="slidenum">
              <a:rPr kumimoji="0" lang="zh-TW" altLang="en-US" sz="1300">
                <a:latin typeface="Times New Roman" pitchFamily="18" charset="0"/>
              </a:rPr>
              <a:pPr/>
              <a:t>7</a:t>
            </a:fld>
            <a:endParaRPr kumimoji="0" lang="en-US" altLang="zh-TW" sz="1300">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317507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03514AF5-B690-4144-A860-68D7749D0235}" type="slidenum">
              <a:rPr kumimoji="0" lang="zh-TW" altLang="en-US" sz="1300">
                <a:latin typeface="Times New Roman" pitchFamily="18" charset="0"/>
              </a:rPr>
              <a:pPr/>
              <a:t>8</a:t>
            </a:fld>
            <a:endParaRPr kumimoji="0" lang="en-US" altLang="zh-TW" sz="1300">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3881410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73C65111-053E-4A67-9242-47CD1BE9F6CC}" type="slidenum">
              <a:rPr kumimoji="0" lang="zh-TW" altLang="en-US" sz="1300">
                <a:latin typeface="Times New Roman" pitchFamily="18" charset="0"/>
              </a:rPr>
              <a:pPr/>
              <a:t>9</a:t>
            </a:fld>
            <a:endParaRPr kumimoji="0" lang="en-US" altLang="zh-TW" sz="1300">
              <a:latin typeface="Times New Roman"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xfrm>
            <a:off x="680403" y="4721743"/>
            <a:ext cx="5446396" cy="4472225"/>
          </a:xfrm>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16394750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62AB9DE4-8B5D-49F9-ADA3-80AC718BB7A6}" type="slidenum">
              <a:rPr kumimoji="0" lang="zh-TW" altLang="en-US" sz="1300">
                <a:latin typeface="Times New Roman" pitchFamily="18" charset="0"/>
              </a:rPr>
              <a:pPr/>
              <a:t>10</a:t>
            </a:fld>
            <a:endParaRPr kumimoji="0" lang="en-US" altLang="zh-TW" sz="1300">
              <a:latin typeface="Times New Roman"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xfrm>
            <a:off x="680403" y="4721743"/>
            <a:ext cx="5446396" cy="4472225"/>
          </a:xfrm>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3271178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1297D94A-CB2A-4FCD-A861-6874C9221335}" type="slidenum">
              <a:rPr kumimoji="0" lang="zh-TW" altLang="en-US" sz="1300">
                <a:latin typeface="Times New Roman" pitchFamily="18" charset="0"/>
              </a:rPr>
              <a:pPr/>
              <a:t>11</a:t>
            </a:fld>
            <a:endParaRPr kumimoji="0" lang="en-US" altLang="zh-TW" sz="1300">
              <a:latin typeface="Times New Roman"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xfrm>
            <a:off x="680403" y="4721743"/>
            <a:ext cx="5446396" cy="4472225"/>
          </a:xfrm>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16958407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44E8834B-5AC6-4AEE-B37C-06D8FDCEB05B}" type="slidenum">
              <a:rPr kumimoji="0" lang="zh-TW" altLang="en-US" sz="1300">
                <a:latin typeface="Times New Roman" pitchFamily="18" charset="0"/>
              </a:rPr>
              <a:pPr/>
              <a:t>12</a:t>
            </a:fld>
            <a:endParaRPr kumimoji="0" lang="en-US" altLang="zh-TW" sz="1300">
              <a:latin typeface="Times New Roman"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14101174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3B862396-C269-4951-BC77-688B4A0BA1D1}" type="slidenum">
              <a:rPr kumimoji="0" lang="zh-TW" altLang="en-US" sz="1300">
                <a:latin typeface="Times New Roman" pitchFamily="18" charset="0"/>
              </a:rPr>
              <a:pPr/>
              <a:t>13</a:t>
            </a:fld>
            <a:endParaRPr kumimoji="0" lang="en-US" altLang="zh-TW" sz="1300">
              <a:latin typeface="Times New Roman"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4574213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71820238-73CE-4BB7-91B4-7271773574D5}" type="slidenum">
              <a:rPr kumimoji="0" lang="zh-TW" altLang="en-US" sz="1300">
                <a:latin typeface="Times New Roman" pitchFamily="18" charset="0"/>
              </a:rPr>
              <a:pPr/>
              <a:t>14</a:t>
            </a:fld>
            <a:endParaRPr kumimoji="0" lang="en-US" altLang="zh-TW" sz="1300">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2586721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D8022BCF-0AE5-4E95-B02C-59DEC1B2F1CE}" type="slidenum">
              <a:rPr kumimoji="0" lang="zh-TW" altLang="en-US" sz="1300">
                <a:latin typeface="Times New Roman" pitchFamily="18" charset="0"/>
              </a:rPr>
              <a:pPr/>
              <a:t>15</a:t>
            </a:fld>
            <a:endParaRPr kumimoji="0" lang="en-US" altLang="zh-TW" sz="1300">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2779533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8E3EA101-2277-45EC-854A-43B4C9A126C5}" type="slidenum">
              <a:rPr kumimoji="0" lang="zh-TW" altLang="en-US" sz="1300">
                <a:latin typeface="Times New Roman" pitchFamily="18" charset="0"/>
              </a:rPr>
              <a:pPr/>
              <a:t>16</a:t>
            </a:fld>
            <a:endParaRPr kumimoji="0" lang="en-US" altLang="zh-TW" sz="1300">
              <a:latin typeface="Times New Roman"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17613231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6EB326E6-CC50-491A-BF5B-DB835044750C}" type="slidenum">
              <a:rPr kumimoji="0" lang="zh-TW" altLang="en-US" sz="1300">
                <a:latin typeface="Times New Roman" pitchFamily="18" charset="0"/>
              </a:rPr>
              <a:pPr/>
              <a:t>17</a:t>
            </a:fld>
            <a:endParaRPr kumimoji="0" lang="en-US" altLang="zh-TW" sz="1300">
              <a:latin typeface="Times New Roman"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1099253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C8EDF2FF-9396-4E4A-BE41-CBC58B90EF29}" type="slidenum">
              <a:rPr kumimoji="0" lang="zh-TW" altLang="en-US" sz="1300">
                <a:latin typeface="Times New Roman" pitchFamily="18" charset="0"/>
              </a:rPr>
              <a:pPr/>
              <a:t>18</a:t>
            </a:fld>
            <a:endParaRPr kumimoji="0" lang="en-US" altLang="zh-TW" sz="1300">
              <a:latin typeface="Times New Roman"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26462675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4EF96BE6-55F7-49E9-A538-5BE579AAC6B0}" type="slidenum">
              <a:rPr kumimoji="0" lang="zh-TW" altLang="en-US" sz="1300">
                <a:latin typeface="Times New Roman" pitchFamily="18" charset="0"/>
              </a:rPr>
              <a:pPr/>
              <a:t>19</a:t>
            </a:fld>
            <a:endParaRPr kumimoji="0" lang="en-US" altLang="zh-TW" sz="1300">
              <a:latin typeface="Times New Roman"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8452314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8A0CF143-8ED4-4A9F-9403-177933D432B8}" type="slidenum">
              <a:rPr kumimoji="0" lang="zh-TW" altLang="en-US" sz="1300">
                <a:latin typeface="Times New Roman" pitchFamily="18" charset="0"/>
              </a:rPr>
              <a:pPr/>
              <a:t>20</a:t>
            </a:fld>
            <a:endParaRPr kumimoji="0" lang="en-US" altLang="zh-TW" sz="1300">
              <a:latin typeface="Times New Roman"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41632969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DD4248EA-92A9-47F9-9E52-69052F9BF29A}" type="slidenum">
              <a:rPr kumimoji="0" lang="zh-TW" altLang="en-US" sz="1300">
                <a:latin typeface="Times New Roman" pitchFamily="18" charset="0"/>
              </a:rPr>
              <a:pPr/>
              <a:t>21</a:t>
            </a:fld>
            <a:endParaRPr kumimoji="0" lang="en-US" altLang="zh-TW" sz="1300">
              <a:latin typeface="Times New Roman"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29610056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695AD977-98FE-4FC9-BDC4-883A26F7CE09}" type="slidenum">
              <a:rPr kumimoji="0" lang="zh-TW" altLang="en-US" sz="1300">
                <a:latin typeface="Times New Roman" pitchFamily="18" charset="0"/>
              </a:rPr>
              <a:pPr/>
              <a:t>22</a:t>
            </a:fld>
            <a:endParaRPr kumimoji="0" lang="en-US" altLang="zh-TW" sz="1300">
              <a:latin typeface="Times New Roman"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21906485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89C2DECB-A973-4A9C-BACF-5A6C33F87A5B}" type="slidenum">
              <a:rPr kumimoji="0" lang="zh-TW" altLang="en-US" sz="1300">
                <a:latin typeface="Times New Roman" pitchFamily="18" charset="0"/>
              </a:rPr>
              <a:pPr/>
              <a:t>23</a:t>
            </a:fld>
            <a:endParaRPr kumimoji="0" lang="en-US" altLang="zh-TW" sz="1300">
              <a:latin typeface="Times New Roman"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27439771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F083587A-AF2F-4E87-A95C-358A5AB3E59E}" type="slidenum">
              <a:rPr kumimoji="0" lang="zh-TW" altLang="en-US" sz="1300">
                <a:latin typeface="Times New Roman" pitchFamily="18" charset="0"/>
              </a:rPr>
              <a:pPr/>
              <a:t>24</a:t>
            </a:fld>
            <a:endParaRPr kumimoji="0" lang="en-US" altLang="zh-TW" sz="1300">
              <a:latin typeface="Times New Roman" pitchFamily="18"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21474394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BA695817-CBCB-4EE1-9227-5A763D949652}" type="slidenum">
              <a:rPr kumimoji="0" lang="zh-TW" altLang="en-US" sz="1300">
                <a:latin typeface="Times New Roman" pitchFamily="18" charset="0"/>
              </a:rPr>
              <a:pPr/>
              <a:t>25</a:t>
            </a:fld>
            <a:endParaRPr kumimoji="0" lang="en-US" altLang="zh-TW" sz="1300">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5262074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1136515D-BD7E-4D06-B672-1ED278D625DB}" type="slidenum">
              <a:rPr kumimoji="0" lang="zh-TW" altLang="en-US" sz="1300">
                <a:latin typeface="Times New Roman" pitchFamily="18" charset="0"/>
              </a:rPr>
              <a:pPr/>
              <a:t>26</a:t>
            </a:fld>
            <a:endParaRPr kumimoji="0" lang="en-US" altLang="zh-TW" sz="1300">
              <a:latin typeface="Times New Roman"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25773492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D82E6887-A838-4240-8912-7827D3CD076C}" type="slidenum">
              <a:rPr kumimoji="0" lang="zh-TW" altLang="en-US" sz="1300">
                <a:latin typeface="Times New Roman" pitchFamily="18" charset="0"/>
              </a:rPr>
              <a:pPr/>
              <a:t>27</a:t>
            </a:fld>
            <a:endParaRPr kumimoji="0" lang="en-US" altLang="zh-TW" sz="1300">
              <a:latin typeface="Times New Roman" pitchFamily="18"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xfrm>
            <a:off x="680403" y="4721743"/>
            <a:ext cx="5446396" cy="4472225"/>
          </a:xfrm>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32761892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BC6BF7DE-017B-4D07-A22A-33C1F52F6261}" type="slidenum">
              <a:rPr kumimoji="0" lang="zh-TW" altLang="en-US" sz="1300">
                <a:latin typeface="Times New Roman" pitchFamily="18" charset="0"/>
              </a:rPr>
              <a:pPr/>
              <a:t>28</a:t>
            </a:fld>
            <a:endParaRPr kumimoji="0" lang="en-US" altLang="zh-TW" sz="1300">
              <a:latin typeface="Times New Roman" pitchFamily="18"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16408035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B7B0F4DD-7164-4C81-95D9-4EB1CF068FA8}" type="slidenum">
              <a:rPr kumimoji="0" lang="zh-TW" altLang="en-US" sz="1300">
                <a:latin typeface="Times New Roman" pitchFamily="18" charset="0"/>
              </a:rPr>
              <a:pPr/>
              <a:t>29</a:t>
            </a:fld>
            <a:endParaRPr kumimoji="0" lang="en-US" altLang="zh-TW" sz="1300">
              <a:latin typeface="Times New Roman" pitchFamily="18"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38868854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2EC09205-F6F4-43CB-93E3-0A027EA91F60}" type="slidenum">
              <a:rPr kumimoji="0" lang="zh-TW" altLang="en-US" sz="1300">
                <a:latin typeface="Times New Roman" pitchFamily="18" charset="0"/>
              </a:rPr>
              <a:pPr/>
              <a:t>30</a:t>
            </a:fld>
            <a:endParaRPr kumimoji="0" lang="en-US" altLang="zh-TW" sz="1300">
              <a:latin typeface="Times New Roman" pitchFamily="18"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xfrm>
            <a:off x="680403" y="4721743"/>
            <a:ext cx="5446396" cy="4472225"/>
          </a:xfrm>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8023505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C51B466C-8A0C-422E-917C-716D42E4BE96}" type="slidenum">
              <a:rPr kumimoji="0" lang="zh-TW" altLang="en-US" sz="1300">
                <a:latin typeface="Times New Roman" pitchFamily="18" charset="0"/>
              </a:rPr>
              <a:pPr/>
              <a:t>31</a:t>
            </a:fld>
            <a:endParaRPr kumimoji="0" lang="en-US" altLang="zh-TW" sz="1300">
              <a:latin typeface="Times New Roman" pitchFamily="18"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42021948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2D9229C8-300F-4F3D-B3DF-6469F7DC8261}" type="slidenum">
              <a:rPr kumimoji="0" lang="zh-TW" altLang="en-US" sz="1300">
                <a:latin typeface="Times New Roman" pitchFamily="18" charset="0"/>
              </a:rPr>
              <a:pPr/>
              <a:t>32</a:t>
            </a:fld>
            <a:endParaRPr kumimoji="0" lang="en-US" altLang="zh-TW" sz="1300">
              <a:latin typeface="Times New Roman" pitchFamily="18"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13977170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8ED9AE65-DCEB-478E-8F49-E557838DD774}" type="slidenum">
              <a:rPr kumimoji="0" lang="zh-TW" altLang="en-US" sz="1300">
                <a:latin typeface="Times New Roman" pitchFamily="18" charset="0"/>
              </a:rPr>
              <a:pPr/>
              <a:t>33</a:t>
            </a:fld>
            <a:endParaRPr kumimoji="0" lang="en-US" altLang="zh-TW" sz="1300">
              <a:latin typeface="Times New Roman" pitchFamily="18"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26351827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06AF1EA5-2E77-4EE4-B5DB-C790D4664A1D}" type="slidenum">
              <a:rPr kumimoji="0" lang="zh-TW" altLang="en-US" sz="1300">
                <a:latin typeface="Times New Roman" pitchFamily="18" charset="0"/>
              </a:rPr>
              <a:pPr/>
              <a:t>34</a:t>
            </a:fld>
            <a:endParaRPr kumimoji="0" lang="en-US" altLang="zh-TW" sz="1300">
              <a:latin typeface="Times New Roman" pitchFamily="18"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13601773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A4578748-CED8-4AA3-9BDD-A02C53007A07}" type="slidenum">
              <a:rPr kumimoji="0" lang="zh-TW" altLang="en-US" sz="1300">
                <a:latin typeface="Times New Roman" pitchFamily="18" charset="0"/>
              </a:rPr>
              <a:pPr/>
              <a:t>35</a:t>
            </a:fld>
            <a:endParaRPr kumimoji="0" lang="en-US" altLang="zh-TW" sz="1300">
              <a:latin typeface="Times New Roman" pitchFamily="18"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30142001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41A6AA87-A24E-4922-A4E6-69F0E2F21E78}" type="slidenum">
              <a:rPr kumimoji="0" lang="zh-TW" altLang="en-US" sz="1300">
                <a:latin typeface="Times New Roman" pitchFamily="18" charset="0"/>
              </a:rPr>
              <a:pPr/>
              <a:t>36</a:t>
            </a:fld>
            <a:endParaRPr kumimoji="0" lang="en-US" altLang="zh-TW" sz="1300">
              <a:latin typeface="Times New Roman" pitchFamily="18"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xfrm>
            <a:off x="680403" y="4721743"/>
            <a:ext cx="5446396" cy="4472225"/>
          </a:xfrm>
          <a:noFill/>
        </p:spPr>
        <p:txBody>
          <a:bodyPr/>
          <a:lstStyle/>
          <a:p>
            <a:pPr marL="227285" indent="-227285"/>
            <a:endParaRPr lang="zh-TW" altLang="en-US" smtClean="0">
              <a:latin typeface="Times New Roman" pitchFamily="18" charset="0"/>
              <a:sym typeface="Symbol" pitchFamily="18" charset="2"/>
            </a:endParaRPr>
          </a:p>
        </p:txBody>
      </p:sp>
    </p:spTree>
    <p:extLst>
      <p:ext uri="{BB962C8B-B14F-4D97-AF65-F5344CB8AC3E}">
        <p14:creationId xmlns:p14="http://schemas.microsoft.com/office/powerpoint/2010/main" val="40448129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D2675C1B-2BE2-4687-8A22-0917DC65C952}" type="slidenum">
              <a:rPr kumimoji="0" lang="zh-TW" altLang="en-US" sz="1300">
                <a:latin typeface="Times New Roman" pitchFamily="18" charset="0"/>
              </a:rPr>
              <a:pPr/>
              <a:t>37</a:t>
            </a:fld>
            <a:endParaRPr kumimoji="0" lang="en-US" altLang="zh-TW" sz="1300">
              <a:latin typeface="Times New Roman"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26655682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A69AA553-EF8D-4B94-AF0E-D19D8459E457}" type="slidenum">
              <a:rPr kumimoji="0" lang="zh-TW" altLang="en-US" sz="1300">
                <a:latin typeface="Times New Roman" pitchFamily="18" charset="0"/>
              </a:rPr>
              <a:pPr/>
              <a:t>38</a:t>
            </a:fld>
            <a:endParaRPr kumimoji="0" lang="en-US" altLang="zh-TW" sz="1300">
              <a:latin typeface="Times New Roman"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22208013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1483D6A4-7CA1-4452-BA13-1D808CF579C7}" type="slidenum">
              <a:rPr kumimoji="0" lang="zh-TW" altLang="en-US" sz="1300">
                <a:latin typeface="Times New Roman" pitchFamily="18" charset="0"/>
              </a:rPr>
              <a:pPr/>
              <a:t>39</a:t>
            </a:fld>
            <a:endParaRPr kumimoji="0" lang="en-US" altLang="zh-TW" sz="1300">
              <a:latin typeface="Times New Roman" pitchFamily="18"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13862264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1682B93B-5E87-446F-8A3E-0424782E87AF}" type="slidenum">
              <a:rPr kumimoji="0" lang="zh-TW" altLang="en-US" sz="1300">
                <a:latin typeface="Times New Roman" pitchFamily="18" charset="0"/>
              </a:rPr>
              <a:pPr/>
              <a:t>40</a:t>
            </a:fld>
            <a:endParaRPr kumimoji="0" lang="en-US" altLang="zh-TW" sz="1300">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29975062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1682B93B-5E87-446F-8A3E-0424782E87AF}" type="slidenum">
              <a:rPr kumimoji="0" lang="zh-TW" altLang="en-US" sz="1300">
                <a:latin typeface="Times New Roman" pitchFamily="18" charset="0"/>
              </a:rPr>
              <a:pPr/>
              <a:t>41</a:t>
            </a:fld>
            <a:endParaRPr kumimoji="0" lang="en-US" altLang="zh-TW" sz="1300">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3869447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0826B3D0-8F49-4185-88A0-D8D4C7EF9C38}" type="slidenum">
              <a:rPr kumimoji="0" lang="zh-TW" altLang="en-US" sz="1300">
                <a:latin typeface="Times New Roman" pitchFamily="18" charset="0"/>
              </a:rPr>
              <a:pPr/>
              <a:t>42</a:t>
            </a:fld>
            <a:endParaRPr kumimoji="0" lang="en-US" altLang="zh-TW" sz="1300">
              <a:latin typeface="Times New Roman" pitchFamily="18"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39329920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BCC5E38A-05F8-4E3F-8708-961611AA1524}" type="slidenum">
              <a:rPr kumimoji="0" lang="zh-TW" altLang="en-US" sz="1300">
                <a:latin typeface="Times New Roman" pitchFamily="18" charset="0"/>
              </a:rPr>
              <a:pPr/>
              <a:t>43</a:t>
            </a:fld>
            <a:endParaRPr kumimoji="0" lang="en-US" altLang="zh-TW" sz="1300">
              <a:latin typeface="Times New Roman" pitchFamily="18"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23772719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FEFB2CEE-16FF-4A15-ACE7-5091DC5F00E0}" type="slidenum">
              <a:rPr kumimoji="0" lang="zh-TW" altLang="en-US" sz="1300">
                <a:latin typeface="Times New Roman" pitchFamily="18" charset="0"/>
              </a:rPr>
              <a:pPr/>
              <a:t>44</a:t>
            </a:fld>
            <a:endParaRPr kumimoji="0" lang="en-US" altLang="zh-TW" sz="1300">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16733464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FEFB2CEE-16FF-4A15-ACE7-5091DC5F00E0}" type="slidenum">
              <a:rPr kumimoji="0" lang="zh-TW" altLang="en-US" sz="1300">
                <a:latin typeface="Times New Roman" pitchFamily="18" charset="0"/>
              </a:rPr>
              <a:pPr/>
              <a:t>45</a:t>
            </a:fld>
            <a:endParaRPr kumimoji="0" lang="en-US" altLang="zh-TW" sz="1300">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29051133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defTabSz="963179" eaLnBrk="0" hangingPunct="0">
              <a:defRPr kumimoji="1" sz="2400">
                <a:solidFill>
                  <a:schemeClr val="tx1"/>
                </a:solidFill>
                <a:latin typeface="Tahoma" pitchFamily="34" charset="0"/>
                <a:ea typeface="新細明體" pitchFamily="18" charset="-120"/>
              </a:defRPr>
            </a:lvl1pPr>
            <a:lvl2pPr marL="743842" indent="-286093" defTabSz="963179" eaLnBrk="0" hangingPunct="0">
              <a:defRPr kumimoji="1" sz="2400">
                <a:solidFill>
                  <a:schemeClr val="tx1"/>
                </a:solidFill>
                <a:latin typeface="Tahoma" pitchFamily="34" charset="0"/>
                <a:ea typeface="新細明體" pitchFamily="18" charset="-120"/>
              </a:defRPr>
            </a:lvl2pPr>
            <a:lvl3pPr marL="1144372" indent="-228874" defTabSz="963179" eaLnBrk="0" hangingPunct="0">
              <a:defRPr kumimoji="1" sz="2400">
                <a:solidFill>
                  <a:schemeClr val="tx1"/>
                </a:solidFill>
                <a:latin typeface="Tahoma" pitchFamily="34" charset="0"/>
                <a:ea typeface="新細明體" pitchFamily="18" charset="-120"/>
              </a:defRPr>
            </a:lvl3pPr>
            <a:lvl4pPr marL="1602120" indent="-228874" defTabSz="963179" eaLnBrk="0" hangingPunct="0">
              <a:defRPr kumimoji="1" sz="2400">
                <a:solidFill>
                  <a:schemeClr val="tx1"/>
                </a:solidFill>
                <a:latin typeface="Tahoma" pitchFamily="34" charset="0"/>
                <a:ea typeface="新細明體" pitchFamily="18" charset="-120"/>
              </a:defRPr>
            </a:lvl4pPr>
            <a:lvl5pPr marL="2059869" indent="-228874" defTabSz="963179" eaLnBrk="0" hangingPunct="0">
              <a:defRPr kumimoji="1" sz="2400">
                <a:solidFill>
                  <a:schemeClr val="tx1"/>
                </a:solidFill>
                <a:latin typeface="Tahoma" pitchFamily="34" charset="0"/>
                <a:ea typeface="新細明體" pitchFamily="18" charset="-120"/>
              </a:defRPr>
            </a:lvl5pPr>
            <a:lvl6pPr marL="2517618"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5366"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33115"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90863" indent="-228874" defTabSz="963179"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fld id="{FEFB2CEE-16FF-4A15-ACE7-5091DC5F00E0}" type="slidenum">
              <a:rPr kumimoji="0" lang="zh-TW" altLang="en-US" sz="1300">
                <a:latin typeface="Times New Roman" pitchFamily="18" charset="0"/>
              </a:rPr>
              <a:pPr/>
              <a:t>46</a:t>
            </a:fld>
            <a:endParaRPr kumimoji="0" lang="en-US" altLang="zh-TW" sz="1300">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p:spPr>
        <p:txBody>
          <a:bodyPr/>
          <a:lstStyle/>
          <a:p>
            <a:endParaRPr lang="zh-TW" altLang="en-US" smtClean="0">
              <a:latin typeface="Times New Roman" pitchFamily="18" charset="0"/>
            </a:endParaRPr>
          </a:p>
        </p:txBody>
      </p:sp>
    </p:spTree>
    <p:extLst>
      <p:ext uri="{BB962C8B-B14F-4D97-AF65-F5344CB8AC3E}">
        <p14:creationId xmlns:p14="http://schemas.microsoft.com/office/powerpoint/2010/main" val="1582220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grpSp>
          <p:nvGrpSpPr>
            <p:cNvPr id="5" name="Group 3"/>
            <p:cNvGrpSpPr>
              <a:grpSpLocks/>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grpSp>
            <p:nvGrpSpPr>
              <p:cNvPr id="16" name="Group 5"/>
              <p:cNvGrpSpPr>
                <a:grpSpLocks/>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nvGrpSpPr>
            <p:cNvPr id="6" name="Group 58"/>
            <p:cNvGrpSpPr>
              <a:grpSpLocks/>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4" name="Arc 62"/>
              <p:cNvSpPr>
                <a:spLocks/>
              </p:cNvSpPr>
              <p:nvPr/>
            </p:nvSpPr>
            <p:spPr bwMode="ltGray">
              <a:xfrm rot="16200000" flipH="1">
                <a:off x="426" y="860"/>
                <a:ext cx="156" cy="157"/>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nvGrpSpPr>
            <p:cNvPr id="7" name="Group 63"/>
            <p:cNvGrpSpPr>
              <a:grpSpLocks/>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 name="Arc 66"/>
              <p:cNvSpPr>
                <a:spLocks/>
              </p:cNvSpPr>
              <p:nvPr/>
            </p:nvSpPr>
            <p:spPr bwMode="ltGray">
              <a:xfrm rot="5400000">
                <a:off x="5097" y="3346"/>
                <a:ext cx="156" cy="157"/>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sp>
        <p:nvSpPr>
          <p:cNvPr id="98371" name="Rectangle 67"/>
          <p:cNvSpPr>
            <a:spLocks noGrp="1" noChangeArrowheads="1"/>
          </p:cNvSpPr>
          <p:nvPr>
            <p:ph type="ctrTitle"/>
          </p:nvPr>
        </p:nvSpPr>
        <p:spPr>
          <a:xfrm>
            <a:off x="990600" y="1752600"/>
            <a:ext cx="7772400" cy="1143000"/>
          </a:xfrm>
        </p:spPr>
        <p:txBody>
          <a:bodyPr/>
          <a:lstStyle>
            <a:lvl1pPr>
              <a:defRPr/>
            </a:lvl1pPr>
          </a:lstStyle>
          <a:p>
            <a:pPr lvl="0"/>
            <a:r>
              <a:rPr lang="zh-TW" altLang="en-US" noProof="0" smtClean="0"/>
              <a:t>按一下以編輯母片標題樣式</a:t>
            </a:r>
          </a:p>
        </p:txBody>
      </p:sp>
      <p:sp>
        <p:nvSpPr>
          <p:cNvPr id="98372" name="Rectangle 68" descr="Rectangle: Click to edit Master text styles&#10;Second level&#10;Third level&#10;Fourth level&#10;Fifth level"/>
          <p:cNvSpPr>
            <a:spLocks noGrp="1" noChangeArrowheads="1"/>
          </p:cNvSpPr>
          <p:nvPr>
            <p:ph type="subTitle" idx="1"/>
          </p:nvPr>
        </p:nvSpPr>
        <p:spPr>
          <a:xfrm>
            <a:off x="990600" y="3309938"/>
            <a:ext cx="6400800" cy="1752600"/>
          </a:xfrm>
        </p:spPr>
        <p:txBody>
          <a:bodyPr/>
          <a:lstStyle>
            <a:lvl1pPr marL="0" indent="0">
              <a:buFont typeface="Wingdings" pitchFamily="2" charset="2"/>
              <a:buNone/>
              <a:defRPr/>
            </a:lvl1pPr>
          </a:lstStyle>
          <a:p>
            <a:pPr lvl="0"/>
            <a:r>
              <a:rPr lang="zh-TW" altLang="en-US" noProof="0" smtClean="0"/>
              <a:t>按一下以編輯母片副標題樣式</a:t>
            </a:r>
          </a:p>
        </p:txBody>
      </p:sp>
      <p:sp>
        <p:nvSpPr>
          <p:cNvPr id="69" name="Rectangle 69"/>
          <p:cNvSpPr>
            <a:spLocks noGrp="1" noChangeArrowheads="1"/>
          </p:cNvSpPr>
          <p:nvPr>
            <p:ph type="dt" sz="quarter" idx="10"/>
          </p:nvPr>
        </p:nvSpPr>
        <p:spPr/>
        <p:txBody>
          <a:bodyPr/>
          <a:lstStyle>
            <a:lvl1pPr>
              <a:defRPr/>
            </a:lvl1pPr>
          </a:lstStyle>
          <a:p>
            <a:pPr>
              <a:defRPr/>
            </a:pPr>
            <a:fld id="{031B29D5-941A-4148-A976-8E5C8C8F6AFD}" type="datetime1">
              <a:rPr lang="zh-TW" altLang="en-US" smtClean="0"/>
              <a:t>2018/5/4</a:t>
            </a:fld>
            <a:endParaRPr lang="en-US" altLang="zh-TW"/>
          </a:p>
        </p:txBody>
      </p:sp>
      <p:sp>
        <p:nvSpPr>
          <p:cNvPr id="70" name="Rectangle 70"/>
          <p:cNvSpPr>
            <a:spLocks noGrp="1" noChangeArrowheads="1"/>
          </p:cNvSpPr>
          <p:nvPr>
            <p:ph type="ftr" sz="quarter" idx="11"/>
          </p:nvPr>
        </p:nvSpPr>
        <p:spPr/>
        <p:txBody>
          <a:bodyPr/>
          <a:lstStyle>
            <a:lvl1pPr>
              <a:defRPr/>
            </a:lvl1pPr>
          </a:lstStyle>
          <a:p>
            <a:pPr>
              <a:defRPr/>
            </a:pPr>
            <a:r>
              <a:rPr lang="en-US" altLang="zh-TW" smtClean="0"/>
              <a:t>os10-2018</a:t>
            </a:r>
            <a:endParaRPr lang="en-US" altLang="zh-TW"/>
          </a:p>
        </p:txBody>
      </p:sp>
      <p:sp>
        <p:nvSpPr>
          <p:cNvPr id="71" name="Rectangle 71"/>
          <p:cNvSpPr>
            <a:spLocks noGrp="1" noChangeArrowheads="1"/>
          </p:cNvSpPr>
          <p:nvPr>
            <p:ph type="sldNum" sz="quarter" idx="12"/>
          </p:nvPr>
        </p:nvSpPr>
        <p:spPr/>
        <p:txBody>
          <a:bodyPr/>
          <a:lstStyle>
            <a:lvl1pPr>
              <a:defRPr/>
            </a:lvl1pPr>
          </a:lstStyle>
          <a:p>
            <a:pPr>
              <a:defRPr/>
            </a:pPr>
            <a:fld id="{9512BD03-F6C7-4003-AA3D-C9DE241BA26F}" type="slidenum">
              <a:rPr lang="zh-TW" altLang="en-US"/>
              <a:pPr>
                <a:defRPr/>
              </a:pPr>
              <a:t>‹#›</a:t>
            </a:fld>
            <a:endParaRPr lang="en-US" altLang="zh-TW"/>
          </a:p>
        </p:txBody>
      </p:sp>
    </p:spTree>
    <p:extLst>
      <p:ext uri="{BB962C8B-B14F-4D97-AF65-F5344CB8AC3E}">
        <p14:creationId xmlns:p14="http://schemas.microsoft.com/office/powerpoint/2010/main" val="2469173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65"/>
          <p:cNvSpPr>
            <a:spLocks noGrp="1" noChangeArrowheads="1"/>
          </p:cNvSpPr>
          <p:nvPr>
            <p:ph type="dt" sz="half" idx="10"/>
          </p:nvPr>
        </p:nvSpPr>
        <p:spPr>
          <a:ln/>
        </p:spPr>
        <p:txBody>
          <a:bodyPr/>
          <a:lstStyle>
            <a:lvl1pPr>
              <a:defRPr/>
            </a:lvl1pPr>
          </a:lstStyle>
          <a:p>
            <a:pPr>
              <a:defRPr/>
            </a:pPr>
            <a:fld id="{9ACBA458-C597-4E00-A9C9-B6CAFFF4266E}" type="datetime1">
              <a:rPr lang="zh-TW" altLang="en-US" smtClean="0"/>
              <a:t>2018/5/4</a:t>
            </a:fld>
            <a:endParaRPr lang="en-US" altLang="zh-TW"/>
          </a:p>
        </p:txBody>
      </p:sp>
      <p:sp>
        <p:nvSpPr>
          <p:cNvPr id="5" name="Rectangle 66"/>
          <p:cNvSpPr>
            <a:spLocks noGrp="1" noChangeArrowheads="1"/>
          </p:cNvSpPr>
          <p:nvPr>
            <p:ph type="ftr" sz="quarter" idx="11"/>
          </p:nvPr>
        </p:nvSpPr>
        <p:spPr>
          <a:ln/>
        </p:spPr>
        <p:txBody>
          <a:bodyPr/>
          <a:lstStyle>
            <a:lvl1pPr>
              <a:defRPr/>
            </a:lvl1pPr>
          </a:lstStyle>
          <a:p>
            <a:pPr>
              <a:defRPr/>
            </a:pPr>
            <a:r>
              <a:rPr lang="en-US" altLang="zh-TW" smtClean="0"/>
              <a:t>os10-2018</a:t>
            </a:r>
            <a:endParaRPr lang="en-US" altLang="zh-TW"/>
          </a:p>
        </p:txBody>
      </p:sp>
      <p:sp>
        <p:nvSpPr>
          <p:cNvPr id="6" name="Rectangle 67"/>
          <p:cNvSpPr>
            <a:spLocks noGrp="1" noChangeArrowheads="1"/>
          </p:cNvSpPr>
          <p:nvPr>
            <p:ph type="sldNum" sz="quarter" idx="12"/>
          </p:nvPr>
        </p:nvSpPr>
        <p:spPr>
          <a:ln/>
        </p:spPr>
        <p:txBody>
          <a:bodyPr/>
          <a:lstStyle>
            <a:lvl1pPr>
              <a:defRPr/>
            </a:lvl1pPr>
          </a:lstStyle>
          <a:p>
            <a:pPr>
              <a:defRPr/>
            </a:pPr>
            <a:fld id="{78C30702-F202-482B-A593-FD35959929CD}" type="slidenum">
              <a:rPr lang="zh-TW" altLang="en-US"/>
              <a:pPr>
                <a:defRPr/>
              </a:pPr>
              <a:t>‹#›</a:t>
            </a:fld>
            <a:endParaRPr lang="en-US" altLang="zh-TW"/>
          </a:p>
        </p:txBody>
      </p:sp>
    </p:spTree>
    <p:extLst>
      <p:ext uri="{BB962C8B-B14F-4D97-AF65-F5344CB8AC3E}">
        <p14:creationId xmlns:p14="http://schemas.microsoft.com/office/powerpoint/2010/main" val="960207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65"/>
          <p:cNvSpPr>
            <a:spLocks noGrp="1" noChangeArrowheads="1"/>
          </p:cNvSpPr>
          <p:nvPr>
            <p:ph type="dt" sz="half" idx="10"/>
          </p:nvPr>
        </p:nvSpPr>
        <p:spPr>
          <a:ln/>
        </p:spPr>
        <p:txBody>
          <a:bodyPr/>
          <a:lstStyle>
            <a:lvl1pPr>
              <a:defRPr/>
            </a:lvl1pPr>
          </a:lstStyle>
          <a:p>
            <a:pPr>
              <a:defRPr/>
            </a:pPr>
            <a:fld id="{FE62703A-CC0D-4648-9481-23B08279FA9B}" type="datetime1">
              <a:rPr lang="zh-TW" altLang="en-US" smtClean="0"/>
              <a:t>2018/5/4</a:t>
            </a:fld>
            <a:endParaRPr lang="en-US" altLang="zh-TW"/>
          </a:p>
        </p:txBody>
      </p:sp>
      <p:sp>
        <p:nvSpPr>
          <p:cNvPr id="5" name="Rectangle 66"/>
          <p:cNvSpPr>
            <a:spLocks noGrp="1" noChangeArrowheads="1"/>
          </p:cNvSpPr>
          <p:nvPr>
            <p:ph type="ftr" sz="quarter" idx="11"/>
          </p:nvPr>
        </p:nvSpPr>
        <p:spPr>
          <a:ln/>
        </p:spPr>
        <p:txBody>
          <a:bodyPr/>
          <a:lstStyle>
            <a:lvl1pPr>
              <a:defRPr/>
            </a:lvl1pPr>
          </a:lstStyle>
          <a:p>
            <a:pPr>
              <a:defRPr/>
            </a:pPr>
            <a:r>
              <a:rPr lang="en-US" altLang="zh-TW" smtClean="0"/>
              <a:t>os10-2018</a:t>
            </a:r>
            <a:endParaRPr lang="en-US" altLang="zh-TW"/>
          </a:p>
        </p:txBody>
      </p:sp>
      <p:sp>
        <p:nvSpPr>
          <p:cNvPr id="6" name="Rectangle 67"/>
          <p:cNvSpPr>
            <a:spLocks noGrp="1" noChangeArrowheads="1"/>
          </p:cNvSpPr>
          <p:nvPr>
            <p:ph type="sldNum" sz="quarter" idx="12"/>
          </p:nvPr>
        </p:nvSpPr>
        <p:spPr>
          <a:ln/>
        </p:spPr>
        <p:txBody>
          <a:bodyPr/>
          <a:lstStyle>
            <a:lvl1pPr>
              <a:defRPr/>
            </a:lvl1pPr>
          </a:lstStyle>
          <a:p>
            <a:pPr>
              <a:defRPr/>
            </a:pPr>
            <a:fld id="{6DAB40C3-7897-46E7-B820-2493751AA10B}" type="slidenum">
              <a:rPr lang="zh-TW" altLang="en-US"/>
              <a:pPr>
                <a:defRPr/>
              </a:pPr>
              <a:t>‹#›</a:t>
            </a:fld>
            <a:endParaRPr lang="en-US" altLang="zh-TW"/>
          </a:p>
        </p:txBody>
      </p:sp>
    </p:spTree>
    <p:extLst>
      <p:ext uri="{BB962C8B-B14F-4D97-AF65-F5344CB8AC3E}">
        <p14:creationId xmlns:p14="http://schemas.microsoft.com/office/powerpoint/2010/main" val="4038828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8006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65"/>
          <p:cNvSpPr>
            <a:spLocks noGrp="1" noChangeArrowheads="1"/>
          </p:cNvSpPr>
          <p:nvPr>
            <p:ph type="dt" sz="half" idx="10"/>
          </p:nvPr>
        </p:nvSpPr>
        <p:spPr>
          <a:ln/>
        </p:spPr>
        <p:txBody>
          <a:bodyPr/>
          <a:lstStyle>
            <a:lvl1pPr>
              <a:defRPr/>
            </a:lvl1pPr>
          </a:lstStyle>
          <a:p>
            <a:pPr>
              <a:defRPr/>
            </a:pPr>
            <a:fld id="{0E22DD05-EDB3-4847-AA87-4AE0F18BCAD8}" type="datetime1">
              <a:rPr lang="zh-TW" altLang="en-US" smtClean="0"/>
              <a:t>2018/5/4</a:t>
            </a:fld>
            <a:endParaRPr lang="en-US" altLang="zh-TW"/>
          </a:p>
        </p:txBody>
      </p:sp>
      <p:sp>
        <p:nvSpPr>
          <p:cNvPr id="6" name="Rectangle 66"/>
          <p:cNvSpPr>
            <a:spLocks noGrp="1" noChangeArrowheads="1"/>
          </p:cNvSpPr>
          <p:nvPr>
            <p:ph type="ftr" sz="quarter" idx="11"/>
          </p:nvPr>
        </p:nvSpPr>
        <p:spPr>
          <a:ln/>
        </p:spPr>
        <p:txBody>
          <a:bodyPr/>
          <a:lstStyle>
            <a:lvl1pPr>
              <a:defRPr/>
            </a:lvl1pPr>
          </a:lstStyle>
          <a:p>
            <a:pPr>
              <a:defRPr/>
            </a:pPr>
            <a:r>
              <a:rPr lang="en-US" altLang="zh-TW" smtClean="0"/>
              <a:t>os10-2018</a:t>
            </a:r>
            <a:endParaRPr lang="en-US" altLang="zh-TW"/>
          </a:p>
        </p:txBody>
      </p:sp>
      <p:sp>
        <p:nvSpPr>
          <p:cNvPr id="7" name="Rectangle 67"/>
          <p:cNvSpPr>
            <a:spLocks noGrp="1" noChangeArrowheads="1"/>
          </p:cNvSpPr>
          <p:nvPr>
            <p:ph type="sldNum" sz="quarter" idx="12"/>
          </p:nvPr>
        </p:nvSpPr>
        <p:spPr>
          <a:ln/>
        </p:spPr>
        <p:txBody>
          <a:bodyPr/>
          <a:lstStyle>
            <a:lvl1pPr>
              <a:defRPr/>
            </a:lvl1pPr>
          </a:lstStyle>
          <a:p>
            <a:pPr>
              <a:defRPr/>
            </a:pPr>
            <a:fld id="{77C52880-9732-44EA-B867-7A6E327B2A71}" type="slidenum">
              <a:rPr lang="zh-TW" altLang="en-US"/>
              <a:pPr>
                <a:defRPr/>
              </a:pPr>
              <a:t>‹#›</a:t>
            </a:fld>
            <a:endParaRPr lang="en-US" altLang="zh-TW"/>
          </a:p>
        </p:txBody>
      </p:sp>
    </p:spTree>
    <p:extLst>
      <p:ext uri="{BB962C8B-B14F-4D97-AF65-F5344CB8AC3E}">
        <p14:creationId xmlns:p14="http://schemas.microsoft.com/office/powerpoint/2010/main" val="2546674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65"/>
          <p:cNvSpPr>
            <a:spLocks noGrp="1" noChangeArrowheads="1"/>
          </p:cNvSpPr>
          <p:nvPr>
            <p:ph type="dt" sz="half" idx="10"/>
          </p:nvPr>
        </p:nvSpPr>
        <p:spPr>
          <a:ln/>
        </p:spPr>
        <p:txBody>
          <a:bodyPr/>
          <a:lstStyle>
            <a:lvl1pPr>
              <a:defRPr/>
            </a:lvl1pPr>
          </a:lstStyle>
          <a:p>
            <a:pPr>
              <a:defRPr/>
            </a:pPr>
            <a:fld id="{78639402-E9FB-4A3F-8694-D5B03058E926}" type="datetime1">
              <a:rPr lang="zh-TW" altLang="en-US" smtClean="0"/>
              <a:t>2018/5/4</a:t>
            </a:fld>
            <a:endParaRPr lang="en-US" altLang="zh-TW"/>
          </a:p>
        </p:txBody>
      </p:sp>
      <p:sp>
        <p:nvSpPr>
          <p:cNvPr id="8" name="Rectangle 66"/>
          <p:cNvSpPr>
            <a:spLocks noGrp="1" noChangeArrowheads="1"/>
          </p:cNvSpPr>
          <p:nvPr>
            <p:ph type="ftr" sz="quarter" idx="11"/>
          </p:nvPr>
        </p:nvSpPr>
        <p:spPr>
          <a:ln/>
        </p:spPr>
        <p:txBody>
          <a:bodyPr/>
          <a:lstStyle>
            <a:lvl1pPr>
              <a:defRPr/>
            </a:lvl1pPr>
          </a:lstStyle>
          <a:p>
            <a:pPr>
              <a:defRPr/>
            </a:pPr>
            <a:r>
              <a:rPr lang="en-US" altLang="zh-TW" smtClean="0"/>
              <a:t>os10-2018</a:t>
            </a:r>
            <a:endParaRPr lang="en-US" altLang="zh-TW"/>
          </a:p>
        </p:txBody>
      </p:sp>
      <p:sp>
        <p:nvSpPr>
          <p:cNvPr id="9" name="Rectangle 67"/>
          <p:cNvSpPr>
            <a:spLocks noGrp="1" noChangeArrowheads="1"/>
          </p:cNvSpPr>
          <p:nvPr>
            <p:ph type="sldNum" sz="quarter" idx="12"/>
          </p:nvPr>
        </p:nvSpPr>
        <p:spPr>
          <a:ln/>
        </p:spPr>
        <p:txBody>
          <a:bodyPr/>
          <a:lstStyle>
            <a:lvl1pPr>
              <a:defRPr/>
            </a:lvl1pPr>
          </a:lstStyle>
          <a:p>
            <a:pPr>
              <a:defRPr/>
            </a:pPr>
            <a:fld id="{F3891EC6-CEEE-47AE-98FF-8633F4A1D70F}" type="slidenum">
              <a:rPr lang="zh-TW" altLang="en-US"/>
              <a:pPr>
                <a:defRPr/>
              </a:pPr>
              <a:t>‹#›</a:t>
            </a:fld>
            <a:endParaRPr lang="en-US" altLang="zh-TW"/>
          </a:p>
        </p:txBody>
      </p:sp>
    </p:spTree>
    <p:extLst>
      <p:ext uri="{BB962C8B-B14F-4D97-AF65-F5344CB8AC3E}">
        <p14:creationId xmlns:p14="http://schemas.microsoft.com/office/powerpoint/2010/main" val="1368423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65"/>
          <p:cNvSpPr>
            <a:spLocks noGrp="1" noChangeArrowheads="1"/>
          </p:cNvSpPr>
          <p:nvPr>
            <p:ph type="dt" sz="half" idx="10"/>
          </p:nvPr>
        </p:nvSpPr>
        <p:spPr>
          <a:ln/>
        </p:spPr>
        <p:txBody>
          <a:bodyPr/>
          <a:lstStyle>
            <a:lvl1pPr>
              <a:defRPr/>
            </a:lvl1pPr>
          </a:lstStyle>
          <a:p>
            <a:pPr>
              <a:defRPr/>
            </a:pPr>
            <a:fld id="{39944020-C689-4B35-94AB-6D4A9CC26CAB}" type="datetime1">
              <a:rPr lang="zh-TW" altLang="en-US" smtClean="0"/>
              <a:t>2018/5/4</a:t>
            </a:fld>
            <a:endParaRPr lang="en-US" altLang="zh-TW"/>
          </a:p>
        </p:txBody>
      </p:sp>
      <p:sp>
        <p:nvSpPr>
          <p:cNvPr id="4" name="Rectangle 66"/>
          <p:cNvSpPr>
            <a:spLocks noGrp="1" noChangeArrowheads="1"/>
          </p:cNvSpPr>
          <p:nvPr>
            <p:ph type="ftr" sz="quarter" idx="11"/>
          </p:nvPr>
        </p:nvSpPr>
        <p:spPr>
          <a:ln/>
        </p:spPr>
        <p:txBody>
          <a:bodyPr/>
          <a:lstStyle>
            <a:lvl1pPr>
              <a:defRPr/>
            </a:lvl1pPr>
          </a:lstStyle>
          <a:p>
            <a:pPr>
              <a:defRPr/>
            </a:pPr>
            <a:r>
              <a:rPr lang="en-US" altLang="zh-TW" smtClean="0"/>
              <a:t>os10-2018</a:t>
            </a:r>
            <a:endParaRPr lang="en-US" altLang="zh-TW"/>
          </a:p>
        </p:txBody>
      </p:sp>
      <p:sp>
        <p:nvSpPr>
          <p:cNvPr id="5" name="Rectangle 67"/>
          <p:cNvSpPr>
            <a:spLocks noGrp="1" noChangeArrowheads="1"/>
          </p:cNvSpPr>
          <p:nvPr>
            <p:ph type="sldNum" sz="quarter" idx="12"/>
          </p:nvPr>
        </p:nvSpPr>
        <p:spPr>
          <a:ln/>
        </p:spPr>
        <p:txBody>
          <a:bodyPr/>
          <a:lstStyle>
            <a:lvl1pPr>
              <a:defRPr/>
            </a:lvl1pPr>
          </a:lstStyle>
          <a:p>
            <a:pPr>
              <a:defRPr/>
            </a:pPr>
            <a:fld id="{947F6F71-664C-4E96-BD98-7BEA7DDD558B}" type="slidenum">
              <a:rPr lang="zh-TW" altLang="en-US"/>
              <a:pPr>
                <a:defRPr/>
              </a:pPr>
              <a:t>‹#›</a:t>
            </a:fld>
            <a:endParaRPr lang="en-US" altLang="zh-TW"/>
          </a:p>
        </p:txBody>
      </p:sp>
    </p:spTree>
    <p:extLst>
      <p:ext uri="{BB962C8B-B14F-4D97-AF65-F5344CB8AC3E}">
        <p14:creationId xmlns:p14="http://schemas.microsoft.com/office/powerpoint/2010/main" val="378667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5"/>
          <p:cNvSpPr>
            <a:spLocks noGrp="1" noChangeArrowheads="1"/>
          </p:cNvSpPr>
          <p:nvPr>
            <p:ph type="dt" sz="half" idx="10"/>
          </p:nvPr>
        </p:nvSpPr>
        <p:spPr>
          <a:ln/>
        </p:spPr>
        <p:txBody>
          <a:bodyPr/>
          <a:lstStyle>
            <a:lvl1pPr>
              <a:defRPr/>
            </a:lvl1pPr>
          </a:lstStyle>
          <a:p>
            <a:pPr>
              <a:defRPr/>
            </a:pPr>
            <a:fld id="{A3CC1B9D-65E4-4437-9E11-FF7BDF16401B}" type="datetime1">
              <a:rPr lang="zh-TW" altLang="en-US" smtClean="0"/>
              <a:t>2018/5/4</a:t>
            </a:fld>
            <a:endParaRPr lang="en-US" altLang="zh-TW"/>
          </a:p>
        </p:txBody>
      </p:sp>
      <p:sp>
        <p:nvSpPr>
          <p:cNvPr id="3" name="Rectangle 66"/>
          <p:cNvSpPr>
            <a:spLocks noGrp="1" noChangeArrowheads="1"/>
          </p:cNvSpPr>
          <p:nvPr>
            <p:ph type="ftr" sz="quarter" idx="11"/>
          </p:nvPr>
        </p:nvSpPr>
        <p:spPr>
          <a:ln/>
        </p:spPr>
        <p:txBody>
          <a:bodyPr/>
          <a:lstStyle>
            <a:lvl1pPr>
              <a:defRPr/>
            </a:lvl1pPr>
          </a:lstStyle>
          <a:p>
            <a:pPr>
              <a:defRPr/>
            </a:pPr>
            <a:r>
              <a:rPr lang="en-US" altLang="zh-TW" smtClean="0"/>
              <a:t>os10-2018</a:t>
            </a:r>
            <a:endParaRPr lang="en-US" altLang="zh-TW"/>
          </a:p>
        </p:txBody>
      </p:sp>
      <p:sp>
        <p:nvSpPr>
          <p:cNvPr id="4" name="Rectangle 67"/>
          <p:cNvSpPr>
            <a:spLocks noGrp="1" noChangeArrowheads="1"/>
          </p:cNvSpPr>
          <p:nvPr>
            <p:ph type="sldNum" sz="quarter" idx="12"/>
          </p:nvPr>
        </p:nvSpPr>
        <p:spPr>
          <a:ln/>
        </p:spPr>
        <p:txBody>
          <a:bodyPr/>
          <a:lstStyle>
            <a:lvl1pPr>
              <a:defRPr/>
            </a:lvl1pPr>
          </a:lstStyle>
          <a:p>
            <a:pPr>
              <a:defRPr/>
            </a:pPr>
            <a:fld id="{4E997966-9ACC-44C3-9B5B-F75BAC70A814}" type="slidenum">
              <a:rPr lang="zh-TW" altLang="en-US"/>
              <a:pPr>
                <a:defRPr/>
              </a:pPr>
              <a:t>‹#›</a:t>
            </a:fld>
            <a:endParaRPr lang="en-US" altLang="zh-TW"/>
          </a:p>
        </p:txBody>
      </p:sp>
    </p:spTree>
    <p:extLst>
      <p:ext uri="{BB962C8B-B14F-4D97-AF65-F5344CB8AC3E}">
        <p14:creationId xmlns:p14="http://schemas.microsoft.com/office/powerpoint/2010/main" val="2855075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65"/>
          <p:cNvSpPr>
            <a:spLocks noGrp="1" noChangeArrowheads="1"/>
          </p:cNvSpPr>
          <p:nvPr>
            <p:ph type="dt" sz="half" idx="10"/>
          </p:nvPr>
        </p:nvSpPr>
        <p:spPr>
          <a:ln/>
        </p:spPr>
        <p:txBody>
          <a:bodyPr/>
          <a:lstStyle>
            <a:lvl1pPr>
              <a:defRPr/>
            </a:lvl1pPr>
          </a:lstStyle>
          <a:p>
            <a:pPr>
              <a:defRPr/>
            </a:pPr>
            <a:fld id="{45171B25-A776-4ED2-9AEF-41CD3AA9DA71}" type="datetime1">
              <a:rPr lang="zh-TW" altLang="en-US" smtClean="0"/>
              <a:t>2018/5/4</a:t>
            </a:fld>
            <a:endParaRPr lang="en-US" altLang="zh-TW"/>
          </a:p>
        </p:txBody>
      </p:sp>
      <p:sp>
        <p:nvSpPr>
          <p:cNvPr id="6" name="Rectangle 66"/>
          <p:cNvSpPr>
            <a:spLocks noGrp="1" noChangeArrowheads="1"/>
          </p:cNvSpPr>
          <p:nvPr>
            <p:ph type="ftr" sz="quarter" idx="11"/>
          </p:nvPr>
        </p:nvSpPr>
        <p:spPr>
          <a:ln/>
        </p:spPr>
        <p:txBody>
          <a:bodyPr/>
          <a:lstStyle>
            <a:lvl1pPr>
              <a:defRPr/>
            </a:lvl1pPr>
          </a:lstStyle>
          <a:p>
            <a:pPr>
              <a:defRPr/>
            </a:pPr>
            <a:r>
              <a:rPr lang="en-US" altLang="zh-TW" smtClean="0"/>
              <a:t>os10-2018</a:t>
            </a:r>
            <a:endParaRPr lang="en-US" altLang="zh-TW"/>
          </a:p>
        </p:txBody>
      </p:sp>
      <p:sp>
        <p:nvSpPr>
          <p:cNvPr id="7" name="Rectangle 67"/>
          <p:cNvSpPr>
            <a:spLocks noGrp="1" noChangeArrowheads="1"/>
          </p:cNvSpPr>
          <p:nvPr>
            <p:ph type="sldNum" sz="quarter" idx="12"/>
          </p:nvPr>
        </p:nvSpPr>
        <p:spPr>
          <a:ln/>
        </p:spPr>
        <p:txBody>
          <a:bodyPr/>
          <a:lstStyle>
            <a:lvl1pPr>
              <a:defRPr/>
            </a:lvl1pPr>
          </a:lstStyle>
          <a:p>
            <a:pPr>
              <a:defRPr/>
            </a:pPr>
            <a:fld id="{6B1F163E-B21C-4012-A4D9-117B299A2DAA}" type="slidenum">
              <a:rPr lang="zh-TW" altLang="en-US"/>
              <a:pPr>
                <a:defRPr/>
              </a:pPr>
              <a:t>‹#›</a:t>
            </a:fld>
            <a:endParaRPr lang="en-US" altLang="zh-TW"/>
          </a:p>
        </p:txBody>
      </p:sp>
    </p:spTree>
    <p:extLst>
      <p:ext uri="{BB962C8B-B14F-4D97-AF65-F5344CB8AC3E}">
        <p14:creationId xmlns:p14="http://schemas.microsoft.com/office/powerpoint/2010/main" val="3619258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65"/>
          <p:cNvSpPr>
            <a:spLocks noGrp="1" noChangeArrowheads="1"/>
          </p:cNvSpPr>
          <p:nvPr>
            <p:ph type="dt" sz="half" idx="10"/>
          </p:nvPr>
        </p:nvSpPr>
        <p:spPr>
          <a:ln/>
        </p:spPr>
        <p:txBody>
          <a:bodyPr/>
          <a:lstStyle>
            <a:lvl1pPr>
              <a:defRPr/>
            </a:lvl1pPr>
          </a:lstStyle>
          <a:p>
            <a:pPr>
              <a:defRPr/>
            </a:pPr>
            <a:fld id="{958783B5-BC2F-4D63-8374-5DE2FBABCBF5}" type="datetime1">
              <a:rPr lang="zh-TW" altLang="en-US" smtClean="0"/>
              <a:t>2018/5/4</a:t>
            </a:fld>
            <a:endParaRPr lang="en-US" altLang="zh-TW"/>
          </a:p>
        </p:txBody>
      </p:sp>
      <p:sp>
        <p:nvSpPr>
          <p:cNvPr id="6" name="Rectangle 66"/>
          <p:cNvSpPr>
            <a:spLocks noGrp="1" noChangeArrowheads="1"/>
          </p:cNvSpPr>
          <p:nvPr>
            <p:ph type="ftr" sz="quarter" idx="11"/>
          </p:nvPr>
        </p:nvSpPr>
        <p:spPr>
          <a:ln/>
        </p:spPr>
        <p:txBody>
          <a:bodyPr/>
          <a:lstStyle>
            <a:lvl1pPr>
              <a:defRPr/>
            </a:lvl1pPr>
          </a:lstStyle>
          <a:p>
            <a:pPr>
              <a:defRPr/>
            </a:pPr>
            <a:r>
              <a:rPr lang="en-US" altLang="zh-TW" smtClean="0"/>
              <a:t>os10-2018</a:t>
            </a:r>
            <a:endParaRPr lang="en-US" altLang="zh-TW"/>
          </a:p>
        </p:txBody>
      </p:sp>
      <p:sp>
        <p:nvSpPr>
          <p:cNvPr id="7" name="Rectangle 67"/>
          <p:cNvSpPr>
            <a:spLocks noGrp="1" noChangeArrowheads="1"/>
          </p:cNvSpPr>
          <p:nvPr>
            <p:ph type="sldNum" sz="quarter" idx="12"/>
          </p:nvPr>
        </p:nvSpPr>
        <p:spPr>
          <a:ln/>
        </p:spPr>
        <p:txBody>
          <a:bodyPr/>
          <a:lstStyle>
            <a:lvl1pPr>
              <a:defRPr/>
            </a:lvl1pPr>
          </a:lstStyle>
          <a:p>
            <a:pPr>
              <a:defRPr/>
            </a:pPr>
            <a:fld id="{A0696C4F-2D21-4091-B906-013A01A0D30C}" type="slidenum">
              <a:rPr lang="zh-TW" altLang="en-US"/>
              <a:pPr>
                <a:defRPr/>
              </a:pPr>
              <a:t>‹#›</a:t>
            </a:fld>
            <a:endParaRPr lang="en-US" altLang="zh-TW"/>
          </a:p>
        </p:txBody>
      </p:sp>
    </p:spTree>
    <p:extLst>
      <p:ext uri="{BB962C8B-B14F-4D97-AF65-F5344CB8AC3E}">
        <p14:creationId xmlns:p14="http://schemas.microsoft.com/office/powerpoint/2010/main" val="2663306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65"/>
          <p:cNvSpPr>
            <a:spLocks noGrp="1" noChangeArrowheads="1"/>
          </p:cNvSpPr>
          <p:nvPr>
            <p:ph type="dt" sz="half" idx="10"/>
          </p:nvPr>
        </p:nvSpPr>
        <p:spPr>
          <a:ln/>
        </p:spPr>
        <p:txBody>
          <a:bodyPr/>
          <a:lstStyle>
            <a:lvl1pPr>
              <a:defRPr/>
            </a:lvl1pPr>
          </a:lstStyle>
          <a:p>
            <a:pPr>
              <a:defRPr/>
            </a:pPr>
            <a:fld id="{0DC34B94-10B8-40F9-9CFE-A6FDDDF5BE43}" type="datetime1">
              <a:rPr lang="zh-TW" altLang="en-US" smtClean="0"/>
              <a:t>2018/5/4</a:t>
            </a:fld>
            <a:endParaRPr lang="en-US" altLang="zh-TW"/>
          </a:p>
        </p:txBody>
      </p:sp>
      <p:sp>
        <p:nvSpPr>
          <p:cNvPr id="5" name="Rectangle 66"/>
          <p:cNvSpPr>
            <a:spLocks noGrp="1" noChangeArrowheads="1"/>
          </p:cNvSpPr>
          <p:nvPr>
            <p:ph type="ftr" sz="quarter" idx="11"/>
          </p:nvPr>
        </p:nvSpPr>
        <p:spPr>
          <a:ln/>
        </p:spPr>
        <p:txBody>
          <a:bodyPr/>
          <a:lstStyle>
            <a:lvl1pPr>
              <a:defRPr/>
            </a:lvl1pPr>
          </a:lstStyle>
          <a:p>
            <a:pPr>
              <a:defRPr/>
            </a:pPr>
            <a:r>
              <a:rPr lang="en-US" altLang="zh-TW" smtClean="0"/>
              <a:t>os10-2018</a:t>
            </a:r>
            <a:endParaRPr lang="en-US" altLang="zh-TW"/>
          </a:p>
        </p:txBody>
      </p:sp>
      <p:sp>
        <p:nvSpPr>
          <p:cNvPr id="6" name="Rectangle 67"/>
          <p:cNvSpPr>
            <a:spLocks noGrp="1" noChangeArrowheads="1"/>
          </p:cNvSpPr>
          <p:nvPr>
            <p:ph type="sldNum" sz="quarter" idx="12"/>
          </p:nvPr>
        </p:nvSpPr>
        <p:spPr>
          <a:ln/>
        </p:spPr>
        <p:txBody>
          <a:bodyPr/>
          <a:lstStyle>
            <a:lvl1pPr>
              <a:defRPr/>
            </a:lvl1pPr>
          </a:lstStyle>
          <a:p>
            <a:pPr>
              <a:defRPr/>
            </a:pPr>
            <a:fld id="{C34B6C73-6A15-4783-8D22-A63799E1499B}" type="slidenum">
              <a:rPr lang="zh-TW" altLang="en-US"/>
              <a:pPr>
                <a:defRPr/>
              </a:pPr>
              <a:t>‹#›</a:t>
            </a:fld>
            <a:endParaRPr lang="en-US" altLang="zh-TW"/>
          </a:p>
        </p:txBody>
      </p:sp>
    </p:spTree>
    <p:extLst>
      <p:ext uri="{BB962C8B-B14F-4D97-AF65-F5344CB8AC3E}">
        <p14:creationId xmlns:p14="http://schemas.microsoft.com/office/powerpoint/2010/main" val="2973925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10350" y="304800"/>
            <a:ext cx="2000250" cy="5715000"/>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09600" y="304800"/>
            <a:ext cx="5848350" cy="5715000"/>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65"/>
          <p:cNvSpPr>
            <a:spLocks noGrp="1" noChangeArrowheads="1"/>
          </p:cNvSpPr>
          <p:nvPr>
            <p:ph type="dt" sz="half" idx="10"/>
          </p:nvPr>
        </p:nvSpPr>
        <p:spPr>
          <a:ln/>
        </p:spPr>
        <p:txBody>
          <a:bodyPr/>
          <a:lstStyle>
            <a:lvl1pPr>
              <a:defRPr/>
            </a:lvl1pPr>
          </a:lstStyle>
          <a:p>
            <a:pPr>
              <a:defRPr/>
            </a:pPr>
            <a:fld id="{11BFE492-1F0D-43BA-9AED-43F748004442}" type="datetime1">
              <a:rPr lang="zh-TW" altLang="en-US" smtClean="0"/>
              <a:t>2018/5/4</a:t>
            </a:fld>
            <a:endParaRPr lang="en-US" altLang="zh-TW"/>
          </a:p>
        </p:txBody>
      </p:sp>
      <p:sp>
        <p:nvSpPr>
          <p:cNvPr id="5" name="Rectangle 66"/>
          <p:cNvSpPr>
            <a:spLocks noGrp="1" noChangeArrowheads="1"/>
          </p:cNvSpPr>
          <p:nvPr>
            <p:ph type="ftr" sz="quarter" idx="11"/>
          </p:nvPr>
        </p:nvSpPr>
        <p:spPr>
          <a:ln/>
        </p:spPr>
        <p:txBody>
          <a:bodyPr/>
          <a:lstStyle>
            <a:lvl1pPr>
              <a:defRPr/>
            </a:lvl1pPr>
          </a:lstStyle>
          <a:p>
            <a:pPr>
              <a:defRPr/>
            </a:pPr>
            <a:r>
              <a:rPr lang="en-US" altLang="zh-TW" smtClean="0"/>
              <a:t>os10-2018</a:t>
            </a:r>
            <a:endParaRPr lang="en-US" altLang="zh-TW"/>
          </a:p>
        </p:txBody>
      </p:sp>
      <p:sp>
        <p:nvSpPr>
          <p:cNvPr id="6" name="Rectangle 67"/>
          <p:cNvSpPr>
            <a:spLocks noGrp="1" noChangeArrowheads="1"/>
          </p:cNvSpPr>
          <p:nvPr>
            <p:ph type="sldNum" sz="quarter" idx="12"/>
          </p:nvPr>
        </p:nvSpPr>
        <p:spPr>
          <a:ln/>
        </p:spPr>
        <p:txBody>
          <a:bodyPr/>
          <a:lstStyle>
            <a:lvl1pPr>
              <a:defRPr/>
            </a:lvl1pPr>
          </a:lstStyle>
          <a:p>
            <a:pPr>
              <a:defRPr/>
            </a:pPr>
            <a:fld id="{3CB9FDCF-74A9-4D8C-B120-E0EDAA040265}" type="slidenum">
              <a:rPr lang="zh-TW" altLang="en-US"/>
              <a:pPr>
                <a:defRPr/>
              </a:pPr>
              <a:t>‹#›</a:t>
            </a:fld>
            <a:endParaRPr lang="en-US" altLang="zh-TW"/>
          </a:p>
        </p:txBody>
      </p:sp>
    </p:spTree>
    <p:extLst>
      <p:ext uri="{BB962C8B-B14F-4D97-AF65-F5344CB8AC3E}">
        <p14:creationId xmlns:p14="http://schemas.microsoft.com/office/powerpoint/2010/main" val="2899061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9144000" cy="6858000"/>
            <a:chOff x="0" y="0"/>
            <a:chExt cx="5760" cy="4320"/>
          </a:xfrm>
        </p:grpSpPr>
        <p:grpSp>
          <p:nvGrpSpPr>
            <p:cNvPr id="1032" name="Group 3"/>
            <p:cNvGrpSpPr>
              <a:grpSpLocks/>
            </p:cNvGrpSpPr>
            <p:nvPr/>
          </p:nvGrpSpPr>
          <p:grpSpPr bwMode="auto">
            <a:xfrm>
              <a:off x="0" y="0"/>
              <a:ext cx="5760" cy="4320"/>
              <a:chOff x="0" y="0"/>
              <a:chExt cx="5760" cy="4320"/>
            </a:xfrm>
          </p:grpSpPr>
          <p:grpSp>
            <p:nvGrpSpPr>
              <p:cNvPr id="1039" name="Group 4"/>
              <p:cNvGrpSpPr>
                <a:grpSpLocks/>
              </p:cNvGrpSpPr>
              <p:nvPr/>
            </p:nvGrpSpPr>
            <p:grpSpPr bwMode="auto">
              <a:xfrm>
                <a:off x="0" y="192"/>
                <a:ext cx="5760" cy="4032"/>
                <a:chOff x="0" y="192"/>
                <a:chExt cx="5760" cy="4032"/>
              </a:xfrm>
            </p:grpSpPr>
            <p:sp>
              <p:nvSpPr>
                <p:cNvPr id="1070" name="Line 5"/>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1" name="Line 6"/>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2" name="Line 7"/>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3" name="Line 8"/>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4" name="Line 9"/>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5" name="Line 10"/>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6" name="Line 11"/>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7" name="Line 12"/>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8" name="Line 13"/>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9" name="Line 14"/>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0" name="Line 15"/>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1" name="Line 16"/>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2" name="Line 17"/>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3" name="Line 18"/>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4" name="Line 19"/>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5" name="Line 20"/>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6" name="Line 21"/>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7" name="Line 22"/>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8" name="Line 23"/>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9" name="Line 24"/>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90" name="Line 25"/>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91" name="Line 26"/>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nvGrpSpPr>
              <p:cNvPr id="1040" name="Group 27"/>
              <p:cNvGrpSpPr>
                <a:grpSpLocks/>
              </p:cNvGrpSpPr>
              <p:nvPr/>
            </p:nvGrpSpPr>
            <p:grpSpPr bwMode="auto">
              <a:xfrm>
                <a:off x="192" y="0"/>
                <a:ext cx="5376" cy="4320"/>
                <a:chOff x="192" y="0"/>
                <a:chExt cx="5376" cy="4320"/>
              </a:xfrm>
            </p:grpSpPr>
            <p:sp>
              <p:nvSpPr>
                <p:cNvPr id="1041"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42"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43"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44"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45"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46"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47"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48"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49"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0"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1"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2"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3"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4"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5"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6"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7"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8"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9"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0"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1"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2"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3"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4"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5"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6"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7"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8"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9"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sp>
          <p:nvSpPr>
            <p:cNvPr id="1033" name="Rectangle 57" descr="60%"/>
            <p:cNvSpPr>
              <a:spLocks noChangeArrowheads="1"/>
            </p:cNvSpPr>
            <p:nvPr/>
          </p:nvSpPr>
          <p:spPr bwMode="ltGray">
            <a:xfrm>
              <a:off x="2112" y="0"/>
              <a:ext cx="3648" cy="96"/>
            </a:xfrm>
            <a:prstGeom prst="rect">
              <a:avLst/>
            </a:prstGeom>
            <a:pattFill prst="pct60">
              <a:fgClr>
                <a:schemeClr val="folHlink"/>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
          <p:nvSpPr>
            <p:cNvPr id="1034" name="Line 58"/>
            <p:cNvSpPr>
              <a:spLocks noChangeShapeType="1"/>
            </p:cNvSpPr>
            <p:nvPr/>
          </p:nvSpPr>
          <p:spPr bwMode="ltGray">
            <a:xfrm>
              <a:off x="5568" y="0"/>
              <a:ext cx="0" cy="148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nvGrpSpPr>
            <p:cNvPr id="1035" name="Group 59"/>
            <p:cNvGrpSpPr>
              <a:grpSpLocks/>
            </p:cNvGrpSpPr>
            <p:nvPr/>
          </p:nvGrpSpPr>
          <p:grpSpPr bwMode="auto">
            <a:xfrm>
              <a:off x="261" y="892"/>
              <a:ext cx="1124" cy="1464"/>
              <a:chOff x="96" y="916"/>
              <a:chExt cx="2208" cy="2876"/>
            </a:xfrm>
          </p:grpSpPr>
          <p:sp>
            <p:nvSpPr>
              <p:cNvPr id="1036" name="Line 60"/>
              <p:cNvSpPr>
                <a:spLocks noChangeShapeType="1"/>
              </p:cNvSpPr>
              <p:nvPr/>
            </p:nvSpPr>
            <p:spPr bwMode="ltGray">
              <a:xfrm flipH="1">
                <a:off x="96" y="1037"/>
                <a:ext cx="2208"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37" name="Line 61"/>
              <p:cNvSpPr>
                <a:spLocks noChangeShapeType="1"/>
              </p:cNvSpPr>
              <p:nvPr/>
            </p:nvSpPr>
            <p:spPr bwMode="ltGray">
              <a:xfrm>
                <a:off x="336" y="920"/>
                <a:ext cx="0" cy="287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38" name="Arc 62"/>
              <p:cNvSpPr>
                <a:spLocks/>
              </p:cNvSpPr>
              <p:nvPr/>
            </p:nvSpPr>
            <p:spPr bwMode="ltGray">
              <a:xfrm flipH="1">
                <a:off x="217" y="916"/>
                <a:ext cx="239" cy="239"/>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sp>
        <p:nvSpPr>
          <p:cNvPr id="1027" name="Rectangle 63"/>
          <p:cNvSpPr>
            <a:spLocks noGrp="1" noChangeArrowheads="1"/>
          </p:cNvSpPr>
          <p:nvPr>
            <p:ph type="title"/>
          </p:nvPr>
        </p:nvSpPr>
        <p:spPr bwMode="auto">
          <a:xfrm>
            <a:off x="609600" y="3048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TW" altLang="en-US" smtClean="0"/>
              <a:t>按一下以編輯母片標題樣式</a:t>
            </a:r>
          </a:p>
        </p:txBody>
      </p:sp>
      <p:sp>
        <p:nvSpPr>
          <p:cNvPr id="1028" name="Rectangle 64" descr="Rectangle: Click to edit Master text styles&#10;Second level&#10;Third level&#10;Fourth level&#10;Fifth level"/>
          <p:cNvSpPr>
            <a:spLocks noGrp="1" noChangeArrowheads="1"/>
          </p:cNvSpPr>
          <p:nvPr>
            <p:ph type="body" idx="1"/>
          </p:nvPr>
        </p:nvSpPr>
        <p:spPr bwMode="auto">
          <a:xfrm>
            <a:off x="838200" y="19050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97345" name="Rectangle 65"/>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0" sz="1400">
                <a:ea typeface="新細明體" charset="-120"/>
              </a:defRPr>
            </a:lvl1pPr>
          </a:lstStyle>
          <a:p>
            <a:pPr>
              <a:defRPr/>
            </a:pPr>
            <a:fld id="{D89EA727-8772-44F5-95C1-56A0B64E71FC}" type="datetime1">
              <a:rPr lang="zh-TW" altLang="en-US" smtClean="0"/>
              <a:t>2018/5/4</a:t>
            </a:fld>
            <a:endParaRPr lang="en-US" altLang="zh-TW"/>
          </a:p>
        </p:txBody>
      </p:sp>
      <p:sp>
        <p:nvSpPr>
          <p:cNvPr id="97346" name="Rectangle 66"/>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kumimoji="0" sz="1400">
                <a:ea typeface="新細明體" charset="-120"/>
              </a:defRPr>
            </a:lvl1pPr>
          </a:lstStyle>
          <a:p>
            <a:pPr>
              <a:defRPr/>
            </a:pPr>
            <a:r>
              <a:rPr lang="en-US" altLang="zh-TW" smtClean="0"/>
              <a:t>os10-2018</a:t>
            </a:r>
            <a:endParaRPr lang="en-US" altLang="zh-TW"/>
          </a:p>
        </p:txBody>
      </p:sp>
      <p:sp>
        <p:nvSpPr>
          <p:cNvPr id="97347" name="Rectangle 67"/>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400">
                <a:ea typeface="新細明體" charset="-120"/>
              </a:defRPr>
            </a:lvl1pPr>
          </a:lstStyle>
          <a:p>
            <a:pPr>
              <a:defRPr/>
            </a:pPr>
            <a:fld id="{81D73DDF-BC34-498D-89ED-A126F0A02E41}" type="slidenum">
              <a:rPr lang="zh-TW" altLang="en-US"/>
              <a:pPr>
                <a:defRPr/>
              </a:pPr>
              <a:t>‹#›</a:t>
            </a:fld>
            <a:endParaRPr lang="en-US" altLang="zh-TW"/>
          </a:p>
        </p:txBody>
      </p:sp>
    </p:spTree>
  </p:cSld>
  <p:clrMap bg1="lt1" tx1="dk1" bg2="lt2" tx2="dk2" accent1="accent1" accent2="accent2" accent3="accent3" accent4="accent4" accent5="accent5" accent6="accent6" hlink="hlink" folHlink="folHlink"/>
  <p:sldLayoutIdLst>
    <p:sldLayoutId id="2147483734"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hdr="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charset="-120"/>
        </a:defRPr>
      </a:lvl2pPr>
      <a:lvl3pPr algn="l" rtl="0" eaLnBrk="0" fontAlgn="base" hangingPunct="0">
        <a:spcBef>
          <a:spcPct val="0"/>
        </a:spcBef>
        <a:spcAft>
          <a:spcPct val="0"/>
        </a:spcAft>
        <a:defRPr kumimoji="1" sz="4400">
          <a:solidFill>
            <a:schemeClr val="tx2"/>
          </a:solidFill>
          <a:latin typeface="Tahoma" pitchFamily="34" charset="0"/>
          <a:ea typeface="新細明體" charset="-120"/>
        </a:defRPr>
      </a:lvl3pPr>
      <a:lvl4pPr algn="l" rtl="0" eaLnBrk="0" fontAlgn="base" hangingPunct="0">
        <a:spcBef>
          <a:spcPct val="0"/>
        </a:spcBef>
        <a:spcAft>
          <a:spcPct val="0"/>
        </a:spcAft>
        <a:defRPr kumimoji="1" sz="4400">
          <a:solidFill>
            <a:schemeClr val="tx2"/>
          </a:solidFill>
          <a:latin typeface="Tahoma" pitchFamily="34" charset="0"/>
          <a:ea typeface="新細明體" charset="-120"/>
        </a:defRPr>
      </a:lvl4pPr>
      <a:lvl5pPr algn="l" rtl="0" eaLnBrk="0" fontAlgn="base" hangingPunct="0">
        <a:spcBef>
          <a:spcPct val="0"/>
        </a:spcBef>
        <a:spcAft>
          <a:spcPct val="0"/>
        </a:spcAft>
        <a:defRPr kumimoji="1" sz="4400">
          <a:solidFill>
            <a:schemeClr val="tx2"/>
          </a:solidFill>
          <a:latin typeface="Tahoma" pitchFamily="34" charset="0"/>
          <a:ea typeface="新細明體" charset="-120"/>
        </a:defRPr>
      </a:lvl5pPr>
      <a:lvl6pPr marL="457200" algn="l" rtl="0" fontAlgn="base">
        <a:spcBef>
          <a:spcPct val="0"/>
        </a:spcBef>
        <a:spcAft>
          <a:spcPct val="0"/>
        </a:spcAft>
        <a:defRPr kumimoji="1" sz="4400">
          <a:solidFill>
            <a:schemeClr val="tx2"/>
          </a:solidFill>
          <a:latin typeface="Tahoma" pitchFamily="34" charset="0"/>
          <a:ea typeface="新細明體" charset="-120"/>
        </a:defRPr>
      </a:lvl6pPr>
      <a:lvl7pPr marL="914400" algn="l" rtl="0" fontAlgn="base">
        <a:spcBef>
          <a:spcPct val="0"/>
        </a:spcBef>
        <a:spcAft>
          <a:spcPct val="0"/>
        </a:spcAft>
        <a:defRPr kumimoji="1" sz="4400">
          <a:solidFill>
            <a:schemeClr val="tx2"/>
          </a:solidFill>
          <a:latin typeface="Tahoma" pitchFamily="34" charset="0"/>
          <a:ea typeface="新細明體" charset="-120"/>
        </a:defRPr>
      </a:lvl7pPr>
      <a:lvl8pPr marL="1371600" algn="l" rtl="0" fontAlgn="base">
        <a:spcBef>
          <a:spcPct val="0"/>
        </a:spcBef>
        <a:spcAft>
          <a:spcPct val="0"/>
        </a:spcAft>
        <a:defRPr kumimoji="1" sz="4400">
          <a:solidFill>
            <a:schemeClr val="tx2"/>
          </a:solidFill>
          <a:latin typeface="Tahoma" pitchFamily="34" charset="0"/>
          <a:ea typeface="新細明體" charset="-120"/>
        </a:defRPr>
      </a:lvl8pPr>
      <a:lvl9pPr marL="1828800" algn="l" rtl="0" fontAlgn="base">
        <a:spcBef>
          <a:spcPct val="0"/>
        </a:spcBef>
        <a:spcAft>
          <a:spcPct val="0"/>
        </a:spcAft>
        <a:defRPr kumimoji="1" sz="4400">
          <a:solidFill>
            <a:schemeClr val="tx2"/>
          </a:solidFill>
          <a:latin typeface="Tahoma" pitchFamily="34" charset="0"/>
          <a:ea typeface="新細明體" charset="-120"/>
        </a:defRPr>
      </a:lvl9pPr>
    </p:titleStyle>
    <p:bodyStyle>
      <a:lvl1pPr marL="342900" indent="-342900" algn="l" rtl="0" eaLnBrk="0" fontAlgn="base" hangingPunct="0">
        <a:spcBef>
          <a:spcPct val="20000"/>
        </a:spcBef>
        <a:spcAft>
          <a:spcPct val="0"/>
        </a:spcAft>
        <a:buClr>
          <a:schemeClr val="hlink"/>
        </a:buClr>
        <a:buSzPct val="110000"/>
        <a:buFont typeface="Wingdings"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hyperlink" Target="file:///C:\Users\JS\Desktop\OS%202016\Slices\os9-2016.pptx#-1,17,Performance of Demand Paging (3)"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8.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9.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日期版面配置區 2"/>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41EE5E21-0A33-4213-8900-95B1FC3BEE25}" type="datetime1">
              <a:rPr kumimoji="0" lang="zh-TW" altLang="en-US" sz="1400" smtClean="0"/>
              <a:t>2018/5/4</a:t>
            </a:fld>
            <a:endParaRPr kumimoji="0" lang="en-US" altLang="zh-TW" sz="1400" smtClean="0"/>
          </a:p>
        </p:txBody>
      </p:sp>
      <p:sp>
        <p:nvSpPr>
          <p:cNvPr id="3075" name="頁尾版面配置區 3"/>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3076" name="投影片編號版面配置區 4"/>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BDEC21D2-7C24-4A7B-9BD0-F76CA224F13D}" type="slidenum">
              <a:rPr kumimoji="0" lang="zh-TW" altLang="en-US" sz="1400" smtClean="0"/>
              <a:pPr eaLnBrk="1" hangingPunct="1"/>
              <a:t>1</a:t>
            </a:fld>
            <a:endParaRPr kumimoji="0" lang="en-US" altLang="zh-TW" sz="1400" smtClean="0"/>
          </a:p>
        </p:txBody>
      </p:sp>
      <p:sp>
        <p:nvSpPr>
          <p:cNvPr id="3077" name="Rectangle 2"/>
          <p:cNvSpPr>
            <a:spLocks noGrp="1" noChangeArrowheads="1"/>
          </p:cNvSpPr>
          <p:nvPr>
            <p:ph type="title"/>
          </p:nvPr>
        </p:nvSpPr>
        <p:spPr>
          <a:xfrm>
            <a:off x="566738" y="2265363"/>
            <a:ext cx="7786687" cy="1722437"/>
          </a:xfrm>
        </p:spPr>
        <p:txBody>
          <a:bodyPr/>
          <a:lstStyle/>
          <a:p>
            <a:pPr eaLnBrk="1" hangingPunct="1"/>
            <a:r>
              <a:rPr lang="en-US" altLang="zh-TW" dirty="0" smtClean="0"/>
              <a:t>Chapter 10</a:t>
            </a:r>
            <a:br>
              <a:rPr lang="en-US" altLang="zh-TW" dirty="0" smtClean="0"/>
            </a:br>
            <a:r>
              <a:rPr lang="en-US" altLang="zh-TW" dirty="0" smtClean="0"/>
              <a:t>Mass-Storage Systems</a:t>
            </a:r>
            <a:endParaRPr lang="zh-TW" alt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E11ED515-4766-400A-A01C-6CA57CB09A41}" type="datetime1">
              <a:rPr kumimoji="0" lang="zh-TW" altLang="en-US" sz="1400" smtClean="0"/>
              <a:t>2018/5/4</a:t>
            </a:fld>
            <a:endParaRPr kumimoji="0" lang="en-US" altLang="zh-TW" sz="1400" smtClean="0"/>
          </a:p>
        </p:txBody>
      </p:sp>
      <p:sp>
        <p:nvSpPr>
          <p:cNvPr id="4099"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4100"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DB02A9B5-4595-47DB-B6B4-F49257D49E60}" type="slidenum">
              <a:rPr kumimoji="0" lang="zh-TW" altLang="en-US" sz="1400" smtClean="0"/>
              <a:pPr eaLnBrk="1" hangingPunct="1"/>
              <a:t>2</a:t>
            </a:fld>
            <a:endParaRPr kumimoji="0" lang="en-US" altLang="zh-TW" sz="1400" smtClean="0"/>
          </a:p>
        </p:txBody>
      </p:sp>
      <p:sp>
        <p:nvSpPr>
          <p:cNvPr id="4101" name="Rectangle 2"/>
          <p:cNvSpPr>
            <a:spLocks noGrp="1" noChangeArrowheads="1"/>
          </p:cNvSpPr>
          <p:nvPr>
            <p:ph type="title"/>
          </p:nvPr>
        </p:nvSpPr>
        <p:spPr>
          <a:xfrm>
            <a:off x="609600" y="304800"/>
            <a:ext cx="7772400" cy="649288"/>
          </a:xfrm>
        </p:spPr>
        <p:txBody>
          <a:bodyPr/>
          <a:lstStyle/>
          <a:p>
            <a:pPr eaLnBrk="1" hangingPunct="1"/>
            <a:r>
              <a:rPr lang="en-US" altLang="zh-TW" sz="4000" smtClean="0"/>
              <a:t>Outline</a:t>
            </a:r>
          </a:p>
        </p:txBody>
      </p:sp>
      <p:sp>
        <p:nvSpPr>
          <p:cNvPr id="4102" name="Rectangle 3" descr="Rectangle: Click to edit Master text styles&#10;Second level&#10;Third level&#10;Fourth level&#10;Fifth level"/>
          <p:cNvSpPr>
            <a:spLocks noGrp="1" noChangeArrowheads="1"/>
          </p:cNvSpPr>
          <p:nvPr>
            <p:ph type="body" idx="1"/>
          </p:nvPr>
        </p:nvSpPr>
        <p:spPr>
          <a:xfrm>
            <a:off x="431800" y="966788"/>
            <a:ext cx="8382000" cy="5430837"/>
          </a:xfrm>
          <a:extLst>
            <a:ext uri="{91240B29-F687-4F45-9708-019B960494DF}">
              <a14:hiddenLine xmlns:a14="http://schemas.microsoft.com/office/drawing/2010/main" w="9525">
                <a:solidFill>
                  <a:srgbClr val="FF0000"/>
                </a:solidFill>
                <a:miter lim="800000"/>
                <a:headEnd/>
                <a:tailEnd/>
              </a14:hiddenLine>
            </a:ext>
          </a:extLst>
        </p:spPr>
        <p:txBody>
          <a:bodyPr/>
          <a:lstStyle/>
          <a:p>
            <a:pPr eaLnBrk="1" hangingPunct="1">
              <a:lnSpc>
                <a:spcPct val="90000"/>
              </a:lnSpc>
              <a:spcBef>
                <a:spcPct val="60000"/>
              </a:spcBef>
            </a:pPr>
            <a:r>
              <a:rPr lang="en-US" altLang="zh-TW" sz="2400" dirty="0">
                <a:latin typeface="Adobe Gothic Std B" pitchFamily="34" charset="-128"/>
                <a:ea typeface="Adobe Gothic Std B" pitchFamily="34" charset="-128"/>
              </a:rPr>
              <a:t>Overview of Mass Storage Structure</a:t>
            </a:r>
          </a:p>
          <a:p>
            <a:pPr eaLnBrk="1" hangingPunct="1">
              <a:lnSpc>
                <a:spcPct val="90000"/>
              </a:lnSpc>
              <a:spcBef>
                <a:spcPct val="60000"/>
              </a:spcBef>
            </a:pPr>
            <a:r>
              <a:rPr lang="en-US" altLang="zh-TW" sz="2400" dirty="0" smtClean="0">
                <a:latin typeface="Adobe Gothic Std B" pitchFamily="34" charset="-128"/>
                <a:ea typeface="Adobe Gothic Std B" pitchFamily="34" charset="-128"/>
              </a:rPr>
              <a:t>Disk Structure</a:t>
            </a:r>
          </a:p>
          <a:p>
            <a:pPr eaLnBrk="1" hangingPunct="1">
              <a:lnSpc>
                <a:spcPct val="90000"/>
              </a:lnSpc>
              <a:spcBef>
                <a:spcPct val="60000"/>
              </a:spcBef>
            </a:pPr>
            <a:r>
              <a:rPr lang="en-US" altLang="zh-TW" sz="2400" dirty="0" smtClean="0">
                <a:solidFill>
                  <a:srgbClr val="0000FF"/>
                </a:solidFill>
                <a:latin typeface="Adobe Gothic Std B" pitchFamily="34" charset="-128"/>
                <a:ea typeface="Adobe Gothic Std B" pitchFamily="34" charset="-128"/>
              </a:rPr>
              <a:t>Disk Attachment</a:t>
            </a:r>
          </a:p>
          <a:p>
            <a:pPr eaLnBrk="1" hangingPunct="1">
              <a:lnSpc>
                <a:spcPct val="90000"/>
              </a:lnSpc>
              <a:spcBef>
                <a:spcPct val="60000"/>
              </a:spcBef>
            </a:pPr>
            <a:r>
              <a:rPr lang="en-US" altLang="zh-TW" sz="2400" b="1" dirty="0" smtClean="0">
                <a:solidFill>
                  <a:srgbClr val="FF0000"/>
                </a:solidFill>
                <a:latin typeface="Adobe Gothic Std B" pitchFamily="34" charset="-128"/>
                <a:ea typeface="Adobe Gothic Std B" pitchFamily="34" charset="-128"/>
              </a:rPr>
              <a:t>Disk Scheduling</a:t>
            </a:r>
          </a:p>
          <a:p>
            <a:pPr eaLnBrk="1" hangingPunct="1">
              <a:lnSpc>
                <a:spcPct val="90000"/>
              </a:lnSpc>
              <a:spcBef>
                <a:spcPct val="60000"/>
              </a:spcBef>
            </a:pPr>
            <a:r>
              <a:rPr lang="en-US" altLang="zh-TW" sz="2400" dirty="0" smtClean="0">
                <a:latin typeface="Adobe Gothic Std B" pitchFamily="34" charset="-128"/>
                <a:ea typeface="Adobe Gothic Std B" pitchFamily="34" charset="-128"/>
              </a:rPr>
              <a:t>Disk Management</a:t>
            </a:r>
          </a:p>
          <a:p>
            <a:pPr eaLnBrk="1" hangingPunct="1">
              <a:lnSpc>
                <a:spcPct val="90000"/>
              </a:lnSpc>
              <a:spcBef>
                <a:spcPct val="60000"/>
              </a:spcBef>
            </a:pPr>
            <a:r>
              <a:rPr lang="en-US" altLang="zh-TW" sz="2400" dirty="0" smtClean="0">
                <a:solidFill>
                  <a:srgbClr val="0000FF"/>
                </a:solidFill>
                <a:latin typeface="Adobe Gothic Std B" pitchFamily="34" charset="-128"/>
                <a:ea typeface="Adobe Gothic Std B" pitchFamily="34" charset="-128"/>
              </a:rPr>
              <a:t>Swap-Space Management</a:t>
            </a:r>
          </a:p>
          <a:p>
            <a:pPr eaLnBrk="1" hangingPunct="1">
              <a:lnSpc>
                <a:spcPct val="90000"/>
              </a:lnSpc>
              <a:spcBef>
                <a:spcPct val="60000"/>
              </a:spcBef>
            </a:pPr>
            <a:r>
              <a:rPr lang="en-US" altLang="zh-TW" sz="2400" b="1" dirty="0" smtClean="0">
                <a:solidFill>
                  <a:srgbClr val="FF0000"/>
                </a:solidFill>
                <a:latin typeface="Adobe Gothic Std B" pitchFamily="34" charset="-128"/>
                <a:ea typeface="Adobe Gothic Std B" pitchFamily="34" charset="-128"/>
              </a:rPr>
              <a:t>RAID Structure</a:t>
            </a:r>
          </a:p>
          <a:p>
            <a:pPr eaLnBrk="1" hangingPunct="1">
              <a:lnSpc>
                <a:spcPct val="90000"/>
              </a:lnSpc>
              <a:spcBef>
                <a:spcPct val="60000"/>
              </a:spcBef>
            </a:pPr>
            <a:r>
              <a:rPr lang="en-US" altLang="zh-TW" sz="2400" dirty="0" smtClean="0">
                <a:latin typeface="Adobe Gothic Std B" pitchFamily="34" charset="-128"/>
                <a:ea typeface="Adobe Gothic Std B" pitchFamily="34" charset="-128"/>
              </a:rPr>
              <a:t>Stable-Storage Implementation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3C4FE5A6-6FA3-4663-A42A-CB265BC834F5}" type="datetime1">
              <a:rPr kumimoji="0" lang="zh-TW" altLang="en-US" sz="1400" smtClean="0"/>
              <a:t>2018/5/4</a:t>
            </a:fld>
            <a:endParaRPr kumimoji="0" lang="en-US" altLang="zh-TW" sz="1400" smtClean="0"/>
          </a:p>
        </p:txBody>
      </p:sp>
      <p:sp>
        <p:nvSpPr>
          <p:cNvPr id="5123"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5124"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76B120B7-E66C-4B3A-8B56-5BB34A978E02}" type="slidenum">
              <a:rPr kumimoji="0" lang="zh-TW" altLang="en-US" sz="1400" smtClean="0"/>
              <a:pPr eaLnBrk="1" hangingPunct="1"/>
              <a:t>3</a:t>
            </a:fld>
            <a:endParaRPr kumimoji="0" lang="en-US" altLang="zh-TW" sz="1400" smtClean="0"/>
          </a:p>
        </p:txBody>
      </p:sp>
      <p:sp>
        <p:nvSpPr>
          <p:cNvPr id="5125" name="Rectangle 2"/>
          <p:cNvSpPr>
            <a:spLocks noGrp="1" noChangeArrowheads="1"/>
          </p:cNvSpPr>
          <p:nvPr>
            <p:ph type="title"/>
          </p:nvPr>
        </p:nvSpPr>
        <p:spPr>
          <a:xfrm>
            <a:off x="255588" y="304800"/>
            <a:ext cx="8577262" cy="606425"/>
          </a:xfrm>
        </p:spPr>
        <p:txBody>
          <a:bodyPr/>
          <a:lstStyle/>
          <a:p>
            <a:pPr eaLnBrk="1" hangingPunct="1"/>
            <a:r>
              <a:rPr lang="en-US" altLang="zh-TW" sz="4000" smtClean="0"/>
              <a:t>Overview of Mass Storage Structure</a:t>
            </a:r>
          </a:p>
        </p:txBody>
      </p:sp>
      <p:sp>
        <p:nvSpPr>
          <p:cNvPr id="152579" name="Rectangle 3" descr="Rectangle: Click to edit Master text styles&#10;Second level&#10;Third level&#10;Fourth level&#10;Fifth level"/>
          <p:cNvSpPr>
            <a:spLocks noGrp="1" noChangeArrowheads="1"/>
          </p:cNvSpPr>
          <p:nvPr>
            <p:ph type="body" idx="1"/>
          </p:nvPr>
        </p:nvSpPr>
        <p:spPr>
          <a:xfrm>
            <a:off x="252413" y="773113"/>
            <a:ext cx="8686800" cy="5445125"/>
          </a:xfrm>
        </p:spPr>
        <p:txBody>
          <a:bodyPr/>
          <a:lstStyle/>
          <a:p>
            <a:pPr eaLnBrk="1" hangingPunct="1">
              <a:lnSpc>
                <a:spcPct val="90000"/>
              </a:lnSpc>
            </a:pPr>
            <a:r>
              <a:rPr lang="en-US" altLang="zh-TW" sz="2800" dirty="0" smtClean="0"/>
              <a:t>Magnetic disks provide bulk of secondary storage</a:t>
            </a:r>
          </a:p>
          <a:p>
            <a:pPr lvl="1" eaLnBrk="1" hangingPunct="1">
              <a:lnSpc>
                <a:spcPct val="90000"/>
              </a:lnSpc>
            </a:pPr>
            <a:r>
              <a:rPr lang="en-US" altLang="zh-TW" sz="2400" b="1" dirty="0" smtClean="0">
                <a:solidFill>
                  <a:srgbClr val="FF0000"/>
                </a:solidFill>
              </a:rPr>
              <a:t>Transfer rate</a:t>
            </a:r>
            <a:r>
              <a:rPr lang="en-US" altLang="zh-TW" sz="2400" dirty="0" smtClean="0"/>
              <a:t> is the rate at which data flow between drive and computer</a:t>
            </a:r>
          </a:p>
          <a:p>
            <a:pPr lvl="1" eaLnBrk="1" hangingPunct="1">
              <a:lnSpc>
                <a:spcPct val="90000"/>
              </a:lnSpc>
            </a:pPr>
            <a:r>
              <a:rPr lang="en-US" altLang="zh-TW" sz="2400" b="1" dirty="0" smtClean="0">
                <a:solidFill>
                  <a:srgbClr val="FF0000"/>
                </a:solidFill>
              </a:rPr>
              <a:t>Positioning time</a:t>
            </a:r>
            <a:r>
              <a:rPr lang="en-US" altLang="zh-TW" sz="2400" dirty="0" smtClean="0"/>
              <a:t> (</a:t>
            </a:r>
            <a:r>
              <a:rPr lang="en-US" altLang="zh-TW" sz="2400" b="1" dirty="0" smtClean="0"/>
              <a:t>random-access time</a:t>
            </a:r>
            <a:r>
              <a:rPr lang="en-US" altLang="zh-TW" sz="2400" dirty="0" smtClean="0"/>
              <a:t>) is the time to move disk arm to desired cylinder (</a:t>
            </a:r>
            <a:r>
              <a:rPr lang="en-US" altLang="zh-TW" sz="2400" b="1" dirty="0" smtClean="0">
                <a:solidFill>
                  <a:srgbClr val="FF0000"/>
                </a:solidFill>
              </a:rPr>
              <a:t>seek time</a:t>
            </a:r>
            <a:r>
              <a:rPr lang="en-US" altLang="zh-TW" sz="2400" dirty="0" smtClean="0"/>
              <a:t>) and time for desired sector to rotate under the disk head (</a:t>
            </a:r>
            <a:r>
              <a:rPr lang="en-US" altLang="zh-TW" sz="2400" b="1" dirty="0" smtClean="0">
                <a:solidFill>
                  <a:srgbClr val="FF0000"/>
                </a:solidFill>
              </a:rPr>
              <a:t>rotational latency</a:t>
            </a:r>
            <a:r>
              <a:rPr lang="en-US" altLang="zh-TW" sz="2400" dirty="0" smtClean="0"/>
              <a:t>)</a:t>
            </a:r>
          </a:p>
          <a:p>
            <a:pPr lvl="1" eaLnBrk="1" hangingPunct="1">
              <a:lnSpc>
                <a:spcPct val="90000"/>
              </a:lnSpc>
            </a:pPr>
            <a:r>
              <a:rPr lang="en-US" altLang="zh-TW" sz="2400" b="1" dirty="0">
                <a:solidFill>
                  <a:srgbClr val="FF0000"/>
                </a:solidFill>
              </a:rPr>
              <a:t>Head </a:t>
            </a:r>
            <a:r>
              <a:rPr lang="en-US" altLang="zh-TW" sz="2400" b="1" dirty="0" smtClean="0">
                <a:solidFill>
                  <a:srgbClr val="FF0000"/>
                </a:solidFill>
              </a:rPr>
              <a:t>crash</a:t>
            </a:r>
          </a:p>
          <a:p>
            <a:pPr eaLnBrk="1" hangingPunct="1">
              <a:lnSpc>
                <a:spcPct val="90000"/>
              </a:lnSpc>
              <a:spcBef>
                <a:spcPct val="60000"/>
              </a:spcBef>
            </a:pPr>
            <a:r>
              <a:rPr lang="en-US" altLang="zh-TW" sz="2400" dirty="0" smtClean="0"/>
              <a:t>Disks can be removable</a:t>
            </a:r>
          </a:p>
          <a:p>
            <a:pPr eaLnBrk="1" hangingPunct="1">
              <a:lnSpc>
                <a:spcPct val="90000"/>
              </a:lnSpc>
              <a:spcBef>
                <a:spcPct val="60000"/>
              </a:spcBef>
            </a:pPr>
            <a:r>
              <a:rPr lang="en-US" altLang="zh-TW" sz="2400" dirty="0" smtClean="0"/>
              <a:t>Drive attached to computer via </a:t>
            </a:r>
            <a:r>
              <a:rPr lang="en-US" altLang="zh-TW" sz="2400" b="1" dirty="0" smtClean="0">
                <a:solidFill>
                  <a:srgbClr val="0000FF"/>
                </a:solidFill>
              </a:rPr>
              <a:t>I/O bus</a:t>
            </a:r>
          </a:p>
          <a:p>
            <a:pPr lvl="1" eaLnBrk="1" hangingPunct="1">
              <a:lnSpc>
                <a:spcPct val="90000"/>
              </a:lnSpc>
            </a:pPr>
            <a:r>
              <a:rPr lang="en-US" altLang="zh-TW" sz="2000" dirty="0" smtClean="0"/>
              <a:t>Busses vary, including </a:t>
            </a:r>
            <a:r>
              <a:rPr lang="en-US" altLang="zh-TW" sz="2000" b="1" dirty="0" smtClean="0"/>
              <a:t>EIDE, ATA, SATA, </a:t>
            </a:r>
            <a:r>
              <a:rPr lang="en-US" altLang="zh-TW" sz="2000" b="1" dirty="0" err="1" smtClean="0"/>
              <a:t>eSATA</a:t>
            </a:r>
            <a:r>
              <a:rPr lang="en-US" altLang="zh-TW" sz="2000" b="1" dirty="0" smtClean="0"/>
              <a:t>, USB, </a:t>
            </a:r>
            <a:r>
              <a:rPr lang="en-US" altLang="zh-TW" sz="2000" b="1" dirty="0" err="1" smtClean="0"/>
              <a:t>Fibre</a:t>
            </a:r>
            <a:r>
              <a:rPr lang="en-US" altLang="zh-TW" sz="2000" b="1" dirty="0" smtClean="0"/>
              <a:t> Channel, </a:t>
            </a:r>
            <a:r>
              <a:rPr lang="en-US" altLang="zh-TW" sz="2000" b="1" dirty="0"/>
              <a:t>SCSI, SAS, </a:t>
            </a:r>
            <a:r>
              <a:rPr lang="en-US" altLang="zh-TW" sz="2000" b="1" dirty="0" err="1" smtClean="0"/>
              <a:t>Firewire</a:t>
            </a:r>
            <a:r>
              <a:rPr lang="en-US" altLang="zh-TW" sz="2000" b="1" dirty="0" smtClean="0"/>
              <a:t>, </a:t>
            </a:r>
            <a:r>
              <a:rPr lang="en-US" altLang="zh-TW" sz="2000" b="1" dirty="0" err="1" smtClean="0">
                <a:solidFill>
                  <a:srgbClr val="FF0000"/>
                </a:solidFill>
              </a:rPr>
              <a:t>PCIe</a:t>
            </a:r>
            <a:endParaRPr lang="en-US" altLang="zh-TW" sz="2000" b="1" dirty="0" smtClean="0">
              <a:solidFill>
                <a:srgbClr val="FF0000"/>
              </a:solidFill>
            </a:endParaRPr>
          </a:p>
          <a:p>
            <a:pPr lvl="1" eaLnBrk="1" hangingPunct="1">
              <a:lnSpc>
                <a:spcPct val="90000"/>
              </a:lnSpc>
              <a:spcBef>
                <a:spcPct val="50000"/>
              </a:spcBef>
            </a:pPr>
            <a:r>
              <a:rPr lang="en-US" altLang="zh-TW" sz="2000" b="1" dirty="0" smtClean="0"/>
              <a:t>Host controller</a:t>
            </a:r>
            <a:r>
              <a:rPr lang="en-US" altLang="zh-TW" sz="2000" dirty="0" smtClean="0"/>
              <a:t> in computer uses bus to talk to </a:t>
            </a:r>
            <a:r>
              <a:rPr lang="en-US" altLang="zh-TW" sz="2000" b="1" dirty="0" smtClean="0"/>
              <a:t>disk controller</a:t>
            </a:r>
            <a:r>
              <a:rPr lang="en-US" altLang="zh-TW" sz="2000" dirty="0" smtClean="0"/>
              <a:t> built into </a:t>
            </a:r>
            <a:r>
              <a:rPr lang="en-US" altLang="zh-TW" sz="2000" dirty="0" smtClean="0">
                <a:solidFill>
                  <a:srgbClr val="0000FF"/>
                </a:solidFill>
              </a:rPr>
              <a:t>drive or storage array</a:t>
            </a:r>
          </a:p>
          <a:p>
            <a:pPr eaLnBrk="1" hangingPunct="1">
              <a:lnSpc>
                <a:spcPct val="90000"/>
              </a:lnSpc>
              <a:buFont typeface="Wingdings" pitchFamily="2" charset="2"/>
              <a:buNone/>
            </a:pPr>
            <a:endParaRPr lang="zh-TW" altLang="en-US" sz="2800" dirty="0"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52579">
                                            <p:txEl>
                                              <p:pRg st="1" end="1"/>
                                            </p:txEl>
                                          </p:spTgt>
                                        </p:tgtEl>
                                        <p:attrNameLst>
                                          <p:attrName>style.visibility</p:attrName>
                                        </p:attrNameLst>
                                      </p:cBhvr>
                                      <p:to>
                                        <p:strVal val="visible"/>
                                      </p:to>
                                    </p:set>
                                    <p:animEffect transition="in" filter="blinds(horizontal)">
                                      <p:cBhvr>
                                        <p:cTn id="7" dur="500"/>
                                        <p:tgtEl>
                                          <p:spTgt spid="15257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52579">
                                            <p:txEl>
                                              <p:pRg st="2" end="2"/>
                                            </p:txEl>
                                          </p:spTgt>
                                        </p:tgtEl>
                                        <p:attrNameLst>
                                          <p:attrName>style.visibility</p:attrName>
                                        </p:attrNameLst>
                                      </p:cBhvr>
                                      <p:to>
                                        <p:strVal val="visible"/>
                                      </p:to>
                                    </p:set>
                                    <p:animEffect transition="in" filter="blinds(horizontal)">
                                      <p:cBhvr>
                                        <p:cTn id="12" dur="500"/>
                                        <p:tgtEl>
                                          <p:spTgt spid="15257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2579">
                                            <p:txEl>
                                              <p:pRg st="3" end="3"/>
                                            </p:txEl>
                                          </p:spTgt>
                                        </p:tgtEl>
                                        <p:attrNameLst>
                                          <p:attrName>style.visibility</p:attrName>
                                        </p:attrNameLst>
                                      </p:cBhvr>
                                      <p:to>
                                        <p:strVal val="visible"/>
                                      </p:to>
                                    </p:set>
                                    <p:animEffect transition="in" filter="blinds(horizontal)">
                                      <p:cBhvr>
                                        <p:cTn id="17" dur="500"/>
                                        <p:tgtEl>
                                          <p:spTgt spid="15257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52579">
                                            <p:txEl>
                                              <p:pRg st="4" end="4"/>
                                            </p:txEl>
                                          </p:spTgt>
                                        </p:tgtEl>
                                        <p:attrNameLst>
                                          <p:attrName>style.visibility</p:attrName>
                                        </p:attrNameLst>
                                      </p:cBhvr>
                                      <p:to>
                                        <p:strVal val="visible"/>
                                      </p:to>
                                    </p:set>
                                    <p:animEffect transition="in" filter="blinds(horizontal)">
                                      <p:cBhvr>
                                        <p:cTn id="22" dur="500"/>
                                        <p:tgtEl>
                                          <p:spTgt spid="15257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52579">
                                            <p:txEl>
                                              <p:pRg st="5" end="5"/>
                                            </p:txEl>
                                          </p:spTgt>
                                        </p:tgtEl>
                                        <p:attrNameLst>
                                          <p:attrName>style.visibility</p:attrName>
                                        </p:attrNameLst>
                                      </p:cBhvr>
                                      <p:to>
                                        <p:strVal val="visible"/>
                                      </p:to>
                                    </p:set>
                                    <p:animEffect transition="in" filter="blinds(horizontal)">
                                      <p:cBhvr>
                                        <p:cTn id="27" dur="500"/>
                                        <p:tgtEl>
                                          <p:spTgt spid="152579">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52579">
                                            <p:txEl>
                                              <p:pRg st="6" end="6"/>
                                            </p:txEl>
                                          </p:spTgt>
                                        </p:tgtEl>
                                        <p:attrNameLst>
                                          <p:attrName>style.visibility</p:attrName>
                                        </p:attrNameLst>
                                      </p:cBhvr>
                                      <p:to>
                                        <p:strVal val="visible"/>
                                      </p:to>
                                    </p:set>
                                    <p:animEffect transition="in" filter="blinds(horizontal)">
                                      <p:cBhvr>
                                        <p:cTn id="32" dur="500"/>
                                        <p:tgtEl>
                                          <p:spTgt spid="152579">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52579">
                                            <p:txEl>
                                              <p:pRg st="7" end="7"/>
                                            </p:txEl>
                                          </p:spTgt>
                                        </p:tgtEl>
                                        <p:attrNameLst>
                                          <p:attrName>style.visibility</p:attrName>
                                        </p:attrNameLst>
                                      </p:cBhvr>
                                      <p:to>
                                        <p:strVal val="visible"/>
                                      </p:to>
                                    </p:set>
                                    <p:animEffect transition="in" filter="blinds(horizontal)">
                                      <p:cBhvr>
                                        <p:cTn id="37" dur="500"/>
                                        <p:tgtEl>
                                          <p:spTgt spid="1525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版面配置區 2"/>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CFA7D83C-F4AF-48BC-A772-F0B87F700EAE}" type="datetime1">
              <a:rPr kumimoji="0" lang="zh-TW" altLang="en-US" sz="1400" smtClean="0"/>
              <a:t>2018/5/4</a:t>
            </a:fld>
            <a:endParaRPr kumimoji="0" lang="en-US" altLang="zh-TW" sz="1400" smtClean="0"/>
          </a:p>
        </p:txBody>
      </p:sp>
      <p:sp>
        <p:nvSpPr>
          <p:cNvPr id="6147" name="頁尾版面配置區 3"/>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6148" name="投影片編號版面配置區 4"/>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AC035CE7-47C8-4F96-9CFE-6B41CC9AE7A2}" type="slidenum">
              <a:rPr kumimoji="0" lang="zh-TW" altLang="en-US" sz="1400" smtClean="0"/>
              <a:pPr eaLnBrk="1" hangingPunct="1"/>
              <a:t>4</a:t>
            </a:fld>
            <a:endParaRPr kumimoji="0" lang="en-US" altLang="zh-TW" sz="1400" smtClean="0"/>
          </a:p>
        </p:txBody>
      </p:sp>
      <p:sp>
        <p:nvSpPr>
          <p:cNvPr id="6149" name="Rectangle 2"/>
          <p:cNvSpPr>
            <a:spLocks noGrp="1" noChangeArrowheads="1"/>
          </p:cNvSpPr>
          <p:nvPr>
            <p:ph type="title"/>
          </p:nvPr>
        </p:nvSpPr>
        <p:spPr>
          <a:xfrm>
            <a:off x="609600" y="304800"/>
            <a:ext cx="7772400" cy="655638"/>
          </a:xfrm>
        </p:spPr>
        <p:txBody>
          <a:bodyPr/>
          <a:lstStyle/>
          <a:p>
            <a:pPr eaLnBrk="1" hangingPunct="1"/>
            <a:r>
              <a:rPr lang="en-US" altLang="zh-TW" sz="4000" smtClean="0"/>
              <a:t>Moving-head Disk Mechanism</a:t>
            </a:r>
          </a:p>
        </p:txBody>
      </p:sp>
      <p:pic>
        <p:nvPicPr>
          <p:cNvPr id="6150" name="Picture 3"/>
          <p:cNvPicPr>
            <a:picLocks noChangeAspect="1" noChangeArrowheads="1"/>
          </p:cNvPicPr>
          <p:nvPr/>
        </p:nvPicPr>
        <p:blipFill>
          <a:blip r:embed="rId3">
            <a:extLst>
              <a:ext uri="{28A0092B-C50C-407E-A947-70E740481C1C}">
                <a14:useLocalDpi xmlns:a14="http://schemas.microsoft.com/office/drawing/2010/main" val="0"/>
              </a:ext>
            </a:extLst>
          </a:blip>
          <a:srcRect l="801" t="2466" r="801" b="2834"/>
          <a:stretch>
            <a:fillRect/>
          </a:stretch>
        </p:blipFill>
        <p:spPr bwMode="auto">
          <a:xfrm>
            <a:off x="1293813" y="1282700"/>
            <a:ext cx="6996112" cy="5048250"/>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2CCB31B6-53FF-4720-921A-538B7E67583F}" type="datetime1">
              <a:rPr kumimoji="0" lang="zh-TW" altLang="en-US" sz="1400" smtClean="0"/>
              <a:t>2018/5/4</a:t>
            </a:fld>
            <a:endParaRPr kumimoji="0" lang="en-US" altLang="zh-TW" sz="1400" smtClean="0"/>
          </a:p>
        </p:txBody>
      </p:sp>
      <p:sp>
        <p:nvSpPr>
          <p:cNvPr id="7171"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7172"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F6C0C7E4-D3AC-4239-A0C6-9928AD8274BB}" type="slidenum">
              <a:rPr kumimoji="0" lang="zh-TW" altLang="en-US" sz="1400" smtClean="0"/>
              <a:pPr eaLnBrk="1" hangingPunct="1"/>
              <a:t>5</a:t>
            </a:fld>
            <a:endParaRPr kumimoji="0" lang="en-US" altLang="zh-TW" sz="1400" smtClean="0"/>
          </a:p>
        </p:txBody>
      </p:sp>
      <p:sp>
        <p:nvSpPr>
          <p:cNvPr id="7173" name="Rectangle 2"/>
          <p:cNvSpPr>
            <a:spLocks noGrp="1" noChangeArrowheads="1"/>
          </p:cNvSpPr>
          <p:nvPr>
            <p:ph type="title"/>
          </p:nvPr>
        </p:nvSpPr>
        <p:spPr>
          <a:xfrm>
            <a:off x="609600" y="304800"/>
            <a:ext cx="7772400" cy="823913"/>
          </a:xfrm>
        </p:spPr>
        <p:txBody>
          <a:bodyPr/>
          <a:lstStyle/>
          <a:p>
            <a:pPr eaLnBrk="1" hangingPunct="1"/>
            <a:r>
              <a:rPr lang="en-US" altLang="zh-TW" dirty="0"/>
              <a:t>Hard </a:t>
            </a:r>
            <a:r>
              <a:rPr lang="en-US" altLang="zh-TW" dirty="0" smtClean="0"/>
              <a:t>Disk </a:t>
            </a:r>
            <a:r>
              <a:rPr lang="en-US" altLang="zh-TW" dirty="0"/>
              <a:t>Performance </a:t>
            </a:r>
            <a:endParaRPr lang="en-US" altLang="zh-TW" dirty="0" smtClean="0"/>
          </a:p>
        </p:txBody>
      </p:sp>
      <p:sp>
        <p:nvSpPr>
          <p:cNvPr id="39939" name="Rectangle 3" descr="Rectangle: Click to edit Master text styles&#10;Second level&#10;Third level&#10;Fourth level&#10;Fifth level"/>
          <p:cNvSpPr>
            <a:spLocks noGrp="1" noChangeArrowheads="1"/>
          </p:cNvSpPr>
          <p:nvPr>
            <p:ph type="body" idx="1"/>
          </p:nvPr>
        </p:nvSpPr>
        <p:spPr>
          <a:xfrm>
            <a:off x="374650" y="1208088"/>
            <a:ext cx="8250238" cy="5173662"/>
          </a:xfrm>
        </p:spPr>
        <p:txBody>
          <a:bodyPr/>
          <a:lstStyle/>
          <a:p>
            <a:pPr eaLnBrk="1" hangingPunct="1">
              <a:lnSpc>
                <a:spcPct val="90000"/>
              </a:lnSpc>
              <a:spcBef>
                <a:spcPts val="1200"/>
              </a:spcBef>
              <a:defRPr/>
            </a:pPr>
            <a:r>
              <a:rPr lang="en-US" altLang="zh-TW" sz="2800" dirty="0">
                <a:solidFill>
                  <a:srgbClr val="0000FF"/>
                </a:solidFill>
                <a:latin typeface="Adobe Gothic Std B" pitchFamily="34" charset="-128"/>
                <a:ea typeface="Adobe Gothic Std B" pitchFamily="34" charset="-128"/>
              </a:rPr>
              <a:t>Transfer Rate </a:t>
            </a:r>
            <a:r>
              <a:rPr lang="en-US" altLang="zh-TW" sz="2800" dirty="0">
                <a:latin typeface="Adobe Gothic Std B" pitchFamily="34" charset="-128"/>
                <a:ea typeface="Adobe Gothic Std B" pitchFamily="34" charset="-128"/>
              </a:rPr>
              <a:t>–6 Gb/sec (theoretical )</a:t>
            </a:r>
          </a:p>
          <a:p>
            <a:pPr eaLnBrk="1" hangingPunct="1">
              <a:lnSpc>
                <a:spcPct val="90000"/>
              </a:lnSpc>
              <a:spcBef>
                <a:spcPts val="1200"/>
              </a:spcBef>
              <a:defRPr/>
            </a:pPr>
            <a:r>
              <a:rPr lang="en-US" altLang="zh-TW" sz="2800" dirty="0">
                <a:solidFill>
                  <a:srgbClr val="0000FF"/>
                </a:solidFill>
                <a:latin typeface="Adobe Gothic Std B" pitchFamily="34" charset="-128"/>
                <a:ea typeface="Adobe Gothic Std B" pitchFamily="34" charset="-128"/>
              </a:rPr>
              <a:t>Effective Transfer Rate </a:t>
            </a:r>
            <a:r>
              <a:rPr lang="en-US" altLang="zh-TW" sz="2800" dirty="0">
                <a:latin typeface="Adobe Gothic Std B" pitchFamily="34" charset="-128"/>
                <a:ea typeface="Adobe Gothic Std B" pitchFamily="34" charset="-128"/>
              </a:rPr>
              <a:t>–1Gb/sec (real )</a:t>
            </a:r>
          </a:p>
          <a:p>
            <a:pPr eaLnBrk="1" hangingPunct="1">
              <a:lnSpc>
                <a:spcPct val="90000"/>
              </a:lnSpc>
              <a:spcBef>
                <a:spcPts val="1200"/>
              </a:spcBef>
              <a:defRPr/>
            </a:pPr>
            <a:r>
              <a:rPr lang="en-US" altLang="zh-TW" sz="2800" dirty="0">
                <a:solidFill>
                  <a:srgbClr val="7030A0"/>
                </a:solidFill>
                <a:latin typeface="Adobe Gothic Std B" pitchFamily="34" charset="-128"/>
                <a:ea typeface="Adobe Gothic Std B" pitchFamily="34" charset="-128"/>
              </a:rPr>
              <a:t>Seek time </a:t>
            </a:r>
            <a:r>
              <a:rPr lang="en-US" altLang="zh-TW" sz="2800" dirty="0">
                <a:latin typeface="Adobe Gothic Std B" pitchFamily="34" charset="-128"/>
                <a:ea typeface="Adobe Gothic Std B" pitchFamily="34" charset="-128"/>
              </a:rPr>
              <a:t>from 3ms to </a:t>
            </a:r>
            <a:r>
              <a:rPr lang="en-US" altLang="zh-TW" sz="2800" dirty="0" smtClean="0">
                <a:latin typeface="Adobe Gothic Std B" pitchFamily="34" charset="-128"/>
                <a:ea typeface="Adobe Gothic Std B" pitchFamily="34" charset="-128"/>
              </a:rPr>
              <a:t>12ms,  </a:t>
            </a:r>
            <a:r>
              <a:rPr lang="en-US" altLang="zh-TW" sz="2800" dirty="0">
                <a:latin typeface="Adobe Gothic Std B" pitchFamily="34" charset="-128"/>
                <a:ea typeface="Adobe Gothic Std B" pitchFamily="34" charset="-128"/>
              </a:rPr>
              <a:t>9ms common for desktop drives</a:t>
            </a:r>
          </a:p>
          <a:p>
            <a:pPr eaLnBrk="1" hangingPunct="1">
              <a:lnSpc>
                <a:spcPct val="90000"/>
              </a:lnSpc>
              <a:spcBef>
                <a:spcPts val="1200"/>
              </a:spcBef>
              <a:defRPr/>
            </a:pPr>
            <a:r>
              <a:rPr lang="en-US" altLang="zh-TW" sz="2800" dirty="0">
                <a:solidFill>
                  <a:srgbClr val="7030A0"/>
                </a:solidFill>
                <a:latin typeface="Adobe Gothic Std B" pitchFamily="34" charset="-128"/>
                <a:ea typeface="Adobe Gothic Std B" pitchFamily="34" charset="-128"/>
              </a:rPr>
              <a:t>Average seek time </a:t>
            </a:r>
            <a:r>
              <a:rPr lang="en-US" altLang="zh-TW" sz="2800" dirty="0">
                <a:latin typeface="Adobe Gothic Std B" pitchFamily="34" charset="-128"/>
                <a:ea typeface="Adobe Gothic Std B" pitchFamily="34" charset="-128"/>
              </a:rPr>
              <a:t>measured </a:t>
            </a:r>
            <a:r>
              <a:rPr lang="en-US" altLang="zh-TW" sz="2800" dirty="0" smtClean="0">
                <a:latin typeface="Adobe Gothic Std B" pitchFamily="34" charset="-128"/>
                <a:ea typeface="Adobe Gothic Std B" pitchFamily="34" charset="-128"/>
              </a:rPr>
              <a:t>based </a:t>
            </a:r>
            <a:r>
              <a:rPr lang="en-US" altLang="zh-TW" sz="2800" dirty="0">
                <a:latin typeface="Adobe Gothic Std B" pitchFamily="34" charset="-128"/>
                <a:ea typeface="Adobe Gothic Std B" pitchFamily="34" charset="-128"/>
              </a:rPr>
              <a:t>on 1/3 of tracks</a:t>
            </a:r>
          </a:p>
          <a:p>
            <a:pPr eaLnBrk="1" hangingPunct="1">
              <a:lnSpc>
                <a:spcPct val="90000"/>
              </a:lnSpc>
              <a:spcBef>
                <a:spcPts val="1200"/>
              </a:spcBef>
              <a:defRPr/>
            </a:pPr>
            <a:r>
              <a:rPr lang="en-US" altLang="zh-TW" sz="2800" dirty="0">
                <a:solidFill>
                  <a:srgbClr val="FF0000"/>
                </a:solidFill>
                <a:latin typeface="Adobe Gothic Std B" pitchFamily="34" charset="-128"/>
                <a:ea typeface="Adobe Gothic Std B" pitchFamily="34" charset="-128"/>
              </a:rPr>
              <a:t>Latency </a:t>
            </a:r>
            <a:r>
              <a:rPr lang="en-US" altLang="zh-TW" sz="2800" dirty="0">
                <a:latin typeface="Adobe Gothic Std B" pitchFamily="34" charset="-128"/>
                <a:ea typeface="Adobe Gothic Std B" pitchFamily="34" charset="-128"/>
              </a:rPr>
              <a:t>based on spindle </a:t>
            </a:r>
            <a:r>
              <a:rPr lang="en-US" altLang="zh-TW" sz="2800" dirty="0" smtClean="0">
                <a:latin typeface="Adobe Gothic Std B" pitchFamily="34" charset="-128"/>
                <a:ea typeface="Adobe Gothic Std B" pitchFamily="34" charset="-128"/>
              </a:rPr>
              <a:t>speed</a:t>
            </a:r>
            <a:endParaRPr lang="en-US" altLang="zh-TW" sz="2400" dirty="0">
              <a:latin typeface="Adobe Gothic Std B" pitchFamily="34" charset="-128"/>
              <a:ea typeface="Adobe Gothic Std B" pitchFamily="34" charset="-128"/>
            </a:endParaRPr>
          </a:p>
          <a:p>
            <a:pPr eaLnBrk="1" hangingPunct="1">
              <a:lnSpc>
                <a:spcPct val="90000"/>
              </a:lnSpc>
              <a:spcBef>
                <a:spcPts val="1200"/>
              </a:spcBef>
              <a:defRPr/>
            </a:pPr>
            <a:r>
              <a:rPr lang="en-US" altLang="zh-TW" sz="2800" dirty="0">
                <a:solidFill>
                  <a:srgbClr val="FF0000"/>
                </a:solidFill>
                <a:latin typeface="Adobe Gothic Std B" pitchFamily="34" charset="-128"/>
                <a:ea typeface="Adobe Gothic Std B" pitchFamily="34" charset="-128"/>
              </a:rPr>
              <a:t>Average latency </a:t>
            </a:r>
            <a:r>
              <a:rPr lang="en-US" altLang="zh-TW" sz="2800" dirty="0">
                <a:latin typeface="Adobe Gothic Std B" pitchFamily="34" charset="-128"/>
                <a:ea typeface="Adobe Gothic Std B" pitchFamily="34" charset="-128"/>
              </a:rPr>
              <a:t>= ½ latency</a:t>
            </a:r>
          </a:p>
        </p:txBody>
      </p:sp>
      <p:pic>
        <p:nvPicPr>
          <p:cNvPr id="7"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41624" y="4495800"/>
            <a:ext cx="33147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39">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par>
                                <p:cTn id="15" presetID="1" presetClass="entr" presetSubtype="0" fill="hold" nodeType="withEffect">
                                  <p:stCondLst>
                                    <p:cond delay="0"/>
                                  </p:stCondLst>
                                  <p:childTnLst>
                                    <p:set>
                                      <p:cBhvr>
                                        <p:cTn id="16" dur="1" fill="hold">
                                          <p:stCondLst>
                                            <p:cond delay="0"/>
                                          </p:stCondLst>
                                        </p:cTn>
                                        <p:tgtEl>
                                          <p:spTgt spid="3993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99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FC1A594E-FEF8-453F-B901-A9B535C185CD}" type="datetime1">
              <a:rPr kumimoji="0" lang="zh-TW" altLang="en-US" sz="1400" smtClean="0"/>
              <a:t>2018/5/4</a:t>
            </a:fld>
            <a:endParaRPr kumimoji="0" lang="en-US" altLang="zh-TW" sz="1400" smtClean="0"/>
          </a:p>
        </p:txBody>
      </p:sp>
      <p:sp>
        <p:nvSpPr>
          <p:cNvPr id="7171"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7172"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F6C0C7E4-D3AC-4239-A0C6-9928AD8274BB}" type="slidenum">
              <a:rPr kumimoji="0" lang="zh-TW" altLang="en-US" sz="1400" smtClean="0"/>
              <a:pPr eaLnBrk="1" hangingPunct="1"/>
              <a:t>6</a:t>
            </a:fld>
            <a:endParaRPr kumimoji="0" lang="en-US" altLang="zh-TW" sz="1400" smtClean="0"/>
          </a:p>
        </p:txBody>
      </p:sp>
      <p:sp>
        <p:nvSpPr>
          <p:cNvPr id="7173" name="Rectangle 2"/>
          <p:cNvSpPr>
            <a:spLocks noGrp="1" noChangeArrowheads="1"/>
          </p:cNvSpPr>
          <p:nvPr>
            <p:ph type="title"/>
          </p:nvPr>
        </p:nvSpPr>
        <p:spPr>
          <a:xfrm>
            <a:off x="609600" y="304800"/>
            <a:ext cx="7772400" cy="823913"/>
          </a:xfrm>
        </p:spPr>
        <p:txBody>
          <a:bodyPr/>
          <a:lstStyle/>
          <a:p>
            <a:pPr eaLnBrk="1" hangingPunct="1"/>
            <a:r>
              <a:rPr lang="en-US" altLang="zh-TW" dirty="0"/>
              <a:t>Hard </a:t>
            </a:r>
            <a:r>
              <a:rPr lang="en-US" altLang="zh-TW" dirty="0" smtClean="0"/>
              <a:t>Disk </a:t>
            </a:r>
            <a:r>
              <a:rPr lang="en-US" altLang="zh-TW" dirty="0"/>
              <a:t>Performance </a:t>
            </a:r>
            <a:endParaRPr lang="en-US" altLang="zh-TW" dirty="0" smtClean="0"/>
          </a:p>
        </p:txBody>
      </p:sp>
      <p:sp>
        <p:nvSpPr>
          <p:cNvPr id="39939" name="Rectangle 3" descr="Rectangle: Click to edit Master text styles&#10;Second level&#10;Third level&#10;Fourth level&#10;Fifth level"/>
          <p:cNvSpPr>
            <a:spLocks noGrp="1" noChangeArrowheads="1"/>
          </p:cNvSpPr>
          <p:nvPr>
            <p:ph type="body" idx="1"/>
          </p:nvPr>
        </p:nvSpPr>
        <p:spPr>
          <a:xfrm>
            <a:off x="374650" y="1208088"/>
            <a:ext cx="8250238" cy="5173662"/>
          </a:xfrm>
        </p:spPr>
        <p:txBody>
          <a:bodyPr/>
          <a:lstStyle/>
          <a:p>
            <a:pPr eaLnBrk="1" hangingPunct="1">
              <a:lnSpc>
                <a:spcPct val="90000"/>
              </a:lnSpc>
              <a:spcBef>
                <a:spcPts val="1200"/>
              </a:spcBef>
              <a:defRPr/>
            </a:pPr>
            <a:r>
              <a:rPr lang="en-US" altLang="zh-TW" sz="2400" dirty="0">
                <a:solidFill>
                  <a:srgbClr val="002060"/>
                </a:solidFill>
                <a:latin typeface="Adobe Gothic Std B" pitchFamily="34" charset="-128"/>
                <a:ea typeface="Adobe Gothic Std B" pitchFamily="34" charset="-128"/>
              </a:rPr>
              <a:t>Access </a:t>
            </a:r>
            <a:r>
              <a:rPr lang="en-US" altLang="zh-TW" sz="2400" dirty="0">
                <a:solidFill>
                  <a:srgbClr val="FF0000"/>
                </a:solidFill>
                <a:latin typeface="Adobe Gothic Std B" pitchFamily="34" charset="-128"/>
                <a:ea typeface="Adobe Gothic Std B" pitchFamily="34" charset="-128"/>
              </a:rPr>
              <a:t>Latency</a:t>
            </a:r>
            <a:r>
              <a:rPr lang="en-US" altLang="zh-TW" sz="2400" dirty="0">
                <a:solidFill>
                  <a:srgbClr val="002060"/>
                </a:solidFill>
                <a:latin typeface="Adobe Gothic Std B" pitchFamily="34" charset="-128"/>
                <a:ea typeface="Adobe Gothic Std B" pitchFamily="34" charset="-128"/>
              </a:rPr>
              <a:t> = Average access time = </a:t>
            </a:r>
            <a:r>
              <a:rPr lang="en-US" altLang="zh-TW" sz="2400" dirty="0">
                <a:solidFill>
                  <a:srgbClr val="0000FF"/>
                </a:solidFill>
                <a:latin typeface="Adobe Gothic Std B" pitchFamily="34" charset="-128"/>
                <a:ea typeface="Adobe Gothic Std B" pitchFamily="34" charset="-128"/>
              </a:rPr>
              <a:t>average seek time + average latency</a:t>
            </a:r>
          </a:p>
          <a:p>
            <a:pPr lvl="1" eaLnBrk="1" hangingPunct="1">
              <a:lnSpc>
                <a:spcPct val="90000"/>
              </a:lnSpc>
              <a:spcBef>
                <a:spcPts val="1200"/>
              </a:spcBef>
              <a:defRPr/>
            </a:pPr>
            <a:r>
              <a:rPr lang="en-US" altLang="zh-TW" sz="2000" dirty="0" smtClean="0">
                <a:solidFill>
                  <a:srgbClr val="002060"/>
                </a:solidFill>
                <a:latin typeface="Adobe Gothic Std B" pitchFamily="34" charset="-128"/>
                <a:ea typeface="Adobe Gothic Std B" pitchFamily="34" charset="-128"/>
              </a:rPr>
              <a:t>fastest disk: </a:t>
            </a:r>
            <a:r>
              <a:rPr lang="en-US" altLang="zh-TW" sz="2000" dirty="0">
                <a:solidFill>
                  <a:srgbClr val="002060"/>
                </a:solidFill>
                <a:latin typeface="Adobe Gothic Std B" pitchFamily="34" charset="-128"/>
                <a:ea typeface="Adobe Gothic Std B" pitchFamily="34" charset="-128"/>
              </a:rPr>
              <a:t>3ms + 2ms = 5ms</a:t>
            </a:r>
          </a:p>
          <a:p>
            <a:pPr lvl="1" eaLnBrk="1" hangingPunct="1">
              <a:lnSpc>
                <a:spcPct val="90000"/>
              </a:lnSpc>
              <a:spcBef>
                <a:spcPts val="1200"/>
              </a:spcBef>
              <a:defRPr/>
            </a:pPr>
            <a:r>
              <a:rPr lang="en-US" altLang="zh-TW" sz="2000" dirty="0" smtClean="0">
                <a:solidFill>
                  <a:srgbClr val="002060"/>
                </a:solidFill>
                <a:latin typeface="Adobe Gothic Std B" pitchFamily="34" charset="-128"/>
                <a:ea typeface="Adobe Gothic Std B" pitchFamily="34" charset="-128"/>
              </a:rPr>
              <a:t>slow disk: </a:t>
            </a:r>
            <a:r>
              <a:rPr lang="en-US" altLang="zh-TW" sz="2000" dirty="0">
                <a:solidFill>
                  <a:srgbClr val="002060"/>
                </a:solidFill>
                <a:latin typeface="Adobe Gothic Std B" pitchFamily="34" charset="-128"/>
                <a:ea typeface="Adobe Gothic Std B" pitchFamily="34" charset="-128"/>
              </a:rPr>
              <a:t>9ms + 5.56ms = 14.56ms</a:t>
            </a:r>
          </a:p>
          <a:p>
            <a:pPr eaLnBrk="1" hangingPunct="1">
              <a:lnSpc>
                <a:spcPct val="90000"/>
              </a:lnSpc>
              <a:spcBef>
                <a:spcPts val="1200"/>
              </a:spcBef>
              <a:defRPr/>
            </a:pPr>
            <a:r>
              <a:rPr lang="en-US" altLang="zh-TW" sz="2400" dirty="0">
                <a:solidFill>
                  <a:srgbClr val="FF0000"/>
                </a:solidFill>
                <a:latin typeface="Adobe Gothic Std B" pitchFamily="34" charset="-128"/>
                <a:ea typeface="Adobe Gothic Std B" pitchFamily="34" charset="-128"/>
              </a:rPr>
              <a:t>Average I/O time </a:t>
            </a:r>
            <a:r>
              <a:rPr lang="en-US" altLang="zh-TW" sz="2400" dirty="0">
                <a:solidFill>
                  <a:srgbClr val="002060"/>
                </a:solidFill>
                <a:latin typeface="Adobe Gothic Std B" pitchFamily="34" charset="-128"/>
                <a:ea typeface="Adobe Gothic Std B" pitchFamily="34" charset="-128"/>
              </a:rPr>
              <a:t>= </a:t>
            </a:r>
            <a:r>
              <a:rPr lang="en-US" altLang="zh-TW" sz="2400" dirty="0">
                <a:solidFill>
                  <a:srgbClr val="0000FF"/>
                </a:solidFill>
                <a:latin typeface="Adobe Gothic Std B" pitchFamily="34" charset="-128"/>
                <a:ea typeface="Adobe Gothic Std B" pitchFamily="34" charset="-128"/>
              </a:rPr>
              <a:t>average access time + (amount to transfer / transfer rate) + controller overhead</a:t>
            </a:r>
          </a:p>
          <a:p>
            <a:pPr lvl="1" eaLnBrk="1" hangingPunct="1">
              <a:lnSpc>
                <a:spcPct val="90000"/>
              </a:lnSpc>
              <a:spcBef>
                <a:spcPts val="1200"/>
              </a:spcBef>
              <a:defRPr/>
            </a:pPr>
            <a:r>
              <a:rPr lang="en-US" altLang="zh-TW" sz="2000" dirty="0" smtClean="0">
                <a:solidFill>
                  <a:srgbClr val="002060"/>
                </a:solidFill>
                <a:latin typeface="Adobe Gothic Std B" pitchFamily="34" charset="-128"/>
                <a:ea typeface="Adobe Gothic Std B" pitchFamily="34" charset="-128"/>
              </a:rPr>
              <a:t>Example: transferring </a:t>
            </a:r>
            <a:r>
              <a:rPr lang="en-US" altLang="zh-TW" sz="2000" dirty="0">
                <a:solidFill>
                  <a:srgbClr val="002060"/>
                </a:solidFill>
                <a:latin typeface="Adobe Gothic Std B" pitchFamily="34" charset="-128"/>
                <a:ea typeface="Adobe Gothic Std B" pitchFamily="34" charset="-128"/>
              </a:rPr>
              <a:t>a </a:t>
            </a:r>
            <a:r>
              <a:rPr lang="en-US" altLang="zh-TW" sz="2000" dirty="0">
                <a:solidFill>
                  <a:srgbClr val="FF0000"/>
                </a:solidFill>
                <a:latin typeface="Adobe Gothic Std B" pitchFamily="34" charset="-128"/>
                <a:ea typeface="Adobe Gothic Std B" pitchFamily="34" charset="-128"/>
              </a:rPr>
              <a:t>4KB block </a:t>
            </a:r>
            <a:r>
              <a:rPr lang="en-US" altLang="zh-TW" sz="2000" dirty="0">
                <a:solidFill>
                  <a:srgbClr val="002060"/>
                </a:solidFill>
                <a:latin typeface="Adobe Gothic Std B" pitchFamily="34" charset="-128"/>
                <a:ea typeface="Adobe Gothic Std B" pitchFamily="34" charset="-128"/>
              </a:rPr>
              <a:t>on a 7200 RPM disk with a </a:t>
            </a:r>
            <a:r>
              <a:rPr lang="en-US" altLang="zh-TW" sz="2000" dirty="0">
                <a:solidFill>
                  <a:srgbClr val="0000FF"/>
                </a:solidFill>
                <a:latin typeface="Adobe Gothic Std B" pitchFamily="34" charset="-128"/>
                <a:ea typeface="Adobe Gothic Std B" pitchFamily="34" charset="-128"/>
              </a:rPr>
              <a:t>5ms</a:t>
            </a:r>
            <a:r>
              <a:rPr lang="en-US" altLang="zh-TW" sz="2000" dirty="0">
                <a:solidFill>
                  <a:srgbClr val="002060"/>
                </a:solidFill>
                <a:latin typeface="Adobe Gothic Std B" pitchFamily="34" charset="-128"/>
                <a:ea typeface="Adobe Gothic Std B" pitchFamily="34" charset="-128"/>
              </a:rPr>
              <a:t> average seek time, </a:t>
            </a:r>
            <a:r>
              <a:rPr lang="en-US" altLang="zh-TW" sz="2000" dirty="0">
                <a:solidFill>
                  <a:srgbClr val="0000FF"/>
                </a:solidFill>
                <a:latin typeface="Adobe Gothic Std B" pitchFamily="34" charset="-128"/>
                <a:ea typeface="Adobe Gothic Std B" pitchFamily="34" charset="-128"/>
              </a:rPr>
              <a:t>1Gb/sec</a:t>
            </a:r>
            <a:r>
              <a:rPr lang="en-US" altLang="zh-TW" sz="2000" dirty="0">
                <a:solidFill>
                  <a:srgbClr val="002060"/>
                </a:solidFill>
                <a:latin typeface="Adobe Gothic Std B" pitchFamily="34" charset="-128"/>
                <a:ea typeface="Adobe Gothic Std B" pitchFamily="34" charset="-128"/>
              </a:rPr>
              <a:t> transfer rate with a </a:t>
            </a:r>
            <a:r>
              <a:rPr lang="en-US" altLang="zh-TW" sz="2000" dirty="0" smtClean="0">
                <a:solidFill>
                  <a:srgbClr val="0000FF"/>
                </a:solidFill>
                <a:latin typeface="Adobe Gothic Std B" pitchFamily="34" charset="-128"/>
                <a:ea typeface="Adobe Gothic Std B" pitchFamily="34" charset="-128"/>
              </a:rPr>
              <a:t>0.1ms</a:t>
            </a:r>
            <a:r>
              <a:rPr lang="en-US" altLang="zh-TW" sz="2000" dirty="0" smtClean="0">
                <a:solidFill>
                  <a:srgbClr val="002060"/>
                </a:solidFill>
                <a:latin typeface="Adobe Gothic Std B" pitchFamily="34" charset="-128"/>
                <a:ea typeface="Adobe Gothic Std B" pitchFamily="34" charset="-128"/>
              </a:rPr>
              <a:t> </a:t>
            </a:r>
            <a:r>
              <a:rPr lang="en-US" altLang="zh-TW" sz="2000" dirty="0">
                <a:solidFill>
                  <a:srgbClr val="002060"/>
                </a:solidFill>
                <a:latin typeface="Adobe Gothic Std B" pitchFamily="34" charset="-128"/>
                <a:ea typeface="Adobe Gothic Std B" pitchFamily="34" charset="-128"/>
              </a:rPr>
              <a:t>controller overhead </a:t>
            </a:r>
            <a:r>
              <a:rPr lang="en-US" altLang="zh-TW" sz="2000" dirty="0" smtClean="0">
                <a:solidFill>
                  <a:srgbClr val="002060"/>
                </a:solidFill>
                <a:latin typeface="Adobe Gothic Std B" pitchFamily="34" charset="-128"/>
                <a:ea typeface="Adobe Gothic Std B" pitchFamily="34" charset="-128"/>
              </a:rPr>
              <a:t>,</a:t>
            </a:r>
          </a:p>
          <a:p>
            <a:pPr lvl="1" eaLnBrk="1" hangingPunct="1">
              <a:lnSpc>
                <a:spcPct val="90000"/>
              </a:lnSpc>
              <a:spcBef>
                <a:spcPts val="1200"/>
              </a:spcBef>
              <a:defRPr/>
            </a:pPr>
            <a:r>
              <a:rPr lang="en-US" altLang="zh-TW" sz="2000" dirty="0">
                <a:solidFill>
                  <a:srgbClr val="002060"/>
                </a:solidFill>
                <a:latin typeface="Adobe Gothic Std B" pitchFamily="34" charset="-128"/>
                <a:ea typeface="Adobe Gothic Std B" pitchFamily="34" charset="-128"/>
              </a:rPr>
              <a:t>5ms + 4.17ms + 0.1ms + </a:t>
            </a:r>
            <a:r>
              <a:rPr lang="en-US" altLang="zh-TW" sz="2000" dirty="0" smtClean="0">
                <a:solidFill>
                  <a:srgbClr val="002060"/>
                </a:solidFill>
                <a:latin typeface="Adobe Gothic Std B" pitchFamily="34" charset="-128"/>
                <a:ea typeface="Adobe Gothic Std B" pitchFamily="34" charset="-128"/>
              </a:rPr>
              <a:t>Transfer time,</a:t>
            </a:r>
            <a:endParaRPr lang="en-US" altLang="zh-TW" sz="2000" dirty="0">
              <a:solidFill>
                <a:srgbClr val="002060"/>
              </a:solidFill>
              <a:latin typeface="Adobe Gothic Std B" pitchFamily="34" charset="-128"/>
              <a:ea typeface="Adobe Gothic Std B" pitchFamily="34" charset="-128"/>
            </a:endParaRPr>
          </a:p>
          <a:p>
            <a:pPr lvl="1" eaLnBrk="1" hangingPunct="1">
              <a:lnSpc>
                <a:spcPct val="90000"/>
              </a:lnSpc>
              <a:spcBef>
                <a:spcPts val="1200"/>
              </a:spcBef>
              <a:defRPr/>
            </a:pPr>
            <a:r>
              <a:rPr lang="en-US" altLang="zh-TW" sz="2000" dirty="0">
                <a:solidFill>
                  <a:srgbClr val="002060"/>
                </a:solidFill>
                <a:latin typeface="Adobe Gothic Std B" pitchFamily="34" charset="-128"/>
                <a:ea typeface="Adobe Gothic Std B" pitchFamily="34" charset="-128"/>
              </a:rPr>
              <a:t>Transfer time = 4KB / 1Gb/s * 8Gb / GB * 1GB / 1024</a:t>
            </a:r>
            <a:r>
              <a:rPr lang="en-US" altLang="zh-TW" sz="2000" baseline="30000" dirty="0">
                <a:solidFill>
                  <a:srgbClr val="002060"/>
                </a:solidFill>
                <a:latin typeface="Adobe Gothic Std B" pitchFamily="34" charset="-128"/>
                <a:ea typeface="Adobe Gothic Std B" pitchFamily="34" charset="-128"/>
              </a:rPr>
              <a:t>2</a:t>
            </a:r>
            <a:r>
              <a:rPr lang="en-US" altLang="zh-TW" sz="2000" dirty="0">
                <a:solidFill>
                  <a:srgbClr val="002060"/>
                </a:solidFill>
                <a:latin typeface="Adobe Gothic Std B" pitchFamily="34" charset="-128"/>
                <a:ea typeface="Adobe Gothic Std B" pitchFamily="34" charset="-128"/>
              </a:rPr>
              <a:t>KB = 32 / (1024</a:t>
            </a:r>
            <a:r>
              <a:rPr lang="en-US" altLang="zh-TW" sz="2000" baseline="30000" dirty="0">
                <a:solidFill>
                  <a:srgbClr val="002060"/>
                </a:solidFill>
                <a:latin typeface="Adobe Gothic Std B" pitchFamily="34" charset="-128"/>
                <a:ea typeface="Adobe Gothic Std B" pitchFamily="34" charset="-128"/>
              </a:rPr>
              <a:t>2</a:t>
            </a:r>
            <a:r>
              <a:rPr lang="en-US" altLang="zh-TW" sz="2000" dirty="0">
                <a:solidFill>
                  <a:srgbClr val="002060"/>
                </a:solidFill>
                <a:latin typeface="Adobe Gothic Std B" pitchFamily="34" charset="-128"/>
                <a:ea typeface="Adobe Gothic Std B" pitchFamily="34" charset="-128"/>
              </a:rPr>
              <a:t>) = 0.031 </a:t>
            </a:r>
            <a:r>
              <a:rPr lang="en-US" altLang="zh-TW" sz="2000" dirty="0" err="1">
                <a:solidFill>
                  <a:srgbClr val="002060"/>
                </a:solidFill>
                <a:latin typeface="Adobe Gothic Std B" pitchFamily="34" charset="-128"/>
                <a:ea typeface="Adobe Gothic Std B" pitchFamily="34" charset="-128"/>
              </a:rPr>
              <a:t>ms</a:t>
            </a:r>
            <a:r>
              <a:rPr lang="en-US" altLang="zh-TW" sz="2000" dirty="0">
                <a:solidFill>
                  <a:srgbClr val="002060"/>
                </a:solidFill>
                <a:latin typeface="Adobe Gothic Std B" pitchFamily="34" charset="-128"/>
                <a:ea typeface="Adobe Gothic Std B" pitchFamily="34" charset="-128"/>
              </a:rPr>
              <a:t> </a:t>
            </a:r>
          </a:p>
          <a:p>
            <a:pPr lvl="1" eaLnBrk="1" hangingPunct="1">
              <a:lnSpc>
                <a:spcPct val="90000"/>
              </a:lnSpc>
              <a:spcBef>
                <a:spcPts val="1200"/>
              </a:spcBef>
              <a:defRPr/>
            </a:pPr>
            <a:r>
              <a:rPr lang="en-US" altLang="zh-TW" sz="2000" dirty="0">
                <a:solidFill>
                  <a:srgbClr val="002060"/>
                </a:solidFill>
                <a:latin typeface="Adobe Gothic Std B" pitchFamily="34" charset="-128"/>
                <a:ea typeface="Adobe Gothic Std B" pitchFamily="34" charset="-128"/>
              </a:rPr>
              <a:t>Average I/O time </a:t>
            </a:r>
            <a:r>
              <a:rPr lang="en-US" altLang="zh-TW" sz="2000" dirty="0" smtClean="0">
                <a:solidFill>
                  <a:srgbClr val="002060"/>
                </a:solidFill>
                <a:latin typeface="Adobe Gothic Std B" pitchFamily="34" charset="-128"/>
                <a:ea typeface="Adobe Gothic Std B" pitchFamily="34" charset="-128"/>
              </a:rPr>
              <a:t>= 9.27ms </a:t>
            </a:r>
            <a:r>
              <a:rPr lang="en-US" altLang="zh-TW" sz="2000" dirty="0">
                <a:solidFill>
                  <a:srgbClr val="002060"/>
                </a:solidFill>
                <a:latin typeface="Adobe Gothic Std B" pitchFamily="34" charset="-128"/>
                <a:ea typeface="Adobe Gothic Std B" pitchFamily="34" charset="-128"/>
              </a:rPr>
              <a:t>+ .031ms = </a:t>
            </a:r>
            <a:r>
              <a:rPr lang="en-US" altLang="zh-TW" sz="2000" dirty="0" smtClean="0">
                <a:solidFill>
                  <a:srgbClr val="002060"/>
                </a:solidFill>
                <a:latin typeface="Adobe Gothic Std B" pitchFamily="34" charset="-128"/>
                <a:ea typeface="Adobe Gothic Std B" pitchFamily="34" charset="-128"/>
              </a:rPr>
              <a:t>9.301ms</a:t>
            </a:r>
            <a:endParaRPr lang="en-US" altLang="zh-TW" sz="2000" dirty="0">
              <a:solidFill>
                <a:srgbClr val="002060"/>
              </a:solidFill>
              <a:latin typeface="Adobe Gothic Std B" pitchFamily="34" charset="-128"/>
              <a:ea typeface="Adobe Gothic Std B" pitchFamily="34" charset="-128"/>
            </a:endParaRPr>
          </a:p>
        </p:txBody>
      </p:sp>
    </p:spTree>
    <p:extLst>
      <p:ext uri="{BB962C8B-B14F-4D97-AF65-F5344CB8AC3E}">
        <p14:creationId xmlns:p14="http://schemas.microsoft.com/office/powerpoint/2010/main" val="3883682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3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93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93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93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D04FF5B7-6ECC-4C2D-BCDA-6EBBB5CE7282}" type="datetime1">
              <a:rPr kumimoji="0" lang="zh-TW" altLang="en-US" sz="1400" smtClean="0"/>
              <a:t>2018/5/4</a:t>
            </a:fld>
            <a:endParaRPr kumimoji="0" lang="en-US" altLang="zh-TW" sz="1400" smtClean="0"/>
          </a:p>
        </p:txBody>
      </p:sp>
      <p:sp>
        <p:nvSpPr>
          <p:cNvPr id="7171"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7172"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F6C0C7E4-D3AC-4239-A0C6-9928AD8274BB}" type="slidenum">
              <a:rPr kumimoji="0" lang="zh-TW" altLang="en-US" sz="1400" smtClean="0"/>
              <a:pPr eaLnBrk="1" hangingPunct="1"/>
              <a:t>7</a:t>
            </a:fld>
            <a:endParaRPr kumimoji="0" lang="en-US" altLang="zh-TW" sz="1400" smtClean="0"/>
          </a:p>
        </p:txBody>
      </p:sp>
      <p:sp>
        <p:nvSpPr>
          <p:cNvPr id="7173" name="Rectangle 2"/>
          <p:cNvSpPr>
            <a:spLocks noGrp="1" noChangeArrowheads="1"/>
          </p:cNvSpPr>
          <p:nvPr>
            <p:ph type="title"/>
          </p:nvPr>
        </p:nvSpPr>
        <p:spPr>
          <a:xfrm>
            <a:off x="568503" y="0"/>
            <a:ext cx="7772400" cy="823913"/>
          </a:xfrm>
        </p:spPr>
        <p:txBody>
          <a:bodyPr/>
          <a:lstStyle/>
          <a:p>
            <a:pPr eaLnBrk="1" hangingPunct="1"/>
            <a:r>
              <a:rPr lang="en-US" altLang="zh-TW" dirty="0"/>
              <a:t>Solid-State Disks</a:t>
            </a:r>
            <a:endParaRPr lang="en-US" altLang="zh-TW" dirty="0" smtClean="0"/>
          </a:p>
        </p:txBody>
      </p:sp>
      <p:sp>
        <p:nvSpPr>
          <p:cNvPr id="39939" name="Rectangle 3" descr="Rectangle: Click to edit Master text styles&#10;Second level&#10;Third level&#10;Fourth level&#10;Fifth level"/>
          <p:cNvSpPr>
            <a:spLocks noGrp="1" noChangeArrowheads="1"/>
          </p:cNvSpPr>
          <p:nvPr>
            <p:ph type="body" idx="1"/>
          </p:nvPr>
        </p:nvSpPr>
        <p:spPr>
          <a:xfrm>
            <a:off x="374650" y="770562"/>
            <a:ext cx="8481674" cy="5611188"/>
          </a:xfrm>
        </p:spPr>
        <p:txBody>
          <a:bodyPr/>
          <a:lstStyle/>
          <a:p>
            <a:pPr eaLnBrk="1" hangingPunct="1">
              <a:lnSpc>
                <a:spcPct val="90000"/>
              </a:lnSpc>
              <a:spcBef>
                <a:spcPts val="1200"/>
              </a:spcBef>
              <a:defRPr/>
            </a:pPr>
            <a:r>
              <a:rPr lang="en-US" altLang="zh-TW" sz="2800" dirty="0">
                <a:solidFill>
                  <a:srgbClr val="002060"/>
                </a:solidFill>
                <a:latin typeface="Adobe Gothic Std B" pitchFamily="34" charset="-128"/>
                <a:ea typeface="Adobe Gothic Std B" pitchFamily="34" charset="-128"/>
              </a:rPr>
              <a:t>Sometimes old technologies are used in new ways as economics change </a:t>
            </a:r>
            <a:r>
              <a:rPr lang="en-US" altLang="zh-TW" sz="2800" dirty="0" smtClean="0">
                <a:solidFill>
                  <a:srgbClr val="002060"/>
                </a:solidFill>
                <a:latin typeface="Adobe Gothic Std B" pitchFamily="34" charset="-128"/>
                <a:ea typeface="Adobe Gothic Std B" pitchFamily="34" charset="-128"/>
              </a:rPr>
              <a:t>or the </a:t>
            </a:r>
            <a:r>
              <a:rPr lang="en-US" altLang="zh-TW" sz="2800" dirty="0">
                <a:solidFill>
                  <a:srgbClr val="002060"/>
                </a:solidFill>
                <a:latin typeface="Adobe Gothic Std B" pitchFamily="34" charset="-128"/>
                <a:ea typeface="Adobe Gothic Std B" pitchFamily="34" charset="-128"/>
              </a:rPr>
              <a:t>technologies </a:t>
            </a:r>
            <a:r>
              <a:rPr lang="en-US" altLang="zh-TW" sz="2800" dirty="0" smtClean="0">
                <a:solidFill>
                  <a:srgbClr val="002060"/>
                </a:solidFill>
                <a:latin typeface="Adobe Gothic Std B" pitchFamily="34" charset="-128"/>
                <a:ea typeface="Adobe Gothic Std B" pitchFamily="34" charset="-128"/>
              </a:rPr>
              <a:t>evolved.</a:t>
            </a:r>
          </a:p>
          <a:p>
            <a:pPr eaLnBrk="1" hangingPunct="1">
              <a:lnSpc>
                <a:spcPct val="90000"/>
              </a:lnSpc>
              <a:spcBef>
                <a:spcPts val="1200"/>
              </a:spcBef>
              <a:defRPr/>
            </a:pPr>
            <a:r>
              <a:rPr lang="en-US" altLang="zh-TW" sz="2800" dirty="0" smtClean="0">
                <a:solidFill>
                  <a:srgbClr val="002060"/>
                </a:solidFill>
                <a:latin typeface="Adobe Gothic Std B" pitchFamily="34" charset="-128"/>
                <a:ea typeface="Adobe Gothic Std B" pitchFamily="34" charset="-128"/>
              </a:rPr>
              <a:t>Nonvolatile </a:t>
            </a:r>
            <a:r>
              <a:rPr lang="en-US" altLang="zh-TW" sz="2800" dirty="0">
                <a:solidFill>
                  <a:srgbClr val="002060"/>
                </a:solidFill>
                <a:latin typeface="Adobe Gothic Std B" pitchFamily="34" charset="-128"/>
                <a:ea typeface="Adobe Gothic Std B" pitchFamily="34" charset="-128"/>
              </a:rPr>
              <a:t>memory used like a hard drive</a:t>
            </a:r>
          </a:p>
          <a:p>
            <a:pPr lvl="1" eaLnBrk="1" hangingPunct="1">
              <a:lnSpc>
                <a:spcPct val="90000"/>
              </a:lnSpc>
              <a:spcBef>
                <a:spcPts val="1200"/>
              </a:spcBef>
              <a:defRPr/>
            </a:pPr>
            <a:r>
              <a:rPr lang="en-US" altLang="zh-TW" sz="2400" dirty="0" smtClean="0">
                <a:solidFill>
                  <a:srgbClr val="002060"/>
                </a:solidFill>
                <a:latin typeface="Adobe Gothic Std B" pitchFamily="34" charset="-128"/>
                <a:ea typeface="Adobe Gothic Std B" pitchFamily="34" charset="-128"/>
              </a:rPr>
              <a:t>many </a:t>
            </a:r>
            <a:r>
              <a:rPr lang="en-US" altLang="zh-TW" sz="2400" dirty="0">
                <a:solidFill>
                  <a:srgbClr val="002060"/>
                </a:solidFill>
                <a:latin typeface="Adobe Gothic Std B" pitchFamily="34" charset="-128"/>
                <a:ea typeface="Adobe Gothic Std B" pitchFamily="34" charset="-128"/>
              </a:rPr>
              <a:t>technology </a:t>
            </a:r>
            <a:r>
              <a:rPr lang="en-US" altLang="zh-TW" sz="2400" dirty="0" smtClean="0">
                <a:solidFill>
                  <a:srgbClr val="002060"/>
                </a:solidFill>
                <a:latin typeface="Adobe Gothic Std B" pitchFamily="34" charset="-128"/>
                <a:ea typeface="Adobe Gothic Std B" pitchFamily="34" charset="-128"/>
              </a:rPr>
              <a:t>variations</a:t>
            </a:r>
            <a:r>
              <a:rPr lang="en-US" altLang="zh-TW" sz="2400" dirty="0">
                <a:solidFill>
                  <a:srgbClr val="002060"/>
                </a:solidFill>
                <a:latin typeface="Adobe Gothic Std B" pitchFamily="34" charset="-128"/>
                <a:ea typeface="Adobe Gothic Std B" pitchFamily="34" charset="-128"/>
              </a:rPr>
              <a:t>, e.g., flash-memory</a:t>
            </a:r>
          </a:p>
          <a:p>
            <a:pPr lvl="1" eaLnBrk="1" hangingPunct="1">
              <a:lnSpc>
                <a:spcPct val="90000"/>
              </a:lnSpc>
              <a:spcBef>
                <a:spcPts val="1200"/>
              </a:spcBef>
              <a:defRPr/>
            </a:pPr>
            <a:r>
              <a:rPr lang="en-US" altLang="zh-TW" sz="2400" dirty="0" smtClean="0">
                <a:solidFill>
                  <a:srgbClr val="002060"/>
                </a:solidFill>
                <a:latin typeface="Adobe Gothic Std B" pitchFamily="34" charset="-128"/>
                <a:ea typeface="Adobe Gothic Std B" pitchFamily="34" charset="-128"/>
              </a:rPr>
              <a:t>more </a:t>
            </a:r>
            <a:r>
              <a:rPr lang="en-US" altLang="zh-TW" sz="2400" dirty="0">
                <a:solidFill>
                  <a:srgbClr val="002060"/>
                </a:solidFill>
                <a:latin typeface="Adobe Gothic Std B" pitchFamily="34" charset="-128"/>
                <a:ea typeface="Adobe Gothic Std B" pitchFamily="34" charset="-128"/>
              </a:rPr>
              <a:t>reliable than </a:t>
            </a:r>
            <a:r>
              <a:rPr lang="en-US" altLang="zh-TW" sz="2400" dirty="0" smtClean="0">
                <a:solidFill>
                  <a:srgbClr val="002060"/>
                </a:solidFill>
                <a:latin typeface="Adobe Gothic Std B" pitchFamily="34" charset="-128"/>
                <a:ea typeface="Adobe Gothic Std B" pitchFamily="34" charset="-128"/>
              </a:rPr>
              <a:t>HDDs</a:t>
            </a:r>
            <a:r>
              <a:rPr lang="en-US" altLang="zh-TW" sz="2400" dirty="0">
                <a:solidFill>
                  <a:srgbClr val="002060"/>
                </a:solidFill>
                <a:latin typeface="Adobe Gothic Std B" pitchFamily="34" charset="-128"/>
                <a:ea typeface="Adobe Gothic Std B" pitchFamily="34" charset="-128"/>
              </a:rPr>
              <a:t> (no moving parts</a:t>
            </a:r>
            <a:r>
              <a:rPr lang="en-US" altLang="zh-TW" sz="2400" dirty="0" smtClean="0">
                <a:solidFill>
                  <a:srgbClr val="002060"/>
                </a:solidFill>
                <a:latin typeface="Adobe Gothic Std B" pitchFamily="34" charset="-128"/>
                <a:ea typeface="Adobe Gothic Std B" pitchFamily="34" charset="-128"/>
              </a:rPr>
              <a:t>), more </a:t>
            </a:r>
            <a:r>
              <a:rPr lang="en-US" altLang="zh-TW" sz="2400" dirty="0">
                <a:solidFill>
                  <a:srgbClr val="002060"/>
                </a:solidFill>
                <a:latin typeface="Adobe Gothic Std B" pitchFamily="34" charset="-128"/>
                <a:ea typeface="Adobe Gothic Std B" pitchFamily="34" charset="-128"/>
              </a:rPr>
              <a:t>expensive per </a:t>
            </a:r>
            <a:r>
              <a:rPr lang="en-US" altLang="zh-TW" sz="2400" dirty="0" smtClean="0">
                <a:solidFill>
                  <a:srgbClr val="002060"/>
                </a:solidFill>
                <a:latin typeface="Adobe Gothic Std B" pitchFamily="34" charset="-128"/>
                <a:ea typeface="Adobe Gothic Std B" pitchFamily="34" charset="-128"/>
              </a:rPr>
              <a:t>MB, maybe </a:t>
            </a:r>
            <a:r>
              <a:rPr lang="en-US" altLang="zh-TW" sz="2400" dirty="0">
                <a:solidFill>
                  <a:srgbClr val="002060"/>
                </a:solidFill>
                <a:latin typeface="Adobe Gothic Std B" pitchFamily="34" charset="-128"/>
                <a:ea typeface="Adobe Gothic Std B" pitchFamily="34" charset="-128"/>
              </a:rPr>
              <a:t>have shorter life span </a:t>
            </a:r>
          </a:p>
          <a:p>
            <a:pPr lvl="1" eaLnBrk="1" hangingPunct="1">
              <a:lnSpc>
                <a:spcPct val="90000"/>
              </a:lnSpc>
              <a:spcBef>
                <a:spcPts val="1200"/>
              </a:spcBef>
              <a:defRPr/>
            </a:pPr>
            <a:r>
              <a:rPr lang="en-US" altLang="zh-TW" sz="2400" dirty="0" smtClean="0">
                <a:solidFill>
                  <a:srgbClr val="002060"/>
                </a:solidFill>
                <a:latin typeface="Adobe Gothic Std B" pitchFamily="34" charset="-128"/>
                <a:ea typeface="Adobe Gothic Std B" pitchFamily="34" charset="-128"/>
              </a:rPr>
              <a:t>less capacity, but </a:t>
            </a:r>
            <a:r>
              <a:rPr lang="en-US" altLang="zh-TW" sz="2400" dirty="0">
                <a:solidFill>
                  <a:srgbClr val="002060"/>
                </a:solidFill>
                <a:latin typeface="Adobe Gothic Std B" pitchFamily="34" charset="-128"/>
                <a:ea typeface="Adobe Gothic Std B" pitchFamily="34" charset="-128"/>
              </a:rPr>
              <a:t>much faster</a:t>
            </a:r>
          </a:p>
          <a:p>
            <a:pPr lvl="1" eaLnBrk="1" hangingPunct="1">
              <a:lnSpc>
                <a:spcPct val="90000"/>
              </a:lnSpc>
              <a:spcBef>
                <a:spcPts val="1200"/>
              </a:spcBef>
              <a:defRPr/>
            </a:pPr>
            <a:r>
              <a:rPr lang="en-US" altLang="zh-TW" sz="2400" dirty="0">
                <a:solidFill>
                  <a:srgbClr val="0000FF"/>
                </a:solidFill>
                <a:latin typeface="Adobe Gothic Std B" pitchFamily="34" charset="-128"/>
                <a:ea typeface="Adobe Gothic Std B" pitchFamily="34" charset="-128"/>
              </a:rPr>
              <a:t>n</a:t>
            </a:r>
            <a:r>
              <a:rPr lang="en-US" altLang="zh-TW" sz="2400" dirty="0" smtClean="0">
                <a:solidFill>
                  <a:srgbClr val="0000FF"/>
                </a:solidFill>
                <a:latin typeface="Adobe Gothic Std B" pitchFamily="34" charset="-128"/>
                <a:ea typeface="Adobe Gothic Std B" pitchFamily="34" charset="-128"/>
              </a:rPr>
              <a:t>o </a:t>
            </a:r>
            <a:r>
              <a:rPr lang="en-US" altLang="zh-TW" sz="2400" dirty="0">
                <a:solidFill>
                  <a:srgbClr val="0000FF"/>
                </a:solidFill>
                <a:latin typeface="Adobe Gothic Std B" pitchFamily="34" charset="-128"/>
                <a:ea typeface="Adobe Gothic Std B" pitchFamily="34" charset="-128"/>
              </a:rPr>
              <a:t>moving parts, so no seek time or rotational </a:t>
            </a:r>
            <a:r>
              <a:rPr lang="en-US" altLang="zh-TW" sz="2400" dirty="0" smtClean="0">
                <a:solidFill>
                  <a:srgbClr val="0000FF"/>
                </a:solidFill>
                <a:latin typeface="Adobe Gothic Std B" pitchFamily="34" charset="-128"/>
                <a:ea typeface="Adobe Gothic Std B" pitchFamily="34" charset="-128"/>
              </a:rPr>
              <a:t>latency</a:t>
            </a:r>
          </a:p>
          <a:p>
            <a:pPr eaLnBrk="1" hangingPunct="1">
              <a:lnSpc>
                <a:spcPct val="90000"/>
              </a:lnSpc>
              <a:spcBef>
                <a:spcPts val="1200"/>
              </a:spcBef>
              <a:defRPr/>
            </a:pPr>
            <a:r>
              <a:rPr lang="en-US" altLang="zh-TW" sz="2600" dirty="0">
                <a:solidFill>
                  <a:srgbClr val="002060"/>
                </a:solidFill>
                <a:latin typeface="Adobe Gothic Std B" pitchFamily="34" charset="-128"/>
                <a:ea typeface="Adobe Gothic Std B" pitchFamily="34" charset="-128"/>
              </a:rPr>
              <a:t>One use for SSDs is in storage </a:t>
            </a:r>
            <a:r>
              <a:rPr lang="en-US" altLang="zh-TW" sz="2600" dirty="0" smtClean="0">
                <a:solidFill>
                  <a:srgbClr val="002060"/>
                </a:solidFill>
                <a:latin typeface="Adobe Gothic Std B" pitchFamily="34" charset="-128"/>
                <a:ea typeface="Adobe Gothic Std B" pitchFamily="34" charset="-128"/>
              </a:rPr>
              <a:t>arrays, where </a:t>
            </a:r>
            <a:r>
              <a:rPr lang="en-US" altLang="zh-TW" sz="2600" dirty="0">
                <a:solidFill>
                  <a:srgbClr val="002060"/>
                </a:solidFill>
                <a:latin typeface="Adobe Gothic Std B" pitchFamily="34" charset="-128"/>
                <a:ea typeface="Adobe Gothic Std B" pitchFamily="34" charset="-128"/>
              </a:rPr>
              <a:t>they hold </a:t>
            </a:r>
            <a:r>
              <a:rPr lang="en-US" altLang="zh-TW" sz="2600" dirty="0">
                <a:solidFill>
                  <a:srgbClr val="FF0000"/>
                </a:solidFill>
                <a:latin typeface="Adobe Gothic Std B" pitchFamily="34" charset="-128"/>
                <a:ea typeface="Adobe Gothic Std B" pitchFamily="34" charset="-128"/>
              </a:rPr>
              <a:t>file-system metadata </a:t>
            </a:r>
            <a:r>
              <a:rPr lang="en-US" altLang="zh-TW" sz="2600" dirty="0">
                <a:solidFill>
                  <a:srgbClr val="002060"/>
                </a:solidFill>
                <a:latin typeface="Adobe Gothic Std B" pitchFamily="34" charset="-128"/>
                <a:ea typeface="Adobe Gothic Std B" pitchFamily="34" charset="-128"/>
              </a:rPr>
              <a:t>that require high performance.</a:t>
            </a:r>
          </a:p>
        </p:txBody>
      </p:sp>
    </p:spTree>
    <p:extLst>
      <p:ext uri="{BB962C8B-B14F-4D97-AF65-F5344CB8AC3E}">
        <p14:creationId xmlns:p14="http://schemas.microsoft.com/office/powerpoint/2010/main" val="1947568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3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993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93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9939">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993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B4F0702B-0520-46FF-AAAF-C60A8BA050CE}" type="datetime1">
              <a:rPr kumimoji="0" lang="zh-TW" altLang="en-US" sz="1400" smtClean="0"/>
              <a:t>2018/5/4</a:t>
            </a:fld>
            <a:endParaRPr kumimoji="0" lang="en-US" altLang="zh-TW" sz="1400" smtClean="0"/>
          </a:p>
        </p:txBody>
      </p:sp>
      <p:sp>
        <p:nvSpPr>
          <p:cNvPr id="7171"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7172"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F6C0C7E4-D3AC-4239-A0C6-9928AD8274BB}" type="slidenum">
              <a:rPr kumimoji="0" lang="zh-TW" altLang="en-US" sz="1400" smtClean="0"/>
              <a:pPr eaLnBrk="1" hangingPunct="1"/>
              <a:t>8</a:t>
            </a:fld>
            <a:endParaRPr kumimoji="0" lang="en-US" altLang="zh-TW" sz="1400" smtClean="0"/>
          </a:p>
        </p:txBody>
      </p:sp>
      <p:sp>
        <p:nvSpPr>
          <p:cNvPr id="7173" name="Rectangle 2"/>
          <p:cNvSpPr>
            <a:spLocks noGrp="1" noChangeArrowheads="1"/>
          </p:cNvSpPr>
          <p:nvPr>
            <p:ph type="title"/>
          </p:nvPr>
        </p:nvSpPr>
        <p:spPr>
          <a:xfrm>
            <a:off x="609600" y="304800"/>
            <a:ext cx="7772400" cy="823913"/>
          </a:xfrm>
        </p:spPr>
        <p:txBody>
          <a:bodyPr/>
          <a:lstStyle/>
          <a:p>
            <a:pPr eaLnBrk="1" hangingPunct="1"/>
            <a:r>
              <a:rPr lang="en-US" altLang="zh-TW" smtClean="0"/>
              <a:t>Disk Structure</a:t>
            </a:r>
          </a:p>
        </p:txBody>
      </p:sp>
      <p:sp>
        <p:nvSpPr>
          <p:cNvPr id="39939" name="Rectangle 3" descr="Rectangle: Click to edit Master text styles&#10;Second level&#10;Third level&#10;Fourth level&#10;Fifth level"/>
          <p:cNvSpPr>
            <a:spLocks noGrp="1" noChangeArrowheads="1"/>
          </p:cNvSpPr>
          <p:nvPr>
            <p:ph type="body" idx="1"/>
          </p:nvPr>
        </p:nvSpPr>
        <p:spPr>
          <a:xfrm>
            <a:off x="374650" y="1208088"/>
            <a:ext cx="8250238" cy="5173662"/>
          </a:xfrm>
        </p:spPr>
        <p:txBody>
          <a:bodyPr/>
          <a:lstStyle/>
          <a:p>
            <a:pPr eaLnBrk="1" hangingPunct="1">
              <a:lnSpc>
                <a:spcPct val="90000"/>
              </a:lnSpc>
              <a:defRPr/>
            </a:pPr>
            <a:r>
              <a:rPr lang="en-US" altLang="zh-TW" sz="2800" smtClean="0"/>
              <a:t>Physical: </a:t>
            </a:r>
            <a:r>
              <a:rPr lang="en-US" altLang="zh-TW" sz="2800" smtClean="0">
                <a:solidFill>
                  <a:srgbClr val="0000FF"/>
                </a:solidFill>
              </a:rPr>
              <a:t>cylinder</a:t>
            </a:r>
            <a:r>
              <a:rPr lang="en-US" altLang="zh-TW" sz="2800" smtClean="0"/>
              <a:t>, </a:t>
            </a:r>
            <a:r>
              <a:rPr lang="en-US" altLang="zh-TW" sz="2800" smtClean="0">
                <a:solidFill>
                  <a:srgbClr val="0000FF"/>
                </a:solidFill>
              </a:rPr>
              <a:t>track</a:t>
            </a:r>
            <a:r>
              <a:rPr lang="en-US" altLang="zh-TW" sz="2800" smtClean="0"/>
              <a:t>, </a:t>
            </a:r>
            <a:r>
              <a:rPr lang="en-US" altLang="zh-TW" sz="2800" smtClean="0">
                <a:solidFill>
                  <a:srgbClr val="FF0000"/>
                </a:solidFill>
              </a:rPr>
              <a:t>sector</a:t>
            </a:r>
            <a:r>
              <a:rPr lang="en-US" altLang="zh-TW" sz="2800" smtClean="0"/>
              <a:t> (</a:t>
            </a:r>
            <a:r>
              <a:rPr lang="en-US" altLang="zh-TW" sz="2800" smtClean="0">
                <a:solidFill>
                  <a:srgbClr val="FF0000"/>
                </a:solidFill>
              </a:rPr>
              <a:t>I/O unit</a:t>
            </a:r>
            <a:r>
              <a:rPr lang="en-US" altLang="zh-TW" sz="2800" smtClean="0"/>
              <a:t>)</a:t>
            </a:r>
          </a:p>
          <a:p>
            <a:pPr eaLnBrk="1" hangingPunct="1">
              <a:lnSpc>
                <a:spcPct val="90000"/>
              </a:lnSpc>
              <a:spcBef>
                <a:spcPct val="60000"/>
              </a:spcBef>
              <a:defRPr/>
            </a:pPr>
            <a:r>
              <a:rPr lang="en-US" altLang="zh-TW" sz="2800" smtClean="0"/>
              <a:t>Logical: Disk drives are addressed as large </a:t>
            </a:r>
            <a:r>
              <a:rPr lang="en-US" altLang="zh-TW" sz="2800" u="sng" smtClean="0"/>
              <a:t>1-dimensional arrays of </a:t>
            </a:r>
            <a:r>
              <a:rPr lang="en-US" altLang="zh-TW" sz="2800" b="1" smtClean="0">
                <a:solidFill>
                  <a:srgbClr val="FF0000"/>
                </a:solidFill>
              </a:rPr>
              <a:t>logical blocks</a:t>
            </a:r>
            <a:r>
              <a:rPr lang="en-US" altLang="zh-TW" sz="2800" smtClean="0"/>
              <a:t>, where </a:t>
            </a:r>
            <a:r>
              <a:rPr lang="en-US" altLang="zh-TW" sz="2800" smtClean="0">
                <a:solidFill>
                  <a:srgbClr val="0000FF"/>
                </a:solidFill>
              </a:rPr>
              <a:t>the logical block is the smallest unit of transfer</a:t>
            </a:r>
          </a:p>
          <a:p>
            <a:pPr eaLnBrk="1" hangingPunct="1">
              <a:lnSpc>
                <a:spcPct val="90000"/>
              </a:lnSpc>
              <a:spcBef>
                <a:spcPct val="60000"/>
              </a:spcBef>
              <a:defRPr/>
            </a:pPr>
            <a:r>
              <a:rPr lang="en-US" altLang="zh-TW" sz="2800" smtClean="0"/>
              <a:t>The 1-D array of </a:t>
            </a:r>
            <a:r>
              <a:rPr lang="en-US" altLang="zh-TW" sz="2800" smtClean="0">
                <a:solidFill>
                  <a:srgbClr val="FF0000"/>
                </a:solidFill>
              </a:rPr>
              <a:t>logical </a:t>
            </a:r>
            <a:r>
              <a:rPr lang="en-US" altLang="zh-TW" sz="2800" smtClean="0"/>
              <a:t>blocks is mapped into the </a:t>
            </a:r>
            <a:r>
              <a:rPr lang="en-US" altLang="zh-TW" sz="2800" smtClean="0">
                <a:solidFill>
                  <a:schemeClr val="tx2"/>
                </a:solidFill>
                <a:effectLst>
                  <a:outerShdw blurRad="38100" dist="38100" dir="2700000" algn="tl">
                    <a:srgbClr val="C0C0C0"/>
                  </a:outerShdw>
                </a:effectLst>
              </a:rPr>
              <a:t>sectors of the disk sequentially</a:t>
            </a:r>
            <a:endParaRPr lang="en-US" altLang="zh-TW" sz="2800" smtClean="0"/>
          </a:p>
          <a:p>
            <a:pPr lvl="1" eaLnBrk="1" hangingPunct="1">
              <a:lnSpc>
                <a:spcPct val="90000"/>
              </a:lnSpc>
              <a:defRPr/>
            </a:pPr>
            <a:r>
              <a:rPr lang="en-US" altLang="zh-TW" sz="2400" smtClean="0"/>
              <a:t>Sector 0 is the first sector of the first track on the </a:t>
            </a:r>
            <a:r>
              <a:rPr lang="en-US" altLang="zh-TW" sz="2400" smtClean="0">
                <a:solidFill>
                  <a:srgbClr val="0000FF"/>
                </a:solidFill>
              </a:rPr>
              <a:t>outermost</a:t>
            </a:r>
            <a:r>
              <a:rPr lang="en-US" altLang="zh-TW" sz="2400" smtClean="0"/>
              <a:t> </a:t>
            </a:r>
            <a:r>
              <a:rPr lang="en-US" altLang="zh-TW" sz="2400" smtClean="0">
                <a:solidFill>
                  <a:srgbClr val="0000FF"/>
                </a:solidFill>
              </a:rPr>
              <a:t>cylinder</a:t>
            </a:r>
          </a:p>
          <a:p>
            <a:pPr lvl="1" eaLnBrk="1" hangingPunct="1">
              <a:lnSpc>
                <a:spcPct val="90000"/>
              </a:lnSpc>
              <a:spcBef>
                <a:spcPct val="50000"/>
              </a:spcBef>
              <a:defRPr/>
            </a:pPr>
            <a:r>
              <a:rPr lang="en-US" altLang="zh-TW" sz="2400" smtClean="0"/>
              <a:t>Mapping proceeds in order through that track, then the rest of the </a:t>
            </a:r>
            <a:r>
              <a:rPr lang="en-US" altLang="zh-TW" sz="2400" smtClean="0">
                <a:solidFill>
                  <a:srgbClr val="0000FF"/>
                </a:solidFill>
              </a:rPr>
              <a:t>tracks</a:t>
            </a:r>
            <a:r>
              <a:rPr lang="en-US" altLang="zh-TW" sz="2400" smtClean="0"/>
              <a:t> in that cylinder, and then through the rest of the </a:t>
            </a:r>
            <a:r>
              <a:rPr lang="en-US" altLang="zh-TW" sz="2400" smtClean="0">
                <a:solidFill>
                  <a:srgbClr val="0000FF"/>
                </a:solidFill>
              </a:rPr>
              <a:t>cylinders from outermost to innermost</a:t>
            </a:r>
          </a:p>
        </p:txBody>
      </p:sp>
    </p:spTree>
    <p:extLst>
      <p:ext uri="{BB962C8B-B14F-4D97-AF65-F5344CB8AC3E}">
        <p14:creationId xmlns:p14="http://schemas.microsoft.com/office/powerpoint/2010/main" val="30814160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9939">
                                            <p:txEl>
                                              <p:pRg st="1" end="1"/>
                                            </p:txEl>
                                          </p:spTgt>
                                        </p:tgtEl>
                                        <p:attrNameLst>
                                          <p:attrName>style.visibility</p:attrName>
                                        </p:attrNameLst>
                                      </p:cBhvr>
                                      <p:to>
                                        <p:strVal val="visible"/>
                                      </p:to>
                                    </p:set>
                                    <p:animEffect transition="in" filter="blinds(horizontal)">
                                      <p:cBhvr>
                                        <p:cTn id="7" dur="500"/>
                                        <p:tgtEl>
                                          <p:spTgt spid="3993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9939">
                                            <p:txEl>
                                              <p:pRg st="2" end="2"/>
                                            </p:txEl>
                                          </p:spTgt>
                                        </p:tgtEl>
                                        <p:attrNameLst>
                                          <p:attrName>style.visibility</p:attrName>
                                        </p:attrNameLst>
                                      </p:cBhvr>
                                      <p:to>
                                        <p:strVal val="visible"/>
                                      </p:to>
                                    </p:set>
                                    <p:animEffect transition="in" filter="blinds(horizontal)">
                                      <p:cBhvr>
                                        <p:cTn id="12" dur="500"/>
                                        <p:tgtEl>
                                          <p:spTgt spid="3993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9939">
                                            <p:txEl>
                                              <p:pRg st="3" end="3"/>
                                            </p:txEl>
                                          </p:spTgt>
                                        </p:tgtEl>
                                        <p:attrNameLst>
                                          <p:attrName>style.visibility</p:attrName>
                                        </p:attrNameLst>
                                      </p:cBhvr>
                                      <p:to>
                                        <p:strVal val="visible"/>
                                      </p:to>
                                    </p:set>
                                    <p:animEffect transition="in" filter="blinds(horizontal)">
                                      <p:cBhvr>
                                        <p:cTn id="17" dur="500"/>
                                        <p:tgtEl>
                                          <p:spTgt spid="3993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9939">
                                            <p:txEl>
                                              <p:pRg st="4" end="4"/>
                                            </p:txEl>
                                          </p:spTgt>
                                        </p:tgtEl>
                                        <p:attrNameLst>
                                          <p:attrName>style.visibility</p:attrName>
                                        </p:attrNameLst>
                                      </p:cBhvr>
                                      <p:to>
                                        <p:strVal val="visible"/>
                                      </p:to>
                                    </p:set>
                                    <p:animEffect transition="in" filter="blinds(horizontal)">
                                      <p:cBhvr>
                                        <p:cTn id="22" dur="500"/>
                                        <p:tgtEl>
                                          <p:spTgt spid="399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CD46D206-425F-43D1-8DB2-C62E6FC3FD38}" type="datetime1">
              <a:rPr kumimoji="0" lang="zh-TW" altLang="en-US" sz="1400" smtClean="0"/>
              <a:t>2018/5/4</a:t>
            </a:fld>
            <a:endParaRPr kumimoji="0" lang="en-US" altLang="zh-TW" sz="1400" smtClean="0"/>
          </a:p>
        </p:txBody>
      </p:sp>
      <p:sp>
        <p:nvSpPr>
          <p:cNvPr id="8195"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8196"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99150C2C-98F0-4EF3-987B-62D516758DDB}" type="slidenum">
              <a:rPr kumimoji="0" lang="zh-TW" altLang="en-US" sz="1400" smtClean="0"/>
              <a:pPr eaLnBrk="1" hangingPunct="1"/>
              <a:t>9</a:t>
            </a:fld>
            <a:endParaRPr kumimoji="0" lang="en-US" altLang="zh-TW" sz="1400" smtClean="0"/>
          </a:p>
        </p:txBody>
      </p:sp>
      <p:sp>
        <p:nvSpPr>
          <p:cNvPr id="8197" name="Rectangle 2"/>
          <p:cNvSpPr>
            <a:spLocks noGrp="1" noChangeArrowheads="1"/>
          </p:cNvSpPr>
          <p:nvPr>
            <p:ph type="title"/>
          </p:nvPr>
        </p:nvSpPr>
        <p:spPr>
          <a:xfrm>
            <a:off x="609600" y="304800"/>
            <a:ext cx="7772400" cy="520700"/>
          </a:xfrm>
        </p:spPr>
        <p:txBody>
          <a:bodyPr/>
          <a:lstStyle/>
          <a:p>
            <a:pPr eaLnBrk="1" hangingPunct="1"/>
            <a:r>
              <a:rPr lang="en-US" altLang="zh-TW" sz="4000" smtClean="0"/>
              <a:t>Disk Attachment</a:t>
            </a:r>
          </a:p>
        </p:txBody>
      </p:sp>
      <p:sp>
        <p:nvSpPr>
          <p:cNvPr id="8198" name="Rectangle 3" descr="Rectangle: Click to edit Master text styles&#10;Second level&#10;Third level&#10;Fourth level&#10;Fifth level"/>
          <p:cNvSpPr>
            <a:spLocks noGrp="1" noChangeArrowheads="1"/>
          </p:cNvSpPr>
          <p:nvPr>
            <p:ph type="body" idx="1"/>
          </p:nvPr>
        </p:nvSpPr>
        <p:spPr>
          <a:xfrm>
            <a:off x="174625" y="698500"/>
            <a:ext cx="8674100" cy="5686425"/>
          </a:xfrm>
        </p:spPr>
        <p:txBody>
          <a:bodyPr/>
          <a:lstStyle/>
          <a:p>
            <a:pPr eaLnBrk="1" hangingPunct="1"/>
            <a:r>
              <a:rPr lang="en-US" altLang="zh-TW" sz="2800" smtClean="0">
                <a:solidFill>
                  <a:srgbClr val="FF0000"/>
                </a:solidFill>
              </a:rPr>
              <a:t>Host-attached storage</a:t>
            </a:r>
            <a:r>
              <a:rPr lang="en-US" altLang="zh-TW" sz="2800" smtClean="0"/>
              <a:t> accessed through I/O ports talking to I/O buses</a:t>
            </a:r>
          </a:p>
          <a:p>
            <a:pPr eaLnBrk="1" hangingPunct="1">
              <a:spcBef>
                <a:spcPct val="60000"/>
              </a:spcBef>
            </a:pPr>
            <a:r>
              <a:rPr lang="en-US" altLang="zh-TW" sz="2800" smtClean="0"/>
              <a:t>SCSI itself is a bus, up to 16 devices on one cable, </a:t>
            </a:r>
            <a:r>
              <a:rPr lang="en-US" altLang="zh-TW" sz="2800" b="1" smtClean="0"/>
              <a:t>SCSI </a:t>
            </a:r>
            <a:r>
              <a:rPr lang="en-US" altLang="zh-TW" sz="2800" b="1" smtClean="0">
                <a:solidFill>
                  <a:srgbClr val="FF0000"/>
                </a:solidFill>
              </a:rPr>
              <a:t>initiator</a:t>
            </a:r>
            <a:r>
              <a:rPr lang="en-US" altLang="zh-TW" sz="2800" smtClean="0"/>
              <a:t> requests operation and </a:t>
            </a:r>
            <a:r>
              <a:rPr lang="en-US" altLang="zh-TW" sz="2800" b="1" smtClean="0"/>
              <a:t>SCSI </a:t>
            </a:r>
            <a:r>
              <a:rPr lang="en-US" altLang="zh-TW" sz="2800" b="1" smtClean="0">
                <a:solidFill>
                  <a:srgbClr val="FF0000"/>
                </a:solidFill>
              </a:rPr>
              <a:t>targets</a:t>
            </a:r>
            <a:r>
              <a:rPr lang="en-US" altLang="zh-TW" sz="2800" smtClean="0"/>
              <a:t> perform tasks </a:t>
            </a:r>
          </a:p>
          <a:p>
            <a:pPr lvl="1" eaLnBrk="1" hangingPunct="1"/>
            <a:r>
              <a:rPr lang="en-US" altLang="zh-TW" sz="2400" smtClean="0"/>
              <a:t>Each target can have up to 8 </a:t>
            </a:r>
            <a:r>
              <a:rPr lang="en-US" altLang="zh-TW" sz="2400" b="1" smtClean="0"/>
              <a:t>logical units</a:t>
            </a:r>
            <a:r>
              <a:rPr lang="en-US" altLang="zh-TW" sz="2400" smtClean="0"/>
              <a:t> (disks attached to device controller)</a:t>
            </a:r>
          </a:p>
          <a:p>
            <a:pPr eaLnBrk="1" hangingPunct="1">
              <a:spcBef>
                <a:spcPct val="60000"/>
              </a:spcBef>
            </a:pPr>
            <a:r>
              <a:rPr lang="en-US" altLang="zh-TW" sz="2800" smtClean="0"/>
              <a:t>FC is high-speed serial architecture</a:t>
            </a:r>
          </a:p>
          <a:p>
            <a:pPr lvl="1" eaLnBrk="1" hangingPunct="1"/>
            <a:r>
              <a:rPr lang="en-US" altLang="zh-TW" sz="2400" smtClean="0"/>
              <a:t>Can be switched fabric with 24-bit address space </a:t>
            </a:r>
            <a:r>
              <a:rPr lang="en-US" altLang="zh-TW" sz="2400" smtClean="0">
                <a:latin typeface="Helvetica" pitchFamily="34" charset="0"/>
              </a:rPr>
              <a:t>–</a:t>
            </a:r>
            <a:r>
              <a:rPr lang="en-US" altLang="zh-TW" sz="2400" smtClean="0"/>
              <a:t> the basis of </a:t>
            </a:r>
            <a:r>
              <a:rPr lang="en-US" altLang="zh-TW" sz="2400" b="1" smtClean="0">
                <a:solidFill>
                  <a:srgbClr val="FF0000"/>
                </a:solidFill>
              </a:rPr>
              <a:t>storage area networks</a:t>
            </a:r>
            <a:r>
              <a:rPr lang="en-US" altLang="zh-TW" sz="2400" smtClean="0"/>
              <a:t> (</a:t>
            </a:r>
            <a:r>
              <a:rPr lang="en-US" altLang="zh-TW" sz="2400" b="1" smtClean="0"/>
              <a:t>SAN</a:t>
            </a:r>
            <a:r>
              <a:rPr lang="en-US" altLang="zh-TW" sz="2400" smtClean="0"/>
              <a:t>s) in which many hosts attach to many storage units</a:t>
            </a:r>
          </a:p>
          <a:p>
            <a:pPr lvl="1" eaLnBrk="1" hangingPunct="1"/>
            <a:r>
              <a:rPr lang="en-US" altLang="zh-TW" sz="2400" smtClean="0"/>
              <a:t>Can be </a:t>
            </a:r>
            <a:r>
              <a:rPr lang="en-US" altLang="zh-TW" sz="2400" b="1" smtClean="0">
                <a:solidFill>
                  <a:srgbClr val="FF0000"/>
                </a:solidFill>
              </a:rPr>
              <a:t>arbitrated loop</a:t>
            </a:r>
            <a:r>
              <a:rPr lang="en-US" altLang="zh-TW" sz="2400" smtClean="0"/>
              <a:t> (</a:t>
            </a:r>
            <a:r>
              <a:rPr lang="en-US" altLang="zh-TW" sz="2400" b="1" smtClean="0"/>
              <a:t>FC-AL</a:t>
            </a:r>
            <a:r>
              <a:rPr lang="en-US" altLang="zh-TW" sz="2400" smtClean="0"/>
              <a:t>) of 126 devices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5BD7517D-1497-499A-AF1E-FBC4A3BE5462}" type="datetime1">
              <a:rPr kumimoji="0" lang="zh-TW" altLang="en-US" sz="1400" smtClean="0"/>
              <a:t>2018/5/4</a:t>
            </a:fld>
            <a:endParaRPr kumimoji="0" lang="en-US" altLang="zh-TW" sz="1400" smtClean="0"/>
          </a:p>
        </p:txBody>
      </p:sp>
      <p:sp>
        <p:nvSpPr>
          <p:cNvPr id="9219"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9220"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AD216C10-07CC-4352-9166-838D72EE34C2}" type="slidenum">
              <a:rPr kumimoji="0" lang="zh-TW" altLang="en-US" sz="1400" smtClean="0"/>
              <a:pPr eaLnBrk="1" hangingPunct="1"/>
              <a:t>10</a:t>
            </a:fld>
            <a:endParaRPr kumimoji="0" lang="en-US" altLang="zh-TW" sz="1400" smtClean="0"/>
          </a:p>
        </p:txBody>
      </p:sp>
      <p:sp>
        <p:nvSpPr>
          <p:cNvPr id="9221" name="Rectangle 2"/>
          <p:cNvSpPr>
            <a:spLocks noGrp="1" noChangeArrowheads="1"/>
          </p:cNvSpPr>
          <p:nvPr>
            <p:ph type="title"/>
          </p:nvPr>
        </p:nvSpPr>
        <p:spPr>
          <a:xfrm>
            <a:off x="609600" y="304800"/>
            <a:ext cx="7772400" cy="619125"/>
          </a:xfrm>
        </p:spPr>
        <p:txBody>
          <a:bodyPr/>
          <a:lstStyle/>
          <a:p>
            <a:pPr eaLnBrk="1" hangingPunct="1"/>
            <a:r>
              <a:rPr lang="en-US" altLang="zh-TW" sz="4000" smtClean="0">
                <a:solidFill>
                  <a:srgbClr val="FF0000"/>
                </a:solidFill>
              </a:rPr>
              <a:t>Network-Attached Storage</a:t>
            </a:r>
            <a:r>
              <a:rPr lang="en-US" altLang="zh-TW" sz="4000" smtClean="0"/>
              <a:t> (NAS)</a:t>
            </a:r>
          </a:p>
        </p:txBody>
      </p:sp>
      <p:sp>
        <p:nvSpPr>
          <p:cNvPr id="158723" name="Rectangle 3" descr="Rectangle: Click to edit Master text styles&#10;Second level&#10;Third level&#10;Fourth level&#10;Fifth level"/>
          <p:cNvSpPr>
            <a:spLocks noGrp="1" noChangeArrowheads="1"/>
          </p:cNvSpPr>
          <p:nvPr>
            <p:ph type="body" idx="1"/>
          </p:nvPr>
        </p:nvSpPr>
        <p:spPr>
          <a:xfrm>
            <a:off x="514350" y="852488"/>
            <a:ext cx="7772400" cy="4114800"/>
          </a:xfrm>
        </p:spPr>
        <p:txBody>
          <a:bodyPr/>
          <a:lstStyle/>
          <a:p>
            <a:pPr eaLnBrk="1" hangingPunct="1"/>
            <a:r>
              <a:rPr lang="en-US" altLang="zh-TW" sz="2000" smtClean="0"/>
              <a:t>Network-attached storage (</a:t>
            </a:r>
            <a:r>
              <a:rPr lang="en-US" altLang="zh-TW" sz="2000" b="1" smtClean="0"/>
              <a:t>NAS</a:t>
            </a:r>
            <a:r>
              <a:rPr lang="en-US" altLang="zh-TW" sz="2000" smtClean="0"/>
              <a:t>) is storage made </a:t>
            </a:r>
            <a:r>
              <a:rPr lang="en-US" altLang="zh-TW" sz="2000" smtClean="0">
                <a:solidFill>
                  <a:srgbClr val="0000FF"/>
                </a:solidFill>
              </a:rPr>
              <a:t>available over a network</a:t>
            </a:r>
            <a:r>
              <a:rPr lang="en-US" altLang="zh-TW" sz="2000" smtClean="0"/>
              <a:t> rather than over a local connection (such as a bus)</a:t>
            </a:r>
          </a:p>
          <a:p>
            <a:pPr eaLnBrk="1" hangingPunct="1">
              <a:spcBef>
                <a:spcPct val="50000"/>
              </a:spcBef>
            </a:pPr>
            <a:r>
              <a:rPr lang="en-US" altLang="zh-TW" sz="2000" smtClean="0"/>
              <a:t>NFS and CIFS are common protocols</a:t>
            </a:r>
          </a:p>
          <a:p>
            <a:pPr eaLnBrk="1" hangingPunct="1">
              <a:spcBef>
                <a:spcPct val="50000"/>
              </a:spcBef>
            </a:pPr>
            <a:r>
              <a:rPr lang="en-US" altLang="zh-TW" sz="2000" smtClean="0"/>
              <a:t>Implemented via </a:t>
            </a:r>
            <a:r>
              <a:rPr lang="en-US" altLang="zh-TW" sz="2000" smtClean="0">
                <a:solidFill>
                  <a:srgbClr val="0000FF"/>
                </a:solidFill>
              </a:rPr>
              <a:t>remote procedure calls</a:t>
            </a:r>
            <a:r>
              <a:rPr lang="en-US" altLang="zh-TW" sz="2000" smtClean="0"/>
              <a:t> (RPCs) between host and storage</a:t>
            </a:r>
          </a:p>
          <a:p>
            <a:pPr eaLnBrk="1" hangingPunct="1">
              <a:spcBef>
                <a:spcPct val="50000"/>
              </a:spcBef>
            </a:pPr>
            <a:r>
              <a:rPr lang="en-US" altLang="zh-TW" sz="2000" smtClean="0"/>
              <a:t>New iSCSI protocol uses IP network to carry the SCSI protocol</a:t>
            </a:r>
          </a:p>
        </p:txBody>
      </p:sp>
      <p:pic>
        <p:nvPicPr>
          <p:cNvPr id="9223" name="Picture 4"/>
          <p:cNvPicPr>
            <a:picLocks noChangeAspect="1" noChangeArrowheads="1"/>
          </p:cNvPicPr>
          <p:nvPr/>
        </p:nvPicPr>
        <p:blipFill>
          <a:blip r:embed="rId3">
            <a:extLst>
              <a:ext uri="{28A0092B-C50C-407E-A947-70E740481C1C}">
                <a14:useLocalDpi xmlns:a14="http://schemas.microsoft.com/office/drawing/2010/main" val="0"/>
              </a:ext>
            </a:extLst>
          </a:blip>
          <a:srcRect l="481" t="22778" r="481" b="23421"/>
          <a:stretch>
            <a:fillRect/>
          </a:stretch>
        </p:blipFill>
        <p:spPr bwMode="auto">
          <a:xfrm>
            <a:off x="1135063" y="3382963"/>
            <a:ext cx="6472237" cy="2636837"/>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58723">
                                            <p:txEl>
                                              <p:pRg st="1" end="1"/>
                                            </p:txEl>
                                          </p:spTgt>
                                        </p:tgtEl>
                                        <p:attrNameLst>
                                          <p:attrName>style.visibility</p:attrName>
                                        </p:attrNameLst>
                                      </p:cBhvr>
                                      <p:to>
                                        <p:strVal val="visible"/>
                                      </p:to>
                                    </p:set>
                                    <p:animEffect transition="in" filter="blinds(horizontal)">
                                      <p:cBhvr>
                                        <p:cTn id="7" dur="500"/>
                                        <p:tgtEl>
                                          <p:spTgt spid="15872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58723">
                                            <p:txEl>
                                              <p:pRg st="2" end="2"/>
                                            </p:txEl>
                                          </p:spTgt>
                                        </p:tgtEl>
                                        <p:attrNameLst>
                                          <p:attrName>style.visibility</p:attrName>
                                        </p:attrNameLst>
                                      </p:cBhvr>
                                      <p:to>
                                        <p:strVal val="visible"/>
                                      </p:to>
                                    </p:set>
                                    <p:animEffect transition="in" filter="blinds(horizontal)">
                                      <p:cBhvr>
                                        <p:cTn id="12" dur="500"/>
                                        <p:tgtEl>
                                          <p:spTgt spid="15872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58723">
                                            <p:txEl>
                                              <p:pRg st="3" end="3"/>
                                            </p:txEl>
                                          </p:spTgt>
                                        </p:tgtEl>
                                        <p:attrNameLst>
                                          <p:attrName>style.visibility</p:attrName>
                                        </p:attrNameLst>
                                      </p:cBhvr>
                                      <p:to>
                                        <p:strVal val="visible"/>
                                      </p:to>
                                    </p:set>
                                    <p:animEffect transition="in" filter="blinds(horizontal)">
                                      <p:cBhvr>
                                        <p:cTn id="17" dur="500"/>
                                        <p:tgtEl>
                                          <p:spTgt spid="1587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85DEC66A-0887-4C30-BB48-16FAC4E15F45}" type="datetime1">
              <a:rPr kumimoji="0" lang="zh-TW" altLang="en-US" sz="1400" smtClean="0"/>
              <a:t>2018/5/4</a:t>
            </a:fld>
            <a:endParaRPr kumimoji="0" lang="en-US" altLang="zh-TW" sz="1400" smtClean="0"/>
          </a:p>
        </p:txBody>
      </p:sp>
      <p:sp>
        <p:nvSpPr>
          <p:cNvPr id="10243"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10244"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7757C04D-B9D5-4E40-836B-B35BEFEC3623}" type="slidenum">
              <a:rPr kumimoji="0" lang="zh-TW" altLang="en-US" sz="1400" smtClean="0"/>
              <a:pPr eaLnBrk="1" hangingPunct="1"/>
              <a:t>11</a:t>
            </a:fld>
            <a:endParaRPr kumimoji="0" lang="en-US" altLang="zh-TW" sz="1400" smtClean="0"/>
          </a:p>
        </p:txBody>
      </p:sp>
      <p:sp>
        <p:nvSpPr>
          <p:cNvPr id="10245" name="Rectangle 2"/>
          <p:cNvSpPr>
            <a:spLocks noGrp="1" noChangeArrowheads="1"/>
          </p:cNvSpPr>
          <p:nvPr>
            <p:ph type="title"/>
          </p:nvPr>
        </p:nvSpPr>
        <p:spPr>
          <a:xfrm>
            <a:off x="609600" y="304800"/>
            <a:ext cx="7772400" cy="563563"/>
          </a:xfrm>
        </p:spPr>
        <p:txBody>
          <a:bodyPr/>
          <a:lstStyle/>
          <a:p>
            <a:pPr eaLnBrk="1" hangingPunct="1"/>
            <a:r>
              <a:rPr lang="en-US" altLang="zh-TW" sz="4000" smtClean="0"/>
              <a:t>Storage Area Network (SAN)</a:t>
            </a:r>
          </a:p>
        </p:txBody>
      </p:sp>
      <p:sp>
        <p:nvSpPr>
          <p:cNvPr id="160771" name="Rectangle 3" descr="Rectangle: Click to edit Master text styles&#10;Second level&#10;Third level&#10;Fourth level&#10;Fifth level"/>
          <p:cNvSpPr>
            <a:spLocks noGrp="1" noChangeArrowheads="1"/>
          </p:cNvSpPr>
          <p:nvPr>
            <p:ph type="body" idx="1"/>
          </p:nvPr>
        </p:nvSpPr>
        <p:spPr>
          <a:xfrm>
            <a:off x="233363" y="849313"/>
            <a:ext cx="8699500" cy="3870325"/>
          </a:xfrm>
        </p:spPr>
        <p:txBody>
          <a:bodyPr/>
          <a:lstStyle/>
          <a:p>
            <a:pPr eaLnBrk="1" hangingPunct="1"/>
            <a:r>
              <a:rPr lang="en-US" altLang="zh-TW" sz="2800" smtClean="0"/>
              <a:t>Common in large storage environments (and becoming more common)</a:t>
            </a:r>
          </a:p>
          <a:p>
            <a:pPr eaLnBrk="1" hangingPunct="1">
              <a:spcBef>
                <a:spcPct val="50000"/>
              </a:spcBef>
            </a:pPr>
            <a:r>
              <a:rPr lang="en-US" altLang="zh-TW" sz="2800" smtClean="0">
                <a:solidFill>
                  <a:srgbClr val="0000FF"/>
                </a:solidFill>
              </a:rPr>
              <a:t>Multiple hosts</a:t>
            </a:r>
            <a:r>
              <a:rPr lang="en-US" altLang="zh-TW" sz="2800" smtClean="0"/>
              <a:t> attached to </a:t>
            </a:r>
            <a:r>
              <a:rPr lang="en-US" altLang="zh-TW" sz="2800" smtClean="0">
                <a:solidFill>
                  <a:srgbClr val="0000FF"/>
                </a:solidFill>
              </a:rPr>
              <a:t>multiple storage arrays</a:t>
            </a:r>
            <a:r>
              <a:rPr lang="en-US" altLang="zh-TW" sz="2800" smtClean="0"/>
              <a:t> - </a:t>
            </a:r>
            <a:r>
              <a:rPr lang="en-US" altLang="zh-TW" sz="2800" smtClean="0">
                <a:solidFill>
                  <a:srgbClr val="FF0000"/>
                </a:solidFill>
              </a:rPr>
              <a:t>flexible</a:t>
            </a:r>
          </a:p>
        </p:txBody>
      </p:sp>
      <p:pic>
        <p:nvPicPr>
          <p:cNvPr id="10247" name="Picture 4"/>
          <p:cNvPicPr>
            <a:picLocks noChangeAspect="1" noChangeArrowheads="1"/>
          </p:cNvPicPr>
          <p:nvPr/>
        </p:nvPicPr>
        <p:blipFill>
          <a:blip r:embed="rId3">
            <a:extLst>
              <a:ext uri="{28A0092B-C50C-407E-A947-70E740481C1C}">
                <a14:useLocalDpi xmlns:a14="http://schemas.microsoft.com/office/drawing/2010/main" val="0"/>
              </a:ext>
            </a:extLst>
          </a:blip>
          <a:srcRect l="560" t="19710" r="812" b="20082"/>
          <a:stretch>
            <a:fillRect/>
          </a:stretch>
        </p:blipFill>
        <p:spPr bwMode="auto">
          <a:xfrm>
            <a:off x="314325" y="2867025"/>
            <a:ext cx="8477250" cy="3416300"/>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0771">
                                            <p:txEl>
                                              <p:pRg st="1" end="1"/>
                                            </p:txEl>
                                          </p:spTgt>
                                        </p:tgtEl>
                                        <p:attrNameLst>
                                          <p:attrName>style.visibility</p:attrName>
                                        </p:attrNameLst>
                                      </p:cBhvr>
                                      <p:to>
                                        <p:strVal val="visible"/>
                                      </p:to>
                                    </p:set>
                                    <p:animEffect transition="in" filter="blinds(horizontal)">
                                      <p:cBhvr>
                                        <p:cTn id="7" dur="500"/>
                                        <p:tgtEl>
                                          <p:spTgt spid="1607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361D6246-12DE-418C-A3A5-6D40E8911B41}" type="datetime1">
              <a:rPr kumimoji="0" lang="zh-TW" altLang="en-US" sz="1400" smtClean="0"/>
              <a:t>2018/5/4</a:t>
            </a:fld>
            <a:endParaRPr kumimoji="0" lang="en-US" altLang="zh-TW" sz="1400" smtClean="0"/>
          </a:p>
        </p:txBody>
      </p:sp>
      <p:sp>
        <p:nvSpPr>
          <p:cNvPr id="11267"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11268"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A294C8A0-1D1D-4BA8-8053-6957F2E5178A}" type="slidenum">
              <a:rPr kumimoji="0" lang="zh-TW" altLang="en-US" sz="1400" smtClean="0"/>
              <a:pPr eaLnBrk="1" hangingPunct="1"/>
              <a:t>12</a:t>
            </a:fld>
            <a:endParaRPr kumimoji="0" lang="en-US" altLang="zh-TW" sz="1400" smtClean="0"/>
          </a:p>
        </p:txBody>
      </p:sp>
      <p:sp>
        <p:nvSpPr>
          <p:cNvPr id="11269" name="Rectangle 2"/>
          <p:cNvSpPr>
            <a:spLocks noGrp="1" noChangeArrowheads="1"/>
          </p:cNvSpPr>
          <p:nvPr>
            <p:ph type="title"/>
          </p:nvPr>
        </p:nvSpPr>
        <p:spPr>
          <a:xfrm>
            <a:off x="609600" y="304800"/>
            <a:ext cx="7772400" cy="669925"/>
          </a:xfrm>
        </p:spPr>
        <p:txBody>
          <a:bodyPr/>
          <a:lstStyle/>
          <a:p>
            <a:pPr eaLnBrk="1" hangingPunct="1"/>
            <a:r>
              <a:rPr lang="en-US" altLang="zh-TW" sz="4000" smtClean="0"/>
              <a:t>Disk Scheduling (1)</a:t>
            </a:r>
          </a:p>
        </p:txBody>
      </p:sp>
      <p:sp>
        <p:nvSpPr>
          <p:cNvPr id="40963" name="Rectangle 3" descr="Rectangle: Click to edit Master text styles&#10;Second level&#10;Third level&#10;Fourth level&#10;Fifth level"/>
          <p:cNvSpPr>
            <a:spLocks noGrp="1" noChangeArrowheads="1"/>
          </p:cNvSpPr>
          <p:nvPr>
            <p:ph type="body" idx="1"/>
          </p:nvPr>
        </p:nvSpPr>
        <p:spPr>
          <a:xfrm>
            <a:off x="257175" y="1122363"/>
            <a:ext cx="8553450" cy="5403850"/>
          </a:xfrm>
        </p:spPr>
        <p:txBody>
          <a:bodyPr/>
          <a:lstStyle/>
          <a:p>
            <a:pPr eaLnBrk="1" hangingPunct="1">
              <a:lnSpc>
                <a:spcPct val="90000"/>
              </a:lnSpc>
            </a:pPr>
            <a:r>
              <a:rPr lang="en-US" altLang="zh-TW" sz="2800" smtClean="0"/>
              <a:t>The OS is responsible for using hardware efficiently </a:t>
            </a:r>
            <a:r>
              <a:rPr lang="en-US" altLang="zh-TW" sz="2800" smtClean="0">
                <a:latin typeface="Helvetica" pitchFamily="34" charset="0"/>
              </a:rPr>
              <a:t>—</a:t>
            </a:r>
            <a:r>
              <a:rPr lang="en-US" altLang="zh-TW" sz="2800" smtClean="0"/>
              <a:t> for the disk drives, </a:t>
            </a:r>
            <a:r>
              <a:rPr lang="en-US" altLang="zh-TW" sz="2800" smtClean="0">
                <a:solidFill>
                  <a:srgbClr val="FF0000"/>
                </a:solidFill>
              </a:rPr>
              <a:t>fast access time </a:t>
            </a:r>
            <a:r>
              <a:rPr lang="en-US" altLang="zh-TW" sz="2800" smtClean="0"/>
              <a:t>and</a:t>
            </a:r>
            <a:r>
              <a:rPr lang="en-US" altLang="zh-TW" sz="2800" smtClean="0">
                <a:solidFill>
                  <a:srgbClr val="FF0000"/>
                </a:solidFill>
              </a:rPr>
              <a:t> disk bandwidth</a:t>
            </a:r>
            <a:endParaRPr lang="en-US" altLang="zh-TW" sz="2400" smtClean="0">
              <a:sym typeface="Symbol" pitchFamily="18" charset="2"/>
            </a:endParaRPr>
          </a:p>
          <a:p>
            <a:pPr lvl="1" eaLnBrk="1" hangingPunct="1">
              <a:lnSpc>
                <a:spcPct val="90000"/>
              </a:lnSpc>
              <a:spcBef>
                <a:spcPct val="50000"/>
              </a:spcBef>
            </a:pPr>
            <a:r>
              <a:rPr lang="en-US" altLang="zh-TW" sz="2000" smtClean="0">
                <a:solidFill>
                  <a:srgbClr val="FF0000"/>
                </a:solidFill>
                <a:sym typeface="Symbol" pitchFamily="18" charset="2"/>
              </a:rPr>
              <a:t>Disk bandwidth</a:t>
            </a:r>
            <a:r>
              <a:rPr lang="en-US" altLang="zh-TW" sz="2000" smtClean="0">
                <a:sym typeface="Symbol" pitchFamily="18" charset="2"/>
              </a:rPr>
              <a:t> is the total number of bytes transferred, divided by the total time between the first request for service and the completion of the last transfer</a:t>
            </a:r>
            <a:endParaRPr lang="en-US" altLang="zh-TW" sz="2400" smtClean="0"/>
          </a:p>
          <a:p>
            <a:pPr eaLnBrk="1" hangingPunct="1">
              <a:lnSpc>
                <a:spcPct val="90000"/>
              </a:lnSpc>
              <a:spcBef>
                <a:spcPct val="60000"/>
              </a:spcBef>
            </a:pPr>
            <a:r>
              <a:rPr lang="en-US" altLang="zh-TW" sz="2800" smtClean="0"/>
              <a:t>Access time has two major components</a:t>
            </a:r>
            <a:endParaRPr lang="en-US" altLang="zh-TW" sz="2400" smtClean="0"/>
          </a:p>
          <a:p>
            <a:pPr lvl="1" eaLnBrk="1" hangingPunct="1">
              <a:lnSpc>
                <a:spcPct val="90000"/>
              </a:lnSpc>
              <a:spcBef>
                <a:spcPct val="50000"/>
              </a:spcBef>
            </a:pPr>
            <a:r>
              <a:rPr lang="en-US" altLang="zh-TW" sz="2000" b="1" smtClean="0">
                <a:solidFill>
                  <a:srgbClr val="0000FF"/>
                </a:solidFill>
              </a:rPr>
              <a:t>Seek time</a:t>
            </a:r>
            <a:r>
              <a:rPr lang="en-US" altLang="zh-TW" sz="2000" smtClean="0"/>
              <a:t>: move the heads to the cylinder containing the desired sector.</a:t>
            </a:r>
          </a:p>
          <a:p>
            <a:pPr lvl="1" eaLnBrk="1" hangingPunct="1">
              <a:lnSpc>
                <a:spcPct val="90000"/>
              </a:lnSpc>
              <a:spcBef>
                <a:spcPct val="50000"/>
              </a:spcBef>
            </a:pPr>
            <a:r>
              <a:rPr lang="en-US" altLang="zh-TW" sz="2000" b="1" smtClean="0">
                <a:solidFill>
                  <a:srgbClr val="0000FF"/>
                </a:solidFill>
              </a:rPr>
              <a:t>Rotational latency</a:t>
            </a:r>
            <a:r>
              <a:rPr lang="en-US" altLang="zh-TW" sz="2000" smtClean="0"/>
              <a:t>: rotate the desired sector to the disk head.</a:t>
            </a:r>
          </a:p>
          <a:p>
            <a:pPr lvl="1" algn="ctr" eaLnBrk="1" hangingPunct="1">
              <a:lnSpc>
                <a:spcPct val="90000"/>
              </a:lnSpc>
              <a:spcBef>
                <a:spcPct val="50000"/>
              </a:spcBef>
              <a:buFont typeface="Wingdings" pitchFamily="2" charset="2"/>
              <a:buNone/>
            </a:pPr>
            <a:endParaRPr lang="en-US" altLang="zh-TW" sz="2000" smtClean="0"/>
          </a:p>
          <a:p>
            <a:pPr lvl="1" algn="ctr" eaLnBrk="1" hangingPunct="1">
              <a:lnSpc>
                <a:spcPct val="90000"/>
              </a:lnSpc>
              <a:spcBef>
                <a:spcPct val="50000"/>
              </a:spcBef>
              <a:buFont typeface="Wingdings" pitchFamily="2" charset="2"/>
              <a:buNone/>
            </a:pPr>
            <a:r>
              <a:rPr lang="en-US" altLang="zh-TW" sz="2400" smtClean="0">
                <a:solidFill>
                  <a:srgbClr val="0000FF"/>
                </a:solidFill>
              </a:rPr>
              <a:t>seek time + rotational latency</a:t>
            </a:r>
            <a:r>
              <a:rPr lang="en-US" altLang="zh-TW" sz="2400" smtClean="0"/>
              <a:t> + </a:t>
            </a:r>
            <a:r>
              <a:rPr lang="en-US" altLang="zh-TW" sz="2400" smtClean="0">
                <a:solidFill>
                  <a:srgbClr val="FF0000"/>
                </a:solidFill>
              </a:rPr>
              <a:t>transfer time</a:t>
            </a:r>
            <a:endParaRPr lang="en-US" altLang="zh-TW" sz="2000" b="1" smtClean="0">
              <a:solidFill>
                <a:srgbClr val="FF0000"/>
              </a:solidFill>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0963">
                                            <p:txEl>
                                              <p:pRg st="2" end="2"/>
                                            </p:txEl>
                                          </p:spTgt>
                                        </p:tgtEl>
                                        <p:attrNameLst>
                                          <p:attrName>style.visibility</p:attrName>
                                        </p:attrNameLst>
                                      </p:cBhvr>
                                      <p:to>
                                        <p:strVal val="visible"/>
                                      </p:to>
                                    </p:set>
                                    <p:animEffect transition="in" filter="blinds(horizontal)">
                                      <p:cBhvr>
                                        <p:cTn id="7" dur="500"/>
                                        <p:tgtEl>
                                          <p:spTgt spid="4096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0963">
                                            <p:txEl>
                                              <p:pRg st="3" end="3"/>
                                            </p:txEl>
                                          </p:spTgt>
                                        </p:tgtEl>
                                        <p:attrNameLst>
                                          <p:attrName>style.visibility</p:attrName>
                                        </p:attrNameLst>
                                      </p:cBhvr>
                                      <p:to>
                                        <p:strVal val="visible"/>
                                      </p:to>
                                    </p:set>
                                    <p:animEffect transition="in" filter="blinds(horizontal)">
                                      <p:cBhvr>
                                        <p:cTn id="12" dur="500"/>
                                        <p:tgtEl>
                                          <p:spTgt spid="4096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0963">
                                            <p:txEl>
                                              <p:pRg st="4" end="4"/>
                                            </p:txEl>
                                          </p:spTgt>
                                        </p:tgtEl>
                                        <p:attrNameLst>
                                          <p:attrName>style.visibility</p:attrName>
                                        </p:attrNameLst>
                                      </p:cBhvr>
                                      <p:to>
                                        <p:strVal val="visible"/>
                                      </p:to>
                                    </p:set>
                                    <p:animEffect transition="in" filter="blinds(horizontal)">
                                      <p:cBhvr>
                                        <p:cTn id="17" dur="500"/>
                                        <p:tgtEl>
                                          <p:spTgt spid="4096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0963">
                                            <p:txEl>
                                              <p:pRg st="6" end="6"/>
                                            </p:txEl>
                                          </p:spTgt>
                                        </p:tgtEl>
                                        <p:attrNameLst>
                                          <p:attrName>style.visibility</p:attrName>
                                        </p:attrNameLst>
                                      </p:cBhvr>
                                      <p:to>
                                        <p:strVal val="visible"/>
                                      </p:to>
                                    </p:set>
                                    <p:animEffect transition="in" filter="blinds(horizontal)">
                                      <p:cBhvr>
                                        <p:cTn id="22" dur="500"/>
                                        <p:tgtEl>
                                          <p:spTgt spid="409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F0275B43-4CA9-45B9-AFF5-D947DCAD3266}" type="datetime1">
              <a:rPr kumimoji="0" lang="zh-TW" altLang="en-US" sz="1400" smtClean="0"/>
              <a:t>2018/5/4</a:t>
            </a:fld>
            <a:endParaRPr kumimoji="0" lang="en-US" altLang="zh-TW" sz="1400" smtClean="0"/>
          </a:p>
        </p:txBody>
      </p:sp>
      <p:sp>
        <p:nvSpPr>
          <p:cNvPr id="12291"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12292"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76BF715E-B581-4E0A-99A7-2ED745B725F6}" type="slidenum">
              <a:rPr kumimoji="0" lang="zh-TW" altLang="en-US" sz="1400" smtClean="0"/>
              <a:pPr eaLnBrk="1" hangingPunct="1"/>
              <a:t>13</a:t>
            </a:fld>
            <a:endParaRPr kumimoji="0" lang="en-US" altLang="zh-TW" sz="1400" smtClean="0"/>
          </a:p>
        </p:txBody>
      </p:sp>
      <p:sp>
        <p:nvSpPr>
          <p:cNvPr id="12293" name="Rectangle 2"/>
          <p:cNvSpPr>
            <a:spLocks noGrp="1" noChangeArrowheads="1"/>
          </p:cNvSpPr>
          <p:nvPr>
            <p:ph type="title"/>
          </p:nvPr>
        </p:nvSpPr>
        <p:spPr>
          <a:xfrm>
            <a:off x="609600" y="304800"/>
            <a:ext cx="7772400" cy="852488"/>
          </a:xfrm>
        </p:spPr>
        <p:txBody>
          <a:bodyPr/>
          <a:lstStyle/>
          <a:p>
            <a:pPr eaLnBrk="1" hangingPunct="1"/>
            <a:r>
              <a:rPr lang="en-US" altLang="zh-TW" smtClean="0"/>
              <a:t>Disk Scheduling (2)</a:t>
            </a:r>
          </a:p>
        </p:txBody>
      </p:sp>
      <p:sp>
        <p:nvSpPr>
          <p:cNvPr id="41987" name="Rectangle 3" descr="Rectangle: Click to edit Master text styles&#10;Second level&#10;Third level&#10;Fourth level&#10;Fifth level"/>
          <p:cNvSpPr>
            <a:spLocks noGrp="1" noChangeArrowheads="1"/>
          </p:cNvSpPr>
          <p:nvPr>
            <p:ph type="body" idx="1"/>
          </p:nvPr>
        </p:nvSpPr>
        <p:spPr>
          <a:xfrm>
            <a:off x="403225" y="1131888"/>
            <a:ext cx="8396288" cy="5292725"/>
          </a:xfrm>
        </p:spPr>
        <p:txBody>
          <a:bodyPr/>
          <a:lstStyle/>
          <a:p>
            <a:pPr eaLnBrk="1" hangingPunct="1">
              <a:lnSpc>
                <a:spcPct val="80000"/>
              </a:lnSpc>
              <a:tabLst>
                <a:tab pos="1711325" algn="l"/>
              </a:tabLst>
              <a:defRPr/>
            </a:pPr>
            <a:r>
              <a:rPr lang="en-US" altLang="zh-TW" smtClean="0">
                <a:solidFill>
                  <a:srgbClr val="0000FF"/>
                </a:solidFill>
              </a:rPr>
              <a:t>Minimize seek time</a:t>
            </a:r>
          </a:p>
          <a:p>
            <a:pPr eaLnBrk="1" hangingPunct="1">
              <a:lnSpc>
                <a:spcPct val="80000"/>
              </a:lnSpc>
              <a:spcBef>
                <a:spcPct val="60000"/>
              </a:spcBef>
              <a:tabLst>
                <a:tab pos="1711325" algn="l"/>
              </a:tabLst>
              <a:defRPr/>
            </a:pPr>
            <a:r>
              <a:rPr lang="en-US" altLang="zh-TW" smtClean="0">
                <a:solidFill>
                  <a:srgbClr val="0000FF"/>
                </a:solidFill>
                <a:effectLst>
                  <a:outerShdw blurRad="38100" dist="38100" dir="2700000" algn="tl">
                    <a:srgbClr val="C0C0C0"/>
                  </a:outerShdw>
                </a:effectLst>
              </a:rPr>
              <a:t>Seek time </a:t>
            </a:r>
            <a:r>
              <a:rPr lang="en-US" altLang="zh-TW" smtClean="0">
                <a:solidFill>
                  <a:srgbClr val="0000FF"/>
                </a:solidFill>
                <a:effectLst>
                  <a:outerShdw blurRad="38100" dist="38100" dir="2700000" algn="tl">
                    <a:srgbClr val="C0C0C0"/>
                  </a:outerShdw>
                </a:effectLst>
                <a:sym typeface="Symbol" pitchFamily="18" charset="2"/>
              </a:rPr>
              <a:t> seek distance</a:t>
            </a:r>
            <a:endParaRPr lang="en-US" altLang="zh-TW" sz="2800" smtClean="0">
              <a:solidFill>
                <a:srgbClr val="0000FF"/>
              </a:solidFill>
              <a:effectLst>
                <a:outerShdw blurRad="38100" dist="38100" dir="2700000" algn="tl">
                  <a:srgbClr val="C0C0C0"/>
                </a:outerShdw>
              </a:effectLst>
            </a:endParaRPr>
          </a:p>
          <a:p>
            <a:pPr eaLnBrk="1" hangingPunct="1">
              <a:lnSpc>
                <a:spcPct val="80000"/>
              </a:lnSpc>
              <a:spcBef>
                <a:spcPct val="60000"/>
              </a:spcBef>
              <a:tabLst>
                <a:tab pos="1711325" algn="l"/>
              </a:tabLst>
              <a:defRPr/>
            </a:pPr>
            <a:r>
              <a:rPr lang="en-US" altLang="zh-TW" sz="2800" smtClean="0"/>
              <a:t>Several algorithms exist to schedule the servicing of disk I/O requests </a:t>
            </a:r>
          </a:p>
          <a:p>
            <a:pPr lvl="1" eaLnBrk="1" hangingPunct="1">
              <a:lnSpc>
                <a:spcPct val="80000"/>
              </a:lnSpc>
              <a:tabLst>
                <a:tab pos="1711325" algn="l"/>
              </a:tabLst>
              <a:defRPr/>
            </a:pPr>
            <a:r>
              <a:rPr lang="en-US" altLang="zh-TW" sz="2400" b="1" smtClean="0"/>
              <a:t>FCFS</a:t>
            </a:r>
            <a:r>
              <a:rPr lang="en-US" altLang="zh-TW" sz="2400" smtClean="0"/>
              <a:t> (first-come, first-served)</a:t>
            </a:r>
          </a:p>
          <a:p>
            <a:pPr lvl="1" eaLnBrk="1" hangingPunct="1">
              <a:lnSpc>
                <a:spcPct val="80000"/>
              </a:lnSpc>
              <a:tabLst>
                <a:tab pos="1711325" algn="l"/>
              </a:tabLst>
              <a:defRPr/>
            </a:pPr>
            <a:r>
              <a:rPr lang="en-US" altLang="zh-TW" sz="2400" b="1" smtClean="0"/>
              <a:t>SSTF </a:t>
            </a:r>
            <a:r>
              <a:rPr lang="en-US" altLang="zh-TW" sz="2400" smtClean="0"/>
              <a:t>(shortest-seek-time-first)</a:t>
            </a:r>
          </a:p>
          <a:p>
            <a:pPr lvl="1" eaLnBrk="1" hangingPunct="1">
              <a:lnSpc>
                <a:spcPct val="80000"/>
              </a:lnSpc>
              <a:tabLst>
                <a:tab pos="1711325" algn="l"/>
              </a:tabLst>
              <a:defRPr/>
            </a:pPr>
            <a:r>
              <a:rPr lang="en-US" altLang="zh-TW" sz="2400" b="1" smtClean="0"/>
              <a:t>SCAN</a:t>
            </a:r>
            <a:endParaRPr lang="en-US" altLang="zh-TW" sz="2400" smtClean="0"/>
          </a:p>
          <a:p>
            <a:pPr lvl="1" eaLnBrk="1" hangingPunct="1">
              <a:lnSpc>
                <a:spcPct val="80000"/>
              </a:lnSpc>
              <a:tabLst>
                <a:tab pos="1711325" algn="l"/>
              </a:tabLst>
              <a:defRPr/>
            </a:pPr>
            <a:r>
              <a:rPr lang="en-US" altLang="zh-TW" sz="2400" smtClean="0"/>
              <a:t>C-SCAN (circular SCAN)</a:t>
            </a:r>
            <a:endParaRPr lang="en-US" altLang="zh-TW" sz="2400" b="1" smtClean="0"/>
          </a:p>
          <a:p>
            <a:pPr lvl="1" eaLnBrk="1" hangingPunct="1">
              <a:lnSpc>
                <a:spcPct val="80000"/>
              </a:lnSpc>
              <a:tabLst>
                <a:tab pos="1711325" algn="l"/>
              </a:tabLst>
              <a:defRPr/>
            </a:pPr>
            <a:r>
              <a:rPr lang="en-US" altLang="zh-TW" sz="2400" b="1" smtClean="0"/>
              <a:t>LOOK and C-LOOK</a:t>
            </a:r>
          </a:p>
          <a:p>
            <a:pPr eaLnBrk="1" hangingPunct="1">
              <a:lnSpc>
                <a:spcPct val="80000"/>
              </a:lnSpc>
              <a:tabLst>
                <a:tab pos="1711325" algn="l"/>
              </a:tabLst>
              <a:defRPr/>
            </a:pPr>
            <a:r>
              <a:rPr lang="en-US" altLang="zh-TW" sz="2400" smtClean="0"/>
              <a:t>We illustrate them with a request queue (0-199)</a:t>
            </a:r>
          </a:p>
          <a:p>
            <a:pPr eaLnBrk="1" hangingPunct="1">
              <a:lnSpc>
                <a:spcPct val="80000"/>
              </a:lnSpc>
              <a:buFont typeface="Wingdings" pitchFamily="2" charset="2"/>
              <a:buNone/>
              <a:tabLst>
                <a:tab pos="1711325" algn="l"/>
              </a:tabLst>
              <a:defRPr/>
            </a:pPr>
            <a:r>
              <a:rPr lang="en-US" altLang="zh-TW" sz="2400" smtClean="0"/>
              <a:t>		</a:t>
            </a:r>
            <a:r>
              <a:rPr lang="en-US" altLang="zh-TW" sz="2400" smtClean="0">
                <a:solidFill>
                  <a:srgbClr val="0000FF"/>
                </a:solidFill>
              </a:rPr>
              <a:t>98, 183, 37, 122, 14, 124, 65, 67</a:t>
            </a:r>
          </a:p>
          <a:p>
            <a:pPr eaLnBrk="1" hangingPunct="1">
              <a:lnSpc>
                <a:spcPct val="80000"/>
              </a:lnSpc>
              <a:buFont typeface="Wingdings" pitchFamily="2" charset="2"/>
              <a:buNone/>
              <a:tabLst>
                <a:tab pos="1711325" algn="l"/>
              </a:tabLst>
              <a:defRPr/>
            </a:pPr>
            <a:r>
              <a:rPr lang="en-US" altLang="zh-TW" sz="2400" smtClean="0"/>
              <a:t>	Head pointer </a:t>
            </a:r>
            <a:r>
              <a:rPr lang="en-US" altLang="zh-TW" sz="2400" smtClean="0">
                <a:solidFill>
                  <a:srgbClr val="FF0000"/>
                </a:solidFill>
              </a:rPr>
              <a:t>53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987">
                                            <p:txEl>
                                              <p:pRg st="3" end="3"/>
                                            </p:txEl>
                                          </p:spTgt>
                                        </p:tgtEl>
                                        <p:attrNameLst>
                                          <p:attrName>style.visibility</p:attrName>
                                        </p:attrNameLst>
                                      </p:cBhvr>
                                      <p:to>
                                        <p:strVal val="visible"/>
                                      </p:to>
                                    </p:set>
                                    <p:animEffect transition="in" filter="blinds(horizontal)">
                                      <p:cBhvr>
                                        <p:cTn id="7" dur="500"/>
                                        <p:tgtEl>
                                          <p:spTgt spid="41987">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1987">
                                            <p:txEl>
                                              <p:pRg st="4" end="4"/>
                                            </p:txEl>
                                          </p:spTgt>
                                        </p:tgtEl>
                                        <p:attrNameLst>
                                          <p:attrName>style.visibility</p:attrName>
                                        </p:attrNameLst>
                                      </p:cBhvr>
                                      <p:to>
                                        <p:strVal val="visible"/>
                                      </p:to>
                                    </p:set>
                                    <p:animEffect transition="in" filter="blinds(horizontal)">
                                      <p:cBhvr>
                                        <p:cTn id="12" dur="500"/>
                                        <p:tgtEl>
                                          <p:spTgt spid="41987">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1987">
                                            <p:txEl>
                                              <p:pRg st="5" end="5"/>
                                            </p:txEl>
                                          </p:spTgt>
                                        </p:tgtEl>
                                        <p:attrNameLst>
                                          <p:attrName>style.visibility</p:attrName>
                                        </p:attrNameLst>
                                      </p:cBhvr>
                                      <p:to>
                                        <p:strVal val="visible"/>
                                      </p:to>
                                    </p:set>
                                    <p:animEffect transition="in" filter="blinds(horizontal)">
                                      <p:cBhvr>
                                        <p:cTn id="17" dur="500"/>
                                        <p:tgtEl>
                                          <p:spTgt spid="41987">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1987">
                                            <p:txEl>
                                              <p:pRg st="6" end="6"/>
                                            </p:txEl>
                                          </p:spTgt>
                                        </p:tgtEl>
                                        <p:attrNameLst>
                                          <p:attrName>style.visibility</p:attrName>
                                        </p:attrNameLst>
                                      </p:cBhvr>
                                      <p:to>
                                        <p:strVal val="visible"/>
                                      </p:to>
                                    </p:set>
                                    <p:animEffect transition="in" filter="blinds(horizontal)">
                                      <p:cBhvr>
                                        <p:cTn id="22" dur="500"/>
                                        <p:tgtEl>
                                          <p:spTgt spid="41987">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1987">
                                            <p:txEl>
                                              <p:pRg st="7" end="7"/>
                                            </p:txEl>
                                          </p:spTgt>
                                        </p:tgtEl>
                                        <p:attrNameLst>
                                          <p:attrName>style.visibility</p:attrName>
                                        </p:attrNameLst>
                                      </p:cBhvr>
                                      <p:to>
                                        <p:strVal val="visible"/>
                                      </p:to>
                                    </p:set>
                                    <p:animEffect transition="in" filter="blinds(horizontal)">
                                      <p:cBhvr>
                                        <p:cTn id="27" dur="500"/>
                                        <p:tgtEl>
                                          <p:spTgt spid="4198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日期版面配置區 2"/>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E4B428ED-844F-4290-B712-681F3983BFF0}" type="datetime1">
              <a:rPr kumimoji="0" lang="zh-TW" altLang="en-US" sz="1400" smtClean="0"/>
              <a:t>2018/5/4</a:t>
            </a:fld>
            <a:endParaRPr kumimoji="0" lang="en-US" altLang="zh-TW" sz="1400" smtClean="0"/>
          </a:p>
        </p:txBody>
      </p:sp>
      <p:sp>
        <p:nvSpPr>
          <p:cNvPr id="13315" name="頁尾版面配置區 3"/>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13316" name="投影片編號版面配置區 4"/>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A7CBF54E-E538-476C-9A80-D6BC14540FC1}" type="slidenum">
              <a:rPr kumimoji="0" lang="zh-TW" altLang="en-US" sz="1400" smtClean="0"/>
              <a:pPr eaLnBrk="1" hangingPunct="1"/>
              <a:t>14</a:t>
            </a:fld>
            <a:endParaRPr kumimoji="0" lang="en-US" altLang="zh-TW" sz="1400" smtClean="0"/>
          </a:p>
        </p:txBody>
      </p:sp>
      <p:sp>
        <p:nvSpPr>
          <p:cNvPr id="13317" name="Rectangle 2"/>
          <p:cNvSpPr>
            <a:spLocks noGrp="1" noChangeArrowheads="1"/>
          </p:cNvSpPr>
          <p:nvPr>
            <p:ph type="title"/>
          </p:nvPr>
        </p:nvSpPr>
        <p:spPr>
          <a:xfrm>
            <a:off x="609600" y="304800"/>
            <a:ext cx="7061200" cy="823913"/>
          </a:xfrm>
        </p:spPr>
        <p:txBody>
          <a:bodyPr/>
          <a:lstStyle/>
          <a:p>
            <a:pPr eaLnBrk="1" hangingPunct="1"/>
            <a:r>
              <a:rPr lang="en-US" altLang="zh-TW" smtClean="0"/>
              <a:t>FCFS</a:t>
            </a:r>
          </a:p>
        </p:txBody>
      </p:sp>
      <p:pic>
        <p:nvPicPr>
          <p:cNvPr id="13318" name="Picture 3"/>
          <p:cNvPicPr>
            <a:picLocks noChangeAspect="1" noChangeArrowheads="1"/>
          </p:cNvPicPr>
          <p:nvPr/>
        </p:nvPicPr>
        <p:blipFill>
          <a:blip r:embed="rId3">
            <a:extLst>
              <a:ext uri="{28A0092B-C50C-407E-A947-70E740481C1C}">
                <a14:useLocalDpi xmlns:a14="http://schemas.microsoft.com/office/drawing/2010/main" val="0"/>
              </a:ext>
            </a:extLst>
          </a:blip>
          <a:srcRect l="1001" t="9740" r="514" b="9470"/>
          <a:stretch>
            <a:fillRect/>
          </a:stretch>
        </p:blipFill>
        <p:spPr bwMode="auto">
          <a:xfrm>
            <a:off x="636588" y="1597025"/>
            <a:ext cx="7350125" cy="4822825"/>
          </a:xfrm>
          <a:prstGeom prst="rect">
            <a:avLst/>
          </a:prstGeom>
          <a:noFill/>
          <a:ln w="57150" cmpd="thickThin">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012" name="Text Box 4"/>
          <p:cNvSpPr txBox="1">
            <a:spLocks noChangeArrowheads="1"/>
          </p:cNvSpPr>
          <p:nvPr/>
        </p:nvSpPr>
        <p:spPr bwMode="auto">
          <a:xfrm>
            <a:off x="541338" y="1095375"/>
            <a:ext cx="6494462" cy="4064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algn="ctr">
              <a:spcBef>
                <a:spcPct val="50000"/>
              </a:spcBef>
            </a:pPr>
            <a:r>
              <a:rPr kumimoji="0" lang="en-US" altLang="zh-TW" sz="2000">
                <a:latin typeface="Helvetica" pitchFamily="34" charset="0"/>
              </a:rPr>
              <a:t>Illustration shows total head movement of </a:t>
            </a:r>
            <a:r>
              <a:rPr kumimoji="0" lang="en-US" altLang="zh-TW" sz="2000" b="1">
                <a:solidFill>
                  <a:srgbClr val="FF0000"/>
                </a:solidFill>
                <a:latin typeface="Helvetica" pitchFamily="34" charset="0"/>
              </a:rPr>
              <a:t>640</a:t>
            </a:r>
            <a:r>
              <a:rPr kumimoji="0" lang="en-US" altLang="zh-TW" sz="2000">
                <a:latin typeface="Helvetica" pitchFamily="34" charset="0"/>
              </a:rPr>
              <a:t> cylinders.</a:t>
            </a:r>
          </a:p>
        </p:txBody>
      </p:sp>
      <p:sp>
        <p:nvSpPr>
          <p:cNvPr id="13320" name="Oval 5"/>
          <p:cNvSpPr>
            <a:spLocks noChangeArrowheads="1"/>
          </p:cNvSpPr>
          <p:nvPr/>
        </p:nvSpPr>
        <p:spPr bwMode="auto">
          <a:xfrm>
            <a:off x="4129088" y="1917700"/>
            <a:ext cx="325437" cy="250825"/>
          </a:xfrm>
          <a:prstGeom prst="ellipse">
            <a:avLst/>
          </a:prstGeom>
          <a:noFill/>
          <a:ln w="9525">
            <a:solidFill>
              <a:srgbClr val="FF0000"/>
            </a:solidFill>
            <a:round/>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2">
                                            <p:bg/>
                                          </p:spTgt>
                                        </p:tgtEl>
                                        <p:attrNameLst>
                                          <p:attrName>style.visibility</p:attrName>
                                        </p:attrNameLst>
                                      </p:cBhvr>
                                      <p:to>
                                        <p:strVal val="visible"/>
                                      </p:to>
                                    </p:set>
                                    <p:anim calcmode="lin" valueType="num">
                                      <p:cBhvr additive="base">
                                        <p:cTn id="7" dur="500" fill="hold"/>
                                        <p:tgtEl>
                                          <p:spTgt spid="43012">
                                            <p:bg/>
                                          </p:spTgt>
                                        </p:tgtEl>
                                        <p:attrNameLst>
                                          <p:attrName>ppt_x</p:attrName>
                                        </p:attrNameLst>
                                      </p:cBhvr>
                                      <p:tavLst>
                                        <p:tav tm="0">
                                          <p:val>
                                            <p:strVal val="#ppt_x"/>
                                          </p:val>
                                        </p:tav>
                                        <p:tav tm="100000">
                                          <p:val>
                                            <p:strVal val="#ppt_x"/>
                                          </p:val>
                                        </p:tav>
                                      </p:tavLst>
                                    </p:anim>
                                    <p:anim calcmode="lin" valueType="num">
                                      <p:cBhvr additive="base">
                                        <p:cTn id="8" dur="500" fill="hold"/>
                                        <p:tgtEl>
                                          <p:spTgt spid="43012">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3012">
                                            <p:txEl>
                                              <p:pRg st="0" end="0"/>
                                            </p:txEl>
                                          </p:spTgt>
                                        </p:tgtEl>
                                        <p:attrNameLst>
                                          <p:attrName>style.visibility</p:attrName>
                                        </p:attrNameLst>
                                      </p:cBhvr>
                                      <p:to>
                                        <p:strVal val="visible"/>
                                      </p:to>
                                    </p:set>
                                    <p:anim calcmode="lin" valueType="num">
                                      <p:cBhvr additive="base">
                                        <p:cTn id="11" dur="500" fill="hold"/>
                                        <p:tgtEl>
                                          <p:spTgt spid="43012">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301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build="allAtOnce"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2E214B55-164E-465A-B61E-C47341D4360D}" type="datetime1">
              <a:rPr kumimoji="0" lang="zh-TW" altLang="en-US" sz="1400" smtClean="0"/>
              <a:t>2018/5/4</a:t>
            </a:fld>
            <a:endParaRPr kumimoji="0" lang="en-US" altLang="zh-TW" sz="1400" smtClean="0"/>
          </a:p>
        </p:txBody>
      </p:sp>
      <p:sp>
        <p:nvSpPr>
          <p:cNvPr id="14339"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14340"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27A97793-A8A9-46E7-B187-AF273DD656BB}" type="slidenum">
              <a:rPr kumimoji="0" lang="zh-TW" altLang="en-US" sz="1400" smtClean="0"/>
              <a:pPr eaLnBrk="1" hangingPunct="1"/>
              <a:t>15</a:t>
            </a:fld>
            <a:endParaRPr kumimoji="0" lang="en-US" altLang="zh-TW" sz="1400" smtClean="0"/>
          </a:p>
        </p:txBody>
      </p:sp>
      <p:sp>
        <p:nvSpPr>
          <p:cNvPr id="14341" name="Rectangle 2"/>
          <p:cNvSpPr>
            <a:spLocks noGrp="1" noChangeArrowheads="1"/>
          </p:cNvSpPr>
          <p:nvPr>
            <p:ph type="title"/>
          </p:nvPr>
        </p:nvSpPr>
        <p:spPr>
          <a:xfrm>
            <a:off x="609600" y="304800"/>
            <a:ext cx="7772400" cy="763588"/>
          </a:xfrm>
        </p:spPr>
        <p:txBody>
          <a:bodyPr/>
          <a:lstStyle/>
          <a:p>
            <a:pPr eaLnBrk="1" hangingPunct="1"/>
            <a:r>
              <a:rPr lang="en-US" altLang="zh-TW" smtClean="0"/>
              <a:t>SSTF (1)</a:t>
            </a:r>
          </a:p>
        </p:txBody>
      </p:sp>
      <p:sp>
        <p:nvSpPr>
          <p:cNvPr id="44035" name="Rectangle 3" descr="Rectangle: Click to edit Master text styles&#10;Second level&#10;Third level&#10;Fourth level&#10;Fifth level"/>
          <p:cNvSpPr>
            <a:spLocks noGrp="1" noChangeArrowheads="1"/>
          </p:cNvSpPr>
          <p:nvPr>
            <p:ph type="body" idx="1"/>
          </p:nvPr>
        </p:nvSpPr>
        <p:spPr>
          <a:xfrm>
            <a:off x="441325" y="1028700"/>
            <a:ext cx="8105775" cy="4681538"/>
          </a:xfrm>
        </p:spPr>
        <p:txBody>
          <a:bodyPr/>
          <a:lstStyle/>
          <a:p>
            <a:pPr eaLnBrk="1" hangingPunct="1"/>
            <a:r>
              <a:rPr lang="en-US" altLang="zh-TW" smtClean="0"/>
              <a:t>Selects the request with the </a:t>
            </a:r>
            <a:r>
              <a:rPr lang="en-US" altLang="zh-TW" smtClean="0">
                <a:solidFill>
                  <a:srgbClr val="FF0000"/>
                </a:solidFill>
              </a:rPr>
              <a:t>minimum seek time</a:t>
            </a:r>
            <a:r>
              <a:rPr lang="en-US" altLang="zh-TW" smtClean="0"/>
              <a:t> from the current head position</a:t>
            </a:r>
          </a:p>
          <a:p>
            <a:pPr eaLnBrk="1" hangingPunct="1">
              <a:spcBef>
                <a:spcPct val="60000"/>
              </a:spcBef>
            </a:pPr>
            <a:r>
              <a:rPr lang="en-US" altLang="zh-TW" smtClean="0"/>
              <a:t>SSTF scheduling is a form of SJF scheduling; may cause </a:t>
            </a:r>
            <a:r>
              <a:rPr lang="en-US" altLang="zh-TW" smtClean="0">
                <a:solidFill>
                  <a:srgbClr val="FF0000"/>
                </a:solidFill>
              </a:rPr>
              <a:t>starvation</a:t>
            </a:r>
            <a:r>
              <a:rPr lang="en-US" altLang="zh-TW" smtClean="0"/>
              <a:t> of some requests.</a:t>
            </a:r>
          </a:p>
          <a:p>
            <a:pPr eaLnBrk="1" hangingPunct="1">
              <a:spcBef>
                <a:spcPct val="60000"/>
              </a:spcBef>
            </a:pPr>
            <a:r>
              <a:rPr lang="en-US" altLang="zh-TW" smtClean="0"/>
              <a:t>Illustration shows total head movement of </a:t>
            </a:r>
            <a:r>
              <a:rPr lang="en-US" altLang="zh-TW" smtClean="0">
                <a:solidFill>
                  <a:srgbClr val="0000FF"/>
                </a:solidFill>
              </a:rPr>
              <a:t>236</a:t>
            </a:r>
            <a:r>
              <a:rPr lang="en-US" altLang="zh-TW" smtClean="0"/>
              <a:t> cylinders.</a:t>
            </a:r>
          </a:p>
          <a:p>
            <a:pPr lvl="1" eaLnBrk="1" hangingPunct="1">
              <a:spcBef>
                <a:spcPts val="600"/>
              </a:spcBef>
            </a:pPr>
            <a:r>
              <a:rPr lang="en-US" altLang="zh-TW" smtClean="0"/>
              <a:t>Not an optimal solution.</a:t>
            </a:r>
          </a:p>
          <a:p>
            <a:pPr lvl="1" eaLnBrk="1" hangingPunct="1">
              <a:spcBef>
                <a:spcPts val="600"/>
              </a:spcBef>
            </a:pPr>
            <a:r>
              <a:rPr lang="en-US" altLang="zh-TW" smtClean="0"/>
              <a:t>Optimal is 208: </a:t>
            </a:r>
          </a:p>
        </p:txBody>
      </p:sp>
      <p:sp>
        <p:nvSpPr>
          <p:cNvPr id="44036" name="Text Box 4"/>
          <p:cNvSpPr txBox="1">
            <a:spLocks noChangeArrowheads="1"/>
          </p:cNvSpPr>
          <p:nvPr/>
        </p:nvSpPr>
        <p:spPr bwMode="auto">
          <a:xfrm flipH="1">
            <a:off x="3675063" y="5605463"/>
            <a:ext cx="38830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2000">
                <a:solidFill>
                  <a:srgbClr val="FF0000"/>
                </a:solidFill>
              </a:rPr>
              <a:t>If we move the head from 53 to 37, then to 14, </a:t>
            </a:r>
            <a:r>
              <a:rPr lang="en-US" altLang="zh-TW" sz="2000">
                <a:solidFill>
                  <a:srgbClr val="FF0000"/>
                </a:solidFill>
                <a:latin typeface="Times New Roman" pitchFamily="18" charset="0"/>
              </a:rPr>
              <a:t>…</a:t>
            </a:r>
            <a:r>
              <a:rPr lang="en-US" altLang="zh-TW" sz="20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4035">
                                            <p:txEl>
                                              <p:pRg st="1" end="1"/>
                                            </p:txEl>
                                          </p:spTgt>
                                        </p:tgtEl>
                                        <p:attrNameLst>
                                          <p:attrName>style.visibility</p:attrName>
                                        </p:attrNameLst>
                                      </p:cBhvr>
                                      <p:to>
                                        <p:strVal val="visible"/>
                                      </p:to>
                                    </p:set>
                                    <p:animEffect transition="in" filter="blinds(horizontal)">
                                      <p:cBhvr>
                                        <p:cTn id="7" dur="500"/>
                                        <p:tgtEl>
                                          <p:spTgt spid="4403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4035">
                                            <p:txEl>
                                              <p:pRg st="2" end="2"/>
                                            </p:txEl>
                                          </p:spTgt>
                                        </p:tgtEl>
                                        <p:attrNameLst>
                                          <p:attrName>style.visibility</p:attrName>
                                        </p:attrNameLst>
                                      </p:cBhvr>
                                      <p:to>
                                        <p:strVal val="visible"/>
                                      </p:to>
                                    </p:set>
                                    <p:animEffect transition="in" filter="blinds(horizontal)">
                                      <p:cBhvr>
                                        <p:cTn id="12" dur="500"/>
                                        <p:tgtEl>
                                          <p:spTgt spid="4403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4035">
                                            <p:txEl>
                                              <p:pRg st="3" end="3"/>
                                            </p:txEl>
                                          </p:spTgt>
                                        </p:tgtEl>
                                        <p:attrNameLst>
                                          <p:attrName>style.visibility</p:attrName>
                                        </p:attrNameLst>
                                      </p:cBhvr>
                                      <p:to>
                                        <p:strVal val="visible"/>
                                      </p:to>
                                    </p:set>
                                    <p:animEffect transition="in" filter="blinds(horizontal)">
                                      <p:cBhvr>
                                        <p:cTn id="17" dur="500"/>
                                        <p:tgtEl>
                                          <p:spTgt spid="4403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4035">
                                            <p:txEl>
                                              <p:pRg st="4" end="4"/>
                                            </p:txEl>
                                          </p:spTgt>
                                        </p:tgtEl>
                                        <p:attrNameLst>
                                          <p:attrName>style.visibility</p:attrName>
                                        </p:attrNameLst>
                                      </p:cBhvr>
                                      <p:to>
                                        <p:strVal val="visible"/>
                                      </p:to>
                                    </p:set>
                                    <p:animEffect transition="in" filter="blinds(horizontal)">
                                      <p:cBhvr>
                                        <p:cTn id="22" dur="500"/>
                                        <p:tgtEl>
                                          <p:spTgt spid="4403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4036"/>
                                        </p:tgtEl>
                                        <p:attrNameLst>
                                          <p:attrName>style.visibility</p:attrName>
                                        </p:attrNameLst>
                                      </p:cBhvr>
                                      <p:to>
                                        <p:strVal val="visible"/>
                                      </p:to>
                                    </p:set>
                                    <p:animEffect transition="in" filter="blinds(horizontal)">
                                      <p:cBhvr>
                                        <p:cTn id="27" dur="500"/>
                                        <p:tgtEl>
                                          <p:spTgt spid="44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日期版面配置區 2"/>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69475EA3-0251-4A76-AD2B-7ECB4610CE86}" type="datetime1">
              <a:rPr kumimoji="0" lang="zh-TW" altLang="en-US" sz="1400" smtClean="0"/>
              <a:t>2018/5/4</a:t>
            </a:fld>
            <a:endParaRPr kumimoji="0" lang="en-US" altLang="zh-TW" sz="1400" smtClean="0"/>
          </a:p>
        </p:txBody>
      </p:sp>
      <p:sp>
        <p:nvSpPr>
          <p:cNvPr id="15363" name="頁尾版面配置區 3"/>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15364" name="投影片編號版面配置區 4"/>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FAA3D4AC-2FAE-4B17-B1BD-A5E208C1356A}" type="slidenum">
              <a:rPr kumimoji="0" lang="zh-TW" altLang="en-US" sz="1400" smtClean="0"/>
              <a:pPr eaLnBrk="1" hangingPunct="1"/>
              <a:t>16</a:t>
            </a:fld>
            <a:endParaRPr kumimoji="0" lang="en-US" altLang="zh-TW" sz="1400" smtClean="0"/>
          </a:p>
        </p:txBody>
      </p:sp>
      <p:sp>
        <p:nvSpPr>
          <p:cNvPr id="15365" name="Rectangle 2"/>
          <p:cNvSpPr>
            <a:spLocks noGrp="1" noChangeArrowheads="1"/>
          </p:cNvSpPr>
          <p:nvPr>
            <p:ph type="title"/>
          </p:nvPr>
        </p:nvSpPr>
        <p:spPr/>
        <p:txBody>
          <a:bodyPr/>
          <a:lstStyle/>
          <a:p>
            <a:pPr eaLnBrk="1" hangingPunct="1"/>
            <a:r>
              <a:rPr lang="en-US" altLang="zh-TW" smtClean="0"/>
              <a:t>SSTF (2)</a:t>
            </a:r>
          </a:p>
        </p:txBody>
      </p:sp>
      <p:pic>
        <p:nvPicPr>
          <p:cNvPr id="15366" name="Picture 3"/>
          <p:cNvPicPr>
            <a:picLocks noChangeAspect="1" noChangeArrowheads="1"/>
          </p:cNvPicPr>
          <p:nvPr/>
        </p:nvPicPr>
        <p:blipFill>
          <a:blip r:embed="rId3">
            <a:extLst>
              <a:ext uri="{28A0092B-C50C-407E-A947-70E740481C1C}">
                <a14:useLocalDpi xmlns:a14="http://schemas.microsoft.com/office/drawing/2010/main" val="0"/>
              </a:ext>
            </a:extLst>
          </a:blip>
          <a:srcRect l="681" t="9895" r="658" b="9366"/>
          <a:stretch>
            <a:fillRect/>
          </a:stretch>
        </p:blipFill>
        <p:spPr bwMode="auto">
          <a:xfrm>
            <a:off x="1185863" y="1644650"/>
            <a:ext cx="6669087" cy="4365625"/>
          </a:xfrm>
          <a:prstGeom prst="rect">
            <a:avLst/>
          </a:prstGeom>
          <a:noFill/>
          <a:ln w="57150" cmpd="thickThin">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060" name="Text Box 4"/>
          <p:cNvSpPr txBox="1">
            <a:spLocks noChangeArrowheads="1"/>
          </p:cNvSpPr>
          <p:nvPr/>
        </p:nvSpPr>
        <p:spPr bwMode="auto">
          <a:xfrm>
            <a:off x="4325938" y="696913"/>
            <a:ext cx="1044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spcBef>
                <a:spcPct val="50000"/>
              </a:spcBef>
            </a:pPr>
            <a:r>
              <a:rPr lang="zh-TW" altLang="en-US" b="1">
                <a:solidFill>
                  <a:srgbClr val="9933FF"/>
                </a:solidFill>
              </a:rPr>
              <a:t>2</a:t>
            </a:r>
            <a:r>
              <a:rPr lang="en-US" altLang="zh-TW" b="1">
                <a:solidFill>
                  <a:srgbClr val="9933FF"/>
                </a:solidFill>
              </a:rPr>
              <a:t>36</a:t>
            </a:r>
          </a:p>
        </p:txBody>
      </p:sp>
      <p:sp>
        <p:nvSpPr>
          <p:cNvPr id="45061" name="Line 5"/>
          <p:cNvSpPr>
            <a:spLocks noChangeShapeType="1"/>
          </p:cNvSpPr>
          <p:nvPr/>
        </p:nvSpPr>
        <p:spPr bwMode="auto">
          <a:xfrm flipH="1">
            <a:off x="1651000" y="3860800"/>
            <a:ext cx="812800" cy="388938"/>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45064" name="Line 8"/>
          <p:cNvSpPr>
            <a:spLocks noChangeShapeType="1"/>
          </p:cNvSpPr>
          <p:nvPr/>
        </p:nvSpPr>
        <p:spPr bwMode="auto">
          <a:xfrm flipH="1">
            <a:off x="2506663" y="3606800"/>
            <a:ext cx="609600" cy="236538"/>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45066" name="Line 10"/>
          <p:cNvSpPr>
            <a:spLocks noChangeShapeType="1"/>
          </p:cNvSpPr>
          <p:nvPr/>
        </p:nvSpPr>
        <p:spPr bwMode="auto">
          <a:xfrm>
            <a:off x="1709738" y="4249738"/>
            <a:ext cx="1676400" cy="15240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60"/>
                                        </p:tgtEl>
                                        <p:attrNameLst>
                                          <p:attrName>style.visibility</p:attrName>
                                        </p:attrNameLst>
                                      </p:cBhvr>
                                      <p:to>
                                        <p:strVal val="visible"/>
                                      </p:to>
                                    </p:set>
                                    <p:anim calcmode="lin" valueType="num">
                                      <p:cBhvr additive="base">
                                        <p:cTn id="7" dur="500" fill="hold"/>
                                        <p:tgtEl>
                                          <p:spTgt spid="45060"/>
                                        </p:tgtEl>
                                        <p:attrNameLst>
                                          <p:attrName>ppt_x</p:attrName>
                                        </p:attrNameLst>
                                      </p:cBhvr>
                                      <p:tavLst>
                                        <p:tav tm="0">
                                          <p:val>
                                            <p:strVal val="#ppt_x"/>
                                          </p:val>
                                        </p:tav>
                                        <p:tav tm="100000">
                                          <p:val>
                                            <p:strVal val="#ppt_x"/>
                                          </p:val>
                                        </p:tav>
                                      </p:tavLst>
                                    </p:anim>
                                    <p:anim calcmode="lin" valueType="num">
                                      <p:cBhvr additive="base">
                                        <p:cTn id="8" dur="500" fill="hold"/>
                                        <p:tgtEl>
                                          <p:spTgt spid="4506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5061"/>
                                        </p:tgtEl>
                                        <p:attrNameLst>
                                          <p:attrName>style.visibility</p:attrName>
                                        </p:attrNameLst>
                                      </p:cBhvr>
                                      <p:to>
                                        <p:strVal val="visible"/>
                                      </p:to>
                                    </p:set>
                                    <p:animEffect transition="in" filter="blinds(horizontal)">
                                      <p:cBhvr>
                                        <p:cTn id="13" dur="500"/>
                                        <p:tgtEl>
                                          <p:spTgt spid="45061"/>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5064"/>
                                        </p:tgtEl>
                                        <p:attrNameLst>
                                          <p:attrName>style.visibility</p:attrName>
                                        </p:attrNameLst>
                                      </p:cBhvr>
                                      <p:to>
                                        <p:strVal val="visible"/>
                                      </p:to>
                                    </p:set>
                                    <p:animEffect transition="in" filter="blinds(horizontal)">
                                      <p:cBhvr>
                                        <p:cTn id="16" dur="500"/>
                                        <p:tgtEl>
                                          <p:spTgt spid="45064"/>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45066"/>
                                        </p:tgtEl>
                                        <p:attrNameLst>
                                          <p:attrName>style.visibility</p:attrName>
                                        </p:attrNameLst>
                                      </p:cBhvr>
                                      <p:to>
                                        <p:strVal val="visible"/>
                                      </p:to>
                                    </p:set>
                                    <p:animEffect transition="in" filter="blinds(horizontal)">
                                      <p:cBhvr>
                                        <p:cTn id="19" dur="500"/>
                                        <p:tgtEl>
                                          <p:spTgt spid="45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p:bldP spid="45061" grpId="0" animBg="1"/>
      <p:bldP spid="45064" grpId="0" animBg="1"/>
      <p:bldP spid="4506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2D336889-C2B5-4FB7-BC02-021A152C0125}" type="datetime1">
              <a:rPr kumimoji="0" lang="zh-TW" altLang="en-US" sz="1400" smtClean="0"/>
              <a:t>2018/5/4</a:t>
            </a:fld>
            <a:endParaRPr kumimoji="0" lang="en-US" altLang="zh-TW" sz="1400" smtClean="0"/>
          </a:p>
        </p:txBody>
      </p:sp>
      <p:sp>
        <p:nvSpPr>
          <p:cNvPr id="16387"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16388"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28FF79CE-E1F7-46B0-9558-2A392E70626E}" type="slidenum">
              <a:rPr kumimoji="0" lang="zh-TW" altLang="en-US" sz="1400" smtClean="0"/>
              <a:pPr eaLnBrk="1" hangingPunct="1"/>
              <a:t>17</a:t>
            </a:fld>
            <a:endParaRPr kumimoji="0" lang="en-US" altLang="zh-TW" sz="1400" smtClean="0"/>
          </a:p>
        </p:txBody>
      </p:sp>
      <p:sp>
        <p:nvSpPr>
          <p:cNvPr id="16389" name="Rectangle 2"/>
          <p:cNvSpPr>
            <a:spLocks noGrp="1" noChangeArrowheads="1"/>
          </p:cNvSpPr>
          <p:nvPr>
            <p:ph type="title"/>
          </p:nvPr>
        </p:nvSpPr>
        <p:spPr>
          <a:xfrm>
            <a:off x="609600" y="304800"/>
            <a:ext cx="7772400" cy="793750"/>
          </a:xfrm>
        </p:spPr>
        <p:txBody>
          <a:bodyPr/>
          <a:lstStyle/>
          <a:p>
            <a:pPr eaLnBrk="1" hangingPunct="1"/>
            <a:r>
              <a:rPr lang="en-US" altLang="zh-TW" smtClean="0"/>
              <a:t>SCAN (1)</a:t>
            </a:r>
          </a:p>
        </p:txBody>
      </p:sp>
      <p:sp>
        <p:nvSpPr>
          <p:cNvPr id="46083" name="Rectangle 3" descr="Rectangle: Click to edit Master text styles&#10;Second level&#10;Third level&#10;Fourth level&#10;Fifth level"/>
          <p:cNvSpPr>
            <a:spLocks noGrp="1" noChangeArrowheads="1"/>
          </p:cNvSpPr>
          <p:nvPr>
            <p:ph type="body" idx="1"/>
          </p:nvPr>
        </p:nvSpPr>
        <p:spPr>
          <a:xfrm>
            <a:off x="547688" y="1498600"/>
            <a:ext cx="8105775" cy="4710113"/>
          </a:xfrm>
        </p:spPr>
        <p:txBody>
          <a:bodyPr/>
          <a:lstStyle/>
          <a:p>
            <a:pPr eaLnBrk="1" hangingPunct="1">
              <a:lnSpc>
                <a:spcPct val="90000"/>
              </a:lnSpc>
              <a:defRPr/>
            </a:pPr>
            <a:r>
              <a:rPr lang="en-US" altLang="zh-TW" smtClean="0"/>
              <a:t>The disk arm </a:t>
            </a:r>
            <a:r>
              <a:rPr lang="en-US" altLang="zh-TW" smtClean="0">
                <a:solidFill>
                  <a:srgbClr val="0000FF"/>
                </a:solidFill>
              </a:rPr>
              <a:t>starts at one end</a:t>
            </a:r>
            <a:r>
              <a:rPr lang="en-US" altLang="zh-TW" smtClean="0"/>
              <a:t> of the disk, and </a:t>
            </a:r>
            <a:r>
              <a:rPr lang="en-US" altLang="zh-TW" smtClean="0">
                <a:solidFill>
                  <a:srgbClr val="0000FF"/>
                </a:solidFill>
              </a:rPr>
              <a:t>moves toward the other end</a:t>
            </a:r>
            <a:r>
              <a:rPr lang="en-US" altLang="zh-TW" smtClean="0"/>
              <a:t>, servicing requests until it gets to the other end of the disk, where the </a:t>
            </a:r>
            <a:r>
              <a:rPr lang="en-US" altLang="zh-TW" smtClean="0">
                <a:solidFill>
                  <a:srgbClr val="FF0000"/>
                </a:solidFill>
              </a:rPr>
              <a:t>head movement is reversed</a:t>
            </a:r>
            <a:r>
              <a:rPr lang="en-US" altLang="zh-TW" smtClean="0"/>
              <a:t> and servicing continues</a:t>
            </a:r>
          </a:p>
          <a:p>
            <a:pPr eaLnBrk="1" hangingPunct="1">
              <a:lnSpc>
                <a:spcPct val="90000"/>
              </a:lnSpc>
              <a:spcBef>
                <a:spcPct val="60000"/>
              </a:spcBef>
              <a:defRPr/>
            </a:pPr>
            <a:r>
              <a:rPr lang="en-US" altLang="zh-TW" smtClean="0"/>
              <a:t>Sometimes called the </a:t>
            </a:r>
            <a:r>
              <a:rPr lang="en-US" altLang="zh-TW" smtClean="0">
                <a:solidFill>
                  <a:srgbClr val="0000FF"/>
                </a:solidFill>
                <a:effectLst>
                  <a:outerShdw blurRad="38100" dist="38100" dir="2700000" algn="tl">
                    <a:srgbClr val="C0C0C0"/>
                  </a:outerShdw>
                </a:effectLst>
              </a:rPr>
              <a:t>elevator algorithm</a:t>
            </a:r>
          </a:p>
          <a:p>
            <a:pPr eaLnBrk="1" hangingPunct="1">
              <a:lnSpc>
                <a:spcPct val="90000"/>
              </a:lnSpc>
              <a:spcBef>
                <a:spcPct val="60000"/>
              </a:spcBef>
              <a:defRPr/>
            </a:pPr>
            <a:r>
              <a:rPr lang="en-US" altLang="zh-TW" smtClean="0"/>
              <a:t>Illustration shows total head movement of 236 cylinders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6083">
                                            <p:txEl>
                                              <p:pRg st="1" end="1"/>
                                            </p:txEl>
                                          </p:spTgt>
                                        </p:tgtEl>
                                        <p:attrNameLst>
                                          <p:attrName>style.visibility</p:attrName>
                                        </p:attrNameLst>
                                      </p:cBhvr>
                                      <p:to>
                                        <p:strVal val="visible"/>
                                      </p:to>
                                    </p:set>
                                    <p:animEffect transition="in" filter="blinds(horizontal)">
                                      <p:cBhvr>
                                        <p:cTn id="7" dur="500"/>
                                        <p:tgtEl>
                                          <p:spTgt spid="4608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6083">
                                            <p:txEl>
                                              <p:pRg st="2" end="2"/>
                                            </p:txEl>
                                          </p:spTgt>
                                        </p:tgtEl>
                                        <p:attrNameLst>
                                          <p:attrName>style.visibility</p:attrName>
                                        </p:attrNameLst>
                                      </p:cBhvr>
                                      <p:to>
                                        <p:strVal val="visible"/>
                                      </p:to>
                                    </p:set>
                                    <p:animEffect transition="in" filter="blinds(horizontal)">
                                      <p:cBhvr>
                                        <p:cTn id="12" dur="500"/>
                                        <p:tgtEl>
                                          <p:spTgt spid="460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日期版面配置區 2"/>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7DC517E5-7ACC-4098-AA50-C0207873B8A5}" type="datetime1">
              <a:rPr kumimoji="0" lang="zh-TW" altLang="en-US" sz="1400" smtClean="0"/>
              <a:t>2018/5/4</a:t>
            </a:fld>
            <a:endParaRPr kumimoji="0" lang="en-US" altLang="zh-TW" sz="1400" smtClean="0"/>
          </a:p>
        </p:txBody>
      </p:sp>
      <p:sp>
        <p:nvSpPr>
          <p:cNvPr id="17411" name="頁尾版面配置區 3"/>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17412" name="投影片編號版面配置區 4"/>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857E31D5-CAA5-4CAC-8FF5-7A3B8055BDAE}" type="slidenum">
              <a:rPr kumimoji="0" lang="zh-TW" altLang="en-US" sz="1400" smtClean="0"/>
              <a:pPr eaLnBrk="1" hangingPunct="1"/>
              <a:t>18</a:t>
            </a:fld>
            <a:endParaRPr kumimoji="0" lang="en-US" altLang="zh-TW" sz="1400" smtClean="0"/>
          </a:p>
        </p:txBody>
      </p:sp>
      <p:sp>
        <p:nvSpPr>
          <p:cNvPr id="17413" name="Rectangle 2"/>
          <p:cNvSpPr>
            <a:spLocks noGrp="1" noChangeArrowheads="1"/>
          </p:cNvSpPr>
          <p:nvPr>
            <p:ph type="title"/>
          </p:nvPr>
        </p:nvSpPr>
        <p:spPr>
          <a:xfrm>
            <a:off x="609600" y="304800"/>
            <a:ext cx="7772400" cy="806450"/>
          </a:xfrm>
        </p:spPr>
        <p:txBody>
          <a:bodyPr/>
          <a:lstStyle/>
          <a:p>
            <a:pPr eaLnBrk="1" hangingPunct="1"/>
            <a:r>
              <a:rPr lang="en-US" altLang="zh-TW" smtClean="0"/>
              <a:t>SCAN (2)</a:t>
            </a:r>
          </a:p>
        </p:txBody>
      </p:sp>
      <p:sp>
        <p:nvSpPr>
          <p:cNvPr id="47108" name="Text Box 4"/>
          <p:cNvSpPr txBox="1">
            <a:spLocks noChangeArrowheads="1"/>
          </p:cNvSpPr>
          <p:nvPr/>
        </p:nvSpPr>
        <p:spPr bwMode="auto">
          <a:xfrm>
            <a:off x="4538663" y="538163"/>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zh-TW" altLang="en-US" b="1">
                <a:solidFill>
                  <a:srgbClr val="FF0000"/>
                </a:solidFill>
              </a:rPr>
              <a:t>236</a:t>
            </a:r>
          </a:p>
        </p:txBody>
      </p:sp>
      <p:pic>
        <p:nvPicPr>
          <p:cNvPr id="17415" name="Picture 5"/>
          <p:cNvPicPr>
            <a:picLocks noChangeAspect="1" noChangeArrowheads="1"/>
          </p:cNvPicPr>
          <p:nvPr/>
        </p:nvPicPr>
        <p:blipFill>
          <a:blip r:embed="rId3">
            <a:extLst>
              <a:ext uri="{28A0092B-C50C-407E-A947-70E740481C1C}">
                <a14:useLocalDpi xmlns:a14="http://schemas.microsoft.com/office/drawing/2010/main" val="0"/>
              </a:ext>
            </a:extLst>
          </a:blip>
          <a:srcRect l="435" t="3818" r="871" b="4398"/>
          <a:stretch>
            <a:fillRect/>
          </a:stretch>
        </p:blipFill>
        <p:spPr bwMode="auto">
          <a:xfrm>
            <a:off x="1008063" y="1443038"/>
            <a:ext cx="6911975" cy="4821237"/>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8"/>
                                        </p:tgtEl>
                                        <p:attrNameLst>
                                          <p:attrName>style.visibility</p:attrName>
                                        </p:attrNameLst>
                                      </p:cBhvr>
                                      <p:to>
                                        <p:strVal val="visible"/>
                                      </p:to>
                                    </p:set>
                                    <p:anim calcmode="lin" valueType="num">
                                      <p:cBhvr additive="base">
                                        <p:cTn id="7" dur="500" fill="hold"/>
                                        <p:tgtEl>
                                          <p:spTgt spid="47108"/>
                                        </p:tgtEl>
                                        <p:attrNameLst>
                                          <p:attrName>ppt_x</p:attrName>
                                        </p:attrNameLst>
                                      </p:cBhvr>
                                      <p:tavLst>
                                        <p:tav tm="0">
                                          <p:val>
                                            <p:strVal val="#ppt_x"/>
                                          </p:val>
                                        </p:tav>
                                        <p:tav tm="100000">
                                          <p:val>
                                            <p:strVal val="#ppt_x"/>
                                          </p:val>
                                        </p:tav>
                                      </p:tavLst>
                                    </p:anim>
                                    <p:anim calcmode="lin" valueType="num">
                                      <p:cBhvr additive="base">
                                        <p:cTn id="8" dur="500" fill="hold"/>
                                        <p:tgtEl>
                                          <p:spTgt spid="471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C1AAC4EE-5E32-4A7D-8C02-1CF42162153A}" type="datetime1">
              <a:rPr kumimoji="0" lang="zh-TW" altLang="en-US" sz="1400" smtClean="0"/>
              <a:t>2018/5/4</a:t>
            </a:fld>
            <a:endParaRPr kumimoji="0" lang="en-US" altLang="zh-TW" sz="1400" smtClean="0"/>
          </a:p>
        </p:txBody>
      </p:sp>
      <p:sp>
        <p:nvSpPr>
          <p:cNvPr id="18435"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18436"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5281ECA1-5736-43CE-933B-0A4CACC70A9E}" type="slidenum">
              <a:rPr kumimoji="0" lang="zh-TW" altLang="en-US" sz="1400" smtClean="0"/>
              <a:pPr eaLnBrk="1" hangingPunct="1"/>
              <a:t>19</a:t>
            </a:fld>
            <a:endParaRPr kumimoji="0" lang="en-US" altLang="zh-TW" sz="1400" smtClean="0"/>
          </a:p>
        </p:txBody>
      </p:sp>
      <p:sp>
        <p:nvSpPr>
          <p:cNvPr id="18437" name="Rectangle 2"/>
          <p:cNvSpPr>
            <a:spLocks noGrp="1" noChangeArrowheads="1"/>
          </p:cNvSpPr>
          <p:nvPr>
            <p:ph type="title"/>
          </p:nvPr>
        </p:nvSpPr>
        <p:spPr/>
        <p:txBody>
          <a:bodyPr/>
          <a:lstStyle/>
          <a:p>
            <a:pPr eaLnBrk="1" hangingPunct="1"/>
            <a:r>
              <a:rPr lang="en-US" altLang="zh-TW" smtClean="0"/>
              <a:t>C-SCAN (1)</a:t>
            </a:r>
          </a:p>
        </p:txBody>
      </p:sp>
      <p:sp>
        <p:nvSpPr>
          <p:cNvPr id="48131" name="Rectangle 3" descr="Rectangle: Click to edit Master text styles&#10;Second level&#10;Third level&#10;Fourth level&#10;Fifth level"/>
          <p:cNvSpPr>
            <a:spLocks noGrp="1" noChangeArrowheads="1"/>
          </p:cNvSpPr>
          <p:nvPr>
            <p:ph type="body" idx="1"/>
          </p:nvPr>
        </p:nvSpPr>
        <p:spPr>
          <a:xfrm>
            <a:off x="577850" y="1571625"/>
            <a:ext cx="8091488" cy="4667250"/>
          </a:xfrm>
        </p:spPr>
        <p:txBody>
          <a:bodyPr/>
          <a:lstStyle/>
          <a:p>
            <a:pPr eaLnBrk="1" hangingPunct="1"/>
            <a:r>
              <a:rPr lang="en-US" altLang="zh-TW" sz="2800" smtClean="0"/>
              <a:t>Provides a </a:t>
            </a:r>
            <a:r>
              <a:rPr lang="en-US" altLang="zh-TW" sz="2800" smtClean="0">
                <a:solidFill>
                  <a:srgbClr val="0000FF"/>
                </a:solidFill>
              </a:rPr>
              <a:t>more uniform</a:t>
            </a:r>
            <a:r>
              <a:rPr lang="en-US" altLang="zh-TW" sz="2800" smtClean="0"/>
              <a:t> wait time than SCAN</a:t>
            </a:r>
          </a:p>
          <a:p>
            <a:pPr eaLnBrk="1" hangingPunct="1">
              <a:spcBef>
                <a:spcPct val="60000"/>
              </a:spcBef>
            </a:pPr>
            <a:r>
              <a:rPr lang="en-US" altLang="zh-TW" sz="2800" smtClean="0"/>
              <a:t>The head moves </a:t>
            </a:r>
            <a:r>
              <a:rPr lang="en-US" altLang="zh-TW" sz="2800" smtClean="0">
                <a:solidFill>
                  <a:srgbClr val="0000FF"/>
                </a:solidFill>
              </a:rPr>
              <a:t>from one end of the disk</a:t>
            </a:r>
            <a:r>
              <a:rPr lang="en-US" altLang="zh-TW" sz="2800" smtClean="0"/>
              <a:t> to </a:t>
            </a:r>
            <a:r>
              <a:rPr lang="en-US" altLang="zh-TW" sz="2800" smtClean="0">
                <a:solidFill>
                  <a:srgbClr val="0000FF"/>
                </a:solidFill>
              </a:rPr>
              <a:t>the other</a:t>
            </a:r>
            <a:r>
              <a:rPr lang="en-US" altLang="zh-TW" sz="2800" smtClean="0"/>
              <a:t>, servicing requests as it goes.  When it reaches the other end, however, it </a:t>
            </a:r>
            <a:r>
              <a:rPr lang="en-US" altLang="zh-TW" sz="2800" smtClean="0">
                <a:solidFill>
                  <a:srgbClr val="FF0000"/>
                </a:solidFill>
              </a:rPr>
              <a:t>immediately</a:t>
            </a:r>
            <a:r>
              <a:rPr lang="en-US" altLang="zh-TW" sz="2800" smtClean="0"/>
              <a:t> </a:t>
            </a:r>
            <a:r>
              <a:rPr lang="en-US" altLang="zh-TW" sz="2800" smtClean="0">
                <a:solidFill>
                  <a:srgbClr val="FF0000"/>
                </a:solidFill>
              </a:rPr>
              <a:t>returns to the beginning of the disk, </a:t>
            </a:r>
            <a:r>
              <a:rPr lang="en-US" altLang="zh-TW" sz="2800" smtClean="0">
                <a:solidFill>
                  <a:srgbClr val="0000FF"/>
                </a:solidFill>
              </a:rPr>
              <a:t>without servicing any requests on the return trip</a:t>
            </a:r>
          </a:p>
          <a:p>
            <a:pPr eaLnBrk="1" hangingPunct="1">
              <a:spcBef>
                <a:spcPct val="60000"/>
              </a:spcBef>
            </a:pPr>
            <a:r>
              <a:rPr lang="en-US" altLang="zh-TW" sz="2800" smtClean="0"/>
              <a:t>Treats the cylinders as a </a:t>
            </a:r>
            <a:r>
              <a:rPr lang="en-US" altLang="zh-TW" sz="2800" smtClean="0">
                <a:solidFill>
                  <a:srgbClr val="0000FF"/>
                </a:solidFill>
              </a:rPr>
              <a:t>circular list</a:t>
            </a:r>
            <a:r>
              <a:rPr lang="en-US" altLang="zh-TW" sz="2800" smtClean="0"/>
              <a:t> that </a:t>
            </a:r>
            <a:r>
              <a:rPr lang="en-US" altLang="zh-TW" sz="2800" smtClean="0">
                <a:solidFill>
                  <a:srgbClr val="9933FF"/>
                </a:solidFill>
              </a:rPr>
              <a:t>wraps around from the last cylinder to the first one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8131">
                                            <p:txEl>
                                              <p:pRg st="2" end="2"/>
                                            </p:txEl>
                                          </p:spTgt>
                                        </p:tgtEl>
                                        <p:attrNameLst>
                                          <p:attrName>style.visibility</p:attrName>
                                        </p:attrNameLst>
                                      </p:cBhvr>
                                      <p:to>
                                        <p:strVal val="visible"/>
                                      </p:to>
                                    </p:set>
                                    <p:animEffect transition="in" filter="blinds(horizontal)">
                                      <p:cBhvr>
                                        <p:cTn id="7" dur="500"/>
                                        <p:tgtEl>
                                          <p:spTgt spid="481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日期版面配置區 2"/>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8DB850B4-B074-4FD3-AF28-305A8920BD84}" type="datetime1">
              <a:rPr kumimoji="0" lang="zh-TW" altLang="en-US" sz="1400" smtClean="0"/>
              <a:t>2018/5/4</a:t>
            </a:fld>
            <a:endParaRPr kumimoji="0" lang="en-US" altLang="zh-TW" sz="1400" smtClean="0"/>
          </a:p>
        </p:txBody>
      </p:sp>
      <p:sp>
        <p:nvSpPr>
          <p:cNvPr id="19459" name="頁尾版面配置區 3"/>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19460" name="投影片編號版面配置區 4"/>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E4E82996-01D4-4F26-A2E8-619E79F075C2}" type="slidenum">
              <a:rPr kumimoji="0" lang="zh-TW" altLang="en-US" sz="1400" smtClean="0"/>
              <a:pPr eaLnBrk="1" hangingPunct="1"/>
              <a:t>20</a:t>
            </a:fld>
            <a:endParaRPr kumimoji="0" lang="en-US" altLang="zh-TW" sz="1400" smtClean="0"/>
          </a:p>
        </p:txBody>
      </p:sp>
      <p:sp>
        <p:nvSpPr>
          <p:cNvPr id="19461" name="Rectangle 2"/>
          <p:cNvSpPr>
            <a:spLocks noGrp="1" noChangeArrowheads="1"/>
          </p:cNvSpPr>
          <p:nvPr>
            <p:ph type="title"/>
          </p:nvPr>
        </p:nvSpPr>
        <p:spPr>
          <a:xfrm>
            <a:off x="609600" y="304800"/>
            <a:ext cx="7772400" cy="909638"/>
          </a:xfrm>
        </p:spPr>
        <p:txBody>
          <a:bodyPr/>
          <a:lstStyle/>
          <a:p>
            <a:pPr eaLnBrk="1" hangingPunct="1"/>
            <a:r>
              <a:rPr lang="en-US" altLang="zh-TW" smtClean="0"/>
              <a:t>C-SCAN (2)</a:t>
            </a:r>
          </a:p>
        </p:txBody>
      </p:sp>
      <p:pic>
        <p:nvPicPr>
          <p:cNvPr id="19462" name="Picture 3"/>
          <p:cNvPicPr>
            <a:picLocks noChangeAspect="1" noChangeArrowheads="1"/>
          </p:cNvPicPr>
          <p:nvPr/>
        </p:nvPicPr>
        <p:blipFill>
          <a:blip r:embed="rId3">
            <a:extLst>
              <a:ext uri="{28A0092B-C50C-407E-A947-70E740481C1C}">
                <a14:useLocalDpi xmlns:a14="http://schemas.microsoft.com/office/drawing/2010/main" val="0"/>
              </a:ext>
            </a:extLst>
          </a:blip>
          <a:srcRect l="690" t="7787" r="714" b="7481"/>
          <a:stretch>
            <a:fillRect/>
          </a:stretch>
        </p:blipFill>
        <p:spPr bwMode="auto">
          <a:xfrm>
            <a:off x="565150" y="1382713"/>
            <a:ext cx="7275513" cy="5000625"/>
          </a:xfrm>
          <a:prstGeom prst="rect">
            <a:avLst/>
          </a:prstGeom>
          <a:noFill/>
          <a:ln w="57150" cmpd="thickThin">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66370E4E-190B-485B-9AED-2BB1E71BA1AF}" type="datetime1">
              <a:rPr kumimoji="0" lang="zh-TW" altLang="en-US" sz="1400" smtClean="0"/>
              <a:t>2018/5/4</a:t>
            </a:fld>
            <a:endParaRPr kumimoji="0" lang="en-US" altLang="zh-TW" sz="1400" smtClean="0"/>
          </a:p>
        </p:txBody>
      </p:sp>
      <p:sp>
        <p:nvSpPr>
          <p:cNvPr id="20483"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20484"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A288F7B1-08DE-42BF-84D4-58765B81A205}" type="slidenum">
              <a:rPr kumimoji="0" lang="zh-TW" altLang="en-US" sz="1400" smtClean="0"/>
              <a:pPr eaLnBrk="1" hangingPunct="1"/>
              <a:t>21</a:t>
            </a:fld>
            <a:endParaRPr kumimoji="0" lang="en-US" altLang="zh-TW" sz="1400" smtClean="0"/>
          </a:p>
        </p:txBody>
      </p:sp>
      <p:sp>
        <p:nvSpPr>
          <p:cNvPr id="20485" name="Rectangle 2"/>
          <p:cNvSpPr>
            <a:spLocks noGrp="1" noChangeArrowheads="1"/>
          </p:cNvSpPr>
          <p:nvPr>
            <p:ph type="title"/>
          </p:nvPr>
        </p:nvSpPr>
        <p:spPr/>
        <p:txBody>
          <a:bodyPr/>
          <a:lstStyle/>
          <a:p>
            <a:pPr eaLnBrk="1" hangingPunct="1"/>
            <a:r>
              <a:rPr lang="en-US" altLang="zh-TW" smtClean="0"/>
              <a:t>C-LOOK (1)</a:t>
            </a:r>
          </a:p>
        </p:txBody>
      </p:sp>
      <p:sp>
        <p:nvSpPr>
          <p:cNvPr id="20486" name="Rectangle 3" descr="Rectangle: Click to edit Master text styles&#10;Second level&#10;Third level&#10;Fourth level&#10;Fifth level"/>
          <p:cNvSpPr>
            <a:spLocks noGrp="1" noChangeArrowheads="1"/>
          </p:cNvSpPr>
          <p:nvPr>
            <p:ph type="body" idx="1"/>
          </p:nvPr>
        </p:nvSpPr>
        <p:spPr/>
        <p:txBody>
          <a:bodyPr/>
          <a:lstStyle/>
          <a:p>
            <a:pPr eaLnBrk="1" hangingPunct="1"/>
            <a:r>
              <a:rPr lang="en-US" altLang="zh-TW" smtClean="0"/>
              <a:t>Version of C-SCAN</a:t>
            </a:r>
          </a:p>
          <a:p>
            <a:pPr eaLnBrk="1" hangingPunct="1">
              <a:spcBef>
                <a:spcPct val="60000"/>
              </a:spcBef>
            </a:pPr>
            <a:r>
              <a:rPr lang="en-US" altLang="zh-TW" smtClean="0"/>
              <a:t>Arm only </a:t>
            </a:r>
            <a:r>
              <a:rPr lang="en-US" altLang="zh-TW" smtClean="0">
                <a:solidFill>
                  <a:srgbClr val="0000FF"/>
                </a:solidFill>
              </a:rPr>
              <a:t>goes as far as the last request in each direction</a:t>
            </a:r>
            <a:r>
              <a:rPr lang="en-US" altLang="zh-TW" smtClean="0"/>
              <a:t>, then reverses direction immediately, </a:t>
            </a:r>
            <a:r>
              <a:rPr lang="en-US" altLang="zh-TW" smtClean="0">
                <a:solidFill>
                  <a:srgbClr val="FF0000"/>
                </a:solidFill>
              </a:rPr>
              <a:t>without first going all the way to the end of the disk</a:t>
            </a:r>
            <a:r>
              <a:rPr lang="en-US" altLang="zh-TW" smtClean="0"/>
              <a:t>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版面配置區 2"/>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C9734132-4AE6-4098-B556-A04033721027}" type="datetime1">
              <a:rPr kumimoji="0" lang="zh-TW" altLang="en-US" sz="1400" smtClean="0"/>
              <a:t>2018/5/4</a:t>
            </a:fld>
            <a:endParaRPr kumimoji="0" lang="en-US" altLang="zh-TW" sz="1400" smtClean="0"/>
          </a:p>
        </p:txBody>
      </p:sp>
      <p:sp>
        <p:nvSpPr>
          <p:cNvPr id="21507" name="頁尾版面配置區 3"/>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21508" name="投影片編號版面配置區 4"/>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E25FD019-CE48-4845-9051-3740584ABCF0}" type="slidenum">
              <a:rPr kumimoji="0" lang="zh-TW" altLang="en-US" sz="1400" smtClean="0"/>
              <a:pPr eaLnBrk="1" hangingPunct="1"/>
              <a:t>22</a:t>
            </a:fld>
            <a:endParaRPr kumimoji="0" lang="en-US" altLang="zh-TW" sz="1400" smtClean="0"/>
          </a:p>
        </p:txBody>
      </p:sp>
      <p:sp>
        <p:nvSpPr>
          <p:cNvPr id="21509" name="Rectangle 2"/>
          <p:cNvSpPr>
            <a:spLocks noGrp="1" noChangeArrowheads="1"/>
          </p:cNvSpPr>
          <p:nvPr>
            <p:ph type="title"/>
          </p:nvPr>
        </p:nvSpPr>
        <p:spPr>
          <a:xfrm>
            <a:off x="609600" y="304800"/>
            <a:ext cx="7772400" cy="911225"/>
          </a:xfrm>
        </p:spPr>
        <p:txBody>
          <a:bodyPr/>
          <a:lstStyle/>
          <a:p>
            <a:pPr eaLnBrk="1" hangingPunct="1"/>
            <a:r>
              <a:rPr lang="en-US" altLang="zh-TW" smtClean="0"/>
              <a:t>C-LOOK (2)</a:t>
            </a:r>
          </a:p>
        </p:txBody>
      </p:sp>
      <p:pic>
        <p:nvPicPr>
          <p:cNvPr id="21510" name="Picture 3"/>
          <p:cNvPicPr>
            <a:picLocks noChangeAspect="1" noChangeArrowheads="1"/>
          </p:cNvPicPr>
          <p:nvPr/>
        </p:nvPicPr>
        <p:blipFill>
          <a:blip r:embed="rId3">
            <a:extLst>
              <a:ext uri="{28A0092B-C50C-407E-A947-70E740481C1C}">
                <a14:useLocalDpi xmlns:a14="http://schemas.microsoft.com/office/drawing/2010/main" val="0"/>
              </a:ext>
            </a:extLst>
          </a:blip>
          <a:srcRect l="894" t="7645" r="459" b="7677"/>
          <a:stretch>
            <a:fillRect/>
          </a:stretch>
        </p:blipFill>
        <p:spPr bwMode="auto">
          <a:xfrm>
            <a:off x="896938" y="1676400"/>
            <a:ext cx="6956425" cy="4778375"/>
          </a:xfrm>
          <a:prstGeom prst="rect">
            <a:avLst/>
          </a:prstGeom>
          <a:noFill/>
          <a:ln w="57150" cmpd="thickThin">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04" name="Oval 4"/>
          <p:cNvSpPr>
            <a:spLocks noChangeArrowheads="1"/>
          </p:cNvSpPr>
          <p:nvPr/>
        </p:nvSpPr>
        <p:spPr bwMode="auto">
          <a:xfrm>
            <a:off x="6843713" y="4956175"/>
            <a:ext cx="485775" cy="544513"/>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
        <p:nvSpPr>
          <p:cNvPr id="51207" name="Oval 7"/>
          <p:cNvSpPr>
            <a:spLocks noChangeArrowheads="1"/>
          </p:cNvSpPr>
          <p:nvPr/>
        </p:nvSpPr>
        <p:spPr bwMode="auto">
          <a:xfrm>
            <a:off x="1206500" y="5400675"/>
            <a:ext cx="485775" cy="544513"/>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04"/>
                                        </p:tgtEl>
                                        <p:attrNameLst>
                                          <p:attrName>style.visibility</p:attrName>
                                        </p:attrNameLst>
                                      </p:cBhvr>
                                      <p:to>
                                        <p:strVal val="visible"/>
                                      </p:to>
                                    </p:set>
                                    <p:animEffect transition="in" filter="blinds(horizontal)">
                                      <p:cBhvr>
                                        <p:cTn id="7" dur="500"/>
                                        <p:tgtEl>
                                          <p:spTgt spid="512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07"/>
                                        </p:tgtEl>
                                        <p:attrNameLst>
                                          <p:attrName>style.visibility</p:attrName>
                                        </p:attrNameLst>
                                      </p:cBhvr>
                                      <p:to>
                                        <p:strVal val="visible"/>
                                      </p:to>
                                    </p:set>
                                    <p:animEffect transition="in" filter="blinds(horizontal)">
                                      <p:cBhvr>
                                        <p:cTn id="12" dur="500"/>
                                        <p:tgtEl>
                                          <p:spTgt spid="51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animBg="1"/>
      <p:bldP spid="5120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1590C3DC-6752-4737-9593-6515E7F3B900}" type="datetime1">
              <a:rPr kumimoji="0" lang="zh-TW" altLang="en-US" sz="1400" smtClean="0"/>
              <a:t>2018/5/4</a:t>
            </a:fld>
            <a:endParaRPr kumimoji="0" lang="en-US" altLang="zh-TW" sz="1400" smtClean="0"/>
          </a:p>
        </p:txBody>
      </p:sp>
      <p:sp>
        <p:nvSpPr>
          <p:cNvPr id="22531"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22532"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563320EE-7CEB-4E1B-A21F-93F84A76F878}" type="slidenum">
              <a:rPr kumimoji="0" lang="zh-TW" altLang="en-US" sz="1400" smtClean="0"/>
              <a:pPr eaLnBrk="1" hangingPunct="1"/>
              <a:t>23</a:t>
            </a:fld>
            <a:endParaRPr kumimoji="0" lang="en-US" altLang="zh-TW" sz="1400" smtClean="0"/>
          </a:p>
        </p:txBody>
      </p:sp>
      <p:sp>
        <p:nvSpPr>
          <p:cNvPr id="22533" name="Rectangle 2"/>
          <p:cNvSpPr>
            <a:spLocks noGrp="1" noChangeArrowheads="1"/>
          </p:cNvSpPr>
          <p:nvPr>
            <p:ph type="title"/>
          </p:nvPr>
        </p:nvSpPr>
        <p:spPr>
          <a:xfrm>
            <a:off x="219075" y="377825"/>
            <a:ext cx="8439150" cy="687388"/>
          </a:xfrm>
        </p:spPr>
        <p:txBody>
          <a:bodyPr/>
          <a:lstStyle/>
          <a:p>
            <a:pPr eaLnBrk="1" hangingPunct="1"/>
            <a:r>
              <a:rPr lang="en-US" altLang="zh-TW" sz="3600" smtClean="0"/>
              <a:t>Selecting a Disk-Scheduling Algorithm (1)</a:t>
            </a:r>
          </a:p>
        </p:txBody>
      </p:sp>
      <p:sp>
        <p:nvSpPr>
          <p:cNvPr id="52227" name="Rectangle 3" descr="Rectangle: Click to edit Master text styles&#10;Second level&#10;Third level&#10;Fourth level&#10;Fifth level"/>
          <p:cNvSpPr>
            <a:spLocks noGrp="1" noChangeArrowheads="1"/>
          </p:cNvSpPr>
          <p:nvPr>
            <p:ph type="body" idx="1"/>
          </p:nvPr>
        </p:nvSpPr>
        <p:spPr>
          <a:xfrm>
            <a:off x="331788" y="1027113"/>
            <a:ext cx="8483600" cy="5275262"/>
          </a:xfrm>
        </p:spPr>
        <p:txBody>
          <a:bodyPr/>
          <a:lstStyle/>
          <a:p>
            <a:pPr eaLnBrk="1" hangingPunct="1">
              <a:lnSpc>
                <a:spcPct val="90000"/>
              </a:lnSpc>
            </a:pPr>
            <a:r>
              <a:rPr lang="en-US" altLang="zh-TW" smtClean="0">
                <a:solidFill>
                  <a:srgbClr val="FF0000"/>
                </a:solidFill>
              </a:rPr>
              <a:t>SSTF</a:t>
            </a:r>
            <a:r>
              <a:rPr lang="en-US" altLang="zh-TW" smtClean="0"/>
              <a:t> is common and has a natural appeal</a:t>
            </a:r>
          </a:p>
          <a:p>
            <a:pPr eaLnBrk="1" hangingPunct="1">
              <a:lnSpc>
                <a:spcPct val="90000"/>
              </a:lnSpc>
              <a:spcBef>
                <a:spcPct val="60000"/>
              </a:spcBef>
            </a:pPr>
            <a:r>
              <a:rPr lang="en-US" altLang="zh-TW" smtClean="0"/>
              <a:t>SCAN and C-SCAN</a:t>
            </a:r>
          </a:p>
          <a:p>
            <a:pPr lvl="1" eaLnBrk="1" hangingPunct="1">
              <a:lnSpc>
                <a:spcPct val="90000"/>
              </a:lnSpc>
            </a:pPr>
            <a:r>
              <a:rPr lang="en-US" altLang="zh-TW" smtClean="0">
                <a:solidFill>
                  <a:srgbClr val="0000FF"/>
                </a:solidFill>
              </a:rPr>
              <a:t>perform better</a:t>
            </a:r>
            <a:r>
              <a:rPr lang="en-US" altLang="zh-TW" smtClean="0"/>
              <a:t> for disks with </a:t>
            </a:r>
            <a:r>
              <a:rPr lang="en-US" altLang="zh-TW" smtClean="0">
                <a:solidFill>
                  <a:srgbClr val="FF0000"/>
                </a:solidFill>
              </a:rPr>
              <a:t>heavy load</a:t>
            </a:r>
          </a:p>
          <a:p>
            <a:pPr lvl="1" eaLnBrk="1" hangingPunct="1">
              <a:lnSpc>
                <a:spcPct val="90000"/>
              </a:lnSpc>
            </a:pPr>
            <a:r>
              <a:rPr lang="en-US" altLang="zh-TW" smtClean="0">
                <a:solidFill>
                  <a:srgbClr val="FF0000"/>
                </a:solidFill>
              </a:rPr>
              <a:t>no starvation</a:t>
            </a:r>
            <a:r>
              <a:rPr lang="en-US" altLang="zh-TW" smtClean="0"/>
              <a:t> problem</a:t>
            </a:r>
          </a:p>
          <a:p>
            <a:pPr eaLnBrk="1" hangingPunct="1">
              <a:lnSpc>
                <a:spcPct val="90000"/>
              </a:lnSpc>
              <a:spcBef>
                <a:spcPct val="60000"/>
              </a:spcBef>
            </a:pPr>
            <a:r>
              <a:rPr lang="en-US" altLang="zh-TW" smtClean="0"/>
              <a:t>Requests for disk services can be greatly influenced </a:t>
            </a:r>
            <a:r>
              <a:rPr lang="en-US" altLang="zh-TW" smtClean="0">
                <a:solidFill>
                  <a:srgbClr val="0000FF"/>
                </a:solidFill>
              </a:rPr>
              <a:t>by the file-allocation method</a:t>
            </a:r>
          </a:p>
          <a:p>
            <a:pPr lvl="1" eaLnBrk="1" hangingPunct="1">
              <a:lnSpc>
                <a:spcPct val="90000"/>
              </a:lnSpc>
            </a:pPr>
            <a:r>
              <a:rPr lang="en-US" altLang="zh-TW" smtClean="0"/>
              <a:t>requests to a </a:t>
            </a:r>
            <a:r>
              <a:rPr lang="en-US" altLang="zh-TW" smtClean="0">
                <a:solidFill>
                  <a:srgbClr val="FF0000"/>
                </a:solidFill>
              </a:rPr>
              <a:t>contiguously allocated</a:t>
            </a:r>
            <a:r>
              <a:rPr lang="en-US" altLang="zh-TW" smtClean="0"/>
              <a:t> file</a:t>
            </a:r>
          </a:p>
          <a:p>
            <a:pPr lvl="2" eaLnBrk="1" hangingPunct="1">
              <a:lnSpc>
                <a:spcPct val="90000"/>
              </a:lnSpc>
            </a:pPr>
            <a:r>
              <a:rPr lang="en-US" altLang="zh-TW" smtClean="0">
                <a:solidFill>
                  <a:srgbClr val="FF0000"/>
                </a:solidFill>
              </a:rPr>
              <a:t>small</a:t>
            </a:r>
            <a:r>
              <a:rPr lang="en-US" altLang="zh-TW" smtClean="0"/>
              <a:t> head movements</a:t>
            </a:r>
          </a:p>
          <a:p>
            <a:pPr lvl="1" eaLnBrk="1" hangingPunct="1">
              <a:lnSpc>
                <a:spcPct val="90000"/>
              </a:lnSpc>
              <a:spcBef>
                <a:spcPct val="50000"/>
              </a:spcBef>
            </a:pPr>
            <a:r>
              <a:rPr lang="en-US" altLang="zh-TW" smtClean="0"/>
              <a:t>requests to a linked or indexed file</a:t>
            </a:r>
          </a:p>
          <a:p>
            <a:pPr lvl="2" eaLnBrk="1" hangingPunct="1">
              <a:lnSpc>
                <a:spcPct val="90000"/>
              </a:lnSpc>
            </a:pPr>
            <a:r>
              <a:rPr lang="en-US" altLang="zh-TW" smtClean="0">
                <a:solidFill>
                  <a:srgbClr val="FF0000"/>
                </a:solidFill>
              </a:rPr>
              <a:t>greater head movements</a:t>
            </a:r>
          </a:p>
        </p:txBody>
      </p:sp>
      <p:sp>
        <p:nvSpPr>
          <p:cNvPr id="52228" name="Text Box 4"/>
          <p:cNvSpPr txBox="1">
            <a:spLocks noChangeArrowheads="1"/>
          </p:cNvSpPr>
          <p:nvPr/>
        </p:nvSpPr>
        <p:spPr bwMode="auto">
          <a:xfrm>
            <a:off x="5986463" y="1479550"/>
            <a:ext cx="2241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a:solidFill>
                  <a:srgbClr val="FF0000"/>
                </a:solidFill>
              </a:rPr>
              <a:t>but not optimal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Effect transition="in" filter="blinds(horizontal)">
                                      <p:cBhvr>
                                        <p:cTn id="7" dur="500"/>
                                        <p:tgtEl>
                                          <p:spTgt spid="522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2228"/>
                                        </p:tgtEl>
                                        <p:attrNameLst>
                                          <p:attrName>style.visibility</p:attrName>
                                        </p:attrNameLst>
                                      </p:cBhvr>
                                      <p:to>
                                        <p:strVal val="visible"/>
                                      </p:to>
                                    </p:set>
                                    <p:animEffect transition="in" filter="blinds(horizontal)">
                                      <p:cBhvr>
                                        <p:cTn id="12" dur="500"/>
                                        <p:tgtEl>
                                          <p:spTgt spid="522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2227">
                                            <p:txEl>
                                              <p:pRg st="1" end="1"/>
                                            </p:txEl>
                                          </p:spTgt>
                                        </p:tgtEl>
                                        <p:attrNameLst>
                                          <p:attrName>style.visibility</p:attrName>
                                        </p:attrNameLst>
                                      </p:cBhvr>
                                      <p:to>
                                        <p:strVal val="visible"/>
                                      </p:to>
                                    </p:set>
                                    <p:animEffect transition="in" filter="blinds(horizontal)">
                                      <p:cBhvr>
                                        <p:cTn id="17" dur="500"/>
                                        <p:tgtEl>
                                          <p:spTgt spid="5222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2227">
                                            <p:txEl>
                                              <p:pRg st="2" end="2"/>
                                            </p:txEl>
                                          </p:spTgt>
                                        </p:tgtEl>
                                        <p:attrNameLst>
                                          <p:attrName>style.visibility</p:attrName>
                                        </p:attrNameLst>
                                      </p:cBhvr>
                                      <p:to>
                                        <p:strVal val="visible"/>
                                      </p:to>
                                    </p:set>
                                    <p:animEffect transition="in" filter="blinds(horizontal)">
                                      <p:cBhvr>
                                        <p:cTn id="22" dur="500"/>
                                        <p:tgtEl>
                                          <p:spTgt spid="5222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2227">
                                            <p:txEl>
                                              <p:pRg st="3" end="3"/>
                                            </p:txEl>
                                          </p:spTgt>
                                        </p:tgtEl>
                                        <p:attrNameLst>
                                          <p:attrName>style.visibility</p:attrName>
                                        </p:attrNameLst>
                                      </p:cBhvr>
                                      <p:to>
                                        <p:strVal val="visible"/>
                                      </p:to>
                                    </p:set>
                                    <p:animEffect transition="in" filter="blinds(horizontal)">
                                      <p:cBhvr>
                                        <p:cTn id="27" dur="500"/>
                                        <p:tgtEl>
                                          <p:spTgt spid="52227">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2227">
                                            <p:txEl>
                                              <p:pRg st="4" end="4"/>
                                            </p:txEl>
                                          </p:spTgt>
                                        </p:tgtEl>
                                        <p:attrNameLst>
                                          <p:attrName>style.visibility</p:attrName>
                                        </p:attrNameLst>
                                      </p:cBhvr>
                                      <p:to>
                                        <p:strVal val="visible"/>
                                      </p:to>
                                    </p:set>
                                    <p:animEffect transition="in" filter="blinds(horizontal)">
                                      <p:cBhvr>
                                        <p:cTn id="32" dur="500"/>
                                        <p:tgtEl>
                                          <p:spTgt spid="52227">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2227">
                                            <p:txEl>
                                              <p:pRg st="5" end="5"/>
                                            </p:txEl>
                                          </p:spTgt>
                                        </p:tgtEl>
                                        <p:attrNameLst>
                                          <p:attrName>style.visibility</p:attrName>
                                        </p:attrNameLst>
                                      </p:cBhvr>
                                      <p:to>
                                        <p:strVal val="visible"/>
                                      </p:to>
                                    </p:set>
                                    <p:animEffect transition="in" filter="blinds(horizontal)">
                                      <p:cBhvr>
                                        <p:cTn id="37" dur="500"/>
                                        <p:tgtEl>
                                          <p:spTgt spid="52227">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2227">
                                            <p:txEl>
                                              <p:pRg st="6" end="6"/>
                                            </p:txEl>
                                          </p:spTgt>
                                        </p:tgtEl>
                                        <p:attrNameLst>
                                          <p:attrName>style.visibility</p:attrName>
                                        </p:attrNameLst>
                                      </p:cBhvr>
                                      <p:to>
                                        <p:strVal val="visible"/>
                                      </p:to>
                                    </p:set>
                                    <p:animEffect transition="in" filter="blinds(horizontal)">
                                      <p:cBhvr>
                                        <p:cTn id="42" dur="500"/>
                                        <p:tgtEl>
                                          <p:spTgt spid="52227">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52227">
                                            <p:txEl>
                                              <p:pRg st="7" end="7"/>
                                            </p:txEl>
                                          </p:spTgt>
                                        </p:tgtEl>
                                        <p:attrNameLst>
                                          <p:attrName>style.visibility</p:attrName>
                                        </p:attrNameLst>
                                      </p:cBhvr>
                                      <p:to>
                                        <p:strVal val="visible"/>
                                      </p:to>
                                    </p:set>
                                    <p:animEffect transition="in" filter="blinds(horizontal)">
                                      <p:cBhvr>
                                        <p:cTn id="47" dur="500"/>
                                        <p:tgtEl>
                                          <p:spTgt spid="52227">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52227">
                                            <p:txEl>
                                              <p:pRg st="8" end="8"/>
                                            </p:txEl>
                                          </p:spTgt>
                                        </p:tgtEl>
                                        <p:attrNameLst>
                                          <p:attrName>style.visibility</p:attrName>
                                        </p:attrNameLst>
                                      </p:cBhvr>
                                      <p:to>
                                        <p:strVal val="visible"/>
                                      </p:to>
                                    </p:set>
                                    <p:animEffect transition="in" filter="blinds(horizontal)">
                                      <p:cBhvr>
                                        <p:cTn id="52" dur="500"/>
                                        <p:tgtEl>
                                          <p:spTgt spid="5222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0497A009-B422-4F64-B98D-013DD422F1FE}" type="datetime1">
              <a:rPr kumimoji="0" lang="zh-TW" altLang="en-US" sz="1400" smtClean="0"/>
              <a:t>2018/5/4</a:t>
            </a:fld>
            <a:endParaRPr kumimoji="0" lang="en-US" altLang="zh-TW" sz="1400" smtClean="0"/>
          </a:p>
        </p:txBody>
      </p:sp>
      <p:sp>
        <p:nvSpPr>
          <p:cNvPr id="23555"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23556"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119DC372-D4AB-40AA-A66A-7BE2ACD7CD8A}" type="slidenum">
              <a:rPr kumimoji="0" lang="zh-TW" altLang="en-US" sz="1400" smtClean="0"/>
              <a:pPr eaLnBrk="1" hangingPunct="1"/>
              <a:t>24</a:t>
            </a:fld>
            <a:endParaRPr kumimoji="0" lang="en-US" altLang="zh-TW" sz="1400" smtClean="0"/>
          </a:p>
        </p:txBody>
      </p:sp>
      <p:sp>
        <p:nvSpPr>
          <p:cNvPr id="23557" name="Rectangle 2"/>
          <p:cNvSpPr>
            <a:spLocks noGrp="1" noChangeArrowheads="1"/>
          </p:cNvSpPr>
          <p:nvPr>
            <p:ph type="title"/>
          </p:nvPr>
        </p:nvSpPr>
        <p:spPr>
          <a:xfrm>
            <a:off x="304800" y="257175"/>
            <a:ext cx="8513763" cy="679450"/>
          </a:xfrm>
        </p:spPr>
        <p:txBody>
          <a:bodyPr/>
          <a:lstStyle/>
          <a:p>
            <a:pPr eaLnBrk="1" hangingPunct="1"/>
            <a:r>
              <a:rPr lang="en-US" altLang="zh-TW" sz="3600" smtClean="0"/>
              <a:t>Selecting a Disk-Scheduling Algorithm (2)</a:t>
            </a:r>
          </a:p>
        </p:txBody>
      </p:sp>
      <p:sp>
        <p:nvSpPr>
          <p:cNvPr id="103427" name="Rectangle 3" descr="Rectangle: Click to edit Master text styles&#10;Second level&#10;Third level&#10;Fourth level&#10;Fifth level"/>
          <p:cNvSpPr>
            <a:spLocks noGrp="1" noChangeArrowheads="1"/>
          </p:cNvSpPr>
          <p:nvPr>
            <p:ph type="body" idx="1"/>
          </p:nvPr>
        </p:nvSpPr>
        <p:spPr>
          <a:xfrm>
            <a:off x="244475" y="960438"/>
            <a:ext cx="8601075" cy="5291137"/>
          </a:xfrm>
        </p:spPr>
        <p:txBody>
          <a:bodyPr/>
          <a:lstStyle/>
          <a:p>
            <a:pPr eaLnBrk="1" hangingPunct="1">
              <a:lnSpc>
                <a:spcPct val="90000"/>
              </a:lnSpc>
            </a:pPr>
            <a:r>
              <a:rPr lang="en-US" altLang="zh-TW" sz="2800" smtClean="0">
                <a:solidFill>
                  <a:srgbClr val="0000FF"/>
                </a:solidFill>
              </a:rPr>
              <a:t>Location</a:t>
            </a:r>
            <a:r>
              <a:rPr lang="en-US" altLang="zh-TW" sz="2800" smtClean="0">
                <a:solidFill>
                  <a:srgbClr val="FF0000"/>
                </a:solidFill>
              </a:rPr>
              <a:t> </a:t>
            </a:r>
            <a:r>
              <a:rPr lang="en-US" altLang="zh-TW" sz="2800" smtClean="0"/>
              <a:t>of</a:t>
            </a:r>
            <a:r>
              <a:rPr lang="en-US" altLang="zh-TW" sz="2800" smtClean="0">
                <a:solidFill>
                  <a:srgbClr val="FF0000"/>
                </a:solidFill>
              </a:rPr>
              <a:t> </a:t>
            </a:r>
            <a:r>
              <a:rPr lang="en-US" altLang="zh-TW" sz="2800" smtClean="0">
                <a:solidFill>
                  <a:srgbClr val="0000FF"/>
                </a:solidFill>
              </a:rPr>
              <a:t>directories and index blocks</a:t>
            </a:r>
            <a:r>
              <a:rPr lang="en-US" altLang="zh-TW" sz="2800" smtClean="0"/>
              <a:t> is important</a:t>
            </a:r>
          </a:p>
          <a:p>
            <a:pPr lvl="1" eaLnBrk="1" hangingPunct="1">
              <a:lnSpc>
                <a:spcPct val="90000"/>
              </a:lnSpc>
            </a:pPr>
            <a:r>
              <a:rPr lang="en-US" altLang="zh-TW" sz="2400" smtClean="0"/>
              <a:t>They are required frequently</a:t>
            </a:r>
          </a:p>
          <a:p>
            <a:pPr lvl="1" eaLnBrk="1" hangingPunct="1">
              <a:lnSpc>
                <a:spcPct val="90000"/>
              </a:lnSpc>
            </a:pPr>
            <a:r>
              <a:rPr lang="en-US" altLang="zh-TW" sz="2400" smtClean="0">
                <a:solidFill>
                  <a:srgbClr val="0000FF"/>
                </a:solidFill>
              </a:rPr>
              <a:t>Put directory on the middle cylinder</a:t>
            </a:r>
          </a:p>
          <a:p>
            <a:pPr lvl="2" eaLnBrk="1" hangingPunct="1">
              <a:lnSpc>
                <a:spcPct val="90000"/>
              </a:lnSpc>
            </a:pPr>
            <a:r>
              <a:rPr lang="en-US" altLang="zh-TW" sz="2000" smtClean="0"/>
              <a:t>one-half the width in the worst case</a:t>
            </a:r>
          </a:p>
          <a:p>
            <a:pPr lvl="1" eaLnBrk="1" hangingPunct="1">
              <a:lnSpc>
                <a:spcPct val="90000"/>
              </a:lnSpc>
            </a:pPr>
            <a:r>
              <a:rPr lang="en-US" altLang="zh-TW" sz="2400" smtClean="0">
                <a:solidFill>
                  <a:srgbClr val="FF0000"/>
                </a:solidFill>
              </a:rPr>
              <a:t>Cache</a:t>
            </a:r>
            <a:r>
              <a:rPr lang="en-US" altLang="zh-TW" sz="2400" smtClean="0"/>
              <a:t> the directories and index blocks </a:t>
            </a:r>
            <a:r>
              <a:rPr lang="en-US" altLang="zh-TW" sz="2400" smtClean="0">
                <a:solidFill>
                  <a:srgbClr val="FF0000"/>
                </a:solidFill>
              </a:rPr>
              <a:t>in memory</a:t>
            </a:r>
          </a:p>
          <a:p>
            <a:pPr eaLnBrk="1" hangingPunct="1">
              <a:lnSpc>
                <a:spcPct val="90000"/>
              </a:lnSpc>
              <a:spcBef>
                <a:spcPct val="60000"/>
              </a:spcBef>
            </a:pPr>
            <a:r>
              <a:rPr lang="en-US" altLang="zh-TW" sz="2800" smtClean="0"/>
              <a:t>For modern disks </a:t>
            </a:r>
          </a:p>
          <a:p>
            <a:pPr lvl="1" eaLnBrk="1" hangingPunct="1">
              <a:lnSpc>
                <a:spcPct val="90000"/>
              </a:lnSpc>
            </a:pPr>
            <a:r>
              <a:rPr lang="en-US" altLang="zh-TW" sz="2400" smtClean="0">
                <a:solidFill>
                  <a:srgbClr val="0000FF"/>
                </a:solidFill>
              </a:rPr>
              <a:t>rotational latency is nearly as large as seek time</a:t>
            </a:r>
          </a:p>
          <a:p>
            <a:pPr lvl="1" eaLnBrk="1" hangingPunct="1">
              <a:lnSpc>
                <a:spcPct val="90000"/>
              </a:lnSpc>
            </a:pPr>
            <a:r>
              <a:rPr lang="en-US" altLang="zh-TW" sz="2400" smtClean="0">
                <a:solidFill>
                  <a:srgbClr val="9933FF"/>
                </a:solidFill>
              </a:rPr>
              <a:t>not disclosing the physical location of logical blocks, </a:t>
            </a:r>
            <a:r>
              <a:rPr lang="en-US" altLang="zh-TW" sz="2400" smtClean="0"/>
              <a:t>manufacturers </a:t>
            </a:r>
            <a:r>
              <a:rPr lang="en-US" altLang="zh-TW" sz="2400" smtClean="0">
                <a:solidFill>
                  <a:srgbClr val="FF0000"/>
                </a:solidFill>
              </a:rPr>
              <a:t>implement disk-scheduling in controller</a:t>
            </a:r>
          </a:p>
          <a:p>
            <a:pPr lvl="1" eaLnBrk="1" hangingPunct="1">
              <a:lnSpc>
                <a:spcPct val="90000"/>
              </a:lnSpc>
            </a:pPr>
            <a:r>
              <a:rPr lang="en-US" altLang="zh-TW" sz="2400" smtClean="0">
                <a:solidFill>
                  <a:srgbClr val="0000FF"/>
                </a:solidFill>
              </a:rPr>
              <a:t>OS does not need to schedule disk requests</a:t>
            </a:r>
          </a:p>
          <a:p>
            <a:pPr lvl="1" eaLnBrk="1" hangingPunct="1">
              <a:lnSpc>
                <a:spcPct val="90000"/>
              </a:lnSpc>
            </a:pPr>
            <a:r>
              <a:rPr lang="en-US" altLang="zh-TW" sz="2400" smtClean="0"/>
              <a:t>To guarantee an </a:t>
            </a:r>
            <a:r>
              <a:rPr lang="en-US" altLang="zh-TW" sz="2400" smtClean="0">
                <a:solidFill>
                  <a:srgbClr val="FF0000"/>
                </a:solidFill>
              </a:rPr>
              <a:t>order of requests</a:t>
            </a:r>
            <a:r>
              <a:rPr lang="en-US" altLang="zh-TW" sz="2400" smtClean="0"/>
              <a:t>, OS should </a:t>
            </a:r>
            <a:r>
              <a:rPr lang="en-US" altLang="zh-TW" sz="2400" smtClean="0">
                <a:latin typeface="Times New Roman" pitchFamily="18" charset="0"/>
              </a:rPr>
              <a:t>“</a:t>
            </a:r>
            <a:r>
              <a:rPr lang="en-US" altLang="zh-TW" sz="2400" smtClean="0">
                <a:solidFill>
                  <a:srgbClr val="FF0000"/>
                </a:solidFill>
              </a:rPr>
              <a:t>spoon-feed</a:t>
            </a:r>
            <a:r>
              <a:rPr lang="en-US" altLang="zh-TW" sz="2400" smtClean="0">
                <a:latin typeface="Times New Roman" pitchFamily="18" charset="0"/>
              </a:rPr>
              <a:t>”</a:t>
            </a:r>
            <a:r>
              <a:rPr lang="en-US" altLang="zh-TW" sz="2400" smtClean="0"/>
              <a:t> the controller, one-by-one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animEffect transition="in" filter="blinds(horizontal)">
                                      <p:cBhvr>
                                        <p:cTn id="7" dur="500"/>
                                        <p:tgtEl>
                                          <p:spTgt spid="1034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3427">
                                            <p:txEl>
                                              <p:pRg st="1" end="1"/>
                                            </p:txEl>
                                          </p:spTgt>
                                        </p:tgtEl>
                                        <p:attrNameLst>
                                          <p:attrName>style.visibility</p:attrName>
                                        </p:attrNameLst>
                                      </p:cBhvr>
                                      <p:to>
                                        <p:strVal val="visible"/>
                                      </p:to>
                                    </p:set>
                                    <p:animEffect transition="in" filter="blinds(horizontal)">
                                      <p:cBhvr>
                                        <p:cTn id="12" dur="500"/>
                                        <p:tgtEl>
                                          <p:spTgt spid="1034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03427">
                                            <p:txEl>
                                              <p:pRg st="2" end="2"/>
                                            </p:txEl>
                                          </p:spTgt>
                                        </p:tgtEl>
                                        <p:attrNameLst>
                                          <p:attrName>style.visibility</p:attrName>
                                        </p:attrNameLst>
                                      </p:cBhvr>
                                      <p:to>
                                        <p:strVal val="visible"/>
                                      </p:to>
                                    </p:set>
                                    <p:animEffect transition="in" filter="blinds(horizontal)">
                                      <p:cBhvr>
                                        <p:cTn id="17" dur="500"/>
                                        <p:tgtEl>
                                          <p:spTgt spid="1034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03427">
                                            <p:txEl>
                                              <p:pRg st="3" end="3"/>
                                            </p:txEl>
                                          </p:spTgt>
                                        </p:tgtEl>
                                        <p:attrNameLst>
                                          <p:attrName>style.visibility</p:attrName>
                                        </p:attrNameLst>
                                      </p:cBhvr>
                                      <p:to>
                                        <p:strVal val="visible"/>
                                      </p:to>
                                    </p:set>
                                    <p:animEffect transition="in" filter="blinds(horizontal)">
                                      <p:cBhvr>
                                        <p:cTn id="22" dur="500"/>
                                        <p:tgtEl>
                                          <p:spTgt spid="1034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03427">
                                            <p:txEl>
                                              <p:pRg st="4" end="4"/>
                                            </p:txEl>
                                          </p:spTgt>
                                        </p:tgtEl>
                                        <p:attrNameLst>
                                          <p:attrName>style.visibility</p:attrName>
                                        </p:attrNameLst>
                                      </p:cBhvr>
                                      <p:to>
                                        <p:strVal val="visible"/>
                                      </p:to>
                                    </p:set>
                                    <p:animEffect transition="in" filter="blinds(horizontal)">
                                      <p:cBhvr>
                                        <p:cTn id="27" dur="500"/>
                                        <p:tgtEl>
                                          <p:spTgt spid="10342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03427">
                                            <p:txEl>
                                              <p:pRg st="5" end="5"/>
                                            </p:txEl>
                                          </p:spTgt>
                                        </p:tgtEl>
                                        <p:attrNameLst>
                                          <p:attrName>style.visibility</p:attrName>
                                        </p:attrNameLst>
                                      </p:cBhvr>
                                      <p:to>
                                        <p:strVal val="visible"/>
                                      </p:to>
                                    </p:set>
                                    <p:animEffect transition="in" filter="blinds(horizontal)">
                                      <p:cBhvr>
                                        <p:cTn id="32" dur="500"/>
                                        <p:tgtEl>
                                          <p:spTgt spid="10342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03427">
                                            <p:txEl>
                                              <p:pRg st="6" end="6"/>
                                            </p:txEl>
                                          </p:spTgt>
                                        </p:tgtEl>
                                        <p:attrNameLst>
                                          <p:attrName>style.visibility</p:attrName>
                                        </p:attrNameLst>
                                      </p:cBhvr>
                                      <p:to>
                                        <p:strVal val="visible"/>
                                      </p:to>
                                    </p:set>
                                    <p:animEffect transition="in" filter="blinds(horizontal)">
                                      <p:cBhvr>
                                        <p:cTn id="37" dur="500"/>
                                        <p:tgtEl>
                                          <p:spTgt spid="10342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03427">
                                            <p:txEl>
                                              <p:pRg st="7" end="7"/>
                                            </p:txEl>
                                          </p:spTgt>
                                        </p:tgtEl>
                                        <p:attrNameLst>
                                          <p:attrName>style.visibility</p:attrName>
                                        </p:attrNameLst>
                                      </p:cBhvr>
                                      <p:to>
                                        <p:strVal val="visible"/>
                                      </p:to>
                                    </p:set>
                                    <p:animEffect transition="in" filter="blinds(horizontal)">
                                      <p:cBhvr>
                                        <p:cTn id="42" dur="500"/>
                                        <p:tgtEl>
                                          <p:spTgt spid="103427">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03427">
                                            <p:txEl>
                                              <p:pRg st="8" end="8"/>
                                            </p:txEl>
                                          </p:spTgt>
                                        </p:tgtEl>
                                        <p:attrNameLst>
                                          <p:attrName>style.visibility</p:attrName>
                                        </p:attrNameLst>
                                      </p:cBhvr>
                                      <p:to>
                                        <p:strVal val="visible"/>
                                      </p:to>
                                    </p:set>
                                    <p:animEffect transition="in" filter="blinds(horizontal)">
                                      <p:cBhvr>
                                        <p:cTn id="47" dur="500"/>
                                        <p:tgtEl>
                                          <p:spTgt spid="103427">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103427">
                                            <p:txEl>
                                              <p:pRg st="9" end="9"/>
                                            </p:txEl>
                                          </p:spTgt>
                                        </p:tgtEl>
                                        <p:attrNameLst>
                                          <p:attrName>style.visibility</p:attrName>
                                        </p:attrNameLst>
                                      </p:cBhvr>
                                      <p:to>
                                        <p:strVal val="visible"/>
                                      </p:to>
                                    </p:set>
                                    <p:animEffect transition="in" filter="blinds(horizontal)">
                                      <p:cBhvr>
                                        <p:cTn id="52" dur="500"/>
                                        <p:tgtEl>
                                          <p:spTgt spid="10342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E6D5FC75-CBA2-4C62-BAD3-FFF026208DA7}" type="datetime1">
              <a:rPr kumimoji="0" lang="zh-TW" altLang="en-US" sz="1400" smtClean="0"/>
              <a:t>2018/5/4</a:t>
            </a:fld>
            <a:endParaRPr kumimoji="0" lang="en-US" altLang="zh-TW" sz="1400" smtClean="0"/>
          </a:p>
        </p:txBody>
      </p:sp>
      <p:sp>
        <p:nvSpPr>
          <p:cNvPr id="24579"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24580"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CA3DD460-997F-4B1E-8A1A-8DA460E6C341}" type="slidenum">
              <a:rPr kumimoji="0" lang="zh-TW" altLang="en-US" sz="1400" smtClean="0"/>
              <a:pPr eaLnBrk="1" hangingPunct="1"/>
              <a:t>25</a:t>
            </a:fld>
            <a:endParaRPr kumimoji="0" lang="en-US" altLang="zh-TW" sz="1400" smtClean="0"/>
          </a:p>
        </p:txBody>
      </p:sp>
      <p:sp>
        <p:nvSpPr>
          <p:cNvPr id="24581" name="Rectangle 2"/>
          <p:cNvSpPr>
            <a:spLocks noGrp="1" noChangeArrowheads="1"/>
          </p:cNvSpPr>
          <p:nvPr>
            <p:ph type="title"/>
          </p:nvPr>
        </p:nvSpPr>
        <p:spPr>
          <a:xfrm>
            <a:off x="609600" y="304800"/>
            <a:ext cx="7772400" cy="765175"/>
          </a:xfrm>
        </p:spPr>
        <p:txBody>
          <a:bodyPr/>
          <a:lstStyle/>
          <a:p>
            <a:pPr eaLnBrk="1" hangingPunct="1"/>
            <a:r>
              <a:rPr lang="en-US" altLang="zh-TW" smtClean="0"/>
              <a:t>Disk </a:t>
            </a:r>
            <a:r>
              <a:rPr lang="en-US" altLang="zh-TW" smtClean="0">
                <a:solidFill>
                  <a:srgbClr val="FF0000"/>
                </a:solidFill>
              </a:rPr>
              <a:t>Management</a:t>
            </a:r>
          </a:p>
        </p:txBody>
      </p:sp>
      <p:sp>
        <p:nvSpPr>
          <p:cNvPr id="53251" name="Rectangle 3" descr="Rectangle: Click to edit Master text styles&#10;Second level&#10;Third level&#10;Fourth level&#10;Fifth level"/>
          <p:cNvSpPr>
            <a:spLocks noGrp="1" noChangeArrowheads="1"/>
          </p:cNvSpPr>
          <p:nvPr>
            <p:ph type="body" idx="1"/>
          </p:nvPr>
        </p:nvSpPr>
        <p:spPr>
          <a:xfrm>
            <a:off x="212725" y="1065213"/>
            <a:ext cx="8642350" cy="5232400"/>
          </a:xfrm>
        </p:spPr>
        <p:txBody>
          <a:bodyPr/>
          <a:lstStyle/>
          <a:p>
            <a:pPr eaLnBrk="1" hangingPunct="1">
              <a:lnSpc>
                <a:spcPct val="80000"/>
              </a:lnSpc>
              <a:defRPr/>
            </a:pPr>
            <a:r>
              <a:rPr lang="en-US" altLang="zh-TW" sz="2800" smtClean="0">
                <a:solidFill>
                  <a:srgbClr val="0000FF"/>
                </a:solidFill>
                <a:effectLst>
                  <a:outerShdw blurRad="38100" dist="38100" dir="2700000" algn="tl">
                    <a:srgbClr val="C0C0C0"/>
                  </a:outerShdw>
                </a:effectLst>
              </a:rPr>
              <a:t>Physical formatting</a:t>
            </a:r>
            <a:r>
              <a:rPr lang="en-US" altLang="zh-TW" sz="2800" b="1" smtClean="0">
                <a:solidFill>
                  <a:srgbClr val="FF0000"/>
                </a:solidFill>
              </a:rPr>
              <a:t> </a:t>
            </a:r>
            <a:r>
              <a:rPr lang="en-US" altLang="zh-TW" sz="2800" smtClean="0">
                <a:latin typeface="Helvetica"/>
              </a:rPr>
              <a:t>—</a:t>
            </a:r>
            <a:r>
              <a:rPr lang="en-US" altLang="zh-TW" sz="2800" smtClean="0"/>
              <a:t> Dividing a disk into sectors that the disk controller can read and write</a:t>
            </a:r>
          </a:p>
          <a:p>
            <a:pPr eaLnBrk="1" hangingPunct="1">
              <a:lnSpc>
                <a:spcPct val="80000"/>
              </a:lnSpc>
              <a:spcBef>
                <a:spcPct val="60000"/>
              </a:spcBef>
              <a:defRPr/>
            </a:pPr>
            <a:r>
              <a:rPr lang="en-US" altLang="zh-TW" sz="2800" smtClean="0"/>
              <a:t>To use a disk to hold files, the operating system still needs to record its own data structures on the disk</a:t>
            </a:r>
          </a:p>
          <a:p>
            <a:pPr lvl="1" eaLnBrk="1" hangingPunct="1">
              <a:lnSpc>
                <a:spcPct val="80000"/>
              </a:lnSpc>
              <a:defRPr/>
            </a:pPr>
            <a:r>
              <a:rPr lang="en-US" altLang="zh-TW" sz="2400" smtClean="0">
                <a:solidFill>
                  <a:srgbClr val="FF0000"/>
                </a:solidFill>
              </a:rPr>
              <a:t>Partition</a:t>
            </a:r>
            <a:r>
              <a:rPr lang="en-US" altLang="zh-TW" sz="2400" smtClean="0"/>
              <a:t> the disk into </a:t>
            </a:r>
            <a:r>
              <a:rPr lang="en-US" altLang="zh-TW" sz="2400" smtClean="0">
                <a:solidFill>
                  <a:srgbClr val="FF0000"/>
                </a:solidFill>
              </a:rPr>
              <a:t>one or more groups of cylinders</a:t>
            </a:r>
          </a:p>
          <a:p>
            <a:pPr lvl="1" eaLnBrk="1" hangingPunct="1">
              <a:lnSpc>
                <a:spcPct val="80000"/>
              </a:lnSpc>
              <a:defRPr/>
            </a:pPr>
            <a:r>
              <a:rPr lang="en-US" altLang="zh-TW" sz="2400" smtClean="0">
                <a:solidFill>
                  <a:srgbClr val="0000FF"/>
                </a:solidFill>
                <a:effectLst>
                  <a:outerShdw blurRad="38100" dist="38100" dir="2700000" algn="tl">
                    <a:srgbClr val="C0C0C0"/>
                  </a:outerShdw>
                </a:effectLst>
              </a:rPr>
              <a:t>Logical formatting</a:t>
            </a:r>
            <a:r>
              <a:rPr lang="en-US" altLang="zh-TW" sz="2400" smtClean="0"/>
              <a:t> or </a:t>
            </a:r>
            <a:r>
              <a:rPr lang="en-US" altLang="zh-TW" sz="2400" smtClean="0">
                <a:latin typeface="Helvetica"/>
              </a:rPr>
              <a:t>“</a:t>
            </a:r>
            <a:r>
              <a:rPr lang="en-US" altLang="zh-TW" sz="2400" smtClean="0">
                <a:solidFill>
                  <a:srgbClr val="FF0000"/>
                </a:solidFill>
              </a:rPr>
              <a:t>making a file system</a:t>
            </a:r>
            <a:r>
              <a:rPr lang="en-US" altLang="zh-TW" sz="2400" smtClean="0">
                <a:latin typeface="Helvetica"/>
              </a:rPr>
              <a:t>”</a:t>
            </a:r>
            <a:endParaRPr lang="en-US" altLang="zh-TW" sz="2400" smtClean="0"/>
          </a:p>
          <a:p>
            <a:pPr eaLnBrk="1" hangingPunct="1">
              <a:lnSpc>
                <a:spcPct val="80000"/>
              </a:lnSpc>
              <a:spcBef>
                <a:spcPct val="60000"/>
              </a:spcBef>
              <a:defRPr/>
            </a:pPr>
            <a:r>
              <a:rPr lang="en-US" altLang="zh-TW" sz="2800" b="1" smtClean="0">
                <a:solidFill>
                  <a:srgbClr val="FF0000"/>
                </a:solidFill>
              </a:rPr>
              <a:t>Boot block</a:t>
            </a:r>
            <a:r>
              <a:rPr lang="en-US" altLang="zh-TW" sz="2800" smtClean="0"/>
              <a:t> initializes the system</a:t>
            </a:r>
          </a:p>
          <a:p>
            <a:pPr lvl="1" eaLnBrk="1" hangingPunct="1">
              <a:lnSpc>
                <a:spcPct val="80000"/>
              </a:lnSpc>
              <a:defRPr/>
            </a:pPr>
            <a:r>
              <a:rPr lang="en-US" altLang="zh-TW" sz="2400" smtClean="0"/>
              <a:t>The bootstrap is stored in ROM</a:t>
            </a:r>
          </a:p>
          <a:p>
            <a:pPr lvl="1" eaLnBrk="1" hangingPunct="1">
              <a:lnSpc>
                <a:spcPct val="80000"/>
              </a:lnSpc>
              <a:defRPr/>
            </a:pPr>
            <a:r>
              <a:rPr lang="en-US" altLang="zh-TW" sz="2400" smtClean="0"/>
              <a:t>Bootstrap loader program</a:t>
            </a:r>
          </a:p>
          <a:p>
            <a:pPr eaLnBrk="1" hangingPunct="1">
              <a:lnSpc>
                <a:spcPct val="80000"/>
              </a:lnSpc>
              <a:spcBef>
                <a:spcPct val="60000"/>
              </a:spcBef>
              <a:defRPr/>
            </a:pPr>
            <a:r>
              <a:rPr lang="en-US" altLang="zh-TW" sz="2800" smtClean="0"/>
              <a:t>Methods such as </a:t>
            </a:r>
            <a:r>
              <a:rPr lang="en-US" altLang="zh-TW" sz="2800" smtClean="0">
                <a:solidFill>
                  <a:srgbClr val="0000FF"/>
                </a:solidFill>
              </a:rPr>
              <a:t>sector sparing</a:t>
            </a:r>
            <a:r>
              <a:rPr lang="en-US" altLang="zh-TW" sz="2800" smtClean="0"/>
              <a:t> used to handle bad blocks</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版面配置區 2"/>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4885E996-B3C6-4864-B395-8AD594613235}" type="datetime1">
              <a:rPr kumimoji="0" lang="zh-TW" altLang="en-US" sz="1400" smtClean="0"/>
              <a:t>2018/5/4</a:t>
            </a:fld>
            <a:endParaRPr kumimoji="0" lang="en-US" altLang="zh-TW" sz="1400" smtClean="0"/>
          </a:p>
        </p:txBody>
      </p:sp>
      <p:sp>
        <p:nvSpPr>
          <p:cNvPr id="25603" name="頁尾版面配置區 3"/>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25604" name="投影片編號版面配置區 4"/>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6E5A3EFF-E319-46FD-94A9-3DA6ADE82BBE}" type="slidenum">
              <a:rPr kumimoji="0" lang="zh-TW" altLang="en-US" sz="1400" smtClean="0"/>
              <a:pPr eaLnBrk="1" hangingPunct="1"/>
              <a:t>26</a:t>
            </a:fld>
            <a:endParaRPr kumimoji="0" lang="en-US" altLang="zh-TW" sz="1400" smtClean="0"/>
          </a:p>
        </p:txBody>
      </p:sp>
      <p:sp>
        <p:nvSpPr>
          <p:cNvPr id="25605" name="Rectangle 2"/>
          <p:cNvSpPr>
            <a:spLocks noGrp="1" noChangeArrowheads="1"/>
          </p:cNvSpPr>
          <p:nvPr>
            <p:ph type="title"/>
          </p:nvPr>
        </p:nvSpPr>
        <p:spPr/>
        <p:txBody>
          <a:bodyPr/>
          <a:lstStyle/>
          <a:p>
            <a:pPr eaLnBrk="1" hangingPunct="1"/>
            <a:r>
              <a:rPr lang="en-US" altLang="zh-TW" smtClean="0"/>
              <a:t>MS-DOS Disk Layout</a:t>
            </a:r>
            <a:endParaRPr lang="en-US" altLang="zh-TW" sz="3600" smtClean="0"/>
          </a:p>
        </p:txBody>
      </p:sp>
      <p:pic>
        <p:nvPicPr>
          <p:cNvPr id="25606" name="Picture 3"/>
          <p:cNvPicPr>
            <a:picLocks noChangeAspect="1" noChangeArrowheads="1"/>
          </p:cNvPicPr>
          <p:nvPr/>
        </p:nvPicPr>
        <p:blipFill>
          <a:blip r:embed="rId3">
            <a:extLst>
              <a:ext uri="{28A0092B-C50C-407E-A947-70E740481C1C}">
                <a14:useLocalDpi xmlns:a14="http://schemas.microsoft.com/office/drawing/2010/main" val="0"/>
              </a:ext>
            </a:extLst>
          </a:blip>
          <a:srcRect l="17259" t="1598" r="16766" b="2631"/>
          <a:stretch>
            <a:fillRect/>
          </a:stretch>
        </p:blipFill>
        <p:spPr bwMode="auto">
          <a:xfrm>
            <a:off x="2495550" y="1601788"/>
            <a:ext cx="4330700" cy="4714875"/>
          </a:xfrm>
          <a:prstGeom prst="rect">
            <a:avLst/>
          </a:prstGeom>
          <a:noFill/>
          <a:ln w="57150" cmpd="thickThin">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7" name="Text Box 4"/>
          <p:cNvSpPr txBox="1">
            <a:spLocks noChangeArrowheads="1"/>
          </p:cNvSpPr>
          <p:nvPr/>
        </p:nvSpPr>
        <p:spPr bwMode="auto">
          <a:xfrm>
            <a:off x="6942138" y="1457325"/>
            <a:ext cx="1957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1600">
                <a:solidFill>
                  <a:srgbClr val="0000FF"/>
                </a:solidFill>
              </a:rPr>
              <a:t>bootstrap program</a:t>
            </a:r>
            <a:r>
              <a:rPr lang="en-US" altLang="zh-TW"/>
              <a:t> </a:t>
            </a:r>
          </a:p>
        </p:txBody>
      </p:sp>
      <p:sp>
        <p:nvSpPr>
          <p:cNvPr id="25608" name="Line 5"/>
          <p:cNvSpPr>
            <a:spLocks noChangeShapeType="1"/>
          </p:cNvSpPr>
          <p:nvPr/>
        </p:nvSpPr>
        <p:spPr bwMode="auto">
          <a:xfrm flipH="1">
            <a:off x="6256338" y="1739900"/>
            <a:ext cx="754062" cy="2095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版面配置區 2"/>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712803B3-701F-419E-96BE-8913ED953588}" type="datetime1">
              <a:rPr kumimoji="0" lang="zh-TW" altLang="en-US" sz="1400" smtClean="0"/>
              <a:t>2018/5/4</a:t>
            </a:fld>
            <a:endParaRPr kumimoji="0" lang="en-US" altLang="zh-TW" sz="1400" smtClean="0"/>
          </a:p>
        </p:txBody>
      </p:sp>
      <p:sp>
        <p:nvSpPr>
          <p:cNvPr id="26627" name="頁尾版面配置區 3"/>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26628" name="投影片編號版面配置區 4"/>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50EADA40-1DDE-4574-9209-F7E1E37E98BC}" type="slidenum">
              <a:rPr kumimoji="0" lang="zh-TW" altLang="en-US" sz="1400" smtClean="0"/>
              <a:pPr eaLnBrk="1" hangingPunct="1"/>
              <a:t>27</a:t>
            </a:fld>
            <a:endParaRPr kumimoji="0" lang="en-US" altLang="zh-TW" sz="1400" smtClean="0"/>
          </a:p>
        </p:txBody>
      </p:sp>
      <p:sp>
        <p:nvSpPr>
          <p:cNvPr id="26629" name="Rectangle 2"/>
          <p:cNvSpPr>
            <a:spLocks noGrp="1" noChangeArrowheads="1"/>
          </p:cNvSpPr>
          <p:nvPr>
            <p:ph type="title"/>
          </p:nvPr>
        </p:nvSpPr>
        <p:spPr>
          <a:xfrm>
            <a:off x="211138" y="304800"/>
            <a:ext cx="8763000" cy="603250"/>
          </a:xfrm>
        </p:spPr>
        <p:txBody>
          <a:bodyPr/>
          <a:lstStyle/>
          <a:p>
            <a:pPr eaLnBrk="1" hangingPunct="1"/>
            <a:r>
              <a:rPr lang="en-US" altLang="zh-TW" sz="4000" smtClean="0"/>
              <a:t>Booting from a Disk in Windows 2000</a:t>
            </a:r>
            <a:endParaRPr lang="en-US" altLang="zh-TW" sz="3200" smtClean="0"/>
          </a:p>
        </p:txBody>
      </p:sp>
      <p:pic>
        <p:nvPicPr>
          <p:cNvPr id="26630" name="Picture 3"/>
          <p:cNvPicPr>
            <a:picLocks noChangeAspect="1" noChangeArrowheads="1"/>
          </p:cNvPicPr>
          <p:nvPr/>
        </p:nvPicPr>
        <p:blipFill>
          <a:blip r:embed="rId3">
            <a:extLst>
              <a:ext uri="{28A0092B-C50C-407E-A947-70E740481C1C}">
                <a14:useLocalDpi xmlns:a14="http://schemas.microsoft.com/office/drawing/2010/main" val="0"/>
              </a:ext>
            </a:extLst>
          </a:blip>
          <a:srcRect l="462" t="5289" r="706" b="5614"/>
          <a:stretch>
            <a:fillRect/>
          </a:stretch>
        </p:blipFill>
        <p:spPr bwMode="auto">
          <a:xfrm>
            <a:off x="825500" y="1295400"/>
            <a:ext cx="7197725" cy="4867275"/>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31" name="Text Box 4"/>
          <p:cNvSpPr txBox="1">
            <a:spLocks noChangeArrowheads="1"/>
          </p:cNvSpPr>
          <p:nvPr/>
        </p:nvSpPr>
        <p:spPr bwMode="auto">
          <a:xfrm>
            <a:off x="5384800" y="4770438"/>
            <a:ext cx="2392363" cy="37623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1800"/>
              <a:t>OS and device drivers</a:t>
            </a:r>
          </a:p>
        </p:txBody>
      </p:sp>
      <p:sp>
        <p:nvSpPr>
          <p:cNvPr id="26632" name="Text Box 5"/>
          <p:cNvSpPr txBox="1">
            <a:spLocks noChangeArrowheads="1"/>
          </p:cNvSpPr>
          <p:nvPr/>
        </p:nvSpPr>
        <p:spPr bwMode="auto">
          <a:xfrm>
            <a:off x="6132513" y="1576388"/>
            <a:ext cx="1957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1600">
                <a:solidFill>
                  <a:srgbClr val="FF0000"/>
                </a:solidFill>
              </a:rPr>
              <a:t>bootstrap program</a:t>
            </a:r>
            <a:r>
              <a:rPr lang="en-US" altLang="zh-TW"/>
              <a:t>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E0E09280-F588-4DF8-A311-1B4731DAC6BD}" type="datetime1">
              <a:rPr kumimoji="0" lang="zh-TW" altLang="en-US" sz="1400" smtClean="0"/>
              <a:t>2018/5/4</a:t>
            </a:fld>
            <a:endParaRPr kumimoji="0" lang="en-US" altLang="zh-TW" sz="1400" smtClean="0"/>
          </a:p>
        </p:txBody>
      </p:sp>
      <p:sp>
        <p:nvSpPr>
          <p:cNvPr id="27651"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27652"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4899C4C7-6FB9-4DC1-8949-6BECFE77AE84}" type="slidenum">
              <a:rPr kumimoji="0" lang="zh-TW" altLang="en-US" sz="1400" smtClean="0"/>
              <a:pPr eaLnBrk="1" hangingPunct="1"/>
              <a:t>28</a:t>
            </a:fld>
            <a:endParaRPr kumimoji="0" lang="en-US" altLang="zh-TW" sz="1400" smtClean="0"/>
          </a:p>
        </p:txBody>
      </p:sp>
      <p:sp>
        <p:nvSpPr>
          <p:cNvPr id="27653" name="Rectangle 2"/>
          <p:cNvSpPr>
            <a:spLocks noGrp="1" noChangeArrowheads="1"/>
          </p:cNvSpPr>
          <p:nvPr>
            <p:ph type="title"/>
          </p:nvPr>
        </p:nvSpPr>
        <p:spPr>
          <a:xfrm>
            <a:off x="609600" y="304800"/>
            <a:ext cx="7772400" cy="838200"/>
          </a:xfrm>
        </p:spPr>
        <p:txBody>
          <a:bodyPr/>
          <a:lstStyle/>
          <a:p>
            <a:pPr eaLnBrk="1" hangingPunct="1"/>
            <a:r>
              <a:rPr lang="en-US" altLang="zh-TW" smtClean="0"/>
              <a:t>Swap-Space Management</a:t>
            </a:r>
          </a:p>
        </p:txBody>
      </p:sp>
      <p:sp>
        <p:nvSpPr>
          <p:cNvPr id="54275" name="Rectangle 3" descr="Rectangle: Click to edit Master text styles&#10;Second level&#10;Third level&#10;Fourth level&#10;Fifth level"/>
          <p:cNvSpPr>
            <a:spLocks noGrp="1" noChangeArrowheads="1"/>
          </p:cNvSpPr>
          <p:nvPr>
            <p:ph type="body" idx="1"/>
          </p:nvPr>
        </p:nvSpPr>
        <p:spPr>
          <a:xfrm>
            <a:off x="358775" y="1255713"/>
            <a:ext cx="8340725" cy="5056187"/>
          </a:xfrm>
        </p:spPr>
        <p:txBody>
          <a:bodyPr/>
          <a:lstStyle/>
          <a:p>
            <a:pPr eaLnBrk="1" hangingPunct="1">
              <a:lnSpc>
                <a:spcPct val="80000"/>
              </a:lnSpc>
              <a:defRPr/>
            </a:pPr>
            <a:r>
              <a:rPr lang="en-US" altLang="zh-TW" sz="2800" smtClean="0"/>
              <a:t>Swap-space </a:t>
            </a:r>
            <a:r>
              <a:rPr lang="en-US" altLang="zh-TW" sz="2800" smtClean="0">
                <a:latin typeface="Helvetica"/>
              </a:rPr>
              <a:t>—</a:t>
            </a:r>
            <a:r>
              <a:rPr lang="en-US" altLang="zh-TW" sz="2800" smtClean="0"/>
              <a:t> Virtual memory uses disk space as an </a:t>
            </a:r>
            <a:r>
              <a:rPr lang="en-US" altLang="zh-TW" sz="2800" smtClean="0">
                <a:solidFill>
                  <a:srgbClr val="0000FF"/>
                </a:solidFill>
                <a:effectLst>
                  <a:outerShdw blurRad="38100" dist="38100" dir="2700000" algn="tl">
                    <a:srgbClr val="C0C0C0"/>
                  </a:outerShdw>
                </a:effectLst>
              </a:rPr>
              <a:t>extension of main memory</a:t>
            </a:r>
          </a:p>
          <a:p>
            <a:pPr eaLnBrk="1" hangingPunct="1">
              <a:lnSpc>
                <a:spcPct val="80000"/>
              </a:lnSpc>
              <a:spcBef>
                <a:spcPct val="60000"/>
              </a:spcBef>
              <a:defRPr/>
            </a:pPr>
            <a:r>
              <a:rPr lang="en-US" altLang="zh-TW" sz="2800" smtClean="0"/>
              <a:t>Swap-space can be carved out of the </a:t>
            </a:r>
            <a:r>
              <a:rPr lang="en-US" altLang="zh-TW" sz="2800" smtClean="0">
                <a:solidFill>
                  <a:srgbClr val="0000FF"/>
                </a:solidFill>
              </a:rPr>
              <a:t>normal file system</a:t>
            </a:r>
            <a:r>
              <a:rPr lang="en-US" altLang="zh-TW" sz="2800" smtClean="0"/>
              <a:t>, or, more commonly, it can be in a </a:t>
            </a:r>
            <a:r>
              <a:rPr lang="en-US" altLang="zh-TW" sz="2800" smtClean="0">
                <a:solidFill>
                  <a:srgbClr val="0000FF"/>
                </a:solidFill>
              </a:rPr>
              <a:t>separate disk partition</a:t>
            </a:r>
          </a:p>
          <a:p>
            <a:pPr eaLnBrk="1" hangingPunct="1">
              <a:lnSpc>
                <a:spcPct val="80000"/>
              </a:lnSpc>
              <a:spcBef>
                <a:spcPct val="60000"/>
              </a:spcBef>
              <a:defRPr/>
            </a:pPr>
            <a:r>
              <a:rPr lang="en-US" altLang="zh-TW" sz="2800" smtClean="0"/>
              <a:t>Swap-space management</a:t>
            </a:r>
          </a:p>
          <a:p>
            <a:pPr lvl="1" eaLnBrk="1" hangingPunct="1">
              <a:lnSpc>
                <a:spcPct val="80000"/>
              </a:lnSpc>
              <a:defRPr/>
            </a:pPr>
            <a:r>
              <a:rPr lang="en-US" altLang="zh-TW" sz="2400" b="1" smtClean="0">
                <a:solidFill>
                  <a:schemeClr val="tx2"/>
                </a:solidFill>
              </a:rPr>
              <a:t>4.3BSD</a:t>
            </a:r>
            <a:r>
              <a:rPr lang="en-US" altLang="zh-TW" sz="2400" smtClean="0"/>
              <a:t> allocates swap space when process starts; holds </a:t>
            </a:r>
            <a:r>
              <a:rPr lang="en-US" altLang="zh-TW" sz="2400" smtClean="0">
                <a:solidFill>
                  <a:srgbClr val="FF0000"/>
                </a:solidFill>
              </a:rPr>
              <a:t>text segment (the program) and data segment</a:t>
            </a:r>
            <a:endParaRPr lang="en-US" altLang="zh-TW" sz="2400" i="1" smtClean="0"/>
          </a:p>
          <a:p>
            <a:pPr lvl="1" eaLnBrk="1" hangingPunct="1">
              <a:lnSpc>
                <a:spcPct val="80000"/>
              </a:lnSpc>
              <a:spcBef>
                <a:spcPct val="50000"/>
              </a:spcBef>
              <a:defRPr/>
            </a:pPr>
            <a:r>
              <a:rPr lang="en-US" altLang="zh-TW" sz="2400" smtClean="0"/>
              <a:t>Kernel uses </a:t>
            </a:r>
            <a:r>
              <a:rPr lang="en-US" altLang="zh-TW" sz="2400" smtClean="0">
                <a:solidFill>
                  <a:srgbClr val="FF0000"/>
                </a:solidFill>
              </a:rPr>
              <a:t>swap maps</a:t>
            </a:r>
            <a:r>
              <a:rPr lang="en-US" altLang="zh-TW" sz="2400" smtClean="0"/>
              <a:t> to track swap-space use</a:t>
            </a:r>
          </a:p>
          <a:p>
            <a:pPr lvl="1" eaLnBrk="1" hangingPunct="1">
              <a:lnSpc>
                <a:spcPct val="80000"/>
              </a:lnSpc>
              <a:spcBef>
                <a:spcPct val="50000"/>
              </a:spcBef>
              <a:defRPr/>
            </a:pPr>
            <a:r>
              <a:rPr lang="en-US" altLang="zh-TW" sz="2400" b="1" smtClean="0">
                <a:solidFill>
                  <a:schemeClr val="tx2"/>
                </a:solidFill>
              </a:rPr>
              <a:t>Solaris 2</a:t>
            </a:r>
            <a:r>
              <a:rPr lang="en-US" altLang="zh-TW" sz="2400" smtClean="0"/>
              <a:t> allocates swap space </a:t>
            </a:r>
            <a:r>
              <a:rPr lang="en-US" altLang="zh-TW" sz="2400" smtClean="0">
                <a:solidFill>
                  <a:srgbClr val="0000FF"/>
                </a:solidFill>
              </a:rPr>
              <a:t>only when a page is forced out of physical memory</a:t>
            </a:r>
            <a:r>
              <a:rPr lang="en-US" altLang="zh-TW" sz="2400" smtClean="0"/>
              <a:t>, not when the virtual memory page is first created</a:t>
            </a:r>
          </a:p>
        </p:txBody>
      </p:sp>
      <p:sp>
        <p:nvSpPr>
          <p:cNvPr id="2" name="動作按鈕: 下一項 1">
            <a:hlinkClick r:id="rId3" action="ppaction://hlinkpres?slideindex=17&amp;slidetitle=Performance of Demand Paging (3)" highlightClick="1"/>
          </p:cNvPr>
          <p:cNvSpPr/>
          <p:nvPr/>
        </p:nvSpPr>
        <p:spPr bwMode="auto">
          <a:xfrm>
            <a:off x="8784404" y="3400746"/>
            <a:ext cx="359596" cy="359596"/>
          </a:xfrm>
          <a:prstGeom prst="actionButtonForwardNext">
            <a:avLst/>
          </a:prstGeom>
          <a:solidFill>
            <a:srgbClr val="00B0F0"/>
          </a:solidFill>
          <a:ln w="9525" cap="flat" cmpd="sng" algn="ctr">
            <a:solidFill>
              <a:srgbClr val="0000FF"/>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itchFamily="34" charset="0"/>
              <a:ea typeface="新細明體" charset="-12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4275">
                                            <p:txEl>
                                              <p:pRg st="1" end="1"/>
                                            </p:txEl>
                                          </p:spTgt>
                                        </p:tgtEl>
                                        <p:attrNameLst>
                                          <p:attrName>style.visibility</p:attrName>
                                        </p:attrNameLst>
                                      </p:cBhvr>
                                      <p:to>
                                        <p:strVal val="visible"/>
                                      </p:to>
                                    </p:set>
                                    <p:animEffect transition="in" filter="blinds(horizontal)">
                                      <p:cBhvr>
                                        <p:cTn id="7" dur="500"/>
                                        <p:tgtEl>
                                          <p:spTgt spid="5427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4275">
                                            <p:txEl>
                                              <p:pRg st="2" end="2"/>
                                            </p:txEl>
                                          </p:spTgt>
                                        </p:tgtEl>
                                        <p:attrNameLst>
                                          <p:attrName>style.visibility</p:attrName>
                                        </p:attrNameLst>
                                      </p:cBhvr>
                                      <p:to>
                                        <p:strVal val="visible"/>
                                      </p:to>
                                    </p:set>
                                    <p:animEffect transition="in" filter="blinds(horizontal)">
                                      <p:cBhvr>
                                        <p:cTn id="12" dur="500"/>
                                        <p:tgtEl>
                                          <p:spTgt spid="5427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4275">
                                            <p:txEl>
                                              <p:pRg st="3" end="3"/>
                                            </p:txEl>
                                          </p:spTgt>
                                        </p:tgtEl>
                                        <p:attrNameLst>
                                          <p:attrName>style.visibility</p:attrName>
                                        </p:attrNameLst>
                                      </p:cBhvr>
                                      <p:to>
                                        <p:strVal val="visible"/>
                                      </p:to>
                                    </p:set>
                                    <p:animEffect transition="in" filter="blinds(horizontal)">
                                      <p:cBhvr>
                                        <p:cTn id="17" dur="500"/>
                                        <p:tgtEl>
                                          <p:spTgt spid="5427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4275">
                                            <p:txEl>
                                              <p:pRg st="4" end="4"/>
                                            </p:txEl>
                                          </p:spTgt>
                                        </p:tgtEl>
                                        <p:attrNameLst>
                                          <p:attrName>style.visibility</p:attrName>
                                        </p:attrNameLst>
                                      </p:cBhvr>
                                      <p:to>
                                        <p:strVal val="visible"/>
                                      </p:to>
                                    </p:set>
                                    <p:animEffect transition="in" filter="blinds(horizontal)">
                                      <p:cBhvr>
                                        <p:cTn id="22" dur="500"/>
                                        <p:tgtEl>
                                          <p:spTgt spid="5427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54275">
                                            <p:txEl>
                                              <p:pRg st="5" end="5"/>
                                            </p:txEl>
                                          </p:spTgt>
                                        </p:tgtEl>
                                        <p:attrNameLst>
                                          <p:attrName>style.visibility</p:attrName>
                                        </p:attrNameLst>
                                      </p:cBhvr>
                                      <p:to>
                                        <p:strVal val="visible"/>
                                      </p:to>
                                    </p:set>
                                    <p:animEffect transition="in" filter="blinds(horizontal)">
                                      <p:cBhvr>
                                        <p:cTn id="31" dur="500"/>
                                        <p:tgtEl>
                                          <p:spTgt spid="542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EDE6C07B-3D9A-4D2F-8D6E-56EF159DD7D5}" type="datetime1">
              <a:rPr kumimoji="0" lang="zh-TW" altLang="en-US" sz="1400" smtClean="0"/>
              <a:t>2018/5/4</a:t>
            </a:fld>
            <a:endParaRPr kumimoji="0" lang="en-US" altLang="zh-TW" sz="1400" smtClean="0"/>
          </a:p>
        </p:txBody>
      </p:sp>
      <p:sp>
        <p:nvSpPr>
          <p:cNvPr id="28675"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28676"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F25ADA0C-FD8D-41EC-A734-F49506DC4380}" type="slidenum">
              <a:rPr kumimoji="0" lang="zh-TW" altLang="en-US" sz="1400" smtClean="0"/>
              <a:pPr eaLnBrk="1" hangingPunct="1"/>
              <a:t>29</a:t>
            </a:fld>
            <a:endParaRPr kumimoji="0" lang="en-US" altLang="zh-TW" sz="1400" smtClean="0"/>
          </a:p>
        </p:txBody>
      </p:sp>
      <p:sp>
        <p:nvSpPr>
          <p:cNvPr id="28677" name="Rectangle 2"/>
          <p:cNvSpPr>
            <a:spLocks noGrp="1" noChangeArrowheads="1"/>
          </p:cNvSpPr>
          <p:nvPr>
            <p:ph type="title"/>
          </p:nvPr>
        </p:nvSpPr>
        <p:spPr>
          <a:xfrm>
            <a:off x="552450" y="149225"/>
            <a:ext cx="7772400" cy="838200"/>
          </a:xfrm>
        </p:spPr>
        <p:txBody>
          <a:bodyPr/>
          <a:lstStyle/>
          <a:p>
            <a:pPr eaLnBrk="1" hangingPunct="1"/>
            <a:r>
              <a:rPr lang="en-US" altLang="zh-TW" sz="3600" dirty="0" smtClean="0"/>
              <a:t>Swap-Space Management</a:t>
            </a:r>
            <a:br>
              <a:rPr lang="en-US" altLang="zh-TW" sz="3600" dirty="0" smtClean="0"/>
            </a:br>
            <a:r>
              <a:rPr lang="en-US" altLang="zh-TW" sz="2800" dirty="0" smtClean="0">
                <a:solidFill>
                  <a:srgbClr val="0000FF"/>
                </a:solidFill>
              </a:rPr>
              <a:t>Swap file vs. Swap partition</a:t>
            </a:r>
            <a:endParaRPr lang="en-US" altLang="zh-TW" sz="3600" dirty="0" smtClean="0">
              <a:solidFill>
                <a:srgbClr val="0000FF"/>
              </a:solidFill>
            </a:endParaRPr>
          </a:p>
        </p:txBody>
      </p:sp>
      <p:sp>
        <p:nvSpPr>
          <p:cNvPr id="28678" name="AutoShape 3" descr="Rectangle: Click to edit Master text styles&#10;Second level&#10;Third level&#10;Fourth level&#10;Fifth level"/>
          <p:cNvSpPr>
            <a:spLocks noGrp="1" noChangeAspect="1" noChangeArrowheads="1"/>
          </p:cNvSpPr>
          <p:nvPr>
            <p:ph type="body" idx="1"/>
          </p:nvPr>
        </p:nvSpPr>
        <p:spPr>
          <a:xfrm>
            <a:off x="236538" y="962025"/>
            <a:ext cx="8742362" cy="5503863"/>
          </a:xfrm>
        </p:spPr>
        <p:txBody>
          <a:bodyPr/>
          <a:lstStyle/>
          <a:p>
            <a:pPr eaLnBrk="1" hangingPunct="1">
              <a:lnSpc>
                <a:spcPct val="80000"/>
              </a:lnSpc>
            </a:pPr>
            <a:r>
              <a:rPr lang="en-US" altLang="zh-TW" sz="1800" b="1" dirty="0" smtClean="0"/>
              <a:t>Swap File</a:t>
            </a:r>
          </a:p>
          <a:p>
            <a:pPr eaLnBrk="1" hangingPunct="1">
              <a:lnSpc>
                <a:spcPct val="80000"/>
              </a:lnSpc>
              <a:spcBef>
                <a:spcPct val="60000"/>
              </a:spcBef>
              <a:buFont typeface="Wingdings" pitchFamily="2" charset="2"/>
              <a:buAutoNum type="arabicPeriod"/>
            </a:pPr>
            <a:r>
              <a:rPr lang="en-US" altLang="zh-TW" sz="1800" dirty="0" smtClean="0">
                <a:solidFill>
                  <a:srgbClr val="0000FF"/>
                </a:solidFill>
              </a:rPr>
              <a:t>Fragmentation</a:t>
            </a:r>
            <a:r>
              <a:rPr lang="en-US" altLang="zh-TW" sz="1800" dirty="0" smtClean="0"/>
              <a:t>: Swap file will get fragmented, especially when the hard disk space become  full. The system performance will decrease then. </a:t>
            </a:r>
          </a:p>
          <a:p>
            <a:pPr eaLnBrk="1" hangingPunct="1">
              <a:lnSpc>
                <a:spcPct val="80000"/>
              </a:lnSpc>
              <a:spcBef>
                <a:spcPct val="60000"/>
              </a:spcBef>
              <a:buFont typeface="Wingdings" pitchFamily="2" charset="2"/>
              <a:buAutoNum type="arabicPeriod"/>
            </a:pPr>
            <a:r>
              <a:rPr lang="en-US" altLang="zh-TW" sz="1800" dirty="0" smtClean="0">
                <a:solidFill>
                  <a:srgbClr val="0000FF"/>
                </a:solidFill>
              </a:rPr>
              <a:t>Overhead: The overhead of </a:t>
            </a:r>
            <a:r>
              <a:rPr lang="en-US" altLang="zh-TW" sz="1800" dirty="0" smtClean="0">
                <a:solidFill>
                  <a:srgbClr val="FF0000"/>
                </a:solidFill>
                <a:effectLst>
                  <a:outerShdw blurRad="38100" dist="38100" dir="2700000" algn="tl">
                    <a:srgbClr val="000000">
                      <a:alpha val="43137"/>
                    </a:srgbClr>
                  </a:outerShdw>
                </a:effectLst>
              </a:rPr>
              <a:t>directory search </a:t>
            </a:r>
            <a:r>
              <a:rPr lang="en-US" altLang="zh-TW" sz="1800" dirty="0" smtClean="0">
                <a:solidFill>
                  <a:srgbClr val="0000FF"/>
                </a:solidFill>
              </a:rPr>
              <a:t>and </a:t>
            </a:r>
            <a:r>
              <a:rPr lang="en-US" altLang="zh-TW" sz="1800" dirty="0" smtClean="0">
                <a:solidFill>
                  <a:srgbClr val="FF0000"/>
                </a:solidFill>
                <a:effectLst>
                  <a:outerShdw blurRad="38100" dist="38100" dir="2700000" algn="tl">
                    <a:srgbClr val="000000">
                      <a:alpha val="43137"/>
                    </a:srgbClr>
                  </a:outerShdw>
                </a:effectLst>
              </a:rPr>
              <a:t>indirect access </a:t>
            </a:r>
            <a:r>
              <a:rPr lang="en-US" altLang="zh-TW" sz="1800" dirty="0" smtClean="0">
                <a:solidFill>
                  <a:srgbClr val="0000FF"/>
                </a:solidFill>
              </a:rPr>
              <a:t>should be acceptable.</a:t>
            </a:r>
          </a:p>
          <a:p>
            <a:pPr eaLnBrk="1" hangingPunct="1">
              <a:lnSpc>
                <a:spcPct val="80000"/>
              </a:lnSpc>
              <a:spcBef>
                <a:spcPct val="60000"/>
              </a:spcBef>
              <a:buFont typeface="Wingdings" pitchFamily="2" charset="2"/>
              <a:buAutoNum type="arabicPeriod"/>
            </a:pPr>
            <a:r>
              <a:rPr lang="en-US" altLang="zh-TW" sz="1800" dirty="0" smtClean="0">
                <a:solidFill>
                  <a:srgbClr val="0000FF"/>
                </a:solidFill>
              </a:rPr>
              <a:t>Flexibility</a:t>
            </a:r>
            <a:r>
              <a:rPr lang="en-US" altLang="zh-TW" sz="1800" dirty="0" smtClean="0"/>
              <a:t>: increase the swap space immediately.</a:t>
            </a:r>
          </a:p>
          <a:p>
            <a:pPr eaLnBrk="1" hangingPunct="1">
              <a:lnSpc>
                <a:spcPct val="80000"/>
              </a:lnSpc>
              <a:spcBef>
                <a:spcPct val="60000"/>
              </a:spcBef>
              <a:buFont typeface="Wingdings" pitchFamily="2" charset="2"/>
              <a:buAutoNum type="arabicPeriod"/>
            </a:pPr>
            <a:r>
              <a:rPr lang="en-US" altLang="zh-TW" sz="1800" dirty="0" smtClean="0">
                <a:solidFill>
                  <a:srgbClr val="0000FF"/>
                </a:solidFill>
              </a:rPr>
              <a:t>Particular location</a:t>
            </a:r>
            <a:r>
              <a:rPr lang="en-US" altLang="zh-TW" sz="1800" dirty="0" smtClean="0"/>
              <a:t>: Keep the swap file on external device, such as SSD.</a:t>
            </a:r>
          </a:p>
          <a:p>
            <a:pPr eaLnBrk="1" hangingPunct="1">
              <a:lnSpc>
                <a:spcPct val="80000"/>
              </a:lnSpc>
              <a:spcBef>
                <a:spcPct val="60000"/>
              </a:spcBef>
              <a:buFont typeface="Wingdings" pitchFamily="2" charset="2"/>
              <a:buAutoNum type="arabicPeriod"/>
            </a:pPr>
            <a:r>
              <a:rPr lang="en-US" altLang="zh-TW" sz="1800" dirty="0" smtClean="0"/>
              <a:t>Anonymous memory being solved.</a:t>
            </a:r>
          </a:p>
          <a:p>
            <a:pPr eaLnBrk="1" hangingPunct="1">
              <a:lnSpc>
                <a:spcPct val="80000"/>
              </a:lnSpc>
              <a:spcBef>
                <a:spcPct val="60000"/>
              </a:spcBef>
              <a:buFont typeface="Wingdings" pitchFamily="2" charset="2"/>
              <a:buAutoNum type="arabicPeriod"/>
            </a:pPr>
            <a:r>
              <a:rPr lang="en-US" altLang="zh-TW" sz="1800" b="1" dirty="0" smtClean="0"/>
              <a:t>Linux 2.6 and later</a:t>
            </a:r>
            <a:r>
              <a:rPr lang="en-US" altLang="zh-TW" sz="1800" dirty="0" smtClean="0"/>
              <a:t>: The performance becomes closer.</a:t>
            </a:r>
          </a:p>
          <a:p>
            <a:pPr eaLnBrk="1" hangingPunct="1">
              <a:lnSpc>
                <a:spcPct val="80000"/>
              </a:lnSpc>
              <a:spcBef>
                <a:spcPct val="60000"/>
              </a:spcBef>
              <a:buFont typeface="Wingdings" pitchFamily="2" charset="2"/>
              <a:buAutoNum type="arabicPeriod"/>
            </a:pPr>
            <a:r>
              <a:rPr lang="en-US" altLang="zh-TW" sz="1800" dirty="0" smtClean="0"/>
              <a:t>Program code is better than data because </a:t>
            </a:r>
            <a:r>
              <a:rPr lang="en-US" altLang="zh-TW" sz="1800" dirty="0" smtClean="0">
                <a:solidFill>
                  <a:srgbClr val="FF0000"/>
                </a:solidFill>
              </a:rPr>
              <a:t>the size changes less</a:t>
            </a:r>
            <a:r>
              <a:rPr lang="en-US" altLang="zh-TW" sz="1800" dirty="0" smtClean="0"/>
              <a:t>. </a:t>
            </a:r>
            <a:r>
              <a:rPr lang="en-US" altLang="zh-TW" sz="1800" dirty="0" smtClean="0">
                <a:solidFill>
                  <a:srgbClr val="0000FF"/>
                </a:solidFill>
              </a:rPr>
              <a:t>Fragmentation issue</a:t>
            </a:r>
            <a:r>
              <a:rPr lang="en-US" altLang="zh-TW" sz="1800" dirty="0" smtClean="0"/>
              <a:t> </a:t>
            </a:r>
          </a:p>
          <a:p>
            <a:pPr eaLnBrk="1" hangingPunct="1">
              <a:lnSpc>
                <a:spcPct val="80000"/>
              </a:lnSpc>
              <a:spcBef>
                <a:spcPts val="1200"/>
              </a:spcBef>
            </a:pPr>
            <a:r>
              <a:rPr lang="en-US" altLang="zh-TW" sz="1800" b="1" dirty="0" smtClean="0"/>
              <a:t>Swap Partition</a:t>
            </a:r>
            <a:endParaRPr lang="en-US" altLang="zh-TW" sz="1600" dirty="0" smtClean="0"/>
          </a:p>
          <a:p>
            <a:pPr eaLnBrk="1" hangingPunct="1">
              <a:lnSpc>
                <a:spcPct val="80000"/>
              </a:lnSpc>
              <a:spcBef>
                <a:spcPts val="600"/>
              </a:spcBef>
              <a:buFont typeface="Wingdings" pitchFamily="2" charset="2"/>
              <a:buAutoNum type="arabicPeriod"/>
            </a:pPr>
            <a:r>
              <a:rPr lang="en-US" altLang="zh-TW" sz="1800" dirty="0" smtClean="0"/>
              <a:t>Fragmentation is less comparing to swap file. Normally, the system performance is better.</a:t>
            </a:r>
          </a:p>
          <a:p>
            <a:pPr eaLnBrk="1" hangingPunct="1">
              <a:lnSpc>
                <a:spcPct val="80000"/>
              </a:lnSpc>
              <a:spcBef>
                <a:spcPct val="60000"/>
              </a:spcBef>
              <a:buFont typeface="Wingdings" pitchFamily="2" charset="2"/>
              <a:buAutoNum type="arabicPeriod"/>
            </a:pPr>
            <a:r>
              <a:rPr lang="en-US" altLang="zh-TW" sz="1800" dirty="0" smtClean="0"/>
              <a:t>Accident loss or corruption is not a big issue.</a:t>
            </a:r>
          </a:p>
          <a:p>
            <a:pPr eaLnBrk="1" hangingPunct="1">
              <a:lnSpc>
                <a:spcPct val="80000"/>
              </a:lnSpc>
              <a:spcBef>
                <a:spcPct val="60000"/>
              </a:spcBef>
              <a:buFont typeface="Wingdings" pitchFamily="2" charset="2"/>
              <a:buAutoNum type="arabicPeriod"/>
            </a:pPr>
            <a:r>
              <a:rPr lang="en-US" altLang="zh-TW" sz="1800" dirty="0" smtClean="0"/>
              <a:t>Multiple OSs on a single machine can share the same partition.</a:t>
            </a:r>
          </a:p>
          <a:p>
            <a:pPr eaLnBrk="1" hangingPunct="1">
              <a:lnSpc>
                <a:spcPct val="80000"/>
              </a:lnSpc>
              <a:spcBef>
                <a:spcPts val="600"/>
              </a:spcBef>
              <a:buFont typeface="Wingdings" pitchFamily="2" charset="2"/>
              <a:buChar char="w"/>
            </a:pPr>
            <a:r>
              <a:rPr lang="en-US" altLang="zh-TW" sz="1800" dirty="0" smtClean="0"/>
              <a:t>System performance: </a:t>
            </a:r>
            <a:r>
              <a:rPr lang="en-US" altLang="zh-TW" sz="1800" strike="sngStrike" dirty="0" smtClean="0"/>
              <a:t>light load (access less frequently),  disk not full, </a:t>
            </a:r>
            <a:r>
              <a:rPr lang="en-US" altLang="zh-TW" sz="1800" strike="sngStrike" dirty="0" smtClean="0">
                <a:latin typeface="Times New Roman" pitchFamily="18" charset="0"/>
              </a:rPr>
              <a:t>…</a:t>
            </a:r>
            <a:r>
              <a:rPr lang="en-US" altLang="zh-TW" sz="1800" strike="sngStrike" dirty="0" smtClean="0"/>
              <a:t> </a:t>
            </a:r>
          </a:p>
        </p:txBody>
      </p:sp>
      <p:sp>
        <p:nvSpPr>
          <p:cNvPr id="2" name="文字方塊 1"/>
          <p:cNvSpPr txBox="1">
            <a:spLocks noChangeArrowheads="1"/>
          </p:cNvSpPr>
          <p:nvPr/>
        </p:nvSpPr>
        <p:spPr bwMode="auto">
          <a:xfrm>
            <a:off x="4208445" y="3303213"/>
            <a:ext cx="1676400" cy="338138"/>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1600" dirty="0">
                <a:solidFill>
                  <a:srgbClr val="FF0000"/>
                </a:solidFill>
              </a:rPr>
              <a:t>stack, heap, etc.</a:t>
            </a:r>
            <a:endParaRPr lang="zh-TW" altLang="en-US" sz="1600" dirty="0">
              <a:solidFill>
                <a:srgbClr val="FF0000"/>
              </a:solidFill>
            </a:endParaRPr>
          </a:p>
        </p:txBody>
      </p:sp>
      <p:sp>
        <p:nvSpPr>
          <p:cNvPr id="3" name="矩形 2"/>
          <p:cNvSpPr/>
          <p:nvPr/>
        </p:nvSpPr>
        <p:spPr>
          <a:xfrm>
            <a:off x="3930650" y="3744546"/>
            <a:ext cx="5245100" cy="1200329"/>
          </a:xfrm>
          <a:prstGeom prst="rect">
            <a:avLst/>
          </a:prstGeom>
          <a:solidFill>
            <a:srgbClr val="FFFF00"/>
          </a:solidFill>
        </p:spPr>
        <p:txBody>
          <a:bodyPr wrap="square">
            <a:spAutoFit/>
          </a:bodyPr>
          <a:lstStyle/>
          <a:p>
            <a:r>
              <a:rPr lang="en-US" altLang="zh-TW" sz="1800" dirty="0"/>
              <a:t>This manager uses algorithms optimized for </a:t>
            </a:r>
            <a:r>
              <a:rPr lang="en-US" altLang="zh-TW" sz="1800" dirty="0" smtClean="0">
                <a:solidFill>
                  <a:srgbClr val="FF0000"/>
                </a:solidFill>
              </a:rPr>
              <a:t>speed</a:t>
            </a:r>
            <a:r>
              <a:rPr lang="en-US" altLang="zh-TW" sz="1800" dirty="0" smtClean="0"/>
              <a:t> rather </a:t>
            </a:r>
            <a:r>
              <a:rPr lang="en-US" altLang="zh-TW" sz="1800" dirty="0"/>
              <a:t>than for storage efficiency, because swap space is accessed much </a:t>
            </a:r>
            <a:r>
              <a:rPr lang="en-US" altLang="zh-TW" sz="1800" dirty="0" smtClean="0"/>
              <a:t>more frequently </a:t>
            </a:r>
            <a:r>
              <a:rPr lang="en-US" altLang="zh-TW" sz="1800" dirty="0"/>
              <a:t>than file systems (when it is used).</a:t>
            </a:r>
            <a:endParaRPr lang="zh-TW" altLang="en-US" sz="1800" dirty="0"/>
          </a:p>
        </p:txBody>
      </p:sp>
      <p:sp>
        <p:nvSpPr>
          <p:cNvPr id="4" name="矩形 3"/>
          <p:cNvSpPr/>
          <p:nvPr/>
        </p:nvSpPr>
        <p:spPr>
          <a:xfrm>
            <a:off x="5275697" y="5241835"/>
            <a:ext cx="3868303" cy="400110"/>
          </a:xfrm>
          <a:prstGeom prst="rect">
            <a:avLst/>
          </a:prstGeom>
          <a:solidFill>
            <a:srgbClr val="FFFF00"/>
          </a:solidFill>
        </p:spPr>
        <p:txBody>
          <a:bodyPr wrap="none">
            <a:spAutoFit/>
          </a:bodyPr>
          <a:lstStyle/>
          <a:p>
            <a:r>
              <a:rPr lang="en-US" altLang="zh-TW" sz="2000" dirty="0" smtClean="0"/>
              <a:t>Any </a:t>
            </a:r>
            <a:r>
              <a:rPr lang="en-US" altLang="zh-TW" sz="2000" dirty="0"/>
              <a:t>fragmentation is </a:t>
            </a:r>
            <a:r>
              <a:rPr lang="en-US" altLang="zh-TW" sz="2000" dirty="0" smtClean="0"/>
              <a:t>short-lived.</a:t>
            </a:r>
            <a:endParaRPr lang="zh-TW" altLang="en-US" sz="2000" dirty="0"/>
          </a:p>
        </p:txBody>
      </p:sp>
      <p:cxnSp>
        <p:nvCxnSpPr>
          <p:cNvPr id="6" name="直線單箭頭接點 5"/>
          <p:cNvCxnSpPr>
            <a:stCxn id="4" idx="0"/>
          </p:cNvCxnSpPr>
          <p:nvPr/>
        </p:nvCxnSpPr>
        <p:spPr bwMode="auto">
          <a:xfrm flipH="1" flipV="1">
            <a:off x="6756400" y="4344710"/>
            <a:ext cx="453449" cy="897125"/>
          </a:xfrm>
          <a:prstGeom prst="straightConnector1">
            <a:avLst/>
          </a:prstGeom>
          <a:solidFill>
            <a:schemeClr val="accent1"/>
          </a:solidFill>
          <a:ln w="2857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8">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8">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67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678">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678">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678">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678">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8678">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678">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8678">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anim calcmode="lin" valueType="num">
                                      <p:cBhvr additive="base">
                                        <p:cTn id="39" dur="500" fill="hold"/>
                                        <p:tgtEl>
                                          <p:spTgt spid="3"/>
                                        </p:tgtEl>
                                        <p:attrNameLst>
                                          <p:attrName>ppt_x</p:attrName>
                                        </p:attrNameLst>
                                      </p:cBhvr>
                                      <p:tavLst>
                                        <p:tav tm="0">
                                          <p:val>
                                            <p:strVal val="#ppt_x"/>
                                          </p:val>
                                        </p:tav>
                                        <p:tav tm="100000">
                                          <p:val>
                                            <p:strVal val="#ppt_x"/>
                                          </p:val>
                                        </p:tav>
                                      </p:tavLst>
                                    </p:anim>
                                    <p:anim calcmode="lin" valueType="num">
                                      <p:cBhvr additive="base">
                                        <p:cTn id="4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日期版面配置區 2"/>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BC6FEB07-1F9E-4E90-996F-EE708EEC3455}" type="datetime1">
              <a:rPr kumimoji="0" lang="zh-TW" altLang="en-US" sz="1400" smtClean="0"/>
              <a:t>2018/5/4</a:t>
            </a:fld>
            <a:endParaRPr kumimoji="0" lang="en-US" altLang="zh-TW" sz="1400" smtClean="0"/>
          </a:p>
        </p:txBody>
      </p:sp>
      <p:sp>
        <p:nvSpPr>
          <p:cNvPr id="29699" name="頁尾版面配置區 3"/>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29700" name="投影片編號版面配置區 4"/>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E9679D4A-5B57-4B61-8DF2-9FFB80024BFB}" type="slidenum">
              <a:rPr kumimoji="0" lang="zh-TW" altLang="en-US" sz="1400" smtClean="0"/>
              <a:pPr eaLnBrk="1" hangingPunct="1"/>
              <a:t>30</a:t>
            </a:fld>
            <a:endParaRPr kumimoji="0" lang="en-US" altLang="zh-TW" sz="1400" smtClean="0"/>
          </a:p>
        </p:txBody>
      </p:sp>
      <p:sp>
        <p:nvSpPr>
          <p:cNvPr id="29701" name="Rectangle 2"/>
          <p:cNvSpPr>
            <a:spLocks noGrp="1" noChangeArrowheads="1"/>
          </p:cNvSpPr>
          <p:nvPr>
            <p:ph type="title"/>
          </p:nvPr>
        </p:nvSpPr>
        <p:spPr/>
        <p:txBody>
          <a:bodyPr/>
          <a:lstStyle/>
          <a:p>
            <a:pPr eaLnBrk="1" hangingPunct="1"/>
            <a:r>
              <a:rPr lang="en-US" altLang="zh-TW" sz="4000" smtClean="0"/>
              <a:t>Data Structures for Swapping on Linux Systems</a:t>
            </a:r>
            <a:endParaRPr lang="en-US" altLang="zh-TW" sz="3200" smtClean="0"/>
          </a:p>
        </p:txBody>
      </p:sp>
      <p:pic>
        <p:nvPicPr>
          <p:cNvPr id="29702" name="Picture 3"/>
          <p:cNvPicPr>
            <a:picLocks noChangeAspect="1" noChangeArrowheads="1"/>
          </p:cNvPicPr>
          <p:nvPr/>
        </p:nvPicPr>
        <p:blipFill>
          <a:blip r:embed="rId3">
            <a:extLst>
              <a:ext uri="{28A0092B-C50C-407E-A947-70E740481C1C}">
                <a14:useLocalDpi xmlns:a14="http://schemas.microsoft.com/office/drawing/2010/main" val="0"/>
              </a:ext>
            </a:extLst>
          </a:blip>
          <a:srcRect l="455" t="25471" r="455" b="25760"/>
          <a:stretch>
            <a:fillRect/>
          </a:stretch>
        </p:blipFill>
        <p:spPr bwMode="auto">
          <a:xfrm>
            <a:off x="412750" y="2093913"/>
            <a:ext cx="7926388" cy="2925762"/>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703" name="Text Box 4"/>
          <p:cNvSpPr txBox="1">
            <a:spLocks noChangeArrowheads="1"/>
          </p:cNvSpPr>
          <p:nvPr/>
        </p:nvSpPr>
        <p:spPr bwMode="auto">
          <a:xfrm>
            <a:off x="4446588" y="5157788"/>
            <a:ext cx="20526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1600">
                <a:solidFill>
                  <a:srgbClr val="FF0000"/>
                </a:solidFill>
              </a:rPr>
              <a:t>3 different processes</a:t>
            </a:r>
          </a:p>
        </p:txBody>
      </p:sp>
      <p:sp>
        <p:nvSpPr>
          <p:cNvPr id="29704" name="Line 5"/>
          <p:cNvSpPr>
            <a:spLocks noChangeShapeType="1"/>
          </p:cNvSpPr>
          <p:nvPr/>
        </p:nvSpPr>
        <p:spPr bwMode="auto">
          <a:xfrm flipH="1" flipV="1">
            <a:off x="5221288" y="4908550"/>
            <a:ext cx="41275"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日期版面配置區 2"/>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DD455C6A-F1CB-4F63-AA1A-646E3A40DDCC}" type="datetime1">
              <a:rPr kumimoji="0" lang="zh-TW" altLang="en-US" sz="1400" smtClean="0"/>
              <a:t>2018/5/4</a:t>
            </a:fld>
            <a:endParaRPr kumimoji="0" lang="en-US" altLang="zh-TW" sz="1400" smtClean="0"/>
          </a:p>
        </p:txBody>
      </p:sp>
      <p:sp>
        <p:nvSpPr>
          <p:cNvPr id="30723" name="頁尾版面配置區 3"/>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30724" name="投影片編號版面配置區 4"/>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5187541F-D3C8-478B-845E-EDA42F0D51DD}" type="slidenum">
              <a:rPr kumimoji="0" lang="zh-TW" altLang="en-US" sz="1400" smtClean="0"/>
              <a:pPr eaLnBrk="1" hangingPunct="1"/>
              <a:t>31</a:t>
            </a:fld>
            <a:endParaRPr kumimoji="0" lang="en-US" altLang="zh-TW" sz="1400" smtClean="0"/>
          </a:p>
        </p:txBody>
      </p:sp>
      <p:sp>
        <p:nvSpPr>
          <p:cNvPr id="30725" name="Rectangle 2"/>
          <p:cNvSpPr>
            <a:spLocks noGrp="1" noChangeArrowheads="1"/>
          </p:cNvSpPr>
          <p:nvPr>
            <p:ph type="title"/>
          </p:nvPr>
        </p:nvSpPr>
        <p:spPr>
          <a:xfrm>
            <a:off x="609600" y="304800"/>
            <a:ext cx="7772400" cy="954088"/>
          </a:xfrm>
        </p:spPr>
        <p:txBody>
          <a:bodyPr/>
          <a:lstStyle/>
          <a:p>
            <a:pPr algn="ctr" eaLnBrk="1" hangingPunct="1"/>
            <a:r>
              <a:rPr lang="en-US" altLang="zh-TW" smtClean="0"/>
              <a:t>BSD Text-Segment Swap Map </a:t>
            </a:r>
            <a:endParaRPr lang="en-US" altLang="zh-TW" sz="3600" smtClean="0"/>
          </a:p>
        </p:txBody>
      </p:sp>
      <p:pic>
        <p:nvPicPr>
          <p:cNvPr id="30726" name="Picture 3"/>
          <p:cNvPicPr>
            <a:picLocks noChangeAspect="1" noChangeArrowheads="1"/>
          </p:cNvPicPr>
          <p:nvPr/>
        </p:nvPicPr>
        <p:blipFill>
          <a:blip r:embed="rId3">
            <a:extLst>
              <a:ext uri="{28A0092B-C50C-407E-A947-70E740481C1C}">
                <a14:useLocalDpi xmlns:a14="http://schemas.microsoft.com/office/drawing/2010/main" val="0"/>
              </a:ext>
            </a:extLst>
          </a:blip>
          <a:srcRect l="1306" t="31264" r="974" b="30820"/>
          <a:stretch>
            <a:fillRect/>
          </a:stretch>
        </p:blipFill>
        <p:spPr bwMode="auto">
          <a:xfrm>
            <a:off x="514350" y="2041525"/>
            <a:ext cx="8143875" cy="2370138"/>
          </a:xfrm>
          <a:prstGeom prst="rect">
            <a:avLst/>
          </a:prstGeom>
          <a:noFill/>
          <a:ln w="57150" cmpd="thickThin">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版面配置區 2"/>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A201055C-B5B0-46AD-8405-3089C4A70D0C}" type="datetime1">
              <a:rPr kumimoji="0" lang="zh-TW" altLang="en-US" sz="1400" smtClean="0"/>
              <a:t>2018/5/4</a:t>
            </a:fld>
            <a:endParaRPr kumimoji="0" lang="en-US" altLang="zh-TW" sz="1400" smtClean="0"/>
          </a:p>
        </p:txBody>
      </p:sp>
      <p:sp>
        <p:nvSpPr>
          <p:cNvPr id="31747" name="頁尾版面配置區 3"/>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31748" name="投影片編號版面配置區 4"/>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BFFA866E-71BD-4809-A12E-706D5EDD4077}" type="slidenum">
              <a:rPr kumimoji="0" lang="zh-TW" altLang="en-US" sz="1400" smtClean="0"/>
              <a:pPr eaLnBrk="1" hangingPunct="1"/>
              <a:t>32</a:t>
            </a:fld>
            <a:endParaRPr kumimoji="0" lang="en-US" altLang="zh-TW" sz="1400" smtClean="0"/>
          </a:p>
        </p:txBody>
      </p:sp>
      <p:sp>
        <p:nvSpPr>
          <p:cNvPr id="31749" name="Rectangle 2"/>
          <p:cNvSpPr>
            <a:spLocks noGrp="1" noChangeArrowheads="1"/>
          </p:cNvSpPr>
          <p:nvPr>
            <p:ph type="title"/>
          </p:nvPr>
        </p:nvSpPr>
        <p:spPr>
          <a:xfrm>
            <a:off x="533400" y="304800"/>
            <a:ext cx="7772400" cy="844550"/>
          </a:xfrm>
        </p:spPr>
        <p:txBody>
          <a:bodyPr/>
          <a:lstStyle/>
          <a:p>
            <a:pPr algn="ctr" eaLnBrk="1" hangingPunct="1"/>
            <a:r>
              <a:rPr lang="en-US" altLang="zh-TW" smtClean="0"/>
              <a:t>BSD Data-Segment Swap Map</a:t>
            </a:r>
            <a:endParaRPr lang="en-US" altLang="zh-TW" sz="3600" smtClean="0"/>
          </a:p>
        </p:txBody>
      </p:sp>
      <p:pic>
        <p:nvPicPr>
          <p:cNvPr id="31750" name="Picture 3"/>
          <p:cNvPicPr>
            <a:picLocks noChangeAspect="1" noChangeArrowheads="1"/>
          </p:cNvPicPr>
          <p:nvPr/>
        </p:nvPicPr>
        <p:blipFill>
          <a:blip r:embed="rId3">
            <a:extLst>
              <a:ext uri="{28A0092B-C50C-407E-A947-70E740481C1C}">
                <a14:useLocalDpi xmlns:a14="http://schemas.microsoft.com/office/drawing/2010/main" val="0"/>
              </a:ext>
            </a:extLst>
          </a:blip>
          <a:srcRect l="880" t="34462" r="2438" b="34193"/>
          <a:stretch>
            <a:fillRect/>
          </a:stretch>
        </p:blipFill>
        <p:spPr bwMode="auto">
          <a:xfrm>
            <a:off x="730250" y="2225675"/>
            <a:ext cx="7996238" cy="1944688"/>
          </a:xfrm>
          <a:prstGeom prst="rect">
            <a:avLst/>
          </a:prstGeom>
          <a:noFill/>
          <a:ln w="57150" cmpd="thickThin">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89C06BF5-F240-4B2D-927F-55830346B4F2}" type="datetime1">
              <a:rPr kumimoji="0" lang="zh-TW" altLang="en-US" sz="1400" smtClean="0"/>
              <a:t>2018/5/4</a:t>
            </a:fld>
            <a:endParaRPr kumimoji="0" lang="en-US" altLang="zh-TW" sz="1400" smtClean="0"/>
          </a:p>
        </p:txBody>
      </p:sp>
      <p:sp>
        <p:nvSpPr>
          <p:cNvPr id="32771"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32772"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35FBAAA9-EDDF-449E-B0DB-AF35F5DCFF50}" type="slidenum">
              <a:rPr kumimoji="0" lang="zh-TW" altLang="en-US" sz="1400" smtClean="0"/>
              <a:pPr eaLnBrk="1" hangingPunct="1"/>
              <a:t>33</a:t>
            </a:fld>
            <a:endParaRPr kumimoji="0" lang="en-US" altLang="zh-TW" sz="1400" smtClean="0"/>
          </a:p>
        </p:txBody>
      </p:sp>
      <p:sp>
        <p:nvSpPr>
          <p:cNvPr id="32773" name="Rectangle 1026"/>
          <p:cNvSpPr>
            <a:spLocks noGrp="1" noChangeArrowheads="1"/>
          </p:cNvSpPr>
          <p:nvPr>
            <p:ph type="title"/>
          </p:nvPr>
        </p:nvSpPr>
        <p:spPr/>
        <p:txBody>
          <a:bodyPr/>
          <a:lstStyle/>
          <a:p>
            <a:pPr eaLnBrk="1" hangingPunct="1"/>
            <a:r>
              <a:rPr lang="en-US" altLang="zh-TW" sz="4000" smtClean="0"/>
              <a:t>RAID Structure (1)</a:t>
            </a:r>
            <a:br>
              <a:rPr lang="en-US" altLang="zh-TW" sz="4000" smtClean="0"/>
            </a:br>
            <a:r>
              <a:rPr lang="en-US" altLang="zh-TW" sz="3200" u="sng" smtClean="0">
                <a:solidFill>
                  <a:srgbClr val="FF0000"/>
                </a:solidFill>
              </a:rPr>
              <a:t>R</a:t>
            </a:r>
            <a:r>
              <a:rPr lang="en-US" altLang="zh-TW" sz="3200" smtClean="0"/>
              <a:t>edundant </a:t>
            </a:r>
            <a:r>
              <a:rPr lang="en-US" altLang="zh-TW" sz="3200" u="sng" smtClean="0">
                <a:solidFill>
                  <a:srgbClr val="FF0000"/>
                </a:solidFill>
              </a:rPr>
              <a:t>A</a:t>
            </a:r>
            <a:r>
              <a:rPr lang="en-US" altLang="zh-TW" sz="3200" smtClean="0"/>
              <a:t>rray of </a:t>
            </a:r>
            <a:r>
              <a:rPr lang="en-US" altLang="zh-TW" sz="3200" u="sng" smtClean="0">
                <a:solidFill>
                  <a:srgbClr val="FF0000"/>
                </a:solidFill>
              </a:rPr>
              <a:t>I</a:t>
            </a:r>
            <a:r>
              <a:rPr lang="en-US" altLang="zh-TW" sz="3200" smtClean="0"/>
              <a:t>ndependent </a:t>
            </a:r>
            <a:r>
              <a:rPr lang="en-US" altLang="zh-TW" sz="3200" u="sng" smtClean="0">
                <a:solidFill>
                  <a:srgbClr val="FF0000"/>
                </a:solidFill>
              </a:rPr>
              <a:t>D</a:t>
            </a:r>
            <a:r>
              <a:rPr lang="en-US" altLang="zh-TW" sz="3200" smtClean="0"/>
              <a:t>isks</a:t>
            </a:r>
          </a:p>
        </p:txBody>
      </p:sp>
      <p:sp>
        <p:nvSpPr>
          <p:cNvPr id="90115" name="Rectangle 1027" descr="Rectangle: Click to edit Master text styles&#10;Second level&#10;Third level&#10;Fourth level&#10;Fifth level"/>
          <p:cNvSpPr>
            <a:spLocks noGrp="1" noChangeArrowheads="1"/>
          </p:cNvSpPr>
          <p:nvPr>
            <p:ph type="body" idx="1"/>
          </p:nvPr>
        </p:nvSpPr>
        <p:spPr>
          <a:xfrm>
            <a:off x="592138" y="1614488"/>
            <a:ext cx="8048625" cy="4462462"/>
          </a:xfrm>
        </p:spPr>
        <p:txBody>
          <a:bodyPr/>
          <a:lstStyle/>
          <a:p>
            <a:pPr eaLnBrk="1" hangingPunct="1"/>
            <a:r>
              <a:rPr lang="en-US" altLang="zh-TW" b="1" dirty="0" smtClean="0"/>
              <a:t>RAID</a:t>
            </a:r>
            <a:r>
              <a:rPr lang="en-US" altLang="zh-TW" dirty="0" smtClean="0"/>
              <a:t> </a:t>
            </a:r>
            <a:r>
              <a:rPr lang="en-US" altLang="zh-TW" dirty="0" smtClean="0">
                <a:latin typeface="Helvetica" pitchFamily="34" charset="0"/>
              </a:rPr>
              <a:t>–</a:t>
            </a:r>
            <a:r>
              <a:rPr lang="en-US" altLang="zh-TW" dirty="0" smtClean="0"/>
              <a:t> </a:t>
            </a:r>
            <a:r>
              <a:rPr lang="en-US" altLang="zh-TW" dirty="0" smtClean="0">
                <a:solidFill>
                  <a:srgbClr val="FF0000"/>
                </a:solidFill>
              </a:rPr>
              <a:t>multiple</a:t>
            </a:r>
            <a:r>
              <a:rPr lang="en-US" altLang="zh-TW" dirty="0" smtClean="0"/>
              <a:t> disk drives provides </a:t>
            </a:r>
            <a:r>
              <a:rPr lang="en-US" altLang="zh-TW" b="1" dirty="0" smtClean="0">
                <a:solidFill>
                  <a:srgbClr val="FF0000"/>
                </a:solidFill>
              </a:rPr>
              <a:t>reliability</a:t>
            </a:r>
            <a:r>
              <a:rPr lang="en-US" altLang="zh-TW" dirty="0" smtClean="0">
                <a:solidFill>
                  <a:srgbClr val="FF0000"/>
                </a:solidFill>
              </a:rPr>
              <a:t> via </a:t>
            </a:r>
            <a:r>
              <a:rPr lang="en-US" altLang="zh-TW" b="1" dirty="0" smtClean="0">
                <a:solidFill>
                  <a:srgbClr val="FF0000"/>
                </a:solidFill>
              </a:rPr>
              <a:t>redundancy</a:t>
            </a:r>
            <a:endParaRPr lang="en-US" altLang="zh-TW" dirty="0" smtClean="0">
              <a:solidFill>
                <a:srgbClr val="FF0000"/>
              </a:solidFill>
            </a:endParaRPr>
          </a:p>
          <a:p>
            <a:pPr eaLnBrk="1" hangingPunct="1"/>
            <a:endParaRPr lang="en-US" altLang="zh-TW" dirty="0" smtClean="0"/>
          </a:p>
          <a:p>
            <a:pPr eaLnBrk="1" hangingPunct="1"/>
            <a:r>
              <a:rPr lang="en-US" altLang="zh-TW" dirty="0" smtClean="0"/>
              <a:t>RAID is arranged into different levels</a:t>
            </a:r>
          </a:p>
          <a:p>
            <a:pPr lvl="1" eaLnBrk="1" hangingPunct="1"/>
            <a:r>
              <a:rPr lang="en-US" altLang="zh-TW" b="1" dirty="0" smtClean="0">
                <a:solidFill>
                  <a:srgbClr val="FF0000"/>
                </a:solidFill>
              </a:rPr>
              <a:t>Disk Stripping</a:t>
            </a:r>
            <a:r>
              <a:rPr lang="en-US" altLang="zh-TW" dirty="0" smtClean="0"/>
              <a:t> combined with </a:t>
            </a:r>
            <a:r>
              <a:rPr lang="en-US" altLang="zh-TW" dirty="0" smtClean="0">
                <a:latin typeface="Helvetica" pitchFamily="34" charset="0"/>
              </a:rPr>
              <a:t>“</a:t>
            </a:r>
            <a:r>
              <a:rPr lang="en-US" altLang="zh-TW" dirty="0" smtClean="0"/>
              <a:t>parity</a:t>
            </a:r>
            <a:r>
              <a:rPr lang="en-US" altLang="zh-TW" dirty="0" smtClean="0">
                <a:latin typeface="Helvetica" pitchFamily="34" charset="0"/>
              </a:rPr>
              <a:t>”</a:t>
            </a:r>
            <a:r>
              <a:rPr lang="en-US" altLang="zh-TW" dirty="0" smtClean="0"/>
              <a:t> bits</a:t>
            </a:r>
          </a:p>
          <a:p>
            <a:pPr lvl="1" eaLnBrk="1" hangingPunct="1"/>
            <a:r>
              <a:rPr lang="en-US" altLang="zh-TW" dirty="0" smtClean="0">
                <a:solidFill>
                  <a:srgbClr val="FF0000"/>
                </a:solidFill>
              </a:rPr>
              <a:t>Redundancy</a:t>
            </a:r>
            <a:r>
              <a:rPr lang="en-US" altLang="zh-TW" dirty="0" smtClean="0"/>
              <a:t> at lowest cost</a:t>
            </a:r>
          </a:p>
        </p:txBody>
      </p:sp>
      <p:sp>
        <p:nvSpPr>
          <p:cNvPr id="32775" name="Rectangle 1028"/>
          <p:cNvSpPr>
            <a:spLocks noChangeArrowheads="1"/>
          </p:cNvSpPr>
          <p:nvPr/>
        </p:nvSpPr>
        <p:spPr bwMode="auto">
          <a:xfrm>
            <a:off x="1277938" y="5413375"/>
            <a:ext cx="5500687" cy="3778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
        <p:nvSpPr>
          <p:cNvPr id="32776" name="Line 1029"/>
          <p:cNvSpPr>
            <a:spLocks noChangeShapeType="1"/>
          </p:cNvSpPr>
          <p:nvPr/>
        </p:nvSpPr>
        <p:spPr bwMode="auto">
          <a:xfrm>
            <a:off x="1741488" y="5413375"/>
            <a:ext cx="0" cy="377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32777" name="Line 1030"/>
          <p:cNvSpPr>
            <a:spLocks noChangeShapeType="1"/>
          </p:cNvSpPr>
          <p:nvPr/>
        </p:nvSpPr>
        <p:spPr bwMode="auto">
          <a:xfrm>
            <a:off x="2198688" y="5399088"/>
            <a:ext cx="0" cy="40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32778" name="Line 1031"/>
          <p:cNvSpPr>
            <a:spLocks noChangeShapeType="1"/>
          </p:cNvSpPr>
          <p:nvPr/>
        </p:nvSpPr>
        <p:spPr bwMode="auto">
          <a:xfrm>
            <a:off x="2676525" y="5408613"/>
            <a:ext cx="0" cy="396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32779" name="Line 1032"/>
          <p:cNvSpPr>
            <a:spLocks noChangeShapeType="1"/>
          </p:cNvSpPr>
          <p:nvPr/>
        </p:nvSpPr>
        <p:spPr bwMode="auto">
          <a:xfrm>
            <a:off x="6364288" y="5413375"/>
            <a:ext cx="0" cy="382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32780" name="Line 1033"/>
          <p:cNvSpPr>
            <a:spLocks noChangeShapeType="1"/>
          </p:cNvSpPr>
          <p:nvPr/>
        </p:nvSpPr>
        <p:spPr bwMode="auto">
          <a:xfrm flipH="1">
            <a:off x="1349375" y="5834063"/>
            <a:ext cx="115888" cy="377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32781" name="Text Box 1034"/>
          <p:cNvSpPr txBox="1">
            <a:spLocks noChangeArrowheads="1"/>
          </p:cNvSpPr>
          <p:nvPr/>
        </p:nvSpPr>
        <p:spPr bwMode="auto">
          <a:xfrm>
            <a:off x="735013" y="6069013"/>
            <a:ext cx="9540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zh-TW" altLang="en-US" sz="1800">
                <a:solidFill>
                  <a:schemeClr val="tx2"/>
                </a:solidFill>
              </a:rPr>
              <a:t>1</a:t>
            </a:r>
            <a:r>
              <a:rPr lang="en-US" altLang="zh-TW" sz="1800">
                <a:solidFill>
                  <a:schemeClr val="tx2"/>
                </a:solidFill>
              </a:rPr>
              <a:t>st disk</a:t>
            </a:r>
          </a:p>
        </p:txBody>
      </p:sp>
      <p:sp>
        <p:nvSpPr>
          <p:cNvPr id="32782" name="Line 1035"/>
          <p:cNvSpPr>
            <a:spLocks noChangeShapeType="1"/>
          </p:cNvSpPr>
          <p:nvPr/>
        </p:nvSpPr>
        <p:spPr bwMode="auto">
          <a:xfrm>
            <a:off x="5862638" y="5408613"/>
            <a:ext cx="0" cy="396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32783" name="Line 1036"/>
          <p:cNvSpPr>
            <a:spLocks noChangeShapeType="1"/>
          </p:cNvSpPr>
          <p:nvPr/>
        </p:nvSpPr>
        <p:spPr bwMode="auto">
          <a:xfrm flipH="1">
            <a:off x="5988050" y="5856288"/>
            <a:ext cx="115888" cy="377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32784" name="Text Box 1037"/>
          <p:cNvSpPr txBox="1">
            <a:spLocks noChangeArrowheads="1"/>
          </p:cNvSpPr>
          <p:nvPr/>
        </p:nvSpPr>
        <p:spPr bwMode="auto">
          <a:xfrm>
            <a:off x="5445125" y="6207125"/>
            <a:ext cx="9794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1800">
                <a:solidFill>
                  <a:schemeClr val="tx2"/>
                </a:solidFill>
              </a:rPr>
              <a:t>7th disk</a:t>
            </a:r>
          </a:p>
        </p:txBody>
      </p:sp>
      <p:sp>
        <p:nvSpPr>
          <p:cNvPr id="32785" name="Line 1038"/>
          <p:cNvSpPr>
            <a:spLocks noChangeShapeType="1"/>
          </p:cNvSpPr>
          <p:nvPr/>
        </p:nvSpPr>
        <p:spPr bwMode="auto">
          <a:xfrm>
            <a:off x="6619875" y="5848350"/>
            <a:ext cx="319088" cy="3349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32786" name="Text Box 1040"/>
          <p:cNvSpPr txBox="1">
            <a:spLocks noChangeArrowheads="1"/>
          </p:cNvSpPr>
          <p:nvPr/>
        </p:nvSpPr>
        <p:spPr bwMode="auto">
          <a:xfrm>
            <a:off x="6656388" y="6199188"/>
            <a:ext cx="12239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1800">
                <a:solidFill>
                  <a:schemeClr val="tx2"/>
                </a:solidFill>
              </a:rPr>
              <a:t>parity disk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0115">
                                            <p:txEl>
                                              <p:pRg st="0" end="0"/>
                                            </p:txEl>
                                          </p:spTgt>
                                        </p:tgtEl>
                                        <p:attrNameLst>
                                          <p:attrName>style.visibility</p:attrName>
                                        </p:attrNameLst>
                                      </p:cBhvr>
                                      <p:to>
                                        <p:strVal val="visible"/>
                                      </p:to>
                                    </p:set>
                                    <p:animEffect transition="in" filter="blinds(horizontal)">
                                      <p:cBhvr>
                                        <p:cTn id="7" dur="500"/>
                                        <p:tgtEl>
                                          <p:spTgt spid="901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0115">
                                            <p:txEl>
                                              <p:pRg st="2" end="2"/>
                                            </p:txEl>
                                          </p:spTgt>
                                        </p:tgtEl>
                                        <p:attrNameLst>
                                          <p:attrName>style.visibility</p:attrName>
                                        </p:attrNameLst>
                                      </p:cBhvr>
                                      <p:to>
                                        <p:strVal val="visible"/>
                                      </p:to>
                                    </p:set>
                                    <p:animEffect transition="in" filter="blinds(horizontal)">
                                      <p:cBhvr>
                                        <p:cTn id="12" dur="500"/>
                                        <p:tgtEl>
                                          <p:spTgt spid="901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0115">
                                            <p:txEl>
                                              <p:pRg st="3" end="3"/>
                                            </p:txEl>
                                          </p:spTgt>
                                        </p:tgtEl>
                                        <p:attrNameLst>
                                          <p:attrName>style.visibility</p:attrName>
                                        </p:attrNameLst>
                                      </p:cBhvr>
                                      <p:to>
                                        <p:strVal val="visible"/>
                                      </p:to>
                                    </p:set>
                                    <p:animEffect transition="in" filter="blinds(horizontal)">
                                      <p:cBhvr>
                                        <p:cTn id="17" dur="500"/>
                                        <p:tgtEl>
                                          <p:spTgt spid="9011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90115">
                                            <p:txEl>
                                              <p:pRg st="4" end="4"/>
                                            </p:txEl>
                                          </p:spTgt>
                                        </p:tgtEl>
                                        <p:attrNameLst>
                                          <p:attrName>style.visibility</p:attrName>
                                        </p:attrNameLst>
                                      </p:cBhvr>
                                      <p:to>
                                        <p:strVal val="visible"/>
                                      </p:to>
                                    </p:set>
                                    <p:animEffect transition="in" filter="blinds(horizontal)">
                                      <p:cBhvr>
                                        <p:cTn id="22" dur="500"/>
                                        <p:tgtEl>
                                          <p:spTgt spid="901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4C091E67-D50E-41B8-B981-8A2CD0197EEE}" type="datetime1">
              <a:rPr kumimoji="0" lang="zh-TW" altLang="en-US" sz="1400" smtClean="0"/>
              <a:t>2018/5/4</a:t>
            </a:fld>
            <a:endParaRPr kumimoji="0" lang="en-US" altLang="zh-TW" sz="1400" smtClean="0"/>
          </a:p>
        </p:txBody>
      </p:sp>
      <p:sp>
        <p:nvSpPr>
          <p:cNvPr id="33795"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33796"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3F56EBF2-F5DC-49D3-B8E3-B8C12C593F11}" type="slidenum">
              <a:rPr kumimoji="0" lang="zh-TW" altLang="en-US" sz="1400" smtClean="0"/>
              <a:pPr eaLnBrk="1" hangingPunct="1"/>
              <a:t>34</a:t>
            </a:fld>
            <a:endParaRPr kumimoji="0" lang="en-US" altLang="zh-TW" sz="1400" smtClean="0"/>
          </a:p>
        </p:txBody>
      </p:sp>
      <p:sp>
        <p:nvSpPr>
          <p:cNvPr id="33797" name="Rectangle 2"/>
          <p:cNvSpPr>
            <a:spLocks noGrp="1" noChangeArrowheads="1"/>
          </p:cNvSpPr>
          <p:nvPr>
            <p:ph type="title"/>
          </p:nvPr>
        </p:nvSpPr>
        <p:spPr>
          <a:xfrm>
            <a:off x="609600" y="304800"/>
            <a:ext cx="7772400" cy="663575"/>
          </a:xfrm>
        </p:spPr>
        <p:txBody>
          <a:bodyPr/>
          <a:lstStyle/>
          <a:p>
            <a:pPr eaLnBrk="1" hangingPunct="1"/>
            <a:r>
              <a:rPr lang="en-US" altLang="zh-TW" smtClean="0"/>
              <a:t>RAID (2)</a:t>
            </a:r>
          </a:p>
        </p:txBody>
      </p:sp>
      <p:sp>
        <p:nvSpPr>
          <p:cNvPr id="93187" name="Rectangle 3" descr="Rectangle: Click to edit Master text styles&#10;Second level&#10;Third level&#10;Fourth level&#10;Fifth level"/>
          <p:cNvSpPr>
            <a:spLocks noGrp="1" noChangeArrowheads="1"/>
          </p:cNvSpPr>
          <p:nvPr>
            <p:ph type="body" idx="1"/>
          </p:nvPr>
        </p:nvSpPr>
        <p:spPr>
          <a:xfrm>
            <a:off x="431800" y="855663"/>
            <a:ext cx="8323263" cy="5556250"/>
          </a:xfrm>
        </p:spPr>
        <p:txBody>
          <a:bodyPr/>
          <a:lstStyle/>
          <a:p>
            <a:pPr eaLnBrk="1" hangingPunct="1">
              <a:lnSpc>
                <a:spcPct val="90000"/>
              </a:lnSpc>
              <a:defRPr/>
            </a:pPr>
            <a:r>
              <a:rPr lang="en-US" altLang="zh-TW" sz="2800" smtClean="0">
                <a:solidFill>
                  <a:srgbClr val="0000FF"/>
                </a:solidFill>
              </a:rPr>
              <a:t>mean time to failure</a:t>
            </a:r>
            <a:r>
              <a:rPr lang="en-US" altLang="zh-TW" sz="2800" smtClean="0"/>
              <a:t>,</a:t>
            </a:r>
            <a:r>
              <a:rPr lang="en-US" altLang="zh-TW" sz="2800" smtClean="0">
                <a:solidFill>
                  <a:srgbClr val="FF0000"/>
                </a:solidFill>
              </a:rPr>
              <a:t> </a:t>
            </a:r>
            <a:r>
              <a:rPr lang="en-US" altLang="zh-TW" sz="2800" smtClean="0">
                <a:solidFill>
                  <a:srgbClr val="0000FF"/>
                </a:solidFill>
              </a:rPr>
              <a:t>mean time to data loss</a:t>
            </a:r>
          </a:p>
          <a:p>
            <a:pPr eaLnBrk="1" hangingPunct="1">
              <a:lnSpc>
                <a:spcPct val="90000"/>
              </a:lnSpc>
              <a:spcBef>
                <a:spcPct val="60000"/>
              </a:spcBef>
              <a:defRPr/>
            </a:pPr>
            <a:r>
              <a:rPr lang="en-US" altLang="zh-TW" sz="2800" smtClean="0"/>
              <a:t>Several improvements in disk-use techniques involve the use of </a:t>
            </a:r>
            <a:r>
              <a:rPr lang="en-US" altLang="zh-TW" sz="2800" smtClean="0">
                <a:solidFill>
                  <a:srgbClr val="9933FF"/>
                </a:solidFill>
                <a:effectLst>
                  <a:outerShdw blurRad="38100" dist="38100" dir="2700000" algn="tl">
                    <a:srgbClr val="C0C0C0"/>
                  </a:outerShdw>
                </a:effectLst>
              </a:rPr>
              <a:t>multiple disks working cooperatively</a:t>
            </a:r>
          </a:p>
          <a:p>
            <a:pPr eaLnBrk="1" hangingPunct="1">
              <a:lnSpc>
                <a:spcPct val="90000"/>
              </a:lnSpc>
              <a:spcBef>
                <a:spcPct val="60000"/>
              </a:spcBef>
              <a:defRPr/>
            </a:pPr>
            <a:r>
              <a:rPr lang="en-US" altLang="zh-TW" sz="2800" smtClean="0">
                <a:solidFill>
                  <a:srgbClr val="0000FF"/>
                </a:solidFill>
                <a:effectLst>
                  <a:outerShdw blurRad="38100" dist="38100" dir="2700000" algn="tl">
                    <a:srgbClr val="C0C0C0"/>
                  </a:outerShdw>
                </a:effectLst>
              </a:rPr>
              <a:t>Disk striping</a:t>
            </a:r>
            <a:r>
              <a:rPr lang="en-US" altLang="zh-TW" sz="2800" smtClean="0"/>
              <a:t> uses a group of disks as one storage unit (</a:t>
            </a:r>
            <a:r>
              <a:rPr lang="en-US" altLang="zh-TW" sz="2800" smtClean="0">
                <a:solidFill>
                  <a:srgbClr val="0000FF"/>
                </a:solidFill>
              </a:rPr>
              <a:t>bit-level striping</a:t>
            </a:r>
            <a:r>
              <a:rPr lang="en-US" altLang="zh-TW" sz="2800" smtClean="0"/>
              <a:t>,</a:t>
            </a:r>
            <a:r>
              <a:rPr lang="en-US" altLang="zh-TW" sz="2800" smtClean="0">
                <a:solidFill>
                  <a:srgbClr val="FF0000"/>
                </a:solidFill>
              </a:rPr>
              <a:t> </a:t>
            </a:r>
            <a:r>
              <a:rPr lang="en-US" altLang="zh-TW" sz="2800" smtClean="0">
                <a:solidFill>
                  <a:srgbClr val="0000FF"/>
                </a:solidFill>
              </a:rPr>
              <a:t>block-level striping</a:t>
            </a:r>
            <a:r>
              <a:rPr lang="en-US" altLang="zh-TW" sz="2800" smtClean="0"/>
              <a:t>)</a:t>
            </a:r>
          </a:p>
          <a:p>
            <a:pPr eaLnBrk="1" hangingPunct="1">
              <a:lnSpc>
                <a:spcPct val="90000"/>
              </a:lnSpc>
              <a:spcBef>
                <a:spcPct val="60000"/>
              </a:spcBef>
              <a:defRPr/>
            </a:pPr>
            <a:r>
              <a:rPr lang="en-US" altLang="zh-TW" sz="2800" smtClean="0"/>
              <a:t>RAID schemes </a:t>
            </a:r>
            <a:r>
              <a:rPr lang="en-US" altLang="zh-TW" sz="2800" smtClean="0">
                <a:solidFill>
                  <a:srgbClr val="0000FF"/>
                </a:solidFill>
              </a:rPr>
              <a:t>improve performance</a:t>
            </a:r>
            <a:r>
              <a:rPr lang="en-US" altLang="zh-TW" sz="2800" smtClean="0"/>
              <a:t> and </a:t>
            </a:r>
            <a:r>
              <a:rPr lang="en-US" altLang="zh-TW" sz="2800" smtClean="0">
                <a:solidFill>
                  <a:srgbClr val="0000FF"/>
                </a:solidFill>
              </a:rPr>
              <a:t>improve the reliability</a:t>
            </a:r>
            <a:r>
              <a:rPr lang="en-US" altLang="zh-TW" sz="2800" smtClean="0"/>
              <a:t> of the storage system by storing </a:t>
            </a:r>
            <a:r>
              <a:rPr lang="en-US" altLang="zh-TW" sz="2800" smtClean="0">
                <a:solidFill>
                  <a:srgbClr val="FF0000"/>
                </a:solidFill>
              </a:rPr>
              <a:t>redundant</a:t>
            </a:r>
            <a:r>
              <a:rPr lang="en-US" altLang="zh-TW" sz="2800" smtClean="0"/>
              <a:t> data</a:t>
            </a:r>
          </a:p>
          <a:p>
            <a:pPr lvl="1" eaLnBrk="1" hangingPunct="1">
              <a:lnSpc>
                <a:spcPct val="90000"/>
              </a:lnSpc>
              <a:defRPr/>
            </a:pPr>
            <a:r>
              <a:rPr lang="en-US" altLang="zh-TW" sz="2400" smtClean="0">
                <a:solidFill>
                  <a:srgbClr val="FF0000"/>
                </a:solidFill>
              </a:rPr>
              <a:t>Mirroring</a:t>
            </a:r>
            <a:r>
              <a:rPr lang="en-US" altLang="zh-TW" sz="2400" smtClean="0"/>
              <a:t> or shadowing keeps </a:t>
            </a:r>
            <a:r>
              <a:rPr lang="en-US" altLang="zh-TW" sz="2400" smtClean="0">
                <a:solidFill>
                  <a:srgbClr val="FF0000"/>
                </a:solidFill>
              </a:rPr>
              <a:t>duplicate</a:t>
            </a:r>
            <a:r>
              <a:rPr lang="en-US" altLang="zh-TW" sz="2400" smtClean="0"/>
              <a:t> of each disk</a:t>
            </a:r>
          </a:p>
          <a:p>
            <a:pPr lvl="1" eaLnBrk="1" hangingPunct="1">
              <a:lnSpc>
                <a:spcPct val="90000"/>
              </a:lnSpc>
              <a:spcBef>
                <a:spcPct val="50000"/>
              </a:spcBef>
              <a:defRPr/>
            </a:pPr>
            <a:r>
              <a:rPr lang="en-US" altLang="zh-TW" sz="2400" smtClean="0">
                <a:solidFill>
                  <a:srgbClr val="FF0000"/>
                </a:solidFill>
              </a:rPr>
              <a:t>Block interleaved parity</a:t>
            </a:r>
            <a:r>
              <a:rPr lang="en-US" altLang="zh-TW" sz="2400" smtClean="0"/>
              <a:t> uses much less redundancy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Effect transition="in" filter="blinds(horizontal)">
                                      <p:cBhvr>
                                        <p:cTn id="7" dur="500"/>
                                        <p:tgtEl>
                                          <p:spTgt spid="931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3187">
                                            <p:txEl>
                                              <p:pRg st="1" end="1"/>
                                            </p:txEl>
                                          </p:spTgt>
                                        </p:tgtEl>
                                        <p:attrNameLst>
                                          <p:attrName>style.visibility</p:attrName>
                                        </p:attrNameLst>
                                      </p:cBhvr>
                                      <p:to>
                                        <p:strVal val="visible"/>
                                      </p:to>
                                    </p:set>
                                    <p:animEffect transition="in" filter="blinds(horizontal)">
                                      <p:cBhvr>
                                        <p:cTn id="12" dur="500"/>
                                        <p:tgtEl>
                                          <p:spTgt spid="931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3187">
                                            <p:txEl>
                                              <p:pRg st="2" end="2"/>
                                            </p:txEl>
                                          </p:spTgt>
                                        </p:tgtEl>
                                        <p:attrNameLst>
                                          <p:attrName>style.visibility</p:attrName>
                                        </p:attrNameLst>
                                      </p:cBhvr>
                                      <p:to>
                                        <p:strVal val="visible"/>
                                      </p:to>
                                    </p:set>
                                    <p:animEffect transition="in" filter="blinds(horizontal)">
                                      <p:cBhvr>
                                        <p:cTn id="17" dur="500"/>
                                        <p:tgtEl>
                                          <p:spTgt spid="931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93187">
                                            <p:txEl>
                                              <p:pRg st="3" end="3"/>
                                            </p:txEl>
                                          </p:spTgt>
                                        </p:tgtEl>
                                        <p:attrNameLst>
                                          <p:attrName>style.visibility</p:attrName>
                                        </p:attrNameLst>
                                      </p:cBhvr>
                                      <p:to>
                                        <p:strVal val="visible"/>
                                      </p:to>
                                    </p:set>
                                    <p:animEffect transition="in" filter="blinds(horizontal)">
                                      <p:cBhvr>
                                        <p:cTn id="22" dur="500"/>
                                        <p:tgtEl>
                                          <p:spTgt spid="9318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93187">
                                            <p:txEl>
                                              <p:pRg st="4" end="4"/>
                                            </p:txEl>
                                          </p:spTgt>
                                        </p:tgtEl>
                                        <p:attrNameLst>
                                          <p:attrName>style.visibility</p:attrName>
                                        </p:attrNameLst>
                                      </p:cBhvr>
                                      <p:to>
                                        <p:strVal val="visible"/>
                                      </p:to>
                                    </p:set>
                                    <p:animEffect transition="in" filter="blinds(horizontal)">
                                      <p:cBhvr>
                                        <p:cTn id="27" dur="500"/>
                                        <p:tgtEl>
                                          <p:spTgt spid="9318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93187">
                                            <p:txEl>
                                              <p:pRg st="5" end="5"/>
                                            </p:txEl>
                                          </p:spTgt>
                                        </p:tgtEl>
                                        <p:attrNameLst>
                                          <p:attrName>style.visibility</p:attrName>
                                        </p:attrNameLst>
                                      </p:cBhvr>
                                      <p:to>
                                        <p:strVal val="visible"/>
                                      </p:to>
                                    </p:set>
                                    <p:animEffect transition="in" filter="blinds(horizontal)">
                                      <p:cBhvr>
                                        <p:cTn id="32" dur="500"/>
                                        <p:tgtEl>
                                          <p:spTgt spid="931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版面配置區 2"/>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6051E042-9187-4771-9BCD-57A1ABD3C3A8}" type="datetime1">
              <a:rPr kumimoji="0" lang="zh-TW" altLang="en-US" sz="1400" smtClean="0"/>
              <a:t>2018/5/4</a:t>
            </a:fld>
            <a:endParaRPr kumimoji="0" lang="en-US" altLang="zh-TW" sz="1400" smtClean="0"/>
          </a:p>
        </p:txBody>
      </p:sp>
      <p:sp>
        <p:nvSpPr>
          <p:cNvPr id="34819" name="頁尾版面配置區 3"/>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34820" name="投影片編號版面配置區 4"/>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A1160A54-E2EB-4FDF-AC25-75B769F694B3}" type="slidenum">
              <a:rPr kumimoji="0" lang="zh-TW" altLang="en-US" sz="1400" smtClean="0"/>
              <a:pPr eaLnBrk="1" hangingPunct="1"/>
              <a:t>35</a:t>
            </a:fld>
            <a:endParaRPr kumimoji="0" lang="en-US" altLang="zh-TW" sz="1400" smtClean="0"/>
          </a:p>
        </p:txBody>
      </p:sp>
      <p:sp>
        <p:nvSpPr>
          <p:cNvPr id="34821" name="Rectangle 2"/>
          <p:cNvSpPr>
            <a:spLocks noGrp="1" noChangeArrowheads="1"/>
          </p:cNvSpPr>
          <p:nvPr>
            <p:ph type="title"/>
          </p:nvPr>
        </p:nvSpPr>
        <p:spPr>
          <a:xfrm>
            <a:off x="595313" y="377825"/>
            <a:ext cx="7772400" cy="533400"/>
          </a:xfrm>
        </p:spPr>
        <p:txBody>
          <a:bodyPr/>
          <a:lstStyle/>
          <a:p>
            <a:pPr eaLnBrk="1" hangingPunct="1"/>
            <a:r>
              <a:rPr lang="en-US" altLang="zh-TW" smtClean="0"/>
              <a:t>RAID Levels</a:t>
            </a:r>
            <a:endParaRPr lang="en-US" altLang="zh-TW" sz="3600" smtClean="0"/>
          </a:p>
        </p:txBody>
      </p:sp>
      <p:pic>
        <p:nvPicPr>
          <p:cNvPr id="34822" name="Picture 3"/>
          <p:cNvPicPr>
            <a:picLocks noChangeAspect="1" noChangeArrowheads="1"/>
          </p:cNvPicPr>
          <p:nvPr/>
        </p:nvPicPr>
        <p:blipFill>
          <a:blip r:embed="rId3">
            <a:extLst>
              <a:ext uri="{28A0092B-C50C-407E-A947-70E740481C1C}">
                <a14:useLocalDpi xmlns:a14="http://schemas.microsoft.com/office/drawing/2010/main" val="0"/>
              </a:ext>
            </a:extLst>
          </a:blip>
          <a:srcRect l="27727" t="1132" r="27901" b="1164"/>
          <a:stretch>
            <a:fillRect/>
          </a:stretch>
        </p:blipFill>
        <p:spPr bwMode="auto">
          <a:xfrm>
            <a:off x="2684463" y="1027113"/>
            <a:ext cx="4021137" cy="5438775"/>
          </a:xfrm>
          <a:prstGeom prst="rect">
            <a:avLst/>
          </a:prstGeom>
          <a:noFill/>
          <a:ln w="57150" cmpd="thickThin">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7876" name="Text Box 4"/>
          <p:cNvSpPr txBox="1">
            <a:spLocks noChangeArrowheads="1"/>
          </p:cNvSpPr>
          <p:nvPr/>
        </p:nvSpPr>
        <p:spPr bwMode="auto">
          <a:xfrm>
            <a:off x="450850" y="3048000"/>
            <a:ext cx="2586038"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spcBef>
                <a:spcPct val="50000"/>
              </a:spcBef>
            </a:pPr>
            <a:r>
              <a:rPr lang="en-US" altLang="zh-TW"/>
              <a:t>P: error correction bits</a:t>
            </a:r>
          </a:p>
          <a:p>
            <a:pPr eaLnBrk="1" hangingPunct="1">
              <a:spcBef>
                <a:spcPct val="50000"/>
              </a:spcBef>
            </a:pPr>
            <a:r>
              <a:rPr lang="en-US" altLang="zh-TW"/>
              <a:t>C: second copy</a:t>
            </a:r>
          </a:p>
        </p:txBody>
      </p:sp>
      <p:sp>
        <p:nvSpPr>
          <p:cNvPr id="34824" name="Text Box 5"/>
          <p:cNvSpPr txBox="1">
            <a:spLocks noChangeArrowheads="1"/>
          </p:cNvSpPr>
          <p:nvPr/>
        </p:nvSpPr>
        <p:spPr bwMode="auto">
          <a:xfrm>
            <a:off x="6686550" y="26082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
        <p:nvSpPr>
          <p:cNvPr id="207878" name="Text Box 6"/>
          <p:cNvSpPr txBox="1">
            <a:spLocks noChangeArrowheads="1"/>
          </p:cNvSpPr>
          <p:nvPr/>
        </p:nvSpPr>
        <p:spPr bwMode="auto">
          <a:xfrm>
            <a:off x="6642100" y="2409825"/>
            <a:ext cx="1450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a:solidFill>
                  <a:srgbClr val="FF0000"/>
                </a:solidFill>
              </a:rPr>
              <a:t>ECC code</a:t>
            </a:r>
          </a:p>
        </p:txBody>
      </p:sp>
      <p:sp>
        <p:nvSpPr>
          <p:cNvPr id="207879" name="Text Box 7"/>
          <p:cNvSpPr txBox="1">
            <a:spLocks noChangeArrowheads="1"/>
          </p:cNvSpPr>
          <p:nvPr/>
        </p:nvSpPr>
        <p:spPr bwMode="auto">
          <a:xfrm>
            <a:off x="6178550" y="3295650"/>
            <a:ext cx="226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a:solidFill>
                  <a:srgbClr val="FF0000"/>
                </a:solidFill>
              </a:rPr>
              <a:t>for one disk fail</a:t>
            </a:r>
          </a:p>
        </p:txBody>
      </p:sp>
      <p:sp>
        <p:nvSpPr>
          <p:cNvPr id="207880" name="Text Box 8"/>
          <p:cNvSpPr txBox="1">
            <a:spLocks noChangeArrowheads="1"/>
          </p:cNvSpPr>
          <p:nvPr/>
        </p:nvSpPr>
        <p:spPr bwMode="auto">
          <a:xfrm>
            <a:off x="6170613" y="4957763"/>
            <a:ext cx="2879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a:solidFill>
                  <a:srgbClr val="FF0000"/>
                </a:solidFill>
              </a:rPr>
              <a:t>spreading the parity</a:t>
            </a:r>
          </a:p>
        </p:txBody>
      </p:sp>
      <p:sp>
        <p:nvSpPr>
          <p:cNvPr id="207881" name="Text Box 9"/>
          <p:cNvSpPr txBox="1">
            <a:spLocks noChangeArrowheads="1"/>
          </p:cNvSpPr>
          <p:nvPr/>
        </p:nvSpPr>
        <p:spPr bwMode="auto">
          <a:xfrm>
            <a:off x="6380163" y="5618163"/>
            <a:ext cx="1874837"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a:solidFill>
                  <a:srgbClr val="FF0000"/>
                </a:solidFill>
              </a:rPr>
              <a:t>&gt;1 disk fail, </a:t>
            </a:r>
          </a:p>
          <a:p>
            <a:pPr eaLnBrk="1" hangingPunct="1"/>
            <a:r>
              <a:rPr lang="en-US" altLang="zh-TW">
                <a:solidFill>
                  <a:srgbClr val="FF0000"/>
                </a:solidFill>
              </a:rPr>
              <a:t>use RS code</a:t>
            </a:r>
          </a:p>
          <a:p>
            <a:pPr eaLnBrk="1" hangingPunct="1"/>
            <a:r>
              <a:rPr lang="en-US" altLang="zh-TW" sz="1600">
                <a:solidFill>
                  <a:srgbClr val="FF0000"/>
                </a:solidFill>
              </a:rPr>
              <a:t>Reed-Solomon</a:t>
            </a:r>
          </a:p>
        </p:txBody>
      </p:sp>
      <p:sp>
        <p:nvSpPr>
          <p:cNvPr id="207882" name="Text Box 10"/>
          <p:cNvSpPr txBox="1">
            <a:spLocks noChangeArrowheads="1"/>
          </p:cNvSpPr>
          <p:nvPr/>
        </p:nvSpPr>
        <p:spPr bwMode="auto">
          <a:xfrm>
            <a:off x="739775" y="5921375"/>
            <a:ext cx="172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spcBef>
                <a:spcPct val="50000"/>
              </a:spcBef>
            </a:pPr>
            <a:r>
              <a:rPr lang="zh-TW" altLang="en-US">
                <a:solidFill>
                  <a:srgbClr val="FF0000"/>
                </a:solidFill>
              </a:rPr>
              <a:t>4+2 </a:t>
            </a:r>
            <a:r>
              <a:rPr lang="en-US" altLang="zh-TW">
                <a:solidFill>
                  <a:srgbClr val="FF0000"/>
                </a:solidFill>
              </a:rPr>
              <a:t>code</a:t>
            </a:r>
          </a:p>
        </p:txBody>
      </p:sp>
      <p:sp>
        <p:nvSpPr>
          <p:cNvPr id="207883" name="Text Box 11"/>
          <p:cNvSpPr txBox="1">
            <a:spLocks noChangeArrowheads="1"/>
          </p:cNvSpPr>
          <p:nvPr/>
        </p:nvSpPr>
        <p:spPr bwMode="auto">
          <a:xfrm>
            <a:off x="5835650" y="906463"/>
            <a:ext cx="28892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1600">
                <a:solidFill>
                  <a:srgbClr val="0000FF"/>
                </a:solidFill>
              </a:rPr>
              <a:t>apply if data loss is not critical</a:t>
            </a:r>
          </a:p>
        </p:txBody>
      </p:sp>
      <p:sp>
        <p:nvSpPr>
          <p:cNvPr id="207884" name="Text Box 12"/>
          <p:cNvSpPr txBox="1">
            <a:spLocks noChangeArrowheads="1"/>
          </p:cNvSpPr>
          <p:nvPr/>
        </p:nvSpPr>
        <p:spPr bwMode="auto">
          <a:xfrm>
            <a:off x="6797675" y="1347788"/>
            <a:ext cx="23463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1600">
                <a:solidFill>
                  <a:srgbClr val="0000FF"/>
                </a:solidFill>
              </a:rPr>
              <a:t>high reliability and fast recovery</a:t>
            </a:r>
          </a:p>
        </p:txBody>
      </p:sp>
      <p:sp>
        <p:nvSpPr>
          <p:cNvPr id="207885" name="Line 13"/>
          <p:cNvSpPr>
            <a:spLocks noChangeShapeType="1"/>
          </p:cNvSpPr>
          <p:nvPr/>
        </p:nvSpPr>
        <p:spPr bwMode="auto">
          <a:xfrm flipH="1">
            <a:off x="5686425" y="1082675"/>
            <a:ext cx="193675" cy="555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207886" name="Line 14"/>
          <p:cNvSpPr>
            <a:spLocks noChangeShapeType="1"/>
          </p:cNvSpPr>
          <p:nvPr/>
        </p:nvSpPr>
        <p:spPr bwMode="auto">
          <a:xfrm flipH="1">
            <a:off x="6472238" y="1500188"/>
            <a:ext cx="330200" cy="2476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207887" name="Text Box 15"/>
          <p:cNvSpPr txBox="1">
            <a:spLocks noChangeArrowheads="1"/>
          </p:cNvSpPr>
          <p:nvPr/>
        </p:nvSpPr>
        <p:spPr bwMode="auto">
          <a:xfrm>
            <a:off x="388938" y="4981575"/>
            <a:ext cx="24495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1600">
                <a:solidFill>
                  <a:srgbClr val="0000FF"/>
                </a:solidFill>
              </a:rPr>
              <a:t>for large volume of data</a:t>
            </a:r>
          </a:p>
        </p:txBody>
      </p:sp>
      <p:sp>
        <p:nvSpPr>
          <p:cNvPr id="207888" name="Line 16"/>
          <p:cNvSpPr>
            <a:spLocks noChangeShapeType="1"/>
          </p:cNvSpPr>
          <p:nvPr/>
        </p:nvSpPr>
        <p:spPr bwMode="auto">
          <a:xfrm>
            <a:off x="2703513" y="5165725"/>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207889" name="Text Box 17"/>
          <p:cNvSpPr txBox="1">
            <a:spLocks noChangeArrowheads="1"/>
          </p:cNvSpPr>
          <p:nvPr/>
        </p:nvSpPr>
        <p:spPr bwMode="auto">
          <a:xfrm>
            <a:off x="836613" y="5662613"/>
            <a:ext cx="2073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1600">
                <a:solidFill>
                  <a:srgbClr val="0000FF"/>
                </a:solidFill>
              </a:rPr>
              <a:t>better reliable then 5</a:t>
            </a:r>
          </a:p>
        </p:txBody>
      </p:sp>
      <p:sp>
        <p:nvSpPr>
          <p:cNvPr id="34837" name="Line 18"/>
          <p:cNvSpPr>
            <a:spLocks noChangeShapeType="1"/>
          </p:cNvSpPr>
          <p:nvPr/>
        </p:nvSpPr>
        <p:spPr bwMode="auto">
          <a:xfrm>
            <a:off x="3000375" y="5935663"/>
            <a:ext cx="223838" cy="635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207891" name="Text Box 19"/>
          <p:cNvSpPr txBox="1">
            <a:spLocks noChangeArrowheads="1"/>
          </p:cNvSpPr>
          <p:nvPr/>
        </p:nvSpPr>
        <p:spPr bwMode="auto">
          <a:xfrm>
            <a:off x="5959475" y="3979863"/>
            <a:ext cx="3184525"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1800">
                <a:solidFill>
                  <a:srgbClr val="0000FF"/>
                </a:solidFill>
              </a:rPr>
              <a:t>Small write: cannot in parallel</a:t>
            </a:r>
          </a:p>
          <a:p>
            <a:pPr eaLnBrk="1" hangingPunct="1"/>
            <a:r>
              <a:rPr lang="en-US" altLang="zh-TW">
                <a:solidFill>
                  <a:srgbClr val="0000FF"/>
                </a:solidFill>
              </a:rPr>
              <a:t>read-modify-write</a:t>
            </a:r>
          </a:p>
        </p:txBody>
      </p:sp>
      <p:sp>
        <p:nvSpPr>
          <p:cNvPr id="207892" name="Text Box 20"/>
          <p:cNvSpPr txBox="1">
            <a:spLocks noChangeArrowheads="1"/>
          </p:cNvSpPr>
          <p:nvPr/>
        </p:nvSpPr>
        <p:spPr bwMode="auto">
          <a:xfrm>
            <a:off x="6040438" y="4011613"/>
            <a:ext cx="2614612" cy="671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1800">
                <a:solidFill>
                  <a:srgbClr val="0000FF"/>
                </a:solidFill>
              </a:rPr>
              <a:t>Block read, Large </a:t>
            </a:r>
          </a:p>
          <a:p>
            <a:pPr eaLnBrk="1" hangingPunct="1"/>
            <a:r>
              <a:rPr lang="en-US" altLang="zh-TW" sz="1800">
                <a:solidFill>
                  <a:srgbClr val="0000FF"/>
                </a:solidFill>
              </a:rPr>
              <a:t>read (write):</a:t>
            </a:r>
            <a:r>
              <a:rPr lang="en-US" altLang="zh-TW" sz="1600">
                <a:solidFill>
                  <a:srgbClr val="0000FF"/>
                </a:solidFill>
              </a:rPr>
              <a:t> </a:t>
            </a:r>
            <a:r>
              <a:rPr lang="en-US" altLang="zh-TW" sz="2000">
                <a:solidFill>
                  <a:srgbClr val="0000FF"/>
                </a:solidFill>
              </a:rPr>
              <a:t>in parallel</a:t>
            </a:r>
          </a:p>
        </p:txBody>
      </p:sp>
      <p:sp>
        <p:nvSpPr>
          <p:cNvPr id="207893" name="Text Box 21"/>
          <p:cNvSpPr txBox="1">
            <a:spLocks noChangeArrowheads="1"/>
          </p:cNvSpPr>
          <p:nvPr/>
        </p:nvSpPr>
        <p:spPr bwMode="auto">
          <a:xfrm>
            <a:off x="3763963" y="190500"/>
            <a:ext cx="53800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TW" sz="1800">
                <a:solidFill>
                  <a:srgbClr val="9933FF"/>
                </a:solidFill>
                <a:effectLst>
                  <a:outerShdw blurRad="38100" dist="38100" dir="2700000" algn="tl">
                    <a:srgbClr val="C0C0C0"/>
                  </a:outerShdw>
                </a:effectLst>
                <a:ea typeface="新細明體" charset="-120"/>
              </a:rPr>
              <a:t>single block write requires 4 disk accesses:</a:t>
            </a:r>
          </a:p>
          <a:p>
            <a:pPr>
              <a:defRPr/>
            </a:pPr>
            <a:r>
              <a:rPr lang="en-US" altLang="zh-TW" sz="1800">
                <a:solidFill>
                  <a:srgbClr val="9933FF"/>
                </a:solidFill>
                <a:effectLst>
                  <a:outerShdw blurRad="38100" dist="38100" dir="2700000" algn="tl">
                    <a:srgbClr val="C0C0C0"/>
                  </a:outerShdw>
                </a:effectLst>
                <a:ea typeface="新細明體" charset="-120"/>
              </a:rPr>
              <a:t>2 to read 2 old blocks, and 2 to write 2 new blocks</a:t>
            </a:r>
            <a:r>
              <a:rPr lang="en-US" altLang="zh-TW" sz="1800">
                <a:ea typeface="新細明體" charset="-12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7885"/>
                                        </p:tgtEl>
                                        <p:attrNameLst>
                                          <p:attrName>style.visibility</p:attrName>
                                        </p:attrNameLst>
                                      </p:cBhvr>
                                      <p:to>
                                        <p:strVal val="visible"/>
                                      </p:to>
                                    </p:set>
                                    <p:animEffect transition="in" filter="blinds(horizontal)">
                                      <p:cBhvr>
                                        <p:cTn id="7" dur="500"/>
                                        <p:tgtEl>
                                          <p:spTgt spid="20788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07883"/>
                                        </p:tgtEl>
                                        <p:attrNameLst>
                                          <p:attrName>style.visibility</p:attrName>
                                        </p:attrNameLst>
                                      </p:cBhvr>
                                      <p:to>
                                        <p:strVal val="visible"/>
                                      </p:to>
                                    </p:set>
                                    <p:animEffect transition="in" filter="blinds(horizontal)">
                                      <p:cBhvr>
                                        <p:cTn id="10" dur="500"/>
                                        <p:tgtEl>
                                          <p:spTgt spid="20788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07886"/>
                                        </p:tgtEl>
                                        <p:attrNameLst>
                                          <p:attrName>style.visibility</p:attrName>
                                        </p:attrNameLst>
                                      </p:cBhvr>
                                      <p:to>
                                        <p:strVal val="visible"/>
                                      </p:to>
                                    </p:set>
                                    <p:animEffect transition="in" filter="blinds(horizontal)">
                                      <p:cBhvr>
                                        <p:cTn id="15" dur="500"/>
                                        <p:tgtEl>
                                          <p:spTgt spid="20788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07884"/>
                                        </p:tgtEl>
                                        <p:attrNameLst>
                                          <p:attrName>style.visibility</p:attrName>
                                        </p:attrNameLst>
                                      </p:cBhvr>
                                      <p:to>
                                        <p:strVal val="visible"/>
                                      </p:to>
                                    </p:set>
                                    <p:animEffect transition="in" filter="blinds(horizontal)">
                                      <p:cBhvr>
                                        <p:cTn id="18" dur="500"/>
                                        <p:tgtEl>
                                          <p:spTgt spid="207884"/>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07876"/>
                                        </p:tgtEl>
                                        <p:attrNameLst>
                                          <p:attrName>style.visibility</p:attrName>
                                        </p:attrNameLst>
                                      </p:cBhvr>
                                      <p:to>
                                        <p:strVal val="visible"/>
                                      </p:to>
                                    </p:set>
                                    <p:animEffect transition="in" filter="blinds(horizontal)">
                                      <p:cBhvr>
                                        <p:cTn id="21" dur="500"/>
                                        <p:tgtEl>
                                          <p:spTgt spid="20787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07878"/>
                                        </p:tgtEl>
                                        <p:attrNameLst>
                                          <p:attrName>style.visibility</p:attrName>
                                        </p:attrNameLst>
                                      </p:cBhvr>
                                      <p:to>
                                        <p:strVal val="visible"/>
                                      </p:to>
                                    </p:set>
                                    <p:animEffect transition="in" filter="blinds(horizontal)">
                                      <p:cBhvr>
                                        <p:cTn id="26" dur="500"/>
                                        <p:tgtEl>
                                          <p:spTgt spid="20787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07879"/>
                                        </p:tgtEl>
                                        <p:attrNameLst>
                                          <p:attrName>style.visibility</p:attrName>
                                        </p:attrNameLst>
                                      </p:cBhvr>
                                      <p:to>
                                        <p:strVal val="visible"/>
                                      </p:to>
                                    </p:set>
                                    <p:animEffect transition="in" filter="blinds(horizontal)">
                                      <p:cBhvr>
                                        <p:cTn id="31" dur="500"/>
                                        <p:tgtEl>
                                          <p:spTgt spid="20787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07887"/>
                                        </p:tgtEl>
                                        <p:attrNameLst>
                                          <p:attrName>style.visibility</p:attrName>
                                        </p:attrNameLst>
                                      </p:cBhvr>
                                      <p:to>
                                        <p:strVal val="visible"/>
                                      </p:to>
                                    </p:set>
                                    <p:animEffect transition="in" filter="blinds(horizontal)">
                                      <p:cBhvr>
                                        <p:cTn id="36" dur="500"/>
                                        <p:tgtEl>
                                          <p:spTgt spid="207887"/>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207888"/>
                                        </p:tgtEl>
                                        <p:attrNameLst>
                                          <p:attrName>style.visibility</p:attrName>
                                        </p:attrNameLst>
                                      </p:cBhvr>
                                      <p:to>
                                        <p:strVal val="visible"/>
                                      </p:to>
                                    </p:set>
                                    <p:animEffect transition="in" filter="blinds(horizontal)">
                                      <p:cBhvr>
                                        <p:cTn id="39" dur="500"/>
                                        <p:tgtEl>
                                          <p:spTgt spid="207888"/>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207880"/>
                                        </p:tgtEl>
                                        <p:attrNameLst>
                                          <p:attrName>style.visibility</p:attrName>
                                        </p:attrNameLst>
                                      </p:cBhvr>
                                      <p:to>
                                        <p:strVal val="visible"/>
                                      </p:to>
                                    </p:set>
                                    <p:animEffect transition="in" filter="blinds(horizontal)">
                                      <p:cBhvr>
                                        <p:cTn id="42" dur="500"/>
                                        <p:tgtEl>
                                          <p:spTgt spid="20788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07889"/>
                                        </p:tgtEl>
                                        <p:attrNameLst>
                                          <p:attrName>style.visibility</p:attrName>
                                        </p:attrNameLst>
                                      </p:cBhvr>
                                      <p:to>
                                        <p:strVal val="visible"/>
                                      </p:to>
                                    </p:set>
                                    <p:animEffect transition="in" filter="blinds(horizontal)">
                                      <p:cBhvr>
                                        <p:cTn id="47" dur="500"/>
                                        <p:tgtEl>
                                          <p:spTgt spid="207889"/>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207882"/>
                                        </p:tgtEl>
                                        <p:attrNameLst>
                                          <p:attrName>style.visibility</p:attrName>
                                        </p:attrNameLst>
                                      </p:cBhvr>
                                      <p:to>
                                        <p:strVal val="visible"/>
                                      </p:to>
                                    </p:set>
                                    <p:animEffect transition="in" filter="blinds(horizontal)">
                                      <p:cBhvr>
                                        <p:cTn id="50" dur="500"/>
                                        <p:tgtEl>
                                          <p:spTgt spid="207882"/>
                                        </p:tgtEl>
                                      </p:cBhvr>
                                    </p:animEffect>
                                  </p:childTnLst>
                                </p:cTn>
                              </p:par>
                              <p:par>
                                <p:cTn id="51" presetID="1" presetClass="entr" presetSubtype="0" fill="hold" grpId="0" nodeType="withEffect">
                                  <p:stCondLst>
                                    <p:cond delay="0"/>
                                  </p:stCondLst>
                                  <p:childTnLst>
                                    <p:set>
                                      <p:cBhvr>
                                        <p:cTn id="52" dur="1" fill="hold">
                                          <p:stCondLst>
                                            <p:cond delay="0"/>
                                          </p:stCondLst>
                                        </p:cTn>
                                        <p:tgtEl>
                                          <p:spTgt spid="34837"/>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07881"/>
                                        </p:tgtEl>
                                        <p:attrNameLst>
                                          <p:attrName>style.visibility</p:attrName>
                                        </p:attrNameLst>
                                      </p:cBhvr>
                                      <p:to>
                                        <p:strVal val="visible"/>
                                      </p:to>
                                    </p:set>
                                    <p:animEffect transition="in" filter="blinds(horizontal)">
                                      <p:cBhvr>
                                        <p:cTn id="57" dur="500"/>
                                        <p:tgtEl>
                                          <p:spTgt spid="20788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07891"/>
                                        </p:tgtEl>
                                        <p:attrNameLst>
                                          <p:attrName>style.visibility</p:attrName>
                                        </p:attrNameLst>
                                      </p:cBhvr>
                                      <p:to>
                                        <p:strVal val="visible"/>
                                      </p:to>
                                    </p:set>
                                    <p:animEffect transition="in" filter="blinds(horizontal)">
                                      <p:cBhvr>
                                        <p:cTn id="62" dur="500"/>
                                        <p:tgtEl>
                                          <p:spTgt spid="20789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54" presetClass="exit" presetSubtype="0" decel="100000" fill="hold" grpId="1" nodeType="clickEffect">
                                  <p:stCondLst>
                                    <p:cond delay="0"/>
                                  </p:stCondLst>
                                  <p:childTnLst>
                                    <p:anim calcmode="lin" valueType="num">
                                      <p:cBhvr>
                                        <p:cTn id="66" dur="500"/>
                                        <p:tgtEl>
                                          <p:spTgt spid="207891"/>
                                        </p:tgtEl>
                                        <p:attrNameLst>
                                          <p:attrName>ppt_w</p:attrName>
                                        </p:attrNameLst>
                                      </p:cBhvr>
                                      <p:tavLst>
                                        <p:tav tm="0">
                                          <p:val>
                                            <p:strVal val="ppt_w"/>
                                          </p:val>
                                        </p:tav>
                                        <p:tav tm="100000">
                                          <p:val>
                                            <p:strVal val="ppt_w*0.05"/>
                                          </p:val>
                                        </p:tav>
                                      </p:tavLst>
                                    </p:anim>
                                    <p:anim calcmode="lin" valueType="num">
                                      <p:cBhvr>
                                        <p:cTn id="67" dur="500"/>
                                        <p:tgtEl>
                                          <p:spTgt spid="207891"/>
                                        </p:tgtEl>
                                        <p:attrNameLst>
                                          <p:attrName>ppt_h</p:attrName>
                                        </p:attrNameLst>
                                      </p:cBhvr>
                                      <p:tavLst>
                                        <p:tav tm="0">
                                          <p:val>
                                            <p:strVal val="ppt_h"/>
                                          </p:val>
                                        </p:tav>
                                        <p:tav tm="100000">
                                          <p:val>
                                            <p:strVal val="ppt_h"/>
                                          </p:val>
                                        </p:tav>
                                      </p:tavLst>
                                    </p:anim>
                                    <p:anim calcmode="lin" valueType="num">
                                      <p:cBhvr>
                                        <p:cTn id="68" dur="500"/>
                                        <p:tgtEl>
                                          <p:spTgt spid="207891"/>
                                        </p:tgtEl>
                                        <p:attrNameLst>
                                          <p:attrName>ppt_x</p:attrName>
                                        </p:attrNameLst>
                                      </p:cBhvr>
                                      <p:tavLst>
                                        <p:tav tm="0">
                                          <p:val>
                                            <p:strVal val="ppt_x"/>
                                          </p:val>
                                        </p:tav>
                                        <p:tav tm="100000">
                                          <p:val>
                                            <p:strVal val="ppt_x-.2"/>
                                          </p:val>
                                        </p:tav>
                                      </p:tavLst>
                                    </p:anim>
                                    <p:anim calcmode="lin" valueType="num">
                                      <p:cBhvr>
                                        <p:cTn id="69" dur="500"/>
                                        <p:tgtEl>
                                          <p:spTgt spid="207891"/>
                                        </p:tgtEl>
                                        <p:attrNameLst>
                                          <p:attrName>ppt_y</p:attrName>
                                        </p:attrNameLst>
                                      </p:cBhvr>
                                      <p:tavLst>
                                        <p:tav tm="0">
                                          <p:val>
                                            <p:strVal val="ppt_y"/>
                                          </p:val>
                                        </p:tav>
                                        <p:tav tm="100000">
                                          <p:val>
                                            <p:strVal val="ppt_y"/>
                                          </p:val>
                                        </p:tav>
                                      </p:tavLst>
                                    </p:anim>
                                    <p:animEffect transition="out" filter="fade">
                                      <p:cBhvr>
                                        <p:cTn id="70" dur="500"/>
                                        <p:tgtEl>
                                          <p:spTgt spid="207891"/>
                                        </p:tgtEl>
                                      </p:cBhvr>
                                    </p:animEffect>
                                    <p:set>
                                      <p:cBhvr>
                                        <p:cTn id="71" dur="1" fill="hold">
                                          <p:stCondLst>
                                            <p:cond delay="499"/>
                                          </p:stCondLst>
                                        </p:cTn>
                                        <p:tgtEl>
                                          <p:spTgt spid="207891"/>
                                        </p:tgtEl>
                                        <p:attrNameLst>
                                          <p:attrName>style.visibility</p:attrName>
                                        </p:attrNameLst>
                                      </p:cBhvr>
                                      <p:to>
                                        <p:strVal val="hidden"/>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207893"/>
                                        </p:tgtEl>
                                        <p:attrNameLst>
                                          <p:attrName>style.visibility</p:attrName>
                                        </p:attrNameLst>
                                      </p:cBhvr>
                                      <p:to>
                                        <p:strVal val="visible"/>
                                      </p:to>
                                    </p:set>
                                    <p:anim calcmode="lin" valueType="num">
                                      <p:cBhvr additive="base">
                                        <p:cTn id="76" dur="500" fill="hold"/>
                                        <p:tgtEl>
                                          <p:spTgt spid="207893"/>
                                        </p:tgtEl>
                                        <p:attrNameLst>
                                          <p:attrName>ppt_x</p:attrName>
                                        </p:attrNameLst>
                                      </p:cBhvr>
                                      <p:tavLst>
                                        <p:tav tm="0">
                                          <p:val>
                                            <p:strVal val="#ppt_x"/>
                                          </p:val>
                                        </p:tav>
                                        <p:tav tm="100000">
                                          <p:val>
                                            <p:strVal val="#ppt_x"/>
                                          </p:val>
                                        </p:tav>
                                      </p:tavLst>
                                    </p:anim>
                                    <p:anim calcmode="lin" valueType="num">
                                      <p:cBhvr additive="base">
                                        <p:cTn id="77" dur="500" fill="hold"/>
                                        <p:tgtEl>
                                          <p:spTgt spid="207893"/>
                                        </p:tgtEl>
                                        <p:attrNameLst>
                                          <p:attrName>ppt_y</p:attrName>
                                        </p:attrNameLst>
                                      </p:cBhvr>
                                      <p:tavLst>
                                        <p:tav tm="0">
                                          <p:val>
                                            <p:strVal val="1+#ppt_h/2"/>
                                          </p:val>
                                        </p:tav>
                                        <p:tav tm="100000">
                                          <p:val>
                                            <p:strVal val="#ppt_y"/>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07892"/>
                                        </p:tgtEl>
                                        <p:attrNameLst>
                                          <p:attrName>style.visibility</p:attrName>
                                        </p:attrNameLst>
                                      </p:cBhvr>
                                      <p:to>
                                        <p:strVal val="visible"/>
                                      </p:to>
                                    </p:set>
                                    <p:animEffect transition="in" filter="blinds(horizontal)">
                                      <p:cBhvr>
                                        <p:cTn id="82" dur="500"/>
                                        <p:tgtEl>
                                          <p:spTgt spid="207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6" grpId="0"/>
      <p:bldP spid="207878" grpId="0"/>
      <p:bldP spid="207879" grpId="0"/>
      <p:bldP spid="207880" grpId="0"/>
      <p:bldP spid="207881" grpId="0"/>
      <p:bldP spid="207882" grpId="0"/>
      <p:bldP spid="207883" grpId="0"/>
      <p:bldP spid="207884" grpId="0"/>
      <p:bldP spid="207885" grpId="0" animBg="1"/>
      <p:bldP spid="207886" grpId="0" animBg="1"/>
      <p:bldP spid="207887" grpId="0"/>
      <p:bldP spid="207888" grpId="0" animBg="1"/>
      <p:bldP spid="207889" grpId="0"/>
      <p:bldP spid="34837" grpId="0" animBg="1"/>
      <p:bldP spid="207891" grpId="0"/>
      <p:bldP spid="207891" grpId="1"/>
      <p:bldP spid="207892" grpId="0"/>
      <p:bldP spid="20789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0EB23105-DC2C-43D2-ACD9-B30E238D5596}" type="datetime1">
              <a:rPr kumimoji="0" lang="zh-TW" altLang="en-US" sz="1400" smtClean="0"/>
              <a:t>2018/5/4</a:t>
            </a:fld>
            <a:endParaRPr kumimoji="0" lang="en-US" altLang="zh-TW" sz="1400" smtClean="0"/>
          </a:p>
        </p:txBody>
      </p:sp>
      <p:sp>
        <p:nvSpPr>
          <p:cNvPr id="35843"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35844"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1311945C-88D8-4023-B242-1809058F8D4C}" type="slidenum">
              <a:rPr kumimoji="0" lang="zh-TW" altLang="en-US" sz="1400" smtClean="0"/>
              <a:pPr eaLnBrk="1" hangingPunct="1"/>
              <a:t>36</a:t>
            </a:fld>
            <a:endParaRPr kumimoji="0" lang="en-US" altLang="zh-TW" sz="1400" smtClean="0"/>
          </a:p>
        </p:txBody>
      </p:sp>
      <p:sp>
        <p:nvSpPr>
          <p:cNvPr id="35845" name="Rectangle 2"/>
          <p:cNvSpPr>
            <a:spLocks noGrp="1" noChangeArrowheads="1"/>
          </p:cNvSpPr>
          <p:nvPr>
            <p:ph type="title"/>
          </p:nvPr>
        </p:nvSpPr>
        <p:spPr>
          <a:xfrm>
            <a:off x="609600" y="304800"/>
            <a:ext cx="7772400" cy="774700"/>
          </a:xfrm>
        </p:spPr>
        <p:txBody>
          <a:bodyPr/>
          <a:lstStyle/>
          <a:p>
            <a:pPr algn="ctr" eaLnBrk="1" hangingPunct="1"/>
            <a:r>
              <a:rPr lang="en-US" altLang="zh-TW" dirty="0" smtClean="0">
                <a:latin typeface="Times New Roman" pitchFamily="18" charset="0"/>
              </a:rPr>
              <a:t>Reed-Solomon Code</a:t>
            </a:r>
          </a:p>
        </p:txBody>
      </p:sp>
      <p:sp>
        <p:nvSpPr>
          <p:cNvPr id="35846" name="Rectangle 3" descr="Rectangle: Click to edit Master text styles&#10;Second level&#10;Third level&#10;Fourth level&#10;Fifth level"/>
          <p:cNvSpPr>
            <a:spLocks noGrp="1" noChangeArrowheads="1"/>
          </p:cNvSpPr>
          <p:nvPr>
            <p:ph type="body" idx="1"/>
          </p:nvPr>
        </p:nvSpPr>
        <p:spPr>
          <a:xfrm>
            <a:off x="457200" y="1600200"/>
            <a:ext cx="8229600" cy="5068888"/>
          </a:xfrm>
        </p:spPr>
        <p:txBody>
          <a:bodyPr/>
          <a:lstStyle/>
          <a:p>
            <a:pPr eaLnBrk="1" hangingPunct="1"/>
            <a:r>
              <a:rPr lang="en-US" altLang="zh-TW" dirty="0" smtClean="0">
                <a:latin typeface="Times New Roman" pitchFamily="18" charset="0"/>
              </a:rPr>
              <a:t>RS (</a:t>
            </a:r>
            <a:r>
              <a:rPr lang="en-US" altLang="zh-TW" i="1" dirty="0" smtClean="0">
                <a:latin typeface="Times New Roman" pitchFamily="18" charset="0"/>
              </a:rPr>
              <a:t>n</a:t>
            </a:r>
            <a:r>
              <a:rPr lang="en-US" altLang="zh-TW" dirty="0" smtClean="0">
                <a:latin typeface="Times New Roman" pitchFamily="18" charset="0"/>
              </a:rPr>
              <a:t>, </a:t>
            </a:r>
            <a:r>
              <a:rPr lang="en-US" altLang="zh-TW" i="1" dirty="0" smtClean="0">
                <a:latin typeface="Times New Roman" pitchFamily="18" charset="0"/>
              </a:rPr>
              <a:t>k</a:t>
            </a:r>
            <a:r>
              <a:rPr lang="en-US" altLang="zh-TW" dirty="0" smtClean="0">
                <a:latin typeface="Times New Roman" pitchFamily="18" charset="0"/>
              </a:rPr>
              <a:t>)</a:t>
            </a:r>
          </a:p>
          <a:p>
            <a:pPr eaLnBrk="1" hangingPunct="1"/>
            <a:endParaRPr lang="en-US" altLang="zh-TW" dirty="0" smtClean="0">
              <a:latin typeface="Times New Roman" pitchFamily="18" charset="0"/>
            </a:endParaRPr>
          </a:p>
          <a:p>
            <a:pPr lvl="1" eaLnBrk="1" hangingPunct="1"/>
            <a:endParaRPr lang="en-US" altLang="zh-TW" dirty="0" smtClean="0">
              <a:latin typeface="Times New Roman" pitchFamily="18" charset="0"/>
            </a:endParaRPr>
          </a:p>
          <a:p>
            <a:pPr lvl="1" eaLnBrk="1" hangingPunct="1"/>
            <a:endParaRPr lang="en-US" altLang="zh-TW" dirty="0" smtClean="0">
              <a:latin typeface="Times New Roman" pitchFamily="18" charset="0"/>
            </a:endParaRPr>
          </a:p>
          <a:p>
            <a:pPr lvl="1" eaLnBrk="1" hangingPunct="1"/>
            <a:r>
              <a:rPr lang="en-US" altLang="zh-TW" dirty="0" smtClean="0">
                <a:latin typeface="Times New Roman" pitchFamily="18" charset="0"/>
              </a:rPr>
              <a:t>Can correct </a:t>
            </a:r>
            <a:r>
              <a:rPr lang="en-US" altLang="zh-TW" i="1" dirty="0" smtClean="0">
                <a:latin typeface="Times New Roman" pitchFamily="18" charset="0"/>
              </a:rPr>
              <a:t>t</a:t>
            </a:r>
            <a:r>
              <a:rPr lang="en-US" altLang="zh-TW" dirty="0" smtClean="0">
                <a:latin typeface="Times New Roman" pitchFamily="18" charset="0"/>
              </a:rPr>
              <a:t> = </a:t>
            </a:r>
            <a:r>
              <a:rPr lang="en-US" altLang="zh-TW" dirty="0" smtClean="0">
                <a:latin typeface="Times New Roman" pitchFamily="18" charset="0"/>
                <a:sym typeface="Symbol" pitchFamily="18" charset="2"/>
              </a:rPr>
              <a:t>(</a:t>
            </a:r>
            <a:r>
              <a:rPr lang="en-US" altLang="zh-TW" i="1" dirty="0" smtClean="0">
                <a:latin typeface="Times New Roman" pitchFamily="18" charset="0"/>
                <a:sym typeface="Symbol" pitchFamily="18" charset="2"/>
              </a:rPr>
              <a:t>n</a:t>
            </a:r>
            <a:r>
              <a:rPr lang="en-US" altLang="zh-TW" dirty="0" smtClean="0">
                <a:latin typeface="Times New Roman" pitchFamily="18" charset="0"/>
                <a:sym typeface="Symbol" pitchFamily="18" charset="2"/>
              </a:rPr>
              <a:t>-</a:t>
            </a:r>
            <a:r>
              <a:rPr lang="en-US" altLang="zh-TW" i="1" dirty="0" smtClean="0">
                <a:latin typeface="Times New Roman" pitchFamily="18" charset="0"/>
                <a:sym typeface="Symbol" pitchFamily="18" charset="2"/>
              </a:rPr>
              <a:t>k</a:t>
            </a:r>
            <a:r>
              <a:rPr lang="en-US" altLang="zh-TW" dirty="0" smtClean="0">
                <a:latin typeface="Times New Roman" pitchFamily="18" charset="0"/>
                <a:sym typeface="Symbol" pitchFamily="18" charset="2"/>
              </a:rPr>
              <a:t>)/2 symbol errors</a:t>
            </a:r>
          </a:p>
          <a:p>
            <a:pPr lvl="1" eaLnBrk="1" hangingPunct="1"/>
            <a:r>
              <a:rPr lang="en-US" altLang="zh-TW" dirty="0" smtClean="0">
                <a:latin typeface="Times New Roman" pitchFamily="18" charset="0"/>
                <a:sym typeface="Symbol" pitchFamily="18" charset="2"/>
              </a:rPr>
              <a:t>Can correct </a:t>
            </a:r>
            <a:r>
              <a:rPr lang="en-US" altLang="zh-TW" i="1" dirty="0" smtClean="0">
                <a:latin typeface="Times New Roman" pitchFamily="18" charset="0"/>
                <a:sym typeface="Symbol" pitchFamily="18" charset="2"/>
              </a:rPr>
              <a:t>t</a:t>
            </a:r>
            <a:r>
              <a:rPr lang="en-US" altLang="zh-TW" dirty="0" smtClean="0">
                <a:latin typeface="Times New Roman" pitchFamily="18" charset="0"/>
                <a:sym typeface="Symbol" pitchFamily="18" charset="2"/>
              </a:rPr>
              <a:t> = </a:t>
            </a:r>
            <a:r>
              <a:rPr lang="en-US" altLang="zh-TW" i="1" dirty="0" smtClean="0">
                <a:latin typeface="Times New Roman" pitchFamily="18" charset="0"/>
                <a:sym typeface="Symbol" pitchFamily="18" charset="2"/>
              </a:rPr>
              <a:t>n</a:t>
            </a:r>
            <a:r>
              <a:rPr lang="en-US" altLang="zh-TW" dirty="0" smtClean="0">
                <a:latin typeface="Times New Roman" pitchFamily="18" charset="0"/>
                <a:sym typeface="Symbol" pitchFamily="18" charset="2"/>
              </a:rPr>
              <a:t>-</a:t>
            </a:r>
            <a:r>
              <a:rPr lang="en-US" altLang="zh-TW" i="1" dirty="0" smtClean="0">
                <a:latin typeface="Times New Roman" pitchFamily="18" charset="0"/>
                <a:sym typeface="Symbol" pitchFamily="18" charset="2"/>
              </a:rPr>
              <a:t>k</a:t>
            </a:r>
            <a:r>
              <a:rPr lang="en-US" altLang="zh-TW" dirty="0" smtClean="0">
                <a:latin typeface="Times New Roman" pitchFamily="18" charset="0"/>
                <a:sym typeface="Symbol" pitchFamily="18" charset="2"/>
              </a:rPr>
              <a:t> symbol erasures</a:t>
            </a:r>
          </a:p>
          <a:p>
            <a:pPr lvl="1" eaLnBrk="1" hangingPunct="1"/>
            <a:r>
              <a:rPr lang="en-US" altLang="zh-TW" dirty="0" smtClean="0">
                <a:latin typeface="Times New Roman" pitchFamily="18" charset="0"/>
                <a:sym typeface="Symbol" pitchFamily="18" charset="2"/>
              </a:rPr>
              <a:t>The coding rate is </a:t>
            </a:r>
            <a:r>
              <a:rPr lang="en-US" altLang="zh-TW" i="1" dirty="0" smtClean="0">
                <a:solidFill>
                  <a:srgbClr val="FF0000"/>
                </a:solidFill>
                <a:latin typeface="Times New Roman" pitchFamily="18" charset="0"/>
                <a:sym typeface="Symbol" pitchFamily="18" charset="2"/>
              </a:rPr>
              <a:t>k</a:t>
            </a:r>
            <a:r>
              <a:rPr lang="en-US" altLang="zh-TW" dirty="0" smtClean="0">
                <a:solidFill>
                  <a:srgbClr val="FF0000"/>
                </a:solidFill>
                <a:latin typeface="Times New Roman" pitchFamily="18" charset="0"/>
                <a:sym typeface="Symbol" pitchFamily="18" charset="2"/>
              </a:rPr>
              <a:t>/</a:t>
            </a:r>
            <a:r>
              <a:rPr lang="en-US" altLang="zh-TW" i="1" dirty="0" smtClean="0">
                <a:solidFill>
                  <a:srgbClr val="FF0000"/>
                </a:solidFill>
                <a:latin typeface="Times New Roman" pitchFamily="18" charset="0"/>
                <a:sym typeface="Symbol" pitchFamily="18" charset="2"/>
              </a:rPr>
              <a:t>n</a:t>
            </a:r>
          </a:p>
        </p:txBody>
      </p:sp>
      <p:sp>
        <p:nvSpPr>
          <p:cNvPr id="35847" name="Rectangle 4"/>
          <p:cNvSpPr>
            <a:spLocks noChangeArrowheads="1"/>
          </p:cNvSpPr>
          <p:nvPr/>
        </p:nvSpPr>
        <p:spPr bwMode="auto">
          <a:xfrm>
            <a:off x="6157913" y="2605088"/>
            <a:ext cx="1871662" cy="36036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grpSp>
        <p:nvGrpSpPr>
          <p:cNvPr id="35848" name="Group 5"/>
          <p:cNvGrpSpPr>
            <a:grpSpLocks/>
          </p:cNvGrpSpPr>
          <p:nvPr/>
        </p:nvGrpSpPr>
        <p:grpSpPr bwMode="auto">
          <a:xfrm>
            <a:off x="2541588" y="2020888"/>
            <a:ext cx="5472112" cy="1663700"/>
            <a:chOff x="1565" y="2296"/>
            <a:chExt cx="3447" cy="1048"/>
          </a:xfrm>
        </p:grpSpPr>
        <p:sp>
          <p:nvSpPr>
            <p:cNvPr id="35850" name="Rectangle 6"/>
            <p:cNvSpPr>
              <a:spLocks noChangeArrowheads="1"/>
            </p:cNvSpPr>
            <p:nvPr/>
          </p:nvSpPr>
          <p:spPr bwMode="auto">
            <a:xfrm>
              <a:off x="1565" y="2659"/>
              <a:ext cx="2268" cy="227"/>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algn="ctr" eaLnBrk="1" hangingPunct="1"/>
              <a:r>
                <a:rPr lang="en-US" altLang="zh-TW" sz="1800">
                  <a:latin typeface="Arial" pitchFamily="34" charset="0"/>
                </a:rPr>
                <a:t>Source data</a:t>
              </a:r>
            </a:p>
          </p:txBody>
        </p:sp>
        <p:sp>
          <p:nvSpPr>
            <p:cNvPr id="35851" name="AutoShape 7"/>
            <p:cNvSpPr>
              <a:spLocks/>
            </p:cNvSpPr>
            <p:nvPr/>
          </p:nvSpPr>
          <p:spPr bwMode="auto">
            <a:xfrm rot="5400000">
              <a:off x="2631" y="1457"/>
              <a:ext cx="91" cy="2223"/>
            </a:xfrm>
            <a:prstGeom prst="leftBrace">
              <a:avLst>
                <a:gd name="adj1" fmla="val 203571"/>
                <a:gd name="adj2" fmla="val 49389"/>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
          <p:nvSpPr>
            <p:cNvPr id="35852" name="AutoShape 8"/>
            <p:cNvSpPr>
              <a:spLocks/>
            </p:cNvSpPr>
            <p:nvPr/>
          </p:nvSpPr>
          <p:spPr bwMode="auto">
            <a:xfrm rot="5400000">
              <a:off x="3198" y="1299"/>
              <a:ext cx="182" cy="3447"/>
            </a:xfrm>
            <a:prstGeom prst="rightBrace">
              <a:avLst>
                <a:gd name="adj1" fmla="val 157830"/>
                <a:gd name="adj2" fmla="val 50000"/>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
          <p:nvSpPr>
            <p:cNvPr id="35853" name="Text Box 9"/>
            <p:cNvSpPr txBox="1">
              <a:spLocks noChangeArrowheads="1"/>
            </p:cNvSpPr>
            <p:nvPr/>
          </p:nvSpPr>
          <p:spPr bwMode="auto">
            <a:xfrm>
              <a:off x="2608" y="2296"/>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spcBef>
                  <a:spcPct val="50000"/>
                </a:spcBef>
              </a:pPr>
              <a:r>
                <a:rPr lang="en-US" altLang="zh-TW" sz="1800" i="1">
                  <a:latin typeface="Arial" pitchFamily="34" charset="0"/>
                </a:rPr>
                <a:t>k</a:t>
              </a:r>
            </a:p>
          </p:txBody>
        </p:sp>
        <p:sp>
          <p:nvSpPr>
            <p:cNvPr id="35854" name="Text Box 10"/>
            <p:cNvSpPr txBox="1">
              <a:spLocks noChangeArrowheads="1"/>
            </p:cNvSpPr>
            <p:nvPr/>
          </p:nvSpPr>
          <p:spPr bwMode="auto">
            <a:xfrm>
              <a:off x="3198" y="3113"/>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spcBef>
                  <a:spcPct val="50000"/>
                </a:spcBef>
              </a:pPr>
              <a:r>
                <a:rPr lang="en-US" altLang="zh-TW" sz="1800" i="1">
                  <a:latin typeface="Arial" pitchFamily="34" charset="0"/>
                </a:rPr>
                <a:t>n</a:t>
              </a:r>
            </a:p>
          </p:txBody>
        </p:sp>
      </p:grpSp>
      <p:sp>
        <p:nvSpPr>
          <p:cNvPr id="185355" name="Text Box 11"/>
          <p:cNvSpPr txBox="1">
            <a:spLocks noChangeArrowheads="1"/>
          </p:cNvSpPr>
          <p:nvPr/>
        </p:nvSpPr>
        <p:spPr bwMode="auto">
          <a:xfrm>
            <a:off x="2308225" y="5605463"/>
            <a:ext cx="2643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dirty="0">
                <a:solidFill>
                  <a:srgbClr val="FF0000"/>
                </a:solidFill>
              </a:rPr>
              <a:t>Galois Field </a:t>
            </a:r>
            <a:r>
              <a:rPr lang="en-US" altLang="zh-TW" dirty="0">
                <a:solidFill>
                  <a:srgbClr val="FF0000"/>
                </a:solidFill>
                <a:latin typeface="Times New Roman" pitchFamily="18" charset="0"/>
              </a:rPr>
              <a:t>GF(</a:t>
            </a:r>
            <a:r>
              <a:rPr lang="en-US" altLang="zh-TW" i="1" dirty="0" err="1">
                <a:solidFill>
                  <a:srgbClr val="FF0000"/>
                </a:solidFill>
                <a:latin typeface="Times New Roman" pitchFamily="18" charset="0"/>
              </a:rPr>
              <a:t>p</a:t>
            </a:r>
            <a:r>
              <a:rPr lang="en-US" altLang="zh-TW" i="1" baseline="30000" dirty="0" err="1">
                <a:solidFill>
                  <a:srgbClr val="FF0000"/>
                </a:solidFill>
                <a:latin typeface="Times New Roman" pitchFamily="18" charset="0"/>
              </a:rPr>
              <a:t>k</a:t>
            </a:r>
            <a:r>
              <a:rPr lang="en-US" altLang="zh-TW" dirty="0">
                <a:solidFill>
                  <a:srgbClr val="FF0000"/>
                </a:solidFill>
                <a:latin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5355"/>
                                        </p:tgtEl>
                                        <p:attrNameLst>
                                          <p:attrName>style.visibility</p:attrName>
                                        </p:attrNameLst>
                                      </p:cBhvr>
                                      <p:to>
                                        <p:strVal val="visible"/>
                                      </p:to>
                                    </p:set>
                                    <p:animEffect transition="in" filter="blinds(horizontal)">
                                      <p:cBhvr>
                                        <p:cTn id="7" dur="500"/>
                                        <p:tgtEl>
                                          <p:spTgt spid="185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5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188AE87E-0A78-4013-A45C-7589D8781A87}" type="datetime1">
              <a:rPr kumimoji="0" lang="zh-TW" altLang="en-US" sz="1400" smtClean="0"/>
              <a:t>2018/5/4</a:t>
            </a:fld>
            <a:endParaRPr kumimoji="0" lang="en-US" altLang="zh-TW" sz="1400" smtClean="0"/>
          </a:p>
        </p:txBody>
      </p:sp>
      <p:sp>
        <p:nvSpPr>
          <p:cNvPr id="36867"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36868"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3E41B75C-6AB7-4497-B484-C6464B919665}" type="slidenum">
              <a:rPr kumimoji="0" lang="zh-TW" altLang="en-US" sz="1400" smtClean="0"/>
              <a:pPr eaLnBrk="1" hangingPunct="1"/>
              <a:t>37</a:t>
            </a:fld>
            <a:endParaRPr kumimoji="0" lang="en-US" altLang="zh-TW" sz="1400" smtClean="0"/>
          </a:p>
        </p:txBody>
      </p:sp>
      <p:sp>
        <p:nvSpPr>
          <p:cNvPr id="36869" name="Rectangle 2"/>
          <p:cNvSpPr>
            <a:spLocks noGrp="1" noChangeArrowheads="1"/>
          </p:cNvSpPr>
          <p:nvPr>
            <p:ph type="title"/>
          </p:nvPr>
        </p:nvSpPr>
        <p:spPr/>
        <p:txBody>
          <a:bodyPr/>
          <a:lstStyle/>
          <a:p>
            <a:pPr eaLnBrk="1" hangingPunct="1"/>
            <a:r>
              <a:rPr lang="en-US" altLang="zh-TW" sz="4000" smtClean="0"/>
              <a:t>Correct/detect Packet Losses</a:t>
            </a:r>
            <a:br>
              <a:rPr lang="en-US" altLang="zh-TW" sz="4000" smtClean="0"/>
            </a:br>
            <a:r>
              <a:rPr lang="en-US" altLang="zh-TW" sz="4000" smtClean="0"/>
              <a:t>using across-packet FEC  </a:t>
            </a:r>
            <a:endParaRPr lang="zh-TW" altLang="en-US" sz="4000" smtClean="0"/>
          </a:p>
        </p:txBody>
      </p:sp>
      <p:sp>
        <p:nvSpPr>
          <p:cNvPr id="36870" name="Rectangle 3"/>
          <p:cNvSpPr>
            <a:spLocks noChangeArrowheads="1"/>
          </p:cNvSpPr>
          <p:nvPr/>
        </p:nvSpPr>
        <p:spPr bwMode="auto">
          <a:xfrm>
            <a:off x="3152775" y="3889375"/>
            <a:ext cx="654050" cy="3270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
        <p:nvSpPr>
          <p:cNvPr id="205828" name="Rectangle 4"/>
          <p:cNvSpPr>
            <a:spLocks noChangeArrowheads="1"/>
          </p:cNvSpPr>
          <p:nvPr/>
        </p:nvSpPr>
        <p:spPr bwMode="auto">
          <a:xfrm>
            <a:off x="1806575" y="3311525"/>
            <a:ext cx="4845050" cy="338138"/>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
        <p:nvSpPr>
          <p:cNvPr id="36872" name="Rectangle 5"/>
          <p:cNvSpPr>
            <a:spLocks noChangeArrowheads="1"/>
          </p:cNvSpPr>
          <p:nvPr/>
        </p:nvSpPr>
        <p:spPr bwMode="auto">
          <a:xfrm>
            <a:off x="3192463" y="2478088"/>
            <a:ext cx="1806575" cy="2508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
        <p:nvSpPr>
          <p:cNvPr id="205830" name="Rectangle 6"/>
          <p:cNvSpPr>
            <a:spLocks noChangeArrowheads="1"/>
          </p:cNvSpPr>
          <p:nvPr/>
        </p:nvSpPr>
        <p:spPr bwMode="auto">
          <a:xfrm>
            <a:off x="3840163" y="2816225"/>
            <a:ext cx="303212" cy="27955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
        <p:nvSpPr>
          <p:cNvPr id="205831" name="Rectangle 7"/>
          <p:cNvSpPr>
            <a:spLocks noChangeArrowheads="1"/>
          </p:cNvSpPr>
          <p:nvPr/>
        </p:nvSpPr>
        <p:spPr bwMode="auto">
          <a:xfrm>
            <a:off x="3829050" y="3306763"/>
            <a:ext cx="309563" cy="350837"/>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
        <p:nvSpPr>
          <p:cNvPr id="36875" name="AutoShape 8"/>
          <p:cNvSpPr>
            <a:spLocks noChangeAspect="1" noChangeArrowheads="1"/>
          </p:cNvSpPr>
          <p:nvPr/>
        </p:nvSpPr>
        <p:spPr bwMode="auto">
          <a:xfrm>
            <a:off x="4511675" y="3368675"/>
            <a:ext cx="122238" cy="122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
        <p:nvSpPr>
          <p:cNvPr id="36876" name="AutoShape 9"/>
          <p:cNvSpPr>
            <a:spLocks noChangeAspect="1" noChangeArrowheads="1"/>
          </p:cNvSpPr>
          <p:nvPr/>
        </p:nvSpPr>
        <p:spPr bwMode="auto">
          <a:xfrm>
            <a:off x="4511675" y="3368675"/>
            <a:ext cx="122238" cy="122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
        <p:nvSpPr>
          <p:cNvPr id="36877" name="AutoShape 10"/>
          <p:cNvSpPr>
            <a:spLocks noChangeAspect="1" noChangeArrowheads="1"/>
          </p:cNvSpPr>
          <p:nvPr/>
        </p:nvSpPr>
        <p:spPr bwMode="auto">
          <a:xfrm>
            <a:off x="4511675" y="3368675"/>
            <a:ext cx="122238" cy="122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
        <p:nvSpPr>
          <p:cNvPr id="36878" name="Rectangle 11"/>
          <p:cNvSpPr>
            <a:spLocks noChangeArrowheads="1"/>
          </p:cNvSpPr>
          <p:nvPr/>
        </p:nvSpPr>
        <p:spPr bwMode="auto">
          <a:xfrm>
            <a:off x="1778000" y="2809875"/>
            <a:ext cx="4884738" cy="2819400"/>
          </a:xfrm>
          <a:prstGeom prst="rect">
            <a:avLst/>
          </a:prstGeom>
          <a:noFill/>
          <a:ln w="285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
        <p:nvSpPr>
          <p:cNvPr id="36879" name="Text Box 12"/>
          <p:cNvSpPr txBox="1">
            <a:spLocks noChangeArrowheads="1"/>
          </p:cNvSpPr>
          <p:nvPr/>
        </p:nvSpPr>
        <p:spPr bwMode="auto">
          <a:xfrm>
            <a:off x="1914525" y="2317750"/>
            <a:ext cx="1733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2000">
                <a:solidFill>
                  <a:srgbClr val="0000FF"/>
                </a:solidFill>
              </a:rPr>
              <a:t>source coding</a:t>
            </a:r>
          </a:p>
        </p:txBody>
      </p:sp>
      <p:sp>
        <p:nvSpPr>
          <p:cNvPr id="36880" name="Line 13"/>
          <p:cNvSpPr>
            <a:spLocks noChangeShapeType="1"/>
          </p:cNvSpPr>
          <p:nvPr/>
        </p:nvSpPr>
        <p:spPr bwMode="auto">
          <a:xfrm>
            <a:off x="1778000" y="2667000"/>
            <a:ext cx="4884738" cy="0"/>
          </a:xfrm>
          <a:prstGeom prst="line">
            <a:avLst/>
          </a:prstGeom>
          <a:noFill/>
          <a:ln w="19050">
            <a:solidFill>
              <a:srgbClr val="0000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36881" name="Line 14"/>
          <p:cNvSpPr>
            <a:spLocks noChangeShapeType="1"/>
          </p:cNvSpPr>
          <p:nvPr/>
        </p:nvSpPr>
        <p:spPr bwMode="auto">
          <a:xfrm>
            <a:off x="1574800" y="2801938"/>
            <a:ext cx="0" cy="2811462"/>
          </a:xfrm>
          <a:prstGeom prst="line">
            <a:avLst/>
          </a:prstGeom>
          <a:noFill/>
          <a:ln w="19050">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36882" name="Text Box 15"/>
          <p:cNvSpPr txBox="1">
            <a:spLocks noChangeArrowheads="1"/>
          </p:cNvSpPr>
          <p:nvPr/>
        </p:nvSpPr>
        <p:spPr bwMode="auto">
          <a:xfrm>
            <a:off x="1146175" y="2747963"/>
            <a:ext cx="458788" cy="1312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1800">
                <a:solidFill>
                  <a:srgbClr val="FF0000"/>
                </a:solidFill>
              </a:rPr>
              <a:t>to ATM cells</a:t>
            </a:r>
          </a:p>
        </p:txBody>
      </p:sp>
      <p:sp>
        <p:nvSpPr>
          <p:cNvPr id="36883" name="Text Box 16"/>
          <p:cNvSpPr txBox="1">
            <a:spLocks noChangeArrowheads="1"/>
          </p:cNvSpPr>
          <p:nvPr/>
        </p:nvSpPr>
        <p:spPr bwMode="auto">
          <a:xfrm>
            <a:off x="5495925" y="44624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
        <p:nvSpPr>
          <p:cNvPr id="36884" name="Line 17"/>
          <p:cNvSpPr>
            <a:spLocks noChangeShapeType="1"/>
          </p:cNvSpPr>
          <p:nvPr/>
        </p:nvSpPr>
        <p:spPr bwMode="auto">
          <a:xfrm>
            <a:off x="5181600" y="2811463"/>
            <a:ext cx="17463" cy="2827337"/>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36885" name="Line 18"/>
          <p:cNvSpPr>
            <a:spLocks noChangeShapeType="1"/>
          </p:cNvSpPr>
          <p:nvPr/>
        </p:nvSpPr>
        <p:spPr bwMode="auto">
          <a:xfrm>
            <a:off x="6900863" y="2811463"/>
            <a:ext cx="0" cy="2835275"/>
          </a:xfrm>
          <a:prstGeom prst="line">
            <a:avLst/>
          </a:prstGeom>
          <a:noFill/>
          <a:ln w="19050">
            <a:solidFill>
              <a:srgbClr val="9933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36886" name="Text Box 19"/>
          <p:cNvSpPr txBox="1">
            <a:spLocks noChangeArrowheads="1"/>
          </p:cNvSpPr>
          <p:nvPr/>
        </p:nvSpPr>
        <p:spPr bwMode="auto">
          <a:xfrm>
            <a:off x="6689725" y="4062413"/>
            <a:ext cx="476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1800" b="1">
                <a:solidFill>
                  <a:srgbClr val="9933FF"/>
                </a:solidFill>
              </a:rPr>
              <a:t>47</a:t>
            </a:r>
          </a:p>
        </p:txBody>
      </p:sp>
      <p:sp>
        <p:nvSpPr>
          <p:cNvPr id="36887" name="Line 20"/>
          <p:cNvSpPr>
            <a:spLocks noChangeShapeType="1"/>
          </p:cNvSpPr>
          <p:nvPr/>
        </p:nvSpPr>
        <p:spPr bwMode="auto">
          <a:xfrm flipV="1">
            <a:off x="1770063" y="5783263"/>
            <a:ext cx="3411537" cy="7937"/>
          </a:xfrm>
          <a:prstGeom prst="line">
            <a:avLst/>
          </a:prstGeom>
          <a:noFill/>
          <a:ln w="19050">
            <a:solidFill>
              <a:srgbClr val="9933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36888" name="AutoShape 21"/>
          <p:cNvSpPr>
            <a:spLocks noChangeAspect="1" noChangeArrowheads="1"/>
          </p:cNvSpPr>
          <p:nvPr/>
        </p:nvSpPr>
        <p:spPr bwMode="auto">
          <a:xfrm>
            <a:off x="4511675" y="3368675"/>
            <a:ext cx="122238" cy="122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endParaRPr lang="zh-TW" altLang="en-US"/>
          </a:p>
        </p:txBody>
      </p:sp>
      <p:sp>
        <p:nvSpPr>
          <p:cNvPr id="36889" name="Text Box 22"/>
          <p:cNvSpPr txBox="1">
            <a:spLocks noChangeArrowheads="1"/>
          </p:cNvSpPr>
          <p:nvPr/>
        </p:nvSpPr>
        <p:spPr bwMode="auto">
          <a:xfrm>
            <a:off x="2935288" y="5632450"/>
            <a:ext cx="508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2000" b="1">
                <a:solidFill>
                  <a:srgbClr val="9933FF"/>
                </a:solidFill>
              </a:rPr>
              <a:t>28</a:t>
            </a:r>
          </a:p>
        </p:txBody>
      </p:sp>
      <p:sp>
        <p:nvSpPr>
          <p:cNvPr id="36890" name="Line 23"/>
          <p:cNvSpPr>
            <a:spLocks noChangeShapeType="1"/>
          </p:cNvSpPr>
          <p:nvPr/>
        </p:nvSpPr>
        <p:spPr bwMode="auto">
          <a:xfrm>
            <a:off x="5189538" y="5783263"/>
            <a:ext cx="1482725" cy="0"/>
          </a:xfrm>
          <a:prstGeom prst="line">
            <a:avLst/>
          </a:prstGeom>
          <a:noFill/>
          <a:ln w="19050">
            <a:solidFill>
              <a:srgbClr val="9933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36891" name="Text Box 24"/>
          <p:cNvSpPr txBox="1">
            <a:spLocks noChangeArrowheads="1"/>
          </p:cNvSpPr>
          <p:nvPr/>
        </p:nvSpPr>
        <p:spPr bwMode="auto">
          <a:xfrm>
            <a:off x="5665788" y="5637213"/>
            <a:ext cx="3460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2000" b="1">
                <a:solidFill>
                  <a:srgbClr val="9933FF"/>
                </a:solidFill>
              </a:rPr>
              <a:t>4</a:t>
            </a:r>
          </a:p>
        </p:txBody>
      </p:sp>
      <p:sp>
        <p:nvSpPr>
          <p:cNvPr id="36892" name="Text Box 25"/>
          <p:cNvSpPr txBox="1">
            <a:spLocks noChangeArrowheads="1"/>
          </p:cNvSpPr>
          <p:nvPr/>
        </p:nvSpPr>
        <p:spPr bwMode="auto">
          <a:xfrm>
            <a:off x="5241925" y="4383088"/>
            <a:ext cx="13620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1800"/>
              <a:t>redundancy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5830"/>
                                        </p:tgtEl>
                                        <p:attrNameLst>
                                          <p:attrName>style.visibility</p:attrName>
                                        </p:attrNameLst>
                                      </p:cBhvr>
                                      <p:to>
                                        <p:strVal val="visible"/>
                                      </p:to>
                                    </p:set>
                                    <p:anim calcmode="lin" valueType="num">
                                      <p:cBhvr additive="base">
                                        <p:cTn id="7" dur="500" fill="hold"/>
                                        <p:tgtEl>
                                          <p:spTgt spid="205830"/>
                                        </p:tgtEl>
                                        <p:attrNameLst>
                                          <p:attrName>ppt_x</p:attrName>
                                        </p:attrNameLst>
                                      </p:cBhvr>
                                      <p:tavLst>
                                        <p:tav tm="0">
                                          <p:val>
                                            <p:strVal val="#ppt_x"/>
                                          </p:val>
                                        </p:tav>
                                        <p:tav tm="100000">
                                          <p:val>
                                            <p:strVal val="#ppt_x"/>
                                          </p:val>
                                        </p:tav>
                                      </p:tavLst>
                                    </p:anim>
                                    <p:anim calcmode="lin" valueType="num">
                                      <p:cBhvr additive="base">
                                        <p:cTn id="8" dur="500" fill="hold"/>
                                        <p:tgtEl>
                                          <p:spTgt spid="20583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05828"/>
                                        </p:tgtEl>
                                        <p:attrNameLst>
                                          <p:attrName>style.visibility</p:attrName>
                                        </p:attrNameLst>
                                      </p:cBhvr>
                                      <p:to>
                                        <p:strVal val="visible"/>
                                      </p:to>
                                    </p:set>
                                    <p:animEffect transition="in" filter="blinds(horizontal)">
                                      <p:cBhvr>
                                        <p:cTn id="13" dur="500"/>
                                        <p:tgtEl>
                                          <p:spTgt spid="20582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05831"/>
                                        </p:tgtEl>
                                        <p:attrNameLst>
                                          <p:attrName>style.visibility</p:attrName>
                                        </p:attrNameLst>
                                      </p:cBhvr>
                                      <p:to>
                                        <p:strVal val="visible"/>
                                      </p:to>
                                    </p:set>
                                    <p:animEffect transition="in" filter="blinds(horizontal)">
                                      <p:cBhvr>
                                        <p:cTn id="18" dur="500"/>
                                        <p:tgtEl>
                                          <p:spTgt spid="205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8" grpId="0" animBg="1"/>
      <p:bldP spid="205830" grpId="0" animBg="1"/>
      <p:bldP spid="20583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日期版面配置區 2"/>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BE58CFB4-22E6-4190-BEDC-A9B0ACF047DA}" type="datetime1">
              <a:rPr kumimoji="0" lang="zh-TW" altLang="en-US" sz="1400" smtClean="0"/>
              <a:t>2018/5/4</a:t>
            </a:fld>
            <a:endParaRPr kumimoji="0" lang="en-US" altLang="zh-TW" sz="1400" smtClean="0"/>
          </a:p>
        </p:txBody>
      </p:sp>
      <p:sp>
        <p:nvSpPr>
          <p:cNvPr id="37891" name="頁尾版面配置區 3"/>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37892" name="投影片編號版面配置區 4"/>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62245DE8-0BDF-42D0-B490-118BEEBB3453}" type="slidenum">
              <a:rPr kumimoji="0" lang="zh-TW" altLang="en-US" sz="1400" smtClean="0"/>
              <a:pPr eaLnBrk="1" hangingPunct="1"/>
              <a:t>38</a:t>
            </a:fld>
            <a:endParaRPr kumimoji="0" lang="en-US" altLang="zh-TW" sz="1400" smtClean="0"/>
          </a:p>
        </p:txBody>
      </p:sp>
      <p:sp>
        <p:nvSpPr>
          <p:cNvPr id="37893" name="Rectangle 2"/>
          <p:cNvSpPr>
            <a:spLocks noGrp="1" noChangeArrowheads="1"/>
          </p:cNvSpPr>
          <p:nvPr>
            <p:ph type="title"/>
          </p:nvPr>
        </p:nvSpPr>
        <p:spPr/>
        <p:txBody>
          <a:bodyPr/>
          <a:lstStyle/>
          <a:p>
            <a:pPr eaLnBrk="1" hangingPunct="1"/>
            <a:r>
              <a:rPr lang="en-US" altLang="zh-TW" smtClean="0"/>
              <a:t>RAID (0 + 1) and (1 + 0)</a:t>
            </a:r>
            <a:endParaRPr lang="en-US" altLang="zh-TW" sz="3600" smtClean="0"/>
          </a:p>
        </p:txBody>
      </p:sp>
      <p:pic>
        <p:nvPicPr>
          <p:cNvPr id="37894" name="Picture 3"/>
          <p:cNvPicPr>
            <a:picLocks noChangeAspect="1" noChangeArrowheads="1"/>
          </p:cNvPicPr>
          <p:nvPr/>
        </p:nvPicPr>
        <p:blipFill>
          <a:blip r:embed="rId3">
            <a:extLst>
              <a:ext uri="{28A0092B-C50C-407E-A947-70E740481C1C}">
                <a14:useLocalDpi xmlns:a14="http://schemas.microsoft.com/office/drawing/2010/main" val="0"/>
              </a:ext>
            </a:extLst>
          </a:blip>
          <a:srcRect l="18102" t="1460" r="19676" b="2100"/>
          <a:stretch>
            <a:fillRect/>
          </a:stretch>
        </p:blipFill>
        <p:spPr bwMode="auto">
          <a:xfrm>
            <a:off x="1577975" y="1560513"/>
            <a:ext cx="4660900" cy="4895850"/>
          </a:xfrm>
          <a:prstGeom prst="rect">
            <a:avLst/>
          </a:prstGeom>
          <a:noFill/>
          <a:ln w="57150" cmpd="thickThin">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164" name="Text Box 4"/>
          <p:cNvSpPr txBox="1">
            <a:spLocks noChangeArrowheads="1"/>
          </p:cNvSpPr>
          <p:nvPr/>
        </p:nvSpPr>
        <p:spPr bwMode="auto">
          <a:xfrm>
            <a:off x="1316038" y="219075"/>
            <a:ext cx="1938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a:solidFill>
                  <a:srgbClr val="FF0000"/>
                </a:solidFill>
              </a:rPr>
              <a:t>Performance</a:t>
            </a:r>
          </a:p>
        </p:txBody>
      </p:sp>
      <p:sp>
        <p:nvSpPr>
          <p:cNvPr id="92165" name="Line 5"/>
          <p:cNvSpPr>
            <a:spLocks noChangeShapeType="1"/>
          </p:cNvSpPr>
          <p:nvPr/>
        </p:nvSpPr>
        <p:spPr bwMode="auto">
          <a:xfrm flipH="1">
            <a:off x="2511425" y="609600"/>
            <a:ext cx="101600" cy="246063"/>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92166" name="Text Box 6"/>
          <p:cNvSpPr txBox="1">
            <a:spLocks noChangeArrowheads="1"/>
          </p:cNvSpPr>
          <p:nvPr/>
        </p:nvSpPr>
        <p:spPr bwMode="auto">
          <a:xfrm>
            <a:off x="3268663" y="227013"/>
            <a:ext cx="1938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a:solidFill>
                  <a:srgbClr val="FF0000"/>
                </a:solidFill>
              </a:rPr>
              <a:t>Reliability</a:t>
            </a:r>
          </a:p>
        </p:txBody>
      </p:sp>
      <p:sp>
        <p:nvSpPr>
          <p:cNvPr id="92167" name="Line 7"/>
          <p:cNvSpPr>
            <a:spLocks noChangeShapeType="1"/>
          </p:cNvSpPr>
          <p:nvPr/>
        </p:nvSpPr>
        <p:spPr bwMode="auto">
          <a:xfrm flipH="1">
            <a:off x="3635375" y="587375"/>
            <a:ext cx="101600" cy="246063"/>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92168" name="Text Box 8"/>
          <p:cNvSpPr txBox="1">
            <a:spLocks noChangeArrowheads="1"/>
          </p:cNvSpPr>
          <p:nvPr/>
        </p:nvSpPr>
        <p:spPr bwMode="auto">
          <a:xfrm>
            <a:off x="6308725" y="2009775"/>
            <a:ext cx="26225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2000">
                <a:solidFill>
                  <a:srgbClr val="FF0000"/>
                </a:solidFill>
              </a:rPr>
              <a:t>Copy the whole stripe</a:t>
            </a:r>
          </a:p>
          <a:p>
            <a:pPr eaLnBrk="1" hangingPunct="1"/>
            <a:r>
              <a:rPr lang="en-US" altLang="zh-TW" sz="2000">
                <a:solidFill>
                  <a:srgbClr val="FF0000"/>
                </a:solidFill>
              </a:rPr>
              <a:t>One disk fails,</a:t>
            </a:r>
          </a:p>
          <a:p>
            <a:pPr eaLnBrk="1" hangingPunct="1"/>
            <a:r>
              <a:rPr lang="en-US" altLang="zh-TW" sz="2000">
                <a:solidFill>
                  <a:srgbClr val="FF0000"/>
                </a:solidFill>
              </a:rPr>
              <a:t>all stripe fail</a:t>
            </a:r>
          </a:p>
        </p:txBody>
      </p:sp>
      <p:sp>
        <p:nvSpPr>
          <p:cNvPr id="92169" name="Text Box 9"/>
          <p:cNvSpPr txBox="1">
            <a:spLocks noChangeArrowheads="1"/>
          </p:cNvSpPr>
          <p:nvPr/>
        </p:nvSpPr>
        <p:spPr bwMode="auto">
          <a:xfrm>
            <a:off x="6421438" y="3487738"/>
            <a:ext cx="259873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lang="en-US" altLang="zh-TW" sz="1600"/>
              <a:t>For both reliability &amp;</a:t>
            </a:r>
          </a:p>
          <a:p>
            <a:pPr eaLnBrk="1" hangingPunct="1"/>
            <a:r>
              <a:rPr lang="en-US" altLang="zh-TW" sz="1600"/>
              <a:t>performance are important</a:t>
            </a:r>
          </a:p>
        </p:txBody>
      </p:sp>
      <p:sp>
        <p:nvSpPr>
          <p:cNvPr id="92170" name="Line 10"/>
          <p:cNvSpPr>
            <a:spLocks noChangeShapeType="1"/>
          </p:cNvSpPr>
          <p:nvPr/>
        </p:nvSpPr>
        <p:spPr bwMode="auto">
          <a:xfrm flipH="1" flipV="1">
            <a:off x="6018213" y="2695575"/>
            <a:ext cx="457200" cy="898525"/>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92171" name="Line 11"/>
          <p:cNvSpPr>
            <a:spLocks noChangeShapeType="1"/>
          </p:cNvSpPr>
          <p:nvPr/>
        </p:nvSpPr>
        <p:spPr bwMode="auto">
          <a:xfrm flipH="1">
            <a:off x="6072188" y="4067175"/>
            <a:ext cx="449262" cy="7620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92172" name="Line 12"/>
          <p:cNvSpPr>
            <a:spLocks noChangeShapeType="1"/>
          </p:cNvSpPr>
          <p:nvPr/>
        </p:nvSpPr>
        <p:spPr bwMode="auto">
          <a:xfrm flipV="1">
            <a:off x="2652713" y="4514850"/>
            <a:ext cx="392112" cy="1004888"/>
          </a:xfrm>
          <a:prstGeom prst="line">
            <a:avLst/>
          </a:prstGeom>
          <a:noFill/>
          <a:ln w="28575">
            <a:solidFill>
              <a:srgbClr val="FF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92173" name="Line 13"/>
          <p:cNvSpPr>
            <a:spLocks noChangeShapeType="1"/>
          </p:cNvSpPr>
          <p:nvPr/>
        </p:nvSpPr>
        <p:spPr bwMode="auto">
          <a:xfrm flipV="1">
            <a:off x="3052763" y="4506913"/>
            <a:ext cx="2932112" cy="7937"/>
          </a:xfrm>
          <a:prstGeom prst="line">
            <a:avLst/>
          </a:prstGeom>
          <a:noFill/>
          <a:ln w="28575">
            <a:solidFill>
              <a:srgbClr val="FF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164"/>
                                        </p:tgtEl>
                                        <p:attrNameLst>
                                          <p:attrName>style.visibility</p:attrName>
                                        </p:attrNameLst>
                                      </p:cBhvr>
                                      <p:to>
                                        <p:strVal val="visible"/>
                                      </p:to>
                                    </p:set>
                                    <p:animEffect transition="in" filter="blinds(horizontal)">
                                      <p:cBhvr>
                                        <p:cTn id="7" dur="500"/>
                                        <p:tgtEl>
                                          <p:spTgt spid="9216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2165"/>
                                        </p:tgtEl>
                                        <p:attrNameLst>
                                          <p:attrName>style.visibility</p:attrName>
                                        </p:attrNameLst>
                                      </p:cBhvr>
                                      <p:to>
                                        <p:strVal val="visible"/>
                                      </p:to>
                                    </p:set>
                                    <p:animEffect transition="in" filter="blinds(horizontal)">
                                      <p:cBhvr>
                                        <p:cTn id="10" dur="500"/>
                                        <p:tgtEl>
                                          <p:spTgt spid="9216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2167"/>
                                        </p:tgtEl>
                                        <p:attrNameLst>
                                          <p:attrName>style.visibility</p:attrName>
                                        </p:attrNameLst>
                                      </p:cBhvr>
                                      <p:to>
                                        <p:strVal val="visible"/>
                                      </p:to>
                                    </p:set>
                                    <p:animEffect transition="in" filter="blinds(horizontal)">
                                      <p:cBhvr>
                                        <p:cTn id="15" dur="500"/>
                                        <p:tgtEl>
                                          <p:spTgt spid="9216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92166"/>
                                        </p:tgtEl>
                                        <p:attrNameLst>
                                          <p:attrName>style.visibility</p:attrName>
                                        </p:attrNameLst>
                                      </p:cBhvr>
                                      <p:to>
                                        <p:strVal val="visible"/>
                                      </p:to>
                                    </p:set>
                                    <p:animEffect transition="in" filter="blinds(horizontal)">
                                      <p:cBhvr>
                                        <p:cTn id="18" dur="500"/>
                                        <p:tgtEl>
                                          <p:spTgt spid="9216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92168"/>
                                        </p:tgtEl>
                                        <p:attrNameLst>
                                          <p:attrName>style.visibility</p:attrName>
                                        </p:attrNameLst>
                                      </p:cBhvr>
                                      <p:to>
                                        <p:strVal val="visible"/>
                                      </p:to>
                                    </p:set>
                                    <p:animEffect transition="in" filter="blinds(horizontal)">
                                      <p:cBhvr>
                                        <p:cTn id="23" dur="500"/>
                                        <p:tgtEl>
                                          <p:spTgt spid="9216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92169"/>
                                        </p:tgtEl>
                                        <p:attrNameLst>
                                          <p:attrName>style.visibility</p:attrName>
                                        </p:attrNameLst>
                                      </p:cBhvr>
                                      <p:to>
                                        <p:strVal val="visible"/>
                                      </p:to>
                                    </p:set>
                                    <p:animEffect transition="in" filter="blinds(horizontal)">
                                      <p:cBhvr>
                                        <p:cTn id="28" dur="500"/>
                                        <p:tgtEl>
                                          <p:spTgt spid="92169"/>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92171"/>
                                        </p:tgtEl>
                                        <p:attrNameLst>
                                          <p:attrName>style.visibility</p:attrName>
                                        </p:attrNameLst>
                                      </p:cBhvr>
                                      <p:to>
                                        <p:strVal val="visible"/>
                                      </p:to>
                                    </p:set>
                                    <p:animEffect transition="in" filter="blinds(horizontal)">
                                      <p:cBhvr>
                                        <p:cTn id="31" dur="500"/>
                                        <p:tgtEl>
                                          <p:spTgt spid="92171"/>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92170"/>
                                        </p:tgtEl>
                                        <p:attrNameLst>
                                          <p:attrName>style.visibility</p:attrName>
                                        </p:attrNameLst>
                                      </p:cBhvr>
                                      <p:to>
                                        <p:strVal val="visible"/>
                                      </p:to>
                                    </p:set>
                                    <p:animEffect transition="in" filter="blinds(horizontal)">
                                      <p:cBhvr>
                                        <p:cTn id="34" dur="500"/>
                                        <p:tgtEl>
                                          <p:spTgt spid="9217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217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21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4" grpId="0"/>
      <p:bldP spid="92165" grpId="0" animBg="1"/>
      <p:bldP spid="92166" grpId="0"/>
      <p:bldP spid="92167" grpId="0" animBg="1"/>
      <p:bldP spid="92168" grpId="0"/>
      <p:bldP spid="92169" grpId="0"/>
      <p:bldP spid="92170" grpId="0" animBg="1"/>
      <p:bldP spid="92171" grpId="0" animBg="1"/>
      <p:bldP spid="92172" grpId="0" animBg="1"/>
      <p:bldP spid="9217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13EA3467-C5A2-4310-8934-E9211F0C2F37}" type="datetime1">
              <a:rPr kumimoji="0" lang="zh-TW" altLang="en-US" sz="1400" smtClean="0"/>
              <a:t>2018/5/4</a:t>
            </a:fld>
            <a:endParaRPr kumimoji="0" lang="en-US" altLang="zh-TW" sz="1400" smtClean="0"/>
          </a:p>
        </p:txBody>
      </p:sp>
      <p:sp>
        <p:nvSpPr>
          <p:cNvPr id="38915"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38916"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F009C14C-C60A-4AF6-82AA-54C7D9302CF6}" type="slidenum">
              <a:rPr kumimoji="0" lang="zh-TW" altLang="en-US" sz="1400" smtClean="0"/>
              <a:pPr eaLnBrk="1" hangingPunct="1"/>
              <a:t>39</a:t>
            </a:fld>
            <a:endParaRPr kumimoji="0" lang="en-US" altLang="zh-TW" sz="1400" smtClean="0"/>
          </a:p>
        </p:txBody>
      </p:sp>
      <p:sp>
        <p:nvSpPr>
          <p:cNvPr id="38917" name="Rectangle 2"/>
          <p:cNvSpPr>
            <a:spLocks noGrp="1" noChangeArrowheads="1"/>
          </p:cNvSpPr>
          <p:nvPr>
            <p:ph type="title"/>
          </p:nvPr>
        </p:nvSpPr>
        <p:spPr>
          <a:xfrm>
            <a:off x="514350" y="212725"/>
            <a:ext cx="7772400" cy="690563"/>
          </a:xfrm>
        </p:spPr>
        <p:txBody>
          <a:bodyPr/>
          <a:lstStyle/>
          <a:p>
            <a:pPr eaLnBrk="1" hangingPunct="1"/>
            <a:r>
              <a:rPr lang="en-US" altLang="zh-TW" sz="3600" smtClean="0"/>
              <a:t>Selecting a RAID Level</a:t>
            </a:r>
          </a:p>
        </p:txBody>
      </p:sp>
      <p:sp>
        <p:nvSpPr>
          <p:cNvPr id="38918" name="Rectangle 3" descr="Rectangle: Click to edit Master text styles&#10;Second level&#10;Third level&#10;Fourth level&#10;Fifth level"/>
          <p:cNvSpPr>
            <a:spLocks noGrp="1" noChangeArrowheads="1"/>
          </p:cNvSpPr>
          <p:nvPr>
            <p:ph type="body" idx="1"/>
          </p:nvPr>
        </p:nvSpPr>
        <p:spPr>
          <a:xfrm>
            <a:off x="247650" y="1055688"/>
            <a:ext cx="8683625" cy="5418137"/>
          </a:xfrm>
        </p:spPr>
        <p:txBody>
          <a:bodyPr/>
          <a:lstStyle/>
          <a:p>
            <a:pPr eaLnBrk="1" hangingPunct="1"/>
            <a:r>
              <a:rPr lang="en-US" altLang="zh-TW" sz="2800" dirty="0" smtClean="0"/>
              <a:t>One consideration:</a:t>
            </a:r>
            <a:r>
              <a:rPr lang="en-US" altLang="zh-TW" sz="2800" dirty="0" smtClean="0">
                <a:solidFill>
                  <a:srgbClr val="0000FF"/>
                </a:solidFill>
              </a:rPr>
              <a:t> rebuild performance</a:t>
            </a:r>
          </a:p>
          <a:p>
            <a:pPr lvl="1" eaLnBrk="1" hangingPunct="1">
              <a:lnSpc>
                <a:spcPct val="80000"/>
              </a:lnSpc>
              <a:spcBef>
                <a:spcPct val="50000"/>
              </a:spcBef>
            </a:pPr>
            <a:r>
              <a:rPr lang="en-US" altLang="zh-TW" sz="2400" dirty="0" smtClean="0">
                <a:solidFill>
                  <a:srgbClr val="0000FF"/>
                </a:solidFill>
              </a:rPr>
              <a:t>It influences the mean time to failure</a:t>
            </a:r>
          </a:p>
          <a:p>
            <a:pPr lvl="1" eaLnBrk="1" hangingPunct="1">
              <a:lnSpc>
                <a:spcPct val="80000"/>
              </a:lnSpc>
              <a:spcBef>
                <a:spcPct val="50000"/>
              </a:spcBef>
            </a:pPr>
            <a:r>
              <a:rPr lang="en-US" altLang="zh-TW" sz="2400" dirty="0" smtClean="0">
                <a:solidFill>
                  <a:srgbClr val="0000FF"/>
                </a:solidFill>
              </a:rPr>
              <a:t>RAID 1: easiest</a:t>
            </a:r>
          </a:p>
          <a:p>
            <a:pPr lvl="1" eaLnBrk="1" hangingPunct="1">
              <a:lnSpc>
                <a:spcPct val="80000"/>
              </a:lnSpc>
              <a:spcBef>
                <a:spcPct val="50000"/>
              </a:spcBef>
            </a:pPr>
            <a:r>
              <a:rPr lang="en-US" altLang="zh-TW" sz="2400" dirty="0" smtClean="0">
                <a:solidFill>
                  <a:srgbClr val="0000FF"/>
                </a:solidFill>
              </a:rPr>
              <a:t>RAID 5: can be hours for large disk sets </a:t>
            </a:r>
            <a:r>
              <a:rPr lang="en-US" altLang="zh-TW" sz="2400" dirty="0" smtClean="0">
                <a:solidFill>
                  <a:srgbClr val="FF0000"/>
                </a:solidFill>
              </a:rPr>
              <a:t>(for rebuild)</a:t>
            </a:r>
          </a:p>
          <a:p>
            <a:pPr lvl="1" eaLnBrk="1" hangingPunct="1">
              <a:lnSpc>
                <a:spcPct val="80000"/>
              </a:lnSpc>
              <a:spcBef>
                <a:spcPct val="50000"/>
              </a:spcBef>
            </a:pPr>
            <a:r>
              <a:rPr lang="en-US" altLang="zh-TW" sz="2400" dirty="0" smtClean="0">
                <a:solidFill>
                  <a:srgbClr val="0000FF"/>
                </a:solidFill>
              </a:rPr>
              <a:t>RAID 5 is often preferred for storing large volumes of data</a:t>
            </a:r>
          </a:p>
          <a:p>
            <a:pPr lvl="1" eaLnBrk="1" hangingPunct="1">
              <a:lnSpc>
                <a:spcPct val="80000"/>
              </a:lnSpc>
              <a:spcBef>
                <a:spcPct val="50000"/>
              </a:spcBef>
            </a:pPr>
            <a:r>
              <a:rPr lang="en-US" altLang="zh-TW" sz="2400" dirty="0" smtClean="0">
                <a:solidFill>
                  <a:srgbClr val="0000FF"/>
                </a:solidFill>
              </a:rPr>
              <a:t>RAID 6 </a:t>
            </a:r>
            <a:r>
              <a:rPr lang="en-US" altLang="zh-TW" sz="2400" strike="sngStrike" dirty="0" smtClean="0">
                <a:solidFill>
                  <a:srgbClr val="FF0000"/>
                </a:solidFill>
              </a:rPr>
              <a:t>is not supported currently</a:t>
            </a:r>
            <a:r>
              <a:rPr lang="en-US" altLang="zh-TW" sz="2400" dirty="0" smtClean="0">
                <a:solidFill>
                  <a:srgbClr val="0000FF"/>
                </a:solidFill>
              </a:rPr>
              <a:t>, but it should offer better reliability then level 5</a:t>
            </a:r>
          </a:p>
          <a:p>
            <a:pPr eaLnBrk="1" hangingPunct="1">
              <a:spcBef>
                <a:spcPct val="60000"/>
              </a:spcBef>
            </a:pPr>
            <a:r>
              <a:rPr lang="en-US" altLang="zh-TW" sz="2800" dirty="0" smtClean="0"/>
              <a:t>Other decisions: </a:t>
            </a:r>
          </a:p>
          <a:p>
            <a:pPr lvl="1" eaLnBrk="1" hangingPunct="1"/>
            <a:r>
              <a:rPr lang="en-US" altLang="zh-TW" sz="2400" dirty="0" smtClean="0">
                <a:solidFill>
                  <a:srgbClr val="0000FF"/>
                </a:solidFill>
              </a:rPr>
              <a:t>How many disks should be in a given RAID set? </a:t>
            </a:r>
          </a:p>
          <a:p>
            <a:pPr lvl="1" eaLnBrk="1" hangingPunct="1"/>
            <a:r>
              <a:rPr lang="en-US" altLang="zh-TW" sz="2400" dirty="0" smtClean="0">
                <a:solidFill>
                  <a:srgbClr val="0000FF"/>
                </a:solidFill>
              </a:rPr>
              <a:t>How many bits should be protected by each parity bit?</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5B43CDDE-8273-4BA2-9DF2-6789D0B3DFDE}" type="datetime1">
              <a:rPr kumimoji="0" lang="zh-TW" altLang="en-US" sz="1400" smtClean="0"/>
              <a:t>2018/5/4</a:t>
            </a:fld>
            <a:endParaRPr kumimoji="0" lang="en-US" altLang="zh-TW" sz="1400" smtClean="0"/>
          </a:p>
        </p:txBody>
      </p:sp>
      <p:sp>
        <p:nvSpPr>
          <p:cNvPr id="39939"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39940"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77664243-7F58-485C-85E1-AEE940B123D2}" type="slidenum">
              <a:rPr kumimoji="0" lang="zh-TW" altLang="en-US" sz="1400" smtClean="0"/>
              <a:pPr eaLnBrk="1" hangingPunct="1"/>
              <a:t>40</a:t>
            </a:fld>
            <a:endParaRPr kumimoji="0" lang="en-US" altLang="zh-TW" sz="1400" smtClean="0"/>
          </a:p>
        </p:txBody>
      </p:sp>
      <p:sp>
        <p:nvSpPr>
          <p:cNvPr id="39941" name="Rectangle 2"/>
          <p:cNvSpPr>
            <a:spLocks noGrp="1" noChangeArrowheads="1"/>
          </p:cNvSpPr>
          <p:nvPr>
            <p:ph type="title"/>
          </p:nvPr>
        </p:nvSpPr>
        <p:spPr>
          <a:xfrm>
            <a:off x="488950" y="106363"/>
            <a:ext cx="7772400" cy="820737"/>
          </a:xfrm>
        </p:spPr>
        <p:txBody>
          <a:bodyPr/>
          <a:lstStyle/>
          <a:p>
            <a:pPr eaLnBrk="1" hangingPunct="1"/>
            <a:r>
              <a:rPr lang="en-US" altLang="zh-TW" smtClean="0">
                <a:solidFill>
                  <a:srgbClr val="9933FF"/>
                </a:solidFill>
              </a:rPr>
              <a:t>Problems with RAID</a:t>
            </a:r>
          </a:p>
        </p:txBody>
      </p:sp>
      <p:sp>
        <p:nvSpPr>
          <p:cNvPr id="195587" name="Rectangle 3" descr="Rectangle: Click to edit Master text styles&#10;Second level&#10;Third level&#10;Fourth level&#10;Fifth level"/>
          <p:cNvSpPr>
            <a:spLocks noGrp="1" noChangeArrowheads="1"/>
          </p:cNvSpPr>
          <p:nvPr>
            <p:ph type="body" idx="1"/>
          </p:nvPr>
        </p:nvSpPr>
        <p:spPr>
          <a:xfrm>
            <a:off x="360363" y="1060450"/>
            <a:ext cx="8496300" cy="5230813"/>
          </a:xfrm>
        </p:spPr>
        <p:txBody>
          <a:bodyPr/>
          <a:lstStyle/>
          <a:p>
            <a:pPr eaLnBrk="1" hangingPunct="1">
              <a:lnSpc>
                <a:spcPct val="90000"/>
              </a:lnSpc>
            </a:pPr>
            <a:r>
              <a:rPr lang="en-US" altLang="zh-TW" sz="2800" dirty="0" smtClean="0">
                <a:solidFill>
                  <a:srgbClr val="FF0000"/>
                </a:solidFill>
              </a:rPr>
              <a:t>Not always available</a:t>
            </a:r>
            <a:r>
              <a:rPr lang="en-US" altLang="zh-TW" sz="2800" dirty="0" smtClean="0">
                <a:solidFill>
                  <a:srgbClr val="0000FF"/>
                </a:solidFill>
              </a:rPr>
              <a:t>: RAID protects against </a:t>
            </a:r>
            <a:r>
              <a:rPr lang="en-US" altLang="zh-TW" sz="2800" dirty="0" smtClean="0">
                <a:solidFill>
                  <a:srgbClr val="FF0000"/>
                </a:solidFill>
              </a:rPr>
              <a:t>physical media errors</a:t>
            </a:r>
            <a:r>
              <a:rPr lang="en-US" altLang="zh-TW" sz="2800" dirty="0" smtClean="0">
                <a:solidFill>
                  <a:srgbClr val="0000FF"/>
                </a:solidFill>
              </a:rPr>
              <a:t>, but not other h/w and s/w errors.</a:t>
            </a:r>
          </a:p>
          <a:p>
            <a:pPr eaLnBrk="1" hangingPunct="1">
              <a:lnSpc>
                <a:spcPct val="90000"/>
              </a:lnSpc>
              <a:spcBef>
                <a:spcPct val="60000"/>
              </a:spcBef>
            </a:pPr>
            <a:r>
              <a:rPr lang="en-US" altLang="zh-TW" sz="2800" dirty="0" smtClean="0">
                <a:solidFill>
                  <a:srgbClr val="FF0000"/>
                </a:solidFill>
              </a:rPr>
              <a:t>Lack of flexibility</a:t>
            </a:r>
            <a:r>
              <a:rPr lang="en-US" altLang="zh-TW" sz="2800" dirty="0" smtClean="0">
                <a:solidFill>
                  <a:srgbClr val="0000FF"/>
                </a:solidFill>
              </a:rPr>
              <a:t>: what if one file system is too large? And what if another file system need very little space? Where disk use and requirements change over time.</a:t>
            </a:r>
          </a:p>
          <a:p>
            <a:pPr lvl="1" eaLnBrk="1" hangingPunct="1">
              <a:lnSpc>
                <a:spcPct val="90000"/>
              </a:lnSpc>
              <a:spcBef>
                <a:spcPct val="60000"/>
              </a:spcBef>
            </a:pPr>
            <a:r>
              <a:rPr lang="en-US" altLang="zh-TW" sz="2400" dirty="0" smtClean="0">
                <a:solidFill>
                  <a:srgbClr val="0000FF"/>
                </a:solidFill>
              </a:rPr>
              <a:t>Some volume managers do not allow us to change a volume</a:t>
            </a:r>
            <a:r>
              <a:rPr lang="en-US" altLang="zh-TW" sz="2400" dirty="0" smtClean="0">
                <a:solidFill>
                  <a:srgbClr val="0000FF"/>
                </a:solidFill>
                <a:latin typeface="Helvetica" pitchFamily="34" charset="0"/>
              </a:rPr>
              <a:t>’</a:t>
            </a:r>
            <a:r>
              <a:rPr lang="en-US" altLang="zh-TW" sz="2400" dirty="0" smtClean="0">
                <a:solidFill>
                  <a:srgbClr val="0000FF"/>
                </a:solidFill>
              </a:rPr>
              <a:t>s size. And if it</a:t>
            </a:r>
            <a:r>
              <a:rPr lang="en-US" altLang="zh-TW" sz="2400" dirty="0" smtClean="0">
                <a:solidFill>
                  <a:srgbClr val="0000FF"/>
                </a:solidFill>
                <a:latin typeface="Helvetica" pitchFamily="34" charset="0"/>
              </a:rPr>
              <a:t>’</a:t>
            </a:r>
            <a:r>
              <a:rPr lang="en-US" altLang="zh-TW" sz="2400" dirty="0" smtClean="0">
                <a:solidFill>
                  <a:srgbClr val="0000FF"/>
                </a:solidFill>
              </a:rPr>
              <a:t>s OK, the file systems would need to be recreated.</a:t>
            </a:r>
          </a:p>
          <a:p>
            <a:pPr eaLnBrk="1" hangingPunct="1">
              <a:lnSpc>
                <a:spcPct val="90000"/>
              </a:lnSpc>
              <a:spcBef>
                <a:spcPct val="60000"/>
              </a:spcBef>
            </a:pPr>
            <a:r>
              <a:rPr lang="en-US" altLang="zh-TW" sz="2800" dirty="0" smtClean="0">
                <a:solidFill>
                  <a:srgbClr val="0000FF"/>
                </a:solidFill>
              </a:rPr>
              <a:t>Solution: ZFS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5587">
                                            <p:txEl>
                                              <p:pRg st="1" end="1"/>
                                            </p:txEl>
                                          </p:spTgt>
                                        </p:tgtEl>
                                        <p:attrNameLst>
                                          <p:attrName>style.visibility</p:attrName>
                                        </p:attrNameLst>
                                      </p:cBhvr>
                                      <p:to>
                                        <p:strVal val="visible"/>
                                      </p:to>
                                    </p:set>
                                    <p:animEffect transition="in" filter="blinds(horizontal)">
                                      <p:cBhvr>
                                        <p:cTn id="7" dur="500"/>
                                        <p:tgtEl>
                                          <p:spTgt spid="19558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95587">
                                            <p:txEl>
                                              <p:pRg st="2" end="2"/>
                                            </p:txEl>
                                          </p:spTgt>
                                        </p:tgtEl>
                                        <p:attrNameLst>
                                          <p:attrName>style.visibility</p:attrName>
                                        </p:attrNameLst>
                                      </p:cBhvr>
                                      <p:to>
                                        <p:strVal val="visible"/>
                                      </p:to>
                                    </p:set>
                                    <p:animEffect transition="in" filter="blinds(horizontal)">
                                      <p:cBhvr>
                                        <p:cTn id="12" dur="500"/>
                                        <p:tgtEl>
                                          <p:spTgt spid="19558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95587">
                                            <p:txEl>
                                              <p:pRg st="3" end="3"/>
                                            </p:txEl>
                                          </p:spTgt>
                                        </p:tgtEl>
                                        <p:attrNameLst>
                                          <p:attrName>style.visibility</p:attrName>
                                        </p:attrNameLst>
                                      </p:cBhvr>
                                      <p:to>
                                        <p:strVal val="visible"/>
                                      </p:to>
                                    </p:set>
                                    <p:animEffect transition="in" filter="blinds(horizontal)">
                                      <p:cBhvr>
                                        <p:cTn id="17" dur="500"/>
                                        <p:tgtEl>
                                          <p:spTgt spid="1955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EB20A89A-97FC-4C25-BC08-1768A405A178}" type="datetime1">
              <a:rPr kumimoji="0" lang="zh-TW" altLang="en-US" sz="1400" smtClean="0"/>
              <a:t>2018/5/4</a:t>
            </a:fld>
            <a:endParaRPr kumimoji="0" lang="en-US" altLang="zh-TW" sz="1400" smtClean="0"/>
          </a:p>
        </p:txBody>
      </p:sp>
      <p:sp>
        <p:nvSpPr>
          <p:cNvPr id="39939"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39940"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77664243-7F58-485C-85E1-AEE940B123D2}" type="slidenum">
              <a:rPr kumimoji="0" lang="zh-TW" altLang="en-US" sz="1400" smtClean="0"/>
              <a:pPr eaLnBrk="1" hangingPunct="1"/>
              <a:t>41</a:t>
            </a:fld>
            <a:endParaRPr kumimoji="0" lang="en-US" altLang="zh-TW" sz="1400" smtClean="0"/>
          </a:p>
        </p:txBody>
      </p:sp>
      <p:sp>
        <p:nvSpPr>
          <p:cNvPr id="39941" name="Rectangle 2"/>
          <p:cNvSpPr>
            <a:spLocks noGrp="1" noChangeArrowheads="1"/>
          </p:cNvSpPr>
          <p:nvPr>
            <p:ph type="title"/>
          </p:nvPr>
        </p:nvSpPr>
        <p:spPr>
          <a:xfrm>
            <a:off x="488950" y="106363"/>
            <a:ext cx="7772400" cy="820737"/>
          </a:xfrm>
        </p:spPr>
        <p:txBody>
          <a:bodyPr/>
          <a:lstStyle/>
          <a:p>
            <a:pPr eaLnBrk="1" hangingPunct="1"/>
            <a:r>
              <a:rPr lang="en-US" altLang="zh-TW" dirty="0">
                <a:solidFill>
                  <a:srgbClr val="9933FF"/>
                </a:solidFill>
              </a:rPr>
              <a:t>Other Features</a:t>
            </a:r>
            <a:endParaRPr lang="en-US" altLang="zh-TW" dirty="0" smtClean="0">
              <a:solidFill>
                <a:srgbClr val="9933FF"/>
              </a:solidFill>
            </a:endParaRPr>
          </a:p>
        </p:txBody>
      </p:sp>
      <p:sp>
        <p:nvSpPr>
          <p:cNvPr id="195587" name="Rectangle 3" descr="Rectangle: Click to edit Master text styles&#10;Second level&#10;Third level&#10;Fourth level&#10;Fifth level"/>
          <p:cNvSpPr>
            <a:spLocks noGrp="1" noChangeArrowheads="1"/>
          </p:cNvSpPr>
          <p:nvPr>
            <p:ph type="body" idx="1"/>
          </p:nvPr>
        </p:nvSpPr>
        <p:spPr>
          <a:xfrm>
            <a:off x="164387" y="893852"/>
            <a:ext cx="8692276" cy="5743254"/>
          </a:xfrm>
        </p:spPr>
        <p:txBody>
          <a:bodyPr/>
          <a:lstStyle/>
          <a:p>
            <a:pPr eaLnBrk="1" hangingPunct="1">
              <a:lnSpc>
                <a:spcPct val="90000"/>
              </a:lnSpc>
            </a:pPr>
            <a:r>
              <a:rPr lang="en-US" altLang="zh-TW" sz="2800" dirty="0">
                <a:solidFill>
                  <a:srgbClr val="002060"/>
                </a:solidFill>
                <a:latin typeface="Adobe Gothic Std B" pitchFamily="34" charset="-128"/>
                <a:ea typeface="Adobe Gothic Std B" pitchFamily="34" charset="-128"/>
              </a:rPr>
              <a:t>Regardless of where RAID implemented, other useful features can be added</a:t>
            </a:r>
          </a:p>
          <a:p>
            <a:pPr eaLnBrk="1" hangingPunct="1">
              <a:lnSpc>
                <a:spcPct val="90000"/>
              </a:lnSpc>
            </a:pPr>
            <a:r>
              <a:rPr lang="en-US" altLang="zh-TW" sz="2800" dirty="0">
                <a:solidFill>
                  <a:srgbClr val="FF0000"/>
                </a:solidFill>
                <a:latin typeface="Adobe Gothic Std B" pitchFamily="34" charset="-128"/>
                <a:ea typeface="Adobe Gothic Std B" pitchFamily="34" charset="-128"/>
              </a:rPr>
              <a:t>Snapshot</a:t>
            </a:r>
            <a:r>
              <a:rPr lang="en-US" altLang="zh-TW" sz="2800" dirty="0">
                <a:solidFill>
                  <a:srgbClr val="002060"/>
                </a:solidFill>
                <a:latin typeface="Adobe Gothic Std B" pitchFamily="34" charset="-128"/>
                <a:ea typeface="Adobe Gothic Std B" pitchFamily="34" charset="-128"/>
              </a:rPr>
              <a:t> is a view of file system before a set of changes take place (i.e. at a point in time</a:t>
            </a:r>
            <a:r>
              <a:rPr lang="en-US" altLang="zh-TW" sz="2800" dirty="0" smtClean="0">
                <a:solidFill>
                  <a:srgbClr val="002060"/>
                </a:solidFill>
                <a:latin typeface="Adobe Gothic Std B" pitchFamily="34" charset="-128"/>
                <a:ea typeface="Adobe Gothic Std B" pitchFamily="34" charset="-128"/>
              </a:rPr>
              <a:t>)</a:t>
            </a:r>
          </a:p>
          <a:p>
            <a:pPr eaLnBrk="1" hangingPunct="1">
              <a:lnSpc>
                <a:spcPct val="90000"/>
              </a:lnSpc>
            </a:pPr>
            <a:r>
              <a:rPr lang="en-US" altLang="zh-TW" sz="2800" dirty="0">
                <a:solidFill>
                  <a:srgbClr val="FF0000"/>
                </a:solidFill>
                <a:latin typeface="Adobe Gothic Std B" pitchFamily="34" charset="-128"/>
                <a:ea typeface="Adobe Gothic Std B" pitchFamily="34" charset="-128"/>
              </a:rPr>
              <a:t>Replication</a:t>
            </a:r>
            <a:r>
              <a:rPr lang="en-US" altLang="zh-TW" sz="2800" dirty="0">
                <a:solidFill>
                  <a:srgbClr val="002060"/>
                </a:solidFill>
                <a:latin typeface="Adobe Gothic Std B" pitchFamily="34" charset="-128"/>
                <a:ea typeface="Adobe Gothic Std B" pitchFamily="34" charset="-128"/>
              </a:rPr>
              <a:t> is automatic duplication of writes between separate sites</a:t>
            </a:r>
          </a:p>
          <a:p>
            <a:pPr lvl="1" eaLnBrk="1" hangingPunct="1">
              <a:lnSpc>
                <a:spcPct val="90000"/>
              </a:lnSpc>
            </a:pPr>
            <a:r>
              <a:rPr lang="en-US" altLang="zh-TW" sz="2600" dirty="0">
                <a:solidFill>
                  <a:srgbClr val="002060"/>
                </a:solidFill>
                <a:latin typeface="Adobe Gothic Std B" pitchFamily="34" charset="-128"/>
                <a:ea typeface="Adobe Gothic Std B" pitchFamily="34" charset="-128"/>
              </a:rPr>
              <a:t>For redundancy and disaster recovery</a:t>
            </a:r>
          </a:p>
          <a:p>
            <a:pPr lvl="1" eaLnBrk="1" hangingPunct="1">
              <a:lnSpc>
                <a:spcPct val="90000"/>
              </a:lnSpc>
            </a:pPr>
            <a:r>
              <a:rPr lang="en-US" altLang="zh-TW" sz="2600" dirty="0">
                <a:solidFill>
                  <a:srgbClr val="002060"/>
                </a:solidFill>
                <a:latin typeface="Adobe Gothic Std B" pitchFamily="34" charset="-128"/>
                <a:ea typeface="Adobe Gothic Std B" pitchFamily="34" charset="-128"/>
              </a:rPr>
              <a:t>Can be synchronous or </a:t>
            </a:r>
            <a:r>
              <a:rPr lang="en-US" altLang="zh-TW" sz="2600" dirty="0" smtClean="0">
                <a:solidFill>
                  <a:srgbClr val="002060"/>
                </a:solidFill>
                <a:latin typeface="Adobe Gothic Std B" pitchFamily="34" charset="-128"/>
                <a:ea typeface="Adobe Gothic Std B" pitchFamily="34" charset="-128"/>
              </a:rPr>
              <a:t>asynchronous</a:t>
            </a:r>
          </a:p>
          <a:p>
            <a:pPr eaLnBrk="1" hangingPunct="1">
              <a:lnSpc>
                <a:spcPct val="90000"/>
              </a:lnSpc>
            </a:pPr>
            <a:r>
              <a:rPr lang="en-US" altLang="zh-TW" sz="2800" dirty="0">
                <a:solidFill>
                  <a:srgbClr val="FF0000"/>
                </a:solidFill>
                <a:latin typeface="Adobe Gothic Std B" pitchFamily="34" charset="-128"/>
                <a:ea typeface="Adobe Gothic Std B" pitchFamily="34" charset="-128"/>
              </a:rPr>
              <a:t>Hot spare disk </a:t>
            </a:r>
            <a:r>
              <a:rPr lang="en-US" altLang="zh-TW" sz="2800" dirty="0">
                <a:solidFill>
                  <a:srgbClr val="002060"/>
                </a:solidFill>
                <a:latin typeface="Adobe Gothic Std B" pitchFamily="34" charset="-128"/>
                <a:ea typeface="Adobe Gothic Std B" pitchFamily="34" charset="-128"/>
              </a:rPr>
              <a:t>is </a:t>
            </a:r>
            <a:r>
              <a:rPr lang="en-US" altLang="zh-TW" sz="2800" dirty="0" smtClean="0">
                <a:solidFill>
                  <a:srgbClr val="002060"/>
                </a:solidFill>
                <a:latin typeface="Adobe Gothic Std B" pitchFamily="34" charset="-128"/>
                <a:ea typeface="Adobe Gothic Std B" pitchFamily="34" charset="-128"/>
              </a:rPr>
              <a:t>unused (</a:t>
            </a:r>
            <a:r>
              <a:rPr lang="en-US" altLang="zh-TW" sz="2800" dirty="0" smtClean="0">
                <a:solidFill>
                  <a:srgbClr val="0000FF"/>
                </a:solidFill>
                <a:effectLst>
                  <a:outerShdw blurRad="38100" dist="38100" dir="2700000" algn="tl">
                    <a:srgbClr val="000000">
                      <a:alpha val="43137"/>
                    </a:srgbClr>
                  </a:outerShdw>
                </a:effectLst>
                <a:latin typeface="Adobe Gothic Std B" pitchFamily="34" charset="-128"/>
                <a:ea typeface="Adobe Gothic Std B" pitchFamily="34" charset="-128"/>
              </a:rPr>
              <a:t>standby</a:t>
            </a:r>
            <a:r>
              <a:rPr lang="en-US" altLang="zh-TW" sz="2800" dirty="0">
                <a:solidFill>
                  <a:srgbClr val="002060"/>
                </a:solidFill>
                <a:latin typeface="Adobe Gothic Std B" pitchFamily="34" charset="-128"/>
                <a:ea typeface="Adobe Gothic Std B" pitchFamily="34" charset="-128"/>
              </a:rPr>
              <a:t>)</a:t>
            </a:r>
            <a:r>
              <a:rPr lang="en-US" altLang="zh-TW" sz="2800" dirty="0" smtClean="0">
                <a:solidFill>
                  <a:srgbClr val="002060"/>
                </a:solidFill>
                <a:latin typeface="Adobe Gothic Std B" pitchFamily="34" charset="-128"/>
                <a:ea typeface="Adobe Gothic Std B" pitchFamily="34" charset="-128"/>
              </a:rPr>
              <a:t>, </a:t>
            </a:r>
            <a:r>
              <a:rPr lang="en-US" altLang="zh-TW" sz="2800" dirty="0">
                <a:solidFill>
                  <a:srgbClr val="002060"/>
                </a:solidFill>
                <a:latin typeface="Adobe Gothic Std B" pitchFamily="34" charset="-128"/>
                <a:ea typeface="Adobe Gothic Std B" pitchFamily="34" charset="-128"/>
              </a:rPr>
              <a:t>automatically used by RAID production if a disk fails to replace the failed disk and rebuild the RAID set if possible</a:t>
            </a:r>
          </a:p>
          <a:p>
            <a:pPr lvl="1" eaLnBrk="1" hangingPunct="1">
              <a:lnSpc>
                <a:spcPct val="90000"/>
              </a:lnSpc>
            </a:pPr>
            <a:r>
              <a:rPr lang="en-US" altLang="zh-TW" sz="2600" dirty="0">
                <a:solidFill>
                  <a:srgbClr val="002060"/>
                </a:solidFill>
                <a:latin typeface="Adobe Gothic Std B" pitchFamily="34" charset="-128"/>
                <a:ea typeface="Adobe Gothic Std B" pitchFamily="34" charset="-128"/>
              </a:rPr>
              <a:t>Decreases </a:t>
            </a:r>
            <a:r>
              <a:rPr lang="en-US" altLang="zh-TW" sz="2600" dirty="0">
                <a:solidFill>
                  <a:srgbClr val="FF0000"/>
                </a:solidFill>
                <a:latin typeface="Adobe Gothic Std B" pitchFamily="34" charset="-128"/>
                <a:ea typeface="Adobe Gothic Std B" pitchFamily="34" charset="-128"/>
              </a:rPr>
              <a:t>mean time to repair</a:t>
            </a:r>
          </a:p>
          <a:p>
            <a:pPr eaLnBrk="1" hangingPunct="1">
              <a:lnSpc>
                <a:spcPct val="90000"/>
              </a:lnSpc>
            </a:pPr>
            <a:endParaRPr lang="en-US" altLang="zh-TW" sz="2800" dirty="0">
              <a:solidFill>
                <a:srgbClr val="002060"/>
              </a:solidFill>
              <a:latin typeface="Adobe Gothic Std B" pitchFamily="34" charset="-128"/>
              <a:ea typeface="Adobe Gothic Std B" pitchFamily="34" charset="-128"/>
            </a:endParaRPr>
          </a:p>
          <a:p>
            <a:pPr eaLnBrk="1" hangingPunct="1">
              <a:lnSpc>
                <a:spcPct val="90000"/>
              </a:lnSpc>
            </a:pPr>
            <a:endParaRPr lang="en-US" altLang="zh-TW" sz="2800" dirty="0">
              <a:solidFill>
                <a:srgbClr val="002060"/>
              </a:solidFill>
              <a:latin typeface="Adobe Gothic Std B" pitchFamily="34" charset="-128"/>
              <a:ea typeface="Adobe Gothic Std B" pitchFamily="34" charset="-128"/>
            </a:endParaRPr>
          </a:p>
        </p:txBody>
      </p:sp>
      <p:sp>
        <p:nvSpPr>
          <p:cNvPr id="2" name="文字方塊 1"/>
          <p:cNvSpPr txBox="1"/>
          <p:nvPr/>
        </p:nvSpPr>
        <p:spPr>
          <a:xfrm>
            <a:off x="1880171" y="6077500"/>
            <a:ext cx="4961615" cy="461665"/>
          </a:xfrm>
          <a:prstGeom prst="rect">
            <a:avLst/>
          </a:prstGeom>
          <a:solidFill>
            <a:srgbClr val="FFFF00"/>
          </a:solidFill>
        </p:spPr>
        <p:txBody>
          <a:bodyPr wrap="none" rtlCol="0">
            <a:spAutoFit/>
          </a:bodyPr>
          <a:lstStyle/>
          <a:p>
            <a:r>
              <a:rPr lang="en-US" altLang="zh-TW" b="1" dirty="0"/>
              <a:t>RAID 5 + Hot Spare </a:t>
            </a:r>
            <a:r>
              <a:rPr lang="en-US" altLang="zh-TW" b="1" dirty="0" smtClean="0"/>
              <a:t>vs.</a:t>
            </a:r>
            <a:r>
              <a:rPr lang="zh-TW" altLang="en-US" b="1" dirty="0"/>
              <a:t> </a:t>
            </a:r>
            <a:r>
              <a:rPr lang="en-US" altLang="zh-TW" b="1" dirty="0"/>
              <a:t>RAID 6</a:t>
            </a:r>
            <a:endParaRPr lang="zh-TW" altLang="en-US" dirty="0"/>
          </a:p>
        </p:txBody>
      </p:sp>
    </p:spTree>
    <p:extLst>
      <p:ext uri="{BB962C8B-B14F-4D97-AF65-F5344CB8AC3E}">
        <p14:creationId xmlns:p14="http://schemas.microsoft.com/office/powerpoint/2010/main" val="50762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558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558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558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558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5587">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8EFA54B5-C055-41F4-A8BF-FE2421B76235}" type="datetime1">
              <a:rPr kumimoji="0" lang="zh-TW" altLang="en-US" sz="1400" smtClean="0"/>
              <a:t>2018/5/4</a:t>
            </a:fld>
            <a:endParaRPr kumimoji="0" lang="en-US" altLang="zh-TW" sz="1400" smtClean="0"/>
          </a:p>
        </p:txBody>
      </p:sp>
      <p:sp>
        <p:nvSpPr>
          <p:cNvPr id="40963"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40964"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63682C4D-E996-40EA-B9CD-5841A0A56574}" type="slidenum">
              <a:rPr kumimoji="0" lang="zh-TW" altLang="en-US" sz="1400" smtClean="0"/>
              <a:pPr eaLnBrk="1" hangingPunct="1"/>
              <a:t>42</a:t>
            </a:fld>
            <a:endParaRPr kumimoji="0" lang="en-US" altLang="zh-TW" sz="1400" smtClean="0"/>
          </a:p>
        </p:txBody>
      </p:sp>
      <p:sp>
        <p:nvSpPr>
          <p:cNvPr id="40965" name="Rectangle 2"/>
          <p:cNvSpPr>
            <a:spLocks noGrp="1" noChangeArrowheads="1"/>
          </p:cNvSpPr>
          <p:nvPr>
            <p:ph type="title"/>
          </p:nvPr>
        </p:nvSpPr>
        <p:spPr>
          <a:xfrm>
            <a:off x="488950" y="106363"/>
            <a:ext cx="7772400" cy="820737"/>
          </a:xfrm>
        </p:spPr>
        <p:txBody>
          <a:bodyPr/>
          <a:lstStyle/>
          <a:p>
            <a:pPr eaLnBrk="1" hangingPunct="1"/>
            <a:r>
              <a:rPr lang="en-US" altLang="zh-TW" sz="4000" dirty="0" smtClean="0">
                <a:solidFill>
                  <a:srgbClr val="9933FF"/>
                </a:solidFill>
              </a:rPr>
              <a:t>Solaris ZFS: </a:t>
            </a:r>
            <a:r>
              <a:rPr lang="en-US" altLang="zh-TW" sz="4000" dirty="0" smtClean="0">
                <a:solidFill>
                  <a:srgbClr val="FF0000"/>
                </a:solidFill>
              </a:rPr>
              <a:t>Not always available</a:t>
            </a:r>
          </a:p>
        </p:txBody>
      </p:sp>
      <p:sp>
        <p:nvSpPr>
          <p:cNvPr id="199683" name="Rectangle 3" descr="Rectangle: Click to edit Master text styles&#10;Second level&#10;Third level&#10;Fourth level&#10;Fifth level"/>
          <p:cNvSpPr>
            <a:spLocks noGrp="1" noChangeArrowheads="1"/>
          </p:cNvSpPr>
          <p:nvPr>
            <p:ph type="body" idx="1"/>
          </p:nvPr>
        </p:nvSpPr>
        <p:spPr>
          <a:xfrm>
            <a:off x="204788" y="846138"/>
            <a:ext cx="4838700" cy="5548312"/>
          </a:xfrm>
        </p:spPr>
        <p:txBody>
          <a:bodyPr/>
          <a:lstStyle/>
          <a:p>
            <a:pPr eaLnBrk="1" hangingPunct="1"/>
            <a:r>
              <a:rPr lang="en-US" altLang="zh-TW" sz="2400" dirty="0" smtClean="0">
                <a:solidFill>
                  <a:srgbClr val="0000FF"/>
                </a:solidFill>
              </a:rPr>
              <a:t>Checksums: a technique which is used to verify the integrity of data and </a:t>
            </a:r>
            <a:r>
              <a:rPr lang="en-US" altLang="zh-TW" sz="2400" dirty="0" smtClean="0">
                <a:solidFill>
                  <a:srgbClr val="FF0000"/>
                </a:solidFill>
              </a:rPr>
              <a:t>metadata</a:t>
            </a:r>
            <a:r>
              <a:rPr lang="en-US" altLang="zh-TW" sz="2400" dirty="0" smtClean="0">
                <a:solidFill>
                  <a:srgbClr val="0000FF"/>
                </a:solidFill>
              </a:rPr>
              <a:t>.</a:t>
            </a:r>
          </a:p>
          <a:p>
            <a:pPr lvl="1" eaLnBrk="1" hangingPunct="1"/>
            <a:r>
              <a:rPr lang="en-US" altLang="zh-TW" sz="2000" dirty="0" smtClean="0">
                <a:solidFill>
                  <a:srgbClr val="0000FF"/>
                </a:solidFill>
              </a:rPr>
              <a:t>These checksums are not kept with the </a:t>
            </a:r>
            <a:r>
              <a:rPr lang="en-US" altLang="zh-TW" sz="2000" dirty="0" smtClean="0">
                <a:solidFill>
                  <a:srgbClr val="FF0000"/>
                </a:solidFill>
              </a:rPr>
              <a:t>block</a:t>
            </a:r>
            <a:r>
              <a:rPr lang="en-US" altLang="zh-TW" sz="2000" dirty="0" smtClean="0">
                <a:solidFill>
                  <a:srgbClr val="0000FF"/>
                </a:solidFill>
              </a:rPr>
              <a:t> that is being </a:t>
            </a:r>
            <a:r>
              <a:rPr lang="en-US" altLang="zh-TW" sz="2000" dirty="0" err="1" smtClean="0">
                <a:solidFill>
                  <a:srgbClr val="0000FF"/>
                </a:solidFill>
              </a:rPr>
              <a:t>checksummed</a:t>
            </a:r>
            <a:r>
              <a:rPr lang="en-US" altLang="zh-TW" sz="2000" dirty="0" smtClean="0">
                <a:solidFill>
                  <a:srgbClr val="0000FF"/>
                </a:solidFill>
              </a:rPr>
              <a:t>. Rather, they are </a:t>
            </a:r>
            <a:r>
              <a:rPr lang="en-US" altLang="zh-TW" sz="2000" dirty="0" smtClean="0">
                <a:solidFill>
                  <a:srgbClr val="FF0000"/>
                </a:solidFill>
              </a:rPr>
              <a:t>stored with the pointer</a:t>
            </a:r>
            <a:r>
              <a:rPr lang="en-US" altLang="zh-TW" sz="2000" dirty="0" smtClean="0">
                <a:solidFill>
                  <a:srgbClr val="0000FF"/>
                </a:solidFill>
              </a:rPr>
              <a:t> to that block.</a:t>
            </a:r>
          </a:p>
          <a:p>
            <a:pPr lvl="1" eaLnBrk="1" hangingPunct="1">
              <a:spcBef>
                <a:spcPct val="50000"/>
              </a:spcBef>
            </a:pPr>
            <a:r>
              <a:rPr lang="en-US" altLang="zh-TW" sz="2000" dirty="0" smtClean="0">
                <a:solidFill>
                  <a:srgbClr val="0000FF"/>
                </a:solidFill>
              </a:rPr>
              <a:t>If there is a problem with the data, the checksum will be incorrect.</a:t>
            </a:r>
          </a:p>
          <a:p>
            <a:pPr lvl="1" eaLnBrk="1" hangingPunct="1">
              <a:spcBef>
                <a:spcPct val="50000"/>
              </a:spcBef>
            </a:pPr>
            <a:r>
              <a:rPr lang="en-US" altLang="zh-TW" sz="2000" dirty="0" smtClean="0">
                <a:solidFill>
                  <a:srgbClr val="0000FF"/>
                </a:solidFill>
              </a:rPr>
              <a:t>If the data are </a:t>
            </a:r>
            <a:r>
              <a:rPr lang="en-US" altLang="zh-TW" sz="2000" dirty="0" smtClean="0">
                <a:solidFill>
                  <a:srgbClr val="FF0000"/>
                </a:solidFill>
              </a:rPr>
              <a:t>mirrored</a:t>
            </a:r>
            <a:r>
              <a:rPr lang="en-US" altLang="zh-TW" sz="2000" dirty="0" smtClean="0">
                <a:solidFill>
                  <a:srgbClr val="0000FF"/>
                </a:solidFill>
              </a:rPr>
              <a:t>, and there is one (another) block with a correct (incorrect) checksum, ZFS will update the bad one. </a:t>
            </a:r>
          </a:p>
          <a:p>
            <a:pPr lvl="1" eaLnBrk="1" hangingPunct="1"/>
            <a:endParaRPr lang="en-US" altLang="zh-TW" sz="2000" dirty="0" smtClean="0">
              <a:solidFill>
                <a:srgbClr val="0000FF"/>
              </a:solidFill>
            </a:endParaRPr>
          </a:p>
        </p:txBody>
      </p:sp>
      <p:pic>
        <p:nvPicPr>
          <p:cNvPr id="40967" name="Picture 4" descr="fg12_13"/>
          <p:cNvPicPr preferRelativeResize="0">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5054600" y="2744788"/>
            <a:ext cx="3883025" cy="3100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9685" name="Oval 5"/>
          <p:cNvSpPr>
            <a:spLocks noChangeArrowheads="1"/>
          </p:cNvSpPr>
          <p:nvPr/>
        </p:nvSpPr>
        <p:spPr bwMode="auto">
          <a:xfrm>
            <a:off x="6483350" y="3271838"/>
            <a:ext cx="1414463" cy="704850"/>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algn="ctr" eaLnBrk="1" hangingPunct="1"/>
            <a:endParaRPr lang="zh-TW" altLang="en-US">
              <a:solidFill>
                <a:srgbClr val="FF0000"/>
              </a:solidFill>
            </a:endParaRPr>
          </a:p>
        </p:txBody>
      </p:sp>
      <p:sp>
        <p:nvSpPr>
          <p:cNvPr id="199686" name="Oval 6"/>
          <p:cNvSpPr>
            <a:spLocks noChangeArrowheads="1"/>
          </p:cNvSpPr>
          <p:nvPr/>
        </p:nvSpPr>
        <p:spPr bwMode="auto">
          <a:xfrm>
            <a:off x="4905375" y="4521200"/>
            <a:ext cx="1414463" cy="704850"/>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algn="ctr" eaLnBrk="1" hangingPunct="1"/>
            <a:endParaRPr lang="zh-TW" altLang="en-US">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9683">
                                            <p:txEl>
                                              <p:pRg st="1" end="1"/>
                                            </p:txEl>
                                          </p:spTgt>
                                        </p:tgtEl>
                                        <p:attrNameLst>
                                          <p:attrName>style.visibility</p:attrName>
                                        </p:attrNameLst>
                                      </p:cBhvr>
                                      <p:to>
                                        <p:strVal val="visible"/>
                                      </p:to>
                                    </p:set>
                                    <p:animEffect transition="in" filter="blinds(horizontal)">
                                      <p:cBhvr>
                                        <p:cTn id="7" dur="500"/>
                                        <p:tgtEl>
                                          <p:spTgt spid="199683">
                                            <p:txEl>
                                              <p:pRg st="1" end="1"/>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9685"/>
                                        </p:tgtEl>
                                        <p:attrNameLst>
                                          <p:attrName>style.visibility</p:attrName>
                                        </p:attrNameLst>
                                      </p:cBhvr>
                                      <p:to>
                                        <p:strVal val="visible"/>
                                      </p:to>
                                    </p:set>
                                    <p:animEffect transition="in" filter="blinds(horizontal)">
                                      <p:cBhvr>
                                        <p:cTn id="10" dur="500"/>
                                        <p:tgtEl>
                                          <p:spTgt spid="199685"/>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99686"/>
                                        </p:tgtEl>
                                        <p:attrNameLst>
                                          <p:attrName>style.visibility</p:attrName>
                                        </p:attrNameLst>
                                      </p:cBhvr>
                                      <p:to>
                                        <p:strVal val="visible"/>
                                      </p:to>
                                    </p:set>
                                    <p:animEffect transition="in" filter="blinds(horizontal)">
                                      <p:cBhvr>
                                        <p:cTn id="13" dur="500"/>
                                        <p:tgtEl>
                                          <p:spTgt spid="19968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199683">
                                            <p:txEl>
                                              <p:pRg st="2" end="2"/>
                                            </p:txEl>
                                          </p:spTgt>
                                        </p:tgtEl>
                                        <p:attrNameLst>
                                          <p:attrName>style.visibility</p:attrName>
                                        </p:attrNameLst>
                                      </p:cBhvr>
                                      <p:to>
                                        <p:strVal val="visible"/>
                                      </p:to>
                                    </p:set>
                                    <p:animEffect transition="in" filter="blinds(horizontal)">
                                      <p:cBhvr>
                                        <p:cTn id="18" dur="500"/>
                                        <p:tgtEl>
                                          <p:spTgt spid="199683">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99683">
                                            <p:txEl>
                                              <p:pRg st="3" end="3"/>
                                            </p:txEl>
                                          </p:spTgt>
                                        </p:tgtEl>
                                        <p:attrNameLst>
                                          <p:attrName>style.visibility</p:attrName>
                                        </p:attrNameLst>
                                      </p:cBhvr>
                                      <p:to>
                                        <p:strVal val="visible"/>
                                      </p:to>
                                    </p:set>
                                    <p:animEffect transition="in" filter="blinds(horizontal)">
                                      <p:cBhvr>
                                        <p:cTn id="23" dur="500"/>
                                        <p:tgtEl>
                                          <p:spTgt spid="1996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5" grpId="0" animBg="1"/>
      <p:bldP spid="19968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739B2B5D-3A01-4D90-89E6-95129F5C6ADA}" type="datetime1">
              <a:rPr kumimoji="0" lang="zh-TW" altLang="en-US" sz="1400" smtClean="0"/>
              <a:t>2018/5/4</a:t>
            </a:fld>
            <a:endParaRPr kumimoji="0" lang="en-US" altLang="zh-TW" sz="1400" smtClean="0"/>
          </a:p>
        </p:txBody>
      </p:sp>
      <p:sp>
        <p:nvSpPr>
          <p:cNvPr id="41987"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41988"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9710AF23-E6E5-4ABF-9E7B-72862EFB45B2}" type="slidenum">
              <a:rPr kumimoji="0" lang="zh-TW" altLang="en-US" sz="1400" smtClean="0"/>
              <a:pPr eaLnBrk="1" hangingPunct="1"/>
              <a:t>43</a:t>
            </a:fld>
            <a:endParaRPr kumimoji="0" lang="en-US" altLang="zh-TW" sz="1400" smtClean="0"/>
          </a:p>
        </p:txBody>
      </p:sp>
      <p:sp>
        <p:nvSpPr>
          <p:cNvPr id="41989" name="Rectangle 2"/>
          <p:cNvSpPr>
            <a:spLocks noGrp="1" noChangeArrowheads="1"/>
          </p:cNvSpPr>
          <p:nvPr>
            <p:ph type="title"/>
          </p:nvPr>
        </p:nvSpPr>
        <p:spPr>
          <a:xfrm>
            <a:off x="488950" y="106363"/>
            <a:ext cx="7772400" cy="820737"/>
          </a:xfrm>
        </p:spPr>
        <p:txBody>
          <a:bodyPr/>
          <a:lstStyle/>
          <a:p>
            <a:pPr eaLnBrk="1" hangingPunct="1"/>
            <a:r>
              <a:rPr lang="en-US" altLang="zh-TW" sz="4000" smtClean="0">
                <a:solidFill>
                  <a:srgbClr val="9933FF"/>
                </a:solidFill>
              </a:rPr>
              <a:t>Solaris ZFS: </a:t>
            </a:r>
            <a:r>
              <a:rPr lang="en-US" altLang="zh-TW" sz="4000" smtClean="0">
                <a:solidFill>
                  <a:srgbClr val="FF0000"/>
                </a:solidFill>
              </a:rPr>
              <a:t>Lack of flexibility</a:t>
            </a:r>
          </a:p>
        </p:txBody>
      </p:sp>
      <p:sp>
        <p:nvSpPr>
          <p:cNvPr id="201731" name="Rectangle 3" descr="Rectangle: Click to edit Master text styles&#10;Second level&#10;Third level&#10;Fourth level&#10;Fifth level"/>
          <p:cNvSpPr>
            <a:spLocks noGrp="1" noChangeArrowheads="1"/>
          </p:cNvSpPr>
          <p:nvPr>
            <p:ph type="body" idx="1"/>
          </p:nvPr>
        </p:nvSpPr>
        <p:spPr>
          <a:xfrm>
            <a:off x="204788" y="846138"/>
            <a:ext cx="5616575" cy="5776912"/>
          </a:xfrm>
        </p:spPr>
        <p:txBody>
          <a:bodyPr/>
          <a:lstStyle/>
          <a:p>
            <a:pPr eaLnBrk="1" hangingPunct="1">
              <a:lnSpc>
                <a:spcPct val="90000"/>
              </a:lnSpc>
              <a:defRPr/>
            </a:pPr>
            <a:r>
              <a:rPr lang="en-US" altLang="zh-TW" sz="2400" smtClean="0">
                <a:solidFill>
                  <a:srgbClr val="0000FF"/>
                </a:solidFill>
              </a:rPr>
              <a:t>ZFS combines </a:t>
            </a:r>
            <a:r>
              <a:rPr lang="en-US" altLang="zh-TW" sz="2400" smtClean="0">
                <a:solidFill>
                  <a:srgbClr val="FF0000"/>
                </a:solidFill>
              </a:rPr>
              <a:t>file-system management</a:t>
            </a:r>
            <a:r>
              <a:rPr lang="en-US" altLang="zh-TW" sz="2400" smtClean="0">
                <a:solidFill>
                  <a:srgbClr val="0000FF"/>
                </a:solidFill>
              </a:rPr>
              <a:t> and </a:t>
            </a:r>
            <a:r>
              <a:rPr lang="en-US" altLang="zh-TW" sz="2400" smtClean="0">
                <a:solidFill>
                  <a:srgbClr val="FF0000"/>
                </a:solidFill>
              </a:rPr>
              <a:t>volume management</a:t>
            </a:r>
            <a:r>
              <a:rPr lang="en-US" altLang="zh-TW" sz="2400" smtClean="0">
                <a:solidFill>
                  <a:srgbClr val="0000FF"/>
                </a:solidFill>
              </a:rPr>
              <a:t> into a unit providing greater functionally then the traditional separation of those functions allows.</a:t>
            </a:r>
          </a:p>
          <a:p>
            <a:pPr lvl="1" eaLnBrk="1" hangingPunct="1">
              <a:lnSpc>
                <a:spcPct val="90000"/>
              </a:lnSpc>
              <a:spcBef>
                <a:spcPct val="50000"/>
              </a:spcBef>
              <a:defRPr/>
            </a:pPr>
            <a:r>
              <a:rPr lang="en-US" altLang="zh-TW" sz="2000" smtClean="0">
                <a:solidFill>
                  <a:srgbClr val="0000FF"/>
                </a:solidFill>
              </a:rPr>
              <a:t>Disks, or partitions of disks, are gathered together via RAID sets into </a:t>
            </a:r>
            <a:r>
              <a:rPr lang="en-US" altLang="zh-TW" sz="2000" smtClean="0">
                <a:solidFill>
                  <a:srgbClr val="9933FF"/>
                </a:solidFill>
                <a:effectLst>
                  <a:outerShdw blurRad="38100" dist="38100" dir="2700000" algn="tl">
                    <a:srgbClr val="C0C0C0"/>
                  </a:outerShdw>
                </a:effectLst>
              </a:rPr>
              <a:t>pools</a:t>
            </a:r>
            <a:r>
              <a:rPr lang="en-US" altLang="zh-TW" sz="2000" smtClean="0">
                <a:solidFill>
                  <a:srgbClr val="0000FF"/>
                </a:solidFill>
              </a:rPr>
              <a:t> of storage.</a:t>
            </a:r>
          </a:p>
          <a:p>
            <a:pPr lvl="1" eaLnBrk="1" hangingPunct="1">
              <a:lnSpc>
                <a:spcPct val="90000"/>
              </a:lnSpc>
              <a:spcBef>
                <a:spcPct val="50000"/>
              </a:spcBef>
              <a:defRPr/>
            </a:pPr>
            <a:r>
              <a:rPr lang="en-US" altLang="zh-TW" sz="2000" smtClean="0">
                <a:solidFill>
                  <a:srgbClr val="0000FF"/>
                </a:solidFill>
              </a:rPr>
              <a:t>A pool can hold one or more ZFS file systems.</a:t>
            </a:r>
          </a:p>
          <a:p>
            <a:pPr lvl="1" eaLnBrk="1" hangingPunct="1">
              <a:lnSpc>
                <a:spcPct val="90000"/>
              </a:lnSpc>
              <a:spcBef>
                <a:spcPct val="50000"/>
              </a:spcBef>
              <a:defRPr/>
            </a:pPr>
            <a:r>
              <a:rPr lang="en-US" altLang="zh-TW" sz="2000" smtClean="0">
                <a:solidFill>
                  <a:srgbClr val="0000FF"/>
                </a:solidFill>
              </a:rPr>
              <a:t>The entire pool</a:t>
            </a:r>
            <a:r>
              <a:rPr lang="en-US" altLang="zh-TW" sz="2000" smtClean="0">
                <a:solidFill>
                  <a:srgbClr val="0000FF"/>
                </a:solidFill>
                <a:latin typeface="Helvetica"/>
              </a:rPr>
              <a:t>’</a:t>
            </a:r>
            <a:r>
              <a:rPr lang="en-US" altLang="zh-TW" sz="2000" smtClean="0">
                <a:solidFill>
                  <a:srgbClr val="0000FF"/>
                </a:solidFill>
              </a:rPr>
              <a:t>s free space is available to all file systems within the pool.</a:t>
            </a:r>
          </a:p>
          <a:p>
            <a:pPr lvl="1" eaLnBrk="1" hangingPunct="1">
              <a:lnSpc>
                <a:spcPct val="90000"/>
              </a:lnSpc>
              <a:spcBef>
                <a:spcPct val="50000"/>
              </a:spcBef>
              <a:defRPr/>
            </a:pPr>
            <a:r>
              <a:rPr lang="en-US" altLang="zh-TW" sz="2000" smtClean="0">
                <a:solidFill>
                  <a:srgbClr val="0000FF"/>
                </a:solidFill>
              </a:rPr>
              <a:t>There is </a:t>
            </a:r>
            <a:r>
              <a:rPr lang="en-US" altLang="zh-TW" sz="2000" smtClean="0">
                <a:solidFill>
                  <a:srgbClr val="FF0000"/>
                </a:solidFill>
              </a:rPr>
              <a:t>no artificial limits</a:t>
            </a:r>
            <a:r>
              <a:rPr lang="en-US" altLang="zh-TW" sz="2000" smtClean="0">
                <a:solidFill>
                  <a:srgbClr val="0000FF"/>
                </a:solidFill>
              </a:rPr>
              <a:t> on storage use and </a:t>
            </a:r>
            <a:r>
              <a:rPr lang="en-US" altLang="zh-TW" sz="2000" smtClean="0">
                <a:solidFill>
                  <a:srgbClr val="FF0000"/>
                </a:solidFill>
              </a:rPr>
              <a:t>no need to relocate file systems</a:t>
            </a:r>
            <a:r>
              <a:rPr lang="en-US" altLang="zh-TW" sz="2000" smtClean="0">
                <a:solidFill>
                  <a:srgbClr val="0000FF"/>
                </a:solidFill>
              </a:rPr>
              <a:t> between volumes.</a:t>
            </a:r>
          </a:p>
        </p:txBody>
      </p:sp>
      <p:pic>
        <p:nvPicPr>
          <p:cNvPr id="41991" name="Picture 7" descr="fg12_14"/>
          <p:cNvPicPr preferRelativeResize="0">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5880100" y="1198563"/>
            <a:ext cx="2973388"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1731">
                                            <p:txEl>
                                              <p:pRg st="1" end="1"/>
                                            </p:txEl>
                                          </p:spTgt>
                                        </p:tgtEl>
                                        <p:attrNameLst>
                                          <p:attrName>style.visibility</p:attrName>
                                        </p:attrNameLst>
                                      </p:cBhvr>
                                      <p:to>
                                        <p:strVal val="visible"/>
                                      </p:to>
                                    </p:set>
                                    <p:animEffect transition="in" filter="blinds(horizontal)">
                                      <p:cBhvr>
                                        <p:cTn id="7" dur="500"/>
                                        <p:tgtEl>
                                          <p:spTgt spid="20173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1731">
                                            <p:txEl>
                                              <p:pRg st="2" end="2"/>
                                            </p:txEl>
                                          </p:spTgt>
                                        </p:tgtEl>
                                        <p:attrNameLst>
                                          <p:attrName>style.visibility</p:attrName>
                                        </p:attrNameLst>
                                      </p:cBhvr>
                                      <p:to>
                                        <p:strVal val="visible"/>
                                      </p:to>
                                    </p:set>
                                    <p:animEffect transition="in" filter="blinds(horizontal)">
                                      <p:cBhvr>
                                        <p:cTn id="12" dur="500"/>
                                        <p:tgtEl>
                                          <p:spTgt spid="20173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01731">
                                            <p:txEl>
                                              <p:pRg st="3" end="3"/>
                                            </p:txEl>
                                          </p:spTgt>
                                        </p:tgtEl>
                                        <p:attrNameLst>
                                          <p:attrName>style.visibility</p:attrName>
                                        </p:attrNameLst>
                                      </p:cBhvr>
                                      <p:to>
                                        <p:strVal val="visible"/>
                                      </p:to>
                                    </p:set>
                                    <p:animEffect transition="in" filter="blinds(horizontal)">
                                      <p:cBhvr>
                                        <p:cTn id="17" dur="500"/>
                                        <p:tgtEl>
                                          <p:spTgt spid="20173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01731">
                                            <p:txEl>
                                              <p:pRg st="4" end="4"/>
                                            </p:txEl>
                                          </p:spTgt>
                                        </p:tgtEl>
                                        <p:attrNameLst>
                                          <p:attrName>style.visibility</p:attrName>
                                        </p:attrNameLst>
                                      </p:cBhvr>
                                      <p:to>
                                        <p:strVal val="visible"/>
                                      </p:to>
                                    </p:set>
                                    <p:animEffect transition="in" filter="blinds(horizontal)">
                                      <p:cBhvr>
                                        <p:cTn id="22" dur="500"/>
                                        <p:tgtEl>
                                          <p:spTgt spid="2017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4AF51ABF-492C-4314-8743-6E7357CE2787}" type="datetime1">
              <a:rPr kumimoji="0" lang="zh-TW" altLang="en-US" sz="1400" smtClean="0"/>
              <a:t>2018/5/4</a:t>
            </a:fld>
            <a:endParaRPr kumimoji="0" lang="en-US" altLang="zh-TW" sz="1400" smtClean="0"/>
          </a:p>
        </p:txBody>
      </p:sp>
      <p:sp>
        <p:nvSpPr>
          <p:cNvPr id="43011"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43012"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08B1417F-A4BA-4CDE-8619-2580415DB46B}" type="slidenum">
              <a:rPr kumimoji="0" lang="zh-TW" altLang="en-US" sz="1400" smtClean="0"/>
              <a:pPr eaLnBrk="1" hangingPunct="1"/>
              <a:t>44</a:t>
            </a:fld>
            <a:endParaRPr kumimoji="0" lang="en-US" altLang="zh-TW" sz="1400" smtClean="0"/>
          </a:p>
        </p:txBody>
      </p:sp>
      <p:sp>
        <p:nvSpPr>
          <p:cNvPr id="43013" name="Rectangle 2"/>
          <p:cNvSpPr>
            <a:spLocks noGrp="1" noChangeArrowheads="1"/>
          </p:cNvSpPr>
          <p:nvPr>
            <p:ph type="title"/>
          </p:nvPr>
        </p:nvSpPr>
        <p:spPr>
          <a:xfrm>
            <a:off x="522288" y="522288"/>
            <a:ext cx="7772400" cy="820737"/>
          </a:xfrm>
        </p:spPr>
        <p:txBody>
          <a:bodyPr/>
          <a:lstStyle/>
          <a:p>
            <a:pPr eaLnBrk="1" hangingPunct="1"/>
            <a:r>
              <a:rPr lang="en-US" altLang="zh-TW" sz="4000" smtClean="0"/>
              <a:t>Stable-Storage Implementation</a:t>
            </a:r>
          </a:p>
        </p:txBody>
      </p:sp>
      <p:sp>
        <p:nvSpPr>
          <p:cNvPr id="43014" name="Rectangle 3" descr="Rectangle: Click to edit Master text styles&#10;Second level&#10;Third level&#10;Fourth level&#10;Fifth level"/>
          <p:cNvSpPr>
            <a:spLocks noGrp="1" noChangeArrowheads="1"/>
          </p:cNvSpPr>
          <p:nvPr>
            <p:ph type="body" idx="1"/>
          </p:nvPr>
        </p:nvSpPr>
        <p:spPr>
          <a:xfrm>
            <a:off x="573088" y="1665288"/>
            <a:ext cx="7948612" cy="4275137"/>
          </a:xfrm>
        </p:spPr>
        <p:txBody>
          <a:bodyPr/>
          <a:lstStyle/>
          <a:p>
            <a:pPr eaLnBrk="1" hangingPunct="1"/>
            <a:r>
              <a:rPr lang="en-US" altLang="zh-TW" sz="2800" smtClean="0">
                <a:solidFill>
                  <a:srgbClr val="0000FF"/>
                </a:solidFill>
              </a:rPr>
              <a:t>Write-ahead log</a:t>
            </a:r>
            <a:r>
              <a:rPr lang="en-US" altLang="zh-TW" sz="2800" smtClean="0"/>
              <a:t> scheme requires </a:t>
            </a:r>
            <a:r>
              <a:rPr lang="en-US" altLang="zh-TW" sz="2800" smtClean="0">
                <a:solidFill>
                  <a:srgbClr val="0000FF"/>
                </a:solidFill>
              </a:rPr>
              <a:t>stable storage</a:t>
            </a:r>
            <a:br>
              <a:rPr lang="en-US" altLang="zh-TW" sz="2800" smtClean="0">
                <a:solidFill>
                  <a:srgbClr val="0000FF"/>
                </a:solidFill>
              </a:rPr>
            </a:br>
            <a:endParaRPr lang="en-US" altLang="zh-TW" sz="2800" smtClean="0">
              <a:solidFill>
                <a:srgbClr val="0000FF"/>
              </a:solidFill>
            </a:endParaRPr>
          </a:p>
          <a:p>
            <a:pPr eaLnBrk="1" hangingPunct="1"/>
            <a:r>
              <a:rPr lang="en-US" altLang="zh-TW" sz="2800" smtClean="0"/>
              <a:t>To implement stable storage</a:t>
            </a:r>
          </a:p>
          <a:p>
            <a:pPr lvl="1" eaLnBrk="1" hangingPunct="1"/>
            <a:r>
              <a:rPr lang="en-US" altLang="zh-TW" sz="2400" smtClean="0"/>
              <a:t>Replicate information on </a:t>
            </a:r>
            <a:r>
              <a:rPr lang="en-US" altLang="zh-TW" sz="2400" smtClean="0">
                <a:solidFill>
                  <a:srgbClr val="0000FF"/>
                </a:solidFill>
              </a:rPr>
              <a:t>more than one nonvolatile storage</a:t>
            </a:r>
            <a:r>
              <a:rPr lang="en-US" altLang="zh-TW" sz="2400" smtClean="0"/>
              <a:t> media with </a:t>
            </a:r>
            <a:r>
              <a:rPr lang="en-US" altLang="zh-TW" sz="2400" smtClean="0">
                <a:solidFill>
                  <a:srgbClr val="FF0000"/>
                </a:solidFill>
              </a:rPr>
              <a:t>independent failure modes</a:t>
            </a:r>
          </a:p>
          <a:p>
            <a:pPr lvl="1" eaLnBrk="1" hangingPunct="1">
              <a:spcBef>
                <a:spcPct val="50000"/>
              </a:spcBef>
            </a:pPr>
            <a:r>
              <a:rPr lang="en-US" altLang="zh-TW" sz="2400" smtClean="0">
                <a:solidFill>
                  <a:srgbClr val="0000FF"/>
                </a:solidFill>
              </a:rPr>
              <a:t>Update information</a:t>
            </a:r>
            <a:r>
              <a:rPr lang="en-US" altLang="zh-TW" sz="2400" smtClean="0"/>
              <a:t> in a controlled manner to ensure that we can recover the stable data after any failure during data transfer or recovery</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04392EA6-4313-41BA-BFB4-95A287064721}" type="datetime1">
              <a:rPr kumimoji="0" lang="zh-TW" altLang="en-US" sz="1400" smtClean="0"/>
              <a:t>2018/5/4</a:t>
            </a:fld>
            <a:endParaRPr kumimoji="0" lang="en-US" altLang="zh-TW" sz="1400" smtClean="0"/>
          </a:p>
        </p:txBody>
      </p:sp>
      <p:sp>
        <p:nvSpPr>
          <p:cNvPr id="43011"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43012"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08B1417F-A4BA-4CDE-8619-2580415DB46B}" type="slidenum">
              <a:rPr kumimoji="0" lang="zh-TW" altLang="en-US" sz="1400" smtClean="0"/>
              <a:pPr eaLnBrk="1" hangingPunct="1"/>
              <a:t>45</a:t>
            </a:fld>
            <a:endParaRPr kumimoji="0" lang="en-US" altLang="zh-TW" sz="1400" smtClean="0"/>
          </a:p>
        </p:txBody>
      </p:sp>
      <p:sp>
        <p:nvSpPr>
          <p:cNvPr id="43013" name="Rectangle 2"/>
          <p:cNvSpPr>
            <a:spLocks noGrp="1" noChangeArrowheads="1"/>
          </p:cNvSpPr>
          <p:nvPr>
            <p:ph type="title"/>
          </p:nvPr>
        </p:nvSpPr>
        <p:spPr>
          <a:xfrm>
            <a:off x="542836" y="162693"/>
            <a:ext cx="7772400" cy="820737"/>
          </a:xfrm>
        </p:spPr>
        <p:txBody>
          <a:bodyPr/>
          <a:lstStyle/>
          <a:p>
            <a:pPr eaLnBrk="1" hangingPunct="1"/>
            <a:r>
              <a:rPr lang="en-US" altLang="zh-TW" sz="4000" dirty="0" smtClean="0"/>
              <a:t>Stable-Storage Implementation</a:t>
            </a:r>
          </a:p>
        </p:txBody>
      </p:sp>
      <p:sp>
        <p:nvSpPr>
          <p:cNvPr id="43014" name="Rectangle 3" descr="Rectangle: Click to edit Master text styles&#10;Second level&#10;Third level&#10;Fourth level&#10;Fifth level"/>
          <p:cNvSpPr>
            <a:spLocks noGrp="1" noChangeArrowheads="1"/>
          </p:cNvSpPr>
          <p:nvPr>
            <p:ph type="body" idx="1"/>
          </p:nvPr>
        </p:nvSpPr>
        <p:spPr>
          <a:xfrm>
            <a:off x="174661" y="976046"/>
            <a:ext cx="8835775" cy="4964380"/>
          </a:xfrm>
        </p:spPr>
        <p:txBody>
          <a:bodyPr/>
          <a:lstStyle/>
          <a:p>
            <a:pPr eaLnBrk="1" hangingPunct="1"/>
            <a:r>
              <a:rPr lang="en-US" altLang="zh-TW" sz="2800" dirty="0">
                <a:solidFill>
                  <a:srgbClr val="002060"/>
                </a:solidFill>
                <a:latin typeface="Adobe Gothic Std B" pitchFamily="34" charset="-128"/>
                <a:ea typeface="Adobe Gothic Std B" pitchFamily="34" charset="-128"/>
              </a:rPr>
              <a:t>Disk write has 1 of 3 outcomes</a:t>
            </a:r>
          </a:p>
          <a:p>
            <a:pPr lvl="1" eaLnBrk="1" hangingPunct="1"/>
            <a:r>
              <a:rPr lang="en-US" altLang="zh-TW" sz="2400" dirty="0">
                <a:solidFill>
                  <a:srgbClr val="0000FF"/>
                </a:solidFill>
                <a:latin typeface="Adobe Gothic Std B" pitchFamily="34" charset="-128"/>
                <a:ea typeface="Adobe Gothic Std B" pitchFamily="34" charset="-128"/>
              </a:rPr>
              <a:t>Successful completion </a:t>
            </a:r>
            <a:r>
              <a:rPr lang="en-US" altLang="zh-TW" sz="2400" dirty="0">
                <a:solidFill>
                  <a:srgbClr val="002060"/>
                </a:solidFill>
                <a:latin typeface="Adobe Gothic Std B" pitchFamily="34" charset="-128"/>
                <a:ea typeface="Adobe Gothic Std B" pitchFamily="34" charset="-128"/>
              </a:rPr>
              <a:t>- The data were written correctly on disk </a:t>
            </a:r>
          </a:p>
          <a:p>
            <a:pPr lvl="1" eaLnBrk="1" hangingPunct="1"/>
            <a:r>
              <a:rPr lang="en-US" altLang="zh-TW" sz="2400" dirty="0">
                <a:solidFill>
                  <a:srgbClr val="0000FF"/>
                </a:solidFill>
                <a:latin typeface="Adobe Gothic Std B" pitchFamily="34" charset="-128"/>
                <a:ea typeface="Adobe Gothic Std B" pitchFamily="34" charset="-128"/>
              </a:rPr>
              <a:t>Partial failure </a:t>
            </a:r>
            <a:r>
              <a:rPr lang="en-US" altLang="zh-TW" sz="2400" dirty="0">
                <a:solidFill>
                  <a:srgbClr val="002060"/>
                </a:solidFill>
                <a:latin typeface="Adobe Gothic Std B" pitchFamily="34" charset="-128"/>
                <a:ea typeface="Adobe Gothic Std B" pitchFamily="34" charset="-128"/>
              </a:rPr>
              <a:t>- A failure occurred in the midst of transfer, so only some of the sectors were written with the new data, and the sector being written during the failure may have been corrupted</a:t>
            </a:r>
          </a:p>
          <a:p>
            <a:pPr lvl="1" eaLnBrk="1" hangingPunct="1"/>
            <a:r>
              <a:rPr lang="en-US" altLang="zh-TW" sz="2400" dirty="0">
                <a:solidFill>
                  <a:srgbClr val="0000FF"/>
                </a:solidFill>
                <a:latin typeface="Adobe Gothic Std B" pitchFamily="34" charset="-128"/>
                <a:ea typeface="Adobe Gothic Std B" pitchFamily="34" charset="-128"/>
              </a:rPr>
              <a:t>Total failure </a:t>
            </a:r>
            <a:r>
              <a:rPr lang="en-US" altLang="zh-TW" sz="2400" dirty="0">
                <a:solidFill>
                  <a:srgbClr val="002060"/>
                </a:solidFill>
                <a:latin typeface="Adobe Gothic Std B" pitchFamily="34" charset="-128"/>
                <a:ea typeface="Adobe Gothic Std B" pitchFamily="34" charset="-128"/>
              </a:rPr>
              <a:t>- The failure occurred before the disk write started, so the previous data values on the disk remain intact</a:t>
            </a:r>
          </a:p>
        </p:txBody>
      </p:sp>
    </p:spTree>
    <p:extLst>
      <p:ext uri="{BB962C8B-B14F-4D97-AF65-F5344CB8AC3E}">
        <p14:creationId xmlns:p14="http://schemas.microsoft.com/office/powerpoint/2010/main" val="2256205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版面配置區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F0E364D5-6DCF-4553-9E1B-23B0D6A27986}" type="datetime1">
              <a:rPr kumimoji="0" lang="zh-TW" altLang="en-US" sz="1400" smtClean="0"/>
              <a:t>2018/5/4</a:t>
            </a:fld>
            <a:endParaRPr kumimoji="0" lang="en-US" altLang="zh-TW" sz="1400" smtClean="0"/>
          </a:p>
        </p:txBody>
      </p:sp>
      <p:sp>
        <p:nvSpPr>
          <p:cNvPr id="43011" name="頁尾版面配置區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r>
              <a:rPr kumimoji="0" lang="en-US" altLang="zh-TW" sz="1400" smtClean="0"/>
              <a:t>os10-2018</a:t>
            </a:r>
            <a:endParaRPr kumimoji="0" lang="en-US" altLang="zh-TW" sz="1400" smtClean="0"/>
          </a:p>
        </p:txBody>
      </p:sp>
      <p:sp>
        <p:nvSpPr>
          <p:cNvPr id="43012" name="投影片編號版面配置區 5"/>
          <p:cNvSpPr>
            <a:spLocks noGrp="1"/>
          </p:cNvSpPr>
          <p:nvPr>
            <p:ph type="sldNum" sz="quarter" idx="12"/>
          </p:nvPr>
        </p:nvSpPr>
        <p:spPr>
          <a:noFill/>
        </p:spPr>
        <p:txBody>
          <a:bodyP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fld id="{08B1417F-A4BA-4CDE-8619-2580415DB46B}" type="slidenum">
              <a:rPr kumimoji="0" lang="zh-TW" altLang="en-US" sz="1400" smtClean="0"/>
              <a:pPr eaLnBrk="1" hangingPunct="1"/>
              <a:t>46</a:t>
            </a:fld>
            <a:endParaRPr kumimoji="0" lang="en-US" altLang="zh-TW" sz="1400" smtClean="0"/>
          </a:p>
        </p:txBody>
      </p:sp>
      <p:sp>
        <p:nvSpPr>
          <p:cNvPr id="43013" name="Rectangle 2"/>
          <p:cNvSpPr>
            <a:spLocks noGrp="1" noChangeArrowheads="1"/>
          </p:cNvSpPr>
          <p:nvPr>
            <p:ph type="title"/>
          </p:nvPr>
        </p:nvSpPr>
        <p:spPr>
          <a:xfrm>
            <a:off x="542836" y="162693"/>
            <a:ext cx="7772400" cy="820737"/>
          </a:xfrm>
        </p:spPr>
        <p:txBody>
          <a:bodyPr/>
          <a:lstStyle/>
          <a:p>
            <a:pPr eaLnBrk="1" hangingPunct="1"/>
            <a:r>
              <a:rPr lang="en-US" altLang="zh-TW" sz="4000" dirty="0" smtClean="0"/>
              <a:t>Stable-Storage Implementation</a:t>
            </a:r>
          </a:p>
        </p:txBody>
      </p:sp>
      <p:sp>
        <p:nvSpPr>
          <p:cNvPr id="43014" name="Rectangle 3" descr="Rectangle: Click to edit Master text styles&#10;Second level&#10;Third level&#10;Fourth level&#10;Fifth level"/>
          <p:cNvSpPr>
            <a:spLocks noGrp="1" noChangeArrowheads="1"/>
          </p:cNvSpPr>
          <p:nvPr>
            <p:ph type="body" idx="1"/>
          </p:nvPr>
        </p:nvSpPr>
        <p:spPr>
          <a:xfrm>
            <a:off x="174661" y="976046"/>
            <a:ext cx="8835775" cy="4964380"/>
          </a:xfrm>
        </p:spPr>
        <p:txBody>
          <a:bodyPr/>
          <a:lstStyle/>
          <a:p>
            <a:pPr eaLnBrk="1" hangingPunct="1"/>
            <a:r>
              <a:rPr lang="en-US" altLang="zh-TW" sz="2800" dirty="0">
                <a:solidFill>
                  <a:srgbClr val="002060"/>
                </a:solidFill>
                <a:latin typeface="Adobe Gothic Std B" pitchFamily="34" charset="-128"/>
                <a:ea typeface="Adobe Gothic Std B" pitchFamily="34" charset="-128"/>
              </a:rPr>
              <a:t>If failure occurs during block write, </a:t>
            </a:r>
            <a:r>
              <a:rPr lang="en-US" altLang="zh-TW" sz="2800" dirty="0">
                <a:solidFill>
                  <a:srgbClr val="FF0000"/>
                </a:solidFill>
                <a:latin typeface="Adobe Gothic Std B" pitchFamily="34" charset="-128"/>
                <a:ea typeface="Adobe Gothic Std B" pitchFamily="34" charset="-128"/>
              </a:rPr>
              <a:t>recovery procedure</a:t>
            </a:r>
            <a:r>
              <a:rPr lang="en-US" altLang="zh-TW" sz="2800" dirty="0">
                <a:solidFill>
                  <a:srgbClr val="002060"/>
                </a:solidFill>
                <a:latin typeface="Adobe Gothic Std B" pitchFamily="34" charset="-128"/>
                <a:ea typeface="Adobe Gothic Std B" pitchFamily="34" charset="-128"/>
              </a:rPr>
              <a:t> restores block to </a:t>
            </a:r>
            <a:r>
              <a:rPr lang="en-US" altLang="zh-TW" sz="2800" dirty="0">
                <a:solidFill>
                  <a:srgbClr val="0000FF"/>
                </a:solidFill>
                <a:latin typeface="Adobe Gothic Std B" pitchFamily="34" charset="-128"/>
                <a:ea typeface="Adobe Gothic Std B" pitchFamily="34" charset="-128"/>
              </a:rPr>
              <a:t>consistent state</a:t>
            </a:r>
          </a:p>
          <a:p>
            <a:pPr lvl="1" eaLnBrk="1" hangingPunct="1"/>
            <a:r>
              <a:rPr lang="en-US" altLang="zh-TW" sz="2400" dirty="0">
                <a:solidFill>
                  <a:srgbClr val="002060"/>
                </a:solidFill>
                <a:latin typeface="Adobe Gothic Std B" pitchFamily="34" charset="-128"/>
                <a:ea typeface="Adobe Gothic Std B" pitchFamily="34" charset="-128"/>
              </a:rPr>
              <a:t>System maintains 2 physical blocks per logical block and does the following:</a:t>
            </a:r>
          </a:p>
          <a:p>
            <a:pPr lvl="1" eaLnBrk="1" hangingPunct="1"/>
            <a:r>
              <a:rPr lang="en-US" altLang="zh-TW" sz="2400" dirty="0">
                <a:solidFill>
                  <a:srgbClr val="002060"/>
                </a:solidFill>
                <a:latin typeface="Adobe Gothic Std B" pitchFamily="34" charset="-128"/>
                <a:ea typeface="Adobe Gothic Std B" pitchFamily="34" charset="-128"/>
              </a:rPr>
              <a:t>Write to 1st physical</a:t>
            </a:r>
          </a:p>
          <a:p>
            <a:pPr lvl="1" eaLnBrk="1" hangingPunct="1"/>
            <a:r>
              <a:rPr lang="en-US" altLang="zh-TW" sz="2400" dirty="0">
                <a:solidFill>
                  <a:srgbClr val="002060"/>
                </a:solidFill>
                <a:latin typeface="Adobe Gothic Std B" pitchFamily="34" charset="-128"/>
                <a:ea typeface="Adobe Gothic Std B" pitchFamily="34" charset="-128"/>
              </a:rPr>
              <a:t>When successful, write to 2nd physical</a:t>
            </a:r>
          </a:p>
          <a:p>
            <a:pPr lvl="1" eaLnBrk="1" hangingPunct="1"/>
            <a:r>
              <a:rPr lang="en-US" altLang="zh-TW" sz="2400" dirty="0">
                <a:solidFill>
                  <a:srgbClr val="002060"/>
                </a:solidFill>
                <a:latin typeface="Adobe Gothic Std B" pitchFamily="34" charset="-128"/>
                <a:ea typeface="Adobe Gothic Std B" pitchFamily="34" charset="-128"/>
              </a:rPr>
              <a:t>Declare complete </a:t>
            </a:r>
            <a:r>
              <a:rPr lang="en-US" altLang="zh-TW" sz="2400" dirty="0">
                <a:solidFill>
                  <a:srgbClr val="0000FF"/>
                </a:solidFill>
                <a:latin typeface="Adobe Gothic Std B" pitchFamily="34" charset="-128"/>
                <a:ea typeface="Adobe Gothic Std B" pitchFamily="34" charset="-128"/>
              </a:rPr>
              <a:t>only after second write completes </a:t>
            </a:r>
            <a:r>
              <a:rPr lang="en-US" altLang="zh-TW" sz="2400" dirty="0" smtClean="0">
                <a:solidFill>
                  <a:srgbClr val="0000FF"/>
                </a:solidFill>
                <a:latin typeface="Adobe Gothic Std B" pitchFamily="34" charset="-128"/>
                <a:ea typeface="Adobe Gothic Std B" pitchFamily="34" charset="-128"/>
              </a:rPr>
              <a:t>successfully</a:t>
            </a:r>
            <a:endParaRPr lang="en-US" altLang="zh-TW" sz="2400" dirty="0">
              <a:solidFill>
                <a:srgbClr val="0000FF"/>
              </a:solidFill>
              <a:latin typeface="Adobe Gothic Std B" pitchFamily="34" charset="-128"/>
              <a:ea typeface="Adobe Gothic Std B" pitchFamily="34" charset="-128"/>
            </a:endParaRPr>
          </a:p>
        </p:txBody>
      </p:sp>
    </p:spTree>
    <p:extLst>
      <p:ext uri="{BB962C8B-B14F-4D97-AF65-F5344CB8AC3E}">
        <p14:creationId xmlns:p14="http://schemas.microsoft.com/office/powerpoint/2010/main" val="283195298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IW_TYPE_IMAGE" val="Text Box 3"/>
</p:tagLst>
</file>

<file path=ppt/tags/tag2.xml><?xml version="1.0" encoding="utf-8"?>
<p:tagLst xmlns:a="http://schemas.openxmlformats.org/drawingml/2006/main" xmlns:r="http://schemas.openxmlformats.org/officeDocument/2006/relationships" xmlns:p="http://schemas.openxmlformats.org/presentationml/2006/main">
  <p:tag name="IIW_TYPE_IMAGE" val="Text Box 3"/>
</p:tagLst>
</file>

<file path=ppt/theme/theme1.xml><?xml version="1.0" encoding="utf-8"?>
<a:theme xmlns:a="http://schemas.openxmlformats.org/drawingml/2006/main"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Blueprint">
      <a:majorFont>
        <a:latin typeface="Tahoma"/>
        <a:ea typeface="新細明體"/>
        <a:cs typeface=""/>
      </a:majorFont>
      <a:minorFont>
        <a:latin typeface="Tahoma"/>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ahoma" pitchFamily="34" charset="0"/>
            <a:ea typeface="新細明體"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ahoma" pitchFamily="34" charset="0"/>
            <a:ea typeface="新細明體" charset="-120"/>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2511</TotalTime>
  <Words>2689</Words>
  <Application>Microsoft Office PowerPoint</Application>
  <PresentationFormat>如螢幕大小 (4:3)</PresentationFormat>
  <Paragraphs>473</Paragraphs>
  <Slides>46</Slides>
  <Notes>46</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46</vt:i4>
      </vt:variant>
    </vt:vector>
  </HeadingPairs>
  <TitlesOfParts>
    <vt:vector size="55" baseType="lpstr">
      <vt:lpstr>Adobe Gothic Std B</vt:lpstr>
      <vt:lpstr>新細明體</vt:lpstr>
      <vt:lpstr>Arial</vt:lpstr>
      <vt:lpstr>Helvetica</vt:lpstr>
      <vt:lpstr>Symbol</vt:lpstr>
      <vt:lpstr>Tahoma</vt:lpstr>
      <vt:lpstr>Times New Roman</vt:lpstr>
      <vt:lpstr>Wingdings</vt:lpstr>
      <vt:lpstr>Blueprint</vt:lpstr>
      <vt:lpstr>Chapter 10 Mass-Storage Systems</vt:lpstr>
      <vt:lpstr>Outline</vt:lpstr>
      <vt:lpstr>Overview of Mass Storage Structure</vt:lpstr>
      <vt:lpstr>Moving-head Disk Mechanism</vt:lpstr>
      <vt:lpstr>Hard Disk Performance </vt:lpstr>
      <vt:lpstr>Hard Disk Performance </vt:lpstr>
      <vt:lpstr>Solid-State Disks</vt:lpstr>
      <vt:lpstr>Disk Structure</vt:lpstr>
      <vt:lpstr>Disk Attachment</vt:lpstr>
      <vt:lpstr>Network-Attached Storage (NAS)</vt:lpstr>
      <vt:lpstr>Storage Area Network (SAN)</vt:lpstr>
      <vt:lpstr>Disk Scheduling (1)</vt:lpstr>
      <vt:lpstr>Disk Scheduling (2)</vt:lpstr>
      <vt:lpstr>FCFS</vt:lpstr>
      <vt:lpstr>SSTF (1)</vt:lpstr>
      <vt:lpstr>SSTF (2)</vt:lpstr>
      <vt:lpstr>SCAN (1)</vt:lpstr>
      <vt:lpstr>SCAN (2)</vt:lpstr>
      <vt:lpstr>C-SCAN (1)</vt:lpstr>
      <vt:lpstr>C-SCAN (2)</vt:lpstr>
      <vt:lpstr>C-LOOK (1)</vt:lpstr>
      <vt:lpstr>C-LOOK (2)</vt:lpstr>
      <vt:lpstr>Selecting a Disk-Scheduling Algorithm (1)</vt:lpstr>
      <vt:lpstr>Selecting a Disk-Scheduling Algorithm (2)</vt:lpstr>
      <vt:lpstr>Disk Management</vt:lpstr>
      <vt:lpstr>MS-DOS Disk Layout</vt:lpstr>
      <vt:lpstr>Booting from a Disk in Windows 2000</vt:lpstr>
      <vt:lpstr>Swap-Space Management</vt:lpstr>
      <vt:lpstr>Swap-Space Management Swap file vs. Swap partition</vt:lpstr>
      <vt:lpstr>Data Structures for Swapping on Linux Systems</vt:lpstr>
      <vt:lpstr>BSD Text-Segment Swap Map </vt:lpstr>
      <vt:lpstr>BSD Data-Segment Swap Map</vt:lpstr>
      <vt:lpstr>RAID Structure (1) Redundant Array of Independent Disks</vt:lpstr>
      <vt:lpstr>RAID (2)</vt:lpstr>
      <vt:lpstr>RAID Levels</vt:lpstr>
      <vt:lpstr>Reed-Solomon Code</vt:lpstr>
      <vt:lpstr>Correct/detect Packet Losses using across-packet FEC  </vt:lpstr>
      <vt:lpstr>RAID (0 + 1) and (1 + 0)</vt:lpstr>
      <vt:lpstr>Selecting a RAID Level</vt:lpstr>
      <vt:lpstr>Problems with RAID</vt:lpstr>
      <vt:lpstr>Other Features</vt:lpstr>
      <vt:lpstr>Solaris ZFS: Not always available</vt:lpstr>
      <vt:lpstr>Solaris ZFS: Lack of flexibility</vt:lpstr>
      <vt:lpstr>Stable-Storage Implementation</vt:lpstr>
      <vt:lpstr>Stable-Storage Implementation</vt:lpstr>
      <vt:lpstr>Stable-Storage Implementation</vt:lpstr>
    </vt:vector>
  </TitlesOfParts>
  <Company>Lucent Technologies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Jia-Shung WANG</dc:creator>
  <cp:lastModifiedBy>JS</cp:lastModifiedBy>
  <cp:revision>217</cp:revision>
  <cp:lastPrinted>2018-05-04T01:45:29Z</cp:lastPrinted>
  <dcterms:created xsi:type="dcterms:W3CDTF">1999-08-24T14:24:00Z</dcterms:created>
  <dcterms:modified xsi:type="dcterms:W3CDTF">2018-05-04T01:49:58Z</dcterms:modified>
</cp:coreProperties>
</file>