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6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1046400000000001"/>
          <c:y val="0.21046400000000001"/>
          <c:w val="0.57907200000000003"/>
          <c:h val="0.56657199999999996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dPt>
            <c:idx val="0"/>
            <c:bubble3D val="0"/>
          </c:dPt>
          <c:dPt>
            <c:idx val="1"/>
            <c:bubble3D val="0"/>
            <c:spPr>
              <a:solidFill>
                <a:schemeClr val="accent3"/>
              </a:solidFill>
              <a:ln w="12700" cap="flat">
                <a:noFill/>
                <a:miter lim="400000"/>
              </a:ln>
              <a:effectLst/>
            </c:spPr>
          </c:dPt>
          <c:dPt>
            <c:idx val="2"/>
            <c:bubble3D val="0"/>
            <c:spPr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c:spPr>
          </c:dPt>
          <c:dPt>
            <c:idx val="3"/>
            <c:bubble3D val="0"/>
            <c:spPr>
              <a:solidFill>
                <a:srgbClr val="FF2600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000000"/>
                      </a:solidFill>
                      <a:latin typeface="Helvetica Neue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000000"/>
                      </a:solidFill>
                      <a:latin typeface="Helvetica Neue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000000"/>
                      </a:solidFill>
                      <a:latin typeface="Helvetica Neue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000000"/>
                      </a:solidFill>
                      <a:latin typeface="Helvetica Neue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4600" b="0" i="0" u="none" strike="noStrike">
                    <a:solidFill>
                      <a:srgbClr val="000000"/>
                    </a:solidFill>
                    <a:latin typeface="Helvetica Neue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Sheet1!$B$1:$E$1</c:f>
              <c:strCache>
                <c:ptCount val="4"/>
                <c:pt idx="0">
                  <c:v>0</c:v>
                </c:pt>
                <c:pt idx="1">
                  <c:v>1-2</c:v>
                </c:pt>
                <c:pt idx="2">
                  <c:v>3-5</c:v>
                </c:pt>
                <c:pt idx="3">
                  <c:v>5以上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solidFill>
              <a:srgbClr val="4D8178"/>
            </a:solidFill>
            <a:ln w="12700" cap="flat">
              <a:noFill/>
              <a:miter lim="400000"/>
            </a:ln>
            <a:effectLst/>
          </c:spPr>
          <c:dPt>
            <c:idx val="0"/>
            <c:bubble3D val="0"/>
          </c:dPt>
          <c:dPt>
            <c:idx val="1"/>
            <c:bubble3D val="0"/>
            <c:spPr>
              <a:solidFill>
                <a:srgbClr val="95BC89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FFFFFF"/>
                      </a:solidFill>
                      <a:latin typeface="Helvetica Neue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4600" b="0" i="0" u="none" strike="noStrike">
                      <a:solidFill>
                        <a:srgbClr val="FFFFFF"/>
                      </a:solidFill>
                      <a:latin typeface="Helvetica Neue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4600" b="0" i="0" u="none" strike="noStrike">
                    <a:solidFill>
                      <a:srgbClr val="FFFFFF"/>
                    </a:solidFill>
                    <a:latin typeface="Helvetica Neue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2"/>
                <c:pt idx="0">
                  <c:v>外觀</c:v>
                </c:pt>
                <c:pt idx="1">
                  <c:v>功能性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5</c:v>
                </c:pt>
                <c:pt idx="1">
                  <c:v>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solidFill>
              <a:schemeClr val="accent4">
                <a:hueOff val="-461056"/>
                <a:satOff val="4338"/>
                <a:lumOff val="-10225"/>
              </a:schemeClr>
            </a:solidFill>
            <a:ln w="12700" cap="flat">
              <a:noFill/>
              <a:miter lim="400000"/>
            </a:ln>
            <a:effectLst/>
          </c:spPr>
          <c:dPt>
            <c:idx val="0"/>
            <c:bubble3D val="0"/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3500" b="0" i="0" u="none" strike="noStrike">
                      <a:solidFill>
                        <a:srgbClr val="FFFFFF"/>
                      </a:solidFill>
                      <a:latin typeface="Helvetica Neue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500" b="0" i="0" u="none" strike="noStrike">
                    <a:solidFill>
                      <a:srgbClr val="FFFFFF"/>
                    </a:solidFill>
                    <a:latin typeface="Helvetica Neue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Sheet1!$B$1:$B$1</c:f>
              <c:strCache>
                <c:ptCount val="1"/>
                <c:pt idx="0">
                  <c:v>9 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solidFill>
              <a:schemeClr val="accent6">
                <a:satOff val="-15808"/>
                <a:lumOff val="-17557"/>
              </a:schemeClr>
            </a:solidFill>
            <a:ln w="12700" cap="flat">
              <a:noFill/>
              <a:miter lim="400000"/>
            </a:ln>
            <a:effectLst/>
          </c:spPr>
          <c:dPt>
            <c:idx val="0"/>
            <c:bubble3D val="0"/>
          </c:dPt>
          <c:dPt>
            <c:idx val="1"/>
            <c:bubble3D val="0"/>
            <c:spPr>
              <a:solidFill>
                <a:srgbClr val="834190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2700" b="0" i="0" u="none" strike="noStrike">
                      <a:solidFill>
                        <a:srgbClr val="FFFFFF"/>
                      </a:solidFill>
                      <a:latin typeface="Helvetica Neue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2700" b="0" i="0" u="none" strike="noStrike">
                      <a:solidFill>
                        <a:srgbClr val="FFFFFF"/>
                      </a:solidFill>
                      <a:latin typeface="Helvetica Neue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700" b="0" i="0" u="none" strike="noStrike">
                    <a:solidFill>
                      <a:srgbClr val="FFFFFF"/>
                    </a:solidFill>
                    <a:latin typeface="Helvetica Neue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Sheet1!$B$1:$C$1</c:f>
              <c:strCache>
                <c:ptCount val="1"/>
                <c:pt idx="0">
                  <c:v>9 月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19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83232"/>
        <c:axId val="-1610882688"/>
      </c:lineChart>
      <c:catAx>
        <c:axId val="-161088323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82688"/>
        <c:crosses val="autoZero"/>
        <c:auto val="1"/>
        <c:lblAlgn val="ctr"/>
        <c:lblOffset val="100"/>
        <c:noMultiLvlLbl val="1"/>
      </c:catAx>
      <c:valAx>
        <c:axId val="-1610882688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83232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10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5616"/>
        <c:axId val="-1610871808"/>
      </c:lineChart>
      <c:catAx>
        <c:axId val="-161087561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1808"/>
        <c:crosses val="autoZero"/>
        <c:auto val="1"/>
        <c:lblAlgn val="ctr"/>
        <c:lblOffset val="100"/>
        <c:noMultiLvlLbl val="1"/>
      </c:catAx>
      <c:valAx>
        <c:axId val="-1610871808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5616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11</c:v>
                </c:pt>
                <c:pt idx="4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82144"/>
        <c:axId val="-1610884320"/>
      </c:lineChart>
      <c:catAx>
        <c:axId val="-16108821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84320"/>
        <c:crosses val="autoZero"/>
        <c:auto val="1"/>
        <c:lblAlgn val="ctr"/>
        <c:lblOffset val="100"/>
        <c:noMultiLvlLbl val="1"/>
      </c:catAx>
      <c:valAx>
        <c:axId val="-1610884320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82144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19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7792"/>
        <c:axId val="-1610877248"/>
      </c:lineChart>
      <c:catAx>
        <c:axId val="-16108777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7248"/>
        <c:crosses val="autoZero"/>
        <c:auto val="1"/>
        <c:lblAlgn val="ctr"/>
        <c:lblOffset val="100"/>
        <c:noMultiLvlLbl val="1"/>
      </c:catAx>
      <c:valAx>
        <c:axId val="-1610877248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7792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10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83776"/>
        <c:axId val="-1610876704"/>
      </c:lineChart>
      <c:catAx>
        <c:axId val="-16108837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6704"/>
        <c:crosses val="autoZero"/>
        <c:auto val="1"/>
        <c:lblAlgn val="ctr"/>
        <c:lblOffset val="100"/>
        <c:noMultiLvlLbl val="1"/>
      </c:catAx>
      <c:valAx>
        <c:axId val="-1610876704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83776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11</c:v>
                </c:pt>
                <c:pt idx="4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4528"/>
        <c:axId val="-1610878880"/>
      </c:lineChart>
      <c:catAx>
        <c:axId val="-16108745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8880"/>
        <c:crosses val="autoZero"/>
        <c:auto val="1"/>
        <c:lblAlgn val="ctr"/>
        <c:lblOffset val="100"/>
        <c:noMultiLvlLbl val="1"/>
      </c:catAx>
      <c:valAx>
        <c:axId val="-1610878880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4528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15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3984"/>
        <c:axId val="-1610871264"/>
      </c:lineChart>
      <c:catAx>
        <c:axId val="-16108739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1264"/>
        <c:crosses val="autoZero"/>
        <c:auto val="1"/>
        <c:lblAlgn val="ctr"/>
        <c:lblOffset val="100"/>
        <c:noMultiLvlLbl val="1"/>
      </c:catAx>
      <c:valAx>
        <c:axId val="-1610871264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3984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19</c:v>
                </c:pt>
                <c:pt idx="4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9968"/>
        <c:axId val="-1610879424"/>
      </c:lineChart>
      <c:catAx>
        <c:axId val="-16108799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9424"/>
        <c:crosses val="autoZero"/>
        <c:auto val="1"/>
        <c:lblAlgn val="ctr"/>
        <c:lblOffset val="100"/>
        <c:noMultiLvlLbl val="1"/>
      </c:catAx>
      <c:valAx>
        <c:axId val="-1610879424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9968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10878336"/>
        <c:axId val="-1610870720"/>
      </c:lineChart>
      <c:catAx>
        <c:axId val="-1610878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0720"/>
        <c:crosses val="autoZero"/>
        <c:auto val="1"/>
        <c:lblAlgn val="ctr"/>
        <c:lblOffset val="100"/>
        <c:noMultiLvlLbl val="1"/>
      </c:catAx>
      <c:valAx>
        <c:axId val="-1610870720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10878336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15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79598768"/>
        <c:axId val="-1542998928"/>
      </c:lineChart>
      <c:catAx>
        <c:axId val="-16795987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542998928"/>
        <c:crosses val="autoZero"/>
        <c:auto val="1"/>
        <c:lblAlgn val="ctr"/>
        <c:lblOffset val="100"/>
        <c:noMultiLvlLbl val="1"/>
      </c:catAx>
      <c:valAx>
        <c:axId val="-1542998928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679598768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19</c:v>
                </c:pt>
                <c:pt idx="4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543002736"/>
        <c:axId val="-1543010352"/>
      </c:lineChart>
      <c:catAx>
        <c:axId val="-15430027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543010352"/>
        <c:crosses val="autoZero"/>
        <c:auto val="1"/>
        <c:lblAlgn val="ctr"/>
        <c:lblOffset val="100"/>
        <c:noMultiLvlLbl val="1"/>
      </c:catAx>
      <c:valAx>
        <c:axId val="-15430103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543002736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3477"/>
          <c:y val="0.139983"/>
          <c:w val="0.84828000000000003"/>
          <c:h val="0.643932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地區 1</c:v>
                </c:pt>
              </c:strCache>
            </c:strRef>
          </c:tx>
          <c:spPr>
            <a:ln w="76200" cap="flat">
              <a:solidFill>
                <a:srgbClr val="54585F"/>
              </a:solidFill>
              <a:prstDash val="solid"/>
              <a:miter lim="400000"/>
            </a:ln>
            <a:effectLst/>
          </c:spPr>
          <c:marker>
            <c:symbol val="circle"/>
            <c:size val="14"/>
            <c:spPr>
              <a:solidFill>
                <a:srgbClr val="FFFFFF"/>
              </a:solidFill>
              <a:ln w="76200" cap="flat">
                <a:solidFill>
                  <a:srgbClr val="54585F"/>
                </a:solidFill>
                <a:prstDash val="solid"/>
                <a:miter lim="400000"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543010896"/>
        <c:axId val="-1543004912"/>
      </c:lineChart>
      <c:catAx>
        <c:axId val="-15430108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543004912"/>
        <c:crosses val="autoZero"/>
        <c:auto val="1"/>
        <c:lblAlgn val="ctr"/>
        <c:lblOffset val="100"/>
        <c:noMultiLvlLbl val="1"/>
      </c:catAx>
      <c:valAx>
        <c:axId val="-154300491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3000" b="0" i="0" u="none" strike="noStrike">
                <a:solidFill>
                  <a:srgbClr val="000000"/>
                </a:solidFill>
                <a:latin typeface="Helvetica Neue"/>
              </a:defRPr>
            </a:pPr>
            <a:endParaRPr lang="zh-TW"/>
          </a:p>
        </c:txPr>
        <c:crossAx val="-1543010896"/>
        <c:crosses val="autoZero"/>
        <c:crossBetween val="midCat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143958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大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>
            <a:lvl1pPr>
              <a:defRPr sz="11200"/>
            </a:lvl1pPr>
          </a:lstStyle>
          <a:p>
            <a:r>
              <a:t>大標題文字</a:t>
            </a:r>
          </a:p>
        </p:txBody>
      </p:sp>
      <p:sp>
        <p:nvSpPr>
          <p:cNvPr id="1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0" algn="ctr">
              <a:spcBef>
                <a:spcPts val="0"/>
              </a:spcBef>
              <a:buSzTx/>
              <a:buNone/>
              <a:defRPr sz="5200"/>
            </a:lvl2pPr>
            <a:lvl3pPr marL="0" indent="0" algn="ctr">
              <a:spcBef>
                <a:spcPts val="0"/>
              </a:spcBef>
              <a:buSzTx/>
              <a:buNone/>
              <a:defRPr sz="5200"/>
            </a:lvl3pPr>
            <a:lvl4pPr marL="0" indent="0" algn="ctr">
              <a:spcBef>
                <a:spcPts val="0"/>
              </a:spcBef>
              <a:buSzTx/>
              <a:buNone/>
              <a:defRPr sz="5200"/>
            </a:lvl4pPr>
            <a:lvl5pPr marL="0" indent="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影像"/>
          <p:cNvSpPr>
            <a:spLocks noGrp="1"/>
          </p:cNvSpPr>
          <p:nvPr>
            <p:ph type="pic" sz="half" idx="13"/>
          </p:nvPr>
        </p:nvSpPr>
        <p:spPr>
          <a:xfrm>
            <a:off x="5334000" y="946546"/>
            <a:ext cx="13716001" cy="83046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大標題文字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>
            <a:lvl1pPr>
              <a:defRPr sz="11200"/>
            </a:lvl1pPr>
          </a:lstStyle>
          <a:p>
            <a:r>
              <a:t>大標題文字</a:t>
            </a:r>
          </a:p>
        </p:txBody>
      </p:sp>
      <p:sp>
        <p:nvSpPr>
          <p:cNvPr id="2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0" algn="ctr">
              <a:spcBef>
                <a:spcPts val="0"/>
              </a:spcBef>
              <a:buSzTx/>
              <a:buNone/>
              <a:defRPr sz="5200"/>
            </a:lvl2pPr>
            <a:lvl3pPr marL="0" indent="0" algn="ctr">
              <a:spcBef>
                <a:spcPts val="0"/>
              </a:spcBef>
              <a:buSzTx/>
              <a:buNone/>
              <a:defRPr sz="5200"/>
            </a:lvl3pPr>
            <a:lvl4pPr marL="0" indent="0" algn="ctr">
              <a:spcBef>
                <a:spcPts val="0"/>
              </a:spcBef>
              <a:buSzTx/>
              <a:buNone/>
              <a:defRPr sz="5200"/>
            </a:lvl4pPr>
            <a:lvl5pPr marL="0" indent="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 - 中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大標題文字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>
            <a:lvl1pPr>
              <a:defRPr sz="11200"/>
            </a:lvl1pPr>
          </a:lstStyle>
          <a:p>
            <a:r>
              <a:t>大標題文字</a:t>
            </a:r>
          </a:p>
        </p:txBody>
      </p:sp>
      <p:sp>
        <p:nvSpPr>
          <p:cNvPr id="3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直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影像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550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大標題文字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大標題文字</a:t>
            </a:r>
          </a:p>
        </p:txBody>
      </p:sp>
      <p:sp>
        <p:nvSpPr>
          <p:cNvPr id="40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  <a:lvl2pPr marL="0" indent="0" algn="ctr">
              <a:spcBef>
                <a:spcPts val="0"/>
              </a:spcBef>
              <a:buSzTx/>
              <a:buNone/>
              <a:defRPr sz="5200"/>
            </a:lvl2pPr>
            <a:lvl3pPr marL="0" indent="0" algn="ctr">
              <a:spcBef>
                <a:spcPts val="0"/>
              </a:spcBef>
              <a:buSzTx/>
              <a:buNone/>
              <a:defRPr sz="5200"/>
            </a:lvl3pPr>
            <a:lvl4pPr marL="0" indent="0" algn="ctr">
              <a:spcBef>
                <a:spcPts val="0"/>
              </a:spcBef>
              <a:buSzTx/>
              <a:buNone/>
              <a:defRPr sz="5200"/>
            </a:lvl4pPr>
            <a:lvl5pPr marL="0" indent="0" algn="ctr">
              <a:spcBef>
                <a:spcPts val="0"/>
              </a:spcBef>
              <a:buSzTx/>
              <a:buNone/>
              <a:defRPr sz="52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 - 上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4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/>
          <a:lstStyle>
            <a:lvl1pPr>
              <a:defRPr sz="11200"/>
            </a:lvl1pPr>
          </a:lstStyle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pic>
        <p:nvPicPr>
          <p:cNvPr id="58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影像"/>
          <p:cNvSpPr>
            <a:spLocks noGrp="1"/>
          </p:cNvSpPr>
          <p:nvPr>
            <p:ph type="pic" sz="quarter" idx="13"/>
          </p:nvPr>
        </p:nvSpPr>
        <p:spPr>
          <a:xfrm>
            <a:off x="12495609" y="3643312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7" name="大標題文字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/>
          <a:lstStyle>
            <a:lvl1pPr>
              <a:defRPr sz="11200"/>
            </a:lvl1pPr>
          </a:lstStyle>
          <a:p>
            <a:r>
              <a:t>大標題文字</a:t>
            </a:r>
          </a:p>
        </p:txBody>
      </p:sp>
      <p:sp>
        <p:nvSpPr>
          <p:cNvPr id="68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pic>
        <p:nvPicPr>
          <p:cNvPr id="69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內文層級一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pic>
        <p:nvPicPr>
          <p:cNvPr id="78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三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影像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7" name="影像"/>
          <p:cNvSpPr>
            <a:spLocks noGrp="1"/>
          </p:cNvSpPr>
          <p:nvPr>
            <p:ph type="pic" sz="quarter" idx="14"/>
          </p:nvPr>
        </p:nvSpPr>
        <p:spPr>
          <a:xfrm>
            <a:off x="12495609" y="1250156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pic>
        <p:nvPicPr>
          <p:cNvPr id="89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名言語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–王大明"/>
          <p:cNvSpPr txBox="1"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71437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–王大明</a:t>
            </a:r>
          </a:p>
        </p:txBody>
      </p:sp>
      <p:sp>
        <p:nvSpPr>
          <p:cNvPr id="98" name="「在此輸入名言語錄。」"/>
          <p:cNvSpPr txBox="1">
            <a:spLocks noGrp="1"/>
          </p:cNvSpPr>
          <p:nvPr>
            <p:ph type="body" sz="quarter" idx="14"/>
          </p:nvPr>
        </p:nvSpPr>
        <p:spPr>
          <a:xfrm>
            <a:off x="4833937" y="5945187"/>
            <a:ext cx="14716126" cy="9683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「在此輸入名言語錄。」</a:t>
            </a:r>
          </a:p>
        </p:txBody>
      </p:sp>
      <p:pic>
        <p:nvPicPr>
          <p:cNvPr id="99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影像"/>
          <p:cNvSpPr>
            <a:spLocks noGrp="1"/>
          </p:cNvSpPr>
          <p:nvPr>
            <p:ph type="pic" idx="13"/>
          </p:nvPr>
        </p:nvSpPr>
        <p:spPr>
          <a:xfrm>
            <a:off x="3047999" y="0"/>
            <a:ext cx="18288001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 - 上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大標題文字"/>
          <p:cNvSpPr txBox="1">
            <a:spLocks noGrp="1"/>
          </p:cNvSpPr>
          <p:nvPr>
            <p:ph type="title"/>
          </p:nvPr>
        </p:nvSpPr>
        <p:spPr>
          <a:xfrm>
            <a:off x="-3399235" y="-184547"/>
            <a:ext cx="15609095" cy="3036094"/>
          </a:xfrm>
          <a:prstGeom prst="rect">
            <a:avLst/>
          </a:prstGeom>
        </p:spPr>
        <p:txBody>
          <a:bodyPr/>
          <a:lstStyle>
            <a:lvl1pPr>
              <a:defRPr sz="11200">
                <a:solidFill>
                  <a:srgbClr val="003558"/>
                </a:solidFill>
              </a:defRPr>
            </a:lvl1pPr>
          </a:lstStyle>
          <a:p>
            <a:r>
              <a:t>大標題文字</a:t>
            </a:r>
          </a:p>
        </p:txBody>
      </p:sp>
      <p:pic>
        <p:nvPicPr>
          <p:cNvPr id="123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8731" y="-44450"/>
            <a:ext cx="9245601" cy="27559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>
            <a:spLocks noGrp="1"/>
          </p:cNvSpPr>
          <p:nvPr>
            <p:ph type="title"/>
          </p:nvPr>
        </p:nvSpPr>
        <p:spPr>
          <a:xfrm>
            <a:off x="-4470797" y="95250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18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33.png"/><Relationship Id="rId7" Type="http://schemas.openxmlformats.org/officeDocument/2006/relationships/chart" Target="../charts/chart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2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chart" Target="../charts/chart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chart" Target="../charts/chart10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chart" Target="../charts/chart13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chart" Target="../charts/chart16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9.png"/><Relationship Id="rId2" Type="http://schemas.openxmlformats.org/officeDocument/2006/relationships/image" Target="../media/image40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62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61.png"/><Relationship Id="rId2" Type="http://schemas.openxmlformats.org/officeDocument/2006/relationships/image" Target="../media/image40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6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62.png"/><Relationship Id="rId3" Type="http://schemas.openxmlformats.org/officeDocument/2006/relationships/image" Target="../media/image41.png"/><Relationship Id="rId21" Type="http://schemas.openxmlformats.org/officeDocument/2006/relationships/image" Target="../media/image65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61.png"/><Relationship Id="rId2" Type="http://schemas.openxmlformats.org/officeDocument/2006/relationships/image" Target="../media/image40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6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open?id=10XDLSfqiHDJEfPkvFdTNmAtg1w7GNHSn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期中報告"/>
          <p:cNvSpPr txBox="1">
            <a:spLocks noGrp="1"/>
          </p:cNvSpPr>
          <p:nvPr>
            <p:ph type="title"/>
          </p:nvPr>
        </p:nvSpPr>
        <p:spPr>
          <a:xfrm>
            <a:off x="-2975882" y="1833823"/>
            <a:ext cx="14716126" cy="4643439"/>
          </a:xfrm>
          <a:prstGeom prst="rect">
            <a:avLst/>
          </a:prstGeom>
        </p:spPr>
        <p:txBody>
          <a:bodyPr anchor="b"/>
          <a:lstStyle>
            <a:lvl1pPr>
              <a:defRPr u="sng"/>
            </a:lvl1pPr>
          </a:lstStyle>
          <a:p>
            <a:r>
              <a:t>期中報告 </a:t>
            </a:r>
          </a:p>
        </p:txBody>
      </p:sp>
      <p:sp>
        <p:nvSpPr>
          <p:cNvPr id="134" name="智慧型穿戴裝置"/>
          <p:cNvSpPr txBox="1">
            <a:spLocks noGrp="1"/>
          </p:cNvSpPr>
          <p:nvPr>
            <p:ph type="body" sz="quarter" idx="4294967295"/>
          </p:nvPr>
        </p:nvSpPr>
        <p:spPr>
          <a:xfrm>
            <a:off x="-3156664" y="7162485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r>
              <a:t>智慧型穿戴裝置</a:t>
            </a:r>
          </a:p>
        </p:txBody>
      </p:sp>
      <p:sp>
        <p:nvSpPr>
          <p:cNvPr id="135" name="第一組"/>
          <p:cNvSpPr txBox="1"/>
          <p:nvPr/>
        </p:nvSpPr>
        <p:spPr>
          <a:xfrm>
            <a:off x="21466334" y="11657077"/>
            <a:ext cx="2060576" cy="103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5000"/>
            </a:lvl1pPr>
          </a:lstStyle>
          <a:p>
            <a:r>
              <a:t>第一組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8" name="隨著大眾對電子產品的依賴上升…"/>
          <p:cNvSpPr txBox="1"/>
          <p:nvPr/>
        </p:nvSpPr>
        <p:spPr>
          <a:xfrm>
            <a:off x="1887378" y="4094907"/>
            <a:ext cx="12710186" cy="914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隨著大眾對電子產品的依賴上升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       有什麼是比手機更能</a:t>
            </a:r>
            <a:r>
              <a:rPr sz="12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t>貼近我們生活的裝置呢 ?</a:t>
            </a: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endParaRPr/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在大數據推廣＆互聯網應用＆裝置整合與創新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的世代裡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有個或許將改變所有人類使用習慣的裝置，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r>
              <a:t>重要度正在悄悄的上升...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algn="l">
              <a:lnSpc>
                <a:spcPct val="50000"/>
              </a:lnSpc>
              <a:spcBef>
                <a:spcPts val="5900"/>
              </a:spcBef>
              <a:defRPr sz="4400" b="0"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介紹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介紹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2" name="介紹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介紹</a:t>
            </a:r>
          </a:p>
        </p:txBody>
      </p:sp>
      <p:pic>
        <p:nvPicPr>
          <p:cNvPr id="143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8905" y="3707744"/>
            <a:ext cx="14999407" cy="9176375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智 慧 型 手 環"/>
          <p:cNvSpPr txBox="1"/>
          <p:nvPr/>
        </p:nvSpPr>
        <p:spPr>
          <a:xfrm>
            <a:off x="1399963" y="2625903"/>
            <a:ext cx="4518174" cy="19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457200">
              <a:lnSpc>
                <a:spcPts val="10900"/>
              </a:lnSpc>
              <a:defRPr sz="54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智 慧 型 手 環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47" name="icon-03.png" descr="icon-0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94324" y="5529219"/>
            <a:ext cx="3940876" cy="3940877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使用者調查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使用者調查</a:t>
            </a:r>
          </a:p>
        </p:txBody>
      </p:sp>
      <p:sp>
        <p:nvSpPr>
          <p:cNvPr id="149" name="問卷"/>
          <p:cNvSpPr txBox="1"/>
          <p:nvPr/>
        </p:nvSpPr>
        <p:spPr>
          <a:xfrm>
            <a:off x="7784878" y="9633112"/>
            <a:ext cx="12731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問卷</a:t>
            </a:r>
          </a:p>
        </p:txBody>
      </p:sp>
      <p:sp>
        <p:nvSpPr>
          <p:cNvPr id="150" name="圓形"/>
          <p:cNvSpPr/>
          <p:nvPr/>
        </p:nvSpPr>
        <p:spPr>
          <a:xfrm>
            <a:off x="15018819" y="5666582"/>
            <a:ext cx="3666150" cy="3666151"/>
          </a:xfrm>
          <a:prstGeom prst="ellipse">
            <a:avLst/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1" name="頭部"/>
          <p:cNvSpPr/>
          <p:nvPr/>
        </p:nvSpPr>
        <p:spPr>
          <a:xfrm>
            <a:off x="15759394" y="6192750"/>
            <a:ext cx="2185000" cy="2613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5" h="21600" extrusionOk="0">
                <a:moveTo>
                  <a:pt x="9154" y="0"/>
                </a:moveTo>
                <a:cubicBezTo>
                  <a:pt x="3064" y="0"/>
                  <a:pt x="0" y="3297"/>
                  <a:pt x="0" y="7252"/>
                </a:cubicBezTo>
                <a:cubicBezTo>
                  <a:pt x="0" y="11207"/>
                  <a:pt x="2755" y="14261"/>
                  <a:pt x="3263" y="17024"/>
                </a:cubicBezTo>
                <a:cubicBezTo>
                  <a:pt x="3772" y="19786"/>
                  <a:pt x="1428" y="21600"/>
                  <a:pt x="1428" y="21600"/>
                </a:cubicBezTo>
                <a:lnTo>
                  <a:pt x="13269" y="21600"/>
                </a:lnTo>
                <a:cubicBezTo>
                  <a:pt x="14015" y="18211"/>
                  <a:pt x="15444" y="18832"/>
                  <a:pt x="16687" y="18799"/>
                </a:cubicBezTo>
                <a:cubicBezTo>
                  <a:pt x="17929" y="18767"/>
                  <a:pt x="19467" y="18460"/>
                  <a:pt x="19210" y="17068"/>
                </a:cubicBezTo>
                <a:cubicBezTo>
                  <a:pt x="19036" y="16134"/>
                  <a:pt x="19250" y="15837"/>
                  <a:pt x="19675" y="15341"/>
                </a:cubicBezTo>
                <a:cubicBezTo>
                  <a:pt x="20100" y="14844"/>
                  <a:pt x="19256" y="14402"/>
                  <a:pt x="19256" y="14402"/>
                </a:cubicBezTo>
                <a:lnTo>
                  <a:pt x="19745" y="14169"/>
                </a:lnTo>
                <a:cubicBezTo>
                  <a:pt x="19977" y="14061"/>
                  <a:pt x="20093" y="13835"/>
                  <a:pt x="20035" y="13619"/>
                </a:cubicBezTo>
                <a:cubicBezTo>
                  <a:pt x="20009" y="13533"/>
                  <a:pt x="19982" y="13430"/>
                  <a:pt x="19950" y="13301"/>
                </a:cubicBezTo>
                <a:cubicBezTo>
                  <a:pt x="19847" y="12874"/>
                  <a:pt x="20073" y="12503"/>
                  <a:pt x="20497" y="12373"/>
                </a:cubicBezTo>
                <a:cubicBezTo>
                  <a:pt x="20877" y="12260"/>
                  <a:pt x="21149" y="12098"/>
                  <a:pt x="21342" y="11942"/>
                </a:cubicBezTo>
                <a:cubicBezTo>
                  <a:pt x="21600" y="11737"/>
                  <a:pt x="21600" y="11374"/>
                  <a:pt x="21407" y="11120"/>
                </a:cubicBezTo>
                <a:cubicBezTo>
                  <a:pt x="20705" y="10192"/>
                  <a:pt x="19983" y="9173"/>
                  <a:pt x="19487" y="8520"/>
                </a:cubicBezTo>
                <a:cubicBezTo>
                  <a:pt x="18754" y="7554"/>
                  <a:pt x="19939" y="7036"/>
                  <a:pt x="19572" y="5994"/>
                </a:cubicBezTo>
                <a:cubicBezTo>
                  <a:pt x="18658" y="2406"/>
                  <a:pt x="15959" y="0"/>
                  <a:pt x="9154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2" name="訪談"/>
          <p:cNvSpPr txBox="1"/>
          <p:nvPr/>
        </p:nvSpPr>
        <p:spPr>
          <a:xfrm>
            <a:off x="18216500" y="9633112"/>
            <a:ext cx="12731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訪談</a:t>
            </a:r>
          </a:p>
        </p:txBody>
      </p:sp>
      <p:sp>
        <p:nvSpPr>
          <p:cNvPr id="153" name="線條"/>
          <p:cNvSpPr/>
          <p:nvPr/>
        </p:nvSpPr>
        <p:spPr>
          <a:xfrm flipV="1">
            <a:off x="10327067" y="3780601"/>
            <a:ext cx="3940460" cy="7438113"/>
          </a:xfrm>
          <a:prstGeom prst="line">
            <a:avLst/>
          </a:prstGeom>
          <a:ln w="1651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56" name="icon-03.png" descr="icon-0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6188" y="5312280"/>
            <a:ext cx="3940877" cy="3940877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5"/>
          <p:cNvSpPr/>
          <p:nvPr/>
        </p:nvSpPr>
        <p:spPr>
          <a:xfrm>
            <a:off x="10271125" y="2170112"/>
            <a:ext cx="1270000" cy="1270001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5</a:t>
            </a:r>
          </a:p>
        </p:txBody>
      </p:sp>
      <p:sp>
        <p:nvSpPr>
          <p:cNvPr id="158" name="6"/>
          <p:cNvSpPr/>
          <p:nvPr/>
        </p:nvSpPr>
        <p:spPr>
          <a:xfrm>
            <a:off x="11390312" y="5257800"/>
            <a:ext cx="1270001" cy="1270000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6</a:t>
            </a:r>
          </a:p>
        </p:txBody>
      </p:sp>
      <p:sp>
        <p:nvSpPr>
          <p:cNvPr id="159" name="7"/>
          <p:cNvSpPr/>
          <p:nvPr/>
        </p:nvSpPr>
        <p:spPr>
          <a:xfrm>
            <a:off x="11390312" y="8345487"/>
            <a:ext cx="1270001" cy="1270001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7</a:t>
            </a:r>
          </a:p>
        </p:txBody>
      </p:sp>
      <p:sp>
        <p:nvSpPr>
          <p:cNvPr id="160" name="9"/>
          <p:cNvSpPr/>
          <p:nvPr/>
        </p:nvSpPr>
        <p:spPr>
          <a:xfrm>
            <a:off x="10271125" y="11433175"/>
            <a:ext cx="1270000" cy="1270000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9</a:t>
            </a:r>
          </a:p>
        </p:txBody>
      </p:sp>
      <p:pic>
        <p:nvPicPr>
          <p:cNvPr id="161" name="線條" descr="線條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0515952">
            <a:off x="6941615" y="6463132"/>
            <a:ext cx="4243112" cy="401377"/>
          </a:xfrm>
          <a:prstGeom prst="rect">
            <a:avLst/>
          </a:prstGeom>
        </p:spPr>
      </p:pic>
      <p:pic>
        <p:nvPicPr>
          <p:cNvPr id="163" name="線條" descr="線條"/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3279895">
            <a:off x="5896085" y="9273680"/>
            <a:ext cx="5436188" cy="401377"/>
          </a:xfrm>
          <a:prstGeom prst="rect">
            <a:avLst/>
          </a:prstGeom>
        </p:spPr>
      </p:pic>
      <p:pic>
        <p:nvPicPr>
          <p:cNvPr id="165" name="線條" descr="線條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168889">
            <a:off x="6904875" y="7837441"/>
            <a:ext cx="4492908" cy="401378"/>
          </a:xfrm>
          <a:prstGeom prst="rect">
            <a:avLst/>
          </a:prstGeom>
        </p:spPr>
      </p:pic>
      <p:pic>
        <p:nvPicPr>
          <p:cNvPr id="167" name="線條" descr="線條"/>
          <p:cNvPicPr>
            <a:picLocks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25767">
            <a:off x="6132286" y="5177997"/>
            <a:ext cx="5028144" cy="401378"/>
          </a:xfrm>
          <a:prstGeom prst="rect">
            <a:avLst/>
          </a:prstGeom>
        </p:spPr>
      </p:pic>
      <p:pic>
        <p:nvPicPr>
          <p:cNvPr id="169" name="icon_hot.png" descr="icon_hot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477351" y="5229192"/>
            <a:ext cx="4107053" cy="410705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2" name="箭頭"/>
          <p:cNvGrpSpPr/>
          <p:nvPr/>
        </p:nvGrpSpPr>
        <p:grpSpPr>
          <a:xfrm>
            <a:off x="13359472" y="6569603"/>
            <a:ext cx="3755331" cy="1426230"/>
            <a:chOff x="0" y="0"/>
            <a:chExt cx="3755329" cy="1426228"/>
          </a:xfrm>
        </p:grpSpPr>
        <p:sp>
          <p:nvSpPr>
            <p:cNvPr id="171" name="箭頭"/>
            <p:cNvSpPr/>
            <p:nvPr/>
          </p:nvSpPr>
          <p:spPr>
            <a:xfrm>
              <a:off x="38100" y="78114"/>
              <a:ext cx="3655343" cy="1270001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4">
                <a:hueOff val="-461056"/>
                <a:satOff val="4338"/>
                <a:lumOff val="-10225"/>
              </a:schemeClr>
            </a:solidFill>
            <a:ln>
              <a:noFill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70" name="箭頭" descr="箭頭"/>
            <p:cNvPicPr>
              <a:picLocks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0"/>
              <a:ext cx="3755331" cy="1426229"/>
            </a:xfrm>
            <a:prstGeom prst="rect">
              <a:avLst/>
            </a:prstGeom>
            <a:effectLst/>
          </p:spPr>
        </p:pic>
      </p:grpSp>
      <p:sp>
        <p:nvSpPr>
          <p:cNvPr id="173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sp>
        <p:nvSpPr>
          <p:cNvPr id="174" name="Likert scale"/>
          <p:cNvSpPr txBox="1"/>
          <p:nvPr/>
        </p:nvSpPr>
        <p:spPr>
          <a:xfrm>
            <a:off x="18370759" y="9559809"/>
            <a:ext cx="300154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Likert scale</a:t>
            </a:r>
          </a:p>
        </p:txBody>
      </p:sp>
      <p:sp>
        <p:nvSpPr>
          <p:cNvPr id="175" name="問卷選擇"/>
          <p:cNvSpPr txBox="1"/>
          <p:nvPr/>
        </p:nvSpPr>
        <p:spPr>
          <a:xfrm>
            <a:off x="2597360" y="2400300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問卷選擇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78" name="icon-03.png" descr="icon-0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6188" y="5312280"/>
            <a:ext cx="3940877" cy="3940877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5"/>
          <p:cNvSpPr/>
          <p:nvPr/>
        </p:nvSpPr>
        <p:spPr>
          <a:xfrm>
            <a:off x="10271125" y="2170112"/>
            <a:ext cx="1270000" cy="1270001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5</a:t>
            </a:r>
          </a:p>
        </p:txBody>
      </p:sp>
      <p:sp>
        <p:nvSpPr>
          <p:cNvPr id="180" name="6"/>
          <p:cNvSpPr/>
          <p:nvPr/>
        </p:nvSpPr>
        <p:spPr>
          <a:xfrm>
            <a:off x="11390312" y="5257800"/>
            <a:ext cx="1270001" cy="1270000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6</a:t>
            </a:r>
          </a:p>
        </p:txBody>
      </p:sp>
      <p:sp>
        <p:nvSpPr>
          <p:cNvPr id="181" name="7"/>
          <p:cNvSpPr/>
          <p:nvPr/>
        </p:nvSpPr>
        <p:spPr>
          <a:xfrm>
            <a:off x="11390312" y="8345487"/>
            <a:ext cx="1270001" cy="1270001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7</a:t>
            </a:r>
          </a:p>
        </p:txBody>
      </p:sp>
      <p:sp>
        <p:nvSpPr>
          <p:cNvPr id="182" name="9"/>
          <p:cNvSpPr/>
          <p:nvPr/>
        </p:nvSpPr>
        <p:spPr>
          <a:xfrm>
            <a:off x="10271125" y="11433175"/>
            <a:ext cx="1270000" cy="1270000"/>
          </a:xfrm>
          <a:prstGeom prst="ellipse">
            <a:avLst/>
          </a:prstGeom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63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9</a:t>
            </a:r>
          </a:p>
        </p:txBody>
      </p:sp>
      <p:pic>
        <p:nvPicPr>
          <p:cNvPr id="183" name="線條" descr="線條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0515952">
            <a:off x="6941615" y="6463132"/>
            <a:ext cx="4243112" cy="401377"/>
          </a:xfrm>
          <a:prstGeom prst="rect">
            <a:avLst/>
          </a:prstGeom>
        </p:spPr>
      </p:pic>
      <p:pic>
        <p:nvPicPr>
          <p:cNvPr id="185" name="線條" descr="線條"/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3279895">
            <a:off x="5896085" y="9273680"/>
            <a:ext cx="5436188" cy="401377"/>
          </a:xfrm>
          <a:prstGeom prst="rect">
            <a:avLst/>
          </a:prstGeom>
        </p:spPr>
      </p:pic>
      <p:pic>
        <p:nvPicPr>
          <p:cNvPr id="187" name="線條" descr="線條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168889">
            <a:off x="6904875" y="7837441"/>
            <a:ext cx="4492908" cy="401378"/>
          </a:xfrm>
          <a:prstGeom prst="rect">
            <a:avLst/>
          </a:prstGeom>
        </p:spPr>
      </p:pic>
      <p:pic>
        <p:nvPicPr>
          <p:cNvPr id="189" name="線條" descr="線條"/>
          <p:cNvPicPr>
            <a:picLocks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8525767">
            <a:off x="6132286" y="5177997"/>
            <a:ext cx="5028144" cy="401378"/>
          </a:xfrm>
          <a:prstGeom prst="rect">
            <a:avLst/>
          </a:prstGeom>
        </p:spPr>
      </p:pic>
      <p:pic>
        <p:nvPicPr>
          <p:cNvPr id="191" name="icon_hot.png" descr="icon_hot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477351" y="5229192"/>
            <a:ext cx="4107053" cy="410705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箭頭"/>
          <p:cNvGrpSpPr/>
          <p:nvPr/>
        </p:nvGrpSpPr>
        <p:grpSpPr>
          <a:xfrm>
            <a:off x="13359472" y="6569603"/>
            <a:ext cx="3755331" cy="1426230"/>
            <a:chOff x="0" y="0"/>
            <a:chExt cx="3755329" cy="1426228"/>
          </a:xfrm>
        </p:grpSpPr>
        <p:sp>
          <p:nvSpPr>
            <p:cNvPr id="193" name="箭頭"/>
            <p:cNvSpPr/>
            <p:nvPr/>
          </p:nvSpPr>
          <p:spPr>
            <a:xfrm>
              <a:off x="38100" y="78114"/>
              <a:ext cx="3655343" cy="1270001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4">
                <a:hueOff val="-461056"/>
                <a:satOff val="4338"/>
                <a:lumOff val="-10225"/>
              </a:schemeClr>
            </a:solidFill>
            <a:ln>
              <a:noFill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92" name="箭頭" descr="箭頭"/>
            <p:cNvPicPr>
              <a:picLocks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0"/>
              <a:ext cx="3755331" cy="1426229"/>
            </a:xfrm>
            <a:prstGeom prst="rect">
              <a:avLst/>
            </a:prstGeom>
            <a:effectLst/>
          </p:spPr>
        </p:pic>
      </p:grpSp>
      <p:sp>
        <p:nvSpPr>
          <p:cNvPr id="195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sp>
        <p:nvSpPr>
          <p:cNvPr id="196" name="Likert scale"/>
          <p:cNvSpPr txBox="1"/>
          <p:nvPr/>
        </p:nvSpPr>
        <p:spPr>
          <a:xfrm>
            <a:off x="18370759" y="9559809"/>
            <a:ext cx="300154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Likert scale</a:t>
            </a:r>
          </a:p>
        </p:txBody>
      </p:sp>
      <p:sp>
        <p:nvSpPr>
          <p:cNvPr id="197" name="問卷選擇"/>
          <p:cNvSpPr txBox="1"/>
          <p:nvPr/>
        </p:nvSpPr>
        <p:spPr>
          <a:xfrm>
            <a:off x="2597360" y="2400300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問卷選擇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00" name="線條" descr="線條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3216830">
            <a:off x="7278555" y="7639777"/>
            <a:ext cx="10072087" cy="215901"/>
          </a:xfrm>
          <a:prstGeom prst="rect">
            <a:avLst/>
          </a:prstGeom>
        </p:spPr>
      </p:pic>
      <p:pic>
        <p:nvPicPr>
          <p:cNvPr id="202" name="線條" descr="線條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8330813">
            <a:off x="7315649" y="7932737"/>
            <a:ext cx="10403579" cy="215901"/>
          </a:xfrm>
          <a:prstGeom prst="rect">
            <a:avLst/>
          </a:prstGeom>
        </p:spPr>
      </p:pic>
      <p:pic>
        <p:nvPicPr>
          <p:cNvPr id="204" name="icon_hot.png" descr="icon_hot.png"/>
          <p:cNvPicPr>
            <a:picLocks noChangeAspect="1"/>
          </p:cNvPicPr>
          <p:nvPr/>
        </p:nvPicPr>
        <p:blipFill>
          <a:blip r:embed="rId4">
            <a:extLst/>
          </a:blip>
          <a:srcRect/>
          <a:stretch>
            <a:fillRect/>
          </a:stretch>
        </p:blipFill>
        <p:spPr>
          <a:xfrm>
            <a:off x="10400411" y="5923661"/>
            <a:ext cx="4107053" cy="410705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7" name="群組"/>
          <p:cNvGrpSpPr/>
          <p:nvPr/>
        </p:nvGrpSpPr>
        <p:grpSpPr>
          <a:xfrm>
            <a:off x="6737315" y="3081490"/>
            <a:ext cx="3497810" cy="3497809"/>
            <a:chOff x="0" y="0"/>
            <a:chExt cx="3497808" cy="3497808"/>
          </a:xfrm>
        </p:grpSpPr>
        <p:sp>
          <p:nvSpPr>
            <p:cNvPr id="205" name="圓形"/>
            <p:cNvSpPr/>
            <p:nvPr/>
          </p:nvSpPr>
          <p:spPr>
            <a:xfrm>
              <a:off x="0" y="0"/>
              <a:ext cx="3497809" cy="3497809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06" name="aca5251531f72b0a8f61ec6367551cef0cbe85fa353d-9b43CQ.png" descr="aca5251531f72b0a8f61ec6367551cef0cbe85fa353d-9b43CQ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18871" y="418870"/>
              <a:ext cx="2660067" cy="26600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10" name="群組"/>
          <p:cNvGrpSpPr/>
          <p:nvPr/>
        </p:nvGrpSpPr>
        <p:grpSpPr>
          <a:xfrm>
            <a:off x="14672561" y="3081490"/>
            <a:ext cx="3497809" cy="3497809"/>
            <a:chOff x="0" y="0"/>
            <a:chExt cx="3497808" cy="3497808"/>
          </a:xfrm>
        </p:grpSpPr>
        <p:sp>
          <p:nvSpPr>
            <p:cNvPr id="208" name="圓形"/>
            <p:cNvSpPr/>
            <p:nvPr/>
          </p:nvSpPr>
          <p:spPr>
            <a:xfrm>
              <a:off x="0" y="0"/>
              <a:ext cx="3497809" cy="3497809"/>
            </a:xfrm>
            <a:prstGeom prst="ellipse">
              <a:avLst/>
            </a:prstGeom>
            <a:solidFill>
              <a:schemeClr val="accent4">
                <a:hueOff val="-461056"/>
                <a:satOff val="4338"/>
                <a:lumOff val="-10225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09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7852" y="230857"/>
              <a:ext cx="3022103" cy="30360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13" name="群組"/>
          <p:cNvGrpSpPr/>
          <p:nvPr/>
        </p:nvGrpSpPr>
        <p:grpSpPr>
          <a:xfrm>
            <a:off x="6737315" y="9492805"/>
            <a:ext cx="3497810" cy="3497810"/>
            <a:chOff x="0" y="0"/>
            <a:chExt cx="3497808" cy="3497808"/>
          </a:xfrm>
        </p:grpSpPr>
        <p:sp>
          <p:nvSpPr>
            <p:cNvPr id="211" name="圓形"/>
            <p:cNvSpPr/>
            <p:nvPr/>
          </p:nvSpPr>
          <p:spPr>
            <a:xfrm>
              <a:off x="0" y="0"/>
              <a:ext cx="3497809" cy="3497809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12" name="app-symbol.png" descr="app-symbol.pn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16473" t="18240" r="17921" b="18240"/>
            <a:stretch>
              <a:fillRect/>
            </a:stretch>
          </p:blipFill>
          <p:spPr>
            <a:xfrm>
              <a:off x="237802" y="286022"/>
              <a:ext cx="3022055" cy="29259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16" name="群組"/>
          <p:cNvGrpSpPr/>
          <p:nvPr/>
        </p:nvGrpSpPr>
        <p:grpSpPr>
          <a:xfrm>
            <a:off x="14672561" y="9492805"/>
            <a:ext cx="3497809" cy="3497810"/>
            <a:chOff x="0" y="0"/>
            <a:chExt cx="3497808" cy="3497808"/>
          </a:xfrm>
        </p:grpSpPr>
        <p:sp>
          <p:nvSpPr>
            <p:cNvPr id="214" name="圓形"/>
            <p:cNvSpPr/>
            <p:nvPr/>
          </p:nvSpPr>
          <p:spPr>
            <a:xfrm>
              <a:off x="0" y="0"/>
              <a:ext cx="3497809" cy="3497809"/>
            </a:xfrm>
            <a:prstGeom prst="ellipse">
              <a:avLst/>
            </a:prstGeom>
            <a:solidFill>
              <a:schemeClr val="accent2">
                <a:hueOff val="167855"/>
                <a:satOff val="17755"/>
                <a:lumOff val="-166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15" name="12246-200.png" descr="12246-200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78904" y="478904"/>
              <a:ext cx="2540001" cy="2540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7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sp>
        <p:nvSpPr>
          <p:cNvPr id="218" name="產品外觀"/>
          <p:cNvSpPr txBox="1"/>
          <p:nvPr/>
        </p:nvSpPr>
        <p:spPr>
          <a:xfrm>
            <a:off x="17203946" y="6392862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產品外觀</a:t>
            </a:r>
          </a:p>
        </p:txBody>
      </p:sp>
      <p:sp>
        <p:nvSpPr>
          <p:cNvPr id="219" name="使用情境"/>
          <p:cNvSpPr txBox="1"/>
          <p:nvPr/>
        </p:nvSpPr>
        <p:spPr>
          <a:xfrm>
            <a:off x="17203946" y="12544424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使用情境</a:t>
            </a:r>
          </a:p>
        </p:txBody>
      </p:sp>
      <p:sp>
        <p:nvSpPr>
          <p:cNvPr id="220" name="產品功能"/>
          <p:cNvSpPr txBox="1"/>
          <p:nvPr/>
        </p:nvSpPr>
        <p:spPr>
          <a:xfrm>
            <a:off x="5119142" y="12544424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產品功能</a:t>
            </a:r>
          </a:p>
        </p:txBody>
      </p:sp>
      <p:sp>
        <p:nvSpPr>
          <p:cNvPr id="221" name="基本資料"/>
          <p:cNvSpPr txBox="1"/>
          <p:nvPr/>
        </p:nvSpPr>
        <p:spPr>
          <a:xfrm>
            <a:off x="5119142" y="6392862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基本資料</a:t>
            </a:r>
          </a:p>
        </p:txBody>
      </p:sp>
      <p:sp>
        <p:nvSpPr>
          <p:cNvPr id="222" name="問卷成分"/>
          <p:cNvSpPr txBox="1"/>
          <p:nvPr/>
        </p:nvSpPr>
        <p:spPr>
          <a:xfrm>
            <a:off x="2597360" y="2400300"/>
            <a:ext cx="23907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問卷成分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25" name="圓角矩形" descr="圓角矩形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50972" y="3353592"/>
            <a:ext cx="18391789" cy="10019357"/>
          </a:xfrm>
          <a:prstGeom prst="rect">
            <a:avLst/>
          </a:prstGeom>
        </p:spPr>
      </p:pic>
      <p:grpSp>
        <p:nvGrpSpPr>
          <p:cNvPr id="231" name="群組"/>
          <p:cNvGrpSpPr/>
          <p:nvPr/>
        </p:nvGrpSpPr>
        <p:grpSpPr>
          <a:xfrm>
            <a:off x="4068905" y="2301679"/>
            <a:ext cx="3002890" cy="3002890"/>
            <a:chOff x="-184149" y="-184149"/>
            <a:chExt cx="3002888" cy="3002888"/>
          </a:xfrm>
        </p:grpSpPr>
        <p:grpSp>
          <p:nvGrpSpPr>
            <p:cNvPr id="229" name="圓形"/>
            <p:cNvGrpSpPr/>
            <p:nvPr/>
          </p:nvGrpSpPr>
          <p:grpSpPr>
            <a:xfrm>
              <a:off x="-184150" y="-184150"/>
              <a:ext cx="3002889" cy="3002889"/>
              <a:chOff x="0" y="0"/>
              <a:chExt cx="3002888" cy="3002888"/>
            </a:xfrm>
          </p:grpSpPr>
          <p:sp>
            <p:nvSpPr>
              <p:cNvPr id="228" name="圓形"/>
              <p:cNvSpPr/>
              <p:nvPr/>
            </p:nvSpPr>
            <p:spPr>
              <a:xfrm>
                <a:off x="184150" y="184150"/>
                <a:ext cx="2634589" cy="263458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227" name="圓形" descr="圓形"/>
              <p:cNvPicPr>
                <a:picLocks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3002889" cy="3002889"/>
              </a:xfrm>
              <a:prstGeom prst="rect">
                <a:avLst/>
              </a:prstGeom>
              <a:effectLst/>
            </p:spPr>
          </p:pic>
        </p:grpSp>
        <p:pic>
          <p:nvPicPr>
            <p:cNvPr id="230" name="aca5251531f72b0a8f61ec6367551cef0cbe85fa353d-9b43CQ.png" descr="aca5251531f72b0a8f61ec6367551cef0cbe85fa353d-9b43CQ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15498" y="315498"/>
              <a:ext cx="2003593" cy="20035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32" name="男性"/>
          <p:cNvSpPr/>
          <p:nvPr/>
        </p:nvSpPr>
        <p:spPr>
          <a:xfrm>
            <a:off x="7023803" y="7894525"/>
            <a:ext cx="781015" cy="21074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" name="女性"/>
          <p:cNvSpPr/>
          <p:nvPr/>
        </p:nvSpPr>
        <p:spPr>
          <a:xfrm>
            <a:off x="9919034" y="7894525"/>
            <a:ext cx="952794" cy="21074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7" h="21600" extrusionOk="0">
                <a:moveTo>
                  <a:pt x="10652" y="0"/>
                </a:moveTo>
                <a:cubicBezTo>
                  <a:pt x="9610" y="0"/>
                  <a:pt x="8570" y="182"/>
                  <a:pt x="7774" y="547"/>
                </a:cubicBezTo>
                <a:cubicBezTo>
                  <a:pt x="6184" y="1276"/>
                  <a:pt x="6184" y="2458"/>
                  <a:pt x="7774" y="3188"/>
                </a:cubicBezTo>
                <a:cubicBezTo>
                  <a:pt x="9365" y="3917"/>
                  <a:pt x="11943" y="3917"/>
                  <a:pt x="13534" y="3188"/>
                </a:cubicBezTo>
                <a:cubicBezTo>
                  <a:pt x="15124" y="2458"/>
                  <a:pt x="15124" y="1276"/>
                  <a:pt x="13534" y="547"/>
                </a:cubicBezTo>
                <a:cubicBezTo>
                  <a:pt x="12738" y="182"/>
                  <a:pt x="11695" y="0"/>
                  <a:pt x="10652" y="0"/>
                </a:cubicBezTo>
                <a:close/>
                <a:moveTo>
                  <a:pt x="7859" y="4109"/>
                </a:moveTo>
                <a:cubicBezTo>
                  <a:pt x="5671" y="4109"/>
                  <a:pt x="4499" y="4934"/>
                  <a:pt x="4153" y="5420"/>
                </a:cubicBezTo>
                <a:lnTo>
                  <a:pt x="50" y="11877"/>
                </a:lnTo>
                <a:cubicBezTo>
                  <a:pt x="-150" y="12205"/>
                  <a:pt x="268" y="12546"/>
                  <a:pt x="985" y="12638"/>
                </a:cubicBezTo>
                <a:cubicBezTo>
                  <a:pt x="1106" y="12653"/>
                  <a:pt x="1229" y="12661"/>
                  <a:pt x="1349" y="12661"/>
                </a:cubicBezTo>
                <a:cubicBezTo>
                  <a:pt x="1938" y="12661"/>
                  <a:pt x="2478" y="12482"/>
                  <a:pt x="2644" y="12209"/>
                </a:cubicBezTo>
                <a:lnTo>
                  <a:pt x="6269" y="6537"/>
                </a:lnTo>
                <a:lnTo>
                  <a:pt x="6994" y="6537"/>
                </a:lnTo>
                <a:cubicBezTo>
                  <a:pt x="6989" y="6544"/>
                  <a:pt x="6983" y="6551"/>
                  <a:pt x="6979" y="6558"/>
                </a:cubicBezTo>
                <a:lnTo>
                  <a:pt x="2405" y="14438"/>
                </a:lnTo>
                <a:cubicBezTo>
                  <a:pt x="2329" y="14570"/>
                  <a:pt x="2506" y="14676"/>
                  <a:pt x="2803" y="14676"/>
                </a:cubicBezTo>
                <a:lnTo>
                  <a:pt x="6067" y="14676"/>
                </a:lnTo>
                <a:lnTo>
                  <a:pt x="6067" y="20674"/>
                </a:lnTo>
                <a:cubicBezTo>
                  <a:pt x="6067" y="21185"/>
                  <a:pt x="6972" y="21600"/>
                  <a:pt x="8087" y="21600"/>
                </a:cubicBezTo>
                <a:cubicBezTo>
                  <a:pt x="9203" y="21600"/>
                  <a:pt x="10104" y="21185"/>
                  <a:pt x="10104" y="20674"/>
                </a:cubicBezTo>
                <a:lnTo>
                  <a:pt x="10104" y="14676"/>
                </a:lnTo>
                <a:cubicBezTo>
                  <a:pt x="10326" y="14676"/>
                  <a:pt x="10531" y="14676"/>
                  <a:pt x="10608" y="14676"/>
                </a:cubicBezTo>
                <a:cubicBezTo>
                  <a:pt x="10695" y="14676"/>
                  <a:pt x="10945" y="14676"/>
                  <a:pt x="11201" y="14676"/>
                </a:cubicBezTo>
                <a:lnTo>
                  <a:pt x="11201" y="20674"/>
                </a:lnTo>
                <a:cubicBezTo>
                  <a:pt x="11201" y="21185"/>
                  <a:pt x="12105" y="21600"/>
                  <a:pt x="13221" y="21600"/>
                </a:cubicBezTo>
                <a:cubicBezTo>
                  <a:pt x="14337" y="21600"/>
                  <a:pt x="15238" y="21185"/>
                  <a:pt x="15238" y="20674"/>
                </a:cubicBezTo>
                <a:lnTo>
                  <a:pt x="15238" y="14676"/>
                </a:lnTo>
                <a:lnTo>
                  <a:pt x="18410" y="14676"/>
                </a:lnTo>
                <a:cubicBezTo>
                  <a:pt x="18706" y="14676"/>
                  <a:pt x="18887" y="14570"/>
                  <a:pt x="18811" y="14438"/>
                </a:cubicBezTo>
                <a:lnTo>
                  <a:pt x="14237" y="6558"/>
                </a:lnTo>
                <a:cubicBezTo>
                  <a:pt x="14233" y="6551"/>
                  <a:pt x="14227" y="6544"/>
                  <a:pt x="14222" y="6537"/>
                </a:cubicBezTo>
                <a:lnTo>
                  <a:pt x="14932" y="6537"/>
                </a:lnTo>
                <a:lnTo>
                  <a:pt x="18656" y="12192"/>
                </a:lnTo>
                <a:cubicBezTo>
                  <a:pt x="18827" y="12463"/>
                  <a:pt x="19364" y="12638"/>
                  <a:pt x="19948" y="12638"/>
                </a:cubicBezTo>
                <a:cubicBezTo>
                  <a:pt x="20072" y="12638"/>
                  <a:pt x="20199" y="12631"/>
                  <a:pt x="20324" y="12614"/>
                </a:cubicBezTo>
                <a:cubicBezTo>
                  <a:pt x="21038" y="12519"/>
                  <a:pt x="21450" y="12177"/>
                  <a:pt x="21244" y="11850"/>
                </a:cubicBezTo>
                <a:lnTo>
                  <a:pt x="17037" y="5432"/>
                </a:lnTo>
                <a:lnTo>
                  <a:pt x="17022" y="5407"/>
                </a:lnTo>
                <a:cubicBezTo>
                  <a:pt x="16669" y="4924"/>
                  <a:pt x="15494" y="4112"/>
                  <a:pt x="13328" y="4112"/>
                </a:cubicBezTo>
                <a:cubicBezTo>
                  <a:pt x="13316" y="4112"/>
                  <a:pt x="13303" y="4112"/>
                  <a:pt x="13291" y="4112"/>
                </a:cubicBezTo>
                <a:lnTo>
                  <a:pt x="12768" y="4114"/>
                </a:lnTo>
                <a:cubicBezTo>
                  <a:pt x="12732" y="4113"/>
                  <a:pt x="12698" y="4109"/>
                  <a:pt x="12662" y="4109"/>
                </a:cubicBezTo>
                <a:lnTo>
                  <a:pt x="7859" y="4109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4" name="41.4%"/>
          <p:cNvSpPr txBox="1"/>
          <p:nvPr/>
        </p:nvSpPr>
        <p:spPr>
          <a:xfrm>
            <a:off x="7650187" y="9380349"/>
            <a:ext cx="1465810" cy="626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41.4% </a:t>
            </a:r>
          </a:p>
        </p:txBody>
      </p:sp>
      <p:sp>
        <p:nvSpPr>
          <p:cNvPr id="235" name="58.8%"/>
          <p:cNvSpPr txBox="1"/>
          <p:nvPr/>
        </p:nvSpPr>
        <p:spPr>
          <a:xfrm>
            <a:off x="10792345" y="9380349"/>
            <a:ext cx="1465810" cy="626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58.8% </a:t>
            </a:r>
          </a:p>
        </p:txBody>
      </p:sp>
      <p:sp>
        <p:nvSpPr>
          <p:cNvPr id="236" name="學士帽"/>
          <p:cNvSpPr/>
          <p:nvPr/>
        </p:nvSpPr>
        <p:spPr>
          <a:xfrm>
            <a:off x="6409812" y="10557217"/>
            <a:ext cx="2008997" cy="1099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0" y="6520"/>
                </a:lnTo>
                <a:lnTo>
                  <a:pt x="10800" y="13043"/>
                </a:lnTo>
                <a:lnTo>
                  <a:pt x="18745" y="8243"/>
                </a:lnTo>
                <a:lnTo>
                  <a:pt x="18745" y="10509"/>
                </a:lnTo>
                <a:cubicBezTo>
                  <a:pt x="18606" y="10673"/>
                  <a:pt x="18515" y="10958"/>
                  <a:pt x="18515" y="11282"/>
                </a:cubicBezTo>
                <a:cubicBezTo>
                  <a:pt x="18515" y="11519"/>
                  <a:pt x="18563" y="11733"/>
                  <a:pt x="18643" y="11896"/>
                </a:cubicBezTo>
                <a:cubicBezTo>
                  <a:pt x="18499" y="12008"/>
                  <a:pt x="18399" y="12270"/>
                  <a:pt x="18399" y="12574"/>
                </a:cubicBezTo>
                <a:lnTo>
                  <a:pt x="18399" y="21301"/>
                </a:lnTo>
                <a:cubicBezTo>
                  <a:pt x="18553" y="21484"/>
                  <a:pt x="18772" y="21600"/>
                  <a:pt x="19018" y="21600"/>
                </a:cubicBezTo>
                <a:cubicBezTo>
                  <a:pt x="19264" y="21600"/>
                  <a:pt x="19483" y="21484"/>
                  <a:pt x="19637" y="21301"/>
                </a:cubicBezTo>
                <a:lnTo>
                  <a:pt x="19637" y="12556"/>
                </a:lnTo>
                <a:cubicBezTo>
                  <a:pt x="19637" y="12255"/>
                  <a:pt x="19538" y="11998"/>
                  <a:pt x="19396" y="11887"/>
                </a:cubicBezTo>
                <a:cubicBezTo>
                  <a:pt x="19474" y="11725"/>
                  <a:pt x="19523" y="11515"/>
                  <a:pt x="19523" y="11282"/>
                </a:cubicBezTo>
                <a:cubicBezTo>
                  <a:pt x="19523" y="10958"/>
                  <a:pt x="19430" y="10673"/>
                  <a:pt x="19291" y="10509"/>
                </a:cubicBezTo>
                <a:lnTo>
                  <a:pt x="19291" y="7913"/>
                </a:lnTo>
                <a:lnTo>
                  <a:pt x="21600" y="6520"/>
                </a:lnTo>
                <a:lnTo>
                  <a:pt x="10800" y="0"/>
                </a:lnTo>
                <a:close/>
                <a:moveTo>
                  <a:pt x="10819" y="5598"/>
                </a:moveTo>
                <a:cubicBezTo>
                  <a:pt x="11223" y="5598"/>
                  <a:pt x="11551" y="5819"/>
                  <a:pt x="11551" y="6091"/>
                </a:cubicBezTo>
                <a:cubicBezTo>
                  <a:pt x="11551" y="6364"/>
                  <a:pt x="11223" y="6584"/>
                  <a:pt x="10819" y="6584"/>
                </a:cubicBezTo>
                <a:cubicBezTo>
                  <a:pt x="10414" y="6584"/>
                  <a:pt x="10084" y="6364"/>
                  <a:pt x="10085" y="6091"/>
                </a:cubicBezTo>
                <a:cubicBezTo>
                  <a:pt x="10085" y="5819"/>
                  <a:pt x="10414" y="5598"/>
                  <a:pt x="10819" y="5598"/>
                </a:cubicBezTo>
                <a:close/>
                <a:moveTo>
                  <a:pt x="16068" y="10691"/>
                </a:moveTo>
                <a:lnTo>
                  <a:pt x="10800" y="13872"/>
                </a:lnTo>
                <a:lnTo>
                  <a:pt x="5535" y="10694"/>
                </a:lnTo>
                <a:cubicBezTo>
                  <a:pt x="4861" y="12240"/>
                  <a:pt x="4431" y="14116"/>
                  <a:pt x="4188" y="16122"/>
                </a:cubicBezTo>
                <a:cubicBezTo>
                  <a:pt x="6908" y="16652"/>
                  <a:pt x="9240" y="18095"/>
                  <a:pt x="10748" y="20074"/>
                </a:cubicBezTo>
                <a:cubicBezTo>
                  <a:pt x="12275" y="18069"/>
                  <a:pt x="14648" y="16613"/>
                  <a:pt x="17413" y="16101"/>
                </a:cubicBezTo>
                <a:cubicBezTo>
                  <a:pt x="17170" y="14102"/>
                  <a:pt x="16740" y="12232"/>
                  <a:pt x="16068" y="10691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7" name="18-25 year"/>
          <p:cNvSpPr txBox="1"/>
          <p:nvPr/>
        </p:nvSpPr>
        <p:spPr>
          <a:xfrm>
            <a:off x="8470928" y="11085307"/>
            <a:ext cx="2286331" cy="626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18-25 year </a:t>
            </a:r>
          </a:p>
        </p:txBody>
      </p:sp>
      <p:graphicFrame>
        <p:nvGraphicFramePr>
          <p:cNvPr id="238" name="2D 環圈圖"/>
          <p:cNvGraphicFramePr/>
          <p:nvPr/>
        </p:nvGraphicFramePr>
        <p:xfrm>
          <a:off x="14303872" y="5492756"/>
          <a:ext cx="8620707" cy="862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9" name="周圍使用的人"/>
          <p:cNvSpPr txBox="1"/>
          <p:nvPr/>
        </p:nvSpPr>
        <p:spPr>
          <a:xfrm>
            <a:off x="16936237" y="9357021"/>
            <a:ext cx="3355976" cy="89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周圍使用的人</a:t>
            </a:r>
          </a:p>
        </p:txBody>
      </p:sp>
      <p:sp>
        <p:nvSpPr>
          <p:cNvPr id="240" name="0人 : 3 %…"/>
          <p:cNvSpPr txBox="1"/>
          <p:nvPr/>
        </p:nvSpPr>
        <p:spPr>
          <a:xfrm>
            <a:off x="12490588" y="10023520"/>
            <a:ext cx="2451177" cy="245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defRPr sz="3600">
                <a:solidFill>
                  <a:schemeClr val="accent2">
                    <a:hueOff val="258623"/>
                    <a:satOff val="16006"/>
                    <a:lumOff val="-25223"/>
                  </a:schemeClr>
                </a:solidFill>
              </a:defRPr>
            </a:pPr>
            <a:r>
              <a:t>0人 : 3 %</a:t>
            </a:r>
          </a:p>
          <a:p>
            <a:pPr algn="l">
              <a:defRPr sz="3600">
                <a:solidFill>
                  <a:schemeClr val="accent2">
                    <a:hueOff val="258623"/>
                    <a:satOff val="16006"/>
                    <a:lumOff val="-25223"/>
                  </a:schemeClr>
                </a:solidFill>
              </a:defRPr>
            </a:pPr>
            <a:r>
              <a:t>1-2 : 43 %</a:t>
            </a:r>
          </a:p>
          <a:p>
            <a:pPr algn="l">
              <a:defRPr sz="3600">
                <a:solidFill>
                  <a:schemeClr val="accent2">
                    <a:hueOff val="258623"/>
                    <a:satOff val="16006"/>
                    <a:lumOff val="-25223"/>
                  </a:schemeClr>
                </a:solidFill>
              </a:defRPr>
            </a:pPr>
            <a:r>
              <a:t>3-4 : 40 %</a:t>
            </a:r>
          </a:p>
          <a:p>
            <a:pPr algn="l">
              <a:defRPr sz="3600">
                <a:solidFill>
                  <a:schemeClr val="accent2">
                    <a:hueOff val="258623"/>
                    <a:satOff val="16006"/>
                    <a:lumOff val="-25223"/>
                  </a:schemeClr>
                </a:solidFill>
              </a:defRPr>
            </a:pPr>
            <a:r>
              <a:t>&gt;5  : 13 %</a:t>
            </a:r>
          </a:p>
        </p:txBody>
      </p:sp>
      <p:sp>
        <p:nvSpPr>
          <p:cNvPr id="241" name="基本資料"/>
          <p:cNvSpPr txBox="1"/>
          <p:nvPr/>
        </p:nvSpPr>
        <p:spPr>
          <a:xfrm>
            <a:off x="6988068" y="4492625"/>
            <a:ext cx="3609976" cy="134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6800"/>
            </a:lvl1pPr>
          </a:lstStyle>
          <a:p>
            <a:r>
              <a:t>基本資料</a:t>
            </a:r>
          </a:p>
        </p:txBody>
      </p:sp>
      <p:sp>
        <p:nvSpPr>
          <p:cNvPr id="242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45" name="線條" descr="線條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9379696">
            <a:off x="7591356" y="5551178"/>
            <a:ext cx="5160703" cy="215901"/>
          </a:xfrm>
          <a:prstGeom prst="rect">
            <a:avLst/>
          </a:prstGeom>
        </p:spPr>
      </p:pic>
      <p:pic>
        <p:nvPicPr>
          <p:cNvPr id="247" name="線條" descr="線條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9776968">
            <a:off x="7591816" y="5159161"/>
            <a:ext cx="9660675" cy="215901"/>
          </a:xfrm>
          <a:prstGeom prst="rect">
            <a:avLst/>
          </a:prstGeom>
        </p:spPr>
      </p:pic>
      <p:pic>
        <p:nvPicPr>
          <p:cNvPr id="249" name="線條" descr="線條"/>
          <p:cNvPicPr>
            <a:picLocks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1542076">
            <a:off x="7657050" y="7077625"/>
            <a:ext cx="5515761" cy="215901"/>
          </a:xfrm>
          <a:prstGeom prst="rect">
            <a:avLst/>
          </a:prstGeom>
        </p:spPr>
      </p:pic>
      <p:pic>
        <p:nvPicPr>
          <p:cNvPr id="251" name="線條" descr="線條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3911407">
            <a:off x="6397331" y="8447347"/>
            <a:ext cx="6171077" cy="215901"/>
          </a:xfrm>
          <a:prstGeom prst="rect">
            <a:avLst/>
          </a:prstGeom>
        </p:spPr>
      </p:pic>
      <p:pic>
        <p:nvPicPr>
          <p:cNvPr id="253" name="線條" descr="線條"/>
          <p:cNvPicPr>
            <a:picLocks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11677566">
            <a:off x="7488134" y="8246597"/>
            <a:ext cx="11384327" cy="215901"/>
          </a:xfrm>
          <a:prstGeom prst="rect">
            <a:avLst/>
          </a:prstGeom>
        </p:spPr>
      </p:pic>
      <p:pic>
        <p:nvPicPr>
          <p:cNvPr id="255" name="線條" descr="線條"/>
          <p:cNvPicPr>
            <a:picLocks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0707778">
            <a:off x="7671044" y="6317153"/>
            <a:ext cx="7648635" cy="215901"/>
          </a:xfrm>
          <a:prstGeom prst="rect">
            <a:avLst/>
          </a:prstGeom>
        </p:spPr>
      </p:pic>
      <p:pic>
        <p:nvPicPr>
          <p:cNvPr id="257" name="線條" descr="線條"/>
          <p:cNvPicPr>
            <a:picLocks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18460441">
            <a:off x="5722853" y="7812293"/>
            <a:ext cx="2308803" cy="215901"/>
          </a:xfrm>
          <a:prstGeom prst="rect">
            <a:avLst/>
          </a:prstGeom>
        </p:spPr>
      </p:pic>
      <p:grpSp>
        <p:nvGrpSpPr>
          <p:cNvPr id="261" name="群組"/>
          <p:cNvGrpSpPr/>
          <p:nvPr/>
        </p:nvGrpSpPr>
        <p:grpSpPr>
          <a:xfrm>
            <a:off x="5898367" y="3910224"/>
            <a:ext cx="3497809" cy="3497809"/>
            <a:chOff x="0" y="0"/>
            <a:chExt cx="3497808" cy="3497808"/>
          </a:xfrm>
        </p:grpSpPr>
        <p:sp>
          <p:nvSpPr>
            <p:cNvPr id="259" name="圓形"/>
            <p:cNvSpPr/>
            <p:nvPr/>
          </p:nvSpPr>
          <p:spPr>
            <a:xfrm>
              <a:off x="0" y="0"/>
              <a:ext cx="3497809" cy="3497809"/>
            </a:xfrm>
            <a:prstGeom prst="ellipse">
              <a:avLst/>
            </a:prstGeom>
            <a:solidFill>
              <a:schemeClr val="accent4">
                <a:hueOff val="-461056"/>
                <a:satOff val="4338"/>
                <a:lumOff val="-10225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60" name="影像" descr="影像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237852" y="230857"/>
              <a:ext cx="3022103" cy="30360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62" name="icon.png" descr="icon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500459" y="8295648"/>
            <a:ext cx="4744704" cy="4744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garmin-282119.png" descr="garmin-282119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373016" y="1925904"/>
            <a:ext cx="4367970" cy="43679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unnamed.png" descr="unnamed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5717826" y="2883656"/>
            <a:ext cx="2032626" cy="2032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影像" descr="影像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4787137" y="5088487"/>
            <a:ext cx="3894004" cy="2198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amazfit_watch_ikon.png" descr="amazfit_watch_ikon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7070748" y="8757077"/>
            <a:ext cx="3687810" cy="1758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影像" descr="影像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2630150" y="7349506"/>
            <a:ext cx="3505200" cy="92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影像" descr="影像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9164820" y="9630771"/>
            <a:ext cx="5024345" cy="32299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5"/>
          <p:cNvSpPr txBox="1"/>
          <p:nvPr/>
        </p:nvSpPr>
        <p:spPr>
          <a:xfrm>
            <a:off x="17807874" y="3793188"/>
            <a:ext cx="452146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5</a:t>
            </a:r>
          </a:p>
        </p:txBody>
      </p:sp>
      <p:sp>
        <p:nvSpPr>
          <p:cNvPr id="270" name="25"/>
          <p:cNvSpPr txBox="1"/>
          <p:nvPr/>
        </p:nvSpPr>
        <p:spPr>
          <a:xfrm>
            <a:off x="6502896" y="12802837"/>
            <a:ext cx="748717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25</a:t>
            </a:r>
          </a:p>
        </p:txBody>
      </p:sp>
      <p:sp>
        <p:nvSpPr>
          <p:cNvPr id="271" name="7"/>
          <p:cNvSpPr txBox="1"/>
          <p:nvPr/>
        </p:nvSpPr>
        <p:spPr>
          <a:xfrm>
            <a:off x="14720187" y="4444649"/>
            <a:ext cx="452146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7</a:t>
            </a:r>
          </a:p>
        </p:txBody>
      </p:sp>
      <p:sp>
        <p:nvSpPr>
          <p:cNvPr id="272" name="6"/>
          <p:cNvSpPr txBox="1"/>
          <p:nvPr/>
        </p:nvSpPr>
        <p:spPr>
          <a:xfrm>
            <a:off x="12330928" y="12211654"/>
            <a:ext cx="452146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200"/>
            </a:lvl1pPr>
          </a:lstStyle>
          <a:p>
            <a:r>
              <a:t>6</a:t>
            </a:r>
          </a:p>
        </p:txBody>
      </p:sp>
      <p:sp>
        <p:nvSpPr>
          <p:cNvPr id="273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sp>
        <p:nvSpPr>
          <p:cNvPr id="274" name="所選擇的品牌"/>
          <p:cNvSpPr txBox="1"/>
          <p:nvPr/>
        </p:nvSpPr>
        <p:spPr>
          <a:xfrm>
            <a:off x="2597360" y="1925904"/>
            <a:ext cx="35083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所選擇的品牌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77" name="線條" descr="線條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28932" y="8861282"/>
            <a:ext cx="5153458" cy="3247053"/>
          </a:xfrm>
          <a:prstGeom prst="rect">
            <a:avLst/>
          </a:prstGeom>
        </p:spPr>
      </p:pic>
      <p:pic>
        <p:nvPicPr>
          <p:cNvPr id="279" name="線條" descr="線條"/>
          <p:cNvPicPr>
            <a:picLocks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7949" y="4863679"/>
            <a:ext cx="4891870" cy="5037790"/>
          </a:xfrm>
          <a:prstGeom prst="rect">
            <a:avLst/>
          </a:prstGeom>
        </p:spPr>
      </p:pic>
      <p:grpSp>
        <p:nvGrpSpPr>
          <p:cNvPr id="285" name="群組"/>
          <p:cNvGrpSpPr/>
          <p:nvPr/>
        </p:nvGrpSpPr>
        <p:grpSpPr>
          <a:xfrm>
            <a:off x="3187843" y="2754117"/>
            <a:ext cx="3002889" cy="3002889"/>
            <a:chOff x="-184149" y="-184149"/>
            <a:chExt cx="3002888" cy="3002888"/>
          </a:xfrm>
        </p:grpSpPr>
        <p:grpSp>
          <p:nvGrpSpPr>
            <p:cNvPr id="283" name="圓形"/>
            <p:cNvGrpSpPr/>
            <p:nvPr/>
          </p:nvGrpSpPr>
          <p:grpSpPr>
            <a:xfrm>
              <a:off x="-184150" y="-184150"/>
              <a:ext cx="3002889" cy="3002889"/>
              <a:chOff x="0" y="0"/>
              <a:chExt cx="3002888" cy="3002888"/>
            </a:xfrm>
          </p:grpSpPr>
          <p:sp>
            <p:nvSpPr>
              <p:cNvPr id="282" name="圓形"/>
              <p:cNvSpPr/>
              <p:nvPr/>
            </p:nvSpPr>
            <p:spPr>
              <a:xfrm>
                <a:off x="184150" y="184150"/>
                <a:ext cx="2634589" cy="263458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281" name="圓形" descr="圓形"/>
              <p:cNvPicPr>
                <a:picLocks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3002889" cy="3002889"/>
              </a:xfrm>
              <a:prstGeom prst="rect">
                <a:avLst/>
              </a:prstGeom>
              <a:effectLst/>
            </p:spPr>
          </p:pic>
        </p:grpSp>
        <p:pic>
          <p:nvPicPr>
            <p:cNvPr id="284" name="aca5251531f72b0a8f61ec6367551cef0cbe85fa353d-9b43CQ.png" descr="aca5251531f72b0a8f61ec6367551cef0cbe85fa353d-9b43CQ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15498" y="315498"/>
              <a:ext cx="2003593" cy="20035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286" name="2D 圓餅圖"/>
          <p:cNvGraphicFramePr/>
          <p:nvPr/>
        </p:nvGraphicFramePr>
        <p:xfrm>
          <a:off x="8725320" y="5407469"/>
          <a:ext cx="6933360" cy="6933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87" name="2D 圓餅圖"/>
          <p:cNvGraphicFramePr/>
          <p:nvPr/>
        </p:nvGraphicFramePr>
        <p:xfrm>
          <a:off x="16260491" y="3350173"/>
          <a:ext cx="3036094" cy="3036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8" name="女性"/>
          <p:cNvSpPr txBox="1"/>
          <p:nvPr/>
        </p:nvSpPr>
        <p:spPr>
          <a:xfrm>
            <a:off x="17294350" y="3898374"/>
            <a:ext cx="968376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女性</a:t>
            </a:r>
          </a:p>
        </p:txBody>
      </p:sp>
      <p:graphicFrame>
        <p:nvGraphicFramePr>
          <p:cNvPr id="289" name="2D 圓餅圖"/>
          <p:cNvGraphicFramePr/>
          <p:nvPr/>
        </p:nvGraphicFramePr>
        <p:xfrm>
          <a:off x="4759798" y="10286909"/>
          <a:ext cx="3036095" cy="3036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90" name="女性"/>
          <p:cNvSpPr txBox="1"/>
          <p:nvPr/>
        </p:nvSpPr>
        <p:spPr>
          <a:xfrm>
            <a:off x="6376006" y="10998917"/>
            <a:ext cx="968376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女性</a:t>
            </a:r>
          </a:p>
        </p:txBody>
      </p:sp>
      <p:sp>
        <p:nvSpPr>
          <p:cNvPr id="291" name="男性"/>
          <p:cNvSpPr txBox="1"/>
          <p:nvPr/>
        </p:nvSpPr>
        <p:spPr>
          <a:xfrm>
            <a:off x="5169141" y="10998917"/>
            <a:ext cx="968376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男性</a:t>
            </a:r>
          </a:p>
        </p:txBody>
      </p:sp>
      <p:sp>
        <p:nvSpPr>
          <p:cNvPr id="292" name="功能性"/>
          <p:cNvSpPr txBox="1"/>
          <p:nvPr/>
        </p:nvSpPr>
        <p:spPr>
          <a:xfrm>
            <a:off x="9369477" y="9374243"/>
            <a:ext cx="1908176" cy="96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r>
              <a:t>功能性</a:t>
            </a:r>
          </a:p>
        </p:txBody>
      </p:sp>
      <p:sp>
        <p:nvSpPr>
          <p:cNvPr id="293" name="產品外觀"/>
          <p:cNvSpPr txBox="1"/>
          <p:nvPr/>
        </p:nvSpPr>
        <p:spPr>
          <a:xfrm>
            <a:off x="11123272" y="5593250"/>
            <a:ext cx="2492376" cy="96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r>
              <a:t>產品外觀</a:t>
            </a:r>
          </a:p>
        </p:txBody>
      </p:sp>
      <p:sp>
        <p:nvSpPr>
          <p:cNvPr id="294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sp>
        <p:nvSpPr>
          <p:cNvPr id="295" name="對於產品的選擇"/>
          <p:cNvSpPr txBox="1"/>
          <p:nvPr/>
        </p:nvSpPr>
        <p:spPr>
          <a:xfrm>
            <a:off x="2597360" y="1925904"/>
            <a:ext cx="40671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對於產品的選擇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301" name="群組"/>
          <p:cNvGrpSpPr/>
          <p:nvPr/>
        </p:nvGrpSpPr>
        <p:grpSpPr>
          <a:xfrm>
            <a:off x="2978430" y="4363601"/>
            <a:ext cx="18427140" cy="4988798"/>
            <a:chOff x="0" y="0"/>
            <a:chExt cx="18427138" cy="4988796"/>
          </a:xfrm>
        </p:grpSpPr>
        <p:pic>
          <p:nvPicPr>
            <p:cNvPr id="298" name="44756368_358292654915160_8491398911129288704_n.png" descr="44756368_358292654915160_8491398911129288704_n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284575" cy="49887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9" name="44728480_317828379018609_7965071877552996352_n.png" descr="44728480_317828379018609_7965071877552996352_n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658619" y="29577"/>
              <a:ext cx="5225420" cy="49296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0" name="44679970_1983253668421171_1435235481703940096_n.png" descr="44679970_1983253668421171_1435235481703940096_n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3773557" y="197185"/>
              <a:ext cx="4653582" cy="4594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302" name="2D 折線圖"/>
          <p:cNvGraphicFramePr/>
          <p:nvPr/>
        </p:nvGraphicFramePr>
        <p:xfrm>
          <a:off x="1978360" y="9230330"/>
          <a:ext cx="5845664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3" name="2D 折線圖"/>
          <p:cNvGraphicFramePr/>
          <p:nvPr/>
        </p:nvGraphicFramePr>
        <p:xfrm>
          <a:off x="8990816" y="912888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4" name="2D 折線圖"/>
          <p:cNvGraphicFramePr/>
          <p:nvPr/>
        </p:nvGraphicFramePr>
        <p:xfrm>
          <a:off x="15693540" y="902744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5" name="您對下圖外觀的滿意程度"/>
          <p:cNvSpPr txBox="1"/>
          <p:nvPr/>
        </p:nvSpPr>
        <p:spPr>
          <a:xfrm>
            <a:off x="2691132" y="2979442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您對下圖外觀的滿意程度</a:t>
            </a:r>
          </a:p>
        </p:txBody>
      </p:sp>
      <p:sp>
        <p:nvSpPr>
          <p:cNvPr id="306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312" name="群組"/>
          <p:cNvGrpSpPr/>
          <p:nvPr/>
        </p:nvGrpSpPr>
        <p:grpSpPr>
          <a:xfrm>
            <a:off x="2978430" y="4363601"/>
            <a:ext cx="18427140" cy="4988798"/>
            <a:chOff x="0" y="0"/>
            <a:chExt cx="18427138" cy="4988796"/>
          </a:xfrm>
        </p:grpSpPr>
        <p:pic>
          <p:nvPicPr>
            <p:cNvPr id="309" name="44756368_358292654915160_8491398911129288704_n.png" descr="44756368_358292654915160_8491398911129288704_n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284575" cy="49887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0" name="44728480_317828379018609_7965071877552996352_n.png" descr="44728480_317828379018609_7965071877552996352_n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658619" y="29577"/>
              <a:ext cx="5225420" cy="49296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1" name="44679970_1983253668421171_1435235481703940096_n.png" descr="44679970_1983253668421171_1435235481703940096_n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3773557" y="197185"/>
              <a:ext cx="4653582" cy="4594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313" name="2D 折線圖"/>
          <p:cNvGraphicFramePr/>
          <p:nvPr/>
        </p:nvGraphicFramePr>
        <p:xfrm>
          <a:off x="1978360" y="9230330"/>
          <a:ext cx="5845664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4" name="2D 折線圖"/>
          <p:cNvGraphicFramePr/>
          <p:nvPr/>
        </p:nvGraphicFramePr>
        <p:xfrm>
          <a:off x="8990816" y="912888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5" name="2D 折線圖"/>
          <p:cNvGraphicFramePr/>
          <p:nvPr/>
        </p:nvGraphicFramePr>
        <p:xfrm>
          <a:off x="15693540" y="902744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6" name="在上述三個外觀中，您最喜歡哪種外觀?"/>
          <p:cNvSpPr txBox="1"/>
          <p:nvPr/>
        </p:nvSpPr>
        <p:spPr>
          <a:xfrm>
            <a:off x="2644330" y="2913467"/>
            <a:ext cx="9965868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在上述三個外觀中，您最喜歡哪種外觀?</a:t>
            </a:r>
          </a:p>
        </p:txBody>
      </p:sp>
      <p:sp>
        <p:nvSpPr>
          <p:cNvPr id="317" name="皇冠"/>
          <p:cNvSpPr/>
          <p:nvPr/>
        </p:nvSpPr>
        <p:spPr>
          <a:xfrm>
            <a:off x="18221940" y="2855007"/>
            <a:ext cx="1345569" cy="11841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206" y="0"/>
                  <a:pt x="9725" y="547"/>
                  <a:pt x="9725" y="1222"/>
                </a:cubicBezTo>
                <a:cubicBezTo>
                  <a:pt x="9725" y="1729"/>
                  <a:pt x="9996" y="2163"/>
                  <a:pt x="10383" y="2348"/>
                </a:cubicBezTo>
                <a:lnTo>
                  <a:pt x="7244" y="10951"/>
                </a:lnTo>
                <a:cubicBezTo>
                  <a:pt x="7156" y="11239"/>
                  <a:pt x="6826" y="11311"/>
                  <a:pt x="6648" y="11081"/>
                </a:cubicBezTo>
                <a:lnTo>
                  <a:pt x="1891" y="6438"/>
                </a:lnTo>
                <a:cubicBezTo>
                  <a:pt x="2053" y="6225"/>
                  <a:pt x="2151" y="5946"/>
                  <a:pt x="2151" y="5642"/>
                </a:cubicBezTo>
                <a:cubicBezTo>
                  <a:pt x="2151" y="4967"/>
                  <a:pt x="1669" y="4420"/>
                  <a:pt x="1075" y="4420"/>
                </a:cubicBezTo>
                <a:cubicBezTo>
                  <a:pt x="482" y="4420"/>
                  <a:pt x="0" y="4967"/>
                  <a:pt x="0" y="5642"/>
                </a:cubicBezTo>
                <a:cubicBezTo>
                  <a:pt x="0" y="6317"/>
                  <a:pt x="482" y="6864"/>
                  <a:pt x="1075" y="6864"/>
                </a:cubicBezTo>
                <a:cubicBezTo>
                  <a:pt x="1126" y="6864"/>
                  <a:pt x="1174" y="6858"/>
                  <a:pt x="1222" y="6851"/>
                </a:cubicBezTo>
                <a:lnTo>
                  <a:pt x="2938" y="20929"/>
                </a:lnTo>
                <a:cubicBezTo>
                  <a:pt x="2985" y="21312"/>
                  <a:pt x="3274" y="21600"/>
                  <a:pt x="3615" y="21600"/>
                </a:cubicBezTo>
                <a:lnTo>
                  <a:pt x="17987" y="21600"/>
                </a:lnTo>
                <a:cubicBezTo>
                  <a:pt x="18327" y="21600"/>
                  <a:pt x="18616" y="21316"/>
                  <a:pt x="18664" y="20934"/>
                </a:cubicBezTo>
                <a:lnTo>
                  <a:pt x="20378" y="6851"/>
                </a:lnTo>
                <a:cubicBezTo>
                  <a:pt x="20426" y="6858"/>
                  <a:pt x="20475" y="6864"/>
                  <a:pt x="20525" y="6864"/>
                </a:cubicBezTo>
                <a:cubicBezTo>
                  <a:pt x="21118" y="6864"/>
                  <a:pt x="21600" y="6317"/>
                  <a:pt x="21600" y="5642"/>
                </a:cubicBezTo>
                <a:cubicBezTo>
                  <a:pt x="21600" y="4967"/>
                  <a:pt x="21118" y="4420"/>
                  <a:pt x="20525" y="4420"/>
                </a:cubicBezTo>
                <a:cubicBezTo>
                  <a:pt x="19931" y="4420"/>
                  <a:pt x="19449" y="4967"/>
                  <a:pt x="19449" y="5642"/>
                </a:cubicBezTo>
                <a:cubicBezTo>
                  <a:pt x="19449" y="5953"/>
                  <a:pt x="19551" y="6234"/>
                  <a:pt x="19719" y="6450"/>
                </a:cubicBezTo>
                <a:lnTo>
                  <a:pt x="14952" y="11081"/>
                </a:lnTo>
                <a:cubicBezTo>
                  <a:pt x="14772" y="11298"/>
                  <a:pt x="14445" y="11230"/>
                  <a:pt x="14356" y="10951"/>
                </a:cubicBezTo>
                <a:lnTo>
                  <a:pt x="11200" y="2356"/>
                </a:lnTo>
                <a:cubicBezTo>
                  <a:pt x="11596" y="2176"/>
                  <a:pt x="11875" y="1736"/>
                  <a:pt x="11875" y="1222"/>
                </a:cubicBezTo>
                <a:cubicBezTo>
                  <a:pt x="11875" y="547"/>
                  <a:pt x="11394" y="0"/>
                  <a:pt x="10800" y="0"/>
                </a:cubicBez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8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1" name="您對下圖顯示方式的滿意程度"/>
          <p:cNvSpPr txBox="1"/>
          <p:nvPr/>
        </p:nvSpPr>
        <p:spPr>
          <a:xfrm>
            <a:off x="2644330" y="2913467"/>
            <a:ext cx="74199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您對下圖顯示方式的滿意程度</a:t>
            </a:r>
          </a:p>
        </p:txBody>
      </p:sp>
      <p:pic>
        <p:nvPicPr>
          <p:cNvPr id="322" name="44670750_744078875953145_196776542301323264_n.png" descr="44670750_744078875953145_196776542301323264_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4938" y="4913090"/>
            <a:ext cx="4579573" cy="43633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44726408_558548804574497_1997605876533297152_n.png" descr="44726408_558548804574497_1997605876533297152_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02214" y="4913090"/>
            <a:ext cx="4579572" cy="43633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44877144_393206001218073_662648677076041728_n.png" descr="44877144_393206001218073_662648677076041728_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89757" y="4913090"/>
            <a:ext cx="4579573" cy="436336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25" name="2D 折線圖"/>
          <p:cNvGraphicFramePr/>
          <p:nvPr/>
        </p:nvGraphicFramePr>
        <p:xfrm>
          <a:off x="1978360" y="9230330"/>
          <a:ext cx="5845664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26" name="2D 折線圖"/>
          <p:cNvGraphicFramePr/>
          <p:nvPr/>
        </p:nvGraphicFramePr>
        <p:xfrm>
          <a:off x="8990816" y="912888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7" name="2D 折線圖"/>
          <p:cNvGraphicFramePr/>
          <p:nvPr/>
        </p:nvGraphicFramePr>
        <p:xfrm>
          <a:off x="15693540" y="902744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28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1" name="在上述三個外觀中，您最喜歡下列哪一種顯示方式"/>
          <p:cNvSpPr txBox="1"/>
          <p:nvPr/>
        </p:nvSpPr>
        <p:spPr>
          <a:xfrm>
            <a:off x="2644330" y="2913467"/>
            <a:ext cx="12449176" cy="93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在上述三個外觀中，您最喜歡下列哪一種顯示方式</a:t>
            </a:r>
          </a:p>
        </p:txBody>
      </p:sp>
      <p:pic>
        <p:nvPicPr>
          <p:cNvPr id="332" name="44670750_744078875953145_196776542301323264_n.png" descr="44670750_744078875953145_196776542301323264_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04938" y="4913090"/>
            <a:ext cx="4579573" cy="43633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44726408_558548804574497_1997605876533297152_n.png" descr="44726408_558548804574497_1997605876533297152_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02214" y="4913090"/>
            <a:ext cx="4579572" cy="43633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44877144_393206001218073_662648677076041728_n.png" descr="44877144_393206001218073_662648677076041728_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89757" y="4913090"/>
            <a:ext cx="4579573" cy="436336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35" name="2D 折線圖"/>
          <p:cNvGraphicFramePr/>
          <p:nvPr/>
        </p:nvGraphicFramePr>
        <p:xfrm>
          <a:off x="1978360" y="9230330"/>
          <a:ext cx="5845664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6" name="2D 折線圖"/>
          <p:cNvGraphicFramePr/>
          <p:nvPr/>
        </p:nvGraphicFramePr>
        <p:xfrm>
          <a:off x="8990816" y="912888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37" name="2D 折線圖"/>
          <p:cNvGraphicFramePr/>
          <p:nvPr/>
        </p:nvGraphicFramePr>
        <p:xfrm>
          <a:off x="15693540" y="9027449"/>
          <a:ext cx="5845665" cy="318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8" name="皇冠"/>
          <p:cNvSpPr/>
          <p:nvPr/>
        </p:nvSpPr>
        <p:spPr>
          <a:xfrm>
            <a:off x="18221940" y="3323030"/>
            <a:ext cx="1345569" cy="11841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206" y="0"/>
                  <a:pt x="9725" y="547"/>
                  <a:pt x="9725" y="1222"/>
                </a:cubicBezTo>
                <a:cubicBezTo>
                  <a:pt x="9725" y="1729"/>
                  <a:pt x="9996" y="2163"/>
                  <a:pt x="10383" y="2348"/>
                </a:cubicBezTo>
                <a:lnTo>
                  <a:pt x="7244" y="10951"/>
                </a:lnTo>
                <a:cubicBezTo>
                  <a:pt x="7156" y="11239"/>
                  <a:pt x="6826" y="11311"/>
                  <a:pt x="6648" y="11081"/>
                </a:cubicBezTo>
                <a:lnTo>
                  <a:pt x="1891" y="6438"/>
                </a:lnTo>
                <a:cubicBezTo>
                  <a:pt x="2053" y="6225"/>
                  <a:pt x="2151" y="5946"/>
                  <a:pt x="2151" y="5642"/>
                </a:cubicBezTo>
                <a:cubicBezTo>
                  <a:pt x="2151" y="4967"/>
                  <a:pt x="1669" y="4420"/>
                  <a:pt x="1075" y="4420"/>
                </a:cubicBezTo>
                <a:cubicBezTo>
                  <a:pt x="482" y="4420"/>
                  <a:pt x="0" y="4967"/>
                  <a:pt x="0" y="5642"/>
                </a:cubicBezTo>
                <a:cubicBezTo>
                  <a:pt x="0" y="6317"/>
                  <a:pt x="482" y="6864"/>
                  <a:pt x="1075" y="6864"/>
                </a:cubicBezTo>
                <a:cubicBezTo>
                  <a:pt x="1126" y="6864"/>
                  <a:pt x="1174" y="6858"/>
                  <a:pt x="1222" y="6851"/>
                </a:cubicBezTo>
                <a:lnTo>
                  <a:pt x="2938" y="20929"/>
                </a:lnTo>
                <a:cubicBezTo>
                  <a:pt x="2985" y="21312"/>
                  <a:pt x="3274" y="21600"/>
                  <a:pt x="3615" y="21600"/>
                </a:cubicBezTo>
                <a:lnTo>
                  <a:pt x="17987" y="21600"/>
                </a:lnTo>
                <a:cubicBezTo>
                  <a:pt x="18327" y="21600"/>
                  <a:pt x="18616" y="21316"/>
                  <a:pt x="18664" y="20934"/>
                </a:cubicBezTo>
                <a:lnTo>
                  <a:pt x="20378" y="6851"/>
                </a:lnTo>
                <a:cubicBezTo>
                  <a:pt x="20426" y="6858"/>
                  <a:pt x="20475" y="6864"/>
                  <a:pt x="20525" y="6864"/>
                </a:cubicBezTo>
                <a:cubicBezTo>
                  <a:pt x="21118" y="6864"/>
                  <a:pt x="21600" y="6317"/>
                  <a:pt x="21600" y="5642"/>
                </a:cubicBezTo>
                <a:cubicBezTo>
                  <a:pt x="21600" y="4967"/>
                  <a:pt x="21118" y="4420"/>
                  <a:pt x="20525" y="4420"/>
                </a:cubicBezTo>
                <a:cubicBezTo>
                  <a:pt x="19931" y="4420"/>
                  <a:pt x="19449" y="4967"/>
                  <a:pt x="19449" y="5642"/>
                </a:cubicBezTo>
                <a:cubicBezTo>
                  <a:pt x="19449" y="5953"/>
                  <a:pt x="19551" y="6234"/>
                  <a:pt x="19719" y="6450"/>
                </a:cubicBezTo>
                <a:lnTo>
                  <a:pt x="14952" y="11081"/>
                </a:lnTo>
                <a:cubicBezTo>
                  <a:pt x="14772" y="11298"/>
                  <a:pt x="14445" y="11230"/>
                  <a:pt x="14356" y="10951"/>
                </a:cubicBezTo>
                <a:lnTo>
                  <a:pt x="11200" y="2356"/>
                </a:lnTo>
                <a:cubicBezTo>
                  <a:pt x="11596" y="2176"/>
                  <a:pt x="11875" y="1736"/>
                  <a:pt x="11875" y="1222"/>
                </a:cubicBezTo>
                <a:cubicBezTo>
                  <a:pt x="11875" y="547"/>
                  <a:pt x="11394" y="0"/>
                  <a:pt x="10800" y="0"/>
                </a:cubicBez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9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403" name="群組"/>
          <p:cNvGrpSpPr/>
          <p:nvPr/>
        </p:nvGrpSpPr>
        <p:grpSpPr>
          <a:xfrm>
            <a:off x="300367" y="1868728"/>
            <a:ext cx="18668543" cy="11320021"/>
            <a:chOff x="0" y="0"/>
            <a:chExt cx="18668541" cy="11320020"/>
          </a:xfrm>
        </p:grpSpPr>
        <p:grpSp>
          <p:nvGrpSpPr>
            <p:cNvPr id="356" name="群組"/>
            <p:cNvGrpSpPr/>
            <p:nvPr/>
          </p:nvGrpSpPr>
          <p:grpSpPr>
            <a:xfrm>
              <a:off x="1665117" y="740759"/>
              <a:ext cx="15310870" cy="10499122"/>
              <a:chOff x="0" y="0"/>
              <a:chExt cx="15310868" cy="10499121"/>
            </a:xfrm>
          </p:grpSpPr>
          <p:sp>
            <p:nvSpPr>
              <p:cNvPr id="342" name="線條"/>
              <p:cNvSpPr/>
              <p:nvPr/>
            </p:nvSpPr>
            <p:spPr>
              <a:xfrm>
                <a:off x="7944993" y="-1"/>
                <a:ext cx="1929884" cy="1246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9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3" name="線條"/>
              <p:cNvSpPr/>
              <p:nvPr/>
            </p:nvSpPr>
            <p:spPr>
              <a:xfrm>
                <a:off x="9521719" y="739050"/>
                <a:ext cx="2288098" cy="93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7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4" name="線條"/>
              <p:cNvSpPr/>
              <p:nvPr/>
            </p:nvSpPr>
            <p:spPr>
              <a:xfrm>
                <a:off x="10827824" y="1819115"/>
                <a:ext cx="3511012" cy="643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99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5" name="線條"/>
              <p:cNvSpPr/>
              <p:nvPr/>
            </p:nvSpPr>
            <p:spPr>
              <a:xfrm flipV="1">
                <a:off x="11671469" y="3829387"/>
                <a:ext cx="337802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6" name="線條"/>
              <p:cNvSpPr/>
              <p:nvPr/>
            </p:nvSpPr>
            <p:spPr>
              <a:xfrm flipV="1">
                <a:off x="11944498" y="5416492"/>
                <a:ext cx="336637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7" name="線條"/>
              <p:cNvSpPr/>
              <p:nvPr/>
            </p:nvSpPr>
            <p:spPr>
              <a:xfrm>
                <a:off x="11766742" y="6982930"/>
                <a:ext cx="3138240" cy="41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0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8" name="線條"/>
              <p:cNvSpPr/>
              <p:nvPr/>
            </p:nvSpPr>
            <p:spPr>
              <a:xfrm>
                <a:off x="11025876" y="8277174"/>
                <a:ext cx="3334377" cy="56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0333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9" name="線條"/>
              <p:cNvSpPr/>
              <p:nvPr/>
            </p:nvSpPr>
            <p:spPr>
              <a:xfrm>
                <a:off x="9346744" y="9120355"/>
                <a:ext cx="5809062" cy="88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8704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0" name="線條"/>
              <p:cNvSpPr/>
              <p:nvPr/>
            </p:nvSpPr>
            <p:spPr>
              <a:xfrm>
                <a:off x="1707794" y="1152485"/>
                <a:ext cx="2961970" cy="1903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235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1" name="線條"/>
              <p:cNvSpPr/>
              <p:nvPr/>
            </p:nvSpPr>
            <p:spPr>
              <a:xfrm>
                <a:off x="0" y="2613548"/>
                <a:ext cx="4026211" cy="1965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180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2" name="線條"/>
              <p:cNvSpPr/>
              <p:nvPr/>
            </p:nvSpPr>
            <p:spPr>
              <a:xfrm flipH="1">
                <a:off x="220941" y="6187478"/>
                <a:ext cx="376161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3" name="線條"/>
              <p:cNvSpPr/>
              <p:nvPr/>
            </p:nvSpPr>
            <p:spPr>
              <a:xfrm>
                <a:off x="1158835" y="7709894"/>
                <a:ext cx="3541884" cy="842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53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4" name="線條"/>
              <p:cNvSpPr/>
              <p:nvPr/>
            </p:nvSpPr>
            <p:spPr>
              <a:xfrm>
                <a:off x="2572343" y="9585968"/>
                <a:ext cx="4965147" cy="9131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32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5" name="線條"/>
              <p:cNvSpPr/>
              <p:nvPr/>
            </p:nvSpPr>
            <p:spPr>
              <a:xfrm>
                <a:off x="1711293" y="9003396"/>
                <a:ext cx="4184967" cy="708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20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357" name="圓形"/>
            <p:cNvSpPr/>
            <p:nvPr/>
          </p:nvSpPr>
          <p:spPr>
            <a:xfrm>
              <a:off x="4641548" y="1137241"/>
              <a:ext cx="10039435" cy="1003943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358" name="影像" descr="影像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437217" y="1646301"/>
              <a:ext cx="1461922" cy="14184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9" name="影像" descr="影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921136" y="6183064"/>
              <a:ext cx="1464351" cy="1502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0" name="unnamed-2.png" descr="unnamed-2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85511" y="3053721"/>
              <a:ext cx="1464351" cy="1464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1" name="life_features_sleep.png" descr="life_features_sleep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51532" b="28119"/>
            <a:stretch>
              <a:fillRect/>
            </a:stretch>
          </p:blipFill>
          <p:spPr>
            <a:xfrm>
              <a:off x="9357132" y="8697207"/>
              <a:ext cx="2815289" cy="2087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2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72087" y="5424783"/>
              <a:ext cx="1506899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3" name="影像" descr="影像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84809" y="4495338"/>
              <a:ext cx="1537004" cy="1537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66" name="群組"/>
            <p:cNvGrpSpPr/>
            <p:nvPr/>
          </p:nvGrpSpPr>
          <p:grpSpPr>
            <a:xfrm>
              <a:off x="12556976" y="7056281"/>
              <a:ext cx="1464351" cy="1464351"/>
              <a:chOff x="0" y="0"/>
              <a:chExt cx="1464350" cy="1464350"/>
            </a:xfrm>
          </p:grpSpPr>
          <p:sp>
            <p:nvSpPr>
              <p:cNvPr id="364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65" name="icon-mikio-07.png" descr="icon-mikio-07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318" y="220783"/>
                <a:ext cx="1363713" cy="10227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67" name="10-11-00-91.png" descr="10-11-00-91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2520648" y="3774734"/>
              <a:ext cx="1537004" cy="1552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70" name="群組"/>
            <p:cNvGrpSpPr/>
            <p:nvPr/>
          </p:nvGrpSpPr>
          <p:grpSpPr>
            <a:xfrm>
              <a:off x="5642442" y="7681865"/>
              <a:ext cx="1464352" cy="1464351"/>
              <a:chOff x="0" y="0"/>
              <a:chExt cx="1464350" cy="1464350"/>
            </a:xfrm>
          </p:grpSpPr>
          <p:sp>
            <p:nvSpPr>
              <p:cNvPr id="368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chemeClr val="accent1">
                  <a:lumOff val="-1357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69" name="gps_PNG1.png" descr="gps_PNG1.png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363826" y="223833"/>
                <a:ext cx="736698" cy="10166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71" name="影像" descr="影像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1719683" y="2418347"/>
              <a:ext cx="1464352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74" name="群組"/>
            <p:cNvGrpSpPr/>
            <p:nvPr/>
          </p:nvGrpSpPr>
          <p:grpSpPr>
            <a:xfrm>
              <a:off x="6767234" y="8882864"/>
              <a:ext cx="1538986" cy="1538986"/>
              <a:chOff x="0" y="0"/>
              <a:chExt cx="1538984" cy="1538984"/>
            </a:xfrm>
          </p:grpSpPr>
          <p:sp>
            <p:nvSpPr>
              <p:cNvPr id="372" name="群組"/>
              <p:cNvSpPr/>
              <p:nvPr/>
            </p:nvSpPr>
            <p:spPr>
              <a:xfrm>
                <a:off x="0" y="0"/>
                <a:ext cx="1538985" cy="1538985"/>
              </a:xfrm>
              <a:prstGeom prst="ellipse">
                <a:avLst/>
              </a:prstGeom>
              <a:solidFill>
                <a:schemeClr val="accent4">
                  <a:hueOff val="-1081314"/>
                  <a:satOff val="4338"/>
                  <a:lumOff val="-893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73" name="影像" descr="影像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107915" y="122738"/>
                <a:ext cx="1123436" cy="12935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77" name="群組"/>
            <p:cNvGrpSpPr/>
            <p:nvPr/>
          </p:nvGrpSpPr>
          <p:grpSpPr>
            <a:xfrm>
              <a:off x="8478370" y="9429700"/>
              <a:ext cx="1537004" cy="1537004"/>
              <a:chOff x="0" y="0"/>
              <a:chExt cx="1537002" cy="1537002"/>
            </a:xfrm>
          </p:grpSpPr>
          <p:sp>
            <p:nvSpPr>
              <p:cNvPr id="375" name="群組"/>
              <p:cNvSpPr/>
              <p:nvPr/>
            </p:nvSpPr>
            <p:spPr>
              <a:xfrm>
                <a:off x="0" y="0"/>
                <a:ext cx="1537003" cy="1537003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76" name="cardpayment_tarjet_3771.png" descr="cardpayment_tarjet_3771.png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109182" y="109183"/>
                <a:ext cx="1318637" cy="13186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78" name="影像" descr="影像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1572213" y="8181095"/>
              <a:ext cx="1733983" cy="1718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9" name="影像" descr="影像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905764" y="1247332"/>
              <a:ext cx="1511004" cy="1538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0" name="圓形"/>
            <p:cNvSpPr/>
            <p:nvPr/>
          </p:nvSpPr>
          <p:spPr>
            <a:xfrm>
              <a:off x="6396265" y="6610889"/>
              <a:ext cx="492428" cy="49242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387" name="群組"/>
            <p:cNvGrpSpPr/>
            <p:nvPr/>
          </p:nvGrpSpPr>
          <p:grpSpPr>
            <a:xfrm rot="180000">
              <a:off x="6653865" y="1469283"/>
              <a:ext cx="1917567" cy="1325513"/>
              <a:chOff x="0" y="0"/>
              <a:chExt cx="1917566" cy="1325512"/>
            </a:xfrm>
          </p:grpSpPr>
          <p:sp>
            <p:nvSpPr>
              <p:cNvPr id="381" name="圓形"/>
              <p:cNvSpPr/>
              <p:nvPr/>
            </p:nvSpPr>
            <p:spPr>
              <a:xfrm rot="21600000">
                <a:off x="-1" y="1065566"/>
                <a:ext cx="259947" cy="25994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2" name="圓形"/>
              <p:cNvSpPr/>
              <p:nvPr/>
            </p:nvSpPr>
            <p:spPr>
              <a:xfrm rot="21600000">
                <a:off x="316339" y="781600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3" name="圓形"/>
              <p:cNvSpPr/>
              <p:nvPr/>
            </p:nvSpPr>
            <p:spPr>
              <a:xfrm rot="21600000">
                <a:off x="645333" y="544104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4" name="圓形"/>
              <p:cNvSpPr/>
              <p:nvPr/>
            </p:nvSpPr>
            <p:spPr>
              <a:xfrm rot="21600000">
                <a:off x="986980" y="316339"/>
                <a:ext cx="259946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5" name="圓形"/>
              <p:cNvSpPr/>
              <p:nvPr/>
            </p:nvSpPr>
            <p:spPr>
              <a:xfrm rot="21600000">
                <a:off x="1303320" y="139189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6" name="圓形"/>
              <p:cNvSpPr/>
              <p:nvPr/>
            </p:nvSpPr>
            <p:spPr>
              <a:xfrm rot="21600000">
                <a:off x="1657620" y="-1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388" name="Nike+"/>
            <p:cNvSpPr txBox="1"/>
            <p:nvPr/>
          </p:nvSpPr>
          <p:spPr>
            <a:xfrm>
              <a:off x="8136190" y="5437057"/>
              <a:ext cx="3050150" cy="1439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b">
              <a:noAutofit/>
            </a:bodyPr>
            <a:lstStyle>
              <a:lvl1pPr>
                <a:defRPr sz="8800" b="0">
                  <a:solidFill>
                    <a:srgbClr val="FFFFFF"/>
                  </a:solidFill>
                </a:defRPr>
              </a:lvl1pPr>
            </a:lstStyle>
            <a:p>
              <a:r>
                <a:t>Nike+</a:t>
              </a:r>
            </a:p>
          </p:txBody>
        </p:sp>
        <p:sp>
          <p:nvSpPr>
            <p:cNvPr id="389" name="運動數據 , 5"/>
            <p:cNvSpPr txBox="1"/>
            <p:nvPr/>
          </p:nvSpPr>
          <p:spPr>
            <a:xfrm>
              <a:off x="0" y="617454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運動數據 , 5</a:t>
              </a:r>
            </a:p>
          </p:txBody>
        </p:sp>
        <p:sp>
          <p:nvSpPr>
            <p:cNvPr id="390" name="鬧鐘 , 3"/>
            <p:cNvSpPr txBox="1"/>
            <p:nvPr/>
          </p:nvSpPr>
          <p:spPr>
            <a:xfrm>
              <a:off x="2914388" y="1089389"/>
              <a:ext cx="152766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鬧鐘 , 3</a:t>
              </a:r>
            </a:p>
          </p:txBody>
        </p:sp>
        <p:sp>
          <p:nvSpPr>
            <p:cNvPr id="391" name="睡眠監測 , 4"/>
            <p:cNvSpPr txBox="1"/>
            <p:nvPr/>
          </p:nvSpPr>
          <p:spPr>
            <a:xfrm>
              <a:off x="15907939" y="10075920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睡眠監測 , 4</a:t>
              </a:r>
            </a:p>
          </p:txBody>
        </p:sp>
        <p:sp>
          <p:nvSpPr>
            <p:cNvPr id="392" name="天氣預報 , 3"/>
            <p:cNvSpPr txBox="1"/>
            <p:nvPr/>
          </p:nvSpPr>
          <p:spPr>
            <a:xfrm>
              <a:off x="16331043" y="5336974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天氣預報 , 3</a:t>
              </a:r>
            </a:p>
          </p:txBody>
        </p:sp>
        <p:sp>
          <p:nvSpPr>
            <p:cNvPr id="393" name="理財(記帳) , 2"/>
            <p:cNvSpPr txBox="1"/>
            <p:nvPr/>
          </p:nvSpPr>
          <p:spPr>
            <a:xfrm>
              <a:off x="534134" y="2489071"/>
              <a:ext cx="257720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理財(記帳) , 2</a:t>
              </a:r>
            </a:p>
          </p:txBody>
        </p:sp>
        <p:sp>
          <p:nvSpPr>
            <p:cNvPr id="394" name="急救SOS , 5"/>
            <p:cNvSpPr txBox="1"/>
            <p:nvPr/>
          </p:nvSpPr>
          <p:spPr>
            <a:xfrm>
              <a:off x="12921657" y="755466"/>
              <a:ext cx="2368272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急救SOS , 5</a:t>
              </a:r>
            </a:p>
          </p:txBody>
        </p:sp>
        <p:sp>
          <p:nvSpPr>
            <p:cNvPr id="395" name="生理警告 , 5"/>
            <p:cNvSpPr txBox="1"/>
            <p:nvPr/>
          </p:nvSpPr>
          <p:spPr>
            <a:xfrm>
              <a:off x="15595551" y="7469331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生理警告 , 5</a:t>
              </a:r>
            </a:p>
          </p:txBody>
        </p:sp>
        <p:sp>
          <p:nvSpPr>
            <p:cNvPr id="396" name="通訊功能 , 3"/>
            <p:cNvSpPr txBox="1"/>
            <p:nvPr/>
          </p:nvSpPr>
          <p:spPr>
            <a:xfrm>
              <a:off x="16211187" y="3766936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通訊功能 , 3</a:t>
              </a:r>
            </a:p>
          </p:txBody>
        </p:sp>
        <p:sp>
          <p:nvSpPr>
            <p:cNvPr id="397" name="心率監測 , 4"/>
            <p:cNvSpPr txBox="1"/>
            <p:nvPr/>
          </p:nvSpPr>
          <p:spPr>
            <a:xfrm>
              <a:off x="10613200" y="0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心率監測 , 4</a:t>
              </a:r>
            </a:p>
          </p:txBody>
        </p:sp>
        <p:sp>
          <p:nvSpPr>
            <p:cNvPr id="398" name="GPS , 5"/>
            <p:cNvSpPr txBox="1"/>
            <p:nvPr/>
          </p:nvSpPr>
          <p:spPr>
            <a:xfrm>
              <a:off x="2164454" y="8559820"/>
              <a:ext cx="1558038" cy="624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GPS , 5</a:t>
              </a:r>
            </a:p>
          </p:txBody>
        </p:sp>
        <p:sp>
          <p:nvSpPr>
            <p:cNvPr id="399" name="行事曆 , 2"/>
            <p:cNvSpPr txBox="1"/>
            <p:nvPr/>
          </p:nvSpPr>
          <p:spPr>
            <a:xfrm>
              <a:off x="15465852" y="1749626"/>
              <a:ext cx="1932585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行事曆 , 2</a:t>
              </a:r>
            </a:p>
          </p:txBody>
        </p:sp>
        <p:sp>
          <p:nvSpPr>
            <p:cNvPr id="400" name="付款功能 , 2"/>
            <p:cNvSpPr txBox="1"/>
            <p:nvPr/>
          </p:nvSpPr>
          <p:spPr>
            <a:xfrm>
              <a:off x="3426149" y="1060825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付款功能 , 2</a:t>
              </a:r>
            </a:p>
          </p:txBody>
        </p:sp>
        <p:sp>
          <p:nvSpPr>
            <p:cNvPr id="401" name="訊息通知 , 3"/>
            <p:cNvSpPr txBox="1"/>
            <p:nvPr/>
          </p:nvSpPr>
          <p:spPr>
            <a:xfrm>
              <a:off x="15113230" y="8917482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訊息通知 , 3</a:t>
              </a:r>
            </a:p>
          </p:txBody>
        </p:sp>
        <p:sp>
          <p:nvSpPr>
            <p:cNvPr id="402" name="久坐提醒 , 3"/>
            <p:cNvSpPr txBox="1"/>
            <p:nvPr/>
          </p:nvSpPr>
          <p:spPr>
            <a:xfrm>
              <a:off x="2509473" y="9842319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久坐提醒 , 3</a:t>
              </a:r>
            </a:p>
          </p:txBody>
        </p:sp>
      </p:grpSp>
      <p:grpSp>
        <p:nvGrpSpPr>
          <p:cNvPr id="407" name="群組"/>
          <p:cNvGrpSpPr/>
          <p:nvPr/>
        </p:nvGrpSpPr>
        <p:grpSpPr>
          <a:xfrm>
            <a:off x="20240356" y="12266988"/>
            <a:ext cx="3175535" cy="1253716"/>
            <a:chOff x="0" y="0"/>
            <a:chExt cx="3175533" cy="1253714"/>
          </a:xfrm>
        </p:grpSpPr>
        <p:sp>
          <p:nvSpPr>
            <p:cNvPr id="404" name="圓角矩形"/>
            <p:cNvSpPr/>
            <p:nvPr/>
          </p:nvSpPr>
          <p:spPr>
            <a:xfrm>
              <a:off x="192141" y="759481"/>
              <a:ext cx="2825751" cy="494234"/>
            </a:xfrm>
            <a:prstGeom prst="roundRect">
              <a:avLst>
                <a:gd name="adj" fmla="val 38545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5">
                    <a:hueOff val="-82419"/>
                    <a:satOff val="-9513"/>
                    <a:lumOff val="-16343"/>
                  </a:scheme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5" name="1"/>
            <p:cNvSpPr txBox="1"/>
            <p:nvPr/>
          </p:nvSpPr>
          <p:spPr>
            <a:xfrm>
              <a:off x="-1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1</a:t>
              </a:r>
            </a:p>
          </p:txBody>
        </p:sp>
        <p:sp>
          <p:nvSpPr>
            <p:cNvPr id="406" name="5"/>
            <p:cNvSpPr txBox="1"/>
            <p:nvPr/>
          </p:nvSpPr>
          <p:spPr>
            <a:xfrm>
              <a:off x="2793999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5</a:t>
              </a:r>
            </a:p>
          </p:txBody>
        </p:sp>
      </p:grpSp>
      <p:sp>
        <p:nvSpPr>
          <p:cNvPr id="408" name="您覺得下列功能的重要性"/>
          <p:cNvSpPr txBox="1"/>
          <p:nvPr/>
        </p:nvSpPr>
        <p:spPr>
          <a:xfrm>
            <a:off x="1524320" y="1955505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您覺得下列功能的重要性</a:t>
            </a:r>
          </a:p>
        </p:txBody>
      </p:sp>
      <p:sp>
        <p:nvSpPr>
          <p:cNvPr id="409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481" name="群組"/>
          <p:cNvGrpSpPr/>
          <p:nvPr/>
        </p:nvGrpSpPr>
        <p:grpSpPr>
          <a:xfrm>
            <a:off x="262267" y="1868728"/>
            <a:ext cx="18706643" cy="11320021"/>
            <a:chOff x="-38100" y="0"/>
            <a:chExt cx="18706641" cy="11320020"/>
          </a:xfrm>
        </p:grpSpPr>
        <p:grpSp>
          <p:nvGrpSpPr>
            <p:cNvPr id="426" name="群組"/>
            <p:cNvGrpSpPr/>
            <p:nvPr/>
          </p:nvGrpSpPr>
          <p:grpSpPr>
            <a:xfrm>
              <a:off x="1665117" y="740759"/>
              <a:ext cx="15310870" cy="10499122"/>
              <a:chOff x="0" y="0"/>
              <a:chExt cx="15310868" cy="10499121"/>
            </a:xfrm>
          </p:grpSpPr>
          <p:sp>
            <p:nvSpPr>
              <p:cNvPr id="412" name="線條"/>
              <p:cNvSpPr/>
              <p:nvPr/>
            </p:nvSpPr>
            <p:spPr>
              <a:xfrm>
                <a:off x="7944993" y="-1"/>
                <a:ext cx="1929884" cy="1246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9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3" name="線條"/>
              <p:cNvSpPr/>
              <p:nvPr/>
            </p:nvSpPr>
            <p:spPr>
              <a:xfrm>
                <a:off x="9521719" y="739050"/>
                <a:ext cx="2288098" cy="93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7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4" name="線條"/>
              <p:cNvSpPr/>
              <p:nvPr/>
            </p:nvSpPr>
            <p:spPr>
              <a:xfrm>
                <a:off x="10827824" y="1819115"/>
                <a:ext cx="3511012" cy="643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99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5" name="線條"/>
              <p:cNvSpPr/>
              <p:nvPr/>
            </p:nvSpPr>
            <p:spPr>
              <a:xfrm flipV="1">
                <a:off x="11671469" y="3829387"/>
                <a:ext cx="337802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6" name="線條"/>
              <p:cNvSpPr/>
              <p:nvPr/>
            </p:nvSpPr>
            <p:spPr>
              <a:xfrm flipV="1">
                <a:off x="11944498" y="5416492"/>
                <a:ext cx="336637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7" name="線條"/>
              <p:cNvSpPr/>
              <p:nvPr/>
            </p:nvSpPr>
            <p:spPr>
              <a:xfrm>
                <a:off x="11766742" y="6982930"/>
                <a:ext cx="3138240" cy="41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0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8" name="線條"/>
              <p:cNvSpPr/>
              <p:nvPr/>
            </p:nvSpPr>
            <p:spPr>
              <a:xfrm>
                <a:off x="11025876" y="8277174"/>
                <a:ext cx="3334377" cy="56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0333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9" name="線條"/>
              <p:cNvSpPr/>
              <p:nvPr/>
            </p:nvSpPr>
            <p:spPr>
              <a:xfrm>
                <a:off x="9346744" y="9120355"/>
                <a:ext cx="5809062" cy="88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8704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0" name="線條"/>
              <p:cNvSpPr/>
              <p:nvPr/>
            </p:nvSpPr>
            <p:spPr>
              <a:xfrm>
                <a:off x="1707794" y="1152485"/>
                <a:ext cx="2961970" cy="1903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235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1" name="線條"/>
              <p:cNvSpPr/>
              <p:nvPr/>
            </p:nvSpPr>
            <p:spPr>
              <a:xfrm>
                <a:off x="0" y="2613548"/>
                <a:ext cx="4026211" cy="1965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180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2" name="線條"/>
              <p:cNvSpPr/>
              <p:nvPr/>
            </p:nvSpPr>
            <p:spPr>
              <a:xfrm flipH="1">
                <a:off x="220941" y="6187478"/>
                <a:ext cx="376161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3" name="線條"/>
              <p:cNvSpPr/>
              <p:nvPr/>
            </p:nvSpPr>
            <p:spPr>
              <a:xfrm>
                <a:off x="1158835" y="7709894"/>
                <a:ext cx="3541884" cy="842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53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4" name="線條"/>
              <p:cNvSpPr/>
              <p:nvPr/>
            </p:nvSpPr>
            <p:spPr>
              <a:xfrm>
                <a:off x="2572343" y="9585968"/>
                <a:ext cx="4965147" cy="9131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32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5" name="線條"/>
              <p:cNvSpPr/>
              <p:nvPr/>
            </p:nvSpPr>
            <p:spPr>
              <a:xfrm>
                <a:off x="1711293" y="9003396"/>
                <a:ext cx="4184967" cy="708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20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427" name="圓形"/>
            <p:cNvSpPr/>
            <p:nvPr/>
          </p:nvSpPr>
          <p:spPr>
            <a:xfrm>
              <a:off x="4641548" y="1137241"/>
              <a:ext cx="10039435" cy="1003943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428" name="影像" descr="影像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437217" y="1646301"/>
              <a:ext cx="1461922" cy="14184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9" name="影像" descr="影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921136" y="6183064"/>
              <a:ext cx="1464351" cy="1502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0" name="unnamed-2.png" descr="unnamed-2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85511" y="3053721"/>
              <a:ext cx="1464351" cy="1464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1" name="life_features_sleep.png" descr="life_features_sleep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51532" b="28119"/>
            <a:stretch>
              <a:fillRect/>
            </a:stretch>
          </p:blipFill>
          <p:spPr>
            <a:xfrm>
              <a:off x="9357132" y="8697207"/>
              <a:ext cx="2815289" cy="2087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2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72087" y="5424783"/>
              <a:ext cx="1506899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3" name="影像" descr="影像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84809" y="4495338"/>
              <a:ext cx="1537004" cy="1537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36" name="群組"/>
            <p:cNvGrpSpPr/>
            <p:nvPr/>
          </p:nvGrpSpPr>
          <p:grpSpPr>
            <a:xfrm>
              <a:off x="12556976" y="7056281"/>
              <a:ext cx="1464351" cy="1464351"/>
              <a:chOff x="0" y="0"/>
              <a:chExt cx="1464350" cy="1464350"/>
            </a:xfrm>
          </p:grpSpPr>
          <p:sp>
            <p:nvSpPr>
              <p:cNvPr id="434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435" name="icon-mikio-07.png" descr="icon-mikio-07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318" y="220783"/>
                <a:ext cx="1363713" cy="10227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37" name="10-11-00-91.png" descr="10-11-00-91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2520648" y="3774734"/>
              <a:ext cx="1537004" cy="1552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40" name="群組"/>
            <p:cNvGrpSpPr/>
            <p:nvPr/>
          </p:nvGrpSpPr>
          <p:grpSpPr>
            <a:xfrm>
              <a:off x="5642442" y="7681865"/>
              <a:ext cx="1464352" cy="1464351"/>
              <a:chOff x="0" y="0"/>
              <a:chExt cx="1464350" cy="1464350"/>
            </a:xfrm>
          </p:grpSpPr>
          <p:sp>
            <p:nvSpPr>
              <p:cNvPr id="438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chemeClr val="accent1">
                  <a:lumOff val="-1357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439" name="gps_PNG1.png" descr="gps_PNG1.png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363826" y="223833"/>
                <a:ext cx="736698" cy="10166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41" name="影像" descr="影像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1719683" y="2418347"/>
              <a:ext cx="1464352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44" name="群組"/>
            <p:cNvGrpSpPr/>
            <p:nvPr/>
          </p:nvGrpSpPr>
          <p:grpSpPr>
            <a:xfrm>
              <a:off x="6767234" y="8882864"/>
              <a:ext cx="1538986" cy="1538986"/>
              <a:chOff x="0" y="0"/>
              <a:chExt cx="1538984" cy="1538984"/>
            </a:xfrm>
          </p:grpSpPr>
          <p:sp>
            <p:nvSpPr>
              <p:cNvPr id="442" name="群組"/>
              <p:cNvSpPr/>
              <p:nvPr/>
            </p:nvSpPr>
            <p:spPr>
              <a:xfrm>
                <a:off x="0" y="0"/>
                <a:ext cx="1538985" cy="1538985"/>
              </a:xfrm>
              <a:prstGeom prst="ellipse">
                <a:avLst/>
              </a:prstGeom>
              <a:solidFill>
                <a:schemeClr val="accent4">
                  <a:hueOff val="-1081314"/>
                  <a:satOff val="4338"/>
                  <a:lumOff val="-893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443" name="影像" descr="影像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107915" y="122738"/>
                <a:ext cx="1123436" cy="12935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47" name="群組"/>
            <p:cNvGrpSpPr/>
            <p:nvPr/>
          </p:nvGrpSpPr>
          <p:grpSpPr>
            <a:xfrm>
              <a:off x="8478370" y="9429700"/>
              <a:ext cx="1537004" cy="1537004"/>
              <a:chOff x="0" y="0"/>
              <a:chExt cx="1537002" cy="1537002"/>
            </a:xfrm>
          </p:grpSpPr>
          <p:sp>
            <p:nvSpPr>
              <p:cNvPr id="445" name="群組"/>
              <p:cNvSpPr/>
              <p:nvPr/>
            </p:nvSpPr>
            <p:spPr>
              <a:xfrm>
                <a:off x="0" y="0"/>
                <a:ext cx="1537003" cy="1537003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446" name="cardpayment_tarjet_3771.png" descr="cardpayment_tarjet_3771.png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109182" y="109183"/>
                <a:ext cx="1318637" cy="13186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48" name="影像" descr="影像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1572213" y="8181095"/>
              <a:ext cx="1733983" cy="1718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9" name="影像" descr="影像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905764" y="1247332"/>
              <a:ext cx="1511004" cy="1538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0" name="圓形"/>
            <p:cNvSpPr/>
            <p:nvPr/>
          </p:nvSpPr>
          <p:spPr>
            <a:xfrm>
              <a:off x="6396265" y="6610889"/>
              <a:ext cx="492428" cy="49242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457" name="群組"/>
            <p:cNvGrpSpPr/>
            <p:nvPr/>
          </p:nvGrpSpPr>
          <p:grpSpPr>
            <a:xfrm rot="180000">
              <a:off x="6653865" y="1469283"/>
              <a:ext cx="1917567" cy="1325513"/>
              <a:chOff x="0" y="0"/>
              <a:chExt cx="1917566" cy="1325512"/>
            </a:xfrm>
          </p:grpSpPr>
          <p:sp>
            <p:nvSpPr>
              <p:cNvPr id="451" name="圓形"/>
              <p:cNvSpPr/>
              <p:nvPr/>
            </p:nvSpPr>
            <p:spPr>
              <a:xfrm rot="21600000">
                <a:off x="-1" y="1065566"/>
                <a:ext cx="259947" cy="25994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2" name="圓形"/>
              <p:cNvSpPr/>
              <p:nvPr/>
            </p:nvSpPr>
            <p:spPr>
              <a:xfrm rot="21600000">
                <a:off x="316339" y="781600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3" name="圓形"/>
              <p:cNvSpPr/>
              <p:nvPr/>
            </p:nvSpPr>
            <p:spPr>
              <a:xfrm rot="21600000">
                <a:off x="645333" y="544104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4" name="圓形"/>
              <p:cNvSpPr/>
              <p:nvPr/>
            </p:nvSpPr>
            <p:spPr>
              <a:xfrm rot="21600000">
                <a:off x="986980" y="316339"/>
                <a:ext cx="259946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5" name="圓形"/>
              <p:cNvSpPr/>
              <p:nvPr/>
            </p:nvSpPr>
            <p:spPr>
              <a:xfrm rot="21600000">
                <a:off x="1303320" y="139189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6" name="圓形"/>
              <p:cNvSpPr/>
              <p:nvPr/>
            </p:nvSpPr>
            <p:spPr>
              <a:xfrm rot="21600000">
                <a:off x="1657620" y="-1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458" name="Nike+"/>
            <p:cNvSpPr txBox="1"/>
            <p:nvPr/>
          </p:nvSpPr>
          <p:spPr>
            <a:xfrm>
              <a:off x="8136190" y="5437057"/>
              <a:ext cx="3050150" cy="1439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b">
              <a:noAutofit/>
            </a:bodyPr>
            <a:lstStyle>
              <a:lvl1pPr>
                <a:defRPr sz="8800" b="0">
                  <a:solidFill>
                    <a:srgbClr val="FFFFFF"/>
                  </a:solidFill>
                </a:defRPr>
              </a:lvl1pPr>
            </a:lstStyle>
            <a:p>
              <a:r>
                <a:t>Nike+</a:t>
              </a:r>
            </a:p>
          </p:txBody>
        </p:sp>
        <p:grpSp>
          <p:nvGrpSpPr>
            <p:cNvPr id="461" name="運動數據 , 5"/>
            <p:cNvGrpSpPr/>
            <p:nvPr/>
          </p:nvGrpSpPr>
          <p:grpSpPr>
            <a:xfrm>
              <a:off x="-38100" y="6136445"/>
              <a:ext cx="2539738" cy="859217"/>
              <a:chOff x="0" y="0"/>
              <a:chExt cx="2539737" cy="859216"/>
            </a:xfrm>
          </p:grpSpPr>
          <p:sp>
            <p:nvSpPr>
              <p:cNvPr id="460" name="運動數據 , 5"/>
              <p:cNvSpPr txBox="1"/>
              <p:nvPr/>
            </p:nvSpPr>
            <p:spPr>
              <a:xfrm>
                <a:off x="38100" y="38099"/>
                <a:ext cx="2463538" cy="7830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運動數據 , 5</a:t>
                </a:r>
              </a:p>
            </p:txBody>
          </p:sp>
          <p:pic>
            <p:nvPicPr>
              <p:cNvPr id="459" name="運動數據 , 5" descr="運動數據 , 5"/>
              <p:cNvPicPr>
                <a:picLocks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0"/>
                <a:ext cx="2539738" cy="859217"/>
              </a:xfrm>
              <a:prstGeom prst="rect">
                <a:avLst/>
              </a:prstGeom>
              <a:effectLst/>
            </p:spPr>
          </p:pic>
        </p:grpSp>
        <p:sp>
          <p:nvSpPr>
            <p:cNvPr id="462" name="鬧鐘 , 3"/>
            <p:cNvSpPr txBox="1"/>
            <p:nvPr/>
          </p:nvSpPr>
          <p:spPr>
            <a:xfrm>
              <a:off x="2914388" y="1089389"/>
              <a:ext cx="152766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鬧鐘 , 3</a:t>
              </a:r>
            </a:p>
          </p:txBody>
        </p:sp>
        <p:grpSp>
          <p:nvGrpSpPr>
            <p:cNvPr id="465" name="睡眠監測 , 4"/>
            <p:cNvGrpSpPr/>
            <p:nvPr/>
          </p:nvGrpSpPr>
          <p:grpSpPr>
            <a:xfrm>
              <a:off x="15869839" y="10037820"/>
              <a:ext cx="2626523" cy="801174"/>
              <a:chOff x="0" y="0"/>
              <a:chExt cx="2626522" cy="801173"/>
            </a:xfrm>
          </p:grpSpPr>
          <p:sp>
            <p:nvSpPr>
              <p:cNvPr id="464" name="睡眠監測 , 4"/>
              <p:cNvSpPr txBox="1"/>
              <p:nvPr/>
            </p:nvSpPr>
            <p:spPr>
              <a:xfrm>
                <a:off x="38100" y="38100"/>
                <a:ext cx="2550323" cy="724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/>
                    </a:solidFill>
                  </a:defRPr>
                </a:lvl1pPr>
              </a:lstStyle>
              <a:p>
                <a:r>
                  <a:t>睡眠監測 , 4</a:t>
                </a:r>
              </a:p>
            </p:txBody>
          </p:sp>
          <p:pic>
            <p:nvPicPr>
              <p:cNvPr id="463" name="睡眠監測 , 4" descr="睡眠監測 , 4"/>
              <p:cNvPicPr>
                <a:picLocks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0" y="0"/>
                <a:ext cx="2626523" cy="801174"/>
              </a:xfrm>
              <a:prstGeom prst="rect">
                <a:avLst/>
              </a:prstGeom>
              <a:effectLst/>
            </p:spPr>
          </p:pic>
        </p:grpSp>
        <p:sp>
          <p:nvSpPr>
            <p:cNvPr id="466" name="天氣預報 , 3"/>
            <p:cNvSpPr txBox="1"/>
            <p:nvPr/>
          </p:nvSpPr>
          <p:spPr>
            <a:xfrm>
              <a:off x="16331043" y="5336974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天氣預報 , 3</a:t>
              </a:r>
            </a:p>
          </p:txBody>
        </p:sp>
        <p:sp>
          <p:nvSpPr>
            <p:cNvPr id="467" name="理財(記帳) , 2"/>
            <p:cNvSpPr txBox="1"/>
            <p:nvPr/>
          </p:nvSpPr>
          <p:spPr>
            <a:xfrm>
              <a:off x="534134" y="2489071"/>
              <a:ext cx="257720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理財(記帳) , 2</a:t>
              </a:r>
            </a:p>
          </p:txBody>
        </p:sp>
        <p:grpSp>
          <p:nvGrpSpPr>
            <p:cNvPr id="470" name="急救SOS , 5"/>
            <p:cNvGrpSpPr/>
            <p:nvPr/>
          </p:nvGrpSpPr>
          <p:grpSpPr>
            <a:xfrm>
              <a:off x="12883557" y="717366"/>
              <a:ext cx="2647437" cy="859496"/>
              <a:chOff x="0" y="0"/>
              <a:chExt cx="2647436" cy="859495"/>
            </a:xfrm>
          </p:grpSpPr>
          <p:sp>
            <p:nvSpPr>
              <p:cNvPr id="469" name="急救SOS , 5"/>
              <p:cNvSpPr txBox="1"/>
              <p:nvPr/>
            </p:nvSpPr>
            <p:spPr>
              <a:xfrm>
                <a:off x="38099" y="38099"/>
                <a:ext cx="2571238" cy="783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急救SOS , 5</a:t>
                </a:r>
              </a:p>
            </p:txBody>
          </p:sp>
          <p:pic>
            <p:nvPicPr>
              <p:cNvPr id="468" name="急救SOS , 5" descr="急救SOS , 5"/>
              <p:cNvPicPr>
                <a:picLocks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-1" y="0"/>
                <a:ext cx="2647438" cy="859496"/>
              </a:xfrm>
              <a:prstGeom prst="rect">
                <a:avLst/>
              </a:prstGeom>
              <a:effectLst/>
            </p:spPr>
          </p:pic>
        </p:grpSp>
        <p:grpSp>
          <p:nvGrpSpPr>
            <p:cNvPr id="473" name="生理警告 , 5"/>
            <p:cNvGrpSpPr/>
            <p:nvPr/>
          </p:nvGrpSpPr>
          <p:grpSpPr>
            <a:xfrm>
              <a:off x="15557451" y="7431231"/>
              <a:ext cx="2606525" cy="788431"/>
              <a:chOff x="0" y="0"/>
              <a:chExt cx="2606523" cy="788429"/>
            </a:xfrm>
          </p:grpSpPr>
          <p:sp>
            <p:nvSpPr>
              <p:cNvPr id="472" name="生理警告 , 5"/>
              <p:cNvSpPr txBox="1"/>
              <p:nvPr/>
            </p:nvSpPr>
            <p:spPr>
              <a:xfrm>
                <a:off x="38100" y="38100"/>
                <a:ext cx="2530324" cy="712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生理警告 , 5</a:t>
                </a:r>
              </a:p>
            </p:txBody>
          </p:sp>
          <p:pic>
            <p:nvPicPr>
              <p:cNvPr id="471" name="生理警告 , 5" descr="生理警告 , 5"/>
              <p:cNvPicPr>
                <a:picLocks/>
              </p:cNvPicPr>
              <p:nvPr/>
            </p:nvPicPr>
            <p:blipFill>
              <a:blip r:embed="rId19">
                <a:extLst/>
              </a:blip>
              <a:stretch>
                <a:fillRect/>
              </a:stretch>
            </p:blipFill>
            <p:spPr>
              <a:xfrm>
                <a:off x="0" y="0"/>
                <a:ext cx="2606524" cy="788430"/>
              </a:xfrm>
              <a:prstGeom prst="rect">
                <a:avLst/>
              </a:prstGeom>
              <a:effectLst/>
            </p:spPr>
          </p:pic>
        </p:grpSp>
        <p:sp>
          <p:nvSpPr>
            <p:cNvPr id="474" name="通訊功能 , 3"/>
            <p:cNvSpPr txBox="1"/>
            <p:nvPr/>
          </p:nvSpPr>
          <p:spPr>
            <a:xfrm>
              <a:off x="16211187" y="3766936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通訊功能 , 3</a:t>
              </a:r>
            </a:p>
          </p:txBody>
        </p:sp>
        <p:sp>
          <p:nvSpPr>
            <p:cNvPr id="475" name="心率監測 , 4"/>
            <p:cNvSpPr txBox="1"/>
            <p:nvPr/>
          </p:nvSpPr>
          <p:spPr>
            <a:xfrm>
              <a:off x="10613200" y="0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心率監測 , 4</a:t>
              </a:r>
            </a:p>
          </p:txBody>
        </p:sp>
        <p:sp>
          <p:nvSpPr>
            <p:cNvPr id="476" name="GPS , 5"/>
            <p:cNvSpPr txBox="1"/>
            <p:nvPr/>
          </p:nvSpPr>
          <p:spPr>
            <a:xfrm>
              <a:off x="2164454" y="8559820"/>
              <a:ext cx="1558038" cy="624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GPS , 5</a:t>
              </a:r>
            </a:p>
          </p:txBody>
        </p:sp>
        <p:sp>
          <p:nvSpPr>
            <p:cNvPr id="477" name="行事曆 , 2"/>
            <p:cNvSpPr txBox="1"/>
            <p:nvPr/>
          </p:nvSpPr>
          <p:spPr>
            <a:xfrm>
              <a:off x="15465852" y="1749626"/>
              <a:ext cx="1932585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行事曆 , 2</a:t>
              </a:r>
            </a:p>
          </p:txBody>
        </p:sp>
        <p:sp>
          <p:nvSpPr>
            <p:cNvPr id="478" name="付款功能 , 2"/>
            <p:cNvSpPr txBox="1"/>
            <p:nvPr/>
          </p:nvSpPr>
          <p:spPr>
            <a:xfrm>
              <a:off x="3426149" y="1060825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付款功能 , 2</a:t>
              </a:r>
            </a:p>
          </p:txBody>
        </p:sp>
        <p:sp>
          <p:nvSpPr>
            <p:cNvPr id="479" name="訊息通知 , 3"/>
            <p:cNvSpPr txBox="1"/>
            <p:nvPr/>
          </p:nvSpPr>
          <p:spPr>
            <a:xfrm>
              <a:off x="15113230" y="8917482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訊息通知 , 3</a:t>
              </a:r>
            </a:p>
          </p:txBody>
        </p:sp>
        <p:sp>
          <p:nvSpPr>
            <p:cNvPr id="480" name="久坐提醒 , 3"/>
            <p:cNvSpPr txBox="1"/>
            <p:nvPr/>
          </p:nvSpPr>
          <p:spPr>
            <a:xfrm>
              <a:off x="2509473" y="9842319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久坐提醒 , 3</a:t>
              </a:r>
            </a:p>
          </p:txBody>
        </p:sp>
      </p:grpSp>
      <p:grpSp>
        <p:nvGrpSpPr>
          <p:cNvPr id="485" name="群組"/>
          <p:cNvGrpSpPr/>
          <p:nvPr/>
        </p:nvGrpSpPr>
        <p:grpSpPr>
          <a:xfrm>
            <a:off x="20240356" y="12266988"/>
            <a:ext cx="3175535" cy="1253716"/>
            <a:chOff x="0" y="0"/>
            <a:chExt cx="3175533" cy="1253714"/>
          </a:xfrm>
        </p:grpSpPr>
        <p:sp>
          <p:nvSpPr>
            <p:cNvPr id="482" name="圓角矩形"/>
            <p:cNvSpPr/>
            <p:nvPr/>
          </p:nvSpPr>
          <p:spPr>
            <a:xfrm>
              <a:off x="192141" y="759481"/>
              <a:ext cx="2825751" cy="494234"/>
            </a:xfrm>
            <a:prstGeom prst="roundRect">
              <a:avLst>
                <a:gd name="adj" fmla="val 38545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5">
                    <a:hueOff val="-82419"/>
                    <a:satOff val="-9513"/>
                    <a:lumOff val="-16343"/>
                  </a:scheme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83" name="1"/>
            <p:cNvSpPr txBox="1"/>
            <p:nvPr/>
          </p:nvSpPr>
          <p:spPr>
            <a:xfrm>
              <a:off x="-1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1</a:t>
              </a:r>
            </a:p>
          </p:txBody>
        </p:sp>
        <p:sp>
          <p:nvSpPr>
            <p:cNvPr id="484" name="5"/>
            <p:cNvSpPr txBox="1"/>
            <p:nvPr/>
          </p:nvSpPr>
          <p:spPr>
            <a:xfrm>
              <a:off x="2793999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5</a:t>
              </a:r>
            </a:p>
          </p:txBody>
        </p:sp>
      </p:grpSp>
      <p:sp>
        <p:nvSpPr>
          <p:cNvPr id="486" name="您覺得下列功能的重要性"/>
          <p:cNvSpPr txBox="1"/>
          <p:nvPr/>
        </p:nvSpPr>
        <p:spPr>
          <a:xfrm>
            <a:off x="1524320" y="1955505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您覺得下列功能的重要性</a:t>
            </a:r>
          </a:p>
        </p:txBody>
      </p:sp>
      <p:sp>
        <p:nvSpPr>
          <p:cNvPr id="487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0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grpSp>
        <p:nvGrpSpPr>
          <p:cNvPr id="552" name="群組"/>
          <p:cNvGrpSpPr/>
          <p:nvPr/>
        </p:nvGrpSpPr>
        <p:grpSpPr>
          <a:xfrm>
            <a:off x="300367" y="1868728"/>
            <a:ext cx="18668543" cy="11320021"/>
            <a:chOff x="0" y="0"/>
            <a:chExt cx="18668541" cy="11320020"/>
          </a:xfrm>
        </p:grpSpPr>
        <p:grpSp>
          <p:nvGrpSpPr>
            <p:cNvPr id="505" name="群組"/>
            <p:cNvGrpSpPr/>
            <p:nvPr/>
          </p:nvGrpSpPr>
          <p:grpSpPr>
            <a:xfrm>
              <a:off x="1665117" y="740759"/>
              <a:ext cx="15310870" cy="10499122"/>
              <a:chOff x="0" y="0"/>
              <a:chExt cx="15310868" cy="10499121"/>
            </a:xfrm>
          </p:grpSpPr>
          <p:sp>
            <p:nvSpPr>
              <p:cNvPr id="491" name="線條"/>
              <p:cNvSpPr/>
              <p:nvPr/>
            </p:nvSpPr>
            <p:spPr>
              <a:xfrm>
                <a:off x="7944993" y="-1"/>
                <a:ext cx="1929884" cy="1246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9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2" name="線條"/>
              <p:cNvSpPr/>
              <p:nvPr/>
            </p:nvSpPr>
            <p:spPr>
              <a:xfrm>
                <a:off x="9521719" y="739050"/>
                <a:ext cx="2288098" cy="93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7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3" name="線條"/>
              <p:cNvSpPr/>
              <p:nvPr/>
            </p:nvSpPr>
            <p:spPr>
              <a:xfrm>
                <a:off x="10827824" y="1819115"/>
                <a:ext cx="3511012" cy="643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99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4" name="線條"/>
              <p:cNvSpPr/>
              <p:nvPr/>
            </p:nvSpPr>
            <p:spPr>
              <a:xfrm flipV="1">
                <a:off x="11671469" y="3829387"/>
                <a:ext cx="337802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5" name="線條"/>
              <p:cNvSpPr/>
              <p:nvPr/>
            </p:nvSpPr>
            <p:spPr>
              <a:xfrm flipV="1">
                <a:off x="11944498" y="5416492"/>
                <a:ext cx="336637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6" name="線條"/>
              <p:cNvSpPr/>
              <p:nvPr/>
            </p:nvSpPr>
            <p:spPr>
              <a:xfrm>
                <a:off x="11766742" y="6982930"/>
                <a:ext cx="3138240" cy="41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0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7" name="線條"/>
              <p:cNvSpPr/>
              <p:nvPr/>
            </p:nvSpPr>
            <p:spPr>
              <a:xfrm>
                <a:off x="11025876" y="8277174"/>
                <a:ext cx="3334377" cy="56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0333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8" name="線條"/>
              <p:cNvSpPr/>
              <p:nvPr/>
            </p:nvSpPr>
            <p:spPr>
              <a:xfrm>
                <a:off x="9346744" y="9120355"/>
                <a:ext cx="5809062" cy="88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8704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99" name="線條"/>
              <p:cNvSpPr/>
              <p:nvPr/>
            </p:nvSpPr>
            <p:spPr>
              <a:xfrm>
                <a:off x="1707794" y="1152485"/>
                <a:ext cx="2961970" cy="1903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235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00" name="線條"/>
              <p:cNvSpPr/>
              <p:nvPr/>
            </p:nvSpPr>
            <p:spPr>
              <a:xfrm>
                <a:off x="0" y="2613548"/>
                <a:ext cx="4026211" cy="1965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180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01" name="線條"/>
              <p:cNvSpPr/>
              <p:nvPr/>
            </p:nvSpPr>
            <p:spPr>
              <a:xfrm flipH="1">
                <a:off x="220941" y="6187478"/>
                <a:ext cx="376161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02" name="線條"/>
              <p:cNvSpPr/>
              <p:nvPr/>
            </p:nvSpPr>
            <p:spPr>
              <a:xfrm>
                <a:off x="1158835" y="7709894"/>
                <a:ext cx="3541884" cy="842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53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03" name="線條"/>
              <p:cNvSpPr/>
              <p:nvPr/>
            </p:nvSpPr>
            <p:spPr>
              <a:xfrm>
                <a:off x="2572343" y="9585968"/>
                <a:ext cx="4965147" cy="9131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32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04" name="線條"/>
              <p:cNvSpPr/>
              <p:nvPr/>
            </p:nvSpPr>
            <p:spPr>
              <a:xfrm>
                <a:off x="1711293" y="9003396"/>
                <a:ext cx="4184967" cy="708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20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506" name="圓形"/>
            <p:cNvSpPr/>
            <p:nvPr/>
          </p:nvSpPr>
          <p:spPr>
            <a:xfrm>
              <a:off x="4641548" y="1137241"/>
              <a:ext cx="10039435" cy="1003943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507" name="影像" descr="影像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437217" y="1646301"/>
              <a:ext cx="1461922" cy="14184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8" name="影像" descr="影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921136" y="6183064"/>
              <a:ext cx="1464351" cy="1502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9" name="unnamed-2.png" descr="unnamed-2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85511" y="3053721"/>
              <a:ext cx="1464351" cy="1464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0" name="life_features_sleep.png" descr="life_features_sleep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51532" b="28119"/>
            <a:stretch>
              <a:fillRect/>
            </a:stretch>
          </p:blipFill>
          <p:spPr>
            <a:xfrm>
              <a:off x="9357132" y="8697207"/>
              <a:ext cx="2815289" cy="2087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1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72087" y="5424783"/>
              <a:ext cx="1506899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2" name="影像" descr="影像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84809" y="4495338"/>
              <a:ext cx="1537004" cy="1537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15" name="群組"/>
            <p:cNvGrpSpPr/>
            <p:nvPr/>
          </p:nvGrpSpPr>
          <p:grpSpPr>
            <a:xfrm>
              <a:off x="12556976" y="7056281"/>
              <a:ext cx="1464351" cy="1464351"/>
              <a:chOff x="0" y="0"/>
              <a:chExt cx="1464350" cy="1464350"/>
            </a:xfrm>
          </p:grpSpPr>
          <p:sp>
            <p:nvSpPr>
              <p:cNvPr id="513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14" name="icon-mikio-07.png" descr="icon-mikio-07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318" y="220783"/>
                <a:ext cx="1363713" cy="10227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16" name="10-11-00-91.png" descr="10-11-00-91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2520648" y="3774734"/>
              <a:ext cx="1537004" cy="1552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19" name="群組"/>
            <p:cNvGrpSpPr/>
            <p:nvPr/>
          </p:nvGrpSpPr>
          <p:grpSpPr>
            <a:xfrm>
              <a:off x="5642442" y="7681865"/>
              <a:ext cx="1464352" cy="1464351"/>
              <a:chOff x="0" y="0"/>
              <a:chExt cx="1464350" cy="1464350"/>
            </a:xfrm>
          </p:grpSpPr>
          <p:sp>
            <p:nvSpPr>
              <p:cNvPr id="517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chemeClr val="accent1">
                  <a:lumOff val="-1357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18" name="gps_PNG1.png" descr="gps_PNG1.png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363826" y="223833"/>
                <a:ext cx="736698" cy="10166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20" name="影像" descr="影像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1719683" y="2418347"/>
              <a:ext cx="1464352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23" name="群組"/>
            <p:cNvGrpSpPr/>
            <p:nvPr/>
          </p:nvGrpSpPr>
          <p:grpSpPr>
            <a:xfrm>
              <a:off x="6767234" y="8882864"/>
              <a:ext cx="1538986" cy="1538986"/>
              <a:chOff x="0" y="0"/>
              <a:chExt cx="1538984" cy="1538984"/>
            </a:xfrm>
          </p:grpSpPr>
          <p:sp>
            <p:nvSpPr>
              <p:cNvPr id="521" name="群組"/>
              <p:cNvSpPr/>
              <p:nvPr/>
            </p:nvSpPr>
            <p:spPr>
              <a:xfrm>
                <a:off x="0" y="0"/>
                <a:ext cx="1538985" cy="1538985"/>
              </a:xfrm>
              <a:prstGeom prst="ellipse">
                <a:avLst/>
              </a:prstGeom>
              <a:solidFill>
                <a:schemeClr val="accent4">
                  <a:hueOff val="-1081314"/>
                  <a:satOff val="4338"/>
                  <a:lumOff val="-893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22" name="影像" descr="影像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107915" y="122738"/>
                <a:ext cx="1123436" cy="12935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26" name="群組"/>
            <p:cNvGrpSpPr/>
            <p:nvPr/>
          </p:nvGrpSpPr>
          <p:grpSpPr>
            <a:xfrm>
              <a:off x="8478370" y="9429700"/>
              <a:ext cx="1537004" cy="1537004"/>
              <a:chOff x="0" y="0"/>
              <a:chExt cx="1537002" cy="1537002"/>
            </a:xfrm>
          </p:grpSpPr>
          <p:sp>
            <p:nvSpPr>
              <p:cNvPr id="524" name="群組"/>
              <p:cNvSpPr/>
              <p:nvPr/>
            </p:nvSpPr>
            <p:spPr>
              <a:xfrm>
                <a:off x="0" y="0"/>
                <a:ext cx="1537003" cy="1537003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25" name="cardpayment_tarjet_3771.png" descr="cardpayment_tarjet_3771.png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109182" y="109183"/>
                <a:ext cx="1318637" cy="13186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27" name="影像" descr="影像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1572213" y="8181095"/>
              <a:ext cx="1733983" cy="1718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8" name="影像" descr="影像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905764" y="1247332"/>
              <a:ext cx="1511004" cy="1538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9" name="圓形"/>
            <p:cNvSpPr/>
            <p:nvPr/>
          </p:nvSpPr>
          <p:spPr>
            <a:xfrm>
              <a:off x="6396265" y="6610889"/>
              <a:ext cx="492428" cy="49242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536" name="群組"/>
            <p:cNvGrpSpPr/>
            <p:nvPr/>
          </p:nvGrpSpPr>
          <p:grpSpPr>
            <a:xfrm rot="180000">
              <a:off x="6653865" y="1469283"/>
              <a:ext cx="1917567" cy="1325513"/>
              <a:chOff x="0" y="0"/>
              <a:chExt cx="1917566" cy="1325512"/>
            </a:xfrm>
          </p:grpSpPr>
          <p:sp>
            <p:nvSpPr>
              <p:cNvPr id="530" name="圓形"/>
              <p:cNvSpPr/>
              <p:nvPr/>
            </p:nvSpPr>
            <p:spPr>
              <a:xfrm rot="21600000">
                <a:off x="-1" y="1065566"/>
                <a:ext cx="259947" cy="25994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1" name="圓形"/>
              <p:cNvSpPr/>
              <p:nvPr/>
            </p:nvSpPr>
            <p:spPr>
              <a:xfrm rot="21600000">
                <a:off x="316339" y="781600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2" name="圓形"/>
              <p:cNvSpPr/>
              <p:nvPr/>
            </p:nvSpPr>
            <p:spPr>
              <a:xfrm rot="21600000">
                <a:off x="645333" y="544104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3" name="圓形"/>
              <p:cNvSpPr/>
              <p:nvPr/>
            </p:nvSpPr>
            <p:spPr>
              <a:xfrm rot="21600000">
                <a:off x="986980" y="316339"/>
                <a:ext cx="259946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4" name="圓形"/>
              <p:cNvSpPr/>
              <p:nvPr/>
            </p:nvSpPr>
            <p:spPr>
              <a:xfrm rot="21600000">
                <a:off x="1303320" y="139189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5" name="圓形"/>
              <p:cNvSpPr/>
              <p:nvPr/>
            </p:nvSpPr>
            <p:spPr>
              <a:xfrm rot="21600000">
                <a:off x="1657620" y="-1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537" name="Nike+"/>
            <p:cNvSpPr txBox="1"/>
            <p:nvPr/>
          </p:nvSpPr>
          <p:spPr>
            <a:xfrm>
              <a:off x="8136190" y="5437057"/>
              <a:ext cx="3050150" cy="1439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b">
              <a:noAutofit/>
            </a:bodyPr>
            <a:lstStyle>
              <a:lvl1pPr>
                <a:defRPr sz="8800" b="0">
                  <a:solidFill>
                    <a:srgbClr val="FFFFFF"/>
                  </a:solidFill>
                </a:defRPr>
              </a:lvl1pPr>
            </a:lstStyle>
            <a:p>
              <a:r>
                <a:t>Nike+</a:t>
              </a:r>
            </a:p>
          </p:txBody>
        </p:sp>
        <p:sp>
          <p:nvSpPr>
            <p:cNvPr id="538" name="運動數據 , 5"/>
            <p:cNvSpPr txBox="1"/>
            <p:nvPr/>
          </p:nvSpPr>
          <p:spPr>
            <a:xfrm>
              <a:off x="0" y="6174545"/>
              <a:ext cx="2463166" cy="721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運動數據 , 5</a:t>
              </a:r>
            </a:p>
          </p:txBody>
        </p:sp>
        <p:sp>
          <p:nvSpPr>
            <p:cNvPr id="539" name="鬧鐘 , 3"/>
            <p:cNvSpPr txBox="1"/>
            <p:nvPr/>
          </p:nvSpPr>
          <p:spPr>
            <a:xfrm>
              <a:off x="2914388" y="1089389"/>
              <a:ext cx="152766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鬧鐘 , 3</a:t>
              </a:r>
            </a:p>
          </p:txBody>
        </p:sp>
        <p:sp>
          <p:nvSpPr>
            <p:cNvPr id="540" name="睡眠監測 , 5"/>
            <p:cNvSpPr txBox="1"/>
            <p:nvPr/>
          </p:nvSpPr>
          <p:spPr>
            <a:xfrm>
              <a:off x="15907939" y="10075920"/>
              <a:ext cx="2592088" cy="7263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睡眠監測 , 5</a:t>
              </a:r>
            </a:p>
          </p:txBody>
        </p:sp>
        <p:sp>
          <p:nvSpPr>
            <p:cNvPr id="541" name="天氣預報 , 3"/>
            <p:cNvSpPr txBox="1"/>
            <p:nvPr/>
          </p:nvSpPr>
          <p:spPr>
            <a:xfrm>
              <a:off x="16331043" y="5336974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天氣預報 , 3</a:t>
              </a:r>
            </a:p>
          </p:txBody>
        </p:sp>
        <p:sp>
          <p:nvSpPr>
            <p:cNvPr id="542" name="理財(記帳) , 2"/>
            <p:cNvSpPr txBox="1"/>
            <p:nvPr/>
          </p:nvSpPr>
          <p:spPr>
            <a:xfrm>
              <a:off x="534134" y="2489071"/>
              <a:ext cx="257720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理財(記帳) , 2</a:t>
              </a:r>
            </a:p>
          </p:txBody>
        </p:sp>
        <p:sp>
          <p:nvSpPr>
            <p:cNvPr id="543" name="急救SOS , 5"/>
            <p:cNvSpPr txBox="1"/>
            <p:nvPr/>
          </p:nvSpPr>
          <p:spPr>
            <a:xfrm>
              <a:off x="12921657" y="755466"/>
              <a:ext cx="2569935" cy="7088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急救SOS , 5</a:t>
              </a:r>
            </a:p>
          </p:txBody>
        </p:sp>
        <p:sp>
          <p:nvSpPr>
            <p:cNvPr id="544" name="生理警告 , 5"/>
            <p:cNvSpPr txBox="1"/>
            <p:nvPr/>
          </p:nvSpPr>
          <p:spPr>
            <a:xfrm>
              <a:off x="15595551" y="7469331"/>
              <a:ext cx="2600740" cy="708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t>生理警告 , 5</a:t>
              </a:r>
            </a:p>
          </p:txBody>
        </p:sp>
        <p:sp>
          <p:nvSpPr>
            <p:cNvPr id="545" name="通訊功能 , 3"/>
            <p:cNvSpPr txBox="1"/>
            <p:nvPr/>
          </p:nvSpPr>
          <p:spPr>
            <a:xfrm>
              <a:off x="16211187" y="3766936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通訊功能 , 3</a:t>
              </a:r>
            </a:p>
          </p:txBody>
        </p:sp>
        <p:sp>
          <p:nvSpPr>
            <p:cNvPr id="546" name="心率監測 , 4"/>
            <p:cNvSpPr txBox="1"/>
            <p:nvPr/>
          </p:nvSpPr>
          <p:spPr>
            <a:xfrm>
              <a:off x="10613200" y="0"/>
              <a:ext cx="2463817" cy="7478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心率監測 , 4</a:t>
              </a:r>
            </a:p>
          </p:txBody>
        </p:sp>
        <p:sp>
          <p:nvSpPr>
            <p:cNvPr id="547" name="GPS , 4"/>
            <p:cNvSpPr txBox="1"/>
            <p:nvPr/>
          </p:nvSpPr>
          <p:spPr>
            <a:xfrm>
              <a:off x="2164454" y="8559820"/>
              <a:ext cx="1558038" cy="624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GPS , 4</a:t>
              </a:r>
            </a:p>
          </p:txBody>
        </p:sp>
        <p:sp>
          <p:nvSpPr>
            <p:cNvPr id="548" name="行事曆 , 3"/>
            <p:cNvSpPr txBox="1"/>
            <p:nvPr/>
          </p:nvSpPr>
          <p:spPr>
            <a:xfrm>
              <a:off x="15465852" y="1749626"/>
              <a:ext cx="1932585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行事曆 , 3</a:t>
              </a:r>
            </a:p>
          </p:txBody>
        </p:sp>
        <p:sp>
          <p:nvSpPr>
            <p:cNvPr id="549" name="付款功能 , 3"/>
            <p:cNvSpPr txBox="1"/>
            <p:nvPr/>
          </p:nvSpPr>
          <p:spPr>
            <a:xfrm>
              <a:off x="3426149" y="1060825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付款功能 , 3</a:t>
              </a:r>
            </a:p>
          </p:txBody>
        </p:sp>
        <p:sp>
          <p:nvSpPr>
            <p:cNvPr id="550" name="訊息通知 , 3"/>
            <p:cNvSpPr txBox="1"/>
            <p:nvPr/>
          </p:nvSpPr>
          <p:spPr>
            <a:xfrm>
              <a:off x="15113230" y="8917482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訊息通知 , 3</a:t>
              </a:r>
            </a:p>
          </p:txBody>
        </p:sp>
        <p:sp>
          <p:nvSpPr>
            <p:cNvPr id="551" name="久坐提醒 , 3"/>
            <p:cNvSpPr txBox="1"/>
            <p:nvPr/>
          </p:nvSpPr>
          <p:spPr>
            <a:xfrm>
              <a:off x="2509473" y="9842319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久坐提醒 , 3</a:t>
              </a:r>
            </a:p>
          </p:txBody>
        </p:sp>
      </p:grpSp>
      <p:grpSp>
        <p:nvGrpSpPr>
          <p:cNvPr id="556" name="群組"/>
          <p:cNvGrpSpPr/>
          <p:nvPr/>
        </p:nvGrpSpPr>
        <p:grpSpPr>
          <a:xfrm>
            <a:off x="20240356" y="12266988"/>
            <a:ext cx="3175535" cy="1253716"/>
            <a:chOff x="0" y="0"/>
            <a:chExt cx="3175533" cy="1253714"/>
          </a:xfrm>
        </p:grpSpPr>
        <p:sp>
          <p:nvSpPr>
            <p:cNvPr id="553" name="圓角矩形"/>
            <p:cNvSpPr/>
            <p:nvPr/>
          </p:nvSpPr>
          <p:spPr>
            <a:xfrm>
              <a:off x="192141" y="759481"/>
              <a:ext cx="2825751" cy="494234"/>
            </a:xfrm>
            <a:prstGeom prst="roundRect">
              <a:avLst>
                <a:gd name="adj" fmla="val 38545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5">
                    <a:hueOff val="-82419"/>
                    <a:satOff val="-9513"/>
                    <a:lumOff val="-16343"/>
                  </a:scheme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54" name="1"/>
            <p:cNvSpPr txBox="1"/>
            <p:nvPr/>
          </p:nvSpPr>
          <p:spPr>
            <a:xfrm>
              <a:off x="-1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1</a:t>
              </a:r>
            </a:p>
          </p:txBody>
        </p:sp>
        <p:sp>
          <p:nvSpPr>
            <p:cNvPr id="555" name="5"/>
            <p:cNvSpPr txBox="1"/>
            <p:nvPr/>
          </p:nvSpPr>
          <p:spPr>
            <a:xfrm>
              <a:off x="2793999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5</a:t>
              </a:r>
            </a:p>
          </p:txBody>
        </p:sp>
      </p:grpSp>
      <p:sp>
        <p:nvSpPr>
          <p:cNvPr id="557" name="您會使用下列功能的分數"/>
          <p:cNvSpPr txBox="1"/>
          <p:nvPr/>
        </p:nvSpPr>
        <p:spPr>
          <a:xfrm>
            <a:off x="1524320" y="1955505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您會使用下列功能的分數</a:t>
            </a:r>
          </a:p>
        </p:txBody>
      </p:sp>
      <p:pic>
        <p:nvPicPr>
          <p:cNvPr id="558" name="線條" descr="線條"/>
          <p:cNvPicPr>
            <a:picLocks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 rot="16200000">
            <a:off x="18367778" y="12013657"/>
            <a:ext cx="992532" cy="401378"/>
          </a:xfrm>
          <a:prstGeom prst="rect">
            <a:avLst/>
          </a:prstGeom>
        </p:spPr>
      </p:pic>
      <p:pic>
        <p:nvPicPr>
          <p:cNvPr id="560" name="線條" descr="線條"/>
          <p:cNvPicPr>
            <a:picLocks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 rot="16200000">
            <a:off x="17375591" y="3734845"/>
            <a:ext cx="992531" cy="401377"/>
          </a:xfrm>
          <a:prstGeom prst="rect">
            <a:avLst/>
          </a:prstGeom>
        </p:spPr>
      </p:pic>
      <p:pic>
        <p:nvPicPr>
          <p:cNvPr id="562" name="線條" descr="線條"/>
          <p:cNvPicPr>
            <a:picLocks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 rot="16200000">
            <a:off x="5707466" y="12604062"/>
            <a:ext cx="992532" cy="401378"/>
          </a:xfrm>
          <a:prstGeom prst="rect">
            <a:avLst/>
          </a:prstGeom>
        </p:spPr>
      </p:pic>
      <p:pic>
        <p:nvPicPr>
          <p:cNvPr id="564" name="線條" descr="線條"/>
          <p:cNvPicPr>
            <a:picLocks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 rot="5400000">
            <a:off x="3737815" y="10697963"/>
            <a:ext cx="992531" cy="4013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639" name="群組"/>
          <p:cNvGrpSpPr/>
          <p:nvPr/>
        </p:nvGrpSpPr>
        <p:grpSpPr>
          <a:xfrm>
            <a:off x="262267" y="1830628"/>
            <a:ext cx="18706643" cy="11358121"/>
            <a:chOff x="-38100" y="-38100"/>
            <a:chExt cx="18706641" cy="11358120"/>
          </a:xfrm>
        </p:grpSpPr>
        <p:grpSp>
          <p:nvGrpSpPr>
            <p:cNvPr id="582" name="群組"/>
            <p:cNvGrpSpPr/>
            <p:nvPr/>
          </p:nvGrpSpPr>
          <p:grpSpPr>
            <a:xfrm>
              <a:off x="1665117" y="740759"/>
              <a:ext cx="15310870" cy="10499122"/>
              <a:chOff x="0" y="0"/>
              <a:chExt cx="15310868" cy="10499121"/>
            </a:xfrm>
          </p:grpSpPr>
          <p:sp>
            <p:nvSpPr>
              <p:cNvPr id="568" name="線條"/>
              <p:cNvSpPr/>
              <p:nvPr/>
            </p:nvSpPr>
            <p:spPr>
              <a:xfrm>
                <a:off x="7944993" y="-1"/>
                <a:ext cx="1929884" cy="1246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9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9" name="線條"/>
              <p:cNvSpPr/>
              <p:nvPr/>
            </p:nvSpPr>
            <p:spPr>
              <a:xfrm>
                <a:off x="9521719" y="739050"/>
                <a:ext cx="2288098" cy="93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7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0" name="線條"/>
              <p:cNvSpPr/>
              <p:nvPr/>
            </p:nvSpPr>
            <p:spPr>
              <a:xfrm>
                <a:off x="10827824" y="1819115"/>
                <a:ext cx="3511012" cy="643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99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1" name="線條"/>
              <p:cNvSpPr/>
              <p:nvPr/>
            </p:nvSpPr>
            <p:spPr>
              <a:xfrm flipV="1">
                <a:off x="11671469" y="3829387"/>
                <a:ext cx="337802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2" name="線條"/>
              <p:cNvSpPr/>
              <p:nvPr/>
            </p:nvSpPr>
            <p:spPr>
              <a:xfrm flipV="1">
                <a:off x="11944498" y="5416492"/>
                <a:ext cx="336637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3" name="線條"/>
              <p:cNvSpPr/>
              <p:nvPr/>
            </p:nvSpPr>
            <p:spPr>
              <a:xfrm>
                <a:off x="11766742" y="6982930"/>
                <a:ext cx="3138240" cy="41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0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4" name="線條"/>
              <p:cNvSpPr/>
              <p:nvPr/>
            </p:nvSpPr>
            <p:spPr>
              <a:xfrm>
                <a:off x="11025876" y="8277174"/>
                <a:ext cx="3334377" cy="56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0333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5" name="線條"/>
              <p:cNvSpPr/>
              <p:nvPr/>
            </p:nvSpPr>
            <p:spPr>
              <a:xfrm>
                <a:off x="9346744" y="9120355"/>
                <a:ext cx="5809062" cy="88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8704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6" name="線條"/>
              <p:cNvSpPr/>
              <p:nvPr/>
            </p:nvSpPr>
            <p:spPr>
              <a:xfrm>
                <a:off x="1707794" y="1152485"/>
                <a:ext cx="2961970" cy="1903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235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7" name="線條"/>
              <p:cNvSpPr/>
              <p:nvPr/>
            </p:nvSpPr>
            <p:spPr>
              <a:xfrm>
                <a:off x="0" y="2613548"/>
                <a:ext cx="4026211" cy="1965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180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8" name="線條"/>
              <p:cNvSpPr/>
              <p:nvPr/>
            </p:nvSpPr>
            <p:spPr>
              <a:xfrm flipH="1">
                <a:off x="220941" y="6187478"/>
                <a:ext cx="376161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9" name="線條"/>
              <p:cNvSpPr/>
              <p:nvPr/>
            </p:nvSpPr>
            <p:spPr>
              <a:xfrm>
                <a:off x="1158835" y="7709894"/>
                <a:ext cx="3541884" cy="842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53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0" name="線條"/>
              <p:cNvSpPr/>
              <p:nvPr/>
            </p:nvSpPr>
            <p:spPr>
              <a:xfrm>
                <a:off x="2572343" y="9585968"/>
                <a:ext cx="4965147" cy="9131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32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1" name="線條"/>
              <p:cNvSpPr/>
              <p:nvPr/>
            </p:nvSpPr>
            <p:spPr>
              <a:xfrm>
                <a:off x="1711293" y="9003396"/>
                <a:ext cx="4184967" cy="708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20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583" name="圓形"/>
            <p:cNvSpPr/>
            <p:nvPr/>
          </p:nvSpPr>
          <p:spPr>
            <a:xfrm>
              <a:off x="4641548" y="1137241"/>
              <a:ext cx="10039435" cy="1003943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584" name="影像" descr="影像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437217" y="1646301"/>
              <a:ext cx="1461922" cy="14184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5" name="影像" descr="影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921136" y="6183064"/>
              <a:ext cx="1464351" cy="1502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6" name="unnamed-2.png" descr="unnamed-2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85511" y="3053721"/>
              <a:ext cx="1464351" cy="1464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7" name="life_features_sleep.png" descr="life_features_sleep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51532" b="28119"/>
            <a:stretch>
              <a:fillRect/>
            </a:stretch>
          </p:blipFill>
          <p:spPr>
            <a:xfrm>
              <a:off x="9357132" y="8697207"/>
              <a:ext cx="2815289" cy="2087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8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72087" y="5424783"/>
              <a:ext cx="1506899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9" name="影像" descr="影像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84809" y="4495338"/>
              <a:ext cx="1537004" cy="1537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92" name="群組"/>
            <p:cNvGrpSpPr/>
            <p:nvPr/>
          </p:nvGrpSpPr>
          <p:grpSpPr>
            <a:xfrm>
              <a:off x="12556976" y="7056281"/>
              <a:ext cx="1464351" cy="1464351"/>
              <a:chOff x="0" y="0"/>
              <a:chExt cx="1464350" cy="1464350"/>
            </a:xfrm>
          </p:grpSpPr>
          <p:sp>
            <p:nvSpPr>
              <p:cNvPr id="590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91" name="icon-mikio-07.png" descr="icon-mikio-07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318" y="220783"/>
                <a:ext cx="1363713" cy="10227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93" name="10-11-00-91.png" descr="10-11-00-91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2520648" y="3774734"/>
              <a:ext cx="1537004" cy="1552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96" name="群組"/>
            <p:cNvGrpSpPr/>
            <p:nvPr/>
          </p:nvGrpSpPr>
          <p:grpSpPr>
            <a:xfrm>
              <a:off x="5642442" y="7681865"/>
              <a:ext cx="1464352" cy="1464351"/>
              <a:chOff x="0" y="0"/>
              <a:chExt cx="1464350" cy="1464350"/>
            </a:xfrm>
          </p:grpSpPr>
          <p:sp>
            <p:nvSpPr>
              <p:cNvPr id="594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chemeClr val="accent1">
                  <a:lumOff val="-1357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95" name="gps_PNG1.png" descr="gps_PNG1.png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363826" y="223833"/>
                <a:ext cx="736698" cy="10166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97" name="影像" descr="影像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1719683" y="2418347"/>
              <a:ext cx="1464352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00" name="群組"/>
            <p:cNvGrpSpPr/>
            <p:nvPr/>
          </p:nvGrpSpPr>
          <p:grpSpPr>
            <a:xfrm>
              <a:off x="6767234" y="8882864"/>
              <a:ext cx="1538986" cy="1538986"/>
              <a:chOff x="0" y="0"/>
              <a:chExt cx="1538984" cy="1538984"/>
            </a:xfrm>
          </p:grpSpPr>
          <p:sp>
            <p:nvSpPr>
              <p:cNvPr id="598" name="群組"/>
              <p:cNvSpPr/>
              <p:nvPr/>
            </p:nvSpPr>
            <p:spPr>
              <a:xfrm>
                <a:off x="0" y="0"/>
                <a:ext cx="1538985" cy="1538985"/>
              </a:xfrm>
              <a:prstGeom prst="ellipse">
                <a:avLst/>
              </a:prstGeom>
              <a:solidFill>
                <a:schemeClr val="accent4">
                  <a:hueOff val="-1081314"/>
                  <a:satOff val="4338"/>
                  <a:lumOff val="-893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99" name="影像" descr="影像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107915" y="122738"/>
                <a:ext cx="1123436" cy="12935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03" name="群組"/>
            <p:cNvGrpSpPr/>
            <p:nvPr/>
          </p:nvGrpSpPr>
          <p:grpSpPr>
            <a:xfrm>
              <a:off x="8478370" y="9429700"/>
              <a:ext cx="1537004" cy="1537004"/>
              <a:chOff x="0" y="0"/>
              <a:chExt cx="1537002" cy="1537002"/>
            </a:xfrm>
          </p:grpSpPr>
          <p:sp>
            <p:nvSpPr>
              <p:cNvPr id="601" name="群組"/>
              <p:cNvSpPr/>
              <p:nvPr/>
            </p:nvSpPr>
            <p:spPr>
              <a:xfrm>
                <a:off x="0" y="0"/>
                <a:ext cx="1537003" cy="1537003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02" name="cardpayment_tarjet_3771.png" descr="cardpayment_tarjet_3771.png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109182" y="109183"/>
                <a:ext cx="1318637" cy="13186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04" name="影像" descr="影像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1572213" y="8181095"/>
              <a:ext cx="1733983" cy="1718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5" name="影像" descr="影像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905764" y="1247332"/>
              <a:ext cx="1511004" cy="1538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6" name="圓形"/>
            <p:cNvSpPr/>
            <p:nvPr/>
          </p:nvSpPr>
          <p:spPr>
            <a:xfrm>
              <a:off x="6396265" y="6610889"/>
              <a:ext cx="492428" cy="49242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613" name="群組"/>
            <p:cNvGrpSpPr/>
            <p:nvPr/>
          </p:nvGrpSpPr>
          <p:grpSpPr>
            <a:xfrm rot="180000">
              <a:off x="6653865" y="1469283"/>
              <a:ext cx="1917567" cy="1325513"/>
              <a:chOff x="0" y="0"/>
              <a:chExt cx="1917566" cy="1325512"/>
            </a:xfrm>
          </p:grpSpPr>
          <p:sp>
            <p:nvSpPr>
              <p:cNvPr id="607" name="圓形"/>
              <p:cNvSpPr/>
              <p:nvPr/>
            </p:nvSpPr>
            <p:spPr>
              <a:xfrm rot="21600000">
                <a:off x="-1" y="1065566"/>
                <a:ext cx="259947" cy="25994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08" name="圓形"/>
              <p:cNvSpPr/>
              <p:nvPr/>
            </p:nvSpPr>
            <p:spPr>
              <a:xfrm rot="21600000">
                <a:off x="316339" y="781600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09" name="圓形"/>
              <p:cNvSpPr/>
              <p:nvPr/>
            </p:nvSpPr>
            <p:spPr>
              <a:xfrm rot="21600000">
                <a:off x="645333" y="544104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10" name="圓形"/>
              <p:cNvSpPr/>
              <p:nvPr/>
            </p:nvSpPr>
            <p:spPr>
              <a:xfrm rot="21600000">
                <a:off x="986980" y="316339"/>
                <a:ext cx="259946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11" name="圓形"/>
              <p:cNvSpPr/>
              <p:nvPr/>
            </p:nvSpPr>
            <p:spPr>
              <a:xfrm rot="21600000">
                <a:off x="1303320" y="139189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12" name="圓形"/>
              <p:cNvSpPr/>
              <p:nvPr/>
            </p:nvSpPr>
            <p:spPr>
              <a:xfrm rot="21600000">
                <a:off x="1657620" y="-1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614" name="Nike+"/>
            <p:cNvSpPr txBox="1"/>
            <p:nvPr/>
          </p:nvSpPr>
          <p:spPr>
            <a:xfrm>
              <a:off x="8136190" y="5437057"/>
              <a:ext cx="3050150" cy="1439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b">
              <a:noAutofit/>
            </a:bodyPr>
            <a:lstStyle>
              <a:lvl1pPr>
                <a:defRPr sz="8800" b="0">
                  <a:solidFill>
                    <a:srgbClr val="FFFFFF"/>
                  </a:solidFill>
                </a:defRPr>
              </a:lvl1pPr>
            </a:lstStyle>
            <a:p>
              <a:r>
                <a:t>Nike+</a:t>
              </a:r>
            </a:p>
          </p:txBody>
        </p:sp>
        <p:grpSp>
          <p:nvGrpSpPr>
            <p:cNvPr id="617" name="運動數據 , 5"/>
            <p:cNvGrpSpPr/>
            <p:nvPr/>
          </p:nvGrpSpPr>
          <p:grpSpPr>
            <a:xfrm>
              <a:off x="-38100" y="6136445"/>
              <a:ext cx="2539366" cy="798198"/>
              <a:chOff x="0" y="0"/>
              <a:chExt cx="2539365" cy="798196"/>
            </a:xfrm>
          </p:grpSpPr>
          <p:sp>
            <p:nvSpPr>
              <p:cNvPr id="616" name="運動數據 , 5"/>
              <p:cNvSpPr txBox="1"/>
              <p:nvPr/>
            </p:nvSpPr>
            <p:spPr>
              <a:xfrm>
                <a:off x="38100" y="38100"/>
                <a:ext cx="2463166" cy="721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運動數據 , 5</a:t>
                </a:r>
              </a:p>
            </p:txBody>
          </p:sp>
          <p:pic>
            <p:nvPicPr>
              <p:cNvPr id="615" name="運動數據 , 5" descr="運動數據 , 5"/>
              <p:cNvPicPr>
                <a:picLocks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0"/>
                <a:ext cx="2539366" cy="798197"/>
              </a:xfrm>
              <a:prstGeom prst="rect">
                <a:avLst/>
              </a:prstGeom>
              <a:effectLst/>
            </p:spPr>
          </p:pic>
        </p:grpSp>
        <p:sp>
          <p:nvSpPr>
            <p:cNvPr id="618" name="鬧鐘 , 3"/>
            <p:cNvSpPr txBox="1"/>
            <p:nvPr/>
          </p:nvSpPr>
          <p:spPr>
            <a:xfrm>
              <a:off x="2914388" y="1089389"/>
              <a:ext cx="152766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鬧鐘 , 3</a:t>
              </a:r>
            </a:p>
          </p:txBody>
        </p:sp>
        <p:grpSp>
          <p:nvGrpSpPr>
            <p:cNvPr id="621" name="睡眠監測 , 5"/>
            <p:cNvGrpSpPr/>
            <p:nvPr/>
          </p:nvGrpSpPr>
          <p:grpSpPr>
            <a:xfrm>
              <a:off x="15869839" y="10037820"/>
              <a:ext cx="2668288" cy="802570"/>
              <a:chOff x="0" y="0"/>
              <a:chExt cx="2668287" cy="802568"/>
            </a:xfrm>
          </p:grpSpPr>
          <p:sp>
            <p:nvSpPr>
              <p:cNvPr id="620" name="睡眠監測 , 5"/>
              <p:cNvSpPr txBox="1"/>
              <p:nvPr/>
            </p:nvSpPr>
            <p:spPr>
              <a:xfrm>
                <a:off x="38100" y="38100"/>
                <a:ext cx="2592088" cy="726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睡眠監測 , 5</a:t>
                </a:r>
              </a:p>
            </p:txBody>
          </p:sp>
          <p:pic>
            <p:nvPicPr>
              <p:cNvPr id="619" name="睡眠監測 , 5" descr="睡眠監測 , 5"/>
              <p:cNvPicPr>
                <a:picLocks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0" y="0"/>
                <a:ext cx="2668288" cy="802569"/>
              </a:xfrm>
              <a:prstGeom prst="rect">
                <a:avLst/>
              </a:prstGeom>
              <a:effectLst/>
            </p:spPr>
          </p:pic>
        </p:grpSp>
        <p:sp>
          <p:nvSpPr>
            <p:cNvPr id="622" name="天氣預報 , 3"/>
            <p:cNvSpPr txBox="1"/>
            <p:nvPr/>
          </p:nvSpPr>
          <p:spPr>
            <a:xfrm>
              <a:off x="16331043" y="5336974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天氣預報 , 3</a:t>
              </a:r>
            </a:p>
          </p:txBody>
        </p:sp>
        <p:sp>
          <p:nvSpPr>
            <p:cNvPr id="623" name="理財(記帳) , 2"/>
            <p:cNvSpPr txBox="1"/>
            <p:nvPr/>
          </p:nvSpPr>
          <p:spPr>
            <a:xfrm>
              <a:off x="534134" y="2489071"/>
              <a:ext cx="257720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理財(記帳) , 2</a:t>
              </a:r>
            </a:p>
          </p:txBody>
        </p:sp>
        <p:grpSp>
          <p:nvGrpSpPr>
            <p:cNvPr id="626" name="急救SOS , 5"/>
            <p:cNvGrpSpPr/>
            <p:nvPr/>
          </p:nvGrpSpPr>
          <p:grpSpPr>
            <a:xfrm>
              <a:off x="12883557" y="717366"/>
              <a:ext cx="2646135" cy="785082"/>
              <a:chOff x="0" y="0"/>
              <a:chExt cx="2646134" cy="785081"/>
            </a:xfrm>
          </p:grpSpPr>
          <p:sp>
            <p:nvSpPr>
              <p:cNvPr id="625" name="急救SOS , 5"/>
              <p:cNvSpPr txBox="1"/>
              <p:nvPr/>
            </p:nvSpPr>
            <p:spPr>
              <a:xfrm>
                <a:off x="38100" y="38099"/>
                <a:ext cx="2569935" cy="7088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急救SOS , 5</a:t>
                </a:r>
              </a:p>
            </p:txBody>
          </p:sp>
          <p:pic>
            <p:nvPicPr>
              <p:cNvPr id="624" name="急救SOS , 5" descr="急救SOS , 5"/>
              <p:cNvPicPr>
                <a:picLocks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0" y="-1"/>
                <a:ext cx="2646135" cy="785083"/>
              </a:xfrm>
              <a:prstGeom prst="rect">
                <a:avLst/>
              </a:prstGeom>
              <a:effectLst/>
            </p:spPr>
          </p:pic>
        </p:grpSp>
        <p:grpSp>
          <p:nvGrpSpPr>
            <p:cNvPr id="629" name="生理警告 , 5"/>
            <p:cNvGrpSpPr/>
            <p:nvPr/>
          </p:nvGrpSpPr>
          <p:grpSpPr>
            <a:xfrm>
              <a:off x="15557451" y="7431231"/>
              <a:ext cx="2676940" cy="784245"/>
              <a:chOff x="0" y="0"/>
              <a:chExt cx="2676938" cy="784243"/>
            </a:xfrm>
          </p:grpSpPr>
          <p:sp>
            <p:nvSpPr>
              <p:cNvPr id="628" name="生理警告 , 5"/>
              <p:cNvSpPr txBox="1"/>
              <p:nvPr/>
            </p:nvSpPr>
            <p:spPr>
              <a:xfrm>
                <a:off x="38100" y="38100"/>
                <a:ext cx="2600739" cy="7080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生理警告 , 5</a:t>
                </a:r>
              </a:p>
            </p:txBody>
          </p:sp>
          <p:pic>
            <p:nvPicPr>
              <p:cNvPr id="627" name="生理警告 , 5" descr="生理警告 , 5"/>
              <p:cNvPicPr>
                <a:picLocks/>
              </p:cNvPicPr>
              <p:nvPr/>
            </p:nvPicPr>
            <p:blipFill>
              <a:blip r:embed="rId19">
                <a:extLst/>
              </a:blip>
              <a:stretch>
                <a:fillRect/>
              </a:stretch>
            </p:blipFill>
            <p:spPr>
              <a:xfrm>
                <a:off x="0" y="0"/>
                <a:ext cx="2676939" cy="784244"/>
              </a:xfrm>
              <a:prstGeom prst="rect">
                <a:avLst/>
              </a:prstGeom>
              <a:effectLst/>
            </p:spPr>
          </p:pic>
        </p:grpSp>
        <p:sp>
          <p:nvSpPr>
            <p:cNvPr id="630" name="通訊功能 , 3"/>
            <p:cNvSpPr txBox="1"/>
            <p:nvPr/>
          </p:nvSpPr>
          <p:spPr>
            <a:xfrm>
              <a:off x="16211187" y="3766936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通訊功能 , 3</a:t>
              </a:r>
            </a:p>
          </p:txBody>
        </p:sp>
        <p:grpSp>
          <p:nvGrpSpPr>
            <p:cNvPr id="633" name="心率監測 , 4"/>
            <p:cNvGrpSpPr/>
            <p:nvPr/>
          </p:nvGrpSpPr>
          <p:grpSpPr>
            <a:xfrm>
              <a:off x="10575100" y="-38101"/>
              <a:ext cx="2540017" cy="824057"/>
              <a:chOff x="0" y="0"/>
              <a:chExt cx="2540016" cy="824055"/>
            </a:xfrm>
          </p:grpSpPr>
          <p:sp>
            <p:nvSpPr>
              <p:cNvPr id="632" name="心率監測 , 4"/>
              <p:cNvSpPr txBox="1"/>
              <p:nvPr/>
            </p:nvSpPr>
            <p:spPr>
              <a:xfrm>
                <a:off x="38100" y="38100"/>
                <a:ext cx="2463817" cy="7478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/>
                    </a:solidFill>
                  </a:defRPr>
                </a:lvl1pPr>
              </a:lstStyle>
              <a:p>
                <a:r>
                  <a:t>心率監測 , 4</a:t>
                </a:r>
              </a:p>
            </p:txBody>
          </p:sp>
          <p:pic>
            <p:nvPicPr>
              <p:cNvPr id="631" name="心率監測 , 4" descr="心率監測 , 4"/>
              <p:cNvPicPr>
                <a:picLocks/>
              </p:cNvPicPr>
              <p:nvPr/>
            </p:nvPicPr>
            <p:blipFill>
              <a:blip r:embed="rId20">
                <a:extLst/>
              </a:blip>
              <a:stretch>
                <a:fillRect/>
              </a:stretch>
            </p:blipFill>
            <p:spPr>
              <a:xfrm>
                <a:off x="0" y="-1"/>
                <a:ext cx="2540017" cy="824057"/>
              </a:xfrm>
              <a:prstGeom prst="rect">
                <a:avLst/>
              </a:prstGeom>
              <a:effectLst/>
            </p:spPr>
          </p:pic>
        </p:grpSp>
        <p:sp>
          <p:nvSpPr>
            <p:cNvPr id="634" name="GPS , 4"/>
            <p:cNvSpPr txBox="1"/>
            <p:nvPr/>
          </p:nvSpPr>
          <p:spPr>
            <a:xfrm>
              <a:off x="2164454" y="8559820"/>
              <a:ext cx="1558038" cy="624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GPS , 4</a:t>
              </a:r>
            </a:p>
          </p:txBody>
        </p:sp>
        <p:sp>
          <p:nvSpPr>
            <p:cNvPr id="635" name="行事曆 , 3"/>
            <p:cNvSpPr txBox="1"/>
            <p:nvPr/>
          </p:nvSpPr>
          <p:spPr>
            <a:xfrm>
              <a:off x="15465852" y="1749626"/>
              <a:ext cx="1932585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行事曆 , 3</a:t>
              </a:r>
            </a:p>
          </p:txBody>
        </p:sp>
        <p:sp>
          <p:nvSpPr>
            <p:cNvPr id="636" name="付款功能 , 3"/>
            <p:cNvSpPr txBox="1"/>
            <p:nvPr/>
          </p:nvSpPr>
          <p:spPr>
            <a:xfrm>
              <a:off x="3426149" y="1060825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付款功能 , 3</a:t>
              </a:r>
            </a:p>
          </p:txBody>
        </p:sp>
        <p:sp>
          <p:nvSpPr>
            <p:cNvPr id="637" name="訊息通知 , 3"/>
            <p:cNvSpPr txBox="1"/>
            <p:nvPr/>
          </p:nvSpPr>
          <p:spPr>
            <a:xfrm>
              <a:off x="15113230" y="8917482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訊息通知 , 3</a:t>
              </a:r>
            </a:p>
          </p:txBody>
        </p:sp>
        <p:sp>
          <p:nvSpPr>
            <p:cNvPr id="638" name="久坐提醒 , 3"/>
            <p:cNvSpPr txBox="1"/>
            <p:nvPr/>
          </p:nvSpPr>
          <p:spPr>
            <a:xfrm>
              <a:off x="2509473" y="9842319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久坐提醒 , 3</a:t>
              </a:r>
            </a:p>
          </p:txBody>
        </p:sp>
      </p:grpSp>
      <p:grpSp>
        <p:nvGrpSpPr>
          <p:cNvPr id="643" name="群組"/>
          <p:cNvGrpSpPr/>
          <p:nvPr/>
        </p:nvGrpSpPr>
        <p:grpSpPr>
          <a:xfrm>
            <a:off x="20240356" y="12266988"/>
            <a:ext cx="3175535" cy="1253716"/>
            <a:chOff x="0" y="0"/>
            <a:chExt cx="3175533" cy="1253714"/>
          </a:xfrm>
        </p:grpSpPr>
        <p:sp>
          <p:nvSpPr>
            <p:cNvPr id="640" name="圓角矩形"/>
            <p:cNvSpPr/>
            <p:nvPr/>
          </p:nvSpPr>
          <p:spPr>
            <a:xfrm>
              <a:off x="192141" y="759481"/>
              <a:ext cx="2825751" cy="494234"/>
            </a:xfrm>
            <a:prstGeom prst="roundRect">
              <a:avLst>
                <a:gd name="adj" fmla="val 38545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5">
                    <a:hueOff val="-82419"/>
                    <a:satOff val="-9513"/>
                    <a:lumOff val="-16343"/>
                  </a:scheme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41" name="1"/>
            <p:cNvSpPr txBox="1"/>
            <p:nvPr/>
          </p:nvSpPr>
          <p:spPr>
            <a:xfrm>
              <a:off x="-1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1</a:t>
              </a:r>
            </a:p>
          </p:txBody>
        </p:sp>
        <p:sp>
          <p:nvSpPr>
            <p:cNvPr id="642" name="5"/>
            <p:cNvSpPr txBox="1"/>
            <p:nvPr/>
          </p:nvSpPr>
          <p:spPr>
            <a:xfrm>
              <a:off x="2793999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5</a:t>
              </a:r>
            </a:p>
          </p:txBody>
        </p:sp>
      </p:grpSp>
      <p:sp>
        <p:nvSpPr>
          <p:cNvPr id="644" name="您會使用下列功能的分數"/>
          <p:cNvSpPr txBox="1"/>
          <p:nvPr/>
        </p:nvSpPr>
        <p:spPr>
          <a:xfrm>
            <a:off x="1524320" y="1955505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您會使用下列功能的分數</a:t>
            </a:r>
          </a:p>
        </p:txBody>
      </p:sp>
      <p:sp>
        <p:nvSpPr>
          <p:cNvPr id="645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719" name="群組"/>
          <p:cNvGrpSpPr/>
          <p:nvPr/>
        </p:nvGrpSpPr>
        <p:grpSpPr>
          <a:xfrm>
            <a:off x="262267" y="1830628"/>
            <a:ext cx="18706643" cy="11358121"/>
            <a:chOff x="-38100" y="-38100"/>
            <a:chExt cx="18706641" cy="11358120"/>
          </a:xfrm>
        </p:grpSpPr>
        <p:grpSp>
          <p:nvGrpSpPr>
            <p:cNvPr id="662" name="群組"/>
            <p:cNvGrpSpPr/>
            <p:nvPr/>
          </p:nvGrpSpPr>
          <p:grpSpPr>
            <a:xfrm>
              <a:off x="1665117" y="740759"/>
              <a:ext cx="15310870" cy="10499122"/>
              <a:chOff x="0" y="0"/>
              <a:chExt cx="15310868" cy="10499121"/>
            </a:xfrm>
          </p:grpSpPr>
          <p:sp>
            <p:nvSpPr>
              <p:cNvPr id="648" name="線條"/>
              <p:cNvSpPr/>
              <p:nvPr/>
            </p:nvSpPr>
            <p:spPr>
              <a:xfrm>
                <a:off x="7944993" y="-1"/>
                <a:ext cx="1929884" cy="1246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9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49" name="線條"/>
              <p:cNvSpPr/>
              <p:nvPr/>
            </p:nvSpPr>
            <p:spPr>
              <a:xfrm>
                <a:off x="9521719" y="739050"/>
                <a:ext cx="2288098" cy="93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797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0" name="線條"/>
              <p:cNvSpPr/>
              <p:nvPr/>
            </p:nvSpPr>
            <p:spPr>
              <a:xfrm>
                <a:off x="10827824" y="1819115"/>
                <a:ext cx="3511012" cy="643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99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1" name="線條"/>
              <p:cNvSpPr/>
              <p:nvPr/>
            </p:nvSpPr>
            <p:spPr>
              <a:xfrm flipV="1">
                <a:off x="11671469" y="3829387"/>
                <a:ext cx="337802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2" name="線條"/>
              <p:cNvSpPr/>
              <p:nvPr/>
            </p:nvSpPr>
            <p:spPr>
              <a:xfrm flipV="1">
                <a:off x="11944498" y="5416492"/>
                <a:ext cx="336637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3" name="線條"/>
              <p:cNvSpPr/>
              <p:nvPr/>
            </p:nvSpPr>
            <p:spPr>
              <a:xfrm>
                <a:off x="11766742" y="6982930"/>
                <a:ext cx="3138240" cy="41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0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4" name="線條"/>
              <p:cNvSpPr/>
              <p:nvPr/>
            </p:nvSpPr>
            <p:spPr>
              <a:xfrm>
                <a:off x="11025876" y="8277174"/>
                <a:ext cx="3334377" cy="56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0333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5" name="線條"/>
              <p:cNvSpPr/>
              <p:nvPr/>
            </p:nvSpPr>
            <p:spPr>
              <a:xfrm>
                <a:off x="9346744" y="9120355"/>
                <a:ext cx="5809062" cy="8885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8704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6" name="線條"/>
              <p:cNvSpPr/>
              <p:nvPr/>
            </p:nvSpPr>
            <p:spPr>
              <a:xfrm>
                <a:off x="1707794" y="1152485"/>
                <a:ext cx="2961970" cy="1903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235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7" name="線條"/>
              <p:cNvSpPr/>
              <p:nvPr/>
            </p:nvSpPr>
            <p:spPr>
              <a:xfrm>
                <a:off x="0" y="2613548"/>
                <a:ext cx="4026211" cy="1965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11809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8" name="線條"/>
              <p:cNvSpPr/>
              <p:nvPr/>
            </p:nvSpPr>
            <p:spPr>
              <a:xfrm flipH="1">
                <a:off x="220941" y="6187478"/>
                <a:ext cx="376161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9" name="線條"/>
              <p:cNvSpPr/>
              <p:nvPr/>
            </p:nvSpPr>
            <p:spPr>
              <a:xfrm>
                <a:off x="1158835" y="7709894"/>
                <a:ext cx="3541884" cy="842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53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60" name="線條"/>
              <p:cNvSpPr/>
              <p:nvPr/>
            </p:nvSpPr>
            <p:spPr>
              <a:xfrm>
                <a:off x="2572343" y="9585968"/>
                <a:ext cx="4965147" cy="9131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32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61" name="線條"/>
              <p:cNvSpPr/>
              <p:nvPr/>
            </p:nvSpPr>
            <p:spPr>
              <a:xfrm>
                <a:off x="1711293" y="9003396"/>
                <a:ext cx="4184967" cy="708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206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8100" cap="flat">
                <a:solidFill>
                  <a:srgbClr val="5E5E5E"/>
                </a:solidFill>
                <a:custDash>
                  <a:ds d="600000" sp="6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663" name="圓形"/>
            <p:cNvSpPr/>
            <p:nvPr/>
          </p:nvSpPr>
          <p:spPr>
            <a:xfrm>
              <a:off x="4641548" y="1137241"/>
              <a:ext cx="10039435" cy="1003943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664" name="影像" descr="影像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437217" y="1646301"/>
              <a:ext cx="1461922" cy="14184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5" name="影像" descr="影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921136" y="6183064"/>
              <a:ext cx="1464351" cy="1502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6" name="unnamed-2.png" descr="unnamed-2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85511" y="3053721"/>
              <a:ext cx="1464351" cy="1464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7" name="life_features_sleep.png" descr="life_features_sleep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51532" b="28119"/>
            <a:stretch>
              <a:fillRect/>
            </a:stretch>
          </p:blipFill>
          <p:spPr>
            <a:xfrm>
              <a:off x="9357132" y="8697207"/>
              <a:ext cx="2815289" cy="20876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8" name="影像" descr="影像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72087" y="5424783"/>
              <a:ext cx="1506899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9" name="影像" descr="影像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84809" y="4495338"/>
              <a:ext cx="1537004" cy="1537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72" name="群組"/>
            <p:cNvGrpSpPr/>
            <p:nvPr/>
          </p:nvGrpSpPr>
          <p:grpSpPr>
            <a:xfrm>
              <a:off x="12556976" y="7056281"/>
              <a:ext cx="1464351" cy="1464351"/>
              <a:chOff x="0" y="0"/>
              <a:chExt cx="1464350" cy="1464350"/>
            </a:xfrm>
          </p:grpSpPr>
          <p:sp>
            <p:nvSpPr>
              <p:cNvPr id="670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71" name="icon-mikio-07.png" descr="icon-mikio-07.png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318" y="220783"/>
                <a:ext cx="1363713" cy="10227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73" name="10-11-00-91.png" descr="10-11-00-91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2520648" y="3774734"/>
              <a:ext cx="1537004" cy="1552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76" name="群組"/>
            <p:cNvGrpSpPr/>
            <p:nvPr/>
          </p:nvGrpSpPr>
          <p:grpSpPr>
            <a:xfrm>
              <a:off x="5642442" y="7681865"/>
              <a:ext cx="1464352" cy="1464351"/>
              <a:chOff x="0" y="0"/>
              <a:chExt cx="1464350" cy="1464350"/>
            </a:xfrm>
          </p:grpSpPr>
          <p:sp>
            <p:nvSpPr>
              <p:cNvPr id="674" name="群組"/>
              <p:cNvSpPr/>
              <p:nvPr/>
            </p:nvSpPr>
            <p:spPr>
              <a:xfrm>
                <a:off x="0" y="0"/>
                <a:ext cx="1464351" cy="1464351"/>
              </a:xfrm>
              <a:prstGeom prst="ellipse">
                <a:avLst/>
              </a:prstGeom>
              <a:solidFill>
                <a:schemeClr val="accent1">
                  <a:lumOff val="-1357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75" name="gps_PNG1.png" descr="gps_PNG1.png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363826" y="223833"/>
                <a:ext cx="736698" cy="10166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77" name="影像" descr="影像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1719683" y="2418347"/>
              <a:ext cx="1464352" cy="1464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80" name="群組"/>
            <p:cNvGrpSpPr/>
            <p:nvPr/>
          </p:nvGrpSpPr>
          <p:grpSpPr>
            <a:xfrm>
              <a:off x="6767234" y="8882864"/>
              <a:ext cx="1538986" cy="1538986"/>
              <a:chOff x="0" y="0"/>
              <a:chExt cx="1538984" cy="1538984"/>
            </a:xfrm>
          </p:grpSpPr>
          <p:sp>
            <p:nvSpPr>
              <p:cNvPr id="678" name="群組"/>
              <p:cNvSpPr/>
              <p:nvPr/>
            </p:nvSpPr>
            <p:spPr>
              <a:xfrm>
                <a:off x="0" y="0"/>
                <a:ext cx="1538985" cy="1538985"/>
              </a:xfrm>
              <a:prstGeom prst="ellipse">
                <a:avLst/>
              </a:prstGeom>
              <a:solidFill>
                <a:schemeClr val="accent4">
                  <a:hueOff val="-1081314"/>
                  <a:satOff val="4338"/>
                  <a:lumOff val="-893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79" name="影像" descr="影像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107915" y="122738"/>
                <a:ext cx="1123436" cy="12935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83" name="群組"/>
            <p:cNvGrpSpPr/>
            <p:nvPr/>
          </p:nvGrpSpPr>
          <p:grpSpPr>
            <a:xfrm>
              <a:off x="8478370" y="9429700"/>
              <a:ext cx="1537004" cy="1537004"/>
              <a:chOff x="0" y="0"/>
              <a:chExt cx="1537002" cy="1537002"/>
            </a:xfrm>
          </p:grpSpPr>
          <p:sp>
            <p:nvSpPr>
              <p:cNvPr id="681" name="群組"/>
              <p:cNvSpPr/>
              <p:nvPr/>
            </p:nvSpPr>
            <p:spPr>
              <a:xfrm>
                <a:off x="0" y="0"/>
                <a:ext cx="1537003" cy="1537003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82" name="cardpayment_tarjet_3771.png" descr="cardpayment_tarjet_3771.png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109182" y="109183"/>
                <a:ext cx="1318637" cy="13186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84" name="影像" descr="影像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11572213" y="8181095"/>
              <a:ext cx="1733983" cy="1718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5" name="影像" descr="影像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8905764" y="1247332"/>
              <a:ext cx="1511004" cy="1538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6" name="圓形"/>
            <p:cNvSpPr/>
            <p:nvPr/>
          </p:nvSpPr>
          <p:spPr>
            <a:xfrm>
              <a:off x="6396265" y="6610889"/>
              <a:ext cx="492428" cy="49242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693" name="群組"/>
            <p:cNvGrpSpPr/>
            <p:nvPr/>
          </p:nvGrpSpPr>
          <p:grpSpPr>
            <a:xfrm rot="180000">
              <a:off x="6653865" y="1469283"/>
              <a:ext cx="1917567" cy="1325513"/>
              <a:chOff x="0" y="0"/>
              <a:chExt cx="1917566" cy="1325512"/>
            </a:xfrm>
          </p:grpSpPr>
          <p:sp>
            <p:nvSpPr>
              <p:cNvPr id="687" name="圓形"/>
              <p:cNvSpPr/>
              <p:nvPr/>
            </p:nvSpPr>
            <p:spPr>
              <a:xfrm rot="21600000">
                <a:off x="-1" y="1065566"/>
                <a:ext cx="259947" cy="25994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88" name="圓形"/>
              <p:cNvSpPr/>
              <p:nvPr/>
            </p:nvSpPr>
            <p:spPr>
              <a:xfrm rot="21600000">
                <a:off x="316339" y="781600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89" name="圓形"/>
              <p:cNvSpPr/>
              <p:nvPr/>
            </p:nvSpPr>
            <p:spPr>
              <a:xfrm rot="21600000">
                <a:off x="645333" y="544104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90" name="圓形"/>
              <p:cNvSpPr/>
              <p:nvPr/>
            </p:nvSpPr>
            <p:spPr>
              <a:xfrm rot="21600000">
                <a:off x="986980" y="316339"/>
                <a:ext cx="259946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91" name="圓形"/>
              <p:cNvSpPr/>
              <p:nvPr/>
            </p:nvSpPr>
            <p:spPr>
              <a:xfrm rot="21600000">
                <a:off x="1303320" y="139189"/>
                <a:ext cx="259946" cy="259946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92" name="圓形"/>
              <p:cNvSpPr/>
              <p:nvPr/>
            </p:nvSpPr>
            <p:spPr>
              <a:xfrm rot="21600000">
                <a:off x="1657620" y="-1"/>
                <a:ext cx="259947" cy="259947"/>
              </a:xfrm>
              <a:prstGeom prst="ellipse">
                <a:avLst/>
              </a:prstGeom>
              <a:solidFill>
                <a:srgbClr val="D6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694" name="Nike+"/>
            <p:cNvSpPr txBox="1"/>
            <p:nvPr/>
          </p:nvSpPr>
          <p:spPr>
            <a:xfrm>
              <a:off x="8136190" y="5437057"/>
              <a:ext cx="3050150" cy="1439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b">
              <a:noAutofit/>
            </a:bodyPr>
            <a:lstStyle>
              <a:lvl1pPr>
                <a:defRPr sz="8800" b="0">
                  <a:solidFill>
                    <a:srgbClr val="FFFFFF"/>
                  </a:solidFill>
                </a:defRPr>
              </a:lvl1pPr>
            </a:lstStyle>
            <a:p>
              <a:r>
                <a:t>Nike+</a:t>
              </a:r>
            </a:p>
          </p:txBody>
        </p:sp>
        <p:grpSp>
          <p:nvGrpSpPr>
            <p:cNvPr id="697" name="運動數據 , 5"/>
            <p:cNvGrpSpPr/>
            <p:nvPr/>
          </p:nvGrpSpPr>
          <p:grpSpPr>
            <a:xfrm>
              <a:off x="-38100" y="6136445"/>
              <a:ext cx="2539366" cy="798198"/>
              <a:chOff x="0" y="0"/>
              <a:chExt cx="2539365" cy="798196"/>
            </a:xfrm>
          </p:grpSpPr>
          <p:sp>
            <p:nvSpPr>
              <p:cNvPr id="696" name="運動數據 , 5"/>
              <p:cNvSpPr txBox="1"/>
              <p:nvPr/>
            </p:nvSpPr>
            <p:spPr>
              <a:xfrm>
                <a:off x="38100" y="38100"/>
                <a:ext cx="2463166" cy="721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運動數據 , 5</a:t>
                </a:r>
              </a:p>
            </p:txBody>
          </p:sp>
          <p:pic>
            <p:nvPicPr>
              <p:cNvPr id="695" name="運動數據 , 5" descr="運動數據 , 5"/>
              <p:cNvPicPr>
                <a:picLocks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0"/>
                <a:ext cx="2539366" cy="798197"/>
              </a:xfrm>
              <a:prstGeom prst="rect">
                <a:avLst/>
              </a:prstGeom>
              <a:effectLst/>
            </p:spPr>
          </p:pic>
        </p:grpSp>
        <p:sp>
          <p:nvSpPr>
            <p:cNvPr id="698" name="鬧鐘 , 3"/>
            <p:cNvSpPr txBox="1"/>
            <p:nvPr/>
          </p:nvSpPr>
          <p:spPr>
            <a:xfrm>
              <a:off x="2914388" y="1089389"/>
              <a:ext cx="152766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鬧鐘 , 3</a:t>
              </a:r>
            </a:p>
          </p:txBody>
        </p:sp>
        <p:grpSp>
          <p:nvGrpSpPr>
            <p:cNvPr id="701" name="睡眠監測 , 5"/>
            <p:cNvGrpSpPr/>
            <p:nvPr/>
          </p:nvGrpSpPr>
          <p:grpSpPr>
            <a:xfrm>
              <a:off x="15869839" y="10037820"/>
              <a:ext cx="2668288" cy="802570"/>
              <a:chOff x="0" y="0"/>
              <a:chExt cx="2668287" cy="802568"/>
            </a:xfrm>
          </p:grpSpPr>
          <p:sp>
            <p:nvSpPr>
              <p:cNvPr id="700" name="睡眠監測 , 5"/>
              <p:cNvSpPr txBox="1"/>
              <p:nvPr/>
            </p:nvSpPr>
            <p:spPr>
              <a:xfrm>
                <a:off x="38100" y="38100"/>
                <a:ext cx="2592088" cy="726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睡眠監測 , 5</a:t>
                </a:r>
              </a:p>
            </p:txBody>
          </p:sp>
          <p:pic>
            <p:nvPicPr>
              <p:cNvPr id="699" name="睡眠監測 , 5" descr="睡眠監測 , 5"/>
              <p:cNvPicPr>
                <a:picLocks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0" y="0"/>
                <a:ext cx="2668288" cy="802569"/>
              </a:xfrm>
              <a:prstGeom prst="rect">
                <a:avLst/>
              </a:prstGeom>
              <a:effectLst/>
            </p:spPr>
          </p:pic>
        </p:grpSp>
        <p:sp>
          <p:nvSpPr>
            <p:cNvPr id="702" name="天氣預報 , 3"/>
            <p:cNvSpPr txBox="1"/>
            <p:nvPr/>
          </p:nvSpPr>
          <p:spPr>
            <a:xfrm>
              <a:off x="16331043" y="5336974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天氣預報 , 3</a:t>
              </a:r>
            </a:p>
          </p:txBody>
        </p:sp>
        <p:sp>
          <p:nvSpPr>
            <p:cNvPr id="703" name="理財(記帳) , 2"/>
            <p:cNvSpPr txBox="1"/>
            <p:nvPr/>
          </p:nvSpPr>
          <p:spPr>
            <a:xfrm>
              <a:off x="534134" y="2489071"/>
              <a:ext cx="257720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461056"/>
                      <a:satOff val="4338"/>
                      <a:lumOff val="-10225"/>
                    </a:schemeClr>
                  </a:solidFill>
                </a:defRPr>
              </a:lvl1pPr>
            </a:lstStyle>
            <a:p>
              <a:r>
                <a:t>理財(記帳) , 2</a:t>
              </a:r>
            </a:p>
          </p:txBody>
        </p:sp>
        <p:grpSp>
          <p:nvGrpSpPr>
            <p:cNvPr id="706" name="急救SOS , 5"/>
            <p:cNvGrpSpPr/>
            <p:nvPr/>
          </p:nvGrpSpPr>
          <p:grpSpPr>
            <a:xfrm>
              <a:off x="12883557" y="717366"/>
              <a:ext cx="2646135" cy="785082"/>
              <a:chOff x="0" y="0"/>
              <a:chExt cx="2646134" cy="785081"/>
            </a:xfrm>
          </p:grpSpPr>
          <p:sp>
            <p:nvSpPr>
              <p:cNvPr id="705" name="急救SOS , 5"/>
              <p:cNvSpPr txBox="1"/>
              <p:nvPr/>
            </p:nvSpPr>
            <p:spPr>
              <a:xfrm>
                <a:off x="38100" y="38099"/>
                <a:ext cx="2569935" cy="7088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急救SOS , 5</a:t>
                </a:r>
              </a:p>
            </p:txBody>
          </p:sp>
          <p:pic>
            <p:nvPicPr>
              <p:cNvPr id="704" name="急救SOS , 5" descr="急救SOS , 5"/>
              <p:cNvPicPr>
                <a:picLocks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0" y="-1"/>
                <a:ext cx="2646135" cy="785083"/>
              </a:xfrm>
              <a:prstGeom prst="rect">
                <a:avLst/>
              </a:prstGeom>
              <a:effectLst/>
            </p:spPr>
          </p:pic>
        </p:grpSp>
        <p:grpSp>
          <p:nvGrpSpPr>
            <p:cNvPr id="709" name="生理警告 , 5"/>
            <p:cNvGrpSpPr/>
            <p:nvPr/>
          </p:nvGrpSpPr>
          <p:grpSpPr>
            <a:xfrm>
              <a:off x="15557451" y="7431231"/>
              <a:ext cx="2676940" cy="784245"/>
              <a:chOff x="0" y="0"/>
              <a:chExt cx="2676938" cy="784243"/>
            </a:xfrm>
          </p:grpSpPr>
          <p:sp>
            <p:nvSpPr>
              <p:cNvPr id="708" name="生理警告 , 5"/>
              <p:cNvSpPr txBox="1"/>
              <p:nvPr/>
            </p:nvSpPr>
            <p:spPr>
              <a:xfrm>
                <a:off x="38100" y="38100"/>
                <a:ext cx="2600739" cy="7080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lvl1pPr>
              </a:lstStyle>
              <a:p>
                <a:r>
                  <a:t>生理警告 , 5</a:t>
                </a:r>
              </a:p>
            </p:txBody>
          </p:sp>
          <p:pic>
            <p:nvPicPr>
              <p:cNvPr id="707" name="生理警告 , 5" descr="生理警告 , 5"/>
              <p:cNvPicPr>
                <a:picLocks/>
              </p:cNvPicPr>
              <p:nvPr/>
            </p:nvPicPr>
            <p:blipFill>
              <a:blip r:embed="rId19">
                <a:extLst/>
              </a:blip>
              <a:stretch>
                <a:fillRect/>
              </a:stretch>
            </p:blipFill>
            <p:spPr>
              <a:xfrm>
                <a:off x="0" y="0"/>
                <a:ext cx="2676939" cy="784244"/>
              </a:xfrm>
              <a:prstGeom prst="rect">
                <a:avLst/>
              </a:prstGeom>
              <a:effectLst/>
            </p:spPr>
          </p:pic>
        </p:grpSp>
        <p:sp>
          <p:nvSpPr>
            <p:cNvPr id="710" name="通訊功能 , 3"/>
            <p:cNvSpPr txBox="1"/>
            <p:nvPr/>
          </p:nvSpPr>
          <p:spPr>
            <a:xfrm>
              <a:off x="16211187" y="3766936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通訊功能 , 3</a:t>
              </a:r>
            </a:p>
          </p:txBody>
        </p:sp>
        <p:grpSp>
          <p:nvGrpSpPr>
            <p:cNvPr id="713" name="心率監測 , 4"/>
            <p:cNvGrpSpPr/>
            <p:nvPr/>
          </p:nvGrpSpPr>
          <p:grpSpPr>
            <a:xfrm>
              <a:off x="10575100" y="-38101"/>
              <a:ext cx="2540017" cy="824057"/>
              <a:chOff x="0" y="0"/>
              <a:chExt cx="2540016" cy="824055"/>
            </a:xfrm>
          </p:grpSpPr>
          <p:sp>
            <p:nvSpPr>
              <p:cNvPr id="712" name="心率監測 , 4"/>
              <p:cNvSpPr txBox="1"/>
              <p:nvPr/>
            </p:nvSpPr>
            <p:spPr>
              <a:xfrm>
                <a:off x="38100" y="38100"/>
                <a:ext cx="2463817" cy="7478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>
                    <a:solidFill>
                      <a:schemeClr val="accent5"/>
                    </a:solidFill>
                  </a:defRPr>
                </a:lvl1pPr>
              </a:lstStyle>
              <a:p>
                <a:r>
                  <a:t>心率監測 , 4</a:t>
                </a:r>
              </a:p>
            </p:txBody>
          </p:sp>
          <p:pic>
            <p:nvPicPr>
              <p:cNvPr id="711" name="心率監測 , 4" descr="心率監測 , 4"/>
              <p:cNvPicPr>
                <a:picLocks/>
              </p:cNvPicPr>
              <p:nvPr/>
            </p:nvPicPr>
            <p:blipFill>
              <a:blip r:embed="rId20">
                <a:extLst/>
              </a:blip>
              <a:stretch>
                <a:fillRect/>
              </a:stretch>
            </p:blipFill>
            <p:spPr>
              <a:xfrm>
                <a:off x="0" y="-1"/>
                <a:ext cx="2540017" cy="824057"/>
              </a:xfrm>
              <a:prstGeom prst="rect">
                <a:avLst/>
              </a:prstGeom>
              <a:effectLst/>
            </p:spPr>
          </p:pic>
        </p:grpSp>
        <p:sp>
          <p:nvSpPr>
            <p:cNvPr id="714" name="GPS , 4"/>
            <p:cNvSpPr txBox="1"/>
            <p:nvPr/>
          </p:nvSpPr>
          <p:spPr>
            <a:xfrm>
              <a:off x="2164454" y="8559820"/>
              <a:ext cx="1558038" cy="624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t>GPS , 4</a:t>
              </a:r>
            </a:p>
          </p:txBody>
        </p:sp>
        <p:sp>
          <p:nvSpPr>
            <p:cNvPr id="715" name="行事曆 , 3"/>
            <p:cNvSpPr txBox="1"/>
            <p:nvPr/>
          </p:nvSpPr>
          <p:spPr>
            <a:xfrm>
              <a:off x="15465852" y="1749626"/>
              <a:ext cx="1932585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行事曆 , 3</a:t>
              </a:r>
            </a:p>
          </p:txBody>
        </p:sp>
        <p:sp>
          <p:nvSpPr>
            <p:cNvPr id="716" name="付款功能 , 3"/>
            <p:cNvSpPr txBox="1"/>
            <p:nvPr/>
          </p:nvSpPr>
          <p:spPr>
            <a:xfrm>
              <a:off x="3426149" y="10608255"/>
              <a:ext cx="2337499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付款功能 , 3</a:t>
              </a:r>
            </a:p>
          </p:txBody>
        </p:sp>
        <p:sp>
          <p:nvSpPr>
            <p:cNvPr id="717" name="訊息通知 , 3"/>
            <p:cNvSpPr txBox="1"/>
            <p:nvPr/>
          </p:nvSpPr>
          <p:spPr>
            <a:xfrm>
              <a:off x="15113230" y="8917482"/>
              <a:ext cx="2337500" cy="7117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訊息通知 , 3</a:t>
              </a:r>
            </a:p>
          </p:txBody>
        </p:sp>
        <p:sp>
          <p:nvSpPr>
            <p:cNvPr id="718" name="久坐提醒 , 3"/>
            <p:cNvSpPr txBox="1"/>
            <p:nvPr/>
          </p:nvSpPr>
          <p:spPr>
            <a:xfrm>
              <a:off x="2509473" y="9842319"/>
              <a:ext cx="2337499" cy="711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r>
                <a:t>久坐提醒 , 3</a:t>
              </a:r>
            </a:p>
          </p:txBody>
        </p:sp>
      </p:grpSp>
      <p:grpSp>
        <p:nvGrpSpPr>
          <p:cNvPr id="723" name="群組"/>
          <p:cNvGrpSpPr/>
          <p:nvPr/>
        </p:nvGrpSpPr>
        <p:grpSpPr>
          <a:xfrm>
            <a:off x="20240356" y="12266988"/>
            <a:ext cx="3175535" cy="1253716"/>
            <a:chOff x="0" y="0"/>
            <a:chExt cx="3175533" cy="1253714"/>
          </a:xfrm>
        </p:grpSpPr>
        <p:sp>
          <p:nvSpPr>
            <p:cNvPr id="720" name="圓角矩形"/>
            <p:cNvSpPr/>
            <p:nvPr/>
          </p:nvSpPr>
          <p:spPr>
            <a:xfrm>
              <a:off x="192141" y="759481"/>
              <a:ext cx="2825751" cy="494234"/>
            </a:xfrm>
            <a:prstGeom prst="roundRect">
              <a:avLst>
                <a:gd name="adj" fmla="val 38545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5">
                    <a:hueOff val="-82419"/>
                    <a:satOff val="-9513"/>
                    <a:lumOff val="-16343"/>
                  </a:scheme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721" name="1"/>
            <p:cNvSpPr txBox="1"/>
            <p:nvPr/>
          </p:nvSpPr>
          <p:spPr>
            <a:xfrm>
              <a:off x="-1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1</a:t>
              </a:r>
            </a:p>
          </p:txBody>
        </p:sp>
        <p:sp>
          <p:nvSpPr>
            <p:cNvPr id="722" name="5"/>
            <p:cNvSpPr txBox="1"/>
            <p:nvPr/>
          </p:nvSpPr>
          <p:spPr>
            <a:xfrm>
              <a:off x="2793999" y="0"/>
              <a:ext cx="381535" cy="626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5</a:t>
              </a:r>
            </a:p>
          </p:txBody>
        </p:sp>
      </p:grpSp>
      <p:sp>
        <p:nvSpPr>
          <p:cNvPr id="724" name="您會使用下列功能的分數"/>
          <p:cNvSpPr txBox="1"/>
          <p:nvPr/>
        </p:nvSpPr>
        <p:spPr>
          <a:xfrm>
            <a:off x="1524320" y="1955505"/>
            <a:ext cx="64577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您會使用下列功能的分數</a:t>
            </a:r>
          </a:p>
        </p:txBody>
      </p:sp>
      <p:sp>
        <p:nvSpPr>
          <p:cNvPr id="725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grpSp>
        <p:nvGrpSpPr>
          <p:cNvPr id="728" name="生理訊息的未來性"/>
          <p:cNvGrpSpPr/>
          <p:nvPr/>
        </p:nvGrpSpPr>
        <p:grpSpPr>
          <a:xfrm>
            <a:off x="19629435" y="4570390"/>
            <a:ext cx="4397376" cy="1031876"/>
            <a:chOff x="0" y="0"/>
            <a:chExt cx="4397375" cy="1031875"/>
          </a:xfrm>
        </p:grpSpPr>
        <p:sp>
          <p:nvSpPr>
            <p:cNvPr id="727" name="生理訊息的未來性"/>
            <p:cNvSpPr txBox="1"/>
            <p:nvPr/>
          </p:nvSpPr>
          <p:spPr>
            <a:xfrm>
              <a:off x="44450" y="44450"/>
              <a:ext cx="4308475" cy="942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4000"/>
              </a:lvl1pPr>
            </a:lstStyle>
            <a:p>
              <a:r>
                <a:t>生理訊息的未來性</a:t>
              </a:r>
            </a:p>
          </p:txBody>
        </p:sp>
        <p:pic>
          <p:nvPicPr>
            <p:cNvPr id="726" name="生理訊息的未來性" descr="生理訊息的未來性"/>
            <p:cNvPicPr>
              <a:picLocks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-1" y="0"/>
              <a:ext cx="4397376" cy="103187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31" name="使用情境"/>
          <p:cNvSpPr txBox="1"/>
          <p:nvPr/>
        </p:nvSpPr>
        <p:spPr>
          <a:xfrm>
            <a:off x="1524320" y="1955505"/>
            <a:ext cx="2546122" cy="2325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t>使用情境</a:t>
            </a:r>
          </a:p>
        </p:txBody>
      </p:sp>
      <p:sp>
        <p:nvSpPr>
          <p:cNvPr id="732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問卷分析</a:t>
            </a:r>
          </a:p>
        </p:txBody>
      </p:sp>
      <p:grpSp>
        <p:nvGrpSpPr>
          <p:cNvPr id="755" name="群組"/>
          <p:cNvGrpSpPr/>
          <p:nvPr/>
        </p:nvGrpSpPr>
        <p:grpSpPr>
          <a:xfrm>
            <a:off x="6708033" y="2546981"/>
            <a:ext cx="10640623" cy="11026430"/>
            <a:chOff x="492419" y="284298"/>
            <a:chExt cx="10640622" cy="11026429"/>
          </a:xfrm>
        </p:grpSpPr>
        <p:sp>
          <p:nvSpPr>
            <p:cNvPr id="733" name="多邊形"/>
            <p:cNvSpPr/>
            <p:nvPr/>
          </p:nvSpPr>
          <p:spPr>
            <a:xfrm rot="19800000">
              <a:off x="2122036" y="1553439"/>
              <a:ext cx="7350954" cy="8488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736" name="群組"/>
            <p:cNvGrpSpPr/>
            <p:nvPr/>
          </p:nvGrpSpPr>
          <p:grpSpPr>
            <a:xfrm>
              <a:off x="657884" y="4656645"/>
              <a:ext cx="2281736" cy="2281736"/>
              <a:chOff x="0" y="0"/>
              <a:chExt cx="2281734" cy="2281734"/>
            </a:xfrm>
          </p:grpSpPr>
          <p:sp>
            <p:nvSpPr>
              <p:cNvPr id="734" name="圓形"/>
              <p:cNvSpPr/>
              <p:nvPr/>
            </p:nvSpPr>
            <p:spPr>
              <a:xfrm>
                <a:off x="53908" y="53908"/>
                <a:ext cx="2173919" cy="2173919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35" name="free_walker_1191230.png" descr="free_walker_1191230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2281735" cy="228173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39" name="群組"/>
            <p:cNvGrpSpPr/>
            <p:nvPr/>
          </p:nvGrpSpPr>
          <p:grpSpPr>
            <a:xfrm>
              <a:off x="2448744" y="8292273"/>
              <a:ext cx="2281735" cy="2281736"/>
              <a:chOff x="0" y="0"/>
              <a:chExt cx="2281734" cy="2281734"/>
            </a:xfrm>
          </p:grpSpPr>
          <p:sp>
            <p:nvSpPr>
              <p:cNvPr id="737" name="圓形"/>
              <p:cNvSpPr/>
              <p:nvPr/>
            </p:nvSpPr>
            <p:spPr>
              <a:xfrm>
                <a:off x="0" y="0"/>
                <a:ext cx="2281735" cy="2281735"/>
              </a:xfrm>
              <a:prstGeom prst="ellipse">
                <a:avLst/>
              </a:prstGeom>
              <a:solidFill>
                <a:schemeClr val="accent2">
                  <a:hueOff val="167855"/>
                  <a:satOff val="17755"/>
                  <a:lumOff val="-1667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38" name="12246-200.png" descr="12246-200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12404" y="312404"/>
                <a:ext cx="1656926" cy="16569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42" name="群組"/>
            <p:cNvGrpSpPr/>
            <p:nvPr/>
          </p:nvGrpSpPr>
          <p:grpSpPr>
            <a:xfrm>
              <a:off x="6625175" y="1074926"/>
              <a:ext cx="2173918" cy="2173919"/>
              <a:chOff x="0" y="0"/>
              <a:chExt cx="2173917" cy="2173917"/>
            </a:xfrm>
          </p:grpSpPr>
          <p:sp>
            <p:nvSpPr>
              <p:cNvPr id="740" name="圓形"/>
              <p:cNvSpPr/>
              <p:nvPr/>
            </p:nvSpPr>
            <p:spPr>
              <a:xfrm>
                <a:off x="179047" y="179047"/>
                <a:ext cx="1815823" cy="181582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41" name="Gym-Icon.png" descr="Gym-Icon.png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2173918" cy="217391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45" name="群組"/>
            <p:cNvGrpSpPr/>
            <p:nvPr/>
          </p:nvGrpSpPr>
          <p:grpSpPr>
            <a:xfrm>
              <a:off x="2502652" y="1128835"/>
              <a:ext cx="2173918" cy="2173918"/>
              <a:chOff x="0" y="0"/>
              <a:chExt cx="2173917" cy="2173917"/>
            </a:xfrm>
          </p:grpSpPr>
          <p:sp>
            <p:nvSpPr>
              <p:cNvPr id="743" name="圓形"/>
              <p:cNvSpPr/>
              <p:nvPr/>
            </p:nvSpPr>
            <p:spPr>
              <a:xfrm>
                <a:off x="0" y="0"/>
                <a:ext cx="2173918" cy="2173918"/>
              </a:xfrm>
              <a:prstGeom prst="ellipse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44" name="classroom.png" descr="classroom.png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332500" y="332500"/>
                <a:ext cx="1508918" cy="150891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48" name="群組"/>
            <p:cNvGrpSpPr/>
            <p:nvPr/>
          </p:nvGrpSpPr>
          <p:grpSpPr>
            <a:xfrm>
              <a:off x="6625175" y="8346181"/>
              <a:ext cx="2173918" cy="2173918"/>
              <a:chOff x="0" y="0"/>
              <a:chExt cx="2173917" cy="2173917"/>
            </a:xfrm>
          </p:grpSpPr>
          <p:sp>
            <p:nvSpPr>
              <p:cNvPr id="746" name="圓形"/>
              <p:cNvSpPr/>
              <p:nvPr/>
            </p:nvSpPr>
            <p:spPr>
              <a:xfrm>
                <a:off x="0" y="0"/>
                <a:ext cx="2173918" cy="2173918"/>
              </a:xfrm>
              <a:prstGeom prst="ellipse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47" name="18329-200.png" descr="18329-200.png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332500" y="332499"/>
                <a:ext cx="1508918" cy="150891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51" name="群組"/>
            <p:cNvGrpSpPr/>
            <p:nvPr/>
          </p:nvGrpSpPr>
          <p:grpSpPr>
            <a:xfrm>
              <a:off x="8704288" y="4583136"/>
              <a:ext cx="2428754" cy="2428754"/>
              <a:chOff x="0" y="0"/>
              <a:chExt cx="2428752" cy="2428752"/>
            </a:xfrm>
          </p:grpSpPr>
          <p:sp>
            <p:nvSpPr>
              <p:cNvPr id="749" name="圓形"/>
              <p:cNvSpPr/>
              <p:nvPr/>
            </p:nvSpPr>
            <p:spPr>
              <a:xfrm>
                <a:off x="212527" y="155787"/>
                <a:ext cx="2173919" cy="2173919"/>
              </a:xfrm>
              <a:prstGeom prst="ellipse">
                <a:avLst/>
              </a:prstGeom>
              <a:solidFill>
                <a:schemeClr val="accent3">
                  <a:hueOff val="362282"/>
                  <a:satOff val="31803"/>
                  <a:lumOff val="-18242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50" name="13585-200.png" descr="13585-200.pn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0"/>
                <a:ext cx="2428753" cy="242875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54" name="群組"/>
            <p:cNvGrpSpPr/>
            <p:nvPr/>
          </p:nvGrpSpPr>
          <p:grpSpPr>
            <a:xfrm>
              <a:off x="3844107" y="3844107"/>
              <a:ext cx="3906812" cy="3906812"/>
              <a:chOff x="0" y="0"/>
              <a:chExt cx="3906811" cy="3906811"/>
            </a:xfrm>
          </p:grpSpPr>
          <p:sp>
            <p:nvSpPr>
              <p:cNvPr id="752" name="圓形"/>
              <p:cNvSpPr/>
              <p:nvPr/>
            </p:nvSpPr>
            <p:spPr>
              <a:xfrm>
                <a:off x="0" y="0"/>
                <a:ext cx="3906812" cy="3906812"/>
              </a:xfrm>
              <a:prstGeom prst="ellipse">
                <a:avLst/>
              </a:prstGeom>
              <a:solidFill>
                <a:schemeClr val="accent4">
                  <a:hueOff val="-461056"/>
                  <a:satOff val="4338"/>
                  <a:lumOff val="-10225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53" name="影像" descr="影像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265664" y="257851"/>
                <a:ext cx="3375481" cy="33911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756" name="健身運動…"/>
          <p:cNvSpPr txBox="1"/>
          <p:nvPr/>
        </p:nvSpPr>
        <p:spPr>
          <a:xfrm>
            <a:off x="14816796" y="4901743"/>
            <a:ext cx="1894155" cy="119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健身運動</a:t>
            </a:r>
          </a:p>
          <a:p>
            <a:r>
              <a:t>14</a:t>
            </a:r>
          </a:p>
        </p:txBody>
      </p:sp>
      <p:sp>
        <p:nvSpPr>
          <p:cNvPr id="757" name="上班上課…"/>
          <p:cNvSpPr txBox="1"/>
          <p:nvPr/>
        </p:nvSpPr>
        <p:spPr>
          <a:xfrm>
            <a:off x="10616271" y="4901743"/>
            <a:ext cx="1894155" cy="119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上班上課</a:t>
            </a:r>
          </a:p>
          <a:p>
            <a:r>
              <a:t>5</a:t>
            </a:r>
          </a:p>
        </p:txBody>
      </p:sp>
      <p:sp>
        <p:nvSpPr>
          <p:cNvPr id="758" name="隨時佩帶…"/>
          <p:cNvSpPr txBox="1"/>
          <p:nvPr/>
        </p:nvSpPr>
        <p:spPr>
          <a:xfrm>
            <a:off x="8442983" y="8886368"/>
            <a:ext cx="1894156" cy="119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隨時佩帶</a:t>
            </a:r>
          </a:p>
          <a:p>
            <a:r>
              <a:t>18</a:t>
            </a:r>
          </a:p>
        </p:txBody>
      </p:sp>
      <p:sp>
        <p:nvSpPr>
          <p:cNvPr id="759" name="出門遊玩…"/>
          <p:cNvSpPr txBox="1"/>
          <p:nvPr/>
        </p:nvSpPr>
        <p:spPr>
          <a:xfrm>
            <a:off x="10616271" y="12124868"/>
            <a:ext cx="1894155" cy="119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出門遊玩</a:t>
            </a:r>
          </a:p>
          <a:p>
            <a:r>
              <a:t>6</a:t>
            </a:r>
          </a:p>
        </p:txBody>
      </p:sp>
      <p:sp>
        <p:nvSpPr>
          <p:cNvPr id="760" name="睡眠…"/>
          <p:cNvSpPr txBox="1"/>
          <p:nvPr/>
        </p:nvSpPr>
        <p:spPr>
          <a:xfrm>
            <a:off x="14913633" y="12124868"/>
            <a:ext cx="1081356" cy="119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睡眠</a:t>
            </a:r>
          </a:p>
          <a:p>
            <a:r>
              <a:t>7</a:t>
            </a:r>
          </a:p>
        </p:txBody>
      </p:sp>
      <p:sp>
        <p:nvSpPr>
          <p:cNvPr id="761" name="其他(想到的時候)…"/>
          <p:cNvSpPr txBox="1"/>
          <p:nvPr/>
        </p:nvSpPr>
        <p:spPr>
          <a:xfrm>
            <a:off x="16714214" y="8880474"/>
            <a:ext cx="3353944" cy="120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其他(想到的時候)</a:t>
            </a:r>
          </a:p>
          <a:p>
            <a:r>
              <a:t>7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64" name="結論"/>
          <p:cNvSpPr txBox="1"/>
          <p:nvPr/>
        </p:nvSpPr>
        <p:spPr>
          <a:xfrm>
            <a:off x="4111877" y="731328"/>
            <a:ext cx="2354811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5900"/>
              </a:spcBef>
              <a:defRPr sz="4400" b="0"/>
            </a:lvl1pPr>
          </a:lstStyle>
          <a:p>
            <a:r>
              <a:rPr lang="en-US" sz="6600" b="1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- </a:t>
            </a:r>
            <a:r>
              <a:rPr sz="6600" b="1" dirty="0" err="1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結論</a:t>
            </a:r>
            <a:endParaRPr sz="6600" b="1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65" name="問卷分析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 err="1"/>
              <a:t>問卷分析</a:t>
            </a:r>
            <a:endParaRPr dirty="0"/>
          </a:p>
        </p:txBody>
      </p:sp>
      <p:sp>
        <p:nvSpPr>
          <p:cNvPr id="766" name="對於智慧型穿戴裝置，大家的喜愛差異…"/>
          <p:cNvSpPr txBox="1"/>
          <p:nvPr/>
        </p:nvSpPr>
        <p:spPr>
          <a:xfrm>
            <a:off x="3246834" y="4814446"/>
            <a:ext cx="11981536" cy="611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marL="634999" indent="-634999" algn="l">
              <a:buSzPct val="100000"/>
              <a:buAutoNum type="arabicPeriod"/>
              <a:defRPr sz="5100"/>
            </a:pPr>
            <a:r>
              <a:rPr dirty="0" err="1"/>
              <a:t>對於智慧型穿戴裝置，大家的喜愛差異</a:t>
            </a:r>
            <a:endParaRPr dirty="0"/>
          </a:p>
          <a:p>
            <a:pPr algn="l">
              <a:defRPr sz="5100"/>
            </a:pPr>
            <a:endParaRPr dirty="0"/>
          </a:p>
          <a:p>
            <a:pPr marL="634999" indent="-634999" algn="l">
              <a:buSzPct val="100000"/>
              <a:buAutoNum type="arabicPeriod" startAt="2"/>
              <a:defRPr sz="5100"/>
            </a:pPr>
            <a:r>
              <a:rPr dirty="0" err="1"/>
              <a:t>智慧型手環與日常生活的結合</a:t>
            </a:r>
            <a:endParaRPr dirty="0"/>
          </a:p>
          <a:p>
            <a:pPr algn="l">
              <a:defRPr sz="5100"/>
            </a:pPr>
            <a:endParaRPr dirty="0"/>
          </a:p>
          <a:p>
            <a:pPr marL="634999" indent="-634999" algn="l">
              <a:buSzPct val="100000"/>
              <a:buAutoNum type="arabicPeriod" startAt="3"/>
              <a:defRPr sz="5100"/>
            </a:pPr>
            <a:r>
              <a:rPr dirty="0" err="1"/>
              <a:t>手機與手環的差異</a:t>
            </a:r>
            <a:endParaRPr dirty="0"/>
          </a:p>
          <a:p>
            <a:pPr algn="l">
              <a:defRPr sz="5100"/>
            </a:pPr>
            <a:endParaRPr dirty="0"/>
          </a:p>
          <a:p>
            <a:pPr marL="634999" indent="-634999" algn="l">
              <a:buSzPct val="100000"/>
              <a:buAutoNum type="arabicPeriod" startAt="4"/>
              <a:defRPr sz="5100"/>
            </a:pPr>
            <a:r>
              <a:rPr dirty="0" err="1"/>
              <a:t>生理資料的應用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008" y="-204002"/>
            <a:ext cx="15609095" cy="3036094"/>
          </a:xfrm>
        </p:spPr>
        <p:txBody>
          <a:bodyPr>
            <a:normAutofit/>
          </a:bodyPr>
          <a:lstStyle/>
          <a:p>
            <a:pPr algn="l" defTabSz="1530326" rtl="0" hangingPunct="0">
              <a:buClr>
                <a:srgbClr val="6C6C6C"/>
              </a:buClr>
            </a:pPr>
            <a:r>
              <a:rPr lang="zh-TW" altLang="en-US" sz="6600" b="1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針對問卷的</a:t>
            </a:r>
            <a:r>
              <a:rPr lang="zh-TW" altLang="en-US" sz="6600" b="1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訪談 </a:t>
            </a:r>
            <a:r>
              <a:rPr lang="en-US" altLang="zh-TW" sz="6600" b="1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- </a:t>
            </a:r>
            <a:r>
              <a:rPr lang="zh-TW" altLang="en-US" sz="6600" b="1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重點整理</a:t>
            </a:r>
            <a:endParaRPr lang="zh-TW" altLang="en-US" sz="6600" b="1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" name="矩形 3"/>
          <p:cNvSpPr/>
          <p:nvPr/>
        </p:nvSpPr>
        <p:spPr>
          <a:xfrm>
            <a:off x="3560960" y="3908709"/>
            <a:ext cx="17839892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1.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身邊的朋友使用的廠牌都是小米 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（賴同學猜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是因為便宜） </a:t>
            </a:r>
            <a:endParaRPr lang="en-US" altLang="zh-TW" sz="4800" b="0" dirty="0" smtClean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endParaRPr lang="en-US" altLang="zh-TW" sz="4800" b="0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2</a:t>
            </a:r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.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正面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經驗</a:t>
            </a:r>
            <a:r>
              <a:rPr lang="en-US" altLang="zh-TW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: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之前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重要報告的時候會跟同學輪流測心跳，滿有趣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的</a:t>
            </a:r>
            <a:endParaRPr lang="en-US" altLang="zh-TW" sz="4800" b="0" dirty="0" smtClean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endParaRPr lang="en-US" altLang="zh-TW" sz="4800" b="0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3</a:t>
            </a:r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.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負面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經驗</a:t>
            </a:r>
            <a:r>
              <a:rPr lang="en-US" altLang="zh-TW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:</a:t>
            </a:r>
            <a:r>
              <a:rPr lang="zh-TW" altLang="en-US" sz="4800" b="0" dirty="0" smtClean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洗澡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的時候沒脫下來會不方便 </a:t>
            </a:r>
            <a:endParaRPr lang="en-US" altLang="zh-TW" sz="4800" b="0" dirty="0" smtClean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endParaRPr lang="en-US" altLang="zh-TW" sz="4800" b="0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4</a:t>
            </a:r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.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重視外觀或功能 原本比較重視功能，但現在比較重視外觀，因為功能使用到的不多 </a:t>
            </a:r>
            <a:endParaRPr lang="en-US" altLang="zh-TW" sz="4800" b="0" dirty="0" smtClean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endParaRPr lang="en-US" altLang="zh-TW" sz="4800" b="0" dirty="0">
              <a:solidFill>
                <a:srgbClr val="232323"/>
              </a:solidFill>
              <a:uFill>
                <a:solidFill>
                  <a:srgbClr val="232323"/>
                </a:solidFill>
              </a:uFill>
              <a:latin typeface="Helvetica"/>
              <a:ea typeface="Helvetica"/>
              <a:cs typeface="Helvetica"/>
              <a:sym typeface="Helvetica Neue Medium"/>
            </a:endParaRPr>
          </a:p>
          <a:p>
            <a:pPr algn="l"/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5</a:t>
            </a:r>
            <a:r>
              <a:rPr lang="en-US" altLang="zh-TW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.</a:t>
            </a:r>
            <a:r>
              <a:rPr lang="zh-TW" altLang="en-US" sz="4800" b="0" dirty="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 Neue Medium"/>
              </a:rPr>
              <a:t>錶面喜歡什麼形狀？ 沒特別偏好，看整體，喜歡簡潔的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3560960" y="2516849"/>
            <a:ext cx="6575518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48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訪談者 資工大四 賴同學</a:t>
            </a:r>
            <a:endParaRPr kumimoji="0" lang="zh-TW" altLang="en-US" sz="4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3057917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線條"/>
          <p:cNvSpPr/>
          <p:nvPr/>
        </p:nvSpPr>
        <p:spPr>
          <a:xfrm>
            <a:off x="1423718" y="1696710"/>
            <a:ext cx="9050364" cy="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69" name="訪談"/>
          <p:cNvSpPr/>
          <p:nvPr/>
        </p:nvSpPr>
        <p:spPr>
          <a:xfrm>
            <a:off x="660466" y="768999"/>
            <a:ext cx="7734937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 defTabSz="1530326">
              <a:buClr>
                <a:srgbClr val="6C6C6C"/>
              </a:buClr>
              <a:defRPr sz="6600">
                <a:solidFill>
                  <a:srgbClr val="232323"/>
                </a:solidFill>
                <a:uFill>
                  <a:solidFill>
                    <a:srgbClr val="23232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訪談</a:t>
            </a:r>
          </a:p>
        </p:txBody>
      </p:sp>
      <p:grpSp>
        <p:nvGrpSpPr>
          <p:cNvPr id="772" name="群組"/>
          <p:cNvGrpSpPr/>
          <p:nvPr/>
        </p:nvGrpSpPr>
        <p:grpSpPr>
          <a:xfrm>
            <a:off x="3050995" y="3316405"/>
            <a:ext cx="2953879" cy="2953879"/>
            <a:chOff x="0" y="0"/>
            <a:chExt cx="2953877" cy="2953877"/>
          </a:xfrm>
        </p:grpSpPr>
        <p:sp>
          <p:nvSpPr>
            <p:cNvPr id="770" name="圓形"/>
            <p:cNvSpPr/>
            <p:nvPr/>
          </p:nvSpPr>
          <p:spPr>
            <a:xfrm>
              <a:off x="0" y="0"/>
              <a:ext cx="2953878" cy="2953878"/>
            </a:xfrm>
            <a:prstGeom prst="ellipse">
              <a:avLst/>
            </a:prstGeom>
            <a:solidFill>
              <a:schemeClr val="accent4">
                <a:hueOff val="-1081314"/>
                <a:satOff val="4338"/>
                <a:lumOff val="-893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771" name="頭部"/>
            <p:cNvSpPr/>
            <p:nvPr/>
          </p:nvSpPr>
          <p:spPr>
            <a:xfrm>
              <a:off x="596693" y="423942"/>
              <a:ext cx="1760491" cy="2105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9154" y="0"/>
                  </a:moveTo>
                  <a:cubicBezTo>
                    <a:pt x="3064" y="0"/>
                    <a:pt x="0" y="3297"/>
                    <a:pt x="0" y="7252"/>
                  </a:cubicBezTo>
                  <a:cubicBezTo>
                    <a:pt x="0" y="11207"/>
                    <a:pt x="2755" y="14261"/>
                    <a:pt x="3263" y="17024"/>
                  </a:cubicBezTo>
                  <a:cubicBezTo>
                    <a:pt x="3772" y="19786"/>
                    <a:pt x="1428" y="21600"/>
                    <a:pt x="1428" y="21600"/>
                  </a:cubicBezTo>
                  <a:lnTo>
                    <a:pt x="13269" y="21600"/>
                  </a:lnTo>
                  <a:cubicBezTo>
                    <a:pt x="14015" y="18211"/>
                    <a:pt x="15444" y="18832"/>
                    <a:pt x="16687" y="18799"/>
                  </a:cubicBezTo>
                  <a:cubicBezTo>
                    <a:pt x="17929" y="18767"/>
                    <a:pt x="19467" y="18460"/>
                    <a:pt x="19210" y="17068"/>
                  </a:cubicBezTo>
                  <a:cubicBezTo>
                    <a:pt x="19036" y="16134"/>
                    <a:pt x="19250" y="15837"/>
                    <a:pt x="19675" y="15341"/>
                  </a:cubicBezTo>
                  <a:cubicBezTo>
                    <a:pt x="20100" y="14844"/>
                    <a:pt x="19256" y="14402"/>
                    <a:pt x="19256" y="14402"/>
                  </a:cubicBezTo>
                  <a:lnTo>
                    <a:pt x="19745" y="14169"/>
                  </a:lnTo>
                  <a:cubicBezTo>
                    <a:pt x="19977" y="14061"/>
                    <a:pt x="20093" y="13835"/>
                    <a:pt x="20035" y="13619"/>
                  </a:cubicBezTo>
                  <a:cubicBezTo>
                    <a:pt x="20009" y="13533"/>
                    <a:pt x="19982" y="13430"/>
                    <a:pt x="19950" y="13301"/>
                  </a:cubicBezTo>
                  <a:cubicBezTo>
                    <a:pt x="19847" y="12874"/>
                    <a:pt x="20073" y="12503"/>
                    <a:pt x="20497" y="12373"/>
                  </a:cubicBezTo>
                  <a:cubicBezTo>
                    <a:pt x="20877" y="12260"/>
                    <a:pt x="21149" y="12098"/>
                    <a:pt x="21342" y="11942"/>
                  </a:cubicBezTo>
                  <a:cubicBezTo>
                    <a:pt x="21600" y="11737"/>
                    <a:pt x="21600" y="11374"/>
                    <a:pt x="21407" y="11120"/>
                  </a:cubicBezTo>
                  <a:cubicBezTo>
                    <a:pt x="20705" y="10192"/>
                    <a:pt x="19983" y="9173"/>
                    <a:pt x="19487" y="8520"/>
                  </a:cubicBezTo>
                  <a:cubicBezTo>
                    <a:pt x="18754" y="7554"/>
                    <a:pt x="19939" y="7036"/>
                    <a:pt x="19572" y="5994"/>
                  </a:cubicBezTo>
                  <a:cubicBezTo>
                    <a:pt x="18658" y="2406"/>
                    <a:pt x="15959" y="0"/>
                    <a:pt x="915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773" name="https://drive.google.com/open?id=10XDLSfqiHDJEfPkvFdTNmAtg1w7GNHSn"/>
          <p:cNvSpPr txBox="1"/>
          <p:nvPr/>
        </p:nvSpPr>
        <p:spPr>
          <a:xfrm>
            <a:off x="4132004" y="8694425"/>
            <a:ext cx="18045304" cy="738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defRPr sz="4000" b="0">
                <a:solidFill>
                  <a:srgbClr val="365899"/>
                </a:solidFill>
              </a:defRPr>
            </a:pPr>
            <a:r>
              <a:rPr u="sng">
                <a:hlinkClick r:id="rId2"/>
              </a:rPr>
              <a:t>https://drive.google.com/open?id=10XDLSfqiHDJEfPkvFdTNmAtg1w7GNHSn</a:t>
            </a:r>
            <a:r>
              <a:t> 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579138" y="4312634"/>
            <a:ext cx="6575518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48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訪談者 資工大四 賴同學</a:t>
            </a:r>
            <a:endParaRPr kumimoji="0" lang="zh-TW" altLang="en-US" sz="4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496</Words>
  <Application>Microsoft Office PowerPoint</Application>
  <PresentationFormat>自訂</PresentationFormat>
  <Paragraphs>200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2" baseType="lpstr">
      <vt:lpstr>Helvetica Light</vt:lpstr>
      <vt:lpstr>Helvetica Neue</vt:lpstr>
      <vt:lpstr>Helvetica Neue Light</vt:lpstr>
      <vt:lpstr>Helvetica Neue Medium</vt:lpstr>
      <vt:lpstr>Helvetica Neue Thin</vt:lpstr>
      <vt:lpstr>Arial</vt:lpstr>
      <vt:lpstr>Helvetica</vt:lpstr>
      <vt:lpstr>Times</vt:lpstr>
      <vt:lpstr>White</vt:lpstr>
      <vt:lpstr>期中報告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針對問卷的訪談 - 重點整理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期中報告 </dc:title>
  <cp:lastModifiedBy>yang</cp:lastModifiedBy>
  <cp:revision>4</cp:revision>
  <dcterms:modified xsi:type="dcterms:W3CDTF">2018-10-30T11:56:49Z</dcterms:modified>
</cp:coreProperties>
</file>