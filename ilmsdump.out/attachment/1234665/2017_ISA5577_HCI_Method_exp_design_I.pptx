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87" r:id="rId4"/>
    <p:sldId id="291" r:id="rId5"/>
    <p:sldId id="292" r:id="rId6"/>
    <p:sldId id="293" r:id="rId7"/>
    <p:sldId id="294" r:id="rId8"/>
    <p:sldId id="306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5" r:id="rId19"/>
    <p:sldId id="30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 autoAdjust="0"/>
    <p:restoredTop sz="94674"/>
  </p:normalViewPr>
  <p:slideViewPr>
    <p:cSldViewPr snapToGrid="0" snapToObjects="1">
      <p:cViewPr varScale="1">
        <p:scale>
          <a:sx n="140" d="100"/>
          <a:sy n="140" d="100"/>
        </p:scale>
        <p:origin x="-12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10/12/17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10/12/17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5370C-E253-5B4A-BEBB-54530F2F67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9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10/12/17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10/12/17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10/12/17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10/12/17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10/12/17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10/12/17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10/12/17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XgxXi6w8IQc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pts.washington.edu/aimgroup/proj/ps4hc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mtClean="0">
                <a:latin typeface="Optima"/>
                <a:cs typeface="Optima"/>
              </a:rPr>
              <a:t/>
            </a:r>
            <a:br>
              <a:rPr lang="en-US" smtClean="0">
                <a:latin typeface="Optima"/>
                <a:cs typeface="Optima"/>
              </a:rPr>
            </a:br>
            <a:r>
              <a:rPr lang="en-US" sz="3200" smtClean="0">
                <a:latin typeface="Optima"/>
                <a:cs typeface="Optima"/>
              </a:rPr>
              <a:t>October </a:t>
            </a:r>
            <a:r>
              <a:rPr lang="en-US" sz="3200" dirty="0" smtClean="0">
                <a:latin typeface="Optima"/>
                <a:cs typeface="Optima"/>
              </a:rPr>
              <a:t>5, 2017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Basic experimental design idea</a:t>
            </a:r>
          </a:p>
          <a:p>
            <a:r>
              <a:rPr kumimoji="1" lang="en-US" altLang="zh-TW" dirty="0" smtClean="0"/>
              <a:t>independent, dependent, control, confounding variables etc.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44951" y="5098482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Source: 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>
                <a:hlinkClick r:id="rId2"/>
              </a:rPr>
              <a:t>http://www.yorku.ca/mack/</a:t>
            </a:r>
            <a:r>
              <a:rPr kumimoji="1" lang="en-US" altLang="zh-TW" dirty="0" smtClean="0">
                <a:hlinkClick r:id="rId2"/>
              </a:rPr>
              <a:t>CourseNotes.pdf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One-of vs. Comparative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92500"/>
          </a:bodyPr>
          <a:lstStyle/>
          <a:p>
            <a:r>
              <a:rPr kumimoji="1" lang="en-US" altLang="zh-TW" dirty="0" smtClean="0"/>
              <a:t>Many “user studies” in HCI are </a:t>
            </a:r>
            <a:r>
              <a:rPr kumimoji="1" lang="en-US" altLang="zh-TW" dirty="0" smtClean="0">
                <a:solidFill>
                  <a:srgbClr val="FF0000"/>
                </a:solidFill>
              </a:rPr>
              <a:t>one-of</a:t>
            </a:r>
          </a:p>
          <a:p>
            <a:pPr lvl="1"/>
            <a:r>
              <a:rPr kumimoji="1" lang="en-US" altLang="zh-TW" dirty="0" smtClean="0">
                <a:solidFill>
                  <a:srgbClr val="000000"/>
                </a:solidFill>
              </a:rPr>
              <a:t>A new user interface is designed and a user study is conducted to find strengths and weaknesses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Much better to do a </a:t>
            </a:r>
            <a:r>
              <a:rPr kumimoji="1" lang="en-US" altLang="zh-TW" dirty="0" smtClean="0">
                <a:solidFill>
                  <a:srgbClr val="FF0000"/>
                </a:solidFill>
              </a:rPr>
              <a:t>comparative evaluation</a:t>
            </a:r>
          </a:p>
          <a:p>
            <a:pPr lvl="1"/>
            <a:r>
              <a:rPr kumimoji="1" lang="en-US" altLang="zh-TW" dirty="0" smtClean="0">
                <a:solidFill>
                  <a:srgbClr val="000000"/>
                </a:solidFill>
              </a:rPr>
              <a:t>A new user interface is designed and it is compared with </a:t>
            </a:r>
            <a:r>
              <a:rPr kumimoji="1" lang="en-US" altLang="zh-TW" dirty="0" smtClean="0">
                <a:solidFill>
                  <a:srgbClr val="FF0000"/>
                </a:solidFill>
              </a:rPr>
              <a:t>an alternative design </a:t>
            </a:r>
            <a:r>
              <a:rPr kumimoji="1" lang="en-US" altLang="zh-TW" dirty="0" smtClean="0">
                <a:solidFill>
                  <a:srgbClr val="000000"/>
                </a:solidFill>
              </a:rPr>
              <a:t>to determine which is better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The alternative may be </a:t>
            </a:r>
          </a:p>
          <a:p>
            <a:pPr lvl="1"/>
            <a:r>
              <a:rPr kumimoji="1" lang="en-US" altLang="zh-TW" dirty="0" smtClean="0">
                <a:solidFill>
                  <a:srgbClr val="000000"/>
                </a:solidFill>
              </a:rPr>
              <a:t>A variation in the new design</a:t>
            </a:r>
          </a:p>
          <a:p>
            <a:pPr lvl="1"/>
            <a:r>
              <a:rPr kumimoji="1" lang="en-US" altLang="zh-TW" dirty="0" smtClean="0">
                <a:solidFill>
                  <a:srgbClr val="000000"/>
                </a:solidFill>
              </a:rPr>
              <a:t>An established design (“baseline condition” or “current practice”)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More than two interfaces may be compared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Testable research questions are always comparative!</a:t>
            </a:r>
            <a:endParaRPr kumimoji="1" lang="en-US" altLang="zh-TW" dirty="0" smtClean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Experimental Design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>
                <a:solidFill>
                  <a:srgbClr val="FF0000"/>
                </a:solidFill>
              </a:rPr>
              <a:t>Experimental design </a:t>
            </a:r>
            <a:r>
              <a:rPr kumimoji="1" lang="en-US" altLang="zh-TW" dirty="0" smtClean="0"/>
              <a:t>is the process of deciding which variables to use, what tasks and procedure to use, how many participants to use and how to solicit them, and so on</a:t>
            </a:r>
          </a:p>
          <a:p>
            <a:r>
              <a:rPr kumimoji="1" lang="en-US" altLang="zh-TW" dirty="0" smtClean="0"/>
              <a:t>Let’s begin with some terminology …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6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Experimental Design- Terminology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Terms to know</a:t>
            </a:r>
          </a:p>
          <a:p>
            <a:pPr lvl="1"/>
            <a:r>
              <a:rPr kumimoji="1" lang="en-US" altLang="zh-TW" dirty="0" smtClean="0"/>
              <a:t>Participant</a:t>
            </a:r>
          </a:p>
          <a:p>
            <a:pPr lvl="1"/>
            <a:r>
              <a:rPr kumimoji="1" lang="en-US" altLang="zh-TW" dirty="0" smtClean="0"/>
              <a:t>Independent  variable (test conditions)</a:t>
            </a:r>
          </a:p>
          <a:p>
            <a:pPr lvl="1"/>
            <a:r>
              <a:rPr kumimoji="1" lang="en-US" altLang="zh-TW" dirty="0" smtClean="0"/>
              <a:t>Dependent variable</a:t>
            </a:r>
          </a:p>
          <a:p>
            <a:pPr lvl="1"/>
            <a:r>
              <a:rPr kumimoji="1" lang="en-US" altLang="zh-TW" dirty="0" smtClean="0"/>
              <a:t>Control variable</a:t>
            </a:r>
          </a:p>
          <a:p>
            <a:pPr lvl="1"/>
            <a:r>
              <a:rPr kumimoji="1" lang="en-US" altLang="zh-TW" dirty="0" smtClean="0"/>
              <a:t>Random variable</a:t>
            </a:r>
          </a:p>
          <a:p>
            <a:pPr lvl="1"/>
            <a:r>
              <a:rPr kumimoji="1" lang="en-US" altLang="zh-TW" dirty="0" smtClean="0"/>
              <a:t>Confounding variable</a:t>
            </a:r>
          </a:p>
          <a:p>
            <a:pPr marL="457200" lvl="1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3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Participant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 smtClean="0"/>
              <a:t>The people participating in an experiment are referred to as </a:t>
            </a:r>
            <a:r>
              <a:rPr kumimoji="1" lang="en-US" altLang="zh-TW" dirty="0" smtClean="0">
                <a:solidFill>
                  <a:srgbClr val="FF0000"/>
                </a:solidFill>
              </a:rPr>
              <a:t>participants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Previously the term </a:t>
            </a:r>
            <a:r>
              <a:rPr kumimoji="1" lang="en-US" altLang="zh-TW" dirty="0" smtClean="0">
                <a:solidFill>
                  <a:srgbClr val="FF0000"/>
                </a:solidFill>
              </a:rPr>
              <a:t>subjects</a:t>
            </a:r>
            <a:r>
              <a:rPr kumimoji="1" lang="en-US" altLang="zh-TW" dirty="0" smtClean="0">
                <a:solidFill>
                  <a:srgbClr val="000000"/>
                </a:solidFill>
              </a:rPr>
              <a:t> was used, but it’s not longer popular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When referring specifically to the experiment, use the term </a:t>
            </a:r>
            <a:r>
              <a:rPr kumimoji="1" lang="en-US" altLang="zh-TW" dirty="0" smtClean="0">
                <a:solidFill>
                  <a:srgbClr val="FF0000"/>
                </a:solidFill>
              </a:rPr>
              <a:t>participants</a:t>
            </a:r>
            <a:r>
              <a:rPr kumimoji="1" lang="en-US" altLang="zh-TW" dirty="0" smtClean="0">
                <a:solidFill>
                  <a:srgbClr val="000000"/>
                </a:solidFill>
              </a:rPr>
              <a:t> (e.g., “all </a:t>
            </a:r>
            <a:r>
              <a:rPr kumimoji="1" lang="en-US" altLang="zh-TW" dirty="0" smtClean="0">
                <a:solidFill>
                  <a:srgbClr val="FF0000"/>
                </a:solidFill>
              </a:rPr>
              <a:t>participants</a:t>
            </a:r>
            <a:r>
              <a:rPr kumimoji="1" lang="en-US" altLang="zh-TW" dirty="0" smtClean="0">
                <a:solidFill>
                  <a:srgbClr val="000000"/>
                </a:solidFill>
              </a:rPr>
              <a:t> exhibited a high error rate … “)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General comments on the problem or conclusions drawn many use other terms (e.g., “these results suggested that </a:t>
            </a:r>
            <a:r>
              <a:rPr kumimoji="1" lang="en-US" altLang="zh-TW" dirty="0" smtClean="0">
                <a:solidFill>
                  <a:srgbClr val="FF0000"/>
                </a:solidFill>
              </a:rPr>
              <a:t>users</a:t>
            </a:r>
            <a:r>
              <a:rPr kumimoji="1" lang="en-US" altLang="zh-TW" dirty="0" smtClean="0">
                <a:solidFill>
                  <a:srgbClr val="000000"/>
                </a:solidFill>
              </a:rPr>
              <a:t> are less likely to … ”)</a:t>
            </a:r>
          </a:p>
          <a:p>
            <a:r>
              <a:rPr kumimoji="1" lang="en-US" altLang="zh-TW" dirty="0" smtClean="0">
                <a:solidFill>
                  <a:srgbClr val="000000"/>
                </a:solidFill>
              </a:rPr>
              <a:t>Report the selection criteria and give relevant demographic information or prior experience</a:t>
            </a:r>
            <a:endParaRPr kumimoji="1"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7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Independent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343131"/>
            <a:ext cx="8415287" cy="5378343"/>
          </a:xfrm>
        </p:spPr>
        <p:txBody>
          <a:bodyPr>
            <a:normAutofit/>
          </a:bodyPr>
          <a:lstStyle/>
          <a:p>
            <a:r>
              <a:rPr kumimoji="1" lang="en-US" altLang="zh-TW" dirty="0" smtClean="0"/>
              <a:t>An </a:t>
            </a:r>
            <a:r>
              <a:rPr kumimoji="1" lang="en-US" altLang="zh-TW" dirty="0" smtClean="0">
                <a:solidFill>
                  <a:srgbClr val="FF0000"/>
                </a:solidFill>
              </a:rPr>
              <a:t>independent variable</a:t>
            </a:r>
            <a:r>
              <a:rPr kumimoji="1" lang="en-US" altLang="zh-TW" dirty="0" smtClean="0"/>
              <a:t> (IV) is a variable that is manipulated through the design of the experiment</a:t>
            </a:r>
          </a:p>
          <a:p>
            <a:r>
              <a:rPr kumimoji="1" lang="en-US" altLang="zh-TW" dirty="0" smtClean="0"/>
              <a:t>It is “independent” because it is independent of participant behavior (i.e., there is nothing a participant can do to influence an independent variable)</a:t>
            </a:r>
          </a:p>
          <a:p>
            <a:r>
              <a:rPr kumimoji="1" lang="en-US" altLang="zh-TW" dirty="0" smtClean="0"/>
              <a:t>Examples include interface, device, feedback mode, button layout, visual layout, gender, age, expertise etc.</a:t>
            </a:r>
          </a:p>
          <a:p>
            <a:r>
              <a:rPr kumimoji="1" lang="en-US" altLang="zh-TW" dirty="0" smtClean="0"/>
              <a:t>The terms </a:t>
            </a:r>
            <a:r>
              <a:rPr kumimoji="1" lang="en-US" altLang="zh-TW" dirty="0" smtClean="0">
                <a:solidFill>
                  <a:srgbClr val="FF0000"/>
                </a:solidFill>
              </a:rPr>
              <a:t>independent variable</a:t>
            </a:r>
            <a:r>
              <a:rPr kumimoji="1" lang="en-US" altLang="zh-TW" dirty="0" smtClean="0"/>
              <a:t> and </a:t>
            </a:r>
            <a:r>
              <a:rPr kumimoji="1" lang="en-US" altLang="zh-TW" dirty="0" smtClean="0">
                <a:solidFill>
                  <a:srgbClr val="FF0000"/>
                </a:solidFill>
              </a:rPr>
              <a:t>factor</a:t>
            </a:r>
            <a:r>
              <a:rPr kumimoji="1" lang="en-US" altLang="zh-TW" dirty="0" smtClean="0"/>
              <a:t> are synonymous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9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Independent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How to identify IVs? Better to go with theories </a:t>
            </a:r>
            <a:r>
              <a:rPr kumimoji="1" lang="en-US" altLang="zh-TW" dirty="0" smtClean="0"/>
              <a:t>or well thought-out reasons.</a:t>
            </a:r>
          </a:p>
          <a:p>
            <a:r>
              <a:rPr kumimoji="1" lang="en-US" altLang="zh-TW" dirty="0" smtClean="0"/>
              <a:t>Avoid </a:t>
            </a:r>
            <a:r>
              <a:rPr kumimoji="1" lang="en-US" altLang="zh-TW" dirty="0"/>
              <a:t>research questions like “what are the factors that influence </a:t>
            </a:r>
            <a:r>
              <a:rPr kumimoji="1" lang="en-US" altLang="zh-TW" dirty="0" smtClean="0"/>
              <a:t>Z?</a:t>
            </a:r>
            <a:r>
              <a:rPr kumimoji="1" lang="en-US" altLang="zh-TW" dirty="0"/>
              <a:t>” </a:t>
            </a:r>
            <a:endParaRPr kumimoji="1" lang="en-US" altLang="zh-TW" dirty="0" smtClean="0"/>
          </a:p>
          <a:p>
            <a:pPr lvl="1"/>
            <a:r>
              <a:rPr kumimoji="1" lang="en-US" altLang="zh-TW" dirty="0" smtClean="0"/>
              <a:t>Technically speaking, the number of factors that make a (tiny) influence is infinite, not enumerable.  (e.g., think about what would influence learning?)</a:t>
            </a:r>
          </a:p>
          <a:p>
            <a:pPr lvl="1"/>
            <a:r>
              <a:rPr kumimoji="1" lang="en-US" altLang="zh-TW" dirty="0" smtClean="0"/>
              <a:t>Not a very interesting question to HCI research design</a:t>
            </a:r>
          </a:p>
          <a:p>
            <a:pPr lvl="1"/>
            <a:r>
              <a:rPr kumimoji="1" lang="en-US" altLang="zh-TW" dirty="0" smtClean="0"/>
              <a:t>We’d rather know very deeply how one important factor X influences Z. (e.g., how classroom interaction influences learning.)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Test Conditions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The levels, values, or settings for an independent variable are the </a:t>
            </a:r>
            <a:r>
              <a:rPr kumimoji="1" lang="en-US" altLang="zh-TW" dirty="0" smtClean="0">
                <a:solidFill>
                  <a:srgbClr val="FF0000"/>
                </a:solidFill>
              </a:rPr>
              <a:t>test conditions</a:t>
            </a:r>
          </a:p>
          <a:p>
            <a:r>
              <a:rPr kumimoji="1" lang="en-US" altLang="zh-TW" dirty="0" smtClean="0"/>
              <a:t>Provide a name for the </a:t>
            </a:r>
            <a:r>
              <a:rPr kumimoji="1" lang="en-US" altLang="zh-TW" dirty="0" smtClean="0">
                <a:solidFill>
                  <a:srgbClr val="FF0000"/>
                </a:solidFill>
              </a:rPr>
              <a:t>factor</a:t>
            </a:r>
            <a:r>
              <a:rPr kumimoji="1" lang="en-US" altLang="zh-TW" dirty="0" smtClean="0"/>
              <a:t> (</a:t>
            </a:r>
            <a:r>
              <a:rPr kumimoji="1" lang="en-US" altLang="zh-TW" dirty="0" smtClean="0">
                <a:solidFill>
                  <a:srgbClr val="FF0000"/>
                </a:solidFill>
              </a:rPr>
              <a:t>independent variable</a:t>
            </a:r>
            <a:r>
              <a:rPr kumimoji="1" lang="en-US" altLang="zh-TW" dirty="0" smtClean="0"/>
              <a:t>)</a:t>
            </a:r>
          </a:p>
          <a:p>
            <a:r>
              <a:rPr kumimoji="1" lang="en-US" altLang="zh-TW" dirty="0" smtClean="0"/>
              <a:t>Provide names for the </a:t>
            </a:r>
            <a:r>
              <a:rPr kumimoji="1" lang="en-US" altLang="zh-TW" dirty="0" smtClean="0">
                <a:solidFill>
                  <a:srgbClr val="FF0000"/>
                </a:solidFill>
              </a:rPr>
              <a:t>levels </a:t>
            </a:r>
            <a:r>
              <a:rPr kumimoji="1" lang="en-US" altLang="zh-TW" dirty="0" smtClean="0"/>
              <a:t>(</a:t>
            </a:r>
            <a:r>
              <a:rPr kumimoji="1" lang="en-US" altLang="zh-TW" dirty="0" smtClean="0">
                <a:solidFill>
                  <a:srgbClr val="FF0000"/>
                </a:solidFill>
              </a:rPr>
              <a:t>test conditions</a:t>
            </a:r>
            <a:r>
              <a:rPr kumimoji="1" lang="en-US" altLang="zh-TW" dirty="0" smtClean="0"/>
              <a:t>)</a:t>
            </a:r>
          </a:p>
          <a:p>
            <a:r>
              <a:rPr kumimoji="1" lang="en-US" altLang="zh-TW" dirty="0" smtClean="0"/>
              <a:t>Use these names consistently throughout the manuscript</a:t>
            </a:r>
          </a:p>
          <a:p>
            <a:r>
              <a:rPr kumimoji="1" lang="en-US" altLang="zh-TW" dirty="0" smtClean="0"/>
              <a:t>For any experiments, you need to have at least two levels</a:t>
            </a:r>
          </a:p>
          <a:p>
            <a:r>
              <a:rPr kumimoji="1" lang="en-US" altLang="zh-TW" dirty="0" smtClean="0"/>
              <a:t>Examples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9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164" y="4876989"/>
            <a:ext cx="5045236" cy="194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0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Dependent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A </a:t>
            </a:r>
            <a:r>
              <a:rPr kumimoji="1" lang="en-US" altLang="zh-TW" dirty="0" smtClean="0">
                <a:solidFill>
                  <a:srgbClr val="FF0000"/>
                </a:solidFill>
              </a:rPr>
              <a:t>dependent variable</a:t>
            </a:r>
            <a:r>
              <a:rPr kumimoji="1" lang="en-US" altLang="zh-TW" dirty="0" smtClean="0"/>
              <a:t> is a variable representing the measurements or observations</a:t>
            </a:r>
          </a:p>
          <a:p>
            <a:r>
              <a:rPr kumimoji="1" lang="en-US" altLang="zh-TW" dirty="0" smtClean="0"/>
              <a:t>Examples include task completion time, speed, accuracy, error rate, throughput, target re-entries, task retries, presses of backspace etc.</a:t>
            </a:r>
          </a:p>
          <a:p>
            <a:r>
              <a:rPr kumimoji="1" lang="en-US" altLang="zh-TW" dirty="0" smtClean="0"/>
              <a:t>Give a name to the dependent variable, separate from its units (e.g., “Text Entry Speed” is a dependent variable with units “words per minute”)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1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Three “Other” Variables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Important but usually given less attention are</a:t>
            </a:r>
          </a:p>
          <a:p>
            <a:pPr lvl="1"/>
            <a:r>
              <a:rPr kumimoji="1" lang="en-US" altLang="zh-TW" dirty="0" smtClean="0"/>
              <a:t>Control variables</a:t>
            </a:r>
          </a:p>
          <a:p>
            <a:pPr lvl="1"/>
            <a:r>
              <a:rPr kumimoji="1" lang="en-US" altLang="zh-TW" dirty="0" smtClean="0"/>
              <a:t>Random variables</a:t>
            </a:r>
          </a:p>
          <a:p>
            <a:pPr lvl="1"/>
            <a:r>
              <a:rPr kumimoji="1" lang="en-US" altLang="zh-TW" dirty="0" smtClean="0"/>
              <a:t>Confounding variables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1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Control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There are many circumstances or factors that (a) might influence a dependent variable, but (b) are not under investigation</a:t>
            </a:r>
          </a:p>
          <a:p>
            <a:r>
              <a:rPr kumimoji="1" lang="en-US" altLang="zh-TW" dirty="0" smtClean="0"/>
              <a:t>They need to be considered in some manner</a:t>
            </a:r>
          </a:p>
          <a:p>
            <a:r>
              <a:rPr kumimoji="1" lang="en-US" altLang="zh-TW" dirty="0" smtClean="0"/>
              <a:t>One way is to control them – fix them as a constant value</a:t>
            </a:r>
          </a:p>
          <a:p>
            <a:r>
              <a:rPr kumimoji="1" lang="en-US" altLang="zh-TW" dirty="0" smtClean="0"/>
              <a:t>E.g., room lighting, background noise, temperature</a:t>
            </a:r>
          </a:p>
          <a:p>
            <a:r>
              <a:rPr kumimoji="1" lang="en-US" altLang="zh-TW" dirty="0" smtClean="0"/>
              <a:t>The disadvantage to having too many control variables is that the experiment becomes less real or generalizable (i.e., less applicable to other situations)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19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Control Variable Example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TW" dirty="0" smtClean="0"/>
              <a:t>Consider an experiment studying whether font color and background color are related to comfort and comprehension while reading on a computer display</a:t>
            </a:r>
          </a:p>
          <a:p>
            <a:r>
              <a:rPr kumimoji="1" lang="en-US" altLang="zh-TW" dirty="0" smtClean="0"/>
              <a:t>Independent variable</a:t>
            </a:r>
          </a:p>
          <a:p>
            <a:pPr lvl="1"/>
            <a:r>
              <a:rPr kumimoji="1" lang="en-US" altLang="zh-TW" dirty="0" smtClean="0"/>
              <a:t>Font color, background color</a:t>
            </a:r>
          </a:p>
          <a:p>
            <a:r>
              <a:rPr kumimoji="1" lang="en-US" altLang="zh-TW" dirty="0" smtClean="0"/>
              <a:t>Dependent variables</a:t>
            </a:r>
          </a:p>
          <a:p>
            <a:pPr lvl="1"/>
            <a:r>
              <a:rPr kumimoji="1" lang="en-US" altLang="zh-TW" dirty="0" smtClean="0"/>
              <a:t>Comprehension test scores</a:t>
            </a:r>
          </a:p>
          <a:p>
            <a:pPr lvl="1"/>
            <a:r>
              <a:rPr kumimoji="1" lang="en-US" altLang="zh-TW" dirty="0" smtClean="0"/>
              <a:t>Responses to questionnaire on comfort</a:t>
            </a:r>
          </a:p>
          <a:p>
            <a:r>
              <a:rPr kumimoji="1" lang="en-US" altLang="zh-TW" dirty="0" smtClean="0"/>
              <a:t>Control variables</a:t>
            </a:r>
          </a:p>
          <a:p>
            <a:pPr lvl="1"/>
            <a:r>
              <a:rPr kumimoji="1" lang="en-US" altLang="zh-TW" dirty="0" smtClean="0"/>
              <a:t>Font size (e.g., 12 point)</a:t>
            </a:r>
          </a:p>
          <a:p>
            <a:pPr lvl="1"/>
            <a:r>
              <a:rPr kumimoji="1" lang="en-US" altLang="zh-TW" dirty="0" smtClean="0"/>
              <a:t>Font family (e.g., Times New Roman)</a:t>
            </a:r>
          </a:p>
          <a:p>
            <a:pPr lvl="1"/>
            <a:r>
              <a:rPr kumimoji="1" lang="en-US" altLang="zh-TW" dirty="0" smtClean="0"/>
              <a:t>Ambient lighting (e.g., fluorescent, fixed intensity)</a:t>
            </a:r>
          </a:p>
          <a:p>
            <a:pPr lvl="1"/>
            <a:r>
              <a:rPr kumimoji="1" lang="en-US" altLang="zh-TW" dirty="0" smtClean="0"/>
              <a:t>Etc.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4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Random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Instead of controlling all circumstances or factors, some might be allowed to vary randomly</a:t>
            </a:r>
          </a:p>
          <a:p>
            <a:r>
              <a:rPr kumimoji="1" lang="en-US" altLang="zh-TW" dirty="0" smtClean="0"/>
              <a:t>Such circumstances are</a:t>
            </a:r>
            <a:r>
              <a:rPr kumimoji="1" lang="en-US" altLang="zh-TW" dirty="0" smtClean="0">
                <a:solidFill>
                  <a:srgbClr val="FF0000"/>
                </a:solidFill>
              </a:rPr>
              <a:t> random variables</a:t>
            </a:r>
          </a:p>
          <a:p>
            <a:r>
              <a:rPr kumimoji="1" lang="en-US" altLang="zh-TW" dirty="0" smtClean="0"/>
              <a:t>More variability is introduced in the measures (that’s bad!), but the results are more generalizable (that’s good!)</a:t>
            </a:r>
            <a:endParaRPr kumimoji="1"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kumimoji="1" lang="en-US" altLang="zh-TW" dirty="0" smtClean="0">
                <a:solidFill>
                  <a:srgbClr val="000000"/>
                </a:solidFill>
              </a:rPr>
              <a:t>think about internal vs. external validity!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Random Variable Example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Consider an experiment comparing whether a user’s stance affects performance while playing </a:t>
            </a:r>
            <a:r>
              <a:rPr kumimoji="1" lang="en-US" altLang="zh-TW" i="1" dirty="0" smtClean="0"/>
              <a:t>Guitar Hero</a:t>
            </a:r>
          </a:p>
          <a:p>
            <a:r>
              <a:rPr kumimoji="1" lang="en-US" altLang="zh-TW" dirty="0" smtClean="0"/>
              <a:t>Independent variable</a:t>
            </a:r>
          </a:p>
          <a:p>
            <a:pPr lvl="1"/>
            <a:r>
              <a:rPr kumimoji="1" lang="en-US" altLang="zh-TW" dirty="0" smtClean="0"/>
              <a:t>Stance (standing, sitting)</a:t>
            </a:r>
          </a:p>
          <a:p>
            <a:r>
              <a:rPr kumimoji="1" lang="en-US" altLang="zh-TW" dirty="0" smtClean="0"/>
              <a:t>Dependent variables</a:t>
            </a:r>
          </a:p>
          <a:p>
            <a:pPr lvl="1"/>
            <a:r>
              <a:rPr kumimoji="1" lang="en-US" altLang="zh-TW" dirty="0" smtClean="0"/>
              <a:t>Scores on songs</a:t>
            </a:r>
          </a:p>
          <a:p>
            <a:pPr lvl="1"/>
            <a:r>
              <a:rPr kumimoji="1" lang="en-US" altLang="zh-TW" dirty="0" smtClean="0"/>
              <a:t>Responses to questionnaire</a:t>
            </a:r>
          </a:p>
          <a:p>
            <a:r>
              <a:rPr kumimoji="1" lang="en-US" altLang="zh-TW" dirty="0" smtClean="0"/>
              <a:t>Random variables</a:t>
            </a:r>
          </a:p>
          <a:p>
            <a:pPr lvl="1"/>
            <a:r>
              <a:rPr kumimoji="1" lang="en-US" altLang="zh-TW" dirty="0" smtClean="0"/>
              <a:t>Prior experience playing Guitar Hero</a:t>
            </a:r>
          </a:p>
          <a:p>
            <a:pPr lvl="1"/>
            <a:r>
              <a:rPr kumimoji="1" lang="en-US" altLang="zh-TW" dirty="0" smtClean="0"/>
              <a:t>Amount of coffee consumed prior to the testing</a:t>
            </a:r>
          </a:p>
          <a:p>
            <a:pPr lvl="1"/>
            <a:r>
              <a:rPr kumimoji="1" lang="en-US" altLang="zh-TW" dirty="0" smtClean="0"/>
              <a:t>Etc.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15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543" y="2462838"/>
            <a:ext cx="3077257" cy="230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5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Confounding Variable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1739"/>
            <a:ext cx="8229600" cy="5278384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TW" dirty="0" smtClean="0"/>
              <a:t>Any circumstance that varies systematically with an independent variable is a </a:t>
            </a:r>
            <a:r>
              <a:rPr kumimoji="1" lang="en-US" altLang="zh-TW" dirty="0" smtClean="0">
                <a:solidFill>
                  <a:srgbClr val="FF0000"/>
                </a:solidFill>
              </a:rPr>
              <a:t>confounding variable</a:t>
            </a:r>
          </a:p>
          <a:p>
            <a:r>
              <a:rPr kumimoji="1" lang="en-US" altLang="zh-TW" dirty="0" smtClean="0"/>
              <a:t>Example 1— three techniques are compared (A,B,C)</a:t>
            </a:r>
          </a:p>
          <a:p>
            <a:pPr lvl="1"/>
            <a:r>
              <a:rPr kumimoji="1" lang="en-US" altLang="zh-TW" dirty="0" smtClean="0"/>
              <a:t>All participants are tested on A, followed by B, followed by C</a:t>
            </a:r>
          </a:p>
          <a:p>
            <a:pPr lvl="1"/>
            <a:r>
              <a:rPr kumimoji="1" lang="en-US" altLang="zh-TW" dirty="0" smtClean="0"/>
              <a:t>Performance might improve due to practice</a:t>
            </a:r>
          </a:p>
          <a:p>
            <a:pPr lvl="1"/>
            <a:r>
              <a:rPr kumimoji="1" lang="en-US" altLang="zh-TW" dirty="0" smtClean="0"/>
              <a:t>“Practice” is a confounding variable (because it varies systematically with “technique”)</a:t>
            </a:r>
          </a:p>
          <a:p>
            <a:r>
              <a:rPr kumimoji="1" lang="en-US" altLang="zh-TW" dirty="0" smtClean="0"/>
              <a:t>Example 2 –</a:t>
            </a:r>
            <a:r>
              <a:rPr kumimoji="1" lang="en-US" altLang="zh-TW" dirty="0"/>
              <a:t> </a:t>
            </a:r>
            <a:r>
              <a:rPr kumimoji="1" lang="en-US" altLang="zh-TW" dirty="0" smtClean="0"/>
              <a:t>two search engine interfaces are compared (Google vs. Goggle)</a:t>
            </a:r>
          </a:p>
          <a:p>
            <a:pPr lvl="1"/>
            <a:r>
              <a:rPr kumimoji="1" lang="en-US" altLang="zh-TW" dirty="0" smtClean="0"/>
              <a:t>All participants have prior experience with Google, but no experience with the new interface Goggle</a:t>
            </a:r>
          </a:p>
          <a:p>
            <a:pPr lvl="1"/>
            <a:r>
              <a:rPr kumimoji="1" lang="en-US" altLang="zh-TW" dirty="0" smtClean="0"/>
              <a:t>“Prior experience” is a confounding variable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37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Practice Activity: “Evaluate the Non-Evaluable”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Form three-person groups</a:t>
            </a:r>
          </a:p>
          <a:p>
            <a:r>
              <a:rPr kumimoji="1" lang="en-US" altLang="zh-TW" dirty="0" smtClean="0"/>
              <a:t>Watch the video of Touch &amp; Activate, one of the newest and coolest inventions at UIST 2013</a:t>
            </a:r>
          </a:p>
          <a:p>
            <a:endParaRPr kumimoji="1" lang="en-US" altLang="zh-TW" dirty="0" smtClean="0"/>
          </a:p>
          <a:p>
            <a:r>
              <a:rPr kumimoji="1" lang="en-US" altLang="zh-TW" dirty="0" smtClean="0"/>
              <a:t>Propose an </a:t>
            </a:r>
            <a:r>
              <a:rPr kumimoji="1" lang="en-US" altLang="zh-TW" dirty="0" smtClean="0">
                <a:solidFill>
                  <a:srgbClr val="FF0000"/>
                </a:solidFill>
              </a:rPr>
              <a:t>experimental study</a:t>
            </a:r>
            <a:r>
              <a:rPr kumimoji="1" lang="en-US" altLang="zh-TW" dirty="0" smtClean="0"/>
              <a:t>, state what’s the research question you’re about to answer, and then figure out what’s your independent variable, dependent variable, control variable, random variable etc.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17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898331" y="2848870"/>
            <a:ext cx="59477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200" dirty="0">
                <a:hlinkClick r:id="rId2"/>
              </a:rPr>
              <a:t>https://www.youtube.com/watch?v=</a:t>
            </a:r>
            <a:r>
              <a:rPr kumimoji="1" lang="en-US" altLang="zh-TW" sz="2200" dirty="0" smtClean="0">
                <a:hlinkClick r:id="rId2"/>
              </a:rPr>
              <a:t>XgxXi6w8IQc</a:t>
            </a:r>
            <a:r>
              <a:rPr kumimoji="1" lang="en-US" altLang="zh-TW" sz="2200" dirty="0" smtClean="0"/>
              <a:t> </a:t>
            </a:r>
            <a:endParaRPr kumimoji="1"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437665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Hand-on Statistics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JMP Tutorial Walk-through</a:t>
            </a:r>
          </a:p>
          <a:p>
            <a:r>
              <a:rPr kumimoji="1" lang="en-US" altLang="zh-TW" dirty="0" smtClean="0"/>
              <a:t>ps4HCI practice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8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ps4hci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“Practical Statistics for HCI” Independent study modules of statistics created by Prf. Jacob </a:t>
            </a:r>
            <a:r>
              <a:rPr kumimoji="1" lang="en-US" altLang="zh-TW" dirty="0" err="1" smtClean="0"/>
              <a:t>Wobbrock</a:t>
            </a:r>
            <a:r>
              <a:rPr kumimoji="1" lang="en-US" altLang="zh-TW" dirty="0"/>
              <a:t/>
            </a:r>
            <a:br>
              <a:rPr kumimoji="1" lang="en-US" altLang="zh-TW" dirty="0"/>
            </a:br>
            <a:r>
              <a:rPr kumimoji="1" lang="en-US" altLang="zh-TW" dirty="0">
                <a:hlinkClick r:id="rId2"/>
              </a:rPr>
              <a:t>http://depts.washington.edu/aimgroup/proj/ps4hci</a:t>
            </a:r>
            <a:r>
              <a:rPr kumimoji="1" lang="en-US" altLang="zh-TW" dirty="0" smtClean="0">
                <a:hlinkClick r:id="rId2"/>
              </a:rPr>
              <a:t>/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 smtClean="0"/>
              <a:t>Practice Module 2 today using “</a:t>
            </a:r>
            <a:r>
              <a:rPr kumimoji="1" lang="en-US" altLang="zh-TW" dirty="0" err="1" smtClean="0"/>
              <a:t>dinner.jmp</a:t>
            </a:r>
            <a:r>
              <a:rPr kumimoji="1" lang="en-US" altLang="zh-TW" smtClean="0"/>
              <a:t>” data.</a:t>
            </a:r>
            <a:endParaRPr kumimoji="1" lang="en-US" altLang="zh-TW" dirty="0" smtClean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4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9171</TotalTime>
  <Words>1115</Words>
  <Application>Microsoft Macintosh PowerPoint</Application>
  <PresentationFormat>如螢幕大小 (4:3)</PresentationFormat>
  <Paragraphs>135</Paragraphs>
  <Slides>19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Theme</vt:lpstr>
      <vt:lpstr>ISA5577 Applied Quantitative Methods for Human-Computer Interaction 人機互動量化研究方法   October 5, 2017</vt:lpstr>
      <vt:lpstr>Today’s Agenda</vt:lpstr>
      <vt:lpstr>One-of vs. Comparative</vt:lpstr>
      <vt:lpstr>Experimental Design</vt:lpstr>
      <vt:lpstr>Experimental Design- Terminology</vt:lpstr>
      <vt:lpstr>Participant</vt:lpstr>
      <vt:lpstr>Independent Variable</vt:lpstr>
      <vt:lpstr>Independent Variable</vt:lpstr>
      <vt:lpstr>Test Conditions</vt:lpstr>
      <vt:lpstr>Dependent Variable</vt:lpstr>
      <vt:lpstr>Three “Other” Variables</vt:lpstr>
      <vt:lpstr>Control Variable</vt:lpstr>
      <vt:lpstr>Control Variable Example</vt:lpstr>
      <vt:lpstr>Random Variable</vt:lpstr>
      <vt:lpstr>Random Variable Example</vt:lpstr>
      <vt:lpstr>Confounding Variable</vt:lpstr>
      <vt:lpstr>Practice Activity: “Evaluate the Non-Evaluable”</vt:lpstr>
      <vt:lpstr>Hand-on Statistics</vt:lpstr>
      <vt:lpstr>ps4hci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Hao-Chuan Wang</cp:lastModifiedBy>
  <cp:revision>411</cp:revision>
  <dcterms:created xsi:type="dcterms:W3CDTF">2012-02-07T03:56:58Z</dcterms:created>
  <dcterms:modified xsi:type="dcterms:W3CDTF">2017-10-12T02:07:16Z</dcterms:modified>
</cp:coreProperties>
</file>