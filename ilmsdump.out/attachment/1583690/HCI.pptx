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16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30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12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29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39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04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541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449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876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12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76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28EDF-EEC5-4DD8-A837-5FCB5649B526}" type="datetimeFigureOut">
              <a:rPr lang="zh-TW" altLang="en-US" smtClean="0"/>
              <a:t>2018/10/16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0C62E-582E-40CA-820A-562F458F3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75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microsoft.com/office/2007/relationships/hdphoto" Target="../media/hdphoto2.wdp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105958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000" b="1" dirty="0" smtClean="0"/>
              <a:t>Good Neighbor</a:t>
            </a:r>
            <a:endParaRPr lang="zh-TW" altLang="en-US" sz="6000" b="1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979" y="2516857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58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71600" y="525909"/>
            <a:ext cx="7272808" cy="4062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403648" y="627534"/>
            <a:ext cx="6444716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ZYaoTi" panose="02010601030101010101" pitchFamily="2" charset="-122"/>
                <a:ea typeface="FZYaoTi" panose="02010601030101010101" pitchFamily="2" charset="-122"/>
              </a:rPr>
              <a:t>People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ZYaoTi" panose="02010601030101010101" pitchFamily="2" charset="-122"/>
                <a:ea typeface="FZYaoTi" panose="02010601030101010101" pitchFamily="2" charset="-122"/>
              </a:rPr>
              <a:t>are becoming more and more lonely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ZYaoTi" panose="02010601030101010101" pitchFamily="2" charset="-122"/>
              <a:ea typeface="FZYaoTi" panose="0201060103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56" b="100000" l="0" r="98266">
                        <a14:foregroundMark x1="64162" y1="15607" x2="64162" y2="156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7694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ãyoung person iconãçåçæå°çµæ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41962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摺角紙張 3"/>
          <p:cNvSpPr/>
          <p:nvPr/>
        </p:nvSpPr>
        <p:spPr>
          <a:xfrm>
            <a:off x="1403648" y="1275606"/>
            <a:ext cx="3024336" cy="3096344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摺角紙張 8"/>
          <p:cNvSpPr/>
          <p:nvPr/>
        </p:nvSpPr>
        <p:spPr>
          <a:xfrm>
            <a:off x="4824028" y="1244704"/>
            <a:ext cx="3024336" cy="3127246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403648" y="2211710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E</a:t>
            </a:r>
            <a:r>
              <a:rPr lang="en-US" altLang="zh-TW" sz="1600" dirty="0" smtClean="0"/>
              <a:t>lderly People &gt; 3380000</a:t>
            </a:r>
            <a:endParaRPr lang="zh-TW" altLang="en-US" sz="1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403648" y="2562458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E</a:t>
            </a:r>
            <a:r>
              <a:rPr lang="en-US" altLang="zh-TW" sz="1600" dirty="0" smtClean="0"/>
              <a:t>lderly living alone &gt; 520000</a:t>
            </a:r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403648" y="3507854"/>
            <a:ext cx="3204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smtClean="0"/>
              <a:t>&gt; 25% suicide people are elders</a:t>
            </a:r>
            <a:endParaRPr lang="zh-TW" altLang="en-US" sz="1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403648" y="2923079"/>
            <a:ext cx="3204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smtClean="0"/>
              <a:t>Elderly living alone is more possible to suicide</a:t>
            </a:r>
            <a:endParaRPr lang="zh-TW" altLang="en-US" sz="1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403648" y="3817372"/>
            <a:ext cx="3204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L</a:t>
            </a:r>
            <a:r>
              <a:rPr lang="en-US" altLang="zh-TW" sz="1600" dirty="0" smtClean="0"/>
              <a:t>iving alone is very boring</a:t>
            </a:r>
            <a:endParaRPr lang="zh-TW" altLang="en-US" sz="1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051720" y="1491630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/>
              <a:t>Elder People</a:t>
            </a:r>
            <a:endParaRPr lang="zh-TW" altLang="en-US" sz="2400" b="1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508104" y="1491630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/>
              <a:t>Young People</a:t>
            </a:r>
            <a:endParaRPr lang="zh-TW" altLang="en-US" sz="2400" b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824028" y="2676857"/>
            <a:ext cx="302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smtClean="0"/>
              <a:t>Technology decrease </a:t>
            </a:r>
            <a:r>
              <a:rPr lang="en-US" altLang="zh-TW" sz="1600" dirty="0"/>
              <a:t>in face-to-face interaction among youth</a:t>
            </a:r>
            <a:endParaRPr lang="zh-TW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4824028" y="2092082"/>
            <a:ext cx="31323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smtClean="0"/>
              <a:t>16-24 year olds experience loneliness more often than olds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379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771800" y="4083918"/>
            <a:ext cx="242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b="1" dirty="0" smtClean="0"/>
              <a:t>Connection</a:t>
            </a:r>
            <a:endParaRPr lang="zh-TW" altLang="en-US" sz="2400" b="1" dirty="0"/>
          </a:p>
        </p:txBody>
      </p:sp>
      <p:sp>
        <p:nvSpPr>
          <p:cNvPr id="3" name="文字方塊 2"/>
          <p:cNvSpPr txBox="1"/>
          <p:nvPr/>
        </p:nvSpPr>
        <p:spPr>
          <a:xfrm>
            <a:off x="1835696" y="2830165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b="1" dirty="0" smtClean="0"/>
              <a:t>Interaction</a:t>
            </a:r>
            <a:endParaRPr lang="zh-TW" altLang="en-US" sz="2400" b="1" dirty="0"/>
          </a:p>
        </p:txBody>
      </p:sp>
      <p:sp>
        <p:nvSpPr>
          <p:cNvPr id="4" name="文字方塊 3"/>
          <p:cNvSpPr txBox="1"/>
          <p:nvPr/>
        </p:nvSpPr>
        <p:spPr>
          <a:xfrm>
            <a:off x="4139952" y="1384299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b="1" dirty="0"/>
              <a:t>S</a:t>
            </a:r>
            <a:r>
              <a:rPr lang="en-US" altLang="zh-TW" sz="2400" b="1" dirty="0" smtClean="0"/>
              <a:t>ocial quality</a:t>
            </a:r>
            <a:endParaRPr lang="zh-TW" altLang="en-US" sz="24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328" t="37056"/>
          <a:stretch/>
        </p:blipFill>
        <p:spPr bwMode="auto">
          <a:xfrm>
            <a:off x="5292080" y="1851670"/>
            <a:ext cx="4460841" cy="57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852787" y="3714586"/>
            <a:ext cx="10801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Chatting 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919335" y="2490514"/>
            <a:ext cx="100811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Activity 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804248" y="1014967"/>
            <a:ext cx="208823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Assist and Inherited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846" y="2204231"/>
            <a:ext cx="1450132" cy="1087599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 descr="ãåé£¯ãçåçæå°çµæ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26" y="2211830"/>
            <a:ext cx="1882286" cy="1080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215696" y="3435846"/>
            <a:ext cx="5436424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15696" y="1995686"/>
            <a:ext cx="6588552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1" name="Picture 9" descr="ç¸éåç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11830"/>
            <a:ext cx="1447422" cy="1080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651990"/>
            <a:ext cx="1616766" cy="10800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849" y="593867"/>
            <a:ext cx="1617391" cy="10800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808" y="593867"/>
            <a:ext cx="1725240" cy="10800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0" r="18397"/>
          <a:stretch/>
        </p:blipFill>
        <p:spPr bwMode="auto">
          <a:xfrm>
            <a:off x="1933848" y="593867"/>
            <a:ext cx="1270000" cy="108000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 descr="ç¸éåç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96" y="623302"/>
            <a:ext cx="1620000" cy="1080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6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scontent.ftpe8-4.fna.fbcdn.net/v/t1.15752-9/44086290_488052531708472_8933638722797174784_n.png?_nc_cat=110&amp;oh=21cec3405e3921f49459cbfb56a62849&amp;oe=5C60A5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347614"/>
            <a:ext cx="3365238" cy="252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56" b="100000" l="0" r="98266">
                        <a14:foregroundMark x1="64162" y1="15607" x2="64162" y2="156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630" y="1090154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梯形 1"/>
          <p:cNvSpPr/>
          <p:nvPr/>
        </p:nvSpPr>
        <p:spPr>
          <a:xfrm rot="15196091">
            <a:off x="5582207" y="-672617"/>
            <a:ext cx="2149640" cy="4399323"/>
          </a:xfrm>
          <a:prstGeom prst="trapezoid">
            <a:avLst>
              <a:gd name="adj" fmla="val 43309"/>
            </a:avLst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6876256" y="1178337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I buy too many fruit.</a:t>
            </a:r>
          </a:p>
          <a:p>
            <a:r>
              <a:rPr lang="en-US" altLang="zh-TW" sz="1600" dirty="0" smtClean="0"/>
              <a:t>Can anyone help me?</a:t>
            </a:r>
            <a:endParaRPr lang="zh-TW" altLang="en-US" sz="1600" dirty="0"/>
          </a:p>
        </p:txBody>
      </p:sp>
      <p:sp>
        <p:nvSpPr>
          <p:cNvPr id="6" name="梯形 5"/>
          <p:cNvSpPr/>
          <p:nvPr/>
        </p:nvSpPr>
        <p:spPr>
          <a:xfrm rot="16941073">
            <a:off x="5623589" y="1415605"/>
            <a:ext cx="2149640" cy="4330338"/>
          </a:xfrm>
          <a:prstGeom prst="trapezoid">
            <a:avLst>
              <a:gd name="adj" fmla="val 43309"/>
            </a:avLst>
          </a:prstGeom>
          <a:solidFill>
            <a:schemeClr val="accent3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5" descr="ãyoung person iconãçåçæå°çµæ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0271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梯形 7"/>
          <p:cNvSpPr/>
          <p:nvPr/>
        </p:nvSpPr>
        <p:spPr>
          <a:xfrm rot="6240591">
            <a:off x="680356" y="-13764"/>
            <a:ext cx="2149640" cy="3081614"/>
          </a:xfrm>
          <a:prstGeom prst="trapezoid">
            <a:avLst>
              <a:gd name="adj" fmla="val 43309"/>
            </a:avLst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23528" y="1266895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Dose anyone want to paly basketball?</a:t>
            </a:r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242827" y="3330481"/>
            <a:ext cx="28448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Let’s go cleaning the beach.</a:t>
            </a:r>
          </a:p>
          <a:p>
            <a:r>
              <a:rPr lang="en-US" altLang="zh-TW" sz="1600" dirty="0" smtClean="0"/>
              <a:t>We need more volunteers !</a:t>
            </a:r>
          </a:p>
          <a:p>
            <a:endParaRPr lang="en-US" altLang="zh-TW" sz="1600" dirty="0" smtClean="0"/>
          </a:p>
          <a:p>
            <a:endParaRPr lang="zh-TW" altLang="en-US" sz="1600" dirty="0"/>
          </a:p>
        </p:txBody>
      </p:sp>
      <p:sp>
        <p:nvSpPr>
          <p:cNvPr id="11" name="梯形 10"/>
          <p:cNvSpPr/>
          <p:nvPr/>
        </p:nvSpPr>
        <p:spPr>
          <a:xfrm rot="5115482">
            <a:off x="499661" y="2035042"/>
            <a:ext cx="2517724" cy="3492232"/>
          </a:xfrm>
          <a:prstGeom prst="trapezoid">
            <a:avLst>
              <a:gd name="adj" fmla="val 43309"/>
            </a:avLst>
          </a:prstGeom>
          <a:solidFill>
            <a:schemeClr val="accent6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496" y="3314477"/>
            <a:ext cx="324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Here is a smartphone class for elder</a:t>
            </a:r>
          </a:p>
          <a:p>
            <a:r>
              <a:rPr lang="en-US" altLang="zh-TW" sz="1600" dirty="0" smtClean="0"/>
              <a:t>We need volunteer as teacher.</a:t>
            </a:r>
          </a:p>
          <a:p>
            <a:pPr algn="r"/>
            <a:r>
              <a:rPr lang="en-US" altLang="zh-TW" sz="1200" dirty="0" smtClean="0"/>
              <a:t>- By community </a:t>
            </a:r>
            <a:r>
              <a:rPr lang="en-US" altLang="zh-TW" sz="1200" dirty="0"/>
              <a:t>c</a:t>
            </a:r>
            <a:r>
              <a:rPr lang="en-US" altLang="zh-TW" sz="1200" dirty="0" smtClean="0"/>
              <a:t>ommissioner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9681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11560" y="411510"/>
            <a:ext cx="82809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內政部統計資料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(https://www.moi.gov.tw/stat/news_detail.aspx?sn=14936)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衛生福利</a:t>
            </a:r>
            <a:r>
              <a:rPr lang="zh-TW" altLang="en-US" dirty="0" smtClean="0"/>
              <a:t>部統計資料 </a:t>
            </a:r>
            <a:r>
              <a:rPr lang="en-US" altLang="zh-TW" dirty="0" smtClean="0"/>
              <a:t>(http://health.gov.taipei/Default.aspx?tabid=36&amp;mid=442&amp;itemid=40700)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BBC</a:t>
            </a:r>
            <a:r>
              <a:rPr lang="zh-TW" altLang="en-US" dirty="0" smtClean="0"/>
              <a:t> 調查資料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(https://www.bbc.co.uk/mediacentre/latestnews/2018/loneliest-age-group-radio-4)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Literature</a:t>
            </a:r>
            <a:br>
              <a:rPr lang="en-US" altLang="zh-TW" dirty="0" smtClean="0"/>
            </a:br>
            <a:r>
              <a:rPr lang="en-US" altLang="zh-TW" dirty="0" smtClean="0"/>
              <a:t>(https://www.elon.edu/docs/e-web/academics/communications/research/vol6no1/02DragoEJSpring15.pdf)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良醫健康</a:t>
            </a:r>
            <a:r>
              <a:rPr lang="zh-TW" altLang="en-US" dirty="0" smtClean="0"/>
              <a:t>網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(https://health.businessweekly.com.tw/AArticle.aspx?id=ARTL000116623)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5907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117</Words>
  <Application>Microsoft Office PowerPoint</Application>
  <PresentationFormat>如螢幕大小 (16:9)</PresentationFormat>
  <Paragraphs>32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Henry</dc:creator>
  <cp:lastModifiedBy>Henry</cp:lastModifiedBy>
  <cp:revision>14</cp:revision>
  <dcterms:created xsi:type="dcterms:W3CDTF">2018-10-16T14:02:31Z</dcterms:created>
  <dcterms:modified xsi:type="dcterms:W3CDTF">2018-10-16T17:08:55Z</dcterms:modified>
</cp:coreProperties>
</file>