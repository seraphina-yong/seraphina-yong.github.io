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oboto Slab"/>
      <p:regular r:id="rId34"/>
      <p:bold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Nunito ExtraBold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ExtraBold-bold.fntdata"/><Relationship Id="rId20" Type="http://schemas.openxmlformats.org/officeDocument/2006/relationships/slide" Target="slides/slide14.xml"/><Relationship Id="rId41" Type="http://schemas.openxmlformats.org/officeDocument/2006/relationships/font" Target="fonts/NunitoExtra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Slab-bold.fntdata"/><Relationship Id="rId12" Type="http://schemas.openxmlformats.org/officeDocument/2006/relationships/slide" Target="slides/slide6.xml"/><Relationship Id="rId34" Type="http://schemas.openxmlformats.org/officeDocument/2006/relationships/font" Target="fonts/RobotoSlab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xplanet.org/ux-storyboarding-hacks-f4c32d7af920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8832020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8832020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from other people’s perspectives, facilitate others seeing from yours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exploration of design ideas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8832020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8832020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Doing: taking action on the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Feeling: the opposite: how we perceive and make sense of the things in the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Knowing: how we think (learning - novice stage of using interface and making sense of it/ planning - making interface fulfill the needs of expert: support advanced needs)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88320206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88320206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Simple: buttons, dials (flexibility)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interfaces - telling siri what to do, talking on the phone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Thinking-based (no physical action): Brain-computer interfaces (BCI)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88320206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88320206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Cool media forces people to perceive sensory “gaps” in the content, high participation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88320206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88320206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Knowing involves learning, and planning</a:t>
            </a:r>
            <a:endParaRPr sz="1200">
              <a:solidFill>
                <a:schemeClr val="dk1"/>
              </a:solidFill>
            </a:endParaRPr>
          </a:p>
          <a:p>
            <a:pPr indent="-69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Paths are good for beginners just tell me step by step what to do. </a:t>
            </a:r>
            <a:endParaRPr sz="1200">
              <a:solidFill>
                <a:schemeClr val="dk1"/>
              </a:solidFill>
            </a:endParaRPr>
          </a:p>
          <a:p>
            <a:pPr indent="-69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Maps are good for understanding alternatives they take longer to learn but are more robust.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Flexibility, more information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en" sz="1200">
                <a:solidFill>
                  <a:schemeClr val="dk1"/>
                </a:solidFill>
              </a:rPr>
              <a:t>Good for expert skill, more choices</a:t>
            </a:r>
            <a:endParaRPr sz="1200">
              <a:solidFill>
                <a:schemeClr val="dk1"/>
              </a:solidFill>
            </a:endParaRPr>
          </a:p>
          <a:p>
            <a:pPr indent="-69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Paths are good for expert skill; they can be very efficient.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88320206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88320206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vs. map: opportunities for exploration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rawing a connection between what we know in the real world and a design idea in the 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Wilderness: draws you in, lots of different feelings, attractive but scary and intimidating at the same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(perhaps some type of game that does not give you a clear picture on purpose, an exploration or horror game)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Desert: no landmarks but gives you a deep impression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sea: a lot of information hidden under the surface, but have to dig (access to Web via Google Search)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Night sky: very little types of objects, about identifying, putting things together, working with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88320206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88320206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88f28fc05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88f28fc05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88320206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88320206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style, project type, available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Doodles</a:t>
            </a:r>
            <a:r>
              <a:rPr lang="en"/>
              <a:t> - (cold) for other designers: generate creativity, ideas, questions,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Blueprints</a:t>
            </a:r>
            <a:r>
              <a:rPr lang="en"/>
              <a:t> - (hot) clear representation for model maker as specs to make the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Scale model</a:t>
            </a:r>
            <a:r>
              <a:rPr lang="en"/>
              <a:t> - (hot) clear representation to sales (dfferent people) for customer reaction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892c1c7dc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892c1c7d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Envisionment</a:t>
            </a:r>
            <a:r>
              <a:rPr lang="en"/>
              <a:t>的五種工具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一個畫的、一個更常使用軟體做出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右上角是意圖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舉出例子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892c1c7dc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892c1c7dc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定義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key messages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892c1c7dc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892c1c7dc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樣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scored ones例子：最右上角那張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我們挑的案例剛好沒有側邊加註文字 傳統型的會有 像最後一張那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892c1c7dc_5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892c1c7dc_5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2"/>
              </a:rPr>
              <a:t>https://uxplanet.org/ux-storyboarding-hacks-f4c32d7af920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2. 4 5.</a:t>
            </a:r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892c1c7dc_5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4892c1c7dc_5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讓設計團隊都知道我們統一風格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8832020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8832020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892c1c7dc_5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892c1c7dc_5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892c1c7dc_5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892c1c7dc_5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4892c1c7dc_1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4892c1c7d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Help analysis of the current situation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892c1c7d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4892c1c7dc_1_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892c1c7dc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4892c1c7dc_1_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892c1c7dc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4892c1c7dc_1_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4892c1c7dc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4892c1c7dc_1_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4892c1c7dc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4892c1c7dc_1_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4892c1c7dc_1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4892c1c7dc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2a.Develop representations of your design ideas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		minimum: </a:t>
            </a:r>
            <a:r>
              <a:rPr lang="en">
                <a:solidFill>
                  <a:srgbClr val="FF0000"/>
                </a:solidFill>
              </a:rPr>
              <a:t>include concrete scenarios,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				storyboards developing the main interaction sequences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				and snapshot sketches of 'key screens' or other aspects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892c1c7dc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4892c1c7dc_1_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4892c1c7dc_1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4892c1c7dc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get inspiration form any where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		and externalizing ideas through envisionment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		is the first step of design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8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8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20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0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3" name="Google Shape;93;p2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rina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5.jpg"/><Relationship Id="rId6" Type="http://schemas.openxmlformats.org/officeDocument/2006/relationships/image" Target="../media/image7.jpg"/><Relationship Id="rId7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4.jpg"/><Relationship Id="rId5" Type="http://schemas.openxmlformats.org/officeDocument/2006/relationships/image" Target="../media/image11.jpg"/><Relationship Id="rId6" Type="http://schemas.openxmlformats.org/officeDocument/2006/relationships/image" Target="../media/image3.jpg"/><Relationship Id="rId7" Type="http://schemas.openxmlformats.org/officeDocument/2006/relationships/image" Target="../media/image6.jp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17.jpg"/><Relationship Id="rId5" Type="http://schemas.openxmlformats.org/officeDocument/2006/relationships/image" Target="../media/image22.jpg"/><Relationship Id="rId6" Type="http://schemas.openxmlformats.org/officeDocument/2006/relationships/image" Target="../media/image4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2.jpg"/><Relationship Id="rId5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jpg"/><Relationship Id="rId4" Type="http://schemas.openxmlformats.org/officeDocument/2006/relationships/image" Target="../media/image24.jpg"/><Relationship Id="rId5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hyperlink" Target="https://goo.gl/CJfQX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Envisionment</a:t>
            </a:r>
            <a:endParaRPr/>
          </a:p>
        </p:txBody>
      </p:sp>
      <p:sp>
        <p:nvSpPr>
          <p:cNvPr id="111" name="Google Shape;111;p2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楊馥名</a:t>
            </a:r>
            <a:r>
              <a:rPr lang="en"/>
              <a:t> 曾偉德  賴琮運  陳譽升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Envisionment</a:t>
            </a:r>
            <a:endParaRPr/>
          </a:p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Externalization of ideas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Manipulability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Communication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Forms and representations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start exploring design ideas</a:t>
            </a:r>
            <a:endParaRPr/>
          </a:p>
        </p:txBody>
      </p:sp>
      <p:sp>
        <p:nvSpPr>
          <p:cNvPr id="123" name="Google Shape;123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Feeling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Knowing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600" y="2119125"/>
            <a:ext cx="3676075" cy="2757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Doing</a:t>
            </a:r>
            <a:endParaRPr/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9347" y="253925"/>
            <a:ext cx="3107256" cy="17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4412" y="3296875"/>
            <a:ext cx="3151655" cy="17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167" y="1452563"/>
            <a:ext cx="2847975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3775" y="315250"/>
            <a:ext cx="3047574" cy="17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 txBox="1"/>
          <p:nvPr>
            <p:ph type="title"/>
          </p:nvPr>
        </p:nvSpPr>
        <p:spPr>
          <a:xfrm>
            <a:off x="3288800" y="2320138"/>
            <a:ext cx="16530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(Action)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775" y="2582224"/>
            <a:ext cx="3578900" cy="23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/>
          <p:nvPr>
            <p:ph type="title"/>
          </p:nvPr>
        </p:nvSpPr>
        <p:spPr>
          <a:xfrm>
            <a:off x="1593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Feeling</a:t>
            </a:r>
            <a:endParaRPr/>
          </a:p>
        </p:txBody>
      </p:sp>
      <p:pic>
        <p:nvPicPr>
          <p:cNvPr id="141" name="Google Shape;1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3525" y="252875"/>
            <a:ext cx="2888487" cy="19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00" y="2328975"/>
            <a:ext cx="2776401" cy="18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764450" y="2079075"/>
            <a:ext cx="2955900" cy="669000"/>
          </a:xfrm>
          <a:prstGeom prst="rect">
            <a:avLst/>
          </a:prstGeom>
          <a:solidFill>
            <a:srgbClr val="980000"/>
          </a:solidFill>
          <a:ln>
            <a:noFill/>
          </a:ln>
          <a:effectLst>
            <a:outerShdw blurRad="57150" rotWithShape="0" algn="bl" dir="3000000" dist="1428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Hot media</a:t>
            </a:r>
            <a:r>
              <a:rPr lang="en" sz="1800">
                <a:solidFill>
                  <a:srgbClr val="FFFFFF"/>
                </a:solidFill>
              </a:rPr>
              <a:t> → high-fidelity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9200" y="259375"/>
            <a:ext cx="2955900" cy="1912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3875" y="1725425"/>
            <a:ext cx="2233300" cy="33646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1025" y="2676250"/>
            <a:ext cx="2583850" cy="169672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/>
        </p:nvSpPr>
        <p:spPr>
          <a:xfrm>
            <a:off x="5449550" y="2051475"/>
            <a:ext cx="3183300" cy="7242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57150" rotWithShape="0" algn="bl" dir="3180000" dist="123825">
              <a:srgbClr val="000000">
                <a:alpha val="4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Cool</a:t>
            </a:r>
            <a:r>
              <a:rPr b="1" lang="en" sz="1800">
                <a:solidFill>
                  <a:srgbClr val="FFFFFF"/>
                </a:solidFill>
              </a:rPr>
              <a:t> media</a:t>
            </a:r>
            <a:r>
              <a:rPr lang="en" sz="1800">
                <a:solidFill>
                  <a:srgbClr val="FFFFFF"/>
                </a:solidFill>
              </a:rPr>
              <a:t> → low-definition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50" y="503153"/>
            <a:ext cx="8928250" cy="50221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672825" y="258400"/>
            <a:ext cx="4439400" cy="4503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Knowledge mapping = learning + planning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725850" y="859900"/>
            <a:ext cx="1389000" cy="3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9"/>
          <p:cNvSpPr txBox="1"/>
          <p:nvPr>
            <p:ph type="title"/>
          </p:nvPr>
        </p:nvSpPr>
        <p:spPr>
          <a:xfrm>
            <a:off x="409500" y="322188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Knowing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181550" y="1811525"/>
            <a:ext cx="18390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Uber’s interface flow chart</a:t>
            </a:r>
            <a:endParaRPr b="1"/>
          </a:p>
        </p:txBody>
      </p:sp>
      <p:sp>
        <p:nvSpPr>
          <p:cNvPr id="157" name="Google Shape;157;p29"/>
          <p:cNvSpPr/>
          <p:nvPr/>
        </p:nvSpPr>
        <p:spPr>
          <a:xfrm flipH="1" rot="10800000">
            <a:off x="649650" y="2375250"/>
            <a:ext cx="843000" cy="86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/>
          <p:nvPr/>
        </p:nvSpPr>
        <p:spPr>
          <a:xfrm>
            <a:off x="1576681" y="1439630"/>
            <a:ext cx="2120525" cy="3260425"/>
          </a:xfrm>
          <a:custGeom>
            <a:rect b="b" l="l" r="r" t="t"/>
            <a:pathLst>
              <a:path extrusionOk="0" h="130417" w="84821">
                <a:moveTo>
                  <a:pt x="84821" y="1417"/>
                </a:moveTo>
                <a:cubicBezTo>
                  <a:pt x="80477" y="1417"/>
                  <a:pt x="75409" y="-1376"/>
                  <a:pt x="71794" y="1034"/>
                </a:cubicBezTo>
                <a:cubicBezTo>
                  <a:pt x="64761" y="5723"/>
                  <a:pt x="73663" y="18762"/>
                  <a:pt x="69879" y="26320"/>
                </a:cubicBezTo>
                <a:cubicBezTo>
                  <a:pt x="68957" y="28161"/>
                  <a:pt x="65808" y="27086"/>
                  <a:pt x="63749" y="27086"/>
                </a:cubicBezTo>
                <a:cubicBezTo>
                  <a:pt x="56842" y="27086"/>
                  <a:pt x="48587" y="24094"/>
                  <a:pt x="43060" y="28236"/>
                </a:cubicBezTo>
                <a:cubicBezTo>
                  <a:pt x="39292" y="31061"/>
                  <a:pt x="39072" y="37410"/>
                  <a:pt x="39995" y="42028"/>
                </a:cubicBezTo>
                <a:cubicBezTo>
                  <a:pt x="40546" y="44786"/>
                  <a:pt x="42368" y="48470"/>
                  <a:pt x="40378" y="50457"/>
                </a:cubicBezTo>
                <a:cubicBezTo>
                  <a:pt x="38751" y="52082"/>
                  <a:pt x="35780" y="50457"/>
                  <a:pt x="33481" y="50457"/>
                </a:cubicBezTo>
                <a:cubicBezTo>
                  <a:pt x="27594" y="50457"/>
                  <a:pt x="21744" y="51607"/>
                  <a:pt x="15857" y="51607"/>
                </a:cubicBezTo>
                <a:cubicBezTo>
                  <a:pt x="12792" y="51607"/>
                  <a:pt x="8831" y="49441"/>
                  <a:pt x="6662" y="51607"/>
                </a:cubicBezTo>
                <a:cubicBezTo>
                  <a:pt x="3614" y="54651"/>
                  <a:pt x="3980" y="59942"/>
                  <a:pt x="3980" y="64250"/>
                </a:cubicBezTo>
                <a:cubicBezTo>
                  <a:pt x="3980" y="73190"/>
                  <a:pt x="3980" y="82129"/>
                  <a:pt x="3980" y="91069"/>
                </a:cubicBezTo>
                <a:cubicBezTo>
                  <a:pt x="3980" y="100209"/>
                  <a:pt x="532" y="109131"/>
                  <a:pt x="532" y="118271"/>
                </a:cubicBezTo>
                <a:cubicBezTo>
                  <a:pt x="532" y="120314"/>
                  <a:pt x="-602" y="122702"/>
                  <a:pt x="532" y="124401"/>
                </a:cubicBezTo>
                <a:cubicBezTo>
                  <a:pt x="6891" y="133926"/>
                  <a:pt x="23212" y="129495"/>
                  <a:pt x="34631" y="128615"/>
                </a:cubicBezTo>
                <a:cubicBezTo>
                  <a:pt x="44075" y="127887"/>
                  <a:pt x="53639" y="128257"/>
                  <a:pt x="62982" y="126700"/>
                </a:cubicBezTo>
                <a:cubicBezTo>
                  <a:pt x="66393" y="126132"/>
                  <a:pt x="70882" y="128379"/>
                  <a:pt x="73327" y="125934"/>
                </a:cubicBezTo>
                <a:cubicBezTo>
                  <a:pt x="78114" y="121147"/>
                  <a:pt x="74667" y="112330"/>
                  <a:pt x="73710" y="105628"/>
                </a:cubicBezTo>
                <a:cubicBezTo>
                  <a:pt x="73090" y="101283"/>
                  <a:pt x="74896" y="95707"/>
                  <a:pt x="71794" y="92601"/>
                </a:cubicBezTo>
                <a:cubicBezTo>
                  <a:pt x="69342" y="90146"/>
                  <a:pt x="64852" y="93071"/>
                  <a:pt x="61450" y="93751"/>
                </a:cubicBezTo>
                <a:cubicBezTo>
                  <a:pt x="54683" y="95104"/>
                  <a:pt x="47662" y="94517"/>
                  <a:pt x="40761" y="94517"/>
                </a:cubicBezTo>
              </a:path>
            </a:pathLst>
          </a:custGeom>
          <a:noFill/>
          <a:ln cap="flat" cmpd="sng" w="76200">
            <a:solidFill>
              <a:srgbClr val="E06666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59" name="Google Shape;159;p29"/>
          <p:cNvSpPr txBox="1"/>
          <p:nvPr/>
        </p:nvSpPr>
        <p:spPr>
          <a:xfrm>
            <a:off x="717500" y="3706325"/>
            <a:ext cx="9195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06666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path</a:t>
            </a:r>
            <a:endParaRPr sz="2400">
              <a:solidFill>
                <a:srgbClr val="E06666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1480989" y="1416157"/>
            <a:ext cx="2264075" cy="3372950"/>
          </a:xfrm>
          <a:custGeom>
            <a:rect b="b" l="l" r="r" t="t"/>
            <a:pathLst>
              <a:path extrusionOk="0" h="134918" w="90563">
                <a:moveTo>
                  <a:pt x="90563" y="1973"/>
                </a:moveTo>
                <a:cubicBezTo>
                  <a:pt x="85193" y="1973"/>
                  <a:pt x="78938" y="-1775"/>
                  <a:pt x="74472" y="1206"/>
                </a:cubicBezTo>
                <a:cubicBezTo>
                  <a:pt x="72981" y="2201"/>
                  <a:pt x="74440" y="4812"/>
                  <a:pt x="74089" y="6570"/>
                </a:cubicBezTo>
                <a:cubicBezTo>
                  <a:pt x="72962" y="12207"/>
                  <a:pt x="73706" y="18063"/>
                  <a:pt x="73706" y="23811"/>
                </a:cubicBezTo>
                <a:cubicBezTo>
                  <a:pt x="73706" y="25854"/>
                  <a:pt x="75152" y="28497"/>
                  <a:pt x="73706" y="29941"/>
                </a:cubicBezTo>
                <a:cubicBezTo>
                  <a:pt x="72618" y="31028"/>
                  <a:pt x="70616" y="29860"/>
                  <a:pt x="69108" y="29558"/>
                </a:cubicBezTo>
                <a:cubicBezTo>
                  <a:pt x="60843" y="27905"/>
                  <a:pt x="48882" y="22817"/>
                  <a:pt x="43822" y="29558"/>
                </a:cubicBezTo>
                <a:cubicBezTo>
                  <a:pt x="39522" y="35286"/>
                  <a:pt x="48631" y="47040"/>
                  <a:pt x="42672" y="51013"/>
                </a:cubicBezTo>
                <a:cubicBezTo>
                  <a:pt x="35552" y="55760"/>
                  <a:pt x="25494" y="52457"/>
                  <a:pt x="17003" y="51396"/>
                </a:cubicBezTo>
                <a:cubicBezTo>
                  <a:pt x="14330" y="51062"/>
                  <a:pt x="10862" y="48725"/>
                  <a:pt x="8957" y="50630"/>
                </a:cubicBezTo>
                <a:cubicBezTo>
                  <a:pt x="6607" y="52980"/>
                  <a:pt x="9340" y="57268"/>
                  <a:pt x="9340" y="60591"/>
                </a:cubicBezTo>
                <a:cubicBezTo>
                  <a:pt x="9340" y="76738"/>
                  <a:pt x="5038" y="92612"/>
                  <a:pt x="2061" y="108482"/>
                </a:cubicBezTo>
                <a:cubicBezTo>
                  <a:pt x="905" y="114644"/>
                  <a:pt x="911" y="120986"/>
                  <a:pt x="911" y="127256"/>
                </a:cubicBezTo>
                <a:cubicBezTo>
                  <a:pt x="911" y="129813"/>
                  <a:pt x="-1263" y="134918"/>
                  <a:pt x="1294" y="134918"/>
                </a:cubicBezTo>
                <a:cubicBezTo>
                  <a:pt x="6754" y="134918"/>
                  <a:pt x="11938" y="132216"/>
                  <a:pt x="17386" y="131853"/>
                </a:cubicBezTo>
                <a:cubicBezTo>
                  <a:pt x="29757" y="131028"/>
                  <a:pt x="42151" y="133386"/>
                  <a:pt x="54549" y="133386"/>
                </a:cubicBezTo>
                <a:cubicBezTo>
                  <a:pt x="59799" y="133386"/>
                  <a:pt x="65007" y="132236"/>
                  <a:pt x="70257" y="132236"/>
                </a:cubicBezTo>
                <a:cubicBezTo>
                  <a:pt x="73638" y="132236"/>
                  <a:pt x="78191" y="133027"/>
                  <a:pt x="80219" y="130321"/>
                </a:cubicBezTo>
                <a:cubicBezTo>
                  <a:pt x="84373" y="124779"/>
                  <a:pt x="82134" y="116558"/>
                  <a:pt x="82134" y="109632"/>
                </a:cubicBezTo>
                <a:cubicBezTo>
                  <a:pt x="82134" y="103961"/>
                  <a:pt x="84374" y="96175"/>
                  <a:pt x="79836" y="92774"/>
                </a:cubicBezTo>
                <a:cubicBezTo>
                  <a:pt x="74385" y="88689"/>
                  <a:pt x="66342" y="95073"/>
                  <a:pt x="59530" y="95073"/>
                </a:cubicBezTo>
                <a:cubicBezTo>
                  <a:pt x="56335" y="95073"/>
                  <a:pt x="53052" y="95464"/>
                  <a:pt x="49952" y="94690"/>
                </a:cubicBezTo>
                <a:cubicBezTo>
                  <a:pt x="48830" y="94410"/>
                  <a:pt x="46503" y="93150"/>
                  <a:pt x="46503" y="94307"/>
                </a:cubicBezTo>
              </a:path>
            </a:pathLst>
          </a:custGeom>
          <a:noFill/>
          <a:ln cap="flat" cmpd="sng" w="7620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1" name="Google Shape;161;p29"/>
          <p:cNvSpPr/>
          <p:nvPr/>
        </p:nvSpPr>
        <p:spPr>
          <a:xfrm>
            <a:off x="2595700" y="1704925"/>
            <a:ext cx="1101500" cy="1714500"/>
          </a:xfrm>
          <a:custGeom>
            <a:rect b="b" l="l" r="r" t="t"/>
            <a:pathLst>
              <a:path extrusionOk="0" h="68580" w="44060">
                <a:moveTo>
                  <a:pt x="44060" y="0"/>
                </a:moveTo>
                <a:cubicBezTo>
                  <a:pt x="44060" y="7053"/>
                  <a:pt x="42144" y="14019"/>
                  <a:pt x="42144" y="21072"/>
                </a:cubicBezTo>
                <a:cubicBezTo>
                  <a:pt x="42144" y="25797"/>
                  <a:pt x="44764" y="31315"/>
                  <a:pt x="42144" y="35248"/>
                </a:cubicBezTo>
                <a:cubicBezTo>
                  <a:pt x="37529" y="42177"/>
                  <a:pt x="21856" y="30234"/>
                  <a:pt x="17241" y="37163"/>
                </a:cubicBezTo>
                <a:cubicBezTo>
                  <a:pt x="16210" y="38711"/>
                  <a:pt x="18409" y="40704"/>
                  <a:pt x="18773" y="42527"/>
                </a:cubicBezTo>
                <a:cubicBezTo>
                  <a:pt x="19625" y="46787"/>
                  <a:pt x="19156" y="51210"/>
                  <a:pt x="19156" y="55554"/>
                </a:cubicBezTo>
                <a:cubicBezTo>
                  <a:pt x="19156" y="57601"/>
                  <a:pt x="20986" y="60235"/>
                  <a:pt x="19539" y="61684"/>
                </a:cubicBezTo>
                <a:cubicBezTo>
                  <a:pt x="14658" y="66571"/>
                  <a:pt x="6907" y="68580"/>
                  <a:pt x="0" y="68580"/>
                </a:cubicBezTo>
              </a:path>
            </a:pathLst>
          </a:custGeom>
          <a:noFill/>
          <a:ln cap="flat" cmpd="sng" w="7620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2" name="Google Shape;162;p29"/>
          <p:cNvSpPr/>
          <p:nvPr/>
        </p:nvSpPr>
        <p:spPr>
          <a:xfrm>
            <a:off x="3658875" y="1318015"/>
            <a:ext cx="4069925" cy="1772150"/>
          </a:xfrm>
          <a:custGeom>
            <a:rect b="b" l="l" r="r" t="t"/>
            <a:pathLst>
              <a:path extrusionOk="0" h="70886" w="162797">
                <a:moveTo>
                  <a:pt x="0" y="50341"/>
                </a:moveTo>
                <a:cubicBezTo>
                  <a:pt x="7944" y="50341"/>
                  <a:pt x="18137" y="46639"/>
                  <a:pt x="23754" y="52256"/>
                </a:cubicBezTo>
                <a:cubicBezTo>
                  <a:pt x="26505" y="55007"/>
                  <a:pt x="27406" y="59210"/>
                  <a:pt x="28352" y="62984"/>
                </a:cubicBezTo>
                <a:cubicBezTo>
                  <a:pt x="28850" y="64970"/>
                  <a:pt x="27287" y="67666"/>
                  <a:pt x="28735" y="69114"/>
                </a:cubicBezTo>
                <a:cubicBezTo>
                  <a:pt x="32979" y="73358"/>
                  <a:pt x="40919" y="67658"/>
                  <a:pt x="46742" y="69114"/>
                </a:cubicBezTo>
                <a:cubicBezTo>
                  <a:pt x="54061" y="70944"/>
                  <a:pt x="61802" y="70263"/>
                  <a:pt x="69346" y="70263"/>
                </a:cubicBezTo>
                <a:cubicBezTo>
                  <a:pt x="73690" y="70263"/>
                  <a:pt x="78487" y="71822"/>
                  <a:pt x="82373" y="69880"/>
                </a:cubicBezTo>
                <a:cubicBezTo>
                  <a:pt x="84910" y="68613"/>
                  <a:pt x="88002" y="67436"/>
                  <a:pt x="89269" y="64899"/>
                </a:cubicBezTo>
                <a:cubicBezTo>
                  <a:pt x="92981" y="57470"/>
                  <a:pt x="88670" y="48188"/>
                  <a:pt x="90035" y="39996"/>
                </a:cubicBezTo>
                <a:cubicBezTo>
                  <a:pt x="90554" y="36880"/>
                  <a:pt x="89236" y="31421"/>
                  <a:pt x="92334" y="30801"/>
                </a:cubicBezTo>
                <a:cubicBezTo>
                  <a:pt x="97343" y="29799"/>
                  <a:pt x="102587" y="31409"/>
                  <a:pt x="107659" y="30801"/>
                </a:cubicBezTo>
                <a:cubicBezTo>
                  <a:pt x="117290" y="29646"/>
                  <a:pt x="126694" y="26203"/>
                  <a:pt x="136394" y="26203"/>
                </a:cubicBezTo>
                <a:cubicBezTo>
                  <a:pt x="141502" y="26203"/>
                  <a:pt x="146680" y="25361"/>
                  <a:pt x="151719" y="26203"/>
                </a:cubicBezTo>
                <a:cubicBezTo>
                  <a:pt x="154391" y="26649"/>
                  <a:pt x="157510" y="28855"/>
                  <a:pt x="159765" y="27353"/>
                </a:cubicBezTo>
                <a:cubicBezTo>
                  <a:pt x="163039" y="25172"/>
                  <a:pt x="163095" y="19739"/>
                  <a:pt x="162447" y="15859"/>
                </a:cubicBezTo>
                <a:cubicBezTo>
                  <a:pt x="161994" y="13146"/>
                  <a:pt x="160049" y="10865"/>
                  <a:pt x="159382" y="8196"/>
                </a:cubicBezTo>
                <a:cubicBezTo>
                  <a:pt x="158939" y="6422"/>
                  <a:pt x="159867" y="3651"/>
                  <a:pt x="158232" y="2833"/>
                </a:cubicBezTo>
                <a:cubicBezTo>
                  <a:pt x="155129" y="1282"/>
                  <a:pt x="151350" y="3751"/>
                  <a:pt x="147888" y="3982"/>
                </a:cubicBezTo>
                <a:cubicBezTo>
                  <a:pt x="141006" y="4441"/>
                  <a:pt x="133963" y="4951"/>
                  <a:pt x="127199" y="3599"/>
                </a:cubicBezTo>
                <a:cubicBezTo>
                  <a:pt x="113387" y="837"/>
                  <a:pt x="99140" y="534"/>
                  <a:pt x="85055" y="534"/>
                </a:cubicBezTo>
                <a:cubicBezTo>
                  <a:pt x="77366" y="534"/>
                  <a:pt x="68659" y="-1509"/>
                  <a:pt x="62067" y="2450"/>
                </a:cubicBezTo>
                <a:cubicBezTo>
                  <a:pt x="57796" y="5015"/>
                  <a:pt x="61684" y="12410"/>
                  <a:pt x="61684" y="17392"/>
                </a:cubicBezTo>
                <a:cubicBezTo>
                  <a:pt x="61684" y="30929"/>
                  <a:pt x="61684" y="44466"/>
                  <a:pt x="61684" y="58003"/>
                </a:cubicBezTo>
              </a:path>
            </a:pathLst>
          </a:custGeom>
          <a:noFill/>
          <a:ln cap="flat" cmpd="sng" w="7620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3" name="Google Shape;163;p29"/>
          <p:cNvSpPr/>
          <p:nvPr/>
        </p:nvSpPr>
        <p:spPr>
          <a:xfrm>
            <a:off x="5266049" y="3103350"/>
            <a:ext cx="701141" cy="973875"/>
          </a:xfrm>
          <a:custGeom>
            <a:rect b="b" l="l" r="r" t="t"/>
            <a:pathLst>
              <a:path extrusionOk="0" h="38955" w="33794">
                <a:moveTo>
                  <a:pt x="1228" y="0"/>
                </a:moveTo>
                <a:cubicBezTo>
                  <a:pt x="1228" y="8560"/>
                  <a:pt x="462" y="17109"/>
                  <a:pt x="462" y="25669"/>
                </a:cubicBezTo>
                <a:cubicBezTo>
                  <a:pt x="462" y="29254"/>
                  <a:pt x="-923" y="33529"/>
                  <a:pt x="1228" y="36397"/>
                </a:cubicBezTo>
                <a:cubicBezTo>
                  <a:pt x="4225" y="40393"/>
                  <a:pt x="11324" y="38758"/>
                  <a:pt x="16170" y="37546"/>
                </a:cubicBezTo>
                <a:cubicBezTo>
                  <a:pt x="21875" y="36120"/>
                  <a:pt x="27914" y="38312"/>
                  <a:pt x="33794" y="38312"/>
                </a:cubicBezTo>
              </a:path>
            </a:pathLst>
          </a:custGeom>
          <a:noFill/>
          <a:ln cap="flat" cmpd="sng" w="7620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4" name="Google Shape;164;p29"/>
          <p:cNvSpPr/>
          <p:nvPr/>
        </p:nvSpPr>
        <p:spPr>
          <a:xfrm>
            <a:off x="5306325" y="3218150"/>
            <a:ext cx="1254789" cy="450317"/>
          </a:xfrm>
          <a:custGeom>
            <a:rect b="b" l="l" r="r" t="t"/>
            <a:pathLst>
              <a:path extrusionOk="0" h="16474" w="46742">
                <a:moveTo>
                  <a:pt x="0" y="16474"/>
                </a:moveTo>
                <a:cubicBezTo>
                  <a:pt x="16520" y="16474"/>
                  <a:pt x="30222" y="0"/>
                  <a:pt x="46742" y="0"/>
                </a:cubicBezTo>
              </a:path>
            </a:pathLst>
          </a:custGeom>
          <a:noFill/>
          <a:ln cap="flat" cmpd="sng" w="7620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5" name="Google Shape;165;p29"/>
          <p:cNvSpPr/>
          <p:nvPr/>
        </p:nvSpPr>
        <p:spPr>
          <a:xfrm>
            <a:off x="4233575" y="3907900"/>
            <a:ext cx="1024864" cy="392725"/>
          </a:xfrm>
          <a:custGeom>
            <a:rect b="b" l="l" r="r" t="t"/>
            <a:pathLst>
              <a:path extrusionOk="0" h="10728" w="38696">
                <a:moveTo>
                  <a:pt x="38696" y="0"/>
                </a:moveTo>
                <a:cubicBezTo>
                  <a:pt x="25403" y="1565"/>
                  <a:pt x="11972" y="4742"/>
                  <a:pt x="0" y="10728"/>
                </a:cubicBezTo>
              </a:path>
            </a:pathLst>
          </a:custGeom>
          <a:noFill/>
          <a:ln cap="flat" cmpd="sng" w="7620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6" name="Google Shape;166;p29"/>
          <p:cNvSpPr txBox="1"/>
          <p:nvPr/>
        </p:nvSpPr>
        <p:spPr>
          <a:xfrm>
            <a:off x="6676075" y="784900"/>
            <a:ext cx="9195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D9EEB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map</a:t>
            </a:r>
            <a:endParaRPr sz="2400">
              <a:solidFill>
                <a:srgbClr val="6D9EEB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Paths and maps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Finding other creative and meaningful ways to represent an interaction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Navigation metaphors → “landscape”</a:t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3425" y="197175"/>
            <a:ext cx="2405975" cy="18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8538" y="3153525"/>
            <a:ext cx="2405976" cy="1804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Metaphors in design exploration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00" y="3102816"/>
            <a:ext cx="2767650" cy="185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5390" y="2882250"/>
            <a:ext cx="2767661" cy="207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Metaphors in design exploration (cont.)</a:t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649" y="1260725"/>
            <a:ext cx="4091000" cy="34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575" y="1106825"/>
            <a:ext cx="3580951" cy="22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800" y="3407175"/>
            <a:ext cx="3165125" cy="15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/>
        </p:nvSpPr>
        <p:spPr>
          <a:xfrm>
            <a:off x="396475" y="1756300"/>
            <a:ext cx="9855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Pinterest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Metaphors in design exploration (cont.)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425" y="1144125"/>
            <a:ext cx="4546250" cy="18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950" y="1732525"/>
            <a:ext cx="2386925" cy="317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3975" y="2742945"/>
            <a:ext cx="3311849" cy="220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/>
        </p:nvSpPr>
        <p:spPr>
          <a:xfrm>
            <a:off x="1579600" y="1355125"/>
            <a:ext cx="18072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Kindle digital reader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7138100" y="3010763"/>
            <a:ext cx="15105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Nest thermostat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best fit representation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</a:t>
            </a:r>
            <a:r>
              <a:rPr lang="en"/>
              <a:t>uitability depends on the stage in time and the person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Case: Car design</a:t>
            </a:r>
            <a:endParaRPr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75" y="2848375"/>
            <a:ext cx="2809450" cy="158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375" y="2624218"/>
            <a:ext cx="3575450" cy="180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5775" y="2085625"/>
            <a:ext cx="2343074" cy="23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>
            <a:off x="907700" y="4352500"/>
            <a:ext cx="142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doodles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4097050" y="4352500"/>
            <a:ext cx="159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blueprints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7004350" y="4352500"/>
            <a:ext cx="187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scale model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Sketches &amp; Snapshots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299200" y="1371650"/>
            <a:ext cx="4677900" cy="1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最原始、初步的詮釋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捕捉轉瞬即逝的想法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 rotWithShape="1">
          <a:blip r:embed="rId3">
            <a:alphaModFix/>
          </a:blip>
          <a:srcRect b="17387" l="27895" r="27655" t="26359"/>
          <a:stretch/>
        </p:blipFill>
        <p:spPr>
          <a:xfrm>
            <a:off x="5655475" y="390851"/>
            <a:ext cx="3043250" cy="1927751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34"/>
          <p:cNvPicPr preferRelativeResize="0"/>
          <p:nvPr/>
        </p:nvPicPr>
        <p:blipFill rotWithShape="1">
          <a:blip r:embed="rId4">
            <a:alphaModFix/>
          </a:blip>
          <a:srcRect b="0" l="2274" r="48921" t="0"/>
          <a:stretch/>
        </p:blipFill>
        <p:spPr>
          <a:xfrm>
            <a:off x="532400" y="2409425"/>
            <a:ext cx="2370520" cy="22575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34"/>
          <p:cNvPicPr preferRelativeResize="0"/>
          <p:nvPr/>
        </p:nvPicPr>
        <p:blipFill rotWithShape="1">
          <a:blip r:embed="rId4">
            <a:alphaModFix/>
          </a:blip>
          <a:srcRect b="0" l="48763" r="5342" t="0"/>
          <a:stretch/>
        </p:blipFill>
        <p:spPr>
          <a:xfrm>
            <a:off x="2900264" y="2409425"/>
            <a:ext cx="2229210" cy="22575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5453325" y="2570775"/>
            <a:ext cx="32454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視覺化</a:t>
            </a:r>
            <a:r>
              <a:rPr lang="en"/>
              <a:t>產品的互動當下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單張的</a:t>
            </a:r>
            <a:r>
              <a:rPr b="1" lang="en"/>
              <a:t>關鍵分鏡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比較</a:t>
            </a:r>
            <a:r>
              <a:rPr lang="en"/>
              <a:t>各個想法之間的差異</a:t>
            </a:r>
            <a:endParaRPr/>
          </a:p>
        </p:txBody>
      </p:sp>
      <p:sp>
        <p:nvSpPr>
          <p:cNvPr id="218" name="Google Shape;218;p34"/>
          <p:cNvSpPr txBox="1"/>
          <p:nvPr/>
        </p:nvSpPr>
        <p:spPr>
          <a:xfrm>
            <a:off x="5129500" y="4172175"/>
            <a:ext cx="31533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visualizations of </a:t>
            </a:r>
            <a:endParaRPr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Edinburgh Festival scenario</a:t>
            </a:r>
            <a:endParaRPr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Storyboards</a:t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3060000" y="507225"/>
            <a:ext cx="5619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not about creating pretty pictures, </a:t>
            </a:r>
            <a:endParaRPr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but about </a:t>
            </a:r>
            <a:r>
              <a:rPr b="1"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communicating ideas.</a:t>
            </a:r>
            <a:endParaRPr b="1"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451600" y="1447850"/>
            <a:ext cx="4677900" cy="16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把</a:t>
            </a:r>
            <a:r>
              <a:rPr lang="en"/>
              <a:t>體驗的過程</a:t>
            </a:r>
            <a:r>
              <a:rPr lang="en"/>
              <a:t>視覺化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基於一個實際的情境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通常著重在展現意象而非美感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 b="8581" l="24227" r="25902" t="9059"/>
          <a:stretch/>
        </p:blipFill>
        <p:spPr>
          <a:xfrm>
            <a:off x="1474475" y="2915100"/>
            <a:ext cx="1585525" cy="1861800"/>
          </a:xfrm>
          <a:prstGeom prst="rect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 b="66401" l="4314" r="56644" t="6253"/>
          <a:stretch/>
        </p:blipFill>
        <p:spPr>
          <a:xfrm>
            <a:off x="4512825" y="1337623"/>
            <a:ext cx="2048577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 b="64809" l="43159" r="28631" t="7845"/>
          <a:stretch/>
        </p:blipFill>
        <p:spPr>
          <a:xfrm>
            <a:off x="6741225" y="1337625"/>
            <a:ext cx="1480176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p35"/>
          <p:cNvPicPr preferRelativeResize="0"/>
          <p:nvPr/>
        </p:nvPicPr>
        <p:blipFill rotWithShape="1">
          <a:blip r:embed="rId4">
            <a:alphaModFix/>
          </a:blip>
          <a:srcRect b="66401" l="70719" r="2454" t="6253"/>
          <a:stretch/>
        </p:blipFill>
        <p:spPr>
          <a:xfrm>
            <a:off x="4512827" y="2526200"/>
            <a:ext cx="1407648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35"/>
          <p:cNvPicPr preferRelativeResize="0"/>
          <p:nvPr/>
        </p:nvPicPr>
        <p:blipFill rotWithShape="1">
          <a:blip r:embed="rId5">
            <a:alphaModFix/>
          </a:blip>
          <a:srcRect b="41837" l="2784" r="60726" t="31477"/>
          <a:stretch/>
        </p:blipFill>
        <p:spPr>
          <a:xfrm>
            <a:off x="6016825" y="2526200"/>
            <a:ext cx="1962099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35"/>
          <p:cNvPicPr preferRelativeResize="0"/>
          <p:nvPr/>
        </p:nvPicPr>
        <p:blipFill rotWithShape="1">
          <a:blip r:embed="rId5">
            <a:alphaModFix/>
          </a:blip>
          <a:srcRect b="41837" l="38492" r="38049" t="31477"/>
          <a:stretch/>
        </p:blipFill>
        <p:spPr>
          <a:xfrm>
            <a:off x="4512827" y="3715750"/>
            <a:ext cx="1261350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2" name="Google Shape;232;p35"/>
          <p:cNvPicPr preferRelativeResize="0"/>
          <p:nvPr/>
        </p:nvPicPr>
        <p:blipFill rotWithShape="1">
          <a:blip r:embed="rId5">
            <a:alphaModFix/>
          </a:blip>
          <a:srcRect b="41837" l="61573" r="4281" t="31477"/>
          <a:stretch/>
        </p:blipFill>
        <p:spPr>
          <a:xfrm>
            <a:off x="5996674" y="3714775"/>
            <a:ext cx="1835974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3" name="Google Shape;233;p35"/>
          <p:cNvCxnSpPr>
            <a:stCxn id="230" idx="1"/>
            <a:endCxn id="230" idx="1"/>
          </p:cNvCxnSpPr>
          <p:nvPr/>
        </p:nvCxnSpPr>
        <p:spPr>
          <a:xfrm>
            <a:off x="6016825" y="30797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5"/>
          <p:cNvSpPr/>
          <p:nvPr/>
        </p:nvSpPr>
        <p:spPr>
          <a:xfrm rot="5400000">
            <a:off x="8156725" y="4320975"/>
            <a:ext cx="523200" cy="4485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Storyboards</a:t>
            </a:r>
            <a:endParaRPr/>
          </a:p>
        </p:txBody>
      </p:sp>
      <p:sp>
        <p:nvSpPr>
          <p:cNvPr id="240" name="Google Shape;240;p36"/>
          <p:cNvSpPr txBox="1"/>
          <p:nvPr/>
        </p:nvSpPr>
        <p:spPr>
          <a:xfrm>
            <a:off x="3060000" y="507225"/>
            <a:ext cx="5619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451600" y="1447850"/>
            <a:ext cx="20949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Traditional  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42" name="Google Shape;242;p36"/>
          <p:cNvPicPr preferRelativeResize="0"/>
          <p:nvPr/>
        </p:nvPicPr>
        <p:blipFill rotWithShape="1">
          <a:blip r:embed="rId3">
            <a:alphaModFix/>
          </a:blip>
          <a:srcRect b="9470" l="60352" r="3156" t="62224"/>
          <a:stretch/>
        </p:blipFill>
        <p:spPr>
          <a:xfrm>
            <a:off x="5213450" y="1511775"/>
            <a:ext cx="1817032" cy="1087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36"/>
          <p:cNvPicPr preferRelativeResize="0"/>
          <p:nvPr/>
        </p:nvPicPr>
        <p:blipFill rotWithShape="1">
          <a:blip r:embed="rId3">
            <a:alphaModFix/>
          </a:blip>
          <a:srcRect b="13126" l="4604" r="39448" t="60188"/>
          <a:stretch/>
        </p:blipFill>
        <p:spPr>
          <a:xfrm>
            <a:off x="5213443" y="264475"/>
            <a:ext cx="3008350" cy="1107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44" name="Google Shape;244;p36"/>
          <p:cNvCxnSpPr>
            <a:stCxn id="245" idx="1"/>
            <a:endCxn id="245" idx="1"/>
          </p:cNvCxnSpPr>
          <p:nvPr/>
        </p:nvCxnSpPr>
        <p:spPr>
          <a:xfrm>
            <a:off x="6016825" y="30797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451600" y="2409300"/>
            <a:ext cx="20949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Scored 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451600" y="3463300"/>
            <a:ext cx="20949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Text-only 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7030484" y="1511844"/>
            <a:ext cx="1649400" cy="108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使用者成功轉發地理位置！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期待大家到他指定的位置逕行尋寶。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49" name="Google Shape;249;p36"/>
          <p:cNvSpPr txBox="1"/>
          <p:nvPr/>
        </p:nvSpPr>
        <p:spPr>
          <a:xfrm>
            <a:off x="608100" y="1784100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附註文字，描寫當下場景和臆測使用者操作方式和心境。幫助其他人更快感受到動態的情境。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608100" y="2762250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產品使用時隱含許多動態操作、顏色、樣式的改變，通常會使用符號進行註解。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608100" y="3843550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產品使用時隱含許多複雜的次序關係等，通常也會需要直接利用文字進行更為明白的註解。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4">
            <a:alphaModFix/>
          </a:blip>
          <a:srcRect b="0" l="7452" r="5884" t="0"/>
          <a:stretch/>
        </p:blipFill>
        <p:spPr>
          <a:xfrm>
            <a:off x="5213450" y="2739550"/>
            <a:ext cx="3466449" cy="20621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Storyboards</a:t>
            </a:r>
            <a:endParaRPr/>
          </a:p>
        </p:txBody>
      </p:sp>
      <p:sp>
        <p:nvSpPr>
          <p:cNvPr id="258" name="Google Shape;258;p37"/>
          <p:cNvSpPr txBox="1"/>
          <p:nvPr/>
        </p:nvSpPr>
        <p:spPr>
          <a:xfrm>
            <a:off x="3060000" y="507225"/>
            <a:ext cx="5619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59" name="Google Shape;259;p37"/>
          <p:cNvCxnSpPr>
            <a:stCxn id="260" idx="1"/>
            <a:endCxn id="260" idx="1"/>
          </p:cNvCxnSpPr>
          <p:nvPr/>
        </p:nvCxnSpPr>
        <p:spPr>
          <a:xfrm>
            <a:off x="6016825" y="30797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7"/>
          <p:cNvSpPr txBox="1"/>
          <p:nvPr/>
        </p:nvSpPr>
        <p:spPr>
          <a:xfrm>
            <a:off x="4524900" y="914975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事先定義出使用者的操作</a:t>
            </a:r>
            <a:r>
              <a:rPr b="1" lang="en">
                <a:solidFill>
                  <a:srgbClr val="FFFFFF"/>
                </a:solidFill>
              </a:rPr>
              <a:t>步驟</a:t>
            </a:r>
            <a:r>
              <a:rPr lang="en">
                <a:solidFill>
                  <a:srgbClr val="FFFFFF"/>
                </a:solidFill>
              </a:rPr>
              <a:t>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2" name="Google Shape;262;p37"/>
          <p:cNvSpPr txBox="1"/>
          <p:nvPr/>
        </p:nvSpPr>
        <p:spPr>
          <a:xfrm>
            <a:off x="4524900" y="1441200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首先決定視覺化</a:t>
            </a:r>
            <a:r>
              <a:rPr b="1" lang="en">
                <a:solidFill>
                  <a:srgbClr val="FFFFFF"/>
                </a:solidFill>
              </a:rPr>
              <a:t>第一張和最後一張</a:t>
            </a:r>
            <a:r>
              <a:rPr lang="en">
                <a:solidFill>
                  <a:srgbClr val="FFFFFF"/>
                </a:solidFill>
              </a:rPr>
              <a:t>故事板。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4524900" y="1989863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先</a:t>
            </a:r>
            <a:r>
              <a:rPr b="1" lang="en">
                <a:solidFill>
                  <a:srgbClr val="FFFFFF"/>
                </a:solidFill>
              </a:rPr>
              <a:t>別急</a:t>
            </a:r>
            <a:r>
              <a:rPr lang="en">
                <a:solidFill>
                  <a:srgbClr val="FFFFFF"/>
                </a:solidFill>
              </a:rPr>
              <a:t>著添加額外的功能。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506750" y="1507550"/>
            <a:ext cx="2749200" cy="30660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Some</a:t>
            </a:r>
            <a:endParaRPr b="1" sz="60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Key </a:t>
            </a:r>
            <a:endParaRPr b="1" sz="60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Tips</a:t>
            </a:r>
            <a:endParaRPr b="1" sz="60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65" name="Google Shape;265;p37"/>
          <p:cNvSpPr txBox="1"/>
          <p:nvPr/>
        </p:nvSpPr>
        <p:spPr>
          <a:xfrm>
            <a:off x="4524900" y="2534838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圍繞在</a:t>
            </a:r>
            <a:r>
              <a:rPr b="1" lang="en">
                <a:solidFill>
                  <a:srgbClr val="FFFFFF"/>
                </a:solidFill>
              </a:rPr>
              <a:t>現實生活</a:t>
            </a:r>
            <a:r>
              <a:rPr lang="en">
                <a:solidFill>
                  <a:srgbClr val="FFFFFF"/>
                </a:solidFill>
              </a:rPr>
              <a:t>可及的場景。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6" name="Google Shape;266;p37"/>
          <p:cNvSpPr txBox="1"/>
          <p:nvPr/>
        </p:nvSpPr>
        <p:spPr>
          <a:xfrm>
            <a:off x="4524900" y="3064763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盡可能</a:t>
            </a:r>
            <a:r>
              <a:rPr b="1" lang="en">
                <a:solidFill>
                  <a:srgbClr val="FFFFFF"/>
                </a:solidFill>
              </a:rPr>
              <a:t>凸顯</a:t>
            </a:r>
            <a:r>
              <a:rPr lang="en">
                <a:solidFill>
                  <a:srgbClr val="FFFFFF"/>
                </a:solidFill>
              </a:rPr>
              <a:t>設計者希望使用者會產生的</a:t>
            </a:r>
            <a:r>
              <a:rPr b="1" lang="en">
                <a:solidFill>
                  <a:srgbClr val="FFFFFF"/>
                </a:solidFill>
              </a:rPr>
              <a:t>情感</a:t>
            </a:r>
            <a:r>
              <a:rPr lang="en">
                <a:solidFill>
                  <a:srgbClr val="FFFFFF"/>
                </a:solidFill>
              </a:rPr>
              <a:t>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7" name="Google Shape;267;p37"/>
          <p:cNvSpPr txBox="1"/>
          <p:nvPr/>
        </p:nvSpPr>
        <p:spPr>
          <a:xfrm>
            <a:off x="4524900" y="3628488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專注在</a:t>
            </a:r>
            <a:r>
              <a:rPr b="1" lang="en">
                <a:solidFill>
                  <a:srgbClr val="FFFFFF"/>
                </a:solidFill>
              </a:rPr>
              <a:t>故事</a:t>
            </a:r>
            <a:r>
              <a:rPr lang="en">
                <a:solidFill>
                  <a:srgbClr val="FFFFFF"/>
                </a:solidFill>
              </a:rPr>
              <a:t>所要傳達的</a:t>
            </a:r>
            <a:r>
              <a:rPr b="1" lang="en">
                <a:solidFill>
                  <a:srgbClr val="FFFFFF"/>
                </a:solidFill>
              </a:rPr>
              <a:t>價值</a:t>
            </a:r>
            <a:r>
              <a:rPr lang="en">
                <a:solidFill>
                  <a:srgbClr val="FFFFFF"/>
                </a:solidFill>
              </a:rPr>
              <a:t>而非拘泥細節。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8" name="Google Shape;268;p37"/>
          <p:cNvSpPr txBox="1"/>
          <p:nvPr/>
        </p:nvSpPr>
        <p:spPr>
          <a:xfrm>
            <a:off x="4524900" y="4169763"/>
            <a:ext cx="4231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過程和結局是</a:t>
            </a:r>
            <a:r>
              <a:rPr b="1" lang="en">
                <a:solidFill>
                  <a:srgbClr val="FFFFFF"/>
                </a:solidFill>
              </a:rPr>
              <a:t>符合實際</a:t>
            </a:r>
            <a:r>
              <a:rPr lang="en">
                <a:solidFill>
                  <a:srgbClr val="FFFFFF"/>
                </a:solidFill>
              </a:rPr>
              <a:t>狀況的。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3851300" y="849000"/>
            <a:ext cx="481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3990650" y="1321800"/>
            <a:ext cx="5343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II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3775100" y="1870800"/>
            <a:ext cx="742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III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3937850" y="2419800"/>
            <a:ext cx="686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IV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3851300" y="2968800"/>
            <a:ext cx="6207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3909800" y="3517800"/>
            <a:ext cx="742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3781700" y="4066800"/>
            <a:ext cx="790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VII .</a:t>
            </a:r>
            <a:endParaRPr sz="24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 Boards</a:t>
            </a:r>
            <a:endParaRPr/>
          </a:p>
        </p:txBody>
      </p:sp>
      <p:sp>
        <p:nvSpPr>
          <p:cNvPr id="281" name="Google Shape;281;p38"/>
          <p:cNvSpPr txBox="1"/>
          <p:nvPr/>
        </p:nvSpPr>
        <p:spPr>
          <a:xfrm>
            <a:off x="3760850" y="368325"/>
            <a:ext cx="6573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“ Anything goes to make sure that </a:t>
            </a:r>
            <a:endParaRPr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everyone’s </a:t>
            </a:r>
            <a:r>
              <a:rPr b="1"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on the same page</a:t>
            </a: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. “</a:t>
            </a:r>
            <a:endParaRPr b="1"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730150" y="1427850"/>
            <a:ext cx="2677200" cy="2287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色票、照片、圖案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雜誌、詩詞、字體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等。</a:t>
            </a:r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730150" y="3999375"/>
            <a:ext cx="4430400" cy="686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自由、不拘束的形式</a:t>
            </a:r>
            <a:endParaRPr/>
          </a:p>
        </p:txBody>
      </p:sp>
      <p:sp>
        <p:nvSpPr>
          <p:cNvPr id="284" name="Google Shape;284;p38"/>
          <p:cNvSpPr txBox="1"/>
          <p:nvPr/>
        </p:nvSpPr>
        <p:spPr>
          <a:xfrm>
            <a:off x="3611763" y="2574825"/>
            <a:ext cx="1635300" cy="1216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形容詞、風格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5451475" y="1427850"/>
            <a:ext cx="2890500" cy="17508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提供並刺激靈感。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475" y="3319575"/>
            <a:ext cx="2890476" cy="136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775" y="1427850"/>
            <a:ext cx="1635302" cy="97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Time !</a:t>
            </a:r>
            <a:endParaRPr/>
          </a:p>
        </p:txBody>
      </p:sp>
      <p:pic>
        <p:nvPicPr>
          <p:cNvPr id="293" name="Google Shape;2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275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9"/>
          <p:cNvSpPr txBox="1"/>
          <p:nvPr/>
        </p:nvSpPr>
        <p:spPr>
          <a:xfrm>
            <a:off x="5088075" y="4134300"/>
            <a:ext cx="3573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https://goo.gl/CJfQXN</a:t>
            </a:r>
            <a:endParaRPr sz="1800"/>
          </a:p>
        </p:txBody>
      </p:sp>
      <p:sp>
        <p:nvSpPr>
          <p:cNvPr id="295" name="Google Shape;295;p39"/>
          <p:cNvSpPr txBox="1"/>
          <p:nvPr/>
        </p:nvSpPr>
        <p:spPr>
          <a:xfrm>
            <a:off x="428375" y="1477800"/>
            <a:ext cx="4827300" cy="25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假設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	你要設計一個幫助頂客家庭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	（就是雙薪無子）環遊世界</a:t>
            </a:r>
            <a:endParaRPr sz="2400">
              <a:solidFill>
                <a:srgbClr val="FFFFFF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的</a:t>
            </a:r>
            <a:r>
              <a:rPr b="1" lang="en" sz="2400">
                <a:solidFill>
                  <a:srgbClr val="FFFFFF"/>
                </a:solidFill>
              </a:rPr>
              <a:t>旅遊網站</a:t>
            </a:r>
            <a:r>
              <a:rPr lang="en" sz="2400">
                <a:solidFill>
                  <a:srgbClr val="FFFFFF"/>
                </a:solidFill>
              </a:rPr>
              <a:t>，</a:t>
            </a:r>
            <a:endParaRPr sz="2400">
              <a:solidFill>
                <a:srgbClr val="FFFFFF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請做出一個屬於你們風格的 </a:t>
            </a:r>
            <a:r>
              <a:rPr lang="en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MOOD BOARD</a:t>
            </a:r>
            <a:r>
              <a:rPr lang="en" sz="2400">
                <a:solidFill>
                  <a:srgbClr val="FFFFFF"/>
                </a:solidFill>
              </a:rPr>
              <a:t>！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 Maps</a:t>
            </a:r>
            <a:endParaRPr/>
          </a:p>
        </p:txBody>
      </p:sp>
      <p:sp>
        <p:nvSpPr>
          <p:cNvPr id="301" name="Google Shape;301;p40"/>
          <p:cNvSpPr txBox="1"/>
          <p:nvPr/>
        </p:nvSpPr>
        <p:spPr>
          <a:xfrm>
            <a:off x="3060000" y="507225"/>
            <a:ext cx="5619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          </a:t>
            </a:r>
            <a:r>
              <a:rPr b="1"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how</a:t>
            </a: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the users move through </a:t>
            </a:r>
            <a:endParaRPr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                                           the sits or application.</a:t>
            </a:r>
            <a:endParaRPr i="1" sz="18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451600" y="1447850"/>
            <a:ext cx="4120500" cy="16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設計使用者的使用流程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將所有流程列出並標記重點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目錄索引的概念，與情境配合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40"/>
          <p:cNvPicPr preferRelativeResize="0"/>
          <p:nvPr/>
        </p:nvPicPr>
        <p:blipFill rotWithShape="1">
          <a:blip r:embed="rId3">
            <a:alphaModFix/>
          </a:blip>
          <a:srcRect b="22175" l="42391" r="35681" t="36242"/>
          <a:stretch/>
        </p:blipFill>
        <p:spPr>
          <a:xfrm>
            <a:off x="5006725" y="1447850"/>
            <a:ext cx="3201000" cy="3414301"/>
          </a:xfrm>
          <a:prstGeom prst="rect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4" name="Google Shape;304;p40"/>
          <p:cNvPicPr preferRelativeResize="0"/>
          <p:nvPr/>
        </p:nvPicPr>
        <p:blipFill rotWithShape="1">
          <a:blip r:embed="rId4">
            <a:alphaModFix/>
          </a:blip>
          <a:srcRect b="35941" l="38050" r="32610" t="29798"/>
          <a:stretch/>
        </p:blipFill>
        <p:spPr>
          <a:xfrm>
            <a:off x="1006800" y="2899675"/>
            <a:ext cx="2987624" cy="1962475"/>
          </a:xfrm>
          <a:prstGeom prst="rect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Scenarios</a:t>
            </a:r>
            <a:endParaRPr/>
          </a:p>
        </p:txBody>
      </p:sp>
      <p:sp>
        <p:nvSpPr>
          <p:cNvPr id="310" name="Google Shape;310;p41"/>
          <p:cNvSpPr txBox="1"/>
          <p:nvPr/>
        </p:nvSpPr>
        <p:spPr>
          <a:xfrm>
            <a:off x="3060000" y="507225"/>
            <a:ext cx="5619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“Scenarios are the engine we use to </a:t>
            </a:r>
            <a:endParaRPr i="1"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                                                   drive our designs.”</a:t>
            </a:r>
            <a:endParaRPr i="1"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451600" y="1447850"/>
            <a:ext cx="4120500" cy="16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捕獲用戶執行任務方式的狀況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描繪現場動機並提出實行方法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描述使用者在給定的功能及路徑下所採用任務流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425" y="1524050"/>
            <a:ext cx="3790650" cy="2924875"/>
          </a:xfrm>
          <a:prstGeom prst="rect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3" name="Google Shape;313;p41"/>
          <p:cNvSpPr txBox="1"/>
          <p:nvPr/>
        </p:nvSpPr>
        <p:spPr>
          <a:xfrm>
            <a:off x="324075" y="3449025"/>
            <a:ext cx="39675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Scenarios help stakeholders envision </a:t>
            </a:r>
            <a:endParaRPr i="1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ideas of the design team </a:t>
            </a:r>
            <a:endParaRPr i="1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by providing context </a:t>
            </a:r>
            <a:endParaRPr i="1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 the intended user experience </a:t>
            </a:r>
            <a:endParaRPr i="1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Exploring the design space</a:t>
            </a:r>
            <a:endParaRPr/>
          </a:p>
        </p:txBody>
      </p:sp>
      <p:sp>
        <p:nvSpPr>
          <p:cNvPr id="319" name="Google Shape;319;p4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20" name="Google Shape;3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2021" y="1489824"/>
            <a:ext cx="3043991" cy="304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It might be necessary to revisit the requirements.</a:t>
            </a:r>
            <a:br>
              <a:rPr lang="en" sz="1800"/>
            </a:br>
            <a:endParaRPr sz="1800"/>
          </a:p>
        </p:txBody>
      </p:sp>
      <p:pic>
        <p:nvPicPr>
          <p:cNvPr id="326" name="Google Shape;3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300" y="1435101"/>
            <a:ext cx="70231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idx="1" type="body"/>
          </p:nvPr>
        </p:nvSpPr>
        <p:spPr>
          <a:xfrm>
            <a:off x="362500" y="4230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Analysis the current situation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32" name="Google Shape;33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400203"/>
            <a:ext cx="7086600" cy="3311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49800" y="381000"/>
            <a:ext cx="8368200" cy="41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We can only comment on concrete representation.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38" name="Google Shape;33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440" y="1346200"/>
            <a:ext cx="6980660" cy="3370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/>
          <p:nvPr>
            <p:ph idx="1" type="body"/>
          </p:nvPr>
        </p:nvSpPr>
        <p:spPr>
          <a:xfrm>
            <a:off x="387900" y="4611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Focus on design issues.</a:t>
            </a:r>
            <a:endParaRPr/>
          </a:p>
        </p:txBody>
      </p:sp>
      <p:pic>
        <p:nvPicPr>
          <p:cNvPr id="344" name="Google Shape;34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4952" y="1048816"/>
            <a:ext cx="3644900" cy="363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John Carroll: trade-off to consider</a:t>
            </a:r>
            <a:endParaRPr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feature may lead to both positive and negative outcomes</a:t>
            </a:r>
            <a:endParaRPr/>
          </a:p>
        </p:txBody>
      </p:sp>
      <p:sp>
        <p:nvSpPr>
          <p:cNvPr id="351" name="Google Shape;351;p47"/>
          <p:cNvSpPr txBox="1"/>
          <p:nvPr/>
        </p:nvSpPr>
        <p:spPr>
          <a:xfrm>
            <a:off x="2764220" y="2052521"/>
            <a:ext cx="2081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article only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6130157" y="2052521"/>
            <a:ext cx="2716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and write articles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7"/>
          <p:cNvSpPr txBox="1"/>
          <p:nvPr/>
        </p:nvSpPr>
        <p:spPr>
          <a:xfrm>
            <a:off x="556171" y="2794138"/>
            <a:ext cx="2081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2764219" y="2794138"/>
            <a:ext cx="235169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implement.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will have less burden.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7"/>
          <p:cNvSpPr txBox="1"/>
          <p:nvPr/>
        </p:nvSpPr>
        <p:spPr>
          <a:xfrm>
            <a:off x="6130157" y="2794138"/>
            <a:ext cx="27169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assignment seems to be more realistic.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6130158" y="4048779"/>
            <a:ext cx="28640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students may give up this homework.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556173" y="4048779"/>
            <a:ext cx="2081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2764221" y="4068067"/>
            <a:ext cx="20810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less sense of accomplishment.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An outline envisionment process</a:t>
            </a:r>
            <a:endParaRPr/>
          </a:p>
        </p:txBody>
      </p:sp>
      <p:sp>
        <p:nvSpPr>
          <p:cNvPr id="364" name="Google Shape;364;p4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1.Review requirements and conceptual scenarios	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2a.Develop representations of your design ideas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2b.New product: try different metaphors and design concept through  representation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2c.Intended users should be involved as much as possible throughout wherever is possible.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3.Explore and document design decisions using a method such as claims analysis or QOC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	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4.Reconsider requirements and carry out where gaps have been uncovered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75" name="Google Shape;375;p50"/>
          <p:cNvSpPr txBox="1"/>
          <p:nvPr>
            <p:ph idx="1" type="body"/>
          </p:nvPr>
        </p:nvSpPr>
        <p:spPr>
          <a:xfrm>
            <a:off x="286300" y="11342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Appropriate representation for different context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	Many possible envisionment techniques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Not to sit staring at a blank paper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	Envisionment aids the generation, communication, evaluation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